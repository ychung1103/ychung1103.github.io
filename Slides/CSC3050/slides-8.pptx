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7"/>
  </p:notesMasterIdLst>
  <p:handoutMasterIdLst>
    <p:handoutMasterId r:id="rId68"/>
  </p:handout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342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343" r:id="rId23"/>
    <p:sldId id="298" r:id="rId24"/>
    <p:sldId id="299" r:id="rId25"/>
    <p:sldId id="300" r:id="rId26"/>
    <p:sldId id="344" r:id="rId27"/>
    <p:sldId id="302" r:id="rId28"/>
    <p:sldId id="305" r:id="rId29"/>
    <p:sldId id="304" r:id="rId30"/>
    <p:sldId id="306" r:id="rId31"/>
    <p:sldId id="307" r:id="rId32"/>
    <p:sldId id="345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46" r:id="rId43"/>
    <p:sldId id="319" r:id="rId44"/>
    <p:sldId id="320" r:id="rId45"/>
    <p:sldId id="321" r:id="rId46"/>
    <p:sldId id="322" r:id="rId47"/>
    <p:sldId id="323" r:id="rId48"/>
    <p:sldId id="324" r:id="rId49"/>
    <p:sldId id="325" r:id="rId50"/>
    <p:sldId id="347" r:id="rId51"/>
    <p:sldId id="327" r:id="rId52"/>
    <p:sldId id="328" r:id="rId53"/>
    <p:sldId id="329" r:id="rId54"/>
    <p:sldId id="330" r:id="rId55"/>
    <p:sldId id="348" r:id="rId56"/>
    <p:sldId id="332" r:id="rId57"/>
    <p:sldId id="333" r:id="rId58"/>
    <p:sldId id="334" r:id="rId59"/>
    <p:sldId id="335" r:id="rId60"/>
    <p:sldId id="336" r:id="rId61"/>
    <p:sldId id="337" r:id="rId62"/>
    <p:sldId id="338" r:id="rId63"/>
    <p:sldId id="339" r:id="rId64"/>
    <p:sldId id="340" r:id="rId65"/>
    <p:sldId id="341" r:id="rId6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525" y="34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7002"/>
    </p:cViewPr>
  </p:sorterViewPr>
  <p:notesViewPr>
    <p:cSldViewPr snapToGrid="0">
      <p:cViewPr varScale="1">
        <p:scale>
          <a:sx n="37" d="100"/>
          <a:sy n="37" d="100"/>
        </p:scale>
        <p:origin x="1975" y="4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2019/5/5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2019/5/5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53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46125" y="3227388"/>
            <a:ext cx="8535988" cy="3057525"/>
          </a:xfrm>
          <a:noFill/>
        </p:spPr>
        <p:txBody>
          <a:bodyPr lIns="92075" tIns="46038" rIns="92075" bIns="46038"/>
          <a:lstStyle/>
          <a:p>
            <a:endParaRPr lang="zh-TW" altLang="en-US"/>
          </a:p>
        </p:txBody>
      </p:sp>
      <p:sp>
        <p:nvSpPr>
          <p:cNvPr id="19456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9863" y="438150"/>
            <a:ext cx="4506912" cy="2536825"/>
          </a:xfrm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18774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611813" y="6453188"/>
            <a:ext cx="4292600" cy="3397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fld id="{8332B8BD-15CF-441B-B6B9-73F72B0D1DEC}" type="slidenum">
              <a:rPr kumimoji="1" lang="en-US" altLang="zh-TW">
                <a:latin typeface="Arial" pitchFamily="34" charset="0"/>
              </a:rPr>
              <a:pPr eaLnBrk="1" hangingPunct="1"/>
              <a:t>5</a:t>
            </a:fld>
            <a:endParaRPr kumimoji="1" lang="en-US" altLang="zh-TW">
              <a:latin typeface="Arial" pitchFamily="34" charset="0"/>
            </a:endParaRPr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33663" y="503238"/>
            <a:ext cx="4557712" cy="2565400"/>
          </a:xfrm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8575" y="3235325"/>
            <a:ext cx="7339013" cy="3067050"/>
          </a:xfrm>
          <a:noFill/>
        </p:spPr>
        <p:txBody>
          <a:bodyPr wrap="none" lIns="94903" tIns="47451" rIns="94903" bIns="47451" anchor="ctr"/>
          <a:lstStyle/>
          <a:p>
            <a:pPr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810663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611813" y="6453188"/>
            <a:ext cx="4292600" cy="3397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fld id="{EB728A31-F3AE-4EB3-BD4C-0E1AADE538B6}" type="slidenum">
              <a:rPr kumimoji="1" lang="en-US" altLang="zh-TW">
                <a:latin typeface="Arial" pitchFamily="34" charset="0"/>
              </a:rPr>
              <a:pPr eaLnBrk="1" hangingPunct="1"/>
              <a:t>6</a:t>
            </a:fld>
            <a:endParaRPr kumimoji="1" lang="en-US" altLang="zh-TW">
              <a:latin typeface="Arial" pitchFamily="34" charset="0"/>
            </a:endParaRPr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33663" y="503238"/>
            <a:ext cx="4557712" cy="2565400"/>
          </a:xfrm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8575" y="3235325"/>
            <a:ext cx="7339013" cy="3067050"/>
          </a:xfrm>
          <a:noFill/>
        </p:spPr>
        <p:txBody>
          <a:bodyPr wrap="none" lIns="94903" tIns="47451" rIns="94903" bIns="47451" anchor="ctr"/>
          <a:lstStyle/>
          <a:p>
            <a:pPr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434043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8020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611813" y="6453188"/>
            <a:ext cx="4292600" cy="3397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fld id="{628CDC9E-84DC-4E22-9E90-EA6068CD9099}" type="slidenum">
              <a:rPr kumimoji="1" lang="en-US" altLang="zh-TW">
                <a:latin typeface="Arial" pitchFamily="34" charset="0"/>
              </a:rPr>
              <a:pPr eaLnBrk="1" hangingPunct="1"/>
              <a:t>9</a:t>
            </a:fld>
            <a:endParaRPr kumimoji="1" lang="en-US" altLang="zh-TW">
              <a:latin typeface="Arial" pitchFamily="34" charset="0"/>
            </a:endParaRPr>
          </a:p>
        </p:txBody>
      </p:sp>
      <p:sp>
        <p:nvSpPr>
          <p:cNvPr id="197635" name="Rectangle 7"/>
          <p:cNvSpPr txBox="1">
            <a:spLocks noGrp="1" noChangeArrowheads="1"/>
          </p:cNvSpPr>
          <p:nvPr/>
        </p:nvSpPr>
        <p:spPr bwMode="auto">
          <a:xfrm>
            <a:off x="5613400" y="6454775"/>
            <a:ext cx="4292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54" tIns="46528" rIns="93054" bIns="46528" anchor="b"/>
          <a:lstStyle/>
          <a:p>
            <a:pPr algn="r" defTabSz="930275" eaLnBrk="1" hangingPunct="1"/>
            <a:fld id="{8941E99F-50DF-4C04-AF39-06B6676E161D}" type="slidenum">
              <a:rPr kumimoji="1" lang="en-US" altLang="zh-TW" sz="1200"/>
              <a:pPr algn="r" defTabSz="930275" eaLnBrk="1" hangingPunct="1"/>
              <a:t>9</a:t>
            </a:fld>
            <a:endParaRPr kumimoji="1" lang="en-US" altLang="zh-TW" sz="1200"/>
          </a:p>
        </p:txBody>
      </p:sp>
      <p:sp>
        <p:nvSpPr>
          <p:cNvPr id="1976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0813" y="509588"/>
            <a:ext cx="4527550" cy="2547937"/>
          </a:xfrm>
          <a:ln/>
        </p:spPr>
      </p:sp>
      <p:sp>
        <p:nvSpPr>
          <p:cNvPr id="1976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 lIns="93054" tIns="46528" rIns="93054" bIns="46528"/>
          <a:lstStyle/>
          <a:p>
            <a:pPr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574420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188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2177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5708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22563" y="446088"/>
            <a:ext cx="4481512" cy="2522537"/>
          </a:xfrm>
          <a:noFill/>
          <a:ln cap="flat">
            <a:solidFill>
              <a:schemeClr val="tx1"/>
            </a:solidFill>
          </a:ln>
        </p:spPr>
      </p:sp>
      <p:sp>
        <p:nvSpPr>
          <p:cNvPr id="20173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46125" y="3227388"/>
            <a:ext cx="8535988" cy="3057525"/>
          </a:xfrm>
          <a:noFill/>
        </p:spPr>
        <p:txBody>
          <a:bodyPr lIns="92075" tIns="46038" rIns="92075" bIns="46038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641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14927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35285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22563" y="446088"/>
            <a:ext cx="4481512" cy="2522537"/>
          </a:xfrm>
          <a:noFill/>
          <a:ln cap="flat">
            <a:solidFill>
              <a:schemeClr val="tx1"/>
            </a:solidFill>
          </a:ln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6125" y="3227388"/>
            <a:ext cx="8535988" cy="3057525"/>
          </a:xfrm>
          <a:noFill/>
        </p:spPr>
        <p:txBody>
          <a:bodyPr lIns="92075" tIns="46038" rIns="92075" bIns="46038"/>
          <a:lstStyle/>
          <a:p>
            <a:r>
              <a:rPr lang="en-US" altLang="zh-TW"/>
              <a:t>Page 520</a:t>
            </a:r>
          </a:p>
        </p:txBody>
      </p:sp>
    </p:spTree>
    <p:extLst>
      <p:ext uri="{BB962C8B-B14F-4D97-AF65-F5344CB8AC3E}">
        <p14:creationId xmlns:p14="http://schemas.microsoft.com/office/powerpoint/2010/main" val="25627032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44337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22563" y="446088"/>
            <a:ext cx="4481512" cy="2522537"/>
          </a:xfrm>
          <a:noFill/>
          <a:ln cap="flat">
            <a:solidFill>
              <a:schemeClr val="tx1"/>
            </a:solidFill>
          </a:ln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6125" y="3227388"/>
            <a:ext cx="8535988" cy="3057525"/>
          </a:xfrm>
          <a:noFill/>
        </p:spPr>
        <p:txBody>
          <a:bodyPr lIns="92075" tIns="46038" rIns="92075" bIns="46038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425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48794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9932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22563" y="446088"/>
            <a:ext cx="4481512" cy="2522537"/>
          </a:xfrm>
          <a:ln cap="flat">
            <a:solidFill>
              <a:schemeClr val="tx1"/>
            </a:solidFill>
          </a:ln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6125" y="3227388"/>
            <a:ext cx="8535988" cy="3057525"/>
          </a:xfrm>
          <a:noFill/>
        </p:spPr>
        <p:txBody>
          <a:bodyPr lIns="92075" tIns="46038" rIns="92075" bIns="46038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01327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14350"/>
            <a:ext cx="4511675" cy="2538413"/>
          </a:xfrm>
          <a:ln cap="flat">
            <a:solidFill>
              <a:schemeClr val="tx1"/>
            </a:solidFill>
          </a:ln>
        </p:spPr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 lIns="90488" tIns="44450" rIns="90488" bIns="44450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74112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22563" y="446088"/>
            <a:ext cx="4481512" cy="2522537"/>
          </a:xfrm>
          <a:noFill/>
          <a:ln cap="flat">
            <a:solidFill>
              <a:schemeClr val="tx1"/>
            </a:solidFill>
          </a:ln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6125" y="3227388"/>
            <a:ext cx="8535988" cy="3057525"/>
          </a:xfrm>
          <a:noFill/>
        </p:spPr>
        <p:txBody>
          <a:bodyPr lIns="92075" tIns="46038" rIns="92075" bIns="46038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83658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97110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0852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06029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6055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78426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16491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77547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 lIns="90488" tIns="44450" rIns="90488" bIns="44450"/>
          <a:lstStyle/>
          <a:p>
            <a:endParaRPr lang="zh-TW" altLang="en-US"/>
          </a:p>
        </p:txBody>
      </p:sp>
      <p:sp>
        <p:nvSpPr>
          <p:cNvPr id="22016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14350"/>
            <a:ext cx="4511675" cy="2538413"/>
          </a:xfrm>
          <a:noFill/>
          <a:ln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6350949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40636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6724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26922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22763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38086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46245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75433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32937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47078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4631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670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5338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35894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6633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70782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439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2589" y="108349"/>
            <a:ext cx="7703101" cy="51911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4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70961" y="129780"/>
            <a:ext cx="6758577" cy="426402"/>
          </a:xfrm>
        </p:spPr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6374" y="820132"/>
            <a:ext cx="7532017" cy="360103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/>
              <a:t>Virtual memory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solidFill>
                  <a:srgbClr val="FF0000"/>
                </a:solidFill>
              </a:rPr>
              <a:t>Basics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Issues in virtual memory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Handling huge page table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TLB (Translation </a:t>
            </a:r>
            <a:r>
              <a:rPr lang="en-US" altLang="zh-TW" dirty="0" err="1"/>
              <a:t>Lookaside</a:t>
            </a:r>
            <a:r>
              <a:rPr lang="en-US" altLang="zh-TW" dirty="0"/>
              <a:t> Buffer)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TLB and cache</a:t>
            </a:r>
          </a:p>
          <a:p>
            <a:pPr>
              <a:spcBef>
                <a:spcPts val="0"/>
              </a:spcBef>
            </a:pPr>
            <a:r>
              <a:rPr lang="en-US" altLang="zh-TW" dirty="0"/>
              <a:t>A common framework for memory hierarchy</a:t>
            </a:r>
          </a:p>
          <a:p>
            <a:r>
              <a:rPr lang="en-US" altLang="zh-TW" dirty="0"/>
              <a:t>Using a Finite State Machine to Control a Simple Cache</a:t>
            </a:r>
          </a:p>
          <a:p>
            <a:r>
              <a:rPr lang="en-US" altLang="zh-TW" dirty="0"/>
              <a:t>Parallelism and Memory Hierarchies: Cache Coherence</a:t>
            </a:r>
          </a:p>
          <a:p>
            <a:pPr>
              <a:spcBef>
                <a:spcPts val="0"/>
              </a:spcBef>
            </a:pPr>
            <a:endParaRPr lang="en-US" altLang="zh-TW" dirty="0"/>
          </a:p>
        </p:txBody>
      </p:sp>
      <p:sp>
        <p:nvSpPr>
          <p:cNvPr id="6148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557213" indent="-214313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8572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2001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15430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18859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2288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25717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29146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fld id="{21079BBA-C287-4BD2-9D77-9C0655332BFF}" type="slidenum">
              <a:rPr kumimoji="0" lang="zh-TW" altLang="en-US" sz="1050">
                <a:solidFill>
                  <a:schemeClr val="bg1"/>
                </a:solidFill>
                <a:latin typeface="Arial" pitchFamily="34" charset="0"/>
              </a:rPr>
              <a:pPr/>
              <a:t>2</a:t>
            </a:fld>
            <a:endParaRPr kumimoji="0" lang="en-US" altLang="zh-TW" sz="105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468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83" name="Rectangle 31"/>
          <p:cNvSpPr>
            <a:spLocks noGrp="1" noChangeArrowheads="1"/>
          </p:cNvSpPr>
          <p:nvPr>
            <p:ph type="title"/>
          </p:nvPr>
        </p:nvSpPr>
        <p:spPr>
          <a:xfrm>
            <a:off x="929244" y="116323"/>
            <a:ext cx="6315075" cy="509635"/>
          </a:xfrm>
        </p:spPr>
        <p:txBody>
          <a:bodyPr/>
          <a:lstStyle/>
          <a:p>
            <a:r>
              <a:rPr lang="en-US" altLang="zh-TW" dirty="0"/>
              <a:t>Levels of Memory Hierarchy</a:t>
            </a:r>
          </a:p>
        </p:txBody>
      </p:sp>
      <p:sp>
        <p:nvSpPr>
          <p:cNvPr id="74786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A6A22ED1-4853-4A3B-833E-6876F8BA780F}" type="slidenum">
              <a:rPr lang="zh-TW" altLang="en-US"/>
              <a:pPr defTabSz="571500"/>
              <a:t>3</a:t>
            </a:fld>
            <a:endParaRPr lang="en-US" altLang="zh-TW"/>
          </a:p>
        </p:txBody>
      </p:sp>
      <p:grpSp>
        <p:nvGrpSpPr>
          <p:cNvPr id="36" name="组合 32">
            <a:extLst>
              <a:ext uri="{FF2B5EF4-FFF2-40B4-BE49-F238E27FC236}">
                <a16:creationId xmlns:a16="http://schemas.microsoft.com/office/drawing/2014/main" id="{FD92482E-32CD-430A-8E20-E754B189AD52}"/>
              </a:ext>
            </a:extLst>
          </p:cNvPr>
          <p:cNvGrpSpPr/>
          <p:nvPr/>
        </p:nvGrpSpPr>
        <p:grpSpPr>
          <a:xfrm>
            <a:off x="966019" y="971301"/>
            <a:ext cx="7248833" cy="3607250"/>
            <a:chOff x="1912938" y="1004902"/>
            <a:chExt cx="7795179" cy="5435583"/>
          </a:xfrm>
        </p:grpSpPr>
        <p:sp>
          <p:nvSpPr>
            <p:cNvPr id="37" name="Rectangle 2">
              <a:extLst>
                <a:ext uri="{FF2B5EF4-FFF2-40B4-BE49-F238E27FC236}">
                  <a16:creationId xmlns:a16="http://schemas.microsoft.com/office/drawing/2014/main" id="{1E9149B2-E050-4B2B-9CBF-58C236486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3938" y="1689100"/>
              <a:ext cx="1292225" cy="431800"/>
            </a:xfrm>
            <a:prstGeom prst="rect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0" scaled="1"/>
            </a:gra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400"/>
            </a:p>
          </p:txBody>
        </p:sp>
        <p:sp>
          <p:nvSpPr>
            <p:cNvPr id="38" name="Rectangle 3">
              <a:extLst>
                <a:ext uri="{FF2B5EF4-FFF2-40B4-BE49-F238E27FC236}">
                  <a16:creationId xmlns:a16="http://schemas.microsoft.com/office/drawing/2014/main" id="{A125B69F-2240-44BA-AA0B-43C4DCF7CC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1188" y="2679700"/>
              <a:ext cx="2117725" cy="508000"/>
            </a:xfrm>
            <a:prstGeom prst="rect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0" scaled="1"/>
            </a:gra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400"/>
            </a:p>
          </p:txBody>
        </p:sp>
        <p:sp>
          <p:nvSpPr>
            <p:cNvPr id="39" name="Rectangle 4">
              <a:extLst>
                <a:ext uri="{FF2B5EF4-FFF2-40B4-BE49-F238E27FC236}">
                  <a16:creationId xmlns:a16="http://schemas.microsoft.com/office/drawing/2014/main" id="{0A82AE16-CC61-46D1-86CF-670366DBF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567" y="3746500"/>
              <a:ext cx="3108325" cy="508000"/>
            </a:xfrm>
            <a:prstGeom prst="rect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0" scaled="1"/>
            </a:gra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400"/>
            </a:p>
          </p:txBody>
        </p:sp>
        <p:sp>
          <p:nvSpPr>
            <p:cNvPr id="40" name="Rectangle 5">
              <a:extLst>
                <a:ext uri="{FF2B5EF4-FFF2-40B4-BE49-F238E27FC236}">
                  <a16:creationId xmlns:a16="http://schemas.microsoft.com/office/drawing/2014/main" id="{771B19BD-47A7-4204-A666-E602B788A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3138" y="4813300"/>
              <a:ext cx="4264025" cy="508000"/>
            </a:xfrm>
            <a:prstGeom prst="rect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0" scaled="1"/>
            </a:gra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400" dirty="0"/>
            </a:p>
          </p:txBody>
        </p:sp>
        <p:sp>
          <p:nvSpPr>
            <p:cNvPr id="41" name="Rectangle 6">
              <a:extLst>
                <a:ext uri="{FF2B5EF4-FFF2-40B4-BE49-F238E27FC236}">
                  <a16:creationId xmlns:a16="http://schemas.microsoft.com/office/drawing/2014/main" id="{44E9ED36-D6A6-4594-B25C-F47616836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2938" y="5880100"/>
              <a:ext cx="5089525" cy="508000"/>
            </a:xfrm>
            <a:prstGeom prst="rect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0" scaled="1"/>
            </a:gra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400"/>
            </a:p>
          </p:txBody>
        </p:sp>
        <p:sp>
          <p:nvSpPr>
            <p:cNvPr id="42" name="Rectangle 7">
              <a:extLst>
                <a:ext uri="{FF2B5EF4-FFF2-40B4-BE49-F238E27FC236}">
                  <a16:creationId xmlns:a16="http://schemas.microsoft.com/office/drawing/2014/main" id="{F775AEB7-BEAA-47F4-B39D-38B6615C4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2349" y="1733554"/>
              <a:ext cx="1298453" cy="3299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400" b="1" dirty="0">
                  <a:latin typeface="Arial" pitchFamily="34" charset="0"/>
                </a:rPr>
                <a:t>Registers</a:t>
              </a:r>
            </a:p>
          </p:txBody>
        </p:sp>
        <p:sp>
          <p:nvSpPr>
            <p:cNvPr id="43" name="Rectangle 8">
              <a:extLst>
                <a:ext uri="{FF2B5EF4-FFF2-40B4-BE49-F238E27FC236}">
                  <a16:creationId xmlns:a16="http://schemas.microsoft.com/office/drawing/2014/main" id="{BF5A993C-73A6-469B-9EAB-E735F51B2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017" y="2779713"/>
              <a:ext cx="788186" cy="353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400" b="1" dirty="0">
                  <a:latin typeface="Arial" pitchFamily="34" charset="0"/>
                </a:rPr>
                <a:t>Cache</a:t>
              </a:r>
            </a:p>
          </p:txBody>
        </p:sp>
        <p:sp>
          <p:nvSpPr>
            <p:cNvPr id="44" name="Rectangle 9">
              <a:extLst>
                <a:ext uri="{FF2B5EF4-FFF2-40B4-BE49-F238E27FC236}">
                  <a16:creationId xmlns:a16="http://schemas.microsoft.com/office/drawing/2014/main" id="{33A227B2-547E-45AA-89B6-053EE5665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479" y="3846513"/>
              <a:ext cx="895957" cy="3506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400" b="1" dirty="0">
                  <a:latin typeface="Arial" pitchFamily="34" charset="0"/>
                </a:rPr>
                <a:t>Memory</a:t>
              </a:r>
            </a:p>
          </p:txBody>
        </p:sp>
        <p:sp>
          <p:nvSpPr>
            <p:cNvPr id="45" name="Rectangle 10">
              <a:extLst>
                <a:ext uri="{FF2B5EF4-FFF2-40B4-BE49-F238E27FC236}">
                  <a16:creationId xmlns:a16="http://schemas.microsoft.com/office/drawing/2014/main" id="{1C4BECD8-C286-4DA1-BDAC-0F9B47854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9357" y="4913311"/>
              <a:ext cx="696623" cy="3299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400" b="1" dirty="0">
                  <a:latin typeface="Arial" pitchFamily="34" charset="0"/>
                </a:rPr>
                <a:t>Disk</a:t>
              </a:r>
            </a:p>
          </p:txBody>
        </p:sp>
        <p:sp>
          <p:nvSpPr>
            <p:cNvPr id="46" name="Rectangle 11">
              <a:extLst>
                <a:ext uri="{FF2B5EF4-FFF2-40B4-BE49-F238E27FC236}">
                  <a16:creationId xmlns:a16="http://schemas.microsoft.com/office/drawing/2014/main" id="{8F4398BD-139C-4501-9D6A-0BFC788D9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8818" y="5978531"/>
              <a:ext cx="731190" cy="3299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400" b="1" dirty="0">
                  <a:latin typeface="Arial" pitchFamily="34" charset="0"/>
                </a:rPr>
                <a:t>Tape</a:t>
              </a:r>
            </a:p>
          </p:txBody>
        </p:sp>
        <p:sp>
          <p:nvSpPr>
            <p:cNvPr id="47" name="Line 12">
              <a:extLst>
                <a:ext uri="{FF2B5EF4-FFF2-40B4-BE49-F238E27FC236}">
                  <a16:creationId xmlns:a16="http://schemas.microsoft.com/office/drawing/2014/main" id="{8DF61BB7-F68E-46AE-8F84-2DBCE7C93E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0050" y="2133600"/>
              <a:ext cx="0" cy="533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</p:spPr>
          <p:txBody>
            <a:bodyPr wrap="none" anchor="ctr"/>
            <a:lstStyle/>
            <a:p>
              <a:endParaRPr lang="zh-TW" altLang="en-US" sz="1400"/>
            </a:p>
          </p:txBody>
        </p:sp>
        <p:sp>
          <p:nvSpPr>
            <p:cNvPr id="48" name="Line 13">
              <a:extLst>
                <a:ext uri="{FF2B5EF4-FFF2-40B4-BE49-F238E27FC236}">
                  <a16:creationId xmlns:a16="http://schemas.microsoft.com/office/drawing/2014/main" id="{CE02E511-3ACF-4D3A-B9C9-75A38769F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0050" y="3200400"/>
              <a:ext cx="0" cy="533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</p:spPr>
          <p:txBody>
            <a:bodyPr wrap="none" anchor="ctr"/>
            <a:lstStyle/>
            <a:p>
              <a:endParaRPr lang="zh-TW" altLang="en-US" sz="1400"/>
            </a:p>
          </p:txBody>
        </p:sp>
        <p:sp>
          <p:nvSpPr>
            <p:cNvPr id="49" name="Line 14">
              <a:extLst>
                <a:ext uri="{FF2B5EF4-FFF2-40B4-BE49-F238E27FC236}">
                  <a16:creationId xmlns:a16="http://schemas.microsoft.com/office/drawing/2014/main" id="{DB661260-A5FA-4A16-AEC8-74E9D49923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0050" y="4267200"/>
              <a:ext cx="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stealth" w="med" len="lg"/>
            </a:ln>
          </p:spPr>
          <p:txBody>
            <a:bodyPr wrap="none" anchor="ctr"/>
            <a:lstStyle/>
            <a:p>
              <a:endParaRPr lang="zh-TW" altLang="en-US" sz="1400"/>
            </a:p>
          </p:txBody>
        </p:sp>
        <p:sp>
          <p:nvSpPr>
            <p:cNvPr id="50" name="Line 15">
              <a:extLst>
                <a:ext uri="{FF2B5EF4-FFF2-40B4-BE49-F238E27FC236}">
                  <a16:creationId xmlns:a16="http://schemas.microsoft.com/office/drawing/2014/main" id="{EB977DB6-330A-4617-9A1C-92A925F38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0050" y="5334000"/>
              <a:ext cx="0" cy="533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</p:spPr>
          <p:txBody>
            <a:bodyPr wrap="none" anchor="ctr"/>
            <a:lstStyle/>
            <a:p>
              <a:endParaRPr lang="zh-TW" altLang="en-US" sz="1400"/>
            </a:p>
          </p:txBody>
        </p:sp>
        <p:sp>
          <p:nvSpPr>
            <p:cNvPr id="51" name="Rectangle 16">
              <a:extLst>
                <a:ext uri="{FF2B5EF4-FFF2-40B4-BE49-F238E27FC236}">
                  <a16:creationId xmlns:a16="http://schemas.microsoft.com/office/drawing/2014/main" id="{A81759A4-B579-45F0-9168-4302AD992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888" y="2246314"/>
              <a:ext cx="1858044" cy="3299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400">
                  <a:latin typeface="Arial" pitchFamily="34" charset="0"/>
                </a:rPr>
                <a:t>Instr. Operands</a:t>
              </a:r>
            </a:p>
          </p:txBody>
        </p:sp>
        <p:sp>
          <p:nvSpPr>
            <p:cNvPr id="52" name="Rectangle 17">
              <a:extLst>
                <a:ext uri="{FF2B5EF4-FFF2-40B4-BE49-F238E27FC236}">
                  <a16:creationId xmlns:a16="http://schemas.microsoft.com/office/drawing/2014/main" id="{C96E4339-07C8-47D7-9CC0-7E93A6ABF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888" y="3313113"/>
              <a:ext cx="903846" cy="3299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400" dirty="0">
                  <a:latin typeface="Arial" pitchFamily="34" charset="0"/>
                </a:rPr>
                <a:t>Blocks</a:t>
              </a:r>
            </a:p>
          </p:txBody>
        </p:sp>
        <p:sp>
          <p:nvSpPr>
            <p:cNvPr id="53" name="Rectangle 18">
              <a:extLst>
                <a:ext uri="{FF2B5EF4-FFF2-40B4-BE49-F238E27FC236}">
                  <a16:creationId xmlns:a16="http://schemas.microsoft.com/office/drawing/2014/main" id="{B103DA22-B2A0-41F0-BD7A-1DFF48D3B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888" y="4379913"/>
              <a:ext cx="875189" cy="3299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400">
                  <a:latin typeface="Arial" pitchFamily="34" charset="0"/>
                </a:rPr>
                <a:t>Pages</a:t>
              </a:r>
            </a:p>
          </p:txBody>
        </p:sp>
        <p:sp>
          <p:nvSpPr>
            <p:cNvPr id="54" name="Rectangle 19">
              <a:extLst>
                <a:ext uri="{FF2B5EF4-FFF2-40B4-BE49-F238E27FC236}">
                  <a16:creationId xmlns:a16="http://schemas.microsoft.com/office/drawing/2014/main" id="{F6FF1A6A-E121-4CD9-BDE7-4866939AF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888" y="5446713"/>
              <a:ext cx="696623" cy="3299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400">
                  <a:latin typeface="Arial" pitchFamily="34" charset="0"/>
                </a:rPr>
                <a:t>Files</a:t>
              </a:r>
            </a:p>
          </p:txBody>
        </p:sp>
        <p:sp>
          <p:nvSpPr>
            <p:cNvPr id="55" name="Rectangle 20">
              <a:extLst>
                <a:ext uri="{FF2B5EF4-FFF2-40B4-BE49-F238E27FC236}">
                  <a16:creationId xmlns:a16="http://schemas.microsoft.com/office/drawing/2014/main" id="{C86FF5DF-F1B2-46A8-B594-4C7BF42AC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6550" y="1216025"/>
              <a:ext cx="1703993" cy="6180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kumimoji="1" lang="en-US" altLang="zh-TW" sz="1400" b="1" i="1">
                  <a:latin typeface="Arial" pitchFamily="34" charset="0"/>
                </a:rPr>
                <a:t>Staging</a:t>
              </a:r>
            </a:p>
            <a:p>
              <a:pPr>
                <a:lnSpc>
                  <a:spcPct val="90000"/>
                </a:lnSpc>
              </a:pPr>
              <a:r>
                <a:rPr kumimoji="1" lang="en-US" altLang="zh-TW" sz="1400" b="1" i="1">
                  <a:latin typeface="Arial" pitchFamily="34" charset="0"/>
                </a:rPr>
                <a:t>Transfer Unit</a:t>
              </a:r>
            </a:p>
          </p:txBody>
        </p:sp>
        <p:sp>
          <p:nvSpPr>
            <p:cNvPr id="56" name="Rectangle 21">
              <a:extLst>
                <a:ext uri="{FF2B5EF4-FFF2-40B4-BE49-F238E27FC236}">
                  <a16:creationId xmlns:a16="http://schemas.microsoft.com/office/drawing/2014/main" id="{323919D7-DD5D-400F-8977-05B9C6DE6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2263" y="2193926"/>
              <a:ext cx="1887056" cy="6180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kumimoji="1" lang="en-US" altLang="zh-TW" sz="1400" b="1">
                  <a:latin typeface="Arial" pitchFamily="34" charset="0"/>
                </a:rPr>
                <a:t>prog./compiler</a:t>
              </a:r>
            </a:p>
            <a:p>
              <a:pPr>
                <a:lnSpc>
                  <a:spcPct val="90000"/>
                </a:lnSpc>
              </a:pPr>
              <a:endParaRPr kumimoji="1" lang="en-US" altLang="zh-TW" sz="1400" b="1">
                <a:latin typeface="Arial" pitchFamily="34" charset="0"/>
              </a:endParaRPr>
            </a:p>
          </p:txBody>
        </p:sp>
        <p:sp>
          <p:nvSpPr>
            <p:cNvPr id="57" name="Rectangle 22">
              <a:extLst>
                <a:ext uri="{FF2B5EF4-FFF2-40B4-BE49-F238E27FC236}">
                  <a16:creationId xmlns:a16="http://schemas.microsoft.com/office/drawing/2014/main" id="{6B8EF161-6104-43CD-A5AD-6CBF5D153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4813" y="3184525"/>
              <a:ext cx="2076643" cy="3451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kumimoji="1" lang="en-US" altLang="zh-TW" sz="1400" b="1">
                  <a:latin typeface="Arial" pitchFamily="34" charset="0"/>
                </a:rPr>
                <a:t>cache controller</a:t>
              </a:r>
            </a:p>
          </p:txBody>
        </p:sp>
        <p:sp>
          <p:nvSpPr>
            <p:cNvPr id="58" name="Rectangle 23">
              <a:extLst>
                <a:ext uri="{FF2B5EF4-FFF2-40B4-BE49-F238E27FC236}">
                  <a16:creationId xmlns:a16="http://schemas.microsoft.com/office/drawing/2014/main" id="{AA73F9E6-278E-4976-BA9A-6F489AEE1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1650" y="4251325"/>
              <a:ext cx="533490" cy="6180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kumimoji="1" lang="en-US" altLang="zh-TW" sz="1400" b="1">
                  <a:latin typeface="Arial" pitchFamily="34" charset="0"/>
                </a:rPr>
                <a:t>OS</a:t>
              </a:r>
            </a:p>
            <a:p>
              <a:pPr>
                <a:lnSpc>
                  <a:spcPct val="90000"/>
                </a:lnSpc>
              </a:pPr>
              <a:endParaRPr kumimoji="1" lang="en-US" altLang="zh-TW" sz="1400" b="1">
                <a:latin typeface="Arial" pitchFamily="34" charset="0"/>
              </a:endParaRPr>
            </a:p>
          </p:txBody>
        </p:sp>
        <p:sp>
          <p:nvSpPr>
            <p:cNvPr id="59" name="Rectangle 24">
              <a:extLst>
                <a:ext uri="{FF2B5EF4-FFF2-40B4-BE49-F238E27FC236}">
                  <a16:creationId xmlns:a16="http://schemas.microsoft.com/office/drawing/2014/main" id="{D74071B0-2AF2-4E46-BACD-D17DBDEF2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0375" y="5318126"/>
              <a:ext cx="1763603" cy="3451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kumimoji="1" lang="en-US" altLang="zh-TW" sz="1400" b="1">
                  <a:latin typeface="Arial" pitchFamily="34" charset="0"/>
                </a:rPr>
                <a:t>user/operator</a:t>
              </a:r>
            </a:p>
          </p:txBody>
        </p:sp>
        <p:sp>
          <p:nvSpPr>
            <p:cNvPr id="60" name="Rectangle 25">
              <a:extLst>
                <a:ext uri="{FF2B5EF4-FFF2-40B4-BE49-F238E27FC236}">
                  <a16:creationId xmlns:a16="http://schemas.microsoft.com/office/drawing/2014/main" id="{C701C055-56D8-4276-85FB-5696177CE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6563" y="1004902"/>
              <a:ext cx="1239429" cy="353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400" b="1" dirty="0">
                  <a:solidFill>
                    <a:srgbClr val="FF0000"/>
                  </a:solidFill>
                  <a:latin typeface="Arial" pitchFamily="34" charset="0"/>
                </a:rPr>
                <a:t>Upper Level</a:t>
              </a:r>
            </a:p>
          </p:txBody>
        </p:sp>
        <p:sp>
          <p:nvSpPr>
            <p:cNvPr id="61" name="Rectangle 26">
              <a:extLst>
                <a:ext uri="{FF2B5EF4-FFF2-40B4-BE49-F238E27FC236}">
                  <a16:creationId xmlns:a16="http://schemas.microsoft.com/office/drawing/2014/main" id="{C9C0B160-ACD0-4202-8D75-83F8A221A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9978" y="6087245"/>
              <a:ext cx="1249772" cy="353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400" b="1" dirty="0">
                  <a:solidFill>
                    <a:srgbClr val="FF0000"/>
                  </a:solidFill>
                  <a:latin typeface="Arial" pitchFamily="34" charset="0"/>
                </a:rPr>
                <a:t>Lower Level</a:t>
              </a:r>
            </a:p>
          </p:txBody>
        </p:sp>
        <p:sp>
          <p:nvSpPr>
            <p:cNvPr id="62" name="Line 27">
              <a:extLst>
                <a:ext uri="{FF2B5EF4-FFF2-40B4-BE49-F238E27FC236}">
                  <a16:creationId xmlns:a16="http://schemas.microsoft.com/office/drawing/2014/main" id="{66BA7D7F-0F73-4545-9B88-A022E792CE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02650" y="1447800"/>
              <a:ext cx="0" cy="441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400"/>
            </a:p>
          </p:txBody>
        </p:sp>
        <p:sp>
          <p:nvSpPr>
            <p:cNvPr id="63" name="Rectangle 28">
              <a:extLst>
                <a:ext uri="{FF2B5EF4-FFF2-40B4-BE49-F238E27FC236}">
                  <a16:creationId xmlns:a16="http://schemas.microsoft.com/office/drawing/2014/main" id="{84A9A6C3-BF5D-4904-A03B-1DAF1FAB1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9488" y="1408112"/>
              <a:ext cx="846530" cy="3299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400" b="1">
                  <a:latin typeface="Arial" pitchFamily="34" charset="0"/>
                </a:rPr>
                <a:t>faster</a:t>
              </a:r>
            </a:p>
          </p:txBody>
        </p:sp>
        <p:sp>
          <p:nvSpPr>
            <p:cNvPr id="64" name="Line 29">
              <a:extLst>
                <a:ext uri="{FF2B5EF4-FFF2-40B4-BE49-F238E27FC236}">
                  <a16:creationId xmlns:a16="http://schemas.microsoft.com/office/drawing/2014/main" id="{03EA1A8C-9BC2-493C-B9DC-2F1FD5553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63050" y="1828800"/>
              <a:ext cx="0" cy="3733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400"/>
            </a:p>
          </p:txBody>
        </p:sp>
        <p:sp>
          <p:nvSpPr>
            <p:cNvPr id="65" name="Rectangle 30">
              <a:extLst>
                <a:ext uri="{FF2B5EF4-FFF2-40B4-BE49-F238E27FC236}">
                  <a16:creationId xmlns:a16="http://schemas.microsoft.com/office/drawing/2014/main" id="{144EEB3B-6170-42B3-84DB-C48131626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4589" y="5675313"/>
              <a:ext cx="943528" cy="3299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400" b="1">
                  <a:latin typeface="Arial" pitchFamily="34" charset="0"/>
                </a:rPr>
                <a:t>Larger</a:t>
              </a:r>
            </a:p>
          </p:txBody>
        </p:sp>
      </p:grpSp>
      <p:sp>
        <p:nvSpPr>
          <p:cNvPr id="74785" name="Oval 33"/>
          <p:cNvSpPr>
            <a:spLocks noChangeArrowheads="1"/>
          </p:cNvSpPr>
          <p:nvPr/>
        </p:nvSpPr>
        <p:spPr bwMode="auto">
          <a:xfrm>
            <a:off x="2036403" y="2754393"/>
            <a:ext cx="2160985" cy="1117997"/>
          </a:xfrm>
          <a:prstGeom prst="ellipse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TW" altLang="en-US" sz="1350"/>
          </a:p>
        </p:txBody>
      </p:sp>
    </p:spTree>
    <p:extLst>
      <p:ext uri="{BB962C8B-B14F-4D97-AF65-F5344CB8AC3E}">
        <p14:creationId xmlns:p14="http://schemas.microsoft.com/office/powerpoint/2010/main" val="2796628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23827" y="129780"/>
            <a:ext cx="6805711" cy="509548"/>
          </a:xfrm>
        </p:spPr>
        <p:txBody>
          <a:bodyPr/>
          <a:lstStyle/>
          <a:p>
            <a:r>
              <a:rPr lang="en-US" altLang="zh-TW" sz="3200">
                <a:solidFill>
                  <a:srgbClr val="002060"/>
                </a:solidFill>
              </a:rPr>
              <a:t>Virtual Memory</a:t>
            </a:r>
          </a:p>
        </p:txBody>
      </p:sp>
      <p:grpSp>
        <p:nvGrpSpPr>
          <p:cNvPr id="247811" name="Group 4"/>
          <p:cNvGrpSpPr>
            <a:grpSpLocks/>
          </p:cNvGrpSpPr>
          <p:nvPr/>
        </p:nvGrpSpPr>
        <p:grpSpPr bwMode="auto">
          <a:xfrm>
            <a:off x="1121789" y="1205861"/>
            <a:ext cx="6890993" cy="3026004"/>
            <a:chOff x="1040" y="3024"/>
            <a:chExt cx="3922" cy="1008"/>
          </a:xfrm>
        </p:grpSpPr>
        <p:sp>
          <p:nvSpPr>
            <p:cNvPr id="247812" name="Rectangle 5"/>
            <p:cNvSpPr>
              <a:spLocks noChangeArrowheads="1"/>
            </p:cNvSpPr>
            <p:nvPr/>
          </p:nvSpPr>
          <p:spPr bwMode="auto">
            <a:xfrm>
              <a:off x="1192" y="3336"/>
              <a:ext cx="242" cy="28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TW" altLang="en-US" sz="1350"/>
            </a:p>
          </p:txBody>
        </p:sp>
        <p:sp>
          <p:nvSpPr>
            <p:cNvPr id="247813" name="Rectangle 6"/>
            <p:cNvSpPr>
              <a:spLocks noChangeArrowheads="1"/>
            </p:cNvSpPr>
            <p:nvPr/>
          </p:nvSpPr>
          <p:spPr bwMode="auto">
            <a:xfrm>
              <a:off x="2188" y="3232"/>
              <a:ext cx="304" cy="48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TW" altLang="en-US" sz="1350"/>
            </a:p>
          </p:txBody>
        </p:sp>
        <p:sp>
          <p:nvSpPr>
            <p:cNvPr id="247814" name="Rectangle 7"/>
            <p:cNvSpPr>
              <a:spLocks noChangeArrowheads="1"/>
            </p:cNvSpPr>
            <p:nvPr/>
          </p:nvSpPr>
          <p:spPr bwMode="auto">
            <a:xfrm>
              <a:off x="2942" y="3112"/>
              <a:ext cx="633" cy="808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TW" altLang="en-US" sz="1350"/>
            </a:p>
          </p:txBody>
        </p:sp>
        <p:sp>
          <p:nvSpPr>
            <p:cNvPr id="247815" name="Rectangle 8"/>
            <p:cNvSpPr>
              <a:spLocks noChangeArrowheads="1"/>
            </p:cNvSpPr>
            <p:nvPr/>
          </p:nvSpPr>
          <p:spPr bwMode="auto">
            <a:xfrm>
              <a:off x="4069" y="3032"/>
              <a:ext cx="893" cy="100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TW" altLang="en-US" sz="1350"/>
            </a:p>
          </p:txBody>
        </p:sp>
        <p:sp>
          <p:nvSpPr>
            <p:cNvPr id="247816" name="Line 9"/>
            <p:cNvSpPr>
              <a:spLocks noChangeShapeType="1"/>
            </p:cNvSpPr>
            <p:nvPr/>
          </p:nvSpPr>
          <p:spPr bwMode="auto">
            <a:xfrm>
              <a:off x="1447" y="3476"/>
              <a:ext cx="7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247817" name="Line 10"/>
            <p:cNvSpPr>
              <a:spLocks noChangeShapeType="1"/>
            </p:cNvSpPr>
            <p:nvPr/>
          </p:nvSpPr>
          <p:spPr bwMode="auto">
            <a:xfrm>
              <a:off x="2496" y="3476"/>
              <a:ext cx="4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247818" name="Line 11"/>
            <p:cNvSpPr>
              <a:spLocks noChangeShapeType="1"/>
            </p:cNvSpPr>
            <p:nvPr/>
          </p:nvSpPr>
          <p:spPr bwMode="auto">
            <a:xfrm flipV="1">
              <a:off x="3579" y="3476"/>
              <a:ext cx="503" cy="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247819" name="Rectangle 12"/>
            <p:cNvSpPr>
              <a:spLocks noChangeArrowheads="1"/>
            </p:cNvSpPr>
            <p:nvPr/>
          </p:nvSpPr>
          <p:spPr bwMode="auto">
            <a:xfrm>
              <a:off x="4212" y="3642"/>
              <a:ext cx="461" cy="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TW" sz="1500" b="1">
                  <a:latin typeface="Arial" pitchFamily="34" charset="0"/>
                </a:rPr>
                <a:t>pages</a:t>
              </a:r>
            </a:p>
          </p:txBody>
        </p:sp>
        <p:sp>
          <p:nvSpPr>
            <p:cNvPr id="247820" name="Rectangle 13"/>
            <p:cNvSpPr>
              <a:spLocks noChangeArrowheads="1"/>
            </p:cNvSpPr>
            <p:nvPr/>
          </p:nvSpPr>
          <p:spPr bwMode="auto">
            <a:xfrm>
              <a:off x="3116" y="3496"/>
              <a:ext cx="355" cy="232"/>
            </a:xfrm>
            <a:prstGeom prst="rect">
              <a:avLst/>
            </a:prstGeom>
            <a:solidFill>
              <a:srgbClr val="FF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TW" altLang="en-US" sz="1350"/>
            </a:p>
          </p:txBody>
        </p:sp>
        <p:sp>
          <p:nvSpPr>
            <p:cNvPr id="247821" name="Rectangle 14"/>
            <p:cNvSpPr>
              <a:spLocks noChangeArrowheads="1"/>
            </p:cNvSpPr>
            <p:nvPr/>
          </p:nvSpPr>
          <p:spPr bwMode="auto">
            <a:xfrm>
              <a:off x="1040" y="3094"/>
              <a:ext cx="56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eaLnBrk="0" hangingPunct="0">
                <a:lnSpc>
                  <a:spcPct val="97000"/>
                </a:lnSpc>
              </a:pPr>
              <a:r>
                <a:rPr lang="en-US" altLang="zh-TW" sz="1500" b="1">
                  <a:latin typeface="Arial" pitchFamily="34" charset="0"/>
                </a:rPr>
                <a:t>register</a:t>
              </a:r>
            </a:p>
          </p:txBody>
        </p:sp>
        <p:sp>
          <p:nvSpPr>
            <p:cNvPr id="247822" name="Rectangle 15"/>
            <p:cNvSpPr>
              <a:spLocks noChangeArrowheads="1"/>
            </p:cNvSpPr>
            <p:nvPr/>
          </p:nvSpPr>
          <p:spPr bwMode="auto">
            <a:xfrm>
              <a:off x="2080" y="3024"/>
              <a:ext cx="45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eaLnBrk="0" hangingPunct="0">
                <a:lnSpc>
                  <a:spcPct val="97000"/>
                </a:lnSpc>
              </a:pPr>
              <a:r>
                <a:rPr lang="en-US" altLang="zh-TW" sz="1500" b="1">
                  <a:latin typeface="Arial" pitchFamily="34" charset="0"/>
                </a:rPr>
                <a:t>cache</a:t>
              </a:r>
            </a:p>
          </p:txBody>
        </p:sp>
        <p:sp>
          <p:nvSpPr>
            <p:cNvPr id="247823" name="Rectangle 16"/>
            <p:cNvSpPr>
              <a:spLocks noChangeArrowheads="1"/>
            </p:cNvSpPr>
            <p:nvPr/>
          </p:nvSpPr>
          <p:spPr bwMode="auto">
            <a:xfrm>
              <a:off x="2912" y="3117"/>
              <a:ext cx="598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eaLnBrk="0" hangingPunct="0">
                <a:lnSpc>
                  <a:spcPct val="85000"/>
                </a:lnSpc>
              </a:pPr>
              <a:r>
                <a:rPr lang="en-US" altLang="zh-TW" sz="1500" b="1">
                  <a:latin typeface="Arial" pitchFamily="34" charset="0"/>
                </a:rPr>
                <a:t>memory</a:t>
              </a:r>
            </a:p>
          </p:txBody>
        </p:sp>
        <p:sp>
          <p:nvSpPr>
            <p:cNvPr id="247824" name="Rectangle 17"/>
            <p:cNvSpPr>
              <a:spLocks noChangeArrowheads="1"/>
            </p:cNvSpPr>
            <p:nvPr/>
          </p:nvSpPr>
          <p:spPr bwMode="auto">
            <a:xfrm>
              <a:off x="4160" y="3083"/>
              <a:ext cx="340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eaLnBrk="0" hangingPunct="0">
                <a:lnSpc>
                  <a:spcPct val="85000"/>
                </a:lnSpc>
              </a:pPr>
              <a:r>
                <a:rPr lang="en-US" altLang="zh-TW" sz="1500" b="1">
                  <a:latin typeface="Arial" pitchFamily="34" charset="0"/>
                </a:rPr>
                <a:t>disk</a:t>
              </a:r>
            </a:p>
          </p:txBody>
        </p:sp>
        <p:sp>
          <p:nvSpPr>
            <p:cNvPr id="247825" name="Rectangle 18" descr="淺色右斜對角線"/>
            <p:cNvSpPr>
              <a:spLocks noChangeArrowheads="1"/>
            </p:cNvSpPr>
            <p:nvPr/>
          </p:nvSpPr>
          <p:spPr bwMode="auto">
            <a:xfrm>
              <a:off x="4364" y="3400"/>
              <a:ext cx="355" cy="232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TW" altLang="en-US" sz="1350"/>
            </a:p>
          </p:txBody>
        </p:sp>
        <p:sp>
          <p:nvSpPr>
            <p:cNvPr id="247826" name="Rectangle 19"/>
            <p:cNvSpPr>
              <a:spLocks noChangeArrowheads="1"/>
            </p:cNvSpPr>
            <p:nvPr/>
          </p:nvSpPr>
          <p:spPr bwMode="auto">
            <a:xfrm>
              <a:off x="2978" y="3755"/>
              <a:ext cx="440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eaLnBrk="0" hangingPunct="0">
                <a:lnSpc>
                  <a:spcPct val="85000"/>
                </a:lnSpc>
              </a:pPr>
              <a:r>
                <a:rPr lang="en-US" altLang="zh-TW" sz="1500" b="1">
                  <a:latin typeface="Arial" pitchFamily="34" charset="0"/>
                </a:rPr>
                <a:t>frame</a:t>
              </a:r>
            </a:p>
          </p:txBody>
        </p:sp>
      </p:grpSp>
      <p:sp>
        <p:nvSpPr>
          <p:cNvPr id="247827" name="投影片編號版面配置區 1"/>
          <p:cNvSpPr txBox="1">
            <a:spLocks noGrp="1"/>
          </p:cNvSpPr>
          <p:nvPr/>
        </p:nvSpPr>
        <p:spPr bwMode="auto">
          <a:xfrm>
            <a:off x="7343727" y="4798398"/>
            <a:ext cx="15478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 anchor="ctr"/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20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20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defTabSz="7620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defTabSz="7620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/>
            <a:fld id="{8CDBBF90-3FA8-495F-810F-5D24BEA52CF9}" type="slidenum">
              <a:rPr kumimoji="0" lang="zh-TW" altLang="en-US" sz="1050">
                <a:solidFill>
                  <a:schemeClr val="bg1"/>
                </a:solidFill>
                <a:latin typeface="Arial" pitchFamily="34" charset="0"/>
              </a:rPr>
              <a:pPr algn="r"/>
              <a:t>4</a:t>
            </a:fld>
            <a:endParaRPr kumimoji="0" lang="en-US" altLang="zh-TW" sz="105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57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Oval 1026"/>
          <p:cNvSpPr>
            <a:spLocks noChangeArrowheads="1"/>
          </p:cNvSpPr>
          <p:nvPr/>
        </p:nvSpPr>
        <p:spPr bwMode="auto">
          <a:xfrm>
            <a:off x="1921669" y="1371601"/>
            <a:ext cx="1232297" cy="575072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zh-TW" altLang="zh-TW" sz="1350">
              <a:latin typeface="Tahoma" pitchFamily="34" charset="0"/>
            </a:endParaRPr>
          </a:p>
        </p:txBody>
      </p:sp>
      <p:sp>
        <p:nvSpPr>
          <p:cNvPr id="75782" name="Rectangle 1027"/>
          <p:cNvSpPr>
            <a:spLocks noChangeArrowheads="1"/>
          </p:cNvSpPr>
          <p:nvPr/>
        </p:nvSpPr>
        <p:spPr bwMode="auto">
          <a:xfrm>
            <a:off x="2265760" y="1534716"/>
            <a:ext cx="510558" cy="2750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7866" tIns="33338" rIns="67866" bIns="33338">
            <a:spAutoFit/>
          </a:bodyPr>
          <a:lstStyle/>
          <a:p>
            <a:pPr marL="214313" indent="-214313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1500" b="1">
                <a:solidFill>
                  <a:srgbClr val="FF3300"/>
                </a:solidFill>
                <a:latin typeface="Book Antiqua" pitchFamily="18" charset="0"/>
              </a:rPr>
              <a:t>new</a:t>
            </a:r>
          </a:p>
        </p:txBody>
      </p:sp>
      <p:sp>
        <p:nvSpPr>
          <p:cNvPr id="2055" name="Oval 1028"/>
          <p:cNvSpPr>
            <a:spLocks noChangeArrowheads="1"/>
          </p:cNvSpPr>
          <p:nvPr/>
        </p:nvSpPr>
        <p:spPr bwMode="auto">
          <a:xfrm>
            <a:off x="3429000" y="2045494"/>
            <a:ext cx="1244204" cy="912019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zh-TW" altLang="zh-TW" sz="1350">
              <a:latin typeface="Tahoma" pitchFamily="34" charset="0"/>
            </a:endParaRPr>
          </a:p>
        </p:txBody>
      </p:sp>
      <p:sp>
        <p:nvSpPr>
          <p:cNvPr id="184325" name="Rectangle 1029"/>
          <p:cNvSpPr>
            <a:spLocks noChangeArrowheads="1"/>
          </p:cNvSpPr>
          <p:nvPr/>
        </p:nvSpPr>
        <p:spPr bwMode="auto">
          <a:xfrm>
            <a:off x="3640931" y="2355057"/>
            <a:ext cx="629180" cy="2750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7866" tIns="33338" rIns="67866" bIns="33338">
            <a:spAutoFit/>
          </a:bodyPr>
          <a:lstStyle/>
          <a:p>
            <a:pPr marL="214313" indent="-214313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1500" b="1">
                <a:solidFill>
                  <a:srgbClr val="FF3300"/>
                </a:solidFill>
                <a:latin typeface="Book Antiqua" pitchFamily="18" charset="0"/>
              </a:rPr>
              <a:t>ready</a:t>
            </a:r>
          </a:p>
        </p:txBody>
      </p:sp>
      <p:sp>
        <p:nvSpPr>
          <p:cNvPr id="2057" name="Oval 1030"/>
          <p:cNvSpPr>
            <a:spLocks noChangeArrowheads="1"/>
          </p:cNvSpPr>
          <p:nvPr/>
        </p:nvSpPr>
        <p:spPr bwMode="auto">
          <a:xfrm>
            <a:off x="5204223" y="2044303"/>
            <a:ext cx="1253728" cy="91916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zh-TW" altLang="zh-TW" sz="1350">
              <a:latin typeface="Tahoma" pitchFamily="34" charset="0"/>
            </a:endParaRPr>
          </a:p>
        </p:txBody>
      </p:sp>
      <p:sp>
        <p:nvSpPr>
          <p:cNvPr id="184327" name="Rectangle 1031"/>
          <p:cNvSpPr>
            <a:spLocks noChangeArrowheads="1"/>
          </p:cNvSpPr>
          <p:nvPr/>
        </p:nvSpPr>
        <p:spPr bwMode="auto">
          <a:xfrm>
            <a:off x="5363767" y="2387204"/>
            <a:ext cx="851997" cy="2750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7866" tIns="33338" rIns="67866" bIns="33338">
            <a:spAutoFit/>
          </a:bodyPr>
          <a:lstStyle/>
          <a:p>
            <a:pPr marL="214313" indent="-214313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1500" b="1">
                <a:solidFill>
                  <a:srgbClr val="FF3300"/>
                </a:solidFill>
                <a:latin typeface="Book Antiqua" pitchFamily="18" charset="0"/>
              </a:rPr>
              <a:t>running</a:t>
            </a:r>
          </a:p>
        </p:txBody>
      </p:sp>
      <p:sp>
        <p:nvSpPr>
          <p:cNvPr id="184328" name="Oval 1032"/>
          <p:cNvSpPr>
            <a:spLocks noChangeArrowheads="1"/>
          </p:cNvSpPr>
          <p:nvPr/>
        </p:nvSpPr>
        <p:spPr bwMode="auto">
          <a:xfrm>
            <a:off x="6159103" y="1234679"/>
            <a:ext cx="1489472" cy="617934"/>
          </a:xfrm>
          <a:prstGeom prst="ellipse">
            <a:avLst/>
          </a:prstGeom>
          <a:ln>
            <a:headEnd/>
            <a:tailEnd/>
          </a:ln>
          <a:ex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zh-TW" altLang="en-US" sz="1350">
              <a:latin typeface="Tahoma" pitchFamily="34" charset="0"/>
            </a:endParaRPr>
          </a:p>
        </p:txBody>
      </p:sp>
      <p:sp>
        <p:nvSpPr>
          <p:cNvPr id="184329" name="Rectangle 1033"/>
          <p:cNvSpPr>
            <a:spLocks noChangeArrowheads="1"/>
          </p:cNvSpPr>
          <p:nvPr/>
        </p:nvSpPr>
        <p:spPr bwMode="auto">
          <a:xfrm>
            <a:off x="6206729" y="1408510"/>
            <a:ext cx="1098859" cy="2750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7866" tIns="33338" rIns="67866" bIns="33338">
            <a:spAutoFit/>
          </a:bodyPr>
          <a:lstStyle/>
          <a:p>
            <a:pPr marL="214313" indent="-214313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1500" b="1">
                <a:solidFill>
                  <a:srgbClr val="6600FF"/>
                </a:solidFill>
                <a:latin typeface="Book Antiqua" pitchFamily="18" charset="0"/>
              </a:rPr>
              <a:t>terminated</a:t>
            </a:r>
          </a:p>
        </p:txBody>
      </p:sp>
      <p:sp>
        <p:nvSpPr>
          <p:cNvPr id="2061" name="Oval 1034"/>
          <p:cNvSpPr>
            <a:spLocks noChangeArrowheads="1"/>
          </p:cNvSpPr>
          <p:nvPr/>
        </p:nvSpPr>
        <p:spPr bwMode="auto">
          <a:xfrm>
            <a:off x="4165998" y="3367088"/>
            <a:ext cx="1316831" cy="851297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zh-TW" altLang="zh-TW" sz="1350">
              <a:latin typeface="Tahoma" pitchFamily="34" charset="0"/>
            </a:endParaRPr>
          </a:p>
        </p:txBody>
      </p:sp>
      <p:sp>
        <p:nvSpPr>
          <p:cNvPr id="184331" name="Rectangle 1035"/>
          <p:cNvSpPr>
            <a:spLocks noChangeArrowheads="1"/>
          </p:cNvSpPr>
          <p:nvPr/>
        </p:nvSpPr>
        <p:spPr bwMode="auto">
          <a:xfrm>
            <a:off x="4343400" y="3659982"/>
            <a:ext cx="810319" cy="2750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7866" tIns="33338" rIns="67866" bIns="33338">
            <a:spAutoFit/>
          </a:bodyPr>
          <a:lstStyle/>
          <a:p>
            <a:pPr marL="214313" indent="-214313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1500" b="1">
                <a:solidFill>
                  <a:srgbClr val="FF3300"/>
                </a:solidFill>
                <a:latin typeface="Book Antiqua" pitchFamily="18" charset="0"/>
              </a:rPr>
              <a:t>waiting</a:t>
            </a:r>
          </a:p>
        </p:txBody>
      </p:sp>
      <p:sp>
        <p:nvSpPr>
          <p:cNvPr id="184332" name="Arc 1036"/>
          <p:cNvSpPr>
            <a:spLocks/>
          </p:cNvSpPr>
          <p:nvPr/>
        </p:nvSpPr>
        <p:spPr bwMode="auto">
          <a:xfrm>
            <a:off x="4231482" y="1794273"/>
            <a:ext cx="1250156" cy="301228"/>
          </a:xfrm>
          <a:custGeom>
            <a:avLst/>
            <a:gdLst>
              <a:gd name="T0" fmla="*/ 0 w 43200"/>
              <a:gd name="T1" fmla="*/ 2147483647 h 22056"/>
              <a:gd name="T2" fmla="*/ 2147483647 w 43200"/>
              <a:gd name="T3" fmla="*/ 2147483647 h 22056"/>
              <a:gd name="T4" fmla="*/ 2147483647 w 43200"/>
              <a:gd name="T5" fmla="*/ 2147483647 h 22056"/>
              <a:gd name="T6" fmla="*/ 0 60000 65536"/>
              <a:gd name="T7" fmla="*/ 0 60000 65536"/>
              <a:gd name="T8" fmla="*/ 0 60000 65536"/>
              <a:gd name="T9" fmla="*/ 0 w 43200"/>
              <a:gd name="T10" fmla="*/ 0 h 22056"/>
              <a:gd name="T11" fmla="*/ 43200 w 43200"/>
              <a:gd name="T12" fmla="*/ 22056 h 220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056" fill="none" extrusionOk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752"/>
                  <a:pt x="43198" y="21904"/>
                  <a:pt x="43195" y="22056"/>
                </a:cubicBezTo>
              </a:path>
              <a:path w="43200" h="22056" stroke="0" extrusionOk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752"/>
                  <a:pt x="43198" y="21904"/>
                  <a:pt x="43195" y="22056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8575" cap="rnd">
            <a:solidFill>
              <a:srgbClr val="00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184333" name="Arc 1037"/>
          <p:cNvSpPr>
            <a:spLocks/>
          </p:cNvSpPr>
          <p:nvPr/>
        </p:nvSpPr>
        <p:spPr bwMode="auto">
          <a:xfrm>
            <a:off x="4326732" y="2884885"/>
            <a:ext cx="1122760" cy="201215"/>
          </a:xfrm>
          <a:custGeom>
            <a:avLst/>
            <a:gdLst>
              <a:gd name="T0" fmla="*/ 2147483647 w 43082"/>
              <a:gd name="T1" fmla="*/ 0 h 21600"/>
              <a:gd name="T2" fmla="*/ 0 w 43082"/>
              <a:gd name="T3" fmla="*/ 2147483647 h 21600"/>
              <a:gd name="T4" fmla="*/ 2147483647 w 43082"/>
              <a:gd name="T5" fmla="*/ 0 h 21600"/>
              <a:gd name="T6" fmla="*/ 0 60000 65536"/>
              <a:gd name="T7" fmla="*/ 0 60000 65536"/>
              <a:gd name="T8" fmla="*/ 0 60000 65536"/>
              <a:gd name="T9" fmla="*/ 0 w 43082"/>
              <a:gd name="T10" fmla="*/ 0 h 21600"/>
              <a:gd name="T11" fmla="*/ 43082 w 4308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082" h="21600" fill="none" extrusionOk="0">
                <a:moveTo>
                  <a:pt x="43082" y="0"/>
                </a:moveTo>
                <a:cubicBezTo>
                  <a:pt x="43082" y="11929"/>
                  <a:pt x="33411" y="21600"/>
                  <a:pt x="21482" y="21600"/>
                </a:cubicBezTo>
                <a:cubicBezTo>
                  <a:pt x="10426" y="21600"/>
                  <a:pt x="1155" y="13252"/>
                  <a:pt x="0" y="2256"/>
                </a:cubicBezTo>
              </a:path>
              <a:path w="43082" h="21600" stroke="0" extrusionOk="0">
                <a:moveTo>
                  <a:pt x="43082" y="0"/>
                </a:moveTo>
                <a:cubicBezTo>
                  <a:pt x="43082" y="11929"/>
                  <a:pt x="33411" y="21600"/>
                  <a:pt x="21482" y="21600"/>
                </a:cubicBezTo>
                <a:cubicBezTo>
                  <a:pt x="10426" y="21600"/>
                  <a:pt x="1155" y="13252"/>
                  <a:pt x="0" y="2256"/>
                </a:cubicBezTo>
                <a:lnTo>
                  <a:pt x="21482" y="0"/>
                </a:lnTo>
                <a:lnTo>
                  <a:pt x="43082" y="0"/>
                </a:lnTo>
                <a:close/>
              </a:path>
            </a:pathLst>
          </a:custGeom>
          <a:noFill/>
          <a:ln w="28575" cap="rnd">
            <a:solidFill>
              <a:srgbClr val="FF99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184334" name="Arc 1038"/>
          <p:cNvSpPr>
            <a:spLocks/>
          </p:cNvSpPr>
          <p:nvPr/>
        </p:nvSpPr>
        <p:spPr bwMode="auto">
          <a:xfrm>
            <a:off x="5522119" y="2953941"/>
            <a:ext cx="500063" cy="816769"/>
          </a:xfrm>
          <a:custGeom>
            <a:avLst/>
            <a:gdLst>
              <a:gd name="T0" fmla="*/ 2147483647 w 23981"/>
              <a:gd name="T1" fmla="*/ 0 h 21600"/>
              <a:gd name="T2" fmla="*/ 0 w 23981"/>
              <a:gd name="T3" fmla="*/ 2147483647 h 21600"/>
              <a:gd name="T4" fmla="*/ 2147483647 w 23981"/>
              <a:gd name="T5" fmla="*/ 0 h 21600"/>
              <a:gd name="T6" fmla="*/ 0 60000 65536"/>
              <a:gd name="T7" fmla="*/ 0 60000 65536"/>
              <a:gd name="T8" fmla="*/ 0 60000 65536"/>
              <a:gd name="T9" fmla="*/ 0 w 23981"/>
              <a:gd name="T10" fmla="*/ 0 h 21600"/>
              <a:gd name="T11" fmla="*/ 23981 w 239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981" h="21600" fill="none" extrusionOk="0">
                <a:moveTo>
                  <a:pt x="23981" y="0"/>
                </a:moveTo>
                <a:cubicBezTo>
                  <a:pt x="23981" y="11929"/>
                  <a:pt x="14310" y="21600"/>
                  <a:pt x="2381" y="21600"/>
                </a:cubicBezTo>
                <a:cubicBezTo>
                  <a:pt x="1585" y="21600"/>
                  <a:pt x="790" y="21556"/>
                  <a:pt x="-1" y="21468"/>
                </a:cubicBezTo>
              </a:path>
              <a:path w="23981" h="21600" stroke="0" extrusionOk="0">
                <a:moveTo>
                  <a:pt x="23981" y="0"/>
                </a:moveTo>
                <a:cubicBezTo>
                  <a:pt x="23981" y="11929"/>
                  <a:pt x="14310" y="21600"/>
                  <a:pt x="2381" y="21600"/>
                </a:cubicBezTo>
                <a:cubicBezTo>
                  <a:pt x="1585" y="21600"/>
                  <a:pt x="790" y="21556"/>
                  <a:pt x="-1" y="21468"/>
                </a:cubicBezTo>
                <a:lnTo>
                  <a:pt x="2381" y="0"/>
                </a:lnTo>
                <a:lnTo>
                  <a:pt x="23981" y="0"/>
                </a:lnTo>
                <a:close/>
              </a:path>
            </a:pathLst>
          </a:custGeom>
          <a:noFill/>
          <a:ln w="28575" cap="rnd">
            <a:solidFill>
              <a:srgbClr val="008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184335" name="Arc 1039"/>
          <p:cNvSpPr>
            <a:spLocks/>
          </p:cNvSpPr>
          <p:nvPr/>
        </p:nvSpPr>
        <p:spPr bwMode="auto">
          <a:xfrm>
            <a:off x="3590926" y="2858691"/>
            <a:ext cx="564356" cy="828675"/>
          </a:xfrm>
          <a:custGeom>
            <a:avLst/>
            <a:gdLst>
              <a:gd name="T0" fmla="*/ 2147483647 w 24375"/>
              <a:gd name="T1" fmla="*/ 2147483647 h 24220"/>
              <a:gd name="T2" fmla="*/ 2147483647 w 24375"/>
              <a:gd name="T3" fmla="*/ 0 h 24220"/>
              <a:gd name="T4" fmla="*/ 2147483647 w 24375"/>
              <a:gd name="T5" fmla="*/ 2147483647 h 24220"/>
              <a:gd name="T6" fmla="*/ 0 60000 65536"/>
              <a:gd name="T7" fmla="*/ 0 60000 65536"/>
              <a:gd name="T8" fmla="*/ 0 60000 65536"/>
              <a:gd name="T9" fmla="*/ 0 w 24375"/>
              <a:gd name="T10" fmla="*/ 0 h 24220"/>
              <a:gd name="T11" fmla="*/ 24375 w 24375"/>
              <a:gd name="T12" fmla="*/ 24220 h 242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375" h="24220" fill="none" extrusionOk="0">
                <a:moveTo>
                  <a:pt x="24375" y="24041"/>
                </a:moveTo>
                <a:cubicBezTo>
                  <a:pt x="23454" y="24160"/>
                  <a:pt x="22527" y="24219"/>
                  <a:pt x="21600" y="24220"/>
                </a:cubicBezTo>
                <a:cubicBezTo>
                  <a:pt x="9670" y="24220"/>
                  <a:pt x="0" y="14549"/>
                  <a:pt x="0" y="2620"/>
                </a:cubicBezTo>
                <a:cubicBezTo>
                  <a:pt x="-1" y="1744"/>
                  <a:pt x="53" y="869"/>
                  <a:pt x="159" y="0"/>
                </a:cubicBezTo>
              </a:path>
              <a:path w="24375" h="24220" stroke="0" extrusionOk="0">
                <a:moveTo>
                  <a:pt x="24375" y="24041"/>
                </a:moveTo>
                <a:cubicBezTo>
                  <a:pt x="23454" y="24160"/>
                  <a:pt x="22527" y="24219"/>
                  <a:pt x="21600" y="24220"/>
                </a:cubicBezTo>
                <a:cubicBezTo>
                  <a:pt x="9670" y="24220"/>
                  <a:pt x="0" y="14549"/>
                  <a:pt x="0" y="2620"/>
                </a:cubicBezTo>
                <a:cubicBezTo>
                  <a:pt x="-1" y="1744"/>
                  <a:pt x="53" y="869"/>
                  <a:pt x="159" y="0"/>
                </a:cubicBezTo>
                <a:lnTo>
                  <a:pt x="21600" y="2620"/>
                </a:lnTo>
                <a:lnTo>
                  <a:pt x="24375" y="24041"/>
                </a:lnTo>
                <a:close/>
              </a:path>
            </a:pathLst>
          </a:custGeom>
          <a:noFill/>
          <a:ln w="28575" cap="rnd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184336" name="Arc 1040"/>
          <p:cNvSpPr>
            <a:spLocks/>
          </p:cNvSpPr>
          <p:nvPr/>
        </p:nvSpPr>
        <p:spPr bwMode="auto">
          <a:xfrm>
            <a:off x="5998369" y="1768079"/>
            <a:ext cx="459581" cy="277415"/>
          </a:xfrm>
          <a:custGeom>
            <a:avLst/>
            <a:gdLst>
              <a:gd name="T0" fmla="*/ 0 w 21600"/>
              <a:gd name="T1" fmla="*/ 2147483647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21600"/>
                </a:moveTo>
                <a:cubicBezTo>
                  <a:pt x="0" y="9691"/>
                  <a:pt x="9637" y="29"/>
                  <a:pt x="21546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91"/>
                  <a:pt x="9637" y="29"/>
                  <a:pt x="21546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8575" cap="rnd">
            <a:solidFill>
              <a:srgbClr val="66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184337" name="Rectangle 1041"/>
          <p:cNvSpPr>
            <a:spLocks noChangeArrowheads="1"/>
          </p:cNvSpPr>
          <p:nvPr/>
        </p:nvSpPr>
        <p:spPr bwMode="auto">
          <a:xfrm>
            <a:off x="3220641" y="1509713"/>
            <a:ext cx="927338" cy="2750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7866" tIns="33338" rIns="67866" bIns="33338">
            <a:spAutoFit/>
          </a:bodyPr>
          <a:lstStyle/>
          <a:p>
            <a:pPr marL="214313" indent="-214313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1500" b="1">
                <a:solidFill>
                  <a:srgbClr val="FF3300"/>
                </a:solidFill>
                <a:latin typeface="Book Antiqua" pitchFamily="18" charset="0"/>
              </a:rPr>
              <a:t>admitted</a:t>
            </a:r>
          </a:p>
        </p:txBody>
      </p:sp>
      <p:sp>
        <p:nvSpPr>
          <p:cNvPr id="184338" name="Rectangle 1042"/>
          <p:cNvSpPr>
            <a:spLocks noChangeArrowheads="1"/>
          </p:cNvSpPr>
          <p:nvPr/>
        </p:nvSpPr>
        <p:spPr bwMode="auto">
          <a:xfrm>
            <a:off x="4402931" y="1478757"/>
            <a:ext cx="927338" cy="2750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7866" tIns="33338" rIns="67866" bIns="33338">
            <a:spAutoFit/>
          </a:bodyPr>
          <a:lstStyle/>
          <a:p>
            <a:pPr marL="214313" indent="-214313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1500" b="1">
                <a:solidFill>
                  <a:srgbClr val="FF3300"/>
                </a:solidFill>
                <a:latin typeface="Book Antiqua" pitchFamily="18" charset="0"/>
              </a:rPr>
              <a:t>interrupt</a:t>
            </a:r>
          </a:p>
        </p:txBody>
      </p:sp>
      <p:sp>
        <p:nvSpPr>
          <p:cNvPr id="184339" name="Rectangle 1043"/>
          <p:cNvSpPr>
            <a:spLocks noChangeArrowheads="1"/>
          </p:cNvSpPr>
          <p:nvPr/>
        </p:nvSpPr>
        <p:spPr bwMode="auto">
          <a:xfrm>
            <a:off x="6268641" y="1928813"/>
            <a:ext cx="457658" cy="2750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7866" tIns="33338" rIns="67866" bIns="33338">
            <a:spAutoFit/>
          </a:bodyPr>
          <a:lstStyle/>
          <a:p>
            <a:pPr marL="214313" indent="-214313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1500" b="1">
                <a:solidFill>
                  <a:srgbClr val="6600FF"/>
                </a:solidFill>
                <a:latin typeface="Book Antiqua" pitchFamily="18" charset="0"/>
              </a:rPr>
              <a:t>exit</a:t>
            </a:r>
          </a:p>
        </p:txBody>
      </p:sp>
      <p:sp>
        <p:nvSpPr>
          <p:cNvPr id="184340" name="Rectangle 1044"/>
          <p:cNvSpPr>
            <a:spLocks noChangeArrowheads="1"/>
          </p:cNvSpPr>
          <p:nvPr/>
        </p:nvSpPr>
        <p:spPr bwMode="auto">
          <a:xfrm>
            <a:off x="4007644" y="3128963"/>
            <a:ext cx="1783342" cy="2750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7866" tIns="33338" rIns="67866" bIns="33338">
            <a:spAutoFit/>
          </a:bodyPr>
          <a:lstStyle/>
          <a:p>
            <a:pPr marL="214313" indent="-214313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1500" b="1">
                <a:solidFill>
                  <a:srgbClr val="FF9900"/>
                </a:solidFill>
                <a:latin typeface="Book Antiqua" pitchFamily="18" charset="0"/>
              </a:rPr>
              <a:t>scheduler</a:t>
            </a:r>
            <a:r>
              <a:rPr lang="en-US" altLang="zh-TW" sz="1500" b="1">
                <a:solidFill>
                  <a:srgbClr val="FF3300"/>
                </a:solidFill>
                <a:latin typeface="Book Antiqua" pitchFamily="18" charset="0"/>
              </a:rPr>
              <a:t> </a:t>
            </a:r>
            <a:r>
              <a:rPr lang="en-US" altLang="zh-TW" sz="1500" b="1">
                <a:solidFill>
                  <a:srgbClr val="FF9900"/>
                </a:solidFill>
                <a:latin typeface="Book Antiqua" pitchFamily="18" charset="0"/>
              </a:rPr>
              <a:t>dispatch</a:t>
            </a:r>
          </a:p>
        </p:txBody>
      </p:sp>
      <p:sp>
        <p:nvSpPr>
          <p:cNvPr id="184341" name="Rectangle 1045"/>
          <p:cNvSpPr>
            <a:spLocks noChangeArrowheads="1"/>
          </p:cNvSpPr>
          <p:nvPr/>
        </p:nvSpPr>
        <p:spPr bwMode="auto">
          <a:xfrm>
            <a:off x="6051947" y="3188494"/>
            <a:ext cx="1623042" cy="2750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7866" tIns="33338" rIns="67866" bIns="33338">
            <a:spAutoFit/>
          </a:bodyPr>
          <a:lstStyle/>
          <a:p>
            <a:pPr marL="214313" indent="-214313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1500" b="1">
                <a:solidFill>
                  <a:srgbClr val="008000"/>
                </a:solidFill>
                <a:latin typeface="Book Antiqua" pitchFamily="18" charset="0"/>
              </a:rPr>
              <a:t>I/O or event wait</a:t>
            </a:r>
          </a:p>
        </p:txBody>
      </p:sp>
      <p:sp>
        <p:nvSpPr>
          <p:cNvPr id="184342" name="Rectangle 1046"/>
          <p:cNvSpPr>
            <a:spLocks noChangeArrowheads="1"/>
          </p:cNvSpPr>
          <p:nvPr/>
        </p:nvSpPr>
        <p:spPr bwMode="auto">
          <a:xfrm>
            <a:off x="2019300" y="3150394"/>
            <a:ext cx="1708000" cy="552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67866" tIns="33338" rIns="67866" bIns="33338">
            <a:spAutoFit/>
          </a:bodyPr>
          <a:lstStyle/>
          <a:p>
            <a:pPr marL="214313" indent="-214313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1500" b="1">
                <a:solidFill>
                  <a:srgbClr val="0000FF"/>
                </a:solidFill>
                <a:latin typeface="Book Antiqua" pitchFamily="18" charset="0"/>
              </a:rPr>
              <a:t>        I/O or</a:t>
            </a:r>
          </a:p>
          <a:p>
            <a:pPr marL="214313" indent="-214313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1500" b="1">
                <a:solidFill>
                  <a:srgbClr val="0000FF"/>
                </a:solidFill>
                <a:latin typeface="Book Antiqua" pitchFamily="18" charset="0"/>
              </a:rPr>
              <a:t> event completion</a:t>
            </a:r>
          </a:p>
        </p:txBody>
      </p:sp>
      <p:sp>
        <p:nvSpPr>
          <p:cNvPr id="184343" name="Freeform 1047"/>
          <p:cNvSpPr>
            <a:spLocks/>
          </p:cNvSpPr>
          <p:nvPr/>
        </p:nvSpPr>
        <p:spPr bwMode="auto">
          <a:xfrm>
            <a:off x="3095625" y="1685925"/>
            <a:ext cx="534591" cy="481013"/>
          </a:xfrm>
          <a:custGeom>
            <a:avLst/>
            <a:gdLst>
              <a:gd name="T0" fmla="*/ 2147483647 w 467"/>
              <a:gd name="T1" fmla="*/ 2147483647 h 508"/>
              <a:gd name="T2" fmla="*/ 2147483647 w 467"/>
              <a:gd name="T3" fmla="*/ 2147483647 h 508"/>
              <a:gd name="T4" fmla="*/ 2147483647 w 467"/>
              <a:gd name="T5" fmla="*/ 2147483647 h 508"/>
              <a:gd name="T6" fmla="*/ 2147483647 w 467"/>
              <a:gd name="T7" fmla="*/ 2147483647 h 508"/>
              <a:gd name="T8" fmla="*/ 2147483647 w 467"/>
              <a:gd name="T9" fmla="*/ 2147483647 h 5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7"/>
              <a:gd name="T16" fmla="*/ 0 h 508"/>
              <a:gd name="T17" fmla="*/ 467 w 467"/>
              <a:gd name="T18" fmla="*/ 508 h 5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7" h="508">
                <a:moveTo>
                  <a:pt x="49" y="35"/>
                </a:moveTo>
                <a:cubicBezTo>
                  <a:pt x="143" y="98"/>
                  <a:pt x="0" y="0"/>
                  <a:pt x="104" y="81"/>
                </a:cubicBezTo>
                <a:cubicBezTo>
                  <a:pt x="173" y="135"/>
                  <a:pt x="250" y="173"/>
                  <a:pt x="304" y="244"/>
                </a:cubicBezTo>
                <a:cubicBezTo>
                  <a:pt x="340" y="292"/>
                  <a:pt x="386" y="354"/>
                  <a:pt x="413" y="408"/>
                </a:cubicBezTo>
                <a:cubicBezTo>
                  <a:pt x="430" y="443"/>
                  <a:pt x="439" y="480"/>
                  <a:pt x="467" y="508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75804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207E59D4-412B-41DE-9FC0-5AF25209F915}" type="slidenum">
              <a:rPr lang="zh-TW" altLang="en-US"/>
              <a:pPr defTabSz="571500"/>
              <a:t>5</a:t>
            </a:fld>
            <a:endParaRPr lang="en-US" altLang="zh-TW"/>
          </a:p>
        </p:txBody>
      </p:sp>
      <p:sp>
        <p:nvSpPr>
          <p:cNvPr id="75805" name="Rectangle 1048"/>
          <p:cNvSpPr>
            <a:spLocks noGrp="1" noChangeArrowheads="1"/>
          </p:cNvSpPr>
          <p:nvPr>
            <p:ph type="title"/>
          </p:nvPr>
        </p:nvSpPr>
        <p:spPr>
          <a:xfrm>
            <a:off x="942681" y="167881"/>
            <a:ext cx="6786858" cy="413146"/>
          </a:xfrm>
        </p:spPr>
        <p:txBody>
          <a:bodyPr/>
          <a:lstStyle/>
          <a:p>
            <a:r>
              <a:rPr lang="en-US" altLang="zh-TW" sz="3300" dirty="0"/>
              <a:t>Diagram of Process State</a:t>
            </a:r>
          </a:p>
        </p:txBody>
      </p:sp>
    </p:spTree>
    <p:extLst>
      <p:ext uri="{BB962C8B-B14F-4D97-AF65-F5344CB8AC3E}">
        <p14:creationId xmlns:p14="http://schemas.microsoft.com/office/powerpoint/2010/main" val="413576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4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4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4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4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4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4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4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4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5" grpId="0"/>
      <p:bldP spid="184327" grpId="0"/>
      <p:bldP spid="184329" grpId="0"/>
      <p:bldP spid="184331" grpId="0"/>
      <p:bldP spid="184332" grpId="0" animBg="1"/>
      <p:bldP spid="184333" grpId="0" animBg="1"/>
      <p:bldP spid="184334" grpId="0" animBg="1"/>
      <p:bldP spid="184335" grpId="0" animBg="1"/>
      <p:bldP spid="184336" grpId="0" animBg="1"/>
      <p:bldP spid="184337" grpId="0"/>
      <p:bldP spid="184338" grpId="0"/>
      <p:bldP spid="184339" grpId="0"/>
      <p:bldP spid="184340" grpId="0"/>
      <p:bldP spid="184341" grpId="0"/>
      <p:bldP spid="184342" grpId="0"/>
      <p:bldP spid="1843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984437" y="820078"/>
            <a:ext cx="6315075" cy="866518"/>
          </a:xfrm>
        </p:spPr>
        <p:txBody>
          <a:bodyPr/>
          <a:lstStyle/>
          <a:p>
            <a:pPr eaLnBrk="1" hangingPunct="1"/>
            <a:r>
              <a:rPr lang="en-US" altLang="zh-TW" sz="2100" dirty="0">
                <a:solidFill>
                  <a:srgbClr val="FF3300"/>
                </a:solidFill>
              </a:rPr>
              <a:t>Select</a:t>
            </a:r>
            <a:r>
              <a:rPr lang="en-US" altLang="zh-TW" sz="2100" dirty="0"/>
              <a:t> one of  the ready processes, and allocates the CPU to it. </a:t>
            </a:r>
          </a:p>
          <a:p>
            <a:pPr lvl="2" eaLnBrk="1" hangingPunct="1">
              <a:buFontTx/>
              <a:buNone/>
            </a:pPr>
            <a:endParaRPr lang="en-US" altLang="zh-TW" sz="2100" dirty="0"/>
          </a:p>
        </p:txBody>
      </p:sp>
      <p:sp>
        <p:nvSpPr>
          <p:cNvPr id="76806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FE465B8D-6AFF-47BC-A049-16AC1CDA42F7}" type="slidenum">
              <a:rPr lang="zh-TW" altLang="en-US"/>
              <a:pPr defTabSz="571500"/>
              <a:t>6</a:t>
            </a:fld>
            <a:endParaRPr lang="en-US" altLang="zh-TW"/>
          </a:p>
        </p:txBody>
      </p:sp>
      <p:grpSp>
        <p:nvGrpSpPr>
          <p:cNvPr id="76807" name="Group 4"/>
          <p:cNvGrpSpPr>
            <a:grpSpLocks/>
          </p:cNvGrpSpPr>
          <p:nvPr/>
        </p:nvGrpSpPr>
        <p:grpSpPr bwMode="auto">
          <a:xfrm>
            <a:off x="1230108" y="2077181"/>
            <a:ext cx="6394660" cy="2126110"/>
            <a:chOff x="771" y="2785"/>
            <a:chExt cx="4380" cy="922"/>
          </a:xfrm>
        </p:grpSpPr>
        <p:sp>
          <p:nvSpPr>
            <p:cNvPr id="3080" name="Rectangle 5"/>
            <p:cNvSpPr>
              <a:spLocks noChangeArrowheads="1"/>
            </p:cNvSpPr>
            <p:nvPr/>
          </p:nvSpPr>
          <p:spPr bwMode="auto">
            <a:xfrm>
              <a:off x="1536" y="2842"/>
              <a:ext cx="1081" cy="25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zh-TW" altLang="zh-TW" sz="1350">
                <a:latin typeface="Tahoma" pitchFamily="34" charset="0"/>
              </a:endParaRPr>
            </a:p>
          </p:txBody>
        </p:sp>
        <p:sp>
          <p:nvSpPr>
            <p:cNvPr id="76810" name="Rectangle 6"/>
            <p:cNvSpPr>
              <a:spLocks noChangeArrowheads="1"/>
            </p:cNvSpPr>
            <p:nvPr/>
          </p:nvSpPr>
          <p:spPr bwMode="auto">
            <a:xfrm>
              <a:off x="1655" y="2907"/>
              <a:ext cx="832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7866" tIns="33338" rIns="67866" bIns="33338">
              <a:spAutoFit/>
            </a:bodyPr>
            <a:lstStyle/>
            <a:p>
              <a:pPr marL="214313" indent="-214313">
                <a:lnSpc>
                  <a:spcPct val="90000"/>
                </a:lnSpc>
                <a:spcBef>
                  <a:spcPct val="30000"/>
                </a:spcBef>
                <a:buSzPct val="75000"/>
              </a:pPr>
              <a:r>
                <a:rPr lang="en-US" altLang="zh-TW" sz="1500" b="1" dirty="0">
                  <a:latin typeface="Book Antiqua" pitchFamily="18" charset="0"/>
                </a:rPr>
                <a:t>ready queue</a:t>
              </a:r>
            </a:p>
          </p:txBody>
        </p:sp>
        <p:sp>
          <p:nvSpPr>
            <p:cNvPr id="3082" name="Rectangle 7"/>
            <p:cNvSpPr>
              <a:spLocks noChangeArrowheads="1"/>
            </p:cNvSpPr>
            <p:nvPr/>
          </p:nvSpPr>
          <p:spPr bwMode="auto">
            <a:xfrm>
              <a:off x="2514" y="3391"/>
              <a:ext cx="1126" cy="277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zh-TW" altLang="zh-TW" sz="1350">
                <a:latin typeface="Tahoma" pitchFamily="34" charset="0"/>
              </a:endParaRPr>
            </a:p>
          </p:txBody>
        </p:sp>
        <p:sp>
          <p:nvSpPr>
            <p:cNvPr id="76812" name="Rectangle 8"/>
            <p:cNvSpPr>
              <a:spLocks noChangeArrowheads="1"/>
            </p:cNvSpPr>
            <p:nvPr/>
          </p:nvSpPr>
          <p:spPr bwMode="auto">
            <a:xfrm>
              <a:off x="2638" y="3479"/>
              <a:ext cx="841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7866" tIns="33338" rIns="67866" bIns="33338">
              <a:spAutoFit/>
            </a:bodyPr>
            <a:lstStyle/>
            <a:p>
              <a:pPr marL="214313" indent="-214313">
                <a:lnSpc>
                  <a:spcPct val="90000"/>
                </a:lnSpc>
                <a:spcBef>
                  <a:spcPct val="30000"/>
                </a:spcBef>
                <a:buSzPct val="75000"/>
              </a:pPr>
              <a:r>
                <a:rPr lang="en-US" altLang="zh-TW" sz="1500" b="1" dirty="0">
                  <a:latin typeface="Book Antiqua" pitchFamily="18" charset="0"/>
                </a:rPr>
                <a:t>I/O queue(s)</a:t>
              </a:r>
            </a:p>
          </p:txBody>
        </p:sp>
        <p:sp>
          <p:nvSpPr>
            <p:cNvPr id="193545" name="Oval 9"/>
            <p:cNvSpPr>
              <a:spLocks noChangeArrowheads="1"/>
            </p:cNvSpPr>
            <p:nvPr/>
          </p:nvSpPr>
          <p:spPr bwMode="auto">
            <a:xfrm>
              <a:off x="1761" y="3382"/>
              <a:ext cx="370" cy="325"/>
            </a:xfrm>
            <a:prstGeom prst="ellipse">
              <a:avLst/>
            </a:prstGeom>
            <a:ln>
              <a:headEnd/>
              <a:tailEnd/>
            </a:ln>
            <a:extLst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zh-TW" altLang="en-US" sz="1350">
                <a:latin typeface="Tahoma" pitchFamily="34" charset="0"/>
              </a:endParaRPr>
            </a:p>
          </p:txBody>
        </p:sp>
        <p:sp>
          <p:nvSpPr>
            <p:cNvPr id="76814" name="Rectangle 10"/>
            <p:cNvSpPr>
              <a:spLocks noChangeArrowheads="1"/>
            </p:cNvSpPr>
            <p:nvPr/>
          </p:nvSpPr>
          <p:spPr bwMode="auto">
            <a:xfrm>
              <a:off x="1794" y="3488"/>
              <a:ext cx="293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7866" tIns="33338" rIns="67866" bIns="33338">
              <a:spAutoFit/>
            </a:bodyPr>
            <a:lstStyle/>
            <a:p>
              <a:pPr marL="214313" indent="-214313">
                <a:lnSpc>
                  <a:spcPct val="90000"/>
                </a:lnSpc>
                <a:spcBef>
                  <a:spcPct val="30000"/>
                </a:spcBef>
                <a:buSzPct val="75000"/>
              </a:pPr>
              <a:r>
                <a:rPr lang="en-US" altLang="zh-TW" sz="1500" b="1" dirty="0">
                  <a:latin typeface="Book Antiqua" pitchFamily="18" charset="0"/>
                </a:rPr>
                <a:t>I/O</a:t>
              </a:r>
            </a:p>
          </p:txBody>
        </p:sp>
        <p:sp>
          <p:nvSpPr>
            <p:cNvPr id="3086" name="Oval 11"/>
            <p:cNvSpPr>
              <a:spLocks noChangeArrowheads="1"/>
            </p:cNvSpPr>
            <p:nvPr/>
          </p:nvSpPr>
          <p:spPr bwMode="auto">
            <a:xfrm>
              <a:off x="4179" y="2785"/>
              <a:ext cx="370" cy="325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endParaRPr lang="zh-TW" altLang="zh-TW" sz="1500" b="1">
                <a:latin typeface="Book Antiqua" pitchFamily="18" charset="0"/>
              </a:endParaRPr>
            </a:p>
          </p:txBody>
        </p:sp>
        <p:sp>
          <p:nvSpPr>
            <p:cNvPr id="76816" name="Rectangle 12"/>
            <p:cNvSpPr>
              <a:spLocks noChangeArrowheads="1"/>
            </p:cNvSpPr>
            <p:nvPr/>
          </p:nvSpPr>
          <p:spPr bwMode="auto">
            <a:xfrm>
              <a:off x="4176" y="2894"/>
              <a:ext cx="370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7866" tIns="33338" rIns="67866" bIns="33338">
              <a:spAutoFit/>
            </a:bodyPr>
            <a:lstStyle/>
            <a:p>
              <a:pPr marL="214313" indent="-214313">
                <a:lnSpc>
                  <a:spcPct val="90000"/>
                </a:lnSpc>
                <a:spcBef>
                  <a:spcPct val="30000"/>
                </a:spcBef>
                <a:buSzPct val="75000"/>
              </a:pPr>
              <a:r>
                <a:rPr lang="en-US" altLang="zh-TW" sz="1500" b="1" dirty="0">
                  <a:latin typeface="Book Antiqua" pitchFamily="18" charset="0"/>
                </a:rPr>
                <a:t>CPU</a:t>
              </a:r>
            </a:p>
          </p:txBody>
        </p:sp>
        <p:sp>
          <p:nvSpPr>
            <p:cNvPr id="76817" name="Line 13"/>
            <p:cNvSpPr>
              <a:spLocks noChangeShapeType="1"/>
            </p:cNvSpPr>
            <p:nvPr/>
          </p:nvSpPr>
          <p:spPr bwMode="auto">
            <a:xfrm>
              <a:off x="2629" y="2964"/>
              <a:ext cx="1541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76818" name="Line 14"/>
            <p:cNvSpPr>
              <a:spLocks noChangeShapeType="1"/>
            </p:cNvSpPr>
            <p:nvPr/>
          </p:nvSpPr>
          <p:spPr bwMode="auto">
            <a:xfrm>
              <a:off x="4579" y="2958"/>
              <a:ext cx="569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76819" name="Line 15"/>
            <p:cNvSpPr>
              <a:spLocks noChangeShapeType="1"/>
            </p:cNvSpPr>
            <p:nvPr/>
          </p:nvSpPr>
          <p:spPr bwMode="auto">
            <a:xfrm flipH="1">
              <a:off x="5140" y="2962"/>
              <a:ext cx="11" cy="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76820" name="Line 16"/>
            <p:cNvSpPr>
              <a:spLocks noChangeShapeType="1"/>
            </p:cNvSpPr>
            <p:nvPr/>
          </p:nvSpPr>
          <p:spPr bwMode="auto">
            <a:xfrm flipH="1">
              <a:off x="3685" y="3540"/>
              <a:ext cx="1452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76821" name="Line 17"/>
            <p:cNvSpPr>
              <a:spLocks noChangeShapeType="1"/>
            </p:cNvSpPr>
            <p:nvPr/>
          </p:nvSpPr>
          <p:spPr bwMode="auto">
            <a:xfrm flipH="1">
              <a:off x="2127" y="3531"/>
              <a:ext cx="39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76822" name="Line 18"/>
            <p:cNvSpPr>
              <a:spLocks noChangeShapeType="1"/>
            </p:cNvSpPr>
            <p:nvPr/>
          </p:nvSpPr>
          <p:spPr bwMode="auto">
            <a:xfrm>
              <a:off x="1064" y="3026"/>
              <a:ext cx="0" cy="5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76823" name="Line 19"/>
            <p:cNvSpPr>
              <a:spLocks noChangeShapeType="1"/>
            </p:cNvSpPr>
            <p:nvPr/>
          </p:nvSpPr>
          <p:spPr bwMode="auto">
            <a:xfrm flipH="1">
              <a:off x="1056" y="3540"/>
              <a:ext cx="709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76824" name="Line 20"/>
            <p:cNvSpPr>
              <a:spLocks noChangeShapeType="1"/>
            </p:cNvSpPr>
            <p:nvPr/>
          </p:nvSpPr>
          <p:spPr bwMode="auto">
            <a:xfrm>
              <a:off x="1063" y="3018"/>
              <a:ext cx="461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76825" name="Line 21"/>
            <p:cNvSpPr>
              <a:spLocks noChangeShapeType="1"/>
            </p:cNvSpPr>
            <p:nvPr/>
          </p:nvSpPr>
          <p:spPr bwMode="auto">
            <a:xfrm>
              <a:off x="771" y="2901"/>
              <a:ext cx="753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</p:grpSp>
      <p:sp>
        <p:nvSpPr>
          <p:cNvPr id="76808" name="Rectangle 2"/>
          <p:cNvSpPr>
            <a:spLocks noGrp="1" noChangeArrowheads="1"/>
          </p:cNvSpPr>
          <p:nvPr>
            <p:ph type="title"/>
          </p:nvPr>
        </p:nvSpPr>
        <p:spPr>
          <a:xfrm>
            <a:off x="904973" y="129779"/>
            <a:ext cx="6824565" cy="461295"/>
          </a:xfrm>
        </p:spPr>
        <p:txBody>
          <a:bodyPr/>
          <a:lstStyle/>
          <a:p>
            <a:pPr eaLnBrk="1" hangingPunct="1"/>
            <a:r>
              <a:rPr lang="en-US" altLang="zh-TW" sz="3300" dirty="0"/>
              <a:t>CPU Scheduler</a:t>
            </a:r>
          </a:p>
        </p:txBody>
      </p:sp>
    </p:spTree>
    <p:extLst>
      <p:ext uri="{BB962C8B-B14F-4D97-AF65-F5344CB8AC3E}">
        <p14:creationId xmlns:p14="http://schemas.microsoft.com/office/powerpoint/2010/main" val="3159378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923827" y="129779"/>
            <a:ext cx="6805711" cy="514347"/>
          </a:xfrm>
        </p:spPr>
        <p:txBody>
          <a:bodyPr/>
          <a:lstStyle/>
          <a:p>
            <a:r>
              <a:rPr lang="en-US" altLang="zh-TW" dirty="0"/>
              <a:t>Virtual Memory (1)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827" y="867559"/>
            <a:ext cx="7177088" cy="3269363"/>
          </a:xfrm>
        </p:spPr>
        <p:txBody>
          <a:bodyPr/>
          <a:lstStyle/>
          <a:p>
            <a:r>
              <a:rPr lang="en-US" altLang="zh-TW" sz="2000" dirty="0"/>
              <a:t>Programs share main memory (Multi-programming and I/O)</a:t>
            </a:r>
          </a:p>
          <a:p>
            <a:pPr lvl="1"/>
            <a:r>
              <a:rPr lang="en-US" altLang="zh-TW" sz="1800" dirty="0"/>
              <a:t>Program executed in a name space (virtual address space) different from memory space (physical address space)</a:t>
            </a:r>
          </a:p>
          <a:p>
            <a:pPr lvl="1"/>
            <a:r>
              <a:rPr lang="en-US" altLang="zh-TW" sz="1800" dirty="0"/>
              <a:t>Each gets a private virtual address space holding its frequently used code and data, starting at address 0, only accessible to itself</a:t>
            </a:r>
          </a:p>
          <a:p>
            <a:pPr lvl="2"/>
            <a:r>
              <a:rPr lang="en-US" altLang="zh-TW" sz="1600" dirty="0"/>
              <a:t>Yet, any can run anywhere in physical memory</a:t>
            </a:r>
          </a:p>
          <a:p>
            <a:pPr lvl="2"/>
            <a:r>
              <a:rPr lang="en-US" altLang="zh-TW" sz="1600" dirty="0"/>
              <a:t>Virtual memory implements the </a:t>
            </a:r>
            <a:r>
              <a:rPr lang="en-US" altLang="zh-TW" sz="1600" dirty="0">
                <a:solidFill>
                  <a:srgbClr val="FF0000"/>
                </a:solidFill>
              </a:rPr>
              <a:t>translation</a:t>
            </a:r>
            <a:r>
              <a:rPr lang="en-US" altLang="zh-TW" sz="1600" dirty="0"/>
              <a:t> from virtual space to physical space</a:t>
            </a:r>
          </a:p>
          <a:p>
            <a:pPr lvl="1"/>
            <a:r>
              <a:rPr lang="en-US" altLang="zh-TW" sz="1800" dirty="0"/>
              <a:t>Every program has lots of memory (&gt; physical memory)</a:t>
            </a:r>
          </a:p>
          <a:p>
            <a:pPr lvl="1"/>
            <a:r>
              <a:rPr lang="en-US" altLang="zh-TW" sz="1800" dirty="0"/>
              <a:t>Protected from other programs</a:t>
            </a:r>
          </a:p>
        </p:txBody>
      </p:sp>
      <p:sp>
        <p:nvSpPr>
          <p:cNvPr id="81924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557213" indent="-214313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8572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2001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15430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18859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2288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25717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29146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fld id="{2618A240-6168-4FAD-8420-A08F29D67A16}" type="slidenum">
              <a:rPr kumimoji="0" lang="zh-TW" altLang="en-US" sz="1050">
                <a:solidFill>
                  <a:schemeClr val="bg1"/>
                </a:solidFill>
                <a:latin typeface="Arial" pitchFamily="34" charset="0"/>
              </a:rPr>
              <a:pPr/>
              <a:t>7</a:t>
            </a:fld>
            <a:endParaRPr kumimoji="0" lang="en-US" altLang="zh-TW" sz="105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819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876693" y="107156"/>
            <a:ext cx="7051680" cy="533867"/>
          </a:xfrm>
        </p:spPr>
        <p:txBody>
          <a:bodyPr/>
          <a:lstStyle/>
          <a:p>
            <a:r>
              <a:rPr lang="en-US" altLang="zh-TW" dirty="0"/>
              <a:t>Virtual Memory (2)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9814" y="844153"/>
            <a:ext cx="7696986" cy="3671888"/>
          </a:xfrm>
        </p:spPr>
        <p:txBody>
          <a:bodyPr/>
          <a:lstStyle/>
          <a:p>
            <a:r>
              <a:rPr lang="en-US" altLang="zh-TW" sz="2000" dirty="0"/>
              <a:t>Use main memory as a “cache” for secondary (disk) storage</a:t>
            </a:r>
          </a:p>
          <a:p>
            <a:pPr lvl="1"/>
            <a:r>
              <a:rPr lang="en-US" altLang="zh-TW" sz="1800" dirty="0"/>
              <a:t>Managed jointly by </a:t>
            </a:r>
            <a:r>
              <a:rPr lang="en-US" altLang="zh-TW" sz="1800" dirty="0">
                <a:solidFill>
                  <a:srgbClr val="FF0000"/>
                </a:solidFill>
              </a:rPr>
              <a:t>CPU hardware </a:t>
            </a:r>
            <a:r>
              <a:rPr lang="en-US" altLang="zh-TW" sz="1800" dirty="0"/>
              <a:t>and the </a:t>
            </a:r>
            <a:r>
              <a:rPr lang="en-US" altLang="zh-TW" sz="1800" dirty="0">
                <a:solidFill>
                  <a:srgbClr val="FF0000"/>
                </a:solidFill>
              </a:rPr>
              <a:t>operating system </a:t>
            </a:r>
            <a:r>
              <a:rPr lang="en-US" altLang="zh-TW" sz="1800" dirty="0"/>
              <a:t>(OS)</a:t>
            </a:r>
            <a:endParaRPr lang="en-US" altLang="zh-TW" dirty="0"/>
          </a:p>
          <a:p>
            <a:r>
              <a:rPr lang="en-US" altLang="zh-TW" sz="2000" dirty="0"/>
              <a:t>CPU and OS translate virtual addresses to physical addresses</a:t>
            </a:r>
          </a:p>
          <a:p>
            <a:pPr lvl="1"/>
            <a:r>
              <a:rPr lang="en-US" altLang="zh-TW" sz="1800" dirty="0"/>
              <a:t>VM “block” is called </a:t>
            </a:r>
            <a:r>
              <a:rPr lang="en-US" altLang="zh-TW" sz="1800" dirty="0">
                <a:solidFill>
                  <a:srgbClr val="FF0000"/>
                </a:solidFill>
              </a:rPr>
              <a:t>page</a:t>
            </a:r>
          </a:p>
          <a:p>
            <a:pPr lvl="1"/>
            <a:r>
              <a:rPr lang="en-US" altLang="zh-TW" sz="1800" dirty="0"/>
              <a:t>VM translation “miss” is called</a:t>
            </a:r>
            <a:r>
              <a:rPr lang="en-US" altLang="zh-TW" sz="1800" dirty="0">
                <a:solidFill>
                  <a:srgbClr val="FF0000"/>
                </a:solidFill>
              </a:rPr>
              <a:t> page fault</a:t>
            </a:r>
            <a:endParaRPr lang="en-AU" altLang="zh-TW" sz="1800" dirty="0">
              <a:solidFill>
                <a:srgbClr val="FF0000"/>
              </a:solidFill>
            </a:endParaRPr>
          </a:p>
        </p:txBody>
      </p:sp>
      <p:sp>
        <p:nvSpPr>
          <p:cNvPr id="79876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C57B56D8-1063-4AF5-9EC8-E08EDDAC7613}" type="slidenum">
              <a:rPr lang="zh-TW" altLang="en-US"/>
              <a:pPr defTabSz="571500"/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26620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日期版面配置區 2"/>
          <p:cNvSpPr txBox="1">
            <a:spLocks noGrp="1"/>
          </p:cNvSpPr>
          <p:nvPr/>
        </p:nvSpPr>
        <p:spPr bwMode="auto">
          <a:xfrm>
            <a:off x="1414462" y="4686300"/>
            <a:ext cx="1547813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/>
            <a:endParaRPr lang="en-US" altLang="zh-TW" sz="1050" dirty="0">
              <a:latin typeface="Tahoma" pitchFamily="34" charset="0"/>
            </a:endParaRPr>
          </a:p>
        </p:txBody>
      </p:sp>
      <p:sp>
        <p:nvSpPr>
          <p:cNvPr id="77828" name="投影片編號版面配置區 4"/>
          <p:cNvSpPr txBox="1">
            <a:spLocks noGrp="1"/>
          </p:cNvSpPr>
          <p:nvPr/>
        </p:nvSpPr>
        <p:spPr bwMode="auto">
          <a:xfrm>
            <a:off x="6181725" y="4686300"/>
            <a:ext cx="1547813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/>
            <a:endParaRPr lang="en-US" altLang="zh-TW" sz="1050" dirty="0">
              <a:latin typeface="Tahoma" pitchFamily="34" charset="0"/>
            </a:endParaRPr>
          </a:p>
        </p:txBody>
      </p:sp>
      <p:sp>
        <p:nvSpPr>
          <p:cNvPr id="77829" name="Rectangle 2"/>
          <p:cNvSpPr>
            <a:spLocks noGrp="1" noChangeArrowheads="1"/>
          </p:cNvSpPr>
          <p:nvPr>
            <p:ph type="title"/>
          </p:nvPr>
        </p:nvSpPr>
        <p:spPr>
          <a:xfrm>
            <a:off x="952107" y="131974"/>
            <a:ext cx="6777431" cy="516911"/>
          </a:xfrm>
        </p:spPr>
        <p:txBody>
          <a:bodyPr anchor="b"/>
          <a:lstStyle/>
          <a:p>
            <a:pPr eaLnBrk="1" hangingPunct="1"/>
            <a:r>
              <a:rPr lang="en-US" altLang="zh-TW" dirty="0"/>
              <a:t>Virtual Memory (3)</a:t>
            </a:r>
          </a:p>
        </p:txBody>
      </p:sp>
      <p:sp>
        <p:nvSpPr>
          <p:cNvPr id="77832" name="Rectangle 3"/>
          <p:cNvSpPr>
            <a:spLocks noChangeArrowheads="1"/>
          </p:cNvSpPr>
          <p:nvPr/>
        </p:nvSpPr>
        <p:spPr bwMode="auto">
          <a:xfrm>
            <a:off x="4405313" y="2434828"/>
            <a:ext cx="356188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350">
                <a:latin typeface="Helvetica" charset="0"/>
                <a:sym typeface="Symbol" pitchFamily="18" charset="2"/>
              </a:rPr>
              <a:t></a:t>
            </a:r>
          </a:p>
        </p:txBody>
      </p:sp>
      <p:pic>
        <p:nvPicPr>
          <p:cNvPr id="77833" name="Picture 4"/>
          <p:cNvPicPr>
            <a:picLocks noChangeAspect="1" noChangeArrowheads="1"/>
          </p:cNvPicPr>
          <p:nvPr/>
        </p:nvPicPr>
        <p:blipFill>
          <a:blip r:embed="rId3"/>
          <a:srcRect l="3323" t="629" r="3572" b="958"/>
          <a:stretch>
            <a:fillRect/>
          </a:stretch>
        </p:blipFill>
        <p:spPr bwMode="auto">
          <a:xfrm>
            <a:off x="1743958" y="887019"/>
            <a:ext cx="5787215" cy="3633834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10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6831013" y="4893471"/>
            <a:ext cx="2133600" cy="254794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r>
              <a:rPr lang="en-US" altLang="zh-TW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22544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70961" y="129780"/>
            <a:ext cx="6758577" cy="426402"/>
          </a:xfrm>
        </p:spPr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6374" y="820132"/>
            <a:ext cx="7296347" cy="360103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/>
              <a:t>Virtual memory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Basics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solidFill>
                  <a:srgbClr val="FF0000"/>
                </a:solidFill>
              </a:rPr>
              <a:t>Issues in virtual memory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Handling huge page table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TLB (Translation </a:t>
            </a:r>
            <a:r>
              <a:rPr lang="en-US" altLang="zh-TW" dirty="0" err="1"/>
              <a:t>Lookaside</a:t>
            </a:r>
            <a:r>
              <a:rPr lang="en-US" altLang="zh-TW" dirty="0"/>
              <a:t> Buffer)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TLB and cache</a:t>
            </a:r>
          </a:p>
          <a:p>
            <a:pPr>
              <a:spcBef>
                <a:spcPts val="0"/>
              </a:spcBef>
            </a:pPr>
            <a:r>
              <a:rPr lang="en-US" altLang="zh-TW" dirty="0"/>
              <a:t>A common framework for memory hierarchy</a:t>
            </a:r>
          </a:p>
          <a:p>
            <a:r>
              <a:rPr lang="en-US" altLang="zh-TW" dirty="0"/>
              <a:t>Using a Finite State Machine to Control a Simple Cache</a:t>
            </a:r>
          </a:p>
          <a:p>
            <a:r>
              <a:rPr lang="en-US" altLang="zh-TW" dirty="0"/>
              <a:t>Parallelism and Memory Hierarchies: Cache Coherence</a:t>
            </a:r>
          </a:p>
          <a:p>
            <a:pPr>
              <a:spcBef>
                <a:spcPts val="0"/>
              </a:spcBef>
            </a:pPr>
            <a:endParaRPr lang="en-US" altLang="zh-TW" dirty="0"/>
          </a:p>
        </p:txBody>
      </p:sp>
      <p:sp>
        <p:nvSpPr>
          <p:cNvPr id="6148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557213" indent="-214313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8572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2001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15430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18859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2288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25717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29146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fld id="{21079BBA-C287-4BD2-9D77-9C0655332BFF}" type="slidenum">
              <a:rPr kumimoji="0" lang="zh-TW" altLang="en-US" sz="1050">
                <a:solidFill>
                  <a:schemeClr val="bg1"/>
                </a:solidFill>
                <a:latin typeface="Arial" pitchFamily="34" charset="0"/>
              </a:rPr>
              <a:pPr/>
              <a:t>10</a:t>
            </a:fld>
            <a:endParaRPr kumimoji="0" lang="en-US" altLang="zh-TW" sz="105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809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952107" y="129780"/>
            <a:ext cx="6777431" cy="521492"/>
          </a:xfrm>
        </p:spPr>
        <p:txBody>
          <a:bodyPr/>
          <a:lstStyle/>
          <a:p>
            <a:r>
              <a:rPr lang="en-US" altLang="zh-TW" dirty="0"/>
              <a:t>Basic Issues in Virtual Memory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2106" y="844153"/>
            <a:ext cx="7362335" cy="2509805"/>
          </a:xfrm>
        </p:spPr>
        <p:txBody>
          <a:bodyPr/>
          <a:lstStyle/>
          <a:p>
            <a:r>
              <a:rPr lang="en-US" altLang="zh-TW" sz="2000" dirty="0">
                <a:solidFill>
                  <a:srgbClr val="FF0000"/>
                </a:solidFill>
              </a:rPr>
              <a:t>Size of data blocks </a:t>
            </a:r>
            <a:r>
              <a:rPr lang="en-US" altLang="zh-TW" sz="2000" dirty="0"/>
              <a:t>that are transferred from disk to main memory</a:t>
            </a:r>
          </a:p>
          <a:p>
            <a:r>
              <a:rPr lang="en-US" altLang="zh-TW" sz="2000" dirty="0"/>
              <a:t>Which region of memory to hold new block</a:t>
            </a:r>
            <a:br>
              <a:rPr lang="en-US" altLang="zh-TW" sz="2000" dirty="0"/>
            </a:br>
            <a:r>
              <a:rPr lang="en-US" altLang="zh-TW" sz="2000" dirty="0"/>
              <a:t>=&gt; </a:t>
            </a:r>
            <a:r>
              <a:rPr lang="en-US" altLang="zh-TW" sz="2000" dirty="0">
                <a:solidFill>
                  <a:srgbClr val="FF0000"/>
                </a:solidFill>
              </a:rPr>
              <a:t>Placement</a:t>
            </a:r>
            <a:r>
              <a:rPr lang="en-US" altLang="zh-TW" sz="2000" dirty="0"/>
              <a:t> policy  (how to the page?) </a:t>
            </a:r>
          </a:p>
          <a:p>
            <a:r>
              <a:rPr lang="en-US" altLang="zh-TW" sz="2000" dirty="0"/>
              <a:t>When memory is full, then some region of memory must be released to make room for the new block =&gt; </a:t>
            </a:r>
            <a:r>
              <a:rPr lang="en-US" altLang="zh-TW" sz="2000" dirty="0">
                <a:solidFill>
                  <a:srgbClr val="FF0000"/>
                </a:solidFill>
              </a:rPr>
              <a:t>replacement</a:t>
            </a:r>
            <a:r>
              <a:rPr lang="en-US" altLang="zh-TW" sz="2000" dirty="0">
                <a:solidFill>
                  <a:schemeClr val="folHlink"/>
                </a:solidFill>
              </a:rPr>
              <a:t> </a:t>
            </a:r>
            <a:r>
              <a:rPr lang="en-US" altLang="zh-TW" sz="2000" dirty="0"/>
              <a:t>policy</a:t>
            </a:r>
          </a:p>
          <a:p>
            <a:r>
              <a:rPr lang="en-US" altLang="zh-TW" sz="2000" dirty="0"/>
              <a:t>When to fetch missing items from disk?</a:t>
            </a:r>
          </a:p>
          <a:p>
            <a:pPr lvl="1"/>
            <a:r>
              <a:rPr lang="en-US" altLang="zh-TW" sz="1800" dirty="0"/>
              <a:t>Fetch only on a fault  =&gt;  </a:t>
            </a:r>
            <a:r>
              <a:rPr lang="en-US" altLang="zh-TW" sz="1800" dirty="0">
                <a:solidFill>
                  <a:srgbClr val="FF0000"/>
                </a:solidFill>
              </a:rPr>
              <a:t>demand</a:t>
            </a:r>
            <a:r>
              <a:rPr lang="en-US" altLang="zh-TW" sz="1800" dirty="0">
                <a:solidFill>
                  <a:schemeClr val="folHlink"/>
                </a:solidFill>
              </a:rPr>
              <a:t> </a:t>
            </a:r>
            <a:r>
              <a:rPr lang="en-US" altLang="zh-TW" sz="1800" dirty="0">
                <a:solidFill>
                  <a:srgbClr val="FF0000"/>
                </a:solidFill>
              </a:rPr>
              <a:t>load</a:t>
            </a:r>
            <a:r>
              <a:rPr lang="en-US" altLang="zh-TW" sz="1800" dirty="0"/>
              <a:t> policy</a:t>
            </a:r>
          </a:p>
        </p:txBody>
      </p:sp>
      <p:grpSp>
        <p:nvGrpSpPr>
          <p:cNvPr id="81924" name="Group 4"/>
          <p:cNvGrpSpPr>
            <a:grpSpLocks/>
          </p:cNvGrpSpPr>
          <p:nvPr/>
        </p:nvGrpSpPr>
        <p:grpSpPr bwMode="auto">
          <a:xfrm>
            <a:off x="2093145" y="3353958"/>
            <a:ext cx="4669631" cy="1200150"/>
            <a:chOff x="1040" y="3024"/>
            <a:chExt cx="3922" cy="1008"/>
          </a:xfrm>
        </p:grpSpPr>
        <p:sp>
          <p:nvSpPr>
            <p:cNvPr id="81926" name="Rectangle 5"/>
            <p:cNvSpPr>
              <a:spLocks noChangeArrowheads="1"/>
            </p:cNvSpPr>
            <p:nvPr/>
          </p:nvSpPr>
          <p:spPr bwMode="auto">
            <a:xfrm>
              <a:off x="1192" y="3336"/>
              <a:ext cx="242" cy="28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81927" name="Rectangle 6"/>
            <p:cNvSpPr>
              <a:spLocks noChangeArrowheads="1"/>
            </p:cNvSpPr>
            <p:nvPr/>
          </p:nvSpPr>
          <p:spPr bwMode="auto">
            <a:xfrm>
              <a:off x="2188" y="3232"/>
              <a:ext cx="304" cy="48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81928" name="Rectangle 7"/>
            <p:cNvSpPr>
              <a:spLocks noChangeArrowheads="1"/>
            </p:cNvSpPr>
            <p:nvPr/>
          </p:nvSpPr>
          <p:spPr bwMode="auto">
            <a:xfrm>
              <a:off x="2942" y="3112"/>
              <a:ext cx="633" cy="808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81929" name="Rectangle 8"/>
            <p:cNvSpPr>
              <a:spLocks noChangeArrowheads="1"/>
            </p:cNvSpPr>
            <p:nvPr/>
          </p:nvSpPr>
          <p:spPr bwMode="auto">
            <a:xfrm>
              <a:off x="4069" y="3032"/>
              <a:ext cx="893" cy="100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81930" name="Line 9"/>
            <p:cNvSpPr>
              <a:spLocks noChangeShapeType="1"/>
            </p:cNvSpPr>
            <p:nvPr/>
          </p:nvSpPr>
          <p:spPr bwMode="auto">
            <a:xfrm>
              <a:off x="1447" y="3476"/>
              <a:ext cx="7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81931" name="Line 10"/>
            <p:cNvSpPr>
              <a:spLocks noChangeShapeType="1"/>
            </p:cNvSpPr>
            <p:nvPr/>
          </p:nvSpPr>
          <p:spPr bwMode="auto">
            <a:xfrm>
              <a:off x="2496" y="3476"/>
              <a:ext cx="4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81932" name="Line 11"/>
            <p:cNvSpPr>
              <a:spLocks noChangeShapeType="1"/>
            </p:cNvSpPr>
            <p:nvPr/>
          </p:nvSpPr>
          <p:spPr bwMode="auto">
            <a:xfrm flipV="1">
              <a:off x="3579" y="3476"/>
              <a:ext cx="503" cy="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81933" name="Rectangle 12"/>
            <p:cNvSpPr>
              <a:spLocks noChangeArrowheads="1"/>
            </p:cNvSpPr>
            <p:nvPr/>
          </p:nvSpPr>
          <p:spPr bwMode="auto">
            <a:xfrm>
              <a:off x="4212" y="3642"/>
              <a:ext cx="54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kumimoji="1" lang="en-US" altLang="zh-TW" sz="1500" b="1">
                  <a:latin typeface="Arial" pitchFamily="34" charset="0"/>
                </a:rPr>
                <a:t>pages</a:t>
              </a:r>
            </a:p>
          </p:txBody>
        </p:sp>
        <p:sp>
          <p:nvSpPr>
            <p:cNvPr id="81934" name="Rectangle 13"/>
            <p:cNvSpPr>
              <a:spLocks noChangeArrowheads="1"/>
            </p:cNvSpPr>
            <p:nvPr/>
          </p:nvSpPr>
          <p:spPr bwMode="auto">
            <a:xfrm>
              <a:off x="3116" y="3496"/>
              <a:ext cx="355" cy="232"/>
            </a:xfrm>
            <a:prstGeom prst="rect">
              <a:avLst/>
            </a:prstGeom>
            <a:solidFill>
              <a:srgbClr val="FF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81935" name="Rectangle 14"/>
            <p:cNvSpPr>
              <a:spLocks noChangeArrowheads="1"/>
            </p:cNvSpPr>
            <p:nvPr/>
          </p:nvSpPr>
          <p:spPr bwMode="auto">
            <a:xfrm>
              <a:off x="1040" y="3094"/>
              <a:ext cx="675" cy="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97000"/>
                </a:lnSpc>
              </a:pPr>
              <a:r>
                <a:rPr kumimoji="1" lang="en-US" altLang="zh-TW" sz="1500" b="1">
                  <a:latin typeface="Arial" pitchFamily="34" charset="0"/>
                </a:rPr>
                <a:t>register</a:t>
              </a:r>
            </a:p>
          </p:txBody>
        </p:sp>
        <p:sp>
          <p:nvSpPr>
            <p:cNvPr id="81936" name="Rectangle 15"/>
            <p:cNvSpPr>
              <a:spLocks noChangeArrowheads="1"/>
            </p:cNvSpPr>
            <p:nvPr/>
          </p:nvSpPr>
          <p:spPr bwMode="auto">
            <a:xfrm>
              <a:off x="2080" y="3024"/>
              <a:ext cx="540" cy="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97000"/>
                </a:lnSpc>
              </a:pPr>
              <a:r>
                <a:rPr kumimoji="1" lang="en-US" altLang="zh-TW" sz="1500" b="1">
                  <a:latin typeface="Arial" pitchFamily="34" charset="0"/>
                </a:rPr>
                <a:t>cache</a:t>
              </a:r>
            </a:p>
          </p:txBody>
        </p:sp>
        <p:sp>
          <p:nvSpPr>
            <p:cNvPr id="81937" name="Rectangle 16"/>
            <p:cNvSpPr>
              <a:spLocks noChangeArrowheads="1"/>
            </p:cNvSpPr>
            <p:nvPr/>
          </p:nvSpPr>
          <p:spPr bwMode="auto">
            <a:xfrm>
              <a:off x="2912" y="3117"/>
              <a:ext cx="711" cy="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500" b="1" dirty="0">
                  <a:latin typeface="Arial" pitchFamily="34" charset="0"/>
                </a:rPr>
                <a:t>memory</a:t>
              </a:r>
            </a:p>
          </p:txBody>
        </p:sp>
        <p:sp>
          <p:nvSpPr>
            <p:cNvPr id="81938" name="Rectangle 17"/>
            <p:cNvSpPr>
              <a:spLocks noChangeArrowheads="1"/>
            </p:cNvSpPr>
            <p:nvPr/>
          </p:nvSpPr>
          <p:spPr bwMode="auto">
            <a:xfrm>
              <a:off x="4160" y="3083"/>
              <a:ext cx="404" cy="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500" b="1">
                  <a:latin typeface="Arial" pitchFamily="34" charset="0"/>
                </a:rPr>
                <a:t>disk</a:t>
              </a:r>
            </a:p>
          </p:txBody>
        </p:sp>
        <p:sp>
          <p:nvSpPr>
            <p:cNvPr id="81939" name="Rectangle 18" descr="淺色右斜對角線"/>
            <p:cNvSpPr>
              <a:spLocks noChangeArrowheads="1"/>
            </p:cNvSpPr>
            <p:nvPr/>
          </p:nvSpPr>
          <p:spPr bwMode="auto">
            <a:xfrm>
              <a:off x="4364" y="3400"/>
              <a:ext cx="355" cy="232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81940" name="Rectangle 19"/>
            <p:cNvSpPr>
              <a:spLocks noChangeArrowheads="1"/>
            </p:cNvSpPr>
            <p:nvPr/>
          </p:nvSpPr>
          <p:spPr bwMode="auto">
            <a:xfrm>
              <a:off x="2978" y="3755"/>
              <a:ext cx="522" cy="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500" b="1">
                  <a:latin typeface="Arial" pitchFamily="34" charset="0"/>
                </a:rPr>
                <a:t>frame</a:t>
              </a:r>
            </a:p>
          </p:txBody>
        </p:sp>
      </p:grpSp>
      <p:sp>
        <p:nvSpPr>
          <p:cNvPr id="81925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77B4E6F9-EB40-4302-95FB-1E9779CD4BA5}" type="slidenum">
              <a:rPr lang="zh-TW" altLang="en-US"/>
              <a:pPr defTabSz="571500"/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99833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857839" y="129779"/>
            <a:ext cx="6871699" cy="501817"/>
          </a:xfrm>
        </p:spPr>
        <p:txBody>
          <a:bodyPr/>
          <a:lstStyle/>
          <a:p>
            <a:r>
              <a:rPr lang="en-US" altLang="zh-TW" dirty="0"/>
              <a:t>Block Size and Placement Policy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0439" y="803787"/>
            <a:ext cx="8163764" cy="2131142"/>
          </a:xfrm>
        </p:spPr>
        <p:txBody>
          <a:bodyPr/>
          <a:lstStyle/>
          <a:p>
            <a:r>
              <a:rPr lang="en-US" altLang="zh-TW" dirty="0"/>
              <a:t>Huge miss penalty</a:t>
            </a:r>
          </a:p>
          <a:p>
            <a:pPr lvl="1"/>
            <a:r>
              <a:rPr lang="en-US" altLang="zh-TW" dirty="0"/>
              <a:t>A page fault may take </a:t>
            </a:r>
            <a:r>
              <a:rPr lang="en-US" altLang="zh-TW" dirty="0">
                <a:solidFill>
                  <a:srgbClr val="FF0000"/>
                </a:solidFill>
              </a:rPr>
              <a:t>millions of cycles </a:t>
            </a:r>
            <a:r>
              <a:rPr lang="en-US" altLang="zh-TW" dirty="0"/>
              <a:t>to process</a:t>
            </a:r>
          </a:p>
          <a:p>
            <a:pPr lvl="1"/>
            <a:r>
              <a:rPr lang="en-US" altLang="zh-TW" dirty="0"/>
              <a:t>Pages should be fairly large (e.g., 4KB) to amortize the high access time</a:t>
            </a:r>
          </a:p>
          <a:p>
            <a:pPr lvl="2"/>
            <a:r>
              <a:rPr lang="en-US" altLang="zh-TW" dirty="0"/>
              <a:t>Reducing page faults is important</a:t>
            </a:r>
          </a:p>
          <a:p>
            <a:pPr lvl="3"/>
            <a:r>
              <a:rPr lang="en-US" altLang="zh-CN" dirty="0"/>
              <a:t>F</a:t>
            </a:r>
            <a:r>
              <a:rPr lang="en-US" altLang="zh-TW" dirty="0"/>
              <a:t>ully associative </a:t>
            </a:r>
            <a:r>
              <a:rPr lang="en-US" altLang="zh-TW" dirty="0">
                <a:solidFill>
                  <a:srgbClr val="FF0000"/>
                </a:solidFill>
              </a:rPr>
              <a:t>placement</a:t>
            </a:r>
            <a:r>
              <a:rPr lang="en-US" altLang="zh-TW" dirty="0"/>
              <a:t> =&gt; use </a:t>
            </a:r>
            <a:r>
              <a:rPr lang="en-US" altLang="zh-TW" dirty="0">
                <a:solidFill>
                  <a:srgbClr val="FF0000"/>
                </a:solidFill>
              </a:rPr>
              <a:t>page table </a:t>
            </a:r>
            <a:r>
              <a:rPr lang="en-US" altLang="zh-TW" dirty="0"/>
              <a:t>(in memory) to </a:t>
            </a:r>
            <a:r>
              <a:rPr lang="en-US" altLang="zh-TW" dirty="0">
                <a:solidFill>
                  <a:srgbClr val="FF0000"/>
                </a:solidFill>
              </a:rPr>
              <a:t>locate</a:t>
            </a:r>
            <a:r>
              <a:rPr lang="en-US" altLang="zh-TW" dirty="0"/>
              <a:t> pages</a:t>
            </a:r>
          </a:p>
        </p:txBody>
      </p:sp>
      <p:sp>
        <p:nvSpPr>
          <p:cNvPr id="82948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D560EA6E-CDCE-4E73-B4CB-02BE09D1D492}" type="slidenum">
              <a:rPr lang="zh-TW" altLang="en-US"/>
              <a:pPr defTabSz="571500"/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2652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904973" y="129779"/>
            <a:ext cx="6824565" cy="445423"/>
          </a:xfrm>
        </p:spPr>
        <p:txBody>
          <a:bodyPr/>
          <a:lstStyle/>
          <a:p>
            <a:r>
              <a:rPr lang="en-US" altLang="zh-TW" dirty="0"/>
              <a:t>Address Translation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347" y="807282"/>
            <a:ext cx="7781827" cy="42719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/>
              <a:t>Fixed-size pages (e.g., 4K)</a:t>
            </a:r>
            <a:endParaRPr lang="en-AU" altLang="zh-TW" dirty="0">
              <a:ea typeface="新細明體" pitchFamily="18" charset="-12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BAE7FE4-A5BF-443A-A78B-6FCB3B821749}"/>
              </a:ext>
            </a:extLst>
          </p:cNvPr>
          <p:cNvGrpSpPr/>
          <p:nvPr/>
        </p:nvGrpSpPr>
        <p:grpSpPr>
          <a:xfrm>
            <a:off x="584463" y="1246239"/>
            <a:ext cx="8005357" cy="3222522"/>
            <a:chOff x="584463" y="1485999"/>
            <a:chExt cx="8005357" cy="2711331"/>
          </a:xfrm>
        </p:grpSpPr>
        <p:pic>
          <p:nvPicPr>
            <p:cNvPr id="83972" name="Picture 4" descr="f05-20-P37449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485921" y="1485999"/>
              <a:ext cx="4103899" cy="2711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3973" name="Picture 5" descr="f05-19-P37449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84463" y="1853521"/>
              <a:ext cx="3505148" cy="2203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3974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07BA0EF5-B479-4201-8F11-91C410133F84}" type="slidenum">
              <a:rPr lang="zh-TW" altLang="en-US"/>
              <a:pPr defTabSz="571500"/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71828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827" y="129780"/>
            <a:ext cx="6805711" cy="485774"/>
          </a:xfrm>
        </p:spPr>
        <p:txBody>
          <a:bodyPr/>
          <a:lstStyle/>
          <a:p>
            <a:r>
              <a:rPr lang="en-US" altLang="zh-TW" dirty="0">
                <a:solidFill>
                  <a:srgbClr val="002060"/>
                </a:solidFill>
              </a:rPr>
              <a:t>Paging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827" y="797676"/>
            <a:ext cx="7758260" cy="2126661"/>
          </a:xfrm>
        </p:spPr>
        <p:txBody>
          <a:bodyPr/>
          <a:lstStyle/>
          <a:p>
            <a:r>
              <a:rPr lang="en-US" altLang="zh-TW" sz="2000" dirty="0"/>
              <a:t>Virtual and physical address space partitioned into blocks of equal size</a:t>
            </a:r>
          </a:p>
          <a:p>
            <a:endParaRPr lang="en-US" altLang="zh-TW" sz="2000" dirty="0"/>
          </a:p>
          <a:p>
            <a:r>
              <a:rPr lang="en-US" altLang="zh-TW" sz="2000" dirty="0"/>
              <a:t>Key operation: address mapping</a:t>
            </a:r>
          </a:p>
          <a:p>
            <a:pPr>
              <a:buFont typeface="Wingdings" pitchFamily="2" charset="2"/>
              <a:buNone/>
            </a:pPr>
            <a:r>
              <a:rPr lang="en-US" altLang="zh-TW" sz="1350" dirty="0">
                <a:latin typeface="Arial" pitchFamily="34" charset="0"/>
              </a:rPr>
              <a:t>	</a:t>
            </a:r>
            <a:r>
              <a:rPr lang="en-US" altLang="zh-TW" sz="1350" dirty="0"/>
              <a:t>MAP:  V </a:t>
            </a:r>
            <a:r>
              <a:rPr lang="en-US" altLang="zh-TW" sz="1350" dirty="0">
                <a:sym typeface="Symbol" pitchFamily="18" charset="2"/>
              </a:rPr>
              <a:t></a:t>
            </a:r>
            <a:r>
              <a:rPr lang="en-US" altLang="zh-TW" sz="1350" dirty="0"/>
              <a:t>  M  </a:t>
            </a:r>
            <a:r>
              <a:rPr lang="en-US" altLang="zh-TW" sz="1350" dirty="0">
                <a:sym typeface="Symbol" pitchFamily="18" charset="2"/>
              </a:rPr>
              <a:t></a:t>
            </a:r>
            <a:r>
              <a:rPr lang="en-US" altLang="zh-TW" sz="1350" dirty="0"/>
              <a:t>  {</a:t>
            </a:r>
            <a:r>
              <a:rPr lang="en-US" altLang="zh-TW" sz="1350" dirty="0">
                <a:sym typeface="Symbol" pitchFamily="18" charset="2"/>
              </a:rPr>
              <a:t></a:t>
            </a:r>
            <a:r>
              <a:rPr lang="en-US" altLang="zh-TW" sz="1350" dirty="0"/>
              <a:t>}  address mapping function</a:t>
            </a:r>
          </a:p>
          <a:p>
            <a:pPr>
              <a:buFont typeface="Wingdings" pitchFamily="2" charset="2"/>
              <a:buNone/>
            </a:pPr>
            <a:r>
              <a:rPr lang="en-US" altLang="zh-TW" sz="1350" dirty="0"/>
              <a:t>	MAP(a)  =  a'  if data at virtual address </a:t>
            </a:r>
            <a:r>
              <a:rPr lang="en-US" altLang="zh-TW" sz="1350" u="sng" dirty="0"/>
              <a:t>a</a:t>
            </a:r>
            <a:r>
              <a:rPr lang="en-US" altLang="zh-TW" sz="1350" dirty="0"/>
              <a:t> is present in</a:t>
            </a:r>
            <a:br>
              <a:rPr lang="en-US" altLang="zh-TW" sz="1350" dirty="0"/>
            </a:br>
            <a:r>
              <a:rPr lang="en-US" altLang="zh-TW" sz="1350" dirty="0"/>
              <a:t>	          physical address </a:t>
            </a:r>
            <a:r>
              <a:rPr lang="en-US" altLang="zh-TW" sz="1350" u="sng" dirty="0"/>
              <a:t>a'</a:t>
            </a:r>
            <a:r>
              <a:rPr lang="en-US" altLang="zh-TW" sz="1350" dirty="0"/>
              <a:t>  and  </a:t>
            </a:r>
            <a:r>
              <a:rPr lang="en-US" altLang="zh-TW" sz="1350" u="sng" dirty="0"/>
              <a:t>a'</a:t>
            </a:r>
            <a:r>
              <a:rPr lang="en-US" altLang="zh-TW" sz="1350" dirty="0"/>
              <a:t> in M</a:t>
            </a:r>
          </a:p>
          <a:p>
            <a:pPr>
              <a:buFont typeface="Wingdings" pitchFamily="2" charset="2"/>
              <a:buNone/>
            </a:pPr>
            <a:r>
              <a:rPr lang="en-US" altLang="zh-TW" sz="1350" dirty="0"/>
              <a:t>    	      =  </a:t>
            </a:r>
            <a:r>
              <a:rPr lang="en-US" altLang="zh-TW" sz="1350" dirty="0">
                <a:sym typeface="Symbol" pitchFamily="18" charset="2"/>
              </a:rPr>
              <a:t></a:t>
            </a:r>
            <a:r>
              <a:rPr lang="en-US" altLang="zh-TW" sz="1350" dirty="0"/>
              <a:t>  if data at virtual address </a:t>
            </a:r>
            <a:r>
              <a:rPr lang="en-US" altLang="zh-TW" sz="1350" u="sng" dirty="0"/>
              <a:t>a</a:t>
            </a:r>
            <a:r>
              <a:rPr lang="en-US" altLang="zh-TW" sz="1350" dirty="0"/>
              <a:t> is not present in M</a:t>
            </a:r>
            <a:endParaRPr lang="en-US" altLang="zh-TW" sz="1350" dirty="0">
              <a:latin typeface="Arial" pitchFamily="34" charset="0"/>
            </a:endParaRP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3807286" y="1272779"/>
            <a:ext cx="1285608" cy="234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47625" tIns="19050" rIns="47625" bIns="19050">
            <a:spAutoFit/>
          </a:bodyPr>
          <a:lstStyle/>
          <a:p>
            <a:pPr>
              <a:lnSpc>
                <a:spcPct val="85000"/>
              </a:lnSpc>
            </a:pPr>
            <a:r>
              <a:rPr kumimoji="1" lang="en-US" altLang="zh-TW" sz="1500" b="1" i="1">
                <a:solidFill>
                  <a:srgbClr val="008000"/>
                </a:solidFill>
                <a:latin typeface="Century Gothic" pitchFamily="34" charset="0"/>
              </a:rPr>
              <a:t>page frames</a:t>
            </a:r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2036138" y="1272779"/>
            <a:ext cx="684483" cy="234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47625" tIns="19050" rIns="47625" bIns="19050">
            <a:spAutoFit/>
          </a:bodyPr>
          <a:lstStyle/>
          <a:p>
            <a:pPr>
              <a:lnSpc>
                <a:spcPct val="85000"/>
              </a:lnSpc>
            </a:pPr>
            <a:r>
              <a:rPr kumimoji="1" lang="en-US" altLang="zh-TW" sz="1500" b="1" i="1" dirty="0">
                <a:solidFill>
                  <a:srgbClr val="008000"/>
                </a:solidFill>
                <a:latin typeface="Century Gothic" pitchFamily="34" charset="0"/>
              </a:rPr>
              <a:t>pages</a:t>
            </a:r>
          </a:p>
        </p:txBody>
      </p:sp>
      <p:sp>
        <p:nvSpPr>
          <p:cNvPr id="84998" name="Line 6"/>
          <p:cNvSpPr>
            <a:spLocks noChangeShapeType="1"/>
          </p:cNvSpPr>
          <p:nvPr/>
        </p:nvSpPr>
        <p:spPr bwMode="auto">
          <a:xfrm flipH="1">
            <a:off x="1777773" y="1435894"/>
            <a:ext cx="21669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84999" name="Line 7"/>
          <p:cNvSpPr>
            <a:spLocks noChangeShapeType="1"/>
          </p:cNvSpPr>
          <p:nvPr/>
        </p:nvSpPr>
        <p:spPr bwMode="auto">
          <a:xfrm flipH="1" flipV="1">
            <a:off x="1726575" y="1215629"/>
            <a:ext cx="72629" cy="22979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85000" name="Line 8"/>
          <p:cNvSpPr>
            <a:spLocks noChangeShapeType="1"/>
          </p:cNvSpPr>
          <p:nvPr/>
        </p:nvSpPr>
        <p:spPr bwMode="auto">
          <a:xfrm flipH="1" flipV="1">
            <a:off x="3239358" y="1378744"/>
            <a:ext cx="444104" cy="83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85001" name="Line 9"/>
          <p:cNvSpPr>
            <a:spLocks noChangeShapeType="1"/>
          </p:cNvSpPr>
          <p:nvPr/>
        </p:nvSpPr>
        <p:spPr bwMode="auto">
          <a:xfrm flipH="1" flipV="1">
            <a:off x="3188161" y="1215629"/>
            <a:ext cx="51197" cy="16311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grpSp>
        <p:nvGrpSpPr>
          <p:cNvPr id="3" name="Group 2"/>
          <p:cNvGrpSpPr/>
          <p:nvPr/>
        </p:nvGrpSpPr>
        <p:grpSpPr>
          <a:xfrm>
            <a:off x="2388137" y="3017358"/>
            <a:ext cx="5341401" cy="1490647"/>
            <a:chOff x="1543108" y="2947988"/>
            <a:chExt cx="6201908" cy="1832061"/>
          </a:xfrm>
        </p:grpSpPr>
        <p:sp>
          <p:nvSpPr>
            <p:cNvPr id="85002" name="Rectangle 10"/>
            <p:cNvSpPr>
              <a:spLocks noChangeArrowheads="1"/>
            </p:cNvSpPr>
            <p:nvPr/>
          </p:nvSpPr>
          <p:spPr bwMode="auto">
            <a:xfrm>
              <a:off x="1543108" y="3552314"/>
              <a:ext cx="835702" cy="22128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47625" tIns="19050" rIns="47625" bIns="19050" anchor="ctr">
              <a:spAutoFit/>
            </a:bodyPr>
            <a:lstStyle/>
            <a:p>
              <a:pPr algn="ctr">
                <a:lnSpc>
                  <a:spcPct val="92000"/>
                </a:lnSpc>
              </a:pPr>
              <a:r>
                <a:rPr kumimoji="1" lang="en-US" altLang="zh-TW" sz="1000" b="1" dirty="0">
                  <a:latin typeface="Arial" pitchFamily="34" charset="0"/>
                </a:rPr>
                <a:t>Processor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935956" y="2947988"/>
              <a:ext cx="5809060" cy="1832061"/>
              <a:chOff x="1935956" y="2947988"/>
              <a:chExt cx="5809060" cy="1832061"/>
            </a:xfrm>
          </p:grpSpPr>
          <p:sp>
            <p:nvSpPr>
              <p:cNvPr id="85003" name="Rectangle 11"/>
              <p:cNvSpPr>
                <a:spLocks noChangeArrowheads="1"/>
              </p:cNvSpPr>
              <p:nvPr/>
            </p:nvSpPr>
            <p:spPr bwMode="auto">
              <a:xfrm>
                <a:off x="3026296" y="3095115"/>
                <a:ext cx="1131640" cy="22128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47625" tIns="19050" rIns="47625" bIns="19050" anchor="ctr">
                <a:spAutoFit/>
              </a:bodyPr>
              <a:lstStyle/>
              <a:p>
                <a:pPr algn="ctr">
                  <a:lnSpc>
                    <a:spcPct val="92000"/>
                  </a:lnSpc>
                </a:pPr>
                <a:r>
                  <a:rPr kumimoji="1" lang="en-US" altLang="zh-TW" sz="1000" b="1">
                    <a:latin typeface="Arial" pitchFamily="34" charset="0"/>
                  </a:rPr>
                  <a:t>Name Space V</a:t>
                </a:r>
              </a:p>
            </p:txBody>
          </p:sp>
          <p:sp>
            <p:nvSpPr>
              <p:cNvPr id="85004" name="Rectangle 12"/>
              <p:cNvSpPr>
                <a:spLocks noChangeArrowheads="1"/>
              </p:cNvSpPr>
              <p:nvPr/>
            </p:nvSpPr>
            <p:spPr bwMode="auto">
              <a:xfrm>
                <a:off x="3126434" y="4006875"/>
                <a:ext cx="919456" cy="38016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47625" tIns="19050" rIns="47625" bIns="19050" anchor="ctr">
                <a:spAutoFit/>
              </a:bodyPr>
              <a:lstStyle/>
              <a:p>
                <a:pPr algn="ctr">
                  <a:lnSpc>
                    <a:spcPct val="88000"/>
                  </a:lnSpc>
                </a:pPr>
                <a:r>
                  <a:rPr kumimoji="1" lang="en-US" altLang="zh-TW" sz="1000" b="1" dirty="0" err="1">
                    <a:latin typeface="Arial" pitchFamily="34" charset="0"/>
                  </a:rPr>
                  <a:t>Addr</a:t>
                </a:r>
                <a:r>
                  <a:rPr kumimoji="1" lang="en-US" altLang="zh-TW" sz="1000" b="1" dirty="0">
                    <a:latin typeface="Arial" pitchFamily="34" charset="0"/>
                  </a:rPr>
                  <a:t> Trans</a:t>
                </a:r>
              </a:p>
              <a:p>
                <a:pPr algn="ctr">
                  <a:lnSpc>
                    <a:spcPct val="88000"/>
                  </a:lnSpc>
                </a:pPr>
                <a:r>
                  <a:rPr kumimoji="1" lang="en-US" altLang="zh-TW" sz="1000" b="1" dirty="0">
                    <a:latin typeface="Arial" pitchFamily="34" charset="0"/>
                  </a:rPr>
                  <a:t>Mechanism</a:t>
                </a:r>
              </a:p>
            </p:txBody>
          </p:sp>
          <p:sp>
            <p:nvSpPr>
              <p:cNvPr id="85005" name="Rectangle 13"/>
              <p:cNvSpPr>
                <a:spLocks noChangeArrowheads="1"/>
              </p:cNvSpPr>
              <p:nvPr/>
            </p:nvSpPr>
            <p:spPr bwMode="auto">
              <a:xfrm>
                <a:off x="5073842" y="3302026"/>
                <a:ext cx="647715" cy="38016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47625" tIns="19050" rIns="47625" bIns="19050" anchor="ctr">
                <a:spAutoFit/>
              </a:bodyPr>
              <a:lstStyle/>
              <a:p>
                <a:pPr algn="ctr">
                  <a:lnSpc>
                    <a:spcPct val="88000"/>
                  </a:lnSpc>
                </a:pPr>
                <a:r>
                  <a:rPr kumimoji="1" lang="en-US" altLang="zh-TW" sz="1000" b="1">
                    <a:latin typeface="Arial" pitchFamily="34" charset="0"/>
                  </a:rPr>
                  <a:t>fault</a:t>
                </a:r>
              </a:p>
              <a:p>
                <a:pPr algn="ctr">
                  <a:lnSpc>
                    <a:spcPct val="88000"/>
                  </a:lnSpc>
                </a:pPr>
                <a:r>
                  <a:rPr kumimoji="1" lang="en-US" altLang="zh-TW" sz="1000" b="1">
                    <a:latin typeface="Arial" pitchFamily="34" charset="0"/>
                  </a:rPr>
                  <a:t>handler</a:t>
                </a:r>
              </a:p>
            </p:txBody>
          </p:sp>
          <p:sp>
            <p:nvSpPr>
              <p:cNvPr id="85006" name="Rectangle 14"/>
              <p:cNvSpPr>
                <a:spLocks noChangeArrowheads="1"/>
              </p:cNvSpPr>
              <p:nvPr/>
            </p:nvSpPr>
            <p:spPr bwMode="auto">
              <a:xfrm>
                <a:off x="5082689" y="4006875"/>
                <a:ext cx="681217" cy="38016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47625" tIns="19050" rIns="47625" bIns="19050" anchor="ctr">
                <a:spAutoFit/>
              </a:bodyPr>
              <a:lstStyle/>
              <a:p>
                <a:pPr algn="ctr">
                  <a:lnSpc>
                    <a:spcPct val="88000"/>
                  </a:lnSpc>
                </a:pPr>
                <a:r>
                  <a:rPr kumimoji="1" lang="en-US" altLang="zh-TW" sz="1000" b="1">
                    <a:latin typeface="Arial" pitchFamily="34" charset="0"/>
                  </a:rPr>
                  <a:t>Main</a:t>
                </a:r>
              </a:p>
              <a:p>
                <a:pPr algn="ctr">
                  <a:lnSpc>
                    <a:spcPct val="88000"/>
                  </a:lnSpc>
                </a:pPr>
                <a:r>
                  <a:rPr kumimoji="1" lang="en-US" altLang="zh-TW" sz="1000" b="1">
                    <a:latin typeface="Arial" pitchFamily="34" charset="0"/>
                  </a:rPr>
                  <a:t>Memory</a:t>
                </a:r>
              </a:p>
            </p:txBody>
          </p:sp>
          <p:sp>
            <p:nvSpPr>
              <p:cNvPr id="85007" name="Rectangle 15"/>
              <p:cNvSpPr>
                <a:spLocks noChangeArrowheads="1"/>
              </p:cNvSpPr>
              <p:nvPr/>
            </p:nvSpPr>
            <p:spPr bwMode="auto">
              <a:xfrm>
                <a:off x="6515672" y="3987825"/>
                <a:ext cx="869204" cy="38016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47625" tIns="19050" rIns="47625" bIns="19050" anchor="ctr">
                <a:spAutoFit/>
              </a:bodyPr>
              <a:lstStyle/>
              <a:p>
                <a:pPr algn="ctr">
                  <a:lnSpc>
                    <a:spcPct val="88000"/>
                  </a:lnSpc>
                </a:pPr>
                <a:r>
                  <a:rPr kumimoji="1" lang="en-US" altLang="zh-TW" sz="1000" b="1">
                    <a:latin typeface="Arial" pitchFamily="34" charset="0"/>
                  </a:rPr>
                  <a:t>Secondary</a:t>
                </a:r>
              </a:p>
              <a:p>
                <a:pPr algn="ctr">
                  <a:lnSpc>
                    <a:spcPct val="88000"/>
                  </a:lnSpc>
                </a:pPr>
                <a:r>
                  <a:rPr kumimoji="1" lang="en-US" altLang="zh-TW" sz="1000" b="1">
                    <a:latin typeface="Arial" pitchFamily="34" charset="0"/>
                  </a:rPr>
                  <a:t>Memory</a:t>
                </a:r>
              </a:p>
            </p:txBody>
          </p:sp>
          <p:sp>
            <p:nvSpPr>
              <p:cNvPr id="85008" name="Rectangle 16"/>
              <p:cNvSpPr>
                <a:spLocks noChangeArrowheads="1"/>
              </p:cNvSpPr>
              <p:nvPr/>
            </p:nvSpPr>
            <p:spPr bwMode="auto">
              <a:xfrm>
                <a:off x="4839891" y="3877866"/>
                <a:ext cx="2807494" cy="6096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 sz="1000"/>
              </a:p>
            </p:txBody>
          </p:sp>
          <p:sp>
            <p:nvSpPr>
              <p:cNvPr id="85009" name="Line 17"/>
              <p:cNvSpPr>
                <a:spLocks noChangeShapeType="1"/>
              </p:cNvSpPr>
              <p:nvPr/>
            </p:nvSpPr>
            <p:spPr bwMode="auto">
              <a:xfrm>
                <a:off x="5856685" y="4035029"/>
                <a:ext cx="54649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zh-TW" altLang="en-US" sz="1000"/>
              </a:p>
            </p:txBody>
          </p:sp>
          <p:sp>
            <p:nvSpPr>
              <p:cNvPr id="85010" name="Line 18"/>
              <p:cNvSpPr>
                <a:spLocks noChangeShapeType="1"/>
              </p:cNvSpPr>
              <p:nvPr/>
            </p:nvSpPr>
            <p:spPr bwMode="auto">
              <a:xfrm flipH="1">
                <a:off x="5845969" y="4320779"/>
                <a:ext cx="55721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zh-TW" altLang="en-US" sz="1000"/>
              </a:p>
            </p:txBody>
          </p:sp>
          <p:sp>
            <p:nvSpPr>
              <p:cNvPr id="85011" name="Line 19"/>
              <p:cNvSpPr>
                <a:spLocks noChangeShapeType="1"/>
              </p:cNvSpPr>
              <p:nvPr/>
            </p:nvSpPr>
            <p:spPr bwMode="auto">
              <a:xfrm>
                <a:off x="4164806" y="4320779"/>
                <a:ext cx="82510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zh-TW" altLang="en-US" sz="1000"/>
              </a:p>
            </p:txBody>
          </p:sp>
          <p:sp>
            <p:nvSpPr>
              <p:cNvPr id="85012" name="Line 20"/>
              <p:cNvSpPr>
                <a:spLocks noChangeShapeType="1"/>
              </p:cNvSpPr>
              <p:nvPr/>
            </p:nvSpPr>
            <p:spPr bwMode="auto">
              <a:xfrm>
                <a:off x="4164806" y="4092179"/>
                <a:ext cx="32980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TW" altLang="en-US" sz="1000"/>
              </a:p>
            </p:txBody>
          </p:sp>
          <p:sp>
            <p:nvSpPr>
              <p:cNvPr id="85013" name="Line 21"/>
              <p:cNvSpPr>
                <a:spLocks noChangeShapeType="1"/>
              </p:cNvSpPr>
              <p:nvPr/>
            </p:nvSpPr>
            <p:spPr bwMode="auto">
              <a:xfrm flipV="1">
                <a:off x="4494610" y="3520679"/>
                <a:ext cx="0" cy="5715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TW" altLang="en-US" sz="1000"/>
              </a:p>
            </p:txBody>
          </p:sp>
          <p:sp>
            <p:nvSpPr>
              <p:cNvPr id="85014" name="Line 22"/>
              <p:cNvSpPr>
                <a:spLocks noChangeShapeType="1"/>
              </p:cNvSpPr>
              <p:nvPr/>
            </p:nvSpPr>
            <p:spPr bwMode="auto">
              <a:xfrm>
                <a:off x="4505325" y="3520679"/>
                <a:ext cx="48458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zh-TW" altLang="en-US" sz="1000"/>
              </a:p>
            </p:txBody>
          </p:sp>
          <p:sp>
            <p:nvSpPr>
              <p:cNvPr id="85015" name="Line 23"/>
              <p:cNvSpPr>
                <a:spLocks noChangeShapeType="1"/>
              </p:cNvSpPr>
              <p:nvPr/>
            </p:nvSpPr>
            <p:spPr bwMode="auto">
              <a:xfrm>
                <a:off x="5825729" y="3530204"/>
                <a:ext cx="10834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TW" altLang="en-US" sz="1000"/>
              </a:p>
            </p:txBody>
          </p:sp>
          <p:sp>
            <p:nvSpPr>
              <p:cNvPr id="85016" name="Line 24"/>
              <p:cNvSpPr>
                <a:spLocks noChangeShapeType="1"/>
              </p:cNvSpPr>
              <p:nvPr/>
            </p:nvSpPr>
            <p:spPr bwMode="auto">
              <a:xfrm>
                <a:off x="6929438" y="3530204"/>
                <a:ext cx="0" cy="4286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zh-TW" altLang="en-US" sz="1000"/>
              </a:p>
            </p:txBody>
          </p:sp>
          <p:sp>
            <p:nvSpPr>
              <p:cNvPr id="85017" name="Line 25"/>
              <p:cNvSpPr>
                <a:spLocks noChangeShapeType="1"/>
              </p:cNvSpPr>
              <p:nvPr/>
            </p:nvSpPr>
            <p:spPr bwMode="auto">
              <a:xfrm flipV="1">
                <a:off x="1956197" y="3206354"/>
                <a:ext cx="0" cy="3238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TW" altLang="en-US" sz="1000"/>
              </a:p>
            </p:txBody>
          </p:sp>
          <p:sp>
            <p:nvSpPr>
              <p:cNvPr id="85018" name="Line 26"/>
              <p:cNvSpPr>
                <a:spLocks noChangeShapeType="1"/>
              </p:cNvSpPr>
              <p:nvPr/>
            </p:nvSpPr>
            <p:spPr bwMode="auto">
              <a:xfrm>
                <a:off x="1956197" y="3187304"/>
                <a:ext cx="90844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zh-TW" altLang="en-US" sz="1000"/>
              </a:p>
            </p:txBody>
          </p:sp>
          <p:sp>
            <p:nvSpPr>
              <p:cNvPr id="85019" name="Line 27"/>
              <p:cNvSpPr>
                <a:spLocks noChangeShapeType="1"/>
              </p:cNvSpPr>
              <p:nvPr/>
            </p:nvSpPr>
            <p:spPr bwMode="auto">
              <a:xfrm>
                <a:off x="1935956" y="3787379"/>
                <a:ext cx="0" cy="3905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TW" altLang="en-US" sz="1000"/>
              </a:p>
            </p:txBody>
          </p:sp>
          <p:sp>
            <p:nvSpPr>
              <p:cNvPr id="85020" name="Line 28"/>
              <p:cNvSpPr>
                <a:spLocks noChangeShapeType="1"/>
              </p:cNvSpPr>
              <p:nvPr/>
            </p:nvSpPr>
            <p:spPr bwMode="auto">
              <a:xfrm>
                <a:off x="1935956" y="4177904"/>
                <a:ext cx="105251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zh-TW" altLang="en-US" sz="1000"/>
              </a:p>
            </p:txBody>
          </p:sp>
          <p:sp>
            <p:nvSpPr>
              <p:cNvPr id="85021" name="Rectangle 29"/>
              <p:cNvSpPr>
                <a:spLocks noChangeArrowheads="1"/>
              </p:cNvSpPr>
              <p:nvPr/>
            </p:nvSpPr>
            <p:spPr bwMode="auto">
              <a:xfrm>
                <a:off x="2245520" y="2947988"/>
                <a:ext cx="193570" cy="2080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47625" tIns="19050" rIns="47625" bIns="1905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kumimoji="1" lang="en-US" altLang="zh-TW" sz="1000" b="1">
                    <a:latin typeface="Arial" pitchFamily="34" charset="0"/>
                  </a:rPr>
                  <a:t>a</a:t>
                </a:r>
              </a:p>
            </p:txBody>
          </p:sp>
          <p:sp>
            <p:nvSpPr>
              <p:cNvPr id="85022" name="Rectangle 30"/>
              <p:cNvSpPr>
                <a:spLocks noChangeArrowheads="1"/>
              </p:cNvSpPr>
              <p:nvPr/>
            </p:nvSpPr>
            <p:spPr bwMode="auto">
              <a:xfrm>
                <a:off x="2224088" y="4243387"/>
                <a:ext cx="193570" cy="2080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47625" tIns="19050" rIns="47625" bIns="1905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kumimoji="1" lang="en-US" altLang="zh-TW" sz="1000" b="1">
                    <a:latin typeface="Arial" pitchFamily="34" charset="0"/>
                  </a:rPr>
                  <a:t>a</a:t>
                </a:r>
              </a:p>
            </p:txBody>
          </p:sp>
          <p:sp>
            <p:nvSpPr>
              <p:cNvPr id="85023" name="Rectangle 31"/>
              <p:cNvSpPr>
                <a:spLocks noChangeArrowheads="1"/>
              </p:cNvSpPr>
              <p:nvPr/>
            </p:nvSpPr>
            <p:spPr bwMode="auto">
              <a:xfrm>
                <a:off x="4205287" y="4414839"/>
                <a:ext cx="228934" cy="2080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47625" tIns="19050" rIns="47625" bIns="1905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kumimoji="1" lang="en-US" altLang="zh-TW" sz="1000" b="1">
                    <a:latin typeface="Arial" pitchFamily="34" charset="0"/>
                  </a:rPr>
                  <a:t>a'</a:t>
                </a:r>
              </a:p>
            </p:txBody>
          </p:sp>
          <p:sp>
            <p:nvSpPr>
              <p:cNvPr id="85024" name="Rectangle 32"/>
              <p:cNvSpPr>
                <a:spLocks noChangeArrowheads="1"/>
              </p:cNvSpPr>
              <p:nvPr/>
            </p:nvSpPr>
            <p:spPr bwMode="auto">
              <a:xfrm>
                <a:off x="4195764" y="3871915"/>
                <a:ext cx="234517" cy="2080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47625" tIns="19050" rIns="47625" bIns="1905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kumimoji="1" lang="zh-TW" altLang="en-US" sz="1000" b="1">
                    <a:latin typeface="Arial" pitchFamily="34" charset="0"/>
                    <a:sym typeface="Symbol" pitchFamily="18" charset="2"/>
                  </a:rPr>
                  <a:t></a:t>
                </a:r>
              </a:p>
            </p:txBody>
          </p:sp>
          <p:sp>
            <p:nvSpPr>
              <p:cNvPr id="85025" name="Rectangle 33"/>
              <p:cNvSpPr>
                <a:spLocks noChangeArrowheads="1"/>
              </p:cNvSpPr>
              <p:nvPr/>
            </p:nvSpPr>
            <p:spPr bwMode="auto">
              <a:xfrm>
                <a:off x="5000625" y="3024188"/>
                <a:ext cx="1373602" cy="2080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47625" tIns="19050" rIns="47625" bIns="1905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kumimoji="1" lang="en-US" altLang="zh-TW" sz="1000" b="1" i="1">
                    <a:latin typeface="Arial" pitchFamily="34" charset="0"/>
                  </a:rPr>
                  <a:t>missing item fault</a:t>
                </a:r>
              </a:p>
            </p:txBody>
          </p:sp>
          <p:sp>
            <p:nvSpPr>
              <p:cNvPr id="85026" name="Line 34"/>
              <p:cNvSpPr>
                <a:spLocks noChangeShapeType="1"/>
              </p:cNvSpPr>
              <p:nvPr/>
            </p:nvSpPr>
            <p:spPr bwMode="auto">
              <a:xfrm flipH="1">
                <a:off x="4700587" y="3158729"/>
                <a:ext cx="320279" cy="3429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TW" altLang="en-US" sz="1000"/>
              </a:p>
            </p:txBody>
          </p:sp>
          <p:sp>
            <p:nvSpPr>
              <p:cNvPr id="85027" name="Rectangle 35"/>
              <p:cNvSpPr>
                <a:spLocks noChangeArrowheads="1"/>
              </p:cNvSpPr>
              <p:nvPr/>
            </p:nvSpPr>
            <p:spPr bwMode="auto">
              <a:xfrm>
                <a:off x="2133601" y="4507707"/>
                <a:ext cx="1312182" cy="2080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47625" tIns="19050" rIns="47625" bIns="1905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kumimoji="1" lang="en-US" altLang="zh-TW" sz="1000" b="1">
                    <a:latin typeface="Arial" pitchFamily="34" charset="0"/>
                  </a:rPr>
                  <a:t>physical address</a:t>
                </a:r>
              </a:p>
            </p:txBody>
          </p:sp>
          <p:sp>
            <p:nvSpPr>
              <p:cNvPr id="85029" name="Line 37"/>
              <p:cNvSpPr>
                <a:spLocks noChangeShapeType="1"/>
              </p:cNvSpPr>
              <p:nvPr/>
            </p:nvSpPr>
            <p:spPr bwMode="auto">
              <a:xfrm>
                <a:off x="6155532" y="4349354"/>
                <a:ext cx="598885" cy="29527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TW" altLang="en-US" sz="1000"/>
              </a:p>
            </p:txBody>
          </p:sp>
          <p:sp>
            <p:nvSpPr>
              <p:cNvPr id="85030" name="Rectangle 38"/>
              <p:cNvSpPr>
                <a:spLocks noChangeArrowheads="1"/>
              </p:cNvSpPr>
              <p:nvPr/>
            </p:nvSpPr>
            <p:spPr bwMode="auto">
              <a:xfrm>
                <a:off x="5701902" y="4572001"/>
                <a:ext cx="2043114" cy="2080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47625" tIns="19050" rIns="47625" bIns="1905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kumimoji="1" lang="en-US" altLang="zh-TW" sz="1000" b="1">
                    <a:latin typeface="Arial" pitchFamily="34" charset="0"/>
                  </a:rPr>
                  <a:t>OS does this transfer</a:t>
                </a:r>
              </a:p>
            </p:txBody>
          </p:sp>
        </p:grpSp>
      </p:grpSp>
      <p:sp>
        <p:nvSpPr>
          <p:cNvPr id="85031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EE480BCA-B65C-437D-9CBF-4A90195E12ED}" type="slidenum">
              <a:rPr lang="zh-TW" altLang="en-US"/>
              <a:pPr defTabSz="571500"/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85712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923827" y="129779"/>
            <a:ext cx="6805711" cy="482963"/>
          </a:xfrm>
        </p:spPr>
        <p:txBody>
          <a:bodyPr/>
          <a:lstStyle/>
          <a:p>
            <a:r>
              <a:rPr lang="en-US" altLang="zh-TW" dirty="0"/>
              <a:t>Page Tables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826" y="844153"/>
            <a:ext cx="7762973" cy="3341348"/>
          </a:xfrm>
        </p:spPr>
        <p:txBody>
          <a:bodyPr/>
          <a:lstStyle/>
          <a:p>
            <a:r>
              <a:rPr lang="en-US" altLang="zh-TW" sz="2000" dirty="0"/>
              <a:t>Stores placement information</a:t>
            </a:r>
          </a:p>
          <a:p>
            <a:pPr lvl="1"/>
            <a:r>
              <a:rPr lang="en-US" altLang="zh-TW" sz="1800" dirty="0"/>
              <a:t>Page table stored in main memory</a:t>
            </a:r>
          </a:p>
          <a:p>
            <a:pPr lvl="1"/>
            <a:r>
              <a:rPr lang="en-US" altLang="zh-TW" sz="1800" dirty="0"/>
              <a:t>Array of page table entries, indexed by virtual page number</a:t>
            </a:r>
          </a:p>
          <a:p>
            <a:pPr lvl="1"/>
            <a:r>
              <a:rPr lang="en-US" altLang="zh-TW" sz="1800" dirty="0"/>
              <a:t>Page table register in CPU points to page table in physical memory</a:t>
            </a:r>
          </a:p>
          <a:p>
            <a:r>
              <a:rPr lang="en-US" altLang="zh-TW" sz="2000" dirty="0"/>
              <a:t>If page is present in memory</a:t>
            </a:r>
          </a:p>
          <a:p>
            <a:pPr lvl="1"/>
            <a:r>
              <a:rPr lang="en-US" altLang="zh-TW" sz="1800" dirty="0"/>
              <a:t>Page table entry (PTE) stores the physical page number</a:t>
            </a:r>
          </a:p>
          <a:p>
            <a:pPr lvl="1"/>
            <a:r>
              <a:rPr lang="en-US" altLang="zh-TW" sz="1800" dirty="0"/>
              <a:t>Plus other status bits (referenced, dirty, …)</a:t>
            </a:r>
          </a:p>
          <a:p>
            <a:r>
              <a:rPr lang="en-US" altLang="zh-TW" sz="2000" dirty="0"/>
              <a:t>If page is not present</a:t>
            </a:r>
          </a:p>
          <a:p>
            <a:pPr lvl="1"/>
            <a:r>
              <a:rPr lang="en-US" altLang="zh-TW" sz="1800" dirty="0"/>
              <a:t>PTE can refer to location in swap space on disk</a:t>
            </a:r>
          </a:p>
        </p:txBody>
      </p:sp>
      <p:sp>
        <p:nvSpPr>
          <p:cNvPr id="86020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9D33B435-C646-406E-A06A-8D9BCE193AEC}" type="slidenum">
              <a:rPr lang="zh-TW" altLang="en-US"/>
              <a:pPr defTabSz="571500"/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3099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2772" y="966788"/>
            <a:ext cx="6529388" cy="3746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87043" name="Oval 3"/>
          <p:cNvSpPr>
            <a:spLocks noChangeArrowheads="1"/>
          </p:cNvSpPr>
          <p:nvPr/>
        </p:nvSpPr>
        <p:spPr bwMode="auto">
          <a:xfrm>
            <a:off x="3300412" y="1504950"/>
            <a:ext cx="1795463" cy="40005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87044" name="Oval 4"/>
          <p:cNvSpPr>
            <a:spLocks noChangeArrowheads="1"/>
          </p:cNvSpPr>
          <p:nvPr/>
        </p:nvSpPr>
        <p:spPr bwMode="auto">
          <a:xfrm>
            <a:off x="2332435" y="2008585"/>
            <a:ext cx="619125" cy="28575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87045" name="Text Box 5"/>
          <p:cNvSpPr txBox="1">
            <a:spLocks noChangeArrowheads="1"/>
          </p:cNvSpPr>
          <p:nvPr/>
        </p:nvSpPr>
        <p:spPr bwMode="auto">
          <a:xfrm>
            <a:off x="6817018" y="2012310"/>
            <a:ext cx="1877155" cy="1015663"/>
          </a:xfrm>
          <a:prstGeom prst="rect">
            <a:avLst/>
          </a:prstGeom>
          <a:noFill/>
          <a:ln w="12700">
            <a:noFill/>
            <a:prstDash val="sysDot"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kumimoji="1" lang="en-US" altLang="zh-TW" sz="1500" b="1" dirty="0">
                <a:solidFill>
                  <a:srgbClr val="FF0000"/>
                </a:solidFill>
                <a:latin typeface="Arial" pitchFamily="34" charset="0"/>
              </a:rPr>
              <a:t>All addresses generated by the program are virtual addresses</a:t>
            </a:r>
          </a:p>
        </p:txBody>
      </p:sp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4456471" y="3819449"/>
            <a:ext cx="3249561" cy="234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7625" tIns="19050" rIns="47625" bIns="19050">
            <a:spAutoFit/>
          </a:bodyPr>
          <a:lstStyle/>
          <a:p>
            <a:pPr>
              <a:lnSpc>
                <a:spcPct val="85000"/>
              </a:lnSpc>
            </a:pPr>
            <a:r>
              <a:rPr kumimoji="1" lang="en-US" altLang="zh-TW" sz="1500" b="1" dirty="0">
                <a:latin typeface="Arial" pitchFamily="34" charset="0"/>
              </a:rPr>
              <a:t>Table located in physical memory</a:t>
            </a:r>
            <a:endParaRPr kumimoji="1" lang="en-US" altLang="zh-TW" sz="1350" b="1" dirty="0">
              <a:latin typeface="Arial" pitchFamily="34" charset="0"/>
            </a:endParaRPr>
          </a:p>
        </p:txBody>
      </p:sp>
      <p:sp>
        <p:nvSpPr>
          <p:cNvPr id="87047" name="Rectangle 7"/>
          <p:cNvSpPr>
            <a:spLocks noGrp="1" noChangeArrowheads="1"/>
          </p:cNvSpPr>
          <p:nvPr>
            <p:ph type="title"/>
          </p:nvPr>
        </p:nvSpPr>
        <p:spPr>
          <a:xfrm>
            <a:off x="904974" y="171449"/>
            <a:ext cx="6948390" cy="406047"/>
          </a:xfrm>
        </p:spPr>
        <p:txBody>
          <a:bodyPr/>
          <a:lstStyle/>
          <a:p>
            <a:r>
              <a:rPr lang="en-US" altLang="zh-TW" sz="3200"/>
              <a:t>Page Tables</a:t>
            </a:r>
          </a:p>
        </p:txBody>
      </p:sp>
      <p:sp>
        <p:nvSpPr>
          <p:cNvPr id="578569" name="Oval 9"/>
          <p:cNvSpPr>
            <a:spLocks noChangeArrowheads="1"/>
          </p:cNvSpPr>
          <p:nvPr/>
        </p:nvSpPr>
        <p:spPr bwMode="auto">
          <a:xfrm>
            <a:off x="4138612" y="2057400"/>
            <a:ext cx="2538413" cy="165735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8000"/>
            </a:solidFill>
            <a:round/>
            <a:headEnd type="none" w="sm" len="sm"/>
            <a:tailEnd type="none" w="sm" len="sm"/>
          </a:ln>
        </p:spPr>
        <p:txBody>
          <a:bodyPr anchor="ctr"/>
          <a:lstStyle/>
          <a:p>
            <a:pPr algn="ctr"/>
            <a:r>
              <a:rPr kumimoji="1" lang="en-US" altLang="zh-TW" sz="1350" b="1">
                <a:solidFill>
                  <a:srgbClr val="008000"/>
                </a:solidFill>
                <a:latin typeface="Century Gothic" pitchFamily="34" charset="0"/>
              </a:rPr>
              <a:t>How many memory references for each address translation?</a:t>
            </a:r>
            <a:endParaRPr kumimoji="1" lang="en-US" altLang="zh-TW" sz="1350" b="1">
              <a:solidFill>
                <a:srgbClr val="008000"/>
              </a:solidFill>
              <a:latin typeface="Arial" pitchFamily="34" charset="0"/>
            </a:endParaRPr>
          </a:p>
        </p:txBody>
      </p:sp>
      <p:sp>
        <p:nvSpPr>
          <p:cNvPr id="87050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E58D0150-D4EC-4D11-A711-C0B9C54C2B01}" type="slidenum">
              <a:rPr lang="zh-TW" altLang="en-US"/>
              <a:pPr defTabSz="571500"/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1312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9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961535" y="129780"/>
            <a:ext cx="7588576" cy="445256"/>
          </a:xfrm>
        </p:spPr>
        <p:txBody>
          <a:bodyPr/>
          <a:lstStyle/>
          <a:p>
            <a:r>
              <a:rPr lang="en-US" altLang="zh-TW" dirty="0"/>
              <a:t>Page Fault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6917" y="818536"/>
            <a:ext cx="7897762" cy="3089788"/>
          </a:xfrm>
        </p:spPr>
        <p:txBody>
          <a:bodyPr/>
          <a:lstStyle/>
          <a:p>
            <a:r>
              <a:rPr lang="en-US" altLang="zh-TW" sz="2000" dirty="0"/>
              <a:t>Page hit, proceed normally</a:t>
            </a:r>
          </a:p>
          <a:p>
            <a:r>
              <a:rPr lang="en-US" altLang="zh-TW" sz="2000" dirty="0"/>
              <a:t>Page fault means that page is not in memory</a:t>
            </a:r>
          </a:p>
          <a:p>
            <a:r>
              <a:rPr lang="en-US" altLang="zh-TW" sz="2000" dirty="0"/>
              <a:t>Huge miss penalty</a:t>
            </a:r>
          </a:p>
          <a:p>
            <a:pPr lvl="1"/>
            <a:r>
              <a:rPr lang="en-US" altLang="zh-TW" sz="1600" dirty="0"/>
              <a:t>A page fault may take millions of cycles to process</a:t>
            </a:r>
          </a:p>
          <a:p>
            <a:r>
              <a:rPr lang="en-US" altLang="zh-TW" sz="2000" dirty="0"/>
              <a:t>Hardware must detect situation but it cannot remedy the situation</a:t>
            </a:r>
          </a:p>
          <a:p>
            <a:r>
              <a:rPr lang="en-US" altLang="zh-TW" sz="2000" dirty="0"/>
              <a:t>Can handle the faults in software instead of hardware, because handling time is small compared to disk access</a:t>
            </a:r>
          </a:p>
          <a:p>
            <a:pPr lvl="1"/>
            <a:r>
              <a:rPr lang="en-US" altLang="zh-TW" sz="1800" dirty="0"/>
              <a:t>The software can be very smart or complex</a:t>
            </a:r>
          </a:p>
          <a:p>
            <a:pPr lvl="1"/>
            <a:r>
              <a:rPr lang="en-US" altLang="zh-TW" sz="1800" dirty="0"/>
              <a:t>The faulting process can be context-switched</a:t>
            </a:r>
          </a:p>
        </p:txBody>
      </p:sp>
      <p:sp>
        <p:nvSpPr>
          <p:cNvPr id="88068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5863FF40-C46C-4BA0-9FA1-CAA183A6590F}" type="slidenum">
              <a:rPr lang="zh-TW" altLang="en-US"/>
              <a:pPr defTabSz="571500"/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37993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933255" y="129779"/>
            <a:ext cx="6796284" cy="501817"/>
          </a:xfrm>
        </p:spPr>
        <p:txBody>
          <a:bodyPr/>
          <a:lstStyle/>
          <a:p>
            <a:r>
              <a:rPr lang="en-US" altLang="zh-TW" dirty="0"/>
              <a:t>OS Handling Page Faults</a:t>
            </a:r>
          </a:p>
        </p:txBody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0703" y="857533"/>
            <a:ext cx="6874946" cy="36861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sz="2000" dirty="0"/>
              <a:t>Hardware must trap to the operating system so that it can remedy the situation</a:t>
            </a:r>
          </a:p>
          <a:p>
            <a:pPr lvl="1">
              <a:lnSpc>
                <a:spcPct val="80000"/>
              </a:lnSpc>
            </a:pPr>
            <a:r>
              <a:rPr lang="en-US" altLang="zh-TW" sz="1800" dirty="0"/>
              <a:t>Pick a page to discard (may write it to disk)</a:t>
            </a:r>
          </a:p>
          <a:p>
            <a:pPr lvl="1">
              <a:lnSpc>
                <a:spcPct val="80000"/>
              </a:lnSpc>
            </a:pPr>
            <a:r>
              <a:rPr lang="en-US" altLang="zh-TW" sz="1800" dirty="0"/>
              <a:t>Load the page in from disk</a:t>
            </a:r>
          </a:p>
          <a:p>
            <a:pPr lvl="1">
              <a:lnSpc>
                <a:spcPct val="80000"/>
              </a:lnSpc>
            </a:pPr>
            <a:r>
              <a:rPr lang="en-US" altLang="zh-TW" sz="1800" dirty="0"/>
              <a:t>Update the page table</a:t>
            </a:r>
          </a:p>
          <a:p>
            <a:pPr lvl="1">
              <a:lnSpc>
                <a:spcPct val="80000"/>
              </a:lnSpc>
            </a:pPr>
            <a:r>
              <a:rPr lang="en-US" altLang="zh-TW" sz="1800" dirty="0"/>
              <a:t>Resume to program so HW will retry and succeed!</a:t>
            </a:r>
          </a:p>
          <a:p>
            <a:pPr lvl="1">
              <a:lnSpc>
                <a:spcPct val="80000"/>
              </a:lnSpc>
            </a:pPr>
            <a:endParaRPr lang="en-US" altLang="zh-TW" sz="1800" dirty="0"/>
          </a:p>
          <a:p>
            <a:pPr>
              <a:lnSpc>
                <a:spcPct val="80000"/>
              </a:lnSpc>
            </a:pPr>
            <a:r>
              <a:rPr lang="en-US" altLang="zh-TW" sz="2000" dirty="0"/>
              <a:t>In addition, OS must know where to find the page</a:t>
            </a:r>
          </a:p>
          <a:p>
            <a:pPr lvl="1">
              <a:lnSpc>
                <a:spcPct val="80000"/>
              </a:lnSpc>
            </a:pPr>
            <a:r>
              <a:rPr lang="en-US" altLang="zh-TW" sz="1800" dirty="0"/>
              <a:t>Create space on disk for all pages of process (swap space)	</a:t>
            </a:r>
          </a:p>
          <a:p>
            <a:pPr lvl="1">
              <a:lnSpc>
                <a:spcPct val="80000"/>
              </a:lnSpc>
            </a:pPr>
            <a:r>
              <a:rPr lang="en-US" altLang="zh-TW" sz="1800" dirty="0"/>
              <a:t>Use a data structure to record where each valid page is on disk (may be part of page table)</a:t>
            </a:r>
          </a:p>
          <a:p>
            <a:pPr lvl="1">
              <a:lnSpc>
                <a:spcPct val="80000"/>
              </a:lnSpc>
            </a:pPr>
            <a:r>
              <a:rPr lang="en-US" altLang="zh-TW" sz="1800" dirty="0"/>
              <a:t>Use another data structure to track which process and virtual addresses use each physical page =&gt; for replacement purpose</a:t>
            </a:r>
          </a:p>
        </p:txBody>
      </p:sp>
      <p:sp>
        <p:nvSpPr>
          <p:cNvPr id="89092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0E661FF7-3E64-4874-AAFA-EEF67A3F94BC}" type="slidenum">
              <a:rPr lang="zh-TW" altLang="en-US"/>
              <a:pPr defTabSz="571500"/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617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1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1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1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1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1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1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1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1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8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8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1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81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81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81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1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1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1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1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51843" y="130132"/>
            <a:ext cx="7200900" cy="492038"/>
          </a:xfrm>
        </p:spPr>
        <p:txBody>
          <a:bodyPr/>
          <a:lstStyle/>
          <a:p>
            <a:r>
              <a:rPr lang="en-US" altLang="zh-TW" dirty="0"/>
              <a:t>When to Fetch Missing Items From Disk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51842" y="844153"/>
            <a:ext cx="7734957" cy="3671888"/>
          </a:xfrm>
        </p:spPr>
        <p:txBody>
          <a:bodyPr/>
          <a:lstStyle/>
          <a:p>
            <a:r>
              <a:rPr lang="en-US" altLang="zh-TW" dirty="0"/>
              <a:t>Fetch only on a fault</a:t>
            </a:r>
          </a:p>
          <a:p>
            <a:pPr marL="342900" lvl="1" indent="0">
              <a:buNone/>
            </a:pPr>
            <a:r>
              <a:rPr lang="en-US" altLang="zh-TW" dirty="0"/>
              <a:t>=&gt; Demand load policy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7D45A012-07B4-4F55-AE88-BDE7E89299BA}" type="slidenum">
              <a:rPr lang="zh-TW" altLang="en-US" smtClean="0"/>
              <a:pPr/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3152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827" y="129780"/>
            <a:ext cx="6805711" cy="492390"/>
          </a:xfrm>
        </p:spPr>
        <p:txBody>
          <a:bodyPr/>
          <a:lstStyle/>
          <a:p>
            <a:r>
              <a:rPr lang="en-US" altLang="zh-TW" dirty="0"/>
              <a:t>Page Replacement and Writes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34141" y="842254"/>
            <a:ext cx="7110618" cy="321355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sz="2000" dirty="0"/>
              <a:t>To reduce page fault rate, prefer least-recently used (LRU) replacement</a:t>
            </a:r>
          </a:p>
          <a:p>
            <a:pPr lvl="1">
              <a:lnSpc>
                <a:spcPct val="80000"/>
              </a:lnSpc>
            </a:pPr>
            <a:r>
              <a:rPr lang="en-US" altLang="zh-TW" sz="1800" dirty="0"/>
              <a:t>Reference bit (aka </a:t>
            </a:r>
            <a:r>
              <a:rPr lang="en-US" altLang="zh-TW" sz="1800" dirty="0">
                <a:solidFill>
                  <a:srgbClr val="FF0000"/>
                </a:solidFill>
              </a:rPr>
              <a:t>use bit</a:t>
            </a:r>
            <a:r>
              <a:rPr lang="en-US" altLang="zh-TW" sz="1800" dirty="0"/>
              <a:t>) in PTE set to 1 on access to page</a:t>
            </a:r>
          </a:p>
          <a:p>
            <a:pPr lvl="1">
              <a:lnSpc>
                <a:spcPct val="80000"/>
              </a:lnSpc>
            </a:pPr>
            <a:r>
              <a:rPr lang="en-US" altLang="zh-TW" sz="1800" dirty="0"/>
              <a:t>Periodically cleared to 0 by OS</a:t>
            </a:r>
          </a:p>
          <a:p>
            <a:pPr lvl="1">
              <a:lnSpc>
                <a:spcPct val="80000"/>
              </a:lnSpc>
            </a:pPr>
            <a:r>
              <a:rPr lang="en-US" altLang="zh-TW" sz="1800" dirty="0"/>
              <a:t>A page with reference bit = 0 has not been used recently</a:t>
            </a:r>
          </a:p>
          <a:p>
            <a:pPr>
              <a:lnSpc>
                <a:spcPct val="80000"/>
              </a:lnSpc>
            </a:pPr>
            <a:endParaRPr lang="en-US" altLang="zh-TW" sz="2000" dirty="0"/>
          </a:p>
          <a:p>
            <a:pPr>
              <a:lnSpc>
                <a:spcPct val="80000"/>
              </a:lnSpc>
            </a:pPr>
            <a:r>
              <a:rPr lang="en-US" altLang="zh-TW" sz="2000" dirty="0"/>
              <a:t>Disk writes take millions of cycles</a:t>
            </a:r>
          </a:p>
          <a:p>
            <a:pPr lvl="1">
              <a:lnSpc>
                <a:spcPct val="80000"/>
              </a:lnSpc>
            </a:pPr>
            <a:r>
              <a:rPr lang="en-US" altLang="zh-TW" sz="1800" dirty="0"/>
              <a:t>Block at once, not individual locations</a:t>
            </a:r>
          </a:p>
          <a:p>
            <a:pPr lvl="1">
              <a:lnSpc>
                <a:spcPct val="80000"/>
              </a:lnSpc>
            </a:pPr>
            <a:r>
              <a:rPr lang="en-US" altLang="zh-TW" sz="1800" dirty="0"/>
              <a:t>Write through is impractical</a:t>
            </a:r>
          </a:p>
          <a:p>
            <a:pPr lvl="1">
              <a:lnSpc>
                <a:spcPct val="80000"/>
              </a:lnSpc>
            </a:pPr>
            <a:r>
              <a:rPr lang="en-US" altLang="zh-TW" sz="1800" dirty="0"/>
              <a:t>Use write-back</a:t>
            </a:r>
          </a:p>
          <a:p>
            <a:pPr lvl="1">
              <a:lnSpc>
                <a:spcPct val="80000"/>
              </a:lnSpc>
            </a:pPr>
            <a:r>
              <a:rPr lang="en-US" altLang="zh-TW" sz="1800" dirty="0"/>
              <a:t>Dirty bit in PTE set when page is written</a:t>
            </a:r>
            <a:endParaRPr lang="en-AU" altLang="zh-TW" sz="1800" dirty="0">
              <a:ea typeface="新細明體" pitchFamily="18" charset="-120"/>
            </a:endParaRPr>
          </a:p>
        </p:txBody>
      </p:sp>
      <p:sp>
        <p:nvSpPr>
          <p:cNvPr id="90116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6C0CFFAA-3026-47E2-9458-EE97BB1AADC2}" type="slidenum">
              <a:rPr lang="zh-TW" altLang="en-US"/>
              <a:pPr defTabSz="571500"/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233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Problems of Page Table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/>
          <a:lstStyle/>
          <a:p>
            <a:r>
              <a:rPr lang="en-US" altLang="zh-TW" dirty="0"/>
              <a:t>Page table is too big</a:t>
            </a:r>
          </a:p>
          <a:p>
            <a:r>
              <a:rPr lang="en-US" altLang="zh-TW" dirty="0"/>
              <a:t>Access to page table is too slow (needs one memory read)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7D45A012-07B4-4F55-AE88-BDE7E89299BA}" type="slidenum">
              <a:rPr lang="zh-TW" altLang="en-US" smtClean="0"/>
              <a:pPr/>
              <a:t>21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329810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70961" y="129780"/>
            <a:ext cx="6758577" cy="426402"/>
          </a:xfrm>
        </p:spPr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6375" y="820132"/>
            <a:ext cx="7447176" cy="360103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/>
              <a:t>Virtual memory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Basics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Issues in virtual memory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solidFill>
                  <a:srgbClr val="FF0000"/>
                </a:solidFill>
              </a:rPr>
              <a:t>Handling huge page table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TLB (Translation </a:t>
            </a:r>
            <a:r>
              <a:rPr lang="en-US" altLang="zh-TW" dirty="0" err="1"/>
              <a:t>Lookaside</a:t>
            </a:r>
            <a:r>
              <a:rPr lang="en-US" altLang="zh-TW" dirty="0"/>
              <a:t> Buffer)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TLB and cache</a:t>
            </a:r>
          </a:p>
          <a:p>
            <a:pPr>
              <a:spcBef>
                <a:spcPts val="0"/>
              </a:spcBef>
            </a:pPr>
            <a:r>
              <a:rPr lang="en-US" altLang="zh-TW" dirty="0"/>
              <a:t>A common framework for memory hierarchy</a:t>
            </a:r>
          </a:p>
          <a:p>
            <a:r>
              <a:rPr lang="en-US" altLang="zh-TW" dirty="0"/>
              <a:t>Using a Finite State Machine to Control a Simple Cache</a:t>
            </a:r>
          </a:p>
          <a:p>
            <a:r>
              <a:rPr lang="en-US" altLang="zh-TW" dirty="0"/>
              <a:t>Parallelism and Memory Hierarchies: Cache Coherence</a:t>
            </a:r>
          </a:p>
          <a:p>
            <a:pPr>
              <a:spcBef>
                <a:spcPts val="0"/>
              </a:spcBef>
            </a:pPr>
            <a:endParaRPr lang="en-US" altLang="zh-TW" dirty="0"/>
          </a:p>
        </p:txBody>
      </p:sp>
      <p:sp>
        <p:nvSpPr>
          <p:cNvPr id="6148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557213" indent="-214313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8572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2001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15430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18859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2288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25717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29146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fld id="{21079BBA-C287-4BD2-9D77-9C0655332BFF}" type="slidenum">
              <a:rPr kumimoji="0" lang="zh-TW" altLang="en-US" sz="1050">
                <a:solidFill>
                  <a:schemeClr val="bg1"/>
                </a:solidFill>
                <a:latin typeface="Arial" pitchFamily="34" charset="0"/>
              </a:rPr>
              <a:pPr/>
              <a:t>22</a:t>
            </a:fld>
            <a:endParaRPr kumimoji="0" lang="en-US" altLang="zh-TW" sz="105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467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904973" y="129779"/>
            <a:ext cx="6824565" cy="482963"/>
          </a:xfrm>
        </p:spPr>
        <p:txBody>
          <a:bodyPr/>
          <a:lstStyle/>
          <a:p>
            <a:r>
              <a:rPr lang="en-US" altLang="zh-TW" dirty="0"/>
              <a:t>Impact of Paging - Huge Page Table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759" y="848106"/>
            <a:ext cx="6915903" cy="3177139"/>
          </a:xfrm>
        </p:spPr>
        <p:txBody>
          <a:bodyPr/>
          <a:lstStyle/>
          <a:p>
            <a:r>
              <a:rPr lang="en-US" altLang="zh-TW" sz="2000" dirty="0"/>
              <a:t>Page table occupies storage</a:t>
            </a:r>
            <a:br>
              <a:rPr lang="en-US" altLang="zh-TW" sz="2000" dirty="0"/>
            </a:br>
            <a:r>
              <a:rPr lang="en-US" altLang="zh-TW" sz="2000" dirty="0"/>
              <a:t>32-bit VA, 4KB page, 4bytes/entry =&gt; 2</a:t>
            </a:r>
            <a:r>
              <a:rPr lang="en-US" altLang="zh-TW" sz="2000" baseline="30000" dirty="0"/>
              <a:t>20</a:t>
            </a:r>
            <a:r>
              <a:rPr lang="en-US" altLang="zh-TW" sz="2000" dirty="0"/>
              <a:t> PTE, 4MB table</a:t>
            </a:r>
          </a:p>
          <a:p>
            <a:r>
              <a:rPr lang="en-US" altLang="zh-TW" sz="2000" dirty="0"/>
              <a:t>Possible solutions</a:t>
            </a:r>
          </a:p>
          <a:p>
            <a:pPr lvl="1"/>
            <a:r>
              <a:rPr lang="en-US" altLang="zh-TW" sz="1800" dirty="0"/>
              <a:t>Use bounds register to limit table size; add more if exceed</a:t>
            </a:r>
          </a:p>
          <a:p>
            <a:pPr lvl="1"/>
            <a:r>
              <a:rPr lang="en-US" altLang="zh-TW" sz="1800" dirty="0"/>
              <a:t>Let pages to grow in both directions</a:t>
            </a:r>
            <a:br>
              <a:rPr lang="en-US" altLang="zh-TW" sz="1800" dirty="0"/>
            </a:br>
            <a:r>
              <a:rPr lang="en-US" altLang="zh-TW" sz="1800" dirty="0"/>
              <a:t>=&gt; 2 tables, 2 limit registers, one for hash, one for stack</a:t>
            </a:r>
          </a:p>
          <a:p>
            <a:pPr lvl="1"/>
            <a:r>
              <a:rPr lang="en-US" altLang="zh-TW" sz="1800" dirty="0"/>
              <a:t>Use hashing =&gt; page table same size as physical pages</a:t>
            </a:r>
          </a:p>
          <a:p>
            <a:pPr lvl="1"/>
            <a:r>
              <a:rPr lang="en-US" altLang="zh-TW" sz="1800" dirty="0"/>
              <a:t>Multiple levels of page tables</a:t>
            </a:r>
          </a:p>
          <a:p>
            <a:pPr lvl="1"/>
            <a:r>
              <a:rPr lang="en-US" altLang="zh-TW" sz="1800" dirty="0"/>
              <a:t>Paged page table (page table resides in virtual space)</a:t>
            </a:r>
          </a:p>
        </p:txBody>
      </p:sp>
      <p:sp>
        <p:nvSpPr>
          <p:cNvPr id="93188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0CDB792D-FB33-413D-99DB-E32812FE13D9}" type="slidenum">
              <a:rPr lang="zh-TW" altLang="en-US"/>
              <a:pPr defTabSz="571500"/>
              <a:t>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17028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904972" y="844153"/>
            <a:ext cx="7781827" cy="1764766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sz="2000" dirty="0"/>
              <a:t>28-bit virtual address,4 KB per page, and 4 bytes per page-table entry</a:t>
            </a:r>
          </a:p>
          <a:p>
            <a:pPr>
              <a:lnSpc>
                <a:spcPct val="80000"/>
              </a:lnSpc>
            </a:pPr>
            <a:r>
              <a:rPr lang="en-US" altLang="zh-TW" sz="2000" dirty="0"/>
              <a:t>The number of pages: 64K</a:t>
            </a:r>
          </a:p>
          <a:p>
            <a:pPr>
              <a:lnSpc>
                <a:spcPct val="80000"/>
              </a:lnSpc>
            </a:pPr>
            <a:r>
              <a:rPr lang="en-US" altLang="zh-TW" sz="2000" dirty="0"/>
              <a:t>The number of physical frames: 16K</a:t>
            </a:r>
          </a:p>
          <a:p>
            <a:pPr lvl="1">
              <a:lnSpc>
                <a:spcPct val="80000"/>
              </a:lnSpc>
            </a:pPr>
            <a:r>
              <a:rPr lang="en-US" altLang="zh-TW" sz="1800" dirty="0"/>
              <a:t>Page table size :  </a:t>
            </a:r>
            <a:r>
              <a:rPr lang="en-US" altLang="zh-TW" sz="1800" dirty="0">
                <a:solidFill>
                  <a:srgbClr val="FF0000"/>
                </a:solidFill>
              </a:rPr>
              <a:t>64 K (pages #) </a:t>
            </a:r>
            <a:r>
              <a:rPr lang="en-US" altLang="zh-TW" sz="1800" dirty="0"/>
              <a:t>x 4 = 256 KB</a:t>
            </a:r>
          </a:p>
          <a:p>
            <a:pPr lvl="1">
              <a:lnSpc>
                <a:spcPct val="80000"/>
              </a:lnSpc>
            </a:pPr>
            <a:r>
              <a:rPr lang="en-US" altLang="zh-TW" sz="1800" dirty="0"/>
              <a:t>Inverted page table : </a:t>
            </a:r>
            <a:r>
              <a:rPr lang="en-US" altLang="zh-TW" sz="1800" dirty="0">
                <a:solidFill>
                  <a:srgbClr val="FF0000"/>
                </a:solidFill>
              </a:rPr>
              <a:t>16 K (frame #) </a:t>
            </a:r>
            <a:r>
              <a:rPr lang="en-US" altLang="zh-TW" sz="1800" dirty="0"/>
              <a:t>x (4+?) = 64 KB</a:t>
            </a:r>
          </a:p>
          <a:p>
            <a:pPr lvl="1">
              <a:lnSpc>
                <a:spcPct val="88000"/>
              </a:lnSpc>
              <a:spcBef>
                <a:spcPct val="43000"/>
              </a:spcBef>
              <a:buFont typeface="Wingdings" pitchFamily="2" charset="2"/>
              <a:buNone/>
            </a:pPr>
            <a:r>
              <a:rPr lang="en-US" altLang="zh-TW" sz="1800" dirty="0"/>
              <a:t>=&gt; TLBs or virtually addressed caches are critical</a:t>
            </a:r>
          </a:p>
        </p:txBody>
      </p:sp>
      <p:grpSp>
        <p:nvGrpSpPr>
          <p:cNvPr id="94211" name="Group 16"/>
          <p:cNvGrpSpPr>
            <a:grpSpLocks/>
          </p:cNvGrpSpPr>
          <p:nvPr/>
        </p:nvGrpSpPr>
        <p:grpSpPr bwMode="auto">
          <a:xfrm>
            <a:off x="2554663" y="2832756"/>
            <a:ext cx="3812046" cy="1706166"/>
            <a:chOff x="832" y="1632"/>
            <a:chExt cx="3609" cy="1728"/>
          </a:xfrm>
        </p:grpSpPr>
        <p:sp>
          <p:nvSpPr>
            <p:cNvPr id="94214" name="Rectangle 2"/>
            <p:cNvSpPr>
              <a:spLocks noChangeArrowheads="1"/>
            </p:cNvSpPr>
            <p:nvPr/>
          </p:nvSpPr>
          <p:spPr bwMode="auto">
            <a:xfrm>
              <a:off x="3012" y="1636"/>
              <a:ext cx="1343" cy="1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94215" name="Rectangle 3"/>
            <p:cNvSpPr>
              <a:spLocks noChangeArrowheads="1"/>
            </p:cNvSpPr>
            <p:nvPr/>
          </p:nvSpPr>
          <p:spPr bwMode="auto">
            <a:xfrm>
              <a:off x="3071" y="1705"/>
              <a:ext cx="1370" cy="17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000" b="1" dirty="0" err="1">
                  <a:latin typeface="Arial" pitchFamily="34" charset="0"/>
                </a:rPr>
                <a:t>V.Page</a:t>
              </a:r>
              <a:r>
                <a:rPr kumimoji="1" lang="en-US" altLang="zh-TW" sz="1000" b="1" dirty="0">
                  <a:latin typeface="Arial" pitchFamily="34" charset="0"/>
                </a:rPr>
                <a:t>        P. Frame   </a:t>
              </a:r>
            </a:p>
          </p:txBody>
        </p:sp>
        <p:sp>
          <p:nvSpPr>
            <p:cNvPr id="94216" name="Line 4"/>
            <p:cNvSpPr>
              <a:spLocks noChangeShapeType="1"/>
            </p:cNvSpPr>
            <p:nvPr/>
          </p:nvSpPr>
          <p:spPr bwMode="auto">
            <a:xfrm>
              <a:off x="3683" y="1632"/>
              <a:ext cx="0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94217" name="Rectangle 5"/>
            <p:cNvSpPr>
              <a:spLocks noChangeArrowheads="1"/>
            </p:cNvSpPr>
            <p:nvPr/>
          </p:nvSpPr>
          <p:spPr bwMode="auto">
            <a:xfrm>
              <a:off x="1712" y="1684"/>
              <a:ext cx="667" cy="4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85000"/>
                </a:lnSpc>
              </a:pPr>
              <a:r>
                <a:rPr kumimoji="1" lang="en-US" altLang="zh-TW" sz="1000" b="1">
                  <a:latin typeface="Arial" pitchFamily="34" charset="0"/>
                </a:rPr>
                <a:t>Hash</a:t>
              </a:r>
            </a:p>
          </p:txBody>
        </p:sp>
        <p:sp>
          <p:nvSpPr>
            <p:cNvPr id="94218" name="Line 6"/>
            <p:cNvSpPr>
              <a:spLocks noChangeShapeType="1"/>
            </p:cNvSpPr>
            <p:nvPr/>
          </p:nvSpPr>
          <p:spPr bwMode="auto">
            <a:xfrm>
              <a:off x="2383" y="1872"/>
              <a:ext cx="57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94219" name="Rectangle 7"/>
            <p:cNvSpPr>
              <a:spLocks noChangeArrowheads="1"/>
            </p:cNvSpPr>
            <p:nvPr/>
          </p:nvSpPr>
          <p:spPr bwMode="auto">
            <a:xfrm>
              <a:off x="832" y="1751"/>
              <a:ext cx="467" cy="30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000" b="1">
                  <a:latin typeface="Arial" pitchFamily="34" charset="0"/>
                </a:rPr>
                <a:t>Virtual</a:t>
              </a:r>
            </a:p>
            <a:p>
              <a:pPr>
                <a:lnSpc>
                  <a:spcPct val="85000"/>
                </a:lnSpc>
              </a:pPr>
              <a:r>
                <a:rPr kumimoji="1" lang="en-US" altLang="zh-TW" sz="1000" b="1">
                  <a:latin typeface="Arial" pitchFamily="34" charset="0"/>
                </a:rPr>
                <a:t>Page</a:t>
              </a:r>
            </a:p>
          </p:txBody>
        </p:sp>
        <p:sp>
          <p:nvSpPr>
            <p:cNvPr id="94220" name="Line 8"/>
            <p:cNvSpPr>
              <a:spLocks noChangeShapeType="1"/>
            </p:cNvSpPr>
            <p:nvPr/>
          </p:nvSpPr>
          <p:spPr bwMode="auto">
            <a:xfrm>
              <a:off x="1395" y="1872"/>
              <a:ext cx="3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94221" name="Rectangle 9"/>
            <p:cNvSpPr>
              <a:spLocks noChangeArrowheads="1"/>
            </p:cNvSpPr>
            <p:nvPr/>
          </p:nvSpPr>
          <p:spPr bwMode="auto">
            <a:xfrm>
              <a:off x="3012" y="2356"/>
              <a:ext cx="1343" cy="2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94222" name="Oval 10"/>
            <p:cNvSpPr>
              <a:spLocks noChangeArrowheads="1"/>
            </p:cNvSpPr>
            <p:nvPr/>
          </p:nvSpPr>
          <p:spPr bwMode="auto">
            <a:xfrm>
              <a:off x="1764" y="2740"/>
              <a:ext cx="355" cy="23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kumimoji="1" lang="zh-TW" altLang="en-US" sz="1000" b="1">
                  <a:latin typeface="Arial" pitchFamily="34" charset="0"/>
                </a:rPr>
                <a:t>=</a:t>
              </a:r>
            </a:p>
          </p:txBody>
        </p:sp>
        <p:sp>
          <p:nvSpPr>
            <p:cNvPr id="94223" name="Line 11"/>
            <p:cNvSpPr>
              <a:spLocks noChangeShapeType="1"/>
            </p:cNvSpPr>
            <p:nvPr/>
          </p:nvSpPr>
          <p:spPr bwMode="auto">
            <a:xfrm flipH="1">
              <a:off x="2123" y="2448"/>
              <a:ext cx="1196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94224" name="Line 12"/>
            <p:cNvSpPr>
              <a:spLocks noChangeShapeType="1"/>
            </p:cNvSpPr>
            <p:nvPr/>
          </p:nvSpPr>
          <p:spPr bwMode="auto">
            <a:xfrm>
              <a:off x="1031" y="2064"/>
              <a:ext cx="728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94225" name="Line 13"/>
            <p:cNvSpPr>
              <a:spLocks noChangeShapeType="1"/>
            </p:cNvSpPr>
            <p:nvPr/>
          </p:nvSpPr>
          <p:spPr bwMode="auto">
            <a:xfrm>
              <a:off x="1967" y="297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</p:grpSp>
      <p:sp>
        <p:nvSpPr>
          <p:cNvPr id="94212" name="Rectangle 14"/>
          <p:cNvSpPr>
            <a:spLocks noGrp="1" noChangeArrowheads="1"/>
          </p:cNvSpPr>
          <p:nvPr>
            <p:ph type="title"/>
          </p:nvPr>
        </p:nvSpPr>
        <p:spPr>
          <a:xfrm>
            <a:off x="904973" y="129780"/>
            <a:ext cx="6824565" cy="490536"/>
          </a:xfrm>
        </p:spPr>
        <p:txBody>
          <a:bodyPr/>
          <a:lstStyle/>
          <a:p>
            <a:r>
              <a:rPr lang="en-US" altLang="zh-TW" dirty="0">
                <a:solidFill>
                  <a:srgbClr val="002060"/>
                </a:solidFill>
              </a:rPr>
              <a:t>Hashing - Inverted Page Tables</a:t>
            </a:r>
          </a:p>
        </p:txBody>
      </p:sp>
      <p:sp>
        <p:nvSpPr>
          <p:cNvPr id="94213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B6C2ADAF-80EB-488A-B6C5-38B2AFB534D6}" type="slidenum">
              <a:rPr lang="zh-TW" altLang="en-US"/>
              <a:pPr defTabSz="571500"/>
              <a:t>24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0649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942681" y="135732"/>
            <a:ext cx="6786858" cy="471044"/>
          </a:xfrm>
        </p:spPr>
        <p:txBody>
          <a:bodyPr/>
          <a:lstStyle/>
          <a:p>
            <a:r>
              <a:rPr lang="en-US" altLang="zh-TW" sz="3200" dirty="0">
                <a:solidFill>
                  <a:srgbClr val="002060"/>
                </a:solidFill>
              </a:rPr>
              <a:t>Two-level Page Tables</a:t>
            </a:r>
          </a:p>
        </p:txBody>
      </p:sp>
      <p:sp>
        <p:nvSpPr>
          <p:cNvPr id="95235" name="Rectangle 3"/>
          <p:cNvSpPr>
            <a:spLocks noChangeArrowheads="1"/>
          </p:cNvSpPr>
          <p:nvPr/>
        </p:nvSpPr>
        <p:spPr bwMode="auto">
          <a:xfrm>
            <a:off x="4205287" y="1606139"/>
            <a:ext cx="423863" cy="1019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36" name="Rectangle 4" descr="75%"/>
          <p:cNvSpPr>
            <a:spLocks noChangeArrowheads="1"/>
          </p:cNvSpPr>
          <p:nvPr/>
        </p:nvSpPr>
        <p:spPr bwMode="auto">
          <a:xfrm>
            <a:off x="4205287" y="1777589"/>
            <a:ext cx="423863" cy="104775"/>
          </a:xfrm>
          <a:prstGeom prst="rect">
            <a:avLst/>
          </a:prstGeom>
          <a:pattFill prst="pct75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37" name="Rectangle 5" descr="75%"/>
          <p:cNvSpPr>
            <a:spLocks noChangeArrowheads="1"/>
          </p:cNvSpPr>
          <p:nvPr/>
        </p:nvSpPr>
        <p:spPr bwMode="auto">
          <a:xfrm>
            <a:off x="4205287" y="2120489"/>
            <a:ext cx="423863" cy="104775"/>
          </a:xfrm>
          <a:prstGeom prst="rect">
            <a:avLst/>
          </a:prstGeom>
          <a:pattFill prst="pct75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38" name="Rectangle 6" descr="75%"/>
          <p:cNvSpPr>
            <a:spLocks noChangeArrowheads="1"/>
          </p:cNvSpPr>
          <p:nvPr/>
        </p:nvSpPr>
        <p:spPr bwMode="auto">
          <a:xfrm>
            <a:off x="4205287" y="2234789"/>
            <a:ext cx="423863" cy="104775"/>
          </a:xfrm>
          <a:prstGeom prst="rect">
            <a:avLst/>
          </a:prstGeom>
          <a:pattFill prst="pct75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39" name="Rectangle 7"/>
          <p:cNvSpPr>
            <a:spLocks noChangeArrowheads="1"/>
          </p:cNvSpPr>
          <p:nvPr/>
        </p:nvSpPr>
        <p:spPr bwMode="auto">
          <a:xfrm>
            <a:off x="5691187" y="863189"/>
            <a:ext cx="423863" cy="1019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40" name="Rectangle 8" descr="50%"/>
          <p:cNvSpPr>
            <a:spLocks noChangeArrowheads="1"/>
          </p:cNvSpPr>
          <p:nvPr/>
        </p:nvSpPr>
        <p:spPr bwMode="auto">
          <a:xfrm>
            <a:off x="5691187" y="1263239"/>
            <a:ext cx="423863" cy="104775"/>
          </a:xfrm>
          <a:prstGeom prst="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41" name="Rectangle 9" descr="50%"/>
          <p:cNvSpPr>
            <a:spLocks noChangeArrowheads="1"/>
          </p:cNvSpPr>
          <p:nvPr/>
        </p:nvSpPr>
        <p:spPr bwMode="auto">
          <a:xfrm>
            <a:off x="5691187" y="1377539"/>
            <a:ext cx="423863" cy="104775"/>
          </a:xfrm>
          <a:prstGeom prst="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42" name="Rectangle 10" descr="50%"/>
          <p:cNvSpPr>
            <a:spLocks noChangeArrowheads="1"/>
          </p:cNvSpPr>
          <p:nvPr/>
        </p:nvSpPr>
        <p:spPr bwMode="auto">
          <a:xfrm>
            <a:off x="5691187" y="1606139"/>
            <a:ext cx="423863" cy="104775"/>
          </a:xfrm>
          <a:prstGeom prst="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43" name="Rectangle 11"/>
          <p:cNvSpPr>
            <a:spLocks noChangeArrowheads="1"/>
          </p:cNvSpPr>
          <p:nvPr/>
        </p:nvSpPr>
        <p:spPr bwMode="auto">
          <a:xfrm>
            <a:off x="5691187" y="2120489"/>
            <a:ext cx="423863" cy="1019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44" name="Rectangle 12" descr="50%"/>
          <p:cNvSpPr>
            <a:spLocks noChangeArrowheads="1"/>
          </p:cNvSpPr>
          <p:nvPr/>
        </p:nvSpPr>
        <p:spPr bwMode="auto">
          <a:xfrm>
            <a:off x="5691187" y="2406239"/>
            <a:ext cx="423863" cy="104775"/>
          </a:xfrm>
          <a:prstGeom prst="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45" name="Rectangle 13" descr="50%"/>
          <p:cNvSpPr>
            <a:spLocks noChangeArrowheads="1"/>
          </p:cNvSpPr>
          <p:nvPr/>
        </p:nvSpPr>
        <p:spPr bwMode="auto">
          <a:xfrm>
            <a:off x="5691187" y="2520539"/>
            <a:ext cx="423863" cy="104775"/>
          </a:xfrm>
          <a:prstGeom prst="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46" name="Rectangle 14" descr="50%"/>
          <p:cNvSpPr>
            <a:spLocks noChangeArrowheads="1"/>
          </p:cNvSpPr>
          <p:nvPr/>
        </p:nvSpPr>
        <p:spPr bwMode="auto">
          <a:xfrm>
            <a:off x="5691187" y="2749139"/>
            <a:ext cx="423863" cy="104775"/>
          </a:xfrm>
          <a:prstGeom prst="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47" name="Rectangle 15"/>
          <p:cNvSpPr>
            <a:spLocks noChangeArrowheads="1"/>
          </p:cNvSpPr>
          <p:nvPr/>
        </p:nvSpPr>
        <p:spPr bwMode="auto">
          <a:xfrm>
            <a:off x="5691187" y="3320639"/>
            <a:ext cx="423863" cy="1019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48" name="Rectangle 16" descr="50%"/>
          <p:cNvSpPr>
            <a:spLocks noChangeArrowheads="1"/>
          </p:cNvSpPr>
          <p:nvPr/>
        </p:nvSpPr>
        <p:spPr bwMode="auto">
          <a:xfrm>
            <a:off x="5691187" y="3549239"/>
            <a:ext cx="423863" cy="104775"/>
          </a:xfrm>
          <a:prstGeom prst="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49" name="Rectangle 17" descr="50%"/>
          <p:cNvSpPr>
            <a:spLocks noChangeArrowheads="1"/>
          </p:cNvSpPr>
          <p:nvPr/>
        </p:nvSpPr>
        <p:spPr bwMode="auto">
          <a:xfrm>
            <a:off x="5691187" y="3834989"/>
            <a:ext cx="423863" cy="104775"/>
          </a:xfrm>
          <a:prstGeom prst="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50" name="Rectangle 18" descr="50%"/>
          <p:cNvSpPr>
            <a:spLocks noChangeArrowheads="1"/>
          </p:cNvSpPr>
          <p:nvPr/>
        </p:nvSpPr>
        <p:spPr bwMode="auto">
          <a:xfrm>
            <a:off x="5691187" y="4063589"/>
            <a:ext cx="423863" cy="104775"/>
          </a:xfrm>
          <a:prstGeom prst="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51" name="Line 19"/>
          <p:cNvSpPr>
            <a:spLocks noChangeShapeType="1"/>
          </p:cNvSpPr>
          <p:nvPr/>
        </p:nvSpPr>
        <p:spPr bwMode="auto">
          <a:xfrm flipV="1">
            <a:off x="4633912" y="858426"/>
            <a:ext cx="1052513" cy="971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52" name="Line 20"/>
          <p:cNvSpPr>
            <a:spLocks noChangeShapeType="1"/>
          </p:cNvSpPr>
          <p:nvPr/>
        </p:nvSpPr>
        <p:spPr bwMode="auto">
          <a:xfrm flipV="1">
            <a:off x="4572000" y="2115726"/>
            <a:ext cx="1114425" cy="5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53" name="Line 21"/>
          <p:cNvSpPr>
            <a:spLocks noChangeShapeType="1"/>
          </p:cNvSpPr>
          <p:nvPr/>
        </p:nvSpPr>
        <p:spPr bwMode="auto">
          <a:xfrm>
            <a:off x="4572000" y="2287176"/>
            <a:ext cx="1114425" cy="1085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sp useBgFill="1">
        <p:nvSpPr>
          <p:cNvPr id="95254" name="Rectangle 22"/>
          <p:cNvSpPr>
            <a:spLocks noChangeArrowheads="1"/>
          </p:cNvSpPr>
          <p:nvPr/>
        </p:nvSpPr>
        <p:spPr bwMode="auto">
          <a:xfrm>
            <a:off x="6805612" y="2068101"/>
            <a:ext cx="423863" cy="1019175"/>
          </a:xfrm>
          <a:prstGeom prst="rect">
            <a:avLst/>
          </a:prstGeo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 useBgFill="1">
        <p:nvSpPr>
          <p:cNvPr id="95255" name="Rectangle 23"/>
          <p:cNvSpPr>
            <a:spLocks noChangeArrowheads="1"/>
          </p:cNvSpPr>
          <p:nvPr/>
        </p:nvSpPr>
        <p:spPr bwMode="auto">
          <a:xfrm>
            <a:off x="6929437" y="2182401"/>
            <a:ext cx="423863" cy="1019175"/>
          </a:xfrm>
          <a:prstGeom prst="rect">
            <a:avLst/>
          </a:prstGeo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 useBgFill="1">
        <p:nvSpPr>
          <p:cNvPr id="95256" name="Rectangle 24"/>
          <p:cNvSpPr>
            <a:spLocks noChangeArrowheads="1"/>
          </p:cNvSpPr>
          <p:nvPr/>
        </p:nvSpPr>
        <p:spPr bwMode="auto">
          <a:xfrm>
            <a:off x="7053262" y="2296701"/>
            <a:ext cx="423863" cy="1019175"/>
          </a:xfrm>
          <a:prstGeom prst="rect">
            <a:avLst/>
          </a:prstGeo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 useBgFill="1">
        <p:nvSpPr>
          <p:cNvPr id="95257" name="Rectangle 25"/>
          <p:cNvSpPr>
            <a:spLocks noChangeArrowheads="1"/>
          </p:cNvSpPr>
          <p:nvPr/>
        </p:nvSpPr>
        <p:spPr bwMode="auto">
          <a:xfrm>
            <a:off x="7177087" y="2411001"/>
            <a:ext cx="423863" cy="1019175"/>
          </a:xfrm>
          <a:prstGeom prst="rect">
            <a:avLst/>
          </a:prstGeo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 useBgFill="1">
        <p:nvSpPr>
          <p:cNvPr id="95258" name="Rectangle 26"/>
          <p:cNvSpPr>
            <a:spLocks noChangeArrowheads="1"/>
          </p:cNvSpPr>
          <p:nvPr/>
        </p:nvSpPr>
        <p:spPr bwMode="auto">
          <a:xfrm>
            <a:off x="6929437" y="810801"/>
            <a:ext cx="423863" cy="1019175"/>
          </a:xfrm>
          <a:prstGeom prst="rect">
            <a:avLst/>
          </a:prstGeo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 useBgFill="1">
        <p:nvSpPr>
          <p:cNvPr id="95259" name="Rectangle 27"/>
          <p:cNvSpPr>
            <a:spLocks noChangeArrowheads="1"/>
          </p:cNvSpPr>
          <p:nvPr/>
        </p:nvSpPr>
        <p:spPr bwMode="auto">
          <a:xfrm>
            <a:off x="7053262" y="925101"/>
            <a:ext cx="423863" cy="1019175"/>
          </a:xfrm>
          <a:prstGeom prst="rect">
            <a:avLst/>
          </a:prstGeo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 useBgFill="1">
        <p:nvSpPr>
          <p:cNvPr id="95260" name="Rectangle 28"/>
          <p:cNvSpPr>
            <a:spLocks noChangeArrowheads="1"/>
          </p:cNvSpPr>
          <p:nvPr/>
        </p:nvSpPr>
        <p:spPr bwMode="auto">
          <a:xfrm>
            <a:off x="7177087" y="1039401"/>
            <a:ext cx="423863" cy="1019175"/>
          </a:xfrm>
          <a:prstGeom prst="rect">
            <a:avLst/>
          </a:prstGeo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61" name="Line 29"/>
          <p:cNvSpPr>
            <a:spLocks noChangeShapeType="1"/>
          </p:cNvSpPr>
          <p:nvPr/>
        </p:nvSpPr>
        <p:spPr bwMode="auto">
          <a:xfrm flipV="1">
            <a:off x="6057900" y="744126"/>
            <a:ext cx="866775" cy="571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62" name="Line 30"/>
          <p:cNvSpPr>
            <a:spLocks noChangeShapeType="1"/>
          </p:cNvSpPr>
          <p:nvPr/>
        </p:nvSpPr>
        <p:spPr bwMode="auto">
          <a:xfrm flipV="1">
            <a:off x="6057900" y="858426"/>
            <a:ext cx="990600" cy="571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63" name="Line 31"/>
          <p:cNvSpPr>
            <a:spLocks noChangeShapeType="1"/>
          </p:cNvSpPr>
          <p:nvPr/>
        </p:nvSpPr>
        <p:spPr bwMode="auto">
          <a:xfrm flipV="1">
            <a:off x="6057900" y="1029876"/>
            <a:ext cx="1114425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64" name="Line 32"/>
          <p:cNvSpPr>
            <a:spLocks noChangeShapeType="1"/>
          </p:cNvSpPr>
          <p:nvPr/>
        </p:nvSpPr>
        <p:spPr bwMode="auto">
          <a:xfrm flipV="1">
            <a:off x="6057900" y="2172876"/>
            <a:ext cx="742950" cy="285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65" name="Line 33"/>
          <p:cNvSpPr>
            <a:spLocks noChangeShapeType="1"/>
          </p:cNvSpPr>
          <p:nvPr/>
        </p:nvSpPr>
        <p:spPr bwMode="auto">
          <a:xfrm flipV="1">
            <a:off x="6057900" y="2401476"/>
            <a:ext cx="990600" cy="171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66" name="Line 34"/>
          <p:cNvSpPr>
            <a:spLocks noChangeShapeType="1"/>
          </p:cNvSpPr>
          <p:nvPr/>
        </p:nvSpPr>
        <p:spPr bwMode="auto">
          <a:xfrm flipV="1">
            <a:off x="6119812" y="2458626"/>
            <a:ext cx="1052513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sp useBgFill="1">
        <p:nvSpPr>
          <p:cNvPr id="95267" name="Rectangle 35"/>
          <p:cNvSpPr>
            <a:spLocks noChangeArrowheads="1"/>
          </p:cNvSpPr>
          <p:nvPr/>
        </p:nvSpPr>
        <p:spPr bwMode="auto">
          <a:xfrm>
            <a:off x="6929437" y="3496851"/>
            <a:ext cx="423863" cy="1019175"/>
          </a:xfrm>
          <a:prstGeom prst="rect">
            <a:avLst/>
          </a:prstGeo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 useBgFill="1">
        <p:nvSpPr>
          <p:cNvPr id="95268" name="Rectangle 36"/>
          <p:cNvSpPr>
            <a:spLocks noChangeArrowheads="1"/>
          </p:cNvSpPr>
          <p:nvPr/>
        </p:nvSpPr>
        <p:spPr bwMode="auto">
          <a:xfrm>
            <a:off x="7053262" y="3611151"/>
            <a:ext cx="423863" cy="1019175"/>
          </a:xfrm>
          <a:prstGeom prst="rect">
            <a:avLst/>
          </a:prstGeo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69" name="Line 37"/>
          <p:cNvSpPr>
            <a:spLocks noChangeShapeType="1"/>
          </p:cNvSpPr>
          <p:nvPr/>
        </p:nvSpPr>
        <p:spPr bwMode="auto">
          <a:xfrm flipV="1">
            <a:off x="6057900" y="3601626"/>
            <a:ext cx="804863" cy="285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70" name="Line 38"/>
          <p:cNvSpPr>
            <a:spLocks noChangeShapeType="1"/>
          </p:cNvSpPr>
          <p:nvPr/>
        </p:nvSpPr>
        <p:spPr bwMode="auto">
          <a:xfrm flipV="1">
            <a:off x="6057900" y="3773076"/>
            <a:ext cx="928688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71" name="Rectangle 39"/>
          <p:cNvSpPr>
            <a:spLocks noChangeArrowheads="1"/>
          </p:cNvSpPr>
          <p:nvPr/>
        </p:nvSpPr>
        <p:spPr bwMode="auto">
          <a:xfrm>
            <a:off x="1352550" y="1028701"/>
            <a:ext cx="1325684" cy="215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47625" tIns="19050" rIns="47625" bIns="19050">
            <a:spAutoFit/>
          </a:bodyPr>
          <a:lstStyle/>
          <a:p>
            <a:pPr>
              <a:lnSpc>
                <a:spcPct val="85000"/>
              </a:lnSpc>
            </a:pPr>
            <a:r>
              <a:rPr kumimoji="1" lang="zh-TW" altLang="en-US" sz="1350" b="1">
                <a:latin typeface="Century Gothic" pitchFamily="34" charset="0"/>
              </a:rPr>
              <a:t>32-</a:t>
            </a:r>
            <a:r>
              <a:rPr kumimoji="1" lang="en-US" altLang="zh-TW" sz="1350" b="1">
                <a:latin typeface="Century Gothic" pitchFamily="34" charset="0"/>
              </a:rPr>
              <a:t>bit address:</a:t>
            </a:r>
            <a:endParaRPr kumimoji="1" lang="en-US" altLang="zh-TW" sz="1350" b="1">
              <a:latin typeface="Arial" pitchFamily="34" charset="0"/>
            </a:endParaRPr>
          </a:p>
        </p:txBody>
      </p:sp>
      <p:sp>
        <p:nvSpPr>
          <p:cNvPr id="95272" name="Rectangle 40"/>
          <p:cNvSpPr>
            <a:spLocks noChangeArrowheads="1"/>
          </p:cNvSpPr>
          <p:nvPr/>
        </p:nvSpPr>
        <p:spPr bwMode="auto">
          <a:xfrm>
            <a:off x="1409701" y="1520429"/>
            <a:ext cx="794147" cy="2190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73" name="Rectangle 41"/>
          <p:cNvSpPr>
            <a:spLocks noChangeArrowheads="1"/>
          </p:cNvSpPr>
          <p:nvPr/>
        </p:nvSpPr>
        <p:spPr bwMode="auto">
          <a:xfrm>
            <a:off x="2214563" y="1520429"/>
            <a:ext cx="794147" cy="2190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74" name="Rectangle 42"/>
          <p:cNvSpPr>
            <a:spLocks noChangeArrowheads="1"/>
          </p:cNvSpPr>
          <p:nvPr/>
        </p:nvSpPr>
        <p:spPr bwMode="auto">
          <a:xfrm>
            <a:off x="3019426" y="1520429"/>
            <a:ext cx="917972" cy="2190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75" name="Rectangle 43"/>
          <p:cNvSpPr>
            <a:spLocks noChangeArrowheads="1"/>
          </p:cNvSpPr>
          <p:nvPr/>
        </p:nvSpPr>
        <p:spPr bwMode="auto">
          <a:xfrm>
            <a:off x="1414462" y="1560910"/>
            <a:ext cx="807913" cy="225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47625" tIns="19050" rIns="47625" bIns="19050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TW" sz="1350" b="1" dirty="0">
                <a:latin typeface="Arial" pitchFamily="34" charset="0"/>
              </a:rPr>
              <a:t>P1 index</a:t>
            </a:r>
          </a:p>
        </p:txBody>
      </p:sp>
      <p:sp>
        <p:nvSpPr>
          <p:cNvPr id="95276" name="Rectangle 44"/>
          <p:cNvSpPr>
            <a:spLocks noChangeArrowheads="1"/>
          </p:cNvSpPr>
          <p:nvPr/>
        </p:nvSpPr>
        <p:spPr bwMode="auto">
          <a:xfrm>
            <a:off x="2219325" y="1560910"/>
            <a:ext cx="807913" cy="225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47625" tIns="19050" rIns="47625" bIns="19050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TW" sz="1350" b="1">
                <a:latin typeface="Arial" pitchFamily="34" charset="0"/>
              </a:rPr>
              <a:t>P2 index</a:t>
            </a:r>
          </a:p>
        </p:txBody>
      </p:sp>
      <p:sp>
        <p:nvSpPr>
          <p:cNvPr id="95277" name="Rectangle 45"/>
          <p:cNvSpPr>
            <a:spLocks noChangeArrowheads="1"/>
          </p:cNvSpPr>
          <p:nvPr/>
        </p:nvSpPr>
        <p:spPr bwMode="auto">
          <a:xfrm>
            <a:off x="3024187" y="1560910"/>
            <a:ext cx="1019510" cy="225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47625" tIns="19050" rIns="47625" bIns="19050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TW" sz="1350" b="1">
                <a:latin typeface="Arial" pitchFamily="34" charset="0"/>
              </a:rPr>
              <a:t>page offset</a:t>
            </a:r>
          </a:p>
        </p:txBody>
      </p:sp>
      <p:sp>
        <p:nvSpPr>
          <p:cNvPr id="95278" name="Rectangle 46"/>
          <p:cNvSpPr>
            <a:spLocks noChangeArrowheads="1"/>
          </p:cNvSpPr>
          <p:nvPr/>
        </p:nvSpPr>
        <p:spPr bwMode="auto">
          <a:xfrm>
            <a:off x="4149329" y="2732470"/>
            <a:ext cx="692497" cy="225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47625" tIns="19050" rIns="47625" bIns="19050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zh-TW" altLang="en-US" sz="1350" b="1">
                <a:latin typeface="Arial" pitchFamily="34" charset="0"/>
              </a:rPr>
              <a:t>4 </a:t>
            </a:r>
            <a:r>
              <a:rPr kumimoji="1" lang="en-US" altLang="zh-TW" sz="1350" b="1">
                <a:latin typeface="Arial" pitchFamily="34" charset="0"/>
              </a:rPr>
              <a:t>bytes</a:t>
            </a:r>
          </a:p>
        </p:txBody>
      </p:sp>
      <p:sp>
        <p:nvSpPr>
          <p:cNvPr id="95279" name="Line 47"/>
          <p:cNvSpPr>
            <a:spLocks noChangeShapeType="1"/>
          </p:cNvSpPr>
          <p:nvPr/>
        </p:nvSpPr>
        <p:spPr bwMode="auto">
          <a:xfrm>
            <a:off x="3890963" y="2801526"/>
            <a:ext cx="247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80" name="Line 48"/>
          <p:cNvSpPr>
            <a:spLocks noChangeShapeType="1"/>
          </p:cNvSpPr>
          <p:nvPr/>
        </p:nvSpPr>
        <p:spPr bwMode="auto">
          <a:xfrm flipH="1">
            <a:off x="4757738" y="2801526"/>
            <a:ext cx="247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81" name="Rectangle 49"/>
          <p:cNvSpPr>
            <a:spLocks noChangeArrowheads="1"/>
          </p:cNvSpPr>
          <p:nvPr/>
        </p:nvSpPr>
        <p:spPr bwMode="auto">
          <a:xfrm>
            <a:off x="5635229" y="4389820"/>
            <a:ext cx="692497" cy="225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47625" tIns="19050" rIns="47625" bIns="19050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zh-TW" altLang="en-US" sz="1350" b="1" dirty="0">
                <a:latin typeface="Arial" pitchFamily="34" charset="0"/>
              </a:rPr>
              <a:t>4 </a:t>
            </a:r>
            <a:r>
              <a:rPr kumimoji="1" lang="en-US" altLang="zh-TW" sz="1350" b="1" dirty="0">
                <a:latin typeface="Arial" pitchFamily="34" charset="0"/>
              </a:rPr>
              <a:t>bytes</a:t>
            </a:r>
          </a:p>
        </p:txBody>
      </p:sp>
      <p:sp>
        <p:nvSpPr>
          <p:cNvPr id="95282" name="Line 50"/>
          <p:cNvSpPr>
            <a:spLocks noChangeShapeType="1"/>
          </p:cNvSpPr>
          <p:nvPr/>
        </p:nvSpPr>
        <p:spPr bwMode="auto">
          <a:xfrm>
            <a:off x="5376863" y="4458876"/>
            <a:ext cx="247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83" name="Line 51"/>
          <p:cNvSpPr>
            <a:spLocks noChangeShapeType="1"/>
          </p:cNvSpPr>
          <p:nvPr/>
        </p:nvSpPr>
        <p:spPr bwMode="auto">
          <a:xfrm flipH="1">
            <a:off x="6243638" y="4458876"/>
            <a:ext cx="247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5284" name="Rectangle 52"/>
          <p:cNvSpPr>
            <a:spLocks noChangeArrowheads="1"/>
          </p:cNvSpPr>
          <p:nvPr/>
        </p:nvSpPr>
        <p:spPr bwMode="auto">
          <a:xfrm>
            <a:off x="7172325" y="1365632"/>
            <a:ext cx="442429" cy="225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47625" tIns="19050" rIns="47625" bIns="19050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zh-TW" altLang="en-US" sz="1350" b="1">
                <a:latin typeface="Arial" pitchFamily="34" charset="0"/>
              </a:rPr>
              <a:t>4</a:t>
            </a:r>
            <a:r>
              <a:rPr kumimoji="1" lang="en-US" altLang="zh-TW" sz="1350" b="1">
                <a:latin typeface="Arial" pitchFamily="34" charset="0"/>
              </a:rPr>
              <a:t>KB</a:t>
            </a:r>
          </a:p>
        </p:txBody>
      </p:sp>
      <p:sp>
        <p:nvSpPr>
          <p:cNvPr id="95285" name="Rectangle 53"/>
          <p:cNvSpPr>
            <a:spLocks noChangeArrowheads="1"/>
          </p:cNvSpPr>
          <p:nvPr/>
        </p:nvSpPr>
        <p:spPr bwMode="auto">
          <a:xfrm>
            <a:off x="1662113" y="1344216"/>
            <a:ext cx="288541" cy="225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47625" tIns="19050" rIns="47625" bIns="19050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zh-TW" altLang="en-US" sz="1350" b="1">
                <a:latin typeface="Arial" pitchFamily="34" charset="0"/>
              </a:rPr>
              <a:t>10</a:t>
            </a:r>
          </a:p>
        </p:txBody>
      </p:sp>
      <p:sp>
        <p:nvSpPr>
          <p:cNvPr id="95286" name="Rectangle 54"/>
          <p:cNvSpPr>
            <a:spLocks noChangeArrowheads="1"/>
          </p:cNvSpPr>
          <p:nvPr/>
        </p:nvSpPr>
        <p:spPr bwMode="auto">
          <a:xfrm>
            <a:off x="2405063" y="1344216"/>
            <a:ext cx="288541" cy="225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47625" tIns="19050" rIns="47625" bIns="19050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zh-TW" altLang="en-US" sz="1350" b="1">
                <a:latin typeface="Arial" pitchFamily="34" charset="0"/>
              </a:rPr>
              <a:t>10</a:t>
            </a:r>
          </a:p>
        </p:txBody>
      </p:sp>
      <p:sp>
        <p:nvSpPr>
          <p:cNvPr id="95287" name="Rectangle 55"/>
          <p:cNvSpPr>
            <a:spLocks noChangeArrowheads="1"/>
          </p:cNvSpPr>
          <p:nvPr/>
        </p:nvSpPr>
        <p:spPr bwMode="auto">
          <a:xfrm>
            <a:off x="3148013" y="1344216"/>
            <a:ext cx="288541" cy="225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47625" tIns="19050" rIns="47625" bIns="19050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zh-TW" altLang="en-US" sz="1350" b="1">
                <a:latin typeface="Arial" pitchFamily="34" charset="0"/>
              </a:rPr>
              <a:t>12</a:t>
            </a:r>
          </a:p>
        </p:txBody>
      </p:sp>
      <p:sp>
        <p:nvSpPr>
          <p:cNvPr id="95288" name="Rectangle 56"/>
          <p:cNvSpPr>
            <a:spLocks noChangeArrowheads="1"/>
          </p:cNvSpPr>
          <p:nvPr/>
        </p:nvSpPr>
        <p:spPr bwMode="auto">
          <a:xfrm>
            <a:off x="4149329" y="1189420"/>
            <a:ext cx="528991" cy="412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47625" tIns="19050" rIns="47625" bIns="19050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zh-TW" altLang="en-US" sz="1350" b="1">
                <a:latin typeface="Arial" pitchFamily="34" charset="0"/>
              </a:rPr>
              <a:t>1</a:t>
            </a:r>
            <a:r>
              <a:rPr kumimoji="1" lang="en-US" altLang="zh-TW" sz="1350" b="1">
                <a:latin typeface="Arial" pitchFamily="34" charset="0"/>
              </a:rPr>
              <a:t>K</a:t>
            </a:r>
          </a:p>
          <a:p>
            <a:pPr>
              <a:lnSpc>
                <a:spcPct val="90000"/>
              </a:lnSpc>
            </a:pPr>
            <a:r>
              <a:rPr kumimoji="1" lang="en-US" altLang="zh-TW" sz="1350" b="1">
                <a:latin typeface="Arial" pitchFamily="34" charset="0"/>
              </a:rPr>
              <a:t>PTEs</a:t>
            </a:r>
          </a:p>
        </p:txBody>
      </p:sp>
      <p:sp>
        <p:nvSpPr>
          <p:cNvPr id="95289" name="Rectangle 57"/>
          <p:cNvSpPr>
            <a:spLocks noChangeArrowheads="1"/>
          </p:cNvSpPr>
          <p:nvPr/>
        </p:nvSpPr>
        <p:spPr bwMode="auto">
          <a:xfrm>
            <a:off x="1228725" y="2146697"/>
            <a:ext cx="2732485" cy="1606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7625" tIns="19050" rIns="47625" bIns="19050">
            <a:spAutoFit/>
          </a:bodyPr>
          <a:lstStyle/>
          <a:p>
            <a:pPr marL="146447" indent="-146447">
              <a:lnSpc>
                <a:spcPct val="85000"/>
              </a:lnSpc>
              <a:spcBef>
                <a:spcPct val="15000"/>
              </a:spcBef>
              <a:buFont typeface="Monotype Sorts" pitchFamily="2" charset="2"/>
              <a:buChar char="m"/>
            </a:pPr>
            <a:r>
              <a:rPr kumimoji="1" lang="en-US" altLang="zh-TW" sz="1350" b="1" dirty="0">
                <a:latin typeface="Century Gothic" pitchFamily="34" charset="0"/>
              </a:rPr>
              <a:t>4 GB virtual address space</a:t>
            </a:r>
          </a:p>
          <a:p>
            <a:pPr marL="146447" indent="-146447">
              <a:lnSpc>
                <a:spcPct val="85000"/>
              </a:lnSpc>
              <a:spcBef>
                <a:spcPct val="15000"/>
              </a:spcBef>
              <a:buFont typeface="Monotype Sorts" pitchFamily="2" charset="2"/>
              <a:buChar char="m"/>
            </a:pPr>
            <a:r>
              <a:rPr kumimoji="1" lang="en-US" altLang="zh-TW" sz="1350" b="1" dirty="0">
                <a:latin typeface="Century Gothic" pitchFamily="34" charset="0"/>
              </a:rPr>
              <a:t>4 KB of PTE1</a:t>
            </a:r>
          </a:p>
          <a:p>
            <a:pPr marL="146447" indent="-146447">
              <a:lnSpc>
                <a:spcPct val="85000"/>
              </a:lnSpc>
              <a:spcBef>
                <a:spcPct val="15000"/>
              </a:spcBef>
            </a:pPr>
            <a:r>
              <a:rPr kumimoji="1" lang="en-US" altLang="zh-TW" sz="1350" b="1" dirty="0">
                <a:latin typeface="Century Gothic" pitchFamily="34" charset="0"/>
              </a:rPr>
              <a:t> (Each entry indicate if any page in the segment is allocated)</a:t>
            </a:r>
          </a:p>
          <a:p>
            <a:pPr marL="146447" indent="-146447">
              <a:lnSpc>
                <a:spcPct val="85000"/>
              </a:lnSpc>
              <a:spcBef>
                <a:spcPct val="15000"/>
              </a:spcBef>
              <a:buFont typeface="Monotype Sorts" pitchFamily="2" charset="2"/>
              <a:buChar char="m"/>
            </a:pPr>
            <a:r>
              <a:rPr kumimoji="1" lang="en-US" altLang="zh-TW" sz="1350" b="1" dirty="0">
                <a:latin typeface="Century Gothic" pitchFamily="34" charset="0"/>
              </a:rPr>
              <a:t>4 MB of PTE2</a:t>
            </a:r>
          </a:p>
          <a:p>
            <a:pPr marL="504825" lvl="1" indent="-215504">
              <a:lnSpc>
                <a:spcPct val="85000"/>
              </a:lnSpc>
              <a:spcBef>
                <a:spcPct val="15000"/>
              </a:spcBef>
              <a:buSzPct val="70000"/>
              <a:buFont typeface="Monotype Sorts" pitchFamily="2" charset="2"/>
              <a:buChar char="l"/>
            </a:pPr>
            <a:r>
              <a:rPr kumimoji="1" lang="en-US" altLang="zh-TW" sz="1350" b="1" dirty="0">
                <a:latin typeface="Century Gothic" pitchFamily="34" charset="0"/>
              </a:rPr>
              <a:t>paged, holes</a:t>
            </a:r>
          </a:p>
          <a:p>
            <a:pPr marL="504825" lvl="1" indent="-215504">
              <a:lnSpc>
                <a:spcPct val="85000"/>
              </a:lnSpc>
              <a:spcBef>
                <a:spcPct val="15000"/>
              </a:spcBef>
              <a:buSzPct val="70000"/>
              <a:buFont typeface="Monotype Sorts" pitchFamily="2" charset="2"/>
              <a:buChar char="l"/>
            </a:pPr>
            <a:endParaRPr kumimoji="1" lang="en-US" altLang="zh-TW" sz="1350" b="1" dirty="0">
              <a:latin typeface="Century Gothic" pitchFamily="34" charset="0"/>
            </a:endParaRPr>
          </a:p>
        </p:txBody>
      </p:sp>
      <p:sp>
        <p:nvSpPr>
          <p:cNvPr id="95290" name="Rectangle 58"/>
          <p:cNvSpPr>
            <a:spLocks noChangeArrowheads="1"/>
          </p:cNvSpPr>
          <p:nvPr/>
        </p:nvSpPr>
        <p:spPr bwMode="auto">
          <a:xfrm>
            <a:off x="1104900" y="4367213"/>
            <a:ext cx="4100481" cy="25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47625" tIns="19050" rIns="47625" bIns="19050">
            <a:spAutoFit/>
          </a:bodyPr>
          <a:lstStyle/>
          <a:p>
            <a:pPr>
              <a:lnSpc>
                <a:spcPct val="85000"/>
              </a:lnSpc>
            </a:pPr>
            <a:r>
              <a:rPr kumimoji="1" lang="en-US" altLang="zh-TW" sz="1650" b="1" i="1">
                <a:latin typeface="Century Gothic" pitchFamily="34" charset="0"/>
              </a:rPr>
              <a:t>What about a 48-64 bit address space?</a:t>
            </a:r>
          </a:p>
        </p:txBody>
      </p:sp>
      <p:sp>
        <p:nvSpPr>
          <p:cNvPr id="95291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B061D505-BD56-472A-ADC3-7E4078F6703E}" type="slidenum">
              <a:rPr lang="zh-TW" altLang="en-US"/>
              <a:pPr defTabSz="571500"/>
              <a:t>25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15322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70961" y="129780"/>
            <a:ext cx="6758577" cy="426402"/>
          </a:xfrm>
        </p:spPr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6375" y="820132"/>
            <a:ext cx="7588578" cy="360103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/>
              <a:t>Virtual memory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Basics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Issues in virtual memory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Handling huge page table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solidFill>
                  <a:srgbClr val="FF0000"/>
                </a:solidFill>
              </a:rPr>
              <a:t>TLB (Translation </a:t>
            </a:r>
            <a:r>
              <a:rPr lang="en-US" altLang="zh-TW" dirty="0" err="1">
                <a:solidFill>
                  <a:srgbClr val="FF0000"/>
                </a:solidFill>
              </a:rPr>
              <a:t>Lookaside</a:t>
            </a:r>
            <a:r>
              <a:rPr lang="en-US" altLang="zh-TW" dirty="0">
                <a:solidFill>
                  <a:srgbClr val="FF0000"/>
                </a:solidFill>
              </a:rPr>
              <a:t> Buffer)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TLB and cache</a:t>
            </a:r>
          </a:p>
          <a:p>
            <a:pPr>
              <a:spcBef>
                <a:spcPts val="0"/>
              </a:spcBef>
            </a:pPr>
            <a:r>
              <a:rPr lang="en-US" altLang="zh-TW" dirty="0"/>
              <a:t>A common framework for memory hierarchy</a:t>
            </a:r>
          </a:p>
          <a:p>
            <a:r>
              <a:rPr lang="en-US" altLang="zh-TW" dirty="0"/>
              <a:t>Using a Finite State Machine to Control a Simple Cache</a:t>
            </a:r>
          </a:p>
          <a:p>
            <a:r>
              <a:rPr lang="en-US" altLang="zh-TW" dirty="0"/>
              <a:t>Parallelism and Memory Hierarchies: Cache Coherence</a:t>
            </a:r>
          </a:p>
          <a:p>
            <a:pPr>
              <a:spcBef>
                <a:spcPts val="0"/>
              </a:spcBef>
            </a:pPr>
            <a:endParaRPr lang="en-US" altLang="zh-TW" dirty="0"/>
          </a:p>
        </p:txBody>
      </p:sp>
      <p:sp>
        <p:nvSpPr>
          <p:cNvPr id="6148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557213" indent="-214313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8572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2001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15430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18859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2288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25717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29146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fld id="{21079BBA-C287-4BD2-9D77-9C0655332BFF}" type="slidenum">
              <a:rPr kumimoji="0" lang="zh-TW" altLang="en-US" sz="1050">
                <a:solidFill>
                  <a:schemeClr val="bg1"/>
                </a:solidFill>
                <a:latin typeface="Arial" pitchFamily="34" charset="0"/>
              </a:rPr>
              <a:pPr/>
              <a:t>26</a:t>
            </a:fld>
            <a:endParaRPr kumimoji="0" lang="en-US" altLang="zh-TW" sz="105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4902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80828" y="815112"/>
            <a:ext cx="7060235" cy="3594656"/>
          </a:xfrm>
        </p:spPr>
        <p:txBody>
          <a:bodyPr/>
          <a:lstStyle/>
          <a:p>
            <a:r>
              <a:rPr lang="en-US" altLang="zh-TW" sz="2000" dirty="0"/>
              <a:t>Each memory operation (instruction fetch, load, store) requires a page-table access</a:t>
            </a:r>
          </a:p>
          <a:p>
            <a:pPr lvl="1"/>
            <a:r>
              <a:rPr lang="en-US" altLang="zh-TW" sz="1800" dirty="0"/>
              <a:t>Basically double number of memory operations</a:t>
            </a:r>
          </a:p>
          <a:p>
            <a:pPr lvl="1"/>
            <a:r>
              <a:rPr lang="en-US" altLang="zh-TW" sz="1800" dirty="0"/>
              <a:t>One to access the PTE</a:t>
            </a:r>
          </a:p>
          <a:p>
            <a:pPr lvl="1"/>
            <a:r>
              <a:rPr lang="en-US" altLang="zh-TW" sz="1800" dirty="0"/>
              <a:t>Then the actual memory access</a:t>
            </a:r>
          </a:p>
          <a:p>
            <a:pPr lvl="1"/>
            <a:endParaRPr lang="en-US" altLang="zh-TW" sz="1800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title"/>
          </p:nvPr>
        </p:nvSpPr>
        <p:spPr>
          <a:xfrm>
            <a:off x="886121" y="129780"/>
            <a:ext cx="7352906" cy="492390"/>
          </a:xfrm>
        </p:spPr>
        <p:txBody>
          <a:bodyPr/>
          <a:lstStyle/>
          <a:p>
            <a:r>
              <a:rPr lang="en-US" altLang="zh-TW" dirty="0"/>
              <a:t>Impact of Paging - More Memory Access</a:t>
            </a:r>
          </a:p>
        </p:txBody>
      </p:sp>
      <p:sp>
        <p:nvSpPr>
          <p:cNvPr id="97284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D85F9A3F-7650-46C8-885A-24CC8D73ECAD}" type="slidenum">
              <a:rPr lang="zh-TW" altLang="en-US"/>
              <a:pPr defTabSz="571500"/>
              <a:t>27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44351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942681" y="129780"/>
            <a:ext cx="6786858" cy="492390"/>
          </a:xfrm>
        </p:spPr>
        <p:txBody>
          <a:bodyPr/>
          <a:lstStyle/>
          <a:p>
            <a:r>
              <a:rPr lang="en-US" altLang="zh-TW" dirty="0"/>
              <a:t>Translation Lookaside Buffer (TLB)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802" y="852820"/>
            <a:ext cx="7004116" cy="3549574"/>
          </a:xfrm>
        </p:spPr>
        <p:txBody>
          <a:bodyPr/>
          <a:lstStyle/>
          <a:p>
            <a:r>
              <a:rPr lang="en-US" altLang="zh-TW" sz="2000" dirty="0"/>
              <a:t>Access to page tables has good locality</a:t>
            </a:r>
          </a:p>
          <a:p>
            <a:pPr lvl="1"/>
            <a:r>
              <a:rPr lang="en-US" altLang="zh-TW" sz="1800" dirty="0"/>
              <a:t>Fast cache of PTEs within the CPU</a:t>
            </a:r>
          </a:p>
          <a:p>
            <a:pPr lvl="1"/>
            <a:r>
              <a:rPr lang="en-US" altLang="zh-TW" sz="1800" dirty="0"/>
              <a:t>Called a Translation Look-aside Buffer (TLB)</a:t>
            </a:r>
            <a:endParaRPr lang="en-US" altLang="zh-TW" dirty="0"/>
          </a:p>
          <a:p>
            <a:r>
              <a:rPr lang="en-US" altLang="zh-TW" sz="2000" dirty="0"/>
              <a:t>Typical RISC processors have memory management unit (MMU) which includes TLB that does page table lookup</a:t>
            </a:r>
            <a:endParaRPr lang="en-US" altLang="zh-TW" dirty="0"/>
          </a:p>
          <a:p>
            <a:pPr lvl="1"/>
            <a:r>
              <a:rPr lang="en-US" altLang="zh-TW" sz="1800" dirty="0"/>
              <a:t>TLB can be organized as fully associative, set associative, or direct mapped</a:t>
            </a:r>
          </a:p>
          <a:p>
            <a:pPr lvl="1"/>
            <a:r>
              <a:rPr lang="en-US" altLang="zh-TW" sz="1800" dirty="0"/>
              <a:t>TLBs are small, typically 16–512 PTEs, 0.5–1 cycle for hit, 10–100 cycles for miss, 0.01%–1% miss rate</a:t>
            </a:r>
          </a:p>
          <a:p>
            <a:pPr lvl="1"/>
            <a:r>
              <a:rPr lang="en-US" altLang="zh-TW" sz="1800" dirty="0"/>
              <a:t>Misses could be handled by hardware or software</a:t>
            </a:r>
          </a:p>
        </p:txBody>
      </p:sp>
      <p:sp>
        <p:nvSpPr>
          <p:cNvPr id="100356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D1BAE5FF-9D6D-431A-8B78-1E85B141FCA5}" type="slidenum">
              <a:rPr lang="zh-TW" altLang="en-US"/>
              <a:pPr defTabSz="571500"/>
              <a:t>28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1643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8918" y="990706"/>
            <a:ext cx="5932884" cy="362069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99331" name="Rectangle 3"/>
          <p:cNvSpPr>
            <a:spLocks noGrp="1" noChangeArrowheads="1"/>
          </p:cNvSpPr>
          <p:nvPr>
            <p:ph type="title"/>
          </p:nvPr>
        </p:nvSpPr>
        <p:spPr>
          <a:xfrm>
            <a:off x="904973" y="129780"/>
            <a:ext cx="7909089" cy="484582"/>
          </a:xfrm>
        </p:spPr>
        <p:txBody>
          <a:bodyPr/>
          <a:lstStyle/>
          <a:p>
            <a:r>
              <a:rPr lang="en-US" altLang="zh-TW" sz="2400" dirty="0"/>
              <a:t>Fast Translation Using TLB (Translation Lookaside Buffer)</a:t>
            </a:r>
          </a:p>
        </p:txBody>
      </p:sp>
      <p:sp>
        <p:nvSpPr>
          <p:cNvPr id="99333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FE633AB7-0984-4842-95AA-E01BE06CB513}" type="slidenum">
              <a:rPr lang="zh-TW" altLang="en-US"/>
              <a:pPr defTabSz="571500"/>
              <a:t>29</a:t>
            </a:fld>
            <a:endParaRPr lang="en-US" altLang="zh-TW"/>
          </a:p>
        </p:txBody>
      </p:sp>
      <p:sp>
        <p:nvSpPr>
          <p:cNvPr id="99335" name="Text Box 5"/>
          <p:cNvSpPr txBox="1">
            <a:spLocks noChangeArrowheads="1"/>
          </p:cNvSpPr>
          <p:nvPr/>
        </p:nvSpPr>
        <p:spPr bwMode="auto">
          <a:xfrm>
            <a:off x="3141262" y="724585"/>
            <a:ext cx="558166" cy="3231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500" b="1" dirty="0">
                <a:solidFill>
                  <a:schemeClr val="folHlink"/>
                </a:solidFill>
              </a:rPr>
              <a:t>TLB</a:t>
            </a:r>
          </a:p>
        </p:txBody>
      </p:sp>
    </p:spTree>
    <p:extLst>
      <p:ext uri="{BB962C8B-B14F-4D97-AF65-F5344CB8AC3E}">
        <p14:creationId xmlns:p14="http://schemas.microsoft.com/office/powerpoint/2010/main" val="25623304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895547" y="129780"/>
            <a:ext cx="6833992" cy="492390"/>
          </a:xfrm>
        </p:spPr>
        <p:txBody>
          <a:bodyPr/>
          <a:lstStyle/>
          <a:p>
            <a:r>
              <a:rPr lang="en-US" altLang="zh-TW" dirty="0"/>
              <a:t>TLB Hit 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546" y="844153"/>
            <a:ext cx="7791253" cy="2445802"/>
          </a:xfrm>
        </p:spPr>
        <p:txBody>
          <a:bodyPr/>
          <a:lstStyle/>
          <a:p>
            <a:r>
              <a:rPr lang="en-US" altLang="zh-TW" dirty="0"/>
              <a:t>TLB hit on read</a:t>
            </a:r>
          </a:p>
          <a:p>
            <a:r>
              <a:rPr lang="en-US" altLang="zh-TW" dirty="0"/>
              <a:t>TLB hit on write</a:t>
            </a:r>
          </a:p>
          <a:p>
            <a:pPr lvl="1"/>
            <a:r>
              <a:rPr lang="en-US" altLang="zh-TW" dirty="0"/>
              <a:t>Toggle dirty bit (write back to page table on replacement)</a:t>
            </a:r>
          </a:p>
        </p:txBody>
      </p:sp>
      <p:sp>
        <p:nvSpPr>
          <p:cNvPr id="101380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6D4DE1BB-12E8-4A4A-AB3B-6914C47415A1}" type="slidenum">
              <a:rPr lang="zh-TW" altLang="en-US"/>
              <a:pPr defTabSz="571500"/>
              <a:t>30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67063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904973" y="129780"/>
            <a:ext cx="6824565" cy="464110"/>
          </a:xfrm>
        </p:spPr>
        <p:txBody>
          <a:bodyPr/>
          <a:lstStyle/>
          <a:p>
            <a:r>
              <a:rPr lang="en-US" altLang="zh-TW" dirty="0"/>
              <a:t>TLB Miss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972" y="844153"/>
            <a:ext cx="7781827" cy="3671888"/>
          </a:xfrm>
        </p:spPr>
        <p:txBody>
          <a:bodyPr/>
          <a:lstStyle/>
          <a:p>
            <a:r>
              <a:rPr lang="en-US" altLang="zh-TW" dirty="0"/>
              <a:t>If page is in memory</a:t>
            </a:r>
          </a:p>
          <a:p>
            <a:pPr lvl="1"/>
            <a:r>
              <a:rPr lang="en-US" altLang="zh-TW" dirty="0"/>
              <a:t>Load the PTE from memory and retry</a:t>
            </a:r>
          </a:p>
          <a:p>
            <a:pPr lvl="1"/>
            <a:r>
              <a:rPr lang="en-US" altLang="zh-TW" dirty="0"/>
              <a:t>Could be handled in hardware</a:t>
            </a:r>
          </a:p>
          <a:p>
            <a:pPr lvl="2"/>
            <a:r>
              <a:rPr lang="en-US" altLang="zh-TW" dirty="0"/>
              <a:t>Can get complex for more complicated page table structures</a:t>
            </a:r>
          </a:p>
          <a:p>
            <a:pPr lvl="1"/>
            <a:r>
              <a:rPr lang="en-US" altLang="zh-TW" dirty="0"/>
              <a:t>Or in software</a:t>
            </a:r>
          </a:p>
          <a:p>
            <a:pPr lvl="2"/>
            <a:r>
              <a:rPr lang="en-US" altLang="zh-TW" dirty="0"/>
              <a:t>Raise a special exception, with optimized handler</a:t>
            </a:r>
          </a:p>
          <a:p>
            <a:r>
              <a:rPr lang="en-US" altLang="zh-TW" dirty="0"/>
              <a:t>If page is not in memory (page fault)</a:t>
            </a:r>
          </a:p>
          <a:p>
            <a:pPr lvl="1"/>
            <a:r>
              <a:rPr lang="en-US" altLang="zh-TW" dirty="0"/>
              <a:t>OS fetches the page and updates the page table (software)</a:t>
            </a:r>
          </a:p>
          <a:p>
            <a:pPr lvl="1"/>
            <a:r>
              <a:rPr lang="en-US" altLang="zh-TW" dirty="0"/>
              <a:t>Then restarts the faulting instruction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102404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499F827B-45A0-4BFD-A8AF-39B394D3E373}" type="slidenum">
              <a:rPr lang="zh-TW" altLang="en-US"/>
              <a:pPr defTabSz="571500"/>
              <a:t>31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228898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70961" y="129780"/>
            <a:ext cx="6758577" cy="426402"/>
          </a:xfrm>
        </p:spPr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6375" y="820132"/>
            <a:ext cx="7381188" cy="360103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/>
              <a:t>Virtual memory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Basics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Issues in virtual memory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Handling huge page table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TLB (Translation </a:t>
            </a:r>
            <a:r>
              <a:rPr lang="en-US" altLang="zh-TW" dirty="0" err="1"/>
              <a:t>Lookaside</a:t>
            </a:r>
            <a:r>
              <a:rPr lang="en-US" altLang="zh-TW" dirty="0"/>
              <a:t> Buffer)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solidFill>
                  <a:srgbClr val="FF0000"/>
                </a:solidFill>
              </a:rPr>
              <a:t>TLB and cache</a:t>
            </a:r>
          </a:p>
          <a:p>
            <a:pPr>
              <a:spcBef>
                <a:spcPts val="0"/>
              </a:spcBef>
            </a:pPr>
            <a:r>
              <a:rPr lang="en-US" altLang="zh-TW" dirty="0"/>
              <a:t>A common framework for memory hierarchy</a:t>
            </a:r>
          </a:p>
          <a:p>
            <a:r>
              <a:rPr lang="en-US" altLang="zh-TW" dirty="0"/>
              <a:t>Using a Finite State Machine to Control a Simple Cache</a:t>
            </a:r>
          </a:p>
          <a:p>
            <a:r>
              <a:rPr lang="en-US" altLang="zh-TW" dirty="0"/>
              <a:t>Parallelism and Memory Hierarchies: Cache Coherence</a:t>
            </a:r>
          </a:p>
          <a:p>
            <a:pPr>
              <a:spcBef>
                <a:spcPts val="0"/>
              </a:spcBef>
            </a:pPr>
            <a:endParaRPr lang="en-US" altLang="zh-TW" dirty="0"/>
          </a:p>
        </p:txBody>
      </p:sp>
      <p:sp>
        <p:nvSpPr>
          <p:cNvPr id="6148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557213" indent="-214313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8572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2001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15430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18859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2288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25717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29146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fld id="{21079BBA-C287-4BD2-9D77-9C0655332BFF}" type="slidenum">
              <a:rPr kumimoji="0" lang="zh-TW" altLang="en-US" sz="1050">
                <a:solidFill>
                  <a:schemeClr val="bg1"/>
                </a:solidFill>
                <a:latin typeface="Arial" pitchFamily="34" charset="0"/>
              </a:rPr>
              <a:pPr/>
              <a:t>32</a:t>
            </a:fld>
            <a:endParaRPr kumimoji="0" lang="en-US" altLang="zh-TW" sz="105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7291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923827" y="129779"/>
            <a:ext cx="7579150" cy="488157"/>
          </a:xfrm>
        </p:spPr>
        <p:txBody>
          <a:bodyPr/>
          <a:lstStyle/>
          <a:p>
            <a:r>
              <a:rPr lang="en-US" altLang="zh-TW" dirty="0"/>
              <a:t>Making Address Translation Practical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827" y="797279"/>
            <a:ext cx="7762973" cy="1274245"/>
          </a:xfrm>
        </p:spPr>
        <p:txBody>
          <a:bodyPr/>
          <a:lstStyle/>
          <a:p>
            <a:r>
              <a:rPr lang="en-US" altLang="zh-TW" sz="2000" dirty="0"/>
              <a:t>In VM, memory acts like a cache for disk</a:t>
            </a:r>
          </a:p>
          <a:p>
            <a:pPr lvl="1"/>
            <a:r>
              <a:rPr lang="en-US" altLang="zh-TW" sz="1800" dirty="0"/>
              <a:t>Page table maps virtual page numbers to physical frames</a:t>
            </a:r>
          </a:p>
          <a:p>
            <a:pPr lvl="1"/>
            <a:r>
              <a:rPr lang="en-US" altLang="zh-TW" sz="1800" dirty="0"/>
              <a:t>Use a page table cache for recent translation</a:t>
            </a:r>
            <a:br>
              <a:rPr lang="en-US" altLang="zh-TW" sz="1800" dirty="0"/>
            </a:br>
            <a:r>
              <a:rPr lang="en-US" altLang="zh-TW" sz="1800" dirty="0"/>
              <a:t>=&gt; </a:t>
            </a:r>
            <a:r>
              <a:rPr lang="en-US" altLang="zh-TW" sz="1800" dirty="0">
                <a:solidFill>
                  <a:srgbClr val="FF0000"/>
                </a:solidFill>
              </a:rPr>
              <a:t>Translation Lookaside Buffer (TLB)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38DC50E-9649-45E0-AC47-9FA6559529FF}"/>
              </a:ext>
            </a:extLst>
          </p:cNvPr>
          <p:cNvGrpSpPr/>
          <p:nvPr/>
        </p:nvGrpSpPr>
        <p:grpSpPr>
          <a:xfrm>
            <a:off x="1423218" y="2344993"/>
            <a:ext cx="5906730" cy="2175149"/>
            <a:chOff x="1156098" y="2152930"/>
            <a:chExt cx="6604396" cy="2501210"/>
          </a:xfrm>
        </p:grpSpPr>
        <p:sp>
          <p:nvSpPr>
            <p:cNvPr id="106500" name="Line 4"/>
            <p:cNvSpPr>
              <a:spLocks noChangeShapeType="1"/>
            </p:cNvSpPr>
            <p:nvPr/>
          </p:nvSpPr>
          <p:spPr bwMode="auto">
            <a:xfrm>
              <a:off x="2456260" y="2382720"/>
              <a:ext cx="8155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01" name="Line 5"/>
            <p:cNvSpPr>
              <a:spLocks noChangeShapeType="1"/>
            </p:cNvSpPr>
            <p:nvPr/>
          </p:nvSpPr>
          <p:spPr bwMode="auto">
            <a:xfrm>
              <a:off x="3271838" y="2382720"/>
              <a:ext cx="0" cy="714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02" name="Line 6"/>
            <p:cNvSpPr>
              <a:spLocks noChangeShapeType="1"/>
            </p:cNvSpPr>
            <p:nvPr/>
          </p:nvSpPr>
          <p:spPr bwMode="auto">
            <a:xfrm flipH="1">
              <a:off x="2436019" y="3116145"/>
              <a:ext cx="83581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03" name="Rectangle 7"/>
            <p:cNvSpPr>
              <a:spLocks noChangeArrowheads="1"/>
            </p:cNvSpPr>
            <p:nvPr/>
          </p:nvSpPr>
          <p:spPr bwMode="auto">
            <a:xfrm>
              <a:off x="2508648" y="2667280"/>
              <a:ext cx="469593" cy="2247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CPU</a:t>
              </a:r>
            </a:p>
          </p:txBody>
        </p:sp>
        <p:sp>
          <p:nvSpPr>
            <p:cNvPr id="106504" name="Rectangle 8"/>
            <p:cNvSpPr>
              <a:spLocks noChangeArrowheads="1"/>
            </p:cNvSpPr>
            <p:nvPr/>
          </p:nvSpPr>
          <p:spPr bwMode="auto">
            <a:xfrm>
              <a:off x="3808810" y="2411295"/>
              <a:ext cx="866775" cy="6762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9056" tIns="34529" rIns="69056" bIns="34529" anchor="ctr"/>
            <a:lstStyle/>
            <a:p>
              <a:pPr algn="ctr"/>
              <a:r>
                <a:rPr kumimoji="1" lang="en-US" altLang="zh-TW" sz="1200" b="1" dirty="0">
                  <a:latin typeface="Arial" pitchFamily="34" charset="0"/>
                </a:rPr>
                <a:t>TLB</a:t>
              </a:r>
            </a:p>
            <a:p>
              <a:pPr algn="ctr"/>
              <a:r>
                <a:rPr kumimoji="1" lang="en-US" altLang="zh-TW" sz="1200" b="1" dirty="0">
                  <a:latin typeface="Arial" pitchFamily="34" charset="0"/>
                </a:rPr>
                <a:t>Lookup</a:t>
              </a:r>
            </a:p>
          </p:txBody>
        </p:sp>
        <p:sp>
          <p:nvSpPr>
            <p:cNvPr id="106505" name="Rectangle 9"/>
            <p:cNvSpPr>
              <a:spLocks noChangeArrowheads="1"/>
            </p:cNvSpPr>
            <p:nvPr/>
          </p:nvSpPr>
          <p:spPr bwMode="auto">
            <a:xfrm>
              <a:off x="5294710" y="2411295"/>
              <a:ext cx="866775" cy="6762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9056" tIns="34529" rIns="69056" bIns="34529" anchor="ctr"/>
            <a:lstStyle/>
            <a:p>
              <a:pPr algn="ctr"/>
              <a:r>
                <a:rPr kumimoji="1" lang="en-US" altLang="zh-TW" sz="1200" b="1">
                  <a:latin typeface="Arial" pitchFamily="34" charset="0"/>
                </a:rPr>
                <a:t>Cache</a:t>
              </a:r>
            </a:p>
          </p:txBody>
        </p:sp>
        <p:sp>
          <p:nvSpPr>
            <p:cNvPr id="106506" name="Rectangle 10"/>
            <p:cNvSpPr>
              <a:spLocks noChangeArrowheads="1"/>
            </p:cNvSpPr>
            <p:nvPr/>
          </p:nvSpPr>
          <p:spPr bwMode="auto">
            <a:xfrm>
              <a:off x="6893719" y="2420820"/>
              <a:ext cx="866775" cy="6762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9056" tIns="34529" rIns="69056" bIns="34529" anchor="ctr"/>
            <a:lstStyle/>
            <a:p>
              <a:pPr algn="ctr"/>
              <a:r>
                <a:rPr kumimoji="1" lang="en-US" altLang="zh-TW" sz="1200" b="1">
                  <a:latin typeface="Arial" pitchFamily="34" charset="0"/>
                </a:rPr>
                <a:t>Main</a:t>
              </a:r>
            </a:p>
            <a:p>
              <a:pPr algn="ctr"/>
              <a:r>
                <a:rPr kumimoji="1" lang="en-US" altLang="zh-TW" sz="1200" b="1">
                  <a:latin typeface="Arial" pitchFamily="34" charset="0"/>
                </a:rPr>
                <a:t>Memory</a:t>
              </a:r>
            </a:p>
          </p:txBody>
        </p:sp>
        <p:sp>
          <p:nvSpPr>
            <p:cNvPr id="106507" name="Line 11"/>
            <p:cNvSpPr>
              <a:spLocks noChangeShapeType="1"/>
            </p:cNvSpPr>
            <p:nvPr/>
          </p:nvSpPr>
          <p:spPr bwMode="auto">
            <a:xfrm>
              <a:off x="3271838" y="2516070"/>
              <a:ext cx="5262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08" name="Line 12"/>
            <p:cNvSpPr>
              <a:spLocks noChangeShapeType="1"/>
            </p:cNvSpPr>
            <p:nvPr/>
          </p:nvSpPr>
          <p:spPr bwMode="auto">
            <a:xfrm>
              <a:off x="4664869" y="2516070"/>
              <a:ext cx="6191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09" name="Line 13"/>
            <p:cNvSpPr>
              <a:spLocks noChangeShapeType="1"/>
            </p:cNvSpPr>
            <p:nvPr/>
          </p:nvSpPr>
          <p:spPr bwMode="auto">
            <a:xfrm>
              <a:off x="6161485" y="2497020"/>
              <a:ext cx="72151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10" name="Line 14"/>
            <p:cNvSpPr>
              <a:spLocks noChangeShapeType="1"/>
            </p:cNvSpPr>
            <p:nvPr/>
          </p:nvSpPr>
          <p:spPr bwMode="auto">
            <a:xfrm flipH="1">
              <a:off x="6718698" y="2982795"/>
              <a:ext cx="1643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11" name="Line 15"/>
            <p:cNvSpPr>
              <a:spLocks noChangeShapeType="1"/>
            </p:cNvSpPr>
            <p:nvPr/>
          </p:nvSpPr>
          <p:spPr bwMode="auto">
            <a:xfrm flipH="1">
              <a:off x="6707981" y="2982795"/>
              <a:ext cx="10716" cy="1343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12" name="Line 16"/>
            <p:cNvSpPr>
              <a:spLocks noChangeShapeType="1"/>
            </p:cNvSpPr>
            <p:nvPr/>
          </p:nvSpPr>
          <p:spPr bwMode="auto">
            <a:xfrm flipH="1">
              <a:off x="3488532" y="4325820"/>
              <a:ext cx="1589485" cy="95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13" name="Line 17"/>
            <p:cNvSpPr>
              <a:spLocks noChangeShapeType="1"/>
            </p:cNvSpPr>
            <p:nvPr/>
          </p:nvSpPr>
          <p:spPr bwMode="auto">
            <a:xfrm flipV="1">
              <a:off x="3468291" y="3030420"/>
              <a:ext cx="9525" cy="12858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14" name="Line 18"/>
            <p:cNvSpPr>
              <a:spLocks noChangeShapeType="1"/>
            </p:cNvSpPr>
            <p:nvPr/>
          </p:nvSpPr>
          <p:spPr bwMode="auto">
            <a:xfrm flipH="1">
              <a:off x="3271837" y="3030420"/>
              <a:ext cx="2059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15" name="Line 19"/>
            <p:cNvSpPr>
              <a:spLocks noChangeShapeType="1"/>
            </p:cNvSpPr>
            <p:nvPr/>
          </p:nvSpPr>
          <p:spPr bwMode="auto">
            <a:xfrm flipV="1">
              <a:off x="6367463" y="3001845"/>
              <a:ext cx="10716" cy="1295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16" name="Line 20"/>
            <p:cNvSpPr>
              <a:spLocks noChangeShapeType="1"/>
            </p:cNvSpPr>
            <p:nvPr/>
          </p:nvSpPr>
          <p:spPr bwMode="auto">
            <a:xfrm flipH="1">
              <a:off x="6171010" y="3001845"/>
              <a:ext cx="2071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17" name="Line 21"/>
            <p:cNvSpPr>
              <a:spLocks noChangeShapeType="1"/>
            </p:cNvSpPr>
            <p:nvPr/>
          </p:nvSpPr>
          <p:spPr bwMode="auto">
            <a:xfrm flipH="1">
              <a:off x="5087541" y="2982795"/>
              <a:ext cx="1964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18" name="Line 22"/>
            <p:cNvSpPr>
              <a:spLocks noChangeShapeType="1"/>
            </p:cNvSpPr>
            <p:nvPr/>
          </p:nvSpPr>
          <p:spPr bwMode="auto">
            <a:xfrm flipH="1">
              <a:off x="5078016" y="2982795"/>
              <a:ext cx="9525" cy="1333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19" name="Oval 23"/>
            <p:cNvSpPr>
              <a:spLocks noChangeArrowheads="1"/>
            </p:cNvSpPr>
            <p:nvPr/>
          </p:nvSpPr>
          <p:spPr bwMode="auto">
            <a:xfrm>
              <a:off x="6356748" y="4316295"/>
              <a:ext cx="21431" cy="28575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20" name="Rectangle 24"/>
            <p:cNvSpPr>
              <a:spLocks noChangeArrowheads="1"/>
            </p:cNvSpPr>
            <p:nvPr/>
          </p:nvSpPr>
          <p:spPr bwMode="auto">
            <a:xfrm>
              <a:off x="3302794" y="2324381"/>
              <a:ext cx="333161" cy="2247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VA</a:t>
              </a:r>
            </a:p>
          </p:txBody>
        </p:sp>
        <p:sp>
          <p:nvSpPr>
            <p:cNvPr id="106521" name="Rectangle 25"/>
            <p:cNvSpPr>
              <a:spLocks noChangeArrowheads="1"/>
            </p:cNvSpPr>
            <p:nvPr/>
          </p:nvSpPr>
          <p:spPr bwMode="auto">
            <a:xfrm>
              <a:off x="4695826" y="2324381"/>
              <a:ext cx="333161" cy="2247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PA</a:t>
              </a:r>
            </a:p>
          </p:txBody>
        </p:sp>
        <p:sp>
          <p:nvSpPr>
            <p:cNvPr id="106522" name="Rectangle 26"/>
            <p:cNvSpPr>
              <a:spLocks noChangeArrowheads="1"/>
            </p:cNvSpPr>
            <p:nvPr/>
          </p:nvSpPr>
          <p:spPr bwMode="auto">
            <a:xfrm>
              <a:off x="6212682" y="2305330"/>
              <a:ext cx="498271" cy="2247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miss</a:t>
              </a:r>
            </a:p>
          </p:txBody>
        </p:sp>
        <p:sp>
          <p:nvSpPr>
            <p:cNvPr id="106523" name="Rectangle 27"/>
            <p:cNvSpPr>
              <a:spLocks noChangeArrowheads="1"/>
            </p:cNvSpPr>
            <p:nvPr/>
          </p:nvSpPr>
          <p:spPr bwMode="auto">
            <a:xfrm>
              <a:off x="5211366" y="3153055"/>
              <a:ext cx="319037" cy="2247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hit</a:t>
              </a:r>
            </a:p>
          </p:txBody>
        </p:sp>
        <p:sp>
          <p:nvSpPr>
            <p:cNvPr id="106524" name="Rectangle 28"/>
            <p:cNvSpPr>
              <a:spLocks noChangeArrowheads="1"/>
            </p:cNvSpPr>
            <p:nvPr/>
          </p:nvSpPr>
          <p:spPr bwMode="auto">
            <a:xfrm>
              <a:off x="5520929" y="4115080"/>
              <a:ext cx="460632" cy="2247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data</a:t>
              </a:r>
            </a:p>
          </p:txBody>
        </p:sp>
        <p:sp>
          <p:nvSpPr>
            <p:cNvPr id="106525" name="Rectangle 29"/>
            <p:cNvSpPr>
              <a:spLocks noChangeArrowheads="1"/>
            </p:cNvSpPr>
            <p:nvPr/>
          </p:nvSpPr>
          <p:spPr bwMode="auto">
            <a:xfrm>
              <a:off x="3808810" y="3439995"/>
              <a:ext cx="866775" cy="6762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9056" tIns="34529" rIns="69056" bIns="34529" anchor="ctr"/>
            <a:lstStyle/>
            <a:p>
              <a:pPr algn="ctr"/>
              <a:r>
                <a:rPr kumimoji="1" lang="en-US" altLang="zh-TW" sz="1200" b="1">
                  <a:latin typeface="Arial" pitchFamily="34" charset="0"/>
                </a:rPr>
                <a:t>Trans-</a:t>
              </a:r>
            </a:p>
            <a:p>
              <a:pPr algn="ctr"/>
              <a:r>
                <a:rPr kumimoji="1" lang="en-US" altLang="zh-TW" sz="1200" b="1">
                  <a:latin typeface="Arial" pitchFamily="34" charset="0"/>
                </a:rPr>
                <a:t>lation</a:t>
              </a:r>
            </a:p>
          </p:txBody>
        </p:sp>
        <p:sp>
          <p:nvSpPr>
            <p:cNvPr id="106526" name="Rectangle 30"/>
            <p:cNvSpPr>
              <a:spLocks noChangeArrowheads="1"/>
            </p:cNvSpPr>
            <p:nvPr/>
          </p:nvSpPr>
          <p:spPr bwMode="auto">
            <a:xfrm>
              <a:off x="4695825" y="2152930"/>
              <a:ext cx="319037" cy="2247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hit</a:t>
              </a:r>
            </a:p>
          </p:txBody>
        </p:sp>
        <p:sp>
          <p:nvSpPr>
            <p:cNvPr id="106527" name="Line 31"/>
            <p:cNvSpPr>
              <a:spLocks noChangeShapeType="1"/>
            </p:cNvSpPr>
            <p:nvPr/>
          </p:nvSpPr>
          <p:spPr bwMode="auto">
            <a:xfrm>
              <a:off x="4231481" y="3097095"/>
              <a:ext cx="0" cy="333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28" name="Rectangle 32"/>
            <p:cNvSpPr>
              <a:spLocks noChangeArrowheads="1"/>
            </p:cNvSpPr>
            <p:nvPr/>
          </p:nvSpPr>
          <p:spPr bwMode="auto">
            <a:xfrm>
              <a:off x="3694510" y="3153055"/>
              <a:ext cx="498271" cy="2247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miss</a:t>
              </a:r>
            </a:p>
          </p:txBody>
        </p:sp>
        <p:sp>
          <p:nvSpPr>
            <p:cNvPr id="106529" name="Line 33"/>
            <p:cNvSpPr>
              <a:spLocks noChangeShapeType="1"/>
            </p:cNvSpPr>
            <p:nvPr/>
          </p:nvSpPr>
          <p:spPr bwMode="auto">
            <a:xfrm>
              <a:off x="4242197" y="4144845"/>
              <a:ext cx="0" cy="857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30" name="Line 34"/>
            <p:cNvSpPr>
              <a:spLocks noChangeShapeType="1"/>
            </p:cNvSpPr>
            <p:nvPr/>
          </p:nvSpPr>
          <p:spPr bwMode="auto">
            <a:xfrm>
              <a:off x="4242197" y="4230570"/>
              <a:ext cx="5572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31" name="Line 35"/>
            <p:cNvSpPr>
              <a:spLocks noChangeShapeType="1"/>
            </p:cNvSpPr>
            <p:nvPr/>
          </p:nvSpPr>
          <p:spPr bwMode="auto">
            <a:xfrm flipV="1">
              <a:off x="4799410" y="2516070"/>
              <a:ext cx="0" cy="1714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32" name="Line 36"/>
            <p:cNvSpPr>
              <a:spLocks noChangeShapeType="1"/>
            </p:cNvSpPr>
            <p:nvPr/>
          </p:nvSpPr>
          <p:spPr bwMode="auto">
            <a:xfrm flipH="1">
              <a:off x="5078017" y="4325820"/>
              <a:ext cx="16299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06533" name="Rectangle 37"/>
            <p:cNvSpPr>
              <a:spLocks noChangeArrowheads="1"/>
            </p:cNvSpPr>
            <p:nvPr/>
          </p:nvSpPr>
          <p:spPr bwMode="auto">
            <a:xfrm>
              <a:off x="7141369" y="4429405"/>
              <a:ext cx="403277" cy="2247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200" b="1">
                  <a:latin typeface="Arial" pitchFamily="34" charset="0"/>
                </a:rPr>
                <a:t>20 </a:t>
              </a:r>
              <a:r>
                <a:rPr kumimoji="1" lang="en-US" altLang="zh-TW" sz="1200" b="1">
                  <a:latin typeface="Arial" pitchFamily="34" charset="0"/>
                </a:rPr>
                <a:t>t</a:t>
              </a:r>
            </a:p>
          </p:txBody>
        </p:sp>
        <p:sp>
          <p:nvSpPr>
            <p:cNvPr id="106534" name="Rectangle 38"/>
            <p:cNvSpPr>
              <a:spLocks noChangeArrowheads="1"/>
            </p:cNvSpPr>
            <p:nvPr/>
          </p:nvSpPr>
          <p:spPr bwMode="auto">
            <a:xfrm>
              <a:off x="5686425" y="4419879"/>
              <a:ext cx="164895" cy="2247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t</a:t>
              </a:r>
            </a:p>
          </p:txBody>
        </p:sp>
        <p:sp>
          <p:nvSpPr>
            <p:cNvPr id="106535" name="Rectangle 39"/>
            <p:cNvSpPr>
              <a:spLocks noChangeArrowheads="1"/>
            </p:cNvSpPr>
            <p:nvPr/>
          </p:nvSpPr>
          <p:spPr bwMode="auto">
            <a:xfrm>
              <a:off x="3994548" y="4429405"/>
              <a:ext cx="451670" cy="2247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200" b="1">
                  <a:latin typeface="Arial" pitchFamily="34" charset="0"/>
                </a:rPr>
                <a:t>1/2 </a:t>
              </a:r>
              <a:r>
                <a:rPr kumimoji="1" lang="en-US" altLang="zh-TW" sz="1200" b="1">
                  <a:latin typeface="Arial" pitchFamily="34" charset="0"/>
                </a:rPr>
                <a:t>t</a:t>
              </a:r>
            </a:p>
          </p:txBody>
        </p:sp>
        <p:sp>
          <p:nvSpPr>
            <p:cNvPr id="106536" name="Rectangle 40"/>
            <p:cNvSpPr>
              <a:spLocks noChangeArrowheads="1"/>
            </p:cNvSpPr>
            <p:nvPr/>
          </p:nvSpPr>
          <p:spPr bwMode="auto">
            <a:xfrm>
              <a:off x="1156098" y="3114955"/>
              <a:ext cx="1032890" cy="405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 i="1">
                  <a:latin typeface="Arial" pitchFamily="34" charset="0"/>
                </a:rPr>
                <a:t>Translation</a:t>
              </a:r>
            </a:p>
            <a:p>
              <a:pPr>
                <a:lnSpc>
                  <a:spcPct val="85000"/>
                </a:lnSpc>
              </a:pPr>
              <a:r>
                <a:rPr kumimoji="1" lang="en-US" altLang="zh-TW" sz="1200" b="1" i="1">
                  <a:latin typeface="Arial" pitchFamily="34" charset="0"/>
                </a:rPr>
                <a:t>with a TLB</a:t>
              </a:r>
            </a:p>
          </p:txBody>
        </p:sp>
      </p:grpSp>
      <p:sp>
        <p:nvSpPr>
          <p:cNvPr id="106537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77323895-777D-4B43-9EBA-45AA5AA6F225}" type="slidenum">
              <a:rPr lang="zh-TW" altLang="en-US"/>
              <a:pPr defTabSz="571500"/>
              <a:t>33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173485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438FA50B-92B7-47DA-94ED-512321015D11}" type="slidenum">
              <a:rPr lang="zh-TW" altLang="en-US"/>
              <a:pPr defTabSz="571500"/>
              <a:t>34</a:t>
            </a:fld>
            <a:endParaRPr lang="en-US" altLang="zh-TW"/>
          </a:p>
        </p:txBody>
      </p:sp>
      <p:sp>
        <p:nvSpPr>
          <p:cNvPr id="1075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23826" y="134332"/>
            <a:ext cx="7239097" cy="468983"/>
          </a:xfrm>
        </p:spPr>
        <p:txBody>
          <a:bodyPr/>
          <a:lstStyle/>
          <a:p>
            <a:r>
              <a:rPr lang="en-US" altLang="zh-TW" sz="3200" dirty="0"/>
              <a:t>Integrate TLB and Cache</a:t>
            </a:r>
          </a:p>
        </p:txBody>
      </p:sp>
      <p:pic>
        <p:nvPicPr>
          <p:cNvPr id="107524" name="Picture 3" descr="f0725"/>
          <p:cNvPicPr>
            <a:picLocks noChangeAspect="1" noChangeArrowheads="1"/>
          </p:cNvPicPr>
          <p:nvPr/>
        </p:nvPicPr>
        <p:blipFill>
          <a:blip r:embed="rId2"/>
          <a:srcRect t="1601"/>
          <a:stretch>
            <a:fillRect/>
          </a:stretch>
        </p:blipFill>
        <p:spPr bwMode="auto">
          <a:xfrm>
            <a:off x="923826" y="871905"/>
            <a:ext cx="7342645" cy="3681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583809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9436B7FC-F74F-4A94-9DBE-3E5B7E9CD4B8}" type="slidenum">
              <a:rPr lang="zh-TW" altLang="en-US"/>
              <a:pPr defTabSz="571500"/>
              <a:t>35</a:t>
            </a:fld>
            <a:endParaRPr lang="en-US" altLang="zh-TW"/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95547" y="139305"/>
            <a:ext cx="7204276" cy="445158"/>
          </a:xfrm>
          <a:noFill/>
        </p:spPr>
        <p:txBody>
          <a:bodyPr/>
          <a:lstStyle/>
          <a:p>
            <a:r>
              <a:rPr lang="en-US" altLang="zh-TW" sz="3200" dirty="0">
                <a:ea typeface="新細明體" pitchFamily="18" charset="-120"/>
              </a:rPr>
              <a:t>TLBs and Caches</a:t>
            </a:r>
          </a:p>
        </p:txBody>
      </p:sp>
      <p:pic>
        <p:nvPicPr>
          <p:cNvPr id="108548" name="Picture 3"/>
          <p:cNvPicPr>
            <a:picLocks noChangeAspect="1" noChangeArrowheads="1"/>
          </p:cNvPicPr>
          <p:nvPr/>
        </p:nvPicPr>
        <p:blipFill>
          <a:blip r:embed="rId3">
            <a:lum contrast="20000"/>
          </a:blip>
          <a:srcRect/>
          <a:stretch>
            <a:fillRect/>
          </a:stretch>
        </p:blipFill>
        <p:spPr bwMode="auto">
          <a:xfrm>
            <a:off x="989814" y="820133"/>
            <a:ext cx="7202079" cy="375670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981336018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942681" y="135732"/>
            <a:ext cx="6786858" cy="420450"/>
          </a:xfrm>
        </p:spPr>
        <p:txBody>
          <a:bodyPr/>
          <a:lstStyle/>
          <a:p>
            <a:r>
              <a:rPr lang="en-US" altLang="zh-TW" sz="3200" dirty="0"/>
              <a:t>Possible Combinations of Events</a:t>
            </a:r>
          </a:p>
        </p:txBody>
      </p:sp>
      <p:sp>
        <p:nvSpPr>
          <p:cNvPr id="109571" name="Rectangle 4"/>
          <p:cNvSpPr>
            <a:spLocks noChangeArrowheads="1"/>
          </p:cNvSpPr>
          <p:nvPr/>
        </p:nvSpPr>
        <p:spPr bwMode="auto">
          <a:xfrm>
            <a:off x="1905000" y="1026628"/>
            <a:ext cx="53700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Cache</a:t>
            </a:r>
            <a:endParaRPr lang="en-US" altLang="zh-TW" sz="1400"/>
          </a:p>
        </p:txBody>
      </p:sp>
      <p:sp>
        <p:nvSpPr>
          <p:cNvPr id="109572" name="Rectangle 5"/>
          <p:cNvSpPr>
            <a:spLocks noChangeArrowheads="1"/>
          </p:cNvSpPr>
          <p:nvPr/>
        </p:nvSpPr>
        <p:spPr bwMode="auto">
          <a:xfrm>
            <a:off x="2670573" y="1026628"/>
            <a:ext cx="34785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TLB</a:t>
            </a:r>
            <a:endParaRPr lang="en-US" altLang="zh-TW" sz="1400"/>
          </a:p>
        </p:txBody>
      </p:sp>
      <p:sp>
        <p:nvSpPr>
          <p:cNvPr id="109573" name="Rectangle 6"/>
          <p:cNvSpPr>
            <a:spLocks noChangeArrowheads="1"/>
          </p:cNvSpPr>
          <p:nvPr/>
        </p:nvSpPr>
        <p:spPr bwMode="auto">
          <a:xfrm>
            <a:off x="3426619" y="1026628"/>
            <a:ext cx="51616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Page</a:t>
            </a:r>
          </a:p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 table </a:t>
            </a:r>
            <a:endParaRPr lang="en-US" altLang="zh-TW" sz="1400"/>
          </a:p>
        </p:txBody>
      </p:sp>
      <p:sp>
        <p:nvSpPr>
          <p:cNvPr id="109574" name="Rectangle 8"/>
          <p:cNvSpPr>
            <a:spLocks noChangeArrowheads="1"/>
          </p:cNvSpPr>
          <p:nvPr/>
        </p:nvSpPr>
        <p:spPr bwMode="auto">
          <a:xfrm>
            <a:off x="4816079" y="1026628"/>
            <a:ext cx="193642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Possible? Conditions?</a:t>
            </a:r>
            <a:endParaRPr lang="en-US" altLang="zh-TW" sz="1400"/>
          </a:p>
        </p:txBody>
      </p:sp>
      <p:sp>
        <p:nvSpPr>
          <p:cNvPr id="109575" name="Rectangle 9"/>
          <p:cNvSpPr>
            <a:spLocks noChangeArrowheads="1"/>
          </p:cNvSpPr>
          <p:nvPr/>
        </p:nvSpPr>
        <p:spPr bwMode="auto">
          <a:xfrm>
            <a:off x="1825228" y="1023056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76" name="Line 10"/>
          <p:cNvSpPr>
            <a:spLocks noChangeShapeType="1"/>
          </p:cNvSpPr>
          <p:nvPr/>
        </p:nvSpPr>
        <p:spPr bwMode="auto">
          <a:xfrm>
            <a:off x="1825228" y="1023057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77" name="Line 11"/>
          <p:cNvSpPr>
            <a:spLocks noChangeShapeType="1"/>
          </p:cNvSpPr>
          <p:nvPr/>
        </p:nvSpPr>
        <p:spPr bwMode="auto">
          <a:xfrm>
            <a:off x="1825229" y="1023056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78" name="Rectangle 12"/>
          <p:cNvSpPr>
            <a:spLocks noChangeArrowheads="1"/>
          </p:cNvSpPr>
          <p:nvPr/>
        </p:nvSpPr>
        <p:spPr bwMode="auto">
          <a:xfrm>
            <a:off x="1825228" y="1023056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79" name="Line 13"/>
          <p:cNvSpPr>
            <a:spLocks noChangeShapeType="1"/>
          </p:cNvSpPr>
          <p:nvPr/>
        </p:nvSpPr>
        <p:spPr bwMode="auto">
          <a:xfrm>
            <a:off x="1825228" y="1023057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80" name="Line 14"/>
          <p:cNvSpPr>
            <a:spLocks noChangeShapeType="1"/>
          </p:cNvSpPr>
          <p:nvPr/>
        </p:nvSpPr>
        <p:spPr bwMode="auto">
          <a:xfrm>
            <a:off x="1825229" y="1023056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81" name="Rectangle 15"/>
          <p:cNvSpPr>
            <a:spLocks noChangeArrowheads="1"/>
          </p:cNvSpPr>
          <p:nvPr/>
        </p:nvSpPr>
        <p:spPr bwMode="auto">
          <a:xfrm>
            <a:off x="1829991" y="1023056"/>
            <a:ext cx="661988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82" name="Line 16"/>
          <p:cNvSpPr>
            <a:spLocks noChangeShapeType="1"/>
          </p:cNvSpPr>
          <p:nvPr/>
        </p:nvSpPr>
        <p:spPr bwMode="auto">
          <a:xfrm>
            <a:off x="1829991" y="1023057"/>
            <a:ext cx="6619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83" name="Rectangle 17"/>
          <p:cNvSpPr>
            <a:spLocks noChangeArrowheads="1"/>
          </p:cNvSpPr>
          <p:nvPr/>
        </p:nvSpPr>
        <p:spPr bwMode="auto">
          <a:xfrm>
            <a:off x="2491978" y="1023056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84" name="Line 18"/>
          <p:cNvSpPr>
            <a:spLocks noChangeShapeType="1"/>
          </p:cNvSpPr>
          <p:nvPr/>
        </p:nvSpPr>
        <p:spPr bwMode="auto">
          <a:xfrm>
            <a:off x="2491978" y="1023057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85" name="Line 19"/>
          <p:cNvSpPr>
            <a:spLocks noChangeShapeType="1"/>
          </p:cNvSpPr>
          <p:nvPr/>
        </p:nvSpPr>
        <p:spPr bwMode="auto">
          <a:xfrm>
            <a:off x="2491979" y="1023056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86" name="Rectangle 20"/>
          <p:cNvSpPr>
            <a:spLocks noChangeArrowheads="1"/>
          </p:cNvSpPr>
          <p:nvPr/>
        </p:nvSpPr>
        <p:spPr bwMode="auto">
          <a:xfrm>
            <a:off x="2496741" y="1023056"/>
            <a:ext cx="679847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87" name="Line 21"/>
          <p:cNvSpPr>
            <a:spLocks noChangeShapeType="1"/>
          </p:cNvSpPr>
          <p:nvPr/>
        </p:nvSpPr>
        <p:spPr bwMode="auto">
          <a:xfrm>
            <a:off x="2496741" y="1023057"/>
            <a:ext cx="679847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88" name="Rectangle 22"/>
          <p:cNvSpPr>
            <a:spLocks noChangeArrowheads="1"/>
          </p:cNvSpPr>
          <p:nvPr/>
        </p:nvSpPr>
        <p:spPr bwMode="auto">
          <a:xfrm>
            <a:off x="3176587" y="1023056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89" name="Line 23"/>
          <p:cNvSpPr>
            <a:spLocks noChangeShapeType="1"/>
          </p:cNvSpPr>
          <p:nvPr/>
        </p:nvSpPr>
        <p:spPr bwMode="auto">
          <a:xfrm>
            <a:off x="3176587" y="1023057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90" name="Line 24"/>
          <p:cNvSpPr>
            <a:spLocks noChangeShapeType="1"/>
          </p:cNvSpPr>
          <p:nvPr/>
        </p:nvSpPr>
        <p:spPr bwMode="auto">
          <a:xfrm>
            <a:off x="3176588" y="1023056"/>
            <a:ext cx="1191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91" name="Rectangle 25"/>
          <p:cNvSpPr>
            <a:spLocks noChangeArrowheads="1"/>
          </p:cNvSpPr>
          <p:nvPr/>
        </p:nvSpPr>
        <p:spPr bwMode="auto">
          <a:xfrm>
            <a:off x="3181350" y="1023056"/>
            <a:ext cx="1020366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92" name="Line 26"/>
          <p:cNvSpPr>
            <a:spLocks noChangeShapeType="1"/>
          </p:cNvSpPr>
          <p:nvPr/>
        </p:nvSpPr>
        <p:spPr bwMode="auto">
          <a:xfrm>
            <a:off x="3181350" y="1023057"/>
            <a:ext cx="1020366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93" name="Rectangle 27"/>
          <p:cNvSpPr>
            <a:spLocks noChangeArrowheads="1"/>
          </p:cNvSpPr>
          <p:nvPr/>
        </p:nvSpPr>
        <p:spPr bwMode="auto">
          <a:xfrm>
            <a:off x="4201716" y="1023056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94" name="Line 28"/>
          <p:cNvSpPr>
            <a:spLocks noChangeShapeType="1"/>
          </p:cNvSpPr>
          <p:nvPr/>
        </p:nvSpPr>
        <p:spPr bwMode="auto">
          <a:xfrm>
            <a:off x="4201716" y="1023057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95" name="Line 29"/>
          <p:cNvSpPr>
            <a:spLocks noChangeShapeType="1"/>
          </p:cNvSpPr>
          <p:nvPr/>
        </p:nvSpPr>
        <p:spPr bwMode="auto">
          <a:xfrm>
            <a:off x="4201717" y="1023056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96" name="Rectangle 30"/>
          <p:cNvSpPr>
            <a:spLocks noChangeArrowheads="1"/>
          </p:cNvSpPr>
          <p:nvPr/>
        </p:nvSpPr>
        <p:spPr bwMode="auto">
          <a:xfrm>
            <a:off x="4206479" y="1023056"/>
            <a:ext cx="307300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97" name="Line 31"/>
          <p:cNvSpPr>
            <a:spLocks noChangeShapeType="1"/>
          </p:cNvSpPr>
          <p:nvPr/>
        </p:nvSpPr>
        <p:spPr bwMode="auto">
          <a:xfrm>
            <a:off x="4206479" y="1023057"/>
            <a:ext cx="307300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98" name="Rectangle 32"/>
          <p:cNvSpPr>
            <a:spLocks noChangeArrowheads="1"/>
          </p:cNvSpPr>
          <p:nvPr/>
        </p:nvSpPr>
        <p:spPr bwMode="auto">
          <a:xfrm>
            <a:off x="7279482" y="1023056"/>
            <a:ext cx="3572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599" name="Line 33"/>
          <p:cNvSpPr>
            <a:spLocks noChangeShapeType="1"/>
          </p:cNvSpPr>
          <p:nvPr/>
        </p:nvSpPr>
        <p:spPr bwMode="auto">
          <a:xfrm>
            <a:off x="7279482" y="1023057"/>
            <a:ext cx="3572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00" name="Line 34"/>
          <p:cNvSpPr>
            <a:spLocks noChangeShapeType="1"/>
          </p:cNvSpPr>
          <p:nvPr/>
        </p:nvSpPr>
        <p:spPr bwMode="auto">
          <a:xfrm>
            <a:off x="7279481" y="1023056"/>
            <a:ext cx="1191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01" name="Rectangle 35"/>
          <p:cNvSpPr>
            <a:spLocks noChangeArrowheads="1"/>
          </p:cNvSpPr>
          <p:nvPr/>
        </p:nvSpPr>
        <p:spPr bwMode="auto">
          <a:xfrm>
            <a:off x="7279482" y="1023056"/>
            <a:ext cx="3572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02" name="Line 36"/>
          <p:cNvSpPr>
            <a:spLocks noChangeShapeType="1"/>
          </p:cNvSpPr>
          <p:nvPr/>
        </p:nvSpPr>
        <p:spPr bwMode="auto">
          <a:xfrm>
            <a:off x="7279482" y="1023057"/>
            <a:ext cx="3572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03" name="Line 37"/>
          <p:cNvSpPr>
            <a:spLocks noChangeShapeType="1"/>
          </p:cNvSpPr>
          <p:nvPr/>
        </p:nvSpPr>
        <p:spPr bwMode="auto">
          <a:xfrm>
            <a:off x="7279481" y="1023056"/>
            <a:ext cx="1191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04" name="Rectangle 38"/>
          <p:cNvSpPr>
            <a:spLocks noChangeArrowheads="1"/>
          </p:cNvSpPr>
          <p:nvPr/>
        </p:nvSpPr>
        <p:spPr bwMode="auto">
          <a:xfrm>
            <a:off x="1825228" y="1027819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05" name="Line 39"/>
          <p:cNvSpPr>
            <a:spLocks noChangeShapeType="1"/>
          </p:cNvSpPr>
          <p:nvPr/>
        </p:nvSpPr>
        <p:spPr bwMode="auto">
          <a:xfrm>
            <a:off x="1825229" y="1027819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 dirty="0"/>
          </a:p>
        </p:txBody>
      </p:sp>
      <p:sp>
        <p:nvSpPr>
          <p:cNvPr id="109606" name="Rectangle 40"/>
          <p:cNvSpPr>
            <a:spLocks noChangeArrowheads="1"/>
          </p:cNvSpPr>
          <p:nvPr/>
        </p:nvSpPr>
        <p:spPr bwMode="auto">
          <a:xfrm>
            <a:off x="2491978" y="1027819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07" name="Line 41"/>
          <p:cNvSpPr>
            <a:spLocks noChangeShapeType="1"/>
          </p:cNvSpPr>
          <p:nvPr/>
        </p:nvSpPr>
        <p:spPr bwMode="auto">
          <a:xfrm>
            <a:off x="2491979" y="1027819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08" name="Rectangle 42"/>
          <p:cNvSpPr>
            <a:spLocks noChangeArrowheads="1"/>
          </p:cNvSpPr>
          <p:nvPr/>
        </p:nvSpPr>
        <p:spPr bwMode="auto">
          <a:xfrm>
            <a:off x="3176587" y="1027819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09" name="Line 43"/>
          <p:cNvSpPr>
            <a:spLocks noChangeShapeType="1"/>
          </p:cNvSpPr>
          <p:nvPr/>
        </p:nvSpPr>
        <p:spPr bwMode="auto">
          <a:xfrm>
            <a:off x="3176588" y="1027819"/>
            <a:ext cx="1191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10" name="Rectangle 44"/>
          <p:cNvSpPr>
            <a:spLocks noChangeArrowheads="1"/>
          </p:cNvSpPr>
          <p:nvPr/>
        </p:nvSpPr>
        <p:spPr bwMode="auto">
          <a:xfrm>
            <a:off x="4201716" y="1027819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11" name="Line 45"/>
          <p:cNvSpPr>
            <a:spLocks noChangeShapeType="1"/>
          </p:cNvSpPr>
          <p:nvPr/>
        </p:nvSpPr>
        <p:spPr bwMode="auto">
          <a:xfrm>
            <a:off x="4201717" y="1027819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12" name="Rectangle 46"/>
          <p:cNvSpPr>
            <a:spLocks noChangeArrowheads="1"/>
          </p:cNvSpPr>
          <p:nvPr/>
        </p:nvSpPr>
        <p:spPr bwMode="auto">
          <a:xfrm>
            <a:off x="7279482" y="1027819"/>
            <a:ext cx="3572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13" name="Line 47"/>
          <p:cNvSpPr>
            <a:spLocks noChangeShapeType="1"/>
          </p:cNvSpPr>
          <p:nvPr/>
        </p:nvSpPr>
        <p:spPr bwMode="auto">
          <a:xfrm>
            <a:off x="7279481" y="1027819"/>
            <a:ext cx="1191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14" name="Rectangle 48"/>
          <p:cNvSpPr>
            <a:spLocks noChangeArrowheads="1"/>
          </p:cNvSpPr>
          <p:nvPr/>
        </p:nvSpPr>
        <p:spPr bwMode="auto">
          <a:xfrm>
            <a:off x="1971675" y="1455253"/>
            <a:ext cx="39754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Miss</a:t>
            </a:r>
            <a:endParaRPr lang="en-US" altLang="zh-TW" sz="1400"/>
          </a:p>
        </p:txBody>
      </p:sp>
      <p:sp>
        <p:nvSpPr>
          <p:cNvPr id="109615" name="Rectangle 49"/>
          <p:cNvSpPr>
            <a:spLocks noChangeArrowheads="1"/>
          </p:cNvSpPr>
          <p:nvPr/>
        </p:nvSpPr>
        <p:spPr bwMode="auto">
          <a:xfrm>
            <a:off x="2722960" y="1455253"/>
            <a:ext cx="23884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Hit</a:t>
            </a:r>
            <a:endParaRPr lang="en-US" altLang="zh-TW" sz="1400"/>
          </a:p>
        </p:txBody>
      </p:sp>
      <p:sp>
        <p:nvSpPr>
          <p:cNvPr id="109616" name="Rectangle 50"/>
          <p:cNvSpPr>
            <a:spLocks noChangeArrowheads="1"/>
          </p:cNvSpPr>
          <p:nvPr/>
        </p:nvSpPr>
        <p:spPr bwMode="auto">
          <a:xfrm>
            <a:off x="3577829" y="1455253"/>
            <a:ext cx="23884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Hit</a:t>
            </a:r>
            <a:endParaRPr lang="en-US" altLang="zh-TW" sz="1400"/>
          </a:p>
        </p:txBody>
      </p:sp>
      <p:sp>
        <p:nvSpPr>
          <p:cNvPr id="602163" name="Rectangle 51"/>
          <p:cNvSpPr>
            <a:spLocks noChangeArrowheads="1"/>
          </p:cNvSpPr>
          <p:nvPr/>
        </p:nvSpPr>
        <p:spPr bwMode="auto">
          <a:xfrm>
            <a:off x="4255294" y="1470731"/>
            <a:ext cx="307911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Yes; but page table never checked if</a:t>
            </a:r>
          </a:p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TLB hits</a:t>
            </a:r>
            <a:endParaRPr lang="en-US" altLang="zh-TW" sz="1400"/>
          </a:p>
        </p:txBody>
      </p:sp>
      <p:sp>
        <p:nvSpPr>
          <p:cNvPr id="109618" name="Rectangle 53"/>
          <p:cNvSpPr>
            <a:spLocks noChangeArrowheads="1"/>
          </p:cNvSpPr>
          <p:nvPr/>
        </p:nvSpPr>
        <p:spPr bwMode="auto">
          <a:xfrm>
            <a:off x="1825228" y="1451681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19" name="Line 54"/>
          <p:cNvSpPr>
            <a:spLocks noChangeShapeType="1"/>
          </p:cNvSpPr>
          <p:nvPr/>
        </p:nvSpPr>
        <p:spPr bwMode="auto">
          <a:xfrm>
            <a:off x="1825228" y="1451682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20" name="Line 55"/>
          <p:cNvSpPr>
            <a:spLocks noChangeShapeType="1"/>
          </p:cNvSpPr>
          <p:nvPr/>
        </p:nvSpPr>
        <p:spPr bwMode="auto">
          <a:xfrm>
            <a:off x="1825229" y="1451681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21" name="Rectangle 56"/>
          <p:cNvSpPr>
            <a:spLocks noChangeArrowheads="1"/>
          </p:cNvSpPr>
          <p:nvPr/>
        </p:nvSpPr>
        <p:spPr bwMode="auto">
          <a:xfrm>
            <a:off x="1829991" y="1451681"/>
            <a:ext cx="661988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22" name="Line 57"/>
          <p:cNvSpPr>
            <a:spLocks noChangeShapeType="1"/>
          </p:cNvSpPr>
          <p:nvPr/>
        </p:nvSpPr>
        <p:spPr bwMode="auto">
          <a:xfrm>
            <a:off x="1829991" y="1451682"/>
            <a:ext cx="6619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23" name="Rectangle 58"/>
          <p:cNvSpPr>
            <a:spLocks noChangeArrowheads="1"/>
          </p:cNvSpPr>
          <p:nvPr/>
        </p:nvSpPr>
        <p:spPr bwMode="auto">
          <a:xfrm>
            <a:off x="2491978" y="1451681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24" name="Line 59"/>
          <p:cNvSpPr>
            <a:spLocks noChangeShapeType="1"/>
          </p:cNvSpPr>
          <p:nvPr/>
        </p:nvSpPr>
        <p:spPr bwMode="auto">
          <a:xfrm>
            <a:off x="2491978" y="1451682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25" name="Line 60"/>
          <p:cNvSpPr>
            <a:spLocks noChangeShapeType="1"/>
          </p:cNvSpPr>
          <p:nvPr/>
        </p:nvSpPr>
        <p:spPr bwMode="auto">
          <a:xfrm>
            <a:off x="2491979" y="1451681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26" name="Rectangle 61"/>
          <p:cNvSpPr>
            <a:spLocks noChangeArrowheads="1"/>
          </p:cNvSpPr>
          <p:nvPr/>
        </p:nvSpPr>
        <p:spPr bwMode="auto">
          <a:xfrm>
            <a:off x="2496741" y="1451681"/>
            <a:ext cx="679847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27" name="Line 62"/>
          <p:cNvSpPr>
            <a:spLocks noChangeShapeType="1"/>
          </p:cNvSpPr>
          <p:nvPr/>
        </p:nvSpPr>
        <p:spPr bwMode="auto">
          <a:xfrm>
            <a:off x="2496741" y="1451682"/>
            <a:ext cx="679847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28" name="Rectangle 63"/>
          <p:cNvSpPr>
            <a:spLocks noChangeArrowheads="1"/>
          </p:cNvSpPr>
          <p:nvPr/>
        </p:nvSpPr>
        <p:spPr bwMode="auto">
          <a:xfrm>
            <a:off x="3176587" y="1451681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29" name="Line 64"/>
          <p:cNvSpPr>
            <a:spLocks noChangeShapeType="1"/>
          </p:cNvSpPr>
          <p:nvPr/>
        </p:nvSpPr>
        <p:spPr bwMode="auto">
          <a:xfrm>
            <a:off x="3176587" y="1451682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30" name="Line 65"/>
          <p:cNvSpPr>
            <a:spLocks noChangeShapeType="1"/>
          </p:cNvSpPr>
          <p:nvPr/>
        </p:nvSpPr>
        <p:spPr bwMode="auto">
          <a:xfrm>
            <a:off x="3176588" y="1451681"/>
            <a:ext cx="1191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31" name="Rectangle 66"/>
          <p:cNvSpPr>
            <a:spLocks noChangeArrowheads="1"/>
          </p:cNvSpPr>
          <p:nvPr/>
        </p:nvSpPr>
        <p:spPr bwMode="auto">
          <a:xfrm>
            <a:off x="3181350" y="1451681"/>
            <a:ext cx="1020366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32" name="Line 67"/>
          <p:cNvSpPr>
            <a:spLocks noChangeShapeType="1"/>
          </p:cNvSpPr>
          <p:nvPr/>
        </p:nvSpPr>
        <p:spPr bwMode="auto">
          <a:xfrm>
            <a:off x="3181350" y="1451682"/>
            <a:ext cx="1020366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33" name="Rectangle 68"/>
          <p:cNvSpPr>
            <a:spLocks noChangeArrowheads="1"/>
          </p:cNvSpPr>
          <p:nvPr/>
        </p:nvSpPr>
        <p:spPr bwMode="auto">
          <a:xfrm>
            <a:off x="4201716" y="1451681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34" name="Line 69"/>
          <p:cNvSpPr>
            <a:spLocks noChangeShapeType="1"/>
          </p:cNvSpPr>
          <p:nvPr/>
        </p:nvSpPr>
        <p:spPr bwMode="auto">
          <a:xfrm>
            <a:off x="4201716" y="1451682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35" name="Line 70"/>
          <p:cNvSpPr>
            <a:spLocks noChangeShapeType="1"/>
          </p:cNvSpPr>
          <p:nvPr/>
        </p:nvSpPr>
        <p:spPr bwMode="auto">
          <a:xfrm>
            <a:off x="4201717" y="1451681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36" name="Rectangle 71"/>
          <p:cNvSpPr>
            <a:spLocks noChangeArrowheads="1"/>
          </p:cNvSpPr>
          <p:nvPr/>
        </p:nvSpPr>
        <p:spPr bwMode="auto">
          <a:xfrm>
            <a:off x="4206479" y="1451681"/>
            <a:ext cx="307300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37" name="Line 72"/>
          <p:cNvSpPr>
            <a:spLocks noChangeShapeType="1"/>
          </p:cNvSpPr>
          <p:nvPr/>
        </p:nvSpPr>
        <p:spPr bwMode="auto">
          <a:xfrm>
            <a:off x="4206479" y="1451682"/>
            <a:ext cx="307300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38" name="Rectangle 73"/>
          <p:cNvSpPr>
            <a:spLocks noChangeArrowheads="1"/>
          </p:cNvSpPr>
          <p:nvPr/>
        </p:nvSpPr>
        <p:spPr bwMode="auto">
          <a:xfrm>
            <a:off x="7279482" y="1451681"/>
            <a:ext cx="3572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39" name="Line 74"/>
          <p:cNvSpPr>
            <a:spLocks noChangeShapeType="1"/>
          </p:cNvSpPr>
          <p:nvPr/>
        </p:nvSpPr>
        <p:spPr bwMode="auto">
          <a:xfrm>
            <a:off x="7279482" y="1451682"/>
            <a:ext cx="3572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40" name="Line 75"/>
          <p:cNvSpPr>
            <a:spLocks noChangeShapeType="1"/>
          </p:cNvSpPr>
          <p:nvPr/>
        </p:nvSpPr>
        <p:spPr bwMode="auto">
          <a:xfrm>
            <a:off x="7279481" y="1451681"/>
            <a:ext cx="1191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41" name="Rectangle 76"/>
          <p:cNvSpPr>
            <a:spLocks noChangeArrowheads="1"/>
          </p:cNvSpPr>
          <p:nvPr/>
        </p:nvSpPr>
        <p:spPr bwMode="auto">
          <a:xfrm>
            <a:off x="1825228" y="1456444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42" name="Line 77"/>
          <p:cNvSpPr>
            <a:spLocks noChangeShapeType="1"/>
          </p:cNvSpPr>
          <p:nvPr/>
        </p:nvSpPr>
        <p:spPr bwMode="auto">
          <a:xfrm>
            <a:off x="1825229" y="1456444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43" name="Rectangle 78"/>
          <p:cNvSpPr>
            <a:spLocks noChangeArrowheads="1"/>
          </p:cNvSpPr>
          <p:nvPr/>
        </p:nvSpPr>
        <p:spPr bwMode="auto">
          <a:xfrm>
            <a:off x="2491978" y="1456444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44" name="Line 79"/>
          <p:cNvSpPr>
            <a:spLocks noChangeShapeType="1"/>
          </p:cNvSpPr>
          <p:nvPr/>
        </p:nvSpPr>
        <p:spPr bwMode="auto">
          <a:xfrm>
            <a:off x="2491979" y="1456444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45" name="Rectangle 80"/>
          <p:cNvSpPr>
            <a:spLocks noChangeArrowheads="1"/>
          </p:cNvSpPr>
          <p:nvPr/>
        </p:nvSpPr>
        <p:spPr bwMode="auto">
          <a:xfrm>
            <a:off x="3176587" y="1456444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46" name="Line 81"/>
          <p:cNvSpPr>
            <a:spLocks noChangeShapeType="1"/>
          </p:cNvSpPr>
          <p:nvPr/>
        </p:nvSpPr>
        <p:spPr bwMode="auto">
          <a:xfrm>
            <a:off x="3176588" y="1456444"/>
            <a:ext cx="1191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47" name="Rectangle 82"/>
          <p:cNvSpPr>
            <a:spLocks noChangeArrowheads="1"/>
          </p:cNvSpPr>
          <p:nvPr/>
        </p:nvSpPr>
        <p:spPr bwMode="auto">
          <a:xfrm>
            <a:off x="4201716" y="1456444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48" name="Line 83"/>
          <p:cNvSpPr>
            <a:spLocks noChangeShapeType="1"/>
          </p:cNvSpPr>
          <p:nvPr/>
        </p:nvSpPr>
        <p:spPr bwMode="auto">
          <a:xfrm>
            <a:off x="4201717" y="1456444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49" name="Rectangle 84"/>
          <p:cNvSpPr>
            <a:spLocks noChangeArrowheads="1"/>
          </p:cNvSpPr>
          <p:nvPr/>
        </p:nvSpPr>
        <p:spPr bwMode="auto">
          <a:xfrm>
            <a:off x="7279482" y="1456444"/>
            <a:ext cx="3572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50" name="Line 85"/>
          <p:cNvSpPr>
            <a:spLocks noChangeShapeType="1"/>
          </p:cNvSpPr>
          <p:nvPr/>
        </p:nvSpPr>
        <p:spPr bwMode="auto">
          <a:xfrm>
            <a:off x="7279481" y="1456444"/>
            <a:ext cx="1191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51" name="Rectangle 86"/>
          <p:cNvSpPr>
            <a:spLocks noChangeArrowheads="1"/>
          </p:cNvSpPr>
          <p:nvPr/>
        </p:nvSpPr>
        <p:spPr bwMode="auto">
          <a:xfrm>
            <a:off x="2046685" y="1883878"/>
            <a:ext cx="23884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Hit</a:t>
            </a:r>
            <a:endParaRPr lang="en-US" altLang="zh-TW" sz="1400"/>
          </a:p>
        </p:txBody>
      </p:sp>
      <p:sp>
        <p:nvSpPr>
          <p:cNvPr id="109652" name="Rectangle 87"/>
          <p:cNvSpPr>
            <a:spLocks noChangeArrowheads="1"/>
          </p:cNvSpPr>
          <p:nvPr/>
        </p:nvSpPr>
        <p:spPr bwMode="auto">
          <a:xfrm>
            <a:off x="2646760" y="1883878"/>
            <a:ext cx="39754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Miss</a:t>
            </a:r>
            <a:endParaRPr lang="en-US" altLang="zh-TW" sz="1400"/>
          </a:p>
        </p:txBody>
      </p:sp>
      <p:sp>
        <p:nvSpPr>
          <p:cNvPr id="109653" name="Rectangle 88"/>
          <p:cNvSpPr>
            <a:spLocks noChangeArrowheads="1"/>
          </p:cNvSpPr>
          <p:nvPr/>
        </p:nvSpPr>
        <p:spPr bwMode="auto">
          <a:xfrm>
            <a:off x="3577829" y="1883878"/>
            <a:ext cx="23884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Hit</a:t>
            </a:r>
            <a:endParaRPr lang="en-US" altLang="zh-TW" sz="1400"/>
          </a:p>
        </p:txBody>
      </p:sp>
      <p:sp>
        <p:nvSpPr>
          <p:cNvPr id="602201" name="Rectangle 89"/>
          <p:cNvSpPr>
            <a:spLocks noChangeArrowheads="1"/>
          </p:cNvSpPr>
          <p:nvPr/>
        </p:nvSpPr>
        <p:spPr bwMode="auto">
          <a:xfrm>
            <a:off x="4255294" y="1899356"/>
            <a:ext cx="289021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TLB miss, but entry found in page</a:t>
            </a:r>
          </a:p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table;after retry, data in cache</a:t>
            </a:r>
            <a:endParaRPr lang="en-US" altLang="zh-TW" sz="1400"/>
          </a:p>
        </p:txBody>
      </p:sp>
      <p:sp>
        <p:nvSpPr>
          <p:cNvPr id="109655" name="Rectangle 91"/>
          <p:cNvSpPr>
            <a:spLocks noChangeArrowheads="1"/>
          </p:cNvSpPr>
          <p:nvPr/>
        </p:nvSpPr>
        <p:spPr bwMode="auto">
          <a:xfrm>
            <a:off x="1825228" y="1880306"/>
            <a:ext cx="4763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56" name="Line 92"/>
          <p:cNvSpPr>
            <a:spLocks noChangeShapeType="1"/>
          </p:cNvSpPr>
          <p:nvPr/>
        </p:nvSpPr>
        <p:spPr bwMode="auto">
          <a:xfrm>
            <a:off x="1825228" y="1880307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57" name="Line 93"/>
          <p:cNvSpPr>
            <a:spLocks noChangeShapeType="1"/>
          </p:cNvSpPr>
          <p:nvPr/>
        </p:nvSpPr>
        <p:spPr bwMode="auto">
          <a:xfrm>
            <a:off x="1825229" y="1880306"/>
            <a:ext cx="1190" cy="35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58" name="Rectangle 94"/>
          <p:cNvSpPr>
            <a:spLocks noChangeArrowheads="1"/>
          </p:cNvSpPr>
          <p:nvPr/>
        </p:nvSpPr>
        <p:spPr bwMode="auto">
          <a:xfrm>
            <a:off x="1829991" y="1880306"/>
            <a:ext cx="661988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59" name="Line 95"/>
          <p:cNvSpPr>
            <a:spLocks noChangeShapeType="1"/>
          </p:cNvSpPr>
          <p:nvPr/>
        </p:nvSpPr>
        <p:spPr bwMode="auto">
          <a:xfrm>
            <a:off x="1829991" y="1880307"/>
            <a:ext cx="6619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60" name="Rectangle 96"/>
          <p:cNvSpPr>
            <a:spLocks noChangeArrowheads="1"/>
          </p:cNvSpPr>
          <p:nvPr/>
        </p:nvSpPr>
        <p:spPr bwMode="auto">
          <a:xfrm>
            <a:off x="2491978" y="1880306"/>
            <a:ext cx="4763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61" name="Line 97"/>
          <p:cNvSpPr>
            <a:spLocks noChangeShapeType="1"/>
          </p:cNvSpPr>
          <p:nvPr/>
        </p:nvSpPr>
        <p:spPr bwMode="auto">
          <a:xfrm>
            <a:off x="2491978" y="1880307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62" name="Line 98"/>
          <p:cNvSpPr>
            <a:spLocks noChangeShapeType="1"/>
          </p:cNvSpPr>
          <p:nvPr/>
        </p:nvSpPr>
        <p:spPr bwMode="auto">
          <a:xfrm>
            <a:off x="2491979" y="1880306"/>
            <a:ext cx="1190" cy="35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63" name="Rectangle 99"/>
          <p:cNvSpPr>
            <a:spLocks noChangeArrowheads="1"/>
          </p:cNvSpPr>
          <p:nvPr/>
        </p:nvSpPr>
        <p:spPr bwMode="auto">
          <a:xfrm>
            <a:off x="2496741" y="1880306"/>
            <a:ext cx="679847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64" name="Line 100"/>
          <p:cNvSpPr>
            <a:spLocks noChangeShapeType="1"/>
          </p:cNvSpPr>
          <p:nvPr/>
        </p:nvSpPr>
        <p:spPr bwMode="auto">
          <a:xfrm>
            <a:off x="2496741" y="1880307"/>
            <a:ext cx="679847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65" name="Rectangle 101"/>
          <p:cNvSpPr>
            <a:spLocks noChangeArrowheads="1"/>
          </p:cNvSpPr>
          <p:nvPr/>
        </p:nvSpPr>
        <p:spPr bwMode="auto">
          <a:xfrm>
            <a:off x="3176587" y="1880306"/>
            <a:ext cx="4763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66" name="Line 102"/>
          <p:cNvSpPr>
            <a:spLocks noChangeShapeType="1"/>
          </p:cNvSpPr>
          <p:nvPr/>
        </p:nvSpPr>
        <p:spPr bwMode="auto">
          <a:xfrm>
            <a:off x="3176587" y="1880307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67" name="Line 103"/>
          <p:cNvSpPr>
            <a:spLocks noChangeShapeType="1"/>
          </p:cNvSpPr>
          <p:nvPr/>
        </p:nvSpPr>
        <p:spPr bwMode="auto">
          <a:xfrm>
            <a:off x="3176588" y="1880306"/>
            <a:ext cx="1191" cy="35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68" name="Rectangle 104"/>
          <p:cNvSpPr>
            <a:spLocks noChangeArrowheads="1"/>
          </p:cNvSpPr>
          <p:nvPr/>
        </p:nvSpPr>
        <p:spPr bwMode="auto">
          <a:xfrm>
            <a:off x="3181350" y="1880306"/>
            <a:ext cx="1020366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69" name="Line 105"/>
          <p:cNvSpPr>
            <a:spLocks noChangeShapeType="1"/>
          </p:cNvSpPr>
          <p:nvPr/>
        </p:nvSpPr>
        <p:spPr bwMode="auto">
          <a:xfrm>
            <a:off x="3181350" y="1880307"/>
            <a:ext cx="1020366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70" name="Rectangle 106"/>
          <p:cNvSpPr>
            <a:spLocks noChangeArrowheads="1"/>
          </p:cNvSpPr>
          <p:nvPr/>
        </p:nvSpPr>
        <p:spPr bwMode="auto">
          <a:xfrm>
            <a:off x="4201716" y="1880306"/>
            <a:ext cx="4763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71" name="Line 107"/>
          <p:cNvSpPr>
            <a:spLocks noChangeShapeType="1"/>
          </p:cNvSpPr>
          <p:nvPr/>
        </p:nvSpPr>
        <p:spPr bwMode="auto">
          <a:xfrm>
            <a:off x="4201716" y="1880307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72" name="Line 108"/>
          <p:cNvSpPr>
            <a:spLocks noChangeShapeType="1"/>
          </p:cNvSpPr>
          <p:nvPr/>
        </p:nvSpPr>
        <p:spPr bwMode="auto">
          <a:xfrm>
            <a:off x="4201717" y="1880306"/>
            <a:ext cx="1190" cy="35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73" name="Rectangle 109"/>
          <p:cNvSpPr>
            <a:spLocks noChangeArrowheads="1"/>
          </p:cNvSpPr>
          <p:nvPr/>
        </p:nvSpPr>
        <p:spPr bwMode="auto">
          <a:xfrm>
            <a:off x="4206479" y="1880306"/>
            <a:ext cx="3073003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74" name="Line 110"/>
          <p:cNvSpPr>
            <a:spLocks noChangeShapeType="1"/>
          </p:cNvSpPr>
          <p:nvPr/>
        </p:nvSpPr>
        <p:spPr bwMode="auto">
          <a:xfrm>
            <a:off x="4206479" y="1880307"/>
            <a:ext cx="307300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75" name="Rectangle 111"/>
          <p:cNvSpPr>
            <a:spLocks noChangeArrowheads="1"/>
          </p:cNvSpPr>
          <p:nvPr/>
        </p:nvSpPr>
        <p:spPr bwMode="auto">
          <a:xfrm>
            <a:off x="7279482" y="1880306"/>
            <a:ext cx="3572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76" name="Line 112"/>
          <p:cNvSpPr>
            <a:spLocks noChangeShapeType="1"/>
          </p:cNvSpPr>
          <p:nvPr/>
        </p:nvSpPr>
        <p:spPr bwMode="auto">
          <a:xfrm>
            <a:off x="7279482" y="1880307"/>
            <a:ext cx="3572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77" name="Line 113"/>
          <p:cNvSpPr>
            <a:spLocks noChangeShapeType="1"/>
          </p:cNvSpPr>
          <p:nvPr/>
        </p:nvSpPr>
        <p:spPr bwMode="auto">
          <a:xfrm>
            <a:off x="7279481" y="1880306"/>
            <a:ext cx="1191" cy="35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78" name="Rectangle 114"/>
          <p:cNvSpPr>
            <a:spLocks noChangeArrowheads="1"/>
          </p:cNvSpPr>
          <p:nvPr/>
        </p:nvSpPr>
        <p:spPr bwMode="auto">
          <a:xfrm>
            <a:off x="1825228" y="1883878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79" name="Line 115"/>
          <p:cNvSpPr>
            <a:spLocks noChangeShapeType="1"/>
          </p:cNvSpPr>
          <p:nvPr/>
        </p:nvSpPr>
        <p:spPr bwMode="auto">
          <a:xfrm>
            <a:off x="1825229" y="1883878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80" name="Rectangle 116"/>
          <p:cNvSpPr>
            <a:spLocks noChangeArrowheads="1"/>
          </p:cNvSpPr>
          <p:nvPr/>
        </p:nvSpPr>
        <p:spPr bwMode="auto">
          <a:xfrm>
            <a:off x="2491978" y="1883878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81" name="Line 117"/>
          <p:cNvSpPr>
            <a:spLocks noChangeShapeType="1"/>
          </p:cNvSpPr>
          <p:nvPr/>
        </p:nvSpPr>
        <p:spPr bwMode="auto">
          <a:xfrm>
            <a:off x="2491979" y="1883878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82" name="Rectangle 118"/>
          <p:cNvSpPr>
            <a:spLocks noChangeArrowheads="1"/>
          </p:cNvSpPr>
          <p:nvPr/>
        </p:nvSpPr>
        <p:spPr bwMode="auto">
          <a:xfrm>
            <a:off x="3176587" y="1883878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83" name="Line 119"/>
          <p:cNvSpPr>
            <a:spLocks noChangeShapeType="1"/>
          </p:cNvSpPr>
          <p:nvPr/>
        </p:nvSpPr>
        <p:spPr bwMode="auto">
          <a:xfrm>
            <a:off x="3176588" y="1883878"/>
            <a:ext cx="1191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84" name="Rectangle 120"/>
          <p:cNvSpPr>
            <a:spLocks noChangeArrowheads="1"/>
          </p:cNvSpPr>
          <p:nvPr/>
        </p:nvSpPr>
        <p:spPr bwMode="auto">
          <a:xfrm>
            <a:off x="4201716" y="1883878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85" name="Line 121"/>
          <p:cNvSpPr>
            <a:spLocks noChangeShapeType="1"/>
          </p:cNvSpPr>
          <p:nvPr/>
        </p:nvSpPr>
        <p:spPr bwMode="auto">
          <a:xfrm>
            <a:off x="4201717" y="1883878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86" name="Rectangle 122"/>
          <p:cNvSpPr>
            <a:spLocks noChangeArrowheads="1"/>
          </p:cNvSpPr>
          <p:nvPr/>
        </p:nvSpPr>
        <p:spPr bwMode="auto">
          <a:xfrm>
            <a:off x="7279482" y="1883878"/>
            <a:ext cx="3572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87" name="Line 123"/>
          <p:cNvSpPr>
            <a:spLocks noChangeShapeType="1"/>
          </p:cNvSpPr>
          <p:nvPr/>
        </p:nvSpPr>
        <p:spPr bwMode="auto">
          <a:xfrm>
            <a:off x="7279481" y="1883878"/>
            <a:ext cx="1191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88" name="Rectangle 124"/>
          <p:cNvSpPr>
            <a:spLocks noChangeArrowheads="1"/>
          </p:cNvSpPr>
          <p:nvPr/>
        </p:nvSpPr>
        <p:spPr bwMode="auto">
          <a:xfrm>
            <a:off x="1971675" y="2311313"/>
            <a:ext cx="39754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Miss</a:t>
            </a:r>
            <a:endParaRPr lang="en-US" altLang="zh-TW" sz="1400"/>
          </a:p>
        </p:txBody>
      </p:sp>
      <p:sp>
        <p:nvSpPr>
          <p:cNvPr id="109689" name="Rectangle 125"/>
          <p:cNvSpPr>
            <a:spLocks noChangeArrowheads="1"/>
          </p:cNvSpPr>
          <p:nvPr/>
        </p:nvSpPr>
        <p:spPr bwMode="auto">
          <a:xfrm>
            <a:off x="2646760" y="2311313"/>
            <a:ext cx="39754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Miss</a:t>
            </a:r>
            <a:endParaRPr lang="en-US" altLang="zh-TW" sz="1400"/>
          </a:p>
        </p:txBody>
      </p:sp>
      <p:sp>
        <p:nvSpPr>
          <p:cNvPr id="109690" name="Rectangle 126"/>
          <p:cNvSpPr>
            <a:spLocks noChangeArrowheads="1"/>
          </p:cNvSpPr>
          <p:nvPr/>
        </p:nvSpPr>
        <p:spPr bwMode="auto">
          <a:xfrm>
            <a:off x="3577829" y="2311313"/>
            <a:ext cx="23884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Hit</a:t>
            </a:r>
            <a:endParaRPr lang="en-US" altLang="zh-TW" sz="1400"/>
          </a:p>
        </p:txBody>
      </p:sp>
      <p:sp>
        <p:nvSpPr>
          <p:cNvPr id="602239" name="Rectangle 127"/>
          <p:cNvSpPr>
            <a:spLocks noChangeArrowheads="1"/>
          </p:cNvSpPr>
          <p:nvPr/>
        </p:nvSpPr>
        <p:spPr bwMode="auto">
          <a:xfrm>
            <a:off x="4255294" y="2326790"/>
            <a:ext cx="3038781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TLB miss, but entry found in page</a:t>
            </a:r>
          </a:p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table; after retry, data miss in cache</a:t>
            </a:r>
            <a:endParaRPr lang="en-US" altLang="zh-TW" sz="1400"/>
          </a:p>
        </p:txBody>
      </p:sp>
      <p:sp>
        <p:nvSpPr>
          <p:cNvPr id="109692" name="Rectangle 129"/>
          <p:cNvSpPr>
            <a:spLocks noChangeArrowheads="1"/>
          </p:cNvSpPr>
          <p:nvPr/>
        </p:nvSpPr>
        <p:spPr bwMode="auto">
          <a:xfrm>
            <a:off x="1825228" y="2307740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93" name="Line 130"/>
          <p:cNvSpPr>
            <a:spLocks noChangeShapeType="1"/>
          </p:cNvSpPr>
          <p:nvPr/>
        </p:nvSpPr>
        <p:spPr bwMode="auto">
          <a:xfrm>
            <a:off x="1825228" y="2307740"/>
            <a:ext cx="4763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94" name="Line 131"/>
          <p:cNvSpPr>
            <a:spLocks noChangeShapeType="1"/>
          </p:cNvSpPr>
          <p:nvPr/>
        </p:nvSpPr>
        <p:spPr bwMode="auto">
          <a:xfrm>
            <a:off x="1825229" y="2307740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95" name="Rectangle 132"/>
          <p:cNvSpPr>
            <a:spLocks noChangeArrowheads="1"/>
          </p:cNvSpPr>
          <p:nvPr/>
        </p:nvSpPr>
        <p:spPr bwMode="auto">
          <a:xfrm>
            <a:off x="1829991" y="2307740"/>
            <a:ext cx="661988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96" name="Line 133"/>
          <p:cNvSpPr>
            <a:spLocks noChangeShapeType="1"/>
          </p:cNvSpPr>
          <p:nvPr/>
        </p:nvSpPr>
        <p:spPr bwMode="auto">
          <a:xfrm>
            <a:off x="1829991" y="2307740"/>
            <a:ext cx="661988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97" name="Rectangle 134"/>
          <p:cNvSpPr>
            <a:spLocks noChangeArrowheads="1"/>
          </p:cNvSpPr>
          <p:nvPr/>
        </p:nvSpPr>
        <p:spPr bwMode="auto">
          <a:xfrm>
            <a:off x="2491978" y="2307740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98" name="Line 135"/>
          <p:cNvSpPr>
            <a:spLocks noChangeShapeType="1"/>
          </p:cNvSpPr>
          <p:nvPr/>
        </p:nvSpPr>
        <p:spPr bwMode="auto">
          <a:xfrm>
            <a:off x="2491978" y="2307740"/>
            <a:ext cx="4763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699" name="Line 136"/>
          <p:cNvSpPr>
            <a:spLocks noChangeShapeType="1"/>
          </p:cNvSpPr>
          <p:nvPr/>
        </p:nvSpPr>
        <p:spPr bwMode="auto">
          <a:xfrm>
            <a:off x="2491979" y="2307740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00" name="Rectangle 137"/>
          <p:cNvSpPr>
            <a:spLocks noChangeArrowheads="1"/>
          </p:cNvSpPr>
          <p:nvPr/>
        </p:nvSpPr>
        <p:spPr bwMode="auto">
          <a:xfrm>
            <a:off x="2496741" y="2307740"/>
            <a:ext cx="679847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01" name="Line 138"/>
          <p:cNvSpPr>
            <a:spLocks noChangeShapeType="1"/>
          </p:cNvSpPr>
          <p:nvPr/>
        </p:nvSpPr>
        <p:spPr bwMode="auto">
          <a:xfrm>
            <a:off x="2496741" y="2307740"/>
            <a:ext cx="679847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02" name="Rectangle 139"/>
          <p:cNvSpPr>
            <a:spLocks noChangeArrowheads="1"/>
          </p:cNvSpPr>
          <p:nvPr/>
        </p:nvSpPr>
        <p:spPr bwMode="auto">
          <a:xfrm>
            <a:off x="3176587" y="2307740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03" name="Line 140"/>
          <p:cNvSpPr>
            <a:spLocks noChangeShapeType="1"/>
          </p:cNvSpPr>
          <p:nvPr/>
        </p:nvSpPr>
        <p:spPr bwMode="auto">
          <a:xfrm>
            <a:off x="3176587" y="2307740"/>
            <a:ext cx="4763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04" name="Line 141"/>
          <p:cNvSpPr>
            <a:spLocks noChangeShapeType="1"/>
          </p:cNvSpPr>
          <p:nvPr/>
        </p:nvSpPr>
        <p:spPr bwMode="auto">
          <a:xfrm>
            <a:off x="3176588" y="2307740"/>
            <a:ext cx="1191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05" name="Rectangle 142"/>
          <p:cNvSpPr>
            <a:spLocks noChangeArrowheads="1"/>
          </p:cNvSpPr>
          <p:nvPr/>
        </p:nvSpPr>
        <p:spPr bwMode="auto">
          <a:xfrm>
            <a:off x="3181350" y="2307740"/>
            <a:ext cx="1020366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06" name="Line 143"/>
          <p:cNvSpPr>
            <a:spLocks noChangeShapeType="1"/>
          </p:cNvSpPr>
          <p:nvPr/>
        </p:nvSpPr>
        <p:spPr bwMode="auto">
          <a:xfrm>
            <a:off x="3181350" y="2307740"/>
            <a:ext cx="1020366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07" name="Rectangle 144"/>
          <p:cNvSpPr>
            <a:spLocks noChangeArrowheads="1"/>
          </p:cNvSpPr>
          <p:nvPr/>
        </p:nvSpPr>
        <p:spPr bwMode="auto">
          <a:xfrm>
            <a:off x="4201716" y="2307740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08" name="Line 145"/>
          <p:cNvSpPr>
            <a:spLocks noChangeShapeType="1"/>
          </p:cNvSpPr>
          <p:nvPr/>
        </p:nvSpPr>
        <p:spPr bwMode="auto">
          <a:xfrm>
            <a:off x="4201716" y="2307740"/>
            <a:ext cx="4763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09" name="Line 146"/>
          <p:cNvSpPr>
            <a:spLocks noChangeShapeType="1"/>
          </p:cNvSpPr>
          <p:nvPr/>
        </p:nvSpPr>
        <p:spPr bwMode="auto">
          <a:xfrm>
            <a:off x="4201717" y="2307740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10" name="Rectangle 147"/>
          <p:cNvSpPr>
            <a:spLocks noChangeArrowheads="1"/>
          </p:cNvSpPr>
          <p:nvPr/>
        </p:nvSpPr>
        <p:spPr bwMode="auto">
          <a:xfrm>
            <a:off x="4206479" y="2307740"/>
            <a:ext cx="307300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11" name="Line 148"/>
          <p:cNvSpPr>
            <a:spLocks noChangeShapeType="1"/>
          </p:cNvSpPr>
          <p:nvPr/>
        </p:nvSpPr>
        <p:spPr bwMode="auto">
          <a:xfrm>
            <a:off x="4206479" y="2307740"/>
            <a:ext cx="3073003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12" name="Rectangle 149"/>
          <p:cNvSpPr>
            <a:spLocks noChangeArrowheads="1"/>
          </p:cNvSpPr>
          <p:nvPr/>
        </p:nvSpPr>
        <p:spPr bwMode="auto">
          <a:xfrm>
            <a:off x="7279482" y="2307740"/>
            <a:ext cx="3572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13" name="Line 150"/>
          <p:cNvSpPr>
            <a:spLocks noChangeShapeType="1"/>
          </p:cNvSpPr>
          <p:nvPr/>
        </p:nvSpPr>
        <p:spPr bwMode="auto">
          <a:xfrm>
            <a:off x="7279482" y="2307740"/>
            <a:ext cx="3572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14" name="Line 151"/>
          <p:cNvSpPr>
            <a:spLocks noChangeShapeType="1"/>
          </p:cNvSpPr>
          <p:nvPr/>
        </p:nvSpPr>
        <p:spPr bwMode="auto">
          <a:xfrm>
            <a:off x="7279481" y="2307740"/>
            <a:ext cx="1191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15" name="Rectangle 152"/>
          <p:cNvSpPr>
            <a:spLocks noChangeArrowheads="1"/>
          </p:cNvSpPr>
          <p:nvPr/>
        </p:nvSpPr>
        <p:spPr bwMode="auto">
          <a:xfrm>
            <a:off x="1825228" y="2312503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16" name="Line 153"/>
          <p:cNvSpPr>
            <a:spLocks noChangeShapeType="1"/>
          </p:cNvSpPr>
          <p:nvPr/>
        </p:nvSpPr>
        <p:spPr bwMode="auto">
          <a:xfrm>
            <a:off x="1825229" y="2312503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17" name="Rectangle 154"/>
          <p:cNvSpPr>
            <a:spLocks noChangeArrowheads="1"/>
          </p:cNvSpPr>
          <p:nvPr/>
        </p:nvSpPr>
        <p:spPr bwMode="auto">
          <a:xfrm>
            <a:off x="2491978" y="2312503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18" name="Line 155"/>
          <p:cNvSpPr>
            <a:spLocks noChangeShapeType="1"/>
          </p:cNvSpPr>
          <p:nvPr/>
        </p:nvSpPr>
        <p:spPr bwMode="auto">
          <a:xfrm>
            <a:off x="2491979" y="2312503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19" name="Rectangle 156"/>
          <p:cNvSpPr>
            <a:spLocks noChangeArrowheads="1"/>
          </p:cNvSpPr>
          <p:nvPr/>
        </p:nvSpPr>
        <p:spPr bwMode="auto">
          <a:xfrm>
            <a:off x="3176587" y="2312503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20" name="Line 157"/>
          <p:cNvSpPr>
            <a:spLocks noChangeShapeType="1"/>
          </p:cNvSpPr>
          <p:nvPr/>
        </p:nvSpPr>
        <p:spPr bwMode="auto">
          <a:xfrm>
            <a:off x="3176588" y="2312503"/>
            <a:ext cx="1191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21" name="Rectangle 158"/>
          <p:cNvSpPr>
            <a:spLocks noChangeArrowheads="1"/>
          </p:cNvSpPr>
          <p:nvPr/>
        </p:nvSpPr>
        <p:spPr bwMode="auto">
          <a:xfrm>
            <a:off x="4201716" y="2312503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22" name="Line 159"/>
          <p:cNvSpPr>
            <a:spLocks noChangeShapeType="1"/>
          </p:cNvSpPr>
          <p:nvPr/>
        </p:nvSpPr>
        <p:spPr bwMode="auto">
          <a:xfrm>
            <a:off x="4201717" y="2312503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23" name="Rectangle 160"/>
          <p:cNvSpPr>
            <a:spLocks noChangeArrowheads="1"/>
          </p:cNvSpPr>
          <p:nvPr/>
        </p:nvSpPr>
        <p:spPr bwMode="auto">
          <a:xfrm>
            <a:off x="7279482" y="2312503"/>
            <a:ext cx="3572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24" name="Line 161"/>
          <p:cNvSpPr>
            <a:spLocks noChangeShapeType="1"/>
          </p:cNvSpPr>
          <p:nvPr/>
        </p:nvSpPr>
        <p:spPr bwMode="auto">
          <a:xfrm>
            <a:off x="7279481" y="2312503"/>
            <a:ext cx="1191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25" name="Rectangle 162"/>
          <p:cNvSpPr>
            <a:spLocks noChangeArrowheads="1"/>
          </p:cNvSpPr>
          <p:nvPr/>
        </p:nvSpPr>
        <p:spPr bwMode="auto">
          <a:xfrm>
            <a:off x="1971675" y="2739938"/>
            <a:ext cx="39754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Miss</a:t>
            </a:r>
            <a:endParaRPr lang="en-US" altLang="zh-TW" sz="1400"/>
          </a:p>
        </p:txBody>
      </p:sp>
      <p:sp>
        <p:nvSpPr>
          <p:cNvPr id="109726" name="Rectangle 163"/>
          <p:cNvSpPr>
            <a:spLocks noChangeArrowheads="1"/>
          </p:cNvSpPr>
          <p:nvPr/>
        </p:nvSpPr>
        <p:spPr bwMode="auto">
          <a:xfrm>
            <a:off x="2646760" y="2739938"/>
            <a:ext cx="39754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Miss</a:t>
            </a:r>
            <a:endParaRPr lang="en-US" altLang="zh-TW" sz="1400"/>
          </a:p>
        </p:txBody>
      </p:sp>
      <p:sp>
        <p:nvSpPr>
          <p:cNvPr id="109727" name="Rectangle 164"/>
          <p:cNvSpPr>
            <a:spLocks noChangeArrowheads="1"/>
          </p:cNvSpPr>
          <p:nvPr/>
        </p:nvSpPr>
        <p:spPr bwMode="auto">
          <a:xfrm>
            <a:off x="3500438" y="2739938"/>
            <a:ext cx="39754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Miss</a:t>
            </a:r>
            <a:endParaRPr lang="en-US" altLang="zh-TW" sz="1400"/>
          </a:p>
        </p:txBody>
      </p:sp>
      <p:sp>
        <p:nvSpPr>
          <p:cNvPr id="602277" name="Rectangle 165"/>
          <p:cNvSpPr>
            <a:spLocks noChangeArrowheads="1"/>
          </p:cNvSpPr>
          <p:nvPr/>
        </p:nvSpPr>
        <p:spPr bwMode="auto">
          <a:xfrm>
            <a:off x="4255294" y="2755415"/>
            <a:ext cx="304839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TLB miss and is followed by a page</a:t>
            </a:r>
          </a:p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fault; after retry, data miss in cache </a:t>
            </a:r>
            <a:endParaRPr lang="en-US" altLang="zh-TW" sz="1400"/>
          </a:p>
        </p:txBody>
      </p:sp>
      <p:sp>
        <p:nvSpPr>
          <p:cNvPr id="109729" name="Rectangle 167"/>
          <p:cNvSpPr>
            <a:spLocks noChangeArrowheads="1"/>
          </p:cNvSpPr>
          <p:nvPr/>
        </p:nvSpPr>
        <p:spPr bwMode="auto">
          <a:xfrm>
            <a:off x="1825228" y="2735175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30" name="Line 168"/>
          <p:cNvSpPr>
            <a:spLocks noChangeShapeType="1"/>
          </p:cNvSpPr>
          <p:nvPr/>
        </p:nvSpPr>
        <p:spPr bwMode="auto">
          <a:xfrm>
            <a:off x="1825228" y="2735176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31" name="Line 169"/>
          <p:cNvSpPr>
            <a:spLocks noChangeShapeType="1"/>
          </p:cNvSpPr>
          <p:nvPr/>
        </p:nvSpPr>
        <p:spPr bwMode="auto">
          <a:xfrm>
            <a:off x="1825229" y="2735175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32" name="Rectangle 170"/>
          <p:cNvSpPr>
            <a:spLocks noChangeArrowheads="1"/>
          </p:cNvSpPr>
          <p:nvPr/>
        </p:nvSpPr>
        <p:spPr bwMode="auto">
          <a:xfrm>
            <a:off x="1829991" y="2735175"/>
            <a:ext cx="661988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33" name="Line 171"/>
          <p:cNvSpPr>
            <a:spLocks noChangeShapeType="1"/>
          </p:cNvSpPr>
          <p:nvPr/>
        </p:nvSpPr>
        <p:spPr bwMode="auto">
          <a:xfrm>
            <a:off x="1829991" y="2735176"/>
            <a:ext cx="6619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34" name="Rectangle 172"/>
          <p:cNvSpPr>
            <a:spLocks noChangeArrowheads="1"/>
          </p:cNvSpPr>
          <p:nvPr/>
        </p:nvSpPr>
        <p:spPr bwMode="auto">
          <a:xfrm>
            <a:off x="2491978" y="2735175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35" name="Line 173"/>
          <p:cNvSpPr>
            <a:spLocks noChangeShapeType="1"/>
          </p:cNvSpPr>
          <p:nvPr/>
        </p:nvSpPr>
        <p:spPr bwMode="auto">
          <a:xfrm>
            <a:off x="2491978" y="2735176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36" name="Line 174"/>
          <p:cNvSpPr>
            <a:spLocks noChangeShapeType="1"/>
          </p:cNvSpPr>
          <p:nvPr/>
        </p:nvSpPr>
        <p:spPr bwMode="auto">
          <a:xfrm>
            <a:off x="2491979" y="2735175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37" name="Rectangle 175"/>
          <p:cNvSpPr>
            <a:spLocks noChangeArrowheads="1"/>
          </p:cNvSpPr>
          <p:nvPr/>
        </p:nvSpPr>
        <p:spPr bwMode="auto">
          <a:xfrm>
            <a:off x="2496741" y="2735175"/>
            <a:ext cx="679847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38" name="Line 176"/>
          <p:cNvSpPr>
            <a:spLocks noChangeShapeType="1"/>
          </p:cNvSpPr>
          <p:nvPr/>
        </p:nvSpPr>
        <p:spPr bwMode="auto">
          <a:xfrm>
            <a:off x="2496741" y="2735176"/>
            <a:ext cx="679847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39" name="Rectangle 177"/>
          <p:cNvSpPr>
            <a:spLocks noChangeArrowheads="1"/>
          </p:cNvSpPr>
          <p:nvPr/>
        </p:nvSpPr>
        <p:spPr bwMode="auto">
          <a:xfrm>
            <a:off x="3176587" y="2735175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40" name="Line 178"/>
          <p:cNvSpPr>
            <a:spLocks noChangeShapeType="1"/>
          </p:cNvSpPr>
          <p:nvPr/>
        </p:nvSpPr>
        <p:spPr bwMode="auto">
          <a:xfrm>
            <a:off x="3176587" y="2735176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41" name="Line 179"/>
          <p:cNvSpPr>
            <a:spLocks noChangeShapeType="1"/>
          </p:cNvSpPr>
          <p:nvPr/>
        </p:nvSpPr>
        <p:spPr bwMode="auto">
          <a:xfrm>
            <a:off x="3176588" y="2735175"/>
            <a:ext cx="1191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42" name="Rectangle 180"/>
          <p:cNvSpPr>
            <a:spLocks noChangeArrowheads="1"/>
          </p:cNvSpPr>
          <p:nvPr/>
        </p:nvSpPr>
        <p:spPr bwMode="auto">
          <a:xfrm>
            <a:off x="3181350" y="2735175"/>
            <a:ext cx="1020366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43" name="Line 181"/>
          <p:cNvSpPr>
            <a:spLocks noChangeShapeType="1"/>
          </p:cNvSpPr>
          <p:nvPr/>
        </p:nvSpPr>
        <p:spPr bwMode="auto">
          <a:xfrm>
            <a:off x="3181350" y="2735176"/>
            <a:ext cx="1020366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44" name="Rectangle 182"/>
          <p:cNvSpPr>
            <a:spLocks noChangeArrowheads="1"/>
          </p:cNvSpPr>
          <p:nvPr/>
        </p:nvSpPr>
        <p:spPr bwMode="auto">
          <a:xfrm>
            <a:off x="4201716" y="2735175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45" name="Line 183"/>
          <p:cNvSpPr>
            <a:spLocks noChangeShapeType="1"/>
          </p:cNvSpPr>
          <p:nvPr/>
        </p:nvSpPr>
        <p:spPr bwMode="auto">
          <a:xfrm>
            <a:off x="4201716" y="2735176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46" name="Line 184"/>
          <p:cNvSpPr>
            <a:spLocks noChangeShapeType="1"/>
          </p:cNvSpPr>
          <p:nvPr/>
        </p:nvSpPr>
        <p:spPr bwMode="auto">
          <a:xfrm>
            <a:off x="4201717" y="2735175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47" name="Rectangle 185"/>
          <p:cNvSpPr>
            <a:spLocks noChangeArrowheads="1"/>
          </p:cNvSpPr>
          <p:nvPr/>
        </p:nvSpPr>
        <p:spPr bwMode="auto">
          <a:xfrm>
            <a:off x="4206479" y="2735175"/>
            <a:ext cx="307300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48" name="Line 186"/>
          <p:cNvSpPr>
            <a:spLocks noChangeShapeType="1"/>
          </p:cNvSpPr>
          <p:nvPr/>
        </p:nvSpPr>
        <p:spPr bwMode="auto">
          <a:xfrm>
            <a:off x="4206479" y="2735176"/>
            <a:ext cx="307300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49" name="Rectangle 187"/>
          <p:cNvSpPr>
            <a:spLocks noChangeArrowheads="1"/>
          </p:cNvSpPr>
          <p:nvPr/>
        </p:nvSpPr>
        <p:spPr bwMode="auto">
          <a:xfrm>
            <a:off x="7279482" y="2735175"/>
            <a:ext cx="3572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50" name="Line 188"/>
          <p:cNvSpPr>
            <a:spLocks noChangeShapeType="1"/>
          </p:cNvSpPr>
          <p:nvPr/>
        </p:nvSpPr>
        <p:spPr bwMode="auto">
          <a:xfrm>
            <a:off x="7279482" y="2735176"/>
            <a:ext cx="3572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51" name="Line 189"/>
          <p:cNvSpPr>
            <a:spLocks noChangeShapeType="1"/>
          </p:cNvSpPr>
          <p:nvPr/>
        </p:nvSpPr>
        <p:spPr bwMode="auto">
          <a:xfrm>
            <a:off x="7279481" y="2735175"/>
            <a:ext cx="1191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52" name="Rectangle 190"/>
          <p:cNvSpPr>
            <a:spLocks noChangeArrowheads="1"/>
          </p:cNvSpPr>
          <p:nvPr/>
        </p:nvSpPr>
        <p:spPr bwMode="auto">
          <a:xfrm>
            <a:off x="1825228" y="2739937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53" name="Line 191"/>
          <p:cNvSpPr>
            <a:spLocks noChangeShapeType="1"/>
          </p:cNvSpPr>
          <p:nvPr/>
        </p:nvSpPr>
        <p:spPr bwMode="auto">
          <a:xfrm>
            <a:off x="1825229" y="2739937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54" name="Rectangle 192"/>
          <p:cNvSpPr>
            <a:spLocks noChangeArrowheads="1"/>
          </p:cNvSpPr>
          <p:nvPr/>
        </p:nvSpPr>
        <p:spPr bwMode="auto">
          <a:xfrm>
            <a:off x="2491978" y="2739937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55" name="Line 193"/>
          <p:cNvSpPr>
            <a:spLocks noChangeShapeType="1"/>
          </p:cNvSpPr>
          <p:nvPr/>
        </p:nvSpPr>
        <p:spPr bwMode="auto">
          <a:xfrm>
            <a:off x="2491979" y="2739937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56" name="Rectangle 194"/>
          <p:cNvSpPr>
            <a:spLocks noChangeArrowheads="1"/>
          </p:cNvSpPr>
          <p:nvPr/>
        </p:nvSpPr>
        <p:spPr bwMode="auto">
          <a:xfrm>
            <a:off x="3176587" y="2739937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57" name="Line 195"/>
          <p:cNvSpPr>
            <a:spLocks noChangeShapeType="1"/>
          </p:cNvSpPr>
          <p:nvPr/>
        </p:nvSpPr>
        <p:spPr bwMode="auto">
          <a:xfrm>
            <a:off x="3176588" y="2739937"/>
            <a:ext cx="1191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58" name="Rectangle 196"/>
          <p:cNvSpPr>
            <a:spLocks noChangeArrowheads="1"/>
          </p:cNvSpPr>
          <p:nvPr/>
        </p:nvSpPr>
        <p:spPr bwMode="auto">
          <a:xfrm>
            <a:off x="4201716" y="2739937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59" name="Line 197"/>
          <p:cNvSpPr>
            <a:spLocks noChangeShapeType="1"/>
          </p:cNvSpPr>
          <p:nvPr/>
        </p:nvSpPr>
        <p:spPr bwMode="auto">
          <a:xfrm>
            <a:off x="4201717" y="2739937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60" name="Rectangle 198"/>
          <p:cNvSpPr>
            <a:spLocks noChangeArrowheads="1"/>
          </p:cNvSpPr>
          <p:nvPr/>
        </p:nvSpPr>
        <p:spPr bwMode="auto">
          <a:xfrm>
            <a:off x="7279482" y="2739937"/>
            <a:ext cx="3572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61" name="Line 199"/>
          <p:cNvSpPr>
            <a:spLocks noChangeShapeType="1"/>
          </p:cNvSpPr>
          <p:nvPr/>
        </p:nvSpPr>
        <p:spPr bwMode="auto">
          <a:xfrm>
            <a:off x="7279481" y="2739937"/>
            <a:ext cx="1191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62" name="Rectangle 200"/>
          <p:cNvSpPr>
            <a:spLocks noChangeArrowheads="1"/>
          </p:cNvSpPr>
          <p:nvPr/>
        </p:nvSpPr>
        <p:spPr bwMode="auto">
          <a:xfrm>
            <a:off x="1971675" y="3168563"/>
            <a:ext cx="39754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Miss</a:t>
            </a:r>
            <a:endParaRPr lang="en-US" altLang="zh-TW" sz="1400"/>
          </a:p>
        </p:txBody>
      </p:sp>
      <p:sp>
        <p:nvSpPr>
          <p:cNvPr id="109763" name="Rectangle 201"/>
          <p:cNvSpPr>
            <a:spLocks noChangeArrowheads="1"/>
          </p:cNvSpPr>
          <p:nvPr/>
        </p:nvSpPr>
        <p:spPr bwMode="auto">
          <a:xfrm>
            <a:off x="2722960" y="3168563"/>
            <a:ext cx="23884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Hit</a:t>
            </a:r>
            <a:endParaRPr lang="en-US" altLang="zh-TW" sz="1400"/>
          </a:p>
        </p:txBody>
      </p:sp>
      <p:sp>
        <p:nvSpPr>
          <p:cNvPr id="109764" name="Rectangle 202"/>
          <p:cNvSpPr>
            <a:spLocks noChangeArrowheads="1"/>
          </p:cNvSpPr>
          <p:nvPr/>
        </p:nvSpPr>
        <p:spPr bwMode="auto">
          <a:xfrm>
            <a:off x="3500438" y="3168563"/>
            <a:ext cx="39754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Miss</a:t>
            </a:r>
            <a:endParaRPr lang="en-US" altLang="zh-TW" sz="1400"/>
          </a:p>
        </p:txBody>
      </p:sp>
      <p:sp>
        <p:nvSpPr>
          <p:cNvPr id="602315" name="Rectangle 203"/>
          <p:cNvSpPr>
            <a:spLocks noChangeArrowheads="1"/>
          </p:cNvSpPr>
          <p:nvPr/>
        </p:nvSpPr>
        <p:spPr bwMode="auto">
          <a:xfrm>
            <a:off x="4255294" y="3168562"/>
            <a:ext cx="2792431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impossible; </a:t>
            </a:r>
          </a:p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not in TLB if page not in memory</a:t>
            </a:r>
            <a:endParaRPr lang="en-US" altLang="zh-TW" sz="1400"/>
          </a:p>
        </p:txBody>
      </p:sp>
      <p:sp>
        <p:nvSpPr>
          <p:cNvPr id="109766" name="Rectangle 205"/>
          <p:cNvSpPr>
            <a:spLocks noChangeArrowheads="1"/>
          </p:cNvSpPr>
          <p:nvPr/>
        </p:nvSpPr>
        <p:spPr bwMode="auto">
          <a:xfrm>
            <a:off x="1825228" y="3163800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67" name="Line 206"/>
          <p:cNvSpPr>
            <a:spLocks noChangeShapeType="1"/>
          </p:cNvSpPr>
          <p:nvPr/>
        </p:nvSpPr>
        <p:spPr bwMode="auto">
          <a:xfrm>
            <a:off x="1825228" y="3163801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68" name="Line 207"/>
          <p:cNvSpPr>
            <a:spLocks noChangeShapeType="1"/>
          </p:cNvSpPr>
          <p:nvPr/>
        </p:nvSpPr>
        <p:spPr bwMode="auto">
          <a:xfrm>
            <a:off x="1825229" y="3163800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69" name="Rectangle 208"/>
          <p:cNvSpPr>
            <a:spLocks noChangeArrowheads="1"/>
          </p:cNvSpPr>
          <p:nvPr/>
        </p:nvSpPr>
        <p:spPr bwMode="auto">
          <a:xfrm>
            <a:off x="1829991" y="3163800"/>
            <a:ext cx="661988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70" name="Line 209"/>
          <p:cNvSpPr>
            <a:spLocks noChangeShapeType="1"/>
          </p:cNvSpPr>
          <p:nvPr/>
        </p:nvSpPr>
        <p:spPr bwMode="auto">
          <a:xfrm>
            <a:off x="1829991" y="3163801"/>
            <a:ext cx="6619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71" name="Rectangle 210"/>
          <p:cNvSpPr>
            <a:spLocks noChangeArrowheads="1"/>
          </p:cNvSpPr>
          <p:nvPr/>
        </p:nvSpPr>
        <p:spPr bwMode="auto">
          <a:xfrm>
            <a:off x="2491978" y="3163800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72" name="Line 211"/>
          <p:cNvSpPr>
            <a:spLocks noChangeShapeType="1"/>
          </p:cNvSpPr>
          <p:nvPr/>
        </p:nvSpPr>
        <p:spPr bwMode="auto">
          <a:xfrm>
            <a:off x="2491978" y="3163801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73" name="Line 212"/>
          <p:cNvSpPr>
            <a:spLocks noChangeShapeType="1"/>
          </p:cNvSpPr>
          <p:nvPr/>
        </p:nvSpPr>
        <p:spPr bwMode="auto">
          <a:xfrm>
            <a:off x="2491979" y="3163800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74" name="Rectangle 213"/>
          <p:cNvSpPr>
            <a:spLocks noChangeArrowheads="1"/>
          </p:cNvSpPr>
          <p:nvPr/>
        </p:nvSpPr>
        <p:spPr bwMode="auto">
          <a:xfrm>
            <a:off x="2496741" y="3163800"/>
            <a:ext cx="679847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75" name="Line 214"/>
          <p:cNvSpPr>
            <a:spLocks noChangeShapeType="1"/>
          </p:cNvSpPr>
          <p:nvPr/>
        </p:nvSpPr>
        <p:spPr bwMode="auto">
          <a:xfrm>
            <a:off x="2496741" y="3163801"/>
            <a:ext cx="679847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76" name="Rectangle 215"/>
          <p:cNvSpPr>
            <a:spLocks noChangeArrowheads="1"/>
          </p:cNvSpPr>
          <p:nvPr/>
        </p:nvSpPr>
        <p:spPr bwMode="auto">
          <a:xfrm>
            <a:off x="3176587" y="3163800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77" name="Line 216"/>
          <p:cNvSpPr>
            <a:spLocks noChangeShapeType="1"/>
          </p:cNvSpPr>
          <p:nvPr/>
        </p:nvSpPr>
        <p:spPr bwMode="auto">
          <a:xfrm>
            <a:off x="3176587" y="3163801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78" name="Line 217"/>
          <p:cNvSpPr>
            <a:spLocks noChangeShapeType="1"/>
          </p:cNvSpPr>
          <p:nvPr/>
        </p:nvSpPr>
        <p:spPr bwMode="auto">
          <a:xfrm>
            <a:off x="3176588" y="3163800"/>
            <a:ext cx="1191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79" name="Rectangle 218"/>
          <p:cNvSpPr>
            <a:spLocks noChangeArrowheads="1"/>
          </p:cNvSpPr>
          <p:nvPr/>
        </p:nvSpPr>
        <p:spPr bwMode="auto">
          <a:xfrm>
            <a:off x="3181350" y="3163800"/>
            <a:ext cx="1020366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80" name="Line 219"/>
          <p:cNvSpPr>
            <a:spLocks noChangeShapeType="1"/>
          </p:cNvSpPr>
          <p:nvPr/>
        </p:nvSpPr>
        <p:spPr bwMode="auto">
          <a:xfrm>
            <a:off x="3181350" y="3163801"/>
            <a:ext cx="1020366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81" name="Rectangle 220"/>
          <p:cNvSpPr>
            <a:spLocks noChangeArrowheads="1"/>
          </p:cNvSpPr>
          <p:nvPr/>
        </p:nvSpPr>
        <p:spPr bwMode="auto">
          <a:xfrm>
            <a:off x="4201716" y="3163800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82" name="Line 221"/>
          <p:cNvSpPr>
            <a:spLocks noChangeShapeType="1"/>
          </p:cNvSpPr>
          <p:nvPr/>
        </p:nvSpPr>
        <p:spPr bwMode="auto">
          <a:xfrm>
            <a:off x="4201716" y="3163801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83" name="Line 222"/>
          <p:cNvSpPr>
            <a:spLocks noChangeShapeType="1"/>
          </p:cNvSpPr>
          <p:nvPr/>
        </p:nvSpPr>
        <p:spPr bwMode="auto">
          <a:xfrm>
            <a:off x="4201717" y="3163800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84" name="Rectangle 223"/>
          <p:cNvSpPr>
            <a:spLocks noChangeArrowheads="1"/>
          </p:cNvSpPr>
          <p:nvPr/>
        </p:nvSpPr>
        <p:spPr bwMode="auto">
          <a:xfrm>
            <a:off x="4206479" y="3163800"/>
            <a:ext cx="307300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85" name="Line 224"/>
          <p:cNvSpPr>
            <a:spLocks noChangeShapeType="1"/>
          </p:cNvSpPr>
          <p:nvPr/>
        </p:nvSpPr>
        <p:spPr bwMode="auto">
          <a:xfrm>
            <a:off x="4206479" y="3163801"/>
            <a:ext cx="307300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86" name="Rectangle 225"/>
          <p:cNvSpPr>
            <a:spLocks noChangeArrowheads="1"/>
          </p:cNvSpPr>
          <p:nvPr/>
        </p:nvSpPr>
        <p:spPr bwMode="auto">
          <a:xfrm>
            <a:off x="7279482" y="3163800"/>
            <a:ext cx="3572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87" name="Line 226"/>
          <p:cNvSpPr>
            <a:spLocks noChangeShapeType="1"/>
          </p:cNvSpPr>
          <p:nvPr/>
        </p:nvSpPr>
        <p:spPr bwMode="auto">
          <a:xfrm>
            <a:off x="7279482" y="3163801"/>
            <a:ext cx="3572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88" name="Line 227"/>
          <p:cNvSpPr>
            <a:spLocks noChangeShapeType="1"/>
          </p:cNvSpPr>
          <p:nvPr/>
        </p:nvSpPr>
        <p:spPr bwMode="auto">
          <a:xfrm>
            <a:off x="7279481" y="3163800"/>
            <a:ext cx="1191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89" name="Rectangle 228"/>
          <p:cNvSpPr>
            <a:spLocks noChangeArrowheads="1"/>
          </p:cNvSpPr>
          <p:nvPr/>
        </p:nvSpPr>
        <p:spPr bwMode="auto">
          <a:xfrm>
            <a:off x="1825228" y="3168562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90" name="Line 229"/>
          <p:cNvSpPr>
            <a:spLocks noChangeShapeType="1"/>
          </p:cNvSpPr>
          <p:nvPr/>
        </p:nvSpPr>
        <p:spPr bwMode="auto">
          <a:xfrm>
            <a:off x="1825229" y="3168562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91" name="Rectangle 230"/>
          <p:cNvSpPr>
            <a:spLocks noChangeArrowheads="1"/>
          </p:cNvSpPr>
          <p:nvPr/>
        </p:nvSpPr>
        <p:spPr bwMode="auto">
          <a:xfrm>
            <a:off x="2491978" y="3168562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92" name="Line 231"/>
          <p:cNvSpPr>
            <a:spLocks noChangeShapeType="1"/>
          </p:cNvSpPr>
          <p:nvPr/>
        </p:nvSpPr>
        <p:spPr bwMode="auto">
          <a:xfrm>
            <a:off x="2491979" y="3168562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93" name="Rectangle 232"/>
          <p:cNvSpPr>
            <a:spLocks noChangeArrowheads="1"/>
          </p:cNvSpPr>
          <p:nvPr/>
        </p:nvSpPr>
        <p:spPr bwMode="auto">
          <a:xfrm>
            <a:off x="3176587" y="3168562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94" name="Line 233"/>
          <p:cNvSpPr>
            <a:spLocks noChangeShapeType="1"/>
          </p:cNvSpPr>
          <p:nvPr/>
        </p:nvSpPr>
        <p:spPr bwMode="auto">
          <a:xfrm>
            <a:off x="3176588" y="3168562"/>
            <a:ext cx="1191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95" name="Rectangle 234"/>
          <p:cNvSpPr>
            <a:spLocks noChangeArrowheads="1"/>
          </p:cNvSpPr>
          <p:nvPr/>
        </p:nvSpPr>
        <p:spPr bwMode="auto">
          <a:xfrm>
            <a:off x="4201716" y="3168562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96" name="Line 235"/>
          <p:cNvSpPr>
            <a:spLocks noChangeShapeType="1"/>
          </p:cNvSpPr>
          <p:nvPr/>
        </p:nvSpPr>
        <p:spPr bwMode="auto">
          <a:xfrm>
            <a:off x="4201717" y="3168562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97" name="Rectangle 236"/>
          <p:cNvSpPr>
            <a:spLocks noChangeArrowheads="1"/>
          </p:cNvSpPr>
          <p:nvPr/>
        </p:nvSpPr>
        <p:spPr bwMode="auto">
          <a:xfrm>
            <a:off x="7279482" y="3168562"/>
            <a:ext cx="3572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98" name="Line 237"/>
          <p:cNvSpPr>
            <a:spLocks noChangeShapeType="1"/>
          </p:cNvSpPr>
          <p:nvPr/>
        </p:nvSpPr>
        <p:spPr bwMode="auto">
          <a:xfrm>
            <a:off x="7279481" y="3168562"/>
            <a:ext cx="1191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799" name="Rectangle 238"/>
          <p:cNvSpPr>
            <a:spLocks noChangeArrowheads="1"/>
          </p:cNvSpPr>
          <p:nvPr/>
        </p:nvSpPr>
        <p:spPr bwMode="auto">
          <a:xfrm>
            <a:off x="2046685" y="3595997"/>
            <a:ext cx="23884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Hit</a:t>
            </a:r>
            <a:endParaRPr lang="en-US" altLang="zh-TW" sz="1400"/>
          </a:p>
        </p:txBody>
      </p:sp>
      <p:sp>
        <p:nvSpPr>
          <p:cNvPr id="109800" name="Rectangle 239"/>
          <p:cNvSpPr>
            <a:spLocks noChangeArrowheads="1"/>
          </p:cNvSpPr>
          <p:nvPr/>
        </p:nvSpPr>
        <p:spPr bwMode="auto">
          <a:xfrm>
            <a:off x="2722960" y="3595997"/>
            <a:ext cx="23884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Hit</a:t>
            </a:r>
            <a:endParaRPr lang="en-US" altLang="zh-TW" sz="1400"/>
          </a:p>
        </p:txBody>
      </p:sp>
      <p:sp>
        <p:nvSpPr>
          <p:cNvPr id="109801" name="Rectangle 240"/>
          <p:cNvSpPr>
            <a:spLocks noChangeArrowheads="1"/>
          </p:cNvSpPr>
          <p:nvPr/>
        </p:nvSpPr>
        <p:spPr bwMode="auto">
          <a:xfrm>
            <a:off x="3500438" y="3595997"/>
            <a:ext cx="39754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Miss</a:t>
            </a:r>
            <a:endParaRPr lang="en-US" altLang="zh-TW" sz="1400"/>
          </a:p>
        </p:txBody>
      </p:sp>
      <p:sp>
        <p:nvSpPr>
          <p:cNvPr id="602353" name="Rectangle 241"/>
          <p:cNvSpPr>
            <a:spLocks noChangeArrowheads="1"/>
          </p:cNvSpPr>
          <p:nvPr/>
        </p:nvSpPr>
        <p:spPr bwMode="auto">
          <a:xfrm>
            <a:off x="4255294" y="3595996"/>
            <a:ext cx="2792431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impossible;</a:t>
            </a:r>
          </a:p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not in TLB if page not in memory</a:t>
            </a:r>
            <a:endParaRPr lang="en-US" altLang="zh-TW" sz="1400"/>
          </a:p>
        </p:txBody>
      </p:sp>
      <p:sp>
        <p:nvSpPr>
          <p:cNvPr id="109803" name="Rectangle 242"/>
          <p:cNvSpPr>
            <a:spLocks noChangeArrowheads="1"/>
          </p:cNvSpPr>
          <p:nvPr/>
        </p:nvSpPr>
        <p:spPr bwMode="auto">
          <a:xfrm>
            <a:off x="1825228" y="3592425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04" name="Line 243"/>
          <p:cNvSpPr>
            <a:spLocks noChangeShapeType="1"/>
          </p:cNvSpPr>
          <p:nvPr/>
        </p:nvSpPr>
        <p:spPr bwMode="auto">
          <a:xfrm>
            <a:off x="1825228" y="3592426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05" name="Line 244"/>
          <p:cNvSpPr>
            <a:spLocks noChangeShapeType="1"/>
          </p:cNvSpPr>
          <p:nvPr/>
        </p:nvSpPr>
        <p:spPr bwMode="auto">
          <a:xfrm>
            <a:off x="1825229" y="3592425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06" name="Rectangle 245"/>
          <p:cNvSpPr>
            <a:spLocks noChangeArrowheads="1"/>
          </p:cNvSpPr>
          <p:nvPr/>
        </p:nvSpPr>
        <p:spPr bwMode="auto">
          <a:xfrm>
            <a:off x="1829991" y="3592425"/>
            <a:ext cx="661988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07" name="Line 246"/>
          <p:cNvSpPr>
            <a:spLocks noChangeShapeType="1"/>
          </p:cNvSpPr>
          <p:nvPr/>
        </p:nvSpPr>
        <p:spPr bwMode="auto">
          <a:xfrm>
            <a:off x="1829991" y="3592426"/>
            <a:ext cx="6619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08" name="Rectangle 247"/>
          <p:cNvSpPr>
            <a:spLocks noChangeArrowheads="1"/>
          </p:cNvSpPr>
          <p:nvPr/>
        </p:nvSpPr>
        <p:spPr bwMode="auto">
          <a:xfrm>
            <a:off x="2491978" y="3592425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09" name="Line 248"/>
          <p:cNvSpPr>
            <a:spLocks noChangeShapeType="1"/>
          </p:cNvSpPr>
          <p:nvPr/>
        </p:nvSpPr>
        <p:spPr bwMode="auto">
          <a:xfrm>
            <a:off x="2491978" y="3592426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10" name="Line 249"/>
          <p:cNvSpPr>
            <a:spLocks noChangeShapeType="1"/>
          </p:cNvSpPr>
          <p:nvPr/>
        </p:nvSpPr>
        <p:spPr bwMode="auto">
          <a:xfrm>
            <a:off x="2491979" y="3592425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11" name="Rectangle 250"/>
          <p:cNvSpPr>
            <a:spLocks noChangeArrowheads="1"/>
          </p:cNvSpPr>
          <p:nvPr/>
        </p:nvSpPr>
        <p:spPr bwMode="auto">
          <a:xfrm>
            <a:off x="2496741" y="3592425"/>
            <a:ext cx="679847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12" name="Line 251"/>
          <p:cNvSpPr>
            <a:spLocks noChangeShapeType="1"/>
          </p:cNvSpPr>
          <p:nvPr/>
        </p:nvSpPr>
        <p:spPr bwMode="auto">
          <a:xfrm>
            <a:off x="2496741" y="3592426"/>
            <a:ext cx="679847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13" name="Rectangle 252"/>
          <p:cNvSpPr>
            <a:spLocks noChangeArrowheads="1"/>
          </p:cNvSpPr>
          <p:nvPr/>
        </p:nvSpPr>
        <p:spPr bwMode="auto">
          <a:xfrm>
            <a:off x="3176587" y="3592425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14" name="Line 253"/>
          <p:cNvSpPr>
            <a:spLocks noChangeShapeType="1"/>
          </p:cNvSpPr>
          <p:nvPr/>
        </p:nvSpPr>
        <p:spPr bwMode="auto">
          <a:xfrm>
            <a:off x="3176587" y="3592426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15" name="Line 254"/>
          <p:cNvSpPr>
            <a:spLocks noChangeShapeType="1"/>
          </p:cNvSpPr>
          <p:nvPr/>
        </p:nvSpPr>
        <p:spPr bwMode="auto">
          <a:xfrm>
            <a:off x="3176588" y="3592425"/>
            <a:ext cx="1191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16" name="Rectangle 255"/>
          <p:cNvSpPr>
            <a:spLocks noChangeArrowheads="1"/>
          </p:cNvSpPr>
          <p:nvPr/>
        </p:nvSpPr>
        <p:spPr bwMode="auto">
          <a:xfrm>
            <a:off x="3181350" y="3592425"/>
            <a:ext cx="1020366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17" name="Line 256"/>
          <p:cNvSpPr>
            <a:spLocks noChangeShapeType="1"/>
          </p:cNvSpPr>
          <p:nvPr/>
        </p:nvSpPr>
        <p:spPr bwMode="auto">
          <a:xfrm>
            <a:off x="3181350" y="3592426"/>
            <a:ext cx="1020366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18" name="Rectangle 257"/>
          <p:cNvSpPr>
            <a:spLocks noChangeArrowheads="1"/>
          </p:cNvSpPr>
          <p:nvPr/>
        </p:nvSpPr>
        <p:spPr bwMode="auto">
          <a:xfrm>
            <a:off x="4201716" y="3592425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19" name="Line 258"/>
          <p:cNvSpPr>
            <a:spLocks noChangeShapeType="1"/>
          </p:cNvSpPr>
          <p:nvPr/>
        </p:nvSpPr>
        <p:spPr bwMode="auto">
          <a:xfrm>
            <a:off x="4201716" y="3592426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20" name="Line 259"/>
          <p:cNvSpPr>
            <a:spLocks noChangeShapeType="1"/>
          </p:cNvSpPr>
          <p:nvPr/>
        </p:nvSpPr>
        <p:spPr bwMode="auto">
          <a:xfrm>
            <a:off x="4201717" y="3592425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21" name="Rectangle 260"/>
          <p:cNvSpPr>
            <a:spLocks noChangeArrowheads="1"/>
          </p:cNvSpPr>
          <p:nvPr/>
        </p:nvSpPr>
        <p:spPr bwMode="auto">
          <a:xfrm>
            <a:off x="4206479" y="3592425"/>
            <a:ext cx="307300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22" name="Line 261"/>
          <p:cNvSpPr>
            <a:spLocks noChangeShapeType="1"/>
          </p:cNvSpPr>
          <p:nvPr/>
        </p:nvSpPr>
        <p:spPr bwMode="auto">
          <a:xfrm>
            <a:off x="4206479" y="3592426"/>
            <a:ext cx="307300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23" name="Rectangle 262"/>
          <p:cNvSpPr>
            <a:spLocks noChangeArrowheads="1"/>
          </p:cNvSpPr>
          <p:nvPr/>
        </p:nvSpPr>
        <p:spPr bwMode="auto">
          <a:xfrm>
            <a:off x="7279482" y="3592425"/>
            <a:ext cx="3572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24" name="Line 263"/>
          <p:cNvSpPr>
            <a:spLocks noChangeShapeType="1"/>
          </p:cNvSpPr>
          <p:nvPr/>
        </p:nvSpPr>
        <p:spPr bwMode="auto">
          <a:xfrm>
            <a:off x="7279482" y="3592426"/>
            <a:ext cx="3572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25" name="Line 264"/>
          <p:cNvSpPr>
            <a:spLocks noChangeShapeType="1"/>
          </p:cNvSpPr>
          <p:nvPr/>
        </p:nvSpPr>
        <p:spPr bwMode="auto">
          <a:xfrm>
            <a:off x="7279481" y="3592425"/>
            <a:ext cx="1191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26" name="Rectangle 265"/>
          <p:cNvSpPr>
            <a:spLocks noChangeArrowheads="1"/>
          </p:cNvSpPr>
          <p:nvPr/>
        </p:nvSpPr>
        <p:spPr bwMode="auto">
          <a:xfrm>
            <a:off x="1825228" y="3597187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27" name="Line 266"/>
          <p:cNvSpPr>
            <a:spLocks noChangeShapeType="1"/>
          </p:cNvSpPr>
          <p:nvPr/>
        </p:nvSpPr>
        <p:spPr bwMode="auto">
          <a:xfrm>
            <a:off x="1825229" y="3597187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28" name="Rectangle 267"/>
          <p:cNvSpPr>
            <a:spLocks noChangeArrowheads="1"/>
          </p:cNvSpPr>
          <p:nvPr/>
        </p:nvSpPr>
        <p:spPr bwMode="auto">
          <a:xfrm>
            <a:off x="2491978" y="3597187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29" name="Line 268"/>
          <p:cNvSpPr>
            <a:spLocks noChangeShapeType="1"/>
          </p:cNvSpPr>
          <p:nvPr/>
        </p:nvSpPr>
        <p:spPr bwMode="auto">
          <a:xfrm>
            <a:off x="2491979" y="3597187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30" name="Rectangle 269"/>
          <p:cNvSpPr>
            <a:spLocks noChangeArrowheads="1"/>
          </p:cNvSpPr>
          <p:nvPr/>
        </p:nvSpPr>
        <p:spPr bwMode="auto">
          <a:xfrm>
            <a:off x="3176587" y="3597187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31" name="Line 270"/>
          <p:cNvSpPr>
            <a:spLocks noChangeShapeType="1"/>
          </p:cNvSpPr>
          <p:nvPr/>
        </p:nvSpPr>
        <p:spPr bwMode="auto">
          <a:xfrm>
            <a:off x="3176588" y="3597187"/>
            <a:ext cx="1191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32" name="Rectangle 271"/>
          <p:cNvSpPr>
            <a:spLocks noChangeArrowheads="1"/>
          </p:cNvSpPr>
          <p:nvPr/>
        </p:nvSpPr>
        <p:spPr bwMode="auto">
          <a:xfrm>
            <a:off x="4201716" y="3597187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33" name="Line 272"/>
          <p:cNvSpPr>
            <a:spLocks noChangeShapeType="1"/>
          </p:cNvSpPr>
          <p:nvPr/>
        </p:nvSpPr>
        <p:spPr bwMode="auto">
          <a:xfrm>
            <a:off x="4201717" y="3597187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34" name="Rectangle 273"/>
          <p:cNvSpPr>
            <a:spLocks noChangeArrowheads="1"/>
          </p:cNvSpPr>
          <p:nvPr/>
        </p:nvSpPr>
        <p:spPr bwMode="auto">
          <a:xfrm>
            <a:off x="7279482" y="3597187"/>
            <a:ext cx="3572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35" name="Line 274"/>
          <p:cNvSpPr>
            <a:spLocks noChangeShapeType="1"/>
          </p:cNvSpPr>
          <p:nvPr/>
        </p:nvSpPr>
        <p:spPr bwMode="auto">
          <a:xfrm>
            <a:off x="7279481" y="3597187"/>
            <a:ext cx="1191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36" name="Rectangle 275"/>
          <p:cNvSpPr>
            <a:spLocks noChangeArrowheads="1"/>
          </p:cNvSpPr>
          <p:nvPr/>
        </p:nvSpPr>
        <p:spPr bwMode="auto">
          <a:xfrm>
            <a:off x="2046685" y="4024622"/>
            <a:ext cx="23884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Hit</a:t>
            </a:r>
            <a:endParaRPr lang="en-US" altLang="zh-TW" sz="1400"/>
          </a:p>
        </p:txBody>
      </p:sp>
      <p:sp>
        <p:nvSpPr>
          <p:cNvPr id="109837" name="Rectangle 276"/>
          <p:cNvSpPr>
            <a:spLocks noChangeArrowheads="1"/>
          </p:cNvSpPr>
          <p:nvPr/>
        </p:nvSpPr>
        <p:spPr bwMode="auto">
          <a:xfrm>
            <a:off x="2646760" y="4024622"/>
            <a:ext cx="39754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Miss</a:t>
            </a:r>
            <a:endParaRPr lang="en-US" altLang="zh-TW" sz="1400"/>
          </a:p>
        </p:txBody>
      </p:sp>
      <p:sp>
        <p:nvSpPr>
          <p:cNvPr id="109838" name="Rectangle 277"/>
          <p:cNvSpPr>
            <a:spLocks noChangeArrowheads="1"/>
          </p:cNvSpPr>
          <p:nvPr/>
        </p:nvSpPr>
        <p:spPr bwMode="auto">
          <a:xfrm>
            <a:off x="3500438" y="4024622"/>
            <a:ext cx="39754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Miss</a:t>
            </a:r>
            <a:endParaRPr lang="en-US" altLang="zh-TW" sz="1400"/>
          </a:p>
        </p:txBody>
      </p:sp>
      <p:sp>
        <p:nvSpPr>
          <p:cNvPr id="602390" name="Rectangle 278"/>
          <p:cNvSpPr>
            <a:spLocks noChangeArrowheads="1"/>
          </p:cNvSpPr>
          <p:nvPr/>
        </p:nvSpPr>
        <p:spPr bwMode="auto">
          <a:xfrm>
            <a:off x="4255294" y="4024621"/>
            <a:ext cx="295112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impossible; </a:t>
            </a:r>
          </a:p>
          <a:p>
            <a:r>
              <a:rPr lang="en-US" altLang="zh-TW" sz="1400" b="1">
                <a:solidFill>
                  <a:srgbClr val="000000"/>
                </a:solidFill>
                <a:latin typeface="Arial" pitchFamily="34" charset="0"/>
              </a:rPr>
              <a:t>not in cache if page not in memory</a:t>
            </a:r>
            <a:endParaRPr lang="en-US" altLang="zh-TW" sz="1400"/>
          </a:p>
        </p:txBody>
      </p:sp>
      <p:sp>
        <p:nvSpPr>
          <p:cNvPr id="109840" name="Rectangle 280"/>
          <p:cNvSpPr>
            <a:spLocks noChangeArrowheads="1"/>
          </p:cNvSpPr>
          <p:nvPr/>
        </p:nvSpPr>
        <p:spPr bwMode="auto">
          <a:xfrm>
            <a:off x="1825228" y="4021050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41" name="Line 281"/>
          <p:cNvSpPr>
            <a:spLocks noChangeShapeType="1"/>
          </p:cNvSpPr>
          <p:nvPr/>
        </p:nvSpPr>
        <p:spPr bwMode="auto">
          <a:xfrm>
            <a:off x="1825228" y="4021051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42" name="Line 282"/>
          <p:cNvSpPr>
            <a:spLocks noChangeShapeType="1"/>
          </p:cNvSpPr>
          <p:nvPr/>
        </p:nvSpPr>
        <p:spPr bwMode="auto">
          <a:xfrm>
            <a:off x="1825229" y="4021050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43" name="Rectangle 283"/>
          <p:cNvSpPr>
            <a:spLocks noChangeArrowheads="1"/>
          </p:cNvSpPr>
          <p:nvPr/>
        </p:nvSpPr>
        <p:spPr bwMode="auto">
          <a:xfrm>
            <a:off x="1829991" y="4021050"/>
            <a:ext cx="661988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44" name="Line 284"/>
          <p:cNvSpPr>
            <a:spLocks noChangeShapeType="1"/>
          </p:cNvSpPr>
          <p:nvPr/>
        </p:nvSpPr>
        <p:spPr bwMode="auto">
          <a:xfrm>
            <a:off x="1829991" y="4021051"/>
            <a:ext cx="6619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45" name="Rectangle 285"/>
          <p:cNvSpPr>
            <a:spLocks noChangeArrowheads="1"/>
          </p:cNvSpPr>
          <p:nvPr/>
        </p:nvSpPr>
        <p:spPr bwMode="auto">
          <a:xfrm>
            <a:off x="2491978" y="4021050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46" name="Line 286"/>
          <p:cNvSpPr>
            <a:spLocks noChangeShapeType="1"/>
          </p:cNvSpPr>
          <p:nvPr/>
        </p:nvSpPr>
        <p:spPr bwMode="auto">
          <a:xfrm>
            <a:off x="2491978" y="4021051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47" name="Line 287"/>
          <p:cNvSpPr>
            <a:spLocks noChangeShapeType="1"/>
          </p:cNvSpPr>
          <p:nvPr/>
        </p:nvSpPr>
        <p:spPr bwMode="auto">
          <a:xfrm>
            <a:off x="2491979" y="4021050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48" name="Rectangle 288"/>
          <p:cNvSpPr>
            <a:spLocks noChangeArrowheads="1"/>
          </p:cNvSpPr>
          <p:nvPr/>
        </p:nvSpPr>
        <p:spPr bwMode="auto">
          <a:xfrm>
            <a:off x="2496741" y="4021050"/>
            <a:ext cx="679847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49" name="Line 289"/>
          <p:cNvSpPr>
            <a:spLocks noChangeShapeType="1"/>
          </p:cNvSpPr>
          <p:nvPr/>
        </p:nvSpPr>
        <p:spPr bwMode="auto">
          <a:xfrm>
            <a:off x="2496741" y="4021051"/>
            <a:ext cx="679847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50" name="Rectangle 290"/>
          <p:cNvSpPr>
            <a:spLocks noChangeArrowheads="1"/>
          </p:cNvSpPr>
          <p:nvPr/>
        </p:nvSpPr>
        <p:spPr bwMode="auto">
          <a:xfrm>
            <a:off x="3176587" y="4021050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51" name="Line 291"/>
          <p:cNvSpPr>
            <a:spLocks noChangeShapeType="1"/>
          </p:cNvSpPr>
          <p:nvPr/>
        </p:nvSpPr>
        <p:spPr bwMode="auto">
          <a:xfrm>
            <a:off x="3176587" y="4021051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52" name="Line 292"/>
          <p:cNvSpPr>
            <a:spLocks noChangeShapeType="1"/>
          </p:cNvSpPr>
          <p:nvPr/>
        </p:nvSpPr>
        <p:spPr bwMode="auto">
          <a:xfrm>
            <a:off x="3176588" y="4021050"/>
            <a:ext cx="1191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53" name="Rectangle 293"/>
          <p:cNvSpPr>
            <a:spLocks noChangeArrowheads="1"/>
          </p:cNvSpPr>
          <p:nvPr/>
        </p:nvSpPr>
        <p:spPr bwMode="auto">
          <a:xfrm>
            <a:off x="3181350" y="4021050"/>
            <a:ext cx="1020366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54" name="Line 294"/>
          <p:cNvSpPr>
            <a:spLocks noChangeShapeType="1"/>
          </p:cNvSpPr>
          <p:nvPr/>
        </p:nvSpPr>
        <p:spPr bwMode="auto">
          <a:xfrm>
            <a:off x="3181350" y="4021051"/>
            <a:ext cx="1020366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55" name="Rectangle 295"/>
          <p:cNvSpPr>
            <a:spLocks noChangeArrowheads="1"/>
          </p:cNvSpPr>
          <p:nvPr/>
        </p:nvSpPr>
        <p:spPr bwMode="auto">
          <a:xfrm>
            <a:off x="4201716" y="4021050"/>
            <a:ext cx="476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56" name="Line 296"/>
          <p:cNvSpPr>
            <a:spLocks noChangeShapeType="1"/>
          </p:cNvSpPr>
          <p:nvPr/>
        </p:nvSpPr>
        <p:spPr bwMode="auto">
          <a:xfrm>
            <a:off x="4201716" y="4021051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57" name="Line 297"/>
          <p:cNvSpPr>
            <a:spLocks noChangeShapeType="1"/>
          </p:cNvSpPr>
          <p:nvPr/>
        </p:nvSpPr>
        <p:spPr bwMode="auto">
          <a:xfrm>
            <a:off x="4201717" y="4021050"/>
            <a:ext cx="1190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58" name="Rectangle 298"/>
          <p:cNvSpPr>
            <a:spLocks noChangeArrowheads="1"/>
          </p:cNvSpPr>
          <p:nvPr/>
        </p:nvSpPr>
        <p:spPr bwMode="auto">
          <a:xfrm>
            <a:off x="4206479" y="4021050"/>
            <a:ext cx="3073003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59" name="Line 299"/>
          <p:cNvSpPr>
            <a:spLocks noChangeShapeType="1"/>
          </p:cNvSpPr>
          <p:nvPr/>
        </p:nvSpPr>
        <p:spPr bwMode="auto">
          <a:xfrm>
            <a:off x="4206479" y="4021051"/>
            <a:ext cx="307300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60" name="Rectangle 300"/>
          <p:cNvSpPr>
            <a:spLocks noChangeArrowheads="1"/>
          </p:cNvSpPr>
          <p:nvPr/>
        </p:nvSpPr>
        <p:spPr bwMode="auto">
          <a:xfrm>
            <a:off x="7279482" y="4021050"/>
            <a:ext cx="3572" cy="47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61" name="Line 301"/>
          <p:cNvSpPr>
            <a:spLocks noChangeShapeType="1"/>
          </p:cNvSpPr>
          <p:nvPr/>
        </p:nvSpPr>
        <p:spPr bwMode="auto">
          <a:xfrm>
            <a:off x="7279482" y="4021051"/>
            <a:ext cx="3572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62" name="Line 302"/>
          <p:cNvSpPr>
            <a:spLocks noChangeShapeType="1"/>
          </p:cNvSpPr>
          <p:nvPr/>
        </p:nvSpPr>
        <p:spPr bwMode="auto">
          <a:xfrm>
            <a:off x="7279481" y="4021050"/>
            <a:ext cx="1191" cy="47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63" name="Rectangle 303"/>
          <p:cNvSpPr>
            <a:spLocks noChangeArrowheads="1"/>
          </p:cNvSpPr>
          <p:nvPr/>
        </p:nvSpPr>
        <p:spPr bwMode="auto">
          <a:xfrm>
            <a:off x="1825228" y="4025812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64" name="Line 304"/>
          <p:cNvSpPr>
            <a:spLocks noChangeShapeType="1"/>
          </p:cNvSpPr>
          <p:nvPr/>
        </p:nvSpPr>
        <p:spPr bwMode="auto">
          <a:xfrm>
            <a:off x="1825229" y="4025812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65" name="Rectangle 305"/>
          <p:cNvSpPr>
            <a:spLocks noChangeArrowheads="1"/>
          </p:cNvSpPr>
          <p:nvPr/>
        </p:nvSpPr>
        <p:spPr bwMode="auto">
          <a:xfrm>
            <a:off x="1825228" y="4449675"/>
            <a:ext cx="4763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66" name="Line 306"/>
          <p:cNvSpPr>
            <a:spLocks noChangeShapeType="1"/>
          </p:cNvSpPr>
          <p:nvPr/>
        </p:nvSpPr>
        <p:spPr bwMode="auto">
          <a:xfrm>
            <a:off x="1825228" y="4449676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67" name="Line 307"/>
          <p:cNvSpPr>
            <a:spLocks noChangeShapeType="1"/>
          </p:cNvSpPr>
          <p:nvPr/>
        </p:nvSpPr>
        <p:spPr bwMode="auto">
          <a:xfrm>
            <a:off x="1825229" y="4449675"/>
            <a:ext cx="1190" cy="35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68" name="Rectangle 308"/>
          <p:cNvSpPr>
            <a:spLocks noChangeArrowheads="1"/>
          </p:cNvSpPr>
          <p:nvPr/>
        </p:nvSpPr>
        <p:spPr bwMode="auto">
          <a:xfrm>
            <a:off x="1825228" y="4449675"/>
            <a:ext cx="4763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69" name="Line 309"/>
          <p:cNvSpPr>
            <a:spLocks noChangeShapeType="1"/>
          </p:cNvSpPr>
          <p:nvPr/>
        </p:nvSpPr>
        <p:spPr bwMode="auto">
          <a:xfrm>
            <a:off x="1825228" y="4449676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70" name="Line 310"/>
          <p:cNvSpPr>
            <a:spLocks noChangeShapeType="1"/>
          </p:cNvSpPr>
          <p:nvPr/>
        </p:nvSpPr>
        <p:spPr bwMode="auto">
          <a:xfrm>
            <a:off x="1825229" y="4449675"/>
            <a:ext cx="1190" cy="35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71" name="Rectangle 311"/>
          <p:cNvSpPr>
            <a:spLocks noChangeArrowheads="1"/>
          </p:cNvSpPr>
          <p:nvPr/>
        </p:nvSpPr>
        <p:spPr bwMode="auto">
          <a:xfrm>
            <a:off x="1829991" y="4449675"/>
            <a:ext cx="661988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72" name="Line 312"/>
          <p:cNvSpPr>
            <a:spLocks noChangeShapeType="1"/>
          </p:cNvSpPr>
          <p:nvPr/>
        </p:nvSpPr>
        <p:spPr bwMode="auto">
          <a:xfrm>
            <a:off x="1829991" y="4449676"/>
            <a:ext cx="6619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73" name="Rectangle 313"/>
          <p:cNvSpPr>
            <a:spLocks noChangeArrowheads="1"/>
          </p:cNvSpPr>
          <p:nvPr/>
        </p:nvSpPr>
        <p:spPr bwMode="auto">
          <a:xfrm>
            <a:off x="2491978" y="4025812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74" name="Line 314"/>
          <p:cNvSpPr>
            <a:spLocks noChangeShapeType="1"/>
          </p:cNvSpPr>
          <p:nvPr/>
        </p:nvSpPr>
        <p:spPr bwMode="auto">
          <a:xfrm>
            <a:off x="2491979" y="4025812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75" name="Rectangle 315"/>
          <p:cNvSpPr>
            <a:spLocks noChangeArrowheads="1"/>
          </p:cNvSpPr>
          <p:nvPr/>
        </p:nvSpPr>
        <p:spPr bwMode="auto">
          <a:xfrm>
            <a:off x="2491978" y="4449675"/>
            <a:ext cx="4763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76" name="Line 316"/>
          <p:cNvSpPr>
            <a:spLocks noChangeShapeType="1"/>
          </p:cNvSpPr>
          <p:nvPr/>
        </p:nvSpPr>
        <p:spPr bwMode="auto">
          <a:xfrm>
            <a:off x="2491978" y="4449676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77" name="Line 317"/>
          <p:cNvSpPr>
            <a:spLocks noChangeShapeType="1"/>
          </p:cNvSpPr>
          <p:nvPr/>
        </p:nvSpPr>
        <p:spPr bwMode="auto">
          <a:xfrm>
            <a:off x="2491979" y="4449675"/>
            <a:ext cx="1190" cy="35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78" name="Rectangle 318"/>
          <p:cNvSpPr>
            <a:spLocks noChangeArrowheads="1"/>
          </p:cNvSpPr>
          <p:nvPr/>
        </p:nvSpPr>
        <p:spPr bwMode="auto">
          <a:xfrm>
            <a:off x="2496741" y="4449675"/>
            <a:ext cx="679847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79" name="Line 319"/>
          <p:cNvSpPr>
            <a:spLocks noChangeShapeType="1"/>
          </p:cNvSpPr>
          <p:nvPr/>
        </p:nvSpPr>
        <p:spPr bwMode="auto">
          <a:xfrm>
            <a:off x="2496741" y="4449676"/>
            <a:ext cx="679847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80" name="Rectangle 320"/>
          <p:cNvSpPr>
            <a:spLocks noChangeArrowheads="1"/>
          </p:cNvSpPr>
          <p:nvPr/>
        </p:nvSpPr>
        <p:spPr bwMode="auto">
          <a:xfrm>
            <a:off x="3176587" y="4025812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81" name="Line 321"/>
          <p:cNvSpPr>
            <a:spLocks noChangeShapeType="1"/>
          </p:cNvSpPr>
          <p:nvPr/>
        </p:nvSpPr>
        <p:spPr bwMode="auto">
          <a:xfrm>
            <a:off x="3176588" y="4025812"/>
            <a:ext cx="1191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82" name="Rectangle 322"/>
          <p:cNvSpPr>
            <a:spLocks noChangeArrowheads="1"/>
          </p:cNvSpPr>
          <p:nvPr/>
        </p:nvSpPr>
        <p:spPr bwMode="auto">
          <a:xfrm>
            <a:off x="3176587" y="4449675"/>
            <a:ext cx="4763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83" name="Line 323"/>
          <p:cNvSpPr>
            <a:spLocks noChangeShapeType="1"/>
          </p:cNvSpPr>
          <p:nvPr/>
        </p:nvSpPr>
        <p:spPr bwMode="auto">
          <a:xfrm>
            <a:off x="3176587" y="4449676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84" name="Line 324"/>
          <p:cNvSpPr>
            <a:spLocks noChangeShapeType="1"/>
          </p:cNvSpPr>
          <p:nvPr/>
        </p:nvSpPr>
        <p:spPr bwMode="auto">
          <a:xfrm>
            <a:off x="3176588" y="4449675"/>
            <a:ext cx="1191" cy="35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85" name="Rectangle 325"/>
          <p:cNvSpPr>
            <a:spLocks noChangeArrowheads="1"/>
          </p:cNvSpPr>
          <p:nvPr/>
        </p:nvSpPr>
        <p:spPr bwMode="auto">
          <a:xfrm>
            <a:off x="3181350" y="4449675"/>
            <a:ext cx="1020366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86" name="Line 326"/>
          <p:cNvSpPr>
            <a:spLocks noChangeShapeType="1"/>
          </p:cNvSpPr>
          <p:nvPr/>
        </p:nvSpPr>
        <p:spPr bwMode="auto">
          <a:xfrm>
            <a:off x="3181350" y="4449676"/>
            <a:ext cx="1020366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87" name="Rectangle 327"/>
          <p:cNvSpPr>
            <a:spLocks noChangeArrowheads="1"/>
          </p:cNvSpPr>
          <p:nvPr/>
        </p:nvSpPr>
        <p:spPr bwMode="auto">
          <a:xfrm>
            <a:off x="4201716" y="4025812"/>
            <a:ext cx="4763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88" name="Line 328"/>
          <p:cNvSpPr>
            <a:spLocks noChangeShapeType="1"/>
          </p:cNvSpPr>
          <p:nvPr/>
        </p:nvSpPr>
        <p:spPr bwMode="auto">
          <a:xfrm>
            <a:off x="4201717" y="4025812"/>
            <a:ext cx="1190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89" name="Rectangle 329"/>
          <p:cNvSpPr>
            <a:spLocks noChangeArrowheads="1"/>
          </p:cNvSpPr>
          <p:nvPr/>
        </p:nvSpPr>
        <p:spPr bwMode="auto">
          <a:xfrm>
            <a:off x="4201716" y="4449675"/>
            <a:ext cx="4763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90" name="Line 330"/>
          <p:cNvSpPr>
            <a:spLocks noChangeShapeType="1"/>
          </p:cNvSpPr>
          <p:nvPr/>
        </p:nvSpPr>
        <p:spPr bwMode="auto">
          <a:xfrm>
            <a:off x="4201716" y="4449676"/>
            <a:ext cx="476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91" name="Line 331"/>
          <p:cNvSpPr>
            <a:spLocks noChangeShapeType="1"/>
          </p:cNvSpPr>
          <p:nvPr/>
        </p:nvSpPr>
        <p:spPr bwMode="auto">
          <a:xfrm>
            <a:off x="4201717" y="4449675"/>
            <a:ext cx="1190" cy="35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92" name="Rectangle 332"/>
          <p:cNvSpPr>
            <a:spLocks noChangeArrowheads="1"/>
          </p:cNvSpPr>
          <p:nvPr/>
        </p:nvSpPr>
        <p:spPr bwMode="auto">
          <a:xfrm>
            <a:off x="4206479" y="4449675"/>
            <a:ext cx="3073003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93" name="Line 333"/>
          <p:cNvSpPr>
            <a:spLocks noChangeShapeType="1"/>
          </p:cNvSpPr>
          <p:nvPr/>
        </p:nvSpPr>
        <p:spPr bwMode="auto">
          <a:xfrm>
            <a:off x="4206479" y="4449676"/>
            <a:ext cx="3073003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94" name="Rectangle 334"/>
          <p:cNvSpPr>
            <a:spLocks noChangeArrowheads="1"/>
          </p:cNvSpPr>
          <p:nvPr/>
        </p:nvSpPr>
        <p:spPr bwMode="auto">
          <a:xfrm>
            <a:off x="7279482" y="4025812"/>
            <a:ext cx="3572" cy="4238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95" name="Line 335"/>
          <p:cNvSpPr>
            <a:spLocks noChangeShapeType="1"/>
          </p:cNvSpPr>
          <p:nvPr/>
        </p:nvSpPr>
        <p:spPr bwMode="auto">
          <a:xfrm>
            <a:off x="7279481" y="4025812"/>
            <a:ext cx="1191" cy="42386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96" name="Rectangle 336"/>
          <p:cNvSpPr>
            <a:spLocks noChangeArrowheads="1"/>
          </p:cNvSpPr>
          <p:nvPr/>
        </p:nvSpPr>
        <p:spPr bwMode="auto">
          <a:xfrm>
            <a:off x="7279482" y="4449675"/>
            <a:ext cx="3572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97" name="Line 337"/>
          <p:cNvSpPr>
            <a:spLocks noChangeShapeType="1"/>
          </p:cNvSpPr>
          <p:nvPr/>
        </p:nvSpPr>
        <p:spPr bwMode="auto">
          <a:xfrm>
            <a:off x="7279482" y="4449676"/>
            <a:ext cx="3572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98" name="Line 338"/>
          <p:cNvSpPr>
            <a:spLocks noChangeShapeType="1"/>
          </p:cNvSpPr>
          <p:nvPr/>
        </p:nvSpPr>
        <p:spPr bwMode="auto">
          <a:xfrm>
            <a:off x="7279481" y="4449675"/>
            <a:ext cx="1191" cy="35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899" name="Rectangle 339"/>
          <p:cNvSpPr>
            <a:spLocks noChangeArrowheads="1"/>
          </p:cNvSpPr>
          <p:nvPr/>
        </p:nvSpPr>
        <p:spPr bwMode="auto">
          <a:xfrm>
            <a:off x="7279482" y="4449675"/>
            <a:ext cx="3572" cy="357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900" name="Line 340"/>
          <p:cNvSpPr>
            <a:spLocks noChangeShapeType="1"/>
          </p:cNvSpPr>
          <p:nvPr/>
        </p:nvSpPr>
        <p:spPr bwMode="auto">
          <a:xfrm>
            <a:off x="7279482" y="4449676"/>
            <a:ext cx="3572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901" name="Line 341"/>
          <p:cNvSpPr>
            <a:spLocks noChangeShapeType="1"/>
          </p:cNvSpPr>
          <p:nvPr/>
        </p:nvSpPr>
        <p:spPr bwMode="auto">
          <a:xfrm>
            <a:off x="7279481" y="4449675"/>
            <a:ext cx="1191" cy="357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400"/>
          </a:p>
        </p:txBody>
      </p:sp>
      <p:sp>
        <p:nvSpPr>
          <p:cNvPr id="109902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535E945B-3EB7-40A4-98A6-92E41BE98D18}" type="slidenum">
              <a:rPr lang="zh-TW" altLang="en-US"/>
              <a:pPr defTabSz="571500"/>
              <a:t>36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6595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2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2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2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2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2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2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2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2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02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02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02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02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02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02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2163" grpId="0" autoUpdateAnimBg="0"/>
      <p:bldP spid="602201" grpId="0" autoUpdateAnimBg="0"/>
      <p:bldP spid="602239" grpId="0" autoUpdateAnimBg="0"/>
      <p:bldP spid="602277" grpId="0" autoUpdateAnimBg="0"/>
      <p:bldP spid="602315" grpId="0" autoUpdateAnimBg="0"/>
      <p:bldP spid="602353" grpId="0" autoUpdateAnimBg="0"/>
      <p:bldP spid="602390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18" name="Rectangle 46"/>
          <p:cNvSpPr>
            <a:spLocks noGrp="1" noChangeArrowheads="1"/>
          </p:cNvSpPr>
          <p:nvPr>
            <p:ph type="body" idx="1"/>
          </p:nvPr>
        </p:nvSpPr>
        <p:spPr>
          <a:xfrm>
            <a:off x="405353" y="816963"/>
            <a:ext cx="4667993" cy="3452875"/>
          </a:xfrm>
        </p:spPr>
        <p:txBody>
          <a:bodyPr/>
          <a:lstStyle/>
          <a:p>
            <a:r>
              <a:rPr lang="en-US" altLang="zh-TW" sz="2000" dirty="0"/>
              <a:t>TLB access is serial with cache access</a:t>
            </a:r>
          </a:p>
          <a:p>
            <a:pPr lvl="1"/>
            <a:r>
              <a:rPr lang="en-US" altLang="zh-TW" sz="1800" dirty="0"/>
              <a:t>Cache is physically indexed and tagged</a:t>
            </a:r>
            <a:br>
              <a:rPr lang="en-US" altLang="zh-TW" dirty="0"/>
            </a:br>
            <a:br>
              <a:rPr lang="en-US" altLang="zh-TW" dirty="0"/>
            </a:br>
            <a:br>
              <a:rPr lang="en-US" altLang="zh-TW" dirty="0"/>
            </a:br>
            <a:endParaRPr lang="en-US" altLang="zh-TW" dirty="0"/>
          </a:p>
          <a:p>
            <a:pPr lvl="1"/>
            <a:endParaRPr lang="en-US" altLang="zh-TW" dirty="0"/>
          </a:p>
          <a:p>
            <a:pPr marL="342891" lvl="1" indent="0">
              <a:buNone/>
            </a:pPr>
            <a:endParaRPr lang="en-US" altLang="zh-TW" dirty="0"/>
          </a:p>
          <a:p>
            <a:r>
              <a:rPr lang="en-US" altLang="zh-TW" sz="2000" dirty="0"/>
              <a:t>Alternative: </a:t>
            </a:r>
            <a:r>
              <a:rPr lang="en-US" altLang="zh-TW" sz="2000" dirty="0">
                <a:solidFill>
                  <a:srgbClr val="FF0000"/>
                </a:solidFill>
              </a:rPr>
              <a:t>Virtually addressed cache</a:t>
            </a:r>
          </a:p>
          <a:p>
            <a:pPr lvl="1"/>
            <a:r>
              <a:rPr lang="en-US" altLang="zh-TW" sz="1800" dirty="0"/>
              <a:t>Cache is </a:t>
            </a:r>
            <a:r>
              <a:rPr lang="en-US" altLang="zh-TW" sz="1800" dirty="0">
                <a:solidFill>
                  <a:srgbClr val="FF0000"/>
                </a:solidFill>
              </a:rPr>
              <a:t>virtually indexed and virtually tagged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267337" y="1677103"/>
            <a:ext cx="4716710" cy="1103025"/>
            <a:chOff x="1785938" y="1577579"/>
            <a:chExt cx="5375672" cy="1157610"/>
          </a:xfrm>
        </p:grpSpPr>
        <p:sp>
          <p:nvSpPr>
            <p:cNvPr id="110594" name="Rectangle 2"/>
            <p:cNvSpPr>
              <a:spLocks noChangeArrowheads="1"/>
            </p:cNvSpPr>
            <p:nvPr/>
          </p:nvSpPr>
          <p:spPr bwMode="auto">
            <a:xfrm>
              <a:off x="3209925" y="1683544"/>
              <a:ext cx="866775" cy="6762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9056" tIns="34529" rIns="69056" bIns="34529" anchor="ctr"/>
            <a:lstStyle/>
            <a:p>
              <a:pPr algn="ctr"/>
              <a:r>
                <a:rPr kumimoji="1" lang="en-US" altLang="zh-TW" sz="1200" b="1">
                  <a:latin typeface="Arial" pitchFamily="34" charset="0"/>
                </a:rPr>
                <a:t>Trans-</a:t>
              </a:r>
            </a:p>
            <a:p>
              <a:pPr algn="ctr"/>
              <a:r>
                <a:rPr kumimoji="1" lang="en-US" altLang="zh-TW" sz="1200" b="1">
                  <a:latin typeface="Arial" pitchFamily="34" charset="0"/>
                </a:rPr>
                <a:t>lation</a:t>
              </a:r>
            </a:p>
          </p:txBody>
        </p:sp>
        <p:sp>
          <p:nvSpPr>
            <p:cNvPr id="110595" name="Rectangle 3"/>
            <p:cNvSpPr>
              <a:spLocks noChangeArrowheads="1"/>
            </p:cNvSpPr>
            <p:nvPr/>
          </p:nvSpPr>
          <p:spPr bwMode="auto">
            <a:xfrm>
              <a:off x="4695825" y="1683544"/>
              <a:ext cx="866775" cy="6762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9056" tIns="34529" rIns="69056" bIns="34529" anchor="ctr"/>
            <a:lstStyle/>
            <a:p>
              <a:pPr algn="ctr"/>
              <a:r>
                <a:rPr kumimoji="1" lang="en-US" altLang="zh-TW" sz="1200" b="1">
                  <a:latin typeface="Arial" pitchFamily="34" charset="0"/>
                </a:rPr>
                <a:t>Cache</a:t>
              </a:r>
            </a:p>
          </p:txBody>
        </p:sp>
        <p:sp>
          <p:nvSpPr>
            <p:cNvPr id="110596" name="Rectangle 4"/>
            <p:cNvSpPr>
              <a:spLocks noChangeArrowheads="1"/>
            </p:cNvSpPr>
            <p:nvPr/>
          </p:nvSpPr>
          <p:spPr bwMode="auto">
            <a:xfrm>
              <a:off x="6294835" y="1693069"/>
              <a:ext cx="866775" cy="6762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9056" tIns="34529" rIns="69056" bIns="34529" anchor="ctr"/>
            <a:lstStyle/>
            <a:p>
              <a:pPr algn="ctr"/>
              <a:r>
                <a:rPr kumimoji="1" lang="en-US" altLang="zh-TW" sz="1200" b="1" dirty="0">
                  <a:latin typeface="Arial" pitchFamily="34" charset="0"/>
                </a:rPr>
                <a:t>Main</a:t>
              </a:r>
            </a:p>
            <a:p>
              <a:pPr algn="ctr"/>
              <a:r>
                <a:rPr kumimoji="1" lang="en-US" altLang="zh-TW" sz="1200" b="1" dirty="0">
                  <a:latin typeface="Arial" pitchFamily="34" charset="0"/>
                </a:rPr>
                <a:t>Memory</a:t>
              </a:r>
            </a:p>
          </p:txBody>
        </p:sp>
        <p:sp>
          <p:nvSpPr>
            <p:cNvPr id="110597" name="Line 5"/>
            <p:cNvSpPr>
              <a:spLocks noChangeShapeType="1"/>
            </p:cNvSpPr>
            <p:nvPr/>
          </p:nvSpPr>
          <p:spPr bwMode="auto">
            <a:xfrm>
              <a:off x="2672954" y="1788319"/>
              <a:ext cx="5262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598" name="Line 6"/>
            <p:cNvSpPr>
              <a:spLocks noChangeShapeType="1"/>
            </p:cNvSpPr>
            <p:nvPr/>
          </p:nvSpPr>
          <p:spPr bwMode="auto">
            <a:xfrm>
              <a:off x="4065985" y="1788319"/>
              <a:ext cx="6191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599" name="Line 7"/>
            <p:cNvSpPr>
              <a:spLocks noChangeShapeType="1"/>
            </p:cNvSpPr>
            <p:nvPr/>
          </p:nvSpPr>
          <p:spPr bwMode="auto">
            <a:xfrm>
              <a:off x="5562600" y="1769269"/>
              <a:ext cx="7227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00" name="Line 8"/>
            <p:cNvSpPr>
              <a:spLocks noChangeShapeType="1"/>
            </p:cNvSpPr>
            <p:nvPr/>
          </p:nvSpPr>
          <p:spPr bwMode="auto">
            <a:xfrm flipH="1">
              <a:off x="6119813" y="2255044"/>
              <a:ext cx="1654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01" name="Line 9"/>
            <p:cNvSpPr>
              <a:spLocks noChangeShapeType="1"/>
            </p:cNvSpPr>
            <p:nvPr/>
          </p:nvSpPr>
          <p:spPr bwMode="auto">
            <a:xfrm>
              <a:off x="6119813" y="2255044"/>
              <a:ext cx="0" cy="4476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02" name="Line 10"/>
            <p:cNvSpPr>
              <a:spLocks noChangeShapeType="1"/>
            </p:cNvSpPr>
            <p:nvPr/>
          </p:nvSpPr>
          <p:spPr bwMode="auto">
            <a:xfrm flipH="1">
              <a:off x="2880123" y="2702719"/>
              <a:ext cx="32396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03" name="Line 11"/>
            <p:cNvSpPr>
              <a:spLocks noChangeShapeType="1"/>
            </p:cNvSpPr>
            <p:nvPr/>
          </p:nvSpPr>
          <p:spPr bwMode="auto">
            <a:xfrm flipV="1">
              <a:off x="2880122" y="2302669"/>
              <a:ext cx="0" cy="4000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04" name="Line 12"/>
            <p:cNvSpPr>
              <a:spLocks noChangeShapeType="1"/>
            </p:cNvSpPr>
            <p:nvPr/>
          </p:nvSpPr>
          <p:spPr bwMode="auto">
            <a:xfrm flipH="1">
              <a:off x="2672954" y="2302669"/>
              <a:ext cx="2071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05" name="Line 13"/>
            <p:cNvSpPr>
              <a:spLocks noChangeShapeType="1"/>
            </p:cNvSpPr>
            <p:nvPr/>
          </p:nvSpPr>
          <p:spPr bwMode="auto">
            <a:xfrm flipV="1">
              <a:off x="5779294" y="2274094"/>
              <a:ext cx="0" cy="428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06" name="Line 14"/>
            <p:cNvSpPr>
              <a:spLocks noChangeShapeType="1"/>
            </p:cNvSpPr>
            <p:nvPr/>
          </p:nvSpPr>
          <p:spPr bwMode="auto">
            <a:xfrm flipH="1">
              <a:off x="5573316" y="2274094"/>
              <a:ext cx="2059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07" name="Line 15"/>
            <p:cNvSpPr>
              <a:spLocks noChangeShapeType="1"/>
            </p:cNvSpPr>
            <p:nvPr/>
          </p:nvSpPr>
          <p:spPr bwMode="auto">
            <a:xfrm flipH="1">
              <a:off x="4489847" y="2255044"/>
              <a:ext cx="1952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08" name="Line 16"/>
            <p:cNvSpPr>
              <a:spLocks noChangeShapeType="1"/>
            </p:cNvSpPr>
            <p:nvPr/>
          </p:nvSpPr>
          <p:spPr bwMode="auto">
            <a:xfrm>
              <a:off x="4489847" y="2255044"/>
              <a:ext cx="0" cy="4476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09" name="Oval 17"/>
            <p:cNvSpPr>
              <a:spLocks noChangeArrowheads="1"/>
            </p:cNvSpPr>
            <p:nvPr/>
          </p:nvSpPr>
          <p:spPr bwMode="auto">
            <a:xfrm>
              <a:off x="5779294" y="2674144"/>
              <a:ext cx="20241" cy="28575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10" name="Rectangle 18"/>
            <p:cNvSpPr>
              <a:spLocks noChangeArrowheads="1"/>
            </p:cNvSpPr>
            <p:nvPr/>
          </p:nvSpPr>
          <p:spPr bwMode="auto">
            <a:xfrm>
              <a:off x="2703910" y="1596629"/>
              <a:ext cx="339595" cy="205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VA</a:t>
              </a:r>
            </a:p>
          </p:txBody>
        </p:sp>
        <p:sp>
          <p:nvSpPr>
            <p:cNvPr id="110611" name="Rectangle 19"/>
            <p:cNvSpPr>
              <a:spLocks noChangeArrowheads="1"/>
            </p:cNvSpPr>
            <p:nvPr/>
          </p:nvSpPr>
          <p:spPr bwMode="auto">
            <a:xfrm>
              <a:off x="4096942" y="1596629"/>
              <a:ext cx="339595" cy="205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PA</a:t>
              </a:r>
            </a:p>
          </p:txBody>
        </p:sp>
        <p:sp>
          <p:nvSpPr>
            <p:cNvPr id="110612" name="Rectangle 20"/>
            <p:cNvSpPr>
              <a:spLocks noChangeArrowheads="1"/>
            </p:cNvSpPr>
            <p:nvPr/>
          </p:nvSpPr>
          <p:spPr bwMode="auto">
            <a:xfrm>
              <a:off x="5613798" y="1577579"/>
              <a:ext cx="507894" cy="205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miss</a:t>
              </a:r>
            </a:p>
          </p:txBody>
        </p:sp>
        <p:sp>
          <p:nvSpPr>
            <p:cNvPr id="110613" name="Rectangle 21"/>
            <p:cNvSpPr>
              <a:spLocks noChangeArrowheads="1"/>
            </p:cNvSpPr>
            <p:nvPr/>
          </p:nvSpPr>
          <p:spPr bwMode="auto">
            <a:xfrm>
              <a:off x="4158854" y="2320529"/>
              <a:ext cx="325199" cy="205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hit</a:t>
              </a:r>
            </a:p>
          </p:txBody>
        </p:sp>
        <p:sp>
          <p:nvSpPr>
            <p:cNvPr id="110614" name="Rectangle 22"/>
            <p:cNvSpPr>
              <a:spLocks noChangeArrowheads="1"/>
            </p:cNvSpPr>
            <p:nvPr/>
          </p:nvSpPr>
          <p:spPr bwMode="auto">
            <a:xfrm>
              <a:off x="3395663" y="2530079"/>
              <a:ext cx="469528" cy="205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data</a:t>
              </a:r>
            </a:p>
          </p:txBody>
        </p:sp>
        <p:sp>
          <p:nvSpPr>
            <p:cNvPr id="110615" name="Rectangle 23"/>
            <p:cNvSpPr>
              <a:spLocks noChangeArrowheads="1"/>
            </p:cNvSpPr>
            <p:nvPr/>
          </p:nvSpPr>
          <p:spPr bwMode="auto">
            <a:xfrm>
              <a:off x="1785938" y="1683544"/>
              <a:ext cx="866775" cy="6762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9056" tIns="34529" rIns="69056" bIns="34529" anchor="ctr"/>
            <a:lstStyle/>
            <a:p>
              <a:pPr algn="ctr"/>
              <a:r>
                <a:rPr kumimoji="1" lang="en-US" altLang="zh-TW" sz="1200" b="1">
                  <a:latin typeface="Arial" pitchFamily="34" charset="0"/>
                </a:rPr>
                <a:t>CPU</a:t>
              </a:r>
            </a:p>
          </p:txBody>
        </p:sp>
      </p:grpSp>
      <p:grpSp>
        <p:nvGrpSpPr>
          <p:cNvPr id="110616" name="Group 47"/>
          <p:cNvGrpSpPr>
            <a:grpSpLocks/>
          </p:cNvGrpSpPr>
          <p:nvPr/>
        </p:nvGrpSpPr>
        <p:grpSpPr bwMode="auto">
          <a:xfrm>
            <a:off x="5212186" y="3172044"/>
            <a:ext cx="3605876" cy="1324415"/>
            <a:chOff x="1092" y="2746"/>
            <a:chExt cx="3636" cy="1371"/>
          </a:xfrm>
        </p:grpSpPr>
        <p:sp>
          <p:nvSpPr>
            <p:cNvPr id="110620" name="Rectangle 24"/>
            <p:cNvSpPr>
              <a:spLocks noChangeArrowheads="1"/>
            </p:cNvSpPr>
            <p:nvPr/>
          </p:nvSpPr>
          <p:spPr bwMode="auto">
            <a:xfrm>
              <a:off x="2360" y="3915"/>
              <a:ext cx="41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data</a:t>
              </a:r>
            </a:p>
          </p:txBody>
        </p:sp>
        <p:sp>
          <p:nvSpPr>
            <p:cNvPr id="110621" name="Rectangle 25"/>
            <p:cNvSpPr>
              <a:spLocks noChangeArrowheads="1"/>
            </p:cNvSpPr>
            <p:nvPr/>
          </p:nvSpPr>
          <p:spPr bwMode="auto">
            <a:xfrm>
              <a:off x="2265" y="2850"/>
              <a:ext cx="753" cy="4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9056" tIns="34529" rIns="69056" bIns="34529" anchor="ctr"/>
            <a:lstStyle/>
            <a:p>
              <a:pPr algn="ctr"/>
              <a:r>
                <a:rPr kumimoji="1" lang="en-US" altLang="zh-TW" sz="1200" b="1">
                  <a:latin typeface="Arial" pitchFamily="34" charset="0"/>
                </a:rPr>
                <a:t>Trans-</a:t>
              </a:r>
            </a:p>
            <a:p>
              <a:pPr algn="ctr"/>
              <a:r>
                <a:rPr kumimoji="1" lang="en-US" altLang="zh-TW" sz="1200" b="1">
                  <a:latin typeface="Arial" pitchFamily="34" charset="0"/>
                </a:rPr>
                <a:t>lation</a:t>
              </a:r>
            </a:p>
          </p:txBody>
        </p:sp>
        <p:sp>
          <p:nvSpPr>
            <p:cNvPr id="110622" name="Rectangle 26"/>
            <p:cNvSpPr>
              <a:spLocks noChangeArrowheads="1"/>
            </p:cNvSpPr>
            <p:nvPr/>
          </p:nvSpPr>
          <p:spPr bwMode="auto">
            <a:xfrm>
              <a:off x="2265" y="3339"/>
              <a:ext cx="753" cy="42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9056" tIns="34529" rIns="69056" bIns="34529" anchor="ctr"/>
            <a:lstStyle/>
            <a:p>
              <a:pPr algn="ctr"/>
              <a:r>
                <a:rPr kumimoji="1" lang="en-US" altLang="zh-TW" sz="1200" b="1">
                  <a:latin typeface="Arial" pitchFamily="34" charset="0"/>
                </a:rPr>
                <a:t>Cache</a:t>
              </a:r>
            </a:p>
          </p:txBody>
        </p:sp>
        <p:sp>
          <p:nvSpPr>
            <p:cNvPr id="110623" name="Rectangle 27"/>
            <p:cNvSpPr>
              <a:spLocks noChangeArrowheads="1"/>
            </p:cNvSpPr>
            <p:nvPr/>
          </p:nvSpPr>
          <p:spPr bwMode="auto">
            <a:xfrm>
              <a:off x="3975" y="2868"/>
              <a:ext cx="753" cy="4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9056" tIns="34529" rIns="69056" bIns="34529" anchor="ctr"/>
            <a:lstStyle/>
            <a:p>
              <a:pPr algn="ctr"/>
              <a:r>
                <a:rPr kumimoji="1" lang="en-US" altLang="zh-TW" sz="1200" b="1">
                  <a:latin typeface="Arial" pitchFamily="34" charset="0"/>
                </a:rPr>
                <a:t>Main</a:t>
              </a:r>
            </a:p>
            <a:p>
              <a:pPr algn="ctr"/>
              <a:r>
                <a:rPr kumimoji="1" lang="en-US" altLang="zh-TW" sz="1200" b="1">
                  <a:latin typeface="Arial" pitchFamily="34" charset="0"/>
                </a:rPr>
                <a:t>Memory</a:t>
              </a:r>
            </a:p>
          </p:txBody>
        </p:sp>
        <p:sp>
          <p:nvSpPr>
            <p:cNvPr id="110624" name="Line 28"/>
            <p:cNvSpPr>
              <a:spLocks noChangeShapeType="1"/>
            </p:cNvSpPr>
            <p:nvPr/>
          </p:nvSpPr>
          <p:spPr bwMode="auto">
            <a:xfrm>
              <a:off x="1809" y="2918"/>
              <a:ext cx="4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25" name="Line 29"/>
            <p:cNvSpPr>
              <a:spLocks noChangeShapeType="1"/>
            </p:cNvSpPr>
            <p:nvPr/>
          </p:nvSpPr>
          <p:spPr bwMode="auto">
            <a:xfrm>
              <a:off x="1978" y="3406"/>
              <a:ext cx="2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26" name="Line 30"/>
            <p:cNvSpPr>
              <a:spLocks noChangeShapeType="1"/>
            </p:cNvSpPr>
            <p:nvPr/>
          </p:nvSpPr>
          <p:spPr bwMode="auto">
            <a:xfrm>
              <a:off x="3023" y="2918"/>
              <a:ext cx="9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27" name="Line 31"/>
            <p:cNvSpPr>
              <a:spLocks noChangeShapeType="1"/>
            </p:cNvSpPr>
            <p:nvPr/>
          </p:nvSpPr>
          <p:spPr bwMode="auto">
            <a:xfrm flipH="1">
              <a:off x="3510" y="3269"/>
              <a:ext cx="4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28" name="Line 32"/>
            <p:cNvSpPr>
              <a:spLocks noChangeShapeType="1"/>
            </p:cNvSpPr>
            <p:nvPr/>
          </p:nvSpPr>
          <p:spPr bwMode="auto">
            <a:xfrm>
              <a:off x="3492" y="3269"/>
              <a:ext cx="0" cy="6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29" name="Line 33"/>
            <p:cNvSpPr>
              <a:spLocks noChangeShapeType="1"/>
            </p:cNvSpPr>
            <p:nvPr/>
          </p:nvSpPr>
          <p:spPr bwMode="auto">
            <a:xfrm flipH="1">
              <a:off x="1499" y="3882"/>
              <a:ext cx="1993" cy="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30" name="Line 34"/>
            <p:cNvSpPr>
              <a:spLocks noChangeShapeType="1"/>
            </p:cNvSpPr>
            <p:nvPr/>
          </p:nvSpPr>
          <p:spPr bwMode="auto">
            <a:xfrm flipH="1" flipV="1">
              <a:off x="1491" y="3293"/>
              <a:ext cx="8" cy="5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31" name="Line 35"/>
            <p:cNvSpPr>
              <a:spLocks noChangeShapeType="1"/>
            </p:cNvSpPr>
            <p:nvPr/>
          </p:nvSpPr>
          <p:spPr bwMode="auto">
            <a:xfrm flipV="1">
              <a:off x="3200" y="3614"/>
              <a:ext cx="0" cy="2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32" name="Line 36"/>
            <p:cNvSpPr>
              <a:spLocks noChangeShapeType="1"/>
            </p:cNvSpPr>
            <p:nvPr/>
          </p:nvSpPr>
          <p:spPr bwMode="auto">
            <a:xfrm flipH="1">
              <a:off x="3023" y="3614"/>
              <a:ext cx="1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33" name="Line 37"/>
            <p:cNvSpPr>
              <a:spLocks noChangeShapeType="1"/>
            </p:cNvSpPr>
            <p:nvPr/>
          </p:nvSpPr>
          <p:spPr bwMode="auto">
            <a:xfrm flipH="1">
              <a:off x="2093" y="3602"/>
              <a:ext cx="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34" name="Line 38"/>
            <p:cNvSpPr>
              <a:spLocks noChangeShapeType="1"/>
            </p:cNvSpPr>
            <p:nvPr/>
          </p:nvSpPr>
          <p:spPr bwMode="auto">
            <a:xfrm>
              <a:off x="2093" y="3602"/>
              <a:ext cx="0" cy="2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35" name="Oval 39"/>
            <p:cNvSpPr>
              <a:spLocks noChangeArrowheads="1"/>
            </p:cNvSpPr>
            <p:nvPr/>
          </p:nvSpPr>
          <p:spPr bwMode="auto">
            <a:xfrm>
              <a:off x="3196" y="3862"/>
              <a:ext cx="26" cy="2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36" name="Rectangle 40"/>
            <p:cNvSpPr>
              <a:spLocks noChangeArrowheads="1"/>
            </p:cNvSpPr>
            <p:nvPr/>
          </p:nvSpPr>
          <p:spPr bwMode="auto">
            <a:xfrm>
              <a:off x="1837" y="2746"/>
              <a:ext cx="300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 dirty="0">
                  <a:latin typeface="Arial" pitchFamily="34" charset="0"/>
                </a:rPr>
                <a:t>VA</a:t>
              </a:r>
            </a:p>
          </p:txBody>
        </p:sp>
        <p:sp>
          <p:nvSpPr>
            <p:cNvPr id="110637" name="Rectangle 41"/>
            <p:cNvSpPr>
              <a:spLocks noChangeArrowheads="1"/>
            </p:cNvSpPr>
            <p:nvPr/>
          </p:nvSpPr>
          <p:spPr bwMode="auto">
            <a:xfrm>
              <a:off x="1810" y="3641"/>
              <a:ext cx="288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hit</a:t>
              </a:r>
            </a:p>
          </p:txBody>
        </p:sp>
        <p:sp>
          <p:nvSpPr>
            <p:cNvPr id="110638" name="Line 42"/>
            <p:cNvSpPr>
              <a:spLocks noChangeShapeType="1"/>
            </p:cNvSpPr>
            <p:nvPr/>
          </p:nvSpPr>
          <p:spPr bwMode="auto">
            <a:xfrm flipV="1">
              <a:off x="1960" y="2924"/>
              <a:ext cx="0" cy="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200"/>
            </a:p>
          </p:txBody>
        </p:sp>
        <p:sp>
          <p:nvSpPr>
            <p:cNvPr id="110639" name="Rectangle 43"/>
            <p:cNvSpPr>
              <a:spLocks noChangeArrowheads="1"/>
            </p:cNvSpPr>
            <p:nvPr/>
          </p:nvSpPr>
          <p:spPr bwMode="auto">
            <a:xfrm>
              <a:off x="3157" y="2784"/>
              <a:ext cx="300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200" b="1">
                  <a:latin typeface="Arial" pitchFamily="34" charset="0"/>
                </a:rPr>
                <a:t>PA</a:t>
              </a:r>
            </a:p>
          </p:txBody>
        </p:sp>
        <p:sp>
          <p:nvSpPr>
            <p:cNvPr id="110640" name="Rectangle 44"/>
            <p:cNvSpPr>
              <a:spLocks noChangeArrowheads="1"/>
            </p:cNvSpPr>
            <p:nvPr/>
          </p:nvSpPr>
          <p:spPr bwMode="auto">
            <a:xfrm>
              <a:off x="1092" y="2832"/>
              <a:ext cx="728" cy="48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9056" tIns="34529" rIns="69056" bIns="34529" anchor="ctr"/>
            <a:lstStyle/>
            <a:p>
              <a:pPr algn="ctr"/>
              <a:r>
                <a:rPr kumimoji="1" lang="en-US" altLang="zh-TW" sz="1200" b="1">
                  <a:latin typeface="Arial" pitchFamily="34" charset="0"/>
                </a:rPr>
                <a:t>CPU</a:t>
              </a:r>
            </a:p>
          </p:txBody>
        </p:sp>
      </p:grpSp>
      <p:sp>
        <p:nvSpPr>
          <p:cNvPr id="110617" name="Rectangle 45"/>
          <p:cNvSpPr>
            <a:spLocks noGrp="1" noChangeArrowheads="1"/>
          </p:cNvSpPr>
          <p:nvPr>
            <p:ph type="title"/>
          </p:nvPr>
        </p:nvSpPr>
        <p:spPr>
          <a:xfrm>
            <a:off x="933255" y="129780"/>
            <a:ext cx="6796284" cy="479820"/>
          </a:xfrm>
        </p:spPr>
        <p:txBody>
          <a:bodyPr/>
          <a:lstStyle/>
          <a:p>
            <a:r>
              <a:rPr lang="en-US" altLang="zh-TW" dirty="0">
                <a:solidFill>
                  <a:srgbClr val="002060"/>
                </a:solidFill>
              </a:rPr>
              <a:t>Virtual Address and Cache</a:t>
            </a:r>
          </a:p>
        </p:txBody>
      </p:sp>
      <p:sp>
        <p:nvSpPr>
          <p:cNvPr id="110619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4A56973B-A83C-433D-9166-5CE3AB737D25}" type="slidenum">
              <a:rPr lang="zh-TW" altLang="en-US"/>
              <a:pPr defTabSz="571500"/>
              <a:t>37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186006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933255" y="129780"/>
            <a:ext cx="6796284" cy="473536"/>
          </a:xfrm>
        </p:spPr>
        <p:txBody>
          <a:bodyPr/>
          <a:lstStyle/>
          <a:p>
            <a:r>
              <a:rPr lang="en-US" altLang="zh-TW" dirty="0">
                <a:solidFill>
                  <a:srgbClr val="002060"/>
                </a:solidFill>
              </a:rPr>
              <a:t>Virtually Addressed Cache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000" dirty="0"/>
              <a:t>Require address translation only on miss!</a:t>
            </a:r>
          </a:p>
          <a:p>
            <a:r>
              <a:rPr lang="en-US" altLang="zh-TW" sz="2000" dirty="0"/>
              <a:t>Problem</a:t>
            </a:r>
          </a:p>
          <a:p>
            <a:pPr lvl="1"/>
            <a:r>
              <a:rPr lang="en-US" altLang="zh-TW" sz="1800" dirty="0"/>
              <a:t>Same virtual addresses (different processes) map to different physical addresses  </a:t>
            </a:r>
          </a:p>
          <a:p>
            <a:pPr lvl="1"/>
            <a:r>
              <a:rPr lang="en-US" altLang="zh-TW" sz="1800" i="1" dirty="0"/>
              <a:t>Synonym/alias problem</a:t>
            </a:r>
            <a:r>
              <a:rPr lang="en-US" altLang="zh-TW" sz="1800" dirty="0"/>
              <a:t>:  two different virtual addresses map to same physical address</a:t>
            </a:r>
          </a:p>
          <a:p>
            <a:pPr lvl="2"/>
            <a:r>
              <a:rPr lang="en-US" altLang="zh-TW" sz="1600" dirty="0"/>
              <a:t>Two different cache entries holding data for the same physical address!</a:t>
            </a:r>
          </a:p>
          <a:p>
            <a:pPr lvl="2"/>
            <a:r>
              <a:rPr lang="en-US" altLang="zh-TW" sz="1600" dirty="0"/>
              <a:t>For update: must update all cache entries with same physical address or memory becomes inconsistent</a:t>
            </a:r>
          </a:p>
          <a:p>
            <a:pPr lvl="2"/>
            <a:r>
              <a:rPr lang="en-US" altLang="zh-TW" sz="1600" dirty="0"/>
              <a:t>Determining this requires significant hardware, essentially an associative lookup on the physical address tags to see if you have multiple hits;</a:t>
            </a:r>
          </a:p>
          <a:p>
            <a:pPr lvl="2"/>
            <a:r>
              <a:rPr lang="en-US" altLang="zh-TW" sz="1600" dirty="0"/>
              <a:t>Or software enforced alias boundary: same least-significant bits of VA &amp;PA &gt; cache size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5017294" y="1691879"/>
            <a:ext cx="1824038" cy="3462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165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tag + process id</a:t>
            </a:r>
            <a:endParaRPr lang="zh-TW" altLang="en-US" sz="165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1621" name="投影片編號版面配置區 2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B7CBE0E2-09A1-4710-A8F5-AC9C2B2D8C27}" type="slidenum">
              <a:rPr lang="zh-TW" altLang="en-US"/>
              <a:pPr defTabSz="571500"/>
              <a:t>38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6404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9E3DB969-B12F-41E3-9127-F31986FEAFDA}" type="slidenum">
              <a:rPr lang="zh-TW" altLang="en-US"/>
              <a:pPr defTabSz="571500"/>
              <a:t>39</a:t>
            </a:fld>
            <a:endParaRPr lang="en-US" altLang="zh-TW"/>
          </a:p>
        </p:txBody>
      </p:sp>
      <p:sp>
        <p:nvSpPr>
          <p:cNvPr id="11264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42090" y="172038"/>
            <a:ext cx="6467377" cy="393569"/>
          </a:xfrm>
        </p:spPr>
        <p:txBody>
          <a:bodyPr/>
          <a:lstStyle/>
          <a:p>
            <a:r>
              <a:rPr lang="en-US" altLang="zh-TW" sz="3200" dirty="0">
                <a:solidFill>
                  <a:srgbClr val="002060"/>
                </a:solidFill>
              </a:rPr>
              <a:t>Integrating TLB and Cache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946682" y="838987"/>
            <a:ext cx="4538959" cy="3637034"/>
            <a:chOff x="2477691" y="186929"/>
            <a:chExt cx="5685234" cy="4531519"/>
          </a:xfrm>
        </p:grpSpPr>
        <p:pic>
          <p:nvPicPr>
            <p:cNvPr id="112644" name="Picture 3" descr="f0725"/>
            <p:cNvPicPr>
              <a:picLocks noChangeAspect="1" noChangeArrowheads="1"/>
            </p:cNvPicPr>
            <p:nvPr/>
          </p:nvPicPr>
          <p:blipFill>
            <a:blip r:embed="rId2"/>
            <a:srcRect t="1601"/>
            <a:stretch>
              <a:fillRect/>
            </a:stretch>
          </p:blipFill>
          <p:spPr bwMode="auto">
            <a:xfrm>
              <a:off x="2477691" y="186929"/>
              <a:ext cx="5685234" cy="4531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5589" name="Line 5"/>
            <p:cNvSpPr>
              <a:spLocks noChangeShapeType="1"/>
            </p:cNvSpPr>
            <p:nvPr/>
          </p:nvSpPr>
          <p:spPr bwMode="auto">
            <a:xfrm>
              <a:off x="6118622" y="2231232"/>
              <a:ext cx="0" cy="17383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835591" name="Line 7"/>
            <p:cNvSpPr>
              <a:spLocks noChangeShapeType="1"/>
            </p:cNvSpPr>
            <p:nvPr/>
          </p:nvSpPr>
          <p:spPr bwMode="auto">
            <a:xfrm flipH="1">
              <a:off x="6179344" y="2324100"/>
              <a:ext cx="21550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896193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338606" y="897765"/>
            <a:ext cx="6069672" cy="2818025"/>
            <a:chOff x="1218010" y="971550"/>
            <a:chExt cx="6671035" cy="3028950"/>
          </a:xfrm>
        </p:grpSpPr>
        <p:sp>
          <p:nvSpPr>
            <p:cNvPr id="113666" name="Rectangle 1026"/>
            <p:cNvSpPr>
              <a:spLocks noChangeArrowheads="1"/>
            </p:cNvSpPr>
            <p:nvPr/>
          </p:nvSpPr>
          <p:spPr bwMode="auto">
            <a:xfrm>
              <a:off x="1651397" y="1009650"/>
              <a:ext cx="1279922" cy="11715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9056" tIns="34529" rIns="69056" bIns="34529" anchor="ctr"/>
            <a:lstStyle/>
            <a:p>
              <a:pPr algn="ctr"/>
              <a:r>
                <a:rPr kumimoji="1" lang="en-US" altLang="zh-TW" sz="1350" b="1">
                  <a:latin typeface="Arial" pitchFamily="34" charset="0"/>
                </a:rPr>
                <a:t>TLB</a:t>
              </a:r>
            </a:p>
          </p:txBody>
        </p:sp>
        <p:sp>
          <p:nvSpPr>
            <p:cNvPr id="113667" name="Rectangle 1027"/>
            <p:cNvSpPr>
              <a:spLocks noChangeArrowheads="1"/>
            </p:cNvSpPr>
            <p:nvPr/>
          </p:nvSpPr>
          <p:spPr bwMode="auto">
            <a:xfrm>
              <a:off x="5841207" y="981075"/>
              <a:ext cx="1651397" cy="123825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9056" tIns="34529" rIns="69056" bIns="34529" anchor="ctr"/>
            <a:lstStyle/>
            <a:p>
              <a:pPr algn="ctr"/>
              <a:r>
                <a:rPr kumimoji="1" lang="en-US" altLang="zh-TW" sz="1350" b="1">
                  <a:latin typeface="Arial" pitchFamily="34" charset="0"/>
                </a:rPr>
                <a:t>Cache</a:t>
              </a:r>
            </a:p>
          </p:txBody>
        </p:sp>
        <p:sp>
          <p:nvSpPr>
            <p:cNvPr id="113668" name="Rectangle 1028"/>
            <p:cNvSpPr>
              <a:spLocks noChangeArrowheads="1"/>
            </p:cNvSpPr>
            <p:nvPr/>
          </p:nvSpPr>
          <p:spPr bwMode="auto">
            <a:xfrm>
              <a:off x="3375422" y="2438400"/>
              <a:ext cx="2105025" cy="23812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69" name="Rectangle 1029"/>
            <p:cNvSpPr>
              <a:spLocks noChangeArrowheads="1"/>
            </p:cNvSpPr>
            <p:nvPr/>
          </p:nvSpPr>
          <p:spPr bwMode="auto">
            <a:xfrm>
              <a:off x="3323035" y="3228975"/>
              <a:ext cx="2135981" cy="2286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70" name="Line 1030"/>
            <p:cNvSpPr>
              <a:spLocks noChangeShapeType="1"/>
            </p:cNvSpPr>
            <p:nvPr/>
          </p:nvSpPr>
          <p:spPr bwMode="auto">
            <a:xfrm>
              <a:off x="5222081" y="2428875"/>
              <a:ext cx="0" cy="257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71" name="Line 1031"/>
            <p:cNvSpPr>
              <a:spLocks noChangeShapeType="1"/>
            </p:cNvSpPr>
            <p:nvPr/>
          </p:nvSpPr>
          <p:spPr bwMode="auto">
            <a:xfrm>
              <a:off x="4572000" y="2428875"/>
              <a:ext cx="0" cy="257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72" name="Rectangle 1032"/>
            <p:cNvSpPr>
              <a:spLocks noChangeArrowheads="1"/>
            </p:cNvSpPr>
            <p:nvPr/>
          </p:nvSpPr>
          <p:spPr bwMode="auto">
            <a:xfrm>
              <a:off x="4757738" y="2237185"/>
              <a:ext cx="288541" cy="215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350" b="1">
                  <a:latin typeface="Arial" pitchFamily="34" charset="0"/>
                </a:rPr>
                <a:t>10</a:t>
              </a:r>
            </a:p>
          </p:txBody>
        </p:sp>
        <p:sp>
          <p:nvSpPr>
            <p:cNvPr id="113673" name="Rectangle 1033"/>
            <p:cNvSpPr>
              <a:spLocks noChangeArrowheads="1"/>
            </p:cNvSpPr>
            <p:nvPr/>
          </p:nvSpPr>
          <p:spPr bwMode="auto">
            <a:xfrm>
              <a:off x="5263754" y="2237185"/>
              <a:ext cx="192360" cy="215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350" b="1">
                  <a:latin typeface="Arial" pitchFamily="34" charset="0"/>
                </a:rPr>
                <a:t>2</a:t>
              </a:r>
            </a:p>
          </p:txBody>
        </p:sp>
        <p:sp>
          <p:nvSpPr>
            <p:cNvPr id="113674" name="Rectangle 1034"/>
            <p:cNvSpPr>
              <a:spLocks noChangeArrowheads="1"/>
            </p:cNvSpPr>
            <p:nvPr/>
          </p:nvSpPr>
          <p:spPr bwMode="auto">
            <a:xfrm>
              <a:off x="5201841" y="2503885"/>
              <a:ext cx="288541" cy="215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350" b="1">
                  <a:latin typeface="Arial" pitchFamily="34" charset="0"/>
                </a:rPr>
                <a:t>00</a:t>
              </a:r>
            </a:p>
          </p:txBody>
        </p:sp>
        <p:sp>
          <p:nvSpPr>
            <p:cNvPr id="113675" name="Rectangle 1035"/>
            <p:cNvSpPr>
              <a:spLocks noChangeArrowheads="1"/>
            </p:cNvSpPr>
            <p:nvPr/>
          </p:nvSpPr>
          <p:spPr bwMode="auto">
            <a:xfrm>
              <a:off x="6305550" y="2027635"/>
              <a:ext cx="692497" cy="215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350" b="1">
                  <a:latin typeface="Arial" pitchFamily="34" charset="0"/>
                </a:rPr>
                <a:t>4 </a:t>
              </a:r>
              <a:r>
                <a:rPr kumimoji="1" lang="en-US" altLang="zh-TW" sz="1350" b="1">
                  <a:latin typeface="Arial" pitchFamily="34" charset="0"/>
                </a:rPr>
                <a:t>bytes</a:t>
              </a:r>
            </a:p>
          </p:txBody>
        </p:sp>
        <p:sp>
          <p:nvSpPr>
            <p:cNvPr id="113676" name="Line 1036"/>
            <p:cNvSpPr>
              <a:spLocks noChangeShapeType="1"/>
            </p:cNvSpPr>
            <p:nvPr/>
          </p:nvSpPr>
          <p:spPr bwMode="auto">
            <a:xfrm>
              <a:off x="7017544" y="2105025"/>
              <a:ext cx="4845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77" name="Line 1037"/>
            <p:cNvSpPr>
              <a:spLocks noChangeShapeType="1"/>
            </p:cNvSpPr>
            <p:nvPr/>
          </p:nvSpPr>
          <p:spPr bwMode="auto">
            <a:xfrm flipH="1">
              <a:off x="5830491" y="2105025"/>
              <a:ext cx="4750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78" name="Line 1038"/>
            <p:cNvSpPr>
              <a:spLocks noChangeShapeType="1"/>
            </p:cNvSpPr>
            <p:nvPr/>
          </p:nvSpPr>
          <p:spPr bwMode="auto">
            <a:xfrm flipV="1">
              <a:off x="4912519" y="1571625"/>
              <a:ext cx="0" cy="628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79" name="Line 1039"/>
            <p:cNvSpPr>
              <a:spLocks noChangeShapeType="1"/>
            </p:cNvSpPr>
            <p:nvPr/>
          </p:nvSpPr>
          <p:spPr bwMode="auto">
            <a:xfrm>
              <a:off x="4912519" y="1571625"/>
              <a:ext cx="9179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80" name="Rectangle 1040"/>
            <p:cNvSpPr>
              <a:spLocks noChangeArrowheads="1"/>
            </p:cNvSpPr>
            <p:nvPr/>
          </p:nvSpPr>
          <p:spPr bwMode="auto">
            <a:xfrm>
              <a:off x="5025629" y="1389460"/>
              <a:ext cx="548227" cy="215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350" b="1">
                  <a:latin typeface="Arial" pitchFamily="34" charset="0"/>
                </a:rPr>
                <a:t>index</a:t>
              </a:r>
            </a:p>
          </p:txBody>
        </p:sp>
        <p:sp>
          <p:nvSpPr>
            <p:cNvPr id="113681" name="Rectangle 1041"/>
            <p:cNvSpPr>
              <a:spLocks noChangeArrowheads="1"/>
            </p:cNvSpPr>
            <p:nvPr/>
          </p:nvSpPr>
          <p:spPr bwMode="auto">
            <a:xfrm>
              <a:off x="7523560" y="1484710"/>
              <a:ext cx="365485" cy="215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350" b="1">
                  <a:latin typeface="Arial" pitchFamily="34" charset="0"/>
                </a:rPr>
                <a:t>1 </a:t>
              </a:r>
              <a:r>
                <a:rPr kumimoji="1" lang="en-US" altLang="zh-TW" sz="1350" b="1">
                  <a:latin typeface="Arial" pitchFamily="34" charset="0"/>
                </a:rPr>
                <a:t>K</a:t>
              </a:r>
            </a:p>
          </p:txBody>
        </p:sp>
        <p:sp>
          <p:nvSpPr>
            <p:cNvPr id="113682" name="Line 1042"/>
            <p:cNvSpPr>
              <a:spLocks noChangeShapeType="1"/>
            </p:cNvSpPr>
            <p:nvPr/>
          </p:nvSpPr>
          <p:spPr bwMode="auto">
            <a:xfrm flipV="1">
              <a:off x="7698581" y="971550"/>
              <a:ext cx="0" cy="4762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83" name="Line 1043"/>
            <p:cNvSpPr>
              <a:spLocks noChangeShapeType="1"/>
            </p:cNvSpPr>
            <p:nvPr/>
          </p:nvSpPr>
          <p:spPr bwMode="auto">
            <a:xfrm>
              <a:off x="7698581" y="1657350"/>
              <a:ext cx="0" cy="5619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84" name="Rectangle 1044"/>
            <p:cNvSpPr>
              <a:spLocks noChangeArrowheads="1"/>
            </p:cNvSpPr>
            <p:nvPr/>
          </p:nvSpPr>
          <p:spPr bwMode="auto">
            <a:xfrm>
              <a:off x="3344467" y="3256360"/>
              <a:ext cx="644407" cy="215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350" b="1">
                  <a:latin typeface="Arial" pitchFamily="34" charset="0"/>
                </a:rPr>
                <a:t>page #</a:t>
              </a:r>
            </a:p>
          </p:txBody>
        </p:sp>
        <p:sp>
          <p:nvSpPr>
            <p:cNvPr id="113685" name="Rectangle 1045"/>
            <p:cNvSpPr>
              <a:spLocks noChangeArrowheads="1"/>
            </p:cNvSpPr>
            <p:nvPr/>
          </p:nvSpPr>
          <p:spPr bwMode="auto">
            <a:xfrm>
              <a:off x="4572000" y="3234929"/>
              <a:ext cx="788677" cy="215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350" b="1">
                  <a:latin typeface="Arial" pitchFamily="34" charset="0"/>
                </a:rPr>
                <a:t>displace</a:t>
              </a:r>
            </a:p>
          </p:txBody>
        </p:sp>
        <p:sp>
          <p:nvSpPr>
            <p:cNvPr id="113686" name="Line 1046"/>
            <p:cNvSpPr>
              <a:spLocks noChangeShapeType="1"/>
            </p:cNvSpPr>
            <p:nvPr/>
          </p:nvSpPr>
          <p:spPr bwMode="auto">
            <a:xfrm>
              <a:off x="4561285" y="321945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87" name="Rectangle 1047"/>
            <p:cNvSpPr>
              <a:spLocks noChangeArrowheads="1"/>
            </p:cNvSpPr>
            <p:nvPr/>
          </p:nvSpPr>
          <p:spPr bwMode="auto">
            <a:xfrm>
              <a:off x="3715941" y="3046810"/>
              <a:ext cx="288541" cy="215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350" b="1">
                  <a:latin typeface="Arial" pitchFamily="34" charset="0"/>
                </a:rPr>
                <a:t>20</a:t>
              </a:r>
            </a:p>
          </p:txBody>
        </p:sp>
        <p:sp>
          <p:nvSpPr>
            <p:cNvPr id="113688" name="Rectangle 1048"/>
            <p:cNvSpPr>
              <a:spLocks noChangeArrowheads="1"/>
            </p:cNvSpPr>
            <p:nvPr/>
          </p:nvSpPr>
          <p:spPr bwMode="auto">
            <a:xfrm>
              <a:off x="4850607" y="3027760"/>
              <a:ext cx="288541" cy="215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350" b="1">
                  <a:latin typeface="Arial" pitchFamily="34" charset="0"/>
                </a:rPr>
                <a:t>12</a:t>
              </a:r>
            </a:p>
          </p:txBody>
        </p:sp>
        <p:sp>
          <p:nvSpPr>
            <p:cNvPr id="113689" name="Line 1049"/>
            <p:cNvSpPr>
              <a:spLocks noChangeShapeType="1"/>
            </p:cNvSpPr>
            <p:nvPr/>
          </p:nvSpPr>
          <p:spPr bwMode="auto">
            <a:xfrm flipH="1">
              <a:off x="3282553" y="3105150"/>
              <a:ext cx="4226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90" name="Line 1050"/>
            <p:cNvSpPr>
              <a:spLocks noChangeShapeType="1"/>
            </p:cNvSpPr>
            <p:nvPr/>
          </p:nvSpPr>
          <p:spPr bwMode="auto">
            <a:xfrm flipV="1">
              <a:off x="3282554" y="1562100"/>
              <a:ext cx="0" cy="15430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91" name="Line 1051"/>
            <p:cNvSpPr>
              <a:spLocks noChangeShapeType="1"/>
            </p:cNvSpPr>
            <p:nvPr/>
          </p:nvSpPr>
          <p:spPr bwMode="auto">
            <a:xfrm flipH="1">
              <a:off x="2942035" y="1562100"/>
              <a:ext cx="34051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92" name="Rectangle 1052"/>
            <p:cNvSpPr>
              <a:spLocks noChangeArrowheads="1"/>
            </p:cNvSpPr>
            <p:nvPr/>
          </p:nvSpPr>
          <p:spPr bwMode="auto">
            <a:xfrm>
              <a:off x="3313510" y="1398985"/>
              <a:ext cx="1029128" cy="391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350" b="1">
                  <a:latin typeface="Arial" pitchFamily="34" charset="0"/>
                </a:rPr>
                <a:t>associative</a:t>
              </a:r>
            </a:p>
            <a:p>
              <a:pPr>
                <a:lnSpc>
                  <a:spcPct val="85000"/>
                </a:lnSpc>
              </a:pPr>
              <a:r>
                <a:rPr kumimoji="1" lang="en-US" altLang="zh-TW" sz="1350" b="1">
                  <a:latin typeface="Arial" pitchFamily="34" charset="0"/>
                </a:rPr>
                <a:t>lookup</a:t>
              </a:r>
            </a:p>
          </p:txBody>
        </p:sp>
        <p:sp>
          <p:nvSpPr>
            <p:cNvPr id="113693" name="Rectangle 1053"/>
            <p:cNvSpPr>
              <a:spLocks noChangeArrowheads="1"/>
            </p:cNvSpPr>
            <p:nvPr/>
          </p:nvSpPr>
          <p:spPr bwMode="auto">
            <a:xfrm>
              <a:off x="1218010" y="1494235"/>
              <a:ext cx="288541" cy="215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350" b="1">
                  <a:latin typeface="Arial" pitchFamily="34" charset="0"/>
                </a:rPr>
                <a:t>32</a:t>
              </a:r>
            </a:p>
          </p:txBody>
        </p:sp>
        <p:sp>
          <p:nvSpPr>
            <p:cNvPr id="113694" name="Line 1054"/>
            <p:cNvSpPr>
              <a:spLocks noChangeShapeType="1"/>
            </p:cNvSpPr>
            <p:nvPr/>
          </p:nvSpPr>
          <p:spPr bwMode="auto">
            <a:xfrm flipV="1">
              <a:off x="1394222" y="981075"/>
              <a:ext cx="0" cy="4762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95" name="Line 1055"/>
            <p:cNvSpPr>
              <a:spLocks noChangeShapeType="1"/>
            </p:cNvSpPr>
            <p:nvPr/>
          </p:nvSpPr>
          <p:spPr bwMode="auto">
            <a:xfrm>
              <a:off x="1394222" y="1666875"/>
              <a:ext cx="0" cy="5619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96" name="Line 1056"/>
            <p:cNvSpPr>
              <a:spLocks noChangeShapeType="1"/>
            </p:cNvSpPr>
            <p:nvPr/>
          </p:nvSpPr>
          <p:spPr bwMode="auto">
            <a:xfrm>
              <a:off x="1827610" y="2190750"/>
              <a:ext cx="0" cy="1219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97" name="Line 1057"/>
            <p:cNvSpPr>
              <a:spLocks noChangeShapeType="1"/>
            </p:cNvSpPr>
            <p:nvPr/>
          </p:nvSpPr>
          <p:spPr bwMode="auto">
            <a:xfrm>
              <a:off x="2694385" y="2190750"/>
              <a:ext cx="0" cy="1190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698" name="Rectangle 1058"/>
            <p:cNvSpPr>
              <a:spLocks noChangeArrowheads="1"/>
            </p:cNvSpPr>
            <p:nvPr/>
          </p:nvSpPr>
          <p:spPr bwMode="auto">
            <a:xfrm>
              <a:off x="1394223" y="2970610"/>
              <a:ext cx="323807" cy="215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350" b="1">
                  <a:latin typeface="Arial" pitchFamily="34" charset="0"/>
                </a:rPr>
                <a:t>PA</a:t>
              </a:r>
            </a:p>
          </p:txBody>
        </p:sp>
        <p:sp>
          <p:nvSpPr>
            <p:cNvPr id="113699" name="Rectangle 1059"/>
            <p:cNvSpPr>
              <a:spLocks noChangeArrowheads="1"/>
            </p:cNvSpPr>
            <p:nvPr/>
          </p:nvSpPr>
          <p:spPr bwMode="auto">
            <a:xfrm>
              <a:off x="2208610" y="2903935"/>
              <a:ext cx="480901" cy="391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350" b="1">
                  <a:latin typeface="Arial" pitchFamily="34" charset="0"/>
                </a:rPr>
                <a:t>Hit/</a:t>
              </a:r>
            </a:p>
            <a:p>
              <a:pPr>
                <a:lnSpc>
                  <a:spcPct val="85000"/>
                </a:lnSpc>
              </a:pPr>
              <a:r>
                <a:rPr kumimoji="1" lang="en-US" altLang="zh-TW" sz="1350" b="1">
                  <a:latin typeface="Arial" pitchFamily="34" charset="0"/>
                </a:rPr>
                <a:t>Miss</a:t>
              </a:r>
            </a:p>
          </p:txBody>
        </p:sp>
        <p:sp>
          <p:nvSpPr>
            <p:cNvPr id="113700" name="Line 1060"/>
            <p:cNvSpPr>
              <a:spLocks noChangeShapeType="1"/>
            </p:cNvSpPr>
            <p:nvPr/>
          </p:nvSpPr>
          <p:spPr bwMode="auto">
            <a:xfrm>
              <a:off x="6078141" y="2228850"/>
              <a:ext cx="0" cy="11334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701" name="Line 1061"/>
            <p:cNvSpPr>
              <a:spLocks noChangeShapeType="1"/>
            </p:cNvSpPr>
            <p:nvPr/>
          </p:nvSpPr>
          <p:spPr bwMode="auto">
            <a:xfrm>
              <a:off x="6697266" y="2228850"/>
              <a:ext cx="0" cy="11525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702" name="Line 1062"/>
            <p:cNvSpPr>
              <a:spLocks noChangeShapeType="1"/>
            </p:cNvSpPr>
            <p:nvPr/>
          </p:nvSpPr>
          <p:spPr bwMode="auto">
            <a:xfrm>
              <a:off x="7296150" y="2228850"/>
              <a:ext cx="0" cy="11239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703" name="Rectangle 1063"/>
            <p:cNvSpPr>
              <a:spLocks noChangeArrowheads="1"/>
            </p:cNvSpPr>
            <p:nvPr/>
          </p:nvSpPr>
          <p:spPr bwMode="auto">
            <a:xfrm>
              <a:off x="5706667" y="2989660"/>
              <a:ext cx="323807" cy="215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350" b="1">
                  <a:latin typeface="Arial" pitchFamily="34" charset="0"/>
                </a:rPr>
                <a:t>PA</a:t>
              </a:r>
            </a:p>
          </p:txBody>
        </p:sp>
        <p:sp>
          <p:nvSpPr>
            <p:cNvPr id="113704" name="Rectangle 1064"/>
            <p:cNvSpPr>
              <a:spLocks noChangeArrowheads="1"/>
            </p:cNvSpPr>
            <p:nvPr/>
          </p:nvSpPr>
          <p:spPr bwMode="auto">
            <a:xfrm>
              <a:off x="6201967" y="2980135"/>
              <a:ext cx="471283" cy="215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350" b="1">
                  <a:latin typeface="Arial" pitchFamily="34" charset="0"/>
                </a:rPr>
                <a:t>Data</a:t>
              </a:r>
            </a:p>
          </p:txBody>
        </p:sp>
        <p:sp>
          <p:nvSpPr>
            <p:cNvPr id="113705" name="Rectangle 1065"/>
            <p:cNvSpPr>
              <a:spLocks noChangeArrowheads="1"/>
            </p:cNvSpPr>
            <p:nvPr/>
          </p:nvSpPr>
          <p:spPr bwMode="auto">
            <a:xfrm>
              <a:off x="7358063" y="2989660"/>
              <a:ext cx="480901" cy="391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350" b="1">
                  <a:latin typeface="Arial" pitchFamily="34" charset="0"/>
                </a:rPr>
                <a:t>Hit/</a:t>
              </a:r>
            </a:p>
            <a:p>
              <a:pPr>
                <a:lnSpc>
                  <a:spcPct val="85000"/>
                </a:lnSpc>
              </a:pPr>
              <a:r>
                <a:rPr kumimoji="1" lang="en-US" altLang="zh-TW" sz="1350" b="1">
                  <a:latin typeface="Arial" pitchFamily="34" charset="0"/>
                </a:rPr>
                <a:t>Miss</a:t>
              </a:r>
            </a:p>
          </p:txBody>
        </p:sp>
        <p:sp>
          <p:nvSpPr>
            <p:cNvPr id="113706" name="Oval 1066"/>
            <p:cNvSpPr>
              <a:spLocks noChangeArrowheads="1"/>
            </p:cNvSpPr>
            <p:nvPr/>
          </p:nvSpPr>
          <p:spPr bwMode="auto">
            <a:xfrm>
              <a:off x="5294710" y="3771900"/>
              <a:ext cx="278606" cy="2286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9056" tIns="34529" rIns="69056" bIns="34529" anchor="ctr"/>
            <a:lstStyle/>
            <a:p>
              <a:pPr algn="ctr"/>
              <a:r>
                <a:rPr kumimoji="1" lang="zh-TW" altLang="en-US" sz="1350" b="1">
                  <a:latin typeface="Arial" pitchFamily="34" charset="0"/>
                </a:rPr>
                <a:t>=</a:t>
              </a:r>
            </a:p>
          </p:txBody>
        </p:sp>
        <p:sp>
          <p:nvSpPr>
            <p:cNvPr id="113707" name="Line 1067"/>
            <p:cNvSpPr>
              <a:spLocks noChangeShapeType="1"/>
            </p:cNvSpPr>
            <p:nvPr/>
          </p:nvSpPr>
          <p:spPr bwMode="auto">
            <a:xfrm flipH="1">
              <a:off x="5582841" y="3352800"/>
              <a:ext cx="495300" cy="4381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708" name="Line 1068"/>
            <p:cNvSpPr>
              <a:spLocks noChangeShapeType="1"/>
            </p:cNvSpPr>
            <p:nvPr/>
          </p:nvSpPr>
          <p:spPr bwMode="auto">
            <a:xfrm>
              <a:off x="3313510" y="3505200"/>
              <a:ext cx="0" cy="476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709" name="Line 1069"/>
            <p:cNvSpPr>
              <a:spLocks noChangeShapeType="1"/>
            </p:cNvSpPr>
            <p:nvPr/>
          </p:nvSpPr>
          <p:spPr bwMode="auto">
            <a:xfrm>
              <a:off x="3313510" y="3552825"/>
              <a:ext cx="1939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710" name="Line 1070"/>
            <p:cNvSpPr>
              <a:spLocks noChangeShapeType="1"/>
            </p:cNvSpPr>
            <p:nvPr/>
          </p:nvSpPr>
          <p:spPr bwMode="auto">
            <a:xfrm flipV="1">
              <a:off x="5242322" y="3495675"/>
              <a:ext cx="0" cy="571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711" name="Line 1071"/>
            <p:cNvSpPr>
              <a:spLocks noChangeShapeType="1"/>
            </p:cNvSpPr>
            <p:nvPr/>
          </p:nvSpPr>
          <p:spPr bwMode="auto">
            <a:xfrm>
              <a:off x="1847850" y="3390900"/>
              <a:ext cx="3456385" cy="4191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113712" name="Line 1072"/>
            <p:cNvSpPr>
              <a:spLocks noChangeShapeType="1"/>
            </p:cNvSpPr>
            <p:nvPr/>
          </p:nvSpPr>
          <p:spPr bwMode="auto">
            <a:xfrm flipV="1">
              <a:off x="5562600" y="3886200"/>
              <a:ext cx="433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</p:grpSp>
      <p:sp>
        <p:nvSpPr>
          <p:cNvPr id="113713" name="Rectangle 1073"/>
          <p:cNvSpPr>
            <a:spLocks noChangeArrowheads="1"/>
          </p:cNvSpPr>
          <p:nvPr/>
        </p:nvSpPr>
        <p:spPr bwMode="auto">
          <a:xfrm>
            <a:off x="2204356" y="3829884"/>
            <a:ext cx="4927311" cy="823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47625" tIns="19050" rIns="47625" bIns="19050">
            <a:spAutoFit/>
          </a:bodyPr>
          <a:lstStyle/>
          <a:p>
            <a:pPr>
              <a:lnSpc>
                <a:spcPct val="85000"/>
              </a:lnSpc>
            </a:pPr>
            <a:r>
              <a:rPr kumimoji="1" lang="en-US" altLang="zh-TW" sz="1500" b="1" dirty="0">
                <a:latin typeface="Calibri" panose="020F0502020204030204" pitchFamily="34" charset="0"/>
                <a:cs typeface="Calibri" panose="020F0502020204030204" pitchFamily="34" charset="0"/>
              </a:rPr>
              <a:t>IF cache hit AND (cache tag = PA) then deliver data to CPU</a:t>
            </a:r>
          </a:p>
          <a:p>
            <a:pPr>
              <a:lnSpc>
                <a:spcPct val="85000"/>
              </a:lnSpc>
            </a:pPr>
            <a:r>
              <a:rPr kumimoji="1" lang="en-US" altLang="zh-TW" sz="1500" b="1" dirty="0">
                <a:latin typeface="Calibri" panose="020F0502020204030204" pitchFamily="34" charset="0"/>
                <a:cs typeface="Calibri" panose="020F0502020204030204" pitchFamily="34" charset="0"/>
              </a:rPr>
              <a:t>ELSE IF [cache invalid OR (cache tag ! = PA)] and TLB hit THEN</a:t>
            </a:r>
          </a:p>
          <a:p>
            <a:pPr>
              <a:lnSpc>
                <a:spcPct val="85000"/>
              </a:lnSpc>
            </a:pPr>
            <a:r>
              <a:rPr kumimoji="1" lang="en-US" altLang="zh-TW" sz="15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   access memory with the PA from the TLB</a:t>
            </a:r>
          </a:p>
          <a:p>
            <a:pPr>
              <a:lnSpc>
                <a:spcPct val="85000"/>
              </a:lnSpc>
            </a:pPr>
            <a:r>
              <a:rPr kumimoji="1" lang="en-US" altLang="zh-TW" sz="1500" b="1" dirty="0">
                <a:latin typeface="Calibri" panose="020F0502020204030204" pitchFamily="34" charset="0"/>
                <a:cs typeface="Calibri" panose="020F0502020204030204" pitchFamily="34" charset="0"/>
              </a:rPr>
              <a:t>ELSE do standard VA translation</a:t>
            </a:r>
          </a:p>
        </p:txBody>
      </p:sp>
      <p:sp>
        <p:nvSpPr>
          <p:cNvPr id="113714" name="Rectangle 1074"/>
          <p:cNvSpPr>
            <a:spLocks noGrp="1" noChangeArrowheads="1"/>
          </p:cNvSpPr>
          <p:nvPr>
            <p:ph type="title"/>
          </p:nvPr>
        </p:nvSpPr>
        <p:spPr>
          <a:xfrm>
            <a:off x="970961" y="144066"/>
            <a:ext cx="7786540" cy="456010"/>
          </a:xfrm>
        </p:spPr>
        <p:txBody>
          <a:bodyPr/>
          <a:lstStyle/>
          <a:p>
            <a:r>
              <a:rPr lang="en-US" altLang="zh-TW" sz="2400" dirty="0">
                <a:solidFill>
                  <a:srgbClr val="002060"/>
                </a:solidFill>
              </a:rPr>
              <a:t>An </a:t>
            </a:r>
            <a:r>
              <a:rPr lang="en-US" altLang="zh-TW" sz="2400" dirty="0" err="1">
                <a:solidFill>
                  <a:srgbClr val="002060"/>
                </a:solidFill>
              </a:rPr>
              <a:t>Alternative:Virtually</a:t>
            </a:r>
            <a:r>
              <a:rPr lang="en-US" altLang="zh-TW" sz="2400" dirty="0">
                <a:solidFill>
                  <a:srgbClr val="002060"/>
                </a:solidFill>
              </a:rPr>
              <a:t> Indexed but Physically Tagged</a:t>
            </a:r>
          </a:p>
        </p:txBody>
      </p:sp>
      <p:sp>
        <p:nvSpPr>
          <p:cNvPr id="113716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10E395A2-C6F1-4CD9-8FDF-BD155337B7EA}" type="slidenum">
              <a:rPr lang="zh-TW" altLang="en-US"/>
              <a:pPr defTabSz="571500"/>
              <a:t>40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42165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662113" y="1965587"/>
            <a:ext cx="5634037" cy="2533649"/>
            <a:chOff x="1662113" y="1965587"/>
            <a:chExt cx="5634037" cy="2533649"/>
          </a:xfrm>
        </p:grpSpPr>
        <p:sp>
          <p:nvSpPr>
            <p:cNvPr id="114690" name="Rectangle 2"/>
            <p:cNvSpPr>
              <a:spLocks noChangeArrowheads="1"/>
            </p:cNvSpPr>
            <p:nvPr/>
          </p:nvSpPr>
          <p:spPr bwMode="auto">
            <a:xfrm>
              <a:off x="1713310" y="2162040"/>
              <a:ext cx="2115740" cy="2476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691" name="Rectangle 3"/>
            <p:cNvSpPr>
              <a:spLocks noChangeArrowheads="1"/>
            </p:cNvSpPr>
            <p:nvPr/>
          </p:nvSpPr>
          <p:spPr bwMode="auto">
            <a:xfrm>
              <a:off x="1662113" y="2952615"/>
              <a:ext cx="2146697" cy="23812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692" name="Line 4"/>
            <p:cNvSpPr>
              <a:spLocks noChangeShapeType="1"/>
            </p:cNvSpPr>
            <p:nvPr/>
          </p:nvSpPr>
          <p:spPr bwMode="auto">
            <a:xfrm>
              <a:off x="3565922" y="2157277"/>
              <a:ext cx="0" cy="257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693" name="Line 5"/>
            <p:cNvSpPr>
              <a:spLocks noChangeShapeType="1"/>
            </p:cNvSpPr>
            <p:nvPr/>
          </p:nvSpPr>
          <p:spPr bwMode="auto">
            <a:xfrm>
              <a:off x="2915841" y="2157277"/>
              <a:ext cx="0" cy="257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694" name="Rectangle 6"/>
            <p:cNvSpPr>
              <a:spLocks noChangeArrowheads="1"/>
            </p:cNvSpPr>
            <p:nvPr/>
          </p:nvSpPr>
          <p:spPr bwMode="auto">
            <a:xfrm>
              <a:off x="3050382" y="1965587"/>
              <a:ext cx="237244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000" b="1">
                  <a:latin typeface="Arial" pitchFamily="34" charset="0"/>
                </a:rPr>
                <a:t>11</a:t>
              </a:r>
            </a:p>
          </p:txBody>
        </p:sp>
        <p:sp>
          <p:nvSpPr>
            <p:cNvPr id="114695" name="Rectangle 7"/>
            <p:cNvSpPr>
              <a:spLocks noChangeArrowheads="1"/>
            </p:cNvSpPr>
            <p:nvPr/>
          </p:nvSpPr>
          <p:spPr bwMode="auto">
            <a:xfrm>
              <a:off x="3607594" y="1965587"/>
              <a:ext cx="16671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000" b="1">
                  <a:latin typeface="Arial" pitchFamily="34" charset="0"/>
                </a:rPr>
                <a:t>2</a:t>
              </a:r>
            </a:p>
          </p:txBody>
        </p:sp>
        <p:sp>
          <p:nvSpPr>
            <p:cNvPr id="114696" name="Rectangle 8"/>
            <p:cNvSpPr>
              <a:spLocks noChangeArrowheads="1"/>
            </p:cNvSpPr>
            <p:nvPr/>
          </p:nvSpPr>
          <p:spPr bwMode="auto">
            <a:xfrm>
              <a:off x="3545682" y="2232287"/>
              <a:ext cx="237244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000" b="1">
                  <a:latin typeface="Arial" pitchFamily="34" charset="0"/>
                </a:rPr>
                <a:t>00</a:t>
              </a:r>
            </a:p>
          </p:txBody>
        </p:sp>
        <p:sp>
          <p:nvSpPr>
            <p:cNvPr id="114697" name="Rectangle 9"/>
            <p:cNvSpPr>
              <a:spLocks noChangeArrowheads="1"/>
            </p:cNvSpPr>
            <p:nvPr/>
          </p:nvSpPr>
          <p:spPr bwMode="auto">
            <a:xfrm>
              <a:off x="1688306" y="2984762"/>
              <a:ext cx="734175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000" b="1" dirty="0" err="1">
                  <a:latin typeface="Arial" pitchFamily="34" charset="0"/>
                </a:rPr>
                <a:t>virt</a:t>
              </a:r>
              <a:r>
                <a:rPr kumimoji="1" lang="en-US" altLang="zh-TW" sz="1000" b="1" dirty="0">
                  <a:latin typeface="Arial" pitchFamily="34" charset="0"/>
                </a:rPr>
                <a:t> page #</a:t>
              </a:r>
            </a:p>
          </p:txBody>
        </p:sp>
        <p:sp>
          <p:nvSpPr>
            <p:cNvPr id="114698" name="Rectangle 10"/>
            <p:cNvSpPr>
              <a:spLocks noChangeArrowheads="1"/>
            </p:cNvSpPr>
            <p:nvPr/>
          </p:nvSpPr>
          <p:spPr bwMode="auto">
            <a:xfrm>
              <a:off x="3132535" y="2984762"/>
              <a:ext cx="359073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000" b="1">
                  <a:latin typeface="Arial" pitchFamily="34" charset="0"/>
                </a:rPr>
                <a:t>disp</a:t>
              </a:r>
            </a:p>
          </p:txBody>
        </p:sp>
        <p:sp>
          <p:nvSpPr>
            <p:cNvPr id="114699" name="Line 11"/>
            <p:cNvSpPr>
              <a:spLocks noChangeShapeType="1"/>
            </p:cNvSpPr>
            <p:nvPr/>
          </p:nvSpPr>
          <p:spPr bwMode="auto">
            <a:xfrm>
              <a:off x="2915841" y="2947852"/>
              <a:ext cx="0" cy="2381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00" name="Rectangle 12"/>
            <p:cNvSpPr>
              <a:spLocks noChangeArrowheads="1"/>
            </p:cNvSpPr>
            <p:nvPr/>
          </p:nvSpPr>
          <p:spPr bwMode="auto">
            <a:xfrm>
              <a:off x="2059782" y="2775212"/>
              <a:ext cx="237244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000" b="1">
                  <a:latin typeface="Arial" pitchFamily="34" charset="0"/>
                </a:rPr>
                <a:t>20</a:t>
              </a:r>
            </a:p>
          </p:txBody>
        </p:sp>
        <p:sp>
          <p:nvSpPr>
            <p:cNvPr id="114701" name="Rectangle 13"/>
            <p:cNvSpPr>
              <a:spLocks noChangeArrowheads="1"/>
            </p:cNvSpPr>
            <p:nvPr/>
          </p:nvSpPr>
          <p:spPr bwMode="auto">
            <a:xfrm>
              <a:off x="3194448" y="2746637"/>
              <a:ext cx="237244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000" b="1">
                  <a:latin typeface="Arial" pitchFamily="34" charset="0"/>
                </a:rPr>
                <a:t>12</a:t>
              </a:r>
            </a:p>
          </p:txBody>
        </p:sp>
        <p:sp>
          <p:nvSpPr>
            <p:cNvPr id="114702" name="Rectangle 14" descr="50%"/>
            <p:cNvSpPr>
              <a:spLocks noChangeArrowheads="1"/>
            </p:cNvSpPr>
            <p:nvPr/>
          </p:nvSpPr>
          <p:spPr bwMode="auto">
            <a:xfrm>
              <a:off x="2849166" y="2162040"/>
              <a:ext cx="61913" cy="257175"/>
            </a:xfrm>
            <a:prstGeom prst="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03" name="Line 15"/>
            <p:cNvSpPr>
              <a:spLocks noChangeShapeType="1"/>
            </p:cNvSpPr>
            <p:nvPr/>
          </p:nvSpPr>
          <p:spPr bwMode="auto">
            <a:xfrm>
              <a:off x="3338513" y="2033452"/>
              <a:ext cx="2381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04" name="Line 16"/>
            <p:cNvSpPr>
              <a:spLocks noChangeShapeType="1"/>
            </p:cNvSpPr>
            <p:nvPr/>
          </p:nvSpPr>
          <p:spPr bwMode="auto">
            <a:xfrm flipH="1">
              <a:off x="2843213" y="2042977"/>
              <a:ext cx="2166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05" name="Rectangle 17"/>
            <p:cNvSpPr>
              <a:spLocks noChangeArrowheads="1"/>
            </p:cNvSpPr>
            <p:nvPr/>
          </p:nvSpPr>
          <p:spPr bwMode="auto">
            <a:xfrm>
              <a:off x="2985296" y="2135846"/>
              <a:ext cx="492121" cy="3154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TW" sz="1000" b="1">
                  <a:latin typeface="Arial" pitchFamily="34" charset="0"/>
                </a:rPr>
                <a:t>cache </a:t>
              </a:r>
            </a:p>
            <a:p>
              <a:pPr algn="ctr">
                <a:lnSpc>
                  <a:spcPct val="90000"/>
                </a:lnSpc>
              </a:pPr>
              <a:r>
                <a:rPr kumimoji="1" lang="en-US" altLang="zh-TW" sz="1000" b="1">
                  <a:latin typeface="Arial" pitchFamily="34" charset="0"/>
                </a:rPr>
                <a:t>index</a:t>
              </a:r>
            </a:p>
          </p:txBody>
        </p:sp>
        <p:sp>
          <p:nvSpPr>
            <p:cNvPr id="114706" name="Line 18"/>
            <p:cNvSpPr>
              <a:spLocks noChangeShapeType="1"/>
            </p:cNvSpPr>
            <p:nvPr/>
          </p:nvSpPr>
          <p:spPr bwMode="auto">
            <a:xfrm flipV="1">
              <a:off x="2884885" y="2423977"/>
              <a:ext cx="0" cy="2381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07" name="Line 19"/>
            <p:cNvSpPr>
              <a:spLocks noChangeShapeType="1"/>
            </p:cNvSpPr>
            <p:nvPr/>
          </p:nvSpPr>
          <p:spPr bwMode="auto">
            <a:xfrm>
              <a:off x="2884885" y="2662102"/>
              <a:ext cx="1413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08" name="Line 20"/>
            <p:cNvSpPr>
              <a:spLocks noChangeShapeType="1"/>
            </p:cNvSpPr>
            <p:nvPr/>
          </p:nvSpPr>
          <p:spPr bwMode="auto">
            <a:xfrm>
              <a:off x="2915841" y="2423977"/>
              <a:ext cx="0" cy="5238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09" name="Rectangle 21"/>
            <p:cNvSpPr>
              <a:spLocks noChangeArrowheads="1"/>
            </p:cNvSpPr>
            <p:nvPr/>
          </p:nvSpPr>
          <p:spPr bwMode="auto">
            <a:xfrm>
              <a:off x="4324350" y="2184662"/>
              <a:ext cx="2971800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000" b="1">
                  <a:latin typeface="Arial" pitchFamily="34" charset="0"/>
                </a:rPr>
                <a:t>This bit is changed by VA translation, but is needed for cache lookup</a:t>
              </a:r>
            </a:p>
          </p:txBody>
        </p:sp>
        <p:sp>
          <p:nvSpPr>
            <p:cNvPr id="114710" name="Rectangle 22"/>
            <p:cNvSpPr>
              <a:spLocks noChangeArrowheads="1"/>
            </p:cNvSpPr>
            <p:nvPr/>
          </p:nvSpPr>
          <p:spPr bwMode="auto">
            <a:xfrm>
              <a:off x="4307681" y="2870461"/>
              <a:ext cx="2340384" cy="561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en-US" altLang="zh-TW" sz="1000" b="1" u="sng">
                  <a:latin typeface="Arial" pitchFamily="34" charset="0"/>
                </a:rPr>
                <a:t>Solutions:</a:t>
              </a:r>
              <a:endParaRPr kumimoji="1" lang="en-US" altLang="zh-TW" sz="1000" b="1">
                <a:latin typeface="Arial" pitchFamily="34" charset="0"/>
              </a:endParaRPr>
            </a:p>
            <a:p>
              <a:pPr>
                <a:lnSpc>
                  <a:spcPct val="85000"/>
                </a:lnSpc>
              </a:pPr>
              <a:r>
                <a:rPr kumimoji="1" lang="en-US" altLang="zh-TW" sz="1000" b="1">
                  <a:latin typeface="Arial" pitchFamily="34" charset="0"/>
                </a:rPr>
                <a:t>      go to 8K byte page sizes;</a:t>
              </a:r>
            </a:p>
            <a:p>
              <a:pPr>
                <a:lnSpc>
                  <a:spcPct val="85000"/>
                </a:lnSpc>
              </a:pPr>
              <a:r>
                <a:rPr kumimoji="1" lang="en-US" altLang="zh-TW" sz="1000" b="1">
                  <a:latin typeface="Arial" pitchFamily="34" charset="0"/>
                </a:rPr>
                <a:t>      go to 2 way set associative cache</a:t>
              </a:r>
            </a:p>
            <a:p>
              <a:pPr>
                <a:lnSpc>
                  <a:spcPct val="85000"/>
                </a:lnSpc>
              </a:pPr>
              <a:r>
                <a:rPr kumimoji="1" lang="en-US" altLang="zh-TW" sz="1000" b="1">
                  <a:latin typeface="Arial" pitchFamily="34" charset="0"/>
                </a:rPr>
                <a:t>      SW guarantee VA[13]=PA[13]</a:t>
              </a:r>
            </a:p>
          </p:txBody>
        </p:sp>
        <p:sp>
          <p:nvSpPr>
            <p:cNvPr id="114711" name="Rectangle 23"/>
            <p:cNvSpPr>
              <a:spLocks noChangeArrowheads="1"/>
            </p:cNvSpPr>
            <p:nvPr/>
          </p:nvSpPr>
          <p:spPr bwMode="auto">
            <a:xfrm>
              <a:off x="3090862" y="3732474"/>
              <a:ext cx="928688" cy="6762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12" name="Rectangle 24"/>
            <p:cNvSpPr>
              <a:spLocks noChangeArrowheads="1"/>
            </p:cNvSpPr>
            <p:nvPr/>
          </p:nvSpPr>
          <p:spPr bwMode="auto">
            <a:xfrm>
              <a:off x="4216004" y="3732474"/>
              <a:ext cx="959644" cy="6762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13" name="Line 25"/>
            <p:cNvSpPr>
              <a:spLocks noChangeShapeType="1"/>
            </p:cNvSpPr>
            <p:nvPr/>
          </p:nvSpPr>
          <p:spPr bwMode="auto">
            <a:xfrm>
              <a:off x="3086100" y="3975361"/>
              <a:ext cx="9394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14" name="Line 26"/>
            <p:cNvSpPr>
              <a:spLocks noChangeShapeType="1"/>
            </p:cNvSpPr>
            <p:nvPr/>
          </p:nvSpPr>
          <p:spPr bwMode="auto">
            <a:xfrm>
              <a:off x="3086100" y="4099186"/>
              <a:ext cx="9394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15" name="Line 27"/>
            <p:cNvSpPr>
              <a:spLocks noChangeShapeType="1"/>
            </p:cNvSpPr>
            <p:nvPr/>
          </p:nvSpPr>
          <p:spPr bwMode="auto">
            <a:xfrm>
              <a:off x="4211241" y="3975361"/>
              <a:ext cx="96916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16" name="Line 28"/>
            <p:cNvSpPr>
              <a:spLocks noChangeShapeType="1"/>
            </p:cNvSpPr>
            <p:nvPr/>
          </p:nvSpPr>
          <p:spPr bwMode="auto">
            <a:xfrm>
              <a:off x="4231481" y="4099186"/>
              <a:ext cx="9489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17" name="Rectangle 29"/>
            <p:cNvSpPr>
              <a:spLocks noChangeArrowheads="1"/>
            </p:cNvSpPr>
            <p:nvPr/>
          </p:nvSpPr>
          <p:spPr bwMode="auto">
            <a:xfrm>
              <a:off x="5263754" y="3945596"/>
              <a:ext cx="259686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000" b="1">
                  <a:latin typeface="Arial" pitchFamily="34" charset="0"/>
                </a:rPr>
                <a:t>1</a:t>
              </a:r>
              <a:r>
                <a:rPr kumimoji="1" lang="en-US" altLang="zh-TW" sz="1000" b="1">
                  <a:latin typeface="Arial" pitchFamily="34" charset="0"/>
                </a:rPr>
                <a:t>K</a:t>
              </a:r>
            </a:p>
          </p:txBody>
        </p:sp>
        <p:sp>
          <p:nvSpPr>
            <p:cNvPr id="114718" name="Line 30"/>
            <p:cNvSpPr>
              <a:spLocks noChangeShapeType="1"/>
            </p:cNvSpPr>
            <p:nvPr/>
          </p:nvSpPr>
          <p:spPr bwMode="auto">
            <a:xfrm flipV="1">
              <a:off x="5407819" y="3718186"/>
              <a:ext cx="0" cy="209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19" name="Line 31"/>
            <p:cNvSpPr>
              <a:spLocks noChangeShapeType="1"/>
            </p:cNvSpPr>
            <p:nvPr/>
          </p:nvSpPr>
          <p:spPr bwMode="auto">
            <a:xfrm>
              <a:off x="5407819" y="4118236"/>
              <a:ext cx="0" cy="3143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20" name="Rectangle 32"/>
            <p:cNvSpPr>
              <a:spLocks noChangeArrowheads="1"/>
            </p:cNvSpPr>
            <p:nvPr/>
          </p:nvSpPr>
          <p:spPr bwMode="auto">
            <a:xfrm>
              <a:off x="3488531" y="4240871"/>
              <a:ext cx="16671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000" b="1">
                  <a:latin typeface="Arial" pitchFamily="34" charset="0"/>
                </a:rPr>
                <a:t>4</a:t>
              </a:r>
            </a:p>
          </p:txBody>
        </p:sp>
        <p:sp>
          <p:nvSpPr>
            <p:cNvPr id="114721" name="Rectangle 33"/>
            <p:cNvSpPr>
              <a:spLocks noChangeArrowheads="1"/>
            </p:cNvSpPr>
            <p:nvPr/>
          </p:nvSpPr>
          <p:spPr bwMode="auto">
            <a:xfrm>
              <a:off x="4613672" y="4240871"/>
              <a:ext cx="16671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000" b="1">
                  <a:latin typeface="Arial" pitchFamily="34" charset="0"/>
                </a:rPr>
                <a:t>4</a:t>
              </a:r>
            </a:p>
          </p:txBody>
        </p:sp>
        <p:sp>
          <p:nvSpPr>
            <p:cNvPr id="114722" name="Line 34"/>
            <p:cNvSpPr>
              <a:spLocks noChangeShapeType="1"/>
            </p:cNvSpPr>
            <p:nvPr/>
          </p:nvSpPr>
          <p:spPr bwMode="auto">
            <a:xfrm flipV="1">
              <a:off x="2694385" y="4032511"/>
              <a:ext cx="0" cy="4667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23" name="Line 35"/>
            <p:cNvSpPr>
              <a:spLocks noChangeShapeType="1"/>
            </p:cNvSpPr>
            <p:nvPr/>
          </p:nvSpPr>
          <p:spPr bwMode="auto">
            <a:xfrm>
              <a:off x="2694385" y="4032511"/>
              <a:ext cx="3917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24" name="Line 36"/>
            <p:cNvSpPr>
              <a:spLocks noChangeShapeType="1"/>
            </p:cNvSpPr>
            <p:nvPr/>
          </p:nvSpPr>
          <p:spPr bwMode="auto">
            <a:xfrm>
              <a:off x="2570560" y="4156336"/>
              <a:ext cx="267890" cy="161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 sz="1000"/>
            </a:p>
          </p:txBody>
        </p:sp>
        <p:sp>
          <p:nvSpPr>
            <p:cNvPr id="114725" name="Rectangle 37"/>
            <p:cNvSpPr>
              <a:spLocks noChangeArrowheads="1"/>
            </p:cNvSpPr>
            <p:nvPr/>
          </p:nvSpPr>
          <p:spPr bwMode="auto">
            <a:xfrm>
              <a:off x="2291954" y="4050371"/>
              <a:ext cx="237244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000" b="1">
                  <a:latin typeface="Arial" pitchFamily="34" charset="0"/>
                </a:rPr>
                <a:t>10</a:t>
              </a:r>
            </a:p>
          </p:txBody>
        </p:sp>
        <p:sp>
          <p:nvSpPr>
            <p:cNvPr id="114726" name="Rectangle 38"/>
            <p:cNvSpPr>
              <a:spLocks noChangeArrowheads="1"/>
            </p:cNvSpPr>
            <p:nvPr/>
          </p:nvSpPr>
          <p:spPr bwMode="auto">
            <a:xfrm>
              <a:off x="5728097" y="3926546"/>
              <a:ext cx="782265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47625" tIns="19050" rIns="47625" bIns="190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kumimoji="1" lang="zh-TW" altLang="en-US" sz="1000" b="1">
                  <a:latin typeface="Arial" pitchFamily="34" charset="0"/>
                </a:rPr>
                <a:t>2-</a:t>
              </a:r>
              <a:r>
                <a:rPr kumimoji="1" lang="en-US" altLang="zh-TW" sz="1000" b="1">
                  <a:latin typeface="Arial" pitchFamily="34" charset="0"/>
                </a:rPr>
                <a:t>way set</a:t>
              </a:r>
              <a:br>
                <a:rPr kumimoji="1" lang="en-US" altLang="zh-TW" sz="1000" b="1">
                  <a:latin typeface="Arial" pitchFamily="34" charset="0"/>
                </a:rPr>
              </a:br>
              <a:r>
                <a:rPr kumimoji="1" lang="en-US" altLang="zh-TW" sz="1000" b="1">
                  <a:latin typeface="Arial" pitchFamily="34" charset="0"/>
                </a:rPr>
                <a:t>associative</a:t>
              </a:r>
              <a:br>
                <a:rPr kumimoji="1" lang="en-US" altLang="zh-TW" sz="1000" b="1">
                  <a:latin typeface="Arial" pitchFamily="34" charset="0"/>
                </a:rPr>
              </a:br>
              <a:r>
                <a:rPr kumimoji="1" lang="en-US" altLang="zh-TW" sz="1000" b="1">
                  <a:latin typeface="Arial" pitchFamily="34" charset="0"/>
                </a:rPr>
                <a:t>cache</a:t>
              </a:r>
            </a:p>
          </p:txBody>
        </p:sp>
      </p:grpSp>
      <p:sp>
        <p:nvSpPr>
          <p:cNvPr id="114727" name="Rectangle 39"/>
          <p:cNvSpPr>
            <a:spLocks noGrp="1" noChangeArrowheads="1"/>
          </p:cNvSpPr>
          <p:nvPr>
            <p:ph type="title"/>
          </p:nvPr>
        </p:nvSpPr>
        <p:spPr>
          <a:xfrm>
            <a:off x="914401" y="129780"/>
            <a:ext cx="6815138" cy="461962"/>
          </a:xfrm>
        </p:spPr>
        <p:txBody>
          <a:bodyPr/>
          <a:lstStyle/>
          <a:p>
            <a:r>
              <a:rPr lang="en-US" altLang="zh-TW" dirty="0">
                <a:solidFill>
                  <a:srgbClr val="002060"/>
                </a:solidFill>
              </a:rPr>
              <a:t>Problem with Overlapped Access</a:t>
            </a:r>
          </a:p>
        </p:txBody>
      </p:sp>
      <p:sp>
        <p:nvSpPr>
          <p:cNvPr id="114728" name="Rectangle 40"/>
          <p:cNvSpPr>
            <a:spLocks noGrp="1" noChangeArrowheads="1"/>
          </p:cNvSpPr>
          <p:nvPr>
            <p:ph type="body" idx="1"/>
          </p:nvPr>
        </p:nvSpPr>
        <p:spPr>
          <a:xfrm>
            <a:off x="498872" y="795204"/>
            <a:ext cx="8229600" cy="1017986"/>
          </a:xfrm>
        </p:spPr>
        <p:txBody>
          <a:bodyPr/>
          <a:lstStyle/>
          <a:p>
            <a:r>
              <a:rPr lang="en-US" altLang="zh-TW" sz="1800" dirty="0"/>
              <a:t>Address bits to index into cache must not change as a result of VA translation</a:t>
            </a:r>
          </a:p>
          <a:p>
            <a:pPr lvl="1"/>
            <a:r>
              <a:rPr lang="en-US" altLang="zh-TW" sz="1600" dirty="0"/>
              <a:t>Limits to small caches, large page sizes, or high n-way set associativity if want a large cache</a:t>
            </a:r>
          </a:p>
          <a:p>
            <a:pPr lvl="1"/>
            <a:r>
              <a:rPr lang="en-US" altLang="zh-TW" sz="1600" dirty="0"/>
              <a:t>Ex.: cache is 8K bytes instead of 4K</a:t>
            </a:r>
          </a:p>
        </p:txBody>
      </p:sp>
      <p:sp>
        <p:nvSpPr>
          <p:cNvPr id="114729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9C812B73-D282-4BA3-8D69-1C2FBC35B0A4}" type="slidenum">
              <a:rPr lang="zh-TW" altLang="en-US"/>
              <a:pPr defTabSz="571500"/>
              <a:t>41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4925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70961" y="129780"/>
            <a:ext cx="6758577" cy="426402"/>
          </a:xfrm>
        </p:spPr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6374" y="820132"/>
            <a:ext cx="7607431" cy="360103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/>
              <a:t>Virtual memory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Basics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Issues in virtual memory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Handling huge page table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TLB (Translation </a:t>
            </a:r>
            <a:r>
              <a:rPr lang="en-US" altLang="zh-TW" dirty="0" err="1"/>
              <a:t>Lookaside</a:t>
            </a:r>
            <a:r>
              <a:rPr lang="en-US" altLang="zh-TW" dirty="0"/>
              <a:t> Buffer)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TLB and cache</a:t>
            </a:r>
          </a:p>
          <a:p>
            <a:pPr>
              <a:spcBef>
                <a:spcPts val="0"/>
              </a:spcBef>
            </a:pPr>
            <a:r>
              <a:rPr lang="en-US" altLang="zh-TW" dirty="0">
                <a:solidFill>
                  <a:srgbClr val="FF0000"/>
                </a:solidFill>
              </a:rPr>
              <a:t>A common framework for memory hierarchy</a:t>
            </a:r>
          </a:p>
          <a:p>
            <a:r>
              <a:rPr lang="en-US" altLang="zh-TW" dirty="0"/>
              <a:t>Using a Finite State Machine to Control a Simple Cache</a:t>
            </a:r>
          </a:p>
          <a:p>
            <a:r>
              <a:rPr lang="en-US" altLang="zh-TW" dirty="0"/>
              <a:t>Parallelism and Memory Hierarchies: Cache Coherence</a:t>
            </a:r>
          </a:p>
        </p:txBody>
      </p:sp>
      <p:sp>
        <p:nvSpPr>
          <p:cNvPr id="6148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557213" indent="-214313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8572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2001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15430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18859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2288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25717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29146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fld id="{21079BBA-C287-4BD2-9D77-9C0655332BFF}" type="slidenum">
              <a:rPr kumimoji="0" lang="zh-TW" altLang="en-US" sz="1050">
                <a:solidFill>
                  <a:schemeClr val="bg1"/>
                </a:solidFill>
                <a:latin typeface="Arial" pitchFamily="34" charset="0"/>
              </a:rPr>
              <a:pPr/>
              <a:t>42</a:t>
            </a:fld>
            <a:endParaRPr kumimoji="0" lang="en-US" altLang="zh-TW" sz="105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5439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895547" y="129779"/>
            <a:ext cx="6833992" cy="501817"/>
          </a:xfrm>
        </p:spPr>
        <p:txBody>
          <a:bodyPr/>
          <a:lstStyle/>
          <a:p>
            <a:r>
              <a:rPr lang="en-US" altLang="zh-TW" dirty="0"/>
              <a:t>The Memory Hierarchy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3908" y="1121699"/>
            <a:ext cx="6882315" cy="2790425"/>
          </a:xfrm>
        </p:spPr>
        <p:txBody>
          <a:bodyPr/>
          <a:lstStyle/>
          <a:p>
            <a:r>
              <a:rPr lang="en-US" altLang="zh-TW" sz="2000" dirty="0"/>
              <a:t>Common principles apply at all levels of the memory hierarchy</a:t>
            </a:r>
          </a:p>
          <a:p>
            <a:pPr lvl="1"/>
            <a:r>
              <a:rPr lang="en-US" altLang="zh-TW" sz="1800" dirty="0"/>
              <a:t>Based on notions of caching</a:t>
            </a:r>
          </a:p>
          <a:p>
            <a:r>
              <a:rPr lang="en-US" altLang="zh-TW" sz="2000" dirty="0"/>
              <a:t>At each level in the hierarchy</a:t>
            </a:r>
          </a:p>
          <a:p>
            <a:pPr lvl="1"/>
            <a:r>
              <a:rPr lang="en-US" altLang="zh-TW" sz="1800" dirty="0"/>
              <a:t>Block placement</a:t>
            </a:r>
          </a:p>
          <a:p>
            <a:pPr lvl="1"/>
            <a:r>
              <a:rPr lang="en-US" altLang="zh-TW" sz="1800" dirty="0"/>
              <a:t>Finding a block</a:t>
            </a:r>
          </a:p>
          <a:p>
            <a:pPr lvl="1"/>
            <a:r>
              <a:rPr lang="en-US" altLang="zh-TW" sz="1800" dirty="0"/>
              <a:t>Replacement on a miss</a:t>
            </a:r>
          </a:p>
          <a:p>
            <a:pPr lvl="1"/>
            <a:r>
              <a:rPr lang="en-US" altLang="zh-TW" sz="1800" dirty="0"/>
              <a:t>Write policy</a:t>
            </a:r>
            <a:endParaRPr lang="en-AU" altLang="zh-TW" sz="1800" dirty="0">
              <a:ea typeface="新細明體" pitchFamily="18" charset="-120"/>
            </a:endParaRPr>
          </a:p>
        </p:txBody>
      </p:sp>
      <p:sp>
        <p:nvSpPr>
          <p:cNvPr id="117764" name="Text Box 5"/>
          <p:cNvSpPr txBox="1">
            <a:spLocks noChangeArrowheads="1"/>
          </p:cNvSpPr>
          <p:nvPr/>
        </p:nvSpPr>
        <p:spPr bwMode="auto">
          <a:xfrm>
            <a:off x="1073907" y="821617"/>
            <a:ext cx="31587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BIG Picture</a:t>
            </a:r>
          </a:p>
        </p:txBody>
      </p:sp>
      <p:sp>
        <p:nvSpPr>
          <p:cNvPr id="117765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6ABCA0B7-FB57-4835-A0C8-1474B8209F20}" type="slidenum">
              <a:rPr lang="zh-TW" altLang="en-US"/>
              <a:pPr defTabSz="571500"/>
              <a:t>43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86515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942681" y="129780"/>
            <a:ext cx="6786858" cy="464110"/>
          </a:xfrm>
        </p:spPr>
        <p:txBody>
          <a:bodyPr/>
          <a:lstStyle/>
          <a:p>
            <a:r>
              <a:rPr lang="en-US" altLang="zh-TW" dirty="0"/>
              <a:t>Block Placement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680" y="844153"/>
            <a:ext cx="7744119" cy="3671888"/>
          </a:xfrm>
        </p:spPr>
        <p:txBody>
          <a:bodyPr/>
          <a:lstStyle/>
          <a:p>
            <a:r>
              <a:rPr lang="en-US" altLang="zh-TW" dirty="0"/>
              <a:t>Determined by associativity</a:t>
            </a:r>
          </a:p>
          <a:p>
            <a:pPr lvl="1"/>
            <a:r>
              <a:rPr lang="en-US" altLang="zh-TW" dirty="0"/>
              <a:t>Direct mapped (1-way associative)</a:t>
            </a:r>
          </a:p>
          <a:p>
            <a:pPr lvl="2"/>
            <a:r>
              <a:rPr lang="en-US" altLang="zh-TW" dirty="0"/>
              <a:t>One choice for placement</a:t>
            </a:r>
          </a:p>
          <a:p>
            <a:pPr lvl="1"/>
            <a:r>
              <a:rPr lang="en-US" altLang="zh-TW" dirty="0"/>
              <a:t>n-way set associative</a:t>
            </a:r>
          </a:p>
          <a:p>
            <a:pPr lvl="2"/>
            <a:r>
              <a:rPr lang="en-US" altLang="zh-TW" dirty="0"/>
              <a:t>n choices within a set</a:t>
            </a:r>
          </a:p>
          <a:p>
            <a:pPr lvl="1"/>
            <a:r>
              <a:rPr lang="en-US" altLang="zh-TW" dirty="0"/>
              <a:t>Fully associative</a:t>
            </a:r>
          </a:p>
          <a:p>
            <a:pPr lvl="2"/>
            <a:r>
              <a:rPr lang="en-US" altLang="zh-TW" dirty="0"/>
              <a:t>Any location</a:t>
            </a:r>
          </a:p>
          <a:p>
            <a:r>
              <a:rPr lang="en-US" altLang="zh-TW" dirty="0"/>
              <a:t>Higher associativity reduces miss rate</a:t>
            </a:r>
          </a:p>
          <a:p>
            <a:pPr lvl="1"/>
            <a:r>
              <a:rPr lang="en-US" altLang="zh-TW" dirty="0"/>
              <a:t>Increases complexity, cost, and access time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118788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2722B512-B588-44D1-9734-066F55209D8B}" type="slidenum">
              <a:rPr lang="zh-TW" altLang="en-US"/>
              <a:pPr defTabSz="571500"/>
              <a:t>44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081054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1" y="129780"/>
            <a:ext cx="6815138" cy="464110"/>
          </a:xfrm>
        </p:spPr>
        <p:txBody>
          <a:bodyPr/>
          <a:lstStyle/>
          <a:p>
            <a:r>
              <a:rPr lang="en-US" altLang="zh-TW" dirty="0"/>
              <a:t>Find a Block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3060" y="805961"/>
            <a:ext cx="6315075" cy="1775222"/>
          </a:xfrm>
        </p:spPr>
        <p:txBody>
          <a:bodyPr/>
          <a:lstStyle/>
          <a:p>
            <a:r>
              <a:rPr lang="en-US" altLang="zh-TW" sz="2000" dirty="0"/>
              <a:t>Hardware caches</a:t>
            </a:r>
          </a:p>
          <a:p>
            <a:pPr lvl="1"/>
            <a:r>
              <a:rPr lang="en-US" altLang="zh-TW" sz="1800" dirty="0"/>
              <a:t>Reduce comparisons to reduce cost</a:t>
            </a:r>
          </a:p>
          <a:p>
            <a:r>
              <a:rPr lang="en-US" altLang="zh-TW" sz="2000" dirty="0"/>
              <a:t>Virtual memory</a:t>
            </a:r>
          </a:p>
          <a:p>
            <a:pPr lvl="1"/>
            <a:r>
              <a:rPr lang="en-US" altLang="zh-TW" sz="1800" dirty="0"/>
              <a:t>Full table lookup makes full associativity feasible</a:t>
            </a:r>
          </a:p>
          <a:p>
            <a:pPr lvl="1"/>
            <a:r>
              <a:rPr lang="en-US" altLang="zh-TW" sz="1800" dirty="0"/>
              <a:t>Benefit in reduced miss rate</a:t>
            </a:r>
            <a:endParaRPr lang="en-AU" altLang="zh-TW" sz="1800" dirty="0">
              <a:ea typeface="新細明體" pitchFamily="18" charset="-120"/>
            </a:endParaRPr>
          </a:p>
        </p:txBody>
      </p:sp>
      <p:graphicFrame>
        <p:nvGraphicFramePr>
          <p:cNvPr id="769053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487534"/>
              </p:ext>
            </p:extLst>
          </p:nvPr>
        </p:nvGraphicFramePr>
        <p:xfrm>
          <a:off x="1517088" y="2793255"/>
          <a:ext cx="6143625" cy="1577577"/>
        </p:xfrm>
        <a:graphic>
          <a:graphicData uri="http://schemas.openxmlformats.org/drawingml/2006/table">
            <a:tbl>
              <a:tblPr/>
              <a:tblGrid>
                <a:gridCol w="204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6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6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標楷體" pitchFamily="65" charset="-120"/>
                        </a:rPr>
                        <a:t>Associativity</a:t>
                      </a:r>
                      <a:endParaRPr kumimoji="0" lang="en-AU" altLang="zh-TW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標楷體" pitchFamily="65" charset="-120"/>
                        </a:rPr>
                        <a:t>Location method</a:t>
                      </a:r>
                      <a:endParaRPr kumimoji="0" lang="en-AU" altLang="zh-TW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標楷體" pitchFamily="65" charset="-120"/>
                        </a:rPr>
                        <a:t>Tag comparisons</a:t>
                      </a:r>
                      <a:endParaRPr kumimoji="0" lang="en-AU" altLang="zh-TW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6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標楷體" pitchFamily="65" charset="-120"/>
                        </a:rPr>
                        <a:t>Direct mapped</a:t>
                      </a:r>
                      <a:endParaRPr kumimoji="0" lang="en-AU" altLang="zh-TW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標楷體" pitchFamily="65" charset="-120"/>
                        </a:rPr>
                        <a:t>Index</a:t>
                      </a:r>
                      <a:endParaRPr kumimoji="0" lang="en-AU" altLang="zh-TW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標楷體" pitchFamily="65" charset="-120"/>
                        </a:rPr>
                        <a:t>1</a:t>
                      </a:r>
                      <a:endParaRPr kumimoji="0" lang="en-AU" altLang="zh-TW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1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標楷體" pitchFamily="65" charset="-120"/>
                        </a:rPr>
                        <a:t>n-way set associative</a:t>
                      </a:r>
                      <a:endParaRPr kumimoji="0" lang="en-AU" altLang="zh-TW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標楷體" pitchFamily="65" charset="-120"/>
                        </a:rPr>
                        <a:t>Set index, then search entries within the set</a:t>
                      </a:r>
                      <a:endParaRPr kumimoji="0" lang="en-AU" altLang="zh-TW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標楷體" pitchFamily="65" charset="-120"/>
                        </a:rPr>
                        <a:t>n</a:t>
                      </a:r>
                      <a:endParaRPr kumimoji="0" lang="en-AU" altLang="zh-TW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61"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標楷體" pitchFamily="65" charset="-120"/>
                        </a:rPr>
                        <a:t>Fully associative</a:t>
                      </a:r>
                      <a:endParaRPr kumimoji="0" lang="en-AU" altLang="zh-TW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標楷體" pitchFamily="65" charset="-120"/>
                        </a:rPr>
                        <a:t>Search all entries</a:t>
                      </a:r>
                      <a:endParaRPr kumimoji="0" lang="en-AU" altLang="zh-TW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標楷體" pitchFamily="65" charset="-120"/>
                        </a:rPr>
                        <a:t>#entries</a:t>
                      </a:r>
                      <a:endParaRPr kumimoji="0" lang="en-AU" altLang="zh-TW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6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標楷體" pitchFamily="65" charset="-120"/>
                        </a:rPr>
                        <a:t>Full lookup table</a:t>
                      </a:r>
                      <a:endParaRPr kumimoji="0" lang="en-AU" altLang="zh-TW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標楷體" pitchFamily="65" charset="-120"/>
                        </a:rPr>
                        <a:t>0</a:t>
                      </a:r>
                      <a:endParaRPr kumimoji="0" lang="en-AU" altLang="zh-TW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9837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568766E8-827A-4C08-A074-E02D6CE0BA5B}" type="slidenum">
              <a:rPr lang="zh-TW" altLang="en-US"/>
              <a:pPr defTabSz="571500"/>
              <a:t>45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21117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953729" y="129779"/>
            <a:ext cx="6775809" cy="469989"/>
          </a:xfrm>
        </p:spPr>
        <p:txBody>
          <a:bodyPr/>
          <a:lstStyle/>
          <a:p>
            <a:r>
              <a:rPr lang="en-US" altLang="zh-TW" dirty="0"/>
              <a:t>Replacement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3728" y="844153"/>
            <a:ext cx="7733071" cy="3671888"/>
          </a:xfrm>
        </p:spPr>
        <p:txBody>
          <a:bodyPr/>
          <a:lstStyle/>
          <a:p>
            <a:r>
              <a:rPr lang="en-US" altLang="zh-TW" dirty="0"/>
              <a:t>Choice of entry to replace on a miss</a:t>
            </a:r>
          </a:p>
          <a:p>
            <a:pPr lvl="1"/>
            <a:r>
              <a:rPr lang="en-US" altLang="zh-TW" dirty="0"/>
              <a:t>Least recently used (LRU)</a:t>
            </a:r>
          </a:p>
          <a:p>
            <a:pPr lvl="2"/>
            <a:r>
              <a:rPr lang="en-US" altLang="zh-TW" dirty="0"/>
              <a:t>Complex and costly hardware for high associativity</a:t>
            </a:r>
          </a:p>
          <a:p>
            <a:pPr lvl="1"/>
            <a:r>
              <a:rPr lang="en-US" altLang="zh-TW" dirty="0"/>
              <a:t>Random</a:t>
            </a:r>
          </a:p>
          <a:p>
            <a:pPr lvl="2"/>
            <a:r>
              <a:rPr lang="en-US" altLang="zh-TW" dirty="0"/>
              <a:t>Close to LRU, easier to implement</a:t>
            </a:r>
          </a:p>
          <a:p>
            <a:r>
              <a:rPr lang="en-US" altLang="zh-TW" dirty="0"/>
              <a:t>Virtual memory</a:t>
            </a:r>
          </a:p>
          <a:p>
            <a:pPr lvl="1"/>
            <a:r>
              <a:rPr lang="en-US" altLang="zh-TW" dirty="0"/>
              <a:t>LRU approximation with hardware support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120836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BD89DF30-9957-4DF2-A689-A353BE118E90}" type="slidenum">
              <a:rPr lang="zh-TW" altLang="en-US"/>
              <a:pPr defTabSz="571500"/>
              <a:t>46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152401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934065" y="129779"/>
            <a:ext cx="6795473" cy="479821"/>
          </a:xfrm>
        </p:spPr>
        <p:txBody>
          <a:bodyPr/>
          <a:lstStyle/>
          <a:p>
            <a:r>
              <a:rPr lang="en-US" altLang="zh-TW" dirty="0"/>
              <a:t>Write Policy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064" y="844153"/>
            <a:ext cx="7752735" cy="367188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dirty="0"/>
              <a:t>Write-through</a:t>
            </a:r>
          </a:p>
          <a:p>
            <a:pPr lvl="1">
              <a:lnSpc>
                <a:spcPct val="80000"/>
              </a:lnSpc>
            </a:pPr>
            <a:r>
              <a:rPr lang="en-US" altLang="zh-TW" dirty="0"/>
              <a:t>Update both upper and lower levels</a:t>
            </a:r>
          </a:p>
          <a:p>
            <a:pPr lvl="1">
              <a:lnSpc>
                <a:spcPct val="80000"/>
              </a:lnSpc>
            </a:pPr>
            <a:r>
              <a:rPr lang="en-US" altLang="zh-TW" dirty="0"/>
              <a:t>Simplifies replacement, but may require write buffer</a:t>
            </a:r>
          </a:p>
          <a:p>
            <a:pPr>
              <a:lnSpc>
                <a:spcPct val="80000"/>
              </a:lnSpc>
            </a:pPr>
            <a:r>
              <a:rPr lang="en-US" altLang="zh-TW" dirty="0"/>
              <a:t>Write-back</a:t>
            </a:r>
          </a:p>
          <a:p>
            <a:pPr lvl="1">
              <a:lnSpc>
                <a:spcPct val="80000"/>
              </a:lnSpc>
            </a:pPr>
            <a:r>
              <a:rPr lang="en-US" altLang="zh-TW" dirty="0"/>
              <a:t>Update upper level only</a:t>
            </a:r>
          </a:p>
          <a:p>
            <a:pPr lvl="1">
              <a:lnSpc>
                <a:spcPct val="80000"/>
              </a:lnSpc>
            </a:pPr>
            <a:r>
              <a:rPr lang="en-US" altLang="zh-TW" dirty="0"/>
              <a:t>Update lower level when block is replaced</a:t>
            </a:r>
          </a:p>
          <a:p>
            <a:pPr lvl="1">
              <a:lnSpc>
                <a:spcPct val="80000"/>
              </a:lnSpc>
            </a:pPr>
            <a:r>
              <a:rPr lang="en-US" altLang="zh-TW" dirty="0"/>
              <a:t>Need to keep more state</a:t>
            </a:r>
          </a:p>
          <a:p>
            <a:pPr>
              <a:lnSpc>
                <a:spcPct val="80000"/>
              </a:lnSpc>
            </a:pPr>
            <a:r>
              <a:rPr lang="en-US" altLang="zh-TW" dirty="0"/>
              <a:t>Virtual memory</a:t>
            </a:r>
          </a:p>
          <a:p>
            <a:pPr lvl="1">
              <a:lnSpc>
                <a:spcPct val="80000"/>
              </a:lnSpc>
            </a:pPr>
            <a:r>
              <a:rPr lang="en-US" altLang="zh-TW" dirty="0"/>
              <a:t>Only write-back is feasible, given disk write latency 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121860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FB776937-49B5-4C92-93C7-A83DA7240C58}" type="slidenum">
              <a:rPr lang="zh-TW" altLang="en-US"/>
              <a:pPr defTabSz="571500"/>
              <a:t>47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195602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867267" y="129780"/>
            <a:ext cx="6862272" cy="445256"/>
          </a:xfrm>
        </p:spPr>
        <p:txBody>
          <a:bodyPr/>
          <a:lstStyle/>
          <a:p>
            <a:r>
              <a:rPr lang="en-US" altLang="zh-TW" dirty="0"/>
              <a:t>Sources of Misses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0388" y="844153"/>
            <a:ext cx="7706412" cy="3671888"/>
          </a:xfrm>
        </p:spPr>
        <p:txBody>
          <a:bodyPr/>
          <a:lstStyle/>
          <a:p>
            <a:r>
              <a:rPr lang="en-US" altLang="zh-TW" dirty="0"/>
              <a:t>Compulsory misses (aka cold start misses)</a:t>
            </a:r>
          </a:p>
          <a:p>
            <a:pPr lvl="1"/>
            <a:r>
              <a:rPr lang="en-US" altLang="zh-TW" dirty="0"/>
              <a:t>First access to a block</a:t>
            </a:r>
          </a:p>
          <a:p>
            <a:r>
              <a:rPr lang="en-US" altLang="zh-TW" dirty="0"/>
              <a:t>Capacity misses</a:t>
            </a:r>
          </a:p>
          <a:p>
            <a:pPr lvl="1"/>
            <a:r>
              <a:rPr lang="en-US" altLang="zh-TW" dirty="0"/>
              <a:t>Due to finite cache size</a:t>
            </a:r>
          </a:p>
          <a:p>
            <a:pPr lvl="1"/>
            <a:r>
              <a:rPr lang="en-US" altLang="zh-TW" dirty="0"/>
              <a:t>A replaced block is later accessed again</a:t>
            </a:r>
          </a:p>
          <a:p>
            <a:r>
              <a:rPr lang="en-US" altLang="zh-TW" dirty="0"/>
              <a:t>Conflict misses (aka collision misses)</a:t>
            </a:r>
          </a:p>
          <a:p>
            <a:pPr lvl="1"/>
            <a:r>
              <a:rPr lang="en-US" altLang="zh-TW" dirty="0"/>
              <a:t>In a non-fully associative cache</a:t>
            </a:r>
          </a:p>
          <a:p>
            <a:pPr lvl="1"/>
            <a:r>
              <a:rPr lang="en-US" altLang="zh-TW" dirty="0"/>
              <a:t>Due to competition for entries in a set</a:t>
            </a:r>
          </a:p>
          <a:p>
            <a:pPr lvl="1"/>
            <a:r>
              <a:rPr lang="en-US" altLang="zh-TW" dirty="0"/>
              <a:t>Would not occur in a fully associative cache of the same total size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122884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9261E2A7-F952-4D1B-988B-A56808EB2B65}" type="slidenum">
              <a:rPr lang="zh-TW" altLang="en-US"/>
              <a:pPr defTabSz="571500"/>
              <a:t>48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176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ChangeArrowheads="1"/>
          </p:cNvSpPr>
          <p:nvPr/>
        </p:nvSpPr>
        <p:spPr bwMode="auto">
          <a:xfrm>
            <a:off x="1040606" y="234554"/>
            <a:ext cx="1587104" cy="35837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title"/>
          </p:nvPr>
        </p:nvSpPr>
        <p:spPr>
          <a:xfrm>
            <a:off x="923827" y="129779"/>
            <a:ext cx="6805711" cy="463153"/>
          </a:xfrm>
        </p:spPr>
        <p:txBody>
          <a:bodyPr/>
          <a:lstStyle/>
          <a:p>
            <a:r>
              <a:rPr lang="en-US" altLang="zh-TW" dirty="0"/>
              <a:t>Challenge in Memory Hierarchy</a:t>
            </a:r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21774" y="844153"/>
            <a:ext cx="7543800" cy="367188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TW" sz="2000" dirty="0"/>
              <a:t>Every change that potentially improves miss rate can negatively affect overall performance</a:t>
            </a:r>
            <a:endParaRPr lang="en-US" altLang="zh-TW" u="sng" dirty="0"/>
          </a:p>
          <a:p>
            <a:pPr>
              <a:buFont typeface="Wingdings" pitchFamily="2" charset="2"/>
              <a:buNone/>
            </a:pPr>
            <a:r>
              <a:rPr lang="en-US" altLang="zh-TW" sz="1500" dirty="0"/>
              <a:t>		</a:t>
            </a:r>
            <a:r>
              <a:rPr lang="en-US" altLang="zh-TW" sz="1500" u="sng" dirty="0"/>
              <a:t>Design change	Effects on miss rate	Possible effects</a:t>
            </a:r>
          </a:p>
          <a:p>
            <a:pPr>
              <a:buFont typeface="Wingdings" pitchFamily="2" charset="2"/>
              <a:buNone/>
            </a:pPr>
            <a:r>
              <a:rPr lang="en-US" altLang="zh-TW" sz="1500" dirty="0"/>
              <a:t>		size </a:t>
            </a:r>
            <a:r>
              <a:rPr lang="en-US" altLang="zh-TW" sz="1500" dirty="0">
                <a:sym typeface="Symbol" pitchFamily="18" charset="2"/>
              </a:rPr>
              <a:t></a:t>
            </a:r>
            <a:r>
              <a:rPr lang="en-US" altLang="zh-TW" sz="1500" dirty="0"/>
              <a:t>		capacity miss </a:t>
            </a:r>
            <a:r>
              <a:rPr lang="en-US" altLang="zh-TW" sz="1500" dirty="0">
                <a:sym typeface="Symbol" pitchFamily="18" charset="2"/>
              </a:rPr>
              <a:t></a:t>
            </a:r>
            <a:r>
              <a:rPr lang="en-US" altLang="zh-TW" sz="1500" dirty="0"/>
              <a:t> 	access time </a:t>
            </a:r>
            <a:r>
              <a:rPr lang="en-US" altLang="zh-TW" sz="1500" dirty="0">
                <a:sym typeface="Symbol" pitchFamily="18" charset="2"/>
              </a:rPr>
              <a:t></a:t>
            </a:r>
          </a:p>
          <a:p>
            <a:pPr>
              <a:buFont typeface="Wingdings" pitchFamily="2" charset="2"/>
              <a:buNone/>
            </a:pPr>
            <a:r>
              <a:rPr lang="en-US" altLang="zh-TW" sz="1500" dirty="0">
                <a:sym typeface="Symbol" pitchFamily="18" charset="2"/>
              </a:rPr>
              <a:t>		associativity</a:t>
            </a:r>
            <a:r>
              <a:rPr lang="en-US" altLang="zh-TW" sz="1500" dirty="0"/>
              <a:t> </a:t>
            </a:r>
            <a:r>
              <a:rPr lang="en-US" altLang="zh-TW" sz="1500" dirty="0">
                <a:sym typeface="Symbol" pitchFamily="18" charset="2"/>
              </a:rPr>
              <a:t>	conflict miss</a:t>
            </a:r>
            <a:r>
              <a:rPr lang="en-US" altLang="zh-TW" sz="1500" dirty="0"/>
              <a:t> </a:t>
            </a:r>
            <a:r>
              <a:rPr lang="en-US" altLang="zh-TW" sz="1500" dirty="0">
                <a:sym typeface="Symbol" pitchFamily="18" charset="2"/>
              </a:rPr>
              <a:t>	access time</a:t>
            </a:r>
            <a:r>
              <a:rPr lang="en-US" altLang="zh-TW" sz="1500" dirty="0"/>
              <a:t> </a:t>
            </a:r>
            <a:r>
              <a:rPr lang="en-US" altLang="zh-TW" sz="1500" dirty="0">
                <a:sym typeface="Symbol" pitchFamily="18" charset="2"/>
              </a:rPr>
              <a:t></a:t>
            </a:r>
          </a:p>
          <a:p>
            <a:pPr>
              <a:buFont typeface="Wingdings" pitchFamily="2" charset="2"/>
              <a:buNone/>
            </a:pPr>
            <a:r>
              <a:rPr lang="en-US" altLang="zh-TW" sz="1500" dirty="0">
                <a:sym typeface="Symbol" pitchFamily="18" charset="2"/>
              </a:rPr>
              <a:t>		block size</a:t>
            </a:r>
            <a:r>
              <a:rPr lang="en-US" altLang="zh-TW" sz="1500" dirty="0"/>
              <a:t> </a:t>
            </a:r>
            <a:r>
              <a:rPr lang="en-US" altLang="zh-TW" sz="1500" dirty="0">
                <a:sym typeface="Symbol" pitchFamily="18" charset="2"/>
              </a:rPr>
              <a:t>		spatial locality</a:t>
            </a:r>
            <a:r>
              <a:rPr lang="en-US" altLang="zh-TW" sz="1500" dirty="0"/>
              <a:t> </a:t>
            </a:r>
            <a:r>
              <a:rPr lang="en-US" altLang="zh-TW" sz="1500" dirty="0">
                <a:sym typeface="Symbol" pitchFamily="18" charset="2"/>
              </a:rPr>
              <a:t>	miss penalty</a:t>
            </a:r>
            <a:r>
              <a:rPr lang="en-US" altLang="zh-TW" sz="1500" dirty="0"/>
              <a:t> </a:t>
            </a:r>
            <a:r>
              <a:rPr lang="en-US" altLang="zh-TW" sz="1500" dirty="0">
                <a:sym typeface="Symbol" pitchFamily="18" charset="2"/>
              </a:rPr>
              <a:t></a:t>
            </a:r>
            <a:endParaRPr lang="en-US" altLang="zh-TW" dirty="0"/>
          </a:p>
          <a:p>
            <a:pPr>
              <a:spcBef>
                <a:spcPts val="1200"/>
              </a:spcBef>
            </a:pPr>
            <a:r>
              <a:rPr lang="en-US" altLang="zh-TW" sz="2000" dirty="0"/>
              <a:t>Trends</a:t>
            </a:r>
          </a:p>
          <a:p>
            <a:pPr lvl="1"/>
            <a:r>
              <a:rPr lang="en-US" altLang="zh-TW" sz="1800" dirty="0"/>
              <a:t>Synchronous SRAMs (provide a burst of data)</a:t>
            </a:r>
          </a:p>
          <a:p>
            <a:pPr lvl="1"/>
            <a:r>
              <a:rPr lang="en-US" altLang="zh-TW" sz="1800" dirty="0"/>
              <a:t>Redesign DRAM chips to provide higher bandwidth or processing </a:t>
            </a:r>
          </a:p>
          <a:p>
            <a:pPr lvl="1"/>
            <a:r>
              <a:rPr lang="en-US" altLang="zh-TW" sz="1800" dirty="0"/>
              <a:t>Restructure code to increase locality</a:t>
            </a:r>
          </a:p>
          <a:p>
            <a:pPr lvl="1"/>
            <a:r>
              <a:rPr lang="en-US" altLang="zh-TW" sz="1800" dirty="0"/>
              <a:t>Use prefetching (make cache visible to ISA)</a:t>
            </a:r>
          </a:p>
        </p:txBody>
      </p:sp>
      <p:sp>
        <p:nvSpPr>
          <p:cNvPr id="123909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5CABE9A5-DE5E-46DD-894E-E6083FF5B9B1}" type="slidenum">
              <a:rPr lang="zh-TW" altLang="en-US"/>
              <a:pPr defTabSz="571500"/>
              <a:t>49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8994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70961" y="129780"/>
            <a:ext cx="6758577" cy="426402"/>
          </a:xfrm>
        </p:spPr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6374" y="820132"/>
            <a:ext cx="7607431" cy="360103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/>
              <a:t>Virtual memory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Basics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Issues in virtual memory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Handling huge page table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TLB (Translation </a:t>
            </a:r>
            <a:r>
              <a:rPr lang="en-US" altLang="zh-TW" dirty="0" err="1"/>
              <a:t>Lookaside</a:t>
            </a:r>
            <a:r>
              <a:rPr lang="en-US" altLang="zh-TW" dirty="0"/>
              <a:t> Buffer)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TLB and cache</a:t>
            </a:r>
          </a:p>
          <a:p>
            <a:pPr>
              <a:spcBef>
                <a:spcPts val="0"/>
              </a:spcBef>
            </a:pPr>
            <a:r>
              <a:rPr lang="en-US" altLang="zh-TW" dirty="0"/>
              <a:t>A common framework for memory hierarchy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Using a Finite State Machine to Control a Simple Cache</a:t>
            </a:r>
          </a:p>
          <a:p>
            <a:r>
              <a:rPr lang="en-US" altLang="zh-TW" dirty="0"/>
              <a:t>Parallelism and Memory Hierarchies: Cache Coherence</a:t>
            </a:r>
          </a:p>
        </p:txBody>
      </p:sp>
      <p:sp>
        <p:nvSpPr>
          <p:cNvPr id="6148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557213" indent="-214313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8572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2001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15430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18859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2288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25717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29146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fld id="{21079BBA-C287-4BD2-9D77-9C0655332BFF}" type="slidenum">
              <a:rPr kumimoji="0" lang="zh-TW" altLang="en-US" sz="1050">
                <a:solidFill>
                  <a:schemeClr val="bg1"/>
                </a:solidFill>
                <a:latin typeface="Arial" pitchFamily="34" charset="0"/>
              </a:rPr>
              <a:pPr/>
              <a:t>50</a:t>
            </a:fld>
            <a:endParaRPr kumimoji="0" lang="en-US" altLang="zh-TW" sz="105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9192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1" y="129780"/>
            <a:ext cx="6815138" cy="426402"/>
          </a:xfrm>
        </p:spPr>
        <p:txBody>
          <a:bodyPr/>
          <a:lstStyle/>
          <a:p>
            <a:r>
              <a:rPr lang="en-AU" altLang="zh-TW" dirty="0">
                <a:solidFill>
                  <a:srgbClr val="002060"/>
                </a:solidFill>
                <a:ea typeface="新細明體" pitchFamily="18" charset="-120"/>
              </a:rPr>
              <a:t>Cache Control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7" y="809740"/>
            <a:ext cx="6315075" cy="2789635"/>
          </a:xfrm>
        </p:spPr>
        <p:txBody>
          <a:bodyPr/>
          <a:lstStyle/>
          <a:p>
            <a:r>
              <a:rPr lang="en-AU" altLang="zh-TW" dirty="0">
                <a:ea typeface="新細明體" pitchFamily="18" charset="-120"/>
              </a:rPr>
              <a:t>Example cache characteristics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Direct-mapped, write-back, write allocate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Block size: 4 words (16 bytes)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Cache size: 16 KB (1024 blocks)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32-bit byte addresses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Valid bit and dirty bit per block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Blocking cache</a:t>
            </a:r>
          </a:p>
          <a:p>
            <a:pPr lvl="2"/>
            <a:r>
              <a:rPr lang="en-AU" altLang="zh-TW" dirty="0">
                <a:ea typeface="新細明體" pitchFamily="18" charset="-120"/>
              </a:rPr>
              <a:t>CPU waits until access is complete</a:t>
            </a:r>
          </a:p>
        </p:txBody>
      </p:sp>
      <p:sp>
        <p:nvSpPr>
          <p:cNvPr id="125956" name="Rectangle 6"/>
          <p:cNvSpPr>
            <a:spLocks noChangeArrowheads="1"/>
          </p:cNvSpPr>
          <p:nvPr/>
        </p:nvSpPr>
        <p:spPr bwMode="auto">
          <a:xfrm>
            <a:off x="2197894" y="3969544"/>
            <a:ext cx="2022872" cy="32504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350">
                <a:latin typeface="Arial" pitchFamily="34" charset="0"/>
              </a:rPr>
              <a:t>Tag</a:t>
            </a:r>
            <a:endParaRPr lang="en-AU" altLang="zh-TW" sz="1350">
              <a:latin typeface="Arial" pitchFamily="34" charset="0"/>
            </a:endParaRPr>
          </a:p>
        </p:txBody>
      </p:sp>
      <p:sp>
        <p:nvSpPr>
          <p:cNvPr id="125957" name="Rectangle 7"/>
          <p:cNvSpPr>
            <a:spLocks noChangeArrowheads="1"/>
          </p:cNvSpPr>
          <p:nvPr/>
        </p:nvSpPr>
        <p:spPr bwMode="auto">
          <a:xfrm>
            <a:off x="4220766" y="3969544"/>
            <a:ext cx="1312069" cy="32504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350" dirty="0">
                <a:latin typeface="Arial" pitchFamily="34" charset="0"/>
              </a:rPr>
              <a:t>Index</a:t>
            </a:r>
            <a:endParaRPr lang="en-AU" altLang="zh-TW" sz="1350" dirty="0">
              <a:latin typeface="Arial" pitchFamily="34" charset="0"/>
            </a:endParaRPr>
          </a:p>
        </p:txBody>
      </p:sp>
      <p:sp>
        <p:nvSpPr>
          <p:cNvPr id="125958" name="Rectangle 8"/>
          <p:cNvSpPr>
            <a:spLocks noChangeArrowheads="1"/>
          </p:cNvSpPr>
          <p:nvPr/>
        </p:nvSpPr>
        <p:spPr bwMode="auto">
          <a:xfrm>
            <a:off x="5532835" y="3969544"/>
            <a:ext cx="819150" cy="32504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350">
                <a:latin typeface="Arial" pitchFamily="34" charset="0"/>
              </a:rPr>
              <a:t>Offset</a:t>
            </a:r>
            <a:endParaRPr lang="en-AU" altLang="zh-TW" sz="1350">
              <a:latin typeface="Arial" pitchFamily="34" charset="0"/>
            </a:endParaRPr>
          </a:p>
        </p:txBody>
      </p:sp>
      <p:sp>
        <p:nvSpPr>
          <p:cNvPr id="125959" name="Text Box 9"/>
          <p:cNvSpPr txBox="1">
            <a:spLocks noChangeArrowheads="1"/>
          </p:cNvSpPr>
          <p:nvPr/>
        </p:nvSpPr>
        <p:spPr bwMode="auto">
          <a:xfrm>
            <a:off x="6152030" y="3706416"/>
            <a:ext cx="280847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1350" b="1">
                <a:latin typeface="Arial" pitchFamily="34" charset="0"/>
              </a:rPr>
              <a:t>0</a:t>
            </a:r>
            <a:endParaRPr lang="en-AU" altLang="zh-TW" sz="1350" b="1">
              <a:latin typeface="Arial" pitchFamily="34" charset="0"/>
            </a:endParaRPr>
          </a:p>
        </p:txBody>
      </p:sp>
      <p:sp>
        <p:nvSpPr>
          <p:cNvPr id="125960" name="Text Box 10"/>
          <p:cNvSpPr txBox="1">
            <a:spLocks noChangeArrowheads="1"/>
          </p:cNvSpPr>
          <p:nvPr/>
        </p:nvSpPr>
        <p:spPr bwMode="auto">
          <a:xfrm>
            <a:off x="5507902" y="3706416"/>
            <a:ext cx="280847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1350" b="1">
                <a:latin typeface="Arial" pitchFamily="34" charset="0"/>
              </a:rPr>
              <a:t>3</a:t>
            </a:r>
            <a:endParaRPr lang="en-AU" altLang="zh-TW" sz="1350" b="1">
              <a:latin typeface="Arial" pitchFamily="34" charset="0"/>
            </a:endParaRPr>
          </a:p>
        </p:txBody>
      </p:sp>
      <p:sp>
        <p:nvSpPr>
          <p:cNvPr id="125961" name="Text Box 11"/>
          <p:cNvSpPr txBox="1">
            <a:spLocks noChangeArrowheads="1"/>
          </p:cNvSpPr>
          <p:nvPr/>
        </p:nvSpPr>
        <p:spPr bwMode="auto">
          <a:xfrm>
            <a:off x="5220961" y="3706416"/>
            <a:ext cx="280847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1350" b="1">
                <a:latin typeface="Arial" pitchFamily="34" charset="0"/>
              </a:rPr>
              <a:t>4</a:t>
            </a:r>
            <a:endParaRPr lang="en-AU" altLang="zh-TW" sz="1350" b="1">
              <a:latin typeface="Arial" pitchFamily="34" charset="0"/>
            </a:endParaRPr>
          </a:p>
        </p:txBody>
      </p:sp>
      <p:sp>
        <p:nvSpPr>
          <p:cNvPr id="125962" name="Text Box 12"/>
          <p:cNvSpPr txBox="1">
            <a:spLocks noChangeArrowheads="1"/>
          </p:cNvSpPr>
          <p:nvPr/>
        </p:nvSpPr>
        <p:spPr bwMode="auto">
          <a:xfrm>
            <a:off x="4153696" y="3706416"/>
            <a:ext cx="377027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AU" altLang="zh-TW" sz="1350" b="1" dirty="0">
                <a:solidFill>
                  <a:srgbClr val="FF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25963" name="Text Box 13"/>
          <p:cNvSpPr txBox="1">
            <a:spLocks noChangeArrowheads="1"/>
          </p:cNvSpPr>
          <p:nvPr/>
        </p:nvSpPr>
        <p:spPr bwMode="auto">
          <a:xfrm>
            <a:off x="3916762" y="3706416"/>
            <a:ext cx="377027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1350" b="1" dirty="0">
                <a:solidFill>
                  <a:srgbClr val="FF0000"/>
                </a:solidFill>
                <a:latin typeface="Arial" pitchFamily="34" charset="0"/>
              </a:rPr>
              <a:t>14</a:t>
            </a:r>
            <a:endParaRPr lang="en-AU" altLang="zh-TW" sz="1350" b="1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25964" name="Text Box 14"/>
          <p:cNvSpPr txBox="1">
            <a:spLocks noChangeArrowheads="1"/>
          </p:cNvSpPr>
          <p:nvPr/>
        </p:nvSpPr>
        <p:spPr bwMode="auto">
          <a:xfrm>
            <a:off x="2161781" y="3706416"/>
            <a:ext cx="377027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1350" b="1">
                <a:latin typeface="Arial" pitchFamily="34" charset="0"/>
              </a:rPr>
              <a:t>31</a:t>
            </a:r>
            <a:endParaRPr lang="en-AU" altLang="zh-TW" sz="1350" b="1">
              <a:latin typeface="Arial" pitchFamily="34" charset="0"/>
            </a:endParaRPr>
          </a:p>
        </p:txBody>
      </p:sp>
      <p:sp>
        <p:nvSpPr>
          <p:cNvPr id="125965" name="Text Box 15"/>
          <p:cNvSpPr txBox="1">
            <a:spLocks noChangeArrowheads="1"/>
          </p:cNvSpPr>
          <p:nvPr/>
        </p:nvSpPr>
        <p:spPr bwMode="auto">
          <a:xfrm>
            <a:off x="5621672" y="4260056"/>
            <a:ext cx="636713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1350" b="1">
                <a:latin typeface="Arial" pitchFamily="34" charset="0"/>
              </a:rPr>
              <a:t>4 bits</a:t>
            </a:r>
            <a:endParaRPr lang="en-AU" altLang="zh-TW" sz="1350" b="1">
              <a:latin typeface="Arial" pitchFamily="34" charset="0"/>
            </a:endParaRPr>
          </a:p>
        </p:txBody>
      </p:sp>
      <p:sp>
        <p:nvSpPr>
          <p:cNvPr id="125966" name="Text Box 16"/>
          <p:cNvSpPr txBox="1">
            <a:spLocks noChangeArrowheads="1"/>
          </p:cNvSpPr>
          <p:nvPr/>
        </p:nvSpPr>
        <p:spPr bwMode="auto">
          <a:xfrm>
            <a:off x="4494875" y="4260056"/>
            <a:ext cx="732894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1350" b="1">
                <a:latin typeface="Arial" pitchFamily="34" charset="0"/>
              </a:rPr>
              <a:t>10 bits</a:t>
            </a:r>
            <a:endParaRPr lang="en-AU" altLang="zh-TW" sz="1350" b="1">
              <a:latin typeface="Arial" pitchFamily="34" charset="0"/>
            </a:endParaRPr>
          </a:p>
        </p:txBody>
      </p:sp>
      <p:sp>
        <p:nvSpPr>
          <p:cNvPr id="125967" name="Text Box 17"/>
          <p:cNvSpPr txBox="1">
            <a:spLocks noChangeArrowheads="1"/>
          </p:cNvSpPr>
          <p:nvPr/>
        </p:nvSpPr>
        <p:spPr bwMode="auto">
          <a:xfrm>
            <a:off x="2856575" y="4260056"/>
            <a:ext cx="732894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1350" b="1">
                <a:latin typeface="Arial" pitchFamily="34" charset="0"/>
              </a:rPr>
              <a:t>18 bits</a:t>
            </a:r>
            <a:endParaRPr lang="en-AU" altLang="zh-TW" sz="1350" b="1">
              <a:latin typeface="Arial" pitchFamily="34" charset="0"/>
            </a:endParaRPr>
          </a:p>
        </p:txBody>
      </p:sp>
      <p:sp>
        <p:nvSpPr>
          <p:cNvPr id="125968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1C641873-5B2C-40C3-8008-C1B48802943B}" type="slidenum">
              <a:rPr lang="zh-TW" altLang="en-US"/>
              <a:pPr defTabSz="571500"/>
              <a:t>51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89205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904973" y="135732"/>
            <a:ext cx="6824565" cy="436958"/>
          </a:xfrm>
        </p:spPr>
        <p:txBody>
          <a:bodyPr/>
          <a:lstStyle/>
          <a:p>
            <a:r>
              <a:rPr lang="en-AU" altLang="zh-TW" sz="3200" dirty="0">
                <a:solidFill>
                  <a:srgbClr val="002060"/>
                </a:solidFill>
                <a:ea typeface="新細明體" pitchFamily="18" charset="-120"/>
              </a:rPr>
              <a:t>Interface Signals</a:t>
            </a:r>
          </a:p>
        </p:txBody>
      </p:sp>
      <p:sp>
        <p:nvSpPr>
          <p:cNvPr id="126979" name="Rectangle 3"/>
          <p:cNvSpPr>
            <a:spLocks noChangeArrowheads="1"/>
          </p:cNvSpPr>
          <p:nvPr/>
        </p:nvSpPr>
        <p:spPr bwMode="auto">
          <a:xfrm>
            <a:off x="4279107" y="1437085"/>
            <a:ext cx="937022" cy="22145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altLang="zh-TW" sz="1350">
                <a:latin typeface="Arial" pitchFamily="34" charset="0"/>
              </a:rPr>
              <a:t>Cache</a:t>
            </a:r>
          </a:p>
        </p:txBody>
      </p:sp>
      <p:sp>
        <p:nvSpPr>
          <p:cNvPr id="126980" name="Rectangle 4"/>
          <p:cNvSpPr>
            <a:spLocks noChangeArrowheads="1"/>
          </p:cNvSpPr>
          <p:nvPr/>
        </p:nvSpPr>
        <p:spPr bwMode="auto">
          <a:xfrm>
            <a:off x="1531144" y="1490662"/>
            <a:ext cx="935831" cy="22145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altLang="zh-TW" sz="1350">
                <a:latin typeface="Arial" pitchFamily="34" charset="0"/>
              </a:rPr>
              <a:t>CPU</a:t>
            </a:r>
          </a:p>
        </p:txBody>
      </p:sp>
      <p:sp>
        <p:nvSpPr>
          <p:cNvPr id="126981" name="Rectangle 5"/>
          <p:cNvSpPr>
            <a:spLocks noChangeArrowheads="1"/>
          </p:cNvSpPr>
          <p:nvPr/>
        </p:nvSpPr>
        <p:spPr bwMode="auto">
          <a:xfrm>
            <a:off x="7029451" y="1437085"/>
            <a:ext cx="935831" cy="22145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AU" altLang="zh-TW" sz="1350">
                <a:latin typeface="Arial" pitchFamily="34" charset="0"/>
              </a:rPr>
              <a:t>Memory</a:t>
            </a:r>
          </a:p>
        </p:txBody>
      </p:sp>
      <p:sp>
        <p:nvSpPr>
          <p:cNvPr id="126982" name="Line 6"/>
          <p:cNvSpPr>
            <a:spLocks noChangeShapeType="1"/>
          </p:cNvSpPr>
          <p:nvPr/>
        </p:nvSpPr>
        <p:spPr bwMode="auto">
          <a:xfrm>
            <a:off x="2465785" y="1760935"/>
            <a:ext cx="181332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6983" name="Line 7"/>
          <p:cNvSpPr>
            <a:spLocks noChangeShapeType="1"/>
          </p:cNvSpPr>
          <p:nvPr/>
        </p:nvSpPr>
        <p:spPr bwMode="auto">
          <a:xfrm>
            <a:off x="2465785" y="2030016"/>
            <a:ext cx="181332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6984" name="Text Box 8"/>
          <p:cNvSpPr txBox="1">
            <a:spLocks noChangeArrowheads="1"/>
          </p:cNvSpPr>
          <p:nvPr/>
        </p:nvSpPr>
        <p:spPr bwMode="auto">
          <a:xfrm>
            <a:off x="2640806" y="1544241"/>
            <a:ext cx="104714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altLang="zh-TW" sz="1350">
                <a:latin typeface="Arial" pitchFamily="34" charset="0"/>
              </a:rPr>
              <a:t>Read/Write</a:t>
            </a:r>
          </a:p>
        </p:txBody>
      </p:sp>
      <p:sp>
        <p:nvSpPr>
          <p:cNvPr id="126985" name="Text Box 9"/>
          <p:cNvSpPr txBox="1">
            <a:spLocks noChangeArrowheads="1"/>
          </p:cNvSpPr>
          <p:nvPr/>
        </p:nvSpPr>
        <p:spPr bwMode="auto">
          <a:xfrm>
            <a:off x="2640807" y="1814512"/>
            <a:ext cx="556563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altLang="zh-TW" sz="1350">
                <a:latin typeface="Arial" pitchFamily="34" charset="0"/>
              </a:rPr>
              <a:t>Valid</a:t>
            </a:r>
          </a:p>
        </p:txBody>
      </p:sp>
      <p:sp>
        <p:nvSpPr>
          <p:cNvPr id="126986" name="Line 10"/>
          <p:cNvSpPr>
            <a:spLocks noChangeShapeType="1"/>
          </p:cNvSpPr>
          <p:nvPr/>
        </p:nvSpPr>
        <p:spPr bwMode="auto">
          <a:xfrm>
            <a:off x="2465785" y="2355056"/>
            <a:ext cx="181332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6987" name="Text Box 11"/>
          <p:cNvSpPr txBox="1">
            <a:spLocks noChangeArrowheads="1"/>
          </p:cNvSpPr>
          <p:nvPr/>
        </p:nvSpPr>
        <p:spPr bwMode="auto">
          <a:xfrm>
            <a:off x="2640807" y="2139553"/>
            <a:ext cx="819455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altLang="zh-TW" sz="1350">
                <a:latin typeface="Arial" pitchFamily="34" charset="0"/>
              </a:rPr>
              <a:t>Address</a:t>
            </a:r>
          </a:p>
        </p:txBody>
      </p:sp>
      <p:sp>
        <p:nvSpPr>
          <p:cNvPr id="126988" name="Line 12"/>
          <p:cNvSpPr>
            <a:spLocks noChangeShapeType="1"/>
          </p:cNvSpPr>
          <p:nvPr/>
        </p:nvSpPr>
        <p:spPr bwMode="auto">
          <a:xfrm>
            <a:off x="2465785" y="2678906"/>
            <a:ext cx="181332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6989" name="Text Box 13"/>
          <p:cNvSpPr txBox="1">
            <a:spLocks noChangeArrowheads="1"/>
          </p:cNvSpPr>
          <p:nvPr/>
        </p:nvSpPr>
        <p:spPr bwMode="auto">
          <a:xfrm>
            <a:off x="2640806" y="2463403"/>
            <a:ext cx="99905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altLang="zh-TW" sz="1350">
                <a:latin typeface="Arial" pitchFamily="34" charset="0"/>
              </a:rPr>
              <a:t>Write Data</a:t>
            </a:r>
          </a:p>
        </p:txBody>
      </p:sp>
      <p:sp>
        <p:nvSpPr>
          <p:cNvPr id="126990" name="Line 14"/>
          <p:cNvSpPr>
            <a:spLocks noChangeShapeType="1"/>
          </p:cNvSpPr>
          <p:nvPr/>
        </p:nvSpPr>
        <p:spPr bwMode="auto">
          <a:xfrm>
            <a:off x="2465785" y="3002756"/>
            <a:ext cx="181332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6991" name="Text Box 15"/>
          <p:cNvSpPr txBox="1">
            <a:spLocks noChangeArrowheads="1"/>
          </p:cNvSpPr>
          <p:nvPr/>
        </p:nvSpPr>
        <p:spPr bwMode="auto">
          <a:xfrm>
            <a:off x="2640807" y="2787253"/>
            <a:ext cx="1011815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altLang="zh-TW" sz="1350">
                <a:latin typeface="Arial" pitchFamily="34" charset="0"/>
              </a:rPr>
              <a:t>Read Data</a:t>
            </a:r>
          </a:p>
        </p:txBody>
      </p:sp>
      <p:sp>
        <p:nvSpPr>
          <p:cNvPr id="126992" name="Line 16"/>
          <p:cNvSpPr>
            <a:spLocks noChangeShapeType="1"/>
          </p:cNvSpPr>
          <p:nvPr/>
        </p:nvSpPr>
        <p:spPr bwMode="auto">
          <a:xfrm>
            <a:off x="2465785" y="3326606"/>
            <a:ext cx="181332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6993" name="Text Box 17"/>
          <p:cNvSpPr txBox="1">
            <a:spLocks noChangeArrowheads="1"/>
          </p:cNvSpPr>
          <p:nvPr/>
        </p:nvSpPr>
        <p:spPr bwMode="auto">
          <a:xfrm>
            <a:off x="2640807" y="3111103"/>
            <a:ext cx="684803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altLang="zh-TW" sz="1350">
                <a:latin typeface="Arial" pitchFamily="34" charset="0"/>
              </a:rPr>
              <a:t>Ready</a:t>
            </a:r>
          </a:p>
        </p:txBody>
      </p:sp>
      <p:sp>
        <p:nvSpPr>
          <p:cNvPr id="126994" name="Line 18"/>
          <p:cNvSpPr>
            <a:spLocks noChangeShapeType="1"/>
          </p:cNvSpPr>
          <p:nvPr/>
        </p:nvSpPr>
        <p:spPr bwMode="auto">
          <a:xfrm flipV="1">
            <a:off x="3908822" y="2300288"/>
            <a:ext cx="117872" cy="1083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6995" name="Line 19"/>
          <p:cNvSpPr>
            <a:spLocks noChangeShapeType="1"/>
          </p:cNvSpPr>
          <p:nvPr/>
        </p:nvSpPr>
        <p:spPr bwMode="auto">
          <a:xfrm flipV="1">
            <a:off x="3908822" y="2624138"/>
            <a:ext cx="117872" cy="1083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6996" name="Line 20"/>
          <p:cNvSpPr>
            <a:spLocks noChangeShapeType="1"/>
          </p:cNvSpPr>
          <p:nvPr/>
        </p:nvSpPr>
        <p:spPr bwMode="auto">
          <a:xfrm flipV="1">
            <a:off x="3908822" y="2949178"/>
            <a:ext cx="117872" cy="1083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6997" name="Text Box 21"/>
          <p:cNvSpPr txBox="1">
            <a:spLocks noChangeArrowheads="1"/>
          </p:cNvSpPr>
          <p:nvPr/>
        </p:nvSpPr>
        <p:spPr bwMode="auto">
          <a:xfrm>
            <a:off x="3799488" y="2083594"/>
            <a:ext cx="335349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AU" altLang="zh-TW" sz="1050">
                <a:latin typeface="Arial" pitchFamily="34" charset="0"/>
              </a:rPr>
              <a:t>32</a:t>
            </a:r>
          </a:p>
        </p:txBody>
      </p:sp>
      <p:sp>
        <p:nvSpPr>
          <p:cNvPr id="126998" name="Text Box 22"/>
          <p:cNvSpPr txBox="1">
            <a:spLocks noChangeArrowheads="1"/>
          </p:cNvSpPr>
          <p:nvPr/>
        </p:nvSpPr>
        <p:spPr bwMode="auto">
          <a:xfrm>
            <a:off x="3799488" y="2408635"/>
            <a:ext cx="335349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AU" altLang="zh-TW" sz="1050">
                <a:latin typeface="Arial" pitchFamily="34" charset="0"/>
              </a:rPr>
              <a:t>32</a:t>
            </a:r>
          </a:p>
        </p:txBody>
      </p:sp>
      <p:sp>
        <p:nvSpPr>
          <p:cNvPr id="126999" name="Text Box 23"/>
          <p:cNvSpPr txBox="1">
            <a:spLocks noChangeArrowheads="1"/>
          </p:cNvSpPr>
          <p:nvPr/>
        </p:nvSpPr>
        <p:spPr bwMode="auto">
          <a:xfrm>
            <a:off x="3799488" y="2733675"/>
            <a:ext cx="335349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AU" altLang="zh-TW" sz="1050">
                <a:latin typeface="Arial" pitchFamily="34" charset="0"/>
              </a:rPr>
              <a:t>32</a:t>
            </a:r>
          </a:p>
        </p:txBody>
      </p:sp>
      <p:sp>
        <p:nvSpPr>
          <p:cNvPr id="127000" name="Line 24"/>
          <p:cNvSpPr>
            <a:spLocks noChangeShapeType="1"/>
          </p:cNvSpPr>
          <p:nvPr/>
        </p:nvSpPr>
        <p:spPr bwMode="auto">
          <a:xfrm>
            <a:off x="5216128" y="1760935"/>
            <a:ext cx="181332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7001" name="Line 25"/>
          <p:cNvSpPr>
            <a:spLocks noChangeShapeType="1"/>
          </p:cNvSpPr>
          <p:nvPr/>
        </p:nvSpPr>
        <p:spPr bwMode="auto">
          <a:xfrm>
            <a:off x="5216128" y="2030016"/>
            <a:ext cx="181332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7002" name="Text Box 26"/>
          <p:cNvSpPr txBox="1">
            <a:spLocks noChangeArrowheads="1"/>
          </p:cNvSpPr>
          <p:nvPr/>
        </p:nvSpPr>
        <p:spPr bwMode="auto">
          <a:xfrm>
            <a:off x="5391150" y="1544241"/>
            <a:ext cx="104714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altLang="zh-TW" sz="1350">
                <a:latin typeface="Arial" pitchFamily="34" charset="0"/>
              </a:rPr>
              <a:t>Read/Write</a:t>
            </a:r>
          </a:p>
        </p:txBody>
      </p:sp>
      <p:sp>
        <p:nvSpPr>
          <p:cNvPr id="127003" name="Text Box 27"/>
          <p:cNvSpPr txBox="1">
            <a:spLocks noChangeArrowheads="1"/>
          </p:cNvSpPr>
          <p:nvPr/>
        </p:nvSpPr>
        <p:spPr bwMode="auto">
          <a:xfrm>
            <a:off x="5391151" y="1814512"/>
            <a:ext cx="556563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altLang="zh-TW" sz="1350">
                <a:latin typeface="Arial" pitchFamily="34" charset="0"/>
              </a:rPr>
              <a:t>Valid</a:t>
            </a:r>
          </a:p>
        </p:txBody>
      </p:sp>
      <p:sp>
        <p:nvSpPr>
          <p:cNvPr id="127004" name="Line 28"/>
          <p:cNvSpPr>
            <a:spLocks noChangeShapeType="1"/>
          </p:cNvSpPr>
          <p:nvPr/>
        </p:nvSpPr>
        <p:spPr bwMode="auto">
          <a:xfrm>
            <a:off x="5216128" y="2355056"/>
            <a:ext cx="181332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7005" name="Text Box 29"/>
          <p:cNvSpPr txBox="1">
            <a:spLocks noChangeArrowheads="1"/>
          </p:cNvSpPr>
          <p:nvPr/>
        </p:nvSpPr>
        <p:spPr bwMode="auto">
          <a:xfrm>
            <a:off x="5391151" y="2139553"/>
            <a:ext cx="819455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altLang="zh-TW" sz="1350">
                <a:latin typeface="Arial" pitchFamily="34" charset="0"/>
              </a:rPr>
              <a:t>Address</a:t>
            </a:r>
          </a:p>
        </p:txBody>
      </p:sp>
      <p:sp>
        <p:nvSpPr>
          <p:cNvPr id="127006" name="Line 30"/>
          <p:cNvSpPr>
            <a:spLocks noChangeShapeType="1"/>
          </p:cNvSpPr>
          <p:nvPr/>
        </p:nvSpPr>
        <p:spPr bwMode="auto">
          <a:xfrm>
            <a:off x="5216128" y="2678906"/>
            <a:ext cx="181332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7007" name="Text Box 31"/>
          <p:cNvSpPr txBox="1">
            <a:spLocks noChangeArrowheads="1"/>
          </p:cNvSpPr>
          <p:nvPr/>
        </p:nvSpPr>
        <p:spPr bwMode="auto">
          <a:xfrm>
            <a:off x="5391150" y="2463403"/>
            <a:ext cx="99905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altLang="zh-TW" sz="1350">
                <a:latin typeface="Arial" pitchFamily="34" charset="0"/>
              </a:rPr>
              <a:t>Write Data</a:t>
            </a:r>
          </a:p>
        </p:txBody>
      </p:sp>
      <p:sp>
        <p:nvSpPr>
          <p:cNvPr id="127008" name="Line 32"/>
          <p:cNvSpPr>
            <a:spLocks noChangeShapeType="1"/>
          </p:cNvSpPr>
          <p:nvPr/>
        </p:nvSpPr>
        <p:spPr bwMode="auto">
          <a:xfrm>
            <a:off x="5216128" y="3002756"/>
            <a:ext cx="181332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7009" name="Text Box 33"/>
          <p:cNvSpPr txBox="1">
            <a:spLocks noChangeArrowheads="1"/>
          </p:cNvSpPr>
          <p:nvPr/>
        </p:nvSpPr>
        <p:spPr bwMode="auto">
          <a:xfrm>
            <a:off x="5391151" y="2787253"/>
            <a:ext cx="1011815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altLang="zh-TW" sz="1350">
                <a:latin typeface="Arial" pitchFamily="34" charset="0"/>
              </a:rPr>
              <a:t>Read Data</a:t>
            </a:r>
          </a:p>
        </p:txBody>
      </p:sp>
      <p:sp>
        <p:nvSpPr>
          <p:cNvPr id="127010" name="Line 34"/>
          <p:cNvSpPr>
            <a:spLocks noChangeShapeType="1"/>
          </p:cNvSpPr>
          <p:nvPr/>
        </p:nvSpPr>
        <p:spPr bwMode="auto">
          <a:xfrm>
            <a:off x="5216128" y="3326606"/>
            <a:ext cx="181332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7011" name="Text Box 35"/>
          <p:cNvSpPr txBox="1">
            <a:spLocks noChangeArrowheads="1"/>
          </p:cNvSpPr>
          <p:nvPr/>
        </p:nvSpPr>
        <p:spPr bwMode="auto">
          <a:xfrm>
            <a:off x="5391151" y="3111103"/>
            <a:ext cx="684803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altLang="zh-TW" sz="1350">
                <a:latin typeface="Arial" pitchFamily="34" charset="0"/>
              </a:rPr>
              <a:t>Ready</a:t>
            </a:r>
          </a:p>
        </p:txBody>
      </p:sp>
      <p:sp>
        <p:nvSpPr>
          <p:cNvPr id="127012" name="Line 36"/>
          <p:cNvSpPr>
            <a:spLocks noChangeShapeType="1"/>
          </p:cNvSpPr>
          <p:nvPr/>
        </p:nvSpPr>
        <p:spPr bwMode="auto">
          <a:xfrm flipV="1">
            <a:off x="6659167" y="2300288"/>
            <a:ext cx="116681" cy="1083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7013" name="Line 37"/>
          <p:cNvSpPr>
            <a:spLocks noChangeShapeType="1"/>
          </p:cNvSpPr>
          <p:nvPr/>
        </p:nvSpPr>
        <p:spPr bwMode="auto">
          <a:xfrm flipV="1">
            <a:off x="6659167" y="2624138"/>
            <a:ext cx="116681" cy="1083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7014" name="Line 38"/>
          <p:cNvSpPr>
            <a:spLocks noChangeShapeType="1"/>
          </p:cNvSpPr>
          <p:nvPr/>
        </p:nvSpPr>
        <p:spPr bwMode="auto">
          <a:xfrm flipV="1">
            <a:off x="6659167" y="2949178"/>
            <a:ext cx="116681" cy="1083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1350"/>
          </a:p>
        </p:txBody>
      </p:sp>
      <p:sp>
        <p:nvSpPr>
          <p:cNvPr id="127015" name="Text Box 39"/>
          <p:cNvSpPr txBox="1">
            <a:spLocks noChangeArrowheads="1"/>
          </p:cNvSpPr>
          <p:nvPr/>
        </p:nvSpPr>
        <p:spPr bwMode="auto">
          <a:xfrm>
            <a:off x="6549832" y="2083594"/>
            <a:ext cx="335349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AU" altLang="zh-TW" sz="1050">
                <a:latin typeface="Arial" pitchFamily="34" charset="0"/>
              </a:rPr>
              <a:t>32</a:t>
            </a:r>
          </a:p>
        </p:txBody>
      </p:sp>
      <p:sp>
        <p:nvSpPr>
          <p:cNvPr id="127016" name="Text Box 40"/>
          <p:cNvSpPr txBox="1">
            <a:spLocks noChangeArrowheads="1"/>
          </p:cNvSpPr>
          <p:nvPr/>
        </p:nvSpPr>
        <p:spPr bwMode="auto">
          <a:xfrm>
            <a:off x="6511567" y="2408635"/>
            <a:ext cx="410690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AU" altLang="zh-TW" sz="1050">
                <a:latin typeface="Arial" pitchFamily="34" charset="0"/>
              </a:rPr>
              <a:t>128</a:t>
            </a:r>
          </a:p>
        </p:txBody>
      </p:sp>
      <p:sp>
        <p:nvSpPr>
          <p:cNvPr id="127017" name="Text Box 41"/>
          <p:cNvSpPr txBox="1">
            <a:spLocks noChangeArrowheads="1"/>
          </p:cNvSpPr>
          <p:nvPr/>
        </p:nvSpPr>
        <p:spPr bwMode="auto">
          <a:xfrm>
            <a:off x="6511567" y="2733675"/>
            <a:ext cx="410690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AU" altLang="zh-TW" sz="1050">
                <a:latin typeface="Arial" pitchFamily="34" charset="0"/>
              </a:rPr>
              <a:t>128</a:t>
            </a:r>
          </a:p>
        </p:txBody>
      </p:sp>
      <p:sp>
        <p:nvSpPr>
          <p:cNvPr id="127018" name="AutoShape 42"/>
          <p:cNvSpPr>
            <a:spLocks/>
          </p:cNvSpPr>
          <p:nvPr/>
        </p:nvSpPr>
        <p:spPr bwMode="auto">
          <a:xfrm>
            <a:off x="4401741" y="3975498"/>
            <a:ext cx="1635919" cy="491728"/>
          </a:xfrm>
          <a:prstGeom prst="borderCallout1">
            <a:avLst>
              <a:gd name="adj1" fmla="val 17435"/>
              <a:gd name="adj2" fmla="val 103495"/>
              <a:gd name="adj3" fmla="val -100486"/>
              <a:gd name="adj4" fmla="val 12976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pPr algn="ctr"/>
            <a:r>
              <a:rPr lang="en-AU" altLang="zh-TW" sz="1500" b="1">
                <a:latin typeface="Arial" pitchFamily="34" charset="0"/>
              </a:rPr>
              <a:t>Multiple cycles per access</a:t>
            </a:r>
          </a:p>
        </p:txBody>
      </p:sp>
      <p:sp>
        <p:nvSpPr>
          <p:cNvPr id="127019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840C454A-A29C-4B9D-9F9F-84092B986500}" type="slidenum">
              <a:rPr lang="zh-TW" altLang="en-US"/>
              <a:pPr defTabSz="571500"/>
              <a:t>52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180751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2" name="Picture 2" descr="f05-34-P37449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18368" y="855250"/>
            <a:ext cx="4388644" cy="3713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8003" name="Rectangle 3"/>
          <p:cNvSpPr>
            <a:spLocks noGrp="1" noChangeArrowheads="1"/>
          </p:cNvSpPr>
          <p:nvPr>
            <p:ph type="title"/>
          </p:nvPr>
        </p:nvSpPr>
        <p:spPr>
          <a:xfrm>
            <a:off x="999241" y="135731"/>
            <a:ext cx="6730297" cy="477011"/>
          </a:xfrm>
        </p:spPr>
        <p:txBody>
          <a:bodyPr/>
          <a:lstStyle/>
          <a:p>
            <a:r>
              <a:rPr lang="en-AU" altLang="zh-TW" sz="3200" dirty="0">
                <a:solidFill>
                  <a:srgbClr val="002060"/>
                </a:solidFill>
                <a:ea typeface="新細明體" pitchFamily="18" charset="-120"/>
              </a:rPr>
              <a:t>Cache Controller FSM</a:t>
            </a:r>
          </a:p>
        </p:txBody>
      </p:sp>
      <p:sp>
        <p:nvSpPr>
          <p:cNvPr id="783364" name="AutoShape 4"/>
          <p:cNvSpPr>
            <a:spLocks/>
          </p:cNvSpPr>
          <p:nvPr/>
        </p:nvSpPr>
        <p:spPr bwMode="auto">
          <a:xfrm>
            <a:off x="6678216" y="1391842"/>
            <a:ext cx="1332309" cy="1515665"/>
          </a:xfrm>
          <a:prstGeom prst="borderCallout1">
            <a:avLst>
              <a:gd name="adj1" fmla="val 5657"/>
              <a:gd name="adj2" fmla="val -4292"/>
              <a:gd name="adj3" fmla="val 5841"/>
              <a:gd name="adj4" fmla="val -59714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pPr algn="ctr"/>
            <a:r>
              <a:rPr lang="en-AU" altLang="zh-TW" sz="1400" b="1">
                <a:latin typeface="Arial" pitchFamily="34" charset="0"/>
              </a:rPr>
              <a:t>Could partition into separate states to reduce clock cycle time</a:t>
            </a:r>
          </a:p>
        </p:txBody>
      </p:sp>
      <p:sp>
        <p:nvSpPr>
          <p:cNvPr id="128005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4A94DA76-7D40-4B47-A6F0-DADD1A28C40D}" type="slidenum">
              <a:rPr lang="zh-TW" altLang="en-US"/>
              <a:pPr defTabSz="571500"/>
              <a:t>53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4397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336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6" name="Picture 2" descr="f05-33-P37449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73549" y="2043261"/>
            <a:ext cx="3084909" cy="2499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7" name="Rectangle 3"/>
          <p:cNvSpPr>
            <a:spLocks noGrp="1" noChangeArrowheads="1"/>
          </p:cNvSpPr>
          <p:nvPr>
            <p:ph type="title"/>
          </p:nvPr>
        </p:nvSpPr>
        <p:spPr>
          <a:xfrm>
            <a:off x="886121" y="129780"/>
            <a:ext cx="6843418" cy="492390"/>
          </a:xfrm>
        </p:spPr>
        <p:txBody>
          <a:bodyPr/>
          <a:lstStyle/>
          <a:p>
            <a:r>
              <a:rPr lang="en-AU" altLang="zh-TW" dirty="0">
                <a:solidFill>
                  <a:srgbClr val="002060"/>
                </a:solidFill>
                <a:ea typeface="新細明體" pitchFamily="18" charset="-120"/>
              </a:rPr>
              <a:t>Finite State Machines</a:t>
            </a:r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86121" y="820230"/>
            <a:ext cx="6278250" cy="3327564"/>
          </a:xfrm>
        </p:spPr>
        <p:txBody>
          <a:bodyPr/>
          <a:lstStyle/>
          <a:p>
            <a:r>
              <a:rPr lang="en-AU" altLang="zh-TW" dirty="0">
                <a:ea typeface="新細明體" pitchFamily="18" charset="-120"/>
              </a:rPr>
              <a:t>Use an FSM to sequence control steps</a:t>
            </a:r>
          </a:p>
          <a:p>
            <a:r>
              <a:rPr lang="en-AU" altLang="zh-TW" dirty="0">
                <a:ea typeface="新細明體" pitchFamily="18" charset="-120"/>
              </a:rPr>
              <a:t>Set of states, transition on each clock edge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State values are binary encoded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Current state stored in a register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Next state</a:t>
            </a:r>
            <a:br>
              <a:rPr lang="en-AU" altLang="zh-TW" dirty="0">
                <a:ea typeface="新細明體" pitchFamily="18" charset="-120"/>
              </a:rPr>
            </a:br>
            <a:r>
              <a:rPr lang="en-AU" altLang="zh-TW" dirty="0">
                <a:ea typeface="新細明體" pitchFamily="18" charset="-120"/>
              </a:rPr>
              <a:t>= </a:t>
            </a:r>
            <a:r>
              <a:rPr lang="en-AU" altLang="zh-TW" i="1" dirty="0" err="1">
                <a:ea typeface="新細明體" pitchFamily="18" charset="-120"/>
              </a:rPr>
              <a:t>f</a:t>
            </a:r>
            <a:r>
              <a:rPr lang="en-AU" altLang="zh-TW" i="1" baseline="-25000" dirty="0" err="1">
                <a:ea typeface="新細明體" pitchFamily="18" charset="-120"/>
              </a:rPr>
              <a:t>n</a:t>
            </a:r>
            <a:r>
              <a:rPr lang="en-AU" altLang="zh-TW" dirty="0">
                <a:ea typeface="新細明體" pitchFamily="18" charset="-120"/>
              </a:rPr>
              <a:t> (current state, current inputs)</a:t>
            </a:r>
          </a:p>
          <a:p>
            <a:r>
              <a:rPr lang="en-AU" altLang="zh-TW" dirty="0">
                <a:ea typeface="新細明體" pitchFamily="18" charset="-120"/>
              </a:rPr>
              <a:t>Control output signals</a:t>
            </a:r>
            <a:br>
              <a:rPr lang="en-AU" altLang="zh-TW" dirty="0">
                <a:ea typeface="新細明體" pitchFamily="18" charset="-120"/>
              </a:rPr>
            </a:br>
            <a:r>
              <a:rPr lang="en-AU" altLang="zh-TW" dirty="0">
                <a:ea typeface="新細明體" pitchFamily="18" charset="-120"/>
              </a:rPr>
              <a:t>= </a:t>
            </a:r>
            <a:r>
              <a:rPr lang="en-AU" altLang="zh-TW" i="1" dirty="0" err="1">
                <a:ea typeface="新細明體" pitchFamily="18" charset="-120"/>
              </a:rPr>
              <a:t>f</a:t>
            </a:r>
            <a:r>
              <a:rPr lang="en-AU" altLang="zh-TW" i="1" baseline="-25000" dirty="0" err="1">
                <a:ea typeface="新細明體" pitchFamily="18" charset="-120"/>
              </a:rPr>
              <a:t>o</a:t>
            </a:r>
            <a:r>
              <a:rPr lang="en-AU" altLang="zh-TW" dirty="0">
                <a:ea typeface="新細明體" pitchFamily="18" charset="-120"/>
              </a:rPr>
              <a:t> (current state)</a:t>
            </a:r>
          </a:p>
        </p:txBody>
      </p:sp>
      <p:sp>
        <p:nvSpPr>
          <p:cNvPr id="129029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2C40F446-F4A7-48E9-B2EA-E655798C744C}" type="slidenum">
              <a:rPr lang="zh-TW" altLang="en-US"/>
              <a:pPr defTabSz="571500"/>
              <a:t>54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841209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70961" y="129780"/>
            <a:ext cx="6758577" cy="426402"/>
          </a:xfrm>
        </p:spPr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6374" y="820132"/>
            <a:ext cx="7607431" cy="360103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/>
              <a:t>Virtual memory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Basics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Issues in virtual memory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Handling huge page table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TLB (Translation </a:t>
            </a:r>
            <a:r>
              <a:rPr lang="en-US" altLang="zh-TW" dirty="0" err="1"/>
              <a:t>Lookaside</a:t>
            </a:r>
            <a:r>
              <a:rPr lang="en-US" altLang="zh-TW" dirty="0"/>
              <a:t> Buffer)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TLB and cache</a:t>
            </a:r>
          </a:p>
          <a:p>
            <a:pPr>
              <a:spcBef>
                <a:spcPts val="0"/>
              </a:spcBef>
            </a:pPr>
            <a:r>
              <a:rPr lang="en-US" altLang="zh-TW" dirty="0"/>
              <a:t>A common framework for memory hierarchy</a:t>
            </a:r>
          </a:p>
          <a:p>
            <a:r>
              <a:rPr lang="en-US" altLang="zh-TW" dirty="0"/>
              <a:t>Using a Finite State Machine to Control a Simple Cache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Parallelism and Memory Hierarchies: Cache Coherence</a:t>
            </a:r>
          </a:p>
        </p:txBody>
      </p:sp>
      <p:sp>
        <p:nvSpPr>
          <p:cNvPr id="6148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557213" indent="-214313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8572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2001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1543050" indent="-171450" defTabSz="571500" eaLnBrk="0" hangingPunct="0"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18859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2288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25717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2914650" indent="-171450" defTabSz="57150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fld id="{21079BBA-C287-4BD2-9D77-9C0655332BFF}" type="slidenum">
              <a:rPr kumimoji="0" lang="zh-TW" altLang="en-US" sz="1050">
                <a:solidFill>
                  <a:schemeClr val="bg1"/>
                </a:solidFill>
                <a:latin typeface="Arial" pitchFamily="34" charset="0"/>
              </a:rPr>
              <a:pPr/>
              <a:t>55</a:t>
            </a:fld>
            <a:endParaRPr kumimoji="0" lang="en-US" altLang="zh-TW" sz="105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2193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886121" y="129780"/>
            <a:ext cx="6843418" cy="464110"/>
          </a:xfrm>
        </p:spPr>
        <p:txBody>
          <a:bodyPr/>
          <a:lstStyle/>
          <a:p>
            <a:r>
              <a:rPr lang="en-AU" altLang="zh-TW" dirty="0">
                <a:solidFill>
                  <a:srgbClr val="002060"/>
                </a:solidFill>
                <a:ea typeface="新細明體" pitchFamily="18" charset="-120"/>
              </a:rPr>
              <a:t>Cache Coherence Problem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121" y="850105"/>
            <a:ext cx="7277491" cy="938213"/>
          </a:xfrm>
        </p:spPr>
        <p:txBody>
          <a:bodyPr/>
          <a:lstStyle/>
          <a:p>
            <a:r>
              <a:rPr lang="en-AU" altLang="zh-TW" dirty="0">
                <a:ea typeface="新細明體" pitchFamily="18" charset="-120"/>
              </a:rPr>
              <a:t>Suppose two CPU cores share a physical address space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Write-through caches</a:t>
            </a:r>
          </a:p>
          <a:p>
            <a:endParaRPr lang="en-AU" altLang="zh-TW" dirty="0">
              <a:ea typeface="新細明體" pitchFamily="18" charset="-120"/>
            </a:endParaRPr>
          </a:p>
        </p:txBody>
      </p:sp>
      <p:graphicFrame>
        <p:nvGraphicFramePr>
          <p:cNvPr id="785451" name="Group 43"/>
          <p:cNvGraphicFramePr>
            <a:graphicFrameLocks noGrp="1"/>
          </p:cNvGraphicFramePr>
          <p:nvPr/>
        </p:nvGraphicFramePr>
        <p:xfrm>
          <a:off x="1563292" y="1881188"/>
          <a:ext cx="6374607" cy="2005243"/>
        </p:xfrm>
        <a:graphic>
          <a:graphicData uri="http://schemas.openxmlformats.org/drawingml/2006/table">
            <a:tbl>
              <a:tblPr/>
              <a:tblGrid>
                <a:gridCol w="701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8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8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8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Time step</a:t>
                      </a:r>
                    </a:p>
                  </a:txBody>
                  <a:tcPr marL="68580" marR="68580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Event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CPU A</a:t>
                      </a: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新細明體" pitchFamily="18" charset="-120"/>
                        </a:rPr>
                        <a:t>’</a:t>
                      </a: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s cache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CPU B</a:t>
                      </a: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新細明體" pitchFamily="18" charset="-120"/>
                        </a:rPr>
                        <a:t>’</a:t>
                      </a: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s cache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Memory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68580" marR="68580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TW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TW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TW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68580" marR="68580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CPU A reads X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TW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19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68580" marR="68580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CPU B reads X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68580" marR="68580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CPU A writes 1 to X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1114" name="Rectangle 44"/>
          <p:cNvSpPr>
            <a:spLocks noChangeArrowheads="1"/>
          </p:cNvSpPr>
          <p:nvPr/>
        </p:nvSpPr>
        <p:spPr bwMode="auto">
          <a:xfrm>
            <a:off x="1576388" y="4000502"/>
            <a:ext cx="6355556" cy="29812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67866" tIns="33338" rIns="67866" bIns="33338"/>
          <a:lstStyle/>
          <a:p>
            <a:pPr algn="ctr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</a:pPr>
            <a:r>
              <a:rPr lang="en-AU" altLang="zh-TW" sz="1350" b="1" dirty="0">
                <a:solidFill>
                  <a:srgbClr val="FF0000"/>
                </a:solidFill>
                <a:latin typeface="Century Gothic" pitchFamily="34" charset="0"/>
              </a:rPr>
              <a:t>Two different processors have two different values for the same location</a:t>
            </a:r>
          </a:p>
        </p:txBody>
      </p:sp>
      <p:sp>
        <p:nvSpPr>
          <p:cNvPr id="131115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00E50564-F297-4664-AE47-225EB537573C}" type="slidenum">
              <a:rPr lang="zh-TW" altLang="en-US"/>
              <a:pPr defTabSz="571500"/>
              <a:t>56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069882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1" y="129779"/>
            <a:ext cx="6815138" cy="482963"/>
          </a:xfrm>
        </p:spPr>
        <p:txBody>
          <a:bodyPr/>
          <a:lstStyle/>
          <a:p>
            <a:r>
              <a:rPr lang="en-AU" altLang="zh-TW" dirty="0">
                <a:solidFill>
                  <a:srgbClr val="002060"/>
                </a:solidFill>
                <a:ea typeface="新細明體" pitchFamily="18" charset="-120"/>
              </a:rPr>
              <a:t>Coherence Defined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844153"/>
            <a:ext cx="7772399" cy="3671888"/>
          </a:xfrm>
        </p:spPr>
        <p:txBody>
          <a:bodyPr/>
          <a:lstStyle/>
          <a:p>
            <a:r>
              <a:rPr lang="en-AU" altLang="zh-TW" dirty="0">
                <a:ea typeface="新細明體" pitchFamily="18" charset="-120"/>
              </a:rPr>
              <a:t>Informally: Reads return most recently written value</a:t>
            </a:r>
          </a:p>
          <a:p>
            <a:r>
              <a:rPr lang="en-AU" altLang="zh-TW" dirty="0">
                <a:ea typeface="新細明體" pitchFamily="18" charset="-120"/>
              </a:rPr>
              <a:t>Formally: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P writes X; P reads X (no intervening writes)</a:t>
            </a:r>
            <a:br>
              <a:rPr lang="en-AU" altLang="zh-TW" dirty="0">
                <a:ea typeface="新細明體" pitchFamily="18" charset="-120"/>
              </a:rPr>
            </a:br>
            <a:r>
              <a:rPr lang="en-AU" altLang="zh-TW" dirty="0">
                <a:ea typeface="新細明體" pitchFamily="18" charset="-120"/>
                <a:sym typeface="Symbol" pitchFamily="18" charset="2"/>
              </a:rPr>
              <a:t> read returns written value</a:t>
            </a:r>
          </a:p>
          <a:p>
            <a:pPr lvl="1"/>
            <a:r>
              <a:rPr lang="en-AU" altLang="zh-TW" dirty="0">
                <a:ea typeface="新細明體" pitchFamily="18" charset="-120"/>
                <a:sym typeface="Symbol" pitchFamily="18" charset="2"/>
              </a:rPr>
              <a:t>P</a:t>
            </a:r>
            <a:r>
              <a:rPr lang="en-AU" altLang="zh-TW" baseline="-25000" dirty="0">
                <a:ea typeface="新細明體" pitchFamily="18" charset="-120"/>
                <a:sym typeface="Symbol" pitchFamily="18" charset="2"/>
              </a:rPr>
              <a:t>1</a:t>
            </a:r>
            <a:r>
              <a:rPr lang="en-AU" altLang="zh-TW" dirty="0">
                <a:ea typeface="新細明體" pitchFamily="18" charset="-120"/>
                <a:sym typeface="Symbol" pitchFamily="18" charset="2"/>
              </a:rPr>
              <a:t> writes X; P</a:t>
            </a:r>
            <a:r>
              <a:rPr lang="en-AU" altLang="zh-TW" baseline="-25000" dirty="0">
                <a:ea typeface="新細明體" pitchFamily="18" charset="-120"/>
                <a:sym typeface="Symbol" pitchFamily="18" charset="2"/>
              </a:rPr>
              <a:t>2</a:t>
            </a:r>
            <a:r>
              <a:rPr lang="en-AU" altLang="zh-TW" dirty="0">
                <a:ea typeface="新細明體" pitchFamily="18" charset="-120"/>
                <a:sym typeface="Symbol" pitchFamily="18" charset="2"/>
              </a:rPr>
              <a:t> reads X (sufficiently later)</a:t>
            </a:r>
            <a:br>
              <a:rPr lang="en-AU" altLang="zh-TW" dirty="0">
                <a:ea typeface="新細明體" pitchFamily="18" charset="-120"/>
                <a:sym typeface="Symbol" pitchFamily="18" charset="2"/>
              </a:rPr>
            </a:br>
            <a:r>
              <a:rPr lang="en-AU" altLang="zh-TW" dirty="0">
                <a:ea typeface="新細明體" pitchFamily="18" charset="-120"/>
                <a:sym typeface="Symbol" pitchFamily="18" charset="2"/>
              </a:rPr>
              <a:t> read returns written value</a:t>
            </a:r>
          </a:p>
          <a:p>
            <a:pPr lvl="2"/>
            <a:r>
              <a:rPr lang="en-AU" altLang="zh-TW" dirty="0">
                <a:ea typeface="新細明體" pitchFamily="18" charset="-120"/>
                <a:sym typeface="Symbol" pitchFamily="18" charset="2"/>
              </a:rPr>
              <a:t>c.f. CPU B reading X after step 3 in example</a:t>
            </a:r>
          </a:p>
          <a:p>
            <a:pPr lvl="1"/>
            <a:r>
              <a:rPr lang="en-AU" altLang="zh-TW" dirty="0">
                <a:ea typeface="新細明體" pitchFamily="18" charset="-120"/>
                <a:sym typeface="Symbol" pitchFamily="18" charset="2"/>
              </a:rPr>
              <a:t>P</a:t>
            </a:r>
            <a:r>
              <a:rPr lang="en-AU" altLang="zh-TW" baseline="-25000" dirty="0">
                <a:ea typeface="新細明體" pitchFamily="18" charset="-120"/>
                <a:sym typeface="Symbol" pitchFamily="18" charset="2"/>
              </a:rPr>
              <a:t>1</a:t>
            </a:r>
            <a:r>
              <a:rPr lang="en-AU" altLang="zh-TW" dirty="0">
                <a:ea typeface="新細明體" pitchFamily="18" charset="-120"/>
                <a:sym typeface="Symbol" pitchFamily="18" charset="2"/>
              </a:rPr>
              <a:t> writes X, P</a:t>
            </a:r>
            <a:r>
              <a:rPr lang="en-AU" altLang="zh-TW" baseline="-25000" dirty="0">
                <a:ea typeface="新細明體" pitchFamily="18" charset="-120"/>
                <a:sym typeface="Symbol" pitchFamily="18" charset="2"/>
              </a:rPr>
              <a:t>2</a:t>
            </a:r>
            <a:r>
              <a:rPr lang="en-AU" altLang="zh-TW" dirty="0">
                <a:ea typeface="新細明體" pitchFamily="18" charset="-120"/>
                <a:sym typeface="Symbol" pitchFamily="18" charset="2"/>
              </a:rPr>
              <a:t> writes X</a:t>
            </a:r>
            <a:br>
              <a:rPr lang="en-AU" altLang="zh-TW" dirty="0">
                <a:ea typeface="新細明體" pitchFamily="18" charset="-120"/>
                <a:sym typeface="Symbol" pitchFamily="18" charset="2"/>
              </a:rPr>
            </a:br>
            <a:r>
              <a:rPr lang="en-AU" altLang="zh-TW" dirty="0">
                <a:ea typeface="新細明體" pitchFamily="18" charset="-120"/>
                <a:sym typeface="Symbol" pitchFamily="18" charset="2"/>
              </a:rPr>
              <a:t> all processors see writes in the same order</a:t>
            </a:r>
          </a:p>
          <a:p>
            <a:pPr lvl="2"/>
            <a:r>
              <a:rPr lang="en-AU" altLang="zh-TW" dirty="0">
                <a:ea typeface="新細明體" pitchFamily="18" charset="-120"/>
                <a:sym typeface="Symbol" pitchFamily="18" charset="2"/>
              </a:rPr>
              <a:t>End up with the same final value for X</a:t>
            </a:r>
          </a:p>
        </p:txBody>
      </p:sp>
      <p:sp>
        <p:nvSpPr>
          <p:cNvPr id="132100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D86B6951-7C8E-4885-A54C-4643FFDA027A}" type="slidenum">
              <a:rPr lang="zh-TW" altLang="en-US"/>
              <a:pPr defTabSz="571500"/>
              <a:t>57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705790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04973" y="129780"/>
            <a:ext cx="6824565" cy="464110"/>
          </a:xfrm>
        </p:spPr>
        <p:txBody>
          <a:bodyPr/>
          <a:lstStyle/>
          <a:p>
            <a:r>
              <a:rPr lang="en-AU" altLang="zh-TW" dirty="0">
                <a:solidFill>
                  <a:srgbClr val="002060"/>
                </a:solidFill>
                <a:ea typeface="新細明體" pitchFamily="18" charset="-120"/>
              </a:rPr>
              <a:t>Cache Coherence Protocols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972" y="844153"/>
            <a:ext cx="7781827" cy="3671888"/>
          </a:xfrm>
        </p:spPr>
        <p:txBody>
          <a:bodyPr/>
          <a:lstStyle/>
          <a:p>
            <a:r>
              <a:rPr lang="en-AU" altLang="zh-TW" dirty="0">
                <a:ea typeface="新細明體" pitchFamily="18" charset="-120"/>
              </a:rPr>
              <a:t>Operations performed by caches in multiprocessors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Migration of data to local caches</a:t>
            </a:r>
          </a:p>
          <a:p>
            <a:pPr lvl="2"/>
            <a:r>
              <a:rPr lang="en-AU" altLang="zh-TW" dirty="0">
                <a:ea typeface="新細明體" pitchFamily="18" charset="-120"/>
              </a:rPr>
              <a:t>Reduces bandwidth for shared memory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Replication of read-shared data</a:t>
            </a:r>
          </a:p>
          <a:p>
            <a:pPr lvl="2"/>
            <a:r>
              <a:rPr lang="en-AU" altLang="zh-TW" dirty="0">
                <a:ea typeface="新細明體" pitchFamily="18" charset="-120"/>
              </a:rPr>
              <a:t>Reduces contention for access</a:t>
            </a:r>
          </a:p>
          <a:p>
            <a:r>
              <a:rPr lang="en-AU" altLang="zh-TW" dirty="0">
                <a:ea typeface="新細明體" pitchFamily="18" charset="-120"/>
              </a:rPr>
              <a:t>Snooping protocols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Each cache monitors bus reads/writes</a:t>
            </a:r>
          </a:p>
          <a:p>
            <a:r>
              <a:rPr lang="en-AU" altLang="zh-TW" dirty="0">
                <a:ea typeface="新細明體" pitchFamily="18" charset="-120"/>
              </a:rPr>
              <a:t>Directory-based protocols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Caches and memory record sharing status of blocks in a directory</a:t>
            </a:r>
          </a:p>
        </p:txBody>
      </p:sp>
      <p:sp>
        <p:nvSpPr>
          <p:cNvPr id="133124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E848B2CC-ED04-473B-B1BC-B66014C98B4D}" type="slidenum">
              <a:rPr lang="zh-TW" altLang="en-US"/>
              <a:pPr defTabSz="571500"/>
              <a:t>58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484956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86121" y="150830"/>
            <a:ext cx="6843418" cy="471340"/>
          </a:xfrm>
        </p:spPr>
        <p:txBody>
          <a:bodyPr/>
          <a:lstStyle/>
          <a:p>
            <a:r>
              <a:rPr lang="en-AU" altLang="zh-TW" dirty="0">
                <a:solidFill>
                  <a:srgbClr val="002060"/>
                </a:solidFill>
                <a:ea typeface="新細明體" pitchFamily="18" charset="-120"/>
              </a:rPr>
              <a:t>Invalidating Snooping Protocols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121" y="830400"/>
            <a:ext cx="6843418" cy="1175381"/>
          </a:xfrm>
        </p:spPr>
        <p:txBody>
          <a:bodyPr/>
          <a:lstStyle/>
          <a:p>
            <a:r>
              <a:rPr lang="en-AU" altLang="zh-TW" sz="2000" dirty="0">
                <a:ea typeface="新細明體" pitchFamily="18" charset="-120"/>
              </a:rPr>
              <a:t>Cache gets exclusive access to a block when it is to be written</a:t>
            </a:r>
          </a:p>
          <a:p>
            <a:pPr lvl="1"/>
            <a:r>
              <a:rPr lang="en-AU" altLang="zh-TW" sz="1800" dirty="0">
                <a:ea typeface="新細明體" pitchFamily="18" charset="-120"/>
              </a:rPr>
              <a:t>Broadcasts an invalidate message on the bus</a:t>
            </a:r>
          </a:p>
          <a:p>
            <a:pPr lvl="1"/>
            <a:r>
              <a:rPr lang="en-AU" altLang="zh-TW" sz="1800" dirty="0">
                <a:ea typeface="新細明體" pitchFamily="18" charset="-120"/>
              </a:rPr>
              <a:t>A subsequent read</a:t>
            </a:r>
            <a:r>
              <a:rPr lang="zh-CN" altLang="en-US" sz="1800" dirty="0">
                <a:ea typeface="新細明體" pitchFamily="18" charset="-120"/>
              </a:rPr>
              <a:t> </a:t>
            </a:r>
            <a:r>
              <a:rPr lang="en-US" altLang="zh-CN" sz="1800" dirty="0">
                <a:ea typeface="新細明體" pitchFamily="18" charset="-120"/>
              </a:rPr>
              <a:t>results</a:t>
            </a:r>
            <a:r>
              <a:rPr lang="en-AU" altLang="zh-TW" sz="1800" dirty="0">
                <a:ea typeface="新細明體" pitchFamily="18" charset="-120"/>
              </a:rPr>
              <a:t> in another cache miss</a:t>
            </a:r>
          </a:p>
        </p:txBody>
      </p:sp>
      <p:graphicFrame>
        <p:nvGraphicFramePr>
          <p:cNvPr id="791602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799827"/>
              </p:ext>
            </p:extLst>
          </p:nvPr>
        </p:nvGraphicFramePr>
        <p:xfrm>
          <a:off x="1028288" y="2386552"/>
          <a:ext cx="7083323" cy="1812171"/>
        </p:xfrm>
        <a:graphic>
          <a:graphicData uri="http://schemas.openxmlformats.org/drawingml/2006/table">
            <a:tbl>
              <a:tblPr/>
              <a:tblGrid>
                <a:gridCol w="190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CPU activity</a:t>
                      </a:r>
                    </a:p>
                  </a:txBody>
                  <a:tcPr marL="68580" marR="68580" marT="34298" marB="342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Bus activity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CPU A</a:t>
                      </a: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新細明體" pitchFamily="18" charset="-120"/>
                        </a:rPr>
                        <a:t>’</a:t>
                      </a: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s cache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CPU B</a:t>
                      </a: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新細明體" pitchFamily="18" charset="-120"/>
                        </a:rPr>
                        <a:t>’</a:t>
                      </a: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s cache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Memory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0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8" marB="342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6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CPU A reads X</a:t>
                      </a:r>
                    </a:p>
                  </a:txBody>
                  <a:tcPr marL="68580" marR="68580" marT="34298" marB="342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Cache miss for X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78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CPU B reads X</a:t>
                      </a:r>
                    </a:p>
                  </a:txBody>
                  <a:tcPr marL="68580" marR="68580" marT="34298" marB="342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Cache miss for X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9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CPU A writes 1 to X</a:t>
                      </a:r>
                    </a:p>
                  </a:txBody>
                  <a:tcPr marL="68580" marR="68580" marT="34298" marB="342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Invalidate for X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1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CPU B read X</a:t>
                      </a:r>
                    </a:p>
                  </a:txBody>
                  <a:tcPr marL="68580" marR="68580" marT="34298" marB="342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Cache miss for X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68580" marR="6858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4192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F1D27ED9-44B1-41AC-B31F-007D8CD171CF}" type="slidenum">
              <a:rPr lang="zh-TW" altLang="en-US"/>
              <a:pPr defTabSz="571500"/>
              <a:t>59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360244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33255" y="135732"/>
            <a:ext cx="6796284" cy="477010"/>
          </a:xfrm>
        </p:spPr>
        <p:txBody>
          <a:bodyPr/>
          <a:lstStyle/>
          <a:p>
            <a:r>
              <a:rPr lang="en-AU" altLang="zh-TW" sz="3200" dirty="0">
                <a:solidFill>
                  <a:srgbClr val="002060"/>
                </a:solidFill>
                <a:ea typeface="新細明體" pitchFamily="18" charset="-120"/>
              </a:rPr>
              <a:t>Multilevel On-Chip Caches</a:t>
            </a:r>
          </a:p>
        </p:txBody>
      </p:sp>
      <p:pic>
        <p:nvPicPr>
          <p:cNvPr id="135172" name="Picture 4" descr="f05-37-P37449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63877" y="1699468"/>
            <a:ext cx="4655728" cy="2819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5173" name="Text Box 5"/>
          <p:cNvSpPr txBox="1">
            <a:spLocks noChangeArrowheads="1"/>
          </p:cNvSpPr>
          <p:nvPr/>
        </p:nvSpPr>
        <p:spPr bwMode="auto">
          <a:xfrm>
            <a:off x="929956" y="794992"/>
            <a:ext cx="7455887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</a:pPr>
            <a:r>
              <a:rPr lang="en-AU" altLang="zh-TW" sz="2000" dirty="0">
                <a:latin typeface="Arial" pitchFamily="34" charset="0"/>
              </a:rPr>
              <a:t>Intel Nehalem 4-core processor</a:t>
            </a:r>
          </a:p>
          <a:p>
            <a:pPr marL="800100" lvl="1" indent="-342900">
              <a:buClr>
                <a:srgbClr val="0000FF"/>
              </a:buClr>
              <a:buSzPct val="70000"/>
              <a:buFont typeface="Arial" panose="020B0604020202020204" pitchFamily="34" charset="0"/>
              <a:buChar char="–"/>
            </a:pPr>
            <a:r>
              <a:rPr lang="en-AU" altLang="zh-TW" dirty="0">
                <a:latin typeface="Arial" pitchFamily="34" charset="0"/>
              </a:rPr>
              <a:t>Per core: 32KB L1 I-cache, 32KB L1 D-cache, 512KB L2 cache</a:t>
            </a:r>
          </a:p>
        </p:txBody>
      </p:sp>
      <p:sp>
        <p:nvSpPr>
          <p:cNvPr id="135175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3EDFC9CB-A2FE-4B80-8A6A-3CEFF097328C}" type="slidenum">
              <a:rPr lang="zh-TW" altLang="en-US"/>
              <a:pPr defTabSz="571500"/>
              <a:t>60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98202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933255" y="135732"/>
            <a:ext cx="6796284" cy="458158"/>
          </a:xfrm>
        </p:spPr>
        <p:txBody>
          <a:bodyPr/>
          <a:lstStyle/>
          <a:p>
            <a:r>
              <a:rPr lang="en-AU" altLang="zh-TW" sz="3200" dirty="0">
                <a:solidFill>
                  <a:srgbClr val="002060"/>
                </a:solidFill>
                <a:ea typeface="新細明體" pitchFamily="18" charset="-120"/>
              </a:rPr>
              <a:t>2-Level TLB Organization</a:t>
            </a:r>
          </a:p>
        </p:txBody>
      </p:sp>
      <p:graphicFrame>
        <p:nvGraphicFramePr>
          <p:cNvPr id="797733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053937"/>
              </p:ext>
            </p:extLst>
          </p:nvPr>
        </p:nvGraphicFramePr>
        <p:xfrm>
          <a:off x="538317" y="855445"/>
          <a:ext cx="8133734" cy="3698608"/>
        </p:xfrm>
        <a:graphic>
          <a:graphicData uri="http://schemas.openxmlformats.org/drawingml/2006/table">
            <a:tbl>
              <a:tblPr/>
              <a:tblGrid>
                <a:gridCol w="1626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1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3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80" marB="34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Intel Nehalem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AMD Opteron X4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Virtual </a:t>
                      </a:r>
                      <a:r>
                        <a:rPr kumimoji="0" lang="en-AU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addr</a:t>
                      </a:r>
                      <a:endParaRPr kumimoji="0" lang="en-AU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80" marB="34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48 bits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48 bits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3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Physical </a:t>
                      </a:r>
                      <a:r>
                        <a:rPr kumimoji="0" lang="en-AU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addr</a:t>
                      </a:r>
                      <a:endParaRPr kumimoji="0" lang="en-AU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80" marB="34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44 bits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48 bits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3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Page size</a:t>
                      </a:r>
                    </a:p>
                  </a:txBody>
                  <a:tcPr marL="68580" marR="68580" marT="34280" marB="34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4KB, 2/4MB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4KB, 2/4MB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678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L1 TLB</a:t>
                      </a:r>
                      <a:br>
                        <a:rPr kumimoji="0" lang="en-AU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</a:br>
                      <a:r>
                        <a:rPr kumimoji="0" lang="en-AU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(per core)</a:t>
                      </a:r>
                    </a:p>
                  </a:txBody>
                  <a:tcPr marL="68580" marR="68580" marT="34280" marB="34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L1 I-TLB: 128 entries for small pages, 7 per thread (2</a:t>
                      </a: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標楷體" pitchFamily="65" charset="-120"/>
                          <a:cs typeface="Arial" pitchFamily="34" charset="0"/>
                        </a:rPr>
                        <a:t>×</a:t>
                      </a: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) for large pages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L1 D-TLB: 64 entries for small pages, 32 for large pages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Both 4-way, LRU replacement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L1 I-TLB: 48 entries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L1 D-TLB: 48 entries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Both fully associative, LRU replacement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45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L2 TLB</a:t>
                      </a:r>
                      <a:br>
                        <a:rPr kumimoji="0" lang="en-AU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</a:br>
                      <a:r>
                        <a:rPr kumimoji="0" lang="en-AU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(per core)</a:t>
                      </a:r>
                    </a:p>
                  </a:txBody>
                  <a:tcPr marL="68580" marR="68580" marT="34280" marB="34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Single L2 TLB: 512 entries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4-way, LRU replacement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L2 I-TLB: 512 entries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L2 D-TLB: 512 entries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Both 4-way, round-robin LRU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3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TLB misses</a:t>
                      </a:r>
                    </a:p>
                  </a:txBody>
                  <a:tcPr marL="68580" marR="68580" marT="34280" marB="34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Handled in hardware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Handled in hardware</a:t>
                      </a:r>
                    </a:p>
                  </a:txBody>
                  <a:tcPr marL="68580" marR="68580" marT="34280" marB="34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6229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7E1DDB53-2818-485A-84E2-87DA2EB787C3}" type="slidenum">
              <a:rPr lang="zh-TW" altLang="en-US"/>
              <a:pPr defTabSz="571500"/>
              <a:t>61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322565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23827" y="84841"/>
            <a:ext cx="6805711" cy="499621"/>
          </a:xfrm>
        </p:spPr>
        <p:txBody>
          <a:bodyPr/>
          <a:lstStyle/>
          <a:p>
            <a:r>
              <a:rPr lang="en-AU" altLang="zh-TW" sz="3200" dirty="0">
                <a:solidFill>
                  <a:srgbClr val="002060"/>
                </a:solidFill>
                <a:ea typeface="新細明體" pitchFamily="18" charset="-120"/>
              </a:rPr>
              <a:t>3-Level Cache Organization</a:t>
            </a:r>
          </a:p>
        </p:txBody>
      </p:sp>
      <p:graphicFrame>
        <p:nvGraphicFramePr>
          <p:cNvPr id="799773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187096"/>
              </p:ext>
            </p:extLst>
          </p:nvPr>
        </p:nvGraphicFramePr>
        <p:xfrm>
          <a:off x="958645" y="966019"/>
          <a:ext cx="7315200" cy="3557321"/>
        </p:xfrm>
        <a:graphic>
          <a:graphicData uri="http://schemas.openxmlformats.org/drawingml/2006/table">
            <a:tbl>
              <a:tblPr/>
              <a:tblGrid>
                <a:gridCol w="1272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1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2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TW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ea typeface="新細明體" pitchFamily="18" charset="-120"/>
                      </a:endParaRPr>
                    </a:p>
                  </a:txBody>
                  <a:tcPr marL="68580" marR="68580" marT="34283" marB="342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Intel Nehalem</a:t>
                      </a:r>
                    </a:p>
                  </a:txBody>
                  <a:tcPr marL="68580" marR="68580" marT="34283" marB="34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AMD Opteron X4</a:t>
                      </a:r>
                    </a:p>
                  </a:txBody>
                  <a:tcPr marL="68580" marR="68580" marT="34283" marB="34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877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L1 caches</a:t>
                      </a:r>
                      <a:br>
                        <a:rPr kumimoji="0" lang="en-AU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</a:br>
                      <a:r>
                        <a:rPr kumimoji="0" lang="en-AU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(per core)</a:t>
                      </a:r>
                    </a:p>
                  </a:txBody>
                  <a:tcPr marL="68580" marR="68580" marT="34283" marB="342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L1 I-cache: 32KB, 64-byte blocks, 4-way, approx LRU replacement, hit time n/a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L1 D-cache: 32KB, 64-byte blocks, 8-way, approx LRU replacement, write-back/allocate, hit time n/a</a:t>
                      </a:r>
                    </a:p>
                  </a:txBody>
                  <a:tcPr marL="68580" marR="68580" marT="34283" marB="34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L1 I-cache: 32KB, 64-byte blocks, 2-way, LRU replacement, hit time 3 cycles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L1 D-cache: 32KB, 64-byte blocks, 2-way, LRU replacement, write-back/allocate, hit time 9 cycles</a:t>
                      </a:r>
                    </a:p>
                  </a:txBody>
                  <a:tcPr marL="68580" marR="68580" marT="34283" marB="34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12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L2 unified cache</a:t>
                      </a:r>
                      <a:br>
                        <a:rPr kumimoji="0" lang="en-AU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</a:br>
                      <a:r>
                        <a:rPr kumimoji="0" lang="en-AU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(per core)</a:t>
                      </a:r>
                    </a:p>
                  </a:txBody>
                  <a:tcPr marL="68580" marR="68580" marT="34283" marB="342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256KB, 64-byte blocks, 8-way, approx LRU replacement, write-back/allocate, hit time n/a</a:t>
                      </a:r>
                    </a:p>
                  </a:txBody>
                  <a:tcPr marL="68580" marR="68580" marT="34283" marB="34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512KB, 64-byte blocks, 16-way, approx LRU replacement, write-back/allocate, hit time n/a</a:t>
                      </a:r>
                    </a:p>
                  </a:txBody>
                  <a:tcPr marL="68580" marR="68580" marT="34283" marB="34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45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L3 unified cache (shared)</a:t>
                      </a:r>
                    </a:p>
                  </a:txBody>
                  <a:tcPr marL="68580" marR="68580" marT="34283" marB="342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8MB, 64-byte blocks, 16-way, replacement n/a, write-back/allocate, hit time n/a</a:t>
                      </a:r>
                    </a:p>
                  </a:txBody>
                  <a:tcPr marL="68580" marR="68580" marT="34283" marB="34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2MB, 64-byte blocks, 32-way, replace block shared by fewest cores, write-back/allocate, hit time 32 cycles</a:t>
                      </a:r>
                    </a:p>
                  </a:txBody>
                  <a:tcPr marL="68580" marR="68580" marT="34283" marB="34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56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ea typeface="新細明體" pitchFamily="18" charset="-120"/>
                        </a:rPr>
                        <a:t>n/a: data not available</a:t>
                      </a:r>
                    </a:p>
                  </a:txBody>
                  <a:tcPr marL="68580" marR="68580" marT="34283" marB="34283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7242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F23C0E78-9FFD-4031-BCA0-46EB657F89A1}" type="slidenum">
              <a:rPr lang="zh-TW" altLang="en-US"/>
              <a:pPr defTabSz="571500"/>
              <a:t>62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80978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52107" y="129779"/>
            <a:ext cx="6777431" cy="482963"/>
          </a:xfrm>
        </p:spPr>
        <p:txBody>
          <a:bodyPr/>
          <a:lstStyle/>
          <a:p>
            <a:r>
              <a:rPr lang="en-AU" altLang="zh-TW" dirty="0">
                <a:solidFill>
                  <a:srgbClr val="002060"/>
                </a:solidFill>
                <a:ea typeface="新細明體" pitchFamily="18" charset="-120"/>
              </a:rPr>
              <a:t>Pitfalls (1)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83" y="844153"/>
            <a:ext cx="7734693" cy="3426189"/>
          </a:xfrm>
        </p:spPr>
        <p:txBody>
          <a:bodyPr/>
          <a:lstStyle/>
          <a:p>
            <a:r>
              <a:rPr lang="en-AU" altLang="zh-TW" dirty="0">
                <a:ea typeface="新細明體" pitchFamily="18" charset="-120"/>
              </a:rPr>
              <a:t>Byte vs. word addressing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Example: 32-byte direct-mapped cache, 4-byte blocks</a:t>
            </a:r>
          </a:p>
          <a:p>
            <a:pPr lvl="2"/>
            <a:r>
              <a:rPr lang="en-AU" altLang="zh-TW" dirty="0">
                <a:ea typeface="新細明體" pitchFamily="18" charset="-120"/>
              </a:rPr>
              <a:t>Byte 36 maps to block 1</a:t>
            </a:r>
          </a:p>
          <a:p>
            <a:pPr lvl="2"/>
            <a:r>
              <a:rPr lang="en-AU" altLang="zh-TW" dirty="0">
                <a:ea typeface="新細明體" pitchFamily="18" charset="-120"/>
              </a:rPr>
              <a:t>Word 36 maps to block 4</a:t>
            </a:r>
          </a:p>
          <a:p>
            <a:r>
              <a:rPr lang="en-AU" altLang="zh-TW" dirty="0">
                <a:ea typeface="新細明體" pitchFamily="18" charset="-120"/>
              </a:rPr>
              <a:t>Ignore memory system effects when writing or generating code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Example: iterating over rows vs. columns of arrays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Large strides result in poor locality</a:t>
            </a:r>
          </a:p>
        </p:txBody>
      </p:sp>
      <p:sp>
        <p:nvSpPr>
          <p:cNvPr id="138245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BBA190A4-5B45-4751-8B4A-FBF19B8E38C0}" type="slidenum">
              <a:rPr lang="zh-TW" altLang="en-US"/>
              <a:pPr defTabSz="571500"/>
              <a:t>63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368730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42681" y="129779"/>
            <a:ext cx="6786858" cy="482963"/>
          </a:xfrm>
        </p:spPr>
        <p:txBody>
          <a:bodyPr/>
          <a:lstStyle/>
          <a:p>
            <a:r>
              <a:rPr lang="en-AU" altLang="zh-TW" dirty="0">
                <a:solidFill>
                  <a:srgbClr val="002060"/>
                </a:solidFill>
                <a:ea typeface="新細明體" pitchFamily="18" charset="-120"/>
              </a:rPr>
              <a:t>Pitfalls (2)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681" y="848106"/>
            <a:ext cx="7277492" cy="3016884"/>
          </a:xfrm>
        </p:spPr>
        <p:txBody>
          <a:bodyPr/>
          <a:lstStyle/>
          <a:p>
            <a:r>
              <a:rPr lang="en-AU" altLang="zh-TW" dirty="0">
                <a:ea typeface="新細明體" pitchFamily="18" charset="-120"/>
              </a:rPr>
              <a:t>In multiprocessor with shared L2 or L3 cache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Less </a:t>
            </a:r>
            <a:r>
              <a:rPr lang="en-AU" altLang="zh-TW" dirty="0" err="1">
                <a:ea typeface="新細明體" pitchFamily="18" charset="-120"/>
              </a:rPr>
              <a:t>associativity</a:t>
            </a:r>
            <a:r>
              <a:rPr lang="en-AU" altLang="zh-TW" dirty="0">
                <a:ea typeface="新細明體" pitchFamily="18" charset="-120"/>
              </a:rPr>
              <a:t> than cores results in conflict misses</a:t>
            </a:r>
          </a:p>
          <a:p>
            <a:pPr lvl="1"/>
            <a:r>
              <a:rPr lang="en-AU" altLang="zh-TW" dirty="0">
                <a:ea typeface="新細明體" pitchFamily="18" charset="-120"/>
              </a:rPr>
              <a:t>More cores </a:t>
            </a:r>
            <a:r>
              <a:rPr lang="en-AU" altLang="zh-TW" dirty="0">
                <a:ea typeface="新細明體" pitchFamily="18" charset="-120"/>
                <a:sym typeface="Symbol" pitchFamily="18" charset="2"/>
              </a:rPr>
              <a:t> need to increase </a:t>
            </a:r>
            <a:r>
              <a:rPr lang="en-AU" altLang="zh-TW" dirty="0" err="1">
                <a:ea typeface="新細明體" pitchFamily="18" charset="-120"/>
                <a:sym typeface="Symbol" pitchFamily="18" charset="2"/>
              </a:rPr>
              <a:t>associativity</a:t>
            </a:r>
            <a:endParaRPr lang="en-AU" altLang="zh-TW" dirty="0">
              <a:ea typeface="新細明體" pitchFamily="18" charset="-120"/>
              <a:sym typeface="Symbol" pitchFamily="18" charset="2"/>
            </a:endParaRPr>
          </a:p>
          <a:p>
            <a:r>
              <a:rPr lang="en-AU" altLang="zh-TW" dirty="0">
                <a:ea typeface="新細明體" pitchFamily="18" charset="-120"/>
                <a:sym typeface="Symbol" pitchFamily="18" charset="2"/>
              </a:rPr>
              <a:t>Using AMAT (Average Memory Access Time) to evaluate performance of out-of-order processors</a:t>
            </a:r>
          </a:p>
          <a:p>
            <a:pPr lvl="1"/>
            <a:r>
              <a:rPr lang="en-AU" altLang="zh-TW" dirty="0">
                <a:ea typeface="新細明體" pitchFamily="18" charset="-120"/>
                <a:sym typeface="Symbol" pitchFamily="18" charset="2"/>
              </a:rPr>
              <a:t>Ignore effect of non-blocked accesses</a:t>
            </a:r>
          </a:p>
          <a:p>
            <a:pPr lvl="1"/>
            <a:r>
              <a:rPr lang="en-AU" altLang="zh-TW" dirty="0">
                <a:ea typeface="新細明體" pitchFamily="18" charset="-120"/>
                <a:sym typeface="Symbol" pitchFamily="18" charset="2"/>
              </a:rPr>
              <a:t>Instead, evaluate performance by simulation</a:t>
            </a:r>
          </a:p>
        </p:txBody>
      </p:sp>
      <p:sp>
        <p:nvSpPr>
          <p:cNvPr id="139268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F8E5FCE4-05EC-470B-A344-A42A5AC19937}" type="slidenum">
              <a:rPr lang="zh-TW" altLang="en-US"/>
              <a:pPr defTabSz="571500"/>
              <a:t>64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676758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23827" y="129779"/>
            <a:ext cx="6805711" cy="482963"/>
          </a:xfrm>
        </p:spPr>
        <p:txBody>
          <a:bodyPr/>
          <a:lstStyle/>
          <a:p>
            <a:r>
              <a:rPr lang="en-US" altLang="zh-TW" dirty="0"/>
              <a:t>Concluding Remarks</a:t>
            </a:r>
            <a:endParaRPr lang="en-AU" altLang="zh-TW" dirty="0">
              <a:ea typeface="新細明體" pitchFamily="18" charset="-120"/>
            </a:endParaRP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838" y="844153"/>
            <a:ext cx="7828961" cy="3671888"/>
          </a:xfrm>
        </p:spPr>
        <p:txBody>
          <a:bodyPr/>
          <a:lstStyle/>
          <a:p>
            <a:r>
              <a:rPr lang="en-US" altLang="zh-TW" dirty="0"/>
              <a:t>Fast memories are small, large memories are slow</a:t>
            </a:r>
          </a:p>
          <a:p>
            <a:pPr lvl="1"/>
            <a:r>
              <a:rPr lang="en-US" altLang="zh-TW" dirty="0"/>
              <a:t>We really want fast, large memories </a:t>
            </a:r>
            <a:r>
              <a:rPr lang="en-US" altLang="zh-TW" dirty="0">
                <a:solidFill>
                  <a:srgbClr val="00B050"/>
                </a:solidFill>
                <a:sym typeface="Wingdings" pitchFamily="2" charset="2"/>
              </a:rPr>
              <a:t></a:t>
            </a:r>
          </a:p>
          <a:p>
            <a:pPr lvl="1"/>
            <a:r>
              <a:rPr lang="en-US" altLang="zh-TW" dirty="0">
                <a:sym typeface="Wingdings" pitchFamily="2" charset="2"/>
              </a:rPr>
              <a:t>Caching gives this illusion </a:t>
            </a:r>
            <a:r>
              <a:rPr lang="en-US" altLang="zh-TW" dirty="0">
                <a:solidFill>
                  <a:srgbClr val="FF0000"/>
                </a:solidFill>
                <a:sym typeface="Wingdings" pitchFamily="2" charset="2"/>
              </a:rPr>
              <a:t></a:t>
            </a:r>
          </a:p>
          <a:p>
            <a:r>
              <a:rPr lang="en-US" altLang="zh-TW" dirty="0"/>
              <a:t>Principle of locality</a:t>
            </a:r>
          </a:p>
          <a:p>
            <a:pPr lvl="1"/>
            <a:r>
              <a:rPr lang="en-US" altLang="zh-TW" dirty="0"/>
              <a:t>Programs use a small part of their memory space frequently</a:t>
            </a:r>
          </a:p>
          <a:p>
            <a:r>
              <a:rPr lang="en-US" altLang="zh-TW" dirty="0"/>
              <a:t>Memory hierarchy</a:t>
            </a:r>
          </a:p>
          <a:p>
            <a:pPr lvl="1"/>
            <a:r>
              <a:rPr lang="en-US" altLang="zh-TW" dirty="0"/>
              <a:t>L1 cache </a:t>
            </a:r>
            <a:r>
              <a:rPr lang="en-US" altLang="zh-TW" dirty="0">
                <a:sym typeface="Symbol" pitchFamily="18" charset="2"/>
              </a:rPr>
              <a:t> L2 cache  …  DRAM memory  disk</a:t>
            </a:r>
          </a:p>
          <a:p>
            <a:r>
              <a:rPr lang="en-US" altLang="zh-TW" dirty="0">
                <a:sym typeface="Symbol" pitchFamily="18" charset="2"/>
              </a:rPr>
              <a:t>Memory system design is critical for multiprocessors</a:t>
            </a:r>
          </a:p>
        </p:txBody>
      </p:sp>
      <p:sp>
        <p:nvSpPr>
          <p:cNvPr id="140293" name="投影片編號版面配置區 1"/>
          <p:cNvSpPr>
            <a:spLocks noGrp="1"/>
          </p:cNvSpPr>
          <p:nvPr>
            <p:ph type="sldNum" sz="quarter" idx="429496729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571500"/>
            <a:fld id="{EF08ADB7-8BC9-487D-97BC-2CFBE12AC20F}" type="slidenum">
              <a:rPr lang="zh-TW" altLang="en-US"/>
              <a:pPr defTabSz="571500"/>
              <a:t>65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3586158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2727</TotalTime>
  <Words>3269</Words>
  <Application>Microsoft Office PowerPoint</Application>
  <PresentationFormat>全屏显示(16:9)</PresentationFormat>
  <Paragraphs>811</Paragraphs>
  <Slides>65</Slides>
  <Notes>44</Notes>
  <HiddenSlides>9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5" baseType="lpstr">
      <vt:lpstr>Monotype Sorts</vt:lpstr>
      <vt:lpstr>MS Sans Serif</vt:lpstr>
      <vt:lpstr>Arial</vt:lpstr>
      <vt:lpstr>Book Antiqua</vt:lpstr>
      <vt:lpstr>Calibri</vt:lpstr>
      <vt:lpstr>Century Gothic</vt:lpstr>
      <vt:lpstr>Helvetica</vt:lpstr>
      <vt:lpstr>Tahoma</vt:lpstr>
      <vt:lpstr>Wingdings</vt:lpstr>
      <vt:lpstr>NTHU UniCloud</vt:lpstr>
      <vt:lpstr>CSC3050 – Computer Architecture</vt:lpstr>
      <vt:lpstr>Outline</vt:lpstr>
      <vt:lpstr>Levels of Memory Hierarchy</vt:lpstr>
      <vt:lpstr>Virtual Memory</vt:lpstr>
      <vt:lpstr>Diagram of Process State</vt:lpstr>
      <vt:lpstr>CPU Scheduler</vt:lpstr>
      <vt:lpstr>Virtual Memory (1)</vt:lpstr>
      <vt:lpstr>Virtual Memory (2)</vt:lpstr>
      <vt:lpstr>Virtual Memory (3)</vt:lpstr>
      <vt:lpstr>Outline</vt:lpstr>
      <vt:lpstr>Basic Issues in Virtual Memory</vt:lpstr>
      <vt:lpstr>Block Size and Placement Policy</vt:lpstr>
      <vt:lpstr>Address Translation</vt:lpstr>
      <vt:lpstr>Paging</vt:lpstr>
      <vt:lpstr>Page Tables</vt:lpstr>
      <vt:lpstr>Page Tables</vt:lpstr>
      <vt:lpstr>Page Fault</vt:lpstr>
      <vt:lpstr>OS Handling Page Faults</vt:lpstr>
      <vt:lpstr>When to Fetch Missing Items From Disk</vt:lpstr>
      <vt:lpstr>Page Replacement and Writes</vt:lpstr>
      <vt:lpstr>Problems of Page Table</vt:lpstr>
      <vt:lpstr>Outline</vt:lpstr>
      <vt:lpstr>Impact of Paging - Huge Page Table</vt:lpstr>
      <vt:lpstr>Hashing - Inverted Page Tables</vt:lpstr>
      <vt:lpstr>Two-level Page Tables</vt:lpstr>
      <vt:lpstr>Outline</vt:lpstr>
      <vt:lpstr>Impact of Paging - More Memory Access</vt:lpstr>
      <vt:lpstr>Translation Lookaside Buffer (TLB)</vt:lpstr>
      <vt:lpstr>Fast Translation Using TLB (Translation Lookaside Buffer)</vt:lpstr>
      <vt:lpstr>TLB Hit </vt:lpstr>
      <vt:lpstr>TLB Miss</vt:lpstr>
      <vt:lpstr>Outline</vt:lpstr>
      <vt:lpstr>Making Address Translation Practical</vt:lpstr>
      <vt:lpstr>Integrate TLB and Cache</vt:lpstr>
      <vt:lpstr>TLBs and Caches</vt:lpstr>
      <vt:lpstr>Possible Combinations of Events</vt:lpstr>
      <vt:lpstr>Virtual Address and Cache</vt:lpstr>
      <vt:lpstr>Virtually Addressed Cache</vt:lpstr>
      <vt:lpstr>Integrating TLB and Cache</vt:lpstr>
      <vt:lpstr>An Alternative:Virtually Indexed but Physically Tagged</vt:lpstr>
      <vt:lpstr>Problem with Overlapped Access</vt:lpstr>
      <vt:lpstr>Outline</vt:lpstr>
      <vt:lpstr>The Memory Hierarchy</vt:lpstr>
      <vt:lpstr>Block Placement</vt:lpstr>
      <vt:lpstr>Find a Block</vt:lpstr>
      <vt:lpstr>Replacement</vt:lpstr>
      <vt:lpstr>Write Policy</vt:lpstr>
      <vt:lpstr>Sources of Misses</vt:lpstr>
      <vt:lpstr>Challenge in Memory Hierarchy</vt:lpstr>
      <vt:lpstr>Outline</vt:lpstr>
      <vt:lpstr>Cache Control</vt:lpstr>
      <vt:lpstr>Interface Signals</vt:lpstr>
      <vt:lpstr>Cache Controller FSM</vt:lpstr>
      <vt:lpstr>Finite State Machines</vt:lpstr>
      <vt:lpstr>Outline</vt:lpstr>
      <vt:lpstr>Cache Coherence Problem</vt:lpstr>
      <vt:lpstr>Coherence Defined</vt:lpstr>
      <vt:lpstr>Cache Coherence Protocols</vt:lpstr>
      <vt:lpstr>Invalidating Snooping Protocols</vt:lpstr>
      <vt:lpstr>Multilevel On-Chip Caches</vt:lpstr>
      <vt:lpstr>2-Level TLB Organization</vt:lpstr>
      <vt:lpstr>3-Level Cache Organization</vt:lpstr>
      <vt:lpstr>Pitfalls (1)</vt:lpstr>
      <vt:lpstr>Pitfalls (2)</vt:lpstr>
      <vt:lpstr>Concluding Remarks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 鍾葉青）</cp:lastModifiedBy>
  <cp:revision>284</cp:revision>
  <dcterms:created xsi:type="dcterms:W3CDTF">2015-06-05T07:23:35Z</dcterms:created>
  <dcterms:modified xsi:type="dcterms:W3CDTF">2019-05-05T12:58:50Z</dcterms:modified>
</cp:coreProperties>
</file>