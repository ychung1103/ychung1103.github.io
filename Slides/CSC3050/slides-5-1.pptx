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6"/>
  </p:notesMasterIdLst>
  <p:handoutMasterIdLst>
    <p:handoutMasterId r:id="rId37"/>
  </p:handoutMasterIdLst>
  <p:sldIdLst>
    <p:sldId id="256" r:id="rId2"/>
    <p:sldId id="445" r:id="rId3"/>
    <p:sldId id="486" r:id="rId4"/>
    <p:sldId id="485" r:id="rId5"/>
    <p:sldId id="487" r:id="rId6"/>
    <p:sldId id="489" r:id="rId7"/>
    <p:sldId id="490" r:id="rId8"/>
    <p:sldId id="491" r:id="rId9"/>
    <p:sldId id="493" r:id="rId10"/>
    <p:sldId id="494" r:id="rId11"/>
    <p:sldId id="496" r:id="rId12"/>
    <p:sldId id="497" r:id="rId13"/>
    <p:sldId id="499" r:id="rId14"/>
    <p:sldId id="500" r:id="rId15"/>
    <p:sldId id="501" r:id="rId16"/>
    <p:sldId id="502" r:id="rId17"/>
    <p:sldId id="503" r:id="rId18"/>
    <p:sldId id="504" r:id="rId19"/>
    <p:sldId id="505" r:id="rId20"/>
    <p:sldId id="506" r:id="rId21"/>
    <p:sldId id="507" r:id="rId22"/>
    <p:sldId id="508" r:id="rId23"/>
    <p:sldId id="510" r:id="rId24"/>
    <p:sldId id="509" r:id="rId25"/>
    <p:sldId id="511" r:id="rId26"/>
    <p:sldId id="512" r:id="rId27"/>
    <p:sldId id="513" r:id="rId28"/>
    <p:sldId id="520" r:id="rId29"/>
    <p:sldId id="514" r:id="rId30"/>
    <p:sldId id="515" r:id="rId31"/>
    <p:sldId id="518" r:id="rId32"/>
    <p:sldId id="519" r:id="rId33"/>
    <p:sldId id="516" r:id="rId34"/>
    <p:sldId id="517" r:id="rId35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F81BD"/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473" y="38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177"/>
    </p:cViewPr>
  </p:sorterViewPr>
  <p:notesViewPr>
    <p:cSldViewPr snapToGrid="0">
      <p:cViewPr varScale="1">
        <p:scale>
          <a:sx n="37" d="100"/>
          <a:sy n="37" d="100"/>
        </p:scale>
        <p:origin x="1975" y="41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DCE37-E9BE-4280-8D68-34E43D66CEDB}" type="datetimeFigureOut">
              <a:rPr lang="zh-TW" altLang="en-US" smtClean="0"/>
              <a:pPr/>
              <a:t>2019/3/10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ED679-6CF9-4493-8C9A-6F31F985AAE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86827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FBA883-381C-409E-9635-BB54B21745E4}" type="datetimeFigureOut">
              <a:rPr lang="zh-TW" altLang="en-US" smtClean="0"/>
              <a:pPr/>
              <a:t>2019/3/10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6C40E4-B9C8-417B-AB00-3BF7F8038A2D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815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183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9605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>
                <a:latin typeface="Calibri" pitchFamily="34" charset="0"/>
                <a:ea typeface="標楷體" pitchFamily="65" charset="-120"/>
                <a:cs typeface="Calibri" pitchFamily="34" charset="0"/>
              </a:defRPr>
            </a:lvl3pPr>
            <a:lvl4pPr>
              <a:defRPr sz="1600">
                <a:latin typeface="Calibri" pitchFamily="34" charset="0"/>
                <a:ea typeface="標楷體" pitchFamily="65" charset="-120"/>
                <a:cs typeface="Calibri" pitchFamily="34" charset="0"/>
              </a:defRPr>
            </a:lvl4pPr>
            <a:lvl5pPr>
              <a:defRPr sz="1400">
                <a:latin typeface="Calibri" pitchFamily="34" charset="0"/>
                <a:ea typeface="標楷體" pitchFamily="65" charset="-120"/>
                <a:cs typeface="Calibri" pitchFamily="34" charset="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002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</p:spPr>
        <p:txBody>
          <a:bodyPr anchor="t"/>
          <a:lstStyle>
            <a:lvl1pPr algn="l">
              <a:defRPr sz="3200" b="1" cap="all"/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800"/>
            </a:lvl1pPr>
            <a:lvl2pPr marL="342891" indent="0">
              <a:buNone/>
              <a:defRPr sz="1351"/>
            </a:lvl2pPr>
            <a:lvl3pPr marL="685783" indent="0">
              <a:buNone/>
              <a:defRPr sz="1200"/>
            </a:lvl3pPr>
            <a:lvl4pPr marL="1028674" indent="0">
              <a:buNone/>
              <a:defRPr sz="1051"/>
            </a:lvl4pPr>
            <a:lvl5pPr marL="1371566" indent="0">
              <a:buNone/>
              <a:defRPr sz="1051"/>
            </a:lvl5pPr>
            <a:lvl6pPr marL="1714457" indent="0">
              <a:buNone/>
              <a:defRPr sz="1051"/>
            </a:lvl6pPr>
            <a:lvl7pPr marL="2057349" indent="0">
              <a:buNone/>
              <a:defRPr sz="1051"/>
            </a:lvl7pPr>
            <a:lvl8pPr marL="2400240" indent="0">
              <a:buNone/>
              <a:defRPr sz="1051"/>
            </a:lvl8pPr>
            <a:lvl9pPr marL="2743131" indent="0">
              <a:buNone/>
              <a:defRPr sz="10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02514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844152"/>
            <a:ext cx="4038600" cy="31707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351"/>
            </a:lvl6pPr>
            <a:lvl7pPr>
              <a:defRPr sz="1351"/>
            </a:lvl7pPr>
            <a:lvl8pPr>
              <a:defRPr sz="1351"/>
            </a:lvl8pPr>
            <a:lvl9pPr>
              <a:defRPr sz="1351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850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1" y="951580"/>
            <a:ext cx="4040188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1" y="1431401"/>
            <a:ext cx="4040188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951580"/>
            <a:ext cx="4041775" cy="479822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891" indent="0">
              <a:buNone/>
              <a:defRPr sz="1500" b="1"/>
            </a:lvl2pPr>
            <a:lvl3pPr marL="685783" indent="0">
              <a:buNone/>
              <a:defRPr sz="1351" b="1"/>
            </a:lvl3pPr>
            <a:lvl4pPr marL="1028674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9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1" indent="0">
              <a:buNone/>
              <a:defRPr sz="12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1431401"/>
            <a:ext cx="4041775" cy="2963466"/>
          </a:xfrm>
        </p:spPr>
        <p:txBody>
          <a:bodyPr/>
          <a:lstStyle>
            <a:lvl1pPr>
              <a:defRPr sz="20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468315" y="108349"/>
            <a:ext cx="8207375" cy="519113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055619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808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2028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4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1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4" y="1076328"/>
            <a:ext cx="3008313" cy="351829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9976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891" indent="0">
              <a:buNone/>
              <a:defRPr sz="2100"/>
            </a:lvl2pPr>
            <a:lvl3pPr marL="685783" indent="0">
              <a:buNone/>
              <a:defRPr sz="1800"/>
            </a:lvl3pPr>
            <a:lvl4pPr marL="1028674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9" indent="0">
              <a:buNone/>
              <a:defRPr sz="1500"/>
            </a:lvl7pPr>
            <a:lvl8pPr marL="2400240" indent="0">
              <a:buNone/>
              <a:defRPr sz="1500"/>
            </a:lvl8pPr>
            <a:lvl9pPr marL="2743131" indent="0">
              <a:buNone/>
              <a:defRPr sz="1500"/>
            </a:lvl9pPr>
          </a:lstStyle>
          <a:p>
            <a:pPr lvl="0"/>
            <a:r>
              <a:rPr lang="en-US" altLang="zh-TW" noProof="0"/>
              <a:t>Click icon to add picture</a:t>
            </a:r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051"/>
            </a:lvl1pPr>
            <a:lvl2pPr marL="342891" indent="0">
              <a:buNone/>
              <a:defRPr sz="900"/>
            </a:lvl2pPr>
            <a:lvl3pPr marL="685783" indent="0">
              <a:buNone/>
              <a:defRPr sz="751"/>
            </a:lvl3pPr>
            <a:lvl4pPr marL="1028674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9" indent="0">
              <a:buNone/>
              <a:defRPr sz="675"/>
            </a:lvl7pPr>
            <a:lvl8pPr marL="2400240" indent="0">
              <a:buNone/>
              <a:defRPr sz="675"/>
            </a:lvl8pPr>
            <a:lvl9pPr marL="2743131" indent="0">
              <a:buNone/>
              <a:defRPr sz="675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166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37722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4551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/>
          </p:nvPr>
        </p:nvSpPr>
        <p:spPr>
          <a:xfrm>
            <a:off x="457200" y="54771"/>
            <a:ext cx="8229600" cy="1275160"/>
          </a:xfrm>
        </p:spPr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3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2241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457200" y="844156"/>
            <a:ext cx="8229600" cy="485775"/>
          </a:xfrm>
        </p:spPr>
        <p:txBody>
          <a:bodyPr/>
          <a:lstStyle/>
          <a:p>
            <a:pPr lvl="0"/>
            <a:r>
              <a:rPr lang="en-US" altLang="zh-TW" noProof="0"/>
              <a:t>Click icon to add table</a:t>
            </a:r>
            <a:endParaRPr lang="zh-TW" altLang="en-US" noProof="0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959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/>
            </a:lvl1pPr>
            <a:lvl2pPr marL="342891" indent="0" algn="ctr">
              <a:buNone/>
              <a:defRPr/>
            </a:lvl2pPr>
            <a:lvl3pPr marL="685783" indent="0" algn="ctr">
              <a:buNone/>
              <a:defRPr/>
            </a:lvl3pPr>
            <a:lvl4pPr marL="1028674" indent="0" algn="ctr">
              <a:buNone/>
              <a:defRPr/>
            </a:lvl4pPr>
            <a:lvl5pPr marL="1371566" indent="0" algn="ctr">
              <a:buNone/>
              <a:defRPr/>
            </a:lvl5pPr>
            <a:lvl6pPr marL="1714457" indent="0" algn="ctr">
              <a:buNone/>
              <a:defRPr/>
            </a:lvl6pPr>
            <a:lvl7pPr marL="2057349" indent="0" algn="ctr">
              <a:buNone/>
              <a:defRPr/>
            </a:lvl7pPr>
            <a:lvl8pPr marL="2400240" indent="0" algn="ctr">
              <a:buNone/>
              <a:defRPr/>
            </a:lvl8pPr>
            <a:lvl9pPr marL="2743131" indent="0" algn="ctr">
              <a:buNone/>
              <a:defRPr/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7078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17"/>
          <p:cNvSpPr>
            <a:spLocks noGrp="1" noChangeArrowheads="1"/>
          </p:cNvSpPr>
          <p:nvPr>
            <p:ph type="title"/>
          </p:nvPr>
        </p:nvSpPr>
        <p:spPr bwMode="auto">
          <a:xfrm>
            <a:off x="787401" y="108349"/>
            <a:ext cx="7888289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8" name="Rectangle 1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844153"/>
            <a:ext cx="8229600" cy="3671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按一下以編輯母片</a:t>
            </a:r>
          </a:p>
          <a:p>
            <a:pPr lvl="1"/>
            <a:endParaRPr lang="zh-TW" altLang="en-US" dirty="0"/>
          </a:p>
          <a:p>
            <a:pPr lvl="0"/>
            <a:endParaRPr lang="en-US" altLang="zh-TW" dirty="0"/>
          </a:p>
        </p:txBody>
      </p:sp>
      <p:pic>
        <p:nvPicPr>
          <p:cNvPr id="1029" name="Picture 25" descr="name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" y="4768455"/>
            <a:ext cx="3833813" cy="14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矩形 7"/>
          <p:cNvSpPr/>
          <p:nvPr/>
        </p:nvSpPr>
        <p:spPr>
          <a:xfrm>
            <a:off x="569246" y="4936332"/>
            <a:ext cx="273183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新細明體" pitchFamily="18" charset="-120"/>
                <a:cs typeface="Arial" pitchFamily="34" charset="0"/>
              </a:rPr>
              <a:t>National Tsing Hua University ® copyright OIA</a:t>
            </a:r>
            <a:endParaRPr lang="zh-TW" altLang="en-US" sz="900" b="1" dirty="0">
              <a:solidFill>
                <a:schemeClr val="bg1"/>
              </a:solidFill>
              <a:latin typeface="Arial" pitchFamily="34" charset="0"/>
              <a:ea typeface="新細明體" pitchFamily="18" charset="-120"/>
              <a:cs typeface="Arial" pitchFamily="34" charset="0"/>
            </a:endParaRPr>
          </a:p>
        </p:txBody>
      </p:sp>
      <p:sp>
        <p:nvSpPr>
          <p:cNvPr id="4105" name="Rectangle 9"/>
          <p:cNvSpPr>
            <a:spLocks noChangeArrowheads="1"/>
          </p:cNvSpPr>
          <p:nvPr/>
        </p:nvSpPr>
        <p:spPr bwMode="auto">
          <a:xfrm>
            <a:off x="0" y="681041"/>
            <a:ext cx="9144000" cy="108347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4106" name="Rectangle 10"/>
          <p:cNvSpPr>
            <a:spLocks noChangeArrowheads="1"/>
          </p:cNvSpPr>
          <p:nvPr userDrawn="1"/>
        </p:nvSpPr>
        <p:spPr bwMode="auto">
          <a:xfrm>
            <a:off x="0" y="4624387"/>
            <a:ext cx="9144000" cy="539354"/>
          </a:xfrm>
          <a:prstGeom prst="rect">
            <a:avLst/>
          </a:prstGeom>
          <a:solidFill>
            <a:srgbClr val="990099"/>
          </a:solidFill>
          <a:ln w="15875">
            <a:noFill/>
            <a:miter lim="800000"/>
            <a:headEnd/>
            <a:tailEnd/>
          </a:ln>
          <a:effectLst>
            <a:prstShdw prst="shdw18" dist="17961" dir="13500000">
              <a:srgbClr val="990099">
                <a:gamma/>
                <a:shade val="60000"/>
                <a:invGamma/>
              </a:srgbClr>
            </a:prstShdw>
          </a:effectLst>
        </p:spPr>
        <p:txBody>
          <a:bodyPr wrap="none" anchor="ctr"/>
          <a:lstStyle/>
          <a:p>
            <a:pPr>
              <a:defRPr/>
            </a:pPr>
            <a:endParaRPr lang="zh-TW" altLang="en-US" sz="1351">
              <a:ea typeface="新細明體" pitchFamily="18" charset="-120"/>
            </a:endParaRPr>
          </a:p>
        </p:txBody>
      </p:sp>
      <p:sp>
        <p:nvSpPr>
          <p:cNvPr id="1043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31013" y="4893471"/>
            <a:ext cx="2133600" cy="254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900">
                <a:solidFill>
                  <a:schemeClr val="bg1"/>
                </a:solidFill>
                <a:latin typeface="Arial" pitchFamily="34" charset="0"/>
                <a:ea typeface="新細明體" pitchFamily="18" charset="-120"/>
              </a:defRPr>
            </a:lvl1pPr>
          </a:lstStyle>
          <a:p>
            <a:fld id="{D9B6BDF2-6896-4B98-8776-C18582F63BA5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60" y="96457"/>
            <a:ext cx="888965" cy="518914"/>
          </a:xfrm>
          <a:prstGeom prst="rect">
            <a:avLst/>
          </a:prstGeom>
        </p:spPr>
      </p:pic>
      <p:pic>
        <p:nvPicPr>
          <p:cNvPr id="12" name="圖片 11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9" y="4683590"/>
            <a:ext cx="741091" cy="427061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62" y="4681942"/>
            <a:ext cx="2030503" cy="40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8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Calibri" pitchFamily="34" charset="0"/>
          <a:ea typeface="標楷體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700" b="1">
          <a:solidFill>
            <a:schemeClr val="tx2"/>
          </a:solidFill>
          <a:latin typeface="Calibri" pitchFamily="34" charset="0"/>
          <a:ea typeface="標楷體" pitchFamily="65" charset="-120"/>
          <a:cs typeface="MS Sans Serif"/>
        </a:defRPr>
      </a:lvl5pPr>
      <a:lvl6pPr marL="342891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6pPr>
      <a:lvl7pPr marL="685783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7pPr>
      <a:lvl8pPr marL="1028674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8pPr>
      <a:lvl9pPr marL="1371566" algn="l" rtl="0" eaLnBrk="1" fontAlgn="base" hangingPunct="1">
        <a:spcBef>
          <a:spcPct val="0"/>
        </a:spcBef>
        <a:spcAft>
          <a:spcPct val="0"/>
        </a:spcAft>
        <a:defRPr kumimoji="1" sz="2251" b="1">
          <a:solidFill>
            <a:schemeClr val="tx2"/>
          </a:solidFill>
          <a:latin typeface="MS Sans Serif"/>
          <a:ea typeface="MS Sans Serif"/>
          <a:cs typeface="MS Sans Serif"/>
        </a:defRPr>
      </a:lvl9pPr>
    </p:titleStyle>
    <p:bodyStyle>
      <a:lvl1pPr marL="257168" indent="-25716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80000"/>
        <a:buFont typeface="Wingdings" pitchFamily="2" charset="2"/>
        <a:buChar char="l"/>
        <a:defRPr kumimoji="1" sz="2800">
          <a:solidFill>
            <a:schemeClr val="tx1"/>
          </a:solidFill>
          <a:latin typeface="Calibri" pitchFamily="34" charset="0"/>
          <a:ea typeface="標楷體" pitchFamily="65" charset="-120"/>
          <a:cs typeface="+mn-cs"/>
        </a:defRPr>
      </a:lvl1pPr>
      <a:lvl2pPr marL="557199" indent="-214308" algn="l" rtl="0" eaLnBrk="1" fontAlgn="base" hangingPunct="1">
        <a:spcBef>
          <a:spcPct val="20000"/>
        </a:spcBef>
        <a:spcAft>
          <a:spcPct val="0"/>
        </a:spcAft>
        <a:buClr>
          <a:srgbClr val="0000FF"/>
        </a:buClr>
        <a:buSzPct val="90000"/>
        <a:buFont typeface="Arial" charset="0"/>
        <a:buChar char="–"/>
        <a:defRPr kumimoji="1" sz="2400">
          <a:solidFill>
            <a:schemeClr val="tx1"/>
          </a:solidFill>
          <a:latin typeface="Calibri" pitchFamily="34" charset="0"/>
          <a:ea typeface="標楷體" pitchFamily="65" charset="-120"/>
        </a:defRPr>
      </a:lvl2pPr>
      <a:lvl3pPr marL="857229" indent="-171446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21" indent="-171446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12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04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795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686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578" indent="-171446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26534"/>
            <a:ext cx="7772400" cy="1102519"/>
          </a:xfrm>
        </p:spPr>
        <p:txBody>
          <a:bodyPr/>
          <a:lstStyle/>
          <a:p>
            <a:pPr algn="ctr"/>
            <a:r>
              <a:rPr lang="en-US" altLang="zh-TW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CSC3050 – Computer Architecture</a:t>
            </a:r>
            <a:endParaRPr lang="zh-TW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548824"/>
            <a:ext cx="6400800" cy="1801796"/>
          </a:xfrm>
        </p:spPr>
        <p:txBody>
          <a:bodyPr/>
          <a:lstStyle/>
          <a:p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Prof. </a:t>
            </a:r>
            <a:r>
              <a:rPr lang="en-US" altLang="zh-TW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Yeh-Ching</a:t>
            </a:r>
            <a:r>
              <a:rPr lang="en-US" altLang="zh-TW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Chung</a:t>
            </a:r>
          </a:p>
          <a:p>
            <a:endParaRPr lang="en-US" altLang="zh-TW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zh-TW" sz="2400" dirty="0"/>
              <a:t>School of Science and Engineering</a:t>
            </a:r>
          </a:p>
          <a:p>
            <a:r>
              <a:rPr lang="en-US" altLang="zh-TW" sz="2400" dirty="0"/>
              <a:t>Chinese University of Hong Kong, Shenzhen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855C81E-5425-4B25-93B2-3E4F4A659E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468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893" y="838899"/>
            <a:ext cx="6233021" cy="3649211"/>
          </a:xfrm>
        </p:spPr>
        <p:txBody>
          <a:bodyPr>
            <a:noAutofit/>
          </a:bodyPr>
          <a:lstStyle/>
          <a:p>
            <a:r>
              <a:rPr lang="en-US" sz="2000" dirty="0"/>
              <a:t>Our implementation of the MIPS is simplified</a:t>
            </a:r>
          </a:p>
          <a:p>
            <a:pPr lvl="1"/>
            <a:r>
              <a:rPr lang="en-US" sz="1600" dirty="0"/>
              <a:t>Memory-reference instructions: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/>
              <a:t>Arithmetic-logical instructions: </a:t>
            </a:r>
            <a:br>
              <a:rPr lang="en-US" sz="1600" dirty="0"/>
            </a:b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sub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US" sz="1600" dirty="0"/>
              <a:t>,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slt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sz="1600" dirty="0"/>
              <a:t>Control flow instructions: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1600" dirty="0"/>
              <a:t>, 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</a:p>
          <a:p>
            <a:r>
              <a:rPr lang="en-US" sz="2000" dirty="0">
                <a:cs typeface="Courier New" panose="02070309020205020404" pitchFamily="49" charset="0"/>
              </a:rPr>
              <a:t>Generic implementation</a:t>
            </a:r>
          </a:p>
          <a:p>
            <a:pPr lvl="1"/>
            <a:r>
              <a:rPr lang="en-US" sz="1600" dirty="0">
                <a:cs typeface="Courier New" panose="02070309020205020404" pitchFamily="49" charset="0"/>
              </a:rPr>
              <a:t>Use the program counter (PC) to supply the instruction address and </a:t>
            </a:r>
            <a:r>
              <a:rPr lang="en-US" sz="1600" b="1" dirty="0">
                <a:solidFill>
                  <a:schemeClr val="accent1"/>
                </a:solidFill>
                <a:cs typeface="Courier New" panose="02070309020205020404" pitchFamily="49" charset="0"/>
              </a:rPr>
              <a:t>fetch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 </a:t>
            </a:r>
            <a:r>
              <a:rPr lang="en-US" sz="1600" dirty="0">
                <a:cs typeface="Courier New" panose="02070309020205020404" pitchFamily="49" charset="0"/>
              </a:rPr>
              <a:t>the instruction from memory (and update the PC)</a:t>
            </a:r>
          </a:p>
          <a:p>
            <a:pPr lvl="1"/>
            <a:r>
              <a:rPr lang="en-US" sz="1600" b="1" dirty="0">
                <a:solidFill>
                  <a:schemeClr val="accent1"/>
                </a:solidFill>
                <a:cs typeface="Courier New" panose="02070309020205020404" pitchFamily="49" charset="0"/>
              </a:rPr>
              <a:t>Decode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 </a:t>
            </a:r>
            <a:r>
              <a:rPr lang="en-US" sz="1600" dirty="0">
                <a:cs typeface="Courier New" panose="02070309020205020404" pitchFamily="49" charset="0"/>
              </a:rPr>
              <a:t>the instruction (and read registers)</a:t>
            </a:r>
          </a:p>
          <a:p>
            <a:pPr lvl="1"/>
            <a:r>
              <a:rPr lang="en-US" sz="1600" b="1" dirty="0">
                <a:solidFill>
                  <a:schemeClr val="accent1"/>
                </a:solidFill>
                <a:cs typeface="Courier New" panose="02070309020205020404" pitchFamily="49" charset="0"/>
              </a:rPr>
              <a:t>Execute</a:t>
            </a:r>
            <a:r>
              <a:rPr lang="en-US" sz="1600" dirty="0">
                <a:solidFill>
                  <a:schemeClr val="accent1"/>
                </a:solidFill>
                <a:cs typeface="Courier New" panose="02070309020205020404" pitchFamily="49" charset="0"/>
              </a:rPr>
              <a:t> </a:t>
            </a:r>
            <a:r>
              <a:rPr lang="en-US" sz="1600" dirty="0">
                <a:cs typeface="Courier New" panose="02070309020205020404" pitchFamily="49" charset="0"/>
              </a:rPr>
              <a:t>the instruction</a:t>
            </a:r>
          </a:p>
          <a:p>
            <a:r>
              <a:rPr lang="en-US" sz="2000" dirty="0">
                <a:cs typeface="Courier New" panose="02070309020205020404" pitchFamily="49" charset="0"/>
              </a:rPr>
              <a:t>All instructions (except 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j</a:t>
            </a:r>
            <a:r>
              <a:rPr lang="en-US" sz="2000" dirty="0">
                <a:cs typeface="Courier New" panose="02070309020205020404" pitchFamily="49" charset="0"/>
              </a:rPr>
              <a:t>) use the ALU after reading the registers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Datapath and Control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6442351" y="1760719"/>
            <a:ext cx="2600980" cy="1628433"/>
            <a:chOff x="5911650" y="2785163"/>
            <a:chExt cx="2439000" cy="1452343"/>
          </a:xfrm>
        </p:grpSpPr>
        <p:sp>
          <p:nvSpPr>
            <p:cNvPr id="6" name="Oval 5"/>
            <p:cNvSpPr/>
            <p:nvPr/>
          </p:nvSpPr>
          <p:spPr>
            <a:xfrm>
              <a:off x="6554803" y="2785163"/>
              <a:ext cx="1152000" cy="648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27000" rtlCol="0" anchor="ctr" anchorCtr="1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Fetch</a:t>
              </a:r>
              <a:br>
                <a:rPr lang="en-US" sz="1200" dirty="0">
                  <a:solidFill>
                    <a:schemeClr val="tx1"/>
                  </a:solidFill>
                </a:rPr>
              </a:br>
              <a:r>
                <a:rPr lang="en-US" sz="1200" dirty="0">
                  <a:solidFill>
                    <a:schemeClr val="tx1"/>
                  </a:solidFill>
                </a:rPr>
                <a:t>PC=PC+4</a:t>
              </a:r>
            </a:p>
          </p:txBody>
        </p:sp>
        <p:sp>
          <p:nvSpPr>
            <p:cNvPr id="7" name="Oval 6"/>
            <p:cNvSpPr/>
            <p:nvPr/>
          </p:nvSpPr>
          <p:spPr>
            <a:xfrm>
              <a:off x="7486650" y="3799156"/>
              <a:ext cx="864000" cy="43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Decode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5911650" y="3799156"/>
              <a:ext cx="864000" cy="432000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1200" dirty="0">
                  <a:solidFill>
                    <a:schemeClr val="tx1"/>
                  </a:solidFill>
                </a:rPr>
                <a:t>Execute</a:t>
              </a:r>
            </a:p>
          </p:txBody>
        </p:sp>
        <p:cxnSp>
          <p:nvCxnSpPr>
            <p:cNvPr id="10" name="Straight Arrow Connector 9"/>
            <p:cNvCxnSpPr>
              <a:stCxn id="6" idx="6"/>
              <a:endCxn id="7" idx="0"/>
            </p:cNvCxnSpPr>
            <p:nvPr/>
          </p:nvCxnSpPr>
          <p:spPr>
            <a:xfrm>
              <a:off x="7706803" y="3109163"/>
              <a:ext cx="211847" cy="689993"/>
            </a:xfrm>
            <a:prstGeom prst="curved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9"/>
            <p:cNvCxnSpPr>
              <a:stCxn id="7" idx="4"/>
              <a:endCxn id="8" idx="4"/>
            </p:cNvCxnSpPr>
            <p:nvPr/>
          </p:nvCxnSpPr>
          <p:spPr>
            <a:xfrm rot="5400000">
              <a:off x="7131150" y="3443656"/>
              <a:ext cx="12700" cy="1575000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9"/>
            <p:cNvCxnSpPr>
              <a:stCxn id="8" idx="0"/>
              <a:endCxn id="6" idx="2"/>
            </p:cNvCxnSpPr>
            <p:nvPr/>
          </p:nvCxnSpPr>
          <p:spPr>
            <a:xfrm rot="5400000" flipH="1" flipV="1">
              <a:off x="6104230" y="3348584"/>
              <a:ext cx="689993" cy="211153"/>
            </a:xfrm>
            <a:prstGeom prst="curvedConnector2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C113C98-5158-47A3-A61C-1180EBC3BD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110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00588" y="2892163"/>
            <a:ext cx="3907382" cy="170500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6837" y="802208"/>
            <a:ext cx="8707771" cy="2167495"/>
          </a:xfrm>
        </p:spPr>
        <p:txBody>
          <a:bodyPr>
            <a:noAutofit/>
          </a:bodyPr>
          <a:lstStyle/>
          <a:p>
            <a:r>
              <a:rPr lang="en-US" sz="1600" dirty="0"/>
              <a:t>The clock methodology defines when data in a state element is valid and stable relative to the clock</a:t>
            </a:r>
          </a:p>
          <a:p>
            <a:pPr lvl="1"/>
            <a:r>
              <a:rPr lang="en-US" sz="1400" dirty="0"/>
              <a:t>State elements: A memory element such as a register</a:t>
            </a:r>
          </a:p>
          <a:p>
            <a:pPr lvl="1"/>
            <a:r>
              <a:rPr lang="en-US" sz="1400" dirty="0"/>
              <a:t>Edge-triggered: All state changes occur on a clock edge</a:t>
            </a:r>
          </a:p>
          <a:p>
            <a:r>
              <a:rPr lang="en-US" sz="1600" dirty="0"/>
              <a:t>Typical execution</a:t>
            </a:r>
          </a:p>
          <a:p>
            <a:pPr lvl="1"/>
            <a:r>
              <a:rPr lang="en-US" sz="1400" dirty="0"/>
              <a:t>Read contents of state elements </a:t>
            </a:r>
            <a:r>
              <a:rPr lang="en-US" sz="1400" dirty="0">
                <a:sym typeface="Wingdings" panose="05000000000000000000" pitchFamily="2" charset="2"/>
              </a:rPr>
              <a:t></a:t>
            </a:r>
            <a:r>
              <a:rPr lang="en-US" sz="1400" dirty="0"/>
              <a:t> send values through combinational logic </a:t>
            </a:r>
            <a:r>
              <a:rPr lang="en-US" sz="1400" dirty="0">
                <a:sym typeface="Wingdings" panose="05000000000000000000" pitchFamily="2" charset="2"/>
              </a:rPr>
              <a:t> </a:t>
            </a:r>
            <a:r>
              <a:rPr lang="en-US" sz="1400" dirty="0"/>
              <a:t>write results to one or more state elements</a:t>
            </a:r>
          </a:p>
          <a:p>
            <a:r>
              <a:rPr lang="en-US" sz="1600" dirty="0"/>
              <a:t>Assumes state elements are written on every clock cycle; if not, need explicit write control signal</a:t>
            </a:r>
          </a:p>
          <a:p>
            <a:pPr lvl="1"/>
            <a:r>
              <a:rPr lang="en-US" sz="1400" dirty="0"/>
              <a:t>Write occurs only when both the write control is asserted and the clock edge occurs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A9EDA-E258-44FC-B74A-41C9D6D2226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9091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Fetch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893" y="872870"/>
            <a:ext cx="5964572" cy="2776341"/>
          </a:xfrm>
        </p:spPr>
        <p:txBody>
          <a:bodyPr>
            <a:noAutofit/>
          </a:bodyPr>
          <a:lstStyle/>
          <a:p>
            <a:r>
              <a:rPr lang="en-US" sz="2000" dirty="0"/>
              <a:t>Fetch instructions involves</a:t>
            </a:r>
          </a:p>
          <a:p>
            <a:pPr lvl="1"/>
            <a:r>
              <a:rPr lang="en-US" sz="1800" dirty="0"/>
              <a:t>Read the instruction from the Instruction Memory</a:t>
            </a:r>
          </a:p>
          <a:p>
            <a:pPr lvl="1"/>
            <a:r>
              <a:rPr lang="en-US" sz="1800" dirty="0"/>
              <a:t>Update the PC value to be the address of the next (sequential) instruction</a:t>
            </a:r>
          </a:p>
          <a:p>
            <a:pPr lvl="1"/>
            <a:r>
              <a:rPr lang="en-US" sz="1800" dirty="0"/>
              <a:t>PC is updated every clock cycle, so it does not need an explicit write control signal just a clock signal</a:t>
            </a:r>
          </a:p>
          <a:p>
            <a:pPr lvl="1"/>
            <a:r>
              <a:rPr lang="en-US" sz="1800" dirty="0"/>
              <a:t>Read from the Instruction Memory is a combinational activity. It does not need an explicit read control signal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33592" y="2288852"/>
            <a:ext cx="3010407" cy="2257806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6894068" y="1099180"/>
            <a:ext cx="1414463" cy="842265"/>
            <a:chOff x="5911650" y="2785163"/>
            <a:chExt cx="2439000" cy="1452343"/>
          </a:xfrm>
        </p:grpSpPr>
        <p:sp>
          <p:nvSpPr>
            <p:cNvPr id="10" name="Oval 9"/>
            <p:cNvSpPr/>
            <p:nvPr/>
          </p:nvSpPr>
          <p:spPr>
            <a:xfrm>
              <a:off x="6554803" y="2785163"/>
              <a:ext cx="1152000" cy="648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27000" rtlCol="0" anchor="ctr" anchorCtr="1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Fetch</a:t>
              </a:r>
              <a:br>
                <a:rPr lang="en-US" sz="900" dirty="0">
                  <a:solidFill>
                    <a:schemeClr val="tx1"/>
                  </a:solidFill>
                </a:rPr>
              </a:br>
              <a:r>
                <a:rPr lang="en-US" sz="900" dirty="0">
                  <a:solidFill>
                    <a:schemeClr val="tx1"/>
                  </a:solidFill>
                </a:rPr>
                <a:t>PC=PC+4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486650" y="3799156"/>
              <a:ext cx="864000" cy="432000"/>
            </a:xfrm>
            <a:prstGeom prst="ellipse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Decode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911650" y="3799156"/>
              <a:ext cx="864000" cy="432000"/>
            </a:xfrm>
            <a:prstGeom prst="ellipse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Execute</a:t>
              </a:r>
            </a:p>
          </p:txBody>
        </p:sp>
        <p:cxnSp>
          <p:nvCxnSpPr>
            <p:cNvPr id="13" name="Straight Arrow Connector 9"/>
            <p:cNvCxnSpPr>
              <a:stCxn id="10" idx="6"/>
              <a:endCxn id="11" idx="0"/>
            </p:cNvCxnSpPr>
            <p:nvPr/>
          </p:nvCxnSpPr>
          <p:spPr>
            <a:xfrm>
              <a:off x="7706803" y="3109163"/>
              <a:ext cx="211847" cy="68999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9"/>
            <p:cNvCxnSpPr>
              <a:stCxn id="11" idx="4"/>
              <a:endCxn id="12" idx="4"/>
            </p:cNvCxnSpPr>
            <p:nvPr/>
          </p:nvCxnSpPr>
          <p:spPr>
            <a:xfrm rot="5400000">
              <a:off x="7131150" y="3443656"/>
              <a:ext cx="12700" cy="1575000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bg2">
                  <a:lumMod val="9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9"/>
            <p:cNvCxnSpPr>
              <a:stCxn id="12" idx="0"/>
              <a:endCxn id="10" idx="2"/>
            </p:cNvCxnSpPr>
            <p:nvPr/>
          </p:nvCxnSpPr>
          <p:spPr>
            <a:xfrm rot="5400000" flipH="1" flipV="1">
              <a:off x="6104230" y="3348584"/>
              <a:ext cx="689993" cy="211153"/>
            </a:xfrm>
            <a:prstGeom prst="curvedConnector2">
              <a:avLst/>
            </a:prstGeom>
            <a:ln w="12700">
              <a:solidFill>
                <a:schemeClr val="bg2">
                  <a:lumMod val="9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989DDF-52B7-4768-BB4D-8174DDFDA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38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450" y="830511"/>
            <a:ext cx="8162488" cy="1434518"/>
          </a:xfrm>
        </p:spPr>
        <p:txBody>
          <a:bodyPr>
            <a:normAutofit/>
          </a:bodyPr>
          <a:lstStyle/>
          <a:p>
            <a:r>
              <a:rPr lang="en-US" sz="2000" dirty="0"/>
              <a:t>Decode instructions involves</a:t>
            </a:r>
          </a:p>
          <a:p>
            <a:pPr lvl="1"/>
            <a:r>
              <a:rPr lang="en-US" altLang="zh-CN" sz="1800" dirty="0"/>
              <a:t>S</a:t>
            </a:r>
            <a:r>
              <a:rPr lang="en-US" sz="1800" dirty="0"/>
              <a:t>end the fetched instruction’s opcode and function field bits to the control unit</a:t>
            </a:r>
          </a:p>
          <a:p>
            <a:pPr lvl="1"/>
            <a:r>
              <a:rPr lang="en-US" sz="1800" dirty="0"/>
              <a:t>Read two values from the Registers</a:t>
            </a:r>
          </a:p>
          <a:p>
            <a:pPr lvl="2"/>
            <a:r>
              <a:rPr lang="en-US" sz="1600" dirty="0"/>
              <a:t>Register addresses are contained in the instruction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29121" y="2743420"/>
            <a:ext cx="1931151" cy="1300073"/>
            <a:chOff x="5911650" y="2785163"/>
            <a:chExt cx="2439000" cy="1452343"/>
          </a:xfrm>
        </p:grpSpPr>
        <p:sp>
          <p:nvSpPr>
            <p:cNvPr id="7" name="Oval 6"/>
            <p:cNvSpPr/>
            <p:nvPr/>
          </p:nvSpPr>
          <p:spPr>
            <a:xfrm>
              <a:off x="6554803" y="2785163"/>
              <a:ext cx="1152000" cy="648000"/>
            </a:xfrm>
            <a:prstGeom prst="ellipse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27000" rtlCol="0" anchor="ctr" anchorCtr="1"/>
            <a:lstStyle/>
            <a:p>
              <a:pPr algn="ctr"/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Fetch</a:t>
              </a:r>
              <a:b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</a:br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PC=PC+4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7486650" y="3799156"/>
              <a:ext cx="864000" cy="432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Decode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5911650" y="3799156"/>
              <a:ext cx="864000" cy="432000"/>
            </a:xfrm>
            <a:prstGeom prst="ellipse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Execute</a:t>
              </a:r>
            </a:p>
          </p:txBody>
        </p:sp>
        <p:cxnSp>
          <p:nvCxnSpPr>
            <p:cNvPr id="10" name="Straight Arrow Connector 9"/>
            <p:cNvCxnSpPr>
              <a:stCxn id="7" idx="6"/>
              <a:endCxn id="8" idx="0"/>
            </p:cNvCxnSpPr>
            <p:nvPr/>
          </p:nvCxnSpPr>
          <p:spPr>
            <a:xfrm>
              <a:off x="7706803" y="3109163"/>
              <a:ext cx="211847" cy="689993"/>
            </a:xfrm>
            <a:prstGeom prst="curvedConnector2">
              <a:avLst/>
            </a:prstGeom>
            <a:ln w="12700">
              <a:solidFill>
                <a:schemeClr val="bg2">
                  <a:lumMod val="9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9"/>
            <p:cNvCxnSpPr>
              <a:stCxn id="8" idx="4"/>
              <a:endCxn id="9" idx="4"/>
            </p:cNvCxnSpPr>
            <p:nvPr/>
          </p:nvCxnSpPr>
          <p:spPr>
            <a:xfrm rot="5400000">
              <a:off x="7131150" y="3443656"/>
              <a:ext cx="12700" cy="1575000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9"/>
            <p:cNvCxnSpPr>
              <a:stCxn id="9" idx="0"/>
              <a:endCxn id="7" idx="2"/>
            </p:cNvCxnSpPr>
            <p:nvPr/>
          </p:nvCxnSpPr>
          <p:spPr>
            <a:xfrm rot="5400000" flipH="1" flipV="1">
              <a:off x="6104230" y="3348584"/>
              <a:ext cx="689993" cy="211153"/>
            </a:xfrm>
            <a:prstGeom prst="curvedConnector2">
              <a:avLst/>
            </a:prstGeom>
            <a:ln w="12700">
              <a:solidFill>
                <a:schemeClr val="bg2">
                  <a:lumMod val="9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149594" y="2222843"/>
            <a:ext cx="2282507" cy="2346767"/>
          </a:xfrm>
          <a:prstGeom prst="rect">
            <a:avLst/>
          </a:prstGeom>
        </p:spPr>
      </p:pic>
      <p:sp>
        <p:nvSpPr>
          <p:cNvPr id="13" name="灯片编号占位符 12">
            <a:extLst>
              <a:ext uri="{FF2B5EF4-FFF2-40B4-BE49-F238E27FC236}">
                <a16:creationId xmlns:a16="http://schemas.microsoft.com/office/drawing/2014/main" id="{18F91388-3735-4838-90AA-D7128AC69A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373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Read Registers “Just in Case”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119" y="844153"/>
            <a:ext cx="7894041" cy="2830225"/>
          </a:xfrm>
        </p:spPr>
        <p:txBody>
          <a:bodyPr>
            <a:normAutofit/>
          </a:bodyPr>
          <a:lstStyle/>
          <a:p>
            <a:r>
              <a:rPr lang="en-US" dirty="0"/>
              <a:t>Note that both read ports of the Registers are active for all instructions during the decode cycle, using the </a:t>
            </a:r>
            <a:r>
              <a:rPr lang="en-US" dirty="0" err="1"/>
              <a:t>rs</a:t>
            </a:r>
            <a:r>
              <a:rPr lang="en-US" dirty="0"/>
              <a:t> and </a:t>
            </a:r>
            <a:r>
              <a:rPr lang="en-US" dirty="0" err="1"/>
              <a:t>rt</a:t>
            </a:r>
            <a:r>
              <a:rPr lang="en-US" dirty="0"/>
              <a:t> instruction field addresses</a:t>
            </a:r>
          </a:p>
          <a:p>
            <a:pPr lvl="1"/>
            <a:r>
              <a:rPr lang="en-US" dirty="0"/>
              <a:t>Since haven’t decoded the instruction yet, don’t know what the instruction is</a:t>
            </a:r>
          </a:p>
          <a:p>
            <a:pPr lvl="1"/>
            <a:r>
              <a:rPr lang="en-US" dirty="0"/>
              <a:t>Just in case the instruction uses values from the Registers do “work ahead” by reading the two source operands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8634A9-882D-4163-A84B-0B0CB024C1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5782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069" y="807007"/>
            <a:ext cx="7323588" cy="3823715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>
                <a:latin typeface="+mn-lt"/>
              </a:rPr>
              <a:t>R format operations (add, sub, </a:t>
            </a:r>
            <a:r>
              <a:rPr lang="en-US" sz="2000" dirty="0" err="1">
                <a:latin typeface="+mn-lt"/>
              </a:rPr>
              <a:t>slt</a:t>
            </a:r>
            <a:r>
              <a:rPr lang="en-US" sz="2000" dirty="0">
                <a:latin typeface="+mn-lt"/>
              </a:rPr>
              <a:t>, and, or)</a:t>
            </a:r>
          </a:p>
          <a:p>
            <a:pPr lvl="1"/>
            <a:endParaRPr lang="en-US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r>
              <a:rPr lang="en-US" sz="1700" dirty="0">
                <a:latin typeface="+mn-lt"/>
              </a:rPr>
              <a:t>Perform operation (</a:t>
            </a:r>
            <a:r>
              <a:rPr lang="en-US" sz="1700" b="1" dirty="0">
                <a:solidFill>
                  <a:schemeClr val="accent1"/>
                </a:solidFill>
                <a:latin typeface="+mn-lt"/>
              </a:rPr>
              <a:t>op</a:t>
            </a:r>
            <a:r>
              <a:rPr lang="en-US" sz="170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700" dirty="0">
                <a:latin typeface="+mn-lt"/>
              </a:rPr>
              <a:t>and </a:t>
            </a:r>
            <a:r>
              <a:rPr lang="en-US" sz="1700" b="1" dirty="0" err="1">
                <a:solidFill>
                  <a:schemeClr val="accent1"/>
                </a:solidFill>
                <a:latin typeface="+mn-lt"/>
              </a:rPr>
              <a:t>funct</a:t>
            </a:r>
            <a:r>
              <a:rPr lang="en-US" sz="1700" dirty="0">
                <a:latin typeface="+mn-lt"/>
              </a:rPr>
              <a:t>) on values in </a:t>
            </a:r>
            <a:r>
              <a:rPr lang="en-US" sz="1700" b="1" dirty="0" err="1">
                <a:solidFill>
                  <a:schemeClr val="accent1"/>
                </a:solidFill>
                <a:latin typeface="+mn-lt"/>
              </a:rPr>
              <a:t>rs</a:t>
            </a:r>
            <a:r>
              <a:rPr lang="en-US" sz="1700" dirty="0">
                <a:solidFill>
                  <a:schemeClr val="accent1"/>
                </a:solidFill>
                <a:latin typeface="+mn-lt"/>
              </a:rPr>
              <a:t> </a:t>
            </a:r>
            <a:r>
              <a:rPr lang="en-US" sz="1700" dirty="0">
                <a:latin typeface="+mn-lt"/>
              </a:rPr>
              <a:t>and </a:t>
            </a:r>
            <a:r>
              <a:rPr lang="en-US" sz="1700" b="1" dirty="0">
                <a:solidFill>
                  <a:schemeClr val="accent1"/>
                </a:solidFill>
                <a:latin typeface="+mn-lt"/>
              </a:rPr>
              <a:t>rt</a:t>
            </a:r>
          </a:p>
          <a:p>
            <a:pPr lvl="1"/>
            <a:r>
              <a:rPr lang="en-US" sz="1700" dirty="0">
                <a:latin typeface="+mn-lt"/>
              </a:rPr>
              <a:t>Store the result back into the Registers (into location </a:t>
            </a:r>
            <a:r>
              <a:rPr lang="en-US" sz="1700" b="1" dirty="0" err="1">
                <a:solidFill>
                  <a:schemeClr val="accent1"/>
                </a:solidFill>
                <a:latin typeface="+mn-lt"/>
              </a:rPr>
              <a:t>rd</a:t>
            </a:r>
            <a:r>
              <a:rPr lang="en-US" sz="1700" dirty="0">
                <a:latin typeface="+mn-lt"/>
              </a:rPr>
              <a:t>)</a:t>
            </a: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endParaRPr lang="en-US" sz="1500" dirty="0">
              <a:latin typeface="+mn-lt"/>
            </a:endParaRPr>
          </a:p>
          <a:p>
            <a:pPr lvl="1"/>
            <a:r>
              <a:rPr lang="en-US" sz="1700" dirty="0">
                <a:latin typeface="+mn-lt"/>
              </a:rPr>
              <a:t>Note that register is not written every cycle (e.g. </a:t>
            </a:r>
            <a:r>
              <a:rPr lang="en-US" sz="1700" dirty="0" err="1">
                <a:latin typeface="+mn-lt"/>
                <a:cs typeface="Courier New" panose="02070309020205020404" pitchFamily="49" charset="0"/>
              </a:rPr>
              <a:t>sw</a:t>
            </a:r>
            <a:r>
              <a:rPr lang="en-US" sz="1700" dirty="0">
                <a:latin typeface="+mn-lt"/>
              </a:rPr>
              <a:t>), so we need an explicit write control signal for the Registers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R Format Operations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1423083" y="1282361"/>
            <a:ext cx="5035618" cy="457952"/>
            <a:chOff x="1297643" y="4766987"/>
            <a:chExt cx="6714157" cy="610602"/>
          </a:xfrm>
        </p:grpSpPr>
        <p:grpSp>
          <p:nvGrpSpPr>
            <p:cNvPr id="11" name="Group 10"/>
            <p:cNvGrpSpPr/>
            <p:nvPr/>
          </p:nvGrpSpPr>
          <p:grpSpPr>
            <a:xfrm>
              <a:off x="2421721" y="5038352"/>
              <a:ext cx="5393859" cy="252000"/>
              <a:chOff x="1911871" y="5106088"/>
              <a:chExt cx="5393859" cy="252000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1911871" y="5106088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21" name="Rectangle 20"/>
              <p:cNvSpPr/>
              <p:nvPr/>
            </p:nvSpPr>
            <p:spPr>
              <a:xfrm>
                <a:off x="3028950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rs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3885118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rt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4740271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rd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5595424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shamt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6450577" y="5106088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 err="1">
                    <a:solidFill>
                      <a:schemeClr val="tx1"/>
                    </a:solidFill>
                  </a:rPr>
                  <a:t>funct</a:t>
                </a:r>
                <a:endParaRPr lang="en-US" sz="105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1297643" y="4977480"/>
              <a:ext cx="1131079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R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55978" y="4766987"/>
              <a:ext cx="56558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tabLst>
                  <a:tab pos="840581" algn="l"/>
                  <a:tab pos="1473994" algn="l"/>
                  <a:tab pos="2120504" algn="l"/>
                  <a:tab pos="2759869" algn="l"/>
                  <a:tab pos="3394472" algn="l"/>
                  <a:tab pos="3943350" algn="l"/>
                </a:tabLst>
              </a:pPr>
              <a:r>
                <a:rPr lang="en-US" sz="1050" dirty="0"/>
                <a:t>31	25	20	15	10	5	0</a:t>
              </a:r>
            </a:p>
          </p:txBody>
        </p:sp>
      </p:grpSp>
      <p:pic>
        <p:nvPicPr>
          <p:cNvPr id="40" name="Picture 39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06709" y="2592153"/>
            <a:ext cx="3019613" cy="1415355"/>
          </a:xfrm>
          <a:prstGeom prst="rect">
            <a:avLst/>
          </a:prstGeom>
        </p:spPr>
      </p:pic>
      <p:grpSp>
        <p:nvGrpSpPr>
          <p:cNvPr id="41" name="Group 40"/>
          <p:cNvGrpSpPr/>
          <p:nvPr/>
        </p:nvGrpSpPr>
        <p:grpSpPr>
          <a:xfrm>
            <a:off x="2281806" y="2688795"/>
            <a:ext cx="1533567" cy="1010750"/>
            <a:chOff x="5911650" y="2785163"/>
            <a:chExt cx="2439000" cy="1452343"/>
          </a:xfrm>
        </p:grpSpPr>
        <p:sp>
          <p:nvSpPr>
            <p:cNvPr id="42" name="Oval 41"/>
            <p:cNvSpPr/>
            <p:nvPr/>
          </p:nvSpPr>
          <p:spPr>
            <a:xfrm>
              <a:off x="6554803" y="2785163"/>
              <a:ext cx="1152000" cy="648000"/>
            </a:xfrm>
            <a:prstGeom prst="ellipse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27000" rtlCol="0" anchor="ctr" anchorCtr="1"/>
            <a:lstStyle/>
            <a:p>
              <a:pPr algn="ctr"/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Fetch</a:t>
              </a:r>
              <a:b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</a:br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PC=PC+4</a:t>
              </a:r>
            </a:p>
          </p:txBody>
        </p:sp>
        <p:sp>
          <p:nvSpPr>
            <p:cNvPr id="43" name="Oval 42"/>
            <p:cNvSpPr/>
            <p:nvPr/>
          </p:nvSpPr>
          <p:spPr>
            <a:xfrm>
              <a:off x="7486650" y="3799156"/>
              <a:ext cx="864000" cy="432000"/>
            </a:xfrm>
            <a:prstGeom prst="ellipse">
              <a:avLst/>
            </a:prstGeom>
            <a:noFill/>
            <a:ln w="1270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900" dirty="0">
                  <a:solidFill>
                    <a:schemeClr val="bg2">
                      <a:lumMod val="90000"/>
                    </a:schemeClr>
                  </a:solidFill>
                </a:rPr>
                <a:t>Decode</a:t>
              </a:r>
            </a:p>
          </p:txBody>
        </p:sp>
        <p:sp>
          <p:nvSpPr>
            <p:cNvPr id="44" name="Oval 43"/>
            <p:cNvSpPr/>
            <p:nvPr/>
          </p:nvSpPr>
          <p:spPr>
            <a:xfrm>
              <a:off x="5911650" y="3799156"/>
              <a:ext cx="864000" cy="432000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1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</a:rPr>
                <a:t>Execute</a:t>
              </a:r>
            </a:p>
          </p:txBody>
        </p:sp>
        <p:cxnSp>
          <p:nvCxnSpPr>
            <p:cNvPr id="45" name="Straight Arrow Connector 9"/>
            <p:cNvCxnSpPr>
              <a:stCxn id="42" idx="6"/>
              <a:endCxn id="43" idx="0"/>
            </p:cNvCxnSpPr>
            <p:nvPr/>
          </p:nvCxnSpPr>
          <p:spPr>
            <a:xfrm>
              <a:off x="7706803" y="3109163"/>
              <a:ext cx="211847" cy="689993"/>
            </a:xfrm>
            <a:prstGeom prst="curvedConnector2">
              <a:avLst/>
            </a:prstGeom>
            <a:ln w="12700">
              <a:solidFill>
                <a:schemeClr val="bg2">
                  <a:lumMod val="9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9"/>
            <p:cNvCxnSpPr>
              <a:stCxn id="43" idx="4"/>
              <a:endCxn id="44" idx="4"/>
            </p:cNvCxnSpPr>
            <p:nvPr/>
          </p:nvCxnSpPr>
          <p:spPr>
            <a:xfrm rot="5400000">
              <a:off x="7131150" y="3443656"/>
              <a:ext cx="12700" cy="1575000"/>
            </a:xfrm>
            <a:prstGeom prst="curvedConnector3">
              <a:avLst>
                <a:gd name="adj1" fmla="val 1800000"/>
              </a:avLst>
            </a:prstGeom>
            <a:ln w="12700">
              <a:solidFill>
                <a:schemeClr val="bg2">
                  <a:lumMod val="90000"/>
                </a:schemeClr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9"/>
            <p:cNvCxnSpPr>
              <a:stCxn id="44" idx="0"/>
              <a:endCxn id="42" idx="2"/>
            </p:cNvCxnSpPr>
            <p:nvPr/>
          </p:nvCxnSpPr>
          <p:spPr>
            <a:xfrm rot="5400000" flipH="1" flipV="1">
              <a:off x="6104230" y="3348584"/>
              <a:ext cx="689993" cy="211153"/>
            </a:xfrm>
            <a:prstGeom prst="curvedConnector2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3868C8-C007-430F-9E07-B8422A0AC6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8713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284" y="818986"/>
            <a:ext cx="8263156" cy="2914115"/>
          </a:xfrm>
        </p:spPr>
        <p:txBody>
          <a:bodyPr>
            <a:normAutofit/>
          </a:bodyPr>
          <a:lstStyle/>
          <a:p>
            <a:r>
              <a:rPr lang="en-US" sz="2000" dirty="0"/>
              <a:t>Load and store operations have to</a:t>
            </a:r>
          </a:p>
          <a:p>
            <a:pPr lvl="1"/>
            <a:r>
              <a:rPr lang="en-US" sz="1800" dirty="0"/>
              <a:t>Compute a memory address by adding the base register (in </a:t>
            </a:r>
            <a:r>
              <a:rPr lang="en-US" sz="1800" b="1" dirty="0" err="1">
                <a:solidFill>
                  <a:schemeClr val="accent1"/>
                </a:solidFill>
              </a:rPr>
              <a:t>rs</a:t>
            </a:r>
            <a:r>
              <a:rPr lang="en-US" sz="1800" dirty="0"/>
              <a:t>) to the 16-bit signed offset field in the instruction</a:t>
            </a:r>
          </a:p>
          <a:p>
            <a:pPr lvl="2"/>
            <a:r>
              <a:rPr lang="en-US" sz="1600" dirty="0"/>
              <a:t>base register was read from the Registers during decode</a:t>
            </a:r>
          </a:p>
          <a:p>
            <a:pPr lvl="2"/>
            <a:r>
              <a:rPr lang="en-US" sz="1600" dirty="0"/>
              <a:t>offset value in the low order 16 bits of the instruction, must be </a:t>
            </a:r>
            <a:r>
              <a:rPr lang="en-US" sz="1600" b="1" dirty="0">
                <a:solidFill>
                  <a:schemeClr val="accent1"/>
                </a:solidFill>
              </a:rPr>
              <a:t>sign-extended</a:t>
            </a:r>
            <a:r>
              <a:rPr lang="en-US" sz="1600" dirty="0"/>
              <a:t> to create a </a:t>
            </a:r>
            <a:r>
              <a:rPr lang="en-US" sz="1600" b="1" dirty="0">
                <a:solidFill>
                  <a:schemeClr val="accent1"/>
                </a:solidFill>
              </a:rPr>
              <a:t>32-bit </a:t>
            </a:r>
            <a:r>
              <a:rPr lang="en-US" sz="1600" dirty="0"/>
              <a:t>signed value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Store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value, read from the Registers during decode, must be written to the Data Memory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Load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value, read from the Data Memory, must be stored in the Registers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Execute Load and Store Operations (1)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2047680" y="3741489"/>
            <a:ext cx="5128979" cy="652536"/>
            <a:chOff x="5245496" y="1079034"/>
            <a:chExt cx="6513434" cy="462208"/>
          </a:xfrm>
        </p:grpSpPr>
        <p:grpSp>
          <p:nvGrpSpPr>
            <p:cNvPr id="12" name="Group 11"/>
            <p:cNvGrpSpPr/>
            <p:nvPr/>
          </p:nvGrpSpPr>
          <p:grpSpPr>
            <a:xfrm>
              <a:off x="6365071" y="1289242"/>
              <a:ext cx="5393859" cy="252000"/>
              <a:chOff x="1911871" y="5536856"/>
              <a:chExt cx="5393859" cy="252000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1911871" y="5536856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>
                <a:off x="3027935" y="5536856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 err="1">
                    <a:solidFill>
                      <a:schemeClr val="tx1"/>
                    </a:solidFill>
                  </a:rPr>
                  <a:t>rs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Rectangle 17"/>
              <p:cNvSpPr/>
              <p:nvPr/>
            </p:nvSpPr>
            <p:spPr>
              <a:xfrm>
                <a:off x="3884103" y="5536856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 err="1">
                    <a:solidFill>
                      <a:schemeClr val="tx1"/>
                    </a:solidFill>
                  </a:rPr>
                  <a:t>rt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740271" y="5536856"/>
                <a:ext cx="2565459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offset</a:t>
                </a:r>
              </a:p>
            </p:txBody>
          </p:sp>
        </p:grpSp>
        <p:sp>
          <p:nvSpPr>
            <p:cNvPr id="9" name="TextBox 8"/>
            <p:cNvSpPr txBox="1"/>
            <p:nvPr/>
          </p:nvSpPr>
          <p:spPr>
            <a:xfrm>
              <a:off x="5245496" y="1224682"/>
              <a:ext cx="1122078" cy="2398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</a:rPr>
                <a:t>I</a:t>
              </a:r>
              <a:r>
                <a:rPr lang="en-US" sz="1600" dirty="0">
                  <a:solidFill>
                    <a:schemeClr val="accent1"/>
                  </a:solidFill>
                </a:rPr>
                <a:t> </a:t>
              </a:r>
              <a:r>
                <a:rPr lang="en-US" sz="1600" dirty="0"/>
                <a:t>format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6299522" y="1079034"/>
              <a:ext cx="5417400" cy="21800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tabLst>
                  <a:tab pos="840581" algn="l"/>
                  <a:tab pos="1473994" algn="l"/>
                  <a:tab pos="2120504" algn="l"/>
                  <a:tab pos="2759869" algn="l"/>
                  <a:tab pos="3394472" algn="l"/>
                  <a:tab pos="3943350" algn="l"/>
                </a:tabLst>
              </a:pPr>
              <a:r>
                <a:rPr lang="en-US" sz="1400" dirty="0"/>
                <a:t>31	25	20	15			0</a:t>
              </a: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30640F-D1CE-491E-ABE1-10BBF4453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4179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7957" y="108349"/>
            <a:ext cx="7727734" cy="519113"/>
          </a:xfrm>
        </p:spPr>
        <p:txBody>
          <a:bodyPr>
            <a:normAutofit fontScale="90000"/>
          </a:bodyPr>
          <a:lstStyle/>
          <a:p>
            <a:r>
              <a:rPr lang="en-US" dirty="0"/>
              <a:t>Execute Load and Store Operations (2)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82180" y="906011"/>
            <a:ext cx="7411631" cy="3600124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AE9FC2C-19B4-461C-8969-6B87362F6A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54712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1069203" y="772202"/>
            <a:ext cx="7454012" cy="3095123"/>
          </a:xfrm>
        </p:spPr>
        <p:txBody>
          <a:bodyPr>
            <a:normAutofit/>
          </a:bodyPr>
          <a:lstStyle/>
          <a:p>
            <a:r>
              <a:rPr lang="en-US" dirty="0"/>
              <a:t>Branch operations have to</a:t>
            </a:r>
          </a:p>
          <a:p>
            <a:pPr lvl="1"/>
            <a:r>
              <a:rPr lang="en-US" dirty="0"/>
              <a:t>Compare the operands read from the Registers during decode (</a:t>
            </a:r>
            <a:r>
              <a:rPr lang="en-US" b="1" dirty="0" err="1">
                <a:solidFill>
                  <a:schemeClr val="accent1"/>
                </a:solidFill>
              </a:rPr>
              <a:t>rs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1"/>
                </a:solidFill>
              </a:rPr>
              <a:t>rt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values) for equality (</a:t>
            </a:r>
            <a:r>
              <a:rPr lang="en-US" b="1" dirty="0">
                <a:solidFill>
                  <a:schemeClr val="accent1"/>
                </a:solidFill>
              </a:rPr>
              <a:t>zero </a:t>
            </a:r>
            <a:r>
              <a:rPr lang="en-US" dirty="0"/>
              <a:t>ALU output)</a:t>
            </a:r>
          </a:p>
          <a:p>
            <a:pPr lvl="1"/>
            <a:r>
              <a:rPr lang="en-US" dirty="0"/>
              <a:t>Compute the branch target address by adding the updated PC to the </a:t>
            </a:r>
            <a:r>
              <a:rPr lang="en-US" b="1" dirty="0">
                <a:solidFill>
                  <a:schemeClr val="accent1"/>
                </a:solidFill>
              </a:rPr>
              <a:t>sign-extended 16-bit</a:t>
            </a:r>
            <a:r>
              <a:rPr lang="en-US" dirty="0"/>
              <a:t> offset field in the instruction</a:t>
            </a:r>
          </a:p>
          <a:p>
            <a:pPr lvl="2"/>
            <a:r>
              <a:rPr lang="en-US" dirty="0"/>
              <a:t>“base register” is the </a:t>
            </a:r>
            <a:r>
              <a:rPr lang="en-US" b="1" dirty="0">
                <a:solidFill>
                  <a:schemeClr val="accent1"/>
                </a:solidFill>
              </a:rPr>
              <a:t>updated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/>
              <a:t>PC</a:t>
            </a:r>
          </a:p>
          <a:p>
            <a:pPr lvl="2"/>
            <a:r>
              <a:rPr lang="en-US" dirty="0"/>
              <a:t>Offset value in the low order 16 bits of the instruction must be sign extended to create a 32-bit signed value and then </a:t>
            </a:r>
            <a:r>
              <a:rPr lang="en-US" b="1" dirty="0">
                <a:solidFill>
                  <a:schemeClr val="accent1"/>
                </a:solidFill>
              </a:rPr>
              <a:t>shifted left 2 bits </a:t>
            </a:r>
            <a:r>
              <a:rPr lang="en-US" dirty="0"/>
              <a:t>to turn it into a word address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/>
          <a:p>
            <a:r>
              <a:rPr lang="en-US" dirty="0"/>
              <a:t>Execute Branch Operations (1)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120137" y="3808603"/>
            <a:ext cx="5614513" cy="719089"/>
            <a:chOff x="5273602" y="1098174"/>
            <a:chExt cx="6772822" cy="443068"/>
          </a:xfrm>
        </p:grpSpPr>
        <p:grpSp>
          <p:nvGrpSpPr>
            <p:cNvPr id="7" name="Group 6"/>
            <p:cNvGrpSpPr/>
            <p:nvPr/>
          </p:nvGrpSpPr>
          <p:grpSpPr>
            <a:xfrm>
              <a:off x="6365071" y="1289242"/>
              <a:ext cx="5393859" cy="252000"/>
              <a:chOff x="1911871" y="5536856"/>
              <a:chExt cx="5393859" cy="252000"/>
            </a:xfrm>
          </p:grpSpPr>
          <p:sp>
            <p:nvSpPr>
              <p:cNvPr id="10" name="Rectangle 9"/>
              <p:cNvSpPr/>
              <p:nvPr/>
            </p:nvSpPr>
            <p:spPr>
              <a:xfrm>
                <a:off x="1911871" y="5536856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11" name="Rectangle 10"/>
              <p:cNvSpPr/>
              <p:nvPr/>
            </p:nvSpPr>
            <p:spPr>
              <a:xfrm>
                <a:off x="3027935" y="5536856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 err="1">
                    <a:solidFill>
                      <a:schemeClr val="tx1"/>
                    </a:solidFill>
                  </a:rPr>
                  <a:t>rs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/>
              <p:cNvSpPr/>
              <p:nvPr/>
            </p:nvSpPr>
            <p:spPr>
              <a:xfrm>
                <a:off x="3884103" y="5536856"/>
                <a:ext cx="85515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 err="1">
                    <a:solidFill>
                      <a:schemeClr val="tx1"/>
                    </a:solidFill>
                  </a:rPr>
                  <a:t>rt</a:t>
                </a:r>
                <a:endParaRPr lang="en-US" sz="16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740271" y="5536856"/>
                <a:ext cx="2565459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offset</a:t>
                </a:r>
              </a:p>
            </p:txBody>
          </p:sp>
        </p:grpSp>
        <p:sp>
          <p:nvSpPr>
            <p:cNvPr id="8" name="TextBox 7"/>
            <p:cNvSpPr txBox="1"/>
            <p:nvPr/>
          </p:nvSpPr>
          <p:spPr>
            <a:xfrm>
              <a:off x="5273602" y="1224682"/>
              <a:ext cx="1065863" cy="2988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1"/>
                  </a:solidFill>
                </a:rPr>
                <a:t>I</a:t>
              </a:r>
              <a:r>
                <a:rPr lang="en-US" sz="1600" dirty="0">
                  <a:solidFill>
                    <a:schemeClr val="accent1"/>
                  </a:solidFill>
                </a:rPr>
                <a:t> </a:t>
              </a:r>
              <a:r>
                <a:rPr lang="en-US" sz="1600" dirty="0"/>
                <a:t>format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299523" y="1098174"/>
              <a:ext cx="5746901" cy="2086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tabLst>
                  <a:tab pos="840581" algn="l"/>
                  <a:tab pos="1473994" algn="l"/>
                  <a:tab pos="2120504" algn="l"/>
                  <a:tab pos="2759869" algn="l"/>
                  <a:tab pos="3394472" algn="l"/>
                  <a:tab pos="3943350" algn="l"/>
                </a:tabLst>
              </a:pPr>
              <a:r>
                <a:rPr lang="en-US" sz="1600" dirty="0"/>
                <a:t>31	 25	  20	   15			      0</a:t>
              </a:r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C6144BF-592A-47D9-ABDE-32F7EFECD7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623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90" y="108349"/>
            <a:ext cx="7677400" cy="519113"/>
          </a:xfrm>
        </p:spPr>
        <p:txBody>
          <a:bodyPr/>
          <a:lstStyle/>
          <a:p>
            <a:r>
              <a:rPr lang="en-US" dirty="0"/>
              <a:t>Executing Branch Operations (2)</a:t>
            </a:r>
          </a:p>
        </p:txBody>
      </p:sp>
      <p:pic>
        <p:nvPicPr>
          <p:cNvPr id="96" name="Picture 95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97621" y="832175"/>
            <a:ext cx="7273255" cy="3765842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0FC995D0-2A35-4328-B441-D2E7EF75309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4539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Execute Jump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7288" y="844153"/>
            <a:ext cx="7839512" cy="3671888"/>
          </a:xfrm>
        </p:spPr>
        <p:txBody>
          <a:bodyPr/>
          <a:lstStyle/>
          <a:p>
            <a:r>
              <a:rPr lang="en-US" dirty="0"/>
              <a:t>Jump operations have to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Replace the lower 28 bits of the PC with the lower 26 bits of the fetched instruction shifted left by 2 bits</a:t>
            </a:r>
          </a:p>
          <a:p>
            <a:endParaRPr lang="en-US" dirty="0"/>
          </a:p>
        </p:txBody>
      </p:sp>
      <p:grpSp>
        <p:nvGrpSpPr>
          <p:cNvPr id="27" name="Group 26"/>
          <p:cNvGrpSpPr/>
          <p:nvPr/>
        </p:nvGrpSpPr>
        <p:grpSpPr>
          <a:xfrm>
            <a:off x="2083927" y="1389704"/>
            <a:ext cx="5016808" cy="431572"/>
            <a:chOff x="1316879" y="5422800"/>
            <a:chExt cx="6689077" cy="575429"/>
          </a:xfrm>
        </p:grpSpPr>
        <p:grpSp>
          <p:nvGrpSpPr>
            <p:cNvPr id="13" name="Group 12"/>
            <p:cNvGrpSpPr/>
            <p:nvPr/>
          </p:nvGrpSpPr>
          <p:grpSpPr>
            <a:xfrm>
              <a:off x="2421721" y="5684840"/>
              <a:ext cx="5393859" cy="252000"/>
              <a:chOff x="1911871" y="5967625"/>
              <a:chExt cx="5393859" cy="252000"/>
            </a:xfrm>
          </p:grpSpPr>
          <p:sp>
            <p:nvSpPr>
              <p:cNvPr id="14" name="Rectangle 13"/>
              <p:cNvSpPr/>
              <p:nvPr/>
            </p:nvSpPr>
            <p:spPr>
              <a:xfrm>
                <a:off x="1911871" y="5967625"/>
                <a:ext cx="1117603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op</a:t>
                </a:r>
              </a:p>
            </p:txBody>
          </p:sp>
          <p:sp>
            <p:nvSpPr>
              <p:cNvPr id="15" name="Rectangle 14"/>
              <p:cNvSpPr/>
              <p:nvPr/>
            </p:nvSpPr>
            <p:spPr>
              <a:xfrm>
                <a:off x="3029965" y="5967625"/>
                <a:ext cx="4275765" cy="2520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050" dirty="0">
                    <a:solidFill>
                      <a:schemeClr val="tx1"/>
                    </a:solidFill>
                  </a:rPr>
                  <a:t>jump target address</a:t>
                </a: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>
              <a:off x="1316879" y="5598120"/>
              <a:ext cx="1092607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350" b="1" dirty="0">
                  <a:solidFill>
                    <a:schemeClr val="accent1"/>
                  </a:solidFill>
                </a:rPr>
                <a:t>J</a:t>
              </a:r>
              <a:r>
                <a:rPr lang="en-US" sz="1350" dirty="0">
                  <a:solidFill>
                    <a:schemeClr val="accent1"/>
                  </a:solidFill>
                </a:rPr>
                <a:t> </a:t>
              </a:r>
              <a:r>
                <a:rPr lang="en-US" sz="1350" dirty="0"/>
                <a:t>format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350134" y="5422800"/>
              <a:ext cx="56558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tabLst>
                  <a:tab pos="840581" algn="l"/>
                  <a:tab pos="1473994" algn="l"/>
                  <a:tab pos="2120504" algn="l"/>
                  <a:tab pos="2759869" algn="l"/>
                  <a:tab pos="3394472" algn="l"/>
                  <a:tab pos="3943350" algn="l"/>
                </a:tabLst>
              </a:pPr>
              <a:r>
                <a:rPr lang="en-US" sz="1050" dirty="0"/>
                <a:t>31	25					0</a:t>
              </a:r>
            </a:p>
          </p:txBody>
        </p:sp>
      </p:grpSp>
      <p:pic>
        <p:nvPicPr>
          <p:cNvPr id="53" name="Picture 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362" y="2879025"/>
            <a:ext cx="4764946" cy="1700554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5A9BA3-A3BA-4582-B76A-945D5D2F5C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753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Create a Single Datapath from the Parts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0235" y="844153"/>
            <a:ext cx="7147420" cy="3671888"/>
          </a:xfrm>
        </p:spPr>
        <p:txBody>
          <a:bodyPr>
            <a:noAutofit/>
          </a:bodyPr>
          <a:lstStyle/>
          <a:p>
            <a:r>
              <a:rPr lang="en-US" sz="2000" dirty="0"/>
              <a:t>Assemble the </a:t>
            </a:r>
            <a:r>
              <a:rPr lang="en-US" sz="2000" dirty="0" err="1"/>
              <a:t>datapath</a:t>
            </a:r>
            <a:r>
              <a:rPr lang="en-US" sz="2000" dirty="0"/>
              <a:t> segments and add control lines and multiplexors as needed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Single-cycle</a:t>
            </a:r>
            <a:r>
              <a:rPr lang="en-US" sz="2000" dirty="0"/>
              <a:t> design – fetch, decode and execute each instructions in one clock cycle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No </a:t>
            </a:r>
            <a:r>
              <a:rPr lang="en-US" sz="1800" b="1" dirty="0" err="1">
                <a:solidFill>
                  <a:schemeClr val="accent1"/>
                </a:solidFill>
              </a:rPr>
              <a:t>datapath</a:t>
            </a:r>
            <a:r>
              <a:rPr lang="en-US" sz="1800" b="1" dirty="0">
                <a:solidFill>
                  <a:schemeClr val="accent1"/>
                </a:solidFill>
              </a:rPr>
              <a:t> resource</a:t>
            </a:r>
            <a:r>
              <a:rPr lang="en-US" sz="1800" dirty="0"/>
              <a:t> can be used more than once per instruction, so some must be duplicated (e.g., separate Instruction Memory and Data Memory, several adders)</a:t>
            </a:r>
          </a:p>
          <a:p>
            <a:pPr lvl="1"/>
            <a:r>
              <a:rPr lang="en-US" sz="1800" b="1" dirty="0">
                <a:solidFill>
                  <a:schemeClr val="accent1"/>
                </a:solidFill>
              </a:rPr>
              <a:t>Multiplexors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needed at the input of shared elements with control lines to do the selection</a:t>
            </a:r>
          </a:p>
          <a:p>
            <a:pPr lvl="1"/>
            <a:r>
              <a:rPr lang="en-US" sz="1800" dirty="0"/>
              <a:t>write signals to control writing to the Register File and Data Memory</a:t>
            </a:r>
          </a:p>
          <a:p>
            <a:r>
              <a:rPr lang="en-US" sz="2000" b="1" dirty="0">
                <a:solidFill>
                  <a:schemeClr val="accent1"/>
                </a:solidFill>
              </a:rPr>
              <a:t>Cycle time</a:t>
            </a:r>
            <a:r>
              <a:rPr lang="en-US" sz="2000" dirty="0"/>
              <a:t> is determined by length of the longest path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6DD1EE7-BB98-4A2F-AEF3-04B6979FFC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773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8062354" cy="519113"/>
          </a:xfrm>
        </p:spPr>
        <p:txBody>
          <a:bodyPr>
            <a:noAutofit/>
          </a:bodyPr>
          <a:lstStyle/>
          <a:p>
            <a:r>
              <a:rPr lang="en-US" dirty="0" err="1"/>
              <a:t>Datapath</a:t>
            </a:r>
            <a:r>
              <a:rPr lang="en-US" dirty="0"/>
              <a:t> for R-type and Memory Instructions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53510" y="796955"/>
            <a:ext cx="7751564" cy="380860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9029CDC-FA1B-465C-9891-8031F11359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11575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Branch Instructions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15735" y="823786"/>
            <a:ext cx="6887361" cy="3712858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4777736-DAA1-4486-AC3F-4502590C48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5338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Simple Control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1" y="847287"/>
            <a:ext cx="7340368" cy="3668753"/>
          </a:xfrm>
        </p:spPr>
        <p:txBody>
          <a:bodyPr>
            <a:normAutofit/>
          </a:bodyPr>
          <a:lstStyle/>
          <a:p>
            <a:r>
              <a:rPr lang="en-US" sz="2000" dirty="0"/>
              <a:t>We wait for everything to settle down</a:t>
            </a:r>
          </a:p>
          <a:p>
            <a:pPr lvl="1"/>
            <a:r>
              <a:rPr lang="en-US" sz="1800" dirty="0"/>
              <a:t>ALU might not produce “right answer” right away</a:t>
            </a:r>
          </a:p>
          <a:p>
            <a:pPr lvl="1"/>
            <a:r>
              <a:rPr lang="en-US" sz="1800" dirty="0"/>
              <a:t>Read from Memory and Registers are </a:t>
            </a:r>
            <a:r>
              <a:rPr lang="en-US" sz="1800" b="1" dirty="0">
                <a:solidFill>
                  <a:schemeClr val="accent1"/>
                </a:solidFill>
              </a:rPr>
              <a:t>combinational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(as are ALU, adders, </a:t>
            </a:r>
            <a:r>
              <a:rPr lang="en-US" sz="1800" dirty="0" err="1"/>
              <a:t>muxes</a:t>
            </a:r>
            <a:r>
              <a:rPr lang="en-US" sz="1800" dirty="0"/>
              <a:t>, shifter, sign-extender)</a:t>
            </a:r>
          </a:p>
          <a:p>
            <a:pPr lvl="1"/>
            <a:r>
              <a:rPr lang="en-US" sz="1800" dirty="0"/>
              <a:t>Use write signals along with the clock edge to determine when to write to the </a:t>
            </a:r>
            <a:r>
              <a:rPr lang="en-US" sz="1800" b="1" dirty="0">
                <a:solidFill>
                  <a:schemeClr val="accent1"/>
                </a:solidFill>
              </a:rPr>
              <a:t>sequential</a:t>
            </a:r>
            <a:r>
              <a:rPr lang="en-US" sz="1800" dirty="0">
                <a:solidFill>
                  <a:schemeClr val="accent1"/>
                </a:solidFill>
              </a:rPr>
              <a:t> </a:t>
            </a:r>
            <a:r>
              <a:rPr lang="en-US" sz="1800" dirty="0"/>
              <a:t>elements (to the PC, to the Registers and to the Data Memory)</a:t>
            </a:r>
          </a:p>
          <a:p>
            <a:r>
              <a:rPr lang="en-US" sz="2000" dirty="0"/>
              <a:t>The clock cycle time is determined by the logic delay through the </a:t>
            </a:r>
            <a:r>
              <a:rPr lang="en-US" sz="2000" b="1" dirty="0">
                <a:solidFill>
                  <a:schemeClr val="accent1"/>
                </a:solidFill>
              </a:rPr>
              <a:t>longest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path</a:t>
            </a:r>
          </a:p>
          <a:p>
            <a:pPr lvl="1"/>
            <a:r>
              <a:rPr lang="en-US" sz="1800" dirty="0"/>
              <a:t>We ignore some details like register setup and hold times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794BF-6D1E-40E4-9167-B642F7D093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34272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the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2455" y="830510"/>
            <a:ext cx="7592037" cy="2592198"/>
          </a:xfrm>
        </p:spPr>
        <p:txBody>
          <a:bodyPr>
            <a:normAutofit fontScale="62500" lnSpcReduction="20000"/>
          </a:bodyPr>
          <a:lstStyle/>
          <a:p>
            <a:r>
              <a:rPr lang="en-US" sz="2900" dirty="0">
                <a:cs typeface="Calibri" panose="020F0502020204030204" pitchFamily="34" charset="0"/>
              </a:rPr>
              <a:t>Select the operations to perform (ALU, Register and Memory read/write)</a:t>
            </a:r>
          </a:p>
          <a:p>
            <a:r>
              <a:rPr lang="en-US" sz="2900" dirty="0">
                <a:cs typeface="Calibri" panose="020F0502020204030204" pitchFamily="34" charset="0"/>
              </a:rPr>
              <a:t>Control the flow of data (multiplexor inputs)</a:t>
            </a:r>
          </a:p>
          <a:p>
            <a:r>
              <a:rPr lang="en-US" sz="2900" dirty="0">
                <a:cs typeface="Calibri" panose="020F0502020204030204" pitchFamily="34" charset="0"/>
              </a:rPr>
              <a:t>Information comes from the 32 bits of the instruction</a:t>
            </a:r>
          </a:p>
          <a:p>
            <a:r>
              <a:rPr lang="en-US" sz="2900" dirty="0">
                <a:cs typeface="Calibri" panose="020F0502020204030204" pitchFamily="34" charset="0"/>
              </a:rPr>
              <a:t>Observations</a:t>
            </a:r>
          </a:p>
          <a:p>
            <a:pPr lvl="1"/>
            <a:r>
              <a:rPr lang="en-US" sz="2200" dirty="0">
                <a:cs typeface="Calibri" panose="020F0502020204030204" pitchFamily="34" charset="0"/>
              </a:rPr>
              <a:t>Op field always in bits 31–26</a:t>
            </a:r>
          </a:p>
          <a:p>
            <a:pPr lvl="1"/>
            <a:r>
              <a:rPr lang="en-US" sz="2200" dirty="0">
                <a:cs typeface="Calibri" panose="020F0502020204030204" pitchFamily="34" charset="0"/>
              </a:rPr>
              <a:t>Addresses of two registers to be read are </a:t>
            </a:r>
            <a:r>
              <a:rPr lang="en-US" sz="2200" dirty="0">
                <a:solidFill>
                  <a:schemeClr val="accent1"/>
                </a:solidFill>
                <a:cs typeface="Calibri" panose="020F0502020204030204" pitchFamily="34" charset="0"/>
              </a:rPr>
              <a:t>always </a:t>
            </a:r>
            <a:r>
              <a:rPr lang="en-US" sz="2200" dirty="0">
                <a:cs typeface="Calibri" panose="020F0502020204030204" pitchFamily="34" charset="0"/>
              </a:rPr>
              <a:t>specified by the </a:t>
            </a:r>
            <a:r>
              <a:rPr lang="en-US" sz="2200" dirty="0" err="1">
                <a:cs typeface="Calibri" panose="020F0502020204030204" pitchFamily="34" charset="0"/>
              </a:rPr>
              <a:t>rs</a:t>
            </a:r>
            <a:r>
              <a:rPr lang="en-US" sz="2200" dirty="0">
                <a:cs typeface="Calibri" panose="020F0502020204030204" pitchFamily="34" charset="0"/>
              </a:rPr>
              <a:t> and rt fields (bits 25–21 and 20–16)</a:t>
            </a:r>
          </a:p>
          <a:p>
            <a:pPr lvl="1"/>
            <a:r>
              <a:rPr lang="en-US" sz="2200" dirty="0">
                <a:solidFill>
                  <a:schemeClr val="accent1"/>
                </a:solidFill>
                <a:cs typeface="Calibri" panose="020F0502020204030204" pitchFamily="34" charset="0"/>
              </a:rPr>
              <a:t>Base register</a:t>
            </a:r>
            <a:r>
              <a:rPr lang="en-US" sz="2200" dirty="0">
                <a:cs typeface="Calibri" panose="020F0502020204030204" pitchFamily="34" charset="0"/>
              </a:rPr>
              <a:t> for </a:t>
            </a:r>
            <a:r>
              <a:rPr lang="en-US" sz="2200" dirty="0" err="1">
                <a:cs typeface="Calibri" panose="020F0502020204030204" pitchFamily="34" charset="0"/>
              </a:rPr>
              <a:t>lw</a:t>
            </a:r>
            <a:r>
              <a:rPr lang="en-US" sz="2200" dirty="0">
                <a:cs typeface="Calibri" panose="020F0502020204030204" pitchFamily="34" charset="0"/>
              </a:rPr>
              <a:t> and </a:t>
            </a:r>
            <a:r>
              <a:rPr lang="en-US" sz="2200" dirty="0" err="1">
                <a:cs typeface="Calibri" panose="020F0502020204030204" pitchFamily="34" charset="0"/>
              </a:rPr>
              <a:t>sw</a:t>
            </a:r>
            <a:r>
              <a:rPr lang="en-US" sz="2200" dirty="0">
                <a:cs typeface="Calibri" panose="020F0502020204030204" pitchFamily="34" charset="0"/>
              </a:rPr>
              <a:t> always in </a:t>
            </a:r>
            <a:r>
              <a:rPr lang="en-US" sz="2200" dirty="0" err="1">
                <a:cs typeface="Calibri" panose="020F0502020204030204" pitchFamily="34" charset="0"/>
              </a:rPr>
              <a:t>rs</a:t>
            </a:r>
            <a:r>
              <a:rPr lang="en-US" sz="2200" dirty="0">
                <a:cs typeface="Calibri" panose="020F0502020204030204" pitchFamily="34" charset="0"/>
              </a:rPr>
              <a:t> (bits 25–21)</a:t>
            </a:r>
          </a:p>
          <a:p>
            <a:pPr lvl="1"/>
            <a:r>
              <a:rPr lang="en-US" sz="2200" dirty="0">
                <a:cs typeface="Calibri" panose="020F0502020204030204" pitchFamily="34" charset="0"/>
              </a:rPr>
              <a:t>Address of register to be written is in one of two places: </a:t>
            </a:r>
            <a:br>
              <a:rPr lang="en-US" sz="2200" dirty="0">
                <a:cs typeface="Calibri" panose="020F0502020204030204" pitchFamily="34" charset="0"/>
              </a:rPr>
            </a:br>
            <a:r>
              <a:rPr lang="en-US" sz="2200" dirty="0">
                <a:cs typeface="Calibri" panose="020F0502020204030204" pitchFamily="34" charset="0"/>
              </a:rPr>
              <a:t>in rt (bits 20–16) for </a:t>
            </a:r>
            <a:r>
              <a:rPr lang="en-US" sz="2200" dirty="0" err="1">
                <a:cs typeface="Calibri" panose="020F0502020204030204" pitchFamily="34" charset="0"/>
              </a:rPr>
              <a:t>lw</a:t>
            </a:r>
            <a:r>
              <a:rPr lang="en-US" sz="2200" dirty="0">
                <a:cs typeface="Calibri" panose="020F0502020204030204" pitchFamily="34" charset="0"/>
              </a:rPr>
              <a:t>; in </a:t>
            </a:r>
            <a:r>
              <a:rPr lang="en-US" sz="2200" dirty="0" err="1">
                <a:cs typeface="Calibri" panose="020F0502020204030204" pitchFamily="34" charset="0"/>
              </a:rPr>
              <a:t>rd</a:t>
            </a:r>
            <a:r>
              <a:rPr lang="en-US" sz="2200" dirty="0">
                <a:cs typeface="Calibri" panose="020F0502020204030204" pitchFamily="34" charset="0"/>
              </a:rPr>
              <a:t> (bits 15–11) for R-type instructions</a:t>
            </a:r>
          </a:p>
          <a:p>
            <a:pPr lvl="1"/>
            <a:r>
              <a:rPr lang="en-US" sz="2200" dirty="0">
                <a:cs typeface="Calibri" panose="020F0502020204030204" pitchFamily="34" charset="0"/>
              </a:rPr>
              <a:t>Offset for </a:t>
            </a:r>
            <a:r>
              <a:rPr lang="en-US" sz="2200" dirty="0" err="1">
                <a:cs typeface="Calibri" panose="020F0502020204030204" pitchFamily="34" charset="0"/>
              </a:rPr>
              <a:t>beq</a:t>
            </a:r>
            <a:r>
              <a:rPr lang="en-US" sz="2200" dirty="0">
                <a:cs typeface="Calibri" panose="020F0502020204030204" pitchFamily="34" charset="0"/>
              </a:rPr>
              <a:t>, </a:t>
            </a:r>
            <a:r>
              <a:rPr lang="en-US" sz="2200" dirty="0" err="1">
                <a:cs typeface="Calibri" panose="020F0502020204030204" pitchFamily="34" charset="0"/>
              </a:rPr>
              <a:t>lw</a:t>
            </a:r>
            <a:r>
              <a:rPr lang="en-US" sz="2200" dirty="0">
                <a:cs typeface="Calibri" panose="020F0502020204030204" pitchFamily="34" charset="0"/>
              </a:rPr>
              <a:t>, and </a:t>
            </a:r>
            <a:r>
              <a:rPr lang="en-US" sz="2200" dirty="0" err="1">
                <a:cs typeface="Calibri" panose="020F0502020204030204" pitchFamily="34" charset="0"/>
              </a:rPr>
              <a:t>sw</a:t>
            </a:r>
            <a:r>
              <a:rPr lang="en-US" sz="2200" dirty="0">
                <a:cs typeface="Calibri" panose="020F0502020204030204" pitchFamily="34" charset="0"/>
              </a:rPr>
              <a:t> always in bits 15–0</a:t>
            </a:r>
          </a:p>
        </p:txBody>
      </p:sp>
      <p:pic>
        <p:nvPicPr>
          <p:cNvPr id="56" name="Picture 5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427" y="3389153"/>
            <a:ext cx="4750972" cy="1258248"/>
          </a:xfrm>
          <a:prstGeom prst="rect">
            <a:avLst/>
          </a:prstGeom>
        </p:spPr>
      </p:pic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1B82FD-1EC1-4E1C-B1A8-ADDBC3AF8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360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Complete Single-Cycle Datapath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6620" y="771787"/>
            <a:ext cx="7558481" cy="3808601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6975C60-C799-40E2-8F21-209D281A138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4971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Control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6678" y="844153"/>
            <a:ext cx="7680121" cy="1336985"/>
          </a:xfrm>
        </p:spPr>
        <p:txBody>
          <a:bodyPr/>
          <a:lstStyle/>
          <a:p>
            <a:r>
              <a:rPr lang="en-US" sz="2000" dirty="0"/>
              <a:t>ALU used for</a:t>
            </a:r>
          </a:p>
          <a:p>
            <a:pPr lvl="1"/>
            <a:r>
              <a:rPr lang="en-US" sz="1800" dirty="0"/>
              <a:t>Load/Store: add</a:t>
            </a:r>
          </a:p>
          <a:p>
            <a:pPr lvl="1"/>
            <a:r>
              <a:rPr lang="en-US" sz="1800" dirty="0"/>
              <a:t>Branch: subtract (compare in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beq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R-type: depends on </a:t>
            </a:r>
            <a:r>
              <a:rPr lang="en-US" sz="1800" dirty="0" err="1"/>
              <a:t>funct</a:t>
            </a:r>
            <a:r>
              <a:rPr lang="en-US" sz="1800" dirty="0"/>
              <a:t> field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8699537"/>
              </p:ext>
            </p:extLst>
          </p:nvPr>
        </p:nvGraphicFramePr>
        <p:xfrm>
          <a:off x="2286000" y="2372151"/>
          <a:ext cx="4572000" cy="218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ALU Control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Function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AND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0001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add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/>
                        <a:t>0110</a:t>
                      </a:r>
                      <a:endParaRPr lang="en-US" sz="1600" dirty="0"/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subtract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0111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set-on-less-than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NOR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555718-6655-4080-BE3B-1AC2FB54DC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97002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Control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8290" y="844154"/>
            <a:ext cx="7688510" cy="707810"/>
          </a:xfrm>
        </p:spPr>
        <p:txBody>
          <a:bodyPr/>
          <a:lstStyle/>
          <a:p>
            <a:r>
              <a:rPr lang="en-US" sz="2000" dirty="0"/>
              <a:t>Assume 2-bit </a:t>
            </a:r>
            <a:r>
              <a:rPr lang="en-US" sz="2000" b="1" dirty="0" err="1">
                <a:solidFill>
                  <a:schemeClr val="accent1"/>
                </a:solidFill>
              </a:rPr>
              <a:t>ALUOp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derived from opcode</a:t>
            </a:r>
          </a:p>
          <a:p>
            <a:pPr lvl="1"/>
            <a:r>
              <a:rPr lang="en-US" sz="1800" dirty="0"/>
              <a:t>Combinational logic derives ALU control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4453310"/>
              </p:ext>
            </p:extLst>
          </p:nvPr>
        </p:nvGraphicFramePr>
        <p:xfrm>
          <a:off x="872455" y="1611689"/>
          <a:ext cx="7482979" cy="2811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41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6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41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6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76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Opcode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ALUOp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Opeation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funct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 function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 control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6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lw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load word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XXXXXX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6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Sw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 word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XXXXXX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3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Beq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branch</a:t>
                      </a:r>
                      <a:r>
                        <a:rPr lang="en-US" sz="16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equal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XXXXXX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subtract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638">
                <a:tc rowSpan="5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R-type</a:t>
                      </a:r>
                    </a:p>
                  </a:txBody>
                  <a:tcPr marL="68580" marR="68580" marT="34290" marB="34290" anchor="ctr"/>
                </a:tc>
                <a:tc rowSpan="5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add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638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subtract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subtract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7638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AND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7638"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100101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OR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0001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7638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set-on-less-than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101010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set-on-less-than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840EF9-AAC6-47D1-9E0A-2D6C825623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9159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846" y="108349"/>
            <a:ext cx="7643844" cy="519113"/>
          </a:xfrm>
        </p:spPr>
        <p:txBody>
          <a:bodyPr>
            <a:noAutofit/>
          </a:bodyPr>
          <a:lstStyle/>
          <a:p>
            <a:r>
              <a:rPr lang="en-US" dirty="0"/>
              <a:t>Design the Main Control Unit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8692896"/>
              </p:ext>
            </p:extLst>
          </p:nvPr>
        </p:nvGraphicFramePr>
        <p:xfrm>
          <a:off x="1342239" y="947956"/>
          <a:ext cx="6627298" cy="34982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8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8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75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7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75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5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275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54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858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8869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ALUOp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Funct</a:t>
                      </a:r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field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Operation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ALUOp1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ALUOp0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F5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F4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F3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F2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F1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F0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</a:p>
                  </a:txBody>
                  <a:tcPr marL="68580" marR="68580" marT="34290" marB="34290" anchor="ctr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0001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69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0111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39BEAF4-AB25-4C11-8872-AB7E838390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15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Main Control Unit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9900" y="810597"/>
            <a:ext cx="7696899" cy="439363"/>
          </a:xfrm>
        </p:spPr>
        <p:txBody>
          <a:bodyPr/>
          <a:lstStyle/>
          <a:p>
            <a:r>
              <a:rPr lang="en-US" dirty="0"/>
              <a:t>Control signals derived from instruction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6239CED0-2765-406F-A369-8DDB7A26A591}"/>
              </a:ext>
            </a:extLst>
          </p:cNvPr>
          <p:cNvGrpSpPr/>
          <p:nvPr/>
        </p:nvGrpSpPr>
        <p:grpSpPr>
          <a:xfrm>
            <a:off x="1441833" y="1552263"/>
            <a:ext cx="6210000" cy="2984546"/>
            <a:chOff x="1467000" y="1661320"/>
            <a:chExt cx="6210000" cy="2984546"/>
          </a:xfrm>
        </p:grpSpPr>
        <p:grpSp>
          <p:nvGrpSpPr>
            <p:cNvPr id="70" name="Group 69"/>
            <p:cNvGrpSpPr/>
            <p:nvPr/>
          </p:nvGrpSpPr>
          <p:grpSpPr>
            <a:xfrm>
              <a:off x="1467000" y="1661320"/>
              <a:ext cx="6210000" cy="1976627"/>
              <a:chOff x="340484" y="2215092"/>
              <a:chExt cx="8280000" cy="2635503"/>
            </a:xfrm>
          </p:grpSpPr>
          <p:grpSp>
            <p:nvGrpSpPr>
              <p:cNvPr id="38" name="Group 37"/>
              <p:cNvGrpSpPr/>
              <p:nvPr/>
            </p:nvGrpSpPr>
            <p:grpSpPr>
              <a:xfrm>
                <a:off x="340484" y="2215092"/>
                <a:ext cx="8280000" cy="720322"/>
                <a:chOff x="340484" y="2525988"/>
                <a:chExt cx="8280000" cy="720322"/>
              </a:xfrm>
            </p:grpSpPr>
            <p:sp>
              <p:nvSpPr>
                <p:cNvPr id="6" name="Rectangle 5"/>
                <p:cNvSpPr/>
                <p:nvPr/>
              </p:nvSpPr>
              <p:spPr>
                <a:xfrm>
                  <a:off x="1708484" y="2526310"/>
                  <a:ext cx="1296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0</a:t>
                  </a:r>
                </a:p>
              </p:txBody>
            </p:sp>
            <p:sp>
              <p:nvSpPr>
                <p:cNvPr id="9" name="Rectangle 8"/>
                <p:cNvSpPr/>
                <p:nvPr/>
              </p:nvSpPr>
              <p:spPr>
                <a:xfrm>
                  <a:off x="300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rs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0" name="Rectangle 9"/>
                <p:cNvSpPr/>
                <p:nvPr/>
              </p:nvSpPr>
              <p:spPr>
                <a:xfrm>
                  <a:off x="408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rt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" name="Rectangle 10"/>
                <p:cNvSpPr/>
                <p:nvPr/>
              </p:nvSpPr>
              <p:spPr>
                <a:xfrm>
                  <a:off x="516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rd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" name="Rectangle 13"/>
                <p:cNvSpPr/>
                <p:nvPr/>
              </p:nvSpPr>
              <p:spPr>
                <a:xfrm>
                  <a:off x="624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shamt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" name="Rectangle 14"/>
                <p:cNvSpPr/>
                <p:nvPr/>
              </p:nvSpPr>
              <p:spPr>
                <a:xfrm>
                  <a:off x="7324484" y="2526310"/>
                  <a:ext cx="1296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funct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31" name="Rectangle 30"/>
                <p:cNvSpPr/>
                <p:nvPr/>
              </p:nvSpPr>
              <p:spPr>
                <a:xfrm>
                  <a:off x="1708484" y="2886310"/>
                  <a:ext cx="1296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31:26</a:t>
                  </a:r>
                </a:p>
              </p:txBody>
            </p:sp>
            <p:sp>
              <p:nvSpPr>
                <p:cNvPr id="32" name="Rectangle 31"/>
                <p:cNvSpPr/>
                <p:nvPr/>
              </p:nvSpPr>
              <p:spPr>
                <a:xfrm>
                  <a:off x="300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25:21</a:t>
                  </a:r>
                </a:p>
              </p:txBody>
            </p:sp>
            <p:sp>
              <p:nvSpPr>
                <p:cNvPr id="33" name="Rectangle 32"/>
                <p:cNvSpPr/>
                <p:nvPr/>
              </p:nvSpPr>
              <p:spPr>
                <a:xfrm>
                  <a:off x="408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20:16</a:t>
                  </a:r>
                </a:p>
              </p:txBody>
            </p:sp>
            <p:sp>
              <p:nvSpPr>
                <p:cNvPr id="34" name="Rectangle 33"/>
                <p:cNvSpPr/>
                <p:nvPr/>
              </p:nvSpPr>
              <p:spPr>
                <a:xfrm>
                  <a:off x="516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15:11</a:t>
                  </a:r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624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10:6</a:t>
                  </a:r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7324484" y="2886310"/>
                  <a:ext cx="1296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5:0</a:t>
                  </a:r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340484" y="2525988"/>
                  <a:ext cx="1368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R-type</a:t>
                  </a:r>
                </a:p>
              </p:txBody>
            </p:sp>
          </p:grpSp>
          <p:grpSp>
            <p:nvGrpSpPr>
              <p:cNvPr id="39" name="Group 38"/>
              <p:cNvGrpSpPr/>
              <p:nvPr/>
            </p:nvGrpSpPr>
            <p:grpSpPr>
              <a:xfrm>
                <a:off x="340484" y="3172683"/>
                <a:ext cx="8280000" cy="720322"/>
                <a:chOff x="340484" y="2525988"/>
                <a:chExt cx="8280000" cy="720322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1708484" y="2526310"/>
                  <a:ext cx="1296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35 or 43</a:t>
                  </a:r>
                </a:p>
              </p:txBody>
            </p:sp>
            <p:sp>
              <p:nvSpPr>
                <p:cNvPr id="41" name="Rectangle 40"/>
                <p:cNvSpPr/>
                <p:nvPr/>
              </p:nvSpPr>
              <p:spPr>
                <a:xfrm>
                  <a:off x="300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rs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42" name="Rectangle 41"/>
                <p:cNvSpPr/>
                <p:nvPr/>
              </p:nvSpPr>
              <p:spPr>
                <a:xfrm>
                  <a:off x="408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rt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43" name="Rectangle 42"/>
                <p:cNvSpPr/>
                <p:nvPr/>
              </p:nvSpPr>
              <p:spPr>
                <a:xfrm>
                  <a:off x="5164484" y="2526310"/>
                  <a:ext cx="3456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address</a:t>
                  </a:r>
                </a:p>
              </p:txBody>
            </p:sp>
            <p:sp>
              <p:nvSpPr>
                <p:cNvPr id="46" name="Rectangle 45"/>
                <p:cNvSpPr/>
                <p:nvPr/>
              </p:nvSpPr>
              <p:spPr>
                <a:xfrm>
                  <a:off x="1708484" y="2886310"/>
                  <a:ext cx="1296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31:26</a:t>
                  </a:r>
                </a:p>
              </p:txBody>
            </p:sp>
            <p:sp>
              <p:nvSpPr>
                <p:cNvPr id="47" name="Rectangle 46"/>
                <p:cNvSpPr/>
                <p:nvPr/>
              </p:nvSpPr>
              <p:spPr>
                <a:xfrm>
                  <a:off x="300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25:21</a:t>
                  </a:r>
                </a:p>
              </p:txBody>
            </p:sp>
            <p:sp>
              <p:nvSpPr>
                <p:cNvPr id="48" name="Rectangle 47"/>
                <p:cNvSpPr/>
                <p:nvPr/>
              </p:nvSpPr>
              <p:spPr>
                <a:xfrm>
                  <a:off x="408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20:16</a:t>
                  </a:r>
                </a:p>
              </p:txBody>
            </p:sp>
            <p:sp>
              <p:nvSpPr>
                <p:cNvPr id="49" name="Rectangle 48"/>
                <p:cNvSpPr/>
                <p:nvPr/>
              </p:nvSpPr>
              <p:spPr>
                <a:xfrm>
                  <a:off x="5164484" y="2886310"/>
                  <a:ext cx="3456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15:0</a:t>
                  </a:r>
                </a:p>
              </p:txBody>
            </p:sp>
            <p:sp>
              <p:nvSpPr>
                <p:cNvPr id="52" name="Rectangle 51"/>
                <p:cNvSpPr/>
                <p:nvPr/>
              </p:nvSpPr>
              <p:spPr>
                <a:xfrm>
                  <a:off x="340484" y="2525988"/>
                  <a:ext cx="1368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Load/Store</a:t>
                  </a:r>
                </a:p>
              </p:txBody>
            </p:sp>
          </p:grpSp>
          <p:grpSp>
            <p:nvGrpSpPr>
              <p:cNvPr id="53" name="Group 52"/>
              <p:cNvGrpSpPr/>
              <p:nvPr/>
            </p:nvGrpSpPr>
            <p:grpSpPr>
              <a:xfrm>
                <a:off x="340484" y="4130273"/>
                <a:ext cx="8280000" cy="720322"/>
                <a:chOff x="340484" y="2525988"/>
                <a:chExt cx="8280000" cy="720322"/>
              </a:xfrm>
            </p:grpSpPr>
            <p:sp>
              <p:nvSpPr>
                <p:cNvPr id="54" name="Rectangle 53"/>
                <p:cNvSpPr/>
                <p:nvPr/>
              </p:nvSpPr>
              <p:spPr>
                <a:xfrm>
                  <a:off x="1708484" y="2526310"/>
                  <a:ext cx="1296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4</a:t>
                  </a:r>
                </a:p>
              </p:txBody>
            </p:sp>
            <p:sp>
              <p:nvSpPr>
                <p:cNvPr id="55" name="Rectangle 54"/>
                <p:cNvSpPr/>
                <p:nvPr/>
              </p:nvSpPr>
              <p:spPr>
                <a:xfrm>
                  <a:off x="300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rs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6" name="Rectangle 55"/>
                <p:cNvSpPr/>
                <p:nvPr/>
              </p:nvSpPr>
              <p:spPr>
                <a:xfrm>
                  <a:off x="4084484" y="2526310"/>
                  <a:ext cx="1080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 err="1">
                      <a:solidFill>
                        <a:sysClr val="windowText" lastClr="000000"/>
                      </a:solidFill>
                    </a:rPr>
                    <a:t>rt</a:t>
                  </a:r>
                  <a:endParaRPr lang="en-US" sz="135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57" name="Rectangle 56"/>
                <p:cNvSpPr/>
                <p:nvPr/>
              </p:nvSpPr>
              <p:spPr>
                <a:xfrm>
                  <a:off x="5164484" y="2526310"/>
                  <a:ext cx="3456000" cy="360000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address</a:t>
                  </a:r>
                </a:p>
              </p:txBody>
            </p:sp>
            <p:sp>
              <p:nvSpPr>
                <p:cNvPr id="58" name="Rectangle 57"/>
                <p:cNvSpPr/>
                <p:nvPr/>
              </p:nvSpPr>
              <p:spPr>
                <a:xfrm>
                  <a:off x="1708484" y="2886310"/>
                  <a:ext cx="1296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31:26</a:t>
                  </a:r>
                </a:p>
              </p:txBody>
            </p:sp>
            <p:sp>
              <p:nvSpPr>
                <p:cNvPr id="59" name="Rectangle 58"/>
                <p:cNvSpPr/>
                <p:nvPr/>
              </p:nvSpPr>
              <p:spPr>
                <a:xfrm>
                  <a:off x="300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25:21</a:t>
                  </a:r>
                </a:p>
              </p:txBody>
            </p:sp>
            <p:sp>
              <p:nvSpPr>
                <p:cNvPr id="60" name="Rectangle 59"/>
                <p:cNvSpPr/>
                <p:nvPr/>
              </p:nvSpPr>
              <p:spPr>
                <a:xfrm>
                  <a:off x="4084484" y="2886310"/>
                  <a:ext cx="1080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20:16</a:t>
                  </a:r>
                </a:p>
              </p:txBody>
            </p:sp>
            <p:sp>
              <p:nvSpPr>
                <p:cNvPr id="61" name="Rectangle 60"/>
                <p:cNvSpPr/>
                <p:nvPr/>
              </p:nvSpPr>
              <p:spPr>
                <a:xfrm>
                  <a:off x="5164484" y="2886310"/>
                  <a:ext cx="3456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15:0</a:t>
                  </a:r>
                </a:p>
              </p:txBody>
            </p:sp>
            <p:sp>
              <p:nvSpPr>
                <p:cNvPr id="62" name="Rectangle 61"/>
                <p:cNvSpPr/>
                <p:nvPr/>
              </p:nvSpPr>
              <p:spPr>
                <a:xfrm>
                  <a:off x="340484" y="2525988"/>
                  <a:ext cx="1368000" cy="360000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350" dirty="0">
                      <a:solidFill>
                        <a:sysClr val="windowText" lastClr="000000"/>
                      </a:solidFill>
                    </a:rPr>
                    <a:t>Branch</a:t>
                  </a:r>
                </a:p>
              </p:txBody>
            </p:sp>
          </p:grpSp>
        </p:grpSp>
        <p:sp>
          <p:nvSpPr>
            <p:cNvPr id="64" name="Right Brace 63"/>
            <p:cNvSpPr/>
            <p:nvPr/>
          </p:nvSpPr>
          <p:spPr>
            <a:xfrm rot="5400000">
              <a:off x="2925413" y="3367777"/>
              <a:ext cx="116586" cy="862013"/>
            </a:xfrm>
            <a:prstGeom prst="rightBrace">
              <a:avLst>
                <a:gd name="adj1" fmla="val 47140"/>
                <a:gd name="adj2" fmla="val 50000"/>
              </a:avLst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585536" y="3930284"/>
              <a:ext cx="796340" cy="3000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opcode</a:t>
              </a:r>
            </a:p>
          </p:txBody>
        </p:sp>
        <p:sp>
          <p:nvSpPr>
            <p:cNvPr id="66" name="Right Brace 65"/>
            <p:cNvSpPr/>
            <p:nvPr/>
          </p:nvSpPr>
          <p:spPr>
            <a:xfrm rot="5400000">
              <a:off x="3813917" y="3417486"/>
              <a:ext cx="116586" cy="762596"/>
            </a:xfrm>
            <a:prstGeom prst="rightBrace">
              <a:avLst>
                <a:gd name="adj1" fmla="val 47140"/>
                <a:gd name="adj2" fmla="val 50000"/>
              </a:avLst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3480385" y="3930285"/>
              <a:ext cx="796340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always</a:t>
              </a:r>
              <a:br>
                <a:rPr lang="en-US" sz="1350" dirty="0"/>
              </a:br>
              <a:r>
                <a:rPr lang="en-US" sz="1350" dirty="0"/>
                <a:t>read</a:t>
              </a:r>
            </a:p>
          </p:txBody>
        </p:sp>
        <p:sp>
          <p:nvSpPr>
            <p:cNvPr id="68" name="Right Brace 67"/>
            <p:cNvSpPr/>
            <p:nvPr/>
          </p:nvSpPr>
          <p:spPr>
            <a:xfrm rot="5400000">
              <a:off x="4632566" y="3417486"/>
              <a:ext cx="116586" cy="762596"/>
            </a:xfrm>
            <a:prstGeom prst="rightBrace">
              <a:avLst>
                <a:gd name="adj1" fmla="val 47140"/>
                <a:gd name="adj2" fmla="val 50000"/>
              </a:avLst>
            </a:prstGeom>
            <a:ln w="1270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299033" y="3930285"/>
              <a:ext cx="796340" cy="715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read,</a:t>
              </a:r>
              <a:br>
                <a:rPr lang="en-US" sz="1350" dirty="0"/>
              </a:br>
              <a:r>
                <a:rPr lang="en-US" sz="1350" dirty="0"/>
                <a:t>except for load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242861" y="3930285"/>
              <a:ext cx="1015326" cy="715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write for R-type and load</a:t>
              </a:r>
            </a:p>
          </p:txBody>
        </p:sp>
        <p:cxnSp>
          <p:nvCxnSpPr>
            <p:cNvPr id="73" name="Curved Connector 72"/>
            <p:cNvCxnSpPr>
              <a:cxnSpLocks/>
              <a:stCxn id="71" idx="0"/>
              <a:endCxn id="78" idx="3"/>
            </p:cNvCxnSpPr>
            <p:nvPr/>
          </p:nvCxnSpPr>
          <p:spPr>
            <a:xfrm rot="16200000" flipV="1">
              <a:off x="4643223" y="2822983"/>
              <a:ext cx="1399511" cy="815093"/>
            </a:xfrm>
            <a:prstGeom prst="curvedConnector2">
              <a:avLst/>
            </a:prstGeom>
            <a:ln w="127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Rectangle 77"/>
            <p:cNvSpPr/>
            <p:nvPr/>
          </p:nvSpPr>
          <p:spPr>
            <a:xfrm>
              <a:off x="4815416" y="2471561"/>
              <a:ext cx="120015" cy="118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81" name="Curved Connector 80"/>
            <p:cNvCxnSpPr>
              <a:cxnSpLocks/>
              <a:stCxn id="71" idx="0"/>
              <a:endCxn id="82" idx="1"/>
            </p:cNvCxnSpPr>
            <p:nvPr/>
          </p:nvCxnSpPr>
          <p:spPr>
            <a:xfrm rot="5400000" flipH="1" flipV="1">
              <a:off x="4701771" y="2868902"/>
              <a:ext cx="2110137" cy="12630"/>
            </a:xfrm>
            <a:prstGeom prst="curvedConnector2">
              <a:avLst/>
            </a:prstGeom>
            <a:ln w="127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Rectangle 81"/>
            <p:cNvSpPr/>
            <p:nvPr/>
          </p:nvSpPr>
          <p:spPr>
            <a:xfrm>
              <a:off x="5763154" y="1760935"/>
              <a:ext cx="120015" cy="118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250301" y="3930285"/>
              <a:ext cx="1068110" cy="7155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50" dirty="0"/>
                <a:t>sign-extend and add</a:t>
              </a:r>
            </a:p>
          </p:txBody>
        </p:sp>
        <p:cxnSp>
          <p:nvCxnSpPr>
            <p:cNvPr id="95" name="Curved Connector 94"/>
            <p:cNvCxnSpPr>
              <a:stCxn id="94" idx="0"/>
              <a:endCxn id="96" idx="1"/>
            </p:cNvCxnSpPr>
            <p:nvPr/>
          </p:nvCxnSpPr>
          <p:spPr>
            <a:xfrm rot="5400000" flipH="1" flipV="1">
              <a:off x="6450628" y="3557001"/>
              <a:ext cx="707013" cy="39557"/>
            </a:xfrm>
            <a:prstGeom prst="curvedConnector2">
              <a:avLst/>
            </a:prstGeom>
            <a:ln w="127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Rectangle 95"/>
            <p:cNvSpPr/>
            <p:nvPr/>
          </p:nvSpPr>
          <p:spPr>
            <a:xfrm>
              <a:off x="6823913" y="3164059"/>
              <a:ext cx="120015" cy="118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7129184" y="2424836"/>
              <a:ext cx="120015" cy="11842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02" name="Curved Connector 101"/>
            <p:cNvCxnSpPr>
              <a:stCxn id="94" idx="0"/>
              <a:endCxn id="101" idx="2"/>
            </p:cNvCxnSpPr>
            <p:nvPr/>
          </p:nvCxnSpPr>
          <p:spPr>
            <a:xfrm rot="5400000" flipH="1" flipV="1">
              <a:off x="6293263" y="3034356"/>
              <a:ext cx="1387023" cy="404836"/>
            </a:xfrm>
            <a:prstGeom prst="curvedConnector3">
              <a:avLst>
                <a:gd name="adj1" fmla="val 50000"/>
              </a:avLst>
            </a:prstGeom>
            <a:ln w="12700">
              <a:solidFill>
                <a:schemeClr val="accent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20F8924-8D7D-4373-BF4E-767756F7E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250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Complete Single-Cycle Datapath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72454" y="857129"/>
            <a:ext cx="7474591" cy="3723260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9CE70C1-B679-4673-A0FF-9A909C037B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66383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3123" y="815742"/>
            <a:ext cx="7147420" cy="37730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1512" y="108349"/>
            <a:ext cx="7694178" cy="519113"/>
          </a:xfrm>
        </p:spPr>
        <p:txBody>
          <a:bodyPr/>
          <a:lstStyle/>
          <a:p>
            <a:r>
              <a:rPr lang="en-US" dirty="0" err="1"/>
              <a:t>Datapath</a:t>
            </a:r>
            <a:r>
              <a:rPr lang="en-US" dirty="0"/>
              <a:t> with Control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7BF124D-E412-482F-836A-9D17B6BFB0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06835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D1C371A8-CADB-4B2E-91A5-5860B87950B1}"/>
              </a:ext>
            </a:extLst>
          </p:cNvPr>
          <p:cNvGrpSpPr/>
          <p:nvPr/>
        </p:nvGrpSpPr>
        <p:grpSpPr>
          <a:xfrm>
            <a:off x="1073791" y="847288"/>
            <a:ext cx="6979640" cy="3682767"/>
            <a:chOff x="2164106" y="951067"/>
            <a:chExt cx="4877291" cy="3753044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3164" t="3424" r="3517" b="1599"/>
            <a:stretch/>
          </p:blipFill>
          <p:spPr>
            <a:xfrm>
              <a:off x="2164106" y="951067"/>
              <a:ext cx="4877291" cy="3753044"/>
            </a:xfrm>
            <a:prstGeom prst="rect">
              <a:avLst/>
            </a:prstGeom>
          </p:spPr>
        </p:pic>
        <p:sp>
          <p:nvSpPr>
            <p:cNvPr id="7" name="Oval 6"/>
            <p:cNvSpPr/>
            <p:nvPr/>
          </p:nvSpPr>
          <p:spPr>
            <a:xfrm>
              <a:off x="6046870" y="117287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Oval 7"/>
            <p:cNvSpPr/>
            <p:nvPr/>
          </p:nvSpPr>
          <p:spPr>
            <a:xfrm>
              <a:off x="3846595" y="349316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Oval 8"/>
            <p:cNvSpPr/>
            <p:nvPr/>
          </p:nvSpPr>
          <p:spPr>
            <a:xfrm>
              <a:off x="5001025" y="328742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Oval 11"/>
            <p:cNvSpPr/>
            <p:nvPr/>
          </p:nvSpPr>
          <p:spPr>
            <a:xfrm>
              <a:off x="6634913" y="3570524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Oval 14"/>
            <p:cNvSpPr/>
            <p:nvPr/>
          </p:nvSpPr>
          <p:spPr>
            <a:xfrm>
              <a:off x="4395235" y="2668427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5178595" y="432755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Oval 16"/>
            <p:cNvSpPr/>
            <p:nvPr/>
          </p:nvSpPr>
          <p:spPr>
            <a:xfrm>
              <a:off x="6198520" y="295864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6046870" y="407878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2589" y="108349"/>
            <a:ext cx="7703101" cy="519113"/>
          </a:xfrm>
        </p:spPr>
        <p:txBody>
          <a:bodyPr/>
          <a:lstStyle/>
          <a:p>
            <a:r>
              <a:rPr lang="en-US" dirty="0"/>
              <a:t>R-type Instruction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FF27593-E665-4853-8218-7BD610286F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79877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A8EEDFD6-67E6-409A-90AD-347C19E45953}"/>
              </a:ext>
            </a:extLst>
          </p:cNvPr>
          <p:cNvGrpSpPr/>
          <p:nvPr/>
        </p:nvGrpSpPr>
        <p:grpSpPr>
          <a:xfrm>
            <a:off x="1048624" y="889233"/>
            <a:ext cx="7088697" cy="3649210"/>
            <a:chOff x="2140620" y="934801"/>
            <a:chExt cx="4892500" cy="3832463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2252" t="1938" r="2591"/>
            <a:stretch/>
          </p:blipFill>
          <p:spPr>
            <a:xfrm>
              <a:off x="2140620" y="934801"/>
              <a:ext cx="4892500" cy="3832463"/>
            </a:xfrm>
            <a:prstGeom prst="rect">
              <a:avLst/>
            </a:prstGeom>
          </p:spPr>
        </p:pic>
        <p:sp>
          <p:nvSpPr>
            <p:cNvPr id="7" name="Oval 6"/>
            <p:cNvSpPr/>
            <p:nvPr/>
          </p:nvSpPr>
          <p:spPr>
            <a:xfrm>
              <a:off x="6046870" y="117287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Oval 7"/>
            <p:cNvSpPr/>
            <p:nvPr/>
          </p:nvSpPr>
          <p:spPr>
            <a:xfrm>
              <a:off x="3841832" y="3197894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Oval 8"/>
            <p:cNvSpPr/>
            <p:nvPr/>
          </p:nvSpPr>
          <p:spPr>
            <a:xfrm>
              <a:off x="5005787" y="359222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Oval 9"/>
            <p:cNvSpPr/>
            <p:nvPr/>
          </p:nvSpPr>
          <p:spPr>
            <a:xfrm>
              <a:off x="6649200" y="3270486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Oval 10"/>
            <p:cNvSpPr/>
            <p:nvPr/>
          </p:nvSpPr>
          <p:spPr>
            <a:xfrm>
              <a:off x="4395235" y="2668427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178595" y="432755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Oval 12"/>
            <p:cNvSpPr/>
            <p:nvPr/>
          </p:nvSpPr>
          <p:spPr>
            <a:xfrm>
              <a:off x="6198520" y="295864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6046870" y="407878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1</a:t>
              </a: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Instruction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C9640EF-8FD4-40A5-8360-82C8E6FEE7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2630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Branch-on-Equal Instruction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522E0DF-FDA9-4E6E-961D-06579CB7DCD3}"/>
              </a:ext>
            </a:extLst>
          </p:cNvPr>
          <p:cNvGrpSpPr/>
          <p:nvPr/>
        </p:nvGrpSpPr>
        <p:grpSpPr>
          <a:xfrm>
            <a:off x="914400" y="880844"/>
            <a:ext cx="7331977" cy="3665989"/>
            <a:chOff x="2169276" y="960741"/>
            <a:chExt cx="4839611" cy="377556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2589" t="2320" r="3379"/>
            <a:stretch/>
          </p:blipFill>
          <p:spPr>
            <a:xfrm>
              <a:off x="2169276" y="960741"/>
              <a:ext cx="4839611" cy="3775566"/>
            </a:xfrm>
            <a:prstGeom prst="rect">
              <a:avLst/>
            </a:prstGeom>
          </p:spPr>
        </p:pic>
        <p:sp>
          <p:nvSpPr>
            <p:cNvPr id="7" name="Oval 6"/>
            <p:cNvSpPr/>
            <p:nvPr/>
          </p:nvSpPr>
          <p:spPr>
            <a:xfrm>
              <a:off x="5761119" y="1832242"/>
              <a:ext cx="387395" cy="389464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Oval 8"/>
            <p:cNvSpPr/>
            <p:nvPr/>
          </p:nvSpPr>
          <p:spPr>
            <a:xfrm>
              <a:off x="4984356" y="3292191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Oval 10"/>
            <p:cNvSpPr/>
            <p:nvPr/>
          </p:nvSpPr>
          <p:spPr>
            <a:xfrm>
              <a:off x="4395235" y="2668427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5178595" y="432755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Oval 12"/>
            <p:cNvSpPr/>
            <p:nvPr/>
          </p:nvSpPr>
          <p:spPr>
            <a:xfrm>
              <a:off x="6198520" y="295864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6046870" y="407878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5506200" y="1939399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1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4221972" y="1995487"/>
              <a:ext cx="345266" cy="119063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AC92E0-ABDB-4A21-A866-6D238F431B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8286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Lines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927475"/>
              </p:ext>
            </p:extLst>
          </p:nvPr>
        </p:nvGraphicFramePr>
        <p:xfrm>
          <a:off x="1688358" y="996214"/>
          <a:ext cx="5700173" cy="349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0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269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Instruction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RegDst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ALUSrc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MemtoReg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RegWrite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MemRead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MemWrite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Branch</a:t>
                      </a:r>
                    </a:p>
                  </a:txBody>
                  <a:tcPr marL="68580" marR="68580" marT="34290" marB="34290"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/>
                        <a:t>ALUOp</a:t>
                      </a:r>
                      <a:endParaRPr lang="en-US" sz="1600" dirty="0"/>
                    </a:p>
                  </a:txBody>
                  <a:tcPr marL="68580" marR="68580" marT="34290" marB="34290" vert="vert27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R-type</a:t>
                      </a:r>
                    </a:p>
                    <a:p>
                      <a:pPr algn="ctr"/>
                      <a:r>
                        <a:rPr lang="en-US" sz="1600" dirty="0"/>
                        <a:t>000000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lw</a:t>
                      </a:r>
                      <a:endParaRPr lang="en-US" sz="1600" b="1" dirty="0"/>
                    </a:p>
                    <a:p>
                      <a:pPr algn="ctr"/>
                      <a:r>
                        <a:rPr lang="en-US" sz="1600" dirty="0"/>
                        <a:t>100011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sw</a:t>
                      </a:r>
                      <a:endParaRPr lang="en-US" sz="1600" b="1" dirty="0"/>
                    </a:p>
                    <a:p>
                      <a:pPr algn="ctr"/>
                      <a:r>
                        <a:rPr lang="en-US" sz="1600" dirty="0"/>
                        <a:t>101011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00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err="1"/>
                        <a:t>beq</a:t>
                      </a:r>
                      <a:endParaRPr lang="en-US" sz="1600" b="1" dirty="0"/>
                    </a:p>
                    <a:p>
                      <a:pPr algn="ctr"/>
                      <a:r>
                        <a:rPr lang="en-US" sz="1600" dirty="0"/>
                        <a:t>000100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X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01</a:t>
                      </a:r>
                    </a:p>
                  </a:txBody>
                  <a:tcPr marL="68580" marR="68580" marT="34290" marB="3429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89C4562-1CA7-45AA-AE08-F11CBCF765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980977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2092" y="796954"/>
            <a:ext cx="6933894" cy="2752030"/>
          </a:xfrm>
        </p:spPr>
        <p:txBody>
          <a:bodyPr>
            <a:normAutofit/>
          </a:bodyPr>
          <a:lstStyle/>
          <a:p>
            <a:r>
              <a:rPr lang="en-US" dirty="0"/>
              <a:t>Jump uses word address</a:t>
            </a:r>
          </a:p>
          <a:p>
            <a:r>
              <a:rPr lang="en-US" dirty="0"/>
              <a:t>Update PC with concatenation of</a:t>
            </a:r>
          </a:p>
          <a:p>
            <a:pPr lvl="1"/>
            <a:r>
              <a:rPr lang="en-US" dirty="0"/>
              <a:t>Top 4 bits of old PC</a:t>
            </a:r>
          </a:p>
          <a:p>
            <a:pPr lvl="1"/>
            <a:r>
              <a:rPr lang="en-US" dirty="0"/>
              <a:t>26-bit jump address</a:t>
            </a:r>
          </a:p>
          <a:p>
            <a:pPr lvl="1"/>
            <a:r>
              <a:rPr lang="en-US" dirty="0"/>
              <a:t>00</a:t>
            </a:r>
          </a:p>
          <a:p>
            <a:r>
              <a:rPr lang="en-US" dirty="0"/>
              <a:t>Need an extra control signal decoded from opcode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 Jumps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1399888" y="3783522"/>
            <a:ext cx="6210000" cy="540242"/>
            <a:chOff x="340484" y="2525988"/>
            <a:chExt cx="8280000" cy="720322"/>
          </a:xfrm>
        </p:grpSpPr>
        <p:sp>
          <p:nvSpPr>
            <p:cNvPr id="28" name="Rectangle 27"/>
            <p:cNvSpPr/>
            <p:nvPr/>
          </p:nvSpPr>
          <p:spPr>
            <a:xfrm>
              <a:off x="1708484" y="2526310"/>
              <a:ext cx="1296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>
                  <a:solidFill>
                    <a:sysClr val="windowText" lastClr="000000"/>
                  </a:solidFill>
                </a:rPr>
                <a:t>2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3004484" y="2526310"/>
              <a:ext cx="5616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>
                  <a:solidFill>
                    <a:sysClr val="windowText" lastClr="000000"/>
                  </a:solidFill>
                </a:rPr>
                <a:t>address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1708484" y="2886310"/>
              <a:ext cx="1296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>
                  <a:solidFill>
                    <a:sysClr val="windowText" lastClr="000000"/>
                  </a:solidFill>
                </a:rPr>
                <a:t>31:26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3004484" y="2886310"/>
              <a:ext cx="5616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>
                  <a:solidFill>
                    <a:sysClr val="windowText" lastClr="000000"/>
                  </a:solidFill>
                </a:rPr>
                <a:t>25:0</a:t>
              </a: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340484" y="2525988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b="1" dirty="0">
                  <a:solidFill>
                    <a:sysClr val="windowText" lastClr="000000"/>
                  </a:solidFill>
                </a:rPr>
                <a:t>Jump</a:t>
              </a: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F52D7-1C75-4222-92FE-E6152DE680E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19783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Datapath With Jump Added 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2C54CA46-F75B-46C1-B199-548761967132}"/>
              </a:ext>
            </a:extLst>
          </p:cNvPr>
          <p:cNvGrpSpPr/>
          <p:nvPr/>
        </p:nvGrpSpPr>
        <p:grpSpPr>
          <a:xfrm>
            <a:off x="1224793" y="886761"/>
            <a:ext cx="6937695" cy="3660071"/>
            <a:chOff x="2196131" y="895151"/>
            <a:chExt cx="4857464" cy="3827431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2130" b="1154"/>
            <a:stretch/>
          </p:blipFill>
          <p:spPr>
            <a:xfrm>
              <a:off x="2196131" y="895151"/>
              <a:ext cx="4857464" cy="3827431"/>
            </a:xfrm>
            <a:prstGeom prst="rect">
              <a:avLst/>
            </a:prstGeom>
          </p:spPr>
        </p:pic>
        <p:sp>
          <p:nvSpPr>
            <p:cNvPr id="10" name="Oval 9"/>
            <p:cNvSpPr/>
            <p:nvPr/>
          </p:nvSpPr>
          <p:spPr>
            <a:xfrm>
              <a:off x="4255294" y="1925955"/>
              <a:ext cx="302419" cy="10287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Oval 11"/>
            <p:cNvSpPr/>
            <p:nvPr/>
          </p:nvSpPr>
          <p:spPr>
            <a:xfrm>
              <a:off x="4418095" y="2697002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190025" y="4327559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Oval 13"/>
            <p:cNvSpPr/>
            <p:nvPr/>
          </p:nvSpPr>
          <p:spPr>
            <a:xfrm>
              <a:off x="6187090" y="299293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046870" y="4078781"/>
              <a:ext cx="189000" cy="189000"/>
            </a:xfrm>
            <a:prstGeom prst="ellipse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50" dirty="0">
                  <a:solidFill>
                    <a:srgbClr val="FF0000"/>
                  </a:solidFill>
                </a:rPr>
                <a:t>0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610274" y="1216691"/>
              <a:ext cx="189000" cy="1890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64FDB7A-6B52-44C2-9489-C34868C67E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127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Single-Cycle Implementation Cycle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5068" y="844153"/>
            <a:ext cx="7315200" cy="2469498"/>
          </a:xfrm>
        </p:spPr>
        <p:txBody>
          <a:bodyPr/>
          <a:lstStyle/>
          <a:p>
            <a:r>
              <a:rPr lang="en-US" dirty="0"/>
              <a:t>Unfortunately, though simple, the single cycle approach is not used because it is very slow</a:t>
            </a:r>
          </a:p>
          <a:p>
            <a:r>
              <a:rPr lang="en-US" dirty="0"/>
              <a:t>Clock cycle must have the same length for every instruction</a:t>
            </a:r>
          </a:p>
          <a:p>
            <a:r>
              <a:rPr lang="en-US" dirty="0"/>
              <a:t>What is the longest path (slowest instruction)?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38997E-47E8-4EB1-9201-4478CC3B7B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8095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Instruction Critical Paths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1512" y="844153"/>
            <a:ext cx="7357145" cy="1630599"/>
          </a:xfrm>
        </p:spPr>
        <p:txBody>
          <a:bodyPr>
            <a:normAutofit/>
          </a:bodyPr>
          <a:lstStyle/>
          <a:p>
            <a:r>
              <a:rPr lang="en-US" sz="2000" dirty="0"/>
              <a:t>Calculate cycle time assuming negligible delays (for </a:t>
            </a:r>
            <a:r>
              <a:rPr lang="en-US" sz="2000" dirty="0" err="1"/>
              <a:t>muxes</a:t>
            </a:r>
            <a:r>
              <a:rPr lang="en-US" sz="2000" dirty="0"/>
              <a:t>, control unit, sign extend, PC access, shift left 2, wires) except:</a:t>
            </a:r>
          </a:p>
          <a:p>
            <a:pPr lvl="1"/>
            <a:r>
              <a:rPr lang="en-US" sz="1600" dirty="0"/>
              <a:t>Instruction and Data Memory (4 ns)</a:t>
            </a:r>
          </a:p>
          <a:p>
            <a:pPr lvl="1"/>
            <a:r>
              <a:rPr lang="en-US" sz="1600" dirty="0"/>
              <a:t>ALU and adders (2 ns)</a:t>
            </a:r>
          </a:p>
          <a:p>
            <a:pPr lvl="1"/>
            <a:r>
              <a:rPr lang="en-US" sz="1600" dirty="0"/>
              <a:t>Register File access (reads or writes) (1 ns)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5243663"/>
              </p:ext>
            </p:extLst>
          </p:nvPr>
        </p:nvGraphicFramePr>
        <p:xfrm>
          <a:off x="1815380" y="2500563"/>
          <a:ext cx="5513241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06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7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31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Instruction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Mem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</a:t>
                      </a:r>
                      <a:r>
                        <a:rPr lang="en-US" sz="1400" baseline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Rd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ALU Op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 Mem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</a:t>
                      </a:r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Wr</a:t>
                      </a:r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Total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R-type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Load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store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beq</a:t>
                      </a:r>
                      <a:endParaRPr lang="en-US" sz="16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jump</a:t>
                      </a: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/>
                </a:tc>
                <a:tc>
                  <a:txBody>
                    <a:bodyPr/>
                    <a:lstStyle/>
                    <a:p>
                      <a:pPr algn="ctr"/>
                      <a:endParaRPr lang="en-US" sz="14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34290" marB="3429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组合 4">
            <a:extLst>
              <a:ext uri="{FF2B5EF4-FFF2-40B4-BE49-F238E27FC236}">
                <a16:creationId xmlns:a16="http://schemas.microsoft.com/office/drawing/2014/main" id="{72205BD4-62B6-4E51-B8E0-65808855767B}"/>
              </a:ext>
            </a:extLst>
          </p:cNvPr>
          <p:cNvGrpSpPr/>
          <p:nvPr/>
        </p:nvGrpSpPr>
        <p:grpSpPr>
          <a:xfrm>
            <a:off x="2890838" y="3171298"/>
            <a:ext cx="4432155" cy="1317565"/>
            <a:chOff x="2890838" y="3171298"/>
            <a:chExt cx="4432155" cy="1317565"/>
          </a:xfrm>
        </p:grpSpPr>
        <p:sp>
          <p:nvSpPr>
            <p:cNvPr id="7" name="TextBox 6"/>
            <p:cNvSpPr txBox="1"/>
            <p:nvPr/>
          </p:nvSpPr>
          <p:spPr>
            <a:xfrm>
              <a:off x="2890838" y="3171298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3610842" y="3171298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418733" y="3171298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/>
                <a:t>2</a:t>
              </a:r>
              <a:endParaRPr lang="en-US" sz="16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5198050" y="3171298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972604" y="3171298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680056" y="3171298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12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890838" y="3495922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610842" y="3495922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18733" y="3495922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198050" y="3495922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680056" y="3495922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11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890838" y="3817456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610842" y="3817456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1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418733" y="3817456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2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680056" y="3817456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7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890838" y="4150309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6680056" y="4150309"/>
              <a:ext cx="64293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4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6822049" y="3204378"/>
              <a:ext cx="378851" cy="23569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18F4F7C0-B3F6-4351-ABE0-9E51BCC7C7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8643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4" y="844153"/>
            <a:ext cx="7730455" cy="3671888"/>
          </a:xfrm>
        </p:spPr>
        <p:txBody>
          <a:bodyPr>
            <a:normAutofit/>
          </a:bodyPr>
          <a:lstStyle/>
          <a:p>
            <a:r>
              <a:rPr lang="en-US" dirty="0"/>
              <a:t>Longest delay determines clock period</a:t>
            </a:r>
          </a:p>
          <a:p>
            <a:pPr lvl="1"/>
            <a:r>
              <a:rPr lang="en-US" dirty="0"/>
              <a:t>Critical path: </a:t>
            </a:r>
            <a:r>
              <a:rPr lang="en-US" b="1" dirty="0">
                <a:solidFill>
                  <a:schemeClr val="accent1"/>
                </a:solidFill>
              </a:rPr>
              <a:t>load instruction</a:t>
            </a:r>
          </a:p>
          <a:p>
            <a:pPr lvl="1"/>
            <a:r>
              <a:rPr lang="en-US" dirty="0"/>
              <a:t>Instruction Memory → Registers → ALU </a:t>
            </a:r>
            <a:br>
              <a:rPr lang="en-US" dirty="0"/>
            </a:br>
            <a:r>
              <a:rPr lang="en-US" dirty="0"/>
              <a:t>→ Data Memory → Registers</a:t>
            </a:r>
          </a:p>
          <a:p>
            <a:r>
              <a:rPr lang="en-US" dirty="0"/>
              <a:t>Not feasible to vary period for different instructions</a:t>
            </a:r>
          </a:p>
          <a:p>
            <a:r>
              <a:rPr lang="en-US" dirty="0"/>
              <a:t>Violates design principle</a:t>
            </a:r>
          </a:p>
          <a:p>
            <a:pPr lvl="1"/>
            <a:r>
              <a:rPr lang="en-US" dirty="0"/>
              <a:t>Making the common case fast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22CBCA-33BC-4CF6-8F5A-3B4D3E66B9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8960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6345" y="844153"/>
            <a:ext cx="7743038" cy="3671888"/>
          </a:xfrm>
        </p:spPr>
        <p:txBody>
          <a:bodyPr>
            <a:noAutofit/>
          </a:bodyPr>
          <a:lstStyle/>
          <a:p>
            <a:r>
              <a:rPr lang="en-US" sz="2000" dirty="0"/>
              <a:t>Uses the clock cycle inefficiently – the clock cycle must be timed to accommodate the </a:t>
            </a:r>
            <a:r>
              <a:rPr lang="en-US" sz="2000" b="1" dirty="0">
                <a:solidFill>
                  <a:schemeClr val="accent1"/>
                </a:solidFill>
              </a:rPr>
              <a:t>slowest</a:t>
            </a:r>
            <a:r>
              <a:rPr lang="en-US" sz="2000" dirty="0">
                <a:solidFill>
                  <a:schemeClr val="accent1"/>
                </a:solidFill>
              </a:rPr>
              <a:t> </a:t>
            </a:r>
            <a:r>
              <a:rPr lang="en-US" sz="2000" dirty="0"/>
              <a:t>instruction</a:t>
            </a:r>
          </a:p>
          <a:p>
            <a:pPr lvl="1"/>
            <a:r>
              <a:rPr lang="en-US" sz="1600" dirty="0"/>
              <a:t>Especially problematic for more complex instructions, e.g., floating-point multiplication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May be wasteful of area since some functional units (e.g., adders) must be duplicated since they can not be shared during a clock cycle</a:t>
            </a:r>
          </a:p>
          <a:p>
            <a:r>
              <a:rPr lang="en-US" sz="2000" dirty="0"/>
              <a:t>But it is simple and easy to understand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Single Cycle Disadvantages &amp; Advantages</a:t>
            </a:r>
          </a:p>
        </p:txBody>
      </p:sp>
      <p:grpSp>
        <p:nvGrpSpPr>
          <p:cNvPr id="38" name="Group 37"/>
          <p:cNvGrpSpPr/>
          <p:nvPr/>
        </p:nvGrpSpPr>
        <p:grpSpPr>
          <a:xfrm>
            <a:off x="1258350" y="2197887"/>
            <a:ext cx="6426423" cy="1017581"/>
            <a:chOff x="-36564" y="2966613"/>
            <a:chExt cx="8568564" cy="1356774"/>
          </a:xfrm>
        </p:grpSpPr>
        <p:sp>
          <p:nvSpPr>
            <p:cNvPr id="8" name="Rectangle 7"/>
            <p:cNvSpPr/>
            <p:nvPr/>
          </p:nvSpPr>
          <p:spPr>
            <a:xfrm>
              <a:off x="972000" y="3963387"/>
              <a:ext cx="36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 err="1">
                  <a:solidFill>
                    <a:sysClr val="windowText" lastClr="000000"/>
                  </a:solidFill>
                </a:rPr>
                <a:t>lw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4572000" y="3963387"/>
              <a:ext cx="27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 err="1">
                  <a:solidFill>
                    <a:sysClr val="windowText" lastClr="000000"/>
                  </a:solidFill>
                </a:rPr>
                <a:t>sw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088000" y="2966613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>
                  <a:solidFill>
                    <a:sysClr val="windowText" lastClr="000000"/>
                  </a:solidFill>
                </a:rPr>
                <a:t>Cycle 1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7272000" y="3963387"/>
              <a:ext cx="900000" cy="360000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rgbClr val="FF0000"/>
                  </a:solidFill>
                </a:rPr>
                <a:t>waste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>
              <a:off x="9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>
              <a:off x="972000" y="3810372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27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2772000" y="3561368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>
              <a:off x="45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4572000" y="3810372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>
              <a:off x="63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 flipH="1">
              <a:off x="6372000" y="3561368"/>
              <a:ext cx="180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8172000" y="3558372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 rot="5400000">
              <a:off x="8352000" y="3630372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rot="5400000">
              <a:off x="792000" y="3386481"/>
              <a:ext cx="0" cy="3600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9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45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8172000" y="3269616"/>
              <a:ext cx="0" cy="252000"/>
            </a:xfrm>
            <a:prstGeom prst="line">
              <a:avLst/>
            </a:prstGeom>
            <a:ln w="19050">
              <a:solidFill>
                <a:schemeClr val="tx1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H="1">
              <a:off x="4572000" y="339561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H="1">
              <a:off x="972000" y="3395616"/>
              <a:ext cx="3600000" cy="0"/>
            </a:xfrm>
            <a:prstGeom prst="line">
              <a:avLst/>
            </a:prstGeom>
            <a:ln w="19050">
              <a:solidFill>
                <a:schemeClr val="tx1"/>
              </a:solidFill>
              <a:headEnd type="triangle" w="lg" len="lg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/>
            <p:cNvSpPr/>
            <p:nvPr/>
          </p:nvSpPr>
          <p:spPr>
            <a:xfrm>
              <a:off x="5687999" y="2966613"/>
              <a:ext cx="1368000" cy="360000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>
                  <a:solidFill>
                    <a:sysClr val="windowText" lastClr="000000"/>
                  </a:solidFill>
                </a:rPr>
                <a:t>Cycle 2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-36564" y="3548286"/>
              <a:ext cx="665216" cy="316084"/>
            </a:xfrm>
            <a:prstGeom prst="rect">
              <a:avLst/>
            </a:prstGeom>
            <a:noFill/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50" dirty="0" err="1">
                  <a:solidFill>
                    <a:sysClr val="windowText" lastClr="000000"/>
                  </a:solidFill>
                </a:rPr>
                <a:t>Clk</a:t>
              </a:r>
              <a:endParaRPr lang="en-US" sz="135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D8C8F9-F18F-4B10-85A8-7093A085C47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B6BDF2-6896-4B98-8776-C18582F63BA5}" type="slidenum">
              <a:rPr lang="zh-TW" altLang="en-US" smtClean="0"/>
              <a:pPr/>
              <a:t>34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58746602"/>
      </p:ext>
    </p:extLst>
  </p:cSld>
  <p:clrMapOvr>
    <a:masterClrMapping/>
  </p:clrMapOvr>
</p:sld>
</file>

<file path=ppt/theme/theme1.xml><?xml version="1.0" encoding="utf-8"?>
<a:theme xmlns:a="http://schemas.openxmlformats.org/drawingml/2006/main" name="NTHU UniClou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預設簡報設計">
      <a:majorFont>
        <a:latin typeface="MS Sans Serif"/>
        <a:ea typeface="MS Sans Serif"/>
        <a:cs typeface="MS Sans Serif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5875" cap="flat" cmpd="sng" algn="ctr">
          <a:solidFill>
            <a:srgbClr val="FF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TW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新細明體" pitchFamily="18" charset="-120"/>
          </a:defRPr>
        </a:defPPr>
      </a:lstStyle>
    </a:lnDef>
    <a:txDef>
      <a:spPr>
        <a:noFill/>
      </a:spPr>
      <a:bodyPr wrap="none" rtlCol="0" anchor="ctr" anchorCtr="1">
        <a:spAutoFit/>
      </a:bodyPr>
      <a:lstStyle>
        <a:defPPr>
          <a:defRPr dirty="0" smtClean="0">
            <a:ea typeface="標楷體" pitchFamily="65" charset="-120"/>
            <a:cs typeface="Calibri" pitchFamily="34" charset="0"/>
          </a:defRPr>
        </a:defPPr>
      </a:lstStyle>
    </a:txDef>
  </a:objectDefaults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THU UniCloud" id="{771810AA-CEBD-463A-B947-7C0DFAF8BB54}" vid="{30CF6CD1-9989-4B2E-8702-709C1DF65D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NTHU UniCloud</Template>
  <TotalTime>2582</TotalTime>
  <Words>1572</Words>
  <Application>Microsoft Office PowerPoint</Application>
  <PresentationFormat>全屏显示(16:9)</PresentationFormat>
  <Paragraphs>497</Paragraphs>
  <Slides>34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0" baseType="lpstr">
      <vt:lpstr>MS Sans Serif</vt:lpstr>
      <vt:lpstr>Arial</vt:lpstr>
      <vt:lpstr>Calibri</vt:lpstr>
      <vt:lpstr>Courier New</vt:lpstr>
      <vt:lpstr>Wingdings</vt:lpstr>
      <vt:lpstr>NTHU UniCloud</vt:lpstr>
      <vt:lpstr>CSC3050 – Computer Architecture</vt:lpstr>
      <vt:lpstr>Datapath and Control</vt:lpstr>
      <vt:lpstr>Clock Methodology</vt:lpstr>
      <vt:lpstr>Fetch Instructions</vt:lpstr>
      <vt:lpstr>Decode Instructions</vt:lpstr>
      <vt:lpstr>Read Registers “Just in Case”</vt:lpstr>
      <vt:lpstr>Executing R Format Operations</vt:lpstr>
      <vt:lpstr>Execute Load and Store Operations (1)</vt:lpstr>
      <vt:lpstr>Execute Load and Store Operations (2)</vt:lpstr>
      <vt:lpstr>Execute Branch Operations (1)</vt:lpstr>
      <vt:lpstr>Executing Branch Operations (2)</vt:lpstr>
      <vt:lpstr>Execute Jump Operations</vt:lpstr>
      <vt:lpstr>Create a Single Datapath from the Parts</vt:lpstr>
      <vt:lpstr>Datapath for R-type and Memory Instructions</vt:lpstr>
      <vt:lpstr>Add Branch Instructions</vt:lpstr>
      <vt:lpstr>Our Simple Control Structure</vt:lpstr>
      <vt:lpstr>Add the Control</vt:lpstr>
      <vt:lpstr>Complete Single-Cycle Datapath</vt:lpstr>
      <vt:lpstr>ALU Control (1)</vt:lpstr>
      <vt:lpstr>ALU Control (2)</vt:lpstr>
      <vt:lpstr>Design the Main Control Unit</vt:lpstr>
      <vt:lpstr>The Main Control Unit</vt:lpstr>
      <vt:lpstr>Complete Single-Cycle Datapath</vt:lpstr>
      <vt:lpstr>Datapath with Control</vt:lpstr>
      <vt:lpstr>R-type Instruction</vt:lpstr>
      <vt:lpstr>Load Instruction</vt:lpstr>
      <vt:lpstr>Branch-on-Equal Instruction</vt:lpstr>
      <vt:lpstr>Control Lines</vt:lpstr>
      <vt:lpstr>Implement Jumps</vt:lpstr>
      <vt:lpstr>Datapath With Jump Added </vt:lpstr>
      <vt:lpstr>Single-Cycle Implementation Cycle Time</vt:lpstr>
      <vt:lpstr>Instruction Critical Paths</vt:lpstr>
      <vt:lpstr>Performance Issues</vt:lpstr>
      <vt:lpstr>Single Cycle Disadvantages &amp; Advantages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Open 5G / IoT Cloud Platform</dc:title>
  <dc:creator>Wu-Chun Chung</dc:creator>
  <cp:lastModifiedBy>Yeh-Ching Chung 鍾葉青）</cp:lastModifiedBy>
  <cp:revision>269</cp:revision>
  <dcterms:created xsi:type="dcterms:W3CDTF">2015-06-05T07:23:35Z</dcterms:created>
  <dcterms:modified xsi:type="dcterms:W3CDTF">2019-03-10T10:00:22Z</dcterms:modified>
</cp:coreProperties>
</file>