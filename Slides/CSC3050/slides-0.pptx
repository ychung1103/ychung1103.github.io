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352" r:id="rId3"/>
    <p:sldId id="353" r:id="rId4"/>
    <p:sldId id="354" r:id="rId5"/>
    <p:sldId id="355" r:id="rId6"/>
    <p:sldId id="356" r:id="rId7"/>
    <p:sldId id="357" r:id="rId8"/>
    <p:sldId id="358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667" y="403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2019/1/7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2019/1/7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 smtClean="0"/>
              <a:t>Click to edit Master text styles</a:t>
            </a:r>
          </a:p>
          <a:p>
            <a:pPr lvl="1"/>
            <a:r>
              <a:rPr lang="en-US" altLang="zh-TW" dirty="0" smtClean="0"/>
              <a:t>Second level</a:t>
            </a:r>
          </a:p>
          <a:p>
            <a:pPr lvl="2"/>
            <a:r>
              <a:rPr lang="en-US" altLang="zh-TW" dirty="0" smtClean="0"/>
              <a:t>Third level</a:t>
            </a:r>
          </a:p>
          <a:p>
            <a:pPr lvl="3"/>
            <a:r>
              <a:rPr lang="en-US" altLang="zh-TW" dirty="0" smtClean="0"/>
              <a:t>Fourth level</a:t>
            </a:r>
          </a:p>
          <a:p>
            <a:pPr lvl="4"/>
            <a:r>
              <a:rPr lang="en-US" altLang="zh-TW" dirty="0" smtClean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 smtClean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 smtClean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 smtClean="0"/>
              <a:t>Click to edit Master text styles</a:t>
            </a:r>
          </a:p>
          <a:p>
            <a:pPr lvl="1"/>
            <a:r>
              <a:rPr lang="en-US" altLang="zh-TW" dirty="0" smtClean="0"/>
              <a:t>Second level</a:t>
            </a:r>
          </a:p>
          <a:p>
            <a:pPr lvl="2"/>
            <a:r>
              <a:rPr lang="en-US" altLang="zh-TW" dirty="0" smtClean="0"/>
              <a:t>Third level</a:t>
            </a:r>
          </a:p>
          <a:p>
            <a:pPr lvl="3"/>
            <a:r>
              <a:rPr lang="en-US" altLang="zh-TW" dirty="0" smtClean="0"/>
              <a:t>Fourth level</a:t>
            </a:r>
          </a:p>
          <a:p>
            <a:pPr lvl="4"/>
            <a:r>
              <a:rPr lang="en-US" altLang="zh-TW" dirty="0" smtClean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 smtClean="0"/>
              <a:t>Click to edit Master text styles</a:t>
            </a:r>
          </a:p>
          <a:p>
            <a:pPr lvl="1"/>
            <a:r>
              <a:rPr lang="en-US" altLang="zh-TW" dirty="0" smtClean="0"/>
              <a:t>Second level</a:t>
            </a:r>
          </a:p>
          <a:p>
            <a:pPr lvl="2"/>
            <a:r>
              <a:rPr lang="en-US" altLang="zh-TW" dirty="0" smtClean="0"/>
              <a:t>Third level</a:t>
            </a:r>
          </a:p>
          <a:p>
            <a:pPr lvl="3"/>
            <a:r>
              <a:rPr lang="en-US" altLang="zh-TW" dirty="0" smtClean="0"/>
              <a:t>Fourth level</a:t>
            </a:r>
          </a:p>
          <a:p>
            <a:pPr lvl="4"/>
            <a:r>
              <a:rPr lang="en-US" altLang="zh-TW" dirty="0" smtClean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 smtClean="0"/>
              <a:t>Click to edit Master text styles</a:t>
            </a:r>
          </a:p>
          <a:p>
            <a:pPr lvl="1"/>
            <a:r>
              <a:rPr lang="en-US" altLang="zh-TW" dirty="0" smtClean="0"/>
              <a:t>Second level</a:t>
            </a:r>
          </a:p>
          <a:p>
            <a:pPr lvl="2"/>
            <a:r>
              <a:rPr lang="en-US" altLang="zh-TW" dirty="0" smtClean="0"/>
              <a:t>Third level</a:t>
            </a:r>
          </a:p>
          <a:p>
            <a:pPr lvl="3"/>
            <a:r>
              <a:rPr lang="en-US" altLang="zh-TW" dirty="0" smtClean="0"/>
              <a:t>Fourth level</a:t>
            </a:r>
          </a:p>
          <a:p>
            <a:pPr lvl="4"/>
            <a:r>
              <a:rPr lang="en-US" altLang="zh-TW" dirty="0" smtClean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 smtClean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 smtClean="0"/>
              <a:t>Click icon to add picture</a:t>
            </a:r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 smtClean="0"/>
              <a:t>Click icon to add table</a:t>
            </a:r>
            <a:endParaRPr lang="zh-TW" altLang="en-US" noProof="0" smtClean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按一下以編輯母片</a:t>
            </a:r>
          </a:p>
          <a:p>
            <a:pPr lvl="1"/>
            <a:endParaRPr lang="zh-TW" altLang="en-US" dirty="0" smtClean="0"/>
          </a:p>
          <a:p>
            <a:pPr lvl="0"/>
            <a:endParaRPr lang="en-US" altLang="zh-TW" dirty="0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242" y="-742591"/>
            <a:ext cx="7888289" cy="692151"/>
          </a:xfrm>
        </p:spPr>
        <p:txBody>
          <a:bodyPr/>
          <a:lstStyle/>
          <a:p>
            <a:r>
              <a:rPr lang="en-US" dirty="0" smtClean="0"/>
              <a:t>Course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8302" y="854015"/>
            <a:ext cx="7254815" cy="368348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Instructor</a:t>
            </a:r>
          </a:p>
          <a:p>
            <a:pPr lvl="1"/>
            <a:r>
              <a:rPr lang="en-US" dirty="0" smtClean="0"/>
              <a:t>Dr. Yeh-Ching Chung (ychung@cuhk.edu.hk)</a:t>
            </a:r>
          </a:p>
          <a:p>
            <a:r>
              <a:rPr lang="en-US" b="1" dirty="0" smtClean="0">
                <a:solidFill>
                  <a:schemeClr val="accent1"/>
                </a:solidFill>
              </a:rPr>
              <a:t>Course Tutor</a:t>
            </a:r>
          </a:p>
          <a:p>
            <a:pPr lvl="1"/>
            <a:r>
              <a:rPr lang="en-US" altLang="zh-TW" dirty="0" smtClean="0"/>
              <a:t>Huang </a:t>
            </a:r>
            <a:r>
              <a:rPr lang="en-US" altLang="zh-TW" dirty="0" err="1" smtClean="0"/>
              <a:t>Zhipeng</a:t>
            </a:r>
            <a:r>
              <a:rPr lang="en-US" altLang="zh-TW" dirty="0" smtClean="0"/>
              <a:t> (</a:t>
            </a:r>
            <a:r>
              <a:rPr lang="zh-CN" altLang="zh-TW" dirty="0" smtClean="0"/>
              <a:t>黄智鹏</a:t>
            </a:r>
            <a:r>
              <a:rPr lang="en-US" altLang="zh-TW" dirty="0" smtClean="0"/>
              <a:t>):</a:t>
            </a:r>
            <a:r>
              <a:rPr lang="en-US" altLang="zh-TW" sz="1600" dirty="0"/>
              <a:t> </a:t>
            </a:r>
            <a:r>
              <a:rPr lang="en-US" altLang="zh-TW" dirty="0" smtClean="0"/>
              <a:t>huangzhipeng@cuhk.edu.cn</a:t>
            </a:r>
            <a:endParaRPr lang="en-US" altLang="zh-TW" sz="1600" dirty="0"/>
          </a:p>
          <a:p>
            <a:pPr lvl="1"/>
            <a:r>
              <a:rPr lang="en-US" altLang="zh-TW" dirty="0" err="1" smtClean="0"/>
              <a:t>Shuai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Kefan</a:t>
            </a:r>
            <a:r>
              <a:rPr lang="en-US" altLang="zh-TW" dirty="0" smtClean="0"/>
              <a:t> (</a:t>
            </a:r>
            <a:r>
              <a:rPr lang="zh-CN" altLang="zh-TW" dirty="0" smtClean="0"/>
              <a:t>帅克凡</a:t>
            </a:r>
            <a:r>
              <a:rPr lang="en-US" altLang="zh-TW" dirty="0" smtClean="0"/>
              <a:t>): 218019066@link.cuhk.edu.cn</a:t>
            </a:r>
          </a:p>
          <a:p>
            <a:r>
              <a:rPr lang="en-US" b="1" dirty="0" smtClean="0">
                <a:solidFill>
                  <a:schemeClr val="accent1"/>
                </a:solidFill>
              </a:rPr>
              <a:t>Lectures</a:t>
            </a:r>
            <a:endParaRPr lang="en-US" b="1" dirty="0">
              <a:solidFill>
                <a:schemeClr val="accent1"/>
              </a:solidFill>
            </a:endParaRPr>
          </a:p>
          <a:p>
            <a:pPr lvl="1"/>
            <a:r>
              <a:rPr lang="en-US" dirty="0" smtClean="0"/>
              <a:t>Monday</a:t>
            </a:r>
            <a:r>
              <a:rPr lang="en-US" dirty="0"/>
              <a:t>	</a:t>
            </a:r>
            <a:r>
              <a:rPr lang="en-US" dirty="0" smtClean="0"/>
              <a:t>11:00pm – 12:30pm	</a:t>
            </a:r>
            <a:r>
              <a:rPr lang="en-US" dirty="0" err="1" smtClean="0"/>
              <a:t>Chengdao</a:t>
            </a:r>
            <a:r>
              <a:rPr lang="en-US" dirty="0" smtClean="0"/>
              <a:t> Building 102</a:t>
            </a:r>
          </a:p>
          <a:p>
            <a:pPr lvl="1"/>
            <a:r>
              <a:rPr lang="en-US" dirty="0" smtClean="0"/>
              <a:t>Thursday	11:00pm </a:t>
            </a:r>
            <a:r>
              <a:rPr lang="en-US" dirty="0"/>
              <a:t>– </a:t>
            </a:r>
            <a:r>
              <a:rPr lang="en-US" dirty="0" smtClean="0"/>
              <a:t>12:30pm</a:t>
            </a:r>
            <a:r>
              <a:rPr lang="en-US" dirty="0"/>
              <a:t>	</a:t>
            </a:r>
            <a:r>
              <a:rPr lang="en-US" dirty="0" smtClean="0"/>
              <a:t>Administration Building E206</a:t>
            </a:r>
          </a:p>
          <a:p>
            <a:r>
              <a:rPr lang="en-US" b="1" dirty="0" smtClean="0">
                <a:solidFill>
                  <a:schemeClr val="accent1"/>
                </a:solidFill>
              </a:rPr>
              <a:t>Tutorials</a:t>
            </a:r>
          </a:p>
          <a:p>
            <a:pPr lvl="1"/>
            <a:r>
              <a:rPr lang="en-US" dirty="0" smtClean="0"/>
              <a:t>Monday </a:t>
            </a:r>
            <a:r>
              <a:rPr lang="en-US" dirty="0"/>
              <a:t>	</a:t>
            </a:r>
            <a:r>
              <a:rPr lang="en-US" dirty="0" smtClean="0"/>
              <a:t>6:00pm </a:t>
            </a:r>
            <a:r>
              <a:rPr lang="en-US" dirty="0"/>
              <a:t>– </a:t>
            </a:r>
            <a:r>
              <a:rPr lang="en-US" dirty="0" smtClean="0"/>
              <a:t>7:00pm</a:t>
            </a:r>
            <a:r>
              <a:rPr lang="en-US" dirty="0"/>
              <a:t>	</a:t>
            </a:r>
            <a:r>
              <a:rPr lang="en-US" dirty="0" smtClean="0"/>
              <a:t>TD 108</a:t>
            </a:r>
          </a:p>
          <a:p>
            <a:pPr lvl="1"/>
            <a:r>
              <a:rPr lang="en-US" dirty="0" smtClean="0"/>
              <a:t>Tuesday	6:00pm </a:t>
            </a:r>
            <a:r>
              <a:rPr lang="en-US" dirty="0"/>
              <a:t>– </a:t>
            </a:r>
            <a:r>
              <a:rPr lang="en-US" dirty="0" smtClean="0"/>
              <a:t>8:00pm	TD 108</a:t>
            </a:r>
          </a:p>
          <a:p>
            <a:r>
              <a:rPr lang="en-US" b="1" dirty="0">
                <a:solidFill>
                  <a:schemeClr val="accent1"/>
                </a:solidFill>
              </a:rPr>
              <a:t>Online Platform</a:t>
            </a:r>
          </a:p>
          <a:p>
            <a:pPr lvl="1"/>
            <a:r>
              <a:rPr lang="en-US" dirty="0"/>
              <a:t>Blackboard (https://</a:t>
            </a:r>
            <a:r>
              <a:rPr lang="en-US" dirty="0" smtClean="0"/>
              <a:t>bb.cuhk.edu.cn)</a:t>
            </a:r>
            <a:endParaRPr lang="en-US" dirty="0"/>
          </a:p>
          <a:p>
            <a:pPr marL="457189" lvl="1" indent="0">
              <a:buNone/>
            </a:pP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2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Information</a:t>
            </a:r>
            <a:endParaRPr lang="en-US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08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Textbook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Reference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76893" y="3321171"/>
            <a:ext cx="3115213" cy="1176982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 smtClean="0"/>
              <a:t>(Textbook)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 smtClean="0"/>
              <a:t>Computer </a:t>
            </a:r>
            <a:r>
              <a:rPr lang="en-US" b="1" dirty="0"/>
              <a:t>Organization and Design: The Hardware/Software </a:t>
            </a:r>
            <a:r>
              <a:rPr lang="en-US" b="1" dirty="0" smtClean="0"/>
              <a:t>Interface (5th Edition)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David A. Patterson and John L. Hennessy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 smtClean="0"/>
              <a:t>Elsevier © 2013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839418" y="3321170"/>
            <a:ext cx="3675931" cy="1176982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 smtClean="0"/>
              <a:t>(Reference)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 smtClean="0"/>
              <a:t>Introduction </a:t>
            </a:r>
            <a:r>
              <a:rPr lang="en-US" b="1" dirty="0"/>
              <a:t>to Computing Systems: From Bits &amp; Gates to C &amp; </a:t>
            </a:r>
            <a:r>
              <a:rPr lang="en-US" b="1" dirty="0" smtClean="0"/>
              <a:t>Beyond (2nd Edition)</a:t>
            </a:r>
            <a:endParaRPr lang="en-US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Yale </a:t>
            </a:r>
            <a:r>
              <a:rPr lang="en-US" dirty="0" smtClean="0"/>
              <a:t>N. </a:t>
            </a:r>
            <a:r>
              <a:rPr lang="en-US" dirty="0" err="1" smtClean="0"/>
              <a:t>Patt</a:t>
            </a:r>
            <a:r>
              <a:rPr lang="en-US" dirty="0" smtClean="0"/>
              <a:t> </a:t>
            </a:r>
            <a:r>
              <a:rPr lang="en-US" dirty="0"/>
              <a:t>and Sanjay </a:t>
            </a:r>
            <a:r>
              <a:rPr lang="en-US" dirty="0" smtClean="0"/>
              <a:t>J. Patel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 smtClean="0"/>
              <a:t>McGraw-Hill © 2004</a:t>
            </a:r>
            <a:endParaRPr lang="en-US" dirty="0"/>
          </a:p>
        </p:txBody>
      </p:sp>
      <p:pic>
        <p:nvPicPr>
          <p:cNvPr id="1028" name="Picture 4" descr="https://secure-ecsd.elsevier.com/covers/80/Tango2/large/978012407726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311" y="969914"/>
            <a:ext cx="1885951" cy="222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highered.mheducation.com/sites/dl/free/0072467509/cover/Patt_l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411" y="969914"/>
            <a:ext cx="1791677" cy="222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94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423" y="108349"/>
            <a:ext cx="7623267" cy="519113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Syllabus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090" y="930417"/>
            <a:ext cx="8229600" cy="2951470"/>
          </a:xfrm>
        </p:spPr>
        <p:txBody>
          <a:bodyPr/>
          <a:lstStyle/>
          <a:p>
            <a:r>
              <a:rPr lang="en-US" sz="2400" dirty="0"/>
              <a:t>Introduction to the major components of a computer system, </a:t>
            </a:r>
            <a:r>
              <a:rPr lang="en-US" sz="2400" dirty="0" smtClean="0"/>
              <a:t>how they </a:t>
            </a:r>
            <a:r>
              <a:rPr lang="en-US" sz="2400" dirty="0"/>
              <a:t>function together in executing a program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Introduction to CPU </a:t>
            </a:r>
            <a:r>
              <a:rPr lang="en-US" sz="2400" dirty="0" err="1"/>
              <a:t>datapath</a:t>
            </a:r>
            <a:r>
              <a:rPr lang="en-US" sz="2400" dirty="0"/>
              <a:t> and control unit </a:t>
            </a:r>
            <a:r>
              <a:rPr lang="en-US" sz="2400" dirty="0" smtClean="0"/>
              <a:t>design.</a:t>
            </a:r>
          </a:p>
          <a:p>
            <a:r>
              <a:rPr lang="en-US" sz="2400" dirty="0"/>
              <a:t>Introduction to techniques to improve performance </a:t>
            </a:r>
            <a:r>
              <a:rPr lang="en-US" sz="2400" dirty="0" smtClean="0"/>
              <a:t>and energy-efficiency </a:t>
            </a:r>
            <a:r>
              <a:rPr lang="en-US" sz="2400" dirty="0"/>
              <a:t>of computer </a:t>
            </a:r>
            <a:r>
              <a:rPr lang="en-US" sz="2400" dirty="0" smtClean="0"/>
              <a:t>systems.</a:t>
            </a:r>
          </a:p>
          <a:p>
            <a:r>
              <a:rPr lang="en-US" sz="2400" dirty="0"/>
              <a:t>Introduction to multiprocessor </a:t>
            </a:r>
            <a:r>
              <a:rPr lang="en-US" sz="2400" dirty="0" smtClean="0"/>
              <a:t>architecture.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612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291" y="108349"/>
            <a:ext cx="7666399" cy="519113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Topics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189" indent="-457189">
              <a:buFont typeface="+mj-lt"/>
              <a:buAutoNum type="arabicPeriod"/>
            </a:pPr>
            <a:r>
              <a:rPr lang="en-US" sz="2400" dirty="0"/>
              <a:t>Introduction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Digital Logic Review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Instruction Set Architecture (ISA)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Arithmetic and Logic Unit (ALU)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 err="1"/>
              <a:t>Datapath</a:t>
            </a:r>
            <a:endParaRPr lang="en-US" sz="2400" dirty="0"/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Pipelining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Memory and Cache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Virtual Memory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 err="1"/>
              <a:t>Input/Output</a:t>
            </a:r>
            <a:r>
              <a:rPr lang="en-US" sz="2400" dirty="0"/>
              <a:t> (I/O) Systems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Instruction-Level Parallelism (ILP)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/>
              <a:t>Multi-Threading and Multi-Core</a:t>
            </a:r>
          </a:p>
          <a:p>
            <a:pPr marL="514338" indent="-514338">
              <a:buFont typeface="+mj-lt"/>
              <a:buAutoNum type="arabicPeriod"/>
            </a:pPr>
            <a:endParaRPr lang="en-US" sz="2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91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026" y="108349"/>
            <a:ext cx="7752664" cy="519113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Assessment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399"/>
            <a:ext cx="8229600" cy="3601641"/>
          </a:xfrm>
        </p:spPr>
        <p:txBody>
          <a:bodyPr>
            <a:noAutofit/>
          </a:bodyPr>
          <a:lstStyle/>
          <a:p>
            <a:r>
              <a:rPr lang="en-US" sz="2000" dirty="0" smtClean="0"/>
              <a:t>Class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participation</a:t>
            </a:r>
            <a:r>
              <a:rPr lang="en-US" sz="2000" dirty="0" smtClean="0"/>
              <a:t> (5%)</a:t>
            </a:r>
          </a:p>
          <a:p>
            <a:r>
              <a:rPr lang="en-US" sz="2000" dirty="0" smtClean="0"/>
              <a:t>Programming Projects (65%)</a:t>
            </a:r>
          </a:p>
          <a:p>
            <a:r>
              <a:rPr lang="en-US" sz="2000" dirty="0" smtClean="0"/>
              <a:t>Final Exam (30%)</a:t>
            </a:r>
          </a:p>
          <a:p>
            <a:r>
              <a:rPr lang="en-US" sz="2000" dirty="0"/>
              <a:t>If you need to apply for a leave for final exam, send email to me with supporting document beforehand.</a:t>
            </a:r>
          </a:p>
          <a:p>
            <a:r>
              <a:rPr lang="en-US" sz="2000" dirty="0"/>
              <a:t>If you are ill, obtain a medical note and email it to me as soon as possible and no later than a week after your absence.</a:t>
            </a:r>
          </a:p>
          <a:p>
            <a:r>
              <a:rPr lang="en-US" sz="2000" dirty="0"/>
              <a:t>Students are responsible to keep track on their marks.</a:t>
            </a:r>
          </a:p>
          <a:p>
            <a:r>
              <a:rPr lang="en-US" sz="2000" dirty="0"/>
              <a:t>Any objection to the course marks should be made by email within two weeks of mark announcement. No change will be made afterwards.</a:t>
            </a:r>
          </a:p>
        </p:txBody>
      </p:sp>
    </p:spTree>
    <p:extLst>
      <p:ext uri="{BB962C8B-B14F-4D97-AF65-F5344CB8AC3E}">
        <p14:creationId xmlns:p14="http://schemas.microsoft.com/office/powerpoint/2010/main" val="82181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302" y="108349"/>
            <a:ext cx="7597388" cy="519113"/>
          </a:xfrm>
        </p:spPr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Outcome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3410"/>
            <a:ext cx="8229600" cy="3486989"/>
          </a:xfrm>
        </p:spPr>
        <p:txBody>
          <a:bodyPr/>
          <a:lstStyle/>
          <a:p>
            <a:r>
              <a:rPr lang="en-US" sz="2400" dirty="0"/>
              <a:t>Upon completing this course, students will be able </a:t>
            </a:r>
            <a:r>
              <a:rPr lang="en-US" sz="2400" dirty="0" smtClean="0"/>
              <a:t>to</a:t>
            </a:r>
            <a:endParaRPr lang="en-US" dirty="0"/>
          </a:p>
          <a:p>
            <a:pPr lvl="1"/>
            <a:r>
              <a:rPr lang="en-US" sz="2000" dirty="0" smtClean="0"/>
              <a:t>Design assembler and simulator of MIPS </a:t>
            </a:r>
          </a:p>
          <a:p>
            <a:pPr lvl="1"/>
            <a:r>
              <a:rPr lang="en-US" sz="2000" dirty="0" smtClean="0"/>
              <a:t>D</a:t>
            </a:r>
            <a:r>
              <a:rPr lang="en-US" sz="2000" dirty="0" smtClean="0"/>
              <a:t>esign </a:t>
            </a:r>
            <a:r>
              <a:rPr lang="en-US" sz="2000" dirty="0"/>
              <a:t>pipelined microprocessor using Hardware Description </a:t>
            </a:r>
            <a:r>
              <a:rPr lang="en-US" sz="2000" dirty="0" smtClean="0"/>
              <a:t>Language (HDL)</a:t>
            </a:r>
            <a:endParaRPr lang="en-US" sz="2000" dirty="0"/>
          </a:p>
          <a:p>
            <a:pPr lvl="1"/>
            <a:r>
              <a:rPr lang="en-US" sz="2000" dirty="0"/>
              <a:t>E</a:t>
            </a:r>
            <a:r>
              <a:rPr lang="en-US" sz="2000" dirty="0" smtClean="0"/>
              <a:t>valuate </a:t>
            </a:r>
            <a:r>
              <a:rPr lang="en-US" sz="2000" dirty="0"/>
              <a:t>the performance of computer systems</a:t>
            </a:r>
          </a:p>
          <a:p>
            <a:pPr lvl="1"/>
            <a:r>
              <a:rPr lang="en-US" sz="2000" dirty="0"/>
              <a:t>M</a:t>
            </a:r>
            <a:r>
              <a:rPr lang="en-US" sz="2000" dirty="0" smtClean="0"/>
              <a:t>easure </a:t>
            </a:r>
            <a:r>
              <a:rPr lang="en-US" sz="2000" dirty="0"/>
              <a:t>the memory access performance of a processor, and tune cache design parameters to improve performance</a:t>
            </a:r>
          </a:p>
          <a:p>
            <a:pPr lvl="1"/>
            <a:r>
              <a:rPr lang="en-US" sz="2000" dirty="0"/>
              <a:t>T</a:t>
            </a:r>
            <a:r>
              <a:rPr lang="en-US" sz="2000" dirty="0" smtClean="0"/>
              <a:t>ranslate </a:t>
            </a:r>
            <a:r>
              <a:rPr lang="en-US" sz="2000" dirty="0"/>
              <a:t>simple programs from C to machine language</a:t>
            </a:r>
          </a:p>
        </p:txBody>
      </p:sp>
    </p:spTree>
    <p:extLst>
      <p:ext uri="{BB962C8B-B14F-4D97-AF65-F5344CB8AC3E}">
        <p14:creationId xmlns:p14="http://schemas.microsoft.com/office/powerpoint/2010/main" val="373098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Honesty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Zero Tolerance</a:t>
            </a:r>
          </a:p>
          <a:p>
            <a:pPr lvl="1"/>
            <a:r>
              <a:rPr lang="en-US" dirty="0"/>
              <a:t>Plagiarism, cheating, misconduct in test/exam will be reported to the </a:t>
            </a:r>
            <a:r>
              <a:rPr lang="en-US" dirty="0" smtClean="0"/>
              <a:t>School </a:t>
            </a:r>
            <a:r>
              <a:rPr lang="en-US" dirty="0"/>
              <a:t>for handing.</a:t>
            </a:r>
            <a:endParaRPr lang="en-US" dirty="0" smtClean="0"/>
          </a:p>
          <a:p>
            <a:r>
              <a:rPr lang="en-US" b="1" dirty="0" smtClean="0">
                <a:solidFill>
                  <a:schemeClr val="accent1"/>
                </a:solidFill>
              </a:rPr>
              <a:t>Consequences</a:t>
            </a:r>
          </a:p>
          <a:p>
            <a:pPr lvl="1"/>
            <a:r>
              <a:rPr lang="en-US" dirty="0"/>
              <a:t>Zero marks for the </a:t>
            </a:r>
            <a:r>
              <a:rPr lang="en-US" dirty="0" smtClean="0"/>
              <a:t>concerned assignments/test/exam/whole course</a:t>
            </a:r>
            <a:r>
              <a:rPr lang="en-US" dirty="0"/>
              <a:t>, reviewable demerits, non-reviewable demerits, suspension of study, dismissal from University.</a:t>
            </a:r>
            <a:endParaRPr lang="en-US" dirty="0" smtClean="0"/>
          </a:p>
          <a:p>
            <a:r>
              <a:rPr lang="en-US" b="1" dirty="0" smtClean="0">
                <a:solidFill>
                  <a:schemeClr val="accent1"/>
                </a:solidFill>
              </a:rPr>
              <a:t>University Policy to Academic Honesty</a:t>
            </a:r>
          </a:p>
          <a:p>
            <a:pPr marL="457189" lvl="1" indent="0">
              <a:buNone/>
            </a:pPr>
            <a:r>
              <a:rPr lang="en-US" sz="2000" dirty="0"/>
              <a:t>http://www.cuhk.edu.cn/departsite/ar/en/Academic.html</a:t>
            </a:r>
          </a:p>
        </p:txBody>
      </p:sp>
    </p:spTree>
    <p:extLst>
      <p:ext uri="{BB962C8B-B14F-4D97-AF65-F5344CB8AC3E}">
        <p14:creationId xmlns:p14="http://schemas.microsoft.com/office/powerpoint/2010/main" val="238578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2303</TotalTime>
  <Words>409</Words>
  <Application>Microsoft Office PowerPoint</Application>
  <PresentationFormat>On-screen Show (16:9)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標楷體</vt:lpstr>
      <vt:lpstr>MS Sans Serif</vt:lpstr>
      <vt:lpstr>新細明體</vt:lpstr>
      <vt:lpstr>Arial</vt:lpstr>
      <vt:lpstr>Calibri</vt:lpstr>
      <vt:lpstr>Times New Roman</vt:lpstr>
      <vt:lpstr>Wingdings</vt:lpstr>
      <vt:lpstr>NTHU UniCloud</vt:lpstr>
      <vt:lpstr>CSC3050 – Computer Architecture</vt:lpstr>
      <vt:lpstr>Course Organization</vt:lpstr>
      <vt:lpstr>Textbook &amp; Reference</vt:lpstr>
      <vt:lpstr>Course Syllabus</vt:lpstr>
      <vt:lpstr>Course Topics</vt:lpstr>
      <vt:lpstr>Course Assessment</vt:lpstr>
      <vt:lpstr>Learning Outcome</vt:lpstr>
      <vt:lpstr>Academic Honesty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Prof. Chung Yehching (SSE)</cp:lastModifiedBy>
  <cp:revision>226</cp:revision>
  <dcterms:created xsi:type="dcterms:W3CDTF">2015-06-05T07:23:35Z</dcterms:created>
  <dcterms:modified xsi:type="dcterms:W3CDTF">2019-01-07T01:30:22Z</dcterms:modified>
</cp:coreProperties>
</file>