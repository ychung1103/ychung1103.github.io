
<file path=[Content_Types].xml><?xml version="1.0" encoding="utf-8"?>
<Types xmlns="http://schemas.openxmlformats.org/package/2006/content-types">
  <Default Extension="bin" ContentType="application/vnd.openxmlformats-officedocument.oleObject"/>
  <Default Extension="emf" ContentType="image/x-emf"/>
  <Default Extension="jpg" ContentType="image/jpeg"/>
  <Default Extension="png" ContentType="image/png"/>
  <Default Extension="rels" ContentType="application/vnd.openxmlformats-package.relationships+xml"/>
  <Default Extension="vml" ContentType="application/vnd.openxmlformats-officedocument.vmlDrawing"/>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75"/>
  </p:notesMasterIdLst>
  <p:handoutMasterIdLst>
    <p:handoutMasterId r:id="rId76"/>
  </p:handoutMasterIdLst>
  <p:sldIdLst>
    <p:sldId id="256" r:id="rId2"/>
    <p:sldId id="486" r:id="rId3"/>
    <p:sldId id="387" r:id="rId4"/>
    <p:sldId id="388" r:id="rId5"/>
    <p:sldId id="487" r:id="rId6"/>
    <p:sldId id="488" r:id="rId7"/>
    <p:sldId id="515" r:id="rId8"/>
    <p:sldId id="297" r:id="rId9"/>
    <p:sldId id="298" r:id="rId10"/>
    <p:sldId id="301" r:id="rId11"/>
    <p:sldId id="302" r:id="rId12"/>
    <p:sldId id="304" r:id="rId13"/>
    <p:sldId id="526" r:id="rId14"/>
    <p:sldId id="499" r:id="rId15"/>
    <p:sldId id="527" r:id="rId16"/>
    <p:sldId id="500" r:id="rId17"/>
    <p:sldId id="306" r:id="rId18"/>
    <p:sldId id="391" r:id="rId19"/>
    <p:sldId id="266" r:id="rId20"/>
    <p:sldId id="267" r:id="rId21"/>
    <p:sldId id="268" r:id="rId22"/>
    <p:sldId id="269" r:id="rId23"/>
    <p:sldId id="270" r:id="rId24"/>
    <p:sldId id="271" r:id="rId25"/>
    <p:sldId id="528" r:id="rId26"/>
    <p:sldId id="501" r:id="rId27"/>
    <p:sldId id="379" r:id="rId28"/>
    <p:sldId id="398" r:id="rId29"/>
    <p:sldId id="502" r:id="rId30"/>
    <p:sldId id="503" r:id="rId31"/>
    <p:sldId id="399" r:id="rId32"/>
    <p:sldId id="407" r:id="rId33"/>
    <p:sldId id="529" r:id="rId34"/>
    <p:sldId id="524" r:id="rId35"/>
    <p:sldId id="400" r:id="rId36"/>
    <p:sldId id="525" r:id="rId37"/>
    <p:sldId id="406" r:id="rId38"/>
    <p:sldId id="402" r:id="rId39"/>
    <p:sldId id="403" r:id="rId40"/>
    <p:sldId id="404" r:id="rId41"/>
    <p:sldId id="530" r:id="rId42"/>
    <p:sldId id="314" r:id="rId43"/>
    <p:sldId id="504" r:id="rId44"/>
    <p:sldId id="373" r:id="rId45"/>
    <p:sldId id="381" r:id="rId46"/>
    <p:sldId id="408" r:id="rId47"/>
    <p:sldId id="505" r:id="rId48"/>
    <p:sldId id="531" r:id="rId49"/>
    <p:sldId id="409" r:id="rId50"/>
    <p:sldId id="410" r:id="rId51"/>
    <p:sldId id="411" r:id="rId52"/>
    <p:sldId id="412" r:id="rId53"/>
    <p:sldId id="532" r:id="rId54"/>
    <p:sldId id="317" r:id="rId55"/>
    <p:sldId id="384" r:id="rId56"/>
    <p:sldId id="414" r:id="rId57"/>
    <p:sldId id="415" r:id="rId58"/>
    <p:sldId id="320" r:id="rId59"/>
    <p:sldId id="416" r:id="rId60"/>
    <p:sldId id="417" r:id="rId61"/>
    <p:sldId id="418" r:id="rId62"/>
    <p:sldId id="375" r:id="rId63"/>
    <p:sldId id="506" r:id="rId64"/>
    <p:sldId id="322" r:id="rId65"/>
    <p:sldId id="323" r:id="rId66"/>
    <p:sldId id="324" r:id="rId67"/>
    <p:sldId id="533" r:id="rId68"/>
    <p:sldId id="419" r:id="rId69"/>
    <p:sldId id="420" r:id="rId70"/>
    <p:sldId id="507" r:id="rId71"/>
    <p:sldId id="422" r:id="rId72"/>
    <p:sldId id="423" r:id="rId73"/>
    <p:sldId id="424" r:id="rId74"/>
  </p:sldIdLst>
  <p:sldSz cx="9144000" cy="5143500" type="screen16x9"/>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guide id="3" orient="horz" pos="162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4F81BD"/>
    <a:srgbClr val="8064A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1E171933-4619-4E11-9A3F-F7608DF75F80}" styleName="Medium Style 1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74" d="100"/>
          <a:sy n="74" d="100"/>
        </p:scale>
        <p:origin x="545" y="38"/>
      </p:cViewPr>
      <p:guideLst>
        <p:guide orient="horz" pos="2160"/>
        <p:guide pos="2880"/>
        <p:guide orient="horz" pos="1620"/>
      </p:guideLst>
    </p:cSldViewPr>
  </p:slideViewPr>
  <p:notesTextViewPr>
    <p:cViewPr>
      <p:scale>
        <a:sx n="1" d="1"/>
        <a:sy n="1" d="1"/>
      </p:scale>
      <p:origin x="0" y="0"/>
    </p:cViewPr>
  </p:notesTextViewPr>
  <p:sorterViewPr>
    <p:cViewPr varScale="1">
      <p:scale>
        <a:sx n="1" d="1"/>
        <a:sy n="1" d="1"/>
      </p:scale>
      <p:origin x="0" y="-22258"/>
    </p:cViewPr>
  </p:sorterViewPr>
  <p:notesViewPr>
    <p:cSldViewPr snapToGrid="0">
      <p:cViewPr varScale="1">
        <p:scale>
          <a:sx n="37" d="100"/>
          <a:sy n="37" d="100"/>
        </p:scale>
        <p:origin x="1975" y="41"/>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slide" Target="slides/slide67.xml"/><Relationship Id="rId76" Type="http://schemas.openxmlformats.org/officeDocument/2006/relationships/handoutMaster" Target="handoutMasters/handoutMaster1.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theme" Target="theme/theme1.xml"/><Relationship Id="rId5" Type="http://schemas.openxmlformats.org/officeDocument/2006/relationships/slide" Target="slides/slide4.xml"/><Relationship Id="rId61" Type="http://schemas.openxmlformats.org/officeDocument/2006/relationships/slide" Target="slides/slide60.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1.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TW" alt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45BDCE37-E9BE-4280-8D68-34E43D66CEDB}" type="datetimeFigureOut">
              <a:rPr lang="zh-TW" altLang="en-US" smtClean="0"/>
              <a:pPr/>
              <a:t>2019/4/25</a:t>
            </a:fld>
            <a:endParaRPr lang="zh-TW" alt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TW" alt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32BED679-6CF9-4493-8C9A-6F31F985AAEA}" type="slidenum">
              <a:rPr lang="zh-TW" altLang="en-US" smtClean="0"/>
              <a:pPr/>
              <a:t>‹#›</a:t>
            </a:fld>
            <a:endParaRPr lang="zh-TW" altLang="en-US"/>
          </a:p>
        </p:txBody>
      </p:sp>
    </p:spTree>
    <p:extLst>
      <p:ext uri="{BB962C8B-B14F-4D97-AF65-F5344CB8AC3E}">
        <p14:creationId xmlns:p14="http://schemas.microsoft.com/office/powerpoint/2010/main" val="414868276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TW" alt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BFBA883-381C-409E-9635-BB54B21745E4}" type="datetimeFigureOut">
              <a:rPr lang="zh-TW" altLang="en-US" smtClean="0"/>
              <a:pPr/>
              <a:t>2019/4/25</a:t>
            </a:fld>
            <a:endParaRPr lang="zh-TW" alt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ltLang="zh-TW"/>
              <a:t>Click to 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TW" alt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86C40E4-B9C8-417B-AB00-3BF7F8038A2D}" type="slidenum">
              <a:rPr lang="zh-TW" altLang="en-US" smtClean="0"/>
              <a:pPr/>
              <a:t>‹#›</a:t>
            </a:fld>
            <a:endParaRPr lang="zh-TW" altLang="en-US"/>
          </a:p>
        </p:txBody>
      </p:sp>
    </p:spTree>
    <p:extLst>
      <p:ext uri="{BB962C8B-B14F-4D97-AF65-F5344CB8AC3E}">
        <p14:creationId xmlns:p14="http://schemas.microsoft.com/office/powerpoint/2010/main" val="405815523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02" name="Rectangle 2"/>
          <p:cNvSpPr>
            <a:spLocks noGrp="1" noRot="1" noChangeAspect="1" noChangeArrowheads="1" noTextEdit="1"/>
          </p:cNvSpPr>
          <p:nvPr>
            <p:ph type="sldImg"/>
          </p:nvPr>
        </p:nvSpPr>
        <p:spPr>
          <a:ln/>
        </p:spPr>
      </p:sp>
      <p:sp>
        <p:nvSpPr>
          <p:cNvPr id="204803"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TW"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62" name="Rectangle 2"/>
          <p:cNvSpPr>
            <a:spLocks noGrp="1" noChangeArrowheads="1"/>
          </p:cNvSpPr>
          <p:nvPr>
            <p:ph type="body" idx="1"/>
          </p:nvPr>
        </p:nvSpPr>
        <p:spPr>
          <a:xfrm>
            <a:off x="746125" y="3227388"/>
            <a:ext cx="8535988" cy="3057525"/>
          </a:xfrm>
          <a:noFill/>
        </p:spPr>
        <p:txBody>
          <a:bodyPr lIns="92075" tIns="46038" rIns="92075" bIns="46038"/>
          <a:lstStyle/>
          <a:p>
            <a:r>
              <a:rPr lang="en-US" altLang="zh-TW"/>
              <a:t>The technology we used to build our memory hierarchy can be divided into two categories: Random Access and Non-so-Random Access.</a:t>
            </a:r>
          </a:p>
          <a:p>
            <a:r>
              <a:rPr lang="en-US" altLang="zh-TW"/>
              <a:t>Unlike all other aspects of life where the word random usually associates with bad things, random, when associates with memory access, for the lack of a better word, is good!</a:t>
            </a:r>
          </a:p>
          <a:p>
            <a:r>
              <a:rPr lang="en-US" altLang="zh-TW"/>
              <a:t>Because random access means you can access any random location at any time and the access time will be the same as any other random locations.</a:t>
            </a:r>
          </a:p>
          <a:p>
            <a:r>
              <a:rPr lang="en-US" altLang="zh-TW"/>
              <a:t>Which is NOT the case for  disks or tape where the access time for a given location at any time can be quite different from some other random locations at some other random time.</a:t>
            </a:r>
          </a:p>
          <a:p>
            <a:r>
              <a:rPr lang="en-US" altLang="zh-TW"/>
              <a:t>As far as Random Access technology is concerned, we will concentrate on two specific technologies: Dynamic RAM and Static RAM.</a:t>
            </a:r>
          </a:p>
          <a:p>
            <a:r>
              <a:rPr lang="en-US" altLang="zh-TW"/>
              <a:t>The advantages of Dynamic RAMs are high density, low cost, and low power so we can have a lot of them without burning a hole in our budget or our desktop.</a:t>
            </a:r>
          </a:p>
          <a:p>
            <a:r>
              <a:rPr lang="en-US" altLang="zh-TW"/>
              <a:t>The disadvantages of DRAM are they are slow.  Also they will forget what you tell them if you don remind them constantly (Refresh).  We will talk more about refresh later today.</a:t>
            </a:r>
          </a:p>
          <a:p>
            <a:r>
              <a:rPr lang="en-US" altLang="zh-TW"/>
              <a:t>SRAM only has one redeeming feature: it is fast.  Other than that, they have low density, expensive, and burn a lot of power. Oh, SRAM actually has another redeeming feature.  They will not forget what you tell them. They will keep whatever you write to them forever.</a:t>
            </a:r>
          </a:p>
          <a:p>
            <a:r>
              <a:rPr lang="en-US" altLang="zh-TW"/>
              <a:t>Well orever?is a long time.  So lets just say it will keep your data as long as you don pull the plug on your computer.</a:t>
            </a:r>
          </a:p>
          <a:p>
            <a:r>
              <a:rPr lang="en-US" altLang="zh-TW"/>
              <a:t>In the next two lectures, we will be focusing on DRAMs and SRAMs.</a:t>
            </a:r>
          </a:p>
          <a:p>
            <a:r>
              <a:rPr lang="en-US" altLang="zh-TW"/>
              <a:t>We will not get into disk until the Virtual Memory lecture a week from now.</a:t>
            </a:r>
          </a:p>
          <a:p>
            <a:endParaRPr lang="en-US" altLang="zh-TW"/>
          </a:p>
          <a:p>
            <a:r>
              <a:rPr lang="en-US" altLang="zh-TW"/>
              <a:t>+3 = 19 min. (X:59)</a:t>
            </a:r>
          </a:p>
          <a:p>
            <a:endParaRPr lang="en-US" altLang="zh-TW"/>
          </a:p>
          <a:p>
            <a:endParaRPr lang="zh-TW" altLang="en-US"/>
          </a:p>
        </p:txBody>
      </p:sp>
      <p:sp>
        <p:nvSpPr>
          <p:cNvPr id="143363" name="Rectangle 3"/>
          <p:cNvSpPr>
            <a:spLocks noGrp="1" noRot="1" noChangeAspect="1" noChangeArrowheads="1" noTextEdit="1"/>
          </p:cNvSpPr>
          <p:nvPr>
            <p:ph type="sldImg"/>
          </p:nvPr>
        </p:nvSpPr>
        <p:spPr>
          <a:xfrm>
            <a:off x="2709863" y="438150"/>
            <a:ext cx="4506912" cy="2536825"/>
          </a:xfrm>
          <a:ln>
            <a:noFill/>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386" name="Rectangle 2"/>
          <p:cNvSpPr>
            <a:spLocks noGrp="1" noChangeArrowheads="1"/>
          </p:cNvSpPr>
          <p:nvPr>
            <p:ph type="body" idx="1"/>
          </p:nvPr>
        </p:nvSpPr>
        <p:spPr>
          <a:xfrm>
            <a:off x="746125" y="3227388"/>
            <a:ext cx="8535988" cy="3057525"/>
          </a:xfrm>
          <a:noFill/>
        </p:spPr>
        <p:txBody>
          <a:bodyPr lIns="92075" tIns="46038" rIns="92075" bIns="46038"/>
          <a:lstStyle/>
          <a:p>
            <a:r>
              <a:rPr lang="en-US" altLang="zh-TW"/>
              <a:t>From the truth table we had before the break, we can derive the logic equation for ALUctr bit 2 but collecting all the rows that has ALUCtr bit 2 equals to 1 and this table is the result.</a:t>
            </a:r>
          </a:p>
          <a:p>
            <a:r>
              <a:rPr lang="en-US" altLang="zh-TW"/>
              <a:t>Each row becomes a product term and we need to OR the prodcut terms together.</a:t>
            </a:r>
          </a:p>
          <a:p>
            <a:r>
              <a:rPr lang="en-US" altLang="zh-TW"/>
              <a:t>Notice that the last row are identical except the bit&lt;3&gt; of the func fields.  One is zero and the other is one.  Together, they make bit&lt;3&gt; a don care term.</a:t>
            </a:r>
          </a:p>
          <a:p>
            <a:r>
              <a:rPr lang="en-US" altLang="zh-TW"/>
              <a:t>With all these don care terms, the logic equation is rather simple.</a:t>
            </a:r>
          </a:p>
          <a:p>
            <a:r>
              <a:rPr lang="en-US" altLang="zh-TW"/>
              <a:t>The first prodcut term is: not ALUOp&lt;2&gt; and ALUOp&lt;0&gt;.</a:t>
            </a:r>
          </a:p>
          <a:p>
            <a:r>
              <a:rPr lang="en-US" altLang="zh-TW"/>
              <a:t>The second product term, after we making Func&lt;3&gt; a don care becomes ...</a:t>
            </a:r>
          </a:p>
          <a:p>
            <a:endParaRPr lang="en-US" altLang="zh-TW"/>
          </a:p>
          <a:p>
            <a:r>
              <a:rPr lang="en-US" altLang="zh-TW"/>
              <a:t>+2 = 57 min. (Y:37)</a:t>
            </a:r>
          </a:p>
        </p:txBody>
      </p:sp>
      <p:sp>
        <p:nvSpPr>
          <p:cNvPr id="144387" name="Rectangle 3"/>
          <p:cNvSpPr>
            <a:spLocks noGrp="1" noRot="1" noChangeAspect="1" noChangeArrowheads="1" noTextEdit="1"/>
          </p:cNvSpPr>
          <p:nvPr>
            <p:ph type="sldImg"/>
          </p:nvPr>
        </p:nvSpPr>
        <p:spPr>
          <a:xfrm>
            <a:off x="2686050" y="425450"/>
            <a:ext cx="4546600" cy="2557463"/>
          </a:xfrm>
          <a:ln>
            <a:noFill/>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434" name="Rectangle 2"/>
          <p:cNvSpPr>
            <a:spLocks noGrp="1" noRot="1" noChangeAspect="1" noChangeArrowheads="1" noTextEdit="1"/>
          </p:cNvSpPr>
          <p:nvPr>
            <p:ph type="sldImg"/>
          </p:nvPr>
        </p:nvSpPr>
        <p:spPr>
          <a:xfrm>
            <a:off x="2722563" y="446088"/>
            <a:ext cx="4481512" cy="2522537"/>
          </a:xfrm>
          <a:noFill/>
          <a:ln cap="flat">
            <a:solidFill>
              <a:schemeClr val="tx1"/>
            </a:solidFill>
          </a:ln>
        </p:spPr>
      </p:sp>
      <p:sp>
        <p:nvSpPr>
          <p:cNvPr id="146435" name="Rectangle 3"/>
          <p:cNvSpPr>
            <a:spLocks noGrp="1" noChangeArrowheads="1"/>
          </p:cNvSpPr>
          <p:nvPr>
            <p:ph type="body" idx="1"/>
          </p:nvPr>
        </p:nvSpPr>
        <p:spPr>
          <a:xfrm>
            <a:off x="746125" y="3227388"/>
            <a:ext cx="8535988" cy="3057525"/>
          </a:xfrm>
          <a:noFill/>
        </p:spPr>
        <p:txBody>
          <a:bodyPr lIns="92075" tIns="46038" rIns="92075" bIns="46038"/>
          <a:lstStyle/>
          <a:p>
            <a:endParaRPr lang="zh-TW"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8" name="Rectangle 2"/>
          <p:cNvSpPr>
            <a:spLocks noGrp="1" noChangeArrowheads="1"/>
          </p:cNvSpPr>
          <p:nvPr>
            <p:ph type="body" idx="1"/>
          </p:nvPr>
        </p:nvSpPr>
        <p:spPr>
          <a:xfrm>
            <a:off x="746125" y="3227388"/>
            <a:ext cx="8535988" cy="30575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p>
            <a:r>
              <a:rPr lang="en-US" altLang="zh-TW"/>
              <a:t>The principle of locality states that programs access a relatively small portion of the address space at  any instant of time.</a:t>
            </a:r>
          </a:p>
          <a:p>
            <a:r>
              <a:rPr lang="en-US" altLang="zh-TW"/>
              <a:t>This is kind of like in real life, we all have a lot of friends.  But at any given time most of us can  only  keep in touch with a small group of them.</a:t>
            </a:r>
          </a:p>
          <a:p>
            <a:r>
              <a:rPr lang="en-US" altLang="zh-TW"/>
              <a:t>There are two different types of locality: Temporal and Spatial. Temporal locality is the locality in time  which says if an item is referenced, it  will tend to be referenced again soon.</a:t>
            </a:r>
          </a:p>
          <a:p>
            <a:r>
              <a:rPr lang="en-US" altLang="zh-TW"/>
              <a:t>This is like saying if you just talk to one of your friends, it is likely that you will talk to him or her again soon.</a:t>
            </a:r>
          </a:p>
          <a:p>
            <a:r>
              <a:rPr lang="en-US" altLang="zh-TW"/>
              <a:t>This makes sense. For example, if you just have lunch with a friend, you may say, let go to the ball game this Sunday.  So you will talk to him again soon.</a:t>
            </a:r>
          </a:p>
          <a:p>
            <a:r>
              <a:rPr lang="en-US" altLang="zh-TW"/>
              <a:t>Spatial locality is the locality in space.  It says if an item is referenced, items whose addresses are close by tend to be referenced soon.</a:t>
            </a:r>
          </a:p>
          <a:p>
            <a:r>
              <a:rPr lang="en-US" altLang="zh-TW"/>
              <a:t>Once again, using our analogy.  We can usually divide our friends into groups.  Like friends from high school, friends from work, friends from home.</a:t>
            </a:r>
          </a:p>
          <a:p>
            <a:r>
              <a:rPr lang="en-US" altLang="zh-TW"/>
              <a:t>Let say you just talk to one of your friends from high school and she may say something like: o did you hear so and so just won the lottery.</a:t>
            </a:r>
          </a:p>
          <a:p>
            <a:r>
              <a:rPr lang="en-US" altLang="zh-TW"/>
              <a:t>You probably will say NO, I better give him a call and find out more.</a:t>
            </a:r>
          </a:p>
          <a:p>
            <a:r>
              <a:rPr lang="en-US" altLang="zh-TW"/>
              <a:t>So this is an example of spatial locality.  You just talked to a friend from your high school days.  As a result, you end up talking to another high school friend.  Or at least in this case, you hope he still remember you are his friend.</a:t>
            </a:r>
          </a:p>
          <a:p>
            <a:endParaRPr lang="en-US" altLang="zh-TW"/>
          </a:p>
          <a:p>
            <a:r>
              <a:rPr lang="en-US" altLang="zh-TW"/>
              <a:t>+3 = 10 min. (X:50)</a:t>
            </a:r>
          </a:p>
          <a:p>
            <a:r>
              <a:rPr lang="en-US" altLang="zh-TW"/>
              <a:t>Temporal locality: loop</a:t>
            </a:r>
          </a:p>
          <a:p>
            <a:r>
              <a:rPr lang="en-US" altLang="zh-TW"/>
              <a:t>Spatial locality: instruction executed sequentially, access of array element. </a:t>
            </a:r>
          </a:p>
        </p:txBody>
      </p:sp>
      <p:sp>
        <p:nvSpPr>
          <p:cNvPr id="126979" name="Rectangle 3"/>
          <p:cNvSpPr>
            <a:spLocks noGrp="1" noRot="1" noChangeAspect="1" noChangeArrowheads="1" noTextEdit="1"/>
          </p:cNvSpPr>
          <p:nvPr>
            <p:ph type="sldImg"/>
          </p:nvPr>
        </p:nvSpPr>
        <p:spPr>
          <a:xfrm>
            <a:off x="2709863" y="438150"/>
            <a:ext cx="4506912" cy="2536825"/>
          </a:xfrm>
          <a:ln>
            <a:noFill/>
          </a:ln>
          <a:extLst>
            <a:ext uri="{91240B29-F687-4F45-9708-019B960494DF}">
              <a14:hiddenLine xmlns:a14="http://schemas.microsoft.com/office/drawing/2010/main" w="12700">
                <a:solidFill>
                  <a:srgbClr val="000000"/>
                </a:solidFill>
                <a:miter lim="800000"/>
                <a:headEnd/>
                <a:tailEnd/>
              </a14:hiddenLine>
            </a:ext>
          </a:extLst>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482" name="Rectangle 2"/>
          <p:cNvSpPr>
            <a:spLocks noGrp="1" noChangeArrowheads="1"/>
          </p:cNvSpPr>
          <p:nvPr>
            <p:ph type="body" idx="1"/>
          </p:nvPr>
        </p:nvSpPr>
        <p:spPr>
          <a:xfrm>
            <a:off x="746125" y="3227388"/>
            <a:ext cx="8535988" cy="3057525"/>
          </a:xfrm>
          <a:noFill/>
        </p:spPr>
        <p:txBody>
          <a:bodyPr lIns="92075" tIns="46038" rIns="92075" bIns="46038"/>
          <a:lstStyle/>
          <a:p>
            <a:endParaRPr lang="zh-TW" altLang="en-US"/>
          </a:p>
        </p:txBody>
      </p:sp>
      <p:sp>
        <p:nvSpPr>
          <p:cNvPr id="148483" name="Rectangle 3"/>
          <p:cNvSpPr>
            <a:spLocks noGrp="1" noRot="1" noChangeAspect="1" noChangeArrowheads="1" noTextEdit="1"/>
          </p:cNvSpPr>
          <p:nvPr>
            <p:ph type="sldImg"/>
          </p:nvPr>
        </p:nvSpPr>
        <p:spPr>
          <a:xfrm>
            <a:off x="2709863" y="438150"/>
            <a:ext cx="4506912" cy="2536825"/>
          </a:xfrm>
          <a:noFill/>
          <a:ln>
            <a:noFill/>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506" name="Rectangle 2"/>
          <p:cNvSpPr>
            <a:spLocks noGrp="1" noRot="1" noChangeAspect="1" noChangeArrowheads="1" noTextEdit="1"/>
          </p:cNvSpPr>
          <p:nvPr>
            <p:ph type="sldImg"/>
          </p:nvPr>
        </p:nvSpPr>
        <p:spPr>
          <a:xfrm>
            <a:off x="2722563" y="446088"/>
            <a:ext cx="4481512" cy="2522537"/>
          </a:xfrm>
          <a:noFill/>
          <a:ln cap="flat">
            <a:solidFill>
              <a:schemeClr val="tx1"/>
            </a:solidFill>
          </a:ln>
        </p:spPr>
      </p:sp>
      <p:sp>
        <p:nvSpPr>
          <p:cNvPr id="149507" name="Rectangle 3"/>
          <p:cNvSpPr>
            <a:spLocks noGrp="1" noChangeArrowheads="1"/>
          </p:cNvSpPr>
          <p:nvPr>
            <p:ph type="body" idx="1"/>
          </p:nvPr>
        </p:nvSpPr>
        <p:spPr>
          <a:xfrm>
            <a:off x="746125" y="3227388"/>
            <a:ext cx="8535988" cy="3057525"/>
          </a:xfrm>
          <a:noFill/>
        </p:spPr>
        <p:txBody>
          <a:bodyPr lIns="92075" tIns="46038" rIns="92075" bIns="46038"/>
          <a:lstStyle/>
          <a:p>
            <a:endParaRPr lang="zh-TW"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530" name="Rectangle 1026"/>
          <p:cNvSpPr>
            <a:spLocks noGrp="1" noChangeArrowheads="1"/>
          </p:cNvSpPr>
          <p:nvPr>
            <p:ph type="body" idx="1"/>
          </p:nvPr>
        </p:nvSpPr>
        <p:spPr>
          <a:xfrm>
            <a:off x="746125" y="3227388"/>
            <a:ext cx="8535988" cy="3057525"/>
          </a:xfrm>
          <a:noFill/>
        </p:spPr>
        <p:txBody>
          <a:bodyPr lIns="92075" tIns="46038" rIns="92075" bIns="46038"/>
          <a:lstStyle/>
          <a:p>
            <a:r>
              <a:rPr lang="en-US" altLang="zh-TW"/>
              <a:t>A HIT is when the data the processor wants to access is found in the upper level (Blk X).</a:t>
            </a:r>
          </a:p>
          <a:p>
            <a:r>
              <a:rPr lang="en-US" altLang="zh-TW"/>
              <a:t>The fraction of the memory access that are HIT is defined as HIT rate.</a:t>
            </a:r>
          </a:p>
          <a:p>
            <a:r>
              <a:rPr lang="en-US" altLang="zh-TW"/>
              <a:t>HIT Time is the time to access the Upper Level where the data is found (X).  It consists of:</a:t>
            </a:r>
          </a:p>
          <a:p>
            <a:r>
              <a:rPr lang="en-US" altLang="zh-TW"/>
              <a:t>(a) Time to access this level.</a:t>
            </a:r>
          </a:p>
          <a:p>
            <a:r>
              <a:rPr lang="en-US" altLang="zh-TW"/>
              <a:t>(b) AND the time to determine if this is a Hit or Miss.</a:t>
            </a:r>
          </a:p>
          <a:p>
            <a:r>
              <a:rPr lang="en-US" altLang="zh-TW"/>
              <a:t>If the data the processor wants cannot be found in the Upper level.  Then we have a miss and we need to retrieve the data (Blk Y) from the lower level.</a:t>
            </a:r>
          </a:p>
          <a:p>
            <a:r>
              <a:rPr lang="en-US" altLang="zh-TW"/>
              <a:t>By definition (definition of Hit: Fraction), the miss rate is just 1 minus the hit rate.</a:t>
            </a:r>
          </a:p>
          <a:p>
            <a:r>
              <a:rPr lang="en-US" altLang="zh-TW"/>
              <a:t>This miss penalty also consists of two parts:</a:t>
            </a:r>
          </a:p>
          <a:p>
            <a:r>
              <a:rPr lang="en-US" altLang="zh-TW"/>
              <a:t>(a) The time it takes to replace a block (Blk Y to BlkX) in the upper level.</a:t>
            </a:r>
          </a:p>
          <a:p>
            <a:r>
              <a:rPr lang="en-US" altLang="zh-TW"/>
              <a:t>(b) And then the time it takes to deliver this new block to the processor.</a:t>
            </a:r>
          </a:p>
          <a:p>
            <a:r>
              <a:rPr lang="en-US" altLang="zh-TW"/>
              <a:t>It is very important that your Hit Time to be much much smaller than your miss penalty.  Otherwise, there will be no reason to build a memory hierarchy.</a:t>
            </a:r>
          </a:p>
          <a:p>
            <a:endParaRPr lang="en-US" altLang="zh-TW"/>
          </a:p>
          <a:p>
            <a:r>
              <a:rPr lang="en-US" altLang="zh-TW"/>
              <a:t>+2 = 14 min. (X:54)</a:t>
            </a:r>
          </a:p>
          <a:p>
            <a:endParaRPr lang="en-US" altLang="zh-TW"/>
          </a:p>
        </p:txBody>
      </p:sp>
      <p:sp>
        <p:nvSpPr>
          <p:cNvPr id="150531" name="Rectangle 1027"/>
          <p:cNvSpPr>
            <a:spLocks noGrp="1" noRot="1" noChangeAspect="1" noChangeArrowheads="1" noTextEdit="1"/>
          </p:cNvSpPr>
          <p:nvPr>
            <p:ph type="sldImg"/>
          </p:nvPr>
        </p:nvSpPr>
        <p:spPr>
          <a:xfrm>
            <a:off x="2709863" y="438150"/>
            <a:ext cx="4506912" cy="2536825"/>
          </a:xfrm>
          <a:noFill/>
          <a:ln>
            <a:noFill/>
          </a:ln>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1554" name="Rectangle 2"/>
          <p:cNvSpPr>
            <a:spLocks noGrp="1" noChangeArrowheads="1"/>
          </p:cNvSpPr>
          <p:nvPr>
            <p:ph type="body" idx="1"/>
          </p:nvPr>
        </p:nvSpPr>
        <p:spPr>
          <a:xfrm>
            <a:off x="746125" y="3227388"/>
            <a:ext cx="8535988" cy="3057525"/>
          </a:xfrm>
          <a:noFill/>
        </p:spPr>
        <p:txBody>
          <a:bodyPr lIns="92075" tIns="46038" rIns="92075" bIns="46038"/>
          <a:lstStyle/>
          <a:p>
            <a:r>
              <a:rPr lang="en-US" altLang="zh-TW"/>
              <a:t>Let summarize today lecture. The first thing we covered is the principle of locality.</a:t>
            </a:r>
          </a:p>
          <a:p>
            <a:r>
              <a:rPr lang="en-US" altLang="zh-TW"/>
              <a:t>There are two types of locality: temporal, or locality of time and spatial, locality of space.</a:t>
            </a:r>
          </a:p>
          <a:p>
            <a:r>
              <a:rPr lang="en-US" altLang="zh-TW"/>
              <a:t>We talked about memory system design.</a:t>
            </a:r>
          </a:p>
          <a:p>
            <a:r>
              <a:rPr lang="en-US" altLang="zh-TW"/>
              <a:t>The key idea of memory system design is to present the user with as much memory as possible in the cheapest technology while by taking advantage of the principle of locality, create an illusion that the average access time is close to that of the fastest technology.</a:t>
            </a:r>
          </a:p>
          <a:p>
            <a:r>
              <a:rPr lang="en-US" altLang="zh-TW"/>
              <a:t>As far as Random Access technology is concerned, we concentrate on 2: DRAM and SRAM.</a:t>
            </a:r>
          </a:p>
          <a:p>
            <a:r>
              <a:rPr lang="en-US" altLang="zh-TW"/>
              <a:t>DRAM is slow but cheap and dense so is a good choice for presenting the use with a BIG memory system.</a:t>
            </a:r>
          </a:p>
          <a:p>
            <a:r>
              <a:rPr lang="en-US" altLang="zh-TW"/>
              <a:t>SRAM, on the other hand, is fast but it is also expensive both in terms of cost and power, so it is a good choice for providing the user with a fast access time.</a:t>
            </a:r>
          </a:p>
          <a:p>
            <a:r>
              <a:rPr lang="en-US" altLang="zh-TW"/>
              <a:t>I have already showed you how DRAMs are used to construct the main memory for the SPARCstation 20.</a:t>
            </a:r>
          </a:p>
          <a:p>
            <a:r>
              <a:rPr lang="en-US" altLang="zh-TW"/>
              <a:t>On Friday, we will talk about caches.</a:t>
            </a:r>
          </a:p>
          <a:p>
            <a:endParaRPr lang="en-US" altLang="zh-TW"/>
          </a:p>
          <a:p>
            <a:r>
              <a:rPr lang="en-US" altLang="zh-TW"/>
              <a:t>+2 = 78 min. (Y:58)</a:t>
            </a:r>
          </a:p>
          <a:p>
            <a:endParaRPr lang="zh-TW" altLang="en-US"/>
          </a:p>
        </p:txBody>
      </p:sp>
      <p:sp>
        <p:nvSpPr>
          <p:cNvPr id="151555" name="Rectangle 3"/>
          <p:cNvSpPr>
            <a:spLocks noGrp="1" noRot="1" noChangeAspect="1" noChangeArrowheads="1" noTextEdit="1"/>
          </p:cNvSpPr>
          <p:nvPr>
            <p:ph type="sldImg"/>
          </p:nvPr>
        </p:nvSpPr>
        <p:spPr>
          <a:xfrm>
            <a:off x="2709863" y="438150"/>
            <a:ext cx="4506912" cy="2536825"/>
          </a:xfrm>
          <a:noFill/>
          <a:ln>
            <a:noFill/>
          </a:ln>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02" name="Rectangle 2"/>
          <p:cNvSpPr>
            <a:spLocks noGrp="1" noRot="1" noChangeAspect="1" noChangeArrowheads="1" noTextEdit="1"/>
          </p:cNvSpPr>
          <p:nvPr>
            <p:ph type="sldImg"/>
          </p:nvPr>
        </p:nvSpPr>
        <p:spPr>
          <a:ln/>
        </p:spPr>
      </p:sp>
      <p:sp>
        <p:nvSpPr>
          <p:cNvPr id="204803"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TW" altLang="en-US"/>
          </a:p>
        </p:txBody>
      </p:sp>
    </p:spTree>
    <p:extLst>
      <p:ext uri="{BB962C8B-B14F-4D97-AF65-F5344CB8AC3E}">
        <p14:creationId xmlns:p14="http://schemas.microsoft.com/office/powerpoint/2010/main" val="185320393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410" name="Rectangle 2"/>
          <p:cNvSpPr>
            <a:spLocks noGrp="1" noChangeArrowheads="1"/>
          </p:cNvSpPr>
          <p:nvPr>
            <p:ph type="body" idx="1"/>
          </p:nvPr>
        </p:nvSpPr>
        <p:spPr>
          <a:xfrm>
            <a:off x="746125" y="3227388"/>
            <a:ext cx="8535988" cy="3057525"/>
          </a:xfrm>
          <a:noFill/>
        </p:spPr>
        <p:txBody>
          <a:bodyPr lIns="92075" tIns="46038" rIns="92075" bIns="46038"/>
          <a:lstStyle/>
          <a:p>
            <a:endParaRPr lang="zh-TW" altLang="en-US"/>
          </a:p>
          <a:p>
            <a:r>
              <a:rPr lang="en-US" altLang="zh-TW"/>
              <a:t>Y-axis is performance</a:t>
            </a:r>
          </a:p>
          <a:p>
            <a:r>
              <a:rPr lang="en-US" altLang="zh-TW"/>
              <a:t>X-axis is time</a:t>
            </a:r>
          </a:p>
          <a:p>
            <a:r>
              <a:rPr lang="en-US" altLang="zh-TW"/>
              <a:t>Latency</a:t>
            </a:r>
          </a:p>
          <a:p>
            <a:r>
              <a:rPr lang="en-US" altLang="zh-TW"/>
              <a:t>Clich? </a:t>
            </a:r>
          </a:p>
          <a:p>
            <a:r>
              <a:rPr lang="en-US" altLang="zh-TW"/>
              <a:t>Not e that x86 didn have cache on chip until 1989</a:t>
            </a:r>
          </a:p>
        </p:txBody>
      </p:sp>
      <p:sp>
        <p:nvSpPr>
          <p:cNvPr id="145411" name="Rectangle 3"/>
          <p:cNvSpPr>
            <a:spLocks noGrp="1" noRot="1" noChangeAspect="1" noChangeArrowheads="1" noTextEdit="1"/>
          </p:cNvSpPr>
          <p:nvPr>
            <p:ph type="sldImg"/>
          </p:nvPr>
        </p:nvSpPr>
        <p:spPr>
          <a:xfrm>
            <a:off x="2709863" y="438150"/>
            <a:ext cx="4506912" cy="2536825"/>
          </a:xfrm>
          <a:noFill/>
          <a:ln>
            <a:noFill/>
          </a:ln>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482" name="Rectangle 2"/>
          <p:cNvSpPr>
            <a:spLocks noGrp="1" noChangeArrowheads="1"/>
          </p:cNvSpPr>
          <p:nvPr>
            <p:ph type="body" idx="1"/>
          </p:nvPr>
        </p:nvSpPr>
        <p:spPr>
          <a:xfrm>
            <a:off x="746125" y="3227388"/>
            <a:ext cx="8535988" cy="3057525"/>
          </a:xfrm>
          <a:noFill/>
        </p:spPr>
        <p:txBody>
          <a:bodyPr lIns="92075" tIns="46038" rIns="92075" bIns="46038"/>
          <a:lstStyle/>
          <a:p>
            <a:endParaRPr lang="zh-TW" altLang="en-US"/>
          </a:p>
        </p:txBody>
      </p:sp>
      <p:sp>
        <p:nvSpPr>
          <p:cNvPr id="148483" name="Rectangle 3"/>
          <p:cNvSpPr>
            <a:spLocks noGrp="1" noRot="1" noChangeAspect="1" noChangeArrowheads="1" noTextEdit="1"/>
          </p:cNvSpPr>
          <p:nvPr>
            <p:ph type="sldImg"/>
          </p:nvPr>
        </p:nvSpPr>
        <p:spPr>
          <a:xfrm>
            <a:off x="2709863" y="438150"/>
            <a:ext cx="4506912" cy="2536825"/>
          </a:xfrm>
          <a:noFill/>
          <a:ln>
            <a:noFill/>
          </a:ln>
        </p:spPr>
      </p:sp>
    </p:spTree>
    <p:extLst>
      <p:ext uri="{BB962C8B-B14F-4D97-AF65-F5344CB8AC3E}">
        <p14:creationId xmlns:p14="http://schemas.microsoft.com/office/powerpoint/2010/main" val="421068780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2210" name="Rectangle 2"/>
          <p:cNvSpPr>
            <a:spLocks noGrp="1" noRot="1" noChangeAspect="1" noChangeArrowheads="1" noTextEdit="1"/>
          </p:cNvSpPr>
          <p:nvPr>
            <p:ph type="sldImg"/>
          </p:nvPr>
        </p:nvSpPr>
        <p:spPr>
          <a:xfrm>
            <a:off x="2687638" y="511175"/>
            <a:ext cx="4529137" cy="2547938"/>
          </a:xfrm>
          <a:ln/>
        </p:spPr>
      </p:sp>
      <p:sp>
        <p:nvSpPr>
          <p:cNvPr id="222211" name="Rectangle 3"/>
          <p:cNvSpPr>
            <a:spLocks noGrp="1" noChangeArrowheads="1"/>
          </p:cNvSpPr>
          <p:nvPr>
            <p:ph type="body" idx="1"/>
          </p:nvPr>
        </p:nvSpPr>
        <p:spPr>
          <a:xfrm>
            <a:off x="1320800" y="3228975"/>
            <a:ext cx="7264400" cy="305435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AU" altLang="zh-TW"/>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626" name="Rectangle 2"/>
          <p:cNvSpPr>
            <a:spLocks noGrp="1" noChangeArrowheads="1"/>
          </p:cNvSpPr>
          <p:nvPr>
            <p:ph type="body" idx="1"/>
          </p:nvPr>
        </p:nvSpPr>
        <p:spPr>
          <a:xfrm>
            <a:off x="1320800" y="3227388"/>
            <a:ext cx="7264400" cy="3057525"/>
          </a:xfrm>
          <a:noFill/>
        </p:spPr>
        <p:txBody>
          <a:bodyPr lIns="90488" tIns="44450" rIns="90488" bIns="44450"/>
          <a:lstStyle/>
          <a:p>
            <a:endParaRPr lang="zh-TW" altLang="en-US"/>
          </a:p>
        </p:txBody>
      </p:sp>
      <p:sp>
        <p:nvSpPr>
          <p:cNvPr id="154627" name="Rectangle 3"/>
          <p:cNvSpPr>
            <a:spLocks noGrp="1" noRot="1" noChangeAspect="1" noChangeArrowheads="1" noTextEdit="1"/>
          </p:cNvSpPr>
          <p:nvPr>
            <p:ph type="sldImg"/>
          </p:nvPr>
        </p:nvSpPr>
        <p:spPr>
          <a:xfrm>
            <a:off x="2697163" y="514350"/>
            <a:ext cx="4511675" cy="2538413"/>
          </a:xfrm>
          <a:noFill/>
          <a:ln cap="flat">
            <a:solidFill>
              <a:schemeClr val="tx1"/>
            </a:solidFill>
          </a:ln>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650" name="Rectangle 2"/>
          <p:cNvSpPr>
            <a:spLocks noGrp="1" noRot="1" noChangeAspect="1" noChangeArrowheads="1" noTextEdit="1"/>
          </p:cNvSpPr>
          <p:nvPr>
            <p:ph type="sldImg"/>
          </p:nvPr>
        </p:nvSpPr>
        <p:spPr>
          <a:xfrm>
            <a:off x="2687638" y="509588"/>
            <a:ext cx="4532312" cy="2549525"/>
          </a:xfrm>
          <a:ln/>
        </p:spPr>
      </p:sp>
      <p:sp>
        <p:nvSpPr>
          <p:cNvPr id="155651" name="Rectangle 3"/>
          <p:cNvSpPr>
            <a:spLocks noGrp="1" noChangeArrowheads="1"/>
          </p:cNvSpPr>
          <p:nvPr>
            <p:ph type="body" idx="1"/>
          </p:nvPr>
        </p:nvSpPr>
        <p:spPr>
          <a:xfrm>
            <a:off x="1320800" y="3227388"/>
            <a:ext cx="7264400" cy="3057525"/>
          </a:xfrm>
          <a:noFill/>
        </p:spPr>
        <p:txBody>
          <a:bodyPr/>
          <a:lstStyle/>
          <a:p>
            <a:endParaRPr lang="zh-TW"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02" name="Rectangle 2"/>
          <p:cNvSpPr>
            <a:spLocks noGrp="1" noRot="1" noChangeAspect="1" noChangeArrowheads="1" noTextEdit="1"/>
          </p:cNvSpPr>
          <p:nvPr>
            <p:ph type="sldImg"/>
          </p:nvPr>
        </p:nvSpPr>
        <p:spPr>
          <a:ln/>
        </p:spPr>
      </p:sp>
      <p:sp>
        <p:nvSpPr>
          <p:cNvPr id="204803"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TW" altLang="en-US"/>
          </a:p>
        </p:txBody>
      </p:sp>
    </p:spTree>
    <p:extLst>
      <p:ext uri="{BB962C8B-B14F-4D97-AF65-F5344CB8AC3E}">
        <p14:creationId xmlns:p14="http://schemas.microsoft.com/office/powerpoint/2010/main" val="418240775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9378" name="Rectangle 2"/>
          <p:cNvSpPr>
            <a:spLocks noGrp="1" noRot="1" noChangeAspect="1" noChangeArrowheads="1" noTextEdit="1"/>
          </p:cNvSpPr>
          <p:nvPr>
            <p:ph type="sldImg"/>
          </p:nvPr>
        </p:nvSpPr>
        <p:spPr>
          <a:ln/>
        </p:spPr>
      </p:sp>
      <p:sp>
        <p:nvSpPr>
          <p:cNvPr id="229379"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TW"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2818" name="Rectangle 2"/>
          <p:cNvSpPr>
            <a:spLocks noGrp="1" noChangeArrowheads="1"/>
          </p:cNvSpPr>
          <p:nvPr>
            <p:ph type="body" idx="1"/>
          </p:nvPr>
        </p:nvSpPr>
        <p:spPr>
          <a:xfrm>
            <a:off x="1320800" y="3227388"/>
            <a:ext cx="7264400" cy="3057525"/>
          </a:xfrm>
          <a:noFill/>
        </p:spPr>
        <p:txBody>
          <a:bodyPr lIns="90488" tIns="44450" rIns="90488" bIns="44450"/>
          <a:lstStyle/>
          <a:p>
            <a:endParaRPr lang="zh-TW" altLang="en-US"/>
          </a:p>
        </p:txBody>
      </p:sp>
      <p:sp>
        <p:nvSpPr>
          <p:cNvPr id="162819" name="Rectangle 3"/>
          <p:cNvSpPr>
            <a:spLocks noGrp="1" noRot="1" noChangeAspect="1" noChangeArrowheads="1" noTextEdit="1"/>
          </p:cNvSpPr>
          <p:nvPr>
            <p:ph type="sldImg"/>
          </p:nvPr>
        </p:nvSpPr>
        <p:spPr>
          <a:xfrm>
            <a:off x="2697163" y="514350"/>
            <a:ext cx="4511675" cy="2538413"/>
          </a:xfrm>
          <a:ln cap="flat">
            <a:solidFill>
              <a:schemeClr val="tx1"/>
            </a:solidFill>
          </a:ln>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42" name="Rectangle 2"/>
          <p:cNvSpPr>
            <a:spLocks noGrp="1" noRot="1" noChangeAspect="1" noChangeArrowheads="1" noTextEdit="1"/>
          </p:cNvSpPr>
          <p:nvPr>
            <p:ph type="sldImg"/>
          </p:nvPr>
        </p:nvSpPr>
        <p:spPr>
          <a:xfrm>
            <a:off x="2687638" y="509588"/>
            <a:ext cx="4532312" cy="2549525"/>
          </a:xfrm>
          <a:ln/>
        </p:spPr>
      </p:sp>
      <p:sp>
        <p:nvSpPr>
          <p:cNvPr id="163843" name="Rectangle 3"/>
          <p:cNvSpPr>
            <a:spLocks noGrp="1" noChangeArrowheads="1"/>
          </p:cNvSpPr>
          <p:nvPr>
            <p:ph type="body" idx="1"/>
          </p:nvPr>
        </p:nvSpPr>
        <p:spPr>
          <a:xfrm>
            <a:off x="1320800" y="3227388"/>
            <a:ext cx="7264400" cy="3057525"/>
          </a:xfrm>
          <a:noFill/>
        </p:spPr>
        <p:txBody>
          <a:bodyPr/>
          <a:lstStyle/>
          <a:p>
            <a:endParaRPr lang="zh-TW"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82" name="Rectangle 2"/>
          <p:cNvSpPr>
            <a:spLocks noGrp="1" noRot="1" noChangeAspect="1" noChangeArrowheads="1" noTextEdit="1"/>
          </p:cNvSpPr>
          <p:nvPr>
            <p:ph type="sldImg"/>
          </p:nvPr>
        </p:nvSpPr>
        <p:spPr>
          <a:xfrm>
            <a:off x="2687638" y="509588"/>
            <a:ext cx="4532312" cy="2549525"/>
          </a:xfrm>
          <a:ln/>
        </p:spPr>
      </p:sp>
      <p:sp>
        <p:nvSpPr>
          <p:cNvPr id="225283" name="Rectangle 3"/>
          <p:cNvSpPr>
            <a:spLocks noGrp="1" noChangeArrowheads="1"/>
          </p:cNvSpPr>
          <p:nvPr>
            <p:ph type="body" idx="1"/>
          </p:nvPr>
        </p:nvSpPr>
        <p:spPr>
          <a:xfrm>
            <a:off x="1320800" y="3227388"/>
            <a:ext cx="7264400" cy="30575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TW"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7330" name="Rectangle 2"/>
          <p:cNvSpPr>
            <a:spLocks noGrp="1" noRot="1" noChangeAspect="1" noChangeArrowheads="1" noTextEdit="1"/>
          </p:cNvSpPr>
          <p:nvPr>
            <p:ph type="sldImg"/>
          </p:nvPr>
        </p:nvSpPr>
        <p:spPr>
          <a:xfrm>
            <a:off x="2687638" y="509588"/>
            <a:ext cx="4532312" cy="2549525"/>
          </a:xfrm>
          <a:ln/>
        </p:spPr>
      </p:sp>
      <p:sp>
        <p:nvSpPr>
          <p:cNvPr id="227331" name="Rectangle 3"/>
          <p:cNvSpPr>
            <a:spLocks noGrp="1" noChangeArrowheads="1"/>
          </p:cNvSpPr>
          <p:nvPr>
            <p:ph type="body" idx="1"/>
          </p:nvPr>
        </p:nvSpPr>
        <p:spPr>
          <a:xfrm>
            <a:off x="1320800" y="3227388"/>
            <a:ext cx="7264400" cy="30575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TW"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4866" name="Rectangle 2"/>
          <p:cNvSpPr>
            <a:spLocks noGrp="1" noRot="1" noChangeAspect="1" noChangeArrowheads="1" noTextEdit="1"/>
          </p:cNvSpPr>
          <p:nvPr>
            <p:ph type="sldImg"/>
          </p:nvPr>
        </p:nvSpPr>
        <p:spPr>
          <a:xfrm>
            <a:off x="2687638" y="509588"/>
            <a:ext cx="4532312" cy="2549525"/>
          </a:xfrm>
          <a:ln/>
        </p:spPr>
      </p:sp>
      <p:sp>
        <p:nvSpPr>
          <p:cNvPr id="164867" name="Rectangle 3"/>
          <p:cNvSpPr>
            <a:spLocks noGrp="1" noChangeArrowheads="1"/>
          </p:cNvSpPr>
          <p:nvPr>
            <p:ph type="body" idx="1"/>
          </p:nvPr>
        </p:nvSpPr>
        <p:spPr>
          <a:xfrm>
            <a:off x="1320800" y="3227388"/>
            <a:ext cx="7264400" cy="3057525"/>
          </a:xfrm>
          <a:noFill/>
        </p:spPr>
        <p:txBody>
          <a:bodyPr/>
          <a:lstStyle/>
          <a:p>
            <a:r>
              <a:rPr lang="en-US" altLang="zh-TW"/>
              <a:t>Eearly restart: to resume the execution as soon as the requested word of block is returned rather than wait for the entire block. Work good for instruction.</a:t>
            </a:r>
          </a:p>
          <a:p>
            <a:r>
              <a:rPr lang="en-US" altLang="zh-TW"/>
              <a:t>critical word first: the requested word is transferred first. Then the remaining transfer start from the word next to the requested word and wrapping around to the beginning.</a:t>
            </a: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5890" name="Rectangle 2"/>
          <p:cNvSpPr>
            <a:spLocks noGrp="1" noChangeArrowheads="1"/>
          </p:cNvSpPr>
          <p:nvPr>
            <p:ph type="body" idx="1"/>
          </p:nvPr>
        </p:nvSpPr>
        <p:spPr>
          <a:xfrm>
            <a:off x="1320800" y="3227388"/>
            <a:ext cx="7264400" cy="3057525"/>
          </a:xfrm>
          <a:noFill/>
        </p:spPr>
        <p:txBody>
          <a:bodyPr lIns="90488" tIns="44450" rIns="90488" bIns="44450"/>
          <a:lstStyle/>
          <a:p>
            <a:r>
              <a:rPr lang="en-US" altLang="zh-TW"/>
              <a:t>Each line represents a cache of different size.</a:t>
            </a:r>
          </a:p>
        </p:txBody>
      </p:sp>
      <p:sp>
        <p:nvSpPr>
          <p:cNvPr id="165891" name="Rectangle 3"/>
          <p:cNvSpPr>
            <a:spLocks noGrp="1" noRot="1" noChangeAspect="1" noChangeArrowheads="1" noTextEdit="1"/>
          </p:cNvSpPr>
          <p:nvPr>
            <p:ph type="sldImg"/>
          </p:nvPr>
        </p:nvSpPr>
        <p:spPr>
          <a:xfrm>
            <a:off x="2697163" y="514350"/>
            <a:ext cx="4511675" cy="2538413"/>
          </a:xfrm>
          <a:ln cap="flat">
            <a:solidFill>
              <a:schemeClr val="tx1"/>
            </a:solidFill>
          </a:ln>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02" name="Rectangle 2"/>
          <p:cNvSpPr>
            <a:spLocks noGrp="1" noRot="1" noChangeAspect="1" noChangeArrowheads="1" noTextEdit="1"/>
          </p:cNvSpPr>
          <p:nvPr>
            <p:ph type="sldImg"/>
          </p:nvPr>
        </p:nvSpPr>
        <p:spPr>
          <a:ln/>
        </p:spPr>
      </p:sp>
      <p:sp>
        <p:nvSpPr>
          <p:cNvPr id="204803"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TW" altLang="en-US"/>
          </a:p>
        </p:txBody>
      </p:sp>
    </p:spTree>
    <p:extLst>
      <p:ext uri="{BB962C8B-B14F-4D97-AF65-F5344CB8AC3E}">
        <p14:creationId xmlns:p14="http://schemas.microsoft.com/office/powerpoint/2010/main" val="172150676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6914" name="Rectangle 2"/>
          <p:cNvSpPr>
            <a:spLocks noGrp="1" noRot="1" noChangeAspect="1" noChangeArrowheads="1" noTextEdit="1"/>
          </p:cNvSpPr>
          <p:nvPr>
            <p:ph type="sldImg"/>
          </p:nvPr>
        </p:nvSpPr>
        <p:spPr>
          <a:xfrm>
            <a:off x="2687638" y="509588"/>
            <a:ext cx="4532312" cy="2549525"/>
          </a:xfrm>
          <a:ln/>
        </p:spPr>
      </p:sp>
      <p:sp>
        <p:nvSpPr>
          <p:cNvPr id="166915" name="Rectangle 3"/>
          <p:cNvSpPr>
            <a:spLocks noGrp="1" noChangeArrowheads="1"/>
          </p:cNvSpPr>
          <p:nvPr>
            <p:ph type="body" idx="1"/>
          </p:nvPr>
        </p:nvSpPr>
        <p:spPr>
          <a:xfrm>
            <a:off x="1320800" y="3227388"/>
            <a:ext cx="7264400" cy="3057525"/>
          </a:xfrm>
          <a:noFill/>
        </p:spPr>
        <p:txBody>
          <a:bodyPr/>
          <a:lstStyle/>
          <a:p>
            <a:endParaRPr lang="zh-TW"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458" name="Rectangle 2"/>
          <p:cNvSpPr>
            <a:spLocks noGrp="1" noRot="1" noChangeAspect="1" noChangeArrowheads="1" noTextEdit="1"/>
          </p:cNvSpPr>
          <p:nvPr>
            <p:ph type="sldImg"/>
          </p:nvPr>
        </p:nvSpPr>
        <p:spPr>
          <a:xfrm>
            <a:off x="2687638" y="509588"/>
            <a:ext cx="4532312" cy="2549525"/>
          </a:xfrm>
          <a:ln/>
        </p:spPr>
      </p:sp>
      <p:sp>
        <p:nvSpPr>
          <p:cNvPr id="147459" name="Rectangle 3"/>
          <p:cNvSpPr>
            <a:spLocks noGrp="1" noChangeArrowheads="1"/>
          </p:cNvSpPr>
          <p:nvPr>
            <p:ph type="body" idx="1"/>
          </p:nvPr>
        </p:nvSpPr>
        <p:spPr>
          <a:xfrm>
            <a:off x="1320800" y="3227388"/>
            <a:ext cx="7264400" cy="30575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TW"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8962" name="Rectangle 2"/>
          <p:cNvSpPr>
            <a:spLocks noGrp="1" noChangeArrowheads="1"/>
          </p:cNvSpPr>
          <p:nvPr>
            <p:ph type="body" idx="1"/>
          </p:nvPr>
        </p:nvSpPr>
        <p:spPr>
          <a:xfrm>
            <a:off x="1319213" y="3227388"/>
            <a:ext cx="7265987" cy="3057525"/>
          </a:xfrm>
          <a:noFill/>
        </p:spPr>
        <p:txBody>
          <a:bodyPr lIns="88900" tIns="44450" rIns="88900" bIns="44450"/>
          <a:lstStyle/>
          <a:p>
            <a:pPr defTabSz="877888"/>
            <a:r>
              <a:rPr lang="en-US" altLang="zh-TW"/>
              <a:t>You are right, memory is too slow.  We really didn't writ e to the memory directly.  We are writing to a write buffer.</a:t>
            </a:r>
          </a:p>
          <a:p>
            <a:pPr defTabSz="877888"/>
            <a:r>
              <a:rPr lang="en-US" altLang="zh-TW"/>
              <a:t>Once the data is written into the write buffer and assuming a cache hit, the CPU is done with the write. The memory controller will then move the write buffer contents to the real memory  behind the scene.</a:t>
            </a:r>
          </a:p>
          <a:p>
            <a:pPr defTabSz="877888"/>
            <a:r>
              <a:rPr lang="en-US" altLang="zh-TW"/>
              <a:t>The write buffer works as long as the frequency of store is not too high.  Notice here, I am referring to the frequency with respect to time, not with respect to number of instructions.</a:t>
            </a:r>
          </a:p>
          <a:p>
            <a:pPr defTabSz="877888"/>
            <a:r>
              <a:rPr lang="en-US" altLang="zh-TW"/>
              <a:t>Remember the DRAM cycle time we talked about last time.  It sets the upper limit on how frequent you can write to the main memory.</a:t>
            </a:r>
          </a:p>
          <a:p>
            <a:pPr defTabSz="877888"/>
            <a:r>
              <a:rPr lang="en-US" altLang="zh-TW"/>
              <a:t>If the store are too close together or the CPU time is so much faster than the DRAM cycle time, you can end up overflowing the write buffer and the CPU must stop and wait.</a:t>
            </a:r>
          </a:p>
          <a:p>
            <a:pPr defTabSz="877888"/>
            <a:endParaRPr lang="en-US" altLang="zh-TW"/>
          </a:p>
          <a:p>
            <a:pPr defTabSz="877888"/>
            <a:r>
              <a:rPr lang="en-US" altLang="zh-TW"/>
              <a:t>+2 = 60 min. (Y:40)</a:t>
            </a:r>
          </a:p>
        </p:txBody>
      </p:sp>
      <p:sp>
        <p:nvSpPr>
          <p:cNvPr id="168963" name="Rectangle 3"/>
          <p:cNvSpPr>
            <a:spLocks noGrp="1" noRot="1" noChangeAspect="1" noChangeArrowheads="1" noTextEdit="1"/>
          </p:cNvSpPr>
          <p:nvPr>
            <p:ph type="sldImg"/>
          </p:nvPr>
        </p:nvSpPr>
        <p:spPr>
          <a:xfrm>
            <a:off x="2709863" y="438150"/>
            <a:ext cx="4506912" cy="2536825"/>
          </a:xfrm>
          <a:ln>
            <a:noFill/>
          </a:ln>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9986" name="Rectangle 2"/>
          <p:cNvSpPr>
            <a:spLocks noGrp="1" noRot="1" noChangeAspect="1" noChangeArrowheads="1" noTextEdit="1"/>
          </p:cNvSpPr>
          <p:nvPr>
            <p:ph type="sldImg"/>
          </p:nvPr>
        </p:nvSpPr>
        <p:spPr>
          <a:xfrm>
            <a:off x="2687638" y="509588"/>
            <a:ext cx="4532312" cy="2549525"/>
          </a:xfrm>
          <a:ln/>
        </p:spPr>
      </p:sp>
      <p:sp>
        <p:nvSpPr>
          <p:cNvPr id="169987" name="Rectangle 3"/>
          <p:cNvSpPr>
            <a:spLocks noGrp="1" noChangeArrowheads="1"/>
          </p:cNvSpPr>
          <p:nvPr>
            <p:ph type="body" idx="1"/>
          </p:nvPr>
        </p:nvSpPr>
        <p:spPr>
          <a:xfrm>
            <a:off x="1320800" y="3227388"/>
            <a:ext cx="7264400" cy="3057525"/>
          </a:xfrm>
          <a:noFill/>
        </p:spPr>
        <p:txBody>
          <a:bodyPr/>
          <a:lstStyle/>
          <a:p>
            <a:endParaRPr lang="zh-TW"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1010" name="Rectangle 2"/>
          <p:cNvSpPr>
            <a:spLocks noGrp="1" noRot="1" noChangeAspect="1" noChangeArrowheads="1" noTextEdit="1"/>
          </p:cNvSpPr>
          <p:nvPr>
            <p:ph type="sldImg"/>
          </p:nvPr>
        </p:nvSpPr>
        <p:spPr>
          <a:xfrm>
            <a:off x="2687638" y="509588"/>
            <a:ext cx="4532312" cy="2549525"/>
          </a:xfrm>
          <a:ln/>
        </p:spPr>
      </p:sp>
      <p:sp>
        <p:nvSpPr>
          <p:cNvPr id="171011" name="Rectangle 3"/>
          <p:cNvSpPr>
            <a:spLocks noGrp="1" noChangeArrowheads="1"/>
          </p:cNvSpPr>
          <p:nvPr>
            <p:ph type="body" idx="1"/>
          </p:nvPr>
        </p:nvSpPr>
        <p:spPr>
          <a:xfrm>
            <a:off x="1320800" y="3227388"/>
            <a:ext cx="7264400" cy="3057525"/>
          </a:xfrm>
          <a:noFill/>
        </p:spPr>
        <p:txBody>
          <a:bodyPr/>
          <a:lstStyle/>
          <a:p>
            <a:endParaRPr lang="zh-TW" alt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2034" name="Rectangle 2"/>
          <p:cNvSpPr>
            <a:spLocks noGrp="1" noRot="1" noChangeAspect="1" noChangeArrowheads="1" noTextEdit="1"/>
          </p:cNvSpPr>
          <p:nvPr>
            <p:ph type="sldImg"/>
          </p:nvPr>
        </p:nvSpPr>
        <p:spPr>
          <a:xfrm>
            <a:off x="2687638" y="509588"/>
            <a:ext cx="4532312" cy="2549525"/>
          </a:xfrm>
          <a:ln/>
        </p:spPr>
      </p:sp>
      <p:sp>
        <p:nvSpPr>
          <p:cNvPr id="172035" name="Rectangle 3"/>
          <p:cNvSpPr>
            <a:spLocks noGrp="1" noChangeArrowheads="1"/>
          </p:cNvSpPr>
          <p:nvPr>
            <p:ph type="body" idx="1"/>
          </p:nvPr>
        </p:nvSpPr>
        <p:spPr>
          <a:xfrm>
            <a:off x="1320800" y="3227388"/>
            <a:ext cx="7264400" cy="3057525"/>
          </a:xfrm>
          <a:noFill/>
        </p:spPr>
        <p:txBody>
          <a:bodyPr/>
          <a:lstStyle/>
          <a:p>
            <a:endParaRPr lang="zh-TW" alt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02" name="Rectangle 2"/>
          <p:cNvSpPr>
            <a:spLocks noGrp="1" noRot="1" noChangeAspect="1" noChangeArrowheads="1" noTextEdit="1"/>
          </p:cNvSpPr>
          <p:nvPr>
            <p:ph type="sldImg"/>
          </p:nvPr>
        </p:nvSpPr>
        <p:spPr>
          <a:ln/>
        </p:spPr>
      </p:sp>
      <p:sp>
        <p:nvSpPr>
          <p:cNvPr id="204803"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TW" altLang="en-US"/>
          </a:p>
        </p:txBody>
      </p:sp>
    </p:spTree>
    <p:extLst>
      <p:ext uri="{BB962C8B-B14F-4D97-AF65-F5344CB8AC3E}">
        <p14:creationId xmlns:p14="http://schemas.microsoft.com/office/powerpoint/2010/main" val="647323283"/>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82" name="Rectangle 2"/>
          <p:cNvSpPr>
            <a:spLocks noGrp="1" noChangeArrowheads="1"/>
          </p:cNvSpPr>
          <p:nvPr>
            <p:ph type="body" idx="1"/>
          </p:nvPr>
        </p:nvSpPr>
        <p:spPr>
          <a:xfrm>
            <a:off x="1320800" y="3227388"/>
            <a:ext cx="7264400" cy="3057525"/>
          </a:xfrm>
          <a:noFill/>
        </p:spPr>
        <p:txBody>
          <a:bodyPr lIns="90488" tIns="44450" rIns="90488" bIns="44450"/>
          <a:lstStyle/>
          <a:p>
            <a:endParaRPr lang="zh-TW" altLang="en-US"/>
          </a:p>
        </p:txBody>
      </p:sp>
      <p:sp>
        <p:nvSpPr>
          <p:cNvPr id="174083" name="Rectangle 3"/>
          <p:cNvSpPr>
            <a:spLocks noGrp="1" noRot="1" noChangeAspect="1" noChangeArrowheads="1" noTextEdit="1"/>
          </p:cNvSpPr>
          <p:nvPr>
            <p:ph type="sldImg"/>
          </p:nvPr>
        </p:nvSpPr>
        <p:spPr>
          <a:xfrm>
            <a:off x="2697163" y="514350"/>
            <a:ext cx="4511675" cy="2538413"/>
          </a:xfrm>
          <a:noFill/>
          <a:ln cap="flat">
            <a:solidFill>
              <a:schemeClr val="tx1"/>
            </a:solidFill>
          </a:ln>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3474" name="Rectangle 2"/>
          <p:cNvSpPr>
            <a:spLocks noGrp="1" noRot="1" noChangeAspect="1" noChangeArrowheads="1" noTextEdit="1"/>
          </p:cNvSpPr>
          <p:nvPr>
            <p:ph type="sldImg"/>
          </p:nvPr>
        </p:nvSpPr>
        <p:spPr>
          <a:ln/>
        </p:spPr>
      </p:sp>
      <p:sp>
        <p:nvSpPr>
          <p:cNvPr id="233475"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TW" alt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5106" name="Rectangle 2"/>
          <p:cNvSpPr>
            <a:spLocks noGrp="1" noRot="1" noChangeAspect="1" noChangeArrowheads="1" noTextEdit="1"/>
          </p:cNvSpPr>
          <p:nvPr>
            <p:ph type="sldImg"/>
          </p:nvPr>
        </p:nvSpPr>
        <p:spPr>
          <a:xfrm>
            <a:off x="2687638" y="509588"/>
            <a:ext cx="4532312" cy="2549525"/>
          </a:xfrm>
          <a:ln/>
        </p:spPr>
      </p:sp>
      <p:sp>
        <p:nvSpPr>
          <p:cNvPr id="175107" name="Rectangle 3"/>
          <p:cNvSpPr>
            <a:spLocks noGrp="1" noChangeArrowheads="1"/>
          </p:cNvSpPr>
          <p:nvPr>
            <p:ph type="body" idx="1"/>
          </p:nvPr>
        </p:nvSpPr>
        <p:spPr>
          <a:xfrm>
            <a:off x="1320800" y="3227388"/>
            <a:ext cx="7264400" cy="3057525"/>
          </a:xfrm>
          <a:noFill/>
        </p:spPr>
        <p:txBody>
          <a:bodyPr/>
          <a:lstStyle/>
          <a:p>
            <a:endParaRPr lang="zh-TW" alt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02" name="Rectangle 2"/>
          <p:cNvSpPr>
            <a:spLocks noGrp="1" noRot="1" noChangeAspect="1" noChangeArrowheads="1" noTextEdit="1"/>
          </p:cNvSpPr>
          <p:nvPr>
            <p:ph type="sldImg"/>
          </p:nvPr>
        </p:nvSpPr>
        <p:spPr>
          <a:ln/>
        </p:spPr>
      </p:sp>
      <p:sp>
        <p:nvSpPr>
          <p:cNvPr id="204803"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TW" altLang="en-US"/>
          </a:p>
        </p:txBody>
      </p:sp>
    </p:spTree>
    <p:extLst>
      <p:ext uri="{BB962C8B-B14F-4D97-AF65-F5344CB8AC3E}">
        <p14:creationId xmlns:p14="http://schemas.microsoft.com/office/powerpoint/2010/main" val="3136783463"/>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6130" name="Rectangle 2"/>
          <p:cNvSpPr>
            <a:spLocks noGrp="1" noRot="1" noChangeAspect="1" noChangeArrowheads="1" noTextEdit="1"/>
          </p:cNvSpPr>
          <p:nvPr>
            <p:ph type="sldImg"/>
          </p:nvPr>
        </p:nvSpPr>
        <p:spPr>
          <a:xfrm>
            <a:off x="2687638" y="509588"/>
            <a:ext cx="4532312" cy="2549525"/>
          </a:xfrm>
          <a:ln/>
        </p:spPr>
      </p:sp>
      <p:sp>
        <p:nvSpPr>
          <p:cNvPr id="176131" name="Rectangle 3"/>
          <p:cNvSpPr>
            <a:spLocks noGrp="1" noChangeArrowheads="1"/>
          </p:cNvSpPr>
          <p:nvPr>
            <p:ph type="body" idx="1"/>
          </p:nvPr>
        </p:nvSpPr>
        <p:spPr>
          <a:xfrm>
            <a:off x="1320800" y="3227388"/>
            <a:ext cx="7264400" cy="3057525"/>
          </a:xfrm>
          <a:noFill/>
        </p:spPr>
        <p:txBody>
          <a:bodyPr/>
          <a:lstStyle/>
          <a:p>
            <a:endParaRPr lang="zh-TW" alt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7154" name="Rectangle 2"/>
          <p:cNvSpPr>
            <a:spLocks noGrp="1" noRot="1" noChangeAspect="1" noChangeArrowheads="1" noTextEdit="1"/>
          </p:cNvSpPr>
          <p:nvPr>
            <p:ph type="sldImg"/>
          </p:nvPr>
        </p:nvSpPr>
        <p:spPr>
          <a:xfrm>
            <a:off x="2687638" y="509588"/>
            <a:ext cx="4532312" cy="2549525"/>
          </a:xfrm>
          <a:ln/>
        </p:spPr>
      </p:sp>
      <p:sp>
        <p:nvSpPr>
          <p:cNvPr id="177155" name="Rectangle 3"/>
          <p:cNvSpPr>
            <a:spLocks noGrp="1" noChangeArrowheads="1"/>
          </p:cNvSpPr>
          <p:nvPr>
            <p:ph type="body" idx="1"/>
          </p:nvPr>
        </p:nvSpPr>
        <p:spPr>
          <a:xfrm>
            <a:off x="1320800" y="3227388"/>
            <a:ext cx="7264400" cy="3057525"/>
          </a:xfrm>
          <a:noFill/>
        </p:spPr>
        <p:txBody>
          <a:bodyPr/>
          <a:lstStyle/>
          <a:p>
            <a:endParaRPr lang="zh-TW" altLang="en-U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8178" name="Rectangle 2"/>
          <p:cNvSpPr>
            <a:spLocks noGrp="1" noRot="1" noChangeAspect="1" noChangeArrowheads="1" noTextEdit="1"/>
          </p:cNvSpPr>
          <p:nvPr>
            <p:ph type="sldImg"/>
          </p:nvPr>
        </p:nvSpPr>
        <p:spPr>
          <a:xfrm>
            <a:off x="2687638" y="509588"/>
            <a:ext cx="4532312" cy="2549525"/>
          </a:xfrm>
          <a:ln/>
        </p:spPr>
      </p:sp>
      <p:sp>
        <p:nvSpPr>
          <p:cNvPr id="178179" name="Rectangle 3"/>
          <p:cNvSpPr>
            <a:spLocks noGrp="1" noChangeArrowheads="1"/>
          </p:cNvSpPr>
          <p:nvPr>
            <p:ph type="body" idx="1"/>
          </p:nvPr>
        </p:nvSpPr>
        <p:spPr>
          <a:xfrm>
            <a:off x="1320800" y="3227388"/>
            <a:ext cx="7264400" cy="3057525"/>
          </a:xfrm>
          <a:noFill/>
        </p:spPr>
        <p:txBody>
          <a:bodyPr/>
          <a:lstStyle/>
          <a:p>
            <a:endParaRPr lang="zh-TW" altLang="en-US"/>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9202" name="Rectangle 2"/>
          <p:cNvSpPr>
            <a:spLocks noGrp="1" noRot="1" noChangeAspect="1" noChangeArrowheads="1" noTextEdit="1"/>
          </p:cNvSpPr>
          <p:nvPr>
            <p:ph type="sldImg"/>
          </p:nvPr>
        </p:nvSpPr>
        <p:spPr>
          <a:xfrm>
            <a:off x="2687638" y="509588"/>
            <a:ext cx="4532312" cy="2549525"/>
          </a:xfrm>
          <a:ln/>
        </p:spPr>
      </p:sp>
      <p:sp>
        <p:nvSpPr>
          <p:cNvPr id="179203" name="Rectangle 3"/>
          <p:cNvSpPr>
            <a:spLocks noGrp="1" noChangeArrowheads="1"/>
          </p:cNvSpPr>
          <p:nvPr>
            <p:ph type="body" idx="1"/>
          </p:nvPr>
        </p:nvSpPr>
        <p:spPr>
          <a:xfrm>
            <a:off x="1320800" y="3227388"/>
            <a:ext cx="7264400" cy="3057525"/>
          </a:xfrm>
          <a:noFill/>
        </p:spPr>
        <p:txBody>
          <a:bodyPr/>
          <a:lstStyle/>
          <a:p>
            <a:endParaRPr lang="zh-TW" altLang="en-US"/>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02" name="Rectangle 2"/>
          <p:cNvSpPr>
            <a:spLocks noGrp="1" noRot="1" noChangeAspect="1" noChangeArrowheads="1" noTextEdit="1"/>
          </p:cNvSpPr>
          <p:nvPr>
            <p:ph type="sldImg"/>
          </p:nvPr>
        </p:nvSpPr>
        <p:spPr>
          <a:ln/>
        </p:spPr>
      </p:sp>
      <p:sp>
        <p:nvSpPr>
          <p:cNvPr id="204803"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TW" altLang="en-US"/>
          </a:p>
        </p:txBody>
      </p:sp>
    </p:spTree>
    <p:extLst>
      <p:ext uri="{BB962C8B-B14F-4D97-AF65-F5344CB8AC3E}">
        <p14:creationId xmlns:p14="http://schemas.microsoft.com/office/powerpoint/2010/main" val="98557714"/>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0226" name="Rectangle 2"/>
          <p:cNvSpPr>
            <a:spLocks noGrp="1" noChangeArrowheads="1"/>
          </p:cNvSpPr>
          <p:nvPr>
            <p:ph type="body" idx="1"/>
          </p:nvPr>
        </p:nvSpPr>
        <p:spPr>
          <a:xfrm>
            <a:off x="1320800" y="3227388"/>
            <a:ext cx="7264400" cy="3057525"/>
          </a:xfrm>
          <a:noFill/>
        </p:spPr>
        <p:txBody>
          <a:bodyPr lIns="90488" tIns="44450" rIns="90488" bIns="44450"/>
          <a:lstStyle/>
          <a:p>
            <a:endParaRPr lang="zh-TW" altLang="en-US"/>
          </a:p>
        </p:txBody>
      </p:sp>
      <p:sp>
        <p:nvSpPr>
          <p:cNvPr id="180227" name="Rectangle 3"/>
          <p:cNvSpPr>
            <a:spLocks noGrp="1" noRot="1" noChangeAspect="1" noChangeArrowheads="1" noTextEdit="1"/>
          </p:cNvSpPr>
          <p:nvPr>
            <p:ph type="sldImg"/>
          </p:nvPr>
        </p:nvSpPr>
        <p:spPr>
          <a:xfrm>
            <a:off x="2697163" y="514350"/>
            <a:ext cx="4511675" cy="2538413"/>
          </a:xfrm>
          <a:ln cap="flat">
            <a:solidFill>
              <a:schemeClr val="tx1"/>
            </a:solidFill>
          </a:ln>
        </p:spPr>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1250" name="Rectangle 2"/>
          <p:cNvSpPr>
            <a:spLocks noGrp="1" noRot="1" noChangeAspect="1" noChangeArrowheads="1" noTextEdit="1"/>
          </p:cNvSpPr>
          <p:nvPr>
            <p:ph type="sldImg"/>
          </p:nvPr>
        </p:nvSpPr>
        <p:spPr>
          <a:xfrm>
            <a:off x="2687638" y="509588"/>
            <a:ext cx="4532312" cy="2549525"/>
          </a:xfrm>
          <a:ln/>
        </p:spPr>
      </p:sp>
      <p:sp>
        <p:nvSpPr>
          <p:cNvPr id="181251" name="Rectangle 3"/>
          <p:cNvSpPr>
            <a:spLocks noGrp="1" noChangeArrowheads="1"/>
          </p:cNvSpPr>
          <p:nvPr>
            <p:ph type="body" idx="1"/>
          </p:nvPr>
        </p:nvSpPr>
        <p:spPr>
          <a:xfrm>
            <a:off x="1320800" y="3227388"/>
            <a:ext cx="7264400" cy="3057525"/>
          </a:xfrm>
          <a:noFill/>
        </p:spPr>
        <p:txBody>
          <a:bodyPr/>
          <a:lstStyle/>
          <a:p>
            <a:endParaRPr lang="zh-TW" altLang="en-US"/>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2274" name="Rectangle 2"/>
          <p:cNvSpPr>
            <a:spLocks noGrp="1" noRot="1" noChangeAspect="1" noChangeArrowheads="1" noTextEdit="1"/>
          </p:cNvSpPr>
          <p:nvPr>
            <p:ph type="sldImg"/>
          </p:nvPr>
        </p:nvSpPr>
        <p:spPr>
          <a:xfrm>
            <a:off x="2687638" y="509588"/>
            <a:ext cx="4532312" cy="2549525"/>
          </a:xfrm>
          <a:ln/>
        </p:spPr>
      </p:sp>
      <p:sp>
        <p:nvSpPr>
          <p:cNvPr id="182275" name="Rectangle 3"/>
          <p:cNvSpPr>
            <a:spLocks noGrp="1" noChangeArrowheads="1"/>
          </p:cNvSpPr>
          <p:nvPr>
            <p:ph type="body" idx="1"/>
          </p:nvPr>
        </p:nvSpPr>
        <p:spPr>
          <a:xfrm>
            <a:off x="1320800" y="3227388"/>
            <a:ext cx="7264400" cy="3057525"/>
          </a:xfrm>
          <a:noFill/>
        </p:spPr>
        <p:txBody>
          <a:bodyPr/>
          <a:lstStyle/>
          <a:p>
            <a:endParaRPr lang="zh-TW" altLang="en-US"/>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3298" name="Rectangle 2"/>
          <p:cNvSpPr>
            <a:spLocks noGrp="1" noChangeArrowheads="1"/>
          </p:cNvSpPr>
          <p:nvPr>
            <p:ph type="body" idx="1"/>
          </p:nvPr>
        </p:nvSpPr>
        <p:spPr>
          <a:xfrm>
            <a:off x="1320800" y="3227388"/>
            <a:ext cx="7264400" cy="3057525"/>
          </a:xfrm>
          <a:noFill/>
        </p:spPr>
        <p:txBody>
          <a:bodyPr lIns="90488" tIns="44450" rIns="90488" bIns="44450"/>
          <a:lstStyle/>
          <a:p>
            <a:endParaRPr lang="zh-TW" altLang="en-US"/>
          </a:p>
        </p:txBody>
      </p:sp>
      <p:sp>
        <p:nvSpPr>
          <p:cNvPr id="183299" name="Rectangle 3"/>
          <p:cNvSpPr>
            <a:spLocks noGrp="1" noRot="1" noChangeAspect="1" noChangeArrowheads="1" noTextEdit="1"/>
          </p:cNvSpPr>
          <p:nvPr>
            <p:ph type="sldImg"/>
          </p:nvPr>
        </p:nvSpPr>
        <p:spPr>
          <a:xfrm>
            <a:off x="2578100" y="603250"/>
            <a:ext cx="4532313" cy="2549525"/>
          </a:xfrm>
          <a:noFill/>
          <a:ln cap="flat">
            <a:solidFill>
              <a:schemeClr val="tx1"/>
            </a:solidFill>
          </a:ln>
        </p:spPr>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22" name="Rectangle 2"/>
          <p:cNvSpPr>
            <a:spLocks noGrp="1" noRot="1" noChangeAspect="1" noChangeArrowheads="1" noTextEdit="1"/>
          </p:cNvSpPr>
          <p:nvPr>
            <p:ph type="sldImg"/>
          </p:nvPr>
        </p:nvSpPr>
        <p:spPr>
          <a:xfrm>
            <a:off x="2687638" y="509588"/>
            <a:ext cx="4532312" cy="2549525"/>
          </a:xfrm>
          <a:ln/>
        </p:spPr>
      </p:sp>
      <p:sp>
        <p:nvSpPr>
          <p:cNvPr id="184323" name="Rectangle 3"/>
          <p:cNvSpPr>
            <a:spLocks noGrp="1" noChangeArrowheads="1"/>
          </p:cNvSpPr>
          <p:nvPr>
            <p:ph type="body" idx="1"/>
          </p:nvPr>
        </p:nvSpPr>
        <p:spPr>
          <a:xfrm>
            <a:off x="1320800" y="3227388"/>
            <a:ext cx="7264400" cy="3057525"/>
          </a:xfrm>
          <a:noFill/>
        </p:spPr>
        <p:txBody>
          <a:bodyPr/>
          <a:lstStyle/>
          <a:p>
            <a:endParaRPr lang="zh-TW" altLang="en-US"/>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5346" name="Rectangle 2"/>
          <p:cNvSpPr>
            <a:spLocks noGrp="1" noRot="1" noChangeAspect="1" noChangeArrowheads="1" noTextEdit="1"/>
          </p:cNvSpPr>
          <p:nvPr>
            <p:ph type="sldImg"/>
          </p:nvPr>
        </p:nvSpPr>
        <p:spPr>
          <a:xfrm>
            <a:off x="2687638" y="509588"/>
            <a:ext cx="4532312" cy="2549525"/>
          </a:xfrm>
          <a:ln/>
        </p:spPr>
      </p:sp>
      <p:sp>
        <p:nvSpPr>
          <p:cNvPr id="185347" name="Rectangle 3"/>
          <p:cNvSpPr>
            <a:spLocks noGrp="1" noChangeArrowheads="1"/>
          </p:cNvSpPr>
          <p:nvPr>
            <p:ph type="body" idx="1"/>
          </p:nvPr>
        </p:nvSpPr>
        <p:spPr>
          <a:xfrm>
            <a:off x="1320800" y="3227388"/>
            <a:ext cx="7264400" cy="3057525"/>
          </a:xfrm>
          <a:noFill/>
        </p:spPr>
        <p:txBody>
          <a:bodyPr/>
          <a:lstStyle/>
          <a:p>
            <a:endParaRPr lang="zh-TW" altLang="en-US" dirty="0"/>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6370" name="Rectangle 2"/>
          <p:cNvSpPr>
            <a:spLocks noGrp="1" noRot="1" noChangeAspect="1" noChangeArrowheads="1" noTextEdit="1"/>
          </p:cNvSpPr>
          <p:nvPr>
            <p:ph type="sldImg"/>
          </p:nvPr>
        </p:nvSpPr>
        <p:spPr>
          <a:xfrm>
            <a:off x="2687638" y="509588"/>
            <a:ext cx="4532312" cy="2549525"/>
          </a:xfrm>
          <a:ln/>
        </p:spPr>
      </p:sp>
      <p:sp>
        <p:nvSpPr>
          <p:cNvPr id="186371" name="Rectangle 3"/>
          <p:cNvSpPr>
            <a:spLocks noGrp="1" noChangeArrowheads="1"/>
          </p:cNvSpPr>
          <p:nvPr>
            <p:ph type="body" idx="1"/>
          </p:nvPr>
        </p:nvSpPr>
        <p:spPr>
          <a:xfrm>
            <a:off x="1320800" y="3227388"/>
            <a:ext cx="7264400" cy="3057525"/>
          </a:xfrm>
          <a:noFill/>
        </p:spPr>
        <p:txBody>
          <a:bodyPr/>
          <a:lstStyle/>
          <a:p>
            <a:endParaRPr lang="zh-TW" altLang="en-US"/>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7394" name="Rectangle 2"/>
          <p:cNvSpPr>
            <a:spLocks noGrp="1" noRot="1" noChangeAspect="1" noChangeArrowheads="1" noTextEdit="1"/>
          </p:cNvSpPr>
          <p:nvPr>
            <p:ph type="sldImg"/>
          </p:nvPr>
        </p:nvSpPr>
        <p:spPr>
          <a:xfrm>
            <a:off x="2722563" y="446088"/>
            <a:ext cx="4481512" cy="2522537"/>
          </a:xfrm>
          <a:noFill/>
          <a:ln cap="flat">
            <a:solidFill>
              <a:schemeClr val="tx1"/>
            </a:solidFill>
          </a:ln>
        </p:spPr>
      </p:sp>
      <p:sp>
        <p:nvSpPr>
          <p:cNvPr id="187395" name="Rectangle 3"/>
          <p:cNvSpPr>
            <a:spLocks noGrp="1" noChangeArrowheads="1"/>
          </p:cNvSpPr>
          <p:nvPr>
            <p:ph type="body" idx="1"/>
          </p:nvPr>
        </p:nvSpPr>
        <p:spPr>
          <a:xfrm>
            <a:off x="746125" y="3227388"/>
            <a:ext cx="8535988" cy="3057525"/>
          </a:xfrm>
          <a:noFill/>
        </p:spPr>
        <p:txBody>
          <a:bodyPr lIns="92075" tIns="46038" rIns="92075" bIns="46038"/>
          <a:lstStyle/>
          <a:p>
            <a:endParaRPr lang="zh-TW" altLang="en-US"/>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02" name="Rectangle 2"/>
          <p:cNvSpPr>
            <a:spLocks noGrp="1" noRot="1" noChangeAspect="1" noChangeArrowheads="1" noTextEdit="1"/>
          </p:cNvSpPr>
          <p:nvPr>
            <p:ph type="sldImg"/>
          </p:nvPr>
        </p:nvSpPr>
        <p:spPr>
          <a:ln/>
        </p:spPr>
      </p:sp>
      <p:sp>
        <p:nvSpPr>
          <p:cNvPr id="204803"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TW" altLang="en-US"/>
          </a:p>
        </p:txBody>
      </p:sp>
    </p:spTree>
    <p:extLst>
      <p:ext uri="{BB962C8B-B14F-4D97-AF65-F5344CB8AC3E}">
        <p14:creationId xmlns:p14="http://schemas.microsoft.com/office/powerpoint/2010/main" val="3310718744"/>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8418" name="Rectangle 2"/>
          <p:cNvSpPr>
            <a:spLocks noGrp="1" noRot="1" noChangeAspect="1" noChangeArrowheads="1" noTextEdit="1"/>
          </p:cNvSpPr>
          <p:nvPr>
            <p:ph type="sldImg"/>
          </p:nvPr>
        </p:nvSpPr>
        <p:spPr>
          <a:xfrm>
            <a:off x="2687638" y="509588"/>
            <a:ext cx="4532312" cy="2549525"/>
          </a:xfrm>
          <a:ln/>
        </p:spPr>
      </p:sp>
      <p:sp>
        <p:nvSpPr>
          <p:cNvPr id="188419" name="Rectangle 3"/>
          <p:cNvSpPr>
            <a:spLocks noGrp="1" noChangeArrowheads="1"/>
          </p:cNvSpPr>
          <p:nvPr>
            <p:ph type="body" idx="1"/>
          </p:nvPr>
        </p:nvSpPr>
        <p:spPr>
          <a:xfrm>
            <a:off x="1320800" y="3227388"/>
            <a:ext cx="7264400" cy="3057525"/>
          </a:xfrm>
          <a:noFill/>
        </p:spPr>
        <p:txBody>
          <a:bodyPr/>
          <a:lstStyle/>
          <a:p>
            <a:endParaRPr lang="zh-TW" altLang="en-US"/>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9442" name="Rectangle 2"/>
          <p:cNvSpPr>
            <a:spLocks noGrp="1" noRot="1" noChangeAspect="1" noChangeArrowheads="1" noTextEdit="1"/>
          </p:cNvSpPr>
          <p:nvPr>
            <p:ph type="sldImg"/>
          </p:nvPr>
        </p:nvSpPr>
        <p:spPr>
          <a:xfrm>
            <a:off x="2687638" y="509588"/>
            <a:ext cx="4532312" cy="2549525"/>
          </a:xfrm>
          <a:ln/>
        </p:spPr>
      </p:sp>
      <p:sp>
        <p:nvSpPr>
          <p:cNvPr id="189443" name="Rectangle 3"/>
          <p:cNvSpPr>
            <a:spLocks noGrp="1" noChangeArrowheads="1"/>
          </p:cNvSpPr>
          <p:nvPr>
            <p:ph type="body" idx="1"/>
          </p:nvPr>
        </p:nvSpPr>
        <p:spPr>
          <a:xfrm>
            <a:off x="1320800" y="3227388"/>
            <a:ext cx="7264400" cy="3057525"/>
          </a:xfrm>
          <a:noFill/>
        </p:spPr>
        <p:txBody>
          <a:bodyPr/>
          <a:lstStyle/>
          <a:p>
            <a:endParaRPr lang="zh-TW" altLang="en-US"/>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9986" name="Rectangle 2"/>
          <p:cNvSpPr>
            <a:spLocks noGrp="1" noRot="1" noChangeAspect="1" noChangeArrowheads="1" noTextEdit="1"/>
          </p:cNvSpPr>
          <p:nvPr>
            <p:ph type="sldImg"/>
          </p:nvPr>
        </p:nvSpPr>
        <p:spPr>
          <a:xfrm>
            <a:off x="2687638" y="509588"/>
            <a:ext cx="4532312" cy="2549525"/>
          </a:xfrm>
          <a:ln/>
        </p:spPr>
      </p:sp>
      <p:sp>
        <p:nvSpPr>
          <p:cNvPr id="169987" name="Rectangle 3"/>
          <p:cNvSpPr>
            <a:spLocks noGrp="1" noChangeArrowheads="1"/>
          </p:cNvSpPr>
          <p:nvPr>
            <p:ph type="body" idx="1"/>
          </p:nvPr>
        </p:nvSpPr>
        <p:spPr>
          <a:xfrm>
            <a:off x="1320800" y="3227388"/>
            <a:ext cx="7264400" cy="30575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TW" altLang="en-US"/>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1490" name="Rectangle 2"/>
          <p:cNvSpPr>
            <a:spLocks noGrp="1" noRot="1" noChangeAspect="1" noChangeArrowheads="1" noTextEdit="1"/>
          </p:cNvSpPr>
          <p:nvPr>
            <p:ph type="sldImg"/>
          </p:nvPr>
        </p:nvSpPr>
        <p:spPr>
          <a:xfrm>
            <a:off x="2687638" y="509588"/>
            <a:ext cx="4532312" cy="2549525"/>
          </a:xfrm>
          <a:ln/>
        </p:spPr>
      </p:sp>
      <p:sp>
        <p:nvSpPr>
          <p:cNvPr id="191491" name="Rectangle 3"/>
          <p:cNvSpPr>
            <a:spLocks noGrp="1" noChangeArrowheads="1"/>
          </p:cNvSpPr>
          <p:nvPr>
            <p:ph type="body" idx="1"/>
          </p:nvPr>
        </p:nvSpPr>
        <p:spPr>
          <a:xfrm>
            <a:off x="1320800" y="3227388"/>
            <a:ext cx="7264400" cy="3057525"/>
          </a:xfrm>
          <a:noFill/>
        </p:spPr>
        <p:txBody>
          <a:bodyPr/>
          <a:lstStyle/>
          <a:p>
            <a:endParaRPr lang="zh-TW" altLang="en-US"/>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2514" name="Rectangle 2"/>
          <p:cNvSpPr>
            <a:spLocks noGrp="1" noRot="1" noChangeAspect="1" noChangeArrowheads="1" noTextEdit="1"/>
          </p:cNvSpPr>
          <p:nvPr>
            <p:ph type="sldImg"/>
          </p:nvPr>
        </p:nvSpPr>
        <p:spPr>
          <a:xfrm>
            <a:off x="2687638" y="509588"/>
            <a:ext cx="4532312" cy="2549525"/>
          </a:xfrm>
          <a:ln/>
        </p:spPr>
      </p:sp>
      <p:sp>
        <p:nvSpPr>
          <p:cNvPr id="192515" name="Rectangle 3"/>
          <p:cNvSpPr>
            <a:spLocks noGrp="1" noChangeArrowheads="1"/>
          </p:cNvSpPr>
          <p:nvPr>
            <p:ph type="body" idx="1"/>
          </p:nvPr>
        </p:nvSpPr>
        <p:spPr>
          <a:xfrm>
            <a:off x="1320800" y="3227388"/>
            <a:ext cx="7264400" cy="3057525"/>
          </a:xfrm>
          <a:noFill/>
        </p:spPr>
        <p:txBody>
          <a:bodyPr/>
          <a:lstStyle/>
          <a:p>
            <a:endParaRPr lang="zh-TW" altLang="en-US"/>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3538" name="Rectangle 2"/>
          <p:cNvSpPr>
            <a:spLocks noGrp="1" noRot="1" noChangeAspect="1" noChangeArrowheads="1" noTextEdit="1"/>
          </p:cNvSpPr>
          <p:nvPr>
            <p:ph type="sldImg"/>
          </p:nvPr>
        </p:nvSpPr>
        <p:spPr>
          <a:xfrm>
            <a:off x="2687638" y="509588"/>
            <a:ext cx="4532312" cy="2549525"/>
          </a:xfrm>
          <a:ln/>
        </p:spPr>
      </p:sp>
      <p:sp>
        <p:nvSpPr>
          <p:cNvPr id="193539" name="Rectangle 3"/>
          <p:cNvSpPr>
            <a:spLocks noGrp="1" noChangeArrowheads="1"/>
          </p:cNvSpPr>
          <p:nvPr>
            <p:ph type="body" idx="1"/>
          </p:nvPr>
        </p:nvSpPr>
        <p:spPr>
          <a:xfrm>
            <a:off x="1320800" y="3227388"/>
            <a:ext cx="7264400" cy="3057525"/>
          </a:xfrm>
          <a:noFill/>
        </p:spPr>
        <p:txBody>
          <a:bodyPr/>
          <a:lstStyle/>
          <a:p>
            <a:endParaRPr lang="zh-TW"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a:xfrm>
            <a:off x="972589" y="108349"/>
            <a:ext cx="7703101" cy="519113"/>
          </a:xfrm>
        </p:spPr>
        <p:txBody>
          <a:bodyPr/>
          <a:lstStyle>
            <a:lvl1pPr>
              <a:defRPr sz="3200"/>
            </a:lvl1pPr>
          </a:lstStyle>
          <a:p>
            <a:r>
              <a:rPr lang="en-US" altLang="zh-TW" dirty="0"/>
              <a:t>Click to edit Master title style</a:t>
            </a:r>
            <a:endParaRPr lang="zh-TW" altLang="en-US" dirty="0"/>
          </a:p>
        </p:txBody>
      </p:sp>
      <p:sp>
        <p:nvSpPr>
          <p:cNvPr id="3" name="內容版面配置區 2"/>
          <p:cNvSpPr>
            <a:spLocks noGrp="1"/>
          </p:cNvSpPr>
          <p:nvPr>
            <p:ph idx="1"/>
          </p:nvPr>
        </p:nvSpPr>
        <p:spPr/>
        <p:txBody>
          <a:bodyPr/>
          <a:lstStyle>
            <a:lvl1pPr>
              <a:defRPr sz="2400"/>
            </a:lvl1pPr>
            <a:lvl2pPr>
              <a:defRPr sz="2000"/>
            </a:lvl2pPr>
            <a:lvl3pPr>
              <a:defRPr sz="1800">
                <a:latin typeface="Calibri" pitchFamily="34" charset="0"/>
                <a:ea typeface="標楷體" pitchFamily="65" charset="-120"/>
                <a:cs typeface="Calibri" pitchFamily="34" charset="0"/>
              </a:defRPr>
            </a:lvl3pPr>
            <a:lvl4pPr>
              <a:defRPr sz="1600">
                <a:latin typeface="Calibri" pitchFamily="34" charset="0"/>
                <a:ea typeface="標楷體" pitchFamily="65" charset="-120"/>
                <a:cs typeface="Calibri" pitchFamily="34" charset="0"/>
              </a:defRPr>
            </a:lvl4pPr>
            <a:lvl5pPr>
              <a:defRPr sz="1400">
                <a:latin typeface="Calibri" pitchFamily="34" charset="0"/>
                <a:ea typeface="標楷體" pitchFamily="65" charset="-120"/>
                <a:cs typeface="Calibri" pitchFamily="34" charset="0"/>
              </a:defRPr>
            </a:lvl5pPr>
          </a:lstStyle>
          <a:p>
            <a:pPr lvl="0"/>
            <a:r>
              <a:rPr lang="en-US" altLang="zh-TW" dirty="0"/>
              <a:t>Click to edit Master text styles</a:t>
            </a:r>
          </a:p>
          <a:p>
            <a:pPr lvl="1"/>
            <a:r>
              <a:rPr lang="en-US" altLang="zh-TW" dirty="0"/>
              <a:t>Second level</a:t>
            </a:r>
          </a:p>
          <a:p>
            <a:pPr lvl="2"/>
            <a:r>
              <a:rPr lang="en-US" altLang="zh-TW" dirty="0"/>
              <a:t>Third level</a:t>
            </a:r>
          </a:p>
          <a:p>
            <a:pPr lvl="3"/>
            <a:r>
              <a:rPr lang="en-US" altLang="zh-TW" dirty="0"/>
              <a:t>Fourth level</a:t>
            </a:r>
          </a:p>
          <a:p>
            <a:pPr lvl="4"/>
            <a:r>
              <a:rPr lang="en-US" altLang="zh-TW" dirty="0"/>
              <a:t>Fifth level</a:t>
            </a:r>
            <a:endParaRPr lang="zh-TW" altLang="en-US" dirty="0"/>
          </a:p>
        </p:txBody>
      </p:sp>
      <p:sp>
        <p:nvSpPr>
          <p:cNvPr id="4"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4400287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secHead" preserve="1">
  <p:cSld name="區段標題">
    <p:spTree>
      <p:nvGrpSpPr>
        <p:cNvPr id="1" name=""/>
        <p:cNvGrpSpPr/>
        <p:nvPr/>
      </p:nvGrpSpPr>
      <p:grpSpPr>
        <a:xfrm>
          <a:off x="0" y="0"/>
          <a:ext cx="0" cy="0"/>
          <a:chOff x="0" y="0"/>
          <a:chExt cx="0" cy="0"/>
        </a:xfrm>
      </p:grpSpPr>
      <p:sp>
        <p:nvSpPr>
          <p:cNvPr id="2" name="標題 1"/>
          <p:cNvSpPr>
            <a:spLocks noGrp="1"/>
          </p:cNvSpPr>
          <p:nvPr>
            <p:ph type="title"/>
          </p:nvPr>
        </p:nvSpPr>
        <p:spPr>
          <a:xfrm>
            <a:off x="722313" y="3305177"/>
            <a:ext cx="7772400" cy="1021556"/>
          </a:xfrm>
        </p:spPr>
        <p:txBody>
          <a:bodyPr anchor="t"/>
          <a:lstStyle>
            <a:lvl1pPr algn="l">
              <a:defRPr sz="3200" b="1" cap="all"/>
            </a:lvl1pPr>
          </a:lstStyle>
          <a:p>
            <a:r>
              <a:rPr lang="en-US" altLang="zh-TW" dirty="0"/>
              <a:t>Click to edit Master title style</a:t>
            </a:r>
            <a:endParaRPr lang="zh-TW" altLang="en-US" dirty="0"/>
          </a:p>
        </p:txBody>
      </p:sp>
      <p:sp>
        <p:nvSpPr>
          <p:cNvPr id="3" name="文字版面配置區 2"/>
          <p:cNvSpPr>
            <a:spLocks noGrp="1"/>
          </p:cNvSpPr>
          <p:nvPr>
            <p:ph type="body" idx="1"/>
          </p:nvPr>
        </p:nvSpPr>
        <p:spPr>
          <a:xfrm>
            <a:off x="722313" y="2180035"/>
            <a:ext cx="7772400" cy="1125140"/>
          </a:xfrm>
        </p:spPr>
        <p:txBody>
          <a:bodyPr anchor="b"/>
          <a:lstStyle>
            <a:lvl1pPr marL="0" indent="0">
              <a:buNone/>
              <a:defRPr sz="2800"/>
            </a:lvl1pPr>
            <a:lvl2pPr marL="342891" indent="0">
              <a:buNone/>
              <a:defRPr sz="1351"/>
            </a:lvl2pPr>
            <a:lvl3pPr marL="685783" indent="0">
              <a:buNone/>
              <a:defRPr sz="1200"/>
            </a:lvl3pPr>
            <a:lvl4pPr marL="1028674" indent="0">
              <a:buNone/>
              <a:defRPr sz="1051"/>
            </a:lvl4pPr>
            <a:lvl5pPr marL="1371566" indent="0">
              <a:buNone/>
              <a:defRPr sz="1051"/>
            </a:lvl5pPr>
            <a:lvl6pPr marL="1714457" indent="0">
              <a:buNone/>
              <a:defRPr sz="1051"/>
            </a:lvl6pPr>
            <a:lvl7pPr marL="2057349" indent="0">
              <a:buNone/>
              <a:defRPr sz="1051"/>
            </a:lvl7pPr>
            <a:lvl8pPr marL="2400240" indent="0">
              <a:buNone/>
              <a:defRPr sz="1051"/>
            </a:lvl8pPr>
            <a:lvl9pPr marL="2743131" indent="0">
              <a:buNone/>
              <a:defRPr sz="1051"/>
            </a:lvl9pPr>
          </a:lstStyle>
          <a:p>
            <a:pPr lvl="0"/>
            <a:r>
              <a:rPr lang="en-US" altLang="zh-TW" dirty="0"/>
              <a:t>Click to edit Master text styles</a:t>
            </a:r>
          </a:p>
        </p:txBody>
      </p:sp>
      <p:sp>
        <p:nvSpPr>
          <p:cNvPr id="4"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327025146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Click to edit Master title style</a:t>
            </a:r>
            <a:endParaRPr lang="zh-TW" altLang="en-US" dirty="0"/>
          </a:p>
        </p:txBody>
      </p:sp>
      <p:sp>
        <p:nvSpPr>
          <p:cNvPr id="3" name="內容版面配置區 2"/>
          <p:cNvSpPr>
            <a:spLocks noGrp="1"/>
          </p:cNvSpPr>
          <p:nvPr>
            <p:ph sz="half" idx="1"/>
          </p:nvPr>
        </p:nvSpPr>
        <p:spPr>
          <a:xfrm>
            <a:off x="457200" y="844152"/>
            <a:ext cx="4038600" cy="3170774"/>
          </a:xfrm>
        </p:spPr>
        <p:txBody>
          <a:bodyPr/>
          <a:lstStyle>
            <a:lvl1pPr>
              <a:defRPr sz="2800"/>
            </a:lvl1pPr>
            <a:lvl2pPr>
              <a:defRPr sz="2400"/>
            </a:lvl2pPr>
            <a:lvl3pPr>
              <a:defRPr sz="1800"/>
            </a:lvl3pPr>
            <a:lvl4pPr>
              <a:defRPr sz="1600"/>
            </a:lvl4pPr>
            <a:lvl5pPr>
              <a:defRPr sz="1600"/>
            </a:lvl5pPr>
            <a:lvl6pPr>
              <a:defRPr sz="1351"/>
            </a:lvl6pPr>
            <a:lvl7pPr>
              <a:defRPr sz="1351"/>
            </a:lvl7pPr>
            <a:lvl8pPr>
              <a:defRPr sz="1351"/>
            </a:lvl8pPr>
            <a:lvl9pPr>
              <a:defRPr sz="1351"/>
            </a:lvl9pPr>
          </a:lstStyle>
          <a:p>
            <a:pPr lvl="0"/>
            <a:r>
              <a:rPr lang="en-US" altLang="zh-TW" dirty="0"/>
              <a:t>Click to edit Master text styles</a:t>
            </a:r>
          </a:p>
          <a:p>
            <a:pPr lvl="1"/>
            <a:r>
              <a:rPr lang="en-US" altLang="zh-TW" dirty="0"/>
              <a:t>Second level</a:t>
            </a:r>
          </a:p>
          <a:p>
            <a:pPr lvl="2"/>
            <a:r>
              <a:rPr lang="en-US" altLang="zh-TW" dirty="0"/>
              <a:t>Third level</a:t>
            </a:r>
          </a:p>
          <a:p>
            <a:pPr lvl="3"/>
            <a:r>
              <a:rPr lang="en-US" altLang="zh-TW" dirty="0"/>
              <a:t>Fourth level</a:t>
            </a:r>
          </a:p>
          <a:p>
            <a:pPr lvl="4"/>
            <a:r>
              <a:rPr lang="en-US" altLang="zh-TW" dirty="0"/>
              <a:t>Fifth level</a:t>
            </a:r>
            <a:endParaRPr lang="zh-TW" altLang="en-US" dirty="0"/>
          </a:p>
        </p:txBody>
      </p:sp>
      <p:sp>
        <p:nvSpPr>
          <p:cNvPr id="4" name="內容版面配置區 3"/>
          <p:cNvSpPr>
            <a:spLocks noGrp="1"/>
          </p:cNvSpPr>
          <p:nvPr>
            <p:ph sz="half" idx="2"/>
          </p:nvPr>
        </p:nvSpPr>
        <p:spPr>
          <a:xfrm>
            <a:off x="4648200" y="844152"/>
            <a:ext cx="4038600" cy="3170774"/>
          </a:xfrm>
        </p:spPr>
        <p:txBody>
          <a:bodyPr/>
          <a:lstStyle>
            <a:lvl1pPr>
              <a:defRPr sz="2800"/>
            </a:lvl1pPr>
            <a:lvl2pPr>
              <a:defRPr sz="2400"/>
            </a:lvl2pPr>
            <a:lvl3pPr>
              <a:defRPr sz="1800"/>
            </a:lvl3pPr>
            <a:lvl4pPr>
              <a:defRPr sz="1600"/>
            </a:lvl4pPr>
            <a:lvl5pPr>
              <a:defRPr sz="1600"/>
            </a:lvl5pPr>
            <a:lvl6pPr>
              <a:defRPr sz="1351"/>
            </a:lvl6pPr>
            <a:lvl7pPr>
              <a:defRPr sz="1351"/>
            </a:lvl7pPr>
            <a:lvl8pPr>
              <a:defRPr sz="1351"/>
            </a:lvl8pPr>
            <a:lvl9pPr>
              <a:defRPr sz="1351"/>
            </a:lvl9pPr>
          </a:lstStyle>
          <a:p>
            <a:pPr lvl="0"/>
            <a:r>
              <a:rPr lang="en-US" altLang="zh-TW" dirty="0"/>
              <a:t>Click to edit Master text styles</a:t>
            </a:r>
          </a:p>
          <a:p>
            <a:pPr lvl="1"/>
            <a:r>
              <a:rPr lang="en-US" altLang="zh-TW" dirty="0"/>
              <a:t>Second level</a:t>
            </a:r>
          </a:p>
          <a:p>
            <a:pPr lvl="2"/>
            <a:r>
              <a:rPr lang="en-US" altLang="zh-TW" dirty="0"/>
              <a:t>Third level</a:t>
            </a:r>
          </a:p>
          <a:p>
            <a:pPr lvl="3"/>
            <a:r>
              <a:rPr lang="en-US" altLang="zh-TW" dirty="0"/>
              <a:t>Fourth level</a:t>
            </a:r>
          </a:p>
          <a:p>
            <a:pPr lvl="4"/>
            <a:r>
              <a:rPr lang="en-US" altLang="zh-TW" dirty="0"/>
              <a:t>Fifth level</a:t>
            </a:r>
            <a:endParaRPr lang="zh-TW" altLang="en-US" dirty="0"/>
          </a:p>
        </p:txBody>
      </p:sp>
      <p:sp>
        <p:nvSpPr>
          <p:cNvPr id="5"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344985048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比對">
    <p:spTree>
      <p:nvGrpSpPr>
        <p:cNvPr id="1" name=""/>
        <p:cNvGrpSpPr/>
        <p:nvPr/>
      </p:nvGrpSpPr>
      <p:grpSpPr>
        <a:xfrm>
          <a:off x="0" y="0"/>
          <a:ext cx="0" cy="0"/>
          <a:chOff x="0" y="0"/>
          <a:chExt cx="0" cy="0"/>
        </a:xfrm>
      </p:grpSpPr>
      <p:sp>
        <p:nvSpPr>
          <p:cNvPr id="3" name="文字版面配置區 2"/>
          <p:cNvSpPr>
            <a:spLocks noGrp="1"/>
          </p:cNvSpPr>
          <p:nvPr>
            <p:ph type="body" idx="1"/>
          </p:nvPr>
        </p:nvSpPr>
        <p:spPr>
          <a:xfrm>
            <a:off x="457201" y="951580"/>
            <a:ext cx="4040188" cy="479822"/>
          </a:xfrm>
        </p:spPr>
        <p:txBody>
          <a:bodyPr anchor="b"/>
          <a:lstStyle>
            <a:lvl1pPr marL="0" indent="0">
              <a:buNone/>
              <a:defRPr sz="2000" b="1"/>
            </a:lvl1pPr>
            <a:lvl2pPr marL="342891" indent="0">
              <a:buNone/>
              <a:defRPr sz="1500" b="1"/>
            </a:lvl2pPr>
            <a:lvl3pPr marL="685783" indent="0">
              <a:buNone/>
              <a:defRPr sz="1351" b="1"/>
            </a:lvl3pPr>
            <a:lvl4pPr marL="1028674" indent="0">
              <a:buNone/>
              <a:defRPr sz="1200" b="1"/>
            </a:lvl4pPr>
            <a:lvl5pPr marL="1371566" indent="0">
              <a:buNone/>
              <a:defRPr sz="1200" b="1"/>
            </a:lvl5pPr>
            <a:lvl6pPr marL="1714457" indent="0">
              <a:buNone/>
              <a:defRPr sz="1200" b="1"/>
            </a:lvl6pPr>
            <a:lvl7pPr marL="2057349" indent="0">
              <a:buNone/>
              <a:defRPr sz="1200" b="1"/>
            </a:lvl7pPr>
            <a:lvl8pPr marL="2400240" indent="0">
              <a:buNone/>
              <a:defRPr sz="1200" b="1"/>
            </a:lvl8pPr>
            <a:lvl9pPr marL="2743131" indent="0">
              <a:buNone/>
              <a:defRPr sz="1200" b="1"/>
            </a:lvl9pPr>
          </a:lstStyle>
          <a:p>
            <a:pPr lvl="0"/>
            <a:r>
              <a:rPr lang="en-US" altLang="zh-TW"/>
              <a:t>Click to edit Master text styles</a:t>
            </a:r>
          </a:p>
        </p:txBody>
      </p:sp>
      <p:sp>
        <p:nvSpPr>
          <p:cNvPr id="4" name="內容版面配置區 3"/>
          <p:cNvSpPr>
            <a:spLocks noGrp="1"/>
          </p:cNvSpPr>
          <p:nvPr>
            <p:ph sz="half" idx="2"/>
          </p:nvPr>
        </p:nvSpPr>
        <p:spPr>
          <a:xfrm>
            <a:off x="457201" y="1431401"/>
            <a:ext cx="4040188" cy="2963466"/>
          </a:xfrm>
        </p:spPr>
        <p:txBody>
          <a:bodyPr/>
          <a:lstStyle>
            <a:lvl1pPr>
              <a:defRPr sz="2000"/>
            </a:lvl1pPr>
            <a:lvl2pPr>
              <a:defRPr sz="1600"/>
            </a:lvl2pPr>
            <a:lvl3pPr>
              <a:defRPr sz="1400"/>
            </a:lvl3pPr>
            <a:lvl4pPr>
              <a:defRPr sz="1400"/>
            </a:lvl4pPr>
            <a:lvl5pPr>
              <a:defRPr sz="1400"/>
            </a:lvl5pPr>
            <a:lvl6pPr>
              <a:defRPr sz="1200"/>
            </a:lvl6pPr>
            <a:lvl7pPr>
              <a:defRPr sz="1200"/>
            </a:lvl7pPr>
            <a:lvl8pPr>
              <a:defRPr sz="1200"/>
            </a:lvl8pPr>
            <a:lvl9pPr>
              <a:defRPr sz="1200"/>
            </a:lvl9pPr>
          </a:lstStyle>
          <a:p>
            <a:pPr lvl="0"/>
            <a:r>
              <a:rPr lang="en-US" altLang="zh-TW" dirty="0"/>
              <a:t>Click to edit Master text styles</a:t>
            </a:r>
          </a:p>
          <a:p>
            <a:pPr lvl="1"/>
            <a:r>
              <a:rPr lang="en-US" altLang="zh-TW" dirty="0"/>
              <a:t>Second level</a:t>
            </a:r>
          </a:p>
          <a:p>
            <a:pPr lvl="2"/>
            <a:r>
              <a:rPr lang="en-US" altLang="zh-TW" dirty="0"/>
              <a:t>Third level</a:t>
            </a:r>
          </a:p>
          <a:p>
            <a:pPr lvl="3"/>
            <a:r>
              <a:rPr lang="en-US" altLang="zh-TW" dirty="0"/>
              <a:t>Fourth level</a:t>
            </a:r>
          </a:p>
          <a:p>
            <a:pPr lvl="4"/>
            <a:r>
              <a:rPr lang="en-US" altLang="zh-TW" dirty="0"/>
              <a:t>Fifth level</a:t>
            </a:r>
            <a:endParaRPr lang="zh-TW" altLang="en-US" dirty="0"/>
          </a:p>
        </p:txBody>
      </p:sp>
      <p:sp>
        <p:nvSpPr>
          <p:cNvPr id="5" name="文字版面配置區 4"/>
          <p:cNvSpPr>
            <a:spLocks noGrp="1"/>
          </p:cNvSpPr>
          <p:nvPr>
            <p:ph type="body" sz="quarter" idx="3"/>
          </p:nvPr>
        </p:nvSpPr>
        <p:spPr>
          <a:xfrm>
            <a:off x="4645029" y="951580"/>
            <a:ext cx="4041775" cy="479822"/>
          </a:xfrm>
        </p:spPr>
        <p:txBody>
          <a:bodyPr anchor="b"/>
          <a:lstStyle>
            <a:lvl1pPr marL="0" indent="0">
              <a:buNone/>
              <a:defRPr sz="2000" b="1"/>
            </a:lvl1pPr>
            <a:lvl2pPr marL="342891" indent="0">
              <a:buNone/>
              <a:defRPr sz="1500" b="1"/>
            </a:lvl2pPr>
            <a:lvl3pPr marL="685783" indent="0">
              <a:buNone/>
              <a:defRPr sz="1351" b="1"/>
            </a:lvl3pPr>
            <a:lvl4pPr marL="1028674" indent="0">
              <a:buNone/>
              <a:defRPr sz="1200" b="1"/>
            </a:lvl4pPr>
            <a:lvl5pPr marL="1371566" indent="0">
              <a:buNone/>
              <a:defRPr sz="1200" b="1"/>
            </a:lvl5pPr>
            <a:lvl6pPr marL="1714457" indent="0">
              <a:buNone/>
              <a:defRPr sz="1200" b="1"/>
            </a:lvl6pPr>
            <a:lvl7pPr marL="2057349" indent="0">
              <a:buNone/>
              <a:defRPr sz="1200" b="1"/>
            </a:lvl7pPr>
            <a:lvl8pPr marL="2400240" indent="0">
              <a:buNone/>
              <a:defRPr sz="1200" b="1"/>
            </a:lvl8pPr>
            <a:lvl9pPr marL="2743131" indent="0">
              <a:buNone/>
              <a:defRPr sz="1200" b="1"/>
            </a:lvl9pPr>
          </a:lstStyle>
          <a:p>
            <a:pPr lvl="0"/>
            <a:r>
              <a:rPr lang="en-US" altLang="zh-TW"/>
              <a:t>Click to edit Master text styles</a:t>
            </a:r>
          </a:p>
        </p:txBody>
      </p:sp>
      <p:sp>
        <p:nvSpPr>
          <p:cNvPr id="6" name="內容版面配置區 5"/>
          <p:cNvSpPr>
            <a:spLocks noGrp="1"/>
          </p:cNvSpPr>
          <p:nvPr>
            <p:ph sz="quarter" idx="4"/>
          </p:nvPr>
        </p:nvSpPr>
        <p:spPr>
          <a:xfrm>
            <a:off x="4645029" y="1431401"/>
            <a:ext cx="4041775" cy="2963466"/>
          </a:xfrm>
        </p:spPr>
        <p:txBody>
          <a:bodyPr/>
          <a:lstStyle>
            <a:lvl1pPr>
              <a:defRPr sz="2000"/>
            </a:lvl1pPr>
            <a:lvl2pPr>
              <a:defRPr sz="1600"/>
            </a:lvl2pPr>
            <a:lvl3pPr>
              <a:defRPr sz="1400"/>
            </a:lvl3pPr>
            <a:lvl4pPr>
              <a:defRPr sz="1400"/>
            </a:lvl4pPr>
            <a:lvl5pPr>
              <a:defRPr sz="1400"/>
            </a:lvl5pPr>
            <a:lvl6pPr>
              <a:defRPr sz="1200"/>
            </a:lvl6pPr>
            <a:lvl7pPr>
              <a:defRPr sz="1200"/>
            </a:lvl7pPr>
            <a:lvl8pPr>
              <a:defRPr sz="1200"/>
            </a:lvl8pPr>
            <a:lvl9pPr>
              <a:defRPr sz="1200"/>
            </a:lvl9pPr>
          </a:lstStyle>
          <a:p>
            <a:pPr lvl="0"/>
            <a:r>
              <a:rPr lang="en-US" altLang="zh-TW"/>
              <a:t>Click to 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7"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
        <p:nvSpPr>
          <p:cNvPr id="8" name="標題 1"/>
          <p:cNvSpPr>
            <a:spLocks noGrp="1"/>
          </p:cNvSpPr>
          <p:nvPr>
            <p:ph type="title"/>
          </p:nvPr>
        </p:nvSpPr>
        <p:spPr>
          <a:xfrm>
            <a:off x="468315" y="108349"/>
            <a:ext cx="8207375" cy="519113"/>
          </a:xfrm>
        </p:spPr>
        <p:txBody>
          <a:bodyPr/>
          <a:lstStyle/>
          <a:p>
            <a:r>
              <a:rPr lang="en-US" altLang="zh-TW" dirty="0"/>
              <a:t>Click to edit Master title style</a:t>
            </a:r>
            <a:endParaRPr lang="zh-TW" altLang="en-US" dirty="0"/>
          </a:p>
        </p:txBody>
      </p:sp>
    </p:spTree>
    <p:extLst>
      <p:ext uri="{BB962C8B-B14F-4D97-AF65-F5344CB8AC3E}">
        <p14:creationId xmlns:p14="http://schemas.microsoft.com/office/powerpoint/2010/main" val="140556194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a:t>Click to edit Master title style</a:t>
            </a:r>
            <a:endParaRPr lang="zh-TW" altLang="en-US"/>
          </a:p>
        </p:txBody>
      </p:sp>
      <p:sp>
        <p:nvSpPr>
          <p:cNvPr id="3"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339680815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316202868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p:cNvSpPr>
            <a:spLocks noGrp="1"/>
          </p:cNvSpPr>
          <p:nvPr>
            <p:ph type="title"/>
          </p:nvPr>
        </p:nvSpPr>
        <p:spPr>
          <a:xfrm>
            <a:off x="457204" y="204787"/>
            <a:ext cx="3008313" cy="871538"/>
          </a:xfrm>
        </p:spPr>
        <p:txBody>
          <a:bodyPr anchor="b"/>
          <a:lstStyle>
            <a:lvl1pPr algn="l">
              <a:defRPr sz="1500" b="1"/>
            </a:lvl1pPr>
          </a:lstStyle>
          <a:p>
            <a:r>
              <a:rPr lang="en-US" altLang="zh-TW"/>
              <a:t>Click to edit Master title style</a:t>
            </a:r>
            <a:endParaRPr lang="zh-TW" altLang="en-US"/>
          </a:p>
        </p:txBody>
      </p:sp>
      <p:sp>
        <p:nvSpPr>
          <p:cNvPr id="3" name="內容版面配置區 2"/>
          <p:cNvSpPr>
            <a:spLocks noGrp="1"/>
          </p:cNvSpPr>
          <p:nvPr>
            <p:ph idx="1"/>
          </p:nvPr>
        </p:nvSpPr>
        <p:spPr>
          <a:xfrm>
            <a:off x="3575050" y="204791"/>
            <a:ext cx="5111751"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ltLang="zh-TW"/>
              <a:t>Click to 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4" name="文字版面配置區 3"/>
          <p:cNvSpPr>
            <a:spLocks noGrp="1"/>
          </p:cNvSpPr>
          <p:nvPr>
            <p:ph type="body" sz="half" idx="2"/>
          </p:nvPr>
        </p:nvSpPr>
        <p:spPr>
          <a:xfrm>
            <a:off x="457204" y="1076328"/>
            <a:ext cx="3008313" cy="3518297"/>
          </a:xfrm>
        </p:spPr>
        <p:txBody>
          <a:bodyPr/>
          <a:lstStyle>
            <a:lvl1pPr marL="0" indent="0">
              <a:buNone/>
              <a:defRPr sz="1051"/>
            </a:lvl1pPr>
            <a:lvl2pPr marL="342891" indent="0">
              <a:buNone/>
              <a:defRPr sz="900"/>
            </a:lvl2pPr>
            <a:lvl3pPr marL="685783" indent="0">
              <a:buNone/>
              <a:defRPr sz="751"/>
            </a:lvl3pPr>
            <a:lvl4pPr marL="1028674" indent="0">
              <a:buNone/>
              <a:defRPr sz="675"/>
            </a:lvl4pPr>
            <a:lvl5pPr marL="1371566" indent="0">
              <a:buNone/>
              <a:defRPr sz="675"/>
            </a:lvl5pPr>
            <a:lvl6pPr marL="1714457" indent="0">
              <a:buNone/>
              <a:defRPr sz="675"/>
            </a:lvl6pPr>
            <a:lvl7pPr marL="2057349" indent="0">
              <a:buNone/>
              <a:defRPr sz="675"/>
            </a:lvl7pPr>
            <a:lvl8pPr marL="2400240" indent="0">
              <a:buNone/>
              <a:defRPr sz="675"/>
            </a:lvl8pPr>
            <a:lvl9pPr marL="2743131" indent="0">
              <a:buNone/>
              <a:defRPr sz="675"/>
            </a:lvl9pPr>
          </a:lstStyle>
          <a:p>
            <a:pPr lvl="0"/>
            <a:r>
              <a:rPr lang="en-US" altLang="zh-TW"/>
              <a:t>Click to edit Master text styles</a:t>
            </a:r>
          </a:p>
        </p:txBody>
      </p:sp>
      <p:sp>
        <p:nvSpPr>
          <p:cNvPr id="5"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185997696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p:cNvSpPr>
            <a:spLocks noGrp="1"/>
          </p:cNvSpPr>
          <p:nvPr>
            <p:ph type="title"/>
          </p:nvPr>
        </p:nvSpPr>
        <p:spPr>
          <a:xfrm>
            <a:off x="1792288" y="3600450"/>
            <a:ext cx="5486400" cy="425054"/>
          </a:xfrm>
        </p:spPr>
        <p:txBody>
          <a:bodyPr anchor="b"/>
          <a:lstStyle>
            <a:lvl1pPr algn="l">
              <a:defRPr sz="1500" b="1"/>
            </a:lvl1pPr>
          </a:lstStyle>
          <a:p>
            <a:r>
              <a:rPr lang="en-US" altLang="zh-TW"/>
              <a:t>Click to edit Master title style</a:t>
            </a:r>
            <a:endParaRPr lang="zh-TW" altLang="en-US"/>
          </a:p>
        </p:txBody>
      </p:sp>
      <p:sp>
        <p:nvSpPr>
          <p:cNvPr id="3" name="圖片版面配置區 2"/>
          <p:cNvSpPr>
            <a:spLocks noGrp="1"/>
          </p:cNvSpPr>
          <p:nvPr>
            <p:ph type="pic" idx="1"/>
          </p:nvPr>
        </p:nvSpPr>
        <p:spPr>
          <a:xfrm>
            <a:off x="1792288" y="459581"/>
            <a:ext cx="5486400" cy="3086100"/>
          </a:xfrm>
        </p:spPr>
        <p:txBody>
          <a:bodyPr/>
          <a:lstStyle>
            <a:lvl1pPr marL="0" indent="0">
              <a:buNone/>
              <a:defRPr sz="2400"/>
            </a:lvl1pPr>
            <a:lvl2pPr marL="342891" indent="0">
              <a:buNone/>
              <a:defRPr sz="2100"/>
            </a:lvl2pPr>
            <a:lvl3pPr marL="685783" indent="0">
              <a:buNone/>
              <a:defRPr sz="1800"/>
            </a:lvl3pPr>
            <a:lvl4pPr marL="1028674" indent="0">
              <a:buNone/>
              <a:defRPr sz="1500"/>
            </a:lvl4pPr>
            <a:lvl5pPr marL="1371566" indent="0">
              <a:buNone/>
              <a:defRPr sz="1500"/>
            </a:lvl5pPr>
            <a:lvl6pPr marL="1714457" indent="0">
              <a:buNone/>
              <a:defRPr sz="1500"/>
            </a:lvl6pPr>
            <a:lvl7pPr marL="2057349" indent="0">
              <a:buNone/>
              <a:defRPr sz="1500"/>
            </a:lvl7pPr>
            <a:lvl8pPr marL="2400240" indent="0">
              <a:buNone/>
              <a:defRPr sz="1500"/>
            </a:lvl8pPr>
            <a:lvl9pPr marL="2743131" indent="0">
              <a:buNone/>
              <a:defRPr sz="1500"/>
            </a:lvl9pPr>
          </a:lstStyle>
          <a:p>
            <a:pPr lvl="0"/>
            <a:r>
              <a:rPr lang="en-US" altLang="zh-TW" noProof="0"/>
              <a:t>Click icon to add picture</a:t>
            </a:r>
            <a:endParaRPr lang="zh-TW" altLang="en-US" noProof="0"/>
          </a:p>
        </p:txBody>
      </p:sp>
      <p:sp>
        <p:nvSpPr>
          <p:cNvPr id="4" name="文字版面配置區 3"/>
          <p:cNvSpPr>
            <a:spLocks noGrp="1"/>
          </p:cNvSpPr>
          <p:nvPr>
            <p:ph type="body" sz="half" idx="2"/>
          </p:nvPr>
        </p:nvSpPr>
        <p:spPr>
          <a:xfrm>
            <a:off x="1792288" y="4025505"/>
            <a:ext cx="5486400" cy="603647"/>
          </a:xfrm>
        </p:spPr>
        <p:txBody>
          <a:bodyPr/>
          <a:lstStyle>
            <a:lvl1pPr marL="0" indent="0">
              <a:buNone/>
              <a:defRPr sz="1051"/>
            </a:lvl1pPr>
            <a:lvl2pPr marL="342891" indent="0">
              <a:buNone/>
              <a:defRPr sz="900"/>
            </a:lvl2pPr>
            <a:lvl3pPr marL="685783" indent="0">
              <a:buNone/>
              <a:defRPr sz="751"/>
            </a:lvl3pPr>
            <a:lvl4pPr marL="1028674" indent="0">
              <a:buNone/>
              <a:defRPr sz="675"/>
            </a:lvl4pPr>
            <a:lvl5pPr marL="1371566" indent="0">
              <a:buNone/>
              <a:defRPr sz="675"/>
            </a:lvl5pPr>
            <a:lvl6pPr marL="1714457" indent="0">
              <a:buNone/>
              <a:defRPr sz="675"/>
            </a:lvl6pPr>
            <a:lvl7pPr marL="2057349" indent="0">
              <a:buNone/>
              <a:defRPr sz="675"/>
            </a:lvl7pPr>
            <a:lvl8pPr marL="2400240" indent="0">
              <a:buNone/>
              <a:defRPr sz="675"/>
            </a:lvl8pPr>
            <a:lvl9pPr marL="2743131" indent="0">
              <a:buNone/>
              <a:defRPr sz="675"/>
            </a:lvl9pPr>
          </a:lstStyle>
          <a:p>
            <a:pPr lvl="0"/>
            <a:r>
              <a:rPr lang="en-US" altLang="zh-TW"/>
              <a:t>Click to edit Master text styles</a:t>
            </a:r>
          </a:p>
        </p:txBody>
      </p:sp>
      <p:sp>
        <p:nvSpPr>
          <p:cNvPr id="5"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275166221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a:t>Click to edit Master title style</a:t>
            </a:r>
            <a:endParaRPr lang="zh-TW" altLang="en-US"/>
          </a:p>
        </p:txBody>
      </p:sp>
      <p:sp>
        <p:nvSpPr>
          <p:cNvPr id="3" name="直排文字版面配置區 2"/>
          <p:cNvSpPr>
            <a:spLocks noGrp="1"/>
          </p:cNvSpPr>
          <p:nvPr>
            <p:ph type="body" orient="vert" idx="1"/>
          </p:nvPr>
        </p:nvSpPr>
        <p:spPr/>
        <p:txBody>
          <a:bodyPr vert="eaVert"/>
          <a:lstStyle/>
          <a:p>
            <a:pPr lvl="0"/>
            <a:r>
              <a:rPr lang="en-US" altLang="zh-TW"/>
              <a:t>Click to 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4"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253377220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直排標題及文字">
    <p:spTree>
      <p:nvGrpSpPr>
        <p:cNvPr id="1" name=""/>
        <p:cNvGrpSpPr/>
        <p:nvPr/>
      </p:nvGrpSpPr>
      <p:grpSpPr>
        <a:xfrm>
          <a:off x="0" y="0"/>
          <a:ext cx="0" cy="0"/>
          <a:chOff x="0" y="0"/>
          <a:chExt cx="0" cy="0"/>
        </a:xfrm>
      </p:grpSpPr>
      <p:sp>
        <p:nvSpPr>
          <p:cNvPr id="4"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349455182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Only" preserve="1">
  <p:cSld name="物件">
    <p:spTree>
      <p:nvGrpSpPr>
        <p:cNvPr id="1" name=""/>
        <p:cNvGrpSpPr/>
        <p:nvPr/>
      </p:nvGrpSpPr>
      <p:grpSpPr>
        <a:xfrm>
          <a:off x="0" y="0"/>
          <a:ext cx="0" cy="0"/>
          <a:chOff x="0" y="0"/>
          <a:chExt cx="0" cy="0"/>
        </a:xfrm>
      </p:grpSpPr>
      <p:sp>
        <p:nvSpPr>
          <p:cNvPr id="2" name="內容版面配置區 1"/>
          <p:cNvSpPr>
            <a:spLocks noGrp="1"/>
          </p:cNvSpPr>
          <p:nvPr>
            <p:ph/>
          </p:nvPr>
        </p:nvSpPr>
        <p:spPr>
          <a:xfrm>
            <a:off x="457200" y="54771"/>
            <a:ext cx="8229600" cy="1275160"/>
          </a:xfrm>
        </p:spPr>
        <p:txBody>
          <a:bodyPr/>
          <a:lstStyle/>
          <a:p>
            <a:pPr lvl="0"/>
            <a:r>
              <a:rPr lang="en-US" altLang="zh-TW"/>
              <a:t>Click to 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3"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208224113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標題及表格">
    <p:spTree>
      <p:nvGrpSpPr>
        <p:cNvPr id="1" name=""/>
        <p:cNvGrpSpPr/>
        <p:nvPr/>
      </p:nvGrpSpPr>
      <p:grpSpPr>
        <a:xfrm>
          <a:off x="0" y="0"/>
          <a:ext cx="0" cy="0"/>
          <a:chOff x="0" y="0"/>
          <a:chExt cx="0" cy="0"/>
        </a:xfrm>
      </p:grpSpPr>
      <p:sp>
        <p:nvSpPr>
          <p:cNvPr id="3" name="表格版面配置區 2"/>
          <p:cNvSpPr>
            <a:spLocks noGrp="1"/>
          </p:cNvSpPr>
          <p:nvPr>
            <p:ph type="tbl" idx="1"/>
          </p:nvPr>
        </p:nvSpPr>
        <p:spPr>
          <a:xfrm>
            <a:off x="457200" y="844156"/>
            <a:ext cx="8229600" cy="485775"/>
          </a:xfrm>
        </p:spPr>
        <p:txBody>
          <a:bodyPr/>
          <a:lstStyle/>
          <a:p>
            <a:pPr lvl="0"/>
            <a:r>
              <a:rPr lang="en-US" altLang="zh-TW" noProof="0"/>
              <a:t>Click icon to add table</a:t>
            </a:r>
            <a:endParaRPr lang="zh-TW" altLang="en-US" noProof="0"/>
          </a:p>
        </p:txBody>
      </p:sp>
      <p:sp>
        <p:nvSpPr>
          <p:cNvPr id="4"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122959529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1_標題投影片">
    <p:spTree>
      <p:nvGrpSpPr>
        <p:cNvPr id="1" name=""/>
        <p:cNvGrpSpPr/>
        <p:nvPr/>
      </p:nvGrpSpPr>
      <p:grpSpPr>
        <a:xfrm>
          <a:off x="0" y="0"/>
          <a:ext cx="0" cy="0"/>
          <a:chOff x="0" y="0"/>
          <a:chExt cx="0" cy="0"/>
        </a:xfrm>
      </p:grpSpPr>
      <p:sp>
        <p:nvSpPr>
          <p:cNvPr id="2" name="標題 1"/>
          <p:cNvSpPr>
            <a:spLocks noGrp="1"/>
          </p:cNvSpPr>
          <p:nvPr>
            <p:ph type="ctrTitle"/>
          </p:nvPr>
        </p:nvSpPr>
        <p:spPr>
          <a:xfrm>
            <a:off x="685800" y="1597823"/>
            <a:ext cx="7772400" cy="1102519"/>
          </a:xfrm>
        </p:spPr>
        <p:txBody>
          <a:bodyPr/>
          <a:lstStyle>
            <a:lvl1pPr algn="ctr">
              <a:defRPr sz="4000"/>
            </a:lvl1pPr>
          </a:lstStyle>
          <a:p>
            <a:r>
              <a:rPr lang="en-US" altLang="zh-TW"/>
              <a:t>Click to edit Master title style</a:t>
            </a:r>
            <a:endParaRPr lang="zh-TW" altLang="en-US"/>
          </a:p>
        </p:txBody>
      </p:sp>
      <p:sp>
        <p:nvSpPr>
          <p:cNvPr id="3" name="副標題 2"/>
          <p:cNvSpPr>
            <a:spLocks noGrp="1"/>
          </p:cNvSpPr>
          <p:nvPr>
            <p:ph type="subTitle" idx="1"/>
          </p:nvPr>
        </p:nvSpPr>
        <p:spPr>
          <a:xfrm>
            <a:off x="1371600" y="2914650"/>
            <a:ext cx="6400800" cy="1314450"/>
          </a:xfrm>
        </p:spPr>
        <p:txBody>
          <a:bodyPr/>
          <a:lstStyle>
            <a:lvl1pPr marL="0" indent="0" algn="ctr">
              <a:buNone/>
              <a:defRPr/>
            </a:lvl1pPr>
            <a:lvl2pPr marL="342891" indent="0" algn="ctr">
              <a:buNone/>
              <a:defRPr/>
            </a:lvl2pPr>
            <a:lvl3pPr marL="685783" indent="0" algn="ctr">
              <a:buNone/>
              <a:defRPr/>
            </a:lvl3pPr>
            <a:lvl4pPr marL="1028674" indent="0" algn="ctr">
              <a:buNone/>
              <a:defRPr/>
            </a:lvl4pPr>
            <a:lvl5pPr marL="1371566" indent="0" algn="ctr">
              <a:buNone/>
              <a:defRPr/>
            </a:lvl5pPr>
            <a:lvl6pPr marL="1714457" indent="0" algn="ctr">
              <a:buNone/>
              <a:defRPr/>
            </a:lvl6pPr>
            <a:lvl7pPr marL="2057349" indent="0" algn="ctr">
              <a:buNone/>
              <a:defRPr/>
            </a:lvl7pPr>
            <a:lvl8pPr marL="2400240" indent="0" algn="ctr">
              <a:buNone/>
              <a:defRPr/>
            </a:lvl8pPr>
            <a:lvl9pPr marL="2743131" indent="0" algn="ctr">
              <a:buNone/>
              <a:defRPr/>
            </a:lvl9pPr>
          </a:lstStyle>
          <a:p>
            <a:r>
              <a:rPr lang="en-US" altLang="zh-TW"/>
              <a:t>Click to edit Master subtitle style</a:t>
            </a:r>
            <a:endParaRPr lang="zh-TW" altLang="en-US"/>
          </a:p>
        </p:txBody>
      </p:sp>
      <p:sp>
        <p:nvSpPr>
          <p:cNvPr id="4"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292707841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4.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3.png"/><Relationship Id="rId2" Type="http://schemas.openxmlformats.org/officeDocument/2006/relationships/slideLayout" Target="../slideLayouts/slideLayout2.xml"/><Relationship Id="rId16" Type="http://schemas.openxmlformats.org/officeDocument/2006/relationships/image" Target="../media/image2.jp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7" name="Rectangle 17"/>
          <p:cNvSpPr>
            <a:spLocks noGrp="1" noChangeArrowheads="1"/>
          </p:cNvSpPr>
          <p:nvPr>
            <p:ph type="title"/>
          </p:nvPr>
        </p:nvSpPr>
        <p:spPr bwMode="auto">
          <a:xfrm>
            <a:off x="787401" y="108349"/>
            <a:ext cx="7888289" cy="519113"/>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zh-TW" altLang="en-US" dirty="0"/>
              <a:t>按一下以編輯母片標題樣式</a:t>
            </a:r>
          </a:p>
        </p:txBody>
      </p:sp>
      <p:sp>
        <p:nvSpPr>
          <p:cNvPr id="1028" name="Rectangle 18"/>
          <p:cNvSpPr>
            <a:spLocks noGrp="1" noChangeArrowheads="1"/>
          </p:cNvSpPr>
          <p:nvPr>
            <p:ph type="body" idx="1"/>
          </p:nvPr>
        </p:nvSpPr>
        <p:spPr bwMode="auto">
          <a:xfrm>
            <a:off x="457200" y="844153"/>
            <a:ext cx="8229600" cy="367188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zh-TW" altLang="en-US" dirty="0"/>
              <a:t>按一下以編輯母片</a:t>
            </a:r>
          </a:p>
          <a:p>
            <a:pPr lvl="1"/>
            <a:r>
              <a:rPr lang="zh-TW" altLang="en-US" dirty="0"/>
              <a:t>按一下以編輯母片</a:t>
            </a:r>
          </a:p>
          <a:p>
            <a:pPr lvl="1"/>
            <a:endParaRPr lang="zh-TW" altLang="en-US" dirty="0"/>
          </a:p>
          <a:p>
            <a:pPr lvl="0"/>
            <a:endParaRPr lang="en-US" altLang="zh-TW" dirty="0"/>
          </a:p>
        </p:txBody>
      </p:sp>
      <p:pic>
        <p:nvPicPr>
          <p:cNvPr id="1029" name="Picture 25" descr="name"/>
          <p:cNvPicPr>
            <a:picLocks noChangeAspect="1" noChangeArrowheads="1"/>
          </p:cNvPicPr>
          <p:nvPr/>
        </p:nvPicPr>
        <p:blipFill>
          <a:blip r:embed="rId15" cstate="print"/>
          <a:srcRect/>
          <a:stretch>
            <a:fillRect/>
          </a:stretch>
        </p:blipFill>
        <p:spPr bwMode="auto">
          <a:xfrm>
            <a:off x="2" y="4768455"/>
            <a:ext cx="3833813" cy="148828"/>
          </a:xfrm>
          <a:prstGeom prst="rect">
            <a:avLst/>
          </a:prstGeom>
          <a:noFill/>
          <a:ln w="9525">
            <a:noFill/>
            <a:miter lim="800000"/>
            <a:headEnd/>
            <a:tailEnd/>
          </a:ln>
        </p:spPr>
      </p:pic>
      <p:sp>
        <p:nvSpPr>
          <p:cNvPr id="8" name="矩形 7"/>
          <p:cNvSpPr/>
          <p:nvPr/>
        </p:nvSpPr>
        <p:spPr>
          <a:xfrm>
            <a:off x="569246" y="4936332"/>
            <a:ext cx="2731837" cy="230832"/>
          </a:xfrm>
          <a:prstGeom prst="rect">
            <a:avLst/>
          </a:prstGeom>
        </p:spPr>
        <p:txBody>
          <a:bodyPr wrap="none">
            <a:spAutoFit/>
          </a:bodyPr>
          <a:lstStyle/>
          <a:p>
            <a:pPr algn="ctr">
              <a:defRPr/>
            </a:pPr>
            <a:r>
              <a:rPr lang="en-US" sz="900" b="1" dirty="0">
                <a:solidFill>
                  <a:schemeClr val="bg1"/>
                </a:solidFill>
                <a:latin typeface="Arial" pitchFamily="34" charset="0"/>
                <a:ea typeface="新細明體" pitchFamily="18" charset="-120"/>
                <a:cs typeface="Arial" pitchFamily="34" charset="0"/>
              </a:rPr>
              <a:t>National Tsing Hua University ® copyright OIA</a:t>
            </a:r>
            <a:endParaRPr lang="zh-TW" altLang="en-US" sz="900" b="1" dirty="0">
              <a:solidFill>
                <a:schemeClr val="bg1"/>
              </a:solidFill>
              <a:latin typeface="Arial" pitchFamily="34" charset="0"/>
              <a:ea typeface="新細明體" pitchFamily="18" charset="-120"/>
              <a:cs typeface="Arial" pitchFamily="34" charset="0"/>
            </a:endParaRPr>
          </a:p>
        </p:txBody>
      </p:sp>
      <p:sp>
        <p:nvSpPr>
          <p:cNvPr id="4105" name="Rectangle 9"/>
          <p:cNvSpPr>
            <a:spLocks noChangeArrowheads="1"/>
          </p:cNvSpPr>
          <p:nvPr/>
        </p:nvSpPr>
        <p:spPr bwMode="auto">
          <a:xfrm>
            <a:off x="0" y="681041"/>
            <a:ext cx="9144000" cy="108347"/>
          </a:xfrm>
          <a:prstGeom prst="rect">
            <a:avLst/>
          </a:prstGeom>
          <a:solidFill>
            <a:srgbClr val="990099"/>
          </a:solidFill>
          <a:ln w="15875">
            <a:noFill/>
            <a:miter lim="800000"/>
            <a:headEnd/>
            <a:tailEnd/>
          </a:ln>
          <a:effectLst>
            <a:prstShdw prst="shdw18" dist="17961" dir="13500000">
              <a:srgbClr val="990099">
                <a:gamma/>
                <a:shade val="60000"/>
                <a:invGamma/>
              </a:srgbClr>
            </a:prstShdw>
          </a:effectLst>
        </p:spPr>
        <p:txBody>
          <a:bodyPr wrap="none" anchor="ctr"/>
          <a:lstStyle/>
          <a:p>
            <a:pPr>
              <a:defRPr/>
            </a:pPr>
            <a:endParaRPr lang="zh-TW" altLang="en-US" sz="1351">
              <a:ea typeface="新細明體" pitchFamily="18" charset="-120"/>
            </a:endParaRPr>
          </a:p>
        </p:txBody>
      </p:sp>
      <p:sp>
        <p:nvSpPr>
          <p:cNvPr id="4106" name="Rectangle 10"/>
          <p:cNvSpPr>
            <a:spLocks noChangeArrowheads="1"/>
          </p:cNvSpPr>
          <p:nvPr userDrawn="1"/>
        </p:nvSpPr>
        <p:spPr bwMode="auto">
          <a:xfrm>
            <a:off x="0" y="4624387"/>
            <a:ext cx="9144000" cy="539354"/>
          </a:xfrm>
          <a:prstGeom prst="rect">
            <a:avLst/>
          </a:prstGeom>
          <a:solidFill>
            <a:srgbClr val="990099"/>
          </a:solidFill>
          <a:ln w="15875">
            <a:noFill/>
            <a:miter lim="800000"/>
            <a:headEnd/>
            <a:tailEnd/>
          </a:ln>
          <a:effectLst>
            <a:prstShdw prst="shdw18" dist="17961" dir="13500000">
              <a:srgbClr val="990099">
                <a:gamma/>
                <a:shade val="60000"/>
                <a:invGamma/>
              </a:srgbClr>
            </a:prstShdw>
          </a:effectLst>
        </p:spPr>
        <p:txBody>
          <a:bodyPr wrap="none" anchor="ctr"/>
          <a:lstStyle/>
          <a:p>
            <a:pPr>
              <a:defRPr/>
            </a:pPr>
            <a:endParaRPr lang="zh-TW" altLang="en-US" sz="1351">
              <a:ea typeface="新細明體" pitchFamily="18" charset="-120"/>
            </a:endParaRPr>
          </a:p>
        </p:txBody>
      </p:sp>
      <p:sp>
        <p:nvSpPr>
          <p:cNvPr id="1043" name="Rectangle 19"/>
          <p:cNvSpPr>
            <a:spLocks noGrp="1" noChangeArrowheads="1"/>
          </p:cNvSpPr>
          <p:nvPr>
            <p:ph type="sldNum" sz="quarter" idx="4"/>
          </p:nvPr>
        </p:nvSpPr>
        <p:spPr bwMode="auto">
          <a:xfrm>
            <a:off x="6831013" y="4893471"/>
            <a:ext cx="2133600" cy="254794"/>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900">
                <a:solidFill>
                  <a:schemeClr val="bg1"/>
                </a:solidFill>
                <a:latin typeface="Arial" pitchFamily="34" charset="0"/>
                <a:ea typeface="新細明體" pitchFamily="18" charset="-120"/>
              </a:defRPr>
            </a:lvl1pPr>
          </a:lstStyle>
          <a:p>
            <a:fld id="{D9B6BDF2-6896-4B98-8776-C18582F63BA5}" type="slidenum">
              <a:rPr lang="zh-TW" altLang="en-US" smtClean="0"/>
              <a:pPr/>
              <a:t>‹#›</a:t>
            </a:fld>
            <a:endParaRPr lang="zh-TW" altLang="en-US"/>
          </a:p>
        </p:txBody>
      </p:sp>
      <p:pic>
        <p:nvPicPr>
          <p:cNvPr id="7" name="圖片 6"/>
          <p:cNvPicPr>
            <a:picLocks noChangeAspect="1"/>
          </p:cNvPicPr>
          <p:nvPr userDrawn="1"/>
        </p:nvPicPr>
        <p:blipFill>
          <a:blip r:embed="rId16">
            <a:extLst>
              <a:ext uri="{28A0092B-C50C-407E-A947-70E740481C1C}">
                <a14:useLocalDpi xmlns:a14="http://schemas.microsoft.com/office/drawing/2010/main" val="0"/>
              </a:ext>
            </a:extLst>
          </a:blip>
          <a:stretch>
            <a:fillRect/>
          </a:stretch>
        </p:blipFill>
        <p:spPr>
          <a:xfrm>
            <a:off x="35060" y="96457"/>
            <a:ext cx="888965" cy="518914"/>
          </a:xfrm>
          <a:prstGeom prst="rect">
            <a:avLst/>
          </a:prstGeom>
        </p:spPr>
      </p:pic>
      <p:pic>
        <p:nvPicPr>
          <p:cNvPr id="12" name="圖片 11"/>
          <p:cNvPicPr>
            <a:picLocks noChangeAspect="1"/>
          </p:cNvPicPr>
          <p:nvPr userDrawn="1"/>
        </p:nvPicPr>
        <p:blipFill>
          <a:blip r:embed="rId17" cstate="print">
            <a:extLst>
              <a:ext uri="{28A0092B-C50C-407E-A947-70E740481C1C}">
                <a14:useLocalDpi xmlns:a14="http://schemas.microsoft.com/office/drawing/2010/main" val="0"/>
              </a:ext>
            </a:extLst>
          </a:blip>
          <a:stretch>
            <a:fillRect/>
          </a:stretch>
        </p:blipFill>
        <p:spPr>
          <a:xfrm>
            <a:off x="46309" y="4683590"/>
            <a:ext cx="741091" cy="427061"/>
          </a:xfrm>
          <a:prstGeom prst="rect">
            <a:avLst/>
          </a:prstGeom>
        </p:spPr>
      </p:pic>
      <p:pic>
        <p:nvPicPr>
          <p:cNvPr id="13" name="圖片 12"/>
          <p:cNvPicPr>
            <a:picLocks noChangeAspect="1"/>
          </p:cNvPicPr>
          <p:nvPr userDrawn="1"/>
        </p:nvPicPr>
        <p:blipFill>
          <a:blip r:embed="rId18" cstate="print">
            <a:extLst>
              <a:ext uri="{28A0092B-C50C-407E-A947-70E740481C1C}">
                <a14:useLocalDpi xmlns:a14="http://schemas.microsoft.com/office/drawing/2010/main" val="0"/>
              </a:ext>
            </a:extLst>
          </a:blip>
          <a:stretch>
            <a:fillRect/>
          </a:stretch>
        </p:blipFill>
        <p:spPr>
          <a:xfrm>
            <a:off x="788062" y="4681942"/>
            <a:ext cx="2030503" cy="400434"/>
          </a:xfrm>
          <a:prstGeom prst="rect">
            <a:avLst/>
          </a:prstGeom>
        </p:spPr>
      </p:pic>
    </p:spTree>
    <p:extLst>
      <p:ext uri="{BB962C8B-B14F-4D97-AF65-F5344CB8AC3E}">
        <p14:creationId xmlns:p14="http://schemas.microsoft.com/office/powerpoint/2010/main" val="257298874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Lst>
  <p:hf hdr="0" ftr="0" dt="0"/>
  <p:txStyles>
    <p:titleStyle>
      <a:lvl1pPr algn="l" rtl="0" eaLnBrk="1" fontAlgn="base" hangingPunct="1">
        <a:spcBef>
          <a:spcPct val="0"/>
        </a:spcBef>
        <a:spcAft>
          <a:spcPct val="0"/>
        </a:spcAft>
        <a:defRPr kumimoji="1" sz="3600" b="1">
          <a:solidFill>
            <a:schemeClr val="tx2"/>
          </a:solidFill>
          <a:latin typeface="Calibri" pitchFamily="34" charset="0"/>
          <a:ea typeface="標楷體" pitchFamily="65" charset="-120"/>
          <a:cs typeface="+mj-cs"/>
        </a:defRPr>
      </a:lvl1pPr>
      <a:lvl2pPr algn="l" rtl="0" eaLnBrk="1" fontAlgn="base" hangingPunct="1">
        <a:spcBef>
          <a:spcPct val="0"/>
        </a:spcBef>
        <a:spcAft>
          <a:spcPct val="0"/>
        </a:spcAft>
        <a:defRPr kumimoji="1" sz="2700" b="1">
          <a:solidFill>
            <a:schemeClr val="tx2"/>
          </a:solidFill>
          <a:latin typeface="Calibri" pitchFamily="34" charset="0"/>
          <a:ea typeface="標楷體" pitchFamily="65" charset="-120"/>
          <a:cs typeface="MS Sans Serif"/>
        </a:defRPr>
      </a:lvl2pPr>
      <a:lvl3pPr algn="l" rtl="0" eaLnBrk="1" fontAlgn="base" hangingPunct="1">
        <a:spcBef>
          <a:spcPct val="0"/>
        </a:spcBef>
        <a:spcAft>
          <a:spcPct val="0"/>
        </a:spcAft>
        <a:defRPr kumimoji="1" sz="2700" b="1">
          <a:solidFill>
            <a:schemeClr val="tx2"/>
          </a:solidFill>
          <a:latin typeface="Calibri" pitchFamily="34" charset="0"/>
          <a:ea typeface="標楷體" pitchFamily="65" charset="-120"/>
          <a:cs typeface="MS Sans Serif"/>
        </a:defRPr>
      </a:lvl3pPr>
      <a:lvl4pPr algn="l" rtl="0" eaLnBrk="1" fontAlgn="base" hangingPunct="1">
        <a:spcBef>
          <a:spcPct val="0"/>
        </a:spcBef>
        <a:spcAft>
          <a:spcPct val="0"/>
        </a:spcAft>
        <a:defRPr kumimoji="1" sz="2700" b="1">
          <a:solidFill>
            <a:schemeClr val="tx2"/>
          </a:solidFill>
          <a:latin typeface="Calibri" pitchFamily="34" charset="0"/>
          <a:ea typeface="標楷體" pitchFamily="65" charset="-120"/>
          <a:cs typeface="MS Sans Serif"/>
        </a:defRPr>
      </a:lvl4pPr>
      <a:lvl5pPr algn="l" rtl="0" eaLnBrk="1" fontAlgn="base" hangingPunct="1">
        <a:spcBef>
          <a:spcPct val="0"/>
        </a:spcBef>
        <a:spcAft>
          <a:spcPct val="0"/>
        </a:spcAft>
        <a:defRPr kumimoji="1" sz="2700" b="1">
          <a:solidFill>
            <a:schemeClr val="tx2"/>
          </a:solidFill>
          <a:latin typeface="Calibri" pitchFamily="34" charset="0"/>
          <a:ea typeface="標楷體" pitchFamily="65" charset="-120"/>
          <a:cs typeface="MS Sans Serif"/>
        </a:defRPr>
      </a:lvl5pPr>
      <a:lvl6pPr marL="342891" algn="l" rtl="0" eaLnBrk="1" fontAlgn="base" hangingPunct="1">
        <a:spcBef>
          <a:spcPct val="0"/>
        </a:spcBef>
        <a:spcAft>
          <a:spcPct val="0"/>
        </a:spcAft>
        <a:defRPr kumimoji="1" sz="2251" b="1">
          <a:solidFill>
            <a:schemeClr val="tx2"/>
          </a:solidFill>
          <a:latin typeface="MS Sans Serif"/>
          <a:ea typeface="MS Sans Serif"/>
          <a:cs typeface="MS Sans Serif"/>
        </a:defRPr>
      </a:lvl6pPr>
      <a:lvl7pPr marL="685783" algn="l" rtl="0" eaLnBrk="1" fontAlgn="base" hangingPunct="1">
        <a:spcBef>
          <a:spcPct val="0"/>
        </a:spcBef>
        <a:spcAft>
          <a:spcPct val="0"/>
        </a:spcAft>
        <a:defRPr kumimoji="1" sz="2251" b="1">
          <a:solidFill>
            <a:schemeClr val="tx2"/>
          </a:solidFill>
          <a:latin typeface="MS Sans Serif"/>
          <a:ea typeface="MS Sans Serif"/>
          <a:cs typeface="MS Sans Serif"/>
        </a:defRPr>
      </a:lvl7pPr>
      <a:lvl8pPr marL="1028674" algn="l" rtl="0" eaLnBrk="1" fontAlgn="base" hangingPunct="1">
        <a:spcBef>
          <a:spcPct val="0"/>
        </a:spcBef>
        <a:spcAft>
          <a:spcPct val="0"/>
        </a:spcAft>
        <a:defRPr kumimoji="1" sz="2251" b="1">
          <a:solidFill>
            <a:schemeClr val="tx2"/>
          </a:solidFill>
          <a:latin typeface="MS Sans Serif"/>
          <a:ea typeface="MS Sans Serif"/>
          <a:cs typeface="MS Sans Serif"/>
        </a:defRPr>
      </a:lvl8pPr>
      <a:lvl9pPr marL="1371566" algn="l" rtl="0" eaLnBrk="1" fontAlgn="base" hangingPunct="1">
        <a:spcBef>
          <a:spcPct val="0"/>
        </a:spcBef>
        <a:spcAft>
          <a:spcPct val="0"/>
        </a:spcAft>
        <a:defRPr kumimoji="1" sz="2251" b="1">
          <a:solidFill>
            <a:schemeClr val="tx2"/>
          </a:solidFill>
          <a:latin typeface="MS Sans Serif"/>
          <a:ea typeface="MS Sans Serif"/>
          <a:cs typeface="MS Sans Serif"/>
        </a:defRPr>
      </a:lvl9pPr>
    </p:titleStyle>
    <p:bodyStyle>
      <a:lvl1pPr marL="257168" indent="-257168" algn="l" rtl="0" eaLnBrk="1" fontAlgn="base" hangingPunct="1">
        <a:spcBef>
          <a:spcPct val="20000"/>
        </a:spcBef>
        <a:spcAft>
          <a:spcPct val="0"/>
        </a:spcAft>
        <a:buClr>
          <a:srgbClr val="0000FF"/>
        </a:buClr>
        <a:buSzPct val="80000"/>
        <a:buFont typeface="Wingdings" pitchFamily="2" charset="2"/>
        <a:buChar char="l"/>
        <a:defRPr kumimoji="1" sz="2800">
          <a:solidFill>
            <a:schemeClr val="tx1"/>
          </a:solidFill>
          <a:latin typeface="Calibri" pitchFamily="34" charset="0"/>
          <a:ea typeface="標楷體" pitchFamily="65" charset="-120"/>
          <a:cs typeface="+mn-cs"/>
        </a:defRPr>
      </a:lvl1pPr>
      <a:lvl2pPr marL="557199" indent="-214308" algn="l" rtl="0" eaLnBrk="1" fontAlgn="base" hangingPunct="1">
        <a:spcBef>
          <a:spcPct val="20000"/>
        </a:spcBef>
        <a:spcAft>
          <a:spcPct val="0"/>
        </a:spcAft>
        <a:buClr>
          <a:srgbClr val="0000FF"/>
        </a:buClr>
        <a:buSzPct val="90000"/>
        <a:buFont typeface="Arial" charset="0"/>
        <a:buChar char="–"/>
        <a:defRPr kumimoji="1" sz="2400">
          <a:solidFill>
            <a:schemeClr val="tx1"/>
          </a:solidFill>
          <a:latin typeface="Calibri" pitchFamily="34" charset="0"/>
          <a:ea typeface="標楷體" pitchFamily="65" charset="-120"/>
        </a:defRPr>
      </a:lvl2pPr>
      <a:lvl3pPr marL="857229" indent="-171446" algn="l" rtl="0" eaLnBrk="1" fontAlgn="base" hangingPunct="1">
        <a:spcBef>
          <a:spcPct val="20000"/>
        </a:spcBef>
        <a:spcAft>
          <a:spcPct val="0"/>
        </a:spcAft>
        <a:buChar char="•"/>
        <a:defRPr kumimoji="1" sz="1800">
          <a:solidFill>
            <a:schemeClr val="tx1"/>
          </a:solidFill>
          <a:latin typeface="+mn-lt"/>
          <a:ea typeface="+mn-ea"/>
        </a:defRPr>
      </a:lvl3pPr>
      <a:lvl4pPr marL="1200121" indent="-171446" algn="l" rtl="0" eaLnBrk="1" fontAlgn="base" hangingPunct="1">
        <a:spcBef>
          <a:spcPct val="20000"/>
        </a:spcBef>
        <a:spcAft>
          <a:spcPct val="0"/>
        </a:spcAft>
        <a:buChar char="–"/>
        <a:defRPr kumimoji="1" sz="1500">
          <a:solidFill>
            <a:schemeClr val="tx1"/>
          </a:solidFill>
          <a:latin typeface="+mn-lt"/>
          <a:ea typeface="+mn-ea"/>
        </a:defRPr>
      </a:lvl4pPr>
      <a:lvl5pPr marL="1543012" indent="-171446" algn="l" rtl="0" eaLnBrk="1" fontAlgn="base" hangingPunct="1">
        <a:spcBef>
          <a:spcPct val="20000"/>
        </a:spcBef>
        <a:spcAft>
          <a:spcPct val="0"/>
        </a:spcAft>
        <a:buChar char="»"/>
        <a:defRPr kumimoji="1" sz="1500">
          <a:solidFill>
            <a:schemeClr val="tx1"/>
          </a:solidFill>
          <a:latin typeface="+mn-lt"/>
          <a:ea typeface="+mn-ea"/>
        </a:defRPr>
      </a:lvl5pPr>
      <a:lvl6pPr marL="1885904" indent="-171446" algn="l" rtl="0" eaLnBrk="1" fontAlgn="base" hangingPunct="1">
        <a:spcBef>
          <a:spcPct val="20000"/>
        </a:spcBef>
        <a:spcAft>
          <a:spcPct val="0"/>
        </a:spcAft>
        <a:buChar char="»"/>
        <a:defRPr kumimoji="1" sz="1500">
          <a:solidFill>
            <a:schemeClr val="tx1"/>
          </a:solidFill>
          <a:latin typeface="+mn-lt"/>
          <a:ea typeface="+mn-ea"/>
        </a:defRPr>
      </a:lvl6pPr>
      <a:lvl7pPr marL="2228795" indent="-171446" algn="l" rtl="0" eaLnBrk="1" fontAlgn="base" hangingPunct="1">
        <a:spcBef>
          <a:spcPct val="20000"/>
        </a:spcBef>
        <a:spcAft>
          <a:spcPct val="0"/>
        </a:spcAft>
        <a:buChar char="»"/>
        <a:defRPr kumimoji="1" sz="1500">
          <a:solidFill>
            <a:schemeClr val="tx1"/>
          </a:solidFill>
          <a:latin typeface="+mn-lt"/>
          <a:ea typeface="+mn-ea"/>
        </a:defRPr>
      </a:lvl7pPr>
      <a:lvl8pPr marL="2571686" indent="-171446" algn="l" rtl="0" eaLnBrk="1" fontAlgn="base" hangingPunct="1">
        <a:spcBef>
          <a:spcPct val="20000"/>
        </a:spcBef>
        <a:spcAft>
          <a:spcPct val="0"/>
        </a:spcAft>
        <a:buChar char="»"/>
        <a:defRPr kumimoji="1" sz="1500">
          <a:solidFill>
            <a:schemeClr val="tx1"/>
          </a:solidFill>
          <a:latin typeface="+mn-lt"/>
          <a:ea typeface="+mn-ea"/>
        </a:defRPr>
      </a:lvl8pPr>
      <a:lvl9pPr marL="2914578" indent="-171446" algn="l" rtl="0" eaLnBrk="1" fontAlgn="base" hangingPunct="1">
        <a:spcBef>
          <a:spcPct val="20000"/>
        </a:spcBef>
        <a:spcAft>
          <a:spcPct val="0"/>
        </a:spcAft>
        <a:buChar char="»"/>
        <a:defRPr kumimoji="1" sz="1500">
          <a:solidFill>
            <a:schemeClr val="tx1"/>
          </a:solidFill>
          <a:latin typeface="+mn-lt"/>
          <a:ea typeface="+mn-ea"/>
        </a:defRPr>
      </a:lvl9pPr>
    </p:bodyStyle>
    <p:otherStyle>
      <a:defPPr>
        <a:defRPr lang="zh-TW"/>
      </a:defPPr>
      <a:lvl1pPr marL="0" algn="l" defTabSz="685783" rtl="0" eaLnBrk="1" latinLnBrk="0" hangingPunct="1">
        <a:defRPr sz="1351" kern="1200">
          <a:solidFill>
            <a:schemeClr val="tx1"/>
          </a:solidFill>
          <a:latin typeface="+mn-lt"/>
          <a:ea typeface="+mn-ea"/>
          <a:cs typeface="+mn-cs"/>
        </a:defRPr>
      </a:lvl1pPr>
      <a:lvl2pPr marL="342891" algn="l" defTabSz="685783" rtl="0" eaLnBrk="1" latinLnBrk="0" hangingPunct="1">
        <a:defRPr sz="1351" kern="1200">
          <a:solidFill>
            <a:schemeClr val="tx1"/>
          </a:solidFill>
          <a:latin typeface="+mn-lt"/>
          <a:ea typeface="+mn-ea"/>
          <a:cs typeface="+mn-cs"/>
        </a:defRPr>
      </a:lvl2pPr>
      <a:lvl3pPr marL="685783" algn="l" defTabSz="685783" rtl="0" eaLnBrk="1" latinLnBrk="0" hangingPunct="1">
        <a:defRPr sz="1351" kern="1200">
          <a:solidFill>
            <a:schemeClr val="tx1"/>
          </a:solidFill>
          <a:latin typeface="+mn-lt"/>
          <a:ea typeface="+mn-ea"/>
          <a:cs typeface="+mn-cs"/>
        </a:defRPr>
      </a:lvl3pPr>
      <a:lvl4pPr marL="1028674" algn="l" defTabSz="685783" rtl="0" eaLnBrk="1" latinLnBrk="0" hangingPunct="1">
        <a:defRPr sz="1351" kern="1200">
          <a:solidFill>
            <a:schemeClr val="tx1"/>
          </a:solidFill>
          <a:latin typeface="+mn-lt"/>
          <a:ea typeface="+mn-ea"/>
          <a:cs typeface="+mn-cs"/>
        </a:defRPr>
      </a:lvl4pPr>
      <a:lvl5pPr marL="1371566" algn="l" defTabSz="685783" rtl="0" eaLnBrk="1" latinLnBrk="0" hangingPunct="1">
        <a:defRPr sz="1351" kern="1200">
          <a:solidFill>
            <a:schemeClr val="tx1"/>
          </a:solidFill>
          <a:latin typeface="+mn-lt"/>
          <a:ea typeface="+mn-ea"/>
          <a:cs typeface="+mn-cs"/>
        </a:defRPr>
      </a:lvl5pPr>
      <a:lvl6pPr marL="1714457" algn="l" defTabSz="685783" rtl="0" eaLnBrk="1" latinLnBrk="0" hangingPunct="1">
        <a:defRPr sz="1351" kern="1200">
          <a:solidFill>
            <a:schemeClr val="tx1"/>
          </a:solidFill>
          <a:latin typeface="+mn-lt"/>
          <a:ea typeface="+mn-ea"/>
          <a:cs typeface="+mn-cs"/>
        </a:defRPr>
      </a:lvl6pPr>
      <a:lvl7pPr marL="2057349" algn="l" defTabSz="685783" rtl="0" eaLnBrk="1" latinLnBrk="0" hangingPunct="1">
        <a:defRPr sz="1351" kern="1200">
          <a:solidFill>
            <a:schemeClr val="tx1"/>
          </a:solidFill>
          <a:latin typeface="+mn-lt"/>
          <a:ea typeface="+mn-ea"/>
          <a:cs typeface="+mn-cs"/>
        </a:defRPr>
      </a:lvl7pPr>
      <a:lvl8pPr marL="2400240" algn="l" defTabSz="685783" rtl="0" eaLnBrk="1" latinLnBrk="0" hangingPunct="1">
        <a:defRPr sz="1351" kern="1200">
          <a:solidFill>
            <a:schemeClr val="tx1"/>
          </a:solidFill>
          <a:latin typeface="+mn-lt"/>
          <a:ea typeface="+mn-ea"/>
          <a:cs typeface="+mn-cs"/>
        </a:defRPr>
      </a:lvl8pPr>
      <a:lvl9pPr marL="2743131" algn="l" defTabSz="685783" rtl="0" eaLnBrk="1" latinLnBrk="0" hangingPunct="1">
        <a:defRPr sz="1351"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6.wmf"/><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3" Type="http://schemas.openxmlformats.org/officeDocument/2006/relationships/image" Target="../media/image8.wmf"/><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3" Type="http://schemas.openxmlformats.org/officeDocument/2006/relationships/image" Target="../media/image9.wmf"/><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2" Type="http://schemas.openxmlformats.org/officeDocument/2006/relationships/image" Target="../media/image10.wmf"/><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3" Type="http://schemas.openxmlformats.org/officeDocument/2006/relationships/notesSlide" Target="../notesSlides/notesSlide34.xml"/><Relationship Id="rId2" Type="http://schemas.openxmlformats.org/officeDocument/2006/relationships/slideLayout" Target="../slideLayouts/slideLayout5.xml"/><Relationship Id="rId1" Type="http://schemas.openxmlformats.org/officeDocument/2006/relationships/vmlDrawing" Target="../drawings/vmlDrawing1.vml"/><Relationship Id="rId5" Type="http://schemas.openxmlformats.org/officeDocument/2006/relationships/image" Target="../media/image11.emf"/><Relationship Id="rId4" Type="http://schemas.openxmlformats.org/officeDocument/2006/relationships/oleObject" Target="../embeddings/oleObject1.bin"/></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43.xml"/><Relationship Id="rId1" Type="http://schemas.openxmlformats.org/officeDocument/2006/relationships/slideLayout" Target="../slideLayouts/slideLayout5.xml"/></Relationships>
</file>

<file path=ppt/slides/_rels/slide58.xml.rels><?xml version="1.0" encoding="UTF-8" standalone="yes"?>
<Relationships xmlns="http://schemas.openxmlformats.org/package/2006/relationships"><Relationship Id="rId3" Type="http://schemas.openxmlformats.org/officeDocument/2006/relationships/image" Target="../media/image14.wmf"/><Relationship Id="rId2" Type="http://schemas.openxmlformats.org/officeDocument/2006/relationships/notesSlide" Target="../notesSlides/notesSlide44.xml"/><Relationship Id="rId1" Type="http://schemas.openxmlformats.org/officeDocument/2006/relationships/slideLayout" Target="../slideLayouts/slideLayout5.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2" Type="http://schemas.openxmlformats.org/officeDocument/2006/relationships/image" Target="../media/image15.wmf"/><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1.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1.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1.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1.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1.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1.xml"/></Relationships>
</file>

<file path=ppt/slides/_rels/slide7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5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826534"/>
            <a:ext cx="7772400" cy="1102519"/>
          </a:xfrm>
        </p:spPr>
        <p:txBody>
          <a:bodyPr/>
          <a:lstStyle/>
          <a:p>
            <a:pPr algn="ctr"/>
            <a:r>
              <a:rPr lang="en-US" altLang="zh-TW" sz="3600" dirty="0">
                <a:effectLst>
                  <a:outerShdw blurRad="38100" dist="38100" dir="2700000" algn="tl">
                    <a:srgbClr val="000000">
                      <a:alpha val="43137"/>
                    </a:srgbClr>
                  </a:outerShdw>
                </a:effectLst>
              </a:rPr>
              <a:t>CSC3050 – Computer Architecture</a:t>
            </a:r>
            <a:endParaRPr lang="zh-TW" altLang="en-US" sz="3600" dirty="0">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1371600" y="2548824"/>
            <a:ext cx="6400800" cy="1801796"/>
          </a:xfrm>
        </p:spPr>
        <p:txBody>
          <a:bodyPr/>
          <a:lstStyle/>
          <a:p>
            <a:r>
              <a:rPr lang="en-US" altLang="zh-TW" sz="2400" dirty="0">
                <a:effectLst>
                  <a:outerShdw blurRad="38100" dist="38100" dir="2700000" algn="tl">
                    <a:srgbClr val="000000">
                      <a:alpha val="43137"/>
                    </a:srgbClr>
                  </a:outerShdw>
                </a:effectLst>
              </a:rPr>
              <a:t>Prof. </a:t>
            </a:r>
            <a:r>
              <a:rPr lang="en-US" altLang="zh-TW" sz="2400" dirty="0" err="1">
                <a:effectLst>
                  <a:outerShdw blurRad="38100" dist="38100" dir="2700000" algn="tl">
                    <a:srgbClr val="000000">
                      <a:alpha val="43137"/>
                    </a:srgbClr>
                  </a:outerShdw>
                </a:effectLst>
              </a:rPr>
              <a:t>Yeh-Ching</a:t>
            </a:r>
            <a:r>
              <a:rPr lang="en-US" altLang="zh-TW" sz="2400" dirty="0">
                <a:effectLst>
                  <a:outerShdw blurRad="38100" dist="38100" dir="2700000" algn="tl">
                    <a:srgbClr val="000000">
                      <a:alpha val="43137"/>
                    </a:srgbClr>
                  </a:outerShdw>
                </a:effectLst>
              </a:rPr>
              <a:t> Chung</a:t>
            </a:r>
          </a:p>
          <a:p>
            <a:endParaRPr lang="en-US" altLang="zh-TW" sz="2400" dirty="0">
              <a:effectLst>
                <a:outerShdw blurRad="38100" dist="38100" dir="2700000" algn="tl">
                  <a:srgbClr val="000000">
                    <a:alpha val="43137"/>
                  </a:srgbClr>
                </a:outerShdw>
              </a:effectLst>
            </a:endParaRPr>
          </a:p>
          <a:p>
            <a:r>
              <a:rPr lang="en-US" altLang="zh-TW" sz="2400" dirty="0"/>
              <a:t>School of Science and Engineering</a:t>
            </a:r>
          </a:p>
          <a:p>
            <a:r>
              <a:rPr lang="en-US" altLang="zh-TW" sz="2400" dirty="0"/>
              <a:t>Chinese University of Hong Kong, Shenzhen</a:t>
            </a:r>
          </a:p>
        </p:txBody>
      </p:sp>
      <p:sp>
        <p:nvSpPr>
          <p:cNvPr id="5" name="Slide Number Placeholder 4"/>
          <p:cNvSpPr>
            <a:spLocks noGrp="1"/>
          </p:cNvSpPr>
          <p:nvPr>
            <p:ph type="sldNum" sz="quarter" idx="10"/>
          </p:nvPr>
        </p:nvSpPr>
        <p:spPr/>
        <p:txBody>
          <a:bodyPr/>
          <a:lstStyle/>
          <a:p>
            <a:fld id="{D9B6BDF2-6896-4B98-8776-C18582F63BA5}" type="slidenum">
              <a:rPr lang="zh-TW" altLang="en-US" smtClean="0"/>
              <a:pPr/>
              <a:t>1</a:t>
            </a:fld>
            <a:endParaRPr lang="zh-TW" altLang="en-US"/>
          </a:p>
        </p:txBody>
      </p:sp>
    </p:spTree>
    <p:extLst>
      <p:ext uri="{BB962C8B-B14F-4D97-AF65-F5344CB8AC3E}">
        <p14:creationId xmlns:p14="http://schemas.microsoft.com/office/powerpoint/2010/main" val="40646806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a:xfrm>
            <a:off x="950259" y="129780"/>
            <a:ext cx="6779279" cy="470856"/>
          </a:xfrm>
        </p:spPr>
        <p:txBody>
          <a:bodyPr/>
          <a:lstStyle/>
          <a:p>
            <a:r>
              <a:rPr lang="en-US" altLang="zh-TW" dirty="0"/>
              <a:t>Outline</a:t>
            </a:r>
          </a:p>
        </p:txBody>
      </p:sp>
      <p:sp>
        <p:nvSpPr>
          <p:cNvPr id="7171" name="Rectangle 3"/>
          <p:cNvSpPr>
            <a:spLocks noGrp="1" noChangeArrowheads="1"/>
          </p:cNvSpPr>
          <p:nvPr>
            <p:ph type="body" idx="1"/>
          </p:nvPr>
        </p:nvSpPr>
        <p:spPr>
          <a:xfrm>
            <a:off x="1039761" y="832248"/>
            <a:ext cx="6881468" cy="3703894"/>
          </a:xfrm>
        </p:spPr>
        <p:txBody>
          <a:bodyPr/>
          <a:lstStyle/>
          <a:p>
            <a:r>
              <a:rPr lang="en-US" altLang="zh-TW" sz="2000" dirty="0">
                <a:solidFill>
                  <a:srgbClr val="FF0000"/>
                </a:solidFill>
              </a:rPr>
              <a:t>Memory hierarchy</a:t>
            </a:r>
          </a:p>
          <a:p>
            <a:r>
              <a:rPr lang="en-US" altLang="zh-TW" sz="2000" dirty="0"/>
              <a:t>The basics of caches</a:t>
            </a:r>
          </a:p>
          <a:p>
            <a:pPr lvl="1"/>
            <a:r>
              <a:rPr lang="en-US" altLang="zh-TW" sz="1800" dirty="0"/>
              <a:t>Direct-mapped cache</a:t>
            </a:r>
          </a:p>
          <a:p>
            <a:pPr lvl="1"/>
            <a:r>
              <a:rPr lang="en-US" altLang="zh-TW" sz="1800" dirty="0"/>
              <a:t>Address sub-division</a:t>
            </a:r>
          </a:p>
          <a:p>
            <a:pPr lvl="1"/>
            <a:r>
              <a:rPr lang="en-US" altLang="zh-TW" sz="1800" dirty="0"/>
              <a:t>Cache hit and miss</a:t>
            </a:r>
          </a:p>
          <a:p>
            <a:pPr lvl="1"/>
            <a:r>
              <a:rPr lang="en-US" altLang="zh-TW" sz="1800" dirty="0"/>
              <a:t>Memory support</a:t>
            </a:r>
          </a:p>
          <a:p>
            <a:r>
              <a:rPr lang="en-US" altLang="zh-TW" sz="2000" dirty="0"/>
              <a:t>Measuring cache performance</a:t>
            </a:r>
          </a:p>
          <a:p>
            <a:r>
              <a:rPr lang="en-US" altLang="zh-TW" sz="2000" dirty="0"/>
              <a:t>Improving cache performance</a:t>
            </a:r>
          </a:p>
          <a:p>
            <a:pPr lvl="1"/>
            <a:r>
              <a:rPr lang="en-US" altLang="zh-TW" sz="1800" dirty="0"/>
              <a:t>Set associative cache</a:t>
            </a:r>
          </a:p>
          <a:p>
            <a:pPr lvl="1"/>
            <a:r>
              <a:rPr lang="en-US" altLang="zh-TW" sz="1800" dirty="0"/>
              <a:t>Multiple level cache</a:t>
            </a:r>
          </a:p>
        </p:txBody>
      </p:sp>
      <p:sp>
        <p:nvSpPr>
          <p:cNvPr id="5" name="Slide Number Placeholder 5">
            <a:extLst>
              <a:ext uri="{FF2B5EF4-FFF2-40B4-BE49-F238E27FC236}">
                <a16:creationId xmlns:a16="http://schemas.microsoft.com/office/drawing/2014/main" id="{FBEC8137-9B2A-4301-83A7-D595AE649AAE}"/>
              </a:ext>
            </a:extLst>
          </p:cNvPr>
          <p:cNvSpPr>
            <a:spLocks noGrp="1"/>
          </p:cNvSpPr>
          <p:nvPr>
            <p:ph type="sldNum" sz="quarter" idx="10"/>
          </p:nvPr>
        </p:nvSpPr>
        <p:spPr>
          <a:xfrm>
            <a:off x="6831013" y="4893471"/>
            <a:ext cx="2133600" cy="254794"/>
          </a:xfrm>
        </p:spPr>
        <p:txBody>
          <a:bodyPr/>
          <a:lstStyle/>
          <a:p>
            <a:fld id="{D9B6BDF2-6896-4B98-8776-C18582F63BA5}" type="slidenum">
              <a:rPr lang="zh-TW" altLang="en-US" smtClean="0"/>
              <a:pPr/>
              <a:t>2</a:t>
            </a:fld>
            <a:endParaRPr lang="zh-TW" altLang="en-US"/>
          </a:p>
        </p:txBody>
      </p:sp>
    </p:spTree>
    <p:extLst>
      <p:ext uri="{BB962C8B-B14F-4D97-AF65-F5344CB8AC3E}">
        <p14:creationId xmlns:p14="http://schemas.microsoft.com/office/powerpoint/2010/main" val="241878361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a:xfrm>
            <a:off x="986119" y="129780"/>
            <a:ext cx="6743420" cy="497750"/>
          </a:xfrm>
        </p:spPr>
        <p:txBody>
          <a:bodyPr/>
          <a:lstStyle/>
          <a:p>
            <a:r>
              <a:rPr lang="en-US" altLang="zh-TW" dirty="0"/>
              <a:t>Memory Technology</a:t>
            </a:r>
          </a:p>
        </p:txBody>
      </p:sp>
      <p:sp>
        <p:nvSpPr>
          <p:cNvPr id="11267" name="Rectangle 3"/>
          <p:cNvSpPr>
            <a:spLocks noGrp="1" noChangeArrowheads="1"/>
          </p:cNvSpPr>
          <p:nvPr>
            <p:ph type="body" idx="1"/>
          </p:nvPr>
        </p:nvSpPr>
        <p:spPr>
          <a:xfrm>
            <a:off x="995517" y="844152"/>
            <a:ext cx="6843252" cy="3698351"/>
          </a:xfrm>
        </p:spPr>
        <p:txBody>
          <a:bodyPr/>
          <a:lstStyle/>
          <a:p>
            <a:pPr>
              <a:spcBef>
                <a:spcPts val="0"/>
              </a:spcBef>
            </a:pPr>
            <a:r>
              <a:rPr lang="en-US" altLang="zh-TW" sz="2000" dirty="0"/>
              <a:t>Random access</a:t>
            </a:r>
          </a:p>
          <a:p>
            <a:pPr lvl="1">
              <a:spcBef>
                <a:spcPts val="0"/>
              </a:spcBef>
            </a:pPr>
            <a:r>
              <a:rPr lang="en-US" altLang="zh-TW" sz="1800" dirty="0"/>
              <a:t>Access time same for all locations</a:t>
            </a:r>
          </a:p>
          <a:p>
            <a:pPr lvl="1">
              <a:spcBef>
                <a:spcPts val="0"/>
              </a:spcBef>
            </a:pPr>
            <a:r>
              <a:rPr lang="en-US" altLang="zh-TW" sz="1800" dirty="0">
                <a:solidFill>
                  <a:srgbClr val="FF0000"/>
                </a:solidFill>
              </a:rPr>
              <a:t>SRAM</a:t>
            </a:r>
            <a:r>
              <a:rPr lang="en-US" altLang="zh-TW" sz="1800" dirty="0"/>
              <a:t> (Static Random Access Memory)</a:t>
            </a:r>
          </a:p>
          <a:p>
            <a:pPr lvl="2">
              <a:spcBef>
                <a:spcPts val="0"/>
              </a:spcBef>
            </a:pPr>
            <a:r>
              <a:rPr lang="en-US" altLang="zh-TW" sz="1600" dirty="0"/>
              <a:t>Low density, high power, expensive, fast</a:t>
            </a:r>
          </a:p>
          <a:p>
            <a:pPr lvl="2">
              <a:spcBef>
                <a:spcPts val="0"/>
              </a:spcBef>
            </a:pPr>
            <a:r>
              <a:rPr lang="en-US" altLang="zh-TW" sz="1600" dirty="0"/>
              <a:t>Static: content will last forever until lose power</a:t>
            </a:r>
          </a:p>
          <a:p>
            <a:pPr lvl="2">
              <a:spcBef>
                <a:spcPts val="0"/>
              </a:spcBef>
            </a:pPr>
            <a:r>
              <a:rPr lang="en-US" altLang="zh-TW" sz="1600" dirty="0"/>
              <a:t>Address not divided</a:t>
            </a:r>
          </a:p>
          <a:p>
            <a:pPr lvl="2">
              <a:spcBef>
                <a:spcPts val="0"/>
              </a:spcBef>
            </a:pPr>
            <a:r>
              <a:rPr lang="en-US" altLang="zh-TW" sz="1600" dirty="0"/>
              <a:t>Use for caches</a:t>
            </a:r>
          </a:p>
          <a:p>
            <a:pPr lvl="1">
              <a:spcBef>
                <a:spcPts val="0"/>
              </a:spcBef>
            </a:pPr>
            <a:r>
              <a:rPr lang="en-US" altLang="zh-TW" sz="1800" dirty="0">
                <a:solidFill>
                  <a:srgbClr val="FF0000"/>
                </a:solidFill>
              </a:rPr>
              <a:t>DRAM</a:t>
            </a:r>
            <a:r>
              <a:rPr lang="en-US" altLang="zh-TW" sz="1800" dirty="0"/>
              <a:t> (Dynamic Random Access Memory)</a:t>
            </a:r>
          </a:p>
          <a:p>
            <a:pPr lvl="2">
              <a:spcBef>
                <a:spcPts val="0"/>
              </a:spcBef>
            </a:pPr>
            <a:r>
              <a:rPr lang="en-US" altLang="zh-TW" sz="1600" dirty="0"/>
              <a:t>High density, low power, cheap, slow</a:t>
            </a:r>
          </a:p>
          <a:p>
            <a:pPr lvl="2">
              <a:spcBef>
                <a:spcPts val="0"/>
              </a:spcBef>
            </a:pPr>
            <a:r>
              <a:rPr lang="en-US" altLang="zh-TW" sz="1600" dirty="0"/>
              <a:t>Dynamic: need to be refreshed regularly</a:t>
            </a:r>
          </a:p>
          <a:p>
            <a:pPr lvl="2">
              <a:spcBef>
                <a:spcPts val="0"/>
              </a:spcBef>
            </a:pPr>
            <a:r>
              <a:rPr lang="en-US" altLang="zh-TW" sz="1600" dirty="0"/>
              <a:t>Addresses in 2 halves (memory as a 2D matrix)</a:t>
            </a:r>
          </a:p>
          <a:p>
            <a:pPr lvl="3">
              <a:spcBef>
                <a:spcPts val="0"/>
              </a:spcBef>
            </a:pPr>
            <a:r>
              <a:rPr lang="en-US" altLang="zh-TW" sz="1400" dirty="0"/>
              <a:t>RAS/CAS  (Row/Column Access Strobe)</a:t>
            </a:r>
          </a:p>
          <a:p>
            <a:pPr lvl="2">
              <a:spcBef>
                <a:spcPts val="0"/>
              </a:spcBef>
            </a:pPr>
            <a:r>
              <a:rPr lang="en-US" altLang="zh-TW" sz="1600" dirty="0"/>
              <a:t>Use for main memory</a:t>
            </a:r>
          </a:p>
          <a:p>
            <a:pPr>
              <a:spcBef>
                <a:spcPts val="0"/>
              </a:spcBef>
            </a:pPr>
            <a:r>
              <a:rPr lang="en-US" altLang="zh-TW" sz="2000" dirty="0"/>
              <a:t>Magnetic disk</a:t>
            </a:r>
          </a:p>
        </p:txBody>
      </p:sp>
      <p:sp>
        <p:nvSpPr>
          <p:cNvPr id="5" name="Slide Number Placeholder 5">
            <a:extLst>
              <a:ext uri="{FF2B5EF4-FFF2-40B4-BE49-F238E27FC236}">
                <a16:creationId xmlns:a16="http://schemas.microsoft.com/office/drawing/2014/main" id="{53F34134-85EB-4223-A5D4-1EA02EECBAF8}"/>
              </a:ext>
            </a:extLst>
          </p:cNvPr>
          <p:cNvSpPr>
            <a:spLocks noGrp="1"/>
          </p:cNvSpPr>
          <p:nvPr>
            <p:ph type="sldNum" sz="quarter" idx="10"/>
          </p:nvPr>
        </p:nvSpPr>
        <p:spPr>
          <a:xfrm>
            <a:off x="6831013" y="4893471"/>
            <a:ext cx="2133600" cy="254794"/>
          </a:xfrm>
        </p:spPr>
        <p:txBody>
          <a:bodyPr/>
          <a:lstStyle/>
          <a:p>
            <a:fld id="{D9B6BDF2-6896-4B98-8776-C18582F63BA5}" type="slidenum">
              <a:rPr lang="zh-TW" altLang="en-US" smtClean="0"/>
              <a:pPr/>
              <a:t>3</a:t>
            </a:fld>
            <a:endParaRPr lang="zh-TW" alt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a:xfrm>
            <a:off x="936523" y="129779"/>
            <a:ext cx="7735529" cy="482279"/>
          </a:xfrm>
        </p:spPr>
        <p:txBody>
          <a:bodyPr/>
          <a:lstStyle/>
          <a:p>
            <a:r>
              <a:rPr lang="en-US" altLang="zh-TW" dirty="0"/>
              <a:t>Comparisons of Various Technologies</a:t>
            </a:r>
          </a:p>
        </p:txBody>
      </p:sp>
      <p:grpSp>
        <p:nvGrpSpPr>
          <p:cNvPr id="12291" name="Group 24"/>
          <p:cNvGrpSpPr>
            <a:grpSpLocks/>
          </p:cNvGrpSpPr>
          <p:nvPr/>
        </p:nvGrpSpPr>
        <p:grpSpPr bwMode="auto">
          <a:xfrm>
            <a:off x="1866507" y="1854133"/>
            <a:ext cx="5588953" cy="2507529"/>
            <a:chOff x="684" y="1131"/>
            <a:chExt cx="5000" cy="2487"/>
          </a:xfrm>
        </p:grpSpPr>
        <p:sp>
          <p:nvSpPr>
            <p:cNvPr id="12294" name="Rectangle 3"/>
            <p:cNvSpPr>
              <a:spLocks noChangeArrowheads="1"/>
            </p:cNvSpPr>
            <p:nvPr/>
          </p:nvSpPr>
          <p:spPr bwMode="auto">
            <a:xfrm>
              <a:off x="774" y="1280"/>
              <a:ext cx="1084" cy="502"/>
            </a:xfrm>
            <a:prstGeom prst="rect">
              <a:avLst/>
            </a:prstGeom>
            <a:noFill/>
            <a:ln w="9525">
              <a:noFill/>
              <a:miter lim="800000"/>
              <a:headEnd/>
              <a:tailEnd/>
            </a:ln>
          </p:spPr>
          <p:txBody>
            <a:bodyPr wrap="none" lIns="69056" tIns="34529" rIns="69056" bIns="34529">
              <a:spAutoFit/>
            </a:bodyPr>
            <a:lstStyle/>
            <a:p>
              <a:pPr algn="ctr"/>
              <a:r>
                <a:rPr kumimoji="1" lang="en-US" altLang="zh-TW" sz="1600" b="1" dirty="0">
                  <a:latin typeface="Arial" pitchFamily="34" charset="0"/>
                </a:rPr>
                <a:t>Memory</a:t>
              </a:r>
            </a:p>
            <a:p>
              <a:pPr algn="ctr"/>
              <a:r>
                <a:rPr kumimoji="1" lang="en-US" altLang="zh-TW" sz="1600" b="1" dirty="0">
                  <a:latin typeface="Arial" pitchFamily="34" charset="0"/>
                </a:rPr>
                <a:t> technology</a:t>
              </a:r>
            </a:p>
          </p:txBody>
        </p:sp>
        <p:sp>
          <p:nvSpPr>
            <p:cNvPr id="12295" name="Line 4"/>
            <p:cNvSpPr>
              <a:spLocks noChangeShapeType="1"/>
            </p:cNvSpPr>
            <p:nvPr/>
          </p:nvSpPr>
          <p:spPr bwMode="auto">
            <a:xfrm>
              <a:off x="1987" y="1131"/>
              <a:ext cx="0" cy="2487"/>
            </a:xfrm>
            <a:prstGeom prst="line">
              <a:avLst/>
            </a:prstGeom>
            <a:noFill/>
            <a:ln w="25400">
              <a:solidFill>
                <a:schemeClr val="tx1"/>
              </a:solidFill>
              <a:round/>
              <a:headEnd type="none" w="sm" len="sm"/>
              <a:tailEnd type="none" w="sm" len="sm"/>
            </a:ln>
          </p:spPr>
          <p:txBody>
            <a:bodyPr wrap="none" anchor="ctr"/>
            <a:lstStyle/>
            <a:p>
              <a:endParaRPr lang="zh-TW" altLang="en-US" sz="1600"/>
            </a:p>
          </p:txBody>
        </p:sp>
        <p:sp>
          <p:nvSpPr>
            <p:cNvPr id="12296" name="Line 5"/>
            <p:cNvSpPr>
              <a:spLocks noChangeShapeType="1"/>
            </p:cNvSpPr>
            <p:nvPr/>
          </p:nvSpPr>
          <p:spPr bwMode="auto">
            <a:xfrm>
              <a:off x="684" y="1131"/>
              <a:ext cx="4978" cy="0"/>
            </a:xfrm>
            <a:prstGeom prst="line">
              <a:avLst/>
            </a:prstGeom>
            <a:noFill/>
            <a:ln w="25400">
              <a:solidFill>
                <a:schemeClr val="tx1"/>
              </a:solidFill>
              <a:round/>
              <a:headEnd type="none" w="sm" len="sm"/>
              <a:tailEnd type="none" w="sm" len="sm"/>
            </a:ln>
          </p:spPr>
          <p:txBody>
            <a:bodyPr wrap="none" anchor="ctr"/>
            <a:lstStyle/>
            <a:p>
              <a:endParaRPr lang="zh-TW" altLang="en-US" sz="1600" dirty="0"/>
            </a:p>
          </p:txBody>
        </p:sp>
        <p:sp>
          <p:nvSpPr>
            <p:cNvPr id="12297" name="Line 6"/>
            <p:cNvSpPr>
              <a:spLocks noChangeShapeType="1"/>
            </p:cNvSpPr>
            <p:nvPr/>
          </p:nvSpPr>
          <p:spPr bwMode="auto">
            <a:xfrm>
              <a:off x="684" y="1131"/>
              <a:ext cx="0" cy="2487"/>
            </a:xfrm>
            <a:prstGeom prst="line">
              <a:avLst/>
            </a:prstGeom>
            <a:noFill/>
            <a:ln w="25400">
              <a:solidFill>
                <a:schemeClr val="tx1"/>
              </a:solidFill>
              <a:round/>
              <a:headEnd type="none" w="sm" len="sm"/>
              <a:tailEnd type="none" w="sm" len="sm"/>
            </a:ln>
          </p:spPr>
          <p:txBody>
            <a:bodyPr wrap="none" anchor="ctr"/>
            <a:lstStyle/>
            <a:p>
              <a:endParaRPr lang="zh-TW" altLang="en-US" sz="1600"/>
            </a:p>
          </p:txBody>
        </p:sp>
        <p:sp>
          <p:nvSpPr>
            <p:cNvPr id="12298" name="Rectangle 7"/>
            <p:cNvSpPr>
              <a:spLocks noChangeArrowheads="1"/>
            </p:cNvSpPr>
            <p:nvPr/>
          </p:nvSpPr>
          <p:spPr bwMode="auto">
            <a:xfrm>
              <a:off x="4340" y="1284"/>
              <a:ext cx="836" cy="502"/>
            </a:xfrm>
            <a:prstGeom prst="rect">
              <a:avLst/>
            </a:prstGeom>
            <a:noFill/>
            <a:ln w="9525">
              <a:noFill/>
              <a:miter lim="800000"/>
              <a:headEnd/>
              <a:tailEnd/>
            </a:ln>
          </p:spPr>
          <p:txBody>
            <a:bodyPr wrap="none" lIns="69056" tIns="34529" rIns="69056" bIns="34529">
              <a:spAutoFit/>
            </a:bodyPr>
            <a:lstStyle/>
            <a:p>
              <a:pPr algn="ctr"/>
              <a:r>
                <a:rPr kumimoji="1" lang="en-US" altLang="zh-TW" sz="1600" b="1">
                  <a:latin typeface="Arial" pitchFamily="34" charset="0"/>
                </a:rPr>
                <a:t>$ per GB</a:t>
              </a:r>
            </a:p>
            <a:p>
              <a:pPr algn="ctr"/>
              <a:r>
                <a:rPr kumimoji="1" lang="en-US" altLang="zh-TW" sz="1600" b="1">
                  <a:latin typeface="Arial" pitchFamily="34" charset="0"/>
                </a:rPr>
                <a:t> in</a:t>
              </a:r>
              <a:r>
                <a:rPr kumimoji="1" lang="en-US" altLang="zh-TW" sz="1600" b="1">
                  <a:solidFill>
                    <a:schemeClr val="accent1"/>
                  </a:solidFill>
                  <a:latin typeface="Arial" pitchFamily="34" charset="0"/>
                </a:rPr>
                <a:t> </a:t>
              </a:r>
              <a:r>
                <a:rPr kumimoji="1" lang="en-US" altLang="zh-TW" sz="1600" b="1">
                  <a:latin typeface="Arial" pitchFamily="34" charset="0"/>
                </a:rPr>
                <a:t>2008</a:t>
              </a:r>
            </a:p>
          </p:txBody>
        </p:sp>
        <p:sp>
          <p:nvSpPr>
            <p:cNvPr id="12299" name="Rectangle 8"/>
            <p:cNvSpPr>
              <a:spLocks noChangeArrowheads="1"/>
            </p:cNvSpPr>
            <p:nvPr/>
          </p:nvSpPr>
          <p:spPr bwMode="auto">
            <a:xfrm>
              <a:off x="1014" y="1996"/>
              <a:ext cx="623" cy="282"/>
            </a:xfrm>
            <a:prstGeom prst="rect">
              <a:avLst/>
            </a:prstGeom>
            <a:noFill/>
            <a:ln w="9525">
              <a:noFill/>
              <a:miter lim="800000"/>
              <a:headEnd/>
              <a:tailEnd/>
            </a:ln>
          </p:spPr>
          <p:txBody>
            <a:bodyPr wrap="none" lIns="69056" tIns="34529" rIns="69056" bIns="34529">
              <a:spAutoFit/>
            </a:bodyPr>
            <a:lstStyle/>
            <a:p>
              <a:r>
                <a:rPr kumimoji="1" lang="en-US" altLang="zh-TW" sz="1600" b="1" dirty="0">
                  <a:latin typeface="Arial" pitchFamily="34" charset="0"/>
                </a:rPr>
                <a:t>SRAM</a:t>
              </a:r>
            </a:p>
          </p:txBody>
        </p:sp>
        <p:sp>
          <p:nvSpPr>
            <p:cNvPr id="12300" name="Rectangle 9"/>
            <p:cNvSpPr>
              <a:spLocks noChangeArrowheads="1"/>
            </p:cNvSpPr>
            <p:nvPr/>
          </p:nvSpPr>
          <p:spPr bwMode="auto">
            <a:xfrm>
              <a:off x="4093" y="2019"/>
              <a:ext cx="1314" cy="282"/>
            </a:xfrm>
            <a:prstGeom prst="rect">
              <a:avLst/>
            </a:prstGeom>
            <a:noFill/>
            <a:ln w="9525">
              <a:noFill/>
              <a:miter lim="800000"/>
              <a:headEnd/>
              <a:tailEnd/>
            </a:ln>
          </p:spPr>
          <p:txBody>
            <a:bodyPr wrap="none" lIns="69056" tIns="34529" rIns="69056" bIns="34529">
              <a:spAutoFit/>
            </a:bodyPr>
            <a:lstStyle/>
            <a:p>
              <a:r>
                <a:rPr kumimoji="1" lang="zh-TW" altLang="en-US" sz="1600" b="1">
                  <a:latin typeface="Arial" pitchFamily="34" charset="0"/>
                </a:rPr>
                <a:t>$</a:t>
              </a:r>
              <a:r>
                <a:rPr kumimoji="1" lang="en-US" altLang="zh-TW" sz="1600" b="1">
                  <a:latin typeface="Arial" pitchFamily="34" charset="0"/>
                </a:rPr>
                <a:t>2000 – $5,000</a:t>
              </a:r>
            </a:p>
          </p:txBody>
        </p:sp>
        <p:sp>
          <p:nvSpPr>
            <p:cNvPr id="12301" name="Line 10"/>
            <p:cNvSpPr>
              <a:spLocks noChangeShapeType="1"/>
            </p:cNvSpPr>
            <p:nvPr/>
          </p:nvSpPr>
          <p:spPr bwMode="auto">
            <a:xfrm>
              <a:off x="684" y="2411"/>
              <a:ext cx="4978" cy="0"/>
            </a:xfrm>
            <a:prstGeom prst="line">
              <a:avLst/>
            </a:prstGeom>
            <a:noFill/>
            <a:ln w="25400">
              <a:solidFill>
                <a:schemeClr val="tx1"/>
              </a:solidFill>
              <a:round/>
              <a:headEnd type="none" w="sm" len="sm"/>
              <a:tailEnd type="none" w="sm" len="sm"/>
            </a:ln>
          </p:spPr>
          <p:txBody>
            <a:bodyPr wrap="none" anchor="ctr"/>
            <a:lstStyle/>
            <a:p>
              <a:endParaRPr lang="zh-TW" altLang="en-US" sz="1600" dirty="0"/>
            </a:p>
          </p:txBody>
        </p:sp>
        <p:sp>
          <p:nvSpPr>
            <p:cNvPr id="12302" name="Line 11"/>
            <p:cNvSpPr>
              <a:spLocks noChangeShapeType="1"/>
            </p:cNvSpPr>
            <p:nvPr/>
          </p:nvSpPr>
          <p:spPr bwMode="auto">
            <a:xfrm>
              <a:off x="706" y="1909"/>
              <a:ext cx="4978" cy="0"/>
            </a:xfrm>
            <a:prstGeom prst="line">
              <a:avLst/>
            </a:prstGeom>
            <a:noFill/>
            <a:ln w="25400">
              <a:solidFill>
                <a:schemeClr val="tx1"/>
              </a:solidFill>
              <a:round/>
              <a:headEnd type="none" w="sm" len="sm"/>
              <a:tailEnd type="none" w="sm" len="sm"/>
            </a:ln>
          </p:spPr>
          <p:txBody>
            <a:bodyPr wrap="none" anchor="ctr"/>
            <a:lstStyle/>
            <a:p>
              <a:endParaRPr lang="zh-TW" altLang="en-US" sz="1600" dirty="0"/>
            </a:p>
          </p:txBody>
        </p:sp>
        <p:sp>
          <p:nvSpPr>
            <p:cNvPr id="12303" name="Rectangle 12"/>
            <p:cNvSpPr>
              <a:spLocks noChangeArrowheads="1"/>
            </p:cNvSpPr>
            <p:nvPr/>
          </p:nvSpPr>
          <p:spPr bwMode="auto">
            <a:xfrm>
              <a:off x="1001" y="2538"/>
              <a:ext cx="633" cy="282"/>
            </a:xfrm>
            <a:prstGeom prst="rect">
              <a:avLst/>
            </a:prstGeom>
            <a:noFill/>
            <a:ln w="9525">
              <a:noFill/>
              <a:miter lim="800000"/>
              <a:headEnd/>
              <a:tailEnd/>
            </a:ln>
          </p:spPr>
          <p:txBody>
            <a:bodyPr wrap="none" lIns="69056" tIns="34529" rIns="69056" bIns="34529">
              <a:spAutoFit/>
            </a:bodyPr>
            <a:lstStyle/>
            <a:p>
              <a:r>
                <a:rPr kumimoji="1" lang="en-US" altLang="zh-TW" sz="1600" b="1" dirty="0">
                  <a:latin typeface="Arial" pitchFamily="34" charset="0"/>
                </a:rPr>
                <a:t>DRAM</a:t>
              </a:r>
            </a:p>
          </p:txBody>
        </p:sp>
        <p:sp>
          <p:nvSpPr>
            <p:cNvPr id="12304" name="Line 13"/>
            <p:cNvSpPr>
              <a:spLocks noChangeShapeType="1"/>
            </p:cNvSpPr>
            <p:nvPr/>
          </p:nvSpPr>
          <p:spPr bwMode="auto">
            <a:xfrm>
              <a:off x="684" y="2933"/>
              <a:ext cx="4978" cy="0"/>
            </a:xfrm>
            <a:prstGeom prst="line">
              <a:avLst/>
            </a:prstGeom>
            <a:noFill/>
            <a:ln w="25400">
              <a:solidFill>
                <a:schemeClr val="tx1"/>
              </a:solidFill>
              <a:round/>
              <a:headEnd type="none" w="sm" len="sm"/>
              <a:tailEnd type="none" w="sm" len="sm"/>
            </a:ln>
          </p:spPr>
          <p:txBody>
            <a:bodyPr wrap="none" anchor="ctr"/>
            <a:lstStyle/>
            <a:p>
              <a:endParaRPr lang="zh-TW" altLang="en-US" sz="1600"/>
            </a:p>
          </p:txBody>
        </p:sp>
        <p:sp>
          <p:nvSpPr>
            <p:cNvPr id="12305" name="Rectangle 14"/>
            <p:cNvSpPr>
              <a:spLocks noChangeArrowheads="1"/>
            </p:cNvSpPr>
            <p:nvPr/>
          </p:nvSpPr>
          <p:spPr bwMode="auto">
            <a:xfrm>
              <a:off x="837" y="3040"/>
              <a:ext cx="913" cy="502"/>
            </a:xfrm>
            <a:prstGeom prst="rect">
              <a:avLst/>
            </a:prstGeom>
            <a:noFill/>
            <a:ln w="9525">
              <a:noFill/>
              <a:miter lim="800000"/>
              <a:headEnd/>
              <a:tailEnd/>
            </a:ln>
          </p:spPr>
          <p:txBody>
            <a:bodyPr wrap="none" lIns="69056" tIns="34529" rIns="69056" bIns="34529">
              <a:spAutoFit/>
            </a:bodyPr>
            <a:lstStyle/>
            <a:p>
              <a:pPr algn="ctr"/>
              <a:r>
                <a:rPr kumimoji="1" lang="en-US" altLang="zh-TW" sz="1600" b="1" dirty="0">
                  <a:latin typeface="Arial" pitchFamily="34" charset="0"/>
                </a:rPr>
                <a:t>Magnetic </a:t>
              </a:r>
            </a:p>
            <a:p>
              <a:pPr algn="ctr"/>
              <a:r>
                <a:rPr kumimoji="1" lang="en-US" altLang="zh-TW" sz="1600" b="1" dirty="0">
                  <a:latin typeface="Arial" pitchFamily="34" charset="0"/>
                </a:rPr>
                <a:t>disk</a:t>
              </a:r>
            </a:p>
          </p:txBody>
        </p:sp>
        <p:sp>
          <p:nvSpPr>
            <p:cNvPr id="12306" name="Rectangle 15"/>
            <p:cNvSpPr>
              <a:spLocks noChangeArrowheads="1"/>
            </p:cNvSpPr>
            <p:nvPr/>
          </p:nvSpPr>
          <p:spPr bwMode="auto">
            <a:xfrm>
              <a:off x="4301" y="3105"/>
              <a:ext cx="1199" cy="282"/>
            </a:xfrm>
            <a:prstGeom prst="rect">
              <a:avLst/>
            </a:prstGeom>
            <a:noFill/>
            <a:ln w="9525">
              <a:noFill/>
              <a:miter lim="800000"/>
              <a:headEnd/>
              <a:tailEnd/>
            </a:ln>
          </p:spPr>
          <p:txBody>
            <a:bodyPr lIns="69056" tIns="34529" rIns="69056" bIns="34529">
              <a:spAutoFit/>
            </a:bodyPr>
            <a:lstStyle/>
            <a:p>
              <a:r>
                <a:rPr kumimoji="1" lang="zh-TW" altLang="en-US" sz="1600" b="1" dirty="0">
                  <a:latin typeface="Arial" pitchFamily="34" charset="0"/>
                </a:rPr>
                <a:t>$0.</a:t>
              </a:r>
              <a:r>
                <a:rPr kumimoji="1" lang="en-US" altLang="zh-TW" sz="1600" b="1" dirty="0">
                  <a:latin typeface="Arial" pitchFamily="34" charset="0"/>
                </a:rPr>
                <a:t>20 – $2</a:t>
              </a:r>
            </a:p>
          </p:txBody>
        </p:sp>
        <p:sp>
          <p:nvSpPr>
            <p:cNvPr id="12307" name="Line 16"/>
            <p:cNvSpPr>
              <a:spLocks noChangeShapeType="1"/>
            </p:cNvSpPr>
            <p:nvPr/>
          </p:nvSpPr>
          <p:spPr bwMode="auto">
            <a:xfrm>
              <a:off x="684" y="3618"/>
              <a:ext cx="4978" cy="0"/>
            </a:xfrm>
            <a:prstGeom prst="line">
              <a:avLst/>
            </a:prstGeom>
            <a:noFill/>
            <a:ln w="25400">
              <a:solidFill>
                <a:schemeClr val="tx1"/>
              </a:solidFill>
              <a:round/>
              <a:headEnd type="none" w="sm" len="sm"/>
              <a:tailEnd type="none" w="sm" len="sm"/>
            </a:ln>
          </p:spPr>
          <p:txBody>
            <a:bodyPr wrap="none" anchor="ctr"/>
            <a:lstStyle/>
            <a:p>
              <a:endParaRPr lang="zh-TW" altLang="en-US" sz="1600"/>
            </a:p>
          </p:txBody>
        </p:sp>
        <p:sp>
          <p:nvSpPr>
            <p:cNvPr id="12308" name="Line 17"/>
            <p:cNvSpPr>
              <a:spLocks noChangeShapeType="1"/>
            </p:cNvSpPr>
            <p:nvPr/>
          </p:nvSpPr>
          <p:spPr bwMode="auto">
            <a:xfrm>
              <a:off x="3979" y="1131"/>
              <a:ext cx="0" cy="2487"/>
            </a:xfrm>
            <a:prstGeom prst="line">
              <a:avLst/>
            </a:prstGeom>
            <a:noFill/>
            <a:ln w="25400">
              <a:solidFill>
                <a:schemeClr val="tx1"/>
              </a:solidFill>
              <a:round/>
              <a:headEnd type="none" w="sm" len="sm"/>
              <a:tailEnd type="none" w="sm" len="sm"/>
            </a:ln>
          </p:spPr>
          <p:txBody>
            <a:bodyPr wrap="none" anchor="ctr"/>
            <a:lstStyle/>
            <a:p>
              <a:endParaRPr lang="zh-TW" altLang="en-US" sz="1600"/>
            </a:p>
          </p:txBody>
        </p:sp>
        <p:sp>
          <p:nvSpPr>
            <p:cNvPr id="12309" name="Line 18"/>
            <p:cNvSpPr>
              <a:spLocks noChangeShapeType="1"/>
            </p:cNvSpPr>
            <p:nvPr/>
          </p:nvSpPr>
          <p:spPr bwMode="auto">
            <a:xfrm>
              <a:off x="5662" y="1131"/>
              <a:ext cx="0" cy="2487"/>
            </a:xfrm>
            <a:prstGeom prst="line">
              <a:avLst/>
            </a:prstGeom>
            <a:noFill/>
            <a:ln w="25400">
              <a:solidFill>
                <a:schemeClr val="tx1"/>
              </a:solidFill>
              <a:round/>
              <a:headEnd type="none" w="sm" len="sm"/>
              <a:tailEnd type="none" w="sm" len="sm"/>
            </a:ln>
          </p:spPr>
          <p:txBody>
            <a:bodyPr wrap="none" anchor="ctr"/>
            <a:lstStyle/>
            <a:p>
              <a:endParaRPr lang="zh-TW" altLang="en-US" sz="1600"/>
            </a:p>
          </p:txBody>
        </p:sp>
        <p:sp>
          <p:nvSpPr>
            <p:cNvPr id="12310" name="Rectangle 19"/>
            <p:cNvSpPr>
              <a:spLocks noChangeArrowheads="1"/>
            </p:cNvSpPr>
            <p:nvPr/>
          </p:nvSpPr>
          <p:spPr bwMode="auto">
            <a:xfrm>
              <a:off x="2305" y="1318"/>
              <a:ext cx="1320" cy="502"/>
            </a:xfrm>
            <a:prstGeom prst="rect">
              <a:avLst/>
            </a:prstGeom>
            <a:noFill/>
            <a:ln w="9525">
              <a:noFill/>
              <a:miter lim="800000"/>
              <a:headEnd/>
              <a:tailEnd/>
            </a:ln>
          </p:spPr>
          <p:txBody>
            <a:bodyPr wrap="none" lIns="69056" tIns="34529" rIns="69056" bIns="34529">
              <a:spAutoFit/>
            </a:bodyPr>
            <a:lstStyle/>
            <a:p>
              <a:pPr algn="ctr"/>
              <a:r>
                <a:rPr kumimoji="1" lang="en-US" altLang="zh-TW" sz="1600" b="1" dirty="0">
                  <a:latin typeface="Arial" pitchFamily="34" charset="0"/>
                </a:rPr>
                <a:t>Typical access</a:t>
              </a:r>
            </a:p>
            <a:p>
              <a:pPr algn="ctr"/>
              <a:r>
                <a:rPr kumimoji="1" lang="en-US" altLang="zh-TW" sz="1600" b="1" dirty="0">
                  <a:latin typeface="Arial" pitchFamily="34" charset="0"/>
                </a:rPr>
                <a:t> time</a:t>
              </a:r>
            </a:p>
          </p:txBody>
        </p:sp>
        <p:sp>
          <p:nvSpPr>
            <p:cNvPr id="12311" name="Rectangle 20"/>
            <p:cNvSpPr>
              <a:spLocks noChangeArrowheads="1"/>
            </p:cNvSpPr>
            <p:nvPr/>
          </p:nvSpPr>
          <p:spPr bwMode="auto">
            <a:xfrm>
              <a:off x="2526" y="2019"/>
              <a:ext cx="1038" cy="282"/>
            </a:xfrm>
            <a:prstGeom prst="rect">
              <a:avLst/>
            </a:prstGeom>
            <a:noFill/>
            <a:ln w="9525">
              <a:noFill/>
              <a:miter lim="800000"/>
              <a:headEnd/>
              <a:tailEnd/>
            </a:ln>
          </p:spPr>
          <p:txBody>
            <a:bodyPr wrap="none" lIns="69056" tIns="34529" rIns="69056" bIns="34529">
              <a:spAutoFit/>
            </a:bodyPr>
            <a:lstStyle/>
            <a:p>
              <a:r>
                <a:rPr kumimoji="1" lang="en-US" altLang="zh-TW" sz="1600" b="1">
                  <a:latin typeface="Arial" pitchFamily="34" charset="0"/>
                </a:rPr>
                <a:t>0.5 </a:t>
              </a:r>
              <a:r>
                <a:rPr kumimoji="1" lang="zh-TW" altLang="en-US" sz="1600" b="1">
                  <a:latin typeface="Arial" pitchFamily="34" charset="0"/>
                </a:rPr>
                <a:t>–</a:t>
              </a:r>
              <a:r>
                <a:rPr kumimoji="1" lang="en-US" altLang="zh-TW" sz="1600" b="1">
                  <a:latin typeface="Arial" pitchFamily="34" charset="0"/>
                </a:rPr>
                <a:t> 2.5 ns</a:t>
              </a:r>
            </a:p>
          </p:txBody>
        </p:sp>
        <p:sp>
          <p:nvSpPr>
            <p:cNvPr id="12312" name="Rectangle 21"/>
            <p:cNvSpPr>
              <a:spLocks noChangeArrowheads="1"/>
            </p:cNvSpPr>
            <p:nvPr/>
          </p:nvSpPr>
          <p:spPr bwMode="auto">
            <a:xfrm>
              <a:off x="2565" y="2556"/>
              <a:ext cx="941" cy="282"/>
            </a:xfrm>
            <a:prstGeom prst="rect">
              <a:avLst/>
            </a:prstGeom>
            <a:noFill/>
            <a:ln w="9525">
              <a:noFill/>
              <a:miter lim="800000"/>
              <a:headEnd/>
              <a:tailEnd/>
            </a:ln>
          </p:spPr>
          <p:txBody>
            <a:bodyPr wrap="none" lIns="69056" tIns="34529" rIns="69056" bIns="34529">
              <a:spAutoFit/>
            </a:bodyPr>
            <a:lstStyle/>
            <a:p>
              <a:r>
                <a:rPr kumimoji="1" lang="zh-TW" altLang="en-US" sz="1600" b="1">
                  <a:latin typeface="Arial" pitchFamily="34" charset="0"/>
                </a:rPr>
                <a:t>50 – 70 </a:t>
              </a:r>
              <a:r>
                <a:rPr kumimoji="1" lang="en-US" altLang="zh-TW" sz="1600" b="1">
                  <a:latin typeface="Arial" pitchFamily="34" charset="0"/>
                </a:rPr>
                <a:t>ns</a:t>
              </a:r>
            </a:p>
          </p:txBody>
        </p:sp>
        <p:sp>
          <p:nvSpPr>
            <p:cNvPr id="12313" name="Rectangle 22"/>
            <p:cNvSpPr>
              <a:spLocks noChangeArrowheads="1"/>
            </p:cNvSpPr>
            <p:nvPr/>
          </p:nvSpPr>
          <p:spPr bwMode="auto">
            <a:xfrm>
              <a:off x="2384" y="3014"/>
              <a:ext cx="1276" cy="502"/>
            </a:xfrm>
            <a:prstGeom prst="rect">
              <a:avLst/>
            </a:prstGeom>
            <a:noFill/>
            <a:ln w="9525">
              <a:noFill/>
              <a:miter lim="800000"/>
              <a:headEnd/>
              <a:tailEnd/>
            </a:ln>
          </p:spPr>
          <p:txBody>
            <a:bodyPr wrap="none" lIns="69056" tIns="34529" rIns="69056" bIns="34529">
              <a:spAutoFit/>
            </a:bodyPr>
            <a:lstStyle/>
            <a:p>
              <a:pPr algn="ctr"/>
              <a:r>
                <a:rPr kumimoji="1" lang="zh-TW" altLang="en-US" sz="1600" b="1" dirty="0">
                  <a:latin typeface="Arial" pitchFamily="34" charset="0"/>
                </a:rPr>
                <a:t>5,000,000 – </a:t>
              </a:r>
            </a:p>
            <a:p>
              <a:pPr algn="ctr"/>
              <a:r>
                <a:rPr kumimoji="1" lang="zh-TW" altLang="en-US" sz="1600" b="1" dirty="0">
                  <a:latin typeface="Arial" pitchFamily="34" charset="0"/>
                </a:rPr>
                <a:t> 20,000,000 </a:t>
              </a:r>
              <a:r>
                <a:rPr kumimoji="1" lang="en-US" altLang="zh-TW" sz="1600" b="1" dirty="0">
                  <a:latin typeface="Arial" pitchFamily="34" charset="0"/>
                </a:rPr>
                <a:t>ns</a:t>
              </a:r>
            </a:p>
          </p:txBody>
        </p:sp>
        <p:sp>
          <p:nvSpPr>
            <p:cNvPr id="12314" name="Rectangle 23"/>
            <p:cNvSpPr>
              <a:spLocks noChangeArrowheads="1"/>
            </p:cNvSpPr>
            <p:nvPr/>
          </p:nvSpPr>
          <p:spPr bwMode="auto">
            <a:xfrm>
              <a:off x="4243" y="2579"/>
              <a:ext cx="921" cy="302"/>
            </a:xfrm>
            <a:prstGeom prst="rect">
              <a:avLst/>
            </a:prstGeom>
            <a:noFill/>
            <a:ln w="12700">
              <a:noFill/>
              <a:miter lim="800000"/>
              <a:headEnd/>
              <a:tailEnd/>
            </a:ln>
          </p:spPr>
          <p:txBody>
            <a:bodyPr wrap="none">
              <a:spAutoFit/>
            </a:bodyPr>
            <a:lstStyle/>
            <a:p>
              <a:r>
                <a:rPr kumimoji="1" lang="zh-TW" altLang="en-US" sz="1600" b="1">
                  <a:latin typeface="Arial" pitchFamily="34" charset="0"/>
                </a:rPr>
                <a:t>$</a:t>
              </a:r>
              <a:r>
                <a:rPr kumimoji="1" lang="en-US" altLang="zh-TW" sz="1600" b="1">
                  <a:latin typeface="Arial" pitchFamily="34" charset="0"/>
                </a:rPr>
                <a:t>20 – $75</a:t>
              </a:r>
            </a:p>
          </p:txBody>
        </p:sp>
      </p:grpSp>
      <p:sp>
        <p:nvSpPr>
          <p:cNvPr id="27" name="Slide Number Placeholder 5">
            <a:extLst>
              <a:ext uri="{FF2B5EF4-FFF2-40B4-BE49-F238E27FC236}">
                <a16:creationId xmlns:a16="http://schemas.microsoft.com/office/drawing/2014/main" id="{CC07277A-0E17-41F5-890C-A39E2F19A1F2}"/>
              </a:ext>
            </a:extLst>
          </p:cNvPr>
          <p:cNvSpPr>
            <a:spLocks noGrp="1"/>
          </p:cNvSpPr>
          <p:nvPr>
            <p:ph type="sldNum" sz="quarter" idx="10"/>
          </p:nvPr>
        </p:nvSpPr>
        <p:spPr>
          <a:xfrm>
            <a:off x="6831013" y="4893471"/>
            <a:ext cx="2133600" cy="254794"/>
          </a:xfrm>
        </p:spPr>
        <p:txBody>
          <a:bodyPr/>
          <a:lstStyle/>
          <a:p>
            <a:fld id="{D9B6BDF2-6896-4B98-8776-C18582F63BA5}" type="slidenum">
              <a:rPr lang="zh-TW" altLang="en-US" smtClean="0"/>
              <a:pPr/>
              <a:t>4</a:t>
            </a:fld>
            <a:endParaRPr lang="zh-TW" altLang="en-US"/>
          </a:p>
        </p:txBody>
      </p:sp>
      <p:sp>
        <p:nvSpPr>
          <p:cNvPr id="29" name="Rectangle 30"/>
          <p:cNvSpPr txBox="1">
            <a:spLocks noChangeArrowheads="1"/>
          </p:cNvSpPr>
          <p:nvPr/>
        </p:nvSpPr>
        <p:spPr bwMode="auto">
          <a:xfrm>
            <a:off x="1061883" y="807282"/>
            <a:ext cx="7669161" cy="851627"/>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257168" indent="-257168" algn="l" rtl="0" eaLnBrk="1" fontAlgn="base" hangingPunct="1">
              <a:spcBef>
                <a:spcPct val="20000"/>
              </a:spcBef>
              <a:spcAft>
                <a:spcPct val="0"/>
              </a:spcAft>
              <a:buClr>
                <a:srgbClr val="0000FF"/>
              </a:buClr>
              <a:buSzPct val="80000"/>
              <a:buFont typeface="Wingdings" pitchFamily="2" charset="2"/>
              <a:buChar char="l"/>
              <a:defRPr kumimoji="1" sz="2400">
                <a:solidFill>
                  <a:schemeClr val="tx1"/>
                </a:solidFill>
                <a:latin typeface="Calibri" pitchFamily="34" charset="0"/>
                <a:ea typeface="標楷體" pitchFamily="65" charset="-120"/>
                <a:cs typeface="+mn-cs"/>
              </a:defRPr>
            </a:lvl1pPr>
            <a:lvl2pPr marL="557199" indent="-214308" algn="l" rtl="0" eaLnBrk="1" fontAlgn="base" hangingPunct="1">
              <a:spcBef>
                <a:spcPct val="20000"/>
              </a:spcBef>
              <a:spcAft>
                <a:spcPct val="0"/>
              </a:spcAft>
              <a:buClr>
                <a:srgbClr val="0000FF"/>
              </a:buClr>
              <a:buSzPct val="90000"/>
              <a:buFont typeface="Arial" charset="0"/>
              <a:buChar char="–"/>
              <a:defRPr kumimoji="1" sz="2000">
                <a:solidFill>
                  <a:schemeClr val="tx1"/>
                </a:solidFill>
                <a:latin typeface="Calibri" pitchFamily="34" charset="0"/>
                <a:ea typeface="標楷體" pitchFamily="65" charset="-120"/>
              </a:defRPr>
            </a:lvl2pPr>
            <a:lvl3pPr marL="857229" indent="-171446" algn="l" rtl="0" eaLnBrk="1" fontAlgn="base" hangingPunct="1">
              <a:spcBef>
                <a:spcPct val="20000"/>
              </a:spcBef>
              <a:spcAft>
                <a:spcPct val="0"/>
              </a:spcAft>
              <a:buChar char="•"/>
              <a:defRPr kumimoji="1" sz="1800">
                <a:solidFill>
                  <a:schemeClr val="tx1"/>
                </a:solidFill>
                <a:latin typeface="Calibri" pitchFamily="34" charset="0"/>
                <a:ea typeface="標楷體" pitchFamily="65" charset="-120"/>
                <a:cs typeface="Calibri" pitchFamily="34" charset="0"/>
              </a:defRPr>
            </a:lvl3pPr>
            <a:lvl4pPr marL="1200121" indent="-171446" algn="l" rtl="0" eaLnBrk="1" fontAlgn="base" hangingPunct="1">
              <a:spcBef>
                <a:spcPct val="20000"/>
              </a:spcBef>
              <a:spcAft>
                <a:spcPct val="0"/>
              </a:spcAft>
              <a:buChar char="–"/>
              <a:defRPr kumimoji="1" sz="1600">
                <a:solidFill>
                  <a:schemeClr val="tx1"/>
                </a:solidFill>
                <a:latin typeface="Calibri" pitchFamily="34" charset="0"/>
                <a:ea typeface="標楷體" pitchFamily="65" charset="-120"/>
                <a:cs typeface="Calibri" pitchFamily="34" charset="0"/>
              </a:defRPr>
            </a:lvl4pPr>
            <a:lvl5pPr marL="1543012" indent="-171446" algn="l" rtl="0" eaLnBrk="1" fontAlgn="base" hangingPunct="1">
              <a:spcBef>
                <a:spcPct val="20000"/>
              </a:spcBef>
              <a:spcAft>
                <a:spcPct val="0"/>
              </a:spcAft>
              <a:buChar char="»"/>
              <a:defRPr kumimoji="1" sz="1400">
                <a:solidFill>
                  <a:schemeClr val="tx1"/>
                </a:solidFill>
                <a:latin typeface="Calibri" pitchFamily="34" charset="0"/>
                <a:ea typeface="標楷體" pitchFamily="65" charset="-120"/>
                <a:cs typeface="Calibri" pitchFamily="34" charset="0"/>
              </a:defRPr>
            </a:lvl5pPr>
            <a:lvl6pPr marL="1885904" indent="-171446" algn="l" rtl="0" eaLnBrk="1" fontAlgn="base" hangingPunct="1">
              <a:spcBef>
                <a:spcPct val="20000"/>
              </a:spcBef>
              <a:spcAft>
                <a:spcPct val="0"/>
              </a:spcAft>
              <a:buChar char="»"/>
              <a:defRPr kumimoji="1" sz="1500">
                <a:solidFill>
                  <a:schemeClr val="tx1"/>
                </a:solidFill>
                <a:latin typeface="+mn-lt"/>
                <a:ea typeface="+mn-ea"/>
              </a:defRPr>
            </a:lvl6pPr>
            <a:lvl7pPr marL="2228795" indent="-171446" algn="l" rtl="0" eaLnBrk="1" fontAlgn="base" hangingPunct="1">
              <a:spcBef>
                <a:spcPct val="20000"/>
              </a:spcBef>
              <a:spcAft>
                <a:spcPct val="0"/>
              </a:spcAft>
              <a:buChar char="»"/>
              <a:defRPr kumimoji="1" sz="1500">
                <a:solidFill>
                  <a:schemeClr val="tx1"/>
                </a:solidFill>
                <a:latin typeface="+mn-lt"/>
                <a:ea typeface="+mn-ea"/>
              </a:defRPr>
            </a:lvl7pPr>
            <a:lvl8pPr marL="2571686" indent="-171446" algn="l" rtl="0" eaLnBrk="1" fontAlgn="base" hangingPunct="1">
              <a:spcBef>
                <a:spcPct val="20000"/>
              </a:spcBef>
              <a:spcAft>
                <a:spcPct val="0"/>
              </a:spcAft>
              <a:buChar char="»"/>
              <a:defRPr kumimoji="1" sz="1500">
                <a:solidFill>
                  <a:schemeClr val="tx1"/>
                </a:solidFill>
                <a:latin typeface="+mn-lt"/>
                <a:ea typeface="+mn-ea"/>
              </a:defRPr>
            </a:lvl8pPr>
            <a:lvl9pPr marL="2914578" indent="-171446" algn="l" rtl="0" eaLnBrk="1" fontAlgn="base" hangingPunct="1">
              <a:spcBef>
                <a:spcPct val="20000"/>
              </a:spcBef>
              <a:spcAft>
                <a:spcPct val="0"/>
              </a:spcAft>
              <a:buChar char="»"/>
              <a:defRPr kumimoji="1" sz="1500">
                <a:solidFill>
                  <a:schemeClr val="tx1"/>
                </a:solidFill>
                <a:latin typeface="+mn-lt"/>
                <a:ea typeface="+mn-ea"/>
              </a:defRPr>
            </a:lvl9pPr>
          </a:lstStyle>
          <a:p>
            <a:pPr>
              <a:spcBef>
                <a:spcPts val="0"/>
              </a:spcBef>
            </a:pPr>
            <a:r>
              <a:rPr lang="en-US" altLang="zh-TW" sz="2000" kern="0" dirty="0"/>
              <a:t>Idea memory</a:t>
            </a:r>
          </a:p>
          <a:p>
            <a:pPr lvl="1">
              <a:spcBef>
                <a:spcPts val="0"/>
              </a:spcBef>
            </a:pPr>
            <a:r>
              <a:rPr lang="en-US" altLang="zh-TW" sz="1600" kern="0" dirty="0"/>
              <a:t>Access time of DRAM</a:t>
            </a:r>
          </a:p>
          <a:p>
            <a:pPr lvl="1">
              <a:spcBef>
                <a:spcPts val="0"/>
              </a:spcBef>
            </a:pPr>
            <a:r>
              <a:rPr lang="en-US" altLang="zh-TW" sz="1600" kern="0" dirty="0"/>
              <a:t>Capacity and cost/GB    </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a:extLst>
              <a:ext uri="{FF2B5EF4-FFF2-40B4-BE49-F238E27FC236}">
                <a16:creationId xmlns:a16="http://schemas.microsoft.com/office/drawing/2014/main" id="{E0E3C54E-2761-449B-939C-71C01D6BA64A}"/>
              </a:ext>
            </a:extLst>
          </p:cNvPr>
          <p:cNvGrpSpPr/>
          <p:nvPr/>
        </p:nvGrpSpPr>
        <p:grpSpPr>
          <a:xfrm>
            <a:off x="2278626" y="2234379"/>
            <a:ext cx="4665511" cy="2317643"/>
            <a:chOff x="2038350" y="2094310"/>
            <a:chExt cx="5118498" cy="2696114"/>
          </a:xfrm>
        </p:grpSpPr>
        <p:sp>
          <p:nvSpPr>
            <p:cNvPr id="14338" name="Rectangle 8"/>
            <p:cNvSpPr>
              <a:spLocks noChangeArrowheads="1"/>
            </p:cNvSpPr>
            <p:nvPr/>
          </p:nvSpPr>
          <p:spPr bwMode="auto">
            <a:xfrm>
              <a:off x="2038350" y="2095500"/>
              <a:ext cx="2084785" cy="1981200"/>
            </a:xfrm>
            <a:prstGeom prst="rect">
              <a:avLst/>
            </a:prstGeom>
            <a:solidFill>
              <a:srgbClr val="FF9999"/>
            </a:solidFill>
            <a:ln w="25400">
              <a:solidFill>
                <a:schemeClr val="tx1"/>
              </a:solidFill>
              <a:miter lim="800000"/>
              <a:headEnd/>
              <a:tailEnd/>
            </a:ln>
          </p:spPr>
          <p:txBody>
            <a:bodyPr wrap="none" anchor="ctr"/>
            <a:lstStyle/>
            <a:p>
              <a:endParaRPr lang="zh-TW" altLang="en-US" sz="900"/>
            </a:p>
          </p:txBody>
        </p:sp>
        <p:sp>
          <p:nvSpPr>
            <p:cNvPr id="14339" name="Rectangle 2"/>
            <p:cNvSpPr>
              <a:spLocks noChangeArrowheads="1"/>
            </p:cNvSpPr>
            <p:nvPr/>
          </p:nvSpPr>
          <p:spPr bwMode="auto">
            <a:xfrm>
              <a:off x="2162176" y="2381250"/>
              <a:ext cx="1651397" cy="552450"/>
            </a:xfrm>
            <a:prstGeom prst="rect">
              <a:avLst/>
            </a:prstGeom>
            <a:noFill/>
            <a:ln w="25400">
              <a:solidFill>
                <a:schemeClr val="tx1"/>
              </a:solidFill>
              <a:miter lim="800000"/>
              <a:headEnd/>
              <a:tailEnd/>
            </a:ln>
          </p:spPr>
          <p:txBody>
            <a:bodyPr wrap="none" anchor="ctr"/>
            <a:lstStyle/>
            <a:p>
              <a:endParaRPr lang="zh-TW" altLang="en-US" sz="900"/>
            </a:p>
          </p:txBody>
        </p:sp>
        <p:sp>
          <p:nvSpPr>
            <p:cNvPr id="14340" name="Rectangle 3"/>
            <p:cNvSpPr>
              <a:spLocks noChangeArrowheads="1"/>
            </p:cNvSpPr>
            <p:nvPr/>
          </p:nvSpPr>
          <p:spPr bwMode="auto">
            <a:xfrm>
              <a:off x="2718198" y="2564607"/>
              <a:ext cx="603214" cy="242236"/>
            </a:xfrm>
            <a:prstGeom prst="rect">
              <a:avLst/>
            </a:prstGeom>
            <a:noFill/>
            <a:ln w="9525">
              <a:noFill/>
              <a:miter lim="800000"/>
              <a:headEnd/>
              <a:tailEnd/>
            </a:ln>
          </p:spPr>
          <p:txBody>
            <a:bodyPr wrap="none" lIns="69056" tIns="34529" rIns="69056" bIns="34529">
              <a:spAutoFit/>
            </a:bodyPr>
            <a:lstStyle/>
            <a:p>
              <a:r>
                <a:rPr kumimoji="1" lang="en-US" altLang="zh-TW" sz="900" b="1">
                  <a:latin typeface="Arial" pitchFamily="34" charset="0"/>
                </a:rPr>
                <a:t>Control</a:t>
              </a:r>
            </a:p>
          </p:txBody>
        </p:sp>
        <p:sp>
          <p:nvSpPr>
            <p:cNvPr id="14341" name="Rectangle 4"/>
            <p:cNvSpPr>
              <a:spLocks noChangeArrowheads="1"/>
            </p:cNvSpPr>
            <p:nvPr/>
          </p:nvSpPr>
          <p:spPr bwMode="auto">
            <a:xfrm>
              <a:off x="2162176" y="3124200"/>
              <a:ext cx="1156097" cy="838200"/>
            </a:xfrm>
            <a:prstGeom prst="rect">
              <a:avLst/>
            </a:prstGeom>
            <a:noFill/>
            <a:ln w="25400">
              <a:solidFill>
                <a:schemeClr val="tx1"/>
              </a:solidFill>
              <a:miter lim="800000"/>
              <a:headEnd/>
              <a:tailEnd/>
            </a:ln>
          </p:spPr>
          <p:txBody>
            <a:bodyPr wrap="none" anchor="ctr"/>
            <a:lstStyle/>
            <a:p>
              <a:endParaRPr lang="zh-TW" altLang="en-US" sz="900"/>
            </a:p>
          </p:txBody>
        </p:sp>
        <p:sp>
          <p:nvSpPr>
            <p:cNvPr id="14342" name="Rectangle 5"/>
            <p:cNvSpPr>
              <a:spLocks noChangeArrowheads="1"/>
            </p:cNvSpPr>
            <p:nvPr/>
          </p:nvSpPr>
          <p:spPr bwMode="auto">
            <a:xfrm>
              <a:off x="2201466" y="3333750"/>
              <a:ext cx="694664" cy="242236"/>
            </a:xfrm>
            <a:prstGeom prst="rect">
              <a:avLst/>
            </a:prstGeom>
            <a:noFill/>
            <a:ln w="9525">
              <a:noFill/>
              <a:miter lim="800000"/>
              <a:headEnd/>
              <a:tailEnd/>
            </a:ln>
          </p:spPr>
          <p:txBody>
            <a:bodyPr wrap="none" lIns="69056" tIns="34529" rIns="69056" bIns="34529">
              <a:spAutoFit/>
            </a:bodyPr>
            <a:lstStyle/>
            <a:p>
              <a:r>
                <a:rPr kumimoji="1" lang="en-US" altLang="zh-TW" sz="900" b="1">
                  <a:latin typeface="Arial" pitchFamily="34" charset="0"/>
                </a:rPr>
                <a:t>Datapath</a:t>
              </a:r>
            </a:p>
          </p:txBody>
        </p:sp>
        <p:sp>
          <p:nvSpPr>
            <p:cNvPr id="14343" name="Rectangle 6"/>
            <p:cNvSpPr>
              <a:spLocks noChangeArrowheads="1"/>
            </p:cNvSpPr>
            <p:nvPr/>
          </p:nvSpPr>
          <p:spPr bwMode="auto">
            <a:xfrm>
              <a:off x="6310313" y="2095500"/>
              <a:ext cx="846535" cy="1981200"/>
            </a:xfrm>
            <a:prstGeom prst="rect">
              <a:avLst/>
            </a:prstGeom>
            <a:solidFill>
              <a:srgbClr val="FFFF99"/>
            </a:solidFill>
            <a:ln w="25400">
              <a:solidFill>
                <a:schemeClr val="tx1"/>
              </a:solidFill>
              <a:miter lim="800000"/>
              <a:headEnd/>
              <a:tailEnd/>
            </a:ln>
          </p:spPr>
          <p:txBody>
            <a:bodyPr wrap="none" anchor="ctr"/>
            <a:lstStyle/>
            <a:p>
              <a:endParaRPr lang="zh-TW" altLang="en-US" sz="900"/>
            </a:p>
          </p:txBody>
        </p:sp>
        <p:sp>
          <p:nvSpPr>
            <p:cNvPr id="14344" name="Rectangle 7"/>
            <p:cNvSpPr>
              <a:spLocks noChangeArrowheads="1"/>
            </p:cNvSpPr>
            <p:nvPr/>
          </p:nvSpPr>
          <p:spPr bwMode="auto">
            <a:xfrm>
              <a:off x="6367463" y="2743200"/>
              <a:ext cx="638387" cy="242236"/>
            </a:xfrm>
            <a:prstGeom prst="rect">
              <a:avLst/>
            </a:prstGeom>
            <a:noFill/>
            <a:ln w="9525">
              <a:noFill/>
              <a:miter lim="800000"/>
              <a:headEnd/>
              <a:tailEnd/>
            </a:ln>
          </p:spPr>
          <p:txBody>
            <a:bodyPr wrap="none" lIns="69056" tIns="34529" rIns="69056" bIns="34529">
              <a:spAutoFit/>
            </a:bodyPr>
            <a:lstStyle/>
            <a:p>
              <a:r>
                <a:rPr kumimoji="1" lang="en-US" altLang="zh-TW" sz="900" b="1">
                  <a:latin typeface="Arial" pitchFamily="34" charset="0"/>
                </a:rPr>
                <a:t>Memory</a:t>
              </a:r>
            </a:p>
          </p:txBody>
        </p:sp>
        <p:sp>
          <p:nvSpPr>
            <p:cNvPr id="14345" name="Rectangle 9"/>
            <p:cNvSpPr>
              <a:spLocks noChangeArrowheads="1"/>
            </p:cNvSpPr>
            <p:nvPr/>
          </p:nvSpPr>
          <p:spPr bwMode="auto">
            <a:xfrm>
              <a:off x="2820591" y="2094310"/>
              <a:ext cx="772044" cy="242236"/>
            </a:xfrm>
            <a:prstGeom prst="rect">
              <a:avLst/>
            </a:prstGeom>
            <a:noFill/>
            <a:ln w="9525">
              <a:noFill/>
              <a:miter lim="800000"/>
              <a:headEnd/>
              <a:tailEnd/>
            </a:ln>
          </p:spPr>
          <p:txBody>
            <a:bodyPr wrap="none" lIns="69056" tIns="34529" rIns="69056" bIns="34529">
              <a:spAutoFit/>
            </a:bodyPr>
            <a:lstStyle/>
            <a:p>
              <a:r>
                <a:rPr kumimoji="1" lang="en-US" altLang="zh-TW" sz="900" b="1">
                  <a:latin typeface="Arial" pitchFamily="34" charset="0"/>
                </a:rPr>
                <a:t>Processor</a:t>
              </a:r>
            </a:p>
          </p:txBody>
        </p:sp>
        <p:sp>
          <p:nvSpPr>
            <p:cNvPr id="14346" name="Line 10"/>
            <p:cNvSpPr>
              <a:spLocks noChangeShapeType="1"/>
            </p:cNvSpPr>
            <p:nvPr/>
          </p:nvSpPr>
          <p:spPr bwMode="auto">
            <a:xfrm flipV="1">
              <a:off x="3390900" y="2143125"/>
              <a:ext cx="2847975" cy="971550"/>
            </a:xfrm>
            <a:prstGeom prst="line">
              <a:avLst/>
            </a:prstGeom>
            <a:noFill/>
            <a:ln w="12700">
              <a:solidFill>
                <a:schemeClr val="tx1"/>
              </a:solidFill>
              <a:prstDash val="dash"/>
              <a:round/>
              <a:headEnd type="none" w="sm" len="sm"/>
              <a:tailEnd type="none" w="sm" len="sm"/>
            </a:ln>
          </p:spPr>
          <p:txBody>
            <a:bodyPr wrap="none" anchor="ctr"/>
            <a:lstStyle/>
            <a:p>
              <a:endParaRPr lang="zh-TW" altLang="en-US" sz="900"/>
            </a:p>
          </p:txBody>
        </p:sp>
        <p:sp>
          <p:nvSpPr>
            <p:cNvPr id="14347" name="Line 11"/>
            <p:cNvSpPr>
              <a:spLocks noChangeShapeType="1"/>
            </p:cNvSpPr>
            <p:nvPr/>
          </p:nvSpPr>
          <p:spPr bwMode="auto">
            <a:xfrm>
              <a:off x="3328988" y="3857625"/>
              <a:ext cx="2971800" cy="228600"/>
            </a:xfrm>
            <a:prstGeom prst="line">
              <a:avLst/>
            </a:prstGeom>
            <a:noFill/>
            <a:ln w="12700">
              <a:solidFill>
                <a:schemeClr val="tx1"/>
              </a:solidFill>
              <a:prstDash val="dash"/>
              <a:round/>
              <a:headEnd type="none" w="sm" len="sm"/>
              <a:tailEnd type="none" w="sm" len="sm"/>
            </a:ln>
          </p:spPr>
          <p:txBody>
            <a:bodyPr wrap="none" anchor="ctr"/>
            <a:lstStyle/>
            <a:p>
              <a:endParaRPr lang="zh-TW" altLang="en-US" sz="900"/>
            </a:p>
          </p:txBody>
        </p:sp>
        <p:sp>
          <p:nvSpPr>
            <p:cNvPr id="14348" name="Rectangle 12"/>
            <p:cNvSpPr>
              <a:spLocks noChangeArrowheads="1"/>
            </p:cNvSpPr>
            <p:nvPr/>
          </p:nvSpPr>
          <p:spPr bwMode="auto">
            <a:xfrm>
              <a:off x="2967038" y="3181350"/>
              <a:ext cx="289322" cy="666750"/>
            </a:xfrm>
            <a:prstGeom prst="rect">
              <a:avLst/>
            </a:prstGeom>
            <a:solidFill>
              <a:srgbClr val="FFFF99"/>
            </a:solidFill>
            <a:ln w="25400">
              <a:solidFill>
                <a:schemeClr val="tx1"/>
              </a:solidFill>
              <a:miter lim="800000"/>
              <a:headEnd/>
              <a:tailEnd/>
            </a:ln>
          </p:spPr>
          <p:txBody>
            <a:bodyPr wrap="none" anchor="ctr"/>
            <a:lstStyle/>
            <a:p>
              <a:endParaRPr lang="zh-TW" altLang="en-US" sz="900"/>
            </a:p>
          </p:txBody>
        </p:sp>
        <p:sp>
          <p:nvSpPr>
            <p:cNvPr id="14349" name="Rectangle 13"/>
            <p:cNvSpPr>
              <a:spLocks noChangeArrowheads="1"/>
            </p:cNvSpPr>
            <p:nvPr/>
          </p:nvSpPr>
          <p:spPr bwMode="auto">
            <a:xfrm rot="5400000">
              <a:off x="2813129" y="3452294"/>
              <a:ext cx="676913" cy="228450"/>
            </a:xfrm>
            <a:prstGeom prst="rect">
              <a:avLst/>
            </a:prstGeom>
            <a:noFill/>
            <a:ln w="9525">
              <a:noFill/>
              <a:miter lim="800000"/>
              <a:headEnd/>
              <a:tailEnd/>
            </a:ln>
          </p:spPr>
          <p:txBody>
            <a:bodyPr wrap="none" lIns="69056" tIns="34529" rIns="69056" bIns="34529">
              <a:spAutoFit/>
            </a:bodyPr>
            <a:lstStyle/>
            <a:p>
              <a:r>
                <a:rPr kumimoji="1" lang="en-US" altLang="zh-TW" sz="900" b="1" dirty="0">
                  <a:latin typeface="Arial" pitchFamily="34" charset="0"/>
                </a:rPr>
                <a:t>Memory</a:t>
              </a:r>
            </a:p>
          </p:txBody>
        </p:sp>
        <p:sp>
          <p:nvSpPr>
            <p:cNvPr id="14350" name="Rectangle 14"/>
            <p:cNvSpPr>
              <a:spLocks noChangeArrowheads="1"/>
            </p:cNvSpPr>
            <p:nvPr/>
          </p:nvSpPr>
          <p:spPr bwMode="auto">
            <a:xfrm>
              <a:off x="3462338" y="3181350"/>
              <a:ext cx="536972" cy="666750"/>
            </a:xfrm>
            <a:prstGeom prst="rect">
              <a:avLst/>
            </a:prstGeom>
            <a:solidFill>
              <a:srgbClr val="FFFF99"/>
            </a:solidFill>
            <a:ln w="25400">
              <a:solidFill>
                <a:schemeClr val="tx1"/>
              </a:solidFill>
              <a:miter lim="800000"/>
              <a:headEnd/>
              <a:tailEnd/>
            </a:ln>
          </p:spPr>
          <p:txBody>
            <a:bodyPr wrap="none" anchor="ctr"/>
            <a:lstStyle/>
            <a:p>
              <a:endParaRPr lang="zh-TW" altLang="en-US" sz="900"/>
            </a:p>
          </p:txBody>
        </p:sp>
        <p:sp>
          <p:nvSpPr>
            <p:cNvPr id="14351" name="Rectangle 15"/>
            <p:cNvSpPr>
              <a:spLocks noChangeArrowheads="1"/>
            </p:cNvSpPr>
            <p:nvPr/>
          </p:nvSpPr>
          <p:spPr bwMode="auto">
            <a:xfrm>
              <a:off x="4391025" y="2838450"/>
              <a:ext cx="722710" cy="1066800"/>
            </a:xfrm>
            <a:prstGeom prst="rect">
              <a:avLst/>
            </a:prstGeom>
            <a:solidFill>
              <a:srgbClr val="FFFF99"/>
            </a:solidFill>
            <a:ln w="25400">
              <a:solidFill>
                <a:schemeClr val="tx1"/>
              </a:solidFill>
              <a:miter lim="800000"/>
              <a:headEnd/>
              <a:tailEnd/>
            </a:ln>
          </p:spPr>
          <p:txBody>
            <a:bodyPr wrap="none" anchor="ctr"/>
            <a:lstStyle/>
            <a:p>
              <a:endParaRPr lang="zh-TW" altLang="en-US" sz="900"/>
            </a:p>
          </p:txBody>
        </p:sp>
        <p:sp>
          <p:nvSpPr>
            <p:cNvPr id="14352" name="Rectangle 16"/>
            <p:cNvSpPr>
              <a:spLocks noChangeArrowheads="1"/>
            </p:cNvSpPr>
            <p:nvPr/>
          </p:nvSpPr>
          <p:spPr bwMode="auto">
            <a:xfrm>
              <a:off x="5257800" y="2552700"/>
              <a:ext cx="846535" cy="1409700"/>
            </a:xfrm>
            <a:prstGeom prst="rect">
              <a:avLst/>
            </a:prstGeom>
            <a:solidFill>
              <a:srgbClr val="FFFF99"/>
            </a:solidFill>
            <a:ln w="25400">
              <a:solidFill>
                <a:schemeClr val="tx1"/>
              </a:solidFill>
              <a:miter lim="800000"/>
              <a:headEnd/>
              <a:tailEnd/>
            </a:ln>
          </p:spPr>
          <p:txBody>
            <a:bodyPr wrap="none" anchor="ctr"/>
            <a:lstStyle/>
            <a:p>
              <a:endParaRPr lang="zh-TW" altLang="en-US" sz="900"/>
            </a:p>
          </p:txBody>
        </p:sp>
        <p:sp>
          <p:nvSpPr>
            <p:cNvPr id="14353" name="Rectangle 17"/>
            <p:cNvSpPr>
              <a:spLocks noChangeArrowheads="1"/>
            </p:cNvSpPr>
            <p:nvPr/>
          </p:nvSpPr>
          <p:spPr bwMode="auto">
            <a:xfrm>
              <a:off x="5314951" y="3028950"/>
              <a:ext cx="638387" cy="242236"/>
            </a:xfrm>
            <a:prstGeom prst="rect">
              <a:avLst/>
            </a:prstGeom>
            <a:noFill/>
            <a:ln w="9525">
              <a:noFill/>
              <a:miter lim="800000"/>
              <a:headEnd/>
              <a:tailEnd/>
            </a:ln>
          </p:spPr>
          <p:txBody>
            <a:bodyPr wrap="none" lIns="69056" tIns="34529" rIns="69056" bIns="34529">
              <a:spAutoFit/>
            </a:bodyPr>
            <a:lstStyle/>
            <a:p>
              <a:r>
                <a:rPr kumimoji="1" lang="en-US" altLang="zh-TW" sz="900" b="1">
                  <a:latin typeface="Arial" pitchFamily="34" charset="0"/>
                </a:rPr>
                <a:t>Memory</a:t>
              </a:r>
            </a:p>
          </p:txBody>
        </p:sp>
        <p:sp>
          <p:nvSpPr>
            <p:cNvPr id="14354" name="Rectangle 18"/>
            <p:cNvSpPr>
              <a:spLocks noChangeArrowheads="1"/>
            </p:cNvSpPr>
            <p:nvPr/>
          </p:nvSpPr>
          <p:spPr bwMode="auto">
            <a:xfrm>
              <a:off x="4386263" y="3257550"/>
              <a:ext cx="638387" cy="242236"/>
            </a:xfrm>
            <a:prstGeom prst="rect">
              <a:avLst/>
            </a:prstGeom>
            <a:noFill/>
            <a:ln w="9525">
              <a:noFill/>
              <a:miter lim="800000"/>
              <a:headEnd/>
              <a:tailEnd/>
            </a:ln>
          </p:spPr>
          <p:txBody>
            <a:bodyPr wrap="none" lIns="69056" tIns="34529" rIns="69056" bIns="34529">
              <a:spAutoFit/>
            </a:bodyPr>
            <a:lstStyle/>
            <a:p>
              <a:r>
                <a:rPr kumimoji="1" lang="en-US" altLang="zh-TW" sz="900" b="1">
                  <a:latin typeface="Arial" pitchFamily="34" charset="0"/>
                </a:rPr>
                <a:t>Memory</a:t>
              </a:r>
            </a:p>
          </p:txBody>
        </p:sp>
        <p:sp>
          <p:nvSpPr>
            <p:cNvPr id="14355" name="Rectangle 19"/>
            <p:cNvSpPr>
              <a:spLocks noChangeArrowheads="1"/>
            </p:cNvSpPr>
            <p:nvPr/>
          </p:nvSpPr>
          <p:spPr bwMode="auto">
            <a:xfrm rot="5400000">
              <a:off x="3370341" y="3452294"/>
              <a:ext cx="676913" cy="228450"/>
            </a:xfrm>
            <a:prstGeom prst="rect">
              <a:avLst/>
            </a:prstGeom>
            <a:noFill/>
            <a:ln w="9525">
              <a:noFill/>
              <a:miter lim="800000"/>
              <a:headEnd/>
              <a:tailEnd/>
            </a:ln>
          </p:spPr>
          <p:txBody>
            <a:bodyPr wrap="none" lIns="69056" tIns="34529" rIns="69056" bIns="34529">
              <a:spAutoFit/>
            </a:bodyPr>
            <a:lstStyle/>
            <a:p>
              <a:r>
                <a:rPr kumimoji="1" lang="en-US" altLang="zh-TW" sz="900" b="1">
                  <a:latin typeface="Arial" pitchFamily="34" charset="0"/>
                </a:rPr>
                <a:t>Memory</a:t>
              </a:r>
            </a:p>
          </p:txBody>
        </p:sp>
        <p:sp>
          <p:nvSpPr>
            <p:cNvPr id="14356" name="Rectangle 20"/>
            <p:cNvSpPr>
              <a:spLocks noChangeArrowheads="1"/>
            </p:cNvSpPr>
            <p:nvPr/>
          </p:nvSpPr>
          <p:spPr bwMode="auto">
            <a:xfrm>
              <a:off x="2820591" y="4114801"/>
              <a:ext cx="569800" cy="242236"/>
            </a:xfrm>
            <a:prstGeom prst="rect">
              <a:avLst/>
            </a:prstGeom>
            <a:noFill/>
            <a:ln w="9525">
              <a:noFill/>
              <a:miter lim="800000"/>
              <a:headEnd/>
              <a:tailEnd/>
            </a:ln>
          </p:spPr>
          <p:txBody>
            <a:bodyPr wrap="none" lIns="69056" tIns="34529" rIns="69056" bIns="34529">
              <a:spAutoFit/>
            </a:bodyPr>
            <a:lstStyle/>
            <a:p>
              <a:r>
                <a:rPr kumimoji="1" lang="en-US" altLang="zh-TW" sz="900" b="1">
                  <a:latin typeface="Century Gothic" pitchFamily="34" charset="0"/>
                </a:rPr>
                <a:t>Fastest</a:t>
              </a:r>
            </a:p>
          </p:txBody>
        </p:sp>
        <p:sp>
          <p:nvSpPr>
            <p:cNvPr id="14357" name="Rectangle 21"/>
            <p:cNvSpPr>
              <a:spLocks noChangeArrowheads="1"/>
            </p:cNvSpPr>
            <p:nvPr/>
          </p:nvSpPr>
          <p:spPr bwMode="auto">
            <a:xfrm>
              <a:off x="6411517" y="4114801"/>
              <a:ext cx="606732" cy="242236"/>
            </a:xfrm>
            <a:prstGeom prst="rect">
              <a:avLst/>
            </a:prstGeom>
            <a:noFill/>
            <a:ln w="9525">
              <a:noFill/>
              <a:miter lim="800000"/>
              <a:headEnd/>
              <a:tailEnd/>
            </a:ln>
          </p:spPr>
          <p:txBody>
            <a:bodyPr wrap="none" lIns="69056" tIns="34529" rIns="69056" bIns="34529">
              <a:spAutoFit/>
            </a:bodyPr>
            <a:lstStyle/>
            <a:p>
              <a:r>
                <a:rPr kumimoji="1" lang="en-US" altLang="zh-TW" sz="900" b="1">
                  <a:latin typeface="Century Gothic" pitchFamily="34" charset="0"/>
                </a:rPr>
                <a:t>Slowest</a:t>
              </a:r>
            </a:p>
          </p:txBody>
        </p:sp>
        <p:sp>
          <p:nvSpPr>
            <p:cNvPr id="14358" name="Rectangle 22"/>
            <p:cNvSpPr>
              <a:spLocks noChangeArrowheads="1"/>
            </p:cNvSpPr>
            <p:nvPr/>
          </p:nvSpPr>
          <p:spPr bwMode="auto">
            <a:xfrm>
              <a:off x="2820591" y="4319588"/>
              <a:ext cx="657732" cy="242236"/>
            </a:xfrm>
            <a:prstGeom prst="rect">
              <a:avLst/>
            </a:prstGeom>
            <a:noFill/>
            <a:ln w="9525">
              <a:noFill/>
              <a:miter lim="800000"/>
              <a:headEnd/>
              <a:tailEnd/>
            </a:ln>
          </p:spPr>
          <p:txBody>
            <a:bodyPr wrap="none" lIns="69056" tIns="34529" rIns="69056" bIns="34529">
              <a:spAutoFit/>
            </a:bodyPr>
            <a:lstStyle/>
            <a:p>
              <a:r>
                <a:rPr kumimoji="1" lang="en-US" altLang="zh-TW" sz="900" b="1">
                  <a:latin typeface="Century Gothic" pitchFamily="34" charset="0"/>
                </a:rPr>
                <a:t>Smallest</a:t>
              </a:r>
            </a:p>
          </p:txBody>
        </p:sp>
        <p:sp>
          <p:nvSpPr>
            <p:cNvPr id="14359" name="Rectangle 23"/>
            <p:cNvSpPr>
              <a:spLocks noChangeArrowheads="1"/>
            </p:cNvSpPr>
            <p:nvPr/>
          </p:nvSpPr>
          <p:spPr bwMode="auto">
            <a:xfrm>
              <a:off x="6411516" y="4319588"/>
              <a:ext cx="601456" cy="242236"/>
            </a:xfrm>
            <a:prstGeom prst="rect">
              <a:avLst/>
            </a:prstGeom>
            <a:noFill/>
            <a:ln w="9525">
              <a:noFill/>
              <a:miter lim="800000"/>
              <a:headEnd/>
              <a:tailEnd/>
            </a:ln>
          </p:spPr>
          <p:txBody>
            <a:bodyPr wrap="none" lIns="69056" tIns="34529" rIns="69056" bIns="34529">
              <a:spAutoFit/>
            </a:bodyPr>
            <a:lstStyle/>
            <a:p>
              <a:r>
                <a:rPr kumimoji="1" lang="en-US" altLang="zh-TW" sz="900" b="1">
                  <a:latin typeface="Century Gothic" pitchFamily="34" charset="0"/>
                </a:rPr>
                <a:t>Biggest</a:t>
              </a:r>
            </a:p>
          </p:txBody>
        </p:sp>
        <p:sp>
          <p:nvSpPr>
            <p:cNvPr id="14360" name="Rectangle 24"/>
            <p:cNvSpPr>
              <a:spLocks noChangeArrowheads="1"/>
            </p:cNvSpPr>
            <p:nvPr/>
          </p:nvSpPr>
          <p:spPr bwMode="auto">
            <a:xfrm>
              <a:off x="2820591" y="4548188"/>
              <a:ext cx="604973" cy="242236"/>
            </a:xfrm>
            <a:prstGeom prst="rect">
              <a:avLst/>
            </a:prstGeom>
            <a:noFill/>
            <a:ln w="9525">
              <a:noFill/>
              <a:miter lim="800000"/>
              <a:headEnd/>
              <a:tailEnd/>
            </a:ln>
          </p:spPr>
          <p:txBody>
            <a:bodyPr wrap="none" lIns="69056" tIns="34529" rIns="69056" bIns="34529">
              <a:spAutoFit/>
            </a:bodyPr>
            <a:lstStyle/>
            <a:p>
              <a:r>
                <a:rPr kumimoji="1" lang="en-US" altLang="zh-TW" sz="900" b="1">
                  <a:latin typeface="Century Gothic" pitchFamily="34" charset="0"/>
                </a:rPr>
                <a:t>Highest</a:t>
              </a:r>
            </a:p>
          </p:txBody>
        </p:sp>
        <p:sp>
          <p:nvSpPr>
            <p:cNvPr id="14361" name="Rectangle 25"/>
            <p:cNvSpPr>
              <a:spLocks noChangeArrowheads="1"/>
            </p:cNvSpPr>
            <p:nvPr/>
          </p:nvSpPr>
          <p:spPr bwMode="auto">
            <a:xfrm>
              <a:off x="6411516" y="4548188"/>
              <a:ext cx="568041" cy="242236"/>
            </a:xfrm>
            <a:prstGeom prst="rect">
              <a:avLst/>
            </a:prstGeom>
            <a:noFill/>
            <a:ln w="9525">
              <a:noFill/>
              <a:miter lim="800000"/>
              <a:headEnd/>
              <a:tailEnd/>
            </a:ln>
          </p:spPr>
          <p:txBody>
            <a:bodyPr wrap="none" lIns="69056" tIns="34529" rIns="69056" bIns="34529">
              <a:spAutoFit/>
            </a:bodyPr>
            <a:lstStyle/>
            <a:p>
              <a:r>
                <a:rPr kumimoji="1" lang="en-US" altLang="zh-TW" sz="900" b="1">
                  <a:latin typeface="Century Gothic" pitchFamily="34" charset="0"/>
                </a:rPr>
                <a:t>Lowest</a:t>
              </a:r>
            </a:p>
          </p:txBody>
        </p:sp>
        <p:sp>
          <p:nvSpPr>
            <p:cNvPr id="14362" name="Rectangle 26"/>
            <p:cNvSpPr>
              <a:spLocks noChangeArrowheads="1"/>
            </p:cNvSpPr>
            <p:nvPr/>
          </p:nvSpPr>
          <p:spPr bwMode="auto">
            <a:xfrm>
              <a:off x="2095501" y="4114801"/>
              <a:ext cx="583869" cy="242236"/>
            </a:xfrm>
            <a:prstGeom prst="rect">
              <a:avLst/>
            </a:prstGeom>
            <a:noFill/>
            <a:ln w="9525">
              <a:noFill/>
              <a:miter lim="800000"/>
              <a:headEnd/>
              <a:tailEnd/>
            </a:ln>
          </p:spPr>
          <p:txBody>
            <a:bodyPr wrap="none" lIns="69056" tIns="34529" rIns="69056" bIns="34529">
              <a:spAutoFit/>
            </a:bodyPr>
            <a:lstStyle/>
            <a:p>
              <a:r>
                <a:rPr kumimoji="1" lang="en-US" altLang="zh-TW" sz="900" b="1">
                  <a:latin typeface="Century Gothic" pitchFamily="34" charset="0"/>
                </a:rPr>
                <a:t>Speed:</a:t>
              </a:r>
            </a:p>
          </p:txBody>
        </p:sp>
        <p:sp>
          <p:nvSpPr>
            <p:cNvPr id="14363" name="Rectangle 27"/>
            <p:cNvSpPr>
              <a:spLocks noChangeArrowheads="1"/>
            </p:cNvSpPr>
            <p:nvPr/>
          </p:nvSpPr>
          <p:spPr bwMode="auto">
            <a:xfrm>
              <a:off x="2291954" y="4319588"/>
              <a:ext cx="422075" cy="242236"/>
            </a:xfrm>
            <a:prstGeom prst="rect">
              <a:avLst/>
            </a:prstGeom>
            <a:noFill/>
            <a:ln w="9525">
              <a:noFill/>
              <a:miter lim="800000"/>
              <a:headEnd/>
              <a:tailEnd/>
            </a:ln>
          </p:spPr>
          <p:txBody>
            <a:bodyPr wrap="none" lIns="69056" tIns="34529" rIns="69056" bIns="34529">
              <a:spAutoFit/>
            </a:bodyPr>
            <a:lstStyle/>
            <a:p>
              <a:r>
                <a:rPr kumimoji="1" lang="en-US" altLang="zh-TW" sz="900" b="1">
                  <a:latin typeface="Century Gothic" pitchFamily="34" charset="0"/>
                </a:rPr>
                <a:t>Size:</a:t>
              </a:r>
            </a:p>
          </p:txBody>
        </p:sp>
        <p:sp>
          <p:nvSpPr>
            <p:cNvPr id="14364" name="Rectangle 28"/>
            <p:cNvSpPr>
              <a:spLocks noChangeArrowheads="1"/>
            </p:cNvSpPr>
            <p:nvPr/>
          </p:nvSpPr>
          <p:spPr bwMode="auto">
            <a:xfrm>
              <a:off x="2291954" y="4548188"/>
              <a:ext cx="462522" cy="242236"/>
            </a:xfrm>
            <a:prstGeom prst="rect">
              <a:avLst/>
            </a:prstGeom>
            <a:noFill/>
            <a:ln w="9525">
              <a:noFill/>
              <a:miter lim="800000"/>
              <a:headEnd/>
              <a:tailEnd/>
            </a:ln>
          </p:spPr>
          <p:txBody>
            <a:bodyPr wrap="none" lIns="69056" tIns="34529" rIns="69056" bIns="34529">
              <a:spAutoFit/>
            </a:bodyPr>
            <a:lstStyle/>
            <a:p>
              <a:r>
                <a:rPr kumimoji="1" lang="en-US" altLang="zh-TW" sz="900" b="1">
                  <a:latin typeface="Century Gothic" pitchFamily="34" charset="0"/>
                </a:rPr>
                <a:t>Cost:</a:t>
              </a:r>
            </a:p>
          </p:txBody>
        </p:sp>
      </p:grpSp>
      <p:sp>
        <p:nvSpPr>
          <p:cNvPr id="14365" name="Rectangle 29"/>
          <p:cNvSpPr>
            <a:spLocks noGrp="1" noChangeArrowheads="1"/>
          </p:cNvSpPr>
          <p:nvPr>
            <p:ph type="title"/>
          </p:nvPr>
        </p:nvSpPr>
        <p:spPr>
          <a:xfrm>
            <a:off x="966019" y="129779"/>
            <a:ext cx="6763519" cy="497027"/>
          </a:xfrm>
        </p:spPr>
        <p:txBody>
          <a:bodyPr/>
          <a:lstStyle/>
          <a:p>
            <a:r>
              <a:rPr lang="en-US" altLang="zh-TW" dirty="0"/>
              <a:t>Solution - Memory Hierarchy</a:t>
            </a:r>
          </a:p>
        </p:txBody>
      </p:sp>
      <p:sp>
        <p:nvSpPr>
          <p:cNvPr id="14366" name="Rectangle 30"/>
          <p:cNvSpPr>
            <a:spLocks noGrp="1" noChangeArrowheads="1"/>
          </p:cNvSpPr>
          <p:nvPr>
            <p:ph type="body" idx="1"/>
          </p:nvPr>
        </p:nvSpPr>
        <p:spPr>
          <a:xfrm>
            <a:off x="1061883" y="807282"/>
            <a:ext cx="7669161" cy="1264866"/>
          </a:xfrm>
        </p:spPr>
        <p:txBody>
          <a:bodyPr/>
          <a:lstStyle/>
          <a:p>
            <a:pPr>
              <a:spcBef>
                <a:spcPts val="0"/>
              </a:spcBef>
            </a:pPr>
            <a:r>
              <a:rPr lang="en-US" altLang="zh-TW" sz="2000" dirty="0">
                <a:solidFill>
                  <a:srgbClr val="FF0000"/>
                </a:solidFill>
              </a:rPr>
              <a:t>An Illusion of a large, fast, cheap memory</a:t>
            </a:r>
          </a:p>
          <a:p>
            <a:pPr lvl="1">
              <a:spcBef>
                <a:spcPts val="0"/>
              </a:spcBef>
            </a:pPr>
            <a:r>
              <a:rPr lang="en-US" altLang="zh-TW" sz="1600" dirty="0"/>
              <a:t>Fact: Large memories slow, fast memories small</a:t>
            </a:r>
          </a:p>
          <a:p>
            <a:pPr lvl="1">
              <a:spcBef>
                <a:spcPts val="0"/>
              </a:spcBef>
            </a:pPr>
            <a:r>
              <a:rPr lang="en-US" altLang="zh-TW" sz="1600" dirty="0"/>
              <a:t>How to achieve: hierarchy, parallelism</a:t>
            </a:r>
          </a:p>
          <a:p>
            <a:pPr>
              <a:spcBef>
                <a:spcPts val="0"/>
              </a:spcBef>
            </a:pPr>
            <a:r>
              <a:rPr lang="en-US" altLang="zh-TW" sz="2000" dirty="0"/>
              <a:t>An expanded view of memory system</a:t>
            </a:r>
          </a:p>
        </p:txBody>
      </p:sp>
      <p:sp>
        <p:nvSpPr>
          <p:cNvPr id="33" name="Slide Number Placeholder 5">
            <a:extLst>
              <a:ext uri="{FF2B5EF4-FFF2-40B4-BE49-F238E27FC236}">
                <a16:creationId xmlns:a16="http://schemas.microsoft.com/office/drawing/2014/main" id="{79974219-07D6-4C15-88A7-4E4F94EB8CF0}"/>
              </a:ext>
            </a:extLst>
          </p:cNvPr>
          <p:cNvSpPr>
            <a:spLocks noGrp="1"/>
          </p:cNvSpPr>
          <p:nvPr>
            <p:ph type="sldNum" sz="quarter" idx="10"/>
          </p:nvPr>
        </p:nvSpPr>
        <p:spPr>
          <a:xfrm>
            <a:off x="6831013" y="4893471"/>
            <a:ext cx="2133600" cy="254794"/>
          </a:xfrm>
        </p:spPr>
        <p:txBody>
          <a:bodyPr/>
          <a:lstStyle/>
          <a:p>
            <a:fld id="{D9B6BDF2-6896-4B98-8776-C18582F63BA5}" type="slidenum">
              <a:rPr lang="zh-TW" altLang="en-US" smtClean="0"/>
              <a:pPr/>
              <a:t>5</a:t>
            </a:fld>
            <a:endParaRPr lang="zh-TW" alt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5362" name="Group 2"/>
          <p:cNvGrpSpPr>
            <a:grpSpLocks/>
          </p:cNvGrpSpPr>
          <p:nvPr/>
        </p:nvGrpSpPr>
        <p:grpSpPr bwMode="auto">
          <a:xfrm>
            <a:off x="2713703" y="3296264"/>
            <a:ext cx="4077929" cy="1305233"/>
            <a:chOff x="950" y="2312"/>
            <a:chExt cx="3325" cy="1184"/>
          </a:xfrm>
        </p:grpSpPr>
        <p:sp>
          <p:nvSpPr>
            <p:cNvPr id="15366" name="Rectangle 3"/>
            <p:cNvSpPr>
              <a:spLocks noChangeArrowheads="1"/>
            </p:cNvSpPr>
            <p:nvPr/>
          </p:nvSpPr>
          <p:spPr bwMode="auto">
            <a:xfrm>
              <a:off x="2120" y="2456"/>
              <a:ext cx="800" cy="896"/>
            </a:xfrm>
            <a:prstGeom prst="rect">
              <a:avLst/>
            </a:prstGeom>
            <a:noFill/>
            <a:ln w="25400">
              <a:solidFill>
                <a:schemeClr val="tx1"/>
              </a:solidFill>
              <a:miter lim="800000"/>
              <a:headEnd/>
              <a:tailEnd/>
            </a:ln>
          </p:spPr>
          <p:txBody>
            <a:bodyPr wrap="none" anchor="ctr"/>
            <a:lstStyle/>
            <a:p>
              <a:endParaRPr lang="zh-TW" altLang="en-US" sz="1000"/>
            </a:p>
          </p:txBody>
        </p:sp>
        <p:sp>
          <p:nvSpPr>
            <p:cNvPr id="15367" name="Rectangle 4"/>
            <p:cNvSpPr>
              <a:spLocks noChangeArrowheads="1"/>
            </p:cNvSpPr>
            <p:nvPr/>
          </p:nvSpPr>
          <p:spPr bwMode="auto">
            <a:xfrm>
              <a:off x="3512" y="2312"/>
              <a:ext cx="752" cy="1184"/>
            </a:xfrm>
            <a:prstGeom prst="rect">
              <a:avLst/>
            </a:prstGeom>
            <a:noFill/>
            <a:ln w="25400">
              <a:solidFill>
                <a:schemeClr val="tx1"/>
              </a:solidFill>
              <a:miter lim="800000"/>
              <a:headEnd/>
              <a:tailEnd/>
            </a:ln>
          </p:spPr>
          <p:txBody>
            <a:bodyPr wrap="none" anchor="ctr"/>
            <a:lstStyle/>
            <a:p>
              <a:endParaRPr lang="zh-TW" altLang="en-US" sz="1000"/>
            </a:p>
          </p:txBody>
        </p:sp>
        <p:sp>
          <p:nvSpPr>
            <p:cNvPr id="15368" name="Rectangle 5"/>
            <p:cNvSpPr>
              <a:spLocks noChangeArrowheads="1"/>
            </p:cNvSpPr>
            <p:nvPr/>
          </p:nvSpPr>
          <p:spPr bwMode="auto">
            <a:xfrm>
              <a:off x="3541" y="2328"/>
              <a:ext cx="734" cy="377"/>
            </a:xfrm>
            <a:prstGeom prst="rect">
              <a:avLst/>
            </a:prstGeom>
            <a:noFill/>
            <a:ln w="9525">
              <a:noFill/>
              <a:miter lim="800000"/>
              <a:headEnd/>
              <a:tailEnd/>
            </a:ln>
          </p:spPr>
          <p:txBody>
            <a:bodyPr wrap="none" lIns="69056" tIns="34529" rIns="69056" bIns="34529">
              <a:spAutoFit/>
            </a:bodyPr>
            <a:lstStyle/>
            <a:p>
              <a:pPr algn="ctr"/>
              <a:r>
                <a:rPr kumimoji="1" lang="en-US" altLang="zh-TW" sz="1000" b="1">
                  <a:latin typeface="Century Gothic" pitchFamily="34" charset="0"/>
                </a:rPr>
                <a:t>Lower Level</a:t>
              </a:r>
            </a:p>
            <a:p>
              <a:pPr algn="ctr"/>
              <a:r>
                <a:rPr kumimoji="1" lang="en-US" altLang="zh-TW" sz="1000" b="1">
                  <a:latin typeface="Century Gothic" pitchFamily="34" charset="0"/>
                </a:rPr>
                <a:t>Memory</a:t>
              </a:r>
            </a:p>
          </p:txBody>
        </p:sp>
        <p:sp>
          <p:nvSpPr>
            <p:cNvPr id="15369" name="Rectangle 6"/>
            <p:cNvSpPr>
              <a:spLocks noChangeArrowheads="1"/>
            </p:cNvSpPr>
            <p:nvPr/>
          </p:nvSpPr>
          <p:spPr bwMode="auto">
            <a:xfrm>
              <a:off x="2141" y="2472"/>
              <a:ext cx="743" cy="377"/>
            </a:xfrm>
            <a:prstGeom prst="rect">
              <a:avLst/>
            </a:prstGeom>
            <a:noFill/>
            <a:ln w="9525">
              <a:noFill/>
              <a:miter lim="800000"/>
              <a:headEnd/>
              <a:tailEnd/>
            </a:ln>
          </p:spPr>
          <p:txBody>
            <a:bodyPr wrap="none" lIns="69056" tIns="34529" rIns="69056" bIns="34529">
              <a:spAutoFit/>
            </a:bodyPr>
            <a:lstStyle/>
            <a:p>
              <a:pPr algn="ctr"/>
              <a:r>
                <a:rPr kumimoji="1" lang="en-US" altLang="zh-TW" sz="1000" b="1">
                  <a:latin typeface="Century Gothic" pitchFamily="34" charset="0"/>
                </a:rPr>
                <a:t>Upper Level</a:t>
              </a:r>
            </a:p>
            <a:p>
              <a:pPr algn="ctr"/>
              <a:r>
                <a:rPr kumimoji="1" lang="en-US" altLang="zh-TW" sz="1000" b="1">
                  <a:latin typeface="Century Gothic" pitchFamily="34" charset="0"/>
                </a:rPr>
                <a:t>Memory</a:t>
              </a:r>
            </a:p>
          </p:txBody>
        </p:sp>
        <p:sp>
          <p:nvSpPr>
            <p:cNvPr id="15370" name="Line 7"/>
            <p:cNvSpPr>
              <a:spLocks noChangeShapeType="1"/>
            </p:cNvSpPr>
            <p:nvPr/>
          </p:nvSpPr>
          <p:spPr bwMode="auto">
            <a:xfrm flipH="1">
              <a:off x="960" y="2688"/>
              <a:ext cx="1152" cy="0"/>
            </a:xfrm>
            <a:prstGeom prst="line">
              <a:avLst/>
            </a:prstGeom>
            <a:noFill/>
            <a:ln w="25400">
              <a:solidFill>
                <a:schemeClr val="tx1"/>
              </a:solidFill>
              <a:round/>
              <a:headEnd type="none" w="sm" len="sm"/>
              <a:tailEnd type="stealth" w="med" len="lg"/>
            </a:ln>
          </p:spPr>
          <p:txBody>
            <a:bodyPr wrap="none" anchor="ctr"/>
            <a:lstStyle/>
            <a:p>
              <a:endParaRPr lang="zh-TW" altLang="en-US" sz="1000"/>
            </a:p>
          </p:txBody>
        </p:sp>
        <p:sp>
          <p:nvSpPr>
            <p:cNvPr id="15371" name="Rectangle 8"/>
            <p:cNvSpPr>
              <a:spLocks noChangeArrowheads="1"/>
            </p:cNvSpPr>
            <p:nvPr/>
          </p:nvSpPr>
          <p:spPr bwMode="auto">
            <a:xfrm>
              <a:off x="1190" y="2503"/>
              <a:ext cx="772" cy="223"/>
            </a:xfrm>
            <a:prstGeom prst="rect">
              <a:avLst/>
            </a:prstGeom>
            <a:noFill/>
            <a:ln w="9525">
              <a:noFill/>
              <a:miter lim="800000"/>
              <a:headEnd/>
              <a:tailEnd/>
            </a:ln>
          </p:spPr>
          <p:txBody>
            <a:bodyPr wrap="none" lIns="69056" tIns="34529" rIns="69056" bIns="34529">
              <a:spAutoFit/>
            </a:bodyPr>
            <a:lstStyle/>
            <a:p>
              <a:r>
                <a:rPr kumimoji="1" lang="en-US" altLang="zh-TW" sz="1000" b="1" dirty="0">
                  <a:latin typeface="Century Gothic" pitchFamily="34" charset="0"/>
                </a:rPr>
                <a:t>To Processor</a:t>
              </a:r>
            </a:p>
          </p:txBody>
        </p:sp>
        <p:sp>
          <p:nvSpPr>
            <p:cNvPr id="15372" name="Line 9"/>
            <p:cNvSpPr>
              <a:spLocks noChangeShapeType="1"/>
            </p:cNvSpPr>
            <p:nvPr/>
          </p:nvSpPr>
          <p:spPr bwMode="auto">
            <a:xfrm>
              <a:off x="960" y="3168"/>
              <a:ext cx="1152" cy="0"/>
            </a:xfrm>
            <a:prstGeom prst="line">
              <a:avLst/>
            </a:prstGeom>
            <a:noFill/>
            <a:ln w="25400">
              <a:solidFill>
                <a:schemeClr val="tx1"/>
              </a:solidFill>
              <a:round/>
              <a:headEnd type="none" w="sm" len="sm"/>
              <a:tailEnd type="stealth" w="med" len="lg"/>
            </a:ln>
          </p:spPr>
          <p:txBody>
            <a:bodyPr wrap="none" anchor="ctr"/>
            <a:lstStyle/>
            <a:p>
              <a:endParaRPr lang="zh-TW" altLang="en-US" sz="1000"/>
            </a:p>
          </p:txBody>
        </p:sp>
        <p:sp>
          <p:nvSpPr>
            <p:cNvPr id="15373" name="Rectangle 10"/>
            <p:cNvSpPr>
              <a:spLocks noChangeArrowheads="1"/>
            </p:cNvSpPr>
            <p:nvPr/>
          </p:nvSpPr>
          <p:spPr bwMode="auto">
            <a:xfrm>
              <a:off x="950" y="2983"/>
              <a:ext cx="915" cy="223"/>
            </a:xfrm>
            <a:prstGeom prst="rect">
              <a:avLst/>
            </a:prstGeom>
            <a:noFill/>
            <a:ln w="9525">
              <a:noFill/>
              <a:miter lim="800000"/>
              <a:headEnd/>
              <a:tailEnd/>
            </a:ln>
          </p:spPr>
          <p:txBody>
            <a:bodyPr wrap="none" lIns="69056" tIns="34529" rIns="69056" bIns="34529">
              <a:spAutoFit/>
            </a:bodyPr>
            <a:lstStyle/>
            <a:p>
              <a:r>
                <a:rPr kumimoji="1" lang="en-US" altLang="zh-TW" sz="1000" b="1">
                  <a:latin typeface="Century Gothic" pitchFamily="34" charset="0"/>
                </a:rPr>
                <a:t>From Processor</a:t>
              </a:r>
            </a:p>
          </p:txBody>
        </p:sp>
        <p:sp>
          <p:nvSpPr>
            <p:cNvPr id="15374" name="Line 11"/>
            <p:cNvSpPr>
              <a:spLocks noChangeShapeType="1"/>
            </p:cNvSpPr>
            <p:nvPr/>
          </p:nvSpPr>
          <p:spPr bwMode="auto">
            <a:xfrm>
              <a:off x="2928" y="2880"/>
              <a:ext cx="576" cy="0"/>
            </a:xfrm>
            <a:prstGeom prst="line">
              <a:avLst/>
            </a:prstGeom>
            <a:noFill/>
            <a:ln w="25400">
              <a:solidFill>
                <a:schemeClr val="tx1"/>
              </a:solidFill>
              <a:round/>
              <a:headEnd type="stealth" w="med" len="lg"/>
              <a:tailEnd type="stealth" w="med" len="lg"/>
            </a:ln>
          </p:spPr>
          <p:txBody>
            <a:bodyPr wrap="none" anchor="ctr"/>
            <a:lstStyle/>
            <a:p>
              <a:endParaRPr lang="zh-TW" altLang="en-US" sz="1000"/>
            </a:p>
          </p:txBody>
        </p:sp>
        <p:sp>
          <p:nvSpPr>
            <p:cNvPr id="15375" name="Rectangle 12"/>
            <p:cNvSpPr>
              <a:spLocks noChangeArrowheads="1"/>
            </p:cNvSpPr>
            <p:nvPr/>
          </p:nvSpPr>
          <p:spPr bwMode="auto">
            <a:xfrm>
              <a:off x="2212" y="3028"/>
              <a:ext cx="568" cy="232"/>
            </a:xfrm>
            <a:prstGeom prst="rect">
              <a:avLst/>
            </a:prstGeom>
            <a:solidFill>
              <a:schemeClr val="accent1"/>
            </a:solidFill>
            <a:ln w="12700">
              <a:solidFill>
                <a:schemeClr val="tx1"/>
              </a:solidFill>
              <a:miter lim="800000"/>
              <a:headEnd/>
              <a:tailEnd/>
            </a:ln>
          </p:spPr>
          <p:txBody>
            <a:bodyPr wrap="none" anchor="ctr"/>
            <a:lstStyle/>
            <a:p>
              <a:endParaRPr lang="zh-TW" altLang="en-US" sz="1000"/>
            </a:p>
          </p:txBody>
        </p:sp>
        <p:sp>
          <p:nvSpPr>
            <p:cNvPr id="15376" name="Rectangle 13"/>
            <p:cNvSpPr>
              <a:spLocks noChangeArrowheads="1"/>
            </p:cNvSpPr>
            <p:nvPr/>
          </p:nvSpPr>
          <p:spPr bwMode="auto">
            <a:xfrm>
              <a:off x="2294" y="2853"/>
              <a:ext cx="514" cy="223"/>
            </a:xfrm>
            <a:prstGeom prst="rect">
              <a:avLst/>
            </a:prstGeom>
            <a:noFill/>
            <a:ln w="9525">
              <a:noFill/>
              <a:miter lim="800000"/>
              <a:headEnd/>
              <a:tailEnd/>
            </a:ln>
          </p:spPr>
          <p:txBody>
            <a:bodyPr wrap="none" lIns="69056" tIns="34529" rIns="69056" bIns="34529">
              <a:spAutoFit/>
            </a:bodyPr>
            <a:lstStyle/>
            <a:p>
              <a:r>
                <a:rPr kumimoji="1" lang="en-US" altLang="zh-TW" sz="1000" b="1">
                  <a:latin typeface="Century Gothic" pitchFamily="34" charset="0"/>
                </a:rPr>
                <a:t>Block X</a:t>
              </a:r>
            </a:p>
          </p:txBody>
        </p:sp>
        <p:sp>
          <p:nvSpPr>
            <p:cNvPr id="15377" name="Rectangle 14"/>
            <p:cNvSpPr>
              <a:spLocks noChangeArrowheads="1"/>
            </p:cNvSpPr>
            <p:nvPr/>
          </p:nvSpPr>
          <p:spPr bwMode="auto">
            <a:xfrm>
              <a:off x="3604" y="3220"/>
              <a:ext cx="568" cy="232"/>
            </a:xfrm>
            <a:prstGeom prst="rect">
              <a:avLst/>
            </a:prstGeom>
            <a:solidFill>
              <a:schemeClr val="hlink"/>
            </a:solidFill>
            <a:ln w="12700">
              <a:solidFill>
                <a:schemeClr val="tx1"/>
              </a:solidFill>
              <a:miter lim="800000"/>
              <a:headEnd/>
              <a:tailEnd/>
            </a:ln>
          </p:spPr>
          <p:txBody>
            <a:bodyPr wrap="none" anchor="ctr"/>
            <a:lstStyle/>
            <a:p>
              <a:endParaRPr lang="zh-TW" altLang="en-US" sz="1000"/>
            </a:p>
          </p:txBody>
        </p:sp>
        <p:sp>
          <p:nvSpPr>
            <p:cNvPr id="15378" name="Rectangle 15"/>
            <p:cNvSpPr>
              <a:spLocks noChangeArrowheads="1"/>
            </p:cNvSpPr>
            <p:nvPr/>
          </p:nvSpPr>
          <p:spPr bwMode="auto">
            <a:xfrm>
              <a:off x="3686" y="3045"/>
              <a:ext cx="508" cy="223"/>
            </a:xfrm>
            <a:prstGeom prst="rect">
              <a:avLst/>
            </a:prstGeom>
            <a:noFill/>
            <a:ln w="9525">
              <a:noFill/>
              <a:miter lim="800000"/>
              <a:headEnd/>
              <a:tailEnd/>
            </a:ln>
          </p:spPr>
          <p:txBody>
            <a:bodyPr wrap="none" lIns="69056" tIns="34529" rIns="69056" bIns="34529">
              <a:spAutoFit/>
            </a:bodyPr>
            <a:lstStyle/>
            <a:p>
              <a:r>
                <a:rPr kumimoji="1" lang="en-US" altLang="zh-TW" sz="1000" b="1">
                  <a:latin typeface="Century Gothic" pitchFamily="34" charset="0"/>
                </a:rPr>
                <a:t>Block Y</a:t>
              </a:r>
            </a:p>
          </p:txBody>
        </p:sp>
        <p:sp>
          <p:nvSpPr>
            <p:cNvPr id="15379" name="Line 16"/>
            <p:cNvSpPr>
              <a:spLocks noChangeShapeType="1"/>
            </p:cNvSpPr>
            <p:nvPr/>
          </p:nvSpPr>
          <p:spPr bwMode="auto">
            <a:xfrm>
              <a:off x="2496" y="3024"/>
              <a:ext cx="0" cy="240"/>
            </a:xfrm>
            <a:prstGeom prst="line">
              <a:avLst/>
            </a:prstGeom>
            <a:noFill/>
            <a:ln w="25400">
              <a:solidFill>
                <a:schemeClr val="tx1"/>
              </a:solidFill>
              <a:round/>
              <a:headEnd type="none" w="sm" len="sm"/>
              <a:tailEnd type="none" w="sm" len="sm"/>
            </a:ln>
          </p:spPr>
          <p:txBody>
            <a:bodyPr wrap="none" anchor="ctr"/>
            <a:lstStyle/>
            <a:p>
              <a:endParaRPr lang="zh-TW" altLang="en-US" sz="1000"/>
            </a:p>
          </p:txBody>
        </p:sp>
        <p:sp>
          <p:nvSpPr>
            <p:cNvPr id="15380" name="Line 17"/>
            <p:cNvSpPr>
              <a:spLocks noChangeShapeType="1"/>
            </p:cNvSpPr>
            <p:nvPr/>
          </p:nvSpPr>
          <p:spPr bwMode="auto">
            <a:xfrm>
              <a:off x="2640" y="3024"/>
              <a:ext cx="0" cy="240"/>
            </a:xfrm>
            <a:prstGeom prst="line">
              <a:avLst/>
            </a:prstGeom>
            <a:noFill/>
            <a:ln w="25400">
              <a:solidFill>
                <a:schemeClr val="tx1"/>
              </a:solidFill>
              <a:round/>
              <a:headEnd type="none" w="sm" len="sm"/>
              <a:tailEnd type="none" w="sm" len="sm"/>
            </a:ln>
          </p:spPr>
          <p:txBody>
            <a:bodyPr wrap="none" anchor="ctr"/>
            <a:lstStyle/>
            <a:p>
              <a:endParaRPr lang="zh-TW" altLang="en-US" sz="1000"/>
            </a:p>
          </p:txBody>
        </p:sp>
        <p:sp>
          <p:nvSpPr>
            <p:cNvPr id="15381" name="Line 18"/>
            <p:cNvSpPr>
              <a:spLocks noChangeShapeType="1"/>
            </p:cNvSpPr>
            <p:nvPr/>
          </p:nvSpPr>
          <p:spPr bwMode="auto">
            <a:xfrm>
              <a:off x="2352" y="3024"/>
              <a:ext cx="0" cy="240"/>
            </a:xfrm>
            <a:prstGeom prst="line">
              <a:avLst/>
            </a:prstGeom>
            <a:noFill/>
            <a:ln w="25400">
              <a:solidFill>
                <a:schemeClr val="tx1"/>
              </a:solidFill>
              <a:round/>
              <a:headEnd type="none" w="sm" len="sm"/>
              <a:tailEnd type="none" w="sm" len="sm"/>
            </a:ln>
          </p:spPr>
          <p:txBody>
            <a:bodyPr wrap="none" anchor="ctr"/>
            <a:lstStyle/>
            <a:p>
              <a:endParaRPr lang="zh-TW" altLang="en-US" sz="1000"/>
            </a:p>
          </p:txBody>
        </p:sp>
        <p:sp>
          <p:nvSpPr>
            <p:cNvPr id="15382" name="Line 19"/>
            <p:cNvSpPr>
              <a:spLocks noChangeShapeType="1"/>
            </p:cNvSpPr>
            <p:nvPr/>
          </p:nvSpPr>
          <p:spPr bwMode="auto">
            <a:xfrm>
              <a:off x="3888" y="3216"/>
              <a:ext cx="0" cy="240"/>
            </a:xfrm>
            <a:prstGeom prst="line">
              <a:avLst/>
            </a:prstGeom>
            <a:noFill/>
            <a:ln w="25400">
              <a:solidFill>
                <a:schemeClr val="tx1"/>
              </a:solidFill>
              <a:round/>
              <a:headEnd type="none" w="sm" len="sm"/>
              <a:tailEnd type="none" w="sm" len="sm"/>
            </a:ln>
          </p:spPr>
          <p:txBody>
            <a:bodyPr wrap="none" anchor="ctr"/>
            <a:lstStyle/>
            <a:p>
              <a:endParaRPr lang="zh-TW" altLang="en-US" sz="1000"/>
            </a:p>
          </p:txBody>
        </p:sp>
        <p:sp>
          <p:nvSpPr>
            <p:cNvPr id="15383" name="Line 20"/>
            <p:cNvSpPr>
              <a:spLocks noChangeShapeType="1"/>
            </p:cNvSpPr>
            <p:nvPr/>
          </p:nvSpPr>
          <p:spPr bwMode="auto">
            <a:xfrm>
              <a:off x="4032" y="3216"/>
              <a:ext cx="0" cy="240"/>
            </a:xfrm>
            <a:prstGeom prst="line">
              <a:avLst/>
            </a:prstGeom>
            <a:noFill/>
            <a:ln w="25400">
              <a:solidFill>
                <a:schemeClr val="tx1"/>
              </a:solidFill>
              <a:round/>
              <a:headEnd type="none" w="sm" len="sm"/>
              <a:tailEnd type="none" w="sm" len="sm"/>
            </a:ln>
          </p:spPr>
          <p:txBody>
            <a:bodyPr wrap="none" anchor="ctr"/>
            <a:lstStyle/>
            <a:p>
              <a:endParaRPr lang="zh-TW" altLang="en-US" sz="1000"/>
            </a:p>
          </p:txBody>
        </p:sp>
        <p:sp>
          <p:nvSpPr>
            <p:cNvPr id="15384" name="Line 21"/>
            <p:cNvSpPr>
              <a:spLocks noChangeShapeType="1"/>
            </p:cNvSpPr>
            <p:nvPr/>
          </p:nvSpPr>
          <p:spPr bwMode="auto">
            <a:xfrm>
              <a:off x="3744" y="3216"/>
              <a:ext cx="0" cy="240"/>
            </a:xfrm>
            <a:prstGeom prst="line">
              <a:avLst/>
            </a:prstGeom>
            <a:noFill/>
            <a:ln w="25400">
              <a:solidFill>
                <a:schemeClr val="tx1"/>
              </a:solidFill>
              <a:round/>
              <a:headEnd type="none" w="sm" len="sm"/>
              <a:tailEnd type="none" w="sm" len="sm"/>
            </a:ln>
          </p:spPr>
          <p:txBody>
            <a:bodyPr wrap="none" anchor="ctr"/>
            <a:lstStyle/>
            <a:p>
              <a:endParaRPr lang="zh-TW" altLang="en-US" sz="1000"/>
            </a:p>
          </p:txBody>
        </p:sp>
      </p:grpSp>
      <p:sp>
        <p:nvSpPr>
          <p:cNvPr id="15363" name="Rectangle 22"/>
          <p:cNvSpPr>
            <a:spLocks noGrp="1" noChangeArrowheads="1"/>
          </p:cNvSpPr>
          <p:nvPr>
            <p:ph type="title"/>
          </p:nvPr>
        </p:nvSpPr>
        <p:spPr>
          <a:xfrm>
            <a:off x="929149" y="129780"/>
            <a:ext cx="6800390" cy="504402"/>
          </a:xfrm>
        </p:spPr>
        <p:txBody>
          <a:bodyPr/>
          <a:lstStyle/>
          <a:p>
            <a:r>
              <a:rPr lang="en-US" altLang="zh-TW" dirty="0"/>
              <a:t>Memory Hierarchy - Principle</a:t>
            </a:r>
          </a:p>
        </p:txBody>
      </p:sp>
      <p:sp>
        <p:nvSpPr>
          <p:cNvPr id="15364" name="Rectangle 23"/>
          <p:cNvSpPr>
            <a:spLocks noGrp="1" noChangeArrowheads="1"/>
          </p:cNvSpPr>
          <p:nvPr>
            <p:ph type="body" idx="1"/>
          </p:nvPr>
        </p:nvSpPr>
        <p:spPr>
          <a:xfrm>
            <a:off x="966019" y="785158"/>
            <a:ext cx="7573298" cy="2570099"/>
          </a:xfrm>
        </p:spPr>
        <p:txBody>
          <a:bodyPr/>
          <a:lstStyle/>
          <a:p>
            <a:r>
              <a:rPr lang="en-US" altLang="zh-TW" sz="2000" dirty="0"/>
              <a:t>At any given time, data is copied between only two adjacent levels</a:t>
            </a:r>
          </a:p>
          <a:p>
            <a:pPr lvl="1"/>
            <a:r>
              <a:rPr lang="en-US" altLang="zh-TW" sz="1800" dirty="0">
                <a:solidFill>
                  <a:srgbClr val="FF0000"/>
                </a:solidFill>
              </a:rPr>
              <a:t>Upper level: </a:t>
            </a:r>
            <a:r>
              <a:rPr lang="en-US" altLang="zh-TW" sz="1800" dirty="0"/>
              <a:t>The one closer to the processor</a:t>
            </a:r>
          </a:p>
          <a:p>
            <a:pPr lvl="2"/>
            <a:r>
              <a:rPr lang="en-US" altLang="zh-TW" sz="1600" dirty="0"/>
              <a:t>Smaller, faster, uses more expensive technology</a:t>
            </a:r>
          </a:p>
          <a:p>
            <a:pPr lvl="1"/>
            <a:r>
              <a:rPr lang="en-US" altLang="zh-TW" sz="1800" dirty="0">
                <a:solidFill>
                  <a:srgbClr val="FF0000"/>
                </a:solidFill>
              </a:rPr>
              <a:t>Lower level: </a:t>
            </a:r>
            <a:r>
              <a:rPr lang="en-US" altLang="zh-TW" sz="1800" dirty="0"/>
              <a:t>The one away from the processor</a:t>
            </a:r>
          </a:p>
          <a:p>
            <a:pPr lvl="2"/>
            <a:r>
              <a:rPr lang="en-US" altLang="zh-TW" sz="1600" dirty="0"/>
              <a:t>Bigger, slower, uses less expensive technology</a:t>
            </a:r>
          </a:p>
          <a:p>
            <a:r>
              <a:rPr lang="en-US" altLang="zh-TW" sz="2000" dirty="0"/>
              <a:t>Block: Basic unit of information transfer</a:t>
            </a:r>
          </a:p>
          <a:p>
            <a:pPr lvl="1"/>
            <a:r>
              <a:rPr lang="en-US" altLang="zh-TW" sz="1800" dirty="0"/>
              <a:t>Minimum unit of information that can either be present or not present in a level of the hierarchy</a:t>
            </a:r>
          </a:p>
        </p:txBody>
      </p:sp>
      <p:sp>
        <p:nvSpPr>
          <p:cNvPr id="25" name="Slide Number Placeholder 5">
            <a:extLst>
              <a:ext uri="{FF2B5EF4-FFF2-40B4-BE49-F238E27FC236}">
                <a16:creationId xmlns:a16="http://schemas.microsoft.com/office/drawing/2014/main" id="{1715021F-4017-4178-99C7-FDAA5F43715F}"/>
              </a:ext>
            </a:extLst>
          </p:cNvPr>
          <p:cNvSpPr>
            <a:spLocks noGrp="1"/>
          </p:cNvSpPr>
          <p:nvPr>
            <p:ph type="sldNum" sz="quarter" idx="10"/>
          </p:nvPr>
        </p:nvSpPr>
        <p:spPr>
          <a:xfrm>
            <a:off x="6831013" y="4893471"/>
            <a:ext cx="2133600" cy="254794"/>
          </a:xfrm>
        </p:spPr>
        <p:txBody>
          <a:bodyPr/>
          <a:lstStyle/>
          <a:p>
            <a:fld id="{D9B6BDF2-6896-4B98-8776-C18582F63BA5}" type="slidenum">
              <a:rPr lang="zh-TW" altLang="en-US" smtClean="0"/>
              <a:pPr/>
              <a:t>6</a:t>
            </a:fld>
            <a:endParaRPr lang="zh-TW" alt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body" idx="1"/>
          </p:nvPr>
        </p:nvSpPr>
        <p:spPr>
          <a:xfrm>
            <a:off x="383457" y="792533"/>
            <a:ext cx="8428703" cy="2009661"/>
          </a:xfrm>
        </p:spPr>
        <p:txBody>
          <a:bodyPr/>
          <a:lstStyle/>
          <a:p>
            <a:pPr marL="214313" indent="-214313">
              <a:spcBef>
                <a:spcPts val="0"/>
              </a:spcBef>
            </a:pPr>
            <a:r>
              <a:rPr lang="en-US" altLang="zh-TW" sz="2000" dirty="0"/>
              <a:t>Principle of Locality</a:t>
            </a:r>
          </a:p>
          <a:p>
            <a:pPr marL="528638" lvl="1" indent="-171450">
              <a:spcBef>
                <a:spcPts val="0"/>
              </a:spcBef>
            </a:pPr>
            <a:r>
              <a:rPr lang="en-US" altLang="zh-TW" sz="1600" dirty="0"/>
              <a:t>Program access a relatively </a:t>
            </a:r>
            <a:r>
              <a:rPr lang="en-US" altLang="zh-TW" sz="1600" dirty="0">
                <a:solidFill>
                  <a:srgbClr val="FF0000"/>
                </a:solidFill>
              </a:rPr>
              <a:t>small portion </a:t>
            </a:r>
            <a:r>
              <a:rPr lang="en-US" altLang="zh-TW" sz="1600" dirty="0"/>
              <a:t>of the address space at any instant of time</a:t>
            </a:r>
          </a:p>
          <a:p>
            <a:pPr marL="528638" lvl="1" indent="-171450">
              <a:spcBef>
                <a:spcPts val="0"/>
              </a:spcBef>
            </a:pPr>
            <a:r>
              <a:rPr lang="en-US" altLang="zh-TW" sz="1600" dirty="0"/>
              <a:t>90-10 rule: 10% of code executed 90% of time</a:t>
            </a:r>
          </a:p>
          <a:p>
            <a:pPr marL="214313" indent="-214313">
              <a:spcBef>
                <a:spcPts val="0"/>
              </a:spcBef>
            </a:pPr>
            <a:r>
              <a:rPr lang="en-US" altLang="zh-TW" sz="2000" dirty="0"/>
              <a:t>Two types of locality</a:t>
            </a:r>
          </a:p>
          <a:p>
            <a:pPr marL="528638" lvl="1" indent="-171450">
              <a:spcBef>
                <a:spcPts val="0"/>
              </a:spcBef>
            </a:pPr>
            <a:r>
              <a:rPr lang="en-US" altLang="zh-TW" sz="1600" dirty="0">
                <a:solidFill>
                  <a:srgbClr val="FF0000"/>
                </a:solidFill>
              </a:rPr>
              <a:t>Temporal locality</a:t>
            </a:r>
            <a:r>
              <a:rPr lang="en-US" altLang="zh-TW" sz="1600" dirty="0"/>
              <a:t>: If an item is referenced, it will tend to be referenced again soon, e.g., loop</a:t>
            </a:r>
          </a:p>
          <a:p>
            <a:pPr marL="528638" lvl="1" indent="-171450">
              <a:spcBef>
                <a:spcPts val="0"/>
              </a:spcBef>
            </a:pPr>
            <a:r>
              <a:rPr lang="en-US" altLang="zh-TW" sz="1600" dirty="0">
                <a:solidFill>
                  <a:srgbClr val="FF0000"/>
                </a:solidFill>
              </a:rPr>
              <a:t>Spatial locality</a:t>
            </a:r>
            <a:r>
              <a:rPr lang="en-US" altLang="zh-TW" sz="1600" dirty="0"/>
              <a:t>: If an item is referenced, items whose addresses are close by tend to be referenced soon., e.g., instruction access, array data structure</a:t>
            </a:r>
          </a:p>
        </p:txBody>
      </p:sp>
      <p:grpSp>
        <p:nvGrpSpPr>
          <p:cNvPr id="2" name="组合 1">
            <a:extLst>
              <a:ext uri="{FF2B5EF4-FFF2-40B4-BE49-F238E27FC236}">
                <a16:creationId xmlns:a16="http://schemas.microsoft.com/office/drawing/2014/main" id="{937AF71A-4030-4BB2-8C84-71FE90B838CB}"/>
              </a:ext>
            </a:extLst>
          </p:cNvPr>
          <p:cNvGrpSpPr/>
          <p:nvPr/>
        </p:nvGrpSpPr>
        <p:grpSpPr>
          <a:xfrm>
            <a:off x="1896243" y="2979173"/>
            <a:ext cx="5551691" cy="1570704"/>
            <a:chOff x="2478805" y="3222521"/>
            <a:chExt cx="5169572" cy="1384253"/>
          </a:xfrm>
        </p:grpSpPr>
        <p:sp>
          <p:nvSpPr>
            <p:cNvPr id="13315" name="Rectangle 3"/>
            <p:cNvSpPr>
              <a:spLocks noChangeArrowheads="1"/>
            </p:cNvSpPr>
            <p:nvPr/>
          </p:nvSpPr>
          <p:spPr bwMode="auto">
            <a:xfrm>
              <a:off x="2478805" y="3536846"/>
              <a:ext cx="1086836" cy="4331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47625" tIns="19050" rIns="47625" bIns="19050">
              <a:spAutoFit/>
            </a:bodyPr>
            <a:lstStyle/>
            <a:p>
              <a:pPr eaLnBrk="0" hangingPunct="0">
                <a:lnSpc>
                  <a:spcPct val="95000"/>
                </a:lnSpc>
              </a:pPr>
              <a:r>
                <a:rPr lang="en-US" altLang="zh-TW" sz="1350" b="1">
                  <a:latin typeface="Arial" pitchFamily="34" charset="0"/>
                </a:rPr>
                <a:t>Probability</a:t>
              </a:r>
            </a:p>
            <a:p>
              <a:pPr eaLnBrk="0" hangingPunct="0">
                <a:lnSpc>
                  <a:spcPct val="95000"/>
                </a:lnSpc>
              </a:pPr>
              <a:r>
                <a:rPr lang="en-US" altLang="zh-TW" sz="1350" b="1">
                  <a:latin typeface="Arial" pitchFamily="34" charset="0"/>
                </a:rPr>
                <a:t>of reference</a:t>
              </a:r>
            </a:p>
          </p:txBody>
        </p:sp>
        <p:sp>
          <p:nvSpPr>
            <p:cNvPr id="13316" name="Rectangle 4" descr="25%"/>
            <p:cNvSpPr>
              <a:spLocks noChangeArrowheads="1"/>
            </p:cNvSpPr>
            <p:nvPr/>
          </p:nvSpPr>
          <p:spPr bwMode="auto">
            <a:xfrm>
              <a:off x="5439966" y="3771400"/>
              <a:ext cx="283369" cy="552450"/>
            </a:xfrm>
            <a:prstGeom prst="rect">
              <a:avLst/>
            </a:prstGeom>
            <a:pattFill prst="pct25">
              <a:fgClr>
                <a:schemeClr val="accent1"/>
              </a:fgClr>
              <a:bgClr>
                <a:schemeClr val="bg1"/>
              </a:bgClr>
            </a:pattFill>
            <a:ln>
              <a:noFill/>
            </a:ln>
            <a:extLst>
              <a:ext uri="{91240B29-F687-4F45-9708-019B960494DF}">
                <a14:hiddenLine xmlns:a14="http://schemas.microsoft.com/office/drawing/2010/main" w="28575">
                  <a:solidFill>
                    <a:srgbClr val="000000"/>
                  </a:solidFill>
                  <a:miter lim="800000"/>
                  <a:headEnd/>
                  <a:tailEnd/>
                </a14:hiddenLine>
              </a:ext>
            </a:extLst>
          </p:spPr>
          <p:txBody>
            <a:bodyPr wrap="none" anchor="ctr"/>
            <a:lstStyle/>
            <a:p>
              <a:pPr eaLnBrk="0" hangingPunct="0"/>
              <a:endParaRPr lang="zh-TW" altLang="en-US" sz="1350"/>
            </a:p>
          </p:txBody>
        </p:sp>
        <p:sp>
          <p:nvSpPr>
            <p:cNvPr id="13317" name="Rectangle 5" descr="25%"/>
            <p:cNvSpPr>
              <a:spLocks noChangeArrowheads="1"/>
            </p:cNvSpPr>
            <p:nvPr/>
          </p:nvSpPr>
          <p:spPr bwMode="auto">
            <a:xfrm>
              <a:off x="4667250" y="3222521"/>
              <a:ext cx="276225" cy="1101329"/>
            </a:xfrm>
            <a:prstGeom prst="rect">
              <a:avLst/>
            </a:prstGeom>
            <a:pattFill prst="pct25">
              <a:fgClr>
                <a:schemeClr val="accent1"/>
              </a:fgClr>
              <a:bgClr>
                <a:schemeClr val="bg1"/>
              </a:bgClr>
            </a:pattFill>
            <a:ln>
              <a:noFill/>
            </a:ln>
            <a:extLst>
              <a:ext uri="{91240B29-F687-4F45-9708-019B960494DF}">
                <a14:hiddenLine xmlns:a14="http://schemas.microsoft.com/office/drawing/2010/main" w="28575">
                  <a:solidFill>
                    <a:srgbClr val="000000"/>
                  </a:solidFill>
                  <a:miter lim="800000"/>
                  <a:headEnd/>
                  <a:tailEnd/>
                </a14:hiddenLine>
              </a:ext>
            </a:extLst>
          </p:spPr>
          <p:txBody>
            <a:bodyPr wrap="none" anchor="ctr"/>
            <a:lstStyle/>
            <a:p>
              <a:pPr eaLnBrk="0" hangingPunct="0"/>
              <a:endParaRPr lang="zh-TW" altLang="en-US" sz="1350"/>
            </a:p>
          </p:txBody>
        </p:sp>
        <p:sp>
          <p:nvSpPr>
            <p:cNvPr id="13318" name="Line 6"/>
            <p:cNvSpPr>
              <a:spLocks noChangeShapeType="1"/>
            </p:cNvSpPr>
            <p:nvPr/>
          </p:nvSpPr>
          <p:spPr bwMode="auto">
            <a:xfrm>
              <a:off x="3748088" y="3222521"/>
              <a:ext cx="0" cy="1101329"/>
            </a:xfrm>
            <a:prstGeom prst="line">
              <a:avLst/>
            </a:prstGeom>
            <a:noFill/>
            <a:ln w="28575">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TW" altLang="en-US" sz="1350"/>
            </a:p>
          </p:txBody>
        </p:sp>
        <p:sp>
          <p:nvSpPr>
            <p:cNvPr id="13319" name="Line 7"/>
            <p:cNvSpPr>
              <a:spLocks noChangeShapeType="1"/>
            </p:cNvSpPr>
            <p:nvPr/>
          </p:nvSpPr>
          <p:spPr bwMode="auto">
            <a:xfrm>
              <a:off x="3744653" y="4317352"/>
              <a:ext cx="3524250" cy="0"/>
            </a:xfrm>
            <a:prstGeom prst="line">
              <a:avLst/>
            </a:prstGeom>
            <a:noFill/>
            <a:ln w="28575">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TW" altLang="en-US" sz="1350"/>
            </a:p>
          </p:txBody>
        </p:sp>
        <p:sp>
          <p:nvSpPr>
            <p:cNvPr id="13320" name="Rectangle 8"/>
            <p:cNvSpPr>
              <a:spLocks noChangeArrowheads="1"/>
            </p:cNvSpPr>
            <p:nvPr/>
          </p:nvSpPr>
          <p:spPr bwMode="auto">
            <a:xfrm>
              <a:off x="4738688" y="4391715"/>
              <a:ext cx="1298432" cy="2150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47625" tIns="19050" rIns="47625" bIns="19050">
              <a:spAutoFit/>
            </a:bodyPr>
            <a:lstStyle/>
            <a:p>
              <a:pPr eaLnBrk="0" hangingPunct="0">
                <a:lnSpc>
                  <a:spcPct val="85000"/>
                </a:lnSpc>
              </a:pPr>
              <a:r>
                <a:rPr lang="en-US" altLang="zh-TW" sz="1350" b="1">
                  <a:latin typeface="Arial" pitchFamily="34" charset="0"/>
                </a:rPr>
                <a:t>address space</a:t>
              </a:r>
            </a:p>
          </p:txBody>
        </p:sp>
        <p:sp>
          <p:nvSpPr>
            <p:cNvPr id="13321" name="Rectangle 9"/>
            <p:cNvSpPr>
              <a:spLocks noChangeArrowheads="1"/>
            </p:cNvSpPr>
            <p:nvPr/>
          </p:nvSpPr>
          <p:spPr bwMode="auto">
            <a:xfrm>
              <a:off x="3679031" y="4339328"/>
              <a:ext cx="192360" cy="2150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47625" tIns="19050" rIns="47625" bIns="19050">
              <a:spAutoFit/>
            </a:bodyPr>
            <a:lstStyle/>
            <a:p>
              <a:pPr eaLnBrk="0" hangingPunct="0">
                <a:lnSpc>
                  <a:spcPct val="85000"/>
                </a:lnSpc>
              </a:pPr>
              <a:r>
                <a:rPr lang="zh-TW" altLang="en-US" sz="1350" b="1">
                  <a:latin typeface="Arial" pitchFamily="34" charset="0"/>
                </a:rPr>
                <a:t>0</a:t>
              </a:r>
            </a:p>
          </p:txBody>
        </p:sp>
        <p:sp>
          <p:nvSpPr>
            <p:cNvPr id="13322" name="Rectangle 10"/>
            <p:cNvSpPr>
              <a:spLocks noChangeArrowheads="1"/>
            </p:cNvSpPr>
            <p:nvPr/>
          </p:nvSpPr>
          <p:spPr bwMode="auto">
            <a:xfrm>
              <a:off x="7135416" y="4339328"/>
              <a:ext cx="512961" cy="2150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47625" tIns="19050" rIns="47625" bIns="19050">
              <a:spAutoFit/>
            </a:bodyPr>
            <a:lstStyle/>
            <a:p>
              <a:pPr eaLnBrk="0" hangingPunct="0">
                <a:lnSpc>
                  <a:spcPct val="85000"/>
                </a:lnSpc>
              </a:pPr>
              <a:r>
                <a:rPr lang="zh-TW" altLang="en-US" sz="1350" b="1">
                  <a:latin typeface="Arial" pitchFamily="34" charset="0"/>
                </a:rPr>
                <a:t>2</a:t>
              </a:r>
              <a:r>
                <a:rPr lang="en-US" altLang="zh-TW" sz="1350" b="1" baseline="30000">
                  <a:latin typeface="Arial" pitchFamily="34" charset="0"/>
                </a:rPr>
                <a:t>n</a:t>
              </a:r>
              <a:r>
                <a:rPr lang="en-US" altLang="zh-TW" sz="1350" b="1">
                  <a:latin typeface="Arial" pitchFamily="34" charset="0"/>
                </a:rPr>
                <a:t> - 1</a:t>
              </a:r>
            </a:p>
          </p:txBody>
        </p:sp>
        <p:sp>
          <p:nvSpPr>
            <p:cNvPr id="13323" name="Line 11"/>
            <p:cNvSpPr>
              <a:spLocks noChangeShapeType="1"/>
            </p:cNvSpPr>
            <p:nvPr/>
          </p:nvSpPr>
          <p:spPr bwMode="auto">
            <a:xfrm>
              <a:off x="3748088" y="4266700"/>
              <a:ext cx="847725" cy="0"/>
            </a:xfrm>
            <a:prstGeom prst="line">
              <a:avLst/>
            </a:prstGeom>
            <a:noFill/>
            <a:ln w="28575">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TW" altLang="en-US" sz="1350"/>
            </a:p>
          </p:txBody>
        </p:sp>
        <p:sp>
          <p:nvSpPr>
            <p:cNvPr id="13324" name="Line 12"/>
            <p:cNvSpPr>
              <a:spLocks noChangeShapeType="1"/>
            </p:cNvSpPr>
            <p:nvPr/>
          </p:nvSpPr>
          <p:spPr bwMode="auto">
            <a:xfrm flipV="1">
              <a:off x="4595813" y="3276100"/>
              <a:ext cx="210741" cy="990600"/>
            </a:xfrm>
            <a:prstGeom prst="line">
              <a:avLst/>
            </a:prstGeom>
            <a:noFill/>
            <a:ln w="28575">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TW" altLang="en-US" sz="1350"/>
            </a:p>
          </p:txBody>
        </p:sp>
        <p:sp>
          <p:nvSpPr>
            <p:cNvPr id="13325" name="Line 13"/>
            <p:cNvSpPr>
              <a:spLocks noChangeShapeType="1"/>
            </p:cNvSpPr>
            <p:nvPr/>
          </p:nvSpPr>
          <p:spPr bwMode="auto">
            <a:xfrm>
              <a:off x="4806554" y="3276100"/>
              <a:ext cx="210740" cy="990600"/>
            </a:xfrm>
            <a:prstGeom prst="line">
              <a:avLst/>
            </a:prstGeom>
            <a:noFill/>
            <a:ln w="28575">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TW" altLang="en-US" sz="1350"/>
            </a:p>
          </p:txBody>
        </p:sp>
        <p:sp>
          <p:nvSpPr>
            <p:cNvPr id="13326" name="Line 14"/>
            <p:cNvSpPr>
              <a:spLocks noChangeShapeType="1"/>
            </p:cNvSpPr>
            <p:nvPr/>
          </p:nvSpPr>
          <p:spPr bwMode="auto">
            <a:xfrm>
              <a:off x="5017294" y="4266700"/>
              <a:ext cx="352425" cy="0"/>
            </a:xfrm>
            <a:prstGeom prst="line">
              <a:avLst/>
            </a:prstGeom>
            <a:noFill/>
            <a:ln w="28575">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TW" altLang="en-US" sz="1350"/>
            </a:p>
          </p:txBody>
        </p:sp>
        <p:sp>
          <p:nvSpPr>
            <p:cNvPr id="13327" name="Line 15"/>
            <p:cNvSpPr>
              <a:spLocks noChangeShapeType="1"/>
            </p:cNvSpPr>
            <p:nvPr/>
          </p:nvSpPr>
          <p:spPr bwMode="auto">
            <a:xfrm flipV="1">
              <a:off x="5369719" y="3824978"/>
              <a:ext cx="210741" cy="441722"/>
            </a:xfrm>
            <a:prstGeom prst="line">
              <a:avLst/>
            </a:prstGeom>
            <a:noFill/>
            <a:ln w="28575">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TW" altLang="en-US" sz="1350"/>
            </a:p>
          </p:txBody>
        </p:sp>
        <p:sp>
          <p:nvSpPr>
            <p:cNvPr id="13328" name="Line 16"/>
            <p:cNvSpPr>
              <a:spLocks noChangeShapeType="1"/>
            </p:cNvSpPr>
            <p:nvPr/>
          </p:nvSpPr>
          <p:spPr bwMode="auto">
            <a:xfrm>
              <a:off x="5580460" y="3824978"/>
              <a:ext cx="142875" cy="441722"/>
            </a:xfrm>
            <a:prstGeom prst="line">
              <a:avLst/>
            </a:prstGeom>
            <a:noFill/>
            <a:ln w="28575">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TW" altLang="en-US" sz="1350"/>
            </a:p>
          </p:txBody>
        </p:sp>
        <p:sp>
          <p:nvSpPr>
            <p:cNvPr id="13329" name="Line 17"/>
            <p:cNvSpPr>
              <a:spLocks noChangeShapeType="1"/>
            </p:cNvSpPr>
            <p:nvPr/>
          </p:nvSpPr>
          <p:spPr bwMode="auto">
            <a:xfrm>
              <a:off x="5723335" y="4266700"/>
              <a:ext cx="1057275" cy="0"/>
            </a:xfrm>
            <a:prstGeom prst="line">
              <a:avLst/>
            </a:prstGeom>
            <a:noFill/>
            <a:ln w="28575">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TW" altLang="en-US" sz="1350"/>
            </a:p>
          </p:txBody>
        </p:sp>
      </p:grpSp>
      <p:sp>
        <p:nvSpPr>
          <p:cNvPr id="13330" name="Rectangle 18"/>
          <p:cNvSpPr>
            <a:spLocks noGrp="1" noChangeArrowheads="1"/>
          </p:cNvSpPr>
          <p:nvPr>
            <p:ph type="title"/>
          </p:nvPr>
        </p:nvSpPr>
        <p:spPr>
          <a:xfrm>
            <a:off x="995517" y="129779"/>
            <a:ext cx="6734022" cy="474905"/>
          </a:xfrm>
        </p:spPr>
        <p:txBody>
          <a:bodyPr/>
          <a:lstStyle/>
          <a:p>
            <a:r>
              <a:rPr lang="en-US" altLang="zh-TW" dirty="0"/>
              <a:t>Why Hierarchy Works</a:t>
            </a:r>
          </a:p>
        </p:txBody>
      </p:sp>
      <p:sp>
        <p:nvSpPr>
          <p:cNvPr id="20" name="Slide Number Placeholder 5">
            <a:extLst>
              <a:ext uri="{FF2B5EF4-FFF2-40B4-BE49-F238E27FC236}">
                <a16:creationId xmlns:a16="http://schemas.microsoft.com/office/drawing/2014/main" id="{CAE9AD4B-DFA4-4975-A07E-232029F131AD}"/>
              </a:ext>
            </a:extLst>
          </p:cNvPr>
          <p:cNvSpPr>
            <a:spLocks noGrp="1"/>
          </p:cNvSpPr>
          <p:nvPr>
            <p:ph type="sldNum" sz="quarter" idx="10"/>
          </p:nvPr>
        </p:nvSpPr>
        <p:spPr>
          <a:xfrm>
            <a:off x="6831013" y="4893471"/>
            <a:ext cx="2133600" cy="254794"/>
          </a:xfrm>
        </p:spPr>
        <p:txBody>
          <a:bodyPr/>
          <a:lstStyle/>
          <a:p>
            <a:fld id="{D9B6BDF2-6896-4B98-8776-C18582F63BA5}" type="slidenum">
              <a:rPr lang="zh-TW" altLang="en-US" smtClean="0"/>
              <a:pPr/>
              <a:t>7</a:t>
            </a:fld>
            <a:endParaRPr lang="zh-TW" altLang="en-US"/>
          </a:p>
        </p:txBody>
      </p:sp>
    </p:spTree>
    <p:extLst>
      <p:ext uri="{BB962C8B-B14F-4D97-AF65-F5344CB8AC3E}">
        <p14:creationId xmlns:p14="http://schemas.microsoft.com/office/powerpoint/2010/main" val="81160941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 name="Slide Number Placeholder 5">
            <a:extLst>
              <a:ext uri="{FF2B5EF4-FFF2-40B4-BE49-F238E27FC236}">
                <a16:creationId xmlns:a16="http://schemas.microsoft.com/office/drawing/2014/main" id="{73B89A86-E346-4FC6-B4C5-652C6E49FBEB}"/>
              </a:ext>
            </a:extLst>
          </p:cNvPr>
          <p:cNvSpPr>
            <a:spLocks noGrp="1"/>
          </p:cNvSpPr>
          <p:nvPr>
            <p:ph type="sldNum" sz="quarter" idx="10"/>
          </p:nvPr>
        </p:nvSpPr>
        <p:spPr>
          <a:xfrm>
            <a:off x="6831013" y="4893471"/>
            <a:ext cx="2133600" cy="254794"/>
          </a:xfrm>
        </p:spPr>
        <p:txBody>
          <a:bodyPr/>
          <a:lstStyle/>
          <a:p>
            <a:fld id="{D9B6BDF2-6896-4B98-8776-C18582F63BA5}" type="slidenum">
              <a:rPr lang="zh-TW" altLang="en-US" smtClean="0"/>
              <a:pPr/>
              <a:t>8</a:t>
            </a:fld>
            <a:endParaRPr lang="zh-TW" altLang="en-US"/>
          </a:p>
        </p:txBody>
      </p:sp>
      <p:grpSp>
        <p:nvGrpSpPr>
          <p:cNvPr id="33" name="组合 32">
            <a:extLst>
              <a:ext uri="{FF2B5EF4-FFF2-40B4-BE49-F238E27FC236}">
                <a16:creationId xmlns:a16="http://schemas.microsoft.com/office/drawing/2014/main" id="{FD92482E-32CD-430A-8E20-E754B189AD52}"/>
              </a:ext>
            </a:extLst>
          </p:cNvPr>
          <p:cNvGrpSpPr/>
          <p:nvPr/>
        </p:nvGrpSpPr>
        <p:grpSpPr>
          <a:xfrm>
            <a:off x="966019" y="971301"/>
            <a:ext cx="7248833" cy="3607250"/>
            <a:chOff x="1912938" y="1004902"/>
            <a:chExt cx="7795179" cy="5435583"/>
          </a:xfrm>
        </p:grpSpPr>
        <p:sp>
          <p:nvSpPr>
            <p:cNvPr id="34" name="Rectangle 2">
              <a:extLst>
                <a:ext uri="{FF2B5EF4-FFF2-40B4-BE49-F238E27FC236}">
                  <a16:creationId xmlns:a16="http://schemas.microsoft.com/office/drawing/2014/main" id="{1E9149B2-E050-4B2B-9CBF-58C236486D42}"/>
                </a:ext>
              </a:extLst>
            </p:cNvPr>
            <p:cNvSpPr>
              <a:spLocks noChangeArrowheads="1"/>
            </p:cNvSpPr>
            <p:nvPr/>
          </p:nvSpPr>
          <p:spPr bwMode="auto">
            <a:xfrm>
              <a:off x="3563938" y="1689100"/>
              <a:ext cx="1292225" cy="431800"/>
            </a:xfrm>
            <a:prstGeom prst="rect">
              <a:avLst/>
            </a:prstGeom>
            <a:gradFill rotWithShape="0">
              <a:gsLst>
                <a:gs pos="0">
                  <a:srgbClr val="767647"/>
                </a:gs>
                <a:gs pos="50000">
                  <a:srgbClr val="FFFF99"/>
                </a:gs>
                <a:gs pos="100000">
                  <a:srgbClr val="767647"/>
                </a:gs>
              </a:gsLst>
              <a:lin ang="0" scaled="1"/>
            </a:gradFill>
            <a:ln w="25400">
              <a:solidFill>
                <a:schemeClr val="tx1"/>
              </a:solidFill>
              <a:miter lim="800000"/>
              <a:headEnd/>
              <a:tailEnd/>
            </a:ln>
          </p:spPr>
          <p:txBody>
            <a:bodyPr wrap="none" anchor="ctr"/>
            <a:lstStyle/>
            <a:p>
              <a:endParaRPr lang="zh-TW" altLang="en-US" sz="1400"/>
            </a:p>
          </p:txBody>
        </p:sp>
        <p:sp>
          <p:nvSpPr>
            <p:cNvPr id="35" name="Rectangle 3">
              <a:extLst>
                <a:ext uri="{FF2B5EF4-FFF2-40B4-BE49-F238E27FC236}">
                  <a16:creationId xmlns:a16="http://schemas.microsoft.com/office/drawing/2014/main" id="{A125B69F-2240-44BA-AA0B-43C4DCF7CC88}"/>
                </a:ext>
              </a:extLst>
            </p:cNvPr>
            <p:cNvSpPr>
              <a:spLocks noChangeArrowheads="1"/>
            </p:cNvSpPr>
            <p:nvPr/>
          </p:nvSpPr>
          <p:spPr bwMode="auto">
            <a:xfrm>
              <a:off x="3151188" y="2679700"/>
              <a:ext cx="2117725" cy="508000"/>
            </a:xfrm>
            <a:prstGeom prst="rect">
              <a:avLst/>
            </a:prstGeom>
            <a:gradFill rotWithShape="0">
              <a:gsLst>
                <a:gs pos="0">
                  <a:srgbClr val="767647"/>
                </a:gs>
                <a:gs pos="50000">
                  <a:srgbClr val="FFFF99"/>
                </a:gs>
                <a:gs pos="100000">
                  <a:srgbClr val="767647"/>
                </a:gs>
              </a:gsLst>
              <a:lin ang="0" scaled="1"/>
            </a:gradFill>
            <a:ln w="25400">
              <a:solidFill>
                <a:schemeClr val="tx1"/>
              </a:solidFill>
              <a:miter lim="800000"/>
              <a:headEnd/>
              <a:tailEnd/>
            </a:ln>
          </p:spPr>
          <p:txBody>
            <a:bodyPr wrap="none" anchor="ctr"/>
            <a:lstStyle/>
            <a:p>
              <a:endParaRPr lang="zh-TW" altLang="en-US" sz="1400"/>
            </a:p>
          </p:txBody>
        </p:sp>
        <p:sp>
          <p:nvSpPr>
            <p:cNvPr id="36" name="Rectangle 4">
              <a:extLst>
                <a:ext uri="{FF2B5EF4-FFF2-40B4-BE49-F238E27FC236}">
                  <a16:creationId xmlns:a16="http://schemas.microsoft.com/office/drawing/2014/main" id="{0A82AE16-CC61-46D1-86CF-670366DBF0F6}"/>
                </a:ext>
              </a:extLst>
            </p:cNvPr>
            <p:cNvSpPr>
              <a:spLocks noChangeArrowheads="1"/>
            </p:cNvSpPr>
            <p:nvPr/>
          </p:nvSpPr>
          <p:spPr bwMode="auto">
            <a:xfrm>
              <a:off x="2868567" y="3746500"/>
              <a:ext cx="3108325" cy="508000"/>
            </a:xfrm>
            <a:prstGeom prst="rect">
              <a:avLst/>
            </a:prstGeom>
            <a:gradFill rotWithShape="0">
              <a:gsLst>
                <a:gs pos="0">
                  <a:srgbClr val="767647"/>
                </a:gs>
                <a:gs pos="50000">
                  <a:srgbClr val="FFFF99"/>
                </a:gs>
                <a:gs pos="100000">
                  <a:srgbClr val="767647"/>
                </a:gs>
              </a:gsLst>
              <a:lin ang="0" scaled="1"/>
            </a:gradFill>
            <a:ln w="25400">
              <a:solidFill>
                <a:schemeClr val="tx1"/>
              </a:solidFill>
              <a:miter lim="800000"/>
              <a:headEnd/>
              <a:tailEnd/>
            </a:ln>
          </p:spPr>
          <p:txBody>
            <a:bodyPr wrap="none" anchor="ctr"/>
            <a:lstStyle/>
            <a:p>
              <a:endParaRPr lang="zh-TW" altLang="en-US" sz="1400"/>
            </a:p>
          </p:txBody>
        </p:sp>
        <p:sp>
          <p:nvSpPr>
            <p:cNvPr id="37" name="Rectangle 5">
              <a:extLst>
                <a:ext uri="{FF2B5EF4-FFF2-40B4-BE49-F238E27FC236}">
                  <a16:creationId xmlns:a16="http://schemas.microsoft.com/office/drawing/2014/main" id="{771B19BD-47A7-4204-A666-E602B788A0AE}"/>
                </a:ext>
              </a:extLst>
            </p:cNvPr>
            <p:cNvSpPr>
              <a:spLocks noChangeArrowheads="1"/>
            </p:cNvSpPr>
            <p:nvPr/>
          </p:nvSpPr>
          <p:spPr bwMode="auto">
            <a:xfrm>
              <a:off x="2243138" y="4813300"/>
              <a:ext cx="4264025" cy="508000"/>
            </a:xfrm>
            <a:prstGeom prst="rect">
              <a:avLst/>
            </a:prstGeom>
            <a:gradFill rotWithShape="0">
              <a:gsLst>
                <a:gs pos="0">
                  <a:srgbClr val="767647"/>
                </a:gs>
                <a:gs pos="50000">
                  <a:srgbClr val="FFFF99"/>
                </a:gs>
                <a:gs pos="100000">
                  <a:srgbClr val="767647"/>
                </a:gs>
              </a:gsLst>
              <a:lin ang="0" scaled="1"/>
            </a:gradFill>
            <a:ln w="25400">
              <a:solidFill>
                <a:schemeClr val="tx1"/>
              </a:solidFill>
              <a:miter lim="800000"/>
              <a:headEnd/>
              <a:tailEnd/>
            </a:ln>
          </p:spPr>
          <p:txBody>
            <a:bodyPr wrap="none" anchor="ctr"/>
            <a:lstStyle/>
            <a:p>
              <a:endParaRPr lang="zh-TW" altLang="en-US" sz="1400" dirty="0"/>
            </a:p>
          </p:txBody>
        </p:sp>
        <p:sp>
          <p:nvSpPr>
            <p:cNvPr id="38" name="Rectangle 6">
              <a:extLst>
                <a:ext uri="{FF2B5EF4-FFF2-40B4-BE49-F238E27FC236}">
                  <a16:creationId xmlns:a16="http://schemas.microsoft.com/office/drawing/2014/main" id="{44E9ED36-D6A6-4594-B25C-F47616836DD3}"/>
                </a:ext>
              </a:extLst>
            </p:cNvPr>
            <p:cNvSpPr>
              <a:spLocks noChangeArrowheads="1"/>
            </p:cNvSpPr>
            <p:nvPr/>
          </p:nvSpPr>
          <p:spPr bwMode="auto">
            <a:xfrm>
              <a:off x="1912938" y="5880100"/>
              <a:ext cx="5089525" cy="508000"/>
            </a:xfrm>
            <a:prstGeom prst="rect">
              <a:avLst/>
            </a:prstGeom>
            <a:gradFill rotWithShape="0">
              <a:gsLst>
                <a:gs pos="0">
                  <a:srgbClr val="767647"/>
                </a:gs>
                <a:gs pos="50000">
                  <a:srgbClr val="FFFF99"/>
                </a:gs>
                <a:gs pos="100000">
                  <a:srgbClr val="767647"/>
                </a:gs>
              </a:gsLst>
              <a:lin ang="0" scaled="1"/>
            </a:gradFill>
            <a:ln w="25400">
              <a:solidFill>
                <a:schemeClr val="tx1"/>
              </a:solidFill>
              <a:miter lim="800000"/>
              <a:headEnd/>
              <a:tailEnd/>
            </a:ln>
          </p:spPr>
          <p:txBody>
            <a:bodyPr wrap="none" anchor="ctr"/>
            <a:lstStyle/>
            <a:p>
              <a:endParaRPr lang="zh-TW" altLang="en-US" sz="1400"/>
            </a:p>
          </p:txBody>
        </p:sp>
        <p:sp>
          <p:nvSpPr>
            <p:cNvPr id="39" name="Rectangle 7">
              <a:extLst>
                <a:ext uri="{FF2B5EF4-FFF2-40B4-BE49-F238E27FC236}">
                  <a16:creationId xmlns:a16="http://schemas.microsoft.com/office/drawing/2014/main" id="{F775AEB7-BEAA-47F4-B39D-38B6615C4B9A}"/>
                </a:ext>
              </a:extLst>
            </p:cNvPr>
            <p:cNvSpPr>
              <a:spLocks noChangeArrowheads="1"/>
            </p:cNvSpPr>
            <p:nvPr/>
          </p:nvSpPr>
          <p:spPr bwMode="auto">
            <a:xfrm>
              <a:off x="3662349" y="1733554"/>
              <a:ext cx="1298453" cy="329965"/>
            </a:xfrm>
            <a:prstGeom prst="rect">
              <a:avLst/>
            </a:prstGeom>
            <a:noFill/>
            <a:ln w="9525">
              <a:noFill/>
              <a:miter lim="800000"/>
              <a:headEnd/>
              <a:tailEnd/>
            </a:ln>
          </p:spPr>
          <p:txBody>
            <a:bodyPr wrap="none" lIns="63500" tIns="25400" rIns="63500" bIns="25400">
              <a:spAutoFit/>
            </a:bodyPr>
            <a:lstStyle/>
            <a:p>
              <a:pPr>
                <a:lnSpc>
                  <a:spcPct val="85000"/>
                </a:lnSpc>
              </a:pPr>
              <a:r>
                <a:rPr kumimoji="1" lang="en-US" altLang="zh-TW" sz="1400" b="1" dirty="0">
                  <a:latin typeface="Arial" pitchFamily="34" charset="0"/>
                </a:rPr>
                <a:t>Registers</a:t>
              </a:r>
            </a:p>
          </p:txBody>
        </p:sp>
        <p:sp>
          <p:nvSpPr>
            <p:cNvPr id="40" name="Rectangle 8">
              <a:extLst>
                <a:ext uri="{FF2B5EF4-FFF2-40B4-BE49-F238E27FC236}">
                  <a16:creationId xmlns:a16="http://schemas.microsoft.com/office/drawing/2014/main" id="{BF5A993C-73A6-469B-9EAB-E735F51B276D}"/>
                </a:ext>
              </a:extLst>
            </p:cNvPr>
            <p:cNvSpPr>
              <a:spLocks noChangeArrowheads="1"/>
            </p:cNvSpPr>
            <p:nvPr/>
          </p:nvSpPr>
          <p:spPr bwMode="auto">
            <a:xfrm>
              <a:off x="3813017" y="2779713"/>
              <a:ext cx="788186" cy="353240"/>
            </a:xfrm>
            <a:prstGeom prst="rect">
              <a:avLst/>
            </a:prstGeom>
            <a:noFill/>
            <a:ln w="9525">
              <a:noFill/>
              <a:miter lim="800000"/>
              <a:headEnd/>
              <a:tailEnd/>
            </a:ln>
          </p:spPr>
          <p:txBody>
            <a:bodyPr wrap="square" lIns="63500" tIns="25400" rIns="63500" bIns="25400">
              <a:spAutoFit/>
            </a:bodyPr>
            <a:lstStyle/>
            <a:p>
              <a:pPr>
                <a:lnSpc>
                  <a:spcPct val="85000"/>
                </a:lnSpc>
              </a:pPr>
              <a:r>
                <a:rPr kumimoji="1" lang="en-US" altLang="zh-TW" sz="1400" b="1" dirty="0">
                  <a:latin typeface="Arial" pitchFamily="34" charset="0"/>
                </a:rPr>
                <a:t>Cache</a:t>
              </a:r>
            </a:p>
          </p:txBody>
        </p:sp>
        <p:sp>
          <p:nvSpPr>
            <p:cNvPr id="41" name="Rectangle 9">
              <a:extLst>
                <a:ext uri="{FF2B5EF4-FFF2-40B4-BE49-F238E27FC236}">
                  <a16:creationId xmlns:a16="http://schemas.microsoft.com/office/drawing/2014/main" id="{33A227B2-547E-45AA-89B6-053EE5665A82}"/>
                </a:ext>
              </a:extLst>
            </p:cNvPr>
            <p:cNvSpPr>
              <a:spLocks noChangeArrowheads="1"/>
            </p:cNvSpPr>
            <p:nvPr/>
          </p:nvSpPr>
          <p:spPr bwMode="auto">
            <a:xfrm>
              <a:off x="3792479" y="3846513"/>
              <a:ext cx="895957" cy="350629"/>
            </a:xfrm>
            <a:prstGeom prst="rect">
              <a:avLst/>
            </a:prstGeom>
            <a:noFill/>
            <a:ln w="9525">
              <a:noFill/>
              <a:miter lim="800000"/>
              <a:headEnd/>
              <a:tailEnd/>
            </a:ln>
          </p:spPr>
          <p:txBody>
            <a:bodyPr wrap="square" lIns="63500" tIns="25400" rIns="63500" bIns="25400">
              <a:spAutoFit/>
            </a:bodyPr>
            <a:lstStyle/>
            <a:p>
              <a:pPr>
                <a:lnSpc>
                  <a:spcPct val="85000"/>
                </a:lnSpc>
              </a:pPr>
              <a:r>
                <a:rPr kumimoji="1" lang="en-US" altLang="zh-TW" sz="1400" b="1" dirty="0">
                  <a:latin typeface="Arial" pitchFamily="34" charset="0"/>
                </a:rPr>
                <a:t>Memory</a:t>
              </a:r>
            </a:p>
          </p:txBody>
        </p:sp>
        <p:sp>
          <p:nvSpPr>
            <p:cNvPr id="42" name="Rectangle 10">
              <a:extLst>
                <a:ext uri="{FF2B5EF4-FFF2-40B4-BE49-F238E27FC236}">
                  <a16:creationId xmlns:a16="http://schemas.microsoft.com/office/drawing/2014/main" id="{1C4BECD8-C286-4DA1-BDAC-0F9B47854D56}"/>
                </a:ext>
              </a:extLst>
            </p:cNvPr>
            <p:cNvSpPr>
              <a:spLocks noChangeArrowheads="1"/>
            </p:cNvSpPr>
            <p:nvPr/>
          </p:nvSpPr>
          <p:spPr bwMode="auto">
            <a:xfrm>
              <a:off x="3919357" y="4913311"/>
              <a:ext cx="696623" cy="329965"/>
            </a:xfrm>
            <a:prstGeom prst="rect">
              <a:avLst/>
            </a:prstGeom>
            <a:noFill/>
            <a:ln w="9525">
              <a:noFill/>
              <a:miter lim="800000"/>
              <a:headEnd/>
              <a:tailEnd/>
            </a:ln>
          </p:spPr>
          <p:txBody>
            <a:bodyPr wrap="none" lIns="63500" tIns="25400" rIns="63500" bIns="25400">
              <a:spAutoFit/>
            </a:bodyPr>
            <a:lstStyle/>
            <a:p>
              <a:pPr>
                <a:lnSpc>
                  <a:spcPct val="85000"/>
                </a:lnSpc>
              </a:pPr>
              <a:r>
                <a:rPr kumimoji="1" lang="en-US" altLang="zh-TW" sz="1400" b="1" dirty="0">
                  <a:latin typeface="Arial" pitchFamily="34" charset="0"/>
                </a:rPr>
                <a:t>Disk</a:t>
              </a:r>
            </a:p>
          </p:txBody>
        </p:sp>
        <p:sp>
          <p:nvSpPr>
            <p:cNvPr id="43" name="Rectangle 11">
              <a:extLst>
                <a:ext uri="{FF2B5EF4-FFF2-40B4-BE49-F238E27FC236}">
                  <a16:creationId xmlns:a16="http://schemas.microsoft.com/office/drawing/2014/main" id="{8F4398BD-139C-4501-9D6A-0BFC788D92D5}"/>
                </a:ext>
              </a:extLst>
            </p:cNvPr>
            <p:cNvSpPr>
              <a:spLocks noChangeArrowheads="1"/>
            </p:cNvSpPr>
            <p:nvPr/>
          </p:nvSpPr>
          <p:spPr bwMode="auto">
            <a:xfrm>
              <a:off x="3898818" y="5978531"/>
              <a:ext cx="731190" cy="329965"/>
            </a:xfrm>
            <a:prstGeom prst="rect">
              <a:avLst/>
            </a:prstGeom>
            <a:noFill/>
            <a:ln w="9525">
              <a:noFill/>
              <a:miter lim="800000"/>
              <a:headEnd/>
              <a:tailEnd/>
            </a:ln>
          </p:spPr>
          <p:txBody>
            <a:bodyPr wrap="none" lIns="63500" tIns="25400" rIns="63500" bIns="25400">
              <a:spAutoFit/>
            </a:bodyPr>
            <a:lstStyle/>
            <a:p>
              <a:pPr>
                <a:lnSpc>
                  <a:spcPct val="85000"/>
                </a:lnSpc>
              </a:pPr>
              <a:r>
                <a:rPr kumimoji="1" lang="en-US" altLang="zh-TW" sz="1400" b="1" dirty="0">
                  <a:latin typeface="Arial" pitchFamily="34" charset="0"/>
                </a:rPr>
                <a:t>Tape</a:t>
              </a:r>
            </a:p>
          </p:txBody>
        </p:sp>
        <p:sp>
          <p:nvSpPr>
            <p:cNvPr id="44" name="Line 12">
              <a:extLst>
                <a:ext uri="{FF2B5EF4-FFF2-40B4-BE49-F238E27FC236}">
                  <a16:creationId xmlns:a16="http://schemas.microsoft.com/office/drawing/2014/main" id="{8DF61BB7-F68E-46AE-8F84-2DBCE7C93E83}"/>
                </a:ext>
              </a:extLst>
            </p:cNvPr>
            <p:cNvSpPr>
              <a:spLocks noChangeShapeType="1"/>
            </p:cNvSpPr>
            <p:nvPr/>
          </p:nvSpPr>
          <p:spPr bwMode="auto">
            <a:xfrm>
              <a:off x="4210050" y="2133600"/>
              <a:ext cx="0" cy="533400"/>
            </a:xfrm>
            <a:prstGeom prst="line">
              <a:avLst/>
            </a:prstGeom>
            <a:noFill/>
            <a:ln w="12700">
              <a:solidFill>
                <a:schemeClr val="tx1"/>
              </a:solidFill>
              <a:round/>
              <a:headEnd type="stealth" w="med" len="lg"/>
              <a:tailEnd type="stealth" w="med" len="lg"/>
            </a:ln>
          </p:spPr>
          <p:txBody>
            <a:bodyPr wrap="none" anchor="ctr"/>
            <a:lstStyle/>
            <a:p>
              <a:endParaRPr lang="zh-TW" altLang="en-US" sz="1400"/>
            </a:p>
          </p:txBody>
        </p:sp>
        <p:sp>
          <p:nvSpPr>
            <p:cNvPr id="45" name="Line 13">
              <a:extLst>
                <a:ext uri="{FF2B5EF4-FFF2-40B4-BE49-F238E27FC236}">
                  <a16:creationId xmlns:a16="http://schemas.microsoft.com/office/drawing/2014/main" id="{CE02E511-3ACF-4D3A-B9C9-75A38769F769}"/>
                </a:ext>
              </a:extLst>
            </p:cNvPr>
            <p:cNvSpPr>
              <a:spLocks noChangeShapeType="1"/>
            </p:cNvSpPr>
            <p:nvPr/>
          </p:nvSpPr>
          <p:spPr bwMode="auto">
            <a:xfrm>
              <a:off x="4210050" y="3200400"/>
              <a:ext cx="0" cy="533400"/>
            </a:xfrm>
            <a:prstGeom prst="line">
              <a:avLst/>
            </a:prstGeom>
            <a:noFill/>
            <a:ln w="12700">
              <a:solidFill>
                <a:schemeClr val="tx1"/>
              </a:solidFill>
              <a:round/>
              <a:headEnd type="stealth" w="med" len="lg"/>
              <a:tailEnd type="stealth" w="med" len="lg"/>
            </a:ln>
          </p:spPr>
          <p:txBody>
            <a:bodyPr wrap="none" anchor="ctr"/>
            <a:lstStyle/>
            <a:p>
              <a:endParaRPr lang="zh-TW" altLang="en-US" sz="1400"/>
            </a:p>
          </p:txBody>
        </p:sp>
        <p:sp>
          <p:nvSpPr>
            <p:cNvPr id="46" name="Line 14">
              <a:extLst>
                <a:ext uri="{FF2B5EF4-FFF2-40B4-BE49-F238E27FC236}">
                  <a16:creationId xmlns:a16="http://schemas.microsoft.com/office/drawing/2014/main" id="{DB661260-A5FA-4A16-AEC8-74E9D4992307}"/>
                </a:ext>
              </a:extLst>
            </p:cNvPr>
            <p:cNvSpPr>
              <a:spLocks noChangeShapeType="1"/>
            </p:cNvSpPr>
            <p:nvPr/>
          </p:nvSpPr>
          <p:spPr bwMode="auto">
            <a:xfrm>
              <a:off x="4210050" y="4267200"/>
              <a:ext cx="0" cy="533400"/>
            </a:xfrm>
            <a:prstGeom prst="line">
              <a:avLst/>
            </a:prstGeom>
            <a:noFill/>
            <a:ln w="25400">
              <a:solidFill>
                <a:schemeClr val="tx1"/>
              </a:solidFill>
              <a:round/>
              <a:headEnd type="stealth" w="med" len="lg"/>
              <a:tailEnd type="stealth" w="med" len="lg"/>
            </a:ln>
          </p:spPr>
          <p:txBody>
            <a:bodyPr wrap="none" anchor="ctr"/>
            <a:lstStyle/>
            <a:p>
              <a:endParaRPr lang="zh-TW" altLang="en-US" sz="1400"/>
            </a:p>
          </p:txBody>
        </p:sp>
        <p:sp>
          <p:nvSpPr>
            <p:cNvPr id="47" name="Line 15">
              <a:extLst>
                <a:ext uri="{FF2B5EF4-FFF2-40B4-BE49-F238E27FC236}">
                  <a16:creationId xmlns:a16="http://schemas.microsoft.com/office/drawing/2014/main" id="{EB977DB6-330A-4617-9A1C-92A925F389CE}"/>
                </a:ext>
              </a:extLst>
            </p:cNvPr>
            <p:cNvSpPr>
              <a:spLocks noChangeShapeType="1"/>
            </p:cNvSpPr>
            <p:nvPr/>
          </p:nvSpPr>
          <p:spPr bwMode="auto">
            <a:xfrm>
              <a:off x="4210050" y="5334000"/>
              <a:ext cx="0" cy="533400"/>
            </a:xfrm>
            <a:prstGeom prst="line">
              <a:avLst/>
            </a:prstGeom>
            <a:noFill/>
            <a:ln w="12700">
              <a:solidFill>
                <a:schemeClr val="tx1"/>
              </a:solidFill>
              <a:round/>
              <a:headEnd type="stealth" w="med" len="lg"/>
              <a:tailEnd type="stealth" w="med" len="lg"/>
            </a:ln>
          </p:spPr>
          <p:txBody>
            <a:bodyPr wrap="none" anchor="ctr"/>
            <a:lstStyle/>
            <a:p>
              <a:endParaRPr lang="zh-TW" altLang="en-US" sz="1400"/>
            </a:p>
          </p:txBody>
        </p:sp>
        <p:sp>
          <p:nvSpPr>
            <p:cNvPr id="48" name="Rectangle 16">
              <a:extLst>
                <a:ext uri="{FF2B5EF4-FFF2-40B4-BE49-F238E27FC236}">
                  <a16:creationId xmlns:a16="http://schemas.microsoft.com/office/drawing/2014/main" id="{A81759A4-B579-45F0-9168-4302AD992CB3}"/>
                </a:ext>
              </a:extLst>
            </p:cNvPr>
            <p:cNvSpPr>
              <a:spLocks noChangeArrowheads="1"/>
            </p:cNvSpPr>
            <p:nvPr/>
          </p:nvSpPr>
          <p:spPr bwMode="auto">
            <a:xfrm>
              <a:off x="4306888" y="2246314"/>
              <a:ext cx="1858044" cy="329965"/>
            </a:xfrm>
            <a:prstGeom prst="rect">
              <a:avLst/>
            </a:prstGeom>
            <a:noFill/>
            <a:ln w="9525">
              <a:noFill/>
              <a:miter lim="800000"/>
              <a:headEnd/>
              <a:tailEnd/>
            </a:ln>
          </p:spPr>
          <p:txBody>
            <a:bodyPr wrap="none" lIns="63500" tIns="25400" rIns="63500" bIns="25400">
              <a:spAutoFit/>
            </a:bodyPr>
            <a:lstStyle/>
            <a:p>
              <a:pPr>
                <a:lnSpc>
                  <a:spcPct val="85000"/>
                </a:lnSpc>
              </a:pPr>
              <a:r>
                <a:rPr kumimoji="1" lang="en-US" altLang="zh-TW" sz="1400">
                  <a:latin typeface="Arial" pitchFamily="34" charset="0"/>
                </a:rPr>
                <a:t>Instr. Operands</a:t>
              </a:r>
            </a:p>
          </p:txBody>
        </p:sp>
        <p:sp>
          <p:nvSpPr>
            <p:cNvPr id="49" name="Rectangle 17">
              <a:extLst>
                <a:ext uri="{FF2B5EF4-FFF2-40B4-BE49-F238E27FC236}">
                  <a16:creationId xmlns:a16="http://schemas.microsoft.com/office/drawing/2014/main" id="{C96E4339-07C8-47D7-9CC0-7E93A6ABFA81}"/>
                </a:ext>
              </a:extLst>
            </p:cNvPr>
            <p:cNvSpPr>
              <a:spLocks noChangeArrowheads="1"/>
            </p:cNvSpPr>
            <p:nvPr/>
          </p:nvSpPr>
          <p:spPr bwMode="auto">
            <a:xfrm>
              <a:off x="4306888" y="3313113"/>
              <a:ext cx="903846" cy="329965"/>
            </a:xfrm>
            <a:prstGeom prst="rect">
              <a:avLst/>
            </a:prstGeom>
            <a:noFill/>
            <a:ln w="9525">
              <a:noFill/>
              <a:miter lim="800000"/>
              <a:headEnd/>
              <a:tailEnd/>
            </a:ln>
          </p:spPr>
          <p:txBody>
            <a:bodyPr wrap="none" lIns="63500" tIns="25400" rIns="63500" bIns="25400">
              <a:spAutoFit/>
            </a:bodyPr>
            <a:lstStyle/>
            <a:p>
              <a:pPr>
                <a:lnSpc>
                  <a:spcPct val="85000"/>
                </a:lnSpc>
              </a:pPr>
              <a:r>
                <a:rPr kumimoji="1" lang="en-US" altLang="zh-TW" sz="1400" dirty="0">
                  <a:latin typeface="Arial" pitchFamily="34" charset="0"/>
                </a:rPr>
                <a:t>Blocks</a:t>
              </a:r>
            </a:p>
          </p:txBody>
        </p:sp>
        <p:sp>
          <p:nvSpPr>
            <p:cNvPr id="50" name="Rectangle 18">
              <a:extLst>
                <a:ext uri="{FF2B5EF4-FFF2-40B4-BE49-F238E27FC236}">
                  <a16:creationId xmlns:a16="http://schemas.microsoft.com/office/drawing/2014/main" id="{B103DA22-B2A0-41F0-BD7A-1DFF48D3BAE9}"/>
                </a:ext>
              </a:extLst>
            </p:cNvPr>
            <p:cNvSpPr>
              <a:spLocks noChangeArrowheads="1"/>
            </p:cNvSpPr>
            <p:nvPr/>
          </p:nvSpPr>
          <p:spPr bwMode="auto">
            <a:xfrm>
              <a:off x="4306888" y="4379913"/>
              <a:ext cx="875189" cy="329965"/>
            </a:xfrm>
            <a:prstGeom prst="rect">
              <a:avLst/>
            </a:prstGeom>
            <a:noFill/>
            <a:ln w="9525">
              <a:noFill/>
              <a:miter lim="800000"/>
              <a:headEnd/>
              <a:tailEnd/>
            </a:ln>
          </p:spPr>
          <p:txBody>
            <a:bodyPr wrap="none" lIns="63500" tIns="25400" rIns="63500" bIns="25400">
              <a:spAutoFit/>
            </a:bodyPr>
            <a:lstStyle/>
            <a:p>
              <a:pPr>
                <a:lnSpc>
                  <a:spcPct val="85000"/>
                </a:lnSpc>
              </a:pPr>
              <a:r>
                <a:rPr kumimoji="1" lang="en-US" altLang="zh-TW" sz="1400">
                  <a:latin typeface="Arial" pitchFamily="34" charset="0"/>
                </a:rPr>
                <a:t>Pages</a:t>
              </a:r>
            </a:p>
          </p:txBody>
        </p:sp>
        <p:sp>
          <p:nvSpPr>
            <p:cNvPr id="51" name="Rectangle 19">
              <a:extLst>
                <a:ext uri="{FF2B5EF4-FFF2-40B4-BE49-F238E27FC236}">
                  <a16:creationId xmlns:a16="http://schemas.microsoft.com/office/drawing/2014/main" id="{F6FF1A6A-E121-4CD9-BDE7-4866939AFB4D}"/>
                </a:ext>
              </a:extLst>
            </p:cNvPr>
            <p:cNvSpPr>
              <a:spLocks noChangeArrowheads="1"/>
            </p:cNvSpPr>
            <p:nvPr/>
          </p:nvSpPr>
          <p:spPr bwMode="auto">
            <a:xfrm>
              <a:off x="4306888" y="5446713"/>
              <a:ext cx="696623" cy="329965"/>
            </a:xfrm>
            <a:prstGeom prst="rect">
              <a:avLst/>
            </a:prstGeom>
            <a:noFill/>
            <a:ln w="9525">
              <a:noFill/>
              <a:miter lim="800000"/>
              <a:headEnd/>
              <a:tailEnd/>
            </a:ln>
          </p:spPr>
          <p:txBody>
            <a:bodyPr wrap="none" lIns="63500" tIns="25400" rIns="63500" bIns="25400">
              <a:spAutoFit/>
            </a:bodyPr>
            <a:lstStyle/>
            <a:p>
              <a:pPr>
                <a:lnSpc>
                  <a:spcPct val="85000"/>
                </a:lnSpc>
              </a:pPr>
              <a:r>
                <a:rPr kumimoji="1" lang="en-US" altLang="zh-TW" sz="1400">
                  <a:latin typeface="Arial" pitchFamily="34" charset="0"/>
                </a:rPr>
                <a:t>Files</a:t>
              </a:r>
            </a:p>
          </p:txBody>
        </p:sp>
        <p:sp>
          <p:nvSpPr>
            <p:cNvPr id="52" name="Rectangle 20">
              <a:extLst>
                <a:ext uri="{FF2B5EF4-FFF2-40B4-BE49-F238E27FC236}">
                  <a16:creationId xmlns:a16="http://schemas.microsoft.com/office/drawing/2014/main" id="{C86FF5DF-F1B2-46A8-B594-4C7BF42ACBE9}"/>
                </a:ext>
              </a:extLst>
            </p:cNvPr>
            <p:cNvSpPr>
              <a:spLocks noChangeArrowheads="1"/>
            </p:cNvSpPr>
            <p:nvPr/>
          </p:nvSpPr>
          <p:spPr bwMode="auto">
            <a:xfrm>
              <a:off x="6686550" y="1216025"/>
              <a:ext cx="1703993" cy="618053"/>
            </a:xfrm>
            <a:prstGeom prst="rect">
              <a:avLst/>
            </a:prstGeom>
            <a:noFill/>
            <a:ln w="9525">
              <a:noFill/>
              <a:miter lim="800000"/>
              <a:headEnd/>
              <a:tailEnd/>
            </a:ln>
          </p:spPr>
          <p:txBody>
            <a:bodyPr wrap="none" lIns="63500" tIns="25400" rIns="63500" bIns="25400">
              <a:spAutoFit/>
            </a:bodyPr>
            <a:lstStyle/>
            <a:p>
              <a:pPr>
                <a:lnSpc>
                  <a:spcPct val="90000"/>
                </a:lnSpc>
              </a:pPr>
              <a:r>
                <a:rPr kumimoji="1" lang="en-US" altLang="zh-TW" sz="1400" b="1" i="1">
                  <a:latin typeface="Arial" pitchFamily="34" charset="0"/>
                </a:rPr>
                <a:t>Staging</a:t>
              </a:r>
            </a:p>
            <a:p>
              <a:pPr>
                <a:lnSpc>
                  <a:spcPct val="90000"/>
                </a:lnSpc>
              </a:pPr>
              <a:r>
                <a:rPr kumimoji="1" lang="en-US" altLang="zh-TW" sz="1400" b="1" i="1">
                  <a:latin typeface="Arial" pitchFamily="34" charset="0"/>
                </a:rPr>
                <a:t>Transfer Unit</a:t>
              </a:r>
            </a:p>
          </p:txBody>
        </p:sp>
        <p:sp>
          <p:nvSpPr>
            <p:cNvPr id="53" name="Rectangle 21">
              <a:extLst>
                <a:ext uri="{FF2B5EF4-FFF2-40B4-BE49-F238E27FC236}">
                  <a16:creationId xmlns:a16="http://schemas.microsoft.com/office/drawing/2014/main" id="{323919D7-DD5D-400F-8977-05B9C6DE6311}"/>
                </a:ext>
              </a:extLst>
            </p:cNvPr>
            <p:cNvSpPr>
              <a:spLocks noChangeArrowheads="1"/>
            </p:cNvSpPr>
            <p:nvPr/>
          </p:nvSpPr>
          <p:spPr bwMode="auto">
            <a:xfrm>
              <a:off x="6672263" y="2193926"/>
              <a:ext cx="1887056" cy="618053"/>
            </a:xfrm>
            <a:prstGeom prst="rect">
              <a:avLst/>
            </a:prstGeom>
            <a:noFill/>
            <a:ln w="9525">
              <a:noFill/>
              <a:miter lim="800000"/>
              <a:headEnd/>
              <a:tailEnd/>
            </a:ln>
          </p:spPr>
          <p:txBody>
            <a:bodyPr wrap="none" lIns="63500" tIns="25400" rIns="63500" bIns="25400">
              <a:spAutoFit/>
            </a:bodyPr>
            <a:lstStyle/>
            <a:p>
              <a:pPr>
                <a:lnSpc>
                  <a:spcPct val="90000"/>
                </a:lnSpc>
              </a:pPr>
              <a:r>
                <a:rPr kumimoji="1" lang="en-US" altLang="zh-TW" sz="1400" b="1">
                  <a:latin typeface="Arial" pitchFamily="34" charset="0"/>
                </a:rPr>
                <a:t>prog./compiler</a:t>
              </a:r>
            </a:p>
            <a:p>
              <a:pPr>
                <a:lnSpc>
                  <a:spcPct val="90000"/>
                </a:lnSpc>
              </a:pPr>
              <a:endParaRPr kumimoji="1" lang="en-US" altLang="zh-TW" sz="1400" b="1">
                <a:latin typeface="Arial" pitchFamily="34" charset="0"/>
              </a:endParaRPr>
            </a:p>
          </p:txBody>
        </p:sp>
        <p:sp>
          <p:nvSpPr>
            <p:cNvPr id="54" name="Rectangle 22">
              <a:extLst>
                <a:ext uri="{FF2B5EF4-FFF2-40B4-BE49-F238E27FC236}">
                  <a16:creationId xmlns:a16="http://schemas.microsoft.com/office/drawing/2014/main" id="{6B8EF161-6104-43CD-A5AD-6CBF5D1531AA}"/>
                </a:ext>
              </a:extLst>
            </p:cNvPr>
            <p:cNvSpPr>
              <a:spLocks noChangeArrowheads="1"/>
            </p:cNvSpPr>
            <p:nvPr/>
          </p:nvSpPr>
          <p:spPr bwMode="auto">
            <a:xfrm>
              <a:off x="6754813" y="3184525"/>
              <a:ext cx="2076643" cy="345127"/>
            </a:xfrm>
            <a:prstGeom prst="rect">
              <a:avLst/>
            </a:prstGeom>
            <a:noFill/>
            <a:ln w="9525">
              <a:noFill/>
              <a:miter lim="800000"/>
              <a:headEnd/>
              <a:tailEnd/>
            </a:ln>
          </p:spPr>
          <p:txBody>
            <a:bodyPr wrap="none" lIns="63500" tIns="25400" rIns="63500" bIns="25400">
              <a:spAutoFit/>
            </a:bodyPr>
            <a:lstStyle/>
            <a:p>
              <a:pPr>
                <a:lnSpc>
                  <a:spcPct val="90000"/>
                </a:lnSpc>
              </a:pPr>
              <a:r>
                <a:rPr kumimoji="1" lang="en-US" altLang="zh-TW" sz="1400" b="1">
                  <a:latin typeface="Arial" pitchFamily="34" charset="0"/>
                </a:rPr>
                <a:t>cache controller</a:t>
              </a:r>
            </a:p>
          </p:txBody>
        </p:sp>
        <p:sp>
          <p:nvSpPr>
            <p:cNvPr id="55" name="Rectangle 23">
              <a:extLst>
                <a:ext uri="{FF2B5EF4-FFF2-40B4-BE49-F238E27FC236}">
                  <a16:creationId xmlns:a16="http://schemas.microsoft.com/office/drawing/2014/main" id="{AA73F9E6-278E-4976-BA9A-6F489AEE1140}"/>
                </a:ext>
              </a:extLst>
            </p:cNvPr>
            <p:cNvSpPr>
              <a:spLocks noChangeArrowheads="1"/>
            </p:cNvSpPr>
            <p:nvPr/>
          </p:nvSpPr>
          <p:spPr bwMode="auto">
            <a:xfrm>
              <a:off x="6851650" y="4251325"/>
              <a:ext cx="533490" cy="618053"/>
            </a:xfrm>
            <a:prstGeom prst="rect">
              <a:avLst/>
            </a:prstGeom>
            <a:noFill/>
            <a:ln w="9525">
              <a:noFill/>
              <a:miter lim="800000"/>
              <a:headEnd/>
              <a:tailEnd/>
            </a:ln>
          </p:spPr>
          <p:txBody>
            <a:bodyPr wrap="none" lIns="63500" tIns="25400" rIns="63500" bIns="25400">
              <a:spAutoFit/>
            </a:bodyPr>
            <a:lstStyle/>
            <a:p>
              <a:pPr>
                <a:lnSpc>
                  <a:spcPct val="90000"/>
                </a:lnSpc>
              </a:pPr>
              <a:r>
                <a:rPr kumimoji="1" lang="en-US" altLang="zh-TW" sz="1400" b="1">
                  <a:latin typeface="Arial" pitchFamily="34" charset="0"/>
                </a:rPr>
                <a:t>OS</a:t>
              </a:r>
            </a:p>
            <a:p>
              <a:pPr>
                <a:lnSpc>
                  <a:spcPct val="90000"/>
                </a:lnSpc>
              </a:pPr>
              <a:endParaRPr kumimoji="1" lang="en-US" altLang="zh-TW" sz="1400" b="1">
                <a:latin typeface="Arial" pitchFamily="34" charset="0"/>
              </a:endParaRPr>
            </a:p>
          </p:txBody>
        </p:sp>
        <p:sp>
          <p:nvSpPr>
            <p:cNvPr id="56" name="Rectangle 24">
              <a:extLst>
                <a:ext uri="{FF2B5EF4-FFF2-40B4-BE49-F238E27FC236}">
                  <a16:creationId xmlns:a16="http://schemas.microsoft.com/office/drawing/2014/main" id="{D74071B0-2AF2-4E46-BACD-D17DBDEF2C68}"/>
                </a:ext>
              </a:extLst>
            </p:cNvPr>
            <p:cNvSpPr>
              <a:spLocks noChangeArrowheads="1"/>
            </p:cNvSpPr>
            <p:nvPr/>
          </p:nvSpPr>
          <p:spPr bwMode="auto">
            <a:xfrm>
              <a:off x="6810375" y="5318126"/>
              <a:ext cx="1763603" cy="345127"/>
            </a:xfrm>
            <a:prstGeom prst="rect">
              <a:avLst/>
            </a:prstGeom>
            <a:noFill/>
            <a:ln w="9525">
              <a:noFill/>
              <a:miter lim="800000"/>
              <a:headEnd/>
              <a:tailEnd/>
            </a:ln>
          </p:spPr>
          <p:txBody>
            <a:bodyPr wrap="none" lIns="63500" tIns="25400" rIns="63500" bIns="25400">
              <a:spAutoFit/>
            </a:bodyPr>
            <a:lstStyle/>
            <a:p>
              <a:pPr>
                <a:lnSpc>
                  <a:spcPct val="90000"/>
                </a:lnSpc>
              </a:pPr>
              <a:r>
                <a:rPr kumimoji="1" lang="en-US" altLang="zh-TW" sz="1400" b="1">
                  <a:latin typeface="Arial" pitchFamily="34" charset="0"/>
                </a:rPr>
                <a:t>user/operator</a:t>
              </a:r>
            </a:p>
          </p:txBody>
        </p:sp>
        <p:sp>
          <p:nvSpPr>
            <p:cNvPr id="57" name="Rectangle 25">
              <a:extLst>
                <a:ext uri="{FF2B5EF4-FFF2-40B4-BE49-F238E27FC236}">
                  <a16:creationId xmlns:a16="http://schemas.microsoft.com/office/drawing/2014/main" id="{C701C055-56D8-4276-85FB-5696177CEFC5}"/>
                </a:ext>
              </a:extLst>
            </p:cNvPr>
            <p:cNvSpPr>
              <a:spLocks noChangeArrowheads="1"/>
            </p:cNvSpPr>
            <p:nvPr/>
          </p:nvSpPr>
          <p:spPr bwMode="auto">
            <a:xfrm>
              <a:off x="8236563" y="1004902"/>
              <a:ext cx="1239429" cy="353240"/>
            </a:xfrm>
            <a:prstGeom prst="rect">
              <a:avLst/>
            </a:prstGeom>
            <a:noFill/>
            <a:ln w="9525">
              <a:noFill/>
              <a:miter lim="800000"/>
              <a:headEnd/>
              <a:tailEnd/>
            </a:ln>
          </p:spPr>
          <p:txBody>
            <a:bodyPr wrap="none" lIns="63500" tIns="25400" rIns="63500" bIns="25400">
              <a:spAutoFit/>
            </a:bodyPr>
            <a:lstStyle/>
            <a:p>
              <a:pPr>
                <a:lnSpc>
                  <a:spcPct val="85000"/>
                </a:lnSpc>
              </a:pPr>
              <a:r>
                <a:rPr kumimoji="1" lang="en-US" altLang="zh-TW" sz="1400" b="1" dirty="0">
                  <a:solidFill>
                    <a:srgbClr val="FF0000"/>
                  </a:solidFill>
                  <a:latin typeface="Arial" pitchFamily="34" charset="0"/>
                </a:rPr>
                <a:t>Upper Level</a:t>
              </a:r>
            </a:p>
          </p:txBody>
        </p:sp>
        <p:sp>
          <p:nvSpPr>
            <p:cNvPr id="58" name="Rectangle 26">
              <a:extLst>
                <a:ext uri="{FF2B5EF4-FFF2-40B4-BE49-F238E27FC236}">
                  <a16:creationId xmlns:a16="http://schemas.microsoft.com/office/drawing/2014/main" id="{C9C0B160-ACD0-4202-8D75-83F8A221A0E9}"/>
                </a:ext>
              </a:extLst>
            </p:cNvPr>
            <p:cNvSpPr>
              <a:spLocks noChangeArrowheads="1"/>
            </p:cNvSpPr>
            <p:nvPr/>
          </p:nvSpPr>
          <p:spPr bwMode="auto">
            <a:xfrm>
              <a:off x="8219978" y="6087245"/>
              <a:ext cx="1249772" cy="353240"/>
            </a:xfrm>
            <a:prstGeom prst="rect">
              <a:avLst/>
            </a:prstGeom>
            <a:noFill/>
            <a:ln w="9525">
              <a:noFill/>
              <a:miter lim="800000"/>
              <a:headEnd/>
              <a:tailEnd/>
            </a:ln>
          </p:spPr>
          <p:txBody>
            <a:bodyPr wrap="none" lIns="63500" tIns="25400" rIns="63500" bIns="25400">
              <a:spAutoFit/>
            </a:bodyPr>
            <a:lstStyle/>
            <a:p>
              <a:pPr>
                <a:lnSpc>
                  <a:spcPct val="85000"/>
                </a:lnSpc>
              </a:pPr>
              <a:r>
                <a:rPr kumimoji="1" lang="en-US" altLang="zh-TW" sz="1400" b="1" dirty="0">
                  <a:solidFill>
                    <a:srgbClr val="FF0000"/>
                  </a:solidFill>
                  <a:latin typeface="Arial" pitchFamily="34" charset="0"/>
                </a:rPr>
                <a:t>Lower Level</a:t>
              </a:r>
            </a:p>
          </p:txBody>
        </p:sp>
        <p:sp>
          <p:nvSpPr>
            <p:cNvPr id="59" name="Line 27">
              <a:extLst>
                <a:ext uri="{FF2B5EF4-FFF2-40B4-BE49-F238E27FC236}">
                  <a16:creationId xmlns:a16="http://schemas.microsoft.com/office/drawing/2014/main" id="{66BA7D7F-0F73-4545-9B88-A022E792CE16}"/>
                </a:ext>
              </a:extLst>
            </p:cNvPr>
            <p:cNvSpPr>
              <a:spLocks noChangeShapeType="1"/>
            </p:cNvSpPr>
            <p:nvPr/>
          </p:nvSpPr>
          <p:spPr bwMode="auto">
            <a:xfrm flipV="1">
              <a:off x="8502650" y="1447800"/>
              <a:ext cx="0" cy="4419600"/>
            </a:xfrm>
            <a:prstGeom prst="line">
              <a:avLst/>
            </a:prstGeom>
            <a:noFill/>
            <a:ln w="12700">
              <a:solidFill>
                <a:schemeClr val="tx1"/>
              </a:solidFill>
              <a:round/>
              <a:headEnd type="none" w="sm" len="sm"/>
              <a:tailEnd type="stealth" w="med" len="lg"/>
            </a:ln>
          </p:spPr>
          <p:txBody>
            <a:bodyPr wrap="none" anchor="ctr"/>
            <a:lstStyle/>
            <a:p>
              <a:endParaRPr lang="zh-TW" altLang="en-US" sz="1400"/>
            </a:p>
          </p:txBody>
        </p:sp>
        <p:sp>
          <p:nvSpPr>
            <p:cNvPr id="60" name="Rectangle 28">
              <a:extLst>
                <a:ext uri="{FF2B5EF4-FFF2-40B4-BE49-F238E27FC236}">
                  <a16:creationId xmlns:a16="http://schemas.microsoft.com/office/drawing/2014/main" id="{84A9A6C3-BF5D-4904-A03B-1DAF1FAB1677}"/>
                </a:ext>
              </a:extLst>
            </p:cNvPr>
            <p:cNvSpPr>
              <a:spLocks noChangeArrowheads="1"/>
            </p:cNvSpPr>
            <p:nvPr/>
          </p:nvSpPr>
          <p:spPr bwMode="auto">
            <a:xfrm>
              <a:off x="8599488" y="1408112"/>
              <a:ext cx="846530" cy="329965"/>
            </a:xfrm>
            <a:prstGeom prst="rect">
              <a:avLst/>
            </a:prstGeom>
            <a:noFill/>
            <a:ln w="9525">
              <a:noFill/>
              <a:miter lim="800000"/>
              <a:headEnd/>
              <a:tailEnd/>
            </a:ln>
          </p:spPr>
          <p:txBody>
            <a:bodyPr wrap="none" lIns="63500" tIns="25400" rIns="63500" bIns="25400">
              <a:spAutoFit/>
            </a:bodyPr>
            <a:lstStyle/>
            <a:p>
              <a:pPr>
                <a:lnSpc>
                  <a:spcPct val="85000"/>
                </a:lnSpc>
              </a:pPr>
              <a:r>
                <a:rPr kumimoji="1" lang="en-US" altLang="zh-TW" sz="1400" b="1">
                  <a:latin typeface="Arial" pitchFamily="34" charset="0"/>
                </a:rPr>
                <a:t>faster</a:t>
              </a:r>
            </a:p>
          </p:txBody>
        </p:sp>
        <p:sp>
          <p:nvSpPr>
            <p:cNvPr id="61" name="Line 29">
              <a:extLst>
                <a:ext uri="{FF2B5EF4-FFF2-40B4-BE49-F238E27FC236}">
                  <a16:creationId xmlns:a16="http://schemas.microsoft.com/office/drawing/2014/main" id="{03EA1A8C-9BC2-493C-B9DC-2F1FD555349F}"/>
                </a:ext>
              </a:extLst>
            </p:cNvPr>
            <p:cNvSpPr>
              <a:spLocks noChangeShapeType="1"/>
            </p:cNvSpPr>
            <p:nvPr/>
          </p:nvSpPr>
          <p:spPr bwMode="auto">
            <a:xfrm>
              <a:off x="9163050" y="1828800"/>
              <a:ext cx="0" cy="3733800"/>
            </a:xfrm>
            <a:prstGeom prst="line">
              <a:avLst/>
            </a:prstGeom>
            <a:noFill/>
            <a:ln w="12700">
              <a:solidFill>
                <a:schemeClr val="tx1"/>
              </a:solidFill>
              <a:round/>
              <a:headEnd type="none" w="sm" len="sm"/>
              <a:tailEnd type="stealth" w="med" len="lg"/>
            </a:ln>
          </p:spPr>
          <p:txBody>
            <a:bodyPr wrap="none" anchor="ctr"/>
            <a:lstStyle/>
            <a:p>
              <a:endParaRPr lang="zh-TW" altLang="en-US" sz="1400"/>
            </a:p>
          </p:txBody>
        </p:sp>
        <p:sp>
          <p:nvSpPr>
            <p:cNvPr id="62" name="Rectangle 30">
              <a:extLst>
                <a:ext uri="{FF2B5EF4-FFF2-40B4-BE49-F238E27FC236}">
                  <a16:creationId xmlns:a16="http://schemas.microsoft.com/office/drawing/2014/main" id="{144EEB3B-6170-42B3-84DB-C48131626D8D}"/>
                </a:ext>
              </a:extLst>
            </p:cNvPr>
            <p:cNvSpPr>
              <a:spLocks noChangeArrowheads="1"/>
            </p:cNvSpPr>
            <p:nvPr/>
          </p:nvSpPr>
          <p:spPr bwMode="auto">
            <a:xfrm>
              <a:off x="8764589" y="5675313"/>
              <a:ext cx="943528" cy="329965"/>
            </a:xfrm>
            <a:prstGeom prst="rect">
              <a:avLst/>
            </a:prstGeom>
            <a:noFill/>
            <a:ln w="9525">
              <a:noFill/>
              <a:miter lim="800000"/>
              <a:headEnd/>
              <a:tailEnd/>
            </a:ln>
          </p:spPr>
          <p:txBody>
            <a:bodyPr wrap="none" lIns="63500" tIns="25400" rIns="63500" bIns="25400">
              <a:spAutoFit/>
            </a:bodyPr>
            <a:lstStyle/>
            <a:p>
              <a:pPr>
                <a:lnSpc>
                  <a:spcPct val="85000"/>
                </a:lnSpc>
              </a:pPr>
              <a:r>
                <a:rPr kumimoji="1" lang="en-US" altLang="zh-TW" sz="1400" b="1">
                  <a:latin typeface="Arial" pitchFamily="34" charset="0"/>
                </a:rPr>
                <a:t>Larger</a:t>
              </a:r>
            </a:p>
          </p:txBody>
        </p:sp>
      </p:grpSp>
      <p:sp>
        <p:nvSpPr>
          <p:cNvPr id="64" name="Rectangle 31">
            <a:extLst>
              <a:ext uri="{FF2B5EF4-FFF2-40B4-BE49-F238E27FC236}">
                <a16:creationId xmlns:a16="http://schemas.microsoft.com/office/drawing/2014/main" id="{037EEB18-A41C-42A8-9D4D-443453AD5713}"/>
              </a:ext>
            </a:extLst>
          </p:cNvPr>
          <p:cNvSpPr>
            <a:spLocks noGrp="1" noChangeArrowheads="1"/>
          </p:cNvSpPr>
          <p:nvPr>
            <p:ph type="title"/>
          </p:nvPr>
        </p:nvSpPr>
        <p:spPr>
          <a:xfrm>
            <a:off x="936522" y="173038"/>
            <a:ext cx="6732639" cy="424272"/>
          </a:xfrm>
        </p:spPr>
        <p:txBody>
          <a:bodyPr/>
          <a:lstStyle/>
          <a:p>
            <a:r>
              <a:rPr lang="en-US" altLang="zh-TW"/>
              <a:t>Levels of Memory Hierarchy</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a:xfrm>
            <a:off x="936523" y="129780"/>
            <a:ext cx="6793015" cy="504402"/>
          </a:xfrm>
        </p:spPr>
        <p:txBody>
          <a:bodyPr/>
          <a:lstStyle/>
          <a:p>
            <a:r>
              <a:rPr lang="en-US" altLang="zh-TW" dirty="0">
                <a:solidFill>
                  <a:srgbClr val="002060"/>
                </a:solidFill>
              </a:rPr>
              <a:t>How Is the Hierarchy Managed</a:t>
            </a:r>
          </a:p>
        </p:txBody>
      </p:sp>
      <p:sp>
        <p:nvSpPr>
          <p:cNvPr id="18435" name="Rectangle 3"/>
          <p:cNvSpPr>
            <a:spLocks noGrp="1" noChangeArrowheads="1"/>
          </p:cNvSpPr>
          <p:nvPr>
            <p:ph type="body" idx="1"/>
          </p:nvPr>
        </p:nvSpPr>
        <p:spPr>
          <a:xfrm>
            <a:off x="980768" y="844153"/>
            <a:ext cx="7706032" cy="3671888"/>
          </a:xfrm>
        </p:spPr>
        <p:txBody>
          <a:bodyPr/>
          <a:lstStyle/>
          <a:p>
            <a:r>
              <a:rPr lang="en-US" altLang="zh-TW" dirty="0"/>
              <a:t>Registers &lt;-&gt; Memory</a:t>
            </a:r>
          </a:p>
          <a:p>
            <a:pPr lvl="1"/>
            <a:r>
              <a:rPr lang="en-US" altLang="zh-TW" dirty="0"/>
              <a:t>By compiler (programmer?)</a:t>
            </a:r>
          </a:p>
          <a:p>
            <a:r>
              <a:rPr lang="en-US" altLang="zh-TW" dirty="0"/>
              <a:t>Cache &lt;-&gt; Memory</a:t>
            </a:r>
          </a:p>
          <a:p>
            <a:pPr lvl="1"/>
            <a:r>
              <a:rPr lang="en-US" altLang="zh-TW" dirty="0"/>
              <a:t>By the hardware</a:t>
            </a:r>
          </a:p>
          <a:p>
            <a:r>
              <a:rPr lang="en-US" altLang="zh-TW" dirty="0"/>
              <a:t>Memory &lt;-&gt; Disks</a:t>
            </a:r>
          </a:p>
          <a:p>
            <a:pPr lvl="1"/>
            <a:r>
              <a:rPr lang="en-US" altLang="zh-TW" dirty="0"/>
              <a:t>By the hardware and operating system (virtual memory)</a:t>
            </a:r>
          </a:p>
          <a:p>
            <a:pPr lvl="1"/>
            <a:r>
              <a:rPr lang="en-US" altLang="zh-TW" dirty="0"/>
              <a:t>By the programmer (files)</a:t>
            </a:r>
          </a:p>
        </p:txBody>
      </p:sp>
      <p:sp>
        <p:nvSpPr>
          <p:cNvPr id="6" name="Slide Number Placeholder 5">
            <a:extLst>
              <a:ext uri="{FF2B5EF4-FFF2-40B4-BE49-F238E27FC236}">
                <a16:creationId xmlns:a16="http://schemas.microsoft.com/office/drawing/2014/main" id="{D1FBEADA-E472-498C-876A-0B4A2ECC6C64}"/>
              </a:ext>
            </a:extLst>
          </p:cNvPr>
          <p:cNvSpPr>
            <a:spLocks noGrp="1"/>
          </p:cNvSpPr>
          <p:nvPr>
            <p:ph type="sldNum" sz="quarter" idx="10"/>
          </p:nvPr>
        </p:nvSpPr>
        <p:spPr>
          <a:xfrm>
            <a:off x="6831013" y="4893471"/>
            <a:ext cx="2133600" cy="254794"/>
          </a:xfrm>
        </p:spPr>
        <p:txBody>
          <a:bodyPr/>
          <a:lstStyle/>
          <a:p>
            <a:fld id="{D9B6BDF2-6896-4B98-8776-C18582F63BA5}" type="slidenum">
              <a:rPr lang="zh-TW" altLang="en-US" smtClean="0"/>
              <a:pPr/>
              <a:t>9</a:t>
            </a:fld>
            <a:endParaRPr lang="zh-TW" alt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a:extLst>
              <a:ext uri="{FF2B5EF4-FFF2-40B4-BE49-F238E27FC236}">
                <a16:creationId xmlns:a16="http://schemas.microsoft.com/office/drawing/2014/main" id="{9E59AC83-D07F-4B4F-809F-4BEFD9AEE6A3}"/>
              </a:ext>
            </a:extLst>
          </p:cNvPr>
          <p:cNvGrpSpPr/>
          <p:nvPr/>
        </p:nvGrpSpPr>
        <p:grpSpPr>
          <a:xfrm>
            <a:off x="2274516" y="3082720"/>
            <a:ext cx="4331113" cy="1409700"/>
            <a:chOff x="2680097" y="3149088"/>
            <a:chExt cx="4331113" cy="1409700"/>
          </a:xfrm>
        </p:grpSpPr>
        <p:sp>
          <p:nvSpPr>
            <p:cNvPr id="19464" name="Line 8"/>
            <p:cNvSpPr>
              <a:spLocks noChangeShapeType="1"/>
            </p:cNvSpPr>
            <p:nvPr/>
          </p:nvSpPr>
          <p:spPr bwMode="auto">
            <a:xfrm>
              <a:off x="2693194" y="4168263"/>
              <a:ext cx="1485900" cy="0"/>
            </a:xfrm>
            <a:prstGeom prst="line">
              <a:avLst/>
            </a:prstGeom>
            <a:noFill/>
            <a:ln w="25400">
              <a:solidFill>
                <a:schemeClr val="tx1"/>
              </a:solidFill>
              <a:round/>
              <a:headEnd type="none" w="sm" len="sm"/>
              <a:tailEnd type="stealth" w="med" len="lg"/>
            </a:ln>
          </p:spPr>
          <p:txBody>
            <a:bodyPr wrap="none" anchor="ctr"/>
            <a:lstStyle/>
            <a:p>
              <a:endParaRPr lang="zh-TW" altLang="en-US" sz="1350"/>
            </a:p>
          </p:txBody>
        </p:sp>
        <p:sp>
          <p:nvSpPr>
            <p:cNvPr id="19458" name="Rectangle 2"/>
            <p:cNvSpPr>
              <a:spLocks noChangeArrowheads="1"/>
            </p:cNvSpPr>
            <p:nvPr/>
          </p:nvSpPr>
          <p:spPr bwMode="auto">
            <a:xfrm>
              <a:off x="4188619" y="3387213"/>
              <a:ext cx="1032272" cy="1066800"/>
            </a:xfrm>
            <a:prstGeom prst="rect">
              <a:avLst/>
            </a:prstGeom>
            <a:solidFill>
              <a:srgbClr val="FF9999"/>
            </a:solidFill>
            <a:ln w="25400">
              <a:solidFill>
                <a:schemeClr val="tx1"/>
              </a:solidFill>
              <a:miter lim="800000"/>
              <a:headEnd/>
              <a:tailEnd/>
            </a:ln>
          </p:spPr>
          <p:txBody>
            <a:bodyPr wrap="none" anchor="ctr"/>
            <a:lstStyle/>
            <a:p>
              <a:endParaRPr lang="zh-TW" altLang="en-US" sz="1350"/>
            </a:p>
          </p:txBody>
        </p:sp>
        <p:sp>
          <p:nvSpPr>
            <p:cNvPr id="19459" name="Rectangle 3"/>
            <p:cNvSpPr>
              <a:spLocks noChangeArrowheads="1"/>
            </p:cNvSpPr>
            <p:nvPr/>
          </p:nvSpPr>
          <p:spPr bwMode="auto">
            <a:xfrm>
              <a:off x="5984082" y="3149088"/>
              <a:ext cx="970360" cy="1409700"/>
            </a:xfrm>
            <a:prstGeom prst="rect">
              <a:avLst/>
            </a:prstGeom>
            <a:solidFill>
              <a:srgbClr val="FF9999"/>
            </a:solidFill>
            <a:ln w="25400">
              <a:solidFill>
                <a:schemeClr val="tx1"/>
              </a:solidFill>
              <a:miter lim="800000"/>
              <a:headEnd/>
              <a:tailEnd/>
            </a:ln>
          </p:spPr>
          <p:txBody>
            <a:bodyPr wrap="none" anchor="ctr"/>
            <a:lstStyle/>
            <a:p>
              <a:endParaRPr lang="zh-TW" altLang="en-US" sz="1350"/>
            </a:p>
          </p:txBody>
        </p:sp>
        <p:sp>
          <p:nvSpPr>
            <p:cNvPr id="19460" name="Rectangle 4"/>
            <p:cNvSpPr>
              <a:spLocks noChangeArrowheads="1"/>
            </p:cNvSpPr>
            <p:nvPr/>
          </p:nvSpPr>
          <p:spPr bwMode="auto">
            <a:xfrm>
              <a:off x="5982082" y="3168139"/>
              <a:ext cx="1029128" cy="439064"/>
            </a:xfrm>
            <a:prstGeom prst="rect">
              <a:avLst/>
            </a:prstGeom>
            <a:noFill/>
            <a:ln w="9525">
              <a:noFill/>
              <a:miter lim="800000"/>
              <a:headEnd/>
              <a:tailEnd/>
            </a:ln>
          </p:spPr>
          <p:txBody>
            <a:bodyPr wrap="none" lIns="69056" tIns="34529" rIns="69056" bIns="34529">
              <a:spAutoFit/>
            </a:bodyPr>
            <a:lstStyle/>
            <a:p>
              <a:pPr algn="ctr"/>
              <a:r>
                <a:rPr kumimoji="1" lang="en-US" altLang="zh-TW" sz="1200" b="1">
                  <a:latin typeface="Arial" pitchFamily="34" charset="0"/>
                </a:rPr>
                <a:t>Lower Level</a:t>
              </a:r>
            </a:p>
            <a:p>
              <a:pPr algn="ctr"/>
              <a:r>
                <a:rPr kumimoji="1" lang="en-US" altLang="zh-TW" sz="1200" b="1">
                  <a:latin typeface="Arial" pitchFamily="34" charset="0"/>
                </a:rPr>
                <a:t>Memory</a:t>
              </a:r>
            </a:p>
          </p:txBody>
        </p:sp>
        <p:sp>
          <p:nvSpPr>
            <p:cNvPr id="19461" name="Rectangle 5"/>
            <p:cNvSpPr>
              <a:spLocks noChangeArrowheads="1"/>
            </p:cNvSpPr>
            <p:nvPr/>
          </p:nvSpPr>
          <p:spPr bwMode="auto">
            <a:xfrm>
              <a:off x="4187261" y="3406264"/>
              <a:ext cx="1019510" cy="439064"/>
            </a:xfrm>
            <a:prstGeom prst="rect">
              <a:avLst/>
            </a:prstGeom>
            <a:noFill/>
            <a:ln w="9525">
              <a:noFill/>
              <a:miter lim="800000"/>
              <a:headEnd/>
              <a:tailEnd/>
            </a:ln>
          </p:spPr>
          <p:txBody>
            <a:bodyPr wrap="none" lIns="69056" tIns="34529" rIns="69056" bIns="34529">
              <a:spAutoFit/>
            </a:bodyPr>
            <a:lstStyle/>
            <a:p>
              <a:pPr algn="ctr"/>
              <a:r>
                <a:rPr kumimoji="1" lang="en-US" altLang="zh-TW" sz="1200" b="1">
                  <a:latin typeface="Arial" pitchFamily="34" charset="0"/>
                </a:rPr>
                <a:t>Upper Level</a:t>
              </a:r>
            </a:p>
            <a:p>
              <a:pPr algn="ctr"/>
              <a:r>
                <a:rPr kumimoji="1" lang="en-US" altLang="zh-TW" sz="1200" b="1">
                  <a:latin typeface="Arial" pitchFamily="34" charset="0"/>
                </a:rPr>
                <a:t>Memory</a:t>
              </a:r>
            </a:p>
          </p:txBody>
        </p:sp>
        <p:sp>
          <p:nvSpPr>
            <p:cNvPr id="19462" name="Line 6"/>
            <p:cNvSpPr>
              <a:spLocks noChangeShapeType="1"/>
            </p:cNvSpPr>
            <p:nvPr/>
          </p:nvSpPr>
          <p:spPr bwMode="auto">
            <a:xfrm flipH="1">
              <a:off x="2693194" y="3596763"/>
              <a:ext cx="1485900" cy="0"/>
            </a:xfrm>
            <a:prstGeom prst="line">
              <a:avLst/>
            </a:prstGeom>
            <a:noFill/>
            <a:ln w="25400">
              <a:solidFill>
                <a:schemeClr val="tx1"/>
              </a:solidFill>
              <a:round/>
              <a:headEnd type="none" w="sm" len="sm"/>
              <a:tailEnd type="stealth" w="med" len="lg"/>
            </a:ln>
          </p:spPr>
          <p:txBody>
            <a:bodyPr wrap="none" anchor="ctr"/>
            <a:lstStyle/>
            <a:p>
              <a:endParaRPr lang="zh-TW" altLang="en-US" sz="1350"/>
            </a:p>
          </p:txBody>
        </p:sp>
        <p:sp>
          <p:nvSpPr>
            <p:cNvPr id="19463" name="Rectangle 7"/>
            <p:cNvSpPr>
              <a:spLocks noChangeArrowheads="1"/>
            </p:cNvSpPr>
            <p:nvPr/>
          </p:nvSpPr>
          <p:spPr bwMode="auto">
            <a:xfrm>
              <a:off x="2989660" y="3376498"/>
              <a:ext cx="1110689" cy="254398"/>
            </a:xfrm>
            <a:prstGeom prst="rect">
              <a:avLst/>
            </a:prstGeom>
            <a:noFill/>
            <a:ln w="9525">
              <a:noFill/>
              <a:miter lim="800000"/>
              <a:headEnd/>
              <a:tailEnd/>
            </a:ln>
          </p:spPr>
          <p:txBody>
            <a:bodyPr wrap="none" lIns="69056" tIns="34529" rIns="69056" bIns="34529">
              <a:spAutoFit/>
            </a:bodyPr>
            <a:lstStyle/>
            <a:p>
              <a:r>
                <a:rPr kumimoji="1" lang="en-US" altLang="zh-TW" sz="1200" b="1">
                  <a:latin typeface="Arial" pitchFamily="34" charset="0"/>
                </a:rPr>
                <a:t>To Processor</a:t>
              </a:r>
            </a:p>
          </p:txBody>
        </p:sp>
        <p:sp>
          <p:nvSpPr>
            <p:cNvPr id="19465" name="Rectangle 9"/>
            <p:cNvSpPr>
              <a:spLocks noChangeArrowheads="1"/>
            </p:cNvSpPr>
            <p:nvPr/>
          </p:nvSpPr>
          <p:spPr bwMode="auto">
            <a:xfrm>
              <a:off x="2680097" y="3947998"/>
              <a:ext cx="1317668" cy="254398"/>
            </a:xfrm>
            <a:prstGeom prst="rect">
              <a:avLst/>
            </a:prstGeom>
            <a:noFill/>
            <a:ln w="9525">
              <a:noFill/>
              <a:miter lim="800000"/>
              <a:headEnd/>
              <a:tailEnd/>
            </a:ln>
          </p:spPr>
          <p:txBody>
            <a:bodyPr wrap="none" lIns="69056" tIns="34529" rIns="69056" bIns="34529">
              <a:spAutoFit/>
            </a:bodyPr>
            <a:lstStyle/>
            <a:p>
              <a:r>
                <a:rPr kumimoji="1" lang="en-US" altLang="zh-TW" sz="1200" b="1" dirty="0">
                  <a:latin typeface="Arial" pitchFamily="34" charset="0"/>
                </a:rPr>
                <a:t>From Processor</a:t>
              </a:r>
            </a:p>
          </p:txBody>
        </p:sp>
        <p:sp>
          <p:nvSpPr>
            <p:cNvPr id="19466" name="Line 10"/>
            <p:cNvSpPr>
              <a:spLocks noChangeShapeType="1"/>
            </p:cNvSpPr>
            <p:nvPr/>
          </p:nvSpPr>
          <p:spPr bwMode="auto">
            <a:xfrm>
              <a:off x="5231606" y="3825363"/>
              <a:ext cx="742950" cy="0"/>
            </a:xfrm>
            <a:prstGeom prst="line">
              <a:avLst/>
            </a:prstGeom>
            <a:noFill/>
            <a:ln w="25400">
              <a:solidFill>
                <a:schemeClr val="tx1"/>
              </a:solidFill>
              <a:round/>
              <a:headEnd type="stealth" w="med" len="lg"/>
              <a:tailEnd type="stealth" w="med" len="lg"/>
            </a:ln>
          </p:spPr>
          <p:txBody>
            <a:bodyPr wrap="none" anchor="ctr"/>
            <a:lstStyle/>
            <a:p>
              <a:endParaRPr lang="zh-TW" altLang="en-US" sz="1350"/>
            </a:p>
          </p:txBody>
        </p:sp>
        <p:sp>
          <p:nvSpPr>
            <p:cNvPr id="19467" name="Rectangle 11"/>
            <p:cNvSpPr>
              <a:spLocks noChangeArrowheads="1"/>
            </p:cNvSpPr>
            <p:nvPr/>
          </p:nvSpPr>
          <p:spPr bwMode="auto">
            <a:xfrm>
              <a:off x="4555332" y="4068251"/>
              <a:ext cx="298847" cy="276225"/>
            </a:xfrm>
            <a:prstGeom prst="rect">
              <a:avLst/>
            </a:prstGeom>
            <a:solidFill>
              <a:schemeClr val="accent1"/>
            </a:solidFill>
            <a:ln w="12700">
              <a:solidFill>
                <a:schemeClr val="tx1"/>
              </a:solidFill>
              <a:miter lim="800000"/>
              <a:headEnd/>
              <a:tailEnd/>
            </a:ln>
          </p:spPr>
          <p:txBody>
            <a:bodyPr wrap="none" anchor="ctr"/>
            <a:lstStyle/>
            <a:p>
              <a:endParaRPr lang="zh-TW" altLang="en-US" sz="1350"/>
            </a:p>
          </p:txBody>
        </p:sp>
        <p:sp>
          <p:nvSpPr>
            <p:cNvPr id="19468" name="Rectangle 12"/>
            <p:cNvSpPr>
              <a:spLocks noChangeArrowheads="1"/>
            </p:cNvSpPr>
            <p:nvPr/>
          </p:nvSpPr>
          <p:spPr bwMode="auto">
            <a:xfrm>
              <a:off x="4364832" y="3859891"/>
              <a:ext cx="633186" cy="231315"/>
            </a:xfrm>
            <a:prstGeom prst="rect">
              <a:avLst/>
            </a:prstGeom>
            <a:noFill/>
            <a:ln w="9525">
              <a:noFill/>
              <a:miter lim="800000"/>
              <a:headEnd/>
              <a:tailEnd/>
            </a:ln>
          </p:spPr>
          <p:txBody>
            <a:bodyPr wrap="none" lIns="69056" tIns="34529" rIns="69056" bIns="34529">
              <a:spAutoFit/>
            </a:bodyPr>
            <a:lstStyle/>
            <a:p>
              <a:r>
                <a:rPr kumimoji="1" lang="en-US" altLang="zh-TW" sz="1050" b="1">
                  <a:latin typeface="Arial" pitchFamily="34" charset="0"/>
                </a:rPr>
                <a:t>Block X</a:t>
              </a:r>
            </a:p>
          </p:txBody>
        </p:sp>
        <p:sp>
          <p:nvSpPr>
            <p:cNvPr id="19469" name="Rectangle 13"/>
            <p:cNvSpPr>
              <a:spLocks noChangeArrowheads="1"/>
            </p:cNvSpPr>
            <p:nvPr/>
          </p:nvSpPr>
          <p:spPr bwMode="auto">
            <a:xfrm>
              <a:off x="6350794" y="4230176"/>
              <a:ext cx="298847" cy="276225"/>
            </a:xfrm>
            <a:prstGeom prst="rect">
              <a:avLst/>
            </a:prstGeom>
            <a:solidFill>
              <a:schemeClr val="hlink"/>
            </a:solidFill>
            <a:ln w="12700">
              <a:solidFill>
                <a:schemeClr val="tx1"/>
              </a:solidFill>
              <a:miter lim="800000"/>
              <a:headEnd/>
              <a:tailEnd/>
            </a:ln>
          </p:spPr>
          <p:txBody>
            <a:bodyPr wrap="none" anchor="ctr"/>
            <a:lstStyle/>
            <a:p>
              <a:endParaRPr lang="zh-TW" altLang="en-US" sz="1350"/>
            </a:p>
          </p:txBody>
        </p:sp>
        <p:sp>
          <p:nvSpPr>
            <p:cNvPr id="19470" name="Rectangle 14"/>
            <p:cNvSpPr>
              <a:spLocks noChangeArrowheads="1"/>
            </p:cNvSpPr>
            <p:nvPr/>
          </p:nvSpPr>
          <p:spPr bwMode="auto">
            <a:xfrm>
              <a:off x="6160294" y="4021816"/>
              <a:ext cx="633186" cy="231315"/>
            </a:xfrm>
            <a:prstGeom prst="rect">
              <a:avLst/>
            </a:prstGeom>
            <a:noFill/>
            <a:ln w="9525">
              <a:noFill/>
              <a:miter lim="800000"/>
              <a:headEnd/>
              <a:tailEnd/>
            </a:ln>
          </p:spPr>
          <p:txBody>
            <a:bodyPr wrap="none" lIns="69056" tIns="34529" rIns="69056" bIns="34529">
              <a:spAutoFit/>
            </a:bodyPr>
            <a:lstStyle/>
            <a:p>
              <a:r>
                <a:rPr kumimoji="1" lang="en-US" altLang="zh-TW" sz="1050" b="1" dirty="0">
                  <a:latin typeface="Arial" pitchFamily="34" charset="0"/>
                </a:rPr>
                <a:t>Block Y</a:t>
              </a:r>
            </a:p>
          </p:txBody>
        </p:sp>
      </p:grpSp>
      <p:sp>
        <p:nvSpPr>
          <p:cNvPr id="19471" name="Rectangle 15"/>
          <p:cNvSpPr>
            <a:spLocks noGrp="1" noChangeArrowheads="1"/>
          </p:cNvSpPr>
          <p:nvPr>
            <p:ph type="title"/>
          </p:nvPr>
        </p:nvSpPr>
        <p:spPr>
          <a:xfrm>
            <a:off x="929149" y="129779"/>
            <a:ext cx="6800390" cy="489653"/>
          </a:xfrm>
        </p:spPr>
        <p:txBody>
          <a:bodyPr/>
          <a:lstStyle/>
          <a:p>
            <a:r>
              <a:rPr lang="en-US" altLang="zh-TW" dirty="0"/>
              <a:t>Memory Hierarchy - Terminology</a:t>
            </a:r>
          </a:p>
        </p:txBody>
      </p:sp>
      <p:sp>
        <p:nvSpPr>
          <p:cNvPr id="19472" name="Rectangle 16"/>
          <p:cNvSpPr>
            <a:spLocks noGrp="1" noChangeArrowheads="1"/>
          </p:cNvSpPr>
          <p:nvPr>
            <p:ph type="body" idx="1"/>
          </p:nvPr>
        </p:nvSpPr>
        <p:spPr>
          <a:xfrm>
            <a:off x="457200" y="844153"/>
            <a:ext cx="8229600" cy="2230886"/>
          </a:xfrm>
        </p:spPr>
        <p:txBody>
          <a:bodyPr/>
          <a:lstStyle/>
          <a:p>
            <a:pPr>
              <a:lnSpc>
                <a:spcPct val="75000"/>
              </a:lnSpc>
              <a:spcBef>
                <a:spcPct val="10000"/>
              </a:spcBef>
            </a:pPr>
            <a:r>
              <a:rPr lang="en-US" altLang="zh-TW" sz="2000" dirty="0"/>
              <a:t>Hit: Data appears in upper level (Block X) </a:t>
            </a:r>
          </a:p>
          <a:p>
            <a:pPr lvl="1">
              <a:lnSpc>
                <a:spcPct val="75000"/>
              </a:lnSpc>
              <a:spcBef>
                <a:spcPct val="10000"/>
              </a:spcBef>
            </a:pPr>
            <a:r>
              <a:rPr lang="en-US" altLang="zh-TW" sz="1800" dirty="0">
                <a:solidFill>
                  <a:srgbClr val="FF0000"/>
                </a:solidFill>
              </a:rPr>
              <a:t>Hit rate</a:t>
            </a:r>
            <a:r>
              <a:rPr lang="en-US" altLang="zh-TW" sz="1800" dirty="0"/>
              <a:t>: Fraction of memory access found in the upper level</a:t>
            </a:r>
          </a:p>
          <a:p>
            <a:pPr lvl="1">
              <a:lnSpc>
                <a:spcPct val="75000"/>
              </a:lnSpc>
              <a:spcBef>
                <a:spcPct val="10000"/>
              </a:spcBef>
            </a:pPr>
            <a:r>
              <a:rPr lang="en-US" altLang="zh-TW" sz="1800" dirty="0">
                <a:solidFill>
                  <a:srgbClr val="FF0000"/>
                </a:solidFill>
              </a:rPr>
              <a:t>Hit time</a:t>
            </a:r>
            <a:r>
              <a:rPr lang="en-US" altLang="zh-TW" sz="1800" dirty="0"/>
              <a:t>: Time to access the upper level</a:t>
            </a:r>
          </a:p>
          <a:p>
            <a:pPr lvl="2">
              <a:lnSpc>
                <a:spcPct val="75000"/>
              </a:lnSpc>
              <a:spcBef>
                <a:spcPct val="10000"/>
              </a:spcBef>
            </a:pPr>
            <a:r>
              <a:rPr lang="en-US" altLang="zh-TW" sz="1600" dirty="0"/>
              <a:t>RAM access time + Time to determine hit/miss</a:t>
            </a:r>
          </a:p>
          <a:p>
            <a:pPr>
              <a:lnSpc>
                <a:spcPct val="75000"/>
              </a:lnSpc>
              <a:spcBef>
                <a:spcPct val="10000"/>
              </a:spcBef>
            </a:pPr>
            <a:r>
              <a:rPr lang="en-US" altLang="zh-TW" sz="2000" dirty="0"/>
              <a:t>Miss: Data needs to be retrieved from a block in the lower level (Block Y)</a:t>
            </a:r>
          </a:p>
          <a:p>
            <a:pPr lvl="1">
              <a:lnSpc>
                <a:spcPct val="75000"/>
              </a:lnSpc>
              <a:spcBef>
                <a:spcPct val="10000"/>
              </a:spcBef>
            </a:pPr>
            <a:r>
              <a:rPr lang="en-US" altLang="zh-TW" sz="1800" dirty="0">
                <a:solidFill>
                  <a:srgbClr val="FF0000"/>
                </a:solidFill>
              </a:rPr>
              <a:t>Miss Rate  </a:t>
            </a:r>
            <a:r>
              <a:rPr lang="en-US" altLang="zh-TW" sz="1800" dirty="0"/>
              <a:t>= 1 - (Hit Rate)</a:t>
            </a:r>
          </a:p>
          <a:p>
            <a:pPr lvl="1">
              <a:lnSpc>
                <a:spcPct val="75000"/>
              </a:lnSpc>
              <a:spcBef>
                <a:spcPct val="10000"/>
              </a:spcBef>
            </a:pPr>
            <a:r>
              <a:rPr lang="en-US" altLang="zh-TW" sz="1800" dirty="0">
                <a:solidFill>
                  <a:srgbClr val="FF0000"/>
                </a:solidFill>
              </a:rPr>
              <a:t>Miss Penalty</a:t>
            </a:r>
            <a:r>
              <a:rPr lang="en-US" altLang="zh-TW" sz="1800" dirty="0"/>
              <a:t>: Time to replace a block in the upper level  + time to deliver the block to the processor (latency + transmit time)</a:t>
            </a:r>
          </a:p>
          <a:p>
            <a:pPr>
              <a:lnSpc>
                <a:spcPct val="75000"/>
              </a:lnSpc>
              <a:spcBef>
                <a:spcPct val="10000"/>
              </a:spcBef>
            </a:pPr>
            <a:r>
              <a:rPr lang="en-US" altLang="zh-TW" sz="2000" dirty="0"/>
              <a:t>Hit Time &lt;&lt; Miss Penalty</a:t>
            </a:r>
          </a:p>
        </p:txBody>
      </p:sp>
      <p:sp>
        <p:nvSpPr>
          <p:cNvPr id="18" name="Slide Number Placeholder 5">
            <a:extLst>
              <a:ext uri="{FF2B5EF4-FFF2-40B4-BE49-F238E27FC236}">
                <a16:creationId xmlns:a16="http://schemas.microsoft.com/office/drawing/2014/main" id="{89291D72-B5A9-40DB-88A7-E6798FE11E1A}"/>
              </a:ext>
            </a:extLst>
          </p:cNvPr>
          <p:cNvSpPr>
            <a:spLocks noGrp="1"/>
          </p:cNvSpPr>
          <p:nvPr>
            <p:ph type="sldNum" sz="quarter" idx="10"/>
          </p:nvPr>
        </p:nvSpPr>
        <p:spPr>
          <a:xfrm>
            <a:off x="6831013" y="4893471"/>
            <a:ext cx="2133600" cy="254794"/>
          </a:xfrm>
        </p:spPr>
        <p:txBody>
          <a:bodyPr/>
          <a:lstStyle/>
          <a:p>
            <a:fld id="{D9B6BDF2-6896-4B98-8776-C18582F63BA5}" type="slidenum">
              <a:rPr lang="zh-TW" altLang="en-US" smtClean="0"/>
              <a:pPr/>
              <a:t>10</a:t>
            </a:fld>
            <a:endParaRPr lang="zh-TW" alt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a:xfrm>
            <a:off x="914401" y="129779"/>
            <a:ext cx="6815138" cy="474905"/>
          </a:xfrm>
        </p:spPr>
        <p:txBody>
          <a:bodyPr/>
          <a:lstStyle/>
          <a:p>
            <a:r>
              <a:rPr lang="en-US" altLang="zh-TW" dirty="0"/>
              <a:t>Four</a:t>
            </a:r>
            <a:r>
              <a:rPr lang="zh-TW" altLang="en-US" dirty="0"/>
              <a:t> </a:t>
            </a:r>
            <a:r>
              <a:rPr lang="en-US" altLang="zh-TW" dirty="0"/>
              <a:t>Questions for Hierarchy Design</a:t>
            </a:r>
          </a:p>
        </p:txBody>
      </p:sp>
      <p:sp>
        <p:nvSpPr>
          <p:cNvPr id="20483" name="Rectangle 3"/>
          <p:cNvSpPr>
            <a:spLocks noGrp="1" noChangeArrowheads="1"/>
          </p:cNvSpPr>
          <p:nvPr>
            <p:ph type="body" idx="1"/>
          </p:nvPr>
        </p:nvSpPr>
        <p:spPr>
          <a:xfrm>
            <a:off x="988142" y="844153"/>
            <a:ext cx="7698658" cy="3671888"/>
          </a:xfrm>
        </p:spPr>
        <p:txBody>
          <a:bodyPr/>
          <a:lstStyle/>
          <a:p>
            <a:pPr>
              <a:buFont typeface="Wingdings" pitchFamily="2" charset="2"/>
              <a:buNone/>
            </a:pPr>
            <a:r>
              <a:rPr lang="en-US" altLang="zh-TW" sz="2000" dirty="0"/>
              <a:t>Q1: Where can a block be placed in the upper level?</a:t>
            </a:r>
            <a:br>
              <a:rPr lang="en-US" altLang="zh-TW" sz="2000" dirty="0"/>
            </a:br>
            <a:r>
              <a:rPr lang="en-US" altLang="zh-TW" sz="1800" dirty="0"/>
              <a:t>=&gt; Block placement</a:t>
            </a:r>
          </a:p>
          <a:p>
            <a:pPr>
              <a:buFont typeface="Wingdings" pitchFamily="2" charset="2"/>
              <a:buNone/>
            </a:pPr>
            <a:r>
              <a:rPr lang="en-US" altLang="zh-TW" sz="2000" dirty="0"/>
              <a:t>Q2: How is a block found if it is in the upper level?</a:t>
            </a:r>
            <a:br>
              <a:rPr lang="en-US" altLang="zh-TW" sz="2000" dirty="0"/>
            </a:br>
            <a:r>
              <a:rPr lang="en-US" altLang="zh-TW" sz="1800" dirty="0"/>
              <a:t>=&gt; Block finding</a:t>
            </a:r>
          </a:p>
          <a:p>
            <a:pPr>
              <a:buFont typeface="Wingdings" pitchFamily="2" charset="2"/>
              <a:buNone/>
            </a:pPr>
            <a:r>
              <a:rPr lang="en-US" altLang="zh-TW" sz="2000" dirty="0"/>
              <a:t>Q3: Which block should be replaced on a miss?</a:t>
            </a:r>
            <a:br>
              <a:rPr lang="en-US" altLang="zh-TW" sz="2000" dirty="0"/>
            </a:br>
            <a:r>
              <a:rPr lang="en-US" altLang="zh-TW" sz="1800" dirty="0"/>
              <a:t>=&gt; Block replacement</a:t>
            </a:r>
          </a:p>
          <a:p>
            <a:pPr>
              <a:buFont typeface="Wingdings" pitchFamily="2" charset="2"/>
              <a:buNone/>
            </a:pPr>
            <a:r>
              <a:rPr lang="en-US" altLang="zh-TW" sz="2000" dirty="0"/>
              <a:t>Q4: What happens on a write?</a:t>
            </a:r>
            <a:br>
              <a:rPr lang="en-US" altLang="zh-TW" sz="2000" dirty="0"/>
            </a:br>
            <a:r>
              <a:rPr lang="en-US" altLang="zh-TW" sz="1800" dirty="0"/>
              <a:t>=&gt; Write strategy</a:t>
            </a:r>
          </a:p>
        </p:txBody>
      </p:sp>
      <p:sp>
        <p:nvSpPr>
          <p:cNvPr id="5" name="Slide Number Placeholder 5">
            <a:extLst>
              <a:ext uri="{FF2B5EF4-FFF2-40B4-BE49-F238E27FC236}">
                <a16:creationId xmlns:a16="http://schemas.microsoft.com/office/drawing/2014/main" id="{FFD9465E-02E7-4CF7-8802-59AB3E369F2A}"/>
              </a:ext>
            </a:extLst>
          </p:cNvPr>
          <p:cNvSpPr>
            <a:spLocks noGrp="1"/>
          </p:cNvSpPr>
          <p:nvPr>
            <p:ph type="sldNum" sz="quarter" idx="10"/>
          </p:nvPr>
        </p:nvSpPr>
        <p:spPr>
          <a:xfrm>
            <a:off x="6831013" y="4893471"/>
            <a:ext cx="2133600" cy="254794"/>
          </a:xfrm>
        </p:spPr>
        <p:txBody>
          <a:bodyPr/>
          <a:lstStyle/>
          <a:p>
            <a:fld id="{D9B6BDF2-6896-4B98-8776-C18582F63BA5}" type="slidenum">
              <a:rPr lang="zh-TW" altLang="en-US" smtClean="0"/>
              <a:pPr/>
              <a:t>11</a:t>
            </a:fld>
            <a:endParaRPr lang="zh-TW" alt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a:xfrm>
            <a:off x="951271" y="129780"/>
            <a:ext cx="6778267" cy="460156"/>
          </a:xfrm>
        </p:spPr>
        <p:txBody>
          <a:bodyPr/>
          <a:lstStyle/>
          <a:p>
            <a:r>
              <a:rPr lang="en-US" altLang="zh-TW" dirty="0"/>
              <a:t>Summary of Memory Hierarchy</a:t>
            </a:r>
          </a:p>
        </p:txBody>
      </p:sp>
      <p:sp>
        <p:nvSpPr>
          <p:cNvPr id="21507" name="Rectangle 3"/>
          <p:cNvSpPr>
            <a:spLocks noGrp="1" noChangeArrowheads="1"/>
          </p:cNvSpPr>
          <p:nvPr>
            <p:ph type="body" idx="1"/>
          </p:nvPr>
        </p:nvSpPr>
        <p:spPr>
          <a:xfrm>
            <a:off x="995516" y="844153"/>
            <a:ext cx="7691284" cy="3671888"/>
          </a:xfrm>
        </p:spPr>
        <p:txBody>
          <a:bodyPr/>
          <a:lstStyle/>
          <a:p>
            <a:pPr>
              <a:spcBef>
                <a:spcPts val="0"/>
              </a:spcBef>
            </a:pPr>
            <a:r>
              <a:rPr lang="en-US" altLang="zh-TW" sz="2000" dirty="0"/>
              <a:t>DRAM is slow but cheap and dense</a:t>
            </a:r>
          </a:p>
          <a:p>
            <a:pPr lvl="1">
              <a:spcBef>
                <a:spcPts val="0"/>
              </a:spcBef>
            </a:pPr>
            <a:r>
              <a:rPr lang="en-US" altLang="zh-TW" sz="1800" dirty="0"/>
              <a:t>Good for presenting users with a </a:t>
            </a:r>
            <a:r>
              <a:rPr lang="en-US" altLang="zh-TW" sz="1800" dirty="0">
                <a:solidFill>
                  <a:srgbClr val="FF0000"/>
                </a:solidFill>
              </a:rPr>
              <a:t>BIG</a:t>
            </a:r>
            <a:r>
              <a:rPr lang="en-US" altLang="zh-TW" sz="1800" dirty="0"/>
              <a:t> memory system</a:t>
            </a:r>
          </a:p>
          <a:p>
            <a:pPr>
              <a:spcBef>
                <a:spcPts val="0"/>
              </a:spcBef>
            </a:pPr>
            <a:r>
              <a:rPr lang="en-US" altLang="zh-TW" sz="2000" dirty="0"/>
              <a:t>SRAM is fast but expensive, not very dense</a:t>
            </a:r>
          </a:p>
          <a:p>
            <a:pPr lvl="1">
              <a:spcBef>
                <a:spcPts val="0"/>
              </a:spcBef>
            </a:pPr>
            <a:r>
              <a:rPr lang="en-US" altLang="zh-TW" sz="1800" dirty="0"/>
              <a:t>Good choice for providing users </a:t>
            </a:r>
            <a:r>
              <a:rPr lang="en-US" altLang="zh-TW" sz="1800" dirty="0">
                <a:solidFill>
                  <a:srgbClr val="FF0000"/>
                </a:solidFill>
              </a:rPr>
              <a:t>FAST</a:t>
            </a:r>
            <a:r>
              <a:rPr lang="en-US" altLang="zh-TW" sz="1800" dirty="0"/>
              <a:t> accesses</a:t>
            </a:r>
          </a:p>
          <a:p>
            <a:pPr>
              <a:spcBef>
                <a:spcPts val="0"/>
              </a:spcBef>
            </a:pPr>
            <a:endParaRPr lang="en-US" altLang="zh-TW" sz="2000" dirty="0"/>
          </a:p>
          <a:p>
            <a:pPr>
              <a:spcBef>
                <a:spcPts val="0"/>
              </a:spcBef>
            </a:pPr>
            <a:r>
              <a:rPr lang="en-US" altLang="zh-TW" sz="2000" dirty="0"/>
              <a:t>Two different types of locality</a:t>
            </a:r>
          </a:p>
          <a:p>
            <a:pPr lvl="1">
              <a:spcBef>
                <a:spcPts val="0"/>
              </a:spcBef>
            </a:pPr>
            <a:r>
              <a:rPr lang="en-US" altLang="zh-TW" sz="1800" dirty="0"/>
              <a:t>Temporal Locality (Locality in Time)</a:t>
            </a:r>
          </a:p>
          <a:p>
            <a:pPr lvl="1">
              <a:spcBef>
                <a:spcPts val="0"/>
              </a:spcBef>
            </a:pPr>
            <a:r>
              <a:rPr lang="en-US" altLang="zh-TW" sz="1800" dirty="0"/>
              <a:t>Spatial Locality (Locality in Space)</a:t>
            </a:r>
          </a:p>
          <a:p>
            <a:pPr>
              <a:spcBef>
                <a:spcPts val="0"/>
              </a:spcBef>
            </a:pPr>
            <a:r>
              <a:rPr lang="en-US" altLang="zh-TW" sz="2000" dirty="0"/>
              <a:t>Use the principle of locality</a:t>
            </a:r>
          </a:p>
          <a:p>
            <a:pPr lvl="1">
              <a:spcBef>
                <a:spcPts val="0"/>
              </a:spcBef>
            </a:pPr>
            <a:r>
              <a:rPr lang="en-US" altLang="zh-TW" sz="1800" dirty="0"/>
              <a:t>Present the user with as much memory as is available in the cheapest technology</a:t>
            </a:r>
          </a:p>
          <a:p>
            <a:pPr lvl="1">
              <a:spcBef>
                <a:spcPts val="0"/>
              </a:spcBef>
            </a:pPr>
            <a:r>
              <a:rPr lang="en-US" altLang="zh-TW" sz="1800" dirty="0"/>
              <a:t>Provide access at the speed offered by the fastest technology</a:t>
            </a:r>
          </a:p>
        </p:txBody>
      </p:sp>
      <p:sp>
        <p:nvSpPr>
          <p:cNvPr id="5" name="Slide Number Placeholder 5">
            <a:extLst>
              <a:ext uri="{FF2B5EF4-FFF2-40B4-BE49-F238E27FC236}">
                <a16:creationId xmlns:a16="http://schemas.microsoft.com/office/drawing/2014/main" id="{1FBF2345-4AAE-448E-A884-EB4FD2003E9E}"/>
              </a:ext>
            </a:extLst>
          </p:cNvPr>
          <p:cNvSpPr>
            <a:spLocks noGrp="1"/>
          </p:cNvSpPr>
          <p:nvPr>
            <p:ph type="sldNum" sz="quarter" idx="10"/>
          </p:nvPr>
        </p:nvSpPr>
        <p:spPr>
          <a:xfrm>
            <a:off x="6831013" y="4893471"/>
            <a:ext cx="2133600" cy="254794"/>
          </a:xfrm>
        </p:spPr>
        <p:txBody>
          <a:bodyPr/>
          <a:lstStyle/>
          <a:p>
            <a:fld id="{D9B6BDF2-6896-4B98-8776-C18582F63BA5}" type="slidenum">
              <a:rPr lang="zh-TW" altLang="en-US" smtClean="0"/>
              <a:pPr/>
              <a:t>12</a:t>
            </a:fld>
            <a:endParaRPr lang="zh-TW" alt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a:xfrm>
            <a:off x="950259" y="129780"/>
            <a:ext cx="6779279" cy="470856"/>
          </a:xfrm>
        </p:spPr>
        <p:txBody>
          <a:bodyPr/>
          <a:lstStyle/>
          <a:p>
            <a:r>
              <a:rPr lang="en-US" altLang="zh-TW" dirty="0"/>
              <a:t>Outline</a:t>
            </a:r>
          </a:p>
        </p:txBody>
      </p:sp>
      <p:sp>
        <p:nvSpPr>
          <p:cNvPr id="7171" name="Rectangle 3"/>
          <p:cNvSpPr>
            <a:spLocks noGrp="1" noChangeArrowheads="1"/>
          </p:cNvSpPr>
          <p:nvPr>
            <p:ph type="body" idx="1"/>
          </p:nvPr>
        </p:nvSpPr>
        <p:spPr>
          <a:xfrm>
            <a:off x="1414463" y="832248"/>
            <a:ext cx="6506766" cy="3703894"/>
          </a:xfrm>
        </p:spPr>
        <p:txBody>
          <a:bodyPr/>
          <a:lstStyle/>
          <a:p>
            <a:r>
              <a:rPr lang="en-US" altLang="zh-TW" sz="2000" dirty="0"/>
              <a:t>Memory hierarchy</a:t>
            </a:r>
          </a:p>
          <a:p>
            <a:r>
              <a:rPr lang="en-US" altLang="zh-TW" sz="2000" dirty="0"/>
              <a:t>The basics of caches</a:t>
            </a:r>
          </a:p>
          <a:p>
            <a:pPr lvl="1"/>
            <a:r>
              <a:rPr lang="en-US" altLang="zh-TW" sz="1800" dirty="0">
                <a:solidFill>
                  <a:srgbClr val="FF0000"/>
                </a:solidFill>
              </a:rPr>
              <a:t>Direct-mapped cache</a:t>
            </a:r>
          </a:p>
          <a:p>
            <a:pPr lvl="1"/>
            <a:r>
              <a:rPr lang="en-US" altLang="zh-TW" sz="1800" dirty="0"/>
              <a:t>Address sub-division</a:t>
            </a:r>
          </a:p>
          <a:p>
            <a:pPr lvl="1"/>
            <a:r>
              <a:rPr lang="en-US" altLang="zh-TW" sz="1800" dirty="0"/>
              <a:t>Cache hit and miss</a:t>
            </a:r>
          </a:p>
          <a:p>
            <a:pPr lvl="1"/>
            <a:r>
              <a:rPr lang="en-US" altLang="zh-TW" sz="1800" dirty="0"/>
              <a:t>Memory support</a:t>
            </a:r>
          </a:p>
          <a:p>
            <a:r>
              <a:rPr lang="en-US" altLang="zh-TW" sz="2000" dirty="0"/>
              <a:t>Measuring cache performance</a:t>
            </a:r>
          </a:p>
          <a:p>
            <a:r>
              <a:rPr lang="en-US" altLang="zh-TW" sz="2000" dirty="0"/>
              <a:t>Improving cache performance</a:t>
            </a:r>
          </a:p>
          <a:p>
            <a:pPr lvl="1"/>
            <a:r>
              <a:rPr lang="en-US" altLang="zh-TW" sz="1800" dirty="0"/>
              <a:t>Set associative cache</a:t>
            </a:r>
          </a:p>
          <a:p>
            <a:pPr lvl="1"/>
            <a:r>
              <a:rPr lang="en-US" altLang="zh-TW" sz="1800" dirty="0"/>
              <a:t>Multiple level cache</a:t>
            </a:r>
          </a:p>
        </p:txBody>
      </p:sp>
      <p:sp>
        <p:nvSpPr>
          <p:cNvPr id="5" name="Slide Number Placeholder 5">
            <a:extLst>
              <a:ext uri="{FF2B5EF4-FFF2-40B4-BE49-F238E27FC236}">
                <a16:creationId xmlns:a16="http://schemas.microsoft.com/office/drawing/2014/main" id="{FBEC8137-9B2A-4301-83A7-D595AE649AAE}"/>
              </a:ext>
            </a:extLst>
          </p:cNvPr>
          <p:cNvSpPr>
            <a:spLocks noGrp="1"/>
          </p:cNvSpPr>
          <p:nvPr>
            <p:ph type="sldNum" sz="quarter" idx="10"/>
          </p:nvPr>
        </p:nvSpPr>
        <p:spPr>
          <a:xfrm>
            <a:off x="6831013" y="4893471"/>
            <a:ext cx="2133600" cy="254794"/>
          </a:xfrm>
        </p:spPr>
        <p:txBody>
          <a:bodyPr/>
          <a:lstStyle/>
          <a:p>
            <a:fld id="{D9B6BDF2-6896-4B98-8776-C18582F63BA5}" type="slidenum">
              <a:rPr lang="zh-TW" altLang="en-US" smtClean="0"/>
              <a:pPr/>
              <a:t>13</a:t>
            </a:fld>
            <a:endParaRPr lang="zh-TW" altLang="en-US"/>
          </a:p>
        </p:txBody>
      </p:sp>
    </p:spTree>
    <p:extLst>
      <p:ext uri="{BB962C8B-B14F-4D97-AF65-F5344CB8AC3E}">
        <p14:creationId xmlns:p14="http://schemas.microsoft.com/office/powerpoint/2010/main" val="16505961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pSp>
        <p:nvGrpSpPr>
          <p:cNvPr id="13315" name="Group 110"/>
          <p:cNvGrpSpPr>
            <a:grpSpLocks/>
          </p:cNvGrpSpPr>
          <p:nvPr/>
        </p:nvGrpSpPr>
        <p:grpSpPr bwMode="auto">
          <a:xfrm>
            <a:off x="656303" y="1017639"/>
            <a:ext cx="7905136" cy="3406877"/>
            <a:chOff x="237" y="682"/>
            <a:chExt cx="5951" cy="2401"/>
          </a:xfrm>
        </p:grpSpPr>
        <p:sp>
          <p:nvSpPr>
            <p:cNvPr id="13318" name="Rectangle 3"/>
            <p:cNvSpPr>
              <a:spLocks noChangeArrowheads="1"/>
            </p:cNvSpPr>
            <p:nvPr/>
          </p:nvSpPr>
          <p:spPr bwMode="auto">
            <a:xfrm>
              <a:off x="5068" y="710"/>
              <a:ext cx="964" cy="640"/>
            </a:xfrm>
            <a:prstGeom prst="rect">
              <a:avLst/>
            </a:prstGeom>
            <a:noFill/>
            <a:ln w="9525">
              <a:noFill/>
              <a:miter lim="800000"/>
              <a:headEnd/>
              <a:tailEnd/>
            </a:ln>
          </p:spPr>
          <p:txBody>
            <a:bodyPr lIns="69056" tIns="34529" rIns="69056" bIns="34529">
              <a:spAutoFit/>
            </a:bodyPr>
            <a:lstStyle/>
            <a:p>
              <a:r>
                <a:rPr kumimoji="1" lang="en-US" altLang="zh-TW" sz="1500">
                  <a:latin typeface="Arial" pitchFamily="34" charset="0"/>
                </a:rPr>
                <a:t>Proc</a:t>
              </a:r>
            </a:p>
            <a:p>
              <a:r>
                <a:rPr kumimoji="1" lang="en-US" altLang="zh-TW" sz="1500">
                  <a:latin typeface="Arial" pitchFamily="34" charset="0"/>
                </a:rPr>
                <a:t>60%/yr.</a:t>
              </a:r>
            </a:p>
            <a:p>
              <a:r>
                <a:rPr kumimoji="1" lang="en-US" altLang="zh-TW" sz="1500">
                  <a:latin typeface="Arial" pitchFamily="34" charset="0"/>
                </a:rPr>
                <a:t>(2X/1.5 yr)</a:t>
              </a:r>
              <a:endParaRPr kumimoji="1" lang="en-US" altLang="zh-TW" sz="1350">
                <a:latin typeface="Arial" pitchFamily="34" charset="0"/>
              </a:endParaRPr>
            </a:p>
          </p:txBody>
        </p:sp>
        <p:sp>
          <p:nvSpPr>
            <p:cNvPr id="13319" name="Rectangle 4"/>
            <p:cNvSpPr>
              <a:spLocks noChangeArrowheads="1"/>
            </p:cNvSpPr>
            <p:nvPr/>
          </p:nvSpPr>
          <p:spPr bwMode="auto">
            <a:xfrm>
              <a:off x="5044" y="2080"/>
              <a:ext cx="1144" cy="640"/>
            </a:xfrm>
            <a:prstGeom prst="rect">
              <a:avLst/>
            </a:prstGeom>
            <a:noFill/>
            <a:ln w="9525">
              <a:noFill/>
              <a:miter lim="800000"/>
              <a:headEnd/>
              <a:tailEnd/>
            </a:ln>
          </p:spPr>
          <p:txBody>
            <a:bodyPr lIns="69056" tIns="34529" rIns="69056" bIns="34529">
              <a:spAutoFit/>
            </a:bodyPr>
            <a:lstStyle/>
            <a:p>
              <a:r>
                <a:rPr kumimoji="1" lang="en-US" altLang="zh-TW" sz="1500" dirty="0">
                  <a:latin typeface="Arial" pitchFamily="34" charset="0"/>
                </a:rPr>
                <a:t>DRAM</a:t>
              </a:r>
            </a:p>
            <a:p>
              <a:r>
                <a:rPr kumimoji="1" lang="en-US" altLang="zh-TW" sz="1500" dirty="0">
                  <a:latin typeface="Arial" pitchFamily="34" charset="0"/>
                </a:rPr>
                <a:t>9%/yr.</a:t>
              </a:r>
            </a:p>
            <a:p>
              <a:r>
                <a:rPr kumimoji="1" lang="en-US" altLang="zh-TW" sz="1500" dirty="0">
                  <a:latin typeface="Arial" pitchFamily="34" charset="0"/>
                </a:rPr>
                <a:t>(2X/10 </a:t>
              </a:r>
              <a:r>
                <a:rPr kumimoji="1" lang="en-US" altLang="zh-TW" sz="1500" dirty="0" err="1">
                  <a:latin typeface="Arial" pitchFamily="34" charset="0"/>
                </a:rPr>
                <a:t>yrs</a:t>
              </a:r>
              <a:r>
                <a:rPr kumimoji="1" lang="en-US" altLang="zh-TW" sz="1500" dirty="0">
                  <a:latin typeface="Arial" pitchFamily="34" charset="0"/>
                </a:rPr>
                <a:t>)</a:t>
              </a:r>
              <a:endParaRPr kumimoji="1" lang="en-US" altLang="zh-TW" sz="1350" dirty="0">
                <a:latin typeface="Arial" pitchFamily="34" charset="0"/>
              </a:endParaRPr>
            </a:p>
          </p:txBody>
        </p:sp>
        <p:sp>
          <p:nvSpPr>
            <p:cNvPr id="13320" name="Arc 5"/>
            <p:cNvSpPr>
              <a:spLocks/>
            </p:cNvSpPr>
            <p:nvPr/>
          </p:nvSpPr>
          <p:spPr bwMode="auto">
            <a:xfrm>
              <a:off x="4707" y="2166"/>
              <a:ext cx="390" cy="126"/>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0" y="21600"/>
                  </a:moveTo>
                  <a:cubicBezTo>
                    <a:pt x="0" y="9694"/>
                    <a:pt x="9634" y="33"/>
                    <a:pt x="21540" y="0"/>
                  </a:cubicBezTo>
                </a:path>
                <a:path w="21600" h="21600" stroke="0" extrusionOk="0">
                  <a:moveTo>
                    <a:pt x="0" y="21600"/>
                  </a:moveTo>
                  <a:cubicBezTo>
                    <a:pt x="0" y="9694"/>
                    <a:pt x="9634" y="33"/>
                    <a:pt x="21540" y="0"/>
                  </a:cubicBezTo>
                  <a:lnTo>
                    <a:pt x="21600" y="21600"/>
                  </a:lnTo>
                  <a:lnTo>
                    <a:pt x="0" y="21600"/>
                  </a:lnTo>
                  <a:close/>
                </a:path>
              </a:pathLst>
            </a:custGeom>
            <a:noFill/>
            <a:ln w="25400" cap="rnd">
              <a:solidFill>
                <a:schemeClr val="tx1"/>
              </a:solidFill>
              <a:round/>
              <a:headEnd type="stealth" w="med" len="lg"/>
              <a:tailEnd type="none" w="sm" len="sm"/>
            </a:ln>
          </p:spPr>
          <p:txBody>
            <a:bodyPr wrap="none" anchor="ctr"/>
            <a:lstStyle/>
            <a:p>
              <a:endParaRPr lang="zh-TW" altLang="en-US" sz="1350"/>
            </a:p>
          </p:txBody>
        </p:sp>
        <p:sp>
          <p:nvSpPr>
            <p:cNvPr id="13321" name="Line 6"/>
            <p:cNvSpPr>
              <a:spLocks noChangeShapeType="1"/>
            </p:cNvSpPr>
            <p:nvPr/>
          </p:nvSpPr>
          <p:spPr bwMode="auto">
            <a:xfrm>
              <a:off x="4641" y="831"/>
              <a:ext cx="17" cy="0"/>
            </a:xfrm>
            <a:prstGeom prst="line">
              <a:avLst/>
            </a:prstGeom>
            <a:noFill/>
            <a:ln w="12700">
              <a:solidFill>
                <a:srgbClr val="000000"/>
              </a:solidFill>
              <a:round/>
              <a:headEnd type="none" w="sm" len="sm"/>
              <a:tailEnd type="none" w="sm" len="sm"/>
            </a:ln>
          </p:spPr>
          <p:txBody>
            <a:bodyPr wrap="none" anchor="ctr"/>
            <a:lstStyle/>
            <a:p>
              <a:endParaRPr lang="zh-TW" altLang="en-US" sz="1350"/>
            </a:p>
          </p:txBody>
        </p:sp>
        <p:sp>
          <p:nvSpPr>
            <p:cNvPr id="13322" name="Line 7"/>
            <p:cNvSpPr>
              <a:spLocks noChangeShapeType="1"/>
            </p:cNvSpPr>
            <p:nvPr/>
          </p:nvSpPr>
          <p:spPr bwMode="auto">
            <a:xfrm flipV="1">
              <a:off x="1005" y="827"/>
              <a:ext cx="0" cy="1832"/>
            </a:xfrm>
            <a:prstGeom prst="line">
              <a:avLst/>
            </a:prstGeom>
            <a:noFill/>
            <a:ln w="12700">
              <a:solidFill>
                <a:schemeClr val="tx1"/>
              </a:solidFill>
              <a:round/>
              <a:headEnd type="none" w="sm" len="sm"/>
              <a:tailEnd type="none" w="sm" len="sm"/>
            </a:ln>
          </p:spPr>
          <p:txBody>
            <a:bodyPr wrap="none" anchor="ctr"/>
            <a:lstStyle/>
            <a:p>
              <a:endParaRPr lang="zh-TW" altLang="en-US" sz="1350"/>
            </a:p>
          </p:txBody>
        </p:sp>
        <p:sp>
          <p:nvSpPr>
            <p:cNvPr id="13323" name="Line 8"/>
            <p:cNvSpPr>
              <a:spLocks noChangeShapeType="1"/>
            </p:cNvSpPr>
            <p:nvPr/>
          </p:nvSpPr>
          <p:spPr bwMode="auto">
            <a:xfrm>
              <a:off x="975" y="2544"/>
              <a:ext cx="52" cy="0"/>
            </a:xfrm>
            <a:prstGeom prst="line">
              <a:avLst/>
            </a:prstGeom>
            <a:noFill/>
            <a:ln w="12700">
              <a:solidFill>
                <a:srgbClr val="000000"/>
              </a:solidFill>
              <a:round/>
              <a:headEnd type="none" w="sm" len="sm"/>
              <a:tailEnd type="none" w="sm" len="sm"/>
            </a:ln>
          </p:spPr>
          <p:txBody>
            <a:bodyPr wrap="none" anchor="ctr"/>
            <a:lstStyle/>
            <a:p>
              <a:endParaRPr lang="zh-TW" altLang="en-US" sz="1350"/>
            </a:p>
          </p:txBody>
        </p:sp>
        <p:sp>
          <p:nvSpPr>
            <p:cNvPr id="13324" name="Line 9"/>
            <p:cNvSpPr>
              <a:spLocks noChangeShapeType="1"/>
            </p:cNvSpPr>
            <p:nvPr/>
          </p:nvSpPr>
          <p:spPr bwMode="auto">
            <a:xfrm>
              <a:off x="1001" y="2688"/>
              <a:ext cx="3666" cy="0"/>
            </a:xfrm>
            <a:prstGeom prst="line">
              <a:avLst/>
            </a:prstGeom>
            <a:noFill/>
            <a:ln w="12700">
              <a:solidFill>
                <a:schemeClr val="tx1"/>
              </a:solidFill>
              <a:round/>
              <a:headEnd type="none" w="sm" len="sm"/>
              <a:tailEnd type="none" w="sm" len="sm"/>
            </a:ln>
          </p:spPr>
          <p:txBody>
            <a:bodyPr wrap="none" anchor="ctr"/>
            <a:lstStyle/>
            <a:p>
              <a:endParaRPr lang="zh-TW" altLang="en-US" sz="1350"/>
            </a:p>
          </p:txBody>
        </p:sp>
        <p:sp>
          <p:nvSpPr>
            <p:cNvPr id="13325" name="Line 10"/>
            <p:cNvSpPr>
              <a:spLocks noChangeShapeType="1"/>
            </p:cNvSpPr>
            <p:nvPr/>
          </p:nvSpPr>
          <p:spPr bwMode="auto">
            <a:xfrm flipV="1">
              <a:off x="1005" y="2629"/>
              <a:ext cx="0" cy="60"/>
            </a:xfrm>
            <a:prstGeom prst="line">
              <a:avLst/>
            </a:prstGeom>
            <a:noFill/>
            <a:ln w="12700">
              <a:solidFill>
                <a:srgbClr val="000000"/>
              </a:solidFill>
              <a:round/>
              <a:headEnd type="none" w="sm" len="sm"/>
              <a:tailEnd type="none" w="sm" len="sm"/>
            </a:ln>
          </p:spPr>
          <p:txBody>
            <a:bodyPr wrap="none" anchor="ctr"/>
            <a:lstStyle/>
            <a:p>
              <a:endParaRPr lang="zh-TW" altLang="en-US" sz="1350"/>
            </a:p>
          </p:txBody>
        </p:sp>
        <p:sp>
          <p:nvSpPr>
            <p:cNvPr id="13326" name="Line 11"/>
            <p:cNvSpPr>
              <a:spLocks noChangeShapeType="1"/>
            </p:cNvSpPr>
            <p:nvPr/>
          </p:nvSpPr>
          <p:spPr bwMode="auto">
            <a:xfrm flipV="1">
              <a:off x="1187" y="2629"/>
              <a:ext cx="0" cy="60"/>
            </a:xfrm>
            <a:prstGeom prst="line">
              <a:avLst/>
            </a:prstGeom>
            <a:noFill/>
            <a:ln w="12700">
              <a:solidFill>
                <a:srgbClr val="000000"/>
              </a:solidFill>
              <a:round/>
              <a:headEnd type="none" w="sm" len="sm"/>
              <a:tailEnd type="none" w="sm" len="sm"/>
            </a:ln>
          </p:spPr>
          <p:txBody>
            <a:bodyPr wrap="none" anchor="ctr"/>
            <a:lstStyle/>
            <a:p>
              <a:endParaRPr lang="zh-TW" altLang="en-US" sz="1350"/>
            </a:p>
          </p:txBody>
        </p:sp>
        <p:sp>
          <p:nvSpPr>
            <p:cNvPr id="13327" name="Line 12"/>
            <p:cNvSpPr>
              <a:spLocks noChangeShapeType="1"/>
            </p:cNvSpPr>
            <p:nvPr/>
          </p:nvSpPr>
          <p:spPr bwMode="auto">
            <a:xfrm flipV="1">
              <a:off x="1378" y="2629"/>
              <a:ext cx="0" cy="60"/>
            </a:xfrm>
            <a:prstGeom prst="line">
              <a:avLst/>
            </a:prstGeom>
            <a:noFill/>
            <a:ln w="12700">
              <a:solidFill>
                <a:srgbClr val="000000"/>
              </a:solidFill>
              <a:round/>
              <a:headEnd type="none" w="sm" len="sm"/>
              <a:tailEnd type="none" w="sm" len="sm"/>
            </a:ln>
          </p:spPr>
          <p:txBody>
            <a:bodyPr wrap="none" anchor="ctr"/>
            <a:lstStyle/>
            <a:p>
              <a:endParaRPr lang="zh-TW" altLang="en-US" sz="1350"/>
            </a:p>
          </p:txBody>
        </p:sp>
        <p:sp>
          <p:nvSpPr>
            <p:cNvPr id="13328" name="Line 13"/>
            <p:cNvSpPr>
              <a:spLocks noChangeShapeType="1"/>
            </p:cNvSpPr>
            <p:nvPr/>
          </p:nvSpPr>
          <p:spPr bwMode="auto">
            <a:xfrm flipV="1">
              <a:off x="1560" y="2629"/>
              <a:ext cx="0" cy="60"/>
            </a:xfrm>
            <a:prstGeom prst="line">
              <a:avLst/>
            </a:prstGeom>
            <a:noFill/>
            <a:ln w="12700">
              <a:solidFill>
                <a:srgbClr val="000000"/>
              </a:solidFill>
              <a:round/>
              <a:headEnd type="none" w="sm" len="sm"/>
              <a:tailEnd type="none" w="sm" len="sm"/>
            </a:ln>
          </p:spPr>
          <p:txBody>
            <a:bodyPr wrap="none" anchor="ctr"/>
            <a:lstStyle/>
            <a:p>
              <a:endParaRPr lang="zh-TW" altLang="en-US" sz="1350"/>
            </a:p>
          </p:txBody>
        </p:sp>
        <p:sp>
          <p:nvSpPr>
            <p:cNvPr id="13329" name="Line 14"/>
            <p:cNvSpPr>
              <a:spLocks noChangeShapeType="1"/>
            </p:cNvSpPr>
            <p:nvPr/>
          </p:nvSpPr>
          <p:spPr bwMode="auto">
            <a:xfrm flipV="1">
              <a:off x="1742" y="2629"/>
              <a:ext cx="0" cy="60"/>
            </a:xfrm>
            <a:prstGeom prst="line">
              <a:avLst/>
            </a:prstGeom>
            <a:noFill/>
            <a:ln w="12700">
              <a:solidFill>
                <a:srgbClr val="000000"/>
              </a:solidFill>
              <a:round/>
              <a:headEnd type="none" w="sm" len="sm"/>
              <a:tailEnd type="none" w="sm" len="sm"/>
            </a:ln>
          </p:spPr>
          <p:txBody>
            <a:bodyPr wrap="none" anchor="ctr"/>
            <a:lstStyle/>
            <a:p>
              <a:endParaRPr lang="zh-TW" altLang="en-US" sz="1350"/>
            </a:p>
          </p:txBody>
        </p:sp>
        <p:sp>
          <p:nvSpPr>
            <p:cNvPr id="13330" name="Line 15"/>
            <p:cNvSpPr>
              <a:spLocks noChangeShapeType="1"/>
            </p:cNvSpPr>
            <p:nvPr/>
          </p:nvSpPr>
          <p:spPr bwMode="auto">
            <a:xfrm flipV="1">
              <a:off x="1924" y="2629"/>
              <a:ext cx="0" cy="60"/>
            </a:xfrm>
            <a:prstGeom prst="line">
              <a:avLst/>
            </a:prstGeom>
            <a:noFill/>
            <a:ln w="12700">
              <a:solidFill>
                <a:srgbClr val="000000"/>
              </a:solidFill>
              <a:round/>
              <a:headEnd type="none" w="sm" len="sm"/>
              <a:tailEnd type="none" w="sm" len="sm"/>
            </a:ln>
          </p:spPr>
          <p:txBody>
            <a:bodyPr wrap="none" anchor="ctr"/>
            <a:lstStyle/>
            <a:p>
              <a:endParaRPr lang="zh-TW" altLang="en-US" sz="1350"/>
            </a:p>
          </p:txBody>
        </p:sp>
        <p:sp>
          <p:nvSpPr>
            <p:cNvPr id="13331" name="Line 16"/>
            <p:cNvSpPr>
              <a:spLocks noChangeShapeType="1"/>
            </p:cNvSpPr>
            <p:nvPr/>
          </p:nvSpPr>
          <p:spPr bwMode="auto">
            <a:xfrm flipV="1">
              <a:off x="2106" y="2629"/>
              <a:ext cx="0" cy="60"/>
            </a:xfrm>
            <a:prstGeom prst="line">
              <a:avLst/>
            </a:prstGeom>
            <a:noFill/>
            <a:ln w="12700">
              <a:solidFill>
                <a:srgbClr val="000000"/>
              </a:solidFill>
              <a:round/>
              <a:headEnd type="none" w="sm" len="sm"/>
              <a:tailEnd type="none" w="sm" len="sm"/>
            </a:ln>
          </p:spPr>
          <p:txBody>
            <a:bodyPr wrap="none" anchor="ctr"/>
            <a:lstStyle/>
            <a:p>
              <a:endParaRPr lang="zh-TW" altLang="en-US" sz="1350"/>
            </a:p>
          </p:txBody>
        </p:sp>
        <p:sp>
          <p:nvSpPr>
            <p:cNvPr id="13332" name="Line 17"/>
            <p:cNvSpPr>
              <a:spLocks noChangeShapeType="1"/>
            </p:cNvSpPr>
            <p:nvPr/>
          </p:nvSpPr>
          <p:spPr bwMode="auto">
            <a:xfrm flipV="1">
              <a:off x="2288" y="2628"/>
              <a:ext cx="0" cy="60"/>
            </a:xfrm>
            <a:prstGeom prst="line">
              <a:avLst/>
            </a:prstGeom>
            <a:noFill/>
            <a:ln w="12700">
              <a:solidFill>
                <a:srgbClr val="000000"/>
              </a:solidFill>
              <a:round/>
              <a:headEnd type="none" w="sm" len="sm"/>
              <a:tailEnd type="none" w="sm" len="sm"/>
            </a:ln>
          </p:spPr>
          <p:txBody>
            <a:bodyPr wrap="none" anchor="ctr"/>
            <a:lstStyle/>
            <a:p>
              <a:endParaRPr lang="zh-TW" altLang="en-US" sz="1350"/>
            </a:p>
          </p:txBody>
        </p:sp>
        <p:sp>
          <p:nvSpPr>
            <p:cNvPr id="13333" name="Line 18"/>
            <p:cNvSpPr>
              <a:spLocks noChangeShapeType="1"/>
            </p:cNvSpPr>
            <p:nvPr/>
          </p:nvSpPr>
          <p:spPr bwMode="auto">
            <a:xfrm flipV="1">
              <a:off x="2470" y="2628"/>
              <a:ext cx="0" cy="60"/>
            </a:xfrm>
            <a:prstGeom prst="line">
              <a:avLst/>
            </a:prstGeom>
            <a:noFill/>
            <a:ln w="12700">
              <a:solidFill>
                <a:srgbClr val="000000"/>
              </a:solidFill>
              <a:round/>
              <a:headEnd type="none" w="sm" len="sm"/>
              <a:tailEnd type="none" w="sm" len="sm"/>
            </a:ln>
          </p:spPr>
          <p:txBody>
            <a:bodyPr wrap="none" anchor="ctr"/>
            <a:lstStyle/>
            <a:p>
              <a:endParaRPr lang="zh-TW" altLang="en-US" sz="1350"/>
            </a:p>
          </p:txBody>
        </p:sp>
        <p:sp>
          <p:nvSpPr>
            <p:cNvPr id="13334" name="Line 19"/>
            <p:cNvSpPr>
              <a:spLocks noChangeShapeType="1"/>
            </p:cNvSpPr>
            <p:nvPr/>
          </p:nvSpPr>
          <p:spPr bwMode="auto">
            <a:xfrm flipV="1">
              <a:off x="2661" y="2628"/>
              <a:ext cx="0" cy="60"/>
            </a:xfrm>
            <a:prstGeom prst="line">
              <a:avLst/>
            </a:prstGeom>
            <a:noFill/>
            <a:ln w="12700">
              <a:solidFill>
                <a:srgbClr val="000000"/>
              </a:solidFill>
              <a:round/>
              <a:headEnd type="none" w="sm" len="sm"/>
              <a:tailEnd type="none" w="sm" len="sm"/>
            </a:ln>
          </p:spPr>
          <p:txBody>
            <a:bodyPr wrap="none" anchor="ctr"/>
            <a:lstStyle/>
            <a:p>
              <a:endParaRPr lang="zh-TW" altLang="en-US" sz="1350"/>
            </a:p>
          </p:txBody>
        </p:sp>
        <p:sp>
          <p:nvSpPr>
            <p:cNvPr id="13335" name="Line 20"/>
            <p:cNvSpPr>
              <a:spLocks noChangeShapeType="1"/>
            </p:cNvSpPr>
            <p:nvPr/>
          </p:nvSpPr>
          <p:spPr bwMode="auto">
            <a:xfrm flipV="1">
              <a:off x="2843" y="2628"/>
              <a:ext cx="0" cy="60"/>
            </a:xfrm>
            <a:prstGeom prst="line">
              <a:avLst/>
            </a:prstGeom>
            <a:noFill/>
            <a:ln w="12700">
              <a:solidFill>
                <a:srgbClr val="000000"/>
              </a:solidFill>
              <a:round/>
              <a:headEnd type="none" w="sm" len="sm"/>
              <a:tailEnd type="none" w="sm" len="sm"/>
            </a:ln>
          </p:spPr>
          <p:txBody>
            <a:bodyPr wrap="none" anchor="ctr"/>
            <a:lstStyle/>
            <a:p>
              <a:endParaRPr lang="zh-TW" altLang="en-US" sz="1350"/>
            </a:p>
          </p:txBody>
        </p:sp>
        <p:sp>
          <p:nvSpPr>
            <p:cNvPr id="13336" name="Line 21"/>
            <p:cNvSpPr>
              <a:spLocks noChangeShapeType="1"/>
            </p:cNvSpPr>
            <p:nvPr/>
          </p:nvSpPr>
          <p:spPr bwMode="auto">
            <a:xfrm flipV="1">
              <a:off x="3025" y="2628"/>
              <a:ext cx="0" cy="60"/>
            </a:xfrm>
            <a:prstGeom prst="line">
              <a:avLst/>
            </a:prstGeom>
            <a:noFill/>
            <a:ln w="12700">
              <a:solidFill>
                <a:srgbClr val="000000"/>
              </a:solidFill>
              <a:round/>
              <a:headEnd type="none" w="sm" len="sm"/>
              <a:tailEnd type="none" w="sm" len="sm"/>
            </a:ln>
          </p:spPr>
          <p:txBody>
            <a:bodyPr wrap="none" anchor="ctr"/>
            <a:lstStyle/>
            <a:p>
              <a:endParaRPr lang="zh-TW" altLang="en-US" sz="1350"/>
            </a:p>
          </p:txBody>
        </p:sp>
        <p:sp>
          <p:nvSpPr>
            <p:cNvPr id="13337" name="Line 22"/>
            <p:cNvSpPr>
              <a:spLocks noChangeShapeType="1"/>
            </p:cNvSpPr>
            <p:nvPr/>
          </p:nvSpPr>
          <p:spPr bwMode="auto">
            <a:xfrm flipV="1">
              <a:off x="3207" y="2628"/>
              <a:ext cx="0" cy="60"/>
            </a:xfrm>
            <a:prstGeom prst="line">
              <a:avLst/>
            </a:prstGeom>
            <a:noFill/>
            <a:ln w="12700">
              <a:solidFill>
                <a:srgbClr val="000000"/>
              </a:solidFill>
              <a:round/>
              <a:headEnd type="none" w="sm" len="sm"/>
              <a:tailEnd type="none" w="sm" len="sm"/>
            </a:ln>
          </p:spPr>
          <p:txBody>
            <a:bodyPr wrap="none" anchor="ctr"/>
            <a:lstStyle/>
            <a:p>
              <a:endParaRPr lang="zh-TW" altLang="en-US" sz="1350"/>
            </a:p>
          </p:txBody>
        </p:sp>
        <p:sp>
          <p:nvSpPr>
            <p:cNvPr id="13338" name="Line 23"/>
            <p:cNvSpPr>
              <a:spLocks noChangeShapeType="1"/>
            </p:cNvSpPr>
            <p:nvPr/>
          </p:nvSpPr>
          <p:spPr bwMode="auto">
            <a:xfrm flipV="1">
              <a:off x="3389" y="2628"/>
              <a:ext cx="0" cy="60"/>
            </a:xfrm>
            <a:prstGeom prst="line">
              <a:avLst/>
            </a:prstGeom>
            <a:noFill/>
            <a:ln w="12700">
              <a:solidFill>
                <a:srgbClr val="000000"/>
              </a:solidFill>
              <a:round/>
              <a:headEnd type="none" w="sm" len="sm"/>
              <a:tailEnd type="none" w="sm" len="sm"/>
            </a:ln>
          </p:spPr>
          <p:txBody>
            <a:bodyPr wrap="none" anchor="ctr"/>
            <a:lstStyle/>
            <a:p>
              <a:endParaRPr lang="zh-TW" altLang="en-US" sz="1350"/>
            </a:p>
          </p:txBody>
        </p:sp>
        <p:sp>
          <p:nvSpPr>
            <p:cNvPr id="13339" name="Line 24"/>
            <p:cNvSpPr>
              <a:spLocks noChangeShapeType="1"/>
            </p:cNvSpPr>
            <p:nvPr/>
          </p:nvSpPr>
          <p:spPr bwMode="auto">
            <a:xfrm flipV="1">
              <a:off x="3571" y="2628"/>
              <a:ext cx="0" cy="60"/>
            </a:xfrm>
            <a:prstGeom prst="line">
              <a:avLst/>
            </a:prstGeom>
            <a:noFill/>
            <a:ln w="12700">
              <a:solidFill>
                <a:srgbClr val="000000"/>
              </a:solidFill>
              <a:round/>
              <a:headEnd type="none" w="sm" len="sm"/>
              <a:tailEnd type="none" w="sm" len="sm"/>
            </a:ln>
          </p:spPr>
          <p:txBody>
            <a:bodyPr wrap="none" anchor="ctr"/>
            <a:lstStyle/>
            <a:p>
              <a:endParaRPr lang="zh-TW" altLang="en-US" sz="1350"/>
            </a:p>
          </p:txBody>
        </p:sp>
        <p:sp>
          <p:nvSpPr>
            <p:cNvPr id="13340" name="Line 25"/>
            <p:cNvSpPr>
              <a:spLocks noChangeShapeType="1"/>
            </p:cNvSpPr>
            <p:nvPr/>
          </p:nvSpPr>
          <p:spPr bwMode="auto">
            <a:xfrm flipV="1">
              <a:off x="3753" y="2628"/>
              <a:ext cx="0" cy="60"/>
            </a:xfrm>
            <a:prstGeom prst="line">
              <a:avLst/>
            </a:prstGeom>
            <a:noFill/>
            <a:ln w="12700">
              <a:solidFill>
                <a:srgbClr val="000000"/>
              </a:solidFill>
              <a:round/>
              <a:headEnd type="none" w="sm" len="sm"/>
              <a:tailEnd type="none" w="sm" len="sm"/>
            </a:ln>
          </p:spPr>
          <p:txBody>
            <a:bodyPr wrap="none" anchor="ctr"/>
            <a:lstStyle/>
            <a:p>
              <a:endParaRPr lang="zh-TW" altLang="en-US" sz="1350"/>
            </a:p>
          </p:txBody>
        </p:sp>
        <p:sp>
          <p:nvSpPr>
            <p:cNvPr id="13341" name="Line 26"/>
            <p:cNvSpPr>
              <a:spLocks noChangeShapeType="1"/>
            </p:cNvSpPr>
            <p:nvPr/>
          </p:nvSpPr>
          <p:spPr bwMode="auto">
            <a:xfrm flipV="1">
              <a:off x="3943" y="2628"/>
              <a:ext cx="0" cy="60"/>
            </a:xfrm>
            <a:prstGeom prst="line">
              <a:avLst/>
            </a:prstGeom>
            <a:noFill/>
            <a:ln w="12700">
              <a:solidFill>
                <a:srgbClr val="000000"/>
              </a:solidFill>
              <a:round/>
              <a:headEnd type="none" w="sm" len="sm"/>
              <a:tailEnd type="none" w="sm" len="sm"/>
            </a:ln>
          </p:spPr>
          <p:txBody>
            <a:bodyPr wrap="none" anchor="ctr"/>
            <a:lstStyle/>
            <a:p>
              <a:endParaRPr lang="zh-TW" altLang="en-US" sz="1350"/>
            </a:p>
          </p:txBody>
        </p:sp>
        <p:sp>
          <p:nvSpPr>
            <p:cNvPr id="13342" name="Line 27"/>
            <p:cNvSpPr>
              <a:spLocks noChangeShapeType="1"/>
            </p:cNvSpPr>
            <p:nvPr/>
          </p:nvSpPr>
          <p:spPr bwMode="auto">
            <a:xfrm flipV="1">
              <a:off x="4125" y="2628"/>
              <a:ext cx="0" cy="60"/>
            </a:xfrm>
            <a:prstGeom prst="line">
              <a:avLst/>
            </a:prstGeom>
            <a:noFill/>
            <a:ln w="12700">
              <a:solidFill>
                <a:srgbClr val="000000"/>
              </a:solidFill>
              <a:round/>
              <a:headEnd type="none" w="sm" len="sm"/>
              <a:tailEnd type="none" w="sm" len="sm"/>
            </a:ln>
          </p:spPr>
          <p:txBody>
            <a:bodyPr wrap="none" anchor="ctr"/>
            <a:lstStyle/>
            <a:p>
              <a:endParaRPr lang="zh-TW" altLang="en-US" sz="1350"/>
            </a:p>
          </p:txBody>
        </p:sp>
        <p:sp>
          <p:nvSpPr>
            <p:cNvPr id="13343" name="Line 28"/>
            <p:cNvSpPr>
              <a:spLocks noChangeShapeType="1"/>
            </p:cNvSpPr>
            <p:nvPr/>
          </p:nvSpPr>
          <p:spPr bwMode="auto">
            <a:xfrm flipV="1">
              <a:off x="4307" y="2628"/>
              <a:ext cx="0" cy="60"/>
            </a:xfrm>
            <a:prstGeom prst="line">
              <a:avLst/>
            </a:prstGeom>
            <a:noFill/>
            <a:ln w="12700">
              <a:solidFill>
                <a:srgbClr val="000000"/>
              </a:solidFill>
              <a:round/>
              <a:headEnd type="none" w="sm" len="sm"/>
              <a:tailEnd type="none" w="sm" len="sm"/>
            </a:ln>
          </p:spPr>
          <p:txBody>
            <a:bodyPr wrap="none" anchor="ctr"/>
            <a:lstStyle/>
            <a:p>
              <a:endParaRPr lang="zh-TW" altLang="en-US" sz="1350"/>
            </a:p>
          </p:txBody>
        </p:sp>
        <p:sp>
          <p:nvSpPr>
            <p:cNvPr id="13344" name="Line 29"/>
            <p:cNvSpPr>
              <a:spLocks noChangeShapeType="1"/>
            </p:cNvSpPr>
            <p:nvPr/>
          </p:nvSpPr>
          <p:spPr bwMode="auto">
            <a:xfrm flipV="1">
              <a:off x="4489" y="2628"/>
              <a:ext cx="0" cy="60"/>
            </a:xfrm>
            <a:prstGeom prst="line">
              <a:avLst/>
            </a:prstGeom>
            <a:noFill/>
            <a:ln w="12700">
              <a:solidFill>
                <a:srgbClr val="000000"/>
              </a:solidFill>
              <a:round/>
              <a:headEnd type="none" w="sm" len="sm"/>
              <a:tailEnd type="none" w="sm" len="sm"/>
            </a:ln>
          </p:spPr>
          <p:txBody>
            <a:bodyPr wrap="none" anchor="ctr"/>
            <a:lstStyle/>
            <a:p>
              <a:endParaRPr lang="zh-TW" altLang="en-US" sz="1350"/>
            </a:p>
          </p:txBody>
        </p:sp>
        <p:sp>
          <p:nvSpPr>
            <p:cNvPr id="13345" name="Line 30"/>
            <p:cNvSpPr>
              <a:spLocks noChangeShapeType="1"/>
            </p:cNvSpPr>
            <p:nvPr/>
          </p:nvSpPr>
          <p:spPr bwMode="auto">
            <a:xfrm flipV="1">
              <a:off x="4671" y="2628"/>
              <a:ext cx="0" cy="60"/>
            </a:xfrm>
            <a:prstGeom prst="line">
              <a:avLst/>
            </a:prstGeom>
            <a:noFill/>
            <a:ln w="12700">
              <a:solidFill>
                <a:srgbClr val="000000"/>
              </a:solidFill>
              <a:round/>
              <a:headEnd type="none" w="sm" len="sm"/>
              <a:tailEnd type="none" w="sm" len="sm"/>
            </a:ln>
          </p:spPr>
          <p:txBody>
            <a:bodyPr wrap="none" anchor="ctr"/>
            <a:lstStyle/>
            <a:p>
              <a:endParaRPr lang="zh-TW" altLang="en-US" sz="1350"/>
            </a:p>
          </p:txBody>
        </p:sp>
        <p:sp>
          <p:nvSpPr>
            <p:cNvPr id="13346" name="Freeform 31"/>
            <p:cNvSpPr>
              <a:spLocks/>
            </p:cNvSpPr>
            <p:nvPr/>
          </p:nvSpPr>
          <p:spPr bwMode="auto">
            <a:xfrm>
              <a:off x="1001" y="843"/>
              <a:ext cx="3667" cy="1817"/>
            </a:xfrm>
            <a:custGeom>
              <a:avLst/>
              <a:gdLst>
                <a:gd name="T0" fmla="*/ 0 w 3385"/>
                <a:gd name="T1" fmla="*/ 1816 h 1817"/>
                <a:gd name="T2" fmla="*/ 404 w 3385"/>
                <a:gd name="T3" fmla="*/ 1752 h 1817"/>
                <a:gd name="T4" fmla="*/ 829 w 3385"/>
                <a:gd name="T5" fmla="*/ 1696 h 1817"/>
                <a:gd name="T6" fmla="*/ 1236 w 3385"/>
                <a:gd name="T7" fmla="*/ 1640 h 1817"/>
                <a:gd name="T8" fmla="*/ 1637 w 3385"/>
                <a:gd name="T9" fmla="*/ 1576 h 1817"/>
                <a:gd name="T10" fmla="*/ 2045 w 3385"/>
                <a:gd name="T11" fmla="*/ 1520 h 1817"/>
                <a:gd name="T12" fmla="*/ 2452 w 3385"/>
                <a:gd name="T13" fmla="*/ 1456 h 1817"/>
                <a:gd name="T14" fmla="*/ 2856 w 3385"/>
                <a:gd name="T15" fmla="*/ 1400 h 1817"/>
                <a:gd name="T16" fmla="*/ 3260 w 3385"/>
                <a:gd name="T17" fmla="*/ 1296 h 1817"/>
                <a:gd name="T18" fmla="*/ 3684 w 3385"/>
                <a:gd name="T19" fmla="*/ 1184 h 1817"/>
                <a:gd name="T20" fmla="*/ 4089 w 3385"/>
                <a:gd name="T21" fmla="*/ 1080 h 1817"/>
                <a:gd name="T22" fmla="*/ 4494 w 3385"/>
                <a:gd name="T23" fmla="*/ 968 h 1817"/>
                <a:gd name="T24" fmla="*/ 4900 w 3385"/>
                <a:gd name="T25" fmla="*/ 864 h 1817"/>
                <a:gd name="T26" fmla="*/ 5305 w 3385"/>
                <a:gd name="T27" fmla="*/ 752 h 1817"/>
                <a:gd name="T28" fmla="*/ 5710 w 3385"/>
                <a:gd name="T29" fmla="*/ 648 h 1817"/>
                <a:gd name="T30" fmla="*/ 6115 w 3385"/>
                <a:gd name="T31" fmla="*/ 536 h 1817"/>
                <a:gd name="T32" fmla="*/ 6540 w 3385"/>
                <a:gd name="T33" fmla="*/ 432 h 1817"/>
                <a:gd name="T34" fmla="*/ 6945 w 3385"/>
                <a:gd name="T35" fmla="*/ 328 h 1817"/>
                <a:gd name="T36" fmla="*/ 7351 w 3385"/>
                <a:gd name="T37" fmla="*/ 216 h 1817"/>
                <a:gd name="T38" fmla="*/ 7755 w 3385"/>
                <a:gd name="T39" fmla="*/ 112 h 1817"/>
                <a:gd name="T40" fmla="*/ 8161 w 3385"/>
                <a:gd name="T41" fmla="*/ 0 h 1817"/>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3385"/>
                <a:gd name="T64" fmla="*/ 0 h 1817"/>
                <a:gd name="T65" fmla="*/ 3385 w 3385"/>
                <a:gd name="T66" fmla="*/ 1817 h 1817"/>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3385" h="1817">
                  <a:moveTo>
                    <a:pt x="0" y="1816"/>
                  </a:moveTo>
                  <a:lnTo>
                    <a:pt x="168" y="1752"/>
                  </a:lnTo>
                  <a:lnTo>
                    <a:pt x="344" y="1696"/>
                  </a:lnTo>
                  <a:lnTo>
                    <a:pt x="512" y="1640"/>
                  </a:lnTo>
                  <a:lnTo>
                    <a:pt x="680" y="1576"/>
                  </a:lnTo>
                  <a:lnTo>
                    <a:pt x="848" y="1520"/>
                  </a:lnTo>
                  <a:lnTo>
                    <a:pt x="1016" y="1456"/>
                  </a:lnTo>
                  <a:lnTo>
                    <a:pt x="1184" y="1400"/>
                  </a:lnTo>
                  <a:lnTo>
                    <a:pt x="1352" y="1296"/>
                  </a:lnTo>
                  <a:lnTo>
                    <a:pt x="1528" y="1184"/>
                  </a:lnTo>
                  <a:lnTo>
                    <a:pt x="1696" y="1080"/>
                  </a:lnTo>
                  <a:lnTo>
                    <a:pt x="1864" y="968"/>
                  </a:lnTo>
                  <a:lnTo>
                    <a:pt x="2032" y="864"/>
                  </a:lnTo>
                  <a:lnTo>
                    <a:pt x="2200" y="752"/>
                  </a:lnTo>
                  <a:lnTo>
                    <a:pt x="2368" y="648"/>
                  </a:lnTo>
                  <a:lnTo>
                    <a:pt x="2536" y="536"/>
                  </a:lnTo>
                  <a:lnTo>
                    <a:pt x="2712" y="432"/>
                  </a:lnTo>
                  <a:lnTo>
                    <a:pt x="2880" y="328"/>
                  </a:lnTo>
                  <a:lnTo>
                    <a:pt x="3048" y="216"/>
                  </a:lnTo>
                  <a:lnTo>
                    <a:pt x="3216" y="112"/>
                  </a:lnTo>
                  <a:lnTo>
                    <a:pt x="3384" y="0"/>
                  </a:lnTo>
                </a:path>
              </a:pathLst>
            </a:custGeom>
            <a:noFill/>
            <a:ln w="12700" cap="rnd">
              <a:solidFill>
                <a:schemeClr val="tx1"/>
              </a:solidFill>
              <a:round/>
              <a:headEnd type="none" w="sm" len="sm"/>
              <a:tailEnd type="none" w="sm" len="sm"/>
            </a:ln>
          </p:spPr>
          <p:txBody>
            <a:bodyPr/>
            <a:lstStyle/>
            <a:p>
              <a:endParaRPr lang="zh-TW" altLang="en-US" sz="1350"/>
            </a:p>
          </p:txBody>
        </p:sp>
        <p:sp>
          <p:nvSpPr>
            <p:cNvPr id="13347" name="Freeform 32"/>
            <p:cNvSpPr>
              <a:spLocks/>
            </p:cNvSpPr>
            <p:nvPr/>
          </p:nvSpPr>
          <p:spPr bwMode="auto">
            <a:xfrm>
              <a:off x="1001" y="2299"/>
              <a:ext cx="3667" cy="361"/>
            </a:xfrm>
            <a:custGeom>
              <a:avLst/>
              <a:gdLst>
                <a:gd name="T0" fmla="*/ 0 w 3385"/>
                <a:gd name="T1" fmla="*/ 360 h 361"/>
                <a:gd name="T2" fmla="*/ 404 w 3385"/>
                <a:gd name="T3" fmla="*/ 344 h 361"/>
                <a:gd name="T4" fmla="*/ 829 w 3385"/>
                <a:gd name="T5" fmla="*/ 320 h 361"/>
                <a:gd name="T6" fmla="*/ 1236 w 3385"/>
                <a:gd name="T7" fmla="*/ 304 h 361"/>
                <a:gd name="T8" fmla="*/ 1637 w 3385"/>
                <a:gd name="T9" fmla="*/ 288 h 361"/>
                <a:gd name="T10" fmla="*/ 2045 w 3385"/>
                <a:gd name="T11" fmla="*/ 272 h 361"/>
                <a:gd name="T12" fmla="*/ 2452 w 3385"/>
                <a:gd name="T13" fmla="*/ 248 h 361"/>
                <a:gd name="T14" fmla="*/ 2856 w 3385"/>
                <a:gd name="T15" fmla="*/ 232 h 361"/>
                <a:gd name="T16" fmla="*/ 3260 w 3385"/>
                <a:gd name="T17" fmla="*/ 216 h 361"/>
                <a:gd name="T18" fmla="*/ 3684 w 3385"/>
                <a:gd name="T19" fmla="*/ 200 h 361"/>
                <a:gd name="T20" fmla="*/ 4089 w 3385"/>
                <a:gd name="T21" fmla="*/ 176 h 361"/>
                <a:gd name="T22" fmla="*/ 4494 w 3385"/>
                <a:gd name="T23" fmla="*/ 160 h 361"/>
                <a:gd name="T24" fmla="*/ 4900 w 3385"/>
                <a:gd name="T25" fmla="*/ 144 h 361"/>
                <a:gd name="T26" fmla="*/ 5305 w 3385"/>
                <a:gd name="T27" fmla="*/ 128 h 361"/>
                <a:gd name="T28" fmla="*/ 5710 w 3385"/>
                <a:gd name="T29" fmla="*/ 104 h 361"/>
                <a:gd name="T30" fmla="*/ 6115 w 3385"/>
                <a:gd name="T31" fmla="*/ 88 h 361"/>
                <a:gd name="T32" fmla="*/ 6540 w 3385"/>
                <a:gd name="T33" fmla="*/ 72 h 361"/>
                <a:gd name="T34" fmla="*/ 6945 w 3385"/>
                <a:gd name="T35" fmla="*/ 56 h 361"/>
                <a:gd name="T36" fmla="*/ 7351 w 3385"/>
                <a:gd name="T37" fmla="*/ 32 h 361"/>
                <a:gd name="T38" fmla="*/ 7755 w 3385"/>
                <a:gd name="T39" fmla="*/ 16 h 361"/>
                <a:gd name="T40" fmla="*/ 8161 w 3385"/>
                <a:gd name="T41" fmla="*/ 0 h 361"/>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3385"/>
                <a:gd name="T64" fmla="*/ 0 h 361"/>
                <a:gd name="T65" fmla="*/ 3385 w 3385"/>
                <a:gd name="T66" fmla="*/ 361 h 361"/>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3385" h="361">
                  <a:moveTo>
                    <a:pt x="0" y="360"/>
                  </a:moveTo>
                  <a:lnTo>
                    <a:pt x="168" y="344"/>
                  </a:lnTo>
                  <a:lnTo>
                    <a:pt x="344" y="320"/>
                  </a:lnTo>
                  <a:lnTo>
                    <a:pt x="512" y="304"/>
                  </a:lnTo>
                  <a:lnTo>
                    <a:pt x="680" y="288"/>
                  </a:lnTo>
                  <a:lnTo>
                    <a:pt x="848" y="272"/>
                  </a:lnTo>
                  <a:lnTo>
                    <a:pt x="1016" y="248"/>
                  </a:lnTo>
                  <a:lnTo>
                    <a:pt x="1184" y="232"/>
                  </a:lnTo>
                  <a:lnTo>
                    <a:pt x="1352" y="216"/>
                  </a:lnTo>
                  <a:lnTo>
                    <a:pt x="1528" y="200"/>
                  </a:lnTo>
                  <a:lnTo>
                    <a:pt x="1696" y="176"/>
                  </a:lnTo>
                  <a:lnTo>
                    <a:pt x="1864" y="160"/>
                  </a:lnTo>
                  <a:lnTo>
                    <a:pt x="2032" y="144"/>
                  </a:lnTo>
                  <a:lnTo>
                    <a:pt x="2200" y="128"/>
                  </a:lnTo>
                  <a:lnTo>
                    <a:pt x="2368" y="104"/>
                  </a:lnTo>
                  <a:lnTo>
                    <a:pt x="2536" y="88"/>
                  </a:lnTo>
                  <a:lnTo>
                    <a:pt x="2712" y="72"/>
                  </a:lnTo>
                  <a:lnTo>
                    <a:pt x="2880" y="56"/>
                  </a:lnTo>
                  <a:lnTo>
                    <a:pt x="3048" y="32"/>
                  </a:lnTo>
                  <a:lnTo>
                    <a:pt x="3216" y="16"/>
                  </a:lnTo>
                  <a:lnTo>
                    <a:pt x="3384" y="0"/>
                  </a:lnTo>
                </a:path>
              </a:pathLst>
            </a:custGeom>
            <a:noFill/>
            <a:ln w="12700" cap="rnd">
              <a:solidFill>
                <a:schemeClr val="tx1"/>
              </a:solidFill>
              <a:round/>
              <a:headEnd type="none" w="sm" len="sm"/>
              <a:tailEnd type="none" w="sm" len="sm"/>
            </a:ln>
          </p:spPr>
          <p:txBody>
            <a:bodyPr/>
            <a:lstStyle/>
            <a:p>
              <a:endParaRPr lang="zh-TW" altLang="en-US" sz="1350"/>
            </a:p>
          </p:txBody>
        </p:sp>
        <p:sp>
          <p:nvSpPr>
            <p:cNvPr id="13348" name="Rectangle 33"/>
            <p:cNvSpPr>
              <a:spLocks noChangeArrowheads="1"/>
            </p:cNvSpPr>
            <p:nvPr/>
          </p:nvSpPr>
          <p:spPr bwMode="auto">
            <a:xfrm>
              <a:off x="979" y="2634"/>
              <a:ext cx="35" cy="42"/>
            </a:xfrm>
            <a:prstGeom prst="rect">
              <a:avLst/>
            </a:prstGeom>
            <a:solidFill>
              <a:srgbClr val="DD0806"/>
            </a:solidFill>
            <a:ln w="12700">
              <a:solidFill>
                <a:srgbClr val="000000"/>
              </a:solidFill>
              <a:miter lim="800000"/>
              <a:headEnd/>
              <a:tailEnd/>
            </a:ln>
          </p:spPr>
          <p:txBody>
            <a:bodyPr wrap="none" anchor="ctr"/>
            <a:lstStyle/>
            <a:p>
              <a:endParaRPr lang="zh-TW" altLang="en-US" sz="1350"/>
            </a:p>
          </p:txBody>
        </p:sp>
        <p:sp>
          <p:nvSpPr>
            <p:cNvPr id="13349" name="Rectangle 34"/>
            <p:cNvSpPr>
              <a:spLocks noChangeArrowheads="1"/>
            </p:cNvSpPr>
            <p:nvPr/>
          </p:nvSpPr>
          <p:spPr bwMode="auto">
            <a:xfrm>
              <a:off x="1161" y="2570"/>
              <a:ext cx="35" cy="42"/>
            </a:xfrm>
            <a:prstGeom prst="rect">
              <a:avLst/>
            </a:prstGeom>
            <a:solidFill>
              <a:srgbClr val="DD0806"/>
            </a:solidFill>
            <a:ln w="12700">
              <a:solidFill>
                <a:srgbClr val="000000"/>
              </a:solidFill>
              <a:miter lim="800000"/>
              <a:headEnd/>
              <a:tailEnd/>
            </a:ln>
          </p:spPr>
          <p:txBody>
            <a:bodyPr wrap="none" anchor="ctr"/>
            <a:lstStyle/>
            <a:p>
              <a:endParaRPr lang="zh-TW" altLang="en-US" sz="1350"/>
            </a:p>
          </p:txBody>
        </p:sp>
        <p:sp>
          <p:nvSpPr>
            <p:cNvPr id="13350" name="Rectangle 35"/>
            <p:cNvSpPr>
              <a:spLocks noChangeArrowheads="1"/>
            </p:cNvSpPr>
            <p:nvPr/>
          </p:nvSpPr>
          <p:spPr bwMode="auto">
            <a:xfrm>
              <a:off x="1352" y="2519"/>
              <a:ext cx="35" cy="32"/>
            </a:xfrm>
            <a:prstGeom prst="rect">
              <a:avLst/>
            </a:prstGeom>
            <a:solidFill>
              <a:srgbClr val="DD0806"/>
            </a:solidFill>
            <a:ln w="12700">
              <a:solidFill>
                <a:srgbClr val="000000"/>
              </a:solidFill>
              <a:miter lim="800000"/>
              <a:headEnd/>
              <a:tailEnd/>
            </a:ln>
          </p:spPr>
          <p:txBody>
            <a:bodyPr wrap="none" anchor="ctr"/>
            <a:lstStyle/>
            <a:p>
              <a:endParaRPr lang="zh-TW" altLang="en-US" sz="1350"/>
            </a:p>
          </p:txBody>
        </p:sp>
        <p:sp>
          <p:nvSpPr>
            <p:cNvPr id="13351" name="Rectangle 36"/>
            <p:cNvSpPr>
              <a:spLocks noChangeArrowheads="1"/>
            </p:cNvSpPr>
            <p:nvPr/>
          </p:nvSpPr>
          <p:spPr bwMode="auto">
            <a:xfrm>
              <a:off x="1534" y="2463"/>
              <a:ext cx="35" cy="32"/>
            </a:xfrm>
            <a:prstGeom prst="rect">
              <a:avLst/>
            </a:prstGeom>
            <a:solidFill>
              <a:srgbClr val="DD0806"/>
            </a:solidFill>
            <a:ln w="12700">
              <a:solidFill>
                <a:srgbClr val="000000"/>
              </a:solidFill>
              <a:miter lim="800000"/>
              <a:headEnd/>
              <a:tailEnd/>
            </a:ln>
          </p:spPr>
          <p:txBody>
            <a:bodyPr wrap="none" anchor="ctr"/>
            <a:lstStyle/>
            <a:p>
              <a:endParaRPr lang="zh-TW" altLang="en-US" sz="1350"/>
            </a:p>
          </p:txBody>
        </p:sp>
        <p:sp>
          <p:nvSpPr>
            <p:cNvPr id="13352" name="Rectangle 37"/>
            <p:cNvSpPr>
              <a:spLocks noChangeArrowheads="1"/>
            </p:cNvSpPr>
            <p:nvPr/>
          </p:nvSpPr>
          <p:spPr bwMode="auto">
            <a:xfrm>
              <a:off x="1716" y="2399"/>
              <a:ext cx="35" cy="32"/>
            </a:xfrm>
            <a:prstGeom prst="rect">
              <a:avLst/>
            </a:prstGeom>
            <a:solidFill>
              <a:srgbClr val="DD0806"/>
            </a:solidFill>
            <a:ln w="12700">
              <a:solidFill>
                <a:srgbClr val="000000"/>
              </a:solidFill>
              <a:miter lim="800000"/>
              <a:headEnd/>
              <a:tailEnd/>
            </a:ln>
          </p:spPr>
          <p:txBody>
            <a:bodyPr wrap="none" anchor="ctr"/>
            <a:lstStyle/>
            <a:p>
              <a:endParaRPr lang="zh-TW" altLang="en-US" sz="1350"/>
            </a:p>
          </p:txBody>
        </p:sp>
        <p:sp>
          <p:nvSpPr>
            <p:cNvPr id="13353" name="Rectangle 38"/>
            <p:cNvSpPr>
              <a:spLocks noChangeArrowheads="1"/>
            </p:cNvSpPr>
            <p:nvPr/>
          </p:nvSpPr>
          <p:spPr bwMode="auto">
            <a:xfrm>
              <a:off x="1898" y="2343"/>
              <a:ext cx="35" cy="32"/>
            </a:xfrm>
            <a:prstGeom prst="rect">
              <a:avLst/>
            </a:prstGeom>
            <a:solidFill>
              <a:srgbClr val="DD0806"/>
            </a:solidFill>
            <a:ln w="12700">
              <a:solidFill>
                <a:srgbClr val="000000"/>
              </a:solidFill>
              <a:miter lim="800000"/>
              <a:headEnd/>
              <a:tailEnd/>
            </a:ln>
          </p:spPr>
          <p:txBody>
            <a:bodyPr wrap="none" anchor="ctr"/>
            <a:lstStyle/>
            <a:p>
              <a:endParaRPr lang="zh-TW" altLang="en-US" sz="1350"/>
            </a:p>
          </p:txBody>
        </p:sp>
        <p:sp>
          <p:nvSpPr>
            <p:cNvPr id="13354" name="Rectangle 39"/>
            <p:cNvSpPr>
              <a:spLocks noChangeArrowheads="1"/>
            </p:cNvSpPr>
            <p:nvPr/>
          </p:nvSpPr>
          <p:spPr bwMode="auto">
            <a:xfrm>
              <a:off x="2080" y="2279"/>
              <a:ext cx="35" cy="32"/>
            </a:xfrm>
            <a:prstGeom prst="rect">
              <a:avLst/>
            </a:prstGeom>
            <a:solidFill>
              <a:srgbClr val="DD0806"/>
            </a:solidFill>
            <a:ln w="12700">
              <a:solidFill>
                <a:srgbClr val="000000"/>
              </a:solidFill>
              <a:miter lim="800000"/>
              <a:headEnd/>
              <a:tailEnd/>
            </a:ln>
          </p:spPr>
          <p:txBody>
            <a:bodyPr wrap="none" anchor="ctr"/>
            <a:lstStyle/>
            <a:p>
              <a:endParaRPr lang="zh-TW" altLang="en-US" sz="1350"/>
            </a:p>
          </p:txBody>
        </p:sp>
        <p:sp>
          <p:nvSpPr>
            <p:cNvPr id="13355" name="Rectangle 40"/>
            <p:cNvSpPr>
              <a:spLocks noChangeArrowheads="1"/>
            </p:cNvSpPr>
            <p:nvPr/>
          </p:nvSpPr>
          <p:spPr bwMode="auto">
            <a:xfrm>
              <a:off x="2262" y="2223"/>
              <a:ext cx="35" cy="32"/>
            </a:xfrm>
            <a:prstGeom prst="rect">
              <a:avLst/>
            </a:prstGeom>
            <a:solidFill>
              <a:srgbClr val="DD0806"/>
            </a:solidFill>
            <a:ln w="12700">
              <a:solidFill>
                <a:srgbClr val="000000"/>
              </a:solidFill>
              <a:miter lim="800000"/>
              <a:headEnd/>
              <a:tailEnd/>
            </a:ln>
          </p:spPr>
          <p:txBody>
            <a:bodyPr wrap="none" anchor="ctr"/>
            <a:lstStyle/>
            <a:p>
              <a:endParaRPr lang="zh-TW" altLang="en-US" sz="1350"/>
            </a:p>
          </p:txBody>
        </p:sp>
        <p:sp>
          <p:nvSpPr>
            <p:cNvPr id="13356" name="Rectangle 41"/>
            <p:cNvSpPr>
              <a:spLocks noChangeArrowheads="1"/>
            </p:cNvSpPr>
            <p:nvPr/>
          </p:nvSpPr>
          <p:spPr bwMode="auto">
            <a:xfrm>
              <a:off x="2444" y="2119"/>
              <a:ext cx="35" cy="32"/>
            </a:xfrm>
            <a:prstGeom prst="rect">
              <a:avLst/>
            </a:prstGeom>
            <a:solidFill>
              <a:srgbClr val="DD0806"/>
            </a:solidFill>
            <a:ln w="12700">
              <a:solidFill>
                <a:srgbClr val="000000"/>
              </a:solidFill>
              <a:miter lim="800000"/>
              <a:headEnd/>
              <a:tailEnd/>
            </a:ln>
          </p:spPr>
          <p:txBody>
            <a:bodyPr wrap="none" anchor="ctr"/>
            <a:lstStyle/>
            <a:p>
              <a:endParaRPr lang="zh-TW" altLang="en-US" sz="1350"/>
            </a:p>
          </p:txBody>
        </p:sp>
        <p:sp>
          <p:nvSpPr>
            <p:cNvPr id="13357" name="Rectangle 42"/>
            <p:cNvSpPr>
              <a:spLocks noChangeArrowheads="1"/>
            </p:cNvSpPr>
            <p:nvPr/>
          </p:nvSpPr>
          <p:spPr bwMode="auto">
            <a:xfrm>
              <a:off x="2635" y="2007"/>
              <a:ext cx="34" cy="32"/>
            </a:xfrm>
            <a:prstGeom prst="rect">
              <a:avLst/>
            </a:prstGeom>
            <a:solidFill>
              <a:srgbClr val="DD0806"/>
            </a:solidFill>
            <a:ln w="12700">
              <a:solidFill>
                <a:srgbClr val="000000"/>
              </a:solidFill>
              <a:miter lim="800000"/>
              <a:headEnd/>
              <a:tailEnd/>
            </a:ln>
          </p:spPr>
          <p:txBody>
            <a:bodyPr wrap="none" anchor="ctr"/>
            <a:lstStyle/>
            <a:p>
              <a:endParaRPr lang="zh-TW" altLang="en-US" sz="1350"/>
            </a:p>
          </p:txBody>
        </p:sp>
        <p:sp>
          <p:nvSpPr>
            <p:cNvPr id="13358" name="Rectangle 43"/>
            <p:cNvSpPr>
              <a:spLocks noChangeArrowheads="1"/>
            </p:cNvSpPr>
            <p:nvPr/>
          </p:nvSpPr>
          <p:spPr bwMode="auto">
            <a:xfrm>
              <a:off x="2817" y="1903"/>
              <a:ext cx="34" cy="32"/>
            </a:xfrm>
            <a:prstGeom prst="rect">
              <a:avLst/>
            </a:prstGeom>
            <a:solidFill>
              <a:srgbClr val="DD0806"/>
            </a:solidFill>
            <a:ln w="12700">
              <a:solidFill>
                <a:srgbClr val="000000"/>
              </a:solidFill>
              <a:miter lim="800000"/>
              <a:headEnd/>
              <a:tailEnd/>
            </a:ln>
          </p:spPr>
          <p:txBody>
            <a:bodyPr wrap="none" anchor="ctr"/>
            <a:lstStyle/>
            <a:p>
              <a:endParaRPr lang="zh-TW" altLang="en-US" sz="1350"/>
            </a:p>
          </p:txBody>
        </p:sp>
        <p:sp>
          <p:nvSpPr>
            <p:cNvPr id="13359" name="Rectangle 44"/>
            <p:cNvSpPr>
              <a:spLocks noChangeArrowheads="1"/>
            </p:cNvSpPr>
            <p:nvPr/>
          </p:nvSpPr>
          <p:spPr bwMode="auto">
            <a:xfrm>
              <a:off x="2999" y="1791"/>
              <a:ext cx="34" cy="32"/>
            </a:xfrm>
            <a:prstGeom prst="rect">
              <a:avLst/>
            </a:prstGeom>
            <a:solidFill>
              <a:srgbClr val="DD0806"/>
            </a:solidFill>
            <a:ln w="12700">
              <a:solidFill>
                <a:srgbClr val="000000"/>
              </a:solidFill>
              <a:miter lim="800000"/>
              <a:headEnd/>
              <a:tailEnd/>
            </a:ln>
          </p:spPr>
          <p:txBody>
            <a:bodyPr wrap="none" anchor="ctr"/>
            <a:lstStyle/>
            <a:p>
              <a:endParaRPr lang="zh-TW" altLang="en-US" sz="1350"/>
            </a:p>
          </p:txBody>
        </p:sp>
        <p:sp>
          <p:nvSpPr>
            <p:cNvPr id="13360" name="Rectangle 45"/>
            <p:cNvSpPr>
              <a:spLocks noChangeArrowheads="1"/>
            </p:cNvSpPr>
            <p:nvPr/>
          </p:nvSpPr>
          <p:spPr bwMode="auto">
            <a:xfrm>
              <a:off x="3181" y="1687"/>
              <a:ext cx="34" cy="32"/>
            </a:xfrm>
            <a:prstGeom prst="rect">
              <a:avLst/>
            </a:prstGeom>
            <a:solidFill>
              <a:srgbClr val="DD0806"/>
            </a:solidFill>
            <a:ln w="12700">
              <a:solidFill>
                <a:srgbClr val="000000"/>
              </a:solidFill>
              <a:miter lim="800000"/>
              <a:headEnd/>
              <a:tailEnd/>
            </a:ln>
          </p:spPr>
          <p:txBody>
            <a:bodyPr wrap="none" anchor="ctr"/>
            <a:lstStyle/>
            <a:p>
              <a:endParaRPr lang="zh-TW" altLang="en-US" sz="1350"/>
            </a:p>
          </p:txBody>
        </p:sp>
        <p:sp>
          <p:nvSpPr>
            <p:cNvPr id="13361" name="Rectangle 46"/>
            <p:cNvSpPr>
              <a:spLocks noChangeArrowheads="1"/>
            </p:cNvSpPr>
            <p:nvPr/>
          </p:nvSpPr>
          <p:spPr bwMode="auto">
            <a:xfrm>
              <a:off x="3363" y="1575"/>
              <a:ext cx="34" cy="32"/>
            </a:xfrm>
            <a:prstGeom prst="rect">
              <a:avLst/>
            </a:prstGeom>
            <a:solidFill>
              <a:srgbClr val="DD0806"/>
            </a:solidFill>
            <a:ln w="12700">
              <a:solidFill>
                <a:srgbClr val="000000"/>
              </a:solidFill>
              <a:miter lim="800000"/>
              <a:headEnd/>
              <a:tailEnd/>
            </a:ln>
          </p:spPr>
          <p:txBody>
            <a:bodyPr wrap="none" anchor="ctr"/>
            <a:lstStyle/>
            <a:p>
              <a:endParaRPr lang="zh-TW" altLang="en-US" sz="1350"/>
            </a:p>
          </p:txBody>
        </p:sp>
        <p:sp>
          <p:nvSpPr>
            <p:cNvPr id="13362" name="Rectangle 47"/>
            <p:cNvSpPr>
              <a:spLocks noChangeArrowheads="1"/>
            </p:cNvSpPr>
            <p:nvPr/>
          </p:nvSpPr>
          <p:spPr bwMode="auto">
            <a:xfrm>
              <a:off x="3545" y="1471"/>
              <a:ext cx="34" cy="32"/>
            </a:xfrm>
            <a:prstGeom prst="rect">
              <a:avLst/>
            </a:prstGeom>
            <a:solidFill>
              <a:srgbClr val="DD0806"/>
            </a:solidFill>
            <a:ln w="12700">
              <a:solidFill>
                <a:srgbClr val="000000"/>
              </a:solidFill>
              <a:miter lim="800000"/>
              <a:headEnd/>
              <a:tailEnd/>
            </a:ln>
          </p:spPr>
          <p:txBody>
            <a:bodyPr wrap="none" anchor="ctr"/>
            <a:lstStyle/>
            <a:p>
              <a:endParaRPr lang="zh-TW" altLang="en-US" sz="1350"/>
            </a:p>
          </p:txBody>
        </p:sp>
        <p:sp>
          <p:nvSpPr>
            <p:cNvPr id="13363" name="Rectangle 48"/>
            <p:cNvSpPr>
              <a:spLocks noChangeArrowheads="1"/>
            </p:cNvSpPr>
            <p:nvPr/>
          </p:nvSpPr>
          <p:spPr bwMode="auto">
            <a:xfrm>
              <a:off x="3727" y="1359"/>
              <a:ext cx="34" cy="32"/>
            </a:xfrm>
            <a:prstGeom prst="rect">
              <a:avLst/>
            </a:prstGeom>
            <a:solidFill>
              <a:srgbClr val="DD0806"/>
            </a:solidFill>
            <a:ln w="12700">
              <a:solidFill>
                <a:srgbClr val="000000"/>
              </a:solidFill>
              <a:miter lim="800000"/>
              <a:headEnd/>
              <a:tailEnd/>
            </a:ln>
          </p:spPr>
          <p:txBody>
            <a:bodyPr wrap="none" anchor="ctr"/>
            <a:lstStyle/>
            <a:p>
              <a:endParaRPr lang="zh-TW" altLang="en-US" sz="1350"/>
            </a:p>
          </p:txBody>
        </p:sp>
        <p:sp>
          <p:nvSpPr>
            <p:cNvPr id="13364" name="Rectangle 49"/>
            <p:cNvSpPr>
              <a:spLocks noChangeArrowheads="1"/>
            </p:cNvSpPr>
            <p:nvPr/>
          </p:nvSpPr>
          <p:spPr bwMode="auto">
            <a:xfrm>
              <a:off x="3917" y="1255"/>
              <a:ext cx="35" cy="32"/>
            </a:xfrm>
            <a:prstGeom prst="rect">
              <a:avLst/>
            </a:prstGeom>
            <a:solidFill>
              <a:srgbClr val="DD0806"/>
            </a:solidFill>
            <a:ln w="12700">
              <a:solidFill>
                <a:srgbClr val="000000"/>
              </a:solidFill>
              <a:miter lim="800000"/>
              <a:headEnd/>
              <a:tailEnd/>
            </a:ln>
          </p:spPr>
          <p:txBody>
            <a:bodyPr wrap="none" anchor="ctr"/>
            <a:lstStyle/>
            <a:p>
              <a:endParaRPr lang="zh-TW" altLang="en-US" sz="1350"/>
            </a:p>
          </p:txBody>
        </p:sp>
        <p:sp>
          <p:nvSpPr>
            <p:cNvPr id="13365" name="Rectangle 50"/>
            <p:cNvSpPr>
              <a:spLocks noChangeArrowheads="1"/>
            </p:cNvSpPr>
            <p:nvPr/>
          </p:nvSpPr>
          <p:spPr bwMode="auto">
            <a:xfrm>
              <a:off x="4099" y="1151"/>
              <a:ext cx="35" cy="32"/>
            </a:xfrm>
            <a:prstGeom prst="rect">
              <a:avLst/>
            </a:prstGeom>
            <a:solidFill>
              <a:srgbClr val="DD0806"/>
            </a:solidFill>
            <a:ln w="12700">
              <a:solidFill>
                <a:srgbClr val="000000"/>
              </a:solidFill>
              <a:miter lim="800000"/>
              <a:headEnd/>
              <a:tailEnd/>
            </a:ln>
          </p:spPr>
          <p:txBody>
            <a:bodyPr wrap="none" anchor="ctr"/>
            <a:lstStyle/>
            <a:p>
              <a:endParaRPr lang="zh-TW" altLang="en-US" sz="1350"/>
            </a:p>
          </p:txBody>
        </p:sp>
        <p:sp>
          <p:nvSpPr>
            <p:cNvPr id="13366" name="Rectangle 51"/>
            <p:cNvSpPr>
              <a:spLocks noChangeArrowheads="1"/>
            </p:cNvSpPr>
            <p:nvPr/>
          </p:nvSpPr>
          <p:spPr bwMode="auto">
            <a:xfrm>
              <a:off x="4281" y="1039"/>
              <a:ext cx="35" cy="32"/>
            </a:xfrm>
            <a:prstGeom prst="rect">
              <a:avLst/>
            </a:prstGeom>
            <a:solidFill>
              <a:srgbClr val="DD0806"/>
            </a:solidFill>
            <a:ln w="12700">
              <a:solidFill>
                <a:srgbClr val="000000"/>
              </a:solidFill>
              <a:miter lim="800000"/>
              <a:headEnd/>
              <a:tailEnd/>
            </a:ln>
          </p:spPr>
          <p:txBody>
            <a:bodyPr wrap="none" anchor="ctr"/>
            <a:lstStyle/>
            <a:p>
              <a:endParaRPr lang="zh-TW" altLang="en-US" sz="1350"/>
            </a:p>
          </p:txBody>
        </p:sp>
        <p:sp>
          <p:nvSpPr>
            <p:cNvPr id="13367" name="Rectangle 52"/>
            <p:cNvSpPr>
              <a:spLocks noChangeArrowheads="1"/>
            </p:cNvSpPr>
            <p:nvPr/>
          </p:nvSpPr>
          <p:spPr bwMode="auto">
            <a:xfrm>
              <a:off x="4463" y="935"/>
              <a:ext cx="35" cy="32"/>
            </a:xfrm>
            <a:prstGeom prst="rect">
              <a:avLst/>
            </a:prstGeom>
            <a:solidFill>
              <a:srgbClr val="DD0806"/>
            </a:solidFill>
            <a:ln w="12700">
              <a:solidFill>
                <a:srgbClr val="000000"/>
              </a:solidFill>
              <a:miter lim="800000"/>
              <a:headEnd/>
              <a:tailEnd/>
            </a:ln>
          </p:spPr>
          <p:txBody>
            <a:bodyPr wrap="none" anchor="ctr"/>
            <a:lstStyle/>
            <a:p>
              <a:endParaRPr lang="zh-TW" altLang="en-US" sz="1350"/>
            </a:p>
          </p:txBody>
        </p:sp>
        <p:sp>
          <p:nvSpPr>
            <p:cNvPr id="13368" name="Rectangle 53"/>
            <p:cNvSpPr>
              <a:spLocks noChangeArrowheads="1"/>
            </p:cNvSpPr>
            <p:nvPr/>
          </p:nvSpPr>
          <p:spPr bwMode="auto">
            <a:xfrm>
              <a:off x="4645" y="823"/>
              <a:ext cx="35" cy="32"/>
            </a:xfrm>
            <a:prstGeom prst="rect">
              <a:avLst/>
            </a:prstGeom>
            <a:solidFill>
              <a:srgbClr val="DD0806"/>
            </a:solidFill>
            <a:ln w="12700">
              <a:solidFill>
                <a:srgbClr val="000000"/>
              </a:solidFill>
              <a:miter lim="800000"/>
              <a:headEnd/>
              <a:tailEnd/>
            </a:ln>
          </p:spPr>
          <p:txBody>
            <a:bodyPr wrap="none" anchor="ctr"/>
            <a:lstStyle/>
            <a:p>
              <a:endParaRPr lang="zh-TW" altLang="en-US" sz="1350"/>
            </a:p>
          </p:txBody>
        </p:sp>
        <p:sp>
          <p:nvSpPr>
            <p:cNvPr id="13369" name="Rectangle 54"/>
            <p:cNvSpPr>
              <a:spLocks noChangeArrowheads="1"/>
            </p:cNvSpPr>
            <p:nvPr/>
          </p:nvSpPr>
          <p:spPr bwMode="auto">
            <a:xfrm>
              <a:off x="979" y="2634"/>
              <a:ext cx="35" cy="42"/>
            </a:xfrm>
            <a:prstGeom prst="rect">
              <a:avLst/>
            </a:prstGeom>
            <a:solidFill>
              <a:srgbClr val="008011"/>
            </a:solidFill>
            <a:ln w="12700">
              <a:solidFill>
                <a:srgbClr val="000000"/>
              </a:solidFill>
              <a:miter lim="800000"/>
              <a:headEnd/>
              <a:tailEnd/>
            </a:ln>
          </p:spPr>
          <p:txBody>
            <a:bodyPr wrap="none" anchor="ctr"/>
            <a:lstStyle/>
            <a:p>
              <a:endParaRPr lang="zh-TW" altLang="en-US" sz="1350"/>
            </a:p>
          </p:txBody>
        </p:sp>
        <p:sp>
          <p:nvSpPr>
            <p:cNvPr id="13370" name="Rectangle 55"/>
            <p:cNvSpPr>
              <a:spLocks noChangeArrowheads="1"/>
            </p:cNvSpPr>
            <p:nvPr/>
          </p:nvSpPr>
          <p:spPr bwMode="auto">
            <a:xfrm>
              <a:off x="1161" y="2618"/>
              <a:ext cx="35" cy="42"/>
            </a:xfrm>
            <a:prstGeom prst="rect">
              <a:avLst/>
            </a:prstGeom>
            <a:solidFill>
              <a:srgbClr val="008011"/>
            </a:solidFill>
            <a:ln w="12700">
              <a:solidFill>
                <a:srgbClr val="000000"/>
              </a:solidFill>
              <a:miter lim="800000"/>
              <a:headEnd/>
              <a:tailEnd/>
            </a:ln>
          </p:spPr>
          <p:txBody>
            <a:bodyPr wrap="none" anchor="ctr"/>
            <a:lstStyle/>
            <a:p>
              <a:endParaRPr lang="zh-TW" altLang="en-US" sz="1350"/>
            </a:p>
          </p:txBody>
        </p:sp>
        <p:sp>
          <p:nvSpPr>
            <p:cNvPr id="13371" name="Rectangle 56"/>
            <p:cNvSpPr>
              <a:spLocks noChangeArrowheads="1"/>
            </p:cNvSpPr>
            <p:nvPr/>
          </p:nvSpPr>
          <p:spPr bwMode="auto">
            <a:xfrm>
              <a:off x="1352" y="2594"/>
              <a:ext cx="35" cy="42"/>
            </a:xfrm>
            <a:prstGeom prst="rect">
              <a:avLst/>
            </a:prstGeom>
            <a:solidFill>
              <a:srgbClr val="008011"/>
            </a:solidFill>
            <a:ln w="12700">
              <a:solidFill>
                <a:srgbClr val="000000"/>
              </a:solidFill>
              <a:miter lim="800000"/>
              <a:headEnd/>
              <a:tailEnd/>
            </a:ln>
          </p:spPr>
          <p:txBody>
            <a:bodyPr wrap="none" anchor="ctr"/>
            <a:lstStyle/>
            <a:p>
              <a:endParaRPr lang="zh-TW" altLang="en-US" sz="1350"/>
            </a:p>
          </p:txBody>
        </p:sp>
        <p:sp>
          <p:nvSpPr>
            <p:cNvPr id="13372" name="Rectangle 57"/>
            <p:cNvSpPr>
              <a:spLocks noChangeArrowheads="1"/>
            </p:cNvSpPr>
            <p:nvPr/>
          </p:nvSpPr>
          <p:spPr bwMode="auto">
            <a:xfrm>
              <a:off x="1534" y="2578"/>
              <a:ext cx="35" cy="42"/>
            </a:xfrm>
            <a:prstGeom prst="rect">
              <a:avLst/>
            </a:prstGeom>
            <a:solidFill>
              <a:srgbClr val="008011"/>
            </a:solidFill>
            <a:ln w="12700">
              <a:solidFill>
                <a:srgbClr val="000000"/>
              </a:solidFill>
              <a:miter lim="800000"/>
              <a:headEnd/>
              <a:tailEnd/>
            </a:ln>
          </p:spPr>
          <p:txBody>
            <a:bodyPr wrap="none" anchor="ctr"/>
            <a:lstStyle/>
            <a:p>
              <a:endParaRPr lang="zh-TW" altLang="en-US" sz="1350"/>
            </a:p>
          </p:txBody>
        </p:sp>
        <p:sp>
          <p:nvSpPr>
            <p:cNvPr id="13373" name="Rectangle 58"/>
            <p:cNvSpPr>
              <a:spLocks noChangeArrowheads="1"/>
            </p:cNvSpPr>
            <p:nvPr/>
          </p:nvSpPr>
          <p:spPr bwMode="auto">
            <a:xfrm>
              <a:off x="1716" y="2562"/>
              <a:ext cx="35" cy="42"/>
            </a:xfrm>
            <a:prstGeom prst="rect">
              <a:avLst/>
            </a:prstGeom>
            <a:solidFill>
              <a:srgbClr val="008011"/>
            </a:solidFill>
            <a:ln w="12700">
              <a:solidFill>
                <a:srgbClr val="000000"/>
              </a:solidFill>
              <a:miter lim="800000"/>
              <a:headEnd/>
              <a:tailEnd/>
            </a:ln>
          </p:spPr>
          <p:txBody>
            <a:bodyPr wrap="none" anchor="ctr"/>
            <a:lstStyle/>
            <a:p>
              <a:endParaRPr lang="zh-TW" altLang="en-US" sz="1350"/>
            </a:p>
          </p:txBody>
        </p:sp>
        <p:sp>
          <p:nvSpPr>
            <p:cNvPr id="13374" name="Rectangle 59"/>
            <p:cNvSpPr>
              <a:spLocks noChangeArrowheads="1"/>
            </p:cNvSpPr>
            <p:nvPr/>
          </p:nvSpPr>
          <p:spPr bwMode="auto">
            <a:xfrm>
              <a:off x="1898" y="2546"/>
              <a:ext cx="35" cy="42"/>
            </a:xfrm>
            <a:prstGeom prst="rect">
              <a:avLst/>
            </a:prstGeom>
            <a:solidFill>
              <a:srgbClr val="008011"/>
            </a:solidFill>
            <a:ln w="12700">
              <a:solidFill>
                <a:srgbClr val="000000"/>
              </a:solidFill>
              <a:miter lim="800000"/>
              <a:headEnd/>
              <a:tailEnd/>
            </a:ln>
          </p:spPr>
          <p:txBody>
            <a:bodyPr wrap="none" anchor="ctr"/>
            <a:lstStyle/>
            <a:p>
              <a:endParaRPr lang="zh-TW" altLang="en-US" sz="1350"/>
            </a:p>
          </p:txBody>
        </p:sp>
        <p:sp>
          <p:nvSpPr>
            <p:cNvPr id="13375" name="Rectangle 60"/>
            <p:cNvSpPr>
              <a:spLocks noChangeArrowheads="1"/>
            </p:cNvSpPr>
            <p:nvPr/>
          </p:nvSpPr>
          <p:spPr bwMode="auto">
            <a:xfrm>
              <a:off x="2080" y="2522"/>
              <a:ext cx="35" cy="42"/>
            </a:xfrm>
            <a:prstGeom prst="rect">
              <a:avLst/>
            </a:prstGeom>
            <a:solidFill>
              <a:srgbClr val="008011"/>
            </a:solidFill>
            <a:ln w="12700">
              <a:solidFill>
                <a:srgbClr val="000000"/>
              </a:solidFill>
              <a:miter lim="800000"/>
              <a:headEnd/>
              <a:tailEnd/>
            </a:ln>
          </p:spPr>
          <p:txBody>
            <a:bodyPr wrap="none" anchor="ctr"/>
            <a:lstStyle/>
            <a:p>
              <a:endParaRPr lang="zh-TW" altLang="en-US" sz="1350"/>
            </a:p>
          </p:txBody>
        </p:sp>
        <p:sp>
          <p:nvSpPr>
            <p:cNvPr id="13376" name="Rectangle 61"/>
            <p:cNvSpPr>
              <a:spLocks noChangeArrowheads="1"/>
            </p:cNvSpPr>
            <p:nvPr/>
          </p:nvSpPr>
          <p:spPr bwMode="auto">
            <a:xfrm>
              <a:off x="2262" y="2511"/>
              <a:ext cx="35" cy="32"/>
            </a:xfrm>
            <a:prstGeom prst="rect">
              <a:avLst/>
            </a:prstGeom>
            <a:solidFill>
              <a:srgbClr val="008011"/>
            </a:solidFill>
            <a:ln w="12700">
              <a:solidFill>
                <a:srgbClr val="000000"/>
              </a:solidFill>
              <a:miter lim="800000"/>
              <a:headEnd/>
              <a:tailEnd/>
            </a:ln>
          </p:spPr>
          <p:txBody>
            <a:bodyPr wrap="none" anchor="ctr"/>
            <a:lstStyle/>
            <a:p>
              <a:endParaRPr lang="zh-TW" altLang="en-US" sz="1350"/>
            </a:p>
          </p:txBody>
        </p:sp>
        <p:sp>
          <p:nvSpPr>
            <p:cNvPr id="13377" name="Rectangle 62"/>
            <p:cNvSpPr>
              <a:spLocks noChangeArrowheads="1"/>
            </p:cNvSpPr>
            <p:nvPr/>
          </p:nvSpPr>
          <p:spPr bwMode="auto">
            <a:xfrm>
              <a:off x="2444" y="2495"/>
              <a:ext cx="35" cy="32"/>
            </a:xfrm>
            <a:prstGeom prst="rect">
              <a:avLst/>
            </a:prstGeom>
            <a:solidFill>
              <a:srgbClr val="008011"/>
            </a:solidFill>
            <a:ln w="12700">
              <a:solidFill>
                <a:srgbClr val="000000"/>
              </a:solidFill>
              <a:miter lim="800000"/>
              <a:headEnd/>
              <a:tailEnd/>
            </a:ln>
          </p:spPr>
          <p:txBody>
            <a:bodyPr wrap="none" anchor="ctr"/>
            <a:lstStyle/>
            <a:p>
              <a:endParaRPr lang="zh-TW" altLang="en-US" sz="1350"/>
            </a:p>
          </p:txBody>
        </p:sp>
        <p:sp>
          <p:nvSpPr>
            <p:cNvPr id="13378" name="Rectangle 63"/>
            <p:cNvSpPr>
              <a:spLocks noChangeArrowheads="1"/>
            </p:cNvSpPr>
            <p:nvPr/>
          </p:nvSpPr>
          <p:spPr bwMode="auto">
            <a:xfrm>
              <a:off x="2635" y="2479"/>
              <a:ext cx="34" cy="32"/>
            </a:xfrm>
            <a:prstGeom prst="rect">
              <a:avLst/>
            </a:prstGeom>
            <a:solidFill>
              <a:srgbClr val="008011"/>
            </a:solidFill>
            <a:ln w="12700">
              <a:solidFill>
                <a:srgbClr val="000000"/>
              </a:solidFill>
              <a:miter lim="800000"/>
              <a:headEnd/>
              <a:tailEnd/>
            </a:ln>
          </p:spPr>
          <p:txBody>
            <a:bodyPr wrap="none" anchor="ctr"/>
            <a:lstStyle/>
            <a:p>
              <a:endParaRPr lang="zh-TW" altLang="en-US" sz="1350"/>
            </a:p>
          </p:txBody>
        </p:sp>
        <p:sp>
          <p:nvSpPr>
            <p:cNvPr id="13379" name="Rectangle 64"/>
            <p:cNvSpPr>
              <a:spLocks noChangeArrowheads="1"/>
            </p:cNvSpPr>
            <p:nvPr/>
          </p:nvSpPr>
          <p:spPr bwMode="auto">
            <a:xfrm>
              <a:off x="2817" y="2455"/>
              <a:ext cx="34" cy="32"/>
            </a:xfrm>
            <a:prstGeom prst="rect">
              <a:avLst/>
            </a:prstGeom>
            <a:solidFill>
              <a:srgbClr val="008011"/>
            </a:solidFill>
            <a:ln w="12700">
              <a:solidFill>
                <a:srgbClr val="000000"/>
              </a:solidFill>
              <a:miter lim="800000"/>
              <a:headEnd/>
              <a:tailEnd/>
            </a:ln>
          </p:spPr>
          <p:txBody>
            <a:bodyPr wrap="none" anchor="ctr"/>
            <a:lstStyle/>
            <a:p>
              <a:endParaRPr lang="zh-TW" altLang="en-US" sz="1350"/>
            </a:p>
          </p:txBody>
        </p:sp>
        <p:sp>
          <p:nvSpPr>
            <p:cNvPr id="13380" name="Rectangle 65"/>
            <p:cNvSpPr>
              <a:spLocks noChangeArrowheads="1"/>
            </p:cNvSpPr>
            <p:nvPr/>
          </p:nvSpPr>
          <p:spPr bwMode="auto">
            <a:xfrm>
              <a:off x="2999" y="2439"/>
              <a:ext cx="34" cy="32"/>
            </a:xfrm>
            <a:prstGeom prst="rect">
              <a:avLst/>
            </a:prstGeom>
            <a:solidFill>
              <a:srgbClr val="008011"/>
            </a:solidFill>
            <a:ln w="12700">
              <a:solidFill>
                <a:srgbClr val="000000"/>
              </a:solidFill>
              <a:miter lim="800000"/>
              <a:headEnd/>
              <a:tailEnd/>
            </a:ln>
          </p:spPr>
          <p:txBody>
            <a:bodyPr wrap="none" anchor="ctr"/>
            <a:lstStyle/>
            <a:p>
              <a:endParaRPr lang="zh-TW" altLang="en-US" sz="1350"/>
            </a:p>
          </p:txBody>
        </p:sp>
        <p:sp>
          <p:nvSpPr>
            <p:cNvPr id="13381" name="Rectangle 66"/>
            <p:cNvSpPr>
              <a:spLocks noChangeArrowheads="1"/>
            </p:cNvSpPr>
            <p:nvPr/>
          </p:nvSpPr>
          <p:spPr bwMode="auto">
            <a:xfrm>
              <a:off x="3181" y="2423"/>
              <a:ext cx="34" cy="32"/>
            </a:xfrm>
            <a:prstGeom prst="rect">
              <a:avLst/>
            </a:prstGeom>
            <a:solidFill>
              <a:srgbClr val="008011"/>
            </a:solidFill>
            <a:ln w="12700">
              <a:solidFill>
                <a:srgbClr val="000000"/>
              </a:solidFill>
              <a:miter lim="800000"/>
              <a:headEnd/>
              <a:tailEnd/>
            </a:ln>
          </p:spPr>
          <p:txBody>
            <a:bodyPr wrap="none" anchor="ctr"/>
            <a:lstStyle/>
            <a:p>
              <a:endParaRPr lang="zh-TW" altLang="en-US" sz="1350"/>
            </a:p>
          </p:txBody>
        </p:sp>
        <p:sp>
          <p:nvSpPr>
            <p:cNvPr id="13382" name="Rectangle 67"/>
            <p:cNvSpPr>
              <a:spLocks noChangeArrowheads="1"/>
            </p:cNvSpPr>
            <p:nvPr/>
          </p:nvSpPr>
          <p:spPr bwMode="auto">
            <a:xfrm>
              <a:off x="3363" y="2407"/>
              <a:ext cx="34" cy="32"/>
            </a:xfrm>
            <a:prstGeom prst="rect">
              <a:avLst/>
            </a:prstGeom>
            <a:solidFill>
              <a:srgbClr val="008011"/>
            </a:solidFill>
            <a:ln w="12700">
              <a:solidFill>
                <a:srgbClr val="000000"/>
              </a:solidFill>
              <a:miter lim="800000"/>
              <a:headEnd/>
              <a:tailEnd/>
            </a:ln>
          </p:spPr>
          <p:txBody>
            <a:bodyPr wrap="none" anchor="ctr"/>
            <a:lstStyle/>
            <a:p>
              <a:endParaRPr lang="zh-TW" altLang="en-US" sz="1350"/>
            </a:p>
          </p:txBody>
        </p:sp>
        <p:sp>
          <p:nvSpPr>
            <p:cNvPr id="13383" name="Rectangle 68"/>
            <p:cNvSpPr>
              <a:spLocks noChangeArrowheads="1"/>
            </p:cNvSpPr>
            <p:nvPr/>
          </p:nvSpPr>
          <p:spPr bwMode="auto">
            <a:xfrm>
              <a:off x="3545" y="2383"/>
              <a:ext cx="34" cy="32"/>
            </a:xfrm>
            <a:prstGeom prst="rect">
              <a:avLst/>
            </a:prstGeom>
            <a:solidFill>
              <a:srgbClr val="008011"/>
            </a:solidFill>
            <a:ln w="12700">
              <a:solidFill>
                <a:srgbClr val="000000"/>
              </a:solidFill>
              <a:miter lim="800000"/>
              <a:headEnd/>
              <a:tailEnd/>
            </a:ln>
          </p:spPr>
          <p:txBody>
            <a:bodyPr wrap="none" anchor="ctr"/>
            <a:lstStyle/>
            <a:p>
              <a:endParaRPr lang="zh-TW" altLang="en-US" sz="1350"/>
            </a:p>
          </p:txBody>
        </p:sp>
        <p:sp>
          <p:nvSpPr>
            <p:cNvPr id="13384" name="Rectangle 69"/>
            <p:cNvSpPr>
              <a:spLocks noChangeArrowheads="1"/>
            </p:cNvSpPr>
            <p:nvPr/>
          </p:nvSpPr>
          <p:spPr bwMode="auto">
            <a:xfrm>
              <a:off x="3727" y="2367"/>
              <a:ext cx="34" cy="32"/>
            </a:xfrm>
            <a:prstGeom prst="rect">
              <a:avLst/>
            </a:prstGeom>
            <a:solidFill>
              <a:srgbClr val="008011"/>
            </a:solidFill>
            <a:ln w="12700">
              <a:solidFill>
                <a:srgbClr val="000000"/>
              </a:solidFill>
              <a:miter lim="800000"/>
              <a:headEnd/>
              <a:tailEnd/>
            </a:ln>
          </p:spPr>
          <p:txBody>
            <a:bodyPr wrap="none" anchor="ctr"/>
            <a:lstStyle/>
            <a:p>
              <a:endParaRPr lang="zh-TW" altLang="en-US" sz="1350"/>
            </a:p>
          </p:txBody>
        </p:sp>
        <p:sp>
          <p:nvSpPr>
            <p:cNvPr id="13385" name="Rectangle 70"/>
            <p:cNvSpPr>
              <a:spLocks noChangeArrowheads="1"/>
            </p:cNvSpPr>
            <p:nvPr/>
          </p:nvSpPr>
          <p:spPr bwMode="auto">
            <a:xfrm>
              <a:off x="3917" y="2351"/>
              <a:ext cx="35" cy="32"/>
            </a:xfrm>
            <a:prstGeom prst="rect">
              <a:avLst/>
            </a:prstGeom>
            <a:solidFill>
              <a:srgbClr val="008011"/>
            </a:solidFill>
            <a:ln w="12700">
              <a:solidFill>
                <a:srgbClr val="000000"/>
              </a:solidFill>
              <a:miter lim="800000"/>
              <a:headEnd/>
              <a:tailEnd/>
            </a:ln>
          </p:spPr>
          <p:txBody>
            <a:bodyPr wrap="none" anchor="ctr"/>
            <a:lstStyle/>
            <a:p>
              <a:endParaRPr lang="zh-TW" altLang="en-US" sz="1350"/>
            </a:p>
          </p:txBody>
        </p:sp>
        <p:sp>
          <p:nvSpPr>
            <p:cNvPr id="13386" name="Rectangle 71"/>
            <p:cNvSpPr>
              <a:spLocks noChangeArrowheads="1"/>
            </p:cNvSpPr>
            <p:nvPr/>
          </p:nvSpPr>
          <p:spPr bwMode="auto">
            <a:xfrm>
              <a:off x="4099" y="2335"/>
              <a:ext cx="35" cy="32"/>
            </a:xfrm>
            <a:prstGeom prst="rect">
              <a:avLst/>
            </a:prstGeom>
            <a:solidFill>
              <a:srgbClr val="008011"/>
            </a:solidFill>
            <a:ln w="12700">
              <a:solidFill>
                <a:srgbClr val="000000"/>
              </a:solidFill>
              <a:miter lim="800000"/>
              <a:headEnd/>
              <a:tailEnd/>
            </a:ln>
          </p:spPr>
          <p:txBody>
            <a:bodyPr wrap="none" anchor="ctr"/>
            <a:lstStyle/>
            <a:p>
              <a:endParaRPr lang="zh-TW" altLang="en-US" sz="1350"/>
            </a:p>
          </p:txBody>
        </p:sp>
        <p:sp>
          <p:nvSpPr>
            <p:cNvPr id="13387" name="Rectangle 72"/>
            <p:cNvSpPr>
              <a:spLocks noChangeArrowheads="1"/>
            </p:cNvSpPr>
            <p:nvPr/>
          </p:nvSpPr>
          <p:spPr bwMode="auto">
            <a:xfrm>
              <a:off x="4281" y="2311"/>
              <a:ext cx="35" cy="32"/>
            </a:xfrm>
            <a:prstGeom prst="rect">
              <a:avLst/>
            </a:prstGeom>
            <a:solidFill>
              <a:srgbClr val="008011"/>
            </a:solidFill>
            <a:ln w="12700">
              <a:solidFill>
                <a:srgbClr val="000000"/>
              </a:solidFill>
              <a:miter lim="800000"/>
              <a:headEnd/>
              <a:tailEnd/>
            </a:ln>
          </p:spPr>
          <p:txBody>
            <a:bodyPr wrap="none" anchor="ctr"/>
            <a:lstStyle/>
            <a:p>
              <a:endParaRPr lang="zh-TW" altLang="en-US" sz="1350"/>
            </a:p>
          </p:txBody>
        </p:sp>
        <p:sp>
          <p:nvSpPr>
            <p:cNvPr id="13388" name="Rectangle 73"/>
            <p:cNvSpPr>
              <a:spLocks noChangeArrowheads="1"/>
            </p:cNvSpPr>
            <p:nvPr/>
          </p:nvSpPr>
          <p:spPr bwMode="auto">
            <a:xfrm>
              <a:off x="4463" y="2295"/>
              <a:ext cx="35" cy="32"/>
            </a:xfrm>
            <a:prstGeom prst="rect">
              <a:avLst/>
            </a:prstGeom>
            <a:solidFill>
              <a:srgbClr val="008011"/>
            </a:solidFill>
            <a:ln w="12700">
              <a:solidFill>
                <a:srgbClr val="000000"/>
              </a:solidFill>
              <a:miter lim="800000"/>
              <a:headEnd/>
              <a:tailEnd/>
            </a:ln>
          </p:spPr>
          <p:txBody>
            <a:bodyPr wrap="none" anchor="ctr"/>
            <a:lstStyle/>
            <a:p>
              <a:endParaRPr lang="zh-TW" altLang="en-US" sz="1350"/>
            </a:p>
          </p:txBody>
        </p:sp>
        <p:sp>
          <p:nvSpPr>
            <p:cNvPr id="13389" name="Rectangle 74"/>
            <p:cNvSpPr>
              <a:spLocks noChangeArrowheads="1"/>
            </p:cNvSpPr>
            <p:nvPr/>
          </p:nvSpPr>
          <p:spPr bwMode="auto">
            <a:xfrm>
              <a:off x="4645" y="2279"/>
              <a:ext cx="35" cy="32"/>
            </a:xfrm>
            <a:prstGeom prst="rect">
              <a:avLst/>
            </a:prstGeom>
            <a:solidFill>
              <a:srgbClr val="008011"/>
            </a:solidFill>
            <a:ln w="12700">
              <a:solidFill>
                <a:srgbClr val="000000"/>
              </a:solidFill>
              <a:miter lim="800000"/>
              <a:headEnd/>
              <a:tailEnd/>
            </a:ln>
          </p:spPr>
          <p:txBody>
            <a:bodyPr wrap="none" anchor="ctr"/>
            <a:lstStyle/>
            <a:p>
              <a:endParaRPr lang="zh-TW" altLang="en-US" sz="1350"/>
            </a:p>
          </p:txBody>
        </p:sp>
        <p:sp>
          <p:nvSpPr>
            <p:cNvPr id="13390" name="Rectangle 75"/>
            <p:cNvSpPr>
              <a:spLocks noChangeArrowheads="1"/>
            </p:cNvSpPr>
            <p:nvPr/>
          </p:nvSpPr>
          <p:spPr bwMode="auto">
            <a:xfrm>
              <a:off x="728" y="2514"/>
              <a:ext cx="242" cy="330"/>
            </a:xfrm>
            <a:prstGeom prst="rect">
              <a:avLst/>
            </a:prstGeom>
            <a:noFill/>
            <a:ln w="9525">
              <a:noFill/>
              <a:miter lim="800000"/>
              <a:headEnd/>
              <a:tailEnd/>
            </a:ln>
          </p:spPr>
          <p:txBody>
            <a:bodyPr wrap="none" lIns="69056" tIns="34529" rIns="69056" bIns="34529">
              <a:spAutoFit/>
            </a:bodyPr>
            <a:lstStyle/>
            <a:p>
              <a:r>
                <a:rPr kumimoji="1" lang="zh-TW" altLang="en-US" sz="2100" b="1">
                  <a:latin typeface="Geneva" charset="0"/>
                </a:rPr>
                <a:t>1</a:t>
              </a:r>
            </a:p>
          </p:txBody>
        </p:sp>
        <p:sp>
          <p:nvSpPr>
            <p:cNvPr id="13391" name="Rectangle 76"/>
            <p:cNvSpPr>
              <a:spLocks noChangeArrowheads="1"/>
            </p:cNvSpPr>
            <p:nvPr/>
          </p:nvSpPr>
          <p:spPr bwMode="auto">
            <a:xfrm>
              <a:off x="563" y="1906"/>
              <a:ext cx="368" cy="330"/>
            </a:xfrm>
            <a:prstGeom prst="rect">
              <a:avLst/>
            </a:prstGeom>
            <a:noFill/>
            <a:ln w="9525">
              <a:noFill/>
              <a:miter lim="800000"/>
              <a:headEnd/>
              <a:tailEnd/>
            </a:ln>
          </p:spPr>
          <p:txBody>
            <a:bodyPr wrap="none" lIns="69056" tIns="34529" rIns="69056" bIns="34529">
              <a:spAutoFit/>
            </a:bodyPr>
            <a:lstStyle/>
            <a:p>
              <a:r>
                <a:rPr kumimoji="1" lang="zh-TW" altLang="en-US" sz="2100" b="1">
                  <a:latin typeface="Geneva" charset="0"/>
                </a:rPr>
                <a:t>10</a:t>
              </a:r>
            </a:p>
          </p:txBody>
        </p:sp>
        <p:sp>
          <p:nvSpPr>
            <p:cNvPr id="13392" name="Rectangle 77"/>
            <p:cNvSpPr>
              <a:spLocks noChangeArrowheads="1"/>
            </p:cNvSpPr>
            <p:nvPr/>
          </p:nvSpPr>
          <p:spPr bwMode="auto">
            <a:xfrm>
              <a:off x="451" y="1346"/>
              <a:ext cx="493" cy="330"/>
            </a:xfrm>
            <a:prstGeom prst="rect">
              <a:avLst/>
            </a:prstGeom>
            <a:noFill/>
            <a:ln w="9525">
              <a:noFill/>
              <a:miter lim="800000"/>
              <a:headEnd/>
              <a:tailEnd/>
            </a:ln>
          </p:spPr>
          <p:txBody>
            <a:bodyPr wrap="none" lIns="69056" tIns="34529" rIns="69056" bIns="34529">
              <a:spAutoFit/>
            </a:bodyPr>
            <a:lstStyle/>
            <a:p>
              <a:r>
                <a:rPr kumimoji="1" lang="zh-TW" altLang="en-US" sz="2100" b="1">
                  <a:latin typeface="Geneva" charset="0"/>
                </a:rPr>
                <a:t>100</a:t>
              </a:r>
            </a:p>
          </p:txBody>
        </p:sp>
        <p:sp>
          <p:nvSpPr>
            <p:cNvPr id="13393" name="Rectangle 78"/>
            <p:cNvSpPr>
              <a:spLocks noChangeArrowheads="1"/>
            </p:cNvSpPr>
            <p:nvPr/>
          </p:nvSpPr>
          <p:spPr bwMode="auto">
            <a:xfrm>
              <a:off x="286" y="682"/>
              <a:ext cx="618" cy="330"/>
            </a:xfrm>
            <a:prstGeom prst="rect">
              <a:avLst/>
            </a:prstGeom>
            <a:noFill/>
            <a:ln w="9525">
              <a:noFill/>
              <a:miter lim="800000"/>
              <a:headEnd/>
              <a:tailEnd/>
            </a:ln>
          </p:spPr>
          <p:txBody>
            <a:bodyPr wrap="none" lIns="69056" tIns="34529" rIns="69056" bIns="34529">
              <a:spAutoFit/>
            </a:bodyPr>
            <a:lstStyle/>
            <a:p>
              <a:r>
                <a:rPr kumimoji="1" lang="zh-TW" altLang="en-US" sz="2100" b="1">
                  <a:latin typeface="Geneva" charset="0"/>
                </a:rPr>
                <a:t>1000</a:t>
              </a:r>
            </a:p>
          </p:txBody>
        </p:sp>
        <p:sp>
          <p:nvSpPr>
            <p:cNvPr id="13394" name="Rectangle 79"/>
            <p:cNvSpPr>
              <a:spLocks noChangeArrowheads="1"/>
            </p:cNvSpPr>
            <p:nvPr/>
          </p:nvSpPr>
          <p:spPr bwMode="auto">
            <a:xfrm rot="16200000">
              <a:off x="833" y="2714"/>
              <a:ext cx="504" cy="233"/>
            </a:xfrm>
            <a:prstGeom prst="rect">
              <a:avLst/>
            </a:prstGeom>
            <a:noFill/>
            <a:ln w="9525">
              <a:noFill/>
              <a:miter lim="800000"/>
              <a:headEnd/>
              <a:tailEnd/>
            </a:ln>
          </p:spPr>
          <p:txBody>
            <a:bodyPr lIns="69056" tIns="34529" rIns="69056" bIns="34529">
              <a:spAutoFit/>
            </a:bodyPr>
            <a:lstStyle/>
            <a:p>
              <a:r>
                <a:rPr kumimoji="1" lang="zh-TW" altLang="en-US" sz="1350" b="1">
                  <a:latin typeface="Geneva" charset="0"/>
                </a:rPr>
                <a:t>1980</a:t>
              </a:r>
            </a:p>
          </p:txBody>
        </p:sp>
        <p:sp>
          <p:nvSpPr>
            <p:cNvPr id="13395" name="Rectangle 80"/>
            <p:cNvSpPr>
              <a:spLocks noChangeArrowheads="1"/>
            </p:cNvSpPr>
            <p:nvPr/>
          </p:nvSpPr>
          <p:spPr bwMode="auto">
            <a:xfrm rot="16200000">
              <a:off x="1015" y="2714"/>
              <a:ext cx="504" cy="233"/>
            </a:xfrm>
            <a:prstGeom prst="rect">
              <a:avLst/>
            </a:prstGeom>
            <a:noFill/>
            <a:ln w="9525">
              <a:noFill/>
              <a:miter lim="800000"/>
              <a:headEnd/>
              <a:tailEnd/>
            </a:ln>
          </p:spPr>
          <p:txBody>
            <a:bodyPr lIns="69056" tIns="34529" rIns="69056" bIns="34529">
              <a:spAutoFit/>
            </a:bodyPr>
            <a:lstStyle/>
            <a:p>
              <a:r>
                <a:rPr kumimoji="1" lang="zh-TW" altLang="en-US" sz="1350" b="1">
                  <a:latin typeface="Geneva" charset="0"/>
                </a:rPr>
                <a:t>1981</a:t>
              </a:r>
            </a:p>
          </p:txBody>
        </p:sp>
        <p:sp>
          <p:nvSpPr>
            <p:cNvPr id="13396" name="Rectangle 81"/>
            <p:cNvSpPr>
              <a:spLocks noChangeArrowheads="1"/>
            </p:cNvSpPr>
            <p:nvPr/>
          </p:nvSpPr>
          <p:spPr bwMode="auto">
            <a:xfrm rot="16200000">
              <a:off x="1379" y="2714"/>
              <a:ext cx="504" cy="233"/>
            </a:xfrm>
            <a:prstGeom prst="rect">
              <a:avLst/>
            </a:prstGeom>
            <a:noFill/>
            <a:ln w="9525">
              <a:noFill/>
              <a:miter lim="800000"/>
              <a:headEnd/>
              <a:tailEnd/>
            </a:ln>
          </p:spPr>
          <p:txBody>
            <a:bodyPr lIns="69056" tIns="34529" rIns="69056" bIns="34529">
              <a:spAutoFit/>
            </a:bodyPr>
            <a:lstStyle/>
            <a:p>
              <a:r>
                <a:rPr kumimoji="1" lang="zh-TW" altLang="en-US" sz="1350" b="1">
                  <a:latin typeface="Geneva" charset="0"/>
                </a:rPr>
                <a:t>1983</a:t>
              </a:r>
            </a:p>
          </p:txBody>
        </p:sp>
        <p:sp>
          <p:nvSpPr>
            <p:cNvPr id="13397" name="Rectangle 82"/>
            <p:cNvSpPr>
              <a:spLocks noChangeArrowheads="1"/>
            </p:cNvSpPr>
            <p:nvPr/>
          </p:nvSpPr>
          <p:spPr bwMode="auto">
            <a:xfrm rot="16200000">
              <a:off x="1561" y="2714"/>
              <a:ext cx="504" cy="233"/>
            </a:xfrm>
            <a:prstGeom prst="rect">
              <a:avLst/>
            </a:prstGeom>
            <a:noFill/>
            <a:ln w="9525">
              <a:noFill/>
              <a:miter lim="800000"/>
              <a:headEnd/>
              <a:tailEnd/>
            </a:ln>
          </p:spPr>
          <p:txBody>
            <a:bodyPr lIns="69056" tIns="34529" rIns="69056" bIns="34529">
              <a:spAutoFit/>
            </a:bodyPr>
            <a:lstStyle/>
            <a:p>
              <a:r>
                <a:rPr kumimoji="1" lang="zh-TW" altLang="en-US" sz="1350" b="1">
                  <a:latin typeface="Geneva" charset="0"/>
                </a:rPr>
                <a:t>1984</a:t>
              </a:r>
            </a:p>
          </p:txBody>
        </p:sp>
        <p:sp>
          <p:nvSpPr>
            <p:cNvPr id="13398" name="Rectangle 83"/>
            <p:cNvSpPr>
              <a:spLocks noChangeArrowheads="1"/>
            </p:cNvSpPr>
            <p:nvPr/>
          </p:nvSpPr>
          <p:spPr bwMode="auto">
            <a:xfrm rot="16200000">
              <a:off x="1743" y="2714"/>
              <a:ext cx="504" cy="233"/>
            </a:xfrm>
            <a:prstGeom prst="rect">
              <a:avLst/>
            </a:prstGeom>
            <a:noFill/>
            <a:ln w="9525">
              <a:noFill/>
              <a:miter lim="800000"/>
              <a:headEnd/>
              <a:tailEnd/>
            </a:ln>
          </p:spPr>
          <p:txBody>
            <a:bodyPr lIns="69056" tIns="34529" rIns="69056" bIns="34529">
              <a:spAutoFit/>
            </a:bodyPr>
            <a:lstStyle/>
            <a:p>
              <a:r>
                <a:rPr kumimoji="1" lang="zh-TW" altLang="en-US" sz="1350" b="1">
                  <a:latin typeface="Geneva" charset="0"/>
                </a:rPr>
                <a:t>1985</a:t>
              </a:r>
            </a:p>
          </p:txBody>
        </p:sp>
        <p:sp>
          <p:nvSpPr>
            <p:cNvPr id="13399" name="Rectangle 84"/>
            <p:cNvSpPr>
              <a:spLocks noChangeArrowheads="1"/>
            </p:cNvSpPr>
            <p:nvPr/>
          </p:nvSpPr>
          <p:spPr bwMode="auto">
            <a:xfrm rot="16200000">
              <a:off x="1934" y="2714"/>
              <a:ext cx="504" cy="233"/>
            </a:xfrm>
            <a:prstGeom prst="rect">
              <a:avLst/>
            </a:prstGeom>
            <a:noFill/>
            <a:ln w="9525">
              <a:noFill/>
              <a:miter lim="800000"/>
              <a:headEnd/>
              <a:tailEnd/>
            </a:ln>
          </p:spPr>
          <p:txBody>
            <a:bodyPr lIns="69056" tIns="34529" rIns="69056" bIns="34529">
              <a:spAutoFit/>
            </a:bodyPr>
            <a:lstStyle/>
            <a:p>
              <a:r>
                <a:rPr kumimoji="1" lang="zh-TW" altLang="en-US" sz="1350" b="1">
                  <a:latin typeface="Geneva" charset="0"/>
                </a:rPr>
                <a:t>1986</a:t>
              </a:r>
            </a:p>
          </p:txBody>
        </p:sp>
        <p:sp>
          <p:nvSpPr>
            <p:cNvPr id="13400" name="Rectangle 85"/>
            <p:cNvSpPr>
              <a:spLocks noChangeArrowheads="1"/>
            </p:cNvSpPr>
            <p:nvPr/>
          </p:nvSpPr>
          <p:spPr bwMode="auto">
            <a:xfrm rot="16200000">
              <a:off x="2116" y="2714"/>
              <a:ext cx="504" cy="233"/>
            </a:xfrm>
            <a:prstGeom prst="rect">
              <a:avLst/>
            </a:prstGeom>
            <a:noFill/>
            <a:ln w="9525">
              <a:noFill/>
              <a:miter lim="800000"/>
              <a:headEnd/>
              <a:tailEnd/>
            </a:ln>
          </p:spPr>
          <p:txBody>
            <a:bodyPr lIns="69056" tIns="34529" rIns="69056" bIns="34529">
              <a:spAutoFit/>
            </a:bodyPr>
            <a:lstStyle/>
            <a:p>
              <a:r>
                <a:rPr kumimoji="1" lang="zh-TW" altLang="en-US" sz="1350" b="1">
                  <a:latin typeface="Geneva" charset="0"/>
                </a:rPr>
                <a:t>1987</a:t>
              </a:r>
            </a:p>
          </p:txBody>
        </p:sp>
        <p:sp>
          <p:nvSpPr>
            <p:cNvPr id="13401" name="Rectangle 86"/>
            <p:cNvSpPr>
              <a:spLocks noChangeArrowheads="1"/>
            </p:cNvSpPr>
            <p:nvPr/>
          </p:nvSpPr>
          <p:spPr bwMode="auto">
            <a:xfrm rot="16200000">
              <a:off x="2299" y="2714"/>
              <a:ext cx="504" cy="233"/>
            </a:xfrm>
            <a:prstGeom prst="rect">
              <a:avLst/>
            </a:prstGeom>
            <a:noFill/>
            <a:ln w="9525">
              <a:noFill/>
              <a:miter lim="800000"/>
              <a:headEnd/>
              <a:tailEnd/>
            </a:ln>
          </p:spPr>
          <p:txBody>
            <a:bodyPr lIns="69056" tIns="34529" rIns="69056" bIns="34529">
              <a:spAutoFit/>
            </a:bodyPr>
            <a:lstStyle/>
            <a:p>
              <a:r>
                <a:rPr kumimoji="1" lang="zh-TW" altLang="en-US" sz="1350" b="1">
                  <a:latin typeface="Geneva" charset="0"/>
                </a:rPr>
                <a:t>1988</a:t>
              </a:r>
            </a:p>
          </p:txBody>
        </p:sp>
        <p:sp>
          <p:nvSpPr>
            <p:cNvPr id="13402" name="Rectangle 87"/>
            <p:cNvSpPr>
              <a:spLocks noChangeArrowheads="1"/>
            </p:cNvSpPr>
            <p:nvPr/>
          </p:nvSpPr>
          <p:spPr bwMode="auto">
            <a:xfrm rot="16200000">
              <a:off x="2480" y="2714"/>
              <a:ext cx="504" cy="233"/>
            </a:xfrm>
            <a:prstGeom prst="rect">
              <a:avLst/>
            </a:prstGeom>
            <a:noFill/>
            <a:ln w="9525">
              <a:noFill/>
              <a:miter lim="800000"/>
              <a:headEnd/>
              <a:tailEnd/>
            </a:ln>
          </p:spPr>
          <p:txBody>
            <a:bodyPr lIns="69056" tIns="34529" rIns="69056" bIns="34529">
              <a:spAutoFit/>
            </a:bodyPr>
            <a:lstStyle/>
            <a:p>
              <a:r>
                <a:rPr kumimoji="1" lang="zh-TW" altLang="en-US" sz="1350" b="1">
                  <a:latin typeface="Geneva" charset="0"/>
                </a:rPr>
                <a:t>1989</a:t>
              </a:r>
            </a:p>
          </p:txBody>
        </p:sp>
        <p:sp>
          <p:nvSpPr>
            <p:cNvPr id="13403" name="Rectangle 88"/>
            <p:cNvSpPr>
              <a:spLocks noChangeArrowheads="1"/>
            </p:cNvSpPr>
            <p:nvPr/>
          </p:nvSpPr>
          <p:spPr bwMode="auto">
            <a:xfrm rot="16200000">
              <a:off x="2662" y="2714"/>
              <a:ext cx="504" cy="233"/>
            </a:xfrm>
            <a:prstGeom prst="rect">
              <a:avLst/>
            </a:prstGeom>
            <a:noFill/>
            <a:ln w="9525">
              <a:noFill/>
              <a:miter lim="800000"/>
              <a:headEnd/>
              <a:tailEnd/>
            </a:ln>
          </p:spPr>
          <p:txBody>
            <a:bodyPr lIns="69056" tIns="34529" rIns="69056" bIns="34529">
              <a:spAutoFit/>
            </a:bodyPr>
            <a:lstStyle/>
            <a:p>
              <a:r>
                <a:rPr kumimoji="1" lang="zh-TW" altLang="en-US" sz="1350" b="1">
                  <a:latin typeface="Geneva" charset="0"/>
                </a:rPr>
                <a:t>1990</a:t>
              </a:r>
            </a:p>
          </p:txBody>
        </p:sp>
        <p:sp>
          <p:nvSpPr>
            <p:cNvPr id="13404" name="Rectangle 89"/>
            <p:cNvSpPr>
              <a:spLocks noChangeArrowheads="1"/>
            </p:cNvSpPr>
            <p:nvPr/>
          </p:nvSpPr>
          <p:spPr bwMode="auto">
            <a:xfrm rot="16200000">
              <a:off x="2844" y="2714"/>
              <a:ext cx="504" cy="233"/>
            </a:xfrm>
            <a:prstGeom prst="rect">
              <a:avLst/>
            </a:prstGeom>
            <a:noFill/>
            <a:ln w="9525">
              <a:noFill/>
              <a:miter lim="800000"/>
              <a:headEnd/>
              <a:tailEnd/>
            </a:ln>
          </p:spPr>
          <p:txBody>
            <a:bodyPr lIns="69056" tIns="34529" rIns="69056" bIns="34529">
              <a:spAutoFit/>
            </a:bodyPr>
            <a:lstStyle/>
            <a:p>
              <a:r>
                <a:rPr kumimoji="1" lang="zh-TW" altLang="en-US" sz="1350" b="1">
                  <a:latin typeface="Geneva" charset="0"/>
                </a:rPr>
                <a:t>1991</a:t>
              </a:r>
            </a:p>
          </p:txBody>
        </p:sp>
        <p:sp>
          <p:nvSpPr>
            <p:cNvPr id="13405" name="Rectangle 90"/>
            <p:cNvSpPr>
              <a:spLocks noChangeArrowheads="1"/>
            </p:cNvSpPr>
            <p:nvPr/>
          </p:nvSpPr>
          <p:spPr bwMode="auto">
            <a:xfrm rot="16200000">
              <a:off x="3034" y="2714"/>
              <a:ext cx="504" cy="233"/>
            </a:xfrm>
            <a:prstGeom prst="rect">
              <a:avLst/>
            </a:prstGeom>
            <a:noFill/>
            <a:ln w="9525">
              <a:noFill/>
              <a:miter lim="800000"/>
              <a:headEnd/>
              <a:tailEnd/>
            </a:ln>
          </p:spPr>
          <p:txBody>
            <a:bodyPr lIns="69056" tIns="34529" rIns="69056" bIns="34529">
              <a:spAutoFit/>
            </a:bodyPr>
            <a:lstStyle/>
            <a:p>
              <a:r>
                <a:rPr kumimoji="1" lang="zh-TW" altLang="en-US" sz="1350" b="1">
                  <a:latin typeface="Geneva" charset="0"/>
                </a:rPr>
                <a:t>1992</a:t>
              </a:r>
            </a:p>
          </p:txBody>
        </p:sp>
        <p:sp>
          <p:nvSpPr>
            <p:cNvPr id="13406" name="Rectangle 91"/>
            <p:cNvSpPr>
              <a:spLocks noChangeArrowheads="1"/>
            </p:cNvSpPr>
            <p:nvPr/>
          </p:nvSpPr>
          <p:spPr bwMode="auto">
            <a:xfrm rot="16200000">
              <a:off x="3216" y="2714"/>
              <a:ext cx="504" cy="233"/>
            </a:xfrm>
            <a:prstGeom prst="rect">
              <a:avLst/>
            </a:prstGeom>
            <a:noFill/>
            <a:ln w="9525">
              <a:noFill/>
              <a:miter lim="800000"/>
              <a:headEnd/>
              <a:tailEnd/>
            </a:ln>
          </p:spPr>
          <p:txBody>
            <a:bodyPr lIns="69056" tIns="34529" rIns="69056" bIns="34529">
              <a:spAutoFit/>
            </a:bodyPr>
            <a:lstStyle/>
            <a:p>
              <a:r>
                <a:rPr kumimoji="1" lang="zh-TW" altLang="en-US" sz="1350" b="1">
                  <a:latin typeface="Geneva" charset="0"/>
                </a:rPr>
                <a:t>1993</a:t>
              </a:r>
            </a:p>
          </p:txBody>
        </p:sp>
        <p:sp>
          <p:nvSpPr>
            <p:cNvPr id="13407" name="Rectangle 92"/>
            <p:cNvSpPr>
              <a:spLocks noChangeArrowheads="1"/>
            </p:cNvSpPr>
            <p:nvPr/>
          </p:nvSpPr>
          <p:spPr bwMode="auto">
            <a:xfrm rot="16200000">
              <a:off x="3398" y="2714"/>
              <a:ext cx="504" cy="233"/>
            </a:xfrm>
            <a:prstGeom prst="rect">
              <a:avLst/>
            </a:prstGeom>
            <a:noFill/>
            <a:ln w="9525">
              <a:noFill/>
              <a:miter lim="800000"/>
              <a:headEnd/>
              <a:tailEnd/>
            </a:ln>
          </p:spPr>
          <p:txBody>
            <a:bodyPr lIns="69056" tIns="34529" rIns="69056" bIns="34529">
              <a:spAutoFit/>
            </a:bodyPr>
            <a:lstStyle/>
            <a:p>
              <a:r>
                <a:rPr kumimoji="1" lang="zh-TW" altLang="en-US" sz="1350" b="1">
                  <a:latin typeface="Geneva" charset="0"/>
                </a:rPr>
                <a:t>1994</a:t>
              </a:r>
            </a:p>
          </p:txBody>
        </p:sp>
        <p:sp>
          <p:nvSpPr>
            <p:cNvPr id="13408" name="Rectangle 93"/>
            <p:cNvSpPr>
              <a:spLocks noChangeArrowheads="1"/>
            </p:cNvSpPr>
            <p:nvPr/>
          </p:nvSpPr>
          <p:spPr bwMode="auto">
            <a:xfrm rot="16200000">
              <a:off x="3580" y="2714"/>
              <a:ext cx="504" cy="233"/>
            </a:xfrm>
            <a:prstGeom prst="rect">
              <a:avLst/>
            </a:prstGeom>
            <a:noFill/>
            <a:ln w="9525">
              <a:noFill/>
              <a:miter lim="800000"/>
              <a:headEnd/>
              <a:tailEnd/>
            </a:ln>
          </p:spPr>
          <p:txBody>
            <a:bodyPr lIns="69056" tIns="34529" rIns="69056" bIns="34529">
              <a:spAutoFit/>
            </a:bodyPr>
            <a:lstStyle/>
            <a:p>
              <a:r>
                <a:rPr kumimoji="1" lang="zh-TW" altLang="en-US" sz="1350" b="1">
                  <a:latin typeface="Geneva" charset="0"/>
                </a:rPr>
                <a:t>1995</a:t>
              </a:r>
            </a:p>
          </p:txBody>
        </p:sp>
        <p:sp>
          <p:nvSpPr>
            <p:cNvPr id="13409" name="Rectangle 94"/>
            <p:cNvSpPr>
              <a:spLocks noChangeArrowheads="1"/>
            </p:cNvSpPr>
            <p:nvPr/>
          </p:nvSpPr>
          <p:spPr bwMode="auto">
            <a:xfrm rot="16200000">
              <a:off x="3762" y="2714"/>
              <a:ext cx="504" cy="233"/>
            </a:xfrm>
            <a:prstGeom prst="rect">
              <a:avLst/>
            </a:prstGeom>
            <a:noFill/>
            <a:ln w="9525">
              <a:noFill/>
              <a:miter lim="800000"/>
              <a:headEnd/>
              <a:tailEnd/>
            </a:ln>
          </p:spPr>
          <p:txBody>
            <a:bodyPr lIns="69056" tIns="34529" rIns="69056" bIns="34529">
              <a:spAutoFit/>
            </a:bodyPr>
            <a:lstStyle/>
            <a:p>
              <a:r>
                <a:rPr kumimoji="1" lang="zh-TW" altLang="en-US" sz="1350" b="1">
                  <a:latin typeface="Geneva" charset="0"/>
                </a:rPr>
                <a:t>1996</a:t>
              </a:r>
            </a:p>
          </p:txBody>
        </p:sp>
        <p:sp>
          <p:nvSpPr>
            <p:cNvPr id="13410" name="Rectangle 95"/>
            <p:cNvSpPr>
              <a:spLocks noChangeArrowheads="1"/>
            </p:cNvSpPr>
            <p:nvPr/>
          </p:nvSpPr>
          <p:spPr bwMode="auto">
            <a:xfrm rot="16200000">
              <a:off x="3944" y="2714"/>
              <a:ext cx="504" cy="233"/>
            </a:xfrm>
            <a:prstGeom prst="rect">
              <a:avLst/>
            </a:prstGeom>
            <a:noFill/>
            <a:ln w="9525">
              <a:noFill/>
              <a:miter lim="800000"/>
              <a:headEnd/>
              <a:tailEnd/>
            </a:ln>
          </p:spPr>
          <p:txBody>
            <a:bodyPr lIns="69056" tIns="34529" rIns="69056" bIns="34529">
              <a:spAutoFit/>
            </a:bodyPr>
            <a:lstStyle/>
            <a:p>
              <a:r>
                <a:rPr kumimoji="1" lang="zh-TW" altLang="en-US" sz="1350" b="1">
                  <a:latin typeface="Geneva" charset="0"/>
                </a:rPr>
                <a:t>1997</a:t>
              </a:r>
            </a:p>
          </p:txBody>
        </p:sp>
        <p:sp>
          <p:nvSpPr>
            <p:cNvPr id="13411" name="Rectangle 96"/>
            <p:cNvSpPr>
              <a:spLocks noChangeArrowheads="1"/>
            </p:cNvSpPr>
            <p:nvPr/>
          </p:nvSpPr>
          <p:spPr bwMode="auto">
            <a:xfrm rot="16200000">
              <a:off x="4126" y="2714"/>
              <a:ext cx="504" cy="233"/>
            </a:xfrm>
            <a:prstGeom prst="rect">
              <a:avLst/>
            </a:prstGeom>
            <a:noFill/>
            <a:ln w="9525">
              <a:noFill/>
              <a:miter lim="800000"/>
              <a:headEnd/>
              <a:tailEnd/>
            </a:ln>
          </p:spPr>
          <p:txBody>
            <a:bodyPr lIns="69056" tIns="34529" rIns="69056" bIns="34529">
              <a:spAutoFit/>
            </a:bodyPr>
            <a:lstStyle/>
            <a:p>
              <a:r>
                <a:rPr kumimoji="1" lang="zh-TW" altLang="en-US" sz="1350" b="1">
                  <a:latin typeface="Geneva" charset="0"/>
                </a:rPr>
                <a:t>1998</a:t>
              </a:r>
            </a:p>
          </p:txBody>
        </p:sp>
        <p:sp>
          <p:nvSpPr>
            <p:cNvPr id="13412" name="Rectangle 97"/>
            <p:cNvSpPr>
              <a:spLocks noChangeArrowheads="1"/>
            </p:cNvSpPr>
            <p:nvPr/>
          </p:nvSpPr>
          <p:spPr bwMode="auto">
            <a:xfrm rot="16200000">
              <a:off x="4317" y="2714"/>
              <a:ext cx="504" cy="233"/>
            </a:xfrm>
            <a:prstGeom prst="rect">
              <a:avLst/>
            </a:prstGeom>
            <a:noFill/>
            <a:ln w="9525">
              <a:noFill/>
              <a:miter lim="800000"/>
              <a:headEnd/>
              <a:tailEnd/>
            </a:ln>
          </p:spPr>
          <p:txBody>
            <a:bodyPr lIns="69056" tIns="34529" rIns="69056" bIns="34529">
              <a:spAutoFit/>
            </a:bodyPr>
            <a:lstStyle/>
            <a:p>
              <a:r>
                <a:rPr kumimoji="1" lang="zh-TW" altLang="en-US" sz="1350" b="1">
                  <a:latin typeface="Geneva" charset="0"/>
                </a:rPr>
                <a:t>1999</a:t>
              </a:r>
            </a:p>
          </p:txBody>
        </p:sp>
        <p:sp>
          <p:nvSpPr>
            <p:cNvPr id="13413" name="Rectangle 98"/>
            <p:cNvSpPr>
              <a:spLocks noChangeArrowheads="1"/>
            </p:cNvSpPr>
            <p:nvPr/>
          </p:nvSpPr>
          <p:spPr bwMode="auto">
            <a:xfrm rot="16200000">
              <a:off x="4499" y="2714"/>
              <a:ext cx="504" cy="233"/>
            </a:xfrm>
            <a:prstGeom prst="rect">
              <a:avLst/>
            </a:prstGeom>
            <a:noFill/>
            <a:ln w="9525">
              <a:noFill/>
              <a:miter lim="800000"/>
              <a:headEnd/>
              <a:tailEnd/>
            </a:ln>
          </p:spPr>
          <p:txBody>
            <a:bodyPr lIns="69056" tIns="34529" rIns="69056" bIns="34529">
              <a:spAutoFit/>
            </a:bodyPr>
            <a:lstStyle/>
            <a:p>
              <a:r>
                <a:rPr kumimoji="1" lang="zh-TW" altLang="en-US" sz="1350" b="1">
                  <a:latin typeface="Geneva" charset="0"/>
                </a:rPr>
                <a:t>2000</a:t>
              </a:r>
            </a:p>
          </p:txBody>
        </p:sp>
        <p:sp>
          <p:nvSpPr>
            <p:cNvPr id="13414" name="Arc 99"/>
            <p:cNvSpPr>
              <a:spLocks/>
            </p:cNvSpPr>
            <p:nvPr/>
          </p:nvSpPr>
          <p:spPr bwMode="auto">
            <a:xfrm flipV="1">
              <a:off x="4529" y="960"/>
              <a:ext cx="571" cy="195"/>
            </a:xfrm>
            <a:custGeom>
              <a:avLst/>
              <a:gdLst>
                <a:gd name="T0" fmla="*/ 0 w 21513"/>
                <a:gd name="T1" fmla="*/ 0 h 21519"/>
                <a:gd name="T2" fmla="*/ 0 w 21513"/>
                <a:gd name="T3" fmla="*/ 0 h 21519"/>
                <a:gd name="T4" fmla="*/ 0 w 21513"/>
                <a:gd name="T5" fmla="*/ 0 h 21519"/>
                <a:gd name="T6" fmla="*/ 0 60000 65536"/>
                <a:gd name="T7" fmla="*/ 0 60000 65536"/>
                <a:gd name="T8" fmla="*/ 0 60000 65536"/>
                <a:gd name="T9" fmla="*/ 0 w 21513"/>
                <a:gd name="T10" fmla="*/ 0 h 21519"/>
                <a:gd name="T11" fmla="*/ 21513 w 21513"/>
                <a:gd name="T12" fmla="*/ 21519 h 21519"/>
              </a:gdLst>
              <a:ahLst/>
              <a:cxnLst>
                <a:cxn ang="T6">
                  <a:pos x="T0" y="T1"/>
                </a:cxn>
                <a:cxn ang="T7">
                  <a:pos x="T2" y="T3"/>
                </a:cxn>
                <a:cxn ang="T8">
                  <a:pos x="T4" y="T5"/>
                </a:cxn>
              </a:cxnLst>
              <a:rect l="T9" t="T10" r="T11" b="T12"/>
              <a:pathLst>
                <a:path w="21513" h="21519" fill="none" extrusionOk="0">
                  <a:moveTo>
                    <a:pt x="0" y="19582"/>
                  </a:moveTo>
                  <a:cubicBezTo>
                    <a:pt x="938" y="9156"/>
                    <a:pt x="9217" y="904"/>
                    <a:pt x="19645" y="-1"/>
                  </a:cubicBezTo>
                </a:path>
                <a:path w="21513" h="21519" stroke="0" extrusionOk="0">
                  <a:moveTo>
                    <a:pt x="0" y="19582"/>
                  </a:moveTo>
                  <a:cubicBezTo>
                    <a:pt x="938" y="9156"/>
                    <a:pt x="9217" y="904"/>
                    <a:pt x="19645" y="-1"/>
                  </a:cubicBezTo>
                  <a:lnTo>
                    <a:pt x="21513" y="21519"/>
                  </a:lnTo>
                  <a:lnTo>
                    <a:pt x="0" y="19582"/>
                  </a:lnTo>
                  <a:close/>
                </a:path>
              </a:pathLst>
            </a:custGeom>
            <a:noFill/>
            <a:ln w="25400" cap="rnd">
              <a:solidFill>
                <a:schemeClr val="tx1"/>
              </a:solidFill>
              <a:round/>
              <a:headEnd type="stealth" w="med" len="lg"/>
              <a:tailEnd type="none" w="sm" len="sm"/>
            </a:ln>
          </p:spPr>
          <p:txBody>
            <a:bodyPr wrap="none" anchor="ctr"/>
            <a:lstStyle/>
            <a:p>
              <a:endParaRPr lang="zh-TW" altLang="en-US" sz="1350"/>
            </a:p>
          </p:txBody>
        </p:sp>
        <p:sp>
          <p:nvSpPr>
            <p:cNvPr id="13415" name="Rectangle 100"/>
            <p:cNvSpPr>
              <a:spLocks noChangeArrowheads="1"/>
            </p:cNvSpPr>
            <p:nvPr/>
          </p:nvSpPr>
          <p:spPr bwMode="auto">
            <a:xfrm rot="16200000">
              <a:off x="1223" y="2714"/>
              <a:ext cx="504" cy="233"/>
            </a:xfrm>
            <a:prstGeom prst="rect">
              <a:avLst/>
            </a:prstGeom>
            <a:noFill/>
            <a:ln w="9525">
              <a:noFill/>
              <a:miter lim="800000"/>
              <a:headEnd/>
              <a:tailEnd/>
            </a:ln>
          </p:spPr>
          <p:txBody>
            <a:bodyPr lIns="69056" tIns="34529" rIns="69056" bIns="34529">
              <a:spAutoFit/>
            </a:bodyPr>
            <a:lstStyle/>
            <a:p>
              <a:r>
                <a:rPr kumimoji="1" lang="zh-TW" altLang="en-US" sz="1350" b="1">
                  <a:latin typeface="Geneva" charset="0"/>
                </a:rPr>
                <a:t>1982</a:t>
              </a:r>
            </a:p>
          </p:txBody>
        </p:sp>
        <p:sp>
          <p:nvSpPr>
            <p:cNvPr id="13416" name="Line 101"/>
            <p:cNvSpPr>
              <a:spLocks noChangeShapeType="1"/>
            </p:cNvSpPr>
            <p:nvPr/>
          </p:nvSpPr>
          <p:spPr bwMode="auto">
            <a:xfrm>
              <a:off x="4137" y="1203"/>
              <a:ext cx="0" cy="1152"/>
            </a:xfrm>
            <a:prstGeom prst="line">
              <a:avLst/>
            </a:prstGeom>
            <a:noFill/>
            <a:ln w="25400">
              <a:solidFill>
                <a:srgbClr val="FC0128"/>
              </a:solidFill>
              <a:round/>
              <a:headEnd type="stealth" w="med" len="lg"/>
              <a:tailEnd type="stealth" w="med" len="lg"/>
            </a:ln>
          </p:spPr>
          <p:txBody>
            <a:bodyPr wrap="none" anchor="ctr"/>
            <a:lstStyle/>
            <a:p>
              <a:endParaRPr lang="zh-TW" altLang="en-US" sz="1350"/>
            </a:p>
          </p:txBody>
        </p:sp>
        <p:sp>
          <p:nvSpPr>
            <p:cNvPr id="13417" name="Rectangle 102"/>
            <p:cNvSpPr>
              <a:spLocks noChangeArrowheads="1"/>
            </p:cNvSpPr>
            <p:nvPr/>
          </p:nvSpPr>
          <p:spPr bwMode="auto">
            <a:xfrm>
              <a:off x="4120" y="1349"/>
              <a:ext cx="1593" cy="640"/>
            </a:xfrm>
            <a:prstGeom prst="rect">
              <a:avLst/>
            </a:prstGeom>
            <a:noFill/>
            <a:ln w="9525">
              <a:noFill/>
              <a:miter lim="800000"/>
              <a:headEnd/>
              <a:tailEnd/>
            </a:ln>
          </p:spPr>
          <p:txBody>
            <a:bodyPr wrap="none" lIns="69056" tIns="34529" rIns="69056" bIns="34529">
              <a:spAutoFit/>
            </a:bodyPr>
            <a:lstStyle/>
            <a:p>
              <a:r>
                <a:rPr kumimoji="1" lang="en-US" altLang="zh-TW" sz="1500" b="1">
                  <a:latin typeface="Arial" pitchFamily="34" charset="0"/>
                </a:rPr>
                <a:t>Processor-memory</a:t>
              </a:r>
            </a:p>
            <a:p>
              <a:r>
                <a:rPr kumimoji="1" lang="en-US" altLang="zh-TW" sz="1500" b="1">
                  <a:latin typeface="Arial" pitchFamily="34" charset="0"/>
                </a:rPr>
                <a:t>performance gap:</a:t>
              </a:r>
              <a:br>
                <a:rPr kumimoji="1" lang="en-US" altLang="zh-TW" sz="1500" b="1">
                  <a:latin typeface="Arial" pitchFamily="34" charset="0"/>
                </a:rPr>
              </a:br>
              <a:r>
                <a:rPr kumimoji="1" lang="en-US" altLang="zh-TW" sz="1500" b="1">
                  <a:latin typeface="Arial" pitchFamily="34" charset="0"/>
                </a:rPr>
                <a:t>(grows 50% / year)</a:t>
              </a:r>
            </a:p>
          </p:txBody>
        </p:sp>
        <p:sp>
          <p:nvSpPr>
            <p:cNvPr id="13418" name="Rectangle 103"/>
            <p:cNvSpPr>
              <a:spLocks noChangeArrowheads="1"/>
            </p:cNvSpPr>
            <p:nvPr/>
          </p:nvSpPr>
          <p:spPr bwMode="auto">
            <a:xfrm rot="16200000">
              <a:off x="-149" y="1761"/>
              <a:ext cx="1006" cy="233"/>
            </a:xfrm>
            <a:prstGeom prst="rect">
              <a:avLst/>
            </a:prstGeom>
            <a:noFill/>
            <a:ln w="9525">
              <a:noFill/>
              <a:miter lim="800000"/>
              <a:headEnd/>
              <a:tailEnd/>
            </a:ln>
          </p:spPr>
          <p:txBody>
            <a:bodyPr wrap="none" lIns="69056" tIns="34529" rIns="69056" bIns="34529">
              <a:spAutoFit/>
            </a:bodyPr>
            <a:lstStyle/>
            <a:p>
              <a:r>
                <a:rPr kumimoji="1" lang="en-US" altLang="zh-TW" sz="1350" b="1">
                  <a:latin typeface="Arial" pitchFamily="34" charset="0"/>
                </a:rPr>
                <a:t>Performance</a:t>
              </a:r>
            </a:p>
          </p:txBody>
        </p:sp>
        <p:sp>
          <p:nvSpPr>
            <p:cNvPr id="13419" name="Rectangle 104"/>
            <p:cNvSpPr>
              <a:spLocks noChangeArrowheads="1"/>
            </p:cNvSpPr>
            <p:nvPr/>
          </p:nvSpPr>
          <p:spPr bwMode="auto">
            <a:xfrm>
              <a:off x="4883" y="2688"/>
              <a:ext cx="424" cy="233"/>
            </a:xfrm>
            <a:prstGeom prst="rect">
              <a:avLst/>
            </a:prstGeom>
            <a:noFill/>
            <a:ln w="9525">
              <a:noFill/>
              <a:miter lim="800000"/>
              <a:headEnd/>
              <a:tailEnd/>
            </a:ln>
          </p:spPr>
          <p:txBody>
            <a:bodyPr wrap="none" lIns="69056" tIns="34529" rIns="69056" bIns="34529">
              <a:spAutoFit/>
            </a:bodyPr>
            <a:lstStyle/>
            <a:p>
              <a:r>
                <a:rPr kumimoji="1" lang="en-US" altLang="zh-TW" sz="1350" b="1">
                  <a:latin typeface="Arial" pitchFamily="34" charset="0"/>
                </a:rPr>
                <a:t>Year</a:t>
              </a:r>
            </a:p>
          </p:txBody>
        </p:sp>
        <p:sp>
          <p:nvSpPr>
            <p:cNvPr id="13420" name="Rectangle 105"/>
            <p:cNvSpPr>
              <a:spLocks noChangeArrowheads="1"/>
            </p:cNvSpPr>
            <p:nvPr/>
          </p:nvSpPr>
          <p:spPr bwMode="auto">
            <a:xfrm>
              <a:off x="2728" y="966"/>
              <a:ext cx="938" cy="233"/>
            </a:xfrm>
            <a:prstGeom prst="rect">
              <a:avLst/>
            </a:prstGeom>
            <a:noFill/>
            <a:ln w="9525">
              <a:noFill/>
              <a:miter lim="800000"/>
              <a:headEnd/>
              <a:tailEnd/>
            </a:ln>
          </p:spPr>
          <p:txBody>
            <a:bodyPr wrap="none" lIns="69056" tIns="34529" rIns="69056" bIns="34529">
              <a:spAutoFit/>
            </a:bodyPr>
            <a:lstStyle/>
            <a:p>
              <a:r>
                <a:rPr kumimoji="1" lang="en-US" altLang="zh-TW" sz="1350">
                  <a:solidFill>
                    <a:srgbClr val="FC0128"/>
                  </a:solidFill>
                  <a:latin typeface="Arial" pitchFamily="34" charset="0"/>
                </a:rPr>
                <a:t>Moore’s Law</a:t>
              </a:r>
            </a:p>
          </p:txBody>
        </p:sp>
        <p:sp>
          <p:nvSpPr>
            <p:cNvPr id="13421" name="Line 106"/>
            <p:cNvSpPr>
              <a:spLocks noChangeShapeType="1"/>
            </p:cNvSpPr>
            <p:nvPr/>
          </p:nvSpPr>
          <p:spPr bwMode="auto">
            <a:xfrm>
              <a:off x="1040" y="864"/>
              <a:ext cx="3692" cy="0"/>
            </a:xfrm>
            <a:prstGeom prst="line">
              <a:avLst/>
            </a:prstGeom>
            <a:noFill/>
            <a:ln w="12700" cap="rnd">
              <a:solidFill>
                <a:schemeClr val="tx1"/>
              </a:solidFill>
              <a:prstDash val="sysDot"/>
              <a:round/>
              <a:headEnd type="none" w="sm" len="sm"/>
              <a:tailEnd type="none" w="sm" len="sm"/>
            </a:ln>
          </p:spPr>
          <p:txBody>
            <a:bodyPr wrap="none" anchor="ctr"/>
            <a:lstStyle/>
            <a:p>
              <a:endParaRPr lang="zh-TW" altLang="en-US" sz="1350"/>
            </a:p>
          </p:txBody>
        </p:sp>
        <p:sp>
          <p:nvSpPr>
            <p:cNvPr id="13422" name="Line 107"/>
            <p:cNvSpPr>
              <a:spLocks noChangeShapeType="1"/>
            </p:cNvSpPr>
            <p:nvPr/>
          </p:nvSpPr>
          <p:spPr bwMode="auto">
            <a:xfrm>
              <a:off x="1040" y="1488"/>
              <a:ext cx="3692" cy="0"/>
            </a:xfrm>
            <a:prstGeom prst="line">
              <a:avLst/>
            </a:prstGeom>
            <a:noFill/>
            <a:ln w="12700" cap="rnd">
              <a:solidFill>
                <a:schemeClr val="tx1"/>
              </a:solidFill>
              <a:prstDash val="sysDot"/>
              <a:round/>
              <a:headEnd type="none" w="sm" len="sm"/>
              <a:tailEnd type="none" w="sm" len="sm"/>
            </a:ln>
          </p:spPr>
          <p:txBody>
            <a:bodyPr wrap="none" anchor="ctr"/>
            <a:lstStyle/>
            <a:p>
              <a:endParaRPr lang="zh-TW" altLang="en-US" sz="1350"/>
            </a:p>
          </p:txBody>
        </p:sp>
        <p:sp>
          <p:nvSpPr>
            <p:cNvPr id="13423" name="Line 108"/>
            <p:cNvSpPr>
              <a:spLocks noChangeShapeType="1"/>
            </p:cNvSpPr>
            <p:nvPr/>
          </p:nvSpPr>
          <p:spPr bwMode="auto">
            <a:xfrm>
              <a:off x="1040" y="2064"/>
              <a:ext cx="3692" cy="0"/>
            </a:xfrm>
            <a:prstGeom prst="line">
              <a:avLst/>
            </a:prstGeom>
            <a:noFill/>
            <a:ln w="12700" cap="rnd">
              <a:solidFill>
                <a:schemeClr val="tx1"/>
              </a:solidFill>
              <a:prstDash val="sysDot"/>
              <a:round/>
              <a:headEnd type="none" w="sm" len="sm"/>
              <a:tailEnd type="none" w="sm" len="sm"/>
            </a:ln>
          </p:spPr>
          <p:txBody>
            <a:bodyPr wrap="none" anchor="ctr"/>
            <a:lstStyle/>
            <a:p>
              <a:endParaRPr lang="zh-TW" altLang="en-US" sz="1350"/>
            </a:p>
          </p:txBody>
        </p:sp>
      </p:grpSp>
      <p:sp>
        <p:nvSpPr>
          <p:cNvPr id="13316" name="Rectangle 109"/>
          <p:cNvSpPr>
            <a:spLocks noGrp="1" noChangeArrowheads="1"/>
          </p:cNvSpPr>
          <p:nvPr>
            <p:ph type="title"/>
          </p:nvPr>
        </p:nvSpPr>
        <p:spPr>
          <a:xfrm>
            <a:off x="943897" y="129780"/>
            <a:ext cx="6785641" cy="423286"/>
          </a:xfrm>
        </p:spPr>
        <p:txBody>
          <a:bodyPr/>
          <a:lstStyle/>
          <a:p>
            <a:r>
              <a:rPr lang="en-US" altLang="zh-TW" dirty="0"/>
              <a:t>Processor Memory Latency Gap</a:t>
            </a:r>
          </a:p>
        </p:txBody>
      </p:sp>
      <p:sp>
        <p:nvSpPr>
          <p:cNvPr id="114" name="Slide Number Placeholder 5">
            <a:extLst>
              <a:ext uri="{FF2B5EF4-FFF2-40B4-BE49-F238E27FC236}">
                <a16:creationId xmlns:a16="http://schemas.microsoft.com/office/drawing/2014/main" id="{E733A2FA-68EF-487A-A7D0-0FDB81B2F1BC}"/>
              </a:ext>
            </a:extLst>
          </p:cNvPr>
          <p:cNvSpPr>
            <a:spLocks noGrp="1"/>
          </p:cNvSpPr>
          <p:nvPr>
            <p:ph type="sldNum" sz="quarter" idx="10"/>
          </p:nvPr>
        </p:nvSpPr>
        <p:spPr>
          <a:xfrm>
            <a:off x="6831013" y="4893471"/>
            <a:ext cx="2133600" cy="254794"/>
          </a:xfrm>
        </p:spPr>
        <p:txBody>
          <a:bodyPr/>
          <a:lstStyle/>
          <a:p>
            <a:fld id="{D9B6BDF2-6896-4B98-8776-C18582F63BA5}" type="slidenum">
              <a:rPr lang="zh-TW" altLang="en-US" smtClean="0"/>
              <a:pPr/>
              <a:t>14</a:t>
            </a:fld>
            <a:endParaRPr lang="zh-TW" altLang="en-US"/>
          </a:p>
        </p:txBody>
      </p:sp>
    </p:spTree>
    <p:extLst>
      <p:ext uri="{BB962C8B-B14F-4D97-AF65-F5344CB8AC3E}">
        <p14:creationId xmlns:p14="http://schemas.microsoft.com/office/powerpoint/2010/main" val="224998224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 name="Slide Number Placeholder 5">
            <a:extLst>
              <a:ext uri="{FF2B5EF4-FFF2-40B4-BE49-F238E27FC236}">
                <a16:creationId xmlns:a16="http://schemas.microsoft.com/office/drawing/2014/main" id="{73B89A86-E346-4FC6-B4C5-652C6E49FBEB}"/>
              </a:ext>
            </a:extLst>
          </p:cNvPr>
          <p:cNvSpPr>
            <a:spLocks noGrp="1"/>
          </p:cNvSpPr>
          <p:nvPr>
            <p:ph type="sldNum" sz="quarter" idx="10"/>
          </p:nvPr>
        </p:nvSpPr>
        <p:spPr>
          <a:xfrm>
            <a:off x="6831013" y="4893471"/>
            <a:ext cx="2133600" cy="254794"/>
          </a:xfrm>
        </p:spPr>
        <p:txBody>
          <a:bodyPr/>
          <a:lstStyle/>
          <a:p>
            <a:fld id="{D9B6BDF2-6896-4B98-8776-C18582F63BA5}" type="slidenum">
              <a:rPr lang="zh-TW" altLang="en-US" smtClean="0"/>
              <a:pPr/>
              <a:t>15</a:t>
            </a:fld>
            <a:endParaRPr lang="zh-TW" altLang="en-US"/>
          </a:p>
        </p:txBody>
      </p:sp>
      <p:grpSp>
        <p:nvGrpSpPr>
          <p:cNvPr id="33" name="组合 32">
            <a:extLst>
              <a:ext uri="{FF2B5EF4-FFF2-40B4-BE49-F238E27FC236}">
                <a16:creationId xmlns:a16="http://schemas.microsoft.com/office/drawing/2014/main" id="{FD92482E-32CD-430A-8E20-E754B189AD52}"/>
              </a:ext>
            </a:extLst>
          </p:cNvPr>
          <p:cNvGrpSpPr/>
          <p:nvPr/>
        </p:nvGrpSpPr>
        <p:grpSpPr>
          <a:xfrm>
            <a:off x="966019" y="884903"/>
            <a:ext cx="7248833" cy="3658883"/>
            <a:chOff x="1912938" y="874713"/>
            <a:chExt cx="7795179" cy="5513387"/>
          </a:xfrm>
        </p:grpSpPr>
        <p:sp>
          <p:nvSpPr>
            <p:cNvPr id="34" name="Rectangle 2">
              <a:extLst>
                <a:ext uri="{FF2B5EF4-FFF2-40B4-BE49-F238E27FC236}">
                  <a16:creationId xmlns:a16="http://schemas.microsoft.com/office/drawing/2014/main" id="{1E9149B2-E050-4B2B-9CBF-58C236486D42}"/>
                </a:ext>
              </a:extLst>
            </p:cNvPr>
            <p:cNvSpPr>
              <a:spLocks noChangeArrowheads="1"/>
            </p:cNvSpPr>
            <p:nvPr/>
          </p:nvSpPr>
          <p:spPr bwMode="auto">
            <a:xfrm>
              <a:off x="3563938" y="1689100"/>
              <a:ext cx="1292225" cy="431800"/>
            </a:xfrm>
            <a:prstGeom prst="rect">
              <a:avLst/>
            </a:prstGeom>
            <a:gradFill rotWithShape="0">
              <a:gsLst>
                <a:gs pos="0">
                  <a:srgbClr val="767647"/>
                </a:gs>
                <a:gs pos="50000">
                  <a:srgbClr val="FFFF99"/>
                </a:gs>
                <a:gs pos="100000">
                  <a:srgbClr val="767647"/>
                </a:gs>
              </a:gsLst>
              <a:lin ang="0" scaled="1"/>
            </a:gradFill>
            <a:ln w="25400">
              <a:solidFill>
                <a:schemeClr val="tx1"/>
              </a:solidFill>
              <a:miter lim="800000"/>
              <a:headEnd/>
              <a:tailEnd/>
            </a:ln>
          </p:spPr>
          <p:txBody>
            <a:bodyPr wrap="none" anchor="ctr"/>
            <a:lstStyle/>
            <a:p>
              <a:endParaRPr lang="zh-TW" altLang="en-US" sz="1400"/>
            </a:p>
          </p:txBody>
        </p:sp>
        <p:sp>
          <p:nvSpPr>
            <p:cNvPr id="35" name="Rectangle 3">
              <a:extLst>
                <a:ext uri="{FF2B5EF4-FFF2-40B4-BE49-F238E27FC236}">
                  <a16:creationId xmlns:a16="http://schemas.microsoft.com/office/drawing/2014/main" id="{A125B69F-2240-44BA-AA0B-43C4DCF7CC88}"/>
                </a:ext>
              </a:extLst>
            </p:cNvPr>
            <p:cNvSpPr>
              <a:spLocks noChangeArrowheads="1"/>
            </p:cNvSpPr>
            <p:nvPr/>
          </p:nvSpPr>
          <p:spPr bwMode="auto">
            <a:xfrm>
              <a:off x="3151188" y="2679700"/>
              <a:ext cx="2117725" cy="508000"/>
            </a:xfrm>
            <a:prstGeom prst="rect">
              <a:avLst/>
            </a:prstGeom>
            <a:gradFill rotWithShape="0">
              <a:gsLst>
                <a:gs pos="0">
                  <a:srgbClr val="767647"/>
                </a:gs>
                <a:gs pos="50000">
                  <a:srgbClr val="FFFF99"/>
                </a:gs>
                <a:gs pos="100000">
                  <a:srgbClr val="767647"/>
                </a:gs>
              </a:gsLst>
              <a:lin ang="0" scaled="1"/>
            </a:gradFill>
            <a:ln w="25400">
              <a:solidFill>
                <a:schemeClr val="tx1"/>
              </a:solidFill>
              <a:miter lim="800000"/>
              <a:headEnd/>
              <a:tailEnd/>
            </a:ln>
          </p:spPr>
          <p:txBody>
            <a:bodyPr wrap="none" anchor="ctr"/>
            <a:lstStyle/>
            <a:p>
              <a:endParaRPr lang="zh-TW" altLang="en-US" sz="1400"/>
            </a:p>
          </p:txBody>
        </p:sp>
        <p:sp>
          <p:nvSpPr>
            <p:cNvPr id="36" name="Rectangle 4">
              <a:extLst>
                <a:ext uri="{FF2B5EF4-FFF2-40B4-BE49-F238E27FC236}">
                  <a16:creationId xmlns:a16="http://schemas.microsoft.com/office/drawing/2014/main" id="{0A82AE16-CC61-46D1-86CF-670366DBF0F6}"/>
                </a:ext>
              </a:extLst>
            </p:cNvPr>
            <p:cNvSpPr>
              <a:spLocks noChangeArrowheads="1"/>
            </p:cNvSpPr>
            <p:nvPr/>
          </p:nvSpPr>
          <p:spPr bwMode="auto">
            <a:xfrm>
              <a:off x="2820988" y="3746500"/>
              <a:ext cx="3108325" cy="508000"/>
            </a:xfrm>
            <a:prstGeom prst="rect">
              <a:avLst/>
            </a:prstGeom>
            <a:gradFill rotWithShape="0">
              <a:gsLst>
                <a:gs pos="0">
                  <a:srgbClr val="767647"/>
                </a:gs>
                <a:gs pos="50000">
                  <a:srgbClr val="FFFF99"/>
                </a:gs>
                <a:gs pos="100000">
                  <a:srgbClr val="767647"/>
                </a:gs>
              </a:gsLst>
              <a:lin ang="0" scaled="1"/>
            </a:gradFill>
            <a:ln w="25400">
              <a:solidFill>
                <a:schemeClr val="tx1"/>
              </a:solidFill>
              <a:miter lim="800000"/>
              <a:headEnd/>
              <a:tailEnd/>
            </a:ln>
          </p:spPr>
          <p:txBody>
            <a:bodyPr wrap="none" anchor="ctr"/>
            <a:lstStyle/>
            <a:p>
              <a:endParaRPr lang="zh-TW" altLang="en-US" sz="1400"/>
            </a:p>
          </p:txBody>
        </p:sp>
        <p:sp>
          <p:nvSpPr>
            <p:cNvPr id="37" name="Rectangle 5">
              <a:extLst>
                <a:ext uri="{FF2B5EF4-FFF2-40B4-BE49-F238E27FC236}">
                  <a16:creationId xmlns:a16="http://schemas.microsoft.com/office/drawing/2014/main" id="{771B19BD-47A7-4204-A666-E602B788A0AE}"/>
                </a:ext>
              </a:extLst>
            </p:cNvPr>
            <p:cNvSpPr>
              <a:spLocks noChangeArrowheads="1"/>
            </p:cNvSpPr>
            <p:nvPr/>
          </p:nvSpPr>
          <p:spPr bwMode="auto">
            <a:xfrm>
              <a:off x="2243138" y="4813300"/>
              <a:ext cx="4264025" cy="508000"/>
            </a:xfrm>
            <a:prstGeom prst="rect">
              <a:avLst/>
            </a:prstGeom>
            <a:gradFill rotWithShape="0">
              <a:gsLst>
                <a:gs pos="0">
                  <a:srgbClr val="767647"/>
                </a:gs>
                <a:gs pos="50000">
                  <a:srgbClr val="FFFF99"/>
                </a:gs>
                <a:gs pos="100000">
                  <a:srgbClr val="767647"/>
                </a:gs>
              </a:gsLst>
              <a:lin ang="0" scaled="1"/>
            </a:gradFill>
            <a:ln w="25400">
              <a:solidFill>
                <a:schemeClr val="tx1"/>
              </a:solidFill>
              <a:miter lim="800000"/>
              <a:headEnd/>
              <a:tailEnd/>
            </a:ln>
          </p:spPr>
          <p:txBody>
            <a:bodyPr wrap="none" anchor="ctr"/>
            <a:lstStyle/>
            <a:p>
              <a:endParaRPr lang="zh-TW" altLang="en-US" sz="1400"/>
            </a:p>
          </p:txBody>
        </p:sp>
        <p:sp>
          <p:nvSpPr>
            <p:cNvPr id="38" name="Rectangle 6">
              <a:extLst>
                <a:ext uri="{FF2B5EF4-FFF2-40B4-BE49-F238E27FC236}">
                  <a16:creationId xmlns:a16="http://schemas.microsoft.com/office/drawing/2014/main" id="{44E9ED36-D6A6-4594-B25C-F47616836DD3}"/>
                </a:ext>
              </a:extLst>
            </p:cNvPr>
            <p:cNvSpPr>
              <a:spLocks noChangeArrowheads="1"/>
            </p:cNvSpPr>
            <p:nvPr/>
          </p:nvSpPr>
          <p:spPr bwMode="auto">
            <a:xfrm>
              <a:off x="1912938" y="5880100"/>
              <a:ext cx="5089525" cy="508000"/>
            </a:xfrm>
            <a:prstGeom prst="rect">
              <a:avLst/>
            </a:prstGeom>
            <a:gradFill rotWithShape="0">
              <a:gsLst>
                <a:gs pos="0">
                  <a:srgbClr val="767647"/>
                </a:gs>
                <a:gs pos="50000">
                  <a:srgbClr val="FFFF99"/>
                </a:gs>
                <a:gs pos="100000">
                  <a:srgbClr val="767647"/>
                </a:gs>
              </a:gsLst>
              <a:lin ang="0" scaled="1"/>
            </a:gradFill>
            <a:ln w="25400">
              <a:solidFill>
                <a:schemeClr val="tx1"/>
              </a:solidFill>
              <a:miter lim="800000"/>
              <a:headEnd/>
              <a:tailEnd/>
            </a:ln>
          </p:spPr>
          <p:txBody>
            <a:bodyPr wrap="none" anchor="ctr"/>
            <a:lstStyle/>
            <a:p>
              <a:endParaRPr lang="zh-TW" altLang="en-US" sz="1400"/>
            </a:p>
          </p:txBody>
        </p:sp>
        <p:sp>
          <p:nvSpPr>
            <p:cNvPr id="39" name="Rectangle 7">
              <a:extLst>
                <a:ext uri="{FF2B5EF4-FFF2-40B4-BE49-F238E27FC236}">
                  <a16:creationId xmlns:a16="http://schemas.microsoft.com/office/drawing/2014/main" id="{F775AEB7-BEAA-47F4-B39D-38B6615C4B9A}"/>
                </a:ext>
              </a:extLst>
            </p:cNvPr>
            <p:cNvSpPr>
              <a:spLocks noChangeArrowheads="1"/>
            </p:cNvSpPr>
            <p:nvPr/>
          </p:nvSpPr>
          <p:spPr bwMode="auto">
            <a:xfrm>
              <a:off x="3678208" y="1733556"/>
              <a:ext cx="1298453" cy="329965"/>
            </a:xfrm>
            <a:prstGeom prst="rect">
              <a:avLst/>
            </a:prstGeom>
            <a:noFill/>
            <a:ln w="9525">
              <a:noFill/>
              <a:miter lim="800000"/>
              <a:headEnd/>
              <a:tailEnd/>
            </a:ln>
          </p:spPr>
          <p:txBody>
            <a:bodyPr wrap="none" lIns="63500" tIns="25400" rIns="63500" bIns="25400">
              <a:spAutoFit/>
            </a:bodyPr>
            <a:lstStyle/>
            <a:p>
              <a:pPr>
                <a:lnSpc>
                  <a:spcPct val="85000"/>
                </a:lnSpc>
              </a:pPr>
              <a:r>
                <a:rPr kumimoji="1" lang="en-US" altLang="zh-TW" sz="1400" b="1" dirty="0">
                  <a:latin typeface="Arial" pitchFamily="34" charset="0"/>
                </a:rPr>
                <a:t>Registers</a:t>
              </a:r>
            </a:p>
          </p:txBody>
        </p:sp>
        <p:sp>
          <p:nvSpPr>
            <p:cNvPr id="40" name="Rectangle 8">
              <a:extLst>
                <a:ext uri="{FF2B5EF4-FFF2-40B4-BE49-F238E27FC236}">
                  <a16:creationId xmlns:a16="http://schemas.microsoft.com/office/drawing/2014/main" id="{BF5A993C-73A6-469B-9EAB-E735F51B276D}"/>
                </a:ext>
              </a:extLst>
            </p:cNvPr>
            <p:cNvSpPr>
              <a:spLocks noChangeArrowheads="1"/>
            </p:cNvSpPr>
            <p:nvPr/>
          </p:nvSpPr>
          <p:spPr bwMode="auto">
            <a:xfrm>
              <a:off x="3820947" y="2779713"/>
              <a:ext cx="914870" cy="329965"/>
            </a:xfrm>
            <a:prstGeom prst="rect">
              <a:avLst/>
            </a:prstGeom>
            <a:noFill/>
            <a:ln w="9525">
              <a:noFill/>
              <a:miter lim="800000"/>
              <a:headEnd/>
              <a:tailEnd/>
            </a:ln>
          </p:spPr>
          <p:txBody>
            <a:bodyPr wrap="none" lIns="63500" tIns="25400" rIns="63500" bIns="25400">
              <a:spAutoFit/>
            </a:bodyPr>
            <a:lstStyle/>
            <a:p>
              <a:pPr>
                <a:lnSpc>
                  <a:spcPct val="85000"/>
                </a:lnSpc>
              </a:pPr>
              <a:r>
                <a:rPr kumimoji="1" lang="en-US" altLang="zh-TW" sz="1400" b="1" dirty="0">
                  <a:latin typeface="Arial" pitchFamily="34" charset="0"/>
                </a:rPr>
                <a:t>Cache</a:t>
              </a:r>
            </a:p>
          </p:txBody>
        </p:sp>
        <p:sp>
          <p:nvSpPr>
            <p:cNvPr id="41" name="Rectangle 9">
              <a:extLst>
                <a:ext uri="{FF2B5EF4-FFF2-40B4-BE49-F238E27FC236}">
                  <a16:creationId xmlns:a16="http://schemas.microsoft.com/office/drawing/2014/main" id="{33A227B2-547E-45AA-89B6-053EE5665A82}"/>
                </a:ext>
              </a:extLst>
            </p:cNvPr>
            <p:cNvSpPr>
              <a:spLocks noChangeArrowheads="1"/>
            </p:cNvSpPr>
            <p:nvPr/>
          </p:nvSpPr>
          <p:spPr bwMode="auto">
            <a:xfrm>
              <a:off x="3744901" y="3846513"/>
              <a:ext cx="1122093" cy="329965"/>
            </a:xfrm>
            <a:prstGeom prst="rect">
              <a:avLst/>
            </a:prstGeom>
            <a:noFill/>
            <a:ln w="9525">
              <a:noFill/>
              <a:miter lim="800000"/>
              <a:headEnd/>
              <a:tailEnd/>
            </a:ln>
          </p:spPr>
          <p:txBody>
            <a:bodyPr wrap="none" lIns="63500" tIns="25400" rIns="63500" bIns="25400">
              <a:spAutoFit/>
            </a:bodyPr>
            <a:lstStyle/>
            <a:p>
              <a:pPr>
                <a:lnSpc>
                  <a:spcPct val="85000"/>
                </a:lnSpc>
              </a:pPr>
              <a:r>
                <a:rPr kumimoji="1" lang="en-US" altLang="zh-TW" sz="1400" b="1" dirty="0">
                  <a:latin typeface="Arial" pitchFamily="34" charset="0"/>
                </a:rPr>
                <a:t>Memory</a:t>
              </a:r>
            </a:p>
          </p:txBody>
        </p:sp>
        <p:sp>
          <p:nvSpPr>
            <p:cNvPr id="42" name="Rectangle 10">
              <a:extLst>
                <a:ext uri="{FF2B5EF4-FFF2-40B4-BE49-F238E27FC236}">
                  <a16:creationId xmlns:a16="http://schemas.microsoft.com/office/drawing/2014/main" id="{1C4BECD8-C286-4DA1-BDAC-0F9B47854D56}"/>
                </a:ext>
              </a:extLst>
            </p:cNvPr>
            <p:cNvSpPr>
              <a:spLocks noChangeArrowheads="1"/>
            </p:cNvSpPr>
            <p:nvPr/>
          </p:nvSpPr>
          <p:spPr bwMode="auto">
            <a:xfrm>
              <a:off x="3943144" y="4913311"/>
              <a:ext cx="696623" cy="329965"/>
            </a:xfrm>
            <a:prstGeom prst="rect">
              <a:avLst/>
            </a:prstGeom>
            <a:noFill/>
            <a:ln w="9525">
              <a:noFill/>
              <a:miter lim="800000"/>
              <a:headEnd/>
              <a:tailEnd/>
            </a:ln>
          </p:spPr>
          <p:txBody>
            <a:bodyPr wrap="none" lIns="63500" tIns="25400" rIns="63500" bIns="25400">
              <a:spAutoFit/>
            </a:bodyPr>
            <a:lstStyle/>
            <a:p>
              <a:pPr>
                <a:lnSpc>
                  <a:spcPct val="85000"/>
                </a:lnSpc>
              </a:pPr>
              <a:r>
                <a:rPr kumimoji="1" lang="en-US" altLang="zh-TW" sz="1400" b="1" dirty="0">
                  <a:latin typeface="Arial" pitchFamily="34" charset="0"/>
                </a:rPr>
                <a:t>Disk</a:t>
              </a:r>
            </a:p>
          </p:txBody>
        </p:sp>
        <p:sp>
          <p:nvSpPr>
            <p:cNvPr id="43" name="Rectangle 11">
              <a:extLst>
                <a:ext uri="{FF2B5EF4-FFF2-40B4-BE49-F238E27FC236}">
                  <a16:creationId xmlns:a16="http://schemas.microsoft.com/office/drawing/2014/main" id="{8F4398BD-139C-4501-9D6A-0BFC788D92D5}"/>
                </a:ext>
              </a:extLst>
            </p:cNvPr>
            <p:cNvSpPr>
              <a:spLocks noChangeArrowheads="1"/>
            </p:cNvSpPr>
            <p:nvPr/>
          </p:nvSpPr>
          <p:spPr bwMode="auto">
            <a:xfrm>
              <a:off x="3930536" y="6000755"/>
              <a:ext cx="731190" cy="329965"/>
            </a:xfrm>
            <a:prstGeom prst="rect">
              <a:avLst/>
            </a:prstGeom>
            <a:noFill/>
            <a:ln w="9525">
              <a:noFill/>
              <a:miter lim="800000"/>
              <a:headEnd/>
              <a:tailEnd/>
            </a:ln>
          </p:spPr>
          <p:txBody>
            <a:bodyPr wrap="none" lIns="63500" tIns="25400" rIns="63500" bIns="25400">
              <a:spAutoFit/>
            </a:bodyPr>
            <a:lstStyle/>
            <a:p>
              <a:pPr>
                <a:lnSpc>
                  <a:spcPct val="85000"/>
                </a:lnSpc>
              </a:pPr>
              <a:r>
                <a:rPr kumimoji="1" lang="en-US" altLang="zh-TW" sz="1400" b="1" dirty="0">
                  <a:latin typeface="Arial" pitchFamily="34" charset="0"/>
                </a:rPr>
                <a:t>Tape</a:t>
              </a:r>
            </a:p>
          </p:txBody>
        </p:sp>
        <p:sp>
          <p:nvSpPr>
            <p:cNvPr id="44" name="Line 12">
              <a:extLst>
                <a:ext uri="{FF2B5EF4-FFF2-40B4-BE49-F238E27FC236}">
                  <a16:creationId xmlns:a16="http://schemas.microsoft.com/office/drawing/2014/main" id="{8DF61BB7-F68E-46AE-8F84-2DBCE7C93E83}"/>
                </a:ext>
              </a:extLst>
            </p:cNvPr>
            <p:cNvSpPr>
              <a:spLocks noChangeShapeType="1"/>
            </p:cNvSpPr>
            <p:nvPr/>
          </p:nvSpPr>
          <p:spPr bwMode="auto">
            <a:xfrm>
              <a:off x="4210050" y="2133600"/>
              <a:ext cx="0" cy="533400"/>
            </a:xfrm>
            <a:prstGeom prst="line">
              <a:avLst/>
            </a:prstGeom>
            <a:noFill/>
            <a:ln w="12700">
              <a:solidFill>
                <a:schemeClr val="tx1"/>
              </a:solidFill>
              <a:round/>
              <a:headEnd type="stealth" w="med" len="lg"/>
              <a:tailEnd type="stealth" w="med" len="lg"/>
            </a:ln>
          </p:spPr>
          <p:txBody>
            <a:bodyPr wrap="none" anchor="ctr"/>
            <a:lstStyle/>
            <a:p>
              <a:endParaRPr lang="zh-TW" altLang="en-US" sz="1400"/>
            </a:p>
          </p:txBody>
        </p:sp>
        <p:sp>
          <p:nvSpPr>
            <p:cNvPr id="45" name="Line 13">
              <a:extLst>
                <a:ext uri="{FF2B5EF4-FFF2-40B4-BE49-F238E27FC236}">
                  <a16:creationId xmlns:a16="http://schemas.microsoft.com/office/drawing/2014/main" id="{CE02E511-3ACF-4D3A-B9C9-75A38769F769}"/>
                </a:ext>
              </a:extLst>
            </p:cNvPr>
            <p:cNvSpPr>
              <a:spLocks noChangeShapeType="1"/>
            </p:cNvSpPr>
            <p:nvPr/>
          </p:nvSpPr>
          <p:spPr bwMode="auto">
            <a:xfrm>
              <a:off x="4210050" y="3200400"/>
              <a:ext cx="0" cy="533400"/>
            </a:xfrm>
            <a:prstGeom prst="line">
              <a:avLst/>
            </a:prstGeom>
            <a:noFill/>
            <a:ln w="12700">
              <a:solidFill>
                <a:schemeClr val="tx1"/>
              </a:solidFill>
              <a:round/>
              <a:headEnd type="stealth" w="med" len="lg"/>
              <a:tailEnd type="stealth" w="med" len="lg"/>
            </a:ln>
          </p:spPr>
          <p:txBody>
            <a:bodyPr wrap="none" anchor="ctr"/>
            <a:lstStyle/>
            <a:p>
              <a:endParaRPr lang="zh-TW" altLang="en-US" sz="1400"/>
            </a:p>
          </p:txBody>
        </p:sp>
        <p:sp>
          <p:nvSpPr>
            <p:cNvPr id="46" name="Line 14">
              <a:extLst>
                <a:ext uri="{FF2B5EF4-FFF2-40B4-BE49-F238E27FC236}">
                  <a16:creationId xmlns:a16="http://schemas.microsoft.com/office/drawing/2014/main" id="{DB661260-A5FA-4A16-AEC8-74E9D4992307}"/>
                </a:ext>
              </a:extLst>
            </p:cNvPr>
            <p:cNvSpPr>
              <a:spLocks noChangeShapeType="1"/>
            </p:cNvSpPr>
            <p:nvPr/>
          </p:nvSpPr>
          <p:spPr bwMode="auto">
            <a:xfrm>
              <a:off x="4210050" y="4267200"/>
              <a:ext cx="0" cy="533400"/>
            </a:xfrm>
            <a:prstGeom prst="line">
              <a:avLst/>
            </a:prstGeom>
            <a:noFill/>
            <a:ln w="25400">
              <a:solidFill>
                <a:schemeClr val="tx1"/>
              </a:solidFill>
              <a:round/>
              <a:headEnd type="stealth" w="med" len="lg"/>
              <a:tailEnd type="stealth" w="med" len="lg"/>
            </a:ln>
          </p:spPr>
          <p:txBody>
            <a:bodyPr wrap="none" anchor="ctr"/>
            <a:lstStyle/>
            <a:p>
              <a:endParaRPr lang="zh-TW" altLang="en-US" sz="1400"/>
            </a:p>
          </p:txBody>
        </p:sp>
        <p:sp>
          <p:nvSpPr>
            <p:cNvPr id="47" name="Line 15">
              <a:extLst>
                <a:ext uri="{FF2B5EF4-FFF2-40B4-BE49-F238E27FC236}">
                  <a16:creationId xmlns:a16="http://schemas.microsoft.com/office/drawing/2014/main" id="{EB977DB6-330A-4617-9A1C-92A925F389CE}"/>
                </a:ext>
              </a:extLst>
            </p:cNvPr>
            <p:cNvSpPr>
              <a:spLocks noChangeShapeType="1"/>
            </p:cNvSpPr>
            <p:nvPr/>
          </p:nvSpPr>
          <p:spPr bwMode="auto">
            <a:xfrm>
              <a:off x="4210050" y="5334000"/>
              <a:ext cx="0" cy="533400"/>
            </a:xfrm>
            <a:prstGeom prst="line">
              <a:avLst/>
            </a:prstGeom>
            <a:noFill/>
            <a:ln w="12700">
              <a:solidFill>
                <a:schemeClr val="tx1"/>
              </a:solidFill>
              <a:round/>
              <a:headEnd type="stealth" w="med" len="lg"/>
              <a:tailEnd type="stealth" w="med" len="lg"/>
            </a:ln>
          </p:spPr>
          <p:txBody>
            <a:bodyPr wrap="none" anchor="ctr"/>
            <a:lstStyle/>
            <a:p>
              <a:endParaRPr lang="zh-TW" altLang="en-US" sz="1400"/>
            </a:p>
          </p:txBody>
        </p:sp>
        <p:sp>
          <p:nvSpPr>
            <p:cNvPr id="48" name="Rectangle 16">
              <a:extLst>
                <a:ext uri="{FF2B5EF4-FFF2-40B4-BE49-F238E27FC236}">
                  <a16:creationId xmlns:a16="http://schemas.microsoft.com/office/drawing/2014/main" id="{A81759A4-B579-45F0-9168-4302AD992CB3}"/>
                </a:ext>
              </a:extLst>
            </p:cNvPr>
            <p:cNvSpPr>
              <a:spLocks noChangeArrowheads="1"/>
            </p:cNvSpPr>
            <p:nvPr/>
          </p:nvSpPr>
          <p:spPr bwMode="auto">
            <a:xfrm>
              <a:off x="4306888" y="2246314"/>
              <a:ext cx="1858044" cy="329965"/>
            </a:xfrm>
            <a:prstGeom prst="rect">
              <a:avLst/>
            </a:prstGeom>
            <a:noFill/>
            <a:ln w="9525">
              <a:noFill/>
              <a:miter lim="800000"/>
              <a:headEnd/>
              <a:tailEnd/>
            </a:ln>
          </p:spPr>
          <p:txBody>
            <a:bodyPr wrap="none" lIns="63500" tIns="25400" rIns="63500" bIns="25400">
              <a:spAutoFit/>
            </a:bodyPr>
            <a:lstStyle/>
            <a:p>
              <a:pPr>
                <a:lnSpc>
                  <a:spcPct val="85000"/>
                </a:lnSpc>
              </a:pPr>
              <a:r>
                <a:rPr kumimoji="1" lang="en-US" altLang="zh-TW" sz="1400">
                  <a:latin typeface="Arial" pitchFamily="34" charset="0"/>
                </a:rPr>
                <a:t>Instr. Operands</a:t>
              </a:r>
            </a:p>
          </p:txBody>
        </p:sp>
        <p:sp>
          <p:nvSpPr>
            <p:cNvPr id="49" name="Rectangle 17">
              <a:extLst>
                <a:ext uri="{FF2B5EF4-FFF2-40B4-BE49-F238E27FC236}">
                  <a16:creationId xmlns:a16="http://schemas.microsoft.com/office/drawing/2014/main" id="{C96E4339-07C8-47D7-9CC0-7E93A6ABFA81}"/>
                </a:ext>
              </a:extLst>
            </p:cNvPr>
            <p:cNvSpPr>
              <a:spLocks noChangeArrowheads="1"/>
            </p:cNvSpPr>
            <p:nvPr/>
          </p:nvSpPr>
          <p:spPr bwMode="auto">
            <a:xfrm>
              <a:off x="4306888" y="3313113"/>
              <a:ext cx="903846" cy="329965"/>
            </a:xfrm>
            <a:prstGeom prst="rect">
              <a:avLst/>
            </a:prstGeom>
            <a:noFill/>
            <a:ln w="9525">
              <a:noFill/>
              <a:miter lim="800000"/>
              <a:headEnd/>
              <a:tailEnd/>
            </a:ln>
          </p:spPr>
          <p:txBody>
            <a:bodyPr wrap="none" lIns="63500" tIns="25400" rIns="63500" bIns="25400">
              <a:spAutoFit/>
            </a:bodyPr>
            <a:lstStyle/>
            <a:p>
              <a:pPr>
                <a:lnSpc>
                  <a:spcPct val="85000"/>
                </a:lnSpc>
              </a:pPr>
              <a:r>
                <a:rPr kumimoji="1" lang="en-US" altLang="zh-TW" sz="1400" dirty="0">
                  <a:latin typeface="Arial" pitchFamily="34" charset="0"/>
                </a:rPr>
                <a:t>Blocks</a:t>
              </a:r>
            </a:p>
          </p:txBody>
        </p:sp>
        <p:sp>
          <p:nvSpPr>
            <p:cNvPr id="50" name="Rectangle 18">
              <a:extLst>
                <a:ext uri="{FF2B5EF4-FFF2-40B4-BE49-F238E27FC236}">
                  <a16:creationId xmlns:a16="http://schemas.microsoft.com/office/drawing/2014/main" id="{B103DA22-B2A0-41F0-BD7A-1DFF48D3BAE9}"/>
                </a:ext>
              </a:extLst>
            </p:cNvPr>
            <p:cNvSpPr>
              <a:spLocks noChangeArrowheads="1"/>
            </p:cNvSpPr>
            <p:nvPr/>
          </p:nvSpPr>
          <p:spPr bwMode="auto">
            <a:xfrm>
              <a:off x="4306888" y="4379913"/>
              <a:ext cx="875189" cy="329965"/>
            </a:xfrm>
            <a:prstGeom prst="rect">
              <a:avLst/>
            </a:prstGeom>
            <a:noFill/>
            <a:ln w="9525">
              <a:noFill/>
              <a:miter lim="800000"/>
              <a:headEnd/>
              <a:tailEnd/>
            </a:ln>
          </p:spPr>
          <p:txBody>
            <a:bodyPr wrap="none" lIns="63500" tIns="25400" rIns="63500" bIns="25400">
              <a:spAutoFit/>
            </a:bodyPr>
            <a:lstStyle/>
            <a:p>
              <a:pPr>
                <a:lnSpc>
                  <a:spcPct val="85000"/>
                </a:lnSpc>
              </a:pPr>
              <a:r>
                <a:rPr kumimoji="1" lang="en-US" altLang="zh-TW" sz="1400">
                  <a:latin typeface="Arial" pitchFamily="34" charset="0"/>
                </a:rPr>
                <a:t>Pages</a:t>
              </a:r>
            </a:p>
          </p:txBody>
        </p:sp>
        <p:sp>
          <p:nvSpPr>
            <p:cNvPr id="51" name="Rectangle 19">
              <a:extLst>
                <a:ext uri="{FF2B5EF4-FFF2-40B4-BE49-F238E27FC236}">
                  <a16:creationId xmlns:a16="http://schemas.microsoft.com/office/drawing/2014/main" id="{F6FF1A6A-E121-4CD9-BDE7-4866939AFB4D}"/>
                </a:ext>
              </a:extLst>
            </p:cNvPr>
            <p:cNvSpPr>
              <a:spLocks noChangeArrowheads="1"/>
            </p:cNvSpPr>
            <p:nvPr/>
          </p:nvSpPr>
          <p:spPr bwMode="auto">
            <a:xfrm>
              <a:off x="4306888" y="5446713"/>
              <a:ext cx="696623" cy="329965"/>
            </a:xfrm>
            <a:prstGeom prst="rect">
              <a:avLst/>
            </a:prstGeom>
            <a:noFill/>
            <a:ln w="9525">
              <a:noFill/>
              <a:miter lim="800000"/>
              <a:headEnd/>
              <a:tailEnd/>
            </a:ln>
          </p:spPr>
          <p:txBody>
            <a:bodyPr wrap="none" lIns="63500" tIns="25400" rIns="63500" bIns="25400">
              <a:spAutoFit/>
            </a:bodyPr>
            <a:lstStyle/>
            <a:p>
              <a:pPr>
                <a:lnSpc>
                  <a:spcPct val="85000"/>
                </a:lnSpc>
              </a:pPr>
              <a:r>
                <a:rPr kumimoji="1" lang="en-US" altLang="zh-TW" sz="1400">
                  <a:latin typeface="Arial" pitchFamily="34" charset="0"/>
                </a:rPr>
                <a:t>Files</a:t>
              </a:r>
            </a:p>
          </p:txBody>
        </p:sp>
        <p:sp>
          <p:nvSpPr>
            <p:cNvPr id="52" name="Rectangle 20">
              <a:extLst>
                <a:ext uri="{FF2B5EF4-FFF2-40B4-BE49-F238E27FC236}">
                  <a16:creationId xmlns:a16="http://schemas.microsoft.com/office/drawing/2014/main" id="{C86FF5DF-F1B2-46A8-B594-4C7BF42ACBE9}"/>
                </a:ext>
              </a:extLst>
            </p:cNvPr>
            <p:cNvSpPr>
              <a:spLocks noChangeArrowheads="1"/>
            </p:cNvSpPr>
            <p:nvPr/>
          </p:nvSpPr>
          <p:spPr bwMode="auto">
            <a:xfrm>
              <a:off x="6686550" y="1216025"/>
              <a:ext cx="1703993" cy="618053"/>
            </a:xfrm>
            <a:prstGeom prst="rect">
              <a:avLst/>
            </a:prstGeom>
            <a:noFill/>
            <a:ln w="9525">
              <a:noFill/>
              <a:miter lim="800000"/>
              <a:headEnd/>
              <a:tailEnd/>
            </a:ln>
          </p:spPr>
          <p:txBody>
            <a:bodyPr wrap="none" lIns="63500" tIns="25400" rIns="63500" bIns="25400">
              <a:spAutoFit/>
            </a:bodyPr>
            <a:lstStyle/>
            <a:p>
              <a:pPr>
                <a:lnSpc>
                  <a:spcPct val="90000"/>
                </a:lnSpc>
              </a:pPr>
              <a:r>
                <a:rPr kumimoji="1" lang="en-US" altLang="zh-TW" sz="1400" b="1" i="1">
                  <a:latin typeface="Arial" pitchFamily="34" charset="0"/>
                </a:rPr>
                <a:t>Staging</a:t>
              </a:r>
            </a:p>
            <a:p>
              <a:pPr>
                <a:lnSpc>
                  <a:spcPct val="90000"/>
                </a:lnSpc>
              </a:pPr>
              <a:r>
                <a:rPr kumimoji="1" lang="en-US" altLang="zh-TW" sz="1400" b="1" i="1">
                  <a:latin typeface="Arial" pitchFamily="34" charset="0"/>
                </a:rPr>
                <a:t>Transfer Unit</a:t>
              </a:r>
            </a:p>
          </p:txBody>
        </p:sp>
        <p:sp>
          <p:nvSpPr>
            <p:cNvPr id="53" name="Rectangle 21">
              <a:extLst>
                <a:ext uri="{FF2B5EF4-FFF2-40B4-BE49-F238E27FC236}">
                  <a16:creationId xmlns:a16="http://schemas.microsoft.com/office/drawing/2014/main" id="{323919D7-DD5D-400F-8977-05B9C6DE6311}"/>
                </a:ext>
              </a:extLst>
            </p:cNvPr>
            <p:cNvSpPr>
              <a:spLocks noChangeArrowheads="1"/>
            </p:cNvSpPr>
            <p:nvPr/>
          </p:nvSpPr>
          <p:spPr bwMode="auto">
            <a:xfrm>
              <a:off x="6672263" y="2193926"/>
              <a:ext cx="1887056" cy="618053"/>
            </a:xfrm>
            <a:prstGeom prst="rect">
              <a:avLst/>
            </a:prstGeom>
            <a:noFill/>
            <a:ln w="9525">
              <a:noFill/>
              <a:miter lim="800000"/>
              <a:headEnd/>
              <a:tailEnd/>
            </a:ln>
          </p:spPr>
          <p:txBody>
            <a:bodyPr wrap="none" lIns="63500" tIns="25400" rIns="63500" bIns="25400">
              <a:spAutoFit/>
            </a:bodyPr>
            <a:lstStyle/>
            <a:p>
              <a:pPr>
                <a:lnSpc>
                  <a:spcPct val="90000"/>
                </a:lnSpc>
              </a:pPr>
              <a:r>
                <a:rPr kumimoji="1" lang="en-US" altLang="zh-TW" sz="1400" b="1">
                  <a:latin typeface="Arial" pitchFamily="34" charset="0"/>
                </a:rPr>
                <a:t>prog./compiler</a:t>
              </a:r>
            </a:p>
            <a:p>
              <a:pPr>
                <a:lnSpc>
                  <a:spcPct val="90000"/>
                </a:lnSpc>
              </a:pPr>
              <a:endParaRPr kumimoji="1" lang="en-US" altLang="zh-TW" sz="1400" b="1">
                <a:latin typeface="Arial" pitchFamily="34" charset="0"/>
              </a:endParaRPr>
            </a:p>
          </p:txBody>
        </p:sp>
        <p:sp>
          <p:nvSpPr>
            <p:cNvPr id="54" name="Rectangle 22">
              <a:extLst>
                <a:ext uri="{FF2B5EF4-FFF2-40B4-BE49-F238E27FC236}">
                  <a16:creationId xmlns:a16="http://schemas.microsoft.com/office/drawing/2014/main" id="{6B8EF161-6104-43CD-A5AD-6CBF5D1531AA}"/>
                </a:ext>
              </a:extLst>
            </p:cNvPr>
            <p:cNvSpPr>
              <a:spLocks noChangeArrowheads="1"/>
            </p:cNvSpPr>
            <p:nvPr/>
          </p:nvSpPr>
          <p:spPr bwMode="auto">
            <a:xfrm>
              <a:off x="6754813" y="3184525"/>
              <a:ext cx="2076643" cy="345127"/>
            </a:xfrm>
            <a:prstGeom prst="rect">
              <a:avLst/>
            </a:prstGeom>
            <a:noFill/>
            <a:ln w="9525">
              <a:noFill/>
              <a:miter lim="800000"/>
              <a:headEnd/>
              <a:tailEnd/>
            </a:ln>
          </p:spPr>
          <p:txBody>
            <a:bodyPr wrap="none" lIns="63500" tIns="25400" rIns="63500" bIns="25400">
              <a:spAutoFit/>
            </a:bodyPr>
            <a:lstStyle/>
            <a:p>
              <a:pPr>
                <a:lnSpc>
                  <a:spcPct val="90000"/>
                </a:lnSpc>
              </a:pPr>
              <a:r>
                <a:rPr kumimoji="1" lang="en-US" altLang="zh-TW" sz="1400" b="1">
                  <a:latin typeface="Arial" pitchFamily="34" charset="0"/>
                </a:rPr>
                <a:t>cache controller</a:t>
              </a:r>
            </a:p>
          </p:txBody>
        </p:sp>
        <p:sp>
          <p:nvSpPr>
            <p:cNvPr id="55" name="Rectangle 23">
              <a:extLst>
                <a:ext uri="{FF2B5EF4-FFF2-40B4-BE49-F238E27FC236}">
                  <a16:creationId xmlns:a16="http://schemas.microsoft.com/office/drawing/2014/main" id="{AA73F9E6-278E-4976-BA9A-6F489AEE1140}"/>
                </a:ext>
              </a:extLst>
            </p:cNvPr>
            <p:cNvSpPr>
              <a:spLocks noChangeArrowheads="1"/>
            </p:cNvSpPr>
            <p:nvPr/>
          </p:nvSpPr>
          <p:spPr bwMode="auto">
            <a:xfrm>
              <a:off x="6851650" y="4251325"/>
              <a:ext cx="533490" cy="618053"/>
            </a:xfrm>
            <a:prstGeom prst="rect">
              <a:avLst/>
            </a:prstGeom>
            <a:noFill/>
            <a:ln w="9525">
              <a:noFill/>
              <a:miter lim="800000"/>
              <a:headEnd/>
              <a:tailEnd/>
            </a:ln>
          </p:spPr>
          <p:txBody>
            <a:bodyPr wrap="none" lIns="63500" tIns="25400" rIns="63500" bIns="25400">
              <a:spAutoFit/>
            </a:bodyPr>
            <a:lstStyle/>
            <a:p>
              <a:pPr>
                <a:lnSpc>
                  <a:spcPct val="90000"/>
                </a:lnSpc>
              </a:pPr>
              <a:r>
                <a:rPr kumimoji="1" lang="en-US" altLang="zh-TW" sz="1400" b="1">
                  <a:latin typeface="Arial" pitchFamily="34" charset="0"/>
                </a:rPr>
                <a:t>OS</a:t>
              </a:r>
            </a:p>
            <a:p>
              <a:pPr>
                <a:lnSpc>
                  <a:spcPct val="90000"/>
                </a:lnSpc>
              </a:pPr>
              <a:endParaRPr kumimoji="1" lang="en-US" altLang="zh-TW" sz="1400" b="1">
                <a:latin typeface="Arial" pitchFamily="34" charset="0"/>
              </a:endParaRPr>
            </a:p>
          </p:txBody>
        </p:sp>
        <p:sp>
          <p:nvSpPr>
            <p:cNvPr id="56" name="Rectangle 24">
              <a:extLst>
                <a:ext uri="{FF2B5EF4-FFF2-40B4-BE49-F238E27FC236}">
                  <a16:creationId xmlns:a16="http://schemas.microsoft.com/office/drawing/2014/main" id="{D74071B0-2AF2-4E46-BACD-D17DBDEF2C68}"/>
                </a:ext>
              </a:extLst>
            </p:cNvPr>
            <p:cNvSpPr>
              <a:spLocks noChangeArrowheads="1"/>
            </p:cNvSpPr>
            <p:nvPr/>
          </p:nvSpPr>
          <p:spPr bwMode="auto">
            <a:xfrm>
              <a:off x="6810375" y="5318126"/>
              <a:ext cx="1763603" cy="345127"/>
            </a:xfrm>
            <a:prstGeom prst="rect">
              <a:avLst/>
            </a:prstGeom>
            <a:noFill/>
            <a:ln w="9525">
              <a:noFill/>
              <a:miter lim="800000"/>
              <a:headEnd/>
              <a:tailEnd/>
            </a:ln>
          </p:spPr>
          <p:txBody>
            <a:bodyPr wrap="none" lIns="63500" tIns="25400" rIns="63500" bIns="25400">
              <a:spAutoFit/>
            </a:bodyPr>
            <a:lstStyle/>
            <a:p>
              <a:pPr>
                <a:lnSpc>
                  <a:spcPct val="90000"/>
                </a:lnSpc>
              </a:pPr>
              <a:r>
                <a:rPr kumimoji="1" lang="en-US" altLang="zh-TW" sz="1400" b="1">
                  <a:latin typeface="Arial" pitchFamily="34" charset="0"/>
                </a:rPr>
                <a:t>user/operator</a:t>
              </a:r>
            </a:p>
          </p:txBody>
        </p:sp>
        <p:sp>
          <p:nvSpPr>
            <p:cNvPr id="57" name="Rectangle 25">
              <a:extLst>
                <a:ext uri="{FF2B5EF4-FFF2-40B4-BE49-F238E27FC236}">
                  <a16:creationId xmlns:a16="http://schemas.microsoft.com/office/drawing/2014/main" id="{C701C055-56D8-4276-85FB-5696177CEFC5}"/>
                </a:ext>
              </a:extLst>
            </p:cNvPr>
            <p:cNvSpPr>
              <a:spLocks noChangeArrowheads="1"/>
            </p:cNvSpPr>
            <p:nvPr/>
          </p:nvSpPr>
          <p:spPr bwMode="auto">
            <a:xfrm>
              <a:off x="8104188" y="874713"/>
              <a:ext cx="1585040" cy="329965"/>
            </a:xfrm>
            <a:prstGeom prst="rect">
              <a:avLst/>
            </a:prstGeom>
            <a:noFill/>
            <a:ln w="9525">
              <a:noFill/>
              <a:miter lim="800000"/>
              <a:headEnd/>
              <a:tailEnd/>
            </a:ln>
          </p:spPr>
          <p:txBody>
            <a:bodyPr wrap="none" lIns="63500" tIns="25400" rIns="63500" bIns="25400">
              <a:spAutoFit/>
            </a:bodyPr>
            <a:lstStyle/>
            <a:p>
              <a:pPr>
                <a:lnSpc>
                  <a:spcPct val="85000"/>
                </a:lnSpc>
              </a:pPr>
              <a:r>
                <a:rPr kumimoji="1" lang="en-US" altLang="zh-TW" sz="1400" b="1">
                  <a:solidFill>
                    <a:schemeClr val="accent1"/>
                  </a:solidFill>
                  <a:latin typeface="Arial" pitchFamily="34" charset="0"/>
                </a:rPr>
                <a:t>Upper Level</a:t>
              </a:r>
            </a:p>
          </p:txBody>
        </p:sp>
        <p:sp>
          <p:nvSpPr>
            <p:cNvPr id="58" name="Rectangle 26">
              <a:extLst>
                <a:ext uri="{FF2B5EF4-FFF2-40B4-BE49-F238E27FC236}">
                  <a16:creationId xmlns:a16="http://schemas.microsoft.com/office/drawing/2014/main" id="{C9C0B160-ACD0-4202-8D75-83F8A221A0E9}"/>
                </a:ext>
              </a:extLst>
            </p:cNvPr>
            <p:cNvSpPr>
              <a:spLocks noChangeArrowheads="1"/>
            </p:cNvSpPr>
            <p:nvPr/>
          </p:nvSpPr>
          <p:spPr bwMode="auto">
            <a:xfrm>
              <a:off x="7939088" y="6056313"/>
              <a:ext cx="1598267" cy="329965"/>
            </a:xfrm>
            <a:prstGeom prst="rect">
              <a:avLst/>
            </a:prstGeom>
            <a:noFill/>
            <a:ln w="9525">
              <a:noFill/>
              <a:miter lim="800000"/>
              <a:headEnd/>
              <a:tailEnd/>
            </a:ln>
          </p:spPr>
          <p:txBody>
            <a:bodyPr wrap="none" lIns="63500" tIns="25400" rIns="63500" bIns="25400">
              <a:spAutoFit/>
            </a:bodyPr>
            <a:lstStyle/>
            <a:p>
              <a:pPr>
                <a:lnSpc>
                  <a:spcPct val="85000"/>
                </a:lnSpc>
              </a:pPr>
              <a:r>
                <a:rPr kumimoji="1" lang="en-US" altLang="zh-TW" sz="1400" b="1">
                  <a:solidFill>
                    <a:schemeClr val="accent1"/>
                  </a:solidFill>
                  <a:latin typeface="Arial" pitchFamily="34" charset="0"/>
                </a:rPr>
                <a:t>Lower Level</a:t>
              </a:r>
            </a:p>
          </p:txBody>
        </p:sp>
        <p:sp>
          <p:nvSpPr>
            <p:cNvPr id="59" name="Line 27">
              <a:extLst>
                <a:ext uri="{FF2B5EF4-FFF2-40B4-BE49-F238E27FC236}">
                  <a16:creationId xmlns:a16="http://schemas.microsoft.com/office/drawing/2014/main" id="{66BA7D7F-0F73-4545-9B88-A022E792CE16}"/>
                </a:ext>
              </a:extLst>
            </p:cNvPr>
            <p:cNvSpPr>
              <a:spLocks noChangeShapeType="1"/>
            </p:cNvSpPr>
            <p:nvPr/>
          </p:nvSpPr>
          <p:spPr bwMode="auto">
            <a:xfrm flipV="1">
              <a:off x="8502650" y="1447800"/>
              <a:ext cx="0" cy="4419600"/>
            </a:xfrm>
            <a:prstGeom prst="line">
              <a:avLst/>
            </a:prstGeom>
            <a:noFill/>
            <a:ln w="12700">
              <a:solidFill>
                <a:schemeClr val="tx1"/>
              </a:solidFill>
              <a:round/>
              <a:headEnd type="none" w="sm" len="sm"/>
              <a:tailEnd type="stealth" w="med" len="lg"/>
            </a:ln>
          </p:spPr>
          <p:txBody>
            <a:bodyPr wrap="none" anchor="ctr"/>
            <a:lstStyle/>
            <a:p>
              <a:endParaRPr lang="zh-TW" altLang="en-US" sz="1400"/>
            </a:p>
          </p:txBody>
        </p:sp>
        <p:sp>
          <p:nvSpPr>
            <p:cNvPr id="60" name="Rectangle 28">
              <a:extLst>
                <a:ext uri="{FF2B5EF4-FFF2-40B4-BE49-F238E27FC236}">
                  <a16:creationId xmlns:a16="http://schemas.microsoft.com/office/drawing/2014/main" id="{84A9A6C3-BF5D-4904-A03B-1DAF1FAB1677}"/>
                </a:ext>
              </a:extLst>
            </p:cNvPr>
            <p:cNvSpPr>
              <a:spLocks noChangeArrowheads="1"/>
            </p:cNvSpPr>
            <p:nvPr/>
          </p:nvSpPr>
          <p:spPr bwMode="auto">
            <a:xfrm>
              <a:off x="8599488" y="1408112"/>
              <a:ext cx="846530" cy="329965"/>
            </a:xfrm>
            <a:prstGeom prst="rect">
              <a:avLst/>
            </a:prstGeom>
            <a:noFill/>
            <a:ln w="9525">
              <a:noFill/>
              <a:miter lim="800000"/>
              <a:headEnd/>
              <a:tailEnd/>
            </a:ln>
          </p:spPr>
          <p:txBody>
            <a:bodyPr wrap="none" lIns="63500" tIns="25400" rIns="63500" bIns="25400">
              <a:spAutoFit/>
            </a:bodyPr>
            <a:lstStyle/>
            <a:p>
              <a:pPr>
                <a:lnSpc>
                  <a:spcPct val="85000"/>
                </a:lnSpc>
              </a:pPr>
              <a:r>
                <a:rPr kumimoji="1" lang="en-US" altLang="zh-TW" sz="1400" b="1">
                  <a:latin typeface="Arial" pitchFamily="34" charset="0"/>
                </a:rPr>
                <a:t>faster</a:t>
              </a:r>
            </a:p>
          </p:txBody>
        </p:sp>
        <p:sp>
          <p:nvSpPr>
            <p:cNvPr id="61" name="Line 29">
              <a:extLst>
                <a:ext uri="{FF2B5EF4-FFF2-40B4-BE49-F238E27FC236}">
                  <a16:creationId xmlns:a16="http://schemas.microsoft.com/office/drawing/2014/main" id="{03EA1A8C-9BC2-493C-B9DC-2F1FD555349F}"/>
                </a:ext>
              </a:extLst>
            </p:cNvPr>
            <p:cNvSpPr>
              <a:spLocks noChangeShapeType="1"/>
            </p:cNvSpPr>
            <p:nvPr/>
          </p:nvSpPr>
          <p:spPr bwMode="auto">
            <a:xfrm>
              <a:off x="9163050" y="1828800"/>
              <a:ext cx="0" cy="3733800"/>
            </a:xfrm>
            <a:prstGeom prst="line">
              <a:avLst/>
            </a:prstGeom>
            <a:noFill/>
            <a:ln w="12700">
              <a:solidFill>
                <a:schemeClr val="tx1"/>
              </a:solidFill>
              <a:round/>
              <a:headEnd type="none" w="sm" len="sm"/>
              <a:tailEnd type="stealth" w="med" len="lg"/>
            </a:ln>
          </p:spPr>
          <p:txBody>
            <a:bodyPr wrap="none" anchor="ctr"/>
            <a:lstStyle/>
            <a:p>
              <a:endParaRPr lang="zh-TW" altLang="en-US" sz="1400"/>
            </a:p>
          </p:txBody>
        </p:sp>
        <p:sp>
          <p:nvSpPr>
            <p:cNvPr id="62" name="Rectangle 30">
              <a:extLst>
                <a:ext uri="{FF2B5EF4-FFF2-40B4-BE49-F238E27FC236}">
                  <a16:creationId xmlns:a16="http://schemas.microsoft.com/office/drawing/2014/main" id="{144EEB3B-6170-42B3-84DB-C48131626D8D}"/>
                </a:ext>
              </a:extLst>
            </p:cNvPr>
            <p:cNvSpPr>
              <a:spLocks noChangeArrowheads="1"/>
            </p:cNvSpPr>
            <p:nvPr/>
          </p:nvSpPr>
          <p:spPr bwMode="auto">
            <a:xfrm>
              <a:off x="8764589" y="5675313"/>
              <a:ext cx="943528" cy="329965"/>
            </a:xfrm>
            <a:prstGeom prst="rect">
              <a:avLst/>
            </a:prstGeom>
            <a:noFill/>
            <a:ln w="9525">
              <a:noFill/>
              <a:miter lim="800000"/>
              <a:headEnd/>
              <a:tailEnd/>
            </a:ln>
          </p:spPr>
          <p:txBody>
            <a:bodyPr wrap="none" lIns="63500" tIns="25400" rIns="63500" bIns="25400">
              <a:spAutoFit/>
            </a:bodyPr>
            <a:lstStyle/>
            <a:p>
              <a:pPr>
                <a:lnSpc>
                  <a:spcPct val="85000"/>
                </a:lnSpc>
              </a:pPr>
              <a:r>
                <a:rPr kumimoji="1" lang="en-US" altLang="zh-TW" sz="1400" b="1">
                  <a:latin typeface="Arial" pitchFamily="34" charset="0"/>
                </a:rPr>
                <a:t>Larger</a:t>
              </a:r>
            </a:p>
          </p:txBody>
        </p:sp>
        <p:sp>
          <p:nvSpPr>
            <p:cNvPr id="63" name="Oval 33">
              <a:extLst>
                <a:ext uri="{FF2B5EF4-FFF2-40B4-BE49-F238E27FC236}">
                  <a16:creationId xmlns:a16="http://schemas.microsoft.com/office/drawing/2014/main" id="{C455E1D2-44DC-449B-92E7-3931E5048C03}"/>
                </a:ext>
              </a:extLst>
            </p:cNvPr>
            <p:cNvSpPr>
              <a:spLocks noChangeArrowheads="1"/>
            </p:cNvSpPr>
            <p:nvPr/>
          </p:nvSpPr>
          <p:spPr bwMode="auto">
            <a:xfrm>
              <a:off x="2860575" y="2641490"/>
              <a:ext cx="2881313" cy="1648005"/>
            </a:xfrm>
            <a:prstGeom prst="ellipse">
              <a:avLst/>
            </a:prstGeom>
            <a:noFill/>
            <a:ln w="57150">
              <a:solidFill>
                <a:schemeClr val="accent1"/>
              </a:solidFill>
              <a:round/>
              <a:headEnd/>
              <a:tailEnd/>
            </a:ln>
          </p:spPr>
          <p:txBody>
            <a:bodyPr wrap="none" anchor="ctr"/>
            <a:lstStyle/>
            <a:p>
              <a:pPr algn="ctr"/>
              <a:endParaRPr lang="zh-TW" altLang="en-US" sz="1400"/>
            </a:p>
          </p:txBody>
        </p:sp>
      </p:grpSp>
      <p:sp>
        <p:nvSpPr>
          <p:cNvPr id="64" name="Rectangle 31">
            <a:extLst>
              <a:ext uri="{FF2B5EF4-FFF2-40B4-BE49-F238E27FC236}">
                <a16:creationId xmlns:a16="http://schemas.microsoft.com/office/drawing/2014/main" id="{037EEB18-A41C-42A8-9D4D-443453AD5713}"/>
              </a:ext>
            </a:extLst>
          </p:cNvPr>
          <p:cNvSpPr>
            <a:spLocks noGrp="1" noChangeArrowheads="1"/>
          </p:cNvSpPr>
          <p:nvPr>
            <p:ph type="title"/>
          </p:nvPr>
        </p:nvSpPr>
        <p:spPr>
          <a:xfrm>
            <a:off x="936522" y="173038"/>
            <a:ext cx="6732639" cy="424272"/>
          </a:xfrm>
        </p:spPr>
        <p:txBody>
          <a:bodyPr/>
          <a:lstStyle/>
          <a:p>
            <a:r>
              <a:rPr lang="en-US" altLang="zh-TW"/>
              <a:t>Levels of Memory Hierarchy</a:t>
            </a:r>
          </a:p>
        </p:txBody>
      </p:sp>
    </p:spTree>
    <p:extLst>
      <p:ext uri="{BB962C8B-B14F-4D97-AF65-F5344CB8AC3E}">
        <p14:creationId xmlns:p14="http://schemas.microsoft.com/office/powerpoint/2010/main" val="398774212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1187" name="Rectangle 2"/>
          <p:cNvSpPr>
            <a:spLocks noGrp="1" noChangeArrowheads="1"/>
          </p:cNvSpPr>
          <p:nvPr>
            <p:ph type="title" idx="4294967295"/>
          </p:nvPr>
        </p:nvSpPr>
        <p:spPr>
          <a:xfrm>
            <a:off x="921775" y="129779"/>
            <a:ext cx="6807764" cy="497027"/>
          </a:xfrm>
        </p:spPr>
        <p:txBody>
          <a:bodyPr/>
          <a:lstStyle/>
          <a:p>
            <a:r>
              <a:rPr lang="en-US" altLang="zh-TW" sz="3200" dirty="0">
                <a:solidFill>
                  <a:srgbClr val="002060"/>
                </a:solidFill>
                <a:ea typeface="新細明體" pitchFamily="18" charset="-120"/>
              </a:rPr>
              <a:t>Inside the Processor</a:t>
            </a:r>
            <a:endParaRPr lang="en-AU" altLang="zh-TW" sz="3200" dirty="0">
              <a:solidFill>
                <a:srgbClr val="002060"/>
              </a:solidFill>
            </a:endParaRPr>
          </a:p>
        </p:txBody>
      </p:sp>
      <p:sp>
        <p:nvSpPr>
          <p:cNvPr id="221188" name="Rectangle 3"/>
          <p:cNvSpPr>
            <a:spLocks noGrp="1" noChangeArrowheads="1"/>
          </p:cNvSpPr>
          <p:nvPr>
            <p:ph type="body" idx="4294967295"/>
          </p:nvPr>
        </p:nvSpPr>
        <p:spPr>
          <a:xfrm>
            <a:off x="1001509" y="820687"/>
            <a:ext cx="6315075" cy="344435"/>
          </a:xfrm>
        </p:spPr>
        <p:txBody>
          <a:bodyPr/>
          <a:lstStyle/>
          <a:p>
            <a:r>
              <a:rPr lang="en-US" altLang="zh-TW" sz="2000" dirty="0">
                <a:ea typeface="新細明體" pitchFamily="18" charset="-120"/>
              </a:rPr>
              <a:t>AMD Barcelona: 4 processor cores</a:t>
            </a:r>
          </a:p>
        </p:txBody>
      </p:sp>
      <p:pic>
        <p:nvPicPr>
          <p:cNvPr id="221189" name="Picture 4" descr="f01-09-P374493"/>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07026" y="1342103"/>
            <a:ext cx="7533249" cy="31491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Slide Number Placeholder 5">
            <a:extLst>
              <a:ext uri="{FF2B5EF4-FFF2-40B4-BE49-F238E27FC236}">
                <a16:creationId xmlns:a16="http://schemas.microsoft.com/office/drawing/2014/main" id="{C4BC773F-0D57-4600-9B09-F052CAE33F45}"/>
              </a:ext>
            </a:extLst>
          </p:cNvPr>
          <p:cNvSpPr>
            <a:spLocks noGrp="1"/>
          </p:cNvSpPr>
          <p:nvPr>
            <p:ph type="sldNum" sz="quarter" idx="10"/>
          </p:nvPr>
        </p:nvSpPr>
        <p:spPr>
          <a:xfrm>
            <a:off x="6831013" y="4893471"/>
            <a:ext cx="2133600" cy="254794"/>
          </a:xfrm>
        </p:spPr>
        <p:txBody>
          <a:bodyPr/>
          <a:lstStyle/>
          <a:p>
            <a:fld id="{D9B6BDF2-6896-4B98-8776-C18582F63BA5}" type="slidenum">
              <a:rPr lang="zh-TW" altLang="en-US" smtClean="0"/>
              <a:pPr/>
              <a:t>16</a:t>
            </a:fld>
            <a:endParaRPr lang="zh-TW" altLang="en-US"/>
          </a:p>
        </p:txBody>
      </p:sp>
    </p:spTree>
    <p:extLst>
      <p:ext uri="{BB962C8B-B14F-4D97-AF65-F5344CB8AC3E}">
        <p14:creationId xmlns:p14="http://schemas.microsoft.com/office/powerpoint/2010/main" val="227689553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ChangeArrowheads="1"/>
          </p:cNvSpPr>
          <p:nvPr/>
        </p:nvSpPr>
        <p:spPr bwMode="auto">
          <a:xfrm>
            <a:off x="1040606" y="234554"/>
            <a:ext cx="834629" cy="358378"/>
          </a:xfrm>
          <a:prstGeom prst="rect">
            <a:avLst/>
          </a:prstGeom>
          <a:noFill/>
          <a:ln w="12700">
            <a:noFill/>
            <a:miter lim="800000"/>
            <a:headEnd/>
            <a:tailEnd/>
          </a:ln>
        </p:spPr>
        <p:txBody>
          <a:bodyPr wrap="none" anchor="ctr"/>
          <a:lstStyle/>
          <a:p>
            <a:endParaRPr lang="zh-TW" altLang="en-US" sz="1350"/>
          </a:p>
        </p:txBody>
      </p:sp>
      <p:sp>
        <p:nvSpPr>
          <p:cNvPr id="25603" name="Rectangle 4"/>
          <p:cNvSpPr>
            <a:spLocks noGrp="1" noChangeArrowheads="1"/>
          </p:cNvSpPr>
          <p:nvPr>
            <p:ph type="title"/>
          </p:nvPr>
        </p:nvSpPr>
        <p:spPr>
          <a:xfrm>
            <a:off x="943897" y="129780"/>
            <a:ext cx="6785641" cy="511776"/>
          </a:xfrm>
        </p:spPr>
        <p:txBody>
          <a:bodyPr/>
          <a:lstStyle/>
          <a:p>
            <a:r>
              <a:rPr lang="en-US" altLang="zh-TW" dirty="0"/>
              <a:t>Basics of Cache</a:t>
            </a:r>
          </a:p>
        </p:txBody>
      </p:sp>
      <p:sp>
        <p:nvSpPr>
          <p:cNvPr id="25604" name="Rectangle 5"/>
          <p:cNvSpPr>
            <a:spLocks noGrp="1" noChangeArrowheads="1"/>
          </p:cNvSpPr>
          <p:nvPr>
            <p:ph type="body" idx="1"/>
          </p:nvPr>
        </p:nvSpPr>
        <p:spPr>
          <a:xfrm>
            <a:off x="966019" y="812583"/>
            <a:ext cx="7219335" cy="1547159"/>
          </a:xfrm>
        </p:spPr>
        <p:txBody>
          <a:bodyPr/>
          <a:lstStyle/>
          <a:p>
            <a:pPr>
              <a:spcBef>
                <a:spcPts val="0"/>
              </a:spcBef>
            </a:pPr>
            <a:r>
              <a:rPr lang="en-US" altLang="zh-TW" sz="2000" dirty="0"/>
              <a:t>Our first example: Direct-mapped cache</a:t>
            </a:r>
          </a:p>
          <a:p>
            <a:pPr>
              <a:spcBef>
                <a:spcPts val="0"/>
              </a:spcBef>
            </a:pPr>
            <a:r>
              <a:rPr lang="en-US" altLang="zh-TW" sz="2000" dirty="0"/>
              <a:t>Block Placement </a:t>
            </a:r>
          </a:p>
          <a:p>
            <a:pPr lvl="1">
              <a:spcBef>
                <a:spcPts val="0"/>
              </a:spcBef>
            </a:pPr>
            <a:r>
              <a:rPr lang="en-US" altLang="zh-TW" sz="1800" dirty="0"/>
              <a:t>For each item of data at the lower level, there is exactly one location in cache where it might be</a:t>
            </a:r>
          </a:p>
          <a:p>
            <a:pPr lvl="1">
              <a:spcBef>
                <a:spcPts val="0"/>
              </a:spcBef>
            </a:pPr>
            <a:r>
              <a:rPr lang="en-US" altLang="zh-TW" sz="1800" dirty="0"/>
              <a:t>Address mapping: modulo number of blocks</a:t>
            </a:r>
          </a:p>
        </p:txBody>
      </p:sp>
      <p:sp>
        <p:nvSpPr>
          <p:cNvPr id="25605" name="Rectangle 120"/>
          <p:cNvSpPr>
            <a:spLocks noChangeArrowheads="1"/>
          </p:cNvSpPr>
          <p:nvPr/>
        </p:nvSpPr>
        <p:spPr bwMode="auto">
          <a:xfrm>
            <a:off x="4281488" y="5104210"/>
            <a:ext cx="72136" cy="103875"/>
          </a:xfrm>
          <a:prstGeom prst="rect">
            <a:avLst/>
          </a:prstGeom>
          <a:noFill/>
          <a:ln w="9525">
            <a:noFill/>
            <a:miter lim="800000"/>
            <a:headEnd/>
            <a:tailEnd/>
          </a:ln>
        </p:spPr>
        <p:txBody>
          <a:bodyPr wrap="none" lIns="0" tIns="0" rIns="0" bIns="0">
            <a:spAutoFit/>
          </a:bodyPr>
          <a:lstStyle/>
          <a:p>
            <a:r>
              <a:rPr lang="en-US" altLang="zh-TW" sz="675" dirty="0">
                <a:solidFill>
                  <a:srgbClr val="000000"/>
                </a:solidFill>
                <a:latin typeface="Arial" pitchFamily="34" charset="0"/>
              </a:rPr>
              <a:t>M</a:t>
            </a:r>
            <a:endParaRPr lang="en-US" altLang="zh-TW" sz="1350" dirty="0"/>
          </a:p>
        </p:txBody>
      </p:sp>
      <p:sp>
        <p:nvSpPr>
          <p:cNvPr id="25609" name="Rectangle 124"/>
          <p:cNvSpPr>
            <a:spLocks noChangeArrowheads="1"/>
          </p:cNvSpPr>
          <p:nvPr/>
        </p:nvSpPr>
        <p:spPr bwMode="auto">
          <a:xfrm>
            <a:off x="4714875" y="5104210"/>
            <a:ext cx="28854" cy="103875"/>
          </a:xfrm>
          <a:prstGeom prst="rect">
            <a:avLst/>
          </a:prstGeom>
          <a:noFill/>
          <a:ln w="9525">
            <a:noFill/>
            <a:miter lim="800000"/>
            <a:headEnd/>
            <a:tailEnd/>
          </a:ln>
        </p:spPr>
        <p:txBody>
          <a:bodyPr wrap="none" lIns="0" tIns="0" rIns="0" bIns="0">
            <a:spAutoFit/>
          </a:bodyPr>
          <a:lstStyle/>
          <a:p>
            <a:r>
              <a:rPr lang="en-US" altLang="zh-TW" sz="675" dirty="0">
                <a:solidFill>
                  <a:srgbClr val="000000"/>
                </a:solidFill>
                <a:latin typeface="Arial" pitchFamily="34" charset="0"/>
              </a:rPr>
              <a:t>r</a:t>
            </a:r>
            <a:endParaRPr lang="en-US" altLang="zh-TW" sz="1350" dirty="0"/>
          </a:p>
        </p:txBody>
      </p:sp>
      <p:sp>
        <p:nvSpPr>
          <p:cNvPr id="25610" name="Rectangle 125"/>
          <p:cNvSpPr>
            <a:spLocks noChangeArrowheads="1"/>
          </p:cNvSpPr>
          <p:nvPr/>
        </p:nvSpPr>
        <p:spPr bwMode="auto">
          <a:xfrm>
            <a:off x="4767262" y="5104210"/>
            <a:ext cx="43282" cy="103875"/>
          </a:xfrm>
          <a:prstGeom prst="rect">
            <a:avLst/>
          </a:prstGeom>
          <a:noFill/>
          <a:ln w="9525">
            <a:noFill/>
            <a:miter lim="800000"/>
            <a:headEnd/>
            <a:tailEnd/>
          </a:ln>
        </p:spPr>
        <p:txBody>
          <a:bodyPr wrap="none" lIns="0" tIns="0" rIns="0" bIns="0">
            <a:spAutoFit/>
          </a:bodyPr>
          <a:lstStyle/>
          <a:p>
            <a:r>
              <a:rPr lang="en-US" altLang="zh-TW" sz="675" dirty="0">
                <a:solidFill>
                  <a:srgbClr val="000000"/>
                </a:solidFill>
                <a:latin typeface="Arial" pitchFamily="34" charset="0"/>
              </a:rPr>
              <a:t>y</a:t>
            </a:r>
            <a:endParaRPr lang="en-US" altLang="zh-TW" sz="1350" dirty="0"/>
          </a:p>
        </p:txBody>
      </p:sp>
      <p:grpSp>
        <p:nvGrpSpPr>
          <p:cNvPr id="25611" name="Group 148"/>
          <p:cNvGrpSpPr>
            <a:grpSpLocks/>
          </p:cNvGrpSpPr>
          <p:nvPr/>
        </p:nvGrpSpPr>
        <p:grpSpPr bwMode="auto">
          <a:xfrm>
            <a:off x="1545432" y="2371726"/>
            <a:ext cx="6146006" cy="2201466"/>
            <a:chOff x="578" y="2424"/>
            <a:chExt cx="5162" cy="1849"/>
          </a:xfrm>
        </p:grpSpPr>
        <p:sp>
          <p:nvSpPr>
            <p:cNvPr id="25613" name="Line 7"/>
            <p:cNvSpPr>
              <a:spLocks noChangeShapeType="1"/>
            </p:cNvSpPr>
            <p:nvPr/>
          </p:nvSpPr>
          <p:spPr bwMode="auto">
            <a:xfrm>
              <a:off x="3589" y="2577"/>
              <a:ext cx="4" cy="620"/>
            </a:xfrm>
            <a:prstGeom prst="line">
              <a:avLst/>
            </a:prstGeom>
            <a:noFill/>
            <a:ln w="25400">
              <a:solidFill>
                <a:srgbClr val="000000"/>
              </a:solidFill>
              <a:round/>
              <a:headEnd/>
              <a:tailEnd/>
            </a:ln>
          </p:spPr>
          <p:txBody>
            <a:bodyPr/>
            <a:lstStyle/>
            <a:p>
              <a:endParaRPr lang="zh-TW" altLang="en-US" sz="1350"/>
            </a:p>
          </p:txBody>
        </p:sp>
        <p:sp>
          <p:nvSpPr>
            <p:cNvPr id="25614" name="Line 8"/>
            <p:cNvSpPr>
              <a:spLocks noChangeShapeType="1"/>
            </p:cNvSpPr>
            <p:nvPr/>
          </p:nvSpPr>
          <p:spPr bwMode="auto">
            <a:xfrm>
              <a:off x="3113" y="2577"/>
              <a:ext cx="1" cy="620"/>
            </a:xfrm>
            <a:prstGeom prst="line">
              <a:avLst/>
            </a:prstGeom>
            <a:noFill/>
            <a:ln w="25400">
              <a:solidFill>
                <a:srgbClr val="000000"/>
              </a:solidFill>
              <a:round/>
              <a:headEnd/>
              <a:tailEnd/>
            </a:ln>
          </p:spPr>
          <p:txBody>
            <a:bodyPr/>
            <a:lstStyle/>
            <a:p>
              <a:endParaRPr lang="zh-TW" altLang="en-US" sz="1350"/>
            </a:p>
          </p:txBody>
        </p:sp>
        <p:sp>
          <p:nvSpPr>
            <p:cNvPr id="25615" name="Line 9"/>
            <p:cNvSpPr>
              <a:spLocks noChangeShapeType="1"/>
            </p:cNvSpPr>
            <p:nvPr/>
          </p:nvSpPr>
          <p:spPr bwMode="auto">
            <a:xfrm>
              <a:off x="2951" y="2577"/>
              <a:ext cx="4" cy="620"/>
            </a:xfrm>
            <a:prstGeom prst="line">
              <a:avLst/>
            </a:prstGeom>
            <a:noFill/>
            <a:ln w="25400">
              <a:solidFill>
                <a:srgbClr val="000000"/>
              </a:solidFill>
              <a:round/>
              <a:headEnd/>
              <a:tailEnd/>
            </a:ln>
          </p:spPr>
          <p:txBody>
            <a:bodyPr/>
            <a:lstStyle/>
            <a:p>
              <a:endParaRPr lang="zh-TW" altLang="en-US" sz="1350"/>
            </a:p>
          </p:txBody>
        </p:sp>
        <p:sp>
          <p:nvSpPr>
            <p:cNvPr id="25616" name="Freeform 10"/>
            <p:cNvSpPr>
              <a:spLocks/>
            </p:cNvSpPr>
            <p:nvPr/>
          </p:nvSpPr>
          <p:spPr bwMode="auto">
            <a:xfrm>
              <a:off x="3272" y="2577"/>
              <a:ext cx="162" cy="620"/>
            </a:xfrm>
            <a:custGeom>
              <a:avLst/>
              <a:gdLst>
                <a:gd name="T0" fmla="*/ 0 w 162"/>
                <a:gd name="T1" fmla="*/ 620 h 620"/>
                <a:gd name="T2" fmla="*/ 0 w 162"/>
                <a:gd name="T3" fmla="*/ 0 h 620"/>
                <a:gd name="T4" fmla="*/ 162 w 162"/>
                <a:gd name="T5" fmla="*/ 0 h 620"/>
                <a:gd name="T6" fmla="*/ 162 w 162"/>
                <a:gd name="T7" fmla="*/ 620 h 620"/>
                <a:gd name="T8" fmla="*/ 0 w 162"/>
                <a:gd name="T9" fmla="*/ 620 h 620"/>
                <a:gd name="T10" fmla="*/ 0 w 162"/>
                <a:gd name="T11" fmla="*/ 620 h 620"/>
                <a:gd name="T12" fmla="*/ 0 60000 65536"/>
                <a:gd name="T13" fmla="*/ 0 60000 65536"/>
                <a:gd name="T14" fmla="*/ 0 60000 65536"/>
                <a:gd name="T15" fmla="*/ 0 60000 65536"/>
                <a:gd name="T16" fmla="*/ 0 60000 65536"/>
                <a:gd name="T17" fmla="*/ 0 60000 65536"/>
                <a:gd name="T18" fmla="*/ 0 w 162"/>
                <a:gd name="T19" fmla="*/ 0 h 620"/>
                <a:gd name="T20" fmla="*/ 162 w 162"/>
                <a:gd name="T21" fmla="*/ 620 h 620"/>
              </a:gdLst>
              <a:ahLst/>
              <a:cxnLst>
                <a:cxn ang="T12">
                  <a:pos x="T0" y="T1"/>
                </a:cxn>
                <a:cxn ang="T13">
                  <a:pos x="T2" y="T3"/>
                </a:cxn>
                <a:cxn ang="T14">
                  <a:pos x="T4" y="T5"/>
                </a:cxn>
                <a:cxn ang="T15">
                  <a:pos x="T6" y="T7"/>
                </a:cxn>
                <a:cxn ang="T16">
                  <a:pos x="T8" y="T9"/>
                </a:cxn>
                <a:cxn ang="T17">
                  <a:pos x="T10" y="T11"/>
                </a:cxn>
              </a:cxnLst>
              <a:rect l="T18" t="T19" r="T20" b="T21"/>
              <a:pathLst>
                <a:path w="162" h="620">
                  <a:moveTo>
                    <a:pt x="0" y="620"/>
                  </a:moveTo>
                  <a:lnTo>
                    <a:pt x="0" y="0"/>
                  </a:lnTo>
                  <a:lnTo>
                    <a:pt x="162" y="0"/>
                  </a:lnTo>
                  <a:lnTo>
                    <a:pt x="162" y="620"/>
                  </a:lnTo>
                  <a:lnTo>
                    <a:pt x="0" y="620"/>
                  </a:lnTo>
                  <a:close/>
                </a:path>
              </a:pathLst>
            </a:custGeom>
            <a:solidFill>
              <a:srgbClr val="EB7500"/>
            </a:solidFill>
            <a:ln w="9525">
              <a:noFill/>
              <a:round/>
              <a:headEnd/>
              <a:tailEnd/>
            </a:ln>
          </p:spPr>
          <p:txBody>
            <a:bodyPr/>
            <a:lstStyle/>
            <a:p>
              <a:endParaRPr lang="zh-TW" altLang="en-US" sz="1350"/>
            </a:p>
          </p:txBody>
        </p:sp>
        <p:sp>
          <p:nvSpPr>
            <p:cNvPr id="25617" name="Freeform 11"/>
            <p:cNvSpPr>
              <a:spLocks/>
            </p:cNvSpPr>
            <p:nvPr/>
          </p:nvSpPr>
          <p:spPr bwMode="auto">
            <a:xfrm>
              <a:off x="3272" y="2577"/>
              <a:ext cx="162" cy="620"/>
            </a:xfrm>
            <a:custGeom>
              <a:avLst/>
              <a:gdLst>
                <a:gd name="T0" fmla="*/ 0 w 162"/>
                <a:gd name="T1" fmla="*/ 620 h 620"/>
                <a:gd name="T2" fmla="*/ 0 w 162"/>
                <a:gd name="T3" fmla="*/ 0 h 620"/>
                <a:gd name="T4" fmla="*/ 162 w 162"/>
                <a:gd name="T5" fmla="*/ 0 h 620"/>
                <a:gd name="T6" fmla="*/ 162 w 162"/>
                <a:gd name="T7" fmla="*/ 620 h 620"/>
                <a:gd name="T8" fmla="*/ 0 w 162"/>
                <a:gd name="T9" fmla="*/ 620 h 620"/>
                <a:gd name="T10" fmla="*/ 0 w 162"/>
                <a:gd name="T11" fmla="*/ 620 h 620"/>
                <a:gd name="T12" fmla="*/ 0 60000 65536"/>
                <a:gd name="T13" fmla="*/ 0 60000 65536"/>
                <a:gd name="T14" fmla="*/ 0 60000 65536"/>
                <a:gd name="T15" fmla="*/ 0 60000 65536"/>
                <a:gd name="T16" fmla="*/ 0 60000 65536"/>
                <a:gd name="T17" fmla="*/ 0 60000 65536"/>
                <a:gd name="T18" fmla="*/ 0 w 162"/>
                <a:gd name="T19" fmla="*/ 0 h 620"/>
                <a:gd name="T20" fmla="*/ 162 w 162"/>
                <a:gd name="T21" fmla="*/ 620 h 620"/>
              </a:gdLst>
              <a:ahLst/>
              <a:cxnLst>
                <a:cxn ang="T12">
                  <a:pos x="T0" y="T1"/>
                </a:cxn>
                <a:cxn ang="T13">
                  <a:pos x="T2" y="T3"/>
                </a:cxn>
                <a:cxn ang="T14">
                  <a:pos x="T4" y="T5"/>
                </a:cxn>
                <a:cxn ang="T15">
                  <a:pos x="T6" y="T7"/>
                </a:cxn>
                <a:cxn ang="T16">
                  <a:pos x="T8" y="T9"/>
                </a:cxn>
                <a:cxn ang="T17">
                  <a:pos x="T10" y="T11"/>
                </a:cxn>
              </a:cxnLst>
              <a:rect l="T18" t="T19" r="T20" b="T21"/>
              <a:pathLst>
                <a:path w="162" h="620">
                  <a:moveTo>
                    <a:pt x="0" y="620"/>
                  </a:moveTo>
                  <a:lnTo>
                    <a:pt x="0" y="0"/>
                  </a:lnTo>
                  <a:lnTo>
                    <a:pt x="162" y="0"/>
                  </a:lnTo>
                  <a:lnTo>
                    <a:pt x="162" y="620"/>
                  </a:lnTo>
                  <a:lnTo>
                    <a:pt x="0" y="620"/>
                  </a:lnTo>
                </a:path>
              </a:pathLst>
            </a:custGeom>
            <a:noFill/>
            <a:ln w="25400">
              <a:solidFill>
                <a:srgbClr val="000000"/>
              </a:solidFill>
              <a:round/>
              <a:headEnd/>
              <a:tailEnd/>
            </a:ln>
          </p:spPr>
          <p:txBody>
            <a:bodyPr/>
            <a:lstStyle/>
            <a:p>
              <a:endParaRPr lang="zh-TW" altLang="en-US" sz="1350"/>
            </a:p>
          </p:txBody>
        </p:sp>
        <p:sp>
          <p:nvSpPr>
            <p:cNvPr id="25618" name="Freeform 12"/>
            <p:cNvSpPr>
              <a:spLocks/>
            </p:cNvSpPr>
            <p:nvPr/>
          </p:nvSpPr>
          <p:spPr bwMode="auto">
            <a:xfrm>
              <a:off x="2634" y="2577"/>
              <a:ext cx="159" cy="620"/>
            </a:xfrm>
            <a:custGeom>
              <a:avLst/>
              <a:gdLst>
                <a:gd name="T0" fmla="*/ 0 w 159"/>
                <a:gd name="T1" fmla="*/ 620 h 620"/>
                <a:gd name="T2" fmla="*/ 0 w 159"/>
                <a:gd name="T3" fmla="*/ 0 h 620"/>
                <a:gd name="T4" fmla="*/ 159 w 159"/>
                <a:gd name="T5" fmla="*/ 0 h 620"/>
                <a:gd name="T6" fmla="*/ 159 w 159"/>
                <a:gd name="T7" fmla="*/ 620 h 620"/>
                <a:gd name="T8" fmla="*/ 0 w 159"/>
                <a:gd name="T9" fmla="*/ 620 h 620"/>
                <a:gd name="T10" fmla="*/ 0 w 159"/>
                <a:gd name="T11" fmla="*/ 620 h 620"/>
                <a:gd name="T12" fmla="*/ 0 60000 65536"/>
                <a:gd name="T13" fmla="*/ 0 60000 65536"/>
                <a:gd name="T14" fmla="*/ 0 60000 65536"/>
                <a:gd name="T15" fmla="*/ 0 60000 65536"/>
                <a:gd name="T16" fmla="*/ 0 60000 65536"/>
                <a:gd name="T17" fmla="*/ 0 60000 65536"/>
                <a:gd name="T18" fmla="*/ 0 w 159"/>
                <a:gd name="T19" fmla="*/ 0 h 620"/>
                <a:gd name="T20" fmla="*/ 159 w 159"/>
                <a:gd name="T21" fmla="*/ 620 h 620"/>
              </a:gdLst>
              <a:ahLst/>
              <a:cxnLst>
                <a:cxn ang="T12">
                  <a:pos x="T0" y="T1"/>
                </a:cxn>
                <a:cxn ang="T13">
                  <a:pos x="T2" y="T3"/>
                </a:cxn>
                <a:cxn ang="T14">
                  <a:pos x="T4" y="T5"/>
                </a:cxn>
                <a:cxn ang="T15">
                  <a:pos x="T6" y="T7"/>
                </a:cxn>
                <a:cxn ang="T16">
                  <a:pos x="T8" y="T9"/>
                </a:cxn>
                <a:cxn ang="T17">
                  <a:pos x="T10" y="T11"/>
                </a:cxn>
              </a:cxnLst>
              <a:rect l="T18" t="T19" r="T20" b="T21"/>
              <a:pathLst>
                <a:path w="159" h="620">
                  <a:moveTo>
                    <a:pt x="0" y="620"/>
                  </a:moveTo>
                  <a:lnTo>
                    <a:pt x="0" y="0"/>
                  </a:lnTo>
                  <a:lnTo>
                    <a:pt x="159" y="0"/>
                  </a:lnTo>
                  <a:lnTo>
                    <a:pt x="159" y="620"/>
                  </a:lnTo>
                  <a:lnTo>
                    <a:pt x="0" y="620"/>
                  </a:lnTo>
                  <a:close/>
                </a:path>
              </a:pathLst>
            </a:custGeom>
            <a:solidFill>
              <a:srgbClr val="CCCCCC"/>
            </a:solidFill>
            <a:ln w="9525">
              <a:noFill/>
              <a:round/>
              <a:headEnd/>
              <a:tailEnd/>
            </a:ln>
          </p:spPr>
          <p:txBody>
            <a:bodyPr/>
            <a:lstStyle/>
            <a:p>
              <a:endParaRPr lang="zh-TW" altLang="en-US" sz="1350"/>
            </a:p>
          </p:txBody>
        </p:sp>
        <p:sp>
          <p:nvSpPr>
            <p:cNvPr id="25619" name="Freeform 13"/>
            <p:cNvSpPr>
              <a:spLocks/>
            </p:cNvSpPr>
            <p:nvPr/>
          </p:nvSpPr>
          <p:spPr bwMode="auto">
            <a:xfrm>
              <a:off x="2634" y="2577"/>
              <a:ext cx="159" cy="620"/>
            </a:xfrm>
            <a:custGeom>
              <a:avLst/>
              <a:gdLst>
                <a:gd name="T0" fmla="*/ 0 w 159"/>
                <a:gd name="T1" fmla="*/ 620 h 620"/>
                <a:gd name="T2" fmla="*/ 0 w 159"/>
                <a:gd name="T3" fmla="*/ 0 h 620"/>
                <a:gd name="T4" fmla="*/ 159 w 159"/>
                <a:gd name="T5" fmla="*/ 0 h 620"/>
                <a:gd name="T6" fmla="*/ 159 w 159"/>
                <a:gd name="T7" fmla="*/ 620 h 620"/>
                <a:gd name="T8" fmla="*/ 0 w 159"/>
                <a:gd name="T9" fmla="*/ 620 h 620"/>
                <a:gd name="T10" fmla="*/ 0 w 159"/>
                <a:gd name="T11" fmla="*/ 620 h 620"/>
                <a:gd name="T12" fmla="*/ 0 60000 65536"/>
                <a:gd name="T13" fmla="*/ 0 60000 65536"/>
                <a:gd name="T14" fmla="*/ 0 60000 65536"/>
                <a:gd name="T15" fmla="*/ 0 60000 65536"/>
                <a:gd name="T16" fmla="*/ 0 60000 65536"/>
                <a:gd name="T17" fmla="*/ 0 60000 65536"/>
                <a:gd name="T18" fmla="*/ 0 w 159"/>
                <a:gd name="T19" fmla="*/ 0 h 620"/>
                <a:gd name="T20" fmla="*/ 159 w 159"/>
                <a:gd name="T21" fmla="*/ 620 h 620"/>
              </a:gdLst>
              <a:ahLst/>
              <a:cxnLst>
                <a:cxn ang="T12">
                  <a:pos x="T0" y="T1"/>
                </a:cxn>
                <a:cxn ang="T13">
                  <a:pos x="T2" y="T3"/>
                </a:cxn>
                <a:cxn ang="T14">
                  <a:pos x="T4" y="T5"/>
                </a:cxn>
                <a:cxn ang="T15">
                  <a:pos x="T6" y="T7"/>
                </a:cxn>
                <a:cxn ang="T16">
                  <a:pos x="T8" y="T9"/>
                </a:cxn>
                <a:cxn ang="T17">
                  <a:pos x="T10" y="T11"/>
                </a:cxn>
              </a:cxnLst>
              <a:rect l="T18" t="T19" r="T20" b="T21"/>
              <a:pathLst>
                <a:path w="159" h="620">
                  <a:moveTo>
                    <a:pt x="0" y="620"/>
                  </a:moveTo>
                  <a:lnTo>
                    <a:pt x="0" y="0"/>
                  </a:lnTo>
                  <a:lnTo>
                    <a:pt x="159" y="0"/>
                  </a:lnTo>
                  <a:lnTo>
                    <a:pt x="159" y="620"/>
                  </a:lnTo>
                  <a:lnTo>
                    <a:pt x="0" y="620"/>
                  </a:lnTo>
                </a:path>
              </a:pathLst>
            </a:custGeom>
            <a:noFill/>
            <a:ln w="25400">
              <a:solidFill>
                <a:srgbClr val="000000"/>
              </a:solidFill>
              <a:round/>
              <a:headEnd/>
              <a:tailEnd/>
            </a:ln>
          </p:spPr>
          <p:txBody>
            <a:bodyPr/>
            <a:lstStyle/>
            <a:p>
              <a:endParaRPr lang="zh-TW" altLang="en-US" sz="1350"/>
            </a:p>
          </p:txBody>
        </p:sp>
        <p:sp>
          <p:nvSpPr>
            <p:cNvPr id="25620" name="Freeform 14"/>
            <p:cNvSpPr>
              <a:spLocks/>
            </p:cNvSpPr>
            <p:nvPr/>
          </p:nvSpPr>
          <p:spPr bwMode="auto">
            <a:xfrm>
              <a:off x="2476" y="2577"/>
              <a:ext cx="1263" cy="620"/>
            </a:xfrm>
            <a:custGeom>
              <a:avLst/>
              <a:gdLst>
                <a:gd name="T0" fmla="*/ 1263 w 1263"/>
                <a:gd name="T1" fmla="*/ 620 h 620"/>
                <a:gd name="T2" fmla="*/ 1263 w 1263"/>
                <a:gd name="T3" fmla="*/ 0 h 620"/>
                <a:gd name="T4" fmla="*/ 0 w 1263"/>
                <a:gd name="T5" fmla="*/ 0 h 620"/>
                <a:gd name="T6" fmla="*/ 0 w 1263"/>
                <a:gd name="T7" fmla="*/ 620 h 620"/>
                <a:gd name="T8" fmla="*/ 1263 w 1263"/>
                <a:gd name="T9" fmla="*/ 620 h 620"/>
                <a:gd name="T10" fmla="*/ 1263 w 1263"/>
                <a:gd name="T11" fmla="*/ 620 h 620"/>
                <a:gd name="T12" fmla="*/ 0 60000 65536"/>
                <a:gd name="T13" fmla="*/ 0 60000 65536"/>
                <a:gd name="T14" fmla="*/ 0 60000 65536"/>
                <a:gd name="T15" fmla="*/ 0 60000 65536"/>
                <a:gd name="T16" fmla="*/ 0 60000 65536"/>
                <a:gd name="T17" fmla="*/ 0 60000 65536"/>
                <a:gd name="T18" fmla="*/ 0 w 1263"/>
                <a:gd name="T19" fmla="*/ 0 h 620"/>
                <a:gd name="T20" fmla="*/ 1263 w 1263"/>
                <a:gd name="T21" fmla="*/ 620 h 620"/>
              </a:gdLst>
              <a:ahLst/>
              <a:cxnLst>
                <a:cxn ang="T12">
                  <a:pos x="T0" y="T1"/>
                </a:cxn>
                <a:cxn ang="T13">
                  <a:pos x="T2" y="T3"/>
                </a:cxn>
                <a:cxn ang="T14">
                  <a:pos x="T4" y="T5"/>
                </a:cxn>
                <a:cxn ang="T15">
                  <a:pos x="T6" y="T7"/>
                </a:cxn>
                <a:cxn ang="T16">
                  <a:pos x="T8" y="T9"/>
                </a:cxn>
                <a:cxn ang="T17">
                  <a:pos x="T10" y="T11"/>
                </a:cxn>
              </a:cxnLst>
              <a:rect l="T18" t="T19" r="T20" b="T21"/>
              <a:pathLst>
                <a:path w="1263" h="620">
                  <a:moveTo>
                    <a:pt x="1263" y="620"/>
                  </a:moveTo>
                  <a:lnTo>
                    <a:pt x="1263" y="0"/>
                  </a:lnTo>
                  <a:lnTo>
                    <a:pt x="0" y="0"/>
                  </a:lnTo>
                  <a:lnTo>
                    <a:pt x="0" y="620"/>
                  </a:lnTo>
                  <a:lnTo>
                    <a:pt x="1263" y="620"/>
                  </a:lnTo>
                </a:path>
              </a:pathLst>
            </a:custGeom>
            <a:noFill/>
            <a:ln w="25400">
              <a:solidFill>
                <a:srgbClr val="000000"/>
              </a:solidFill>
              <a:round/>
              <a:headEnd/>
              <a:tailEnd/>
            </a:ln>
          </p:spPr>
          <p:txBody>
            <a:bodyPr/>
            <a:lstStyle/>
            <a:p>
              <a:endParaRPr lang="zh-TW" altLang="en-US" sz="1350"/>
            </a:p>
          </p:txBody>
        </p:sp>
        <p:sp>
          <p:nvSpPr>
            <p:cNvPr id="25621" name="Rectangle 15"/>
            <p:cNvSpPr>
              <a:spLocks noChangeArrowheads="1"/>
            </p:cNvSpPr>
            <p:nvPr/>
          </p:nvSpPr>
          <p:spPr bwMode="auto">
            <a:xfrm>
              <a:off x="621" y="4186"/>
              <a:ext cx="40" cy="87"/>
            </a:xfrm>
            <a:prstGeom prst="rect">
              <a:avLst/>
            </a:prstGeom>
            <a:noFill/>
            <a:ln w="9525">
              <a:noFill/>
              <a:miter lim="800000"/>
              <a:headEnd/>
              <a:tailEnd/>
            </a:ln>
          </p:spPr>
          <p:txBody>
            <a:bodyPr wrap="none" lIns="0" tIns="0" rIns="0" bIns="0">
              <a:spAutoFit/>
            </a:bodyPr>
            <a:lstStyle/>
            <a:p>
              <a:r>
                <a:rPr lang="zh-TW" altLang="en-US" sz="675">
                  <a:solidFill>
                    <a:srgbClr val="000000"/>
                  </a:solidFill>
                  <a:latin typeface="Arial" pitchFamily="34" charset="0"/>
                </a:rPr>
                <a:t>0</a:t>
              </a:r>
              <a:endParaRPr lang="zh-TW" altLang="en-US" sz="1350"/>
            </a:p>
          </p:txBody>
        </p:sp>
        <p:sp>
          <p:nvSpPr>
            <p:cNvPr id="25622" name="Rectangle 16"/>
            <p:cNvSpPr>
              <a:spLocks noChangeArrowheads="1"/>
            </p:cNvSpPr>
            <p:nvPr/>
          </p:nvSpPr>
          <p:spPr bwMode="auto">
            <a:xfrm>
              <a:off x="693" y="4186"/>
              <a:ext cx="40" cy="87"/>
            </a:xfrm>
            <a:prstGeom prst="rect">
              <a:avLst/>
            </a:prstGeom>
            <a:noFill/>
            <a:ln w="9525">
              <a:noFill/>
              <a:miter lim="800000"/>
              <a:headEnd/>
              <a:tailEnd/>
            </a:ln>
          </p:spPr>
          <p:txBody>
            <a:bodyPr wrap="none" lIns="0" tIns="0" rIns="0" bIns="0">
              <a:spAutoFit/>
            </a:bodyPr>
            <a:lstStyle/>
            <a:p>
              <a:r>
                <a:rPr lang="zh-TW" altLang="en-US" sz="675">
                  <a:solidFill>
                    <a:srgbClr val="000000"/>
                  </a:solidFill>
                  <a:latin typeface="Arial" pitchFamily="34" charset="0"/>
                </a:rPr>
                <a:t>0</a:t>
              </a:r>
              <a:endParaRPr lang="zh-TW" altLang="en-US" sz="1350"/>
            </a:p>
          </p:txBody>
        </p:sp>
        <p:sp>
          <p:nvSpPr>
            <p:cNvPr id="25623" name="Rectangle 17"/>
            <p:cNvSpPr>
              <a:spLocks noChangeArrowheads="1"/>
            </p:cNvSpPr>
            <p:nvPr/>
          </p:nvSpPr>
          <p:spPr bwMode="auto">
            <a:xfrm>
              <a:off x="768" y="4186"/>
              <a:ext cx="40" cy="87"/>
            </a:xfrm>
            <a:prstGeom prst="rect">
              <a:avLst/>
            </a:prstGeom>
            <a:noFill/>
            <a:ln w="9525">
              <a:noFill/>
              <a:miter lim="800000"/>
              <a:headEnd/>
              <a:tailEnd/>
            </a:ln>
          </p:spPr>
          <p:txBody>
            <a:bodyPr wrap="none" lIns="0" tIns="0" rIns="0" bIns="0">
              <a:spAutoFit/>
            </a:bodyPr>
            <a:lstStyle/>
            <a:p>
              <a:r>
                <a:rPr lang="zh-TW" altLang="en-US" sz="675">
                  <a:solidFill>
                    <a:srgbClr val="000000"/>
                  </a:solidFill>
                  <a:latin typeface="Arial" pitchFamily="34" charset="0"/>
                </a:rPr>
                <a:t>0</a:t>
              </a:r>
              <a:endParaRPr lang="zh-TW" altLang="en-US" sz="1350"/>
            </a:p>
          </p:txBody>
        </p:sp>
        <p:sp>
          <p:nvSpPr>
            <p:cNvPr id="25624" name="Rectangle 18"/>
            <p:cNvSpPr>
              <a:spLocks noChangeArrowheads="1"/>
            </p:cNvSpPr>
            <p:nvPr/>
          </p:nvSpPr>
          <p:spPr bwMode="auto">
            <a:xfrm>
              <a:off x="839" y="4186"/>
              <a:ext cx="40" cy="87"/>
            </a:xfrm>
            <a:prstGeom prst="rect">
              <a:avLst/>
            </a:prstGeom>
            <a:noFill/>
            <a:ln w="9525">
              <a:noFill/>
              <a:miter lim="800000"/>
              <a:headEnd/>
              <a:tailEnd/>
            </a:ln>
          </p:spPr>
          <p:txBody>
            <a:bodyPr wrap="none" lIns="0" tIns="0" rIns="0" bIns="0">
              <a:spAutoFit/>
            </a:bodyPr>
            <a:lstStyle/>
            <a:p>
              <a:r>
                <a:rPr lang="zh-TW" altLang="en-US" sz="675">
                  <a:solidFill>
                    <a:srgbClr val="000000"/>
                  </a:solidFill>
                  <a:latin typeface="Arial" pitchFamily="34" charset="0"/>
                </a:rPr>
                <a:t>0</a:t>
              </a:r>
              <a:endParaRPr lang="zh-TW" altLang="en-US" sz="1350"/>
            </a:p>
          </p:txBody>
        </p:sp>
        <p:sp>
          <p:nvSpPr>
            <p:cNvPr id="25625" name="Rectangle 19"/>
            <p:cNvSpPr>
              <a:spLocks noChangeArrowheads="1"/>
            </p:cNvSpPr>
            <p:nvPr/>
          </p:nvSpPr>
          <p:spPr bwMode="auto">
            <a:xfrm>
              <a:off x="915" y="4186"/>
              <a:ext cx="40" cy="87"/>
            </a:xfrm>
            <a:prstGeom prst="rect">
              <a:avLst/>
            </a:prstGeom>
            <a:noFill/>
            <a:ln w="9525">
              <a:noFill/>
              <a:miter lim="800000"/>
              <a:headEnd/>
              <a:tailEnd/>
            </a:ln>
          </p:spPr>
          <p:txBody>
            <a:bodyPr wrap="none" lIns="0" tIns="0" rIns="0" bIns="0">
              <a:spAutoFit/>
            </a:bodyPr>
            <a:lstStyle/>
            <a:p>
              <a:r>
                <a:rPr lang="zh-TW" altLang="en-US" sz="675">
                  <a:solidFill>
                    <a:srgbClr val="000000"/>
                  </a:solidFill>
                  <a:latin typeface="Arial" pitchFamily="34" charset="0"/>
                </a:rPr>
                <a:t>1</a:t>
              </a:r>
              <a:endParaRPr lang="zh-TW" altLang="en-US" sz="1350"/>
            </a:p>
          </p:txBody>
        </p:sp>
        <p:sp>
          <p:nvSpPr>
            <p:cNvPr id="25626" name="Line 20"/>
            <p:cNvSpPr>
              <a:spLocks noChangeShapeType="1"/>
            </p:cNvSpPr>
            <p:nvPr/>
          </p:nvSpPr>
          <p:spPr bwMode="auto">
            <a:xfrm>
              <a:off x="5051" y="3544"/>
              <a:ext cx="1" cy="619"/>
            </a:xfrm>
            <a:prstGeom prst="line">
              <a:avLst/>
            </a:prstGeom>
            <a:noFill/>
            <a:ln w="25400">
              <a:solidFill>
                <a:srgbClr val="000000"/>
              </a:solidFill>
              <a:round/>
              <a:headEnd/>
              <a:tailEnd/>
            </a:ln>
          </p:spPr>
          <p:txBody>
            <a:bodyPr/>
            <a:lstStyle/>
            <a:p>
              <a:endParaRPr lang="zh-TW" altLang="en-US" sz="1350"/>
            </a:p>
          </p:txBody>
        </p:sp>
        <p:sp>
          <p:nvSpPr>
            <p:cNvPr id="25627" name="Line 21"/>
            <p:cNvSpPr>
              <a:spLocks noChangeShapeType="1"/>
            </p:cNvSpPr>
            <p:nvPr/>
          </p:nvSpPr>
          <p:spPr bwMode="auto">
            <a:xfrm>
              <a:off x="4892" y="3544"/>
              <a:ext cx="1" cy="619"/>
            </a:xfrm>
            <a:prstGeom prst="line">
              <a:avLst/>
            </a:prstGeom>
            <a:noFill/>
            <a:ln w="25400">
              <a:solidFill>
                <a:srgbClr val="000000"/>
              </a:solidFill>
              <a:round/>
              <a:headEnd/>
              <a:tailEnd/>
            </a:ln>
          </p:spPr>
          <p:txBody>
            <a:bodyPr/>
            <a:lstStyle/>
            <a:p>
              <a:endParaRPr lang="zh-TW" altLang="en-US" sz="1350"/>
            </a:p>
          </p:txBody>
        </p:sp>
        <p:sp>
          <p:nvSpPr>
            <p:cNvPr id="25628" name="Line 22"/>
            <p:cNvSpPr>
              <a:spLocks noChangeShapeType="1"/>
            </p:cNvSpPr>
            <p:nvPr/>
          </p:nvSpPr>
          <p:spPr bwMode="auto">
            <a:xfrm>
              <a:off x="4413" y="3544"/>
              <a:ext cx="1" cy="619"/>
            </a:xfrm>
            <a:prstGeom prst="line">
              <a:avLst/>
            </a:prstGeom>
            <a:noFill/>
            <a:ln w="25400">
              <a:solidFill>
                <a:srgbClr val="000000"/>
              </a:solidFill>
              <a:round/>
              <a:headEnd/>
              <a:tailEnd/>
            </a:ln>
          </p:spPr>
          <p:txBody>
            <a:bodyPr/>
            <a:lstStyle/>
            <a:p>
              <a:endParaRPr lang="zh-TW" altLang="en-US" sz="1350"/>
            </a:p>
          </p:txBody>
        </p:sp>
        <p:sp>
          <p:nvSpPr>
            <p:cNvPr id="25629" name="Line 23"/>
            <p:cNvSpPr>
              <a:spLocks noChangeShapeType="1"/>
            </p:cNvSpPr>
            <p:nvPr/>
          </p:nvSpPr>
          <p:spPr bwMode="auto">
            <a:xfrm>
              <a:off x="4251" y="3544"/>
              <a:ext cx="4" cy="619"/>
            </a:xfrm>
            <a:prstGeom prst="line">
              <a:avLst/>
            </a:prstGeom>
            <a:noFill/>
            <a:ln w="25400">
              <a:solidFill>
                <a:srgbClr val="000000"/>
              </a:solidFill>
              <a:round/>
              <a:headEnd/>
              <a:tailEnd/>
            </a:ln>
          </p:spPr>
          <p:txBody>
            <a:bodyPr/>
            <a:lstStyle/>
            <a:p>
              <a:endParaRPr lang="zh-TW" altLang="en-US" sz="1350"/>
            </a:p>
          </p:txBody>
        </p:sp>
        <p:sp>
          <p:nvSpPr>
            <p:cNvPr id="25630" name="Line 24"/>
            <p:cNvSpPr>
              <a:spLocks noChangeShapeType="1"/>
            </p:cNvSpPr>
            <p:nvPr/>
          </p:nvSpPr>
          <p:spPr bwMode="auto">
            <a:xfrm>
              <a:off x="3775" y="3544"/>
              <a:ext cx="1" cy="619"/>
            </a:xfrm>
            <a:prstGeom prst="line">
              <a:avLst/>
            </a:prstGeom>
            <a:noFill/>
            <a:ln w="25400">
              <a:solidFill>
                <a:srgbClr val="000000"/>
              </a:solidFill>
              <a:round/>
              <a:headEnd/>
              <a:tailEnd/>
            </a:ln>
          </p:spPr>
          <p:txBody>
            <a:bodyPr/>
            <a:lstStyle/>
            <a:p>
              <a:endParaRPr lang="zh-TW" altLang="en-US" sz="1350"/>
            </a:p>
          </p:txBody>
        </p:sp>
        <p:sp>
          <p:nvSpPr>
            <p:cNvPr id="25631" name="Line 25"/>
            <p:cNvSpPr>
              <a:spLocks noChangeShapeType="1"/>
            </p:cNvSpPr>
            <p:nvPr/>
          </p:nvSpPr>
          <p:spPr bwMode="auto">
            <a:xfrm>
              <a:off x="3613" y="3544"/>
              <a:ext cx="4" cy="619"/>
            </a:xfrm>
            <a:prstGeom prst="line">
              <a:avLst/>
            </a:prstGeom>
            <a:noFill/>
            <a:ln w="25400">
              <a:solidFill>
                <a:srgbClr val="000000"/>
              </a:solidFill>
              <a:round/>
              <a:headEnd/>
              <a:tailEnd/>
            </a:ln>
          </p:spPr>
          <p:txBody>
            <a:bodyPr/>
            <a:lstStyle/>
            <a:p>
              <a:endParaRPr lang="zh-TW" altLang="en-US" sz="1350"/>
            </a:p>
          </p:txBody>
        </p:sp>
        <p:sp>
          <p:nvSpPr>
            <p:cNvPr id="25632" name="Line 26"/>
            <p:cNvSpPr>
              <a:spLocks noChangeShapeType="1"/>
            </p:cNvSpPr>
            <p:nvPr/>
          </p:nvSpPr>
          <p:spPr bwMode="auto">
            <a:xfrm>
              <a:off x="3133" y="3544"/>
              <a:ext cx="4" cy="619"/>
            </a:xfrm>
            <a:prstGeom prst="line">
              <a:avLst/>
            </a:prstGeom>
            <a:noFill/>
            <a:ln w="25400">
              <a:solidFill>
                <a:srgbClr val="000000"/>
              </a:solidFill>
              <a:round/>
              <a:headEnd/>
              <a:tailEnd/>
            </a:ln>
          </p:spPr>
          <p:txBody>
            <a:bodyPr/>
            <a:lstStyle/>
            <a:p>
              <a:endParaRPr lang="zh-TW" altLang="en-US" sz="1350"/>
            </a:p>
          </p:txBody>
        </p:sp>
        <p:sp>
          <p:nvSpPr>
            <p:cNvPr id="25633" name="Line 27"/>
            <p:cNvSpPr>
              <a:spLocks noChangeShapeType="1"/>
            </p:cNvSpPr>
            <p:nvPr/>
          </p:nvSpPr>
          <p:spPr bwMode="auto">
            <a:xfrm>
              <a:off x="2975" y="3544"/>
              <a:ext cx="1" cy="619"/>
            </a:xfrm>
            <a:prstGeom prst="line">
              <a:avLst/>
            </a:prstGeom>
            <a:noFill/>
            <a:ln w="25400">
              <a:solidFill>
                <a:srgbClr val="000000"/>
              </a:solidFill>
              <a:round/>
              <a:headEnd/>
              <a:tailEnd/>
            </a:ln>
          </p:spPr>
          <p:txBody>
            <a:bodyPr/>
            <a:lstStyle/>
            <a:p>
              <a:endParaRPr lang="zh-TW" altLang="en-US" sz="1350"/>
            </a:p>
          </p:txBody>
        </p:sp>
        <p:sp>
          <p:nvSpPr>
            <p:cNvPr id="25634" name="Line 28"/>
            <p:cNvSpPr>
              <a:spLocks noChangeShapeType="1"/>
            </p:cNvSpPr>
            <p:nvPr/>
          </p:nvSpPr>
          <p:spPr bwMode="auto">
            <a:xfrm>
              <a:off x="2495" y="3544"/>
              <a:ext cx="1" cy="619"/>
            </a:xfrm>
            <a:prstGeom prst="line">
              <a:avLst/>
            </a:prstGeom>
            <a:noFill/>
            <a:ln w="25400">
              <a:solidFill>
                <a:srgbClr val="000000"/>
              </a:solidFill>
              <a:round/>
              <a:headEnd/>
              <a:tailEnd/>
            </a:ln>
          </p:spPr>
          <p:txBody>
            <a:bodyPr/>
            <a:lstStyle/>
            <a:p>
              <a:endParaRPr lang="zh-TW" altLang="en-US" sz="1350"/>
            </a:p>
          </p:txBody>
        </p:sp>
        <p:sp>
          <p:nvSpPr>
            <p:cNvPr id="25635" name="Line 29"/>
            <p:cNvSpPr>
              <a:spLocks noChangeShapeType="1"/>
            </p:cNvSpPr>
            <p:nvPr/>
          </p:nvSpPr>
          <p:spPr bwMode="auto">
            <a:xfrm>
              <a:off x="2337" y="3544"/>
              <a:ext cx="1" cy="619"/>
            </a:xfrm>
            <a:prstGeom prst="line">
              <a:avLst/>
            </a:prstGeom>
            <a:noFill/>
            <a:ln w="25400">
              <a:solidFill>
                <a:srgbClr val="000000"/>
              </a:solidFill>
              <a:round/>
              <a:headEnd/>
              <a:tailEnd/>
            </a:ln>
          </p:spPr>
          <p:txBody>
            <a:bodyPr/>
            <a:lstStyle/>
            <a:p>
              <a:endParaRPr lang="zh-TW" altLang="en-US" sz="1350"/>
            </a:p>
          </p:txBody>
        </p:sp>
        <p:sp>
          <p:nvSpPr>
            <p:cNvPr id="25636" name="Line 30"/>
            <p:cNvSpPr>
              <a:spLocks noChangeShapeType="1"/>
            </p:cNvSpPr>
            <p:nvPr/>
          </p:nvSpPr>
          <p:spPr bwMode="auto">
            <a:xfrm>
              <a:off x="1858" y="3544"/>
              <a:ext cx="1" cy="619"/>
            </a:xfrm>
            <a:prstGeom prst="line">
              <a:avLst/>
            </a:prstGeom>
            <a:noFill/>
            <a:ln w="25400">
              <a:solidFill>
                <a:srgbClr val="000000"/>
              </a:solidFill>
              <a:round/>
              <a:headEnd/>
              <a:tailEnd/>
            </a:ln>
          </p:spPr>
          <p:txBody>
            <a:bodyPr/>
            <a:lstStyle/>
            <a:p>
              <a:endParaRPr lang="zh-TW" altLang="en-US" sz="1350"/>
            </a:p>
          </p:txBody>
        </p:sp>
        <p:sp>
          <p:nvSpPr>
            <p:cNvPr id="25637" name="Line 31"/>
            <p:cNvSpPr>
              <a:spLocks noChangeShapeType="1"/>
            </p:cNvSpPr>
            <p:nvPr/>
          </p:nvSpPr>
          <p:spPr bwMode="auto">
            <a:xfrm>
              <a:off x="1695" y="3544"/>
              <a:ext cx="4" cy="619"/>
            </a:xfrm>
            <a:prstGeom prst="line">
              <a:avLst/>
            </a:prstGeom>
            <a:noFill/>
            <a:ln w="25400">
              <a:solidFill>
                <a:srgbClr val="000000"/>
              </a:solidFill>
              <a:round/>
              <a:headEnd/>
              <a:tailEnd/>
            </a:ln>
          </p:spPr>
          <p:txBody>
            <a:bodyPr/>
            <a:lstStyle/>
            <a:p>
              <a:endParaRPr lang="zh-TW" altLang="en-US" sz="1350"/>
            </a:p>
          </p:txBody>
        </p:sp>
        <p:sp>
          <p:nvSpPr>
            <p:cNvPr id="25638" name="Line 32"/>
            <p:cNvSpPr>
              <a:spLocks noChangeShapeType="1"/>
            </p:cNvSpPr>
            <p:nvPr/>
          </p:nvSpPr>
          <p:spPr bwMode="auto">
            <a:xfrm>
              <a:off x="1216" y="3544"/>
              <a:ext cx="4" cy="619"/>
            </a:xfrm>
            <a:prstGeom prst="line">
              <a:avLst/>
            </a:prstGeom>
            <a:noFill/>
            <a:ln w="25400">
              <a:solidFill>
                <a:srgbClr val="000000"/>
              </a:solidFill>
              <a:round/>
              <a:headEnd/>
              <a:tailEnd/>
            </a:ln>
          </p:spPr>
          <p:txBody>
            <a:bodyPr/>
            <a:lstStyle/>
            <a:p>
              <a:endParaRPr lang="zh-TW" altLang="en-US" sz="1350"/>
            </a:p>
          </p:txBody>
        </p:sp>
        <p:sp>
          <p:nvSpPr>
            <p:cNvPr id="25639" name="Line 33"/>
            <p:cNvSpPr>
              <a:spLocks noChangeShapeType="1"/>
            </p:cNvSpPr>
            <p:nvPr/>
          </p:nvSpPr>
          <p:spPr bwMode="auto">
            <a:xfrm>
              <a:off x="1057" y="3544"/>
              <a:ext cx="1" cy="619"/>
            </a:xfrm>
            <a:prstGeom prst="line">
              <a:avLst/>
            </a:prstGeom>
            <a:noFill/>
            <a:ln w="25400">
              <a:solidFill>
                <a:srgbClr val="000000"/>
              </a:solidFill>
              <a:round/>
              <a:headEnd/>
              <a:tailEnd/>
            </a:ln>
          </p:spPr>
          <p:txBody>
            <a:bodyPr/>
            <a:lstStyle/>
            <a:p>
              <a:endParaRPr lang="zh-TW" altLang="en-US" sz="1350"/>
            </a:p>
          </p:txBody>
        </p:sp>
        <p:sp>
          <p:nvSpPr>
            <p:cNvPr id="25640" name="Freeform 34"/>
            <p:cNvSpPr>
              <a:spLocks/>
            </p:cNvSpPr>
            <p:nvPr/>
          </p:nvSpPr>
          <p:spPr bwMode="auto">
            <a:xfrm>
              <a:off x="5209" y="3544"/>
              <a:ext cx="163" cy="619"/>
            </a:xfrm>
            <a:custGeom>
              <a:avLst/>
              <a:gdLst>
                <a:gd name="T0" fmla="*/ 0 w 163"/>
                <a:gd name="T1" fmla="*/ 619 h 619"/>
                <a:gd name="T2" fmla="*/ 4 w 163"/>
                <a:gd name="T3" fmla="*/ 0 h 619"/>
                <a:gd name="T4" fmla="*/ 163 w 163"/>
                <a:gd name="T5" fmla="*/ 0 h 619"/>
                <a:gd name="T6" fmla="*/ 163 w 163"/>
                <a:gd name="T7" fmla="*/ 619 h 619"/>
                <a:gd name="T8" fmla="*/ 4 w 163"/>
                <a:gd name="T9" fmla="*/ 619 h 619"/>
                <a:gd name="T10" fmla="*/ 4 w 163"/>
                <a:gd name="T11" fmla="*/ 619 h 619"/>
                <a:gd name="T12" fmla="*/ 0 w 163"/>
                <a:gd name="T13" fmla="*/ 619 h 619"/>
                <a:gd name="T14" fmla="*/ 0 60000 65536"/>
                <a:gd name="T15" fmla="*/ 0 60000 65536"/>
                <a:gd name="T16" fmla="*/ 0 60000 65536"/>
                <a:gd name="T17" fmla="*/ 0 60000 65536"/>
                <a:gd name="T18" fmla="*/ 0 60000 65536"/>
                <a:gd name="T19" fmla="*/ 0 60000 65536"/>
                <a:gd name="T20" fmla="*/ 0 60000 65536"/>
                <a:gd name="T21" fmla="*/ 0 w 163"/>
                <a:gd name="T22" fmla="*/ 0 h 619"/>
                <a:gd name="T23" fmla="*/ 163 w 163"/>
                <a:gd name="T24" fmla="*/ 619 h 61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63" h="619">
                  <a:moveTo>
                    <a:pt x="0" y="619"/>
                  </a:moveTo>
                  <a:lnTo>
                    <a:pt x="4" y="0"/>
                  </a:lnTo>
                  <a:lnTo>
                    <a:pt x="163" y="0"/>
                  </a:lnTo>
                  <a:lnTo>
                    <a:pt x="163" y="619"/>
                  </a:lnTo>
                  <a:lnTo>
                    <a:pt x="4" y="619"/>
                  </a:lnTo>
                  <a:lnTo>
                    <a:pt x="0" y="619"/>
                  </a:lnTo>
                  <a:close/>
                </a:path>
              </a:pathLst>
            </a:custGeom>
            <a:solidFill>
              <a:srgbClr val="EB7500"/>
            </a:solidFill>
            <a:ln w="9525">
              <a:noFill/>
              <a:round/>
              <a:headEnd/>
              <a:tailEnd/>
            </a:ln>
          </p:spPr>
          <p:txBody>
            <a:bodyPr/>
            <a:lstStyle/>
            <a:p>
              <a:endParaRPr lang="zh-TW" altLang="en-US" sz="1350"/>
            </a:p>
          </p:txBody>
        </p:sp>
        <p:sp>
          <p:nvSpPr>
            <p:cNvPr id="25641" name="Freeform 35"/>
            <p:cNvSpPr>
              <a:spLocks/>
            </p:cNvSpPr>
            <p:nvPr/>
          </p:nvSpPr>
          <p:spPr bwMode="auto">
            <a:xfrm>
              <a:off x="5209" y="3544"/>
              <a:ext cx="163" cy="619"/>
            </a:xfrm>
            <a:custGeom>
              <a:avLst/>
              <a:gdLst>
                <a:gd name="T0" fmla="*/ 0 w 163"/>
                <a:gd name="T1" fmla="*/ 619 h 619"/>
                <a:gd name="T2" fmla="*/ 4 w 163"/>
                <a:gd name="T3" fmla="*/ 0 h 619"/>
                <a:gd name="T4" fmla="*/ 163 w 163"/>
                <a:gd name="T5" fmla="*/ 0 h 619"/>
                <a:gd name="T6" fmla="*/ 163 w 163"/>
                <a:gd name="T7" fmla="*/ 619 h 619"/>
                <a:gd name="T8" fmla="*/ 4 w 163"/>
                <a:gd name="T9" fmla="*/ 619 h 619"/>
                <a:gd name="T10" fmla="*/ 4 w 163"/>
                <a:gd name="T11" fmla="*/ 619 h 619"/>
                <a:gd name="T12" fmla="*/ 0 60000 65536"/>
                <a:gd name="T13" fmla="*/ 0 60000 65536"/>
                <a:gd name="T14" fmla="*/ 0 60000 65536"/>
                <a:gd name="T15" fmla="*/ 0 60000 65536"/>
                <a:gd name="T16" fmla="*/ 0 60000 65536"/>
                <a:gd name="T17" fmla="*/ 0 60000 65536"/>
                <a:gd name="T18" fmla="*/ 0 w 163"/>
                <a:gd name="T19" fmla="*/ 0 h 619"/>
                <a:gd name="T20" fmla="*/ 163 w 163"/>
                <a:gd name="T21" fmla="*/ 619 h 619"/>
              </a:gdLst>
              <a:ahLst/>
              <a:cxnLst>
                <a:cxn ang="T12">
                  <a:pos x="T0" y="T1"/>
                </a:cxn>
                <a:cxn ang="T13">
                  <a:pos x="T2" y="T3"/>
                </a:cxn>
                <a:cxn ang="T14">
                  <a:pos x="T4" y="T5"/>
                </a:cxn>
                <a:cxn ang="T15">
                  <a:pos x="T6" y="T7"/>
                </a:cxn>
                <a:cxn ang="T16">
                  <a:pos x="T8" y="T9"/>
                </a:cxn>
                <a:cxn ang="T17">
                  <a:pos x="T10" y="T11"/>
                </a:cxn>
              </a:cxnLst>
              <a:rect l="T18" t="T19" r="T20" b="T21"/>
              <a:pathLst>
                <a:path w="163" h="619">
                  <a:moveTo>
                    <a:pt x="0" y="619"/>
                  </a:moveTo>
                  <a:lnTo>
                    <a:pt x="4" y="0"/>
                  </a:lnTo>
                  <a:lnTo>
                    <a:pt x="163" y="0"/>
                  </a:lnTo>
                  <a:lnTo>
                    <a:pt x="163" y="619"/>
                  </a:lnTo>
                  <a:lnTo>
                    <a:pt x="4" y="619"/>
                  </a:lnTo>
                </a:path>
              </a:pathLst>
            </a:custGeom>
            <a:noFill/>
            <a:ln w="25400">
              <a:solidFill>
                <a:srgbClr val="000000"/>
              </a:solidFill>
              <a:round/>
              <a:headEnd/>
              <a:tailEnd/>
            </a:ln>
          </p:spPr>
          <p:txBody>
            <a:bodyPr/>
            <a:lstStyle/>
            <a:p>
              <a:endParaRPr lang="zh-TW" altLang="en-US" sz="1350"/>
            </a:p>
          </p:txBody>
        </p:sp>
        <p:sp>
          <p:nvSpPr>
            <p:cNvPr id="25642" name="Freeform 36"/>
            <p:cNvSpPr>
              <a:spLocks/>
            </p:cNvSpPr>
            <p:nvPr/>
          </p:nvSpPr>
          <p:spPr bwMode="auto">
            <a:xfrm>
              <a:off x="3934" y="3544"/>
              <a:ext cx="162" cy="619"/>
            </a:xfrm>
            <a:custGeom>
              <a:avLst/>
              <a:gdLst>
                <a:gd name="T0" fmla="*/ 0 w 162"/>
                <a:gd name="T1" fmla="*/ 619 h 619"/>
                <a:gd name="T2" fmla="*/ 0 w 162"/>
                <a:gd name="T3" fmla="*/ 0 h 619"/>
                <a:gd name="T4" fmla="*/ 162 w 162"/>
                <a:gd name="T5" fmla="*/ 0 h 619"/>
                <a:gd name="T6" fmla="*/ 162 w 162"/>
                <a:gd name="T7" fmla="*/ 619 h 619"/>
                <a:gd name="T8" fmla="*/ 0 w 162"/>
                <a:gd name="T9" fmla="*/ 619 h 619"/>
                <a:gd name="T10" fmla="*/ 0 w 162"/>
                <a:gd name="T11" fmla="*/ 619 h 619"/>
                <a:gd name="T12" fmla="*/ 0 60000 65536"/>
                <a:gd name="T13" fmla="*/ 0 60000 65536"/>
                <a:gd name="T14" fmla="*/ 0 60000 65536"/>
                <a:gd name="T15" fmla="*/ 0 60000 65536"/>
                <a:gd name="T16" fmla="*/ 0 60000 65536"/>
                <a:gd name="T17" fmla="*/ 0 60000 65536"/>
                <a:gd name="T18" fmla="*/ 0 w 162"/>
                <a:gd name="T19" fmla="*/ 0 h 619"/>
                <a:gd name="T20" fmla="*/ 162 w 162"/>
                <a:gd name="T21" fmla="*/ 619 h 619"/>
              </a:gdLst>
              <a:ahLst/>
              <a:cxnLst>
                <a:cxn ang="T12">
                  <a:pos x="T0" y="T1"/>
                </a:cxn>
                <a:cxn ang="T13">
                  <a:pos x="T2" y="T3"/>
                </a:cxn>
                <a:cxn ang="T14">
                  <a:pos x="T4" y="T5"/>
                </a:cxn>
                <a:cxn ang="T15">
                  <a:pos x="T6" y="T7"/>
                </a:cxn>
                <a:cxn ang="T16">
                  <a:pos x="T8" y="T9"/>
                </a:cxn>
                <a:cxn ang="T17">
                  <a:pos x="T10" y="T11"/>
                </a:cxn>
              </a:cxnLst>
              <a:rect l="T18" t="T19" r="T20" b="T21"/>
              <a:pathLst>
                <a:path w="162" h="619">
                  <a:moveTo>
                    <a:pt x="0" y="619"/>
                  </a:moveTo>
                  <a:lnTo>
                    <a:pt x="0" y="0"/>
                  </a:lnTo>
                  <a:lnTo>
                    <a:pt x="162" y="0"/>
                  </a:lnTo>
                  <a:lnTo>
                    <a:pt x="162" y="619"/>
                  </a:lnTo>
                  <a:lnTo>
                    <a:pt x="0" y="619"/>
                  </a:lnTo>
                  <a:close/>
                </a:path>
              </a:pathLst>
            </a:custGeom>
            <a:solidFill>
              <a:srgbClr val="EB7500"/>
            </a:solidFill>
            <a:ln w="9525">
              <a:noFill/>
              <a:round/>
              <a:headEnd/>
              <a:tailEnd/>
            </a:ln>
          </p:spPr>
          <p:txBody>
            <a:bodyPr/>
            <a:lstStyle/>
            <a:p>
              <a:endParaRPr lang="zh-TW" altLang="en-US" sz="1350"/>
            </a:p>
          </p:txBody>
        </p:sp>
        <p:sp>
          <p:nvSpPr>
            <p:cNvPr id="25643" name="Freeform 37"/>
            <p:cNvSpPr>
              <a:spLocks/>
            </p:cNvSpPr>
            <p:nvPr/>
          </p:nvSpPr>
          <p:spPr bwMode="auto">
            <a:xfrm>
              <a:off x="3934" y="3544"/>
              <a:ext cx="162" cy="619"/>
            </a:xfrm>
            <a:custGeom>
              <a:avLst/>
              <a:gdLst>
                <a:gd name="T0" fmla="*/ 0 w 162"/>
                <a:gd name="T1" fmla="*/ 619 h 619"/>
                <a:gd name="T2" fmla="*/ 0 w 162"/>
                <a:gd name="T3" fmla="*/ 0 h 619"/>
                <a:gd name="T4" fmla="*/ 162 w 162"/>
                <a:gd name="T5" fmla="*/ 0 h 619"/>
                <a:gd name="T6" fmla="*/ 162 w 162"/>
                <a:gd name="T7" fmla="*/ 619 h 619"/>
                <a:gd name="T8" fmla="*/ 0 w 162"/>
                <a:gd name="T9" fmla="*/ 619 h 619"/>
                <a:gd name="T10" fmla="*/ 0 w 162"/>
                <a:gd name="T11" fmla="*/ 619 h 619"/>
                <a:gd name="T12" fmla="*/ 0 60000 65536"/>
                <a:gd name="T13" fmla="*/ 0 60000 65536"/>
                <a:gd name="T14" fmla="*/ 0 60000 65536"/>
                <a:gd name="T15" fmla="*/ 0 60000 65536"/>
                <a:gd name="T16" fmla="*/ 0 60000 65536"/>
                <a:gd name="T17" fmla="*/ 0 60000 65536"/>
                <a:gd name="T18" fmla="*/ 0 w 162"/>
                <a:gd name="T19" fmla="*/ 0 h 619"/>
                <a:gd name="T20" fmla="*/ 162 w 162"/>
                <a:gd name="T21" fmla="*/ 619 h 619"/>
              </a:gdLst>
              <a:ahLst/>
              <a:cxnLst>
                <a:cxn ang="T12">
                  <a:pos x="T0" y="T1"/>
                </a:cxn>
                <a:cxn ang="T13">
                  <a:pos x="T2" y="T3"/>
                </a:cxn>
                <a:cxn ang="T14">
                  <a:pos x="T4" y="T5"/>
                </a:cxn>
                <a:cxn ang="T15">
                  <a:pos x="T6" y="T7"/>
                </a:cxn>
                <a:cxn ang="T16">
                  <a:pos x="T8" y="T9"/>
                </a:cxn>
                <a:cxn ang="T17">
                  <a:pos x="T10" y="T11"/>
                </a:cxn>
              </a:cxnLst>
              <a:rect l="T18" t="T19" r="T20" b="T21"/>
              <a:pathLst>
                <a:path w="162" h="619">
                  <a:moveTo>
                    <a:pt x="0" y="619"/>
                  </a:moveTo>
                  <a:lnTo>
                    <a:pt x="0" y="0"/>
                  </a:lnTo>
                  <a:lnTo>
                    <a:pt x="162" y="0"/>
                  </a:lnTo>
                  <a:lnTo>
                    <a:pt x="162" y="619"/>
                  </a:lnTo>
                  <a:lnTo>
                    <a:pt x="0" y="619"/>
                  </a:lnTo>
                </a:path>
              </a:pathLst>
            </a:custGeom>
            <a:noFill/>
            <a:ln w="25400">
              <a:solidFill>
                <a:srgbClr val="000000"/>
              </a:solidFill>
              <a:round/>
              <a:headEnd/>
              <a:tailEnd/>
            </a:ln>
          </p:spPr>
          <p:txBody>
            <a:bodyPr/>
            <a:lstStyle/>
            <a:p>
              <a:endParaRPr lang="zh-TW" altLang="en-US" sz="1350"/>
            </a:p>
          </p:txBody>
        </p:sp>
        <p:sp>
          <p:nvSpPr>
            <p:cNvPr id="25644" name="Freeform 38"/>
            <p:cNvSpPr>
              <a:spLocks/>
            </p:cNvSpPr>
            <p:nvPr/>
          </p:nvSpPr>
          <p:spPr bwMode="auto">
            <a:xfrm>
              <a:off x="2654" y="3544"/>
              <a:ext cx="162" cy="619"/>
            </a:xfrm>
            <a:custGeom>
              <a:avLst/>
              <a:gdLst>
                <a:gd name="T0" fmla="*/ 0 w 162"/>
                <a:gd name="T1" fmla="*/ 619 h 619"/>
                <a:gd name="T2" fmla="*/ 4 w 162"/>
                <a:gd name="T3" fmla="*/ 0 h 619"/>
                <a:gd name="T4" fmla="*/ 162 w 162"/>
                <a:gd name="T5" fmla="*/ 0 h 619"/>
                <a:gd name="T6" fmla="*/ 162 w 162"/>
                <a:gd name="T7" fmla="*/ 619 h 619"/>
                <a:gd name="T8" fmla="*/ 4 w 162"/>
                <a:gd name="T9" fmla="*/ 619 h 619"/>
                <a:gd name="T10" fmla="*/ 4 w 162"/>
                <a:gd name="T11" fmla="*/ 619 h 619"/>
                <a:gd name="T12" fmla="*/ 0 w 162"/>
                <a:gd name="T13" fmla="*/ 619 h 619"/>
                <a:gd name="T14" fmla="*/ 0 60000 65536"/>
                <a:gd name="T15" fmla="*/ 0 60000 65536"/>
                <a:gd name="T16" fmla="*/ 0 60000 65536"/>
                <a:gd name="T17" fmla="*/ 0 60000 65536"/>
                <a:gd name="T18" fmla="*/ 0 60000 65536"/>
                <a:gd name="T19" fmla="*/ 0 60000 65536"/>
                <a:gd name="T20" fmla="*/ 0 60000 65536"/>
                <a:gd name="T21" fmla="*/ 0 w 162"/>
                <a:gd name="T22" fmla="*/ 0 h 619"/>
                <a:gd name="T23" fmla="*/ 162 w 162"/>
                <a:gd name="T24" fmla="*/ 619 h 61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62" h="619">
                  <a:moveTo>
                    <a:pt x="0" y="619"/>
                  </a:moveTo>
                  <a:lnTo>
                    <a:pt x="4" y="0"/>
                  </a:lnTo>
                  <a:lnTo>
                    <a:pt x="162" y="0"/>
                  </a:lnTo>
                  <a:lnTo>
                    <a:pt x="162" y="619"/>
                  </a:lnTo>
                  <a:lnTo>
                    <a:pt x="4" y="619"/>
                  </a:lnTo>
                  <a:lnTo>
                    <a:pt x="0" y="619"/>
                  </a:lnTo>
                  <a:close/>
                </a:path>
              </a:pathLst>
            </a:custGeom>
            <a:solidFill>
              <a:srgbClr val="EB7500"/>
            </a:solidFill>
            <a:ln w="9525">
              <a:noFill/>
              <a:round/>
              <a:headEnd/>
              <a:tailEnd/>
            </a:ln>
          </p:spPr>
          <p:txBody>
            <a:bodyPr/>
            <a:lstStyle/>
            <a:p>
              <a:endParaRPr lang="zh-TW" altLang="en-US" sz="1350"/>
            </a:p>
          </p:txBody>
        </p:sp>
        <p:sp>
          <p:nvSpPr>
            <p:cNvPr id="25645" name="Freeform 39"/>
            <p:cNvSpPr>
              <a:spLocks/>
            </p:cNvSpPr>
            <p:nvPr/>
          </p:nvSpPr>
          <p:spPr bwMode="auto">
            <a:xfrm>
              <a:off x="2654" y="3544"/>
              <a:ext cx="162" cy="619"/>
            </a:xfrm>
            <a:custGeom>
              <a:avLst/>
              <a:gdLst>
                <a:gd name="T0" fmla="*/ 0 w 162"/>
                <a:gd name="T1" fmla="*/ 619 h 619"/>
                <a:gd name="T2" fmla="*/ 4 w 162"/>
                <a:gd name="T3" fmla="*/ 0 h 619"/>
                <a:gd name="T4" fmla="*/ 162 w 162"/>
                <a:gd name="T5" fmla="*/ 0 h 619"/>
                <a:gd name="T6" fmla="*/ 162 w 162"/>
                <a:gd name="T7" fmla="*/ 619 h 619"/>
                <a:gd name="T8" fmla="*/ 4 w 162"/>
                <a:gd name="T9" fmla="*/ 619 h 619"/>
                <a:gd name="T10" fmla="*/ 4 w 162"/>
                <a:gd name="T11" fmla="*/ 619 h 619"/>
                <a:gd name="T12" fmla="*/ 0 60000 65536"/>
                <a:gd name="T13" fmla="*/ 0 60000 65536"/>
                <a:gd name="T14" fmla="*/ 0 60000 65536"/>
                <a:gd name="T15" fmla="*/ 0 60000 65536"/>
                <a:gd name="T16" fmla="*/ 0 60000 65536"/>
                <a:gd name="T17" fmla="*/ 0 60000 65536"/>
                <a:gd name="T18" fmla="*/ 0 w 162"/>
                <a:gd name="T19" fmla="*/ 0 h 619"/>
                <a:gd name="T20" fmla="*/ 162 w 162"/>
                <a:gd name="T21" fmla="*/ 619 h 619"/>
              </a:gdLst>
              <a:ahLst/>
              <a:cxnLst>
                <a:cxn ang="T12">
                  <a:pos x="T0" y="T1"/>
                </a:cxn>
                <a:cxn ang="T13">
                  <a:pos x="T2" y="T3"/>
                </a:cxn>
                <a:cxn ang="T14">
                  <a:pos x="T4" y="T5"/>
                </a:cxn>
                <a:cxn ang="T15">
                  <a:pos x="T6" y="T7"/>
                </a:cxn>
                <a:cxn ang="T16">
                  <a:pos x="T8" y="T9"/>
                </a:cxn>
                <a:cxn ang="T17">
                  <a:pos x="T10" y="T11"/>
                </a:cxn>
              </a:cxnLst>
              <a:rect l="T18" t="T19" r="T20" b="T21"/>
              <a:pathLst>
                <a:path w="162" h="619">
                  <a:moveTo>
                    <a:pt x="0" y="619"/>
                  </a:moveTo>
                  <a:lnTo>
                    <a:pt x="4" y="0"/>
                  </a:lnTo>
                  <a:lnTo>
                    <a:pt x="162" y="0"/>
                  </a:lnTo>
                  <a:lnTo>
                    <a:pt x="162" y="619"/>
                  </a:lnTo>
                  <a:lnTo>
                    <a:pt x="4" y="619"/>
                  </a:lnTo>
                </a:path>
              </a:pathLst>
            </a:custGeom>
            <a:noFill/>
            <a:ln w="25400">
              <a:solidFill>
                <a:srgbClr val="000000"/>
              </a:solidFill>
              <a:round/>
              <a:headEnd/>
              <a:tailEnd/>
            </a:ln>
          </p:spPr>
          <p:txBody>
            <a:bodyPr/>
            <a:lstStyle/>
            <a:p>
              <a:endParaRPr lang="zh-TW" altLang="en-US" sz="1350"/>
            </a:p>
          </p:txBody>
        </p:sp>
        <p:sp>
          <p:nvSpPr>
            <p:cNvPr id="25646" name="Freeform 40"/>
            <p:cNvSpPr>
              <a:spLocks/>
            </p:cNvSpPr>
            <p:nvPr/>
          </p:nvSpPr>
          <p:spPr bwMode="auto">
            <a:xfrm>
              <a:off x="1378" y="3544"/>
              <a:ext cx="159" cy="619"/>
            </a:xfrm>
            <a:custGeom>
              <a:avLst/>
              <a:gdLst>
                <a:gd name="T0" fmla="*/ 0 w 159"/>
                <a:gd name="T1" fmla="*/ 619 h 619"/>
                <a:gd name="T2" fmla="*/ 0 w 159"/>
                <a:gd name="T3" fmla="*/ 0 h 619"/>
                <a:gd name="T4" fmla="*/ 159 w 159"/>
                <a:gd name="T5" fmla="*/ 0 h 619"/>
                <a:gd name="T6" fmla="*/ 159 w 159"/>
                <a:gd name="T7" fmla="*/ 619 h 619"/>
                <a:gd name="T8" fmla="*/ 0 w 159"/>
                <a:gd name="T9" fmla="*/ 619 h 619"/>
                <a:gd name="T10" fmla="*/ 0 w 159"/>
                <a:gd name="T11" fmla="*/ 619 h 619"/>
                <a:gd name="T12" fmla="*/ 0 60000 65536"/>
                <a:gd name="T13" fmla="*/ 0 60000 65536"/>
                <a:gd name="T14" fmla="*/ 0 60000 65536"/>
                <a:gd name="T15" fmla="*/ 0 60000 65536"/>
                <a:gd name="T16" fmla="*/ 0 60000 65536"/>
                <a:gd name="T17" fmla="*/ 0 60000 65536"/>
                <a:gd name="T18" fmla="*/ 0 w 159"/>
                <a:gd name="T19" fmla="*/ 0 h 619"/>
                <a:gd name="T20" fmla="*/ 159 w 159"/>
                <a:gd name="T21" fmla="*/ 619 h 619"/>
              </a:gdLst>
              <a:ahLst/>
              <a:cxnLst>
                <a:cxn ang="T12">
                  <a:pos x="T0" y="T1"/>
                </a:cxn>
                <a:cxn ang="T13">
                  <a:pos x="T2" y="T3"/>
                </a:cxn>
                <a:cxn ang="T14">
                  <a:pos x="T4" y="T5"/>
                </a:cxn>
                <a:cxn ang="T15">
                  <a:pos x="T6" y="T7"/>
                </a:cxn>
                <a:cxn ang="T16">
                  <a:pos x="T8" y="T9"/>
                </a:cxn>
                <a:cxn ang="T17">
                  <a:pos x="T10" y="T11"/>
                </a:cxn>
              </a:cxnLst>
              <a:rect l="T18" t="T19" r="T20" b="T21"/>
              <a:pathLst>
                <a:path w="159" h="619">
                  <a:moveTo>
                    <a:pt x="0" y="619"/>
                  </a:moveTo>
                  <a:lnTo>
                    <a:pt x="0" y="0"/>
                  </a:lnTo>
                  <a:lnTo>
                    <a:pt x="159" y="0"/>
                  </a:lnTo>
                  <a:lnTo>
                    <a:pt x="159" y="619"/>
                  </a:lnTo>
                  <a:lnTo>
                    <a:pt x="0" y="619"/>
                  </a:lnTo>
                  <a:close/>
                </a:path>
              </a:pathLst>
            </a:custGeom>
            <a:solidFill>
              <a:srgbClr val="EB7500"/>
            </a:solidFill>
            <a:ln w="9525">
              <a:noFill/>
              <a:round/>
              <a:headEnd/>
              <a:tailEnd/>
            </a:ln>
          </p:spPr>
          <p:txBody>
            <a:bodyPr/>
            <a:lstStyle/>
            <a:p>
              <a:endParaRPr lang="zh-TW" altLang="en-US" sz="1350"/>
            </a:p>
          </p:txBody>
        </p:sp>
        <p:sp>
          <p:nvSpPr>
            <p:cNvPr id="25647" name="Freeform 41"/>
            <p:cNvSpPr>
              <a:spLocks/>
            </p:cNvSpPr>
            <p:nvPr/>
          </p:nvSpPr>
          <p:spPr bwMode="auto">
            <a:xfrm>
              <a:off x="1378" y="3544"/>
              <a:ext cx="159" cy="619"/>
            </a:xfrm>
            <a:custGeom>
              <a:avLst/>
              <a:gdLst>
                <a:gd name="T0" fmla="*/ 0 w 159"/>
                <a:gd name="T1" fmla="*/ 619 h 619"/>
                <a:gd name="T2" fmla="*/ 0 w 159"/>
                <a:gd name="T3" fmla="*/ 0 h 619"/>
                <a:gd name="T4" fmla="*/ 159 w 159"/>
                <a:gd name="T5" fmla="*/ 0 h 619"/>
                <a:gd name="T6" fmla="*/ 159 w 159"/>
                <a:gd name="T7" fmla="*/ 619 h 619"/>
                <a:gd name="T8" fmla="*/ 0 w 159"/>
                <a:gd name="T9" fmla="*/ 619 h 619"/>
                <a:gd name="T10" fmla="*/ 0 w 159"/>
                <a:gd name="T11" fmla="*/ 619 h 619"/>
                <a:gd name="T12" fmla="*/ 0 60000 65536"/>
                <a:gd name="T13" fmla="*/ 0 60000 65536"/>
                <a:gd name="T14" fmla="*/ 0 60000 65536"/>
                <a:gd name="T15" fmla="*/ 0 60000 65536"/>
                <a:gd name="T16" fmla="*/ 0 60000 65536"/>
                <a:gd name="T17" fmla="*/ 0 60000 65536"/>
                <a:gd name="T18" fmla="*/ 0 w 159"/>
                <a:gd name="T19" fmla="*/ 0 h 619"/>
                <a:gd name="T20" fmla="*/ 159 w 159"/>
                <a:gd name="T21" fmla="*/ 619 h 619"/>
              </a:gdLst>
              <a:ahLst/>
              <a:cxnLst>
                <a:cxn ang="T12">
                  <a:pos x="T0" y="T1"/>
                </a:cxn>
                <a:cxn ang="T13">
                  <a:pos x="T2" y="T3"/>
                </a:cxn>
                <a:cxn ang="T14">
                  <a:pos x="T4" y="T5"/>
                </a:cxn>
                <a:cxn ang="T15">
                  <a:pos x="T6" y="T7"/>
                </a:cxn>
                <a:cxn ang="T16">
                  <a:pos x="T8" y="T9"/>
                </a:cxn>
                <a:cxn ang="T17">
                  <a:pos x="T10" y="T11"/>
                </a:cxn>
              </a:cxnLst>
              <a:rect l="T18" t="T19" r="T20" b="T21"/>
              <a:pathLst>
                <a:path w="159" h="619">
                  <a:moveTo>
                    <a:pt x="0" y="619"/>
                  </a:moveTo>
                  <a:lnTo>
                    <a:pt x="0" y="0"/>
                  </a:lnTo>
                  <a:lnTo>
                    <a:pt x="159" y="0"/>
                  </a:lnTo>
                  <a:lnTo>
                    <a:pt x="159" y="619"/>
                  </a:lnTo>
                  <a:lnTo>
                    <a:pt x="0" y="619"/>
                  </a:lnTo>
                </a:path>
              </a:pathLst>
            </a:custGeom>
            <a:noFill/>
            <a:ln w="25400">
              <a:solidFill>
                <a:srgbClr val="000000"/>
              </a:solidFill>
              <a:round/>
              <a:headEnd/>
              <a:tailEnd/>
            </a:ln>
          </p:spPr>
          <p:txBody>
            <a:bodyPr/>
            <a:lstStyle/>
            <a:p>
              <a:endParaRPr lang="zh-TW" altLang="en-US" sz="1350"/>
            </a:p>
          </p:txBody>
        </p:sp>
        <p:sp>
          <p:nvSpPr>
            <p:cNvPr id="25648" name="Freeform 42"/>
            <p:cNvSpPr>
              <a:spLocks/>
            </p:cNvSpPr>
            <p:nvPr/>
          </p:nvSpPr>
          <p:spPr bwMode="auto">
            <a:xfrm>
              <a:off x="4571" y="3544"/>
              <a:ext cx="163" cy="619"/>
            </a:xfrm>
            <a:custGeom>
              <a:avLst/>
              <a:gdLst>
                <a:gd name="T0" fmla="*/ 0 w 163"/>
                <a:gd name="T1" fmla="*/ 619 h 619"/>
                <a:gd name="T2" fmla="*/ 4 w 163"/>
                <a:gd name="T3" fmla="*/ 0 h 619"/>
                <a:gd name="T4" fmla="*/ 163 w 163"/>
                <a:gd name="T5" fmla="*/ 0 h 619"/>
                <a:gd name="T6" fmla="*/ 163 w 163"/>
                <a:gd name="T7" fmla="*/ 619 h 619"/>
                <a:gd name="T8" fmla="*/ 4 w 163"/>
                <a:gd name="T9" fmla="*/ 619 h 619"/>
                <a:gd name="T10" fmla="*/ 4 w 163"/>
                <a:gd name="T11" fmla="*/ 619 h 619"/>
                <a:gd name="T12" fmla="*/ 0 w 163"/>
                <a:gd name="T13" fmla="*/ 619 h 619"/>
                <a:gd name="T14" fmla="*/ 0 60000 65536"/>
                <a:gd name="T15" fmla="*/ 0 60000 65536"/>
                <a:gd name="T16" fmla="*/ 0 60000 65536"/>
                <a:gd name="T17" fmla="*/ 0 60000 65536"/>
                <a:gd name="T18" fmla="*/ 0 60000 65536"/>
                <a:gd name="T19" fmla="*/ 0 60000 65536"/>
                <a:gd name="T20" fmla="*/ 0 60000 65536"/>
                <a:gd name="T21" fmla="*/ 0 w 163"/>
                <a:gd name="T22" fmla="*/ 0 h 619"/>
                <a:gd name="T23" fmla="*/ 163 w 163"/>
                <a:gd name="T24" fmla="*/ 619 h 61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63" h="619">
                  <a:moveTo>
                    <a:pt x="0" y="619"/>
                  </a:moveTo>
                  <a:lnTo>
                    <a:pt x="4" y="0"/>
                  </a:lnTo>
                  <a:lnTo>
                    <a:pt x="163" y="0"/>
                  </a:lnTo>
                  <a:lnTo>
                    <a:pt x="163" y="619"/>
                  </a:lnTo>
                  <a:lnTo>
                    <a:pt x="4" y="619"/>
                  </a:lnTo>
                  <a:lnTo>
                    <a:pt x="0" y="619"/>
                  </a:lnTo>
                  <a:close/>
                </a:path>
              </a:pathLst>
            </a:custGeom>
            <a:solidFill>
              <a:srgbClr val="CCCCCC"/>
            </a:solidFill>
            <a:ln w="9525">
              <a:noFill/>
              <a:round/>
              <a:headEnd/>
              <a:tailEnd/>
            </a:ln>
          </p:spPr>
          <p:txBody>
            <a:bodyPr/>
            <a:lstStyle/>
            <a:p>
              <a:endParaRPr lang="zh-TW" altLang="en-US" sz="1350"/>
            </a:p>
          </p:txBody>
        </p:sp>
        <p:sp>
          <p:nvSpPr>
            <p:cNvPr id="25649" name="Freeform 43"/>
            <p:cNvSpPr>
              <a:spLocks/>
            </p:cNvSpPr>
            <p:nvPr/>
          </p:nvSpPr>
          <p:spPr bwMode="auto">
            <a:xfrm>
              <a:off x="4571" y="3544"/>
              <a:ext cx="163" cy="619"/>
            </a:xfrm>
            <a:custGeom>
              <a:avLst/>
              <a:gdLst>
                <a:gd name="T0" fmla="*/ 0 w 163"/>
                <a:gd name="T1" fmla="*/ 619 h 619"/>
                <a:gd name="T2" fmla="*/ 4 w 163"/>
                <a:gd name="T3" fmla="*/ 0 h 619"/>
                <a:gd name="T4" fmla="*/ 163 w 163"/>
                <a:gd name="T5" fmla="*/ 0 h 619"/>
                <a:gd name="T6" fmla="*/ 163 w 163"/>
                <a:gd name="T7" fmla="*/ 619 h 619"/>
                <a:gd name="T8" fmla="*/ 4 w 163"/>
                <a:gd name="T9" fmla="*/ 619 h 619"/>
                <a:gd name="T10" fmla="*/ 4 w 163"/>
                <a:gd name="T11" fmla="*/ 619 h 619"/>
                <a:gd name="T12" fmla="*/ 0 60000 65536"/>
                <a:gd name="T13" fmla="*/ 0 60000 65536"/>
                <a:gd name="T14" fmla="*/ 0 60000 65536"/>
                <a:gd name="T15" fmla="*/ 0 60000 65536"/>
                <a:gd name="T16" fmla="*/ 0 60000 65536"/>
                <a:gd name="T17" fmla="*/ 0 60000 65536"/>
                <a:gd name="T18" fmla="*/ 0 w 163"/>
                <a:gd name="T19" fmla="*/ 0 h 619"/>
                <a:gd name="T20" fmla="*/ 163 w 163"/>
                <a:gd name="T21" fmla="*/ 619 h 619"/>
              </a:gdLst>
              <a:ahLst/>
              <a:cxnLst>
                <a:cxn ang="T12">
                  <a:pos x="T0" y="T1"/>
                </a:cxn>
                <a:cxn ang="T13">
                  <a:pos x="T2" y="T3"/>
                </a:cxn>
                <a:cxn ang="T14">
                  <a:pos x="T4" y="T5"/>
                </a:cxn>
                <a:cxn ang="T15">
                  <a:pos x="T6" y="T7"/>
                </a:cxn>
                <a:cxn ang="T16">
                  <a:pos x="T8" y="T9"/>
                </a:cxn>
                <a:cxn ang="T17">
                  <a:pos x="T10" y="T11"/>
                </a:cxn>
              </a:cxnLst>
              <a:rect l="T18" t="T19" r="T20" b="T21"/>
              <a:pathLst>
                <a:path w="163" h="619">
                  <a:moveTo>
                    <a:pt x="0" y="619"/>
                  </a:moveTo>
                  <a:lnTo>
                    <a:pt x="4" y="0"/>
                  </a:lnTo>
                  <a:lnTo>
                    <a:pt x="163" y="0"/>
                  </a:lnTo>
                  <a:lnTo>
                    <a:pt x="163" y="619"/>
                  </a:lnTo>
                  <a:lnTo>
                    <a:pt x="4" y="619"/>
                  </a:lnTo>
                </a:path>
              </a:pathLst>
            </a:custGeom>
            <a:noFill/>
            <a:ln w="25400">
              <a:solidFill>
                <a:srgbClr val="000000"/>
              </a:solidFill>
              <a:round/>
              <a:headEnd/>
              <a:tailEnd/>
            </a:ln>
          </p:spPr>
          <p:txBody>
            <a:bodyPr/>
            <a:lstStyle/>
            <a:p>
              <a:endParaRPr lang="zh-TW" altLang="en-US" sz="1350"/>
            </a:p>
          </p:txBody>
        </p:sp>
        <p:sp>
          <p:nvSpPr>
            <p:cNvPr id="25650" name="Freeform 44"/>
            <p:cNvSpPr>
              <a:spLocks/>
            </p:cNvSpPr>
            <p:nvPr/>
          </p:nvSpPr>
          <p:spPr bwMode="auto">
            <a:xfrm>
              <a:off x="3296" y="3544"/>
              <a:ext cx="158" cy="619"/>
            </a:xfrm>
            <a:custGeom>
              <a:avLst/>
              <a:gdLst>
                <a:gd name="T0" fmla="*/ 0 w 158"/>
                <a:gd name="T1" fmla="*/ 619 h 619"/>
                <a:gd name="T2" fmla="*/ 0 w 158"/>
                <a:gd name="T3" fmla="*/ 0 h 619"/>
                <a:gd name="T4" fmla="*/ 158 w 158"/>
                <a:gd name="T5" fmla="*/ 0 h 619"/>
                <a:gd name="T6" fmla="*/ 158 w 158"/>
                <a:gd name="T7" fmla="*/ 619 h 619"/>
                <a:gd name="T8" fmla="*/ 0 w 158"/>
                <a:gd name="T9" fmla="*/ 619 h 619"/>
                <a:gd name="T10" fmla="*/ 0 w 158"/>
                <a:gd name="T11" fmla="*/ 619 h 619"/>
                <a:gd name="T12" fmla="*/ 0 60000 65536"/>
                <a:gd name="T13" fmla="*/ 0 60000 65536"/>
                <a:gd name="T14" fmla="*/ 0 60000 65536"/>
                <a:gd name="T15" fmla="*/ 0 60000 65536"/>
                <a:gd name="T16" fmla="*/ 0 60000 65536"/>
                <a:gd name="T17" fmla="*/ 0 60000 65536"/>
                <a:gd name="T18" fmla="*/ 0 w 158"/>
                <a:gd name="T19" fmla="*/ 0 h 619"/>
                <a:gd name="T20" fmla="*/ 158 w 158"/>
                <a:gd name="T21" fmla="*/ 619 h 619"/>
              </a:gdLst>
              <a:ahLst/>
              <a:cxnLst>
                <a:cxn ang="T12">
                  <a:pos x="T0" y="T1"/>
                </a:cxn>
                <a:cxn ang="T13">
                  <a:pos x="T2" y="T3"/>
                </a:cxn>
                <a:cxn ang="T14">
                  <a:pos x="T4" y="T5"/>
                </a:cxn>
                <a:cxn ang="T15">
                  <a:pos x="T6" y="T7"/>
                </a:cxn>
                <a:cxn ang="T16">
                  <a:pos x="T8" y="T9"/>
                </a:cxn>
                <a:cxn ang="T17">
                  <a:pos x="T10" y="T11"/>
                </a:cxn>
              </a:cxnLst>
              <a:rect l="T18" t="T19" r="T20" b="T21"/>
              <a:pathLst>
                <a:path w="158" h="619">
                  <a:moveTo>
                    <a:pt x="0" y="619"/>
                  </a:moveTo>
                  <a:lnTo>
                    <a:pt x="0" y="0"/>
                  </a:lnTo>
                  <a:lnTo>
                    <a:pt x="158" y="0"/>
                  </a:lnTo>
                  <a:lnTo>
                    <a:pt x="158" y="619"/>
                  </a:lnTo>
                  <a:lnTo>
                    <a:pt x="0" y="619"/>
                  </a:lnTo>
                  <a:close/>
                </a:path>
              </a:pathLst>
            </a:custGeom>
            <a:solidFill>
              <a:srgbClr val="CCCCCC"/>
            </a:solidFill>
            <a:ln w="9525">
              <a:noFill/>
              <a:round/>
              <a:headEnd/>
              <a:tailEnd/>
            </a:ln>
          </p:spPr>
          <p:txBody>
            <a:bodyPr/>
            <a:lstStyle/>
            <a:p>
              <a:endParaRPr lang="zh-TW" altLang="en-US" sz="1350"/>
            </a:p>
          </p:txBody>
        </p:sp>
        <p:sp>
          <p:nvSpPr>
            <p:cNvPr id="25651" name="Freeform 45"/>
            <p:cNvSpPr>
              <a:spLocks/>
            </p:cNvSpPr>
            <p:nvPr/>
          </p:nvSpPr>
          <p:spPr bwMode="auto">
            <a:xfrm>
              <a:off x="3296" y="3544"/>
              <a:ext cx="158" cy="619"/>
            </a:xfrm>
            <a:custGeom>
              <a:avLst/>
              <a:gdLst>
                <a:gd name="T0" fmla="*/ 0 w 158"/>
                <a:gd name="T1" fmla="*/ 619 h 619"/>
                <a:gd name="T2" fmla="*/ 0 w 158"/>
                <a:gd name="T3" fmla="*/ 0 h 619"/>
                <a:gd name="T4" fmla="*/ 158 w 158"/>
                <a:gd name="T5" fmla="*/ 0 h 619"/>
                <a:gd name="T6" fmla="*/ 158 w 158"/>
                <a:gd name="T7" fmla="*/ 619 h 619"/>
                <a:gd name="T8" fmla="*/ 0 w 158"/>
                <a:gd name="T9" fmla="*/ 619 h 619"/>
                <a:gd name="T10" fmla="*/ 0 w 158"/>
                <a:gd name="T11" fmla="*/ 619 h 619"/>
                <a:gd name="T12" fmla="*/ 0 60000 65536"/>
                <a:gd name="T13" fmla="*/ 0 60000 65536"/>
                <a:gd name="T14" fmla="*/ 0 60000 65536"/>
                <a:gd name="T15" fmla="*/ 0 60000 65536"/>
                <a:gd name="T16" fmla="*/ 0 60000 65536"/>
                <a:gd name="T17" fmla="*/ 0 60000 65536"/>
                <a:gd name="T18" fmla="*/ 0 w 158"/>
                <a:gd name="T19" fmla="*/ 0 h 619"/>
                <a:gd name="T20" fmla="*/ 158 w 158"/>
                <a:gd name="T21" fmla="*/ 619 h 619"/>
              </a:gdLst>
              <a:ahLst/>
              <a:cxnLst>
                <a:cxn ang="T12">
                  <a:pos x="T0" y="T1"/>
                </a:cxn>
                <a:cxn ang="T13">
                  <a:pos x="T2" y="T3"/>
                </a:cxn>
                <a:cxn ang="T14">
                  <a:pos x="T4" y="T5"/>
                </a:cxn>
                <a:cxn ang="T15">
                  <a:pos x="T6" y="T7"/>
                </a:cxn>
                <a:cxn ang="T16">
                  <a:pos x="T8" y="T9"/>
                </a:cxn>
                <a:cxn ang="T17">
                  <a:pos x="T10" y="T11"/>
                </a:cxn>
              </a:cxnLst>
              <a:rect l="T18" t="T19" r="T20" b="T21"/>
              <a:pathLst>
                <a:path w="158" h="619">
                  <a:moveTo>
                    <a:pt x="0" y="619"/>
                  </a:moveTo>
                  <a:lnTo>
                    <a:pt x="0" y="0"/>
                  </a:lnTo>
                  <a:lnTo>
                    <a:pt x="158" y="0"/>
                  </a:lnTo>
                  <a:lnTo>
                    <a:pt x="158" y="619"/>
                  </a:lnTo>
                  <a:lnTo>
                    <a:pt x="0" y="619"/>
                  </a:lnTo>
                </a:path>
              </a:pathLst>
            </a:custGeom>
            <a:noFill/>
            <a:ln w="25400">
              <a:solidFill>
                <a:srgbClr val="000000"/>
              </a:solidFill>
              <a:round/>
              <a:headEnd/>
              <a:tailEnd/>
            </a:ln>
          </p:spPr>
          <p:txBody>
            <a:bodyPr/>
            <a:lstStyle/>
            <a:p>
              <a:endParaRPr lang="zh-TW" altLang="en-US" sz="1350"/>
            </a:p>
          </p:txBody>
        </p:sp>
        <p:sp>
          <p:nvSpPr>
            <p:cNvPr id="25652" name="Freeform 46"/>
            <p:cNvSpPr>
              <a:spLocks/>
            </p:cNvSpPr>
            <p:nvPr/>
          </p:nvSpPr>
          <p:spPr bwMode="auto">
            <a:xfrm>
              <a:off x="2016" y="3544"/>
              <a:ext cx="162" cy="619"/>
            </a:xfrm>
            <a:custGeom>
              <a:avLst/>
              <a:gdLst>
                <a:gd name="T0" fmla="*/ 0 w 162"/>
                <a:gd name="T1" fmla="*/ 619 h 619"/>
                <a:gd name="T2" fmla="*/ 0 w 162"/>
                <a:gd name="T3" fmla="*/ 0 h 619"/>
                <a:gd name="T4" fmla="*/ 162 w 162"/>
                <a:gd name="T5" fmla="*/ 0 h 619"/>
                <a:gd name="T6" fmla="*/ 162 w 162"/>
                <a:gd name="T7" fmla="*/ 619 h 619"/>
                <a:gd name="T8" fmla="*/ 0 w 162"/>
                <a:gd name="T9" fmla="*/ 619 h 619"/>
                <a:gd name="T10" fmla="*/ 0 w 162"/>
                <a:gd name="T11" fmla="*/ 619 h 619"/>
                <a:gd name="T12" fmla="*/ 0 60000 65536"/>
                <a:gd name="T13" fmla="*/ 0 60000 65536"/>
                <a:gd name="T14" fmla="*/ 0 60000 65536"/>
                <a:gd name="T15" fmla="*/ 0 60000 65536"/>
                <a:gd name="T16" fmla="*/ 0 60000 65536"/>
                <a:gd name="T17" fmla="*/ 0 60000 65536"/>
                <a:gd name="T18" fmla="*/ 0 w 162"/>
                <a:gd name="T19" fmla="*/ 0 h 619"/>
                <a:gd name="T20" fmla="*/ 162 w 162"/>
                <a:gd name="T21" fmla="*/ 619 h 619"/>
              </a:gdLst>
              <a:ahLst/>
              <a:cxnLst>
                <a:cxn ang="T12">
                  <a:pos x="T0" y="T1"/>
                </a:cxn>
                <a:cxn ang="T13">
                  <a:pos x="T2" y="T3"/>
                </a:cxn>
                <a:cxn ang="T14">
                  <a:pos x="T4" y="T5"/>
                </a:cxn>
                <a:cxn ang="T15">
                  <a:pos x="T6" y="T7"/>
                </a:cxn>
                <a:cxn ang="T16">
                  <a:pos x="T8" y="T9"/>
                </a:cxn>
                <a:cxn ang="T17">
                  <a:pos x="T10" y="T11"/>
                </a:cxn>
              </a:cxnLst>
              <a:rect l="T18" t="T19" r="T20" b="T21"/>
              <a:pathLst>
                <a:path w="162" h="619">
                  <a:moveTo>
                    <a:pt x="0" y="619"/>
                  </a:moveTo>
                  <a:lnTo>
                    <a:pt x="0" y="0"/>
                  </a:lnTo>
                  <a:lnTo>
                    <a:pt x="162" y="0"/>
                  </a:lnTo>
                  <a:lnTo>
                    <a:pt x="162" y="619"/>
                  </a:lnTo>
                  <a:lnTo>
                    <a:pt x="0" y="619"/>
                  </a:lnTo>
                  <a:close/>
                </a:path>
              </a:pathLst>
            </a:custGeom>
            <a:solidFill>
              <a:srgbClr val="CCCCCC"/>
            </a:solidFill>
            <a:ln w="9525">
              <a:noFill/>
              <a:round/>
              <a:headEnd/>
              <a:tailEnd/>
            </a:ln>
          </p:spPr>
          <p:txBody>
            <a:bodyPr/>
            <a:lstStyle/>
            <a:p>
              <a:endParaRPr lang="zh-TW" altLang="en-US" sz="1350"/>
            </a:p>
          </p:txBody>
        </p:sp>
        <p:sp>
          <p:nvSpPr>
            <p:cNvPr id="25653" name="Freeform 47"/>
            <p:cNvSpPr>
              <a:spLocks/>
            </p:cNvSpPr>
            <p:nvPr/>
          </p:nvSpPr>
          <p:spPr bwMode="auto">
            <a:xfrm>
              <a:off x="2016" y="3544"/>
              <a:ext cx="162" cy="619"/>
            </a:xfrm>
            <a:custGeom>
              <a:avLst/>
              <a:gdLst>
                <a:gd name="T0" fmla="*/ 0 w 162"/>
                <a:gd name="T1" fmla="*/ 619 h 619"/>
                <a:gd name="T2" fmla="*/ 0 w 162"/>
                <a:gd name="T3" fmla="*/ 0 h 619"/>
                <a:gd name="T4" fmla="*/ 162 w 162"/>
                <a:gd name="T5" fmla="*/ 0 h 619"/>
                <a:gd name="T6" fmla="*/ 162 w 162"/>
                <a:gd name="T7" fmla="*/ 619 h 619"/>
                <a:gd name="T8" fmla="*/ 0 w 162"/>
                <a:gd name="T9" fmla="*/ 619 h 619"/>
                <a:gd name="T10" fmla="*/ 0 w 162"/>
                <a:gd name="T11" fmla="*/ 619 h 619"/>
                <a:gd name="T12" fmla="*/ 0 60000 65536"/>
                <a:gd name="T13" fmla="*/ 0 60000 65536"/>
                <a:gd name="T14" fmla="*/ 0 60000 65536"/>
                <a:gd name="T15" fmla="*/ 0 60000 65536"/>
                <a:gd name="T16" fmla="*/ 0 60000 65536"/>
                <a:gd name="T17" fmla="*/ 0 60000 65536"/>
                <a:gd name="T18" fmla="*/ 0 w 162"/>
                <a:gd name="T19" fmla="*/ 0 h 619"/>
                <a:gd name="T20" fmla="*/ 162 w 162"/>
                <a:gd name="T21" fmla="*/ 619 h 619"/>
              </a:gdLst>
              <a:ahLst/>
              <a:cxnLst>
                <a:cxn ang="T12">
                  <a:pos x="T0" y="T1"/>
                </a:cxn>
                <a:cxn ang="T13">
                  <a:pos x="T2" y="T3"/>
                </a:cxn>
                <a:cxn ang="T14">
                  <a:pos x="T4" y="T5"/>
                </a:cxn>
                <a:cxn ang="T15">
                  <a:pos x="T6" y="T7"/>
                </a:cxn>
                <a:cxn ang="T16">
                  <a:pos x="T8" y="T9"/>
                </a:cxn>
                <a:cxn ang="T17">
                  <a:pos x="T10" y="T11"/>
                </a:cxn>
              </a:cxnLst>
              <a:rect l="T18" t="T19" r="T20" b="T21"/>
              <a:pathLst>
                <a:path w="162" h="619">
                  <a:moveTo>
                    <a:pt x="0" y="619"/>
                  </a:moveTo>
                  <a:lnTo>
                    <a:pt x="0" y="0"/>
                  </a:lnTo>
                  <a:lnTo>
                    <a:pt x="162" y="0"/>
                  </a:lnTo>
                  <a:lnTo>
                    <a:pt x="162" y="619"/>
                  </a:lnTo>
                  <a:lnTo>
                    <a:pt x="0" y="619"/>
                  </a:lnTo>
                </a:path>
              </a:pathLst>
            </a:custGeom>
            <a:noFill/>
            <a:ln w="25400">
              <a:solidFill>
                <a:srgbClr val="000000"/>
              </a:solidFill>
              <a:round/>
              <a:headEnd/>
              <a:tailEnd/>
            </a:ln>
          </p:spPr>
          <p:txBody>
            <a:bodyPr/>
            <a:lstStyle/>
            <a:p>
              <a:endParaRPr lang="zh-TW" altLang="en-US" sz="1350"/>
            </a:p>
          </p:txBody>
        </p:sp>
        <p:sp>
          <p:nvSpPr>
            <p:cNvPr id="25654" name="Freeform 48"/>
            <p:cNvSpPr>
              <a:spLocks/>
            </p:cNvSpPr>
            <p:nvPr/>
          </p:nvSpPr>
          <p:spPr bwMode="auto">
            <a:xfrm>
              <a:off x="736" y="3544"/>
              <a:ext cx="163" cy="619"/>
            </a:xfrm>
            <a:custGeom>
              <a:avLst/>
              <a:gdLst>
                <a:gd name="T0" fmla="*/ 0 w 163"/>
                <a:gd name="T1" fmla="*/ 619 h 619"/>
                <a:gd name="T2" fmla="*/ 4 w 163"/>
                <a:gd name="T3" fmla="*/ 0 h 619"/>
                <a:gd name="T4" fmla="*/ 163 w 163"/>
                <a:gd name="T5" fmla="*/ 0 h 619"/>
                <a:gd name="T6" fmla="*/ 163 w 163"/>
                <a:gd name="T7" fmla="*/ 619 h 619"/>
                <a:gd name="T8" fmla="*/ 4 w 163"/>
                <a:gd name="T9" fmla="*/ 619 h 619"/>
                <a:gd name="T10" fmla="*/ 4 w 163"/>
                <a:gd name="T11" fmla="*/ 619 h 619"/>
                <a:gd name="T12" fmla="*/ 0 w 163"/>
                <a:gd name="T13" fmla="*/ 619 h 619"/>
                <a:gd name="T14" fmla="*/ 0 60000 65536"/>
                <a:gd name="T15" fmla="*/ 0 60000 65536"/>
                <a:gd name="T16" fmla="*/ 0 60000 65536"/>
                <a:gd name="T17" fmla="*/ 0 60000 65536"/>
                <a:gd name="T18" fmla="*/ 0 60000 65536"/>
                <a:gd name="T19" fmla="*/ 0 60000 65536"/>
                <a:gd name="T20" fmla="*/ 0 60000 65536"/>
                <a:gd name="T21" fmla="*/ 0 w 163"/>
                <a:gd name="T22" fmla="*/ 0 h 619"/>
                <a:gd name="T23" fmla="*/ 163 w 163"/>
                <a:gd name="T24" fmla="*/ 619 h 61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63" h="619">
                  <a:moveTo>
                    <a:pt x="0" y="619"/>
                  </a:moveTo>
                  <a:lnTo>
                    <a:pt x="4" y="0"/>
                  </a:lnTo>
                  <a:lnTo>
                    <a:pt x="163" y="0"/>
                  </a:lnTo>
                  <a:lnTo>
                    <a:pt x="163" y="619"/>
                  </a:lnTo>
                  <a:lnTo>
                    <a:pt x="4" y="619"/>
                  </a:lnTo>
                  <a:lnTo>
                    <a:pt x="0" y="619"/>
                  </a:lnTo>
                  <a:close/>
                </a:path>
              </a:pathLst>
            </a:custGeom>
            <a:solidFill>
              <a:srgbClr val="CCCCCC"/>
            </a:solidFill>
            <a:ln w="9525">
              <a:noFill/>
              <a:round/>
              <a:headEnd/>
              <a:tailEnd/>
            </a:ln>
          </p:spPr>
          <p:txBody>
            <a:bodyPr/>
            <a:lstStyle/>
            <a:p>
              <a:endParaRPr lang="zh-TW" altLang="en-US" sz="1350"/>
            </a:p>
          </p:txBody>
        </p:sp>
        <p:sp>
          <p:nvSpPr>
            <p:cNvPr id="25655" name="Freeform 49"/>
            <p:cNvSpPr>
              <a:spLocks/>
            </p:cNvSpPr>
            <p:nvPr/>
          </p:nvSpPr>
          <p:spPr bwMode="auto">
            <a:xfrm>
              <a:off x="736" y="3544"/>
              <a:ext cx="163" cy="619"/>
            </a:xfrm>
            <a:custGeom>
              <a:avLst/>
              <a:gdLst>
                <a:gd name="T0" fmla="*/ 0 w 163"/>
                <a:gd name="T1" fmla="*/ 619 h 619"/>
                <a:gd name="T2" fmla="*/ 4 w 163"/>
                <a:gd name="T3" fmla="*/ 0 h 619"/>
                <a:gd name="T4" fmla="*/ 163 w 163"/>
                <a:gd name="T5" fmla="*/ 0 h 619"/>
                <a:gd name="T6" fmla="*/ 163 w 163"/>
                <a:gd name="T7" fmla="*/ 619 h 619"/>
                <a:gd name="T8" fmla="*/ 4 w 163"/>
                <a:gd name="T9" fmla="*/ 619 h 619"/>
                <a:gd name="T10" fmla="*/ 4 w 163"/>
                <a:gd name="T11" fmla="*/ 619 h 619"/>
                <a:gd name="T12" fmla="*/ 0 60000 65536"/>
                <a:gd name="T13" fmla="*/ 0 60000 65536"/>
                <a:gd name="T14" fmla="*/ 0 60000 65536"/>
                <a:gd name="T15" fmla="*/ 0 60000 65536"/>
                <a:gd name="T16" fmla="*/ 0 60000 65536"/>
                <a:gd name="T17" fmla="*/ 0 60000 65536"/>
                <a:gd name="T18" fmla="*/ 0 w 163"/>
                <a:gd name="T19" fmla="*/ 0 h 619"/>
                <a:gd name="T20" fmla="*/ 163 w 163"/>
                <a:gd name="T21" fmla="*/ 619 h 619"/>
              </a:gdLst>
              <a:ahLst/>
              <a:cxnLst>
                <a:cxn ang="T12">
                  <a:pos x="T0" y="T1"/>
                </a:cxn>
                <a:cxn ang="T13">
                  <a:pos x="T2" y="T3"/>
                </a:cxn>
                <a:cxn ang="T14">
                  <a:pos x="T4" y="T5"/>
                </a:cxn>
                <a:cxn ang="T15">
                  <a:pos x="T6" y="T7"/>
                </a:cxn>
                <a:cxn ang="T16">
                  <a:pos x="T8" y="T9"/>
                </a:cxn>
                <a:cxn ang="T17">
                  <a:pos x="T10" y="T11"/>
                </a:cxn>
              </a:cxnLst>
              <a:rect l="T18" t="T19" r="T20" b="T21"/>
              <a:pathLst>
                <a:path w="163" h="619">
                  <a:moveTo>
                    <a:pt x="0" y="619"/>
                  </a:moveTo>
                  <a:lnTo>
                    <a:pt x="4" y="0"/>
                  </a:lnTo>
                  <a:lnTo>
                    <a:pt x="163" y="0"/>
                  </a:lnTo>
                  <a:lnTo>
                    <a:pt x="163" y="619"/>
                  </a:lnTo>
                  <a:lnTo>
                    <a:pt x="4" y="619"/>
                  </a:lnTo>
                </a:path>
              </a:pathLst>
            </a:custGeom>
            <a:noFill/>
            <a:ln w="25400">
              <a:solidFill>
                <a:srgbClr val="000000"/>
              </a:solidFill>
              <a:round/>
              <a:headEnd/>
              <a:tailEnd/>
            </a:ln>
          </p:spPr>
          <p:txBody>
            <a:bodyPr/>
            <a:lstStyle/>
            <a:p>
              <a:endParaRPr lang="zh-TW" altLang="en-US" sz="1350"/>
            </a:p>
          </p:txBody>
        </p:sp>
        <p:sp>
          <p:nvSpPr>
            <p:cNvPr id="25656" name="Freeform 50"/>
            <p:cNvSpPr>
              <a:spLocks/>
            </p:cNvSpPr>
            <p:nvPr/>
          </p:nvSpPr>
          <p:spPr bwMode="auto">
            <a:xfrm>
              <a:off x="578" y="3544"/>
              <a:ext cx="5162" cy="619"/>
            </a:xfrm>
            <a:custGeom>
              <a:avLst/>
              <a:gdLst>
                <a:gd name="T0" fmla="*/ 5158 w 5162"/>
                <a:gd name="T1" fmla="*/ 619 h 619"/>
                <a:gd name="T2" fmla="*/ 5162 w 5162"/>
                <a:gd name="T3" fmla="*/ 0 h 619"/>
                <a:gd name="T4" fmla="*/ 0 w 5162"/>
                <a:gd name="T5" fmla="*/ 0 h 619"/>
                <a:gd name="T6" fmla="*/ 0 w 5162"/>
                <a:gd name="T7" fmla="*/ 619 h 619"/>
                <a:gd name="T8" fmla="*/ 5162 w 5162"/>
                <a:gd name="T9" fmla="*/ 619 h 619"/>
                <a:gd name="T10" fmla="*/ 5162 w 5162"/>
                <a:gd name="T11" fmla="*/ 619 h 619"/>
                <a:gd name="T12" fmla="*/ 0 60000 65536"/>
                <a:gd name="T13" fmla="*/ 0 60000 65536"/>
                <a:gd name="T14" fmla="*/ 0 60000 65536"/>
                <a:gd name="T15" fmla="*/ 0 60000 65536"/>
                <a:gd name="T16" fmla="*/ 0 60000 65536"/>
                <a:gd name="T17" fmla="*/ 0 60000 65536"/>
                <a:gd name="T18" fmla="*/ 0 w 5162"/>
                <a:gd name="T19" fmla="*/ 0 h 619"/>
                <a:gd name="T20" fmla="*/ 5162 w 5162"/>
                <a:gd name="T21" fmla="*/ 619 h 619"/>
              </a:gdLst>
              <a:ahLst/>
              <a:cxnLst>
                <a:cxn ang="T12">
                  <a:pos x="T0" y="T1"/>
                </a:cxn>
                <a:cxn ang="T13">
                  <a:pos x="T2" y="T3"/>
                </a:cxn>
                <a:cxn ang="T14">
                  <a:pos x="T4" y="T5"/>
                </a:cxn>
                <a:cxn ang="T15">
                  <a:pos x="T6" y="T7"/>
                </a:cxn>
                <a:cxn ang="T16">
                  <a:pos x="T8" y="T9"/>
                </a:cxn>
                <a:cxn ang="T17">
                  <a:pos x="T10" y="T11"/>
                </a:cxn>
              </a:cxnLst>
              <a:rect l="T18" t="T19" r="T20" b="T21"/>
              <a:pathLst>
                <a:path w="5162" h="619">
                  <a:moveTo>
                    <a:pt x="5158" y="619"/>
                  </a:moveTo>
                  <a:lnTo>
                    <a:pt x="5162" y="0"/>
                  </a:lnTo>
                  <a:lnTo>
                    <a:pt x="0" y="0"/>
                  </a:lnTo>
                  <a:lnTo>
                    <a:pt x="0" y="619"/>
                  </a:lnTo>
                  <a:lnTo>
                    <a:pt x="5162" y="619"/>
                  </a:lnTo>
                </a:path>
              </a:pathLst>
            </a:custGeom>
            <a:noFill/>
            <a:ln w="25400">
              <a:solidFill>
                <a:srgbClr val="000000"/>
              </a:solidFill>
              <a:round/>
              <a:headEnd/>
              <a:tailEnd/>
            </a:ln>
          </p:spPr>
          <p:txBody>
            <a:bodyPr/>
            <a:lstStyle/>
            <a:p>
              <a:endParaRPr lang="zh-TW" altLang="en-US" sz="1350"/>
            </a:p>
          </p:txBody>
        </p:sp>
        <p:sp>
          <p:nvSpPr>
            <p:cNvPr id="25657" name="Freeform 51"/>
            <p:cNvSpPr>
              <a:spLocks/>
            </p:cNvSpPr>
            <p:nvPr/>
          </p:nvSpPr>
          <p:spPr bwMode="auto">
            <a:xfrm>
              <a:off x="2634" y="2879"/>
              <a:ext cx="71" cy="41"/>
            </a:xfrm>
            <a:custGeom>
              <a:avLst/>
              <a:gdLst>
                <a:gd name="T0" fmla="*/ 0 w 71"/>
                <a:gd name="T1" fmla="*/ 13 h 41"/>
                <a:gd name="T2" fmla="*/ 48 w 71"/>
                <a:gd name="T3" fmla="*/ 41 h 41"/>
                <a:gd name="T4" fmla="*/ 71 w 71"/>
                <a:gd name="T5" fmla="*/ 0 h 41"/>
                <a:gd name="T6" fmla="*/ 0 w 71"/>
                <a:gd name="T7" fmla="*/ 13 h 41"/>
                <a:gd name="T8" fmla="*/ 0 w 71"/>
                <a:gd name="T9" fmla="*/ 13 h 41"/>
                <a:gd name="T10" fmla="*/ 0 60000 65536"/>
                <a:gd name="T11" fmla="*/ 0 60000 65536"/>
                <a:gd name="T12" fmla="*/ 0 60000 65536"/>
                <a:gd name="T13" fmla="*/ 0 60000 65536"/>
                <a:gd name="T14" fmla="*/ 0 60000 65536"/>
                <a:gd name="T15" fmla="*/ 0 w 71"/>
                <a:gd name="T16" fmla="*/ 0 h 41"/>
                <a:gd name="T17" fmla="*/ 71 w 71"/>
                <a:gd name="T18" fmla="*/ 41 h 41"/>
              </a:gdLst>
              <a:ahLst/>
              <a:cxnLst>
                <a:cxn ang="T10">
                  <a:pos x="T0" y="T1"/>
                </a:cxn>
                <a:cxn ang="T11">
                  <a:pos x="T2" y="T3"/>
                </a:cxn>
                <a:cxn ang="T12">
                  <a:pos x="T4" y="T5"/>
                </a:cxn>
                <a:cxn ang="T13">
                  <a:pos x="T6" y="T7"/>
                </a:cxn>
                <a:cxn ang="T14">
                  <a:pos x="T8" y="T9"/>
                </a:cxn>
              </a:cxnLst>
              <a:rect l="T15" t="T16" r="T17" b="T18"/>
              <a:pathLst>
                <a:path w="71" h="41">
                  <a:moveTo>
                    <a:pt x="0" y="13"/>
                  </a:moveTo>
                  <a:lnTo>
                    <a:pt x="48" y="41"/>
                  </a:lnTo>
                  <a:lnTo>
                    <a:pt x="71" y="0"/>
                  </a:lnTo>
                  <a:lnTo>
                    <a:pt x="0" y="13"/>
                  </a:lnTo>
                  <a:close/>
                </a:path>
              </a:pathLst>
            </a:custGeom>
            <a:solidFill>
              <a:srgbClr val="000000"/>
            </a:solidFill>
            <a:ln w="9525">
              <a:noFill/>
              <a:round/>
              <a:headEnd/>
              <a:tailEnd/>
            </a:ln>
          </p:spPr>
          <p:txBody>
            <a:bodyPr/>
            <a:lstStyle/>
            <a:p>
              <a:endParaRPr lang="zh-TW" altLang="en-US" sz="1350"/>
            </a:p>
          </p:txBody>
        </p:sp>
        <p:sp>
          <p:nvSpPr>
            <p:cNvPr id="25658" name="Freeform 52"/>
            <p:cNvSpPr>
              <a:spLocks/>
            </p:cNvSpPr>
            <p:nvPr/>
          </p:nvSpPr>
          <p:spPr bwMode="auto">
            <a:xfrm>
              <a:off x="2650" y="2915"/>
              <a:ext cx="67" cy="41"/>
            </a:xfrm>
            <a:custGeom>
              <a:avLst/>
              <a:gdLst>
                <a:gd name="T0" fmla="*/ 0 w 67"/>
                <a:gd name="T1" fmla="*/ 32 h 41"/>
                <a:gd name="T2" fmla="*/ 67 w 67"/>
                <a:gd name="T3" fmla="*/ 41 h 41"/>
                <a:gd name="T4" fmla="*/ 47 w 67"/>
                <a:gd name="T5" fmla="*/ 0 h 41"/>
                <a:gd name="T6" fmla="*/ 4 w 67"/>
                <a:gd name="T7" fmla="*/ 34 h 41"/>
                <a:gd name="T8" fmla="*/ 4 w 67"/>
                <a:gd name="T9" fmla="*/ 34 h 41"/>
                <a:gd name="T10" fmla="*/ 0 w 67"/>
                <a:gd name="T11" fmla="*/ 32 h 41"/>
                <a:gd name="T12" fmla="*/ 0 60000 65536"/>
                <a:gd name="T13" fmla="*/ 0 60000 65536"/>
                <a:gd name="T14" fmla="*/ 0 60000 65536"/>
                <a:gd name="T15" fmla="*/ 0 60000 65536"/>
                <a:gd name="T16" fmla="*/ 0 60000 65536"/>
                <a:gd name="T17" fmla="*/ 0 60000 65536"/>
                <a:gd name="T18" fmla="*/ 0 w 67"/>
                <a:gd name="T19" fmla="*/ 0 h 41"/>
                <a:gd name="T20" fmla="*/ 67 w 67"/>
                <a:gd name="T21" fmla="*/ 41 h 41"/>
              </a:gdLst>
              <a:ahLst/>
              <a:cxnLst>
                <a:cxn ang="T12">
                  <a:pos x="T0" y="T1"/>
                </a:cxn>
                <a:cxn ang="T13">
                  <a:pos x="T2" y="T3"/>
                </a:cxn>
                <a:cxn ang="T14">
                  <a:pos x="T4" y="T5"/>
                </a:cxn>
                <a:cxn ang="T15">
                  <a:pos x="T6" y="T7"/>
                </a:cxn>
                <a:cxn ang="T16">
                  <a:pos x="T8" y="T9"/>
                </a:cxn>
                <a:cxn ang="T17">
                  <a:pos x="T10" y="T11"/>
                </a:cxn>
              </a:cxnLst>
              <a:rect l="T18" t="T19" r="T20" b="T21"/>
              <a:pathLst>
                <a:path w="67" h="41">
                  <a:moveTo>
                    <a:pt x="0" y="32"/>
                  </a:moveTo>
                  <a:lnTo>
                    <a:pt x="67" y="41"/>
                  </a:lnTo>
                  <a:lnTo>
                    <a:pt x="47" y="0"/>
                  </a:lnTo>
                  <a:lnTo>
                    <a:pt x="4" y="34"/>
                  </a:lnTo>
                  <a:lnTo>
                    <a:pt x="0" y="32"/>
                  </a:lnTo>
                  <a:close/>
                </a:path>
              </a:pathLst>
            </a:custGeom>
            <a:solidFill>
              <a:srgbClr val="000000"/>
            </a:solidFill>
            <a:ln w="9525">
              <a:noFill/>
              <a:round/>
              <a:headEnd/>
              <a:tailEnd/>
            </a:ln>
          </p:spPr>
          <p:txBody>
            <a:bodyPr/>
            <a:lstStyle/>
            <a:p>
              <a:endParaRPr lang="zh-TW" altLang="en-US" sz="1350"/>
            </a:p>
          </p:txBody>
        </p:sp>
        <p:sp>
          <p:nvSpPr>
            <p:cNvPr id="25659" name="Freeform 53"/>
            <p:cNvSpPr>
              <a:spLocks/>
            </p:cNvSpPr>
            <p:nvPr/>
          </p:nvSpPr>
          <p:spPr bwMode="auto">
            <a:xfrm>
              <a:off x="2729" y="2931"/>
              <a:ext cx="64" cy="43"/>
            </a:xfrm>
            <a:custGeom>
              <a:avLst/>
              <a:gdLst>
                <a:gd name="T0" fmla="*/ 4 w 64"/>
                <a:gd name="T1" fmla="*/ 43 h 43"/>
                <a:gd name="T2" fmla="*/ 64 w 64"/>
                <a:gd name="T3" fmla="*/ 25 h 43"/>
                <a:gd name="T4" fmla="*/ 0 w 64"/>
                <a:gd name="T5" fmla="*/ 0 h 43"/>
                <a:gd name="T6" fmla="*/ 4 w 64"/>
                <a:gd name="T7" fmla="*/ 43 h 43"/>
                <a:gd name="T8" fmla="*/ 4 w 64"/>
                <a:gd name="T9" fmla="*/ 43 h 43"/>
                <a:gd name="T10" fmla="*/ 0 60000 65536"/>
                <a:gd name="T11" fmla="*/ 0 60000 65536"/>
                <a:gd name="T12" fmla="*/ 0 60000 65536"/>
                <a:gd name="T13" fmla="*/ 0 60000 65536"/>
                <a:gd name="T14" fmla="*/ 0 60000 65536"/>
                <a:gd name="T15" fmla="*/ 0 w 64"/>
                <a:gd name="T16" fmla="*/ 0 h 43"/>
                <a:gd name="T17" fmla="*/ 64 w 64"/>
                <a:gd name="T18" fmla="*/ 43 h 43"/>
              </a:gdLst>
              <a:ahLst/>
              <a:cxnLst>
                <a:cxn ang="T10">
                  <a:pos x="T0" y="T1"/>
                </a:cxn>
                <a:cxn ang="T11">
                  <a:pos x="T2" y="T3"/>
                </a:cxn>
                <a:cxn ang="T12">
                  <a:pos x="T4" y="T5"/>
                </a:cxn>
                <a:cxn ang="T13">
                  <a:pos x="T6" y="T7"/>
                </a:cxn>
                <a:cxn ang="T14">
                  <a:pos x="T8" y="T9"/>
                </a:cxn>
              </a:cxnLst>
              <a:rect l="T15" t="T16" r="T17" b="T18"/>
              <a:pathLst>
                <a:path w="64" h="43">
                  <a:moveTo>
                    <a:pt x="4" y="43"/>
                  </a:moveTo>
                  <a:lnTo>
                    <a:pt x="64" y="25"/>
                  </a:lnTo>
                  <a:lnTo>
                    <a:pt x="0" y="0"/>
                  </a:lnTo>
                  <a:lnTo>
                    <a:pt x="4" y="43"/>
                  </a:lnTo>
                  <a:close/>
                </a:path>
              </a:pathLst>
            </a:custGeom>
            <a:solidFill>
              <a:srgbClr val="000000"/>
            </a:solidFill>
            <a:ln w="9525">
              <a:noFill/>
              <a:round/>
              <a:headEnd/>
              <a:tailEnd/>
            </a:ln>
          </p:spPr>
          <p:txBody>
            <a:bodyPr/>
            <a:lstStyle/>
            <a:p>
              <a:endParaRPr lang="zh-TW" altLang="en-US" sz="1350"/>
            </a:p>
          </p:txBody>
        </p:sp>
        <p:sp>
          <p:nvSpPr>
            <p:cNvPr id="25660" name="Freeform 54"/>
            <p:cNvSpPr>
              <a:spLocks/>
            </p:cNvSpPr>
            <p:nvPr/>
          </p:nvSpPr>
          <p:spPr bwMode="auto">
            <a:xfrm>
              <a:off x="2733" y="2897"/>
              <a:ext cx="75" cy="36"/>
            </a:xfrm>
            <a:custGeom>
              <a:avLst/>
              <a:gdLst>
                <a:gd name="T0" fmla="*/ 32 w 75"/>
                <a:gd name="T1" fmla="*/ 36 h 36"/>
                <a:gd name="T2" fmla="*/ 75 w 75"/>
                <a:gd name="T3" fmla="*/ 7 h 36"/>
                <a:gd name="T4" fmla="*/ 0 w 75"/>
                <a:gd name="T5" fmla="*/ 0 h 36"/>
                <a:gd name="T6" fmla="*/ 32 w 75"/>
                <a:gd name="T7" fmla="*/ 36 h 36"/>
                <a:gd name="T8" fmla="*/ 32 w 75"/>
                <a:gd name="T9" fmla="*/ 36 h 36"/>
                <a:gd name="T10" fmla="*/ 0 60000 65536"/>
                <a:gd name="T11" fmla="*/ 0 60000 65536"/>
                <a:gd name="T12" fmla="*/ 0 60000 65536"/>
                <a:gd name="T13" fmla="*/ 0 60000 65536"/>
                <a:gd name="T14" fmla="*/ 0 60000 65536"/>
                <a:gd name="T15" fmla="*/ 0 w 75"/>
                <a:gd name="T16" fmla="*/ 0 h 36"/>
                <a:gd name="T17" fmla="*/ 75 w 75"/>
                <a:gd name="T18" fmla="*/ 36 h 36"/>
              </a:gdLst>
              <a:ahLst/>
              <a:cxnLst>
                <a:cxn ang="T10">
                  <a:pos x="T0" y="T1"/>
                </a:cxn>
                <a:cxn ang="T11">
                  <a:pos x="T2" y="T3"/>
                </a:cxn>
                <a:cxn ang="T12">
                  <a:pos x="T4" y="T5"/>
                </a:cxn>
                <a:cxn ang="T13">
                  <a:pos x="T6" y="T7"/>
                </a:cxn>
                <a:cxn ang="T14">
                  <a:pos x="T8" y="T9"/>
                </a:cxn>
              </a:cxnLst>
              <a:rect l="T15" t="T16" r="T17" b="T18"/>
              <a:pathLst>
                <a:path w="75" h="36">
                  <a:moveTo>
                    <a:pt x="32" y="36"/>
                  </a:moveTo>
                  <a:lnTo>
                    <a:pt x="75" y="7"/>
                  </a:lnTo>
                  <a:lnTo>
                    <a:pt x="0" y="0"/>
                  </a:lnTo>
                  <a:lnTo>
                    <a:pt x="32" y="36"/>
                  </a:lnTo>
                  <a:close/>
                </a:path>
              </a:pathLst>
            </a:custGeom>
            <a:solidFill>
              <a:srgbClr val="000000"/>
            </a:solidFill>
            <a:ln w="9525">
              <a:noFill/>
              <a:round/>
              <a:headEnd/>
              <a:tailEnd/>
            </a:ln>
          </p:spPr>
          <p:txBody>
            <a:bodyPr/>
            <a:lstStyle/>
            <a:p>
              <a:endParaRPr lang="zh-TW" altLang="en-US" sz="1350"/>
            </a:p>
          </p:txBody>
        </p:sp>
        <p:sp>
          <p:nvSpPr>
            <p:cNvPr id="25661" name="Line 55"/>
            <p:cNvSpPr>
              <a:spLocks noChangeShapeType="1"/>
            </p:cNvSpPr>
            <p:nvPr/>
          </p:nvSpPr>
          <p:spPr bwMode="auto">
            <a:xfrm flipV="1">
              <a:off x="820" y="2897"/>
              <a:ext cx="1858" cy="955"/>
            </a:xfrm>
            <a:prstGeom prst="line">
              <a:avLst/>
            </a:prstGeom>
            <a:noFill/>
            <a:ln w="25400">
              <a:solidFill>
                <a:srgbClr val="000000"/>
              </a:solidFill>
              <a:round/>
              <a:headEnd/>
              <a:tailEnd/>
            </a:ln>
          </p:spPr>
          <p:txBody>
            <a:bodyPr/>
            <a:lstStyle/>
            <a:p>
              <a:endParaRPr lang="zh-TW" altLang="en-US" sz="1350"/>
            </a:p>
          </p:txBody>
        </p:sp>
        <p:sp>
          <p:nvSpPr>
            <p:cNvPr id="25662" name="Line 56"/>
            <p:cNvSpPr>
              <a:spLocks noChangeShapeType="1"/>
            </p:cNvSpPr>
            <p:nvPr/>
          </p:nvSpPr>
          <p:spPr bwMode="auto">
            <a:xfrm flipV="1">
              <a:off x="2095" y="2940"/>
              <a:ext cx="595" cy="912"/>
            </a:xfrm>
            <a:prstGeom prst="line">
              <a:avLst/>
            </a:prstGeom>
            <a:noFill/>
            <a:ln w="25400">
              <a:solidFill>
                <a:srgbClr val="000000"/>
              </a:solidFill>
              <a:round/>
              <a:headEnd/>
              <a:tailEnd/>
            </a:ln>
          </p:spPr>
          <p:txBody>
            <a:bodyPr/>
            <a:lstStyle/>
            <a:p>
              <a:endParaRPr lang="zh-TW" altLang="en-US" sz="1350"/>
            </a:p>
          </p:txBody>
        </p:sp>
        <p:sp>
          <p:nvSpPr>
            <p:cNvPr id="25663" name="Line 57"/>
            <p:cNvSpPr>
              <a:spLocks noChangeShapeType="1"/>
            </p:cNvSpPr>
            <p:nvPr/>
          </p:nvSpPr>
          <p:spPr bwMode="auto">
            <a:xfrm flipH="1" flipV="1">
              <a:off x="2749" y="2953"/>
              <a:ext cx="626" cy="899"/>
            </a:xfrm>
            <a:prstGeom prst="line">
              <a:avLst/>
            </a:prstGeom>
            <a:noFill/>
            <a:ln w="25400">
              <a:solidFill>
                <a:srgbClr val="000000"/>
              </a:solidFill>
              <a:round/>
              <a:headEnd/>
              <a:tailEnd/>
            </a:ln>
          </p:spPr>
          <p:txBody>
            <a:bodyPr/>
            <a:lstStyle/>
            <a:p>
              <a:endParaRPr lang="zh-TW" altLang="en-US" sz="1350"/>
            </a:p>
          </p:txBody>
        </p:sp>
        <p:sp>
          <p:nvSpPr>
            <p:cNvPr id="25664" name="Line 58"/>
            <p:cNvSpPr>
              <a:spLocks noChangeShapeType="1"/>
            </p:cNvSpPr>
            <p:nvPr/>
          </p:nvSpPr>
          <p:spPr bwMode="auto">
            <a:xfrm flipH="1" flipV="1">
              <a:off x="2769" y="2910"/>
              <a:ext cx="1886" cy="942"/>
            </a:xfrm>
            <a:prstGeom prst="line">
              <a:avLst/>
            </a:prstGeom>
            <a:noFill/>
            <a:ln w="25400">
              <a:solidFill>
                <a:srgbClr val="000000"/>
              </a:solidFill>
              <a:round/>
              <a:headEnd/>
              <a:tailEnd/>
            </a:ln>
          </p:spPr>
          <p:txBody>
            <a:bodyPr/>
            <a:lstStyle/>
            <a:p>
              <a:endParaRPr lang="zh-TW" altLang="en-US" sz="1350"/>
            </a:p>
          </p:txBody>
        </p:sp>
        <p:sp>
          <p:nvSpPr>
            <p:cNvPr id="25665" name="Freeform 59"/>
            <p:cNvSpPr>
              <a:spLocks/>
            </p:cNvSpPr>
            <p:nvPr/>
          </p:nvSpPr>
          <p:spPr bwMode="auto">
            <a:xfrm>
              <a:off x="3399" y="2888"/>
              <a:ext cx="67" cy="41"/>
            </a:xfrm>
            <a:custGeom>
              <a:avLst/>
              <a:gdLst>
                <a:gd name="T0" fmla="*/ 67 w 67"/>
                <a:gd name="T1" fmla="*/ 13 h 41"/>
                <a:gd name="T2" fmla="*/ 20 w 67"/>
                <a:gd name="T3" fmla="*/ 41 h 41"/>
                <a:gd name="T4" fmla="*/ 0 w 67"/>
                <a:gd name="T5" fmla="*/ 0 h 41"/>
                <a:gd name="T6" fmla="*/ 67 w 67"/>
                <a:gd name="T7" fmla="*/ 13 h 41"/>
                <a:gd name="T8" fmla="*/ 67 w 67"/>
                <a:gd name="T9" fmla="*/ 13 h 41"/>
                <a:gd name="T10" fmla="*/ 0 60000 65536"/>
                <a:gd name="T11" fmla="*/ 0 60000 65536"/>
                <a:gd name="T12" fmla="*/ 0 60000 65536"/>
                <a:gd name="T13" fmla="*/ 0 60000 65536"/>
                <a:gd name="T14" fmla="*/ 0 60000 65536"/>
                <a:gd name="T15" fmla="*/ 0 w 67"/>
                <a:gd name="T16" fmla="*/ 0 h 41"/>
                <a:gd name="T17" fmla="*/ 67 w 67"/>
                <a:gd name="T18" fmla="*/ 41 h 41"/>
              </a:gdLst>
              <a:ahLst/>
              <a:cxnLst>
                <a:cxn ang="T10">
                  <a:pos x="T0" y="T1"/>
                </a:cxn>
                <a:cxn ang="T11">
                  <a:pos x="T2" y="T3"/>
                </a:cxn>
                <a:cxn ang="T12">
                  <a:pos x="T4" y="T5"/>
                </a:cxn>
                <a:cxn ang="T13">
                  <a:pos x="T6" y="T7"/>
                </a:cxn>
                <a:cxn ang="T14">
                  <a:pos x="T8" y="T9"/>
                </a:cxn>
              </a:cxnLst>
              <a:rect l="T15" t="T16" r="T17" b="T18"/>
              <a:pathLst>
                <a:path w="67" h="41">
                  <a:moveTo>
                    <a:pt x="67" y="13"/>
                  </a:moveTo>
                  <a:lnTo>
                    <a:pt x="20" y="41"/>
                  </a:lnTo>
                  <a:lnTo>
                    <a:pt x="0" y="0"/>
                  </a:lnTo>
                  <a:lnTo>
                    <a:pt x="67" y="13"/>
                  </a:lnTo>
                  <a:close/>
                </a:path>
              </a:pathLst>
            </a:custGeom>
            <a:solidFill>
              <a:srgbClr val="000000"/>
            </a:solidFill>
            <a:ln w="9525">
              <a:noFill/>
              <a:round/>
              <a:headEnd/>
              <a:tailEnd/>
            </a:ln>
          </p:spPr>
          <p:txBody>
            <a:bodyPr/>
            <a:lstStyle/>
            <a:p>
              <a:endParaRPr lang="zh-TW" altLang="en-US" sz="1350"/>
            </a:p>
          </p:txBody>
        </p:sp>
        <p:sp>
          <p:nvSpPr>
            <p:cNvPr id="25666" name="Freeform 60"/>
            <p:cNvSpPr>
              <a:spLocks/>
            </p:cNvSpPr>
            <p:nvPr/>
          </p:nvSpPr>
          <p:spPr bwMode="auto">
            <a:xfrm>
              <a:off x="3371" y="2926"/>
              <a:ext cx="63" cy="41"/>
            </a:xfrm>
            <a:custGeom>
              <a:avLst/>
              <a:gdLst>
                <a:gd name="T0" fmla="*/ 63 w 63"/>
                <a:gd name="T1" fmla="*/ 32 h 41"/>
                <a:gd name="T2" fmla="*/ 0 w 63"/>
                <a:gd name="T3" fmla="*/ 41 h 41"/>
                <a:gd name="T4" fmla="*/ 16 w 63"/>
                <a:gd name="T5" fmla="*/ 0 h 41"/>
                <a:gd name="T6" fmla="*/ 63 w 63"/>
                <a:gd name="T7" fmla="*/ 32 h 41"/>
                <a:gd name="T8" fmla="*/ 63 w 63"/>
                <a:gd name="T9" fmla="*/ 32 h 41"/>
                <a:gd name="T10" fmla="*/ 0 60000 65536"/>
                <a:gd name="T11" fmla="*/ 0 60000 65536"/>
                <a:gd name="T12" fmla="*/ 0 60000 65536"/>
                <a:gd name="T13" fmla="*/ 0 60000 65536"/>
                <a:gd name="T14" fmla="*/ 0 60000 65536"/>
                <a:gd name="T15" fmla="*/ 0 w 63"/>
                <a:gd name="T16" fmla="*/ 0 h 41"/>
                <a:gd name="T17" fmla="*/ 63 w 63"/>
                <a:gd name="T18" fmla="*/ 41 h 41"/>
              </a:gdLst>
              <a:ahLst/>
              <a:cxnLst>
                <a:cxn ang="T10">
                  <a:pos x="T0" y="T1"/>
                </a:cxn>
                <a:cxn ang="T11">
                  <a:pos x="T2" y="T3"/>
                </a:cxn>
                <a:cxn ang="T12">
                  <a:pos x="T4" y="T5"/>
                </a:cxn>
                <a:cxn ang="T13">
                  <a:pos x="T6" y="T7"/>
                </a:cxn>
                <a:cxn ang="T14">
                  <a:pos x="T8" y="T9"/>
                </a:cxn>
              </a:cxnLst>
              <a:rect l="T15" t="T16" r="T17" b="T18"/>
              <a:pathLst>
                <a:path w="63" h="41">
                  <a:moveTo>
                    <a:pt x="63" y="32"/>
                  </a:moveTo>
                  <a:lnTo>
                    <a:pt x="0" y="41"/>
                  </a:lnTo>
                  <a:lnTo>
                    <a:pt x="16" y="0"/>
                  </a:lnTo>
                  <a:lnTo>
                    <a:pt x="63" y="32"/>
                  </a:lnTo>
                  <a:close/>
                </a:path>
              </a:pathLst>
            </a:custGeom>
            <a:solidFill>
              <a:srgbClr val="000000"/>
            </a:solidFill>
            <a:ln w="9525">
              <a:noFill/>
              <a:round/>
              <a:headEnd/>
              <a:tailEnd/>
            </a:ln>
          </p:spPr>
          <p:txBody>
            <a:bodyPr/>
            <a:lstStyle/>
            <a:p>
              <a:endParaRPr lang="zh-TW" altLang="en-US" sz="1350"/>
            </a:p>
          </p:txBody>
        </p:sp>
        <p:sp>
          <p:nvSpPr>
            <p:cNvPr id="25667" name="Freeform 61"/>
            <p:cNvSpPr>
              <a:spLocks/>
            </p:cNvSpPr>
            <p:nvPr/>
          </p:nvSpPr>
          <p:spPr bwMode="auto">
            <a:xfrm>
              <a:off x="3288" y="2931"/>
              <a:ext cx="59" cy="43"/>
            </a:xfrm>
            <a:custGeom>
              <a:avLst/>
              <a:gdLst>
                <a:gd name="T0" fmla="*/ 55 w 59"/>
                <a:gd name="T1" fmla="*/ 43 h 43"/>
                <a:gd name="T2" fmla="*/ 0 w 59"/>
                <a:gd name="T3" fmla="*/ 25 h 43"/>
                <a:gd name="T4" fmla="*/ 59 w 59"/>
                <a:gd name="T5" fmla="*/ 0 h 43"/>
                <a:gd name="T6" fmla="*/ 59 w 59"/>
                <a:gd name="T7" fmla="*/ 43 h 43"/>
                <a:gd name="T8" fmla="*/ 59 w 59"/>
                <a:gd name="T9" fmla="*/ 43 h 43"/>
                <a:gd name="T10" fmla="*/ 55 w 59"/>
                <a:gd name="T11" fmla="*/ 43 h 43"/>
                <a:gd name="T12" fmla="*/ 0 60000 65536"/>
                <a:gd name="T13" fmla="*/ 0 60000 65536"/>
                <a:gd name="T14" fmla="*/ 0 60000 65536"/>
                <a:gd name="T15" fmla="*/ 0 60000 65536"/>
                <a:gd name="T16" fmla="*/ 0 60000 65536"/>
                <a:gd name="T17" fmla="*/ 0 60000 65536"/>
                <a:gd name="T18" fmla="*/ 0 w 59"/>
                <a:gd name="T19" fmla="*/ 0 h 43"/>
                <a:gd name="T20" fmla="*/ 59 w 59"/>
                <a:gd name="T21" fmla="*/ 43 h 43"/>
              </a:gdLst>
              <a:ahLst/>
              <a:cxnLst>
                <a:cxn ang="T12">
                  <a:pos x="T0" y="T1"/>
                </a:cxn>
                <a:cxn ang="T13">
                  <a:pos x="T2" y="T3"/>
                </a:cxn>
                <a:cxn ang="T14">
                  <a:pos x="T4" y="T5"/>
                </a:cxn>
                <a:cxn ang="T15">
                  <a:pos x="T6" y="T7"/>
                </a:cxn>
                <a:cxn ang="T16">
                  <a:pos x="T8" y="T9"/>
                </a:cxn>
                <a:cxn ang="T17">
                  <a:pos x="T10" y="T11"/>
                </a:cxn>
              </a:cxnLst>
              <a:rect l="T18" t="T19" r="T20" b="T21"/>
              <a:pathLst>
                <a:path w="59" h="43">
                  <a:moveTo>
                    <a:pt x="55" y="43"/>
                  </a:moveTo>
                  <a:lnTo>
                    <a:pt x="0" y="25"/>
                  </a:lnTo>
                  <a:lnTo>
                    <a:pt x="59" y="0"/>
                  </a:lnTo>
                  <a:lnTo>
                    <a:pt x="59" y="43"/>
                  </a:lnTo>
                  <a:lnTo>
                    <a:pt x="55" y="43"/>
                  </a:lnTo>
                  <a:close/>
                </a:path>
              </a:pathLst>
            </a:custGeom>
            <a:solidFill>
              <a:srgbClr val="000000"/>
            </a:solidFill>
            <a:ln w="9525">
              <a:noFill/>
              <a:round/>
              <a:headEnd/>
              <a:tailEnd/>
            </a:ln>
          </p:spPr>
          <p:txBody>
            <a:bodyPr/>
            <a:lstStyle/>
            <a:p>
              <a:endParaRPr lang="zh-TW" altLang="en-US" sz="1350"/>
            </a:p>
          </p:txBody>
        </p:sp>
        <p:sp>
          <p:nvSpPr>
            <p:cNvPr id="25668" name="Freeform 62"/>
            <p:cNvSpPr>
              <a:spLocks/>
            </p:cNvSpPr>
            <p:nvPr/>
          </p:nvSpPr>
          <p:spPr bwMode="auto">
            <a:xfrm>
              <a:off x="3240" y="2910"/>
              <a:ext cx="72" cy="39"/>
            </a:xfrm>
            <a:custGeom>
              <a:avLst/>
              <a:gdLst>
                <a:gd name="T0" fmla="*/ 36 w 72"/>
                <a:gd name="T1" fmla="*/ 37 h 39"/>
                <a:gd name="T2" fmla="*/ 0 w 72"/>
                <a:gd name="T3" fmla="*/ 7 h 39"/>
                <a:gd name="T4" fmla="*/ 72 w 72"/>
                <a:gd name="T5" fmla="*/ 0 h 39"/>
                <a:gd name="T6" fmla="*/ 40 w 72"/>
                <a:gd name="T7" fmla="*/ 39 h 39"/>
                <a:gd name="T8" fmla="*/ 40 w 72"/>
                <a:gd name="T9" fmla="*/ 39 h 39"/>
                <a:gd name="T10" fmla="*/ 36 w 72"/>
                <a:gd name="T11" fmla="*/ 37 h 39"/>
                <a:gd name="T12" fmla="*/ 0 60000 65536"/>
                <a:gd name="T13" fmla="*/ 0 60000 65536"/>
                <a:gd name="T14" fmla="*/ 0 60000 65536"/>
                <a:gd name="T15" fmla="*/ 0 60000 65536"/>
                <a:gd name="T16" fmla="*/ 0 60000 65536"/>
                <a:gd name="T17" fmla="*/ 0 60000 65536"/>
                <a:gd name="T18" fmla="*/ 0 w 72"/>
                <a:gd name="T19" fmla="*/ 0 h 39"/>
                <a:gd name="T20" fmla="*/ 72 w 72"/>
                <a:gd name="T21" fmla="*/ 39 h 39"/>
              </a:gdLst>
              <a:ahLst/>
              <a:cxnLst>
                <a:cxn ang="T12">
                  <a:pos x="T0" y="T1"/>
                </a:cxn>
                <a:cxn ang="T13">
                  <a:pos x="T2" y="T3"/>
                </a:cxn>
                <a:cxn ang="T14">
                  <a:pos x="T4" y="T5"/>
                </a:cxn>
                <a:cxn ang="T15">
                  <a:pos x="T6" y="T7"/>
                </a:cxn>
                <a:cxn ang="T16">
                  <a:pos x="T8" y="T9"/>
                </a:cxn>
                <a:cxn ang="T17">
                  <a:pos x="T10" y="T11"/>
                </a:cxn>
              </a:cxnLst>
              <a:rect l="T18" t="T19" r="T20" b="T21"/>
              <a:pathLst>
                <a:path w="72" h="39">
                  <a:moveTo>
                    <a:pt x="36" y="37"/>
                  </a:moveTo>
                  <a:lnTo>
                    <a:pt x="0" y="7"/>
                  </a:lnTo>
                  <a:lnTo>
                    <a:pt x="72" y="0"/>
                  </a:lnTo>
                  <a:lnTo>
                    <a:pt x="40" y="39"/>
                  </a:lnTo>
                  <a:lnTo>
                    <a:pt x="36" y="37"/>
                  </a:lnTo>
                  <a:close/>
                </a:path>
              </a:pathLst>
            </a:custGeom>
            <a:solidFill>
              <a:srgbClr val="000000"/>
            </a:solidFill>
            <a:ln w="9525">
              <a:noFill/>
              <a:round/>
              <a:headEnd/>
              <a:tailEnd/>
            </a:ln>
          </p:spPr>
          <p:txBody>
            <a:bodyPr/>
            <a:lstStyle/>
            <a:p>
              <a:endParaRPr lang="zh-TW" altLang="en-US" sz="1350"/>
            </a:p>
          </p:txBody>
        </p:sp>
        <p:sp>
          <p:nvSpPr>
            <p:cNvPr id="25669" name="Line 63"/>
            <p:cNvSpPr>
              <a:spLocks noChangeShapeType="1"/>
            </p:cNvSpPr>
            <p:nvPr/>
          </p:nvSpPr>
          <p:spPr bwMode="auto">
            <a:xfrm flipV="1">
              <a:off x="1457" y="2924"/>
              <a:ext cx="1823" cy="928"/>
            </a:xfrm>
            <a:prstGeom prst="line">
              <a:avLst/>
            </a:prstGeom>
            <a:noFill/>
            <a:ln w="25400">
              <a:solidFill>
                <a:srgbClr val="000000"/>
              </a:solidFill>
              <a:round/>
              <a:headEnd/>
              <a:tailEnd/>
            </a:ln>
          </p:spPr>
          <p:txBody>
            <a:bodyPr/>
            <a:lstStyle/>
            <a:p>
              <a:endParaRPr lang="zh-TW" altLang="en-US" sz="1350"/>
            </a:p>
          </p:txBody>
        </p:sp>
        <p:sp>
          <p:nvSpPr>
            <p:cNvPr id="25670" name="Line 64"/>
            <p:cNvSpPr>
              <a:spLocks noChangeShapeType="1"/>
            </p:cNvSpPr>
            <p:nvPr/>
          </p:nvSpPr>
          <p:spPr bwMode="auto">
            <a:xfrm flipV="1">
              <a:off x="2737" y="2953"/>
              <a:ext cx="590" cy="899"/>
            </a:xfrm>
            <a:prstGeom prst="line">
              <a:avLst/>
            </a:prstGeom>
            <a:noFill/>
            <a:ln w="25400">
              <a:solidFill>
                <a:srgbClr val="000000"/>
              </a:solidFill>
              <a:round/>
              <a:headEnd/>
              <a:tailEnd/>
            </a:ln>
          </p:spPr>
          <p:txBody>
            <a:bodyPr/>
            <a:lstStyle/>
            <a:p>
              <a:endParaRPr lang="zh-TW" altLang="en-US" sz="1350"/>
            </a:p>
          </p:txBody>
        </p:sp>
        <p:sp>
          <p:nvSpPr>
            <p:cNvPr id="25671" name="Line 65"/>
            <p:cNvSpPr>
              <a:spLocks noChangeShapeType="1"/>
            </p:cNvSpPr>
            <p:nvPr/>
          </p:nvSpPr>
          <p:spPr bwMode="auto">
            <a:xfrm flipH="1" flipV="1">
              <a:off x="3399" y="2949"/>
              <a:ext cx="618" cy="903"/>
            </a:xfrm>
            <a:prstGeom prst="line">
              <a:avLst/>
            </a:prstGeom>
            <a:noFill/>
            <a:ln w="25400">
              <a:solidFill>
                <a:srgbClr val="000000"/>
              </a:solidFill>
              <a:round/>
              <a:headEnd/>
              <a:tailEnd/>
            </a:ln>
          </p:spPr>
          <p:txBody>
            <a:bodyPr/>
            <a:lstStyle/>
            <a:p>
              <a:endParaRPr lang="zh-TW" altLang="en-US" sz="1350"/>
            </a:p>
          </p:txBody>
        </p:sp>
        <p:sp>
          <p:nvSpPr>
            <p:cNvPr id="25672" name="Line 66"/>
            <p:cNvSpPr>
              <a:spLocks noChangeShapeType="1"/>
            </p:cNvSpPr>
            <p:nvPr/>
          </p:nvSpPr>
          <p:spPr bwMode="auto">
            <a:xfrm flipH="1" flipV="1">
              <a:off x="3426" y="2906"/>
              <a:ext cx="1870" cy="946"/>
            </a:xfrm>
            <a:prstGeom prst="line">
              <a:avLst/>
            </a:prstGeom>
            <a:noFill/>
            <a:ln w="25400">
              <a:solidFill>
                <a:srgbClr val="000000"/>
              </a:solidFill>
              <a:round/>
              <a:headEnd/>
              <a:tailEnd/>
            </a:ln>
          </p:spPr>
          <p:txBody>
            <a:bodyPr/>
            <a:lstStyle/>
            <a:p>
              <a:endParaRPr lang="zh-TW" altLang="en-US" sz="1350"/>
            </a:p>
          </p:txBody>
        </p:sp>
        <p:sp>
          <p:nvSpPr>
            <p:cNvPr id="25673" name="Freeform 67"/>
            <p:cNvSpPr>
              <a:spLocks/>
            </p:cNvSpPr>
            <p:nvPr/>
          </p:nvSpPr>
          <p:spPr bwMode="auto">
            <a:xfrm>
              <a:off x="788" y="3834"/>
              <a:ext cx="67" cy="39"/>
            </a:xfrm>
            <a:custGeom>
              <a:avLst/>
              <a:gdLst>
                <a:gd name="T0" fmla="*/ 32 w 67"/>
                <a:gd name="T1" fmla="*/ 39 h 39"/>
                <a:gd name="T2" fmla="*/ 39 w 67"/>
                <a:gd name="T3" fmla="*/ 39 h 39"/>
                <a:gd name="T4" fmla="*/ 43 w 67"/>
                <a:gd name="T5" fmla="*/ 39 h 39"/>
                <a:gd name="T6" fmla="*/ 47 w 67"/>
                <a:gd name="T7" fmla="*/ 36 h 39"/>
                <a:gd name="T8" fmla="*/ 51 w 67"/>
                <a:gd name="T9" fmla="*/ 34 h 39"/>
                <a:gd name="T10" fmla="*/ 55 w 67"/>
                <a:gd name="T11" fmla="*/ 34 h 39"/>
                <a:gd name="T12" fmla="*/ 59 w 67"/>
                <a:gd name="T13" fmla="*/ 32 h 39"/>
                <a:gd name="T14" fmla="*/ 63 w 67"/>
                <a:gd name="T15" fmla="*/ 27 h 39"/>
                <a:gd name="T16" fmla="*/ 63 w 67"/>
                <a:gd name="T17" fmla="*/ 25 h 39"/>
                <a:gd name="T18" fmla="*/ 63 w 67"/>
                <a:gd name="T19" fmla="*/ 23 h 39"/>
                <a:gd name="T20" fmla="*/ 67 w 67"/>
                <a:gd name="T21" fmla="*/ 21 h 39"/>
                <a:gd name="T22" fmla="*/ 63 w 67"/>
                <a:gd name="T23" fmla="*/ 16 h 39"/>
                <a:gd name="T24" fmla="*/ 63 w 67"/>
                <a:gd name="T25" fmla="*/ 14 h 39"/>
                <a:gd name="T26" fmla="*/ 63 w 67"/>
                <a:gd name="T27" fmla="*/ 12 h 39"/>
                <a:gd name="T28" fmla="*/ 59 w 67"/>
                <a:gd name="T29" fmla="*/ 9 h 39"/>
                <a:gd name="T30" fmla="*/ 55 w 67"/>
                <a:gd name="T31" fmla="*/ 7 h 39"/>
                <a:gd name="T32" fmla="*/ 51 w 67"/>
                <a:gd name="T33" fmla="*/ 5 h 39"/>
                <a:gd name="T34" fmla="*/ 47 w 67"/>
                <a:gd name="T35" fmla="*/ 3 h 39"/>
                <a:gd name="T36" fmla="*/ 43 w 67"/>
                <a:gd name="T37" fmla="*/ 3 h 39"/>
                <a:gd name="T38" fmla="*/ 39 w 67"/>
                <a:gd name="T39" fmla="*/ 0 h 39"/>
                <a:gd name="T40" fmla="*/ 32 w 67"/>
                <a:gd name="T41" fmla="*/ 0 h 39"/>
                <a:gd name="T42" fmla="*/ 28 w 67"/>
                <a:gd name="T43" fmla="*/ 0 h 39"/>
                <a:gd name="T44" fmla="*/ 24 w 67"/>
                <a:gd name="T45" fmla="*/ 3 h 39"/>
                <a:gd name="T46" fmla="*/ 16 w 67"/>
                <a:gd name="T47" fmla="*/ 3 h 39"/>
                <a:gd name="T48" fmla="*/ 12 w 67"/>
                <a:gd name="T49" fmla="*/ 5 h 39"/>
                <a:gd name="T50" fmla="*/ 8 w 67"/>
                <a:gd name="T51" fmla="*/ 7 h 39"/>
                <a:gd name="T52" fmla="*/ 8 w 67"/>
                <a:gd name="T53" fmla="*/ 9 h 39"/>
                <a:gd name="T54" fmla="*/ 4 w 67"/>
                <a:gd name="T55" fmla="*/ 12 h 39"/>
                <a:gd name="T56" fmla="*/ 0 w 67"/>
                <a:gd name="T57" fmla="*/ 14 h 39"/>
                <a:gd name="T58" fmla="*/ 0 w 67"/>
                <a:gd name="T59" fmla="*/ 16 h 39"/>
                <a:gd name="T60" fmla="*/ 0 w 67"/>
                <a:gd name="T61" fmla="*/ 21 h 39"/>
                <a:gd name="T62" fmla="*/ 0 w 67"/>
                <a:gd name="T63" fmla="*/ 23 h 39"/>
                <a:gd name="T64" fmla="*/ 0 w 67"/>
                <a:gd name="T65" fmla="*/ 25 h 39"/>
                <a:gd name="T66" fmla="*/ 4 w 67"/>
                <a:gd name="T67" fmla="*/ 27 h 39"/>
                <a:gd name="T68" fmla="*/ 8 w 67"/>
                <a:gd name="T69" fmla="*/ 32 h 39"/>
                <a:gd name="T70" fmla="*/ 8 w 67"/>
                <a:gd name="T71" fmla="*/ 34 h 39"/>
                <a:gd name="T72" fmla="*/ 12 w 67"/>
                <a:gd name="T73" fmla="*/ 34 h 39"/>
                <a:gd name="T74" fmla="*/ 16 w 67"/>
                <a:gd name="T75" fmla="*/ 36 h 39"/>
                <a:gd name="T76" fmla="*/ 24 w 67"/>
                <a:gd name="T77" fmla="*/ 39 h 39"/>
                <a:gd name="T78" fmla="*/ 28 w 67"/>
                <a:gd name="T79" fmla="*/ 39 h 39"/>
                <a:gd name="T80" fmla="*/ 32 w 67"/>
                <a:gd name="T81" fmla="*/ 39 h 39"/>
                <a:gd name="T82" fmla="*/ 32 w 67"/>
                <a:gd name="T83" fmla="*/ 39 h 39"/>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w 67"/>
                <a:gd name="T127" fmla="*/ 0 h 39"/>
                <a:gd name="T128" fmla="*/ 67 w 67"/>
                <a:gd name="T129" fmla="*/ 39 h 39"/>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T126" t="T127" r="T128" b="T129"/>
              <a:pathLst>
                <a:path w="67" h="39">
                  <a:moveTo>
                    <a:pt x="32" y="39"/>
                  </a:moveTo>
                  <a:lnTo>
                    <a:pt x="39" y="39"/>
                  </a:lnTo>
                  <a:lnTo>
                    <a:pt x="43" y="39"/>
                  </a:lnTo>
                  <a:lnTo>
                    <a:pt x="47" y="36"/>
                  </a:lnTo>
                  <a:lnTo>
                    <a:pt x="51" y="34"/>
                  </a:lnTo>
                  <a:lnTo>
                    <a:pt x="55" y="34"/>
                  </a:lnTo>
                  <a:lnTo>
                    <a:pt x="59" y="32"/>
                  </a:lnTo>
                  <a:lnTo>
                    <a:pt x="63" y="27"/>
                  </a:lnTo>
                  <a:lnTo>
                    <a:pt x="63" y="25"/>
                  </a:lnTo>
                  <a:lnTo>
                    <a:pt x="63" y="23"/>
                  </a:lnTo>
                  <a:lnTo>
                    <a:pt x="67" y="21"/>
                  </a:lnTo>
                  <a:lnTo>
                    <a:pt x="63" y="16"/>
                  </a:lnTo>
                  <a:lnTo>
                    <a:pt x="63" y="14"/>
                  </a:lnTo>
                  <a:lnTo>
                    <a:pt x="63" y="12"/>
                  </a:lnTo>
                  <a:lnTo>
                    <a:pt x="59" y="9"/>
                  </a:lnTo>
                  <a:lnTo>
                    <a:pt x="55" y="7"/>
                  </a:lnTo>
                  <a:lnTo>
                    <a:pt x="51" y="5"/>
                  </a:lnTo>
                  <a:lnTo>
                    <a:pt x="47" y="3"/>
                  </a:lnTo>
                  <a:lnTo>
                    <a:pt x="43" y="3"/>
                  </a:lnTo>
                  <a:lnTo>
                    <a:pt x="39" y="0"/>
                  </a:lnTo>
                  <a:lnTo>
                    <a:pt x="32" y="0"/>
                  </a:lnTo>
                  <a:lnTo>
                    <a:pt x="28" y="0"/>
                  </a:lnTo>
                  <a:lnTo>
                    <a:pt x="24" y="3"/>
                  </a:lnTo>
                  <a:lnTo>
                    <a:pt x="16" y="3"/>
                  </a:lnTo>
                  <a:lnTo>
                    <a:pt x="12" y="5"/>
                  </a:lnTo>
                  <a:lnTo>
                    <a:pt x="8" y="7"/>
                  </a:lnTo>
                  <a:lnTo>
                    <a:pt x="8" y="9"/>
                  </a:lnTo>
                  <a:lnTo>
                    <a:pt x="4" y="12"/>
                  </a:lnTo>
                  <a:lnTo>
                    <a:pt x="0" y="14"/>
                  </a:lnTo>
                  <a:lnTo>
                    <a:pt x="0" y="16"/>
                  </a:lnTo>
                  <a:lnTo>
                    <a:pt x="0" y="21"/>
                  </a:lnTo>
                  <a:lnTo>
                    <a:pt x="0" y="23"/>
                  </a:lnTo>
                  <a:lnTo>
                    <a:pt x="0" y="25"/>
                  </a:lnTo>
                  <a:lnTo>
                    <a:pt x="4" y="27"/>
                  </a:lnTo>
                  <a:lnTo>
                    <a:pt x="8" y="32"/>
                  </a:lnTo>
                  <a:lnTo>
                    <a:pt x="8" y="34"/>
                  </a:lnTo>
                  <a:lnTo>
                    <a:pt x="12" y="34"/>
                  </a:lnTo>
                  <a:lnTo>
                    <a:pt x="16" y="36"/>
                  </a:lnTo>
                  <a:lnTo>
                    <a:pt x="24" y="39"/>
                  </a:lnTo>
                  <a:lnTo>
                    <a:pt x="28" y="39"/>
                  </a:lnTo>
                  <a:lnTo>
                    <a:pt x="32" y="39"/>
                  </a:lnTo>
                  <a:close/>
                </a:path>
              </a:pathLst>
            </a:custGeom>
            <a:solidFill>
              <a:srgbClr val="000000"/>
            </a:solidFill>
            <a:ln w="9525">
              <a:noFill/>
              <a:round/>
              <a:headEnd/>
              <a:tailEnd/>
            </a:ln>
          </p:spPr>
          <p:txBody>
            <a:bodyPr/>
            <a:lstStyle/>
            <a:p>
              <a:endParaRPr lang="zh-TW" altLang="en-US" sz="1350"/>
            </a:p>
          </p:txBody>
        </p:sp>
        <p:sp>
          <p:nvSpPr>
            <p:cNvPr id="25674" name="Freeform 68"/>
            <p:cNvSpPr>
              <a:spLocks/>
            </p:cNvSpPr>
            <p:nvPr/>
          </p:nvSpPr>
          <p:spPr bwMode="auto">
            <a:xfrm>
              <a:off x="1426" y="3834"/>
              <a:ext cx="67" cy="39"/>
            </a:xfrm>
            <a:custGeom>
              <a:avLst/>
              <a:gdLst>
                <a:gd name="T0" fmla="*/ 31 w 67"/>
                <a:gd name="T1" fmla="*/ 39 h 39"/>
                <a:gd name="T2" fmla="*/ 39 w 67"/>
                <a:gd name="T3" fmla="*/ 39 h 39"/>
                <a:gd name="T4" fmla="*/ 43 w 67"/>
                <a:gd name="T5" fmla="*/ 39 h 39"/>
                <a:gd name="T6" fmla="*/ 51 w 67"/>
                <a:gd name="T7" fmla="*/ 36 h 39"/>
                <a:gd name="T8" fmla="*/ 55 w 67"/>
                <a:gd name="T9" fmla="*/ 34 h 39"/>
                <a:gd name="T10" fmla="*/ 59 w 67"/>
                <a:gd name="T11" fmla="*/ 34 h 39"/>
                <a:gd name="T12" fmla="*/ 59 w 67"/>
                <a:gd name="T13" fmla="*/ 32 h 39"/>
                <a:gd name="T14" fmla="*/ 63 w 67"/>
                <a:gd name="T15" fmla="*/ 27 h 39"/>
                <a:gd name="T16" fmla="*/ 67 w 67"/>
                <a:gd name="T17" fmla="*/ 25 h 39"/>
                <a:gd name="T18" fmla="*/ 67 w 67"/>
                <a:gd name="T19" fmla="*/ 23 h 39"/>
                <a:gd name="T20" fmla="*/ 67 w 67"/>
                <a:gd name="T21" fmla="*/ 21 h 39"/>
                <a:gd name="T22" fmla="*/ 67 w 67"/>
                <a:gd name="T23" fmla="*/ 16 h 39"/>
                <a:gd name="T24" fmla="*/ 67 w 67"/>
                <a:gd name="T25" fmla="*/ 14 h 39"/>
                <a:gd name="T26" fmla="*/ 63 w 67"/>
                <a:gd name="T27" fmla="*/ 12 h 39"/>
                <a:gd name="T28" fmla="*/ 59 w 67"/>
                <a:gd name="T29" fmla="*/ 9 h 39"/>
                <a:gd name="T30" fmla="*/ 59 w 67"/>
                <a:gd name="T31" fmla="*/ 7 h 39"/>
                <a:gd name="T32" fmla="*/ 55 w 67"/>
                <a:gd name="T33" fmla="*/ 5 h 39"/>
                <a:gd name="T34" fmla="*/ 51 w 67"/>
                <a:gd name="T35" fmla="*/ 3 h 39"/>
                <a:gd name="T36" fmla="*/ 43 w 67"/>
                <a:gd name="T37" fmla="*/ 3 h 39"/>
                <a:gd name="T38" fmla="*/ 39 w 67"/>
                <a:gd name="T39" fmla="*/ 0 h 39"/>
                <a:gd name="T40" fmla="*/ 35 w 67"/>
                <a:gd name="T41" fmla="*/ 0 h 39"/>
                <a:gd name="T42" fmla="*/ 27 w 67"/>
                <a:gd name="T43" fmla="*/ 0 h 39"/>
                <a:gd name="T44" fmla="*/ 23 w 67"/>
                <a:gd name="T45" fmla="*/ 3 h 39"/>
                <a:gd name="T46" fmla="*/ 20 w 67"/>
                <a:gd name="T47" fmla="*/ 3 h 39"/>
                <a:gd name="T48" fmla="*/ 16 w 67"/>
                <a:gd name="T49" fmla="*/ 5 h 39"/>
                <a:gd name="T50" fmla="*/ 12 w 67"/>
                <a:gd name="T51" fmla="*/ 7 h 39"/>
                <a:gd name="T52" fmla="*/ 8 w 67"/>
                <a:gd name="T53" fmla="*/ 9 h 39"/>
                <a:gd name="T54" fmla="*/ 4 w 67"/>
                <a:gd name="T55" fmla="*/ 12 h 39"/>
                <a:gd name="T56" fmla="*/ 4 w 67"/>
                <a:gd name="T57" fmla="*/ 14 h 39"/>
                <a:gd name="T58" fmla="*/ 0 w 67"/>
                <a:gd name="T59" fmla="*/ 16 h 39"/>
                <a:gd name="T60" fmla="*/ 0 w 67"/>
                <a:gd name="T61" fmla="*/ 21 h 39"/>
                <a:gd name="T62" fmla="*/ 0 w 67"/>
                <a:gd name="T63" fmla="*/ 23 h 39"/>
                <a:gd name="T64" fmla="*/ 4 w 67"/>
                <a:gd name="T65" fmla="*/ 25 h 39"/>
                <a:gd name="T66" fmla="*/ 4 w 67"/>
                <a:gd name="T67" fmla="*/ 27 h 39"/>
                <a:gd name="T68" fmla="*/ 8 w 67"/>
                <a:gd name="T69" fmla="*/ 32 h 39"/>
                <a:gd name="T70" fmla="*/ 12 w 67"/>
                <a:gd name="T71" fmla="*/ 34 h 39"/>
                <a:gd name="T72" fmla="*/ 16 w 67"/>
                <a:gd name="T73" fmla="*/ 34 h 39"/>
                <a:gd name="T74" fmla="*/ 20 w 67"/>
                <a:gd name="T75" fmla="*/ 36 h 39"/>
                <a:gd name="T76" fmla="*/ 23 w 67"/>
                <a:gd name="T77" fmla="*/ 39 h 39"/>
                <a:gd name="T78" fmla="*/ 27 w 67"/>
                <a:gd name="T79" fmla="*/ 39 h 39"/>
                <a:gd name="T80" fmla="*/ 35 w 67"/>
                <a:gd name="T81" fmla="*/ 39 h 39"/>
                <a:gd name="T82" fmla="*/ 35 w 67"/>
                <a:gd name="T83" fmla="*/ 39 h 39"/>
                <a:gd name="T84" fmla="*/ 31 w 67"/>
                <a:gd name="T85" fmla="*/ 39 h 39"/>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w 67"/>
                <a:gd name="T130" fmla="*/ 0 h 39"/>
                <a:gd name="T131" fmla="*/ 67 w 67"/>
                <a:gd name="T132" fmla="*/ 39 h 39"/>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T129" t="T130" r="T131" b="T132"/>
              <a:pathLst>
                <a:path w="67" h="39">
                  <a:moveTo>
                    <a:pt x="31" y="39"/>
                  </a:moveTo>
                  <a:lnTo>
                    <a:pt x="39" y="39"/>
                  </a:lnTo>
                  <a:lnTo>
                    <a:pt x="43" y="39"/>
                  </a:lnTo>
                  <a:lnTo>
                    <a:pt x="51" y="36"/>
                  </a:lnTo>
                  <a:lnTo>
                    <a:pt x="55" y="34"/>
                  </a:lnTo>
                  <a:lnTo>
                    <a:pt x="59" y="34"/>
                  </a:lnTo>
                  <a:lnTo>
                    <a:pt x="59" y="32"/>
                  </a:lnTo>
                  <a:lnTo>
                    <a:pt x="63" y="27"/>
                  </a:lnTo>
                  <a:lnTo>
                    <a:pt x="67" y="25"/>
                  </a:lnTo>
                  <a:lnTo>
                    <a:pt x="67" y="23"/>
                  </a:lnTo>
                  <a:lnTo>
                    <a:pt x="67" y="21"/>
                  </a:lnTo>
                  <a:lnTo>
                    <a:pt x="67" y="16"/>
                  </a:lnTo>
                  <a:lnTo>
                    <a:pt x="67" y="14"/>
                  </a:lnTo>
                  <a:lnTo>
                    <a:pt x="63" y="12"/>
                  </a:lnTo>
                  <a:lnTo>
                    <a:pt x="59" y="9"/>
                  </a:lnTo>
                  <a:lnTo>
                    <a:pt x="59" y="7"/>
                  </a:lnTo>
                  <a:lnTo>
                    <a:pt x="55" y="5"/>
                  </a:lnTo>
                  <a:lnTo>
                    <a:pt x="51" y="3"/>
                  </a:lnTo>
                  <a:lnTo>
                    <a:pt x="43" y="3"/>
                  </a:lnTo>
                  <a:lnTo>
                    <a:pt x="39" y="0"/>
                  </a:lnTo>
                  <a:lnTo>
                    <a:pt x="35" y="0"/>
                  </a:lnTo>
                  <a:lnTo>
                    <a:pt x="27" y="0"/>
                  </a:lnTo>
                  <a:lnTo>
                    <a:pt x="23" y="3"/>
                  </a:lnTo>
                  <a:lnTo>
                    <a:pt x="20" y="3"/>
                  </a:lnTo>
                  <a:lnTo>
                    <a:pt x="16" y="5"/>
                  </a:lnTo>
                  <a:lnTo>
                    <a:pt x="12" y="7"/>
                  </a:lnTo>
                  <a:lnTo>
                    <a:pt x="8" y="9"/>
                  </a:lnTo>
                  <a:lnTo>
                    <a:pt x="4" y="12"/>
                  </a:lnTo>
                  <a:lnTo>
                    <a:pt x="4" y="14"/>
                  </a:lnTo>
                  <a:lnTo>
                    <a:pt x="0" y="16"/>
                  </a:lnTo>
                  <a:lnTo>
                    <a:pt x="0" y="21"/>
                  </a:lnTo>
                  <a:lnTo>
                    <a:pt x="0" y="23"/>
                  </a:lnTo>
                  <a:lnTo>
                    <a:pt x="4" y="25"/>
                  </a:lnTo>
                  <a:lnTo>
                    <a:pt x="4" y="27"/>
                  </a:lnTo>
                  <a:lnTo>
                    <a:pt x="8" y="32"/>
                  </a:lnTo>
                  <a:lnTo>
                    <a:pt x="12" y="34"/>
                  </a:lnTo>
                  <a:lnTo>
                    <a:pt x="16" y="34"/>
                  </a:lnTo>
                  <a:lnTo>
                    <a:pt x="20" y="36"/>
                  </a:lnTo>
                  <a:lnTo>
                    <a:pt x="23" y="39"/>
                  </a:lnTo>
                  <a:lnTo>
                    <a:pt x="27" y="39"/>
                  </a:lnTo>
                  <a:lnTo>
                    <a:pt x="35" y="39"/>
                  </a:lnTo>
                  <a:lnTo>
                    <a:pt x="31" y="39"/>
                  </a:lnTo>
                  <a:close/>
                </a:path>
              </a:pathLst>
            </a:custGeom>
            <a:solidFill>
              <a:srgbClr val="000000"/>
            </a:solidFill>
            <a:ln w="9525">
              <a:noFill/>
              <a:round/>
              <a:headEnd/>
              <a:tailEnd/>
            </a:ln>
          </p:spPr>
          <p:txBody>
            <a:bodyPr/>
            <a:lstStyle/>
            <a:p>
              <a:endParaRPr lang="zh-TW" altLang="en-US" sz="1350"/>
            </a:p>
          </p:txBody>
        </p:sp>
        <p:sp>
          <p:nvSpPr>
            <p:cNvPr id="25675" name="Freeform 69"/>
            <p:cNvSpPr>
              <a:spLocks/>
            </p:cNvSpPr>
            <p:nvPr/>
          </p:nvSpPr>
          <p:spPr bwMode="auto">
            <a:xfrm>
              <a:off x="2068" y="3834"/>
              <a:ext cx="63" cy="39"/>
            </a:xfrm>
            <a:custGeom>
              <a:avLst/>
              <a:gdLst>
                <a:gd name="T0" fmla="*/ 31 w 63"/>
                <a:gd name="T1" fmla="*/ 39 h 39"/>
                <a:gd name="T2" fmla="*/ 39 w 63"/>
                <a:gd name="T3" fmla="*/ 39 h 39"/>
                <a:gd name="T4" fmla="*/ 43 w 63"/>
                <a:gd name="T5" fmla="*/ 39 h 39"/>
                <a:gd name="T6" fmla="*/ 47 w 63"/>
                <a:gd name="T7" fmla="*/ 36 h 39"/>
                <a:gd name="T8" fmla="*/ 51 w 63"/>
                <a:gd name="T9" fmla="*/ 34 h 39"/>
                <a:gd name="T10" fmla="*/ 55 w 63"/>
                <a:gd name="T11" fmla="*/ 34 h 39"/>
                <a:gd name="T12" fmla="*/ 59 w 63"/>
                <a:gd name="T13" fmla="*/ 32 h 39"/>
                <a:gd name="T14" fmla="*/ 63 w 63"/>
                <a:gd name="T15" fmla="*/ 27 h 39"/>
                <a:gd name="T16" fmla="*/ 63 w 63"/>
                <a:gd name="T17" fmla="*/ 25 h 39"/>
                <a:gd name="T18" fmla="*/ 63 w 63"/>
                <a:gd name="T19" fmla="*/ 23 h 39"/>
                <a:gd name="T20" fmla="*/ 63 w 63"/>
                <a:gd name="T21" fmla="*/ 21 h 39"/>
                <a:gd name="T22" fmla="*/ 63 w 63"/>
                <a:gd name="T23" fmla="*/ 16 h 39"/>
                <a:gd name="T24" fmla="*/ 63 w 63"/>
                <a:gd name="T25" fmla="*/ 14 h 39"/>
                <a:gd name="T26" fmla="*/ 63 w 63"/>
                <a:gd name="T27" fmla="*/ 12 h 39"/>
                <a:gd name="T28" fmla="*/ 59 w 63"/>
                <a:gd name="T29" fmla="*/ 9 h 39"/>
                <a:gd name="T30" fmla="*/ 55 w 63"/>
                <a:gd name="T31" fmla="*/ 7 h 39"/>
                <a:gd name="T32" fmla="*/ 51 w 63"/>
                <a:gd name="T33" fmla="*/ 5 h 39"/>
                <a:gd name="T34" fmla="*/ 47 w 63"/>
                <a:gd name="T35" fmla="*/ 3 h 39"/>
                <a:gd name="T36" fmla="*/ 43 w 63"/>
                <a:gd name="T37" fmla="*/ 3 h 39"/>
                <a:gd name="T38" fmla="*/ 39 w 63"/>
                <a:gd name="T39" fmla="*/ 0 h 39"/>
                <a:gd name="T40" fmla="*/ 31 w 63"/>
                <a:gd name="T41" fmla="*/ 0 h 39"/>
                <a:gd name="T42" fmla="*/ 27 w 63"/>
                <a:gd name="T43" fmla="*/ 0 h 39"/>
                <a:gd name="T44" fmla="*/ 23 w 63"/>
                <a:gd name="T45" fmla="*/ 3 h 39"/>
                <a:gd name="T46" fmla="*/ 15 w 63"/>
                <a:gd name="T47" fmla="*/ 3 h 39"/>
                <a:gd name="T48" fmla="*/ 11 w 63"/>
                <a:gd name="T49" fmla="*/ 5 h 39"/>
                <a:gd name="T50" fmla="*/ 7 w 63"/>
                <a:gd name="T51" fmla="*/ 7 h 39"/>
                <a:gd name="T52" fmla="*/ 3 w 63"/>
                <a:gd name="T53" fmla="*/ 9 h 39"/>
                <a:gd name="T54" fmla="*/ 3 w 63"/>
                <a:gd name="T55" fmla="*/ 12 h 39"/>
                <a:gd name="T56" fmla="*/ 0 w 63"/>
                <a:gd name="T57" fmla="*/ 14 h 39"/>
                <a:gd name="T58" fmla="*/ 0 w 63"/>
                <a:gd name="T59" fmla="*/ 16 h 39"/>
                <a:gd name="T60" fmla="*/ 0 w 63"/>
                <a:gd name="T61" fmla="*/ 21 h 39"/>
                <a:gd name="T62" fmla="*/ 0 w 63"/>
                <a:gd name="T63" fmla="*/ 23 h 39"/>
                <a:gd name="T64" fmla="*/ 0 w 63"/>
                <a:gd name="T65" fmla="*/ 25 h 39"/>
                <a:gd name="T66" fmla="*/ 3 w 63"/>
                <a:gd name="T67" fmla="*/ 27 h 39"/>
                <a:gd name="T68" fmla="*/ 3 w 63"/>
                <a:gd name="T69" fmla="*/ 32 h 39"/>
                <a:gd name="T70" fmla="*/ 7 w 63"/>
                <a:gd name="T71" fmla="*/ 34 h 39"/>
                <a:gd name="T72" fmla="*/ 11 w 63"/>
                <a:gd name="T73" fmla="*/ 34 h 39"/>
                <a:gd name="T74" fmla="*/ 15 w 63"/>
                <a:gd name="T75" fmla="*/ 36 h 39"/>
                <a:gd name="T76" fmla="*/ 23 w 63"/>
                <a:gd name="T77" fmla="*/ 39 h 39"/>
                <a:gd name="T78" fmla="*/ 27 w 63"/>
                <a:gd name="T79" fmla="*/ 39 h 39"/>
                <a:gd name="T80" fmla="*/ 31 w 63"/>
                <a:gd name="T81" fmla="*/ 39 h 39"/>
                <a:gd name="T82" fmla="*/ 31 w 63"/>
                <a:gd name="T83" fmla="*/ 39 h 39"/>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w 63"/>
                <a:gd name="T127" fmla="*/ 0 h 39"/>
                <a:gd name="T128" fmla="*/ 63 w 63"/>
                <a:gd name="T129" fmla="*/ 39 h 39"/>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T126" t="T127" r="T128" b="T129"/>
              <a:pathLst>
                <a:path w="63" h="39">
                  <a:moveTo>
                    <a:pt x="31" y="39"/>
                  </a:moveTo>
                  <a:lnTo>
                    <a:pt x="39" y="39"/>
                  </a:lnTo>
                  <a:lnTo>
                    <a:pt x="43" y="39"/>
                  </a:lnTo>
                  <a:lnTo>
                    <a:pt x="47" y="36"/>
                  </a:lnTo>
                  <a:lnTo>
                    <a:pt x="51" y="34"/>
                  </a:lnTo>
                  <a:lnTo>
                    <a:pt x="55" y="34"/>
                  </a:lnTo>
                  <a:lnTo>
                    <a:pt x="59" y="32"/>
                  </a:lnTo>
                  <a:lnTo>
                    <a:pt x="63" y="27"/>
                  </a:lnTo>
                  <a:lnTo>
                    <a:pt x="63" y="25"/>
                  </a:lnTo>
                  <a:lnTo>
                    <a:pt x="63" y="23"/>
                  </a:lnTo>
                  <a:lnTo>
                    <a:pt x="63" y="21"/>
                  </a:lnTo>
                  <a:lnTo>
                    <a:pt x="63" y="16"/>
                  </a:lnTo>
                  <a:lnTo>
                    <a:pt x="63" y="14"/>
                  </a:lnTo>
                  <a:lnTo>
                    <a:pt x="63" y="12"/>
                  </a:lnTo>
                  <a:lnTo>
                    <a:pt x="59" y="9"/>
                  </a:lnTo>
                  <a:lnTo>
                    <a:pt x="55" y="7"/>
                  </a:lnTo>
                  <a:lnTo>
                    <a:pt x="51" y="5"/>
                  </a:lnTo>
                  <a:lnTo>
                    <a:pt x="47" y="3"/>
                  </a:lnTo>
                  <a:lnTo>
                    <a:pt x="43" y="3"/>
                  </a:lnTo>
                  <a:lnTo>
                    <a:pt x="39" y="0"/>
                  </a:lnTo>
                  <a:lnTo>
                    <a:pt x="31" y="0"/>
                  </a:lnTo>
                  <a:lnTo>
                    <a:pt x="27" y="0"/>
                  </a:lnTo>
                  <a:lnTo>
                    <a:pt x="23" y="3"/>
                  </a:lnTo>
                  <a:lnTo>
                    <a:pt x="15" y="3"/>
                  </a:lnTo>
                  <a:lnTo>
                    <a:pt x="11" y="5"/>
                  </a:lnTo>
                  <a:lnTo>
                    <a:pt x="7" y="7"/>
                  </a:lnTo>
                  <a:lnTo>
                    <a:pt x="3" y="9"/>
                  </a:lnTo>
                  <a:lnTo>
                    <a:pt x="3" y="12"/>
                  </a:lnTo>
                  <a:lnTo>
                    <a:pt x="0" y="14"/>
                  </a:lnTo>
                  <a:lnTo>
                    <a:pt x="0" y="16"/>
                  </a:lnTo>
                  <a:lnTo>
                    <a:pt x="0" y="21"/>
                  </a:lnTo>
                  <a:lnTo>
                    <a:pt x="0" y="23"/>
                  </a:lnTo>
                  <a:lnTo>
                    <a:pt x="0" y="25"/>
                  </a:lnTo>
                  <a:lnTo>
                    <a:pt x="3" y="27"/>
                  </a:lnTo>
                  <a:lnTo>
                    <a:pt x="3" y="32"/>
                  </a:lnTo>
                  <a:lnTo>
                    <a:pt x="7" y="34"/>
                  </a:lnTo>
                  <a:lnTo>
                    <a:pt x="11" y="34"/>
                  </a:lnTo>
                  <a:lnTo>
                    <a:pt x="15" y="36"/>
                  </a:lnTo>
                  <a:lnTo>
                    <a:pt x="23" y="39"/>
                  </a:lnTo>
                  <a:lnTo>
                    <a:pt x="27" y="39"/>
                  </a:lnTo>
                  <a:lnTo>
                    <a:pt x="31" y="39"/>
                  </a:lnTo>
                  <a:close/>
                </a:path>
              </a:pathLst>
            </a:custGeom>
            <a:solidFill>
              <a:srgbClr val="000000"/>
            </a:solidFill>
            <a:ln w="9525">
              <a:noFill/>
              <a:round/>
              <a:headEnd/>
              <a:tailEnd/>
            </a:ln>
          </p:spPr>
          <p:txBody>
            <a:bodyPr/>
            <a:lstStyle/>
            <a:p>
              <a:endParaRPr lang="zh-TW" altLang="en-US" sz="1350"/>
            </a:p>
          </p:txBody>
        </p:sp>
        <p:sp>
          <p:nvSpPr>
            <p:cNvPr id="25676" name="Freeform 70"/>
            <p:cNvSpPr>
              <a:spLocks/>
            </p:cNvSpPr>
            <p:nvPr/>
          </p:nvSpPr>
          <p:spPr bwMode="auto">
            <a:xfrm>
              <a:off x="2705" y="3834"/>
              <a:ext cx="68" cy="39"/>
            </a:xfrm>
            <a:custGeom>
              <a:avLst/>
              <a:gdLst>
                <a:gd name="T0" fmla="*/ 32 w 68"/>
                <a:gd name="T1" fmla="*/ 39 h 39"/>
                <a:gd name="T2" fmla="*/ 40 w 68"/>
                <a:gd name="T3" fmla="*/ 39 h 39"/>
                <a:gd name="T4" fmla="*/ 44 w 68"/>
                <a:gd name="T5" fmla="*/ 39 h 39"/>
                <a:gd name="T6" fmla="*/ 48 w 68"/>
                <a:gd name="T7" fmla="*/ 36 h 39"/>
                <a:gd name="T8" fmla="*/ 56 w 68"/>
                <a:gd name="T9" fmla="*/ 34 h 39"/>
                <a:gd name="T10" fmla="*/ 56 w 68"/>
                <a:gd name="T11" fmla="*/ 34 h 39"/>
                <a:gd name="T12" fmla="*/ 60 w 68"/>
                <a:gd name="T13" fmla="*/ 32 h 39"/>
                <a:gd name="T14" fmla="*/ 64 w 68"/>
                <a:gd name="T15" fmla="*/ 27 h 39"/>
                <a:gd name="T16" fmla="*/ 68 w 68"/>
                <a:gd name="T17" fmla="*/ 25 h 39"/>
                <a:gd name="T18" fmla="*/ 68 w 68"/>
                <a:gd name="T19" fmla="*/ 23 h 39"/>
                <a:gd name="T20" fmla="*/ 68 w 68"/>
                <a:gd name="T21" fmla="*/ 21 h 39"/>
                <a:gd name="T22" fmla="*/ 68 w 68"/>
                <a:gd name="T23" fmla="*/ 16 h 39"/>
                <a:gd name="T24" fmla="*/ 68 w 68"/>
                <a:gd name="T25" fmla="*/ 14 h 39"/>
                <a:gd name="T26" fmla="*/ 64 w 68"/>
                <a:gd name="T27" fmla="*/ 12 h 39"/>
                <a:gd name="T28" fmla="*/ 60 w 68"/>
                <a:gd name="T29" fmla="*/ 9 h 39"/>
                <a:gd name="T30" fmla="*/ 56 w 68"/>
                <a:gd name="T31" fmla="*/ 7 h 39"/>
                <a:gd name="T32" fmla="*/ 56 w 68"/>
                <a:gd name="T33" fmla="*/ 5 h 39"/>
                <a:gd name="T34" fmla="*/ 48 w 68"/>
                <a:gd name="T35" fmla="*/ 3 h 39"/>
                <a:gd name="T36" fmla="*/ 44 w 68"/>
                <a:gd name="T37" fmla="*/ 3 h 39"/>
                <a:gd name="T38" fmla="*/ 40 w 68"/>
                <a:gd name="T39" fmla="*/ 0 h 39"/>
                <a:gd name="T40" fmla="*/ 36 w 68"/>
                <a:gd name="T41" fmla="*/ 0 h 39"/>
                <a:gd name="T42" fmla="*/ 28 w 68"/>
                <a:gd name="T43" fmla="*/ 0 h 39"/>
                <a:gd name="T44" fmla="*/ 24 w 68"/>
                <a:gd name="T45" fmla="*/ 3 h 39"/>
                <a:gd name="T46" fmla="*/ 20 w 68"/>
                <a:gd name="T47" fmla="*/ 3 h 39"/>
                <a:gd name="T48" fmla="*/ 16 w 68"/>
                <a:gd name="T49" fmla="*/ 5 h 39"/>
                <a:gd name="T50" fmla="*/ 12 w 68"/>
                <a:gd name="T51" fmla="*/ 7 h 39"/>
                <a:gd name="T52" fmla="*/ 8 w 68"/>
                <a:gd name="T53" fmla="*/ 9 h 39"/>
                <a:gd name="T54" fmla="*/ 4 w 68"/>
                <a:gd name="T55" fmla="*/ 12 h 39"/>
                <a:gd name="T56" fmla="*/ 4 w 68"/>
                <a:gd name="T57" fmla="*/ 14 h 39"/>
                <a:gd name="T58" fmla="*/ 0 w 68"/>
                <a:gd name="T59" fmla="*/ 16 h 39"/>
                <a:gd name="T60" fmla="*/ 0 w 68"/>
                <a:gd name="T61" fmla="*/ 21 h 39"/>
                <a:gd name="T62" fmla="*/ 0 w 68"/>
                <a:gd name="T63" fmla="*/ 23 h 39"/>
                <a:gd name="T64" fmla="*/ 4 w 68"/>
                <a:gd name="T65" fmla="*/ 25 h 39"/>
                <a:gd name="T66" fmla="*/ 4 w 68"/>
                <a:gd name="T67" fmla="*/ 27 h 39"/>
                <a:gd name="T68" fmla="*/ 8 w 68"/>
                <a:gd name="T69" fmla="*/ 32 h 39"/>
                <a:gd name="T70" fmla="*/ 12 w 68"/>
                <a:gd name="T71" fmla="*/ 34 h 39"/>
                <a:gd name="T72" fmla="*/ 16 w 68"/>
                <a:gd name="T73" fmla="*/ 34 h 39"/>
                <a:gd name="T74" fmla="*/ 20 w 68"/>
                <a:gd name="T75" fmla="*/ 36 h 39"/>
                <a:gd name="T76" fmla="*/ 24 w 68"/>
                <a:gd name="T77" fmla="*/ 39 h 39"/>
                <a:gd name="T78" fmla="*/ 28 w 68"/>
                <a:gd name="T79" fmla="*/ 39 h 39"/>
                <a:gd name="T80" fmla="*/ 36 w 68"/>
                <a:gd name="T81" fmla="*/ 39 h 39"/>
                <a:gd name="T82" fmla="*/ 36 w 68"/>
                <a:gd name="T83" fmla="*/ 39 h 39"/>
                <a:gd name="T84" fmla="*/ 32 w 68"/>
                <a:gd name="T85" fmla="*/ 39 h 39"/>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w 68"/>
                <a:gd name="T130" fmla="*/ 0 h 39"/>
                <a:gd name="T131" fmla="*/ 68 w 68"/>
                <a:gd name="T132" fmla="*/ 39 h 39"/>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T129" t="T130" r="T131" b="T132"/>
              <a:pathLst>
                <a:path w="68" h="39">
                  <a:moveTo>
                    <a:pt x="32" y="39"/>
                  </a:moveTo>
                  <a:lnTo>
                    <a:pt x="40" y="39"/>
                  </a:lnTo>
                  <a:lnTo>
                    <a:pt x="44" y="39"/>
                  </a:lnTo>
                  <a:lnTo>
                    <a:pt x="48" y="36"/>
                  </a:lnTo>
                  <a:lnTo>
                    <a:pt x="56" y="34"/>
                  </a:lnTo>
                  <a:lnTo>
                    <a:pt x="60" y="32"/>
                  </a:lnTo>
                  <a:lnTo>
                    <a:pt x="64" y="27"/>
                  </a:lnTo>
                  <a:lnTo>
                    <a:pt x="68" y="25"/>
                  </a:lnTo>
                  <a:lnTo>
                    <a:pt x="68" y="23"/>
                  </a:lnTo>
                  <a:lnTo>
                    <a:pt x="68" y="21"/>
                  </a:lnTo>
                  <a:lnTo>
                    <a:pt x="68" y="16"/>
                  </a:lnTo>
                  <a:lnTo>
                    <a:pt x="68" y="14"/>
                  </a:lnTo>
                  <a:lnTo>
                    <a:pt x="64" y="12"/>
                  </a:lnTo>
                  <a:lnTo>
                    <a:pt x="60" y="9"/>
                  </a:lnTo>
                  <a:lnTo>
                    <a:pt x="56" y="7"/>
                  </a:lnTo>
                  <a:lnTo>
                    <a:pt x="56" y="5"/>
                  </a:lnTo>
                  <a:lnTo>
                    <a:pt x="48" y="3"/>
                  </a:lnTo>
                  <a:lnTo>
                    <a:pt x="44" y="3"/>
                  </a:lnTo>
                  <a:lnTo>
                    <a:pt x="40" y="0"/>
                  </a:lnTo>
                  <a:lnTo>
                    <a:pt x="36" y="0"/>
                  </a:lnTo>
                  <a:lnTo>
                    <a:pt x="28" y="0"/>
                  </a:lnTo>
                  <a:lnTo>
                    <a:pt x="24" y="3"/>
                  </a:lnTo>
                  <a:lnTo>
                    <a:pt x="20" y="3"/>
                  </a:lnTo>
                  <a:lnTo>
                    <a:pt x="16" y="5"/>
                  </a:lnTo>
                  <a:lnTo>
                    <a:pt x="12" y="7"/>
                  </a:lnTo>
                  <a:lnTo>
                    <a:pt x="8" y="9"/>
                  </a:lnTo>
                  <a:lnTo>
                    <a:pt x="4" y="12"/>
                  </a:lnTo>
                  <a:lnTo>
                    <a:pt x="4" y="14"/>
                  </a:lnTo>
                  <a:lnTo>
                    <a:pt x="0" y="16"/>
                  </a:lnTo>
                  <a:lnTo>
                    <a:pt x="0" y="21"/>
                  </a:lnTo>
                  <a:lnTo>
                    <a:pt x="0" y="23"/>
                  </a:lnTo>
                  <a:lnTo>
                    <a:pt x="4" y="25"/>
                  </a:lnTo>
                  <a:lnTo>
                    <a:pt x="4" y="27"/>
                  </a:lnTo>
                  <a:lnTo>
                    <a:pt x="8" y="32"/>
                  </a:lnTo>
                  <a:lnTo>
                    <a:pt x="12" y="34"/>
                  </a:lnTo>
                  <a:lnTo>
                    <a:pt x="16" y="34"/>
                  </a:lnTo>
                  <a:lnTo>
                    <a:pt x="20" y="36"/>
                  </a:lnTo>
                  <a:lnTo>
                    <a:pt x="24" y="39"/>
                  </a:lnTo>
                  <a:lnTo>
                    <a:pt x="28" y="39"/>
                  </a:lnTo>
                  <a:lnTo>
                    <a:pt x="36" y="39"/>
                  </a:lnTo>
                  <a:lnTo>
                    <a:pt x="32" y="39"/>
                  </a:lnTo>
                  <a:close/>
                </a:path>
              </a:pathLst>
            </a:custGeom>
            <a:solidFill>
              <a:srgbClr val="000000"/>
            </a:solidFill>
            <a:ln w="9525">
              <a:noFill/>
              <a:round/>
              <a:headEnd/>
              <a:tailEnd/>
            </a:ln>
          </p:spPr>
          <p:txBody>
            <a:bodyPr/>
            <a:lstStyle/>
            <a:p>
              <a:endParaRPr lang="zh-TW" altLang="en-US" sz="1350"/>
            </a:p>
          </p:txBody>
        </p:sp>
        <p:sp>
          <p:nvSpPr>
            <p:cNvPr id="25677" name="Freeform 71"/>
            <p:cNvSpPr>
              <a:spLocks/>
            </p:cNvSpPr>
            <p:nvPr/>
          </p:nvSpPr>
          <p:spPr bwMode="auto">
            <a:xfrm>
              <a:off x="3347" y="3834"/>
              <a:ext cx="64" cy="39"/>
            </a:xfrm>
            <a:custGeom>
              <a:avLst/>
              <a:gdLst>
                <a:gd name="T0" fmla="*/ 32 w 64"/>
                <a:gd name="T1" fmla="*/ 39 h 39"/>
                <a:gd name="T2" fmla="*/ 36 w 64"/>
                <a:gd name="T3" fmla="*/ 39 h 39"/>
                <a:gd name="T4" fmla="*/ 44 w 64"/>
                <a:gd name="T5" fmla="*/ 39 h 39"/>
                <a:gd name="T6" fmla="*/ 48 w 64"/>
                <a:gd name="T7" fmla="*/ 36 h 39"/>
                <a:gd name="T8" fmla="*/ 52 w 64"/>
                <a:gd name="T9" fmla="*/ 34 h 39"/>
                <a:gd name="T10" fmla="*/ 56 w 64"/>
                <a:gd name="T11" fmla="*/ 34 h 39"/>
                <a:gd name="T12" fmla="*/ 60 w 64"/>
                <a:gd name="T13" fmla="*/ 32 h 39"/>
                <a:gd name="T14" fmla="*/ 60 w 64"/>
                <a:gd name="T15" fmla="*/ 27 h 39"/>
                <a:gd name="T16" fmla="*/ 64 w 64"/>
                <a:gd name="T17" fmla="*/ 25 h 39"/>
                <a:gd name="T18" fmla="*/ 64 w 64"/>
                <a:gd name="T19" fmla="*/ 23 h 39"/>
                <a:gd name="T20" fmla="*/ 64 w 64"/>
                <a:gd name="T21" fmla="*/ 21 h 39"/>
                <a:gd name="T22" fmla="*/ 64 w 64"/>
                <a:gd name="T23" fmla="*/ 16 h 39"/>
                <a:gd name="T24" fmla="*/ 64 w 64"/>
                <a:gd name="T25" fmla="*/ 14 h 39"/>
                <a:gd name="T26" fmla="*/ 60 w 64"/>
                <a:gd name="T27" fmla="*/ 12 h 39"/>
                <a:gd name="T28" fmla="*/ 60 w 64"/>
                <a:gd name="T29" fmla="*/ 9 h 39"/>
                <a:gd name="T30" fmla="*/ 56 w 64"/>
                <a:gd name="T31" fmla="*/ 7 h 39"/>
                <a:gd name="T32" fmla="*/ 52 w 64"/>
                <a:gd name="T33" fmla="*/ 5 h 39"/>
                <a:gd name="T34" fmla="*/ 48 w 64"/>
                <a:gd name="T35" fmla="*/ 3 h 39"/>
                <a:gd name="T36" fmla="*/ 44 w 64"/>
                <a:gd name="T37" fmla="*/ 3 h 39"/>
                <a:gd name="T38" fmla="*/ 36 w 64"/>
                <a:gd name="T39" fmla="*/ 0 h 39"/>
                <a:gd name="T40" fmla="*/ 32 w 64"/>
                <a:gd name="T41" fmla="*/ 0 h 39"/>
                <a:gd name="T42" fmla="*/ 28 w 64"/>
                <a:gd name="T43" fmla="*/ 0 h 39"/>
                <a:gd name="T44" fmla="*/ 20 w 64"/>
                <a:gd name="T45" fmla="*/ 3 h 39"/>
                <a:gd name="T46" fmla="*/ 16 w 64"/>
                <a:gd name="T47" fmla="*/ 3 h 39"/>
                <a:gd name="T48" fmla="*/ 12 w 64"/>
                <a:gd name="T49" fmla="*/ 5 h 39"/>
                <a:gd name="T50" fmla="*/ 8 w 64"/>
                <a:gd name="T51" fmla="*/ 7 h 39"/>
                <a:gd name="T52" fmla="*/ 4 w 64"/>
                <a:gd name="T53" fmla="*/ 9 h 39"/>
                <a:gd name="T54" fmla="*/ 4 w 64"/>
                <a:gd name="T55" fmla="*/ 12 h 39"/>
                <a:gd name="T56" fmla="*/ 0 w 64"/>
                <a:gd name="T57" fmla="*/ 14 h 39"/>
                <a:gd name="T58" fmla="*/ 0 w 64"/>
                <a:gd name="T59" fmla="*/ 16 h 39"/>
                <a:gd name="T60" fmla="*/ 0 w 64"/>
                <a:gd name="T61" fmla="*/ 21 h 39"/>
                <a:gd name="T62" fmla="*/ 0 w 64"/>
                <a:gd name="T63" fmla="*/ 23 h 39"/>
                <a:gd name="T64" fmla="*/ 0 w 64"/>
                <a:gd name="T65" fmla="*/ 25 h 39"/>
                <a:gd name="T66" fmla="*/ 4 w 64"/>
                <a:gd name="T67" fmla="*/ 27 h 39"/>
                <a:gd name="T68" fmla="*/ 4 w 64"/>
                <a:gd name="T69" fmla="*/ 32 h 39"/>
                <a:gd name="T70" fmla="*/ 8 w 64"/>
                <a:gd name="T71" fmla="*/ 34 h 39"/>
                <a:gd name="T72" fmla="*/ 12 w 64"/>
                <a:gd name="T73" fmla="*/ 34 h 39"/>
                <a:gd name="T74" fmla="*/ 16 w 64"/>
                <a:gd name="T75" fmla="*/ 36 h 39"/>
                <a:gd name="T76" fmla="*/ 20 w 64"/>
                <a:gd name="T77" fmla="*/ 39 h 39"/>
                <a:gd name="T78" fmla="*/ 28 w 64"/>
                <a:gd name="T79" fmla="*/ 39 h 39"/>
                <a:gd name="T80" fmla="*/ 32 w 64"/>
                <a:gd name="T81" fmla="*/ 39 h 39"/>
                <a:gd name="T82" fmla="*/ 32 w 64"/>
                <a:gd name="T83" fmla="*/ 39 h 39"/>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w 64"/>
                <a:gd name="T127" fmla="*/ 0 h 39"/>
                <a:gd name="T128" fmla="*/ 64 w 64"/>
                <a:gd name="T129" fmla="*/ 39 h 39"/>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T126" t="T127" r="T128" b="T129"/>
              <a:pathLst>
                <a:path w="64" h="39">
                  <a:moveTo>
                    <a:pt x="32" y="39"/>
                  </a:moveTo>
                  <a:lnTo>
                    <a:pt x="36" y="39"/>
                  </a:lnTo>
                  <a:lnTo>
                    <a:pt x="44" y="39"/>
                  </a:lnTo>
                  <a:lnTo>
                    <a:pt x="48" y="36"/>
                  </a:lnTo>
                  <a:lnTo>
                    <a:pt x="52" y="34"/>
                  </a:lnTo>
                  <a:lnTo>
                    <a:pt x="56" y="34"/>
                  </a:lnTo>
                  <a:lnTo>
                    <a:pt x="60" y="32"/>
                  </a:lnTo>
                  <a:lnTo>
                    <a:pt x="60" y="27"/>
                  </a:lnTo>
                  <a:lnTo>
                    <a:pt x="64" y="25"/>
                  </a:lnTo>
                  <a:lnTo>
                    <a:pt x="64" y="23"/>
                  </a:lnTo>
                  <a:lnTo>
                    <a:pt x="64" y="21"/>
                  </a:lnTo>
                  <a:lnTo>
                    <a:pt x="64" y="16"/>
                  </a:lnTo>
                  <a:lnTo>
                    <a:pt x="64" y="14"/>
                  </a:lnTo>
                  <a:lnTo>
                    <a:pt x="60" y="12"/>
                  </a:lnTo>
                  <a:lnTo>
                    <a:pt x="60" y="9"/>
                  </a:lnTo>
                  <a:lnTo>
                    <a:pt x="56" y="7"/>
                  </a:lnTo>
                  <a:lnTo>
                    <a:pt x="52" y="5"/>
                  </a:lnTo>
                  <a:lnTo>
                    <a:pt x="48" y="3"/>
                  </a:lnTo>
                  <a:lnTo>
                    <a:pt x="44" y="3"/>
                  </a:lnTo>
                  <a:lnTo>
                    <a:pt x="36" y="0"/>
                  </a:lnTo>
                  <a:lnTo>
                    <a:pt x="32" y="0"/>
                  </a:lnTo>
                  <a:lnTo>
                    <a:pt x="28" y="0"/>
                  </a:lnTo>
                  <a:lnTo>
                    <a:pt x="20" y="3"/>
                  </a:lnTo>
                  <a:lnTo>
                    <a:pt x="16" y="3"/>
                  </a:lnTo>
                  <a:lnTo>
                    <a:pt x="12" y="5"/>
                  </a:lnTo>
                  <a:lnTo>
                    <a:pt x="8" y="7"/>
                  </a:lnTo>
                  <a:lnTo>
                    <a:pt x="4" y="9"/>
                  </a:lnTo>
                  <a:lnTo>
                    <a:pt x="4" y="12"/>
                  </a:lnTo>
                  <a:lnTo>
                    <a:pt x="0" y="14"/>
                  </a:lnTo>
                  <a:lnTo>
                    <a:pt x="0" y="16"/>
                  </a:lnTo>
                  <a:lnTo>
                    <a:pt x="0" y="21"/>
                  </a:lnTo>
                  <a:lnTo>
                    <a:pt x="0" y="23"/>
                  </a:lnTo>
                  <a:lnTo>
                    <a:pt x="0" y="25"/>
                  </a:lnTo>
                  <a:lnTo>
                    <a:pt x="4" y="27"/>
                  </a:lnTo>
                  <a:lnTo>
                    <a:pt x="4" y="32"/>
                  </a:lnTo>
                  <a:lnTo>
                    <a:pt x="8" y="34"/>
                  </a:lnTo>
                  <a:lnTo>
                    <a:pt x="12" y="34"/>
                  </a:lnTo>
                  <a:lnTo>
                    <a:pt x="16" y="36"/>
                  </a:lnTo>
                  <a:lnTo>
                    <a:pt x="20" y="39"/>
                  </a:lnTo>
                  <a:lnTo>
                    <a:pt x="28" y="39"/>
                  </a:lnTo>
                  <a:lnTo>
                    <a:pt x="32" y="39"/>
                  </a:lnTo>
                  <a:close/>
                </a:path>
              </a:pathLst>
            </a:custGeom>
            <a:solidFill>
              <a:srgbClr val="000000"/>
            </a:solidFill>
            <a:ln w="9525">
              <a:noFill/>
              <a:round/>
              <a:headEnd/>
              <a:tailEnd/>
            </a:ln>
          </p:spPr>
          <p:txBody>
            <a:bodyPr/>
            <a:lstStyle/>
            <a:p>
              <a:endParaRPr lang="zh-TW" altLang="en-US" sz="1350"/>
            </a:p>
          </p:txBody>
        </p:sp>
        <p:sp>
          <p:nvSpPr>
            <p:cNvPr id="25678" name="Freeform 72"/>
            <p:cNvSpPr>
              <a:spLocks/>
            </p:cNvSpPr>
            <p:nvPr/>
          </p:nvSpPr>
          <p:spPr bwMode="auto">
            <a:xfrm>
              <a:off x="3985" y="3834"/>
              <a:ext cx="67" cy="39"/>
            </a:xfrm>
            <a:custGeom>
              <a:avLst/>
              <a:gdLst>
                <a:gd name="T0" fmla="*/ 32 w 67"/>
                <a:gd name="T1" fmla="*/ 39 h 39"/>
                <a:gd name="T2" fmla="*/ 40 w 67"/>
                <a:gd name="T3" fmla="*/ 39 h 39"/>
                <a:gd name="T4" fmla="*/ 44 w 67"/>
                <a:gd name="T5" fmla="*/ 39 h 39"/>
                <a:gd name="T6" fmla="*/ 48 w 67"/>
                <a:gd name="T7" fmla="*/ 36 h 39"/>
                <a:gd name="T8" fmla="*/ 52 w 67"/>
                <a:gd name="T9" fmla="*/ 34 h 39"/>
                <a:gd name="T10" fmla="*/ 56 w 67"/>
                <a:gd name="T11" fmla="*/ 34 h 39"/>
                <a:gd name="T12" fmla="*/ 60 w 67"/>
                <a:gd name="T13" fmla="*/ 32 h 39"/>
                <a:gd name="T14" fmla="*/ 63 w 67"/>
                <a:gd name="T15" fmla="*/ 27 h 39"/>
                <a:gd name="T16" fmla="*/ 63 w 67"/>
                <a:gd name="T17" fmla="*/ 25 h 39"/>
                <a:gd name="T18" fmla="*/ 67 w 67"/>
                <a:gd name="T19" fmla="*/ 23 h 39"/>
                <a:gd name="T20" fmla="*/ 67 w 67"/>
                <a:gd name="T21" fmla="*/ 21 h 39"/>
                <a:gd name="T22" fmla="*/ 67 w 67"/>
                <a:gd name="T23" fmla="*/ 16 h 39"/>
                <a:gd name="T24" fmla="*/ 63 w 67"/>
                <a:gd name="T25" fmla="*/ 14 h 39"/>
                <a:gd name="T26" fmla="*/ 63 w 67"/>
                <a:gd name="T27" fmla="*/ 12 h 39"/>
                <a:gd name="T28" fmla="*/ 60 w 67"/>
                <a:gd name="T29" fmla="*/ 9 h 39"/>
                <a:gd name="T30" fmla="*/ 56 w 67"/>
                <a:gd name="T31" fmla="*/ 7 h 39"/>
                <a:gd name="T32" fmla="*/ 52 w 67"/>
                <a:gd name="T33" fmla="*/ 5 h 39"/>
                <a:gd name="T34" fmla="*/ 48 w 67"/>
                <a:gd name="T35" fmla="*/ 3 h 39"/>
                <a:gd name="T36" fmla="*/ 44 w 67"/>
                <a:gd name="T37" fmla="*/ 3 h 39"/>
                <a:gd name="T38" fmla="*/ 40 w 67"/>
                <a:gd name="T39" fmla="*/ 0 h 39"/>
                <a:gd name="T40" fmla="*/ 36 w 67"/>
                <a:gd name="T41" fmla="*/ 0 h 39"/>
                <a:gd name="T42" fmla="*/ 28 w 67"/>
                <a:gd name="T43" fmla="*/ 0 h 39"/>
                <a:gd name="T44" fmla="*/ 24 w 67"/>
                <a:gd name="T45" fmla="*/ 3 h 39"/>
                <a:gd name="T46" fmla="*/ 20 w 67"/>
                <a:gd name="T47" fmla="*/ 3 h 39"/>
                <a:gd name="T48" fmla="*/ 16 w 67"/>
                <a:gd name="T49" fmla="*/ 5 h 39"/>
                <a:gd name="T50" fmla="*/ 12 w 67"/>
                <a:gd name="T51" fmla="*/ 7 h 39"/>
                <a:gd name="T52" fmla="*/ 8 w 67"/>
                <a:gd name="T53" fmla="*/ 9 h 39"/>
                <a:gd name="T54" fmla="*/ 4 w 67"/>
                <a:gd name="T55" fmla="*/ 12 h 39"/>
                <a:gd name="T56" fmla="*/ 4 w 67"/>
                <a:gd name="T57" fmla="*/ 14 h 39"/>
                <a:gd name="T58" fmla="*/ 0 w 67"/>
                <a:gd name="T59" fmla="*/ 16 h 39"/>
                <a:gd name="T60" fmla="*/ 0 w 67"/>
                <a:gd name="T61" fmla="*/ 21 h 39"/>
                <a:gd name="T62" fmla="*/ 0 w 67"/>
                <a:gd name="T63" fmla="*/ 23 h 39"/>
                <a:gd name="T64" fmla="*/ 4 w 67"/>
                <a:gd name="T65" fmla="*/ 25 h 39"/>
                <a:gd name="T66" fmla="*/ 4 w 67"/>
                <a:gd name="T67" fmla="*/ 27 h 39"/>
                <a:gd name="T68" fmla="*/ 8 w 67"/>
                <a:gd name="T69" fmla="*/ 32 h 39"/>
                <a:gd name="T70" fmla="*/ 12 w 67"/>
                <a:gd name="T71" fmla="*/ 34 h 39"/>
                <a:gd name="T72" fmla="*/ 16 w 67"/>
                <a:gd name="T73" fmla="*/ 34 h 39"/>
                <a:gd name="T74" fmla="*/ 20 w 67"/>
                <a:gd name="T75" fmla="*/ 36 h 39"/>
                <a:gd name="T76" fmla="*/ 24 w 67"/>
                <a:gd name="T77" fmla="*/ 39 h 39"/>
                <a:gd name="T78" fmla="*/ 28 w 67"/>
                <a:gd name="T79" fmla="*/ 39 h 39"/>
                <a:gd name="T80" fmla="*/ 36 w 67"/>
                <a:gd name="T81" fmla="*/ 39 h 39"/>
                <a:gd name="T82" fmla="*/ 36 w 67"/>
                <a:gd name="T83" fmla="*/ 39 h 39"/>
                <a:gd name="T84" fmla="*/ 32 w 67"/>
                <a:gd name="T85" fmla="*/ 39 h 39"/>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w 67"/>
                <a:gd name="T130" fmla="*/ 0 h 39"/>
                <a:gd name="T131" fmla="*/ 67 w 67"/>
                <a:gd name="T132" fmla="*/ 39 h 39"/>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T129" t="T130" r="T131" b="T132"/>
              <a:pathLst>
                <a:path w="67" h="39">
                  <a:moveTo>
                    <a:pt x="32" y="39"/>
                  </a:moveTo>
                  <a:lnTo>
                    <a:pt x="40" y="39"/>
                  </a:lnTo>
                  <a:lnTo>
                    <a:pt x="44" y="39"/>
                  </a:lnTo>
                  <a:lnTo>
                    <a:pt x="48" y="36"/>
                  </a:lnTo>
                  <a:lnTo>
                    <a:pt x="52" y="34"/>
                  </a:lnTo>
                  <a:lnTo>
                    <a:pt x="56" y="34"/>
                  </a:lnTo>
                  <a:lnTo>
                    <a:pt x="60" y="32"/>
                  </a:lnTo>
                  <a:lnTo>
                    <a:pt x="63" y="27"/>
                  </a:lnTo>
                  <a:lnTo>
                    <a:pt x="63" y="25"/>
                  </a:lnTo>
                  <a:lnTo>
                    <a:pt x="67" y="23"/>
                  </a:lnTo>
                  <a:lnTo>
                    <a:pt x="67" y="21"/>
                  </a:lnTo>
                  <a:lnTo>
                    <a:pt x="67" y="16"/>
                  </a:lnTo>
                  <a:lnTo>
                    <a:pt x="63" y="14"/>
                  </a:lnTo>
                  <a:lnTo>
                    <a:pt x="63" y="12"/>
                  </a:lnTo>
                  <a:lnTo>
                    <a:pt x="60" y="9"/>
                  </a:lnTo>
                  <a:lnTo>
                    <a:pt x="56" y="7"/>
                  </a:lnTo>
                  <a:lnTo>
                    <a:pt x="52" y="5"/>
                  </a:lnTo>
                  <a:lnTo>
                    <a:pt x="48" y="3"/>
                  </a:lnTo>
                  <a:lnTo>
                    <a:pt x="44" y="3"/>
                  </a:lnTo>
                  <a:lnTo>
                    <a:pt x="40" y="0"/>
                  </a:lnTo>
                  <a:lnTo>
                    <a:pt x="36" y="0"/>
                  </a:lnTo>
                  <a:lnTo>
                    <a:pt x="28" y="0"/>
                  </a:lnTo>
                  <a:lnTo>
                    <a:pt x="24" y="3"/>
                  </a:lnTo>
                  <a:lnTo>
                    <a:pt x="20" y="3"/>
                  </a:lnTo>
                  <a:lnTo>
                    <a:pt x="16" y="5"/>
                  </a:lnTo>
                  <a:lnTo>
                    <a:pt x="12" y="7"/>
                  </a:lnTo>
                  <a:lnTo>
                    <a:pt x="8" y="9"/>
                  </a:lnTo>
                  <a:lnTo>
                    <a:pt x="4" y="12"/>
                  </a:lnTo>
                  <a:lnTo>
                    <a:pt x="4" y="14"/>
                  </a:lnTo>
                  <a:lnTo>
                    <a:pt x="0" y="16"/>
                  </a:lnTo>
                  <a:lnTo>
                    <a:pt x="0" y="21"/>
                  </a:lnTo>
                  <a:lnTo>
                    <a:pt x="0" y="23"/>
                  </a:lnTo>
                  <a:lnTo>
                    <a:pt x="4" y="25"/>
                  </a:lnTo>
                  <a:lnTo>
                    <a:pt x="4" y="27"/>
                  </a:lnTo>
                  <a:lnTo>
                    <a:pt x="8" y="32"/>
                  </a:lnTo>
                  <a:lnTo>
                    <a:pt x="12" y="34"/>
                  </a:lnTo>
                  <a:lnTo>
                    <a:pt x="16" y="34"/>
                  </a:lnTo>
                  <a:lnTo>
                    <a:pt x="20" y="36"/>
                  </a:lnTo>
                  <a:lnTo>
                    <a:pt x="24" y="39"/>
                  </a:lnTo>
                  <a:lnTo>
                    <a:pt x="28" y="39"/>
                  </a:lnTo>
                  <a:lnTo>
                    <a:pt x="36" y="39"/>
                  </a:lnTo>
                  <a:lnTo>
                    <a:pt x="32" y="39"/>
                  </a:lnTo>
                  <a:close/>
                </a:path>
              </a:pathLst>
            </a:custGeom>
            <a:solidFill>
              <a:srgbClr val="000000"/>
            </a:solidFill>
            <a:ln w="9525">
              <a:noFill/>
              <a:round/>
              <a:headEnd/>
              <a:tailEnd/>
            </a:ln>
          </p:spPr>
          <p:txBody>
            <a:bodyPr/>
            <a:lstStyle/>
            <a:p>
              <a:endParaRPr lang="zh-TW" altLang="en-US" sz="1350"/>
            </a:p>
          </p:txBody>
        </p:sp>
        <p:sp>
          <p:nvSpPr>
            <p:cNvPr id="25679" name="Freeform 73"/>
            <p:cNvSpPr>
              <a:spLocks/>
            </p:cNvSpPr>
            <p:nvPr/>
          </p:nvSpPr>
          <p:spPr bwMode="auto">
            <a:xfrm>
              <a:off x="4627" y="3834"/>
              <a:ext cx="63" cy="39"/>
            </a:xfrm>
            <a:custGeom>
              <a:avLst/>
              <a:gdLst>
                <a:gd name="T0" fmla="*/ 32 w 63"/>
                <a:gd name="T1" fmla="*/ 39 h 39"/>
                <a:gd name="T2" fmla="*/ 36 w 63"/>
                <a:gd name="T3" fmla="*/ 39 h 39"/>
                <a:gd name="T4" fmla="*/ 44 w 63"/>
                <a:gd name="T5" fmla="*/ 39 h 39"/>
                <a:gd name="T6" fmla="*/ 47 w 63"/>
                <a:gd name="T7" fmla="*/ 36 h 39"/>
                <a:gd name="T8" fmla="*/ 51 w 63"/>
                <a:gd name="T9" fmla="*/ 34 h 39"/>
                <a:gd name="T10" fmla="*/ 55 w 63"/>
                <a:gd name="T11" fmla="*/ 34 h 39"/>
                <a:gd name="T12" fmla="*/ 59 w 63"/>
                <a:gd name="T13" fmla="*/ 32 h 39"/>
                <a:gd name="T14" fmla="*/ 59 w 63"/>
                <a:gd name="T15" fmla="*/ 27 h 39"/>
                <a:gd name="T16" fmla="*/ 63 w 63"/>
                <a:gd name="T17" fmla="*/ 25 h 39"/>
                <a:gd name="T18" fmla="*/ 63 w 63"/>
                <a:gd name="T19" fmla="*/ 23 h 39"/>
                <a:gd name="T20" fmla="*/ 63 w 63"/>
                <a:gd name="T21" fmla="*/ 21 h 39"/>
                <a:gd name="T22" fmla="*/ 63 w 63"/>
                <a:gd name="T23" fmla="*/ 16 h 39"/>
                <a:gd name="T24" fmla="*/ 63 w 63"/>
                <a:gd name="T25" fmla="*/ 14 h 39"/>
                <a:gd name="T26" fmla="*/ 59 w 63"/>
                <a:gd name="T27" fmla="*/ 12 h 39"/>
                <a:gd name="T28" fmla="*/ 59 w 63"/>
                <a:gd name="T29" fmla="*/ 9 h 39"/>
                <a:gd name="T30" fmla="*/ 55 w 63"/>
                <a:gd name="T31" fmla="*/ 7 h 39"/>
                <a:gd name="T32" fmla="*/ 51 w 63"/>
                <a:gd name="T33" fmla="*/ 5 h 39"/>
                <a:gd name="T34" fmla="*/ 47 w 63"/>
                <a:gd name="T35" fmla="*/ 3 h 39"/>
                <a:gd name="T36" fmla="*/ 44 w 63"/>
                <a:gd name="T37" fmla="*/ 3 h 39"/>
                <a:gd name="T38" fmla="*/ 36 w 63"/>
                <a:gd name="T39" fmla="*/ 0 h 39"/>
                <a:gd name="T40" fmla="*/ 32 w 63"/>
                <a:gd name="T41" fmla="*/ 0 h 39"/>
                <a:gd name="T42" fmla="*/ 28 w 63"/>
                <a:gd name="T43" fmla="*/ 0 h 39"/>
                <a:gd name="T44" fmla="*/ 20 w 63"/>
                <a:gd name="T45" fmla="*/ 3 h 39"/>
                <a:gd name="T46" fmla="*/ 16 w 63"/>
                <a:gd name="T47" fmla="*/ 3 h 39"/>
                <a:gd name="T48" fmla="*/ 12 w 63"/>
                <a:gd name="T49" fmla="*/ 5 h 39"/>
                <a:gd name="T50" fmla="*/ 8 w 63"/>
                <a:gd name="T51" fmla="*/ 7 h 39"/>
                <a:gd name="T52" fmla="*/ 4 w 63"/>
                <a:gd name="T53" fmla="*/ 9 h 39"/>
                <a:gd name="T54" fmla="*/ 4 w 63"/>
                <a:gd name="T55" fmla="*/ 12 h 39"/>
                <a:gd name="T56" fmla="*/ 0 w 63"/>
                <a:gd name="T57" fmla="*/ 14 h 39"/>
                <a:gd name="T58" fmla="*/ 0 w 63"/>
                <a:gd name="T59" fmla="*/ 16 h 39"/>
                <a:gd name="T60" fmla="*/ 0 w 63"/>
                <a:gd name="T61" fmla="*/ 21 h 39"/>
                <a:gd name="T62" fmla="*/ 0 w 63"/>
                <a:gd name="T63" fmla="*/ 23 h 39"/>
                <a:gd name="T64" fmla="*/ 0 w 63"/>
                <a:gd name="T65" fmla="*/ 25 h 39"/>
                <a:gd name="T66" fmla="*/ 4 w 63"/>
                <a:gd name="T67" fmla="*/ 27 h 39"/>
                <a:gd name="T68" fmla="*/ 4 w 63"/>
                <a:gd name="T69" fmla="*/ 32 h 39"/>
                <a:gd name="T70" fmla="*/ 8 w 63"/>
                <a:gd name="T71" fmla="*/ 34 h 39"/>
                <a:gd name="T72" fmla="*/ 12 w 63"/>
                <a:gd name="T73" fmla="*/ 34 h 39"/>
                <a:gd name="T74" fmla="*/ 16 w 63"/>
                <a:gd name="T75" fmla="*/ 36 h 39"/>
                <a:gd name="T76" fmla="*/ 20 w 63"/>
                <a:gd name="T77" fmla="*/ 39 h 39"/>
                <a:gd name="T78" fmla="*/ 28 w 63"/>
                <a:gd name="T79" fmla="*/ 39 h 39"/>
                <a:gd name="T80" fmla="*/ 32 w 63"/>
                <a:gd name="T81" fmla="*/ 39 h 39"/>
                <a:gd name="T82" fmla="*/ 32 w 63"/>
                <a:gd name="T83" fmla="*/ 39 h 39"/>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w 63"/>
                <a:gd name="T127" fmla="*/ 0 h 39"/>
                <a:gd name="T128" fmla="*/ 63 w 63"/>
                <a:gd name="T129" fmla="*/ 39 h 39"/>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T126" t="T127" r="T128" b="T129"/>
              <a:pathLst>
                <a:path w="63" h="39">
                  <a:moveTo>
                    <a:pt x="32" y="39"/>
                  </a:moveTo>
                  <a:lnTo>
                    <a:pt x="36" y="39"/>
                  </a:lnTo>
                  <a:lnTo>
                    <a:pt x="44" y="39"/>
                  </a:lnTo>
                  <a:lnTo>
                    <a:pt x="47" y="36"/>
                  </a:lnTo>
                  <a:lnTo>
                    <a:pt x="51" y="34"/>
                  </a:lnTo>
                  <a:lnTo>
                    <a:pt x="55" y="34"/>
                  </a:lnTo>
                  <a:lnTo>
                    <a:pt x="59" y="32"/>
                  </a:lnTo>
                  <a:lnTo>
                    <a:pt x="59" y="27"/>
                  </a:lnTo>
                  <a:lnTo>
                    <a:pt x="63" y="25"/>
                  </a:lnTo>
                  <a:lnTo>
                    <a:pt x="63" y="23"/>
                  </a:lnTo>
                  <a:lnTo>
                    <a:pt x="63" y="21"/>
                  </a:lnTo>
                  <a:lnTo>
                    <a:pt x="63" y="16"/>
                  </a:lnTo>
                  <a:lnTo>
                    <a:pt x="63" y="14"/>
                  </a:lnTo>
                  <a:lnTo>
                    <a:pt x="59" y="12"/>
                  </a:lnTo>
                  <a:lnTo>
                    <a:pt x="59" y="9"/>
                  </a:lnTo>
                  <a:lnTo>
                    <a:pt x="55" y="7"/>
                  </a:lnTo>
                  <a:lnTo>
                    <a:pt x="51" y="5"/>
                  </a:lnTo>
                  <a:lnTo>
                    <a:pt x="47" y="3"/>
                  </a:lnTo>
                  <a:lnTo>
                    <a:pt x="44" y="3"/>
                  </a:lnTo>
                  <a:lnTo>
                    <a:pt x="36" y="0"/>
                  </a:lnTo>
                  <a:lnTo>
                    <a:pt x="32" y="0"/>
                  </a:lnTo>
                  <a:lnTo>
                    <a:pt x="28" y="0"/>
                  </a:lnTo>
                  <a:lnTo>
                    <a:pt x="20" y="3"/>
                  </a:lnTo>
                  <a:lnTo>
                    <a:pt x="16" y="3"/>
                  </a:lnTo>
                  <a:lnTo>
                    <a:pt x="12" y="5"/>
                  </a:lnTo>
                  <a:lnTo>
                    <a:pt x="8" y="7"/>
                  </a:lnTo>
                  <a:lnTo>
                    <a:pt x="4" y="9"/>
                  </a:lnTo>
                  <a:lnTo>
                    <a:pt x="4" y="12"/>
                  </a:lnTo>
                  <a:lnTo>
                    <a:pt x="0" y="14"/>
                  </a:lnTo>
                  <a:lnTo>
                    <a:pt x="0" y="16"/>
                  </a:lnTo>
                  <a:lnTo>
                    <a:pt x="0" y="21"/>
                  </a:lnTo>
                  <a:lnTo>
                    <a:pt x="0" y="23"/>
                  </a:lnTo>
                  <a:lnTo>
                    <a:pt x="0" y="25"/>
                  </a:lnTo>
                  <a:lnTo>
                    <a:pt x="4" y="27"/>
                  </a:lnTo>
                  <a:lnTo>
                    <a:pt x="4" y="32"/>
                  </a:lnTo>
                  <a:lnTo>
                    <a:pt x="8" y="34"/>
                  </a:lnTo>
                  <a:lnTo>
                    <a:pt x="12" y="34"/>
                  </a:lnTo>
                  <a:lnTo>
                    <a:pt x="16" y="36"/>
                  </a:lnTo>
                  <a:lnTo>
                    <a:pt x="20" y="39"/>
                  </a:lnTo>
                  <a:lnTo>
                    <a:pt x="28" y="39"/>
                  </a:lnTo>
                  <a:lnTo>
                    <a:pt x="32" y="39"/>
                  </a:lnTo>
                  <a:close/>
                </a:path>
              </a:pathLst>
            </a:custGeom>
            <a:solidFill>
              <a:srgbClr val="000000"/>
            </a:solidFill>
            <a:ln w="9525">
              <a:noFill/>
              <a:round/>
              <a:headEnd/>
              <a:tailEnd/>
            </a:ln>
          </p:spPr>
          <p:txBody>
            <a:bodyPr/>
            <a:lstStyle/>
            <a:p>
              <a:endParaRPr lang="zh-TW" altLang="en-US" sz="1350"/>
            </a:p>
          </p:txBody>
        </p:sp>
        <p:sp>
          <p:nvSpPr>
            <p:cNvPr id="25680" name="Freeform 74"/>
            <p:cNvSpPr>
              <a:spLocks/>
            </p:cNvSpPr>
            <p:nvPr/>
          </p:nvSpPr>
          <p:spPr bwMode="auto">
            <a:xfrm>
              <a:off x="5265" y="3834"/>
              <a:ext cx="67" cy="39"/>
            </a:xfrm>
            <a:custGeom>
              <a:avLst/>
              <a:gdLst>
                <a:gd name="T0" fmla="*/ 31 w 67"/>
                <a:gd name="T1" fmla="*/ 39 h 39"/>
                <a:gd name="T2" fmla="*/ 39 w 67"/>
                <a:gd name="T3" fmla="*/ 39 h 39"/>
                <a:gd name="T4" fmla="*/ 43 w 67"/>
                <a:gd name="T5" fmla="*/ 39 h 39"/>
                <a:gd name="T6" fmla="*/ 47 w 67"/>
                <a:gd name="T7" fmla="*/ 36 h 39"/>
                <a:gd name="T8" fmla="*/ 51 w 67"/>
                <a:gd name="T9" fmla="*/ 34 h 39"/>
                <a:gd name="T10" fmla="*/ 55 w 67"/>
                <a:gd name="T11" fmla="*/ 34 h 39"/>
                <a:gd name="T12" fmla="*/ 59 w 67"/>
                <a:gd name="T13" fmla="*/ 32 h 39"/>
                <a:gd name="T14" fmla="*/ 63 w 67"/>
                <a:gd name="T15" fmla="*/ 27 h 39"/>
                <a:gd name="T16" fmla="*/ 63 w 67"/>
                <a:gd name="T17" fmla="*/ 25 h 39"/>
                <a:gd name="T18" fmla="*/ 67 w 67"/>
                <a:gd name="T19" fmla="*/ 23 h 39"/>
                <a:gd name="T20" fmla="*/ 67 w 67"/>
                <a:gd name="T21" fmla="*/ 21 h 39"/>
                <a:gd name="T22" fmla="*/ 67 w 67"/>
                <a:gd name="T23" fmla="*/ 16 h 39"/>
                <a:gd name="T24" fmla="*/ 63 w 67"/>
                <a:gd name="T25" fmla="*/ 14 h 39"/>
                <a:gd name="T26" fmla="*/ 63 w 67"/>
                <a:gd name="T27" fmla="*/ 12 h 39"/>
                <a:gd name="T28" fmla="*/ 59 w 67"/>
                <a:gd name="T29" fmla="*/ 9 h 39"/>
                <a:gd name="T30" fmla="*/ 55 w 67"/>
                <a:gd name="T31" fmla="*/ 7 h 39"/>
                <a:gd name="T32" fmla="*/ 51 w 67"/>
                <a:gd name="T33" fmla="*/ 5 h 39"/>
                <a:gd name="T34" fmla="*/ 47 w 67"/>
                <a:gd name="T35" fmla="*/ 3 h 39"/>
                <a:gd name="T36" fmla="*/ 43 w 67"/>
                <a:gd name="T37" fmla="*/ 3 h 39"/>
                <a:gd name="T38" fmla="*/ 39 w 67"/>
                <a:gd name="T39" fmla="*/ 0 h 39"/>
                <a:gd name="T40" fmla="*/ 31 w 67"/>
                <a:gd name="T41" fmla="*/ 0 h 39"/>
                <a:gd name="T42" fmla="*/ 28 w 67"/>
                <a:gd name="T43" fmla="*/ 0 h 39"/>
                <a:gd name="T44" fmla="*/ 24 w 67"/>
                <a:gd name="T45" fmla="*/ 3 h 39"/>
                <a:gd name="T46" fmla="*/ 20 w 67"/>
                <a:gd name="T47" fmla="*/ 3 h 39"/>
                <a:gd name="T48" fmla="*/ 16 w 67"/>
                <a:gd name="T49" fmla="*/ 5 h 39"/>
                <a:gd name="T50" fmla="*/ 12 w 67"/>
                <a:gd name="T51" fmla="*/ 7 h 39"/>
                <a:gd name="T52" fmla="*/ 8 w 67"/>
                <a:gd name="T53" fmla="*/ 9 h 39"/>
                <a:gd name="T54" fmla="*/ 4 w 67"/>
                <a:gd name="T55" fmla="*/ 12 h 39"/>
                <a:gd name="T56" fmla="*/ 4 w 67"/>
                <a:gd name="T57" fmla="*/ 14 h 39"/>
                <a:gd name="T58" fmla="*/ 0 w 67"/>
                <a:gd name="T59" fmla="*/ 16 h 39"/>
                <a:gd name="T60" fmla="*/ 0 w 67"/>
                <a:gd name="T61" fmla="*/ 21 h 39"/>
                <a:gd name="T62" fmla="*/ 0 w 67"/>
                <a:gd name="T63" fmla="*/ 23 h 39"/>
                <a:gd name="T64" fmla="*/ 4 w 67"/>
                <a:gd name="T65" fmla="*/ 25 h 39"/>
                <a:gd name="T66" fmla="*/ 4 w 67"/>
                <a:gd name="T67" fmla="*/ 27 h 39"/>
                <a:gd name="T68" fmla="*/ 8 w 67"/>
                <a:gd name="T69" fmla="*/ 32 h 39"/>
                <a:gd name="T70" fmla="*/ 12 w 67"/>
                <a:gd name="T71" fmla="*/ 34 h 39"/>
                <a:gd name="T72" fmla="*/ 16 w 67"/>
                <a:gd name="T73" fmla="*/ 34 h 39"/>
                <a:gd name="T74" fmla="*/ 20 w 67"/>
                <a:gd name="T75" fmla="*/ 36 h 39"/>
                <a:gd name="T76" fmla="*/ 24 w 67"/>
                <a:gd name="T77" fmla="*/ 39 h 39"/>
                <a:gd name="T78" fmla="*/ 28 w 67"/>
                <a:gd name="T79" fmla="*/ 39 h 39"/>
                <a:gd name="T80" fmla="*/ 31 w 67"/>
                <a:gd name="T81" fmla="*/ 39 h 39"/>
                <a:gd name="T82" fmla="*/ 31 w 67"/>
                <a:gd name="T83" fmla="*/ 39 h 39"/>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w 67"/>
                <a:gd name="T127" fmla="*/ 0 h 39"/>
                <a:gd name="T128" fmla="*/ 67 w 67"/>
                <a:gd name="T129" fmla="*/ 39 h 39"/>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T126" t="T127" r="T128" b="T129"/>
              <a:pathLst>
                <a:path w="67" h="39">
                  <a:moveTo>
                    <a:pt x="31" y="39"/>
                  </a:moveTo>
                  <a:lnTo>
                    <a:pt x="39" y="39"/>
                  </a:lnTo>
                  <a:lnTo>
                    <a:pt x="43" y="39"/>
                  </a:lnTo>
                  <a:lnTo>
                    <a:pt x="47" y="36"/>
                  </a:lnTo>
                  <a:lnTo>
                    <a:pt x="51" y="34"/>
                  </a:lnTo>
                  <a:lnTo>
                    <a:pt x="55" y="34"/>
                  </a:lnTo>
                  <a:lnTo>
                    <a:pt x="59" y="32"/>
                  </a:lnTo>
                  <a:lnTo>
                    <a:pt x="63" y="27"/>
                  </a:lnTo>
                  <a:lnTo>
                    <a:pt x="63" y="25"/>
                  </a:lnTo>
                  <a:lnTo>
                    <a:pt x="67" y="23"/>
                  </a:lnTo>
                  <a:lnTo>
                    <a:pt x="67" y="21"/>
                  </a:lnTo>
                  <a:lnTo>
                    <a:pt x="67" y="16"/>
                  </a:lnTo>
                  <a:lnTo>
                    <a:pt x="63" y="14"/>
                  </a:lnTo>
                  <a:lnTo>
                    <a:pt x="63" y="12"/>
                  </a:lnTo>
                  <a:lnTo>
                    <a:pt x="59" y="9"/>
                  </a:lnTo>
                  <a:lnTo>
                    <a:pt x="55" y="7"/>
                  </a:lnTo>
                  <a:lnTo>
                    <a:pt x="51" y="5"/>
                  </a:lnTo>
                  <a:lnTo>
                    <a:pt x="47" y="3"/>
                  </a:lnTo>
                  <a:lnTo>
                    <a:pt x="43" y="3"/>
                  </a:lnTo>
                  <a:lnTo>
                    <a:pt x="39" y="0"/>
                  </a:lnTo>
                  <a:lnTo>
                    <a:pt x="31" y="0"/>
                  </a:lnTo>
                  <a:lnTo>
                    <a:pt x="28" y="0"/>
                  </a:lnTo>
                  <a:lnTo>
                    <a:pt x="24" y="3"/>
                  </a:lnTo>
                  <a:lnTo>
                    <a:pt x="20" y="3"/>
                  </a:lnTo>
                  <a:lnTo>
                    <a:pt x="16" y="5"/>
                  </a:lnTo>
                  <a:lnTo>
                    <a:pt x="12" y="7"/>
                  </a:lnTo>
                  <a:lnTo>
                    <a:pt x="8" y="9"/>
                  </a:lnTo>
                  <a:lnTo>
                    <a:pt x="4" y="12"/>
                  </a:lnTo>
                  <a:lnTo>
                    <a:pt x="4" y="14"/>
                  </a:lnTo>
                  <a:lnTo>
                    <a:pt x="0" y="16"/>
                  </a:lnTo>
                  <a:lnTo>
                    <a:pt x="0" y="21"/>
                  </a:lnTo>
                  <a:lnTo>
                    <a:pt x="0" y="23"/>
                  </a:lnTo>
                  <a:lnTo>
                    <a:pt x="4" y="25"/>
                  </a:lnTo>
                  <a:lnTo>
                    <a:pt x="4" y="27"/>
                  </a:lnTo>
                  <a:lnTo>
                    <a:pt x="8" y="32"/>
                  </a:lnTo>
                  <a:lnTo>
                    <a:pt x="12" y="34"/>
                  </a:lnTo>
                  <a:lnTo>
                    <a:pt x="16" y="34"/>
                  </a:lnTo>
                  <a:lnTo>
                    <a:pt x="20" y="36"/>
                  </a:lnTo>
                  <a:lnTo>
                    <a:pt x="24" y="39"/>
                  </a:lnTo>
                  <a:lnTo>
                    <a:pt x="28" y="39"/>
                  </a:lnTo>
                  <a:lnTo>
                    <a:pt x="31" y="39"/>
                  </a:lnTo>
                  <a:close/>
                </a:path>
              </a:pathLst>
            </a:custGeom>
            <a:solidFill>
              <a:srgbClr val="000000"/>
            </a:solidFill>
            <a:ln w="9525">
              <a:noFill/>
              <a:round/>
              <a:headEnd/>
              <a:tailEnd/>
            </a:ln>
          </p:spPr>
          <p:txBody>
            <a:bodyPr/>
            <a:lstStyle/>
            <a:p>
              <a:endParaRPr lang="zh-TW" altLang="en-US" sz="1350"/>
            </a:p>
          </p:txBody>
        </p:sp>
        <p:sp>
          <p:nvSpPr>
            <p:cNvPr id="25681" name="Rectangle 75"/>
            <p:cNvSpPr>
              <a:spLocks noChangeArrowheads="1"/>
            </p:cNvSpPr>
            <p:nvPr/>
          </p:nvSpPr>
          <p:spPr bwMode="auto">
            <a:xfrm>
              <a:off x="1259" y="4186"/>
              <a:ext cx="40" cy="87"/>
            </a:xfrm>
            <a:prstGeom prst="rect">
              <a:avLst/>
            </a:prstGeom>
            <a:noFill/>
            <a:ln w="9525">
              <a:noFill/>
              <a:miter lim="800000"/>
              <a:headEnd/>
              <a:tailEnd/>
            </a:ln>
          </p:spPr>
          <p:txBody>
            <a:bodyPr wrap="none" lIns="0" tIns="0" rIns="0" bIns="0">
              <a:spAutoFit/>
            </a:bodyPr>
            <a:lstStyle/>
            <a:p>
              <a:r>
                <a:rPr lang="zh-TW" altLang="en-US" sz="675">
                  <a:solidFill>
                    <a:srgbClr val="000000"/>
                  </a:solidFill>
                  <a:latin typeface="Arial" pitchFamily="34" charset="0"/>
                </a:rPr>
                <a:t>0</a:t>
              </a:r>
              <a:endParaRPr lang="zh-TW" altLang="en-US" sz="1350"/>
            </a:p>
          </p:txBody>
        </p:sp>
        <p:sp>
          <p:nvSpPr>
            <p:cNvPr id="25682" name="Rectangle 76"/>
            <p:cNvSpPr>
              <a:spLocks noChangeArrowheads="1"/>
            </p:cNvSpPr>
            <p:nvPr/>
          </p:nvSpPr>
          <p:spPr bwMode="auto">
            <a:xfrm>
              <a:off x="1335" y="4186"/>
              <a:ext cx="40" cy="87"/>
            </a:xfrm>
            <a:prstGeom prst="rect">
              <a:avLst/>
            </a:prstGeom>
            <a:noFill/>
            <a:ln w="9525">
              <a:noFill/>
              <a:miter lim="800000"/>
              <a:headEnd/>
              <a:tailEnd/>
            </a:ln>
          </p:spPr>
          <p:txBody>
            <a:bodyPr wrap="none" lIns="0" tIns="0" rIns="0" bIns="0">
              <a:spAutoFit/>
            </a:bodyPr>
            <a:lstStyle/>
            <a:p>
              <a:r>
                <a:rPr lang="zh-TW" altLang="en-US" sz="675">
                  <a:solidFill>
                    <a:srgbClr val="000000"/>
                  </a:solidFill>
                  <a:latin typeface="Arial" pitchFamily="34" charset="0"/>
                </a:rPr>
                <a:t>0</a:t>
              </a:r>
              <a:endParaRPr lang="zh-TW" altLang="en-US" sz="1350"/>
            </a:p>
          </p:txBody>
        </p:sp>
        <p:sp>
          <p:nvSpPr>
            <p:cNvPr id="25683" name="Rectangle 77"/>
            <p:cNvSpPr>
              <a:spLocks noChangeArrowheads="1"/>
            </p:cNvSpPr>
            <p:nvPr/>
          </p:nvSpPr>
          <p:spPr bwMode="auto">
            <a:xfrm>
              <a:off x="1406" y="4186"/>
              <a:ext cx="40" cy="87"/>
            </a:xfrm>
            <a:prstGeom prst="rect">
              <a:avLst/>
            </a:prstGeom>
            <a:noFill/>
            <a:ln w="9525">
              <a:noFill/>
              <a:miter lim="800000"/>
              <a:headEnd/>
              <a:tailEnd/>
            </a:ln>
          </p:spPr>
          <p:txBody>
            <a:bodyPr wrap="none" lIns="0" tIns="0" rIns="0" bIns="0">
              <a:spAutoFit/>
            </a:bodyPr>
            <a:lstStyle/>
            <a:p>
              <a:r>
                <a:rPr lang="zh-TW" altLang="en-US" sz="675">
                  <a:solidFill>
                    <a:srgbClr val="000000"/>
                  </a:solidFill>
                  <a:latin typeface="Arial" pitchFamily="34" charset="0"/>
                </a:rPr>
                <a:t>1</a:t>
              </a:r>
              <a:endParaRPr lang="zh-TW" altLang="en-US" sz="1350"/>
            </a:p>
          </p:txBody>
        </p:sp>
        <p:sp>
          <p:nvSpPr>
            <p:cNvPr id="25684" name="Rectangle 78"/>
            <p:cNvSpPr>
              <a:spLocks noChangeArrowheads="1"/>
            </p:cNvSpPr>
            <p:nvPr/>
          </p:nvSpPr>
          <p:spPr bwMode="auto">
            <a:xfrm>
              <a:off x="1481" y="4186"/>
              <a:ext cx="40" cy="87"/>
            </a:xfrm>
            <a:prstGeom prst="rect">
              <a:avLst/>
            </a:prstGeom>
            <a:noFill/>
            <a:ln w="9525">
              <a:noFill/>
              <a:miter lim="800000"/>
              <a:headEnd/>
              <a:tailEnd/>
            </a:ln>
          </p:spPr>
          <p:txBody>
            <a:bodyPr wrap="none" lIns="0" tIns="0" rIns="0" bIns="0">
              <a:spAutoFit/>
            </a:bodyPr>
            <a:lstStyle/>
            <a:p>
              <a:r>
                <a:rPr lang="zh-TW" altLang="en-US" sz="675">
                  <a:solidFill>
                    <a:srgbClr val="000000"/>
                  </a:solidFill>
                  <a:latin typeface="Arial" pitchFamily="34" charset="0"/>
                </a:rPr>
                <a:t>0</a:t>
              </a:r>
              <a:endParaRPr lang="zh-TW" altLang="en-US" sz="1350"/>
            </a:p>
          </p:txBody>
        </p:sp>
        <p:sp>
          <p:nvSpPr>
            <p:cNvPr id="25685" name="Rectangle 79"/>
            <p:cNvSpPr>
              <a:spLocks noChangeArrowheads="1"/>
            </p:cNvSpPr>
            <p:nvPr/>
          </p:nvSpPr>
          <p:spPr bwMode="auto">
            <a:xfrm>
              <a:off x="1552" y="4186"/>
              <a:ext cx="40" cy="87"/>
            </a:xfrm>
            <a:prstGeom prst="rect">
              <a:avLst/>
            </a:prstGeom>
            <a:noFill/>
            <a:ln w="9525">
              <a:noFill/>
              <a:miter lim="800000"/>
              <a:headEnd/>
              <a:tailEnd/>
            </a:ln>
          </p:spPr>
          <p:txBody>
            <a:bodyPr wrap="none" lIns="0" tIns="0" rIns="0" bIns="0">
              <a:spAutoFit/>
            </a:bodyPr>
            <a:lstStyle/>
            <a:p>
              <a:r>
                <a:rPr lang="zh-TW" altLang="en-US" sz="675">
                  <a:solidFill>
                    <a:srgbClr val="000000"/>
                  </a:solidFill>
                  <a:latin typeface="Arial" pitchFamily="34" charset="0"/>
                </a:rPr>
                <a:t>1</a:t>
              </a:r>
              <a:endParaRPr lang="zh-TW" altLang="en-US" sz="1350"/>
            </a:p>
          </p:txBody>
        </p:sp>
        <p:sp>
          <p:nvSpPr>
            <p:cNvPr id="25686" name="Rectangle 80"/>
            <p:cNvSpPr>
              <a:spLocks noChangeArrowheads="1"/>
            </p:cNvSpPr>
            <p:nvPr/>
          </p:nvSpPr>
          <p:spPr bwMode="auto">
            <a:xfrm>
              <a:off x="1917" y="4183"/>
              <a:ext cx="40" cy="87"/>
            </a:xfrm>
            <a:prstGeom prst="rect">
              <a:avLst/>
            </a:prstGeom>
            <a:noFill/>
            <a:ln w="9525">
              <a:noFill/>
              <a:miter lim="800000"/>
              <a:headEnd/>
              <a:tailEnd/>
            </a:ln>
          </p:spPr>
          <p:txBody>
            <a:bodyPr wrap="none" lIns="0" tIns="0" rIns="0" bIns="0">
              <a:spAutoFit/>
            </a:bodyPr>
            <a:lstStyle/>
            <a:p>
              <a:r>
                <a:rPr lang="zh-TW" altLang="en-US" sz="675">
                  <a:solidFill>
                    <a:srgbClr val="000000"/>
                  </a:solidFill>
                  <a:latin typeface="Arial" pitchFamily="34" charset="0"/>
                </a:rPr>
                <a:t>0</a:t>
              </a:r>
              <a:endParaRPr lang="zh-TW" altLang="en-US" sz="1350"/>
            </a:p>
          </p:txBody>
        </p:sp>
        <p:sp>
          <p:nvSpPr>
            <p:cNvPr id="25687" name="Rectangle 81"/>
            <p:cNvSpPr>
              <a:spLocks noChangeArrowheads="1"/>
            </p:cNvSpPr>
            <p:nvPr/>
          </p:nvSpPr>
          <p:spPr bwMode="auto">
            <a:xfrm>
              <a:off x="1988" y="4183"/>
              <a:ext cx="40" cy="87"/>
            </a:xfrm>
            <a:prstGeom prst="rect">
              <a:avLst/>
            </a:prstGeom>
            <a:noFill/>
            <a:ln w="9525">
              <a:noFill/>
              <a:miter lim="800000"/>
              <a:headEnd/>
              <a:tailEnd/>
            </a:ln>
          </p:spPr>
          <p:txBody>
            <a:bodyPr wrap="none" lIns="0" tIns="0" rIns="0" bIns="0">
              <a:spAutoFit/>
            </a:bodyPr>
            <a:lstStyle/>
            <a:p>
              <a:r>
                <a:rPr lang="zh-TW" altLang="en-US" sz="675">
                  <a:solidFill>
                    <a:srgbClr val="000000"/>
                  </a:solidFill>
                  <a:latin typeface="Arial" pitchFamily="34" charset="0"/>
                </a:rPr>
                <a:t>1</a:t>
              </a:r>
              <a:endParaRPr lang="zh-TW" altLang="en-US" sz="1350"/>
            </a:p>
          </p:txBody>
        </p:sp>
        <p:sp>
          <p:nvSpPr>
            <p:cNvPr id="25688" name="Rectangle 82"/>
            <p:cNvSpPr>
              <a:spLocks noChangeArrowheads="1"/>
            </p:cNvSpPr>
            <p:nvPr/>
          </p:nvSpPr>
          <p:spPr bwMode="auto">
            <a:xfrm>
              <a:off x="2064" y="4183"/>
              <a:ext cx="40" cy="87"/>
            </a:xfrm>
            <a:prstGeom prst="rect">
              <a:avLst/>
            </a:prstGeom>
            <a:noFill/>
            <a:ln w="9525">
              <a:noFill/>
              <a:miter lim="800000"/>
              <a:headEnd/>
              <a:tailEnd/>
            </a:ln>
          </p:spPr>
          <p:txBody>
            <a:bodyPr wrap="none" lIns="0" tIns="0" rIns="0" bIns="0">
              <a:spAutoFit/>
            </a:bodyPr>
            <a:lstStyle/>
            <a:p>
              <a:r>
                <a:rPr lang="zh-TW" altLang="en-US" sz="675">
                  <a:solidFill>
                    <a:srgbClr val="000000"/>
                  </a:solidFill>
                  <a:latin typeface="Arial" pitchFamily="34" charset="0"/>
                </a:rPr>
                <a:t>0</a:t>
              </a:r>
              <a:endParaRPr lang="zh-TW" altLang="en-US" sz="1350"/>
            </a:p>
          </p:txBody>
        </p:sp>
        <p:sp>
          <p:nvSpPr>
            <p:cNvPr id="25689" name="Rectangle 83"/>
            <p:cNvSpPr>
              <a:spLocks noChangeArrowheads="1"/>
            </p:cNvSpPr>
            <p:nvPr/>
          </p:nvSpPr>
          <p:spPr bwMode="auto">
            <a:xfrm>
              <a:off x="2135" y="4183"/>
              <a:ext cx="40" cy="87"/>
            </a:xfrm>
            <a:prstGeom prst="rect">
              <a:avLst/>
            </a:prstGeom>
            <a:noFill/>
            <a:ln w="9525">
              <a:noFill/>
              <a:miter lim="800000"/>
              <a:headEnd/>
              <a:tailEnd/>
            </a:ln>
          </p:spPr>
          <p:txBody>
            <a:bodyPr wrap="none" lIns="0" tIns="0" rIns="0" bIns="0">
              <a:spAutoFit/>
            </a:bodyPr>
            <a:lstStyle/>
            <a:p>
              <a:r>
                <a:rPr lang="zh-TW" altLang="en-US" sz="675">
                  <a:solidFill>
                    <a:srgbClr val="000000"/>
                  </a:solidFill>
                  <a:latin typeface="Arial" pitchFamily="34" charset="0"/>
                </a:rPr>
                <a:t>0</a:t>
              </a:r>
              <a:endParaRPr lang="zh-TW" altLang="en-US" sz="1350"/>
            </a:p>
          </p:txBody>
        </p:sp>
        <p:sp>
          <p:nvSpPr>
            <p:cNvPr id="25690" name="Rectangle 84"/>
            <p:cNvSpPr>
              <a:spLocks noChangeArrowheads="1"/>
            </p:cNvSpPr>
            <p:nvPr/>
          </p:nvSpPr>
          <p:spPr bwMode="auto">
            <a:xfrm>
              <a:off x="2210" y="4183"/>
              <a:ext cx="40" cy="87"/>
            </a:xfrm>
            <a:prstGeom prst="rect">
              <a:avLst/>
            </a:prstGeom>
            <a:noFill/>
            <a:ln w="9525">
              <a:noFill/>
              <a:miter lim="800000"/>
              <a:headEnd/>
              <a:tailEnd/>
            </a:ln>
          </p:spPr>
          <p:txBody>
            <a:bodyPr wrap="none" lIns="0" tIns="0" rIns="0" bIns="0">
              <a:spAutoFit/>
            </a:bodyPr>
            <a:lstStyle/>
            <a:p>
              <a:r>
                <a:rPr lang="zh-TW" altLang="en-US" sz="675">
                  <a:solidFill>
                    <a:srgbClr val="000000"/>
                  </a:solidFill>
                  <a:latin typeface="Arial" pitchFamily="34" charset="0"/>
                </a:rPr>
                <a:t>1</a:t>
              </a:r>
              <a:endParaRPr lang="zh-TW" altLang="en-US" sz="1350"/>
            </a:p>
          </p:txBody>
        </p:sp>
        <p:sp>
          <p:nvSpPr>
            <p:cNvPr id="25691" name="Rectangle 85"/>
            <p:cNvSpPr>
              <a:spLocks noChangeArrowheads="1"/>
            </p:cNvSpPr>
            <p:nvPr/>
          </p:nvSpPr>
          <p:spPr bwMode="auto">
            <a:xfrm>
              <a:off x="2539" y="4186"/>
              <a:ext cx="40" cy="87"/>
            </a:xfrm>
            <a:prstGeom prst="rect">
              <a:avLst/>
            </a:prstGeom>
            <a:noFill/>
            <a:ln w="9525">
              <a:noFill/>
              <a:miter lim="800000"/>
              <a:headEnd/>
              <a:tailEnd/>
            </a:ln>
          </p:spPr>
          <p:txBody>
            <a:bodyPr wrap="none" lIns="0" tIns="0" rIns="0" bIns="0">
              <a:spAutoFit/>
            </a:bodyPr>
            <a:lstStyle/>
            <a:p>
              <a:r>
                <a:rPr lang="zh-TW" altLang="en-US" sz="675">
                  <a:solidFill>
                    <a:srgbClr val="000000"/>
                  </a:solidFill>
                  <a:latin typeface="Arial" pitchFamily="34" charset="0"/>
                </a:rPr>
                <a:t>0</a:t>
              </a:r>
              <a:endParaRPr lang="zh-TW" altLang="en-US" sz="1350"/>
            </a:p>
          </p:txBody>
        </p:sp>
        <p:sp>
          <p:nvSpPr>
            <p:cNvPr id="25692" name="Rectangle 86"/>
            <p:cNvSpPr>
              <a:spLocks noChangeArrowheads="1"/>
            </p:cNvSpPr>
            <p:nvPr/>
          </p:nvSpPr>
          <p:spPr bwMode="auto">
            <a:xfrm>
              <a:off x="2614" y="4186"/>
              <a:ext cx="40" cy="87"/>
            </a:xfrm>
            <a:prstGeom prst="rect">
              <a:avLst/>
            </a:prstGeom>
            <a:noFill/>
            <a:ln w="9525">
              <a:noFill/>
              <a:miter lim="800000"/>
              <a:headEnd/>
              <a:tailEnd/>
            </a:ln>
          </p:spPr>
          <p:txBody>
            <a:bodyPr wrap="none" lIns="0" tIns="0" rIns="0" bIns="0">
              <a:spAutoFit/>
            </a:bodyPr>
            <a:lstStyle/>
            <a:p>
              <a:r>
                <a:rPr lang="zh-TW" altLang="en-US" sz="675">
                  <a:solidFill>
                    <a:srgbClr val="000000"/>
                  </a:solidFill>
                  <a:latin typeface="Arial" pitchFamily="34" charset="0"/>
                </a:rPr>
                <a:t>1</a:t>
              </a:r>
              <a:endParaRPr lang="zh-TW" altLang="en-US" sz="1350"/>
            </a:p>
          </p:txBody>
        </p:sp>
        <p:sp>
          <p:nvSpPr>
            <p:cNvPr id="25693" name="Rectangle 87"/>
            <p:cNvSpPr>
              <a:spLocks noChangeArrowheads="1"/>
            </p:cNvSpPr>
            <p:nvPr/>
          </p:nvSpPr>
          <p:spPr bwMode="auto">
            <a:xfrm>
              <a:off x="2686" y="4186"/>
              <a:ext cx="40" cy="87"/>
            </a:xfrm>
            <a:prstGeom prst="rect">
              <a:avLst/>
            </a:prstGeom>
            <a:noFill/>
            <a:ln w="9525">
              <a:noFill/>
              <a:miter lim="800000"/>
              <a:headEnd/>
              <a:tailEnd/>
            </a:ln>
          </p:spPr>
          <p:txBody>
            <a:bodyPr wrap="none" lIns="0" tIns="0" rIns="0" bIns="0">
              <a:spAutoFit/>
            </a:bodyPr>
            <a:lstStyle/>
            <a:p>
              <a:r>
                <a:rPr lang="zh-TW" altLang="en-US" sz="675">
                  <a:solidFill>
                    <a:srgbClr val="000000"/>
                  </a:solidFill>
                  <a:latin typeface="Arial" pitchFamily="34" charset="0"/>
                </a:rPr>
                <a:t>1</a:t>
              </a:r>
              <a:endParaRPr lang="zh-TW" altLang="en-US" sz="1350"/>
            </a:p>
          </p:txBody>
        </p:sp>
        <p:sp>
          <p:nvSpPr>
            <p:cNvPr id="25694" name="Rectangle 88"/>
            <p:cNvSpPr>
              <a:spLocks noChangeArrowheads="1"/>
            </p:cNvSpPr>
            <p:nvPr/>
          </p:nvSpPr>
          <p:spPr bwMode="auto">
            <a:xfrm>
              <a:off x="2761" y="4186"/>
              <a:ext cx="40" cy="87"/>
            </a:xfrm>
            <a:prstGeom prst="rect">
              <a:avLst/>
            </a:prstGeom>
            <a:noFill/>
            <a:ln w="9525">
              <a:noFill/>
              <a:miter lim="800000"/>
              <a:headEnd/>
              <a:tailEnd/>
            </a:ln>
          </p:spPr>
          <p:txBody>
            <a:bodyPr wrap="none" lIns="0" tIns="0" rIns="0" bIns="0">
              <a:spAutoFit/>
            </a:bodyPr>
            <a:lstStyle/>
            <a:p>
              <a:r>
                <a:rPr lang="zh-TW" altLang="en-US" sz="675">
                  <a:solidFill>
                    <a:srgbClr val="000000"/>
                  </a:solidFill>
                  <a:latin typeface="Arial" pitchFamily="34" charset="0"/>
                </a:rPr>
                <a:t>0</a:t>
              </a:r>
              <a:endParaRPr lang="zh-TW" altLang="en-US" sz="1350"/>
            </a:p>
          </p:txBody>
        </p:sp>
        <p:sp>
          <p:nvSpPr>
            <p:cNvPr id="25695" name="Rectangle 89"/>
            <p:cNvSpPr>
              <a:spLocks noChangeArrowheads="1"/>
            </p:cNvSpPr>
            <p:nvPr/>
          </p:nvSpPr>
          <p:spPr bwMode="auto">
            <a:xfrm>
              <a:off x="2832" y="4186"/>
              <a:ext cx="40" cy="87"/>
            </a:xfrm>
            <a:prstGeom prst="rect">
              <a:avLst/>
            </a:prstGeom>
            <a:noFill/>
            <a:ln w="9525">
              <a:noFill/>
              <a:miter lim="800000"/>
              <a:headEnd/>
              <a:tailEnd/>
            </a:ln>
          </p:spPr>
          <p:txBody>
            <a:bodyPr wrap="none" lIns="0" tIns="0" rIns="0" bIns="0">
              <a:spAutoFit/>
            </a:bodyPr>
            <a:lstStyle/>
            <a:p>
              <a:r>
                <a:rPr lang="zh-TW" altLang="en-US" sz="675">
                  <a:solidFill>
                    <a:srgbClr val="000000"/>
                  </a:solidFill>
                  <a:latin typeface="Arial" pitchFamily="34" charset="0"/>
                </a:rPr>
                <a:t>1</a:t>
              </a:r>
              <a:endParaRPr lang="zh-TW" altLang="en-US" sz="1350"/>
            </a:p>
          </p:txBody>
        </p:sp>
        <p:sp>
          <p:nvSpPr>
            <p:cNvPr id="25696" name="Rectangle 90"/>
            <p:cNvSpPr>
              <a:spLocks noChangeArrowheads="1"/>
            </p:cNvSpPr>
            <p:nvPr/>
          </p:nvSpPr>
          <p:spPr bwMode="auto">
            <a:xfrm>
              <a:off x="3181" y="4186"/>
              <a:ext cx="40" cy="87"/>
            </a:xfrm>
            <a:prstGeom prst="rect">
              <a:avLst/>
            </a:prstGeom>
            <a:noFill/>
            <a:ln w="9525">
              <a:noFill/>
              <a:miter lim="800000"/>
              <a:headEnd/>
              <a:tailEnd/>
            </a:ln>
          </p:spPr>
          <p:txBody>
            <a:bodyPr wrap="none" lIns="0" tIns="0" rIns="0" bIns="0">
              <a:spAutoFit/>
            </a:bodyPr>
            <a:lstStyle/>
            <a:p>
              <a:r>
                <a:rPr lang="zh-TW" altLang="en-US" sz="675">
                  <a:solidFill>
                    <a:srgbClr val="000000"/>
                  </a:solidFill>
                  <a:latin typeface="Arial" pitchFamily="34" charset="0"/>
                </a:rPr>
                <a:t>1</a:t>
              </a:r>
              <a:endParaRPr lang="zh-TW" altLang="en-US" sz="1350"/>
            </a:p>
          </p:txBody>
        </p:sp>
        <p:sp>
          <p:nvSpPr>
            <p:cNvPr id="25697" name="Rectangle 91"/>
            <p:cNvSpPr>
              <a:spLocks noChangeArrowheads="1"/>
            </p:cNvSpPr>
            <p:nvPr/>
          </p:nvSpPr>
          <p:spPr bwMode="auto">
            <a:xfrm>
              <a:off x="3252" y="4186"/>
              <a:ext cx="40" cy="87"/>
            </a:xfrm>
            <a:prstGeom prst="rect">
              <a:avLst/>
            </a:prstGeom>
            <a:noFill/>
            <a:ln w="9525">
              <a:noFill/>
              <a:miter lim="800000"/>
              <a:headEnd/>
              <a:tailEnd/>
            </a:ln>
          </p:spPr>
          <p:txBody>
            <a:bodyPr wrap="none" lIns="0" tIns="0" rIns="0" bIns="0">
              <a:spAutoFit/>
            </a:bodyPr>
            <a:lstStyle/>
            <a:p>
              <a:r>
                <a:rPr lang="zh-TW" altLang="en-US" sz="675">
                  <a:solidFill>
                    <a:srgbClr val="000000"/>
                  </a:solidFill>
                  <a:latin typeface="Arial" pitchFamily="34" charset="0"/>
                </a:rPr>
                <a:t>0</a:t>
              </a:r>
              <a:endParaRPr lang="zh-TW" altLang="en-US" sz="1350"/>
            </a:p>
          </p:txBody>
        </p:sp>
        <p:sp>
          <p:nvSpPr>
            <p:cNvPr id="25698" name="Rectangle 92"/>
            <p:cNvSpPr>
              <a:spLocks noChangeArrowheads="1"/>
            </p:cNvSpPr>
            <p:nvPr/>
          </p:nvSpPr>
          <p:spPr bwMode="auto">
            <a:xfrm>
              <a:off x="3327" y="4186"/>
              <a:ext cx="40" cy="87"/>
            </a:xfrm>
            <a:prstGeom prst="rect">
              <a:avLst/>
            </a:prstGeom>
            <a:noFill/>
            <a:ln w="9525">
              <a:noFill/>
              <a:miter lim="800000"/>
              <a:headEnd/>
              <a:tailEnd/>
            </a:ln>
          </p:spPr>
          <p:txBody>
            <a:bodyPr wrap="none" lIns="0" tIns="0" rIns="0" bIns="0">
              <a:spAutoFit/>
            </a:bodyPr>
            <a:lstStyle/>
            <a:p>
              <a:r>
                <a:rPr lang="zh-TW" altLang="en-US" sz="675">
                  <a:solidFill>
                    <a:srgbClr val="000000"/>
                  </a:solidFill>
                  <a:latin typeface="Arial" pitchFamily="34" charset="0"/>
                </a:rPr>
                <a:t>0</a:t>
              </a:r>
              <a:endParaRPr lang="zh-TW" altLang="en-US" sz="1350"/>
            </a:p>
          </p:txBody>
        </p:sp>
        <p:sp>
          <p:nvSpPr>
            <p:cNvPr id="25699" name="Rectangle 93"/>
            <p:cNvSpPr>
              <a:spLocks noChangeArrowheads="1"/>
            </p:cNvSpPr>
            <p:nvPr/>
          </p:nvSpPr>
          <p:spPr bwMode="auto">
            <a:xfrm>
              <a:off x="3399" y="4186"/>
              <a:ext cx="40" cy="87"/>
            </a:xfrm>
            <a:prstGeom prst="rect">
              <a:avLst/>
            </a:prstGeom>
            <a:noFill/>
            <a:ln w="9525">
              <a:noFill/>
              <a:miter lim="800000"/>
              <a:headEnd/>
              <a:tailEnd/>
            </a:ln>
          </p:spPr>
          <p:txBody>
            <a:bodyPr wrap="none" lIns="0" tIns="0" rIns="0" bIns="0">
              <a:spAutoFit/>
            </a:bodyPr>
            <a:lstStyle/>
            <a:p>
              <a:r>
                <a:rPr lang="zh-TW" altLang="en-US" sz="675">
                  <a:solidFill>
                    <a:srgbClr val="000000"/>
                  </a:solidFill>
                  <a:latin typeface="Arial" pitchFamily="34" charset="0"/>
                </a:rPr>
                <a:t>0</a:t>
              </a:r>
              <a:endParaRPr lang="zh-TW" altLang="en-US" sz="1350"/>
            </a:p>
          </p:txBody>
        </p:sp>
        <p:sp>
          <p:nvSpPr>
            <p:cNvPr id="25700" name="Rectangle 94"/>
            <p:cNvSpPr>
              <a:spLocks noChangeArrowheads="1"/>
            </p:cNvSpPr>
            <p:nvPr/>
          </p:nvSpPr>
          <p:spPr bwMode="auto">
            <a:xfrm>
              <a:off x="3474" y="4186"/>
              <a:ext cx="40" cy="87"/>
            </a:xfrm>
            <a:prstGeom prst="rect">
              <a:avLst/>
            </a:prstGeom>
            <a:noFill/>
            <a:ln w="9525">
              <a:noFill/>
              <a:miter lim="800000"/>
              <a:headEnd/>
              <a:tailEnd/>
            </a:ln>
          </p:spPr>
          <p:txBody>
            <a:bodyPr wrap="none" lIns="0" tIns="0" rIns="0" bIns="0">
              <a:spAutoFit/>
            </a:bodyPr>
            <a:lstStyle/>
            <a:p>
              <a:r>
                <a:rPr lang="zh-TW" altLang="en-US" sz="675">
                  <a:solidFill>
                    <a:srgbClr val="000000"/>
                  </a:solidFill>
                  <a:latin typeface="Arial" pitchFamily="34" charset="0"/>
                </a:rPr>
                <a:t>1</a:t>
              </a:r>
              <a:endParaRPr lang="zh-TW" altLang="en-US" sz="1350"/>
            </a:p>
          </p:txBody>
        </p:sp>
        <p:sp>
          <p:nvSpPr>
            <p:cNvPr id="25701" name="Rectangle 95"/>
            <p:cNvSpPr>
              <a:spLocks noChangeArrowheads="1"/>
            </p:cNvSpPr>
            <p:nvPr/>
          </p:nvSpPr>
          <p:spPr bwMode="auto">
            <a:xfrm>
              <a:off x="3819" y="4186"/>
              <a:ext cx="40" cy="87"/>
            </a:xfrm>
            <a:prstGeom prst="rect">
              <a:avLst/>
            </a:prstGeom>
            <a:noFill/>
            <a:ln w="9525">
              <a:noFill/>
              <a:miter lim="800000"/>
              <a:headEnd/>
              <a:tailEnd/>
            </a:ln>
          </p:spPr>
          <p:txBody>
            <a:bodyPr wrap="none" lIns="0" tIns="0" rIns="0" bIns="0">
              <a:spAutoFit/>
            </a:bodyPr>
            <a:lstStyle/>
            <a:p>
              <a:r>
                <a:rPr lang="zh-TW" altLang="en-US" sz="675">
                  <a:solidFill>
                    <a:srgbClr val="000000"/>
                  </a:solidFill>
                  <a:latin typeface="Arial" pitchFamily="34" charset="0"/>
                </a:rPr>
                <a:t>1</a:t>
              </a:r>
              <a:endParaRPr lang="zh-TW" altLang="en-US" sz="1350"/>
            </a:p>
          </p:txBody>
        </p:sp>
        <p:sp>
          <p:nvSpPr>
            <p:cNvPr id="25702" name="Rectangle 96"/>
            <p:cNvSpPr>
              <a:spLocks noChangeArrowheads="1"/>
            </p:cNvSpPr>
            <p:nvPr/>
          </p:nvSpPr>
          <p:spPr bwMode="auto">
            <a:xfrm>
              <a:off x="3894" y="4186"/>
              <a:ext cx="40" cy="87"/>
            </a:xfrm>
            <a:prstGeom prst="rect">
              <a:avLst/>
            </a:prstGeom>
            <a:noFill/>
            <a:ln w="9525">
              <a:noFill/>
              <a:miter lim="800000"/>
              <a:headEnd/>
              <a:tailEnd/>
            </a:ln>
          </p:spPr>
          <p:txBody>
            <a:bodyPr wrap="none" lIns="0" tIns="0" rIns="0" bIns="0">
              <a:spAutoFit/>
            </a:bodyPr>
            <a:lstStyle/>
            <a:p>
              <a:r>
                <a:rPr lang="zh-TW" altLang="en-US" sz="675">
                  <a:solidFill>
                    <a:srgbClr val="000000"/>
                  </a:solidFill>
                  <a:latin typeface="Arial" pitchFamily="34" charset="0"/>
                </a:rPr>
                <a:t>0</a:t>
              </a:r>
              <a:endParaRPr lang="zh-TW" altLang="en-US" sz="1350"/>
            </a:p>
          </p:txBody>
        </p:sp>
        <p:sp>
          <p:nvSpPr>
            <p:cNvPr id="25703" name="Rectangle 97"/>
            <p:cNvSpPr>
              <a:spLocks noChangeArrowheads="1"/>
            </p:cNvSpPr>
            <p:nvPr/>
          </p:nvSpPr>
          <p:spPr bwMode="auto">
            <a:xfrm>
              <a:off x="3965" y="4186"/>
              <a:ext cx="40" cy="87"/>
            </a:xfrm>
            <a:prstGeom prst="rect">
              <a:avLst/>
            </a:prstGeom>
            <a:noFill/>
            <a:ln w="9525">
              <a:noFill/>
              <a:miter lim="800000"/>
              <a:headEnd/>
              <a:tailEnd/>
            </a:ln>
          </p:spPr>
          <p:txBody>
            <a:bodyPr wrap="none" lIns="0" tIns="0" rIns="0" bIns="0">
              <a:spAutoFit/>
            </a:bodyPr>
            <a:lstStyle/>
            <a:p>
              <a:r>
                <a:rPr lang="zh-TW" altLang="en-US" sz="675">
                  <a:solidFill>
                    <a:srgbClr val="000000"/>
                  </a:solidFill>
                  <a:latin typeface="Arial" pitchFamily="34" charset="0"/>
                </a:rPr>
                <a:t>1</a:t>
              </a:r>
              <a:endParaRPr lang="zh-TW" altLang="en-US" sz="1350"/>
            </a:p>
          </p:txBody>
        </p:sp>
        <p:sp>
          <p:nvSpPr>
            <p:cNvPr id="25704" name="Rectangle 98"/>
            <p:cNvSpPr>
              <a:spLocks noChangeArrowheads="1"/>
            </p:cNvSpPr>
            <p:nvPr/>
          </p:nvSpPr>
          <p:spPr bwMode="auto">
            <a:xfrm>
              <a:off x="4041" y="4186"/>
              <a:ext cx="40" cy="87"/>
            </a:xfrm>
            <a:prstGeom prst="rect">
              <a:avLst/>
            </a:prstGeom>
            <a:noFill/>
            <a:ln w="9525">
              <a:noFill/>
              <a:miter lim="800000"/>
              <a:headEnd/>
              <a:tailEnd/>
            </a:ln>
          </p:spPr>
          <p:txBody>
            <a:bodyPr wrap="none" lIns="0" tIns="0" rIns="0" bIns="0">
              <a:spAutoFit/>
            </a:bodyPr>
            <a:lstStyle/>
            <a:p>
              <a:r>
                <a:rPr lang="zh-TW" altLang="en-US" sz="675">
                  <a:solidFill>
                    <a:srgbClr val="000000"/>
                  </a:solidFill>
                  <a:latin typeface="Arial" pitchFamily="34" charset="0"/>
                </a:rPr>
                <a:t>0</a:t>
              </a:r>
              <a:endParaRPr lang="zh-TW" altLang="en-US" sz="1350"/>
            </a:p>
          </p:txBody>
        </p:sp>
        <p:sp>
          <p:nvSpPr>
            <p:cNvPr id="25705" name="Rectangle 99"/>
            <p:cNvSpPr>
              <a:spLocks noChangeArrowheads="1"/>
            </p:cNvSpPr>
            <p:nvPr/>
          </p:nvSpPr>
          <p:spPr bwMode="auto">
            <a:xfrm>
              <a:off x="4112" y="4186"/>
              <a:ext cx="40" cy="87"/>
            </a:xfrm>
            <a:prstGeom prst="rect">
              <a:avLst/>
            </a:prstGeom>
            <a:noFill/>
            <a:ln w="9525">
              <a:noFill/>
              <a:miter lim="800000"/>
              <a:headEnd/>
              <a:tailEnd/>
            </a:ln>
          </p:spPr>
          <p:txBody>
            <a:bodyPr wrap="none" lIns="0" tIns="0" rIns="0" bIns="0">
              <a:spAutoFit/>
            </a:bodyPr>
            <a:lstStyle/>
            <a:p>
              <a:r>
                <a:rPr lang="zh-TW" altLang="en-US" sz="675">
                  <a:solidFill>
                    <a:srgbClr val="000000"/>
                  </a:solidFill>
                  <a:latin typeface="Arial" pitchFamily="34" charset="0"/>
                </a:rPr>
                <a:t>1</a:t>
              </a:r>
              <a:endParaRPr lang="zh-TW" altLang="en-US" sz="1350"/>
            </a:p>
          </p:txBody>
        </p:sp>
        <p:sp>
          <p:nvSpPr>
            <p:cNvPr id="25706" name="Rectangle 100"/>
            <p:cNvSpPr>
              <a:spLocks noChangeArrowheads="1"/>
            </p:cNvSpPr>
            <p:nvPr/>
          </p:nvSpPr>
          <p:spPr bwMode="auto">
            <a:xfrm>
              <a:off x="4457" y="4186"/>
              <a:ext cx="40" cy="87"/>
            </a:xfrm>
            <a:prstGeom prst="rect">
              <a:avLst/>
            </a:prstGeom>
            <a:noFill/>
            <a:ln w="9525">
              <a:noFill/>
              <a:miter lim="800000"/>
              <a:headEnd/>
              <a:tailEnd/>
            </a:ln>
          </p:spPr>
          <p:txBody>
            <a:bodyPr wrap="none" lIns="0" tIns="0" rIns="0" bIns="0">
              <a:spAutoFit/>
            </a:bodyPr>
            <a:lstStyle/>
            <a:p>
              <a:r>
                <a:rPr lang="zh-TW" altLang="en-US" sz="675">
                  <a:solidFill>
                    <a:srgbClr val="000000"/>
                  </a:solidFill>
                  <a:latin typeface="Arial" pitchFamily="34" charset="0"/>
                </a:rPr>
                <a:t>1</a:t>
              </a:r>
              <a:endParaRPr lang="zh-TW" altLang="en-US" sz="1350"/>
            </a:p>
          </p:txBody>
        </p:sp>
        <p:sp>
          <p:nvSpPr>
            <p:cNvPr id="25707" name="Rectangle 101"/>
            <p:cNvSpPr>
              <a:spLocks noChangeArrowheads="1"/>
            </p:cNvSpPr>
            <p:nvPr/>
          </p:nvSpPr>
          <p:spPr bwMode="auto">
            <a:xfrm>
              <a:off x="4532" y="4186"/>
              <a:ext cx="40" cy="87"/>
            </a:xfrm>
            <a:prstGeom prst="rect">
              <a:avLst/>
            </a:prstGeom>
            <a:noFill/>
            <a:ln w="9525">
              <a:noFill/>
              <a:miter lim="800000"/>
              <a:headEnd/>
              <a:tailEnd/>
            </a:ln>
          </p:spPr>
          <p:txBody>
            <a:bodyPr wrap="none" lIns="0" tIns="0" rIns="0" bIns="0">
              <a:spAutoFit/>
            </a:bodyPr>
            <a:lstStyle/>
            <a:p>
              <a:r>
                <a:rPr lang="zh-TW" altLang="en-US" sz="675">
                  <a:solidFill>
                    <a:srgbClr val="000000"/>
                  </a:solidFill>
                  <a:latin typeface="Arial" pitchFamily="34" charset="0"/>
                </a:rPr>
                <a:t>1</a:t>
              </a:r>
              <a:endParaRPr lang="zh-TW" altLang="en-US" sz="1350"/>
            </a:p>
          </p:txBody>
        </p:sp>
        <p:sp>
          <p:nvSpPr>
            <p:cNvPr id="25708" name="Rectangle 102"/>
            <p:cNvSpPr>
              <a:spLocks noChangeArrowheads="1"/>
            </p:cNvSpPr>
            <p:nvPr/>
          </p:nvSpPr>
          <p:spPr bwMode="auto">
            <a:xfrm>
              <a:off x="4607" y="4186"/>
              <a:ext cx="40" cy="87"/>
            </a:xfrm>
            <a:prstGeom prst="rect">
              <a:avLst/>
            </a:prstGeom>
            <a:noFill/>
            <a:ln w="9525">
              <a:noFill/>
              <a:miter lim="800000"/>
              <a:headEnd/>
              <a:tailEnd/>
            </a:ln>
          </p:spPr>
          <p:txBody>
            <a:bodyPr wrap="none" lIns="0" tIns="0" rIns="0" bIns="0">
              <a:spAutoFit/>
            </a:bodyPr>
            <a:lstStyle/>
            <a:p>
              <a:r>
                <a:rPr lang="zh-TW" altLang="en-US" sz="675">
                  <a:solidFill>
                    <a:srgbClr val="000000"/>
                  </a:solidFill>
                  <a:latin typeface="Arial" pitchFamily="34" charset="0"/>
                </a:rPr>
                <a:t>0</a:t>
              </a:r>
              <a:endParaRPr lang="zh-TW" altLang="en-US" sz="1350"/>
            </a:p>
          </p:txBody>
        </p:sp>
        <p:sp>
          <p:nvSpPr>
            <p:cNvPr id="25709" name="Rectangle 103"/>
            <p:cNvSpPr>
              <a:spLocks noChangeArrowheads="1"/>
            </p:cNvSpPr>
            <p:nvPr/>
          </p:nvSpPr>
          <p:spPr bwMode="auto">
            <a:xfrm>
              <a:off x="4678" y="4186"/>
              <a:ext cx="40" cy="87"/>
            </a:xfrm>
            <a:prstGeom prst="rect">
              <a:avLst/>
            </a:prstGeom>
            <a:noFill/>
            <a:ln w="9525">
              <a:noFill/>
              <a:miter lim="800000"/>
              <a:headEnd/>
              <a:tailEnd/>
            </a:ln>
          </p:spPr>
          <p:txBody>
            <a:bodyPr wrap="none" lIns="0" tIns="0" rIns="0" bIns="0">
              <a:spAutoFit/>
            </a:bodyPr>
            <a:lstStyle/>
            <a:p>
              <a:r>
                <a:rPr lang="zh-TW" altLang="en-US" sz="675">
                  <a:solidFill>
                    <a:srgbClr val="000000"/>
                  </a:solidFill>
                  <a:latin typeface="Arial" pitchFamily="34" charset="0"/>
                </a:rPr>
                <a:t>0</a:t>
              </a:r>
              <a:endParaRPr lang="zh-TW" altLang="en-US" sz="1350"/>
            </a:p>
          </p:txBody>
        </p:sp>
        <p:sp>
          <p:nvSpPr>
            <p:cNvPr id="25710" name="Rectangle 104"/>
            <p:cNvSpPr>
              <a:spLocks noChangeArrowheads="1"/>
            </p:cNvSpPr>
            <p:nvPr/>
          </p:nvSpPr>
          <p:spPr bwMode="auto">
            <a:xfrm>
              <a:off x="4754" y="4186"/>
              <a:ext cx="40" cy="87"/>
            </a:xfrm>
            <a:prstGeom prst="rect">
              <a:avLst/>
            </a:prstGeom>
            <a:noFill/>
            <a:ln w="9525">
              <a:noFill/>
              <a:miter lim="800000"/>
              <a:headEnd/>
              <a:tailEnd/>
            </a:ln>
          </p:spPr>
          <p:txBody>
            <a:bodyPr wrap="none" lIns="0" tIns="0" rIns="0" bIns="0">
              <a:spAutoFit/>
            </a:bodyPr>
            <a:lstStyle/>
            <a:p>
              <a:r>
                <a:rPr lang="zh-TW" altLang="en-US" sz="675">
                  <a:solidFill>
                    <a:srgbClr val="000000"/>
                  </a:solidFill>
                  <a:latin typeface="Arial" pitchFamily="34" charset="0"/>
                </a:rPr>
                <a:t>1</a:t>
              </a:r>
              <a:endParaRPr lang="zh-TW" altLang="en-US" sz="1350"/>
            </a:p>
          </p:txBody>
        </p:sp>
        <p:sp>
          <p:nvSpPr>
            <p:cNvPr id="25711" name="Rectangle 105"/>
            <p:cNvSpPr>
              <a:spLocks noChangeArrowheads="1"/>
            </p:cNvSpPr>
            <p:nvPr/>
          </p:nvSpPr>
          <p:spPr bwMode="auto">
            <a:xfrm>
              <a:off x="5098" y="4186"/>
              <a:ext cx="40" cy="87"/>
            </a:xfrm>
            <a:prstGeom prst="rect">
              <a:avLst/>
            </a:prstGeom>
            <a:noFill/>
            <a:ln w="9525">
              <a:noFill/>
              <a:miter lim="800000"/>
              <a:headEnd/>
              <a:tailEnd/>
            </a:ln>
          </p:spPr>
          <p:txBody>
            <a:bodyPr wrap="none" lIns="0" tIns="0" rIns="0" bIns="0">
              <a:spAutoFit/>
            </a:bodyPr>
            <a:lstStyle/>
            <a:p>
              <a:r>
                <a:rPr lang="zh-TW" altLang="en-US" sz="675">
                  <a:solidFill>
                    <a:srgbClr val="000000"/>
                  </a:solidFill>
                  <a:latin typeface="Arial" pitchFamily="34" charset="0"/>
                </a:rPr>
                <a:t>1</a:t>
              </a:r>
              <a:endParaRPr lang="zh-TW" altLang="en-US" sz="1350"/>
            </a:p>
          </p:txBody>
        </p:sp>
        <p:sp>
          <p:nvSpPr>
            <p:cNvPr id="25712" name="Rectangle 106"/>
            <p:cNvSpPr>
              <a:spLocks noChangeArrowheads="1"/>
            </p:cNvSpPr>
            <p:nvPr/>
          </p:nvSpPr>
          <p:spPr bwMode="auto">
            <a:xfrm>
              <a:off x="5170" y="4186"/>
              <a:ext cx="40" cy="87"/>
            </a:xfrm>
            <a:prstGeom prst="rect">
              <a:avLst/>
            </a:prstGeom>
            <a:noFill/>
            <a:ln w="9525">
              <a:noFill/>
              <a:miter lim="800000"/>
              <a:headEnd/>
              <a:tailEnd/>
            </a:ln>
          </p:spPr>
          <p:txBody>
            <a:bodyPr wrap="none" lIns="0" tIns="0" rIns="0" bIns="0">
              <a:spAutoFit/>
            </a:bodyPr>
            <a:lstStyle/>
            <a:p>
              <a:r>
                <a:rPr lang="zh-TW" altLang="en-US" sz="675">
                  <a:solidFill>
                    <a:srgbClr val="000000"/>
                  </a:solidFill>
                  <a:latin typeface="Arial" pitchFamily="34" charset="0"/>
                </a:rPr>
                <a:t>1</a:t>
              </a:r>
              <a:endParaRPr lang="zh-TW" altLang="en-US" sz="1350"/>
            </a:p>
          </p:txBody>
        </p:sp>
        <p:sp>
          <p:nvSpPr>
            <p:cNvPr id="25713" name="Rectangle 107"/>
            <p:cNvSpPr>
              <a:spLocks noChangeArrowheads="1"/>
            </p:cNvSpPr>
            <p:nvPr/>
          </p:nvSpPr>
          <p:spPr bwMode="auto">
            <a:xfrm>
              <a:off x="5245" y="4186"/>
              <a:ext cx="40" cy="87"/>
            </a:xfrm>
            <a:prstGeom prst="rect">
              <a:avLst/>
            </a:prstGeom>
            <a:noFill/>
            <a:ln w="9525">
              <a:noFill/>
              <a:miter lim="800000"/>
              <a:headEnd/>
              <a:tailEnd/>
            </a:ln>
          </p:spPr>
          <p:txBody>
            <a:bodyPr wrap="none" lIns="0" tIns="0" rIns="0" bIns="0">
              <a:spAutoFit/>
            </a:bodyPr>
            <a:lstStyle/>
            <a:p>
              <a:r>
                <a:rPr lang="zh-TW" altLang="en-US" sz="675">
                  <a:solidFill>
                    <a:srgbClr val="000000"/>
                  </a:solidFill>
                  <a:latin typeface="Arial" pitchFamily="34" charset="0"/>
                </a:rPr>
                <a:t>1</a:t>
              </a:r>
              <a:endParaRPr lang="zh-TW" altLang="en-US" sz="1350"/>
            </a:p>
          </p:txBody>
        </p:sp>
        <p:sp>
          <p:nvSpPr>
            <p:cNvPr id="25714" name="Rectangle 108"/>
            <p:cNvSpPr>
              <a:spLocks noChangeArrowheads="1"/>
            </p:cNvSpPr>
            <p:nvPr/>
          </p:nvSpPr>
          <p:spPr bwMode="auto">
            <a:xfrm>
              <a:off x="5320" y="4186"/>
              <a:ext cx="40" cy="87"/>
            </a:xfrm>
            <a:prstGeom prst="rect">
              <a:avLst/>
            </a:prstGeom>
            <a:noFill/>
            <a:ln w="9525">
              <a:noFill/>
              <a:miter lim="800000"/>
              <a:headEnd/>
              <a:tailEnd/>
            </a:ln>
          </p:spPr>
          <p:txBody>
            <a:bodyPr wrap="none" lIns="0" tIns="0" rIns="0" bIns="0">
              <a:spAutoFit/>
            </a:bodyPr>
            <a:lstStyle/>
            <a:p>
              <a:r>
                <a:rPr lang="zh-TW" altLang="en-US" sz="675">
                  <a:solidFill>
                    <a:srgbClr val="000000"/>
                  </a:solidFill>
                  <a:latin typeface="Arial" pitchFamily="34" charset="0"/>
                </a:rPr>
                <a:t>0</a:t>
              </a:r>
              <a:endParaRPr lang="zh-TW" altLang="en-US" sz="1350"/>
            </a:p>
          </p:txBody>
        </p:sp>
        <p:sp>
          <p:nvSpPr>
            <p:cNvPr id="25715" name="Rectangle 109"/>
            <p:cNvSpPr>
              <a:spLocks noChangeArrowheads="1"/>
            </p:cNvSpPr>
            <p:nvPr/>
          </p:nvSpPr>
          <p:spPr bwMode="auto">
            <a:xfrm>
              <a:off x="5392" y="4186"/>
              <a:ext cx="40" cy="87"/>
            </a:xfrm>
            <a:prstGeom prst="rect">
              <a:avLst/>
            </a:prstGeom>
            <a:noFill/>
            <a:ln w="9525">
              <a:noFill/>
              <a:miter lim="800000"/>
              <a:headEnd/>
              <a:tailEnd/>
            </a:ln>
          </p:spPr>
          <p:txBody>
            <a:bodyPr wrap="none" lIns="0" tIns="0" rIns="0" bIns="0">
              <a:spAutoFit/>
            </a:bodyPr>
            <a:lstStyle/>
            <a:p>
              <a:r>
                <a:rPr lang="zh-TW" altLang="en-US" sz="675">
                  <a:solidFill>
                    <a:srgbClr val="000000"/>
                  </a:solidFill>
                  <a:latin typeface="Arial" pitchFamily="34" charset="0"/>
                </a:rPr>
                <a:t>1</a:t>
              </a:r>
              <a:endParaRPr lang="zh-TW" altLang="en-US" sz="1350"/>
            </a:p>
          </p:txBody>
        </p:sp>
        <p:sp>
          <p:nvSpPr>
            <p:cNvPr id="25716" name="Rectangle 110"/>
            <p:cNvSpPr>
              <a:spLocks noChangeArrowheads="1"/>
            </p:cNvSpPr>
            <p:nvPr/>
          </p:nvSpPr>
          <p:spPr bwMode="auto">
            <a:xfrm rot="16200000">
              <a:off x="2545" y="2483"/>
              <a:ext cx="40" cy="87"/>
            </a:xfrm>
            <a:prstGeom prst="rect">
              <a:avLst/>
            </a:prstGeom>
            <a:noFill/>
            <a:ln w="9525">
              <a:noFill/>
              <a:miter lim="800000"/>
              <a:headEnd/>
              <a:tailEnd/>
            </a:ln>
          </p:spPr>
          <p:txBody>
            <a:bodyPr wrap="none" lIns="0" tIns="0" rIns="0" bIns="0">
              <a:spAutoFit/>
            </a:bodyPr>
            <a:lstStyle/>
            <a:p>
              <a:r>
                <a:rPr lang="zh-TW" altLang="en-US" sz="675">
                  <a:solidFill>
                    <a:srgbClr val="000000"/>
                  </a:solidFill>
                  <a:latin typeface="Arial" pitchFamily="34" charset="0"/>
                </a:rPr>
                <a:t>0</a:t>
              </a:r>
              <a:endParaRPr lang="zh-TW" altLang="en-US" sz="1350"/>
            </a:p>
          </p:txBody>
        </p:sp>
        <p:sp>
          <p:nvSpPr>
            <p:cNvPr id="25717" name="Rectangle 111"/>
            <p:cNvSpPr>
              <a:spLocks noChangeArrowheads="1"/>
            </p:cNvSpPr>
            <p:nvPr/>
          </p:nvSpPr>
          <p:spPr bwMode="auto">
            <a:xfrm rot="16200000">
              <a:off x="2545" y="2442"/>
              <a:ext cx="40" cy="87"/>
            </a:xfrm>
            <a:prstGeom prst="rect">
              <a:avLst/>
            </a:prstGeom>
            <a:noFill/>
            <a:ln w="9525">
              <a:noFill/>
              <a:miter lim="800000"/>
              <a:headEnd/>
              <a:tailEnd/>
            </a:ln>
          </p:spPr>
          <p:txBody>
            <a:bodyPr wrap="none" lIns="0" tIns="0" rIns="0" bIns="0">
              <a:spAutoFit/>
            </a:bodyPr>
            <a:lstStyle/>
            <a:p>
              <a:r>
                <a:rPr lang="zh-TW" altLang="en-US" sz="675">
                  <a:solidFill>
                    <a:srgbClr val="000000"/>
                  </a:solidFill>
                  <a:latin typeface="Arial" pitchFamily="34" charset="0"/>
                </a:rPr>
                <a:t>0</a:t>
              </a:r>
              <a:endParaRPr lang="zh-TW" altLang="en-US" sz="1350"/>
            </a:p>
          </p:txBody>
        </p:sp>
        <p:sp>
          <p:nvSpPr>
            <p:cNvPr id="25718" name="Rectangle 112"/>
            <p:cNvSpPr>
              <a:spLocks noChangeArrowheads="1"/>
            </p:cNvSpPr>
            <p:nvPr/>
          </p:nvSpPr>
          <p:spPr bwMode="auto">
            <a:xfrm rot="16200000">
              <a:off x="2545" y="2400"/>
              <a:ext cx="40" cy="87"/>
            </a:xfrm>
            <a:prstGeom prst="rect">
              <a:avLst/>
            </a:prstGeom>
            <a:noFill/>
            <a:ln w="9525">
              <a:noFill/>
              <a:miter lim="800000"/>
              <a:headEnd/>
              <a:tailEnd/>
            </a:ln>
          </p:spPr>
          <p:txBody>
            <a:bodyPr wrap="none" lIns="0" tIns="0" rIns="0" bIns="0">
              <a:spAutoFit/>
            </a:bodyPr>
            <a:lstStyle/>
            <a:p>
              <a:r>
                <a:rPr lang="zh-TW" altLang="en-US" sz="675">
                  <a:solidFill>
                    <a:srgbClr val="000000"/>
                  </a:solidFill>
                  <a:latin typeface="Arial" pitchFamily="34" charset="0"/>
                </a:rPr>
                <a:t>0</a:t>
              </a:r>
              <a:endParaRPr lang="zh-TW" altLang="en-US" sz="1350"/>
            </a:p>
          </p:txBody>
        </p:sp>
        <p:sp>
          <p:nvSpPr>
            <p:cNvPr id="25719" name="Freeform 118"/>
            <p:cNvSpPr>
              <a:spLocks/>
            </p:cNvSpPr>
            <p:nvPr/>
          </p:nvSpPr>
          <p:spPr bwMode="auto">
            <a:xfrm>
              <a:off x="5546" y="3541"/>
              <a:ext cx="4" cy="620"/>
            </a:xfrm>
            <a:custGeom>
              <a:avLst/>
              <a:gdLst>
                <a:gd name="T0" fmla="*/ 0 w 4"/>
                <a:gd name="T1" fmla="*/ 0 h 620"/>
                <a:gd name="T2" fmla="*/ 4 w 4"/>
                <a:gd name="T3" fmla="*/ 620 h 620"/>
                <a:gd name="T4" fmla="*/ 0 w 4"/>
                <a:gd name="T5" fmla="*/ 0 h 620"/>
                <a:gd name="T6" fmla="*/ 0 60000 65536"/>
                <a:gd name="T7" fmla="*/ 0 60000 65536"/>
                <a:gd name="T8" fmla="*/ 0 60000 65536"/>
                <a:gd name="T9" fmla="*/ 0 w 4"/>
                <a:gd name="T10" fmla="*/ 0 h 620"/>
                <a:gd name="T11" fmla="*/ 4 w 4"/>
                <a:gd name="T12" fmla="*/ 620 h 620"/>
              </a:gdLst>
              <a:ahLst/>
              <a:cxnLst>
                <a:cxn ang="T6">
                  <a:pos x="T0" y="T1"/>
                </a:cxn>
                <a:cxn ang="T7">
                  <a:pos x="T2" y="T3"/>
                </a:cxn>
                <a:cxn ang="T8">
                  <a:pos x="T4" y="T5"/>
                </a:cxn>
              </a:cxnLst>
              <a:rect l="T9" t="T10" r="T11" b="T12"/>
              <a:pathLst>
                <a:path w="4" h="620">
                  <a:moveTo>
                    <a:pt x="0" y="0"/>
                  </a:moveTo>
                  <a:lnTo>
                    <a:pt x="4" y="620"/>
                  </a:lnTo>
                  <a:lnTo>
                    <a:pt x="0" y="0"/>
                  </a:lnTo>
                  <a:close/>
                </a:path>
              </a:pathLst>
            </a:custGeom>
            <a:solidFill>
              <a:srgbClr val="EB7500"/>
            </a:solidFill>
            <a:ln w="9525">
              <a:noFill/>
              <a:round/>
              <a:headEnd/>
              <a:tailEnd/>
            </a:ln>
          </p:spPr>
          <p:txBody>
            <a:bodyPr/>
            <a:lstStyle/>
            <a:p>
              <a:endParaRPr lang="zh-TW" altLang="en-US" sz="1350"/>
            </a:p>
          </p:txBody>
        </p:sp>
        <p:sp>
          <p:nvSpPr>
            <p:cNvPr id="25720" name="Line 119"/>
            <p:cNvSpPr>
              <a:spLocks noChangeShapeType="1"/>
            </p:cNvSpPr>
            <p:nvPr/>
          </p:nvSpPr>
          <p:spPr bwMode="auto">
            <a:xfrm>
              <a:off x="5546" y="3541"/>
              <a:ext cx="4" cy="620"/>
            </a:xfrm>
            <a:prstGeom prst="line">
              <a:avLst/>
            </a:prstGeom>
            <a:noFill/>
            <a:ln w="25400">
              <a:solidFill>
                <a:srgbClr val="000000"/>
              </a:solidFill>
              <a:round/>
              <a:headEnd/>
              <a:tailEnd/>
            </a:ln>
          </p:spPr>
          <p:txBody>
            <a:bodyPr/>
            <a:lstStyle/>
            <a:p>
              <a:endParaRPr lang="zh-TW" altLang="en-US" sz="1350"/>
            </a:p>
          </p:txBody>
        </p:sp>
        <p:sp>
          <p:nvSpPr>
            <p:cNvPr id="25721" name="Rectangle 126"/>
            <p:cNvSpPr>
              <a:spLocks noChangeArrowheads="1"/>
            </p:cNvSpPr>
            <p:nvPr/>
          </p:nvSpPr>
          <p:spPr bwMode="auto">
            <a:xfrm rot="16200000">
              <a:off x="2696" y="2483"/>
              <a:ext cx="40" cy="87"/>
            </a:xfrm>
            <a:prstGeom prst="rect">
              <a:avLst/>
            </a:prstGeom>
            <a:noFill/>
            <a:ln w="9525">
              <a:noFill/>
              <a:miter lim="800000"/>
              <a:headEnd/>
              <a:tailEnd/>
            </a:ln>
          </p:spPr>
          <p:txBody>
            <a:bodyPr wrap="none" lIns="0" tIns="0" rIns="0" bIns="0">
              <a:spAutoFit/>
            </a:bodyPr>
            <a:lstStyle/>
            <a:p>
              <a:r>
                <a:rPr lang="zh-TW" altLang="en-US" sz="675">
                  <a:solidFill>
                    <a:srgbClr val="000000"/>
                  </a:solidFill>
                  <a:latin typeface="Arial" pitchFamily="34" charset="0"/>
                </a:rPr>
                <a:t>0</a:t>
              </a:r>
              <a:endParaRPr lang="zh-TW" altLang="en-US" sz="1350"/>
            </a:p>
          </p:txBody>
        </p:sp>
        <p:sp>
          <p:nvSpPr>
            <p:cNvPr id="25722" name="Rectangle 127"/>
            <p:cNvSpPr>
              <a:spLocks noChangeArrowheads="1"/>
            </p:cNvSpPr>
            <p:nvPr/>
          </p:nvSpPr>
          <p:spPr bwMode="auto">
            <a:xfrm rot="16200000">
              <a:off x="2696" y="2440"/>
              <a:ext cx="40" cy="87"/>
            </a:xfrm>
            <a:prstGeom prst="rect">
              <a:avLst/>
            </a:prstGeom>
            <a:noFill/>
            <a:ln w="9525">
              <a:noFill/>
              <a:miter lim="800000"/>
              <a:headEnd/>
              <a:tailEnd/>
            </a:ln>
          </p:spPr>
          <p:txBody>
            <a:bodyPr wrap="none" lIns="0" tIns="0" rIns="0" bIns="0">
              <a:spAutoFit/>
            </a:bodyPr>
            <a:lstStyle/>
            <a:p>
              <a:r>
                <a:rPr lang="zh-TW" altLang="en-US" sz="675">
                  <a:solidFill>
                    <a:srgbClr val="000000"/>
                  </a:solidFill>
                  <a:latin typeface="Arial" pitchFamily="34" charset="0"/>
                </a:rPr>
                <a:t>0</a:t>
              </a:r>
              <a:endParaRPr lang="zh-TW" altLang="en-US" sz="1350"/>
            </a:p>
          </p:txBody>
        </p:sp>
        <p:sp>
          <p:nvSpPr>
            <p:cNvPr id="25723" name="Rectangle 128"/>
            <p:cNvSpPr>
              <a:spLocks noChangeArrowheads="1"/>
            </p:cNvSpPr>
            <p:nvPr/>
          </p:nvSpPr>
          <p:spPr bwMode="auto">
            <a:xfrm rot="16200000">
              <a:off x="2696" y="2400"/>
              <a:ext cx="40" cy="87"/>
            </a:xfrm>
            <a:prstGeom prst="rect">
              <a:avLst/>
            </a:prstGeom>
            <a:noFill/>
            <a:ln w="9525">
              <a:noFill/>
              <a:miter lim="800000"/>
              <a:headEnd/>
              <a:tailEnd/>
            </a:ln>
          </p:spPr>
          <p:txBody>
            <a:bodyPr wrap="none" lIns="0" tIns="0" rIns="0" bIns="0">
              <a:spAutoFit/>
            </a:bodyPr>
            <a:lstStyle/>
            <a:p>
              <a:r>
                <a:rPr lang="zh-TW" altLang="en-US" sz="675">
                  <a:solidFill>
                    <a:srgbClr val="000000"/>
                  </a:solidFill>
                  <a:latin typeface="Arial" pitchFamily="34" charset="0"/>
                </a:rPr>
                <a:t>1</a:t>
              </a:r>
              <a:endParaRPr lang="zh-TW" altLang="en-US" sz="1350"/>
            </a:p>
          </p:txBody>
        </p:sp>
        <p:sp>
          <p:nvSpPr>
            <p:cNvPr id="25724" name="Rectangle 129"/>
            <p:cNvSpPr>
              <a:spLocks noChangeArrowheads="1"/>
            </p:cNvSpPr>
            <p:nvPr/>
          </p:nvSpPr>
          <p:spPr bwMode="auto">
            <a:xfrm rot="16200000">
              <a:off x="2862" y="2485"/>
              <a:ext cx="40" cy="87"/>
            </a:xfrm>
            <a:prstGeom prst="rect">
              <a:avLst/>
            </a:prstGeom>
            <a:noFill/>
            <a:ln w="9525">
              <a:noFill/>
              <a:miter lim="800000"/>
              <a:headEnd/>
              <a:tailEnd/>
            </a:ln>
          </p:spPr>
          <p:txBody>
            <a:bodyPr wrap="none" lIns="0" tIns="0" rIns="0" bIns="0">
              <a:spAutoFit/>
            </a:bodyPr>
            <a:lstStyle/>
            <a:p>
              <a:r>
                <a:rPr lang="zh-TW" altLang="en-US" sz="675">
                  <a:solidFill>
                    <a:srgbClr val="000000"/>
                  </a:solidFill>
                  <a:latin typeface="Arial" pitchFamily="34" charset="0"/>
                </a:rPr>
                <a:t>0</a:t>
              </a:r>
              <a:endParaRPr lang="zh-TW" altLang="en-US" sz="1350"/>
            </a:p>
          </p:txBody>
        </p:sp>
        <p:sp>
          <p:nvSpPr>
            <p:cNvPr id="25725" name="Rectangle 130"/>
            <p:cNvSpPr>
              <a:spLocks noChangeArrowheads="1"/>
            </p:cNvSpPr>
            <p:nvPr/>
          </p:nvSpPr>
          <p:spPr bwMode="auto">
            <a:xfrm rot="16200000">
              <a:off x="2862" y="2442"/>
              <a:ext cx="40" cy="87"/>
            </a:xfrm>
            <a:prstGeom prst="rect">
              <a:avLst/>
            </a:prstGeom>
            <a:noFill/>
            <a:ln w="9525">
              <a:noFill/>
              <a:miter lim="800000"/>
              <a:headEnd/>
              <a:tailEnd/>
            </a:ln>
          </p:spPr>
          <p:txBody>
            <a:bodyPr wrap="none" lIns="0" tIns="0" rIns="0" bIns="0">
              <a:spAutoFit/>
            </a:bodyPr>
            <a:lstStyle/>
            <a:p>
              <a:r>
                <a:rPr lang="zh-TW" altLang="en-US" sz="675">
                  <a:solidFill>
                    <a:srgbClr val="000000"/>
                  </a:solidFill>
                  <a:latin typeface="Arial" pitchFamily="34" charset="0"/>
                </a:rPr>
                <a:t>1</a:t>
              </a:r>
              <a:endParaRPr lang="zh-TW" altLang="en-US" sz="1350"/>
            </a:p>
          </p:txBody>
        </p:sp>
        <p:sp>
          <p:nvSpPr>
            <p:cNvPr id="25726" name="Rectangle 131"/>
            <p:cNvSpPr>
              <a:spLocks noChangeArrowheads="1"/>
            </p:cNvSpPr>
            <p:nvPr/>
          </p:nvSpPr>
          <p:spPr bwMode="auto">
            <a:xfrm rot="16200000">
              <a:off x="2862" y="2400"/>
              <a:ext cx="40" cy="87"/>
            </a:xfrm>
            <a:prstGeom prst="rect">
              <a:avLst/>
            </a:prstGeom>
            <a:noFill/>
            <a:ln w="9525">
              <a:noFill/>
              <a:miter lim="800000"/>
              <a:headEnd/>
              <a:tailEnd/>
            </a:ln>
          </p:spPr>
          <p:txBody>
            <a:bodyPr wrap="none" lIns="0" tIns="0" rIns="0" bIns="0">
              <a:spAutoFit/>
            </a:bodyPr>
            <a:lstStyle/>
            <a:p>
              <a:r>
                <a:rPr lang="zh-TW" altLang="en-US" sz="675">
                  <a:solidFill>
                    <a:srgbClr val="000000"/>
                  </a:solidFill>
                  <a:latin typeface="Arial" pitchFamily="34" charset="0"/>
                </a:rPr>
                <a:t>0</a:t>
              </a:r>
              <a:endParaRPr lang="zh-TW" altLang="en-US" sz="1350"/>
            </a:p>
          </p:txBody>
        </p:sp>
        <p:sp>
          <p:nvSpPr>
            <p:cNvPr id="25727" name="Rectangle 132"/>
            <p:cNvSpPr>
              <a:spLocks noChangeArrowheads="1"/>
            </p:cNvSpPr>
            <p:nvPr/>
          </p:nvSpPr>
          <p:spPr bwMode="auto">
            <a:xfrm rot="16200000">
              <a:off x="3025" y="2485"/>
              <a:ext cx="40" cy="87"/>
            </a:xfrm>
            <a:prstGeom prst="rect">
              <a:avLst/>
            </a:prstGeom>
            <a:noFill/>
            <a:ln w="9525">
              <a:noFill/>
              <a:miter lim="800000"/>
              <a:headEnd/>
              <a:tailEnd/>
            </a:ln>
          </p:spPr>
          <p:txBody>
            <a:bodyPr wrap="none" lIns="0" tIns="0" rIns="0" bIns="0">
              <a:spAutoFit/>
            </a:bodyPr>
            <a:lstStyle/>
            <a:p>
              <a:r>
                <a:rPr lang="zh-TW" altLang="en-US" sz="675">
                  <a:solidFill>
                    <a:srgbClr val="000000"/>
                  </a:solidFill>
                  <a:latin typeface="Arial" pitchFamily="34" charset="0"/>
                </a:rPr>
                <a:t>0</a:t>
              </a:r>
              <a:endParaRPr lang="zh-TW" altLang="en-US" sz="1350"/>
            </a:p>
          </p:txBody>
        </p:sp>
        <p:sp>
          <p:nvSpPr>
            <p:cNvPr id="25728" name="Rectangle 133"/>
            <p:cNvSpPr>
              <a:spLocks noChangeArrowheads="1"/>
            </p:cNvSpPr>
            <p:nvPr/>
          </p:nvSpPr>
          <p:spPr bwMode="auto">
            <a:xfrm rot="16200000">
              <a:off x="3025" y="2445"/>
              <a:ext cx="40" cy="87"/>
            </a:xfrm>
            <a:prstGeom prst="rect">
              <a:avLst/>
            </a:prstGeom>
            <a:noFill/>
            <a:ln w="9525">
              <a:noFill/>
              <a:miter lim="800000"/>
              <a:headEnd/>
              <a:tailEnd/>
            </a:ln>
          </p:spPr>
          <p:txBody>
            <a:bodyPr wrap="none" lIns="0" tIns="0" rIns="0" bIns="0">
              <a:spAutoFit/>
            </a:bodyPr>
            <a:lstStyle/>
            <a:p>
              <a:r>
                <a:rPr lang="zh-TW" altLang="en-US" sz="675">
                  <a:solidFill>
                    <a:srgbClr val="000000"/>
                  </a:solidFill>
                  <a:latin typeface="Arial" pitchFamily="34" charset="0"/>
                </a:rPr>
                <a:t>1</a:t>
              </a:r>
              <a:endParaRPr lang="zh-TW" altLang="en-US" sz="1350"/>
            </a:p>
          </p:txBody>
        </p:sp>
        <p:sp>
          <p:nvSpPr>
            <p:cNvPr id="25729" name="Rectangle 134"/>
            <p:cNvSpPr>
              <a:spLocks noChangeArrowheads="1"/>
            </p:cNvSpPr>
            <p:nvPr/>
          </p:nvSpPr>
          <p:spPr bwMode="auto">
            <a:xfrm rot="16200000">
              <a:off x="3025" y="2402"/>
              <a:ext cx="40" cy="87"/>
            </a:xfrm>
            <a:prstGeom prst="rect">
              <a:avLst/>
            </a:prstGeom>
            <a:noFill/>
            <a:ln w="9525">
              <a:noFill/>
              <a:miter lim="800000"/>
              <a:headEnd/>
              <a:tailEnd/>
            </a:ln>
          </p:spPr>
          <p:txBody>
            <a:bodyPr wrap="none" lIns="0" tIns="0" rIns="0" bIns="0">
              <a:spAutoFit/>
            </a:bodyPr>
            <a:lstStyle/>
            <a:p>
              <a:r>
                <a:rPr lang="zh-TW" altLang="en-US" sz="675">
                  <a:solidFill>
                    <a:srgbClr val="000000"/>
                  </a:solidFill>
                  <a:latin typeface="Arial" pitchFamily="34" charset="0"/>
                </a:rPr>
                <a:t>1</a:t>
              </a:r>
              <a:endParaRPr lang="zh-TW" altLang="en-US" sz="1350"/>
            </a:p>
          </p:txBody>
        </p:sp>
        <p:sp>
          <p:nvSpPr>
            <p:cNvPr id="25730" name="Rectangle 135"/>
            <p:cNvSpPr>
              <a:spLocks noChangeArrowheads="1"/>
            </p:cNvSpPr>
            <p:nvPr/>
          </p:nvSpPr>
          <p:spPr bwMode="auto">
            <a:xfrm rot="16200000">
              <a:off x="3179" y="2487"/>
              <a:ext cx="40" cy="87"/>
            </a:xfrm>
            <a:prstGeom prst="rect">
              <a:avLst/>
            </a:prstGeom>
            <a:noFill/>
            <a:ln w="9525">
              <a:noFill/>
              <a:miter lim="800000"/>
              <a:headEnd/>
              <a:tailEnd/>
            </a:ln>
          </p:spPr>
          <p:txBody>
            <a:bodyPr wrap="none" lIns="0" tIns="0" rIns="0" bIns="0">
              <a:spAutoFit/>
            </a:bodyPr>
            <a:lstStyle/>
            <a:p>
              <a:r>
                <a:rPr lang="zh-TW" altLang="en-US" sz="675">
                  <a:solidFill>
                    <a:srgbClr val="000000"/>
                  </a:solidFill>
                  <a:latin typeface="Arial" pitchFamily="34" charset="0"/>
                </a:rPr>
                <a:t>1</a:t>
              </a:r>
              <a:endParaRPr lang="zh-TW" altLang="en-US" sz="1350"/>
            </a:p>
          </p:txBody>
        </p:sp>
        <p:sp>
          <p:nvSpPr>
            <p:cNvPr id="25731" name="Rectangle 136"/>
            <p:cNvSpPr>
              <a:spLocks noChangeArrowheads="1"/>
            </p:cNvSpPr>
            <p:nvPr/>
          </p:nvSpPr>
          <p:spPr bwMode="auto">
            <a:xfrm rot="16200000">
              <a:off x="3179" y="2445"/>
              <a:ext cx="40" cy="87"/>
            </a:xfrm>
            <a:prstGeom prst="rect">
              <a:avLst/>
            </a:prstGeom>
            <a:noFill/>
            <a:ln w="9525">
              <a:noFill/>
              <a:miter lim="800000"/>
              <a:headEnd/>
              <a:tailEnd/>
            </a:ln>
          </p:spPr>
          <p:txBody>
            <a:bodyPr wrap="none" lIns="0" tIns="0" rIns="0" bIns="0">
              <a:spAutoFit/>
            </a:bodyPr>
            <a:lstStyle/>
            <a:p>
              <a:r>
                <a:rPr lang="zh-TW" altLang="en-US" sz="675">
                  <a:solidFill>
                    <a:srgbClr val="000000"/>
                  </a:solidFill>
                  <a:latin typeface="Arial" pitchFamily="34" charset="0"/>
                </a:rPr>
                <a:t>0</a:t>
              </a:r>
              <a:endParaRPr lang="zh-TW" altLang="en-US" sz="1350"/>
            </a:p>
          </p:txBody>
        </p:sp>
        <p:sp>
          <p:nvSpPr>
            <p:cNvPr id="25732" name="Rectangle 137"/>
            <p:cNvSpPr>
              <a:spLocks noChangeArrowheads="1"/>
            </p:cNvSpPr>
            <p:nvPr/>
          </p:nvSpPr>
          <p:spPr bwMode="auto">
            <a:xfrm rot="16200000">
              <a:off x="3179" y="2404"/>
              <a:ext cx="40" cy="87"/>
            </a:xfrm>
            <a:prstGeom prst="rect">
              <a:avLst/>
            </a:prstGeom>
            <a:noFill/>
            <a:ln w="9525">
              <a:noFill/>
              <a:miter lim="800000"/>
              <a:headEnd/>
              <a:tailEnd/>
            </a:ln>
          </p:spPr>
          <p:txBody>
            <a:bodyPr wrap="none" lIns="0" tIns="0" rIns="0" bIns="0">
              <a:spAutoFit/>
            </a:bodyPr>
            <a:lstStyle/>
            <a:p>
              <a:r>
                <a:rPr lang="zh-TW" altLang="en-US" sz="675">
                  <a:solidFill>
                    <a:srgbClr val="000000"/>
                  </a:solidFill>
                  <a:latin typeface="Arial" pitchFamily="34" charset="0"/>
                </a:rPr>
                <a:t>0</a:t>
              </a:r>
              <a:endParaRPr lang="zh-TW" altLang="en-US" sz="1350"/>
            </a:p>
          </p:txBody>
        </p:sp>
        <p:sp>
          <p:nvSpPr>
            <p:cNvPr id="25733" name="Rectangle 138"/>
            <p:cNvSpPr>
              <a:spLocks noChangeArrowheads="1"/>
            </p:cNvSpPr>
            <p:nvPr/>
          </p:nvSpPr>
          <p:spPr bwMode="auto">
            <a:xfrm rot="16200000">
              <a:off x="3334" y="2487"/>
              <a:ext cx="40" cy="87"/>
            </a:xfrm>
            <a:prstGeom prst="rect">
              <a:avLst/>
            </a:prstGeom>
            <a:noFill/>
            <a:ln w="9525">
              <a:noFill/>
              <a:miter lim="800000"/>
              <a:headEnd/>
              <a:tailEnd/>
            </a:ln>
          </p:spPr>
          <p:txBody>
            <a:bodyPr wrap="none" lIns="0" tIns="0" rIns="0" bIns="0">
              <a:spAutoFit/>
            </a:bodyPr>
            <a:lstStyle/>
            <a:p>
              <a:r>
                <a:rPr lang="zh-TW" altLang="en-US" sz="675">
                  <a:solidFill>
                    <a:srgbClr val="000000"/>
                  </a:solidFill>
                  <a:latin typeface="Arial" pitchFamily="34" charset="0"/>
                </a:rPr>
                <a:t>1</a:t>
              </a:r>
              <a:endParaRPr lang="zh-TW" altLang="en-US" sz="1350"/>
            </a:p>
          </p:txBody>
        </p:sp>
        <p:sp>
          <p:nvSpPr>
            <p:cNvPr id="25734" name="Rectangle 139"/>
            <p:cNvSpPr>
              <a:spLocks noChangeArrowheads="1"/>
            </p:cNvSpPr>
            <p:nvPr/>
          </p:nvSpPr>
          <p:spPr bwMode="auto">
            <a:xfrm rot="16200000">
              <a:off x="3334" y="2445"/>
              <a:ext cx="40" cy="87"/>
            </a:xfrm>
            <a:prstGeom prst="rect">
              <a:avLst/>
            </a:prstGeom>
            <a:noFill/>
            <a:ln w="9525">
              <a:noFill/>
              <a:miter lim="800000"/>
              <a:headEnd/>
              <a:tailEnd/>
            </a:ln>
          </p:spPr>
          <p:txBody>
            <a:bodyPr wrap="none" lIns="0" tIns="0" rIns="0" bIns="0">
              <a:spAutoFit/>
            </a:bodyPr>
            <a:lstStyle/>
            <a:p>
              <a:r>
                <a:rPr lang="zh-TW" altLang="en-US" sz="675">
                  <a:solidFill>
                    <a:srgbClr val="000000"/>
                  </a:solidFill>
                  <a:latin typeface="Arial" pitchFamily="34" charset="0"/>
                </a:rPr>
                <a:t>0</a:t>
              </a:r>
              <a:endParaRPr lang="zh-TW" altLang="en-US" sz="1350"/>
            </a:p>
          </p:txBody>
        </p:sp>
        <p:sp>
          <p:nvSpPr>
            <p:cNvPr id="25735" name="Rectangle 140"/>
            <p:cNvSpPr>
              <a:spLocks noChangeArrowheads="1"/>
            </p:cNvSpPr>
            <p:nvPr/>
          </p:nvSpPr>
          <p:spPr bwMode="auto">
            <a:xfrm rot="16200000">
              <a:off x="3334" y="2404"/>
              <a:ext cx="40" cy="87"/>
            </a:xfrm>
            <a:prstGeom prst="rect">
              <a:avLst/>
            </a:prstGeom>
            <a:noFill/>
            <a:ln w="9525">
              <a:noFill/>
              <a:miter lim="800000"/>
              <a:headEnd/>
              <a:tailEnd/>
            </a:ln>
          </p:spPr>
          <p:txBody>
            <a:bodyPr wrap="none" lIns="0" tIns="0" rIns="0" bIns="0">
              <a:spAutoFit/>
            </a:bodyPr>
            <a:lstStyle/>
            <a:p>
              <a:r>
                <a:rPr lang="zh-TW" altLang="en-US" sz="675">
                  <a:solidFill>
                    <a:srgbClr val="000000"/>
                  </a:solidFill>
                  <a:latin typeface="Arial" pitchFamily="34" charset="0"/>
                </a:rPr>
                <a:t>1</a:t>
              </a:r>
              <a:endParaRPr lang="zh-TW" altLang="en-US" sz="1350"/>
            </a:p>
          </p:txBody>
        </p:sp>
        <p:sp>
          <p:nvSpPr>
            <p:cNvPr id="25736" name="Rectangle 141"/>
            <p:cNvSpPr>
              <a:spLocks noChangeArrowheads="1"/>
            </p:cNvSpPr>
            <p:nvPr/>
          </p:nvSpPr>
          <p:spPr bwMode="auto">
            <a:xfrm rot="16200000">
              <a:off x="3496" y="2487"/>
              <a:ext cx="40" cy="87"/>
            </a:xfrm>
            <a:prstGeom prst="rect">
              <a:avLst/>
            </a:prstGeom>
            <a:noFill/>
            <a:ln w="9525">
              <a:noFill/>
              <a:miter lim="800000"/>
              <a:headEnd/>
              <a:tailEnd/>
            </a:ln>
          </p:spPr>
          <p:txBody>
            <a:bodyPr wrap="none" lIns="0" tIns="0" rIns="0" bIns="0">
              <a:spAutoFit/>
            </a:bodyPr>
            <a:lstStyle/>
            <a:p>
              <a:r>
                <a:rPr lang="zh-TW" altLang="en-US" sz="675">
                  <a:solidFill>
                    <a:srgbClr val="000000"/>
                  </a:solidFill>
                  <a:latin typeface="Arial" pitchFamily="34" charset="0"/>
                </a:rPr>
                <a:t>1</a:t>
              </a:r>
              <a:endParaRPr lang="zh-TW" altLang="en-US" sz="1350"/>
            </a:p>
          </p:txBody>
        </p:sp>
        <p:sp>
          <p:nvSpPr>
            <p:cNvPr id="25737" name="Rectangle 142"/>
            <p:cNvSpPr>
              <a:spLocks noChangeArrowheads="1"/>
            </p:cNvSpPr>
            <p:nvPr/>
          </p:nvSpPr>
          <p:spPr bwMode="auto">
            <a:xfrm rot="16200000">
              <a:off x="3496" y="2445"/>
              <a:ext cx="40" cy="87"/>
            </a:xfrm>
            <a:prstGeom prst="rect">
              <a:avLst/>
            </a:prstGeom>
            <a:noFill/>
            <a:ln w="9525">
              <a:noFill/>
              <a:miter lim="800000"/>
              <a:headEnd/>
              <a:tailEnd/>
            </a:ln>
          </p:spPr>
          <p:txBody>
            <a:bodyPr wrap="none" lIns="0" tIns="0" rIns="0" bIns="0">
              <a:spAutoFit/>
            </a:bodyPr>
            <a:lstStyle/>
            <a:p>
              <a:r>
                <a:rPr lang="zh-TW" altLang="en-US" sz="675">
                  <a:solidFill>
                    <a:srgbClr val="000000"/>
                  </a:solidFill>
                  <a:latin typeface="Arial" pitchFamily="34" charset="0"/>
                </a:rPr>
                <a:t>1</a:t>
              </a:r>
              <a:endParaRPr lang="zh-TW" altLang="en-US" sz="1350"/>
            </a:p>
          </p:txBody>
        </p:sp>
        <p:sp>
          <p:nvSpPr>
            <p:cNvPr id="25738" name="Rectangle 143"/>
            <p:cNvSpPr>
              <a:spLocks noChangeArrowheads="1"/>
            </p:cNvSpPr>
            <p:nvPr/>
          </p:nvSpPr>
          <p:spPr bwMode="auto">
            <a:xfrm rot="16200000">
              <a:off x="3496" y="2404"/>
              <a:ext cx="40" cy="87"/>
            </a:xfrm>
            <a:prstGeom prst="rect">
              <a:avLst/>
            </a:prstGeom>
            <a:noFill/>
            <a:ln w="9525">
              <a:noFill/>
              <a:miter lim="800000"/>
              <a:headEnd/>
              <a:tailEnd/>
            </a:ln>
          </p:spPr>
          <p:txBody>
            <a:bodyPr wrap="none" lIns="0" tIns="0" rIns="0" bIns="0">
              <a:spAutoFit/>
            </a:bodyPr>
            <a:lstStyle/>
            <a:p>
              <a:r>
                <a:rPr lang="zh-TW" altLang="en-US" sz="675">
                  <a:solidFill>
                    <a:srgbClr val="000000"/>
                  </a:solidFill>
                  <a:latin typeface="Arial" pitchFamily="34" charset="0"/>
                </a:rPr>
                <a:t>0</a:t>
              </a:r>
              <a:endParaRPr lang="zh-TW" altLang="en-US" sz="1350"/>
            </a:p>
          </p:txBody>
        </p:sp>
        <p:sp>
          <p:nvSpPr>
            <p:cNvPr id="25739" name="Rectangle 144"/>
            <p:cNvSpPr>
              <a:spLocks noChangeArrowheads="1"/>
            </p:cNvSpPr>
            <p:nvPr/>
          </p:nvSpPr>
          <p:spPr bwMode="auto">
            <a:xfrm rot="16200000">
              <a:off x="3659" y="2487"/>
              <a:ext cx="40" cy="87"/>
            </a:xfrm>
            <a:prstGeom prst="rect">
              <a:avLst/>
            </a:prstGeom>
            <a:noFill/>
            <a:ln w="9525">
              <a:noFill/>
              <a:miter lim="800000"/>
              <a:headEnd/>
              <a:tailEnd/>
            </a:ln>
          </p:spPr>
          <p:txBody>
            <a:bodyPr wrap="none" lIns="0" tIns="0" rIns="0" bIns="0">
              <a:spAutoFit/>
            </a:bodyPr>
            <a:lstStyle/>
            <a:p>
              <a:r>
                <a:rPr lang="zh-TW" altLang="en-US" sz="675">
                  <a:solidFill>
                    <a:srgbClr val="000000"/>
                  </a:solidFill>
                  <a:latin typeface="Arial" pitchFamily="34" charset="0"/>
                </a:rPr>
                <a:t>1</a:t>
              </a:r>
              <a:endParaRPr lang="zh-TW" altLang="en-US" sz="1350"/>
            </a:p>
          </p:txBody>
        </p:sp>
        <p:sp>
          <p:nvSpPr>
            <p:cNvPr id="25740" name="Rectangle 145"/>
            <p:cNvSpPr>
              <a:spLocks noChangeArrowheads="1"/>
            </p:cNvSpPr>
            <p:nvPr/>
          </p:nvSpPr>
          <p:spPr bwMode="auto">
            <a:xfrm rot="16200000">
              <a:off x="3659" y="2445"/>
              <a:ext cx="40" cy="87"/>
            </a:xfrm>
            <a:prstGeom prst="rect">
              <a:avLst/>
            </a:prstGeom>
            <a:noFill/>
            <a:ln w="9525">
              <a:noFill/>
              <a:miter lim="800000"/>
              <a:headEnd/>
              <a:tailEnd/>
            </a:ln>
          </p:spPr>
          <p:txBody>
            <a:bodyPr wrap="none" lIns="0" tIns="0" rIns="0" bIns="0">
              <a:spAutoFit/>
            </a:bodyPr>
            <a:lstStyle/>
            <a:p>
              <a:r>
                <a:rPr lang="zh-TW" altLang="en-US" sz="675">
                  <a:solidFill>
                    <a:srgbClr val="000000"/>
                  </a:solidFill>
                  <a:latin typeface="Arial" pitchFamily="34" charset="0"/>
                </a:rPr>
                <a:t>1</a:t>
              </a:r>
              <a:endParaRPr lang="zh-TW" altLang="en-US" sz="1350"/>
            </a:p>
          </p:txBody>
        </p:sp>
        <p:sp>
          <p:nvSpPr>
            <p:cNvPr id="25741" name="Rectangle 146"/>
            <p:cNvSpPr>
              <a:spLocks noChangeArrowheads="1"/>
            </p:cNvSpPr>
            <p:nvPr/>
          </p:nvSpPr>
          <p:spPr bwMode="auto">
            <a:xfrm rot="16200000">
              <a:off x="3659" y="2402"/>
              <a:ext cx="40" cy="87"/>
            </a:xfrm>
            <a:prstGeom prst="rect">
              <a:avLst/>
            </a:prstGeom>
            <a:noFill/>
            <a:ln w="9525">
              <a:noFill/>
              <a:miter lim="800000"/>
              <a:headEnd/>
              <a:tailEnd/>
            </a:ln>
          </p:spPr>
          <p:txBody>
            <a:bodyPr wrap="none" lIns="0" tIns="0" rIns="0" bIns="0">
              <a:spAutoFit/>
            </a:bodyPr>
            <a:lstStyle/>
            <a:p>
              <a:r>
                <a:rPr lang="zh-TW" altLang="en-US" sz="675">
                  <a:solidFill>
                    <a:srgbClr val="000000"/>
                  </a:solidFill>
                  <a:latin typeface="Arial" pitchFamily="34" charset="0"/>
                </a:rPr>
                <a:t>1</a:t>
              </a:r>
              <a:endParaRPr lang="zh-TW" altLang="en-US" sz="1350"/>
            </a:p>
          </p:txBody>
        </p:sp>
      </p:grpSp>
      <p:sp>
        <p:nvSpPr>
          <p:cNvPr id="142" name="Slide Number Placeholder 5">
            <a:extLst>
              <a:ext uri="{FF2B5EF4-FFF2-40B4-BE49-F238E27FC236}">
                <a16:creationId xmlns:a16="http://schemas.microsoft.com/office/drawing/2014/main" id="{4653A24C-4939-45A6-B2DB-6AFB08F3ACA0}"/>
              </a:ext>
            </a:extLst>
          </p:cNvPr>
          <p:cNvSpPr>
            <a:spLocks noGrp="1"/>
          </p:cNvSpPr>
          <p:nvPr>
            <p:ph type="sldNum" sz="quarter" idx="10"/>
          </p:nvPr>
        </p:nvSpPr>
        <p:spPr>
          <a:xfrm>
            <a:off x="6831013" y="4893471"/>
            <a:ext cx="2133600" cy="254794"/>
          </a:xfrm>
        </p:spPr>
        <p:txBody>
          <a:bodyPr/>
          <a:lstStyle/>
          <a:p>
            <a:fld id="{D9B6BDF2-6896-4B98-8776-C18582F63BA5}" type="slidenum">
              <a:rPr lang="zh-TW" altLang="en-US" smtClean="0"/>
              <a:pPr/>
              <a:t>17</a:t>
            </a:fld>
            <a:endParaRPr lang="zh-TW" altLang="en-US"/>
          </a:p>
        </p:txBody>
      </p:sp>
    </p:spTree>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Grp="1" noChangeArrowheads="1"/>
          </p:cNvSpPr>
          <p:nvPr>
            <p:ph type="title"/>
          </p:nvPr>
        </p:nvSpPr>
        <p:spPr>
          <a:xfrm>
            <a:off x="1017639" y="129779"/>
            <a:ext cx="6711899" cy="489653"/>
          </a:xfrm>
        </p:spPr>
        <p:txBody>
          <a:bodyPr/>
          <a:lstStyle/>
          <a:p>
            <a:r>
              <a:rPr lang="en-US" altLang="zh-TW" dirty="0"/>
              <a:t>Tags and Valid Bits - Block Finding</a:t>
            </a:r>
            <a:r>
              <a:rPr lang="en-US" altLang="zh-TW" sz="2400" dirty="0"/>
              <a:t> </a:t>
            </a:r>
            <a:endParaRPr lang="en-AU" altLang="zh-TW" sz="2400" dirty="0"/>
          </a:p>
        </p:txBody>
      </p:sp>
      <p:sp>
        <p:nvSpPr>
          <p:cNvPr id="20484" name="Rectangle 3"/>
          <p:cNvSpPr>
            <a:spLocks noGrp="1" noChangeArrowheads="1"/>
          </p:cNvSpPr>
          <p:nvPr>
            <p:ph type="body" idx="1"/>
          </p:nvPr>
        </p:nvSpPr>
        <p:spPr>
          <a:xfrm>
            <a:off x="1075250" y="829328"/>
            <a:ext cx="6866756" cy="3329717"/>
          </a:xfrm>
        </p:spPr>
        <p:txBody>
          <a:bodyPr/>
          <a:lstStyle/>
          <a:p>
            <a:r>
              <a:rPr lang="en-US" altLang="zh-TW" sz="2000" dirty="0"/>
              <a:t>How do we know which particular block is stored in a cache location</a:t>
            </a:r>
          </a:p>
          <a:p>
            <a:pPr lvl="1"/>
            <a:r>
              <a:rPr lang="en-US" altLang="zh-TW" sz="1800" dirty="0"/>
              <a:t>Store block address as well as the data</a:t>
            </a:r>
          </a:p>
          <a:p>
            <a:pPr lvl="1"/>
            <a:r>
              <a:rPr lang="en-US" altLang="zh-TW" sz="1800" dirty="0"/>
              <a:t>Actually, only need the high-order bits</a:t>
            </a:r>
          </a:p>
          <a:p>
            <a:pPr lvl="1"/>
            <a:r>
              <a:rPr lang="en-US" altLang="zh-TW" sz="1800" dirty="0"/>
              <a:t>Called the </a:t>
            </a:r>
            <a:r>
              <a:rPr lang="en-US" altLang="zh-TW" sz="1800" dirty="0">
                <a:solidFill>
                  <a:srgbClr val="FF0000"/>
                </a:solidFill>
              </a:rPr>
              <a:t>tag</a:t>
            </a:r>
          </a:p>
          <a:p>
            <a:r>
              <a:rPr lang="en-US" altLang="zh-TW" sz="2000" dirty="0"/>
              <a:t>What if there is no data in a location</a:t>
            </a:r>
          </a:p>
          <a:p>
            <a:pPr lvl="1"/>
            <a:r>
              <a:rPr lang="en-US" altLang="zh-TW" sz="1800" dirty="0"/>
              <a:t>Valid bit: 1 = present, 0 = not present</a:t>
            </a:r>
          </a:p>
          <a:p>
            <a:pPr lvl="1"/>
            <a:r>
              <a:rPr lang="en-US" altLang="zh-TW" sz="1800" dirty="0"/>
              <a:t>Initially 0</a:t>
            </a:r>
            <a:endParaRPr lang="en-AU" altLang="zh-TW" sz="1800" dirty="0">
              <a:ea typeface="新細明體" pitchFamily="18" charset="-120"/>
            </a:endParaRPr>
          </a:p>
        </p:txBody>
      </p:sp>
      <p:sp>
        <p:nvSpPr>
          <p:cNvPr id="5" name="Slide Number Placeholder 5">
            <a:extLst>
              <a:ext uri="{FF2B5EF4-FFF2-40B4-BE49-F238E27FC236}">
                <a16:creationId xmlns:a16="http://schemas.microsoft.com/office/drawing/2014/main" id="{391D023E-F6D3-40F9-89F6-E6A4793E165B}"/>
              </a:ext>
            </a:extLst>
          </p:cNvPr>
          <p:cNvSpPr>
            <a:spLocks noGrp="1"/>
          </p:cNvSpPr>
          <p:nvPr>
            <p:ph type="sldNum" sz="quarter" idx="10"/>
          </p:nvPr>
        </p:nvSpPr>
        <p:spPr>
          <a:xfrm>
            <a:off x="6831013" y="4893471"/>
            <a:ext cx="2133600" cy="254794"/>
          </a:xfrm>
        </p:spPr>
        <p:txBody>
          <a:bodyPr/>
          <a:lstStyle/>
          <a:p>
            <a:fld id="{D9B6BDF2-6896-4B98-8776-C18582F63BA5}" type="slidenum">
              <a:rPr lang="zh-TW" altLang="en-US" smtClean="0"/>
              <a:pPr/>
              <a:t>18</a:t>
            </a:fld>
            <a:endParaRPr lang="zh-TW" alt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Cache Example (1)</a:t>
            </a:r>
          </a:p>
        </p:txBody>
      </p:sp>
      <p:sp>
        <p:nvSpPr>
          <p:cNvPr id="3" name="Content Placeholder 2"/>
          <p:cNvSpPr>
            <a:spLocks noGrp="1"/>
          </p:cNvSpPr>
          <p:nvPr>
            <p:ph idx="1"/>
          </p:nvPr>
        </p:nvSpPr>
        <p:spPr>
          <a:xfrm>
            <a:off x="1097280" y="844153"/>
            <a:ext cx="7589520" cy="968744"/>
          </a:xfrm>
        </p:spPr>
        <p:txBody>
          <a:bodyPr/>
          <a:lstStyle/>
          <a:p>
            <a:r>
              <a:rPr lang="en-US" sz="2000" dirty="0"/>
              <a:t>8-blocks, 1 word/block, direct mapped</a:t>
            </a:r>
          </a:p>
          <a:p>
            <a:r>
              <a:rPr lang="en-US" sz="2000" dirty="0"/>
              <a:t>Initial state of cache</a:t>
            </a:r>
          </a:p>
        </p:txBody>
      </p:sp>
      <p:graphicFrame>
        <p:nvGraphicFramePr>
          <p:cNvPr id="6" name="Table 5"/>
          <p:cNvGraphicFramePr>
            <a:graphicFrameLocks noGrp="1"/>
          </p:cNvGraphicFramePr>
          <p:nvPr>
            <p:extLst/>
          </p:nvPr>
        </p:nvGraphicFramePr>
        <p:xfrm>
          <a:off x="2098525" y="1877699"/>
          <a:ext cx="5265000" cy="2537460"/>
        </p:xfrm>
        <a:graphic>
          <a:graphicData uri="http://schemas.openxmlformats.org/drawingml/2006/table">
            <a:tbl>
              <a:tblPr firstRow="1" bandRow="1">
                <a:tableStyleId>{5C22544A-7EE6-4342-B048-85BDC9FD1C3A}</a:tableStyleId>
              </a:tblPr>
              <a:tblGrid>
                <a:gridCol w="945000">
                  <a:extLst>
                    <a:ext uri="{9D8B030D-6E8A-4147-A177-3AD203B41FA5}">
                      <a16:colId xmlns:a16="http://schemas.microsoft.com/office/drawing/2014/main" val="20000"/>
                    </a:ext>
                  </a:extLst>
                </a:gridCol>
                <a:gridCol w="540000">
                  <a:extLst>
                    <a:ext uri="{9D8B030D-6E8A-4147-A177-3AD203B41FA5}">
                      <a16:colId xmlns:a16="http://schemas.microsoft.com/office/drawing/2014/main" val="20001"/>
                    </a:ext>
                  </a:extLst>
                </a:gridCol>
                <a:gridCol w="1620000">
                  <a:extLst>
                    <a:ext uri="{9D8B030D-6E8A-4147-A177-3AD203B41FA5}">
                      <a16:colId xmlns:a16="http://schemas.microsoft.com/office/drawing/2014/main" val="20002"/>
                    </a:ext>
                  </a:extLst>
                </a:gridCol>
                <a:gridCol w="2160000">
                  <a:extLst>
                    <a:ext uri="{9D8B030D-6E8A-4147-A177-3AD203B41FA5}">
                      <a16:colId xmlns:a16="http://schemas.microsoft.com/office/drawing/2014/main" val="20003"/>
                    </a:ext>
                  </a:extLst>
                </a:gridCol>
              </a:tblGrid>
              <a:tr h="278130">
                <a:tc>
                  <a:txBody>
                    <a:bodyPr/>
                    <a:lstStyle/>
                    <a:p>
                      <a:pPr algn="ctr"/>
                      <a:r>
                        <a:rPr lang="en-US" sz="1400" dirty="0"/>
                        <a:t>Index</a:t>
                      </a:r>
                    </a:p>
                  </a:txBody>
                  <a:tcPr marL="68580" marR="68580" marT="34290" marB="34290" anchor="ctr"/>
                </a:tc>
                <a:tc>
                  <a:txBody>
                    <a:bodyPr/>
                    <a:lstStyle/>
                    <a:p>
                      <a:pPr algn="ctr"/>
                      <a:r>
                        <a:rPr lang="en-US" sz="1400" dirty="0"/>
                        <a:t>V</a:t>
                      </a:r>
                    </a:p>
                  </a:txBody>
                  <a:tcPr marL="68580" marR="68580" marT="34290" marB="34290" anchor="ctr"/>
                </a:tc>
                <a:tc>
                  <a:txBody>
                    <a:bodyPr/>
                    <a:lstStyle/>
                    <a:p>
                      <a:pPr algn="ctr"/>
                      <a:r>
                        <a:rPr lang="en-US" sz="1400" dirty="0"/>
                        <a:t>Tag</a:t>
                      </a:r>
                    </a:p>
                  </a:txBody>
                  <a:tcPr marL="68580" marR="68580" marT="34290" marB="34290" anchor="ctr"/>
                </a:tc>
                <a:tc>
                  <a:txBody>
                    <a:bodyPr/>
                    <a:lstStyle/>
                    <a:p>
                      <a:pPr algn="ctr"/>
                      <a:r>
                        <a:rPr lang="en-US" sz="1400" dirty="0"/>
                        <a:t>Data</a:t>
                      </a:r>
                    </a:p>
                  </a:txBody>
                  <a:tcPr marL="68580" marR="68580" marT="34290" marB="34290" anchor="ctr"/>
                </a:tc>
                <a:extLst>
                  <a:ext uri="{0D108BD9-81ED-4DB2-BD59-A6C34878D82A}">
                    <a16:rowId xmlns:a16="http://schemas.microsoft.com/office/drawing/2014/main" val="10000"/>
                  </a:ext>
                </a:extLst>
              </a:tr>
              <a:tr h="278130">
                <a:tc>
                  <a:txBody>
                    <a:bodyPr/>
                    <a:lstStyle/>
                    <a:p>
                      <a:pPr algn="ctr"/>
                      <a:r>
                        <a:rPr lang="en-US" sz="1400" dirty="0"/>
                        <a:t>000</a:t>
                      </a:r>
                    </a:p>
                  </a:txBody>
                  <a:tcPr marL="68580" marR="68580" marT="34290" marB="34290" anchor="ctr"/>
                </a:tc>
                <a:tc>
                  <a:txBody>
                    <a:bodyPr/>
                    <a:lstStyle/>
                    <a:p>
                      <a:pPr algn="ctr"/>
                      <a:r>
                        <a:rPr lang="en-US" sz="1400" dirty="0"/>
                        <a:t>N</a:t>
                      </a:r>
                    </a:p>
                  </a:txBody>
                  <a:tcPr marL="68580" marR="68580" marT="34290" marB="34290" anchor="ctr"/>
                </a:tc>
                <a:tc>
                  <a:txBody>
                    <a:bodyPr/>
                    <a:lstStyle/>
                    <a:p>
                      <a:pPr algn="ctr"/>
                      <a:endParaRPr lang="en-US" sz="1400"/>
                    </a:p>
                  </a:txBody>
                  <a:tcPr marL="68580" marR="68580" marT="34290" marB="34290" anchor="ctr"/>
                </a:tc>
                <a:tc>
                  <a:txBody>
                    <a:bodyPr/>
                    <a:lstStyle/>
                    <a:p>
                      <a:pPr algn="ctr"/>
                      <a:endParaRPr lang="en-US" sz="1400" dirty="0"/>
                    </a:p>
                  </a:txBody>
                  <a:tcPr marL="68580" marR="68580" marT="34290" marB="34290" anchor="ctr"/>
                </a:tc>
                <a:extLst>
                  <a:ext uri="{0D108BD9-81ED-4DB2-BD59-A6C34878D82A}">
                    <a16:rowId xmlns:a16="http://schemas.microsoft.com/office/drawing/2014/main" val="10001"/>
                  </a:ext>
                </a:extLst>
              </a:tr>
              <a:tr h="278130">
                <a:tc>
                  <a:txBody>
                    <a:bodyPr/>
                    <a:lstStyle/>
                    <a:p>
                      <a:pPr algn="ctr"/>
                      <a:r>
                        <a:rPr lang="en-US" sz="1400" dirty="0"/>
                        <a:t>001</a:t>
                      </a:r>
                    </a:p>
                  </a:txBody>
                  <a:tcPr marL="68580" marR="68580" marT="34290" marB="34290" anchor="ctr"/>
                </a:tc>
                <a:tc>
                  <a:txBody>
                    <a:bodyPr/>
                    <a:lstStyle/>
                    <a:p>
                      <a:pPr algn="ctr"/>
                      <a:r>
                        <a:rPr lang="en-US" sz="1400" dirty="0"/>
                        <a:t>N</a:t>
                      </a:r>
                    </a:p>
                  </a:txBody>
                  <a:tcPr marL="68580" marR="68580" marT="34290" marB="34290" anchor="ctr"/>
                </a:tc>
                <a:tc>
                  <a:txBody>
                    <a:bodyPr/>
                    <a:lstStyle/>
                    <a:p>
                      <a:pPr algn="ctr"/>
                      <a:endParaRPr lang="en-US" sz="1400"/>
                    </a:p>
                  </a:txBody>
                  <a:tcPr marL="68580" marR="68580" marT="34290" marB="34290" anchor="ctr"/>
                </a:tc>
                <a:tc>
                  <a:txBody>
                    <a:bodyPr/>
                    <a:lstStyle/>
                    <a:p>
                      <a:pPr algn="ctr"/>
                      <a:endParaRPr lang="en-US" sz="1400" dirty="0"/>
                    </a:p>
                  </a:txBody>
                  <a:tcPr marL="68580" marR="68580" marT="34290" marB="34290" anchor="ctr"/>
                </a:tc>
                <a:extLst>
                  <a:ext uri="{0D108BD9-81ED-4DB2-BD59-A6C34878D82A}">
                    <a16:rowId xmlns:a16="http://schemas.microsoft.com/office/drawing/2014/main" val="10002"/>
                  </a:ext>
                </a:extLst>
              </a:tr>
              <a:tr h="278130">
                <a:tc>
                  <a:txBody>
                    <a:bodyPr/>
                    <a:lstStyle/>
                    <a:p>
                      <a:pPr algn="ctr"/>
                      <a:r>
                        <a:rPr lang="en-US" sz="1400" dirty="0"/>
                        <a:t>010</a:t>
                      </a:r>
                    </a:p>
                  </a:txBody>
                  <a:tcPr marL="68580" marR="68580" marT="34290" marB="34290" anchor="ctr"/>
                </a:tc>
                <a:tc>
                  <a:txBody>
                    <a:bodyPr/>
                    <a:lstStyle/>
                    <a:p>
                      <a:pPr algn="ctr"/>
                      <a:r>
                        <a:rPr lang="en-US" sz="1400" dirty="0"/>
                        <a:t>N</a:t>
                      </a:r>
                    </a:p>
                  </a:txBody>
                  <a:tcPr marL="68580" marR="68580" marT="34290" marB="34290" anchor="ctr"/>
                </a:tc>
                <a:tc>
                  <a:txBody>
                    <a:bodyPr/>
                    <a:lstStyle/>
                    <a:p>
                      <a:pPr algn="ctr"/>
                      <a:endParaRPr lang="en-US" sz="1400"/>
                    </a:p>
                  </a:txBody>
                  <a:tcPr marL="68580" marR="68580" marT="34290" marB="34290" anchor="ctr"/>
                </a:tc>
                <a:tc>
                  <a:txBody>
                    <a:bodyPr/>
                    <a:lstStyle/>
                    <a:p>
                      <a:pPr algn="ctr"/>
                      <a:endParaRPr lang="en-US" sz="1400"/>
                    </a:p>
                  </a:txBody>
                  <a:tcPr marL="68580" marR="68580" marT="34290" marB="34290" anchor="ctr"/>
                </a:tc>
                <a:extLst>
                  <a:ext uri="{0D108BD9-81ED-4DB2-BD59-A6C34878D82A}">
                    <a16:rowId xmlns:a16="http://schemas.microsoft.com/office/drawing/2014/main" val="10003"/>
                  </a:ext>
                </a:extLst>
              </a:tr>
              <a:tr h="278130">
                <a:tc>
                  <a:txBody>
                    <a:bodyPr/>
                    <a:lstStyle/>
                    <a:p>
                      <a:pPr algn="ctr"/>
                      <a:r>
                        <a:rPr lang="en-US" sz="1400" dirty="0"/>
                        <a:t>011</a:t>
                      </a:r>
                    </a:p>
                  </a:txBody>
                  <a:tcPr marL="68580" marR="68580" marT="34290" marB="34290" anchor="ctr"/>
                </a:tc>
                <a:tc>
                  <a:txBody>
                    <a:bodyPr/>
                    <a:lstStyle/>
                    <a:p>
                      <a:pPr algn="ctr"/>
                      <a:r>
                        <a:rPr lang="en-US" sz="1400" dirty="0"/>
                        <a:t>N</a:t>
                      </a:r>
                    </a:p>
                  </a:txBody>
                  <a:tcPr marL="68580" marR="68580" marT="34290" marB="34290" anchor="ctr"/>
                </a:tc>
                <a:tc>
                  <a:txBody>
                    <a:bodyPr/>
                    <a:lstStyle/>
                    <a:p>
                      <a:pPr algn="ctr"/>
                      <a:endParaRPr lang="en-US" sz="1400"/>
                    </a:p>
                  </a:txBody>
                  <a:tcPr marL="68580" marR="68580" marT="34290" marB="34290" anchor="ctr"/>
                </a:tc>
                <a:tc>
                  <a:txBody>
                    <a:bodyPr/>
                    <a:lstStyle/>
                    <a:p>
                      <a:pPr algn="ctr"/>
                      <a:endParaRPr lang="en-US" sz="1400"/>
                    </a:p>
                  </a:txBody>
                  <a:tcPr marL="68580" marR="68580" marT="34290" marB="34290" anchor="ctr"/>
                </a:tc>
                <a:extLst>
                  <a:ext uri="{0D108BD9-81ED-4DB2-BD59-A6C34878D82A}">
                    <a16:rowId xmlns:a16="http://schemas.microsoft.com/office/drawing/2014/main" val="10004"/>
                  </a:ext>
                </a:extLst>
              </a:tr>
              <a:tr h="278130">
                <a:tc>
                  <a:txBody>
                    <a:bodyPr/>
                    <a:lstStyle/>
                    <a:p>
                      <a:pPr algn="ctr"/>
                      <a:r>
                        <a:rPr lang="en-US" sz="1400" dirty="0"/>
                        <a:t>100</a:t>
                      </a:r>
                    </a:p>
                  </a:txBody>
                  <a:tcPr marL="68580" marR="68580" marT="34290" marB="34290" anchor="ctr"/>
                </a:tc>
                <a:tc>
                  <a:txBody>
                    <a:bodyPr/>
                    <a:lstStyle/>
                    <a:p>
                      <a:pPr algn="ctr"/>
                      <a:r>
                        <a:rPr lang="en-US" sz="1400" dirty="0"/>
                        <a:t>N</a:t>
                      </a:r>
                    </a:p>
                  </a:txBody>
                  <a:tcPr marL="68580" marR="68580" marT="34290" marB="34290" anchor="ctr"/>
                </a:tc>
                <a:tc>
                  <a:txBody>
                    <a:bodyPr/>
                    <a:lstStyle/>
                    <a:p>
                      <a:pPr algn="ctr"/>
                      <a:endParaRPr lang="en-US" sz="1400"/>
                    </a:p>
                  </a:txBody>
                  <a:tcPr marL="68580" marR="68580" marT="34290" marB="34290" anchor="ctr"/>
                </a:tc>
                <a:tc>
                  <a:txBody>
                    <a:bodyPr/>
                    <a:lstStyle/>
                    <a:p>
                      <a:pPr algn="ctr"/>
                      <a:endParaRPr lang="en-US" sz="1400"/>
                    </a:p>
                  </a:txBody>
                  <a:tcPr marL="68580" marR="68580" marT="34290" marB="34290" anchor="ctr"/>
                </a:tc>
                <a:extLst>
                  <a:ext uri="{0D108BD9-81ED-4DB2-BD59-A6C34878D82A}">
                    <a16:rowId xmlns:a16="http://schemas.microsoft.com/office/drawing/2014/main" val="10005"/>
                  </a:ext>
                </a:extLst>
              </a:tr>
              <a:tr h="278130">
                <a:tc>
                  <a:txBody>
                    <a:bodyPr/>
                    <a:lstStyle/>
                    <a:p>
                      <a:pPr algn="ctr"/>
                      <a:r>
                        <a:rPr lang="en-US" sz="1400" dirty="0"/>
                        <a:t>101</a:t>
                      </a:r>
                    </a:p>
                  </a:txBody>
                  <a:tcPr marL="68580" marR="68580" marT="34290" marB="34290" anchor="ctr"/>
                </a:tc>
                <a:tc>
                  <a:txBody>
                    <a:bodyPr/>
                    <a:lstStyle/>
                    <a:p>
                      <a:pPr algn="ctr"/>
                      <a:r>
                        <a:rPr lang="en-US" sz="1400" dirty="0"/>
                        <a:t>N</a:t>
                      </a:r>
                    </a:p>
                  </a:txBody>
                  <a:tcPr marL="68580" marR="68580" marT="34290" marB="34290" anchor="ctr"/>
                </a:tc>
                <a:tc>
                  <a:txBody>
                    <a:bodyPr/>
                    <a:lstStyle/>
                    <a:p>
                      <a:pPr algn="ctr"/>
                      <a:endParaRPr lang="en-US" sz="1400" dirty="0"/>
                    </a:p>
                  </a:txBody>
                  <a:tcPr marL="68580" marR="68580" marT="34290" marB="34290" anchor="ctr"/>
                </a:tc>
                <a:tc>
                  <a:txBody>
                    <a:bodyPr/>
                    <a:lstStyle/>
                    <a:p>
                      <a:pPr algn="ctr"/>
                      <a:endParaRPr lang="en-US" sz="1400"/>
                    </a:p>
                  </a:txBody>
                  <a:tcPr marL="68580" marR="68580" marT="34290" marB="34290" anchor="ctr"/>
                </a:tc>
                <a:extLst>
                  <a:ext uri="{0D108BD9-81ED-4DB2-BD59-A6C34878D82A}">
                    <a16:rowId xmlns:a16="http://schemas.microsoft.com/office/drawing/2014/main" val="10006"/>
                  </a:ext>
                </a:extLst>
              </a:tr>
              <a:tr h="278130">
                <a:tc>
                  <a:txBody>
                    <a:bodyPr/>
                    <a:lstStyle/>
                    <a:p>
                      <a:pPr algn="ctr"/>
                      <a:r>
                        <a:rPr lang="en-US" sz="1400" dirty="0"/>
                        <a:t>110</a:t>
                      </a:r>
                    </a:p>
                  </a:txBody>
                  <a:tcPr marL="68580" marR="68580" marT="34290" marB="34290" anchor="ctr"/>
                </a:tc>
                <a:tc>
                  <a:txBody>
                    <a:bodyPr/>
                    <a:lstStyle/>
                    <a:p>
                      <a:pPr algn="ctr"/>
                      <a:r>
                        <a:rPr lang="en-US" sz="1400" dirty="0"/>
                        <a:t>N</a:t>
                      </a:r>
                    </a:p>
                  </a:txBody>
                  <a:tcPr marL="68580" marR="68580" marT="34290" marB="34290" anchor="ctr"/>
                </a:tc>
                <a:tc>
                  <a:txBody>
                    <a:bodyPr/>
                    <a:lstStyle/>
                    <a:p>
                      <a:pPr algn="ctr"/>
                      <a:endParaRPr lang="en-US" sz="1400"/>
                    </a:p>
                  </a:txBody>
                  <a:tcPr marL="68580" marR="68580" marT="34290" marB="34290" anchor="ctr"/>
                </a:tc>
                <a:tc>
                  <a:txBody>
                    <a:bodyPr/>
                    <a:lstStyle/>
                    <a:p>
                      <a:pPr algn="ctr"/>
                      <a:endParaRPr lang="en-US" sz="1400" dirty="0"/>
                    </a:p>
                  </a:txBody>
                  <a:tcPr marL="68580" marR="68580" marT="34290" marB="34290" anchor="ctr"/>
                </a:tc>
                <a:extLst>
                  <a:ext uri="{0D108BD9-81ED-4DB2-BD59-A6C34878D82A}">
                    <a16:rowId xmlns:a16="http://schemas.microsoft.com/office/drawing/2014/main" val="10007"/>
                  </a:ext>
                </a:extLst>
              </a:tr>
              <a:tr h="278130">
                <a:tc>
                  <a:txBody>
                    <a:bodyPr/>
                    <a:lstStyle/>
                    <a:p>
                      <a:pPr algn="ctr"/>
                      <a:r>
                        <a:rPr lang="en-US" sz="1400" dirty="0"/>
                        <a:t>111</a:t>
                      </a:r>
                    </a:p>
                  </a:txBody>
                  <a:tcPr marL="68580" marR="68580" marT="34290" marB="34290" anchor="ctr"/>
                </a:tc>
                <a:tc>
                  <a:txBody>
                    <a:bodyPr/>
                    <a:lstStyle/>
                    <a:p>
                      <a:pPr algn="ctr"/>
                      <a:r>
                        <a:rPr lang="en-US" sz="1400" dirty="0"/>
                        <a:t>N</a:t>
                      </a:r>
                    </a:p>
                  </a:txBody>
                  <a:tcPr marL="68580" marR="68580" marT="34290" marB="34290" anchor="ctr"/>
                </a:tc>
                <a:tc>
                  <a:txBody>
                    <a:bodyPr/>
                    <a:lstStyle/>
                    <a:p>
                      <a:pPr algn="ctr"/>
                      <a:endParaRPr lang="en-US" sz="1400"/>
                    </a:p>
                  </a:txBody>
                  <a:tcPr marL="68580" marR="68580" marT="34290" marB="34290" anchor="ctr"/>
                </a:tc>
                <a:tc>
                  <a:txBody>
                    <a:bodyPr/>
                    <a:lstStyle/>
                    <a:p>
                      <a:pPr algn="ctr"/>
                      <a:endParaRPr lang="en-US" sz="1400" dirty="0"/>
                    </a:p>
                  </a:txBody>
                  <a:tcPr marL="68580" marR="68580" marT="34290" marB="34290" anchor="ctr"/>
                </a:tc>
                <a:extLst>
                  <a:ext uri="{0D108BD9-81ED-4DB2-BD59-A6C34878D82A}">
                    <a16:rowId xmlns:a16="http://schemas.microsoft.com/office/drawing/2014/main" val="10008"/>
                  </a:ext>
                </a:extLst>
              </a:tr>
            </a:tbl>
          </a:graphicData>
        </a:graphic>
      </p:graphicFrame>
      <p:sp>
        <p:nvSpPr>
          <p:cNvPr id="7" name="Slide Number Placeholder 6"/>
          <p:cNvSpPr>
            <a:spLocks noGrp="1"/>
          </p:cNvSpPr>
          <p:nvPr>
            <p:ph type="sldNum" sz="quarter" idx="10"/>
          </p:nvPr>
        </p:nvSpPr>
        <p:spPr/>
        <p:txBody>
          <a:bodyPr/>
          <a:lstStyle/>
          <a:p>
            <a:fld id="{D9B6BDF2-6896-4B98-8776-C18582F63BA5}" type="slidenum">
              <a:rPr lang="zh-TW" altLang="en-US" smtClean="0"/>
              <a:pPr/>
              <a:t>19</a:t>
            </a:fld>
            <a:endParaRPr lang="zh-TW" altLang="en-US"/>
          </a:p>
        </p:txBody>
      </p:sp>
    </p:spTree>
    <p:extLst>
      <p:ext uri="{BB962C8B-B14F-4D97-AF65-F5344CB8AC3E}">
        <p14:creationId xmlns:p14="http://schemas.microsoft.com/office/powerpoint/2010/main" val="6288427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Cache Example (2) </a:t>
            </a:r>
          </a:p>
        </p:txBody>
      </p:sp>
      <p:graphicFrame>
        <p:nvGraphicFramePr>
          <p:cNvPr id="6" name="Table 5"/>
          <p:cNvGraphicFramePr>
            <a:graphicFrameLocks noGrp="1"/>
          </p:cNvGraphicFramePr>
          <p:nvPr>
            <p:extLst>
              <p:ext uri="{D42A27DB-BD31-4B8C-83A1-F6EECF244321}">
                <p14:modId xmlns:p14="http://schemas.microsoft.com/office/powerpoint/2010/main" val="84382505"/>
              </p:ext>
            </p:extLst>
          </p:nvPr>
        </p:nvGraphicFramePr>
        <p:xfrm>
          <a:off x="1939500" y="1882430"/>
          <a:ext cx="5265000" cy="2503170"/>
        </p:xfrm>
        <a:graphic>
          <a:graphicData uri="http://schemas.openxmlformats.org/drawingml/2006/table">
            <a:tbl>
              <a:tblPr firstRow="1" bandRow="1">
                <a:tableStyleId>{5C22544A-7EE6-4342-B048-85BDC9FD1C3A}</a:tableStyleId>
              </a:tblPr>
              <a:tblGrid>
                <a:gridCol w="945000">
                  <a:extLst>
                    <a:ext uri="{9D8B030D-6E8A-4147-A177-3AD203B41FA5}">
                      <a16:colId xmlns:a16="http://schemas.microsoft.com/office/drawing/2014/main" val="20000"/>
                    </a:ext>
                  </a:extLst>
                </a:gridCol>
                <a:gridCol w="540000">
                  <a:extLst>
                    <a:ext uri="{9D8B030D-6E8A-4147-A177-3AD203B41FA5}">
                      <a16:colId xmlns:a16="http://schemas.microsoft.com/office/drawing/2014/main" val="20001"/>
                    </a:ext>
                  </a:extLst>
                </a:gridCol>
                <a:gridCol w="1620000">
                  <a:extLst>
                    <a:ext uri="{9D8B030D-6E8A-4147-A177-3AD203B41FA5}">
                      <a16:colId xmlns:a16="http://schemas.microsoft.com/office/drawing/2014/main" val="20002"/>
                    </a:ext>
                  </a:extLst>
                </a:gridCol>
                <a:gridCol w="2160000">
                  <a:extLst>
                    <a:ext uri="{9D8B030D-6E8A-4147-A177-3AD203B41FA5}">
                      <a16:colId xmlns:a16="http://schemas.microsoft.com/office/drawing/2014/main" val="20003"/>
                    </a:ext>
                  </a:extLst>
                </a:gridCol>
              </a:tblGrid>
              <a:tr h="278130">
                <a:tc>
                  <a:txBody>
                    <a:bodyPr/>
                    <a:lstStyle/>
                    <a:p>
                      <a:pPr algn="ctr"/>
                      <a:r>
                        <a:rPr lang="en-US" sz="1200" dirty="0"/>
                        <a:t>Index</a:t>
                      </a:r>
                    </a:p>
                  </a:txBody>
                  <a:tcPr marL="68580" marR="68580" marT="34290" marB="34290" anchor="ctr"/>
                </a:tc>
                <a:tc>
                  <a:txBody>
                    <a:bodyPr/>
                    <a:lstStyle/>
                    <a:p>
                      <a:pPr algn="ctr"/>
                      <a:r>
                        <a:rPr lang="en-US" sz="1200" dirty="0"/>
                        <a:t>V</a:t>
                      </a:r>
                    </a:p>
                  </a:txBody>
                  <a:tcPr marL="68580" marR="68580" marT="34290" marB="34290" anchor="ctr"/>
                </a:tc>
                <a:tc>
                  <a:txBody>
                    <a:bodyPr/>
                    <a:lstStyle/>
                    <a:p>
                      <a:pPr algn="ctr"/>
                      <a:r>
                        <a:rPr lang="en-US" sz="1200" dirty="0"/>
                        <a:t>Tag</a:t>
                      </a:r>
                    </a:p>
                  </a:txBody>
                  <a:tcPr marL="68580" marR="68580" marT="34290" marB="34290" anchor="ctr"/>
                </a:tc>
                <a:tc>
                  <a:txBody>
                    <a:bodyPr/>
                    <a:lstStyle/>
                    <a:p>
                      <a:pPr algn="ctr"/>
                      <a:r>
                        <a:rPr lang="en-US" sz="1200" dirty="0"/>
                        <a:t>Data</a:t>
                      </a:r>
                    </a:p>
                  </a:txBody>
                  <a:tcPr marL="68580" marR="68580" marT="34290" marB="34290" anchor="ctr"/>
                </a:tc>
                <a:extLst>
                  <a:ext uri="{0D108BD9-81ED-4DB2-BD59-A6C34878D82A}">
                    <a16:rowId xmlns:a16="http://schemas.microsoft.com/office/drawing/2014/main" val="10000"/>
                  </a:ext>
                </a:extLst>
              </a:tr>
              <a:tr h="278130">
                <a:tc>
                  <a:txBody>
                    <a:bodyPr/>
                    <a:lstStyle/>
                    <a:p>
                      <a:pPr algn="ctr"/>
                      <a:r>
                        <a:rPr lang="en-US" sz="1200" dirty="0"/>
                        <a:t>000</a:t>
                      </a:r>
                    </a:p>
                  </a:txBody>
                  <a:tcPr marL="68580" marR="68580" marT="34290" marB="34290" anchor="ctr"/>
                </a:tc>
                <a:tc>
                  <a:txBody>
                    <a:bodyPr/>
                    <a:lstStyle/>
                    <a:p>
                      <a:pPr algn="ctr"/>
                      <a:r>
                        <a:rPr lang="en-US" sz="1200" dirty="0"/>
                        <a:t>N</a:t>
                      </a:r>
                    </a:p>
                  </a:txBody>
                  <a:tcPr marL="68580" marR="68580" marT="34290" marB="34290" anchor="ctr"/>
                </a:tc>
                <a:tc>
                  <a:txBody>
                    <a:bodyPr/>
                    <a:lstStyle/>
                    <a:p>
                      <a:pPr algn="ctr"/>
                      <a:endParaRPr lang="en-US" sz="1200"/>
                    </a:p>
                  </a:txBody>
                  <a:tcPr marL="68580" marR="68580" marT="34290" marB="34290" anchor="ctr"/>
                </a:tc>
                <a:tc>
                  <a:txBody>
                    <a:bodyPr/>
                    <a:lstStyle/>
                    <a:p>
                      <a:pPr algn="ctr"/>
                      <a:endParaRPr lang="en-US" sz="1200" dirty="0"/>
                    </a:p>
                  </a:txBody>
                  <a:tcPr marL="68580" marR="68580" marT="34290" marB="34290" anchor="ctr"/>
                </a:tc>
                <a:extLst>
                  <a:ext uri="{0D108BD9-81ED-4DB2-BD59-A6C34878D82A}">
                    <a16:rowId xmlns:a16="http://schemas.microsoft.com/office/drawing/2014/main" val="10001"/>
                  </a:ext>
                </a:extLst>
              </a:tr>
              <a:tr h="278130">
                <a:tc>
                  <a:txBody>
                    <a:bodyPr/>
                    <a:lstStyle/>
                    <a:p>
                      <a:pPr algn="ctr"/>
                      <a:r>
                        <a:rPr lang="en-US" sz="1200" dirty="0"/>
                        <a:t>001</a:t>
                      </a:r>
                    </a:p>
                  </a:txBody>
                  <a:tcPr marL="68580" marR="68580" marT="34290" marB="34290" anchor="ctr"/>
                </a:tc>
                <a:tc>
                  <a:txBody>
                    <a:bodyPr/>
                    <a:lstStyle/>
                    <a:p>
                      <a:pPr algn="ctr"/>
                      <a:r>
                        <a:rPr lang="en-US" sz="1200" dirty="0"/>
                        <a:t>N</a:t>
                      </a:r>
                    </a:p>
                  </a:txBody>
                  <a:tcPr marL="68580" marR="68580" marT="34290" marB="34290" anchor="ctr"/>
                </a:tc>
                <a:tc>
                  <a:txBody>
                    <a:bodyPr/>
                    <a:lstStyle/>
                    <a:p>
                      <a:pPr algn="ctr"/>
                      <a:endParaRPr lang="en-US" sz="1200" dirty="0"/>
                    </a:p>
                  </a:txBody>
                  <a:tcPr marL="68580" marR="68580" marT="34290" marB="34290" anchor="ctr"/>
                </a:tc>
                <a:tc>
                  <a:txBody>
                    <a:bodyPr/>
                    <a:lstStyle/>
                    <a:p>
                      <a:pPr algn="ctr"/>
                      <a:endParaRPr lang="en-US" sz="1200" dirty="0"/>
                    </a:p>
                  </a:txBody>
                  <a:tcPr marL="68580" marR="68580" marT="34290" marB="34290" anchor="ctr"/>
                </a:tc>
                <a:extLst>
                  <a:ext uri="{0D108BD9-81ED-4DB2-BD59-A6C34878D82A}">
                    <a16:rowId xmlns:a16="http://schemas.microsoft.com/office/drawing/2014/main" val="10002"/>
                  </a:ext>
                </a:extLst>
              </a:tr>
              <a:tr h="278130">
                <a:tc>
                  <a:txBody>
                    <a:bodyPr/>
                    <a:lstStyle/>
                    <a:p>
                      <a:pPr algn="ctr"/>
                      <a:r>
                        <a:rPr lang="en-US" sz="1200" dirty="0"/>
                        <a:t>010</a:t>
                      </a:r>
                    </a:p>
                  </a:txBody>
                  <a:tcPr marL="68580" marR="68580" marT="34290" marB="34290" anchor="ctr"/>
                </a:tc>
                <a:tc>
                  <a:txBody>
                    <a:bodyPr/>
                    <a:lstStyle/>
                    <a:p>
                      <a:pPr algn="ctr"/>
                      <a:r>
                        <a:rPr lang="en-US" sz="1200" dirty="0"/>
                        <a:t>N</a:t>
                      </a:r>
                    </a:p>
                  </a:txBody>
                  <a:tcPr marL="68580" marR="68580" marT="34290" marB="34290" anchor="ctr"/>
                </a:tc>
                <a:tc>
                  <a:txBody>
                    <a:bodyPr/>
                    <a:lstStyle/>
                    <a:p>
                      <a:pPr algn="ctr"/>
                      <a:endParaRPr lang="en-US" sz="1200" dirty="0"/>
                    </a:p>
                  </a:txBody>
                  <a:tcPr marL="68580" marR="68580" marT="34290" marB="34290" anchor="ctr"/>
                </a:tc>
                <a:tc>
                  <a:txBody>
                    <a:bodyPr/>
                    <a:lstStyle/>
                    <a:p>
                      <a:pPr algn="ctr"/>
                      <a:endParaRPr lang="en-US" sz="1200"/>
                    </a:p>
                  </a:txBody>
                  <a:tcPr marL="68580" marR="68580" marT="34290" marB="34290" anchor="ctr"/>
                </a:tc>
                <a:extLst>
                  <a:ext uri="{0D108BD9-81ED-4DB2-BD59-A6C34878D82A}">
                    <a16:rowId xmlns:a16="http://schemas.microsoft.com/office/drawing/2014/main" val="10003"/>
                  </a:ext>
                </a:extLst>
              </a:tr>
              <a:tr h="278130">
                <a:tc>
                  <a:txBody>
                    <a:bodyPr/>
                    <a:lstStyle/>
                    <a:p>
                      <a:pPr algn="ctr"/>
                      <a:r>
                        <a:rPr lang="en-US" sz="1200" dirty="0"/>
                        <a:t>011</a:t>
                      </a:r>
                    </a:p>
                  </a:txBody>
                  <a:tcPr marL="68580" marR="68580" marT="34290" marB="34290" anchor="ctr"/>
                </a:tc>
                <a:tc>
                  <a:txBody>
                    <a:bodyPr/>
                    <a:lstStyle/>
                    <a:p>
                      <a:pPr algn="ctr"/>
                      <a:r>
                        <a:rPr lang="en-US" sz="1200" dirty="0"/>
                        <a:t>N</a:t>
                      </a:r>
                    </a:p>
                  </a:txBody>
                  <a:tcPr marL="68580" marR="68580" marT="34290" marB="34290" anchor="ctr"/>
                </a:tc>
                <a:tc>
                  <a:txBody>
                    <a:bodyPr/>
                    <a:lstStyle/>
                    <a:p>
                      <a:pPr algn="ctr"/>
                      <a:endParaRPr lang="en-US" sz="1200" dirty="0"/>
                    </a:p>
                  </a:txBody>
                  <a:tcPr marL="68580" marR="68580" marT="34290" marB="34290" anchor="ctr"/>
                </a:tc>
                <a:tc>
                  <a:txBody>
                    <a:bodyPr/>
                    <a:lstStyle/>
                    <a:p>
                      <a:pPr algn="ctr"/>
                      <a:endParaRPr lang="en-US" sz="1200" dirty="0"/>
                    </a:p>
                  </a:txBody>
                  <a:tcPr marL="68580" marR="68580" marT="34290" marB="34290" anchor="ctr"/>
                </a:tc>
                <a:extLst>
                  <a:ext uri="{0D108BD9-81ED-4DB2-BD59-A6C34878D82A}">
                    <a16:rowId xmlns:a16="http://schemas.microsoft.com/office/drawing/2014/main" val="10004"/>
                  </a:ext>
                </a:extLst>
              </a:tr>
              <a:tr h="278130">
                <a:tc>
                  <a:txBody>
                    <a:bodyPr/>
                    <a:lstStyle/>
                    <a:p>
                      <a:pPr algn="ctr"/>
                      <a:r>
                        <a:rPr lang="en-US" sz="1200" dirty="0"/>
                        <a:t>100</a:t>
                      </a:r>
                    </a:p>
                  </a:txBody>
                  <a:tcPr marL="68580" marR="68580" marT="34290" marB="34290" anchor="ctr"/>
                </a:tc>
                <a:tc>
                  <a:txBody>
                    <a:bodyPr/>
                    <a:lstStyle/>
                    <a:p>
                      <a:pPr algn="ctr"/>
                      <a:r>
                        <a:rPr lang="en-US" sz="1200" dirty="0"/>
                        <a:t>N</a:t>
                      </a:r>
                    </a:p>
                  </a:txBody>
                  <a:tcPr marL="68580" marR="68580" marT="34290" marB="34290" anchor="ctr"/>
                </a:tc>
                <a:tc>
                  <a:txBody>
                    <a:bodyPr/>
                    <a:lstStyle/>
                    <a:p>
                      <a:pPr algn="ctr"/>
                      <a:endParaRPr lang="en-US" sz="1200"/>
                    </a:p>
                  </a:txBody>
                  <a:tcPr marL="68580" marR="68580" marT="34290" marB="34290" anchor="ctr"/>
                </a:tc>
                <a:tc>
                  <a:txBody>
                    <a:bodyPr/>
                    <a:lstStyle/>
                    <a:p>
                      <a:pPr algn="ctr"/>
                      <a:endParaRPr lang="en-US" sz="1200" dirty="0"/>
                    </a:p>
                  </a:txBody>
                  <a:tcPr marL="68580" marR="68580" marT="34290" marB="34290" anchor="ctr"/>
                </a:tc>
                <a:extLst>
                  <a:ext uri="{0D108BD9-81ED-4DB2-BD59-A6C34878D82A}">
                    <a16:rowId xmlns:a16="http://schemas.microsoft.com/office/drawing/2014/main" val="10005"/>
                  </a:ext>
                </a:extLst>
              </a:tr>
              <a:tr h="278130">
                <a:tc>
                  <a:txBody>
                    <a:bodyPr/>
                    <a:lstStyle/>
                    <a:p>
                      <a:pPr algn="ctr"/>
                      <a:r>
                        <a:rPr lang="en-US" sz="1200" dirty="0"/>
                        <a:t>101</a:t>
                      </a:r>
                    </a:p>
                  </a:txBody>
                  <a:tcPr marL="68580" marR="68580" marT="34290" marB="34290" anchor="ctr"/>
                </a:tc>
                <a:tc>
                  <a:txBody>
                    <a:bodyPr/>
                    <a:lstStyle/>
                    <a:p>
                      <a:pPr algn="ctr"/>
                      <a:r>
                        <a:rPr lang="en-US" sz="1200" dirty="0"/>
                        <a:t>N</a:t>
                      </a:r>
                    </a:p>
                  </a:txBody>
                  <a:tcPr marL="68580" marR="68580" marT="34290" marB="34290" anchor="ctr"/>
                </a:tc>
                <a:tc>
                  <a:txBody>
                    <a:bodyPr/>
                    <a:lstStyle/>
                    <a:p>
                      <a:pPr algn="ctr"/>
                      <a:endParaRPr lang="en-US" sz="1200"/>
                    </a:p>
                  </a:txBody>
                  <a:tcPr marL="68580" marR="68580" marT="34290" marB="34290" anchor="ctr"/>
                </a:tc>
                <a:tc>
                  <a:txBody>
                    <a:bodyPr/>
                    <a:lstStyle/>
                    <a:p>
                      <a:pPr algn="ctr"/>
                      <a:endParaRPr lang="en-US" sz="1200" dirty="0"/>
                    </a:p>
                  </a:txBody>
                  <a:tcPr marL="68580" marR="68580" marT="34290" marB="34290" anchor="ctr"/>
                </a:tc>
                <a:extLst>
                  <a:ext uri="{0D108BD9-81ED-4DB2-BD59-A6C34878D82A}">
                    <a16:rowId xmlns:a16="http://schemas.microsoft.com/office/drawing/2014/main" val="10006"/>
                  </a:ext>
                </a:extLst>
              </a:tr>
              <a:tr h="278130">
                <a:tc>
                  <a:txBody>
                    <a:bodyPr/>
                    <a:lstStyle/>
                    <a:p>
                      <a:pPr algn="ctr"/>
                      <a:r>
                        <a:rPr lang="en-US" sz="1200" b="1" dirty="0">
                          <a:solidFill>
                            <a:srgbClr val="FF0000"/>
                          </a:solidFill>
                        </a:rPr>
                        <a:t>110</a:t>
                      </a:r>
                    </a:p>
                  </a:txBody>
                  <a:tcPr marL="68580" marR="68580" marT="34290" marB="34290" anchor="ctr"/>
                </a:tc>
                <a:tc>
                  <a:txBody>
                    <a:bodyPr/>
                    <a:lstStyle/>
                    <a:p>
                      <a:pPr algn="ctr"/>
                      <a:r>
                        <a:rPr lang="en-US" sz="1200" b="1" dirty="0">
                          <a:solidFill>
                            <a:srgbClr val="FF0000"/>
                          </a:solidFill>
                        </a:rPr>
                        <a:t>Y</a:t>
                      </a:r>
                    </a:p>
                  </a:txBody>
                  <a:tcPr marL="68580" marR="68580" marT="34290" marB="34290" anchor="ctr"/>
                </a:tc>
                <a:tc>
                  <a:txBody>
                    <a:bodyPr/>
                    <a:lstStyle/>
                    <a:p>
                      <a:pPr algn="ctr"/>
                      <a:r>
                        <a:rPr lang="en-US" sz="1200" b="1" dirty="0">
                          <a:solidFill>
                            <a:srgbClr val="FF0000"/>
                          </a:solidFill>
                        </a:rPr>
                        <a:t>10</a:t>
                      </a:r>
                    </a:p>
                  </a:txBody>
                  <a:tcPr marL="68580" marR="68580" marT="34290" marB="34290" anchor="ctr"/>
                </a:tc>
                <a:tc>
                  <a:txBody>
                    <a:bodyPr/>
                    <a:lstStyle/>
                    <a:p>
                      <a:pPr algn="ctr"/>
                      <a:r>
                        <a:rPr lang="en-US" sz="1200" b="1" dirty="0">
                          <a:solidFill>
                            <a:srgbClr val="FF0000"/>
                          </a:solidFill>
                        </a:rPr>
                        <a:t>Memory[10110</a:t>
                      </a:r>
                      <a:r>
                        <a:rPr lang="en-US" sz="1200" b="1" baseline="-25000" dirty="0">
                          <a:solidFill>
                            <a:srgbClr val="FF0000"/>
                          </a:solidFill>
                        </a:rPr>
                        <a:t>2</a:t>
                      </a:r>
                      <a:r>
                        <a:rPr lang="en-US" sz="1200" b="1" dirty="0">
                          <a:solidFill>
                            <a:srgbClr val="FF0000"/>
                          </a:solidFill>
                        </a:rPr>
                        <a:t>]</a:t>
                      </a:r>
                    </a:p>
                  </a:txBody>
                  <a:tcPr marL="68580" marR="68580" marT="34290" marB="34290" anchor="ctr"/>
                </a:tc>
                <a:extLst>
                  <a:ext uri="{0D108BD9-81ED-4DB2-BD59-A6C34878D82A}">
                    <a16:rowId xmlns:a16="http://schemas.microsoft.com/office/drawing/2014/main" val="10007"/>
                  </a:ext>
                </a:extLst>
              </a:tr>
              <a:tr h="278130">
                <a:tc>
                  <a:txBody>
                    <a:bodyPr/>
                    <a:lstStyle/>
                    <a:p>
                      <a:pPr algn="ctr"/>
                      <a:r>
                        <a:rPr lang="en-US" sz="1200" dirty="0"/>
                        <a:t>111</a:t>
                      </a:r>
                    </a:p>
                  </a:txBody>
                  <a:tcPr marL="68580" marR="68580" marT="34290" marB="34290" anchor="ctr"/>
                </a:tc>
                <a:tc>
                  <a:txBody>
                    <a:bodyPr/>
                    <a:lstStyle/>
                    <a:p>
                      <a:pPr algn="ctr"/>
                      <a:r>
                        <a:rPr lang="en-US" sz="1200" dirty="0"/>
                        <a:t>N</a:t>
                      </a:r>
                    </a:p>
                  </a:txBody>
                  <a:tcPr marL="68580" marR="68580" marT="34290" marB="34290" anchor="ctr"/>
                </a:tc>
                <a:tc>
                  <a:txBody>
                    <a:bodyPr/>
                    <a:lstStyle/>
                    <a:p>
                      <a:pPr algn="ctr"/>
                      <a:endParaRPr lang="en-US" sz="1200"/>
                    </a:p>
                  </a:txBody>
                  <a:tcPr marL="68580" marR="68580" marT="34290" marB="34290" anchor="ctr"/>
                </a:tc>
                <a:tc>
                  <a:txBody>
                    <a:bodyPr/>
                    <a:lstStyle/>
                    <a:p>
                      <a:pPr algn="ctr"/>
                      <a:endParaRPr lang="en-US" sz="1200" dirty="0"/>
                    </a:p>
                  </a:txBody>
                  <a:tcPr marL="68580" marR="68580" marT="34290" marB="34290" anchor="ctr"/>
                </a:tc>
                <a:extLst>
                  <a:ext uri="{0D108BD9-81ED-4DB2-BD59-A6C34878D82A}">
                    <a16:rowId xmlns:a16="http://schemas.microsoft.com/office/drawing/2014/main" val="10008"/>
                  </a:ext>
                </a:extLst>
              </a:tr>
            </a:tbl>
          </a:graphicData>
        </a:graphic>
      </p:graphicFrame>
      <p:graphicFrame>
        <p:nvGraphicFramePr>
          <p:cNvPr id="7" name="Table 6"/>
          <p:cNvGraphicFramePr>
            <a:graphicFrameLocks noGrp="1"/>
          </p:cNvGraphicFramePr>
          <p:nvPr>
            <p:extLst/>
          </p:nvPr>
        </p:nvGraphicFramePr>
        <p:xfrm>
          <a:off x="1940985" y="942637"/>
          <a:ext cx="5263515" cy="556260"/>
        </p:xfrm>
        <a:graphic>
          <a:graphicData uri="http://schemas.openxmlformats.org/drawingml/2006/table">
            <a:tbl>
              <a:tblPr firstRow="1" bandRow="1">
                <a:tableStyleId>{5C22544A-7EE6-4342-B048-85BDC9FD1C3A}</a:tableStyleId>
              </a:tblPr>
              <a:tblGrid>
                <a:gridCol w="1670685">
                  <a:extLst>
                    <a:ext uri="{9D8B030D-6E8A-4147-A177-3AD203B41FA5}">
                      <a16:colId xmlns:a16="http://schemas.microsoft.com/office/drawing/2014/main" val="20000"/>
                    </a:ext>
                  </a:extLst>
                </a:gridCol>
                <a:gridCol w="1546860">
                  <a:extLst>
                    <a:ext uri="{9D8B030D-6E8A-4147-A177-3AD203B41FA5}">
                      <a16:colId xmlns:a16="http://schemas.microsoft.com/office/drawing/2014/main" val="20001"/>
                    </a:ext>
                  </a:extLst>
                </a:gridCol>
                <a:gridCol w="851535">
                  <a:extLst>
                    <a:ext uri="{9D8B030D-6E8A-4147-A177-3AD203B41FA5}">
                      <a16:colId xmlns:a16="http://schemas.microsoft.com/office/drawing/2014/main" val="20002"/>
                    </a:ext>
                  </a:extLst>
                </a:gridCol>
                <a:gridCol w="1194435">
                  <a:extLst>
                    <a:ext uri="{9D8B030D-6E8A-4147-A177-3AD203B41FA5}">
                      <a16:colId xmlns:a16="http://schemas.microsoft.com/office/drawing/2014/main" val="20003"/>
                    </a:ext>
                  </a:extLst>
                </a:gridCol>
              </a:tblGrid>
              <a:tr h="278130">
                <a:tc>
                  <a:txBody>
                    <a:bodyPr/>
                    <a:lstStyle/>
                    <a:p>
                      <a:pPr algn="ctr"/>
                      <a:r>
                        <a:rPr lang="en-US" sz="1200" baseline="0" dirty="0"/>
                        <a:t>Address (decimal)</a:t>
                      </a:r>
                      <a:endParaRPr lang="en-US" sz="1200" dirty="0"/>
                    </a:p>
                  </a:txBody>
                  <a:tcPr marL="68580" marR="68580" marT="34290" marB="34290" anchor="ctr"/>
                </a:tc>
                <a:tc>
                  <a:txBody>
                    <a:bodyPr/>
                    <a:lstStyle/>
                    <a:p>
                      <a:pPr algn="ctr"/>
                      <a:r>
                        <a:rPr lang="en-US" sz="1200" dirty="0"/>
                        <a:t>Address</a:t>
                      </a:r>
                      <a:r>
                        <a:rPr lang="en-US" sz="1200" baseline="0" dirty="0"/>
                        <a:t> (binary)</a:t>
                      </a:r>
                      <a:endParaRPr lang="en-US" sz="1200" dirty="0"/>
                    </a:p>
                  </a:txBody>
                  <a:tcPr marL="68580" marR="68580" marT="34290" marB="34290" anchor="ctr"/>
                </a:tc>
                <a:tc>
                  <a:txBody>
                    <a:bodyPr/>
                    <a:lstStyle/>
                    <a:p>
                      <a:pPr algn="ctr"/>
                      <a:r>
                        <a:rPr lang="en-US" sz="1200" dirty="0"/>
                        <a:t>Hit/miss</a:t>
                      </a:r>
                    </a:p>
                  </a:txBody>
                  <a:tcPr marL="68580" marR="68580" marT="34290" marB="34290" anchor="ctr"/>
                </a:tc>
                <a:tc>
                  <a:txBody>
                    <a:bodyPr/>
                    <a:lstStyle/>
                    <a:p>
                      <a:pPr algn="ctr"/>
                      <a:r>
                        <a:rPr lang="en-US" sz="1200" dirty="0"/>
                        <a:t>Cache block</a:t>
                      </a:r>
                    </a:p>
                  </a:txBody>
                  <a:tcPr marL="68580" marR="68580" marT="34290" marB="34290" anchor="ctr"/>
                </a:tc>
                <a:extLst>
                  <a:ext uri="{0D108BD9-81ED-4DB2-BD59-A6C34878D82A}">
                    <a16:rowId xmlns:a16="http://schemas.microsoft.com/office/drawing/2014/main" val="10000"/>
                  </a:ext>
                </a:extLst>
              </a:tr>
              <a:tr h="278130">
                <a:tc>
                  <a:txBody>
                    <a:bodyPr/>
                    <a:lstStyle/>
                    <a:p>
                      <a:pPr algn="ctr"/>
                      <a:r>
                        <a:rPr lang="en-US" sz="1200" dirty="0"/>
                        <a:t>22</a:t>
                      </a:r>
                    </a:p>
                  </a:txBody>
                  <a:tcPr marL="68580" marR="68580" marT="34290" marB="34290" anchor="ctr"/>
                </a:tc>
                <a:tc>
                  <a:txBody>
                    <a:bodyPr/>
                    <a:lstStyle/>
                    <a:p>
                      <a:pPr algn="ctr"/>
                      <a:r>
                        <a:rPr lang="en-US" sz="1200" dirty="0"/>
                        <a:t>10</a:t>
                      </a:r>
                      <a:r>
                        <a:rPr lang="en-US" sz="1200" baseline="0" dirty="0"/>
                        <a:t> 110</a:t>
                      </a:r>
                      <a:endParaRPr lang="en-US" sz="1200" dirty="0"/>
                    </a:p>
                  </a:txBody>
                  <a:tcPr marL="68580" marR="68580" marT="34290" marB="34290" anchor="ctr"/>
                </a:tc>
                <a:tc>
                  <a:txBody>
                    <a:bodyPr/>
                    <a:lstStyle/>
                    <a:p>
                      <a:pPr algn="ctr"/>
                      <a:r>
                        <a:rPr lang="en-US" sz="1200" dirty="0"/>
                        <a:t>Miss</a:t>
                      </a:r>
                    </a:p>
                  </a:txBody>
                  <a:tcPr marL="68580" marR="68580" marT="34290" marB="34290" anchor="ctr"/>
                </a:tc>
                <a:tc>
                  <a:txBody>
                    <a:bodyPr/>
                    <a:lstStyle/>
                    <a:p>
                      <a:pPr algn="ctr"/>
                      <a:r>
                        <a:rPr lang="en-US" sz="1200" dirty="0"/>
                        <a:t>110</a:t>
                      </a:r>
                    </a:p>
                  </a:txBody>
                  <a:tcPr marL="68580" marR="68580" marT="34290" marB="34290" anchor="ctr"/>
                </a:tc>
                <a:extLst>
                  <a:ext uri="{0D108BD9-81ED-4DB2-BD59-A6C34878D82A}">
                    <a16:rowId xmlns:a16="http://schemas.microsoft.com/office/drawing/2014/main" val="10001"/>
                  </a:ext>
                </a:extLst>
              </a:tr>
            </a:tbl>
          </a:graphicData>
        </a:graphic>
      </p:graphicFrame>
      <p:sp>
        <p:nvSpPr>
          <p:cNvPr id="3" name="Slide Number Placeholder 2"/>
          <p:cNvSpPr>
            <a:spLocks noGrp="1"/>
          </p:cNvSpPr>
          <p:nvPr>
            <p:ph type="sldNum" sz="quarter" idx="10"/>
          </p:nvPr>
        </p:nvSpPr>
        <p:spPr/>
        <p:txBody>
          <a:bodyPr/>
          <a:lstStyle/>
          <a:p>
            <a:fld id="{D9B6BDF2-6896-4B98-8776-C18582F63BA5}" type="slidenum">
              <a:rPr lang="zh-TW" altLang="en-US" smtClean="0"/>
              <a:pPr/>
              <a:t>20</a:t>
            </a:fld>
            <a:endParaRPr lang="zh-TW" altLang="en-US"/>
          </a:p>
        </p:txBody>
      </p:sp>
    </p:spTree>
    <p:extLst>
      <p:ext uri="{BB962C8B-B14F-4D97-AF65-F5344CB8AC3E}">
        <p14:creationId xmlns:p14="http://schemas.microsoft.com/office/powerpoint/2010/main" val="117401984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Cache Example (3) </a:t>
            </a:r>
          </a:p>
        </p:txBody>
      </p:sp>
      <p:graphicFrame>
        <p:nvGraphicFramePr>
          <p:cNvPr id="6" name="Table 5"/>
          <p:cNvGraphicFramePr>
            <a:graphicFrameLocks noGrp="1"/>
          </p:cNvGraphicFramePr>
          <p:nvPr>
            <p:extLst>
              <p:ext uri="{D42A27DB-BD31-4B8C-83A1-F6EECF244321}">
                <p14:modId xmlns:p14="http://schemas.microsoft.com/office/powerpoint/2010/main" val="2571200616"/>
              </p:ext>
            </p:extLst>
          </p:nvPr>
        </p:nvGraphicFramePr>
        <p:xfrm>
          <a:off x="1957754" y="2009651"/>
          <a:ext cx="5265000" cy="2503170"/>
        </p:xfrm>
        <a:graphic>
          <a:graphicData uri="http://schemas.openxmlformats.org/drawingml/2006/table">
            <a:tbl>
              <a:tblPr firstRow="1" bandRow="1">
                <a:tableStyleId>{5C22544A-7EE6-4342-B048-85BDC9FD1C3A}</a:tableStyleId>
              </a:tblPr>
              <a:tblGrid>
                <a:gridCol w="945000">
                  <a:extLst>
                    <a:ext uri="{9D8B030D-6E8A-4147-A177-3AD203B41FA5}">
                      <a16:colId xmlns:a16="http://schemas.microsoft.com/office/drawing/2014/main" val="20000"/>
                    </a:ext>
                  </a:extLst>
                </a:gridCol>
                <a:gridCol w="540000">
                  <a:extLst>
                    <a:ext uri="{9D8B030D-6E8A-4147-A177-3AD203B41FA5}">
                      <a16:colId xmlns:a16="http://schemas.microsoft.com/office/drawing/2014/main" val="20001"/>
                    </a:ext>
                  </a:extLst>
                </a:gridCol>
                <a:gridCol w="1620000">
                  <a:extLst>
                    <a:ext uri="{9D8B030D-6E8A-4147-A177-3AD203B41FA5}">
                      <a16:colId xmlns:a16="http://schemas.microsoft.com/office/drawing/2014/main" val="20002"/>
                    </a:ext>
                  </a:extLst>
                </a:gridCol>
                <a:gridCol w="2160000">
                  <a:extLst>
                    <a:ext uri="{9D8B030D-6E8A-4147-A177-3AD203B41FA5}">
                      <a16:colId xmlns:a16="http://schemas.microsoft.com/office/drawing/2014/main" val="20003"/>
                    </a:ext>
                  </a:extLst>
                </a:gridCol>
              </a:tblGrid>
              <a:tr h="278130">
                <a:tc>
                  <a:txBody>
                    <a:bodyPr/>
                    <a:lstStyle/>
                    <a:p>
                      <a:pPr algn="ctr"/>
                      <a:r>
                        <a:rPr lang="en-US" sz="1200" dirty="0"/>
                        <a:t>Index</a:t>
                      </a:r>
                    </a:p>
                  </a:txBody>
                  <a:tcPr marL="68580" marR="68580" marT="34290" marB="34290" anchor="ctr"/>
                </a:tc>
                <a:tc>
                  <a:txBody>
                    <a:bodyPr/>
                    <a:lstStyle/>
                    <a:p>
                      <a:pPr algn="ctr"/>
                      <a:r>
                        <a:rPr lang="en-US" sz="1200" dirty="0"/>
                        <a:t>V</a:t>
                      </a:r>
                    </a:p>
                  </a:txBody>
                  <a:tcPr marL="68580" marR="68580" marT="34290" marB="34290" anchor="ctr"/>
                </a:tc>
                <a:tc>
                  <a:txBody>
                    <a:bodyPr/>
                    <a:lstStyle/>
                    <a:p>
                      <a:pPr algn="ctr"/>
                      <a:r>
                        <a:rPr lang="en-US" sz="1200" dirty="0"/>
                        <a:t>Tag</a:t>
                      </a:r>
                    </a:p>
                  </a:txBody>
                  <a:tcPr marL="68580" marR="68580" marT="34290" marB="34290" anchor="ctr"/>
                </a:tc>
                <a:tc>
                  <a:txBody>
                    <a:bodyPr/>
                    <a:lstStyle/>
                    <a:p>
                      <a:pPr algn="ctr"/>
                      <a:r>
                        <a:rPr lang="en-US" sz="1200" dirty="0"/>
                        <a:t>Data</a:t>
                      </a:r>
                    </a:p>
                  </a:txBody>
                  <a:tcPr marL="68580" marR="68580" marT="34290" marB="34290" anchor="ctr"/>
                </a:tc>
                <a:extLst>
                  <a:ext uri="{0D108BD9-81ED-4DB2-BD59-A6C34878D82A}">
                    <a16:rowId xmlns:a16="http://schemas.microsoft.com/office/drawing/2014/main" val="10000"/>
                  </a:ext>
                </a:extLst>
              </a:tr>
              <a:tr h="278130">
                <a:tc>
                  <a:txBody>
                    <a:bodyPr/>
                    <a:lstStyle/>
                    <a:p>
                      <a:pPr algn="ctr"/>
                      <a:r>
                        <a:rPr lang="en-US" sz="1200" dirty="0"/>
                        <a:t>000</a:t>
                      </a:r>
                    </a:p>
                  </a:txBody>
                  <a:tcPr marL="68580" marR="68580" marT="34290" marB="34290" anchor="ctr"/>
                </a:tc>
                <a:tc>
                  <a:txBody>
                    <a:bodyPr/>
                    <a:lstStyle/>
                    <a:p>
                      <a:pPr algn="ctr"/>
                      <a:r>
                        <a:rPr lang="en-US" sz="1200" dirty="0"/>
                        <a:t>N</a:t>
                      </a:r>
                    </a:p>
                  </a:txBody>
                  <a:tcPr marL="68580" marR="68580" marT="34290" marB="34290" anchor="ctr"/>
                </a:tc>
                <a:tc>
                  <a:txBody>
                    <a:bodyPr/>
                    <a:lstStyle/>
                    <a:p>
                      <a:pPr algn="ctr"/>
                      <a:endParaRPr lang="en-US" sz="1200"/>
                    </a:p>
                  </a:txBody>
                  <a:tcPr marL="68580" marR="68580" marT="34290" marB="34290" anchor="ctr"/>
                </a:tc>
                <a:tc>
                  <a:txBody>
                    <a:bodyPr/>
                    <a:lstStyle/>
                    <a:p>
                      <a:pPr algn="ctr"/>
                      <a:endParaRPr lang="en-US" sz="1200" dirty="0"/>
                    </a:p>
                  </a:txBody>
                  <a:tcPr marL="68580" marR="68580" marT="34290" marB="34290" anchor="ctr"/>
                </a:tc>
                <a:extLst>
                  <a:ext uri="{0D108BD9-81ED-4DB2-BD59-A6C34878D82A}">
                    <a16:rowId xmlns:a16="http://schemas.microsoft.com/office/drawing/2014/main" val="10001"/>
                  </a:ext>
                </a:extLst>
              </a:tr>
              <a:tr h="278130">
                <a:tc>
                  <a:txBody>
                    <a:bodyPr/>
                    <a:lstStyle/>
                    <a:p>
                      <a:pPr algn="ctr"/>
                      <a:r>
                        <a:rPr lang="en-US" sz="1200" dirty="0"/>
                        <a:t>001</a:t>
                      </a:r>
                    </a:p>
                  </a:txBody>
                  <a:tcPr marL="68580" marR="68580" marT="34290" marB="34290" anchor="ctr"/>
                </a:tc>
                <a:tc>
                  <a:txBody>
                    <a:bodyPr/>
                    <a:lstStyle/>
                    <a:p>
                      <a:pPr algn="ctr"/>
                      <a:r>
                        <a:rPr lang="en-US" sz="1200" dirty="0"/>
                        <a:t>N</a:t>
                      </a:r>
                    </a:p>
                  </a:txBody>
                  <a:tcPr marL="68580" marR="68580" marT="34290" marB="34290" anchor="ctr"/>
                </a:tc>
                <a:tc>
                  <a:txBody>
                    <a:bodyPr/>
                    <a:lstStyle/>
                    <a:p>
                      <a:pPr algn="ctr"/>
                      <a:endParaRPr lang="en-US" sz="1200"/>
                    </a:p>
                  </a:txBody>
                  <a:tcPr marL="68580" marR="68580" marT="34290" marB="34290" anchor="ctr"/>
                </a:tc>
                <a:tc>
                  <a:txBody>
                    <a:bodyPr/>
                    <a:lstStyle/>
                    <a:p>
                      <a:pPr algn="ctr"/>
                      <a:endParaRPr lang="en-US" sz="1200" dirty="0"/>
                    </a:p>
                  </a:txBody>
                  <a:tcPr marL="68580" marR="68580" marT="34290" marB="34290" anchor="ctr"/>
                </a:tc>
                <a:extLst>
                  <a:ext uri="{0D108BD9-81ED-4DB2-BD59-A6C34878D82A}">
                    <a16:rowId xmlns:a16="http://schemas.microsoft.com/office/drawing/2014/main" val="10002"/>
                  </a:ext>
                </a:extLst>
              </a:tr>
              <a:tr h="278130">
                <a:tc>
                  <a:txBody>
                    <a:bodyPr/>
                    <a:lstStyle/>
                    <a:p>
                      <a:pPr algn="ctr"/>
                      <a:r>
                        <a:rPr lang="en-US" sz="1200" b="1" dirty="0">
                          <a:solidFill>
                            <a:srgbClr val="FF0000"/>
                          </a:solidFill>
                        </a:rPr>
                        <a:t>010</a:t>
                      </a:r>
                    </a:p>
                  </a:txBody>
                  <a:tcPr marL="68580" marR="68580" marT="34290" marB="34290" anchor="ctr"/>
                </a:tc>
                <a:tc>
                  <a:txBody>
                    <a:bodyPr/>
                    <a:lstStyle/>
                    <a:p>
                      <a:pPr algn="ctr"/>
                      <a:r>
                        <a:rPr lang="en-US" sz="1200" b="1" dirty="0">
                          <a:solidFill>
                            <a:srgbClr val="FF0000"/>
                          </a:solidFill>
                        </a:rPr>
                        <a:t>Y</a:t>
                      </a:r>
                    </a:p>
                  </a:txBody>
                  <a:tcPr marL="68580" marR="68580" marT="34290" marB="34290" anchor="ctr"/>
                </a:tc>
                <a:tc>
                  <a:txBody>
                    <a:bodyPr/>
                    <a:lstStyle/>
                    <a:p>
                      <a:pPr algn="ctr"/>
                      <a:r>
                        <a:rPr lang="en-US" sz="1200" b="1" dirty="0">
                          <a:solidFill>
                            <a:srgbClr val="FF0000"/>
                          </a:solidFill>
                        </a:rPr>
                        <a:t>11</a:t>
                      </a:r>
                    </a:p>
                  </a:txBody>
                  <a:tcPr marL="68580" marR="68580" marT="34290" marB="34290" anchor="ctr"/>
                </a:tc>
                <a:tc>
                  <a:txBody>
                    <a:bodyPr/>
                    <a:lstStyle/>
                    <a:p>
                      <a:pPr algn="ctr"/>
                      <a:r>
                        <a:rPr lang="en-US" sz="1200" b="1" dirty="0">
                          <a:solidFill>
                            <a:srgbClr val="FF0000"/>
                          </a:solidFill>
                        </a:rPr>
                        <a:t>Memory[11010</a:t>
                      </a:r>
                      <a:r>
                        <a:rPr lang="en-US" sz="1200" b="1" baseline="-25000" dirty="0">
                          <a:solidFill>
                            <a:srgbClr val="FF0000"/>
                          </a:solidFill>
                        </a:rPr>
                        <a:t>2</a:t>
                      </a:r>
                      <a:r>
                        <a:rPr lang="en-US" sz="1200" b="1" dirty="0">
                          <a:solidFill>
                            <a:srgbClr val="FF0000"/>
                          </a:solidFill>
                        </a:rPr>
                        <a:t>]</a:t>
                      </a:r>
                    </a:p>
                  </a:txBody>
                  <a:tcPr marL="68580" marR="68580" marT="34290" marB="34290" anchor="ctr"/>
                </a:tc>
                <a:extLst>
                  <a:ext uri="{0D108BD9-81ED-4DB2-BD59-A6C34878D82A}">
                    <a16:rowId xmlns:a16="http://schemas.microsoft.com/office/drawing/2014/main" val="10003"/>
                  </a:ext>
                </a:extLst>
              </a:tr>
              <a:tr h="278130">
                <a:tc>
                  <a:txBody>
                    <a:bodyPr/>
                    <a:lstStyle/>
                    <a:p>
                      <a:pPr algn="ctr"/>
                      <a:r>
                        <a:rPr lang="en-US" sz="1200" dirty="0"/>
                        <a:t>011</a:t>
                      </a:r>
                    </a:p>
                  </a:txBody>
                  <a:tcPr marL="68580" marR="68580" marT="34290" marB="34290" anchor="ctr"/>
                </a:tc>
                <a:tc>
                  <a:txBody>
                    <a:bodyPr/>
                    <a:lstStyle/>
                    <a:p>
                      <a:pPr algn="ctr"/>
                      <a:r>
                        <a:rPr lang="en-US" sz="1200" dirty="0"/>
                        <a:t>N</a:t>
                      </a:r>
                    </a:p>
                  </a:txBody>
                  <a:tcPr marL="68580" marR="68580" marT="34290" marB="34290" anchor="ctr"/>
                </a:tc>
                <a:tc>
                  <a:txBody>
                    <a:bodyPr/>
                    <a:lstStyle/>
                    <a:p>
                      <a:pPr algn="ctr"/>
                      <a:endParaRPr lang="en-US" sz="1200"/>
                    </a:p>
                  </a:txBody>
                  <a:tcPr marL="68580" marR="68580" marT="34290" marB="34290" anchor="ctr"/>
                </a:tc>
                <a:tc>
                  <a:txBody>
                    <a:bodyPr/>
                    <a:lstStyle/>
                    <a:p>
                      <a:pPr algn="ctr"/>
                      <a:endParaRPr lang="en-US" sz="1200" dirty="0"/>
                    </a:p>
                  </a:txBody>
                  <a:tcPr marL="68580" marR="68580" marT="34290" marB="34290" anchor="ctr"/>
                </a:tc>
                <a:extLst>
                  <a:ext uri="{0D108BD9-81ED-4DB2-BD59-A6C34878D82A}">
                    <a16:rowId xmlns:a16="http://schemas.microsoft.com/office/drawing/2014/main" val="10004"/>
                  </a:ext>
                </a:extLst>
              </a:tr>
              <a:tr h="278130">
                <a:tc>
                  <a:txBody>
                    <a:bodyPr/>
                    <a:lstStyle/>
                    <a:p>
                      <a:pPr algn="ctr"/>
                      <a:r>
                        <a:rPr lang="en-US" sz="1200" dirty="0"/>
                        <a:t>100</a:t>
                      </a:r>
                    </a:p>
                  </a:txBody>
                  <a:tcPr marL="68580" marR="68580" marT="34290" marB="34290" anchor="ctr"/>
                </a:tc>
                <a:tc>
                  <a:txBody>
                    <a:bodyPr/>
                    <a:lstStyle/>
                    <a:p>
                      <a:pPr algn="ctr"/>
                      <a:r>
                        <a:rPr lang="en-US" sz="1200" dirty="0"/>
                        <a:t>N</a:t>
                      </a:r>
                    </a:p>
                  </a:txBody>
                  <a:tcPr marL="68580" marR="68580" marT="34290" marB="34290" anchor="ctr"/>
                </a:tc>
                <a:tc>
                  <a:txBody>
                    <a:bodyPr/>
                    <a:lstStyle/>
                    <a:p>
                      <a:pPr algn="ctr"/>
                      <a:endParaRPr lang="en-US" sz="1200"/>
                    </a:p>
                  </a:txBody>
                  <a:tcPr marL="68580" marR="68580" marT="34290" marB="34290" anchor="ctr"/>
                </a:tc>
                <a:tc>
                  <a:txBody>
                    <a:bodyPr/>
                    <a:lstStyle/>
                    <a:p>
                      <a:pPr algn="ctr"/>
                      <a:endParaRPr lang="en-US" sz="1200"/>
                    </a:p>
                  </a:txBody>
                  <a:tcPr marL="68580" marR="68580" marT="34290" marB="34290" anchor="ctr"/>
                </a:tc>
                <a:extLst>
                  <a:ext uri="{0D108BD9-81ED-4DB2-BD59-A6C34878D82A}">
                    <a16:rowId xmlns:a16="http://schemas.microsoft.com/office/drawing/2014/main" val="10005"/>
                  </a:ext>
                </a:extLst>
              </a:tr>
              <a:tr h="278130">
                <a:tc>
                  <a:txBody>
                    <a:bodyPr/>
                    <a:lstStyle/>
                    <a:p>
                      <a:pPr algn="ctr"/>
                      <a:r>
                        <a:rPr lang="en-US" sz="1200" dirty="0"/>
                        <a:t>101</a:t>
                      </a:r>
                    </a:p>
                  </a:txBody>
                  <a:tcPr marL="68580" marR="68580" marT="34290" marB="34290" anchor="ctr"/>
                </a:tc>
                <a:tc>
                  <a:txBody>
                    <a:bodyPr/>
                    <a:lstStyle/>
                    <a:p>
                      <a:pPr algn="ctr"/>
                      <a:r>
                        <a:rPr lang="en-US" sz="1200" dirty="0"/>
                        <a:t>N</a:t>
                      </a:r>
                    </a:p>
                  </a:txBody>
                  <a:tcPr marL="68580" marR="68580" marT="34290" marB="34290" anchor="ctr"/>
                </a:tc>
                <a:tc>
                  <a:txBody>
                    <a:bodyPr/>
                    <a:lstStyle/>
                    <a:p>
                      <a:pPr algn="ctr"/>
                      <a:endParaRPr lang="en-US" sz="1200"/>
                    </a:p>
                  </a:txBody>
                  <a:tcPr marL="68580" marR="68580" marT="34290" marB="34290" anchor="ctr"/>
                </a:tc>
                <a:tc>
                  <a:txBody>
                    <a:bodyPr/>
                    <a:lstStyle/>
                    <a:p>
                      <a:pPr algn="ctr"/>
                      <a:endParaRPr lang="en-US" sz="1200"/>
                    </a:p>
                  </a:txBody>
                  <a:tcPr marL="68580" marR="68580" marT="34290" marB="34290" anchor="ctr"/>
                </a:tc>
                <a:extLst>
                  <a:ext uri="{0D108BD9-81ED-4DB2-BD59-A6C34878D82A}">
                    <a16:rowId xmlns:a16="http://schemas.microsoft.com/office/drawing/2014/main" val="10006"/>
                  </a:ext>
                </a:extLst>
              </a:tr>
              <a:tr h="278130">
                <a:tc>
                  <a:txBody>
                    <a:bodyPr/>
                    <a:lstStyle/>
                    <a:p>
                      <a:pPr algn="ctr"/>
                      <a:r>
                        <a:rPr lang="en-US" sz="1200" b="0" dirty="0">
                          <a:solidFill>
                            <a:schemeClr val="tx1"/>
                          </a:solidFill>
                        </a:rPr>
                        <a:t>110</a:t>
                      </a:r>
                    </a:p>
                  </a:txBody>
                  <a:tcPr marL="68580" marR="68580" marT="34290" marB="34290" anchor="ctr"/>
                </a:tc>
                <a:tc>
                  <a:txBody>
                    <a:bodyPr/>
                    <a:lstStyle/>
                    <a:p>
                      <a:pPr algn="ctr"/>
                      <a:r>
                        <a:rPr lang="en-US" sz="1200" b="0" dirty="0">
                          <a:solidFill>
                            <a:schemeClr val="tx1"/>
                          </a:solidFill>
                        </a:rPr>
                        <a:t>Y</a:t>
                      </a:r>
                    </a:p>
                  </a:txBody>
                  <a:tcPr marL="68580" marR="68580" marT="34290" marB="34290" anchor="ctr"/>
                </a:tc>
                <a:tc>
                  <a:txBody>
                    <a:bodyPr/>
                    <a:lstStyle/>
                    <a:p>
                      <a:pPr algn="ctr"/>
                      <a:r>
                        <a:rPr lang="en-US" sz="1200" b="0" dirty="0">
                          <a:solidFill>
                            <a:schemeClr val="tx1"/>
                          </a:solidFill>
                        </a:rPr>
                        <a:t>10</a:t>
                      </a:r>
                    </a:p>
                  </a:txBody>
                  <a:tcPr marL="68580" marR="68580" marT="34290" marB="34290" anchor="ctr"/>
                </a:tc>
                <a:tc>
                  <a:txBody>
                    <a:bodyPr/>
                    <a:lstStyle/>
                    <a:p>
                      <a:pPr algn="ctr"/>
                      <a:r>
                        <a:rPr lang="en-US" sz="1200" b="0" dirty="0">
                          <a:solidFill>
                            <a:schemeClr val="tx1"/>
                          </a:solidFill>
                        </a:rPr>
                        <a:t>Memory[10110</a:t>
                      </a:r>
                      <a:r>
                        <a:rPr lang="en-US" sz="1200" b="0" baseline="-25000" dirty="0">
                          <a:solidFill>
                            <a:schemeClr val="tx1"/>
                          </a:solidFill>
                        </a:rPr>
                        <a:t>2</a:t>
                      </a:r>
                      <a:r>
                        <a:rPr lang="en-US" sz="1200" b="0" dirty="0">
                          <a:solidFill>
                            <a:schemeClr val="tx1"/>
                          </a:solidFill>
                        </a:rPr>
                        <a:t>]</a:t>
                      </a:r>
                    </a:p>
                  </a:txBody>
                  <a:tcPr marL="68580" marR="68580" marT="34290" marB="34290" anchor="ctr"/>
                </a:tc>
                <a:extLst>
                  <a:ext uri="{0D108BD9-81ED-4DB2-BD59-A6C34878D82A}">
                    <a16:rowId xmlns:a16="http://schemas.microsoft.com/office/drawing/2014/main" val="10007"/>
                  </a:ext>
                </a:extLst>
              </a:tr>
              <a:tr h="278130">
                <a:tc>
                  <a:txBody>
                    <a:bodyPr/>
                    <a:lstStyle/>
                    <a:p>
                      <a:pPr algn="ctr"/>
                      <a:r>
                        <a:rPr lang="en-US" sz="1200" dirty="0"/>
                        <a:t>111</a:t>
                      </a:r>
                    </a:p>
                  </a:txBody>
                  <a:tcPr marL="68580" marR="68580" marT="34290" marB="34290" anchor="ctr"/>
                </a:tc>
                <a:tc>
                  <a:txBody>
                    <a:bodyPr/>
                    <a:lstStyle/>
                    <a:p>
                      <a:pPr algn="ctr"/>
                      <a:r>
                        <a:rPr lang="en-US" sz="1200" dirty="0"/>
                        <a:t>N</a:t>
                      </a:r>
                    </a:p>
                  </a:txBody>
                  <a:tcPr marL="68580" marR="68580" marT="34290" marB="34290" anchor="ctr"/>
                </a:tc>
                <a:tc>
                  <a:txBody>
                    <a:bodyPr/>
                    <a:lstStyle/>
                    <a:p>
                      <a:pPr algn="ctr"/>
                      <a:endParaRPr lang="en-US" sz="1200"/>
                    </a:p>
                  </a:txBody>
                  <a:tcPr marL="68580" marR="68580" marT="34290" marB="34290" anchor="ctr"/>
                </a:tc>
                <a:tc>
                  <a:txBody>
                    <a:bodyPr/>
                    <a:lstStyle/>
                    <a:p>
                      <a:pPr algn="ctr"/>
                      <a:endParaRPr lang="en-US" sz="1200" dirty="0"/>
                    </a:p>
                  </a:txBody>
                  <a:tcPr marL="68580" marR="68580" marT="34290" marB="34290" anchor="ctr"/>
                </a:tc>
                <a:extLst>
                  <a:ext uri="{0D108BD9-81ED-4DB2-BD59-A6C34878D82A}">
                    <a16:rowId xmlns:a16="http://schemas.microsoft.com/office/drawing/2014/main" val="10008"/>
                  </a:ext>
                </a:extLst>
              </a:tr>
            </a:tbl>
          </a:graphicData>
        </a:graphic>
      </p:graphicFrame>
      <p:graphicFrame>
        <p:nvGraphicFramePr>
          <p:cNvPr id="8" name="Table 7"/>
          <p:cNvGraphicFramePr>
            <a:graphicFrameLocks noGrp="1"/>
          </p:cNvGraphicFramePr>
          <p:nvPr>
            <p:extLst/>
          </p:nvPr>
        </p:nvGraphicFramePr>
        <p:xfrm>
          <a:off x="1940985" y="942637"/>
          <a:ext cx="5263515" cy="556260"/>
        </p:xfrm>
        <a:graphic>
          <a:graphicData uri="http://schemas.openxmlformats.org/drawingml/2006/table">
            <a:tbl>
              <a:tblPr firstRow="1" bandRow="1">
                <a:tableStyleId>{5C22544A-7EE6-4342-B048-85BDC9FD1C3A}</a:tableStyleId>
              </a:tblPr>
              <a:tblGrid>
                <a:gridCol w="1670685">
                  <a:extLst>
                    <a:ext uri="{9D8B030D-6E8A-4147-A177-3AD203B41FA5}">
                      <a16:colId xmlns:a16="http://schemas.microsoft.com/office/drawing/2014/main" val="20000"/>
                    </a:ext>
                  </a:extLst>
                </a:gridCol>
                <a:gridCol w="1546860">
                  <a:extLst>
                    <a:ext uri="{9D8B030D-6E8A-4147-A177-3AD203B41FA5}">
                      <a16:colId xmlns:a16="http://schemas.microsoft.com/office/drawing/2014/main" val="20001"/>
                    </a:ext>
                  </a:extLst>
                </a:gridCol>
                <a:gridCol w="851535">
                  <a:extLst>
                    <a:ext uri="{9D8B030D-6E8A-4147-A177-3AD203B41FA5}">
                      <a16:colId xmlns:a16="http://schemas.microsoft.com/office/drawing/2014/main" val="20002"/>
                    </a:ext>
                  </a:extLst>
                </a:gridCol>
                <a:gridCol w="1194435">
                  <a:extLst>
                    <a:ext uri="{9D8B030D-6E8A-4147-A177-3AD203B41FA5}">
                      <a16:colId xmlns:a16="http://schemas.microsoft.com/office/drawing/2014/main" val="20003"/>
                    </a:ext>
                  </a:extLst>
                </a:gridCol>
              </a:tblGrid>
              <a:tr h="278130">
                <a:tc>
                  <a:txBody>
                    <a:bodyPr/>
                    <a:lstStyle/>
                    <a:p>
                      <a:pPr algn="ctr"/>
                      <a:r>
                        <a:rPr lang="en-US" sz="1200" baseline="0" dirty="0"/>
                        <a:t>Address (decimal)</a:t>
                      </a:r>
                      <a:endParaRPr lang="en-US" sz="1200" dirty="0"/>
                    </a:p>
                  </a:txBody>
                  <a:tcPr marL="68580" marR="68580" marT="34290" marB="34290" anchor="ctr"/>
                </a:tc>
                <a:tc>
                  <a:txBody>
                    <a:bodyPr/>
                    <a:lstStyle/>
                    <a:p>
                      <a:pPr algn="ctr"/>
                      <a:r>
                        <a:rPr lang="en-US" sz="1200" dirty="0"/>
                        <a:t>Address</a:t>
                      </a:r>
                      <a:r>
                        <a:rPr lang="en-US" sz="1200" baseline="0" dirty="0"/>
                        <a:t> (binary)</a:t>
                      </a:r>
                      <a:endParaRPr lang="en-US" sz="1200" dirty="0"/>
                    </a:p>
                  </a:txBody>
                  <a:tcPr marL="68580" marR="68580" marT="34290" marB="34290" anchor="ctr"/>
                </a:tc>
                <a:tc>
                  <a:txBody>
                    <a:bodyPr/>
                    <a:lstStyle/>
                    <a:p>
                      <a:pPr algn="ctr"/>
                      <a:r>
                        <a:rPr lang="en-US" sz="1200" dirty="0"/>
                        <a:t>Hit/miss</a:t>
                      </a:r>
                    </a:p>
                  </a:txBody>
                  <a:tcPr marL="68580" marR="68580" marT="34290" marB="34290" anchor="ctr"/>
                </a:tc>
                <a:tc>
                  <a:txBody>
                    <a:bodyPr/>
                    <a:lstStyle/>
                    <a:p>
                      <a:pPr algn="ctr"/>
                      <a:r>
                        <a:rPr lang="en-US" sz="1200" dirty="0"/>
                        <a:t>Cache block</a:t>
                      </a:r>
                    </a:p>
                  </a:txBody>
                  <a:tcPr marL="68580" marR="68580" marT="34290" marB="34290" anchor="ctr"/>
                </a:tc>
                <a:extLst>
                  <a:ext uri="{0D108BD9-81ED-4DB2-BD59-A6C34878D82A}">
                    <a16:rowId xmlns:a16="http://schemas.microsoft.com/office/drawing/2014/main" val="10000"/>
                  </a:ext>
                </a:extLst>
              </a:tr>
              <a:tr h="278130">
                <a:tc>
                  <a:txBody>
                    <a:bodyPr/>
                    <a:lstStyle/>
                    <a:p>
                      <a:pPr algn="ctr"/>
                      <a:r>
                        <a:rPr lang="en-US" sz="1200" dirty="0"/>
                        <a:t>26</a:t>
                      </a:r>
                    </a:p>
                  </a:txBody>
                  <a:tcPr marL="68580" marR="68580" marT="34290" marB="34290" anchor="ctr"/>
                </a:tc>
                <a:tc>
                  <a:txBody>
                    <a:bodyPr/>
                    <a:lstStyle/>
                    <a:p>
                      <a:pPr algn="ctr"/>
                      <a:r>
                        <a:rPr lang="en-US" sz="1200" dirty="0"/>
                        <a:t>11</a:t>
                      </a:r>
                      <a:r>
                        <a:rPr lang="en-US" sz="1200" baseline="0" dirty="0"/>
                        <a:t> 010</a:t>
                      </a:r>
                      <a:endParaRPr lang="en-US" sz="1200" dirty="0"/>
                    </a:p>
                  </a:txBody>
                  <a:tcPr marL="68580" marR="68580" marT="34290" marB="34290" anchor="ctr"/>
                </a:tc>
                <a:tc>
                  <a:txBody>
                    <a:bodyPr/>
                    <a:lstStyle/>
                    <a:p>
                      <a:pPr algn="ctr"/>
                      <a:r>
                        <a:rPr lang="en-US" sz="1200" dirty="0"/>
                        <a:t>Miss</a:t>
                      </a:r>
                    </a:p>
                  </a:txBody>
                  <a:tcPr marL="68580" marR="68580" marT="34290" marB="34290" anchor="ctr"/>
                </a:tc>
                <a:tc>
                  <a:txBody>
                    <a:bodyPr/>
                    <a:lstStyle/>
                    <a:p>
                      <a:pPr algn="ctr"/>
                      <a:r>
                        <a:rPr lang="en-US" sz="1200" dirty="0"/>
                        <a:t>010</a:t>
                      </a:r>
                    </a:p>
                  </a:txBody>
                  <a:tcPr marL="68580" marR="68580" marT="34290" marB="34290" anchor="ctr"/>
                </a:tc>
                <a:extLst>
                  <a:ext uri="{0D108BD9-81ED-4DB2-BD59-A6C34878D82A}">
                    <a16:rowId xmlns:a16="http://schemas.microsoft.com/office/drawing/2014/main" val="10001"/>
                  </a:ext>
                </a:extLst>
              </a:tr>
            </a:tbl>
          </a:graphicData>
        </a:graphic>
      </p:graphicFrame>
      <p:sp>
        <p:nvSpPr>
          <p:cNvPr id="3" name="Slide Number Placeholder 2"/>
          <p:cNvSpPr>
            <a:spLocks noGrp="1"/>
          </p:cNvSpPr>
          <p:nvPr>
            <p:ph type="sldNum" sz="quarter" idx="10"/>
          </p:nvPr>
        </p:nvSpPr>
        <p:spPr/>
        <p:txBody>
          <a:bodyPr/>
          <a:lstStyle/>
          <a:p>
            <a:fld id="{D9B6BDF2-6896-4B98-8776-C18582F63BA5}" type="slidenum">
              <a:rPr lang="zh-TW" altLang="en-US" smtClean="0"/>
              <a:pPr/>
              <a:t>21</a:t>
            </a:fld>
            <a:endParaRPr lang="zh-TW" altLang="en-US"/>
          </a:p>
        </p:txBody>
      </p:sp>
    </p:spTree>
    <p:extLst>
      <p:ext uri="{BB962C8B-B14F-4D97-AF65-F5344CB8AC3E}">
        <p14:creationId xmlns:p14="http://schemas.microsoft.com/office/powerpoint/2010/main" val="82413362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Cache Example (4) </a:t>
            </a:r>
          </a:p>
        </p:txBody>
      </p:sp>
      <p:graphicFrame>
        <p:nvGraphicFramePr>
          <p:cNvPr id="6" name="Table 5"/>
          <p:cNvGraphicFramePr>
            <a:graphicFrameLocks noGrp="1"/>
          </p:cNvGraphicFramePr>
          <p:nvPr>
            <p:extLst/>
          </p:nvPr>
        </p:nvGraphicFramePr>
        <p:xfrm>
          <a:off x="1940985" y="1993749"/>
          <a:ext cx="5265000" cy="2503170"/>
        </p:xfrm>
        <a:graphic>
          <a:graphicData uri="http://schemas.openxmlformats.org/drawingml/2006/table">
            <a:tbl>
              <a:tblPr firstRow="1" bandRow="1">
                <a:tableStyleId>{5C22544A-7EE6-4342-B048-85BDC9FD1C3A}</a:tableStyleId>
              </a:tblPr>
              <a:tblGrid>
                <a:gridCol w="945000">
                  <a:extLst>
                    <a:ext uri="{9D8B030D-6E8A-4147-A177-3AD203B41FA5}">
                      <a16:colId xmlns:a16="http://schemas.microsoft.com/office/drawing/2014/main" val="20000"/>
                    </a:ext>
                  </a:extLst>
                </a:gridCol>
                <a:gridCol w="540000">
                  <a:extLst>
                    <a:ext uri="{9D8B030D-6E8A-4147-A177-3AD203B41FA5}">
                      <a16:colId xmlns:a16="http://schemas.microsoft.com/office/drawing/2014/main" val="20001"/>
                    </a:ext>
                  </a:extLst>
                </a:gridCol>
                <a:gridCol w="1620000">
                  <a:extLst>
                    <a:ext uri="{9D8B030D-6E8A-4147-A177-3AD203B41FA5}">
                      <a16:colId xmlns:a16="http://schemas.microsoft.com/office/drawing/2014/main" val="20002"/>
                    </a:ext>
                  </a:extLst>
                </a:gridCol>
                <a:gridCol w="2160000">
                  <a:extLst>
                    <a:ext uri="{9D8B030D-6E8A-4147-A177-3AD203B41FA5}">
                      <a16:colId xmlns:a16="http://schemas.microsoft.com/office/drawing/2014/main" val="20003"/>
                    </a:ext>
                  </a:extLst>
                </a:gridCol>
              </a:tblGrid>
              <a:tr h="278130">
                <a:tc>
                  <a:txBody>
                    <a:bodyPr/>
                    <a:lstStyle/>
                    <a:p>
                      <a:pPr algn="ctr"/>
                      <a:r>
                        <a:rPr lang="en-US" sz="1200" dirty="0"/>
                        <a:t>Index</a:t>
                      </a:r>
                    </a:p>
                  </a:txBody>
                  <a:tcPr marL="68580" marR="68580" marT="34290" marB="34290" anchor="ctr"/>
                </a:tc>
                <a:tc>
                  <a:txBody>
                    <a:bodyPr/>
                    <a:lstStyle/>
                    <a:p>
                      <a:pPr algn="ctr"/>
                      <a:r>
                        <a:rPr lang="en-US" sz="1200" dirty="0"/>
                        <a:t>V</a:t>
                      </a:r>
                    </a:p>
                  </a:txBody>
                  <a:tcPr marL="68580" marR="68580" marT="34290" marB="34290" anchor="ctr"/>
                </a:tc>
                <a:tc>
                  <a:txBody>
                    <a:bodyPr/>
                    <a:lstStyle/>
                    <a:p>
                      <a:pPr algn="ctr"/>
                      <a:r>
                        <a:rPr lang="en-US" sz="1200" dirty="0"/>
                        <a:t>Tag</a:t>
                      </a:r>
                    </a:p>
                  </a:txBody>
                  <a:tcPr marL="68580" marR="68580" marT="34290" marB="34290" anchor="ctr"/>
                </a:tc>
                <a:tc>
                  <a:txBody>
                    <a:bodyPr/>
                    <a:lstStyle/>
                    <a:p>
                      <a:pPr algn="ctr"/>
                      <a:r>
                        <a:rPr lang="en-US" sz="1200" dirty="0"/>
                        <a:t>Data</a:t>
                      </a:r>
                    </a:p>
                  </a:txBody>
                  <a:tcPr marL="68580" marR="68580" marT="34290" marB="34290" anchor="ctr"/>
                </a:tc>
                <a:extLst>
                  <a:ext uri="{0D108BD9-81ED-4DB2-BD59-A6C34878D82A}">
                    <a16:rowId xmlns:a16="http://schemas.microsoft.com/office/drawing/2014/main" val="10000"/>
                  </a:ext>
                </a:extLst>
              </a:tr>
              <a:tr h="278130">
                <a:tc>
                  <a:txBody>
                    <a:bodyPr/>
                    <a:lstStyle/>
                    <a:p>
                      <a:pPr algn="ctr"/>
                      <a:r>
                        <a:rPr lang="en-US" sz="1200" dirty="0"/>
                        <a:t>000</a:t>
                      </a:r>
                    </a:p>
                  </a:txBody>
                  <a:tcPr marL="68580" marR="68580" marT="34290" marB="34290" anchor="ctr"/>
                </a:tc>
                <a:tc>
                  <a:txBody>
                    <a:bodyPr/>
                    <a:lstStyle/>
                    <a:p>
                      <a:pPr algn="ctr"/>
                      <a:r>
                        <a:rPr lang="en-US" sz="1200" dirty="0"/>
                        <a:t>N</a:t>
                      </a:r>
                    </a:p>
                  </a:txBody>
                  <a:tcPr marL="68580" marR="68580" marT="34290" marB="34290" anchor="ctr"/>
                </a:tc>
                <a:tc>
                  <a:txBody>
                    <a:bodyPr/>
                    <a:lstStyle/>
                    <a:p>
                      <a:pPr algn="ctr"/>
                      <a:endParaRPr lang="en-US" sz="1200"/>
                    </a:p>
                  </a:txBody>
                  <a:tcPr marL="68580" marR="68580" marT="34290" marB="34290" anchor="ctr"/>
                </a:tc>
                <a:tc>
                  <a:txBody>
                    <a:bodyPr/>
                    <a:lstStyle/>
                    <a:p>
                      <a:pPr algn="ctr"/>
                      <a:endParaRPr lang="en-US" sz="1200" dirty="0"/>
                    </a:p>
                  </a:txBody>
                  <a:tcPr marL="68580" marR="68580" marT="34290" marB="34290" anchor="ctr"/>
                </a:tc>
                <a:extLst>
                  <a:ext uri="{0D108BD9-81ED-4DB2-BD59-A6C34878D82A}">
                    <a16:rowId xmlns:a16="http://schemas.microsoft.com/office/drawing/2014/main" val="10001"/>
                  </a:ext>
                </a:extLst>
              </a:tr>
              <a:tr h="278130">
                <a:tc>
                  <a:txBody>
                    <a:bodyPr/>
                    <a:lstStyle/>
                    <a:p>
                      <a:pPr algn="ctr"/>
                      <a:r>
                        <a:rPr lang="en-US" sz="1200" dirty="0"/>
                        <a:t>001</a:t>
                      </a:r>
                    </a:p>
                  </a:txBody>
                  <a:tcPr marL="68580" marR="68580" marT="34290" marB="34290" anchor="ctr"/>
                </a:tc>
                <a:tc>
                  <a:txBody>
                    <a:bodyPr/>
                    <a:lstStyle/>
                    <a:p>
                      <a:pPr algn="ctr"/>
                      <a:r>
                        <a:rPr lang="en-US" sz="1200" dirty="0"/>
                        <a:t>N</a:t>
                      </a:r>
                    </a:p>
                  </a:txBody>
                  <a:tcPr marL="68580" marR="68580" marT="34290" marB="34290" anchor="ctr"/>
                </a:tc>
                <a:tc>
                  <a:txBody>
                    <a:bodyPr/>
                    <a:lstStyle/>
                    <a:p>
                      <a:pPr algn="ctr"/>
                      <a:endParaRPr lang="en-US" sz="1200"/>
                    </a:p>
                  </a:txBody>
                  <a:tcPr marL="68580" marR="68580" marT="34290" marB="34290" anchor="ctr"/>
                </a:tc>
                <a:tc>
                  <a:txBody>
                    <a:bodyPr/>
                    <a:lstStyle/>
                    <a:p>
                      <a:pPr algn="ctr"/>
                      <a:endParaRPr lang="en-US" sz="1200" dirty="0"/>
                    </a:p>
                  </a:txBody>
                  <a:tcPr marL="68580" marR="68580" marT="34290" marB="34290" anchor="ctr"/>
                </a:tc>
                <a:extLst>
                  <a:ext uri="{0D108BD9-81ED-4DB2-BD59-A6C34878D82A}">
                    <a16:rowId xmlns:a16="http://schemas.microsoft.com/office/drawing/2014/main" val="10002"/>
                  </a:ext>
                </a:extLst>
              </a:tr>
              <a:tr h="278130">
                <a:tc>
                  <a:txBody>
                    <a:bodyPr/>
                    <a:lstStyle/>
                    <a:p>
                      <a:pPr algn="ctr"/>
                      <a:r>
                        <a:rPr lang="en-US" sz="1200" b="0" dirty="0">
                          <a:solidFill>
                            <a:schemeClr val="tx1"/>
                          </a:solidFill>
                        </a:rPr>
                        <a:t>010</a:t>
                      </a:r>
                    </a:p>
                  </a:txBody>
                  <a:tcPr marL="68580" marR="68580" marT="34290" marB="34290" anchor="ctr"/>
                </a:tc>
                <a:tc>
                  <a:txBody>
                    <a:bodyPr/>
                    <a:lstStyle/>
                    <a:p>
                      <a:pPr algn="ctr"/>
                      <a:r>
                        <a:rPr lang="en-US" sz="1200" b="0" dirty="0">
                          <a:solidFill>
                            <a:schemeClr val="tx1"/>
                          </a:solidFill>
                        </a:rPr>
                        <a:t>Y</a:t>
                      </a:r>
                    </a:p>
                  </a:txBody>
                  <a:tcPr marL="68580" marR="68580" marT="34290" marB="34290" anchor="ctr"/>
                </a:tc>
                <a:tc>
                  <a:txBody>
                    <a:bodyPr/>
                    <a:lstStyle/>
                    <a:p>
                      <a:pPr algn="ctr"/>
                      <a:r>
                        <a:rPr lang="en-US" sz="1200" b="0" dirty="0">
                          <a:solidFill>
                            <a:schemeClr val="tx1"/>
                          </a:solidFill>
                        </a:rPr>
                        <a:t>11</a:t>
                      </a:r>
                    </a:p>
                  </a:txBody>
                  <a:tcPr marL="68580" marR="68580" marT="34290" marB="34290" anchor="ctr"/>
                </a:tc>
                <a:tc>
                  <a:txBody>
                    <a:bodyPr/>
                    <a:lstStyle/>
                    <a:p>
                      <a:pPr algn="ctr"/>
                      <a:r>
                        <a:rPr lang="en-US" sz="1200" b="0" dirty="0">
                          <a:solidFill>
                            <a:schemeClr val="tx1"/>
                          </a:solidFill>
                        </a:rPr>
                        <a:t>Memory[11010</a:t>
                      </a:r>
                      <a:r>
                        <a:rPr lang="en-US" sz="1200" b="0" baseline="-25000" dirty="0">
                          <a:solidFill>
                            <a:schemeClr val="tx1"/>
                          </a:solidFill>
                        </a:rPr>
                        <a:t>2</a:t>
                      </a:r>
                      <a:r>
                        <a:rPr lang="en-US" sz="1200" b="0" dirty="0">
                          <a:solidFill>
                            <a:schemeClr val="tx1"/>
                          </a:solidFill>
                        </a:rPr>
                        <a:t>]</a:t>
                      </a:r>
                    </a:p>
                  </a:txBody>
                  <a:tcPr marL="68580" marR="68580" marT="34290" marB="34290" anchor="ctr"/>
                </a:tc>
                <a:extLst>
                  <a:ext uri="{0D108BD9-81ED-4DB2-BD59-A6C34878D82A}">
                    <a16:rowId xmlns:a16="http://schemas.microsoft.com/office/drawing/2014/main" val="10003"/>
                  </a:ext>
                </a:extLst>
              </a:tr>
              <a:tr h="278130">
                <a:tc>
                  <a:txBody>
                    <a:bodyPr/>
                    <a:lstStyle/>
                    <a:p>
                      <a:pPr algn="ctr"/>
                      <a:r>
                        <a:rPr lang="en-US" sz="1200" dirty="0"/>
                        <a:t>011</a:t>
                      </a:r>
                    </a:p>
                  </a:txBody>
                  <a:tcPr marL="68580" marR="68580" marT="34290" marB="34290" anchor="ctr"/>
                </a:tc>
                <a:tc>
                  <a:txBody>
                    <a:bodyPr/>
                    <a:lstStyle/>
                    <a:p>
                      <a:pPr algn="ctr"/>
                      <a:r>
                        <a:rPr lang="en-US" sz="1200" dirty="0"/>
                        <a:t>N</a:t>
                      </a:r>
                    </a:p>
                  </a:txBody>
                  <a:tcPr marL="68580" marR="68580" marT="34290" marB="34290" anchor="ctr"/>
                </a:tc>
                <a:tc>
                  <a:txBody>
                    <a:bodyPr/>
                    <a:lstStyle/>
                    <a:p>
                      <a:pPr algn="ctr"/>
                      <a:endParaRPr lang="en-US" sz="1200"/>
                    </a:p>
                  </a:txBody>
                  <a:tcPr marL="68580" marR="68580" marT="34290" marB="34290" anchor="ctr"/>
                </a:tc>
                <a:tc>
                  <a:txBody>
                    <a:bodyPr/>
                    <a:lstStyle/>
                    <a:p>
                      <a:pPr algn="ctr"/>
                      <a:endParaRPr lang="en-US" sz="1200"/>
                    </a:p>
                  </a:txBody>
                  <a:tcPr marL="68580" marR="68580" marT="34290" marB="34290" anchor="ctr"/>
                </a:tc>
                <a:extLst>
                  <a:ext uri="{0D108BD9-81ED-4DB2-BD59-A6C34878D82A}">
                    <a16:rowId xmlns:a16="http://schemas.microsoft.com/office/drawing/2014/main" val="10004"/>
                  </a:ext>
                </a:extLst>
              </a:tr>
              <a:tr h="278130">
                <a:tc>
                  <a:txBody>
                    <a:bodyPr/>
                    <a:lstStyle/>
                    <a:p>
                      <a:pPr algn="ctr"/>
                      <a:r>
                        <a:rPr lang="en-US" sz="1200" dirty="0"/>
                        <a:t>100</a:t>
                      </a:r>
                    </a:p>
                  </a:txBody>
                  <a:tcPr marL="68580" marR="68580" marT="34290" marB="34290" anchor="ctr"/>
                </a:tc>
                <a:tc>
                  <a:txBody>
                    <a:bodyPr/>
                    <a:lstStyle/>
                    <a:p>
                      <a:pPr algn="ctr"/>
                      <a:r>
                        <a:rPr lang="en-US" sz="1200" dirty="0"/>
                        <a:t>N</a:t>
                      </a:r>
                    </a:p>
                  </a:txBody>
                  <a:tcPr marL="68580" marR="68580" marT="34290" marB="34290" anchor="ctr"/>
                </a:tc>
                <a:tc>
                  <a:txBody>
                    <a:bodyPr/>
                    <a:lstStyle/>
                    <a:p>
                      <a:pPr algn="ctr"/>
                      <a:endParaRPr lang="en-US" sz="1200"/>
                    </a:p>
                  </a:txBody>
                  <a:tcPr marL="68580" marR="68580" marT="34290" marB="34290" anchor="ctr"/>
                </a:tc>
                <a:tc>
                  <a:txBody>
                    <a:bodyPr/>
                    <a:lstStyle/>
                    <a:p>
                      <a:pPr algn="ctr"/>
                      <a:endParaRPr lang="en-US" sz="1200"/>
                    </a:p>
                  </a:txBody>
                  <a:tcPr marL="68580" marR="68580" marT="34290" marB="34290" anchor="ctr"/>
                </a:tc>
                <a:extLst>
                  <a:ext uri="{0D108BD9-81ED-4DB2-BD59-A6C34878D82A}">
                    <a16:rowId xmlns:a16="http://schemas.microsoft.com/office/drawing/2014/main" val="10005"/>
                  </a:ext>
                </a:extLst>
              </a:tr>
              <a:tr h="278130">
                <a:tc>
                  <a:txBody>
                    <a:bodyPr/>
                    <a:lstStyle/>
                    <a:p>
                      <a:pPr algn="ctr"/>
                      <a:r>
                        <a:rPr lang="en-US" sz="1200" dirty="0"/>
                        <a:t>101</a:t>
                      </a:r>
                    </a:p>
                  </a:txBody>
                  <a:tcPr marL="68580" marR="68580" marT="34290" marB="34290" anchor="ctr"/>
                </a:tc>
                <a:tc>
                  <a:txBody>
                    <a:bodyPr/>
                    <a:lstStyle/>
                    <a:p>
                      <a:pPr algn="ctr"/>
                      <a:r>
                        <a:rPr lang="en-US" sz="1200" dirty="0"/>
                        <a:t>N</a:t>
                      </a:r>
                    </a:p>
                  </a:txBody>
                  <a:tcPr marL="68580" marR="68580" marT="34290" marB="34290" anchor="ctr"/>
                </a:tc>
                <a:tc>
                  <a:txBody>
                    <a:bodyPr/>
                    <a:lstStyle/>
                    <a:p>
                      <a:pPr algn="ctr"/>
                      <a:endParaRPr lang="en-US" sz="1200"/>
                    </a:p>
                  </a:txBody>
                  <a:tcPr marL="68580" marR="68580" marT="34290" marB="34290" anchor="ctr"/>
                </a:tc>
                <a:tc>
                  <a:txBody>
                    <a:bodyPr/>
                    <a:lstStyle/>
                    <a:p>
                      <a:pPr algn="ctr"/>
                      <a:endParaRPr lang="en-US" sz="1200"/>
                    </a:p>
                  </a:txBody>
                  <a:tcPr marL="68580" marR="68580" marT="34290" marB="34290" anchor="ctr"/>
                </a:tc>
                <a:extLst>
                  <a:ext uri="{0D108BD9-81ED-4DB2-BD59-A6C34878D82A}">
                    <a16:rowId xmlns:a16="http://schemas.microsoft.com/office/drawing/2014/main" val="10006"/>
                  </a:ext>
                </a:extLst>
              </a:tr>
              <a:tr h="278130">
                <a:tc>
                  <a:txBody>
                    <a:bodyPr/>
                    <a:lstStyle/>
                    <a:p>
                      <a:pPr algn="ctr"/>
                      <a:r>
                        <a:rPr lang="en-US" sz="1200" b="0" dirty="0">
                          <a:solidFill>
                            <a:schemeClr val="tx1"/>
                          </a:solidFill>
                        </a:rPr>
                        <a:t>110</a:t>
                      </a:r>
                    </a:p>
                  </a:txBody>
                  <a:tcPr marL="68580" marR="68580" marT="34290" marB="34290" anchor="ctr"/>
                </a:tc>
                <a:tc>
                  <a:txBody>
                    <a:bodyPr/>
                    <a:lstStyle/>
                    <a:p>
                      <a:pPr algn="ctr"/>
                      <a:r>
                        <a:rPr lang="en-US" sz="1200" b="0" dirty="0">
                          <a:solidFill>
                            <a:schemeClr val="tx1"/>
                          </a:solidFill>
                        </a:rPr>
                        <a:t>Y</a:t>
                      </a:r>
                    </a:p>
                  </a:txBody>
                  <a:tcPr marL="68580" marR="68580" marT="34290" marB="34290" anchor="ctr"/>
                </a:tc>
                <a:tc>
                  <a:txBody>
                    <a:bodyPr/>
                    <a:lstStyle/>
                    <a:p>
                      <a:pPr algn="ctr"/>
                      <a:r>
                        <a:rPr lang="en-US" sz="1200" b="0" dirty="0">
                          <a:solidFill>
                            <a:schemeClr val="tx1"/>
                          </a:solidFill>
                        </a:rPr>
                        <a:t>10</a:t>
                      </a:r>
                    </a:p>
                  </a:txBody>
                  <a:tcPr marL="68580" marR="68580" marT="34290" marB="34290" anchor="ctr"/>
                </a:tc>
                <a:tc>
                  <a:txBody>
                    <a:bodyPr/>
                    <a:lstStyle/>
                    <a:p>
                      <a:pPr algn="ctr"/>
                      <a:r>
                        <a:rPr lang="en-US" sz="1200" b="0" dirty="0">
                          <a:solidFill>
                            <a:schemeClr val="tx1"/>
                          </a:solidFill>
                        </a:rPr>
                        <a:t>Memory[10110</a:t>
                      </a:r>
                      <a:r>
                        <a:rPr lang="en-US" sz="1200" b="0" baseline="-25000" dirty="0">
                          <a:solidFill>
                            <a:schemeClr val="tx1"/>
                          </a:solidFill>
                        </a:rPr>
                        <a:t>2</a:t>
                      </a:r>
                      <a:r>
                        <a:rPr lang="en-US" sz="1200" b="0" dirty="0">
                          <a:solidFill>
                            <a:schemeClr val="tx1"/>
                          </a:solidFill>
                        </a:rPr>
                        <a:t>]</a:t>
                      </a:r>
                    </a:p>
                  </a:txBody>
                  <a:tcPr marL="68580" marR="68580" marT="34290" marB="34290" anchor="ctr"/>
                </a:tc>
                <a:extLst>
                  <a:ext uri="{0D108BD9-81ED-4DB2-BD59-A6C34878D82A}">
                    <a16:rowId xmlns:a16="http://schemas.microsoft.com/office/drawing/2014/main" val="10007"/>
                  </a:ext>
                </a:extLst>
              </a:tr>
              <a:tr h="278130">
                <a:tc>
                  <a:txBody>
                    <a:bodyPr/>
                    <a:lstStyle/>
                    <a:p>
                      <a:pPr algn="ctr"/>
                      <a:r>
                        <a:rPr lang="en-US" sz="1200" dirty="0"/>
                        <a:t>111</a:t>
                      </a:r>
                    </a:p>
                  </a:txBody>
                  <a:tcPr marL="68580" marR="68580" marT="34290" marB="34290" anchor="ctr"/>
                </a:tc>
                <a:tc>
                  <a:txBody>
                    <a:bodyPr/>
                    <a:lstStyle/>
                    <a:p>
                      <a:pPr algn="ctr"/>
                      <a:r>
                        <a:rPr lang="en-US" sz="1200" dirty="0"/>
                        <a:t>N</a:t>
                      </a:r>
                    </a:p>
                  </a:txBody>
                  <a:tcPr marL="68580" marR="68580" marT="34290" marB="34290" anchor="ctr"/>
                </a:tc>
                <a:tc>
                  <a:txBody>
                    <a:bodyPr/>
                    <a:lstStyle/>
                    <a:p>
                      <a:pPr algn="ctr"/>
                      <a:endParaRPr lang="en-US" sz="1200"/>
                    </a:p>
                  </a:txBody>
                  <a:tcPr marL="68580" marR="68580" marT="34290" marB="34290" anchor="ctr"/>
                </a:tc>
                <a:tc>
                  <a:txBody>
                    <a:bodyPr/>
                    <a:lstStyle/>
                    <a:p>
                      <a:pPr algn="ctr"/>
                      <a:endParaRPr lang="en-US" sz="1200" dirty="0"/>
                    </a:p>
                  </a:txBody>
                  <a:tcPr marL="68580" marR="68580" marT="34290" marB="34290" anchor="ctr"/>
                </a:tc>
                <a:extLst>
                  <a:ext uri="{0D108BD9-81ED-4DB2-BD59-A6C34878D82A}">
                    <a16:rowId xmlns:a16="http://schemas.microsoft.com/office/drawing/2014/main" val="10008"/>
                  </a:ext>
                </a:extLst>
              </a:tr>
            </a:tbl>
          </a:graphicData>
        </a:graphic>
      </p:graphicFrame>
      <p:graphicFrame>
        <p:nvGraphicFramePr>
          <p:cNvPr id="8" name="Table 7"/>
          <p:cNvGraphicFramePr>
            <a:graphicFrameLocks noGrp="1"/>
          </p:cNvGraphicFramePr>
          <p:nvPr>
            <p:extLst/>
          </p:nvPr>
        </p:nvGraphicFramePr>
        <p:xfrm>
          <a:off x="1940985" y="942637"/>
          <a:ext cx="5263515" cy="834390"/>
        </p:xfrm>
        <a:graphic>
          <a:graphicData uri="http://schemas.openxmlformats.org/drawingml/2006/table">
            <a:tbl>
              <a:tblPr firstRow="1" bandRow="1">
                <a:tableStyleId>{5C22544A-7EE6-4342-B048-85BDC9FD1C3A}</a:tableStyleId>
              </a:tblPr>
              <a:tblGrid>
                <a:gridCol w="1670685">
                  <a:extLst>
                    <a:ext uri="{9D8B030D-6E8A-4147-A177-3AD203B41FA5}">
                      <a16:colId xmlns:a16="http://schemas.microsoft.com/office/drawing/2014/main" val="20000"/>
                    </a:ext>
                  </a:extLst>
                </a:gridCol>
                <a:gridCol w="1546860">
                  <a:extLst>
                    <a:ext uri="{9D8B030D-6E8A-4147-A177-3AD203B41FA5}">
                      <a16:colId xmlns:a16="http://schemas.microsoft.com/office/drawing/2014/main" val="20001"/>
                    </a:ext>
                  </a:extLst>
                </a:gridCol>
                <a:gridCol w="851535">
                  <a:extLst>
                    <a:ext uri="{9D8B030D-6E8A-4147-A177-3AD203B41FA5}">
                      <a16:colId xmlns:a16="http://schemas.microsoft.com/office/drawing/2014/main" val="20002"/>
                    </a:ext>
                  </a:extLst>
                </a:gridCol>
                <a:gridCol w="1194435">
                  <a:extLst>
                    <a:ext uri="{9D8B030D-6E8A-4147-A177-3AD203B41FA5}">
                      <a16:colId xmlns:a16="http://schemas.microsoft.com/office/drawing/2014/main" val="20003"/>
                    </a:ext>
                  </a:extLst>
                </a:gridCol>
              </a:tblGrid>
              <a:tr h="278130">
                <a:tc>
                  <a:txBody>
                    <a:bodyPr/>
                    <a:lstStyle/>
                    <a:p>
                      <a:pPr algn="ctr"/>
                      <a:r>
                        <a:rPr lang="en-US" sz="1200" baseline="0" dirty="0"/>
                        <a:t>Address (decimal)</a:t>
                      </a:r>
                      <a:endParaRPr lang="en-US" sz="1200" dirty="0"/>
                    </a:p>
                  </a:txBody>
                  <a:tcPr marL="68580" marR="68580" marT="34290" marB="34290" anchor="ctr"/>
                </a:tc>
                <a:tc>
                  <a:txBody>
                    <a:bodyPr/>
                    <a:lstStyle/>
                    <a:p>
                      <a:pPr algn="ctr"/>
                      <a:r>
                        <a:rPr lang="en-US" sz="1200" dirty="0"/>
                        <a:t>Address</a:t>
                      </a:r>
                      <a:r>
                        <a:rPr lang="en-US" sz="1200" baseline="0" dirty="0"/>
                        <a:t> (binary)</a:t>
                      </a:r>
                      <a:endParaRPr lang="en-US" sz="1200" dirty="0"/>
                    </a:p>
                  </a:txBody>
                  <a:tcPr marL="68580" marR="68580" marT="34290" marB="34290" anchor="ctr"/>
                </a:tc>
                <a:tc>
                  <a:txBody>
                    <a:bodyPr/>
                    <a:lstStyle/>
                    <a:p>
                      <a:pPr algn="ctr"/>
                      <a:r>
                        <a:rPr lang="en-US" sz="1200" dirty="0"/>
                        <a:t>Hit/miss</a:t>
                      </a:r>
                    </a:p>
                  </a:txBody>
                  <a:tcPr marL="68580" marR="68580" marT="34290" marB="34290" anchor="ctr"/>
                </a:tc>
                <a:tc>
                  <a:txBody>
                    <a:bodyPr/>
                    <a:lstStyle/>
                    <a:p>
                      <a:pPr algn="ctr"/>
                      <a:r>
                        <a:rPr lang="en-US" sz="1200" dirty="0"/>
                        <a:t>Cache block</a:t>
                      </a:r>
                    </a:p>
                  </a:txBody>
                  <a:tcPr marL="68580" marR="68580" marT="34290" marB="34290" anchor="ctr"/>
                </a:tc>
                <a:extLst>
                  <a:ext uri="{0D108BD9-81ED-4DB2-BD59-A6C34878D82A}">
                    <a16:rowId xmlns:a16="http://schemas.microsoft.com/office/drawing/2014/main" val="10000"/>
                  </a:ext>
                </a:extLst>
              </a:tr>
              <a:tr h="278130">
                <a:tc>
                  <a:txBody>
                    <a:bodyPr/>
                    <a:lstStyle/>
                    <a:p>
                      <a:pPr algn="ctr"/>
                      <a:r>
                        <a:rPr lang="en-US" sz="1200" dirty="0"/>
                        <a:t>22</a:t>
                      </a:r>
                    </a:p>
                  </a:txBody>
                  <a:tcPr marL="68580" marR="68580" marT="34290" marB="34290" anchor="ctr"/>
                </a:tc>
                <a:tc>
                  <a:txBody>
                    <a:bodyPr/>
                    <a:lstStyle/>
                    <a:p>
                      <a:pPr algn="ctr"/>
                      <a:r>
                        <a:rPr lang="en-US" sz="1200" dirty="0"/>
                        <a:t>10</a:t>
                      </a:r>
                      <a:r>
                        <a:rPr lang="en-US" sz="1200" baseline="0" dirty="0"/>
                        <a:t> 110</a:t>
                      </a:r>
                      <a:endParaRPr lang="en-US" sz="1200" dirty="0"/>
                    </a:p>
                  </a:txBody>
                  <a:tcPr marL="68580" marR="68580" marT="34290" marB="34290" anchor="ctr"/>
                </a:tc>
                <a:tc>
                  <a:txBody>
                    <a:bodyPr/>
                    <a:lstStyle/>
                    <a:p>
                      <a:pPr algn="ctr"/>
                      <a:r>
                        <a:rPr lang="en-US" sz="1200" dirty="0"/>
                        <a:t>Hit</a:t>
                      </a:r>
                    </a:p>
                  </a:txBody>
                  <a:tcPr marL="68580" marR="68580" marT="34290" marB="34290" anchor="ctr"/>
                </a:tc>
                <a:tc>
                  <a:txBody>
                    <a:bodyPr/>
                    <a:lstStyle/>
                    <a:p>
                      <a:pPr algn="ctr"/>
                      <a:r>
                        <a:rPr lang="en-US" sz="1200" dirty="0"/>
                        <a:t>110</a:t>
                      </a:r>
                    </a:p>
                  </a:txBody>
                  <a:tcPr marL="68580" marR="68580" marT="34290" marB="34290" anchor="ctr"/>
                </a:tc>
                <a:extLst>
                  <a:ext uri="{0D108BD9-81ED-4DB2-BD59-A6C34878D82A}">
                    <a16:rowId xmlns:a16="http://schemas.microsoft.com/office/drawing/2014/main" val="10001"/>
                  </a:ext>
                </a:extLst>
              </a:tr>
              <a:tr h="278130">
                <a:tc>
                  <a:txBody>
                    <a:bodyPr/>
                    <a:lstStyle/>
                    <a:p>
                      <a:pPr algn="ctr"/>
                      <a:r>
                        <a:rPr lang="en-US" sz="1200" dirty="0"/>
                        <a:t>26</a:t>
                      </a:r>
                    </a:p>
                  </a:txBody>
                  <a:tcPr marL="68580" marR="68580" marT="34290" marB="34290" anchor="ctr"/>
                </a:tc>
                <a:tc>
                  <a:txBody>
                    <a:bodyPr/>
                    <a:lstStyle/>
                    <a:p>
                      <a:pPr algn="ctr"/>
                      <a:r>
                        <a:rPr lang="en-US" sz="1200" dirty="0"/>
                        <a:t>11</a:t>
                      </a:r>
                      <a:r>
                        <a:rPr lang="en-US" sz="1200" baseline="0" dirty="0"/>
                        <a:t> 010</a:t>
                      </a:r>
                      <a:endParaRPr lang="en-US" sz="1200" dirty="0"/>
                    </a:p>
                  </a:txBody>
                  <a:tcPr marL="68580" marR="68580" marT="34290" marB="34290" anchor="ctr"/>
                </a:tc>
                <a:tc>
                  <a:txBody>
                    <a:bodyPr/>
                    <a:lstStyle/>
                    <a:p>
                      <a:pPr algn="ctr"/>
                      <a:r>
                        <a:rPr lang="en-US" sz="1200" dirty="0"/>
                        <a:t>Hit</a:t>
                      </a:r>
                    </a:p>
                  </a:txBody>
                  <a:tcPr marL="68580" marR="68580" marT="34290" marB="34290" anchor="ctr"/>
                </a:tc>
                <a:tc>
                  <a:txBody>
                    <a:bodyPr/>
                    <a:lstStyle/>
                    <a:p>
                      <a:pPr algn="ctr"/>
                      <a:r>
                        <a:rPr lang="en-US" sz="1200" dirty="0"/>
                        <a:t>010</a:t>
                      </a:r>
                    </a:p>
                  </a:txBody>
                  <a:tcPr marL="68580" marR="68580" marT="34290" marB="34290" anchor="ctr"/>
                </a:tc>
                <a:extLst>
                  <a:ext uri="{0D108BD9-81ED-4DB2-BD59-A6C34878D82A}">
                    <a16:rowId xmlns:a16="http://schemas.microsoft.com/office/drawing/2014/main" val="10002"/>
                  </a:ext>
                </a:extLst>
              </a:tr>
            </a:tbl>
          </a:graphicData>
        </a:graphic>
      </p:graphicFrame>
      <p:sp>
        <p:nvSpPr>
          <p:cNvPr id="3" name="Slide Number Placeholder 2"/>
          <p:cNvSpPr>
            <a:spLocks noGrp="1"/>
          </p:cNvSpPr>
          <p:nvPr>
            <p:ph type="sldNum" sz="quarter" idx="10"/>
          </p:nvPr>
        </p:nvSpPr>
        <p:spPr/>
        <p:txBody>
          <a:bodyPr/>
          <a:lstStyle/>
          <a:p>
            <a:fld id="{D9B6BDF2-6896-4B98-8776-C18582F63BA5}" type="slidenum">
              <a:rPr lang="zh-TW" altLang="en-US" smtClean="0"/>
              <a:pPr/>
              <a:t>22</a:t>
            </a:fld>
            <a:endParaRPr lang="zh-TW" altLang="en-US"/>
          </a:p>
        </p:txBody>
      </p:sp>
    </p:spTree>
    <p:extLst>
      <p:ext uri="{BB962C8B-B14F-4D97-AF65-F5344CB8AC3E}">
        <p14:creationId xmlns:p14="http://schemas.microsoft.com/office/powerpoint/2010/main" val="323651190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Cache Example (5) </a:t>
            </a:r>
          </a:p>
        </p:txBody>
      </p:sp>
      <p:graphicFrame>
        <p:nvGraphicFramePr>
          <p:cNvPr id="6" name="Table 5"/>
          <p:cNvGraphicFramePr>
            <a:graphicFrameLocks noGrp="1"/>
          </p:cNvGraphicFramePr>
          <p:nvPr>
            <p:extLst>
              <p:ext uri="{D42A27DB-BD31-4B8C-83A1-F6EECF244321}">
                <p14:modId xmlns:p14="http://schemas.microsoft.com/office/powerpoint/2010/main" val="1126439596"/>
              </p:ext>
            </p:extLst>
          </p:nvPr>
        </p:nvGraphicFramePr>
        <p:xfrm>
          <a:off x="1939500" y="2097121"/>
          <a:ext cx="5265000" cy="2503170"/>
        </p:xfrm>
        <a:graphic>
          <a:graphicData uri="http://schemas.openxmlformats.org/drawingml/2006/table">
            <a:tbl>
              <a:tblPr firstRow="1" bandRow="1">
                <a:tableStyleId>{5C22544A-7EE6-4342-B048-85BDC9FD1C3A}</a:tableStyleId>
              </a:tblPr>
              <a:tblGrid>
                <a:gridCol w="945000">
                  <a:extLst>
                    <a:ext uri="{9D8B030D-6E8A-4147-A177-3AD203B41FA5}">
                      <a16:colId xmlns:a16="http://schemas.microsoft.com/office/drawing/2014/main" val="20000"/>
                    </a:ext>
                  </a:extLst>
                </a:gridCol>
                <a:gridCol w="540000">
                  <a:extLst>
                    <a:ext uri="{9D8B030D-6E8A-4147-A177-3AD203B41FA5}">
                      <a16:colId xmlns:a16="http://schemas.microsoft.com/office/drawing/2014/main" val="20001"/>
                    </a:ext>
                  </a:extLst>
                </a:gridCol>
                <a:gridCol w="1620000">
                  <a:extLst>
                    <a:ext uri="{9D8B030D-6E8A-4147-A177-3AD203B41FA5}">
                      <a16:colId xmlns:a16="http://schemas.microsoft.com/office/drawing/2014/main" val="20002"/>
                    </a:ext>
                  </a:extLst>
                </a:gridCol>
                <a:gridCol w="2160000">
                  <a:extLst>
                    <a:ext uri="{9D8B030D-6E8A-4147-A177-3AD203B41FA5}">
                      <a16:colId xmlns:a16="http://schemas.microsoft.com/office/drawing/2014/main" val="20003"/>
                    </a:ext>
                  </a:extLst>
                </a:gridCol>
              </a:tblGrid>
              <a:tr h="278130">
                <a:tc>
                  <a:txBody>
                    <a:bodyPr/>
                    <a:lstStyle/>
                    <a:p>
                      <a:pPr algn="ctr"/>
                      <a:r>
                        <a:rPr lang="en-US" sz="1200" dirty="0"/>
                        <a:t>Index</a:t>
                      </a:r>
                    </a:p>
                  </a:txBody>
                  <a:tcPr marL="68580" marR="68580" marT="34290" marB="34290" anchor="ctr"/>
                </a:tc>
                <a:tc>
                  <a:txBody>
                    <a:bodyPr/>
                    <a:lstStyle/>
                    <a:p>
                      <a:pPr algn="ctr"/>
                      <a:r>
                        <a:rPr lang="en-US" sz="1200" dirty="0"/>
                        <a:t>V</a:t>
                      </a:r>
                    </a:p>
                  </a:txBody>
                  <a:tcPr marL="68580" marR="68580" marT="34290" marB="34290" anchor="ctr"/>
                </a:tc>
                <a:tc>
                  <a:txBody>
                    <a:bodyPr/>
                    <a:lstStyle/>
                    <a:p>
                      <a:pPr algn="ctr"/>
                      <a:r>
                        <a:rPr lang="en-US" sz="1200" dirty="0"/>
                        <a:t>Tag</a:t>
                      </a:r>
                    </a:p>
                  </a:txBody>
                  <a:tcPr marL="68580" marR="68580" marT="34290" marB="34290" anchor="ctr"/>
                </a:tc>
                <a:tc>
                  <a:txBody>
                    <a:bodyPr/>
                    <a:lstStyle/>
                    <a:p>
                      <a:pPr algn="ctr"/>
                      <a:r>
                        <a:rPr lang="en-US" sz="1200" dirty="0"/>
                        <a:t>Data</a:t>
                      </a:r>
                    </a:p>
                  </a:txBody>
                  <a:tcPr marL="68580" marR="68580" marT="34290" marB="34290" anchor="ctr"/>
                </a:tc>
                <a:extLst>
                  <a:ext uri="{0D108BD9-81ED-4DB2-BD59-A6C34878D82A}">
                    <a16:rowId xmlns:a16="http://schemas.microsoft.com/office/drawing/2014/main" val="10000"/>
                  </a:ext>
                </a:extLst>
              </a:tr>
              <a:tr h="278130">
                <a:tc>
                  <a:txBody>
                    <a:bodyPr/>
                    <a:lstStyle/>
                    <a:p>
                      <a:pPr algn="ctr"/>
                      <a:r>
                        <a:rPr lang="en-US" sz="1200" b="1" dirty="0">
                          <a:solidFill>
                            <a:srgbClr val="FF0000"/>
                          </a:solidFill>
                        </a:rPr>
                        <a:t>000</a:t>
                      </a:r>
                    </a:p>
                  </a:txBody>
                  <a:tcPr marL="68580" marR="68580" marT="34290" marB="34290" anchor="ctr"/>
                </a:tc>
                <a:tc>
                  <a:txBody>
                    <a:bodyPr/>
                    <a:lstStyle/>
                    <a:p>
                      <a:pPr algn="ctr"/>
                      <a:r>
                        <a:rPr lang="en-US" sz="1200" b="1" dirty="0">
                          <a:solidFill>
                            <a:srgbClr val="FF0000"/>
                          </a:solidFill>
                        </a:rPr>
                        <a:t>Y</a:t>
                      </a:r>
                    </a:p>
                  </a:txBody>
                  <a:tcPr marL="68580" marR="68580" marT="34290" marB="34290" anchor="ctr"/>
                </a:tc>
                <a:tc>
                  <a:txBody>
                    <a:bodyPr/>
                    <a:lstStyle/>
                    <a:p>
                      <a:pPr algn="ctr"/>
                      <a:r>
                        <a:rPr lang="en-US" sz="1200" b="1" dirty="0">
                          <a:solidFill>
                            <a:srgbClr val="FF0000"/>
                          </a:solidFill>
                        </a:rPr>
                        <a:t>10</a:t>
                      </a:r>
                    </a:p>
                  </a:txBody>
                  <a:tcPr marL="68580" marR="68580" marT="34290" marB="34290" anchor="ctr"/>
                </a:tc>
                <a:tc>
                  <a:txBody>
                    <a:bodyPr/>
                    <a:lstStyle/>
                    <a:p>
                      <a:pPr algn="ctr"/>
                      <a:r>
                        <a:rPr lang="en-US" sz="1200" b="1" dirty="0">
                          <a:solidFill>
                            <a:srgbClr val="FF0000"/>
                          </a:solidFill>
                        </a:rPr>
                        <a:t>Memory[10000</a:t>
                      </a:r>
                      <a:r>
                        <a:rPr lang="en-US" sz="1200" b="1" baseline="-25000" dirty="0">
                          <a:solidFill>
                            <a:srgbClr val="FF0000"/>
                          </a:solidFill>
                        </a:rPr>
                        <a:t>2</a:t>
                      </a:r>
                      <a:r>
                        <a:rPr lang="en-US" sz="1200" b="1" dirty="0">
                          <a:solidFill>
                            <a:srgbClr val="FF0000"/>
                          </a:solidFill>
                        </a:rPr>
                        <a:t>]</a:t>
                      </a:r>
                    </a:p>
                  </a:txBody>
                  <a:tcPr marL="68580" marR="68580" marT="34290" marB="34290" anchor="ctr"/>
                </a:tc>
                <a:extLst>
                  <a:ext uri="{0D108BD9-81ED-4DB2-BD59-A6C34878D82A}">
                    <a16:rowId xmlns:a16="http://schemas.microsoft.com/office/drawing/2014/main" val="10001"/>
                  </a:ext>
                </a:extLst>
              </a:tr>
              <a:tr h="278130">
                <a:tc>
                  <a:txBody>
                    <a:bodyPr/>
                    <a:lstStyle/>
                    <a:p>
                      <a:pPr algn="ctr"/>
                      <a:r>
                        <a:rPr lang="en-US" sz="1200" dirty="0"/>
                        <a:t>001</a:t>
                      </a:r>
                    </a:p>
                  </a:txBody>
                  <a:tcPr marL="68580" marR="68580" marT="34290" marB="34290" anchor="ctr"/>
                </a:tc>
                <a:tc>
                  <a:txBody>
                    <a:bodyPr/>
                    <a:lstStyle/>
                    <a:p>
                      <a:pPr algn="ctr"/>
                      <a:r>
                        <a:rPr lang="en-US" sz="1200" dirty="0"/>
                        <a:t>N</a:t>
                      </a:r>
                    </a:p>
                  </a:txBody>
                  <a:tcPr marL="68580" marR="68580" marT="34290" marB="34290" anchor="ctr"/>
                </a:tc>
                <a:tc>
                  <a:txBody>
                    <a:bodyPr/>
                    <a:lstStyle/>
                    <a:p>
                      <a:pPr algn="ctr"/>
                      <a:endParaRPr lang="en-US" sz="1200" dirty="0"/>
                    </a:p>
                  </a:txBody>
                  <a:tcPr marL="68580" marR="68580" marT="34290" marB="34290" anchor="ctr"/>
                </a:tc>
                <a:tc>
                  <a:txBody>
                    <a:bodyPr/>
                    <a:lstStyle/>
                    <a:p>
                      <a:pPr algn="ctr"/>
                      <a:endParaRPr lang="en-US" sz="1200" dirty="0"/>
                    </a:p>
                  </a:txBody>
                  <a:tcPr marL="68580" marR="68580" marT="34290" marB="34290" anchor="ctr"/>
                </a:tc>
                <a:extLst>
                  <a:ext uri="{0D108BD9-81ED-4DB2-BD59-A6C34878D82A}">
                    <a16:rowId xmlns:a16="http://schemas.microsoft.com/office/drawing/2014/main" val="10002"/>
                  </a:ext>
                </a:extLst>
              </a:tr>
              <a:tr h="278130">
                <a:tc>
                  <a:txBody>
                    <a:bodyPr/>
                    <a:lstStyle/>
                    <a:p>
                      <a:pPr algn="ctr"/>
                      <a:r>
                        <a:rPr lang="en-US" sz="1200" b="0" dirty="0">
                          <a:solidFill>
                            <a:schemeClr val="tx1"/>
                          </a:solidFill>
                        </a:rPr>
                        <a:t>010</a:t>
                      </a:r>
                    </a:p>
                  </a:txBody>
                  <a:tcPr marL="68580" marR="68580" marT="34290" marB="34290" anchor="ctr"/>
                </a:tc>
                <a:tc>
                  <a:txBody>
                    <a:bodyPr/>
                    <a:lstStyle/>
                    <a:p>
                      <a:pPr algn="ctr"/>
                      <a:r>
                        <a:rPr lang="en-US" sz="1200" b="0" dirty="0">
                          <a:solidFill>
                            <a:schemeClr val="tx1"/>
                          </a:solidFill>
                        </a:rPr>
                        <a:t>Y</a:t>
                      </a:r>
                    </a:p>
                  </a:txBody>
                  <a:tcPr marL="68580" marR="68580" marT="34290" marB="34290" anchor="ctr"/>
                </a:tc>
                <a:tc>
                  <a:txBody>
                    <a:bodyPr/>
                    <a:lstStyle/>
                    <a:p>
                      <a:pPr algn="ctr"/>
                      <a:r>
                        <a:rPr lang="en-US" sz="1200" b="0" dirty="0">
                          <a:solidFill>
                            <a:schemeClr val="tx1"/>
                          </a:solidFill>
                        </a:rPr>
                        <a:t>11</a:t>
                      </a:r>
                    </a:p>
                  </a:txBody>
                  <a:tcPr marL="68580" marR="68580" marT="34290" marB="34290" anchor="ctr"/>
                </a:tc>
                <a:tc>
                  <a:txBody>
                    <a:bodyPr/>
                    <a:lstStyle/>
                    <a:p>
                      <a:pPr algn="ctr"/>
                      <a:r>
                        <a:rPr lang="en-US" sz="1200" b="0" dirty="0">
                          <a:solidFill>
                            <a:schemeClr val="tx1"/>
                          </a:solidFill>
                        </a:rPr>
                        <a:t>Memory[11010</a:t>
                      </a:r>
                      <a:r>
                        <a:rPr lang="en-US" sz="1200" b="0" baseline="-25000" dirty="0">
                          <a:solidFill>
                            <a:schemeClr val="tx1"/>
                          </a:solidFill>
                        </a:rPr>
                        <a:t>2</a:t>
                      </a:r>
                      <a:r>
                        <a:rPr lang="en-US" sz="1200" b="0" dirty="0">
                          <a:solidFill>
                            <a:schemeClr val="tx1"/>
                          </a:solidFill>
                        </a:rPr>
                        <a:t>]</a:t>
                      </a:r>
                    </a:p>
                  </a:txBody>
                  <a:tcPr marL="68580" marR="68580" marT="34290" marB="34290" anchor="ctr"/>
                </a:tc>
                <a:extLst>
                  <a:ext uri="{0D108BD9-81ED-4DB2-BD59-A6C34878D82A}">
                    <a16:rowId xmlns:a16="http://schemas.microsoft.com/office/drawing/2014/main" val="10003"/>
                  </a:ext>
                </a:extLst>
              </a:tr>
              <a:tr h="278130">
                <a:tc>
                  <a:txBody>
                    <a:bodyPr/>
                    <a:lstStyle/>
                    <a:p>
                      <a:pPr algn="ctr"/>
                      <a:r>
                        <a:rPr lang="en-US" sz="1200" b="1" dirty="0">
                          <a:solidFill>
                            <a:srgbClr val="FF0000"/>
                          </a:solidFill>
                        </a:rPr>
                        <a:t>011</a:t>
                      </a:r>
                    </a:p>
                  </a:txBody>
                  <a:tcPr marL="68580" marR="68580" marT="34290" marB="34290" anchor="ctr"/>
                </a:tc>
                <a:tc>
                  <a:txBody>
                    <a:bodyPr/>
                    <a:lstStyle/>
                    <a:p>
                      <a:pPr algn="ctr"/>
                      <a:r>
                        <a:rPr lang="en-US" sz="1200" b="1" dirty="0">
                          <a:solidFill>
                            <a:srgbClr val="FF0000"/>
                          </a:solidFill>
                        </a:rPr>
                        <a:t>Y</a:t>
                      </a:r>
                    </a:p>
                  </a:txBody>
                  <a:tcPr marL="68580" marR="68580" marT="34290" marB="34290" anchor="ctr"/>
                </a:tc>
                <a:tc>
                  <a:txBody>
                    <a:bodyPr/>
                    <a:lstStyle/>
                    <a:p>
                      <a:pPr algn="ctr"/>
                      <a:r>
                        <a:rPr lang="en-US" sz="1200" b="1" dirty="0">
                          <a:solidFill>
                            <a:srgbClr val="FF0000"/>
                          </a:solidFill>
                        </a:rPr>
                        <a:t>00</a:t>
                      </a:r>
                    </a:p>
                  </a:txBody>
                  <a:tcPr marL="68580" marR="68580" marT="34290" marB="34290" anchor="ctr"/>
                </a:tc>
                <a:tc>
                  <a:txBody>
                    <a:bodyPr/>
                    <a:lstStyle/>
                    <a:p>
                      <a:pPr algn="ctr"/>
                      <a:r>
                        <a:rPr lang="en-US" sz="1200" b="1" dirty="0">
                          <a:solidFill>
                            <a:srgbClr val="FF0000"/>
                          </a:solidFill>
                        </a:rPr>
                        <a:t>Memory[00011</a:t>
                      </a:r>
                      <a:r>
                        <a:rPr lang="en-US" sz="1200" b="1" baseline="-25000" dirty="0">
                          <a:solidFill>
                            <a:srgbClr val="FF0000"/>
                          </a:solidFill>
                        </a:rPr>
                        <a:t>2</a:t>
                      </a:r>
                      <a:r>
                        <a:rPr lang="en-US" sz="1200" b="1" dirty="0">
                          <a:solidFill>
                            <a:srgbClr val="FF0000"/>
                          </a:solidFill>
                        </a:rPr>
                        <a:t>]</a:t>
                      </a:r>
                    </a:p>
                  </a:txBody>
                  <a:tcPr marL="68580" marR="68580" marT="34290" marB="34290" anchor="ctr"/>
                </a:tc>
                <a:extLst>
                  <a:ext uri="{0D108BD9-81ED-4DB2-BD59-A6C34878D82A}">
                    <a16:rowId xmlns:a16="http://schemas.microsoft.com/office/drawing/2014/main" val="10004"/>
                  </a:ext>
                </a:extLst>
              </a:tr>
              <a:tr h="278130">
                <a:tc>
                  <a:txBody>
                    <a:bodyPr/>
                    <a:lstStyle/>
                    <a:p>
                      <a:pPr algn="ctr"/>
                      <a:r>
                        <a:rPr lang="en-US" sz="1200" dirty="0"/>
                        <a:t>100</a:t>
                      </a:r>
                    </a:p>
                  </a:txBody>
                  <a:tcPr marL="68580" marR="68580" marT="34290" marB="34290" anchor="ctr"/>
                </a:tc>
                <a:tc>
                  <a:txBody>
                    <a:bodyPr/>
                    <a:lstStyle/>
                    <a:p>
                      <a:pPr algn="ctr"/>
                      <a:r>
                        <a:rPr lang="en-US" sz="1200" dirty="0"/>
                        <a:t>N</a:t>
                      </a:r>
                    </a:p>
                  </a:txBody>
                  <a:tcPr marL="68580" marR="68580" marT="34290" marB="34290" anchor="ctr"/>
                </a:tc>
                <a:tc>
                  <a:txBody>
                    <a:bodyPr/>
                    <a:lstStyle/>
                    <a:p>
                      <a:pPr algn="ctr"/>
                      <a:endParaRPr lang="en-US" sz="1200"/>
                    </a:p>
                  </a:txBody>
                  <a:tcPr marL="68580" marR="68580" marT="34290" marB="34290" anchor="ctr"/>
                </a:tc>
                <a:tc>
                  <a:txBody>
                    <a:bodyPr/>
                    <a:lstStyle/>
                    <a:p>
                      <a:pPr algn="ctr"/>
                      <a:endParaRPr lang="en-US" sz="1200"/>
                    </a:p>
                  </a:txBody>
                  <a:tcPr marL="68580" marR="68580" marT="34290" marB="34290" anchor="ctr"/>
                </a:tc>
                <a:extLst>
                  <a:ext uri="{0D108BD9-81ED-4DB2-BD59-A6C34878D82A}">
                    <a16:rowId xmlns:a16="http://schemas.microsoft.com/office/drawing/2014/main" val="10005"/>
                  </a:ext>
                </a:extLst>
              </a:tr>
              <a:tr h="278130">
                <a:tc>
                  <a:txBody>
                    <a:bodyPr/>
                    <a:lstStyle/>
                    <a:p>
                      <a:pPr algn="ctr"/>
                      <a:r>
                        <a:rPr lang="en-US" sz="1200" dirty="0"/>
                        <a:t>101</a:t>
                      </a:r>
                    </a:p>
                  </a:txBody>
                  <a:tcPr marL="68580" marR="68580" marT="34290" marB="34290" anchor="ctr"/>
                </a:tc>
                <a:tc>
                  <a:txBody>
                    <a:bodyPr/>
                    <a:lstStyle/>
                    <a:p>
                      <a:pPr algn="ctr"/>
                      <a:r>
                        <a:rPr lang="en-US" sz="1200" dirty="0"/>
                        <a:t>N</a:t>
                      </a:r>
                    </a:p>
                  </a:txBody>
                  <a:tcPr marL="68580" marR="68580" marT="34290" marB="34290" anchor="ctr"/>
                </a:tc>
                <a:tc>
                  <a:txBody>
                    <a:bodyPr/>
                    <a:lstStyle/>
                    <a:p>
                      <a:pPr algn="ctr"/>
                      <a:endParaRPr lang="en-US" sz="1200"/>
                    </a:p>
                  </a:txBody>
                  <a:tcPr marL="68580" marR="68580" marT="34290" marB="34290" anchor="ctr"/>
                </a:tc>
                <a:tc>
                  <a:txBody>
                    <a:bodyPr/>
                    <a:lstStyle/>
                    <a:p>
                      <a:pPr algn="ctr"/>
                      <a:endParaRPr lang="en-US" sz="1200"/>
                    </a:p>
                  </a:txBody>
                  <a:tcPr marL="68580" marR="68580" marT="34290" marB="34290" anchor="ctr"/>
                </a:tc>
                <a:extLst>
                  <a:ext uri="{0D108BD9-81ED-4DB2-BD59-A6C34878D82A}">
                    <a16:rowId xmlns:a16="http://schemas.microsoft.com/office/drawing/2014/main" val="10006"/>
                  </a:ext>
                </a:extLst>
              </a:tr>
              <a:tr h="278130">
                <a:tc>
                  <a:txBody>
                    <a:bodyPr/>
                    <a:lstStyle/>
                    <a:p>
                      <a:pPr algn="ctr"/>
                      <a:r>
                        <a:rPr lang="en-US" sz="1200" b="0" dirty="0">
                          <a:solidFill>
                            <a:schemeClr val="tx1"/>
                          </a:solidFill>
                        </a:rPr>
                        <a:t>110</a:t>
                      </a:r>
                    </a:p>
                  </a:txBody>
                  <a:tcPr marL="68580" marR="68580" marT="34290" marB="34290" anchor="ctr"/>
                </a:tc>
                <a:tc>
                  <a:txBody>
                    <a:bodyPr/>
                    <a:lstStyle/>
                    <a:p>
                      <a:pPr algn="ctr"/>
                      <a:r>
                        <a:rPr lang="en-US" sz="1200" b="0" dirty="0">
                          <a:solidFill>
                            <a:schemeClr val="tx1"/>
                          </a:solidFill>
                        </a:rPr>
                        <a:t>Y</a:t>
                      </a:r>
                    </a:p>
                  </a:txBody>
                  <a:tcPr marL="68580" marR="68580" marT="34290" marB="34290" anchor="ctr"/>
                </a:tc>
                <a:tc>
                  <a:txBody>
                    <a:bodyPr/>
                    <a:lstStyle/>
                    <a:p>
                      <a:pPr algn="ctr"/>
                      <a:r>
                        <a:rPr lang="en-US" sz="1200" b="0" dirty="0">
                          <a:solidFill>
                            <a:schemeClr val="tx1"/>
                          </a:solidFill>
                        </a:rPr>
                        <a:t>10</a:t>
                      </a:r>
                    </a:p>
                  </a:txBody>
                  <a:tcPr marL="68580" marR="68580" marT="34290" marB="34290" anchor="ctr"/>
                </a:tc>
                <a:tc>
                  <a:txBody>
                    <a:bodyPr/>
                    <a:lstStyle/>
                    <a:p>
                      <a:pPr algn="ctr"/>
                      <a:r>
                        <a:rPr lang="en-US" sz="1200" b="0" dirty="0">
                          <a:solidFill>
                            <a:schemeClr val="tx1"/>
                          </a:solidFill>
                        </a:rPr>
                        <a:t>Memory[10110</a:t>
                      </a:r>
                      <a:r>
                        <a:rPr lang="en-US" sz="1200" b="0" baseline="-25000" dirty="0">
                          <a:solidFill>
                            <a:schemeClr val="tx1"/>
                          </a:solidFill>
                        </a:rPr>
                        <a:t>2</a:t>
                      </a:r>
                      <a:r>
                        <a:rPr lang="en-US" sz="1200" b="0" dirty="0">
                          <a:solidFill>
                            <a:schemeClr val="tx1"/>
                          </a:solidFill>
                        </a:rPr>
                        <a:t>]</a:t>
                      </a:r>
                    </a:p>
                  </a:txBody>
                  <a:tcPr marL="68580" marR="68580" marT="34290" marB="34290" anchor="ctr"/>
                </a:tc>
                <a:extLst>
                  <a:ext uri="{0D108BD9-81ED-4DB2-BD59-A6C34878D82A}">
                    <a16:rowId xmlns:a16="http://schemas.microsoft.com/office/drawing/2014/main" val="10007"/>
                  </a:ext>
                </a:extLst>
              </a:tr>
              <a:tr h="278130">
                <a:tc>
                  <a:txBody>
                    <a:bodyPr/>
                    <a:lstStyle/>
                    <a:p>
                      <a:pPr algn="ctr"/>
                      <a:r>
                        <a:rPr lang="en-US" sz="1200" dirty="0"/>
                        <a:t>111</a:t>
                      </a:r>
                    </a:p>
                  </a:txBody>
                  <a:tcPr marL="68580" marR="68580" marT="34290" marB="34290" anchor="ctr"/>
                </a:tc>
                <a:tc>
                  <a:txBody>
                    <a:bodyPr/>
                    <a:lstStyle/>
                    <a:p>
                      <a:pPr algn="ctr"/>
                      <a:r>
                        <a:rPr lang="en-US" sz="1200" dirty="0"/>
                        <a:t>N</a:t>
                      </a:r>
                    </a:p>
                  </a:txBody>
                  <a:tcPr marL="68580" marR="68580" marT="34290" marB="34290" anchor="ctr"/>
                </a:tc>
                <a:tc>
                  <a:txBody>
                    <a:bodyPr/>
                    <a:lstStyle/>
                    <a:p>
                      <a:pPr algn="ctr"/>
                      <a:endParaRPr lang="en-US" sz="1200"/>
                    </a:p>
                  </a:txBody>
                  <a:tcPr marL="68580" marR="68580" marT="34290" marB="34290" anchor="ctr"/>
                </a:tc>
                <a:tc>
                  <a:txBody>
                    <a:bodyPr/>
                    <a:lstStyle/>
                    <a:p>
                      <a:pPr algn="ctr"/>
                      <a:endParaRPr lang="en-US" sz="1200" dirty="0"/>
                    </a:p>
                  </a:txBody>
                  <a:tcPr marL="68580" marR="68580" marT="34290" marB="34290" anchor="ctr"/>
                </a:tc>
                <a:extLst>
                  <a:ext uri="{0D108BD9-81ED-4DB2-BD59-A6C34878D82A}">
                    <a16:rowId xmlns:a16="http://schemas.microsoft.com/office/drawing/2014/main" val="10008"/>
                  </a:ext>
                </a:extLst>
              </a:tr>
            </a:tbl>
          </a:graphicData>
        </a:graphic>
      </p:graphicFrame>
      <p:graphicFrame>
        <p:nvGraphicFramePr>
          <p:cNvPr id="8" name="Table 7"/>
          <p:cNvGraphicFramePr>
            <a:graphicFrameLocks noGrp="1"/>
          </p:cNvGraphicFramePr>
          <p:nvPr>
            <p:extLst/>
          </p:nvPr>
        </p:nvGraphicFramePr>
        <p:xfrm>
          <a:off x="1940985" y="807469"/>
          <a:ext cx="5263515" cy="1112520"/>
        </p:xfrm>
        <a:graphic>
          <a:graphicData uri="http://schemas.openxmlformats.org/drawingml/2006/table">
            <a:tbl>
              <a:tblPr firstRow="1" bandRow="1">
                <a:tableStyleId>{5C22544A-7EE6-4342-B048-85BDC9FD1C3A}</a:tableStyleId>
              </a:tblPr>
              <a:tblGrid>
                <a:gridCol w="1670685">
                  <a:extLst>
                    <a:ext uri="{9D8B030D-6E8A-4147-A177-3AD203B41FA5}">
                      <a16:colId xmlns:a16="http://schemas.microsoft.com/office/drawing/2014/main" val="20000"/>
                    </a:ext>
                  </a:extLst>
                </a:gridCol>
                <a:gridCol w="1546860">
                  <a:extLst>
                    <a:ext uri="{9D8B030D-6E8A-4147-A177-3AD203B41FA5}">
                      <a16:colId xmlns:a16="http://schemas.microsoft.com/office/drawing/2014/main" val="20001"/>
                    </a:ext>
                  </a:extLst>
                </a:gridCol>
                <a:gridCol w="851535">
                  <a:extLst>
                    <a:ext uri="{9D8B030D-6E8A-4147-A177-3AD203B41FA5}">
                      <a16:colId xmlns:a16="http://schemas.microsoft.com/office/drawing/2014/main" val="20002"/>
                    </a:ext>
                  </a:extLst>
                </a:gridCol>
                <a:gridCol w="1194435">
                  <a:extLst>
                    <a:ext uri="{9D8B030D-6E8A-4147-A177-3AD203B41FA5}">
                      <a16:colId xmlns:a16="http://schemas.microsoft.com/office/drawing/2014/main" val="20003"/>
                    </a:ext>
                  </a:extLst>
                </a:gridCol>
              </a:tblGrid>
              <a:tr h="278130">
                <a:tc>
                  <a:txBody>
                    <a:bodyPr/>
                    <a:lstStyle/>
                    <a:p>
                      <a:pPr algn="ctr"/>
                      <a:r>
                        <a:rPr lang="en-US" sz="1200" baseline="0" dirty="0"/>
                        <a:t>Address (decimal)</a:t>
                      </a:r>
                      <a:endParaRPr lang="en-US" sz="1200" dirty="0"/>
                    </a:p>
                  </a:txBody>
                  <a:tcPr marL="68580" marR="68580" marT="34290" marB="34290" anchor="ctr"/>
                </a:tc>
                <a:tc>
                  <a:txBody>
                    <a:bodyPr/>
                    <a:lstStyle/>
                    <a:p>
                      <a:pPr algn="ctr"/>
                      <a:r>
                        <a:rPr lang="en-US" sz="1200" dirty="0"/>
                        <a:t>Address</a:t>
                      </a:r>
                      <a:r>
                        <a:rPr lang="en-US" sz="1200" baseline="0" dirty="0"/>
                        <a:t> (binary)</a:t>
                      </a:r>
                      <a:endParaRPr lang="en-US" sz="1200" dirty="0"/>
                    </a:p>
                  </a:txBody>
                  <a:tcPr marL="68580" marR="68580" marT="34290" marB="34290" anchor="ctr"/>
                </a:tc>
                <a:tc>
                  <a:txBody>
                    <a:bodyPr/>
                    <a:lstStyle/>
                    <a:p>
                      <a:pPr algn="ctr"/>
                      <a:r>
                        <a:rPr lang="en-US" sz="1200" dirty="0"/>
                        <a:t>Hit/miss</a:t>
                      </a:r>
                    </a:p>
                  </a:txBody>
                  <a:tcPr marL="68580" marR="68580" marT="34290" marB="34290" anchor="ctr"/>
                </a:tc>
                <a:tc>
                  <a:txBody>
                    <a:bodyPr/>
                    <a:lstStyle/>
                    <a:p>
                      <a:pPr algn="ctr"/>
                      <a:r>
                        <a:rPr lang="en-US" sz="1200" dirty="0"/>
                        <a:t>Cache block</a:t>
                      </a:r>
                    </a:p>
                  </a:txBody>
                  <a:tcPr marL="68580" marR="68580" marT="34290" marB="34290" anchor="ctr"/>
                </a:tc>
                <a:extLst>
                  <a:ext uri="{0D108BD9-81ED-4DB2-BD59-A6C34878D82A}">
                    <a16:rowId xmlns:a16="http://schemas.microsoft.com/office/drawing/2014/main" val="10000"/>
                  </a:ext>
                </a:extLst>
              </a:tr>
              <a:tr h="278130">
                <a:tc>
                  <a:txBody>
                    <a:bodyPr/>
                    <a:lstStyle/>
                    <a:p>
                      <a:pPr algn="ctr"/>
                      <a:r>
                        <a:rPr lang="en-US" sz="1200" dirty="0"/>
                        <a:t>16</a:t>
                      </a:r>
                    </a:p>
                  </a:txBody>
                  <a:tcPr marL="68580" marR="68580" marT="34290" marB="34290" anchor="ctr"/>
                </a:tc>
                <a:tc>
                  <a:txBody>
                    <a:bodyPr/>
                    <a:lstStyle/>
                    <a:p>
                      <a:pPr algn="ctr"/>
                      <a:r>
                        <a:rPr lang="en-US" sz="1200" dirty="0"/>
                        <a:t>10 000</a:t>
                      </a:r>
                    </a:p>
                  </a:txBody>
                  <a:tcPr marL="68580" marR="68580" marT="34290" marB="34290" anchor="ctr"/>
                </a:tc>
                <a:tc>
                  <a:txBody>
                    <a:bodyPr/>
                    <a:lstStyle/>
                    <a:p>
                      <a:pPr algn="ctr"/>
                      <a:r>
                        <a:rPr lang="en-US" sz="1200" dirty="0"/>
                        <a:t>Miss</a:t>
                      </a:r>
                    </a:p>
                  </a:txBody>
                  <a:tcPr marL="68580" marR="68580" marT="34290" marB="34290" anchor="ctr"/>
                </a:tc>
                <a:tc>
                  <a:txBody>
                    <a:bodyPr/>
                    <a:lstStyle/>
                    <a:p>
                      <a:pPr algn="ctr"/>
                      <a:r>
                        <a:rPr lang="en-US" sz="1200" dirty="0"/>
                        <a:t>000</a:t>
                      </a:r>
                    </a:p>
                  </a:txBody>
                  <a:tcPr marL="68580" marR="68580" marT="34290" marB="34290" anchor="ctr"/>
                </a:tc>
                <a:extLst>
                  <a:ext uri="{0D108BD9-81ED-4DB2-BD59-A6C34878D82A}">
                    <a16:rowId xmlns:a16="http://schemas.microsoft.com/office/drawing/2014/main" val="10001"/>
                  </a:ext>
                </a:extLst>
              </a:tr>
              <a:tr h="278130">
                <a:tc>
                  <a:txBody>
                    <a:bodyPr/>
                    <a:lstStyle/>
                    <a:p>
                      <a:pPr algn="ctr"/>
                      <a:r>
                        <a:rPr lang="en-US" sz="1200" dirty="0"/>
                        <a:t>3</a:t>
                      </a:r>
                    </a:p>
                  </a:txBody>
                  <a:tcPr marL="68580" marR="68580" marT="34290" marB="34290" anchor="ctr"/>
                </a:tc>
                <a:tc>
                  <a:txBody>
                    <a:bodyPr/>
                    <a:lstStyle/>
                    <a:p>
                      <a:pPr algn="ctr"/>
                      <a:r>
                        <a:rPr lang="en-US" sz="1200" dirty="0"/>
                        <a:t>00 011</a:t>
                      </a:r>
                    </a:p>
                  </a:txBody>
                  <a:tcPr marL="68580" marR="68580" marT="34290" marB="34290" anchor="ctr"/>
                </a:tc>
                <a:tc>
                  <a:txBody>
                    <a:bodyPr/>
                    <a:lstStyle/>
                    <a:p>
                      <a:pPr algn="ctr"/>
                      <a:r>
                        <a:rPr lang="en-US" sz="1200" dirty="0"/>
                        <a:t>Miss</a:t>
                      </a:r>
                    </a:p>
                  </a:txBody>
                  <a:tcPr marL="68580" marR="68580" marT="34290" marB="34290" anchor="ctr"/>
                </a:tc>
                <a:tc>
                  <a:txBody>
                    <a:bodyPr/>
                    <a:lstStyle/>
                    <a:p>
                      <a:pPr algn="ctr"/>
                      <a:r>
                        <a:rPr lang="en-US" sz="1200" dirty="0"/>
                        <a:t>011</a:t>
                      </a:r>
                    </a:p>
                  </a:txBody>
                  <a:tcPr marL="68580" marR="68580" marT="34290" marB="34290" anchor="ctr"/>
                </a:tc>
                <a:extLst>
                  <a:ext uri="{0D108BD9-81ED-4DB2-BD59-A6C34878D82A}">
                    <a16:rowId xmlns:a16="http://schemas.microsoft.com/office/drawing/2014/main" val="10002"/>
                  </a:ext>
                </a:extLst>
              </a:tr>
              <a:tr h="278130">
                <a:tc>
                  <a:txBody>
                    <a:bodyPr/>
                    <a:lstStyle/>
                    <a:p>
                      <a:pPr algn="ctr"/>
                      <a:r>
                        <a:rPr lang="en-US" sz="1200" dirty="0"/>
                        <a:t>16</a:t>
                      </a:r>
                    </a:p>
                  </a:txBody>
                  <a:tcPr marL="68580" marR="68580" marT="34290" marB="34290" anchor="ctr"/>
                </a:tc>
                <a:tc>
                  <a:txBody>
                    <a:bodyPr/>
                    <a:lstStyle/>
                    <a:p>
                      <a:pPr algn="ctr"/>
                      <a:r>
                        <a:rPr lang="en-US" sz="1200" dirty="0"/>
                        <a:t>10</a:t>
                      </a:r>
                      <a:r>
                        <a:rPr lang="en-US" sz="1200" baseline="0" dirty="0"/>
                        <a:t> 000</a:t>
                      </a:r>
                      <a:endParaRPr lang="en-US" sz="1200" dirty="0"/>
                    </a:p>
                  </a:txBody>
                  <a:tcPr marL="68580" marR="68580" marT="34290" marB="34290" anchor="ctr"/>
                </a:tc>
                <a:tc>
                  <a:txBody>
                    <a:bodyPr/>
                    <a:lstStyle/>
                    <a:p>
                      <a:pPr algn="ctr"/>
                      <a:r>
                        <a:rPr lang="en-US" sz="1200" dirty="0"/>
                        <a:t>Hit</a:t>
                      </a:r>
                    </a:p>
                  </a:txBody>
                  <a:tcPr marL="68580" marR="68580" marT="34290" marB="34290" anchor="ctr"/>
                </a:tc>
                <a:tc>
                  <a:txBody>
                    <a:bodyPr/>
                    <a:lstStyle/>
                    <a:p>
                      <a:pPr algn="ctr"/>
                      <a:r>
                        <a:rPr lang="en-US" sz="1200" dirty="0"/>
                        <a:t>000</a:t>
                      </a:r>
                    </a:p>
                  </a:txBody>
                  <a:tcPr marL="68580" marR="68580" marT="34290" marB="34290" anchor="ctr"/>
                </a:tc>
                <a:extLst>
                  <a:ext uri="{0D108BD9-81ED-4DB2-BD59-A6C34878D82A}">
                    <a16:rowId xmlns:a16="http://schemas.microsoft.com/office/drawing/2014/main" val="10003"/>
                  </a:ext>
                </a:extLst>
              </a:tr>
            </a:tbl>
          </a:graphicData>
        </a:graphic>
      </p:graphicFrame>
      <p:sp>
        <p:nvSpPr>
          <p:cNvPr id="3" name="Slide Number Placeholder 2"/>
          <p:cNvSpPr>
            <a:spLocks noGrp="1"/>
          </p:cNvSpPr>
          <p:nvPr>
            <p:ph type="sldNum" sz="quarter" idx="10"/>
          </p:nvPr>
        </p:nvSpPr>
        <p:spPr/>
        <p:txBody>
          <a:bodyPr/>
          <a:lstStyle/>
          <a:p>
            <a:fld id="{D9B6BDF2-6896-4B98-8776-C18582F63BA5}" type="slidenum">
              <a:rPr lang="zh-TW" altLang="en-US" smtClean="0"/>
              <a:pPr/>
              <a:t>23</a:t>
            </a:fld>
            <a:endParaRPr lang="zh-TW" altLang="en-US"/>
          </a:p>
        </p:txBody>
      </p:sp>
    </p:spTree>
    <p:extLst>
      <p:ext uri="{BB962C8B-B14F-4D97-AF65-F5344CB8AC3E}">
        <p14:creationId xmlns:p14="http://schemas.microsoft.com/office/powerpoint/2010/main" val="272432381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Cache Example (6) </a:t>
            </a:r>
          </a:p>
        </p:txBody>
      </p:sp>
      <p:graphicFrame>
        <p:nvGraphicFramePr>
          <p:cNvPr id="6" name="Table 5"/>
          <p:cNvGraphicFramePr>
            <a:graphicFrameLocks noGrp="1"/>
          </p:cNvGraphicFramePr>
          <p:nvPr>
            <p:extLst/>
          </p:nvPr>
        </p:nvGraphicFramePr>
        <p:xfrm>
          <a:off x="1939500" y="2073264"/>
          <a:ext cx="5265000" cy="2503170"/>
        </p:xfrm>
        <a:graphic>
          <a:graphicData uri="http://schemas.openxmlformats.org/drawingml/2006/table">
            <a:tbl>
              <a:tblPr firstRow="1" bandRow="1">
                <a:tableStyleId>{5C22544A-7EE6-4342-B048-85BDC9FD1C3A}</a:tableStyleId>
              </a:tblPr>
              <a:tblGrid>
                <a:gridCol w="945000">
                  <a:extLst>
                    <a:ext uri="{9D8B030D-6E8A-4147-A177-3AD203B41FA5}">
                      <a16:colId xmlns:a16="http://schemas.microsoft.com/office/drawing/2014/main" val="20000"/>
                    </a:ext>
                  </a:extLst>
                </a:gridCol>
                <a:gridCol w="540000">
                  <a:extLst>
                    <a:ext uri="{9D8B030D-6E8A-4147-A177-3AD203B41FA5}">
                      <a16:colId xmlns:a16="http://schemas.microsoft.com/office/drawing/2014/main" val="20001"/>
                    </a:ext>
                  </a:extLst>
                </a:gridCol>
                <a:gridCol w="1620000">
                  <a:extLst>
                    <a:ext uri="{9D8B030D-6E8A-4147-A177-3AD203B41FA5}">
                      <a16:colId xmlns:a16="http://schemas.microsoft.com/office/drawing/2014/main" val="20002"/>
                    </a:ext>
                  </a:extLst>
                </a:gridCol>
                <a:gridCol w="2160000">
                  <a:extLst>
                    <a:ext uri="{9D8B030D-6E8A-4147-A177-3AD203B41FA5}">
                      <a16:colId xmlns:a16="http://schemas.microsoft.com/office/drawing/2014/main" val="20003"/>
                    </a:ext>
                  </a:extLst>
                </a:gridCol>
              </a:tblGrid>
              <a:tr h="278130">
                <a:tc>
                  <a:txBody>
                    <a:bodyPr/>
                    <a:lstStyle/>
                    <a:p>
                      <a:pPr algn="ctr"/>
                      <a:r>
                        <a:rPr lang="en-US" sz="1200" dirty="0"/>
                        <a:t>Index</a:t>
                      </a:r>
                    </a:p>
                  </a:txBody>
                  <a:tcPr marL="68580" marR="68580" marT="34290" marB="34290" anchor="ctr"/>
                </a:tc>
                <a:tc>
                  <a:txBody>
                    <a:bodyPr/>
                    <a:lstStyle/>
                    <a:p>
                      <a:pPr algn="ctr"/>
                      <a:r>
                        <a:rPr lang="en-US" sz="1200" dirty="0"/>
                        <a:t>V</a:t>
                      </a:r>
                    </a:p>
                  </a:txBody>
                  <a:tcPr marL="68580" marR="68580" marT="34290" marB="34290" anchor="ctr"/>
                </a:tc>
                <a:tc>
                  <a:txBody>
                    <a:bodyPr/>
                    <a:lstStyle/>
                    <a:p>
                      <a:pPr algn="ctr"/>
                      <a:r>
                        <a:rPr lang="en-US" sz="1200" dirty="0"/>
                        <a:t>Tag</a:t>
                      </a:r>
                    </a:p>
                  </a:txBody>
                  <a:tcPr marL="68580" marR="68580" marT="34290" marB="34290" anchor="ctr"/>
                </a:tc>
                <a:tc>
                  <a:txBody>
                    <a:bodyPr/>
                    <a:lstStyle/>
                    <a:p>
                      <a:pPr algn="ctr"/>
                      <a:r>
                        <a:rPr lang="en-US" sz="1200" dirty="0"/>
                        <a:t>Data</a:t>
                      </a:r>
                    </a:p>
                  </a:txBody>
                  <a:tcPr marL="68580" marR="68580" marT="34290" marB="34290" anchor="ctr"/>
                </a:tc>
                <a:extLst>
                  <a:ext uri="{0D108BD9-81ED-4DB2-BD59-A6C34878D82A}">
                    <a16:rowId xmlns:a16="http://schemas.microsoft.com/office/drawing/2014/main" val="10000"/>
                  </a:ext>
                </a:extLst>
              </a:tr>
              <a:tr h="278130">
                <a:tc>
                  <a:txBody>
                    <a:bodyPr/>
                    <a:lstStyle/>
                    <a:p>
                      <a:pPr algn="ctr"/>
                      <a:r>
                        <a:rPr lang="en-US" sz="1200" b="0" dirty="0">
                          <a:solidFill>
                            <a:schemeClr val="tx1"/>
                          </a:solidFill>
                        </a:rPr>
                        <a:t>000</a:t>
                      </a:r>
                    </a:p>
                  </a:txBody>
                  <a:tcPr marL="68580" marR="68580" marT="34290" marB="34290" anchor="ctr"/>
                </a:tc>
                <a:tc>
                  <a:txBody>
                    <a:bodyPr/>
                    <a:lstStyle/>
                    <a:p>
                      <a:pPr algn="ctr"/>
                      <a:r>
                        <a:rPr lang="en-US" sz="1200" b="0" dirty="0">
                          <a:solidFill>
                            <a:schemeClr val="tx1"/>
                          </a:solidFill>
                        </a:rPr>
                        <a:t>Y</a:t>
                      </a:r>
                    </a:p>
                  </a:txBody>
                  <a:tcPr marL="68580" marR="68580" marT="34290" marB="34290" anchor="ctr"/>
                </a:tc>
                <a:tc>
                  <a:txBody>
                    <a:bodyPr/>
                    <a:lstStyle/>
                    <a:p>
                      <a:pPr algn="ctr"/>
                      <a:r>
                        <a:rPr lang="en-US" sz="1200" b="0" dirty="0">
                          <a:solidFill>
                            <a:schemeClr val="tx1"/>
                          </a:solidFill>
                        </a:rPr>
                        <a:t>10</a:t>
                      </a:r>
                    </a:p>
                  </a:txBody>
                  <a:tcPr marL="68580" marR="68580" marT="34290" marB="34290" anchor="ctr"/>
                </a:tc>
                <a:tc>
                  <a:txBody>
                    <a:bodyPr/>
                    <a:lstStyle/>
                    <a:p>
                      <a:pPr algn="ctr"/>
                      <a:r>
                        <a:rPr lang="en-US" sz="1200" b="0" dirty="0">
                          <a:solidFill>
                            <a:schemeClr val="tx1"/>
                          </a:solidFill>
                        </a:rPr>
                        <a:t>Memory[10000</a:t>
                      </a:r>
                      <a:r>
                        <a:rPr lang="en-US" sz="1200" b="0" baseline="-25000" dirty="0">
                          <a:solidFill>
                            <a:schemeClr val="tx1"/>
                          </a:solidFill>
                        </a:rPr>
                        <a:t>2</a:t>
                      </a:r>
                      <a:r>
                        <a:rPr lang="en-US" sz="1200" b="0" dirty="0">
                          <a:solidFill>
                            <a:schemeClr val="tx1"/>
                          </a:solidFill>
                        </a:rPr>
                        <a:t>]</a:t>
                      </a:r>
                    </a:p>
                  </a:txBody>
                  <a:tcPr marL="68580" marR="68580" marT="34290" marB="34290" anchor="ctr"/>
                </a:tc>
                <a:extLst>
                  <a:ext uri="{0D108BD9-81ED-4DB2-BD59-A6C34878D82A}">
                    <a16:rowId xmlns:a16="http://schemas.microsoft.com/office/drawing/2014/main" val="10001"/>
                  </a:ext>
                </a:extLst>
              </a:tr>
              <a:tr h="278130">
                <a:tc>
                  <a:txBody>
                    <a:bodyPr/>
                    <a:lstStyle/>
                    <a:p>
                      <a:pPr algn="ctr"/>
                      <a:r>
                        <a:rPr lang="en-US" sz="1200" b="0" dirty="0">
                          <a:solidFill>
                            <a:schemeClr val="tx1"/>
                          </a:solidFill>
                        </a:rPr>
                        <a:t>001</a:t>
                      </a:r>
                    </a:p>
                  </a:txBody>
                  <a:tcPr marL="68580" marR="68580" marT="34290" marB="34290" anchor="ctr"/>
                </a:tc>
                <a:tc>
                  <a:txBody>
                    <a:bodyPr/>
                    <a:lstStyle/>
                    <a:p>
                      <a:pPr algn="ctr"/>
                      <a:r>
                        <a:rPr lang="en-US" sz="1200" b="0" dirty="0">
                          <a:solidFill>
                            <a:schemeClr val="tx1"/>
                          </a:solidFill>
                        </a:rPr>
                        <a:t>N</a:t>
                      </a:r>
                    </a:p>
                  </a:txBody>
                  <a:tcPr marL="68580" marR="68580" marT="34290" marB="34290" anchor="ctr"/>
                </a:tc>
                <a:tc>
                  <a:txBody>
                    <a:bodyPr/>
                    <a:lstStyle/>
                    <a:p>
                      <a:pPr algn="ctr"/>
                      <a:endParaRPr lang="en-US" sz="1200" b="0" dirty="0">
                        <a:solidFill>
                          <a:schemeClr val="tx1"/>
                        </a:solidFill>
                      </a:endParaRPr>
                    </a:p>
                  </a:txBody>
                  <a:tcPr marL="68580" marR="68580" marT="34290" marB="34290" anchor="ctr"/>
                </a:tc>
                <a:tc>
                  <a:txBody>
                    <a:bodyPr/>
                    <a:lstStyle/>
                    <a:p>
                      <a:pPr algn="ctr"/>
                      <a:endParaRPr lang="en-US" sz="1200" b="0" dirty="0">
                        <a:solidFill>
                          <a:schemeClr val="tx1"/>
                        </a:solidFill>
                      </a:endParaRPr>
                    </a:p>
                  </a:txBody>
                  <a:tcPr marL="68580" marR="68580" marT="34290" marB="34290" anchor="ctr"/>
                </a:tc>
                <a:extLst>
                  <a:ext uri="{0D108BD9-81ED-4DB2-BD59-A6C34878D82A}">
                    <a16:rowId xmlns:a16="http://schemas.microsoft.com/office/drawing/2014/main" val="10002"/>
                  </a:ext>
                </a:extLst>
              </a:tr>
              <a:tr h="278130">
                <a:tc>
                  <a:txBody>
                    <a:bodyPr/>
                    <a:lstStyle/>
                    <a:p>
                      <a:pPr algn="ctr"/>
                      <a:r>
                        <a:rPr lang="en-US" sz="1200" b="1" dirty="0">
                          <a:solidFill>
                            <a:srgbClr val="FF0000"/>
                          </a:solidFill>
                        </a:rPr>
                        <a:t>010</a:t>
                      </a:r>
                    </a:p>
                  </a:txBody>
                  <a:tcPr marL="68580" marR="68580" marT="34290" marB="34290" anchor="ctr"/>
                </a:tc>
                <a:tc>
                  <a:txBody>
                    <a:bodyPr/>
                    <a:lstStyle/>
                    <a:p>
                      <a:pPr algn="ctr"/>
                      <a:r>
                        <a:rPr lang="en-US" sz="1200" b="1" dirty="0">
                          <a:solidFill>
                            <a:srgbClr val="FF0000"/>
                          </a:solidFill>
                        </a:rPr>
                        <a:t>Y</a:t>
                      </a:r>
                    </a:p>
                  </a:txBody>
                  <a:tcPr marL="68580" marR="68580" marT="34290" marB="34290" anchor="ctr"/>
                </a:tc>
                <a:tc>
                  <a:txBody>
                    <a:bodyPr/>
                    <a:lstStyle/>
                    <a:p>
                      <a:pPr algn="ctr"/>
                      <a:r>
                        <a:rPr lang="en-US" sz="1200" b="1" dirty="0">
                          <a:solidFill>
                            <a:srgbClr val="FF0000"/>
                          </a:solidFill>
                        </a:rPr>
                        <a:t>10</a:t>
                      </a:r>
                    </a:p>
                  </a:txBody>
                  <a:tcPr marL="68580" marR="68580" marT="34290" marB="34290" anchor="ctr"/>
                </a:tc>
                <a:tc>
                  <a:txBody>
                    <a:bodyPr/>
                    <a:lstStyle/>
                    <a:p>
                      <a:pPr algn="ctr"/>
                      <a:r>
                        <a:rPr lang="en-US" sz="1200" b="1" dirty="0">
                          <a:solidFill>
                            <a:srgbClr val="FF0000"/>
                          </a:solidFill>
                        </a:rPr>
                        <a:t>Memory[10010</a:t>
                      </a:r>
                      <a:r>
                        <a:rPr lang="en-US" sz="1200" b="1" baseline="-25000" dirty="0">
                          <a:solidFill>
                            <a:srgbClr val="FF0000"/>
                          </a:solidFill>
                        </a:rPr>
                        <a:t>2</a:t>
                      </a:r>
                      <a:r>
                        <a:rPr lang="en-US" sz="1200" b="1" dirty="0">
                          <a:solidFill>
                            <a:srgbClr val="FF0000"/>
                          </a:solidFill>
                        </a:rPr>
                        <a:t>]</a:t>
                      </a:r>
                    </a:p>
                  </a:txBody>
                  <a:tcPr marL="68580" marR="68580" marT="34290" marB="34290" anchor="ctr"/>
                </a:tc>
                <a:extLst>
                  <a:ext uri="{0D108BD9-81ED-4DB2-BD59-A6C34878D82A}">
                    <a16:rowId xmlns:a16="http://schemas.microsoft.com/office/drawing/2014/main" val="10003"/>
                  </a:ext>
                </a:extLst>
              </a:tr>
              <a:tr h="278130">
                <a:tc>
                  <a:txBody>
                    <a:bodyPr/>
                    <a:lstStyle/>
                    <a:p>
                      <a:pPr algn="ctr"/>
                      <a:r>
                        <a:rPr lang="en-US" sz="1200" b="0" dirty="0">
                          <a:solidFill>
                            <a:schemeClr val="tx1"/>
                          </a:solidFill>
                        </a:rPr>
                        <a:t>011</a:t>
                      </a:r>
                    </a:p>
                  </a:txBody>
                  <a:tcPr marL="68580" marR="68580" marT="34290" marB="34290" anchor="ctr"/>
                </a:tc>
                <a:tc>
                  <a:txBody>
                    <a:bodyPr/>
                    <a:lstStyle/>
                    <a:p>
                      <a:pPr algn="ctr"/>
                      <a:r>
                        <a:rPr lang="en-US" sz="1200" b="0" dirty="0">
                          <a:solidFill>
                            <a:schemeClr val="tx1"/>
                          </a:solidFill>
                        </a:rPr>
                        <a:t>Y</a:t>
                      </a:r>
                    </a:p>
                  </a:txBody>
                  <a:tcPr marL="68580" marR="68580" marT="34290" marB="34290" anchor="ctr"/>
                </a:tc>
                <a:tc>
                  <a:txBody>
                    <a:bodyPr/>
                    <a:lstStyle/>
                    <a:p>
                      <a:pPr algn="ctr"/>
                      <a:r>
                        <a:rPr lang="en-US" sz="1200" b="0" dirty="0">
                          <a:solidFill>
                            <a:schemeClr val="tx1"/>
                          </a:solidFill>
                        </a:rPr>
                        <a:t>00</a:t>
                      </a:r>
                    </a:p>
                  </a:txBody>
                  <a:tcPr marL="68580" marR="68580" marT="34290" marB="34290" anchor="ctr"/>
                </a:tc>
                <a:tc>
                  <a:txBody>
                    <a:bodyPr/>
                    <a:lstStyle/>
                    <a:p>
                      <a:pPr algn="ctr"/>
                      <a:r>
                        <a:rPr lang="en-US" sz="1200" b="0" dirty="0">
                          <a:solidFill>
                            <a:schemeClr val="tx1"/>
                          </a:solidFill>
                        </a:rPr>
                        <a:t>Memory[00011</a:t>
                      </a:r>
                      <a:r>
                        <a:rPr lang="en-US" sz="1200" b="0" baseline="-25000" dirty="0">
                          <a:solidFill>
                            <a:schemeClr val="tx1"/>
                          </a:solidFill>
                        </a:rPr>
                        <a:t>2</a:t>
                      </a:r>
                      <a:r>
                        <a:rPr lang="en-US" sz="1200" b="0" dirty="0">
                          <a:solidFill>
                            <a:schemeClr val="tx1"/>
                          </a:solidFill>
                        </a:rPr>
                        <a:t>]</a:t>
                      </a:r>
                    </a:p>
                  </a:txBody>
                  <a:tcPr marL="68580" marR="68580" marT="34290" marB="34290" anchor="ctr"/>
                </a:tc>
                <a:extLst>
                  <a:ext uri="{0D108BD9-81ED-4DB2-BD59-A6C34878D82A}">
                    <a16:rowId xmlns:a16="http://schemas.microsoft.com/office/drawing/2014/main" val="10004"/>
                  </a:ext>
                </a:extLst>
              </a:tr>
              <a:tr h="278130">
                <a:tc>
                  <a:txBody>
                    <a:bodyPr/>
                    <a:lstStyle/>
                    <a:p>
                      <a:pPr algn="ctr"/>
                      <a:r>
                        <a:rPr lang="en-US" sz="1200" b="0" dirty="0">
                          <a:solidFill>
                            <a:schemeClr val="tx1"/>
                          </a:solidFill>
                        </a:rPr>
                        <a:t>100</a:t>
                      </a:r>
                    </a:p>
                  </a:txBody>
                  <a:tcPr marL="68580" marR="68580" marT="34290" marB="34290" anchor="ctr"/>
                </a:tc>
                <a:tc>
                  <a:txBody>
                    <a:bodyPr/>
                    <a:lstStyle/>
                    <a:p>
                      <a:pPr algn="ctr"/>
                      <a:r>
                        <a:rPr lang="en-US" sz="1200" b="0" dirty="0">
                          <a:solidFill>
                            <a:schemeClr val="tx1"/>
                          </a:solidFill>
                        </a:rPr>
                        <a:t>N</a:t>
                      </a:r>
                    </a:p>
                  </a:txBody>
                  <a:tcPr marL="68580" marR="68580" marT="34290" marB="34290" anchor="ctr"/>
                </a:tc>
                <a:tc>
                  <a:txBody>
                    <a:bodyPr/>
                    <a:lstStyle/>
                    <a:p>
                      <a:pPr algn="ctr"/>
                      <a:endParaRPr lang="en-US" sz="1200" b="0">
                        <a:solidFill>
                          <a:schemeClr val="tx1"/>
                        </a:solidFill>
                      </a:endParaRPr>
                    </a:p>
                  </a:txBody>
                  <a:tcPr marL="68580" marR="68580" marT="34290" marB="34290" anchor="ctr"/>
                </a:tc>
                <a:tc>
                  <a:txBody>
                    <a:bodyPr/>
                    <a:lstStyle/>
                    <a:p>
                      <a:pPr algn="ctr"/>
                      <a:endParaRPr lang="en-US" sz="1200" b="0">
                        <a:solidFill>
                          <a:schemeClr val="tx1"/>
                        </a:solidFill>
                      </a:endParaRPr>
                    </a:p>
                  </a:txBody>
                  <a:tcPr marL="68580" marR="68580" marT="34290" marB="34290" anchor="ctr"/>
                </a:tc>
                <a:extLst>
                  <a:ext uri="{0D108BD9-81ED-4DB2-BD59-A6C34878D82A}">
                    <a16:rowId xmlns:a16="http://schemas.microsoft.com/office/drawing/2014/main" val="10005"/>
                  </a:ext>
                </a:extLst>
              </a:tr>
              <a:tr h="278130">
                <a:tc>
                  <a:txBody>
                    <a:bodyPr/>
                    <a:lstStyle/>
                    <a:p>
                      <a:pPr algn="ctr"/>
                      <a:r>
                        <a:rPr lang="en-US" sz="1200" b="0" dirty="0">
                          <a:solidFill>
                            <a:schemeClr val="tx1"/>
                          </a:solidFill>
                        </a:rPr>
                        <a:t>101</a:t>
                      </a:r>
                    </a:p>
                  </a:txBody>
                  <a:tcPr marL="68580" marR="68580" marT="34290" marB="34290" anchor="ctr"/>
                </a:tc>
                <a:tc>
                  <a:txBody>
                    <a:bodyPr/>
                    <a:lstStyle/>
                    <a:p>
                      <a:pPr algn="ctr"/>
                      <a:r>
                        <a:rPr lang="en-US" sz="1200" b="0" dirty="0">
                          <a:solidFill>
                            <a:schemeClr val="tx1"/>
                          </a:solidFill>
                        </a:rPr>
                        <a:t>N</a:t>
                      </a:r>
                    </a:p>
                  </a:txBody>
                  <a:tcPr marL="68580" marR="68580" marT="34290" marB="34290" anchor="ctr"/>
                </a:tc>
                <a:tc>
                  <a:txBody>
                    <a:bodyPr/>
                    <a:lstStyle/>
                    <a:p>
                      <a:pPr algn="ctr"/>
                      <a:endParaRPr lang="en-US" sz="1200" b="0">
                        <a:solidFill>
                          <a:schemeClr val="tx1"/>
                        </a:solidFill>
                      </a:endParaRPr>
                    </a:p>
                  </a:txBody>
                  <a:tcPr marL="68580" marR="68580" marT="34290" marB="34290" anchor="ctr"/>
                </a:tc>
                <a:tc>
                  <a:txBody>
                    <a:bodyPr/>
                    <a:lstStyle/>
                    <a:p>
                      <a:pPr algn="ctr"/>
                      <a:endParaRPr lang="en-US" sz="1200" b="0">
                        <a:solidFill>
                          <a:schemeClr val="tx1"/>
                        </a:solidFill>
                      </a:endParaRPr>
                    </a:p>
                  </a:txBody>
                  <a:tcPr marL="68580" marR="68580" marT="34290" marB="34290" anchor="ctr"/>
                </a:tc>
                <a:extLst>
                  <a:ext uri="{0D108BD9-81ED-4DB2-BD59-A6C34878D82A}">
                    <a16:rowId xmlns:a16="http://schemas.microsoft.com/office/drawing/2014/main" val="10006"/>
                  </a:ext>
                </a:extLst>
              </a:tr>
              <a:tr h="278130">
                <a:tc>
                  <a:txBody>
                    <a:bodyPr/>
                    <a:lstStyle/>
                    <a:p>
                      <a:pPr algn="ctr"/>
                      <a:r>
                        <a:rPr lang="en-US" sz="1200" b="0" dirty="0">
                          <a:solidFill>
                            <a:schemeClr val="tx1"/>
                          </a:solidFill>
                        </a:rPr>
                        <a:t>110</a:t>
                      </a:r>
                    </a:p>
                  </a:txBody>
                  <a:tcPr marL="68580" marR="68580" marT="34290" marB="34290" anchor="ctr"/>
                </a:tc>
                <a:tc>
                  <a:txBody>
                    <a:bodyPr/>
                    <a:lstStyle/>
                    <a:p>
                      <a:pPr algn="ctr"/>
                      <a:r>
                        <a:rPr lang="en-US" sz="1200" b="0" dirty="0">
                          <a:solidFill>
                            <a:schemeClr val="tx1"/>
                          </a:solidFill>
                        </a:rPr>
                        <a:t>Y</a:t>
                      </a:r>
                    </a:p>
                  </a:txBody>
                  <a:tcPr marL="68580" marR="68580" marT="34290" marB="34290" anchor="ctr"/>
                </a:tc>
                <a:tc>
                  <a:txBody>
                    <a:bodyPr/>
                    <a:lstStyle/>
                    <a:p>
                      <a:pPr algn="ctr"/>
                      <a:r>
                        <a:rPr lang="en-US" sz="1200" b="0" dirty="0">
                          <a:solidFill>
                            <a:schemeClr val="tx1"/>
                          </a:solidFill>
                        </a:rPr>
                        <a:t>10</a:t>
                      </a:r>
                    </a:p>
                  </a:txBody>
                  <a:tcPr marL="68580" marR="68580" marT="34290" marB="34290" anchor="ctr"/>
                </a:tc>
                <a:tc>
                  <a:txBody>
                    <a:bodyPr/>
                    <a:lstStyle/>
                    <a:p>
                      <a:pPr algn="ctr"/>
                      <a:r>
                        <a:rPr lang="en-US" sz="1200" b="0" dirty="0">
                          <a:solidFill>
                            <a:schemeClr val="tx1"/>
                          </a:solidFill>
                        </a:rPr>
                        <a:t>Memory[10110</a:t>
                      </a:r>
                      <a:r>
                        <a:rPr lang="en-US" sz="1200" b="0" baseline="-25000" dirty="0">
                          <a:solidFill>
                            <a:schemeClr val="tx1"/>
                          </a:solidFill>
                        </a:rPr>
                        <a:t>2</a:t>
                      </a:r>
                      <a:r>
                        <a:rPr lang="en-US" sz="1200" b="0" dirty="0">
                          <a:solidFill>
                            <a:schemeClr val="tx1"/>
                          </a:solidFill>
                        </a:rPr>
                        <a:t>]</a:t>
                      </a:r>
                    </a:p>
                  </a:txBody>
                  <a:tcPr marL="68580" marR="68580" marT="34290" marB="34290" anchor="ctr"/>
                </a:tc>
                <a:extLst>
                  <a:ext uri="{0D108BD9-81ED-4DB2-BD59-A6C34878D82A}">
                    <a16:rowId xmlns:a16="http://schemas.microsoft.com/office/drawing/2014/main" val="10007"/>
                  </a:ext>
                </a:extLst>
              </a:tr>
              <a:tr h="278130">
                <a:tc>
                  <a:txBody>
                    <a:bodyPr/>
                    <a:lstStyle/>
                    <a:p>
                      <a:pPr algn="ctr"/>
                      <a:r>
                        <a:rPr lang="en-US" sz="1200" dirty="0"/>
                        <a:t>111</a:t>
                      </a:r>
                    </a:p>
                  </a:txBody>
                  <a:tcPr marL="68580" marR="68580" marT="34290" marB="34290" anchor="ctr"/>
                </a:tc>
                <a:tc>
                  <a:txBody>
                    <a:bodyPr/>
                    <a:lstStyle/>
                    <a:p>
                      <a:pPr algn="ctr"/>
                      <a:r>
                        <a:rPr lang="en-US" sz="1200" dirty="0"/>
                        <a:t>N</a:t>
                      </a:r>
                    </a:p>
                  </a:txBody>
                  <a:tcPr marL="68580" marR="68580" marT="34290" marB="34290" anchor="ctr"/>
                </a:tc>
                <a:tc>
                  <a:txBody>
                    <a:bodyPr/>
                    <a:lstStyle/>
                    <a:p>
                      <a:pPr algn="ctr"/>
                      <a:endParaRPr lang="en-US" sz="1200"/>
                    </a:p>
                  </a:txBody>
                  <a:tcPr marL="68580" marR="68580" marT="34290" marB="34290" anchor="ctr"/>
                </a:tc>
                <a:tc>
                  <a:txBody>
                    <a:bodyPr/>
                    <a:lstStyle/>
                    <a:p>
                      <a:pPr algn="ctr"/>
                      <a:endParaRPr lang="en-US" sz="1200" dirty="0"/>
                    </a:p>
                  </a:txBody>
                  <a:tcPr marL="68580" marR="68580" marT="34290" marB="34290" anchor="ctr"/>
                </a:tc>
                <a:extLst>
                  <a:ext uri="{0D108BD9-81ED-4DB2-BD59-A6C34878D82A}">
                    <a16:rowId xmlns:a16="http://schemas.microsoft.com/office/drawing/2014/main" val="10008"/>
                  </a:ext>
                </a:extLst>
              </a:tr>
            </a:tbl>
          </a:graphicData>
        </a:graphic>
      </p:graphicFrame>
      <p:graphicFrame>
        <p:nvGraphicFramePr>
          <p:cNvPr id="8" name="Table 7"/>
          <p:cNvGraphicFramePr>
            <a:graphicFrameLocks noGrp="1"/>
          </p:cNvGraphicFramePr>
          <p:nvPr>
            <p:extLst/>
          </p:nvPr>
        </p:nvGraphicFramePr>
        <p:xfrm>
          <a:off x="1940985" y="942637"/>
          <a:ext cx="5263515" cy="556260"/>
        </p:xfrm>
        <a:graphic>
          <a:graphicData uri="http://schemas.openxmlformats.org/drawingml/2006/table">
            <a:tbl>
              <a:tblPr firstRow="1" bandRow="1">
                <a:tableStyleId>{5C22544A-7EE6-4342-B048-85BDC9FD1C3A}</a:tableStyleId>
              </a:tblPr>
              <a:tblGrid>
                <a:gridCol w="1670685">
                  <a:extLst>
                    <a:ext uri="{9D8B030D-6E8A-4147-A177-3AD203B41FA5}">
                      <a16:colId xmlns:a16="http://schemas.microsoft.com/office/drawing/2014/main" val="20000"/>
                    </a:ext>
                  </a:extLst>
                </a:gridCol>
                <a:gridCol w="1546860">
                  <a:extLst>
                    <a:ext uri="{9D8B030D-6E8A-4147-A177-3AD203B41FA5}">
                      <a16:colId xmlns:a16="http://schemas.microsoft.com/office/drawing/2014/main" val="20001"/>
                    </a:ext>
                  </a:extLst>
                </a:gridCol>
                <a:gridCol w="851535">
                  <a:extLst>
                    <a:ext uri="{9D8B030D-6E8A-4147-A177-3AD203B41FA5}">
                      <a16:colId xmlns:a16="http://schemas.microsoft.com/office/drawing/2014/main" val="20002"/>
                    </a:ext>
                  </a:extLst>
                </a:gridCol>
                <a:gridCol w="1194435">
                  <a:extLst>
                    <a:ext uri="{9D8B030D-6E8A-4147-A177-3AD203B41FA5}">
                      <a16:colId xmlns:a16="http://schemas.microsoft.com/office/drawing/2014/main" val="20003"/>
                    </a:ext>
                  </a:extLst>
                </a:gridCol>
              </a:tblGrid>
              <a:tr h="278130">
                <a:tc>
                  <a:txBody>
                    <a:bodyPr/>
                    <a:lstStyle/>
                    <a:p>
                      <a:pPr algn="ctr"/>
                      <a:r>
                        <a:rPr lang="en-US" sz="1200" baseline="0" dirty="0"/>
                        <a:t>Address (decimal)</a:t>
                      </a:r>
                      <a:endParaRPr lang="en-US" sz="1200" dirty="0"/>
                    </a:p>
                  </a:txBody>
                  <a:tcPr marL="68580" marR="68580" marT="34290" marB="34290" anchor="ctr"/>
                </a:tc>
                <a:tc>
                  <a:txBody>
                    <a:bodyPr/>
                    <a:lstStyle/>
                    <a:p>
                      <a:pPr algn="ctr"/>
                      <a:r>
                        <a:rPr lang="en-US" sz="1200" dirty="0"/>
                        <a:t>Address</a:t>
                      </a:r>
                      <a:r>
                        <a:rPr lang="en-US" sz="1200" baseline="0" dirty="0"/>
                        <a:t> (binary)</a:t>
                      </a:r>
                      <a:endParaRPr lang="en-US" sz="1200" dirty="0"/>
                    </a:p>
                  </a:txBody>
                  <a:tcPr marL="68580" marR="68580" marT="34290" marB="34290" anchor="ctr"/>
                </a:tc>
                <a:tc>
                  <a:txBody>
                    <a:bodyPr/>
                    <a:lstStyle/>
                    <a:p>
                      <a:pPr algn="ctr"/>
                      <a:r>
                        <a:rPr lang="en-US" sz="1200" dirty="0"/>
                        <a:t>Hit/miss</a:t>
                      </a:r>
                    </a:p>
                  </a:txBody>
                  <a:tcPr marL="68580" marR="68580" marT="34290" marB="34290" anchor="ctr"/>
                </a:tc>
                <a:tc>
                  <a:txBody>
                    <a:bodyPr/>
                    <a:lstStyle/>
                    <a:p>
                      <a:pPr algn="ctr"/>
                      <a:r>
                        <a:rPr lang="en-US" sz="1200" dirty="0"/>
                        <a:t>Cache block</a:t>
                      </a:r>
                    </a:p>
                  </a:txBody>
                  <a:tcPr marL="68580" marR="68580" marT="34290" marB="34290" anchor="ctr"/>
                </a:tc>
                <a:extLst>
                  <a:ext uri="{0D108BD9-81ED-4DB2-BD59-A6C34878D82A}">
                    <a16:rowId xmlns:a16="http://schemas.microsoft.com/office/drawing/2014/main" val="10000"/>
                  </a:ext>
                </a:extLst>
              </a:tr>
              <a:tr h="278130">
                <a:tc>
                  <a:txBody>
                    <a:bodyPr/>
                    <a:lstStyle/>
                    <a:p>
                      <a:pPr algn="ctr"/>
                      <a:r>
                        <a:rPr lang="en-US" sz="1200" dirty="0"/>
                        <a:t>18</a:t>
                      </a:r>
                    </a:p>
                  </a:txBody>
                  <a:tcPr marL="68580" marR="68580" marT="34290" marB="34290" anchor="ctr"/>
                </a:tc>
                <a:tc>
                  <a:txBody>
                    <a:bodyPr/>
                    <a:lstStyle/>
                    <a:p>
                      <a:pPr algn="ctr"/>
                      <a:r>
                        <a:rPr lang="en-US" sz="1200" dirty="0"/>
                        <a:t>10 010</a:t>
                      </a:r>
                    </a:p>
                  </a:txBody>
                  <a:tcPr marL="68580" marR="68580" marT="34290" marB="34290" anchor="ctr"/>
                </a:tc>
                <a:tc>
                  <a:txBody>
                    <a:bodyPr/>
                    <a:lstStyle/>
                    <a:p>
                      <a:pPr algn="ctr"/>
                      <a:r>
                        <a:rPr lang="en-US" sz="1200" dirty="0"/>
                        <a:t>Miss</a:t>
                      </a:r>
                    </a:p>
                  </a:txBody>
                  <a:tcPr marL="68580" marR="68580" marT="34290" marB="34290" anchor="ctr"/>
                </a:tc>
                <a:tc>
                  <a:txBody>
                    <a:bodyPr/>
                    <a:lstStyle/>
                    <a:p>
                      <a:pPr algn="ctr"/>
                      <a:r>
                        <a:rPr lang="en-US" sz="1200" dirty="0"/>
                        <a:t>010</a:t>
                      </a:r>
                    </a:p>
                  </a:txBody>
                  <a:tcPr marL="68580" marR="68580" marT="34290" marB="34290" anchor="ctr"/>
                </a:tc>
                <a:extLst>
                  <a:ext uri="{0D108BD9-81ED-4DB2-BD59-A6C34878D82A}">
                    <a16:rowId xmlns:a16="http://schemas.microsoft.com/office/drawing/2014/main" val="10001"/>
                  </a:ext>
                </a:extLst>
              </a:tr>
            </a:tbl>
          </a:graphicData>
        </a:graphic>
      </p:graphicFrame>
      <p:sp>
        <p:nvSpPr>
          <p:cNvPr id="3" name="Slide Number Placeholder 2"/>
          <p:cNvSpPr>
            <a:spLocks noGrp="1"/>
          </p:cNvSpPr>
          <p:nvPr>
            <p:ph type="sldNum" sz="quarter" idx="10"/>
          </p:nvPr>
        </p:nvSpPr>
        <p:spPr/>
        <p:txBody>
          <a:bodyPr/>
          <a:lstStyle/>
          <a:p>
            <a:fld id="{D9B6BDF2-6896-4B98-8776-C18582F63BA5}" type="slidenum">
              <a:rPr lang="zh-TW" altLang="en-US" smtClean="0"/>
              <a:pPr/>
              <a:t>24</a:t>
            </a:fld>
            <a:endParaRPr lang="zh-TW" altLang="en-US"/>
          </a:p>
        </p:txBody>
      </p:sp>
    </p:spTree>
    <p:extLst>
      <p:ext uri="{BB962C8B-B14F-4D97-AF65-F5344CB8AC3E}">
        <p14:creationId xmlns:p14="http://schemas.microsoft.com/office/powerpoint/2010/main" val="174205805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a:xfrm>
            <a:off x="950259" y="129780"/>
            <a:ext cx="6779279" cy="470856"/>
          </a:xfrm>
        </p:spPr>
        <p:txBody>
          <a:bodyPr/>
          <a:lstStyle/>
          <a:p>
            <a:r>
              <a:rPr lang="en-US" altLang="zh-TW" dirty="0"/>
              <a:t>Outline</a:t>
            </a:r>
          </a:p>
        </p:txBody>
      </p:sp>
      <p:sp>
        <p:nvSpPr>
          <p:cNvPr id="7171" name="Rectangle 3"/>
          <p:cNvSpPr>
            <a:spLocks noGrp="1" noChangeArrowheads="1"/>
          </p:cNvSpPr>
          <p:nvPr>
            <p:ph type="body" idx="1"/>
          </p:nvPr>
        </p:nvSpPr>
        <p:spPr>
          <a:xfrm>
            <a:off x="1414463" y="832248"/>
            <a:ext cx="6506766" cy="3703894"/>
          </a:xfrm>
        </p:spPr>
        <p:txBody>
          <a:bodyPr/>
          <a:lstStyle/>
          <a:p>
            <a:r>
              <a:rPr lang="en-US" altLang="zh-TW" sz="2000" dirty="0"/>
              <a:t>Memory hierarchy</a:t>
            </a:r>
          </a:p>
          <a:p>
            <a:r>
              <a:rPr lang="en-US" altLang="zh-TW" sz="2000" dirty="0"/>
              <a:t>The basics of caches</a:t>
            </a:r>
          </a:p>
          <a:p>
            <a:pPr lvl="1"/>
            <a:r>
              <a:rPr lang="en-US" altLang="zh-TW" sz="1800" dirty="0"/>
              <a:t>Direct-mapped cache</a:t>
            </a:r>
          </a:p>
          <a:p>
            <a:pPr lvl="1"/>
            <a:r>
              <a:rPr lang="en-US" altLang="zh-TW" sz="1800" dirty="0">
                <a:solidFill>
                  <a:srgbClr val="FF0000"/>
                </a:solidFill>
              </a:rPr>
              <a:t>Address sub-division</a:t>
            </a:r>
          </a:p>
          <a:p>
            <a:pPr lvl="1"/>
            <a:r>
              <a:rPr lang="en-US" altLang="zh-TW" sz="1800" dirty="0"/>
              <a:t>Cache hit and miss</a:t>
            </a:r>
          </a:p>
          <a:p>
            <a:pPr lvl="1"/>
            <a:r>
              <a:rPr lang="en-US" altLang="zh-TW" sz="1800" dirty="0"/>
              <a:t>Memory support</a:t>
            </a:r>
          </a:p>
          <a:p>
            <a:r>
              <a:rPr lang="en-US" altLang="zh-TW" sz="2000" dirty="0"/>
              <a:t>Measuring cache performance</a:t>
            </a:r>
          </a:p>
          <a:p>
            <a:r>
              <a:rPr lang="en-US" altLang="zh-TW" sz="2000" dirty="0"/>
              <a:t>Improving cache performance</a:t>
            </a:r>
          </a:p>
          <a:p>
            <a:pPr lvl="1"/>
            <a:r>
              <a:rPr lang="en-US" altLang="zh-TW" sz="1800" dirty="0"/>
              <a:t>Set associative cache</a:t>
            </a:r>
          </a:p>
          <a:p>
            <a:pPr lvl="1"/>
            <a:r>
              <a:rPr lang="en-US" altLang="zh-TW" sz="1800" dirty="0"/>
              <a:t>Multiple level cache</a:t>
            </a:r>
          </a:p>
        </p:txBody>
      </p:sp>
      <p:sp>
        <p:nvSpPr>
          <p:cNvPr id="5" name="Slide Number Placeholder 5">
            <a:extLst>
              <a:ext uri="{FF2B5EF4-FFF2-40B4-BE49-F238E27FC236}">
                <a16:creationId xmlns:a16="http://schemas.microsoft.com/office/drawing/2014/main" id="{FBEC8137-9B2A-4301-83A7-D595AE649AAE}"/>
              </a:ext>
            </a:extLst>
          </p:cNvPr>
          <p:cNvSpPr>
            <a:spLocks noGrp="1"/>
          </p:cNvSpPr>
          <p:nvPr>
            <p:ph type="sldNum" sz="quarter" idx="10"/>
          </p:nvPr>
        </p:nvSpPr>
        <p:spPr>
          <a:xfrm>
            <a:off x="6831013" y="4893471"/>
            <a:ext cx="2133600" cy="254794"/>
          </a:xfrm>
        </p:spPr>
        <p:txBody>
          <a:bodyPr/>
          <a:lstStyle/>
          <a:p>
            <a:fld id="{D9B6BDF2-6896-4B98-8776-C18582F63BA5}" type="slidenum">
              <a:rPr lang="zh-TW" altLang="en-US" smtClean="0"/>
              <a:pPr/>
              <a:t>25</a:t>
            </a:fld>
            <a:endParaRPr lang="zh-TW" altLang="en-US"/>
          </a:p>
        </p:txBody>
      </p:sp>
    </p:spTree>
    <p:extLst>
      <p:ext uri="{BB962C8B-B14F-4D97-AF65-F5344CB8AC3E}">
        <p14:creationId xmlns:p14="http://schemas.microsoft.com/office/powerpoint/2010/main" val="386524354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23235" name="標題 1"/>
          <p:cNvSpPr>
            <a:spLocks noGrp="1"/>
          </p:cNvSpPr>
          <p:nvPr>
            <p:ph type="title" idx="4294967295"/>
          </p:nvPr>
        </p:nvSpPr>
        <p:spPr>
          <a:xfrm>
            <a:off x="1002891" y="128589"/>
            <a:ext cx="6726648" cy="483470"/>
          </a:xfrm>
        </p:spPr>
        <p:txBody>
          <a:bodyPr/>
          <a:lstStyle/>
          <a:p>
            <a:r>
              <a:rPr lang="en-US" altLang="zh-CN" sz="3200" dirty="0">
                <a:solidFill>
                  <a:srgbClr val="002060"/>
                </a:solidFill>
              </a:rPr>
              <a:t>Memory Address</a:t>
            </a:r>
            <a:endParaRPr lang="zh-TW" altLang="en-US" sz="3200" dirty="0">
              <a:solidFill>
                <a:srgbClr val="002060"/>
              </a:solidFill>
            </a:endParaRPr>
          </a:p>
        </p:txBody>
      </p:sp>
      <p:sp>
        <p:nvSpPr>
          <p:cNvPr id="223237" name="文字方塊 30"/>
          <p:cNvSpPr txBox="1">
            <a:spLocks noChangeArrowheads="1"/>
          </p:cNvSpPr>
          <p:nvPr/>
        </p:nvSpPr>
        <p:spPr bwMode="auto">
          <a:xfrm>
            <a:off x="2614651" y="1107169"/>
            <a:ext cx="1322784"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新細明體" pitchFamily="18" charset="-120"/>
              </a:defRPr>
            </a:lvl1pPr>
            <a:lvl2pPr marL="742950" indent="-285750" eaLnBrk="0" hangingPunct="0">
              <a:defRPr kumimoji="1" sz="2400">
                <a:solidFill>
                  <a:schemeClr val="tx1"/>
                </a:solidFill>
                <a:latin typeface="Times New Roman" pitchFamily="18" charset="0"/>
                <a:ea typeface="新細明體" pitchFamily="18" charset="-120"/>
              </a:defRPr>
            </a:lvl2pPr>
            <a:lvl3pPr marL="1143000" indent="-228600" eaLnBrk="0" hangingPunct="0">
              <a:defRPr kumimoji="1" sz="2400">
                <a:solidFill>
                  <a:schemeClr val="tx1"/>
                </a:solidFill>
                <a:latin typeface="Times New Roman" pitchFamily="18" charset="0"/>
                <a:ea typeface="新細明體" pitchFamily="18" charset="-120"/>
              </a:defRPr>
            </a:lvl3pPr>
            <a:lvl4pPr marL="1600200" indent="-228600" eaLnBrk="0" hangingPunct="0">
              <a:defRPr kumimoji="1" sz="2400">
                <a:solidFill>
                  <a:schemeClr val="tx1"/>
                </a:solidFill>
                <a:latin typeface="Times New Roman" pitchFamily="18" charset="0"/>
                <a:ea typeface="新細明體" pitchFamily="18" charset="-120"/>
              </a:defRPr>
            </a:lvl4pPr>
            <a:lvl5pPr marL="2057400" indent="-228600" eaLnBrk="0" hangingPunct="0">
              <a:defRPr kumimoji="1" sz="2400">
                <a:solidFill>
                  <a:schemeClr val="tx1"/>
                </a:solidFill>
                <a:latin typeface="Times New Roman" pitchFamily="18" charset="0"/>
                <a:ea typeface="新細明體" pitchFamily="18" charset="-120"/>
              </a:defRPr>
            </a:lvl5pPr>
            <a:lvl6pPr marL="2514600" indent="-228600" eaLnBrk="0" fontAlgn="base" hangingPunct="0">
              <a:spcBef>
                <a:spcPct val="0"/>
              </a:spcBef>
              <a:spcAft>
                <a:spcPct val="0"/>
              </a:spcAft>
              <a:defRPr kumimoji="1" sz="2400">
                <a:solidFill>
                  <a:schemeClr val="tx1"/>
                </a:solidFill>
                <a:latin typeface="Times New Roman" pitchFamily="18" charset="0"/>
                <a:ea typeface="新細明體" pitchFamily="18" charset="-120"/>
              </a:defRPr>
            </a:lvl6pPr>
            <a:lvl7pPr marL="2971800" indent="-228600" eaLnBrk="0" fontAlgn="base" hangingPunct="0">
              <a:spcBef>
                <a:spcPct val="0"/>
              </a:spcBef>
              <a:spcAft>
                <a:spcPct val="0"/>
              </a:spcAft>
              <a:defRPr kumimoji="1" sz="2400">
                <a:solidFill>
                  <a:schemeClr val="tx1"/>
                </a:solidFill>
                <a:latin typeface="Times New Roman" pitchFamily="18" charset="0"/>
                <a:ea typeface="新細明體" pitchFamily="18" charset="-120"/>
              </a:defRPr>
            </a:lvl7pPr>
            <a:lvl8pPr marL="3429000" indent="-228600" eaLnBrk="0" fontAlgn="base" hangingPunct="0">
              <a:spcBef>
                <a:spcPct val="0"/>
              </a:spcBef>
              <a:spcAft>
                <a:spcPct val="0"/>
              </a:spcAft>
              <a:defRPr kumimoji="1" sz="2400">
                <a:solidFill>
                  <a:schemeClr val="tx1"/>
                </a:solidFill>
                <a:latin typeface="Times New Roman" pitchFamily="18" charset="0"/>
                <a:ea typeface="新細明體" pitchFamily="18" charset="-120"/>
              </a:defRPr>
            </a:lvl8pPr>
            <a:lvl9pPr marL="3886200" indent="-228600" eaLnBrk="0" fontAlgn="base" hangingPunct="0">
              <a:spcBef>
                <a:spcPct val="0"/>
              </a:spcBef>
              <a:spcAft>
                <a:spcPct val="0"/>
              </a:spcAft>
              <a:defRPr kumimoji="1" sz="2400">
                <a:solidFill>
                  <a:schemeClr val="tx1"/>
                </a:solidFill>
                <a:latin typeface="Times New Roman" pitchFamily="18" charset="0"/>
                <a:ea typeface="新細明體" pitchFamily="18" charset="-120"/>
              </a:defRPr>
            </a:lvl9pPr>
          </a:lstStyle>
          <a:p>
            <a:pPr algn="r" eaLnBrk="1" hangingPunct="1"/>
            <a:r>
              <a:rPr lang="en-US" altLang="zh-TW" sz="1200" b="1">
                <a:solidFill>
                  <a:srgbClr val="000000"/>
                </a:solidFill>
                <a:latin typeface="Calibri" panose="020F0502020204030204" pitchFamily="34" charset="0"/>
                <a:cs typeface="Calibri" panose="020F0502020204030204" pitchFamily="34" charset="0"/>
              </a:rPr>
              <a:t>100000</a:t>
            </a:r>
            <a:endParaRPr lang="zh-TW" altLang="en-US" sz="1200" b="1">
              <a:solidFill>
                <a:srgbClr val="000000"/>
              </a:solidFill>
              <a:latin typeface="Calibri" panose="020F0502020204030204" pitchFamily="34" charset="0"/>
              <a:cs typeface="Calibri" panose="020F0502020204030204" pitchFamily="34" charset="0"/>
            </a:endParaRPr>
          </a:p>
        </p:txBody>
      </p:sp>
      <p:sp>
        <p:nvSpPr>
          <p:cNvPr id="223238" name="文字方塊 31"/>
          <p:cNvSpPr txBox="1">
            <a:spLocks noChangeArrowheads="1"/>
          </p:cNvSpPr>
          <p:nvPr/>
        </p:nvSpPr>
        <p:spPr bwMode="auto">
          <a:xfrm>
            <a:off x="2637273" y="2478769"/>
            <a:ext cx="1322785"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新細明體" pitchFamily="18" charset="-120"/>
              </a:defRPr>
            </a:lvl1pPr>
            <a:lvl2pPr marL="742950" indent="-285750" eaLnBrk="0" hangingPunct="0">
              <a:defRPr kumimoji="1" sz="2400">
                <a:solidFill>
                  <a:schemeClr val="tx1"/>
                </a:solidFill>
                <a:latin typeface="Times New Roman" pitchFamily="18" charset="0"/>
                <a:ea typeface="新細明體" pitchFamily="18" charset="-120"/>
              </a:defRPr>
            </a:lvl2pPr>
            <a:lvl3pPr marL="1143000" indent="-228600" eaLnBrk="0" hangingPunct="0">
              <a:defRPr kumimoji="1" sz="2400">
                <a:solidFill>
                  <a:schemeClr val="tx1"/>
                </a:solidFill>
                <a:latin typeface="Times New Roman" pitchFamily="18" charset="0"/>
                <a:ea typeface="新細明體" pitchFamily="18" charset="-120"/>
              </a:defRPr>
            </a:lvl3pPr>
            <a:lvl4pPr marL="1600200" indent="-228600" eaLnBrk="0" hangingPunct="0">
              <a:defRPr kumimoji="1" sz="2400">
                <a:solidFill>
                  <a:schemeClr val="tx1"/>
                </a:solidFill>
                <a:latin typeface="Times New Roman" pitchFamily="18" charset="0"/>
                <a:ea typeface="新細明體" pitchFamily="18" charset="-120"/>
              </a:defRPr>
            </a:lvl4pPr>
            <a:lvl5pPr marL="2057400" indent="-228600" eaLnBrk="0" hangingPunct="0">
              <a:defRPr kumimoji="1" sz="2400">
                <a:solidFill>
                  <a:schemeClr val="tx1"/>
                </a:solidFill>
                <a:latin typeface="Times New Roman" pitchFamily="18" charset="0"/>
                <a:ea typeface="新細明體" pitchFamily="18" charset="-120"/>
              </a:defRPr>
            </a:lvl5pPr>
            <a:lvl6pPr marL="2514600" indent="-228600" eaLnBrk="0" fontAlgn="base" hangingPunct="0">
              <a:spcBef>
                <a:spcPct val="0"/>
              </a:spcBef>
              <a:spcAft>
                <a:spcPct val="0"/>
              </a:spcAft>
              <a:defRPr kumimoji="1" sz="2400">
                <a:solidFill>
                  <a:schemeClr val="tx1"/>
                </a:solidFill>
                <a:latin typeface="Times New Roman" pitchFamily="18" charset="0"/>
                <a:ea typeface="新細明體" pitchFamily="18" charset="-120"/>
              </a:defRPr>
            </a:lvl6pPr>
            <a:lvl7pPr marL="2971800" indent="-228600" eaLnBrk="0" fontAlgn="base" hangingPunct="0">
              <a:spcBef>
                <a:spcPct val="0"/>
              </a:spcBef>
              <a:spcAft>
                <a:spcPct val="0"/>
              </a:spcAft>
              <a:defRPr kumimoji="1" sz="2400">
                <a:solidFill>
                  <a:schemeClr val="tx1"/>
                </a:solidFill>
                <a:latin typeface="Times New Roman" pitchFamily="18" charset="0"/>
                <a:ea typeface="新細明體" pitchFamily="18" charset="-120"/>
              </a:defRPr>
            </a:lvl7pPr>
            <a:lvl8pPr marL="3429000" indent="-228600" eaLnBrk="0" fontAlgn="base" hangingPunct="0">
              <a:spcBef>
                <a:spcPct val="0"/>
              </a:spcBef>
              <a:spcAft>
                <a:spcPct val="0"/>
              </a:spcAft>
              <a:defRPr kumimoji="1" sz="2400">
                <a:solidFill>
                  <a:schemeClr val="tx1"/>
                </a:solidFill>
                <a:latin typeface="Times New Roman" pitchFamily="18" charset="0"/>
                <a:ea typeface="新細明體" pitchFamily="18" charset="-120"/>
              </a:defRPr>
            </a:lvl8pPr>
            <a:lvl9pPr marL="3886200" indent="-228600" eaLnBrk="0" fontAlgn="base" hangingPunct="0">
              <a:spcBef>
                <a:spcPct val="0"/>
              </a:spcBef>
              <a:spcAft>
                <a:spcPct val="0"/>
              </a:spcAft>
              <a:defRPr kumimoji="1" sz="2400">
                <a:solidFill>
                  <a:schemeClr val="tx1"/>
                </a:solidFill>
                <a:latin typeface="Times New Roman" pitchFamily="18" charset="0"/>
                <a:ea typeface="新細明體" pitchFamily="18" charset="-120"/>
              </a:defRPr>
            </a:lvl9pPr>
          </a:lstStyle>
          <a:p>
            <a:pPr algn="r" eaLnBrk="1" hangingPunct="1"/>
            <a:r>
              <a:rPr lang="en-US" altLang="zh-TW" sz="1200" b="1">
                <a:solidFill>
                  <a:srgbClr val="000000"/>
                </a:solidFill>
                <a:latin typeface="Calibri" panose="020F0502020204030204" pitchFamily="34" charset="0"/>
                <a:cs typeface="Calibri" panose="020F0502020204030204" pitchFamily="34" charset="0"/>
              </a:rPr>
              <a:t>101000</a:t>
            </a:r>
            <a:endParaRPr lang="zh-TW" altLang="en-US" sz="1200" b="1">
              <a:solidFill>
                <a:srgbClr val="000000"/>
              </a:solidFill>
              <a:latin typeface="Calibri" panose="020F0502020204030204" pitchFamily="34" charset="0"/>
              <a:cs typeface="Calibri" panose="020F0502020204030204" pitchFamily="34" charset="0"/>
            </a:endParaRPr>
          </a:p>
        </p:txBody>
      </p:sp>
      <p:sp>
        <p:nvSpPr>
          <p:cNvPr id="223239" name="文字方塊 32"/>
          <p:cNvSpPr txBox="1">
            <a:spLocks noChangeArrowheads="1"/>
          </p:cNvSpPr>
          <p:nvPr/>
        </p:nvSpPr>
        <p:spPr bwMode="auto">
          <a:xfrm>
            <a:off x="2614651" y="1823925"/>
            <a:ext cx="1322784"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新細明體" pitchFamily="18" charset="-120"/>
              </a:defRPr>
            </a:lvl1pPr>
            <a:lvl2pPr marL="742950" indent="-285750" eaLnBrk="0" hangingPunct="0">
              <a:defRPr kumimoji="1" sz="2400">
                <a:solidFill>
                  <a:schemeClr val="tx1"/>
                </a:solidFill>
                <a:latin typeface="Times New Roman" pitchFamily="18" charset="0"/>
                <a:ea typeface="新細明體" pitchFamily="18" charset="-120"/>
              </a:defRPr>
            </a:lvl2pPr>
            <a:lvl3pPr marL="1143000" indent="-228600" eaLnBrk="0" hangingPunct="0">
              <a:defRPr kumimoji="1" sz="2400">
                <a:solidFill>
                  <a:schemeClr val="tx1"/>
                </a:solidFill>
                <a:latin typeface="Times New Roman" pitchFamily="18" charset="0"/>
                <a:ea typeface="新細明體" pitchFamily="18" charset="-120"/>
              </a:defRPr>
            </a:lvl3pPr>
            <a:lvl4pPr marL="1600200" indent="-228600" eaLnBrk="0" hangingPunct="0">
              <a:defRPr kumimoji="1" sz="2400">
                <a:solidFill>
                  <a:schemeClr val="tx1"/>
                </a:solidFill>
                <a:latin typeface="Times New Roman" pitchFamily="18" charset="0"/>
                <a:ea typeface="新細明體" pitchFamily="18" charset="-120"/>
              </a:defRPr>
            </a:lvl4pPr>
            <a:lvl5pPr marL="2057400" indent="-228600" eaLnBrk="0" hangingPunct="0">
              <a:defRPr kumimoji="1" sz="2400">
                <a:solidFill>
                  <a:schemeClr val="tx1"/>
                </a:solidFill>
                <a:latin typeface="Times New Roman" pitchFamily="18" charset="0"/>
                <a:ea typeface="新細明體" pitchFamily="18" charset="-120"/>
              </a:defRPr>
            </a:lvl5pPr>
            <a:lvl6pPr marL="2514600" indent="-228600" eaLnBrk="0" fontAlgn="base" hangingPunct="0">
              <a:spcBef>
                <a:spcPct val="0"/>
              </a:spcBef>
              <a:spcAft>
                <a:spcPct val="0"/>
              </a:spcAft>
              <a:defRPr kumimoji="1" sz="2400">
                <a:solidFill>
                  <a:schemeClr val="tx1"/>
                </a:solidFill>
                <a:latin typeface="Times New Roman" pitchFamily="18" charset="0"/>
                <a:ea typeface="新細明體" pitchFamily="18" charset="-120"/>
              </a:defRPr>
            </a:lvl6pPr>
            <a:lvl7pPr marL="2971800" indent="-228600" eaLnBrk="0" fontAlgn="base" hangingPunct="0">
              <a:spcBef>
                <a:spcPct val="0"/>
              </a:spcBef>
              <a:spcAft>
                <a:spcPct val="0"/>
              </a:spcAft>
              <a:defRPr kumimoji="1" sz="2400">
                <a:solidFill>
                  <a:schemeClr val="tx1"/>
                </a:solidFill>
                <a:latin typeface="Times New Roman" pitchFamily="18" charset="0"/>
                <a:ea typeface="新細明體" pitchFamily="18" charset="-120"/>
              </a:defRPr>
            </a:lvl7pPr>
            <a:lvl8pPr marL="3429000" indent="-228600" eaLnBrk="0" fontAlgn="base" hangingPunct="0">
              <a:spcBef>
                <a:spcPct val="0"/>
              </a:spcBef>
              <a:spcAft>
                <a:spcPct val="0"/>
              </a:spcAft>
              <a:defRPr kumimoji="1" sz="2400">
                <a:solidFill>
                  <a:schemeClr val="tx1"/>
                </a:solidFill>
                <a:latin typeface="Times New Roman" pitchFamily="18" charset="0"/>
                <a:ea typeface="新細明體" pitchFamily="18" charset="-120"/>
              </a:defRPr>
            </a:lvl8pPr>
            <a:lvl9pPr marL="3886200" indent="-228600" eaLnBrk="0" fontAlgn="base" hangingPunct="0">
              <a:spcBef>
                <a:spcPct val="0"/>
              </a:spcBef>
              <a:spcAft>
                <a:spcPct val="0"/>
              </a:spcAft>
              <a:defRPr kumimoji="1" sz="2400">
                <a:solidFill>
                  <a:schemeClr val="tx1"/>
                </a:solidFill>
                <a:latin typeface="Times New Roman" pitchFamily="18" charset="0"/>
                <a:ea typeface="新細明體" pitchFamily="18" charset="-120"/>
              </a:defRPr>
            </a:lvl9pPr>
          </a:lstStyle>
          <a:p>
            <a:pPr algn="r" eaLnBrk="1" hangingPunct="1"/>
            <a:r>
              <a:rPr lang="en-US" altLang="zh-TW" sz="1200" b="1">
                <a:solidFill>
                  <a:srgbClr val="000000"/>
                </a:solidFill>
                <a:latin typeface="Calibri" panose="020F0502020204030204" pitchFamily="34" charset="0"/>
                <a:cs typeface="Calibri" panose="020F0502020204030204" pitchFamily="34" charset="0"/>
              </a:rPr>
              <a:t>100100</a:t>
            </a:r>
            <a:endParaRPr lang="zh-TW" altLang="en-US" sz="1200" b="1">
              <a:solidFill>
                <a:srgbClr val="000000"/>
              </a:solidFill>
              <a:latin typeface="Calibri" panose="020F0502020204030204" pitchFamily="34" charset="0"/>
              <a:cs typeface="Calibri" panose="020F0502020204030204" pitchFamily="34" charset="0"/>
            </a:endParaRPr>
          </a:p>
        </p:txBody>
      </p:sp>
      <p:sp>
        <p:nvSpPr>
          <p:cNvPr id="5" name="矩形 4"/>
          <p:cNvSpPr/>
          <p:nvPr/>
        </p:nvSpPr>
        <p:spPr>
          <a:xfrm>
            <a:off x="3910052" y="854565"/>
            <a:ext cx="2278856" cy="366950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TW" altLang="en-US" sz="1350" b="1">
              <a:solidFill>
                <a:srgbClr val="BAC8F1"/>
              </a:solidFill>
            </a:endParaRPr>
          </a:p>
        </p:txBody>
      </p:sp>
      <p:cxnSp>
        <p:nvCxnSpPr>
          <p:cNvPr id="8" name="直線接點 7"/>
          <p:cNvCxnSpPr/>
          <p:nvPr/>
        </p:nvCxnSpPr>
        <p:spPr>
          <a:xfrm>
            <a:off x="3937436" y="1162937"/>
            <a:ext cx="2203847"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直線接點 8"/>
          <p:cNvCxnSpPr/>
          <p:nvPr/>
        </p:nvCxnSpPr>
        <p:spPr>
          <a:xfrm>
            <a:off x="3937436" y="3185809"/>
            <a:ext cx="2203847"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直線接點 9"/>
          <p:cNvCxnSpPr/>
          <p:nvPr/>
        </p:nvCxnSpPr>
        <p:spPr>
          <a:xfrm>
            <a:off x="3937436" y="3862084"/>
            <a:ext cx="2203847"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直線接點 11"/>
          <p:cNvCxnSpPr/>
          <p:nvPr/>
        </p:nvCxnSpPr>
        <p:spPr>
          <a:xfrm>
            <a:off x="3937436" y="1838021"/>
            <a:ext cx="2203847"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直線接點 12"/>
          <p:cNvCxnSpPr/>
          <p:nvPr/>
        </p:nvCxnSpPr>
        <p:spPr>
          <a:xfrm>
            <a:off x="3937436" y="2505962"/>
            <a:ext cx="2203847"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直線接點 13"/>
          <p:cNvCxnSpPr/>
          <p:nvPr/>
        </p:nvCxnSpPr>
        <p:spPr>
          <a:xfrm>
            <a:off x="3937436" y="1335577"/>
            <a:ext cx="2203847" cy="0"/>
          </a:xfrm>
          <a:prstGeom prst="line">
            <a:avLst/>
          </a:prstGeom>
          <a:ln w="19050">
            <a:solidFill>
              <a:schemeClr val="tx1">
                <a:lumMod val="50000"/>
                <a:lumOff val="5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15" name="直線接點 14"/>
          <p:cNvCxnSpPr/>
          <p:nvPr/>
        </p:nvCxnSpPr>
        <p:spPr>
          <a:xfrm>
            <a:off x="3937436" y="1499884"/>
            <a:ext cx="2203847" cy="0"/>
          </a:xfrm>
          <a:prstGeom prst="line">
            <a:avLst/>
          </a:prstGeom>
          <a:ln w="19050">
            <a:solidFill>
              <a:schemeClr val="tx1">
                <a:lumMod val="50000"/>
                <a:lumOff val="5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16" name="直線接點 15"/>
          <p:cNvCxnSpPr/>
          <p:nvPr/>
        </p:nvCxnSpPr>
        <p:spPr>
          <a:xfrm>
            <a:off x="3937436" y="1679668"/>
            <a:ext cx="2203847" cy="0"/>
          </a:xfrm>
          <a:prstGeom prst="line">
            <a:avLst/>
          </a:prstGeom>
          <a:ln w="19050">
            <a:solidFill>
              <a:schemeClr val="tx1">
                <a:lumMod val="50000"/>
                <a:lumOff val="5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17" name="直線接點 16"/>
          <p:cNvCxnSpPr/>
          <p:nvPr/>
        </p:nvCxnSpPr>
        <p:spPr>
          <a:xfrm>
            <a:off x="3937436" y="2011852"/>
            <a:ext cx="2203847" cy="0"/>
          </a:xfrm>
          <a:prstGeom prst="line">
            <a:avLst/>
          </a:prstGeom>
          <a:ln w="19050">
            <a:solidFill>
              <a:schemeClr val="tx1">
                <a:lumMod val="50000"/>
                <a:lumOff val="5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18" name="直線接點 17"/>
          <p:cNvCxnSpPr/>
          <p:nvPr/>
        </p:nvCxnSpPr>
        <p:spPr>
          <a:xfrm>
            <a:off x="3937436" y="2174968"/>
            <a:ext cx="2203847" cy="0"/>
          </a:xfrm>
          <a:prstGeom prst="line">
            <a:avLst/>
          </a:prstGeom>
          <a:ln w="19050">
            <a:solidFill>
              <a:schemeClr val="tx1">
                <a:lumMod val="50000"/>
                <a:lumOff val="5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19" name="直線接點 18"/>
          <p:cNvCxnSpPr/>
          <p:nvPr/>
        </p:nvCxnSpPr>
        <p:spPr>
          <a:xfrm>
            <a:off x="3937436" y="2353562"/>
            <a:ext cx="2203847" cy="0"/>
          </a:xfrm>
          <a:prstGeom prst="line">
            <a:avLst/>
          </a:prstGeom>
          <a:ln w="19050">
            <a:solidFill>
              <a:schemeClr val="tx1">
                <a:lumMod val="50000"/>
                <a:lumOff val="5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20" name="直線接點 19"/>
          <p:cNvCxnSpPr/>
          <p:nvPr/>
        </p:nvCxnSpPr>
        <p:spPr>
          <a:xfrm>
            <a:off x="3937436" y="2686937"/>
            <a:ext cx="2203847" cy="0"/>
          </a:xfrm>
          <a:prstGeom prst="line">
            <a:avLst/>
          </a:prstGeom>
          <a:ln w="19050">
            <a:solidFill>
              <a:schemeClr val="tx1">
                <a:lumMod val="50000"/>
                <a:lumOff val="5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21" name="直線接點 20"/>
          <p:cNvCxnSpPr/>
          <p:nvPr/>
        </p:nvCxnSpPr>
        <p:spPr>
          <a:xfrm>
            <a:off x="3937436" y="2850052"/>
            <a:ext cx="2203847" cy="0"/>
          </a:xfrm>
          <a:prstGeom prst="line">
            <a:avLst/>
          </a:prstGeom>
          <a:ln w="19050">
            <a:solidFill>
              <a:schemeClr val="tx1">
                <a:lumMod val="50000"/>
                <a:lumOff val="5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22" name="直線接點 21"/>
          <p:cNvCxnSpPr/>
          <p:nvPr/>
        </p:nvCxnSpPr>
        <p:spPr>
          <a:xfrm>
            <a:off x="3937436" y="3028646"/>
            <a:ext cx="2203847" cy="0"/>
          </a:xfrm>
          <a:prstGeom prst="line">
            <a:avLst/>
          </a:prstGeom>
          <a:ln w="19050">
            <a:solidFill>
              <a:schemeClr val="tx1">
                <a:lumMod val="50000"/>
                <a:lumOff val="5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23" name="直線接點 22"/>
          <p:cNvCxnSpPr/>
          <p:nvPr/>
        </p:nvCxnSpPr>
        <p:spPr>
          <a:xfrm>
            <a:off x="3937436" y="3359640"/>
            <a:ext cx="2203847" cy="0"/>
          </a:xfrm>
          <a:prstGeom prst="line">
            <a:avLst/>
          </a:prstGeom>
          <a:ln w="19050">
            <a:solidFill>
              <a:schemeClr val="tx1">
                <a:lumMod val="50000"/>
                <a:lumOff val="5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24" name="直線接點 23"/>
          <p:cNvCxnSpPr/>
          <p:nvPr/>
        </p:nvCxnSpPr>
        <p:spPr>
          <a:xfrm>
            <a:off x="3937436" y="3523946"/>
            <a:ext cx="2203847" cy="0"/>
          </a:xfrm>
          <a:prstGeom prst="line">
            <a:avLst/>
          </a:prstGeom>
          <a:ln w="19050">
            <a:solidFill>
              <a:schemeClr val="tx1">
                <a:lumMod val="50000"/>
                <a:lumOff val="5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25" name="直線接點 24"/>
          <p:cNvCxnSpPr/>
          <p:nvPr/>
        </p:nvCxnSpPr>
        <p:spPr>
          <a:xfrm>
            <a:off x="3937436" y="3703731"/>
            <a:ext cx="2203847" cy="0"/>
          </a:xfrm>
          <a:prstGeom prst="line">
            <a:avLst/>
          </a:prstGeom>
          <a:ln w="19050">
            <a:solidFill>
              <a:schemeClr val="tx1">
                <a:lumMod val="50000"/>
                <a:lumOff val="50000"/>
              </a:schemeClr>
            </a:solidFill>
            <a:prstDash val="dash"/>
          </a:ln>
        </p:spPr>
        <p:style>
          <a:lnRef idx="1">
            <a:schemeClr val="accent1"/>
          </a:lnRef>
          <a:fillRef idx="0">
            <a:schemeClr val="accent1"/>
          </a:fillRef>
          <a:effectRef idx="0">
            <a:schemeClr val="accent1"/>
          </a:effectRef>
          <a:fontRef idx="minor">
            <a:schemeClr val="tx1"/>
          </a:fontRef>
        </p:style>
      </p:cxnSp>
      <p:sp>
        <p:nvSpPr>
          <p:cNvPr id="223260" name="矩形 863261"/>
          <p:cNvSpPr>
            <a:spLocks noChangeArrowheads="1"/>
          </p:cNvSpPr>
          <p:nvPr/>
        </p:nvSpPr>
        <p:spPr bwMode="auto">
          <a:xfrm>
            <a:off x="3288631" y="1297669"/>
            <a:ext cx="655949"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r"/>
            <a:r>
              <a:rPr lang="en-US" altLang="zh-TW" sz="1200" b="1">
                <a:solidFill>
                  <a:srgbClr val="000000"/>
                </a:solidFill>
                <a:latin typeface="Calibri" panose="020F0502020204030204" pitchFamily="34" charset="0"/>
                <a:cs typeface="Calibri" panose="020F0502020204030204" pitchFamily="34" charset="0"/>
              </a:rPr>
              <a:t>100001</a:t>
            </a:r>
            <a:endParaRPr lang="zh-TW" altLang="en-US" sz="1200" b="1">
              <a:solidFill>
                <a:srgbClr val="000000"/>
              </a:solidFill>
              <a:latin typeface="Calibri" panose="020F0502020204030204" pitchFamily="34" charset="0"/>
              <a:cs typeface="Calibri" panose="020F0502020204030204" pitchFamily="34" charset="0"/>
            </a:endParaRPr>
          </a:p>
        </p:txBody>
      </p:sp>
      <p:sp>
        <p:nvSpPr>
          <p:cNvPr id="223261" name="矩形 863262"/>
          <p:cNvSpPr>
            <a:spLocks noChangeArrowheads="1"/>
          </p:cNvSpPr>
          <p:nvPr/>
        </p:nvSpPr>
        <p:spPr bwMode="auto">
          <a:xfrm>
            <a:off x="3300537" y="1491740"/>
            <a:ext cx="655949"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r"/>
            <a:r>
              <a:rPr lang="en-US" altLang="zh-TW" sz="1200" b="1" dirty="0">
                <a:solidFill>
                  <a:srgbClr val="000000"/>
                </a:solidFill>
                <a:latin typeface="Calibri" panose="020F0502020204030204" pitchFamily="34" charset="0"/>
                <a:cs typeface="Calibri" panose="020F0502020204030204" pitchFamily="34" charset="0"/>
              </a:rPr>
              <a:t>100010</a:t>
            </a:r>
            <a:endParaRPr lang="zh-TW" altLang="en-US" sz="1200" b="1" dirty="0">
              <a:solidFill>
                <a:srgbClr val="000000"/>
              </a:solidFill>
              <a:latin typeface="Calibri" panose="020F0502020204030204" pitchFamily="34" charset="0"/>
              <a:cs typeface="Calibri" panose="020F0502020204030204" pitchFamily="34" charset="0"/>
            </a:endParaRPr>
          </a:p>
        </p:txBody>
      </p:sp>
      <p:sp>
        <p:nvSpPr>
          <p:cNvPr id="223262" name="矩形 863263"/>
          <p:cNvSpPr>
            <a:spLocks noChangeArrowheads="1"/>
          </p:cNvSpPr>
          <p:nvPr/>
        </p:nvSpPr>
        <p:spPr bwMode="auto">
          <a:xfrm>
            <a:off x="3276724" y="1652475"/>
            <a:ext cx="655949"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r"/>
            <a:r>
              <a:rPr lang="en-US" altLang="zh-TW" sz="1200" b="1">
                <a:solidFill>
                  <a:srgbClr val="000000"/>
                </a:solidFill>
                <a:latin typeface="Calibri" panose="020F0502020204030204" pitchFamily="34" charset="0"/>
                <a:cs typeface="Calibri" panose="020F0502020204030204" pitchFamily="34" charset="0"/>
              </a:rPr>
              <a:t>100011</a:t>
            </a:r>
            <a:endParaRPr lang="zh-TW" altLang="en-US" sz="1200" b="1">
              <a:solidFill>
                <a:srgbClr val="000000"/>
              </a:solidFill>
              <a:latin typeface="Calibri" panose="020F0502020204030204" pitchFamily="34" charset="0"/>
              <a:cs typeface="Calibri" panose="020F0502020204030204" pitchFamily="34" charset="0"/>
            </a:endParaRPr>
          </a:p>
        </p:txBody>
      </p:sp>
      <p:sp>
        <p:nvSpPr>
          <p:cNvPr id="223263" name="矩形 863264"/>
          <p:cNvSpPr>
            <a:spLocks noChangeArrowheads="1"/>
          </p:cNvSpPr>
          <p:nvPr/>
        </p:nvSpPr>
        <p:spPr bwMode="auto">
          <a:xfrm>
            <a:off x="3217107" y="1995375"/>
            <a:ext cx="727472"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r"/>
            <a:r>
              <a:rPr lang="en-US" altLang="zh-TW" sz="1200" b="1" dirty="0">
                <a:solidFill>
                  <a:srgbClr val="000000"/>
                </a:solidFill>
                <a:latin typeface="Calibri" panose="020F0502020204030204" pitchFamily="34" charset="0"/>
                <a:cs typeface="Calibri" panose="020F0502020204030204" pitchFamily="34" charset="0"/>
              </a:rPr>
              <a:t>100101</a:t>
            </a:r>
            <a:endParaRPr lang="zh-TW" altLang="en-US" sz="1200" b="1" dirty="0">
              <a:solidFill>
                <a:srgbClr val="000000"/>
              </a:solidFill>
              <a:latin typeface="Calibri" panose="020F0502020204030204" pitchFamily="34" charset="0"/>
              <a:cs typeface="Calibri" panose="020F0502020204030204" pitchFamily="34" charset="0"/>
            </a:endParaRPr>
          </a:p>
        </p:txBody>
      </p:sp>
      <p:sp>
        <p:nvSpPr>
          <p:cNvPr id="223264" name="矩形 863265"/>
          <p:cNvSpPr>
            <a:spLocks noChangeArrowheads="1"/>
          </p:cNvSpPr>
          <p:nvPr/>
        </p:nvSpPr>
        <p:spPr bwMode="auto">
          <a:xfrm>
            <a:off x="3288631" y="2303747"/>
            <a:ext cx="655949"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r"/>
            <a:r>
              <a:rPr lang="en-US" altLang="zh-TW" sz="1200" b="1">
                <a:solidFill>
                  <a:srgbClr val="000000"/>
                </a:solidFill>
                <a:latin typeface="Calibri" panose="020F0502020204030204" pitchFamily="34" charset="0"/>
                <a:cs typeface="Calibri" panose="020F0502020204030204" pitchFamily="34" charset="0"/>
              </a:rPr>
              <a:t>100111</a:t>
            </a:r>
            <a:endParaRPr lang="zh-TW" altLang="en-US" sz="1200" b="1">
              <a:solidFill>
                <a:srgbClr val="000000"/>
              </a:solidFill>
              <a:latin typeface="Calibri" panose="020F0502020204030204" pitchFamily="34" charset="0"/>
              <a:cs typeface="Calibri" panose="020F0502020204030204" pitchFamily="34" charset="0"/>
            </a:endParaRPr>
          </a:p>
        </p:txBody>
      </p:sp>
      <p:sp>
        <p:nvSpPr>
          <p:cNvPr id="223265" name="矩形 863266"/>
          <p:cNvSpPr>
            <a:spLocks noChangeArrowheads="1"/>
          </p:cNvSpPr>
          <p:nvPr/>
        </p:nvSpPr>
        <p:spPr bwMode="auto">
          <a:xfrm>
            <a:off x="3276724" y="2154919"/>
            <a:ext cx="655949"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r"/>
            <a:r>
              <a:rPr lang="en-US" altLang="zh-TW" sz="1200" b="1">
                <a:solidFill>
                  <a:srgbClr val="000000"/>
                </a:solidFill>
                <a:latin typeface="Calibri" panose="020F0502020204030204" pitchFamily="34" charset="0"/>
                <a:cs typeface="Calibri" panose="020F0502020204030204" pitchFamily="34" charset="0"/>
              </a:rPr>
              <a:t>100110</a:t>
            </a:r>
            <a:endParaRPr lang="zh-TW" altLang="en-US" sz="1200" b="1">
              <a:solidFill>
                <a:srgbClr val="000000"/>
              </a:solidFill>
              <a:latin typeface="Calibri" panose="020F0502020204030204" pitchFamily="34" charset="0"/>
              <a:cs typeface="Calibri" panose="020F0502020204030204" pitchFamily="34" charset="0"/>
            </a:endParaRPr>
          </a:p>
        </p:txBody>
      </p:sp>
      <p:sp>
        <p:nvSpPr>
          <p:cNvPr id="31" name="Slide Number Placeholder 5">
            <a:extLst>
              <a:ext uri="{FF2B5EF4-FFF2-40B4-BE49-F238E27FC236}">
                <a16:creationId xmlns:a16="http://schemas.microsoft.com/office/drawing/2014/main" id="{90036E2A-AB07-4671-B54A-9D926AFD0878}"/>
              </a:ext>
            </a:extLst>
          </p:cNvPr>
          <p:cNvSpPr>
            <a:spLocks noGrp="1"/>
          </p:cNvSpPr>
          <p:nvPr>
            <p:ph type="sldNum" sz="quarter" idx="10"/>
          </p:nvPr>
        </p:nvSpPr>
        <p:spPr>
          <a:xfrm>
            <a:off x="6831013" y="4893471"/>
            <a:ext cx="2133600" cy="254794"/>
          </a:xfrm>
        </p:spPr>
        <p:txBody>
          <a:bodyPr/>
          <a:lstStyle/>
          <a:p>
            <a:fld id="{D9B6BDF2-6896-4B98-8776-C18582F63BA5}" type="slidenum">
              <a:rPr lang="zh-TW" altLang="en-US" smtClean="0"/>
              <a:pPr/>
              <a:t>26</a:t>
            </a:fld>
            <a:endParaRPr lang="zh-TW" altLang="en-US"/>
          </a:p>
        </p:txBody>
      </p:sp>
    </p:spTree>
    <p:extLst>
      <p:ext uri="{BB962C8B-B14F-4D97-AF65-F5344CB8AC3E}">
        <p14:creationId xmlns:p14="http://schemas.microsoft.com/office/powerpoint/2010/main" val="289938977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3794" name="Picture 6" descr="06~Figure_7"/>
          <p:cNvPicPr>
            <a:picLocks noChangeAspect="1" noChangeArrowheads="1"/>
          </p:cNvPicPr>
          <p:nvPr/>
        </p:nvPicPr>
        <p:blipFill rotWithShape="1">
          <a:blip r:embed="rId3"/>
          <a:srcRect l="-1" t="-1" r="41142" b="51047"/>
          <a:stretch/>
        </p:blipFill>
        <p:spPr bwMode="auto">
          <a:xfrm>
            <a:off x="3781849" y="833286"/>
            <a:ext cx="5073287" cy="3782960"/>
          </a:xfrm>
          <a:prstGeom prst="rect">
            <a:avLst/>
          </a:prstGeom>
          <a:noFill/>
          <a:ln w="9525">
            <a:noFill/>
            <a:miter lim="800000"/>
            <a:headEnd/>
            <a:tailEnd/>
          </a:ln>
        </p:spPr>
      </p:pic>
      <p:sp>
        <p:nvSpPr>
          <p:cNvPr id="33795" name="Rectangle 3"/>
          <p:cNvSpPr>
            <a:spLocks noGrp="1" noChangeArrowheads="1"/>
          </p:cNvSpPr>
          <p:nvPr>
            <p:ph type="body" idx="1"/>
          </p:nvPr>
        </p:nvSpPr>
        <p:spPr>
          <a:xfrm>
            <a:off x="346587" y="820535"/>
            <a:ext cx="4004187" cy="1480214"/>
          </a:xfrm>
        </p:spPr>
        <p:txBody>
          <a:bodyPr/>
          <a:lstStyle/>
          <a:p>
            <a:r>
              <a:rPr lang="en-US" altLang="zh-TW" sz="2000" dirty="0"/>
              <a:t>1K words, 1-word block</a:t>
            </a:r>
          </a:p>
          <a:p>
            <a:pPr lvl="1"/>
            <a:r>
              <a:rPr lang="en-US" altLang="zh-TW" sz="1600" dirty="0"/>
              <a:t>Cache index: lower 10 bits</a:t>
            </a:r>
          </a:p>
          <a:p>
            <a:pPr lvl="1"/>
            <a:r>
              <a:rPr lang="en-US" altLang="zh-TW" sz="1600" dirty="0"/>
              <a:t>Cache tag: upper 20 bits</a:t>
            </a:r>
          </a:p>
          <a:p>
            <a:pPr lvl="1"/>
            <a:r>
              <a:rPr lang="en-US" altLang="zh-TW" sz="1600" dirty="0"/>
              <a:t>Valid bit (When start up, valid is 0)</a:t>
            </a:r>
          </a:p>
        </p:txBody>
      </p:sp>
      <p:sp>
        <p:nvSpPr>
          <p:cNvPr id="33796" name="Rectangle 5"/>
          <p:cNvSpPr>
            <a:spLocks noChangeArrowheads="1"/>
          </p:cNvSpPr>
          <p:nvPr/>
        </p:nvSpPr>
        <p:spPr bwMode="auto">
          <a:xfrm>
            <a:off x="1020059" y="83844"/>
            <a:ext cx="4436844" cy="584775"/>
          </a:xfrm>
          <a:prstGeom prst="rect">
            <a:avLst/>
          </a:prstGeom>
          <a:noFill/>
          <a:ln w="12700">
            <a:noFill/>
            <a:miter lim="800000"/>
            <a:headEnd/>
            <a:tailEnd/>
          </a:ln>
        </p:spPr>
        <p:txBody>
          <a:bodyPr wrap="square">
            <a:spAutoFit/>
          </a:bodyPr>
          <a:lstStyle/>
          <a:p>
            <a:r>
              <a:rPr lang="en-US" altLang="zh-TW" sz="3200" b="1" dirty="0">
                <a:solidFill>
                  <a:srgbClr val="002060"/>
                </a:solidFill>
                <a:latin typeface="Calibri" panose="020F0502020204030204" pitchFamily="34" charset="0"/>
                <a:ea typeface="標楷體" pitchFamily="65" charset="-120"/>
                <a:cs typeface="Calibri" panose="020F0502020204030204" pitchFamily="34" charset="0"/>
              </a:rPr>
              <a:t>Address Subdivision</a:t>
            </a:r>
          </a:p>
        </p:txBody>
      </p:sp>
      <p:sp>
        <p:nvSpPr>
          <p:cNvPr id="6" name="Slide Number Placeholder 5">
            <a:extLst>
              <a:ext uri="{FF2B5EF4-FFF2-40B4-BE49-F238E27FC236}">
                <a16:creationId xmlns:a16="http://schemas.microsoft.com/office/drawing/2014/main" id="{97CC7C35-F854-470F-AC72-F52249EDC67F}"/>
              </a:ext>
            </a:extLst>
          </p:cNvPr>
          <p:cNvSpPr>
            <a:spLocks noGrp="1"/>
          </p:cNvSpPr>
          <p:nvPr>
            <p:ph type="sldNum" sz="quarter" idx="10"/>
          </p:nvPr>
        </p:nvSpPr>
        <p:spPr>
          <a:xfrm>
            <a:off x="6831013" y="4893471"/>
            <a:ext cx="2133600" cy="254794"/>
          </a:xfrm>
        </p:spPr>
        <p:txBody>
          <a:bodyPr/>
          <a:lstStyle/>
          <a:p>
            <a:fld id="{D9B6BDF2-6896-4B98-8776-C18582F63BA5}" type="slidenum">
              <a:rPr lang="zh-TW" altLang="en-US" smtClean="0"/>
              <a:pPr/>
              <a:t>27</a:t>
            </a:fld>
            <a:endParaRPr lang="zh-TW" altLang="en-US"/>
          </a:p>
        </p:txBody>
      </p:sp>
    </p:spTree>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Grp="1" noChangeArrowheads="1"/>
          </p:cNvSpPr>
          <p:nvPr>
            <p:ph type="title"/>
          </p:nvPr>
        </p:nvSpPr>
        <p:spPr>
          <a:xfrm>
            <a:off x="929149" y="129779"/>
            <a:ext cx="6800390" cy="482279"/>
          </a:xfrm>
        </p:spPr>
        <p:txBody>
          <a:bodyPr/>
          <a:lstStyle/>
          <a:p>
            <a:r>
              <a:rPr lang="en-US" altLang="zh-TW" dirty="0"/>
              <a:t>Example - Larger Block Size</a:t>
            </a:r>
            <a:endParaRPr lang="en-AU" altLang="zh-TW" dirty="0">
              <a:ea typeface="新細明體" pitchFamily="18" charset="-120"/>
            </a:endParaRPr>
          </a:p>
        </p:txBody>
      </p:sp>
      <p:sp>
        <p:nvSpPr>
          <p:cNvPr id="34819" name="Rectangle 3"/>
          <p:cNvSpPr>
            <a:spLocks noGrp="1" noChangeArrowheads="1"/>
          </p:cNvSpPr>
          <p:nvPr>
            <p:ph type="body" idx="1"/>
          </p:nvPr>
        </p:nvSpPr>
        <p:spPr>
          <a:xfrm>
            <a:off x="994134" y="835432"/>
            <a:ext cx="6315075" cy="2217483"/>
          </a:xfrm>
        </p:spPr>
        <p:txBody>
          <a:bodyPr/>
          <a:lstStyle/>
          <a:p>
            <a:r>
              <a:rPr lang="en-US" altLang="zh-TW" sz="2000" dirty="0"/>
              <a:t>64 blocks, 16 bytes/block</a:t>
            </a:r>
          </a:p>
          <a:p>
            <a:pPr lvl="1"/>
            <a:r>
              <a:rPr lang="en-US" altLang="zh-TW" sz="1800" dirty="0"/>
              <a:t>To what block number does address </a:t>
            </a:r>
            <a:r>
              <a:rPr lang="en-US" altLang="zh-TW" sz="1800" dirty="0">
                <a:solidFill>
                  <a:srgbClr val="0000FF"/>
                </a:solidFill>
              </a:rPr>
              <a:t>1200</a:t>
            </a:r>
            <a:r>
              <a:rPr lang="en-US" altLang="zh-TW" sz="1800" dirty="0"/>
              <a:t> map?</a:t>
            </a:r>
          </a:p>
          <a:p>
            <a:r>
              <a:rPr lang="en-US" altLang="zh-TW" sz="2000" dirty="0"/>
              <a:t>Block address = </a:t>
            </a:r>
            <a:r>
              <a:rPr lang="en-US" altLang="zh-TW" sz="2000" dirty="0">
                <a:latin typeface="Arial Unicode MS" pitchFamily="34" charset="-120"/>
                <a:ea typeface="Arial Unicode MS" pitchFamily="34" charset="-120"/>
                <a:cs typeface="Arial Unicode MS" pitchFamily="34" charset="-120"/>
                <a:sym typeface="Symbol" pitchFamily="18" charset="2"/>
              </a:rPr>
              <a:t></a:t>
            </a:r>
            <a:r>
              <a:rPr lang="en-US" altLang="zh-TW" sz="2000" dirty="0"/>
              <a:t>1200/16</a:t>
            </a:r>
            <a:r>
              <a:rPr lang="en-US" altLang="zh-TW" sz="2000" dirty="0">
                <a:sym typeface="Symbol" pitchFamily="18" charset="2"/>
              </a:rPr>
              <a:t></a:t>
            </a:r>
            <a:r>
              <a:rPr lang="en-US" altLang="zh-TW" sz="2000" dirty="0"/>
              <a:t> = 75</a:t>
            </a:r>
          </a:p>
          <a:p>
            <a:r>
              <a:rPr lang="en-US" altLang="zh-TW" sz="2000" dirty="0"/>
              <a:t>Block number = 75 modulo 64 = 11</a:t>
            </a:r>
            <a:endParaRPr lang="en-AU" altLang="zh-TW" sz="2000" dirty="0"/>
          </a:p>
          <a:p>
            <a:r>
              <a:rPr lang="en-US" altLang="zh-TW" sz="2000" dirty="0">
                <a:solidFill>
                  <a:schemeClr val="folHlink"/>
                </a:solidFill>
              </a:rPr>
              <a:t>1200=00…0010010110000</a:t>
            </a:r>
            <a:r>
              <a:rPr lang="en-US" altLang="zh-TW" sz="1200" dirty="0">
                <a:solidFill>
                  <a:schemeClr val="folHlink"/>
                </a:solidFill>
              </a:rPr>
              <a:t>2</a:t>
            </a:r>
            <a:r>
              <a:rPr lang="en-US" altLang="zh-TW" sz="2000" dirty="0">
                <a:solidFill>
                  <a:schemeClr val="folHlink"/>
                </a:solidFill>
              </a:rPr>
              <a:t> /</a:t>
            </a:r>
            <a:r>
              <a:rPr lang="en-US" altLang="zh-TW" sz="2000" dirty="0">
                <a:solidFill>
                  <a:srgbClr val="0000FF"/>
                </a:solidFill>
              </a:rPr>
              <a:t>10000</a:t>
            </a:r>
            <a:r>
              <a:rPr lang="en-US" altLang="zh-TW" sz="1200" dirty="0">
                <a:solidFill>
                  <a:srgbClr val="0000FF"/>
                </a:solidFill>
              </a:rPr>
              <a:t>2</a:t>
            </a:r>
            <a:r>
              <a:rPr lang="en-US" altLang="zh-TW" sz="2000" dirty="0">
                <a:solidFill>
                  <a:schemeClr val="folHlink"/>
                </a:solidFill>
              </a:rPr>
              <a:t> =&gt;00…001001011</a:t>
            </a:r>
            <a:r>
              <a:rPr lang="en-US" altLang="zh-TW" sz="1200" dirty="0">
                <a:solidFill>
                  <a:schemeClr val="folHlink"/>
                </a:solidFill>
              </a:rPr>
              <a:t>2</a:t>
            </a:r>
          </a:p>
          <a:p>
            <a:r>
              <a:rPr lang="en-US" altLang="zh-TW" sz="2000" dirty="0">
                <a:solidFill>
                  <a:schemeClr val="folHlink"/>
                </a:solidFill>
              </a:rPr>
              <a:t>1001011</a:t>
            </a:r>
            <a:r>
              <a:rPr lang="en-US" altLang="zh-TW" sz="1200" dirty="0">
                <a:solidFill>
                  <a:schemeClr val="folHlink"/>
                </a:solidFill>
              </a:rPr>
              <a:t>2</a:t>
            </a:r>
            <a:r>
              <a:rPr lang="en-US" altLang="zh-TW" sz="2000" dirty="0">
                <a:solidFill>
                  <a:schemeClr val="folHlink"/>
                </a:solidFill>
              </a:rPr>
              <a:t> =&gt;001011</a:t>
            </a:r>
            <a:r>
              <a:rPr lang="en-US" altLang="zh-TW" sz="1200" dirty="0">
                <a:solidFill>
                  <a:schemeClr val="folHlink"/>
                </a:solidFill>
              </a:rPr>
              <a:t>2</a:t>
            </a:r>
          </a:p>
        </p:txBody>
      </p:sp>
      <p:grpSp>
        <p:nvGrpSpPr>
          <p:cNvPr id="34820" name="Group 17"/>
          <p:cNvGrpSpPr>
            <a:grpSpLocks/>
          </p:cNvGrpSpPr>
          <p:nvPr/>
        </p:nvGrpSpPr>
        <p:grpSpPr bwMode="auto">
          <a:xfrm>
            <a:off x="2170201" y="3327143"/>
            <a:ext cx="5167121" cy="1156644"/>
            <a:chOff x="1239" y="2274"/>
            <a:chExt cx="3602" cy="781"/>
          </a:xfrm>
        </p:grpSpPr>
        <p:sp>
          <p:nvSpPr>
            <p:cNvPr id="34822" name="Rectangle 5"/>
            <p:cNvSpPr>
              <a:spLocks noChangeArrowheads="1"/>
            </p:cNvSpPr>
            <p:nvPr/>
          </p:nvSpPr>
          <p:spPr bwMode="auto">
            <a:xfrm>
              <a:off x="1278" y="2511"/>
              <a:ext cx="1868" cy="273"/>
            </a:xfrm>
            <a:prstGeom prst="rect">
              <a:avLst/>
            </a:prstGeom>
            <a:noFill/>
            <a:ln w="38100">
              <a:solidFill>
                <a:schemeClr val="tx1"/>
              </a:solidFill>
              <a:miter lim="800000"/>
              <a:headEnd/>
              <a:tailEnd/>
            </a:ln>
          </p:spPr>
          <p:txBody>
            <a:bodyPr wrap="none" anchor="ctr"/>
            <a:lstStyle/>
            <a:p>
              <a:pPr algn="ctr"/>
              <a:r>
                <a:rPr lang="en-US" altLang="zh-TW" sz="1350">
                  <a:latin typeface="Arial" pitchFamily="34" charset="0"/>
                </a:rPr>
                <a:t>Tag</a:t>
              </a:r>
              <a:endParaRPr lang="en-AU" altLang="zh-TW" sz="1350">
                <a:latin typeface="Arial" pitchFamily="34" charset="0"/>
              </a:endParaRPr>
            </a:p>
          </p:txBody>
        </p:sp>
        <p:sp>
          <p:nvSpPr>
            <p:cNvPr id="34823" name="Rectangle 6"/>
            <p:cNvSpPr>
              <a:spLocks noChangeArrowheads="1"/>
            </p:cNvSpPr>
            <p:nvPr/>
          </p:nvSpPr>
          <p:spPr bwMode="auto">
            <a:xfrm>
              <a:off x="3146" y="2511"/>
              <a:ext cx="933" cy="273"/>
            </a:xfrm>
            <a:prstGeom prst="rect">
              <a:avLst/>
            </a:prstGeom>
            <a:noFill/>
            <a:ln w="38100">
              <a:solidFill>
                <a:schemeClr val="tx1"/>
              </a:solidFill>
              <a:miter lim="800000"/>
              <a:headEnd/>
              <a:tailEnd/>
            </a:ln>
          </p:spPr>
          <p:txBody>
            <a:bodyPr wrap="none" anchor="ctr"/>
            <a:lstStyle/>
            <a:p>
              <a:pPr algn="ctr"/>
              <a:r>
                <a:rPr lang="en-US" altLang="zh-TW" sz="1350">
                  <a:latin typeface="Arial" pitchFamily="34" charset="0"/>
                </a:rPr>
                <a:t>Index</a:t>
              </a:r>
              <a:endParaRPr lang="en-AU" altLang="zh-TW" sz="1350">
                <a:latin typeface="Arial" pitchFamily="34" charset="0"/>
              </a:endParaRPr>
            </a:p>
          </p:txBody>
        </p:sp>
        <p:sp>
          <p:nvSpPr>
            <p:cNvPr id="34824" name="Rectangle 7"/>
            <p:cNvSpPr>
              <a:spLocks noChangeArrowheads="1"/>
            </p:cNvSpPr>
            <p:nvPr/>
          </p:nvSpPr>
          <p:spPr bwMode="auto">
            <a:xfrm>
              <a:off x="4079" y="2511"/>
              <a:ext cx="688" cy="273"/>
            </a:xfrm>
            <a:prstGeom prst="rect">
              <a:avLst/>
            </a:prstGeom>
            <a:noFill/>
            <a:ln w="38100">
              <a:solidFill>
                <a:schemeClr val="tx1"/>
              </a:solidFill>
              <a:miter lim="800000"/>
              <a:headEnd/>
              <a:tailEnd/>
            </a:ln>
          </p:spPr>
          <p:txBody>
            <a:bodyPr wrap="none" anchor="ctr"/>
            <a:lstStyle/>
            <a:p>
              <a:pPr algn="ctr"/>
              <a:r>
                <a:rPr lang="en-US" altLang="zh-TW" sz="1350">
                  <a:latin typeface="Arial" pitchFamily="34" charset="0"/>
                </a:rPr>
                <a:t>Offset</a:t>
              </a:r>
              <a:endParaRPr lang="en-AU" altLang="zh-TW" sz="1350">
                <a:latin typeface="Arial" pitchFamily="34" charset="0"/>
              </a:endParaRPr>
            </a:p>
          </p:txBody>
        </p:sp>
        <p:sp>
          <p:nvSpPr>
            <p:cNvPr id="34825" name="Text Box 8"/>
            <p:cNvSpPr txBox="1">
              <a:spLocks noChangeArrowheads="1"/>
            </p:cNvSpPr>
            <p:nvPr/>
          </p:nvSpPr>
          <p:spPr bwMode="auto">
            <a:xfrm>
              <a:off x="4596" y="2274"/>
              <a:ext cx="245" cy="271"/>
            </a:xfrm>
            <a:prstGeom prst="rect">
              <a:avLst/>
            </a:prstGeom>
            <a:noFill/>
            <a:ln w="9525">
              <a:noFill/>
              <a:miter lim="800000"/>
              <a:headEnd/>
              <a:tailEnd/>
            </a:ln>
          </p:spPr>
          <p:txBody>
            <a:bodyPr wrap="none">
              <a:spAutoFit/>
            </a:bodyPr>
            <a:lstStyle/>
            <a:p>
              <a:pPr algn="ctr"/>
              <a:r>
                <a:rPr lang="en-US" altLang="zh-TW" sz="1500" b="1">
                  <a:latin typeface="Arial" pitchFamily="34" charset="0"/>
                </a:rPr>
                <a:t>0</a:t>
              </a:r>
              <a:endParaRPr lang="en-AU" altLang="zh-TW" sz="1500" b="1">
                <a:latin typeface="Arial" pitchFamily="34" charset="0"/>
              </a:endParaRPr>
            </a:p>
          </p:txBody>
        </p:sp>
        <p:sp>
          <p:nvSpPr>
            <p:cNvPr id="34826" name="Text Box 9"/>
            <p:cNvSpPr txBox="1">
              <a:spLocks noChangeArrowheads="1"/>
            </p:cNvSpPr>
            <p:nvPr/>
          </p:nvSpPr>
          <p:spPr bwMode="auto">
            <a:xfrm>
              <a:off x="4063" y="2282"/>
              <a:ext cx="245" cy="271"/>
            </a:xfrm>
            <a:prstGeom prst="rect">
              <a:avLst/>
            </a:prstGeom>
            <a:noFill/>
            <a:ln w="9525">
              <a:noFill/>
              <a:miter lim="800000"/>
              <a:headEnd/>
              <a:tailEnd/>
            </a:ln>
          </p:spPr>
          <p:txBody>
            <a:bodyPr wrap="none">
              <a:spAutoFit/>
            </a:bodyPr>
            <a:lstStyle/>
            <a:p>
              <a:pPr algn="ctr"/>
              <a:r>
                <a:rPr lang="en-US" altLang="zh-TW" sz="1500" b="1">
                  <a:latin typeface="Arial" pitchFamily="34" charset="0"/>
                </a:rPr>
                <a:t>3</a:t>
              </a:r>
              <a:endParaRPr lang="en-AU" altLang="zh-TW" sz="1500" b="1">
                <a:latin typeface="Arial" pitchFamily="34" charset="0"/>
              </a:endParaRPr>
            </a:p>
          </p:txBody>
        </p:sp>
        <p:sp>
          <p:nvSpPr>
            <p:cNvPr id="34827" name="Text Box 10"/>
            <p:cNvSpPr txBox="1">
              <a:spLocks noChangeArrowheads="1"/>
            </p:cNvSpPr>
            <p:nvPr/>
          </p:nvSpPr>
          <p:spPr bwMode="auto">
            <a:xfrm>
              <a:off x="3805" y="2274"/>
              <a:ext cx="245" cy="271"/>
            </a:xfrm>
            <a:prstGeom prst="rect">
              <a:avLst/>
            </a:prstGeom>
            <a:noFill/>
            <a:ln w="9525">
              <a:noFill/>
              <a:miter lim="800000"/>
              <a:headEnd/>
              <a:tailEnd/>
            </a:ln>
          </p:spPr>
          <p:txBody>
            <a:bodyPr wrap="none">
              <a:spAutoFit/>
            </a:bodyPr>
            <a:lstStyle/>
            <a:p>
              <a:pPr algn="ctr"/>
              <a:r>
                <a:rPr lang="en-US" altLang="zh-TW" sz="1500" b="1">
                  <a:latin typeface="Arial" pitchFamily="34" charset="0"/>
                </a:rPr>
                <a:t>4</a:t>
              </a:r>
              <a:endParaRPr lang="en-AU" altLang="zh-TW" sz="1500" b="1">
                <a:latin typeface="Arial" pitchFamily="34" charset="0"/>
              </a:endParaRPr>
            </a:p>
          </p:txBody>
        </p:sp>
        <p:sp>
          <p:nvSpPr>
            <p:cNvPr id="34828" name="Text Box 11"/>
            <p:cNvSpPr txBox="1">
              <a:spLocks noChangeArrowheads="1"/>
            </p:cNvSpPr>
            <p:nvPr/>
          </p:nvSpPr>
          <p:spPr bwMode="auto">
            <a:xfrm>
              <a:off x="3121" y="2274"/>
              <a:ext cx="245" cy="271"/>
            </a:xfrm>
            <a:prstGeom prst="rect">
              <a:avLst/>
            </a:prstGeom>
            <a:noFill/>
            <a:ln w="9525">
              <a:noFill/>
              <a:miter lim="800000"/>
              <a:headEnd/>
              <a:tailEnd/>
            </a:ln>
          </p:spPr>
          <p:txBody>
            <a:bodyPr wrap="none">
              <a:spAutoFit/>
            </a:bodyPr>
            <a:lstStyle/>
            <a:p>
              <a:pPr algn="ctr"/>
              <a:r>
                <a:rPr lang="en-US" altLang="zh-TW" sz="1500" b="1">
                  <a:latin typeface="Arial" pitchFamily="34" charset="0"/>
                </a:rPr>
                <a:t>9</a:t>
              </a:r>
              <a:endParaRPr lang="en-AU" altLang="zh-TW" sz="1500" b="1">
                <a:latin typeface="Arial" pitchFamily="34" charset="0"/>
              </a:endParaRPr>
            </a:p>
          </p:txBody>
        </p:sp>
        <p:sp>
          <p:nvSpPr>
            <p:cNvPr id="34829" name="Text Box 12"/>
            <p:cNvSpPr txBox="1">
              <a:spLocks noChangeArrowheads="1"/>
            </p:cNvSpPr>
            <p:nvPr/>
          </p:nvSpPr>
          <p:spPr bwMode="auto">
            <a:xfrm>
              <a:off x="2877" y="2274"/>
              <a:ext cx="336" cy="271"/>
            </a:xfrm>
            <a:prstGeom prst="rect">
              <a:avLst/>
            </a:prstGeom>
            <a:noFill/>
            <a:ln w="9525">
              <a:noFill/>
              <a:miter lim="800000"/>
              <a:headEnd/>
              <a:tailEnd/>
            </a:ln>
          </p:spPr>
          <p:txBody>
            <a:bodyPr wrap="none">
              <a:spAutoFit/>
            </a:bodyPr>
            <a:lstStyle/>
            <a:p>
              <a:pPr algn="ctr"/>
              <a:r>
                <a:rPr lang="en-US" altLang="zh-TW" sz="1500" b="1">
                  <a:latin typeface="Arial" pitchFamily="34" charset="0"/>
                </a:rPr>
                <a:t>10</a:t>
              </a:r>
              <a:endParaRPr lang="en-AU" altLang="zh-TW" sz="1500" b="1">
                <a:latin typeface="Arial" pitchFamily="34" charset="0"/>
              </a:endParaRPr>
            </a:p>
          </p:txBody>
        </p:sp>
        <p:sp>
          <p:nvSpPr>
            <p:cNvPr id="34830" name="Text Box 13"/>
            <p:cNvSpPr txBox="1">
              <a:spLocks noChangeArrowheads="1"/>
            </p:cNvSpPr>
            <p:nvPr/>
          </p:nvSpPr>
          <p:spPr bwMode="auto">
            <a:xfrm>
              <a:off x="1239" y="2274"/>
              <a:ext cx="336" cy="271"/>
            </a:xfrm>
            <a:prstGeom prst="rect">
              <a:avLst/>
            </a:prstGeom>
            <a:noFill/>
            <a:ln w="9525">
              <a:noFill/>
              <a:miter lim="800000"/>
              <a:headEnd/>
              <a:tailEnd/>
            </a:ln>
          </p:spPr>
          <p:txBody>
            <a:bodyPr wrap="none">
              <a:spAutoFit/>
            </a:bodyPr>
            <a:lstStyle/>
            <a:p>
              <a:pPr algn="ctr"/>
              <a:r>
                <a:rPr lang="en-US" altLang="zh-TW" sz="1500" b="1">
                  <a:latin typeface="Arial" pitchFamily="34" charset="0"/>
                </a:rPr>
                <a:t>31</a:t>
              </a:r>
              <a:endParaRPr lang="en-AU" altLang="zh-TW" sz="1500" b="1">
                <a:latin typeface="Arial" pitchFamily="34" charset="0"/>
              </a:endParaRPr>
            </a:p>
          </p:txBody>
        </p:sp>
        <p:sp>
          <p:nvSpPr>
            <p:cNvPr id="34831" name="Text Box 14"/>
            <p:cNvSpPr txBox="1">
              <a:spLocks noChangeArrowheads="1"/>
            </p:cNvSpPr>
            <p:nvPr/>
          </p:nvSpPr>
          <p:spPr bwMode="auto">
            <a:xfrm>
              <a:off x="4134" y="2784"/>
              <a:ext cx="577" cy="271"/>
            </a:xfrm>
            <a:prstGeom prst="rect">
              <a:avLst/>
            </a:prstGeom>
            <a:noFill/>
            <a:ln w="9525">
              <a:noFill/>
              <a:miter lim="800000"/>
              <a:headEnd/>
              <a:tailEnd/>
            </a:ln>
          </p:spPr>
          <p:txBody>
            <a:bodyPr wrap="none">
              <a:spAutoFit/>
            </a:bodyPr>
            <a:lstStyle/>
            <a:p>
              <a:pPr algn="ctr"/>
              <a:r>
                <a:rPr lang="en-US" altLang="zh-TW" sz="1500" b="1">
                  <a:latin typeface="Arial" pitchFamily="34" charset="0"/>
                </a:rPr>
                <a:t>4 bits</a:t>
              </a:r>
              <a:endParaRPr lang="en-AU" altLang="zh-TW" sz="1500" b="1">
                <a:latin typeface="Arial" pitchFamily="34" charset="0"/>
              </a:endParaRPr>
            </a:p>
          </p:txBody>
        </p:sp>
        <p:sp>
          <p:nvSpPr>
            <p:cNvPr id="34832" name="Text Box 15"/>
            <p:cNvSpPr txBox="1">
              <a:spLocks noChangeArrowheads="1"/>
            </p:cNvSpPr>
            <p:nvPr/>
          </p:nvSpPr>
          <p:spPr bwMode="auto">
            <a:xfrm>
              <a:off x="3314" y="2784"/>
              <a:ext cx="577" cy="271"/>
            </a:xfrm>
            <a:prstGeom prst="rect">
              <a:avLst/>
            </a:prstGeom>
            <a:noFill/>
            <a:ln w="9525">
              <a:noFill/>
              <a:miter lim="800000"/>
              <a:headEnd/>
              <a:tailEnd/>
            </a:ln>
          </p:spPr>
          <p:txBody>
            <a:bodyPr wrap="none">
              <a:spAutoFit/>
            </a:bodyPr>
            <a:lstStyle/>
            <a:p>
              <a:pPr algn="ctr"/>
              <a:r>
                <a:rPr lang="en-US" altLang="zh-TW" sz="1500" b="1">
                  <a:latin typeface="Arial" pitchFamily="34" charset="0"/>
                </a:rPr>
                <a:t>6 bits</a:t>
              </a:r>
              <a:endParaRPr lang="en-AU" altLang="zh-TW" sz="1500" b="1">
                <a:latin typeface="Arial" pitchFamily="34" charset="0"/>
              </a:endParaRPr>
            </a:p>
          </p:txBody>
        </p:sp>
        <p:sp>
          <p:nvSpPr>
            <p:cNvPr id="34833" name="Text Box 16"/>
            <p:cNvSpPr txBox="1">
              <a:spLocks noChangeArrowheads="1"/>
            </p:cNvSpPr>
            <p:nvPr/>
          </p:nvSpPr>
          <p:spPr bwMode="auto">
            <a:xfrm>
              <a:off x="1892" y="2784"/>
              <a:ext cx="667" cy="271"/>
            </a:xfrm>
            <a:prstGeom prst="rect">
              <a:avLst/>
            </a:prstGeom>
            <a:noFill/>
            <a:ln w="9525">
              <a:noFill/>
              <a:miter lim="800000"/>
              <a:headEnd/>
              <a:tailEnd/>
            </a:ln>
          </p:spPr>
          <p:txBody>
            <a:bodyPr wrap="none">
              <a:spAutoFit/>
            </a:bodyPr>
            <a:lstStyle/>
            <a:p>
              <a:pPr algn="ctr"/>
              <a:r>
                <a:rPr lang="en-US" altLang="zh-TW" sz="1500" b="1" dirty="0">
                  <a:latin typeface="Arial" pitchFamily="34" charset="0"/>
                </a:rPr>
                <a:t>22 bits</a:t>
              </a:r>
              <a:endParaRPr lang="en-AU" altLang="zh-TW" sz="1500" b="1" dirty="0">
                <a:latin typeface="Arial" pitchFamily="34" charset="0"/>
              </a:endParaRPr>
            </a:p>
          </p:txBody>
        </p:sp>
      </p:grpSp>
      <p:sp>
        <p:nvSpPr>
          <p:cNvPr id="18" name="Slide Number Placeholder 5">
            <a:extLst>
              <a:ext uri="{FF2B5EF4-FFF2-40B4-BE49-F238E27FC236}">
                <a16:creationId xmlns:a16="http://schemas.microsoft.com/office/drawing/2014/main" id="{B7617E15-D81C-4F27-8BEF-121C24BE6607}"/>
              </a:ext>
            </a:extLst>
          </p:cNvPr>
          <p:cNvSpPr>
            <a:spLocks noGrp="1"/>
          </p:cNvSpPr>
          <p:nvPr>
            <p:ph type="sldNum" sz="quarter" idx="10"/>
          </p:nvPr>
        </p:nvSpPr>
        <p:spPr>
          <a:xfrm>
            <a:off x="6831013" y="4893471"/>
            <a:ext cx="2133600" cy="254794"/>
          </a:xfrm>
        </p:spPr>
        <p:txBody>
          <a:bodyPr/>
          <a:lstStyle/>
          <a:p>
            <a:fld id="{D9B6BDF2-6896-4B98-8776-C18582F63BA5}" type="slidenum">
              <a:rPr lang="zh-TW" altLang="en-US" smtClean="0"/>
              <a:pPr/>
              <a:t>28</a:t>
            </a:fld>
            <a:endParaRPr lang="zh-TW" alt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4258" name="Rectangle 2"/>
          <p:cNvSpPr>
            <a:spLocks noGrp="1" noChangeArrowheads="1"/>
          </p:cNvSpPr>
          <p:nvPr>
            <p:ph type="title" idx="4294967295"/>
          </p:nvPr>
        </p:nvSpPr>
        <p:spPr>
          <a:xfrm>
            <a:off x="951271" y="129779"/>
            <a:ext cx="6778267" cy="482279"/>
          </a:xfrm>
        </p:spPr>
        <p:txBody>
          <a:bodyPr/>
          <a:lstStyle/>
          <a:p>
            <a:r>
              <a:rPr lang="en-AU" altLang="zh-TW" sz="3200" dirty="0">
                <a:solidFill>
                  <a:srgbClr val="002060"/>
                </a:solidFill>
                <a:ea typeface="新細明體" pitchFamily="18" charset="-120"/>
              </a:rPr>
              <a:t>Example </a:t>
            </a:r>
            <a:r>
              <a:rPr lang="en-US" altLang="zh-CN" sz="3200" dirty="0">
                <a:solidFill>
                  <a:srgbClr val="002060"/>
                </a:solidFill>
                <a:ea typeface="新細明體" pitchFamily="18" charset="-120"/>
              </a:rPr>
              <a:t>-</a:t>
            </a:r>
            <a:r>
              <a:rPr lang="en-AU" altLang="zh-TW" sz="3200" dirty="0">
                <a:solidFill>
                  <a:srgbClr val="002060"/>
                </a:solidFill>
                <a:ea typeface="新細明體" pitchFamily="18" charset="-120"/>
              </a:rPr>
              <a:t> </a:t>
            </a:r>
            <a:r>
              <a:rPr lang="en-AU" altLang="zh-TW" sz="3200" dirty="0" err="1">
                <a:solidFill>
                  <a:srgbClr val="002060"/>
                </a:solidFill>
                <a:ea typeface="新細明體" pitchFamily="18" charset="-120"/>
              </a:rPr>
              <a:t>Intrinsity</a:t>
            </a:r>
            <a:r>
              <a:rPr lang="en-AU" altLang="zh-TW" sz="3200" dirty="0">
                <a:solidFill>
                  <a:srgbClr val="002060"/>
                </a:solidFill>
                <a:ea typeface="新細明體" pitchFamily="18" charset="-120"/>
              </a:rPr>
              <a:t> </a:t>
            </a:r>
            <a:r>
              <a:rPr lang="en-AU" altLang="zh-TW" sz="3200" dirty="0" err="1">
                <a:solidFill>
                  <a:srgbClr val="002060"/>
                </a:solidFill>
                <a:ea typeface="新細明體" pitchFamily="18" charset="-120"/>
              </a:rPr>
              <a:t>FastMATH</a:t>
            </a:r>
            <a:r>
              <a:rPr lang="en-AU" altLang="zh-TW" sz="3200" dirty="0">
                <a:solidFill>
                  <a:srgbClr val="002060"/>
                </a:solidFill>
                <a:ea typeface="新細明體" pitchFamily="18" charset="-120"/>
              </a:rPr>
              <a:t> (1)</a:t>
            </a:r>
          </a:p>
        </p:txBody>
      </p:sp>
      <p:sp>
        <p:nvSpPr>
          <p:cNvPr id="224259" name="Rectangle 3"/>
          <p:cNvSpPr>
            <a:spLocks noGrp="1" noChangeArrowheads="1"/>
          </p:cNvSpPr>
          <p:nvPr>
            <p:ph type="body" idx="4294967295"/>
          </p:nvPr>
        </p:nvSpPr>
        <p:spPr>
          <a:xfrm>
            <a:off x="1025013" y="844153"/>
            <a:ext cx="6987772" cy="2059303"/>
          </a:xfrm>
        </p:spPr>
        <p:txBody>
          <a:bodyPr/>
          <a:lstStyle/>
          <a:p>
            <a:r>
              <a:rPr lang="en-AU" altLang="zh-TW" sz="2000" dirty="0">
                <a:ea typeface="新細明體" pitchFamily="18" charset="-120"/>
              </a:rPr>
              <a:t>Embedded MIPS processor</a:t>
            </a:r>
          </a:p>
          <a:p>
            <a:pPr lvl="1"/>
            <a:r>
              <a:rPr lang="en-AU" altLang="zh-TW" sz="1800" dirty="0">
                <a:ea typeface="新細明體" pitchFamily="18" charset="-120"/>
              </a:rPr>
              <a:t>12-stage pipeline</a:t>
            </a:r>
          </a:p>
          <a:p>
            <a:pPr lvl="1"/>
            <a:r>
              <a:rPr lang="en-AU" altLang="zh-TW" sz="1800" dirty="0">
                <a:ea typeface="新細明體" pitchFamily="18" charset="-120"/>
              </a:rPr>
              <a:t>Instruction and data access on each cycle</a:t>
            </a:r>
          </a:p>
          <a:p>
            <a:r>
              <a:rPr lang="en-AU" altLang="zh-TW" sz="2000" dirty="0">
                <a:ea typeface="新細明體" pitchFamily="18" charset="-120"/>
              </a:rPr>
              <a:t>Split cache: Separate I-cache and D-cache</a:t>
            </a:r>
          </a:p>
          <a:p>
            <a:pPr lvl="1"/>
            <a:r>
              <a:rPr lang="en-AU" altLang="zh-TW" sz="1800" dirty="0">
                <a:ea typeface="新細明體" pitchFamily="18" charset="-120"/>
              </a:rPr>
              <a:t>Each </a:t>
            </a:r>
            <a:r>
              <a:rPr lang="en-AU" altLang="zh-TW" sz="1800" dirty="0">
                <a:solidFill>
                  <a:srgbClr val="FF0000"/>
                </a:solidFill>
                <a:ea typeface="新細明體" pitchFamily="18" charset="-120"/>
              </a:rPr>
              <a:t>16KB: 256 blocks </a:t>
            </a:r>
            <a:r>
              <a:rPr lang="en-US" altLang="zh-TW" sz="1800" dirty="0">
                <a:solidFill>
                  <a:srgbClr val="FF0000"/>
                </a:solidFill>
                <a:cs typeface="Arial" pitchFamily="34" charset="0"/>
              </a:rPr>
              <a:t>×</a:t>
            </a:r>
            <a:r>
              <a:rPr lang="en-AU" altLang="zh-TW" sz="1800" dirty="0">
                <a:solidFill>
                  <a:srgbClr val="FF0000"/>
                </a:solidFill>
                <a:ea typeface="新細明體" pitchFamily="18" charset="-120"/>
              </a:rPr>
              <a:t> 16 words/block</a:t>
            </a:r>
          </a:p>
        </p:txBody>
      </p:sp>
      <p:sp>
        <p:nvSpPr>
          <p:cNvPr id="5" name="Slide Number Placeholder 5">
            <a:extLst>
              <a:ext uri="{FF2B5EF4-FFF2-40B4-BE49-F238E27FC236}">
                <a16:creationId xmlns:a16="http://schemas.microsoft.com/office/drawing/2014/main" id="{E1788F90-72AE-4F9D-A857-6BB9D8A5474C}"/>
              </a:ext>
            </a:extLst>
          </p:cNvPr>
          <p:cNvSpPr>
            <a:spLocks noGrp="1"/>
          </p:cNvSpPr>
          <p:nvPr>
            <p:ph type="sldNum" sz="quarter" idx="10"/>
          </p:nvPr>
        </p:nvSpPr>
        <p:spPr>
          <a:xfrm>
            <a:off x="6831013" y="4893471"/>
            <a:ext cx="2133600" cy="254794"/>
          </a:xfrm>
        </p:spPr>
        <p:txBody>
          <a:bodyPr/>
          <a:lstStyle/>
          <a:p>
            <a:fld id="{D9B6BDF2-6896-4B98-8776-C18582F63BA5}" type="slidenum">
              <a:rPr lang="zh-TW" altLang="en-US" smtClean="0"/>
              <a:pPr/>
              <a:t>29</a:t>
            </a:fld>
            <a:endParaRPr lang="zh-TW" altLang="en-US"/>
          </a:p>
        </p:txBody>
      </p:sp>
    </p:spTree>
    <p:extLst>
      <p:ext uri="{BB962C8B-B14F-4D97-AF65-F5344CB8AC3E}">
        <p14:creationId xmlns:p14="http://schemas.microsoft.com/office/powerpoint/2010/main" val="41228304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6306" name="Rectangle 2"/>
          <p:cNvSpPr>
            <a:spLocks noGrp="1" noChangeArrowheads="1"/>
          </p:cNvSpPr>
          <p:nvPr>
            <p:ph type="title" idx="4294967295"/>
          </p:nvPr>
        </p:nvSpPr>
        <p:spPr>
          <a:xfrm>
            <a:off x="1054511" y="135731"/>
            <a:ext cx="6675028" cy="468953"/>
          </a:xfrm>
        </p:spPr>
        <p:txBody>
          <a:bodyPr/>
          <a:lstStyle/>
          <a:p>
            <a:r>
              <a:rPr lang="en-AU" altLang="zh-TW" sz="3200" dirty="0">
                <a:solidFill>
                  <a:srgbClr val="002060"/>
                </a:solidFill>
                <a:ea typeface="新細明體" pitchFamily="18" charset="-120"/>
              </a:rPr>
              <a:t>Example - </a:t>
            </a:r>
            <a:r>
              <a:rPr lang="en-AU" altLang="zh-TW" sz="3200" dirty="0" err="1">
                <a:solidFill>
                  <a:srgbClr val="002060"/>
                </a:solidFill>
                <a:ea typeface="新細明體" pitchFamily="18" charset="-120"/>
              </a:rPr>
              <a:t>Intrinsity</a:t>
            </a:r>
            <a:r>
              <a:rPr lang="en-AU" altLang="zh-TW" sz="3200" dirty="0">
                <a:solidFill>
                  <a:srgbClr val="002060"/>
                </a:solidFill>
                <a:ea typeface="新細明體" pitchFamily="18" charset="-120"/>
              </a:rPr>
              <a:t> </a:t>
            </a:r>
            <a:r>
              <a:rPr lang="en-AU" altLang="zh-TW" sz="3200" dirty="0" err="1">
                <a:solidFill>
                  <a:srgbClr val="002060"/>
                </a:solidFill>
                <a:ea typeface="新細明體" pitchFamily="18" charset="-120"/>
              </a:rPr>
              <a:t>FastMATH</a:t>
            </a:r>
            <a:r>
              <a:rPr lang="en-AU" altLang="zh-TW" sz="3200" dirty="0">
                <a:solidFill>
                  <a:srgbClr val="002060"/>
                </a:solidFill>
                <a:ea typeface="新細明體" pitchFamily="18" charset="-120"/>
              </a:rPr>
              <a:t> (2)</a:t>
            </a:r>
          </a:p>
        </p:txBody>
      </p:sp>
      <p:pic>
        <p:nvPicPr>
          <p:cNvPr id="226307" name="Picture 3" descr="f05-09-P374493"/>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799965" y="897732"/>
            <a:ext cx="6209370" cy="36300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26309" name="Rectangle 5"/>
          <p:cNvSpPr>
            <a:spLocks noChangeArrowheads="1"/>
          </p:cNvSpPr>
          <p:nvPr/>
        </p:nvSpPr>
        <p:spPr bwMode="auto">
          <a:xfrm>
            <a:off x="648930" y="873152"/>
            <a:ext cx="2551470" cy="4974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0" lvl="1" eaLnBrk="0" hangingPunct="0">
              <a:lnSpc>
                <a:spcPct val="90000"/>
              </a:lnSpc>
              <a:spcBef>
                <a:spcPct val="15000"/>
              </a:spcBef>
              <a:buClr>
                <a:srgbClr val="FF9900"/>
              </a:buClr>
              <a:buSzPct val="75000"/>
              <a:buFont typeface="Wingdings" pitchFamily="2" charset="2"/>
              <a:buNone/>
            </a:pPr>
            <a:r>
              <a:rPr lang="en-AU" altLang="zh-TW" sz="1350" b="1" dirty="0">
                <a:solidFill>
                  <a:srgbClr val="002060"/>
                </a:solidFill>
              </a:rPr>
              <a:t>Cache: 16KB</a:t>
            </a:r>
          </a:p>
          <a:p>
            <a:pPr marL="0" lvl="1" eaLnBrk="0" hangingPunct="0">
              <a:lnSpc>
                <a:spcPct val="90000"/>
              </a:lnSpc>
              <a:spcBef>
                <a:spcPct val="15000"/>
              </a:spcBef>
              <a:buClr>
                <a:srgbClr val="FF9900"/>
              </a:buClr>
              <a:buSzPct val="75000"/>
              <a:buFont typeface="Wingdings" pitchFamily="2" charset="2"/>
              <a:buNone/>
            </a:pPr>
            <a:r>
              <a:rPr lang="en-AU" altLang="zh-TW" sz="1350" b="1" dirty="0">
                <a:solidFill>
                  <a:srgbClr val="002060"/>
                </a:solidFill>
              </a:rPr>
              <a:t>256 blocks </a:t>
            </a:r>
            <a:r>
              <a:rPr lang="en-US" altLang="zh-TW" sz="1350" b="1" dirty="0">
                <a:solidFill>
                  <a:srgbClr val="002060"/>
                </a:solidFill>
              </a:rPr>
              <a:t>×</a:t>
            </a:r>
            <a:r>
              <a:rPr lang="en-AU" altLang="zh-TW" sz="1350" b="1" dirty="0">
                <a:solidFill>
                  <a:srgbClr val="002060"/>
                </a:solidFill>
              </a:rPr>
              <a:t> 16 words/block</a:t>
            </a:r>
          </a:p>
        </p:txBody>
      </p:sp>
      <p:sp>
        <p:nvSpPr>
          <p:cNvPr id="8" name="Slide Number Placeholder 5">
            <a:extLst>
              <a:ext uri="{FF2B5EF4-FFF2-40B4-BE49-F238E27FC236}">
                <a16:creationId xmlns:a16="http://schemas.microsoft.com/office/drawing/2014/main" id="{FD6E61B6-8A7C-486E-9D5E-C5F76ED17B96}"/>
              </a:ext>
            </a:extLst>
          </p:cNvPr>
          <p:cNvSpPr>
            <a:spLocks noGrp="1"/>
          </p:cNvSpPr>
          <p:nvPr>
            <p:ph type="sldNum" sz="quarter" idx="10"/>
          </p:nvPr>
        </p:nvSpPr>
        <p:spPr>
          <a:xfrm>
            <a:off x="6831013" y="4893471"/>
            <a:ext cx="2133600" cy="254794"/>
          </a:xfrm>
        </p:spPr>
        <p:txBody>
          <a:bodyPr/>
          <a:lstStyle/>
          <a:p>
            <a:fld id="{D9B6BDF2-6896-4B98-8776-C18582F63BA5}" type="slidenum">
              <a:rPr lang="zh-TW" altLang="en-US" smtClean="0"/>
              <a:pPr/>
              <a:t>30</a:t>
            </a:fld>
            <a:endParaRPr lang="zh-TW" altLang="en-US"/>
          </a:p>
        </p:txBody>
      </p:sp>
    </p:spTree>
    <p:extLst>
      <p:ext uri="{BB962C8B-B14F-4D97-AF65-F5344CB8AC3E}">
        <p14:creationId xmlns:p14="http://schemas.microsoft.com/office/powerpoint/2010/main" val="36510899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ChangeArrowheads="1"/>
          </p:cNvSpPr>
          <p:nvPr>
            <p:ph type="title"/>
          </p:nvPr>
        </p:nvSpPr>
        <p:spPr>
          <a:xfrm>
            <a:off x="966019" y="129779"/>
            <a:ext cx="6763519" cy="489653"/>
          </a:xfrm>
        </p:spPr>
        <p:txBody>
          <a:bodyPr/>
          <a:lstStyle/>
          <a:p>
            <a:r>
              <a:rPr lang="en-US" altLang="zh-TW" dirty="0"/>
              <a:t>Block Size Considerations</a:t>
            </a:r>
            <a:endParaRPr lang="en-AU" altLang="zh-TW" dirty="0">
              <a:ea typeface="新細明體" pitchFamily="18" charset="-120"/>
            </a:endParaRPr>
          </a:p>
        </p:txBody>
      </p:sp>
      <p:sp>
        <p:nvSpPr>
          <p:cNvPr id="35843" name="Rectangle 3"/>
          <p:cNvSpPr>
            <a:spLocks noGrp="1" noChangeArrowheads="1"/>
          </p:cNvSpPr>
          <p:nvPr>
            <p:ph type="body" idx="1"/>
          </p:nvPr>
        </p:nvSpPr>
        <p:spPr>
          <a:xfrm>
            <a:off x="988142" y="844153"/>
            <a:ext cx="7698658" cy="3307518"/>
          </a:xfrm>
        </p:spPr>
        <p:txBody>
          <a:bodyPr/>
          <a:lstStyle/>
          <a:p>
            <a:r>
              <a:rPr lang="en-US" altLang="zh-TW" sz="2000" dirty="0"/>
              <a:t>Larger blocks should reduce miss rate</a:t>
            </a:r>
          </a:p>
          <a:p>
            <a:pPr lvl="1"/>
            <a:r>
              <a:rPr lang="en-US" altLang="zh-TW" sz="1800" dirty="0"/>
              <a:t>Due to spatial locality</a:t>
            </a:r>
          </a:p>
          <a:p>
            <a:r>
              <a:rPr lang="en-US" altLang="zh-TW" sz="2000" dirty="0"/>
              <a:t>But in a fixed-sized cache</a:t>
            </a:r>
          </a:p>
          <a:p>
            <a:pPr lvl="1"/>
            <a:r>
              <a:rPr lang="en-US" altLang="zh-TW" sz="1800" dirty="0"/>
              <a:t>Larger blocks </a:t>
            </a:r>
            <a:r>
              <a:rPr lang="en-US" altLang="zh-TW" sz="1800" dirty="0">
                <a:sym typeface="Symbol" pitchFamily="18" charset="2"/>
              </a:rPr>
              <a:t> fewer number of blocks</a:t>
            </a:r>
          </a:p>
          <a:p>
            <a:pPr lvl="2"/>
            <a:r>
              <a:rPr lang="en-US" altLang="zh-TW" sz="1600" dirty="0">
                <a:sym typeface="Symbol" pitchFamily="18" charset="2"/>
              </a:rPr>
              <a:t>More competition  increased miss rate</a:t>
            </a:r>
          </a:p>
          <a:p>
            <a:r>
              <a:rPr lang="en-US" altLang="zh-TW" sz="2000" dirty="0">
                <a:sym typeface="Symbol" pitchFamily="18" charset="2"/>
              </a:rPr>
              <a:t>Larger miss penalty</a:t>
            </a:r>
          </a:p>
          <a:p>
            <a:pPr lvl="1"/>
            <a:r>
              <a:rPr lang="en-US" altLang="zh-TW" sz="1800" dirty="0">
                <a:sym typeface="Symbol" pitchFamily="18" charset="2"/>
              </a:rPr>
              <a:t>Larger blocks  pollution</a:t>
            </a:r>
          </a:p>
          <a:p>
            <a:pPr lvl="1"/>
            <a:r>
              <a:rPr lang="en-US" altLang="zh-TW" sz="1800" dirty="0">
                <a:sym typeface="Symbol" pitchFamily="18" charset="2"/>
              </a:rPr>
              <a:t>Can override benefit of reduced miss rate</a:t>
            </a:r>
          </a:p>
          <a:p>
            <a:pPr lvl="1"/>
            <a:r>
              <a:rPr lang="en-US" altLang="zh-TW" sz="1800" dirty="0">
                <a:sym typeface="Symbol" pitchFamily="18" charset="2"/>
              </a:rPr>
              <a:t>Early restart and critical-word-first can help</a:t>
            </a:r>
          </a:p>
        </p:txBody>
      </p:sp>
      <p:sp>
        <p:nvSpPr>
          <p:cNvPr id="5" name="Slide Number Placeholder 5">
            <a:extLst>
              <a:ext uri="{FF2B5EF4-FFF2-40B4-BE49-F238E27FC236}">
                <a16:creationId xmlns:a16="http://schemas.microsoft.com/office/drawing/2014/main" id="{2E8F5F3F-EEEF-4962-938E-D5704760E813}"/>
              </a:ext>
            </a:extLst>
          </p:cNvPr>
          <p:cNvSpPr>
            <a:spLocks noGrp="1"/>
          </p:cNvSpPr>
          <p:nvPr>
            <p:ph type="sldNum" sz="quarter" idx="10"/>
          </p:nvPr>
        </p:nvSpPr>
        <p:spPr>
          <a:xfrm>
            <a:off x="6831013" y="4893471"/>
            <a:ext cx="2133600" cy="254794"/>
          </a:xfrm>
        </p:spPr>
        <p:txBody>
          <a:bodyPr/>
          <a:lstStyle/>
          <a:p>
            <a:fld id="{D9B6BDF2-6896-4B98-8776-C18582F63BA5}" type="slidenum">
              <a:rPr lang="zh-TW" altLang="en-US" smtClean="0"/>
              <a:pPr/>
              <a:t>31</a:t>
            </a:fld>
            <a:endParaRPr lang="zh-TW" alt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6866" name="Picture 6" descr="07~Figure_7"/>
          <p:cNvPicPr>
            <a:picLocks noChangeAspect="1" noChangeArrowheads="1"/>
          </p:cNvPicPr>
          <p:nvPr/>
        </p:nvPicPr>
        <p:blipFill rotWithShape="1">
          <a:blip r:embed="rId3"/>
          <a:srcRect l="4172" t="-262" r="17934" b="61474"/>
          <a:stretch/>
        </p:blipFill>
        <p:spPr bwMode="auto">
          <a:xfrm>
            <a:off x="1542476" y="1425831"/>
            <a:ext cx="6532752" cy="3160917"/>
          </a:xfrm>
          <a:prstGeom prst="rect">
            <a:avLst/>
          </a:prstGeom>
          <a:noFill/>
          <a:ln w="9525">
            <a:noFill/>
            <a:miter lim="800000"/>
            <a:headEnd/>
            <a:tailEnd/>
          </a:ln>
        </p:spPr>
      </p:pic>
      <p:sp>
        <p:nvSpPr>
          <p:cNvPr id="36867" name="Rectangle 2"/>
          <p:cNvSpPr>
            <a:spLocks noGrp="1" noChangeArrowheads="1"/>
          </p:cNvSpPr>
          <p:nvPr>
            <p:ph type="body" idx="1"/>
          </p:nvPr>
        </p:nvSpPr>
        <p:spPr>
          <a:xfrm>
            <a:off x="1020635" y="817384"/>
            <a:ext cx="6346031" cy="443604"/>
          </a:xfrm>
        </p:spPr>
        <p:txBody>
          <a:bodyPr/>
          <a:lstStyle/>
          <a:p>
            <a:r>
              <a:rPr lang="en-US" altLang="zh-TW" dirty="0"/>
              <a:t>Increase block size tends to decrease miss rate</a:t>
            </a:r>
          </a:p>
        </p:txBody>
      </p:sp>
      <p:sp>
        <p:nvSpPr>
          <p:cNvPr id="36868" name="Rectangle 3"/>
          <p:cNvSpPr>
            <a:spLocks noChangeArrowheads="1"/>
          </p:cNvSpPr>
          <p:nvPr/>
        </p:nvSpPr>
        <p:spPr bwMode="auto">
          <a:xfrm>
            <a:off x="1040606" y="234554"/>
            <a:ext cx="1587104" cy="358378"/>
          </a:xfrm>
          <a:prstGeom prst="rect">
            <a:avLst/>
          </a:prstGeom>
          <a:noFill/>
          <a:ln w="12700">
            <a:noFill/>
            <a:miter lim="800000"/>
            <a:headEnd/>
            <a:tailEnd/>
          </a:ln>
        </p:spPr>
        <p:txBody>
          <a:bodyPr wrap="none" anchor="ctr"/>
          <a:lstStyle/>
          <a:p>
            <a:endParaRPr lang="zh-TW" altLang="en-US" sz="1350"/>
          </a:p>
        </p:txBody>
      </p:sp>
      <p:sp>
        <p:nvSpPr>
          <p:cNvPr id="36869" name="Rectangle 4"/>
          <p:cNvSpPr>
            <a:spLocks noGrp="1" noChangeArrowheads="1"/>
          </p:cNvSpPr>
          <p:nvPr>
            <p:ph type="title"/>
          </p:nvPr>
        </p:nvSpPr>
        <p:spPr>
          <a:xfrm>
            <a:off x="981075" y="171450"/>
            <a:ext cx="6682979" cy="433234"/>
          </a:xfrm>
        </p:spPr>
        <p:txBody>
          <a:bodyPr/>
          <a:lstStyle/>
          <a:p>
            <a:r>
              <a:rPr lang="en-US" altLang="zh-TW" dirty="0"/>
              <a:t>Block Size on Performance</a:t>
            </a:r>
          </a:p>
        </p:txBody>
      </p:sp>
      <p:sp>
        <p:nvSpPr>
          <p:cNvPr id="7" name="Slide Number Placeholder 5">
            <a:extLst>
              <a:ext uri="{FF2B5EF4-FFF2-40B4-BE49-F238E27FC236}">
                <a16:creationId xmlns:a16="http://schemas.microsoft.com/office/drawing/2014/main" id="{48075AD5-029E-4AAC-BDED-AEF599DD97A8}"/>
              </a:ext>
            </a:extLst>
          </p:cNvPr>
          <p:cNvSpPr>
            <a:spLocks noGrp="1"/>
          </p:cNvSpPr>
          <p:nvPr>
            <p:ph type="sldNum" sz="quarter" idx="10"/>
          </p:nvPr>
        </p:nvSpPr>
        <p:spPr>
          <a:xfrm>
            <a:off x="6831013" y="4893471"/>
            <a:ext cx="2133600" cy="254794"/>
          </a:xfrm>
        </p:spPr>
        <p:txBody>
          <a:bodyPr/>
          <a:lstStyle/>
          <a:p>
            <a:fld id="{D9B6BDF2-6896-4B98-8776-C18582F63BA5}" type="slidenum">
              <a:rPr lang="zh-TW" altLang="en-US" smtClean="0"/>
              <a:pPr/>
              <a:t>32</a:t>
            </a:fld>
            <a:endParaRPr lang="zh-TW" altLang="en-US"/>
          </a:p>
        </p:txBody>
      </p:sp>
    </p:spTree>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a:xfrm>
            <a:off x="950259" y="129780"/>
            <a:ext cx="6779279" cy="470856"/>
          </a:xfrm>
        </p:spPr>
        <p:txBody>
          <a:bodyPr/>
          <a:lstStyle/>
          <a:p>
            <a:r>
              <a:rPr lang="en-US" altLang="zh-TW" dirty="0"/>
              <a:t>Outline</a:t>
            </a:r>
          </a:p>
        </p:txBody>
      </p:sp>
      <p:sp>
        <p:nvSpPr>
          <p:cNvPr id="7171" name="Rectangle 3"/>
          <p:cNvSpPr>
            <a:spLocks noGrp="1" noChangeArrowheads="1"/>
          </p:cNvSpPr>
          <p:nvPr>
            <p:ph type="body" idx="1"/>
          </p:nvPr>
        </p:nvSpPr>
        <p:spPr>
          <a:xfrm>
            <a:off x="1414463" y="832248"/>
            <a:ext cx="6506766" cy="3703894"/>
          </a:xfrm>
        </p:spPr>
        <p:txBody>
          <a:bodyPr/>
          <a:lstStyle/>
          <a:p>
            <a:r>
              <a:rPr lang="en-US" altLang="zh-TW" sz="2000" dirty="0"/>
              <a:t>Memory hierarchy</a:t>
            </a:r>
          </a:p>
          <a:p>
            <a:r>
              <a:rPr lang="en-US" altLang="zh-TW" sz="2000" dirty="0"/>
              <a:t>The basics of caches</a:t>
            </a:r>
          </a:p>
          <a:p>
            <a:pPr lvl="1"/>
            <a:r>
              <a:rPr lang="en-US" altLang="zh-TW" sz="1800" dirty="0"/>
              <a:t>Direct-mapped cache</a:t>
            </a:r>
          </a:p>
          <a:p>
            <a:pPr lvl="1"/>
            <a:r>
              <a:rPr lang="en-US" altLang="zh-TW" sz="1800" dirty="0"/>
              <a:t>Address sub-division</a:t>
            </a:r>
          </a:p>
          <a:p>
            <a:pPr lvl="1"/>
            <a:r>
              <a:rPr lang="en-US" altLang="zh-TW" sz="1800" dirty="0">
                <a:solidFill>
                  <a:srgbClr val="FF0000"/>
                </a:solidFill>
              </a:rPr>
              <a:t>Cache hit and miss</a:t>
            </a:r>
          </a:p>
          <a:p>
            <a:pPr lvl="1"/>
            <a:r>
              <a:rPr lang="en-US" altLang="zh-TW" sz="1800" dirty="0"/>
              <a:t>Memory support</a:t>
            </a:r>
          </a:p>
          <a:p>
            <a:r>
              <a:rPr lang="en-US" altLang="zh-TW" sz="2000" dirty="0"/>
              <a:t>Measuring cache performance</a:t>
            </a:r>
          </a:p>
          <a:p>
            <a:r>
              <a:rPr lang="en-US" altLang="zh-TW" sz="2000" dirty="0"/>
              <a:t>Improving cache performance</a:t>
            </a:r>
          </a:p>
          <a:p>
            <a:pPr lvl="1"/>
            <a:r>
              <a:rPr lang="en-US" altLang="zh-TW" sz="1800" dirty="0"/>
              <a:t>Set associative cache</a:t>
            </a:r>
          </a:p>
          <a:p>
            <a:pPr lvl="1"/>
            <a:r>
              <a:rPr lang="en-US" altLang="zh-TW" sz="1800" dirty="0"/>
              <a:t>Multiple level cache</a:t>
            </a:r>
          </a:p>
        </p:txBody>
      </p:sp>
      <p:sp>
        <p:nvSpPr>
          <p:cNvPr id="5" name="Slide Number Placeholder 5">
            <a:extLst>
              <a:ext uri="{FF2B5EF4-FFF2-40B4-BE49-F238E27FC236}">
                <a16:creationId xmlns:a16="http://schemas.microsoft.com/office/drawing/2014/main" id="{FBEC8137-9B2A-4301-83A7-D595AE649AAE}"/>
              </a:ext>
            </a:extLst>
          </p:cNvPr>
          <p:cNvSpPr>
            <a:spLocks noGrp="1"/>
          </p:cNvSpPr>
          <p:nvPr>
            <p:ph type="sldNum" sz="quarter" idx="10"/>
          </p:nvPr>
        </p:nvSpPr>
        <p:spPr>
          <a:xfrm>
            <a:off x="6831013" y="4893471"/>
            <a:ext cx="2133600" cy="254794"/>
          </a:xfrm>
        </p:spPr>
        <p:txBody>
          <a:bodyPr/>
          <a:lstStyle/>
          <a:p>
            <a:fld id="{D9B6BDF2-6896-4B98-8776-C18582F63BA5}" type="slidenum">
              <a:rPr lang="zh-TW" altLang="en-US" smtClean="0"/>
              <a:pPr/>
              <a:t>33</a:t>
            </a:fld>
            <a:endParaRPr lang="zh-TW" altLang="en-US"/>
          </a:p>
        </p:txBody>
      </p:sp>
    </p:spTree>
    <p:extLst>
      <p:ext uri="{BB962C8B-B14F-4D97-AF65-F5344CB8AC3E}">
        <p14:creationId xmlns:p14="http://schemas.microsoft.com/office/powerpoint/2010/main" val="182117457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Cache Hit and Miss</a:t>
            </a:r>
            <a:endParaRPr lang="zh-TW" altLang="en-US" dirty="0"/>
          </a:p>
        </p:txBody>
      </p:sp>
      <p:sp>
        <p:nvSpPr>
          <p:cNvPr id="3" name="內容版面配置區 2"/>
          <p:cNvSpPr>
            <a:spLocks noGrp="1"/>
          </p:cNvSpPr>
          <p:nvPr>
            <p:ph idx="1"/>
          </p:nvPr>
        </p:nvSpPr>
        <p:spPr>
          <a:xfrm>
            <a:off x="1047134" y="844153"/>
            <a:ext cx="7639665" cy="2916686"/>
          </a:xfrm>
        </p:spPr>
        <p:txBody>
          <a:bodyPr/>
          <a:lstStyle/>
          <a:p>
            <a:r>
              <a:rPr lang="en-US" altLang="zh-TW" dirty="0"/>
              <a:t>Cache read</a:t>
            </a:r>
          </a:p>
          <a:p>
            <a:pPr lvl="1"/>
            <a:r>
              <a:rPr lang="en-US" altLang="zh-TW" sz="1800" dirty="0"/>
              <a:t>Read hit</a:t>
            </a:r>
          </a:p>
          <a:p>
            <a:pPr lvl="1"/>
            <a:r>
              <a:rPr lang="en-US" altLang="zh-TW" sz="1800" dirty="0"/>
              <a:t>Read miss</a:t>
            </a:r>
          </a:p>
          <a:p>
            <a:r>
              <a:rPr lang="en-US" altLang="zh-TW" dirty="0"/>
              <a:t>Cache write</a:t>
            </a:r>
          </a:p>
          <a:p>
            <a:pPr lvl="1"/>
            <a:r>
              <a:rPr lang="en-US" altLang="zh-TW" sz="1800" dirty="0"/>
              <a:t>Write hit</a:t>
            </a:r>
          </a:p>
          <a:p>
            <a:pPr lvl="2"/>
            <a:r>
              <a:rPr lang="en-US" altLang="zh-TW" dirty="0"/>
              <a:t>Write-through</a:t>
            </a:r>
          </a:p>
          <a:p>
            <a:pPr lvl="2"/>
            <a:r>
              <a:rPr lang="en-US" altLang="zh-TW" dirty="0"/>
              <a:t>Write-back</a:t>
            </a:r>
          </a:p>
          <a:p>
            <a:pPr lvl="1"/>
            <a:r>
              <a:rPr lang="en-US" altLang="zh-TW" sz="1800" dirty="0"/>
              <a:t>Write miss </a:t>
            </a:r>
            <a:endParaRPr lang="zh-TW" altLang="en-US" sz="1800" dirty="0"/>
          </a:p>
        </p:txBody>
      </p:sp>
      <p:sp>
        <p:nvSpPr>
          <p:cNvPr id="5" name="Slide Number Placeholder 5">
            <a:extLst>
              <a:ext uri="{FF2B5EF4-FFF2-40B4-BE49-F238E27FC236}">
                <a16:creationId xmlns:a16="http://schemas.microsoft.com/office/drawing/2014/main" id="{CB009620-9A58-41AD-9D81-D3DB215D03F0}"/>
              </a:ext>
            </a:extLst>
          </p:cNvPr>
          <p:cNvSpPr>
            <a:spLocks noGrp="1"/>
          </p:cNvSpPr>
          <p:nvPr>
            <p:ph type="sldNum" sz="quarter" idx="10"/>
          </p:nvPr>
        </p:nvSpPr>
        <p:spPr>
          <a:xfrm>
            <a:off x="6831013" y="4893471"/>
            <a:ext cx="2133600" cy="254794"/>
          </a:xfrm>
        </p:spPr>
        <p:txBody>
          <a:bodyPr/>
          <a:lstStyle/>
          <a:p>
            <a:fld id="{D9B6BDF2-6896-4B98-8776-C18582F63BA5}" type="slidenum">
              <a:rPr lang="zh-TW" altLang="en-US" smtClean="0"/>
              <a:pPr/>
              <a:t>34</a:t>
            </a:fld>
            <a:endParaRPr lang="zh-TW" altLang="en-US"/>
          </a:p>
        </p:txBody>
      </p:sp>
    </p:spTree>
    <p:extLst>
      <p:ext uri="{BB962C8B-B14F-4D97-AF65-F5344CB8AC3E}">
        <p14:creationId xmlns:p14="http://schemas.microsoft.com/office/powerpoint/2010/main" val="318370480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p:cNvSpPr>
            <a:spLocks noGrp="1" noChangeArrowheads="1"/>
          </p:cNvSpPr>
          <p:nvPr>
            <p:ph type="title"/>
          </p:nvPr>
        </p:nvSpPr>
        <p:spPr>
          <a:xfrm>
            <a:off x="914401" y="129779"/>
            <a:ext cx="6815138" cy="489653"/>
          </a:xfrm>
        </p:spPr>
        <p:txBody>
          <a:bodyPr/>
          <a:lstStyle/>
          <a:p>
            <a:r>
              <a:rPr lang="en-US" altLang="zh-TW" dirty="0"/>
              <a:t>Read Cache </a:t>
            </a:r>
            <a:endParaRPr lang="en-AU" altLang="zh-TW" dirty="0">
              <a:ea typeface="新細明體" pitchFamily="18" charset="-120"/>
            </a:endParaRPr>
          </a:p>
        </p:txBody>
      </p:sp>
      <p:sp>
        <p:nvSpPr>
          <p:cNvPr id="37891" name="Rectangle 3"/>
          <p:cNvSpPr>
            <a:spLocks noGrp="1" noChangeArrowheads="1"/>
          </p:cNvSpPr>
          <p:nvPr>
            <p:ph type="body" idx="1"/>
          </p:nvPr>
        </p:nvSpPr>
        <p:spPr>
          <a:xfrm>
            <a:off x="973394" y="799907"/>
            <a:ext cx="7713406" cy="3781519"/>
          </a:xfrm>
        </p:spPr>
        <p:txBody>
          <a:bodyPr/>
          <a:lstStyle/>
          <a:p>
            <a:pPr>
              <a:buFont typeface="Wingdings" pitchFamily="2" charset="2"/>
              <a:buNone/>
            </a:pPr>
            <a:r>
              <a:rPr lang="en-US" altLang="zh-TW" sz="2000" dirty="0"/>
              <a:t>Read Hit</a:t>
            </a:r>
          </a:p>
          <a:p>
            <a:r>
              <a:rPr lang="en-US" altLang="zh-TW" sz="2000" dirty="0"/>
              <a:t>On cache hit, CPU proceeds normally</a:t>
            </a:r>
          </a:p>
          <a:p>
            <a:pPr marL="0" indent="0">
              <a:buNone/>
            </a:pPr>
            <a:endParaRPr lang="en-US" altLang="zh-TW" sz="2000" dirty="0"/>
          </a:p>
          <a:p>
            <a:pPr marL="0" indent="0">
              <a:buNone/>
            </a:pPr>
            <a:r>
              <a:rPr lang="en-US" altLang="zh-TW" sz="2000" dirty="0"/>
              <a:t>Read Miss</a:t>
            </a:r>
          </a:p>
          <a:p>
            <a:r>
              <a:rPr lang="en-US" altLang="zh-TW" sz="2000" dirty="0"/>
              <a:t>On cache miss</a:t>
            </a:r>
          </a:p>
          <a:p>
            <a:pPr lvl="1"/>
            <a:r>
              <a:rPr lang="en-US" altLang="zh-TW" sz="1800" dirty="0">
                <a:solidFill>
                  <a:srgbClr val="FF0000"/>
                </a:solidFill>
              </a:rPr>
              <a:t>Stall the CPU pipeline</a:t>
            </a:r>
          </a:p>
          <a:p>
            <a:pPr lvl="1"/>
            <a:r>
              <a:rPr lang="en-US" altLang="zh-TW" sz="1800" dirty="0"/>
              <a:t>Fetch block from next level of hierarchy</a:t>
            </a:r>
          </a:p>
          <a:p>
            <a:pPr lvl="1"/>
            <a:r>
              <a:rPr lang="en-US" altLang="zh-TW" sz="1800" dirty="0"/>
              <a:t>Instruction cache miss</a:t>
            </a:r>
          </a:p>
          <a:p>
            <a:pPr lvl="2"/>
            <a:r>
              <a:rPr lang="en-US" altLang="zh-TW" sz="1600" dirty="0"/>
              <a:t>Restart instruction fetch</a:t>
            </a:r>
          </a:p>
          <a:p>
            <a:pPr lvl="1"/>
            <a:r>
              <a:rPr lang="en-US" altLang="zh-TW" sz="1800" dirty="0"/>
              <a:t>Data cache miss</a:t>
            </a:r>
          </a:p>
          <a:p>
            <a:pPr lvl="2"/>
            <a:r>
              <a:rPr lang="en-US" altLang="zh-TW" sz="1600" dirty="0"/>
              <a:t>Complete data access</a:t>
            </a:r>
            <a:endParaRPr lang="en-AU" altLang="zh-TW" sz="1600" dirty="0">
              <a:ea typeface="新細明體" pitchFamily="18" charset="-120"/>
            </a:endParaRPr>
          </a:p>
        </p:txBody>
      </p:sp>
      <p:sp>
        <p:nvSpPr>
          <p:cNvPr id="5" name="Slide Number Placeholder 5">
            <a:extLst>
              <a:ext uri="{FF2B5EF4-FFF2-40B4-BE49-F238E27FC236}">
                <a16:creationId xmlns:a16="http://schemas.microsoft.com/office/drawing/2014/main" id="{F6277DCB-6799-462D-93CB-6D46A082FA6C}"/>
              </a:ext>
            </a:extLst>
          </p:cNvPr>
          <p:cNvSpPr>
            <a:spLocks noGrp="1"/>
          </p:cNvSpPr>
          <p:nvPr>
            <p:ph type="sldNum" sz="quarter" idx="10"/>
          </p:nvPr>
        </p:nvSpPr>
        <p:spPr>
          <a:xfrm>
            <a:off x="6831013" y="4893471"/>
            <a:ext cx="2133600" cy="254794"/>
          </a:xfrm>
        </p:spPr>
        <p:txBody>
          <a:bodyPr/>
          <a:lstStyle/>
          <a:p>
            <a:fld id="{D9B6BDF2-6896-4B98-8776-C18582F63BA5}" type="slidenum">
              <a:rPr lang="zh-TW" altLang="en-US" smtClean="0"/>
              <a:pPr/>
              <a:t>35</a:t>
            </a:fld>
            <a:endParaRPr lang="zh-TW" alt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p:cNvSpPr>
            <a:spLocks noGrp="1" noChangeArrowheads="1"/>
          </p:cNvSpPr>
          <p:nvPr>
            <p:ph type="title"/>
          </p:nvPr>
        </p:nvSpPr>
        <p:spPr>
          <a:xfrm>
            <a:off x="973395" y="129779"/>
            <a:ext cx="6756144" cy="474905"/>
          </a:xfrm>
        </p:spPr>
        <p:txBody>
          <a:bodyPr/>
          <a:lstStyle/>
          <a:p>
            <a:r>
              <a:rPr lang="en-US" altLang="zh-TW" dirty="0"/>
              <a:t>Write Hit - Write-Through</a:t>
            </a:r>
            <a:endParaRPr lang="en-AU" altLang="zh-TW" dirty="0">
              <a:ea typeface="新細明體" pitchFamily="18" charset="-120"/>
            </a:endParaRPr>
          </a:p>
        </p:txBody>
      </p:sp>
      <p:sp>
        <p:nvSpPr>
          <p:cNvPr id="37891" name="Rectangle 3"/>
          <p:cNvSpPr>
            <a:spLocks noGrp="1" noChangeArrowheads="1"/>
          </p:cNvSpPr>
          <p:nvPr>
            <p:ph type="body" idx="1"/>
          </p:nvPr>
        </p:nvSpPr>
        <p:spPr>
          <a:xfrm>
            <a:off x="848032" y="844153"/>
            <a:ext cx="7838768" cy="3671888"/>
          </a:xfrm>
        </p:spPr>
        <p:txBody>
          <a:bodyPr/>
          <a:lstStyle/>
          <a:p>
            <a:pPr>
              <a:lnSpc>
                <a:spcPct val="80000"/>
              </a:lnSpc>
              <a:buFont typeface="Wingdings" pitchFamily="2" charset="2"/>
              <a:buNone/>
            </a:pPr>
            <a:r>
              <a:rPr lang="en-US" altLang="zh-TW" sz="2000" dirty="0"/>
              <a:t>There are two copies of data, one in cache and one in memory</a:t>
            </a:r>
          </a:p>
          <a:p>
            <a:pPr>
              <a:lnSpc>
                <a:spcPct val="80000"/>
              </a:lnSpc>
              <a:buFont typeface="Wingdings" pitchFamily="2" charset="2"/>
              <a:buNone/>
            </a:pPr>
            <a:endParaRPr lang="en-US" altLang="zh-TW" sz="2000" dirty="0"/>
          </a:p>
          <a:p>
            <a:pPr>
              <a:lnSpc>
                <a:spcPct val="80000"/>
              </a:lnSpc>
              <a:buFont typeface="Wingdings" pitchFamily="2" charset="2"/>
              <a:buNone/>
            </a:pPr>
            <a:r>
              <a:rPr lang="en-US" altLang="zh-TW" sz="2000" dirty="0"/>
              <a:t>Write Hit</a:t>
            </a:r>
          </a:p>
          <a:p>
            <a:pPr>
              <a:lnSpc>
                <a:spcPct val="80000"/>
              </a:lnSpc>
            </a:pPr>
            <a:r>
              <a:rPr lang="en-US" altLang="zh-TW" sz="1800" dirty="0">
                <a:solidFill>
                  <a:srgbClr val="FF0000"/>
                </a:solidFill>
              </a:rPr>
              <a:t>Write through: </a:t>
            </a:r>
            <a:r>
              <a:rPr lang="en-US" altLang="zh-TW" sz="1800" dirty="0"/>
              <a:t>also update memory</a:t>
            </a:r>
          </a:p>
          <a:p>
            <a:pPr>
              <a:lnSpc>
                <a:spcPct val="80000"/>
              </a:lnSpc>
            </a:pPr>
            <a:r>
              <a:rPr lang="en-US" altLang="zh-TW" sz="1800" dirty="0"/>
              <a:t>Increase the traffic to memory</a:t>
            </a:r>
          </a:p>
          <a:p>
            <a:pPr>
              <a:lnSpc>
                <a:spcPct val="80000"/>
              </a:lnSpc>
            </a:pPr>
            <a:r>
              <a:rPr lang="en-US" altLang="zh-TW" sz="1800" dirty="0"/>
              <a:t>Also makes writes take longer</a:t>
            </a:r>
          </a:p>
          <a:p>
            <a:pPr lvl="1">
              <a:lnSpc>
                <a:spcPct val="80000"/>
              </a:lnSpc>
            </a:pPr>
            <a:r>
              <a:rPr lang="en-US" altLang="zh-TW" sz="1600" dirty="0"/>
              <a:t>e.g., if base CPI = 1, 10% of instructions are stores, write to memory takes 100 cycles</a:t>
            </a:r>
          </a:p>
          <a:p>
            <a:pPr lvl="2">
              <a:lnSpc>
                <a:spcPct val="80000"/>
              </a:lnSpc>
            </a:pPr>
            <a:r>
              <a:rPr lang="en-US" altLang="zh-TW" sz="1600" dirty="0"/>
              <a:t> </a:t>
            </a:r>
            <a:r>
              <a:rPr lang="en-US" altLang="zh-TW" sz="1400" dirty="0"/>
              <a:t>Effective CPI = 1 + 0.1×100 = 11</a:t>
            </a:r>
          </a:p>
          <a:p>
            <a:pPr>
              <a:lnSpc>
                <a:spcPct val="80000"/>
              </a:lnSpc>
            </a:pPr>
            <a:r>
              <a:rPr lang="en-US" altLang="zh-TW" sz="1800" dirty="0"/>
              <a:t>Solution: </a:t>
            </a:r>
            <a:r>
              <a:rPr lang="en-US" altLang="zh-TW" sz="1800" dirty="0">
                <a:solidFill>
                  <a:srgbClr val="FF0000"/>
                </a:solidFill>
              </a:rPr>
              <a:t>write buffer</a:t>
            </a:r>
          </a:p>
          <a:p>
            <a:pPr lvl="1">
              <a:lnSpc>
                <a:spcPct val="80000"/>
              </a:lnSpc>
            </a:pPr>
            <a:r>
              <a:rPr lang="en-US" altLang="zh-TW" sz="1600" dirty="0"/>
              <a:t>Holds data waiting to be written to memory</a:t>
            </a:r>
          </a:p>
          <a:p>
            <a:pPr lvl="1">
              <a:lnSpc>
                <a:spcPct val="80000"/>
              </a:lnSpc>
            </a:pPr>
            <a:r>
              <a:rPr lang="en-US" altLang="zh-TW" sz="1600" dirty="0"/>
              <a:t>CPU continues immediately</a:t>
            </a:r>
          </a:p>
          <a:p>
            <a:pPr lvl="2">
              <a:lnSpc>
                <a:spcPct val="80000"/>
              </a:lnSpc>
            </a:pPr>
            <a:r>
              <a:rPr lang="en-US" altLang="zh-TW" sz="1400" dirty="0"/>
              <a:t>Only stalls on write if write buffer is already full</a:t>
            </a:r>
          </a:p>
        </p:txBody>
      </p:sp>
      <p:sp>
        <p:nvSpPr>
          <p:cNvPr id="37892" name="投影片編號版面配置區 1"/>
          <p:cNvSpPr>
            <a:spLocks noGrp="1"/>
          </p:cNvSpPr>
          <p:nvPr>
            <p:ph type="sldNum" sz="quarter" idx="12"/>
          </p:nvPr>
        </p:nvSpPr>
        <p:spPr bwMode="auto">
          <a:xfrm>
            <a:off x="7602538" y="6457950"/>
            <a:ext cx="206375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92075" tIns="46038" rIns="92075" bIns="46038" numCol="1" anchor="ctr" anchorCtr="0" compatLnSpc="1">
            <a:prstTxWarp prst="textNoShape">
              <a:avLst/>
            </a:prstTxWarp>
          </a:bodyPr>
          <a:lstStyle>
            <a:defPPr>
              <a:defRPr lang="en-US"/>
            </a:defPPr>
            <a:lvl1pPr algn="r" rtl="0" eaLnBrk="0" fontAlgn="base" hangingPunct="0">
              <a:spcBef>
                <a:spcPct val="0"/>
              </a:spcBef>
              <a:spcAft>
                <a:spcPct val="0"/>
              </a:spcAft>
              <a:defRPr sz="1400" kern="1200">
                <a:solidFill>
                  <a:schemeClr val="tx1"/>
                </a:solidFill>
                <a:latin typeface="Arial" pitchFamily="34" charset="0"/>
                <a:ea typeface="新細明體" pitchFamily="18" charset="-120"/>
                <a:cs typeface="+mn-cs"/>
              </a:defRPr>
            </a:lvl1pPr>
            <a:lvl2pPr marL="457200" algn="l" rtl="0" eaLnBrk="0" fontAlgn="base" hangingPunct="0">
              <a:spcBef>
                <a:spcPct val="0"/>
              </a:spcBef>
              <a:spcAft>
                <a:spcPct val="0"/>
              </a:spcAft>
              <a:defRPr sz="2400" kern="1200">
                <a:solidFill>
                  <a:schemeClr val="tx1"/>
                </a:solidFill>
                <a:latin typeface="Times New Roman" pitchFamily="18" charset="0"/>
                <a:ea typeface="新細明體" pitchFamily="18" charset="-120"/>
                <a:cs typeface="+mn-cs"/>
              </a:defRPr>
            </a:lvl2pPr>
            <a:lvl3pPr marL="914400" algn="l" rtl="0" eaLnBrk="0" fontAlgn="base" hangingPunct="0">
              <a:spcBef>
                <a:spcPct val="0"/>
              </a:spcBef>
              <a:spcAft>
                <a:spcPct val="0"/>
              </a:spcAft>
              <a:defRPr sz="2400" kern="1200">
                <a:solidFill>
                  <a:schemeClr val="tx1"/>
                </a:solidFill>
                <a:latin typeface="Times New Roman" pitchFamily="18" charset="0"/>
                <a:ea typeface="新細明體" pitchFamily="18" charset="-120"/>
                <a:cs typeface="+mn-cs"/>
              </a:defRPr>
            </a:lvl3pPr>
            <a:lvl4pPr marL="1371600" algn="l" rtl="0" eaLnBrk="0" fontAlgn="base" hangingPunct="0">
              <a:spcBef>
                <a:spcPct val="0"/>
              </a:spcBef>
              <a:spcAft>
                <a:spcPct val="0"/>
              </a:spcAft>
              <a:defRPr sz="2400" kern="1200">
                <a:solidFill>
                  <a:schemeClr val="tx1"/>
                </a:solidFill>
                <a:latin typeface="Times New Roman" pitchFamily="18" charset="0"/>
                <a:ea typeface="新細明體" pitchFamily="18" charset="-120"/>
                <a:cs typeface="+mn-cs"/>
              </a:defRPr>
            </a:lvl4pPr>
            <a:lvl5pPr marL="1828800" algn="l" rtl="0" eaLnBrk="0" fontAlgn="base" hangingPunct="0">
              <a:spcBef>
                <a:spcPct val="0"/>
              </a:spcBef>
              <a:spcAft>
                <a:spcPct val="0"/>
              </a:spcAft>
              <a:defRPr sz="2400" kern="1200">
                <a:solidFill>
                  <a:schemeClr val="tx1"/>
                </a:solidFill>
                <a:latin typeface="Times New Roman" pitchFamily="18" charset="0"/>
                <a:ea typeface="新細明體" pitchFamily="18" charset="-120"/>
                <a:cs typeface="+mn-cs"/>
              </a:defRPr>
            </a:lvl5pPr>
            <a:lvl6pPr marL="2286000" algn="l" defTabSz="914400" rtl="0" eaLnBrk="1" latinLnBrk="0" hangingPunct="1">
              <a:defRPr sz="2400" kern="1200">
                <a:solidFill>
                  <a:schemeClr val="tx1"/>
                </a:solidFill>
                <a:latin typeface="Times New Roman" pitchFamily="18" charset="0"/>
                <a:ea typeface="新細明體" pitchFamily="18" charset="-120"/>
                <a:cs typeface="+mn-cs"/>
              </a:defRPr>
            </a:lvl6pPr>
            <a:lvl7pPr marL="2743200" algn="l" defTabSz="914400" rtl="0" eaLnBrk="1" latinLnBrk="0" hangingPunct="1">
              <a:defRPr sz="2400" kern="1200">
                <a:solidFill>
                  <a:schemeClr val="tx1"/>
                </a:solidFill>
                <a:latin typeface="Times New Roman" pitchFamily="18" charset="0"/>
                <a:ea typeface="新細明體" pitchFamily="18" charset="-120"/>
                <a:cs typeface="+mn-cs"/>
              </a:defRPr>
            </a:lvl7pPr>
            <a:lvl8pPr marL="3200400" algn="l" defTabSz="914400" rtl="0" eaLnBrk="1" latinLnBrk="0" hangingPunct="1">
              <a:defRPr sz="2400" kern="1200">
                <a:solidFill>
                  <a:schemeClr val="tx1"/>
                </a:solidFill>
                <a:latin typeface="Times New Roman" pitchFamily="18" charset="0"/>
                <a:ea typeface="新細明體" pitchFamily="18" charset="-120"/>
                <a:cs typeface="+mn-cs"/>
              </a:defRPr>
            </a:lvl8pPr>
            <a:lvl9pPr marL="3657600" algn="l" defTabSz="914400" rtl="0" eaLnBrk="1" latinLnBrk="0" hangingPunct="1">
              <a:defRPr sz="2400" kern="1200">
                <a:solidFill>
                  <a:schemeClr val="tx1"/>
                </a:solidFill>
                <a:latin typeface="Times New Roman" pitchFamily="18" charset="0"/>
                <a:ea typeface="新細明體" pitchFamily="18" charset="-120"/>
                <a:cs typeface="+mn-cs"/>
              </a:defRPr>
            </a:lvl9pPr>
          </a:lstStyle>
          <a:p>
            <a:fld id="{7D45A012-07B4-4F55-AE88-BDE7E89299BA}" type="slidenum">
              <a:rPr lang="zh-TW" altLang="en-US" smtClean="0"/>
              <a:pPr/>
              <a:t>36</a:t>
            </a:fld>
            <a:endParaRPr kumimoji="0" lang="en-US" altLang="zh-TW" sz="1050">
              <a:latin typeface="Arial" pitchFamily="34" charset="0"/>
            </a:endParaRPr>
          </a:p>
        </p:txBody>
      </p:sp>
      <p:sp>
        <p:nvSpPr>
          <p:cNvPr id="5" name="Slide Number Placeholder 5">
            <a:extLst>
              <a:ext uri="{FF2B5EF4-FFF2-40B4-BE49-F238E27FC236}">
                <a16:creationId xmlns:a16="http://schemas.microsoft.com/office/drawing/2014/main" id="{2F62CA1A-5F64-4DD5-AF3E-5A982F1A5E97}"/>
              </a:ext>
            </a:extLst>
          </p:cNvPr>
          <p:cNvSpPr>
            <a:spLocks noGrp="1"/>
          </p:cNvSpPr>
          <p:nvPr>
            <p:ph type="sldNum" sz="quarter" idx="10"/>
          </p:nvPr>
        </p:nvSpPr>
        <p:spPr>
          <a:xfrm>
            <a:off x="6831013" y="4893471"/>
            <a:ext cx="2133600" cy="254794"/>
          </a:xfrm>
        </p:spPr>
        <p:txBody>
          <a:bodyPr/>
          <a:lstStyle/>
          <a:p>
            <a:fld id="{D9B6BDF2-6896-4B98-8776-C18582F63BA5}" type="slidenum">
              <a:rPr lang="zh-TW" altLang="en-US" smtClean="0"/>
              <a:pPr/>
              <a:t>36</a:t>
            </a:fld>
            <a:endParaRPr lang="zh-TW" altLang="en-US"/>
          </a:p>
        </p:txBody>
      </p:sp>
    </p:spTree>
    <p:extLst>
      <p:ext uri="{BB962C8B-B14F-4D97-AF65-F5344CB8AC3E}">
        <p14:creationId xmlns:p14="http://schemas.microsoft.com/office/powerpoint/2010/main" val="83783019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p:cNvSpPr>
            <a:spLocks noGrp="1" noChangeArrowheads="1"/>
          </p:cNvSpPr>
          <p:nvPr>
            <p:ph type="body" idx="1"/>
          </p:nvPr>
        </p:nvSpPr>
        <p:spPr>
          <a:xfrm>
            <a:off x="988142" y="792536"/>
            <a:ext cx="6843252" cy="2452110"/>
          </a:xfrm>
        </p:spPr>
        <p:txBody>
          <a:bodyPr/>
          <a:lstStyle/>
          <a:p>
            <a:pPr>
              <a:spcBef>
                <a:spcPts val="0"/>
              </a:spcBef>
            </a:pPr>
            <a:r>
              <a:rPr lang="en-US" altLang="zh-TW" sz="2000" dirty="0"/>
              <a:t>Use a write buffer (WB)</a:t>
            </a:r>
          </a:p>
          <a:p>
            <a:pPr lvl="1">
              <a:spcBef>
                <a:spcPts val="0"/>
              </a:spcBef>
            </a:pPr>
            <a:r>
              <a:rPr lang="en-US" altLang="zh-TW" sz="1800" dirty="0"/>
              <a:t>Processor: Writes data into cache and WB</a:t>
            </a:r>
          </a:p>
          <a:p>
            <a:pPr lvl="1">
              <a:spcBef>
                <a:spcPts val="0"/>
              </a:spcBef>
            </a:pPr>
            <a:r>
              <a:rPr lang="en-US" altLang="zh-TW" sz="1800" dirty="0"/>
              <a:t>Memory controller: Write WB data to memory</a:t>
            </a:r>
          </a:p>
          <a:p>
            <a:pPr>
              <a:spcBef>
                <a:spcPts val="0"/>
              </a:spcBef>
            </a:pPr>
            <a:r>
              <a:rPr lang="en-US" altLang="zh-TW" sz="2000" dirty="0"/>
              <a:t>Write buffer is just a FIFO</a:t>
            </a:r>
          </a:p>
          <a:p>
            <a:pPr lvl="1">
              <a:spcBef>
                <a:spcPts val="0"/>
              </a:spcBef>
            </a:pPr>
            <a:r>
              <a:rPr lang="en-US" altLang="zh-TW" sz="1800" dirty="0"/>
              <a:t>Typical number of entries: 4</a:t>
            </a:r>
          </a:p>
          <a:p>
            <a:pPr>
              <a:spcBef>
                <a:spcPts val="0"/>
              </a:spcBef>
            </a:pPr>
            <a:r>
              <a:rPr lang="en-US" altLang="zh-TW" sz="2000" dirty="0"/>
              <a:t>Memory system designer’s nightmare</a:t>
            </a:r>
          </a:p>
          <a:p>
            <a:pPr lvl="1">
              <a:spcBef>
                <a:spcPts val="0"/>
              </a:spcBef>
            </a:pPr>
            <a:r>
              <a:rPr lang="en-US" altLang="zh-TW" sz="1800" dirty="0"/>
              <a:t>Store frequency &gt;  1 / DRAM write cycle</a:t>
            </a:r>
          </a:p>
          <a:p>
            <a:pPr lvl="1">
              <a:spcBef>
                <a:spcPts val="0"/>
              </a:spcBef>
            </a:pPr>
            <a:r>
              <a:rPr lang="en-US" altLang="zh-TW" sz="1800" dirty="0"/>
              <a:t>Write buffer saturation =&gt; CPU stalled</a:t>
            </a:r>
          </a:p>
        </p:txBody>
      </p:sp>
      <p:grpSp>
        <p:nvGrpSpPr>
          <p:cNvPr id="2" name="组合 1">
            <a:extLst>
              <a:ext uri="{FF2B5EF4-FFF2-40B4-BE49-F238E27FC236}">
                <a16:creationId xmlns:a16="http://schemas.microsoft.com/office/drawing/2014/main" id="{86782153-2362-40BE-BB94-AA62E5859303}"/>
              </a:ext>
            </a:extLst>
          </p:cNvPr>
          <p:cNvGrpSpPr/>
          <p:nvPr/>
        </p:nvGrpSpPr>
        <p:grpSpPr>
          <a:xfrm>
            <a:off x="2460024" y="3494870"/>
            <a:ext cx="4064794" cy="1042324"/>
            <a:chOff x="2415779" y="1120379"/>
            <a:chExt cx="4064794" cy="1042324"/>
          </a:xfrm>
        </p:grpSpPr>
        <p:sp>
          <p:nvSpPr>
            <p:cNvPr id="39939" name="Rectangle 3"/>
            <p:cNvSpPr>
              <a:spLocks noChangeArrowheads="1"/>
            </p:cNvSpPr>
            <p:nvPr/>
          </p:nvSpPr>
          <p:spPr bwMode="auto">
            <a:xfrm>
              <a:off x="2415779" y="1120379"/>
              <a:ext cx="1031081" cy="723900"/>
            </a:xfrm>
            <a:prstGeom prst="rect">
              <a:avLst/>
            </a:prstGeom>
            <a:noFill/>
            <a:ln w="25400">
              <a:solidFill>
                <a:schemeClr val="tx1"/>
              </a:solidFill>
              <a:miter lim="800000"/>
              <a:headEnd/>
              <a:tailEnd/>
            </a:ln>
          </p:spPr>
          <p:txBody>
            <a:bodyPr wrap="none" anchor="ctr"/>
            <a:lstStyle/>
            <a:p>
              <a:pPr algn="ctr"/>
              <a:r>
                <a:rPr kumimoji="1" lang="en-US" altLang="zh-TW" sz="1500" b="1">
                  <a:latin typeface="Century Gothic" pitchFamily="34" charset="0"/>
                </a:rPr>
                <a:t>Processor</a:t>
              </a:r>
            </a:p>
          </p:txBody>
        </p:sp>
        <p:sp>
          <p:nvSpPr>
            <p:cNvPr id="39940" name="Rectangle 4"/>
            <p:cNvSpPr>
              <a:spLocks noChangeArrowheads="1"/>
            </p:cNvSpPr>
            <p:nvPr/>
          </p:nvSpPr>
          <p:spPr bwMode="auto">
            <a:xfrm>
              <a:off x="4396979" y="1120379"/>
              <a:ext cx="721519" cy="438150"/>
            </a:xfrm>
            <a:prstGeom prst="rect">
              <a:avLst/>
            </a:prstGeom>
            <a:noFill/>
            <a:ln w="25400">
              <a:solidFill>
                <a:schemeClr val="tx1"/>
              </a:solidFill>
              <a:miter lim="800000"/>
              <a:headEnd/>
              <a:tailEnd/>
            </a:ln>
          </p:spPr>
          <p:txBody>
            <a:bodyPr wrap="none" anchor="ctr"/>
            <a:lstStyle/>
            <a:p>
              <a:pPr algn="ctr"/>
              <a:r>
                <a:rPr kumimoji="1" lang="en-US" altLang="zh-TW" sz="1500" b="1" dirty="0">
                  <a:latin typeface="Century Gothic" pitchFamily="34" charset="0"/>
                </a:rPr>
                <a:t>Cache</a:t>
              </a:r>
            </a:p>
          </p:txBody>
        </p:sp>
        <p:sp>
          <p:nvSpPr>
            <p:cNvPr id="39941" name="Rectangle 5"/>
            <p:cNvSpPr>
              <a:spLocks noChangeArrowheads="1"/>
            </p:cNvSpPr>
            <p:nvPr/>
          </p:nvSpPr>
          <p:spPr bwMode="auto">
            <a:xfrm>
              <a:off x="4396979" y="1634729"/>
              <a:ext cx="721519" cy="209550"/>
            </a:xfrm>
            <a:prstGeom prst="rect">
              <a:avLst/>
            </a:prstGeom>
            <a:noFill/>
            <a:ln w="25400">
              <a:solidFill>
                <a:schemeClr val="tx1"/>
              </a:solidFill>
              <a:miter lim="800000"/>
              <a:headEnd/>
              <a:tailEnd/>
            </a:ln>
          </p:spPr>
          <p:txBody>
            <a:bodyPr wrap="none" anchor="ctr"/>
            <a:lstStyle/>
            <a:p>
              <a:endParaRPr lang="zh-TW" altLang="en-US" sz="1350"/>
            </a:p>
          </p:txBody>
        </p:sp>
        <p:sp>
          <p:nvSpPr>
            <p:cNvPr id="39942" name="Line 6"/>
            <p:cNvSpPr>
              <a:spLocks noChangeShapeType="1"/>
            </p:cNvSpPr>
            <p:nvPr/>
          </p:nvSpPr>
          <p:spPr bwMode="auto">
            <a:xfrm>
              <a:off x="4572000" y="1625204"/>
              <a:ext cx="0" cy="228600"/>
            </a:xfrm>
            <a:prstGeom prst="line">
              <a:avLst/>
            </a:prstGeom>
            <a:noFill/>
            <a:ln w="25400">
              <a:solidFill>
                <a:schemeClr val="tx1"/>
              </a:solidFill>
              <a:round/>
              <a:headEnd type="none" w="sm" len="sm"/>
              <a:tailEnd type="none" w="sm" len="sm"/>
            </a:ln>
          </p:spPr>
          <p:txBody>
            <a:bodyPr wrap="none" anchor="ctr"/>
            <a:lstStyle/>
            <a:p>
              <a:endParaRPr lang="zh-TW" altLang="en-US" sz="1350"/>
            </a:p>
          </p:txBody>
        </p:sp>
        <p:sp>
          <p:nvSpPr>
            <p:cNvPr id="39943" name="Line 7"/>
            <p:cNvSpPr>
              <a:spLocks noChangeShapeType="1"/>
            </p:cNvSpPr>
            <p:nvPr/>
          </p:nvSpPr>
          <p:spPr bwMode="auto">
            <a:xfrm>
              <a:off x="4757738" y="1625204"/>
              <a:ext cx="0" cy="228600"/>
            </a:xfrm>
            <a:prstGeom prst="line">
              <a:avLst/>
            </a:prstGeom>
            <a:noFill/>
            <a:ln w="25400">
              <a:solidFill>
                <a:schemeClr val="tx1"/>
              </a:solidFill>
              <a:round/>
              <a:headEnd type="none" w="sm" len="sm"/>
              <a:tailEnd type="none" w="sm" len="sm"/>
            </a:ln>
          </p:spPr>
          <p:txBody>
            <a:bodyPr wrap="none" anchor="ctr"/>
            <a:lstStyle/>
            <a:p>
              <a:endParaRPr lang="zh-TW" altLang="en-US" sz="1350"/>
            </a:p>
          </p:txBody>
        </p:sp>
        <p:sp>
          <p:nvSpPr>
            <p:cNvPr id="39944" name="Line 8"/>
            <p:cNvSpPr>
              <a:spLocks noChangeShapeType="1"/>
            </p:cNvSpPr>
            <p:nvPr/>
          </p:nvSpPr>
          <p:spPr bwMode="auto">
            <a:xfrm>
              <a:off x="4943475" y="1625204"/>
              <a:ext cx="0" cy="228600"/>
            </a:xfrm>
            <a:prstGeom prst="line">
              <a:avLst/>
            </a:prstGeom>
            <a:noFill/>
            <a:ln w="25400">
              <a:solidFill>
                <a:schemeClr val="tx1"/>
              </a:solidFill>
              <a:round/>
              <a:headEnd type="none" w="sm" len="sm"/>
              <a:tailEnd type="none" w="sm" len="sm"/>
            </a:ln>
          </p:spPr>
          <p:txBody>
            <a:bodyPr wrap="none" anchor="ctr"/>
            <a:lstStyle/>
            <a:p>
              <a:endParaRPr lang="zh-TW" altLang="en-US" sz="1350"/>
            </a:p>
          </p:txBody>
        </p:sp>
        <p:sp>
          <p:nvSpPr>
            <p:cNvPr id="39945" name="Line 9"/>
            <p:cNvSpPr>
              <a:spLocks noChangeShapeType="1"/>
            </p:cNvSpPr>
            <p:nvPr/>
          </p:nvSpPr>
          <p:spPr bwMode="auto">
            <a:xfrm>
              <a:off x="4014788" y="1739504"/>
              <a:ext cx="371475" cy="0"/>
            </a:xfrm>
            <a:prstGeom prst="line">
              <a:avLst/>
            </a:prstGeom>
            <a:noFill/>
            <a:ln w="25400">
              <a:solidFill>
                <a:schemeClr val="tx1"/>
              </a:solidFill>
              <a:round/>
              <a:headEnd type="none" w="sm" len="sm"/>
              <a:tailEnd type="stealth" w="med" len="lg"/>
            </a:ln>
          </p:spPr>
          <p:txBody>
            <a:bodyPr wrap="none" anchor="ctr"/>
            <a:lstStyle/>
            <a:p>
              <a:endParaRPr lang="zh-TW" altLang="en-US" sz="1350"/>
            </a:p>
          </p:txBody>
        </p:sp>
        <p:sp>
          <p:nvSpPr>
            <p:cNvPr id="39946" name="Line 10"/>
            <p:cNvSpPr>
              <a:spLocks noChangeShapeType="1"/>
            </p:cNvSpPr>
            <p:nvPr/>
          </p:nvSpPr>
          <p:spPr bwMode="auto">
            <a:xfrm>
              <a:off x="3457575" y="1339454"/>
              <a:ext cx="928688" cy="0"/>
            </a:xfrm>
            <a:prstGeom prst="line">
              <a:avLst/>
            </a:prstGeom>
            <a:noFill/>
            <a:ln w="25400">
              <a:solidFill>
                <a:schemeClr val="tx1"/>
              </a:solidFill>
              <a:round/>
              <a:headEnd type="stealth" w="med" len="lg"/>
              <a:tailEnd type="stealth" w="med" len="lg"/>
            </a:ln>
          </p:spPr>
          <p:txBody>
            <a:bodyPr wrap="none" anchor="ctr"/>
            <a:lstStyle/>
            <a:p>
              <a:endParaRPr lang="zh-TW" altLang="en-US" sz="1350"/>
            </a:p>
          </p:txBody>
        </p:sp>
        <p:sp>
          <p:nvSpPr>
            <p:cNvPr id="39947" name="Rectangle 11"/>
            <p:cNvSpPr>
              <a:spLocks noChangeArrowheads="1"/>
            </p:cNvSpPr>
            <p:nvPr/>
          </p:nvSpPr>
          <p:spPr bwMode="auto">
            <a:xfrm>
              <a:off x="4311254" y="1862138"/>
              <a:ext cx="1176604" cy="300565"/>
            </a:xfrm>
            <a:prstGeom prst="rect">
              <a:avLst/>
            </a:prstGeom>
            <a:noFill/>
            <a:ln w="9525">
              <a:noFill/>
              <a:miter lim="800000"/>
              <a:headEnd/>
              <a:tailEnd/>
            </a:ln>
          </p:spPr>
          <p:txBody>
            <a:bodyPr wrap="none" lIns="69056" tIns="34529" rIns="69056" bIns="34529">
              <a:spAutoFit/>
            </a:bodyPr>
            <a:lstStyle/>
            <a:p>
              <a:r>
                <a:rPr kumimoji="1" lang="en-US" altLang="zh-TW" sz="1500" b="1">
                  <a:latin typeface="Century Gothic" pitchFamily="34" charset="0"/>
                </a:rPr>
                <a:t>Write Buffer</a:t>
              </a:r>
              <a:endParaRPr kumimoji="1" lang="en-US" altLang="zh-TW" sz="1200" b="1">
                <a:latin typeface="Arial" pitchFamily="34" charset="0"/>
              </a:endParaRPr>
            </a:p>
          </p:txBody>
        </p:sp>
        <p:sp>
          <p:nvSpPr>
            <p:cNvPr id="39948" name="Rectangle 12"/>
            <p:cNvSpPr>
              <a:spLocks noChangeArrowheads="1"/>
            </p:cNvSpPr>
            <p:nvPr/>
          </p:nvSpPr>
          <p:spPr bwMode="auto">
            <a:xfrm>
              <a:off x="5635229" y="1120379"/>
              <a:ext cx="845344" cy="723900"/>
            </a:xfrm>
            <a:prstGeom prst="rect">
              <a:avLst/>
            </a:prstGeom>
            <a:noFill/>
            <a:ln w="25400">
              <a:solidFill>
                <a:schemeClr val="tx1"/>
              </a:solidFill>
              <a:miter lim="800000"/>
              <a:headEnd/>
              <a:tailEnd/>
            </a:ln>
          </p:spPr>
          <p:txBody>
            <a:bodyPr wrap="none" anchor="ctr"/>
            <a:lstStyle/>
            <a:p>
              <a:pPr algn="ctr"/>
              <a:r>
                <a:rPr kumimoji="1" lang="en-US" altLang="zh-TW" sz="1500" b="1">
                  <a:latin typeface="Century Gothic" pitchFamily="34" charset="0"/>
                </a:rPr>
                <a:t>DRAM</a:t>
              </a:r>
            </a:p>
          </p:txBody>
        </p:sp>
        <p:sp>
          <p:nvSpPr>
            <p:cNvPr id="39949" name="Line 13"/>
            <p:cNvSpPr>
              <a:spLocks noChangeShapeType="1"/>
            </p:cNvSpPr>
            <p:nvPr/>
          </p:nvSpPr>
          <p:spPr bwMode="auto">
            <a:xfrm>
              <a:off x="5129213" y="1739504"/>
              <a:ext cx="495300" cy="0"/>
            </a:xfrm>
            <a:prstGeom prst="line">
              <a:avLst/>
            </a:prstGeom>
            <a:noFill/>
            <a:ln w="25400">
              <a:solidFill>
                <a:schemeClr val="tx1"/>
              </a:solidFill>
              <a:round/>
              <a:headEnd type="none" w="sm" len="sm"/>
              <a:tailEnd type="stealth" w="med" len="lg"/>
            </a:ln>
          </p:spPr>
          <p:txBody>
            <a:bodyPr wrap="none" anchor="ctr"/>
            <a:lstStyle/>
            <a:p>
              <a:endParaRPr lang="zh-TW" altLang="en-US" sz="1350"/>
            </a:p>
          </p:txBody>
        </p:sp>
        <p:sp>
          <p:nvSpPr>
            <p:cNvPr id="39950" name="Line 14"/>
            <p:cNvSpPr>
              <a:spLocks noChangeShapeType="1"/>
            </p:cNvSpPr>
            <p:nvPr/>
          </p:nvSpPr>
          <p:spPr bwMode="auto">
            <a:xfrm>
              <a:off x="5129213" y="1339454"/>
              <a:ext cx="495300" cy="0"/>
            </a:xfrm>
            <a:prstGeom prst="line">
              <a:avLst/>
            </a:prstGeom>
            <a:noFill/>
            <a:ln w="25400">
              <a:solidFill>
                <a:schemeClr val="tx1"/>
              </a:solidFill>
              <a:round/>
              <a:headEnd type="stealth" w="med" len="lg"/>
              <a:tailEnd type="none" w="sm" len="sm"/>
            </a:ln>
          </p:spPr>
          <p:txBody>
            <a:bodyPr wrap="none" anchor="ctr"/>
            <a:lstStyle/>
            <a:p>
              <a:endParaRPr lang="zh-TW" altLang="en-US" sz="1350"/>
            </a:p>
          </p:txBody>
        </p:sp>
        <p:sp>
          <p:nvSpPr>
            <p:cNvPr id="39951" name="Line 15"/>
            <p:cNvSpPr>
              <a:spLocks noChangeShapeType="1"/>
            </p:cNvSpPr>
            <p:nvPr/>
          </p:nvSpPr>
          <p:spPr bwMode="auto">
            <a:xfrm>
              <a:off x="4014788" y="1339454"/>
              <a:ext cx="0" cy="400050"/>
            </a:xfrm>
            <a:prstGeom prst="line">
              <a:avLst/>
            </a:prstGeom>
            <a:noFill/>
            <a:ln w="25400">
              <a:solidFill>
                <a:schemeClr val="tx1"/>
              </a:solidFill>
              <a:round/>
              <a:headEnd type="none" w="sm" len="sm"/>
              <a:tailEnd type="none" w="sm" len="sm"/>
            </a:ln>
          </p:spPr>
          <p:txBody>
            <a:bodyPr wrap="none" anchor="ctr"/>
            <a:lstStyle/>
            <a:p>
              <a:endParaRPr lang="zh-TW" altLang="en-US" sz="1350"/>
            </a:p>
          </p:txBody>
        </p:sp>
      </p:grpSp>
      <p:sp>
        <p:nvSpPr>
          <p:cNvPr id="39952" name="Rectangle 16"/>
          <p:cNvSpPr>
            <a:spLocks noGrp="1" noChangeArrowheads="1"/>
          </p:cNvSpPr>
          <p:nvPr>
            <p:ph type="title"/>
          </p:nvPr>
        </p:nvSpPr>
        <p:spPr>
          <a:xfrm>
            <a:off x="958645" y="129780"/>
            <a:ext cx="7824020" cy="504402"/>
          </a:xfrm>
        </p:spPr>
        <p:txBody>
          <a:bodyPr/>
          <a:lstStyle/>
          <a:p>
            <a:r>
              <a:rPr lang="en-US" altLang="zh-TW" dirty="0"/>
              <a:t>Avoid Waiting for Memory in Write Through</a:t>
            </a:r>
          </a:p>
        </p:txBody>
      </p:sp>
      <p:sp>
        <p:nvSpPr>
          <p:cNvPr id="18" name="Slide Number Placeholder 5">
            <a:extLst>
              <a:ext uri="{FF2B5EF4-FFF2-40B4-BE49-F238E27FC236}">
                <a16:creationId xmlns:a16="http://schemas.microsoft.com/office/drawing/2014/main" id="{5EF7F3CB-8D44-41D7-8478-D45F3C8ABA48}"/>
              </a:ext>
            </a:extLst>
          </p:cNvPr>
          <p:cNvSpPr>
            <a:spLocks noGrp="1"/>
          </p:cNvSpPr>
          <p:nvPr>
            <p:ph type="sldNum" sz="quarter" idx="10"/>
          </p:nvPr>
        </p:nvSpPr>
        <p:spPr>
          <a:xfrm>
            <a:off x="6831013" y="4893471"/>
            <a:ext cx="2133600" cy="254794"/>
          </a:xfrm>
        </p:spPr>
        <p:txBody>
          <a:bodyPr/>
          <a:lstStyle/>
          <a:p>
            <a:fld id="{D9B6BDF2-6896-4B98-8776-C18582F63BA5}" type="slidenum">
              <a:rPr lang="zh-TW" altLang="en-US" smtClean="0"/>
              <a:pPr/>
              <a:t>37</a:t>
            </a:fld>
            <a:endParaRPr lang="zh-TW" alt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p:nvPr>
        </p:nvSpPr>
        <p:spPr>
          <a:xfrm>
            <a:off x="929149" y="129779"/>
            <a:ext cx="6800390" cy="467531"/>
          </a:xfrm>
        </p:spPr>
        <p:txBody>
          <a:bodyPr/>
          <a:lstStyle/>
          <a:p>
            <a:r>
              <a:rPr lang="en-US" altLang="zh-TW" dirty="0"/>
              <a:t>Write Hit - Write-Back</a:t>
            </a:r>
            <a:endParaRPr lang="en-AU" altLang="zh-TW" dirty="0">
              <a:ea typeface="新細明體" pitchFamily="18" charset="-120"/>
            </a:endParaRPr>
          </a:p>
        </p:txBody>
      </p:sp>
      <p:sp>
        <p:nvSpPr>
          <p:cNvPr id="40963" name="Rectangle 3"/>
          <p:cNvSpPr>
            <a:spLocks noGrp="1" noChangeArrowheads="1"/>
          </p:cNvSpPr>
          <p:nvPr>
            <p:ph type="body" idx="1"/>
          </p:nvPr>
        </p:nvSpPr>
        <p:spPr>
          <a:xfrm>
            <a:off x="988142" y="844153"/>
            <a:ext cx="7698658" cy="2474234"/>
          </a:xfrm>
        </p:spPr>
        <p:txBody>
          <a:bodyPr/>
          <a:lstStyle/>
          <a:p>
            <a:r>
              <a:rPr lang="en-US" altLang="zh-TW" sz="2000" dirty="0"/>
              <a:t>Alternative: On data-write hit, just update the block in cache</a:t>
            </a:r>
          </a:p>
          <a:p>
            <a:pPr lvl="1"/>
            <a:r>
              <a:rPr lang="en-US" altLang="zh-TW" sz="1800" dirty="0"/>
              <a:t>Keep track of whether each block is dirty</a:t>
            </a:r>
          </a:p>
          <a:p>
            <a:r>
              <a:rPr lang="en-US" altLang="zh-TW" sz="2000" dirty="0"/>
              <a:t>When a dirty block is replaced</a:t>
            </a:r>
          </a:p>
          <a:p>
            <a:pPr lvl="1"/>
            <a:r>
              <a:rPr lang="en-US" altLang="zh-TW" sz="1800" dirty="0"/>
              <a:t>Write it back to memory</a:t>
            </a:r>
          </a:p>
          <a:p>
            <a:pPr lvl="1"/>
            <a:r>
              <a:rPr lang="en-US" altLang="zh-TW" sz="1800" dirty="0"/>
              <a:t>Can use a write buffer to allow a replacing block to be read first</a:t>
            </a:r>
          </a:p>
          <a:p>
            <a:r>
              <a:rPr lang="en-US" altLang="zh-TW" sz="2000" dirty="0">
                <a:ea typeface="新細明體" pitchFamily="18" charset="-120"/>
              </a:rPr>
              <a:t>Data in cache and memory is inconsistent</a:t>
            </a:r>
            <a:endParaRPr lang="en-AU" altLang="zh-TW" sz="2000" dirty="0">
              <a:ea typeface="新細明體" pitchFamily="18" charset="-120"/>
            </a:endParaRPr>
          </a:p>
        </p:txBody>
      </p:sp>
      <p:sp>
        <p:nvSpPr>
          <p:cNvPr id="5" name="Slide Number Placeholder 5">
            <a:extLst>
              <a:ext uri="{FF2B5EF4-FFF2-40B4-BE49-F238E27FC236}">
                <a16:creationId xmlns:a16="http://schemas.microsoft.com/office/drawing/2014/main" id="{F321C9BE-F693-4E84-BF83-B8B7ACB1AAAE}"/>
              </a:ext>
            </a:extLst>
          </p:cNvPr>
          <p:cNvSpPr>
            <a:spLocks noGrp="1"/>
          </p:cNvSpPr>
          <p:nvPr>
            <p:ph type="sldNum" sz="quarter" idx="10"/>
          </p:nvPr>
        </p:nvSpPr>
        <p:spPr>
          <a:xfrm>
            <a:off x="6831013" y="4893471"/>
            <a:ext cx="2133600" cy="254794"/>
          </a:xfrm>
        </p:spPr>
        <p:txBody>
          <a:bodyPr/>
          <a:lstStyle/>
          <a:p>
            <a:fld id="{D9B6BDF2-6896-4B98-8776-C18582F63BA5}" type="slidenum">
              <a:rPr lang="zh-TW" altLang="en-US" smtClean="0"/>
              <a:pPr/>
              <a:t>38</a:t>
            </a:fld>
            <a:endParaRPr lang="zh-TW" alt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p:cNvSpPr>
            <a:spLocks noGrp="1" noChangeArrowheads="1"/>
          </p:cNvSpPr>
          <p:nvPr>
            <p:ph type="title"/>
          </p:nvPr>
        </p:nvSpPr>
        <p:spPr>
          <a:xfrm>
            <a:off x="1047135" y="129780"/>
            <a:ext cx="6682403" cy="511776"/>
          </a:xfrm>
        </p:spPr>
        <p:txBody>
          <a:bodyPr/>
          <a:lstStyle/>
          <a:p>
            <a:r>
              <a:rPr lang="en-US" altLang="zh-TW" dirty="0"/>
              <a:t>Write Miss - Write Allocation</a:t>
            </a:r>
            <a:endParaRPr lang="en-AU" altLang="zh-TW" dirty="0">
              <a:ea typeface="新細明體" pitchFamily="18" charset="-120"/>
            </a:endParaRPr>
          </a:p>
        </p:txBody>
      </p:sp>
      <p:sp>
        <p:nvSpPr>
          <p:cNvPr id="41987" name="Rectangle 3"/>
          <p:cNvSpPr>
            <a:spLocks noGrp="1" noChangeArrowheads="1"/>
          </p:cNvSpPr>
          <p:nvPr>
            <p:ph type="body" idx="1"/>
          </p:nvPr>
        </p:nvSpPr>
        <p:spPr>
          <a:xfrm>
            <a:off x="958644" y="844153"/>
            <a:ext cx="7728155" cy="3086292"/>
          </a:xfrm>
        </p:spPr>
        <p:txBody>
          <a:bodyPr/>
          <a:lstStyle/>
          <a:p>
            <a:pPr>
              <a:buFont typeface="Wingdings" pitchFamily="2" charset="2"/>
              <a:buNone/>
            </a:pPr>
            <a:r>
              <a:rPr lang="en-US" altLang="zh-TW" dirty="0"/>
              <a:t>Write Miss</a:t>
            </a:r>
          </a:p>
          <a:p>
            <a:r>
              <a:rPr lang="en-US" altLang="zh-TW" sz="2000" dirty="0"/>
              <a:t>What should happen on a write miss?</a:t>
            </a:r>
          </a:p>
          <a:p>
            <a:r>
              <a:rPr lang="en-US" altLang="zh-TW" sz="2000" dirty="0"/>
              <a:t>Alternatives for write-through</a:t>
            </a:r>
          </a:p>
          <a:p>
            <a:pPr lvl="1"/>
            <a:r>
              <a:rPr lang="en-US" altLang="zh-TW" sz="1800" dirty="0"/>
              <a:t>Allocate on miss: Fetch the block</a:t>
            </a:r>
          </a:p>
          <a:p>
            <a:pPr lvl="1"/>
            <a:r>
              <a:rPr lang="en-US" altLang="zh-TW" sz="1800" dirty="0"/>
              <a:t>Write around: Do not fetch the block</a:t>
            </a:r>
          </a:p>
          <a:p>
            <a:pPr lvl="2"/>
            <a:r>
              <a:rPr lang="en-US" altLang="zh-TW" sz="1600" dirty="0"/>
              <a:t>Since programs often write a whole block before reading it (e.g., initialization)</a:t>
            </a:r>
          </a:p>
          <a:p>
            <a:r>
              <a:rPr lang="en-US" altLang="zh-TW" sz="2000" dirty="0"/>
              <a:t>For write-back</a:t>
            </a:r>
          </a:p>
          <a:p>
            <a:pPr lvl="1"/>
            <a:r>
              <a:rPr lang="en-US" altLang="zh-TW" sz="1800" dirty="0"/>
              <a:t>Usually fetch the block</a:t>
            </a:r>
            <a:endParaRPr lang="en-AU" altLang="zh-TW" sz="1800" dirty="0">
              <a:ea typeface="新細明體" pitchFamily="18" charset="-120"/>
            </a:endParaRPr>
          </a:p>
        </p:txBody>
      </p:sp>
      <p:sp>
        <p:nvSpPr>
          <p:cNvPr id="5" name="Slide Number Placeholder 5">
            <a:extLst>
              <a:ext uri="{FF2B5EF4-FFF2-40B4-BE49-F238E27FC236}">
                <a16:creationId xmlns:a16="http://schemas.microsoft.com/office/drawing/2014/main" id="{63417267-AAD1-4026-9870-B44245F1E82A}"/>
              </a:ext>
            </a:extLst>
          </p:cNvPr>
          <p:cNvSpPr>
            <a:spLocks noGrp="1"/>
          </p:cNvSpPr>
          <p:nvPr>
            <p:ph type="sldNum" sz="quarter" idx="10"/>
          </p:nvPr>
        </p:nvSpPr>
        <p:spPr>
          <a:xfrm>
            <a:off x="6831013" y="4893471"/>
            <a:ext cx="2133600" cy="254794"/>
          </a:xfrm>
        </p:spPr>
        <p:txBody>
          <a:bodyPr/>
          <a:lstStyle/>
          <a:p>
            <a:fld id="{D9B6BDF2-6896-4B98-8776-C18582F63BA5}" type="slidenum">
              <a:rPr lang="zh-TW" altLang="en-US" smtClean="0"/>
              <a:pPr/>
              <a:t>39</a:t>
            </a:fld>
            <a:endParaRPr lang="zh-TW" alt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p:cNvSpPr>
            <a:spLocks noGrp="1" noChangeArrowheads="1"/>
          </p:cNvSpPr>
          <p:nvPr>
            <p:ph type="title"/>
          </p:nvPr>
        </p:nvSpPr>
        <p:spPr>
          <a:xfrm>
            <a:off x="907027" y="129779"/>
            <a:ext cx="6822512" cy="467531"/>
          </a:xfrm>
        </p:spPr>
        <p:txBody>
          <a:bodyPr/>
          <a:lstStyle/>
          <a:p>
            <a:r>
              <a:rPr lang="en-AU" altLang="zh-TW" dirty="0">
                <a:ea typeface="新細明體" pitchFamily="18" charset="-120"/>
              </a:rPr>
              <a:t>Example - </a:t>
            </a:r>
            <a:r>
              <a:rPr lang="en-AU" altLang="zh-TW" dirty="0" err="1">
                <a:ea typeface="新細明體" pitchFamily="18" charset="-120"/>
              </a:rPr>
              <a:t>Intrinsity</a:t>
            </a:r>
            <a:r>
              <a:rPr lang="en-AU" altLang="zh-TW" dirty="0">
                <a:ea typeface="新細明體" pitchFamily="18" charset="-120"/>
              </a:rPr>
              <a:t> </a:t>
            </a:r>
            <a:r>
              <a:rPr lang="en-AU" altLang="zh-TW" dirty="0" err="1">
                <a:ea typeface="新細明體" pitchFamily="18" charset="-120"/>
              </a:rPr>
              <a:t>FastMATH</a:t>
            </a:r>
            <a:endParaRPr lang="en-AU" altLang="zh-TW" dirty="0">
              <a:ea typeface="新細明體" pitchFamily="18" charset="-120"/>
            </a:endParaRPr>
          </a:p>
        </p:txBody>
      </p:sp>
      <p:sp>
        <p:nvSpPr>
          <p:cNvPr id="43011" name="Rectangle 3"/>
          <p:cNvSpPr>
            <a:spLocks noGrp="1" noChangeArrowheads="1"/>
          </p:cNvSpPr>
          <p:nvPr>
            <p:ph type="body" idx="1"/>
          </p:nvPr>
        </p:nvSpPr>
        <p:spPr>
          <a:xfrm>
            <a:off x="870154" y="844153"/>
            <a:ext cx="7816645" cy="3671888"/>
          </a:xfrm>
        </p:spPr>
        <p:txBody>
          <a:bodyPr/>
          <a:lstStyle/>
          <a:p>
            <a:r>
              <a:rPr lang="en-AU" altLang="zh-TW" sz="2000" dirty="0">
                <a:ea typeface="新細明體" pitchFamily="18" charset="-120"/>
              </a:rPr>
              <a:t>Embedded MIPS processor</a:t>
            </a:r>
          </a:p>
          <a:p>
            <a:pPr lvl="1"/>
            <a:r>
              <a:rPr lang="en-AU" altLang="zh-TW" sz="1800" dirty="0">
                <a:ea typeface="新細明體" pitchFamily="18" charset="-120"/>
              </a:rPr>
              <a:t>12-stage pipeline</a:t>
            </a:r>
          </a:p>
          <a:p>
            <a:pPr lvl="1"/>
            <a:r>
              <a:rPr lang="en-AU" altLang="zh-TW" sz="1800" dirty="0">
                <a:ea typeface="新細明體" pitchFamily="18" charset="-120"/>
              </a:rPr>
              <a:t>Instruction and data access on each cycle</a:t>
            </a:r>
          </a:p>
          <a:p>
            <a:r>
              <a:rPr lang="en-AU" altLang="zh-TW" sz="2000" dirty="0">
                <a:ea typeface="新細明體" pitchFamily="18" charset="-120"/>
              </a:rPr>
              <a:t>Split cache: Separate I-cache and D-cache</a:t>
            </a:r>
          </a:p>
          <a:p>
            <a:pPr lvl="1"/>
            <a:r>
              <a:rPr lang="en-AU" altLang="zh-TW" sz="1800" dirty="0">
                <a:ea typeface="新細明體" pitchFamily="18" charset="-120"/>
              </a:rPr>
              <a:t>Each 16KB: 256 blocks </a:t>
            </a:r>
            <a:r>
              <a:rPr lang="en-US" altLang="zh-TW" sz="1800" dirty="0">
                <a:cs typeface="Arial" pitchFamily="34" charset="0"/>
              </a:rPr>
              <a:t>×</a:t>
            </a:r>
            <a:r>
              <a:rPr lang="en-AU" altLang="zh-TW" sz="1800" dirty="0">
                <a:ea typeface="新細明體" pitchFamily="18" charset="-120"/>
              </a:rPr>
              <a:t> 16 words/block</a:t>
            </a:r>
          </a:p>
          <a:p>
            <a:pPr lvl="1"/>
            <a:r>
              <a:rPr lang="en-AU" altLang="zh-TW" sz="1800" dirty="0">
                <a:ea typeface="新細明體" pitchFamily="18" charset="-120"/>
              </a:rPr>
              <a:t>D-cache: Write-through or write-back</a:t>
            </a:r>
          </a:p>
          <a:p>
            <a:r>
              <a:rPr lang="en-AU" altLang="zh-TW" sz="2000" dirty="0">
                <a:ea typeface="新細明體" pitchFamily="18" charset="-120"/>
              </a:rPr>
              <a:t>SPEC2000 miss rates</a:t>
            </a:r>
          </a:p>
          <a:p>
            <a:pPr lvl="1"/>
            <a:r>
              <a:rPr lang="en-AU" altLang="zh-TW" sz="1800" dirty="0">
                <a:ea typeface="新細明體" pitchFamily="18" charset="-120"/>
              </a:rPr>
              <a:t>I-cache: 0.4%</a:t>
            </a:r>
          </a:p>
          <a:p>
            <a:pPr lvl="1"/>
            <a:r>
              <a:rPr lang="en-AU" altLang="zh-TW" sz="1800" dirty="0">
                <a:ea typeface="新細明體" pitchFamily="18" charset="-120"/>
              </a:rPr>
              <a:t>D-cache: 11.4%</a:t>
            </a:r>
          </a:p>
          <a:p>
            <a:pPr lvl="1"/>
            <a:r>
              <a:rPr lang="en-AU" altLang="zh-TW" sz="1800" dirty="0">
                <a:ea typeface="新細明體" pitchFamily="18" charset="-120"/>
              </a:rPr>
              <a:t>Weighted average: 3.2%</a:t>
            </a:r>
          </a:p>
        </p:txBody>
      </p:sp>
      <p:sp>
        <p:nvSpPr>
          <p:cNvPr id="5" name="Slide Number Placeholder 5">
            <a:extLst>
              <a:ext uri="{FF2B5EF4-FFF2-40B4-BE49-F238E27FC236}">
                <a16:creationId xmlns:a16="http://schemas.microsoft.com/office/drawing/2014/main" id="{A87B92F5-F64B-44B9-AE64-B587FEE1190B}"/>
              </a:ext>
            </a:extLst>
          </p:cNvPr>
          <p:cNvSpPr>
            <a:spLocks noGrp="1"/>
          </p:cNvSpPr>
          <p:nvPr>
            <p:ph type="sldNum" sz="quarter" idx="10"/>
          </p:nvPr>
        </p:nvSpPr>
        <p:spPr>
          <a:xfrm>
            <a:off x="6831013" y="4893471"/>
            <a:ext cx="2133600" cy="254794"/>
          </a:xfrm>
        </p:spPr>
        <p:txBody>
          <a:bodyPr/>
          <a:lstStyle/>
          <a:p>
            <a:fld id="{D9B6BDF2-6896-4B98-8776-C18582F63BA5}" type="slidenum">
              <a:rPr lang="zh-TW" altLang="en-US" smtClean="0"/>
              <a:pPr/>
              <a:t>40</a:t>
            </a:fld>
            <a:endParaRPr lang="zh-TW" alt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a:xfrm>
            <a:off x="950259" y="129780"/>
            <a:ext cx="6779279" cy="470856"/>
          </a:xfrm>
        </p:spPr>
        <p:txBody>
          <a:bodyPr/>
          <a:lstStyle/>
          <a:p>
            <a:r>
              <a:rPr lang="en-US" altLang="zh-TW" dirty="0"/>
              <a:t>Outline</a:t>
            </a:r>
          </a:p>
        </p:txBody>
      </p:sp>
      <p:sp>
        <p:nvSpPr>
          <p:cNvPr id="7171" name="Rectangle 3"/>
          <p:cNvSpPr>
            <a:spLocks noGrp="1" noChangeArrowheads="1"/>
          </p:cNvSpPr>
          <p:nvPr>
            <p:ph type="body" idx="1"/>
          </p:nvPr>
        </p:nvSpPr>
        <p:spPr>
          <a:xfrm>
            <a:off x="1414463" y="832248"/>
            <a:ext cx="6506766" cy="3703894"/>
          </a:xfrm>
        </p:spPr>
        <p:txBody>
          <a:bodyPr/>
          <a:lstStyle/>
          <a:p>
            <a:r>
              <a:rPr lang="en-US" altLang="zh-TW" sz="2000" dirty="0"/>
              <a:t>Memory hierarchy</a:t>
            </a:r>
          </a:p>
          <a:p>
            <a:r>
              <a:rPr lang="en-US" altLang="zh-TW" sz="2000" dirty="0"/>
              <a:t>The basics of caches</a:t>
            </a:r>
          </a:p>
          <a:p>
            <a:pPr lvl="1"/>
            <a:r>
              <a:rPr lang="en-US" altLang="zh-TW" sz="1800" dirty="0"/>
              <a:t>Direct-mapped cache</a:t>
            </a:r>
          </a:p>
          <a:p>
            <a:pPr lvl="1"/>
            <a:r>
              <a:rPr lang="en-US" altLang="zh-TW" sz="1800" dirty="0"/>
              <a:t>Address sub-division</a:t>
            </a:r>
          </a:p>
          <a:p>
            <a:pPr lvl="1"/>
            <a:r>
              <a:rPr lang="en-US" altLang="zh-TW" sz="1800" dirty="0"/>
              <a:t>Cache hit and miss</a:t>
            </a:r>
          </a:p>
          <a:p>
            <a:pPr lvl="1"/>
            <a:r>
              <a:rPr lang="en-US" altLang="zh-TW" sz="1800" dirty="0">
                <a:solidFill>
                  <a:srgbClr val="FF0000"/>
                </a:solidFill>
              </a:rPr>
              <a:t>Memory support</a:t>
            </a:r>
          </a:p>
          <a:p>
            <a:r>
              <a:rPr lang="en-US" altLang="zh-TW" sz="2000" dirty="0"/>
              <a:t>Measuring cache performance</a:t>
            </a:r>
          </a:p>
          <a:p>
            <a:r>
              <a:rPr lang="en-US" altLang="zh-TW" sz="2000" dirty="0"/>
              <a:t>Improving cache performance</a:t>
            </a:r>
          </a:p>
          <a:p>
            <a:pPr lvl="1"/>
            <a:r>
              <a:rPr lang="en-US" altLang="zh-TW" sz="1800" dirty="0"/>
              <a:t>Set associative cache</a:t>
            </a:r>
          </a:p>
          <a:p>
            <a:pPr lvl="1"/>
            <a:r>
              <a:rPr lang="en-US" altLang="zh-TW" sz="1800" dirty="0"/>
              <a:t>Multiple level cache</a:t>
            </a:r>
          </a:p>
        </p:txBody>
      </p:sp>
      <p:sp>
        <p:nvSpPr>
          <p:cNvPr id="5" name="Slide Number Placeholder 5">
            <a:extLst>
              <a:ext uri="{FF2B5EF4-FFF2-40B4-BE49-F238E27FC236}">
                <a16:creationId xmlns:a16="http://schemas.microsoft.com/office/drawing/2014/main" id="{FBEC8137-9B2A-4301-83A7-D595AE649AAE}"/>
              </a:ext>
            </a:extLst>
          </p:cNvPr>
          <p:cNvSpPr>
            <a:spLocks noGrp="1"/>
          </p:cNvSpPr>
          <p:nvPr>
            <p:ph type="sldNum" sz="quarter" idx="10"/>
          </p:nvPr>
        </p:nvSpPr>
        <p:spPr>
          <a:xfrm>
            <a:off x="6831013" y="4893471"/>
            <a:ext cx="2133600" cy="254794"/>
          </a:xfrm>
        </p:spPr>
        <p:txBody>
          <a:bodyPr/>
          <a:lstStyle/>
          <a:p>
            <a:fld id="{D9B6BDF2-6896-4B98-8776-C18582F63BA5}" type="slidenum">
              <a:rPr lang="zh-TW" altLang="en-US" smtClean="0"/>
              <a:pPr/>
              <a:t>41</a:t>
            </a:fld>
            <a:endParaRPr lang="zh-TW" altLang="en-US"/>
          </a:p>
        </p:txBody>
      </p:sp>
    </p:spTree>
    <p:extLst>
      <p:ext uri="{BB962C8B-B14F-4D97-AF65-F5344CB8AC3E}">
        <p14:creationId xmlns:p14="http://schemas.microsoft.com/office/powerpoint/2010/main" val="292736285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p:cNvSpPr>
            <a:spLocks noChangeArrowheads="1"/>
          </p:cNvSpPr>
          <p:nvPr/>
        </p:nvSpPr>
        <p:spPr bwMode="auto">
          <a:xfrm>
            <a:off x="1040606" y="234554"/>
            <a:ext cx="2034779" cy="358378"/>
          </a:xfrm>
          <a:prstGeom prst="rect">
            <a:avLst/>
          </a:prstGeom>
          <a:noFill/>
          <a:ln w="12700">
            <a:noFill/>
            <a:miter lim="800000"/>
            <a:headEnd/>
            <a:tailEnd/>
          </a:ln>
        </p:spPr>
        <p:txBody>
          <a:bodyPr wrap="none" anchor="ctr"/>
          <a:lstStyle/>
          <a:p>
            <a:endParaRPr lang="zh-TW" altLang="en-US" sz="1350"/>
          </a:p>
        </p:txBody>
      </p:sp>
      <p:pic>
        <p:nvPicPr>
          <p:cNvPr id="45059" name="Picture 3"/>
          <p:cNvPicPr>
            <a:picLocks noChangeArrowheads="1"/>
          </p:cNvPicPr>
          <p:nvPr/>
        </p:nvPicPr>
        <p:blipFill>
          <a:blip r:embed="rId3"/>
          <a:srcRect/>
          <a:stretch>
            <a:fillRect/>
          </a:stretch>
        </p:blipFill>
        <p:spPr bwMode="auto">
          <a:xfrm>
            <a:off x="840658" y="1270205"/>
            <a:ext cx="7366819" cy="3314700"/>
          </a:xfrm>
          <a:prstGeom prst="rect">
            <a:avLst/>
          </a:prstGeom>
          <a:noFill/>
          <a:ln w="12700">
            <a:noFill/>
            <a:miter lim="800000"/>
            <a:headEnd/>
            <a:tailEnd/>
          </a:ln>
        </p:spPr>
      </p:pic>
      <p:sp>
        <p:nvSpPr>
          <p:cNvPr id="45060" name="Rectangle 4"/>
          <p:cNvSpPr>
            <a:spLocks noGrp="1" noChangeArrowheads="1"/>
          </p:cNvSpPr>
          <p:nvPr>
            <p:ph type="title"/>
          </p:nvPr>
        </p:nvSpPr>
        <p:spPr>
          <a:xfrm>
            <a:off x="907027" y="129779"/>
            <a:ext cx="6822512" cy="474905"/>
          </a:xfrm>
        </p:spPr>
        <p:txBody>
          <a:bodyPr/>
          <a:lstStyle/>
          <a:p>
            <a:r>
              <a:rPr lang="en-US" altLang="zh-TW" dirty="0"/>
              <a:t>Memory Design to Support Cache</a:t>
            </a:r>
          </a:p>
        </p:txBody>
      </p:sp>
      <p:sp>
        <p:nvSpPr>
          <p:cNvPr id="45061" name="Rectangle 5"/>
          <p:cNvSpPr>
            <a:spLocks noGrp="1" noChangeArrowheads="1"/>
          </p:cNvSpPr>
          <p:nvPr>
            <p:ph type="body" idx="1"/>
          </p:nvPr>
        </p:nvSpPr>
        <p:spPr>
          <a:xfrm>
            <a:off x="914400" y="807282"/>
            <a:ext cx="7160342" cy="409460"/>
          </a:xfrm>
        </p:spPr>
        <p:txBody>
          <a:bodyPr/>
          <a:lstStyle/>
          <a:p>
            <a:r>
              <a:rPr lang="en-US" altLang="zh-TW" sz="2000" dirty="0"/>
              <a:t>How to increase memory bandwidth to reduce miss penalty?</a:t>
            </a:r>
            <a:br>
              <a:rPr lang="en-US" altLang="zh-TW" sz="2000" dirty="0"/>
            </a:br>
            <a:br>
              <a:rPr lang="en-US" altLang="zh-TW" sz="2000" dirty="0"/>
            </a:br>
            <a:br>
              <a:rPr lang="en-US" altLang="zh-TW" sz="2000" dirty="0"/>
            </a:br>
            <a:endParaRPr lang="en-US" altLang="zh-TW" sz="2000" dirty="0"/>
          </a:p>
        </p:txBody>
      </p:sp>
      <p:sp>
        <p:nvSpPr>
          <p:cNvPr id="8" name="Slide Number Placeholder 5">
            <a:extLst>
              <a:ext uri="{FF2B5EF4-FFF2-40B4-BE49-F238E27FC236}">
                <a16:creationId xmlns:a16="http://schemas.microsoft.com/office/drawing/2014/main" id="{25511010-0BF0-4F59-A4F4-60F29242141C}"/>
              </a:ext>
            </a:extLst>
          </p:cNvPr>
          <p:cNvSpPr>
            <a:spLocks noGrp="1"/>
          </p:cNvSpPr>
          <p:nvPr>
            <p:ph type="sldNum" sz="quarter" idx="10"/>
          </p:nvPr>
        </p:nvSpPr>
        <p:spPr>
          <a:xfrm>
            <a:off x="6831013" y="4893471"/>
            <a:ext cx="2133600" cy="254794"/>
          </a:xfrm>
        </p:spPr>
        <p:txBody>
          <a:bodyPr/>
          <a:lstStyle/>
          <a:p>
            <a:fld id="{D9B6BDF2-6896-4B98-8776-C18582F63BA5}" type="slidenum">
              <a:rPr lang="zh-TW" altLang="en-US" smtClean="0"/>
              <a:pPr/>
              <a:t>42</a:t>
            </a:fld>
            <a:endParaRPr lang="zh-TW" altLang="en-US"/>
          </a:p>
        </p:txBody>
      </p:sp>
    </p:spTree>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1459" name="Rectangle 35"/>
          <p:cNvSpPr>
            <a:spLocks noGrp="1" noChangeArrowheads="1"/>
          </p:cNvSpPr>
          <p:nvPr>
            <p:ph type="title" idx="4294967295"/>
          </p:nvPr>
        </p:nvSpPr>
        <p:spPr>
          <a:xfrm>
            <a:off x="907026" y="108349"/>
            <a:ext cx="7768664" cy="519113"/>
          </a:xfrm>
        </p:spPr>
        <p:txBody>
          <a:bodyPr/>
          <a:lstStyle/>
          <a:p>
            <a:r>
              <a:rPr lang="en-US" altLang="zh-TW" sz="3200" dirty="0">
                <a:solidFill>
                  <a:srgbClr val="002060"/>
                </a:solidFill>
              </a:rPr>
              <a:t>Interleaving for Bandwidth</a:t>
            </a:r>
          </a:p>
        </p:txBody>
      </p:sp>
      <p:sp>
        <p:nvSpPr>
          <p:cNvPr id="231460" name="Rectangle 36"/>
          <p:cNvSpPr>
            <a:spLocks noGrp="1" noChangeArrowheads="1"/>
          </p:cNvSpPr>
          <p:nvPr>
            <p:ph type="body" idx="4294967295"/>
          </p:nvPr>
        </p:nvSpPr>
        <p:spPr>
          <a:xfrm>
            <a:off x="957264" y="801407"/>
            <a:ext cx="4359530" cy="452206"/>
          </a:xfrm>
        </p:spPr>
        <p:txBody>
          <a:bodyPr/>
          <a:lstStyle/>
          <a:p>
            <a:r>
              <a:rPr lang="en-US" altLang="zh-TW" sz="2000" dirty="0"/>
              <a:t>Access pattern without interleaving</a:t>
            </a:r>
          </a:p>
        </p:txBody>
      </p:sp>
      <p:grpSp>
        <p:nvGrpSpPr>
          <p:cNvPr id="4" name="组合 3">
            <a:extLst>
              <a:ext uri="{FF2B5EF4-FFF2-40B4-BE49-F238E27FC236}">
                <a16:creationId xmlns:a16="http://schemas.microsoft.com/office/drawing/2014/main" id="{2913CB7C-4A0A-47FC-A12C-412159440AC7}"/>
              </a:ext>
            </a:extLst>
          </p:cNvPr>
          <p:cNvGrpSpPr/>
          <p:nvPr/>
        </p:nvGrpSpPr>
        <p:grpSpPr>
          <a:xfrm>
            <a:off x="2308728" y="2855026"/>
            <a:ext cx="4928304" cy="1634790"/>
            <a:chOff x="1652311" y="2842005"/>
            <a:chExt cx="5628361" cy="2134510"/>
          </a:xfrm>
        </p:grpSpPr>
        <p:sp>
          <p:nvSpPr>
            <p:cNvPr id="231444" name="Rectangle 20"/>
            <p:cNvSpPr>
              <a:spLocks noChangeArrowheads="1"/>
            </p:cNvSpPr>
            <p:nvPr/>
          </p:nvSpPr>
          <p:spPr bwMode="auto">
            <a:xfrm>
              <a:off x="1971675" y="3143250"/>
              <a:ext cx="2600325" cy="171450"/>
            </a:xfrm>
            <a:prstGeom prst="rect">
              <a:avLst/>
            </a:prstGeom>
            <a:solidFill>
              <a:schemeClr val="bg1"/>
            </a:solidFill>
            <a:ln w="1270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TW" altLang="en-US" sz="1350"/>
            </a:p>
          </p:txBody>
        </p:sp>
        <p:sp>
          <p:nvSpPr>
            <p:cNvPr id="231445" name="Rectangle 21" descr="50%"/>
            <p:cNvSpPr>
              <a:spLocks noChangeArrowheads="1"/>
            </p:cNvSpPr>
            <p:nvPr/>
          </p:nvSpPr>
          <p:spPr bwMode="auto">
            <a:xfrm>
              <a:off x="1971675" y="3143250"/>
              <a:ext cx="804863" cy="171450"/>
            </a:xfrm>
            <a:prstGeom prst="rect">
              <a:avLst/>
            </a:prstGeom>
            <a:pattFill prst="pct50">
              <a:fgClr>
                <a:srgbClr val="000000"/>
              </a:fgClr>
              <a:bgClr>
                <a:schemeClr val="bg1"/>
              </a:bgClr>
            </a:pattFill>
            <a:ln w="1270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TW" altLang="en-US" sz="1350"/>
            </a:p>
          </p:txBody>
        </p:sp>
        <p:grpSp>
          <p:nvGrpSpPr>
            <p:cNvPr id="231446" name="Group 22"/>
            <p:cNvGrpSpPr>
              <a:grpSpLocks/>
            </p:cNvGrpSpPr>
            <p:nvPr/>
          </p:nvGrpSpPr>
          <p:grpSpPr bwMode="auto">
            <a:xfrm>
              <a:off x="1987154" y="3429000"/>
              <a:ext cx="2600325" cy="171450"/>
              <a:chOff x="1612" y="2880"/>
              <a:chExt cx="2184" cy="144"/>
            </a:xfrm>
          </p:grpSpPr>
          <p:sp>
            <p:nvSpPr>
              <p:cNvPr id="231447" name="Rectangle 23"/>
              <p:cNvSpPr>
                <a:spLocks noChangeArrowheads="1"/>
              </p:cNvSpPr>
              <p:nvPr/>
            </p:nvSpPr>
            <p:spPr bwMode="auto">
              <a:xfrm>
                <a:off x="1612" y="2880"/>
                <a:ext cx="2184" cy="144"/>
              </a:xfrm>
              <a:prstGeom prst="rect">
                <a:avLst/>
              </a:prstGeom>
              <a:solidFill>
                <a:schemeClr val="bg1"/>
              </a:solidFill>
              <a:ln w="1270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TW" altLang="en-US" sz="1350"/>
              </a:p>
            </p:txBody>
          </p:sp>
          <p:sp>
            <p:nvSpPr>
              <p:cNvPr id="231448" name="Rectangle 24" descr="50%"/>
              <p:cNvSpPr>
                <a:spLocks noChangeArrowheads="1"/>
              </p:cNvSpPr>
              <p:nvPr/>
            </p:nvSpPr>
            <p:spPr bwMode="auto">
              <a:xfrm>
                <a:off x="1612" y="2880"/>
                <a:ext cx="676" cy="144"/>
              </a:xfrm>
              <a:prstGeom prst="rect">
                <a:avLst/>
              </a:prstGeom>
              <a:pattFill prst="pct50">
                <a:fgClr>
                  <a:srgbClr val="000000"/>
                </a:fgClr>
                <a:bgClr>
                  <a:schemeClr val="bg1"/>
                </a:bgClr>
              </a:pattFill>
              <a:ln w="1270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TW" altLang="en-US" sz="1350"/>
              </a:p>
            </p:txBody>
          </p:sp>
        </p:grpSp>
        <p:sp>
          <p:nvSpPr>
            <p:cNvPr id="231449" name="Rectangle 25"/>
            <p:cNvSpPr>
              <a:spLocks noChangeArrowheads="1"/>
            </p:cNvSpPr>
            <p:nvPr/>
          </p:nvSpPr>
          <p:spPr bwMode="auto">
            <a:xfrm>
              <a:off x="1987154" y="3714750"/>
              <a:ext cx="2600325" cy="171450"/>
            </a:xfrm>
            <a:prstGeom prst="rect">
              <a:avLst/>
            </a:prstGeom>
            <a:solidFill>
              <a:schemeClr val="bg1"/>
            </a:solidFill>
            <a:ln w="1270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TW" altLang="en-US" sz="1350"/>
            </a:p>
          </p:txBody>
        </p:sp>
        <p:sp>
          <p:nvSpPr>
            <p:cNvPr id="231450" name="Rectangle 26" descr="50%"/>
            <p:cNvSpPr>
              <a:spLocks noChangeArrowheads="1"/>
            </p:cNvSpPr>
            <p:nvPr/>
          </p:nvSpPr>
          <p:spPr bwMode="auto">
            <a:xfrm>
              <a:off x="1987153" y="3714750"/>
              <a:ext cx="804863" cy="171450"/>
            </a:xfrm>
            <a:prstGeom prst="rect">
              <a:avLst/>
            </a:prstGeom>
            <a:pattFill prst="pct50">
              <a:fgClr>
                <a:srgbClr val="000000"/>
              </a:fgClr>
              <a:bgClr>
                <a:schemeClr val="bg1"/>
              </a:bgClr>
            </a:pattFill>
            <a:ln w="1270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TW" altLang="en-US" sz="1350"/>
            </a:p>
          </p:txBody>
        </p:sp>
        <p:sp>
          <p:nvSpPr>
            <p:cNvPr id="231451" name="Rectangle 27"/>
            <p:cNvSpPr>
              <a:spLocks noChangeArrowheads="1"/>
            </p:cNvSpPr>
            <p:nvPr/>
          </p:nvSpPr>
          <p:spPr bwMode="auto">
            <a:xfrm>
              <a:off x="2002631" y="4000500"/>
              <a:ext cx="2600325" cy="171450"/>
            </a:xfrm>
            <a:prstGeom prst="rect">
              <a:avLst/>
            </a:prstGeom>
            <a:solidFill>
              <a:schemeClr val="bg1"/>
            </a:solidFill>
            <a:ln w="1270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TW" altLang="en-US" sz="1350"/>
            </a:p>
          </p:txBody>
        </p:sp>
        <p:sp>
          <p:nvSpPr>
            <p:cNvPr id="231452" name="Rectangle 28" descr="50%"/>
            <p:cNvSpPr>
              <a:spLocks noChangeArrowheads="1"/>
            </p:cNvSpPr>
            <p:nvPr/>
          </p:nvSpPr>
          <p:spPr bwMode="auto">
            <a:xfrm>
              <a:off x="2018110" y="4000500"/>
              <a:ext cx="804863" cy="171450"/>
            </a:xfrm>
            <a:prstGeom prst="rect">
              <a:avLst/>
            </a:prstGeom>
            <a:pattFill prst="pct50">
              <a:fgClr>
                <a:srgbClr val="000000"/>
              </a:fgClr>
              <a:bgClr>
                <a:schemeClr val="bg1"/>
              </a:bgClr>
            </a:pattFill>
            <a:ln w="1270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TW" altLang="en-US" sz="1350"/>
            </a:p>
          </p:txBody>
        </p:sp>
        <p:sp>
          <p:nvSpPr>
            <p:cNvPr id="231453" name="Line 29"/>
            <p:cNvSpPr>
              <a:spLocks noChangeShapeType="1"/>
            </p:cNvSpPr>
            <p:nvPr/>
          </p:nvSpPr>
          <p:spPr bwMode="auto">
            <a:xfrm flipV="1">
              <a:off x="2080022" y="4187429"/>
              <a:ext cx="0" cy="342900"/>
            </a:xfrm>
            <a:prstGeom prst="line">
              <a:avLst/>
            </a:prstGeom>
            <a:noFill/>
            <a:ln w="12700">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sz="1350"/>
            </a:p>
          </p:txBody>
        </p:sp>
        <p:sp>
          <p:nvSpPr>
            <p:cNvPr id="231454" name="Rectangle 30"/>
            <p:cNvSpPr>
              <a:spLocks noChangeArrowheads="1"/>
            </p:cNvSpPr>
            <p:nvPr/>
          </p:nvSpPr>
          <p:spPr bwMode="auto">
            <a:xfrm>
              <a:off x="4680347" y="4286250"/>
              <a:ext cx="2600325" cy="171450"/>
            </a:xfrm>
            <a:prstGeom prst="rect">
              <a:avLst/>
            </a:prstGeom>
            <a:solidFill>
              <a:schemeClr val="bg1"/>
            </a:solidFill>
            <a:ln w="1270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TW" altLang="en-US" sz="1350"/>
            </a:p>
          </p:txBody>
        </p:sp>
        <p:sp>
          <p:nvSpPr>
            <p:cNvPr id="231455" name="Rectangle 31" descr="50%"/>
            <p:cNvSpPr>
              <a:spLocks noChangeArrowheads="1"/>
            </p:cNvSpPr>
            <p:nvPr/>
          </p:nvSpPr>
          <p:spPr bwMode="auto">
            <a:xfrm>
              <a:off x="4680347" y="4286250"/>
              <a:ext cx="804863" cy="171450"/>
            </a:xfrm>
            <a:prstGeom prst="rect">
              <a:avLst/>
            </a:prstGeom>
            <a:pattFill prst="pct50">
              <a:fgClr>
                <a:srgbClr val="000000"/>
              </a:fgClr>
              <a:bgClr>
                <a:schemeClr val="bg1"/>
              </a:bgClr>
            </a:pattFill>
            <a:ln w="1270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TW" altLang="en-US" sz="1350"/>
            </a:p>
          </p:txBody>
        </p:sp>
        <p:sp>
          <p:nvSpPr>
            <p:cNvPr id="231456" name="Line 32"/>
            <p:cNvSpPr>
              <a:spLocks noChangeShapeType="1"/>
            </p:cNvSpPr>
            <p:nvPr/>
          </p:nvSpPr>
          <p:spPr bwMode="auto">
            <a:xfrm flipV="1">
              <a:off x="4680347" y="4457700"/>
              <a:ext cx="0" cy="342900"/>
            </a:xfrm>
            <a:prstGeom prst="line">
              <a:avLst/>
            </a:prstGeom>
            <a:noFill/>
            <a:ln w="12700">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sz="1350"/>
            </a:p>
          </p:txBody>
        </p:sp>
        <p:sp>
          <p:nvSpPr>
            <p:cNvPr id="231457" name="Text Box 33"/>
            <p:cNvSpPr txBox="1">
              <a:spLocks noChangeArrowheads="1"/>
            </p:cNvSpPr>
            <p:nvPr/>
          </p:nvSpPr>
          <p:spPr bwMode="auto">
            <a:xfrm>
              <a:off x="4680347" y="4514850"/>
              <a:ext cx="1133644" cy="46166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prstDash val="sysDot"/>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r>
                <a:rPr lang="en-US" altLang="zh-TW" sz="1200" b="1">
                  <a:latin typeface="Arial" pitchFamily="34" charset="0"/>
                </a:rPr>
                <a:t>Access</a:t>
              </a:r>
              <a:br>
                <a:rPr lang="en-US" altLang="zh-TW" sz="1200" b="1">
                  <a:latin typeface="Arial" pitchFamily="34" charset="0"/>
                </a:rPr>
              </a:br>
              <a:r>
                <a:rPr lang="en-US" altLang="zh-TW" sz="1200" b="1">
                  <a:latin typeface="Arial" pitchFamily="34" charset="0"/>
                </a:rPr>
                <a:t>Bank 0 again</a:t>
              </a:r>
            </a:p>
          </p:txBody>
        </p:sp>
        <p:sp>
          <p:nvSpPr>
            <p:cNvPr id="231458" name="Text Box 34"/>
            <p:cNvSpPr txBox="1">
              <a:spLocks noChangeArrowheads="1"/>
            </p:cNvSpPr>
            <p:nvPr/>
          </p:nvSpPr>
          <p:spPr bwMode="auto">
            <a:xfrm>
              <a:off x="1652311" y="4450034"/>
              <a:ext cx="822354" cy="36167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prstDash val="sysDot"/>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r>
                <a:rPr lang="en-US" altLang="zh-TW" sz="1200" b="1" dirty="0">
                  <a:latin typeface="Arial" pitchFamily="34" charset="0"/>
                </a:rPr>
                <a:t>Access</a:t>
              </a:r>
            </a:p>
          </p:txBody>
        </p:sp>
        <p:sp>
          <p:nvSpPr>
            <p:cNvPr id="231461" name="Rectangle 37"/>
            <p:cNvSpPr>
              <a:spLocks noChangeArrowheads="1"/>
            </p:cNvSpPr>
            <p:nvPr/>
          </p:nvSpPr>
          <p:spPr bwMode="auto">
            <a:xfrm>
              <a:off x="2774157" y="3143251"/>
              <a:ext cx="431006" cy="175022"/>
            </a:xfrm>
            <a:prstGeom prst="rect">
              <a:avLst/>
            </a:prstGeom>
            <a:solidFill>
              <a:schemeClr val="accent1"/>
            </a:solidFill>
            <a:ln w="1270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TW" altLang="en-US" sz="1350"/>
            </a:p>
          </p:txBody>
        </p:sp>
        <p:sp>
          <p:nvSpPr>
            <p:cNvPr id="231462" name="Rectangle 38"/>
            <p:cNvSpPr>
              <a:spLocks noChangeArrowheads="1"/>
            </p:cNvSpPr>
            <p:nvPr/>
          </p:nvSpPr>
          <p:spPr bwMode="auto">
            <a:xfrm>
              <a:off x="3114675" y="4321969"/>
              <a:ext cx="1149225"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r>
                <a:rPr lang="en-US" altLang="zh-TW" sz="1200" b="1">
                  <a:latin typeface="Arial" pitchFamily="34" charset="0"/>
                </a:rPr>
                <a:t>Transfer time</a:t>
              </a:r>
            </a:p>
          </p:txBody>
        </p:sp>
        <p:sp>
          <p:nvSpPr>
            <p:cNvPr id="231463" name="Line 39"/>
            <p:cNvSpPr>
              <a:spLocks noChangeShapeType="1"/>
            </p:cNvSpPr>
            <p:nvPr/>
          </p:nvSpPr>
          <p:spPr bwMode="auto">
            <a:xfrm>
              <a:off x="2803922" y="2914651"/>
              <a:ext cx="0" cy="202406"/>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TW" altLang="en-US" sz="1350"/>
            </a:p>
          </p:txBody>
        </p:sp>
        <p:sp>
          <p:nvSpPr>
            <p:cNvPr id="231464" name="Rectangle 40"/>
            <p:cNvSpPr>
              <a:spLocks noChangeArrowheads="1"/>
            </p:cNvSpPr>
            <p:nvPr/>
          </p:nvSpPr>
          <p:spPr bwMode="auto">
            <a:xfrm>
              <a:off x="2888457" y="2842005"/>
              <a:ext cx="968535" cy="277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r>
                <a:rPr lang="en-US" altLang="zh-TW" sz="1200" b="1" dirty="0">
                  <a:latin typeface="Arial" pitchFamily="34" charset="0"/>
                </a:rPr>
                <a:t>Data ready</a:t>
              </a:r>
            </a:p>
          </p:txBody>
        </p:sp>
        <p:sp>
          <p:nvSpPr>
            <p:cNvPr id="231465" name="Rectangle 41"/>
            <p:cNvSpPr>
              <a:spLocks noChangeArrowheads="1"/>
            </p:cNvSpPr>
            <p:nvPr/>
          </p:nvSpPr>
          <p:spPr bwMode="auto">
            <a:xfrm>
              <a:off x="2793207" y="3432573"/>
              <a:ext cx="960835" cy="163115"/>
            </a:xfrm>
            <a:prstGeom prst="rect">
              <a:avLst/>
            </a:prstGeom>
            <a:solidFill>
              <a:schemeClr val="accent1"/>
            </a:solidFill>
            <a:ln w="1270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TW" altLang="en-US" sz="1350"/>
            </a:p>
          </p:txBody>
        </p:sp>
        <p:sp>
          <p:nvSpPr>
            <p:cNvPr id="231466" name="Rectangle 42"/>
            <p:cNvSpPr>
              <a:spLocks noChangeArrowheads="1"/>
            </p:cNvSpPr>
            <p:nvPr/>
          </p:nvSpPr>
          <p:spPr bwMode="auto">
            <a:xfrm>
              <a:off x="2794398" y="3705225"/>
              <a:ext cx="1459706" cy="188119"/>
            </a:xfrm>
            <a:prstGeom prst="rect">
              <a:avLst/>
            </a:prstGeom>
            <a:solidFill>
              <a:schemeClr val="accent1"/>
            </a:solidFill>
            <a:ln w="1270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TW" altLang="en-US" sz="1350"/>
            </a:p>
          </p:txBody>
        </p:sp>
        <p:sp>
          <p:nvSpPr>
            <p:cNvPr id="231467" name="Rectangle 43"/>
            <p:cNvSpPr>
              <a:spLocks noChangeArrowheads="1"/>
            </p:cNvSpPr>
            <p:nvPr/>
          </p:nvSpPr>
          <p:spPr bwMode="auto">
            <a:xfrm>
              <a:off x="2831307" y="3989785"/>
              <a:ext cx="1765697" cy="183356"/>
            </a:xfrm>
            <a:prstGeom prst="rect">
              <a:avLst/>
            </a:prstGeom>
            <a:solidFill>
              <a:schemeClr val="accent1"/>
            </a:solidFill>
            <a:ln w="1270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TW" altLang="en-US" sz="1350"/>
            </a:p>
          </p:txBody>
        </p:sp>
      </p:grpSp>
      <p:grpSp>
        <p:nvGrpSpPr>
          <p:cNvPr id="3" name="组合 2">
            <a:extLst>
              <a:ext uri="{FF2B5EF4-FFF2-40B4-BE49-F238E27FC236}">
                <a16:creationId xmlns:a16="http://schemas.microsoft.com/office/drawing/2014/main" id="{C2C0179C-B547-4BDA-BD30-4014EEF8F4F3}"/>
              </a:ext>
            </a:extLst>
          </p:cNvPr>
          <p:cNvGrpSpPr/>
          <p:nvPr/>
        </p:nvGrpSpPr>
        <p:grpSpPr>
          <a:xfrm>
            <a:off x="2643836" y="1209367"/>
            <a:ext cx="4510241" cy="1153300"/>
            <a:chOff x="1971675" y="1200151"/>
            <a:chExt cx="5200650" cy="1568097"/>
          </a:xfrm>
        </p:grpSpPr>
        <p:sp>
          <p:nvSpPr>
            <p:cNvPr id="231440" name="Text Box 16"/>
            <p:cNvSpPr txBox="1">
              <a:spLocks noChangeArrowheads="1"/>
            </p:cNvSpPr>
            <p:nvPr/>
          </p:nvSpPr>
          <p:spPr bwMode="auto">
            <a:xfrm>
              <a:off x="3086100" y="1200151"/>
              <a:ext cx="952505" cy="27699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prstDash val="sysDot"/>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r>
                <a:rPr lang="en-US" altLang="zh-TW" sz="1200" b="1">
                  <a:latin typeface="Arial" pitchFamily="34" charset="0"/>
                </a:rPr>
                <a:t>Cycle time</a:t>
              </a:r>
            </a:p>
          </p:txBody>
        </p:sp>
        <p:grpSp>
          <p:nvGrpSpPr>
            <p:cNvPr id="2" name="组合 1">
              <a:extLst>
                <a:ext uri="{FF2B5EF4-FFF2-40B4-BE49-F238E27FC236}">
                  <a16:creationId xmlns:a16="http://schemas.microsoft.com/office/drawing/2014/main" id="{F5D9901D-2DF1-488B-A120-9156D91708D0}"/>
                </a:ext>
              </a:extLst>
            </p:cNvPr>
            <p:cNvGrpSpPr/>
            <p:nvPr/>
          </p:nvGrpSpPr>
          <p:grpSpPr>
            <a:xfrm>
              <a:off x="1971675" y="1314450"/>
              <a:ext cx="5200650" cy="1453798"/>
              <a:chOff x="1971675" y="1314450"/>
              <a:chExt cx="5200650" cy="1453798"/>
            </a:xfrm>
          </p:grpSpPr>
          <p:sp>
            <p:nvSpPr>
              <p:cNvPr id="231426" name="Rectangle 2"/>
              <p:cNvSpPr>
                <a:spLocks noChangeArrowheads="1"/>
              </p:cNvSpPr>
              <p:nvPr/>
            </p:nvSpPr>
            <p:spPr bwMode="auto">
              <a:xfrm>
                <a:off x="1971675" y="1782366"/>
                <a:ext cx="2600325" cy="171450"/>
              </a:xfrm>
              <a:prstGeom prst="rect">
                <a:avLst/>
              </a:prstGeom>
              <a:solidFill>
                <a:schemeClr val="bg1"/>
              </a:solidFill>
              <a:ln w="1270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TW" altLang="en-US" sz="1350"/>
              </a:p>
            </p:txBody>
          </p:sp>
          <p:sp>
            <p:nvSpPr>
              <p:cNvPr id="231427" name="Rectangle 3" descr="50%"/>
              <p:cNvSpPr>
                <a:spLocks noChangeArrowheads="1"/>
              </p:cNvSpPr>
              <p:nvPr/>
            </p:nvSpPr>
            <p:spPr bwMode="auto">
              <a:xfrm>
                <a:off x="1971675" y="1782366"/>
                <a:ext cx="804863" cy="171450"/>
              </a:xfrm>
              <a:prstGeom prst="rect">
                <a:avLst/>
              </a:prstGeom>
              <a:pattFill prst="pct50">
                <a:fgClr>
                  <a:srgbClr val="000000"/>
                </a:fgClr>
                <a:bgClr>
                  <a:schemeClr val="bg1"/>
                </a:bgClr>
              </a:pattFill>
              <a:ln w="1270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TW" altLang="en-US" sz="1350"/>
              </a:p>
            </p:txBody>
          </p:sp>
          <p:sp>
            <p:nvSpPr>
              <p:cNvPr id="231428" name="Rectangle 4"/>
              <p:cNvSpPr>
                <a:spLocks noChangeArrowheads="1"/>
              </p:cNvSpPr>
              <p:nvPr/>
            </p:nvSpPr>
            <p:spPr bwMode="auto">
              <a:xfrm>
                <a:off x="4572000" y="1953816"/>
                <a:ext cx="2600325" cy="171450"/>
              </a:xfrm>
              <a:prstGeom prst="rect">
                <a:avLst/>
              </a:prstGeom>
              <a:solidFill>
                <a:schemeClr val="bg1"/>
              </a:solidFill>
              <a:ln w="1270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TW" altLang="en-US" sz="1350"/>
              </a:p>
            </p:txBody>
          </p:sp>
          <p:sp>
            <p:nvSpPr>
              <p:cNvPr id="231429" name="Rectangle 5" descr="50%"/>
              <p:cNvSpPr>
                <a:spLocks noChangeArrowheads="1"/>
              </p:cNvSpPr>
              <p:nvPr/>
            </p:nvSpPr>
            <p:spPr bwMode="auto">
              <a:xfrm>
                <a:off x="4572000" y="1953816"/>
                <a:ext cx="804863" cy="171450"/>
              </a:xfrm>
              <a:prstGeom prst="rect">
                <a:avLst/>
              </a:prstGeom>
              <a:pattFill prst="pct50">
                <a:fgClr>
                  <a:srgbClr val="000000"/>
                </a:fgClr>
                <a:bgClr>
                  <a:schemeClr val="bg1"/>
                </a:bgClr>
              </a:pattFill>
              <a:ln w="1270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TW" altLang="en-US" sz="1350"/>
              </a:p>
            </p:txBody>
          </p:sp>
          <p:sp>
            <p:nvSpPr>
              <p:cNvPr id="231430" name="Text Box 6"/>
              <p:cNvSpPr txBox="1">
                <a:spLocks noChangeArrowheads="1"/>
              </p:cNvSpPr>
              <p:nvPr/>
            </p:nvSpPr>
            <p:spPr bwMode="auto">
              <a:xfrm>
                <a:off x="2825354" y="2095500"/>
                <a:ext cx="1184940" cy="30008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prstDash val="sysDot"/>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r>
                  <a:rPr lang="en-US" altLang="zh-TW" sz="1350" b="1">
                    <a:latin typeface="Arial" pitchFamily="34" charset="0"/>
                  </a:rPr>
                  <a:t>D1 available</a:t>
                </a:r>
              </a:p>
            </p:txBody>
          </p:sp>
          <p:sp>
            <p:nvSpPr>
              <p:cNvPr id="231431" name="Text Box 7"/>
              <p:cNvSpPr txBox="1">
                <a:spLocks noChangeArrowheads="1"/>
              </p:cNvSpPr>
              <p:nvPr/>
            </p:nvSpPr>
            <p:spPr bwMode="auto">
              <a:xfrm>
                <a:off x="1971676" y="2324100"/>
                <a:ext cx="1752403" cy="30008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prstDash val="sysDot"/>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r>
                  <a:rPr lang="en-US" altLang="zh-TW" sz="1350" b="1">
                    <a:latin typeface="Arial" pitchFamily="34" charset="0"/>
                  </a:rPr>
                  <a:t>Start access for D1</a:t>
                </a:r>
              </a:p>
            </p:txBody>
          </p:sp>
          <p:sp>
            <p:nvSpPr>
              <p:cNvPr id="231432" name="Line 8"/>
              <p:cNvSpPr>
                <a:spLocks noChangeShapeType="1"/>
              </p:cNvSpPr>
              <p:nvPr/>
            </p:nvSpPr>
            <p:spPr bwMode="auto">
              <a:xfrm flipV="1">
                <a:off x="1971675" y="1953816"/>
                <a:ext cx="0" cy="514350"/>
              </a:xfrm>
              <a:prstGeom prst="line">
                <a:avLst/>
              </a:prstGeom>
              <a:noFill/>
              <a:ln w="12700">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sz="1350"/>
              </a:p>
            </p:txBody>
          </p:sp>
          <p:sp>
            <p:nvSpPr>
              <p:cNvPr id="231433" name="Line 9"/>
              <p:cNvSpPr>
                <a:spLocks noChangeShapeType="1"/>
              </p:cNvSpPr>
              <p:nvPr/>
            </p:nvSpPr>
            <p:spPr bwMode="auto">
              <a:xfrm flipV="1">
                <a:off x="2776538" y="1953816"/>
                <a:ext cx="0" cy="342900"/>
              </a:xfrm>
              <a:prstGeom prst="line">
                <a:avLst/>
              </a:prstGeom>
              <a:noFill/>
              <a:ln w="12700">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sz="1350"/>
              </a:p>
            </p:txBody>
          </p:sp>
          <p:sp>
            <p:nvSpPr>
              <p:cNvPr id="231434" name="Text Box 10"/>
              <p:cNvSpPr txBox="1">
                <a:spLocks noChangeArrowheads="1"/>
              </p:cNvSpPr>
              <p:nvPr/>
            </p:nvSpPr>
            <p:spPr bwMode="auto">
              <a:xfrm>
                <a:off x="4572001" y="2468166"/>
                <a:ext cx="1752403" cy="30008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prstDash val="sysDot"/>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r>
                  <a:rPr lang="en-US" altLang="zh-TW" sz="1350" b="1">
                    <a:latin typeface="Arial" pitchFamily="34" charset="0"/>
                  </a:rPr>
                  <a:t>Start access for D2</a:t>
                </a:r>
              </a:p>
            </p:txBody>
          </p:sp>
          <p:sp>
            <p:nvSpPr>
              <p:cNvPr id="231435" name="Line 11"/>
              <p:cNvSpPr>
                <a:spLocks noChangeShapeType="1"/>
              </p:cNvSpPr>
              <p:nvPr/>
            </p:nvSpPr>
            <p:spPr bwMode="auto">
              <a:xfrm flipV="1">
                <a:off x="4572000" y="2097881"/>
                <a:ext cx="0" cy="514350"/>
              </a:xfrm>
              <a:prstGeom prst="line">
                <a:avLst/>
              </a:prstGeom>
              <a:noFill/>
              <a:ln w="12700">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sz="1350"/>
              </a:p>
            </p:txBody>
          </p:sp>
          <p:sp>
            <p:nvSpPr>
              <p:cNvPr id="231436" name="Line 12"/>
              <p:cNvSpPr>
                <a:spLocks noChangeShapeType="1"/>
              </p:cNvSpPr>
              <p:nvPr/>
            </p:nvSpPr>
            <p:spPr bwMode="auto">
              <a:xfrm flipV="1">
                <a:off x="1971675" y="1314450"/>
                <a:ext cx="0" cy="4572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sz="1350"/>
              </a:p>
            </p:txBody>
          </p:sp>
          <p:sp>
            <p:nvSpPr>
              <p:cNvPr id="231437" name="Line 13"/>
              <p:cNvSpPr>
                <a:spLocks noChangeShapeType="1"/>
              </p:cNvSpPr>
              <p:nvPr/>
            </p:nvSpPr>
            <p:spPr bwMode="auto">
              <a:xfrm flipV="1">
                <a:off x="4572000" y="1314450"/>
                <a:ext cx="0" cy="4572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sz="1350"/>
              </a:p>
            </p:txBody>
          </p:sp>
          <p:sp>
            <p:nvSpPr>
              <p:cNvPr id="231438" name="Line 14"/>
              <p:cNvSpPr>
                <a:spLocks noChangeShapeType="1"/>
              </p:cNvSpPr>
              <p:nvPr/>
            </p:nvSpPr>
            <p:spPr bwMode="auto">
              <a:xfrm>
                <a:off x="1971675" y="1326356"/>
                <a:ext cx="1114425" cy="0"/>
              </a:xfrm>
              <a:prstGeom prst="line">
                <a:avLst/>
              </a:prstGeom>
              <a:noFill/>
              <a:ln w="12700">
                <a:solidFill>
                  <a:schemeClr val="tx1"/>
                </a:solidFill>
                <a:round/>
                <a:headEnd type="triangle" w="med" len="med"/>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sz="1350"/>
              </a:p>
            </p:txBody>
          </p:sp>
          <p:sp>
            <p:nvSpPr>
              <p:cNvPr id="231439" name="Line 15"/>
              <p:cNvSpPr>
                <a:spLocks noChangeShapeType="1"/>
              </p:cNvSpPr>
              <p:nvPr/>
            </p:nvSpPr>
            <p:spPr bwMode="auto">
              <a:xfrm>
                <a:off x="4014787" y="1326356"/>
                <a:ext cx="557213" cy="0"/>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sz="1350"/>
              </a:p>
            </p:txBody>
          </p:sp>
          <p:sp>
            <p:nvSpPr>
              <p:cNvPr id="231441" name="Line 17"/>
              <p:cNvSpPr>
                <a:spLocks noChangeShapeType="1"/>
              </p:cNvSpPr>
              <p:nvPr/>
            </p:nvSpPr>
            <p:spPr bwMode="auto">
              <a:xfrm flipV="1">
                <a:off x="2776538" y="1600200"/>
                <a:ext cx="0" cy="17145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sz="1350"/>
              </a:p>
            </p:txBody>
          </p:sp>
          <p:sp>
            <p:nvSpPr>
              <p:cNvPr id="231442" name="Line 18"/>
              <p:cNvSpPr>
                <a:spLocks noChangeShapeType="1"/>
              </p:cNvSpPr>
              <p:nvPr/>
            </p:nvSpPr>
            <p:spPr bwMode="auto">
              <a:xfrm>
                <a:off x="1971675" y="1657350"/>
                <a:ext cx="804863" cy="0"/>
              </a:xfrm>
              <a:prstGeom prst="line">
                <a:avLst/>
              </a:prstGeom>
              <a:noFill/>
              <a:ln w="12700">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sz="1350"/>
              </a:p>
            </p:txBody>
          </p:sp>
          <p:sp>
            <p:nvSpPr>
              <p:cNvPr id="231443" name="Text Box 19"/>
              <p:cNvSpPr txBox="1">
                <a:spLocks noChangeArrowheads="1"/>
              </p:cNvSpPr>
              <p:nvPr/>
            </p:nvSpPr>
            <p:spPr bwMode="auto">
              <a:xfrm>
                <a:off x="2020490" y="1365575"/>
                <a:ext cx="1079142" cy="2770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prstDash val="sysDot"/>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r>
                  <a:rPr lang="en-US" altLang="zh-TW" sz="1200" b="1" dirty="0">
                    <a:latin typeface="Arial" pitchFamily="34" charset="0"/>
                  </a:rPr>
                  <a:t>Access time</a:t>
                </a:r>
              </a:p>
            </p:txBody>
          </p:sp>
          <p:sp>
            <p:nvSpPr>
              <p:cNvPr id="231468" name="Rectangle 44"/>
              <p:cNvSpPr>
                <a:spLocks noChangeArrowheads="1"/>
              </p:cNvSpPr>
              <p:nvPr/>
            </p:nvSpPr>
            <p:spPr bwMode="auto">
              <a:xfrm>
                <a:off x="2793207" y="1781176"/>
                <a:ext cx="431006" cy="175022"/>
              </a:xfrm>
              <a:prstGeom prst="rect">
                <a:avLst/>
              </a:prstGeom>
              <a:solidFill>
                <a:schemeClr val="accent1"/>
              </a:solidFill>
              <a:ln w="1270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TW" altLang="en-US" sz="1350"/>
              </a:p>
            </p:txBody>
          </p:sp>
        </p:grpSp>
      </p:grpSp>
      <p:sp>
        <p:nvSpPr>
          <p:cNvPr id="45" name="Slide Number Placeholder 5">
            <a:extLst>
              <a:ext uri="{FF2B5EF4-FFF2-40B4-BE49-F238E27FC236}">
                <a16:creationId xmlns:a16="http://schemas.microsoft.com/office/drawing/2014/main" id="{326D4B6B-AA36-4BBE-BD24-27C47ADDCF62}"/>
              </a:ext>
            </a:extLst>
          </p:cNvPr>
          <p:cNvSpPr>
            <a:spLocks noGrp="1"/>
          </p:cNvSpPr>
          <p:nvPr>
            <p:ph type="sldNum" sz="quarter" idx="10"/>
          </p:nvPr>
        </p:nvSpPr>
        <p:spPr>
          <a:xfrm>
            <a:off x="6831013" y="4893471"/>
            <a:ext cx="2133600" cy="254794"/>
          </a:xfrm>
        </p:spPr>
        <p:txBody>
          <a:bodyPr/>
          <a:lstStyle/>
          <a:p>
            <a:fld id="{D9B6BDF2-6896-4B98-8776-C18582F63BA5}" type="slidenum">
              <a:rPr lang="zh-TW" altLang="en-US" smtClean="0"/>
              <a:pPr/>
              <a:t>43</a:t>
            </a:fld>
            <a:endParaRPr lang="zh-TW" altLang="en-US"/>
          </a:p>
        </p:txBody>
      </p:sp>
      <p:sp>
        <p:nvSpPr>
          <p:cNvPr id="49" name="Rectangle 36">
            <a:extLst>
              <a:ext uri="{FF2B5EF4-FFF2-40B4-BE49-F238E27FC236}">
                <a16:creationId xmlns:a16="http://schemas.microsoft.com/office/drawing/2014/main" id="{7F08B855-1C49-4268-BAEF-77C24CA5639C}"/>
              </a:ext>
            </a:extLst>
          </p:cNvPr>
          <p:cNvSpPr txBox="1">
            <a:spLocks noChangeArrowheads="1"/>
          </p:cNvSpPr>
          <p:nvPr/>
        </p:nvSpPr>
        <p:spPr bwMode="auto">
          <a:xfrm>
            <a:off x="962180" y="2487639"/>
            <a:ext cx="4583214" cy="491534"/>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257168" indent="-257168" algn="l" rtl="0" eaLnBrk="1" fontAlgn="base" hangingPunct="1">
              <a:spcBef>
                <a:spcPct val="20000"/>
              </a:spcBef>
              <a:spcAft>
                <a:spcPct val="0"/>
              </a:spcAft>
              <a:buClr>
                <a:srgbClr val="0000FF"/>
              </a:buClr>
              <a:buSzPct val="80000"/>
              <a:buFont typeface="Wingdings" pitchFamily="2" charset="2"/>
              <a:buChar char="l"/>
              <a:defRPr kumimoji="1" sz="2800">
                <a:solidFill>
                  <a:schemeClr val="tx1"/>
                </a:solidFill>
                <a:latin typeface="Calibri" pitchFamily="34" charset="0"/>
                <a:ea typeface="標楷體" pitchFamily="65" charset="-120"/>
                <a:cs typeface="+mn-cs"/>
              </a:defRPr>
            </a:lvl1pPr>
            <a:lvl2pPr marL="557199" indent="-214308" algn="l" rtl="0" eaLnBrk="1" fontAlgn="base" hangingPunct="1">
              <a:spcBef>
                <a:spcPct val="20000"/>
              </a:spcBef>
              <a:spcAft>
                <a:spcPct val="0"/>
              </a:spcAft>
              <a:buClr>
                <a:srgbClr val="0000FF"/>
              </a:buClr>
              <a:buSzPct val="90000"/>
              <a:buFont typeface="Arial" charset="0"/>
              <a:buChar char="–"/>
              <a:defRPr kumimoji="1" sz="2400">
                <a:solidFill>
                  <a:schemeClr val="tx1"/>
                </a:solidFill>
                <a:latin typeface="Calibri" pitchFamily="34" charset="0"/>
                <a:ea typeface="標楷體" pitchFamily="65" charset="-120"/>
              </a:defRPr>
            </a:lvl2pPr>
            <a:lvl3pPr marL="857229" indent="-171446" algn="l" rtl="0" eaLnBrk="1" fontAlgn="base" hangingPunct="1">
              <a:spcBef>
                <a:spcPct val="20000"/>
              </a:spcBef>
              <a:spcAft>
                <a:spcPct val="0"/>
              </a:spcAft>
              <a:buChar char="•"/>
              <a:defRPr kumimoji="1" sz="1800">
                <a:solidFill>
                  <a:schemeClr val="tx1"/>
                </a:solidFill>
                <a:latin typeface="+mn-lt"/>
                <a:ea typeface="+mn-ea"/>
              </a:defRPr>
            </a:lvl3pPr>
            <a:lvl4pPr marL="1200121" indent="-171446" algn="l" rtl="0" eaLnBrk="1" fontAlgn="base" hangingPunct="1">
              <a:spcBef>
                <a:spcPct val="20000"/>
              </a:spcBef>
              <a:spcAft>
                <a:spcPct val="0"/>
              </a:spcAft>
              <a:buChar char="–"/>
              <a:defRPr kumimoji="1" sz="1500">
                <a:solidFill>
                  <a:schemeClr val="tx1"/>
                </a:solidFill>
                <a:latin typeface="+mn-lt"/>
                <a:ea typeface="+mn-ea"/>
              </a:defRPr>
            </a:lvl4pPr>
            <a:lvl5pPr marL="1543012" indent="-171446" algn="l" rtl="0" eaLnBrk="1" fontAlgn="base" hangingPunct="1">
              <a:spcBef>
                <a:spcPct val="20000"/>
              </a:spcBef>
              <a:spcAft>
                <a:spcPct val="0"/>
              </a:spcAft>
              <a:buChar char="»"/>
              <a:defRPr kumimoji="1" sz="1500">
                <a:solidFill>
                  <a:schemeClr val="tx1"/>
                </a:solidFill>
                <a:latin typeface="+mn-lt"/>
                <a:ea typeface="+mn-ea"/>
              </a:defRPr>
            </a:lvl5pPr>
            <a:lvl6pPr marL="1885904" indent="-171446" algn="l" rtl="0" eaLnBrk="1" fontAlgn="base" hangingPunct="1">
              <a:spcBef>
                <a:spcPct val="20000"/>
              </a:spcBef>
              <a:spcAft>
                <a:spcPct val="0"/>
              </a:spcAft>
              <a:buChar char="»"/>
              <a:defRPr kumimoji="1" sz="1500">
                <a:solidFill>
                  <a:schemeClr val="tx1"/>
                </a:solidFill>
                <a:latin typeface="+mn-lt"/>
                <a:ea typeface="+mn-ea"/>
              </a:defRPr>
            </a:lvl6pPr>
            <a:lvl7pPr marL="2228795" indent="-171446" algn="l" rtl="0" eaLnBrk="1" fontAlgn="base" hangingPunct="1">
              <a:spcBef>
                <a:spcPct val="20000"/>
              </a:spcBef>
              <a:spcAft>
                <a:spcPct val="0"/>
              </a:spcAft>
              <a:buChar char="»"/>
              <a:defRPr kumimoji="1" sz="1500">
                <a:solidFill>
                  <a:schemeClr val="tx1"/>
                </a:solidFill>
                <a:latin typeface="+mn-lt"/>
                <a:ea typeface="+mn-ea"/>
              </a:defRPr>
            </a:lvl7pPr>
            <a:lvl8pPr marL="2571686" indent="-171446" algn="l" rtl="0" eaLnBrk="1" fontAlgn="base" hangingPunct="1">
              <a:spcBef>
                <a:spcPct val="20000"/>
              </a:spcBef>
              <a:spcAft>
                <a:spcPct val="0"/>
              </a:spcAft>
              <a:buChar char="»"/>
              <a:defRPr kumimoji="1" sz="1500">
                <a:solidFill>
                  <a:schemeClr val="tx1"/>
                </a:solidFill>
                <a:latin typeface="+mn-lt"/>
                <a:ea typeface="+mn-ea"/>
              </a:defRPr>
            </a:lvl8pPr>
            <a:lvl9pPr marL="2914578" indent="-171446" algn="l" rtl="0" eaLnBrk="1" fontAlgn="base" hangingPunct="1">
              <a:spcBef>
                <a:spcPct val="20000"/>
              </a:spcBef>
              <a:spcAft>
                <a:spcPct val="0"/>
              </a:spcAft>
              <a:buChar char="»"/>
              <a:defRPr kumimoji="1" sz="1500">
                <a:solidFill>
                  <a:schemeClr val="tx1"/>
                </a:solidFill>
                <a:latin typeface="+mn-lt"/>
                <a:ea typeface="+mn-ea"/>
              </a:defRPr>
            </a:lvl9pPr>
          </a:lstStyle>
          <a:p>
            <a:pPr>
              <a:spcBef>
                <a:spcPct val="0"/>
              </a:spcBef>
            </a:pPr>
            <a:r>
              <a:rPr lang="en-US" altLang="zh-TW" sz="2000" kern="0" dirty="0"/>
              <a:t>Access pattern with interleaving</a:t>
            </a:r>
          </a:p>
        </p:txBody>
      </p:sp>
      <p:sp>
        <p:nvSpPr>
          <p:cNvPr id="50" name="Text Box 34">
            <a:extLst>
              <a:ext uri="{FF2B5EF4-FFF2-40B4-BE49-F238E27FC236}">
                <a16:creationId xmlns:a16="http://schemas.microsoft.com/office/drawing/2014/main" id="{21737C3B-0FB6-4858-887F-876D3C53B233}"/>
              </a:ext>
            </a:extLst>
          </p:cNvPr>
          <p:cNvSpPr txBox="1">
            <a:spLocks noChangeArrowheads="1"/>
          </p:cNvSpPr>
          <p:nvPr/>
        </p:nvSpPr>
        <p:spPr bwMode="auto">
          <a:xfrm>
            <a:off x="1283109" y="3029624"/>
            <a:ext cx="1263906" cy="27699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prstDash val="sysDot"/>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0" hangingPunct="0"/>
            <a:r>
              <a:rPr lang="en-US" altLang="zh-TW" sz="1200" b="1" dirty="0">
                <a:latin typeface="Arial" pitchFamily="34" charset="0"/>
              </a:rPr>
              <a:t>Access Bank </a:t>
            </a:r>
            <a:r>
              <a:rPr lang="en-US" altLang="zh-CN" sz="1200" b="1" dirty="0">
                <a:latin typeface="Arial" pitchFamily="34" charset="0"/>
              </a:rPr>
              <a:t>0</a:t>
            </a:r>
          </a:p>
        </p:txBody>
      </p:sp>
      <p:sp>
        <p:nvSpPr>
          <p:cNvPr id="51" name="Text Box 34">
            <a:extLst>
              <a:ext uri="{FF2B5EF4-FFF2-40B4-BE49-F238E27FC236}">
                <a16:creationId xmlns:a16="http://schemas.microsoft.com/office/drawing/2014/main" id="{3B01E9ED-F54A-4916-8F81-2358B7777065}"/>
              </a:ext>
            </a:extLst>
          </p:cNvPr>
          <p:cNvSpPr txBox="1">
            <a:spLocks noChangeArrowheads="1"/>
          </p:cNvSpPr>
          <p:nvPr/>
        </p:nvSpPr>
        <p:spPr bwMode="auto">
          <a:xfrm>
            <a:off x="1280650" y="3233644"/>
            <a:ext cx="1263906" cy="27699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prstDash val="sysDot"/>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0" hangingPunct="0"/>
            <a:r>
              <a:rPr lang="en-US" altLang="zh-TW" sz="1200" b="1" dirty="0">
                <a:latin typeface="Arial" pitchFamily="34" charset="0"/>
              </a:rPr>
              <a:t>Access Bank </a:t>
            </a:r>
            <a:r>
              <a:rPr lang="en-US" altLang="zh-CN" sz="1200" b="1" dirty="0">
                <a:latin typeface="Arial" pitchFamily="34" charset="0"/>
              </a:rPr>
              <a:t>1</a:t>
            </a:r>
          </a:p>
        </p:txBody>
      </p:sp>
      <p:sp>
        <p:nvSpPr>
          <p:cNvPr id="52" name="Text Box 34">
            <a:extLst>
              <a:ext uri="{FF2B5EF4-FFF2-40B4-BE49-F238E27FC236}">
                <a16:creationId xmlns:a16="http://schemas.microsoft.com/office/drawing/2014/main" id="{63551BAC-8FC9-4901-BF28-DDC5E5997A9B}"/>
              </a:ext>
            </a:extLst>
          </p:cNvPr>
          <p:cNvSpPr txBox="1">
            <a:spLocks noChangeArrowheads="1"/>
          </p:cNvSpPr>
          <p:nvPr/>
        </p:nvSpPr>
        <p:spPr bwMode="auto">
          <a:xfrm>
            <a:off x="1280651" y="3462244"/>
            <a:ext cx="1263906" cy="27699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prstDash val="sysDot"/>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0" hangingPunct="0"/>
            <a:r>
              <a:rPr lang="en-US" altLang="zh-TW" sz="1200" b="1" dirty="0">
                <a:latin typeface="Arial" pitchFamily="34" charset="0"/>
              </a:rPr>
              <a:t>Access Bank </a:t>
            </a:r>
            <a:r>
              <a:rPr lang="en-US" altLang="zh-CN" sz="1200" b="1" dirty="0">
                <a:latin typeface="Arial" pitchFamily="34" charset="0"/>
              </a:rPr>
              <a:t>2</a:t>
            </a:r>
          </a:p>
        </p:txBody>
      </p:sp>
      <p:sp>
        <p:nvSpPr>
          <p:cNvPr id="53" name="Text Box 34">
            <a:extLst>
              <a:ext uri="{FF2B5EF4-FFF2-40B4-BE49-F238E27FC236}">
                <a16:creationId xmlns:a16="http://schemas.microsoft.com/office/drawing/2014/main" id="{35496D80-F0D2-4A09-87E8-54EB28EEB740}"/>
              </a:ext>
            </a:extLst>
          </p:cNvPr>
          <p:cNvSpPr txBox="1">
            <a:spLocks noChangeArrowheads="1"/>
          </p:cNvSpPr>
          <p:nvPr/>
        </p:nvSpPr>
        <p:spPr bwMode="auto">
          <a:xfrm>
            <a:off x="1280651" y="3683470"/>
            <a:ext cx="1263906" cy="27699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prstDash val="sysDot"/>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0" hangingPunct="0"/>
            <a:r>
              <a:rPr lang="en-US" altLang="zh-TW" sz="1200" b="1" dirty="0">
                <a:latin typeface="Arial" pitchFamily="34" charset="0"/>
              </a:rPr>
              <a:t>Access Bank </a:t>
            </a:r>
            <a:r>
              <a:rPr lang="en-US" altLang="zh-CN" sz="1200" b="1" dirty="0">
                <a:latin typeface="Arial" pitchFamily="34" charset="0"/>
              </a:rPr>
              <a:t>3</a:t>
            </a:r>
          </a:p>
        </p:txBody>
      </p:sp>
    </p:spTree>
    <p:extLst>
      <p:ext uri="{BB962C8B-B14F-4D97-AF65-F5344CB8AC3E}">
        <p14:creationId xmlns:p14="http://schemas.microsoft.com/office/powerpoint/2010/main" val="290900753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p:cNvSpPr>
            <a:spLocks noGrp="1" noChangeArrowheads="1"/>
          </p:cNvSpPr>
          <p:nvPr>
            <p:ph type="title"/>
          </p:nvPr>
        </p:nvSpPr>
        <p:spPr>
          <a:xfrm>
            <a:off x="1017639" y="129779"/>
            <a:ext cx="7602793" cy="489653"/>
          </a:xfrm>
        </p:spPr>
        <p:txBody>
          <a:bodyPr/>
          <a:lstStyle/>
          <a:p>
            <a:r>
              <a:rPr lang="en-US" altLang="zh-TW" sz="2800" dirty="0"/>
              <a:t>Miss Penalty for Different Memory Organizations</a:t>
            </a:r>
          </a:p>
        </p:txBody>
      </p:sp>
      <p:sp>
        <p:nvSpPr>
          <p:cNvPr id="47107" name="Rectangle 3"/>
          <p:cNvSpPr>
            <a:spLocks noGrp="1" noChangeArrowheads="1"/>
          </p:cNvSpPr>
          <p:nvPr>
            <p:ph type="body" idx="1"/>
          </p:nvPr>
        </p:nvSpPr>
        <p:spPr>
          <a:xfrm>
            <a:off x="1072331" y="841349"/>
            <a:ext cx="6627019" cy="3605289"/>
          </a:xfrm>
          <a:noFill/>
        </p:spPr>
        <p:txBody>
          <a:bodyPr/>
          <a:lstStyle/>
          <a:p>
            <a:pPr>
              <a:lnSpc>
                <a:spcPct val="80000"/>
              </a:lnSpc>
              <a:buFont typeface="Wingdings" pitchFamily="2" charset="2"/>
              <a:buNone/>
            </a:pPr>
            <a:r>
              <a:rPr lang="en-US" altLang="zh-TW" dirty="0"/>
              <a:t>Assume</a:t>
            </a:r>
          </a:p>
          <a:p>
            <a:pPr>
              <a:lnSpc>
                <a:spcPct val="80000"/>
              </a:lnSpc>
            </a:pPr>
            <a:r>
              <a:rPr lang="en-US" altLang="zh-TW" sz="2000" dirty="0"/>
              <a:t>1 memory bus clock to send the address</a:t>
            </a:r>
          </a:p>
          <a:p>
            <a:pPr>
              <a:lnSpc>
                <a:spcPct val="80000"/>
              </a:lnSpc>
            </a:pPr>
            <a:r>
              <a:rPr lang="en-US" altLang="zh-TW" sz="2000" dirty="0"/>
              <a:t>15 memory bus clocks for each DRAM access initiated</a:t>
            </a:r>
          </a:p>
          <a:p>
            <a:pPr>
              <a:lnSpc>
                <a:spcPct val="80000"/>
              </a:lnSpc>
            </a:pPr>
            <a:r>
              <a:rPr lang="en-US" altLang="zh-TW" sz="2000" dirty="0"/>
              <a:t>1 memory bus clock to send a word of data</a:t>
            </a:r>
          </a:p>
          <a:p>
            <a:pPr>
              <a:lnSpc>
                <a:spcPct val="80000"/>
              </a:lnSpc>
            </a:pPr>
            <a:r>
              <a:rPr lang="en-US" altLang="zh-TW" sz="2000" dirty="0"/>
              <a:t>A cache block =  4  words</a:t>
            </a:r>
          </a:p>
          <a:p>
            <a:pPr>
              <a:lnSpc>
                <a:spcPct val="80000"/>
              </a:lnSpc>
            </a:pPr>
            <a:r>
              <a:rPr lang="en-US" altLang="zh-TW" sz="2000" dirty="0"/>
              <a:t>Three memory organizations :</a:t>
            </a:r>
          </a:p>
          <a:p>
            <a:pPr lvl="1">
              <a:lnSpc>
                <a:spcPct val="80000"/>
              </a:lnSpc>
            </a:pPr>
            <a:r>
              <a:rPr lang="en-US" altLang="zh-TW" sz="1800" dirty="0"/>
              <a:t>A </a:t>
            </a:r>
            <a:r>
              <a:rPr lang="en-US" altLang="zh-TW" sz="1800" dirty="0">
                <a:solidFill>
                  <a:srgbClr val="FF0000"/>
                </a:solidFill>
              </a:rPr>
              <a:t>one-word-wide bank </a:t>
            </a:r>
            <a:r>
              <a:rPr lang="en-US" altLang="zh-TW" sz="1800" dirty="0"/>
              <a:t>of DRAMs</a:t>
            </a:r>
          </a:p>
          <a:p>
            <a:pPr lvl="2">
              <a:lnSpc>
                <a:spcPct val="80000"/>
              </a:lnSpc>
            </a:pPr>
            <a:r>
              <a:rPr lang="en-US" altLang="zh-TW" sz="1600" dirty="0"/>
              <a:t>Miss penalty = </a:t>
            </a:r>
            <a:r>
              <a:rPr lang="en-US" altLang="zh-TW" sz="1600" dirty="0">
                <a:solidFill>
                  <a:srgbClr val="FF0000"/>
                </a:solidFill>
              </a:rPr>
              <a:t>1 + 4 x 15 + 4 x 1 </a:t>
            </a:r>
            <a:r>
              <a:rPr lang="en-US" altLang="zh-TW" sz="1600" dirty="0"/>
              <a:t>= 65</a:t>
            </a:r>
          </a:p>
          <a:p>
            <a:pPr lvl="1">
              <a:lnSpc>
                <a:spcPct val="80000"/>
              </a:lnSpc>
            </a:pPr>
            <a:r>
              <a:rPr lang="en-US" altLang="zh-TW" sz="1800" dirty="0"/>
              <a:t>A </a:t>
            </a:r>
            <a:r>
              <a:rPr lang="en-US" altLang="zh-TW" sz="1800" dirty="0">
                <a:solidFill>
                  <a:srgbClr val="FF0000"/>
                </a:solidFill>
              </a:rPr>
              <a:t>four-word-wide bank </a:t>
            </a:r>
            <a:r>
              <a:rPr lang="en-US" altLang="zh-TW" sz="1800" dirty="0"/>
              <a:t>of DRAMs</a:t>
            </a:r>
          </a:p>
          <a:p>
            <a:pPr lvl="2">
              <a:lnSpc>
                <a:spcPct val="80000"/>
              </a:lnSpc>
            </a:pPr>
            <a:r>
              <a:rPr lang="en-US" altLang="zh-TW" sz="1600" dirty="0"/>
              <a:t>Miss penalty = </a:t>
            </a:r>
            <a:r>
              <a:rPr lang="en-US" altLang="zh-TW" sz="1600" dirty="0">
                <a:solidFill>
                  <a:srgbClr val="FF0000"/>
                </a:solidFill>
              </a:rPr>
              <a:t>1 + 15 + 1 = 17</a:t>
            </a:r>
            <a:endParaRPr lang="en-US" altLang="zh-TW" sz="1800" dirty="0">
              <a:solidFill>
                <a:srgbClr val="FF0000"/>
              </a:solidFill>
            </a:endParaRPr>
          </a:p>
          <a:p>
            <a:pPr lvl="1">
              <a:lnSpc>
                <a:spcPct val="80000"/>
              </a:lnSpc>
            </a:pPr>
            <a:r>
              <a:rPr lang="en-US" altLang="zh-TW" sz="1800" dirty="0"/>
              <a:t>A </a:t>
            </a:r>
            <a:r>
              <a:rPr lang="en-US" altLang="zh-TW" sz="1800" dirty="0">
                <a:solidFill>
                  <a:srgbClr val="FF0000"/>
                </a:solidFill>
              </a:rPr>
              <a:t>four-bank, one-word-wide bus </a:t>
            </a:r>
            <a:r>
              <a:rPr lang="en-US" altLang="zh-TW" sz="1800" dirty="0"/>
              <a:t>of DRAMs</a:t>
            </a:r>
          </a:p>
          <a:p>
            <a:pPr lvl="2">
              <a:lnSpc>
                <a:spcPct val="80000"/>
              </a:lnSpc>
            </a:pPr>
            <a:r>
              <a:rPr lang="en-US" altLang="zh-TW" sz="1600" dirty="0"/>
              <a:t>Miss penalty = </a:t>
            </a:r>
            <a:r>
              <a:rPr lang="en-US" altLang="zh-TW" sz="1600" dirty="0">
                <a:solidFill>
                  <a:srgbClr val="FF0000"/>
                </a:solidFill>
              </a:rPr>
              <a:t>1 + 1 x 15 + 4 x 1 </a:t>
            </a:r>
            <a:r>
              <a:rPr lang="en-US" altLang="zh-TW" sz="1600" dirty="0"/>
              <a:t>= 20</a:t>
            </a:r>
          </a:p>
        </p:txBody>
      </p:sp>
      <p:sp>
        <p:nvSpPr>
          <p:cNvPr id="47108" name="投影片編號版面配置區 1"/>
          <p:cNvSpPr>
            <a:spLocks noGrp="1"/>
          </p:cNvSpPr>
          <p:nvPr>
            <p:ph type="sldNum" sz="quarter" idx="12"/>
          </p:nvPr>
        </p:nvSpPr>
        <p:spPr bwMode="auto">
          <a:xfrm>
            <a:off x="7602538" y="6457950"/>
            <a:ext cx="2063750" cy="457200"/>
          </a:xfrm>
          <a:prstGeom prst="rect">
            <a:avLst/>
          </a:prstGeom>
          <a:noFill/>
          <a:ln>
            <a:noFill/>
          </a:ln>
          <a:effectLst/>
          <a:extLst/>
        </p:spPr>
        <p:txBody>
          <a:bodyPr vert="horz" wrap="none" lIns="92075" tIns="46038" rIns="92075" bIns="46038" numCol="1" anchor="ctr" anchorCtr="0" compatLnSpc="1">
            <a:prstTxWarp prst="textNoShape">
              <a:avLst/>
            </a:prstTxWarp>
          </a:bodyPr>
          <a:lstStyle>
            <a:defPPr>
              <a:defRPr lang="en-US"/>
            </a:defPPr>
            <a:lvl1pPr algn="r" rtl="0" eaLnBrk="0" fontAlgn="base" hangingPunct="0">
              <a:spcBef>
                <a:spcPct val="0"/>
              </a:spcBef>
              <a:spcAft>
                <a:spcPct val="0"/>
              </a:spcAft>
              <a:defRPr sz="1400" kern="1200">
                <a:solidFill>
                  <a:schemeClr val="tx1"/>
                </a:solidFill>
                <a:latin typeface="Arial" pitchFamily="34" charset="0"/>
                <a:ea typeface="新細明體" pitchFamily="18" charset="-120"/>
                <a:cs typeface="+mn-cs"/>
              </a:defRPr>
            </a:lvl1pPr>
            <a:lvl2pPr marL="457200" algn="l" rtl="0" eaLnBrk="0" fontAlgn="base" hangingPunct="0">
              <a:spcBef>
                <a:spcPct val="0"/>
              </a:spcBef>
              <a:spcAft>
                <a:spcPct val="0"/>
              </a:spcAft>
              <a:defRPr sz="2400" kern="1200">
                <a:solidFill>
                  <a:schemeClr val="tx1"/>
                </a:solidFill>
                <a:latin typeface="Times New Roman" pitchFamily="18" charset="0"/>
                <a:ea typeface="新細明體" pitchFamily="18" charset="-120"/>
                <a:cs typeface="+mn-cs"/>
              </a:defRPr>
            </a:lvl2pPr>
            <a:lvl3pPr marL="914400" algn="l" rtl="0" eaLnBrk="0" fontAlgn="base" hangingPunct="0">
              <a:spcBef>
                <a:spcPct val="0"/>
              </a:spcBef>
              <a:spcAft>
                <a:spcPct val="0"/>
              </a:spcAft>
              <a:defRPr sz="2400" kern="1200">
                <a:solidFill>
                  <a:schemeClr val="tx1"/>
                </a:solidFill>
                <a:latin typeface="Times New Roman" pitchFamily="18" charset="0"/>
                <a:ea typeface="新細明體" pitchFamily="18" charset="-120"/>
                <a:cs typeface="+mn-cs"/>
              </a:defRPr>
            </a:lvl3pPr>
            <a:lvl4pPr marL="1371600" algn="l" rtl="0" eaLnBrk="0" fontAlgn="base" hangingPunct="0">
              <a:spcBef>
                <a:spcPct val="0"/>
              </a:spcBef>
              <a:spcAft>
                <a:spcPct val="0"/>
              </a:spcAft>
              <a:defRPr sz="2400" kern="1200">
                <a:solidFill>
                  <a:schemeClr val="tx1"/>
                </a:solidFill>
                <a:latin typeface="Times New Roman" pitchFamily="18" charset="0"/>
                <a:ea typeface="新細明體" pitchFamily="18" charset="-120"/>
                <a:cs typeface="+mn-cs"/>
              </a:defRPr>
            </a:lvl4pPr>
            <a:lvl5pPr marL="1828800" algn="l" rtl="0" eaLnBrk="0" fontAlgn="base" hangingPunct="0">
              <a:spcBef>
                <a:spcPct val="0"/>
              </a:spcBef>
              <a:spcAft>
                <a:spcPct val="0"/>
              </a:spcAft>
              <a:defRPr sz="2400" kern="1200">
                <a:solidFill>
                  <a:schemeClr val="tx1"/>
                </a:solidFill>
                <a:latin typeface="Times New Roman" pitchFamily="18" charset="0"/>
                <a:ea typeface="新細明體" pitchFamily="18" charset="-120"/>
                <a:cs typeface="+mn-cs"/>
              </a:defRPr>
            </a:lvl5pPr>
            <a:lvl6pPr marL="2286000" algn="l" defTabSz="914400" rtl="0" eaLnBrk="1" latinLnBrk="0" hangingPunct="1">
              <a:defRPr sz="2400" kern="1200">
                <a:solidFill>
                  <a:schemeClr val="tx1"/>
                </a:solidFill>
                <a:latin typeface="Times New Roman" pitchFamily="18" charset="0"/>
                <a:ea typeface="新細明體" pitchFamily="18" charset="-120"/>
                <a:cs typeface="+mn-cs"/>
              </a:defRPr>
            </a:lvl6pPr>
            <a:lvl7pPr marL="2743200" algn="l" defTabSz="914400" rtl="0" eaLnBrk="1" latinLnBrk="0" hangingPunct="1">
              <a:defRPr sz="2400" kern="1200">
                <a:solidFill>
                  <a:schemeClr val="tx1"/>
                </a:solidFill>
                <a:latin typeface="Times New Roman" pitchFamily="18" charset="0"/>
                <a:ea typeface="新細明體" pitchFamily="18" charset="-120"/>
                <a:cs typeface="+mn-cs"/>
              </a:defRPr>
            </a:lvl7pPr>
            <a:lvl8pPr marL="3200400" algn="l" defTabSz="914400" rtl="0" eaLnBrk="1" latinLnBrk="0" hangingPunct="1">
              <a:defRPr sz="2400" kern="1200">
                <a:solidFill>
                  <a:schemeClr val="tx1"/>
                </a:solidFill>
                <a:latin typeface="Times New Roman" pitchFamily="18" charset="0"/>
                <a:ea typeface="新細明體" pitchFamily="18" charset="-120"/>
                <a:cs typeface="+mn-cs"/>
              </a:defRPr>
            </a:lvl8pPr>
            <a:lvl9pPr marL="3657600" algn="l" defTabSz="914400" rtl="0" eaLnBrk="1" latinLnBrk="0" hangingPunct="1">
              <a:defRPr sz="2400" kern="1200">
                <a:solidFill>
                  <a:schemeClr val="tx1"/>
                </a:solidFill>
                <a:latin typeface="Times New Roman" pitchFamily="18" charset="0"/>
                <a:ea typeface="新細明體" pitchFamily="18" charset="-120"/>
                <a:cs typeface="+mn-cs"/>
              </a:defRPr>
            </a:lvl9pPr>
          </a:lstStyle>
          <a:p>
            <a:pPr defTabSz="571500"/>
            <a:fld id="{7D45A012-07B4-4F55-AE88-BDE7E89299BA}" type="slidenum">
              <a:rPr lang="zh-TW" altLang="en-US" smtClean="0"/>
              <a:pPr defTabSz="571500"/>
              <a:t>44</a:t>
            </a:fld>
            <a:endParaRPr lang="en-US" altLang="zh-TW"/>
          </a:p>
        </p:txBody>
      </p:sp>
      <p:sp>
        <p:nvSpPr>
          <p:cNvPr id="6" name="Slide Number Placeholder 5">
            <a:extLst>
              <a:ext uri="{FF2B5EF4-FFF2-40B4-BE49-F238E27FC236}">
                <a16:creationId xmlns:a16="http://schemas.microsoft.com/office/drawing/2014/main" id="{A0A834BC-DE0B-44AA-B640-2898D0AD6828}"/>
              </a:ext>
            </a:extLst>
          </p:cNvPr>
          <p:cNvSpPr>
            <a:spLocks noGrp="1"/>
          </p:cNvSpPr>
          <p:nvPr>
            <p:ph type="sldNum" sz="quarter" idx="10"/>
          </p:nvPr>
        </p:nvSpPr>
        <p:spPr>
          <a:xfrm>
            <a:off x="6831013" y="4893471"/>
            <a:ext cx="2133600" cy="254794"/>
          </a:xfrm>
        </p:spPr>
        <p:txBody>
          <a:bodyPr/>
          <a:lstStyle/>
          <a:p>
            <a:fld id="{D9B6BDF2-6896-4B98-8776-C18582F63BA5}" type="slidenum">
              <a:rPr lang="zh-TW" altLang="en-US" smtClean="0"/>
              <a:pPr/>
              <a:t>44</a:t>
            </a:fld>
            <a:endParaRPr lang="zh-TW" alt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p:cNvSpPr>
            <a:spLocks noGrp="1" noChangeArrowheads="1"/>
          </p:cNvSpPr>
          <p:nvPr>
            <p:ph type="title"/>
          </p:nvPr>
        </p:nvSpPr>
        <p:spPr>
          <a:xfrm>
            <a:off x="968189" y="129780"/>
            <a:ext cx="6761350" cy="477260"/>
          </a:xfrm>
        </p:spPr>
        <p:txBody>
          <a:bodyPr/>
          <a:lstStyle/>
          <a:p>
            <a:r>
              <a:rPr lang="en-US" altLang="zh-TW" dirty="0"/>
              <a:t>Access of DRAM</a:t>
            </a:r>
          </a:p>
        </p:txBody>
      </p:sp>
      <p:sp>
        <p:nvSpPr>
          <p:cNvPr id="48132" name="Rectangle 6"/>
          <p:cNvSpPr>
            <a:spLocks noChangeArrowheads="1"/>
          </p:cNvSpPr>
          <p:nvPr/>
        </p:nvSpPr>
        <p:spPr bwMode="auto">
          <a:xfrm>
            <a:off x="1989535" y="3028950"/>
            <a:ext cx="104775" cy="91679"/>
          </a:xfrm>
          <a:prstGeom prst="rect">
            <a:avLst/>
          </a:prstGeom>
          <a:solidFill>
            <a:srgbClr val="FFFFFF"/>
          </a:solidFill>
          <a:ln w="38100">
            <a:solidFill>
              <a:srgbClr val="FFFFFF"/>
            </a:solidFill>
            <a:miter lim="800000"/>
            <a:headEnd/>
            <a:tailEnd/>
          </a:ln>
        </p:spPr>
        <p:txBody>
          <a:bodyPr wrap="none" anchor="ctr"/>
          <a:lstStyle/>
          <a:p>
            <a:endParaRPr lang="zh-TW" altLang="en-US" sz="1350"/>
          </a:p>
        </p:txBody>
      </p:sp>
      <p:grpSp>
        <p:nvGrpSpPr>
          <p:cNvPr id="2" name="组合 1">
            <a:extLst>
              <a:ext uri="{FF2B5EF4-FFF2-40B4-BE49-F238E27FC236}">
                <a16:creationId xmlns:a16="http://schemas.microsoft.com/office/drawing/2014/main" id="{6BB2222D-372F-432C-B9F6-571E316AD53A}"/>
              </a:ext>
            </a:extLst>
          </p:cNvPr>
          <p:cNvGrpSpPr/>
          <p:nvPr/>
        </p:nvGrpSpPr>
        <p:grpSpPr>
          <a:xfrm>
            <a:off x="888668" y="1117298"/>
            <a:ext cx="7295509" cy="3226102"/>
            <a:chOff x="980195" y="1053720"/>
            <a:chExt cx="7187934" cy="3086101"/>
          </a:xfrm>
        </p:grpSpPr>
        <p:pic>
          <p:nvPicPr>
            <p:cNvPr id="48131" name="Picture 5" descr="39~Figure_B"/>
            <p:cNvPicPr>
              <a:picLocks noChangeAspect="1" noChangeArrowheads="1"/>
            </p:cNvPicPr>
            <p:nvPr/>
          </p:nvPicPr>
          <p:blipFill rotWithShape="1">
            <a:blip r:embed="rId2"/>
            <a:srcRect t="-1" r="33556" b="60542"/>
            <a:stretch/>
          </p:blipFill>
          <p:spPr bwMode="auto">
            <a:xfrm>
              <a:off x="980195" y="1053720"/>
              <a:ext cx="7187934" cy="3086101"/>
            </a:xfrm>
            <a:prstGeom prst="rect">
              <a:avLst/>
            </a:prstGeom>
            <a:noFill/>
            <a:ln w="9525">
              <a:noFill/>
              <a:miter lim="800000"/>
              <a:headEnd/>
              <a:tailEnd/>
            </a:ln>
          </p:spPr>
        </p:pic>
        <p:sp>
          <p:nvSpPr>
            <p:cNvPr id="48134" name="Text Box 11"/>
            <p:cNvSpPr txBox="1">
              <a:spLocks noChangeArrowheads="1"/>
            </p:cNvSpPr>
            <p:nvPr/>
          </p:nvSpPr>
          <p:spPr bwMode="auto">
            <a:xfrm>
              <a:off x="1813584" y="2625018"/>
              <a:ext cx="482967" cy="242897"/>
            </a:xfrm>
            <a:prstGeom prst="rect">
              <a:avLst/>
            </a:prstGeom>
            <a:solidFill>
              <a:srgbClr val="FFFFFF"/>
            </a:solidFill>
            <a:ln w="12700">
              <a:noFill/>
              <a:miter lim="800000"/>
              <a:headEnd/>
              <a:tailEnd/>
            </a:ln>
          </p:spPr>
          <p:txBody>
            <a:bodyPr wrap="square">
              <a:spAutoFit/>
            </a:bodyPr>
            <a:lstStyle/>
            <a:p>
              <a:r>
                <a:rPr lang="en-US" altLang="zh-TW" sz="1050" b="1" dirty="0"/>
                <a:t>21-0</a:t>
              </a:r>
            </a:p>
          </p:txBody>
        </p:sp>
        <p:sp>
          <p:nvSpPr>
            <p:cNvPr id="48135" name="Text Box 12"/>
            <p:cNvSpPr txBox="1">
              <a:spLocks noChangeArrowheads="1"/>
            </p:cNvSpPr>
            <p:nvPr/>
          </p:nvSpPr>
          <p:spPr bwMode="auto">
            <a:xfrm>
              <a:off x="6024883" y="1476827"/>
              <a:ext cx="1440656" cy="507831"/>
            </a:xfrm>
            <a:prstGeom prst="rect">
              <a:avLst/>
            </a:prstGeom>
            <a:solidFill>
              <a:srgbClr val="FFFFFF"/>
            </a:solidFill>
            <a:ln w="12700">
              <a:noFill/>
              <a:miter lim="800000"/>
              <a:headEnd/>
              <a:tailEnd/>
            </a:ln>
          </p:spPr>
          <p:txBody>
            <a:bodyPr>
              <a:spAutoFit/>
            </a:bodyPr>
            <a:lstStyle/>
            <a:p>
              <a:pPr algn="ctr"/>
              <a:r>
                <a:rPr lang="en-US" altLang="zh-TW" sz="1350" b="1" dirty="0"/>
                <a:t>2048 x 2048</a:t>
              </a:r>
            </a:p>
            <a:p>
              <a:pPr algn="ctr"/>
              <a:r>
                <a:rPr lang="en-US" altLang="zh-TW" sz="1350" b="1" dirty="0"/>
                <a:t>array</a:t>
              </a:r>
            </a:p>
          </p:txBody>
        </p:sp>
      </p:grpSp>
      <p:sp>
        <p:nvSpPr>
          <p:cNvPr id="9" name="Slide Number Placeholder 5">
            <a:extLst>
              <a:ext uri="{FF2B5EF4-FFF2-40B4-BE49-F238E27FC236}">
                <a16:creationId xmlns:a16="http://schemas.microsoft.com/office/drawing/2014/main" id="{2CD2C7C0-27DB-4E54-8B5B-341CBE95D224}"/>
              </a:ext>
            </a:extLst>
          </p:cNvPr>
          <p:cNvSpPr>
            <a:spLocks noGrp="1"/>
          </p:cNvSpPr>
          <p:nvPr>
            <p:ph type="sldNum" sz="quarter" idx="10"/>
          </p:nvPr>
        </p:nvSpPr>
        <p:spPr>
          <a:xfrm>
            <a:off x="6831013" y="4893471"/>
            <a:ext cx="2133600" cy="254794"/>
          </a:xfrm>
        </p:spPr>
        <p:txBody>
          <a:bodyPr/>
          <a:lstStyle/>
          <a:p>
            <a:fld id="{D9B6BDF2-6896-4B98-8776-C18582F63BA5}" type="slidenum">
              <a:rPr lang="zh-TW" altLang="en-US" smtClean="0"/>
              <a:pPr/>
              <a:t>45</a:t>
            </a:fld>
            <a:endParaRPr lang="zh-TW" alt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7" name="Rectangle 2"/>
          <p:cNvSpPr>
            <a:spLocks noGrp="1" noChangeArrowheads="1"/>
          </p:cNvSpPr>
          <p:nvPr>
            <p:ph type="title"/>
          </p:nvPr>
        </p:nvSpPr>
        <p:spPr>
          <a:xfrm>
            <a:off x="1106129" y="135731"/>
            <a:ext cx="6623409" cy="476327"/>
          </a:xfrm>
        </p:spPr>
        <p:txBody>
          <a:bodyPr/>
          <a:lstStyle/>
          <a:p>
            <a:r>
              <a:rPr lang="en-US" altLang="zh-TW" sz="3200" dirty="0"/>
              <a:t>DRAM Generations</a:t>
            </a:r>
            <a:endParaRPr lang="en-AU" altLang="zh-TW" sz="3200" dirty="0">
              <a:ea typeface="新細明體" pitchFamily="18" charset="-120"/>
            </a:endParaRPr>
          </a:p>
        </p:txBody>
      </p:sp>
      <p:graphicFrame>
        <p:nvGraphicFramePr>
          <p:cNvPr id="698425" name="Group 57"/>
          <p:cNvGraphicFramePr>
            <a:graphicFrameLocks noGrp="1"/>
          </p:cNvGraphicFramePr>
          <p:nvPr>
            <p:extLst>
              <p:ext uri="{D42A27DB-BD31-4B8C-83A1-F6EECF244321}">
                <p14:modId xmlns:p14="http://schemas.microsoft.com/office/powerpoint/2010/main" val="3799484517"/>
              </p:ext>
            </p:extLst>
          </p:nvPr>
        </p:nvGraphicFramePr>
        <p:xfrm>
          <a:off x="833284" y="1068682"/>
          <a:ext cx="2704179" cy="3048003"/>
        </p:xfrm>
        <a:graphic>
          <a:graphicData uri="http://schemas.openxmlformats.org/drawingml/2006/table">
            <a:tbl>
              <a:tblPr/>
              <a:tblGrid>
                <a:gridCol w="580027">
                  <a:extLst>
                    <a:ext uri="{9D8B030D-6E8A-4147-A177-3AD203B41FA5}">
                      <a16:colId xmlns:a16="http://schemas.microsoft.com/office/drawing/2014/main" val="20000"/>
                    </a:ext>
                  </a:extLst>
                </a:gridCol>
                <a:gridCol w="1025498">
                  <a:extLst>
                    <a:ext uri="{9D8B030D-6E8A-4147-A177-3AD203B41FA5}">
                      <a16:colId xmlns:a16="http://schemas.microsoft.com/office/drawing/2014/main" val="20001"/>
                    </a:ext>
                  </a:extLst>
                </a:gridCol>
                <a:gridCol w="1098654">
                  <a:extLst>
                    <a:ext uri="{9D8B030D-6E8A-4147-A177-3AD203B41FA5}">
                      <a16:colId xmlns:a16="http://schemas.microsoft.com/office/drawing/2014/main" val="20002"/>
                    </a:ext>
                  </a:extLst>
                </a:gridCol>
              </a:tblGrid>
              <a:tr h="277416">
                <a:tc>
                  <a:txBody>
                    <a:bodyPr/>
                    <a:lstStyle/>
                    <a:p>
                      <a:pPr marL="0" marR="0" lvl="0" indent="0" algn="l" defTabSz="914400" rtl="0" eaLnBrk="0" fontAlgn="base" latinLnBrk="0" hangingPunct="0">
                        <a:lnSpc>
                          <a:spcPct val="90000"/>
                        </a:lnSpc>
                        <a:spcBef>
                          <a:spcPct val="15000"/>
                        </a:spcBef>
                        <a:spcAft>
                          <a:spcPct val="0"/>
                        </a:spcAft>
                        <a:buClr>
                          <a:schemeClr val="folHlink"/>
                        </a:buClr>
                        <a:buSzPct val="75000"/>
                        <a:buFont typeface="Wingdings" pitchFamily="2" charset="2"/>
                        <a:buNone/>
                        <a:tabLst/>
                      </a:pPr>
                      <a:r>
                        <a:rPr kumimoji="0" lang="en-US" altLang="zh-TW" sz="1400" b="1" i="0" u="none" strike="noStrike" cap="none" normalizeH="0" baseline="0">
                          <a:ln>
                            <a:noFill/>
                          </a:ln>
                          <a:solidFill>
                            <a:schemeClr val="tx1"/>
                          </a:solidFill>
                          <a:effectLst/>
                          <a:latin typeface="Century Gothic" pitchFamily="34" charset="0"/>
                          <a:ea typeface="標楷體" pitchFamily="65" charset="-120"/>
                        </a:rPr>
                        <a:t>Year</a:t>
                      </a:r>
                      <a:endParaRPr kumimoji="0" lang="en-AU" altLang="zh-TW" sz="1400" b="1" i="0" u="none" strike="noStrike" cap="none" normalizeH="0" baseline="0">
                        <a:ln>
                          <a:noFill/>
                        </a:ln>
                        <a:solidFill>
                          <a:schemeClr val="tx1"/>
                        </a:solidFill>
                        <a:effectLst/>
                        <a:latin typeface="Century Gothic" pitchFamily="34" charset="0"/>
                        <a:ea typeface="新細明體" pitchFamily="18" charset="-120"/>
                      </a:endParaRPr>
                    </a:p>
                  </a:txBody>
                  <a:tcPr marL="68580" marR="68580" marT="34290" marB="3429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90000"/>
                        </a:lnSpc>
                        <a:spcBef>
                          <a:spcPct val="15000"/>
                        </a:spcBef>
                        <a:spcAft>
                          <a:spcPct val="0"/>
                        </a:spcAft>
                        <a:buClr>
                          <a:schemeClr val="folHlink"/>
                        </a:buClr>
                        <a:buSzPct val="75000"/>
                        <a:buFont typeface="Wingdings" pitchFamily="2" charset="2"/>
                        <a:buNone/>
                        <a:tabLst/>
                      </a:pPr>
                      <a:r>
                        <a:rPr kumimoji="0" lang="en-US" altLang="zh-TW" sz="1400" b="1" i="0" u="none" strike="noStrike" cap="none" normalizeH="0" baseline="0">
                          <a:ln>
                            <a:noFill/>
                          </a:ln>
                          <a:solidFill>
                            <a:schemeClr val="tx1"/>
                          </a:solidFill>
                          <a:effectLst/>
                          <a:latin typeface="Century Gothic" pitchFamily="34" charset="0"/>
                          <a:ea typeface="標楷體" pitchFamily="65" charset="-120"/>
                        </a:rPr>
                        <a:t>Capacity</a:t>
                      </a:r>
                      <a:endParaRPr kumimoji="0" lang="en-AU" altLang="zh-TW" sz="1400" b="1" i="0" u="none" strike="noStrike" cap="none" normalizeH="0" baseline="0">
                        <a:ln>
                          <a:noFill/>
                        </a:ln>
                        <a:solidFill>
                          <a:schemeClr val="tx1"/>
                        </a:solidFill>
                        <a:effectLst/>
                        <a:latin typeface="Century Gothic" pitchFamily="34" charset="0"/>
                        <a:ea typeface="新細明體" pitchFamily="18" charset="-120"/>
                      </a:endParaRPr>
                    </a:p>
                  </a:txBody>
                  <a:tcPr marL="68580" marR="68580"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90000"/>
                        </a:lnSpc>
                        <a:spcBef>
                          <a:spcPct val="15000"/>
                        </a:spcBef>
                        <a:spcAft>
                          <a:spcPct val="0"/>
                        </a:spcAft>
                        <a:buClr>
                          <a:schemeClr val="folHlink"/>
                        </a:buClr>
                        <a:buSzPct val="75000"/>
                        <a:buFont typeface="Wingdings" pitchFamily="2" charset="2"/>
                        <a:buNone/>
                        <a:tabLst/>
                      </a:pPr>
                      <a:r>
                        <a:rPr kumimoji="0" lang="en-US" altLang="zh-TW" sz="1400" b="1" i="0" u="none" strike="noStrike" cap="none" normalizeH="0" baseline="0">
                          <a:ln>
                            <a:noFill/>
                          </a:ln>
                          <a:solidFill>
                            <a:schemeClr val="tx1"/>
                          </a:solidFill>
                          <a:effectLst/>
                          <a:latin typeface="Century Gothic" pitchFamily="34" charset="0"/>
                          <a:ea typeface="標楷體" pitchFamily="65" charset="-120"/>
                        </a:rPr>
                        <a:t>$/GB</a:t>
                      </a:r>
                      <a:endParaRPr kumimoji="0" lang="en-AU" altLang="zh-TW" sz="1400" b="1" i="0" u="none" strike="noStrike" cap="none" normalizeH="0" baseline="0">
                        <a:ln>
                          <a:noFill/>
                        </a:ln>
                        <a:solidFill>
                          <a:schemeClr val="tx1"/>
                        </a:solidFill>
                        <a:effectLst/>
                        <a:latin typeface="Century Gothic" pitchFamily="34" charset="0"/>
                        <a:ea typeface="新細明體" pitchFamily="18" charset="-120"/>
                      </a:endParaRPr>
                    </a:p>
                  </a:txBody>
                  <a:tcPr marL="68580" marR="68580" marT="34290" marB="3429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276225">
                <a:tc>
                  <a:txBody>
                    <a:bodyPr/>
                    <a:lstStyle/>
                    <a:p>
                      <a:pPr marL="0" marR="0" lvl="0" indent="0" algn="l" defTabSz="914400" rtl="0" eaLnBrk="0" fontAlgn="base" latinLnBrk="0" hangingPunct="0">
                        <a:lnSpc>
                          <a:spcPct val="90000"/>
                        </a:lnSpc>
                        <a:spcBef>
                          <a:spcPct val="15000"/>
                        </a:spcBef>
                        <a:spcAft>
                          <a:spcPct val="0"/>
                        </a:spcAft>
                        <a:buClr>
                          <a:schemeClr val="folHlink"/>
                        </a:buClr>
                        <a:buSzPct val="75000"/>
                        <a:buFont typeface="Wingdings" pitchFamily="2" charset="2"/>
                        <a:buNone/>
                        <a:tabLst/>
                      </a:pPr>
                      <a:r>
                        <a:rPr kumimoji="0" lang="en-US" altLang="zh-TW" sz="1400" b="1" i="0" u="none" strike="noStrike" cap="none" normalizeH="0" baseline="0">
                          <a:ln>
                            <a:noFill/>
                          </a:ln>
                          <a:solidFill>
                            <a:schemeClr val="tx1"/>
                          </a:solidFill>
                          <a:effectLst/>
                          <a:latin typeface="Century Gothic" pitchFamily="34" charset="0"/>
                          <a:ea typeface="標楷體" pitchFamily="65" charset="-120"/>
                        </a:rPr>
                        <a:t>1980</a:t>
                      </a:r>
                      <a:endParaRPr kumimoji="0" lang="en-AU" altLang="zh-TW" sz="1400" b="1" i="0" u="none" strike="noStrike" cap="none" normalizeH="0" baseline="0">
                        <a:ln>
                          <a:noFill/>
                        </a:ln>
                        <a:solidFill>
                          <a:schemeClr val="tx1"/>
                        </a:solidFill>
                        <a:effectLst/>
                        <a:latin typeface="Century Gothic" pitchFamily="34" charset="0"/>
                        <a:ea typeface="新細明體" pitchFamily="18" charset="-120"/>
                      </a:endParaRPr>
                    </a:p>
                  </a:txBody>
                  <a:tcPr marL="68580" marR="68580" marT="34290" marB="3429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90000"/>
                        </a:lnSpc>
                        <a:spcBef>
                          <a:spcPct val="15000"/>
                        </a:spcBef>
                        <a:spcAft>
                          <a:spcPct val="0"/>
                        </a:spcAft>
                        <a:buClr>
                          <a:schemeClr val="folHlink"/>
                        </a:buClr>
                        <a:buSzPct val="75000"/>
                        <a:buFont typeface="Wingdings" pitchFamily="2" charset="2"/>
                        <a:buNone/>
                        <a:tabLst/>
                      </a:pPr>
                      <a:r>
                        <a:rPr kumimoji="0" lang="en-US" altLang="zh-TW" sz="1400" b="1" i="0" u="none" strike="noStrike" cap="none" normalizeH="0" baseline="0">
                          <a:ln>
                            <a:noFill/>
                          </a:ln>
                          <a:solidFill>
                            <a:schemeClr val="tx1"/>
                          </a:solidFill>
                          <a:effectLst/>
                          <a:latin typeface="Century Gothic" pitchFamily="34" charset="0"/>
                          <a:ea typeface="標楷體" pitchFamily="65" charset="-120"/>
                        </a:rPr>
                        <a:t>64Kbit</a:t>
                      </a:r>
                      <a:endParaRPr kumimoji="0" lang="en-AU" altLang="zh-TW" sz="1400" b="1" i="0" u="none" strike="noStrike" cap="none" normalizeH="0" baseline="0">
                        <a:ln>
                          <a:noFill/>
                        </a:ln>
                        <a:solidFill>
                          <a:schemeClr val="tx1"/>
                        </a:solidFill>
                        <a:effectLst/>
                        <a:latin typeface="Century Gothic" pitchFamily="34" charset="0"/>
                        <a:ea typeface="新細明體" pitchFamily="18" charset="-120"/>
                      </a:endParaRPr>
                    </a:p>
                  </a:txBody>
                  <a:tcPr marL="68580" marR="68580"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90000"/>
                        </a:lnSpc>
                        <a:spcBef>
                          <a:spcPct val="15000"/>
                        </a:spcBef>
                        <a:spcAft>
                          <a:spcPct val="0"/>
                        </a:spcAft>
                        <a:buClr>
                          <a:schemeClr val="folHlink"/>
                        </a:buClr>
                        <a:buSzPct val="75000"/>
                        <a:buFont typeface="Wingdings" pitchFamily="2" charset="2"/>
                        <a:buNone/>
                        <a:tabLst/>
                      </a:pPr>
                      <a:r>
                        <a:rPr kumimoji="0" lang="en-US" altLang="zh-TW" sz="1400" b="1" i="0" u="none" strike="noStrike" cap="none" normalizeH="0" baseline="0">
                          <a:ln>
                            <a:noFill/>
                          </a:ln>
                          <a:solidFill>
                            <a:schemeClr val="tx1"/>
                          </a:solidFill>
                          <a:effectLst/>
                          <a:latin typeface="Century Gothic" pitchFamily="34" charset="0"/>
                          <a:ea typeface="標楷體" pitchFamily="65" charset="-120"/>
                        </a:rPr>
                        <a:t>$1500000</a:t>
                      </a:r>
                      <a:endParaRPr kumimoji="0" lang="en-AU" altLang="zh-TW" sz="1400" b="1" i="0" u="none" strike="noStrike" cap="none" normalizeH="0" baseline="0">
                        <a:ln>
                          <a:noFill/>
                        </a:ln>
                        <a:solidFill>
                          <a:schemeClr val="tx1"/>
                        </a:solidFill>
                        <a:effectLst/>
                        <a:latin typeface="Century Gothic" pitchFamily="34" charset="0"/>
                        <a:ea typeface="新細明體" pitchFamily="18" charset="-120"/>
                      </a:endParaRPr>
                    </a:p>
                  </a:txBody>
                  <a:tcPr marL="68580" marR="68580" marT="34290" marB="3429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277416">
                <a:tc>
                  <a:txBody>
                    <a:bodyPr/>
                    <a:lstStyle/>
                    <a:p>
                      <a:pPr marL="0" marR="0" lvl="0" indent="0" algn="l" defTabSz="914400" rtl="0" eaLnBrk="0" fontAlgn="base" latinLnBrk="0" hangingPunct="0">
                        <a:lnSpc>
                          <a:spcPct val="90000"/>
                        </a:lnSpc>
                        <a:spcBef>
                          <a:spcPct val="15000"/>
                        </a:spcBef>
                        <a:spcAft>
                          <a:spcPct val="0"/>
                        </a:spcAft>
                        <a:buClr>
                          <a:schemeClr val="folHlink"/>
                        </a:buClr>
                        <a:buSzPct val="75000"/>
                        <a:buFont typeface="Wingdings" pitchFamily="2" charset="2"/>
                        <a:buNone/>
                        <a:tabLst/>
                      </a:pPr>
                      <a:r>
                        <a:rPr kumimoji="0" lang="en-US" altLang="zh-TW" sz="1400" b="1" i="0" u="none" strike="noStrike" cap="none" normalizeH="0" baseline="0">
                          <a:ln>
                            <a:noFill/>
                          </a:ln>
                          <a:solidFill>
                            <a:schemeClr val="tx1"/>
                          </a:solidFill>
                          <a:effectLst/>
                          <a:latin typeface="Century Gothic" pitchFamily="34" charset="0"/>
                          <a:ea typeface="標楷體" pitchFamily="65" charset="-120"/>
                        </a:rPr>
                        <a:t>1983</a:t>
                      </a:r>
                      <a:endParaRPr kumimoji="0" lang="en-AU" altLang="zh-TW" sz="1400" b="1" i="0" u="none" strike="noStrike" cap="none" normalizeH="0" baseline="0">
                        <a:ln>
                          <a:noFill/>
                        </a:ln>
                        <a:solidFill>
                          <a:schemeClr val="tx1"/>
                        </a:solidFill>
                        <a:effectLst/>
                        <a:latin typeface="Century Gothic" pitchFamily="34" charset="0"/>
                        <a:ea typeface="新細明體" pitchFamily="18" charset="-120"/>
                      </a:endParaRPr>
                    </a:p>
                  </a:txBody>
                  <a:tcPr marL="68580" marR="68580" marT="34290" marB="3429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90000"/>
                        </a:lnSpc>
                        <a:spcBef>
                          <a:spcPct val="15000"/>
                        </a:spcBef>
                        <a:spcAft>
                          <a:spcPct val="0"/>
                        </a:spcAft>
                        <a:buClr>
                          <a:schemeClr val="folHlink"/>
                        </a:buClr>
                        <a:buSzPct val="75000"/>
                        <a:buFont typeface="Wingdings" pitchFamily="2" charset="2"/>
                        <a:buNone/>
                        <a:tabLst/>
                      </a:pPr>
                      <a:r>
                        <a:rPr kumimoji="0" lang="en-US" altLang="zh-TW" sz="1400" b="1" i="0" u="none" strike="noStrike" cap="none" normalizeH="0" baseline="0">
                          <a:ln>
                            <a:noFill/>
                          </a:ln>
                          <a:solidFill>
                            <a:schemeClr val="tx1"/>
                          </a:solidFill>
                          <a:effectLst/>
                          <a:latin typeface="Century Gothic" pitchFamily="34" charset="0"/>
                          <a:ea typeface="標楷體" pitchFamily="65" charset="-120"/>
                        </a:rPr>
                        <a:t>256Kbit</a:t>
                      </a:r>
                      <a:endParaRPr kumimoji="0" lang="en-AU" altLang="zh-TW" sz="1400" b="1" i="0" u="none" strike="noStrike" cap="none" normalizeH="0" baseline="0">
                        <a:ln>
                          <a:noFill/>
                        </a:ln>
                        <a:solidFill>
                          <a:schemeClr val="tx1"/>
                        </a:solidFill>
                        <a:effectLst/>
                        <a:latin typeface="Century Gothic" pitchFamily="34" charset="0"/>
                        <a:ea typeface="新細明體" pitchFamily="18" charset="-120"/>
                      </a:endParaRPr>
                    </a:p>
                  </a:txBody>
                  <a:tcPr marL="68580" marR="68580"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90000"/>
                        </a:lnSpc>
                        <a:spcBef>
                          <a:spcPct val="15000"/>
                        </a:spcBef>
                        <a:spcAft>
                          <a:spcPct val="0"/>
                        </a:spcAft>
                        <a:buClr>
                          <a:schemeClr val="folHlink"/>
                        </a:buClr>
                        <a:buSzPct val="75000"/>
                        <a:buFont typeface="Wingdings" pitchFamily="2" charset="2"/>
                        <a:buNone/>
                        <a:tabLst/>
                      </a:pPr>
                      <a:r>
                        <a:rPr kumimoji="0" lang="en-US" altLang="zh-TW" sz="1400" b="1" i="0" u="none" strike="noStrike" cap="none" normalizeH="0" baseline="0">
                          <a:ln>
                            <a:noFill/>
                          </a:ln>
                          <a:solidFill>
                            <a:schemeClr val="tx1"/>
                          </a:solidFill>
                          <a:effectLst/>
                          <a:latin typeface="Century Gothic" pitchFamily="34" charset="0"/>
                          <a:ea typeface="標楷體" pitchFamily="65" charset="-120"/>
                        </a:rPr>
                        <a:t>$500000</a:t>
                      </a:r>
                      <a:endParaRPr kumimoji="0" lang="en-AU" altLang="zh-TW" sz="1400" b="1" i="0" u="none" strike="noStrike" cap="none" normalizeH="0" baseline="0">
                        <a:ln>
                          <a:noFill/>
                        </a:ln>
                        <a:solidFill>
                          <a:schemeClr val="tx1"/>
                        </a:solidFill>
                        <a:effectLst/>
                        <a:latin typeface="Century Gothic" pitchFamily="34" charset="0"/>
                        <a:ea typeface="新細明體" pitchFamily="18" charset="-120"/>
                      </a:endParaRPr>
                    </a:p>
                  </a:txBody>
                  <a:tcPr marL="68580" marR="68580" marT="34290" marB="3429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277416">
                <a:tc>
                  <a:txBody>
                    <a:bodyPr/>
                    <a:lstStyle/>
                    <a:p>
                      <a:pPr marL="0" marR="0" lvl="0" indent="0" algn="l" defTabSz="914400" rtl="0" eaLnBrk="0" fontAlgn="base" latinLnBrk="0" hangingPunct="0">
                        <a:lnSpc>
                          <a:spcPct val="90000"/>
                        </a:lnSpc>
                        <a:spcBef>
                          <a:spcPct val="15000"/>
                        </a:spcBef>
                        <a:spcAft>
                          <a:spcPct val="0"/>
                        </a:spcAft>
                        <a:buClr>
                          <a:schemeClr val="folHlink"/>
                        </a:buClr>
                        <a:buSzPct val="75000"/>
                        <a:buFont typeface="Wingdings" pitchFamily="2" charset="2"/>
                        <a:buNone/>
                        <a:tabLst/>
                      </a:pPr>
                      <a:r>
                        <a:rPr kumimoji="0" lang="en-US" altLang="zh-TW" sz="1400" b="1" i="0" u="none" strike="noStrike" cap="none" normalizeH="0" baseline="0">
                          <a:ln>
                            <a:noFill/>
                          </a:ln>
                          <a:solidFill>
                            <a:schemeClr val="tx1"/>
                          </a:solidFill>
                          <a:effectLst/>
                          <a:latin typeface="Century Gothic" pitchFamily="34" charset="0"/>
                          <a:ea typeface="標楷體" pitchFamily="65" charset="-120"/>
                        </a:rPr>
                        <a:t>1985</a:t>
                      </a:r>
                      <a:endParaRPr kumimoji="0" lang="en-AU" altLang="zh-TW" sz="1400" b="1" i="0" u="none" strike="noStrike" cap="none" normalizeH="0" baseline="0">
                        <a:ln>
                          <a:noFill/>
                        </a:ln>
                        <a:solidFill>
                          <a:schemeClr val="tx1"/>
                        </a:solidFill>
                        <a:effectLst/>
                        <a:latin typeface="Century Gothic" pitchFamily="34" charset="0"/>
                        <a:ea typeface="新細明體" pitchFamily="18" charset="-120"/>
                      </a:endParaRPr>
                    </a:p>
                  </a:txBody>
                  <a:tcPr marL="68580" marR="68580" marT="34290" marB="3429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90000"/>
                        </a:lnSpc>
                        <a:spcBef>
                          <a:spcPct val="15000"/>
                        </a:spcBef>
                        <a:spcAft>
                          <a:spcPct val="0"/>
                        </a:spcAft>
                        <a:buClr>
                          <a:schemeClr val="folHlink"/>
                        </a:buClr>
                        <a:buSzPct val="75000"/>
                        <a:buFont typeface="Wingdings" pitchFamily="2" charset="2"/>
                        <a:buNone/>
                        <a:tabLst/>
                      </a:pPr>
                      <a:r>
                        <a:rPr kumimoji="0" lang="en-US" altLang="zh-TW" sz="1400" b="1" i="0" u="none" strike="noStrike" cap="none" normalizeH="0" baseline="0">
                          <a:ln>
                            <a:noFill/>
                          </a:ln>
                          <a:solidFill>
                            <a:schemeClr val="tx1"/>
                          </a:solidFill>
                          <a:effectLst/>
                          <a:latin typeface="Century Gothic" pitchFamily="34" charset="0"/>
                          <a:ea typeface="標楷體" pitchFamily="65" charset="-120"/>
                        </a:rPr>
                        <a:t>1Mbit</a:t>
                      </a:r>
                      <a:endParaRPr kumimoji="0" lang="en-AU" altLang="zh-TW" sz="1400" b="1" i="0" u="none" strike="noStrike" cap="none" normalizeH="0" baseline="0">
                        <a:ln>
                          <a:noFill/>
                        </a:ln>
                        <a:solidFill>
                          <a:schemeClr val="tx1"/>
                        </a:solidFill>
                        <a:effectLst/>
                        <a:latin typeface="Century Gothic" pitchFamily="34" charset="0"/>
                        <a:ea typeface="新細明體" pitchFamily="18" charset="-120"/>
                      </a:endParaRPr>
                    </a:p>
                  </a:txBody>
                  <a:tcPr marL="68580" marR="68580"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90000"/>
                        </a:lnSpc>
                        <a:spcBef>
                          <a:spcPct val="15000"/>
                        </a:spcBef>
                        <a:spcAft>
                          <a:spcPct val="0"/>
                        </a:spcAft>
                        <a:buClr>
                          <a:schemeClr val="folHlink"/>
                        </a:buClr>
                        <a:buSzPct val="75000"/>
                        <a:buFont typeface="Wingdings" pitchFamily="2" charset="2"/>
                        <a:buNone/>
                        <a:tabLst/>
                      </a:pPr>
                      <a:r>
                        <a:rPr kumimoji="0" lang="en-US" altLang="zh-TW" sz="1400" b="1" i="0" u="none" strike="noStrike" cap="none" normalizeH="0" baseline="0">
                          <a:ln>
                            <a:noFill/>
                          </a:ln>
                          <a:solidFill>
                            <a:schemeClr val="tx1"/>
                          </a:solidFill>
                          <a:effectLst/>
                          <a:latin typeface="Century Gothic" pitchFamily="34" charset="0"/>
                          <a:ea typeface="標楷體" pitchFamily="65" charset="-120"/>
                        </a:rPr>
                        <a:t>$200000</a:t>
                      </a:r>
                      <a:endParaRPr kumimoji="0" lang="en-AU" altLang="zh-TW" sz="1400" b="1" i="0" u="none" strike="noStrike" cap="none" normalizeH="0" baseline="0">
                        <a:ln>
                          <a:noFill/>
                        </a:ln>
                        <a:solidFill>
                          <a:schemeClr val="tx1"/>
                        </a:solidFill>
                        <a:effectLst/>
                        <a:latin typeface="Century Gothic" pitchFamily="34" charset="0"/>
                        <a:ea typeface="新細明體" pitchFamily="18" charset="-120"/>
                      </a:endParaRPr>
                    </a:p>
                  </a:txBody>
                  <a:tcPr marL="68580" marR="68580" marT="34290" marB="3429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277416">
                <a:tc>
                  <a:txBody>
                    <a:bodyPr/>
                    <a:lstStyle/>
                    <a:p>
                      <a:pPr marL="0" marR="0" lvl="0" indent="0" algn="l" defTabSz="914400" rtl="0" eaLnBrk="0" fontAlgn="base" latinLnBrk="0" hangingPunct="0">
                        <a:lnSpc>
                          <a:spcPct val="90000"/>
                        </a:lnSpc>
                        <a:spcBef>
                          <a:spcPct val="15000"/>
                        </a:spcBef>
                        <a:spcAft>
                          <a:spcPct val="0"/>
                        </a:spcAft>
                        <a:buClr>
                          <a:schemeClr val="folHlink"/>
                        </a:buClr>
                        <a:buSzPct val="75000"/>
                        <a:buFont typeface="Wingdings" pitchFamily="2" charset="2"/>
                        <a:buNone/>
                        <a:tabLst/>
                      </a:pPr>
                      <a:r>
                        <a:rPr kumimoji="0" lang="en-US" altLang="zh-TW" sz="1400" b="1" i="0" u="none" strike="noStrike" cap="none" normalizeH="0" baseline="0">
                          <a:ln>
                            <a:noFill/>
                          </a:ln>
                          <a:solidFill>
                            <a:schemeClr val="tx1"/>
                          </a:solidFill>
                          <a:effectLst/>
                          <a:latin typeface="Century Gothic" pitchFamily="34" charset="0"/>
                          <a:ea typeface="標楷體" pitchFamily="65" charset="-120"/>
                        </a:rPr>
                        <a:t>1989</a:t>
                      </a:r>
                      <a:endParaRPr kumimoji="0" lang="en-AU" altLang="zh-TW" sz="1400" b="1" i="0" u="none" strike="noStrike" cap="none" normalizeH="0" baseline="0">
                        <a:ln>
                          <a:noFill/>
                        </a:ln>
                        <a:solidFill>
                          <a:schemeClr val="tx1"/>
                        </a:solidFill>
                        <a:effectLst/>
                        <a:latin typeface="Century Gothic" pitchFamily="34" charset="0"/>
                        <a:ea typeface="新細明體" pitchFamily="18" charset="-120"/>
                      </a:endParaRPr>
                    </a:p>
                  </a:txBody>
                  <a:tcPr marL="68580" marR="68580" marT="34290" marB="3429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90000"/>
                        </a:lnSpc>
                        <a:spcBef>
                          <a:spcPct val="15000"/>
                        </a:spcBef>
                        <a:spcAft>
                          <a:spcPct val="0"/>
                        </a:spcAft>
                        <a:buClr>
                          <a:schemeClr val="folHlink"/>
                        </a:buClr>
                        <a:buSzPct val="75000"/>
                        <a:buFont typeface="Wingdings" pitchFamily="2" charset="2"/>
                        <a:buNone/>
                        <a:tabLst/>
                      </a:pPr>
                      <a:r>
                        <a:rPr kumimoji="0" lang="en-US" altLang="zh-TW" sz="1400" b="1" i="0" u="none" strike="noStrike" cap="none" normalizeH="0" baseline="0">
                          <a:ln>
                            <a:noFill/>
                          </a:ln>
                          <a:solidFill>
                            <a:schemeClr val="tx1"/>
                          </a:solidFill>
                          <a:effectLst/>
                          <a:latin typeface="Century Gothic" pitchFamily="34" charset="0"/>
                          <a:ea typeface="標楷體" pitchFamily="65" charset="-120"/>
                        </a:rPr>
                        <a:t>4Mbit</a:t>
                      </a:r>
                      <a:endParaRPr kumimoji="0" lang="en-AU" altLang="zh-TW" sz="1400" b="1" i="0" u="none" strike="noStrike" cap="none" normalizeH="0" baseline="0">
                        <a:ln>
                          <a:noFill/>
                        </a:ln>
                        <a:solidFill>
                          <a:schemeClr val="tx1"/>
                        </a:solidFill>
                        <a:effectLst/>
                        <a:latin typeface="Century Gothic" pitchFamily="34" charset="0"/>
                        <a:ea typeface="新細明體" pitchFamily="18" charset="-120"/>
                      </a:endParaRPr>
                    </a:p>
                  </a:txBody>
                  <a:tcPr marL="68580" marR="68580"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90000"/>
                        </a:lnSpc>
                        <a:spcBef>
                          <a:spcPct val="15000"/>
                        </a:spcBef>
                        <a:spcAft>
                          <a:spcPct val="0"/>
                        </a:spcAft>
                        <a:buClr>
                          <a:schemeClr val="folHlink"/>
                        </a:buClr>
                        <a:buSzPct val="75000"/>
                        <a:buFont typeface="Wingdings" pitchFamily="2" charset="2"/>
                        <a:buNone/>
                        <a:tabLst/>
                      </a:pPr>
                      <a:r>
                        <a:rPr kumimoji="0" lang="en-US" altLang="zh-TW" sz="1400" b="1" i="0" u="none" strike="noStrike" cap="none" normalizeH="0" baseline="0">
                          <a:ln>
                            <a:noFill/>
                          </a:ln>
                          <a:solidFill>
                            <a:schemeClr val="tx1"/>
                          </a:solidFill>
                          <a:effectLst/>
                          <a:latin typeface="Century Gothic" pitchFamily="34" charset="0"/>
                          <a:ea typeface="標楷體" pitchFamily="65" charset="-120"/>
                        </a:rPr>
                        <a:t>$50000</a:t>
                      </a:r>
                      <a:endParaRPr kumimoji="0" lang="en-AU" altLang="zh-TW" sz="1400" b="1" i="0" u="none" strike="noStrike" cap="none" normalizeH="0" baseline="0">
                        <a:ln>
                          <a:noFill/>
                        </a:ln>
                        <a:solidFill>
                          <a:schemeClr val="tx1"/>
                        </a:solidFill>
                        <a:effectLst/>
                        <a:latin typeface="Century Gothic" pitchFamily="34" charset="0"/>
                        <a:ea typeface="新細明體" pitchFamily="18" charset="-120"/>
                      </a:endParaRPr>
                    </a:p>
                  </a:txBody>
                  <a:tcPr marL="68580" marR="68580" marT="34290" marB="3429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276225">
                <a:tc>
                  <a:txBody>
                    <a:bodyPr/>
                    <a:lstStyle/>
                    <a:p>
                      <a:pPr marL="0" marR="0" lvl="0" indent="0" algn="l" defTabSz="914400" rtl="0" eaLnBrk="0" fontAlgn="base" latinLnBrk="0" hangingPunct="0">
                        <a:lnSpc>
                          <a:spcPct val="90000"/>
                        </a:lnSpc>
                        <a:spcBef>
                          <a:spcPct val="15000"/>
                        </a:spcBef>
                        <a:spcAft>
                          <a:spcPct val="0"/>
                        </a:spcAft>
                        <a:buClr>
                          <a:schemeClr val="folHlink"/>
                        </a:buClr>
                        <a:buSzPct val="75000"/>
                        <a:buFont typeface="Wingdings" pitchFamily="2" charset="2"/>
                        <a:buNone/>
                        <a:tabLst/>
                      </a:pPr>
                      <a:r>
                        <a:rPr kumimoji="0" lang="en-US" altLang="zh-TW" sz="1400" b="1" i="0" u="none" strike="noStrike" cap="none" normalizeH="0" baseline="0">
                          <a:ln>
                            <a:noFill/>
                          </a:ln>
                          <a:solidFill>
                            <a:schemeClr val="tx1"/>
                          </a:solidFill>
                          <a:effectLst/>
                          <a:latin typeface="Century Gothic" pitchFamily="34" charset="0"/>
                          <a:ea typeface="標楷體" pitchFamily="65" charset="-120"/>
                        </a:rPr>
                        <a:t>1992</a:t>
                      </a:r>
                      <a:endParaRPr kumimoji="0" lang="en-AU" altLang="zh-TW" sz="1400" b="1" i="0" u="none" strike="noStrike" cap="none" normalizeH="0" baseline="0">
                        <a:ln>
                          <a:noFill/>
                        </a:ln>
                        <a:solidFill>
                          <a:schemeClr val="tx1"/>
                        </a:solidFill>
                        <a:effectLst/>
                        <a:latin typeface="Century Gothic" pitchFamily="34" charset="0"/>
                        <a:ea typeface="新細明體" pitchFamily="18" charset="-120"/>
                      </a:endParaRPr>
                    </a:p>
                  </a:txBody>
                  <a:tcPr marL="68580" marR="68580" marT="34290" marB="3429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90000"/>
                        </a:lnSpc>
                        <a:spcBef>
                          <a:spcPct val="15000"/>
                        </a:spcBef>
                        <a:spcAft>
                          <a:spcPct val="0"/>
                        </a:spcAft>
                        <a:buClr>
                          <a:schemeClr val="folHlink"/>
                        </a:buClr>
                        <a:buSzPct val="75000"/>
                        <a:buFont typeface="Wingdings" pitchFamily="2" charset="2"/>
                        <a:buNone/>
                        <a:tabLst/>
                      </a:pPr>
                      <a:r>
                        <a:rPr kumimoji="0" lang="en-US" altLang="zh-TW" sz="1400" b="1" i="0" u="none" strike="noStrike" cap="none" normalizeH="0" baseline="0">
                          <a:ln>
                            <a:noFill/>
                          </a:ln>
                          <a:solidFill>
                            <a:schemeClr val="tx1"/>
                          </a:solidFill>
                          <a:effectLst/>
                          <a:latin typeface="Century Gothic" pitchFamily="34" charset="0"/>
                          <a:ea typeface="標楷體" pitchFamily="65" charset="-120"/>
                        </a:rPr>
                        <a:t>16Mbit</a:t>
                      </a:r>
                      <a:endParaRPr kumimoji="0" lang="en-AU" altLang="zh-TW" sz="1400" b="1" i="0" u="none" strike="noStrike" cap="none" normalizeH="0" baseline="0">
                        <a:ln>
                          <a:noFill/>
                        </a:ln>
                        <a:solidFill>
                          <a:schemeClr val="tx1"/>
                        </a:solidFill>
                        <a:effectLst/>
                        <a:latin typeface="Century Gothic" pitchFamily="34" charset="0"/>
                        <a:ea typeface="新細明體" pitchFamily="18" charset="-120"/>
                      </a:endParaRPr>
                    </a:p>
                  </a:txBody>
                  <a:tcPr marL="68580" marR="68580"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90000"/>
                        </a:lnSpc>
                        <a:spcBef>
                          <a:spcPct val="15000"/>
                        </a:spcBef>
                        <a:spcAft>
                          <a:spcPct val="0"/>
                        </a:spcAft>
                        <a:buClr>
                          <a:schemeClr val="folHlink"/>
                        </a:buClr>
                        <a:buSzPct val="75000"/>
                        <a:buFont typeface="Wingdings" pitchFamily="2" charset="2"/>
                        <a:buNone/>
                        <a:tabLst/>
                      </a:pPr>
                      <a:r>
                        <a:rPr kumimoji="0" lang="en-US" altLang="zh-TW" sz="1400" b="1" i="0" u="none" strike="noStrike" cap="none" normalizeH="0" baseline="0">
                          <a:ln>
                            <a:noFill/>
                          </a:ln>
                          <a:solidFill>
                            <a:schemeClr val="tx1"/>
                          </a:solidFill>
                          <a:effectLst/>
                          <a:latin typeface="Century Gothic" pitchFamily="34" charset="0"/>
                          <a:ea typeface="標楷體" pitchFamily="65" charset="-120"/>
                        </a:rPr>
                        <a:t>$15000</a:t>
                      </a:r>
                      <a:endParaRPr kumimoji="0" lang="en-AU" altLang="zh-TW" sz="1400" b="1" i="0" u="none" strike="noStrike" cap="none" normalizeH="0" baseline="0">
                        <a:ln>
                          <a:noFill/>
                        </a:ln>
                        <a:solidFill>
                          <a:schemeClr val="tx1"/>
                        </a:solidFill>
                        <a:effectLst/>
                        <a:latin typeface="Century Gothic" pitchFamily="34" charset="0"/>
                        <a:ea typeface="新細明體" pitchFamily="18" charset="-120"/>
                      </a:endParaRPr>
                    </a:p>
                  </a:txBody>
                  <a:tcPr marL="68580" marR="68580" marT="34290" marB="3429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277416">
                <a:tc>
                  <a:txBody>
                    <a:bodyPr/>
                    <a:lstStyle/>
                    <a:p>
                      <a:pPr marL="0" marR="0" lvl="0" indent="0" algn="l" defTabSz="914400" rtl="0" eaLnBrk="0" fontAlgn="base" latinLnBrk="0" hangingPunct="0">
                        <a:lnSpc>
                          <a:spcPct val="90000"/>
                        </a:lnSpc>
                        <a:spcBef>
                          <a:spcPct val="15000"/>
                        </a:spcBef>
                        <a:spcAft>
                          <a:spcPct val="0"/>
                        </a:spcAft>
                        <a:buClr>
                          <a:schemeClr val="folHlink"/>
                        </a:buClr>
                        <a:buSzPct val="75000"/>
                        <a:buFont typeface="Wingdings" pitchFamily="2" charset="2"/>
                        <a:buNone/>
                        <a:tabLst/>
                      </a:pPr>
                      <a:r>
                        <a:rPr kumimoji="0" lang="en-US" altLang="zh-TW" sz="1400" b="1" i="0" u="none" strike="noStrike" cap="none" normalizeH="0" baseline="0">
                          <a:ln>
                            <a:noFill/>
                          </a:ln>
                          <a:solidFill>
                            <a:schemeClr val="tx1"/>
                          </a:solidFill>
                          <a:effectLst/>
                          <a:latin typeface="Century Gothic" pitchFamily="34" charset="0"/>
                          <a:ea typeface="標楷體" pitchFamily="65" charset="-120"/>
                        </a:rPr>
                        <a:t>1996</a:t>
                      </a:r>
                      <a:endParaRPr kumimoji="0" lang="en-AU" altLang="zh-TW" sz="1400" b="1" i="0" u="none" strike="noStrike" cap="none" normalizeH="0" baseline="0">
                        <a:ln>
                          <a:noFill/>
                        </a:ln>
                        <a:solidFill>
                          <a:schemeClr val="tx1"/>
                        </a:solidFill>
                        <a:effectLst/>
                        <a:latin typeface="Century Gothic" pitchFamily="34" charset="0"/>
                        <a:ea typeface="新細明體" pitchFamily="18" charset="-120"/>
                      </a:endParaRPr>
                    </a:p>
                  </a:txBody>
                  <a:tcPr marL="68580" marR="68580" marT="34290" marB="3429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90000"/>
                        </a:lnSpc>
                        <a:spcBef>
                          <a:spcPct val="15000"/>
                        </a:spcBef>
                        <a:spcAft>
                          <a:spcPct val="0"/>
                        </a:spcAft>
                        <a:buClr>
                          <a:schemeClr val="folHlink"/>
                        </a:buClr>
                        <a:buSzPct val="75000"/>
                        <a:buFont typeface="Wingdings" pitchFamily="2" charset="2"/>
                        <a:buNone/>
                        <a:tabLst/>
                      </a:pPr>
                      <a:r>
                        <a:rPr kumimoji="0" lang="en-US" altLang="zh-TW" sz="1400" b="1" i="0" u="none" strike="noStrike" cap="none" normalizeH="0" baseline="0">
                          <a:ln>
                            <a:noFill/>
                          </a:ln>
                          <a:solidFill>
                            <a:schemeClr val="tx1"/>
                          </a:solidFill>
                          <a:effectLst/>
                          <a:latin typeface="Century Gothic" pitchFamily="34" charset="0"/>
                          <a:ea typeface="標楷體" pitchFamily="65" charset="-120"/>
                        </a:rPr>
                        <a:t>64Mbit</a:t>
                      </a:r>
                      <a:endParaRPr kumimoji="0" lang="en-AU" altLang="zh-TW" sz="1400" b="1" i="0" u="none" strike="noStrike" cap="none" normalizeH="0" baseline="0">
                        <a:ln>
                          <a:noFill/>
                        </a:ln>
                        <a:solidFill>
                          <a:schemeClr val="tx1"/>
                        </a:solidFill>
                        <a:effectLst/>
                        <a:latin typeface="Century Gothic" pitchFamily="34" charset="0"/>
                        <a:ea typeface="新細明體" pitchFamily="18" charset="-120"/>
                      </a:endParaRPr>
                    </a:p>
                  </a:txBody>
                  <a:tcPr marL="68580" marR="68580"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90000"/>
                        </a:lnSpc>
                        <a:spcBef>
                          <a:spcPct val="15000"/>
                        </a:spcBef>
                        <a:spcAft>
                          <a:spcPct val="0"/>
                        </a:spcAft>
                        <a:buClr>
                          <a:schemeClr val="folHlink"/>
                        </a:buClr>
                        <a:buSzPct val="75000"/>
                        <a:buFont typeface="Wingdings" pitchFamily="2" charset="2"/>
                        <a:buNone/>
                        <a:tabLst/>
                      </a:pPr>
                      <a:r>
                        <a:rPr kumimoji="0" lang="en-US" altLang="zh-TW" sz="1400" b="1" i="0" u="none" strike="noStrike" cap="none" normalizeH="0" baseline="0">
                          <a:ln>
                            <a:noFill/>
                          </a:ln>
                          <a:solidFill>
                            <a:schemeClr val="tx1"/>
                          </a:solidFill>
                          <a:effectLst/>
                          <a:latin typeface="Century Gothic" pitchFamily="34" charset="0"/>
                          <a:ea typeface="標楷體" pitchFamily="65" charset="-120"/>
                        </a:rPr>
                        <a:t>$10000</a:t>
                      </a:r>
                      <a:endParaRPr kumimoji="0" lang="en-AU" altLang="zh-TW" sz="1400" b="1" i="0" u="none" strike="noStrike" cap="none" normalizeH="0" baseline="0">
                        <a:ln>
                          <a:noFill/>
                        </a:ln>
                        <a:solidFill>
                          <a:schemeClr val="tx1"/>
                        </a:solidFill>
                        <a:effectLst/>
                        <a:latin typeface="Century Gothic" pitchFamily="34" charset="0"/>
                        <a:ea typeface="新細明體" pitchFamily="18" charset="-120"/>
                      </a:endParaRPr>
                    </a:p>
                  </a:txBody>
                  <a:tcPr marL="68580" marR="68580" marT="34290" marB="3429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277416">
                <a:tc>
                  <a:txBody>
                    <a:bodyPr/>
                    <a:lstStyle/>
                    <a:p>
                      <a:pPr marL="0" marR="0" lvl="0" indent="0" algn="l" defTabSz="914400" rtl="0" eaLnBrk="0" fontAlgn="base" latinLnBrk="0" hangingPunct="0">
                        <a:lnSpc>
                          <a:spcPct val="90000"/>
                        </a:lnSpc>
                        <a:spcBef>
                          <a:spcPct val="15000"/>
                        </a:spcBef>
                        <a:spcAft>
                          <a:spcPct val="0"/>
                        </a:spcAft>
                        <a:buClr>
                          <a:schemeClr val="folHlink"/>
                        </a:buClr>
                        <a:buSzPct val="75000"/>
                        <a:buFont typeface="Wingdings" pitchFamily="2" charset="2"/>
                        <a:buNone/>
                        <a:tabLst/>
                      </a:pPr>
                      <a:r>
                        <a:rPr kumimoji="0" lang="en-US" altLang="zh-TW" sz="1400" b="1" i="0" u="none" strike="noStrike" cap="none" normalizeH="0" baseline="0">
                          <a:ln>
                            <a:noFill/>
                          </a:ln>
                          <a:solidFill>
                            <a:schemeClr val="tx1"/>
                          </a:solidFill>
                          <a:effectLst/>
                          <a:latin typeface="Century Gothic" pitchFamily="34" charset="0"/>
                          <a:ea typeface="標楷體" pitchFamily="65" charset="-120"/>
                        </a:rPr>
                        <a:t>1998</a:t>
                      </a:r>
                      <a:endParaRPr kumimoji="0" lang="en-AU" altLang="zh-TW" sz="1400" b="1" i="0" u="none" strike="noStrike" cap="none" normalizeH="0" baseline="0">
                        <a:ln>
                          <a:noFill/>
                        </a:ln>
                        <a:solidFill>
                          <a:schemeClr val="tx1"/>
                        </a:solidFill>
                        <a:effectLst/>
                        <a:latin typeface="Century Gothic" pitchFamily="34" charset="0"/>
                        <a:ea typeface="新細明體" pitchFamily="18" charset="-120"/>
                      </a:endParaRPr>
                    </a:p>
                  </a:txBody>
                  <a:tcPr marL="68580" marR="68580" marT="34290" marB="3429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90000"/>
                        </a:lnSpc>
                        <a:spcBef>
                          <a:spcPct val="15000"/>
                        </a:spcBef>
                        <a:spcAft>
                          <a:spcPct val="0"/>
                        </a:spcAft>
                        <a:buClr>
                          <a:schemeClr val="folHlink"/>
                        </a:buClr>
                        <a:buSzPct val="75000"/>
                        <a:buFont typeface="Wingdings" pitchFamily="2" charset="2"/>
                        <a:buNone/>
                        <a:tabLst/>
                      </a:pPr>
                      <a:r>
                        <a:rPr kumimoji="0" lang="en-US" altLang="zh-TW" sz="1400" b="1" i="0" u="none" strike="noStrike" cap="none" normalizeH="0" baseline="0">
                          <a:ln>
                            <a:noFill/>
                          </a:ln>
                          <a:solidFill>
                            <a:schemeClr val="tx1"/>
                          </a:solidFill>
                          <a:effectLst/>
                          <a:latin typeface="Century Gothic" pitchFamily="34" charset="0"/>
                          <a:ea typeface="標楷體" pitchFamily="65" charset="-120"/>
                        </a:rPr>
                        <a:t>128Mbit</a:t>
                      </a:r>
                      <a:endParaRPr kumimoji="0" lang="en-AU" altLang="zh-TW" sz="1400" b="1" i="0" u="none" strike="noStrike" cap="none" normalizeH="0" baseline="0">
                        <a:ln>
                          <a:noFill/>
                        </a:ln>
                        <a:solidFill>
                          <a:schemeClr val="tx1"/>
                        </a:solidFill>
                        <a:effectLst/>
                        <a:latin typeface="Century Gothic" pitchFamily="34" charset="0"/>
                        <a:ea typeface="新細明體" pitchFamily="18" charset="-120"/>
                      </a:endParaRPr>
                    </a:p>
                  </a:txBody>
                  <a:tcPr marL="68580" marR="68580"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90000"/>
                        </a:lnSpc>
                        <a:spcBef>
                          <a:spcPct val="15000"/>
                        </a:spcBef>
                        <a:spcAft>
                          <a:spcPct val="0"/>
                        </a:spcAft>
                        <a:buClr>
                          <a:schemeClr val="folHlink"/>
                        </a:buClr>
                        <a:buSzPct val="75000"/>
                        <a:buFont typeface="Wingdings" pitchFamily="2" charset="2"/>
                        <a:buNone/>
                        <a:tabLst/>
                      </a:pPr>
                      <a:r>
                        <a:rPr kumimoji="0" lang="en-US" altLang="zh-TW" sz="1400" b="1" i="0" u="none" strike="noStrike" cap="none" normalizeH="0" baseline="0">
                          <a:ln>
                            <a:noFill/>
                          </a:ln>
                          <a:solidFill>
                            <a:schemeClr val="tx1"/>
                          </a:solidFill>
                          <a:effectLst/>
                          <a:latin typeface="Century Gothic" pitchFamily="34" charset="0"/>
                          <a:ea typeface="標楷體" pitchFamily="65" charset="-120"/>
                        </a:rPr>
                        <a:t>$4000</a:t>
                      </a:r>
                      <a:endParaRPr kumimoji="0" lang="en-AU" altLang="zh-TW" sz="1400" b="1" i="0" u="none" strike="noStrike" cap="none" normalizeH="0" baseline="0">
                        <a:ln>
                          <a:noFill/>
                        </a:ln>
                        <a:solidFill>
                          <a:schemeClr val="tx1"/>
                        </a:solidFill>
                        <a:effectLst/>
                        <a:latin typeface="Century Gothic" pitchFamily="34" charset="0"/>
                        <a:ea typeface="新細明體" pitchFamily="18" charset="-120"/>
                      </a:endParaRPr>
                    </a:p>
                  </a:txBody>
                  <a:tcPr marL="68580" marR="68580" marT="34290" marB="3429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277416">
                <a:tc>
                  <a:txBody>
                    <a:bodyPr/>
                    <a:lstStyle/>
                    <a:p>
                      <a:pPr marL="0" marR="0" lvl="0" indent="0" algn="l" defTabSz="914400" rtl="0" eaLnBrk="0" fontAlgn="base" latinLnBrk="0" hangingPunct="0">
                        <a:lnSpc>
                          <a:spcPct val="90000"/>
                        </a:lnSpc>
                        <a:spcBef>
                          <a:spcPct val="15000"/>
                        </a:spcBef>
                        <a:spcAft>
                          <a:spcPct val="0"/>
                        </a:spcAft>
                        <a:buClr>
                          <a:schemeClr val="folHlink"/>
                        </a:buClr>
                        <a:buSzPct val="75000"/>
                        <a:buFont typeface="Wingdings" pitchFamily="2" charset="2"/>
                        <a:buNone/>
                        <a:tabLst/>
                      </a:pPr>
                      <a:r>
                        <a:rPr kumimoji="0" lang="en-US" altLang="zh-TW" sz="1400" b="1" i="0" u="none" strike="noStrike" cap="none" normalizeH="0" baseline="0">
                          <a:ln>
                            <a:noFill/>
                          </a:ln>
                          <a:solidFill>
                            <a:schemeClr val="tx1"/>
                          </a:solidFill>
                          <a:effectLst/>
                          <a:latin typeface="Century Gothic" pitchFamily="34" charset="0"/>
                          <a:ea typeface="標楷體" pitchFamily="65" charset="-120"/>
                        </a:rPr>
                        <a:t>2000</a:t>
                      </a:r>
                      <a:endParaRPr kumimoji="0" lang="en-AU" altLang="zh-TW" sz="1400" b="1" i="0" u="none" strike="noStrike" cap="none" normalizeH="0" baseline="0">
                        <a:ln>
                          <a:noFill/>
                        </a:ln>
                        <a:solidFill>
                          <a:schemeClr val="tx1"/>
                        </a:solidFill>
                        <a:effectLst/>
                        <a:latin typeface="Century Gothic" pitchFamily="34" charset="0"/>
                        <a:ea typeface="新細明體" pitchFamily="18" charset="-120"/>
                      </a:endParaRPr>
                    </a:p>
                  </a:txBody>
                  <a:tcPr marL="68580" marR="68580" marT="34290" marB="3429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90000"/>
                        </a:lnSpc>
                        <a:spcBef>
                          <a:spcPct val="15000"/>
                        </a:spcBef>
                        <a:spcAft>
                          <a:spcPct val="0"/>
                        </a:spcAft>
                        <a:buClr>
                          <a:schemeClr val="folHlink"/>
                        </a:buClr>
                        <a:buSzPct val="75000"/>
                        <a:buFont typeface="Wingdings" pitchFamily="2" charset="2"/>
                        <a:buNone/>
                        <a:tabLst/>
                      </a:pPr>
                      <a:r>
                        <a:rPr kumimoji="0" lang="en-US" altLang="zh-TW" sz="1400" b="1" i="0" u="none" strike="noStrike" cap="none" normalizeH="0" baseline="0">
                          <a:ln>
                            <a:noFill/>
                          </a:ln>
                          <a:solidFill>
                            <a:schemeClr val="tx1"/>
                          </a:solidFill>
                          <a:effectLst/>
                          <a:latin typeface="Century Gothic" pitchFamily="34" charset="0"/>
                          <a:ea typeface="標楷體" pitchFamily="65" charset="-120"/>
                        </a:rPr>
                        <a:t>256Mbit</a:t>
                      </a:r>
                      <a:endParaRPr kumimoji="0" lang="en-AU" altLang="zh-TW" sz="1400" b="1" i="0" u="none" strike="noStrike" cap="none" normalizeH="0" baseline="0">
                        <a:ln>
                          <a:noFill/>
                        </a:ln>
                        <a:solidFill>
                          <a:schemeClr val="tx1"/>
                        </a:solidFill>
                        <a:effectLst/>
                        <a:latin typeface="Century Gothic" pitchFamily="34" charset="0"/>
                        <a:ea typeface="新細明體" pitchFamily="18" charset="-120"/>
                      </a:endParaRPr>
                    </a:p>
                  </a:txBody>
                  <a:tcPr marL="68580" marR="68580"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90000"/>
                        </a:lnSpc>
                        <a:spcBef>
                          <a:spcPct val="15000"/>
                        </a:spcBef>
                        <a:spcAft>
                          <a:spcPct val="0"/>
                        </a:spcAft>
                        <a:buClr>
                          <a:schemeClr val="folHlink"/>
                        </a:buClr>
                        <a:buSzPct val="75000"/>
                        <a:buFont typeface="Wingdings" pitchFamily="2" charset="2"/>
                        <a:buNone/>
                        <a:tabLst/>
                      </a:pPr>
                      <a:r>
                        <a:rPr kumimoji="0" lang="en-US" altLang="zh-TW" sz="1400" b="1" i="0" u="none" strike="noStrike" cap="none" normalizeH="0" baseline="0">
                          <a:ln>
                            <a:noFill/>
                          </a:ln>
                          <a:solidFill>
                            <a:schemeClr val="tx1"/>
                          </a:solidFill>
                          <a:effectLst/>
                          <a:latin typeface="Century Gothic" pitchFamily="34" charset="0"/>
                          <a:ea typeface="標楷體" pitchFamily="65" charset="-120"/>
                        </a:rPr>
                        <a:t>$1000</a:t>
                      </a:r>
                      <a:endParaRPr kumimoji="0" lang="en-AU" altLang="zh-TW" sz="1400" b="1" i="0" u="none" strike="noStrike" cap="none" normalizeH="0" baseline="0">
                        <a:ln>
                          <a:noFill/>
                        </a:ln>
                        <a:solidFill>
                          <a:schemeClr val="tx1"/>
                        </a:solidFill>
                        <a:effectLst/>
                        <a:latin typeface="Century Gothic" pitchFamily="34" charset="0"/>
                        <a:ea typeface="新細明體" pitchFamily="18" charset="-120"/>
                      </a:endParaRPr>
                    </a:p>
                  </a:txBody>
                  <a:tcPr marL="68580" marR="68580" marT="34290" marB="3429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276225">
                <a:tc>
                  <a:txBody>
                    <a:bodyPr/>
                    <a:lstStyle/>
                    <a:p>
                      <a:pPr marL="0" marR="0" lvl="0" indent="0" algn="l" defTabSz="914400" rtl="0" eaLnBrk="0" fontAlgn="base" latinLnBrk="0" hangingPunct="0">
                        <a:lnSpc>
                          <a:spcPct val="90000"/>
                        </a:lnSpc>
                        <a:spcBef>
                          <a:spcPct val="15000"/>
                        </a:spcBef>
                        <a:spcAft>
                          <a:spcPct val="0"/>
                        </a:spcAft>
                        <a:buClr>
                          <a:schemeClr val="folHlink"/>
                        </a:buClr>
                        <a:buSzPct val="75000"/>
                        <a:buFont typeface="Wingdings" pitchFamily="2" charset="2"/>
                        <a:buNone/>
                        <a:tabLst/>
                      </a:pPr>
                      <a:r>
                        <a:rPr kumimoji="0" lang="en-US" altLang="zh-TW" sz="1400" b="1" i="0" u="none" strike="noStrike" cap="none" normalizeH="0" baseline="0">
                          <a:ln>
                            <a:noFill/>
                          </a:ln>
                          <a:solidFill>
                            <a:schemeClr val="tx1"/>
                          </a:solidFill>
                          <a:effectLst/>
                          <a:latin typeface="Century Gothic" pitchFamily="34" charset="0"/>
                          <a:ea typeface="標楷體" pitchFamily="65" charset="-120"/>
                        </a:rPr>
                        <a:t>2004</a:t>
                      </a:r>
                      <a:endParaRPr kumimoji="0" lang="en-AU" altLang="zh-TW" sz="1400" b="1" i="0" u="none" strike="noStrike" cap="none" normalizeH="0" baseline="0">
                        <a:ln>
                          <a:noFill/>
                        </a:ln>
                        <a:solidFill>
                          <a:schemeClr val="tx1"/>
                        </a:solidFill>
                        <a:effectLst/>
                        <a:latin typeface="Century Gothic" pitchFamily="34" charset="0"/>
                        <a:ea typeface="新細明體" pitchFamily="18" charset="-120"/>
                      </a:endParaRPr>
                    </a:p>
                  </a:txBody>
                  <a:tcPr marL="68580" marR="68580" marT="34290" marB="3429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90000"/>
                        </a:lnSpc>
                        <a:spcBef>
                          <a:spcPct val="15000"/>
                        </a:spcBef>
                        <a:spcAft>
                          <a:spcPct val="0"/>
                        </a:spcAft>
                        <a:buClr>
                          <a:schemeClr val="folHlink"/>
                        </a:buClr>
                        <a:buSzPct val="75000"/>
                        <a:buFont typeface="Wingdings" pitchFamily="2" charset="2"/>
                        <a:buNone/>
                        <a:tabLst/>
                      </a:pPr>
                      <a:r>
                        <a:rPr kumimoji="0" lang="en-US" altLang="zh-TW" sz="1400" b="1" i="0" u="none" strike="noStrike" cap="none" normalizeH="0" baseline="0">
                          <a:ln>
                            <a:noFill/>
                          </a:ln>
                          <a:solidFill>
                            <a:schemeClr val="tx1"/>
                          </a:solidFill>
                          <a:effectLst/>
                          <a:latin typeface="Century Gothic" pitchFamily="34" charset="0"/>
                          <a:ea typeface="標楷體" pitchFamily="65" charset="-120"/>
                        </a:rPr>
                        <a:t>512Mbit</a:t>
                      </a:r>
                      <a:endParaRPr kumimoji="0" lang="en-AU" altLang="zh-TW" sz="1400" b="1" i="0" u="none" strike="noStrike" cap="none" normalizeH="0" baseline="0">
                        <a:ln>
                          <a:noFill/>
                        </a:ln>
                        <a:solidFill>
                          <a:schemeClr val="tx1"/>
                        </a:solidFill>
                        <a:effectLst/>
                        <a:latin typeface="Century Gothic" pitchFamily="34" charset="0"/>
                        <a:ea typeface="新細明體" pitchFamily="18" charset="-120"/>
                      </a:endParaRPr>
                    </a:p>
                  </a:txBody>
                  <a:tcPr marL="68580" marR="68580"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90000"/>
                        </a:lnSpc>
                        <a:spcBef>
                          <a:spcPct val="15000"/>
                        </a:spcBef>
                        <a:spcAft>
                          <a:spcPct val="0"/>
                        </a:spcAft>
                        <a:buClr>
                          <a:schemeClr val="folHlink"/>
                        </a:buClr>
                        <a:buSzPct val="75000"/>
                        <a:buFont typeface="Wingdings" pitchFamily="2" charset="2"/>
                        <a:buNone/>
                        <a:tabLst/>
                      </a:pPr>
                      <a:r>
                        <a:rPr kumimoji="0" lang="en-US" altLang="zh-TW" sz="1400" b="1" i="0" u="none" strike="noStrike" cap="none" normalizeH="0" baseline="0">
                          <a:ln>
                            <a:noFill/>
                          </a:ln>
                          <a:solidFill>
                            <a:schemeClr val="tx1"/>
                          </a:solidFill>
                          <a:effectLst/>
                          <a:latin typeface="Century Gothic" pitchFamily="34" charset="0"/>
                          <a:ea typeface="標楷體" pitchFamily="65" charset="-120"/>
                        </a:rPr>
                        <a:t>$250</a:t>
                      </a:r>
                      <a:endParaRPr kumimoji="0" lang="en-AU" altLang="zh-TW" sz="1400" b="1" i="0" u="none" strike="noStrike" cap="none" normalizeH="0" baseline="0">
                        <a:ln>
                          <a:noFill/>
                        </a:ln>
                        <a:solidFill>
                          <a:schemeClr val="tx1"/>
                        </a:solidFill>
                        <a:effectLst/>
                        <a:latin typeface="Century Gothic" pitchFamily="34" charset="0"/>
                        <a:ea typeface="新細明體" pitchFamily="18" charset="-120"/>
                      </a:endParaRPr>
                    </a:p>
                  </a:txBody>
                  <a:tcPr marL="68580" marR="68580" marT="34290" marB="3429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r h="277416">
                <a:tc>
                  <a:txBody>
                    <a:bodyPr/>
                    <a:lstStyle/>
                    <a:p>
                      <a:pPr marL="0" marR="0" lvl="0" indent="0" algn="l" defTabSz="914400" rtl="0" eaLnBrk="0" fontAlgn="base" latinLnBrk="0" hangingPunct="0">
                        <a:lnSpc>
                          <a:spcPct val="90000"/>
                        </a:lnSpc>
                        <a:spcBef>
                          <a:spcPct val="15000"/>
                        </a:spcBef>
                        <a:spcAft>
                          <a:spcPct val="0"/>
                        </a:spcAft>
                        <a:buClr>
                          <a:schemeClr val="folHlink"/>
                        </a:buClr>
                        <a:buSzPct val="75000"/>
                        <a:buFont typeface="Wingdings" pitchFamily="2" charset="2"/>
                        <a:buNone/>
                        <a:tabLst/>
                      </a:pPr>
                      <a:r>
                        <a:rPr kumimoji="0" lang="en-US" altLang="zh-TW" sz="1400" b="1" i="0" u="none" strike="noStrike" cap="none" normalizeH="0" baseline="0">
                          <a:ln>
                            <a:noFill/>
                          </a:ln>
                          <a:solidFill>
                            <a:schemeClr val="tx1"/>
                          </a:solidFill>
                          <a:effectLst/>
                          <a:latin typeface="Century Gothic" pitchFamily="34" charset="0"/>
                          <a:ea typeface="標楷體" pitchFamily="65" charset="-120"/>
                        </a:rPr>
                        <a:t>2007</a:t>
                      </a:r>
                      <a:endParaRPr kumimoji="0" lang="en-AU" altLang="zh-TW" sz="1400" b="1" i="0" u="none" strike="noStrike" cap="none" normalizeH="0" baseline="0">
                        <a:ln>
                          <a:noFill/>
                        </a:ln>
                        <a:solidFill>
                          <a:schemeClr val="tx1"/>
                        </a:solidFill>
                        <a:effectLst/>
                        <a:latin typeface="Century Gothic" pitchFamily="34" charset="0"/>
                        <a:ea typeface="新細明體" pitchFamily="18" charset="-120"/>
                      </a:endParaRPr>
                    </a:p>
                  </a:txBody>
                  <a:tcPr marL="68580" marR="68580" marT="34290" marB="3429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90000"/>
                        </a:lnSpc>
                        <a:spcBef>
                          <a:spcPct val="15000"/>
                        </a:spcBef>
                        <a:spcAft>
                          <a:spcPct val="0"/>
                        </a:spcAft>
                        <a:buClr>
                          <a:schemeClr val="folHlink"/>
                        </a:buClr>
                        <a:buSzPct val="75000"/>
                        <a:buFont typeface="Wingdings" pitchFamily="2" charset="2"/>
                        <a:buNone/>
                        <a:tabLst/>
                      </a:pPr>
                      <a:r>
                        <a:rPr kumimoji="0" lang="en-US" altLang="zh-TW" sz="1400" b="1" i="0" u="none" strike="noStrike" cap="none" normalizeH="0" baseline="0">
                          <a:ln>
                            <a:noFill/>
                          </a:ln>
                          <a:solidFill>
                            <a:schemeClr val="tx1"/>
                          </a:solidFill>
                          <a:effectLst/>
                          <a:latin typeface="Century Gothic" pitchFamily="34" charset="0"/>
                          <a:ea typeface="標楷體" pitchFamily="65" charset="-120"/>
                        </a:rPr>
                        <a:t>1Gbit</a:t>
                      </a:r>
                      <a:endParaRPr kumimoji="0" lang="en-AU" altLang="zh-TW" sz="1400" b="1" i="0" u="none" strike="noStrike" cap="none" normalizeH="0" baseline="0">
                        <a:ln>
                          <a:noFill/>
                        </a:ln>
                        <a:solidFill>
                          <a:schemeClr val="tx1"/>
                        </a:solidFill>
                        <a:effectLst/>
                        <a:latin typeface="Century Gothic" pitchFamily="34" charset="0"/>
                        <a:ea typeface="新細明體" pitchFamily="18" charset="-120"/>
                      </a:endParaRPr>
                    </a:p>
                  </a:txBody>
                  <a:tcPr marL="68580" marR="68580"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90000"/>
                        </a:lnSpc>
                        <a:spcBef>
                          <a:spcPct val="15000"/>
                        </a:spcBef>
                        <a:spcAft>
                          <a:spcPct val="0"/>
                        </a:spcAft>
                        <a:buClr>
                          <a:schemeClr val="folHlink"/>
                        </a:buClr>
                        <a:buSzPct val="75000"/>
                        <a:buFont typeface="Wingdings" pitchFamily="2" charset="2"/>
                        <a:buNone/>
                        <a:tabLst/>
                      </a:pPr>
                      <a:r>
                        <a:rPr kumimoji="0" lang="en-US" altLang="zh-TW" sz="1400" b="1" i="0" u="none" strike="noStrike" cap="none" normalizeH="0" baseline="0" dirty="0">
                          <a:ln>
                            <a:noFill/>
                          </a:ln>
                          <a:solidFill>
                            <a:schemeClr val="tx1"/>
                          </a:solidFill>
                          <a:effectLst/>
                          <a:latin typeface="Century Gothic" pitchFamily="34" charset="0"/>
                          <a:ea typeface="標楷體" pitchFamily="65" charset="-120"/>
                        </a:rPr>
                        <a:t>$50</a:t>
                      </a:r>
                      <a:endParaRPr kumimoji="0" lang="en-AU" altLang="zh-TW" sz="1400" b="1" i="0" u="none" strike="noStrike" cap="none" normalizeH="0" baseline="0" dirty="0">
                        <a:ln>
                          <a:noFill/>
                        </a:ln>
                        <a:solidFill>
                          <a:schemeClr val="tx1"/>
                        </a:solidFill>
                        <a:effectLst/>
                        <a:latin typeface="Century Gothic" pitchFamily="34" charset="0"/>
                        <a:ea typeface="新細明體" pitchFamily="18" charset="-120"/>
                      </a:endParaRPr>
                    </a:p>
                  </a:txBody>
                  <a:tcPr marL="68580" marR="68580" marT="34290" marB="3429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0"/>
                  </a:ext>
                </a:extLst>
              </a:tr>
            </a:tbl>
          </a:graphicData>
        </a:graphic>
      </p:graphicFrame>
      <p:sp>
        <p:nvSpPr>
          <p:cNvPr id="1078" name="Text Box 58"/>
          <p:cNvSpPr txBox="1">
            <a:spLocks noChangeArrowheads="1"/>
          </p:cNvSpPr>
          <p:nvPr/>
        </p:nvSpPr>
        <p:spPr bwMode="auto">
          <a:xfrm>
            <a:off x="4513430" y="4064832"/>
            <a:ext cx="3717684" cy="523220"/>
          </a:xfrm>
          <a:prstGeom prst="rect">
            <a:avLst/>
          </a:prstGeom>
          <a:solidFill>
            <a:srgbClr val="FFFFFF"/>
          </a:solidFill>
          <a:ln w="12700">
            <a:solidFill>
              <a:srgbClr val="FFFFFF"/>
            </a:solidFill>
            <a:miter lim="800000"/>
            <a:headEnd/>
            <a:tailEnd/>
          </a:ln>
        </p:spPr>
        <p:txBody>
          <a:bodyPr wrap="none">
            <a:spAutoFit/>
          </a:bodyPr>
          <a:lstStyle/>
          <a:p>
            <a:r>
              <a:rPr lang="en-US" altLang="zh-TW" sz="1400" b="1" dirty="0" err="1">
                <a:latin typeface="Century Gothic" pitchFamily="34" charset="0"/>
              </a:rPr>
              <a:t>Trac:access</a:t>
            </a:r>
            <a:r>
              <a:rPr lang="en-US" altLang="zh-TW" sz="1400" b="1" dirty="0">
                <a:latin typeface="Century Gothic" pitchFamily="34" charset="0"/>
              </a:rPr>
              <a:t> time to a new row</a:t>
            </a:r>
          </a:p>
          <a:p>
            <a:r>
              <a:rPr lang="en-US" altLang="zh-TW" sz="1400" b="1" dirty="0" err="1">
                <a:latin typeface="Century Gothic" pitchFamily="34" charset="0"/>
              </a:rPr>
              <a:t>Tcac:column</a:t>
            </a:r>
            <a:r>
              <a:rPr lang="en-US" altLang="zh-TW" sz="1400" b="1" dirty="0">
                <a:latin typeface="Century Gothic" pitchFamily="34" charset="0"/>
              </a:rPr>
              <a:t> access time to existing row</a:t>
            </a:r>
          </a:p>
        </p:txBody>
      </p:sp>
      <p:sp>
        <p:nvSpPr>
          <p:cNvPr id="7" name="Slide Number Placeholder 5">
            <a:extLst>
              <a:ext uri="{FF2B5EF4-FFF2-40B4-BE49-F238E27FC236}">
                <a16:creationId xmlns:a16="http://schemas.microsoft.com/office/drawing/2014/main" id="{E38E404E-F77C-4542-BAAB-9DC7F8A8A5FC}"/>
              </a:ext>
            </a:extLst>
          </p:cNvPr>
          <p:cNvSpPr>
            <a:spLocks noGrp="1"/>
          </p:cNvSpPr>
          <p:nvPr>
            <p:ph type="sldNum" sz="quarter" idx="10"/>
          </p:nvPr>
        </p:nvSpPr>
        <p:spPr>
          <a:xfrm>
            <a:off x="6831013" y="4893471"/>
            <a:ext cx="2133600" cy="254794"/>
          </a:xfrm>
        </p:spPr>
        <p:txBody>
          <a:bodyPr/>
          <a:lstStyle/>
          <a:p>
            <a:fld id="{D9B6BDF2-6896-4B98-8776-C18582F63BA5}" type="slidenum">
              <a:rPr lang="zh-TW" altLang="en-US" smtClean="0"/>
              <a:pPr/>
              <a:t>46</a:t>
            </a:fld>
            <a:endParaRPr lang="zh-TW" altLang="en-US"/>
          </a:p>
        </p:txBody>
      </p:sp>
      <p:graphicFrame>
        <p:nvGraphicFramePr>
          <p:cNvPr id="9" name="Object 3">
            <a:extLst>
              <a:ext uri="{FF2B5EF4-FFF2-40B4-BE49-F238E27FC236}">
                <a16:creationId xmlns:a16="http://schemas.microsoft.com/office/drawing/2014/main" id="{CD4CBB04-5F0D-48E4-A3F5-FEB5199FCF6B}"/>
              </a:ext>
            </a:extLst>
          </p:cNvPr>
          <p:cNvGraphicFramePr>
            <a:graphicFrameLocks noChangeAspect="1"/>
          </p:cNvGraphicFramePr>
          <p:nvPr>
            <p:extLst>
              <p:ext uri="{D42A27DB-BD31-4B8C-83A1-F6EECF244321}">
                <p14:modId xmlns:p14="http://schemas.microsoft.com/office/powerpoint/2010/main" val="27089424"/>
              </p:ext>
            </p:extLst>
          </p:nvPr>
        </p:nvGraphicFramePr>
        <p:xfrm>
          <a:off x="4409769" y="722671"/>
          <a:ext cx="4442058" cy="3445847"/>
        </p:xfrm>
        <a:graphic>
          <a:graphicData uri="http://schemas.openxmlformats.org/presentationml/2006/ole">
            <mc:AlternateContent xmlns:mc="http://schemas.openxmlformats.org/markup-compatibility/2006">
              <mc:Choice xmlns:v="urn:schemas-microsoft-com:vml" Requires="v">
                <p:oleObj spid="_x0000_s2079" name="Chart" r:id="rId4" imgW="5372138" imgH="4419678" progId="MSGraph.Chart.8">
                  <p:embed followColorScheme="full"/>
                </p:oleObj>
              </mc:Choice>
              <mc:Fallback>
                <p:oleObj name="Chart" r:id="rId4" imgW="5372138" imgH="4419678" progId="MSGraph.Chart.8">
                  <p:embed followColorScheme="full"/>
                  <p:pic>
                    <p:nvPicPr>
                      <p:cNvPr id="1026"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409769" y="722671"/>
                        <a:ext cx="4442058" cy="3445847"/>
                      </a:xfrm>
                      <a:prstGeom prst="rect">
                        <a:avLst/>
                      </a:prstGeom>
                      <a:noFill/>
                      <a:extLst/>
                    </p:spPr>
                  </p:pic>
                </p:oleObj>
              </mc:Fallback>
            </mc:AlternateContent>
          </a:graphicData>
        </a:graphic>
      </p:graphicFrame>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9154" name="Rectangle 2"/>
          <p:cNvSpPr>
            <a:spLocks noGrp="1" noChangeArrowheads="1"/>
          </p:cNvSpPr>
          <p:nvPr>
            <p:ph type="title"/>
          </p:nvPr>
        </p:nvSpPr>
        <p:spPr>
          <a:xfrm>
            <a:off x="973395" y="129779"/>
            <a:ext cx="6756144" cy="467531"/>
          </a:xfrm>
        </p:spPr>
        <p:txBody>
          <a:bodyPr/>
          <a:lstStyle/>
          <a:p>
            <a:r>
              <a:rPr lang="en-US" altLang="zh-TW" dirty="0">
                <a:solidFill>
                  <a:srgbClr val="002060"/>
                </a:solidFill>
              </a:rPr>
              <a:t>DDR SDRAM</a:t>
            </a:r>
          </a:p>
        </p:txBody>
      </p:sp>
      <p:sp>
        <p:nvSpPr>
          <p:cNvPr id="49155" name="Rectangle 3"/>
          <p:cNvSpPr>
            <a:spLocks noGrp="1" noChangeArrowheads="1"/>
          </p:cNvSpPr>
          <p:nvPr>
            <p:ph type="body" idx="1"/>
          </p:nvPr>
        </p:nvSpPr>
        <p:spPr>
          <a:xfrm>
            <a:off x="943897" y="844153"/>
            <a:ext cx="7366820" cy="3671888"/>
          </a:xfrm>
        </p:spPr>
        <p:txBody>
          <a:bodyPr/>
          <a:lstStyle/>
          <a:p>
            <a:pPr>
              <a:buFont typeface="Wingdings" pitchFamily="2" charset="2"/>
              <a:buNone/>
            </a:pPr>
            <a:r>
              <a:rPr lang="en-US" altLang="zh-TW" sz="2000" dirty="0"/>
              <a:t>Double Data Rate Synchronous DRAMs</a:t>
            </a:r>
          </a:p>
          <a:p>
            <a:r>
              <a:rPr lang="en-US" altLang="zh-TW" sz="2000" dirty="0"/>
              <a:t>Burst access from a sequential locations</a:t>
            </a:r>
          </a:p>
          <a:p>
            <a:r>
              <a:rPr lang="en-US" altLang="zh-TW" sz="2000" dirty="0"/>
              <a:t>Starting address, burst length</a:t>
            </a:r>
          </a:p>
          <a:p>
            <a:r>
              <a:rPr lang="en-US" altLang="zh-TW" sz="2000" dirty="0"/>
              <a:t>Data transferred under control of clock</a:t>
            </a:r>
          </a:p>
          <a:p>
            <a:pPr>
              <a:buFont typeface="Wingdings" pitchFamily="2" charset="2"/>
              <a:buNone/>
            </a:pPr>
            <a:r>
              <a:rPr lang="en-US" altLang="zh-TW" sz="2000" dirty="0"/>
              <a:t>     (300 MHz, 2004)</a:t>
            </a:r>
          </a:p>
          <a:p>
            <a:r>
              <a:rPr lang="en-US" altLang="zh-TW" sz="2000" dirty="0"/>
              <a:t>Clock is used to eliminate the need of synchronization and the need of supplying successive address</a:t>
            </a:r>
          </a:p>
          <a:p>
            <a:r>
              <a:rPr lang="en-US" altLang="zh-TW" sz="2000" dirty="0"/>
              <a:t>Data transfer on both leading an falling edge of clock</a:t>
            </a:r>
          </a:p>
        </p:txBody>
      </p:sp>
      <p:sp>
        <p:nvSpPr>
          <p:cNvPr id="49156" name="投影片編號版面配置區 1"/>
          <p:cNvSpPr>
            <a:spLocks noGrp="1"/>
          </p:cNvSpPr>
          <p:nvPr>
            <p:ph type="sldNum" sz="quarter" idx="12"/>
          </p:nvPr>
        </p:nvSpPr>
        <p:spPr bwMode="auto">
          <a:xfrm>
            <a:off x="7602538" y="6457950"/>
            <a:ext cx="2063750" cy="457200"/>
          </a:xfrm>
          <a:prstGeom prst="rect">
            <a:avLst/>
          </a:prstGeom>
          <a:noFill/>
          <a:ln>
            <a:noFill/>
          </a:ln>
          <a:effectLst/>
          <a:extLst/>
        </p:spPr>
        <p:txBody>
          <a:bodyPr vert="horz" wrap="none" lIns="92075" tIns="46038" rIns="92075" bIns="46038" numCol="1" anchor="ctr" anchorCtr="0" compatLnSpc="1">
            <a:prstTxWarp prst="textNoShape">
              <a:avLst/>
            </a:prstTxWarp>
          </a:bodyPr>
          <a:lstStyle>
            <a:defPPr>
              <a:defRPr lang="en-US"/>
            </a:defPPr>
            <a:lvl1pPr algn="r" rtl="0" eaLnBrk="0" fontAlgn="base" hangingPunct="0">
              <a:spcBef>
                <a:spcPct val="0"/>
              </a:spcBef>
              <a:spcAft>
                <a:spcPct val="0"/>
              </a:spcAft>
              <a:defRPr sz="1400" kern="1200">
                <a:solidFill>
                  <a:schemeClr val="tx1"/>
                </a:solidFill>
                <a:latin typeface="Arial" pitchFamily="34" charset="0"/>
                <a:ea typeface="新細明體" pitchFamily="18" charset="-120"/>
                <a:cs typeface="+mn-cs"/>
              </a:defRPr>
            </a:lvl1pPr>
            <a:lvl2pPr marL="457200" algn="l" rtl="0" eaLnBrk="0" fontAlgn="base" hangingPunct="0">
              <a:spcBef>
                <a:spcPct val="0"/>
              </a:spcBef>
              <a:spcAft>
                <a:spcPct val="0"/>
              </a:spcAft>
              <a:defRPr sz="2400" kern="1200">
                <a:solidFill>
                  <a:schemeClr val="tx1"/>
                </a:solidFill>
                <a:latin typeface="Times New Roman" pitchFamily="18" charset="0"/>
                <a:ea typeface="新細明體" pitchFamily="18" charset="-120"/>
                <a:cs typeface="+mn-cs"/>
              </a:defRPr>
            </a:lvl2pPr>
            <a:lvl3pPr marL="914400" algn="l" rtl="0" eaLnBrk="0" fontAlgn="base" hangingPunct="0">
              <a:spcBef>
                <a:spcPct val="0"/>
              </a:spcBef>
              <a:spcAft>
                <a:spcPct val="0"/>
              </a:spcAft>
              <a:defRPr sz="2400" kern="1200">
                <a:solidFill>
                  <a:schemeClr val="tx1"/>
                </a:solidFill>
                <a:latin typeface="Times New Roman" pitchFamily="18" charset="0"/>
                <a:ea typeface="新細明體" pitchFamily="18" charset="-120"/>
                <a:cs typeface="+mn-cs"/>
              </a:defRPr>
            </a:lvl3pPr>
            <a:lvl4pPr marL="1371600" algn="l" rtl="0" eaLnBrk="0" fontAlgn="base" hangingPunct="0">
              <a:spcBef>
                <a:spcPct val="0"/>
              </a:spcBef>
              <a:spcAft>
                <a:spcPct val="0"/>
              </a:spcAft>
              <a:defRPr sz="2400" kern="1200">
                <a:solidFill>
                  <a:schemeClr val="tx1"/>
                </a:solidFill>
                <a:latin typeface="Times New Roman" pitchFamily="18" charset="0"/>
                <a:ea typeface="新細明體" pitchFamily="18" charset="-120"/>
                <a:cs typeface="+mn-cs"/>
              </a:defRPr>
            </a:lvl4pPr>
            <a:lvl5pPr marL="1828800" algn="l" rtl="0" eaLnBrk="0" fontAlgn="base" hangingPunct="0">
              <a:spcBef>
                <a:spcPct val="0"/>
              </a:spcBef>
              <a:spcAft>
                <a:spcPct val="0"/>
              </a:spcAft>
              <a:defRPr sz="2400" kern="1200">
                <a:solidFill>
                  <a:schemeClr val="tx1"/>
                </a:solidFill>
                <a:latin typeface="Times New Roman" pitchFamily="18" charset="0"/>
                <a:ea typeface="新細明體" pitchFamily="18" charset="-120"/>
                <a:cs typeface="+mn-cs"/>
              </a:defRPr>
            </a:lvl5pPr>
            <a:lvl6pPr marL="2286000" algn="l" defTabSz="914400" rtl="0" eaLnBrk="1" latinLnBrk="0" hangingPunct="1">
              <a:defRPr sz="2400" kern="1200">
                <a:solidFill>
                  <a:schemeClr val="tx1"/>
                </a:solidFill>
                <a:latin typeface="Times New Roman" pitchFamily="18" charset="0"/>
                <a:ea typeface="新細明體" pitchFamily="18" charset="-120"/>
                <a:cs typeface="+mn-cs"/>
              </a:defRPr>
            </a:lvl6pPr>
            <a:lvl7pPr marL="2743200" algn="l" defTabSz="914400" rtl="0" eaLnBrk="1" latinLnBrk="0" hangingPunct="1">
              <a:defRPr sz="2400" kern="1200">
                <a:solidFill>
                  <a:schemeClr val="tx1"/>
                </a:solidFill>
                <a:latin typeface="Times New Roman" pitchFamily="18" charset="0"/>
                <a:ea typeface="新細明體" pitchFamily="18" charset="-120"/>
                <a:cs typeface="+mn-cs"/>
              </a:defRPr>
            </a:lvl7pPr>
            <a:lvl8pPr marL="3200400" algn="l" defTabSz="914400" rtl="0" eaLnBrk="1" latinLnBrk="0" hangingPunct="1">
              <a:defRPr sz="2400" kern="1200">
                <a:solidFill>
                  <a:schemeClr val="tx1"/>
                </a:solidFill>
                <a:latin typeface="Times New Roman" pitchFamily="18" charset="0"/>
                <a:ea typeface="新細明體" pitchFamily="18" charset="-120"/>
                <a:cs typeface="+mn-cs"/>
              </a:defRPr>
            </a:lvl8pPr>
            <a:lvl9pPr marL="3657600" algn="l" defTabSz="914400" rtl="0" eaLnBrk="1" latinLnBrk="0" hangingPunct="1">
              <a:defRPr sz="2400" kern="1200">
                <a:solidFill>
                  <a:schemeClr val="tx1"/>
                </a:solidFill>
                <a:latin typeface="Times New Roman" pitchFamily="18" charset="0"/>
                <a:ea typeface="新細明體" pitchFamily="18" charset="-120"/>
                <a:cs typeface="+mn-cs"/>
              </a:defRPr>
            </a:lvl9pPr>
          </a:lstStyle>
          <a:p>
            <a:pPr defTabSz="571500"/>
            <a:fld id="{7D45A012-07B4-4F55-AE88-BDE7E89299BA}" type="slidenum">
              <a:rPr lang="zh-TW" altLang="en-US" smtClean="0"/>
              <a:pPr defTabSz="571500"/>
              <a:t>47</a:t>
            </a:fld>
            <a:endParaRPr lang="en-US" altLang="zh-TW"/>
          </a:p>
        </p:txBody>
      </p:sp>
      <p:sp>
        <p:nvSpPr>
          <p:cNvPr id="6" name="Slide Number Placeholder 5">
            <a:extLst>
              <a:ext uri="{FF2B5EF4-FFF2-40B4-BE49-F238E27FC236}">
                <a16:creationId xmlns:a16="http://schemas.microsoft.com/office/drawing/2014/main" id="{6CFCD0E5-A90E-4848-B1E2-6DD682918601}"/>
              </a:ext>
            </a:extLst>
          </p:cNvPr>
          <p:cNvSpPr>
            <a:spLocks noGrp="1"/>
          </p:cNvSpPr>
          <p:nvPr>
            <p:ph type="sldNum" sz="quarter" idx="10"/>
          </p:nvPr>
        </p:nvSpPr>
        <p:spPr>
          <a:xfrm>
            <a:off x="6831013" y="4893471"/>
            <a:ext cx="2133600" cy="254794"/>
          </a:xfrm>
        </p:spPr>
        <p:txBody>
          <a:bodyPr/>
          <a:lstStyle/>
          <a:p>
            <a:fld id="{D9B6BDF2-6896-4B98-8776-C18582F63BA5}" type="slidenum">
              <a:rPr lang="zh-TW" altLang="en-US" smtClean="0"/>
              <a:pPr/>
              <a:t>47</a:t>
            </a:fld>
            <a:endParaRPr lang="zh-TW" altLang="en-US"/>
          </a:p>
        </p:txBody>
      </p:sp>
    </p:spTree>
    <p:extLst>
      <p:ext uri="{BB962C8B-B14F-4D97-AF65-F5344CB8AC3E}">
        <p14:creationId xmlns:p14="http://schemas.microsoft.com/office/powerpoint/2010/main" val="263170552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a:xfrm>
            <a:off x="950259" y="129780"/>
            <a:ext cx="6779279" cy="470856"/>
          </a:xfrm>
        </p:spPr>
        <p:txBody>
          <a:bodyPr/>
          <a:lstStyle/>
          <a:p>
            <a:r>
              <a:rPr lang="en-US" altLang="zh-TW" dirty="0"/>
              <a:t>Outline</a:t>
            </a:r>
          </a:p>
        </p:txBody>
      </p:sp>
      <p:sp>
        <p:nvSpPr>
          <p:cNvPr id="7171" name="Rectangle 3"/>
          <p:cNvSpPr>
            <a:spLocks noGrp="1" noChangeArrowheads="1"/>
          </p:cNvSpPr>
          <p:nvPr>
            <p:ph type="body" idx="1"/>
          </p:nvPr>
        </p:nvSpPr>
        <p:spPr>
          <a:xfrm>
            <a:off x="1414463" y="832248"/>
            <a:ext cx="6506766" cy="3703894"/>
          </a:xfrm>
        </p:spPr>
        <p:txBody>
          <a:bodyPr/>
          <a:lstStyle/>
          <a:p>
            <a:r>
              <a:rPr lang="en-US" altLang="zh-TW" sz="2000" dirty="0"/>
              <a:t>Memory hierarchy</a:t>
            </a:r>
          </a:p>
          <a:p>
            <a:r>
              <a:rPr lang="en-US" altLang="zh-TW" sz="2000" dirty="0"/>
              <a:t>The basics of caches</a:t>
            </a:r>
          </a:p>
          <a:p>
            <a:pPr lvl="1"/>
            <a:r>
              <a:rPr lang="en-US" altLang="zh-TW" sz="1800" dirty="0"/>
              <a:t>Direct-mapped cache</a:t>
            </a:r>
          </a:p>
          <a:p>
            <a:pPr lvl="1"/>
            <a:r>
              <a:rPr lang="en-US" altLang="zh-TW" sz="1800" dirty="0"/>
              <a:t>Address sub-division</a:t>
            </a:r>
          </a:p>
          <a:p>
            <a:pPr lvl="1"/>
            <a:r>
              <a:rPr lang="en-US" altLang="zh-TW" sz="1800" dirty="0"/>
              <a:t>Cache hit and miss</a:t>
            </a:r>
          </a:p>
          <a:p>
            <a:pPr lvl="1"/>
            <a:r>
              <a:rPr lang="en-US" altLang="zh-TW" sz="1800" dirty="0"/>
              <a:t>Memory support</a:t>
            </a:r>
          </a:p>
          <a:p>
            <a:r>
              <a:rPr lang="en-US" altLang="zh-TW" sz="2000" dirty="0">
                <a:solidFill>
                  <a:srgbClr val="FF0000"/>
                </a:solidFill>
              </a:rPr>
              <a:t>Measuring cache performance</a:t>
            </a:r>
          </a:p>
          <a:p>
            <a:r>
              <a:rPr lang="en-US" altLang="zh-TW" sz="2000" dirty="0"/>
              <a:t>Improving cache performance</a:t>
            </a:r>
          </a:p>
          <a:p>
            <a:pPr lvl="1"/>
            <a:r>
              <a:rPr lang="en-US" altLang="zh-TW" sz="1800" dirty="0"/>
              <a:t>Set associative cache</a:t>
            </a:r>
          </a:p>
          <a:p>
            <a:pPr lvl="1"/>
            <a:r>
              <a:rPr lang="en-US" altLang="zh-TW" sz="1800" dirty="0"/>
              <a:t>Multiple level cache</a:t>
            </a:r>
          </a:p>
        </p:txBody>
      </p:sp>
      <p:sp>
        <p:nvSpPr>
          <p:cNvPr id="5" name="Slide Number Placeholder 5">
            <a:extLst>
              <a:ext uri="{FF2B5EF4-FFF2-40B4-BE49-F238E27FC236}">
                <a16:creationId xmlns:a16="http://schemas.microsoft.com/office/drawing/2014/main" id="{FBEC8137-9B2A-4301-83A7-D595AE649AAE}"/>
              </a:ext>
            </a:extLst>
          </p:cNvPr>
          <p:cNvSpPr>
            <a:spLocks noGrp="1"/>
          </p:cNvSpPr>
          <p:nvPr>
            <p:ph type="sldNum" sz="quarter" idx="10"/>
          </p:nvPr>
        </p:nvSpPr>
        <p:spPr>
          <a:xfrm>
            <a:off x="6831013" y="4893471"/>
            <a:ext cx="2133600" cy="254794"/>
          </a:xfrm>
        </p:spPr>
        <p:txBody>
          <a:bodyPr/>
          <a:lstStyle/>
          <a:p>
            <a:fld id="{D9B6BDF2-6896-4B98-8776-C18582F63BA5}" type="slidenum">
              <a:rPr lang="zh-TW" altLang="en-US" smtClean="0"/>
              <a:pPr/>
              <a:t>48</a:t>
            </a:fld>
            <a:endParaRPr lang="zh-TW" altLang="en-US"/>
          </a:p>
        </p:txBody>
      </p:sp>
    </p:spTree>
    <p:extLst>
      <p:ext uri="{BB962C8B-B14F-4D97-AF65-F5344CB8AC3E}">
        <p14:creationId xmlns:p14="http://schemas.microsoft.com/office/powerpoint/2010/main" val="369162746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1" name="Rectangle 2"/>
          <p:cNvSpPr>
            <a:spLocks noGrp="1" noChangeArrowheads="1"/>
          </p:cNvSpPr>
          <p:nvPr>
            <p:ph type="title"/>
          </p:nvPr>
        </p:nvSpPr>
        <p:spPr>
          <a:xfrm>
            <a:off x="936523" y="147484"/>
            <a:ext cx="6793015" cy="449827"/>
          </a:xfrm>
        </p:spPr>
        <p:txBody>
          <a:bodyPr/>
          <a:lstStyle/>
          <a:p>
            <a:r>
              <a:rPr lang="en-US" altLang="zh-TW" dirty="0"/>
              <a:t>Measuring Cache Performance</a:t>
            </a:r>
            <a:endParaRPr lang="en-AU" altLang="zh-TW" dirty="0">
              <a:ea typeface="新細明體" pitchFamily="18" charset="-120"/>
            </a:endParaRPr>
          </a:p>
        </p:txBody>
      </p:sp>
      <p:sp>
        <p:nvSpPr>
          <p:cNvPr id="2052" name="Rectangle 3"/>
          <p:cNvSpPr>
            <a:spLocks noGrp="1" noChangeArrowheads="1"/>
          </p:cNvSpPr>
          <p:nvPr>
            <p:ph type="body" idx="1"/>
          </p:nvPr>
        </p:nvSpPr>
        <p:spPr>
          <a:xfrm>
            <a:off x="1025013" y="805938"/>
            <a:ext cx="6704525" cy="2038350"/>
          </a:xfrm>
        </p:spPr>
        <p:txBody>
          <a:bodyPr/>
          <a:lstStyle/>
          <a:p>
            <a:pPr>
              <a:lnSpc>
                <a:spcPct val="80000"/>
              </a:lnSpc>
            </a:pPr>
            <a:r>
              <a:rPr lang="en-US" altLang="zh-TW" dirty="0"/>
              <a:t>Components of CPU time</a:t>
            </a:r>
          </a:p>
          <a:p>
            <a:pPr lvl="1">
              <a:lnSpc>
                <a:spcPct val="80000"/>
              </a:lnSpc>
            </a:pPr>
            <a:r>
              <a:rPr lang="en-US" altLang="zh-TW" dirty="0"/>
              <a:t>Program execution cycles</a:t>
            </a:r>
          </a:p>
          <a:p>
            <a:pPr lvl="2">
              <a:lnSpc>
                <a:spcPct val="80000"/>
              </a:lnSpc>
            </a:pPr>
            <a:r>
              <a:rPr lang="en-US" altLang="zh-TW" dirty="0"/>
              <a:t>Includes cache hit time</a:t>
            </a:r>
          </a:p>
          <a:p>
            <a:pPr lvl="1">
              <a:lnSpc>
                <a:spcPct val="80000"/>
              </a:lnSpc>
            </a:pPr>
            <a:r>
              <a:rPr lang="en-US" altLang="zh-TW" dirty="0"/>
              <a:t>Memory stall cycles</a:t>
            </a:r>
          </a:p>
          <a:p>
            <a:pPr lvl="2">
              <a:lnSpc>
                <a:spcPct val="80000"/>
              </a:lnSpc>
            </a:pPr>
            <a:r>
              <a:rPr lang="en-US" altLang="zh-TW" dirty="0"/>
              <a:t>Mainly from cache misses</a:t>
            </a:r>
          </a:p>
          <a:p>
            <a:pPr>
              <a:lnSpc>
                <a:spcPct val="80000"/>
              </a:lnSpc>
            </a:pPr>
            <a:r>
              <a:rPr lang="en-US" altLang="zh-TW" dirty="0"/>
              <a:t>With simplified assumptions</a:t>
            </a:r>
            <a:endParaRPr lang="en-AU" altLang="zh-TW" dirty="0">
              <a:ea typeface="新細明體" pitchFamily="18" charset="-120"/>
            </a:endParaRPr>
          </a:p>
        </p:txBody>
      </p:sp>
      <mc:AlternateContent xmlns:mc="http://schemas.openxmlformats.org/markup-compatibility/2006" xmlns:a14="http://schemas.microsoft.com/office/drawing/2010/main">
        <mc:Choice Requires="a14">
          <p:sp>
            <p:nvSpPr>
              <p:cNvPr id="2050" name="Object 5"/>
              <p:cNvSpPr txBox="1"/>
              <p:nvPr/>
            </p:nvSpPr>
            <p:spPr bwMode="auto">
              <a:xfrm>
                <a:off x="1846729" y="2761129"/>
                <a:ext cx="6490447" cy="1682284"/>
              </a:xfrm>
              <a:prstGeom prst="rect">
                <a:avLst/>
              </a:prstGeom>
              <a:noFill/>
              <a:extLst/>
            </p:spPr>
            <p:txBody>
              <a:bodyPr>
                <a:normAutofit/>
              </a:bodyPr>
              <a:lstStyle/>
              <a:p>
                <a:pPr/>
                <a14:m>
                  <m:oMathPara xmlns:m="http://schemas.openxmlformats.org/officeDocument/2006/math">
                    <m:oMathParaPr>
                      <m:jc m:val="left"/>
                    </m:oMathParaPr>
                    <m:oMath xmlns:m="http://schemas.openxmlformats.org/officeDocument/2006/math">
                      <m:r>
                        <m:rPr>
                          <m:sty m:val="p"/>
                        </m:rPr>
                        <a:rPr lang="zh-CN" altLang="en-US" i="1">
                          <a:solidFill>
                            <a:srgbClr val="000000"/>
                          </a:solidFill>
                          <a:latin typeface="Cambria Math" panose="02040503050406030204" pitchFamily="18" charset="0"/>
                        </a:rPr>
                        <m:t>Memory</m:t>
                      </m:r>
                      <m:r>
                        <m:rPr>
                          <m:aln/>
                        </m:rPr>
                        <a:rPr lang="zh-CN" altLang="en-US" i="1">
                          <a:solidFill>
                            <a:srgbClr val="000000"/>
                          </a:solidFill>
                          <a:latin typeface="Cambria Math" panose="02040503050406030204" pitchFamily="18" charset="0"/>
                        </a:rPr>
                        <m:t> </m:t>
                      </m:r>
                      <m:r>
                        <m:rPr>
                          <m:sty m:val="p"/>
                        </m:rPr>
                        <a:rPr lang="zh-CN" altLang="en-US" i="1">
                          <a:solidFill>
                            <a:srgbClr val="000000"/>
                          </a:solidFill>
                          <a:latin typeface="Cambria Math" panose="02040503050406030204" pitchFamily="18" charset="0"/>
                        </a:rPr>
                        <m:t>stall</m:t>
                      </m:r>
                      <m:r>
                        <a:rPr lang="zh-CN" altLang="en-US" i="1">
                          <a:solidFill>
                            <a:srgbClr val="000000"/>
                          </a:solidFill>
                          <a:latin typeface="Cambria Math" panose="02040503050406030204" pitchFamily="18" charset="0"/>
                        </a:rPr>
                        <m:t> </m:t>
                      </m:r>
                      <m:r>
                        <m:rPr>
                          <m:sty m:val="p"/>
                        </m:rPr>
                        <a:rPr lang="zh-CN" altLang="en-US" i="1">
                          <a:solidFill>
                            <a:srgbClr val="000000"/>
                          </a:solidFill>
                          <a:latin typeface="Cambria Math" panose="02040503050406030204" pitchFamily="18" charset="0"/>
                        </a:rPr>
                        <m:t>cycles</m:t>
                      </m:r>
                    </m:oMath>
                    <m:oMath xmlns:m="http://schemas.openxmlformats.org/officeDocument/2006/math">
                      <m:r>
                        <m:rPr>
                          <m:aln/>
                        </m:rPr>
                        <a:rPr lang="zh-CN" altLang="en-US" i="1">
                          <a:solidFill>
                            <a:srgbClr val="000000"/>
                          </a:solidFill>
                          <a:latin typeface="Cambria Math" panose="02040503050406030204" pitchFamily="18" charset="0"/>
                        </a:rPr>
                        <m:t>=</m:t>
                      </m:r>
                      <m:f>
                        <m:fPr>
                          <m:ctrlPr>
                            <a:rPr lang="zh-CN" altLang="en-US" i="1">
                              <a:solidFill>
                                <a:srgbClr val="000000"/>
                              </a:solidFill>
                              <a:latin typeface="Cambria Math" panose="02040503050406030204" pitchFamily="18" charset="0"/>
                            </a:rPr>
                          </m:ctrlPr>
                        </m:fPr>
                        <m:num>
                          <m:r>
                            <m:rPr>
                              <m:sty m:val="p"/>
                            </m:rPr>
                            <a:rPr lang="zh-CN" altLang="en-US" i="1">
                              <a:solidFill>
                                <a:srgbClr val="000000"/>
                              </a:solidFill>
                              <a:latin typeface="Cambria Math" panose="02040503050406030204" pitchFamily="18" charset="0"/>
                            </a:rPr>
                            <m:t>Memory</m:t>
                          </m:r>
                          <m:r>
                            <a:rPr lang="zh-CN" altLang="en-US" i="1">
                              <a:solidFill>
                                <a:srgbClr val="000000"/>
                              </a:solidFill>
                              <a:latin typeface="Cambria Math" panose="02040503050406030204" pitchFamily="18" charset="0"/>
                            </a:rPr>
                            <m:t> </m:t>
                          </m:r>
                          <m:r>
                            <m:rPr>
                              <m:sty m:val="p"/>
                            </m:rPr>
                            <a:rPr lang="zh-CN" altLang="en-US" i="1">
                              <a:solidFill>
                                <a:srgbClr val="000000"/>
                              </a:solidFill>
                              <a:latin typeface="Cambria Math" panose="02040503050406030204" pitchFamily="18" charset="0"/>
                            </a:rPr>
                            <m:t>accesses</m:t>
                          </m:r>
                        </m:num>
                        <m:den>
                          <m:r>
                            <m:rPr>
                              <m:sty m:val="p"/>
                            </m:rPr>
                            <a:rPr lang="zh-CN" altLang="en-US" i="1">
                              <a:solidFill>
                                <a:srgbClr val="000000"/>
                              </a:solidFill>
                              <a:latin typeface="Cambria Math" panose="02040503050406030204" pitchFamily="18" charset="0"/>
                            </a:rPr>
                            <m:t>Program</m:t>
                          </m:r>
                        </m:den>
                      </m:f>
                      <m:r>
                        <a:rPr lang="zh-CN" altLang="en-US" i="1">
                          <a:solidFill>
                            <a:srgbClr val="000000"/>
                          </a:solidFill>
                          <a:latin typeface="Cambria Math" panose="02040503050406030204" pitchFamily="18" charset="0"/>
                        </a:rPr>
                        <m:t>×</m:t>
                      </m:r>
                      <m:r>
                        <m:rPr>
                          <m:sty m:val="p"/>
                        </m:rPr>
                        <a:rPr lang="zh-CN" altLang="en-US" i="1">
                          <a:solidFill>
                            <a:srgbClr val="000000"/>
                          </a:solidFill>
                          <a:latin typeface="Cambria Math" panose="02040503050406030204" pitchFamily="18" charset="0"/>
                        </a:rPr>
                        <m:t>Miss</m:t>
                      </m:r>
                      <m:r>
                        <a:rPr lang="zh-CN" altLang="en-US" i="1">
                          <a:solidFill>
                            <a:srgbClr val="000000"/>
                          </a:solidFill>
                          <a:latin typeface="Cambria Math" panose="02040503050406030204" pitchFamily="18" charset="0"/>
                        </a:rPr>
                        <m:t> </m:t>
                      </m:r>
                      <m:r>
                        <m:rPr>
                          <m:sty m:val="p"/>
                        </m:rPr>
                        <a:rPr lang="zh-CN" altLang="en-US" i="1">
                          <a:solidFill>
                            <a:srgbClr val="000000"/>
                          </a:solidFill>
                          <a:latin typeface="Cambria Math" panose="02040503050406030204" pitchFamily="18" charset="0"/>
                        </a:rPr>
                        <m:t>rate</m:t>
                      </m:r>
                      <m:r>
                        <a:rPr lang="zh-CN" altLang="en-US" i="1">
                          <a:solidFill>
                            <a:srgbClr val="000000"/>
                          </a:solidFill>
                          <a:latin typeface="Cambria Math" panose="02040503050406030204" pitchFamily="18" charset="0"/>
                        </a:rPr>
                        <m:t>×</m:t>
                      </m:r>
                      <m:r>
                        <m:rPr>
                          <m:sty m:val="p"/>
                        </m:rPr>
                        <a:rPr lang="zh-CN" altLang="en-US" i="1">
                          <a:solidFill>
                            <a:srgbClr val="000000"/>
                          </a:solidFill>
                          <a:latin typeface="Cambria Math" panose="02040503050406030204" pitchFamily="18" charset="0"/>
                        </a:rPr>
                        <m:t>Miss</m:t>
                      </m:r>
                      <m:r>
                        <a:rPr lang="zh-CN" altLang="en-US" i="1">
                          <a:solidFill>
                            <a:srgbClr val="000000"/>
                          </a:solidFill>
                          <a:latin typeface="Cambria Math" panose="02040503050406030204" pitchFamily="18" charset="0"/>
                        </a:rPr>
                        <m:t> </m:t>
                      </m:r>
                      <m:r>
                        <m:rPr>
                          <m:sty m:val="p"/>
                        </m:rPr>
                        <a:rPr lang="zh-CN" altLang="en-US" i="1">
                          <a:solidFill>
                            <a:srgbClr val="000000"/>
                          </a:solidFill>
                          <a:latin typeface="Cambria Math" panose="02040503050406030204" pitchFamily="18" charset="0"/>
                        </a:rPr>
                        <m:t>penalty</m:t>
                      </m:r>
                    </m:oMath>
                    <m:oMath xmlns:m="http://schemas.openxmlformats.org/officeDocument/2006/math">
                      <m:r>
                        <m:rPr>
                          <m:aln/>
                        </m:rPr>
                        <a:rPr lang="zh-CN" altLang="en-US" i="1">
                          <a:solidFill>
                            <a:srgbClr val="000000"/>
                          </a:solidFill>
                          <a:latin typeface="Cambria Math" panose="02040503050406030204" pitchFamily="18" charset="0"/>
                        </a:rPr>
                        <m:t>=</m:t>
                      </m:r>
                      <m:f>
                        <m:fPr>
                          <m:ctrlPr>
                            <a:rPr lang="zh-CN" altLang="en-US" i="1">
                              <a:solidFill>
                                <a:srgbClr val="000000"/>
                              </a:solidFill>
                              <a:latin typeface="Cambria Math" panose="02040503050406030204" pitchFamily="18" charset="0"/>
                            </a:rPr>
                          </m:ctrlPr>
                        </m:fPr>
                        <m:num>
                          <m:r>
                            <m:rPr>
                              <m:sty m:val="p"/>
                            </m:rPr>
                            <a:rPr lang="zh-CN" altLang="en-US" i="1">
                              <a:solidFill>
                                <a:srgbClr val="000000"/>
                              </a:solidFill>
                              <a:latin typeface="Cambria Math" panose="02040503050406030204" pitchFamily="18" charset="0"/>
                            </a:rPr>
                            <m:t>Instructions</m:t>
                          </m:r>
                        </m:num>
                        <m:den>
                          <m:r>
                            <m:rPr>
                              <m:sty m:val="p"/>
                            </m:rPr>
                            <a:rPr lang="zh-CN" altLang="en-US" i="1">
                              <a:solidFill>
                                <a:srgbClr val="000000"/>
                              </a:solidFill>
                              <a:latin typeface="Cambria Math" panose="02040503050406030204" pitchFamily="18" charset="0"/>
                            </a:rPr>
                            <m:t>Program</m:t>
                          </m:r>
                        </m:den>
                      </m:f>
                      <m:r>
                        <a:rPr lang="zh-CN" altLang="en-US" i="1">
                          <a:solidFill>
                            <a:srgbClr val="000000"/>
                          </a:solidFill>
                          <a:latin typeface="Cambria Math" panose="02040503050406030204" pitchFamily="18" charset="0"/>
                        </a:rPr>
                        <m:t>×</m:t>
                      </m:r>
                      <m:f>
                        <m:fPr>
                          <m:ctrlPr>
                            <a:rPr lang="zh-CN" altLang="en-US" i="1">
                              <a:solidFill>
                                <a:srgbClr val="000000"/>
                              </a:solidFill>
                              <a:latin typeface="Cambria Math" panose="02040503050406030204" pitchFamily="18" charset="0"/>
                            </a:rPr>
                          </m:ctrlPr>
                        </m:fPr>
                        <m:num>
                          <m:r>
                            <m:rPr>
                              <m:sty m:val="p"/>
                            </m:rPr>
                            <a:rPr lang="zh-CN" altLang="en-US" i="1">
                              <a:solidFill>
                                <a:srgbClr val="000000"/>
                              </a:solidFill>
                              <a:latin typeface="Cambria Math" panose="02040503050406030204" pitchFamily="18" charset="0"/>
                            </a:rPr>
                            <m:t>Misses</m:t>
                          </m:r>
                        </m:num>
                        <m:den>
                          <m:r>
                            <m:rPr>
                              <m:sty m:val="p"/>
                            </m:rPr>
                            <a:rPr lang="zh-CN" altLang="en-US" i="1">
                              <a:solidFill>
                                <a:srgbClr val="000000"/>
                              </a:solidFill>
                              <a:latin typeface="Cambria Math" panose="02040503050406030204" pitchFamily="18" charset="0"/>
                            </a:rPr>
                            <m:t>Instruction</m:t>
                          </m:r>
                        </m:den>
                      </m:f>
                      <m:r>
                        <a:rPr lang="zh-CN" altLang="en-US" i="1">
                          <a:solidFill>
                            <a:srgbClr val="000000"/>
                          </a:solidFill>
                          <a:latin typeface="Cambria Math" panose="02040503050406030204" pitchFamily="18" charset="0"/>
                        </a:rPr>
                        <m:t>×</m:t>
                      </m:r>
                      <m:r>
                        <m:rPr>
                          <m:sty m:val="p"/>
                        </m:rPr>
                        <a:rPr lang="zh-CN" altLang="en-US" i="1">
                          <a:solidFill>
                            <a:srgbClr val="000000"/>
                          </a:solidFill>
                          <a:latin typeface="Cambria Math" panose="02040503050406030204" pitchFamily="18" charset="0"/>
                        </a:rPr>
                        <m:t>Miss</m:t>
                      </m:r>
                      <m:r>
                        <a:rPr lang="zh-CN" altLang="en-US" i="1">
                          <a:solidFill>
                            <a:srgbClr val="000000"/>
                          </a:solidFill>
                          <a:latin typeface="Cambria Math" panose="02040503050406030204" pitchFamily="18" charset="0"/>
                        </a:rPr>
                        <m:t> </m:t>
                      </m:r>
                      <m:r>
                        <m:rPr>
                          <m:sty m:val="p"/>
                        </m:rPr>
                        <a:rPr lang="zh-CN" altLang="en-US" i="1">
                          <a:solidFill>
                            <a:srgbClr val="000000"/>
                          </a:solidFill>
                          <a:latin typeface="Cambria Math" panose="02040503050406030204" pitchFamily="18" charset="0"/>
                        </a:rPr>
                        <m:t>penalty</m:t>
                      </m:r>
                    </m:oMath>
                  </m:oMathPara>
                </a14:m>
                <a:endParaRPr lang="zh-CN" altLang="en-US" dirty="0"/>
              </a:p>
            </p:txBody>
          </p:sp>
        </mc:Choice>
        <mc:Fallback xmlns="">
          <p:sp>
            <p:nvSpPr>
              <p:cNvPr id="2050" name="Object 5"/>
              <p:cNvSpPr txBox="1">
                <a:spLocks noRot="1" noChangeAspect="1" noMove="1" noResize="1" noEditPoints="1" noAdjustHandles="1" noChangeArrowheads="1" noChangeShapeType="1" noTextEdit="1"/>
              </p:cNvSpPr>
              <p:nvPr/>
            </p:nvSpPr>
            <p:spPr bwMode="auto">
              <a:xfrm>
                <a:off x="1846729" y="2761129"/>
                <a:ext cx="6490447" cy="1682284"/>
              </a:xfrm>
              <a:prstGeom prst="rect">
                <a:avLst/>
              </a:prstGeom>
              <a:blipFill>
                <a:blip r:embed="rId3"/>
                <a:stretch>
                  <a:fillRect l="-282"/>
                </a:stretch>
              </a:blipFill>
              <a:extLst/>
            </p:spPr>
            <p:txBody>
              <a:bodyPr/>
              <a:lstStyle/>
              <a:p>
                <a:r>
                  <a:rPr lang="zh-CN" altLang="en-US">
                    <a:noFill/>
                  </a:rPr>
                  <a:t> </a:t>
                </a:r>
              </a:p>
            </p:txBody>
          </p:sp>
        </mc:Fallback>
      </mc:AlternateContent>
      <p:sp>
        <p:nvSpPr>
          <p:cNvPr id="6" name="Slide Number Placeholder 5">
            <a:extLst>
              <a:ext uri="{FF2B5EF4-FFF2-40B4-BE49-F238E27FC236}">
                <a16:creationId xmlns:a16="http://schemas.microsoft.com/office/drawing/2014/main" id="{C78E6F8E-A2A6-411F-933E-286E27FE41B4}"/>
              </a:ext>
            </a:extLst>
          </p:cNvPr>
          <p:cNvSpPr>
            <a:spLocks noGrp="1"/>
          </p:cNvSpPr>
          <p:nvPr>
            <p:ph type="sldNum" sz="quarter" idx="10"/>
          </p:nvPr>
        </p:nvSpPr>
        <p:spPr>
          <a:xfrm>
            <a:off x="6831013" y="4893471"/>
            <a:ext cx="2133600" cy="254794"/>
          </a:xfrm>
        </p:spPr>
        <p:txBody>
          <a:bodyPr/>
          <a:lstStyle/>
          <a:p>
            <a:fld id="{D9B6BDF2-6896-4B98-8776-C18582F63BA5}" type="slidenum">
              <a:rPr lang="zh-TW" altLang="en-US" smtClean="0"/>
              <a:pPr/>
              <a:t>49</a:t>
            </a:fld>
            <a:endParaRPr lang="zh-TW" alt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p:cNvSpPr>
            <a:spLocks noGrp="1" noChangeArrowheads="1"/>
          </p:cNvSpPr>
          <p:nvPr>
            <p:ph type="title"/>
          </p:nvPr>
        </p:nvSpPr>
        <p:spPr>
          <a:xfrm>
            <a:off x="966019" y="129780"/>
            <a:ext cx="6763519" cy="452782"/>
          </a:xfrm>
        </p:spPr>
        <p:txBody>
          <a:bodyPr/>
          <a:lstStyle/>
          <a:p>
            <a:r>
              <a:rPr lang="en-US" altLang="zh-TW" dirty="0"/>
              <a:t>Cache Performance Example</a:t>
            </a:r>
            <a:endParaRPr lang="en-AU" altLang="zh-TW" dirty="0">
              <a:ea typeface="新細明體" pitchFamily="18" charset="-120"/>
            </a:endParaRPr>
          </a:p>
        </p:txBody>
      </p:sp>
      <p:sp>
        <p:nvSpPr>
          <p:cNvPr id="51203" name="Rectangle 3"/>
          <p:cNvSpPr>
            <a:spLocks noGrp="1" noChangeArrowheads="1"/>
          </p:cNvSpPr>
          <p:nvPr>
            <p:ph type="body" idx="1"/>
          </p:nvPr>
        </p:nvSpPr>
        <p:spPr>
          <a:xfrm>
            <a:off x="1010264" y="844153"/>
            <a:ext cx="7676535" cy="3671888"/>
          </a:xfrm>
        </p:spPr>
        <p:txBody>
          <a:bodyPr/>
          <a:lstStyle/>
          <a:p>
            <a:pPr>
              <a:lnSpc>
                <a:spcPct val="80000"/>
              </a:lnSpc>
            </a:pPr>
            <a:r>
              <a:rPr lang="en-US" altLang="zh-TW" sz="2000" dirty="0"/>
              <a:t>Given</a:t>
            </a:r>
          </a:p>
          <a:p>
            <a:pPr lvl="1">
              <a:lnSpc>
                <a:spcPct val="80000"/>
              </a:lnSpc>
            </a:pPr>
            <a:r>
              <a:rPr lang="en-US" altLang="zh-TW" sz="1800" dirty="0"/>
              <a:t>I-cache miss rate = 2%</a:t>
            </a:r>
          </a:p>
          <a:p>
            <a:pPr lvl="1">
              <a:lnSpc>
                <a:spcPct val="80000"/>
              </a:lnSpc>
            </a:pPr>
            <a:r>
              <a:rPr lang="en-US" altLang="zh-TW" sz="1800" dirty="0"/>
              <a:t>D-cache miss rate = 4%</a:t>
            </a:r>
          </a:p>
          <a:p>
            <a:pPr lvl="1">
              <a:lnSpc>
                <a:spcPct val="80000"/>
              </a:lnSpc>
            </a:pPr>
            <a:r>
              <a:rPr lang="en-US" altLang="zh-TW" sz="1800" dirty="0"/>
              <a:t>Miss penalty = 100 cycles</a:t>
            </a:r>
          </a:p>
          <a:p>
            <a:pPr lvl="1">
              <a:lnSpc>
                <a:spcPct val="80000"/>
              </a:lnSpc>
            </a:pPr>
            <a:r>
              <a:rPr lang="en-US" altLang="zh-TW" sz="1800" dirty="0"/>
              <a:t>Base CPI (ideal cache) = 2</a:t>
            </a:r>
          </a:p>
          <a:p>
            <a:pPr lvl="1">
              <a:lnSpc>
                <a:spcPct val="80000"/>
              </a:lnSpc>
            </a:pPr>
            <a:r>
              <a:rPr lang="en-US" altLang="zh-TW" sz="1800" dirty="0"/>
              <a:t>Load &amp; stores are 36% of instructions</a:t>
            </a:r>
          </a:p>
          <a:p>
            <a:pPr lvl="1">
              <a:lnSpc>
                <a:spcPct val="80000"/>
              </a:lnSpc>
            </a:pPr>
            <a:r>
              <a:rPr lang="en-US" altLang="zh-TW" sz="1800" dirty="0"/>
              <a:t>Compute the actual CPI?</a:t>
            </a:r>
          </a:p>
          <a:p>
            <a:pPr>
              <a:lnSpc>
                <a:spcPct val="80000"/>
              </a:lnSpc>
            </a:pPr>
            <a:r>
              <a:rPr lang="en-US" altLang="zh-TW" sz="2000" dirty="0"/>
              <a:t>Miss cycles per instruction</a:t>
            </a:r>
          </a:p>
          <a:p>
            <a:pPr lvl="1">
              <a:lnSpc>
                <a:spcPct val="80000"/>
              </a:lnSpc>
            </a:pPr>
            <a:r>
              <a:rPr lang="en-US" altLang="zh-TW" sz="1800" dirty="0"/>
              <a:t>I-cache: 0.02 × 100 = 2</a:t>
            </a:r>
          </a:p>
          <a:p>
            <a:pPr lvl="1">
              <a:lnSpc>
                <a:spcPct val="80000"/>
              </a:lnSpc>
            </a:pPr>
            <a:r>
              <a:rPr lang="en-US" altLang="zh-TW" sz="1800" dirty="0"/>
              <a:t>D-cache: 0.36 × 0.04 × 100 = 1.44</a:t>
            </a:r>
          </a:p>
          <a:p>
            <a:pPr>
              <a:lnSpc>
                <a:spcPct val="80000"/>
              </a:lnSpc>
            </a:pPr>
            <a:r>
              <a:rPr lang="en-US" altLang="zh-TW" sz="2000" dirty="0"/>
              <a:t>Actual CPI = 2 + 2 + 1.44 = 5.44</a:t>
            </a:r>
          </a:p>
          <a:p>
            <a:pPr lvl="1">
              <a:lnSpc>
                <a:spcPct val="80000"/>
              </a:lnSpc>
            </a:pPr>
            <a:r>
              <a:rPr lang="en-US" altLang="zh-TW" sz="1800" dirty="0"/>
              <a:t>Ideal CPU is 5.44/2 =2.72 times faster</a:t>
            </a:r>
            <a:endParaRPr lang="en-AU" altLang="zh-TW" sz="1800" dirty="0">
              <a:ea typeface="新細明體" pitchFamily="18" charset="-120"/>
            </a:endParaRPr>
          </a:p>
        </p:txBody>
      </p:sp>
      <p:sp>
        <p:nvSpPr>
          <p:cNvPr id="5" name="Slide Number Placeholder 5">
            <a:extLst>
              <a:ext uri="{FF2B5EF4-FFF2-40B4-BE49-F238E27FC236}">
                <a16:creationId xmlns:a16="http://schemas.microsoft.com/office/drawing/2014/main" id="{B097D64C-8682-4017-9BFC-4C089342C836}"/>
              </a:ext>
            </a:extLst>
          </p:cNvPr>
          <p:cNvSpPr>
            <a:spLocks noGrp="1"/>
          </p:cNvSpPr>
          <p:nvPr>
            <p:ph type="sldNum" sz="quarter" idx="10"/>
          </p:nvPr>
        </p:nvSpPr>
        <p:spPr>
          <a:xfrm>
            <a:off x="6831013" y="4893471"/>
            <a:ext cx="2133600" cy="254794"/>
          </a:xfrm>
        </p:spPr>
        <p:txBody>
          <a:bodyPr/>
          <a:lstStyle/>
          <a:p>
            <a:fld id="{D9B6BDF2-6896-4B98-8776-C18582F63BA5}" type="slidenum">
              <a:rPr lang="zh-TW" altLang="en-US" smtClean="0"/>
              <a:pPr/>
              <a:t>50</a:t>
            </a:fld>
            <a:endParaRPr lang="zh-TW" alt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2"/>
          <p:cNvSpPr>
            <a:spLocks noGrp="1" noChangeArrowheads="1"/>
          </p:cNvSpPr>
          <p:nvPr>
            <p:ph type="title"/>
          </p:nvPr>
        </p:nvSpPr>
        <p:spPr>
          <a:xfrm>
            <a:off x="958645" y="129779"/>
            <a:ext cx="6770893" cy="489653"/>
          </a:xfrm>
        </p:spPr>
        <p:txBody>
          <a:bodyPr/>
          <a:lstStyle/>
          <a:p>
            <a:r>
              <a:rPr lang="en-AU" altLang="zh-TW" dirty="0">
                <a:ea typeface="新細明體" pitchFamily="18" charset="-120"/>
              </a:rPr>
              <a:t>Average Access Time</a:t>
            </a:r>
          </a:p>
        </p:txBody>
      </p:sp>
      <p:sp>
        <p:nvSpPr>
          <p:cNvPr id="52227" name="Rectangle 3"/>
          <p:cNvSpPr>
            <a:spLocks noGrp="1" noChangeArrowheads="1"/>
          </p:cNvSpPr>
          <p:nvPr>
            <p:ph type="body" idx="1"/>
          </p:nvPr>
        </p:nvSpPr>
        <p:spPr>
          <a:xfrm>
            <a:off x="973394" y="844153"/>
            <a:ext cx="7388941" cy="3167408"/>
          </a:xfrm>
        </p:spPr>
        <p:txBody>
          <a:bodyPr/>
          <a:lstStyle/>
          <a:p>
            <a:r>
              <a:rPr lang="en-AU" altLang="zh-TW" dirty="0">
                <a:ea typeface="新細明體" pitchFamily="18" charset="-120"/>
              </a:rPr>
              <a:t>Hit time is also important for performance</a:t>
            </a:r>
          </a:p>
          <a:p>
            <a:r>
              <a:rPr lang="en-AU" altLang="zh-TW" dirty="0">
                <a:ea typeface="新細明體" pitchFamily="18" charset="-120"/>
              </a:rPr>
              <a:t>Average memory access time (AMAT)</a:t>
            </a:r>
          </a:p>
          <a:p>
            <a:pPr lvl="1"/>
            <a:r>
              <a:rPr lang="en-AU" altLang="zh-TW" dirty="0">
                <a:ea typeface="新細明體" pitchFamily="18" charset="-120"/>
              </a:rPr>
              <a:t>AMAT = Hit time + Miss rate </a:t>
            </a:r>
            <a:r>
              <a:rPr lang="en-US" altLang="zh-TW" dirty="0">
                <a:cs typeface="Arial" pitchFamily="34" charset="0"/>
              </a:rPr>
              <a:t>× Miss penalty</a:t>
            </a:r>
          </a:p>
          <a:p>
            <a:r>
              <a:rPr lang="en-US" altLang="zh-TW" dirty="0">
                <a:cs typeface="Arial" pitchFamily="34" charset="0"/>
              </a:rPr>
              <a:t>Example</a:t>
            </a:r>
          </a:p>
          <a:p>
            <a:pPr lvl="1"/>
            <a:r>
              <a:rPr lang="en-US" altLang="zh-TW" dirty="0">
                <a:cs typeface="Arial" pitchFamily="34" charset="0"/>
              </a:rPr>
              <a:t>CPU with 1ns clock, hit time = 1 cycle, miss penalty = 20 cycles, I-cache miss rate = 5%</a:t>
            </a:r>
          </a:p>
          <a:p>
            <a:pPr lvl="1"/>
            <a:r>
              <a:rPr lang="en-US" altLang="zh-TW" dirty="0">
                <a:cs typeface="Arial" pitchFamily="34" charset="0"/>
              </a:rPr>
              <a:t>AMAT = 1 + 0.05 × 20 = 2ns</a:t>
            </a:r>
          </a:p>
          <a:p>
            <a:pPr lvl="2"/>
            <a:r>
              <a:rPr lang="en-US" altLang="zh-TW" sz="1650" dirty="0">
                <a:cs typeface="Arial" pitchFamily="34" charset="0"/>
              </a:rPr>
              <a:t>2 cycles per instruction</a:t>
            </a:r>
          </a:p>
        </p:txBody>
      </p:sp>
      <p:sp>
        <p:nvSpPr>
          <p:cNvPr id="5" name="Slide Number Placeholder 5">
            <a:extLst>
              <a:ext uri="{FF2B5EF4-FFF2-40B4-BE49-F238E27FC236}">
                <a16:creationId xmlns:a16="http://schemas.microsoft.com/office/drawing/2014/main" id="{23CFBDBB-7691-4781-8861-B0712A6F56FA}"/>
              </a:ext>
            </a:extLst>
          </p:cNvPr>
          <p:cNvSpPr>
            <a:spLocks noGrp="1"/>
          </p:cNvSpPr>
          <p:nvPr>
            <p:ph type="sldNum" sz="quarter" idx="10"/>
          </p:nvPr>
        </p:nvSpPr>
        <p:spPr>
          <a:xfrm>
            <a:off x="6831013" y="4893471"/>
            <a:ext cx="2133600" cy="254794"/>
          </a:xfrm>
        </p:spPr>
        <p:txBody>
          <a:bodyPr/>
          <a:lstStyle/>
          <a:p>
            <a:fld id="{D9B6BDF2-6896-4B98-8776-C18582F63BA5}" type="slidenum">
              <a:rPr lang="zh-TW" altLang="en-US" smtClean="0"/>
              <a:pPr/>
              <a:t>51</a:t>
            </a:fld>
            <a:endParaRPr lang="zh-TW" alt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p:cNvSpPr>
            <a:spLocks noGrp="1" noChangeArrowheads="1"/>
          </p:cNvSpPr>
          <p:nvPr>
            <p:ph type="title"/>
          </p:nvPr>
        </p:nvSpPr>
        <p:spPr>
          <a:xfrm>
            <a:off x="1002891" y="129780"/>
            <a:ext cx="6726648" cy="445408"/>
          </a:xfrm>
        </p:spPr>
        <p:txBody>
          <a:bodyPr/>
          <a:lstStyle/>
          <a:p>
            <a:r>
              <a:rPr lang="en-US" altLang="zh-TW"/>
              <a:t>Performance Summary</a:t>
            </a:r>
            <a:endParaRPr lang="en-AU" altLang="zh-TW">
              <a:ea typeface="新細明體" pitchFamily="18" charset="-120"/>
            </a:endParaRPr>
          </a:p>
        </p:txBody>
      </p:sp>
      <p:sp>
        <p:nvSpPr>
          <p:cNvPr id="53251" name="Rectangle 3"/>
          <p:cNvSpPr>
            <a:spLocks noGrp="1" noChangeArrowheads="1"/>
          </p:cNvSpPr>
          <p:nvPr>
            <p:ph type="body" idx="1"/>
          </p:nvPr>
        </p:nvSpPr>
        <p:spPr>
          <a:xfrm>
            <a:off x="1002890" y="799908"/>
            <a:ext cx="7683910" cy="3671888"/>
          </a:xfrm>
        </p:spPr>
        <p:txBody>
          <a:bodyPr/>
          <a:lstStyle/>
          <a:p>
            <a:r>
              <a:rPr lang="en-US" altLang="zh-TW" dirty="0"/>
              <a:t>When CPU performance increased</a:t>
            </a:r>
          </a:p>
          <a:p>
            <a:pPr lvl="1"/>
            <a:r>
              <a:rPr lang="en-US" altLang="zh-TW" dirty="0"/>
              <a:t>Miss penalty becomes more significant</a:t>
            </a:r>
          </a:p>
          <a:p>
            <a:r>
              <a:rPr lang="en-US" altLang="zh-TW" dirty="0"/>
              <a:t>Decreasing base CPI</a:t>
            </a:r>
          </a:p>
          <a:p>
            <a:pPr lvl="1"/>
            <a:r>
              <a:rPr lang="en-US" altLang="zh-TW" dirty="0"/>
              <a:t>Greater proportion of time spent on memory stalls</a:t>
            </a:r>
          </a:p>
          <a:p>
            <a:r>
              <a:rPr lang="en-US" altLang="zh-TW" dirty="0"/>
              <a:t>Increasing clock rate</a:t>
            </a:r>
          </a:p>
          <a:p>
            <a:pPr lvl="1"/>
            <a:r>
              <a:rPr lang="en-US" altLang="zh-TW" dirty="0"/>
              <a:t>Memory stalls account for more CPU cycles</a:t>
            </a:r>
          </a:p>
          <a:p>
            <a:r>
              <a:rPr lang="en-US" altLang="zh-TW" dirty="0"/>
              <a:t>Cannot neglect cache behavior when evaluating system performance</a:t>
            </a:r>
            <a:endParaRPr lang="en-AU" altLang="zh-TW" dirty="0">
              <a:ea typeface="新細明體" pitchFamily="18" charset="-120"/>
            </a:endParaRPr>
          </a:p>
        </p:txBody>
      </p:sp>
      <p:sp>
        <p:nvSpPr>
          <p:cNvPr id="5" name="Slide Number Placeholder 5">
            <a:extLst>
              <a:ext uri="{FF2B5EF4-FFF2-40B4-BE49-F238E27FC236}">
                <a16:creationId xmlns:a16="http://schemas.microsoft.com/office/drawing/2014/main" id="{CD7CFE2D-EBB0-44A9-ACB5-7322A38B5F1B}"/>
              </a:ext>
            </a:extLst>
          </p:cNvPr>
          <p:cNvSpPr>
            <a:spLocks noGrp="1"/>
          </p:cNvSpPr>
          <p:nvPr>
            <p:ph type="sldNum" sz="quarter" idx="10"/>
          </p:nvPr>
        </p:nvSpPr>
        <p:spPr>
          <a:xfrm>
            <a:off x="6831013" y="4893471"/>
            <a:ext cx="2133600" cy="254794"/>
          </a:xfrm>
        </p:spPr>
        <p:txBody>
          <a:bodyPr/>
          <a:lstStyle/>
          <a:p>
            <a:fld id="{D9B6BDF2-6896-4B98-8776-C18582F63BA5}" type="slidenum">
              <a:rPr lang="zh-TW" altLang="en-US" smtClean="0"/>
              <a:pPr/>
              <a:t>52</a:t>
            </a:fld>
            <a:endParaRPr lang="zh-TW" alt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a:xfrm>
            <a:off x="950259" y="129780"/>
            <a:ext cx="6779279" cy="470856"/>
          </a:xfrm>
        </p:spPr>
        <p:txBody>
          <a:bodyPr/>
          <a:lstStyle/>
          <a:p>
            <a:r>
              <a:rPr lang="en-US" altLang="zh-TW" dirty="0"/>
              <a:t>Outline</a:t>
            </a:r>
          </a:p>
        </p:txBody>
      </p:sp>
      <p:sp>
        <p:nvSpPr>
          <p:cNvPr id="7171" name="Rectangle 3"/>
          <p:cNvSpPr>
            <a:spLocks noGrp="1" noChangeArrowheads="1"/>
          </p:cNvSpPr>
          <p:nvPr>
            <p:ph type="body" idx="1"/>
          </p:nvPr>
        </p:nvSpPr>
        <p:spPr>
          <a:xfrm>
            <a:off x="1414463" y="832248"/>
            <a:ext cx="6506766" cy="3703894"/>
          </a:xfrm>
        </p:spPr>
        <p:txBody>
          <a:bodyPr/>
          <a:lstStyle/>
          <a:p>
            <a:r>
              <a:rPr lang="en-US" altLang="zh-TW" sz="2000" dirty="0"/>
              <a:t>Memory hierarchy</a:t>
            </a:r>
          </a:p>
          <a:p>
            <a:r>
              <a:rPr lang="en-US" altLang="zh-TW" sz="2000" dirty="0"/>
              <a:t>The basics of caches</a:t>
            </a:r>
          </a:p>
          <a:p>
            <a:pPr lvl="1"/>
            <a:r>
              <a:rPr lang="en-US" altLang="zh-TW" sz="1800" dirty="0"/>
              <a:t>Direct-mapped cache</a:t>
            </a:r>
          </a:p>
          <a:p>
            <a:pPr lvl="1"/>
            <a:r>
              <a:rPr lang="en-US" altLang="zh-TW" sz="1800" dirty="0"/>
              <a:t>Address sub-division</a:t>
            </a:r>
          </a:p>
          <a:p>
            <a:pPr lvl="1"/>
            <a:r>
              <a:rPr lang="en-US" altLang="zh-TW" sz="1800" dirty="0"/>
              <a:t>Cache hit and miss</a:t>
            </a:r>
          </a:p>
          <a:p>
            <a:pPr lvl="1"/>
            <a:r>
              <a:rPr lang="en-US" altLang="zh-TW" sz="1800" dirty="0"/>
              <a:t>Memory support</a:t>
            </a:r>
          </a:p>
          <a:p>
            <a:r>
              <a:rPr lang="en-US" altLang="zh-TW" sz="2000" dirty="0"/>
              <a:t>Measuring cache performance</a:t>
            </a:r>
          </a:p>
          <a:p>
            <a:r>
              <a:rPr lang="en-US" altLang="zh-TW" sz="2000" dirty="0"/>
              <a:t>Improving cache performance</a:t>
            </a:r>
          </a:p>
          <a:p>
            <a:pPr lvl="1"/>
            <a:r>
              <a:rPr lang="en-US" altLang="zh-TW" sz="1800" dirty="0">
                <a:solidFill>
                  <a:srgbClr val="FF0000"/>
                </a:solidFill>
              </a:rPr>
              <a:t>Set associative cache</a:t>
            </a:r>
          </a:p>
          <a:p>
            <a:pPr lvl="1"/>
            <a:r>
              <a:rPr lang="en-US" altLang="zh-TW" sz="1800" dirty="0"/>
              <a:t>Multiple level cache</a:t>
            </a:r>
          </a:p>
        </p:txBody>
      </p:sp>
      <p:sp>
        <p:nvSpPr>
          <p:cNvPr id="5" name="Slide Number Placeholder 5">
            <a:extLst>
              <a:ext uri="{FF2B5EF4-FFF2-40B4-BE49-F238E27FC236}">
                <a16:creationId xmlns:a16="http://schemas.microsoft.com/office/drawing/2014/main" id="{FBEC8137-9B2A-4301-83A7-D595AE649AAE}"/>
              </a:ext>
            </a:extLst>
          </p:cNvPr>
          <p:cNvSpPr>
            <a:spLocks noGrp="1"/>
          </p:cNvSpPr>
          <p:nvPr>
            <p:ph type="sldNum" sz="quarter" idx="10"/>
          </p:nvPr>
        </p:nvSpPr>
        <p:spPr>
          <a:xfrm>
            <a:off x="6831013" y="4893471"/>
            <a:ext cx="2133600" cy="254794"/>
          </a:xfrm>
        </p:spPr>
        <p:txBody>
          <a:bodyPr/>
          <a:lstStyle/>
          <a:p>
            <a:fld id="{D9B6BDF2-6896-4B98-8776-C18582F63BA5}" type="slidenum">
              <a:rPr lang="zh-TW" altLang="en-US" smtClean="0"/>
              <a:pPr/>
              <a:t>53</a:t>
            </a:fld>
            <a:endParaRPr lang="zh-TW" altLang="en-US"/>
          </a:p>
        </p:txBody>
      </p:sp>
    </p:spTree>
    <p:extLst>
      <p:ext uri="{BB962C8B-B14F-4D97-AF65-F5344CB8AC3E}">
        <p14:creationId xmlns:p14="http://schemas.microsoft.com/office/powerpoint/2010/main" val="3437392591"/>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4274" name="Rectangle 2"/>
          <p:cNvSpPr>
            <a:spLocks noGrp="1" noChangeArrowheads="1"/>
          </p:cNvSpPr>
          <p:nvPr>
            <p:ph type="title"/>
          </p:nvPr>
        </p:nvSpPr>
        <p:spPr>
          <a:xfrm>
            <a:off x="914401" y="129780"/>
            <a:ext cx="6815138" cy="452782"/>
          </a:xfrm>
        </p:spPr>
        <p:txBody>
          <a:bodyPr/>
          <a:lstStyle/>
          <a:p>
            <a:r>
              <a:rPr lang="en-US" altLang="zh-TW" dirty="0"/>
              <a:t>Improving Cache Performance</a:t>
            </a:r>
          </a:p>
        </p:txBody>
      </p:sp>
      <p:sp>
        <p:nvSpPr>
          <p:cNvPr id="544771" name="Rectangle 3"/>
          <p:cNvSpPr>
            <a:spLocks noGrp="1" noChangeArrowheads="1"/>
          </p:cNvSpPr>
          <p:nvPr>
            <p:ph type="body" idx="1"/>
          </p:nvPr>
        </p:nvSpPr>
        <p:spPr>
          <a:xfrm>
            <a:off x="958645" y="844153"/>
            <a:ext cx="6504040" cy="1456595"/>
          </a:xfrm>
        </p:spPr>
        <p:txBody>
          <a:bodyPr/>
          <a:lstStyle/>
          <a:p>
            <a:r>
              <a:rPr lang="en-US" altLang="zh-TW" dirty="0"/>
              <a:t>Reduce the time to hit in the cache</a:t>
            </a:r>
          </a:p>
          <a:p>
            <a:r>
              <a:rPr lang="en-US" altLang="zh-TW" dirty="0"/>
              <a:t>Decrease the miss ratio</a:t>
            </a:r>
          </a:p>
          <a:p>
            <a:r>
              <a:rPr lang="en-US" altLang="zh-TW" dirty="0"/>
              <a:t>Decrease the miss penalty</a:t>
            </a:r>
          </a:p>
          <a:p>
            <a:endParaRPr lang="en-US" altLang="zh-TW" dirty="0"/>
          </a:p>
        </p:txBody>
      </p:sp>
      <p:sp>
        <p:nvSpPr>
          <p:cNvPr id="5" name="Slide Number Placeholder 5">
            <a:extLst>
              <a:ext uri="{FF2B5EF4-FFF2-40B4-BE49-F238E27FC236}">
                <a16:creationId xmlns:a16="http://schemas.microsoft.com/office/drawing/2014/main" id="{260B7875-A871-49BE-AD81-B2B929435E22}"/>
              </a:ext>
            </a:extLst>
          </p:cNvPr>
          <p:cNvSpPr>
            <a:spLocks noGrp="1"/>
          </p:cNvSpPr>
          <p:nvPr>
            <p:ph type="sldNum" sz="quarter" idx="10"/>
          </p:nvPr>
        </p:nvSpPr>
        <p:spPr>
          <a:xfrm>
            <a:off x="6831013" y="4893471"/>
            <a:ext cx="2133600" cy="254794"/>
          </a:xfrm>
        </p:spPr>
        <p:txBody>
          <a:bodyPr/>
          <a:lstStyle/>
          <a:p>
            <a:fld id="{D9B6BDF2-6896-4B98-8776-C18582F63BA5}" type="slidenum">
              <a:rPr lang="zh-TW" altLang="en-US" smtClean="0"/>
              <a:pPr/>
              <a:t>54</a:t>
            </a:fld>
            <a:endParaRPr lang="zh-TW" alt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p:cNvSpPr>
            <a:spLocks noChangeArrowheads="1"/>
          </p:cNvSpPr>
          <p:nvPr/>
        </p:nvSpPr>
        <p:spPr bwMode="auto">
          <a:xfrm>
            <a:off x="1040606" y="234554"/>
            <a:ext cx="834629" cy="358378"/>
          </a:xfrm>
          <a:prstGeom prst="rect">
            <a:avLst/>
          </a:prstGeom>
          <a:noFill/>
          <a:ln w="12700">
            <a:noFill/>
            <a:miter lim="800000"/>
            <a:headEnd/>
            <a:tailEnd/>
          </a:ln>
        </p:spPr>
        <p:txBody>
          <a:bodyPr wrap="none" anchor="ctr"/>
          <a:lstStyle/>
          <a:p>
            <a:endParaRPr lang="zh-TW" altLang="en-US" sz="1350"/>
          </a:p>
        </p:txBody>
      </p:sp>
      <p:sp>
        <p:nvSpPr>
          <p:cNvPr id="55299" name="Rectangle 3"/>
          <p:cNvSpPr>
            <a:spLocks noGrp="1" noChangeArrowheads="1"/>
          </p:cNvSpPr>
          <p:nvPr>
            <p:ph type="title"/>
          </p:nvPr>
        </p:nvSpPr>
        <p:spPr>
          <a:xfrm>
            <a:off x="936523" y="129779"/>
            <a:ext cx="6793015" cy="497027"/>
          </a:xfrm>
        </p:spPr>
        <p:txBody>
          <a:bodyPr/>
          <a:lstStyle/>
          <a:p>
            <a:r>
              <a:rPr lang="en-US" altLang="zh-TW" dirty="0"/>
              <a:t>Direct Mapped</a:t>
            </a:r>
          </a:p>
        </p:txBody>
      </p:sp>
      <p:sp>
        <p:nvSpPr>
          <p:cNvPr id="55300" name="Rectangle 4"/>
          <p:cNvSpPr>
            <a:spLocks noGrp="1" noChangeArrowheads="1"/>
          </p:cNvSpPr>
          <p:nvPr>
            <p:ph type="body" idx="1"/>
          </p:nvPr>
        </p:nvSpPr>
        <p:spPr>
          <a:xfrm>
            <a:off x="964636" y="819957"/>
            <a:ext cx="7345645" cy="1412255"/>
          </a:xfrm>
        </p:spPr>
        <p:txBody>
          <a:bodyPr/>
          <a:lstStyle/>
          <a:p>
            <a:pPr>
              <a:spcBef>
                <a:spcPts val="0"/>
              </a:spcBef>
            </a:pPr>
            <a:r>
              <a:rPr lang="en-US" altLang="zh-TW" sz="2000" dirty="0"/>
              <a:t>Block Placement</a:t>
            </a:r>
            <a:endParaRPr lang="en-US" altLang="zh-TW" dirty="0"/>
          </a:p>
          <a:p>
            <a:pPr lvl="1">
              <a:spcBef>
                <a:spcPts val="0"/>
              </a:spcBef>
            </a:pPr>
            <a:r>
              <a:rPr lang="en-US" altLang="zh-TW" sz="1800" dirty="0"/>
              <a:t>For each item of data at the lower level, there is exactly one location in cache where it might be</a:t>
            </a:r>
          </a:p>
          <a:p>
            <a:pPr lvl="1">
              <a:spcBef>
                <a:spcPts val="0"/>
              </a:spcBef>
            </a:pPr>
            <a:r>
              <a:rPr lang="en-US" altLang="zh-TW" sz="1800" dirty="0"/>
              <a:t>Address mapping: modulo number of blocks</a:t>
            </a:r>
          </a:p>
        </p:txBody>
      </p:sp>
      <p:sp>
        <p:nvSpPr>
          <p:cNvPr id="55301" name="Rectangle 6"/>
          <p:cNvSpPr>
            <a:spLocks noChangeArrowheads="1"/>
          </p:cNvSpPr>
          <p:nvPr/>
        </p:nvSpPr>
        <p:spPr bwMode="auto">
          <a:xfrm>
            <a:off x="4281488" y="5104210"/>
            <a:ext cx="72136" cy="103875"/>
          </a:xfrm>
          <a:prstGeom prst="rect">
            <a:avLst/>
          </a:prstGeom>
          <a:noFill/>
          <a:ln w="9525">
            <a:noFill/>
            <a:miter lim="800000"/>
            <a:headEnd/>
            <a:tailEnd/>
          </a:ln>
        </p:spPr>
        <p:txBody>
          <a:bodyPr wrap="none" lIns="0" tIns="0" rIns="0" bIns="0">
            <a:spAutoFit/>
          </a:bodyPr>
          <a:lstStyle/>
          <a:p>
            <a:r>
              <a:rPr lang="en-US" altLang="zh-TW" sz="675">
                <a:solidFill>
                  <a:srgbClr val="000000"/>
                </a:solidFill>
                <a:latin typeface="Arial" pitchFamily="34" charset="0"/>
              </a:rPr>
              <a:t>M</a:t>
            </a:r>
            <a:endParaRPr lang="en-US" altLang="zh-TW" sz="1350"/>
          </a:p>
        </p:txBody>
      </p:sp>
      <p:sp>
        <p:nvSpPr>
          <p:cNvPr id="55302" name="Rectangle 7"/>
          <p:cNvSpPr>
            <a:spLocks noChangeArrowheads="1"/>
          </p:cNvSpPr>
          <p:nvPr/>
        </p:nvSpPr>
        <p:spPr bwMode="auto">
          <a:xfrm>
            <a:off x="4408885" y="5104210"/>
            <a:ext cx="48090" cy="103875"/>
          </a:xfrm>
          <a:prstGeom prst="rect">
            <a:avLst/>
          </a:prstGeom>
          <a:noFill/>
          <a:ln w="9525">
            <a:noFill/>
            <a:miter lim="800000"/>
            <a:headEnd/>
            <a:tailEnd/>
          </a:ln>
        </p:spPr>
        <p:txBody>
          <a:bodyPr wrap="none" lIns="0" tIns="0" rIns="0" bIns="0">
            <a:spAutoFit/>
          </a:bodyPr>
          <a:lstStyle/>
          <a:p>
            <a:r>
              <a:rPr lang="en-US" altLang="zh-TW" sz="675">
                <a:solidFill>
                  <a:srgbClr val="000000"/>
                </a:solidFill>
                <a:latin typeface="Arial" pitchFamily="34" charset="0"/>
              </a:rPr>
              <a:t>e</a:t>
            </a:r>
            <a:endParaRPr lang="en-US" altLang="zh-TW" sz="1350"/>
          </a:p>
        </p:txBody>
      </p:sp>
      <p:sp>
        <p:nvSpPr>
          <p:cNvPr id="55303" name="Rectangle 8"/>
          <p:cNvSpPr>
            <a:spLocks noChangeArrowheads="1"/>
          </p:cNvSpPr>
          <p:nvPr/>
        </p:nvSpPr>
        <p:spPr bwMode="auto">
          <a:xfrm>
            <a:off x="4498181" y="5104210"/>
            <a:ext cx="72136" cy="103875"/>
          </a:xfrm>
          <a:prstGeom prst="rect">
            <a:avLst/>
          </a:prstGeom>
          <a:noFill/>
          <a:ln w="9525">
            <a:noFill/>
            <a:miter lim="800000"/>
            <a:headEnd/>
            <a:tailEnd/>
          </a:ln>
        </p:spPr>
        <p:txBody>
          <a:bodyPr wrap="none" lIns="0" tIns="0" rIns="0" bIns="0">
            <a:spAutoFit/>
          </a:bodyPr>
          <a:lstStyle/>
          <a:p>
            <a:r>
              <a:rPr lang="en-US" altLang="zh-TW" sz="675">
                <a:solidFill>
                  <a:srgbClr val="000000"/>
                </a:solidFill>
                <a:latin typeface="Arial" pitchFamily="34" charset="0"/>
              </a:rPr>
              <a:t>m</a:t>
            </a:r>
            <a:endParaRPr lang="en-US" altLang="zh-TW" sz="1350"/>
          </a:p>
        </p:txBody>
      </p:sp>
      <p:sp>
        <p:nvSpPr>
          <p:cNvPr id="55304" name="Rectangle 9"/>
          <p:cNvSpPr>
            <a:spLocks noChangeArrowheads="1"/>
          </p:cNvSpPr>
          <p:nvPr/>
        </p:nvSpPr>
        <p:spPr bwMode="auto">
          <a:xfrm>
            <a:off x="4630341" y="5104210"/>
            <a:ext cx="48090" cy="103875"/>
          </a:xfrm>
          <a:prstGeom prst="rect">
            <a:avLst/>
          </a:prstGeom>
          <a:noFill/>
          <a:ln w="9525">
            <a:noFill/>
            <a:miter lim="800000"/>
            <a:headEnd/>
            <a:tailEnd/>
          </a:ln>
        </p:spPr>
        <p:txBody>
          <a:bodyPr wrap="none" lIns="0" tIns="0" rIns="0" bIns="0">
            <a:spAutoFit/>
          </a:bodyPr>
          <a:lstStyle/>
          <a:p>
            <a:r>
              <a:rPr lang="en-US" altLang="zh-TW" sz="675">
                <a:solidFill>
                  <a:srgbClr val="000000"/>
                </a:solidFill>
                <a:latin typeface="Arial" pitchFamily="34" charset="0"/>
              </a:rPr>
              <a:t>o</a:t>
            </a:r>
            <a:endParaRPr lang="en-US" altLang="zh-TW" sz="1350"/>
          </a:p>
        </p:txBody>
      </p:sp>
      <p:sp>
        <p:nvSpPr>
          <p:cNvPr id="55305" name="Rectangle 10"/>
          <p:cNvSpPr>
            <a:spLocks noChangeArrowheads="1"/>
          </p:cNvSpPr>
          <p:nvPr/>
        </p:nvSpPr>
        <p:spPr bwMode="auto">
          <a:xfrm>
            <a:off x="4714875" y="5104210"/>
            <a:ext cx="28854" cy="103875"/>
          </a:xfrm>
          <a:prstGeom prst="rect">
            <a:avLst/>
          </a:prstGeom>
          <a:noFill/>
          <a:ln w="9525">
            <a:noFill/>
            <a:miter lim="800000"/>
            <a:headEnd/>
            <a:tailEnd/>
          </a:ln>
        </p:spPr>
        <p:txBody>
          <a:bodyPr wrap="none" lIns="0" tIns="0" rIns="0" bIns="0">
            <a:spAutoFit/>
          </a:bodyPr>
          <a:lstStyle/>
          <a:p>
            <a:r>
              <a:rPr lang="en-US" altLang="zh-TW" sz="675">
                <a:solidFill>
                  <a:srgbClr val="000000"/>
                </a:solidFill>
                <a:latin typeface="Arial" pitchFamily="34" charset="0"/>
              </a:rPr>
              <a:t>r</a:t>
            </a:r>
            <a:endParaRPr lang="en-US" altLang="zh-TW" sz="1350"/>
          </a:p>
        </p:txBody>
      </p:sp>
      <p:sp>
        <p:nvSpPr>
          <p:cNvPr id="55306" name="Rectangle 11"/>
          <p:cNvSpPr>
            <a:spLocks noChangeArrowheads="1"/>
          </p:cNvSpPr>
          <p:nvPr/>
        </p:nvSpPr>
        <p:spPr bwMode="auto">
          <a:xfrm>
            <a:off x="4767262" y="5104210"/>
            <a:ext cx="43282" cy="103875"/>
          </a:xfrm>
          <a:prstGeom prst="rect">
            <a:avLst/>
          </a:prstGeom>
          <a:noFill/>
          <a:ln w="9525">
            <a:noFill/>
            <a:miter lim="800000"/>
            <a:headEnd/>
            <a:tailEnd/>
          </a:ln>
        </p:spPr>
        <p:txBody>
          <a:bodyPr wrap="none" lIns="0" tIns="0" rIns="0" bIns="0">
            <a:spAutoFit/>
          </a:bodyPr>
          <a:lstStyle/>
          <a:p>
            <a:r>
              <a:rPr lang="en-US" altLang="zh-TW" sz="675">
                <a:solidFill>
                  <a:srgbClr val="000000"/>
                </a:solidFill>
                <a:latin typeface="Arial" pitchFamily="34" charset="0"/>
              </a:rPr>
              <a:t>y</a:t>
            </a:r>
            <a:endParaRPr lang="en-US" altLang="zh-TW" sz="1350"/>
          </a:p>
        </p:txBody>
      </p:sp>
      <p:grpSp>
        <p:nvGrpSpPr>
          <p:cNvPr id="55307" name="Group 141"/>
          <p:cNvGrpSpPr>
            <a:grpSpLocks/>
          </p:cNvGrpSpPr>
          <p:nvPr/>
        </p:nvGrpSpPr>
        <p:grpSpPr bwMode="auto">
          <a:xfrm>
            <a:off x="1442193" y="2338427"/>
            <a:ext cx="6146006" cy="2201466"/>
            <a:chOff x="578" y="2424"/>
            <a:chExt cx="5162" cy="1849"/>
          </a:xfrm>
        </p:grpSpPr>
        <p:sp>
          <p:nvSpPr>
            <p:cNvPr id="55309" name="Line 12"/>
            <p:cNvSpPr>
              <a:spLocks noChangeShapeType="1"/>
            </p:cNvSpPr>
            <p:nvPr/>
          </p:nvSpPr>
          <p:spPr bwMode="auto">
            <a:xfrm>
              <a:off x="3589" y="2577"/>
              <a:ext cx="4" cy="620"/>
            </a:xfrm>
            <a:prstGeom prst="line">
              <a:avLst/>
            </a:prstGeom>
            <a:noFill/>
            <a:ln w="25400">
              <a:solidFill>
                <a:srgbClr val="000000"/>
              </a:solidFill>
              <a:round/>
              <a:headEnd/>
              <a:tailEnd/>
            </a:ln>
          </p:spPr>
          <p:txBody>
            <a:bodyPr/>
            <a:lstStyle/>
            <a:p>
              <a:endParaRPr lang="zh-TW" altLang="en-US" sz="1350"/>
            </a:p>
          </p:txBody>
        </p:sp>
        <p:sp>
          <p:nvSpPr>
            <p:cNvPr id="55310" name="Line 13"/>
            <p:cNvSpPr>
              <a:spLocks noChangeShapeType="1"/>
            </p:cNvSpPr>
            <p:nvPr/>
          </p:nvSpPr>
          <p:spPr bwMode="auto">
            <a:xfrm>
              <a:off x="3113" y="2577"/>
              <a:ext cx="1" cy="620"/>
            </a:xfrm>
            <a:prstGeom prst="line">
              <a:avLst/>
            </a:prstGeom>
            <a:noFill/>
            <a:ln w="25400">
              <a:solidFill>
                <a:srgbClr val="000000"/>
              </a:solidFill>
              <a:round/>
              <a:headEnd/>
              <a:tailEnd/>
            </a:ln>
          </p:spPr>
          <p:txBody>
            <a:bodyPr/>
            <a:lstStyle/>
            <a:p>
              <a:endParaRPr lang="zh-TW" altLang="en-US" sz="1350"/>
            </a:p>
          </p:txBody>
        </p:sp>
        <p:sp>
          <p:nvSpPr>
            <p:cNvPr id="55311" name="Line 14"/>
            <p:cNvSpPr>
              <a:spLocks noChangeShapeType="1"/>
            </p:cNvSpPr>
            <p:nvPr/>
          </p:nvSpPr>
          <p:spPr bwMode="auto">
            <a:xfrm>
              <a:off x="2951" y="2577"/>
              <a:ext cx="4" cy="620"/>
            </a:xfrm>
            <a:prstGeom prst="line">
              <a:avLst/>
            </a:prstGeom>
            <a:noFill/>
            <a:ln w="25400">
              <a:solidFill>
                <a:srgbClr val="000000"/>
              </a:solidFill>
              <a:round/>
              <a:headEnd/>
              <a:tailEnd/>
            </a:ln>
          </p:spPr>
          <p:txBody>
            <a:bodyPr/>
            <a:lstStyle/>
            <a:p>
              <a:endParaRPr lang="zh-TW" altLang="en-US" sz="1350"/>
            </a:p>
          </p:txBody>
        </p:sp>
        <p:sp>
          <p:nvSpPr>
            <p:cNvPr id="55312" name="Freeform 15"/>
            <p:cNvSpPr>
              <a:spLocks/>
            </p:cNvSpPr>
            <p:nvPr/>
          </p:nvSpPr>
          <p:spPr bwMode="auto">
            <a:xfrm>
              <a:off x="3272" y="2577"/>
              <a:ext cx="162" cy="620"/>
            </a:xfrm>
            <a:custGeom>
              <a:avLst/>
              <a:gdLst>
                <a:gd name="T0" fmla="*/ 0 w 162"/>
                <a:gd name="T1" fmla="*/ 620 h 620"/>
                <a:gd name="T2" fmla="*/ 0 w 162"/>
                <a:gd name="T3" fmla="*/ 0 h 620"/>
                <a:gd name="T4" fmla="*/ 162 w 162"/>
                <a:gd name="T5" fmla="*/ 0 h 620"/>
                <a:gd name="T6" fmla="*/ 162 w 162"/>
                <a:gd name="T7" fmla="*/ 620 h 620"/>
                <a:gd name="T8" fmla="*/ 0 w 162"/>
                <a:gd name="T9" fmla="*/ 620 h 620"/>
                <a:gd name="T10" fmla="*/ 0 w 162"/>
                <a:gd name="T11" fmla="*/ 620 h 620"/>
                <a:gd name="T12" fmla="*/ 0 60000 65536"/>
                <a:gd name="T13" fmla="*/ 0 60000 65536"/>
                <a:gd name="T14" fmla="*/ 0 60000 65536"/>
                <a:gd name="T15" fmla="*/ 0 60000 65536"/>
                <a:gd name="T16" fmla="*/ 0 60000 65536"/>
                <a:gd name="T17" fmla="*/ 0 60000 65536"/>
                <a:gd name="T18" fmla="*/ 0 w 162"/>
                <a:gd name="T19" fmla="*/ 0 h 620"/>
                <a:gd name="T20" fmla="*/ 162 w 162"/>
                <a:gd name="T21" fmla="*/ 620 h 620"/>
              </a:gdLst>
              <a:ahLst/>
              <a:cxnLst>
                <a:cxn ang="T12">
                  <a:pos x="T0" y="T1"/>
                </a:cxn>
                <a:cxn ang="T13">
                  <a:pos x="T2" y="T3"/>
                </a:cxn>
                <a:cxn ang="T14">
                  <a:pos x="T4" y="T5"/>
                </a:cxn>
                <a:cxn ang="T15">
                  <a:pos x="T6" y="T7"/>
                </a:cxn>
                <a:cxn ang="T16">
                  <a:pos x="T8" y="T9"/>
                </a:cxn>
                <a:cxn ang="T17">
                  <a:pos x="T10" y="T11"/>
                </a:cxn>
              </a:cxnLst>
              <a:rect l="T18" t="T19" r="T20" b="T21"/>
              <a:pathLst>
                <a:path w="162" h="620">
                  <a:moveTo>
                    <a:pt x="0" y="620"/>
                  </a:moveTo>
                  <a:lnTo>
                    <a:pt x="0" y="0"/>
                  </a:lnTo>
                  <a:lnTo>
                    <a:pt x="162" y="0"/>
                  </a:lnTo>
                  <a:lnTo>
                    <a:pt x="162" y="620"/>
                  </a:lnTo>
                  <a:lnTo>
                    <a:pt x="0" y="620"/>
                  </a:lnTo>
                  <a:close/>
                </a:path>
              </a:pathLst>
            </a:custGeom>
            <a:solidFill>
              <a:srgbClr val="EB7500"/>
            </a:solidFill>
            <a:ln w="9525">
              <a:noFill/>
              <a:round/>
              <a:headEnd/>
              <a:tailEnd/>
            </a:ln>
          </p:spPr>
          <p:txBody>
            <a:bodyPr/>
            <a:lstStyle/>
            <a:p>
              <a:endParaRPr lang="zh-TW" altLang="en-US" sz="1350"/>
            </a:p>
          </p:txBody>
        </p:sp>
        <p:sp>
          <p:nvSpPr>
            <p:cNvPr id="55313" name="Freeform 16"/>
            <p:cNvSpPr>
              <a:spLocks/>
            </p:cNvSpPr>
            <p:nvPr/>
          </p:nvSpPr>
          <p:spPr bwMode="auto">
            <a:xfrm>
              <a:off x="3272" y="2577"/>
              <a:ext cx="162" cy="620"/>
            </a:xfrm>
            <a:custGeom>
              <a:avLst/>
              <a:gdLst>
                <a:gd name="T0" fmla="*/ 0 w 162"/>
                <a:gd name="T1" fmla="*/ 620 h 620"/>
                <a:gd name="T2" fmla="*/ 0 w 162"/>
                <a:gd name="T3" fmla="*/ 0 h 620"/>
                <a:gd name="T4" fmla="*/ 162 w 162"/>
                <a:gd name="T5" fmla="*/ 0 h 620"/>
                <a:gd name="T6" fmla="*/ 162 w 162"/>
                <a:gd name="T7" fmla="*/ 620 h 620"/>
                <a:gd name="T8" fmla="*/ 0 w 162"/>
                <a:gd name="T9" fmla="*/ 620 h 620"/>
                <a:gd name="T10" fmla="*/ 0 w 162"/>
                <a:gd name="T11" fmla="*/ 620 h 620"/>
                <a:gd name="T12" fmla="*/ 0 60000 65536"/>
                <a:gd name="T13" fmla="*/ 0 60000 65536"/>
                <a:gd name="T14" fmla="*/ 0 60000 65536"/>
                <a:gd name="T15" fmla="*/ 0 60000 65536"/>
                <a:gd name="T16" fmla="*/ 0 60000 65536"/>
                <a:gd name="T17" fmla="*/ 0 60000 65536"/>
                <a:gd name="T18" fmla="*/ 0 w 162"/>
                <a:gd name="T19" fmla="*/ 0 h 620"/>
                <a:gd name="T20" fmla="*/ 162 w 162"/>
                <a:gd name="T21" fmla="*/ 620 h 620"/>
              </a:gdLst>
              <a:ahLst/>
              <a:cxnLst>
                <a:cxn ang="T12">
                  <a:pos x="T0" y="T1"/>
                </a:cxn>
                <a:cxn ang="T13">
                  <a:pos x="T2" y="T3"/>
                </a:cxn>
                <a:cxn ang="T14">
                  <a:pos x="T4" y="T5"/>
                </a:cxn>
                <a:cxn ang="T15">
                  <a:pos x="T6" y="T7"/>
                </a:cxn>
                <a:cxn ang="T16">
                  <a:pos x="T8" y="T9"/>
                </a:cxn>
                <a:cxn ang="T17">
                  <a:pos x="T10" y="T11"/>
                </a:cxn>
              </a:cxnLst>
              <a:rect l="T18" t="T19" r="T20" b="T21"/>
              <a:pathLst>
                <a:path w="162" h="620">
                  <a:moveTo>
                    <a:pt x="0" y="620"/>
                  </a:moveTo>
                  <a:lnTo>
                    <a:pt x="0" y="0"/>
                  </a:lnTo>
                  <a:lnTo>
                    <a:pt x="162" y="0"/>
                  </a:lnTo>
                  <a:lnTo>
                    <a:pt x="162" y="620"/>
                  </a:lnTo>
                  <a:lnTo>
                    <a:pt x="0" y="620"/>
                  </a:lnTo>
                </a:path>
              </a:pathLst>
            </a:custGeom>
            <a:noFill/>
            <a:ln w="25400">
              <a:solidFill>
                <a:srgbClr val="000000"/>
              </a:solidFill>
              <a:round/>
              <a:headEnd/>
              <a:tailEnd/>
            </a:ln>
          </p:spPr>
          <p:txBody>
            <a:bodyPr/>
            <a:lstStyle/>
            <a:p>
              <a:endParaRPr lang="zh-TW" altLang="en-US" sz="1350"/>
            </a:p>
          </p:txBody>
        </p:sp>
        <p:sp>
          <p:nvSpPr>
            <p:cNvPr id="55314" name="Freeform 17"/>
            <p:cNvSpPr>
              <a:spLocks/>
            </p:cNvSpPr>
            <p:nvPr/>
          </p:nvSpPr>
          <p:spPr bwMode="auto">
            <a:xfrm>
              <a:off x="2634" y="2577"/>
              <a:ext cx="159" cy="620"/>
            </a:xfrm>
            <a:custGeom>
              <a:avLst/>
              <a:gdLst>
                <a:gd name="T0" fmla="*/ 0 w 159"/>
                <a:gd name="T1" fmla="*/ 620 h 620"/>
                <a:gd name="T2" fmla="*/ 0 w 159"/>
                <a:gd name="T3" fmla="*/ 0 h 620"/>
                <a:gd name="T4" fmla="*/ 159 w 159"/>
                <a:gd name="T5" fmla="*/ 0 h 620"/>
                <a:gd name="T6" fmla="*/ 159 w 159"/>
                <a:gd name="T7" fmla="*/ 620 h 620"/>
                <a:gd name="T8" fmla="*/ 0 w 159"/>
                <a:gd name="T9" fmla="*/ 620 h 620"/>
                <a:gd name="T10" fmla="*/ 0 w 159"/>
                <a:gd name="T11" fmla="*/ 620 h 620"/>
                <a:gd name="T12" fmla="*/ 0 60000 65536"/>
                <a:gd name="T13" fmla="*/ 0 60000 65536"/>
                <a:gd name="T14" fmla="*/ 0 60000 65536"/>
                <a:gd name="T15" fmla="*/ 0 60000 65536"/>
                <a:gd name="T16" fmla="*/ 0 60000 65536"/>
                <a:gd name="T17" fmla="*/ 0 60000 65536"/>
                <a:gd name="T18" fmla="*/ 0 w 159"/>
                <a:gd name="T19" fmla="*/ 0 h 620"/>
                <a:gd name="T20" fmla="*/ 159 w 159"/>
                <a:gd name="T21" fmla="*/ 620 h 620"/>
              </a:gdLst>
              <a:ahLst/>
              <a:cxnLst>
                <a:cxn ang="T12">
                  <a:pos x="T0" y="T1"/>
                </a:cxn>
                <a:cxn ang="T13">
                  <a:pos x="T2" y="T3"/>
                </a:cxn>
                <a:cxn ang="T14">
                  <a:pos x="T4" y="T5"/>
                </a:cxn>
                <a:cxn ang="T15">
                  <a:pos x="T6" y="T7"/>
                </a:cxn>
                <a:cxn ang="T16">
                  <a:pos x="T8" y="T9"/>
                </a:cxn>
                <a:cxn ang="T17">
                  <a:pos x="T10" y="T11"/>
                </a:cxn>
              </a:cxnLst>
              <a:rect l="T18" t="T19" r="T20" b="T21"/>
              <a:pathLst>
                <a:path w="159" h="620">
                  <a:moveTo>
                    <a:pt x="0" y="620"/>
                  </a:moveTo>
                  <a:lnTo>
                    <a:pt x="0" y="0"/>
                  </a:lnTo>
                  <a:lnTo>
                    <a:pt x="159" y="0"/>
                  </a:lnTo>
                  <a:lnTo>
                    <a:pt x="159" y="620"/>
                  </a:lnTo>
                  <a:lnTo>
                    <a:pt x="0" y="620"/>
                  </a:lnTo>
                  <a:close/>
                </a:path>
              </a:pathLst>
            </a:custGeom>
            <a:solidFill>
              <a:srgbClr val="CCCCCC"/>
            </a:solidFill>
            <a:ln w="9525">
              <a:noFill/>
              <a:round/>
              <a:headEnd/>
              <a:tailEnd/>
            </a:ln>
          </p:spPr>
          <p:txBody>
            <a:bodyPr/>
            <a:lstStyle/>
            <a:p>
              <a:endParaRPr lang="zh-TW" altLang="en-US" sz="1350"/>
            </a:p>
          </p:txBody>
        </p:sp>
        <p:sp>
          <p:nvSpPr>
            <p:cNvPr id="55315" name="Freeform 18"/>
            <p:cNvSpPr>
              <a:spLocks/>
            </p:cNvSpPr>
            <p:nvPr/>
          </p:nvSpPr>
          <p:spPr bwMode="auto">
            <a:xfrm>
              <a:off x="2634" y="2577"/>
              <a:ext cx="159" cy="620"/>
            </a:xfrm>
            <a:custGeom>
              <a:avLst/>
              <a:gdLst>
                <a:gd name="T0" fmla="*/ 0 w 159"/>
                <a:gd name="T1" fmla="*/ 620 h 620"/>
                <a:gd name="T2" fmla="*/ 0 w 159"/>
                <a:gd name="T3" fmla="*/ 0 h 620"/>
                <a:gd name="T4" fmla="*/ 159 w 159"/>
                <a:gd name="T5" fmla="*/ 0 h 620"/>
                <a:gd name="T6" fmla="*/ 159 w 159"/>
                <a:gd name="T7" fmla="*/ 620 h 620"/>
                <a:gd name="T8" fmla="*/ 0 w 159"/>
                <a:gd name="T9" fmla="*/ 620 h 620"/>
                <a:gd name="T10" fmla="*/ 0 w 159"/>
                <a:gd name="T11" fmla="*/ 620 h 620"/>
                <a:gd name="T12" fmla="*/ 0 60000 65536"/>
                <a:gd name="T13" fmla="*/ 0 60000 65536"/>
                <a:gd name="T14" fmla="*/ 0 60000 65536"/>
                <a:gd name="T15" fmla="*/ 0 60000 65536"/>
                <a:gd name="T16" fmla="*/ 0 60000 65536"/>
                <a:gd name="T17" fmla="*/ 0 60000 65536"/>
                <a:gd name="T18" fmla="*/ 0 w 159"/>
                <a:gd name="T19" fmla="*/ 0 h 620"/>
                <a:gd name="T20" fmla="*/ 159 w 159"/>
                <a:gd name="T21" fmla="*/ 620 h 620"/>
              </a:gdLst>
              <a:ahLst/>
              <a:cxnLst>
                <a:cxn ang="T12">
                  <a:pos x="T0" y="T1"/>
                </a:cxn>
                <a:cxn ang="T13">
                  <a:pos x="T2" y="T3"/>
                </a:cxn>
                <a:cxn ang="T14">
                  <a:pos x="T4" y="T5"/>
                </a:cxn>
                <a:cxn ang="T15">
                  <a:pos x="T6" y="T7"/>
                </a:cxn>
                <a:cxn ang="T16">
                  <a:pos x="T8" y="T9"/>
                </a:cxn>
                <a:cxn ang="T17">
                  <a:pos x="T10" y="T11"/>
                </a:cxn>
              </a:cxnLst>
              <a:rect l="T18" t="T19" r="T20" b="T21"/>
              <a:pathLst>
                <a:path w="159" h="620">
                  <a:moveTo>
                    <a:pt x="0" y="620"/>
                  </a:moveTo>
                  <a:lnTo>
                    <a:pt x="0" y="0"/>
                  </a:lnTo>
                  <a:lnTo>
                    <a:pt x="159" y="0"/>
                  </a:lnTo>
                  <a:lnTo>
                    <a:pt x="159" y="620"/>
                  </a:lnTo>
                  <a:lnTo>
                    <a:pt x="0" y="620"/>
                  </a:lnTo>
                </a:path>
              </a:pathLst>
            </a:custGeom>
            <a:noFill/>
            <a:ln w="25400">
              <a:solidFill>
                <a:srgbClr val="000000"/>
              </a:solidFill>
              <a:round/>
              <a:headEnd/>
              <a:tailEnd/>
            </a:ln>
          </p:spPr>
          <p:txBody>
            <a:bodyPr/>
            <a:lstStyle/>
            <a:p>
              <a:endParaRPr lang="zh-TW" altLang="en-US" sz="1350"/>
            </a:p>
          </p:txBody>
        </p:sp>
        <p:sp>
          <p:nvSpPr>
            <p:cNvPr id="55316" name="Freeform 19"/>
            <p:cNvSpPr>
              <a:spLocks/>
            </p:cNvSpPr>
            <p:nvPr/>
          </p:nvSpPr>
          <p:spPr bwMode="auto">
            <a:xfrm>
              <a:off x="2476" y="2577"/>
              <a:ext cx="1263" cy="620"/>
            </a:xfrm>
            <a:custGeom>
              <a:avLst/>
              <a:gdLst>
                <a:gd name="T0" fmla="*/ 1263 w 1263"/>
                <a:gd name="T1" fmla="*/ 620 h 620"/>
                <a:gd name="T2" fmla="*/ 1263 w 1263"/>
                <a:gd name="T3" fmla="*/ 0 h 620"/>
                <a:gd name="T4" fmla="*/ 0 w 1263"/>
                <a:gd name="T5" fmla="*/ 0 h 620"/>
                <a:gd name="T6" fmla="*/ 0 w 1263"/>
                <a:gd name="T7" fmla="*/ 620 h 620"/>
                <a:gd name="T8" fmla="*/ 1263 w 1263"/>
                <a:gd name="T9" fmla="*/ 620 h 620"/>
                <a:gd name="T10" fmla="*/ 1263 w 1263"/>
                <a:gd name="T11" fmla="*/ 620 h 620"/>
                <a:gd name="T12" fmla="*/ 0 60000 65536"/>
                <a:gd name="T13" fmla="*/ 0 60000 65536"/>
                <a:gd name="T14" fmla="*/ 0 60000 65536"/>
                <a:gd name="T15" fmla="*/ 0 60000 65536"/>
                <a:gd name="T16" fmla="*/ 0 60000 65536"/>
                <a:gd name="T17" fmla="*/ 0 60000 65536"/>
                <a:gd name="T18" fmla="*/ 0 w 1263"/>
                <a:gd name="T19" fmla="*/ 0 h 620"/>
                <a:gd name="T20" fmla="*/ 1263 w 1263"/>
                <a:gd name="T21" fmla="*/ 620 h 620"/>
              </a:gdLst>
              <a:ahLst/>
              <a:cxnLst>
                <a:cxn ang="T12">
                  <a:pos x="T0" y="T1"/>
                </a:cxn>
                <a:cxn ang="T13">
                  <a:pos x="T2" y="T3"/>
                </a:cxn>
                <a:cxn ang="T14">
                  <a:pos x="T4" y="T5"/>
                </a:cxn>
                <a:cxn ang="T15">
                  <a:pos x="T6" y="T7"/>
                </a:cxn>
                <a:cxn ang="T16">
                  <a:pos x="T8" y="T9"/>
                </a:cxn>
                <a:cxn ang="T17">
                  <a:pos x="T10" y="T11"/>
                </a:cxn>
              </a:cxnLst>
              <a:rect l="T18" t="T19" r="T20" b="T21"/>
              <a:pathLst>
                <a:path w="1263" h="620">
                  <a:moveTo>
                    <a:pt x="1263" y="620"/>
                  </a:moveTo>
                  <a:lnTo>
                    <a:pt x="1263" y="0"/>
                  </a:lnTo>
                  <a:lnTo>
                    <a:pt x="0" y="0"/>
                  </a:lnTo>
                  <a:lnTo>
                    <a:pt x="0" y="620"/>
                  </a:lnTo>
                  <a:lnTo>
                    <a:pt x="1263" y="620"/>
                  </a:lnTo>
                </a:path>
              </a:pathLst>
            </a:custGeom>
            <a:noFill/>
            <a:ln w="25400">
              <a:solidFill>
                <a:srgbClr val="000000"/>
              </a:solidFill>
              <a:round/>
              <a:headEnd/>
              <a:tailEnd/>
            </a:ln>
          </p:spPr>
          <p:txBody>
            <a:bodyPr/>
            <a:lstStyle/>
            <a:p>
              <a:endParaRPr lang="zh-TW" altLang="en-US" sz="1350"/>
            </a:p>
          </p:txBody>
        </p:sp>
        <p:sp>
          <p:nvSpPr>
            <p:cNvPr id="55317" name="Rectangle 20"/>
            <p:cNvSpPr>
              <a:spLocks noChangeArrowheads="1"/>
            </p:cNvSpPr>
            <p:nvPr/>
          </p:nvSpPr>
          <p:spPr bwMode="auto">
            <a:xfrm>
              <a:off x="621" y="4186"/>
              <a:ext cx="40" cy="87"/>
            </a:xfrm>
            <a:prstGeom prst="rect">
              <a:avLst/>
            </a:prstGeom>
            <a:noFill/>
            <a:ln w="9525">
              <a:noFill/>
              <a:miter lim="800000"/>
              <a:headEnd/>
              <a:tailEnd/>
            </a:ln>
          </p:spPr>
          <p:txBody>
            <a:bodyPr wrap="none" lIns="0" tIns="0" rIns="0" bIns="0">
              <a:spAutoFit/>
            </a:bodyPr>
            <a:lstStyle/>
            <a:p>
              <a:r>
                <a:rPr lang="zh-TW" altLang="en-US" sz="675">
                  <a:solidFill>
                    <a:srgbClr val="000000"/>
                  </a:solidFill>
                  <a:latin typeface="Arial" pitchFamily="34" charset="0"/>
                </a:rPr>
                <a:t>0</a:t>
              </a:r>
              <a:endParaRPr lang="zh-TW" altLang="en-US" sz="1350"/>
            </a:p>
          </p:txBody>
        </p:sp>
        <p:sp>
          <p:nvSpPr>
            <p:cNvPr id="55318" name="Rectangle 21"/>
            <p:cNvSpPr>
              <a:spLocks noChangeArrowheads="1"/>
            </p:cNvSpPr>
            <p:nvPr/>
          </p:nvSpPr>
          <p:spPr bwMode="auto">
            <a:xfrm>
              <a:off x="693" y="4186"/>
              <a:ext cx="40" cy="87"/>
            </a:xfrm>
            <a:prstGeom prst="rect">
              <a:avLst/>
            </a:prstGeom>
            <a:noFill/>
            <a:ln w="9525">
              <a:noFill/>
              <a:miter lim="800000"/>
              <a:headEnd/>
              <a:tailEnd/>
            </a:ln>
          </p:spPr>
          <p:txBody>
            <a:bodyPr wrap="none" lIns="0" tIns="0" rIns="0" bIns="0">
              <a:spAutoFit/>
            </a:bodyPr>
            <a:lstStyle/>
            <a:p>
              <a:r>
                <a:rPr lang="zh-TW" altLang="en-US" sz="675">
                  <a:solidFill>
                    <a:srgbClr val="000000"/>
                  </a:solidFill>
                  <a:latin typeface="Arial" pitchFamily="34" charset="0"/>
                </a:rPr>
                <a:t>0</a:t>
              </a:r>
              <a:endParaRPr lang="zh-TW" altLang="en-US" sz="1350"/>
            </a:p>
          </p:txBody>
        </p:sp>
        <p:sp>
          <p:nvSpPr>
            <p:cNvPr id="55319" name="Rectangle 22"/>
            <p:cNvSpPr>
              <a:spLocks noChangeArrowheads="1"/>
            </p:cNvSpPr>
            <p:nvPr/>
          </p:nvSpPr>
          <p:spPr bwMode="auto">
            <a:xfrm>
              <a:off x="768" y="4186"/>
              <a:ext cx="40" cy="87"/>
            </a:xfrm>
            <a:prstGeom prst="rect">
              <a:avLst/>
            </a:prstGeom>
            <a:noFill/>
            <a:ln w="9525">
              <a:noFill/>
              <a:miter lim="800000"/>
              <a:headEnd/>
              <a:tailEnd/>
            </a:ln>
          </p:spPr>
          <p:txBody>
            <a:bodyPr wrap="none" lIns="0" tIns="0" rIns="0" bIns="0">
              <a:spAutoFit/>
            </a:bodyPr>
            <a:lstStyle/>
            <a:p>
              <a:r>
                <a:rPr lang="zh-TW" altLang="en-US" sz="675">
                  <a:solidFill>
                    <a:srgbClr val="000000"/>
                  </a:solidFill>
                  <a:latin typeface="Arial" pitchFamily="34" charset="0"/>
                </a:rPr>
                <a:t>0</a:t>
              </a:r>
              <a:endParaRPr lang="zh-TW" altLang="en-US" sz="1350"/>
            </a:p>
          </p:txBody>
        </p:sp>
        <p:sp>
          <p:nvSpPr>
            <p:cNvPr id="55320" name="Rectangle 23"/>
            <p:cNvSpPr>
              <a:spLocks noChangeArrowheads="1"/>
            </p:cNvSpPr>
            <p:nvPr/>
          </p:nvSpPr>
          <p:spPr bwMode="auto">
            <a:xfrm>
              <a:off x="839" y="4186"/>
              <a:ext cx="40" cy="87"/>
            </a:xfrm>
            <a:prstGeom prst="rect">
              <a:avLst/>
            </a:prstGeom>
            <a:noFill/>
            <a:ln w="9525">
              <a:noFill/>
              <a:miter lim="800000"/>
              <a:headEnd/>
              <a:tailEnd/>
            </a:ln>
          </p:spPr>
          <p:txBody>
            <a:bodyPr wrap="none" lIns="0" tIns="0" rIns="0" bIns="0">
              <a:spAutoFit/>
            </a:bodyPr>
            <a:lstStyle/>
            <a:p>
              <a:r>
                <a:rPr lang="zh-TW" altLang="en-US" sz="675">
                  <a:solidFill>
                    <a:srgbClr val="000000"/>
                  </a:solidFill>
                  <a:latin typeface="Arial" pitchFamily="34" charset="0"/>
                </a:rPr>
                <a:t>0</a:t>
              </a:r>
              <a:endParaRPr lang="zh-TW" altLang="en-US" sz="1350"/>
            </a:p>
          </p:txBody>
        </p:sp>
        <p:sp>
          <p:nvSpPr>
            <p:cNvPr id="55321" name="Rectangle 24"/>
            <p:cNvSpPr>
              <a:spLocks noChangeArrowheads="1"/>
            </p:cNvSpPr>
            <p:nvPr/>
          </p:nvSpPr>
          <p:spPr bwMode="auto">
            <a:xfrm>
              <a:off x="915" y="4186"/>
              <a:ext cx="40" cy="87"/>
            </a:xfrm>
            <a:prstGeom prst="rect">
              <a:avLst/>
            </a:prstGeom>
            <a:noFill/>
            <a:ln w="9525">
              <a:noFill/>
              <a:miter lim="800000"/>
              <a:headEnd/>
              <a:tailEnd/>
            </a:ln>
          </p:spPr>
          <p:txBody>
            <a:bodyPr wrap="none" lIns="0" tIns="0" rIns="0" bIns="0">
              <a:spAutoFit/>
            </a:bodyPr>
            <a:lstStyle/>
            <a:p>
              <a:r>
                <a:rPr lang="zh-TW" altLang="en-US" sz="675">
                  <a:solidFill>
                    <a:srgbClr val="000000"/>
                  </a:solidFill>
                  <a:latin typeface="Arial" pitchFamily="34" charset="0"/>
                </a:rPr>
                <a:t>1</a:t>
              </a:r>
              <a:endParaRPr lang="zh-TW" altLang="en-US" sz="1350"/>
            </a:p>
          </p:txBody>
        </p:sp>
        <p:sp>
          <p:nvSpPr>
            <p:cNvPr id="55322" name="Line 25"/>
            <p:cNvSpPr>
              <a:spLocks noChangeShapeType="1"/>
            </p:cNvSpPr>
            <p:nvPr/>
          </p:nvSpPr>
          <p:spPr bwMode="auto">
            <a:xfrm>
              <a:off x="5051" y="3544"/>
              <a:ext cx="1" cy="619"/>
            </a:xfrm>
            <a:prstGeom prst="line">
              <a:avLst/>
            </a:prstGeom>
            <a:noFill/>
            <a:ln w="25400">
              <a:solidFill>
                <a:srgbClr val="000000"/>
              </a:solidFill>
              <a:round/>
              <a:headEnd/>
              <a:tailEnd/>
            </a:ln>
          </p:spPr>
          <p:txBody>
            <a:bodyPr/>
            <a:lstStyle/>
            <a:p>
              <a:endParaRPr lang="zh-TW" altLang="en-US" sz="1350"/>
            </a:p>
          </p:txBody>
        </p:sp>
        <p:sp>
          <p:nvSpPr>
            <p:cNvPr id="55323" name="Line 26"/>
            <p:cNvSpPr>
              <a:spLocks noChangeShapeType="1"/>
            </p:cNvSpPr>
            <p:nvPr/>
          </p:nvSpPr>
          <p:spPr bwMode="auto">
            <a:xfrm>
              <a:off x="4892" y="3544"/>
              <a:ext cx="1" cy="619"/>
            </a:xfrm>
            <a:prstGeom prst="line">
              <a:avLst/>
            </a:prstGeom>
            <a:noFill/>
            <a:ln w="25400">
              <a:solidFill>
                <a:srgbClr val="000000"/>
              </a:solidFill>
              <a:round/>
              <a:headEnd/>
              <a:tailEnd/>
            </a:ln>
          </p:spPr>
          <p:txBody>
            <a:bodyPr/>
            <a:lstStyle/>
            <a:p>
              <a:endParaRPr lang="zh-TW" altLang="en-US" sz="1350"/>
            </a:p>
          </p:txBody>
        </p:sp>
        <p:sp>
          <p:nvSpPr>
            <p:cNvPr id="55324" name="Line 27"/>
            <p:cNvSpPr>
              <a:spLocks noChangeShapeType="1"/>
            </p:cNvSpPr>
            <p:nvPr/>
          </p:nvSpPr>
          <p:spPr bwMode="auto">
            <a:xfrm>
              <a:off x="4413" y="3544"/>
              <a:ext cx="1" cy="619"/>
            </a:xfrm>
            <a:prstGeom prst="line">
              <a:avLst/>
            </a:prstGeom>
            <a:noFill/>
            <a:ln w="25400">
              <a:solidFill>
                <a:srgbClr val="000000"/>
              </a:solidFill>
              <a:round/>
              <a:headEnd/>
              <a:tailEnd/>
            </a:ln>
          </p:spPr>
          <p:txBody>
            <a:bodyPr/>
            <a:lstStyle/>
            <a:p>
              <a:endParaRPr lang="zh-TW" altLang="en-US" sz="1350"/>
            </a:p>
          </p:txBody>
        </p:sp>
        <p:sp>
          <p:nvSpPr>
            <p:cNvPr id="55325" name="Line 28"/>
            <p:cNvSpPr>
              <a:spLocks noChangeShapeType="1"/>
            </p:cNvSpPr>
            <p:nvPr/>
          </p:nvSpPr>
          <p:spPr bwMode="auto">
            <a:xfrm>
              <a:off x="4251" y="3544"/>
              <a:ext cx="4" cy="619"/>
            </a:xfrm>
            <a:prstGeom prst="line">
              <a:avLst/>
            </a:prstGeom>
            <a:noFill/>
            <a:ln w="25400">
              <a:solidFill>
                <a:srgbClr val="000000"/>
              </a:solidFill>
              <a:round/>
              <a:headEnd/>
              <a:tailEnd/>
            </a:ln>
          </p:spPr>
          <p:txBody>
            <a:bodyPr/>
            <a:lstStyle/>
            <a:p>
              <a:endParaRPr lang="zh-TW" altLang="en-US" sz="1350"/>
            </a:p>
          </p:txBody>
        </p:sp>
        <p:sp>
          <p:nvSpPr>
            <p:cNvPr id="55326" name="Line 29"/>
            <p:cNvSpPr>
              <a:spLocks noChangeShapeType="1"/>
            </p:cNvSpPr>
            <p:nvPr/>
          </p:nvSpPr>
          <p:spPr bwMode="auto">
            <a:xfrm>
              <a:off x="3775" y="3544"/>
              <a:ext cx="1" cy="619"/>
            </a:xfrm>
            <a:prstGeom prst="line">
              <a:avLst/>
            </a:prstGeom>
            <a:noFill/>
            <a:ln w="25400">
              <a:solidFill>
                <a:srgbClr val="000000"/>
              </a:solidFill>
              <a:round/>
              <a:headEnd/>
              <a:tailEnd/>
            </a:ln>
          </p:spPr>
          <p:txBody>
            <a:bodyPr/>
            <a:lstStyle/>
            <a:p>
              <a:endParaRPr lang="zh-TW" altLang="en-US" sz="1350"/>
            </a:p>
          </p:txBody>
        </p:sp>
        <p:sp>
          <p:nvSpPr>
            <p:cNvPr id="55327" name="Line 30"/>
            <p:cNvSpPr>
              <a:spLocks noChangeShapeType="1"/>
            </p:cNvSpPr>
            <p:nvPr/>
          </p:nvSpPr>
          <p:spPr bwMode="auto">
            <a:xfrm>
              <a:off x="3613" y="3544"/>
              <a:ext cx="4" cy="619"/>
            </a:xfrm>
            <a:prstGeom prst="line">
              <a:avLst/>
            </a:prstGeom>
            <a:noFill/>
            <a:ln w="25400">
              <a:solidFill>
                <a:srgbClr val="000000"/>
              </a:solidFill>
              <a:round/>
              <a:headEnd/>
              <a:tailEnd/>
            </a:ln>
          </p:spPr>
          <p:txBody>
            <a:bodyPr/>
            <a:lstStyle/>
            <a:p>
              <a:endParaRPr lang="zh-TW" altLang="en-US" sz="1350"/>
            </a:p>
          </p:txBody>
        </p:sp>
        <p:sp>
          <p:nvSpPr>
            <p:cNvPr id="55328" name="Line 31"/>
            <p:cNvSpPr>
              <a:spLocks noChangeShapeType="1"/>
            </p:cNvSpPr>
            <p:nvPr/>
          </p:nvSpPr>
          <p:spPr bwMode="auto">
            <a:xfrm>
              <a:off x="3133" y="3544"/>
              <a:ext cx="4" cy="619"/>
            </a:xfrm>
            <a:prstGeom prst="line">
              <a:avLst/>
            </a:prstGeom>
            <a:noFill/>
            <a:ln w="25400">
              <a:solidFill>
                <a:srgbClr val="000000"/>
              </a:solidFill>
              <a:round/>
              <a:headEnd/>
              <a:tailEnd/>
            </a:ln>
          </p:spPr>
          <p:txBody>
            <a:bodyPr/>
            <a:lstStyle/>
            <a:p>
              <a:endParaRPr lang="zh-TW" altLang="en-US" sz="1350"/>
            </a:p>
          </p:txBody>
        </p:sp>
        <p:sp>
          <p:nvSpPr>
            <p:cNvPr id="55329" name="Line 32"/>
            <p:cNvSpPr>
              <a:spLocks noChangeShapeType="1"/>
            </p:cNvSpPr>
            <p:nvPr/>
          </p:nvSpPr>
          <p:spPr bwMode="auto">
            <a:xfrm>
              <a:off x="2975" y="3544"/>
              <a:ext cx="1" cy="619"/>
            </a:xfrm>
            <a:prstGeom prst="line">
              <a:avLst/>
            </a:prstGeom>
            <a:noFill/>
            <a:ln w="25400">
              <a:solidFill>
                <a:srgbClr val="000000"/>
              </a:solidFill>
              <a:round/>
              <a:headEnd/>
              <a:tailEnd/>
            </a:ln>
          </p:spPr>
          <p:txBody>
            <a:bodyPr/>
            <a:lstStyle/>
            <a:p>
              <a:endParaRPr lang="zh-TW" altLang="en-US" sz="1350"/>
            </a:p>
          </p:txBody>
        </p:sp>
        <p:sp>
          <p:nvSpPr>
            <p:cNvPr id="55330" name="Line 33"/>
            <p:cNvSpPr>
              <a:spLocks noChangeShapeType="1"/>
            </p:cNvSpPr>
            <p:nvPr/>
          </p:nvSpPr>
          <p:spPr bwMode="auto">
            <a:xfrm>
              <a:off x="2495" y="3544"/>
              <a:ext cx="1" cy="619"/>
            </a:xfrm>
            <a:prstGeom prst="line">
              <a:avLst/>
            </a:prstGeom>
            <a:noFill/>
            <a:ln w="25400">
              <a:solidFill>
                <a:srgbClr val="000000"/>
              </a:solidFill>
              <a:round/>
              <a:headEnd/>
              <a:tailEnd/>
            </a:ln>
          </p:spPr>
          <p:txBody>
            <a:bodyPr/>
            <a:lstStyle/>
            <a:p>
              <a:endParaRPr lang="zh-TW" altLang="en-US" sz="1350"/>
            </a:p>
          </p:txBody>
        </p:sp>
        <p:sp>
          <p:nvSpPr>
            <p:cNvPr id="55331" name="Line 34"/>
            <p:cNvSpPr>
              <a:spLocks noChangeShapeType="1"/>
            </p:cNvSpPr>
            <p:nvPr/>
          </p:nvSpPr>
          <p:spPr bwMode="auto">
            <a:xfrm>
              <a:off x="2337" y="3544"/>
              <a:ext cx="1" cy="619"/>
            </a:xfrm>
            <a:prstGeom prst="line">
              <a:avLst/>
            </a:prstGeom>
            <a:noFill/>
            <a:ln w="25400">
              <a:solidFill>
                <a:srgbClr val="000000"/>
              </a:solidFill>
              <a:round/>
              <a:headEnd/>
              <a:tailEnd/>
            </a:ln>
          </p:spPr>
          <p:txBody>
            <a:bodyPr/>
            <a:lstStyle/>
            <a:p>
              <a:endParaRPr lang="zh-TW" altLang="en-US" sz="1350"/>
            </a:p>
          </p:txBody>
        </p:sp>
        <p:sp>
          <p:nvSpPr>
            <p:cNvPr id="55332" name="Line 35"/>
            <p:cNvSpPr>
              <a:spLocks noChangeShapeType="1"/>
            </p:cNvSpPr>
            <p:nvPr/>
          </p:nvSpPr>
          <p:spPr bwMode="auto">
            <a:xfrm>
              <a:off x="1858" y="3544"/>
              <a:ext cx="1" cy="619"/>
            </a:xfrm>
            <a:prstGeom prst="line">
              <a:avLst/>
            </a:prstGeom>
            <a:noFill/>
            <a:ln w="25400">
              <a:solidFill>
                <a:srgbClr val="000000"/>
              </a:solidFill>
              <a:round/>
              <a:headEnd/>
              <a:tailEnd/>
            </a:ln>
          </p:spPr>
          <p:txBody>
            <a:bodyPr/>
            <a:lstStyle/>
            <a:p>
              <a:endParaRPr lang="zh-TW" altLang="en-US" sz="1350"/>
            </a:p>
          </p:txBody>
        </p:sp>
        <p:sp>
          <p:nvSpPr>
            <p:cNvPr id="55333" name="Line 36"/>
            <p:cNvSpPr>
              <a:spLocks noChangeShapeType="1"/>
            </p:cNvSpPr>
            <p:nvPr/>
          </p:nvSpPr>
          <p:spPr bwMode="auto">
            <a:xfrm>
              <a:off x="1695" y="3544"/>
              <a:ext cx="4" cy="619"/>
            </a:xfrm>
            <a:prstGeom prst="line">
              <a:avLst/>
            </a:prstGeom>
            <a:noFill/>
            <a:ln w="25400">
              <a:solidFill>
                <a:srgbClr val="000000"/>
              </a:solidFill>
              <a:round/>
              <a:headEnd/>
              <a:tailEnd/>
            </a:ln>
          </p:spPr>
          <p:txBody>
            <a:bodyPr/>
            <a:lstStyle/>
            <a:p>
              <a:endParaRPr lang="zh-TW" altLang="en-US" sz="1350"/>
            </a:p>
          </p:txBody>
        </p:sp>
        <p:sp>
          <p:nvSpPr>
            <p:cNvPr id="55334" name="Line 37"/>
            <p:cNvSpPr>
              <a:spLocks noChangeShapeType="1"/>
            </p:cNvSpPr>
            <p:nvPr/>
          </p:nvSpPr>
          <p:spPr bwMode="auto">
            <a:xfrm>
              <a:off x="1216" y="3544"/>
              <a:ext cx="4" cy="619"/>
            </a:xfrm>
            <a:prstGeom prst="line">
              <a:avLst/>
            </a:prstGeom>
            <a:noFill/>
            <a:ln w="25400">
              <a:solidFill>
                <a:srgbClr val="000000"/>
              </a:solidFill>
              <a:round/>
              <a:headEnd/>
              <a:tailEnd/>
            </a:ln>
          </p:spPr>
          <p:txBody>
            <a:bodyPr/>
            <a:lstStyle/>
            <a:p>
              <a:endParaRPr lang="zh-TW" altLang="en-US" sz="1350"/>
            </a:p>
          </p:txBody>
        </p:sp>
        <p:sp>
          <p:nvSpPr>
            <p:cNvPr id="55335" name="Line 38"/>
            <p:cNvSpPr>
              <a:spLocks noChangeShapeType="1"/>
            </p:cNvSpPr>
            <p:nvPr/>
          </p:nvSpPr>
          <p:spPr bwMode="auto">
            <a:xfrm>
              <a:off x="1057" y="3544"/>
              <a:ext cx="1" cy="619"/>
            </a:xfrm>
            <a:prstGeom prst="line">
              <a:avLst/>
            </a:prstGeom>
            <a:noFill/>
            <a:ln w="25400">
              <a:solidFill>
                <a:srgbClr val="000000"/>
              </a:solidFill>
              <a:round/>
              <a:headEnd/>
              <a:tailEnd/>
            </a:ln>
          </p:spPr>
          <p:txBody>
            <a:bodyPr/>
            <a:lstStyle/>
            <a:p>
              <a:endParaRPr lang="zh-TW" altLang="en-US" sz="1350"/>
            </a:p>
          </p:txBody>
        </p:sp>
        <p:sp>
          <p:nvSpPr>
            <p:cNvPr id="55336" name="Freeform 39"/>
            <p:cNvSpPr>
              <a:spLocks/>
            </p:cNvSpPr>
            <p:nvPr/>
          </p:nvSpPr>
          <p:spPr bwMode="auto">
            <a:xfrm>
              <a:off x="5209" y="3544"/>
              <a:ext cx="163" cy="619"/>
            </a:xfrm>
            <a:custGeom>
              <a:avLst/>
              <a:gdLst>
                <a:gd name="T0" fmla="*/ 0 w 163"/>
                <a:gd name="T1" fmla="*/ 619 h 619"/>
                <a:gd name="T2" fmla="*/ 4 w 163"/>
                <a:gd name="T3" fmla="*/ 0 h 619"/>
                <a:gd name="T4" fmla="*/ 163 w 163"/>
                <a:gd name="T5" fmla="*/ 0 h 619"/>
                <a:gd name="T6" fmla="*/ 163 w 163"/>
                <a:gd name="T7" fmla="*/ 619 h 619"/>
                <a:gd name="T8" fmla="*/ 4 w 163"/>
                <a:gd name="T9" fmla="*/ 619 h 619"/>
                <a:gd name="T10" fmla="*/ 4 w 163"/>
                <a:gd name="T11" fmla="*/ 619 h 619"/>
                <a:gd name="T12" fmla="*/ 0 w 163"/>
                <a:gd name="T13" fmla="*/ 619 h 619"/>
                <a:gd name="T14" fmla="*/ 0 60000 65536"/>
                <a:gd name="T15" fmla="*/ 0 60000 65536"/>
                <a:gd name="T16" fmla="*/ 0 60000 65536"/>
                <a:gd name="T17" fmla="*/ 0 60000 65536"/>
                <a:gd name="T18" fmla="*/ 0 60000 65536"/>
                <a:gd name="T19" fmla="*/ 0 60000 65536"/>
                <a:gd name="T20" fmla="*/ 0 60000 65536"/>
                <a:gd name="T21" fmla="*/ 0 w 163"/>
                <a:gd name="T22" fmla="*/ 0 h 619"/>
                <a:gd name="T23" fmla="*/ 163 w 163"/>
                <a:gd name="T24" fmla="*/ 619 h 61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63" h="619">
                  <a:moveTo>
                    <a:pt x="0" y="619"/>
                  </a:moveTo>
                  <a:lnTo>
                    <a:pt x="4" y="0"/>
                  </a:lnTo>
                  <a:lnTo>
                    <a:pt x="163" y="0"/>
                  </a:lnTo>
                  <a:lnTo>
                    <a:pt x="163" y="619"/>
                  </a:lnTo>
                  <a:lnTo>
                    <a:pt x="4" y="619"/>
                  </a:lnTo>
                  <a:lnTo>
                    <a:pt x="0" y="619"/>
                  </a:lnTo>
                  <a:close/>
                </a:path>
              </a:pathLst>
            </a:custGeom>
            <a:solidFill>
              <a:srgbClr val="EB7500"/>
            </a:solidFill>
            <a:ln w="9525">
              <a:noFill/>
              <a:round/>
              <a:headEnd/>
              <a:tailEnd/>
            </a:ln>
          </p:spPr>
          <p:txBody>
            <a:bodyPr/>
            <a:lstStyle/>
            <a:p>
              <a:endParaRPr lang="zh-TW" altLang="en-US" sz="1350"/>
            </a:p>
          </p:txBody>
        </p:sp>
        <p:sp>
          <p:nvSpPr>
            <p:cNvPr id="55337" name="Freeform 40"/>
            <p:cNvSpPr>
              <a:spLocks/>
            </p:cNvSpPr>
            <p:nvPr/>
          </p:nvSpPr>
          <p:spPr bwMode="auto">
            <a:xfrm>
              <a:off x="5209" y="3544"/>
              <a:ext cx="163" cy="619"/>
            </a:xfrm>
            <a:custGeom>
              <a:avLst/>
              <a:gdLst>
                <a:gd name="T0" fmla="*/ 0 w 163"/>
                <a:gd name="T1" fmla="*/ 619 h 619"/>
                <a:gd name="T2" fmla="*/ 4 w 163"/>
                <a:gd name="T3" fmla="*/ 0 h 619"/>
                <a:gd name="T4" fmla="*/ 163 w 163"/>
                <a:gd name="T5" fmla="*/ 0 h 619"/>
                <a:gd name="T6" fmla="*/ 163 w 163"/>
                <a:gd name="T7" fmla="*/ 619 h 619"/>
                <a:gd name="T8" fmla="*/ 4 w 163"/>
                <a:gd name="T9" fmla="*/ 619 h 619"/>
                <a:gd name="T10" fmla="*/ 4 w 163"/>
                <a:gd name="T11" fmla="*/ 619 h 619"/>
                <a:gd name="T12" fmla="*/ 0 60000 65536"/>
                <a:gd name="T13" fmla="*/ 0 60000 65536"/>
                <a:gd name="T14" fmla="*/ 0 60000 65536"/>
                <a:gd name="T15" fmla="*/ 0 60000 65536"/>
                <a:gd name="T16" fmla="*/ 0 60000 65536"/>
                <a:gd name="T17" fmla="*/ 0 60000 65536"/>
                <a:gd name="T18" fmla="*/ 0 w 163"/>
                <a:gd name="T19" fmla="*/ 0 h 619"/>
                <a:gd name="T20" fmla="*/ 163 w 163"/>
                <a:gd name="T21" fmla="*/ 619 h 619"/>
              </a:gdLst>
              <a:ahLst/>
              <a:cxnLst>
                <a:cxn ang="T12">
                  <a:pos x="T0" y="T1"/>
                </a:cxn>
                <a:cxn ang="T13">
                  <a:pos x="T2" y="T3"/>
                </a:cxn>
                <a:cxn ang="T14">
                  <a:pos x="T4" y="T5"/>
                </a:cxn>
                <a:cxn ang="T15">
                  <a:pos x="T6" y="T7"/>
                </a:cxn>
                <a:cxn ang="T16">
                  <a:pos x="T8" y="T9"/>
                </a:cxn>
                <a:cxn ang="T17">
                  <a:pos x="T10" y="T11"/>
                </a:cxn>
              </a:cxnLst>
              <a:rect l="T18" t="T19" r="T20" b="T21"/>
              <a:pathLst>
                <a:path w="163" h="619">
                  <a:moveTo>
                    <a:pt x="0" y="619"/>
                  </a:moveTo>
                  <a:lnTo>
                    <a:pt x="4" y="0"/>
                  </a:lnTo>
                  <a:lnTo>
                    <a:pt x="163" y="0"/>
                  </a:lnTo>
                  <a:lnTo>
                    <a:pt x="163" y="619"/>
                  </a:lnTo>
                  <a:lnTo>
                    <a:pt x="4" y="619"/>
                  </a:lnTo>
                </a:path>
              </a:pathLst>
            </a:custGeom>
            <a:noFill/>
            <a:ln w="25400">
              <a:solidFill>
                <a:srgbClr val="000000"/>
              </a:solidFill>
              <a:round/>
              <a:headEnd/>
              <a:tailEnd/>
            </a:ln>
          </p:spPr>
          <p:txBody>
            <a:bodyPr/>
            <a:lstStyle/>
            <a:p>
              <a:endParaRPr lang="zh-TW" altLang="en-US" sz="1350"/>
            </a:p>
          </p:txBody>
        </p:sp>
        <p:sp>
          <p:nvSpPr>
            <p:cNvPr id="55338" name="Freeform 41"/>
            <p:cNvSpPr>
              <a:spLocks/>
            </p:cNvSpPr>
            <p:nvPr/>
          </p:nvSpPr>
          <p:spPr bwMode="auto">
            <a:xfrm>
              <a:off x="3934" y="3544"/>
              <a:ext cx="162" cy="619"/>
            </a:xfrm>
            <a:custGeom>
              <a:avLst/>
              <a:gdLst>
                <a:gd name="T0" fmla="*/ 0 w 162"/>
                <a:gd name="T1" fmla="*/ 619 h 619"/>
                <a:gd name="T2" fmla="*/ 0 w 162"/>
                <a:gd name="T3" fmla="*/ 0 h 619"/>
                <a:gd name="T4" fmla="*/ 162 w 162"/>
                <a:gd name="T5" fmla="*/ 0 h 619"/>
                <a:gd name="T6" fmla="*/ 162 w 162"/>
                <a:gd name="T7" fmla="*/ 619 h 619"/>
                <a:gd name="T8" fmla="*/ 0 w 162"/>
                <a:gd name="T9" fmla="*/ 619 h 619"/>
                <a:gd name="T10" fmla="*/ 0 w 162"/>
                <a:gd name="T11" fmla="*/ 619 h 619"/>
                <a:gd name="T12" fmla="*/ 0 60000 65536"/>
                <a:gd name="T13" fmla="*/ 0 60000 65536"/>
                <a:gd name="T14" fmla="*/ 0 60000 65536"/>
                <a:gd name="T15" fmla="*/ 0 60000 65536"/>
                <a:gd name="T16" fmla="*/ 0 60000 65536"/>
                <a:gd name="T17" fmla="*/ 0 60000 65536"/>
                <a:gd name="T18" fmla="*/ 0 w 162"/>
                <a:gd name="T19" fmla="*/ 0 h 619"/>
                <a:gd name="T20" fmla="*/ 162 w 162"/>
                <a:gd name="T21" fmla="*/ 619 h 619"/>
              </a:gdLst>
              <a:ahLst/>
              <a:cxnLst>
                <a:cxn ang="T12">
                  <a:pos x="T0" y="T1"/>
                </a:cxn>
                <a:cxn ang="T13">
                  <a:pos x="T2" y="T3"/>
                </a:cxn>
                <a:cxn ang="T14">
                  <a:pos x="T4" y="T5"/>
                </a:cxn>
                <a:cxn ang="T15">
                  <a:pos x="T6" y="T7"/>
                </a:cxn>
                <a:cxn ang="T16">
                  <a:pos x="T8" y="T9"/>
                </a:cxn>
                <a:cxn ang="T17">
                  <a:pos x="T10" y="T11"/>
                </a:cxn>
              </a:cxnLst>
              <a:rect l="T18" t="T19" r="T20" b="T21"/>
              <a:pathLst>
                <a:path w="162" h="619">
                  <a:moveTo>
                    <a:pt x="0" y="619"/>
                  </a:moveTo>
                  <a:lnTo>
                    <a:pt x="0" y="0"/>
                  </a:lnTo>
                  <a:lnTo>
                    <a:pt x="162" y="0"/>
                  </a:lnTo>
                  <a:lnTo>
                    <a:pt x="162" y="619"/>
                  </a:lnTo>
                  <a:lnTo>
                    <a:pt x="0" y="619"/>
                  </a:lnTo>
                  <a:close/>
                </a:path>
              </a:pathLst>
            </a:custGeom>
            <a:solidFill>
              <a:srgbClr val="EB7500"/>
            </a:solidFill>
            <a:ln w="9525">
              <a:noFill/>
              <a:round/>
              <a:headEnd/>
              <a:tailEnd/>
            </a:ln>
          </p:spPr>
          <p:txBody>
            <a:bodyPr/>
            <a:lstStyle/>
            <a:p>
              <a:endParaRPr lang="zh-TW" altLang="en-US" sz="1350"/>
            </a:p>
          </p:txBody>
        </p:sp>
        <p:sp>
          <p:nvSpPr>
            <p:cNvPr id="55339" name="Freeform 42"/>
            <p:cNvSpPr>
              <a:spLocks/>
            </p:cNvSpPr>
            <p:nvPr/>
          </p:nvSpPr>
          <p:spPr bwMode="auto">
            <a:xfrm>
              <a:off x="3934" y="3544"/>
              <a:ext cx="162" cy="619"/>
            </a:xfrm>
            <a:custGeom>
              <a:avLst/>
              <a:gdLst>
                <a:gd name="T0" fmla="*/ 0 w 162"/>
                <a:gd name="T1" fmla="*/ 619 h 619"/>
                <a:gd name="T2" fmla="*/ 0 w 162"/>
                <a:gd name="T3" fmla="*/ 0 h 619"/>
                <a:gd name="T4" fmla="*/ 162 w 162"/>
                <a:gd name="T5" fmla="*/ 0 h 619"/>
                <a:gd name="T6" fmla="*/ 162 w 162"/>
                <a:gd name="T7" fmla="*/ 619 h 619"/>
                <a:gd name="T8" fmla="*/ 0 w 162"/>
                <a:gd name="T9" fmla="*/ 619 h 619"/>
                <a:gd name="T10" fmla="*/ 0 w 162"/>
                <a:gd name="T11" fmla="*/ 619 h 619"/>
                <a:gd name="T12" fmla="*/ 0 60000 65536"/>
                <a:gd name="T13" fmla="*/ 0 60000 65536"/>
                <a:gd name="T14" fmla="*/ 0 60000 65536"/>
                <a:gd name="T15" fmla="*/ 0 60000 65536"/>
                <a:gd name="T16" fmla="*/ 0 60000 65536"/>
                <a:gd name="T17" fmla="*/ 0 60000 65536"/>
                <a:gd name="T18" fmla="*/ 0 w 162"/>
                <a:gd name="T19" fmla="*/ 0 h 619"/>
                <a:gd name="T20" fmla="*/ 162 w 162"/>
                <a:gd name="T21" fmla="*/ 619 h 619"/>
              </a:gdLst>
              <a:ahLst/>
              <a:cxnLst>
                <a:cxn ang="T12">
                  <a:pos x="T0" y="T1"/>
                </a:cxn>
                <a:cxn ang="T13">
                  <a:pos x="T2" y="T3"/>
                </a:cxn>
                <a:cxn ang="T14">
                  <a:pos x="T4" y="T5"/>
                </a:cxn>
                <a:cxn ang="T15">
                  <a:pos x="T6" y="T7"/>
                </a:cxn>
                <a:cxn ang="T16">
                  <a:pos x="T8" y="T9"/>
                </a:cxn>
                <a:cxn ang="T17">
                  <a:pos x="T10" y="T11"/>
                </a:cxn>
              </a:cxnLst>
              <a:rect l="T18" t="T19" r="T20" b="T21"/>
              <a:pathLst>
                <a:path w="162" h="619">
                  <a:moveTo>
                    <a:pt x="0" y="619"/>
                  </a:moveTo>
                  <a:lnTo>
                    <a:pt x="0" y="0"/>
                  </a:lnTo>
                  <a:lnTo>
                    <a:pt x="162" y="0"/>
                  </a:lnTo>
                  <a:lnTo>
                    <a:pt x="162" y="619"/>
                  </a:lnTo>
                  <a:lnTo>
                    <a:pt x="0" y="619"/>
                  </a:lnTo>
                </a:path>
              </a:pathLst>
            </a:custGeom>
            <a:noFill/>
            <a:ln w="25400">
              <a:solidFill>
                <a:srgbClr val="000000"/>
              </a:solidFill>
              <a:round/>
              <a:headEnd/>
              <a:tailEnd/>
            </a:ln>
          </p:spPr>
          <p:txBody>
            <a:bodyPr/>
            <a:lstStyle/>
            <a:p>
              <a:endParaRPr lang="zh-TW" altLang="en-US" sz="1350"/>
            </a:p>
          </p:txBody>
        </p:sp>
        <p:sp>
          <p:nvSpPr>
            <p:cNvPr id="55340" name="Freeform 43"/>
            <p:cNvSpPr>
              <a:spLocks/>
            </p:cNvSpPr>
            <p:nvPr/>
          </p:nvSpPr>
          <p:spPr bwMode="auto">
            <a:xfrm>
              <a:off x="2654" y="3544"/>
              <a:ext cx="162" cy="619"/>
            </a:xfrm>
            <a:custGeom>
              <a:avLst/>
              <a:gdLst>
                <a:gd name="T0" fmla="*/ 0 w 162"/>
                <a:gd name="T1" fmla="*/ 619 h 619"/>
                <a:gd name="T2" fmla="*/ 4 w 162"/>
                <a:gd name="T3" fmla="*/ 0 h 619"/>
                <a:gd name="T4" fmla="*/ 162 w 162"/>
                <a:gd name="T5" fmla="*/ 0 h 619"/>
                <a:gd name="T6" fmla="*/ 162 w 162"/>
                <a:gd name="T7" fmla="*/ 619 h 619"/>
                <a:gd name="T8" fmla="*/ 4 w 162"/>
                <a:gd name="T9" fmla="*/ 619 h 619"/>
                <a:gd name="T10" fmla="*/ 4 w 162"/>
                <a:gd name="T11" fmla="*/ 619 h 619"/>
                <a:gd name="T12" fmla="*/ 0 w 162"/>
                <a:gd name="T13" fmla="*/ 619 h 619"/>
                <a:gd name="T14" fmla="*/ 0 60000 65536"/>
                <a:gd name="T15" fmla="*/ 0 60000 65536"/>
                <a:gd name="T16" fmla="*/ 0 60000 65536"/>
                <a:gd name="T17" fmla="*/ 0 60000 65536"/>
                <a:gd name="T18" fmla="*/ 0 60000 65536"/>
                <a:gd name="T19" fmla="*/ 0 60000 65536"/>
                <a:gd name="T20" fmla="*/ 0 60000 65536"/>
                <a:gd name="T21" fmla="*/ 0 w 162"/>
                <a:gd name="T22" fmla="*/ 0 h 619"/>
                <a:gd name="T23" fmla="*/ 162 w 162"/>
                <a:gd name="T24" fmla="*/ 619 h 61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62" h="619">
                  <a:moveTo>
                    <a:pt x="0" y="619"/>
                  </a:moveTo>
                  <a:lnTo>
                    <a:pt x="4" y="0"/>
                  </a:lnTo>
                  <a:lnTo>
                    <a:pt x="162" y="0"/>
                  </a:lnTo>
                  <a:lnTo>
                    <a:pt x="162" y="619"/>
                  </a:lnTo>
                  <a:lnTo>
                    <a:pt x="4" y="619"/>
                  </a:lnTo>
                  <a:lnTo>
                    <a:pt x="0" y="619"/>
                  </a:lnTo>
                  <a:close/>
                </a:path>
              </a:pathLst>
            </a:custGeom>
            <a:solidFill>
              <a:srgbClr val="EB7500"/>
            </a:solidFill>
            <a:ln w="9525">
              <a:noFill/>
              <a:round/>
              <a:headEnd/>
              <a:tailEnd/>
            </a:ln>
          </p:spPr>
          <p:txBody>
            <a:bodyPr/>
            <a:lstStyle/>
            <a:p>
              <a:endParaRPr lang="zh-TW" altLang="en-US" sz="1350"/>
            </a:p>
          </p:txBody>
        </p:sp>
        <p:sp>
          <p:nvSpPr>
            <p:cNvPr id="55341" name="Freeform 44"/>
            <p:cNvSpPr>
              <a:spLocks/>
            </p:cNvSpPr>
            <p:nvPr/>
          </p:nvSpPr>
          <p:spPr bwMode="auto">
            <a:xfrm>
              <a:off x="2654" y="3544"/>
              <a:ext cx="162" cy="619"/>
            </a:xfrm>
            <a:custGeom>
              <a:avLst/>
              <a:gdLst>
                <a:gd name="T0" fmla="*/ 0 w 162"/>
                <a:gd name="T1" fmla="*/ 619 h 619"/>
                <a:gd name="T2" fmla="*/ 4 w 162"/>
                <a:gd name="T3" fmla="*/ 0 h 619"/>
                <a:gd name="T4" fmla="*/ 162 w 162"/>
                <a:gd name="T5" fmla="*/ 0 h 619"/>
                <a:gd name="T6" fmla="*/ 162 w 162"/>
                <a:gd name="T7" fmla="*/ 619 h 619"/>
                <a:gd name="T8" fmla="*/ 4 w 162"/>
                <a:gd name="T9" fmla="*/ 619 h 619"/>
                <a:gd name="T10" fmla="*/ 4 w 162"/>
                <a:gd name="T11" fmla="*/ 619 h 619"/>
                <a:gd name="T12" fmla="*/ 0 60000 65536"/>
                <a:gd name="T13" fmla="*/ 0 60000 65536"/>
                <a:gd name="T14" fmla="*/ 0 60000 65536"/>
                <a:gd name="T15" fmla="*/ 0 60000 65536"/>
                <a:gd name="T16" fmla="*/ 0 60000 65536"/>
                <a:gd name="T17" fmla="*/ 0 60000 65536"/>
                <a:gd name="T18" fmla="*/ 0 w 162"/>
                <a:gd name="T19" fmla="*/ 0 h 619"/>
                <a:gd name="T20" fmla="*/ 162 w 162"/>
                <a:gd name="T21" fmla="*/ 619 h 619"/>
              </a:gdLst>
              <a:ahLst/>
              <a:cxnLst>
                <a:cxn ang="T12">
                  <a:pos x="T0" y="T1"/>
                </a:cxn>
                <a:cxn ang="T13">
                  <a:pos x="T2" y="T3"/>
                </a:cxn>
                <a:cxn ang="T14">
                  <a:pos x="T4" y="T5"/>
                </a:cxn>
                <a:cxn ang="T15">
                  <a:pos x="T6" y="T7"/>
                </a:cxn>
                <a:cxn ang="T16">
                  <a:pos x="T8" y="T9"/>
                </a:cxn>
                <a:cxn ang="T17">
                  <a:pos x="T10" y="T11"/>
                </a:cxn>
              </a:cxnLst>
              <a:rect l="T18" t="T19" r="T20" b="T21"/>
              <a:pathLst>
                <a:path w="162" h="619">
                  <a:moveTo>
                    <a:pt x="0" y="619"/>
                  </a:moveTo>
                  <a:lnTo>
                    <a:pt x="4" y="0"/>
                  </a:lnTo>
                  <a:lnTo>
                    <a:pt x="162" y="0"/>
                  </a:lnTo>
                  <a:lnTo>
                    <a:pt x="162" y="619"/>
                  </a:lnTo>
                  <a:lnTo>
                    <a:pt x="4" y="619"/>
                  </a:lnTo>
                </a:path>
              </a:pathLst>
            </a:custGeom>
            <a:noFill/>
            <a:ln w="25400">
              <a:solidFill>
                <a:srgbClr val="000000"/>
              </a:solidFill>
              <a:round/>
              <a:headEnd/>
              <a:tailEnd/>
            </a:ln>
          </p:spPr>
          <p:txBody>
            <a:bodyPr/>
            <a:lstStyle/>
            <a:p>
              <a:endParaRPr lang="zh-TW" altLang="en-US" sz="1350"/>
            </a:p>
          </p:txBody>
        </p:sp>
        <p:sp>
          <p:nvSpPr>
            <p:cNvPr id="55342" name="Freeform 45"/>
            <p:cNvSpPr>
              <a:spLocks/>
            </p:cNvSpPr>
            <p:nvPr/>
          </p:nvSpPr>
          <p:spPr bwMode="auto">
            <a:xfrm>
              <a:off x="1378" y="3544"/>
              <a:ext cx="159" cy="619"/>
            </a:xfrm>
            <a:custGeom>
              <a:avLst/>
              <a:gdLst>
                <a:gd name="T0" fmla="*/ 0 w 159"/>
                <a:gd name="T1" fmla="*/ 619 h 619"/>
                <a:gd name="T2" fmla="*/ 0 w 159"/>
                <a:gd name="T3" fmla="*/ 0 h 619"/>
                <a:gd name="T4" fmla="*/ 159 w 159"/>
                <a:gd name="T5" fmla="*/ 0 h 619"/>
                <a:gd name="T6" fmla="*/ 159 w 159"/>
                <a:gd name="T7" fmla="*/ 619 h 619"/>
                <a:gd name="T8" fmla="*/ 0 w 159"/>
                <a:gd name="T9" fmla="*/ 619 h 619"/>
                <a:gd name="T10" fmla="*/ 0 w 159"/>
                <a:gd name="T11" fmla="*/ 619 h 619"/>
                <a:gd name="T12" fmla="*/ 0 60000 65536"/>
                <a:gd name="T13" fmla="*/ 0 60000 65536"/>
                <a:gd name="T14" fmla="*/ 0 60000 65536"/>
                <a:gd name="T15" fmla="*/ 0 60000 65536"/>
                <a:gd name="T16" fmla="*/ 0 60000 65536"/>
                <a:gd name="T17" fmla="*/ 0 60000 65536"/>
                <a:gd name="T18" fmla="*/ 0 w 159"/>
                <a:gd name="T19" fmla="*/ 0 h 619"/>
                <a:gd name="T20" fmla="*/ 159 w 159"/>
                <a:gd name="T21" fmla="*/ 619 h 619"/>
              </a:gdLst>
              <a:ahLst/>
              <a:cxnLst>
                <a:cxn ang="T12">
                  <a:pos x="T0" y="T1"/>
                </a:cxn>
                <a:cxn ang="T13">
                  <a:pos x="T2" y="T3"/>
                </a:cxn>
                <a:cxn ang="T14">
                  <a:pos x="T4" y="T5"/>
                </a:cxn>
                <a:cxn ang="T15">
                  <a:pos x="T6" y="T7"/>
                </a:cxn>
                <a:cxn ang="T16">
                  <a:pos x="T8" y="T9"/>
                </a:cxn>
                <a:cxn ang="T17">
                  <a:pos x="T10" y="T11"/>
                </a:cxn>
              </a:cxnLst>
              <a:rect l="T18" t="T19" r="T20" b="T21"/>
              <a:pathLst>
                <a:path w="159" h="619">
                  <a:moveTo>
                    <a:pt x="0" y="619"/>
                  </a:moveTo>
                  <a:lnTo>
                    <a:pt x="0" y="0"/>
                  </a:lnTo>
                  <a:lnTo>
                    <a:pt x="159" y="0"/>
                  </a:lnTo>
                  <a:lnTo>
                    <a:pt x="159" y="619"/>
                  </a:lnTo>
                  <a:lnTo>
                    <a:pt x="0" y="619"/>
                  </a:lnTo>
                  <a:close/>
                </a:path>
              </a:pathLst>
            </a:custGeom>
            <a:solidFill>
              <a:srgbClr val="EB7500"/>
            </a:solidFill>
            <a:ln w="9525">
              <a:noFill/>
              <a:round/>
              <a:headEnd/>
              <a:tailEnd/>
            </a:ln>
          </p:spPr>
          <p:txBody>
            <a:bodyPr/>
            <a:lstStyle/>
            <a:p>
              <a:endParaRPr lang="zh-TW" altLang="en-US" sz="1350"/>
            </a:p>
          </p:txBody>
        </p:sp>
        <p:sp>
          <p:nvSpPr>
            <p:cNvPr id="55343" name="Freeform 46"/>
            <p:cNvSpPr>
              <a:spLocks/>
            </p:cNvSpPr>
            <p:nvPr/>
          </p:nvSpPr>
          <p:spPr bwMode="auto">
            <a:xfrm>
              <a:off x="1378" y="3544"/>
              <a:ext cx="159" cy="619"/>
            </a:xfrm>
            <a:custGeom>
              <a:avLst/>
              <a:gdLst>
                <a:gd name="T0" fmla="*/ 0 w 159"/>
                <a:gd name="T1" fmla="*/ 619 h 619"/>
                <a:gd name="T2" fmla="*/ 0 w 159"/>
                <a:gd name="T3" fmla="*/ 0 h 619"/>
                <a:gd name="T4" fmla="*/ 159 w 159"/>
                <a:gd name="T5" fmla="*/ 0 h 619"/>
                <a:gd name="T6" fmla="*/ 159 w 159"/>
                <a:gd name="T7" fmla="*/ 619 h 619"/>
                <a:gd name="T8" fmla="*/ 0 w 159"/>
                <a:gd name="T9" fmla="*/ 619 h 619"/>
                <a:gd name="T10" fmla="*/ 0 w 159"/>
                <a:gd name="T11" fmla="*/ 619 h 619"/>
                <a:gd name="T12" fmla="*/ 0 60000 65536"/>
                <a:gd name="T13" fmla="*/ 0 60000 65536"/>
                <a:gd name="T14" fmla="*/ 0 60000 65536"/>
                <a:gd name="T15" fmla="*/ 0 60000 65536"/>
                <a:gd name="T16" fmla="*/ 0 60000 65536"/>
                <a:gd name="T17" fmla="*/ 0 60000 65536"/>
                <a:gd name="T18" fmla="*/ 0 w 159"/>
                <a:gd name="T19" fmla="*/ 0 h 619"/>
                <a:gd name="T20" fmla="*/ 159 w 159"/>
                <a:gd name="T21" fmla="*/ 619 h 619"/>
              </a:gdLst>
              <a:ahLst/>
              <a:cxnLst>
                <a:cxn ang="T12">
                  <a:pos x="T0" y="T1"/>
                </a:cxn>
                <a:cxn ang="T13">
                  <a:pos x="T2" y="T3"/>
                </a:cxn>
                <a:cxn ang="T14">
                  <a:pos x="T4" y="T5"/>
                </a:cxn>
                <a:cxn ang="T15">
                  <a:pos x="T6" y="T7"/>
                </a:cxn>
                <a:cxn ang="T16">
                  <a:pos x="T8" y="T9"/>
                </a:cxn>
                <a:cxn ang="T17">
                  <a:pos x="T10" y="T11"/>
                </a:cxn>
              </a:cxnLst>
              <a:rect l="T18" t="T19" r="T20" b="T21"/>
              <a:pathLst>
                <a:path w="159" h="619">
                  <a:moveTo>
                    <a:pt x="0" y="619"/>
                  </a:moveTo>
                  <a:lnTo>
                    <a:pt x="0" y="0"/>
                  </a:lnTo>
                  <a:lnTo>
                    <a:pt x="159" y="0"/>
                  </a:lnTo>
                  <a:lnTo>
                    <a:pt x="159" y="619"/>
                  </a:lnTo>
                  <a:lnTo>
                    <a:pt x="0" y="619"/>
                  </a:lnTo>
                </a:path>
              </a:pathLst>
            </a:custGeom>
            <a:noFill/>
            <a:ln w="25400">
              <a:solidFill>
                <a:srgbClr val="000000"/>
              </a:solidFill>
              <a:round/>
              <a:headEnd/>
              <a:tailEnd/>
            </a:ln>
          </p:spPr>
          <p:txBody>
            <a:bodyPr/>
            <a:lstStyle/>
            <a:p>
              <a:endParaRPr lang="zh-TW" altLang="en-US" sz="1350"/>
            </a:p>
          </p:txBody>
        </p:sp>
        <p:sp>
          <p:nvSpPr>
            <p:cNvPr id="55344" name="Freeform 47"/>
            <p:cNvSpPr>
              <a:spLocks/>
            </p:cNvSpPr>
            <p:nvPr/>
          </p:nvSpPr>
          <p:spPr bwMode="auto">
            <a:xfrm>
              <a:off x="4571" y="3544"/>
              <a:ext cx="163" cy="619"/>
            </a:xfrm>
            <a:custGeom>
              <a:avLst/>
              <a:gdLst>
                <a:gd name="T0" fmla="*/ 0 w 163"/>
                <a:gd name="T1" fmla="*/ 619 h 619"/>
                <a:gd name="T2" fmla="*/ 4 w 163"/>
                <a:gd name="T3" fmla="*/ 0 h 619"/>
                <a:gd name="T4" fmla="*/ 163 w 163"/>
                <a:gd name="T5" fmla="*/ 0 h 619"/>
                <a:gd name="T6" fmla="*/ 163 w 163"/>
                <a:gd name="T7" fmla="*/ 619 h 619"/>
                <a:gd name="T8" fmla="*/ 4 w 163"/>
                <a:gd name="T9" fmla="*/ 619 h 619"/>
                <a:gd name="T10" fmla="*/ 4 w 163"/>
                <a:gd name="T11" fmla="*/ 619 h 619"/>
                <a:gd name="T12" fmla="*/ 0 w 163"/>
                <a:gd name="T13" fmla="*/ 619 h 619"/>
                <a:gd name="T14" fmla="*/ 0 60000 65536"/>
                <a:gd name="T15" fmla="*/ 0 60000 65536"/>
                <a:gd name="T16" fmla="*/ 0 60000 65536"/>
                <a:gd name="T17" fmla="*/ 0 60000 65536"/>
                <a:gd name="T18" fmla="*/ 0 60000 65536"/>
                <a:gd name="T19" fmla="*/ 0 60000 65536"/>
                <a:gd name="T20" fmla="*/ 0 60000 65536"/>
                <a:gd name="T21" fmla="*/ 0 w 163"/>
                <a:gd name="T22" fmla="*/ 0 h 619"/>
                <a:gd name="T23" fmla="*/ 163 w 163"/>
                <a:gd name="T24" fmla="*/ 619 h 61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63" h="619">
                  <a:moveTo>
                    <a:pt x="0" y="619"/>
                  </a:moveTo>
                  <a:lnTo>
                    <a:pt x="4" y="0"/>
                  </a:lnTo>
                  <a:lnTo>
                    <a:pt x="163" y="0"/>
                  </a:lnTo>
                  <a:lnTo>
                    <a:pt x="163" y="619"/>
                  </a:lnTo>
                  <a:lnTo>
                    <a:pt x="4" y="619"/>
                  </a:lnTo>
                  <a:lnTo>
                    <a:pt x="0" y="619"/>
                  </a:lnTo>
                  <a:close/>
                </a:path>
              </a:pathLst>
            </a:custGeom>
            <a:solidFill>
              <a:srgbClr val="CCCCCC"/>
            </a:solidFill>
            <a:ln w="9525">
              <a:noFill/>
              <a:round/>
              <a:headEnd/>
              <a:tailEnd/>
            </a:ln>
          </p:spPr>
          <p:txBody>
            <a:bodyPr/>
            <a:lstStyle/>
            <a:p>
              <a:endParaRPr lang="zh-TW" altLang="en-US" sz="1350"/>
            </a:p>
          </p:txBody>
        </p:sp>
        <p:sp>
          <p:nvSpPr>
            <p:cNvPr id="55345" name="Freeform 48"/>
            <p:cNvSpPr>
              <a:spLocks/>
            </p:cNvSpPr>
            <p:nvPr/>
          </p:nvSpPr>
          <p:spPr bwMode="auto">
            <a:xfrm>
              <a:off x="4571" y="3544"/>
              <a:ext cx="163" cy="619"/>
            </a:xfrm>
            <a:custGeom>
              <a:avLst/>
              <a:gdLst>
                <a:gd name="T0" fmla="*/ 0 w 163"/>
                <a:gd name="T1" fmla="*/ 619 h 619"/>
                <a:gd name="T2" fmla="*/ 4 w 163"/>
                <a:gd name="T3" fmla="*/ 0 h 619"/>
                <a:gd name="T4" fmla="*/ 163 w 163"/>
                <a:gd name="T5" fmla="*/ 0 h 619"/>
                <a:gd name="T6" fmla="*/ 163 w 163"/>
                <a:gd name="T7" fmla="*/ 619 h 619"/>
                <a:gd name="T8" fmla="*/ 4 w 163"/>
                <a:gd name="T9" fmla="*/ 619 h 619"/>
                <a:gd name="T10" fmla="*/ 4 w 163"/>
                <a:gd name="T11" fmla="*/ 619 h 619"/>
                <a:gd name="T12" fmla="*/ 0 60000 65536"/>
                <a:gd name="T13" fmla="*/ 0 60000 65536"/>
                <a:gd name="T14" fmla="*/ 0 60000 65536"/>
                <a:gd name="T15" fmla="*/ 0 60000 65536"/>
                <a:gd name="T16" fmla="*/ 0 60000 65536"/>
                <a:gd name="T17" fmla="*/ 0 60000 65536"/>
                <a:gd name="T18" fmla="*/ 0 w 163"/>
                <a:gd name="T19" fmla="*/ 0 h 619"/>
                <a:gd name="T20" fmla="*/ 163 w 163"/>
                <a:gd name="T21" fmla="*/ 619 h 619"/>
              </a:gdLst>
              <a:ahLst/>
              <a:cxnLst>
                <a:cxn ang="T12">
                  <a:pos x="T0" y="T1"/>
                </a:cxn>
                <a:cxn ang="T13">
                  <a:pos x="T2" y="T3"/>
                </a:cxn>
                <a:cxn ang="T14">
                  <a:pos x="T4" y="T5"/>
                </a:cxn>
                <a:cxn ang="T15">
                  <a:pos x="T6" y="T7"/>
                </a:cxn>
                <a:cxn ang="T16">
                  <a:pos x="T8" y="T9"/>
                </a:cxn>
                <a:cxn ang="T17">
                  <a:pos x="T10" y="T11"/>
                </a:cxn>
              </a:cxnLst>
              <a:rect l="T18" t="T19" r="T20" b="T21"/>
              <a:pathLst>
                <a:path w="163" h="619">
                  <a:moveTo>
                    <a:pt x="0" y="619"/>
                  </a:moveTo>
                  <a:lnTo>
                    <a:pt x="4" y="0"/>
                  </a:lnTo>
                  <a:lnTo>
                    <a:pt x="163" y="0"/>
                  </a:lnTo>
                  <a:lnTo>
                    <a:pt x="163" y="619"/>
                  </a:lnTo>
                  <a:lnTo>
                    <a:pt x="4" y="619"/>
                  </a:lnTo>
                </a:path>
              </a:pathLst>
            </a:custGeom>
            <a:noFill/>
            <a:ln w="25400">
              <a:solidFill>
                <a:srgbClr val="000000"/>
              </a:solidFill>
              <a:round/>
              <a:headEnd/>
              <a:tailEnd/>
            </a:ln>
          </p:spPr>
          <p:txBody>
            <a:bodyPr/>
            <a:lstStyle/>
            <a:p>
              <a:endParaRPr lang="zh-TW" altLang="en-US" sz="1350"/>
            </a:p>
          </p:txBody>
        </p:sp>
        <p:sp>
          <p:nvSpPr>
            <p:cNvPr id="55346" name="Freeform 49"/>
            <p:cNvSpPr>
              <a:spLocks/>
            </p:cNvSpPr>
            <p:nvPr/>
          </p:nvSpPr>
          <p:spPr bwMode="auto">
            <a:xfrm>
              <a:off x="3296" y="3544"/>
              <a:ext cx="158" cy="619"/>
            </a:xfrm>
            <a:custGeom>
              <a:avLst/>
              <a:gdLst>
                <a:gd name="T0" fmla="*/ 0 w 158"/>
                <a:gd name="T1" fmla="*/ 619 h 619"/>
                <a:gd name="T2" fmla="*/ 0 w 158"/>
                <a:gd name="T3" fmla="*/ 0 h 619"/>
                <a:gd name="T4" fmla="*/ 158 w 158"/>
                <a:gd name="T5" fmla="*/ 0 h 619"/>
                <a:gd name="T6" fmla="*/ 158 w 158"/>
                <a:gd name="T7" fmla="*/ 619 h 619"/>
                <a:gd name="T8" fmla="*/ 0 w 158"/>
                <a:gd name="T9" fmla="*/ 619 h 619"/>
                <a:gd name="T10" fmla="*/ 0 w 158"/>
                <a:gd name="T11" fmla="*/ 619 h 619"/>
                <a:gd name="T12" fmla="*/ 0 60000 65536"/>
                <a:gd name="T13" fmla="*/ 0 60000 65536"/>
                <a:gd name="T14" fmla="*/ 0 60000 65536"/>
                <a:gd name="T15" fmla="*/ 0 60000 65536"/>
                <a:gd name="T16" fmla="*/ 0 60000 65536"/>
                <a:gd name="T17" fmla="*/ 0 60000 65536"/>
                <a:gd name="T18" fmla="*/ 0 w 158"/>
                <a:gd name="T19" fmla="*/ 0 h 619"/>
                <a:gd name="T20" fmla="*/ 158 w 158"/>
                <a:gd name="T21" fmla="*/ 619 h 619"/>
              </a:gdLst>
              <a:ahLst/>
              <a:cxnLst>
                <a:cxn ang="T12">
                  <a:pos x="T0" y="T1"/>
                </a:cxn>
                <a:cxn ang="T13">
                  <a:pos x="T2" y="T3"/>
                </a:cxn>
                <a:cxn ang="T14">
                  <a:pos x="T4" y="T5"/>
                </a:cxn>
                <a:cxn ang="T15">
                  <a:pos x="T6" y="T7"/>
                </a:cxn>
                <a:cxn ang="T16">
                  <a:pos x="T8" y="T9"/>
                </a:cxn>
                <a:cxn ang="T17">
                  <a:pos x="T10" y="T11"/>
                </a:cxn>
              </a:cxnLst>
              <a:rect l="T18" t="T19" r="T20" b="T21"/>
              <a:pathLst>
                <a:path w="158" h="619">
                  <a:moveTo>
                    <a:pt x="0" y="619"/>
                  </a:moveTo>
                  <a:lnTo>
                    <a:pt x="0" y="0"/>
                  </a:lnTo>
                  <a:lnTo>
                    <a:pt x="158" y="0"/>
                  </a:lnTo>
                  <a:lnTo>
                    <a:pt x="158" y="619"/>
                  </a:lnTo>
                  <a:lnTo>
                    <a:pt x="0" y="619"/>
                  </a:lnTo>
                  <a:close/>
                </a:path>
              </a:pathLst>
            </a:custGeom>
            <a:solidFill>
              <a:srgbClr val="CCCCCC"/>
            </a:solidFill>
            <a:ln w="9525">
              <a:noFill/>
              <a:round/>
              <a:headEnd/>
              <a:tailEnd/>
            </a:ln>
          </p:spPr>
          <p:txBody>
            <a:bodyPr/>
            <a:lstStyle/>
            <a:p>
              <a:endParaRPr lang="zh-TW" altLang="en-US" sz="1350"/>
            </a:p>
          </p:txBody>
        </p:sp>
        <p:sp>
          <p:nvSpPr>
            <p:cNvPr id="55347" name="Freeform 50"/>
            <p:cNvSpPr>
              <a:spLocks/>
            </p:cNvSpPr>
            <p:nvPr/>
          </p:nvSpPr>
          <p:spPr bwMode="auto">
            <a:xfrm>
              <a:off x="3296" y="3544"/>
              <a:ext cx="158" cy="619"/>
            </a:xfrm>
            <a:custGeom>
              <a:avLst/>
              <a:gdLst>
                <a:gd name="T0" fmla="*/ 0 w 158"/>
                <a:gd name="T1" fmla="*/ 619 h 619"/>
                <a:gd name="T2" fmla="*/ 0 w 158"/>
                <a:gd name="T3" fmla="*/ 0 h 619"/>
                <a:gd name="T4" fmla="*/ 158 w 158"/>
                <a:gd name="T5" fmla="*/ 0 h 619"/>
                <a:gd name="T6" fmla="*/ 158 w 158"/>
                <a:gd name="T7" fmla="*/ 619 h 619"/>
                <a:gd name="T8" fmla="*/ 0 w 158"/>
                <a:gd name="T9" fmla="*/ 619 h 619"/>
                <a:gd name="T10" fmla="*/ 0 w 158"/>
                <a:gd name="T11" fmla="*/ 619 h 619"/>
                <a:gd name="T12" fmla="*/ 0 60000 65536"/>
                <a:gd name="T13" fmla="*/ 0 60000 65536"/>
                <a:gd name="T14" fmla="*/ 0 60000 65536"/>
                <a:gd name="T15" fmla="*/ 0 60000 65536"/>
                <a:gd name="T16" fmla="*/ 0 60000 65536"/>
                <a:gd name="T17" fmla="*/ 0 60000 65536"/>
                <a:gd name="T18" fmla="*/ 0 w 158"/>
                <a:gd name="T19" fmla="*/ 0 h 619"/>
                <a:gd name="T20" fmla="*/ 158 w 158"/>
                <a:gd name="T21" fmla="*/ 619 h 619"/>
              </a:gdLst>
              <a:ahLst/>
              <a:cxnLst>
                <a:cxn ang="T12">
                  <a:pos x="T0" y="T1"/>
                </a:cxn>
                <a:cxn ang="T13">
                  <a:pos x="T2" y="T3"/>
                </a:cxn>
                <a:cxn ang="T14">
                  <a:pos x="T4" y="T5"/>
                </a:cxn>
                <a:cxn ang="T15">
                  <a:pos x="T6" y="T7"/>
                </a:cxn>
                <a:cxn ang="T16">
                  <a:pos x="T8" y="T9"/>
                </a:cxn>
                <a:cxn ang="T17">
                  <a:pos x="T10" y="T11"/>
                </a:cxn>
              </a:cxnLst>
              <a:rect l="T18" t="T19" r="T20" b="T21"/>
              <a:pathLst>
                <a:path w="158" h="619">
                  <a:moveTo>
                    <a:pt x="0" y="619"/>
                  </a:moveTo>
                  <a:lnTo>
                    <a:pt x="0" y="0"/>
                  </a:lnTo>
                  <a:lnTo>
                    <a:pt x="158" y="0"/>
                  </a:lnTo>
                  <a:lnTo>
                    <a:pt x="158" y="619"/>
                  </a:lnTo>
                  <a:lnTo>
                    <a:pt x="0" y="619"/>
                  </a:lnTo>
                </a:path>
              </a:pathLst>
            </a:custGeom>
            <a:noFill/>
            <a:ln w="25400">
              <a:solidFill>
                <a:srgbClr val="000000"/>
              </a:solidFill>
              <a:round/>
              <a:headEnd/>
              <a:tailEnd/>
            </a:ln>
          </p:spPr>
          <p:txBody>
            <a:bodyPr/>
            <a:lstStyle/>
            <a:p>
              <a:endParaRPr lang="zh-TW" altLang="en-US" sz="1350"/>
            </a:p>
          </p:txBody>
        </p:sp>
        <p:sp>
          <p:nvSpPr>
            <p:cNvPr id="55348" name="Freeform 51"/>
            <p:cNvSpPr>
              <a:spLocks/>
            </p:cNvSpPr>
            <p:nvPr/>
          </p:nvSpPr>
          <p:spPr bwMode="auto">
            <a:xfrm>
              <a:off x="2016" y="3544"/>
              <a:ext cx="162" cy="619"/>
            </a:xfrm>
            <a:custGeom>
              <a:avLst/>
              <a:gdLst>
                <a:gd name="T0" fmla="*/ 0 w 162"/>
                <a:gd name="T1" fmla="*/ 619 h 619"/>
                <a:gd name="T2" fmla="*/ 0 w 162"/>
                <a:gd name="T3" fmla="*/ 0 h 619"/>
                <a:gd name="T4" fmla="*/ 162 w 162"/>
                <a:gd name="T5" fmla="*/ 0 h 619"/>
                <a:gd name="T6" fmla="*/ 162 w 162"/>
                <a:gd name="T7" fmla="*/ 619 h 619"/>
                <a:gd name="T8" fmla="*/ 0 w 162"/>
                <a:gd name="T9" fmla="*/ 619 h 619"/>
                <a:gd name="T10" fmla="*/ 0 w 162"/>
                <a:gd name="T11" fmla="*/ 619 h 619"/>
                <a:gd name="T12" fmla="*/ 0 60000 65536"/>
                <a:gd name="T13" fmla="*/ 0 60000 65536"/>
                <a:gd name="T14" fmla="*/ 0 60000 65536"/>
                <a:gd name="T15" fmla="*/ 0 60000 65536"/>
                <a:gd name="T16" fmla="*/ 0 60000 65536"/>
                <a:gd name="T17" fmla="*/ 0 60000 65536"/>
                <a:gd name="T18" fmla="*/ 0 w 162"/>
                <a:gd name="T19" fmla="*/ 0 h 619"/>
                <a:gd name="T20" fmla="*/ 162 w 162"/>
                <a:gd name="T21" fmla="*/ 619 h 619"/>
              </a:gdLst>
              <a:ahLst/>
              <a:cxnLst>
                <a:cxn ang="T12">
                  <a:pos x="T0" y="T1"/>
                </a:cxn>
                <a:cxn ang="T13">
                  <a:pos x="T2" y="T3"/>
                </a:cxn>
                <a:cxn ang="T14">
                  <a:pos x="T4" y="T5"/>
                </a:cxn>
                <a:cxn ang="T15">
                  <a:pos x="T6" y="T7"/>
                </a:cxn>
                <a:cxn ang="T16">
                  <a:pos x="T8" y="T9"/>
                </a:cxn>
                <a:cxn ang="T17">
                  <a:pos x="T10" y="T11"/>
                </a:cxn>
              </a:cxnLst>
              <a:rect l="T18" t="T19" r="T20" b="T21"/>
              <a:pathLst>
                <a:path w="162" h="619">
                  <a:moveTo>
                    <a:pt x="0" y="619"/>
                  </a:moveTo>
                  <a:lnTo>
                    <a:pt x="0" y="0"/>
                  </a:lnTo>
                  <a:lnTo>
                    <a:pt x="162" y="0"/>
                  </a:lnTo>
                  <a:lnTo>
                    <a:pt x="162" y="619"/>
                  </a:lnTo>
                  <a:lnTo>
                    <a:pt x="0" y="619"/>
                  </a:lnTo>
                  <a:close/>
                </a:path>
              </a:pathLst>
            </a:custGeom>
            <a:solidFill>
              <a:srgbClr val="CCCCCC"/>
            </a:solidFill>
            <a:ln w="9525">
              <a:noFill/>
              <a:round/>
              <a:headEnd/>
              <a:tailEnd/>
            </a:ln>
          </p:spPr>
          <p:txBody>
            <a:bodyPr/>
            <a:lstStyle/>
            <a:p>
              <a:endParaRPr lang="zh-TW" altLang="en-US" sz="1350"/>
            </a:p>
          </p:txBody>
        </p:sp>
        <p:sp>
          <p:nvSpPr>
            <p:cNvPr id="55349" name="Freeform 52"/>
            <p:cNvSpPr>
              <a:spLocks/>
            </p:cNvSpPr>
            <p:nvPr/>
          </p:nvSpPr>
          <p:spPr bwMode="auto">
            <a:xfrm>
              <a:off x="2016" y="3544"/>
              <a:ext cx="162" cy="619"/>
            </a:xfrm>
            <a:custGeom>
              <a:avLst/>
              <a:gdLst>
                <a:gd name="T0" fmla="*/ 0 w 162"/>
                <a:gd name="T1" fmla="*/ 619 h 619"/>
                <a:gd name="T2" fmla="*/ 0 w 162"/>
                <a:gd name="T3" fmla="*/ 0 h 619"/>
                <a:gd name="T4" fmla="*/ 162 w 162"/>
                <a:gd name="T5" fmla="*/ 0 h 619"/>
                <a:gd name="T6" fmla="*/ 162 w 162"/>
                <a:gd name="T7" fmla="*/ 619 h 619"/>
                <a:gd name="T8" fmla="*/ 0 w 162"/>
                <a:gd name="T9" fmla="*/ 619 h 619"/>
                <a:gd name="T10" fmla="*/ 0 w 162"/>
                <a:gd name="T11" fmla="*/ 619 h 619"/>
                <a:gd name="T12" fmla="*/ 0 60000 65536"/>
                <a:gd name="T13" fmla="*/ 0 60000 65536"/>
                <a:gd name="T14" fmla="*/ 0 60000 65536"/>
                <a:gd name="T15" fmla="*/ 0 60000 65536"/>
                <a:gd name="T16" fmla="*/ 0 60000 65536"/>
                <a:gd name="T17" fmla="*/ 0 60000 65536"/>
                <a:gd name="T18" fmla="*/ 0 w 162"/>
                <a:gd name="T19" fmla="*/ 0 h 619"/>
                <a:gd name="T20" fmla="*/ 162 w 162"/>
                <a:gd name="T21" fmla="*/ 619 h 619"/>
              </a:gdLst>
              <a:ahLst/>
              <a:cxnLst>
                <a:cxn ang="T12">
                  <a:pos x="T0" y="T1"/>
                </a:cxn>
                <a:cxn ang="T13">
                  <a:pos x="T2" y="T3"/>
                </a:cxn>
                <a:cxn ang="T14">
                  <a:pos x="T4" y="T5"/>
                </a:cxn>
                <a:cxn ang="T15">
                  <a:pos x="T6" y="T7"/>
                </a:cxn>
                <a:cxn ang="T16">
                  <a:pos x="T8" y="T9"/>
                </a:cxn>
                <a:cxn ang="T17">
                  <a:pos x="T10" y="T11"/>
                </a:cxn>
              </a:cxnLst>
              <a:rect l="T18" t="T19" r="T20" b="T21"/>
              <a:pathLst>
                <a:path w="162" h="619">
                  <a:moveTo>
                    <a:pt x="0" y="619"/>
                  </a:moveTo>
                  <a:lnTo>
                    <a:pt x="0" y="0"/>
                  </a:lnTo>
                  <a:lnTo>
                    <a:pt x="162" y="0"/>
                  </a:lnTo>
                  <a:lnTo>
                    <a:pt x="162" y="619"/>
                  </a:lnTo>
                  <a:lnTo>
                    <a:pt x="0" y="619"/>
                  </a:lnTo>
                </a:path>
              </a:pathLst>
            </a:custGeom>
            <a:noFill/>
            <a:ln w="25400">
              <a:solidFill>
                <a:srgbClr val="000000"/>
              </a:solidFill>
              <a:round/>
              <a:headEnd/>
              <a:tailEnd/>
            </a:ln>
          </p:spPr>
          <p:txBody>
            <a:bodyPr/>
            <a:lstStyle/>
            <a:p>
              <a:endParaRPr lang="zh-TW" altLang="en-US" sz="1350"/>
            </a:p>
          </p:txBody>
        </p:sp>
        <p:sp>
          <p:nvSpPr>
            <p:cNvPr id="55350" name="Freeform 53"/>
            <p:cNvSpPr>
              <a:spLocks/>
            </p:cNvSpPr>
            <p:nvPr/>
          </p:nvSpPr>
          <p:spPr bwMode="auto">
            <a:xfrm>
              <a:off x="736" y="3544"/>
              <a:ext cx="163" cy="619"/>
            </a:xfrm>
            <a:custGeom>
              <a:avLst/>
              <a:gdLst>
                <a:gd name="T0" fmla="*/ 0 w 163"/>
                <a:gd name="T1" fmla="*/ 619 h 619"/>
                <a:gd name="T2" fmla="*/ 4 w 163"/>
                <a:gd name="T3" fmla="*/ 0 h 619"/>
                <a:gd name="T4" fmla="*/ 163 w 163"/>
                <a:gd name="T5" fmla="*/ 0 h 619"/>
                <a:gd name="T6" fmla="*/ 163 w 163"/>
                <a:gd name="T7" fmla="*/ 619 h 619"/>
                <a:gd name="T8" fmla="*/ 4 w 163"/>
                <a:gd name="T9" fmla="*/ 619 h 619"/>
                <a:gd name="T10" fmla="*/ 4 w 163"/>
                <a:gd name="T11" fmla="*/ 619 h 619"/>
                <a:gd name="T12" fmla="*/ 0 w 163"/>
                <a:gd name="T13" fmla="*/ 619 h 619"/>
                <a:gd name="T14" fmla="*/ 0 60000 65536"/>
                <a:gd name="T15" fmla="*/ 0 60000 65536"/>
                <a:gd name="T16" fmla="*/ 0 60000 65536"/>
                <a:gd name="T17" fmla="*/ 0 60000 65536"/>
                <a:gd name="T18" fmla="*/ 0 60000 65536"/>
                <a:gd name="T19" fmla="*/ 0 60000 65536"/>
                <a:gd name="T20" fmla="*/ 0 60000 65536"/>
                <a:gd name="T21" fmla="*/ 0 w 163"/>
                <a:gd name="T22" fmla="*/ 0 h 619"/>
                <a:gd name="T23" fmla="*/ 163 w 163"/>
                <a:gd name="T24" fmla="*/ 619 h 61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63" h="619">
                  <a:moveTo>
                    <a:pt x="0" y="619"/>
                  </a:moveTo>
                  <a:lnTo>
                    <a:pt x="4" y="0"/>
                  </a:lnTo>
                  <a:lnTo>
                    <a:pt x="163" y="0"/>
                  </a:lnTo>
                  <a:lnTo>
                    <a:pt x="163" y="619"/>
                  </a:lnTo>
                  <a:lnTo>
                    <a:pt x="4" y="619"/>
                  </a:lnTo>
                  <a:lnTo>
                    <a:pt x="0" y="619"/>
                  </a:lnTo>
                  <a:close/>
                </a:path>
              </a:pathLst>
            </a:custGeom>
            <a:solidFill>
              <a:srgbClr val="CCCCCC"/>
            </a:solidFill>
            <a:ln w="9525">
              <a:noFill/>
              <a:round/>
              <a:headEnd/>
              <a:tailEnd/>
            </a:ln>
          </p:spPr>
          <p:txBody>
            <a:bodyPr/>
            <a:lstStyle/>
            <a:p>
              <a:endParaRPr lang="zh-TW" altLang="en-US" sz="1350"/>
            </a:p>
          </p:txBody>
        </p:sp>
        <p:sp>
          <p:nvSpPr>
            <p:cNvPr id="55351" name="Freeform 54"/>
            <p:cNvSpPr>
              <a:spLocks/>
            </p:cNvSpPr>
            <p:nvPr/>
          </p:nvSpPr>
          <p:spPr bwMode="auto">
            <a:xfrm>
              <a:off x="736" y="3544"/>
              <a:ext cx="163" cy="619"/>
            </a:xfrm>
            <a:custGeom>
              <a:avLst/>
              <a:gdLst>
                <a:gd name="T0" fmla="*/ 0 w 163"/>
                <a:gd name="T1" fmla="*/ 619 h 619"/>
                <a:gd name="T2" fmla="*/ 4 w 163"/>
                <a:gd name="T3" fmla="*/ 0 h 619"/>
                <a:gd name="T4" fmla="*/ 163 w 163"/>
                <a:gd name="T5" fmla="*/ 0 h 619"/>
                <a:gd name="T6" fmla="*/ 163 w 163"/>
                <a:gd name="T7" fmla="*/ 619 h 619"/>
                <a:gd name="T8" fmla="*/ 4 w 163"/>
                <a:gd name="T9" fmla="*/ 619 h 619"/>
                <a:gd name="T10" fmla="*/ 4 w 163"/>
                <a:gd name="T11" fmla="*/ 619 h 619"/>
                <a:gd name="T12" fmla="*/ 0 60000 65536"/>
                <a:gd name="T13" fmla="*/ 0 60000 65536"/>
                <a:gd name="T14" fmla="*/ 0 60000 65536"/>
                <a:gd name="T15" fmla="*/ 0 60000 65536"/>
                <a:gd name="T16" fmla="*/ 0 60000 65536"/>
                <a:gd name="T17" fmla="*/ 0 60000 65536"/>
                <a:gd name="T18" fmla="*/ 0 w 163"/>
                <a:gd name="T19" fmla="*/ 0 h 619"/>
                <a:gd name="T20" fmla="*/ 163 w 163"/>
                <a:gd name="T21" fmla="*/ 619 h 619"/>
              </a:gdLst>
              <a:ahLst/>
              <a:cxnLst>
                <a:cxn ang="T12">
                  <a:pos x="T0" y="T1"/>
                </a:cxn>
                <a:cxn ang="T13">
                  <a:pos x="T2" y="T3"/>
                </a:cxn>
                <a:cxn ang="T14">
                  <a:pos x="T4" y="T5"/>
                </a:cxn>
                <a:cxn ang="T15">
                  <a:pos x="T6" y="T7"/>
                </a:cxn>
                <a:cxn ang="T16">
                  <a:pos x="T8" y="T9"/>
                </a:cxn>
                <a:cxn ang="T17">
                  <a:pos x="T10" y="T11"/>
                </a:cxn>
              </a:cxnLst>
              <a:rect l="T18" t="T19" r="T20" b="T21"/>
              <a:pathLst>
                <a:path w="163" h="619">
                  <a:moveTo>
                    <a:pt x="0" y="619"/>
                  </a:moveTo>
                  <a:lnTo>
                    <a:pt x="4" y="0"/>
                  </a:lnTo>
                  <a:lnTo>
                    <a:pt x="163" y="0"/>
                  </a:lnTo>
                  <a:lnTo>
                    <a:pt x="163" y="619"/>
                  </a:lnTo>
                  <a:lnTo>
                    <a:pt x="4" y="619"/>
                  </a:lnTo>
                </a:path>
              </a:pathLst>
            </a:custGeom>
            <a:noFill/>
            <a:ln w="25400">
              <a:solidFill>
                <a:srgbClr val="000000"/>
              </a:solidFill>
              <a:round/>
              <a:headEnd/>
              <a:tailEnd/>
            </a:ln>
          </p:spPr>
          <p:txBody>
            <a:bodyPr/>
            <a:lstStyle/>
            <a:p>
              <a:endParaRPr lang="zh-TW" altLang="en-US" sz="1350"/>
            </a:p>
          </p:txBody>
        </p:sp>
        <p:sp>
          <p:nvSpPr>
            <p:cNvPr id="55352" name="Freeform 55"/>
            <p:cNvSpPr>
              <a:spLocks/>
            </p:cNvSpPr>
            <p:nvPr/>
          </p:nvSpPr>
          <p:spPr bwMode="auto">
            <a:xfrm>
              <a:off x="578" y="3544"/>
              <a:ext cx="5162" cy="619"/>
            </a:xfrm>
            <a:custGeom>
              <a:avLst/>
              <a:gdLst>
                <a:gd name="T0" fmla="*/ 5158 w 5162"/>
                <a:gd name="T1" fmla="*/ 619 h 619"/>
                <a:gd name="T2" fmla="*/ 5162 w 5162"/>
                <a:gd name="T3" fmla="*/ 0 h 619"/>
                <a:gd name="T4" fmla="*/ 0 w 5162"/>
                <a:gd name="T5" fmla="*/ 0 h 619"/>
                <a:gd name="T6" fmla="*/ 0 w 5162"/>
                <a:gd name="T7" fmla="*/ 619 h 619"/>
                <a:gd name="T8" fmla="*/ 5162 w 5162"/>
                <a:gd name="T9" fmla="*/ 619 h 619"/>
                <a:gd name="T10" fmla="*/ 5162 w 5162"/>
                <a:gd name="T11" fmla="*/ 619 h 619"/>
                <a:gd name="T12" fmla="*/ 0 60000 65536"/>
                <a:gd name="T13" fmla="*/ 0 60000 65536"/>
                <a:gd name="T14" fmla="*/ 0 60000 65536"/>
                <a:gd name="T15" fmla="*/ 0 60000 65536"/>
                <a:gd name="T16" fmla="*/ 0 60000 65536"/>
                <a:gd name="T17" fmla="*/ 0 60000 65536"/>
                <a:gd name="T18" fmla="*/ 0 w 5162"/>
                <a:gd name="T19" fmla="*/ 0 h 619"/>
                <a:gd name="T20" fmla="*/ 5162 w 5162"/>
                <a:gd name="T21" fmla="*/ 619 h 619"/>
              </a:gdLst>
              <a:ahLst/>
              <a:cxnLst>
                <a:cxn ang="T12">
                  <a:pos x="T0" y="T1"/>
                </a:cxn>
                <a:cxn ang="T13">
                  <a:pos x="T2" y="T3"/>
                </a:cxn>
                <a:cxn ang="T14">
                  <a:pos x="T4" y="T5"/>
                </a:cxn>
                <a:cxn ang="T15">
                  <a:pos x="T6" y="T7"/>
                </a:cxn>
                <a:cxn ang="T16">
                  <a:pos x="T8" y="T9"/>
                </a:cxn>
                <a:cxn ang="T17">
                  <a:pos x="T10" y="T11"/>
                </a:cxn>
              </a:cxnLst>
              <a:rect l="T18" t="T19" r="T20" b="T21"/>
              <a:pathLst>
                <a:path w="5162" h="619">
                  <a:moveTo>
                    <a:pt x="5158" y="619"/>
                  </a:moveTo>
                  <a:lnTo>
                    <a:pt x="5162" y="0"/>
                  </a:lnTo>
                  <a:lnTo>
                    <a:pt x="0" y="0"/>
                  </a:lnTo>
                  <a:lnTo>
                    <a:pt x="0" y="619"/>
                  </a:lnTo>
                  <a:lnTo>
                    <a:pt x="5162" y="619"/>
                  </a:lnTo>
                </a:path>
              </a:pathLst>
            </a:custGeom>
            <a:noFill/>
            <a:ln w="25400">
              <a:solidFill>
                <a:srgbClr val="000000"/>
              </a:solidFill>
              <a:round/>
              <a:headEnd/>
              <a:tailEnd/>
            </a:ln>
          </p:spPr>
          <p:txBody>
            <a:bodyPr/>
            <a:lstStyle/>
            <a:p>
              <a:endParaRPr lang="zh-TW" altLang="en-US" sz="1350"/>
            </a:p>
          </p:txBody>
        </p:sp>
        <p:sp>
          <p:nvSpPr>
            <p:cNvPr id="55353" name="Freeform 56"/>
            <p:cNvSpPr>
              <a:spLocks/>
            </p:cNvSpPr>
            <p:nvPr/>
          </p:nvSpPr>
          <p:spPr bwMode="auto">
            <a:xfrm>
              <a:off x="2634" y="2879"/>
              <a:ext cx="71" cy="41"/>
            </a:xfrm>
            <a:custGeom>
              <a:avLst/>
              <a:gdLst>
                <a:gd name="T0" fmla="*/ 0 w 71"/>
                <a:gd name="T1" fmla="*/ 13 h 41"/>
                <a:gd name="T2" fmla="*/ 48 w 71"/>
                <a:gd name="T3" fmla="*/ 41 h 41"/>
                <a:gd name="T4" fmla="*/ 71 w 71"/>
                <a:gd name="T5" fmla="*/ 0 h 41"/>
                <a:gd name="T6" fmla="*/ 0 w 71"/>
                <a:gd name="T7" fmla="*/ 13 h 41"/>
                <a:gd name="T8" fmla="*/ 0 w 71"/>
                <a:gd name="T9" fmla="*/ 13 h 41"/>
                <a:gd name="T10" fmla="*/ 0 60000 65536"/>
                <a:gd name="T11" fmla="*/ 0 60000 65536"/>
                <a:gd name="T12" fmla="*/ 0 60000 65536"/>
                <a:gd name="T13" fmla="*/ 0 60000 65536"/>
                <a:gd name="T14" fmla="*/ 0 60000 65536"/>
                <a:gd name="T15" fmla="*/ 0 w 71"/>
                <a:gd name="T16" fmla="*/ 0 h 41"/>
                <a:gd name="T17" fmla="*/ 71 w 71"/>
                <a:gd name="T18" fmla="*/ 41 h 41"/>
              </a:gdLst>
              <a:ahLst/>
              <a:cxnLst>
                <a:cxn ang="T10">
                  <a:pos x="T0" y="T1"/>
                </a:cxn>
                <a:cxn ang="T11">
                  <a:pos x="T2" y="T3"/>
                </a:cxn>
                <a:cxn ang="T12">
                  <a:pos x="T4" y="T5"/>
                </a:cxn>
                <a:cxn ang="T13">
                  <a:pos x="T6" y="T7"/>
                </a:cxn>
                <a:cxn ang="T14">
                  <a:pos x="T8" y="T9"/>
                </a:cxn>
              </a:cxnLst>
              <a:rect l="T15" t="T16" r="T17" b="T18"/>
              <a:pathLst>
                <a:path w="71" h="41">
                  <a:moveTo>
                    <a:pt x="0" y="13"/>
                  </a:moveTo>
                  <a:lnTo>
                    <a:pt x="48" y="41"/>
                  </a:lnTo>
                  <a:lnTo>
                    <a:pt x="71" y="0"/>
                  </a:lnTo>
                  <a:lnTo>
                    <a:pt x="0" y="13"/>
                  </a:lnTo>
                  <a:close/>
                </a:path>
              </a:pathLst>
            </a:custGeom>
            <a:solidFill>
              <a:srgbClr val="000000"/>
            </a:solidFill>
            <a:ln w="9525">
              <a:noFill/>
              <a:round/>
              <a:headEnd/>
              <a:tailEnd/>
            </a:ln>
          </p:spPr>
          <p:txBody>
            <a:bodyPr/>
            <a:lstStyle/>
            <a:p>
              <a:endParaRPr lang="zh-TW" altLang="en-US" sz="1350"/>
            </a:p>
          </p:txBody>
        </p:sp>
        <p:sp>
          <p:nvSpPr>
            <p:cNvPr id="55354" name="Freeform 57"/>
            <p:cNvSpPr>
              <a:spLocks/>
            </p:cNvSpPr>
            <p:nvPr/>
          </p:nvSpPr>
          <p:spPr bwMode="auto">
            <a:xfrm>
              <a:off x="2650" y="2915"/>
              <a:ext cx="67" cy="41"/>
            </a:xfrm>
            <a:custGeom>
              <a:avLst/>
              <a:gdLst>
                <a:gd name="T0" fmla="*/ 0 w 67"/>
                <a:gd name="T1" fmla="*/ 32 h 41"/>
                <a:gd name="T2" fmla="*/ 67 w 67"/>
                <a:gd name="T3" fmla="*/ 41 h 41"/>
                <a:gd name="T4" fmla="*/ 47 w 67"/>
                <a:gd name="T5" fmla="*/ 0 h 41"/>
                <a:gd name="T6" fmla="*/ 4 w 67"/>
                <a:gd name="T7" fmla="*/ 34 h 41"/>
                <a:gd name="T8" fmla="*/ 4 w 67"/>
                <a:gd name="T9" fmla="*/ 34 h 41"/>
                <a:gd name="T10" fmla="*/ 0 w 67"/>
                <a:gd name="T11" fmla="*/ 32 h 41"/>
                <a:gd name="T12" fmla="*/ 0 60000 65536"/>
                <a:gd name="T13" fmla="*/ 0 60000 65536"/>
                <a:gd name="T14" fmla="*/ 0 60000 65536"/>
                <a:gd name="T15" fmla="*/ 0 60000 65536"/>
                <a:gd name="T16" fmla="*/ 0 60000 65536"/>
                <a:gd name="T17" fmla="*/ 0 60000 65536"/>
                <a:gd name="T18" fmla="*/ 0 w 67"/>
                <a:gd name="T19" fmla="*/ 0 h 41"/>
                <a:gd name="T20" fmla="*/ 67 w 67"/>
                <a:gd name="T21" fmla="*/ 41 h 41"/>
              </a:gdLst>
              <a:ahLst/>
              <a:cxnLst>
                <a:cxn ang="T12">
                  <a:pos x="T0" y="T1"/>
                </a:cxn>
                <a:cxn ang="T13">
                  <a:pos x="T2" y="T3"/>
                </a:cxn>
                <a:cxn ang="T14">
                  <a:pos x="T4" y="T5"/>
                </a:cxn>
                <a:cxn ang="T15">
                  <a:pos x="T6" y="T7"/>
                </a:cxn>
                <a:cxn ang="T16">
                  <a:pos x="T8" y="T9"/>
                </a:cxn>
                <a:cxn ang="T17">
                  <a:pos x="T10" y="T11"/>
                </a:cxn>
              </a:cxnLst>
              <a:rect l="T18" t="T19" r="T20" b="T21"/>
              <a:pathLst>
                <a:path w="67" h="41">
                  <a:moveTo>
                    <a:pt x="0" y="32"/>
                  </a:moveTo>
                  <a:lnTo>
                    <a:pt x="67" y="41"/>
                  </a:lnTo>
                  <a:lnTo>
                    <a:pt x="47" y="0"/>
                  </a:lnTo>
                  <a:lnTo>
                    <a:pt x="4" y="34"/>
                  </a:lnTo>
                  <a:lnTo>
                    <a:pt x="0" y="32"/>
                  </a:lnTo>
                  <a:close/>
                </a:path>
              </a:pathLst>
            </a:custGeom>
            <a:solidFill>
              <a:srgbClr val="000000"/>
            </a:solidFill>
            <a:ln w="9525">
              <a:noFill/>
              <a:round/>
              <a:headEnd/>
              <a:tailEnd/>
            </a:ln>
          </p:spPr>
          <p:txBody>
            <a:bodyPr/>
            <a:lstStyle/>
            <a:p>
              <a:endParaRPr lang="zh-TW" altLang="en-US" sz="1350"/>
            </a:p>
          </p:txBody>
        </p:sp>
        <p:sp>
          <p:nvSpPr>
            <p:cNvPr id="55355" name="Freeform 58"/>
            <p:cNvSpPr>
              <a:spLocks/>
            </p:cNvSpPr>
            <p:nvPr/>
          </p:nvSpPr>
          <p:spPr bwMode="auto">
            <a:xfrm>
              <a:off x="2729" y="2931"/>
              <a:ext cx="64" cy="43"/>
            </a:xfrm>
            <a:custGeom>
              <a:avLst/>
              <a:gdLst>
                <a:gd name="T0" fmla="*/ 4 w 64"/>
                <a:gd name="T1" fmla="*/ 43 h 43"/>
                <a:gd name="T2" fmla="*/ 64 w 64"/>
                <a:gd name="T3" fmla="*/ 25 h 43"/>
                <a:gd name="T4" fmla="*/ 0 w 64"/>
                <a:gd name="T5" fmla="*/ 0 h 43"/>
                <a:gd name="T6" fmla="*/ 4 w 64"/>
                <a:gd name="T7" fmla="*/ 43 h 43"/>
                <a:gd name="T8" fmla="*/ 4 w 64"/>
                <a:gd name="T9" fmla="*/ 43 h 43"/>
                <a:gd name="T10" fmla="*/ 0 60000 65536"/>
                <a:gd name="T11" fmla="*/ 0 60000 65536"/>
                <a:gd name="T12" fmla="*/ 0 60000 65536"/>
                <a:gd name="T13" fmla="*/ 0 60000 65536"/>
                <a:gd name="T14" fmla="*/ 0 60000 65536"/>
                <a:gd name="T15" fmla="*/ 0 w 64"/>
                <a:gd name="T16" fmla="*/ 0 h 43"/>
                <a:gd name="T17" fmla="*/ 64 w 64"/>
                <a:gd name="T18" fmla="*/ 43 h 43"/>
              </a:gdLst>
              <a:ahLst/>
              <a:cxnLst>
                <a:cxn ang="T10">
                  <a:pos x="T0" y="T1"/>
                </a:cxn>
                <a:cxn ang="T11">
                  <a:pos x="T2" y="T3"/>
                </a:cxn>
                <a:cxn ang="T12">
                  <a:pos x="T4" y="T5"/>
                </a:cxn>
                <a:cxn ang="T13">
                  <a:pos x="T6" y="T7"/>
                </a:cxn>
                <a:cxn ang="T14">
                  <a:pos x="T8" y="T9"/>
                </a:cxn>
              </a:cxnLst>
              <a:rect l="T15" t="T16" r="T17" b="T18"/>
              <a:pathLst>
                <a:path w="64" h="43">
                  <a:moveTo>
                    <a:pt x="4" y="43"/>
                  </a:moveTo>
                  <a:lnTo>
                    <a:pt x="64" y="25"/>
                  </a:lnTo>
                  <a:lnTo>
                    <a:pt x="0" y="0"/>
                  </a:lnTo>
                  <a:lnTo>
                    <a:pt x="4" y="43"/>
                  </a:lnTo>
                  <a:close/>
                </a:path>
              </a:pathLst>
            </a:custGeom>
            <a:solidFill>
              <a:srgbClr val="000000"/>
            </a:solidFill>
            <a:ln w="9525">
              <a:noFill/>
              <a:round/>
              <a:headEnd/>
              <a:tailEnd/>
            </a:ln>
          </p:spPr>
          <p:txBody>
            <a:bodyPr/>
            <a:lstStyle/>
            <a:p>
              <a:endParaRPr lang="zh-TW" altLang="en-US" sz="1350"/>
            </a:p>
          </p:txBody>
        </p:sp>
        <p:sp>
          <p:nvSpPr>
            <p:cNvPr id="55356" name="Freeform 59"/>
            <p:cNvSpPr>
              <a:spLocks/>
            </p:cNvSpPr>
            <p:nvPr/>
          </p:nvSpPr>
          <p:spPr bwMode="auto">
            <a:xfrm>
              <a:off x="2733" y="2897"/>
              <a:ext cx="75" cy="36"/>
            </a:xfrm>
            <a:custGeom>
              <a:avLst/>
              <a:gdLst>
                <a:gd name="T0" fmla="*/ 32 w 75"/>
                <a:gd name="T1" fmla="*/ 36 h 36"/>
                <a:gd name="T2" fmla="*/ 75 w 75"/>
                <a:gd name="T3" fmla="*/ 7 h 36"/>
                <a:gd name="T4" fmla="*/ 0 w 75"/>
                <a:gd name="T5" fmla="*/ 0 h 36"/>
                <a:gd name="T6" fmla="*/ 32 w 75"/>
                <a:gd name="T7" fmla="*/ 36 h 36"/>
                <a:gd name="T8" fmla="*/ 32 w 75"/>
                <a:gd name="T9" fmla="*/ 36 h 36"/>
                <a:gd name="T10" fmla="*/ 0 60000 65536"/>
                <a:gd name="T11" fmla="*/ 0 60000 65536"/>
                <a:gd name="T12" fmla="*/ 0 60000 65536"/>
                <a:gd name="T13" fmla="*/ 0 60000 65536"/>
                <a:gd name="T14" fmla="*/ 0 60000 65536"/>
                <a:gd name="T15" fmla="*/ 0 w 75"/>
                <a:gd name="T16" fmla="*/ 0 h 36"/>
                <a:gd name="T17" fmla="*/ 75 w 75"/>
                <a:gd name="T18" fmla="*/ 36 h 36"/>
              </a:gdLst>
              <a:ahLst/>
              <a:cxnLst>
                <a:cxn ang="T10">
                  <a:pos x="T0" y="T1"/>
                </a:cxn>
                <a:cxn ang="T11">
                  <a:pos x="T2" y="T3"/>
                </a:cxn>
                <a:cxn ang="T12">
                  <a:pos x="T4" y="T5"/>
                </a:cxn>
                <a:cxn ang="T13">
                  <a:pos x="T6" y="T7"/>
                </a:cxn>
                <a:cxn ang="T14">
                  <a:pos x="T8" y="T9"/>
                </a:cxn>
              </a:cxnLst>
              <a:rect l="T15" t="T16" r="T17" b="T18"/>
              <a:pathLst>
                <a:path w="75" h="36">
                  <a:moveTo>
                    <a:pt x="32" y="36"/>
                  </a:moveTo>
                  <a:lnTo>
                    <a:pt x="75" y="7"/>
                  </a:lnTo>
                  <a:lnTo>
                    <a:pt x="0" y="0"/>
                  </a:lnTo>
                  <a:lnTo>
                    <a:pt x="32" y="36"/>
                  </a:lnTo>
                  <a:close/>
                </a:path>
              </a:pathLst>
            </a:custGeom>
            <a:solidFill>
              <a:srgbClr val="000000"/>
            </a:solidFill>
            <a:ln w="9525">
              <a:noFill/>
              <a:round/>
              <a:headEnd/>
              <a:tailEnd/>
            </a:ln>
          </p:spPr>
          <p:txBody>
            <a:bodyPr/>
            <a:lstStyle/>
            <a:p>
              <a:endParaRPr lang="zh-TW" altLang="en-US" sz="1350"/>
            </a:p>
          </p:txBody>
        </p:sp>
        <p:sp>
          <p:nvSpPr>
            <p:cNvPr id="55357" name="Line 60"/>
            <p:cNvSpPr>
              <a:spLocks noChangeShapeType="1"/>
            </p:cNvSpPr>
            <p:nvPr/>
          </p:nvSpPr>
          <p:spPr bwMode="auto">
            <a:xfrm flipV="1">
              <a:off x="820" y="2897"/>
              <a:ext cx="1858" cy="955"/>
            </a:xfrm>
            <a:prstGeom prst="line">
              <a:avLst/>
            </a:prstGeom>
            <a:noFill/>
            <a:ln w="25400">
              <a:solidFill>
                <a:srgbClr val="000000"/>
              </a:solidFill>
              <a:round/>
              <a:headEnd/>
              <a:tailEnd/>
            </a:ln>
          </p:spPr>
          <p:txBody>
            <a:bodyPr/>
            <a:lstStyle/>
            <a:p>
              <a:endParaRPr lang="zh-TW" altLang="en-US" sz="1350"/>
            </a:p>
          </p:txBody>
        </p:sp>
        <p:sp>
          <p:nvSpPr>
            <p:cNvPr id="55358" name="Line 61"/>
            <p:cNvSpPr>
              <a:spLocks noChangeShapeType="1"/>
            </p:cNvSpPr>
            <p:nvPr/>
          </p:nvSpPr>
          <p:spPr bwMode="auto">
            <a:xfrm flipV="1">
              <a:off x="2095" y="2940"/>
              <a:ext cx="595" cy="912"/>
            </a:xfrm>
            <a:prstGeom prst="line">
              <a:avLst/>
            </a:prstGeom>
            <a:noFill/>
            <a:ln w="25400">
              <a:solidFill>
                <a:srgbClr val="000000"/>
              </a:solidFill>
              <a:round/>
              <a:headEnd/>
              <a:tailEnd/>
            </a:ln>
          </p:spPr>
          <p:txBody>
            <a:bodyPr/>
            <a:lstStyle/>
            <a:p>
              <a:endParaRPr lang="zh-TW" altLang="en-US" sz="1350"/>
            </a:p>
          </p:txBody>
        </p:sp>
        <p:sp>
          <p:nvSpPr>
            <p:cNvPr id="55359" name="Line 62"/>
            <p:cNvSpPr>
              <a:spLocks noChangeShapeType="1"/>
            </p:cNvSpPr>
            <p:nvPr/>
          </p:nvSpPr>
          <p:spPr bwMode="auto">
            <a:xfrm flipH="1" flipV="1">
              <a:off x="2749" y="2953"/>
              <a:ext cx="626" cy="899"/>
            </a:xfrm>
            <a:prstGeom prst="line">
              <a:avLst/>
            </a:prstGeom>
            <a:noFill/>
            <a:ln w="25400">
              <a:solidFill>
                <a:srgbClr val="000000"/>
              </a:solidFill>
              <a:round/>
              <a:headEnd/>
              <a:tailEnd/>
            </a:ln>
          </p:spPr>
          <p:txBody>
            <a:bodyPr/>
            <a:lstStyle/>
            <a:p>
              <a:endParaRPr lang="zh-TW" altLang="en-US" sz="1350"/>
            </a:p>
          </p:txBody>
        </p:sp>
        <p:sp>
          <p:nvSpPr>
            <p:cNvPr id="55360" name="Line 63"/>
            <p:cNvSpPr>
              <a:spLocks noChangeShapeType="1"/>
            </p:cNvSpPr>
            <p:nvPr/>
          </p:nvSpPr>
          <p:spPr bwMode="auto">
            <a:xfrm flipH="1" flipV="1">
              <a:off x="2769" y="2910"/>
              <a:ext cx="1886" cy="942"/>
            </a:xfrm>
            <a:prstGeom prst="line">
              <a:avLst/>
            </a:prstGeom>
            <a:noFill/>
            <a:ln w="25400">
              <a:solidFill>
                <a:srgbClr val="000000"/>
              </a:solidFill>
              <a:round/>
              <a:headEnd/>
              <a:tailEnd/>
            </a:ln>
          </p:spPr>
          <p:txBody>
            <a:bodyPr/>
            <a:lstStyle/>
            <a:p>
              <a:endParaRPr lang="zh-TW" altLang="en-US" sz="1350"/>
            </a:p>
          </p:txBody>
        </p:sp>
        <p:sp>
          <p:nvSpPr>
            <p:cNvPr id="55361" name="Freeform 64"/>
            <p:cNvSpPr>
              <a:spLocks/>
            </p:cNvSpPr>
            <p:nvPr/>
          </p:nvSpPr>
          <p:spPr bwMode="auto">
            <a:xfrm>
              <a:off x="3399" y="2888"/>
              <a:ext cx="67" cy="41"/>
            </a:xfrm>
            <a:custGeom>
              <a:avLst/>
              <a:gdLst>
                <a:gd name="T0" fmla="*/ 67 w 67"/>
                <a:gd name="T1" fmla="*/ 13 h 41"/>
                <a:gd name="T2" fmla="*/ 20 w 67"/>
                <a:gd name="T3" fmla="*/ 41 h 41"/>
                <a:gd name="T4" fmla="*/ 0 w 67"/>
                <a:gd name="T5" fmla="*/ 0 h 41"/>
                <a:gd name="T6" fmla="*/ 67 w 67"/>
                <a:gd name="T7" fmla="*/ 13 h 41"/>
                <a:gd name="T8" fmla="*/ 67 w 67"/>
                <a:gd name="T9" fmla="*/ 13 h 41"/>
                <a:gd name="T10" fmla="*/ 0 60000 65536"/>
                <a:gd name="T11" fmla="*/ 0 60000 65536"/>
                <a:gd name="T12" fmla="*/ 0 60000 65536"/>
                <a:gd name="T13" fmla="*/ 0 60000 65536"/>
                <a:gd name="T14" fmla="*/ 0 60000 65536"/>
                <a:gd name="T15" fmla="*/ 0 w 67"/>
                <a:gd name="T16" fmla="*/ 0 h 41"/>
                <a:gd name="T17" fmla="*/ 67 w 67"/>
                <a:gd name="T18" fmla="*/ 41 h 41"/>
              </a:gdLst>
              <a:ahLst/>
              <a:cxnLst>
                <a:cxn ang="T10">
                  <a:pos x="T0" y="T1"/>
                </a:cxn>
                <a:cxn ang="T11">
                  <a:pos x="T2" y="T3"/>
                </a:cxn>
                <a:cxn ang="T12">
                  <a:pos x="T4" y="T5"/>
                </a:cxn>
                <a:cxn ang="T13">
                  <a:pos x="T6" y="T7"/>
                </a:cxn>
                <a:cxn ang="T14">
                  <a:pos x="T8" y="T9"/>
                </a:cxn>
              </a:cxnLst>
              <a:rect l="T15" t="T16" r="T17" b="T18"/>
              <a:pathLst>
                <a:path w="67" h="41">
                  <a:moveTo>
                    <a:pt x="67" y="13"/>
                  </a:moveTo>
                  <a:lnTo>
                    <a:pt x="20" y="41"/>
                  </a:lnTo>
                  <a:lnTo>
                    <a:pt x="0" y="0"/>
                  </a:lnTo>
                  <a:lnTo>
                    <a:pt x="67" y="13"/>
                  </a:lnTo>
                  <a:close/>
                </a:path>
              </a:pathLst>
            </a:custGeom>
            <a:solidFill>
              <a:srgbClr val="000000"/>
            </a:solidFill>
            <a:ln w="9525">
              <a:noFill/>
              <a:round/>
              <a:headEnd/>
              <a:tailEnd/>
            </a:ln>
          </p:spPr>
          <p:txBody>
            <a:bodyPr/>
            <a:lstStyle/>
            <a:p>
              <a:endParaRPr lang="zh-TW" altLang="en-US" sz="1350"/>
            </a:p>
          </p:txBody>
        </p:sp>
        <p:sp>
          <p:nvSpPr>
            <p:cNvPr id="55362" name="Freeform 65"/>
            <p:cNvSpPr>
              <a:spLocks/>
            </p:cNvSpPr>
            <p:nvPr/>
          </p:nvSpPr>
          <p:spPr bwMode="auto">
            <a:xfrm>
              <a:off x="3371" y="2926"/>
              <a:ext cx="63" cy="41"/>
            </a:xfrm>
            <a:custGeom>
              <a:avLst/>
              <a:gdLst>
                <a:gd name="T0" fmla="*/ 63 w 63"/>
                <a:gd name="T1" fmla="*/ 32 h 41"/>
                <a:gd name="T2" fmla="*/ 0 w 63"/>
                <a:gd name="T3" fmla="*/ 41 h 41"/>
                <a:gd name="T4" fmla="*/ 16 w 63"/>
                <a:gd name="T5" fmla="*/ 0 h 41"/>
                <a:gd name="T6" fmla="*/ 63 w 63"/>
                <a:gd name="T7" fmla="*/ 32 h 41"/>
                <a:gd name="T8" fmla="*/ 63 w 63"/>
                <a:gd name="T9" fmla="*/ 32 h 41"/>
                <a:gd name="T10" fmla="*/ 0 60000 65536"/>
                <a:gd name="T11" fmla="*/ 0 60000 65536"/>
                <a:gd name="T12" fmla="*/ 0 60000 65536"/>
                <a:gd name="T13" fmla="*/ 0 60000 65536"/>
                <a:gd name="T14" fmla="*/ 0 60000 65536"/>
                <a:gd name="T15" fmla="*/ 0 w 63"/>
                <a:gd name="T16" fmla="*/ 0 h 41"/>
                <a:gd name="T17" fmla="*/ 63 w 63"/>
                <a:gd name="T18" fmla="*/ 41 h 41"/>
              </a:gdLst>
              <a:ahLst/>
              <a:cxnLst>
                <a:cxn ang="T10">
                  <a:pos x="T0" y="T1"/>
                </a:cxn>
                <a:cxn ang="T11">
                  <a:pos x="T2" y="T3"/>
                </a:cxn>
                <a:cxn ang="T12">
                  <a:pos x="T4" y="T5"/>
                </a:cxn>
                <a:cxn ang="T13">
                  <a:pos x="T6" y="T7"/>
                </a:cxn>
                <a:cxn ang="T14">
                  <a:pos x="T8" y="T9"/>
                </a:cxn>
              </a:cxnLst>
              <a:rect l="T15" t="T16" r="T17" b="T18"/>
              <a:pathLst>
                <a:path w="63" h="41">
                  <a:moveTo>
                    <a:pt x="63" y="32"/>
                  </a:moveTo>
                  <a:lnTo>
                    <a:pt x="0" y="41"/>
                  </a:lnTo>
                  <a:lnTo>
                    <a:pt x="16" y="0"/>
                  </a:lnTo>
                  <a:lnTo>
                    <a:pt x="63" y="32"/>
                  </a:lnTo>
                  <a:close/>
                </a:path>
              </a:pathLst>
            </a:custGeom>
            <a:solidFill>
              <a:srgbClr val="000000"/>
            </a:solidFill>
            <a:ln w="9525">
              <a:noFill/>
              <a:round/>
              <a:headEnd/>
              <a:tailEnd/>
            </a:ln>
          </p:spPr>
          <p:txBody>
            <a:bodyPr/>
            <a:lstStyle/>
            <a:p>
              <a:endParaRPr lang="zh-TW" altLang="en-US" sz="1350"/>
            </a:p>
          </p:txBody>
        </p:sp>
        <p:sp>
          <p:nvSpPr>
            <p:cNvPr id="55363" name="Freeform 66"/>
            <p:cNvSpPr>
              <a:spLocks/>
            </p:cNvSpPr>
            <p:nvPr/>
          </p:nvSpPr>
          <p:spPr bwMode="auto">
            <a:xfrm>
              <a:off x="3288" y="2931"/>
              <a:ext cx="59" cy="43"/>
            </a:xfrm>
            <a:custGeom>
              <a:avLst/>
              <a:gdLst>
                <a:gd name="T0" fmla="*/ 55 w 59"/>
                <a:gd name="T1" fmla="*/ 43 h 43"/>
                <a:gd name="T2" fmla="*/ 0 w 59"/>
                <a:gd name="T3" fmla="*/ 25 h 43"/>
                <a:gd name="T4" fmla="*/ 59 w 59"/>
                <a:gd name="T5" fmla="*/ 0 h 43"/>
                <a:gd name="T6" fmla="*/ 59 w 59"/>
                <a:gd name="T7" fmla="*/ 43 h 43"/>
                <a:gd name="T8" fmla="*/ 59 w 59"/>
                <a:gd name="T9" fmla="*/ 43 h 43"/>
                <a:gd name="T10" fmla="*/ 55 w 59"/>
                <a:gd name="T11" fmla="*/ 43 h 43"/>
                <a:gd name="T12" fmla="*/ 0 60000 65536"/>
                <a:gd name="T13" fmla="*/ 0 60000 65536"/>
                <a:gd name="T14" fmla="*/ 0 60000 65536"/>
                <a:gd name="T15" fmla="*/ 0 60000 65536"/>
                <a:gd name="T16" fmla="*/ 0 60000 65536"/>
                <a:gd name="T17" fmla="*/ 0 60000 65536"/>
                <a:gd name="T18" fmla="*/ 0 w 59"/>
                <a:gd name="T19" fmla="*/ 0 h 43"/>
                <a:gd name="T20" fmla="*/ 59 w 59"/>
                <a:gd name="T21" fmla="*/ 43 h 43"/>
              </a:gdLst>
              <a:ahLst/>
              <a:cxnLst>
                <a:cxn ang="T12">
                  <a:pos x="T0" y="T1"/>
                </a:cxn>
                <a:cxn ang="T13">
                  <a:pos x="T2" y="T3"/>
                </a:cxn>
                <a:cxn ang="T14">
                  <a:pos x="T4" y="T5"/>
                </a:cxn>
                <a:cxn ang="T15">
                  <a:pos x="T6" y="T7"/>
                </a:cxn>
                <a:cxn ang="T16">
                  <a:pos x="T8" y="T9"/>
                </a:cxn>
                <a:cxn ang="T17">
                  <a:pos x="T10" y="T11"/>
                </a:cxn>
              </a:cxnLst>
              <a:rect l="T18" t="T19" r="T20" b="T21"/>
              <a:pathLst>
                <a:path w="59" h="43">
                  <a:moveTo>
                    <a:pt x="55" y="43"/>
                  </a:moveTo>
                  <a:lnTo>
                    <a:pt x="0" y="25"/>
                  </a:lnTo>
                  <a:lnTo>
                    <a:pt x="59" y="0"/>
                  </a:lnTo>
                  <a:lnTo>
                    <a:pt x="59" y="43"/>
                  </a:lnTo>
                  <a:lnTo>
                    <a:pt x="55" y="43"/>
                  </a:lnTo>
                  <a:close/>
                </a:path>
              </a:pathLst>
            </a:custGeom>
            <a:solidFill>
              <a:srgbClr val="000000"/>
            </a:solidFill>
            <a:ln w="9525">
              <a:noFill/>
              <a:round/>
              <a:headEnd/>
              <a:tailEnd/>
            </a:ln>
          </p:spPr>
          <p:txBody>
            <a:bodyPr/>
            <a:lstStyle/>
            <a:p>
              <a:endParaRPr lang="zh-TW" altLang="en-US" sz="1350"/>
            </a:p>
          </p:txBody>
        </p:sp>
        <p:sp>
          <p:nvSpPr>
            <p:cNvPr id="55364" name="Freeform 67"/>
            <p:cNvSpPr>
              <a:spLocks/>
            </p:cNvSpPr>
            <p:nvPr/>
          </p:nvSpPr>
          <p:spPr bwMode="auto">
            <a:xfrm>
              <a:off x="3240" y="2910"/>
              <a:ext cx="72" cy="39"/>
            </a:xfrm>
            <a:custGeom>
              <a:avLst/>
              <a:gdLst>
                <a:gd name="T0" fmla="*/ 36 w 72"/>
                <a:gd name="T1" fmla="*/ 37 h 39"/>
                <a:gd name="T2" fmla="*/ 0 w 72"/>
                <a:gd name="T3" fmla="*/ 7 h 39"/>
                <a:gd name="T4" fmla="*/ 72 w 72"/>
                <a:gd name="T5" fmla="*/ 0 h 39"/>
                <a:gd name="T6" fmla="*/ 40 w 72"/>
                <a:gd name="T7" fmla="*/ 39 h 39"/>
                <a:gd name="T8" fmla="*/ 40 w 72"/>
                <a:gd name="T9" fmla="*/ 39 h 39"/>
                <a:gd name="T10" fmla="*/ 36 w 72"/>
                <a:gd name="T11" fmla="*/ 37 h 39"/>
                <a:gd name="T12" fmla="*/ 0 60000 65536"/>
                <a:gd name="T13" fmla="*/ 0 60000 65536"/>
                <a:gd name="T14" fmla="*/ 0 60000 65536"/>
                <a:gd name="T15" fmla="*/ 0 60000 65536"/>
                <a:gd name="T16" fmla="*/ 0 60000 65536"/>
                <a:gd name="T17" fmla="*/ 0 60000 65536"/>
                <a:gd name="T18" fmla="*/ 0 w 72"/>
                <a:gd name="T19" fmla="*/ 0 h 39"/>
                <a:gd name="T20" fmla="*/ 72 w 72"/>
                <a:gd name="T21" fmla="*/ 39 h 39"/>
              </a:gdLst>
              <a:ahLst/>
              <a:cxnLst>
                <a:cxn ang="T12">
                  <a:pos x="T0" y="T1"/>
                </a:cxn>
                <a:cxn ang="T13">
                  <a:pos x="T2" y="T3"/>
                </a:cxn>
                <a:cxn ang="T14">
                  <a:pos x="T4" y="T5"/>
                </a:cxn>
                <a:cxn ang="T15">
                  <a:pos x="T6" y="T7"/>
                </a:cxn>
                <a:cxn ang="T16">
                  <a:pos x="T8" y="T9"/>
                </a:cxn>
                <a:cxn ang="T17">
                  <a:pos x="T10" y="T11"/>
                </a:cxn>
              </a:cxnLst>
              <a:rect l="T18" t="T19" r="T20" b="T21"/>
              <a:pathLst>
                <a:path w="72" h="39">
                  <a:moveTo>
                    <a:pt x="36" y="37"/>
                  </a:moveTo>
                  <a:lnTo>
                    <a:pt x="0" y="7"/>
                  </a:lnTo>
                  <a:lnTo>
                    <a:pt x="72" y="0"/>
                  </a:lnTo>
                  <a:lnTo>
                    <a:pt x="40" y="39"/>
                  </a:lnTo>
                  <a:lnTo>
                    <a:pt x="36" y="37"/>
                  </a:lnTo>
                  <a:close/>
                </a:path>
              </a:pathLst>
            </a:custGeom>
            <a:solidFill>
              <a:srgbClr val="000000"/>
            </a:solidFill>
            <a:ln w="9525">
              <a:noFill/>
              <a:round/>
              <a:headEnd/>
              <a:tailEnd/>
            </a:ln>
          </p:spPr>
          <p:txBody>
            <a:bodyPr/>
            <a:lstStyle/>
            <a:p>
              <a:endParaRPr lang="zh-TW" altLang="en-US" sz="1350"/>
            </a:p>
          </p:txBody>
        </p:sp>
        <p:sp>
          <p:nvSpPr>
            <p:cNvPr id="55365" name="Line 68"/>
            <p:cNvSpPr>
              <a:spLocks noChangeShapeType="1"/>
            </p:cNvSpPr>
            <p:nvPr/>
          </p:nvSpPr>
          <p:spPr bwMode="auto">
            <a:xfrm flipV="1">
              <a:off x="1457" y="2924"/>
              <a:ext cx="1823" cy="928"/>
            </a:xfrm>
            <a:prstGeom prst="line">
              <a:avLst/>
            </a:prstGeom>
            <a:noFill/>
            <a:ln w="25400">
              <a:solidFill>
                <a:srgbClr val="000000"/>
              </a:solidFill>
              <a:round/>
              <a:headEnd/>
              <a:tailEnd/>
            </a:ln>
          </p:spPr>
          <p:txBody>
            <a:bodyPr/>
            <a:lstStyle/>
            <a:p>
              <a:endParaRPr lang="zh-TW" altLang="en-US" sz="1350"/>
            </a:p>
          </p:txBody>
        </p:sp>
        <p:sp>
          <p:nvSpPr>
            <p:cNvPr id="55366" name="Line 69"/>
            <p:cNvSpPr>
              <a:spLocks noChangeShapeType="1"/>
            </p:cNvSpPr>
            <p:nvPr/>
          </p:nvSpPr>
          <p:spPr bwMode="auto">
            <a:xfrm flipV="1">
              <a:off x="2737" y="2953"/>
              <a:ext cx="590" cy="899"/>
            </a:xfrm>
            <a:prstGeom prst="line">
              <a:avLst/>
            </a:prstGeom>
            <a:noFill/>
            <a:ln w="25400">
              <a:solidFill>
                <a:srgbClr val="000000"/>
              </a:solidFill>
              <a:round/>
              <a:headEnd/>
              <a:tailEnd/>
            </a:ln>
          </p:spPr>
          <p:txBody>
            <a:bodyPr/>
            <a:lstStyle/>
            <a:p>
              <a:endParaRPr lang="zh-TW" altLang="en-US" sz="1350"/>
            </a:p>
          </p:txBody>
        </p:sp>
        <p:sp>
          <p:nvSpPr>
            <p:cNvPr id="55367" name="Line 70"/>
            <p:cNvSpPr>
              <a:spLocks noChangeShapeType="1"/>
            </p:cNvSpPr>
            <p:nvPr/>
          </p:nvSpPr>
          <p:spPr bwMode="auto">
            <a:xfrm flipH="1" flipV="1">
              <a:off x="3399" y="2949"/>
              <a:ext cx="618" cy="903"/>
            </a:xfrm>
            <a:prstGeom prst="line">
              <a:avLst/>
            </a:prstGeom>
            <a:noFill/>
            <a:ln w="25400">
              <a:solidFill>
                <a:srgbClr val="000000"/>
              </a:solidFill>
              <a:round/>
              <a:headEnd/>
              <a:tailEnd/>
            </a:ln>
          </p:spPr>
          <p:txBody>
            <a:bodyPr/>
            <a:lstStyle/>
            <a:p>
              <a:endParaRPr lang="zh-TW" altLang="en-US" sz="1350"/>
            </a:p>
          </p:txBody>
        </p:sp>
        <p:sp>
          <p:nvSpPr>
            <p:cNvPr id="55368" name="Line 71"/>
            <p:cNvSpPr>
              <a:spLocks noChangeShapeType="1"/>
            </p:cNvSpPr>
            <p:nvPr/>
          </p:nvSpPr>
          <p:spPr bwMode="auto">
            <a:xfrm flipH="1" flipV="1">
              <a:off x="3426" y="2906"/>
              <a:ext cx="1870" cy="946"/>
            </a:xfrm>
            <a:prstGeom prst="line">
              <a:avLst/>
            </a:prstGeom>
            <a:noFill/>
            <a:ln w="25400">
              <a:solidFill>
                <a:srgbClr val="000000"/>
              </a:solidFill>
              <a:round/>
              <a:headEnd/>
              <a:tailEnd/>
            </a:ln>
          </p:spPr>
          <p:txBody>
            <a:bodyPr/>
            <a:lstStyle/>
            <a:p>
              <a:endParaRPr lang="zh-TW" altLang="en-US" sz="1350"/>
            </a:p>
          </p:txBody>
        </p:sp>
        <p:sp>
          <p:nvSpPr>
            <p:cNvPr id="55369" name="Freeform 72"/>
            <p:cNvSpPr>
              <a:spLocks/>
            </p:cNvSpPr>
            <p:nvPr/>
          </p:nvSpPr>
          <p:spPr bwMode="auto">
            <a:xfrm>
              <a:off x="788" y="3834"/>
              <a:ext cx="67" cy="39"/>
            </a:xfrm>
            <a:custGeom>
              <a:avLst/>
              <a:gdLst>
                <a:gd name="T0" fmla="*/ 32 w 67"/>
                <a:gd name="T1" fmla="*/ 39 h 39"/>
                <a:gd name="T2" fmla="*/ 39 w 67"/>
                <a:gd name="T3" fmla="*/ 39 h 39"/>
                <a:gd name="T4" fmla="*/ 43 w 67"/>
                <a:gd name="T5" fmla="*/ 39 h 39"/>
                <a:gd name="T6" fmla="*/ 47 w 67"/>
                <a:gd name="T7" fmla="*/ 36 h 39"/>
                <a:gd name="T8" fmla="*/ 51 w 67"/>
                <a:gd name="T9" fmla="*/ 34 h 39"/>
                <a:gd name="T10" fmla="*/ 55 w 67"/>
                <a:gd name="T11" fmla="*/ 34 h 39"/>
                <a:gd name="T12" fmla="*/ 59 w 67"/>
                <a:gd name="T13" fmla="*/ 32 h 39"/>
                <a:gd name="T14" fmla="*/ 63 w 67"/>
                <a:gd name="T15" fmla="*/ 27 h 39"/>
                <a:gd name="T16" fmla="*/ 63 w 67"/>
                <a:gd name="T17" fmla="*/ 25 h 39"/>
                <a:gd name="T18" fmla="*/ 63 w 67"/>
                <a:gd name="T19" fmla="*/ 23 h 39"/>
                <a:gd name="T20" fmla="*/ 67 w 67"/>
                <a:gd name="T21" fmla="*/ 21 h 39"/>
                <a:gd name="T22" fmla="*/ 63 w 67"/>
                <a:gd name="T23" fmla="*/ 16 h 39"/>
                <a:gd name="T24" fmla="*/ 63 w 67"/>
                <a:gd name="T25" fmla="*/ 14 h 39"/>
                <a:gd name="T26" fmla="*/ 63 w 67"/>
                <a:gd name="T27" fmla="*/ 12 h 39"/>
                <a:gd name="T28" fmla="*/ 59 w 67"/>
                <a:gd name="T29" fmla="*/ 9 h 39"/>
                <a:gd name="T30" fmla="*/ 55 w 67"/>
                <a:gd name="T31" fmla="*/ 7 h 39"/>
                <a:gd name="T32" fmla="*/ 51 w 67"/>
                <a:gd name="T33" fmla="*/ 5 h 39"/>
                <a:gd name="T34" fmla="*/ 47 w 67"/>
                <a:gd name="T35" fmla="*/ 3 h 39"/>
                <a:gd name="T36" fmla="*/ 43 w 67"/>
                <a:gd name="T37" fmla="*/ 3 h 39"/>
                <a:gd name="T38" fmla="*/ 39 w 67"/>
                <a:gd name="T39" fmla="*/ 0 h 39"/>
                <a:gd name="T40" fmla="*/ 32 w 67"/>
                <a:gd name="T41" fmla="*/ 0 h 39"/>
                <a:gd name="T42" fmla="*/ 28 w 67"/>
                <a:gd name="T43" fmla="*/ 0 h 39"/>
                <a:gd name="T44" fmla="*/ 24 w 67"/>
                <a:gd name="T45" fmla="*/ 3 h 39"/>
                <a:gd name="T46" fmla="*/ 16 w 67"/>
                <a:gd name="T47" fmla="*/ 3 h 39"/>
                <a:gd name="T48" fmla="*/ 12 w 67"/>
                <a:gd name="T49" fmla="*/ 5 h 39"/>
                <a:gd name="T50" fmla="*/ 8 w 67"/>
                <a:gd name="T51" fmla="*/ 7 h 39"/>
                <a:gd name="T52" fmla="*/ 8 w 67"/>
                <a:gd name="T53" fmla="*/ 9 h 39"/>
                <a:gd name="T54" fmla="*/ 4 w 67"/>
                <a:gd name="T55" fmla="*/ 12 h 39"/>
                <a:gd name="T56" fmla="*/ 0 w 67"/>
                <a:gd name="T57" fmla="*/ 14 h 39"/>
                <a:gd name="T58" fmla="*/ 0 w 67"/>
                <a:gd name="T59" fmla="*/ 16 h 39"/>
                <a:gd name="T60" fmla="*/ 0 w 67"/>
                <a:gd name="T61" fmla="*/ 21 h 39"/>
                <a:gd name="T62" fmla="*/ 0 w 67"/>
                <a:gd name="T63" fmla="*/ 23 h 39"/>
                <a:gd name="T64" fmla="*/ 0 w 67"/>
                <a:gd name="T65" fmla="*/ 25 h 39"/>
                <a:gd name="T66" fmla="*/ 4 w 67"/>
                <a:gd name="T67" fmla="*/ 27 h 39"/>
                <a:gd name="T68" fmla="*/ 8 w 67"/>
                <a:gd name="T69" fmla="*/ 32 h 39"/>
                <a:gd name="T70" fmla="*/ 8 w 67"/>
                <a:gd name="T71" fmla="*/ 34 h 39"/>
                <a:gd name="T72" fmla="*/ 12 w 67"/>
                <a:gd name="T73" fmla="*/ 34 h 39"/>
                <a:gd name="T74" fmla="*/ 16 w 67"/>
                <a:gd name="T75" fmla="*/ 36 h 39"/>
                <a:gd name="T76" fmla="*/ 24 w 67"/>
                <a:gd name="T77" fmla="*/ 39 h 39"/>
                <a:gd name="T78" fmla="*/ 28 w 67"/>
                <a:gd name="T79" fmla="*/ 39 h 39"/>
                <a:gd name="T80" fmla="*/ 32 w 67"/>
                <a:gd name="T81" fmla="*/ 39 h 39"/>
                <a:gd name="T82" fmla="*/ 32 w 67"/>
                <a:gd name="T83" fmla="*/ 39 h 39"/>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w 67"/>
                <a:gd name="T127" fmla="*/ 0 h 39"/>
                <a:gd name="T128" fmla="*/ 67 w 67"/>
                <a:gd name="T129" fmla="*/ 39 h 39"/>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T126" t="T127" r="T128" b="T129"/>
              <a:pathLst>
                <a:path w="67" h="39">
                  <a:moveTo>
                    <a:pt x="32" y="39"/>
                  </a:moveTo>
                  <a:lnTo>
                    <a:pt x="39" y="39"/>
                  </a:lnTo>
                  <a:lnTo>
                    <a:pt x="43" y="39"/>
                  </a:lnTo>
                  <a:lnTo>
                    <a:pt x="47" y="36"/>
                  </a:lnTo>
                  <a:lnTo>
                    <a:pt x="51" y="34"/>
                  </a:lnTo>
                  <a:lnTo>
                    <a:pt x="55" y="34"/>
                  </a:lnTo>
                  <a:lnTo>
                    <a:pt x="59" y="32"/>
                  </a:lnTo>
                  <a:lnTo>
                    <a:pt x="63" y="27"/>
                  </a:lnTo>
                  <a:lnTo>
                    <a:pt x="63" y="25"/>
                  </a:lnTo>
                  <a:lnTo>
                    <a:pt x="63" y="23"/>
                  </a:lnTo>
                  <a:lnTo>
                    <a:pt x="67" y="21"/>
                  </a:lnTo>
                  <a:lnTo>
                    <a:pt x="63" y="16"/>
                  </a:lnTo>
                  <a:lnTo>
                    <a:pt x="63" y="14"/>
                  </a:lnTo>
                  <a:lnTo>
                    <a:pt x="63" y="12"/>
                  </a:lnTo>
                  <a:lnTo>
                    <a:pt x="59" y="9"/>
                  </a:lnTo>
                  <a:lnTo>
                    <a:pt x="55" y="7"/>
                  </a:lnTo>
                  <a:lnTo>
                    <a:pt x="51" y="5"/>
                  </a:lnTo>
                  <a:lnTo>
                    <a:pt x="47" y="3"/>
                  </a:lnTo>
                  <a:lnTo>
                    <a:pt x="43" y="3"/>
                  </a:lnTo>
                  <a:lnTo>
                    <a:pt x="39" y="0"/>
                  </a:lnTo>
                  <a:lnTo>
                    <a:pt x="32" y="0"/>
                  </a:lnTo>
                  <a:lnTo>
                    <a:pt x="28" y="0"/>
                  </a:lnTo>
                  <a:lnTo>
                    <a:pt x="24" y="3"/>
                  </a:lnTo>
                  <a:lnTo>
                    <a:pt x="16" y="3"/>
                  </a:lnTo>
                  <a:lnTo>
                    <a:pt x="12" y="5"/>
                  </a:lnTo>
                  <a:lnTo>
                    <a:pt x="8" y="7"/>
                  </a:lnTo>
                  <a:lnTo>
                    <a:pt x="8" y="9"/>
                  </a:lnTo>
                  <a:lnTo>
                    <a:pt x="4" y="12"/>
                  </a:lnTo>
                  <a:lnTo>
                    <a:pt x="0" y="14"/>
                  </a:lnTo>
                  <a:lnTo>
                    <a:pt x="0" y="16"/>
                  </a:lnTo>
                  <a:lnTo>
                    <a:pt x="0" y="21"/>
                  </a:lnTo>
                  <a:lnTo>
                    <a:pt x="0" y="23"/>
                  </a:lnTo>
                  <a:lnTo>
                    <a:pt x="0" y="25"/>
                  </a:lnTo>
                  <a:lnTo>
                    <a:pt x="4" y="27"/>
                  </a:lnTo>
                  <a:lnTo>
                    <a:pt x="8" y="32"/>
                  </a:lnTo>
                  <a:lnTo>
                    <a:pt x="8" y="34"/>
                  </a:lnTo>
                  <a:lnTo>
                    <a:pt x="12" y="34"/>
                  </a:lnTo>
                  <a:lnTo>
                    <a:pt x="16" y="36"/>
                  </a:lnTo>
                  <a:lnTo>
                    <a:pt x="24" y="39"/>
                  </a:lnTo>
                  <a:lnTo>
                    <a:pt x="28" y="39"/>
                  </a:lnTo>
                  <a:lnTo>
                    <a:pt x="32" y="39"/>
                  </a:lnTo>
                  <a:close/>
                </a:path>
              </a:pathLst>
            </a:custGeom>
            <a:solidFill>
              <a:srgbClr val="000000"/>
            </a:solidFill>
            <a:ln w="9525">
              <a:noFill/>
              <a:round/>
              <a:headEnd/>
              <a:tailEnd/>
            </a:ln>
          </p:spPr>
          <p:txBody>
            <a:bodyPr/>
            <a:lstStyle/>
            <a:p>
              <a:endParaRPr lang="zh-TW" altLang="en-US" sz="1350"/>
            </a:p>
          </p:txBody>
        </p:sp>
        <p:sp>
          <p:nvSpPr>
            <p:cNvPr id="55370" name="Freeform 73"/>
            <p:cNvSpPr>
              <a:spLocks/>
            </p:cNvSpPr>
            <p:nvPr/>
          </p:nvSpPr>
          <p:spPr bwMode="auto">
            <a:xfrm>
              <a:off x="1426" y="3834"/>
              <a:ext cx="67" cy="39"/>
            </a:xfrm>
            <a:custGeom>
              <a:avLst/>
              <a:gdLst>
                <a:gd name="T0" fmla="*/ 31 w 67"/>
                <a:gd name="T1" fmla="*/ 39 h 39"/>
                <a:gd name="T2" fmla="*/ 39 w 67"/>
                <a:gd name="T3" fmla="*/ 39 h 39"/>
                <a:gd name="T4" fmla="*/ 43 w 67"/>
                <a:gd name="T5" fmla="*/ 39 h 39"/>
                <a:gd name="T6" fmla="*/ 51 w 67"/>
                <a:gd name="T7" fmla="*/ 36 h 39"/>
                <a:gd name="T8" fmla="*/ 55 w 67"/>
                <a:gd name="T9" fmla="*/ 34 h 39"/>
                <a:gd name="T10" fmla="*/ 59 w 67"/>
                <a:gd name="T11" fmla="*/ 34 h 39"/>
                <a:gd name="T12" fmla="*/ 59 w 67"/>
                <a:gd name="T13" fmla="*/ 32 h 39"/>
                <a:gd name="T14" fmla="*/ 63 w 67"/>
                <a:gd name="T15" fmla="*/ 27 h 39"/>
                <a:gd name="T16" fmla="*/ 67 w 67"/>
                <a:gd name="T17" fmla="*/ 25 h 39"/>
                <a:gd name="T18" fmla="*/ 67 w 67"/>
                <a:gd name="T19" fmla="*/ 23 h 39"/>
                <a:gd name="T20" fmla="*/ 67 w 67"/>
                <a:gd name="T21" fmla="*/ 21 h 39"/>
                <a:gd name="T22" fmla="*/ 67 w 67"/>
                <a:gd name="T23" fmla="*/ 16 h 39"/>
                <a:gd name="T24" fmla="*/ 67 w 67"/>
                <a:gd name="T25" fmla="*/ 14 h 39"/>
                <a:gd name="T26" fmla="*/ 63 w 67"/>
                <a:gd name="T27" fmla="*/ 12 h 39"/>
                <a:gd name="T28" fmla="*/ 59 w 67"/>
                <a:gd name="T29" fmla="*/ 9 h 39"/>
                <a:gd name="T30" fmla="*/ 59 w 67"/>
                <a:gd name="T31" fmla="*/ 7 h 39"/>
                <a:gd name="T32" fmla="*/ 55 w 67"/>
                <a:gd name="T33" fmla="*/ 5 h 39"/>
                <a:gd name="T34" fmla="*/ 51 w 67"/>
                <a:gd name="T35" fmla="*/ 3 h 39"/>
                <a:gd name="T36" fmla="*/ 43 w 67"/>
                <a:gd name="T37" fmla="*/ 3 h 39"/>
                <a:gd name="T38" fmla="*/ 39 w 67"/>
                <a:gd name="T39" fmla="*/ 0 h 39"/>
                <a:gd name="T40" fmla="*/ 35 w 67"/>
                <a:gd name="T41" fmla="*/ 0 h 39"/>
                <a:gd name="T42" fmla="*/ 27 w 67"/>
                <a:gd name="T43" fmla="*/ 0 h 39"/>
                <a:gd name="T44" fmla="*/ 23 w 67"/>
                <a:gd name="T45" fmla="*/ 3 h 39"/>
                <a:gd name="T46" fmla="*/ 20 w 67"/>
                <a:gd name="T47" fmla="*/ 3 h 39"/>
                <a:gd name="T48" fmla="*/ 16 w 67"/>
                <a:gd name="T49" fmla="*/ 5 h 39"/>
                <a:gd name="T50" fmla="*/ 12 w 67"/>
                <a:gd name="T51" fmla="*/ 7 h 39"/>
                <a:gd name="T52" fmla="*/ 8 w 67"/>
                <a:gd name="T53" fmla="*/ 9 h 39"/>
                <a:gd name="T54" fmla="*/ 4 w 67"/>
                <a:gd name="T55" fmla="*/ 12 h 39"/>
                <a:gd name="T56" fmla="*/ 4 w 67"/>
                <a:gd name="T57" fmla="*/ 14 h 39"/>
                <a:gd name="T58" fmla="*/ 0 w 67"/>
                <a:gd name="T59" fmla="*/ 16 h 39"/>
                <a:gd name="T60" fmla="*/ 0 w 67"/>
                <a:gd name="T61" fmla="*/ 21 h 39"/>
                <a:gd name="T62" fmla="*/ 0 w 67"/>
                <a:gd name="T63" fmla="*/ 23 h 39"/>
                <a:gd name="T64" fmla="*/ 4 w 67"/>
                <a:gd name="T65" fmla="*/ 25 h 39"/>
                <a:gd name="T66" fmla="*/ 4 w 67"/>
                <a:gd name="T67" fmla="*/ 27 h 39"/>
                <a:gd name="T68" fmla="*/ 8 w 67"/>
                <a:gd name="T69" fmla="*/ 32 h 39"/>
                <a:gd name="T70" fmla="*/ 12 w 67"/>
                <a:gd name="T71" fmla="*/ 34 h 39"/>
                <a:gd name="T72" fmla="*/ 16 w 67"/>
                <a:gd name="T73" fmla="*/ 34 h 39"/>
                <a:gd name="T74" fmla="*/ 20 w 67"/>
                <a:gd name="T75" fmla="*/ 36 h 39"/>
                <a:gd name="T76" fmla="*/ 23 w 67"/>
                <a:gd name="T77" fmla="*/ 39 h 39"/>
                <a:gd name="T78" fmla="*/ 27 w 67"/>
                <a:gd name="T79" fmla="*/ 39 h 39"/>
                <a:gd name="T80" fmla="*/ 35 w 67"/>
                <a:gd name="T81" fmla="*/ 39 h 39"/>
                <a:gd name="T82" fmla="*/ 35 w 67"/>
                <a:gd name="T83" fmla="*/ 39 h 39"/>
                <a:gd name="T84" fmla="*/ 31 w 67"/>
                <a:gd name="T85" fmla="*/ 39 h 39"/>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w 67"/>
                <a:gd name="T130" fmla="*/ 0 h 39"/>
                <a:gd name="T131" fmla="*/ 67 w 67"/>
                <a:gd name="T132" fmla="*/ 39 h 39"/>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T129" t="T130" r="T131" b="T132"/>
              <a:pathLst>
                <a:path w="67" h="39">
                  <a:moveTo>
                    <a:pt x="31" y="39"/>
                  </a:moveTo>
                  <a:lnTo>
                    <a:pt x="39" y="39"/>
                  </a:lnTo>
                  <a:lnTo>
                    <a:pt x="43" y="39"/>
                  </a:lnTo>
                  <a:lnTo>
                    <a:pt x="51" y="36"/>
                  </a:lnTo>
                  <a:lnTo>
                    <a:pt x="55" y="34"/>
                  </a:lnTo>
                  <a:lnTo>
                    <a:pt x="59" y="34"/>
                  </a:lnTo>
                  <a:lnTo>
                    <a:pt x="59" y="32"/>
                  </a:lnTo>
                  <a:lnTo>
                    <a:pt x="63" y="27"/>
                  </a:lnTo>
                  <a:lnTo>
                    <a:pt x="67" y="25"/>
                  </a:lnTo>
                  <a:lnTo>
                    <a:pt x="67" y="23"/>
                  </a:lnTo>
                  <a:lnTo>
                    <a:pt x="67" y="21"/>
                  </a:lnTo>
                  <a:lnTo>
                    <a:pt x="67" y="16"/>
                  </a:lnTo>
                  <a:lnTo>
                    <a:pt x="67" y="14"/>
                  </a:lnTo>
                  <a:lnTo>
                    <a:pt x="63" y="12"/>
                  </a:lnTo>
                  <a:lnTo>
                    <a:pt x="59" y="9"/>
                  </a:lnTo>
                  <a:lnTo>
                    <a:pt x="59" y="7"/>
                  </a:lnTo>
                  <a:lnTo>
                    <a:pt x="55" y="5"/>
                  </a:lnTo>
                  <a:lnTo>
                    <a:pt x="51" y="3"/>
                  </a:lnTo>
                  <a:lnTo>
                    <a:pt x="43" y="3"/>
                  </a:lnTo>
                  <a:lnTo>
                    <a:pt x="39" y="0"/>
                  </a:lnTo>
                  <a:lnTo>
                    <a:pt x="35" y="0"/>
                  </a:lnTo>
                  <a:lnTo>
                    <a:pt x="27" y="0"/>
                  </a:lnTo>
                  <a:lnTo>
                    <a:pt x="23" y="3"/>
                  </a:lnTo>
                  <a:lnTo>
                    <a:pt x="20" y="3"/>
                  </a:lnTo>
                  <a:lnTo>
                    <a:pt x="16" y="5"/>
                  </a:lnTo>
                  <a:lnTo>
                    <a:pt x="12" y="7"/>
                  </a:lnTo>
                  <a:lnTo>
                    <a:pt x="8" y="9"/>
                  </a:lnTo>
                  <a:lnTo>
                    <a:pt x="4" y="12"/>
                  </a:lnTo>
                  <a:lnTo>
                    <a:pt x="4" y="14"/>
                  </a:lnTo>
                  <a:lnTo>
                    <a:pt x="0" y="16"/>
                  </a:lnTo>
                  <a:lnTo>
                    <a:pt x="0" y="21"/>
                  </a:lnTo>
                  <a:lnTo>
                    <a:pt x="0" y="23"/>
                  </a:lnTo>
                  <a:lnTo>
                    <a:pt x="4" y="25"/>
                  </a:lnTo>
                  <a:lnTo>
                    <a:pt x="4" y="27"/>
                  </a:lnTo>
                  <a:lnTo>
                    <a:pt x="8" y="32"/>
                  </a:lnTo>
                  <a:lnTo>
                    <a:pt x="12" y="34"/>
                  </a:lnTo>
                  <a:lnTo>
                    <a:pt x="16" y="34"/>
                  </a:lnTo>
                  <a:lnTo>
                    <a:pt x="20" y="36"/>
                  </a:lnTo>
                  <a:lnTo>
                    <a:pt x="23" y="39"/>
                  </a:lnTo>
                  <a:lnTo>
                    <a:pt x="27" y="39"/>
                  </a:lnTo>
                  <a:lnTo>
                    <a:pt x="35" y="39"/>
                  </a:lnTo>
                  <a:lnTo>
                    <a:pt x="31" y="39"/>
                  </a:lnTo>
                  <a:close/>
                </a:path>
              </a:pathLst>
            </a:custGeom>
            <a:solidFill>
              <a:srgbClr val="000000"/>
            </a:solidFill>
            <a:ln w="9525">
              <a:noFill/>
              <a:round/>
              <a:headEnd/>
              <a:tailEnd/>
            </a:ln>
          </p:spPr>
          <p:txBody>
            <a:bodyPr/>
            <a:lstStyle/>
            <a:p>
              <a:endParaRPr lang="zh-TW" altLang="en-US" sz="1350"/>
            </a:p>
          </p:txBody>
        </p:sp>
        <p:sp>
          <p:nvSpPr>
            <p:cNvPr id="55371" name="Freeform 74"/>
            <p:cNvSpPr>
              <a:spLocks/>
            </p:cNvSpPr>
            <p:nvPr/>
          </p:nvSpPr>
          <p:spPr bwMode="auto">
            <a:xfrm>
              <a:off x="2068" y="3834"/>
              <a:ext cx="63" cy="39"/>
            </a:xfrm>
            <a:custGeom>
              <a:avLst/>
              <a:gdLst>
                <a:gd name="T0" fmla="*/ 31 w 63"/>
                <a:gd name="T1" fmla="*/ 39 h 39"/>
                <a:gd name="T2" fmla="*/ 39 w 63"/>
                <a:gd name="T3" fmla="*/ 39 h 39"/>
                <a:gd name="T4" fmla="*/ 43 w 63"/>
                <a:gd name="T5" fmla="*/ 39 h 39"/>
                <a:gd name="T6" fmla="*/ 47 w 63"/>
                <a:gd name="T7" fmla="*/ 36 h 39"/>
                <a:gd name="T8" fmla="*/ 51 w 63"/>
                <a:gd name="T9" fmla="*/ 34 h 39"/>
                <a:gd name="T10" fmla="*/ 55 w 63"/>
                <a:gd name="T11" fmla="*/ 34 h 39"/>
                <a:gd name="T12" fmla="*/ 59 w 63"/>
                <a:gd name="T13" fmla="*/ 32 h 39"/>
                <a:gd name="T14" fmla="*/ 63 w 63"/>
                <a:gd name="T15" fmla="*/ 27 h 39"/>
                <a:gd name="T16" fmla="*/ 63 w 63"/>
                <a:gd name="T17" fmla="*/ 25 h 39"/>
                <a:gd name="T18" fmla="*/ 63 w 63"/>
                <a:gd name="T19" fmla="*/ 23 h 39"/>
                <a:gd name="T20" fmla="*/ 63 w 63"/>
                <a:gd name="T21" fmla="*/ 21 h 39"/>
                <a:gd name="T22" fmla="*/ 63 w 63"/>
                <a:gd name="T23" fmla="*/ 16 h 39"/>
                <a:gd name="T24" fmla="*/ 63 w 63"/>
                <a:gd name="T25" fmla="*/ 14 h 39"/>
                <a:gd name="T26" fmla="*/ 63 w 63"/>
                <a:gd name="T27" fmla="*/ 12 h 39"/>
                <a:gd name="T28" fmla="*/ 59 w 63"/>
                <a:gd name="T29" fmla="*/ 9 h 39"/>
                <a:gd name="T30" fmla="*/ 55 w 63"/>
                <a:gd name="T31" fmla="*/ 7 h 39"/>
                <a:gd name="T32" fmla="*/ 51 w 63"/>
                <a:gd name="T33" fmla="*/ 5 h 39"/>
                <a:gd name="T34" fmla="*/ 47 w 63"/>
                <a:gd name="T35" fmla="*/ 3 h 39"/>
                <a:gd name="T36" fmla="*/ 43 w 63"/>
                <a:gd name="T37" fmla="*/ 3 h 39"/>
                <a:gd name="T38" fmla="*/ 39 w 63"/>
                <a:gd name="T39" fmla="*/ 0 h 39"/>
                <a:gd name="T40" fmla="*/ 31 w 63"/>
                <a:gd name="T41" fmla="*/ 0 h 39"/>
                <a:gd name="T42" fmla="*/ 27 w 63"/>
                <a:gd name="T43" fmla="*/ 0 h 39"/>
                <a:gd name="T44" fmla="*/ 23 w 63"/>
                <a:gd name="T45" fmla="*/ 3 h 39"/>
                <a:gd name="T46" fmla="*/ 15 w 63"/>
                <a:gd name="T47" fmla="*/ 3 h 39"/>
                <a:gd name="T48" fmla="*/ 11 w 63"/>
                <a:gd name="T49" fmla="*/ 5 h 39"/>
                <a:gd name="T50" fmla="*/ 7 w 63"/>
                <a:gd name="T51" fmla="*/ 7 h 39"/>
                <a:gd name="T52" fmla="*/ 3 w 63"/>
                <a:gd name="T53" fmla="*/ 9 h 39"/>
                <a:gd name="T54" fmla="*/ 3 w 63"/>
                <a:gd name="T55" fmla="*/ 12 h 39"/>
                <a:gd name="T56" fmla="*/ 0 w 63"/>
                <a:gd name="T57" fmla="*/ 14 h 39"/>
                <a:gd name="T58" fmla="*/ 0 w 63"/>
                <a:gd name="T59" fmla="*/ 16 h 39"/>
                <a:gd name="T60" fmla="*/ 0 w 63"/>
                <a:gd name="T61" fmla="*/ 21 h 39"/>
                <a:gd name="T62" fmla="*/ 0 w 63"/>
                <a:gd name="T63" fmla="*/ 23 h 39"/>
                <a:gd name="T64" fmla="*/ 0 w 63"/>
                <a:gd name="T65" fmla="*/ 25 h 39"/>
                <a:gd name="T66" fmla="*/ 3 w 63"/>
                <a:gd name="T67" fmla="*/ 27 h 39"/>
                <a:gd name="T68" fmla="*/ 3 w 63"/>
                <a:gd name="T69" fmla="*/ 32 h 39"/>
                <a:gd name="T70" fmla="*/ 7 w 63"/>
                <a:gd name="T71" fmla="*/ 34 h 39"/>
                <a:gd name="T72" fmla="*/ 11 w 63"/>
                <a:gd name="T73" fmla="*/ 34 h 39"/>
                <a:gd name="T74" fmla="*/ 15 w 63"/>
                <a:gd name="T75" fmla="*/ 36 h 39"/>
                <a:gd name="T76" fmla="*/ 23 w 63"/>
                <a:gd name="T77" fmla="*/ 39 h 39"/>
                <a:gd name="T78" fmla="*/ 27 w 63"/>
                <a:gd name="T79" fmla="*/ 39 h 39"/>
                <a:gd name="T80" fmla="*/ 31 w 63"/>
                <a:gd name="T81" fmla="*/ 39 h 39"/>
                <a:gd name="T82" fmla="*/ 31 w 63"/>
                <a:gd name="T83" fmla="*/ 39 h 39"/>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w 63"/>
                <a:gd name="T127" fmla="*/ 0 h 39"/>
                <a:gd name="T128" fmla="*/ 63 w 63"/>
                <a:gd name="T129" fmla="*/ 39 h 39"/>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T126" t="T127" r="T128" b="T129"/>
              <a:pathLst>
                <a:path w="63" h="39">
                  <a:moveTo>
                    <a:pt x="31" y="39"/>
                  </a:moveTo>
                  <a:lnTo>
                    <a:pt x="39" y="39"/>
                  </a:lnTo>
                  <a:lnTo>
                    <a:pt x="43" y="39"/>
                  </a:lnTo>
                  <a:lnTo>
                    <a:pt x="47" y="36"/>
                  </a:lnTo>
                  <a:lnTo>
                    <a:pt x="51" y="34"/>
                  </a:lnTo>
                  <a:lnTo>
                    <a:pt x="55" y="34"/>
                  </a:lnTo>
                  <a:lnTo>
                    <a:pt x="59" y="32"/>
                  </a:lnTo>
                  <a:lnTo>
                    <a:pt x="63" y="27"/>
                  </a:lnTo>
                  <a:lnTo>
                    <a:pt x="63" y="25"/>
                  </a:lnTo>
                  <a:lnTo>
                    <a:pt x="63" y="23"/>
                  </a:lnTo>
                  <a:lnTo>
                    <a:pt x="63" y="21"/>
                  </a:lnTo>
                  <a:lnTo>
                    <a:pt x="63" y="16"/>
                  </a:lnTo>
                  <a:lnTo>
                    <a:pt x="63" y="14"/>
                  </a:lnTo>
                  <a:lnTo>
                    <a:pt x="63" y="12"/>
                  </a:lnTo>
                  <a:lnTo>
                    <a:pt x="59" y="9"/>
                  </a:lnTo>
                  <a:lnTo>
                    <a:pt x="55" y="7"/>
                  </a:lnTo>
                  <a:lnTo>
                    <a:pt x="51" y="5"/>
                  </a:lnTo>
                  <a:lnTo>
                    <a:pt x="47" y="3"/>
                  </a:lnTo>
                  <a:lnTo>
                    <a:pt x="43" y="3"/>
                  </a:lnTo>
                  <a:lnTo>
                    <a:pt x="39" y="0"/>
                  </a:lnTo>
                  <a:lnTo>
                    <a:pt x="31" y="0"/>
                  </a:lnTo>
                  <a:lnTo>
                    <a:pt x="27" y="0"/>
                  </a:lnTo>
                  <a:lnTo>
                    <a:pt x="23" y="3"/>
                  </a:lnTo>
                  <a:lnTo>
                    <a:pt x="15" y="3"/>
                  </a:lnTo>
                  <a:lnTo>
                    <a:pt x="11" y="5"/>
                  </a:lnTo>
                  <a:lnTo>
                    <a:pt x="7" y="7"/>
                  </a:lnTo>
                  <a:lnTo>
                    <a:pt x="3" y="9"/>
                  </a:lnTo>
                  <a:lnTo>
                    <a:pt x="3" y="12"/>
                  </a:lnTo>
                  <a:lnTo>
                    <a:pt x="0" y="14"/>
                  </a:lnTo>
                  <a:lnTo>
                    <a:pt x="0" y="16"/>
                  </a:lnTo>
                  <a:lnTo>
                    <a:pt x="0" y="21"/>
                  </a:lnTo>
                  <a:lnTo>
                    <a:pt x="0" y="23"/>
                  </a:lnTo>
                  <a:lnTo>
                    <a:pt x="0" y="25"/>
                  </a:lnTo>
                  <a:lnTo>
                    <a:pt x="3" y="27"/>
                  </a:lnTo>
                  <a:lnTo>
                    <a:pt x="3" y="32"/>
                  </a:lnTo>
                  <a:lnTo>
                    <a:pt x="7" y="34"/>
                  </a:lnTo>
                  <a:lnTo>
                    <a:pt x="11" y="34"/>
                  </a:lnTo>
                  <a:lnTo>
                    <a:pt x="15" y="36"/>
                  </a:lnTo>
                  <a:lnTo>
                    <a:pt x="23" y="39"/>
                  </a:lnTo>
                  <a:lnTo>
                    <a:pt x="27" y="39"/>
                  </a:lnTo>
                  <a:lnTo>
                    <a:pt x="31" y="39"/>
                  </a:lnTo>
                  <a:close/>
                </a:path>
              </a:pathLst>
            </a:custGeom>
            <a:solidFill>
              <a:srgbClr val="000000"/>
            </a:solidFill>
            <a:ln w="9525">
              <a:noFill/>
              <a:round/>
              <a:headEnd/>
              <a:tailEnd/>
            </a:ln>
          </p:spPr>
          <p:txBody>
            <a:bodyPr/>
            <a:lstStyle/>
            <a:p>
              <a:endParaRPr lang="zh-TW" altLang="en-US" sz="1350"/>
            </a:p>
          </p:txBody>
        </p:sp>
        <p:sp>
          <p:nvSpPr>
            <p:cNvPr id="55372" name="Freeform 75"/>
            <p:cNvSpPr>
              <a:spLocks/>
            </p:cNvSpPr>
            <p:nvPr/>
          </p:nvSpPr>
          <p:spPr bwMode="auto">
            <a:xfrm>
              <a:off x="2705" y="3834"/>
              <a:ext cx="68" cy="39"/>
            </a:xfrm>
            <a:custGeom>
              <a:avLst/>
              <a:gdLst>
                <a:gd name="T0" fmla="*/ 32 w 68"/>
                <a:gd name="T1" fmla="*/ 39 h 39"/>
                <a:gd name="T2" fmla="*/ 40 w 68"/>
                <a:gd name="T3" fmla="*/ 39 h 39"/>
                <a:gd name="T4" fmla="*/ 44 w 68"/>
                <a:gd name="T5" fmla="*/ 39 h 39"/>
                <a:gd name="T6" fmla="*/ 48 w 68"/>
                <a:gd name="T7" fmla="*/ 36 h 39"/>
                <a:gd name="T8" fmla="*/ 56 w 68"/>
                <a:gd name="T9" fmla="*/ 34 h 39"/>
                <a:gd name="T10" fmla="*/ 56 w 68"/>
                <a:gd name="T11" fmla="*/ 34 h 39"/>
                <a:gd name="T12" fmla="*/ 60 w 68"/>
                <a:gd name="T13" fmla="*/ 32 h 39"/>
                <a:gd name="T14" fmla="*/ 64 w 68"/>
                <a:gd name="T15" fmla="*/ 27 h 39"/>
                <a:gd name="T16" fmla="*/ 68 w 68"/>
                <a:gd name="T17" fmla="*/ 25 h 39"/>
                <a:gd name="T18" fmla="*/ 68 w 68"/>
                <a:gd name="T19" fmla="*/ 23 h 39"/>
                <a:gd name="T20" fmla="*/ 68 w 68"/>
                <a:gd name="T21" fmla="*/ 21 h 39"/>
                <a:gd name="T22" fmla="*/ 68 w 68"/>
                <a:gd name="T23" fmla="*/ 16 h 39"/>
                <a:gd name="T24" fmla="*/ 68 w 68"/>
                <a:gd name="T25" fmla="*/ 14 h 39"/>
                <a:gd name="T26" fmla="*/ 64 w 68"/>
                <a:gd name="T27" fmla="*/ 12 h 39"/>
                <a:gd name="T28" fmla="*/ 60 w 68"/>
                <a:gd name="T29" fmla="*/ 9 h 39"/>
                <a:gd name="T30" fmla="*/ 56 w 68"/>
                <a:gd name="T31" fmla="*/ 7 h 39"/>
                <a:gd name="T32" fmla="*/ 56 w 68"/>
                <a:gd name="T33" fmla="*/ 5 h 39"/>
                <a:gd name="T34" fmla="*/ 48 w 68"/>
                <a:gd name="T35" fmla="*/ 3 h 39"/>
                <a:gd name="T36" fmla="*/ 44 w 68"/>
                <a:gd name="T37" fmla="*/ 3 h 39"/>
                <a:gd name="T38" fmla="*/ 40 w 68"/>
                <a:gd name="T39" fmla="*/ 0 h 39"/>
                <a:gd name="T40" fmla="*/ 36 w 68"/>
                <a:gd name="T41" fmla="*/ 0 h 39"/>
                <a:gd name="T42" fmla="*/ 28 w 68"/>
                <a:gd name="T43" fmla="*/ 0 h 39"/>
                <a:gd name="T44" fmla="*/ 24 w 68"/>
                <a:gd name="T45" fmla="*/ 3 h 39"/>
                <a:gd name="T46" fmla="*/ 20 w 68"/>
                <a:gd name="T47" fmla="*/ 3 h 39"/>
                <a:gd name="T48" fmla="*/ 16 w 68"/>
                <a:gd name="T49" fmla="*/ 5 h 39"/>
                <a:gd name="T50" fmla="*/ 12 w 68"/>
                <a:gd name="T51" fmla="*/ 7 h 39"/>
                <a:gd name="T52" fmla="*/ 8 w 68"/>
                <a:gd name="T53" fmla="*/ 9 h 39"/>
                <a:gd name="T54" fmla="*/ 4 w 68"/>
                <a:gd name="T55" fmla="*/ 12 h 39"/>
                <a:gd name="T56" fmla="*/ 4 w 68"/>
                <a:gd name="T57" fmla="*/ 14 h 39"/>
                <a:gd name="T58" fmla="*/ 0 w 68"/>
                <a:gd name="T59" fmla="*/ 16 h 39"/>
                <a:gd name="T60" fmla="*/ 0 w 68"/>
                <a:gd name="T61" fmla="*/ 21 h 39"/>
                <a:gd name="T62" fmla="*/ 0 w 68"/>
                <a:gd name="T63" fmla="*/ 23 h 39"/>
                <a:gd name="T64" fmla="*/ 4 w 68"/>
                <a:gd name="T65" fmla="*/ 25 h 39"/>
                <a:gd name="T66" fmla="*/ 4 w 68"/>
                <a:gd name="T67" fmla="*/ 27 h 39"/>
                <a:gd name="T68" fmla="*/ 8 w 68"/>
                <a:gd name="T69" fmla="*/ 32 h 39"/>
                <a:gd name="T70" fmla="*/ 12 w 68"/>
                <a:gd name="T71" fmla="*/ 34 h 39"/>
                <a:gd name="T72" fmla="*/ 16 w 68"/>
                <a:gd name="T73" fmla="*/ 34 h 39"/>
                <a:gd name="T74" fmla="*/ 20 w 68"/>
                <a:gd name="T75" fmla="*/ 36 h 39"/>
                <a:gd name="T76" fmla="*/ 24 w 68"/>
                <a:gd name="T77" fmla="*/ 39 h 39"/>
                <a:gd name="T78" fmla="*/ 28 w 68"/>
                <a:gd name="T79" fmla="*/ 39 h 39"/>
                <a:gd name="T80" fmla="*/ 36 w 68"/>
                <a:gd name="T81" fmla="*/ 39 h 39"/>
                <a:gd name="T82" fmla="*/ 36 w 68"/>
                <a:gd name="T83" fmla="*/ 39 h 39"/>
                <a:gd name="T84" fmla="*/ 32 w 68"/>
                <a:gd name="T85" fmla="*/ 39 h 39"/>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w 68"/>
                <a:gd name="T130" fmla="*/ 0 h 39"/>
                <a:gd name="T131" fmla="*/ 68 w 68"/>
                <a:gd name="T132" fmla="*/ 39 h 39"/>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T129" t="T130" r="T131" b="T132"/>
              <a:pathLst>
                <a:path w="68" h="39">
                  <a:moveTo>
                    <a:pt x="32" y="39"/>
                  </a:moveTo>
                  <a:lnTo>
                    <a:pt x="40" y="39"/>
                  </a:lnTo>
                  <a:lnTo>
                    <a:pt x="44" y="39"/>
                  </a:lnTo>
                  <a:lnTo>
                    <a:pt x="48" y="36"/>
                  </a:lnTo>
                  <a:lnTo>
                    <a:pt x="56" y="34"/>
                  </a:lnTo>
                  <a:lnTo>
                    <a:pt x="60" y="32"/>
                  </a:lnTo>
                  <a:lnTo>
                    <a:pt x="64" y="27"/>
                  </a:lnTo>
                  <a:lnTo>
                    <a:pt x="68" y="25"/>
                  </a:lnTo>
                  <a:lnTo>
                    <a:pt x="68" y="23"/>
                  </a:lnTo>
                  <a:lnTo>
                    <a:pt x="68" y="21"/>
                  </a:lnTo>
                  <a:lnTo>
                    <a:pt x="68" y="16"/>
                  </a:lnTo>
                  <a:lnTo>
                    <a:pt x="68" y="14"/>
                  </a:lnTo>
                  <a:lnTo>
                    <a:pt x="64" y="12"/>
                  </a:lnTo>
                  <a:lnTo>
                    <a:pt x="60" y="9"/>
                  </a:lnTo>
                  <a:lnTo>
                    <a:pt x="56" y="7"/>
                  </a:lnTo>
                  <a:lnTo>
                    <a:pt x="56" y="5"/>
                  </a:lnTo>
                  <a:lnTo>
                    <a:pt x="48" y="3"/>
                  </a:lnTo>
                  <a:lnTo>
                    <a:pt x="44" y="3"/>
                  </a:lnTo>
                  <a:lnTo>
                    <a:pt x="40" y="0"/>
                  </a:lnTo>
                  <a:lnTo>
                    <a:pt x="36" y="0"/>
                  </a:lnTo>
                  <a:lnTo>
                    <a:pt x="28" y="0"/>
                  </a:lnTo>
                  <a:lnTo>
                    <a:pt x="24" y="3"/>
                  </a:lnTo>
                  <a:lnTo>
                    <a:pt x="20" y="3"/>
                  </a:lnTo>
                  <a:lnTo>
                    <a:pt x="16" y="5"/>
                  </a:lnTo>
                  <a:lnTo>
                    <a:pt x="12" y="7"/>
                  </a:lnTo>
                  <a:lnTo>
                    <a:pt x="8" y="9"/>
                  </a:lnTo>
                  <a:lnTo>
                    <a:pt x="4" y="12"/>
                  </a:lnTo>
                  <a:lnTo>
                    <a:pt x="4" y="14"/>
                  </a:lnTo>
                  <a:lnTo>
                    <a:pt x="0" y="16"/>
                  </a:lnTo>
                  <a:lnTo>
                    <a:pt x="0" y="21"/>
                  </a:lnTo>
                  <a:lnTo>
                    <a:pt x="0" y="23"/>
                  </a:lnTo>
                  <a:lnTo>
                    <a:pt x="4" y="25"/>
                  </a:lnTo>
                  <a:lnTo>
                    <a:pt x="4" y="27"/>
                  </a:lnTo>
                  <a:lnTo>
                    <a:pt x="8" y="32"/>
                  </a:lnTo>
                  <a:lnTo>
                    <a:pt x="12" y="34"/>
                  </a:lnTo>
                  <a:lnTo>
                    <a:pt x="16" y="34"/>
                  </a:lnTo>
                  <a:lnTo>
                    <a:pt x="20" y="36"/>
                  </a:lnTo>
                  <a:lnTo>
                    <a:pt x="24" y="39"/>
                  </a:lnTo>
                  <a:lnTo>
                    <a:pt x="28" y="39"/>
                  </a:lnTo>
                  <a:lnTo>
                    <a:pt x="36" y="39"/>
                  </a:lnTo>
                  <a:lnTo>
                    <a:pt x="32" y="39"/>
                  </a:lnTo>
                  <a:close/>
                </a:path>
              </a:pathLst>
            </a:custGeom>
            <a:solidFill>
              <a:srgbClr val="000000"/>
            </a:solidFill>
            <a:ln w="9525">
              <a:noFill/>
              <a:round/>
              <a:headEnd/>
              <a:tailEnd/>
            </a:ln>
          </p:spPr>
          <p:txBody>
            <a:bodyPr/>
            <a:lstStyle/>
            <a:p>
              <a:endParaRPr lang="zh-TW" altLang="en-US" sz="1350"/>
            </a:p>
          </p:txBody>
        </p:sp>
        <p:sp>
          <p:nvSpPr>
            <p:cNvPr id="55373" name="Freeform 76"/>
            <p:cNvSpPr>
              <a:spLocks/>
            </p:cNvSpPr>
            <p:nvPr/>
          </p:nvSpPr>
          <p:spPr bwMode="auto">
            <a:xfrm>
              <a:off x="3347" y="3834"/>
              <a:ext cx="64" cy="39"/>
            </a:xfrm>
            <a:custGeom>
              <a:avLst/>
              <a:gdLst>
                <a:gd name="T0" fmla="*/ 32 w 64"/>
                <a:gd name="T1" fmla="*/ 39 h 39"/>
                <a:gd name="T2" fmla="*/ 36 w 64"/>
                <a:gd name="T3" fmla="*/ 39 h 39"/>
                <a:gd name="T4" fmla="*/ 44 w 64"/>
                <a:gd name="T5" fmla="*/ 39 h 39"/>
                <a:gd name="T6" fmla="*/ 48 w 64"/>
                <a:gd name="T7" fmla="*/ 36 h 39"/>
                <a:gd name="T8" fmla="*/ 52 w 64"/>
                <a:gd name="T9" fmla="*/ 34 h 39"/>
                <a:gd name="T10" fmla="*/ 56 w 64"/>
                <a:gd name="T11" fmla="*/ 34 h 39"/>
                <a:gd name="T12" fmla="*/ 60 w 64"/>
                <a:gd name="T13" fmla="*/ 32 h 39"/>
                <a:gd name="T14" fmla="*/ 60 w 64"/>
                <a:gd name="T15" fmla="*/ 27 h 39"/>
                <a:gd name="T16" fmla="*/ 64 w 64"/>
                <a:gd name="T17" fmla="*/ 25 h 39"/>
                <a:gd name="T18" fmla="*/ 64 w 64"/>
                <a:gd name="T19" fmla="*/ 23 h 39"/>
                <a:gd name="T20" fmla="*/ 64 w 64"/>
                <a:gd name="T21" fmla="*/ 21 h 39"/>
                <a:gd name="T22" fmla="*/ 64 w 64"/>
                <a:gd name="T23" fmla="*/ 16 h 39"/>
                <a:gd name="T24" fmla="*/ 64 w 64"/>
                <a:gd name="T25" fmla="*/ 14 h 39"/>
                <a:gd name="T26" fmla="*/ 60 w 64"/>
                <a:gd name="T27" fmla="*/ 12 h 39"/>
                <a:gd name="T28" fmla="*/ 60 w 64"/>
                <a:gd name="T29" fmla="*/ 9 h 39"/>
                <a:gd name="T30" fmla="*/ 56 w 64"/>
                <a:gd name="T31" fmla="*/ 7 h 39"/>
                <a:gd name="T32" fmla="*/ 52 w 64"/>
                <a:gd name="T33" fmla="*/ 5 h 39"/>
                <a:gd name="T34" fmla="*/ 48 w 64"/>
                <a:gd name="T35" fmla="*/ 3 h 39"/>
                <a:gd name="T36" fmla="*/ 44 w 64"/>
                <a:gd name="T37" fmla="*/ 3 h 39"/>
                <a:gd name="T38" fmla="*/ 36 w 64"/>
                <a:gd name="T39" fmla="*/ 0 h 39"/>
                <a:gd name="T40" fmla="*/ 32 w 64"/>
                <a:gd name="T41" fmla="*/ 0 h 39"/>
                <a:gd name="T42" fmla="*/ 28 w 64"/>
                <a:gd name="T43" fmla="*/ 0 h 39"/>
                <a:gd name="T44" fmla="*/ 20 w 64"/>
                <a:gd name="T45" fmla="*/ 3 h 39"/>
                <a:gd name="T46" fmla="*/ 16 w 64"/>
                <a:gd name="T47" fmla="*/ 3 h 39"/>
                <a:gd name="T48" fmla="*/ 12 w 64"/>
                <a:gd name="T49" fmla="*/ 5 h 39"/>
                <a:gd name="T50" fmla="*/ 8 w 64"/>
                <a:gd name="T51" fmla="*/ 7 h 39"/>
                <a:gd name="T52" fmla="*/ 4 w 64"/>
                <a:gd name="T53" fmla="*/ 9 h 39"/>
                <a:gd name="T54" fmla="*/ 4 w 64"/>
                <a:gd name="T55" fmla="*/ 12 h 39"/>
                <a:gd name="T56" fmla="*/ 0 w 64"/>
                <a:gd name="T57" fmla="*/ 14 h 39"/>
                <a:gd name="T58" fmla="*/ 0 w 64"/>
                <a:gd name="T59" fmla="*/ 16 h 39"/>
                <a:gd name="T60" fmla="*/ 0 w 64"/>
                <a:gd name="T61" fmla="*/ 21 h 39"/>
                <a:gd name="T62" fmla="*/ 0 w 64"/>
                <a:gd name="T63" fmla="*/ 23 h 39"/>
                <a:gd name="T64" fmla="*/ 0 w 64"/>
                <a:gd name="T65" fmla="*/ 25 h 39"/>
                <a:gd name="T66" fmla="*/ 4 w 64"/>
                <a:gd name="T67" fmla="*/ 27 h 39"/>
                <a:gd name="T68" fmla="*/ 4 w 64"/>
                <a:gd name="T69" fmla="*/ 32 h 39"/>
                <a:gd name="T70" fmla="*/ 8 w 64"/>
                <a:gd name="T71" fmla="*/ 34 h 39"/>
                <a:gd name="T72" fmla="*/ 12 w 64"/>
                <a:gd name="T73" fmla="*/ 34 h 39"/>
                <a:gd name="T74" fmla="*/ 16 w 64"/>
                <a:gd name="T75" fmla="*/ 36 h 39"/>
                <a:gd name="T76" fmla="*/ 20 w 64"/>
                <a:gd name="T77" fmla="*/ 39 h 39"/>
                <a:gd name="T78" fmla="*/ 28 w 64"/>
                <a:gd name="T79" fmla="*/ 39 h 39"/>
                <a:gd name="T80" fmla="*/ 32 w 64"/>
                <a:gd name="T81" fmla="*/ 39 h 39"/>
                <a:gd name="T82" fmla="*/ 32 w 64"/>
                <a:gd name="T83" fmla="*/ 39 h 39"/>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w 64"/>
                <a:gd name="T127" fmla="*/ 0 h 39"/>
                <a:gd name="T128" fmla="*/ 64 w 64"/>
                <a:gd name="T129" fmla="*/ 39 h 39"/>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T126" t="T127" r="T128" b="T129"/>
              <a:pathLst>
                <a:path w="64" h="39">
                  <a:moveTo>
                    <a:pt x="32" y="39"/>
                  </a:moveTo>
                  <a:lnTo>
                    <a:pt x="36" y="39"/>
                  </a:lnTo>
                  <a:lnTo>
                    <a:pt x="44" y="39"/>
                  </a:lnTo>
                  <a:lnTo>
                    <a:pt x="48" y="36"/>
                  </a:lnTo>
                  <a:lnTo>
                    <a:pt x="52" y="34"/>
                  </a:lnTo>
                  <a:lnTo>
                    <a:pt x="56" y="34"/>
                  </a:lnTo>
                  <a:lnTo>
                    <a:pt x="60" y="32"/>
                  </a:lnTo>
                  <a:lnTo>
                    <a:pt x="60" y="27"/>
                  </a:lnTo>
                  <a:lnTo>
                    <a:pt x="64" y="25"/>
                  </a:lnTo>
                  <a:lnTo>
                    <a:pt x="64" y="23"/>
                  </a:lnTo>
                  <a:lnTo>
                    <a:pt x="64" y="21"/>
                  </a:lnTo>
                  <a:lnTo>
                    <a:pt x="64" y="16"/>
                  </a:lnTo>
                  <a:lnTo>
                    <a:pt x="64" y="14"/>
                  </a:lnTo>
                  <a:lnTo>
                    <a:pt x="60" y="12"/>
                  </a:lnTo>
                  <a:lnTo>
                    <a:pt x="60" y="9"/>
                  </a:lnTo>
                  <a:lnTo>
                    <a:pt x="56" y="7"/>
                  </a:lnTo>
                  <a:lnTo>
                    <a:pt x="52" y="5"/>
                  </a:lnTo>
                  <a:lnTo>
                    <a:pt x="48" y="3"/>
                  </a:lnTo>
                  <a:lnTo>
                    <a:pt x="44" y="3"/>
                  </a:lnTo>
                  <a:lnTo>
                    <a:pt x="36" y="0"/>
                  </a:lnTo>
                  <a:lnTo>
                    <a:pt x="32" y="0"/>
                  </a:lnTo>
                  <a:lnTo>
                    <a:pt x="28" y="0"/>
                  </a:lnTo>
                  <a:lnTo>
                    <a:pt x="20" y="3"/>
                  </a:lnTo>
                  <a:lnTo>
                    <a:pt x="16" y="3"/>
                  </a:lnTo>
                  <a:lnTo>
                    <a:pt x="12" y="5"/>
                  </a:lnTo>
                  <a:lnTo>
                    <a:pt x="8" y="7"/>
                  </a:lnTo>
                  <a:lnTo>
                    <a:pt x="4" y="9"/>
                  </a:lnTo>
                  <a:lnTo>
                    <a:pt x="4" y="12"/>
                  </a:lnTo>
                  <a:lnTo>
                    <a:pt x="0" y="14"/>
                  </a:lnTo>
                  <a:lnTo>
                    <a:pt x="0" y="16"/>
                  </a:lnTo>
                  <a:lnTo>
                    <a:pt x="0" y="21"/>
                  </a:lnTo>
                  <a:lnTo>
                    <a:pt x="0" y="23"/>
                  </a:lnTo>
                  <a:lnTo>
                    <a:pt x="0" y="25"/>
                  </a:lnTo>
                  <a:lnTo>
                    <a:pt x="4" y="27"/>
                  </a:lnTo>
                  <a:lnTo>
                    <a:pt x="4" y="32"/>
                  </a:lnTo>
                  <a:lnTo>
                    <a:pt x="8" y="34"/>
                  </a:lnTo>
                  <a:lnTo>
                    <a:pt x="12" y="34"/>
                  </a:lnTo>
                  <a:lnTo>
                    <a:pt x="16" y="36"/>
                  </a:lnTo>
                  <a:lnTo>
                    <a:pt x="20" y="39"/>
                  </a:lnTo>
                  <a:lnTo>
                    <a:pt x="28" y="39"/>
                  </a:lnTo>
                  <a:lnTo>
                    <a:pt x="32" y="39"/>
                  </a:lnTo>
                  <a:close/>
                </a:path>
              </a:pathLst>
            </a:custGeom>
            <a:solidFill>
              <a:srgbClr val="000000"/>
            </a:solidFill>
            <a:ln w="9525">
              <a:noFill/>
              <a:round/>
              <a:headEnd/>
              <a:tailEnd/>
            </a:ln>
          </p:spPr>
          <p:txBody>
            <a:bodyPr/>
            <a:lstStyle/>
            <a:p>
              <a:endParaRPr lang="zh-TW" altLang="en-US" sz="1350"/>
            </a:p>
          </p:txBody>
        </p:sp>
        <p:sp>
          <p:nvSpPr>
            <p:cNvPr id="55374" name="Freeform 77"/>
            <p:cNvSpPr>
              <a:spLocks/>
            </p:cNvSpPr>
            <p:nvPr/>
          </p:nvSpPr>
          <p:spPr bwMode="auto">
            <a:xfrm>
              <a:off x="3985" y="3834"/>
              <a:ext cx="67" cy="39"/>
            </a:xfrm>
            <a:custGeom>
              <a:avLst/>
              <a:gdLst>
                <a:gd name="T0" fmla="*/ 32 w 67"/>
                <a:gd name="T1" fmla="*/ 39 h 39"/>
                <a:gd name="T2" fmla="*/ 40 w 67"/>
                <a:gd name="T3" fmla="*/ 39 h 39"/>
                <a:gd name="T4" fmla="*/ 44 w 67"/>
                <a:gd name="T5" fmla="*/ 39 h 39"/>
                <a:gd name="T6" fmla="*/ 48 w 67"/>
                <a:gd name="T7" fmla="*/ 36 h 39"/>
                <a:gd name="T8" fmla="*/ 52 w 67"/>
                <a:gd name="T9" fmla="*/ 34 h 39"/>
                <a:gd name="T10" fmla="*/ 56 w 67"/>
                <a:gd name="T11" fmla="*/ 34 h 39"/>
                <a:gd name="T12" fmla="*/ 60 w 67"/>
                <a:gd name="T13" fmla="*/ 32 h 39"/>
                <a:gd name="T14" fmla="*/ 63 w 67"/>
                <a:gd name="T15" fmla="*/ 27 h 39"/>
                <a:gd name="T16" fmla="*/ 63 w 67"/>
                <a:gd name="T17" fmla="*/ 25 h 39"/>
                <a:gd name="T18" fmla="*/ 67 w 67"/>
                <a:gd name="T19" fmla="*/ 23 h 39"/>
                <a:gd name="T20" fmla="*/ 67 w 67"/>
                <a:gd name="T21" fmla="*/ 21 h 39"/>
                <a:gd name="T22" fmla="*/ 67 w 67"/>
                <a:gd name="T23" fmla="*/ 16 h 39"/>
                <a:gd name="T24" fmla="*/ 63 w 67"/>
                <a:gd name="T25" fmla="*/ 14 h 39"/>
                <a:gd name="T26" fmla="*/ 63 w 67"/>
                <a:gd name="T27" fmla="*/ 12 h 39"/>
                <a:gd name="T28" fmla="*/ 60 w 67"/>
                <a:gd name="T29" fmla="*/ 9 h 39"/>
                <a:gd name="T30" fmla="*/ 56 w 67"/>
                <a:gd name="T31" fmla="*/ 7 h 39"/>
                <a:gd name="T32" fmla="*/ 52 w 67"/>
                <a:gd name="T33" fmla="*/ 5 h 39"/>
                <a:gd name="T34" fmla="*/ 48 w 67"/>
                <a:gd name="T35" fmla="*/ 3 h 39"/>
                <a:gd name="T36" fmla="*/ 44 w 67"/>
                <a:gd name="T37" fmla="*/ 3 h 39"/>
                <a:gd name="T38" fmla="*/ 40 w 67"/>
                <a:gd name="T39" fmla="*/ 0 h 39"/>
                <a:gd name="T40" fmla="*/ 36 w 67"/>
                <a:gd name="T41" fmla="*/ 0 h 39"/>
                <a:gd name="T42" fmla="*/ 28 w 67"/>
                <a:gd name="T43" fmla="*/ 0 h 39"/>
                <a:gd name="T44" fmla="*/ 24 w 67"/>
                <a:gd name="T45" fmla="*/ 3 h 39"/>
                <a:gd name="T46" fmla="*/ 20 w 67"/>
                <a:gd name="T47" fmla="*/ 3 h 39"/>
                <a:gd name="T48" fmla="*/ 16 w 67"/>
                <a:gd name="T49" fmla="*/ 5 h 39"/>
                <a:gd name="T50" fmla="*/ 12 w 67"/>
                <a:gd name="T51" fmla="*/ 7 h 39"/>
                <a:gd name="T52" fmla="*/ 8 w 67"/>
                <a:gd name="T53" fmla="*/ 9 h 39"/>
                <a:gd name="T54" fmla="*/ 4 w 67"/>
                <a:gd name="T55" fmla="*/ 12 h 39"/>
                <a:gd name="T56" fmla="*/ 4 w 67"/>
                <a:gd name="T57" fmla="*/ 14 h 39"/>
                <a:gd name="T58" fmla="*/ 0 w 67"/>
                <a:gd name="T59" fmla="*/ 16 h 39"/>
                <a:gd name="T60" fmla="*/ 0 w 67"/>
                <a:gd name="T61" fmla="*/ 21 h 39"/>
                <a:gd name="T62" fmla="*/ 0 w 67"/>
                <a:gd name="T63" fmla="*/ 23 h 39"/>
                <a:gd name="T64" fmla="*/ 4 w 67"/>
                <a:gd name="T65" fmla="*/ 25 h 39"/>
                <a:gd name="T66" fmla="*/ 4 w 67"/>
                <a:gd name="T67" fmla="*/ 27 h 39"/>
                <a:gd name="T68" fmla="*/ 8 w 67"/>
                <a:gd name="T69" fmla="*/ 32 h 39"/>
                <a:gd name="T70" fmla="*/ 12 w 67"/>
                <a:gd name="T71" fmla="*/ 34 h 39"/>
                <a:gd name="T72" fmla="*/ 16 w 67"/>
                <a:gd name="T73" fmla="*/ 34 h 39"/>
                <a:gd name="T74" fmla="*/ 20 w 67"/>
                <a:gd name="T75" fmla="*/ 36 h 39"/>
                <a:gd name="T76" fmla="*/ 24 w 67"/>
                <a:gd name="T77" fmla="*/ 39 h 39"/>
                <a:gd name="T78" fmla="*/ 28 w 67"/>
                <a:gd name="T79" fmla="*/ 39 h 39"/>
                <a:gd name="T80" fmla="*/ 36 w 67"/>
                <a:gd name="T81" fmla="*/ 39 h 39"/>
                <a:gd name="T82" fmla="*/ 36 w 67"/>
                <a:gd name="T83" fmla="*/ 39 h 39"/>
                <a:gd name="T84" fmla="*/ 32 w 67"/>
                <a:gd name="T85" fmla="*/ 39 h 39"/>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w 67"/>
                <a:gd name="T130" fmla="*/ 0 h 39"/>
                <a:gd name="T131" fmla="*/ 67 w 67"/>
                <a:gd name="T132" fmla="*/ 39 h 39"/>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T129" t="T130" r="T131" b="T132"/>
              <a:pathLst>
                <a:path w="67" h="39">
                  <a:moveTo>
                    <a:pt x="32" y="39"/>
                  </a:moveTo>
                  <a:lnTo>
                    <a:pt x="40" y="39"/>
                  </a:lnTo>
                  <a:lnTo>
                    <a:pt x="44" y="39"/>
                  </a:lnTo>
                  <a:lnTo>
                    <a:pt x="48" y="36"/>
                  </a:lnTo>
                  <a:lnTo>
                    <a:pt x="52" y="34"/>
                  </a:lnTo>
                  <a:lnTo>
                    <a:pt x="56" y="34"/>
                  </a:lnTo>
                  <a:lnTo>
                    <a:pt x="60" y="32"/>
                  </a:lnTo>
                  <a:lnTo>
                    <a:pt x="63" y="27"/>
                  </a:lnTo>
                  <a:lnTo>
                    <a:pt x="63" y="25"/>
                  </a:lnTo>
                  <a:lnTo>
                    <a:pt x="67" y="23"/>
                  </a:lnTo>
                  <a:lnTo>
                    <a:pt x="67" y="21"/>
                  </a:lnTo>
                  <a:lnTo>
                    <a:pt x="67" y="16"/>
                  </a:lnTo>
                  <a:lnTo>
                    <a:pt x="63" y="14"/>
                  </a:lnTo>
                  <a:lnTo>
                    <a:pt x="63" y="12"/>
                  </a:lnTo>
                  <a:lnTo>
                    <a:pt x="60" y="9"/>
                  </a:lnTo>
                  <a:lnTo>
                    <a:pt x="56" y="7"/>
                  </a:lnTo>
                  <a:lnTo>
                    <a:pt x="52" y="5"/>
                  </a:lnTo>
                  <a:lnTo>
                    <a:pt x="48" y="3"/>
                  </a:lnTo>
                  <a:lnTo>
                    <a:pt x="44" y="3"/>
                  </a:lnTo>
                  <a:lnTo>
                    <a:pt x="40" y="0"/>
                  </a:lnTo>
                  <a:lnTo>
                    <a:pt x="36" y="0"/>
                  </a:lnTo>
                  <a:lnTo>
                    <a:pt x="28" y="0"/>
                  </a:lnTo>
                  <a:lnTo>
                    <a:pt x="24" y="3"/>
                  </a:lnTo>
                  <a:lnTo>
                    <a:pt x="20" y="3"/>
                  </a:lnTo>
                  <a:lnTo>
                    <a:pt x="16" y="5"/>
                  </a:lnTo>
                  <a:lnTo>
                    <a:pt x="12" y="7"/>
                  </a:lnTo>
                  <a:lnTo>
                    <a:pt x="8" y="9"/>
                  </a:lnTo>
                  <a:lnTo>
                    <a:pt x="4" y="12"/>
                  </a:lnTo>
                  <a:lnTo>
                    <a:pt x="4" y="14"/>
                  </a:lnTo>
                  <a:lnTo>
                    <a:pt x="0" y="16"/>
                  </a:lnTo>
                  <a:lnTo>
                    <a:pt x="0" y="21"/>
                  </a:lnTo>
                  <a:lnTo>
                    <a:pt x="0" y="23"/>
                  </a:lnTo>
                  <a:lnTo>
                    <a:pt x="4" y="25"/>
                  </a:lnTo>
                  <a:lnTo>
                    <a:pt x="4" y="27"/>
                  </a:lnTo>
                  <a:lnTo>
                    <a:pt x="8" y="32"/>
                  </a:lnTo>
                  <a:lnTo>
                    <a:pt x="12" y="34"/>
                  </a:lnTo>
                  <a:lnTo>
                    <a:pt x="16" y="34"/>
                  </a:lnTo>
                  <a:lnTo>
                    <a:pt x="20" y="36"/>
                  </a:lnTo>
                  <a:lnTo>
                    <a:pt x="24" y="39"/>
                  </a:lnTo>
                  <a:lnTo>
                    <a:pt x="28" y="39"/>
                  </a:lnTo>
                  <a:lnTo>
                    <a:pt x="36" y="39"/>
                  </a:lnTo>
                  <a:lnTo>
                    <a:pt x="32" y="39"/>
                  </a:lnTo>
                  <a:close/>
                </a:path>
              </a:pathLst>
            </a:custGeom>
            <a:solidFill>
              <a:srgbClr val="000000"/>
            </a:solidFill>
            <a:ln w="9525">
              <a:noFill/>
              <a:round/>
              <a:headEnd/>
              <a:tailEnd/>
            </a:ln>
          </p:spPr>
          <p:txBody>
            <a:bodyPr/>
            <a:lstStyle/>
            <a:p>
              <a:endParaRPr lang="zh-TW" altLang="en-US" sz="1350"/>
            </a:p>
          </p:txBody>
        </p:sp>
        <p:sp>
          <p:nvSpPr>
            <p:cNvPr id="55375" name="Freeform 78"/>
            <p:cNvSpPr>
              <a:spLocks/>
            </p:cNvSpPr>
            <p:nvPr/>
          </p:nvSpPr>
          <p:spPr bwMode="auto">
            <a:xfrm>
              <a:off x="4627" y="3834"/>
              <a:ext cx="63" cy="39"/>
            </a:xfrm>
            <a:custGeom>
              <a:avLst/>
              <a:gdLst>
                <a:gd name="T0" fmla="*/ 32 w 63"/>
                <a:gd name="T1" fmla="*/ 39 h 39"/>
                <a:gd name="T2" fmla="*/ 36 w 63"/>
                <a:gd name="T3" fmla="*/ 39 h 39"/>
                <a:gd name="T4" fmla="*/ 44 w 63"/>
                <a:gd name="T5" fmla="*/ 39 h 39"/>
                <a:gd name="T6" fmla="*/ 47 w 63"/>
                <a:gd name="T7" fmla="*/ 36 h 39"/>
                <a:gd name="T8" fmla="*/ 51 w 63"/>
                <a:gd name="T9" fmla="*/ 34 h 39"/>
                <a:gd name="T10" fmla="*/ 55 w 63"/>
                <a:gd name="T11" fmla="*/ 34 h 39"/>
                <a:gd name="T12" fmla="*/ 59 w 63"/>
                <a:gd name="T13" fmla="*/ 32 h 39"/>
                <a:gd name="T14" fmla="*/ 59 w 63"/>
                <a:gd name="T15" fmla="*/ 27 h 39"/>
                <a:gd name="T16" fmla="*/ 63 w 63"/>
                <a:gd name="T17" fmla="*/ 25 h 39"/>
                <a:gd name="T18" fmla="*/ 63 w 63"/>
                <a:gd name="T19" fmla="*/ 23 h 39"/>
                <a:gd name="T20" fmla="*/ 63 w 63"/>
                <a:gd name="T21" fmla="*/ 21 h 39"/>
                <a:gd name="T22" fmla="*/ 63 w 63"/>
                <a:gd name="T23" fmla="*/ 16 h 39"/>
                <a:gd name="T24" fmla="*/ 63 w 63"/>
                <a:gd name="T25" fmla="*/ 14 h 39"/>
                <a:gd name="T26" fmla="*/ 59 w 63"/>
                <a:gd name="T27" fmla="*/ 12 h 39"/>
                <a:gd name="T28" fmla="*/ 59 w 63"/>
                <a:gd name="T29" fmla="*/ 9 h 39"/>
                <a:gd name="T30" fmla="*/ 55 w 63"/>
                <a:gd name="T31" fmla="*/ 7 h 39"/>
                <a:gd name="T32" fmla="*/ 51 w 63"/>
                <a:gd name="T33" fmla="*/ 5 h 39"/>
                <a:gd name="T34" fmla="*/ 47 w 63"/>
                <a:gd name="T35" fmla="*/ 3 h 39"/>
                <a:gd name="T36" fmla="*/ 44 w 63"/>
                <a:gd name="T37" fmla="*/ 3 h 39"/>
                <a:gd name="T38" fmla="*/ 36 w 63"/>
                <a:gd name="T39" fmla="*/ 0 h 39"/>
                <a:gd name="T40" fmla="*/ 32 w 63"/>
                <a:gd name="T41" fmla="*/ 0 h 39"/>
                <a:gd name="T42" fmla="*/ 28 w 63"/>
                <a:gd name="T43" fmla="*/ 0 h 39"/>
                <a:gd name="T44" fmla="*/ 20 w 63"/>
                <a:gd name="T45" fmla="*/ 3 h 39"/>
                <a:gd name="T46" fmla="*/ 16 w 63"/>
                <a:gd name="T47" fmla="*/ 3 h 39"/>
                <a:gd name="T48" fmla="*/ 12 w 63"/>
                <a:gd name="T49" fmla="*/ 5 h 39"/>
                <a:gd name="T50" fmla="*/ 8 w 63"/>
                <a:gd name="T51" fmla="*/ 7 h 39"/>
                <a:gd name="T52" fmla="*/ 4 w 63"/>
                <a:gd name="T53" fmla="*/ 9 h 39"/>
                <a:gd name="T54" fmla="*/ 4 w 63"/>
                <a:gd name="T55" fmla="*/ 12 h 39"/>
                <a:gd name="T56" fmla="*/ 0 w 63"/>
                <a:gd name="T57" fmla="*/ 14 h 39"/>
                <a:gd name="T58" fmla="*/ 0 w 63"/>
                <a:gd name="T59" fmla="*/ 16 h 39"/>
                <a:gd name="T60" fmla="*/ 0 w 63"/>
                <a:gd name="T61" fmla="*/ 21 h 39"/>
                <a:gd name="T62" fmla="*/ 0 w 63"/>
                <a:gd name="T63" fmla="*/ 23 h 39"/>
                <a:gd name="T64" fmla="*/ 0 w 63"/>
                <a:gd name="T65" fmla="*/ 25 h 39"/>
                <a:gd name="T66" fmla="*/ 4 w 63"/>
                <a:gd name="T67" fmla="*/ 27 h 39"/>
                <a:gd name="T68" fmla="*/ 4 w 63"/>
                <a:gd name="T69" fmla="*/ 32 h 39"/>
                <a:gd name="T70" fmla="*/ 8 w 63"/>
                <a:gd name="T71" fmla="*/ 34 h 39"/>
                <a:gd name="T72" fmla="*/ 12 w 63"/>
                <a:gd name="T73" fmla="*/ 34 h 39"/>
                <a:gd name="T74" fmla="*/ 16 w 63"/>
                <a:gd name="T75" fmla="*/ 36 h 39"/>
                <a:gd name="T76" fmla="*/ 20 w 63"/>
                <a:gd name="T77" fmla="*/ 39 h 39"/>
                <a:gd name="T78" fmla="*/ 28 w 63"/>
                <a:gd name="T79" fmla="*/ 39 h 39"/>
                <a:gd name="T80" fmla="*/ 32 w 63"/>
                <a:gd name="T81" fmla="*/ 39 h 39"/>
                <a:gd name="T82" fmla="*/ 32 w 63"/>
                <a:gd name="T83" fmla="*/ 39 h 39"/>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w 63"/>
                <a:gd name="T127" fmla="*/ 0 h 39"/>
                <a:gd name="T128" fmla="*/ 63 w 63"/>
                <a:gd name="T129" fmla="*/ 39 h 39"/>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T126" t="T127" r="T128" b="T129"/>
              <a:pathLst>
                <a:path w="63" h="39">
                  <a:moveTo>
                    <a:pt x="32" y="39"/>
                  </a:moveTo>
                  <a:lnTo>
                    <a:pt x="36" y="39"/>
                  </a:lnTo>
                  <a:lnTo>
                    <a:pt x="44" y="39"/>
                  </a:lnTo>
                  <a:lnTo>
                    <a:pt x="47" y="36"/>
                  </a:lnTo>
                  <a:lnTo>
                    <a:pt x="51" y="34"/>
                  </a:lnTo>
                  <a:lnTo>
                    <a:pt x="55" y="34"/>
                  </a:lnTo>
                  <a:lnTo>
                    <a:pt x="59" y="32"/>
                  </a:lnTo>
                  <a:lnTo>
                    <a:pt x="59" y="27"/>
                  </a:lnTo>
                  <a:lnTo>
                    <a:pt x="63" y="25"/>
                  </a:lnTo>
                  <a:lnTo>
                    <a:pt x="63" y="23"/>
                  </a:lnTo>
                  <a:lnTo>
                    <a:pt x="63" y="21"/>
                  </a:lnTo>
                  <a:lnTo>
                    <a:pt x="63" y="16"/>
                  </a:lnTo>
                  <a:lnTo>
                    <a:pt x="63" y="14"/>
                  </a:lnTo>
                  <a:lnTo>
                    <a:pt x="59" y="12"/>
                  </a:lnTo>
                  <a:lnTo>
                    <a:pt x="59" y="9"/>
                  </a:lnTo>
                  <a:lnTo>
                    <a:pt x="55" y="7"/>
                  </a:lnTo>
                  <a:lnTo>
                    <a:pt x="51" y="5"/>
                  </a:lnTo>
                  <a:lnTo>
                    <a:pt x="47" y="3"/>
                  </a:lnTo>
                  <a:lnTo>
                    <a:pt x="44" y="3"/>
                  </a:lnTo>
                  <a:lnTo>
                    <a:pt x="36" y="0"/>
                  </a:lnTo>
                  <a:lnTo>
                    <a:pt x="32" y="0"/>
                  </a:lnTo>
                  <a:lnTo>
                    <a:pt x="28" y="0"/>
                  </a:lnTo>
                  <a:lnTo>
                    <a:pt x="20" y="3"/>
                  </a:lnTo>
                  <a:lnTo>
                    <a:pt x="16" y="3"/>
                  </a:lnTo>
                  <a:lnTo>
                    <a:pt x="12" y="5"/>
                  </a:lnTo>
                  <a:lnTo>
                    <a:pt x="8" y="7"/>
                  </a:lnTo>
                  <a:lnTo>
                    <a:pt x="4" y="9"/>
                  </a:lnTo>
                  <a:lnTo>
                    <a:pt x="4" y="12"/>
                  </a:lnTo>
                  <a:lnTo>
                    <a:pt x="0" y="14"/>
                  </a:lnTo>
                  <a:lnTo>
                    <a:pt x="0" y="16"/>
                  </a:lnTo>
                  <a:lnTo>
                    <a:pt x="0" y="21"/>
                  </a:lnTo>
                  <a:lnTo>
                    <a:pt x="0" y="23"/>
                  </a:lnTo>
                  <a:lnTo>
                    <a:pt x="0" y="25"/>
                  </a:lnTo>
                  <a:lnTo>
                    <a:pt x="4" y="27"/>
                  </a:lnTo>
                  <a:lnTo>
                    <a:pt x="4" y="32"/>
                  </a:lnTo>
                  <a:lnTo>
                    <a:pt x="8" y="34"/>
                  </a:lnTo>
                  <a:lnTo>
                    <a:pt x="12" y="34"/>
                  </a:lnTo>
                  <a:lnTo>
                    <a:pt x="16" y="36"/>
                  </a:lnTo>
                  <a:lnTo>
                    <a:pt x="20" y="39"/>
                  </a:lnTo>
                  <a:lnTo>
                    <a:pt x="28" y="39"/>
                  </a:lnTo>
                  <a:lnTo>
                    <a:pt x="32" y="39"/>
                  </a:lnTo>
                  <a:close/>
                </a:path>
              </a:pathLst>
            </a:custGeom>
            <a:solidFill>
              <a:srgbClr val="000000"/>
            </a:solidFill>
            <a:ln w="9525">
              <a:noFill/>
              <a:round/>
              <a:headEnd/>
              <a:tailEnd/>
            </a:ln>
          </p:spPr>
          <p:txBody>
            <a:bodyPr/>
            <a:lstStyle/>
            <a:p>
              <a:endParaRPr lang="zh-TW" altLang="en-US" sz="1350"/>
            </a:p>
          </p:txBody>
        </p:sp>
        <p:sp>
          <p:nvSpPr>
            <p:cNvPr id="55376" name="Freeform 79"/>
            <p:cNvSpPr>
              <a:spLocks/>
            </p:cNvSpPr>
            <p:nvPr/>
          </p:nvSpPr>
          <p:spPr bwMode="auto">
            <a:xfrm>
              <a:off x="5265" y="3834"/>
              <a:ext cx="67" cy="39"/>
            </a:xfrm>
            <a:custGeom>
              <a:avLst/>
              <a:gdLst>
                <a:gd name="T0" fmla="*/ 31 w 67"/>
                <a:gd name="T1" fmla="*/ 39 h 39"/>
                <a:gd name="T2" fmla="*/ 39 w 67"/>
                <a:gd name="T3" fmla="*/ 39 h 39"/>
                <a:gd name="T4" fmla="*/ 43 w 67"/>
                <a:gd name="T5" fmla="*/ 39 h 39"/>
                <a:gd name="T6" fmla="*/ 47 w 67"/>
                <a:gd name="T7" fmla="*/ 36 h 39"/>
                <a:gd name="T8" fmla="*/ 51 w 67"/>
                <a:gd name="T9" fmla="*/ 34 h 39"/>
                <a:gd name="T10" fmla="*/ 55 w 67"/>
                <a:gd name="T11" fmla="*/ 34 h 39"/>
                <a:gd name="T12" fmla="*/ 59 w 67"/>
                <a:gd name="T13" fmla="*/ 32 h 39"/>
                <a:gd name="T14" fmla="*/ 63 w 67"/>
                <a:gd name="T15" fmla="*/ 27 h 39"/>
                <a:gd name="T16" fmla="*/ 63 w 67"/>
                <a:gd name="T17" fmla="*/ 25 h 39"/>
                <a:gd name="T18" fmla="*/ 67 w 67"/>
                <a:gd name="T19" fmla="*/ 23 h 39"/>
                <a:gd name="T20" fmla="*/ 67 w 67"/>
                <a:gd name="T21" fmla="*/ 21 h 39"/>
                <a:gd name="T22" fmla="*/ 67 w 67"/>
                <a:gd name="T23" fmla="*/ 16 h 39"/>
                <a:gd name="T24" fmla="*/ 63 w 67"/>
                <a:gd name="T25" fmla="*/ 14 h 39"/>
                <a:gd name="T26" fmla="*/ 63 w 67"/>
                <a:gd name="T27" fmla="*/ 12 h 39"/>
                <a:gd name="T28" fmla="*/ 59 w 67"/>
                <a:gd name="T29" fmla="*/ 9 h 39"/>
                <a:gd name="T30" fmla="*/ 55 w 67"/>
                <a:gd name="T31" fmla="*/ 7 h 39"/>
                <a:gd name="T32" fmla="*/ 51 w 67"/>
                <a:gd name="T33" fmla="*/ 5 h 39"/>
                <a:gd name="T34" fmla="*/ 47 w 67"/>
                <a:gd name="T35" fmla="*/ 3 h 39"/>
                <a:gd name="T36" fmla="*/ 43 w 67"/>
                <a:gd name="T37" fmla="*/ 3 h 39"/>
                <a:gd name="T38" fmla="*/ 39 w 67"/>
                <a:gd name="T39" fmla="*/ 0 h 39"/>
                <a:gd name="T40" fmla="*/ 31 w 67"/>
                <a:gd name="T41" fmla="*/ 0 h 39"/>
                <a:gd name="T42" fmla="*/ 28 w 67"/>
                <a:gd name="T43" fmla="*/ 0 h 39"/>
                <a:gd name="T44" fmla="*/ 24 w 67"/>
                <a:gd name="T45" fmla="*/ 3 h 39"/>
                <a:gd name="T46" fmla="*/ 20 w 67"/>
                <a:gd name="T47" fmla="*/ 3 h 39"/>
                <a:gd name="T48" fmla="*/ 16 w 67"/>
                <a:gd name="T49" fmla="*/ 5 h 39"/>
                <a:gd name="T50" fmla="*/ 12 w 67"/>
                <a:gd name="T51" fmla="*/ 7 h 39"/>
                <a:gd name="T52" fmla="*/ 8 w 67"/>
                <a:gd name="T53" fmla="*/ 9 h 39"/>
                <a:gd name="T54" fmla="*/ 4 w 67"/>
                <a:gd name="T55" fmla="*/ 12 h 39"/>
                <a:gd name="T56" fmla="*/ 4 w 67"/>
                <a:gd name="T57" fmla="*/ 14 h 39"/>
                <a:gd name="T58" fmla="*/ 0 w 67"/>
                <a:gd name="T59" fmla="*/ 16 h 39"/>
                <a:gd name="T60" fmla="*/ 0 w 67"/>
                <a:gd name="T61" fmla="*/ 21 h 39"/>
                <a:gd name="T62" fmla="*/ 0 w 67"/>
                <a:gd name="T63" fmla="*/ 23 h 39"/>
                <a:gd name="T64" fmla="*/ 4 w 67"/>
                <a:gd name="T65" fmla="*/ 25 h 39"/>
                <a:gd name="T66" fmla="*/ 4 w 67"/>
                <a:gd name="T67" fmla="*/ 27 h 39"/>
                <a:gd name="T68" fmla="*/ 8 w 67"/>
                <a:gd name="T69" fmla="*/ 32 h 39"/>
                <a:gd name="T70" fmla="*/ 12 w 67"/>
                <a:gd name="T71" fmla="*/ 34 h 39"/>
                <a:gd name="T72" fmla="*/ 16 w 67"/>
                <a:gd name="T73" fmla="*/ 34 h 39"/>
                <a:gd name="T74" fmla="*/ 20 w 67"/>
                <a:gd name="T75" fmla="*/ 36 h 39"/>
                <a:gd name="T76" fmla="*/ 24 w 67"/>
                <a:gd name="T77" fmla="*/ 39 h 39"/>
                <a:gd name="T78" fmla="*/ 28 w 67"/>
                <a:gd name="T79" fmla="*/ 39 h 39"/>
                <a:gd name="T80" fmla="*/ 31 w 67"/>
                <a:gd name="T81" fmla="*/ 39 h 39"/>
                <a:gd name="T82" fmla="*/ 31 w 67"/>
                <a:gd name="T83" fmla="*/ 39 h 39"/>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w 67"/>
                <a:gd name="T127" fmla="*/ 0 h 39"/>
                <a:gd name="T128" fmla="*/ 67 w 67"/>
                <a:gd name="T129" fmla="*/ 39 h 39"/>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T126" t="T127" r="T128" b="T129"/>
              <a:pathLst>
                <a:path w="67" h="39">
                  <a:moveTo>
                    <a:pt x="31" y="39"/>
                  </a:moveTo>
                  <a:lnTo>
                    <a:pt x="39" y="39"/>
                  </a:lnTo>
                  <a:lnTo>
                    <a:pt x="43" y="39"/>
                  </a:lnTo>
                  <a:lnTo>
                    <a:pt x="47" y="36"/>
                  </a:lnTo>
                  <a:lnTo>
                    <a:pt x="51" y="34"/>
                  </a:lnTo>
                  <a:lnTo>
                    <a:pt x="55" y="34"/>
                  </a:lnTo>
                  <a:lnTo>
                    <a:pt x="59" y="32"/>
                  </a:lnTo>
                  <a:lnTo>
                    <a:pt x="63" y="27"/>
                  </a:lnTo>
                  <a:lnTo>
                    <a:pt x="63" y="25"/>
                  </a:lnTo>
                  <a:lnTo>
                    <a:pt x="67" y="23"/>
                  </a:lnTo>
                  <a:lnTo>
                    <a:pt x="67" y="21"/>
                  </a:lnTo>
                  <a:lnTo>
                    <a:pt x="67" y="16"/>
                  </a:lnTo>
                  <a:lnTo>
                    <a:pt x="63" y="14"/>
                  </a:lnTo>
                  <a:lnTo>
                    <a:pt x="63" y="12"/>
                  </a:lnTo>
                  <a:lnTo>
                    <a:pt x="59" y="9"/>
                  </a:lnTo>
                  <a:lnTo>
                    <a:pt x="55" y="7"/>
                  </a:lnTo>
                  <a:lnTo>
                    <a:pt x="51" y="5"/>
                  </a:lnTo>
                  <a:lnTo>
                    <a:pt x="47" y="3"/>
                  </a:lnTo>
                  <a:lnTo>
                    <a:pt x="43" y="3"/>
                  </a:lnTo>
                  <a:lnTo>
                    <a:pt x="39" y="0"/>
                  </a:lnTo>
                  <a:lnTo>
                    <a:pt x="31" y="0"/>
                  </a:lnTo>
                  <a:lnTo>
                    <a:pt x="28" y="0"/>
                  </a:lnTo>
                  <a:lnTo>
                    <a:pt x="24" y="3"/>
                  </a:lnTo>
                  <a:lnTo>
                    <a:pt x="20" y="3"/>
                  </a:lnTo>
                  <a:lnTo>
                    <a:pt x="16" y="5"/>
                  </a:lnTo>
                  <a:lnTo>
                    <a:pt x="12" y="7"/>
                  </a:lnTo>
                  <a:lnTo>
                    <a:pt x="8" y="9"/>
                  </a:lnTo>
                  <a:lnTo>
                    <a:pt x="4" y="12"/>
                  </a:lnTo>
                  <a:lnTo>
                    <a:pt x="4" y="14"/>
                  </a:lnTo>
                  <a:lnTo>
                    <a:pt x="0" y="16"/>
                  </a:lnTo>
                  <a:lnTo>
                    <a:pt x="0" y="21"/>
                  </a:lnTo>
                  <a:lnTo>
                    <a:pt x="0" y="23"/>
                  </a:lnTo>
                  <a:lnTo>
                    <a:pt x="4" y="25"/>
                  </a:lnTo>
                  <a:lnTo>
                    <a:pt x="4" y="27"/>
                  </a:lnTo>
                  <a:lnTo>
                    <a:pt x="8" y="32"/>
                  </a:lnTo>
                  <a:lnTo>
                    <a:pt x="12" y="34"/>
                  </a:lnTo>
                  <a:lnTo>
                    <a:pt x="16" y="34"/>
                  </a:lnTo>
                  <a:lnTo>
                    <a:pt x="20" y="36"/>
                  </a:lnTo>
                  <a:lnTo>
                    <a:pt x="24" y="39"/>
                  </a:lnTo>
                  <a:lnTo>
                    <a:pt x="28" y="39"/>
                  </a:lnTo>
                  <a:lnTo>
                    <a:pt x="31" y="39"/>
                  </a:lnTo>
                  <a:close/>
                </a:path>
              </a:pathLst>
            </a:custGeom>
            <a:solidFill>
              <a:srgbClr val="000000"/>
            </a:solidFill>
            <a:ln w="9525">
              <a:noFill/>
              <a:round/>
              <a:headEnd/>
              <a:tailEnd/>
            </a:ln>
          </p:spPr>
          <p:txBody>
            <a:bodyPr/>
            <a:lstStyle/>
            <a:p>
              <a:endParaRPr lang="zh-TW" altLang="en-US" sz="1350"/>
            </a:p>
          </p:txBody>
        </p:sp>
        <p:sp>
          <p:nvSpPr>
            <p:cNvPr id="55377" name="Rectangle 80"/>
            <p:cNvSpPr>
              <a:spLocks noChangeArrowheads="1"/>
            </p:cNvSpPr>
            <p:nvPr/>
          </p:nvSpPr>
          <p:spPr bwMode="auto">
            <a:xfrm>
              <a:off x="1259" y="4186"/>
              <a:ext cx="40" cy="87"/>
            </a:xfrm>
            <a:prstGeom prst="rect">
              <a:avLst/>
            </a:prstGeom>
            <a:noFill/>
            <a:ln w="9525">
              <a:noFill/>
              <a:miter lim="800000"/>
              <a:headEnd/>
              <a:tailEnd/>
            </a:ln>
          </p:spPr>
          <p:txBody>
            <a:bodyPr wrap="none" lIns="0" tIns="0" rIns="0" bIns="0">
              <a:spAutoFit/>
            </a:bodyPr>
            <a:lstStyle/>
            <a:p>
              <a:r>
                <a:rPr lang="zh-TW" altLang="en-US" sz="675">
                  <a:solidFill>
                    <a:srgbClr val="000000"/>
                  </a:solidFill>
                  <a:latin typeface="Arial" pitchFamily="34" charset="0"/>
                </a:rPr>
                <a:t>0</a:t>
              </a:r>
              <a:endParaRPr lang="zh-TW" altLang="en-US" sz="1350"/>
            </a:p>
          </p:txBody>
        </p:sp>
        <p:sp>
          <p:nvSpPr>
            <p:cNvPr id="55378" name="Rectangle 81"/>
            <p:cNvSpPr>
              <a:spLocks noChangeArrowheads="1"/>
            </p:cNvSpPr>
            <p:nvPr/>
          </p:nvSpPr>
          <p:spPr bwMode="auto">
            <a:xfrm>
              <a:off x="1335" y="4186"/>
              <a:ext cx="40" cy="87"/>
            </a:xfrm>
            <a:prstGeom prst="rect">
              <a:avLst/>
            </a:prstGeom>
            <a:noFill/>
            <a:ln w="9525">
              <a:noFill/>
              <a:miter lim="800000"/>
              <a:headEnd/>
              <a:tailEnd/>
            </a:ln>
          </p:spPr>
          <p:txBody>
            <a:bodyPr wrap="none" lIns="0" tIns="0" rIns="0" bIns="0">
              <a:spAutoFit/>
            </a:bodyPr>
            <a:lstStyle/>
            <a:p>
              <a:r>
                <a:rPr lang="zh-TW" altLang="en-US" sz="675">
                  <a:solidFill>
                    <a:srgbClr val="000000"/>
                  </a:solidFill>
                  <a:latin typeface="Arial" pitchFamily="34" charset="0"/>
                </a:rPr>
                <a:t>0</a:t>
              </a:r>
              <a:endParaRPr lang="zh-TW" altLang="en-US" sz="1350"/>
            </a:p>
          </p:txBody>
        </p:sp>
        <p:sp>
          <p:nvSpPr>
            <p:cNvPr id="55379" name="Rectangle 82"/>
            <p:cNvSpPr>
              <a:spLocks noChangeArrowheads="1"/>
            </p:cNvSpPr>
            <p:nvPr/>
          </p:nvSpPr>
          <p:spPr bwMode="auto">
            <a:xfrm>
              <a:off x="1406" y="4186"/>
              <a:ext cx="40" cy="87"/>
            </a:xfrm>
            <a:prstGeom prst="rect">
              <a:avLst/>
            </a:prstGeom>
            <a:noFill/>
            <a:ln w="9525">
              <a:noFill/>
              <a:miter lim="800000"/>
              <a:headEnd/>
              <a:tailEnd/>
            </a:ln>
          </p:spPr>
          <p:txBody>
            <a:bodyPr wrap="none" lIns="0" tIns="0" rIns="0" bIns="0">
              <a:spAutoFit/>
            </a:bodyPr>
            <a:lstStyle/>
            <a:p>
              <a:r>
                <a:rPr lang="zh-TW" altLang="en-US" sz="675">
                  <a:solidFill>
                    <a:srgbClr val="000000"/>
                  </a:solidFill>
                  <a:latin typeface="Arial" pitchFamily="34" charset="0"/>
                </a:rPr>
                <a:t>1</a:t>
              </a:r>
              <a:endParaRPr lang="zh-TW" altLang="en-US" sz="1350"/>
            </a:p>
          </p:txBody>
        </p:sp>
        <p:sp>
          <p:nvSpPr>
            <p:cNvPr id="55380" name="Rectangle 83"/>
            <p:cNvSpPr>
              <a:spLocks noChangeArrowheads="1"/>
            </p:cNvSpPr>
            <p:nvPr/>
          </p:nvSpPr>
          <p:spPr bwMode="auto">
            <a:xfrm>
              <a:off x="1481" y="4186"/>
              <a:ext cx="40" cy="87"/>
            </a:xfrm>
            <a:prstGeom prst="rect">
              <a:avLst/>
            </a:prstGeom>
            <a:noFill/>
            <a:ln w="9525">
              <a:noFill/>
              <a:miter lim="800000"/>
              <a:headEnd/>
              <a:tailEnd/>
            </a:ln>
          </p:spPr>
          <p:txBody>
            <a:bodyPr wrap="none" lIns="0" tIns="0" rIns="0" bIns="0">
              <a:spAutoFit/>
            </a:bodyPr>
            <a:lstStyle/>
            <a:p>
              <a:r>
                <a:rPr lang="zh-TW" altLang="en-US" sz="675">
                  <a:solidFill>
                    <a:srgbClr val="000000"/>
                  </a:solidFill>
                  <a:latin typeface="Arial" pitchFamily="34" charset="0"/>
                </a:rPr>
                <a:t>0</a:t>
              </a:r>
              <a:endParaRPr lang="zh-TW" altLang="en-US" sz="1350"/>
            </a:p>
          </p:txBody>
        </p:sp>
        <p:sp>
          <p:nvSpPr>
            <p:cNvPr id="55381" name="Rectangle 84"/>
            <p:cNvSpPr>
              <a:spLocks noChangeArrowheads="1"/>
            </p:cNvSpPr>
            <p:nvPr/>
          </p:nvSpPr>
          <p:spPr bwMode="auto">
            <a:xfrm>
              <a:off x="1552" y="4186"/>
              <a:ext cx="40" cy="87"/>
            </a:xfrm>
            <a:prstGeom prst="rect">
              <a:avLst/>
            </a:prstGeom>
            <a:noFill/>
            <a:ln w="9525">
              <a:noFill/>
              <a:miter lim="800000"/>
              <a:headEnd/>
              <a:tailEnd/>
            </a:ln>
          </p:spPr>
          <p:txBody>
            <a:bodyPr wrap="none" lIns="0" tIns="0" rIns="0" bIns="0">
              <a:spAutoFit/>
            </a:bodyPr>
            <a:lstStyle/>
            <a:p>
              <a:r>
                <a:rPr lang="zh-TW" altLang="en-US" sz="675">
                  <a:solidFill>
                    <a:srgbClr val="000000"/>
                  </a:solidFill>
                  <a:latin typeface="Arial" pitchFamily="34" charset="0"/>
                </a:rPr>
                <a:t>1</a:t>
              </a:r>
              <a:endParaRPr lang="zh-TW" altLang="en-US" sz="1350"/>
            </a:p>
          </p:txBody>
        </p:sp>
        <p:sp>
          <p:nvSpPr>
            <p:cNvPr id="55382" name="Rectangle 85"/>
            <p:cNvSpPr>
              <a:spLocks noChangeArrowheads="1"/>
            </p:cNvSpPr>
            <p:nvPr/>
          </p:nvSpPr>
          <p:spPr bwMode="auto">
            <a:xfrm>
              <a:off x="1917" y="4183"/>
              <a:ext cx="40" cy="87"/>
            </a:xfrm>
            <a:prstGeom prst="rect">
              <a:avLst/>
            </a:prstGeom>
            <a:noFill/>
            <a:ln w="9525">
              <a:noFill/>
              <a:miter lim="800000"/>
              <a:headEnd/>
              <a:tailEnd/>
            </a:ln>
          </p:spPr>
          <p:txBody>
            <a:bodyPr wrap="none" lIns="0" tIns="0" rIns="0" bIns="0">
              <a:spAutoFit/>
            </a:bodyPr>
            <a:lstStyle/>
            <a:p>
              <a:r>
                <a:rPr lang="zh-TW" altLang="en-US" sz="675">
                  <a:solidFill>
                    <a:srgbClr val="000000"/>
                  </a:solidFill>
                  <a:latin typeface="Arial" pitchFamily="34" charset="0"/>
                </a:rPr>
                <a:t>0</a:t>
              </a:r>
              <a:endParaRPr lang="zh-TW" altLang="en-US" sz="1350"/>
            </a:p>
          </p:txBody>
        </p:sp>
        <p:sp>
          <p:nvSpPr>
            <p:cNvPr id="55383" name="Rectangle 86"/>
            <p:cNvSpPr>
              <a:spLocks noChangeArrowheads="1"/>
            </p:cNvSpPr>
            <p:nvPr/>
          </p:nvSpPr>
          <p:spPr bwMode="auto">
            <a:xfrm>
              <a:off x="1988" y="4183"/>
              <a:ext cx="40" cy="87"/>
            </a:xfrm>
            <a:prstGeom prst="rect">
              <a:avLst/>
            </a:prstGeom>
            <a:noFill/>
            <a:ln w="9525">
              <a:noFill/>
              <a:miter lim="800000"/>
              <a:headEnd/>
              <a:tailEnd/>
            </a:ln>
          </p:spPr>
          <p:txBody>
            <a:bodyPr wrap="none" lIns="0" tIns="0" rIns="0" bIns="0">
              <a:spAutoFit/>
            </a:bodyPr>
            <a:lstStyle/>
            <a:p>
              <a:r>
                <a:rPr lang="zh-TW" altLang="en-US" sz="675">
                  <a:solidFill>
                    <a:srgbClr val="000000"/>
                  </a:solidFill>
                  <a:latin typeface="Arial" pitchFamily="34" charset="0"/>
                </a:rPr>
                <a:t>1</a:t>
              </a:r>
              <a:endParaRPr lang="zh-TW" altLang="en-US" sz="1350"/>
            </a:p>
          </p:txBody>
        </p:sp>
        <p:sp>
          <p:nvSpPr>
            <p:cNvPr id="55384" name="Rectangle 87"/>
            <p:cNvSpPr>
              <a:spLocks noChangeArrowheads="1"/>
            </p:cNvSpPr>
            <p:nvPr/>
          </p:nvSpPr>
          <p:spPr bwMode="auto">
            <a:xfrm>
              <a:off x="2064" y="4183"/>
              <a:ext cx="40" cy="87"/>
            </a:xfrm>
            <a:prstGeom prst="rect">
              <a:avLst/>
            </a:prstGeom>
            <a:noFill/>
            <a:ln w="9525">
              <a:noFill/>
              <a:miter lim="800000"/>
              <a:headEnd/>
              <a:tailEnd/>
            </a:ln>
          </p:spPr>
          <p:txBody>
            <a:bodyPr wrap="none" lIns="0" tIns="0" rIns="0" bIns="0">
              <a:spAutoFit/>
            </a:bodyPr>
            <a:lstStyle/>
            <a:p>
              <a:r>
                <a:rPr lang="zh-TW" altLang="en-US" sz="675">
                  <a:solidFill>
                    <a:srgbClr val="000000"/>
                  </a:solidFill>
                  <a:latin typeface="Arial" pitchFamily="34" charset="0"/>
                </a:rPr>
                <a:t>0</a:t>
              </a:r>
              <a:endParaRPr lang="zh-TW" altLang="en-US" sz="1350"/>
            </a:p>
          </p:txBody>
        </p:sp>
        <p:sp>
          <p:nvSpPr>
            <p:cNvPr id="55385" name="Rectangle 88"/>
            <p:cNvSpPr>
              <a:spLocks noChangeArrowheads="1"/>
            </p:cNvSpPr>
            <p:nvPr/>
          </p:nvSpPr>
          <p:spPr bwMode="auto">
            <a:xfrm>
              <a:off x="2135" y="4183"/>
              <a:ext cx="40" cy="87"/>
            </a:xfrm>
            <a:prstGeom prst="rect">
              <a:avLst/>
            </a:prstGeom>
            <a:noFill/>
            <a:ln w="9525">
              <a:noFill/>
              <a:miter lim="800000"/>
              <a:headEnd/>
              <a:tailEnd/>
            </a:ln>
          </p:spPr>
          <p:txBody>
            <a:bodyPr wrap="none" lIns="0" tIns="0" rIns="0" bIns="0">
              <a:spAutoFit/>
            </a:bodyPr>
            <a:lstStyle/>
            <a:p>
              <a:r>
                <a:rPr lang="zh-TW" altLang="en-US" sz="675">
                  <a:solidFill>
                    <a:srgbClr val="000000"/>
                  </a:solidFill>
                  <a:latin typeface="Arial" pitchFamily="34" charset="0"/>
                </a:rPr>
                <a:t>0</a:t>
              </a:r>
              <a:endParaRPr lang="zh-TW" altLang="en-US" sz="1350"/>
            </a:p>
          </p:txBody>
        </p:sp>
        <p:sp>
          <p:nvSpPr>
            <p:cNvPr id="55386" name="Rectangle 89"/>
            <p:cNvSpPr>
              <a:spLocks noChangeArrowheads="1"/>
            </p:cNvSpPr>
            <p:nvPr/>
          </p:nvSpPr>
          <p:spPr bwMode="auto">
            <a:xfrm>
              <a:off x="2210" y="4183"/>
              <a:ext cx="40" cy="87"/>
            </a:xfrm>
            <a:prstGeom prst="rect">
              <a:avLst/>
            </a:prstGeom>
            <a:noFill/>
            <a:ln w="9525">
              <a:noFill/>
              <a:miter lim="800000"/>
              <a:headEnd/>
              <a:tailEnd/>
            </a:ln>
          </p:spPr>
          <p:txBody>
            <a:bodyPr wrap="none" lIns="0" tIns="0" rIns="0" bIns="0">
              <a:spAutoFit/>
            </a:bodyPr>
            <a:lstStyle/>
            <a:p>
              <a:r>
                <a:rPr lang="zh-TW" altLang="en-US" sz="675">
                  <a:solidFill>
                    <a:srgbClr val="000000"/>
                  </a:solidFill>
                  <a:latin typeface="Arial" pitchFamily="34" charset="0"/>
                </a:rPr>
                <a:t>1</a:t>
              </a:r>
              <a:endParaRPr lang="zh-TW" altLang="en-US" sz="1350"/>
            </a:p>
          </p:txBody>
        </p:sp>
        <p:sp>
          <p:nvSpPr>
            <p:cNvPr id="55387" name="Rectangle 90"/>
            <p:cNvSpPr>
              <a:spLocks noChangeArrowheads="1"/>
            </p:cNvSpPr>
            <p:nvPr/>
          </p:nvSpPr>
          <p:spPr bwMode="auto">
            <a:xfrm>
              <a:off x="2539" y="4186"/>
              <a:ext cx="40" cy="87"/>
            </a:xfrm>
            <a:prstGeom prst="rect">
              <a:avLst/>
            </a:prstGeom>
            <a:noFill/>
            <a:ln w="9525">
              <a:noFill/>
              <a:miter lim="800000"/>
              <a:headEnd/>
              <a:tailEnd/>
            </a:ln>
          </p:spPr>
          <p:txBody>
            <a:bodyPr wrap="none" lIns="0" tIns="0" rIns="0" bIns="0">
              <a:spAutoFit/>
            </a:bodyPr>
            <a:lstStyle/>
            <a:p>
              <a:r>
                <a:rPr lang="zh-TW" altLang="en-US" sz="675">
                  <a:solidFill>
                    <a:srgbClr val="000000"/>
                  </a:solidFill>
                  <a:latin typeface="Arial" pitchFamily="34" charset="0"/>
                </a:rPr>
                <a:t>0</a:t>
              </a:r>
              <a:endParaRPr lang="zh-TW" altLang="en-US" sz="1350"/>
            </a:p>
          </p:txBody>
        </p:sp>
        <p:sp>
          <p:nvSpPr>
            <p:cNvPr id="55388" name="Rectangle 91"/>
            <p:cNvSpPr>
              <a:spLocks noChangeArrowheads="1"/>
            </p:cNvSpPr>
            <p:nvPr/>
          </p:nvSpPr>
          <p:spPr bwMode="auto">
            <a:xfrm>
              <a:off x="2614" y="4186"/>
              <a:ext cx="40" cy="87"/>
            </a:xfrm>
            <a:prstGeom prst="rect">
              <a:avLst/>
            </a:prstGeom>
            <a:noFill/>
            <a:ln w="9525">
              <a:noFill/>
              <a:miter lim="800000"/>
              <a:headEnd/>
              <a:tailEnd/>
            </a:ln>
          </p:spPr>
          <p:txBody>
            <a:bodyPr wrap="none" lIns="0" tIns="0" rIns="0" bIns="0">
              <a:spAutoFit/>
            </a:bodyPr>
            <a:lstStyle/>
            <a:p>
              <a:r>
                <a:rPr lang="zh-TW" altLang="en-US" sz="675">
                  <a:solidFill>
                    <a:srgbClr val="000000"/>
                  </a:solidFill>
                  <a:latin typeface="Arial" pitchFamily="34" charset="0"/>
                </a:rPr>
                <a:t>1</a:t>
              </a:r>
              <a:endParaRPr lang="zh-TW" altLang="en-US" sz="1350"/>
            </a:p>
          </p:txBody>
        </p:sp>
        <p:sp>
          <p:nvSpPr>
            <p:cNvPr id="55389" name="Rectangle 92"/>
            <p:cNvSpPr>
              <a:spLocks noChangeArrowheads="1"/>
            </p:cNvSpPr>
            <p:nvPr/>
          </p:nvSpPr>
          <p:spPr bwMode="auto">
            <a:xfrm>
              <a:off x="2686" y="4186"/>
              <a:ext cx="40" cy="87"/>
            </a:xfrm>
            <a:prstGeom prst="rect">
              <a:avLst/>
            </a:prstGeom>
            <a:noFill/>
            <a:ln w="9525">
              <a:noFill/>
              <a:miter lim="800000"/>
              <a:headEnd/>
              <a:tailEnd/>
            </a:ln>
          </p:spPr>
          <p:txBody>
            <a:bodyPr wrap="none" lIns="0" tIns="0" rIns="0" bIns="0">
              <a:spAutoFit/>
            </a:bodyPr>
            <a:lstStyle/>
            <a:p>
              <a:r>
                <a:rPr lang="zh-TW" altLang="en-US" sz="675">
                  <a:solidFill>
                    <a:srgbClr val="000000"/>
                  </a:solidFill>
                  <a:latin typeface="Arial" pitchFamily="34" charset="0"/>
                </a:rPr>
                <a:t>1</a:t>
              </a:r>
              <a:endParaRPr lang="zh-TW" altLang="en-US" sz="1350"/>
            </a:p>
          </p:txBody>
        </p:sp>
        <p:sp>
          <p:nvSpPr>
            <p:cNvPr id="55390" name="Rectangle 93"/>
            <p:cNvSpPr>
              <a:spLocks noChangeArrowheads="1"/>
            </p:cNvSpPr>
            <p:nvPr/>
          </p:nvSpPr>
          <p:spPr bwMode="auto">
            <a:xfrm>
              <a:off x="2761" y="4186"/>
              <a:ext cx="40" cy="87"/>
            </a:xfrm>
            <a:prstGeom prst="rect">
              <a:avLst/>
            </a:prstGeom>
            <a:noFill/>
            <a:ln w="9525">
              <a:noFill/>
              <a:miter lim="800000"/>
              <a:headEnd/>
              <a:tailEnd/>
            </a:ln>
          </p:spPr>
          <p:txBody>
            <a:bodyPr wrap="none" lIns="0" tIns="0" rIns="0" bIns="0">
              <a:spAutoFit/>
            </a:bodyPr>
            <a:lstStyle/>
            <a:p>
              <a:r>
                <a:rPr lang="zh-TW" altLang="en-US" sz="675">
                  <a:solidFill>
                    <a:srgbClr val="000000"/>
                  </a:solidFill>
                  <a:latin typeface="Arial" pitchFamily="34" charset="0"/>
                </a:rPr>
                <a:t>0</a:t>
              </a:r>
              <a:endParaRPr lang="zh-TW" altLang="en-US" sz="1350"/>
            </a:p>
          </p:txBody>
        </p:sp>
        <p:sp>
          <p:nvSpPr>
            <p:cNvPr id="55391" name="Rectangle 94"/>
            <p:cNvSpPr>
              <a:spLocks noChangeArrowheads="1"/>
            </p:cNvSpPr>
            <p:nvPr/>
          </p:nvSpPr>
          <p:spPr bwMode="auto">
            <a:xfrm>
              <a:off x="2832" y="4186"/>
              <a:ext cx="40" cy="87"/>
            </a:xfrm>
            <a:prstGeom prst="rect">
              <a:avLst/>
            </a:prstGeom>
            <a:noFill/>
            <a:ln w="9525">
              <a:noFill/>
              <a:miter lim="800000"/>
              <a:headEnd/>
              <a:tailEnd/>
            </a:ln>
          </p:spPr>
          <p:txBody>
            <a:bodyPr wrap="none" lIns="0" tIns="0" rIns="0" bIns="0">
              <a:spAutoFit/>
            </a:bodyPr>
            <a:lstStyle/>
            <a:p>
              <a:r>
                <a:rPr lang="zh-TW" altLang="en-US" sz="675">
                  <a:solidFill>
                    <a:srgbClr val="000000"/>
                  </a:solidFill>
                  <a:latin typeface="Arial" pitchFamily="34" charset="0"/>
                </a:rPr>
                <a:t>1</a:t>
              </a:r>
              <a:endParaRPr lang="zh-TW" altLang="en-US" sz="1350"/>
            </a:p>
          </p:txBody>
        </p:sp>
        <p:sp>
          <p:nvSpPr>
            <p:cNvPr id="55392" name="Rectangle 95"/>
            <p:cNvSpPr>
              <a:spLocks noChangeArrowheads="1"/>
            </p:cNvSpPr>
            <p:nvPr/>
          </p:nvSpPr>
          <p:spPr bwMode="auto">
            <a:xfrm>
              <a:off x="3181" y="4186"/>
              <a:ext cx="40" cy="87"/>
            </a:xfrm>
            <a:prstGeom prst="rect">
              <a:avLst/>
            </a:prstGeom>
            <a:noFill/>
            <a:ln w="9525">
              <a:noFill/>
              <a:miter lim="800000"/>
              <a:headEnd/>
              <a:tailEnd/>
            </a:ln>
          </p:spPr>
          <p:txBody>
            <a:bodyPr wrap="none" lIns="0" tIns="0" rIns="0" bIns="0">
              <a:spAutoFit/>
            </a:bodyPr>
            <a:lstStyle/>
            <a:p>
              <a:r>
                <a:rPr lang="zh-TW" altLang="en-US" sz="675">
                  <a:solidFill>
                    <a:srgbClr val="000000"/>
                  </a:solidFill>
                  <a:latin typeface="Arial" pitchFamily="34" charset="0"/>
                </a:rPr>
                <a:t>1</a:t>
              </a:r>
              <a:endParaRPr lang="zh-TW" altLang="en-US" sz="1350"/>
            </a:p>
          </p:txBody>
        </p:sp>
        <p:sp>
          <p:nvSpPr>
            <p:cNvPr id="55393" name="Rectangle 96"/>
            <p:cNvSpPr>
              <a:spLocks noChangeArrowheads="1"/>
            </p:cNvSpPr>
            <p:nvPr/>
          </p:nvSpPr>
          <p:spPr bwMode="auto">
            <a:xfrm>
              <a:off x="3252" y="4186"/>
              <a:ext cx="40" cy="87"/>
            </a:xfrm>
            <a:prstGeom prst="rect">
              <a:avLst/>
            </a:prstGeom>
            <a:noFill/>
            <a:ln w="9525">
              <a:noFill/>
              <a:miter lim="800000"/>
              <a:headEnd/>
              <a:tailEnd/>
            </a:ln>
          </p:spPr>
          <p:txBody>
            <a:bodyPr wrap="none" lIns="0" tIns="0" rIns="0" bIns="0">
              <a:spAutoFit/>
            </a:bodyPr>
            <a:lstStyle/>
            <a:p>
              <a:r>
                <a:rPr lang="zh-TW" altLang="en-US" sz="675">
                  <a:solidFill>
                    <a:srgbClr val="000000"/>
                  </a:solidFill>
                  <a:latin typeface="Arial" pitchFamily="34" charset="0"/>
                </a:rPr>
                <a:t>0</a:t>
              </a:r>
              <a:endParaRPr lang="zh-TW" altLang="en-US" sz="1350"/>
            </a:p>
          </p:txBody>
        </p:sp>
        <p:sp>
          <p:nvSpPr>
            <p:cNvPr id="55394" name="Rectangle 97"/>
            <p:cNvSpPr>
              <a:spLocks noChangeArrowheads="1"/>
            </p:cNvSpPr>
            <p:nvPr/>
          </p:nvSpPr>
          <p:spPr bwMode="auto">
            <a:xfrm>
              <a:off x="3327" y="4186"/>
              <a:ext cx="40" cy="87"/>
            </a:xfrm>
            <a:prstGeom prst="rect">
              <a:avLst/>
            </a:prstGeom>
            <a:noFill/>
            <a:ln w="9525">
              <a:noFill/>
              <a:miter lim="800000"/>
              <a:headEnd/>
              <a:tailEnd/>
            </a:ln>
          </p:spPr>
          <p:txBody>
            <a:bodyPr wrap="none" lIns="0" tIns="0" rIns="0" bIns="0">
              <a:spAutoFit/>
            </a:bodyPr>
            <a:lstStyle/>
            <a:p>
              <a:r>
                <a:rPr lang="zh-TW" altLang="en-US" sz="675">
                  <a:solidFill>
                    <a:srgbClr val="000000"/>
                  </a:solidFill>
                  <a:latin typeface="Arial" pitchFamily="34" charset="0"/>
                </a:rPr>
                <a:t>0</a:t>
              </a:r>
              <a:endParaRPr lang="zh-TW" altLang="en-US" sz="1350"/>
            </a:p>
          </p:txBody>
        </p:sp>
        <p:sp>
          <p:nvSpPr>
            <p:cNvPr id="55395" name="Rectangle 98"/>
            <p:cNvSpPr>
              <a:spLocks noChangeArrowheads="1"/>
            </p:cNvSpPr>
            <p:nvPr/>
          </p:nvSpPr>
          <p:spPr bwMode="auto">
            <a:xfrm>
              <a:off x="3399" y="4186"/>
              <a:ext cx="40" cy="87"/>
            </a:xfrm>
            <a:prstGeom prst="rect">
              <a:avLst/>
            </a:prstGeom>
            <a:noFill/>
            <a:ln w="9525">
              <a:noFill/>
              <a:miter lim="800000"/>
              <a:headEnd/>
              <a:tailEnd/>
            </a:ln>
          </p:spPr>
          <p:txBody>
            <a:bodyPr wrap="none" lIns="0" tIns="0" rIns="0" bIns="0">
              <a:spAutoFit/>
            </a:bodyPr>
            <a:lstStyle/>
            <a:p>
              <a:r>
                <a:rPr lang="zh-TW" altLang="en-US" sz="675">
                  <a:solidFill>
                    <a:srgbClr val="000000"/>
                  </a:solidFill>
                  <a:latin typeface="Arial" pitchFamily="34" charset="0"/>
                </a:rPr>
                <a:t>0</a:t>
              </a:r>
              <a:endParaRPr lang="zh-TW" altLang="en-US" sz="1350"/>
            </a:p>
          </p:txBody>
        </p:sp>
        <p:sp>
          <p:nvSpPr>
            <p:cNvPr id="55396" name="Rectangle 99"/>
            <p:cNvSpPr>
              <a:spLocks noChangeArrowheads="1"/>
            </p:cNvSpPr>
            <p:nvPr/>
          </p:nvSpPr>
          <p:spPr bwMode="auto">
            <a:xfrm>
              <a:off x="3474" y="4186"/>
              <a:ext cx="40" cy="87"/>
            </a:xfrm>
            <a:prstGeom prst="rect">
              <a:avLst/>
            </a:prstGeom>
            <a:noFill/>
            <a:ln w="9525">
              <a:noFill/>
              <a:miter lim="800000"/>
              <a:headEnd/>
              <a:tailEnd/>
            </a:ln>
          </p:spPr>
          <p:txBody>
            <a:bodyPr wrap="none" lIns="0" tIns="0" rIns="0" bIns="0">
              <a:spAutoFit/>
            </a:bodyPr>
            <a:lstStyle/>
            <a:p>
              <a:r>
                <a:rPr lang="zh-TW" altLang="en-US" sz="675">
                  <a:solidFill>
                    <a:srgbClr val="000000"/>
                  </a:solidFill>
                  <a:latin typeface="Arial" pitchFamily="34" charset="0"/>
                </a:rPr>
                <a:t>1</a:t>
              </a:r>
              <a:endParaRPr lang="zh-TW" altLang="en-US" sz="1350"/>
            </a:p>
          </p:txBody>
        </p:sp>
        <p:sp>
          <p:nvSpPr>
            <p:cNvPr id="55397" name="Rectangle 100"/>
            <p:cNvSpPr>
              <a:spLocks noChangeArrowheads="1"/>
            </p:cNvSpPr>
            <p:nvPr/>
          </p:nvSpPr>
          <p:spPr bwMode="auto">
            <a:xfrm>
              <a:off x="3819" y="4186"/>
              <a:ext cx="40" cy="87"/>
            </a:xfrm>
            <a:prstGeom prst="rect">
              <a:avLst/>
            </a:prstGeom>
            <a:noFill/>
            <a:ln w="9525">
              <a:noFill/>
              <a:miter lim="800000"/>
              <a:headEnd/>
              <a:tailEnd/>
            </a:ln>
          </p:spPr>
          <p:txBody>
            <a:bodyPr wrap="none" lIns="0" tIns="0" rIns="0" bIns="0">
              <a:spAutoFit/>
            </a:bodyPr>
            <a:lstStyle/>
            <a:p>
              <a:r>
                <a:rPr lang="zh-TW" altLang="en-US" sz="675">
                  <a:solidFill>
                    <a:srgbClr val="000000"/>
                  </a:solidFill>
                  <a:latin typeface="Arial" pitchFamily="34" charset="0"/>
                </a:rPr>
                <a:t>1</a:t>
              </a:r>
              <a:endParaRPr lang="zh-TW" altLang="en-US" sz="1350"/>
            </a:p>
          </p:txBody>
        </p:sp>
        <p:sp>
          <p:nvSpPr>
            <p:cNvPr id="55398" name="Rectangle 101"/>
            <p:cNvSpPr>
              <a:spLocks noChangeArrowheads="1"/>
            </p:cNvSpPr>
            <p:nvPr/>
          </p:nvSpPr>
          <p:spPr bwMode="auto">
            <a:xfrm>
              <a:off x="3894" y="4186"/>
              <a:ext cx="40" cy="87"/>
            </a:xfrm>
            <a:prstGeom prst="rect">
              <a:avLst/>
            </a:prstGeom>
            <a:noFill/>
            <a:ln w="9525">
              <a:noFill/>
              <a:miter lim="800000"/>
              <a:headEnd/>
              <a:tailEnd/>
            </a:ln>
          </p:spPr>
          <p:txBody>
            <a:bodyPr wrap="none" lIns="0" tIns="0" rIns="0" bIns="0">
              <a:spAutoFit/>
            </a:bodyPr>
            <a:lstStyle/>
            <a:p>
              <a:r>
                <a:rPr lang="zh-TW" altLang="en-US" sz="675">
                  <a:solidFill>
                    <a:srgbClr val="000000"/>
                  </a:solidFill>
                  <a:latin typeface="Arial" pitchFamily="34" charset="0"/>
                </a:rPr>
                <a:t>0</a:t>
              </a:r>
              <a:endParaRPr lang="zh-TW" altLang="en-US" sz="1350"/>
            </a:p>
          </p:txBody>
        </p:sp>
        <p:sp>
          <p:nvSpPr>
            <p:cNvPr id="55399" name="Rectangle 102"/>
            <p:cNvSpPr>
              <a:spLocks noChangeArrowheads="1"/>
            </p:cNvSpPr>
            <p:nvPr/>
          </p:nvSpPr>
          <p:spPr bwMode="auto">
            <a:xfrm>
              <a:off x="3965" y="4186"/>
              <a:ext cx="40" cy="87"/>
            </a:xfrm>
            <a:prstGeom prst="rect">
              <a:avLst/>
            </a:prstGeom>
            <a:noFill/>
            <a:ln w="9525">
              <a:noFill/>
              <a:miter lim="800000"/>
              <a:headEnd/>
              <a:tailEnd/>
            </a:ln>
          </p:spPr>
          <p:txBody>
            <a:bodyPr wrap="none" lIns="0" tIns="0" rIns="0" bIns="0">
              <a:spAutoFit/>
            </a:bodyPr>
            <a:lstStyle/>
            <a:p>
              <a:r>
                <a:rPr lang="zh-TW" altLang="en-US" sz="675">
                  <a:solidFill>
                    <a:srgbClr val="000000"/>
                  </a:solidFill>
                  <a:latin typeface="Arial" pitchFamily="34" charset="0"/>
                </a:rPr>
                <a:t>1</a:t>
              </a:r>
              <a:endParaRPr lang="zh-TW" altLang="en-US" sz="1350"/>
            </a:p>
          </p:txBody>
        </p:sp>
        <p:sp>
          <p:nvSpPr>
            <p:cNvPr id="55400" name="Rectangle 103"/>
            <p:cNvSpPr>
              <a:spLocks noChangeArrowheads="1"/>
            </p:cNvSpPr>
            <p:nvPr/>
          </p:nvSpPr>
          <p:spPr bwMode="auto">
            <a:xfrm>
              <a:off x="4041" y="4186"/>
              <a:ext cx="40" cy="87"/>
            </a:xfrm>
            <a:prstGeom prst="rect">
              <a:avLst/>
            </a:prstGeom>
            <a:noFill/>
            <a:ln w="9525">
              <a:noFill/>
              <a:miter lim="800000"/>
              <a:headEnd/>
              <a:tailEnd/>
            </a:ln>
          </p:spPr>
          <p:txBody>
            <a:bodyPr wrap="none" lIns="0" tIns="0" rIns="0" bIns="0">
              <a:spAutoFit/>
            </a:bodyPr>
            <a:lstStyle/>
            <a:p>
              <a:r>
                <a:rPr lang="zh-TW" altLang="en-US" sz="675">
                  <a:solidFill>
                    <a:srgbClr val="000000"/>
                  </a:solidFill>
                  <a:latin typeface="Arial" pitchFamily="34" charset="0"/>
                </a:rPr>
                <a:t>0</a:t>
              </a:r>
              <a:endParaRPr lang="zh-TW" altLang="en-US" sz="1350"/>
            </a:p>
          </p:txBody>
        </p:sp>
        <p:sp>
          <p:nvSpPr>
            <p:cNvPr id="55401" name="Rectangle 104"/>
            <p:cNvSpPr>
              <a:spLocks noChangeArrowheads="1"/>
            </p:cNvSpPr>
            <p:nvPr/>
          </p:nvSpPr>
          <p:spPr bwMode="auto">
            <a:xfrm>
              <a:off x="4112" y="4186"/>
              <a:ext cx="40" cy="87"/>
            </a:xfrm>
            <a:prstGeom prst="rect">
              <a:avLst/>
            </a:prstGeom>
            <a:noFill/>
            <a:ln w="9525">
              <a:noFill/>
              <a:miter lim="800000"/>
              <a:headEnd/>
              <a:tailEnd/>
            </a:ln>
          </p:spPr>
          <p:txBody>
            <a:bodyPr wrap="none" lIns="0" tIns="0" rIns="0" bIns="0">
              <a:spAutoFit/>
            </a:bodyPr>
            <a:lstStyle/>
            <a:p>
              <a:r>
                <a:rPr lang="zh-TW" altLang="en-US" sz="675">
                  <a:solidFill>
                    <a:srgbClr val="000000"/>
                  </a:solidFill>
                  <a:latin typeface="Arial" pitchFamily="34" charset="0"/>
                </a:rPr>
                <a:t>1</a:t>
              </a:r>
              <a:endParaRPr lang="zh-TW" altLang="en-US" sz="1350"/>
            </a:p>
          </p:txBody>
        </p:sp>
        <p:sp>
          <p:nvSpPr>
            <p:cNvPr id="55402" name="Rectangle 105"/>
            <p:cNvSpPr>
              <a:spLocks noChangeArrowheads="1"/>
            </p:cNvSpPr>
            <p:nvPr/>
          </p:nvSpPr>
          <p:spPr bwMode="auto">
            <a:xfrm>
              <a:off x="4457" y="4186"/>
              <a:ext cx="40" cy="87"/>
            </a:xfrm>
            <a:prstGeom prst="rect">
              <a:avLst/>
            </a:prstGeom>
            <a:noFill/>
            <a:ln w="9525">
              <a:noFill/>
              <a:miter lim="800000"/>
              <a:headEnd/>
              <a:tailEnd/>
            </a:ln>
          </p:spPr>
          <p:txBody>
            <a:bodyPr wrap="none" lIns="0" tIns="0" rIns="0" bIns="0">
              <a:spAutoFit/>
            </a:bodyPr>
            <a:lstStyle/>
            <a:p>
              <a:r>
                <a:rPr lang="zh-TW" altLang="en-US" sz="675">
                  <a:solidFill>
                    <a:srgbClr val="000000"/>
                  </a:solidFill>
                  <a:latin typeface="Arial" pitchFamily="34" charset="0"/>
                </a:rPr>
                <a:t>1</a:t>
              </a:r>
              <a:endParaRPr lang="zh-TW" altLang="en-US" sz="1350"/>
            </a:p>
          </p:txBody>
        </p:sp>
        <p:sp>
          <p:nvSpPr>
            <p:cNvPr id="55403" name="Rectangle 106"/>
            <p:cNvSpPr>
              <a:spLocks noChangeArrowheads="1"/>
            </p:cNvSpPr>
            <p:nvPr/>
          </p:nvSpPr>
          <p:spPr bwMode="auto">
            <a:xfrm>
              <a:off x="4532" y="4186"/>
              <a:ext cx="40" cy="87"/>
            </a:xfrm>
            <a:prstGeom prst="rect">
              <a:avLst/>
            </a:prstGeom>
            <a:noFill/>
            <a:ln w="9525">
              <a:noFill/>
              <a:miter lim="800000"/>
              <a:headEnd/>
              <a:tailEnd/>
            </a:ln>
          </p:spPr>
          <p:txBody>
            <a:bodyPr wrap="none" lIns="0" tIns="0" rIns="0" bIns="0">
              <a:spAutoFit/>
            </a:bodyPr>
            <a:lstStyle/>
            <a:p>
              <a:r>
                <a:rPr lang="zh-TW" altLang="en-US" sz="675">
                  <a:solidFill>
                    <a:srgbClr val="000000"/>
                  </a:solidFill>
                  <a:latin typeface="Arial" pitchFamily="34" charset="0"/>
                </a:rPr>
                <a:t>1</a:t>
              </a:r>
              <a:endParaRPr lang="zh-TW" altLang="en-US" sz="1350"/>
            </a:p>
          </p:txBody>
        </p:sp>
        <p:sp>
          <p:nvSpPr>
            <p:cNvPr id="55404" name="Rectangle 107"/>
            <p:cNvSpPr>
              <a:spLocks noChangeArrowheads="1"/>
            </p:cNvSpPr>
            <p:nvPr/>
          </p:nvSpPr>
          <p:spPr bwMode="auto">
            <a:xfrm>
              <a:off x="4607" y="4186"/>
              <a:ext cx="40" cy="87"/>
            </a:xfrm>
            <a:prstGeom prst="rect">
              <a:avLst/>
            </a:prstGeom>
            <a:noFill/>
            <a:ln w="9525">
              <a:noFill/>
              <a:miter lim="800000"/>
              <a:headEnd/>
              <a:tailEnd/>
            </a:ln>
          </p:spPr>
          <p:txBody>
            <a:bodyPr wrap="none" lIns="0" tIns="0" rIns="0" bIns="0">
              <a:spAutoFit/>
            </a:bodyPr>
            <a:lstStyle/>
            <a:p>
              <a:r>
                <a:rPr lang="zh-TW" altLang="en-US" sz="675">
                  <a:solidFill>
                    <a:srgbClr val="000000"/>
                  </a:solidFill>
                  <a:latin typeface="Arial" pitchFamily="34" charset="0"/>
                </a:rPr>
                <a:t>0</a:t>
              </a:r>
              <a:endParaRPr lang="zh-TW" altLang="en-US" sz="1350"/>
            </a:p>
          </p:txBody>
        </p:sp>
        <p:sp>
          <p:nvSpPr>
            <p:cNvPr id="55405" name="Rectangle 108"/>
            <p:cNvSpPr>
              <a:spLocks noChangeArrowheads="1"/>
            </p:cNvSpPr>
            <p:nvPr/>
          </p:nvSpPr>
          <p:spPr bwMode="auto">
            <a:xfrm>
              <a:off x="4678" y="4186"/>
              <a:ext cx="40" cy="87"/>
            </a:xfrm>
            <a:prstGeom prst="rect">
              <a:avLst/>
            </a:prstGeom>
            <a:noFill/>
            <a:ln w="9525">
              <a:noFill/>
              <a:miter lim="800000"/>
              <a:headEnd/>
              <a:tailEnd/>
            </a:ln>
          </p:spPr>
          <p:txBody>
            <a:bodyPr wrap="none" lIns="0" tIns="0" rIns="0" bIns="0">
              <a:spAutoFit/>
            </a:bodyPr>
            <a:lstStyle/>
            <a:p>
              <a:r>
                <a:rPr lang="zh-TW" altLang="en-US" sz="675">
                  <a:solidFill>
                    <a:srgbClr val="000000"/>
                  </a:solidFill>
                  <a:latin typeface="Arial" pitchFamily="34" charset="0"/>
                </a:rPr>
                <a:t>0</a:t>
              </a:r>
              <a:endParaRPr lang="zh-TW" altLang="en-US" sz="1350"/>
            </a:p>
          </p:txBody>
        </p:sp>
        <p:sp>
          <p:nvSpPr>
            <p:cNvPr id="55406" name="Rectangle 109"/>
            <p:cNvSpPr>
              <a:spLocks noChangeArrowheads="1"/>
            </p:cNvSpPr>
            <p:nvPr/>
          </p:nvSpPr>
          <p:spPr bwMode="auto">
            <a:xfrm>
              <a:off x="4754" y="4186"/>
              <a:ext cx="40" cy="87"/>
            </a:xfrm>
            <a:prstGeom prst="rect">
              <a:avLst/>
            </a:prstGeom>
            <a:noFill/>
            <a:ln w="9525">
              <a:noFill/>
              <a:miter lim="800000"/>
              <a:headEnd/>
              <a:tailEnd/>
            </a:ln>
          </p:spPr>
          <p:txBody>
            <a:bodyPr wrap="none" lIns="0" tIns="0" rIns="0" bIns="0">
              <a:spAutoFit/>
            </a:bodyPr>
            <a:lstStyle/>
            <a:p>
              <a:r>
                <a:rPr lang="zh-TW" altLang="en-US" sz="675">
                  <a:solidFill>
                    <a:srgbClr val="000000"/>
                  </a:solidFill>
                  <a:latin typeface="Arial" pitchFamily="34" charset="0"/>
                </a:rPr>
                <a:t>1</a:t>
              </a:r>
              <a:endParaRPr lang="zh-TW" altLang="en-US" sz="1350"/>
            </a:p>
          </p:txBody>
        </p:sp>
        <p:sp>
          <p:nvSpPr>
            <p:cNvPr id="55407" name="Rectangle 110"/>
            <p:cNvSpPr>
              <a:spLocks noChangeArrowheads="1"/>
            </p:cNvSpPr>
            <p:nvPr/>
          </p:nvSpPr>
          <p:spPr bwMode="auto">
            <a:xfrm>
              <a:off x="5098" y="4186"/>
              <a:ext cx="40" cy="87"/>
            </a:xfrm>
            <a:prstGeom prst="rect">
              <a:avLst/>
            </a:prstGeom>
            <a:noFill/>
            <a:ln w="9525">
              <a:noFill/>
              <a:miter lim="800000"/>
              <a:headEnd/>
              <a:tailEnd/>
            </a:ln>
          </p:spPr>
          <p:txBody>
            <a:bodyPr wrap="none" lIns="0" tIns="0" rIns="0" bIns="0">
              <a:spAutoFit/>
            </a:bodyPr>
            <a:lstStyle/>
            <a:p>
              <a:r>
                <a:rPr lang="zh-TW" altLang="en-US" sz="675">
                  <a:solidFill>
                    <a:srgbClr val="000000"/>
                  </a:solidFill>
                  <a:latin typeface="Arial" pitchFamily="34" charset="0"/>
                </a:rPr>
                <a:t>1</a:t>
              </a:r>
              <a:endParaRPr lang="zh-TW" altLang="en-US" sz="1350"/>
            </a:p>
          </p:txBody>
        </p:sp>
        <p:sp>
          <p:nvSpPr>
            <p:cNvPr id="55408" name="Rectangle 111"/>
            <p:cNvSpPr>
              <a:spLocks noChangeArrowheads="1"/>
            </p:cNvSpPr>
            <p:nvPr/>
          </p:nvSpPr>
          <p:spPr bwMode="auto">
            <a:xfrm>
              <a:off x="5170" y="4186"/>
              <a:ext cx="40" cy="87"/>
            </a:xfrm>
            <a:prstGeom prst="rect">
              <a:avLst/>
            </a:prstGeom>
            <a:noFill/>
            <a:ln w="9525">
              <a:noFill/>
              <a:miter lim="800000"/>
              <a:headEnd/>
              <a:tailEnd/>
            </a:ln>
          </p:spPr>
          <p:txBody>
            <a:bodyPr wrap="none" lIns="0" tIns="0" rIns="0" bIns="0">
              <a:spAutoFit/>
            </a:bodyPr>
            <a:lstStyle/>
            <a:p>
              <a:r>
                <a:rPr lang="zh-TW" altLang="en-US" sz="675">
                  <a:solidFill>
                    <a:srgbClr val="000000"/>
                  </a:solidFill>
                  <a:latin typeface="Arial" pitchFamily="34" charset="0"/>
                </a:rPr>
                <a:t>1</a:t>
              </a:r>
              <a:endParaRPr lang="zh-TW" altLang="en-US" sz="1350"/>
            </a:p>
          </p:txBody>
        </p:sp>
        <p:sp>
          <p:nvSpPr>
            <p:cNvPr id="55409" name="Rectangle 112"/>
            <p:cNvSpPr>
              <a:spLocks noChangeArrowheads="1"/>
            </p:cNvSpPr>
            <p:nvPr/>
          </p:nvSpPr>
          <p:spPr bwMode="auto">
            <a:xfrm>
              <a:off x="5245" y="4186"/>
              <a:ext cx="40" cy="87"/>
            </a:xfrm>
            <a:prstGeom prst="rect">
              <a:avLst/>
            </a:prstGeom>
            <a:noFill/>
            <a:ln w="9525">
              <a:noFill/>
              <a:miter lim="800000"/>
              <a:headEnd/>
              <a:tailEnd/>
            </a:ln>
          </p:spPr>
          <p:txBody>
            <a:bodyPr wrap="none" lIns="0" tIns="0" rIns="0" bIns="0">
              <a:spAutoFit/>
            </a:bodyPr>
            <a:lstStyle/>
            <a:p>
              <a:r>
                <a:rPr lang="zh-TW" altLang="en-US" sz="675">
                  <a:solidFill>
                    <a:srgbClr val="000000"/>
                  </a:solidFill>
                  <a:latin typeface="Arial" pitchFamily="34" charset="0"/>
                </a:rPr>
                <a:t>1</a:t>
              </a:r>
              <a:endParaRPr lang="zh-TW" altLang="en-US" sz="1350"/>
            </a:p>
          </p:txBody>
        </p:sp>
        <p:sp>
          <p:nvSpPr>
            <p:cNvPr id="55410" name="Rectangle 113"/>
            <p:cNvSpPr>
              <a:spLocks noChangeArrowheads="1"/>
            </p:cNvSpPr>
            <p:nvPr/>
          </p:nvSpPr>
          <p:spPr bwMode="auto">
            <a:xfrm>
              <a:off x="5320" y="4186"/>
              <a:ext cx="40" cy="87"/>
            </a:xfrm>
            <a:prstGeom prst="rect">
              <a:avLst/>
            </a:prstGeom>
            <a:noFill/>
            <a:ln w="9525">
              <a:noFill/>
              <a:miter lim="800000"/>
              <a:headEnd/>
              <a:tailEnd/>
            </a:ln>
          </p:spPr>
          <p:txBody>
            <a:bodyPr wrap="none" lIns="0" tIns="0" rIns="0" bIns="0">
              <a:spAutoFit/>
            </a:bodyPr>
            <a:lstStyle/>
            <a:p>
              <a:r>
                <a:rPr lang="zh-TW" altLang="en-US" sz="675">
                  <a:solidFill>
                    <a:srgbClr val="000000"/>
                  </a:solidFill>
                  <a:latin typeface="Arial" pitchFamily="34" charset="0"/>
                </a:rPr>
                <a:t>0</a:t>
              </a:r>
              <a:endParaRPr lang="zh-TW" altLang="en-US" sz="1350"/>
            </a:p>
          </p:txBody>
        </p:sp>
        <p:sp>
          <p:nvSpPr>
            <p:cNvPr id="55411" name="Rectangle 114"/>
            <p:cNvSpPr>
              <a:spLocks noChangeArrowheads="1"/>
            </p:cNvSpPr>
            <p:nvPr/>
          </p:nvSpPr>
          <p:spPr bwMode="auto">
            <a:xfrm>
              <a:off x="5392" y="4186"/>
              <a:ext cx="40" cy="87"/>
            </a:xfrm>
            <a:prstGeom prst="rect">
              <a:avLst/>
            </a:prstGeom>
            <a:noFill/>
            <a:ln w="9525">
              <a:noFill/>
              <a:miter lim="800000"/>
              <a:headEnd/>
              <a:tailEnd/>
            </a:ln>
          </p:spPr>
          <p:txBody>
            <a:bodyPr wrap="none" lIns="0" tIns="0" rIns="0" bIns="0">
              <a:spAutoFit/>
            </a:bodyPr>
            <a:lstStyle/>
            <a:p>
              <a:r>
                <a:rPr lang="zh-TW" altLang="en-US" sz="675">
                  <a:solidFill>
                    <a:srgbClr val="000000"/>
                  </a:solidFill>
                  <a:latin typeface="Arial" pitchFamily="34" charset="0"/>
                </a:rPr>
                <a:t>1</a:t>
              </a:r>
              <a:endParaRPr lang="zh-TW" altLang="en-US" sz="1350"/>
            </a:p>
          </p:txBody>
        </p:sp>
        <p:sp>
          <p:nvSpPr>
            <p:cNvPr id="55412" name="Rectangle 115"/>
            <p:cNvSpPr>
              <a:spLocks noChangeArrowheads="1"/>
            </p:cNvSpPr>
            <p:nvPr/>
          </p:nvSpPr>
          <p:spPr bwMode="auto">
            <a:xfrm rot="16200000">
              <a:off x="2545" y="2483"/>
              <a:ext cx="40" cy="87"/>
            </a:xfrm>
            <a:prstGeom prst="rect">
              <a:avLst/>
            </a:prstGeom>
            <a:noFill/>
            <a:ln w="9525">
              <a:noFill/>
              <a:miter lim="800000"/>
              <a:headEnd/>
              <a:tailEnd/>
            </a:ln>
          </p:spPr>
          <p:txBody>
            <a:bodyPr wrap="none" lIns="0" tIns="0" rIns="0" bIns="0">
              <a:spAutoFit/>
            </a:bodyPr>
            <a:lstStyle/>
            <a:p>
              <a:r>
                <a:rPr lang="zh-TW" altLang="en-US" sz="675">
                  <a:solidFill>
                    <a:srgbClr val="000000"/>
                  </a:solidFill>
                  <a:latin typeface="Arial" pitchFamily="34" charset="0"/>
                </a:rPr>
                <a:t>0</a:t>
              </a:r>
              <a:endParaRPr lang="zh-TW" altLang="en-US" sz="1350"/>
            </a:p>
          </p:txBody>
        </p:sp>
        <p:sp>
          <p:nvSpPr>
            <p:cNvPr id="55413" name="Rectangle 116"/>
            <p:cNvSpPr>
              <a:spLocks noChangeArrowheads="1"/>
            </p:cNvSpPr>
            <p:nvPr/>
          </p:nvSpPr>
          <p:spPr bwMode="auto">
            <a:xfrm rot="16200000">
              <a:off x="2545" y="2442"/>
              <a:ext cx="40" cy="87"/>
            </a:xfrm>
            <a:prstGeom prst="rect">
              <a:avLst/>
            </a:prstGeom>
            <a:noFill/>
            <a:ln w="9525">
              <a:noFill/>
              <a:miter lim="800000"/>
              <a:headEnd/>
              <a:tailEnd/>
            </a:ln>
          </p:spPr>
          <p:txBody>
            <a:bodyPr wrap="none" lIns="0" tIns="0" rIns="0" bIns="0">
              <a:spAutoFit/>
            </a:bodyPr>
            <a:lstStyle/>
            <a:p>
              <a:r>
                <a:rPr lang="zh-TW" altLang="en-US" sz="675">
                  <a:solidFill>
                    <a:srgbClr val="000000"/>
                  </a:solidFill>
                  <a:latin typeface="Arial" pitchFamily="34" charset="0"/>
                </a:rPr>
                <a:t>0</a:t>
              </a:r>
              <a:endParaRPr lang="zh-TW" altLang="en-US" sz="1350"/>
            </a:p>
          </p:txBody>
        </p:sp>
        <p:sp>
          <p:nvSpPr>
            <p:cNvPr id="55414" name="Rectangle 117"/>
            <p:cNvSpPr>
              <a:spLocks noChangeArrowheads="1"/>
            </p:cNvSpPr>
            <p:nvPr/>
          </p:nvSpPr>
          <p:spPr bwMode="auto">
            <a:xfrm rot="16200000">
              <a:off x="2545" y="2400"/>
              <a:ext cx="40" cy="87"/>
            </a:xfrm>
            <a:prstGeom prst="rect">
              <a:avLst/>
            </a:prstGeom>
            <a:noFill/>
            <a:ln w="9525">
              <a:noFill/>
              <a:miter lim="800000"/>
              <a:headEnd/>
              <a:tailEnd/>
            </a:ln>
          </p:spPr>
          <p:txBody>
            <a:bodyPr wrap="none" lIns="0" tIns="0" rIns="0" bIns="0">
              <a:spAutoFit/>
            </a:bodyPr>
            <a:lstStyle/>
            <a:p>
              <a:r>
                <a:rPr lang="zh-TW" altLang="en-US" sz="675">
                  <a:solidFill>
                    <a:srgbClr val="000000"/>
                  </a:solidFill>
                  <a:latin typeface="Arial" pitchFamily="34" charset="0"/>
                </a:rPr>
                <a:t>0</a:t>
              </a:r>
              <a:endParaRPr lang="zh-TW" altLang="en-US" sz="1350"/>
            </a:p>
          </p:txBody>
        </p:sp>
        <p:sp>
          <p:nvSpPr>
            <p:cNvPr id="55415" name="Freeform 118"/>
            <p:cNvSpPr>
              <a:spLocks/>
            </p:cNvSpPr>
            <p:nvPr/>
          </p:nvSpPr>
          <p:spPr bwMode="auto">
            <a:xfrm>
              <a:off x="5546" y="3541"/>
              <a:ext cx="4" cy="620"/>
            </a:xfrm>
            <a:custGeom>
              <a:avLst/>
              <a:gdLst>
                <a:gd name="T0" fmla="*/ 0 w 4"/>
                <a:gd name="T1" fmla="*/ 0 h 620"/>
                <a:gd name="T2" fmla="*/ 4 w 4"/>
                <a:gd name="T3" fmla="*/ 620 h 620"/>
                <a:gd name="T4" fmla="*/ 0 w 4"/>
                <a:gd name="T5" fmla="*/ 0 h 620"/>
                <a:gd name="T6" fmla="*/ 0 60000 65536"/>
                <a:gd name="T7" fmla="*/ 0 60000 65536"/>
                <a:gd name="T8" fmla="*/ 0 60000 65536"/>
                <a:gd name="T9" fmla="*/ 0 w 4"/>
                <a:gd name="T10" fmla="*/ 0 h 620"/>
                <a:gd name="T11" fmla="*/ 4 w 4"/>
                <a:gd name="T12" fmla="*/ 620 h 620"/>
              </a:gdLst>
              <a:ahLst/>
              <a:cxnLst>
                <a:cxn ang="T6">
                  <a:pos x="T0" y="T1"/>
                </a:cxn>
                <a:cxn ang="T7">
                  <a:pos x="T2" y="T3"/>
                </a:cxn>
                <a:cxn ang="T8">
                  <a:pos x="T4" y="T5"/>
                </a:cxn>
              </a:cxnLst>
              <a:rect l="T9" t="T10" r="T11" b="T12"/>
              <a:pathLst>
                <a:path w="4" h="620">
                  <a:moveTo>
                    <a:pt x="0" y="0"/>
                  </a:moveTo>
                  <a:lnTo>
                    <a:pt x="4" y="620"/>
                  </a:lnTo>
                  <a:lnTo>
                    <a:pt x="0" y="0"/>
                  </a:lnTo>
                  <a:close/>
                </a:path>
              </a:pathLst>
            </a:custGeom>
            <a:solidFill>
              <a:srgbClr val="EB7500"/>
            </a:solidFill>
            <a:ln w="9525">
              <a:noFill/>
              <a:round/>
              <a:headEnd/>
              <a:tailEnd/>
            </a:ln>
          </p:spPr>
          <p:txBody>
            <a:bodyPr/>
            <a:lstStyle/>
            <a:p>
              <a:endParaRPr lang="zh-TW" altLang="en-US" sz="1350"/>
            </a:p>
          </p:txBody>
        </p:sp>
        <p:sp>
          <p:nvSpPr>
            <p:cNvPr id="55416" name="Line 119"/>
            <p:cNvSpPr>
              <a:spLocks noChangeShapeType="1"/>
            </p:cNvSpPr>
            <p:nvPr/>
          </p:nvSpPr>
          <p:spPr bwMode="auto">
            <a:xfrm>
              <a:off x="5546" y="3541"/>
              <a:ext cx="4" cy="620"/>
            </a:xfrm>
            <a:prstGeom prst="line">
              <a:avLst/>
            </a:prstGeom>
            <a:noFill/>
            <a:ln w="25400">
              <a:solidFill>
                <a:srgbClr val="000000"/>
              </a:solidFill>
              <a:round/>
              <a:headEnd/>
              <a:tailEnd/>
            </a:ln>
          </p:spPr>
          <p:txBody>
            <a:bodyPr/>
            <a:lstStyle/>
            <a:p>
              <a:endParaRPr lang="zh-TW" altLang="en-US" sz="1350"/>
            </a:p>
          </p:txBody>
        </p:sp>
        <p:sp>
          <p:nvSpPr>
            <p:cNvPr id="55417" name="Rectangle 120"/>
            <p:cNvSpPr>
              <a:spLocks noChangeArrowheads="1"/>
            </p:cNvSpPr>
            <p:nvPr/>
          </p:nvSpPr>
          <p:spPr bwMode="auto">
            <a:xfrm rot="16200000">
              <a:off x="2696" y="2483"/>
              <a:ext cx="40" cy="87"/>
            </a:xfrm>
            <a:prstGeom prst="rect">
              <a:avLst/>
            </a:prstGeom>
            <a:noFill/>
            <a:ln w="9525">
              <a:noFill/>
              <a:miter lim="800000"/>
              <a:headEnd/>
              <a:tailEnd/>
            </a:ln>
          </p:spPr>
          <p:txBody>
            <a:bodyPr wrap="none" lIns="0" tIns="0" rIns="0" bIns="0">
              <a:spAutoFit/>
            </a:bodyPr>
            <a:lstStyle/>
            <a:p>
              <a:r>
                <a:rPr lang="zh-TW" altLang="en-US" sz="675">
                  <a:solidFill>
                    <a:srgbClr val="000000"/>
                  </a:solidFill>
                  <a:latin typeface="Arial" pitchFamily="34" charset="0"/>
                </a:rPr>
                <a:t>0</a:t>
              </a:r>
              <a:endParaRPr lang="zh-TW" altLang="en-US" sz="1350"/>
            </a:p>
          </p:txBody>
        </p:sp>
        <p:sp>
          <p:nvSpPr>
            <p:cNvPr id="55418" name="Rectangle 121"/>
            <p:cNvSpPr>
              <a:spLocks noChangeArrowheads="1"/>
            </p:cNvSpPr>
            <p:nvPr/>
          </p:nvSpPr>
          <p:spPr bwMode="auto">
            <a:xfrm rot="16200000">
              <a:off x="2696" y="2440"/>
              <a:ext cx="40" cy="87"/>
            </a:xfrm>
            <a:prstGeom prst="rect">
              <a:avLst/>
            </a:prstGeom>
            <a:noFill/>
            <a:ln w="9525">
              <a:noFill/>
              <a:miter lim="800000"/>
              <a:headEnd/>
              <a:tailEnd/>
            </a:ln>
          </p:spPr>
          <p:txBody>
            <a:bodyPr wrap="none" lIns="0" tIns="0" rIns="0" bIns="0">
              <a:spAutoFit/>
            </a:bodyPr>
            <a:lstStyle/>
            <a:p>
              <a:r>
                <a:rPr lang="zh-TW" altLang="en-US" sz="675">
                  <a:solidFill>
                    <a:srgbClr val="000000"/>
                  </a:solidFill>
                  <a:latin typeface="Arial" pitchFamily="34" charset="0"/>
                </a:rPr>
                <a:t>0</a:t>
              </a:r>
              <a:endParaRPr lang="zh-TW" altLang="en-US" sz="1350"/>
            </a:p>
          </p:txBody>
        </p:sp>
        <p:sp>
          <p:nvSpPr>
            <p:cNvPr id="55419" name="Rectangle 122"/>
            <p:cNvSpPr>
              <a:spLocks noChangeArrowheads="1"/>
            </p:cNvSpPr>
            <p:nvPr/>
          </p:nvSpPr>
          <p:spPr bwMode="auto">
            <a:xfrm rot="16200000">
              <a:off x="2696" y="2400"/>
              <a:ext cx="40" cy="87"/>
            </a:xfrm>
            <a:prstGeom prst="rect">
              <a:avLst/>
            </a:prstGeom>
            <a:noFill/>
            <a:ln w="9525">
              <a:noFill/>
              <a:miter lim="800000"/>
              <a:headEnd/>
              <a:tailEnd/>
            </a:ln>
          </p:spPr>
          <p:txBody>
            <a:bodyPr wrap="none" lIns="0" tIns="0" rIns="0" bIns="0">
              <a:spAutoFit/>
            </a:bodyPr>
            <a:lstStyle/>
            <a:p>
              <a:r>
                <a:rPr lang="zh-TW" altLang="en-US" sz="675">
                  <a:solidFill>
                    <a:srgbClr val="000000"/>
                  </a:solidFill>
                  <a:latin typeface="Arial" pitchFamily="34" charset="0"/>
                </a:rPr>
                <a:t>1</a:t>
              </a:r>
              <a:endParaRPr lang="zh-TW" altLang="en-US" sz="1350"/>
            </a:p>
          </p:txBody>
        </p:sp>
        <p:sp>
          <p:nvSpPr>
            <p:cNvPr id="55420" name="Rectangle 123"/>
            <p:cNvSpPr>
              <a:spLocks noChangeArrowheads="1"/>
            </p:cNvSpPr>
            <p:nvPr/>
          </p:nvSpPr>
          <p:spPr bwMode="auto">
            <a:xfrm rot="16200000">
              <a:off x="2862" y="2485"/>
              <a:ext cx="40" cy="87"/>
            </a:xfrm>
            <a:prstGeom prst="rect">
              <a:avLst/>
            </a:prstGeom>
            <a:noFill/>
            <a:ln w="9525">
              <a:noFill/>
              <a:miter lim="800000"/>
              <a:headEnd/>
              <a:tailEnd/>
            </a:ln>
          </p:spPr>
          <p:txBody>
            <a:bodyPr wrap="none" lIns="0" tIns="0" rIns="0" bIns="0">
              <a:spAutoFit/>
            </a:bodyPr>
            <a:lstStyle/>
            <a:p>
              <a:r>
                <a:rPr lang="zh-TW" altLang="en-US" sz="675">
                  <a:solidFill>
                    <a:srgbClr val="000000"/>
                  </a:solidFill>
                  <a:latin typeface="Arial" pitchFamily="34" charset="0"/>
                </a:rPr>
                <a:t>0</a:t>
              </a:r>
              <a:endParaRPr lang="zh-TW" altLang="en-US" sz="1350"/>
            </a:p>
          </p:txBody>
        </p:sp>
        <p:sp>
          <p:nvSpPr>
            <p:cNvPr id="55421" name="Rectangle 124"/>
            <p:cNvSpPr>
              <a:spLocks noChangeArrowheads="1"/>
            </p:cNvSpPr>
            <p:nvPr/>
          </p:nvSpPr>
          <p:spPr bwMode="auto">
            <a:xfrm rot="16200000">
              <a:off x="2862" y="2442"/>
              <a:ext cx="40" cy="87"/>
            </a:xfrm>
            <a:prstGeom prst="rect">
              <a:avLst/>
            </a:prstGeom>
            <a:noFill/>
            <a:ln w="9525">
              <a:noFill/>
              <a:miter lim="800000"/>
              <a:headEnd/>
              <a:tailEnd/>
            </a:ln>
          </p:spPr>
          <p:txBody>
            <a:bodyPr wrap="none" lIns="0" tIns="0" rIns="0" bIns="0">
              <a:spAutoFit/>
            </a:bodyPr>
            <a:lstStyle/>
            <a:p>
              <a:r>
                <a:rPr lang="zh-TW" altLang="en-US" sz="675">
                  <a:solidFill>
                    <a:srgbClr val="000000"/>
                  </a:solidFill>
                  <a:latin typeface="Arial" pitchFamily="34" charset="0"/>
                </a:rPr>
                <a:t>1</a:t>
              </a:r>
              <a:endParaRPr lang="zh-TW" altLang="en-US" sz="1350"/>
            </a:p>
          </p:txBody>
        </p:sp>
        <p:sp>
          <p:nvSpPr>
            <p:cNvPr id="55422" name="Rectangle 125"/>
            <p:cNvSpPr>
              <a:spLocks noChangeArrowheads="1"/>
            </p:cNvSpPr>
            <p:nvPr/>
          </p:nvSpPr>
          <p:spPr bwMode="auto">
            <a:xfrm rot="16200000">
              <a:off x="2862" y="2400"/>
              <a:ext cx="40" cy="87"/>
            </a:xfrm>
            <a:prstGeom prst="rect">
              <a:avLst/>
            </a:prstGeom>
            <a:noFill/>
            <a:ln w="9525">
              <a:noFill/>
              <a:miter lim="800000"/>
              <a:headEnd/>
              <a:tailEnd/>
            </a:ln>
          </p:spPr>
          <p:txBody>
            <a:bodyPr wrap="none" lIns="0" tIns="0" rIns="0" bIns="0">
              <a:spAutoFit/>
            </a:bodyPr>
            <a:lstStyle/>
            <a:p>
              <a:r>
                <a:rPr lang="zh-TW" altLang="en-US" sz="675">
                  <a:solidFill>
                    <a:srgbClr val="000000"/>
                  </a:solidFill>
                  <a:latin typeface="Arial" pitchFamily="34" charset="0"/>
                </a:rPr>
                <a:t>0</a:t>
              </a:r>
              <a:endParaRPr lang="zh-TW" altLang="en-US" sz="1350"/>
            </a:p>
          </p:txBody>
        </p:sp>
        <p:sp>
          <p:nvSpPr>
            <p:cNvPr id="55423" name="Rectangle 126"/>
            <p:cNvSpPr>
              <a:spLocks noChangeArrowheads="1"/>
            </p:cNvSpPr>
            <p:nvPr/>
          </p:nvSpPr>
          <p:spPr bwMode="auto">
            <a:xfrm rot="16200000">
              <a:off x="3025" y="2485"/>
              <a:ext cx="40" cy="87"/>
            </a:xfrm>
            <a:prstGeom prst="rect">
              <a:avLst/>
            </a:prstGeom>
            <a:noFill/>
            <a:ln w="9525">
              <a:noFill/>
              <a:miter lim="800000"/>
              <a:headEnd/>
              <a:tailEnd/>
            </a:ln>
          </p:spPr>
          <p:txBody>
            <a:bodyPr wrap="none" lIns="0" tIns="0" rIns="0" bIns="0">
              <a:spAutoFit/>
            </a:bodyPr>
            <a:lstStyle/>
            <a:p>
              <a:r>
                <a:rPr lang="zh-TW" altLang="en-US" sz="675">
                  <a:solidFill>
                    <a:srgbClr val="000000"/>
                  </a:solidFill>
                  <a:latin typeface="Arial" pitchFamily="34" charset="0"/>
                </a:rPr>
                <a:t>0</a:t>
              </a:r>
              <a:endParaRPr lang="zh-TW" altLang="en-US" sz="1350"/>
            </a:p>
          </p:txBody>
        </p:sp>
        <p:sp>
          <p:nvSpPr>
            <p:cNvPr id="55424" name="Rectangle 127"/>
            <p:cNvSpPr>
              <a:spLocks noChangeArrowheads="1"/>
            </p:cNvSpPr>
            <p:nvPr/>
          </p:nvSpPr>
          <p:spPr bwMode="auto">
            <a:xfrm rot="16200000">
              <a:off x="3025" y="2445"/>
              <a:ext cx="40" cy="87"/>
            </a:xfrm>
            <a:prstGeom prst="rect">
              <a:avLst/>
            </a:prstGeom>
            <a:noFill/>
            <a:ln w="9525">
              <a:noFill/>
              <a:miter lim="800000"/>
              <a:headEnd/>
              <a:tailEnd/>
            </a:ln>
          </p:spPr>
          <p:txBody>
            <a:bodyPr wrap="none" lIns="0" tIns="0" rIns="0" bIns="0">
              <a:spAutoFit/>
            </a:bodyPr>
            <a:lstStyle/>
            <a:p>
              <a:r>
                <a:rPr lang="zh-TW" altLang="en-US" sz="675">
                  <a:solidFill>
                    <a:srgbClr val="000000"/>
                  </a:solidFill>
                  <a:latin typeface="Arial" pitchFamily="34" charset="0"/>
                </a:rPr>
                <a:t>1</a:t>
              </a:r>
              <a:endParaRPr lang="zh-TW" altLang="en-US" sz="1350"/>
            </a:p>
          </p:txBody>
        </p:sp>
        <p:sp>
          <p:nvSpPr>
            <p:cNvPr id="55425" name="Rectangle 128"/>
            <p:cNvSpPr>
              <a:spLocks noChangeArrowheads="1"/>
            </p:cNvSpPr>
            <p:nvPr/>
          </p:nvSpPr>
          <p:spPr bwMode="auto">
            <a:xfrm rot="16200000">
              <a:off x="3025" y="2402"/>
              <a:ext cx="40" cy="87"/>
            </a:xfrm>
            <a:prstGeom prst="rect">
              <a:avLst/>
            </a:prstGeom>
            <a:noFill/>
            <a:ln w="9525">
              <a:noFill/>
              <a:miter lim="800000"/>
              <a:headEnd/>
              <a:tailEnd/>
            </a:ln>
          </p:spPr>
          <p:txBody>
            <a:bodyPr wrap="none" lIns="0" tIns="0" rIns="0" bIns="0">
              <a:spAutoFit/>
            </a:bodyPr>
            <a:lstStyle/>
            <a:p>
              <a:r>
                <a:rPr lang="zh-TW" altLang="en-US" sz="675">
                  <a:solidFill>
                    <a:srgbClr val="000000"/>
                  </a:solidFill>
                  <a:latin typeface="Arial" pitchFamily="34" charset="0"/>
                </a:rPr>
                <a:t>1</a:t>
              </a:r>
              <a:endParaRPr lang="zh-TW" altLang="en-US" sz="1350"/>
            </a:p>
          </p:txBody>
        </p:sp>
        <p:sp>
          <p:nvSpPr>
            <p:cNvPr id="55426" name="Rectangle 129"/>
            <p:cNvSpPr>
              <a:spLocks noChangeArrowheads="1"/>
            </p:cNvSpPr>
            <p:nvPr/>
          </p:nvSpPr>
          <p:spPr bwMode="auto">
            <a:xfrm rot="16200000">
              <a:off x="3179" y="2487"/>
              <a:ext cx="40" cy="87"/>
            </a:xfrm>
            <a:prstGeom prst="rect">
              <a:avLst/>
            </a:prstGeom>
            <a:noFill/>
            <a:ln w="9525">
              <a:noFill/>
              <a:miter lim="800000"/>
              <a:headEnd/>
              <a:tailEnd/>
            </a:ln>
          </p:spPr>
          <p:txBody>
            <a:bodyPr wrap="none" lIns="0" tIns="0" rIns="0" bIns="0">
              <a:spAutoFit/>
            </a:bodyPr>
            <a:lstStyle/>
            <a:p>
              <a:r>
                <a:rPr lang="zh-TW" altLang="en-US" sz="675">
                  <a:solidFill>
                    <a:srgbClr val="000000"/>
                  </a:solidFill>
                  <a:latin typeface="Arial" pitchFamily="34" charset="0"/>
                </a:rPr>
                <a:t>1</a:t>
              </a:r>
              <a:endParaRPr lang="zh-TW" altLang="en-US" sz="1350"/>
            </a:p>
          </p:txBody>
        </p:sp>
        <p:sp>
          <p:nvSpPr>
            <p:cNvPr id="55427" name="Rectangle 130"/>
            <p:cNvSpPr>
              <a:spLocks noChangeArrowheads="1"/>
            </p:cNvSpPr>
            <p:nvPr/>
          </p:nvSpPr>
          <p:spPr bwMode="auto">
            <a:xfrm rot="16200000">
              <a:off x="3179" y="2445"/>
              <a:ext cx="40" cy="87"/>
            </a:xfrm>
            <a:prstGeom prst="rect">
              <a:avLst/>
            </a:prstGeom>
            <a:noFill/>
            <a:ln w="9525">
              <a:noFill/>
              <a:miter lim="800000"/>
              <a:headEnd/>
              <a:tailEnd/>
            </a:ln>
          </p:spPr>
          <p:txBody>
            <a:bodyPr wrap="none" lIns="0" tIns="0" rIns="0" bIns="0">
              <a:spAutoFit/>
            </a:bodyPr>
            <a:lstStyle/>
            <a:p>
              <a:r>
                <a:rPr lang="zh-TW" altLang="en-US" sz="675">
                  <a:solidFill>
                    <a:srgbClr val="000000"/>
                  </a:solidFill>
                  <a:latin typeface="Arial" pitchFamily="34" charset="0"/>
                </a:rPr>
                <a:t>0</a:t>
              </a:r>
              <a:endParaRPr lang="zh-TW" altLang="en-US" sz="1350"/>
            </a:p>
          </p:txBody>
        </p:sp>
        <p:sp>
          <p:nvSpPr>
            <p:cNvPr id="55428" name="Rectangle 131"/>
            <p:cNvSpPr>
              <a:spLocks noChangeArrowheads="1"/>
            </p:cNvSpPr>
            <p:nvPr/>
          </p:nvSpPr>
          <p:spPr bwMode="auto">
            <a:xfrm rot="16200000">
              <a:off x="3179" y="2404"/>
              <a:ext cx="40" cy="87"/>
            </a:xfrm>
            <a:prstGeom prst="rect">
              <a:avLst/>
            </a:prstGeom>
            <a:noFill/>
            <a:ln w="9525">
              <a:noFill/>
              <a:miter lim="800000"/>
              <a:headEnd/>
              <a:tailEnd/>
            </a:ln>
          </p:spPr>
          <p:txBody>
            <a:bodyPr wrap="none" lIns="0" tIns="0" rIns="0" bIns="0">
              <a:spAutoFit/>
            </a:bodyPr>
            <a:lstStyle/>
            <a:p>
              <a:r>
                <a:rPr lang="zh-TW" altLang="en-US" sz="675">
                  <a:solidFill>
                    <a:srgbClr val="000000"/>
                  </a:solidFill>
                  <a:latin typeface="Arial" pitchFamily="34" charset="0"/>
                </a:rPr>
                <a:t>0</a:t>
              </a:r>
              <a:endParaRPr lang="zh-TW" altLang="en-US" sz="1350"/>
            </a:p>
          </p:txBody>
        </p:sp>
        <p:sp>
          <p:nvSpPr>
            <p:cNvPr id="55429" name="Rectangle 132"/>
            <p:cNvSpPr>
              <a:spLocks noChangeArrowheads="1"/>
            </p:cNvSpPr>
            <p:nvPr/>
          </p:nvSpPr>
          <p:spPr bwMode="auto">
            <a:xfrm rot="16200000">
              <a:off x="3334" y="2487"/>
              <a:ext cx="40" cy="87"/>
            </a:xfrm>
            <a:prstGeom prst="rect">
              <a:avLst/>
            </a:prstGeom>
            <a:noFill/>
            <a:ln w="9525">
              <a:noFill/>
              <a:miter lim="800000"/>
              <a:headEnd/>
              <a:tailEnd/>
            </a:ln>
          </p:spPr>
          <p:txBody>
            <a:bodyPr wrap="none" lIns="0" tIns="0" rIns="0" bIns="0">
              <a:spAutoFit/>
            </a:bodyPr>
            <a:lstStyle/>
            <a:p>
              <a:r>
                <a:rPr lang="zh-TW" altLang="en-US" sz="675">
                  <a:solidFill>
                    <a:srgbClr val="000000"/>
                  </a:solidFill>
                  <a:latin typeface="Arial" pitchFamily="34" charset="0"/>
                </a:rPr>
                <a:t>1</a:t>
              </a:r>
              <a:endParaRPr lang="zh-TW" altLang="en-US" sz="1350"/>
            </a:p>
          </p:txBody>
        </p:sp>
        <p:sp>
          <p:nvSpPr>
            <p:cNvPr id="55430" name="Rectangle 133"/>
            <p:cNvSpPr>
              <a:spLocks noChangeArrowheads="1"/>
            </p:cNvSpPr>
            <p:nvPr/>
          </p:nvSpPr>
          <p:spPr bwMode="auto">
            <a:xfrm rot="16200000">
              <a:off x="3334" y="2445"/>
              <a:ext cx="40" cy="87"/>
            </a:xfrm>
            <a:prstGeom prst="rect">
              <a:avLst/>
            </a:prstGeom>
            <a:noFill/>
            <a:ln w="9525">
              <a:noFill/>
              <a:miter lim="800000"/>
              <a:headEnd/>
              <a:tailEnd/>
            </a:ln>
          </p:spPr>
          <p:txBody>
            <a:bodyPr wrap="none" lIns="0" tIns="0" rIns="0" bIns="0">
              <a:spAutoFit/>
            </a:bodyPr>
            <a:lstStyle/>
            <a:p>
              <a:r>
                <a:rPr lang="zh-TW" altLang="en-US" sz="675">
                  <a:solidFill>
                    <a:srgbClr val="000000"/>
                  </a:solidFill>
                  <a:latin typeface="Arial" pitchFamily="34" charset="0"/>
                </a:rPr>
                <a:t>0</a:t>
              </a:r>
              <a:endParaRPr lang="zh-TW" altLang="en-US" sz="1350"/>
            </a:p>
          </p:txBody>
        </p:sp>
        <p:sp>
          <p:nvSpPr>
            <p:cNvPr id="55431" name="Rectangle 134"/>
            <p:cNvSpPr>
              <a:spLocks noChangeArrowheads="1"/>
            </p:cNvSpPr>
            <p:nvPr/>
          </p:nvSpPr>
          <p:spPr bwMode="auto">
            <a:xfrm rot="16200000">
              <a:off x="3334" y="2404"/>
              <a:ext cx="40" cy="87"/>
            </a:xfrm>
            <a:prstGeom prst="rect">
              <a:avLst/>
            </a:prstGeom>
            <a:noFill/>
            <a:ln w="9525">
              <a:noFill/>
              <a:miter lim="800000"/>
              <a:headEnd/>
              <a:tailEnd/>
            </a:ln>
          </p:spPr>
          <p:txBody>
            <a:bodyPr wrap="none" lIns="0" tIns="0" rIns="0" bIns="0">
              <a:spAutoFit/>
            </a:bodyPr>
            <a:lstStyle/>
            <a:p>
              <a:r>
                <a:rPr lang="zh-TW" altLang="en-US" sz="675">
                  <a:solidFill>
                    <a:srgbClr val="000000"/>
                  </a:solidFill>
                  <a:latin typeface="Arial" pitchFamily="34" charset="0"/>
                </a:rPr>
                <a:t>1</a:t>
              </a:r>
              <a:endParaRPr lang="zh-TW" altLang="en-US" sz="1350"/>
            </a:p>
          </p:txBody>
        </p:sp>
        <p:sp>
          <p:nvSpPr>
            <p:cNvPr id="55432" name="Rectangle 135"/>
            <p:cNvSpPr>
              <a:spLocks noChangeArrowheads="1"/>
            </p:cNvSpPr>
            <p:nvPr/>
          </p:nvSpPr>
          <p:spPr bwMode="auto">
            <a:xfrm rot="16200000">
              <a:off x="3496" y="2487"/>
              <a:ext cx="40" cy="87"/>
            </a:xfrm>
            <a:prstGeom prst="rect">
              <a:avLst/>
            </a:prstGeom>
            <a:noFill/>
            <a:ln w="9525">
              <a:noFill/>
              <a:miter lim="800000"/>
              <a:headEnd/>
              <a:tailEnd/>
            </a:ln>
          </p:spPr>
          <p:txBody>
            <a:bodyPr wrap="none" lIns="0" tIns="0" rIns="0" bIns="0">
              <a:spAutoFit/>
            </a:bodyPr>
            <a:lstStyle/>
            <a:p>
              <a:r>
                <a:rPr lang="zh-TW" altLang="en-US" sz="675">
                  <a:solidFill>
                    <a:srgbClr val="000000"/>
                  </a:solidFill>
                  <a:latin typeface="Arial" pitchFamily="34" charset="0"/>
                </a:rPr>
                <a:t>1</a:t>
              </a:r>
              <a:endParaRPr lang="zh-TW" altLang="en-US" sz="1350"/>
            </a:p>
          </p:txBody>
        </p:sp>
        <p:sp>
          <p:nvSpPr>
            <p:cNvPr id="55433" name="Rectangle 136"/>
            <p:cNvSpPr>
              <a:spLocks noChangeArrowheads="1"/>
            </p:cNvSpPr>
            <p:nvPr/>
          </p:nvSpPr>
          <p:spPr bwMode="auto">
            <a:xfrm rot="16200000">
              <a:off x="3496" y="2445"/>
              <a:ext cx="40" cy="87"/>
            </a:xfrm>
            <a:prstGeom prst="rect">
              <a:avLst/>
            </a:prstGeom>
            <a:noFill/>
            <a:ln w="9525">
              <a:noFill/>
              <a:miter lim="800000"/>
              <a:headEnd/>
              <a:tailEnd/>
            </a:ln>
          </p:spPr>
          <p:txBody>
            <a:bodyPr wrap="none" lIns="0" tIns="0" rIns="0" bIns="0">
              <a:spAutoFit/>
            </a:bodyPr>
            <a:lstStyle/>
            <a:p>
              <a:r>
                <a:rPr lang="zh-TW" altLang="en-US" sz="675">
                  <a:solidFill>
                    <a:srgbClr val="000000"/>
                  </a:solidFill>
                  <a:latin typeface="Arial" pitchFamily="34" charset="0"/>
                </a:rPr>
                <a:t>1</a:t>
              </a:r>
              <a:endParaRPr lang="zh-TW" altLang="en-US" sz="1350"/>
            </a:p>
          </p:txBody>
        </p:sp>
        <p:sp>
          <p:nvSpPr>
            <p:cNvPr id="55434" name="Rectangle 137"/>
            <p:cNvSpPr>
              <a:spLocks noChangeArrowheads="1"/>
            </p:cNvSpPr>
            <p:nvPr/>
          </p:nvSpPr>
          <p:spPr bwMode="auto">
            <a:xfrm rot="16200000">
              <a:off x="3496" y="2404"/>
              <a:ext cx="40" cy="87"/>
            </a:xfrm>
            <a:prstGeom prst="rect">
              <a:avLst/>
            </a:prstGeom>
            <a:noFill/>
            <a:ln w="9525">
              <a:noFill/>
              <a:miter lim="800000"/>
              <a:headEnd/>
              <a:tailEnd/>
            </a:ln>
          </p:spPr>
          <p:txBody>
            <a:bodyPr wrap="none" lIns="0" tIns="0" rIns="0" bIns="0">
              <a:spAutoFit/>
            </a:bodyPr>
            <a:lstStyle/>
            <a:p>
              <a:r>
                <a:rPr lang="zh-TW" altLang="en-US" sz="675">
                  <a:solidFill>
                    <a:srgbClr val="000000"/>
                  </a:solidFill>
                  <a:latin typeface="Arial" pitchFamily="34" charset="0"/>
                </a:rPr>
                <a:t>0</a:t>
              </a:r>
              <a:endParaRPr lang="zh-TW" altLang="en-US" sz="1350"/>
            </a:p>
          </p:txBody>
        </p:sp>
        <p:sp>
          <p:nvSpPr>
            <p:cNvPr id="55435" name="Rectangle 138"/>
            <p:cNvSpPr>
              <a:spLocks noChangeArrowheads="1"/>
            </p:cNvSpPr>
            <p:nvPr/>
          </p:nvSpPr>
          <p:spPr bwMode="auto">
            <a:xfrm rot="16200000">
              <a:off x="3659" y="2487"/>
              <a:ext cx="40" cy="87"/>
            </a:xfrm>
            <a:prstGeom prst="rect">
              <a:avLst/>
            </a:prstGeom>
            <a:noFill/>
            <a:ln w="9525">
              <a:noFill/>
              <a:miter lim="800000"/>
              <a:headEnd/>
              <a:tailEnd/>
            </a:ln>
          </p:spPr>
          <p:txBody>
            <a:bodyPr wrap="none" lIns="0" tIns="0" rIns="0" bIns="0">
              <a:spAutoFit/>
            </a:bodyPr>
            <a:lstStyle/>
            <a:p>
              <a:r>
                <a:rPr lang="zh-TW" altLang="en-US" sz="675">
                  <a:solidFill>
                    <a:srgbClr val="000000"/>
                  </a:solidFill>
                  <a:latin typeface="Arial" pitchFamily="34" charset="0"/>
                </a:rPr>
                <a:t>1</a:t>
              </a:r>
              <a:endParaRPr lang="zh-TW" altLang="en-US" sz="1350"/>
            </a:p>
          </p:txBody>
        </p:sp>
        <p:sp>
          <p:nvSpPr>
            <p:cNvPr id="55436" name="Rectangle 139"/>
            <p:cNvSpPr>
              <a:spLocks noChangeArrowheads="1"/>
            </p:cNvSpPr>
            <p:nvPr/>
          </p:nvSpPr>
          <p:spPr bwMode="auto">
            <a:xfrm rot="16200000">
              <a:off x="3659" y="2445"/>
              <a:ext cx="40" cy="87"/>
            </a:xfrm>
            <a:prstGeom prst="rect">
              <a:avLst/>
            </a:prstGeom>
            <a:noFill/>
            <a:ln w="9525">
              <a:noFill/>
              <a:miter lim="800000"/>
              <a:headEnd/>
              <a:tailEnd/>
            </a:ln>
          </p:spPr>
          <p:txBody>
            <a:bodyPr wrap="none" lIns="0" tIns="0" rIns="0" bIns="0">
              <a:spAutoFit/>
            </a:bodyPr>
            <a:lstStyle/>
            <a:p>
              <a:r>
                <a:rPr lang="zh-TW" altLang="en-US" sz="675">
                  <a:solidFill>
                    <a:srgbClr val="000000"/>
                  </a:solidFill>
                  <a:latin typeface="Arial" pitchFamily="34" charset="0"/>
                </a:rPr>
                <a:t>1</a:t>
              </a:r>
              <a:endParaRPr lang="zh-TW" altLang="en-US" sz="1350"/>
            </a:p>
          </p:txBody>
        </p:sp>
        <p:sp>
          <p:nvSpPr>
            <p:cNvPr id="55437" name="Rectangle 140"/>
            <p:cNvSpPr>
              <a:spLocks noChangeArrowheads="1"/>
            </p:cNvSpPr>
            <p:nvPr/>
          </p:nvSpPr>
          <p:spPr bwMode="auto">
            <a:xfrm rot="16200000">
              <a:off x="3659" y="2402"/>
              <a:ext cx="40" cy="87"/>
            </a:xfrm>
            <a:prstGeom prst="rect">
              <a:avLst/>
            </a:prstGeom>
            <a:noFill/>
            <a:ln w="9525">
              <a:noFill/>
              <a:miter lim="800000"/>
              <a:headEnd/>
              <a:tailEnd/>
            </a:ln>
          </p:spPr>
          <p:txBody>
            <a:bodyPr wrap="none" lIns="0" tIns="0" rIns="0" bIns="0">
              <a:spAutoFit/>
            </a:bodyPr>
            <a:lstStyle/>
            <a:p>
              <a:r>
                <a:rPr lang="zh-TW" altLang="en-US" sz="675">
                  <a:solidFill>
                    <a:srgbClr val="000000"/>
                  </a:solidFill>
                  <a:latin typeface="Arial" pitchFamily="34" charset="0"/>
                </a:rPr>
                <a:t>1</a:t>
              </a:r>
              <a:endParaRPr lang="zh-TW" altLang="en-US" sz="1350"/>
            </a:p>
          </p:txBody>
        </p:sp>
      </p:grpSp>
      <p:sp>
        <p:nvSpPr>
          <p:cNvPr id="142" name="Slide Number Placeholder 5">
            <a:extLst>
              <a:ext uri="{FF2B5EF4-FFF2-40B4-BE49-F238E27FC236}">
                <a16:creationId xmlns:a16="http://schemas.microsoft.com/office/drawing/2014/main" id="{45AFD9D9-609B-42F0-A2C2-DF94B469FED5}"/>
              </a:ext>
            </a:extLst>
          </p:cNvPr>
          <p:cNvSpPr>
            <a:spLocks noGrp="1"/>
          </p:cNvSpPr>
          <p:nvPr>
            <p:ph type="sldNum" sz="quarter" idx="10"/>
          </p:nvPr>
        </p:nvSpPr>
        <p:spPr>
          <a:xfrm>
            <a:off x="6831013" y="4893471"/>
            <a:ext cx="2133600" cy="254794"/>
          </a:xfrm>
        </p:spPr>
        <p:txBody>
          <a:bodyPr/>
          <a:lstStyle/>
          <a:p>
            <a:fld id="{D9B6BDF2-6896-4B98-8776-C18582F63BA5}" type="slidenum">
              <a:rPr lang="zh-TW" altLang="en-US" smtClean="0"/>
              <a:pPr/>
              <a:t>55</a:t>
            </a:fld>
            <a:endParaRPr lang="zh-TW" altLang="en-US"/>
          </a:p>
        </p:txBody>
      </p:sp>
    </p:spTree>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p:cNvSpPr>
            <a:spLocks noGrp="1" noChangeArrowheads="1"/>
          </p:cNvSpPr>
          <p:nvPr>
            <p:ph type="title"/>
          </p:nvPr>
        </p:nvSpPr>
        <p:spPr>
          <a:xfrm>
            <a:off x="1002891" y="129779"/>
            <a:ext cx="6726648" cy="467531"/>
          </a:xfrm>
        </p:spPr>
        <p:txBody>
          <a:bodyPr/>
          <a:lstStyle/>
          <a:p>
            <a:r>
              <a:rPr lang="en-US" altLang="zh-TW" dirty="0"/>
              <a:t>Associative Caches</a:t>
            </a:r>
            <a:endParaRPr lang="en-AU" altLang="zh-TW" dirty="0">
              <a:ea typeface="新細明體" pitchFamily="18" charset="-120"/>
            </a:endParaRPr>
          </a:p>
        </p:txBody>
      </p:sp>
      <p:sp>
        <p:nvSpPr>
          <p:cNvPr id="52228" name="Rectangle 3"/>
          <p:cNvSpPr>
            <a:spLocks noGrp="1" noChangeArrowheads="1"/>
          </p:cNvSpPr>
          <p:nvPr>
            <p:ph type="body" idx="1"/>
          </p:nvPr>
        </p:nvSpPr>
        <p:spPr>
          <a:xfrm>
            <a:off x="980768" y="777786"/>
            <a:ext cx="7706032" cy="3801588"/>
          </a:xfrm>
        </p:spPr>
        <p:txBody>
          <a:bodyPr/>
          <a:lstStyle/>
          <a:p>
            <a:r>
              <a:rPr lang="en-US" altLang="zh-TW" dirty="0"/>
              <a:t>Fully associative</a:t>
            </a:r>
          </a:p>
          <a:p>
            <a:pPr lvl="1"/>
            <a:r>
              <a:rPr lang="en-US" altLang="zh-TW" dirty="0"/>
              <a:t>Allow a given block to go in any cache entry</a:t>
            </a:r>
          </a:p>
          <a:p>
            <a:pPr lvl="1"/>
            <a:r>
              <a:rPr lang="en-US" altLang="zh-TW" dirty="0"/>
              <a:t>Requires all entries to be searched at once</a:t>
            </a:r>
          </a:p>
          <a:p>
            <a:pPr lvl="1"/>
            <a:r>
              <a:rPr lang="en-US" altLang="zh-TW" dirty="0"/>
              <a:t>Comparator per entry (expensive)</a:t>
            </a:r>
          </a:p>
          <a:p>
            <a:r>
              <a:rPr lang="en-US" altLang="zh-TW" i="1" dirty="0"/>
              <a:t>n</a:t>
            </a:r>
            <a:r>
              <a:rPr lang="en-US" altLang="zh-TW" dirty="0"/>
              <a:t>-way set associative</a:t>
            </a:r>
          </a:p>
          <a:p>
            <a:pPr lvl="1"/>
            <a:r>
              <a:rPr lang="en-US" altLang="zh-TW" dirty="0"/>
              <a:t>Each set contains </a:t>
            </a:r>
            <a:r>
              <a:rPr lang="en-US" altLang="zh-TW" i="1" dirty="0"/>
              <a:t>n</a:t>
            </a:r>
            <a:r>
              <a:rPr lang="en-US" altLang="zh-TW" dirty="0"/>
              <a:t> entries</a:t>
            </a:r>
            <a:endParaRPr lang="en-AU" altLang="zh-TW" dirty="0">
              <a:ea typeface="新細明體" pitchFamily="18" charset="-120"/>
            </a:endParaRPr>
          </a:p>
          <a:p>
            <a:pPr lvl="1"/>
            <a:r>
              <a:rPr lang="en-US" altLang="zh-TW" dirty="0"/>
              <a:t>Block number determines which set</a:t>
            </a:r>
          </a:p>
          <a:p>
            <a:pPr lvl="2"/>
            <a:r>
              <a:rPr lang="en-US" altLang="zh-TW" dirty="0"/>
              <a:t>(Block number) modulo (#Sets in cache)</a:t>
            </a:r>
          </a:p>
          <a:p>
            <a:pPr lvl="1"/>
            <a:r>
              <a:rPr lang="en-US" altLang="zh-TW" dirty="0"/>
              <a:t>Search all entries in a given set at once</a:t>
            </a:r>
          </a:p>
          <a:p>
            <a:pPr lvl="1"/>
            <a:r>
              <a:rPr lang="en-US" altLang="zh-TW" i="1" dirty="0"/>
              <a:t>n</a:t>
            </a:r>
            <a:r>
              <a:rPr lang="en-US" altLang="zh-TW" dirty="0"/>
              <a:t> comparators (less expensive)</a:t>
            </a:r>
          </a:p>
        </p:txBody>
      </p:sp>
      <p:sp>
        <p:nvSpPr>
          <p:cNvPr id="5" name="Slide Number Placeholder 5">
            <a:extLst>
              <a:ext uri="{FF2B5EF4-FFF2-40B4-BE49-F238E27FC236}">
                <a16:creationId xmlns:a16="http://schemas.microsoft.com/office/drawing/2014/main" id="{DEA3819F-7B3C-4C78-A4EA-61A665F2242D}"/>
              </a:ext>
            </a:extLst>
          </p:cNvPr>
          <p:cNvSpPr>
            <a:spLocks noGrp="1"/>
          </p:cNvSpPr>
          <p:nvPr>
            <p:ph type="sldNum" sz="quarter" idx="10"/>
          </p:nvPr>
        </p:nvSpPr>
        <p:spPr>
          <a:xfrm>
            <a:off x="6831013" y="4893471"/>
            <a:ext cx="2133600" cy="254794"/>
          </a:xfrm>
        </p:spPr>
        <p:txBody>
          <a:bodyPr/>
          <a:lstStyle/>
          <a:p>
            <a:fld id="{D9B6BDF2-6896-4B98-8776-C18582F63BA5}" type="slidenum">
              <a:rPr lang="zh-TW" altLang="en-US" smtClean="0"/>
              <a:pPr/>
              <a:t>56</a:t>
            </a:fld>
            <a:endParaRPr lang="zh-TW" alt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7346" name="Picture 2" descr="f05-13-P374493"/>
          <p:cNvPicPr>
            <a:picLocks noChangeAspect="1" noChangeArrowheads="1"/>
          </p:cNvPicPr>
          <p:nvPr/>
        </p:nvPicPr>
        <p:blipFill>
          <a:blip r:embed="rId3"/>
          <a:srcRect/>
          <a:stretch>
            <a:fillRect/>
          </a:stretch>
        </p:blipFill>
        <p:spPr bwMode="auto">
          <a:xfrm>
            <a:off x="1207294" y="1619250"/>
            <a:ext cx="6757988" cy="2580085"/>
          </a:xfrm>
          <a:prstGeom prst="rect">
            <a:avLst/>
          </a:prstGeom>
          <a:noFill/>
          <a:ln w="9525">
            <a:noFill/>
            <a:miter lim="800000"/>
            <a:headEnd/>
            <a:tailEnd/>
          </a:ln>
        </p:spPr>
      </p:pic>
      <p:sp>
        <p:nvSpPr>
          <p:cNvPr id="57347" name="Rectangle 3"/>
          <p:cNvSpPr>
            <a:spLocks noGrp="1" noChangeArrowheads="1"/>
          </p:cNvSpPr>
          <p:nvPr>
            <p:ph type="title"/>
          </p:nvPr>
        </p:nvSpPr>
        <p:spPr>
          <a:xfrm>
            <a:off x="914401" y="135732"/>
            <a:ext cx="6815138" cy="446829"/>
          </a:xfrm>
        </p:spPr>
        <p:txBody>
          <a:bodyPr/>
          <a:lstStyle/>
          <a:p>
            <a:r>
              <a:rPr lang="en-US" altLang="zh-TW" sz="3200" dirty="0"/>
              <a:t>Associative Cache Example</a:t>
            </a:r>
            <a:endParaRPr lang="en-AU" altLang="zh-TW" sz="3200" dirty="0">
              <a:ea typeface="新細明體" pitchFamily="18" charset="-120"/>
            </a:endParaRPr>
          </a:p>
        </p:txBody>
      </p:sp>
      <p:sp>
        <p:nvSpPr>
          <p:cNvPr id="57348" name="Rectangle 5"/>
          <p:cNvSpPr>
            <a:spLocks noChangeArrowheads="1"/>
          </p:cNvSpPr>
          <p:nvPr/>
        </p:nvSpPr>
        <p:spPr bwMode="auto">
          <a:xfrm>
            <a:off x="935141" y="857557"/>
            <a:ext cx="6315075" cy="403430"/>
          </a:xfrm>
          <a:prstGeom prst="rect">
            <a:avLst/>
          </a:prstGeom>
          <a:noFill/>
          <a:ln w="12700">
            <a:noFill/>
            <a:miter lim="800000"/>
            <a:headEnd/>
            <a:tailEnd/>
          </a:ln>
        </p:spPr>
        <p:txBody>
          <a:bodyPr lIns="67866" tIns="33338" rIns="67866" bIns="33338"/>
          <a:lstStyle/>
          <a:p>
            <a:pPr marL="285750" indent="-285750">
              <a:lnSpc>
                <a:spcPct val="90000"/>
              </a:lnSpc>
              <a:spcBef>
                <a:spcPct val="15000"/>
              </a:spcBef>
              <a:buClr>
                <a:srgbClr val="0000FF"/>
              </a:buClr>
              <a:buSzPct val="75000"/>
              <a:buFont typeface="Wingdings" panose="05000000000000000000" pitchFamily="2" charset="2"/>
              <a:buChar char="l"/>
            </a:pPr>
            <a:r>
              <a:rPr lang="en-US" altLang="zh-TW" sz="2000" dirty="0">
                <a:latin typeface="Calibri" panose="020F0502020204030204" pitchFamily="34" charset="0"/>
                <a:ea typeface="標楷體" pitchFamily="65" charset="-120"/>
                <a:cs typeface="Calibri" panose="020F0502020204030204" pitchFamily="34" charset="0"/>
              </a:rPr>
              <a:t>Placement of a block whose address is 12</a:t>
            </a:r>
          </a:p>
        </p:txBody>
      </p:sp>
      <p:sp>
        <p:nvSpPr>
          <p:cNvPr id="6" name="Slide Number Placeholder 5">
            <a:extLst>
              <a:ext uri="{FF2B5EF4-FFF2-40B4-BE49-F238E27FC236}">
                <a16:creationId xmlns:a16="http://schemas.microsoft.com/office/drawing/2014/main" id="{FEBD3438-64E2-4E94-A2C9-4FDF105CABE0}"/>
              </a:ext>
            </a:extLst>
          </p:cNvPr>
          <p:cNvSpPr>
            <a:spLocks noGrp="1"/>
          </p:cNvSpPr>
          <p:nvPr>
            <p:ph type="sldNum" sz="quarter" idx="10"/>
          </p:nvPr>
        </p:nvSpPr>
        <p:spPr>
          <a:xfrm>
            <a:off x="6831013" y="4893471"/>
            <a:ext cx="2133600" cy="254794"/>
          </a:xfrm>
        </p:spPr>
        <p:txBody>
          <a:bodyPr/>
          <a:lstStyle/>
          <a:p>
            <a:fld id="{D9B6BDF2-6896-4B98-8776-C18582F63BA5}" type="slidenum">
              <a:rPr lang="zh-TW" altLang="en-US" smtClean="0"/>
              <a:pPr/>
              <a:t>57</a:t>
            </a:fld>
            <a:endParaRPr lang="zh-TW" altLang="en-US"/>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2"/>
          <p:cNvSpPr>
            <a:spLocks noChangeArrowheads="1"/>
          </p:cNvSpPr>
          <p:nvPr/>
        </p:nvSpPr>
        <p:spPr bwMode="auto">
          <a:xfrm>
            <a:off x="1040606" y="234554"/>
            <a:ext cx="2390775" cy="358378"/>
          </a:xfrm>
          <a:prstGeom prst="rect">
            <a:avLst/>
          </a:prstGeom>
          <a:noFill/>
          <a:ln w="12700">
            <a:noFill/>
            <a:miter lim="800000"/>
            <a:headEnd/>
            <a:tailEnd/>
          </a:ln>
        </p:spPr>
        <p:txBody>
          <a:bodyPr wrap="none" anchor="ctr"/>
          <a:lstStyle/>
          <a:p>
            <a:endParaRPr lang="zh-TW" altLang="en-US" sz="1350"/>
          </a:p>
        </p:txBody>
      </p:sp>
      <p:sp>
        <p:nvSpPr>
          <p:cNvPr id="58371" name="Rectangle 5"/>
          <p:cNvSpPr>
            <a:spLocks noGrp="1" noChangeArrowheads="1"/>
          </p:cNvSpPr>
          <p:nvPr>
            <p:ph type="title"/>
          </p:nvPr>
        </p:nvSpPr>
        <p:spPr>
          <a:xfrm>
            <a:off x="936523" y="135732"/>
            <a:ext cx="6793015" cy="454204"/>
          </a:xfrm>
        </p:spPr>
        <p:txBody>
          <a:bodyPr/>
          <a:lstStyle/>
          <a:p>
            <a:r>
              <a:rPr lang="en-US" altLang="zh-TW" sz="3200" dirty="0"/>
              <a:t>Possible Associativity Structures</a:t>
            </a:r>
          </a:p>
        </p:txBody>
      </p:sp>
      <p:pic>
        <p:nvPicPr>
          <p:cNvPr id="58372" name="Picture 3"/>
          <p:cNvPicPr>
            <a:picLocks noChangeArrowheads="1"/>
          </p:cNvPicPr>
          <p:nvPr/>
        </p:nvPicPr>
        <p:blipFill>
          <a:blip r:embed="rId3"/>
          <a:srcRect t="1569"/>
          <a:stretch>
            <a:fillRect/>
          </a:stretch>
        </p:blipFill>
        <p:spPr bwMode="auto">
          <a:xfrm>
            <a:off x="1143000" y="951221"/>
            <a:ext cx="7462684" cy="3650275"/>
          </a:xfrm>
          <a:prstGeom prst="rect">
            <a:avLst/>
          </a:prstGeom>
          <a:solidFill>
            <a:srgbClr val="FFFFFF"/>
          </a:solidFill>
          <a:ln w="12700">
            <a:noFill/>
            <a:miter lim="800000"/>
            <a:headEnd/>
            <a:tailEnd/>
          </a:ln>
        </p:spPr>
      </p:pic>
      <p:sp>
        <p:nvSpPr>
          <p:cNvPr id="58373" name="Text Box 4"/>
          <p:cNvSpPr txBox="1">
            <a:spLocks noChangeArrowheads="1"/>
          </p:cNvSpPr>
          <p:nvPr/>
        </p:nvSpPr>
        <p:spPr bwMode="auto">
          <a:xfrm>
            <a:off x="312943" y="820379"/>
            <a:ext cx="2295308" cy="400110"/>
          </a:xfrm>
          <a:prstGeom prst="rect">
            <a:avLst/>
          </a:prstGeom>
          <a:noFill/>
          <a:ln w="12700">
            <a:noFill/>
            <a:prstDash val="sysDot"/>
            <a:miter lim="800000"/>
            <a:headEnd type="none" w="sm" len="sm"/>
            <a:tailEnd type="none" w="sm" len="sm"/>
          </a:ln>
        </p:spPr>
        <p:txBody>
          <a:bodyPr wrap="none">
            <a:spAutoFit/>
          </a:bodyPr>
          <a:lstStyle/>
          <a:p>
            <a:pPr marL="342900" indent="-342900">
              <a:buClr>
                <a:srgbClr val="0000FF"/>
              </a:buClr>
              <a:buFont typeface="Wingdings" panose="05000000000000000000" pitchFamily="2" charset="2"/>
              <a:buChar char="l"/>
            </a:pPr>
            <a:r>
              <a:rPr kumimoji="1" lang="en-US" altLang="zh-TW" sz="2000" dirty="0">
                <a:latin typeface="Calibri" panose="020F0502020204030204" pitchFamily="34" charset="0"/>
                <a:cs typeface="Calibri" panose="020F0502020204030204" pitchFamily="34" charset="0"/>
              </a:rPr>
              <a:t>An 8-block cache</a:t>
            </a:r>
          </a:p>
        </p:txBody>
      </p:sp>
      <p:sp>
        <p:nvSpPr>
          <p:cNvPr id="7" name="Slide Number Placeholder 5">
            <a:extLst>
              <a:ext uri="{FF2B5EF4-FFF2-40B4-BE49-F238E27FC236}">
                <a16:creationId xmlns:a16="http://schemas.microsoft.com/office/drawing/2014/main" id="{B6B0BB5D-3DAC-4013-959F-4068C96545A4}"/>
              </a:ext>
            </a:extLst>
          </p:cNvPr>
          <p:cNvSpPr>
            <a:spLocks noGrp="1"/>
          </p:cNvSpPr>
          <p:nvPr>
            <p:ph type="sldNum" sz="quarter" idx="10"/>
          </p:nvPr>
        </p:nvSpPr>
        <p:spPr>
          <a:xfrm>
            <a:off x="6831013" y="4893471"/>
            <a:ext cx="2133600" cy="254794"/>
          </a:xfrm>
        </p:spPr>
        <p:txBody>
          <a:bodyPr/>
          <a:lstStyle/>
          <a:p>
            <a:fld id="{D9B6BDF2-6896-4B98-8776-C18582F63BA5}" type="slidenum">
              <a:rPr lang="zh-TW" altLang="en-US" smtClean="0"/>
              <a:pPr/>
              <a:t>58</a:t>
            </a:fld>
            <a:endParaRPr lang="zh-TW" altLang="en-US"/>
          </a:p>
        </p:txBody>
      </p:sp>
    </p:spTree>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2"/>
          <p:cNvSpPr>
            <a:spLocks noGrp="1" noChangeArrowheads="1"/>
          </p:cNvSpPr>
          <p:nvPr>
            <p:ph type="title"/>
          </p:nvPr>
        </p:nvSpPr>
        <p:spPr>
          <a:xfrm>
            <a:off x="943897" y="129780"/>
            <a:ext cx="6785641" cy="511776"/>
          </a:xfrm>
        </p:spPr>
        <p:txBody>
          <a:bodyPr/>
          <a:lstStyle/>
          <a:p>
            <a:r>
              <a:rPr lang="en-US" altLang="zh-TW" dirty="0"/>
              <a:t>Associativity Example (1)</a:t>
            </a:r>
            <a:endParaRPr lang="en-AU" altLang="zh-TW" dirty="0">
              <a:ea typeface="新細明體" pitchFamily="18" charset="-120"/>
            </a:endParaRPr>
          </a:p>
        </p:txBody>
      </p:sp>
      <p:sp>
        <p:nvSpPr>
          <p:cNvPr id="59395" name="Rectangle 3"/>
          <p:cNvSpPr>
            <a:spLocks noGrp="1" noChangeArrowheads="1"/>
          </p:cNvSpPr>
          <p:nvPr>
            <p:ph type="body" idx="1"/>
          </p:nvPr>
        </p:nvSpPr>
        <p:spPr>
          <a:xfrm>
            <a:off x="958645" y="798564"/>
            <a:ext cx="6763519" cy="1561178"/>
          </a:xfrm>
        </p:spPr>
        <p:txBody>
          <a:bodyPr/>
          <a:lstStyle/>
          <a:p>
            <a:pPr>
              <a:spcBef>
                <a:spcPts val="0"/>
              </a:spcBef>
            </a:pPr>
            <a:r>
              <a:rPr lang="en-US" altLang="zh-TW" sz="2000" dirty="0"/>
              <a:t>Compare 4-block caches</a:t>
            </a:r>
          </a:p>
          <a:p>
            <a:pPr lvl="1">
              <a:spcBef>
                <a:spcPts val="0"/>
              </a:spcBef>
            </a:pPr>
            <a:r>
              <a:rPr lang="en-US" altLang="zh-TW" sz="1800" dirty="0"/>
              <a:t>Direct mapped, 2-way set associative, fully associative</a:t>
            </a:r>
          </a:p>
          <a:p>
            <a:pPr lvl="1">
              <a:spcBef>
                <a:spcPts val="0"/>
              </a:spcBef>
            </a:pPr>
            <a:r>
              <a:rPr lang="en-US" altLang="zh-TW" sz="1800" dirty="0"/>
              <a:t>Block access sequence: 0, 8, 0, 6, 8</a:t>
            </a:r>
          </a:p>
          <a:p>
            <a:pPr>
              <a:spcBef>
                <a:spcPts val="0"/>
              </a:spcBef>
            </a:pPr>
            <a:endParaRPr lang="en-US" altLang="zh-TW" sz="2000" dirty="0"/>
          </a:p>
          <a:p>
            <a:pPr>
              <a:spcBef>
                <a:spcPts val="0"/>
              </a:spcBef>
            </a:pPr>
            <a:r>
              <a:rPr lang="en-US" altLang="zh-TW" sz="2000" dirty="0"/>
              <a:t>Direct mapped</a:t>
            </a:r>
          </a:p>
        </p:txBody>
      </p:sp>
      <p:graphicFrame>
        <p:nvGraphicFramePr>
          <p:cNvPr id="717889" name="Group 65"/>
          <p:cNvGraphicFramePr>
            <a:graphicFrameLocks noGrp="1"/>
          </p:cNvGraphicFramePr>
          <p:nvPr>
            <p:extLst>
              <p:ext uri="{D42A27DB-BD31-4B8C-83A1-F6EECF244321}">
                <p14:modId xmlns:p14="http://schemas.microsoft.com/office/powerpoint/2010/main" val="4047023162"/>
              </p:ext>
            </p:extLst>
          </p:nvPr>
        </p:nvGraphicFramePr>
        <p:xfrm>
          <a:off x="1740694" y="2415664"/>
          <a:ext cx="6050758" cy="1864520"/>
        </p:xfrm>
        <a:graphic>
          <a:graphicData uri="http://schemas.openxmlformats.org/drawingml/2006/table">
            <a:tbl>
              <a:tblPr/>
              <a:tblGrid>
                <a:gridCol w="863204">
                  <a:extLst>
                    <a:ext uri="{9D8B030D-6E8A-4147-A177-3AD203B41FA5}">
                      <a16:colId xmlns:a16="http://schemas.microsoft.com/office/drawing/2014/main" val="20000"/>
                    </a:ext>
                  </a:extLst>
                </a:gridCol>
                <a:gridCol w="866775">
                  <a:extLst>
                    <a:ext uri="{9D8B030D-6E8A-4147-A177-3AD203B41FA5}">
                      <a16:colId xmlns:a16="http://schemas.microsoft.com/office/drawing/2014/main" val="20001"/>
                    </a:ext>
                  </a:extLst>
                </a:gridCol>
                <a:gridCol w="863203">
                  <a:extLst>
                    <a:ext uri="{9D8B030D-6E8A-4147-A177-3AD203B41FA5}">
                      <a16:colId xmlns:a16="http://schemas.microsoft.com/office/drawing/2014/main" val="20002"/>
                    </a:ext>
                  </a:extLst>
                </a:gridCol>
                <a:gridCol w="864394">
                  <a:extLst>
                    <a:ext uri="{9D8B030D-6E8A-4147-A177-3AD203B41FA5}">
                      <a16:colId xmlns:a16="http://schemas.microsoft.com/office/drawing/2014/main" val="20003"/>
                    </a:ext>
                  </a:extLst>
                </a:gridCol>
                <a:gridCol w="864394">
                  <a:extLst>
                    <a:ext uri="{9D8B030D-6E8A-4147-A177-3AD203B41FA5}">
                      <a16:colId xmlns:a16="http://schemas.microsoft.com/office/drawing/2014/main" val="20004"/>
                    </a:ext>
                  </a:extLst>
                </a:gridCol>
                <a:gridCol w="865585">
                  <a:extLst>
                    <a:ext uri="{9D8B030D-6E8A-4147-A177-3AD203B41FA5}">
                      <a16:colId xmlns:a16="http://schemas.microsoft.com/office/drawing/2014/main" val="20005"/>
                    </a:ext>
                  </a:extLst>
                </a:gridCol>
                <a:gridCol w="863203">
                  <a:extLst>
                    <a:ext uri="{9D8B030D-6E8A-4147-A177-3AD203B41FA5}">
                      <a16:colId xmlns:a16="http://schemas.microsoft.com/office/drawing/2014/main" val="20006"/>
                    </a:ext>
                  </a:extLst>
                </a:gridCol>
              </a:tblGrid>
              <a:tr h="266700">
                <a:tc rowSpan="2">
                  <a:txBody>
                    <a:bodyPr/>
                    <a:lstStyle/>
                    <a:p>
                      <a:pPr marL="0" marR="0" lvl="0" indent="0" algn="ctr" defTabSz="914400" rtl="0" eaLnBrk="0" fontAlgn="base" latinLnBrk="0" hangingPunct="0">
                        <a:lnSpc>
                          <a:spcPct val="90000"/>
                        </a:lnSpc>
                        <a:spcBef>
                          <a:spcPct val="15000"/>
                        </a:spcBef>
                        <a:spcAft>
                          <a:spcPct val="0"/>
                        </a:spcAft>
                        <a:buClr>
                          <a:schemeClr val="folHlink"/>
                        </a:buClr>
                        <a:buSzPct val="75000"/>
                        <a:buFont typeface="Wingdings" pitchFamily="2" charset="2"/>
                        <a:buNone/>
                        <a:tabLst/>
                      </a:pPr>
                      <a:r>
                        <a:rPr kumimoji="0" lang="en-US" altLang="zh-TW" sz="1400" b="1" i="0" u="none" strike="noStrike" cap="none" normalizeH="0" baseline="0" dirty="0">
                          <a:ln>
                            <a:noFill/>
                          </a:ln>
                          <a:solidFill>
                            <a:schemeClr val="tx1"/>
                          </a:solidFill>
                          <a:effectLst/>
                          <a:latin typeface="Century Gothic" pitchFamily="34" charset="0"/>
                          <a:ea typeface="標楷體" pitchFamily="65" charset="-120"/>
                        </a:rPr>
                        <a:t>Block address</a:t>
                      </a:r>
                      <a:endParaRPr kumimoji="0" lang="en-AU" altLang="zh-TW" sz="1400" b="1" i="0" u="none" strike="noStrike" cap="none" normalizeH="0" baseline="0" dirty="0">
                        <a:ln>
                          <a:noFill/>
                        </a:ln>
                        <a:solidFill>
                          <a:schemeClr val="tx1"/>
                        </a:solidFill>
                        <a:effectLst/>
                        <a:latin typeface="Century Gothic" pitchFamily="34" charset="0"/>
                        <a:ea typeface="新細明體" pitchFamily="18" charset="-120"/>
                      </a:endParaRPr>
                    </a:p>
                  </a:txBody>
                  <a:tcPr marL="67500" marR="67500" marT="0" marB="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rowSpan="2">
                  <a:txBody>
                    <a:bodyPr/>
                    <a:lstStyle/>
                    <a:p>
                      <a:pPr marL="0" marR="0" lvl="0" indent="0" algn="ctr" defTabSz="914400" rtl="0" eaLnBrk="0" fontAlgn="base" latinLnBrk="0" hangingPunct="0">
                        <a:lnSpc>
                          <a:spcPct val="90000"/>
                        </a:lnSpc>
                        <a:spcBef>
                          <a:spcPct val="15000"/>
                        </a:spcBef>
                        <a:spcAft>
                          <a:spcPct val="0"/>
                        </a:spcAft>
                        <a:buClr>
                          <a:schemeClr val="folHlink"/>
                        </a:buClr>
                        <a:buSzPct val="75000"/>
                        <a:buFont typeface="Wingdings" pitchFamily="2" charset="2"/>
                        <a:buNone/>
                        <a:tabLst/>
                      </a:pPr>
                      <a:r>
                        <a:rPr kumimoji="0" lang="en-US" altLang="zh-TW" sz="1400" b="1" i="0" u="none" strike="noStrike" cap="none" normalizeH="0" baseline="0">
                          <a:ln>
                            <a:noFill/>
                          </a:ln>
                          <a:solidFill>
                            <a:schemeClr val="tx1"/>
                          </a:solidFill>
                          <a:effectLst/>
                          <a:latin typeface="Century Gothic" pitchFamily="34" charset="0"/>
                          <a:ea typeface="標楷體" pitchFamily="65" charset="-120"/>
                        </a:rPr>
                        <a:t>Cache index</a:t>
                      </a:r>
                      <a:endParaRPr kumimoji="0" lang="en-AU" altLang="zh-TW" sz="1400" b="1" i="0" u="none" strike="noStrike" cap="none" normalizeH="0" baseline="0">
                        <a:ln>
                          <a:noFill/>
                        </a:ln>
                        <a:solidFill>
                          <a:schemeClr val="tx1"/>
                        </a:solidFill>
                        <a:effectLst/>
                        <a:latin typeface="Century Gothic" pitchFamily="34" charset="0"/>
                        <a:ea typeface="新細明體" pitchFamily="18" charset="-120"/>
                      </a:endParaRPr>
                    </a:p>
                  </a:txBody>
                  <a:tcPr marL="67500" marR="6750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rowSpan="2">
                  <a:txBody>
                    <a:bodyPr/>
                    <a:lstStyle/>
                    <a:p>
                      <a:pPr marL="0" marR="0" lvl="0" indent="0" algn="ctr" defTabSz="914400" rtl="0" eaLnBrk="0" fontAlgn="base" latinLnBrk="0" hangingPunct="0">
                        <a:lnSpc>
                          <a:spcPct val="90000"/>
                        </a:lnSpc>
                        <a:spcBef>
                          <a:spcPct val="15000"/>
                        </a:spcBef>
                        <a:spcAft>
                          <a:spcPct val="0"/>
                        </a:spcAft>
                        <a:buClr>
                          <a:schemeClr val="folHlink"/>
                        </a:buClr>
                        <a:buSzPct val="75000"/>
                        <a:buFont typeface="Wingdings" pitchFamily="2" charset="2"/>
                        <a:buNone/>
                        <a:tabLst/>
                      </a:pPr>
                      <a:r>
                        <a:rPr kumimoji="0" lang="en-US" altLang="zh-TW" sz="1400" b="1" i="0" u="none" strike="noStrike" cap="none" normalizeH="0" baseline="0">
                          <a:ln>
                            <a:noFill/>
                          </a:ln>
                          <a:solidFill>
                            <a:schemeClr val="tx1"/>
                          </a:solidFill>
                          <a:effectLst/>
                          <a:latin typeface="Century Gothic" pitchFamily="34" charset="0"/>
                          <a:ea typeface="標楷體" pitchFamily="65" charset="-120"/>
                        </a:rPr>
                        <a:t>Hit/miss</a:t>
                      </a:r>
                      <a:endParaRPr kumimoji="0" lang="en-AU" altLang="zh-TW" sz="1400" b="1" i="0" u="none" strike="noStrike" cap="none" normalizeH="0" baseline="0">
                        <a:ln>
                          <a:noFill/>
                        </a:ln>
                        <a:solidFill>
                          <a:schemeClr val="tx1"/>
                        </a:solidFill>
                        <a:effectLst/>
                        <a:latin typeface="Century Gothic" pitchFamily="34" charset="0"/>
                        <a:ea typeface="新細明體" pitchFamily="18" charset="-120"/>
                      </a:endParaRPr>
                    </a:p>
                  </a:txBody>
                  <a:tcPr marL="67500" marR="6750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gridSpan="4">
                  <a:txBody>
                    <a:bodyPr/>
                    <a:lstStyle/>
                    <a:p>
                      <a:pPr marL="0" marR="0" lvl="0" indent="0" algn="ctr" defTabSz="914400" rtl="0" eaLnBrk="0" fontAlgn="base" latinLnBrk="0" hangingPunct="0">
                        <a:lnSpc>
                          <a:spcPct val="90000"/>
                        </a:lnSpc>
                        <a:spcBef>
                          <a:spcPct val="15000"/>
                        </a:spcBef>
                        <a:spcAft>
                          <a:spcPct val="0"/>
                        </a:spcAft>
                        <a:buClr>
                          <a:schemeClr val="folHlink"/>
                        </a:buClr>
                        <a:buSzPct val="75000"/>
                        <a:buFont typeface="Wingdings" pitchFamily="2" charset="2"/>
                        <a:buNone/>
                        <a:tabLst/>
                      </a:pPr>
                      <a:r>
                        <a:rPr kumimoji="0" lang="en-US" altLang="zh-TW" sz="1400" b="1" i="0" u="none" strike="noStrike" cap="none" normalizeH="0" baseline="0">
                          <a:ln>
                            <a:noFill/>
                          </a:ln>
                          <a:solidFill>
                            <a:schemeClr val="tx1"/>
                          </a:solidFill>
                          <a:effectLst/>
                          <a:latin typeface="Century Gothic" pitchFamily="34" charset="0"/>
                          <a:ea typeface="標楷體" pitchFamily="65" charset="-120"/>
                        </a:rPr>
                        <a:t>Cache content after access</a:t>
                      </a:r>
                      <a:endParaRPr kumimoji="0" lang="en-AU" altLang="zh-TW" sz="1400" b="1" i="0" u="none" strike="noStrike" cap="none" normalizeH="0" baseline="0">
                        <a:ln>
                          <a:noFill/>
                        </a:ln>
                        <a:solidFill>
                          <a:schemeClr val="tx1"/>
                        </a:solidFill>
                        <a:effectLst/>
                        <a:latin typeface="Century Gothic" pitchFamily="34" charset="0"/>
                        <a:ea typeface="新細明體" pitchFamily="18" charset="-120"/>
                      </a:endParaRPr>
                    </a:p>
                  </a:txBody>
                  <a:tcPr marL="67500" marR="67500" marT="0" marB="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TW" altLang="en-US"/>
                    </a:p>
                  </a:txBody>
                  <a:tcPr/>
                </a:tc>
                <a:tc hMerge="1">
                  <a:txBody>
                    <a:bodyPr/>
                    <a:lstStyle/>
                    <a:p>
                      <a:endParaRPr lang="zh-TW" altLang="en-US"/>
                    </a:p>
                  </a:txBody>
                  <a:tcPr/>
                </a:tc>
                <a:tc hMerge="1">
                  <a:txBody>
                    <a:bodyPr/>
                    <a:lstStyle/>
                    <a:p>
                      <a:endParaRPr lang="zh-TW" altLang="en-US"/>
                    </a:p>
                  </a:txBody>
                  <a:tcPr/>
                </a:tc>
                <a:extLst>
                  <a:ext uri="{0D108BD9-81ED-4DB2-BD59-A6C34878D82A}">
                    <a16:rowId xmlns:a16="http://schemas.microsoft.com/office/drawing/2014/main" val="10000"/>
                  </a:ext>
                </a:extLst>
              </a:tr>
              <a:tr h="265510">
                <a:tc vMerge="1">
                  <a:txBody>
                    <a:bodyPr/>
                    <a:lstStyle/>
                    <a:p>
                      <a:endParaRPr lang="zh-TW" altLang="en-US"/>
                    </a:p>
                  </a:txBody>
                  <a:tcPr/>
                </a:tc>
                <a:tc vMerge="1">
                  <a:txBody>
                    <a:bodyPr/>
                    <a:lstStyle/>
                    <a:p>
                      <a:endParaRPr lang="zh-TW" altLang="en-US"/>
                    </a:p>
                  </a:txBody>
                  <a:tcPr/>
                </a:tc>
                <a:tc vMerge="1">
                  <a:txBody>
                    <a:bodyPr/>
                    <a:lstStyle/>
                    <a:p>
                      <a:endParaRPr lang="zh-TW" altLang="en-US"/>
                    </a:p>
                  </a:txBody>
                  <a:tcPr/>
                </a:tc>
                <a:tc>
                  <a:txBody>
                    <a:bodyPr/>
                    <a:lstStyle/>
                    <a:p>
                      <a:pPr marL="0" marR="0" lvl="0" indent="0" algn="ctr" defTabSz="914400" rtl="0" eaLnBrk="0" fontAlgn="base" latinLnBrk="0" hangingPunct="0">
                        <a:lnSpc>
                          <a:spcPct val="90000"/>
                        </a:lnSpc>
                        <a:spcBef>
                          <a:spcPct val="15000"/>
                        </a:spcBef>
                        <a:spcAft>
                          <a:spcPct val="0"/>
                        </a:spcAft>
                        <a:buClr>
                          <a:schemeClr val="folHlink"/>
                        </a:buClr>
                        <a:buSzPct val="75000"/>
                        <a:buFont typeface="Wingdings" pitchFamily="2" charset="2"/>
                        <a:buNone/>
                        <a:tabLst/>
                      </a:pPr>
                      <a:r>
                        <a:rPr kumimoji="0" lang="en-US" altLang="zh-TW" sz="1400" b="1" i="0" u="none" strike="noStrike" cap="none" normalizeH="0" baseline="0">
                          <a:ln>
                            <a:noFill/>
                          </a:ln>
                          <a:solidFill>
                            <a:schemeClr val="tx1"/>
                          </a:solidFill>
                          <a:effectLst/>
                          <a:latin typeface="Century Gothic" pitchFamily="34" charset="0"/>
                          <a:ea typeface="標楷體" pitchFamily="65" charset="-120"/>
                        </a:rPr>
                        <a:t>0</a:t>
                      </a:r>
                      <a:endParaRPr kumimoji="0" lang="en-AU" altLang="zh-TW" sz="1400" b="1" i="0" u="none" strike="noStrike" cap="none" normalizeH="0" baseline="0">
                        <a:ln>
                          <a:noFill/>
                        </a:ln>
                        <a:solidFill>
                          <a:schemeClr val="tx1"/>
                        </a:solidFill>
                        <a:effectLst/>
                        <a:latin typeface="Century Gothic" pitchFamily="34" charset="0"/>
                        <a:ea typeface="新細明體" pitchFamily="18" charset="-120"/>
                      </a:endParaRPr>
                    </a:p>
                  </a:txBody>
                  <a:tcPr marL="67500" marR="6750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15000"/>
                        </a:spcBef>
                        <a:spcAft>
                          <a:spcPct val="0"/>
                        </a:spcAft>
                        <a:buClr>
                          <a:schemeClr val="folHlink"/>
                        </a:buClr>
                        <a:buSzPct val="75000"/>
                        <a:buFont typeface="Wingdings" pitchFamily="2" charset="2"/>
                        <a:buNone/>
                        <a:tabLst/>
                      </a:pPr>
                      <a:r>
                        <a:rPr kumimoji="0" lang="en-US" altLang="zh-TW" sz="1400" b="1" i="0" u="none" strike="noStrike" cap="none" normalizeH="0" baseline="0">
                          <a:ln>
                            <a:noFill/>
                          </a:ln>
                          <a:solidFill>
                            <a:schemeClr val="tx1"/>
                          </a:solidFill>
                          <a:effectLst/>
                          <a:latin typeface="Century Gothic" pitchFamily="34" charset="0"/>
                          <a:ea typeface="標楷體" pitchFamily="65" charset="-120"/>
                        </a:rPr>
                        <a:t>1</a:t>
                      </a:r>
                      <a:endParaRPr kumimoji="0" lang="en-AU" altLang="zh-TW" sz="1400" b="1" i="0" u="none" strike="noStrike" cap="none" normalizeH="0" baseline="0">
                        <a:ln>
                          <a:noFill/>
                        </a:ln>
                        <a:solidFill>
                          <a:schemeClr val="tx1"/>
                        </a:solidFill>
                        <a:effectLst/>
                        <a:latin typeface="Century Gothic" pitchFamily="34" charset="0"/>
                        <a:ea typeface="新細明體" pitchFamily="18" charset="-120"/>
                      </a:endParaRPr>
                    </a:p>
                  </a:txBody>
                  <a:tcPr marL="67500" marR="6750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15000"/>
                        </a:spcBef>
                        <a:spcAft>
                          <a:spcPct val="0"/>
                        </a:spcAft>
                        <a:buClr>
                          <a:schemeClr val="folHlink"/>
                        </a:buClr>
                        <a:buSzPct val="75000"/>
                        <a:buFont typeface="Wingdings" pitchFamily="2" charset="2"/>
                        <a:buNone/>
                        <a:tabLst/>
                      </a:pPr>
                      <a:r>
                        <a:rPr kumimoji="0" lang="en-US" altLang="zh-TW" sz="1400" b="1" i="0" u="none" strike="noStrike" cap="none" normalizeH="0" baseline="0">
                          <a:ln>
                            <a:noFill/>
                          </a:ln>
                          <a:solidFill>
                            <a:schemeClr val="tx1"/>
                          </a:solidFill>
                          <a:effectLst/>
                          <a:latin typeface="Century Gothic" pitchFamily="34" charset="0"/>
                          <a:ea typeface="標楷體" pitchFamily="65" charset="-120"/>
                        </a:rPr>
                        <a:t>2</a:t>
                      </a:r>
                      <a:endParaRPr kumimoji="0" lang="en-AU" altLang="zh-TW" sz="1400" b="1" i="0" u="none" strike="noStrike" cap="none" normalizeH="0" baseline="0">
                        <a:ln>
                          <a:noFill/>
                        </a:ln>
                        <a:solidFill>
                          <a:schemeClr val="tx1"/>
                        </a:solidFill>
                        <a:effectLst/>
                        <a:latin typeface="Century Gothic" pitchFamily="34" charset="0"/>
                        <a:ea typeface="新細明體" pitchFamily="18" charset="-120"/>
                      </a:endParaRPr>
                    </a:p>
                  </a:txBody>
                  <a:tcPr marL="67500" marR="6750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15000"/>
                        </a:spcBef>
                        <a:spcAft>
                          <a:spcPct val="0"/>
                        </a:spcAft>
                        <a:buClr>
                          <a:schemeClr val="folHlink"/>
                        </a:buClr>
                        <a:buSzPct val="75000"/>
                        <a:buFont typeface="Wingdings" pitchFamily="2" charset="2"/>
                        <a:buNone/>
                        <a:tabLst/>
                      </a:pPr>
                      <a:r>
                        <a:rPr kumimoji="0" lang="en-US" altLang="zh-TW" sz="1400" b="1" i="0" u="none" strike="noStrike" cap="none" normalizeH="0" baseline="0">
                          <a:ln>
                            <a:noFill/>
                          </a:ln>
                          <a:solidFill>
                            <a:schemeClr val="tx1"/>
                          </a:solidFill>
                          <a:effectLst/>
                          <a:latin typeface="Century Gothic" pitchFamily="34" charset="0"/>
                          <a:ea typeface="標楷體" pitchFamily="65" charset="-120"/>
                        </a:rPr>
                        <a:t>3</a:t>
                      </a:r>
                      <a:endParaRPr kumimoji="0" lang="en-AU" altLang="zh-TW" sz="1400" b="1" i="0" u="none" strike="noStrike" cap="none" normalizeH="0" baseline="0">
                        <a:ln>
                          <a:noFill/>
                        </a:ln>
                        <a:solidFill>
                          <a:schemeClr val="tx1"/>
                        </a:solidFill>
                        <a:effectLst/>
                        <a:latin typeface="Century Gothic" pitchFamily="34" charset="0"/>
                        <a:ea typeface="新細明體" pitchFamily="18" charset="-120"/>
                      </a:endParaRPr>
                    </a:p>
                  </a:txBody>
                  <a:tcPr marL="67500" marR="67500" marT="0" marB="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266700">
                <a:tc>
                  <a:txBody>
                    <a:bodyPr/>
                    <a:lstStyle/>
                    <a:p>
                      <a:pPr marL="0" marR="0" lvl="0" indent="0" algn="ctr" defTabSz="914400" rtl="0" eaLnBrk="0" fontAlgn="base" latinLnBrk="0" hangingPunct="0">
                        <a:lnSpc>
                          <a:spcPct val="90000"/>
                        </a:lnSpc>
                        <a:spcBef>
                          <a:spcPct val="15000"/>
                        </a:spcBef>
                        <a:spcAft>
                          <a:spcPct val="0"/>
                        </a:spcAft>
                        <a:buClr>
                          <a:schemeClr val="folHlink"/>
                        </a:buClr>
                        <a:buSzPct val="75000"/>
                        <a:buFont typeface="Wingdings" pitchFamily="2" charset="2"/>
                        <a:buNone/>
                        <a:tabLst/>
                      </a:pPr>
                      <a:r>
                        <a:rPr kumimoji="0" lang="en-US" altLang="zh-TW" sz="1400" b="1" i="0" u="none" strike="noStrike" cap="none" normalizeH="0" baseline="0" dirty="0">
                          <a:ln>
                            <a:noFill/>
                          </a:ln>
                          <a:solidFill>
                            <a:schemeClr val="tx1"/>
                          </a:solidFill>
                          <a:effectLst/>
                          <a:latin typeface="Century Gothic" pitchFamily="34" charset="0"/>
                          <a:ea typeface="標楷體" pitchFamily="65" charset="-120"/>
                        </a:rPr>
                        <a:t>0</a:t>
                      </a:r>
                      <a:endParaRPr kumimoji="0" lang="en-AU" altLang="zh-TW" sz="1400" b="1" i="0" u="none" strike="noStrike" cap="none" normalizeH="0" baseline="0" dirty="0">
                        <a:ln>
                          <a:noFill/>
                        </a:ln>
                        <a:solidFill>
                          <a:schemeClr val="tx1"/>
                        </a:solidFill>
                        <a:effectLst/>
                        <a:latin typeface="Century Gothic" pitchFamily="34" charset="0"/>
                        <a:ea typeface="新細明體" pitchFamily="18" charset="-120"/>
                      </a:endParaRPr>
                    </a:p>
                  </a:txBody>
                  <a:tcPr marL="67500" marR="67500" marT="0" marB="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15000"/>
                        </a:spcBef>
                        <a:spcAft>
                          <a:spcPct val="0"/>
                        </a:spcAft>
                        <a:buClr>
                          <a:schemeClr val="folHlink"/>
                        </a:buClr>
                        <a:buSzPct val="75000"/>
                        <a:buFont typeface="Wingdings" pitchFamily="2" charset="2"/>
                        <a:buNone/>
                        <a:tabLst/>
                      </a:pPr>
                      <a:r>
                        <a:rPr kumimoji="0" lang="en-US" altLang="zh-TW" sz="1400" b="1" i="0" u="none" strike="noStrike" cap="none" normalizeH="0" baseline="0" dirty="0">
                          <a:ln>
                            <a:noFill/>
                          </a:ln>
                          <a:solidFill>
                            <a:schemeClr val="tx1"/>
                          </a:solidFill>
                          <a:effectLst/>
                          <a:latin typeface="Century Gothic" pitchFamily="34" charset="0"/>
                          <a:ea typeface="標楷體" pitchFamily="65" charset="-120"/>
                        </a:rPr>
                        <a:t>0</a:t>
                      </a:r>
                      <a:endParaRPr kumimoji="0" lang="en-AU" altLang="zh-TW" sz="1400" b="1" i="0" u="none" strike="noStrike" cap="none" normalizeH="0" baseline="0" dirty="0">
                        <a:ln>
                          <a:noFill/>
                        </a:ln>
                        <a:solidFill>
                          <a:schemeClr val="tx1"/>
                        </a:solidFill>
                        <a:effectLst/>
                        <a:latin typeface="Century Gothic" pitchFamily="34" charset="0"/>
                        <a:ea typeface="新細明體" pitchFamily="18" charset="-120"/>
                      </a:endParaRPr>
                    </a:p>
                  </a:txBody>
                  <a:tcPr marL="67500" marR="6750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15000"/>
                        </a:spcBef>
                        <a:spcAft>
                          <a:spcPct val="0"/>
                        </a:spcAft>
                        <a:buClr>
                          <a:schemeClr val="folHlink"/>
                        </a:buClr>
                        <a:buSzPct val="75000"/>
                        <a:buFont typeface="Wingdings" pitchFamily="2" charset="2"/>
                        <a:buNone/>
                        <a:tabLst/>
                      </a:pPr>
                      <a:r>
                        <a:rPr kumimoji="0" lang="en-US" altLang="zh-TW" sz="1400" b="1" i="0" u="none" strike="noStrike" cap="none" normalizeH="0" baseline="0">
                          <a:ln>
                            <a:noFill/>
                          </a:ln>
                          <a:solidFill>
                            <a:schemeClr val="tx1"/>
                          </a:solidFill>
                          <a:effectLst/>
                          <a:latin typeface="Century Gothic" pitchFamily="34" charset="0"/>
                          <a:ea typeface="標楷體" pitchFamily="65" charset="-120"/>
                        </a:rPr>
                        <a:t>miss</a:t>
                      </a:r>
                      <a:endParaRPr kumimoji="0" lang="en-AU" altLang="zh-TW" sz="1400" b="1" i="0" u="none" strike="noStrike" cap="none" normalizeH="0" baseline="0">
                        <a:ln>
                          <a:noFill/>
                        </a:ln>
                        <a:solidFill>
                          <a:schemeClr val="tx1"/>
                        </a:solidFill>
                        <a:effectLst/>
                        <a:latin typeface="Century Gothic" pitchFamily="34" charset="0"/>
                        <a:ea typeface="新細明體" pitchFamily="18" charset="-120"/>
                      </a:endParaRPr>
                    </a:p>
                  </a:txBody>
                  <a:tcPr marL="67500" marR="6750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15000"/>
                        </a:spcBef>
                        <a:spcAft>
                          <a:spcPct val="0"/>
                        </a:spcAft>
                        <a:buClr>
                          <a:schemeClr val="folHlink"/>
                        </a:buClr>
                        <a:buSzPct val="75000"/>
                        <a:buFont typeface="Wingdings" pitchFamily="2" charset="2"/>
                        <a:buNone/>
                        <a:tabLst/>
                      </a:pPr>
                      <a:r>
                        <a:rPr kumimoji="0" lang="en-US" altLang="zh-TW" sz="1400" b="1" i="0" u="none" strike="noStrike" cap="none" normalizeH="0" baseline="0" dirty="0" err="1">
                          <a:ln>
                            <a:noFill/>
                          </a:ln>
                          <a:solidFill>
                            <a:schemeClr val="folHlink"/>
                          </a:solidFill>
                          <a:effectLst/>
                          <a:latin typeface="Century Gothic" pitchFamily="34" charset="0"/>
                          <a:ea typeface="標楷體" pitchFamily="65" charset="-120"/>
                        </a:rPr>
                        <a:t>Mem</a:t>
                      </a:r>
                      <a:r>
                        <a:rPr kumimoji="0" lang="en-US" altLang="zh-TW" sz="1400" b="1" i="0" u="none" strike="noStrike" cap="none" normalizeH="0" baseline="0" dirty="0">
                          <a:ln>
                            <a:noFill/>
                          </a:ln>
                          <a:solidFill>
                            <a:schemeClr val="folHlink"/>
                          </a:solidFill>
                          <a:effectLst/>
                          <a:latin typeface="Century Gothic" pitchFamily="34" charset="0"/>
                          <a:ea typeface="標楷體" pitchFamily="65" charset="-120"/>
                        </a:rPr>
                        <a:t>[0]</a:t>
                      </a:r>
                      <a:endParaRPr kumimoji="0" lang="en-AU" altLang="zh-TW" sz="1400" b="1" i="0" u="none" strike="noStrike" cap="none" normalizeH="0" baseline="0" dirty="0">
                        <a:ln>
                          <a:noFill/>
                        </a:ln>
                        <a:solidFill>
                          <a:schemeClr val="folHlink"/>
                        </a:solidFill>
                        <a:effectLst/>
                        <a:latin typeface="Century Gothic" pitchFamily="34" charset="0"/>
                        <a:ea typeface="新細明體" pitchFamily="18" charset="-120"/>
                      </a:endParaRPr>
                    </a:p>
                  </a:txBody>
                  <a:tcPr marL="67500" marR="6750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15000"/>
                        </a:spcBef>
                        <a:spcAft>
                          <a:spcPct val="0"/>
                        </a:spcAft>
                        <a:buClr>
                          <a:schemeClr val="folHlink"/>
                        </a:buClr>
                        <a:buSzPct val="75000"/>
                        <a:buFont typeface="Wingdings" pitchFamily="2" charset="2"/>
                        <a:buNone/>
                        <a:tabLst/>
                      </a:pPr>
                      <a:endParaRPr kumimoji="0" lang="zh-TW" altLang="en-US" sz="1400" b="1" i="0" u="none" strike="noStrike" cap="none" normalizeH="0" baseline="0">
                        <a:ln>
                          <a:noFill/>
                        </a:ln>
                        <a:solidFill>
                          <a:schemeClr val="tx1"/>
                        </a:solidFill>
                        <a:effectLst/>
                        <a:latin typeface="Century Gothic" pitchFamily="34" charset="0"/>
                        <a:ea typeface="新細明體" pitchFamily="18" charset="-120"/>
                      </a:endParaRPr>
                    </a:p>
                  </a:txBody>
                  <a:tcPr marL="67500" marR="6750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15000"/>
                        </a:spcBef>
                        <a:spcAft>
                          <a:spcPct val="0"/>
                        </a:spcAft>
                        <a:buClr>
                          <a:schemeClr val="folHlink"/>
                        </a:buClr>
                        <a:buSzPct val="75000"/>
                        <a:buFont typeface="Wingdings" pitchFamily="2" charset="2"/>
                        <a:buNone/>
                        <a:tabLst/>
                      </a:pPr>
                      <a:endParaRPr kumimoji="0" lang="zh-TW" altLang="en-US" sz="1400" b="1" i="0" u="none" strike="noStrike" cap="none" normalizeH="0" baseline="0">
                        <a:ln>
                          <a:noFill/>
                        </a:ln>
                        <a:solidFill>
                          <a:schemeClr val="tx1"/>
                        </a:solidFill>
                        <a:effectLst/>
                        <a:latin typeface="Century Gothic" pitchFamily="34" charset="0"/>
                        <a:ea typeface="新細明體" pitchFamily="18" charset="-120"/>
                      </a:endParaRPr>
                    </a:p>
                  </a:txBody>
                  <a:tcPr marL="67500" marR="6750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15000"/>
                        </a:spcBef>
                        <a:spcAft>
                          <a:spcPct val="0"/>
                        </a:spcAft>
                        <a:buClr>
                          <a:schemeClr val="folHlink"/>
                        </a:buClr>
                        <a:buSzPct val="75000"/>
                        <a:buFont typeface="Wingdings" pitchFamily="2" charset="2"/>
                        <a:buNone/>
                        <a:tabLst/>
                      </a:pPr>
                      <a:endParaRPr kumimoji="0" lang="zh-TW" altLang="en-US" sz="1400" b="1" i="0" u="none" strike="noStrike" cap="none" normalizeH="0" baseline="0">
                        <a:ln>
                          <a:noFill/>
                        </a:ln>
                        <a:solidFill>
                          <a:schemeClr val="tx1"/>
                        </a:solidFill>
                        <a:effectLst/>
                        <a:latin typeface="Century Gothic" pitchFamily="34" charset="0"/>
                        <a:ea typeface="新細明體" pitchFamily="18" charset="-120"/>
                      </a:endParaRPr>
                    </a:p>
                  </a:txBody>
                  <a:tcPr marL="67500" marR="67500" marT="0" marB="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266700">
                <a:tc>
                  <a:txBody>
                    <a:bodyPr/>
                    <a:lstStyle/>
                    <a:p>
                      <a:pPr marL="0" marR="0" lvl="0" indent="0" algn="ctr" defTabSz="914400" rtl="0" eaLnBrk="0" fontAlgn="base" latinLnBrk="0" hangingPunct="0">
                        <a:lnSpc>
                          <a:spcPct val="90000"/>
                        </a:lnSpc>
                        <a:spcBef>
                          <a:spcPct val="15000"/>
                        </a:spcBef>
                        <a:spcAft>
                          <a:spcPct val="0"/>
                        </a:spcAft>
                        <a:buClr>
                          <a:schemeClr val="folHlink"/>
                        </a:buClr>
                        <a:buSzPct val="75000"/>
                        <a:buFont typeface="Wingdings" pitchFamily="2" charset="2"/>
                        <a:buNone/>
                        <a:tabLst/>
                      </a:pPr>
                      <a:r>
                        <a:rPr kumimoji="0" lang="en-US" altLang="zh-TW" sz="1400" b="1" i="0" u="none" strike="noStrike" cap="none" normalizeH="0" baseline="0">
                          <a:ln>
                            <a:noFill/>
                          </a:ln>
                          <a:solidFill>
                            <a:schemeClr val="tx1"/>
                          </a:solidFill>
                          <a:effectLst/>
                          <a:latin typeface="Century Gothic" pitchFamily="34" charset="0"/>
                          <a:ea typeface="標楷體" pitchFamily="65" charset="-120"/>
                        </a:rPr>
                        <a:t>8</a:t>
                      </a:r>
                      <a:endParaRPr kumimoji="0" lang="en-AU" altLang="zh-TW" sz="1400" b="1" i="0" u="none" strike="noStrike" cap="none" normalizeH="0" baseline="0">
                        <a:ln>
                          <a:noFill/>
                        </a:ln>
                        <a:solidFill>
                          <a:schemeClr val="tx1"/>
                        </a:solidFill>
                        <a:effectLst/>
                        <a:latin typeface="Century Gothic" pitchFamily="34" charset="0"/>
                        <a:ea typeface="新細明體" pitchFamily="18" charset="-120"/>
                      </a:endParaRPr>
                    </a:p>
                  </a:txBody>
                  <a:tcPr marL="67500" marR="67500" marT="0" marB="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15000"/>
                        </a:spcBef>
                        <a:spcAft>
                          <a:spcPct val="0"/>
                        </a:spcAft>
                        <a:buClr>
                          <a:schemeClr val="folHlink"/>
                        </a:buClr>
                        <a:buSzPct val="75000"/>
                        <a:buFont typeface="Wingdings" pitchFamily="2" charset="2"/>
                        <a:buNone/>
                        <a:tabLst/>
                      </a:pPr>
                      <a:r>
                        <a:rPr kumimoji="0" lang="en-US" altLang="zh-TW" sz="1400" b="1" i="0" u="none" strike="noStrike" cap="none" normalizeH="0" baseline="0">
                          <a:ln>
                            <a:noFill/>
                          </a:ln>
                          <a:solidFill>
                            <a:schemeClr val="tx1"/>
                          </a:solidFill>
                          <a:effectLst/>
                          <a:latin typeface="Century Gothic" pitchFamily="34" charset="0"/>
                          <a:ea typeface="標楷體" pitchFamily="65" charset="-120"/>
                        </a:rPr>
                        <a:t>0</a:t>
                      </a:r>
                      <a:endParaRPr kumimoji="0" lang="en-AU" altLang="zh-TW" sz="1400" b="1" i="0" u="none" strike="noStrike" cap="none" normalizeH="0" baseline="0">
                        <a:ln>
                          <a:noFill/>
                        </a:ln>
                        <a:solidFill>
                          <a:schemeClr val="tx1"/>
                        </a:solidFill>
                        <a:effectLst/>
                        <a:latin typeface="Century Gothic" pitchFamily="34" charset="0"/>
                        <a:ea typeface="新細明體" pitchFamily="18" charset="-120"/>
                      </a:endParaRPr>
                    </a:p>
                  </a:txBody>
                  <a:tcPr marL="67500" marR="6750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15000"/>
                        </a:spcBef>
                        <a:spcAft>
                          <a:spcPct val="0"/>
                        </a:spcAft>
                        <a:buClr>
                          <a:schemeClr val="folHlink"/>
                        </a:buClr>
                        <a:buSzPct val="75000"/>
                        <a:buFont typeface="Wingdings" pitchFamily="2" charset="2"/>
                        <a:buNone/>
                        <a:tabLst/>
                      </a:pPr>
                      <a:r>
                        <a:rPr kumimoji="0" lang="en-US" altLang="zh-TW" sz="1400" b="1" i="0" u="none" strike="noStrike" cap="none" normalizeH="0" baseline="0" dirty="0">
                          <a:ln>
                            <a:noFill/>
                          </a:ln>
                          <a:solidFill>
                            <a:schemeClr val="tx1"/>
                          </a:solidFill>
                          <a:effectLst/>
                          <a:latin typeface="Century Gothic" pitchFamily="34" charset="0"/>
                          <a:ea typeface="標楷體" pitchFamily="65" charset="-120"/>
                        </a:rPr>
                        <a:t>miss</a:t>
                      </a:r>
                      <a:endParaRPr kumimoji="0" lang="en-AU" altLang="zh-TW" sz="1400" b="1" i="0" u="none" strike="noStrike" cap="none" normalizeH="0" baseline="0" dirty="0">
                        <a:ln>
                          <a:noFill/>
                        </a:ln>
                        <a:solidFill>
                          <a:schemeClr val="tx1"/>
                        </a:solidFill>
                        <a:effectLst/>
                        <a:latin typeface="Century Gothic" pitchFamily="34" charset="0"/>
                        <a:ea typeface="新細明體" pitchFamily="18" charset="-120"/>
                      </a:endParaRPr>
                    </a:p>
                  </a:txBody>
                  <a:tcPr marL="67500" marR="6750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15000"/>
                        </a:spcBef>
                        <a:spcAft>
                          <a:spcPct val="0"/>
                        </a:spcAft>
                        <a:buClr>
                          <a:schemeClr val="folHlink"/>
                        </a:buClr>
                        <a:buSzPct val="75000"/>
                        <a:buFont typeface="Wingdings" pitchFamily="2" charset="2"/>
                        <a:buNone/>
                        <a:tabLst/>
                      </a:pPr>
                      <a:r>
                        <a:rPr kumimoji="0" lang="en-US" altLang="zh-TW" sz="1400" b="1" i="0" u="none" strike="noStrike" cap="none" normalizeH="0" baseline="0" dirty="0" err="1">
                          <a:ln>
                            <a:noFill/>
                          </a:ln>
                          <a:solidFill>
                            <a:srgbClr val="FF0000"/>
                          </a:solidFill>
                          <a:effectLst/>
                          <a:latin typeface="Century Gothic" pitchFamily="34" charset="0"/>
                          <a:ea typeface="標楷體" pitchFamily="65" charset="-120"/>
                        </a:rPr>
                        <a:t>Mem</a:t>
                      </a:r>
                      <a:r>
                        <a:rPr kumimoji="0" lang="en-US" altLang="zh-TW" sz="1400" b="1" i="0" u="none" strike="noStrike" cap="none" normalizeH="0" baseline="0" dirty="0">
                          <a:ln>
                            <a:noFill/>
                          </a:ln>
                          <a:solidFill>
                            <a:srgbClr val="FF0000"/>
                          </a:solidFill>
                          <a:effectLst/>
                          <a:latin typeface="Century Gothic" pitchFamily="34" charset="0"/>
                          <a:ea typeface="標楷體" pitchFamily="65" charset="-120"/>
                        </a:rPr>
                        <a:t>[8]</a:t>
                      </a:r>
                      <a:endParaRPr kumimoji="0" lang="en-AU" altLang="zh-TW" sz="1400" b="1" i="0" u="none" strike="noStrike" cap="none" normalizeH="0" baseline="0" dirty="0">
                        <a:ln>
                          <a:noFill/>
                        </a:ln>
                        <a:solidFill>
                          <a:srgbClr val="FF0000"/>
                        </a:solidFill>
                        <a:effectLst/>
                        <a:latin typeface="Century Gothic" pitchFamily="34" charset="0"/>
                        <a:ea typeface="新細明體" pitchFamily="18" charset="-120"/>
                      </a:endParaRPr>
                    </a:p>
                  </a:txBody>
                  <a:tcPr marL="67500" marR="6750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15000"/>
                        </a:spcBef>
                        <a:spcAft>
                          <a:spcPct val="0"/>
                        </a:spcAft>
                        <a:buClr>
                          <a:schemeClr val="folHlink"/>
                        </a:buClr>
                        <a:buSzPct val="75000"/>
                        <a:buFont typeface="Wingdings" pitchFamily="2" charset="2"/>
                        <a:buNone/>
                        <a:tabLst/>
                      </a:pPr>
                      <a:endParaRPr kumimoji="0" lang="zh-TW" altLang="en-US" sz="1400" b="1" i="0" u="none" strike="noStrike" cap="none" normalizeH="0" baseline="0">
                        <a:ln>
                          <a:noFill/>
                        </a:ln>
                        <a:solidFill>
                          <a:schemeClr val="tx1"/>
                        </a:solidFill>
                        <a:effectLst/>
                        <a:latin typeface="Century Gothic" pitchFamily="34" charset="0"/>
                        <a:ea typeface="新細明體" pitchFamily="18" charset="-120"/>
                      </a:endParaRPr>
                    </a:p>
                  </a:txBody>
                  <a:tcPr marL="67500" marR="6750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15000"/>
                        </a:spcBef>
                        <a:spcAft>
                          <a:spcPct val="0"/>
                        </a:spcAft>
                        <a:buClr>
                          <a:schemeClr val="folHlink"/>
                        </a:buClr>
                        <a:buSzPct val="75000"/>
                        <a:buFont typeface="Wingdings" pitchFamily="2" charset="2"/>
                        <a:buNone/>
                        <a:tabLst/>
                      </a:pPr>
                      <a:endParaRPr kumimoji="0" lang="zh-TW" altLang="en-US" sz="1400" b="1" i="0" u="none" strike="noStrike" cap="none" normalizeH="0" baseline="0">
                        <a:ln>
                          <a:noFill/>
                        </a:ln>
                        <a:solidFill>
                          <a:schemeClr val="tx1"/>
                        </a:solidFill>
                        <a:effectLst/>
                        <a:latin typeface="Century Gothic" pitchFamily="34" charset="0"/>
                        <a:ea typeface="新細明體" pitchFamily="18" charset="-120"/>
                      </a:endParaRPr>
                    </a:p>
                  </a:txBody>
                  <a:tcPr marL="67500" marR="6750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15000"/>
                        </a:spcBef>
                        <a:spcAft>
                          <a:spcPct val="0"/>
                        </a:spcAft>
                        <a:buClr>
                          <a:schemeClr val="folHlink"/>
                        </a:buClr>
                        <a:buSzPct val="75000"/>
                        <a:buFont typeface="Wingdings" pitchFamily="2" charset="2"/>
                        <a:buNone/>
                        <a:tabLst/>
                      </a:pPr>
                      <a:endParaRPr kumimoji="0" lang="zh-TW" altLang="en-US" sz="1400" b="1" i="0" u="none" strike="noStrike" cap="none" normalizeH="0" baseline="0">
                        <a:ln>
                          <a:noFill/>
                        </a:ln>
                        <a:solidFill>
                          <a:schemeClr val="tx1"/>
                        </a:solidFill>
                        <a:effectLst/>
                        <a:latin typeface="Century Gothic" pitchFamily="34" charset="0"/>
                        <a:ea typeface="新細明體" pitchFamily="18" charset="-120"/>
                      </a:endParaRPr>
                    </a:p>
                  </a:txBody>
                  <a:tcPr marL="67500" marR="67500" marT="0" marB="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266700">
                <a:tc>
                  <a:txBody>
                    <a:bodyPr/>
                    <a:lstStyle/>
                    <a:p>
                      <a:pPr marL="0" marR="0" lvl="0" indent="0" algn="ctr" defTabSz="914400" rtl="0" eaLnBrk="0" fontAlgn="base" latinLnBrk="0" hangingPunct="0">
                        <a:lnSpc>
                          <a:spcPct val="90000"/>
                        </a:lnSpc>
                        <a:spcBef>
                          <a:spcPct val="15000"/>
                        </a:spcBef>
                        <a:spcAft>
                          <a:spcPct val="0"/>
                        </a:spcAft>
                        <a:buClr>
                          <a:schemeClr val="folHlink"/>
                        </a:buClr>
                        <a:buSzPct val="75000"/>
                        <a:buFont typeface="Wingdings" pitchFamily="2" charset="2"/>
                        <a:buNone/>
                        <a:tabLst/>
                      </a:pPr>
                      <a:r>
                        <a:rPr kumimoji="0" lang="en-US" altLang="zh-TW" sz="1400" b="1" i="0" u="none" strike="noStrike" cap="none" normalizeH="0" baseline="0">
                          <a:ln>
                            <a:noFill/>
                          </a:ln>
                          <a:solidFill>
                            <a:schemeClr val="tx1"/>
                          </a:solidFill>
                          <a:effectLst/>
                          <a:latin typeface="Century Gothic" pitchFamily="34" charset="0"/>
                          <a:ea typeface="標楷體" pitchFamily="65" charset="-120"/>
                        </a:rPr>
                        <a:t>0</a:t>
                      </a:r>
                      <a:endParaRPr kumimoji="0" lang="en-AU" altLang="zh-TW" sz="1400" b="1" i="0" u="none" strike="noStrike" cap="none" normalizeH="0" baseline="0">
                        <a:ln>
                          <a:noFill/>
                        </a:ln>
                        <a:solidFill>
                          <a:schemeClr val="tx1"/>
                        </a:solidFill>
                        <a:effectLst/>
                        <a:latin typeface="Century Gothic" pitchFamily="34" charset="0"/>
                        <a:ea typeface="新細明體" pitchFamily="18" charset="-120"/>
                      </a:endParaRPr>
                    </a:p>
                  </a:txBody>
                  <a:tcPr marL="67500" marR="67500" marT="0" marB="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15000"/>
                        </a:spcBef>
                        <a:spcAft>
                          <a:spcPct val="0"/>
                        </a:spcAft>
                        <a:buClr>
                          <a:schemeClr val="folHlink"/>
                        </a:buClr>
                        <a:buSzPct val="75000"/>
                        <a:buFont typeface="Wingdings" pitchFamily="2" charset="2"/>
                        <a:buNone/>
                        <a:tabLst/>
                      </a:pPr>
                      <a:r>
                        <a:rPr kumimoji="0" lang="en-US" altLang="zh-TW" sz="1400" b="1" i="0" u="none" strike="noStrike" cap="none" normalizeH="0" baseline="0">
                          <a:ln>
                            <a:noFill/>
                          </a:ln>
                          <a:solidFill>
                            <a:schemeClr val="tx1"/>
                          </a:solidFill>
                          <a:effectLst/>
                          <a:latin typeface="Century Gothic" pitchFamily="34" charset="0"/>
                          <a:ea typeface="標楷體" pitchFamily="65" charset="-120"/>
                        </a:rPr>
                        <a:t>0</a:t>
                      </a:r>
                      <a:endParaRPr kumimoji="0" lang="en-AU" altLang="zh-TW" sz="1400" b="1" i="0" u="none" strike="noStrike" cap="none" normalizeH="0" baseline="0">
                        <a:ln>
                          <a:noFill/>
                        </a:ln>
                        <a:solidFill>
                          <a:schemeClr val="tx1"/>
                        </a:solidFill>
                        <a:effectLst/>
                        <a:latin typeface="Century Gothic" pitchFamily="34" charset="0"/>
                        <a:ea typeface="新細明體" pitchFamily="18" charset="-120"/>
                      </a:endParaRPr>
                    </a:p>
                  </a:txBody>
                  <a:tcPr marL="67500" marR="6750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15000"/>
                        </a:spcBef>
                        <a:spcAft>
                          <a:spcPct val="0"/>
                        </a:spcAft>
                        <a:buClr>
                          <a:schemeClr val="folHlink"/>
                        </a:buClr>
                        <a:buSzPct val="75000"/>
                        <a:buFont typeface="Wingdings" pitchFamily="2" charset="2"/>
                        <a:buNone/>
                        <a:tabLst/>
                      </a:pPr>
                      <a:r>
                        <a:rPr kumimoji="0" lang="en-US" altLang="zh-TW" sz="1400" b="1" i="0" u="none" strike="noStrike" cap="none" normalizeH="0" baseline="0">
                          <a:ln>
                            <a:noFill/>
                          </a:ln>
                          <a:solidFill>
                            <a:schemeClr val="tx1"/>
                          </a:solidFill>
                          <a:effectLst/>
                          <a:latin typeface="Century Gothic" pitchFamily="34" charset="0"/>
                          <a:ea typeface="標楷體" pitchFamily="65" charset="-120"/>
                        </a:rPr>
                        <a:t>miss</a:t>
                      </a:r>
                      <a:endParaRPr kumimoji="0" lang="en-AU" altLang="zh-TW" sz="1400" b="1" i="0" u="none" strike="noStrike" cap="none" normalizeH="0" baseline="0">
                        <a:ln>
                          <a:noFill/>
                        </a:ln>
                        <a:solidFill>
                          <a:schemeClr val="tx1"/>
                        </a:solidFill>
                        <a:effectLst/>
                        <a:latin typeface="Century Gothic" pitchFamily="34" charset="0"/>
                        <a:ea typeface="新細明體" pitchFamily="18" charset="-120"/>
                      </a:endParaRPr>
                    </a:p>
                  </a:txBody>
                  <a:tcPr marL="67500" marR="6750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15000"/>
                        </a:spcBef>
                        <a:spcAft>
                          <a:spcPct val="0"/>
                        </a:spcAft>
                        <a:buClr>
                          <a:schemeClr val="folHlink"/>
                        </a:buClr>
                        <a:buSzPct val="75000"/>
                        <a:buFont typeface="Wingdings" pitchFamily="2" charset="2"/>
                        <a:buNone/>
                        <a:tabLst/>
                      </a:pPr>
                      <a:r>
                        <a:rPr kumimoji="0" lang="en-US" altLang="zh-TW" sz="1400" b="1" i="0" u="none" strike="noStrike" cap="none" normalizeH="0" baseline="0">
                          <a:ln>
                            <a:noFill/>
                          </a:ln>
                          <a:solidFill>
                            <a:srgbClr val="FF0000"/>
                          </a:solidFill>
                          <a:effectLst/>
                          <a:latin typeface="Century Gothic" pitchFamily="34" charset="0"/>
                          <a:ea typeface="標楷體" pitchFamily="65" charset="-120"/>
                        </a:rPr>
                        <a:t>Mem[0]</a:t>
                      </a:r>
                      <a:endParaRPr kumimoji="0" lang="en-AU" altLang="zh-TW" sz="1400" b="1" i="0" u="none" strike="noStrike" cap="none" normalizeH="0" baseline="0">
                        <a:ln>
                          <a:noFill/>
                        </a:ln>
                        <a:solidFill>
                          <a:srgbClr val="FF0000"/>
                        </a:solidFill>
                        <a:effectLst/>
                        <a:latin typeface="Century Gothic" pitchFamily="34" charset="0"/>
                        <a:ea typeface="新細明體" pitchFamily="18" charset="-120"/>
                      </a:endParaRPr>
                    </a:p>
                  </a:txBody>
                  <a:tcPr marL="67500" marR="6750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15000"/>
                        </a:spcBef>
                        <a:spcAft>
                          <a:spcPct val="0"/>
                        </a:spcAft>
                        <a:buClr>
                          <a:schemeClr val="folHlink"/>
                        </a:buClr>
                        <a:buSzPct val="75000"/>
                        <a:buFont typeface="Wingdings" pitchFamily="2" charset="2"/>
                        <a:buNone/>
                        <a:tabLst/>
                      </a:pPr>
                      <a:endParaRPr kumimoji="0" lang="zh-TW" altLang="en-US" sz="1400" b="1" i="0" u="none" strike="noStrike" cap="none" normalizeH="0" baseline="0">
                        <a:ln>
                          <a:noFill/>
                        </a:ln>
                        <a:solidFill>
                          <a:schemeClr val="tx1"/>
                        </a:solidFill>
                        <a:effectLst/>
                        <a:latin typeface="Century Gothic" pitchFamily="34" charset="0"/>
                        <a:ea typeface="新細明體" pitchFamily="18" charset="-120"/>
                      </a:endParaRPr>
                    </a:p>
                  </a:txBody>
                  <a:tcPr marL="67500" marR="6750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15000"/>
                        </a:spcBef>
                        <a:spcAft>
                          <a:spcPct val="0"/>
                        </a:spcAft>
                        <a:buClr>
                          <a:schemeClr val="folHlink"/>
                        </a:buClr>
                        <a:buSzPct val="75000"/>
                        <a:buFont typeface="Wingdings" pitchFamily="2" charset="2"/>
                        <a:buNone/>
                        <a:tabLst/>
                      </a:pPr>
                      <a:endParaRPr kumimoji="0" lang="zh-TW" altLang="en-US" sz="1400" b="1" i="0" u="none" strike="noStrike" cap="none" normalizeH="0" baseline="0">
                        <a:ln>
                          <a:noFill/>
                        </a:ln>
                        <a:solidFill>
                          <a:schemeClr val="tx1"/>
                        </a:solidFill>
                        <a:effectLst/>
                        <a:latin typeface="Century Gothic" pitchFamily="34" charset="0"/>
                        <a:ea typeface="新細明體" pitchFamily="18" charset="-120"/>
                      </a:endParaRPr>
                    </a:p>
                  </a:txBody>
                  <a:tcPr marL="67500" marR="6750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15000"/>
                        </a:spcBef>
                        <a:spcAft>
                          <a:spcPct val="0"/>
                        </a:spcAft>
                        <a:buClr>
                          <a:schemeClr val="folHlink"/>
                        </a:buClr>
                        <a:buSzPct val="75000"/>
                        <a:buFont typeface="Wingdings" pitchFamily="2" charset="2"/>
                        <a:buNone/>
                        <a:tabLst/>
                      </a:pPr>
                      <a:endParaRPr kumimoji="0" lang="zh-TW" altLang="en-US" sz="1400" b="1" i="0" u="none" strike="noStrike" cap="none" normalizeH="0" baseline="0">
                        <a:ln>
                          <a:noFill/>
                        </a:ln>
                        <a:solidFill>
                          <a:schemeClr val="tx1"/>
                        </a:solidFill>
                        <a:effectLst/>
                        <a:latin typeface="Century Gothic" pitchFamily="34" charset="0"/>
                        <a:ea typeface="新細明體" pitchFamily="18" charset="-120"/>
                      </a:endParaRPr>
                    </a:p>
                  </a:txBody>
                  <a:tcPr marL="67500" marR="67500" marT="0" marB="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265510">
                <a:tc>
                  <a:txBody>
                    <a:bodyPr/>
                    <a:lstStyle/>
                    <a:p>
                      <a:pPr marL="0" marR="0" lvl="0" indent="0" algn="ctr" defTabSz="914400" rtl="0" eaLnBrk="0" fontAlgn="base" latinLnBrk="0" hangingPunct="0">
                        <a:lnSpc>
                          <a:spcPct val="90000"/>
                        </a:lnSpc>
                        <a:spcBef>
                          <a:spcPct val="15000"/>
                        </a:spcBef>
                        <a:spcAft>
                          <a:spcPct val="0"/>
                        </a:spcAft>
                        <a:buClr>
                          <a:schemeClr val="folHlink"/>
                        </a:buClr>
                        <a:buSzPct val="75000"/>
                        <a:buFont typeface="Wingdings" pitchFamily="2" charset="2"/>
                        <a:buNone/>
                        <a:tabLst/>
                      </a:pPr>
                      <a:r>
                        <a:rPr kumimoji="0" lang="en-US" altLang="zh-TW" sz="1400" b="1" i="0" u="none" strike="noStrike" cap="none" normalizeH="0" baseline="0">
                          <a:ln>
                            <a:noFill/>
                          </a:ln>
                          <a:solidFill>
                            <a:schemeClr val="tx1"/>
                          </a:solidFill>
                          <a:effectLst/>
                          <a:latin typeface="Century Gothic" pitchFamily="34" charset="0"/>
                          <a:ea typeface="標楷體" pitchFamily="65" charset="-120"/>
                        </a:rPr>
                        <a:t>6</a:t>
                      </a:r>
                      <a:endParaRPr kumimoji="0" lang="en-AU" altLang="zh-TW" sz="1400" b="1" i="0" u="none" strike="noStrike" cap="none" normalizeH="0" baseline="0">
                        <a:ln>
                          <a:noFill/>
                        </a:ln>
                        <a:solidFill>
                          <a:schemeClr val="tx1"/>
                        </a:solidFill>
                        <a:effectLst/>
                        <a:latin typeface="Century Gothic" pitchFamily="34" charset="0"/>
                        <a:ea typeface="新細明體" pitchFamily="18" charset="-120"/>
                      </a:endParaRPr>
                    </a:p>
                  </a:txBody>
                  <a:tcPr marL="67500" marR="67500" marT="0" marB="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15000"/>
                        </a:spcBef>
                        <a:spcAft>
                          <a:spcPct val="0"/>
                        </a:spcAft>
                        <a:buClr>
                          <a:schemeClr val="folHlink"/>
                        </a:buClr>
                        <a:buSzPct val="75000"/>
                        <a:buFont typeface="Wingdings" pitchFamily="2" charset="2"/>
                        <a:buNone/>
                        <a:tabLst/>
                      </a:pPr>
                      <a:r>
                        <a:rPr kumimoji="0" lang="en-US" altLang="zh-TW" sz="1400" b="1" i="0" u="none" strike="noStrike" cap="none" normalizeH="0" baseline="0">
                          <a:ln>
                            <a:noFill/>
                          </a:ln>
                          <a:solidFill>
                            <a:schemeClr val="tx1"/>
                          </a:solidFill>
                          <a:effectLst/>
                          <a:latin typeface="Century Gothic" pitchFamily="34" charset="0"/>
                          <a:ea typeface="標楷體" pitchFamily="65" charset="-120"/>
                        </a:rPr>
                        <a:t>2</a:t>
                      </a:r>
                      <a:endParaRPr kumimoji="0" lang="en-AU" altLang="zh-TW" sz="1400" b="1" i="0" u="none" strike="noStrike" cap="none" normalizeH="0" baseline="0">
                        <a:ln>
                          <a:noFill/>
                        </a:ln>
                        <a:solidFill>
                          <a:schemeClr val="tx1"/>
                        </a:solidFill>
                        <a:effectLst/>
                        <a:latin typeface="Century Gothic" pitchFamily="34" charset="0"/>
                        <a:ea typeface="新細明體" pitchFamily="18" charset="-120"/>
                      </a:endParaRPr>
                    </a:p>
                  </a:txBody>
                  <a:tcPr marL="67500" marR="6750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15000"/>
                        </a:spcBef>
                        <a:spcAft>
                          <a:spcPct val="0"/>
                        </a:spcAft>
                        <a:buClr>
                          <a:schemeClr val="folHlink"/>
                        </a:buClr>
                        <a:buSzPct val="75000"/>
                        <a:buFont typeface="Wingdings" pitchFamily="2" charset="2"/>
                        <a:buNone/>
                        <a:tabLst/>
                      </a:pPr>
                      <a:r>
                        <a:rPr kumimoji="0" lang="en-US" altLang="zh-TW" sz="1400" b="1" i="0" u="none" strike="noStrike" cap="none" normalizeH="0" baseline="0">
                          <a:ln>
                            <a:noFill/>
                          </a:ln>
                          <a:solidFill>
                            <a:schemeClr val="tx1"/>
                          </a:solidFill>
                          <a:effectLst/>
                          <a:latin typeface="Century Gothic" pitchFamily="34" charset="0"/>
                          <a:ea typeface="標楷體" pitchFamily="65" charset="-120"/>
                        </a:rPr>
                        <a:t>miss</a:t>
                      </a:r>
                      <a:endParaRPr kumimoji="0" lang="en-AU" altLang="zh-TW" sz="1400" b="1" i="0" u="none" strike="noStrike" cap="none" normalizeH="0" baseline="0">
                        <a:ln>
                          <a:noFill/>
                        </a:ln>
                        <a:solidFill>
                          <a:schemeClr val="tx1"/>
                        </a:solidFill>
                        <a:effectLst/>
                        <a:latin typeface="Century Gothic" pitchFamily="34" charset="0"/>
                        <a:ea typeface="新細明體" pitchFamily="18" charset="-120"/>
                      </a:endParaRPr>
                    </a:p>
                  </a:txBody>
                  <a:tcPr marL="67500" marR="6750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15000"/>
                        </a:spcBef>
                        <a:spcAft>
                          <a:spcPct val="0"/>
                        </a:spcAft>
                        <a:buClr>
                          <a:schemeClr val="folHlink"/>
                        </a:buClr>
                        <a:buSzPct val="75000"/>
                        <a:buFont typeface="Wingdings" pitchFamily="2" charset="2"/>
                        <a:buNone/>
                        <a:tabLst/>
                      </a:pPr>
                      <a:r>
                        <a:rPr kumimoji="0" lang="en-US" altLang="zh-TW" sz="1400" b="1" i="0" u="none" strike="noStrike" cap="none" normalizeH="0" baseline="0">
                          <a:ln>
                            <a:noFill/>
                          </a:ln>
                          <a:solidFill>
                            <a:schemeClr val="tx1"/>
                          </a:solidFill>
                          <a:effectLst/>
                          <a:latin typeface="Century Gothic" pitchFamily="34" charset="0"/>
                          <a:ea typeface="標楷體" pitchFamily="65" charset="-120"/>
                        </a:rPr>
                        <a:t>Mem[0]</a:t>
                      </a:r>
                      <a:endParaRPr kumimoji="0" lang="en-AU" altLang="zh-TW" sz="1400" b="1" i="0" u="none" strike="noStrike" cap="none" normalizeH="0" baseline="0">
                        <a:ln>
                          <a:noFill/>
                        </a:ln>
                        <a:solidFill>
                          <a:schemeClr val="tx1"/>
                        </a:solidFill>
                        <a:effectLst/>
                        <a:latin typeface="Century Gothic" pitchFamily="34" charset="0"/>
                        <a:ea typeface="新細明體" pitchFamily="18" charset="-120"/>
                      </a:endParaRPr>
                    </a:p>
                  </a:txBody>
                  <a:tcPr marL="67500" marR="6750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15000"/>
                        </a:spcBef>
                        <a:spcAft>
                          <a:spcPct val="0"/>
                        </a:spcAft>
                        <a:buClr>
                          <a:schemeClr val="folHlink"/>
                        </a:buClr>
                        <a:buSzPct val="75000"/>
                        <a:buFont typeface="Wingdings" pitchFamily="2" charset="2"/>
                        <a:buNone/>
                        <a:tabLst/>
                      </a:pPr>
                      <a:endParaRPr kumimoji="0" lang="zh-TW" altLang="en-US" sz="1400" b="1" i="0" u="none" strike="noStrike" cap="none" normalizeH="0" baseline="0">
                        <a:ln>
                          <a:noFill/>
                        </a:ln>
                        <a:solidFill>
                          <a:schemeClr val="tx1"/>
                        </a:solidFill>
                        <a:effectLst/>
                        <a:latin typeface="Century Gothic" pitchFamily="34" charset="0"/>
                        <a:ea typeface="新細明體" pitchFamily="18" charset="-120"/>
                      </a:endParaRPr>
                    </a:p>
                  </a:txBody>
                  <a:tcPr marL="67500" marR="6750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15000"/>
                        </a:spcBef>
                        <a:spcAft>
                          <a:spcPct val="0"/>
                        </a:spcAft>
                        <a:buClr>
                          <a:schemeClr val="folHlink"/>
                        </a:buClr>
                        <a:buSzPct val="75000"/>
                        <a:buFont typeface="Wingdings" pitchFamily="2" charset="2"/>
                        <a:buNone/>
                        <a:tabLst/>
                      </a:pPr>
                      <a:r>
                        <a:rPr kumimoji="0" lang="en-US" altLang="zh-TW" sz="1400" b="1" i="0" u="none" strike="noStrike" cap="none" normalizeH="0" baseline="0">
                          <a:ln>
                            <a:noFill/>
                          </a:ln>
                          <a:solidFill>
                            <a:schemeClr val="folHlink"/>
                          </a:solidFill>
                          <a:effectLst/>
                          <a:latin typeface="Century Gothic" pitchFamily="34" charset="0"/>
                          <a:ea typeface="標楷體" pitchFamily="65" charset="-120"/>
                        </a:rPr>
                        <a:t>Mem[6]</a:t>
                      </a:r>
                      <a:endParaRPr kumimoji="0" lang="en-AU" altLang="zh-TW" sz="1400" b="1" i="0" u="none" strike="noStrike" cap="none" normalizeH="0" baseline="0">
                        <a:ln>
                          <a:noFill/>
                        </a:ln>
                        <a:solidFill>
                          <a:schemeClr val="folHlink"/>
                        </a:solidFill>
                        <a:effectLst/>
                        <a:latin typeface="Century Gothic" pitchFamily="34" charset="0"/>
                        <a:ea typeface="新細明體" pitchFamily="18" charset="-120"/>
                      </a:endParaRPr>
                    </a:p>
                  </a:txBody>
                  <a:tcPr marL="67500" marR="6750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15000"/>
                        </a:spcBef>
                        <a:spcAft>
                          <a:spcPct val="0"/>
                        </a:spcAft>
                        <a:buClr>
                          <a:schemeClr val="folHlink"/>
                        </a:buClr>
                        <a:buSzPct val="75000"/>
                        <a:buFont typeface="Wingdings" pitchFamily="2" charset="2"/>
                        <a:buNone/>
                        <a:tabLst/>
                      </a:pPr>
                      <a:endParaRPr kumimoji="0" lang="zh-TW" altLang="en-US" sz="1400" b="1" i="0" u="none" strike="noStrike" cap="none" normalizeH="0" baseline="0">
                        <a:ln>
                          <a:noFill/>
                        </a:ln>
                        <a:solidFill>
                          <a:schemeClr val="tx1"/>
                        </a:solidFill>
                        <a:effectLst/>
                        <a:latin typeface="Century Gothic" pitchFamily="34" charset="0"/>
                        <a:ea typeface="新細明體" pitchFamily="18" charset="-120"/>
                      </a:endParaRPr>
                    </a:p>
                  </a:txBody>
                  <a:tcPr marL="67500" marR="67500" marT="0" marB="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266700">
                <a:tc>
                  <a:txBody>
                    <a:bodyPr/>
                    <a:lstStyle/>
                    <a:p>
                      <a:pPr marL="0" marR="0" lvl="0" indent="0" algn="ctr" defTabSz="914400" rtl="0" eaLnBrk="0" fontAlgn="base" latinLnBrk="0" hangingPunct="0">
                        <a:lnSpc>
                          <a:spcPct val="90000"/>
                        </a:lnSpc>
                        <a:spcBef>
                          <a:spcPct val="15000"/>
                        </a:spcBef>
                        <a:spcAft>
                          <a:spcPct val="0"/>
                        </a:spcAft>
                        <a:buClr>
                          <a:schemeClr val="folHlink"/>
                        </a:buClr>
                        <a:buSzPct val="75000"/>
                        <a:buFont typeface="Wingdings" pitchFamily="2" charset="2"/>
                        <a:buNone/>
                        <a:tabLst/>
                      </a:pPr>
                      <a:r>
                        <a:rPr kumimoji="0" lang="en-US" altLang="zh-TW" sz="1400" b="1" i="0" u="none" strike="noStrike" cap="none" normalizeH="0" baseline="0">
                          <a:ln>
                            <a:noFill/>
                          </a:ln>
                          <a:solidFill>
                            <a:schemeClr val="tx1"/>
                          </a:solidFill>
                          <a:effectLst/>
                          <a:latin typeface="Century Gothic" pitchFamily="34" charset="0"/>
                          <a:ea typeface="標楷體" pitchFamily="65" charset="-120"/>
                        </a:rPr>
                        <a:t>8</a:t>
                      </a:r>
                      <a:endParaRPr kumimoji="0" lang="en-AU" altLang="zh-TW" sz="1400" b="1" i="0" u="none" strike="noStrike" cap="none" normalizeH="0" baseline="0">
                        <a:ln>
                          <a:noFill/>
                        </a:ln>
                        <a:solidFill>
                          <a:schemeClr val="tx1"/>
                        </a:solidFill>
                        <a:effectLst/>
                        <a:latin typeface="Century Gothic" pitchFamily="34" charset="0"/>
                        <a:ea typeface="新細明體" pitchFamily="18" charset="-120"/>
                      </a:endParaRPr>
                    </a:p>
                  </a:txBody>
                  <a:tcPr marL="67500" marR="67500" marT="0" marB="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15000"/>
                        </a:spcBef>
                        <a:spcAft>
                          <a:spcPct val="0"/>
                        </a:spcAft>
                        <a:buClr>
                          <a:schemeClr val="folHlink"/>
                        </a:buClr>
                        <a:buSzPct val="75000"/>
                        <a:buFont typeface="Wingdings" pitchFamily="2" charset="2"/>
                        <a:buNone/>
                        <a:tabLst/>
                      </a:pPr>
                      <a:r>
                        <a:rPr kumimoji="0" lang="en-US" altLang="zh-TW" sz="1400" b="1" i="0" u="none" strike="noStrike" cap="none" normalizeH="0" baseline="0">
                          <a:ln>
                            <a:noFill/>
                          </a:ln>
                          <a:solidFill>
                            <a:schemeClr val="tx1"/>
                          </a:solidFill>
                          <a:effectLst/>
                          <a:latin typeface="Century Gothic" pitchFamily="34" charset="0"/>
                          <a:ea typeface="標楷體" pitchFamily="65" charset="-120"/>
                        </a:rPr>
                        <a:t>0</a:t>
                      </a:r>
                      <a:endParaRPr kumimoji="0" lang="en-AU" altLang="zh-TW" sz="1400" b="1" i="0" u="none" strike="noStrike" cap="none" normalizeH="0" baseline="0">
                        <a:ln>
                          <a:noFill/>
                        </a:ln>
                        <a:solidFill>
                          <a:schemeClr val="tx1"/>
                        </a:solidFill>
                        <a:effectLst/>
                        <a:latin typeface="Century Gothic" pitchFamily="34" charset="0"/>
                        <a:ea typeface="新細明體" pitchFamily="18" charset="-120"/>
                      </a:endParaRPr>
                    </a:p>
                  </a:txBody>
                  <a:tcPr marL="67500" marR="6750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15000"/>
                        </a:spcBef>
                        <a:spcAft>
                          <a:spcPct val="0"/>
                        </a:spcAft>
                        <a:buClr>
                          <a:schemeClr val="folHlink"/>
                        </a:buClr>
                        <a:buSzPct val="75000"/>
                        <a:buFont typeface="Wingdings" pitchFamily="2" charset="2"/>
                        <a:buNone/>
                        <a:tabLst/>
                      </a:pPr>
                      <a:r>
                        <a:rPr kumimoji="0" lang="en-US" altLang="zh-TW" sz="1400" b="1" i="0" u="none" strike="noStrike" cap="none" normalizeH="0" baseline="0">
                          <a:ln>
                            <a:noFill/>
                          </a:ln>
                          <a:solidFill>
                            <a:schemeClr val="tx1"/>
                          </a:solidFill>
                          <a:effectLst/>
                          <a:latin typeface="Century Gothic" pitchFamily="34" charset="0"/>
                          <a:ea typeface="標楷體" pitchFamily="65" charset="-120"/>
                        </a:rPr>
                        <a:t>miss</a:t>
                      </a:r>
                      <a:endParaRPr kumimoji="0" lang="en-AU" altLang="zh-TW" sz="1400" b="1" i="0" u="none" strike="noStrike" cap="none" normalizeH="0" baseline="0">
                        <a:ln>
                          <a:noFill/>
                        </a:ln>
                        <a:solidFill>
                          <a:schemeClr val="tx1"/>
                        </a:solidFill>
                        <a:effectLst/>
                        <a:latin typeface="Century Gothic" pitchFamily="34" charset="0"/>
                        <a:ea typeface="新細明體" pitchFamily="18" charset="-120"/>
                      </a:endParaRPr>
                    </a:p>
                  </a:txBody>
                  <a:tcPr marL="67500" marR="6750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15000"/>
                        </a:spcBef>
                        <a:spcAft>
                          <a:spcPct val="0"/>
                        </a:spcAft>
                        <a:buClr>
                          <a:schemeClr val="folHlink"/>
                        </a:buClr>
                        <a:buSzPct val="75000"/>
                        <a:buFont typeface="Wingdings" pitchFamily="2" charset="2"/>
                        <a:buNone/>
                        <a:tabLst/>
                      </a:pPr>
                      <a:r>
                        <a:rPr kumimoji="0" lang="en-US" altLang="zh-TW" sz="1400" b="1" i="0" u="none" strike="noStrike" cap="none" normalizeH="0" baseline="0">
                          <a:ln>
                            <a:noFill/>
                          </a:ln>
                          <a:solidFill>
                            <a:schemeClr val="accent1"/>
                          </a:solidFill>
                          <a:effectLst/>
                          <a:latin typeface="Century Gothic" pitchFamily="34" charset="0"/>
                          <a:ea typeface="標楷體" pitchFamily="65" charset="-120"/>
                        </a:rPr>
                        <a:t>Mem[8]</a:t>
                      </a:r>
                      <a:endParaRPr kumimoji="0" lang="en-AU" altLang="zh-TW" sz="1400" b="1" i="0" u="none" strike="noStrike" cap="none" normalizeH="0" baseline="0">
                        <a:ln>
                          <a:noFill/>
                        </a:ln>
                        <a:solidFill>
                          <a:schemeClr val="accent1"/>
                        </a:solidFill>
                        <a:effectLst/>
                        <a:latin typeface="Century Gothic" pitchFamily="34" charset="0"/>
                        <a:ea typeface="新細明體" pitchFamily="18" charset="-120"/>
                      </a:endParaRPr>
                    </a:p>
                  </a:txBody>
                  <a:tcPr marL="67500" marR="6750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15000"/>
                        </a:spcBef>
                        <a:spcAft>
                          <a:spcPct val="0"/>
                        </a:spcAft>
                        <a:buClr>
                          <a:schemeClr val="folHlink"/>
                        </a:buClr>
                        <a:buSzPct val="75000"/>
                        <a:buFont typeface="Wingdings" pitchFamily="2" charset="2"/>
                        <a:buNone/>
                        <a:tabLst/>
                      </a:pPr>
                      <a:endParaRPr kumimoji="0" lang="zh-TW" altLang="en-US" sz="1400" b="1" i="0" u="none" strike="noStrike" cap="none" normalizeH="0" baseline="0">
                        <a:ln>
                          <a:noFill/>
                        </a:ln>
                        <a:solidFill>
                          <a:schemeClr val="accent1"/>
                        </a:solidFill>
                        <a:effectLst/>
                        <a:latin typeface="Century Gothic" pitchFamily="34" charset="0"/>
                        <a:ea typeface="新細明體" pitchFamily="18" charset="-120"/>
                      </a:endParaRPr>
                    </a:p>
                  </a:txBody>
                  <a:tcPr marL="67500" marR="6750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15000"/>
                        </a:spcBef>
                        <a:spcAft>
                          <a:spcPct val="0"/>
                        </a:spcAft>
                        <a:buClr>
                          <a:schemeClr val="folHlink"/>
                        </a:buClr>
                        <a:buSzPct val="75000"/>
                        <a:buFont typeface="Wingdings" pitchFamily="2" charset="2"/>
                        <a:buNone/>
                        <a:tabLst/>
                      </a:pPr>
                      <a:r>
                        <a:rPr kumimoji="0" lang="en-US" altLang="zh-TW" sz="1400" b="1" i="0" u="none" strike="noStrike" cap="none" normalizeH="0" baseline="0">
                          <a:ln>
                            <a:noFill/>
                          </a:ln>
                          <a:solidFill>
                            <a:schemeClr val="tx1"/>
                          </a:solidFill>
                          <a:effectLst/>
                          <a:latin typeface="Century Gothic" pitchFamily="34" charset="0"/>
                          <a:ea typeface="標楷體" pitchFamily="65" charset="-120"/>
                        </a:rPr>
                        <a:t>Mem[6]</a:t>
                      </a:r>
                      <a:endParaRPr kumimoji="0" lang="en-AU" altLang="zh-TW" sz="1400" b="1" i="0" u="none" strike="noStrike" cap="none" normalizeH="0" baseline="0">
                        <a:ln>
                          <a:noFill/>
                        </a:ln>
                        <a:solidFill>
                          <a:schemeClr val="tx1"/>
                        </a:solidFill>
                        <a:effectLst/>
                        <a:latin typeface="Century Gothic" pitchFamily="34" charset="0"/>
                        <a:ea typeface="新細明體" pitchFamily="18" charset="-120"/>
                      </a:endParaRPr>
                    </a:p>
                  </a:txBody>
                  <a:tcPr marL="67500" marR="6750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15000"/>
                        </a:spcBef>
                        <a:spcAft>
                          <a:spcPct val="0"/>
                        </a:spcAft>
                        <a:buClr>
                          <a:schemeClr val="folHlink"/>
                        </a:buClr>
                        <a:buSzPct val="75000"/>
                        <a:buFont typeface="Wingdings" pitchFamily="2" charset="2"/>
                        <a:buNone/>
                        <a:tabLst/>
                      </a:pPr>
                      <a:endParaRPr kumimoji="0" lang="zh-TW" altLang="en-US" sz="1400" b="1" i="0" u="none" strike="noStrike" cap="none" normalizeH="0" baseline="0" dirty="0">
                        <a:ln>
                          <a:noFill/>
                        </a:ln>
                        <a:solidFill>
                          <a:schemeClr val="tx1"/>
                        </a:solidFill>
                        <a:effectLst/>
                        <a:latin typeface="Century Gothic" pitchFamily="34" charset="0"/>
                        <a:ea typeface="新細明體" pitchFamily="18" charset="-120"/>
                      </a:endParaRPr>
                    </a:p>
                  </a:txBody>
                  <a:tcPr marL="67500" marR="67500" marT="0" marB="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bl>
          </a:graphicData>
        </a:graphic>
      </p:graphicFrame>
      <p:grpSp>
        <p:nvGrpSpPr>
          <p:cNvPr id="59456" name="Group 69"/>
          <p:cNvGrpSpPr>
            <a:grpSpLocks/>
          </p:cNvGrpSpPr>
          <p:nvPr/>
        </p:nvGrpSpPr>
        <p:grpSpPr bwMode="auto">
          <a:xfrm>
            <a:off x="1002506" y="2978830"/>
            <a:ext cx="561975" cy="1114425"/>
            <a:chOff x="122" y="2601"/>
            <a:chExt cx="472" cy="936"/>
          </a:xfrm>
        </p:grpSpPr>
        <p:sp>
          <p:nvSpPr>
            <p:cNvPr id="59458" name="Line 67"/>
            <p:cNvSpPr>
              <a:spLocks noChangeShapeType="1"/>
            </p:cNvSpPr>
            <p:nvPr/>
          </p:nvSpPr>
          <p:spPr bwMode="auto">
            <a:xfrm>
              <a:off x="594" y="2601"/>
              <a:ext cx="0" cy="936"/>
            </a:xfrm>
            <a:prstGeom prst="line">
              <a:avLst/>
            </a:prstGeom>
            <a:noFill/>
            <a:ln w="57150">
              <a:solidFill>
                <a:schemeClr val="tx1"/>
              </a:solidFill>
              <a:round/>
              <a:headEnd/>
              <a:tailEnd type="triangle" w="med" len="med"/>
            </a:ln>
          </p:spPr>
          <p:txBody>
            <a:bodyPr/>
            <a:lstStyle/>
            <a:p>
              <a:endParaRPr lang="zh-TW" altLang="en-US" sz="1350"/>
            </a:p>
          </p:txBody>
        </p:sp>
        <p:sp>
          <p:nvSpPr>
            <p:cNvPr id="59459" name="Text Box 68"/>
            <p:cNvSpPr txBox="1">
              <a:spLocks noChangeArrowheads="1"/>
            </p:cNvSpPr>
            <p:nvPr/>
          </p:nvSpPr>
          <p:spPr bwMode="auto">
            <a:xfrm>
              <a:off x="122" y="2846"/>
              <a:ext cx="454" cy="252"/>
            </a:xfrm>
            <a:prstGeom prst="rect">
              <a:avLst/>
            </a:prstGeom>
            <a:noFill/>
            <a:ln w="12700">
              <a:noFill/>
              <a:miter lim="800000"/>
              <a:headEnd/>
              <a:tailEnd/>
            </a:ln>
          </p:spPr>
          <p:txBody>
            <a:bodyPr wrap="none">
              <a:spAutoFit/>
            </a:bodyPr>
            <a:lstStyle/>
            <a:p>
              <a:r>
                <a:rPr lang="en-US" altLang="zh-TW" sz="1350" b="1"/>
                <a:t>time</a:t>
              </a:r>
            </a:p>
          </p:txBody>
        </p:sp>
      </p:grpSp>
      <p:sp>
        <p:nvSpPr>
          <p:cNvPr id="9" name="Slide Number Placeholder 5">
            <a:extLst>
              <a:ext uri="{FF2B5EF4-FFF2-40B4-BE49-F238E27FC236}">
                <a16:creationId xmlns:a16="http://schemas.microsoft.com/office/drawing/2014/main" id="{30D201F8-DFA1-4452-9E26-0CCAF2C60921}"/>
              </a:ext>
            </a:extLst>
          </p:cNvPr>
          <p:cNvSpPr>
            <a:spLocks noGrp="1"/>
          </p:cNvSpPr>
          <p:nvPr>
            <p:ph type="sldNum" sz="quarter" idx="10"/>
          </p:nvPr>
        </p:nvSpPr>
        <p:spPr>
          <a:xfrm>
            <a:off x="6831013" y="4893471"/>
            <a:ext cx="2133600" cy="254794"/>
          </a:xfrm>
        </p:spPr>
        <p:txBody>
          <a:bodyPr/>
          <a:lstStyle/>
          <a:p>
            <a:fld id="{D9B6BDF2-6896-4B98-8776-C18582F63BA5}" type="slidenum">
              <a:rPr lang="zh-TW" altLang="en-US" smtClean="0"/>
              <a:pPr/>
              <a:t>59</a:t>
            </a:fld>
            <a:endParaRPr lang="zh-TW" altLang="en-US"/>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19990" name="Group 118"/>
          <p:cNvGraphicFramePr>
            <a:graphicFrameLocks noGrp="1"/>
          </p:cNvGraphicFramePr>
          <p:nvPr>
            <p:extLst>
              <p:ext uri="{D42A27DB-BD31-4B8C-83A1-F6EECF244321}">
                <p14:modId xmlns:p14="http://schemas.microsoft.com/office/powerpoint/2010/main" val="1199956206"/>
              </p:ext>
            </p:extLst>
          </p:nvPr>
        </p:nvGraphicFramePr>
        <p:xfrm>
          <a:off x="2050026" y="1265700"/>
          <a:ext cx="5737853" cy="1344168"/>
        </p:xfrm>
        <a:graphic>
          <a:graphicData uri="http://schemas.openxmlformats.org/drawingml/2006/table">
            <a:tbl>
              <a:tblPr/>
              <a:tblGrid>
                <a:gridCol w="818092">
                  <a:extLst>
                    <a:ext uri="{9D8B030D-6E8A-4147-A177-3AD203B41FA5}">
                      <a16:colId xmlns:a16="http://schemas.microsoft.com/office/drawing/2014/main" val="20000"/>
                    </a:ext>
                  </a:extLst>
                </a:gridCol>
                <a:gridCol w="822575">
                  <a:extLst>
                    <a:ext uri="{9D8B030D-6E8A-4147-A177-3AD203B41FA5}">
                      <a16:colId xmlns:a16="http://schemas.microsoft.com/office/drawing/2014/main" val="20001"/>
                    </a:ext>
                  </a:extLst>
                </a:gridCol>
                <a:gridCol w="818092">
                  <a:extLst>
                    <a:ext uri="{9D8B030D-6E8A-4147-A177-3AD203B41FA5}">
                      <a16:colId xmlns:a16="http://schemas.microsoft.com/office/drawing/2014/main" val="20002"/>
                    </a:ext>
                  </a:extLst>
                </a:gridCol>
                <a:gridCol w="820334">
                  <a:extLst>
                    <a:ext uri="{9D8B030D-6E8A-4147-A177-3AD203B41FA5}">
                      <a16:colId xmlns:a16="http://schemas.microsoft.com/office/drawing/2014/main" val="20003"/>
                    </a:ext>
                  </a:extLst>
                </a:gridCol>
                <a:gridCol w="819213">
                  <a:extLst>
                    <a:ext uri="{9D8B030D-6E8A-4147-A177-3AD203B41FA5}">
                      <a16:colId xmlns:a16="http://schemas.microsoft.com/office/drawing/2014/main" val="20004"/>
                    </a:ext>
                  </a:extLst>
                </a:gridCol>
                <a:gridCol w="821455">
                  <a:extLst>
                    <a:ext uri="{9D8B030D-6E8A-4147-A177-3AD203B41FA5}">
                      <a16:colId xmlns:a16="http://schemas.microsoft.com/office/drawing/2014/main" val="20005"/>
                    </a:ext>
                  </a:extLst>
                </a:gridCol>
                <a:gridCol w="818092">
                  <a:extLst>
                    <a:ext uri="{9D8B030D-6E8A-4147-A177-3AD203B41FA5}">
                      <a16:colId xmlns:a16="http://schemas.microsoft.com/office/drawing/2014/main" val="20006"/>
                    </a:ext>
                  </a:extLst>
                </a:gridCol>
              </a:tblGrid>
              <a:tr h="183821">
                <a:tc rowSpan="2">
                  <a:txBody>
                    <a:bodyPr/>
                    <a:lstStyle/>
                    <a:p>
                      <a:pPr marL="0" marR="0" lvl="0" indent="0" algn="ctr" defTabSz="914400" rtl="0" eaLnBrk="0" fontAlgn="base" latinLnBrk="0" hangingPunct="0">
                        <a:lnSpc>
                          <a:spcPct val="90000"/>
                        </a:lnSpc>
                        <a:spcBef>
                          <a:spcPct val="15000"/>
                        </a:spcBef>
                        <a:spcAft>
                          <a:spcPct val="0"/>
                        </a:spcAft>
                        <a:buClr>
                          <a:schemeClr val="folHlink"/>
                        </a:buClr>
                        <a:buSzPct val="75000"/>
                        <a:buFont typeface="Wingdings" pitchFamily="2" charset="2"/>
                        <a:buNone/>
                        <a:tabLst/>
                      </a:pPr>
                      <a:r>
                        <a:rPr kumimoji="0" lang="en-US" altLang="zh-TW" sz="1400" b="1" i="0" u="none" strike="noStrike" cap="none" normalizeH="0" baseline="0" dirty="0">
                          <a:ln>
                            <a:noFill/>
                          </a:ln>
                          <a:solidFill>
                            <a:schemeClr val="tx1"/>
                          </a:solidFill>
                          <a:effectLst/>
                          <a:latin typeface="Century Gothic" pitchFamily="34" charset="0"/>
                          <a:ea typeface="標楷體" pitchFamily="65" charset="-120"/>
                        </a:rPr>
                        <a:t>Block address</a:t>
                      </a:r>
                      <a:endParaRPr kumimoji="0" lang="en-AU" altLang="zh-TW" sz="1400" b="1" i="0" u="none" strike="noStrike" cap="none" normalizeH="0" baseline="0" dirty="0">
                        <a:ln>
                          <a:noFill/>
                        </a:ln>
                        <a:solidFill>
                          <a:schemeClr val="tx1"/>
                        </a:solidFill>
                        <a:effectLst/>
                        <a:latin typeface="Century Gothic" pitchFamily="34" charset="0"/>
                        <a:ea typeface="新細明體" pitchFamily="18" charset="-120"/>
                      </a:endParaRPr>
                    </a:p>
                  </a:txBody>
                  <a:tcPr marL="67500" marR="67500" marT="0" marB="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rowSpan="2">
                  <a:txBody>
                    <a:bodyPr/>
                    <a:lstStyle/>
                    <a:p>
                      <a:pPr marL="0" marR="0" lvl="0" indent="0" algn="ctr" defTabSz="914400" rtl="0" eaLnBrk="0" fontAlgn="base" latinLnBrk="0" hangingPunct="0">
                        <a:lnSpc>
                          <a:spcPct val="90000"/>
                        </a:lnSpc>
                        <a:spcBef>
                          <a:spcPct val="15000"/>
                        </a:spcBef>
                        <a:spcAft>
                          <a:spcPct val="0"/>
                        </a:spcAft>
                        <a:buClr>
                          <a:schemeClr val="folHlink"/>
                        </a:buClr>
                        <a:buSzPct val="75000"/>
                        <a:buFont typeface="Wingdings" pitchFamily="2" charset="2"/>
                        <a:buNone/>
                        <a:tabLst/>
                      </a:pPr>
                      <a:r>
                        <a:rPr kumimoji="0" lang="en-US" altLang="zh-TW" sz="1400" b="1" i="0" u="none" strike="noStrike" cap="none" normalizeH="0" baseline="0">
                          <a:ln>
                            <a:noFill/>
                          </a:ln>
                          <a:solidFill>
                            <a:schemeClr val="tx1"/>
                          </a:solidFill>
                          <a:effectLst/>
                          <a:latin typeface="Century Gothic" pitchFamily="34" charset="0"/>
                          <a:ea typeface="標楷體" pitchFamily="65" charset="-120"/>
                        </a:rPr>
                        <a:t>Cache index</a:t>
                      </a:r>
                      <a:endParaRPr kumimoji="0" lang="en-AU" altLang="zh-TW" sz="1400" b="1" i="0" u="none" strike="noStrike" cap="none" normalizeH="0" baseline="0">
                        <a:ln>
                          <a:noFill/>
                        </a:ln>
                        <a:solidFill>
                          <a:schemeClr val="tx1"/>
                        </a:solidFill>
                        <a:effectLst/>
                        <a:latin typeface="Century Gothic" pitchFamily="34" charset="0"/>
                        <a:ea typeface="新細明體" pitchFamily="18" charset="-120"/>
                      </a:endParaRPr>
                    </a:p>
                  </a:txBody>
                  <a:tcPr marL="67500" marR="6750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rowSpan="2">
                  <a:txBody>
                    <a:bodyPr/>
                    <a:lstStyle/>
                    <a:p>
                      <a:pPr marL="0" marR="0" lvl="0" indent="0" algn="ctr" defTabSz="914400" rtl="0" eaLnBrk="0" fontAlgn="base" latinLnBrk="0" hangingPunct="0">
                        <a:lnSpc>
                          <a:spcPct val="90000"/>
                        </a:lnSpc>
                        <a:spcBef>
                          <a:spcPct val="15000"/>
                        </a:spcBef>
                        <a:spcAft>
                          <a:spcPct val="0"/>
                        </a:spcAft>
                        <a:buClr>
                          <a:schemeClr val="folHlink"/>
                        </a:buClr>
                        <a:buSzPct val="75000"/>
                        <a:buFont typeface="Wingdings" pitchFamily="2" charset="2"/>
                        <a:buNone/>
                        <a:tabLst/>
                      </a:pPr>
                      <a:r>
                        <a:rPr kumimoji="0" lang="en-US" altLang="zh-TW" sz="1400" b="1" i="0" u="none" strike="noStrike" cap="none" normalizeH="0" baseline="0">
                          <a:ln>
                            <a:noFill/>
                          </a:ln>
                          <a:solidFill>
                            <a:schemeClr val="tx1"/>
                          </a:solidFill>
                          <a:effectLst/>
                          <a:latin typeface="Century Gothic" pitchFamily="34" charset="0"/>
                          <a:ea typeface="標楷體" pitchFamily="65" charset="-120"/>
                        </a:rPr>
                        <a:t>Hit/miss</a:t>
                      </a:r>
                      <a:endParaRPr kumimoji="0" lang="en-AU" altLang="zh-TW" sz="1400" b="1" i="0" u="none" strike="noStrike" cap="none" normalizeH="0" baseline="0">
                        <a:ln>
                          <a:noFill/>
                        </a:ln>
                        <a:solidFill>
                          <a:schemeClr val="tx1"/>
                        </a:solidFill>
                        <a:effectLst/>
                        <a:latin typeface="Century Gothic" pitchFamily="34" charset="0"/>
                        <a:ea typeface="新細明體" pitchFamily="18" charset="-120"/>
                      </a:endParaRPr>
                    </a:p>
                  </a:txBody>
                  <a:tcPr marL="67500" marR="6750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gridSpan="4">
                  <a:txBody>
                    <a:bodyPr/>
                    <a:lstStyle/>
                    <a:p>
                      <a:pPr marL="0" marR="0" lvl="0" indent="0" algn="ctr" defTabSz="914400" rtl="0" eaLnBrk="0" fontAlgn="base" latinLnBrk="0" hangingPunct="0">
                        <a:lnSpc>
                          <a:spcPct val="90000"/>
                        </a:lnSpc>
                        <a:spcBef>
                          <a:spcPct val="15000"/>
                        </a:spcBef>
                        <a:spcAft>
                          <a:spcPct val="0"/>
                        </a:spcAft>
                        <a:buClr>
                          <a:schemeClr val="folHlink"/>
                        </a:buClr>
                        <a:buSzPct val="75000"/>
                        <a:buFont typeface="Wingdings" pitchFamily="2" charset="2"/>
                        <a:buNone/>
                        <a:tabLst/>
                      </a:pPr>
                      <a:r>
                        <a:rPr kumimoji="0" lang="en-US" altLang="zh-TW" sz="1400" b="1" i="0" u="none" strike="noStrike" cap="none" normalizeH="0" baseline="0">
                          <a:ln>
                            <a:noFill/>
                          </a:ln>
                          <a:solidFill>
                            <a:schemeClr val="tx1"/>
                          </a:solidFill>
                          <a:effectLst/>
                          <a:latin typeface="Century Gothic" pitchFamily="34" charset="0"/>
                          <a:ea typeface="標楷體" pitchFamily="65" charset="-120"/>
                        </a:rPr>
                        <a:t>Cache content after access</a:t>
                      </a:r>
                      <a:endParaRPr kumimoji="0" lang="en-AU" altLang="zh-TW" sz="1400" b="1" i="0" u="none" strike="noStrike" cap="none" normalizeH="0" baseline="0">
                        <a:ln>
                          <a:noFill/>
                        </a:ln>
                        <a:solidFill>
                          <a:schemeClr val="tx1"/>
                        </a:solidFill>
                        <a:effectLst/>
                        <a:latin typeface="Century Gothic" pitchFamily="34" charset="0"/>
                        <a:ea typeface="新細明體" pitchFamily="18" charset="-120"/>
                      </a:endParaRPr>
                    </a:p>
                  </a:txBody>
                  <a:tcPr marL="67500" marR="67500" marT="0" marB="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TW" altLang="en-US"/>
                    </a:p>
                  </a:txBody>
                  <a:tcPr/>
                </a:tc>
                <a:tc hMerge="1">
                  <a:txBody>
                    <a:bodyPr/>
                    <a:lstStyle/>
                    <a:p>
                      <a:endParaRPr lang="zh-TW" altLang="en-US"/>
                    </a:p>
                  </a:txBody>
                  <a:tcPr/>
                </a:tc>
                <a:tc hMerge="1">
                  <a:txBody>
                    <a:bodyPr/>
                    <a:lstStyle/>
                    <a:p>
                      <a:endParaRPr lang="zh-TW" altLang="en-US"/>
                    </a:p>
                  </a:txBody>
                  <a:tcPr/>
                </a:tc>
                <a:extLst>
                  <a:ext uri="{0D108BD9-81ED-4DB2-BD59-A6C34878D82A}">
                    <a16:rowId xmlns:a16="http://schemas.microsoft.com/office/drawing/2014/main" val="10000"/>
                  </a:ext>
                </a:extLst>
              </a:tr>
              <a:tr h="183821">
                <a:tc vMerge="1">
                  <a:txBody>
                    <a:bodyPr/>
                    <a:lstStyle/>
                    <a:p>
                      <a:endParaRPr lang="zh-TW" altLang="en-US"/>
                    </a:p>
                  </a:txBody>
                  <a:tcPr/>
                </a:tc>
                <a:tc vMerge="1">
                  <a:txBody>
                    <a:bodyPr/>
                    <a:lstStyle/>
                    <a:p>
                      <a:endParaRPr lang="zh-TW" altLang="en-US"/>
                    </a:p>
                  </a:txBody>
                  <a:tcPr/>
                </a:tc>
                <a:tc vMerge="1">
                  <a:txBody>
                    <a:bodyPr/>
                    <a:lstStyle/>
                    <a:p>
                      <a:endParaRPr lang="zh-TW" altLang="en-US"/>
                    </a:p>
                  </a:txBody>
                  <a:tcPr/>
                </a:tc>
                <a:tc gridSpan="2">
                  <a:txBody>
                    <a:bodyPr/>
                    <a:lstStyle/>
                    <a:p>
                      <a:pPr marL="0" marR="0" lvl="0" indent="0" algn="ctr" defTabSz="914400" rtl="0" eaLnBrk="0" fontAlgn="base" latinLnBrk="0" hangingPunct="0">
                        <a:lnSpc>
                          <a:spcPct val="90000"/>
                        </a:lnSpc>
                        <a:spcBef>
                          <a:spcPct val="15000"/>
                        </a:spcBef>
                        <a:spcAft>
                          <a:spcPct val="0"/>
                        </a:spcAft>
                        <a:buClr>
                          <a:schemeClr val="folHlink"/>
                        </a:buClr>
                        <a:buSzPct val="75000"/>
                        <a:buFont typeface="Wingdings" pitchFamily="2" charset="2"/>
                        <a:buNone/>
                        <a:tabLst/>
                      </a:pPr>
                      <a:r>
                        <a:rPr kumimoji="0" lang="en-US" altLang="zh-TW" sz="1400" b="1" i="0" u="none" strike="noStrike" cap="none" normalizeH="0" baseline="0">
                          <a:ln>
                            <a:noFill/>
                          </a:ln>
                          <a:solidFill>
                            <a:schemeClr val="tx1"/>
                          </a:solidFill>
                          <a:effectLst/>
                          <a:latin typeface="Century Gothic" pitchFamily="34" charset="0"/>
                          <a:ea typeface="標楷體" pitchFamily="65" charset="-120"/>
                        </a:rPr>
                        <a:t>Set 0</a:t>
                      </a:r>
                      <a:endParaRPr kumimoji="0" lang="en-AU" altLang="zh-TW" sz="1400" b="1" i="0" u="none" strike="noStrike" cap="none" normalizeH="0" baseline="0">
                        <a:ln>
                          <a:noFill/>
                        </a:ln>
                        <a:solidFill>
                          <a:schemeClr val="tx1"/>
                        </a:solidFill>
                        <a:effectLst/>
                        <a:latin typeface="Century Gothic" pitchFamily="34" charset="0"/>
                        <a:ea typeface="新細明體" pitchFamily="18" charset="-120"/>
                      </a:endParaRPr>
                    </a:p>
                  </a:txBody>
                  <a:tcPr marL="67500" marR="6750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TW" altLang="en-US"/>
                    </a:p>
                  </a:txBody>
                  <a:tcPr/>
                </a:tc>
                <a:tc gridSpan="2">
                  <a:txBody>
                    <a:bodyPr/>
                    <a:lstStyle/>
                    <a:p>
                      <a:pPr marL="0" marR="0" lvl="0" indent="0" algn="ctr" defTabSz="914400" rtl="0" eaLnBrk="0" fontAlgn="base" latinLnBrk="0" hangingPunct="0">
                        <a:lnSpc>
                          <a:spcPct val="90000"/>
                        </a:lnSpc>
                        <a:spcBef>
                          <a:spcPct val="15000"/>
                        </a:spcBef>
                        <a:spcAft>
                          <a:spcPct val="0"/>
                        </a:spcAft>
                        <a:buClr>
                          <a:schemeClr val="folHlink"/>
                        </a:buClr>
                        <a:buSzPct val="75000"/>
                        <a:buFont typeface="Wingdings" pitchFamily="2" charset="2"/>
                        <a:buNone/>
                        <a:tabLst/>
                      </a:pPr>
                      <a:r>
                        <a:rPr kumimoji="0" lang="en-US" altLang="zh-TW" sz="1400" b="1" i="0" u="none" strike="noStrike" cap="none" normalizeH="0" baseline="0">
                          <a:ln>
                            <a:noFill/>
                          </a:ln>
                          <a:solidFill>
                            <a:schemeClr val="tx1"/>
                          </a:solidFill>
                          <a:effectLst/>
                          <a:latin typeface="Century Gothic" pitchFamily="34" charset="0"/>
                          <a:ea typeface="標楷體" pitchFamily="65" charset="-120"/>
                        </a:rPr>
                        <a:t>Set 1</a:t>
                      </a:r>
                      <a:endParaRPr kumimoji="0" lang="en-AU" altLang="zh-TW" sz="1400" b="1" i="0" u="none" strike="noStrike" cap="none" normalizeH="0" baseline="0">
                        <a:ln>
                          <a:noFill/>
                        </a:ln>
                        <a:solidFill>
                          <a:schemeClr val="tx1"/>
                        </a:solidFill>
                        <a:effectLst/>
                        <a:latin typeface="Century Gothic" pitchFamily="34" charset="0"/>
                        <a:ea typeface="新細明體" pitchFamily="18" charset="-120"/>
                      </a:endParaRPr>
                    </a:p>
                  </a:txBody>
                  <a:tcPr marL="67500" marR="67500" marT="0" marB="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TW" altLang="en-US"/>
                    </a:p>
                  </a:txBody>
                  <a:tcPr/>
                </a:tc>
                <a:extLst>
                  <a:ext uri="{0D108BD9-81ED-4DB2-BD59-A6C34878D82A}">
                    <a16:rowId xmlns:a16="http://schemas.microsoft.com/office/drawing/2014/main" val="10001"/>
                  </a:ext>
                </a:extLst>
              </a:tr>
              <a:tr h="183821">
                <a:tc>
                  <a:txBody>
                    <a:bodyPr/>
                    <a:lstStyle/>
                    <a:p>
                      <a:pPr marL="0" marR="0" lvl="0" indent="0" algn="ctr" defTabSz="914400" rtl="0" eaLnBrk="0" fontAlgn="base" latinLnBrk="0" hangingPunct="0">
                        <a:lnSpc>
                          <a:spcPct val="90000"/>
                        </a:lnSpc>
                        <a:spcBef>
                          <a:spcPct val="15000"/>
                        </a:spcBef>
                        <a:spcAft>
                          <a:spcPct val="0"/>
                        </a:spcAft>
                        <a:buClr>
                          <a:schemeClr val="folHlink"/>
                        </a:buClr>
                        <a:buSzPct val="75000"/>
                        <a:buFont typeface="Wingdings" pitchFamily="2" charset="2"/>
                        <a:buNone/>
                        <a:tabLst/>
                      </a:pPr>
                      <a:r>
                        <a:rPr kumimoji="0" lang="en-US" altLang="zh-TW" sz="1400" b="1" i="0" u="none" strike="noStrike" cap="none" normalizeH="0" baseline="0">
                          <a:ln>
                            <a:noFill/>
                          </a:ln>
                          <a:solidFill>
                            <a:schemeClr val="tx1"/>
                          </a:solidFill>
                          <a:effectLst/>
                          <a:latin typeface="Century Gothic" pitchFamily="34" charset="0"/>
                          <a:ea typeface="標楷體" pitchFamily="65" charset="-120"/>
                        </a:rPr>
                        <a:t>0</a:t>
                      </a:r>
                      <a:endParaRPr kumimoji="0" lang="en-AU" altLang="zh-TW" sz="1400" b="1" i="0" u="none" strike="noStrike" cap="none" normalizeH="0" baseline="0">
                        <a:ln>
                          <a:noFill/>
                        </a:ln>
                        <a:solidFill>
                          <a:schemeClr val="tx1"/>
                        </a:solidFill>
                        <a:effectLst/>
                        <a:latin typeface="Century Gothic" pitchFamily="34" charset="0"/>
                        <a:ea typeface="新細明體" pitchFamily="18" charset="-120"/>
                      </a:endParaRPr>
                    </a:p>
                  </a:txBody>
                  <a:tcPr marL="67500" marR="67500" marT="0" marB="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15000"/>
                        </a:spcBef>
                        <a:spcAft>
                          <a:spcPct val="0"/>
                        </a:spcAft>
                        <a:buClr>
                          <a:schemeClr val="folHlink"/>
                        </a:buClr>
                        <a:buSzPct val="75000"/>
                        <a:buFont typeface="Wingdings" pitchFamily="2" charset="2"/>
                        <a:buNone/>
                        <a:tabLst/>
                      </a:pPr>
                      <a:r>
                        <a:rPr kumimoji="0" lang="en-US" altLang="zh-TW" sz="1400" b="1" i="0" u="none" strike="noStrike" cap="none" normalizeH="0" baseline="0">
                          <a:ln>
                            <a:noFill/>
                          </a:ln>
                          <a:solidFill>
                            <a:schemeClr val="tx1"/>
                          </a:solidFill>
                          <a:effectLst/>
                          <a:latin typeface="Century Gothic" pitchFamily="34" charset="0"/>
                          <a:ea typeface="標楷體" pitchFamily="65" charset="-120"/>
                        </a:rPr>
                        <a:t>0</a:t>
                      </a:r>
                      <a:endParaRPr kumimoji="0" lang="en-AU" altLang="zh-TW" sz="1400" b="1" i="0" u="none" strike="noStrike" cap="none" normalizeH="0" baseline="0">
                        <a:ln>
                          <a:noFill/>
                        </a:ln>
                        <a:solidFill>
                          <a:schemeClr val="tx1"/>
                        </a:solidFill>
                        <a:effectLst/>
                        <a:latin typeface="Century Gothic" pitchFamily="34" charset="0"/>
                        <a:ea typeface="新細明體" pitchFamily="18" charset="-120"/>
                      </a:endParaRPr>
                    </a:p>
                  </a:txBody>
                  <a:tcPr marL="67500" marR="6750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15000"/>
                        </a:spcBef>
                        <a:spcAft>
                          <a:spcPct val="0"/>
                        </a:spcAft>
                        <a:buClr>
                          <a:schemeClr val="folHlink"/>
                        </a:buClr>
                        <a:buSzPct val="75000"/>
                        <a:buFont typeface="Wingdings" pitchFamily="2" charset="2"/>
                        <a:buNone/>
                        <a:tabLst/>
                      </a:pPr>
                      <a:r>
                        <a:rPr kumimoji="0" lang="en-US" altLang="zh-TW" sz="1400" b="1" i="0" u="none" strike="noStrike" cap="none" normalizeH="0" baseline="0">
                          <a:ln>
                            <a:noFill/>
                          </a:ln>
                          <a:solidFill>
                            <a:schemeClr val="tx1"/>
                          </a:solidFill>
                          <a:effectLst/>
                          <a:latin typeface="Century Gothic" pitchFamily="34" charset="0"/>
                          <a:ea typeface="標楷體" pitchFamily="65" charset="-120"/>
                        </a:rPr>
                        <a:t>miss</a:t>
                      </a:r>
                      <a:endParaRPr kumimoji="0" lang="en-AU" altLang="zh-TW" sz="1400" b="1" i="0" u="none" strike="noStrike" cap="none" normalizeH="0" baseline="0">
                        <a:ln>
                          <a:noFill/>
                        </a:ln>
                        <a:solidFill>
                          <a:schemeClr val="tx1"/>
                        </a:solidFill>
                        <a:effectLst/>
                        <a:latin typeface="Century Gothic" pitchFamily="34" charset="0"/>
                        <a:ea typeface="新細明體" pitchFamily="18" charset="-120"/>
                      </a:endParaRPr>
                    </a:p>
                  </a:txBody>
                  <a:tcPr marL="67500" marR="6750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15000"/>
                        </a:spcBef>
                        <a:spcAft>
                          <a:spcPct val="0"/>
                        </a:spcAft>
                        <a:buClr>
                          <a:schemeClr val="folHlink"/>
                        </a:buClr>
                        <a:buSzPct val="75000"/>
                        <a:buFont typeface="Wingdings" pitchFamily="2" charset="2"/>
                        <a:buNone/>
                        <a:tabLst/>
                      </a:pPr>
                      <a:r>
                        <a:rPr kumimoji="0" lang="en-US" altLang="zh-TW" sz="1400" b="1" i="0" u="none" strike="noStrike" cap="none" normalizeH="0" baseline="0">
                          <a:ln>
                            <a:noFill/>
                          </a:ln>
                          <a:solidFill>
                            <a:schemeClr val="folHlink"/>
                          </a:solidFill>
                          <a:effectLst/>
                          <a:latin typeface="Century Gothic" pitchFamily="34" charset="0"/>
                          <a:ea typeface="標楷體" pitchFamily="65" charset="-120"/>
                        </a:rPr>
                        <a:t>Mem[0]</a:t>
                      </a:r>
                      <a:endParaRPr kumimoji="0" lang="en-AU" altLang="zh-TW" sz="1400" b="1" i="0" u="none" strike="noStrike" cap="none" normalizeH="0" baseline="0">
                        <a:ln>
                          <a:noFill/>
                        </a:ln>
                        <a:solidFill>
                          <a:schemeClr val="folHlink"/>
                        </a:solidFill>
                        <a:effectLst/>
                        <a:latin typeface="Century Gothic" pitchFamily="34" charset="0"/>
                        <a:ea typeface="新細明體" pitchFamily="18" charset="-120"/>
                      </a:endParaRPr>
                    </a:p>
                  </a:txBody>
                  <a:tcPr marL="67500" marR="6750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15000"/>
                        </a:spcBef>
                        <a:spcAft>
                          <a:spcPct val="0"/>
                        </a:spcAft>
                        <a:buClr>
                          <a:schemeClr val="folHlink"/>
                        </a:buClr>
                        <a:buSzPct val="75000"/>
                        <a:buFont typeface="Wingdings" pitchFamily="2" charset="2"/>
                        <a:buNone/>
                        <a:tabLst/>
                      </a:pPr>
                      <a:endParaRPr kumimoji="0" lang="zh-TW" altLang="en-US" sz="1400" b="1" i="0" u="none" strike="noStrike" cap="none" normalizeH="0" baseline="0">
                        <a:ln>
                          <a:noFill/>
                        </a:ln>
                        <a:solidFill>
                          <a:schemeClr val="tx1"/>
                        </a:solidFill>
                        <a:effectLst/>
                        <a:latin typeface="Century Gothic" pitchFamily="34" charset="0"/>
                        <a:ea typeface="新細明體" pitchFamily="18" charset="-120"/>
                      </a:endParaRPr>
                    </a:p>
                  </a:txBody>
                  <a:tcPr marL="67500" marR="6750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15000"/>
                        </a:spcBef>
                        <a:spcAft>
                          <a:spcPct val="0"/>
                        </a:spcAft>
                        <a:buClr>
                          <a:schemeClr val="folHlink"/>
                        </a:buClr>
                        <a:buSzPct val="75000"/>
                        <a:buFont typeface="Wingdings" pitchFamily="2" charset="2"/>
                        <a:buNone/>
                        <a:tabLst/>
                      </a:pPr>
                      <a:endParaRPr kumimoji="0" lang="zh-TW" altLang="en-US" sz="1400" b="1" i="0" u="none" strike="noStrike" cap="none" normalizeH="0" baseline="0">
                        <a:ln>
                          <a:noFill/>
                        </a:ln>
                        <a:solidFill>
                          <a:schemeClr val="tx1"/>
                        </a:solidFill>
                        <a:effectLst/>
                        <a:latin typeface="Century Gothic" pitchFamily="34" charset="0"/>
                        <a:ea typeface="新細明體" pitchFamily="18" charset="-120"/>
                      </a:endParaRPr>
                    </a:p>
                  </a:txBody>
                  <a:tcPr marL="67500" marR="6750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15000"/>
                        </a:spcBef>
                        <a:spcAft>
                          <a:spcPct val="0"/>
                        </a:spcAft>
                        <a:buClr>
                          <a:schemeClr val="folHlink"/>
                        </a:buClr>
                        <a:buSzPct val="75000"/>
                        <a:buFont typeface="Wingdings" pitchFamily="2" charset="2"/>
                        <a:buNone/>
                        <a:tabLst/>
                      </a:pPr>
                      <a:endParaRPr kumimoji="0" lang="zh-TW" altLang="en-US" sz="1400" b="1" i="0" u="none" strike="noStrike" cap="none" normalizeH="0" baseline="0">
                        <a:ln>
                          <a:noFill/>
                        </a:ln>
                        <a:solidFill>
                          <a:schemeClr val="tx1"/>
                        </a:solidFill>
                        <a:effectLst/>
                        <a:latin typeface="Century Gothic" pitchFamily="34" charset="0"/>
                        <a:ea typeface="新細明體" pitchFamily="18" charset="-120"/>
                      </a:endParaRPr>
                    </a:p>
                  </a:txBody>
                  <a:tcPr marL="67500" marR="67500" marT="0" marB="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182843">
                <a:tc>
                  <a:txBody>
                    <a:bodyPr/>
                    <a:lstStyle/>
                    <a:p>
                      <a:pPr marL="0" marR="0" lvl="0" indent="0" algn="ctr" defTabSz="914400" rtl="0" eaLnBrk="0" fontAlgn="base" latinLnBrk="0" hangingPunct="0">
                        <a:lnSpc>
                          <a:spcPct val="90000"/>
                        </a:lnSpc>
                        <a:spcBef>
                          <a:spcPct val="15000"/>
                        </a:spcBef>
                        <a:spcAft>
                          <a:spcPct val="0"/>
                        </a:spcAft>
                        <a:buClr>
                          <a:schemeClr val="folHlink"/>
                        </a:buClr>
                        <a:buSzPct val="75000"/>
                        <a:buFont typeface="Wingdings" pitchFamily="2" charset="2"/>
                        <a:buNone/>
                        <a:tabLst/>
                      </a:pPr>
                      <a:r>
                        <a:rPr kumimoji="0" lang="en-US" altLang="zh-TW" sz="1400" b="1" i="0" u="none" strike="noStrike" cap="none" normalizeH="0" baseline="0" dirty="0">
                          <a:ln>
                            <a:noFill/>
                          </a:ln>
                          <a:solidFill>
                            <a:schemeClr val="tx1"/>
                          </a:solidFill>
                          <a:effectLst/>
                          <a:latin typeface="Century Gothic" pitchFamily="34" charset="0"/>
                          <a:ea typeface="標楷體" pitchFamily="65" charset="-120"/>
                        </a:rPr>
                        <a:t>8</a:t>
                      </a:r>
                      <a:endParaRPr kumimoji="0" lang="en-AU" altLang="zh-TW" sz="1400" b="1" i="0" u="none" strike="noStrike" cap="none" normalizeH="0" baseline="0" dirty="0">
                        <a:ln>
                          <a:noFill/>
                        </a:ln>
                        <a:solidFill>
                          <a:schemeClr val="tx1"/>
                        </a:solidFill>
                        <a:effectLst/>
                        <a:latin typeface="Century Gothic" pitchFamily="34" charset="0"/>
                        <a:ea typeface="新細明體" pitchFamily="18" charset="-120"/>
                      </a:endParaRPr>
                    </a:p>
                  </a:txBody>
                  <a:tcPr marL="67500" marR="67500" marT="0" marB="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15000"/>
                        </a:spcBef>
                        <a:spcAft>
                          <a:spcPct val="0"/>
                        </a:spcAft>
                        <a:buClr>
                          <a:schemeClr val="folHlink"/>
                        </a:buClr>
                        <a:buSzPct val="75000"/>
                        <a:buFont typeface="Wingdings" pitchFamily="2" charset="2"/>
                        <a:buNone/>
                        <a:tabLst/>
                      </a:pPr>
                      <a:r>
                        <a:rPr kumimoji="0" lang="en-US" altLang="zh-TW" sz="1400" b="1" i="0" u="none" strike="noStrike" cap="none" normalizeH="0" baseline="0">
                          <a:ln>
                            <a:noFill/>
                          </a:ln>
                          <a:solidFill>
                            <a:schemeClr val="tx1"/>
                          </a:solidFill>
                          <a:effectLst/>
                          <a:latin typeface="Century Gothic" pitchFamily="34" charset="0"/>
                          <a:ea typeface="標楷體" pitchFamily="65" charset="-120"/>
                        </a:rPr>
                        <a:t>0</a:t>
                      </a:r>
                      <a:endParaRPr kumimoji="0" lang="en-AU" altLang="zh-TW" sz="1400" b="1" i="0" u="none" strike="noStrike" cap="none" normalizeH="0" baseline="0">
                        <a:ln>
                          <a:noFill/>
                        </a:ln>
                        <a:solidFill>
                          <a:schemeClr val="tx1"/>
                        </a:solidFill>
                        <a:effectLst/>
                        <a:latin typeface="Century Gothic" pitchFamily="34" charset="0"/>
                        <a:ea typeface="新細明體" pitchFamily="18" charset="-120"/>
                      </a:endParaRPr>
                    </a:p>
                  </a:txBody>
                  <a:tcPr marL="67500" marR="6750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15000"/>
                        </a:spcBef>
                        <a:spcAft>
                          <a:spcPct val="0"/>
                        </a:spcAft>
                        <a:buClr>
                          <a:schemeClr val="folHlink"/>
                        </a:buClr>
                        <a:buSzPct val="75000"/>
                        <a:buFont typeface="Wingdings" pitchFamily="2" charset="2"/>
                        <a:buNone/>
                        <a:tabLst/>
                      </a:pPr>
                      <a:r>
                        <a:rPr kumimoji="0" lang="en-US" altLang="zh-TW" sz="1400" b="1" i="0" u="none" strike="noStrike" cap="none" normalizeH="0" baseline="0">
                          <a:ln>
                            <a:noFill/>
                          </a:ln>
                          <a:solidFill>
                            <a:schemeClr val="tx1"/>
                          </a:solidFill>
                          <a:effectLst/>
                          <a:latin typeface="Century Gothic" pitchFamily="34" charset="0"/>
                          <a:ea typeface="標楷體" pitchFamily="65" charset="-120"/>
                        </a:rPr>
                        <a:t>miss</a:t>
                      </a:r>
                      <a:endParaRPr kumimoji="0" lang="en-AU" altLang="zh-TW" sz="1400" b="1" i="0" u="none" strike="noStrike" cap="none" normalizeH="0" baseline="0">
                        <a:ln>
                          <a:noFill/>
                        </a:ln>
                        <a:solidFill>
                          <a:schemeClr val="tx1"/>
                        </a:solidFill>
                        <a:effectLst/>
                        <a:latin typeface="Century Gothic" pitchFamily="34" charset="0"/>
                        <a:ea typeface="新細明體" pitchFamily="18" charset="-120"/>
                      </a:endParaRPr>
                    </a:p>
                  </a:txBody>
                  <a:tcPr marL="67500" marR="6750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15000"/>
                        </a:spcBef>
                        <a:spcAft>
                          <a:spcPct val="0"/>
                        </a:spcAft>
                        <a:buClr>
                          <a:schemeClr val="folHlink"/>
                        </a:buClr>
                        <a:buSzPct val="75000"/>
                        <a:buFont typeface="Wingdings" pitchFamily="2" charset="2"/>
                        <a:buNone/>
                        <a:tabLst/>
                      </a:pPr>
                      <a:r>
                        <a:rPr kumimoji="0" lang="en-US" altLang="zh-TW" sz="1400" b="1" i="0" u="none" strike="noStrike" cap="none" normalizeH="0" baseline="0">
                          <a:ln>
                            <a:noFill/>
                          </a:ln>
                          <a:solidFill>
                            <a:schemeClr val="tx1"/>
                          </a:solidFill>
                          <a:effectLst/>
                          <a:latin typeface="Century Gothic" pitchFamily="34" charset="0"/>
                          <a:ea typeface="標楷體" pitchFamily="65" charset="-120"/>
                        </a:rPr>
                        <a:t>Mem[0]</a:t>
                      </a:r>
                      <a:endParaRPr kumimoji="0" lang="en-AU" altLang="zh-TW" sz="1400" b="1" i="0" u="none" strike="noStrike" cap="none" normalizeH="0" baseline="0">
                        <a:ln>
                          <a:noFill/>
                        </a:ln>
                        <a:solidFill>
                          <a:schemeClr val="tx1"/>
                        </a:solidFill>
                        <a:effectLst/>
                        <a:latin typeface="Century Gothic" pitchFamily="34" charset="0"/>
                        <a:ea typeface="新細明體" pitchFamily="18" charset="-120"/>
                      </a:endParaRPr>
                    </a:p>
                  </a:txBody>
                  <a:tcPr marL="67500" marR="6750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15000"/>
                        </a:spcBef>
                        <a:spcAft>
                          <a:spcPct val="0"/>
                        </a:spcAft>
                        <a:buClr>
                          <a:schemeClr val="folHlink"/>
                        </a:buClr>
                        <a:buSzPct val="75000"/>
                        <a:buFont typeface="Wingdings" pitchFamily="2" charset="2"/>
                        <a:buNone/>
                        <a:tabLst/>
                      </a:pPr>
                      <a:r>
                        <a:rPr kumimoji="0" lang="en-US" altLang="zh-TW" sz="1400" b="1" i="0" u="none" strike="noStrike" cap="none" normalizeH="0" baseline="0">
                          <a:ln>
                            <a:noFill/>
                          </a:ln>
                          <a:solidFill>
                            <a:schemeClr val="folHlink"/>
                          </a:solidFill>
                          <a:effectLst/>
                          <a:latin typeface="Century Gothic" pitchFamily="34" charset="0"/>
                          <a:ea typeface="標楷體" pitchFamily="65" charset="-120"/>
                        </a:rPr>
                        <a:t>Mem[8]</a:t>
                      </a:r>
                      <a:endParaRPr kumimoji="0" lang="en-AU" altLang="zh-TW" sz="1400" b="1" i="0" u="none" strike="noStrike" cap="none" normalizeH="0" baseline="0">
                        <a:ln>
                          <a:noFill/>
                        </a:ln>
                        <a:solidFill>
                          <a:schemeClr val="folHlink"/>
                        </a:solidFill>
                        <a:effectLst/>
                        <a:latin typeface="Century Gothic" pitchFamily="34" charset="0"/>
                        <a:ea typeface="新細明體" pitchFamily="18" charset="-120"/>
                      </a:endParaRPr>
                    </a:p>
                  </a:txBody>
                  <a:tcPr marL="67500" marR="6750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15000"/>
                        </a:spcBef>
                        <a:spcAft>
                          <a:spcPct val="0"/>
                        </a:spcAft>
                        <a:buClr>
                          <a:schemeClr val="folHlink"/>
                        </a:buClr>
                        <a:buSzPct val="75000"/>
                        <a:buFont typeface="Wingdings" pitchFamily="2" charset="2"/>
                        <a:buNone/>
                        <a:tabLst/>
                      </a:pPr>
                      <a:endParaRPr kumimoji="0" lang="zh-TW" altLang="en-US" sz="1400" b="1" i="0" u="none" strike="noStrike" cap="none" normalizeH="0" baseline="0">
                        <a:ln>
                          <a:noFill/>
                        </a:ln>
                        <a:solidFill>
                          <a:schemeClr val="tx1"/>
                        </a:solidFill>
                        <a:effectLst/>
                        <a:latin typeface="Century Gothic" pitchFamily="34" charset="0"/>
                        <a:ea typeface="新細明體" pitchFamily="18" charset="-120"/>
                      </a:endParaRPr>
                    </a:p>
                  </a:txBody>
                  <a:tcPr marL="67500" marR="6750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15000"/>
                        </a:spcBef>
                        <a:spcAft>
                          <a:spcPct val="0"/>
                        </a:spcAft>
                        <a:buClr>
                          <a:schemeClr val="folHlink"/>
                        </a:buClr>
                        <a:buSzPct val="75000"/>
                        <a:buFont typeface="Wingdings" pitchFamily="2" charset="2"/>
                        <a:buNone/>
                        <a:tabLst/>
                      </a:pPr>
                      <a:endParaRPr kumimoji="0" lang="zh-TW" altLang="en-US" sz="1400" b="1" i="0" u="none" strike="noStrike" cap="none" normalizeH="0" baseline="0">
                        <a:ln>
                          <a:noFill/>
                        </a:ln>
                        <a:solidFill>
                          <a:schemeClr val="tx1"/>
                        </a:solidFill>
                        <a:effectLst/>
                        <a:latin typeface="Century Gothic" pitchFamily="34" charset="0"/>
                        <a:ea typeface="新細明體" pitchFamily="18" charset="-120"/>
                      </a:endParaRPr>
                    </a:p>
                  </a:txBody>
                  <a:tcPr marL="67500" marR="67500" marT="0" marB="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183821">
                <a:tc>
                  <a:txBody>
                    <a:bodyPr/>
                    <a:lstStyle/>
                    <a:p>
                      <a:pPr marL="0" marR="0" lvl="0" indent="0" algn="ctr" defTabSz="914400" rtl="0" eaLnBrk="0" fontAlgn="base" latinLnBrk="0" hangingPunct="0">
                        <a:lnSpc>
                          <a:spcPct val="90000"/>
                        </a:lnSpc>
                        <a:spcBef>
                          <a:spcPct val="15000"/>
                        </a:spcBef>
                        <a:spcAft>
                          <a:spcPct val="0"/>
                        </a:spcAft>
                        <a:buClr>
                          <a:schemeClr val="folHlink"/>
                        </a:buClr>
                        <a:buSzPct val="75000"/>
                        <a:buFont typeface="Wingdings" pitchFamily="2" charset="2"/>
                        <a:buNone/>
                        <a:tabLst/>
                      </a:pPr>
                      <a:r>
                        <a:rPr kumimoji="0" lang="en-US" altLang="zh-TW" sz="1400" b="1" i="0" u="none" strike="noStrike" cap="none" normalizeH="0" baseline="0">
                          <a:ln>
                            <a:noFill/>
                          </a:ln>
                          <a:solidFill>
                            <a:schemeClr val="tx1"/>
                          </a:solidFill>
                          <a:effectLst/>
                          <a:latin typeface="Century Gothic" pitchFamily="34" charset="0"/>
                          <a:ea typeface="標楷體" pitchFamily="65" charset="-120"/>
                        </a:rPr>
                        <a:t>0</a:t>
                      </a:r>
                      <a:endParaRPr kumimoji="0" lang="en-AU" altLang="zh-TW" sz="1400" b="1" i="0" u="none" strike="noStrike" cap="none" normalizeH="0" baseline="0">
                        <a:ln>
                          <a:noFill/>
                        </a:ln>
                        <a:solidFill>
                          <a:schemeClr val="tx1"/>
                        </a:solidFill>
                        <a:effectLst/>
                        <a:latin typeface="Century Gothic" pitchFamily="34" charset="0"/>
                        <a:ea typeface="新細明體" pitchFamily="18" charset="-120"/>
                      </a:endParaRPr>
                    </a:p>
                  </a:txBody>
                  <a:tcPr marL="67500" marR="67500" marT="0" marB="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15000"/>
                        </a:spcBef>
                        <a:spcAft>
                          <a:spcPct val="0"/>
                        </a:spcAft>
                        <a:buClr>
                          <a:schemeClr val="folHlink"/>
                        </a:buClr>
                        <a:buSzPct val="75000"/>
                        <a:buFont typeface="Wingdings" pitchFamily="2" charset="2"/>
                        <a:buNone/>
                        <a:tabLst/>
                      </a:pPr>
                      <a:r>
                        <a:rPr kumimoji="0" lang="en-US" altLang="zh-TW" sz="1400" b="1" i="0" u="none" strike="noStrike" cap="none" normalizeH="0" baseline="0" dirty="0">
                          <a:ln>
                            <a:noFill/>
                          </a:ln>
                          <a:solidFill>
                            <a:schemeClr val="tx1"/>
                          </a:solidFill>
                          <a:effectLst/>
                          <a:latin typeface="Century Gothic" pitchFamily="34" charset="0"/>
                          <a:ea typeface="標楷體" pitchFamily="65" charset="-120"/>
                        </a:rPr>
                        <a:t>0</a:t>
                      </a:r>
                      <a:endParaRPr kumimoji="0" lang="en-AU" altLang="zh-TW" sz="1400" b="1" i="0" u="none" strike="noStrike" cap="none" normalizeH="0" baseline="0" dirty="0">
                        <a:ln>
                          <a:noFill/>
                        </a:ln>
                        <a:solidFill>
                          <a:schemeClr val="tx1"/>
                        </a:solidFill>
                        <a:effectLst/>
                        <a:latin typeface="Century Gothic" pitchFamily="34" charset="0"/>
                        <a:ea typeface="新細明體" pitchFamily="18" charset="-120"/>
                      </a:endParaRPr>
                    </a:p>
                  </a:txBody>
                  <a:tcPr marL="67500" marR="6750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15000"/>
                        </a:spcBef>
                        <a:spcAft>
                          <a:spcPct val="0"/>
                        </a:spcAft>
                        <a:buClr>
                          <a:schemeClr val="folHlink"/>
                        </a:buClr>
                        <a:buSzPct val="75000"/>
                        <a:buFont typeface="Wingdings" pitchFamily="2" charset="2"/>
                        <a:buNone/>
                        <a:tabLst/>
                      </a:pPr>
                      <a:r>
                        <a:rPr kumimoji="0" lang="en-US" altLang="zh-TW" sz="1400" b="1" i="0" u="none" strike="noStrike" cap="none" normalizeH="0" baseline="0" dirty="0">
                          <a:ln>
                            <a:noFill/>
                          </a:ln>
                          <a:solidFill>
                            <a:schemeClr val="tx1"/>
                          </a:solidFill>
                          <a:effectLst/>
                          <a:latin typeface="Century Gothic" pitchFamily="34" charset="0"/>
                          <a:ea typeface="標楷體" pitchFamily="65" charset="-120"/>
                        </a:rPr>
                        <a:t>hit</a:t>
                      </a:r>
                      <a:endParaRPr kumimoji="0" lang="en-AU" altLang="zh-TW" sz="1400" b="1" i="0" u="none" strike="noStrike" cap="none" normalizeH="0" baseline="0" dirty="0">
                        <a:ln>
                          <a:noFill/>
                        </a:ln>
                        <a:solidFill>
                          <a:schemeClr val="tx1"/>
                        </a:solidFill>
                        <a:effectLst/>
                        <a:latin typeface="Century Gothic" pitchFamily="34" charset="0"/>
                        <a:ea typeface="新細明體" pitchFamily="18" charset="-120"/>
                      </a:endParaRPr>
                    </a:p>
                  </a:txBody>
                  <a:tcPr marL="67500" marR="6750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15000"/>
                        </a:spcBef>
                        <a:spcAft>
                          <a:spcPct val="0"/>
                        </a:spcAft>
                        <a:buClr>
                          <a:schemeClr val="folHlink"/>
                        </a:buClr>
                        <a:buSzPct val="75000"/>
                        <a:buFont typeface="Wingdings" pitchFamily="2" charset="2"/>
                        <a:buNone/>
                        <a:tabLst/>
                      </a:pPr>
                      <a:r>
                        <a:rPr kumimoji="0" lang="en-US" altLang="zh-TW" sz="1400" b="1" i="0" u="none" strike="noStrike" cap="none" normalizeH="0" baseline="0">
                          <a:ln>
                            <a:noFill/>
                          </a:ln>
                          <a:solidFill>
                            <a:srgbClr val="008000"/>
                          </a:solidFill>
                          <a:effectLst/>
                          <a:latin typeface="Century Gothic" pitchFamily="34" charset="0"/>
                          <a:ea typeface="標楷體" pitchFamily="65" charset="-120"/>
                        </a:rPr>
                        <a:t>Mem[0]</a:t>
                      </a:r>
                      <a:endParaRPr kumimoji="0" lang="en-AU" altLang="zh-TW" sz="1400" b="1" i="0" u="none" strike="noStrike" cap="none" normalizeH="0" baseline="0">
                        <a:ln>
                          <a:noFill/>
                        </a:ln>
                        <a:solidFill>
                          <a:srgbClr val="008000"/>
                        </a:solidFill>
                        <a:effectLst/>
                        <a:latin typeface="Century Gothic" pitchFamily="34" charset="0"/>
                        <a:ea typeface="新細明體" pitchFamily="18" charset="-120"/>
                      </a:endParaRPr>
                    </a:p>
                  </a:txBody>
                  <a:tcPr marL="67500" marR="6750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15000"/>
                        </a:spcBef>
                        <a:spcAft>
                          <a:spcPct val="0"/>
                        </a:spcAft>
                        <a:buClr>
                          <a:schemeClr val="folHlink"/>
                        </a:buClr>
                        <a:buSzPct val="75000"/>
                        <a:buFont typeface="Wingdings" pitchFamily="2" charset="2"/>
                        <a:buNone/>
                        <a:tabLst/>
                      </a:pPr>
                      <a:r>
                        <a:rPr kumimoji="0" lang="en-US" altLang="zh-TW" sz="1400" b="1" i="0" u="none" strike="noStrike" cap="none" normalizeH="0" baseline="0">
                          <a:ln>
                            <a:noFill/>
                          </a:ln>
                          <a:solidFill>
                            <a:schemeClr val="tx1"/>
                          </a:solidFill>
                          <a:effectLst/>
                          <a:latin typeface="Century Gothic" pitchFamily="34" charset="0"/>
                          <a:ea typeface="標楷體" pitchFamily="65" charset="-120"/>
                        </a:rPr>
                        <a:t>Mem[8]</a:t>
                      </a:r>
                      <a:endParaRPr kumimoji="0" lang="en-AU" altLang="zh-TW" sz="1400" b="1" i="0" u="none" strike="noStrike" cap="none" normalizeH="0" baseline="0">
                        <a:ln>
                          <a:noFill/>
                        </a:ln>
                        <a:solidFill>
                          <a:schemeClr val="tx1"/>
                        </a:solidFill>
                        <a:effectLst/>
                        <a:latin typeface="Century Gothic" pitchFamily="34" charset="0"/>
                        <a:ea typeface="新細明體" pitchFamily="18" charset="-120"/>
                      </a:endParaRPr>
                    </a:p>
                  </a:txBody>
                  <a:tcPr marL="67500" marR="6750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15000"/>
                        </a:spcBef>
                        <a:spcAft>
                          <a:spcPct val="0"/>
                        </a:spcAft>
                        <a:buClr>
                          <a:schemeClr val="folHlink"/>
                        </a:buClr>
                        <a:buSzPct val="75000"/>
                        <a:buFont typeface="Wingdings" pitchFamily="2" charset="2"/>
                        <a:buNone/>
                        <a:tabLst/>
                      </a:pPr>
                      <a:endParaRPr kumimoji="0" lang="zh-TW" altLang="en-US" sz="1400" b="1" i="0" u="none" strike="noStrike" cap="none" normalizeH="0" baseline="0">
                        <a:ln>
                          <a:noFill/>
                        </a:ln>
                        <a:solidFill>
                          <a:schemeClr val="tx1"/>
                        </a:solidFill>
                        <a:effectLst/>
                        <a:latin typeface="Century Gothic" pitchFamily="34" charset="0"/>
                        <a:ea typeface="新細明體" pitchFamily="18" charset="-120"/>
                      </a:endParaRPr>
                    </a:p>
                  </a:txBody>
                  <a:tcPr marL="67500" marR="6750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15000"/>
                        </a:spcBef>
                        <a:spcAft>
                          <a:spcPct val="0"/>
                        </a:spcAft>
                        <a:buClr>
                          <a:schemeClr val="folHlink"/>
                        </a:buClr>
                        <a:buSzPct val="75000"/>
                        <a:buFont typeface="Wingdings" pitchFamily="2" charset="2"/>
                        <a:buNone/>
                        <a:tabLst/>
                      </a:pPr>
                      <a:endParaRPr kumimoji="0" lang="zh-TW" altLang="en-US" sz="1400" b="1" i="0" u="none" strike="noStrike" cap="none" normalizeH="0" baseline="0">
                        <a:ln>
                          <a:noFill/>
                        </a:ln>
                        <a:solidFill>
                          <a:schemeClr val="tx1"/>
                        </a:solidFill>
                        <a:effectLst/>
                        <a:latin typeface="Century Gothic" pitchFamily="34" charset="0"/>
                        <a:ea typeface="新細明體" pitchFamily="18" charset="-120"/>
                      </a:endParaRPr>
                    </a:p>
                  </a:txBody>
                  <a:tcPr marL="67500" marR="67500" marT="0" marB="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183821">
                <a:tc>
                  <a:txBody>
                    <a:bodyPr/>
                    <a:lstStyle/>
                    <a:p>
                      <a:pPr marL="0" marR="0" lvl="0" indent="0" algn="ctr" defTabSz="914400" rtl="0" eaLnBrk="0" fontAlgn="base" latinLnBrk="0" hangingPunct="0">
                        <a:lnSpc>
                          <a:spcPct val="90000"/>
                        </a:lnSpc>
                        <a:spcBef>
                          <a:spcPct val="15000"/>
                        </a:spcBef>
                        <a:spcAft>
                          <a:spcPct val="0"/>
                        </a:spcAft>
                        <a:buClr>
                          <a:schemeClr val="folHlink"/>
                        </a:buClr>
                        <a:buSzPct val="75000"/>
                        <a:buFont typeface="Wingdings" pitchFamily="2" charset="2"/>
                        <a:buNone/>
                        <a:tabLst/>
                      </a:pPr>
                      <a:r>
                        <a:rPr kumimoji="0" lang="en-US" altLang="zh-TW" sz="1400" b="1" i="0" u="none" strike="noStrike" cap="none" normalizeH="0" baseline="0">
                          <a:ln>
                            <a:noFill/>
                          </a:ln>
                          <a:solidFill>
                            <a:schemeClr val="tx1"/>
                          </a:solidFill>
                          <a:effectLst/>
                          <a:latin typeface="Century Gothic" pitchFamily="34" charset="0"/>
                          <a:ea typeface="標楷體" pitchFamily="65" charset="-120"/>
                        </a:rPr>
                        <a:t>6</a:t>
                      </a:r>
                      <a:endParaRPr kumimoji="0" lang="en-AU" altLang="zh-TW" sz="1400" b="1" i="0" u="none" strike="noStrike" cap="none" normalizeH="0" baseline="0">
                        <a:ln>
                          <a:noFill/>
                        </a:ln>
                        <a:solidFill>
                          <a:schemeClr val="tx1"/>
                        </a:solidFill>
                        <a:effectLst/>
                        <a:latin typeface="Century Gothic" pitchFamily="34" charset="0"/>
                        <a:ea typeface="新細明體" pitchFamily="18" charset="-120"/>
                      </a:endParaRPr>
                    </a:p>
                  </a:txBody>
                  <a:tcPr marL="67500" marR="67500" marT="0" marB="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15000"/>
                        </a:spcBef>
                        <a:spcAft>
                          <a:spcPct val="0"/>
                        </a:spcAft>
                        <a:buClr>
                          <a:schemeClr val="folHlink"/>
                        </a:buClr>
                        <a:buSzPct val="75000"/>
                        <a:buFont typeface="Wingdings" pitchFamily="2" charset="2"/>
                        <a:buNone/>
                        <a:tabLst/>
                      </a:pPr>
                      <a:r>
                        <a:rPr kumimoji="0" lang="en-US" altLang="zh-TW" sz="1400" b="1" i="0" u="none" strike="noStrike" cap="none" normalizeH="0" baseline="0">
                          <a:ln>
                            <a:noFill/>
                          </a:ln>
                          <a:solidFill>
                            <a:schemeClr val="tx1"/>
                          </a:solidFill>
                          <a:effectLst/>
                          <a:latin typeface="Century Gothic" pitchFamily="34" charset="0"/>
                          <a:ea typeface="標楷體" pitchFamily="65" charset="-120"/>
                        </a:rPr>
                        <a:t>0</a:t>
                      </a:r>
                      <a:endParaRPr kumimoji="0" lang="en-AU" altLang="zh-TW" sz="1400" b="1" i="0" u="none" strike="noStrike" cap="none" normalizeH="0" baseline="0">
                        <a:ln>
                          <a:noFill/>
                        </a:ln>
                        <a:solidFill>
                          <a:schemeClr val="tx1"/>
                        </a:solidFill>
                        <a:effectLst/>
                        <a:latin typeface="Century Gothic" pitchFamily="34" charset="0"/>
                        <a:ea typeface="新細明體" pitchFamily="18" charset="-120"/>
                      </a:endParaRPr>
                    </a:p>
                  </a:txBody>
                  <a:tcPr marL="67500" marR="6750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15000"/>
                        </a:spcBef>
                        <a:spcAft>
                          <a:spcPct val="0"/>
                        </a:spcAft>
                        <a:buClr>
                          <a:schemeClr val="folHlink"/>
                        </a:buClr>
                        <a:buSzPct val="75000"/>
                        <a:buFont typeface="Wingdings" pitchFamily="2" charset="2"/>
                        <a:buNone/>
                        <a:tabLst/>
                      </a:pPr>
                      <a:r>
                        <a:rPr kumimoji="0" lang="en-US" altLang="zh-TW" sz="1400" b="1" i="0" u="none" strike="noStrike" cap="none" normalizeH="0" baseline="0">
                          <a:ln>
                            <a:noFill/>
                          </a:ln>
                          <a:solidFill>
                            <a:schemeClr val="tx1"/>
                          </a:solidFill>
                          <a:effectLst/>
                          <a:latin typeface="Century Gothic" pitchFamily="34" charset="0"/>
                          <a:ea typeface="標楷體" pitchFamily="65" charset="-120"/>
                        </a:rPr>
                        <a:t>miss</a:t>
                      </a:r>
                      <a:endParaRPr kumimoji="0" lang="en-AU" altLang="zh-TW" sz="1400" b="1" i="0" u="none" strike="noStrike" cap="none" normalizeH="0" baseline="0">
                        <a:ln>
                          <a:noFill/>
                        </a:ln>
                        <a:solidFill>
                          <a:schemeClr val="tx1"/>
                        </a:solidFill>
                        <a:effectLst/>
                        <a:latin typeface="Century Gothic" pitchFamily="34" charset="0"/>
                        <a:ea typeface="新細明體" pitchFamily="18" charset="-120"/>
                      </a:endParaRPr>
                    </a:p>
                  </a:txBody>
                  <a:tcPr marL="67500" marR="6750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15000"/>
                        </a:spcBef>
                        <a:spcAft>
                          <a:spcPct val="0"/>
                        </a:spcAft>
                        <a:buClr>
                          <a:schemeClr val="folHlink"/>
                        </a:buClr>
                        <a:buSzPct val="75000"/>
                        <a:buFont typeface="Wingdings" pitchFamily="2" charset="2"/>
                        <a:buNone/>
                        <a:tabLst/>
                      </a:pPr>
                      <a:r>
                        <a:rPr kumimoji="0" lang="en-US" altLang="zh-TW" sz="1400" b="1" i="0" u="none" strike="noStrike" cap="none" normalizeH="0" baseline="0">
                          <a:ln>
                            <a:noFill/>
                          </a:ln>
                          <a:solidFill>
                            <a:schemeClr val="tx1"/>
                          </a:solidFill>
                          <a:effectLst/>
                          <a:latin typeface="Century Gothic" pitchFamily="34" charset="0"/>
                          <a:ea typeface="標楷體" pitchFamily="65" charset="-120"/>
                        </a:rPr>
                        <a:t>Mem[0]</a:t>
                      </a:r>
                      <a:endParaRPr kumimoji="0" lang="en-AU" altLang="zh-TW" sz="1400" b="1" i="0" u="none" strike="noStrike" cap="none" normalizeH="0" baseline="0">
                        <a:ln>
                          <a:noFill/>
                        </a:ln>
                        <a:solidFill>
                          <a:schemeClr val="tx1"/>
                        </a:solidFill>
                        <a:effectLst/>
                        <a:latin typeface="Century Gothic" pitchFamily="34" charset="0"/>
                        <a:ea typeface="新細明體" pitchFamily="18" charset="-120"/>
                      </a:endParaRPr>
                    </a:p>
                  </a:txBody>
                  <a:tcPr marL="67500" marR="6750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15000"/>
                        </a:spcBef>
                        <a:spcAft>
                          <a:spcPct val="0"/>
                        </a:spcAft>
                        <a:buClr>
                          <a:schemeClr val="folHlink"/>
                        </a:buClr>
                        <a:buSzPct val="75000"/>
                        <a:buFont typeface="Wingdings" pitchFamily="2" charset="2"/>
                        <a:buNone/>
                        <a:tabLst/>
                      </a:pPr>
                      <a:r>
                        <a:rPr kumimoji="0" lang="en-US" altLang="zh-TW" sz="1400" b="1" i="0" u="none" strike="noStrike" cap="none" normalizeH="0" baseline="0">
                          <a:ln>
                            <a:noFill/>
                          </a:ln>
                          <a:solidFill>
                            <a:schemeClr val="accent1"/>
                          </a:solidFill>
                          <a:effectLst/>
                          <a:latin typeface="Century Gothic" pitchFamily="34" charset="0"/>
                          <a:ea typeface="標楷體" pitchFamily="65" charset="-120"/>
                        </a:rPr>
                        <a:t>Mem[6]</a:t>
                      </a:r>
                      <a:endParaRPr kumimoji="0" lang="en-AU" altLang="zh-TW" sz="1400" b="1" i="0" u="none" strike="noStrike" cap="none" normalizeH="0" baseline="0">
                        <a:ln>
                          <a:noFill/>
                        </a:ln>
                        <a:solidFill>
                          <a:schemeClr val="accent1"/>
                        </a:solidFill>
                        <a:effectLst/>
                        <a:latin typeface="Century Gothic" pitchFamily="34" charset="0"/>
                        <a:ea typeface="新細明體" pitchFamily="18" charset="-120"/>
                      </a:endParaRPr>
                    </a:p>
                  </a:txBody>
                  <a:tcPr marL="67500" marR="6750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15000"/>
                        </a:spcBef>
                        <a:spcAft>
                          <a:spcPct val="0"/>
                        </a:spcAft>
                        <a:buClr>
                          <a:schemeClr val="folHlink"/>
                        </a:buClr>
                        <a:buSzPct val="75000"/>
                        <a:buFont typeface="Wingdings" pitchFamily="2" charset="2"/>
                        <a:buNone/>
                        <a:tabLst/>
                      </a:pPr>
                      <a:endParaRPr kumimoji="0" lang="zh-TW" altLang="en-US" sz="1400" b="1" i="0" u="none" strike="noStrike" cap="none" normalizeH="0" baseline="0">
                        <a:ln>
                          <a:noFill/>
                        </a:ln>
                        <a:solidFill>
                          <a:schemeClr val="tx1"/>
                        </a:solidFill>
                        <a:effectLst/>
                        <a:latin typeface="Century Gothic" pitchFamily="34" charset="0"/>
                        <a:ea typeface="新細明體" pitchFamily="18" charset="-120"/>
                      </a:endParaRPr>
                    </a:p>
                  </a:txBody>
                  <a:tcPr marL="67500" marR="6750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15000"/>
                        </a:spcBef>
                        <a:spcAft>
                          <a:spcPct val="0"/>
                        </a:spcAft>
                        <a:buClr>
                          <a:schemeClr val="folHlink"/>
                        </a:buClr>
                        <a:buSzPct val="75000"/>
                        <a:buFont typeface="Wingdings" pitchFamily="2" charset="2"/>
                        <a:buNone/>
                        <a:tabLst/>
                      </a:pPr>
                      <a:endParaRPr kumimoji="0" lang="zh-TW" altLang="en-US" sz="1400" b="1" i="0" u="none" strike="noStrike" cap="none" normalizeH="0" baseline="0">
                        <a:ln>
                          <a:noFill/>
                        </a:ln>
                        <a:solidFill>
                          <a:schemeClr val="tx1"/>
                        </a:solidFill>
                        <a:effectLst/>
                        <a:latin typeface="Century Gothic" pitchFamily="34" charset="0"/>
                        <a:ea typeface="新細明體" pitchFamily="18" charset="-120"/>
                      </a:endParaRPr>
                    </a:p>
                  </a:txBody>
                  <a:tcPr marL="67500" marR="67500" marT="0" marB="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183821">
                <a:tc>
                  <a:txBody>
                    <a:bodyPr/>
                    <a:lstStyle/>
                    <a:p>
                      <a:pPr marL="0" marR="0" lvl="0" indent="0" algn="ctr" defTabSz="914400" rtl="0" eaLnBrk="0" fontAlgn="base" latinLnBrk="0" hangingPunct="0">
                        <a:lnSpc>
                          <a:spcPct val="90000"/>
                        </a:lnSpc>
                        <a:spcBef>
                          <a:spcPct val="15000"/>
                        </a:spcBef>
                        <a:spcAft>
                          <a:spcPct val="0"/>
                        </a:spcAft>
                        <a:buClr>
                          <a:schemeClr val="folHlink"/>
                        </a:buClr>
                        <a:buSzPct val="75000"/>
                        <a:buFont typeface="Wingdings" pitchFamily="2" charset="2"/>
                        <a:buNone/>
                        <a:tabLst/>
                      </a:pPr>
                      <a:r>
                        <a:rPr kumimoji="0" lang="en-US" altLang="zh-TW" sz="1400" b="1" i="0" u="none" strike="noStrike" cap="none" normalizeH="0" baseline="0">
                          <a:ln>
                            <a:noFill/>
                          </a:ln>
                          <a:solidFill>
                            <a:schemeClr val="tx1"/>
                          </a:solidFill>
                          <a:effectLst/>
                          <a:latin typeface="Century Gothic" pitchFamily="34" charset="0"/>
                          <a:ea typeface="標楷體" pitchFamily="65" charset="-120"/>
                        </a:rPr>
                        <a:t>8</a:t>
                      </a:r>
                      <a:endParaRPr kumimoji="0" lang="en-AU" altLang="zh-TW" sz="1400" b="1" i="0" u="none" strike="noStrike" cap="none" normalizeH="0" baseline="0">
                        <a:ln>
                          <a:noFill/>
                        </a:ln>
                        <a:solidFill>
                          <a:schemeClr val="tx1"/>
                        </a:solidFill>
                        <a:effectLst/>
                        <a:latin typeface="Century Gothic" pitchFamily="34" charset="0"/>
                        <a:ea typeface="新細明體" pitchFamily="18" charset="-120"/>
                      </a:endParaRPr>
                    </a:p>
                  </a:txBody>
                  <a:tcPr marL="67500" marR="67500" marT="0" marB="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15000"/>
                        </a:spcBef>
                        <a:spcAft>
                          <a:spcPct val="0"/>
                        </a:spcAft>
                        <a:buClr>
                          <a:schemeClr val="folHlink"/>
                        </a:buClr>
                        <a:buSzPct val="75000"/>
                        <a:buFont typeface="Wingdings" pitchFamily="2" charset="2"/>
                        <a:buNone/>
                        <a:tabLst/>
                      </a:pPr>
                      <a:r>
                        <a:rPr kumimoji="0" lang="en-US" altLang="zh-TW" sz="1400" b="1" i="0" u="none" strike="noStrike" cap="none" normalizeH="0" baseline="0">
                          <a:ln>
                            <a:noFill/>
                          </a:ln>
                          <a:solidFill>
                            <a:schemeClr val="tx1"/>
                          </a:solidFill>
                          <a:effectLst/>
                          <a:latin typeface="Century Gothic" pitchFamily="34" charset="0"/>
                          <a:ea typeface="標楷體" pitchFamily="65" charset="-120"/>
                        </a:rPr>
                        <a:t>0</a:t>
                      </a:r>
                      <a:endParaRPr kumimoji="0" lang="en-AU" altLang="zh-TW" sz="1400" b="1" i="0" u="none" strike="noStrike" cap="none" normalizeH="0" baseline="0">
                        <a:ln>
                          <a:noFill/>
                        </a:ln>
                        <a:solidFill>
                          <a:schemeClr val="tx1"/>
                        </a:solidFill>
                        <a:effectLst/>
                        <a:latin typeface="Century Gothic" pitchFamily="34" charset="0"/>
                        <a:ea typeface="新細明體" pitchFamily="18" charset="-120"/>
                      </a:endParaRPr>
                    </a:p>
                  </a:txBody>
                  <a:tcPr marL="67500" marR="6750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15000"/>
                        </a:spcBef>
                        <a:spcAft>
                          <a:spcPct val="0"/>
                        </a:spcAft>
                        <a:buClr>
                          <a:schemeClr val="folHlink"/>
                        </a:buClr>
                        <a:buSzPct val="75000"/>
                        <a:buFont typeface="Wingdings" pitchFamily="2" charset="2"/>
                        <a:buNone/>
                        <a:tabLst/>
                      </a:pPr>
                      <a:r>
                        <a:rPr kumimoji="0" lang="en-US" altLang="zh-TW" sz="1400" b="1" i="0" u="none" strike="noStrike" cap="none" normalizeH="0" baseline="0">
                          <a:ln>
                            <a:noFill/>
                          </a:ln>
                          <a:solidFill>
                            <a:schemeClr val="tx1"/>
                          </a:solidFill>
                          <a:effectLst/>
                          <a:latin typeface="Century Gothic" pitchFamily="34" charset="0"/>
                          <a:ea typeface="標楷體" pitchFamily="65" charset="-120"/>
                        </a:rPr>
                        <a:t>miss</a:t>
                      </a:r>
                      <a:endParaRPr kumimoji="0" lang="en-AU" altLang="zh-TW" sz="1400" b="1" i="0" u="none" strike="noStrike" cap="none" normalizeH="0" baseline="0">
                        <a:ln>
                          <a:noFill/>
                        </a:ln>
                        <a:solidFill>
                          <a:schemeClr val="tx1"/>
                        </a:solidFill>
                        <a:effectLst/>
                        <a:latin typeface="Century Gothic" pitchFamily="34" charset="0"/>
                        <a:ea typeface="新細明體" pitchFamily="18" charset="-120"/>
                      </a:endParaRPr>
                    </a:p>
                  </a:txBody>
                  <a:tcPr marL="67500" marR="6750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15000"/>
                        </a:spcBef>
                        <a:spcAft>
                          <a:spcPct val="0"/>
                        </a:spcAft>
                        <a:buClr>
                          <a:schemeClr val="folHlink"/>
                        </a:buClr>
                        <a:buSzPct val="75000"/>
                        <a:buFont typeface="Wingdings" pitchFamily="2" charset="2"/>
                        <a:buNone/>
                        <a:tabLst/>
                      </a:pPr>
                      <a:r>
                        <a:rPr kumimoji="0" lang="en-US" altLang="zh-TW" sz="1400" b="1" i="0" u="none" strike="noStrike" cap="none" normalizeH="0" baseline="0">
                          <a:ln>
                            <a:noFill/>
                          </a:ln>
                          <a:solidFill>
                            <a:srgbClr val="FF0000"/>
                          </a:solidFill>
                          <a:effectLst/>
                          <a:latin typeface="Century Gothic" pitchFamily="34" charset="0"/>
                          <a:ea typeface="標楷體" pitchFamily="65" charset="-120"/>
                        </a:rPr>
                        <a:t>Mem[8]</a:t>
                      </a:r>
                      <a:endParaRPr kumimoji="0" lang="en-AU" altLang="zh-TW" sz="1400" b="1" i="0" u="none" strike="noStrike" cap="none" normalizeH="0" baseline="0">
                        <a:ln>
                          <a:noFill/>
                        </a:ln>
                        <a:solidFill>
                          <a:srgbClr val="FF0000"/>
                        </a:solidFill>
                        <a:effectLst/>
                        <a:latin typeface="Century Gothic" pitchFamily="34" charset="0"/>
                        <a:ea typeface="新細明體" pitchFamily="18" charset="-120"/>
                      </a:endParaRPr>
                    </a:p>
                  </a:txBody>
                  <a:tcPr marL="67500" marR="6750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15000"/>
                        </a:spcBef>
                        <a:spcAft>
                          <a:spcPct val="0"/>
                        </a:spcAft>
                        <a:buClr>
                          <a:schemeClr val="folHlink"/>
                        </a:buClr>
                        <a:buSzPct val="75000"/>
                        <a:buFont typeface="Wingdings" pitchFamily="2" charset="2"/>
                        <a:buNone/>
                        <a:tabLst/>
                      </a:pPr>
                      <a:r>
                        <a:rPr kumimoji="0" lang="en-US" altLang="zh-TW" sz="1400" b="1" i="0" u="none" strike="noStrike" cap="none" normalizeH="0" baseline="0">
                          <a:ln>
                            <a:noFill/>
                          </a:ln>
                          <a:solidFill>
                            <a:schemeClr val="tx1"/>
                          </a:solidFill>
                          <a:effectLst/>
                          <a:latin typeface="Century Gothic" pitchFamily="34" charset="0"/>
                          <a:ea typeface="標楷體" pitchFamily="65" charset="-120"/>
                        </a:rPr>
                        <a:t>Mem[6]</a:t>
                      </a:r>
                      <a:endParaRPr kumimoji="0" lang="en-AU" altLang="zh-TW" sz="1400" b="1" i="0" u="none" strike="noStrike" cap="none" normalizeH="0" baseline="0">
                        <a:ln>
                          <a:noFill/>
                        </a:ln>
                        <a:solidFill>
                          <a:schemeClr val="tx1"/>
                        </a:solidFill>
                        <a:effectLst/>
                        <a:latin typeface="Century Gothic" pitchFamily="34" charset="0"/>
                        <a:ea typeface="新細明體" pitchFamily="18" charset="-120"/>
                      </a:endParaRPr>
                    </a:p>
                  </a:txBody>
                  <a:tcPr marL="67500" marR="6750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15000"/>
                        </a:spcBef>
                        <a:spcAft>
                          <a:spcPct val="0"/>
                        </a:spcAft>
                        <a:buClr>
                          <a:schemeClr val="folHlink"/>
                        </a:buClr>
                        <a:buSzPct val="75000"/>
                        <a:buFont typeface="Wingdings" pitchFamily="2" charset="2"/>
                        <a:buNone/>
                        <a:tabLst/>
                      </a:pPr>
                      <a:endParaRPr kumimoji="0" lang="zh-TW" altLang="en-US" sz="1400" b="1" i="0" u="none" strike="noStrike" cap="none" normalizeH="0" baseline="0">
                        <a:ln>
                          <a:noFill/>
                        </a:ln>
                        <a:solidFill>
                          <a:schemeClr val="tx1"/>
                        </a:solidFill>
                        <a:effectLst/>
                        <a:latin typeface="Century Gothic" pitchFamily="34" charset="0"/>
                        <a:ea typeface="新細明體" pitchFamily="18" charset="-120"/>
                      </a:endParaRPr>
                    </a:p>
                  </a:txBody>
                  <a:tcPr marL="67500" marR="6750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15000"/>
                        </a:spcBef>
                        <a:spcAft>
                          <a:spcPct val="0"/>
                        </a:spcAft>
                        <a:buClr>
                          <a:schemeClr val="folHlink"/>
                        </a:buClr>
                        <a:buSzPct val="75000"/>
                        <a:buFont typeface="Wingdings" pitchFamily="2" charset="2"/>
                        <a:buNone/>
                        <a:tabLst/>
                      </a:pPr>
                      <a:endParaRPr kumimoji="0" lang="zh-TW" altLang="en-US" sz="1400" b="1" i="0" u="none" strike="noStrike" cap="none" normalizeH="0" baseline="0" dirty="0">
                        <a:ln>
                          <a:noFill/>
                        </a:ln>
                        <a:solidFill>
                          <a:schemeClr val="tx1"/>
                        </a:solidFill>
                        <a:effectLst/>
                        <a:latin typeface="Century Gothic" pitchFamily="34" charset="0"/>
                        <a:ea typeface="新細明體" pitchFamily="18" charset="-120"/>
                      </a:endParaRPr>
                    </a:p>
                  </a:txBody>
                  <a:tcPr marL="67500" marR="67500" marT="0" marB="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bl>
          </a:graphicData>
        </a:graphic>
      </p:graphicFrame>
      <p:sp>
        <p:nvSpPr>
          <p:cNvPr id="60478" name="Rectangle 62"/>
          <p:cNvSpPr>
            <a:spLocks noChangeArrowheads="1"/>
          </p:cNvSpPr>
          <p:nvPr/>
        </p:nvSpPr>
        <p:spPr bwMode="auto">
          <a:xfrm>
            <a:off x="951270" y="2686532"/>
            <a:ext cx="5979468" cy="381132"/>
          </a:xfrm>
          <a:prstGeom prst="rect">
            <a:avLst/>
          </a:prstGeom>
          <a:noFill/>
          <a:ln w="9525">
            <a:noFill/>
            <a:miter lim="800000"/>
            <a:headEnd/>
            <a:tailEnd/>
          </a:ln>
        </p:spPr>
        <p:txBody>
          <a:bodyPr/>
          <a:lstStyle/>
          <a:p>
            <a:pPr marL="342900" indent="-342900">
              <a:lnSpc>
                <a:spcPct val="90000"/>
              </a:lnSpc>
              <a:spcBef>
                <a:spcPct val="15000"/>
              </a:spcBef>
              <a:buClr>
                <a:srgbClr val="0000FF"/>
              </a:buClr>
              <a:buSzPct val="75000"/>
              <a:buFont typeface="Wingdings" panose="05000000000000000000" pitchFamily="2" charset="2"/>
              <a:buChar char="l"/>
            </a:pPr>
            <a:r>
              <a:rPr lang="en-US" altLang="zh-TW" sz="2000" dirty="0">
                <a:latin typeface="Calibri" panose="020F0502020204030204" pitchFamily="34" charset="0"/>
                <a:ea typeface="標楷體" pitchFamily="65" charset="-120"/>
                <a:cs typeface="Calibri" panose="020F0502020204030204" pitchFamily="34" charset="0"/>
              </a:rPr>
              <a:t>Fully associative </a:t>
            </a:r>
            <a:r>
              <a:rPr lang="en-US" altLang="zh-TW" sz="2000" dirty="0">
                <a:latin typeface="Calibri" panose="020F0502020204030204" pitchFamily="34" charset="0"/>
                <a:cs typeface="Calibri" panose="020F0502020204030204" pitchFamily="34" charset="0"/>
              </a:rPr>
              <a:t>(0, 8, 0, 6, 8)</a:t>
            </a:r>
            <a:endParaRPr lang="en-US" altLang="zh-TW" sz="2000" dirty="0">
              <a:latin typeface="Calibri" panose="020F0502020204030204" pitchFamily="34" charset="0"/>
              <a:ea typeface="標楷體" pitchFamily="65" charset="-120"/>
              <a:cs typeface="Calibri" panose="020F0502020204030204" pitchFamily="34" charset="0"/>
            </a:endParaRPr>
          </a:p>
        </p:txBody>
      </p:sp>
      <p:graphicFrame>
        <p:nvGraphicFramePr>
          <p:cNvPr id="719991" name="Group 119"/>
          <p:cNvGraphicFramePr>
            <a:graphicFrameLocks noGrp="1"/>
          </p:cNvGraphicFramePr>
          <p:nvPr>
            <p:extLst>
              <p:ext uri="{D42A27DB-BD31-4B8C-83A1-F6EECF244321}">
                <p14:modId xmlns:p14="http://schemas.microsoft.com/office/powerpoint/2010/main" val="3175309838"/>
              </p:ext>
            </p:extLst>
          </p:nvPr>
        </p:nvGraphicFramePr>
        <p:xfrm>
          <a:off x="2048369" y="3130032"/>
          <a:ext cx="5753526" cy="1423868"/>
        </p:xfrm>
        <a:graphic>
          <a:graphicData uri="http://schemas.openxmlformats.org/drawingml/2006/table">
            <a:tbl>
              <a:tblPr/>
              <a:tblGrid>
                <a:gridCol w="820819">
                  <a:extLst>
                    <a:ext uri="{9D8B030D-6E8A-4147-A177-3AD203B41FA5}">
                      <a16:colId xmlns:a16="http://schemas.microsoft.com/office/drawing/2014/main" val="20000"/>
                    </a:ext>
                  </a:extLst>
                </a:gridCol>
                <a:gridCol w="824160">
                  <a:extLst>
                    <a:ext uri="{9D8B030D-6E8A-4147-A177-3AD203B41FA5}">
                      <a16:colId xmlns:a16="http://schemas.microsoft.com/office/drawing/2014/main" val="20001"/>
                    </a:ext>
                  </a:extLst>
                </a:gridCol>
                <a:gridCol w="820818">
                  <a:extLst>
                    <a:ext uri="{9D8B030D-6E8A-4147-A177-3AD203B41FA5}">
                      <a16:colId xmlns:a16="http://schemas.microsoft.com/office/drawing/2014/main" val="20002"/>
                    </a:ext>
                  </a:extLst>
                </a:gridCol>
                <a:gridCol w="821932">
                  <a:extLst>
                    <a:ext uri="{9D8B030D-6E8A-4147-A177-3AD203B41FA5}">
                      <a16:colId xmlns:a16="http://schemas.microsoft.com/office/drawing/2014/main" val="20003"/>
                    </a:ext>
                  </a:extLst>
                </a:gridCol>
                <a:gridCol w="821932">
                  <a:extLst>
                    <a:ext uri="{9D8B030D-6E8A-4147-A177-3AD203B41FA5}">
                      <a16:colId xmlns:a16="http://schemas.microsoft.com/office/drawing/2014/main" val="20004"/>
                    </a:ext>
                  </a:extLst>
                </a:gridCol>
                <a:gridCol w="823047">
                  <a:extLst>
                    <a:ext uri="{9D8B030D-6E8A-4147-A177-3AD203B41FA5}">
                      <a16:colId xmlns:a16="http://schemas.microsoft.com/office/drawing/2014/main" val="20005"/>
                    </a:ext>
                  </a:extLst>
                </a:gridCol>
                <a:gridCol w="820818">
                  <a:extLst>
                    <a:ext uri="{9D8B030D-6E8A-4147-A177-3AD203B41FA5}">
                      <a16:colId xmlns:a16="http://schemas.microsoft.com/office/drawing/2014/main" val="20006"/>
                    </a:ext>
                  </a:extLst>
                </a:gridCol>
              </a:tblGrid>
              <a:tr h="394832">
                <a:tc>
                  <a:txBody>
                    <a:bodyPr/>
                    <a:lstStyle/>
                    <a:p>
                      <a:pPr marL="0" marR="0" lvl="0" indent="0" algn="ctr" defTabSz="914400" rtl="0" eaLnBrk="0" fontAlgn="base" latinLnBrk="0" hangingPunct="0">
                        <a:lnSpc>
                          <a:spcPct val="90000"/>
                        </a:lnSpc>
                        <a:spcBef>
                          <a:spcPct val="15000"/>
                        </a:spcBef>
                        <a:spcAft>
                          <a:spcPct val="0"/>
                        </a:spcAft>
                        <a:buClr>
                          <a:schemeClr val="folHlink"/>
                        </a:buClr>
                        <a:buSzPct val="75000"/>
                        <a:buFont typeface="Wingdings" pitchFamily="2" charset="2"/>
                        <a:buNone/>
                        <a:tabLst/>
                      </a:pPr>
                      <a:r>
                        <a:rPr kumimoji="0" lang="en-US" altLang="zh-TW" sz="1400" b="1" i="0" u="none" strike="noStrike" cap="none" normalizeH="0" baseline="0" dirty="0">
                          <a:ln>
                            <a:noFill/>
                          </a:ln>
                          <a:solidFill>
                            <a:schemeClr val="tx1"/>
                          </a:solidFill>
                          <a:effectLst/>
                          <a:latin typeface="Century Gothic" pitchFamily="34" charset="0"/>
                          <a:ea typeface="標楷體" pitchFamily="65" charset="-120"/>
                        </a:rPr>
                        <a:t>Block address</a:t>
                      </a:r>
                      <a:endParaRPr kumimoji="0" lang="en-AU" altLang="zh-TW" sz="1400" b="1" i="0" u="none" strike="noStrike" cap="none" normalizeH="0" baseline="0" dirty="0">
                        <a:ln>
                          <a:noFill/>
                        </a:ln>
                        <a:solidFill>
                          <a:schemeClr val="tx1"/>
                        </a:solidFill>
                        <a:effectLst/>
                        <a:latin typeface="Century Gothic" pitchFamily="34" charset="0"/>
                        <a:ea typeface="新細明體" pitchFamily="18" charset="-120"/>
                      </a:endParaRPr>
                    </a:p>
                  </a:txBody>
                  <a:tcPr marL="67500" marR="67500" marT="0" marB="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15000"/>
                        </a:spcBef>
                        <a:spcAft>
                          <a:spcPct val="0"/>
                        </a:spcAft>
                        <a:buClr>
                          <a:schemeClr val="folHlink"/>
                        </a:buClr>
                        <a:buSzPct val="75000"/>
                        <a:buFont typeface="Wingdings" pitchFamily="2" charset="2"/>
                        <a:buNone/>
                        <a:tabLst/>
                      </a:pPr>
                      <a:endParaRPr kumimoji="0" lang="zh-TW" altLang="en-US" sz="1400" b="1" i="0" u="none" strike="noStrike" cap="none" normalizeH="0" baseline="0">
                        <a:ln>
                          <a:noFill/>
                        </a:ln>
                        <a:solidFill>
                          <a:schemeClr val="tx1"/>
                        </a:solidFill>
                        <a:effectLst/>
                        <a:latin typeface="Century Gothic" pitchFamily="34" charset="0"/>
                        <a:ea typeface="新細明體" pitchFamily="18" charset="-120"/>
                      </a:endParaRPr>
                    </a:p>
                  </a:txBody>
                  <a:tcPr marL="67500" marR="6750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0C0C0"/>
                    </a:solidFill>
                  </a:tcPr>
                </a:tc>
                <a:tc>
                  <a:txBody>
                    <a:bodyPr/>
                    <a:lstStyle/>
                    <a:p>
                      <a:pPr marL="0" marR="0" lvl="0" indent="0" algn="ctr" defTabSz="914400" rtl="0" eaLnBrk="0" fontAlgn="base" latinLnBrk="0" hangingPunct="0">
                        <a:lnSpc>
                          <a:spcPct val="90000"/>
                        </a:lnSpc>
                        <a:spcBef>
                          <a:spcPct val="15000"/>
                        </a:spcBef>
                        <a:spcAft>
                          <a:spcPct val="0"/>
                        </a:spcAft>
                        <a:buClr>
                          <a:schemeClr val="folHlink"/>
                        </a:buClr>
                        <a:buSzPct val="75000"/>
                        <a:buFont typeface="Wingdings" pitchFamily="2" charset="2"/>
                        <a:buNone/>
                        <a:tabLst/>
                      </a:pPr>
                      <a:r>
                        <a:rPr kumimoji="0" lang="en-US" altLang="zh-TW" sz="1400" b="1" i="0" u="none" strike="noStrike" cap="none" normalizeH="0" baseline="0" dirty="0">
                          <a:ln>
                            <a:noFill/>
                          </a:ln>
                          <a:solidFill>
                            <a:schemeClr val="tx1"/>
                          </a:solidFill>
                          <a:effectLst/>
                          <a:latin typeface="Century Gothic" pitchFamily="34" charset="0"/>
                          <a:ea typeface="標楷體" pitchFamily="65" charset="-120"/>
                        </a:rPr>
                        <a:t>Hit/miss</a:t>
                      </a:r>
                      <a:endParaRPr kumimoji="0" lang="en-AU" altLang="zh-TW" sz="1400" b="1" i="0" u="none" strike="noStrike" cap="none" normalizeH="0" baseline="0" dirty="0">
                        <a:ln>
                          <a:noFill/>
                        </a:ln>
                        <a:solidFill>
                          <a:schemeClr val="tx1"/>
                        </a:solidFill>
                        <a:effectLst/>
                        <a:latin typeface="Century Gothic" pitchFamily="34" charset="0"/>
                        <a:ea typeface="新細明體" pitchFamily="18" charset="-120"/>
                      </a:endParaRPr>
                    </a:p>
                  </a:txBody>
                  <a:tcPr marL="67500" marR="6750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gridSpan="4">
                  <a:txBody>
                    <a:bodyPr/>
                    <a:lstStyle/>
                    <a:p>
                      <a:pPr marL="0" marR="0" lvl="0" indent="0" algn="ctr" defTabSz="914400" rtl="0" eaLnBrk="0" fontAlgn="base" latinLnBrk="0" hangingPunct="0">
                        <a:lnSpc>
                          <a:spcPct val="90000"/>
                        </a:lnSpc>
                        <a:spcBef>
                          <a:spcPct val="15000"/>
                        </a:spcBef>
                        <a:spcAft>
                          <a:spcPct val="0"/>
                        </a:spcAft>
                        <a:buClr>
                          <a:schemeClr val="folHlink"/>
                        </a:buClr>
                        <a:buSzPct val="75000"/>
                        <a:buFont typeface="Wingdings" pitchFamily="2" charset="2"/>
                        <a:buNone/>
                        <a:tabLst/>
                      </a:pPr>
                      <a:r>
                        <a:rPr kumimoji="0" lang="en-US" altLang="zh-TW" sz="1400" b="1" i="0" u="none" strike="noStrike" cap="none" normalizeH="0" baseline="0" dirty="0">
                          <a:ln>
                            <a:noFill/>
                          </a:ln>
                          <a:solidFill>
                            <a:schemeClr val="tx1"/>
                          </a:solidFill>
                          <a:effectLst/>
                          <a:latin typeface="Century Gothic" pitchFamily="34" charset="0"/>
                          <a:ea typeface="標楷體" pitchFamily="65" charset="-120"/>
                        </a:rPr>
                        <a:t>Cache content after access</a:t>
                      </a:r>
                      <a:endParaRPr kumimoji="0" lang="en-AU" altLang="zh-TW" sz="1400" b="1" i="0" u="none" strike="noStrike" cap="none" normalizeH="0" baseline="0" dirty="0">
                        <a:ln>
                          <a:noFill/>
                        </a:ln>
                        <a:solidFill>
                          <a:schemeClr val="tx1"/>
                        </a:solidFill>
                        <a:effectLst/>
                        <a:latin typeface="Century Gothic" pitchFamily="34" charset="0"/>
                        <a:ea typeface="新細明體" pitchFamily="18" charset="-120"/>
                      </a:endParaRPr>
                    </a:p>
                  </a:txBody>
                  <a:tcPr marL="67500" marR="67500" marT="0" marB="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TW" altLang="en-US"/>
                    </a:p>
                  </a:txBody>
                  <a:tcPr/>
                </a:tc>
                <a:tc hMerge="1">
                  <a:txBody>
                    <a:bodyPr/>
                    <a:lstStyle/>
                    <a:p>
                      <a:endParaRPr lang="zh-TW" altLang="en-US"/>
                    </a:p>
                  </a:txBody>
                  <a:tcPr/>
                </a:tc>
                <a:tc hMerge="1">
                  <a:txBody>
                    <a:bodyPr/>
                    <a:lstStyle/>
                    <a:p>
                      <a:endParaRPr lang="zh-TW" altLang="en-US"/>
                    </a:p>
                  </a:txBody>
                  <a:tcPr/>
                </a:tc>
                <a:extLst>
                  <a:ext uri="{0D108BD9-81ED-4DB2-BD59-A6C34878D82A}">
                    <a16:rowId xmlns:a16="http://schemas.microsoft.com/office/drawing/2014/main" val="10000"/>
                  </a:ext>
                </a:extLst>
              </a:tr>
              <a:tr h="206222">
                <a:tc>
                  <a:txBody>
                    <a:bodyPr/>
                    <a:lstStyle/>
                    <a:p>
                      <a:pPr marL="0" marR="0" lvl="0" indent="0" algn="ctr" defTabSz="914400" rtl="0" eaLnBrk="0" fontAlgn="base" latinLnBrk="0" hangingPunct="0">
                        <a:lnSpc>
                          <a:spcPct val="90000"/>
                        </a:lnSpc>
                        <a:spcBef>
                          <a:spcPct val="15000"/>
                        </a:spcBef>
                        <a:spcAft>
                          <a:spcPct val="0"/>
                        </a:spcAft>
                        <a:buClr>
                          <a:schemeClr val="folHlink"/>
                        </a:buClr>
                        <a:buSzPct val="75000"/>
                        <a:buFont typeface="Wingdings" pitchFamily="2" charset="2"/>
                        <a:buNone/>
                        <a:tabLst/>
                      </a:pPr>
                      <a:r>
                        <a:rPr kumimoji="0" lang="en-US" altLang="zh-TW" sz="1400" b="1" i="0" u="none" strike="noStrike" cap="none" normalizeH="0" baseline="0">
                          <a:ln>
                            <a:noFill/>
                          </a:ln>
                          <a:solidFill>
                            <a:schemeClr val="tx1"/>
                          </a:solidFill>
                          <a:effectLst/>
                          <a:latin typeface="Century Gothic" pitchFamily="34" charset="0"/>
                          <a:ea typeface="標楷體" pitchFamily="65" charset="-120"/>
                        </a:rPr>
                        <a:t>0</a:t>
                      </a:r>
                      <a:endParaRPr kumimoji="0" lang="en-AU" altLang="zh-TW" sz="1400" b="1" i="0" u="none" strike="noStrike" cap="none" normalizeH="0" baseline="0">
                        <a:ln>
                          <a:noFill/>
                        </a:ln>
                        <a:solidFill>
                          <a:schemeClr val="tx1"/>
                        </a:solidFill>
                        <a:effectLst/>
                        <a:latin typeface="Century Gothic" pitchFamily="34" charset="0"/>
                        <a:ea typeface="新細明體" pitchFamily="18" charset="-120"/>
                      </a:endParaRPr>
                    </a:p>
                  </a:txBody>
                  <a:tcPr marL="67500" marR="67500" marT="0" marB="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15000"/>
                        </a:spcBef>
                        <a:spcAft>
                          <a:spcPct val="0"/>
                        </a:spcAft>
                        <a:buClr>
                          <a:schemeClr val="folHlink"/>
                        </a:buClr>
                        <a:buSzPct val="75000"/>
                        <a:buFont typeface="Wingdings" pitchFamily="2" charset="2"/>
                        <a:buNone/>
                        <a:tabLst/>
                      </a:pPr>
                      <a:endParaRPr kumimoji="0" lang="zh-TW" altLang="en-US" sz="1400" b="1" i="0" u="none" strike="noStrike" cap="none" normalizeH="0" baseline="0">
                        <a:ln>
                          <a:noFill/>
                        </a:ln>
                        <a:solidFill>
                          <a:schemeClr val="tx1"/>
                        </a:solidFill>
                        <a:effectLst/>
                        <a:latin typeface="Century Gothic" pitchFamily="34" charset="0"/>
                        <a:ea typeface="新細明體" pitchFamily="18" charset="-120"/>
                      </a:endParaRPr>
                    </a:p>
                  </a:txBody>
                  <a:tcPr marL="67500" marR="6750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0C0C0"/>
                    </a:solidFill>
                  </a:tcPr>
                </a:tc>
                <a:tc>
                  <a:txBody>
                    <a:bodyPr/>
                    <a:lstStyle/>
                    <a:p>
                      <a:pPr marL="0" marR="0" lvl="0" indent="0" algn="ctr" defTabSz="914400" rtl="0" eaLnBrk="0" fontAlgn="base" latinLnBrk="0" hangingPunct="0">
                        <a:lnSpc>
                          <a:spcPct val="90000"/>
                        </a:lnSpc>
                        <a:spcBef>
                          <a:spcPct val="15000"/>
                        </a:spcBef>
                        <a:spcAft>
                          <a:spcPct val="0"/>
                        </a:spcAft>
                        <a:buClr>
                          <a:schemeClr val="folHlink"/>
                        </a:buClr>
                        <a:buSzPct val="75000"/>
                        <a:buFont typeface="Wingdings" pitchFamily="2" charset="2"/>
                        <a:buNone/>
                        <a:tabLst/>
                      </a:pPr>
                      <a:r>
                        <a:rPr kumimoji="0" lang="en-US" altLang="zh-TW" sz="1400" b="1" i="0" u="none" strike="noStrike" cap="none" normalizeH="0" baseline="0">
                          <a:ln>
                            <a:noFill/>
                          </a:ln>
                          <a:solidFill>
                            <a:schemeClr val="tx1"/>
                          </a:solidFill>
                          <a:effectLst/>
                          <a:latin typeface="Century Gothic" pitchFamily="34" charset="0"/>
                          <a:ea typeface="標楷體" pitchFamily="65" charset="-120"/>
                        </a:rPr>
                        <a:t>miss</a:t>
                      </a:r>
                      <a:endParaRPr kumimoji="0" lang="en-AU" altLang="zh-TW" sz="1400" b="1" i="0" u="none" strike="noStrike" cap="none" normalizeH="0" baseline="0">
                        <a:ln>
                          <a:noFill/>
                        </a:ln>
                        <a:solidFill>
                          <a:schemeClr val="tx1"/>
                        </a:solidFill>
                        <a:effectLst/>
                        <a:latin typeface="Century Gothic" pitchFamily="34" charset="0"/>
                        <a:ea typeface="新細明體" pitchFamily="18" charset="-120"/>
                      </a:endParaRPr>
                    </a:p>
                  </a:txBody>
                  <a:tcPr marL="67500" marR="6750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15000"/>
                        </a:spcBef>
                        <a:spcAft>
                          <a:spcPct val="0"/>
                        </a:spcAft>
                        <a:buClr>
                          <a:schemeClr val="folHlink"/>
                        </a:buClr>
                        <a:buSzPct val="75000"/>
                        <a:buFont typeface="Wingdings" pitchFamily="2" charset="2"/>
                        <a:buNone/>
                        <a:tabLst/>
                      </a:pPr>
                      <a:r>
                        <a:rPr kumimoji="0" lang="en-US" altLang="zh-TW" sz="1400" b="1" i="0" u="none" strike="noStrike" cap="none" normalizeH="0" baseline="0">
                          <a:ln>
                            <a:noFill/>
                          </a:ln>
                          <a:solidFill>
                            <a:schemeClr val="folHlink"/>
                          </a:solidFill>
                          <a:effectLst/>
                          <a:latin typeface="Century Gothic" pitchFamily="34" charset="0"/>
                          <a:ea typeface="標楷體" pitchFamily="65" charset="-120"/>
                        </a:rPr>
                        <a:t>Mem[0]</a:t>
                      </a:r>
                      <a:endParaRPr kumimoji="0" lang="en-AU" altLang="zh-TW" sz="1400" b="1" i="0" u="none" strike="noStrike" cap="none" normalizeH="0" baseline="0">
                        <a:ln>
                          <a:noFill/>
                        </a:ln>
                        <a:solidFill>
                          <a:schemeClr val="folHlink"/>
                        </a:solidFill>
                        <a:effectLst/>
                        <a:latin typeface="Century Gothic" pitchFamily="34" charset="0"/>
                        <a:ea typeface="新細明體" pitchFamily="18" charset="-120"/>
                      </a:endParaRPr>
                    </a:p>
                  </a:txBody>
                  <a:tcPr marL="67500" marR="6750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15000"/>
                        </a:spcBef>
                        <a:spcAft>
                          <a:spcPct val="0"/>
                        </a:spcAft>
                        <a:buClr>
                          <a:schemeClr val="folHlink"/>
                        </a:buClr>
                        <a:buSzPct val="75000"/>
                        <a:buFont typeface="Wingdings" pitchFamily="2" charset="2"/>
                        <a:buNone/>
                        <a:tabLst/>
                      </a:pPr>
                      <a:endParaRPr kumimoji="0" lang="zh-TW" altLang="en-US" sz="1400" b="1" i="0" u="none" strike="noStrike" cap="none" normalizeH="0" baseline="0">
                        <a:ln>
                          <a:noFill/>
                        </a:ln>
                        <a:solidFill>
                          <a:schemeClr val="tx1"/>
                        </a:solidFill>
                        <a:effectLst/>
                        <a:latin typeface="Century Gothic" pitchFamily="34" charset="0"/>
                        <a:ea typeface="新細明體" pitchFamily="18" charset="-120"/>
                      </a:endParaRPr>
                    </a:p>
                  </a:txBody>
                  <a:tcPr marL="67500" marR="6750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15000"/>
                        </a:spcBef>
                        <a:spcAft>
                          <a:spcPct val="0"/>
                        </a:spcAft>
                        <a:buClr>
                          <a:schemeClr val="folHlink"/>
                        </a:buClr>
                        <a:buSzPct val="75000"/>
                        <a:buFont typeface="Wingdings" pitchFamily="2" charset="2"/>
                        <a:buNone/>
                        <a:tabLst/>
                      </a:pPr>
                      <a:endParaRPr kumimoji="0" lang="zh-TW" altLang="en-US" sz="1400" b="1" i="0" u="none" strike="noStrike" cap="none" normalizeH="0" baseline="0">
                        <a:ln>
                          <a:noFill/>
                        </a:ln>
                        <a:solidFill>
                          <a:schemeClr val="tx1"/>
                        </a:solidFill>
                        <a:effectLst/>
                        <a:latin typeface="Century Gothic" pitchFamily="34" charset="0"/>
                        <a:ea typeface="新細明體" pitchFamily="18" charset="-120"/>
                      </a:endParaRPr>
                    </a:p>
                  </a:txBody>
                  <a:tcPr marL="67500" marR="6750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15000"/>
                        </a:spcBef>
                        <a:spcAft>
                          <a:spcPct val="0"/>
                        </a:spcAft>
                        <a:buClr>
                          <a:schemeClr val="folHlink"/>
                        </a:buClr>
                        <a:buSzPct val="75000"/>
                        <a:buFont typeface="Wingdings" pitchFamily="2" charset="2"/>
                        <a:buNone/>
                        <a:tabLst/>
                      </a:pPr>
                      <a:endParaRPr kumimoji="0" lang="zh-TW" altLang="en-US" sz="1400" b="1" i="0" u="none" strike="noStrike" cap="none" normalizeH="0" baseline="0">
                        <a:ln>
                          <a:noFill/>
                        </a:ln>
                        <a:solidFill>
                          <a:schemeClr val="tx1"/>
                        </a:solidFill>
                        <a:effectLst/>
                        <a:latin typeface="Century Gothic" pitchFamily="34" charset="0"/>
                        <a:ea typeface="新細明體" pitchFamily="18" charset="-120"/>
                      </a:endParaRPr>
                    </a:p>
                  </a:txBody>
                  <a:tcPr marL="67500" marR="67500" marT="0" marB="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205185">
                <a:tc>
                  <a:txBody>
                    <a:bodyPr/>
                    <a:lstStyle/>
                    <a:p>
                      <a:pPr marL="0" marR="0" lvl="0" indent="0" algn="ctr" defTabSz="914400" rtl="0" eaLnBrk="0" fontAlgn="base" latinLnBrk="0" hangingPunct="0">
                        <a:lnSpc>
                          <a:spcPct val="90000"/>
                        </a:lnSpc>
                        <a:spcBef>
                          <a:spcPct val="15000"/>
                        </a:spcBef>
                        <a:spcAft>
                          <a:spcPct val="0"/>
                        </a:spcAft>
                        <a:buClr>
                          <a:schemeClr val="folHlink"/>
                        </a:buClr>
                        <a:buSzPct val="75000"/>
                        <a:buFont typeface="Wingdings" pitchFamily="2" charset="2"/>
                        <a:buNone/>
                        <a:tabLst/>
                      </a:pPr>
                      <a:r>
                        <a:rPr kumimoji="0" lang="en-US" altLang="zh-TW" sz="1400" b="1" i="0" u="none" strike="noStrike" cap="none" normalizeH="0" baseline="0">
                          <a:ln>
                            <a:noFill/>
                          </a:ln>
                          <a:solidFill>
                            <a:schemeClr val="tx1"/>
                          </a:solidFill>
                          <a:effectLst/>
                          <a:latin typeface="Century Gothic" pitchFamily="34" charset="0"/>
                          <a:ea typeface="標楷體" pitchFamily="65" charset="-120"/>
                        </a:rPr>
                        <a:t>8</a:t>
                      </a:r>
                      <a:endParaRPr kumimoji="0" lang="en-AU" altLang="zh-TW" sz="1400" b="1" i="0" u="none" strike="noStrike" cap="none" normalizeH="0" baseline="0">
                        <a:ln>
                          <a:noFill/>
                        </a:ln>
                        <a:solidFill>
                          <a:schemeClr val="tx1"/>
                        </a:solidFill>
                        <a:effectLst/>
                        <a:latin typeface="Century Gothic" pitchFamily="34" charset="0"/>
                        <a:ea typeface="新細明體" pitchFamily="18" charset="-120"/>
                      </a:endParaRPr>
                    </a:p>
                  </a:txBody>
                  <a:tcPr marL="67500" marR="67500" marT="0" marB="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15000"/>
                        </a:spcBef>
                        <a:spcAft>
                          <a:spcPct val="0"/>
                        </a:spcAft>
                        <a:buClr>
                          <a:schemeClr val="folHlink"/>
                        </a:buClr>
                        <a:buSzPct val="75000"/>
                        <a:buFont typeface="Wingdings" pitchFamily="2" charset="2"/>
                        <a:buNone/>
                        <a:tabLst/>
                      </a:pPr>
                      <a:endParaRPr kumimoji="0" lang="zh-TW" altLang="en-US" sz="1400" b="1" i="0" u="none" strike="noStrike" cap="none" normalizeH="0" baseline="0">
                        <a:ln>
                          <a:noFill/>
                        </a:ln>
                        <a:solidFill>
                          <a:schemeClr val="tx1"/>
                        </a:solidFill>
                        <a:effectLst/>
                        <a:latin typeface="Century Gothic" pitchFamily="34" charset="0"/>
                        <a:ea typeface="新細明體" pitchFamily="18" charset="-120"/>
                      </a:endParaRPr>
                    </a:p>
                  </a:txBody>
                  <a:tcPr marL="67500" marR="6750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0C0C0"/>
                    </a:solidFill>
                  </a:tcPr>
                </a:tc>
                <a:tc>
                  <a:txBody>
                    <a:bodyPr/>
                    <a:lstStyle/>
                    <a:p>
                      <a:pPr marL="0" marR="0" lvl="0" indent="0" algn="ctr" defTabSz="914400" rtl="0" eaLnBrk="0" fontAlgn="base" latinLnBrk="0" hangingPunct="0">
                        <a:lnSpc>
                          <a:spcPct val="90000"/>
                        </a:lnSpc>
                        <a:spcBef>
                          <a:spcPct val="15000"/>
                        </a:spcBef>
                        <a:spcAft>
                          <a:spcPct val="0"/>
                        </a:spcAft>
                        <a:buClr>
                          <a:schemeClr val="folHlink"/>
                        </a:buClr>
                        <a:buSzPct val="75000"/>
                        <a:buFont typeface="Wingdings" pitchFamily="2" charset="2"/>
                        <a:buNone/>
                        <a:tabLst/>
                      </a:pPr>
                      <a:r>
                        <a:rPr kumimoji="0" lang="en-US" altLang="zh-TW" sz="1400" b="1" i="0" u="none" strike="noStrike" cap="none" normalizeH="0" baseline="0" dirty="0">
                          <a:ln>
                            <a:noFill/>
                          </a:ln>
                          <a:solidFill>
                            <a:schemeClr val="tx1"/>
                          </a:solidFill>
                          <a:effectLst/>
                          <a:latin typeface="Century Gothic" pitchFamily="34" charset="0"/>
                          <a:ea typeface="標楷體" pitchFamily="65" charset="-120"/>
                        </a:rPr>
                        <a:t>miss</a:t>
                      </a:r>
                      <a:endParaRPr kumimoji="0" lang="en-AU" altLang="zh-TW" sz="1400" b="1" i="0" u="none" strike="noStrike" cap="none" normalizeH="0" baseline="0" dirty="0">
                        <a:ln>
                          <a:noFill/>
                        </a:ln>
                        <a:solidFill>
                          <a:schemeClr val="tx1"/>
                        </a:solidFill>
                        <a:effectLst/>
                        <a:latin typeface="Century Gothic" pitchFamily="34" charset="0"/>
                        <a:ea typeface="新細明體" pitchFamily="18" charset="-120"/>
                      </a:endParaRPr>
                    </a:p>
                  </a:txBody>
                  <a:tcPr marL="67500" marR="6750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15000"/>
                        </a:spcBef>
                        <a:spcAft>
                          <a:spcPct val="0"/>
                        </a:spcAft>
                        <a:buClr>
                          <a:schemeClr val="folHlink"/>
                        </a:buClr>
                        <a:buSzPct val="75000"/>
                        <a:buFont typeface="Wingdings" pitchFamily="2" charset="2"/>
                        <a:buNone/>
                        <a:tabLst/>
                      </a:pPr>
                      <a:r>
                        <a:rPr kumimoji="0" lang="en-US" altLang="zh-TW" sz="1400" b="1" i="0" u="none" strike="noStrike" cap="none" normalizeH="0" baseline="0">
                          <a:ln>
                            <a:noFill/>
                          </a:ln>
                          <a:solidFill>
                            <a:schemeClr val="tx1"/>
                          </a:solidFill>
                          <a:effectLst/>
                          <a:latin typeface="Century Gothic" pitchFamily="34" charset="0"/>
                          <a:ea typeface="標楷體" pitchFamily="65" charset="-120"/>
                        </a:rPr>
                        <a:t>Mem[0]</a:t>
                      </a:r>
                      <a:endParaRPr kumimoji="0" lang="en-AU" altLang="zh-TW" sz="1400" b="1" i="0" u="none" strike="noStrike" cap="none" normalizeH="0" baseline="0">
                        <a:ln>
                          <a:noFill/>
                        </a:ln>
                        <a:solidFill>
                          <a:schemeClr val="tx1"/>
                        </a:solidFill>
                        <a:effectLst/>
                        <a:latin typeface="Century Gothic" pitchFamily="34" charset="0"/>
                        <a:ea typeface="新細明體" pitchFamily="18" charset="-120"/>
                      </a:endParaRPr>
                    </a:p>
                  </a:txBody>
                  <a:tcPr marL="67500" marR="6750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15000"/>
                        </a:spcBef>
                        <a:spcAft>
                          <a:spcPct val="0"/>
                        </a:spcAft>
                        <a:buClr>
                          <a:schemeClr val="folHlink"/>
                        </a:buClr>
                        <a:buSzPct val="75000"/>
                        <a:buFont typeface="Wingdings" pitchFamily="2" charset="2"/>
                        <a:buNone/>
                        <a:tabLst/>
                      </a:pPr>
                      <a:r>
                        <a:rPr kumimoji="0" lang="en-US" altLang="zh-TW" sz="1400" b="1" i="0" u="none" strike="noStrike" cap="none" normalizeH="0" baseline="0">
                          <a:ln>
                            <a:noFill/>
                          </a:ln>
                          <a:solidFill>
                            <a:schemeClr val="folHlink"/>
                          </a:solidFill>
                          <a:effectLst/>
                          <a:latin typeface="Century Gothic" pitchFamily="34" charset="0"/>
                          <a:ea typeface="標楷體" pitchFamily="65" charset="-120"/>
                        </a:rPr>
                        <a:t>Mem[8]</a:t>
                      </a:r>
                      <a:endParaRPr kumimoji="0" lang="en-AU" altLang="zh-TW" sz="1400" b="1" i="0" u="none" strike="noStrike" cap="none" normalizeH="0" baseline="0">
                        <a:ln>
                          <a:noFill/>
                        </a:ln>
                        <a:solidFill>
                          <a:schemeClr val="folHlink"/>
                        </a:solidFill>
                        <a:effectLst/>
                        <a:latin typeface="Century Gothic" pitchFamily="34" charset="0"/>
                        <a:ea typeface="新細明體" pitchFamily="18" charset="-120"/>
                      </a:endParaRPr>
                    </a:p>
                  </a:txBody>
                  <a:tcPr marL="67500" marR="6750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15000"/>
                        </a:spcBef>
                        <a:spcAft>
                          <a:spcPct val="0"/>
                        </a:spcAft>
                        <a:buClr>
                          <a:schemeClr val="folHlink"/>
                        </a:buClr>
                        <a:buSzPct val="75000"/>
                        <a:buFont typeface="Wingdings" pitchFamily="2" charset="2"/>
                        <a:buNone/>
                        <a:tabLst/>
                      </a:pPr>
                      <a:endParaRPr kumimoji="0" lang="zh-TW" altLang="en-US" sz="1400" b="1" i="0" u="none" strike="noStrike" cap="none" normalizeH="0" baseline="0">
                        <a:ln>
                          <a:noFill/>
                        </a:ln>
                        <a:solidFill>
                          <a:schemeClr val="tx1"/>
                        </a:solidFill>
                        <a:effectLst/>
                        <a:latin typeface="Century Gothic" pitchFamily="34" charset="0"/>
                        <a:ea typeface="新細明體" pitchFamily="18" charset="-120"/>
                      </a:endParaRPr>
                    </a:p>
                  </a:txBody>
                  <a:tcPr marL="67500" marR="6750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15000"/>
                        </a:spcBef>
                        <a:spcAft>
                          <a:spcPct val="0"/>
                        </a:spcAft>
                        <a:buClr>
                          <a:schemeClr val="folHlink"/>
                        </a:buClr>
                        <a:buSzPct val="75000"/>
                        <a:buFont typeface="Wingdings" pitchFamily="2" charset="2"/>
                        <a:buNone/>
                        <a:tabLst/>
                      </a:pPr>
                      <a:endParaRPr kumimoji="0" lang="zh-TW" altLang="en-US" sz="1400" b="1" i="0" u="none" strike="noStrike" cap="none" normalizeH="0" baseline="0">
                        <a:ln>
                          <a:noFill/>
                        </a:ln>
                        <a:solidFill>
                          <a:schemeClr val="tx1"/>
                        </a:solidFill>
                        <a:effectLst/>
                        <a:latin typeface="Century Gothic" pitchFamily="34" charset="0"/>
                        <a:ea typeface="新細明體" pitchFamily="18" charset="-120"/>
                      </a:endParaRPr>
                    </a:p>
                  </a:txBody>
                  <a:tcPr marL="67500" marR="67500" marT="0" marB="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206222">
                <a:tc>
                  <a:txBody>
                    <a:bodyPr/>
                    <a:lstStyle/>
                    <a:p>
                      <a:pPr marL="0" marR="0" lvl="0" indent="0" algn="ctr" defTabSz="914400" rtl="0" eaLnBrk="0" fontAlgn="base" latinLnBrk="0" hangingPunct="0">
                        <a:lnSpc>
                          <a:spcPct val="90000"/>
                        </a:lnSpc>
                        <a:spcBef>
                          <a:spcPct val="15000"/>
                        </a:spcBef>
                        <a:spcAft>
                          <a:spcPct val="0"/>
                        </a:spcAft>
                        <a:buClr>
                          <a:schemeClr val="folHlink"/>
                        </a:buClr>
                        <a:buSzPct val="75000"/>
                        <a:buFont typeface="Wingdings" pitchFamily="2" charset="2"/>
                        <a:buNone/>
                        <a:tabLst/>
                      </a:pPr>
                      <a:r>
                        <a:rPr kumimoji="0" lang="en-US" altLang="zh-TW" sz="1400" b="1" i="0" u="none" strike="noStrike" cap="none" normalizeH="0" baseline="0">
                          <a:ln>
                            <a:noFill/>
                          </a:ln>
                          <a:solidFill>
                            <a:schemeClr val="tx1"/>
                          </a:solidFill>
                          <a:effectLst/>
                          <a:latin typeface="Century Gothic" pitchFamily="34" charset="0"/>
                          <a:ea typeface="標楷體" pitchFamily="65" charset="-120"/>
                        </a:rPr>
                        <a:t>0</a:t>
                      </a:r>
                      <a:endParaRPr kumimoji="0" lang="en-AU" altLang="zh-TW" sz="1400" b="1" i="0" u="none" strike="noStrike" cap="none" normalizeH="0" baseline="0">
                        <a:ln>
                          <a:noFill/>
                        </a:ln>
                        <a:solidFill>
                          <a:schemeClr val="tx1"/>
                        </a:solidFill>
                        <a:effectLst/>
                        <a:latin typeface="Century Gothic" pitchFamily="34" charset="0"/>
                        <a:ea typeface="新細明體" pitchFamily="18" charset="-120"/>
                      </a:endParaRPr>
                    </a:p>
                  </a:txBody>
                  <a:tcPr marL="67500" marR="67500" marT="0" marB="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15000"/>
                        </a:spcBef>
                        <a:spcAft>
                          <a:spcPct val="0"/>
                        </a:spcAft>
                        <a:buClr>
                          <a:schemeClr val="folHlink"/>
                        </a:buClr>
                        <a:buSzPct val="75000"/>
                        <a:buFont typeface="Wingdings" pitchFamily="2" charset="2"/>
                        <a:buNone/>
                        <a:tabLst/>
                      </a:pPr>
                      <a:endParaRPr kumimoji="0" lang="zh-TW" altLang="en-US" sz="1400" b="1" i="0" u="none" strike="noStrike" cap="none" normalizeH="0" baseline="0">
                        <a:ln>
                          <a:noFill/>
                        </a:ln>
                        <a:solidFill>
                          <a:schemeClr val="tx1"/>
                        </a:solidFill>
                        <a:effectLst/>
                        <a:latin typeface="Century Gothic" pitchFamily="34" charset="0"/>
                        <a:ea typeface="新細明體" pitchFamily="18" charset="-120"/>
                      </a:endParaRPr>
                    </a:p>
                  </a:txBody>
                  <a:tcPr marL="67500" marR="6750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0C0C0"/>
                    </a:solidFill>
                  </a:tcPr>
                </a:tc>
                <a:tc>
                  <a:txBody>
                    <a:bodyPr/>
                    <a:lstStyle/>
                    <a:p>
                      <a:pPr marL="0" marR="0" lvl="0" indent="0" algn="ctr" defTabSz="914400" rtl="0" eaLnBrk="0" fontAlgn="base" latinLnBrk="0" hangingPunct="0">
                        <a:lnSpc>
                          <a:spcPct val="90000"/>
                        </a:lnSpc>
                        <a:spcBef>
                          <a:spcPct val="15000"/>
                        </a:spcBef>
                        <a:spcAft>
                          <a:spcPct val="0"/>
                        </a:spcAft>
                        <a:buClr>
                          <a:schemeClr val="folHlink"/>
                        </a:buClr>
                        <a:buSzPct val="75000"/>
                        <a:buFont typeface="Wingdings" pitchFamily="2" charset="2"/>
                        <a:buNone/>
                        <a:tabLst/>
                      </a:pPr>
                      <a:r>
                        <a:rPr kumimoji="0" lang="en-US" altLang="zh-TW" sz="1400" b="1" i="0" u="none" strike="noStrike" cap="none" normalizeH="0" baseline="0">
                          <a:ln>
                            <a:noFill/>
                          </a:ln>
                          <a:solidFill>
                            <a:schemeClr val="tx1"/>
                          </a:solidFill>
                          <a:effectLst/>
                          <a:latin typeface="Century Gothic" pitchFamily="34" charset="0"/>
                          <a:ea typeface="標楷體" pitchFamily="65" charset="-120"/>
                        </a:rPr>
                        <a:t>hit</a:t>
                      </a:r>
                      <a:endParaRPr kumimoji="0" lang="en-AU" altLang="zh-TW" sz="1400" b="1" i="0" u="none" strike="noStrike" cap="none" normalizeH="0" baseline="0">
                        <a:ln>
                          <a:noFill/>
                        </a:ln>
                        <a:solidFill>
                          <a:schemeClr val="tx1"/>
                        </a:solidFill>
                        <a:effectLst/>
                        <a:latin typeface="Century Gothic" pitchFamily="34" charset="0"/>
                        <a:ea typeface="新細明體" pitchFamily="18" charset="-120"/>
                      </a:endParaRPr>
                    </a:p>
                  </a:txBody>
                  <a:tcPr marL="67500" marR="6750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15000"/>
                        </a:spcBef>
                        <a:spcAft>
                          <a:spcPct val="0"/>
                        </a:spcAft>
                        <a:buClr>
                          <a:schemeClr val="folHlink"/>
                        </a:buClr>
                        <a:buSzPct val="75000"/>
                        <a:buFont typeface="Wingdings" pitchFamily="2" charset="2"/>
                        <a:buNone/>
                        <a:tabLst/>
                      </a:pPr>
                      <a:r>
                        <a:rPr kumimoji="0" lang="en-US" altLang="zh-TW" sz="1400" b="1" i="0" u="none" strike="noStrike" cap="none" normalizeH="0" baseline="0">
                          <a:ln>
                            <a:noFill/>
                          </a:ln>
                          <a:solidFill>
                            <a:srgbClr val="008000"/>
                          </a:solidFill>
                          <a:effectLst/>
                          <a:latin typeface="Century Gothic" pitchFamily="34" charset="0"/>
                          <a:ea typeface="標楷體" pitchFamily="65" charset="-120"/>
                        </a:rPr>
                        <a:t>Mem[0]</a:t>
                      </a:r>
                      <a:endParaRPr kumimoji="0" lang="en-AU" altLang="zh-TW" sz="1400" b="1" i="0" u="none" strike="noStrike" cap="none" normalizeH="0" baseline="0">
                        <a:ln>
                          <a:noFill/>
                        </a:ln>
                        <a:solidFill>
                          <a:srgbClr val="008000"/>
                        </a:solidFill>
                        <a:effectLst/>
                        <a:latin typeface="Century Gothic" pitchFamily="34" charset="0"/>
                        <a:ea typeface="新細明體" pitchFamily="18" charset="-120"/>
                      </a:endParaRPr>
                    </a:p>
                  </a:txBody>
                  <a:tcPr marL="67500" marR="6750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15000"/>
                        </a:spcBef>
                        <a:spcAft>
                          <a:spcPct val="0"/>
                        </a:spcAft>
                        <a:buClr>
                          <a:schemeClr val="folHlink"/>
                        </a:buClr>
                        <a:buSzPct val="75000"/>
                        <a:buFont typeface="Wingdings" pitchFamily="2" charset="2"/>
                        <a:buNone/>
                        <a:tabLst/>
                      </a:pPr>
                      <a:r>
                        <a:rPr kumimoji="0" lang="en-US" altLang="zh-TW" sz="1400" b="1" i="0" u="none" strike="noStrike" cap="none" normalizeH="0" baseline="0" dirty="0">
                          <a:ln>
                            <a:noFill/>
                          </a:ln>
                          <a:solidFill>
                            <a:schemeClr val="tx1"/>
                          </a:solidFill>
                          <a:effectLst/>
                          <a:latin typeface="Century Gothic" pitchFamily="34" charset="0"/>
                          <a:ea typeface="標楷體" pitchFamily="65" charset="-120"/>
                        </a:rPr>
                        <a:t>M[em8]</a:t>
                      </a:r>
                      <a:endParaRPr kumimoji="0" lang="en-AU" altLang="zh-TW" sz="1400" b="1" i="0" u="none" strike="noStrike" cap="none" normalizeH="0" baseline="0" dirty="0">
                        <a:ln>
                          <a:noFill/>
                        </a:ln>
                        <a:solidFill>
                          <a:schemeClr val="tx1"/>
                        </a:solidFill>
                        <a:effectLst/>
                        <a:latin typeface="Century Gothic" pitchFamily="34" charset="0"/>
                        <a:ea typeface="新細明體" pitchFamily="18" charset="-120"/>
                      </a:endParaRPr>
                    </a:p>
                  </a:txBody>
                  <a:tcPr marL="67500" marR="6750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15000"/>
                        </a:spcBef>
                        <a:spcAft>
                          <a:spcPct val="0"/>
                        </a:spcAft>
                        <a:buClr>
                          <a:schemeClr val="folHlink"/>
                        </a:buClr>
                        <a:buSzPct val="75000"/>
                        <a:buFont typeface="Wingdings" pitchFamily="2" charset="2"/>
                        <a:buNone/>
                        <a:tabLst/>
                      </a:pPr>
                      <a:endParaRPr kumimoji="0" lang="zh-TW" altLang="en-US" sz="1400" b="1" i="0" u="none" strike="noStrike" cap="none" normalizeH="0" baseline="0">
                        <a:ln>
                          <a:noFill/>
                        </a:ln>
                        <a:solidFill>
                          <a:schemeClr val="tx1"/>
                        </a:solidFill>
                        <a:effectLst/>
                        <a:latin typeface="Century Gothic" pitchFamily="34" charset="0"/>
                        <a:ea typeface="新細明體" pitchFamily="18" charset="-120"/>
                      </a:endParaRPr>
                    </a:p>
                  </a:txBody>
                  <a:tcPr marL="67500" marR="6750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15000"/>
                        </a:spcBef>
                        <a:spcAft>
                          <a:spcPct val="0"/>
                        </a:spcAft>
                        <a:buClr>
                          <a:schemeClr val="folHlink"/>
                        </a:buClr>
                        <a:buSzPct val="75000"/>
                        <a:buFont typeface="Wingdings" pitchFamily="2" charset="2"/>
                        <a:buNone/>
                        <a:tabLst/>
                      </a:pPr>
                      <a:endParaRPr kumimoji="0" lang="zh-TW" altLang="en-US" sz="1400" b="1" i="0" u="none" strike="noStrike" cap="none" normalizeH="0" baseline="0">
                        <a:ln>
                          <a:noFill/>
                        </a:ln>
                        <a:solidFill>
                          <a:schemeClr val="tx1"/>
                        </a:solidFill>
                        <a:effectLst/>
                        <a:latin typeface="Century Gothic" pitchFamily="34" charset="0"/>
                        <a:ea typeface="新細明體" pitchFamily="18" charset="-120"/>
                      </a:endParaRPr>
                    </a:p>
                  </a:txBody>
                  <a:tcPr marL="67500" marR="67500" marT="0" marB="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205185">
                <a:tc>
                  <a:txBody>
                    <a:bodyPr/>
                    <a:lstStyle/>
                    <a:p>
                      <a:pPr marL="0" marR="0" lvl="0" indent="0" algn="ctr" defTabSz="914400" rtl="0" eaLnBrk="0" fontAlgn="base" latinLnBrk="0" hangingPunct="0">
                        <a:lnSpc>
                          <a:spcPct val="90000"/>
                        </a:lnSpc>
                        <a:spcBef>
                          <a:spcPct val="15000"/>
                        </a:spcBef>
                        <a:spcAft>
                          <a:spcPct val="0"/>
                        </a:spcAft>
                        <a:buClr>
                          <a:schemeClr val="folHlink"/>
                        </a:buClr>
                        <a:buSzPct val="75000"/>
                        <a:buFont typeface="Wingdings" pitchFamily="2" charset="2"/>
                        <a:buNone/>
                        <a:tabLst/>
                      </a:pPr>
                      <a:r>
                        <a:rPr kumimoji="0" lang="en-US" altLang="zh-TW" sz="1400" b="1" i="0" u="none" strike="noStrike" cap="none" normalizeH="0" baseline="0">
                          <a:ln>
                            <a:noFill/>
                          </a:ln>
                          <a:solidFill>
                            <a:schemeClr val="tx1"/>
                          </a:solidFill>
                          <a:effectLst/>
                          <a:latin typeface="Century Gothic" pitchFamily="34" charset="0"/>
                          <a:ea typeface="標楷體" pitchFamily="65" charset="-120"/>
                        </a:rPr>
                        <a:t>6</a:t>
                      </a:r>
                      <a:endParaRPr kumimoji="0" lang="en-AU" altLang="zh-TW" sz="1400" b="1" i="0" u="none" strike="noStrike" cap="none" normalizeH="0" baseline="0">
                        <a:ln>
                          <a:noFill/>
                        </a:ln>
                        <a:solidFill>
                          <a:schemeClr val="tx1"/>
                        </a:solidFill>
                        <a:effectLst/>
                        <a:latin typeface="Century Gothic" pitchFamily="34" charset="0"/>
                        <a:ea typeface="新細明體" pitchFamily="18" charset="-120"/>
                      </a:endParaRPr>
                    </a:p>
                  </a:txBody>
                  <a:tcPr marL="67500" marR="67500" marT="0" marB="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15000"/>
                        </a:spcBef>
                        <a:spcAft>
                          <a:spcPct val="0"/>
                        </a:spcAft>
                        <a:buClr>
                          <a:schemeClr val="folHlink"/>
                        </a:buClr>
                        <a:buSzPct val="75000"/>
                        <a:buFont typeface="Wingdings" pitchFamily="2" charset="2"/>
                        <a:buNone/>
                        <a:tabLst/>
                      </a:pPr>
                      <a:endParaRPr kumimoji="0" lang="zh-TW" altLang="en-US" sz="1400" b="1" i="0" u="none" strike="noStrike" cap="none" normalizeH="0" baseline="0">
                        <a:ln>
                          <a:noFill/>
                        </a:ln>
                        <a:solidFill>
                          <a:schemeClr val="tx1"/>
                        </a:solidFill>
                        <a:effectLst/>
                        <a:latin typeface="Century Gothic" pitchFamily="34" charset="0"/>
                        <a:ea typeface="新細明體" pitchFamily="18" charset="-120"/>
                      </a:endParaRPr>
                    </a:p>
                  </a:txBody>
                  <a:tcPr marL="67500" marR="6750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0C0C0"/>
                    </a:solidFill>
                  </a:tcPr>
                </a:tc>
                <a:tc>
                  <a:txBody>
                    <a:bodyPr/>
                    <a:lstStyle/>
                    <a:p>
                      <a:pPr marL="0" marR="0" lvl="0" indent="0" algn="ctr" defTabSz="914400" rtl="0" eaLnBrk="0" fontAlgn="base" latinLnBrk="0" hangingPunct="0">
                        <a:lnSpc>
                          <a:spcPct val="90000"/>
                        </a:lnSpc>
                        <a:spcBef>
                          <a:spcPct val="15000"/>
                        </a:spcBef>
                        <a:spcAft>
                          <a:spcPct val="0"/>
                        </a:spcAft>
                        <a:buClr>
                          <a:schemeClr val="folHlink"/>
                        </a:buClr>
                        <a:buSzPct val="75000"/>
                        <a:buFont typeface="Wingdings" pitchFamily="2" charset="2"/>
                        <a:buNone/>
                        <a:tabLst/>
                      </a:pPr>
                      <a:r>
                        <a:rPr kumimoji="0" lang="en-US" altLang="zh-TW" sz="1400" b="1" i="0" u="none" strike="noStrike" cap="none" normalizeH="0" baseline="0">
                          <a:ln>
                            <a:noFill/>
                          </a:ln>
                          <a:solidFill>
                            <a:schemeClr val="tx1"/>
                          </a:solidFill>
                          <a:effectLst/>
                          <a:latin typeface="Century Gothic" pitchFamily="34" charset="0"/>
                          <a:ea typeface="標楷體" pitchFamily="65" charset="-120"/>
                        </a:rPr>
                        <a:t>miss</a:t>
                      </a:r>
                      <a:endParaRPr kumimoji="0" lang="en-AU" altLang="zh-TW" sz="1400" b="1" i="0" u="none" strike="noStrike" cap="none" normalizeH="0" baseline="0">
                        <a:ln>
                          <a:noFill/>
                        </a:ln>
                        <a:solidFill>
                          <a:schemeClr val="tx1"/>
                        </a:solidFill>
                        <a:effectLst/>
                        <a:latin typeface="Century Gothic" pitchFamily="34" charset="0"/>
                        <a:ea typeface="新細明體" pitchFamily="18" charset="-120"/>
                      </a:endParaRPr>
                    </a:p>
                  </a:txBody>
                  <a:tcPr marL="67500" marR="6750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15000"/>
                        </a:spcBef>
                        <a:spcAft>
                          <a:spcPct val="0"/>
                        </a:spcAft>
                        <a:buClr>
                          <a:schemeClr val="folHlink"/>
                        </a:buClr>
                        <a:buSzPct val="75000"/>
                        <a:buFont typeface="Wingdings" pitchFamily="2" charset="2"/>
                        <a:buNone/>
                        <a:tabLst/>
                      </a:pPr>
                      <a:r>
                        <a:rPr kumimoji="0" lang="en-US" altLang="zh-TW" sz="1400" b="1" i="0" u="none" strike="noStrike" cap="none" normalizeH="0" baseline="0">
                          <a:ln>
                            <a:noFill/>
                          </a:ln>
                          <a:solidFill>
                            <a:schemeClr val="tx1"/>
                          </a:solidFill>
                          <a:effectLst/>
                          <a:latin typeface="Century Gothic" pitchFamily="34" charset="0"/>
                          <a:ea typeface="標楷體" pitchFamily="65" charset="-120"/>
                        </a:rPr>
                        <a:t>Mem[0]</a:t>
                      </a:r>
                      <a:endParaRPr kumimoji="0" lang="en-AU" altLang="zh-TW" sz="1400" b="1" i="0" u="none" strike="noStrike" cap="none" normalizeH="0" baseline="0">
                        <a:ln>
                          <a:noFill/>
                        </a:ln>
                        <a:solidFill>
                          <a:schemeClr val="tx1"/>
                        </a:solidFill>
                        <a:effectLst/>
                        <a:latin typeface="Century Gothic" pitchFamily="34" charset="0"/>
                        <a:ea typeface="新細明體" pitchFamily="18" charset="-120"/>
                      </a:endParaRPr>
                    </a:p>
                  </a:txBody>
                  <a:tcPr marL="67500" marR="6750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15000"/>
                        </a:spcBef>
                        <a:spcAft>
                          <a:spcPct val="0"/>
                        </a:spcAft>
                        <a:buClr>
                          <a:schemeClr val="folHlink"/>
                        </a:buClr>
                        <a:buSzPct val="75000"/>
                        <a:buFont typeface="Wingdings" pitchFamily="2" charset="2"/>
                        <a:buNone/>
                        <a:tabLst/>
                      </a:pPr>
                      <a:r>
                        <a:rPr kumimoji="0" lang="en-US" altLang="zh-TW" sz="1400" b="1" i="0" u="none" strike="noStrike" cap="none" normalizeH="0" baseline="0">
                          <a:ln>
                            <a:noFill/>
                          </a:ln>
                          <a:solidFill>
                            <a:schemeClr val="tx1"/>
                          </a:solidFill>
                          <a:effectLst/>
                          <a:latin typeface="Century Gothic" pitchFamily="34" charset="0"/>
                          <a:ea typeface="標楷體" pitchFamily="65" charset="-120"/>
                        </a:rPr>
                        <a:t>Mem[8]</a:t>
                      </a:r>
                      <a:endParaRPr kumimoji="0" lang="en-AU" altLang="zh-TW" sz="1400" b="1" i="0" u="none" strike="noStrike" cap="none" normalizeH="0" baseline="0">
                        <a:ln>
                          <a:noFill/>
                        </a:ln>
                        <a:solidFill>
                          <a:schemeClr val="hlink"/>
                        </a:solidFill>
                        <a:effectLst/>
                        <a:latin typeface="Century Gothic" pitchFamily="34" charset="0"/>
                        <a:ea typeface="新細明體" pitchFamily="18" charset="-120"/>
                      </a:endParaRPr>
                    </a:p>
                  </a:txBody>
                  <a:tcPr marL="67500" marR="6750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15000"/>
                        </a:spcBef>
                        <a:spcAft>
                          <a:spcPct val="0"/>
                        </a:spcAft>
                        <a:buClr>
                          <a:schemeClr val="folHlink"/>
                        </a:buClr>
                        <a:buSzPct val="75000"/>
                        <a:buFont typeface="Wingdings" pitchFamily="2" charset="2"/>
                        <a:buNone/>
                        <a:tabLst/>
                      </a:pPr>
                      <a:r>
                        <a:rPr kumimoji="0" lang="en-US" altLang="zh-TW" sz="1400" b="1" i="0" u="none" strike="noStrike" cap="none" normalizeH="0" baseline="0">
                          <a:ln>
                            <a:noFill/>
                          </a:ln>
                          <a:solidFill>
                            <a:schemeClr val="folHlink"/>
                          </a:solidFill>
                          <a:effectLst/>
                          <a:latin typeface="Century Gothic" pitchFamily="34" charset="0"/>
                          <a:ea typeface="標楷體" pitchFamily="65" charset="-120"/>
                        </a:rPr>
                        <a:t>Mem[6]</a:t>
                      </a:r>
                      <a:endParaRPr kumimoji="0" lang="en-AU" altLang="zh-TW" sz="1400" b="1" i="0" u="none" strike="noStrike" cap="none" normalizeH="0" baseline="0">
                        <a:ln>
                          <a:noFill/>
                        </a:ln>
                        <a:solidFill>
                          <a:schemeClr val="folHlink"/>
                        </a:solidFill>
                        <a:effectLst/>
                        <a:latin typeface="Century Gothic" pitchFamily="34" charset="0"/>
                        <a:ea typeface="新細明體" pitchFamily="18" charset="-120"/>
                      </a:endParaRPr>
                    </a:p>
                  </a:txBody>
                  <a:tcPr marL="67500" marR="6750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15000"/>
                        </a:spcBef>
                        <a:spcAft>
                          <a:spcPct val="0"/>
                        </a:spcAft>
                        <a:buClr>
                          <a:schemeClr val="folHlink"/>
                        </a:buClr>
                        <a:buSzPct val="75000"/>
                        <a:buFont typeface="Wingdings" pitchFamily="2" charset="2"/>
                        <a:buNone/>
                        <a:tabLst/>
                      </a:pPr>
                      <a:endParaRPr kumimoji="0" lang="zh-TW" altLang="en-US" sz="1400" b="1" i="0" u="none" strike="noStrike" cap="none" normalizeH="0" baseline="0">
                        <a:ln>
                          <a:noFill/>
                        </a:ln>
                        <a:solidFill>
                          <a:schemeClr val="tx1"/>
                        </a:solidFill>
                        <a:effectLst/>
                        <a:latin typeface="Century Gothic" pitchFamily="34" charset="0"/>
                        <a:ea typeface="新細明體" pitchFamily="18" charset="-120"/>
                      </a:endParaRPr>
                    </a:p>
                  </a:txBody>
                  <a:tcPr marL="67500" marR="67500" marT="0" marB="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206222">
                <a:tc>
                  <a:txBody>
                    <a:bodyPr/>
                    <a:lstStyle/>
                    <a:p>
                      <a:pPr marL="0" marR="0" lvl="0" indent="0" algn="ctr" defTabSz="914400" rtl="0" eaLnBrk="0" fontAlgn="base" latinLnBrk="0" hangingPunct="0">
                        <a:lnSpc>
                          <a:spcPct val="90000"/>
                        </a:lnSpc>
                        <a:spcBef>
                          <a:spcPct val="15000"/>
                        </a:spcBef>
                        <a:spcAft>
                          <a:spcPct val="0"/>
                        </a:spcAft>
                        <a:buClr>
                          <a:schemeClr val="folHlink"/>
                        </a:buClr>
                        <a:buSzPct val="75000"/>
                        <a:buFont typeface="Wingdings" pitchFamily="2" charset="2"/>
                        <a:buNone/>
                        <a:tabLst/>
                      </a:pPr>
                      <a:r>
                        <a:rPr kumimoji="0" lang="en-US" altLang="zh-TW" sz="1400" b="1" i="0" u="none" strike="noStrike" cap="none" normalizeH="0" baseline="0">
                          <a:ln>
                            <a:noFill/>
                          </a:ln>
                          <a:solidFill>
                            <a:schemeClr val="tx1"/>
                          </a:solidFill>
                          <a:effectLst/>
                          <a:latin typeface="Century Gothic" pitchFamily="34" charset="0"/>
                          <a:ea typeface="標楷體" pitchFamily="65" charset="-120"/>
                        </a:rPr>
                        <a:t>8</a:t>
                      </a:r>
                      <a:endParaRPr kumimoji="0" lang="en-AU" altLang="zh-TW" sz="1400" b="1" i="0" u="none" strike="noStrike" cap="none" normalizeH="0" baseline="0">
                        <a:ln>
                          <a:noFill/>
                        </a:ln>
                        <a:solidFill>
                          <a:schemeClr val="tx1"/>
                        </a:solidFill>
                        <a:effectLst/>
                        <a:latin typeface="Century Gothic" pitchFamily="34" charset="0"/>
                        <a:ea typeface="新細明體" pitchFamily="18" charset="-120"/>
                      </a:endParaRPr>
                    </a:p>
                  </a:txBody>
                  <a:tcPr marL="67500" marR="67500" marT="0" marB="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15000"/>
                        </a:spcBef>
                        <a:spcAft>
                          <a:spcPct val="0"/>
                        </a:spcAft>
                        <a:buClr>
                          <a:schemeClr val="folHlink"/>
                        </a:buClr>
                        <a:buSzPct val="75000"/>
                        <a:buFont typeface="Wingdings" pitchFamily="2" charset="2"/>
                        <a:buNone/>
                        <a:tabLst/>
                      </a:pPr>
                      <a:endParaRPr kumimoji="0" lang="zh-TW" altLang="en-US" sz="1400" b="1" i="0" u="none" strike="noStrike" cap="none" normalizeH="0" baseline="0">
                        <a:ln>
                          <a:noFill/>
                        </a:ln>
                        <a:solidFill>
                          <a:schemeClr val="tx1"/>
                        </a:solidFill>
                        <a:effectLst/>
                        <a:latin typeface="Century Gothic" pitchFamily="34" charset="0"/>
                        <a:ea typeface="新細明體" pitchFamily="18" charset="-120"/>
                      </a:endParaRPr>
                    </a:p>
                  </a:txBody>
                  <a:tcPr marL="67500" marR="6750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C0C0C0"/>
                    </a:solidFill>
                  </a:tcPr>
                </a:tc>
                <a:tc>
                  <a:txBody>
                    <a:bodyPr/>
                    <a:lstStyle/>
                    <a:p>
                      <a:pPr marL="0" marR="0" lvl="0" indent="0" algn="ctr" defTabSz="914400" rtl="0" eaLnBrk="0" fontAlgn="base" latinLnBrk="0" hangingPunct="0">
                        <a:lnSpc>
                          <a:spcPct val="90000"/>
                        </a:lnSpc>
                        <a:spcBef>
                          <a:spcPct val="15000"/>
                        </a:spcBef>
                        <a:spcAft>
                          <a:spcPct val="0"/>
                        </a:spcAft>
                        <a:buClr>
                          <a:schemeClr val="folHlink"/>
                        </a:buClr>
                        <a:buSzPct val="75000"/>
                        <a:buFont typeface="Wingdings" pitchFamily="2" charset="2"/>
                        <a:buNone/>
                        <a:tabLst/>
                      </a:pPr>
                      <a:r>
                        <a:rPr kumimoji="0" lang="en-US" altLang="zh-TW" sz="1400" b="1" i="0" u="none" strike="noStrike" cap="none" normalizeH="0" baseline="0">
                          <a:ln>
                            <a:noFill/>
                          </a:ln>
                          <a:solidFill>
                            <a:schemeClr val="tx1"/>
                          </a:solidFill>
                          <a:effectLst/>
                          <a:latin typeface="Century Gothic" pitchFamily="34" charset="0"/>
                          <a:ea typeface="標楷體" pitchFamily="65" charset="-120"/>
                        </a:rPr>
                        <a:t>hit</a:t>
                      </a:r>
                      <a:endParaRPr kumimoji="0" lang="en-AU" altLang="zh-TW" sz="1400" b="1" i="0" u="none" strike="noStrike" cap="none" normalizeH="0" baseline="0">
                        <a:ln>
                          <a:noFill/>
                        </a:ln>
                        <a:solidFill>
                          <a:schemeClr val="tx1"/>
                        </a:solidFill>
                        <a:effectLst/>
                        <a:latin typeface="Century Gothic" pitchFamily="34" charset="0"/>
                        <a:ea typeface="新細明體" pitchFamily="18" charset="-120"/>
                      </a:endParaRPr>
                    </a:p>
                  </a:txBody>
                  <a:tcPr marL="67500" marR="6750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15000"/>
                        </a:spcBef>
                        <a:spcAft>
                          <a:spcPct val="0"/>
                        </a:spcAft>
                        <a:buClr>
                          <a:schemeClr val="folHlink"/>
                        </a:buClr>
                        <a:buSzPct val="75000"/>
                        <a:buFont typeface="Wingdings" pitchFamily="2" charset="2"/>
                        <a:buNone/>
                        <a:tabLst/>
                      </a:pPr>
                      <a:r>
                        <a:rPr kumimoji="0" lang="en-US" altLang="zh-TW" sz="1400" b="1" i="0" u="none" strike="noStrike" cap="none" normalizeH="0" baseline="0">
                          <a:ln>
                            <a:noFill/>
                          </a:ln>
                          <a:solidFill>
                            <a:schemeClr val="tx1"/>
                          </a:solidFill>
                          <a:effectLst/>
                          <a:latin typeface="Century Gothic" pitchFamily="34" charset="0"/>
                          <a:ea typeface="標楷體" pitchFamily="65" charset="-120"/>
                        </a:rPr>
                        <a:t>Mem[0]</a:t>
                      </a:r>
                      <a:endParaRPr kumimoji="0" lang="en-AU" altLang="zh-TW" sz="1400" b="1" i="0" u="none" strike="noStrike" cap="none" normalizeH="0" baseline="0">
                        <a:ln>
                          <a:noFill/>
                        </a:ln>
                        <a:solidFill>
                          <a:schemeClr val="tx1"/>
                        </a:solidFill>
                        <a:effectLst/>
                        <a:latin typeface="Century Gothic" pitchFamily="34" charset="0"/>
                        <a:ea typeface="新細明體" pitchFamily="18" charset="-120"/>
                      </a:endParaRPr>
                    </a:p>
                  </a:txBody>
                  <a:tcPr marL="67500" marR="6750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15000"/>
                        </a:spcBef>
                        <a:spcAft>
                          <a:spcPct val="0"/>
                        </a:spcAft>
                        <a:buClr>
                          <a:schemeClr val="folHlink"/>
                        </a:buClr>
                        <a:buSzPct val="75000"/>
                        <a:buFont typeface="Wingdings" pitchFamily="2" charset="2"/>
                        <a:buNone/>
                        <a:tabLst/>
                      </a:pPr>
                      <a:r>
                        <a:rPr kumimoji="0" lang="en-US" altLang="zh-TW" sz="1400" b="1" i="0" u="none" strike="noStrike" cap="none" normalizeH="0" baseline="0">
                          <a:ln>
                            <a:noFill/>
                          </a:ln>
                          <a:solidFill>
                            <a:srgbClr val="008000"/>
                          </a:solidFill>
                          <a:effectLst/>
                          <a:latin typeface="Century Gothic" pitchFamily="34" charset="0"/>
                          <a:ea typeface="標楷體" pitchFamily="65" charset="-120"/>
                        </a:rPr>
                        <a:t>Mem[8]</a:t>
                      </a:r>
                      <a:endParaRPr kumimoji="0" lang="en-AU" altLang="zh-TW" sz="1400" b="1" i="0" u="none" strike="noStrike" cap="none" normalizeH="0" baseline="0">
                        <a:ln>
                          <a:noFill/>
                        </a:ln>
                        <a:solidFill>
                          <a:srgbClr val="008000"/>
                        </a:solidFill>
                        <a:effectLst/>
                        <a:latin typeface="Century Gothic" pitchFamily="34" charset="0"/>
                        <a:ea typeface="新細明體" pitchFamily="18" charset="-120"/>
                      </a:endParaRPr>
                    </a:p>
                  </a:txBody>
                  <a:tcPr marL="67500" marR="6750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15000"/>
                        </a:spcBef>
                        <a:spcAft>
                          <a:spcPct val="0"/>
                        </a:spcAft>
                        <a:buClr>
                          <a:schemeClr val="folHlink"/>
                        </a:buClr>
                        <a:buSzPct val="75000"/>
                        <a:buFont typeface="Wingdings" pitchFamily="2" charset="2"/>
                        <a:buNone/>
                        <a:tabLst/>
                      </a:pPr>
                      <a:r>
                        <a:rPr kumimoji="0" lang="en-US" altLang="zh-TW" sz="1400" b="1" i="0" u="none" strike="noStrike" cap="none" normalizeH="0" baseline="0">
                          <a:ln>
                            <a:noFill/>
                          </a:ln>
                          <a:solidFill>
                            <a:schemeClr val="tx1"/>
                          </a:solidFill>
                          <a:effectLst/>
                          <a:latin typeface="Century Gothic" pitchFamily="34" charset="0"/>
                          <a:ea typeface="標楷體" pitchFamily="65" charset="-120"/>
                        </a:rPr>
                        <a:t>Mem[6]</a:t>
                      </a:r>
                      <a:endParaRPr kumimoji="0" lang="en-AU" altLang="zh-TW" sz="1400" b="1" i="0" u="none" strike="noStrike" cap="none" normalizeH="0" baseline="0">
                        <a:ln>
                          <a:noFill/>
                        </a:ln>
                        <a:solidFill>
                          <a:schemeClr val="tx1"/>
                        </a:solidFill>
                        <a:effectLst/>
                        <a:latin typeface="Century Gothic" pitchFamily="34" charset="0"/>
                        <a:ea typeface="新細明體" pitchFamily="18" charset="-120"/>
                      </a:endParaRPr>
                    </a:p>
                  </a:txBody>
                  <a:tcPr marL="67500" marR="6750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15000"/>
                        </a:spcBef>
                        <a:spcAft>
                          <a:spcPct val="0"/>
                        </a:spcAft>
                        <a:buClr>
                          <a:schemeClr val="folHlink"/>
                        </a:buClr>
                        <a:buSzPct val="75000"/>
                        <a:buFont typeface="Wingdings" pitchFamily="2" charset="2"/>
                        <a:buNone/>
                        <a:tabLst/>
                      </a:pPr>
                      <a:endParaRPr kumimoji="0" lang="zh-TW" altLang="en-US" sz="1400" b="1" i="0" u="none" strike="noStrike" cap="none" normalizeH="0" baseline="0" dirty="0">
                        <a:ln>
                          <a:noFill/>
                        </a:ln>
                        <a:solidFill>
                          <a:schemeClr val="tx1"/>
                        </a:solidFill>
                        <a:effectLst/>
                        <a:latin typeface="Century Gothic" pitchFamily="34" charset="0"/>
                        <a:ea typeface="新細明體" pitchFamily="18" charset="-120"/>
                      </a:endParaRPr>
                    </a:p>
                  </a:txBody>
                  <a:tcPr marL="67500" marR="67500" marT="0" marB="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bl>
          </a:graphicData>
        </a:graphic>
      </p:graphicFrame>
      <p:grpSp>
        <p:nvGrpSpPr>
          <p:cNvPr id="60535" name="Group 123"/>
          <p:cNvGrpSpPr>
            <a:grpSpLocks/>
          </p:cNvGrpSpPr>
          <p:nvPr/>
        </p:nvGrpSpPr>
        <p:grpSpPr bwMode="auto">
          <a:xfrm>
            <a:off x="1229647" y="1395259"/>
            <a:ext cx="561975" cy="1114425"/>
            <a:chOff x="122" y="2601"/>
            <a:chExt cx="472" cy="936"/>
          </a:xfrm>
        </p:grpSpPr>
        <p:sp>
          <p:nvSpPr>
            <p:cNvPr id="60537" name="Line 124"/>
            <p:cNvSpPr>
              <a:spLocks noChangeShapeType="1"/>
            </p:cNvSpPr>
            <p:nvPr/>
          </p:nvSpPr>
          <p:spPr bwMode="auto">
            <a:xfrm>
              <a:off x="594" y="2601"/>
              <a:ext cx="0" cy="936"/>
            </a:xfrm>
            <a:prstGeom prst="line">
              <a:avLst/>
            </a:prstGeom>
            <a:noFill/>
            <a:ln w="57150">
              <a:solidFill>
                <a:schemeClr val="tx1"/>
              </a:solidFill>
              <a:round/>
              <a:headEnd/>
              <a:tailEnd type="triangle" w="med" len="med"/>
            </a:ln>
          </p:spPr>
          <p:txBody>
            <a:bodyPr/>
            <a:lstStyle/>
            <a:p>
              <a:endParaRPr lang="zh-TW" altLang="en-US" sz="1350"/>
            </a:p>
          </p:txBody>
        </p:sp>
        <p:sp>
          <p:nvSpPr>
            <p:cNvPr id="60538" name="Text Box 125"/>
            <p:cNvSpPr txBox="1">
              <a:spLocks noChangeArrowheads="1"/>
            </p:cNvSpPr>
            <p:nvPr/>
          </p:nvSpPr>
          <p:spPr bwMode="auto">
            <a:xfrm>
              <a:off x="122" y="2846"/>
              <a:ext cx="454" cy="252"/>
            </a:xfrm>
            <a:prstGeom prst="rect">
              <a:avLst/>
            </a:prstGeom>
            <a:noFill/>
            <a:ln w="12700">
              <a:noFill/>
              <a:miter lim="800000"/>
              <a:headEnd/>
              <a:tailEnd/>
            </a:ln>
          </p:spPr>
          <p:txBody>
            <a:bodyPr wrap="none">
              <a:spAutoFit/>
            </a:bodyPr>
            <a:lstStyle/>
            <a:p>
              <a:r>
                <a:rPr lang="en-US" altLang="zh-TW" sz="1350" b="1" dirty="0"/>
                <a:t>time</a:t>
              </a:r>
            </a:p>
          </p:txBody>
        </p:sp>
      </p:grpSp>
      <p:sp>
        <p:nvSpPr>
          <p:cNvPr id="60418" name="Rectangle 2"/>
          <p:cNvSpPr>
            <a:spLocks noGrp="1" noChangeArrowheads="1"/>
          </p:cNvSpPr>
          <p:nvPr>
            <p:ph type="title"/>
          </p:nvPr>
        </p:nvSpPr>
        <p:spPr>
          <a:xfrm>
            <a:off x="914401" y="129779"/>
            <a:ext cx="6815138" cy="489653"/>
          </a:xfrm>
        </p:spPr>
        <p:txBody>
          <a:bodyPr/>
          <a:lstStyle/>
          <a:p>
            <a:r>
              <a:rPr lang="en-US" altLang="zh-TW" dirty="0"/>
              <a:t>Associativity Example (2)</a:t>
            </a:r>
            <a:endParaRPr lang="en-AU" altLang="zh-TW" dirty="0">
              <a:ea typeface="新細明體" pitchFamily="18" charset="-120"/>
            </a:endParaRPr>
          </a:p>
        </p:txBody>
      </p:sp>
      <p:sp>
        <p:nvSpPr>
          <p:cNvPr id="60419" name="Rectangle 3"/>
          <p:cNvSpPr>
            <a:spLocks noGrp="1" noChangeArrowheads="1"/>
          </p:cNvSpPr>
          <p:nvPr>
            <p:ph type="body" idx="1"/>
          </p:nvPr>
        </p:nvSpPr>
        <p:spPr>
          <a:xfrm>
            <a:off x="957262" y="798565"/>
            <a:ext cx="6315075" cy="477171"/>
          </a:xfrm>
        </p:spPr>
        <p:txBody>
          <a:bodyPr/>
          <a:lstStyle/>
          <a:p>
            <a:pPr>
              <a:spcBef>
                <a:spcPts val="0"/>
              </a:spcBef>
            </a:pPr>
            <a:r>
              <a:rPr lang="en-US" altLang="zh-TW" sz="2000" dirty="0"/>
              <a:t>2-way set associative (0, 8, 0, 6, 8)</a:t>
            </a:r>
          </a:p>
        </p:txBody>
      </p:sp>
      <p:grpSp>
        <p:nvGrpSpPr>
          <p:cNvPr id="60534" name="Group 120"/>
          <p:cNvGrpSpPr>
            <a:grpSpLocks/>
          </p:cNvGrpSpPr>
          <p:nvPr/>
        </p:nvGrpSpPr>
        <p:grpSpPr bwMode="auto">
          <a:xfrm>
            <a:off x="1201033" y="3345580"/>
            <a:ext cx="561975" cy="1114425"/>
            <a:chOff x="122" y="2601"/>
            <a:chExt cx="472" cy="936"/>
          </a:xfrm>
        </p:grpSpPr>
        <p:sp>
          <p:nvSpPr>
            <p:cNvPr id="60539" name="Line 121"/>
            <p:cNvSpPr>
              <a:spLocks noChangeShapeType="1"/>
            </p:cNvSpPr>
            <p:nvPr/>
          </p:nvSpPr>
          <p:spPr bwMode="auto">
            <a:xfrm>
              <a:off x="594" y="2601"/>
              <a:ext cx="0" cy="936"/>
            </a:xfrm>
            <a:prstGeom prst="line">
              <a:avLst/>
            </a:prstGeom>
            <a:noFill/>
            <a:ln w="57150">
              <a:solidFill>
                <a:schemeClr val="tx1"/>
              </a:solidFill>
              <a:round/>
              <a:headEnd/>
              <a:tailEnd type="triangle" w="med" len="med"/>
            </a:ln>
          </p:spPr>
          <p:txBody>
            <a:bodyPr/>
            <a:lstStyle/>
            <a:p>
              <a:endParaRPr lang="zh-TW" altLang="en-US" sz="1350"/>
            </a:p>
          </p:txBody>
        </p:sp>
        <p:sp>
          <p:nvSpPr>
            <p:cNvPr id="60540" name="Text Box 122"/>
            <p:cNvSpPr txBox="1">
              <a:spLocks noChangeArrowheads="1"/>
            </p:cNvSpPr>
            <p:nvPr/>
          </p:nvSpPr>
          <p:spPr bwMode="auto">
            <a:xfrm>
              <a:off x="122" y="2846"/>
              <a:ext cx="454" cy="252"/>
            </a:xfrm>
            <a:prstGeom prst="rect">
              <a:avLst/>
            </a:prstGeom>
            <a:noFill/>
            <a:ln w="12700">
              <a:noFill/>
              <a:miter lim="800000"/>
              <a:headEnd/>
              <a:tailEnd/>
            </a:ln>
          </p:spPr>
          <p:txBody>
            <a:bodyPr wrap="none">
              <a:spAutoFit/>
            </a:bodyPr>
            <a:lstStyle/>
            <a:p>
              <a:r>
                <a:rPr lang="en-US" altLang="zh-TW" sz="1350" b="1" dirty="0"/>
                <a:t>time</a:t>
              </a:r>
            </a:p>
          </p:txBody>
        </p:sp>
      </p:grpSp>
      <p:sp>
        <p:nvSpPr>
          <p:cNvPr id="14" name="Slide Number Placeholder 5">
            <a:extLst>
              <a:ext uri="{FF2B5EF4-FFF2-40B4-BE49-F238E27FC236}">
                <a16:creationId xmlns:a16="http://schemas.microsoft.com/office/drawing/2014/main" id="{0255E9E6-126F-4EEC-A944-5F970CE2A3F8}"/>
              </a:ext>
            </a:extLst>
          </p:cNvPr>
          <p:cNvSpPr>
            <a:spLocks noGrp="1"/>
          </p:cNvSpPr>
          <p:nvPr>
            <p:ph type="sldNum" sz="quarter" idx="10"/>
          </p:nvPr>
        </p:nvSpPr>
        <p:spPr>
          <a:xfrm>
            <a:off x="6831013" y="4893471"/>
            <a:ext cx="2133600" cy="254794"/>
          </a:xfrm>
        </p:spPr>
        <p:txBody>
          <a:bodyPr/>
          <a:lstStyle/>
          <a:p>
            <a:fld id="{D9B6BDF2-6896-4B98-8776-C18582F63BA5}" type="slidenum">
              <a:rPr lang="zh-TW" altLang="en-US" smtClean="0"/>
              <a:pPr/>
              <a:t>60</a:t>
            </a:fld>
            <a:endParaRPr lang="zh-TW" altLang="en-US"/>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2"/>
          <p:cNvSpPr>
            <a:spLocks noGrp="1" noChangeArrowheads="1"/>
          </p:cNvSpPr>
          <p:nvPr>
            <p:ph type="title"/>
          </p:nvPr>
        </p:nvSpPr>
        <p:spPr>
          <a:xfrm>
            <a:off x="914401" y="129780"/>
            <a:ext cx="6815138" cy="460156"/>
          </a:xfrm>
        </p:spPr>
        <p:txBody>
          <a:bodyPr/>
          <a:lstStyle/>
          <a:p>
            <a:r>
              <a:rPr lang="en-US" altLang="zh-TW" dirty="0"/>
              <a:t>How Much Associativity</a:t>
            </a:r>
            <a:endParaRPr lang="en-AU" altLang="zh-TW" dirty="0">
              <a:ea typeface="新細明體" pitchFamily="18" charset="-120"/>
            </a:endParaRPr>
          </a:p>
        </p:txBody>
      </p:sp>
      <p:sp>
        <p:nvSpPr>
          <p:cNvPr id="61443" name="Rectangle 3"/>
          <p:cNvSpPr>
            <a:spLocks noGrp="1" noChangeArrowheads="1"/>
          </p:cNvSpPr>
          <p:nvPr>
            <p:ph type="body" idx="1"/>
          </p:nvPr>
        </p:nvSpPr>
        <p:spPr>
          <a:xfrm>
            <a:off x="921774" y="844153"/>
            <a:ext cx="7765026" cy="2879815"/>
          </a:xfrm>
        </p:spPr>
        <p:txBody>
          <a:bodyPr/>
          <a:lstStyle/>
          <a:p>
            <a:pPr>
              <a:spcBef>
                <a:spcPts val="0"/>
              </a:spcBef>
            </a:pPr>
            <a:r>
              <a:rPr lang="en-US" altLang="zh-TW" dirty="0"/>
              <a:t>Increased associativity decreases miss rate</a:t>
            </a:r>
          </a:p>
          <a:p>
            <a:pPr lvl="1">
              <a:spcBef>
                <a:spcPts val="0"/>
              </a:spcBef>
            </a:pPr>
            <a:r>
              <a:rPr lang="en-US" altLang="zh-TW" dirty="0"/>
              <a:t>But with diminishing returns</a:t>
            </a:r>
          </a:p>
          <a:p>
            <a:pPr>
              <a:spcBef>
                <a:spcPts val="0"/>
              </a:spcBef>
            </a:pPr>
            <a:r>
              <a:rPr lang="en-US" altLang="zh-TW" dirty="0"/>
              <a:t>Simulation of a system with 64KB</a:t>
            </a:r>
            <a:br>
              <a:rPr lang="en-US" altLang="zh-TW" dirty="0"/>
            </a:br>
            <a:r>
              <a:rPr lang="en-US" altLang="zh-TW" dirty="0"/>
              <a:t>D-cache, 16-word blocks, SPEC2000</a:t>
            </a:r>
          </a:p>
          <a:p>
            <a:pPr lvl="1">
              <a:spcBef>
                <a:spcPts val="0"/>
              </a:spcBef>
            </a:pPr>
            <a:r>
              <a:rPr lang="en-US" altLang="zh-TW" dirty="0"/>
              <a:t>1-way: 10.3%</a:t>
            </a:r>
          </a:p>
          <a:p>
            <a:pPr lvl="1">
              <a:spcBef>
                <a:spcPts val="0"/>
              </a:spcBef>
            </a:pPr>
            <a:r>
              <a:rPr lang="en-US" altLang="zh-TW" dirty="0"/>
              <a:t>2-way: 8.6%</a:t>
            </a:r>
          </a:p>
          <a:p>
            <a:pPr lvl="1">
              <a:spcBef>
                <a:spcPts val="0"/>
              </a:spcBef>
            </a:pPr>
            <a:r>
              <a:rPr lang="en-US" altLang="zh-TW" dirty="0"/>
              <a:t>4-way: 8.3%</a:t>
            </a:r>
          </a:p>
          <a:p>
            <a:pPr lvl="1">
              <a:spcBef>
                <a:spcPts val="0"/>
              </a:spcBef>
            </a:pPr>
            <a:r>
              <a:rPr lang="en-US" altLang="zh-TW" dirty="0"/>
              <a:t>8-way: 8.1%</a:t>
            </a:r>
            <a:endParaRPr lang="en-AU" altLang="zh-TW" dirty="0">
              <a:ea typeface="新細明體" pitchFamily="18" charset="-120"/>
            </a:endParaRPr>
          </a:p>
        </p:txBody>
      </p:sp>
      <p:sp>
        <p:nvSpPr>
          <p:cNvPr id="5" name="Slide Number Placeholder 5">
            <a:extLst>
              <a:ext uri="{FF2B5EF4-FFF2-40B4-BE49-F238E27FC236}">
                <a16:creationId xmlns:a16="http://schemas.microsoft.com/office/drawing/2014/main" id="{6BA89DF4-E67F-4024-9E91-D638F6AD16F4}"/>
              </a:ext>
            </a:extLst>
          </p:cNvPr>
          <p:cNvSpPr>
            <a:spLocks noGrp="1"/>
          </p:cNvSpPr>
          <p:nvPr>
            <p:ph type="sldNum" sz="quarter" idx="10"/>
          </p:nvPr>
        </p:nvSpPr>
        <p:spPr>
          <a:xfrm>
            <a:off x="6831013" y="4893471"/>
            <a:ext cx="2133600" cy="254794"/>
          </a:xfrm>
        </p:spPr>
        <p:txBody>
          <a:bodyPr/>
          <a:lstStyle/>
          <a:p>
            <a:fld id="{D9B6BDF2-6896-4B98-8776-C18582F63BA5}" type="slidenum">
              <a:rPr lang="zh-TW" altLang="en-US" smtClean="0"/>
              <a:pPr/>
              <a:t>61</a:t>
            </a:fld>
            <a:endParaRPr lang="zh-TW" altLang="en-US"/>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2466" name="Picture 1026"/>
          <p:cNvPicPr>
            <a:picLocks noChangeArrowheads="1"/>
          </p:cNvPicPr>
          <p:nvPr/>
        </p:nvPicPr>
        <p:blipFill>
          <a:blip r:embed="rId2"/>
          <a:srcRect/>
          <a:stretch>
            <a:fillRect/>
          </a:stretch>
        </p:blipFill>
        <p:spPr bwMode="auto">
          <a:xfrm>
            <a:off x="604683" y="1238865"/>
            <a:ext cx="7809271" cy="3347883"/>
          </a:xfrm>
          <a:prstGeom prst="rect">
            <a:avLst/>
          </a:prstGeom>
          <a:noFill/>
          <a:ln w="12700">
            <a:noFill/>
            <a:miter lim="800000"/>
            <a:headEnd/>
            <a:tailEnd/>
          </a:ln>
        </p:spPr>
      </p:pic>
      <p:sp>
        <p:nvSpPr>
          <p:cNvPr id="62467" name="Rectangle 1027"/>
          <p:cNvSpPr>
            <a:spLocks noGrp="1" noChangeArrowheads="1"/>
          </p:cNvSpPr>
          <p:nvPr>
            <p:ph type="title"/>
          </p:nvPr>
        </p:nvSpPr>
        <p:spPr>
          <a:xfrm>
            <a:off x="995516" y="114300"/>
            <a:ext cx="6857847" cy="475635"/>
          </a:xfrm>
        </p:spPr>
        <p:txBody>
          <a:bodyPr/>
          <a:lstStyle/>
          <a:p>
            <a:r>
              <a:rPr lang="en-US" altLang="zh-TW" dirty="0"/>
              <a:t>A 4-Way Set-Associative Cache</a:t>
            </a:r>
          </a:p>
        </p:txBody>
      </p:sp>
      <p:sp>
        <p:nvSpPr>
          <p:cNvPr id="62468" name="Rectangle 1028"/>
          <p:cNvSpPr>
            <a:spLocks noGrp="1" noChangeArrowheads="1"/>
          </p:cNvSpPr>
          <p:nvPr>
            <p:ph type="body" idx="1"/>
          </p:nvPr>
        </p:nvSpPr>
        <p:spPr>
          <a:xfrm>
            <a:off x="992750" y="777210"/>
            <a:ext cx="7111489" cy="373164"/>
          </a:xfrm>
        </p:spPr>
        <p:txBody>
          <a:bodyPr/>
          <a:lstStyle/>
          <a:p>
            <a:pPr marL="214313" indent="-214313"/>
            <a:r>
              <a:rPr lang="en-US" altLang="zh-TW" sz="2000" dirty="0"/>
              <a:t>Increasing associativity shrinks index, expands tag</a:t>
            </a:r>
          </a:p>
        </p:txBody>
      </p:sp>
      <p:sp>
        <p:nvSpPr>
          <p:cNvPr id="6" name="Slide Number Placeholder 5">
            <a:extLst>
              <a:ext uri="{FF2B5EF4-FFF2-40B4-BE49-F238E27FC236}">
                <a16:creationId xmlns:a16="http://schemas.microsoft.com/office/drawing/2014/main" id="{AE62A7C5-FE29-4EEF-AF44-88DE2E3E8024}"/>
              </a:ext>
            </a:extLst>
          </p:cNvPr>
          <p:cNvSpPr>
            <a:spLocks noGrp="1"/>
          </p:cNvSpPr>
          <p:nvPr>
            <p:ph type="sldNum" sz="quarter" idx="10"/>
          </p:nvPr>
        </p:nvSpPr>
        <p:spPr>
          <a:xfrm>
            <a:off x="6831013" y="4893471"/>
            <a:ext cx="2133600" cy="254794"/>
          </a:xfrm>
        </p:spPr>
        <p:txBody>
          <a:bodyPr/>
          <a:lstStyle/>
          <a:p>
            <a:fld id="{D9B6BDF2-6896-4B98-8776-C18582F63BA5}" type="slidenum">
              <a:rPr lang="zh-TW" altLang="en-US" smtClean="0"/>
              <a:pPr/>
              <a:t>62</a:t>
            </a:fld>
            <a:endParaRPr lang="zh-TW" altLang="en-US"/>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8594" name="Rectangle 2"/>
          <p:cNvSpPr>
            <a:spLocks noGrp="1" noChangeArrowheads="1"/>
          </p:cNvSpPr>
          <p:nvPr>
            <p:ph type="title" idx="4294967295"/>
          </p:nvPr>
        </p:nvSpPr>
        <p:spPr>
          <a:xfrm>
            <a:off x="921775" y="129779"/>
            <a:ext cx="6807764" cy="467531"/>
          </a:xfrm>
        </p:spPr>
        <p:txBody>
          <a:bodyPr/>
          <a:lstStyle/>
          <a:p>
            <a:r>
              <a:rPr lang="en-US" altLang="zh-TW" sz="3200" dirty="0">
                <a:solidFill>
                  <a:srgbClr val="002060"/>
                </a:solidFill>
              </a:rPr>
              <a:t>Comparing Data Available Time</a:t>
            </a:r>
          </a:p>
        </p:txBody>
      </p:sp>
      <p:sp>
        <p:nvSpPr>
          <p:cNvPr id="238595" name="Rectangle 3"/>
          <p:cNvSpPr>
            <a:spLocks noGrp="1" noChangeArrowheads="1"/>
          </p:cNvSpPr>
          <p:nvPr>
            <p:ph type="body" idx="4294967295"/>
          </p:nvPr>
        </p:nvSpPr>
        <p:spPr>
          <a:xfrm>
            <a:off x="870154" y="844153"/>
            <a:ext cx="7816645" cy="3137912"/>
          </a:xfrm>
        </p:spPr>
        <p:txBody>
          <a:bodyPr/>
          <a:lstStyle/>
          <a:p>
            <a:r>
              <a:rPr lang="en-US" altLang="zh-TW" sz="2400" dirty="0">
                <a:cs typeface="Calibri" panose="020F0502020204030204" pitchFamily="34" charset="0"/>
              </a:rPr>
              <a:t>Direct mapped cache</a:t>
            </a:r>
          </a:p>
          <a:p>
            <a:pPr lvl="1"/>
            <a:r>
              <a:rPr lang="en-US" altLang="zh-TW" sz="2000" dirty="0">
                <a:cs typeface="Calibri" panose="020F0502020204030204" pitchFamily="34" charset="0"/>
              </a:rPr>
              <a:t>Cache block is available </a:t>
            </a:r>
            <a:r>
              <a:rPr lang="en-US" altLang="zh-TW" sz="2000" dirty="0">
                <a:solidFill>
                  <a:srgbClr val="FF0000"/>
                </a:solidFill>
                <a:cs typeface="Calibri" panose="020F0502020204030204" pitchFamily="34" charset="0"/>
              </a:rPr>
              <a:t>BEFORE</a:t>
            </a:r>
            <a:r>
              <a:rPr lang="en-US" altLang="zh-TW" sz="2000" dirty="0">
                <a:cs typeface="Calibri" panose="020F0502020204030204" pitchFamily="34" charset="0"/>
              </a:rPr>
              <a:t> Hit/Miss</a:t>
            </a:r>
          </a:p>
          <a:p>
            <a:pPr lvl="2"/>
            <a:r>
              <a:rPr lang="en-US" altLang="zh-TW" dirty="0">
                <a:latin typeface="Calibri" panose="020F0502020204030204" pitchFamily="34" charset="0"/>
                <a:cs typeface="Calibri" panose="020F0502020204030204" pitchFamily="34" charset="0"/>
              </a:rPr>
              <a:t>Possible to assume a hit and continue, recover later if miss</a:t>
            </a:r>
          </a:p>
          <a:p>
            <a:endParaRPr lang="en-US" altLang="zh-TW" sz="2400" dirty="0">
              <a:cs typeface="Calibri" panose="020F0502020204030204" pitchFamily="34" charset="0"/>
            </a:endParaRPr>
          </a:p>
          <a:p>
            <a:r>
              <a:rPr lang="en-US" altLang="zh-TW" sz="2400" i="1" dirty="0">
                <a:cs typeface="Calibri" panose="020F0502020204030204" pitchFamily="34" charset="0"/>
              </a:rPr>
              <a:t>N</a:t>
            </a:r>
            <a:r>
              <a:rPr lang="en-US" altLang="zh-TW" sz="2400" dirty="0">
                <a:cs typeface="Calibri" panose="020F0502020204030204" pitchFamily="34" charset="0"/>
              </a:rPr>
              <a:t>-way set-associative cache</a:t>
            </a:r>
          </a:p>
          <a:p>
            <a:pPr lvl="1"/>
            <a:r>
              <a:rPr lang="en-US" altLang="zh-TW" sz="2000" dirty="0">
                <a:cs typeface="Calibri" panose="020F0502020204030204" pitchFamily="34" charset="0"/>
              </a:rPr>
              <a:t>Data comes </a:t>
            </a:r>
            <a:r>
              <a:rPr lang="en-US" altLang="zh-TW" sz="2000" dirty="0">
                <a:solidFill>
                  <a:srgbClr val="FF0000"/>
                </a:solidFill>
                <a:cs typeface="Calibri" panose="020F0502020204030204" pitchFamily="34" charset="0"/>
              </a:rPr>
              <a:t>AFTER</a:t>
            </a:r>
            <a:r>
              <a:rPr lang="en-US" altLang="zh-TW" sz="2000" dirty="0">
                <a:cs typeface="Calibri" panose="020F0502020204030204" pitchFamily="34" charset="0"/>
              </a:rPr>
              <a:t> Hit/Miss decision</a:t>
            </a:r>
          </a:p>
          <a:p>
            <a:pPr lvl="1"/>
            <a:r>
              <a:rPr lang="en-US" altLang="zh-TW" sz="2000" dirty="0">
                <a:cs typeface="Calibri" panose="020F0502020204030204" pitchFamily="34" charset="0"/>
              </a:rPr>
              <a:t>Extra MUX delay for the data</a:t>
            </a:r>
          </a:p>
        </p:txBody>
      </p:sp>
      <p:sp>
        <p:nvSpPr>
          <p:cNvPr id="5" name="Slide Number Placeholder 5">
            <a:extLst>
              <a:ext uri="{FF2B5EF4-FFF2-40B4-BE49-F238E27FC236}">
                <a16:creationId xmlns:a16="http://schemas.microsoft.com/office/drawing/2014/main" id="{BA897895-0793-4F09-9796-0B90295FFC61}"/>
              </a:ext>
            </a:extLst>
          </p:cNvPr>
          <p:cNvSpPr>
            <a:spLocks noGrp="1"/>
          </p:cNvSpPr>
          <p:nvPr>
            <p:ph type="sldNum" sz="quarter" idx="10"/>
          </p:nvPr>
        </p:nvSpPr>
        <p:spPr>
          <a:xfrm>
            <a:off x="6831013" y="4893471"/>
            <a:ext cx="2133600" cy="254794"/>
          </a:xfrm>
        </p:spPr>
        <p:txBody>
          <a:bodyPr/>
          <a:lstStyle/>
          <a:p>
            <a:fld id="{D9B6BDF2-6896-4B98-8776-C18582F63BA5}" type="slidenum">
              <a:rPr lang="zh-TW" altLang="en-US" smtClean="0"/>
              <a:pPr/>
              <a:t>63</a:t>
            </a:fld>
            <a:endParaRPr lang="zh-TW" altLang="en-US"/>
          </a:p>
        </p:txBody>
      </p:sp>
    </p:spTree>
    <p:extLst>
      <p:ext uri="{BB962C8B-B14F-4D97-AF65-F5344CB8AC3E}">
        <p14:creationId xmlns:p14="http://schemas.microsoft.com/office/powerpoint/2010/main" val="3281535926"/>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2"/>
          <p:cNvSpPr>
            <a:spLocks noGrp="1" noChangeArrowheads="1"/>
          </p:cNvSpPr>
          <p:nvPr>
            <p:ph type="title"/>
          </p:nvPr>
        </p:nvSpPr>
        <p:spPr>
          <a:xfrm>
            <a:off x="988143" y="129779"/>
            <a:ext cx="6741396" cy="489653"/>
          </a:xfrm>
        </p:spPr>
        <p:txBody>
          <a:bodyPr/>
          <a:lstStyle/>
          <a:p>
            <a:r>
              <a:rPr lang="en-US" altLang="zh-TW" dirty="0"/>
              <a:t>Data Placement Policy</a:t>
            </a:r>
          </a:p>
        </p:txBody>
      </p:sp>
      <p:sp>
        <p:nvSpPr>
          <p:cNvPr id="63491" name="Rectangle 3"/>
          <p:cNvSpPr>
            <a:spLocks noGrp="1" noChangeArrowheads="1"/>
          </p:cNvSpPr>
          <p:nvPr>
            <p:ph type="body" idx="1"/>
          </p:nvPr>
        </p:nvSpPr>
        <p:spPr>
          <a:xfrm>
            <a:off x="1025012" y="844153"/>
            <a:ext cx="7661787" cy="3671888"/>
          </a:xfrm>
        </p:spPr>
        <p:txBody>
          <a:bodyPr/>
          <a:lstStyle/>
          <a:p>
            <a:pPr>
              <a:lnSpc>
                <a:spcPct val="80000"/>
              </a:lnSpc>
            </a:pPr>
            <a:r>
              <a:rPr lang="en-US" altLang="zh-TW" sz="2000" dirty="0"/>
              <a:t>Direct mapped cache</a:t>
            </a:r>
          </a:p>
          <a:p>
            <a:pPr lvl="1">
              <a:lnSpc>
                <a:spcPct val="80000"/>
              </a:lnSpc>
            </a:pPr>
            <a:r>
              <a:rPr lang="en-US" altLang="zh-TW" sz="1800" dirty="0"/>
              <a:t>Each memory block mapped to one location</a:t>
            </a:r>
          </a:p>
          <a:p>
            <a:pPr lvl="1">
              <a:lnSpc>
                <a:spcPct val="80000"/>
              </a:lnSpc>
            </a:pPr>
            <a:r>
              <a:rPr lang="en-US" altLang="zh-TW" sz="1800" dirty="0"/>
              <a:t>No need to make any decision</a:t>
            </a:r>
          </a:p>
          <a:p>
            <a:pPr lvl="1">
              <a:lnSpc>
                <a:spcPct val="80000"/>
              </a:lnSpc>
            </a:pPr>
            <a:r>
              <a:rPr lang="en-US" altLang="zh-TW" sz="1800" dirty="0"/>
              <a:t>Current item replaces previous one in location</a:t>
            </a:r>
          </a:p>
          <a:p>
            <a:pPr>
              <a:lnSpc>
                <a:spcPct val="80000"/>
              </a:lnSpc>
            </a:pPr>
            <a:r>
              <a:rPr lang="en-US" altLang="zh-TW" sz="2000" i="1" dirty="0"/>
              <a:t>N</a:t>
            </a:r>
            <a:r>
              <a:rPr lang="en-US" altLang="zh-TW" sz="2000" dirty="0"/>
              <a:t>-way set associative cache</a:t>
            </a:r>
          </a:p>
          <a:p>
            <a:pPr lvl="1">
              <a:lnSpc>
                <a:spcPct val="80000"/>
              </a:lnSpc>
            </a:pPr>
            <a:r>
              <a:rPr lang="en-US" altLang="zh-TW" sz="1800" dirty="0"/>
              <a:t>Each memory block has choice of </a:t>
            </a:r>
            <a:r>
              <a:rPr lang="en-US" altLang="zh-TW" sz="1800" i="1" dirty="0"/>
              <a:t>N</a:t>
            </a:r>
            <a:r>
              <a:rPr lang="en-US" altLang="zh-TW" sz="1800" dirty="0"/>
              <a:t> locations</a:t>
            </a:r>
          </a:p>
          <a:p>
            <a:pPr>
              <a:lnSpc>
                <a:spcPct val="80000"/>
              </a:lnSpc>
            </a:pPr>
            <a:r>
              <a:rPr lang="en-US" altLang="zh-TW" sz="2000" dirty="0"/>
              <a:t>Fully associative cache</a:t>
            </a:r>
          </a:p>
          <a:p>
            <a:pPr lvl="1">
              <a:lnSpc>
                <a:spcPct val="80000"/>
              </a:lnSpc>
            </a:pPr>
            <a:r>
              <a:rPr lang="en-US" altLang="zh-TW" sz="1800" dirty="0"/>
              <a:t>Each memory block can be placed in </a:t>
            </a:r>
            <a:r>
              <a:rPr lang="en-US" altLang="zh-TW" sz="1800" dirty="0">
                <a:solidFill>
                  <a:srgbClr val="FF0000"/>
                </a:solidFill>
              </a:rPr>
              <a:t>ANY</a:t>
            </a:r>
            <a:r>
              <a:rPr lang="en-US" altLang="zh-TW" sz="1800" dirty="0"/>
              <a:t> cache location</a:t>
            </a:r>
          </a:p>
          <a:p>
            <a:pPr>
              <a:lnSpc>
                <a:spcPct val="80000"/>
              </a:lnSpc>
            </a:pPr>
            <a:r>
              <a:rPr lang="en-US" altLang="zh-TW" sz="2000" dirty="0"/>
              <a:t>Misses in </a:t>
            </a:r>
            <a:r>
              <a:rPr lang="en-US" altLang="zh-TW" sz="2000" i="1" dirty="0"/>
              <a:t>N</a:t>
            </a:r>
            <a:r>
              <a:rPr lang="en-US" altLang="zh-TW" sz="2000" dirty="0"/>
              <a:t>-way set-associative or fully associative cache</a:t>
            </a:r>
          </a:p>
          <a:p>
            <a:pPr lvl="1">
              <a:lnSpc>
                <a:spcPct val="80000"/>
              </a:lnSpc>
            </a:pPr>
            <a:r>
              <a:rPr lang="en-US" altLang="zh-TW" sz="1800" dirty="0"/>
              <a:t>Bring in new block from memory</a:t>
            </a:r>
          </a:p>
          <a:p>
            <a:pPr lvl="1">
              <a:lnSpc>
                <a:spcPct val="80000"/>
              </a:lnSpc>
            </a:pPr>
            <a:r>
              <a:rPr lang="en-US" altLang="zh-TW" sz="1800" dirty="0"/>
              <a:t>Throw out a block to make room for new block</a:t>
            </a:r>
          </a:p>
          <a:p>
            <a:pPr lvl="1">
              <a:lnSpc>
                <a:spcPct val="80000"/>
              </a:lnSpc>
            </a:pPr>
            <a:r>
              <a:rPr lang="en-US" altLang="zh-TW" sz="1800" dirty="0"/>
              <a:t>Need to decide on which block to throw out</a:t>
            </a:r>
          </a:p>
        </p:txBody>
      </p:sp>
      <p:sp>
        <p:nvSpPr>
          <p:cNvPr id="5" name="Slide Number Placeholder 5">
            <a:extLst>
              <a:ext uri="{FF2B5EF4-FFF2-40B4-BE49-F238E27FC236}">
                <a16:creationId xmlns:a16="http://schemas.microsoft.com/office/drawing/2014/main" id="{879F245F-9E15-4C40-B0DF-43822F3C7B59}"/>
              </a:ext>
            </a:extLst>
          </p:cNvPr>
          <p:cNvSpPr>
            <a:spLocks noGrp="1"/>
          </p:cNvSpPr>
          <p:nvPr>
            <p:ph type="sldNum" sz="quarter" idx="10"/>
          </p:nvPr>
        </p:nvSpPr>
        <p:spPr>
          <a:xfrm>
            <a:off x="6831013" y="4893471"/>
            <a:ext cx="2133600" cy="254794"/>
          </a:xfrm>
        </p:spPr>
        <p:txBody>
          <a:bodyPr/>
          <a:lstStyle/>
          <a:p>
            <a:fld id="{D9B6BDF2-6896-4B98-8776-C18582F63BA5}" type="slidenum">
              <a:rPr lang="zh-TW" altLang="en-US" smtClean="0"/>
              <a:pPr/>
              <a:t>64</a:t>
            </a:fld>
            <a:endParaRPr lang="zh-TW" altLang="en-US"/>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1026"/>
          <p:cNvSpPr>
            <a:spLocks noGrp="1" noChangeArrowheads="1"/>
          </p:cNvSpPr>
          <p:nvPr>
            <p:ph type="title"/>
          </p:nvPr>
        </p:nvSpPr>
        <p:spPr>
          <a:xfrm>
            <a:off x="936523" y="129780"/>
            <a:ext cx="6793015" cy="460156"/>
          </a:xfrm>
        </p:spPr>
        <p:txBody>
          <a:bodyPr/>
          <a:lstStyle/>
          <a:p>
            <a:r>
              <a:rPr lang="en-US" altLang="zh-TW" dirty="0"/>
              <a:t>Cache Block Replacement</a:t>
            </a:r>
          </a:p>
        </p:txBody>
      </p:sp>
      <p:sp>
        <p:nvSpPr>
          <p:cNvPr id="64515" name="Rectangle 1027"/>
          <p:cNvSpPr>
            <a:spLocks noGrp="1" noChangeArrowheads="1"/>
          </p:cNvSpPr>
          <p:nvPr>
            <p:ph type="body" idx="1"/>
          </p:nvPr>
        </p:nvSpPr>
        <p:spPr>
          <a:xfrm>
            <a:off x="966018" y="844153"/>
            <a:ext cx="7521679" cy="3671888"/>
          </a:xfrm>
        </p:spPr>
        <p:txBody>
          <a:bodyPr/>
          <a:lstStyle/>
          <a:p>
            <a:r>
              <a:rPr lang="en-US" altLang="zh-TW" sz="2000" dirty="0"/>
              <a:t>Direct mapped: No choice</a:t>
            </a:r>
          </a:p>
          <a:p>
            <a:r>
              <a:rPr lang="en-US" altLang="zh-TW" sz="2000" dirty="0"/>
              <a:t>Set associative or fully associative</a:t>
            </a:r>
          </a:p>
          <a:p>
            <a:pPr lvl="1"/>
            <a:r>
              <a:rPr lang="en-US" altLang="zh-TW" sz="1800" dirty="0"/>
              <a:t>Random</a:t>
            </a:r>
          </a:p>
          <a:p>
            <a:pPr lvl="1"/>
            <a:r>
              <a:rPr lang="en-US" altLang="zh-TW" sz="1800" dirty="0"/>
              <a:t>LRU (Least Recently Used)</a:t>
            </a:r>
          </a:p>
          <a:p>
            <a:pPr lvl="2"/>
            <a:r>
              <a:rPr lang="en-US" altLang="zh-TW" sz="1600" dirty="0"/>
              <a:t>Hardware keeps track of the access history and replace the block that has not been used for the longest time</a:t>
            </a:r>
          </a:p>
          <a:p>
            <a:pPr lvl="1"/>
            <a:r>
              <a:rPr lang="en-US" altLang="zh-TW" sz="1800" dirty="0"/>
              <a:t>An example of a pseudo LRU (for a two-way set associative) </a:t>
            </a:r>
          </a:p>
          <a:p>
            <a:pPr lvl="2"/>
            <a:r>
              <a:rPr lang="en-US" altLang="zh-TW" sz="1600" dirty="0"/>
              <a:t>Use a pointer pointing at each block in turn</a:t>
            </a:r>
          </a:p>
          <a:p>
            <a:pPr lvl="2"/>
            <a:r>
              <a:rPr lang="en-US" altLang="zh-TW" sz="1600" dirty="0"/>
              <a:t>Whenever an access to the block the pointer is pointing at, move the pointer to the next block</a:t>
            </a:r>
          </a:p>
          <a:p>
            <a:pPr lvl="2"/>
            <a:r>
              <a:rPr lang="en-US" altLang="zh-TW" sz="1600" dirty="0"/>
              <a:t>When need to replace, replace the block currently pointed at</a:t>
            </a:r>
          </a:p>
          <a:p>
            <a:endParaRPr lang="en-US" altLang="zh-TW" sz="1650" dirty="0"/>
          </a:p>
        </p:txBody>
      </p:sp>
      <p:sp>
        <p:nvSpPr>
          <p:cNvPr id="5" name="Slide Number Placeholder 5">
            <a:extLst>
              <a:ext uri="{FF2B5EF4-FFF2-40B4-BE49-F238E27FC236}">
                <a16:creationId xmlns:a16="http://schemas.microsoft.com/office/drawing/2014/main" id="{6884E1A3-2848-4596-BD93-A94A260D1478}"/>
              </a:ext>
            </a:extLst>
          </p:cNvPr>
          <p:cNvSpPr>
            <a:spLocks noGrp="1"/>
          </p:cNvSpPr>
          <p:nvPr>
            <p:ph type="sldNum" sz="quarter" idx="10"/>
          </p:nvPr>
        </p:nvSpPr>
        <p:spPr>
          <a:xfrm>
            <a:off x="6831013" y="4900845"/>
            <a:ext cx="2133600" cy="254794"/>
          </a:xfrm>
        </p:spPr>
        <p:txBody>
          <a:bodyPr/>
          <a:lstStyle/>
          <a:p>
            <a:fld id="{D9B6BDF2-6896-4B98-8776-C18582F63BA5}" type="slidenum">
              <a:rPr lang="zh-TW" altLang="en-US" smtClean="0"/>
              <a:pPr/>
              <a:t>65</a:t>
            </a:fld>
            <a:endParaRPr lang="zh-TW" altLang="en-US"/>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2"/>
          <p:cNvSpPr>
            <a:spLocks noGrp="1" noChangeArrowheads="1"/>
          </p:cNvSpPr>
          <p:nvPr>
            <p:ph type="title"/>
          </p:nvPr>
        </p:nvSpPr>
        <p:spPr>
          <a:xfrm>
            <a:off x="943897" y="129779"/>
            <a:ext cx="6785641" cy="474905"/>
          </a:xfrm>
        </p:spPr>
        <p:txBody>
          <a:bodyPr/>
          <a:lstStyle/>
          <a:p>
            <a:r>
              <a:rPr lang="en-US" altLang="zh-TW" dirty="0"/>
              <a:t>Comparison of the Structures</a:t>
            </a:r>
          </a:p>
        </p:txBody>
      </p:sp>
      <p:sp>
        <p:nvSpPr>
          <p:cNvPr id="65539" name="Rectangle 3"/>
          <p:cNvSpPr>
            <a:spLocks noGrp="1" noChangeArrowheads="1"/>
          </p:cNvSpPr>
          <p:nvPr>
            <p:ph type="body" idx="1"/>
          </p:nvPr>
        </p:nvSpPr>
        <p:spPr>
          <a:xfrm>
            <a:off x="943896" y="844153"/>
            <a:ext cx="7742903" cy="2665963"/>
          </a:xfrm>
        </p:spPr>
        <p:txBody>
          <a:bodyPr/>
          <a:lstStyle/>
          <a:p>
            <a:r>
              <a:rPr lang="en-US" altLang="zh-TW" sz="2000" i="1" dirty="0"/>
              <a:t>N</a:t>
            </a:r>
            <a:r>
              <a:rPr lang="en-US" altLang="zh-TW" sz="2000" dirty="0"/>
              <a:t>-way set-associative cache</a:t>
            </a:r>
          </a:p>
          <a:p>
            <a:pPr lvl="1"/>
            <a:r>
              <a:rPr lang="en-US" altLang="zh-TW" sz="1800" i="1" dirty="0"/>
              <a:t>N</a:t>
            </a:r>
            <a:r>
              <a:rPr lang="en-US" altLang="zh-TW" sz="1800" dirty="0"/>
              <a:t> comparators vs. 1</a:t>
            </a:r>
          </a:p>
          <a:p>
            <a:pPr lvl="1"/>
            <a:r>
              <a:rPr lang="en-US" altLang="zh-TW" sz="1800" dirty="0"/>
              <a:t>Extra MUX delay for the data</a:t>
            </a:r>
          </a:p>
          <a:p>
            <a:pPr lvl="1"/>
            <a:r>
              <a:rPr lang="en-US" altLang="zh-TW" sz="1800" dirty="0"/>
              <a:t>Data comes </a:t>
            </a:r>
            <a:r>
              <a:rPr lang="en-US" altLang="zh-TW" sz="1800" dirty="0">
                <a:solidFill>
                  <a:srgbClr val="FF0000"/>
                </a:solidFill>
              </a:rPr>
              <a:t>AFTER</a:t>
            </a:r>
            <a:r>
              <a:rPr lang="en-US" altLang="zh-TW" sz="1800" dirty="0"/>
              <a:t> Hit/Miss decision and set selection</a:t>
            </a:r>
          </a:p>
          <a:p>
            <a:r>
              <a:rPr lang="en-US" altLang="zh-TW" sz="2000" dirty="0"/>
              <a:t>Direct mapped cache</a:t>
            </a:r>
          </a:p>
          <a:p>
            <a:pPr lvl="1"/>
            <a:r>
              <a:rPr lang="en-US" altLang="zh-TW" sz="1800" dirty="0"/>
              <a:t>Cache block is available </a:t>
            </a:r>
            <a:r>
              <a:rPr lang="en-US" altLang="zh-TW" sz="1800" dirty="0">
                <a:solidFill>
                  <a:srgbClr val="FF0000"/>
                </a:solidFill>
              </a:rPr>
              <a:t>BEFORE</a:t>
            </a:r>
            <a:r>
              <a:rPr lang="en-US" altLang="zh-TW" sz="1800" dirty="0"/>
              <a:t> Hit/Miss</a:t>
            </a:r>
          </a:p>
          <a:p>
            <a:pPr lvl="2"/>
            <a:r>
              <a:rPr lang="en-US" altLang="zh-TW" sz="1600" dirty="0"/>
              <a:t>Possible to assume a hit and continue, recover later if miss</a:t>
            </a:r>
          </a:p>
        </p:txBody>
      </p:sp>
      <p:sp>
        <p:nvSpPr>
          <p:cNvPr id="5" name="Slide Number Placeholder 5">
            <a:extLst>
              <a:ext uri="{FF2B5EF4-FFF2-40B4-BE49-F238E27FC236}">
                <a16:creationId xmlns:a16="http://schemas.microsoft.com/office/drawing/2014/main" id="{67454050-8839-4C4F-A80E-EE9B07F51969}"/>
              </a:ext>
            </a:extLst>
          </p:cNvPr>
          <p:cNvSpPr>
            <a:spLocks noGrp="1"/>
          </p:cNvSpPr>
          <p:nvPr>
            <p:ph type="sldNum" sz="quarter" idx="10"/>
          </p:nvPr>
        </p:nvSpPr>
        <p:spPr>
          <a:xfrm>
            <a:off x="6831013" y="4893471"/>
            <a:ext cx="2133600" cy="254794"/>
          </a:xfrm>
        </p:spPr>
        <p:txBody>
          <a:bodyPr/>
          <a:lstStyle/>
          <a:p>
            <a:fld id="{D9B6BDF2-6896-4B98-8776-C18582F63BA5}" type="slidenum">
              <a:rPr lang="zh-TW" altLang="en-US" smtClean="0"/>
              <a:pPr/>
              <a:t>66</a:t>
            </a:fld>
            <a:endParaRPr lang="zh-TW" altLang="en-US"/>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a:xfrm>
            <a:off x="950259" y="129780"/>
            <a:ext cx="6779279" cy="470856"/>
          </a:xfrm>
        </p:spPr>
        <p:txBody>
          <a:bodyPr/>
          <a:lstStyle/>
          <a:p>
            <a:r>
              <a:rPr lang="en-US" altLang="zh-TW" dirty="0"/>
              <a:t>Outline</a:t>
            </a:r>
          </a:p>
        </p:txBody>
      </p:sp>
      <p:sp>
        <p:nvSpPr>
          <p:cNvPr id="7171" name="Rectangle 3"/>
          <p:cNvSpPr>
            <a:spLocks noGrp="1" noChangeArrowheads="1"/>
          </p:cNvSpPr>
          <p:nvPr>
            <p:ph type="body" idx="1"/>
          </p:nvPr>
        </p:nvSpPr>
        <p:spPr>
          <a:xfrm>
            <a:off x="1414463" y="832248"/>
            <a:ext cx="6506766" cy="3703894"/>
          </a:xfrm>
        </p:spPr>
        <p:txBody>
          <a:bodyPr/>
          <a:lstStyle/>
          <a:p>
            <a:r>
              <a:rPr lang="en-US" altLang="zh-TW" sz="2000" dirty="0"/>
              <a:t>Memory hierarchy</a:t>
            </a:r>
          </a:p>
          <a:p>
            <a:r>
              <a:rPr lang="en-US" altLang="zh-TW" sz="2000" dirty="0"/>
              <a:t>The basics of caches</a:t>
            </a:r>
          </a:p>
          <a:p>
            <a:pPr lvl="1"/>
            <a:r>
              <a:rPr lang="en-US" altLang="zh-TW" sz="1800" dirty="0"/>
              <a:t>Direct-mapped cache</a:t>
            </a:r>
          </a:p>
          <a:p>
            <a:pPr lvl="1"/>
            <a:r>
              <a:rPr lang="en-US" altLang="zh-TW" sz="1800" dirty="0"/>
              <a:t>Address sub-division</a:t>
            </a:r>
          </a:p>
          <a:p>
            <a:pPr lvl="1"/>
            <a:r>
              <a:rPr lang="en-US" altLang="zh-TW" sz="1800" dirty="0"/>
              <a:t>Cache hit and miss</a:t>
            </a:r>
          </a:p>
          <a:p>
            <a:pPr lvl="1"/>
            <a:r>
              <a:rPr lang="en-US" altLang="zh-TW" sz="1800" dirty="0"/>
              <a:t>Memory support</a:t>
            </a:r>
          </a:p>
          <a:p>
            <a:r>
              <a:rPr lang="en-US" altLang="zh-TW" sz="2000" dirty="0"/>
              <a:t>Measuring cache performance</a:t>
            </a:r>
          </a:p>
          <a:p>
            <a:r>
              <a:rPr lang="en-US" altLang="zh-TW" sz="2000" dirty="0"/>
              <a:t>Improving cache performance</a:t>
            </a:r>
          </a:p>
          <a:p>
            <a:pPr lvl="1"/>
            <a:r>
              <a:rPr lang="en-US" altLang="zh-TW" sz="1800" dirty="0">
                <a:solidFill>
                  <a:srgbClr val="002060"/>
                </a:solidFill>
              </a:rPr>
              <a:t>Set associative cache</a:t>
            </a:r>
          </a:p>
          <a:p>
            <a:pPr lvl="1"/>
            <a:r>
              <a:rPr lang="en-US" altLang="zh-TW" sz="1800" dirty="0">
                <a:solidFill>
                  <a:srgbClr val="FF0000"/>
                </a:solidFill>
              </a:rPr>
              <a:t>Multiple level cache</a:t>
            </a:r>
          </a:p>
        </p:txBody>
      </p:sp>
      <p:sp>
        <p:nvSpPr>
          <p:cNvPr id="5" name="Slide Number Placeholder 5">
            <a:extLst>
              <a:ext uri="{FF2B5EF4-FFF2-40B4-BE49-F238E27FC236}">
                <a16:creationId xmlns:a16="http://schemas.microsoft.com/office/drawing/2014/main" id="{FBEC8137-9B2A-4301-83A7-D595AE649AAE}"/>
              </a:ext>
            </a:extLst>
          </p:cNvPr>
          <p:cNvSpPr>
            <a:spLocks noGrp="1"/>
          </p:cNvSpPr>
          <p:nvPr>
            <p:ph type="sldNum" sz="quarter" idx="10"/>
          </p:nvPr>
        </p:nvSpPr>
        <p:spPr>
          <a:xfrm>
            <a:off x="6831013" y="4893471"/>
            <a:ext cx="2133600" cy="254794"/>
          </a:xfrm>
        </p:spPr>
        <p:txBody>
          <a:bodyPr/>
          <a:lstStyle/>
          <a:p>
            <a:fld id="{D9B6BDF2-6896-4B98-8776-C18582F63BA5}" type="slidenum">
              <a:rPr lang="zh-TW" altLang="en-US" smtClean="0"/>
              <a:pPr/>
              <a:t>67</a:t>
            </a:fld>
            <a:endParaRPr lang="zh-TW" altLang="en-US" dirty="0"/>
          </a:p>
        </p:txBody>
      </p:sp>
    </p:spTree>
    <p:extLst>
      <p:ext uri="{BB962C8B-B14F-4D97-AF65-F5344CB8AC3E}">
        <p14:creationId xmlns:p14="http://schemas.microsoft.com/office/powerpoint/2010/main" val="428415693"/>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2"/>
          <p:cNvSpPr>
            <a:spLocks noGrp="1" noChangeArrowheads="1"/>
          </p:cNvSpPr>
          <p:nvPr>
            <p:ph type="title"/>
          </p:nvPr>
        </p:nvSpPr>
        <p:spPr>
          <a:xfrm>
            <a:off x="914401" y="129779"/>
            <a:ext cx="6815138" cy="467531"/>
          </a:xfrm>
        </p:spPr>
        <p:txBody>
          <a:bodyPr/>
          <a:lstStyle/>
          <a:p>
            <a:r>
              <a:rPr lang="en-US" altLang="zh-TW" dirty="0"/>
              <a:t>Multilevel Caches</a:t>
            </a:r>
            <a:endParaRPr lang="en-AU" altLang="zh-TW" dirty="0">
              <a:ea typeface="新細明體" pitchFamily="18" charset="-120"/>
            </a:endParaRPr>
          </a:p>
        </p:txBody>
      </p:sp>
      <p:sp>
        <p:nvSpPr>
          <p:cNvPr id="66563" name="Rectangle 3"/>
          <p:cNvSpPr>
            <a:spLocks noGrp="1" noChangeArrowheads="1"/>
          </p:cNvSpPr>
          <p:nvPr>
            <p:ph type="body" idx="1"/>
          </p:nvPr>
        </p:nvSpPr>
        <p:spPr>
          <a:xfrm>
            <a:off x="943896" y="844153"/>
            <a:ext cx="7742903" cy="3671888"/>
          </a:xfrm>
        </p:spPr>
        <p:txBody>
          <a:bodyPr/>
          <a:lstStyle/>
          <a:p>
            <a:r>
              <a:rPr lang="en-US" altLang="zh-TW" sz="2100" dirty="0"/>
              <a:t>Primary cache attached to CPU</a:t>
            </a:r>
          </a:p>
          <a:p>
            <a:pPr lvl="1"/>
            <a:r>
              <a:rPr lang="en-US" altLang="zh-TW" sz="1950" dirty="0"/>
              <a:t>Small, but fast</a:t>
            </a:r>
          </a:p>
          <a:p>
            <a:r>
              <a:rPr lang="en-US" altLang="zh-TW" sz="2100" dirty="0"/>
              <a:t>Level-2 cache services misses from primary cache</a:t>
            </a:r>
          </a:p>
          <a:p>
            <a:pPr lvl="1"/>
            <a:r>
              <a:rPr lang="en-US" altLang="zh-TW" sz="1950" dirty="0"/>
              <a:t>Larger, slower, but still faster than main memory</a:t>
            </a:r>
          </a:p>
          <a:p>
            <a:r>
              <a:rPr lang="en-US" altLang="zh-TW" sz="2100" dirty="0"/>
              <a:t>Main memory services L-2 cache misses</a:t>
            </a:r>
          </a:p>
          <a:p>
            <a:r>
              <a:rPr lang="en-US" altLang="zh-TW" sz="2100" dirty="0"/>
              <a:t>Some high-end systems include L-3 cache</a:t>
            </a:r>
            <a:endParaRPr lang="en-AU" altLang="zh-TW" sz="2100" dirty="0"/>
          </a:p>
        </p:txBody>
      </p:sp>
      <p:sp>
        <p:nvSpPr>
          <p:cNvPr id="5" name="Slide Number Placeholder 5">
            <a:extLst>
              <a:ext uri="{FF2B5EF4-FFF2-40B4-BE49-F238E27FC236}">
                <a16:creationId xmlns:a16="http://schemas.microsoft.com/office/drawing/2014/main" id="{D3836BB1-4BE2-4810-B20F-13906E005DDE}"/>
              </a:ext>
            </a:extLst>
          </p:cNvPr>
          <p:cNvSpPr>
            <a:spLocks noGrp="1"/>
          </p:cNvSpPr>
          <p:nvPr>
            <p:ph type="sldNum" sz="quarter" idx="10"/>
          </p:nvPr>
        </p:nvSpPr>
        <p:spPr>
          <a:xfrm>
            <a:off x="6831013" y="4893471"/>
            <a:ext cx="2133600" cy="254794"/>
          </a:xfrm>
        </p:spPr>
        <p:txBody>
          <a:bodyPr/>
          <a:lstStyle/>
          <a:p>
            <a:fld id="{D9B6BDF2-6896-4B98-8776-C18582F63BA5}" type="slidenum">
              <a:rPr lang="zh-TW" altLang="en-US" smtClean="0"/>
              <a:pPr/>
              <a:t>68</a:t>
            </a:fld>
            <a:endParaRPr lang="zh-TW" altLang="en-US"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2"/>
          <p:cNvSpPr>
            <a:spLocks noGrp="1" noChangeArrowheads="1"/>
          </p:cNvSpPr>
          <p:nvPr>
            <p:ph type="title"/>
          </p:nvPr>
        </p:nvSpPr>
        <p:spPr>
          <a:xfrm>
            <a:off x="966019" y="129779"/>
            <a:ext cx="6763519" cy="497027"/>
          </a:xfrm>
        </p:spPr>
        <p:txBody>
          <a:bodyPr/>
          <a:lstStyle/>
          <a:p>
            <a:r>
              <a:rPr lang="en-US" altLang="zh-TW" dirty="0"/>
              <a:t>Multilevel Cache Example (1)</a:t>
            </a:r>
            <a:endParaRPr lang="en-AU" altLang="zh-TW" dirty="0">
              <a:ea typeface="新細明體" pitchFamily="18" charset="-120"/>
            </a:endParaRPr>
          </a:p>
        </p:txBody>
      </p:sp>
      <p:sp>
        <p:nvSpPr>
          <p:cNvPr id="726019" name="Rectangle 3"/>
          <p:cNvSpPr>
            <a:spLocks noGrp="1" noChangeArrowheads="1"/>
          </p:cNvSpPr>
          <p:nvPr>
            <p:ph type="body" idx="1"/>
          </p:nvPr>
        </p:nvSpPr>
        <p:spPr>
          <a:xfrm>
            <a:off x="966020" y="844153"/>
            <a:ext cx="7720780" cy="3671888"/>
          </a:xfrm>
        </p:spPr>
        <p:txBody>
          <a:bodyPr/>
          <a:lstStyle/>
          <a:p>
            <a:r>
              <a:rPr lang="en-US" altLang="zh-TW" sz="2100" dirty="0"/>
              <a:t>Given</a:t>
            </a:r>
          </a:p>
          <a:p>
            <a:pPr lvl="1"/>
            <a:r>
              <a:rPr lang="en-US" altLang="zh-TW" sz="1950" dirty="0"/>
              <a:t>CPU base CPI = 1, clock rate = 4GHz</a:t>
            </a:r>
          </a:p>
          <a:p>
            <a:pPr lvl="1"/>
            <a:r>
              <a:rPr lang="en-US" altLang="zh-TW" sz="1950" dirty="0"/>
              <a:t>Miss rate/instruction = 2%</a:t>
            </a:r>
          </a:p>
          <a:p>
            <a:pPr lvl="1"/>
            <a:r>
              <a:rPr lang="en-US" altLang="zh-TW" sz="1950" dirty="0"/>
              <a:t>Main memory access time = 100ns</a:t>
            </a:r>
          </a:p>
          <a:p>
            <a:r>
              <a:rPr lang="en-US" altLang="zh-TW" sz="2100" dirty="0"/>
              <a:t>With just primary cache</a:t>
            </a:r>
          </a:p>
          <a:p>
            <a:pPr lvl="1"/>
            <a:r>
              <a:rPr lang="en-US" altLang="zh-TW" sz="1950" dirty="0"/>
              <a:t>Miss penalty = 100ns/0.25ns = 400 cycles</a:t>
            </a:r>
          </a:p>
          <a:p>
            <a:pPr lvl="1"/>
            <a:r>
              <a:rPr lang="en-US" altLang="zh-TW" sz="1950" dirty="0"/>
              <a:t>Effective CPI = 1 + 0.02 × 400 = 9</a:t>
            </a:r>
          </a:p>
        </p:txBody>
      </p:sp>
      <p:sp>
        <p:nvSpPr>
          <p:cNvPr id="5" name="Slide Number Placeholder 5">
            <a:extLst>
              <a:ext uri="{FF2B5EF4-FFF2-40B4-BE49-F238E27FC236}">
                <a16:creationId xmlns:a16="http://schemas.microsoft.com/office/drawing/2014/main" id="{8BBD4F3C-DD07-4F23-876F-FED078E6EEE2}"/>
              </a:ext>
            </a:extLst>
          </p:cNvPr>
          <p:cNvSpPr>
            <a:spLocks noGrp="1"/>
          </p:cNvSpPr>
          <p:nvPr>
            <p:ph type="sldNum" sz="quarter" idx="10"/>
          </p:nvPr>
        </p:nvSpPr>
        <p:spPr>
          <a:xfrm>
            <a:off x="6831013" y="4893471"/>
            <a:ext cx="2133600" cy="254794"/>
          </a:xfrm>
        </p:spPr>
        <p:txBody>
          <a:bodyPr/>
          <a:lstStyle/>
          <a:p>
            <a:fld id="{D9B6BDF2-6896-4B98-8776-C18582F63BA5}" type="slidenum">
              <a:rPr lang="zh-TW" altLang="en-US" smtClean="0"/>
              <a:pPr/>
              <a:t>69</a:t>
            </a:fld>
            <a:endParaRPr lang="zh-TW" altLang="en-US"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p:cNvSpPr>
            <a:spLocks noGrp="1" noChangeArrowheads="1"/>
          </p:cNvSpPr>
          <p:nvPr>
            <p:ph type="title"/>
          </p:nvPr>
        </p:nvSpPr>
        <p:spPr>
          <a:xfrm>
            <a:off x="936523" y="129779"/>
            <a:ext cx="6793015" cy="474905"/>
          </a:xfrm>
        </p:spPr>
        <p:txBody>
          <a:bodyPr/>
          <a:lstStyle/>
          <a:p>
            <a:r>
              <a:rPr lang="en-US" altLang="zh-TW" dirty="0"/>
              <a:t>Multilevel Cache Example (2)</a:t>
            </a:r>
            <a:endParaRPr lang="en-AU" altLang="zh-TW" dirty="0">
              <a:ea typeface="新細明體" pitchFamily="18" charset="-120"/>
            </a:endParaRPr>
          </a:p>
        </p:txBody>
      </p:sp>
      <p:sp>
        <p:nvSpPr>
          <p:cNvPr id="72707" name="Rectangle 3"/>
          <p:cNvSpPr>
            <a:spLocks noGrp="1" noChangeArrowheads="1"/>
          </p:cNvSpPr>
          <p:nvPr>
            <p:ph type="body" idx="1"/>
          </p:nvPr>
        </p:nvSpPr>
        <p:spPr>
          <a:xfrm>
            <a:off x="1001508" y="798565"/>
            <a:ext cx="6872288" cy="3692319"/>
          </a:xfrm>
        </p:spPr>
        <p:txBody>
          <a:bodyPr/>
          <a:lstStyle/>
          <a:p>
            <a:r>
              <a:rPr lang="en-US" altLang="zh-TW" sz="2000" dirty="0"/>
              <a:t>Now add L-2 cache</a:t>
            </a:r>
          </a:p>
          <a:p>
            <a:pPr lvl="1"/>
            <a:r>
              <a:rPr lang="en-US" altLang="zh-TW" sz="1800" dirty="0"/>
              <a:t>L-1 miss rate to L-2 = 2% (with one cache: to M)</a:t>
            </a:r>
          </a:p>
          <a:p>
            <a:pPr lvl="1"/>
            <a:r>
              <a:rPr lang="en-US" altLang="zh-TW" sz="1800" dirty="0"/>
              <a:t>L-2 access time = 5ns (to M: 100ns)</a:t>
            </a:r>
          </a:p>
          <a:p>
            <a:pPr lvl="1"/>
            <a:r>
              <a:rPr lang="en-US" altLang="zh-TW" sz="1800" dirty="0"/>
              <a:t>L-2 miss rate to main memory = 0.5% </a:t>
            </a:r>
          </a:p>
          <a:p>
            <a:r>
              <a:rPr lang="en-US" altLang="zh-TW" sz="2000" dirty="0"/>
              <a:t>Primary miss with L-2 hit (2%)</a:t>
            </a:r>
          </a:p>
          <a:p>
            <a:pPr lvl="1"/>
            <a:r>
              <a:rPr lang="en-US" altLang="zh-TW" sz="1800" dirty="0"/>
              <a:t>Penalty to access L-2 = 5ns/0.25ns = 20 cycles</a:t>
            </a:r>
          </a:p>
          <a:p>
            <a:r>
              <a:rPr lang="en-US" altLang="zh-TW" sz="2000" dirty="0"/>
              <a:t>Primary miss with L-2 miss (0.5%)</a:t>
            </a:r>
          </a:p>
          <a:p>
            <a:pPr lvl="1"/>
            <a:r>
              <a:rPr lang="en-US" altLang="zh-TW" sz="1800" dirty="0"/>
              <a:t>Penalty to access memory = 400 cycles</a:t>
            </a:r>
          </a:p>
          <a:p>
            <a:r>
              <a:rPr lang="en-US" altLang="zh-TW" sz="2000" dirty="0"/>
              <a:t>CPI = 1 + 0.02 × 20 + 0.005 × 400 = 3.4</a:t>
            </a:r>
          </a:p>
          <a:p>
            <a:r>
              <a:rPr lang="en-US" altLang="zh-TW" sz="2000" dirty="0"/>
              <a:t>Performance ratio = 9/3.4 = 2.6</a:t>
            </a:r>
            <a:endParaRPr lang="en-AU" altLang="zh-TW" sz="2000" dirty="0"/>
          </a:p>
        </p:txBody>
      </p:sp>
      <p:sp>
        <p:nvSpPr>
          <p:cNvPr id="5" name="Slide Number Placeholder 5">
            <a:extLst>
              <a:ext uri="{FF2B5EF4-FFF2-40B4-BE49-F238E27FC236}">
                <a16:creationId xmlns:a16="http://schemas.microsoft.com/office/drawing/2014/main" id="{290F8BBD-69FD-464B-B318-A23657AF0045}"/>
              </a:ext>
            </a:extLst>
          </p:cNvPr>
          <p:cNvSpPr>
            <a:spLocks noGrp="1"/>
          </p:cNvSpPr>
          <p:nvPr>
            <p:ph type="sldNum" sz="quarter" idx="10"/>
          </p:nvPr>
        </p:nvSpPr>
        <p:spPr>
          <a:xfrm>
            <a:off x="6831013" y="4893471"/>
            <a:ext cx="2133600" cy="254794"/>
          </a:xfrm>
        </p:spPr>
        <p:txBody>
          <a:bodyPr/>
          <a:lstStyle/>
          <a:p>
            <a:fld id="{D9B6BDF2-6896-4B98-8776-C18582F63BA5}" type="slidenum">
              <a:rPr lang="zh-TW" altLang="en-US" smtClean="0"/>
              <a:pPr/>
              <a:t>70</a:t>
            </a:fld>
            <a:endParaRPr lang="zh-TW" altLang="en-US" dirty="0"/>
          </a:p>
        </p:txBody>
      </p:sp>
    </p:spTree>
    <p:extLst>
      <p:ext uri="{BB962C8B-B14F-4D97-AF65-F5344CB8AC3E}">
        <p14:creationId xmlns:p14="http://schemas.microsoft.com/office/powerpoint/2010/main" val="1011829966"/>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2"/>
          <p:cNvSpPr>
            <a:spLocks noGrp="1" noChangeArrowheads="1"/>
          </p:cNvSpPr>
          <p:nvPr>
            <p:ph type="title"/>
          </p:nvPr>
        </p:nvSpPr>
        <p:spPr>
          <a:xfrm>
            <a:off x="927767" y="143451"/>
            <a:ext cx="6315075" cy="490729"/>
          </a:xfrm>
        </p:spPr>
        <p:txBody>
          <a:bodyPr/>
          <a:lstStyle/>
          <a:p>
            <a:r>
              <a:rPr lang="en-US" altLang="zh-TW" sz="2800"/>
              <a:t>Multilevel Cache Considerations</a:t>
            </a:r>
            <a:endParaRPr lang="en-AU" altLang="zh-TW" sz="2800">
              <a:ea typeface="新細明體" pitchFamily="18" charset="-120"/>
            </a:endParaRPr>
          </a:p>
        </p:txBody>
      </p:sp>
      <p:sp>
        <p:nvSpPr>
          <p:cNvPr id="69635" name="Rectangle 3"/>
          <p:cNvSpPr>
            <a:spLocks noGrp="1" noChangeArrowheads="1"/>
          </p:cNvSpPr>
          <p:nvPr>
            <p:ph type="body" idx="1"/>
          </p:nvPr>
        </p:nvSpPr>
        <p:spPr>
          <a:xfrm>
            <a:off x="980768" y="844153"/>
            <a:ext cx="7706032" cy="3182157"/>
          </a:xfrm>
        </p:spPr>
        <p:txBody>
          <a:bodyPr/>
          <a:lstStyle/>
          <a:p>
            <a:r>
              <a:rPr lang="en-US" altLang="zh-TW" sz="2100" dirty="0"/>
              <a:t>Primary cache</a:t>
            </a:r>
          </a:p>
          <a:p>
            <a:pPr lvl="1"/>
            <a:r>
              <a:rPr lang="en-US" altLang="zh-TW" sz="1950" dirty="0"/>
              <a:t>Focus on minimal hit time</a:t>
            </a:r>
          </a:p>
          <a:p>
            <a:r>
              <a:rPr lang="en-US" altLang="zh-TW" sz="2100" dirty="0"/>
              <a:t>L-2 cache</a:t>
            </a:r>
          </a:p>
          <a:p>
            <a:pPr lvl="1"/>
            <a:r>
              <a:rPr lang="en-US" altLang="zh-TW" sz="1950" dirty="0"/>
              <a:t>Focus on low miss rate to avoid main memory access</a:t>
            </a:r>
          </a:p>
          <a:p>
            <a:pPr lvl="1"/>
            <a:r>
              <a:rPr lang="en-US" altLang="zh-TW" sz="1950" dirty="0"/>
              <a:t>Hit time has less overall impact</a:t>
            </a:r>
          </a:p>
          <a:p>
            <a:r>
              <a:rPr lang="en-US" altLang="zh-TW" sz="2100" dirty="0"/>
              <a:t>Results</a:t>
            </a:r>
          </a:p>
          <a:p>
            <a:pPr lvl="1"/>
            <a:r>
              <a:rPr lang="en-US" altLang="zh-TW" sz="1950" dirty="0"/>
              <a:t>L-1 cache usually smaller than a single-level cache</a:t>
            </a:r>
          </a:p>
          <a:p>
            <a:pPr lvl="1"/>
            <a:r>
              <a:rPr lang="en-US" altLang="zh-TW" sz="1950" dirty="0"/>
              <a:t>L-1 block size smaller than L-2 block size</a:t>
            </a:r>
            <a:endParaRPr lang="en-AU" altLang="zh-TW" sz="1950" dirty="0"/>
          </a:p>
        </p:txBody>
      </p:sp>
      <p:sp>
        <p:nvSpPr>
          <p:cNvPr id="6" name="Slide Number Placeholder 5">
            <a:extLst>
              <a:ext uri="{FF2B5EF4-FFF2-40B4-BE49-F238E27FC236}">
                <a16:creationId xmlns:a16="http://schemas.microsoft.com/office/drawing/2014/main" id="{5B2CBFEA-B0F8-4F2C-A5E1-B127FA7970A5}"/>
              </a:ext>
            </a:extLst>
          </p:cNvPr>
          <p:cNvSpPr>
            <a:spLocks noGrp="1"/>
          </p:cNvSpPr>
          <p:nvPr>
            <p:ph type="sldNum" sz="quarter" idx="10"/>
          </p:nvPr>
        </p:nvSpPr>
        <p:spPr>
          <a:xfrm>
            <a:off x="6831013" y="4893471"/>
            <a:ext cx="2133600" cy="254794"/>
          </a:xfrm>
        </p:spPr>
        <p:txBody>
          <a:bodyPr/>
          <a:lstStyle/>
          <a:p>
            <a:fld id="{D9B6BDF2-6896-4B98-8776-C18582F63BA5}" type="slidenum">
              <a:rPr lang="zh-TW" altLang="en-US" smtClean="0"/>
              <a:pPr/>
              <a:t>71</a:t>
            </a:fld>
            <a:endParaRPr lang="zh-TW" altLang="en-US" dirty="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2"/>
          <p:cNvSpPr>
            <a:spLocks noGrp="1" noChangeArrowheads="1"/>
          </p:cNvSpPr>
          <p:nvPr>
            <p:ph type="title"/>
          </p:nvPr>
        </p:nvSpPr>
        <p:spPr>
          <a:xfrm>
            <a:off x="921774" y="56920"/>
            <a:ext cx="6291571" cy="569119"/>
          </a:xfrm>
        </p:spPr>
        <p:txBody>
          <a:bodyPr/>
          <a:lstStyle/>
          <a:p>
            <a:r>
              <a:rPr lang="en-US" altLang="zh-TW" dirty="0"/>
              <a:t>Interactions with Advanced CPUs</a:t>
            </a:r>
            <a:endParaRPr lang="en-AU" altLang="zh-TW" dirty="0">
              <a:ea typeface="新細明體" pitchFamily="18" charset="-120"/>
            </a:endParaRPr>
          </a:p>
        </p:txBody>
      </p:sp>
      <p:sp>
        <p:nvSpPr>
          <p:cNvPr id="70659" name="Rectangle 3"/>
          <p:cNvSpPr>
            <a:spLocks noGrp="1" noChangeArrowheads="1"/>
          </p:cNvSpPr>
          <p:nvPr>
            <p:ph type="body" idx="1"/>
          </p:nvPr>
        </p:nvSpPr>
        <p:spPr>
          <a:xfrm>
            <a:off x="907026" y="844153"/>
            <a:ext cx="7779774" cy="2747079"/>
          </a:xfrm>
        </p:spPr>
        <p:txBody>
          <a:bodyPr/>
          <a:lstStyle/>
          <a:p>
            <a:r>
              <a:rPr lang="en-US" altLang="zh-TW" sz="2000" dirty="0"/>
              <a:t>Out-of-order CPUs can execute instructions during cache miss</a:t>
            </a:r>
          </a:p>
          <a:p>
            <a:pPr lvl="1"/>
            <a:r>
              <a:rPr lang="en-US" altLang="zh-TW" sz="1800" dirty="0"/>
              <a:t>Pending store stays in load/store unit</a:t>
            </a:r>
          </a:p>
          <a:p>
            <a:pPr lvl="1"/>
            <a:r>
              <a:rPr lang="en-US" altLang="zh-TW" sz="1800" dirty="0"/>
              <a:t>Dependent instructions wait in reservation stations</a:t>
            </a:r>
          </a:p>
          <a:p>
            <a:pPr lvl="2"/>
            <a:r>
              <a:rPr lang="en-US" altLang="zh-TW" sz="1600" dirty="0"/>
              <a:t>Independent instructions continue</a:t>
            </a:r>
          </a:p>
          <a:p>
            <a:r>
              <a:rPr lang="en-US" altLang="zh-TW" sz="2000" dirty="0"/>
              <a:t>Effect of miss depends on program data flow</a:t>
            </a:r>
          </a:p>
          <a:p>
            <a:pPr lvl="1"/>
            <a:r>
              <a:rPr lang="en-US" altLang="zh-TW" sz="1800" dirty="0"/>
              <a:t>Much harder to analyze</a:t>
            </a:r>
          </a:p>
          <a:p>
            <a:pPr lvl="1"/>
            <a:r>
              <a:rPr lang="en-US" altLang="zh-TW" sz="1800" dirty="0"/>
              <a:t>Use system simulation</a:t>
            </a:r>
            <a:endParaRPr lang="en-AU" altLang="zh-TW" sz="1800" dirty="0">
              <a:ea typeface="新細明體" pitchFamily="18" charset="-120"/>
            </a:endParaRPr>
          </a:p>
        </p:txBody>
      </p:sp>
      <p:sp>
        <p:nvSpPr>
          <p:cNvPr id="5" name="Slide Number Placeholder 5">
            <a:extLst>
              <a:ext uri="{FF2B5EF4-FFF2-40B4-BE49-F238E27FC236}">
                <a16:creationId xmlns:a16="http://schemas.microsoft.com/office/drawing/2014/main" id="{56D4EBD6-E9CA-4B0E-8E51-7F5D6A2471E4}"/>
              </a:ext>
            </a:extLst>
          </p:cNvPr>
          <p:cNvSpPr>
            <a:spLocks noGrp="1"/>
          </p:cNvSpPr>
          <p:nvPr>
            <p:ph type="sldNum" sz="quarter" idx="10"/>
          </p:nvPr>
        </p:nvSpPr>
        <p:spPr>
          <a:xfrm>
            <a:off x="6831013" y="4893471"/>
            <a:ext cx="2133600" cy="254794"/>
          </a:xfrm>
        </p:spPr>
        <p:txBody>
          <a:bodyPr/>
          <a:lstStyle/>
          <a:p>
            <a:fld id="{D9B6BDF2-6896-4B98-8776-C18582F63BA5}" type="slidenum">
              <a:rPr lang="zh-TW" altLang="en-US" smtClean="0"/>
              <a:pPr/>
              <a:t>72</a:t>
            </a:fld>
            <a:endParaRPr lang="zh-TW" altLang="en-US" dirty="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3"/>
          <p:cNvSpPr>
            <a:spLocks noGrp="1" noChangeArrowheads="1"/>
          </p:cNvSpPr>
          <p:nvPr>
            <p:ph type="title"/>
          </p:nvPr>
        </p:nvSpPr>
        <p:spPr>
          <a:xfrm>
            <a:off x="943897" y="129779"/>
            <a:ext cx="6785641" cy="482279"/>
          </a:xfrm>
        </p:spPr>
        <p:txBody>
          <a:bodyPr/>
          <a:lstStyle/>
          <a:p>
            <a:r>
              <a:rPr lang="en-US" altLang="zh-TW" dirty="0"/>
              <a:t>Interactions with Software</a:t>
            </a:r>
            <a:endParaRPr lang="en-AU" altLang="zh-TW" dirty="0">
              <a:ea typeface="新細明體" pitchFamily="18" charset="-120"/>
            </a:endParaRPr>
          </a:p>
        </p:txBody>
      </p:sp>
      <p:sp>
        <p:nvSpPr>
          <p:cNvPr id="71683" name="Rectangle 4"/>
          <p:cNvSpPr>
            <a:spLocks noGrp="1" noChangeArrowheads="1"/>
          </p:cNvSpPr>
          <p:nvPr>
            <p:ph type="body" idx="1"/>
          </p:nvPr>
        </p:nvSpPr>
        <p:spPr>
          <a:xfrm>
            <a:off x="943897" y="851777"/>
            <a:ext cx="6776884" cy="1080261"/>
          </a:xfrm>
        </p:spPr>
        <p:txBody>
          <a:bodyPr/>
          <a:lstStyle/>
          <a:p>
            <a:r>
              <a:rPr lang="en-US" altLang="zh-TW" sz="2000" dirty="0"/>
              <a:t>Misses depend on memory access patterns</a:t>
            </a:r>
          </a:p>
          <a:p>
            <a:pPr lvl="1"/>
            <a:r>
              <a:rPr lang="en-US" altLang="zh-TW" sz="1800" dirty="0"/>
              <a:t>Algorithm behavior</a:t>
            </a:r>
          </a:p>
          <a:p>
            <a:pPr lvl="1"/>
            <a:r>
              <a:rPr lang="en-US" altLang="zh-TW" sz="1800" dirty="0"/>
              <a:t>Compiler optimization for memory access</a:t>
            </a:r>
            <a:endParaRPr lang="en-AU" altLang="zh-TW" sz="1800" dirty="0">
              <a:ea typeface="新細明體" pitchFamily="18" charset="-120"/>
            </a:endParaRPr>
          </a:p>
        </p:txBody>
      </p:sp>
      <p:sp>
        <p:nvSpPr>
          <p:cNvPr id="6" name="Slide Number Placeholder 5">
            <a:extLst>
              <a:ext uri="{FF2B5EF4-FFF2-40B4-BE49-F238E27FC236}">
                <a16:creationId xmlns:a16="http://schemas.microsoft.com/office/drawing/2014/main" id="{9D895FF8-69E3-403C-AA3F-1D8E57B99853}"/>
              </a:ext>
            </a:extLst>
          </p:cNvPr>
          <p:cNvSpPr>
            <a:spLocks noGrp="1"/>
          </p:cNvSpPr>
          <p:nvPr>
            <p:ph type="sldNum" sz="quarter" idx="10"/>
          </p:nvPr>
        </p:nvSpPr>
        <p:spPr>
          <a:xfrm>
            <a:off x="6831013" y="4893471"/>
            <a:ext cx="2133600" cy="254794"/>
          </a:xfrm>
        </p:spPr>
        <p:txBody>
          <a:bodyPr/>
          <a:lstStyle/>
          <a:p>
            <a:fld id="{D9B6BDF2-6896-4B98-8776-C18582F63BA5}" type="slidenum">
              <a:rPr lang="zh-TW" altLang="en-US" smtClean="0"/>
              <a:pPr/>
              <a:t>73</a:t>
            </a:fld>
            <a:endParaRPr lang="zh-TW" altLang="en-US" dirty="0"/>
          </a:p>
        </p:txBody>
      </p:sp>
      <p:grpSp>
        <p:nvGrpSpPr>
          <p:cNvPr id="2" name="组合 1">
            <a:extLst>
              <a:ext uri="{FF2B5EF4-FFF2-40B4-BE49-F238E27FC236}">
                <a16:creationId xmlns:a16="http://schemas.microsoft.com/office/drawing/2014/main" id="{E8CA3116-7D8A-41FE-90C5-D5536651F76F}"/>
              </a:ext>
            </a:extLst>
          </p:cNvPr>
          <p:cNvGrpSpPr/>
          <p:nvPr/>
        </p:nvGrpSpPr>
        <p:grpSpPr>
          <a:xfrm>
            <a:off x="403122" y="2313140"/>
            <a:ext cx="8372167" cy="2077890"/>
            <a:chOff x="322007" y="2791617"/>
            <a:chExt cx="7062983" cy="1284157"/>
          </a:xfrm>
        </p:grpSpPr>
        <p:pic>
          <p:nvPicPr>
            <p:cNvPr id="71684" name="Picture 2" descr="f05-18-P374493"/>
            <p:cNvPicPr>
              <a:picLocks noChangeAspect="1" noChangeArrowheads="1"/>
            </p:cNvPicPr>
            <p:nvPr/>
          </p:nvPicPr>
          <p:blipFill rotWithShape="1">
            <a:blip r:embed="rId3"/>
            <a:srcRect t="66317"/>
            <a:stretch/>
          </p:blipFill>
          <p:spPr bwMode="auto">
            <a:xfrm>
              <a:off x="5228303" y="2818019"/>
              <a:ext cx="2156687" cy="1223768"/>
            </a:xfrm>
            <a:prstGeom prst="rect">
              <a:avLst/>
            </a:prstGeom>
            <a:solidFill>
              <a:srgbClr val="FFFFFF"/>
            </a:solidFill>
            <a:ln w="9525">
              <a:noFill/>
              <a:miter lim="800000"/>
              <a:headEnd/>
              <a:tailEnd/>
            </a:ln>
          </p:spPr>
        </p:pic>
        <p:pic>
          <p:nvPicPr>
            <p:cNvPr id="7" name="Picture 2" descr="f05-18-P374493">
              <a:extLst>
                <a:ext uri="{FF2B5EF4-FFF2-40B4-BE49-F238E27FC236}">
                  <a16:creationId xmlns:a16="http://schemas.microsoft.com/office/drawing/2014/main" id="{65473EBF-6563-4E09-8939-AF98FE3C9288}"/>
                </a:ext>
              </a:extLst>
            </p:cNvPr>
            <p:cNvPicPr>
              <a:picLocks noChangeAspect="1" noChangeArrowheads="1"/>
            </p:cNvPicPr>
            <p:nvPr/>
          </p:nvPicPr>
          <p:blipFill rotWithShape="1">
            <a:blip r:embed="rId3"/>
            <a:srcRect b="66091"/>
            <a:stretch/>
          </p:blipFill>
          <p:spPr bwMode="auto">
            <a:xfrm>
              <a:off x="322007" y="2843819"/>
              <a:ext cx="2156687" cy="1231955"/>
            </a:xfrm>
            <a:prstGeom prst="rect">
              <a:avLst/>
            </a:prstGeom>
            <a:solidFill>
              <a:srgbClr val="FFFFFF"/>
            </a:solidFill>
            <a:ln w="9525">
              <a:noFill/>
              <a:miter lim="800000"/>
              <a:headEnd/>
              <a:tailEnd/>
            </a:ln>
          </p:spPr>
        </p:pic>
        <p:pic>
          <p:nvPicPr>
            <p:cNvPr id="8" name="Picture 2" descr="f05-18-P374493">
              <a:extLst>
                <a:ext uri="{FF2B5EF4-FFF2-40B4-BE49-F238E27FC236}">
                  <a16:creationId xmlns:a16="http://schemas.microsoft.com/office/drawing/2014/main" id="{D784F18B-835D-4193-835A-CBE66E6EB4F3}"/>
                </a:ext>
              </a:extLst>
            </p:cNvPr>
            <p:cNvPicPr>
              <a:picLocks noChangeAspect="1" noChangeArrowheads="1"/>
            </p:cNvPicPr>
            <p:nvPr/>
          </p:nvPicPr>
          <p:blipFill rotWithShape="1">
            <a:blip r:embed="rId3"/>
            <a:srcRect t="32150" b="33751"/>
            <a:stretch/>
          </p:blipFill>
          <p:spPr bwMode="auto">
            <a:xfrm>
              <a:off x="2789902" y="2791617"/>
              <a:ext cx="2175096" cy="1249439"/>
            </a:xfrm>
            <a:prstGeom prst="rect">
              <a:avLst/>
            </a:prstGeom>
            <a:solidFill>
              <a:srgbClr val="FFFFFF"/>
            </a:solidFill>
            <a:ln w="9525">
              <a:noFill/>
              <a:miter lim="800000"/>
              <a:headEnd/>
              <a:tailEnd/>
            </a:ln>
          </p:spPr>
        </p:pic>
      </p:grpSp>
    </p:spTree>
  </p:cSld>
  <p:clrMapOvr>
    <a:masterClrMapping/>
  </p:clrMapOvr>
</p:sld>
</file>

<file path=ppt/theme/theme1.xml><?xml version="1.0" encoding="utf-8"?>
<a:theme xmlns:a="http://schemas.openxmlformats.org/drawingml/2006/main" name="NTHU UniCloud">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預設簡報設計">
      <a:majorFont>
        <a:latin typeface="MS Sans Serif"/>
        <a:ea typeface="MS Sans Serif"/>
        <a:cs typeface="MS Sans Serif"/>
      </a:majorFont>
      <a:minorFont>
        <a:latin typeface="Arial"/>
        <a:ea typeface="新細明體"/>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15875" cap="flat" cmpd="sng" algn="ctr">
          <a:solidFill>
            <a:srgbClr val="FF0000"/>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1" lang="en-US" altLang="zh-TW" sz="1800" b="1" i="0" u="none" strike="noStrike" cap="none" normalizeH="0" baseline="0" smtClean="0">
            <a:ln>
              <a:noFill/>
            </a:ln>
            <a:solidFill>
              <a:schemeClr val="tx1"/>
            </a:solidFill>
            <a:effectLst/>
            <a:latin typeface="Arial" pitchFamily="34" charset="0"/>
            <a:ea typeface="新細明體" pitchFamily="18" charset="-120"/>
          </a:defRPr>
        </a:defPPr>
      </a:lstStyle>
    </a:spDef>
    <a:lnDef>
      <a:spPr bwMode="auto">
        <a:xfrm>
          <a:off x="0" y="0"/>
          <a:ext cx="1" cy="1"/>
        </a:xfrm>
        <a:custGeom>
          <a:avLst/>
          <a:gdLst/>
          <a:ahLst/>
          <a:cxnLst/>
          <a:rect l="0" t="0" r="0" b="0"/>
          <a:pathLst/>
        </a:custGeom>
        <a:noFill/>
        <a:ln w="15875" cap="flat" cmpd="sng" algn="ctr">
          <a:solidFill>
            <a:srgbClr val="FF0000"/>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1" lang="en-US" altLang="zh-TW" sz="1800" b="1" i="0" u="none" strike="noStrike" cap="none" normalizeH="0" baseline="0" smtClean="0">
            <a:ln>
              <a:noFill/>
            </a:ln>
            <a:solidFill>
              <a:schemeClr val="tx1"/>
            </a:solidFill>
            <a:effectLst/>
            <a:latin typeface="Arial" pitchFamily="34" charset="0"/>
            <a:ea typeface="新細明體" pitchFamily="18" charset="-120"/>
          </a:defRPr>
        </a:defPPr>
      </a:lstStyle>
    </a:lnDef>
    <a:txDef>
      <a:spPr>
        <a:noFill/>
      </a:spPr>
      <a:bodyPr wrap="none" rtlCol="0" anchor="ctr" anchorCtr="1">
        <a:spAutoFit/>
      </a:bodyPr>
      <a:lstStyle>
        <a:defPPr>
          <a:defRPr dirty="0" smtClean="0">
            <a:ea typeface="標楷體" pitchFamily="65" charset="-120"/>
            <a:cs typeface="Calibri" pitchFamily="34" charset="0"/>
          </a:defRPr>
        </a:defPPr>
      </a:lstStyle>
    </a:txDef>
  </a:objectDefaults>
  <a:extraClrSchemeLst>
    <a:extraClrScheme>
      <a:clrScheme name="預設簡報設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預設簡報設計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預設簡報設計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預設簡報設計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預設簡報設計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預設簡報設計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預設簡報設計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預設簡報設計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預設簡報設計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預設簡報設計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預設簡報設計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預設簡報設計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NTHU UniCloud" id="{771810AA-CEBD-463A-B947-7C0DFAF8BB54}" vid="{30CF6CD1-9989-4B2E-8702-709C1DF65D8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NTHU UniCloud</Template>
  <TotalTime>2923</TotalTime>
  <Words>5336</Words>
  <Application>Microsoft Office PowerPoint</Application>
  <PresentationFormat>全屏显示(16:9)</PresentationFormat>
  <Paragraphs>1267</Paragraphs>
  <Slides>73</Slides>
  <Notes>55</Notes>
  <HiddenSlides>1</HiddenSlides>
  <MMClips>0</MMClips>
  <ScaleCrop>false</ScaleCrop>
  <HeadingPairs>
    <vt:vector size="8" baseType="variant">
      <vt:variant>
        <vt:lpstr>已用的字体</vt:lpstr>
      </vt:variant>
      <vt:variant>
        <vt:i4>8</vt:i4>
      </vt:variant>
      <vt:variant>
        <vt:lpstr>主题</vt:lpstr>
      </vt:variant>
      <vt:variant>
        <vt:i4>1</vt:i4>
      </vt:variant>
      <vt:variant>
        <vt:lpstr>嵌入 OLE 服务器</vt:lpstr>
      </vt:variant>
      <vt:variant>
        <vt:i4>1</vt:i4>
      </vt:variant>
      <vt:variant>
        <vt:lpstr>幻灯片标题</vt:lpstr>
      </vt:variant>
      <vt:variant>
        <vt:i4>73</vt:i4>
      </vt:variant>
    </vt:vector>
  </HeadingPairs>
  <TitlesOfParts>
    <vt:vector size="83" baseType="lpstr">
      <vt:lpstr>Arial Unicode MS</vt:lpstr>
      <vt:lpstr>Geneva</vt:lpstr>
      <vt:lpstr>MS Sans Serif</vt:lpstr>
      <vt:lpstr>Arial</vt:lpstr>
      <vt:lpstr>Calibri</vt:lpstr>
      <vt:lpstr>Cambria Math</vt:lpstr>
      <vt:lpstr>Century Gothic</vt:lpstr>
      <vt:lpstr>Wingdings</vt:lpstr>
      <vt:lpstr>NTHU UniCloud</vt:lpstr>
      <vt:lpstr>Chart</vt:lpstr>
      <vt:lpstr>CSC3050 – Computer Architecture</vt:lpstr>
      <vt:lpstr>Outline</vt:lpstr>
      <vt:lpstr>Memory Technology</vt:lpstr>
      <vt:lpstr>Comparisons of Various Technologies</vt:lpstr>
      <vt:lpstr>Solution - Memory Hierarchy</vt:lpstr>
      <vt:lpstr>Memory Hierarchy - Principle</vt:lpstr>
      <vt:lpstr>Why Hierarchy Works</vt:lpstr>
      <vt:lpstr>Levels of Memory Hierarchy</vt:lpstr>
      <vt:lpstr>How Is the Hierarchy Managed</vt:lpstr>
      <vt:lpstr>Memory Hierarchy - Terminology</vt:lpstr>
      <vt:lpstr>Four Questions for Hierarchy Design</vt:lpstr>
      <vt:lpstr>Summary of Memory Hierarchy</vt:lpstr>
      <vt:lpstr>Outline</vt:lpstr>
      <vt:lpstr>Processor Memory Latency Gap</vt:lpstr>
      <vt:lpstr>Levels of Memory Hierarchy</vt:lpstr>
      <vt:lpstr>Inside the Processor</vt:lpstr>
      <vt:lpstr>Basics of Cache</vt:lpstr>
      <vt:lpstr>Tags and Valid Bits - Block Finding </vt:lpstr>
      <vt:lpstr>Cache Example (1)</vt:lpstr>
      <vt:lpstr>Cache Example (2) </vt:lpstr>
      <vt:lpstr>Cache Example (3) </vt:lpstr>
      <vt:lpstr>Cache Example (4) </vt:lpstr>
      <vt:lpstr>Cache Example (5) </vt:lpstr>
      <vt:lpstr>Cache Example (6) </vt:lpstr>
      <vt:lpstr>Outline</vt:lpstr>
      <vt:lpstr>Memory Address</vt:lpstr>
      <vt:lpstr>PowerPoint 演示文稿</vt:lpstr>
      <vt:lpstr>Example - Larger Block Size</vt:lpstr>
      <vt:lpstr>Example - Intrinsity FastMATH (1)</vt:lpstr>
      <vt:lpstr>Example - Intrinsity FastMATH (2)</vt:lpstr>
      <vt:lpstr>Block Size Considerations</vt:lpstr>
      <vt:lpstr>Block Size on Performance</vt:lpstr>
      <vt:lpstr>Outline</vt:lpstr>
      <vt:lpstr>Cache Hit and Miss</vt:lpstr>
      <vt:lpstr>Read Cache </vt:lpstr>
      <vt:lpstr>Write Hit - Write-Through</vt:lpstr>
      <vt:lpstr>Avoid Waiting for Memory in Write Through</vt:lpstr>
      <vt:lpstr>Write Hit - Write-Back</vt:lpstr>
      <vt:lpstr>Write Miss - Write Allocation</vt:lpstr>
      <vt:lpstr>Example - Intrinsity FastMATH</vt:lpstr>
      <vt:lpstr>Outline</vt:lpstr>
      <vt:lpstr>Memory Design to Support Cache</vt:lpstr>
      <vt:lpstr>Interleaving for Bandwidth</vt:lpstr>
      <vt:lpstr>Miss Penalty for Different Memory Organizations</vt:lpstr>
      <vt:lpstr>Access of DRAM</vt:lpstr>
      <vt:lpstr>DRAM Generations</vt:lpstr>
      <vt:lpstr>DDR SDRAM</vt:lpstr>
      <vt:lpstr>Outline</vt:lpstr>
      <vt:lpstr>Measuring Cache Performance</vt:lpstr>
      <vt:lpstr>Cache Performance Example</vt:lpstr>
      <vt:lpstr>Average Access Time</vt:lpstr>
      <vt:lpstr>Performance Summary</vt:lpstr>
      <vt:lpstr>Outline</vt:lpstr>
      <vt:lpstr>Improving Cache Performance</vt:lpstr>
      <vt:lpstr>Direct Mapped</vt:lpstr>
      <vt:lpstr>Associative Caches</vt:lpstr>
      <vt:lpstr>Associative Cache Example</vt:lpstr>
      <vt:lpstr>Possible Associativity Structures</vt:lpstr>
      <vt:lpstr>Associativity Example (1)</vt:lpstr>
      <vt:lpstr>Associativity Example (2)</vt:lpstr>
      <vt:lpstr>How Much Associativity</vt:lpstr>
      <vt:lpstr>A 4-Way Set-Associative Cache</vt:lpstr>
      <vt:lpstr>Comparing Data Available Time</vt:lpstr>
      <vt:lpstr>Data Placement Policy</vt:lpstr>
      <vt:lpstr>Cache Block Replacement</vt:lpstr>
      <vt:lpstr>Comparison of the Structures</vt:lpstr>
      <vt:lpstr>Outline</vt:lpstr>
      <vt:lpstr>Multilevel Caches</vt:lpstr>
      <vt:lpstr>Multilevel Cache Example (1)</vt:lpstr>
      <vt:lpstr>Multilevel Cache Example (2)</vt:lpstr>
      <vt:lpstr>Multilevel Cache Considerations</vt:lpstr>
      <vt:lpstr>Interactions with Advanced CPUs</vt:lpstr>
      <vt:lpstr>Interactions with Software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An Open 5G / IoT Cloud Platform</dc:title>
  <dc:creator>Wu-Chun Chung</dc:creator>
  <cp:lastModifiedBy>Yeh-Ching Chung 鍾葉青）</cp:lastModifiedBy>
  <cp:revision>308</cp:revision>
  <dcterms:created xsi:type="dcterms:W3CDTF">2015-06-05T07:23:35Z</dcterms:created>
  <dcterms:modified xsi:type="dcterms:W3CDTF">2019-04-25T08:08:35Z</dcterms:modified>
</cp:coreProperties>
</file>