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handoutMasterIdLst>
    <p:handoutMasterId r:id="rId24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16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4F81BD"/>
    <a:srgbClr val="8064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473" y="38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37" d="100"/>
          <a:sy n="37" d="100"/>
        </p:scale>
        <p:origin x="1975" y="41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BDCE37-E9BE-4280-8D68-34E43D66CEDB}" type="datetimeFigureOut">
              <a:rPr lang="zh-TW" altLang="en-US" smtClean="0"/>
              <a:pPr/>
              <a:t>2019/2/27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ED679-6CF9-4493-8C9A-6F31F985AAE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86827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FBA883-381C-409E-9635-BB54B21745E4}" type="datetimeFigureOut">
              <a:rPr lang="zh-TW" altLang="en-US" smtClean="0"/>
              <a:pPr/>
              <a:t>2019/2/27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6C40E4-B9C8-417B-AB00-3BF7F8038A2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8155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72589" y="108349"/>
            <a:ext cx="7703101" cy="519113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16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1400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0028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800"/>
            </a:lvl1pPr>
            <a:lvl2pPr marL="342891" indent="0">
              <a:buNone/>
              <a:defRPr sz="1351"/>
            </a:lvl2pPr>
            <a:lvl3pPr marL="685783" indent="0">
              <a:buNone/>
              <a:defRPr sz="1200"/>
            </a:lvl3pPr>
            <a:lvl4pPr marL="1028674" indent="0">
              <a:buNone/>
              <a:defRPr sz="1051"/>
            </a:lvl4pPr>
            <a:lvl5pPr marL="1371566" indent="0">
              <a:buNone/>
              <a:defRPr sz="1051"/>
            </a:lvl5pPr>
            <a:lvl6pPr marL="1714457" indent="0">
              <a:buNone/>
              <a:defRPr sz="1051"/>
            </a:lvl6pPr>
            <a:lvl7pPr marL="2057349" indent="0">
              <a:buNone/>
              <a:defRPr sz="1051"/>
            </a:lvl7pPr>
            <a:lvl8pPr marL="2400240" indent="0">
              <a:buNone/>
              <a:defRPr sz="1051"/>
            </a:lvl8pPr>
            <a:lvl9pPr marL="2743131" indent="0">
              <a:buNone/>
              <a:defRPr sz="10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0251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9850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1" y="951580"/>
            <a:ext cx="4040188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1" y="1431401"/>
            <a:ext cx="4040188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9" y="951580"/>
            <a:ext cx="4041775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9" y="1431401"/>
            <a:ext cx="4041775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468315" y="108349"/>
            <a:ext cx="8207375" cy="519113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05561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6808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2028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4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91"/>
            <a:ext cx="5111751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4" y="1076328"/>
            <a:ext cx="3008313" cy="351829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9976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891" indent="0">
              <a:buNone/>
              <a:defRPr sz="2100"/>
            </a:lvl2pPr>
            <a:lvl3pPr marL="685783" indent="0">
              <a:buNone/>
              <a:defRPr sz="1800"/>
            </a:lvl3pPr>
            <a:lvl4pPr marL="1028674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9" indent="0">
              <a:buNone/>
              <a:defRPr sz="1500"/>
            </a:lvl7pPr>
            <a:lvl8pPr marL="2400240" indent="0">
              <a:buNone/>
              <a:defRPr sz="1500"/>
            </a:lvl8pPr>
            <a:lvl9pPr marL="2743131" indent="0">
              <a:buNone/>
              <a:defRPr sz="15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1662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3772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4551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54771"/>
            <a:ext cx="8229600" cy="127516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2241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457200" y="844156"/>
            <a:ext cx="8229600" cy="485775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95952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3"/>
            <a:ext cx="7772400" cy="1102519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891" indent="0" algn="ctr">
              <a:buNone/>
              <a:defRPr/>
            </a:lvl2pPr>
            <a:lvl3pPr marL="685783" indent="0" algn="ctr">
              <a:buNone/>
              <a:defRPr/>
            </a:lvl3pPr>
            <a:lvl4pPr marL="1028674" indent="0" algn="ctr">
              <a:buNone/>
              <a:defRPr/>
            </a:lvl4pPr>
            <a:lvl5pPr marL="1371566" indent="0" algn="ctr">
              <a:buNone/>
              <a:defRPr/>
            </a:lvl5pPr>
            <a:lvl6pPr marL="1714457" indent="0" algn="ctr">
              <a:buNone/>
              <a:defRPr/>
            </a:lvl6pPr>
            <a:lvl7pPr marL="2057349" indent="0" algn="ctr">
              <a:buNone/>
              <a:defRPr/>
            </a:lvl7pPr>
            <a:lvl8pPr marL="2400240" indent="0" algn="ctr">
              <a:buNone/>
              <a:defRPr/>
            </a:lvl8pPr>
            <a:lvl9pPr marL="2743131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7078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787401" y="108349"/>
            <a:ext cx="7888289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44153"/>
            <a:ext cx="8229600" cy="3671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2" y="4768455"/>
            <a:ext cx="3833813" cy="148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569246" y="4936332"/>
            <a:ext cx="273183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9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9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681041"/>
            <a:ext cx="9144000" cy="108347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4624387"/>
            <a:ext cx="9144000" cy="539354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31013" y="4893471"/>
            <a:ext cx="2133600" cy="254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60" y="96457"/>
            <a:ext cx="888965" cy="518914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9" y="4683590"/>
            <a:ext cx="741091" cy="427061"/>
          </a:xfrm>
          <a:prstGeom prst="rect">
            <a:avLst/>
          </a:prstGeom>
        </p:spPr>
      </p:pic>
      <p:pic>
        <p:nvPicPr>
          <p:cNvPr id="13" name="圖片 12"/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062" y="4681942"/>
            <a:ext cx="2030503" cy="400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988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342891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685783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028674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371566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257168" indent="-25716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2800">
          <a:solidFill>
            <a:schemeClr val="tx1"/>
          </a:solidFill>
          <a:latin typeface="Calibri" pitchFamily="34" charset="0"/>
          <a:ea typeface="標楷體" pitchFamily="65" charset="-120"/>
          <a:cs typeface="+mn-cs"/>
        </a:defRPr>
      </a:lvl1pPr>
      <a:lvl2pPr marL="557199" indent="-21430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2400">
          <a:solidFill>
            <a:schemeClr val="tx1"/>
          </a:solidFill>
          <a:latin typeface="Calibri" pitchFamily="34" charset="0"/>
          <a:ea typeface="標楷體" pitchFamily="65" charset="-120"/>
        </a:defRPr>
      </a:lvl2pPr>
      <a:lvl3pPr marL="857229" indent="-171446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21" indent="-171446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12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04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795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686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578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26534"/>
            <a:ext cx="7772400" cy="1102519"/>
          </a:xfrm>
        </p:spPr>
        <p:txBody>
          <a:bodyPr/>
          <a:lstStyle/>
          <a:p>
            <a:pPr algn="ctr"/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CSC3050 – Computer Architecture</a:t>
            </a:r>
            <a:endParaRPr lang="zh-TW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548824"/>
            <a:ext cx="6400800" cy="1801796"/>
          </a:xfrm>
        </p:spPr>
        <p:txBody>
          <a:bodyPr/>
          <a:lstStyle/>
          <a:p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Prof. </a:t>
            </a:r>
            <a:r>
              <a:rPr lang="en-US" altLang="zh-TW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Yeh-Ching</a:t>
            </a:r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Chung</a:t>
            </a:r>
          </a:p>
          <a:p>
            <a:endParaRPr lang="en-US" altLang="zh-TW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TW" sz="2400" dirty="0"/>
              <a:t>School of Science and Engineering</a:t>
            </a:r>
          </a:p>
          <a:p>
            <a:r>
              <a:rPr lang="en-US" altLang="zh-TW" sz="2400" dirty="0"/>
              <a:t>Chinese University of Hong Kong, Shenzhen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468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Instruction-Level Parallelism (ILP)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2588" y="844153"/>
            <a:ext cx="7714211" cy="367188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Pipelining: executing multiple instructions in parallel</a:t>
            </a:r>
          </a:p>
          <a:p>
            <a:r>
              <a:rPr lang="en-US" dirty="0"/>
              <a:t>To increase ILP</a:t>
            </a:r>
          </a:p>
          <a:p>
            <a:pPr lvl="1"/>
            <a:r>
              <a:rPr lang="en-US" b="1" dirty="0">
                <a:solidFill>
                  <a:schemeClr val="accent1"/>
                </a:solidFill>
              </a:rPr>
              <a:t>Deeper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pipeline</a:t>
            </a:r>
          </a:p>
          <a:p>
            <a:pPr lvl="2"/>
            <a:r>
              <a:rPr lang="en-US" dirty="0"/>
              <a:t>Less work per stage </a:t>
            </a:r>
            <a:r>
              <a:rPr lang="en-US" dirty="0">
                <a:sym typeface="Wingdings" panose="05000000000000000000" pitchFamily="2" charset="2"/>
              </a:rPr>
              <a:t></a:t>
            </a:r>
            <a:r>
              <a:rPr lang="en-US" dirty="0"/>
              <a:t> shorter clock cycle</a:t>
            </a:r>
          </a:p>
          <a:p>
            <a:pPr lvl="1"/>
            <a:r>
              <a:rPr lang="en-US" b="1" dirty="0">
                <a:solidFill>
                  <a:schemeClr val="accent1"/>
                </a:solidFill>
              </a:rPr>
              <a:t>Multiple issue</a:t>
            </a:r>
          </a:p>
          <a:p>
            <a:pPr lvl="2"/>
            <a:r>
              <a:rPr lang="en-US" dirty="0"/>
              <a:t>Replicate pipeline stages </a:t>
            </a:r>
            <a:r>
              <a:rPr lang="en-US" dirty="0">
                <a:sym typeface="Wingdings" panose="05000000000000000000" pitchFamily="2" charset="2"/>
              </a:rPr>
              <a:t></a:t>
            </a:r>
            <a:r>
              <a:rPr lang="en-US" dirty="0"/>
              <a:t> </a:t>
            </a:r>
            <a:r>
              <a:rPr lang="en-US" b="1" dirty="0">
                <a:solidFill>
                  <a:schemeClr val="accent1"/>
                </a:solidFill>
              </a:rPr>
              <a:t>multiple pipelines</a:t>
            </a:r>
          </a:p>
          <a:p>
            <a:pPr lvl="2"/>
            <a:r>
              <a:rPr lang="en-US" dirty="0"/>
              <a:t>Start multiple instructions per clock cycle</a:t>
            </a:r>
          </a:p>
          <a:p>
            <a:pPr lvl="2"/>
            <a:r>
              <a:rPr lang="en-US" dirty="0"/>
              <a:t>CPI &lt; 1, so use Instructions Per Cycle (IPC)</a:t>
            </a:r>
          </a:p>
          <a:p>
            <a:pPr lvl="1"/>
            <a:r>
              <a:rPr lang="en-US" dirty="0"/>
              <a:t>E.g., 4 GHz 4-way multiple-issue</a:t>
            </a:r>
          </a:p>
          <a:p>
            <a:pPr lvl="2"/>
            <a:r>
              <a:rPr lang="en-US" dirty="0"/>
              <a:t>16 BIPS, peak CPI = 0.25, peak IPC = 4</a:t>
            </a:r>
          </a:p>
          <a:p>
            <a:pPr lvl="1"/>
            <a:r>
              <a:rPr lang="en-US" dirty="0"/>
              <a:t>But dependencies reduce this in practice</a:t>
            </a:r>
          </a:p>
          <a:p>
            <a:r>
              <a:rPr lang="en-US" dirty="0"/>
              <a:t>Computer Architecture: A Quantitative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23554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Issue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2589" y="844153"/>
            <a:ext cx="7553574" cy="367188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Static multiple issue </a:t>
            </a:r>
            <a:r>
              <a:rPr lang="en-US" dirty="0"/>
              <a:t>(at compile time)</a:t>
            </a:r>
          </a:p>
          <a:p>
            <a:pPr lvl="1"/>
            <a:r>
              <a:rPr lang="en-US" dirty="0"/>
              <a:t>Compiler groups instructions to be issued together</a:t>
            </a:r>
          </a:p>
          <a:p>
            <a:pPr lvl="1"/>
            <a:r>
              <a:rPr lang="en-US" dirty="0"/>
              <a:t>Packages them into “issue slots”</a:t>
            </a:r>
          </a:p>
          <a:p>
            <a:pPr lvl="1"/>
            <a:r>
              <a:rPr lang="en-US" dirty="0"/>
              <a:t>Compiler detects and avoids hazards</a:t>
            </a:r>
          </a:p>
          <a:p>
            <a:r>
              <a:rPr lang="en-US" b="1" dirty="0">
                <a:solidFill>
                  <a:schemeClr val="accent1"/>
                </a:solidFill>
              </a:rPr>
              <a:t>Dynamic multiple issue </a:t>
            </a:r>
            <a:r>
              <a:rPr lang="en-US" dirty="0"/>
              <a:t>(during execution)</a:t>
            </a:r>
          </a:p>
          <a:p>
            <a:pPr lvl="1"/>
            <a:r>
              <a:rPr lang="en-US" dirty="0"/>
              <a:t>CPU examines instruction stream and chooses instructions to issue each cycle</a:t>
            </a:r>
          </a:p>
          <a:p>
            <a:pPr lvl="1"/>
            <a:r>
              <a:rPr lang="en-US" dirty="0"/>
              <a:t>Compiler can help by reordering instructions</a:t>
            </a:r>
          </a:p>
          <a:p>
            <a:pPr lvl="1"/>
            <a:r>
              <a:rPr lang="en-US" dirty="0"/>
              <a:t>CPU resolves hazards using advanced techniques at runtime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8030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Speculation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2588" y="844153"/>
            <a:ext cx="7714211" cy="3671888"/>
          </a:xfrm>
        </p:spPr>
        <p:txBody>
          <a:bodyPr>
            <a:noAutofit/>
          </a:bodyPr>
          <a:lstStyle/>
          <a:p>
            <a:r>
              <a:rPr lang="en-US" sz="2000" dirty="0"/>
              <a:t>“</a:t>
            </a:r>
            <a:r>
              <a:rPr lang="en-US" sz="2000" b="1" dirty="0">
                <a:solidFill>
                  <a:schemeClr val="accent1"/>
                </a:solidFill>
              </a:rPr>
              <a:t>Guess</a:t>
            </a:r>
            <a:r>
              <a:rPr lang="en-US" sz="2000" dirty="0"/>
              <a:t>” what to do with an instruction</a:t>
            </a:r>
          </a:p>
          <a:p>
            <a:pPr lvl="1"/>
            <a:r>
              <a:rPr lang="en-US" sz="1800" dirty="0"/>
              <a:t>Start operation as soon as possible</a:t>
            </a:r>
          </a:p>
          <a:p>
            <a:pPr lvl="1"/>
            <a:r>
              <a:rPr lang="en-US" sz="1800" dirty="0"/>
              <a:t>Check whether guess was right</a:t>
            </a:r>
          </a:p>
          <a:p>
            <a:pPr lvl="2"/>
            <a:r>
              <a:rPr lang="en-US" sz="1600" dirty="0"/>
              <a:t>If so, complete the operation</a:t>
            </a:r>
          </a:p>
          <a:p>
            <a:pPr lvl="2"/>
            <a:r>
              <a:rPr lang="en-US" sz="1600" dirty="0"/>
              <a:t>If not, roll-back and do the right thing</a:t>
            </a:r>
          </a:p>
          <a:p>
            <a:r>
              <a:rPr lang="en-US" sz="2000" dirty="0"/>
              <a:t>Common to </a:t>
            </a:r>
            <a:r>
              <a:rPr lang="en-US" sz="2000" b="1" dirty="0">
                <a:solidFill>
                  <a:schemeClr val="accent1"/>
                </a:solidFill>
              </a:rPr>
              <a:t>static</a:t>
            </a:r>
            <a:r>
              <a:rPr lang="en-US" sz="2000" dirty="0">
                <a:solidFill>
                  <a:schemeClr val="accent1"/>
                </a:solidFill>
              </a:rPr>
              <a:t> </a:t>
            </a:r>
            <a:r>
              <a:rPr lang="en-US" sz="2000" dirty="0"/>
              <a:t>and </a:t>
            </a:r>
            <a:r>
              <a:rPr lang="en-US" sz="2000" b="1" dirty="0">
                <a:solidFill>
                  <a:schemeClr val="accent1"/>
                </a:solidFill>
              </a:rPr>
              <a:t>dynamic</a:t>
            </a:r>
            <a:r>
              <a:rPr lang="en-US" sz="2000" dirty="0">
                <a:solidFill>
                  <a:schemeClr val="accent1"/>
                </a:solidFill>
              </a:rPr>
              <a:t> </a:t>
            </a:r>
            <a:r>
              <a:rPr lang="en-US" sz="2000" dirty="0"/>
              <a:t>multiple issue</a:t>
            </a:r>
          </a:p>
          <a:p>
            <a:r>
              <a:rPr lang="en-US" sz="2000" dirty="0"/>
              <a:t>Examples</a:t>
            </a:r>
          </a:p>
          <a:p>
            <a:pPr lvl="1"/>
            <a:r>
              <a:rPr lang="en-US" sz="1800" dirty="0"/>
              <a:t>Speculate on </a:t>
            </a:r>
            <a:r>
              <a:rPr lang="en-US" sz="1800" b="1" dirty="0">
                <a:solidFill>
                  <a:schemeClr val="accent1"/>
                </a:solidFill>
              </a:rPr>
              <a:t>branch</a:t>
            </a:r>
            <a:r>
              <a:rPr lang="en-US" sz="1800" dirty="0">
                <a:solidFill>
                  <a:schemeClr val="accent1"/>
                </a:solidFill>
              </a:rPr>
              <a:t> </a:t>
            </a:r>
            <a:r>
              <a:rPr lang="en-US" sz="1800" dirty="0"/>
              <a:t>outcome, </a:t>
            </a:r>
            <a:r>
              <a:rPr lang="en-US" sz="1800" b="1" dirty="0">
                <a:solidFill>
                  <a:schemeClr val="accent1"/>
                </a:solidFill>
              </a:rPr>
              <a:t>execute</a:t>
            </a:r>
            <a:r>
              <a:rPr lang="en-US" sz="1800" dirty="0">
                <a:solidFill>
                  <a:schemeClr val="accent1"/>
                </a:solidFill>
              </a:rPr>
              <a:t> </a:t>
            </a:r>
            <a:r>
              <a:rPr lang="en-US" sz="1800" dirty="0"/>
              <a:t>instructions after branch</a:t>
            </a:r>
          </a:p>
          <a:p>
            <a:pPr lvl="2"/>
            <a:r>
              <a:rPr lang="en-US" sz="1600" b="1" dirty="0">
                <a:solidFill>
                  <a:schemeClr val="accent1"/>
                </a:solidFill>
              </a:rPr>
              <a:t>Roll back </a:t>
            </a:r>
            <a:r>
              <a:rPr lang="en-US" sz="1600" dirty="0"/>
              <a:t>if path taken is different</a:t>
            </a:r>
          </a:p>
          <a:p>
            <a:pPr lvl="1"/>
            <a:r>
              <a:rPr lang="en-US" sz="1800" dirty="0"/>
              <a:t>Speculate on </a:t>
            </a:r>
            <a:r>
              <a:rPr lang="en-US" sz="1800" b="1" dirty="0">
                <a:solidFill>
                  <a:schemeClr val="accent1"/>
                </a:solidFill>
              </a:rPr>
              <a:t>store</a:t>
            </a:r>
            <a:r>
              <a:rPr lang="en-US" sz="1800" dirty="0">
                <a:solidFill>
                  <a:schemeClr val="accent1"/>
                </a:solidFill>
              </a:rPr>
              <a:t> </a:t>
            </a:r>
            <a:r>
              <a:rPr lang="en-US" sz="1800" dirty="0"/>
              <a:t>that precedes </a:t>
            </a:r>
            <a:r>
              <a:rPr lang="en-US" sz="1800" b="1" dirty="0">
                <a:solidFill>
                  <a:schemeClr val="accent1"/>
                </a:solidFill>
              </a:rPr>
              <a:t>load</a:t>
            </a:r>
            <a:r>
              <a:rPr lang="en-US" sz="1800" dirty="0">
                <a:solidFill>
                  <a:schemeClr val="accent1"/>
                </a:solidFill>
              </a:rPr>
              <a:t> </a:t>
            </a:r>
            <a:r>
              <a:rPr lang="en-US" sz="1800" dirty="0"/>
              <a:t>does not refer to same address</a:t>
            </a:r>
          </a:p>
          <a:p>
            <a:pPr lvl="2"/>
            <a:r>
              <a:rPr lang="en-US" sz="1600" b="1" dirty="0">
                <a:solidFill>
                  <a:schemeClr val="accent1"/>
                </a:solidFill>
              </a:rPr>
              <a:t>Roll back</a:t>
            </a:r>
            <a:r>
              <a:rPr lang="en-US" sz="1600" dirty="0"/>
              <a:t> if location is updated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258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Compiler or Hardware Speculation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442" y="844153"/>
            <a:ext cx="7632357" cy="367188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Compiler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can </a:t>
            </a:r>
            <a:r>
              <a:rPr lang="en-US" b="1" dirty="0">
                <a:solidFill>
                  <a:schemeClr val="accent1"/>
                </a:solidFill>
              </a:rPr>
              <a:t>reorder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instructions</a:t>
            </a:r>
          </a:p>
          <a:p>
            <a:pPr lvl="1"/>
            <a:r>
              <a:rPr lang="en-US" dirty="0"/>
              <a:t>e.g., move load before branch</a:t>
            </a:r>
          </a:p>
          <a:p>
            <a:pPr lvl="1"/>
            <a:r>
              <a:rPr lang="en-US" dirty="0"/>
              <a:t>Compiler inserts “</a:t>
            </a:r>
            <a:r>
              <a:rPr lang="en-US" b="1" dirty="0">
                <a:solidFill>
                  <a:schemeClr val="accent1"/>
                </a:solidFill>
              </a:rPr>
              <a:t>fix-up</a:t>
            </a:r>
            <a:r>
              <a:rPr lang="en-US" dirty="0"/>
              <a:t>” instructions to recover from incorrect guess</a:t>
            </a:r>
          </a:p>
          <a:p>
            <a:r>
              <a:rPr lang="en-US" b="1" dirty="0">
                <a:solidFill>
                  <a:schemeClr val="accent1"/>
                </a:solidFill>
              </a:rPr>
              <a:t>Hardware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can </a:t>
            </a:r>
            <a:r>
              <a:rPr lang="en-US" b="1" dirty="0">
                <a:solidFill>
                  <a:schemeClr val="accent1"/>
                </a:solidFill>
              </a:rPr>
              <a:t>look ahead </a:t>
            </a:r>
            <a:r>
              <a:rPr lang="en-US" dirty="0"/>
              <a:t>for instructions to execute</a:t>
            </a:r>
          </a:p>
          <a:p>
            <a:pPr lvl="1"/>
            <a:r>
              <a:rPr lang="en-US" b="1" dirty="0">
                <a:solidFill>
                  <a:schemeClr val="accent1"/>
                </a:solidFill>
              </a:rPr>
              <a:t>Buffer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results until it determines they are </a:t>
            </a:r>
            <a:r>
              <a:rPr lang="en-US" b="1" dirty="0">
                <a:solidFill>
                  <a:schemeClr val="accent1"/>
                </a:solidFill>
              </a:rPr>
              <a:t>actually needed</a:t>
            </a:r>
            <a:r>
              <a:rPr lang="en-US" dirty="0"/>
              <a:t> (written to the registers or memory)</a:t>
            </a:r>
          </a:p>
          <a:p>
            <a:pPr lvl="1"/>
            <a:r>
              <a:rPr lang="en-US" b="1" dirty="0">
                <a:solidFill>
                  <a:schemeClr val="accent1"/>
                </a:solidFill>
              </a:rPr>
              <a:t>Flush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buffers on incorrect speculation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4547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Speculation and Exceptions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2588" y="844153"/>
            <a:ext cx="7714211" cy="3671888"/>
          </a:xfrm>
        </p:spPr>
        <p:txBody>
          <a:bodyPr>
            <a:normAutofit/>
          </a:bodyPr>
          <a:lstStyle/>
          <a:p>
            <a:r>
              <a:rPr lang="en-US" dirty="0"/>
              <a:t>What if </a:t>
            </a:r>
            <a:r>
              <a:rPr lang="en-US" b="1" dirty="0">
                <a:solidFill>
                  <a:schemeClr val="accent1"/>
                </a:solidFill>
              </a:rPr>
              <a:t>exception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occurs on a </a:t>
            </a:r>
            <a:r>
              <a:rPr lang="en-US" b="1" dirty="0">
                <a:solidFill>
                  <a:schemeClr val="accent1"/>
                </a:solidFill>
              </a:rPr>
              <a:t>speculatively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executed instruction?</a:t>
            </a:r>
          </a:p>
          <a:p>
            <a:r>
              <a:rPr lang="en-US" dirty="0"/>
              <a:t>Static speculation</a:t>
            </a:r>
          </a:p>
          <a:p>
            <a:pPr lvl="1"/>
            <a:r>
              <a:rPr lang="en-US" dirty="0"/>
              <a:t>Can add ISA support for </a:t>
            </a:r>
            <a:r>
              <a:rPr lang="en-US" b="1" dirty="0">
                <a:solidFill>
                  <a:schemeClr val="accent1"/>
                </a:solidFill>
              </a:rPr>
              <a:t>deferring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exceptions</a:t>
            </a:r>
          </a:p>
          <a:p>
            <a:r>
              <a:rPr lang="en-US" dirty="0"/>
              <a:t>Dynamic speculation</a:t>
            </a:r>
          </a:p>
          <a:p>
            <a:pPr lvl="1"/>
            <a:r>
              <a:rPr lang="en-US" dirty="0"/>
              <a:t>Can </a:t>
            </a:r>
            <a:r>
              <a:rPr lang="en-US" b="1" dirty="0">
                <a:solidFill>
                  <a:schemeClr val="accent1"/>
                </a:solidFill>
              </a:rPr>
              <a:t>buffer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exceptions until instruction completion (which may not occur)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91376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Multiple Issue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4442" y="844153"/>
            <a:ext cx="7632357" cy="3671888"/>
          </a:xfrm>
        </p:spPr>
        <p:txBody>
          <a:bodyPr>
            <a:normAutofit/>
          </a:bodyPr>
          <a:lstStyle/>
          <a:p>
            <a:r>
              <a:rPr lang="en-US" dirty="0"/>
              <a:t>Compiler groups instructions into “</a:t>
            </a:r>
            <a:r>
              <a:rPr lang="en-US" b="1" dirty="0">
                <a:solidFill>
                  <a:schemeClr val="accent1"/>
                </a:solidFill>
              </a:rPr>
              <a:t>issue packets</a:t>
            </a:r>
            <a:r>
              <a:rPr lang="en-US" dirty="0"/>
              <a:t>”</a:t>
            </a:r>
          </a:p>
          <a:p>
            <a:pPr lvl="1"/>
            <a:r>
              <a:rPr lang="en-US" b="1" dirty="0">
                <a:solidFill>
                  <a:schemeClr val="accent1"/>
                </a:solidFill>
              </a:rPr>
              <a:t>Group of instructions</a:t>
            </a:r>
            <a:r>
              <a:rPr lang="en-US" dirty="0"/>
              <a:t> that can be issued on a </a:t>
            </a:r>
            <a:r>
              <a:rPr lang="en-US" b="1" dirty="0">
                <a:solidFill>
                  <a:schemeClr val="accent1"/>
                </a:solidFill>
              </a:rPr>
              <a:t>single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cycle</a:t>
            </a:r>
          </a:p>
          <a:p>
            <a:pPr lvl="1"/>
            <a:r>
              <a:rPr lang="en-US" dirty="0"/>
              <a:t>Determined by </a:t>
            </a:r>
            <a:r>
              <a:rPr lang="en-US" b="1" dirty="0">
                <a:solidFill>
                  <a:schemeClr val="accent1"/>
                </a:solidFill>
              </a:rPr>
              <a:t>pipeline resources</a:t>
            </a:r>
            <a:r>
              <a:rPr lang="en-US" dirty="0"/>
              <a:t> required</a:t>
            </a:r>
          </a:p>
          <a:p>
            <a:r>
              <a:rPr lang="en-US" dirty="0"/>
              <a:t>Think of an issue packet as a very long instruction</a:t>
            </a:r>
          </a:p>
          <a:p>
            <a:pPr lvl="1"/>
            <a:r>
              <a:rPr lang="en-US" dirty="0"/>
              <a:t>Specifies multiple </a:t>
            </a:r>
            <a:r>
              <a:rPr lang="en-US" b="1" dirty="0">
                <a:solidFill>
                  <a:schemeClr val="accent1"/>
                </a:solidFill>
              </a:rPr>
              <a:t>concurrent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operations</a:t>
            </a:r>
            <a:br>
              <a:rPr lang="en-US" dirty="0"/>
            </a:br>
            <a:r>
              <a:rPr lang="en-US" dirty="0">
                <a:sym typeface="Wingdings" panose="05000000000000000000" pitchFamily="2" charset="2"/>
              </a:rPr>
              <a:t> </a:t>
            </a:r>
            <a:r>
              <a:rPr lang="en-US" dirty="0"/>
              <a:t>Very Long Instruction Word (</a:t>
            </a:r>
            <a:r>
              <a:rPr lang="en-US" b="1" dirty="0">
                <a:solidFill>
                  <a:schemeClr val="accent1"/>
                </a:solidFill>
              </a:rPr>
              <a:t>VLIW</a:t>
            </a:r>
            <a:r>
              <a:rPr lang="en-US" dirty="0"/>
              <a:t>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7935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Scheduling Static Multiple Issue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2588" y="844153"/>
            <a:ext cx="7714211" cy="3671888"/>
          </a:xfrm>
        </p:spPr>
        <p:txBody>
          <a:bodyPr>
            <a:normAutofit/>
          </a:bodyPr>
          <a:lstStyle/>
          <a:p>
            <a:r>
              <a:rPr lang="en-US" dirty="0"/>
              <a:t>Compiler must </a:t>
            </a:r>
            <a:r>
              <a:rPr lang="en-US" b="1" dirty="0">
                <a:solidFill>
                  <a:schemeClr val="accent1"/>
                </a:solidFill>
              </a:rPr>
              <a:t>remove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some/all </a:t>
            </a:r>
            <a:r>
              <a:rPr lang="en-US" b="1" dirty="0">
                <a:solidFill>
                  <a:schemeClr val="accent1"/>
                </a:solidFill>
              </a:rPr>
              <a:t>hazards</a:t>
            </a:r>
          </a:p>
          <a:p>
            <a:pPr lvl="1"/>
            <a:r>
              <a:rPr lang="en-US" dirty="0"/>
              <a:t>Reorder instructions into issue packets</a:t>
            </a:r>
          </a:p>
          <a:p>
            <a:pPr lvl="1"/>
            <a:r>
              <a:rPr lang="en-US" dirty="0"/>
              <a:t>No </a:t>
            </a:r>
            <a:r>
              <a:rPr lang="en-US" b="1" dirty="0">
                <a:solidFill>
                  <a:schemeClr val="accent1"/>
                </a:solidFill>
              </a:rPr>
              <a:t>dependencies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with a packet</a:t>
            </a:r>
          </a:p>
          <a:p>
            <a:pPr lvl="1"/>
            <a:r>
              <a:rPr lang="en-US" dirty="0"/>
              <a:t>Possibly some dependencies between packets</a:t>
            </a:r>
          </a:p>
          <a:p>
            <a:pPr lvl="2"/>
            <a:r>
              <a:rPr lang="en-US" dirty="0"/>
              <a:t>Varies between ISAs; compiler must know!</a:t>
            </a:r>
          </a:p>
          <a:p>
            <a:pPr lvl="1"/>
            <a:r>
              <a:rPr lang="en-US" dirty="0"/>
              <a:t>Pad with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nop</a:t>
            </a:r>
            <a:r>
              <a:rPr lang="en-US" dirty="0">
                <a:cs typeface="Courier New" panose="02070309020205020404" pitchFamily="49" charset="0"/>
              </a:rPr>
              <a:t> </a:t>
            </a:r>
            <a:r>
              <a:rPr lang="en-US" dirty="0"/>
              <a:t>if necessary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13670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MIPS with Static Dual Issue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2588" y="844153"/>
            <a:ext cx="7714211" cy="1598105"/>
          </a:xfrm>
        </p:spPr>
        <p:txBody>
          <a:bodyPr>
            <a:normAutofit fontScale="92500" lnSpcReduction="20000"/>
          </a:bodyPr>
          <a:lstStyle/>
          <a:p>
            <a:r>
              <a:rPr lang="en-US" sz="2000" dirty="0"/>
              <a:t>Two-issue packets</a:t>
            </a:r>
          </a:p>
          <a:p>
            <a:pPr lvl="1"/>
            <a:r>
              <a:rPr lang="en-US" sz="1800" dirty="0"/>
              <a:t>One ALU/branch instruction</a:t>
            </a:r>
          </a:p>
          <a:p>
            <a:pPr lvl="1"/>
            <a:r>
              <a:rPr lang="en-US" sz="1800" dirty="0"/>
              <a:t>One load/store instruction</a:t>
            </a:r>
          </a:p>
          <a:p>
            <a:pPr lvl="1"/>
            <a:r>
              <a:rPr lang="en-US" sz="1800" dirty="0"/>
              <a:t>64-bit aligned</a:t>
            </a:r>
          </a:p>
          <a:p>
            <a:pPr lvl="2"/>
            <a:r>
              <a:rPr lang="en-US" sz="1700" dirty="0"/>
              <a:t>ALU/branch, then load/store</a:t>
            </a:r>
          </a:p>
          <a:p>
            <a:pPr lvl="2"/>
            <a:r>
              <a:rPr lang="en-US" sz="1700" dirty="0"/>
              <a:t>Pad an unused instruction with </a:t>
            </a:r>
            <a:r>
              <a:rPr lang="en-US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nop</a:t>
            </a:r>
            <a:endParaRPr lang="en-US"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481" y="2559692"/>
            <a:ext cx="5762163" cy="1993709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29267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MIPS with Static Dual Issue 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2409" y="818984"/>
            <a:ext cx="5912766" cy="3709693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79159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Hazards in the Dual-Issue MIPS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2588" y="844153"/>
            <a:ext cx="7714211" cy="367188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More instructions executing in parallel</a:t>
            </a:r>
          </a:p>
          <a:p>
            <a:r>
              <a:rPr lang="en-US" dirty="0"/>
              <a:t>EX data hazard</a:t>
            </a:r>
          </a:p>
          <a:p>
            <a:pPr lvl="1"/>
            <a:r>
              <a:rPr lang="en-US" dirty="0"/>
              <a:t>Forwarding avoided stalls with single-issue</a:t>
            </a:r>
          </a:p>
          <a:p>
            <a:pPr lvl="1"/>
            <a:r>
              <a:rPr lang="en-US" dirty="0"/>
              <a:t>Now cannot use ALU result in load/store in same packet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add 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$t0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$s0, $s1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load $s2, 0(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$t0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1"/>
            <a:r>
              <a:rPr lang="en-US" dirty="0"/>
              <a:t>Split into two packets, effectively a stall</a:t>
            </a:r>
          </a:p>
          <a:p>
            <a:r>
              <a:rPr lang="en-US" dirty="0"/>
              <a:t>Load-use hazard</a:t>
            </a:r>
          </a:p>
          <a:p>
            <a:pPr lvl="1"/>
            <a:r>
              <a:rPr lang="en-US" dirty="0"/>
              <a:t>Still one cycle use latency, but now two instructions</a:t>
            </a:r>
          </a:p>
          <a:p>
            <a:r>
              <a:rPr lang="en-US" dirty="0"/>
              <a:t>More aggressive scheduling required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32049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Scheduling Example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2588" y="844153"/>
            <a:ext cx="7714211" cy="3671888"/>
          </a:xfrm>
        </p:spPr>
        <p:txBody>
          <a:bodyPr/>
          <a:lstStyle/>
          <a:p>
            <a:r>
              <a:rPr lang="en-US" dirty="0"/>
              <a:t>Schedule this for dual-issue MIPS</a:t>
            </a:r>
          </a:p>
          <a:p>
            <a:pPr marL="0" indent="0">
              <a:buNone/>
              <a:tabLst>
                <a:tab pos="803672" algn="l"/>
                <a:tab pos="1407319" algn="l"/>
                <a:tab pos="3230166" algn="l"/>
              </a:tabLst>
            </a:pP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Loop:	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5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$t0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, 0($s1)	# $t0=array element</a:t>
            </a:r>
            <a:b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addu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5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$t0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5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$t0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, $s2	# add scalar in $s2 </a:t>
            </a:r>
            <a:b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5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$t0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, 0($s1)	# store result </a:t>
            </a:r>
            <a:b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5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$s1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, $s1,–4	# decrement pointer </a:t>
            </a:r>
            <a:b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bne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5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$s1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, $zero, Loop	# branch $s1!=0</a:t>
            </a:r>
          </a:p>
          <a:p>
            <a:pPr lvl="0">
              <a:buClr>
                <a:srgbClr val="000000"/>
              </a:buClr>
            </a:pPr>
            <a:endParaRPr lang="en-US" dirty="0">
              <a:solidFill>
                <a:srgbClr val="000000"/>
              </a:solidFill>
            </a:endParaRPr>
          </a:p>
          <a:p>
            <a:pPr lvl="0">
              <a:buClr>
                <a:srgbClr val="000000"/>
              </a:buClr>
            </a:pPr>
            <a:endParaRPr lang="en-US" dirty="0">
              <a:solidFill>
                <a:srgbClr val="000000"/>
              </a:solidFill>
            </a:endParaRPr>
          </a:p>
          <a:p>
            <a:pPr lvl="0">
              <a:buClr>
                <a:srgbClr val="000000"/>
              </a:buClr>
            </a:pPr>
            <a:endParaRPr lang="en-US" dirty="0">
              <a:solidFill>
                <a:srgbClr val="000000"/>
              </a:solidFill>
            </a:endParaRPr>
          </a:p>
          <a:p>
            <a:pPr lvl="0">
              <a:buClr>
                <a:srgbClr val="000000"/>
              </a:buClr>
            </a:pPr>
            <a:endParaRPr lang="en-US" dirty="0">
              <a:solidFill>
                <a:srgbClr val="000000"/>
              </a:solidFill>
            </a:endParaRPr>
          </a:p>
          <a:p>
            <a:pPr lvl="0">
              <a:buClr>
                <a:srgbClr val="000000"/>
              </a:buClr>
            </a:pPr>
            <a:r>
              <a:rPr lang="en-US" dirty="0">
                <a:solidFill>
                  <a:srgbClr val="000000"/>
                </a:solidFill>
              </a:rPr>
              <a:t>IPC = 5/4 = 1.25 (c.f. peak IPC = 2)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1332000" y="2670408"/>
            <a:ext cx="6480000" cy="1283040"/>
            <a:chOff x="252000" y="3721908"/>
            <a:chExt cx="8640000" cy="1710720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2000" y="3721908"/>
              <a:ext cx="8640000" cy="1710720"/>
            </a:xfrm>
            <a:prstGeom prst="rect">
              <a:avLst/>
            </a:prstGeom>
          </p:spPr>
        </p:pic>
        <p:sp>
          <p:nvSpPr>
            <p:cNvPr id="10" name="Rectangle 9"/>
            <p:cNvSpPr/>
            <p:nvPr/>
          </p:nvSpPr>
          <p:spPr>
            <a:xfrm>
              <a:off x="5765800" y="4200525"/>
              <a:ext cx="384175" cy="219076"/>
            </a:xfrm>
            <a:prstGeom prst="rect">
              <a:avLst/>
            </a:prstGeom>
            <a:solidFill>
              <a:srgbClr val="418AB3">
                <a:alpha val="25098"/>
              </a:srgb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154948" y="4757045"/>
              <a:ext cx="384175" cy="219076"/>
            </a:xfrm>
            <a:prstGeom prst="rect">
              <a:avLst/>
            </a:prstGeom>
            <a:solidFill>
              <a:srgbClr val="418AB3">
                <a:alpha val="25098"/>
              </a:srgb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708020" y="4758101"/>
              <a:ext cx="384175" cy="219076"/>
            </a:xfrm>
            <a:prstGeom prst="rect">
              <a:avLst/>
            </a:prstGeom>
            <a:solidFill>
              <a:srgbClr val="00B050">
                <a:alpha val="25098"/>
              </a:srgbClr>
            </a:solidFill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758015" y="5036005"/>
              <a:ext cx="384175" cy="219076"/>
            </a:xfrm>
            <a:prstGeom prst="rect">
              <a:avLst/>
            </a:prstGeom>
            <a:solidFill>
              <a:srgbClr val="00B050">
                <a:alpha val="25098"/>
              </a:srgbClr>
            </a:solidFill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700421" y="4484943"/>
              <a:ext cx="384175" cy="219076"/>
            </a:xfrm>
            <a:prstGeom prst="rect">
              <a:avLst/>
            </a:prstGeom>
            <a:solidFill>
              <a:srgbClr val="C00000">
                <a:alpha val="25098"/>
              </a:srgbClr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2700421" y="5027562"/>
              <a:ext cx="384175" cy="219076"/>
            </a:xfrm>
            <a:prstGeom prst="rect">
              <a:avLst/>
            </a:prstGeom>
            <a:solidFill>
              <a:srgbClr val="C00000">
                <a:alpha val="25098"/>
              </a:srgbClr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76305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 Unrolling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2588" y="844153"/>
            <a:ext cx="7714211" cy="3671888"/>
          </a:xfrm>
        </p:spPr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Replicate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loop body to expose more parallelism</a:t>
            </a:r>
          </a:p>
          <a:p>
            <a:pPr lvl="1"/>
            <a:r>
              <a:rPr lang="en-US" dirty="0"/>
              <a:t>Reduces loop-control overhead</a:t>
            </a:r>
          </a:p>
          <a:p>
            <a:r>
              <a:rPr lang="en-US" dirty="0"/>
              <a:t>Use different </a:t>
            </a:r>
            <a:r>
              <a:rPr lang="en-US" b="1" dirty="0">
                <a:solidFill>
                  <a:schemeClr val="accent1"/>
                </a:solidFill>
              </a:rPr>
              <a:t>registers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per replication</a:t>
            </a:r>
          </a:p>
          <a:p>
            <a:pPr lvl="1"/>
            <a:r>
              <a:rPr lang="en-US" dirty="0"/>
              <a:t>Compiler applies “</a:t>
            </a:r>
            <a:r>
              <a:rPr lang="en-US" b="1" dirty="0">
                <a:solidFill>
                  <a:schemeClr val="accent1"/>
                </a:solidFill>
              </a:rPr>
              <a:t>register renaming</a:t>
            </a:r>
            <a:r>
              <a:rPr lang="en-US" dirty="0"/>
              <a:t>” to eliminate all data dependencies that are not true data dependencies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63101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Unrolled Code Example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2588" y="844153"/>
            <a:ext cx="7714211" cy="3671888"/>
          </a:xfrm>
        </p:spPr>
        <p:txBody>
          <a:bodyPr>
            <a:normAutofit/>
          </a:bodyPr>
          <a:lstStyle/>
          <a:p>
            <a:pPr marL="0" indent="0">
              <a:buNone/>
              <a:tabLst>
                <a:tab pos="469106" algn="l"/>
                <a:tab pos="1073944" algn="l"/>
                <a:tab pos="2761060" algn="l"/>
              </a:tabLst>
            </a:pPr>
            <a:r>
              <a:rPr lang="en-US" sz="15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lp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	</a:t>
            </a:r>
            <a:r>
              <a:rPr lang="en-US" sz="15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en-US" sz="15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$t0,0($s1)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# $t0=array element</a:t>
            </a:r>
            <a:b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5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$t1,-4($s1)	# $t1=array element</a:t>
            </a:r>
            <a:b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5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$t2,-8($s1)	# $t2=array element</a:t>
            </a:r>
            <a:b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5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$t3,-12($s1)	# $t3=array element</a:t>
            </a:r>
            <a:b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5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addu</a:t>
            </a:r>
            <a:r>
              <a:rPr lang="en-US" sz="15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$t0,$t0,$s2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# add scalar in $s2</a:t>
            </a:r>
            <a:b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5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addu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$t1,$t1,$s2	# add scalar in $s2</a:t>
            </a:r>
            <a:b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5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addu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$t2,$t2,$s2	# add scalar in $s2</a:t>
            </a:r>
            <a:b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5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addu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$t3,$t3,$s2	# add scalar in $s2</a:t>
            </a:r>
            <a:b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5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en-US" sz="15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$t0,0($s1)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# store result</a:t>
            </a:r>
            <a:b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5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$t1,-4($s1)	# store result</a:t>
            </a:r>
            <a:b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5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$t2,-8($s1)	# store result</a:t>
            </a:r>
            <a:b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5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$t3,-12($s1)	# store result</a:t>
            </a:r>
            <a:b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5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$s1,$s1,-16	# decrement pointer</a:t>
            </a:r>
            <a:b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5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bne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$s1,$0,lp	# branch if $s1 != 0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94932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 Unrolling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7559" y="893850"/>
            <a:ext cx="5915025" cy="909831"/>
          </a:xfrm>
        </p:spPr>
        <p:txBody>
          <a:bodyPr>
            <a:normAutofit/>
          </a:bodyPr>
          <a:lstStyle/>
          <a:p>
            <a:r>
              <a:rPr lang="en-US" dirty="0"/>
              <a:t>IPC = 14/8 = 1.75</a:t>
            </a:r>
          </a:p>
          <a:p>
            <a:pPr lvl="1"/>
            <a:r>
              <a:rPr lang="en-US" dirty="0"/>
              <a:t>Closer to 2, but at cost of registers and code size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1172974" y="1958489"/>
            <a:ext cx="6480000" cy="2121119"/>
            <a:chOff x="1332000" y="1083845"/>
            <a:chExt cx="6480000" cy="2121119"/>
          </a:xfrm>
        </p:grpSpPr>
        <p:sp>
          <p:nvSpPr>
            <p:cNvPr id="9" name="Rectangle 8"/>
            <p:cNvSpPr/>
            <p:nvPr/>
          </p:nvSpPr>
          <p:spPr>
            <a:xfrm>
              <a:off x="5422233" y="1477298"/>
              <a:ext cx="288131" cy="164307"/>
            </a:xfrm>
            <a:prstGeom prst="rect">
              <a:avLst/>
            </a:prstGeom>
            <a:solidFill>
              <a:srgbClr val="418AB3">
                <a:alpha val="25098"/>
              </a:srgb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grpSp>
          <p:nvGrpSpPr>
            <p:cNvPr id="27" name="Group 26"/>
            <p:cNvGrpSpPr/>
            <p:nvPr/>
          </p:nvGrpSpPr>
          <p:grpSpPr>
            <a:xfrm>
              <a:off x="1332000" y="1083845"/>
              <a:ext cx="6480000" cy="2121119"/>
              <a:chOff x="252000" y="1445126"/>
              <a:chExt cx="8640000" cy="2828159"/>
            </a:xfrm>
          </p:grpSpPr>
          <p:pic>
            <p:nvPicPr>
              <p:cNvPr id="8" name="Picture 7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52000" y="1445126"/>
                <a:ext cx="8640000" cy="2828159"/>
              </a:xfrm>
              <a:prstGeom prst="rect">
                <a:avLst/>
              </a:prstGeom>
            </p:spPr>
          </p:pic>
          <p:sp>
            <p:nvSpPr>
              <p:cNvPr id="10" name="Rectangle 9"/>
              <p:cNvSpPr/>
              <p:nvPr/>
            </p:nvSpPr>
            <p:spPr>
              <a:xfrm>
                <a:off x="5705643" y="2246673"/>
                <a:ext cx="384175" cy="219076"/>
              </a:xfrm>
              <a:prstGeom prst="rect">
                <a:avLst/>
              </a:prstGeom>
              <a:solidFill>
                <a:srgbClr val="418AB3">
                  <a:alpha val="25098"/>
                </a:srgbClr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5705643" y="2523616"/>
                <a:ext cx="384175" cy="219076"/>
              </a:xfrm>
              <a:prstGeom prst="rect">
                <a:avLst/>
              </a:prstGeom>
              <a:solidFill>
                <a:srgbClr val="418AB3">
                  <a:alpha val="25098"/>
                </a:srgbClr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2" name="Rectangle 11"/>
              <p:cNvSpPr/>
              <p:nvPr/>
            </p:nvSpPr>
            <p:spPr>
              <a:xfrm>
                <a:off x="5705643" y="2800559"/>
                <a:ext cx="384175" cy="219076"/>
              </a:xfrm>
              <a:prstGeom prst="rect">
                <a:avLst/>
              </a:prstGeom>
              <a:solidFill>
                <a:srgbClr val="418AB3">
                  <a:alpha val="25098"/>
                </a:srgbClr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3178343" y="2520084"/>
                <a:ext cx="384175" cy="219076"/>
              </a:xfrm>
              <a:prstGeom prst="rect">
                <a:avLst/>
              </a:prstGeom>
              <a:solidFill>
                <a:srgbClr val="418AB3">
                  <a:alpha val="25098"/>
                </a:srgbClr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4" name="Rectangle 13"/>
              <p:cNvSpPr/>
              <p:nvPr/>
            </p:nvSpPr>
            <p:spPr>
              <a:xfrm>
                <a:off x="3178343" y="2797027"/>
                <a:ext cx="384175" cy="219076"/>
              </a:xfrm>
              <a:prstGeom prst="rect">
                <a:avLst/>
              </a:prstGeom>
              <a:solidFill>
                <a:srgbClr val="418AB3">
                  <a:alpha val="25098"/>
                </a:srgbClr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5" name="Rectangle 14"/>
              <p:cNvSpPr/>
              <p:nvPr/>
            </p:nvSpPr>
            <p:spPr>
              <a:xfrm>
                <a:off x="3178343" y="3073970"/>
                <a:ext cx="384175" cy="219076"/>
              </a:xfrm>
              <a:prstGeom prst="rect">
                <a:avLst/>
              </a:prstGeom>
              <a:solidFill>
                <a:srgbClr val="418AB3">
                  <a:alpha val="25098"/>
                </a:srgbClr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6" name="Rectangle 15"/>
              <p:cNvSpPr/>
              <p:nvPr/>
            </p:nvSpPr>
            <p:spPr>
              <a:xfrm>
                <a:off x="3178343" y="3350913"/>
                <a:ext cx="384175" cy="219076"/>
              </a:xfrm>
              <a:prstGeom prst="rect">
                <a:avLst/>
              </a:prstGeom>
              <a:solidFill>
                <a:srgbClr val="418AB3">
                  <a:alpha val="25098"/>
                </a:srgbClr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7" name="Rectangle 16"/>
              <p:cNvSpPr/>
              <p:nvPr/>
            </p:nvSpPr>
            <p:spPr>
              <a:xfrm>
                <a:off x="5705643" y="3081785"/>
                <a:ext cx="384175" cy="219076"/>
              </a:xfrm>
              <a:prstGeom prst="rect">
                <a:avLst/>
              </a:prstGeom>
              <a:solidFill>
                <a:srgbClr val="00B050">
                  <a:alpha val="25098"/>
                </a:srgbClr>
              </a:solidFill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8" name="Rectangle 17"/>
              <p:cNvSpPr/>
              <p:nvPr/>
            </p:nvSpPr>
            <p:spPr>
              <a:xfrm>
                <a:off x="5705643" y="3358728"/>
                <a:ext cx="384175" cy="219076"/>
              </a:xfrm>
              <a:prstGeom prst="rect">
                <a:avLst/>
              </a:prstGeom>
              <a:solidFill>
                <a:srgbClr val="00B050">
                  <a:alpha val="25098"/>
                </a:srgbClr>
              </a:solidFill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9" name="Rectangle 18"/>
              <p:cNvSpPr/>
              <p:nvPr/>
            </p:nvSpPr>
            <p:spPr>
              <a:xfrm>
                <a:off x="5705643" y="3635671"/>
                <a:ext cx="384175" cy="219076"/>
              </a:xfrm>
              <a:prstGeom prst="rect">
                <a:avLst/>
              </a:prstGeom>
              <a:solidFill>
                <a:srgbClr val="00B050">
                  <a:alpha val="25098"/>
                </a:srgbClr>
              </a:solidFill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0" name="Rectangle 19"/>
              <p:cNvSpPr/>
              <p:nvPr/>
            </p:nvSpPr>
            <p:spPr>
              <a:xfrm>
                <a:off x="5705643" y="3912614"/>
                <a:ext cx="384175" cy="219076"/>
              </a:xfrm>
              <a:prstGeom prst="rect">
                <a:avLst/>
              </a:prstGeom>
              <a:solidFill>
                <a:srgbClr val="00B050">
                  <a:alpha val="25098"/>
                </a:srgbClr>
              </a:solidFill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1" name="Rectangle 20"/>
              <p:cNvSpPr/>
              <p:nvPr/>
            </p:nvSpPr>
            <p:spPr>
              <a:xfrm>
                <a:off x="2731586" y="2519955"/>
                <a:ext cx="384175" cy="219076"/>
              </a:xfrm>
              <a:prstGeom prst="rect">
                <a:avLst/>
              </a:prstGeom>
              <a:solidFill>
                <a:srgbClr val="00B050">
                  <a:alpha val="25098"/>
                </a:srgbClr>
              </a:solidFill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2" name="Rectangle 21"/>
              <p:cNvSpPr/>
              <p:nvPr/>
            </p:nvSpPr>
            <p:spPr>
              <a:xfrm>
                <a:off x="2731586" y="2796898"/>
                <a:ext cx="384175" cy="219076"/>
              </a:xfrm>
              <a:prstGeom prst="rect">
                <a:avLst/>
              </a:prstGeom>
              <a:solidFill>
                <a:srgbClr val="00B050">
                  <a:alpha val="25098"/>
                </a:srgbClr>
              </a:solidFill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3" name="Rectangle 22"/>
              <p:cNvSpPr/>
              <p:nvPr/>
            </p:nvSpPr>
            <p:spPr>
              <a:xfrm>
                <a:off x="2731586" y="3073841"/>
                <a:ext cx="384175" cy="219076"/>
              </a:xfrm>
              <a:prstGeom prst="rect">
                <a:avLst/>
              </a:prstGeom>
              <a:solidFill>
                <a:srgbClr val="00B050">
                  <a:alpha val="25098"/>
                </a:srgbClr>
              </a:solidFill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4" name="Rectangle 23"/>
              <p:cNvSpPr/>
              <p:nvPr/>
            </p:nvSpPr>
            <p:spPr>
              <a:xfrm>
                <a:off x="2731586" y="3350784"/>
                <a:ext cx="384175" cy="219076"/>
              </a:xfrm>
              <a:prstGeom prst="rect">
                <a:avLst/>
              </a:prstGeom>
              <a:solidFill>
                <a:srgbClr val="00B050">
                  <a:alpha val="25098"/>
                </a:srgbClr>
              </a:solidFill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5" name="Rectangle 24"/>
              <p:cNvSpPr/>
              <p:nvPr/>
            </p:nvSpPr>
            <p:spPr>
              <a:xfrm>
                <a:off x="2731922" y="1975378"/>
                <a:ext cx="384175" cy="219076"/>
              </a:xfrm>
              <a:prstGeom prst="rect">
                <a:avLst/>
              </a:prstGeom>
              <a:solidFill>
                <a:srgbClr val="C00000">
                  <a:alpha val="25098"/>
                </a:srgbClr>
              </a:solidFill>
              <a:ln w="190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6" name="Rectangle 25"/>
              <p:cNvSpPr/>
              <p:nvPr/>
            </p:nvSpPr>
            <p:spPr>
              <a:xfrm>
                <a:off x="2731922" y="3912614"/>
                <a:ext cx="384175" cy="219076"/>
              </a:xfrm>
              <a:prstGeom prst="rect">
                <a:avLst/>
              </a:prstGeom>
              <a:solidFill>
                <a:srgbClr val="C00000">
                  <a:alpha val="25098"/>
                </a:srgbClr>
              </a:solidFill>
              <a:ln w="190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8" name="Rectangle 27"/>
              <p:cNvSpPr/>
              <p:nvPr/>
            </p:nvSpPr>
            <p:spPr>
              <a:xfrm>
                <a:off x="5705643" y="1969730"/>
                <a:ext cx="384175" cy="219076"/>
              </a:xfrm>
              <a:prstGeom prst="rect">
                <a:avLst/>
              </a:prstGeom>
              <a:solidFill>
                <a:srgbClr val="418AB3">
                  <a:alpha val="25098"/>
                </a:srgbClr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</p:grpSp>
      </p:grp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46346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Multiple Issue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2588" y="844153"/>
            <a:ext cx="7714211" cy="3671888"/>
          </a:xfrm>
        </p:spPr>
        <p:txBody>
          <a:bodyPr>
            <a:normAutofit/>
          </a:bodyPr>
          <a:lstStyle/>
          <a:p>
            <a:r>
              <a:rPr lang="en-US" dirty="0"/>
              <a:t>“</a:t>
            </a:r>
            <a:r>
              <a:rPr lang="en-US" b="1" dirty="0">
                <a:solidFill>
                  <a:schemeClr val="accent1"/>
                </a:solidFill>
              </a:rPr>
              <a:t>Superscalar</a:t>
            </a:r>
            <a:r>
              <a:rPr lang="en-US" dirty="0"/>
              <a:t>” processors</a:t>
            </a:r>
          </a:p>
          <a:p>
            <a:r>
              <a:rPr lang="en-US" dirty="0"/>
              <a:t>CPU decides whether to issue 0, 1, 2, … each cycle</a:t>
            </a:r>
          </a:p>
          <a:p>
            <a:pPr lvl="1"/>
            <a:r>
              <a:rPr lang="en-US" dirty="0"/>
              <a:t>Avoiding structural and data hazards</a:t>
            </a:r>
          </a:p>
          <a:p>
            <a:r>
              <a:rPr lang="en-US" dirty="0"/>
              <a:t>Avoids the need for compiler scheduling</a:t>
            </a:r>
          </a:p>
          <a:p>
            <a:pPr lvl="1"/>
            <a:r>
              <a:rPr lang="en-US" dirty="0"/>
              <a:t>Though it </a:t>
            </a:r>
            <a:r>
              <a:rPr lang="en-US" b="1" dirty="0">
                <a:solidFill>
                  <a:schemeClr val="accent1"/>
                </a:solidFill>
              </a:rPr>
              <a:t>may still help</a:t>
            </a:r>
          </a:p>
          <a:p>
            <a:pPr lvl="1"/>
            <a:r>
              <a:rPr lang="en-US" dirty="0"/>
              <a:t>Code semantics ensured by the CPU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65701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Pipeline Scheduling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7522" y="844153"/>
            <a:ext cx="7629277" cy="3671888"/>
          </a:xfrm>
        </p:spPr>
        <p:txBody>
          <a:bodyPr>
            <a:normAutofit/>
          </a:bodyPr>
          <a:lstStyle/>
          <a:p>
            <a:r>
              <a:rPr lang="en-US" dirty="0"/>
              <a:t>Allow the CPU to execute instructions out of order to avoid stalls</a:t>
            </a:r>
          </a:p>
          <a:p>
            <a:pPr lvl="1"/>
            <a:r>
              <a:rPr lang="en-US" dirty="0"/>
              <a:t>But commit result to registers in order</a:t>
            </a:r>
          </a:p>
          <a:p>
            <a:r>
              <a:rPr lang="en-US" dirty="0"/>
              <a:t>Example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$t0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20($s2)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addu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$t1, </a:t>
            </a:r>
            <a:r>
              <a:rPr lang="en-US" sz="1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$t0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$t2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sub	$s4, $s4, $t3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slti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$t5, $s4, 20</a:t>
            </a:r>
          </a:p>
          <a:p>
            <a:r>
              <a:rPr lang="en-US" dirty="0"/>
              <a:t>Can start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sub</a:t>
            </a:r>
            <a:r>
              <a:rPr lang="en-US" dirty="0"/>
              <a:t> while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addu</a:t>
            </a:r>
            <a:r>
              <a:rPr lang="en-US" dirty="0"/>
              <a:t> is waiting for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64350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Dynamically Scheduled CPU 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1178893" y="870512"/>
            <a:ext cx="6876500" cy="3668588"/>
            <a:chOff x="1202744" y="1083845"/>
            <a:chExt cx="6876500" cy="3668588"/>
          </a:xfrm>
        </p:grpSpPr>
        <p:grpSp>
          <p:nvGrpSpPr>
            <p:cNvPr id="49" name="Group 48"/>
            <p:cNvGrpSpPr/>
            <p:nvPr/>
          </p:nvGrpSpPr>
          <p:grpSpPr>
            <a:xfrm>
              <a:off x="1202744" y="1083845"/>
              <a:ext cx="5400000" cy="3495600"/>
              <a:chOff x="110138" y="1445126"/>
              <a:chExt cx="7200000" cy="4660800"/>
            </a:xfrm>
          </p:grpSpPr>
          <p:pic>
            <p:nvPicPr>
              <p:cNvPr id="9" name="Picture 8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10138" y="1445126"/>
                <a:ext cx="7200000" cy="4660800"/>
              </a:xfrm>
              <a:prstGeom prst="rect">
                <a:avLst/>
              </a:prstGeom>
            </p:spPr>
          </p:pic>
          <p:sp>
            <p:nvSpPr>
              <p:cNvPr id="10" name="Rectangle 9"/>
              <p:cNvSpPr/>
              <p:nvPr/>
            </p:nvSpPr>
            <p:spPr>
              <a:xfrm>
                <a:off x="5553243" y="1771610"/>
                <a:ext cx="1121877" cy="247690"/>
              </a:xfrm>
              <a:prstGeom prst="rect">
                <a:avLst/>
              </a:prstGeom>
              <a:solidFill>
                <a:srgbClr val="418AB3">
                  <a:alpha val="25098"/>
                </a:srgbClr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2" name="Rectangle 11"/>
              <p:cNvSpPr/>
              <p:nvPr/>
            </p:nvSpPr>
            <p:spPr>
              <a:xfrm>
                <a:off x="5579913" y="5467310"/>
                <a:ext cx="1217127" cy="247690"/>
              </a:xfrm>
              <a:prstGeom prst="rect">
                <a:avLst/>
              </a:prstGeom>
              <a:solidFill>
                <a:srgbClr val="418AB3">
                  <a:alpha val="25098"/>
                </a:srgbClr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5602773" y="3965438"/>
                <a:ext cx="1506687" cy="247690"/>
              </a:xfrm>
              <a:prstGeom prst="rect">
                <a:avLst/>
              </a:prstGeom>
              <a:solidFill>
                <a:srgbClr val="418AB3">
                  <a:alpha val="25098"/>
                </a:srgbClr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 dirty="0"/>
              </a:p>
            </p:txBody>
          </p:sp>
        </p:grpSp>
        <p:cxnSp>
          <p:nvCxnSpPr>
            <p:cNvPr id="48" name="Straight Arrow Connector 47"/>
            <p:cNvCxnSpPr/>
            <p:nvPr/>
          </p:nvCxnSpPr>
          <p:spPr>
            <a:xfrm flipH="1">
              <a:off x="6058752" y="3237316"/>
              <a:ext cx="468373" cy="92719"/>
            </a:xfrm>
            <a:prstGeom prst="straightConnector1">
              <a:avLst/>
            </a:prstGeom>
            <a:ln w="19050">
              <a:solidFill>
                <a:schemeClr val="accent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6346076" y="2841786"/>
              <a:ext cx="1733168" cy="7155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350" dirty="0"/>
                <a:t>Results also sent </a:t>
              </a:r>
              <a:br>
                <a:rPr lang="en-US" sz="1350" dirty="0"/>
              </a:br>
              <a:r>
                <a:rPr lang="en-US" sz="1350" dirty="0"/>
                <a:t>to any waiting </a:t>
              </a:r>
              <a:br>
                <a:rPr lang="en-US" sz="1350" dirty="0"/>
              </a:br>
              <a:r>
                <a:rPr lang="en-US" sz="1350" dirty="0"/>
                <a:t>reservation stations 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449474" y="1179217"/>
              <a:ext cx="1261884" cy="5078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350" dirty="0"/>
                <a:t>Preserves</a:t>
              </a:r>
              <a:br>
                <a:rPr lang="en-US" sz="1350" dirty="0"/>
              </a:br>
              <a:r>
                <a:rPr lang="en-US" sz="1350" dirty="0"/>
                <a:t>dependencies</a:t>
              </a:r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 flipH="1">
              <a:off x="6185068" y="1377316"/>
              <a:ext cx="387182" cy="44276"/>
            </a:xfrm>
            <a:prstGeom prst="straightConnector1">
              <a:avLst/>
            </a:prstGeom>
            <a:ln w="19050">
              <a:solidFill>
                <a:schemeClr val="accent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6509994" y="1845347"/>
              <a:ext cx="1252267" cy="5078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350" dirty="0"/>
                <a:t>Hold pending </a:t>
              </a:r>
              <a:br>
                <a:rPr lang="en-US" sz="1350" dirty="0"/>
              </a:br>
              <a:r>
                <a:rPr lang="en-US" sz="1350" dirty="0"/>
                <a:t>operands </a:t>
              </a:r>
            </a:p>
          </p:txBody>
        </p:sp>
        <p:cxnSp>
          <p:nvCxnSpPr>
            <p:cNvPr id="18" name="Straight Arrow Connector 17"/>
            <p:cNvCxnSpPr/>
            <p:nvPr/>
          </p:nvCxnSpPr>
          <p:spPr>
            <a:xfrm flipH="1">
              <a:off x="5441293" y="2087721"/>
              <a:ext cx="1091785" cy="178694"/>
            </a:xfrm>
            <a:prstGeom prst="straightConnector1">
              <a:avLst/>
            </a:prstGeom>
            <a:ln w="19050">
              <a:solidFill>
                <a:schemeClr val="accent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0" name="Group 59"/>
            <p:cNvGrpSpPr/>
            <p:nvPr/>
          </p:nvGrpSpPr>
          <p:grpSpPr>
            <a:xfrm>
              <a:off x="4352892" y="2330116"/>
              <a:ext cx="1696359" cy="2052985"/>
              <a:chOff x="4279856" y="3106821"/>
              <a:chExt cx="2261812" cy="2737313"/>
            </a:xfrm>
          </p:grpSpPr>
          <p:pic>
            <p:nvPicPr>
              <p:cNvPr id="57" name="Picture 56"/>
              <p:cNvPicPr>
                <a:picLocks noChangeAspect="1"/>
              </p:cNvPicPr>
              <p:nvPr/>
            </p:nvPicPr>
            <p:blipFill rotWithShape="1">
              <a:blip r:embed="rId3">
                <a:duotone>
                  <a:prstClr val="black"/>
                  <a:schemeClr val="bg2">
                    <a:tint val="45000"/>
                    <a:satMod val="400000"/>
                  </a:schemeClr>
                </a:duotone>
              </a:blip>
              <a:srcRect t="40722"/>
              <a:stretch/>
            </p:blipFill>
            <p:spPr>
              <a:xfrm>
                <a:off x="4279856" y="4221480"/>
                <a:ext cx="2261812" cy="1622654"/>
              </a:xfrm>
              <a:prstGeom prst="rect">
                <a:avLst/>
              </a:prstGeom>
            </p:spPr>
          </p:pic>
          <p:pic>
            <p:nvPicPr>
              <p:cNvPr id="59" name="Picture 58"/>
              <p:cNvPicPr>
                <a:picLocks noChangeAspect="1"/>
              </p:cNvPicPr>
              <p:nvPr/>
            </p:nvPicPr>
            <p:blipFill rotWithShape="1">
              <a:blip r:embed="rId3">
                <a:duotone>
                  <a:prstClr val="black"/>
                  <a:schemeClr val="bg2">
                    <a:tint val="45000"/>
                    <a:satMod val="400000"/>
                  </a:schemeClr>
                </a:duotone>
              </a:blip>
              <a:srcRect b="68744"/>
              <a:stretch/>
            </p:blipFill>
            <p:spPr>
              <a:xfrm>
                <a:off x="4279856" y="3106821"/>
                <a:ext cx="2261812" cy="855580"/>
              </a:xfrm>
              <a:prstGeom prst="rect">
                <a:avLst/>
              </a:prstGeom>
            </p:spPr>
          </p:pic>
        </p:grpSp>
        <p:sp>
          <p:nvSpPr>
            <p:cNvPr id="61" name="TextBox 60"/>
            <p:cNvSpPr txBox="1"/>
            <p:nvPr/>
          </p:nvSpPr>
          <p:spPr>
            <a:xfrm>
              <a:off x="1326581" y="3849574"/>
              <a:ext cx="1473480" cy="7155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350" dirty="0"/>
                <a:t>Reorders buffer </a:t>
              </a:r>
              <a:br>
                <a:rPr lang="en-US" sz="1350" dirty="0"/>
              </a:br>
              <a:r>
                <a:rPr lang="en-US" sz="1350" dirty="0"/>
                <a:t>for register </a:t>
              </a:r>
              <a:br>
                <a:rPr lang="en-US" sz="1350" dirty="0"/>
              </a:br>
              <a:r>
                <a:rPr lang="en-US" sz="1350" dirty="0"/>
                <a:t>(memory) writes </a:t>
              </a:r>
            </a:p>
          </p:txBody>
        </p:sp>
        <p:cxnSp>
          <p:nvCxnSpPr>
            <p:cNvPr id="63" name="Straight Arrow Connector 62"/>
            <p:cNvCxnSpPr/>
            <p:nvPr/>
          </p:nvCxnSpPr>
          <p:spPr>
            <a:xfrm>
              <a:off x="2601804" y="4193366"/>
              <a:ext cx="612084" cy="92885"/>
            </a:xfrm>
            <a:prstGeom prst="straightConnector1">
              <a:avLst/>
            </a:prstGeom>
            <a:ln w="19050">
              <a:solidFill>
                <a:schemeClr val="accent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TextBox 65"/>
            <p:cNvSpPr txBox="1"/>
            <p:nvPr/>
          </p:nvSpPr>
          <p:spPr>
            <a:xfrm>
              <a:off x="6204386" y="4036852"/>
              <a:ext cx="1656224" cy="7155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350" dirty="0"/>
                <a:t>Can supply </a:t>
              </a:r>
              <a:br>
                <a:rPr lang="en-US" sz="1350" dirty="0"/>
              </a:br>
              <a:r>
                <a:rPr lang="en-US" sz="1350" dirty="0"/>
                <a:t>operands for </a:t>
              </a:r>
              <a:br>
                <a:rPr lang="en-US" sz="1350" dirty="0"/>
              </a:br>
              <a:r>
                <a:rPr lang="en-US" sz="1350" dirty="0"/>
                <a:t>issued instructions </a:t>
              </a:r>
            </a:p>
          </p:txBody>
        </p:sp>
        <p:cxnSp>
          <p:nvCxnSpPr>
            <p:cNvPr id="67" name="Straight Arrow Connector 66"/>
            <p:cNvCxnSpPr/>
            <p:nvPr/>
          </p:nvCxnSpPr>
          <p:spPr>
            <a:xfrm flipH="1" flipV="1">
              <a:off x="4750795" y="4351071"/>
              <a:ext cx="1666937" cy="80141"/>
            </a:xfrm>
            <a:prstGeom prst="straightConnector1">
              <a:avLst/>
            </a:prstGeom>
            <a:ln w="19050">
              <a:solidFill>
                <a:schemeClr val="accent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65363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Dynamic Scheduling?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2588" y="844153"/>
            <a:ext cx="7714211" cy="3671888"/>
          </a:xfrm>
        </p:spPr>
        <p:txBody>
          <a:bodyPr>
            <a:normAutofit/>
          </a:bodyPr>
          <a:lstStyle/>
          <a:p>
            <a:r>
              <a:rPr lang="en-US" dirty="0"/>
              <a:t>Why not just let the compiler schedule code?</a:t>
            </a:r>
          </a:p>
          <a:p>
            <a:r>
              <a:rPr lang="en-US" b="1" dirty="0">
                <a:solidFill>
                  <a:schemeClr val="accent1"/>
                </a:solidFill>
              </a:rPr>
              <a:t>Not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all stalls are </a:t>
            </a:r>
            <a:r>
              <a:rPr lang="en-US" b="1" dirty="0">
                <a:solidFill>
                  <a:schemeClr val="accent1"/>
                </a:solidFill>
              </a:rPr>
              <a:t>predicable</a:t>
            </a:r>
          </a:p>
          <a:p>
            <a:pPr lvl="1"/>
            <a:r>
              <a:rPr lang="en-US" dirty="0"/>
              <a:t>e.g., cache misses</a:t>
            </a:r>
          </a:p>
          <a:p>
            <a:r>
              <a:rPr lang="en-US" dirty="0"/>
              <a:t>Can’t always schedule around </a:t>
            </a:r>
            <a:r>
              <a:rPr lang="en-US" b="1" dirty="0">
                <a:solidFill>
                  <a:schemeClr val="accent1"/>
                </a:solidFill>
              </a:rPr>
              <a:t>branches</a:t>
            </a:r>
          </a:p>
          <a:p>
            <a:pPr lvl="1"/>
            <a:r>
              <a:rPr lang="en-US" b="1" dirty="0">
                <a:solidFill>
                  <a:schemeClr val="accent1"/>
                </a:solidFill>
              </a:rPr>
              <a:t>Branch outcome </a:t>
            </a:r>
            <a:r>
              <a:rPr lang="en-US" dirty="0"/>
              <a:t>is dynamically determined</a:t>
            </a:r>
          </a:p>
          <a:p>
            <a:r>
              <a:rPr lang="en-US" dirty="0"/>
              <a:t>Different </a:t>
            </a:r>
            <a:r>
              <a:rPr lang="en-US" b="1" dirty="0">
                <a:solidFill>
                  <a:schemeClr val="accent1"/>
                </a:solidFill>
              </a:rPr>
              <a:t>implementations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of an ISA have different </a:t>
            </a:r>
            <a:r>
              <a:rPr lang="en-US" b="1" dirty="0">
                <a:solidFill>
                  <a:schemeClr val="accent1"/>
                </a:solidFill>
              </a:rPr>
              <a:t>latencies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and </a:t>
            </a:r>
            <a:r>
              <a:rPr lang="en-US" b="1" dirty="0">
                <a:solidFill>
                  <a:schemeClr val="accent1"/>
                </a:solidFill>
              </a:rPr>
              <a:t>hazards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67393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Does Multiple Issue Work?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9572" y="844153"/>
            <a:ext cx="7637228" cy="3671888"/>
          </a:xfrm>
        </p:spPr>
        <p:txBody>
          <a:bodyPr>
            <a:normAutofit/>
          </a:bodyPr>
          <a:lstStyle/>
          <a:p>
            <a:r>
              <a:rPr lang="en-US" dirty="0"/>
              <a:t>Yes, but not as much as we’d like:</a:t>
            </a:r>
          </a:p>
          <a:p>
            <a:pPr lvl="1"/>
            <a:r>
              <a:rPr lang="en-US" dirty="0"/>
              <a:t>Programs have real </a:t>
            </a:r>
            <a:r>
              <a:rPr lang="en-US" b="1" dirty="0">
                <a:solidFill>
                  <a:schemeClr val="accent1"/>
                </a:solidFill>
              </a:rPr>
              <a:t>dependencies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that limit ILP</a:t>
            </a:r>
          </a:p>
          <a:p>
            <a:pPr lvl="1"/>
            <a:r>
              <a:rPr lang="en-US" dirty="0"/>
              <a:t>Some dependencies are </a:t>
            </a:r>
            <a:r>
              <a:rPr lang="en-US" b="1" dirty="0">
                <a:solidFill>
                  <a:schemeClr val="accent1"/>
                </a:solidFill>
              </a:rPr>
              <a:t>hard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to </a:t>
            </a:r>
            <a:r>
              <a:rPr lang="en-US" b="1" dirty="0">
                <a:solidFill>
                  <a:schemeClr val="accent1"/>
                </a:solidFill>
              </a:rPr>
              <a:t>eliminate</a:t>
            </a:r>
          </a:p>
          <a:p>
            <a:pPr lvl="1"/>
            <a:r>
              <a:rPr lang="en-US" dirty="0"/>
              <a:t>Some parallelism is hard to expose</a:t>
            </a:r>
          </a:p>
          <a:p>
            <a:pPr lvl="1"/>
            <a:r>
              <a:rPr lang="en-US" dirty="0"/>
              <a:t>Memory </a:t>
            </a:r>
            <a:r>
              <a:rPr lang="en-US" b="1" dirty="0">
                <a:solidFill>
                  <a:schemeClr val="accent1"/>
                </a:solidFill>
              </a:rPr>
              <a:t>delays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and limited </a:t>
            </a:r>
            <a:r>
              <a:rPr lang="en-US" b="1" dirty="0">
                <a:solidFill>
                  <a:schemeClr val="accent1"/>
                </a:solidFill>
              </a:rPr>
              <a:t>bandwidth</a:t>
            </a:r>
            <a:r>
              <a:rPr lang="en-US" dirty="0"/>
              <a:t>, hard to keep pipelines </a:t>
            </a:r>
            <a:r>
              <a:rPr lang="en-US" b="1" dirty="0">
                <a:solidFill>
                  <a:schemeClr val="accent1"/>
                </a:solidFill>
              </a:rPr>
              <a:t>full</a:t>
            </a:r>
          </a:p>
          <a:p>
            <a:pPr lvl="1"/>
            <a:r>
              <a:rPr lang="en-US" b="1" dirty="0">
                <a:solidFill>
                  <a:schemeClr val="accent1"/>
                </a:solidFill>
              </a:rPr>
              <a:t>Speculation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can help if done well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73905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Efficiency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2588" y="844153"/>
            <a:ext cx="7714211" cy="1329376"/>
          </a:xfrm>
        </p:spPr>
        <p:txBody>
          <a:bodyPr/>
          <a:lstStyle/>
          <a:p>
            <a:r>
              <a:rPr lang="en-US" dirty="0"/>
              <a:t>Complexity of dynamic scheduling and speculations requires power</a:t>
            </a:r>
          </a:p>
          <a:p>
            <a:r>
              <a:rPr lang="en-US" dirty="0"/>
              <a:t>Multiple simpler cores may be better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735" y="2173529"/>
            <a:ext cx="7436476" cy="2414376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2905430"/>
      </p:ext>
    </p:extLst>
  </p:cSld>
  <p:clrMapOvr>
    <a:masterClrMapping/>
  </p:clrMapOvr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THU UniCloud" id="{771810AA-CEBD-463A-B947-7C0DFAF8BB54}" vid="{30CF6CD1-9989-4B2E-8702-709C1DF65D8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NTHU UniCloud</Template>
  <TotalTime>2515</TotalTime>
  <Words>772</Words>
  <Application>Microsoft Office PowerPoint</Application>
  <PresentationFormat>全屏显示(16:9)</PresentationFormat>
  <Paragraphs>158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7" baseType="lpstr">
      <vt:lpstr>MS Sans Serif</vt:lpstr>
      <vt:lpstr>Arial</vt:lpstr>
      <vt:lpstr>Calibri</vt:lpstr>
      <vt:lpstr>Courier New</vt:lpstr>
      <vt:lpstr>Wingdings</vt:lpstr>
      <vt:lpstr>NTHU UniCloud</vt:lpstr>
      <vt:lpstr>CSC3050 – Computer Architecture</vt:lpstr>
      <vt:lpstr>Instruction-Level Parallelism (ILP)</vt:lpstr>
      <vt:lpstr>Multiple Issue </vt:lpstr>
      <vt:lpstr>Speculation </vt:lpstr>
      <vt:lpstr>Compiler or Hardware Speculation </vt:lpstr>
      <vt:lpstr>Speculation and Exceptions </vt:lpstr>
      <vt:lpstr>Static Multiple Issue </vt:lpstr>
      <vt:lpstr>Scheduling Static Multiple Issue </vt:lpstr>
      <vt:lpstr>MIPS with Static Dual Issue </vt:lpstr>
      <vt:lpstr>MIPS with Static Dual Issue </vt:lpstr>
      <vt:lpstr>Hazards in the Dual-Issue MIPS </vt:lpstr>
      <vt:lpstr>Scheduling Example </vt:lpstr>
      <vt:lpstr>Loop Unrolling </vt:lpstr>
      <vt:lpstr>Unrolled Code Example </vt:lpstr>
      <vt:lpstr>Loop Unrolling Example</vt:lpstr>
      <vt:lpstr>Dynamic Multiple Issue </vt:lpstr>
      <vt:lpstr>Dynamic Pipeline Scheduling </vt:lpstr>
      <vt:lpstr>Dynamically Scheduled CPU </vt:lpstr>
      <vt:lpstr>Why Do Dynamic Scheduling? </vt:lpstr>
      <vt:lpstr>Does Multiple Issue Work? </vt:lpstr>
      <vt:lpstr>Power Efficiency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Open 5G / IoT Cloud Platform</dc:title>
  <dc:creator>Wu-Chun Chung</dc:creator>
  <cp:lastModifiedBy>Yeh-Ching Chung 鍾葉青）</cp:lastModifiedBy>
  <cp:revision>261</cp:revision>
  <dcterms:created xsi:type="dcterms:W3CDTF">2015-06-05T07:23:35Z</dcterms:created>
  <dcterms:modified xsi:type="dcterms:W3CDTF">2019-02-27T10:27:03Z</dcterms:modified>
</cp:coreProperties>
</file>