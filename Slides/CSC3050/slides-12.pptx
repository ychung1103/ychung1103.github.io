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9" y="55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2022/4/10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2022/4/10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7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76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F57E44A-A077-405F-AD0B-7BEC4FE3B19B}"/>
              </a:ext>
            </a:extLst>
          </p:cNvPr>
          <p:cNvSpPr/>
          <p:nvPr userDrawn="1"/>
        </p:nvSpPr>
        <p:spPr>
          <a:xfrm>
            <a:off x="667467" y="4681341"/>
            <a:ext cx="21273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Parallel Programming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204" y="844153"/>
            <a:ext cx="7640595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Goal: connecting </a:t>
            </a:r>
            <a:r>
              <a:rPr lang="en-US" b="1" dirty="0">
                <a:solidFill>
                  <a:schemeClr val="accent1"/>
                </a:solidFill>
              </a:rPr>
              <a:t>multiple computers</a:t>
            </a:r>
            <a:r>
              <a:rPr lang="en-US" dirty="0"/>
              <a:t> to get higher performance</a:t>
            </a:r>
          </a:p>
          <a:p>
            <a:pPr lvl="1"/>
            <a:r>
              <a:rPr lang="en-US" dirty="0"/>
              <a:t>Multiprocessors</a:t>
            </a:r>
          </a:p>
          <a:p>
            <a:pPr lvl="1"/>
            <a:r>
              <a:rPr lang="en-US" dirty="0"/>
              <a:t>Scalability, availability, power efficiency</a:t>
            </a:r>
          </a:p>
          <a:p>
            <a:r>
              <a:rPr lang="en-US" dirty="0"/>
              <a:t>Job-level (</a:t>
            </a:r>
            <a:r>
              <a:rPr lang="en-US" b="1" dirty="0">
                <a:solidFill>
                  <a:schemeClr val="accent1"/>
                </a:solidFill>
              </a:rPr>
              <a:t>process-level</a:t>
            </a:r>
            <a:r>
              <a:rPr lang="en-US" dirty="0"/>
              <a:t>) parallelism</a:t>
            </a:r>
          </a:p>
          <a:p>
            <a:pPr lvl="1"/>
            <a:r>
              <a:rPr lang="en-US" dirty="0"/>
              <a:t>High throughput for </a:t>
            </a:r>
            <a:r>
              <a:rPr lang="en-US" b="1" dirty="0">
                <a:solidFill>
                  <a:schemeClr val="accent1"/>
                </a:solidFill>
              </a:rPr>
              <a:t>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jobs</a:t>
            </a:r>
          </a:p>
          <a:p>
            <a:r>
              <a:rPr lang="en-US" dirty="0"/>
              <a:t>Parallel processing program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Single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program run on </a:t>
            </a:r>
            <a:r>
              <a:rPr lang="en-US" b="1" dirty="0">
                <a:solidFill>
                  <a:schemeClr val="accent1"/>
                </a:solidFill>
              </a:rPr>
              <a:t>multiple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processors</a:t>
            </a:r>
          </a:p>
          <a:p>
            <a:r>
              <a:rPr lang="en-US" dirty="0"/>
              <a:t>Multicore microprocessors</a:t>
            </a:r>
          </a:p>
          <a:p>
            <a:pPr lvl="1"/>
            <a:r>
              <a:rPr lang="en-US" dirty="0"/>
              <a:t>Chips with multiple processors (</a:t>
            </a:r>
            <a:r>
              <a:rPr lang="en-US" b="1" dirty="0">
                <a:solidFill>
                  <a:schemeClr val="accent1"/>
                </a:solidFill>
              </a:rPr>
              <a:t>cores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37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dirty="0"/>
              <a:t>Sequential/concurrent software can run on serial/parallel hardware</a:t>
            </a:r>
          </a:p>
          <a:p>
            <a:pPr lvl="1"/>
            <a:r>
              <a:rPr lang="en-US" dirty="0"/>
              <a:t>Challenge: making effective use of parallel hardware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398977"/>
            <a:ext cx="6480000" cy="181007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28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Parallel software is the problem</a:t>
            </a:r>
          </a:p>
          <a:p>
            <a:r>
              <a:rPr lang="en-US" dirty="0"/>
              <a:t>Need to get </a:t>
            </a:r>
            <a:r>
              <a:rPr lang="en-US" b="1" dirty="0">
                <a:solidFill>
                  <a:schemeClr val="accent1"/>
                </a:solidFill>
              </a:rPr>
              <a:t>significant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performance improvement</a:t>
            </a:r>
          </a:p>
          <a:p>
            <a:pPr lvl="1"/>
            <a:r>
              <a:rPr lang="en-US" dirty="0"/>
              <a:t>Otherwise, just use a faster </a:t>
            </a:r>
            <a:r>
              <a:rPr lang="en-US" b="1" dirty="0">
                <a:solidFill>
                  <a:schemeClr val="accent1"/>
                </a:solidFill>
              </a:rPr>
              <a:t>uniprocessor</a:t>
            </a:r>
            <a:r>
              <a:rPr lang="en-US" dirty="0"/>
              <a:t>, since it’s </a:t>
            </a:r>
            <a:r>
              <a:rPr lang="en-US" b="1" dirty="0">
                <a:solidFill>
                  <a:schemeClr val="accent1"/>
                </a:solidFill>
              </a:rPr>
              <a:t>easier</a:t>
            </a:r>
            <a:r>
              <a:rPr lang="en-US" dirty="0"/>
              <a:t>!</a:t>
            </a:r>
          </a:p>
          <a:p>
            <a:r>
              <a:rPr lang="en-US" b="1" dirty="0">
                <a:solidFill>
                  <a:schemeClr val="accent1"/>
                </a:solidFill>
              </a:rPr>
              <a:t>Difficulties</a:t>
            </a:r>
          </a:p>
          <a:p>
            <a:pPr lvl="1"/>
            <a:r>
              <a:rPr lang="en-US" dirty="0"/>
              <a:t>Partitioning, load balancing</a:t>
            </a:r>
          </a:p>
          <a:p>
            <a:pPr lvl="1"/>
            <a:r>
              <a:rPr lang="en-US" dirty="0"/>
              <a:t>Coordination, synchronization</a:t>
            </a:r>
          </a:p>
          <a:p>
            <a:pPr lvl="1"/>
            <a:r>
              <a:rPr lang="en-US" dirty="0"/>
              <a:t>Communications overhead</a:t>
            </a:r>
          </a:p>
          <a:p>
            <a:pPr lvl="1"/>
            <a:r>
              <a:rPr lang="en-US" dirty="0"/>
              <a:t>Sequential dependencies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9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(1)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743415"/>
              </p:ext>
            </p:extLst>
          </p:nvPr>
        </p:nvGraphicFramePr>
        <p:xfrm>
          <a:off x="1735511" y="1057762"/>
          <a:ext cx="2430000" cy="2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389844"/>
              </p:ext>
            </p:extLst>
          </p:nvPr>
        </p:nvGraphicFramePr>
        <p:xfrm>
          <a:off x="5041463" y="1057762"/>
          <a:ext cx="1890000" cy="2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4350124" y="1194922"/>
            <a:ext cx="490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1614488" y="1537659"/>
                <a:ext cx="5915025" cy="2913449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i="1"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100" baseline="-25000">
                          <a:cs typeface="Times New Roman" panose="020206030504050203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improvable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100" i="1"/>
                            <m:t>M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improvement</m:t>
                          </m:r>
                        </m:den>
                      </m:f>
                      <m:r>
                        <m:rPr>
                          <m:nor/>
                        </m:rPr>
                        <a:rPr lang="en-US" sz="2100"/>
                        <m:t> 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2100" i="1"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100" baseline="-25000">
                          <a:cs typeface="Times New Roman" panose="02020603050405020304" pitchFamily="18" charset="0"/>
                        </a:rPr>
                        <m:t>unimprovable</m:t>
                      </m:r>
                    </m:oMath>
                  </m:oMathPara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  <a:p>
                <a:endParaRPr lang="en-US" sz="21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Speed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up</m:t>
                      </m:r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old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100" i="1"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>
                              <a:cs typeface="Times New Roman" panose="02020603050405020304" pitchFamily="18" charset="0"/>
                            </a:rPr>
                            <m:t>new</m:t>
                          </m:r>
                        </m:den>
                      </m:f>
                      <m:r>
                        <m:rPr>
                          <m:nor/>
                        </m:rPr>
                        <a:rPr lang="en-US" sz="2100"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100" i="1"/>
                            <m:t>t</m:t>
                          </m:r>
                          <m:r>
                            <m:rPr>
                              <m:nor/>
                            </m:rPr>
                            <a:rPr lang="en-US" sz="2100" baseline="-25000"/>
                            <m:t>old</m:t>
                          </m:r>
                        </m:num>
                        <m:den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old</m:t>
                              </m:r>
                              <m:r>
                                <m:rPr>
                                  <m:nor/>
                                </m:rPr>
                                <a:rPr lang="en-US" sz="21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dirty="0"/>
                                <m:t>− </m:t>
                              </m:r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improvable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100"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100"/>
                            <m:t>+</m:t>
                          </m:r>
                          <m:r>
                            <a:rPr lang="en-US" sz="210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2100" i="1"/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improvable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2100" i="1"/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US" sz="2100" baseline="-25000"/>
                                <m:t>improvement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1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100"/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100">
                                <a:cs typeface="Times New Roman" panose="02020603050405020304" pitchFamily="18" charset="0"/>
                              </a:rPr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US" sz="2100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sz="2100" i="1"/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improvable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100"/>
                          <m:t> + </m:t>
                        </m:r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100" i="1"/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improvable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100" i="1"/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sz="2100" baseline="-25000"/>
                              <m:t>improvement</m:t>
                            </m:r>
                          </m:den>
                        </m:f>
                      </m:den>
                    </m:f>
                  </m:oMath>
                </a14:m>
                <a:endParaRPr lang="en-US" sz="2100" baseline="-25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88" y="1537659"/>
                <a:ext cx="5915025" cy="291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41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(2)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56824" y="837355"/>
                <a:ext cx="6966042" cy="377440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cs typeface="Times New Roman" panose="02020603050405020304" pitchFamily="18" charset="0"/>
                  </a:rPr>
                  <a:t>To achieve 90x speed-up using 100 processors</a:t>
                </a:r>
              </a:p>
              <a:p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Speed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up</m:t>
                      </m:r>
                      <m:r>
                        <m:rPr>
                          <m:nor/>
                        </m:rPr>
                        <a:rPr lang="en-US">
                          <a:cs typeface="Times New Roman" panose="02020603050405020304" pitchFamily="18" charset="0"/>
                        </a:rPr>
                        <m:t> = 90 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/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800"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  <m:r>
                                <m:rPr>
                                  <m:nor/>
                                </m:rPr>
                                <a:rPr lang="en-US" sz="1800" dirty="0"/>
                                <m:t>− </m:t>
                              </m:r>
                              <m:r>
                                <m:rPr>
                                  <m:nor/>
                                </m:rPr>
                                <a:rPr lang="en-US" sz="1800" i="1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sz="1800" baseline="-25000"/>
                                <m:t>improvable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1800"/>
                            <m:t>+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800" i="1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sz="1800" baseline="-25000"/>
                                <m:t>improvable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800"/>
                                <m:t>100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1800" baseline="-25000" dirty="0">
                  <a:cs typeface="Times New Roman" panose="02020603050405020304" pitchFamily="18" charset="0"/>
                </a:endParaRPr>
              </a:p>
              <a:p>
                <a:endParaRPr lang="en-US" i="1" dirty="0">
                  <a:cs typeface="Times New Roman" panose="02020603050405020304" pitchFamily="18" charset="0"/>
                </a:endParaRPr>
              </a:p>
              <a:p>
                <a:r>
                  <a:rPr lang="en-US" i="1" dirty="0" err="1">
                    <a:cs typeface="Times New Roman" panose="02020603050405020304" pitchFamily="18" charset="0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</a:rPr>
                  <a:t>improvable</a:t>
                </a:r>
                <a:r>
                  <a:rPr lang="en-US" dirty="0">
                    <a:cs typeface="Times New Roman" panose="02020603050405020304" pitchFamily="18" charset="0"/>
                  </a:rPr>
                  <a:t> = 0.999 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 </a:t>
                </a:r>
                <a:r>
                  <a:rPr lang="en-US" i="1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unimprovable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:r>
                  <a:rPr lang="en-US" i="1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f</a:t>
                </a:r>
                <a:r>
                  <a:rPr lang="en-US" baseline="-25000" dirty="0" err="1">
                    <a:cs typeface="Times New Roman" panose="02020603050405020304" pitchFamily="18" charset="0"/>
                    <a:sym typeface="Wingdings" panose="05000000000000000000" pitchFamily="2" charset="2"/>
                  </a:rPr>
                  <a:t>sequential</a:t>
                </a:r>
                <a:r>
                  <a:rPr lang="en-US" dirty="0">
                    <a:cs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:r>
                  <a:rPr lang="en-US" b="1" dirty="0">
                    <a:solidFill>
                      <a:srgbClr val="FF0000"/>
                    </a:solidFill>
                    <a:cs typeface="Times New Roman" panose="02020603050405020304" pitchFamily="18" charset="0"/>
                    <a:sym typeface="Wingdings" panose="05000000000000000000" pitchFamily="2" charset="2"/>
                  </a:rPr>
                  <a:t>0.1%</a:t>
                </a:r>
                <a:endParaRPr lang="en-US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  <a:p>
                <a:endParaRPr lang="en-US" dirty="0"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Sequential</a:t>
                </a:r>
                <a:r>
                  <a:rPr 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part can </a:t>
                </a:r>
                <a:r>
                  <a:rPr lang="en-US" b="1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limit</a:t>
                </a:r>
                <a:r>
                  <a:rPr lang="en-US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speed-up</a:t>
                </a:r>
              </a:p>
              <a:p>
                <a:endParaRPr lang="en-US" sz="1800" dirty="0">
                  <a:cs typeface="Times New Roman" panose="02020603050405020304" pitchFamily="18" charset="0"/>
                </a:endParaRP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6824" y="837355"/>
                <a:ext cx="6966042" cy="3774402"/>
              </a:xfrm>
              <a:blipFill>
                <a:blip r:embed="rId2"/>
                <a:stretch>
                  <a:fillRect l="-612" t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46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72" y="844153"/>
            <a:ext cx="7637228" cy="3671888"/>
          </a:xfrm>
        </p:spPr>
        <p:txBody>
          <a:bodyPr/>
          <a:lstStyle/>
          <a:p>
            <a:r>
              <a:rPr lang="en-US" sz="2000" dirty="0"/>
              <a:t>Calculate sum of 10 scalars, and sum of two 10×10 matrices</a:t>
            </a:r>
          </a:p>
          <a:p>
            <a:r>
              <a:rPr lang="en-US" sz="2000" dirty="0"/>
              <a:t>Single processor: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(10 + 100)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110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10 processors</a:t>
            </a:r>
            <a:r>
              <a:rPr lang="en-US" sz="2000" dirty="0"/>
              <a:t>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10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+ (100/10)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20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/>
            <a:r>
              <a:rPr lang="en-US" sz="1800" dirty="0"/>
              <a:t>Speed-up = 110/20 = </a:t>
            </a:r>
            <a:r>
              <a:rPr lang="en-US" sz="1800" b="1" dirty="0">
                <a:solidFill>
                  <a:schemeClr val="accent1"/>
                </a:solidFill>
              </a:rPr>
              <a:t>5.5 </a:t>
            </a:r>
            <a:r>
              <a:rPr lang="en-US" sz="1800" dirty="0"/>
              <a:t>(55% of ideal)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100 processors</a:t>
            </a:r>
            <a:r>
              <a:rPr lang="en-US" sz="2000" dirty="0"/>
              <a:t>:</a:t>
            </a:r>
          </a:p>
          <a:p>
            <a:pPr lvl="1"/>
            <a:r>
              <a:rPr lang="en-US" sz="1800" i="1" dirty="0" err="1"/>
              <a:t>t</a:t>
            </a:r>
            <a:r>
              <a:rPr lang="en-US" sz="1800" baseline="-25000" dirty="0" err="1"/>
              <a:t>total</a:t>
            </a:r>
            <a:r>
              <a:rPr lang="en-US" sz="1800" dirty="0"/>
              <a:t> = 10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+ (100/100) × </a:t>
            </a:r>
            <a:r>
              <a:rPr lang="en-US" sz="1800" i="1" dirty="0" err="1"/>
              <a:t>t</a:t>
            </a:r>
            <a:r>
              <a:rPr lang="en-US" sz="1800" baseline="-25000" dirty="0" err="1"/>
              <a:t>add</a:t>
            </a:r>
            <a:r>
              <a:rPr lang="en-US" sz="1800" dirty="0"/>
              <a:t> = </a:t>
            </a:r>
            <a:r>
              <a:rPr lang="en-US" sz="1800" b="1" dirty="0">
                <a:solidFill>
                  <a:schemeClr val="accent1"/>
                </a:solidFill>
              </a:rPr>
              <a:t>11 </a:t>
            </a:r>
            <a:r>
              <a:rPr lang="en-US" sz="1800" b="1" i="1" dirty="0" err="1">
                <a:solidFill>
                  <a:schemeClr val="accent1"/>
                </a:solidFill>
              </a:rPr>
              <a:t>t</a:t>
            </a:r>
            <a:r>
              <a:rPr lang="en-US" sz="1800" b="1" baseline="-25000" dirty="0" err="1">
                <a:solidFill>
                  <a:schemeClr val="accent1"/>
                </a:solidFill>
              </a:rPr>
              <a:t>add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/>
            <a:r>
              <a:rPr lang="en-US" sz="1800" dirty="0"/>
              <a:t>Speed-up = 110/11 = </a:t>
            </a:r>
            <a:r>
              <a:rPr lang="en-US" sz="1800" b="1" dirty="0">
                <a:solidFill>
                  <a:schemeClr val="accent1"/>
                </a:solidFill>
              </a:rPr>
              <a:t>10</a:t>
            </a:r>
            <a:r>
              <a:rPr lang="en-US" sz="1800" dirty="0"/>
              <a:t> (10% of ideal)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01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dirty="0"/>
              <a:t>What if matrix size is 100 × 100?</a:t>
            </a:r>
          </a:p>
          <a:p>
            <a:r>
              <a:rPr lang="en-US" dirty="0"/>
              <a:t>Single processor: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(10 + 10000)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10010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10 processors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10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+ (10000/10)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1010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Speed-up = 10010/1010 = </a:t>
            </a:r>
            <a:r>
              <a:rPr lang="en-US" b="1" dirty="0">
                <a:solidFill>
                  <a:schemeClr val="accent1"/>
                </a:solidFill>
              </a:rPr>
              <a:t>9.9 </a:t>
            </a:r>
            <a:r>
              <a:rPr lang="en-US" dirty="0"/>
              <a:t>(99% of ideal)</a:t>
            </a:r>
          </a:p>
          <a:p>
            <a:r>
              <a:rPr lang="en-US" b="1" dirty="0">
                <a:solidFill>
                  <a:schemeClr val="accent1"/>
                </a:solidFill>
              </a:rPr>
              <a:t>100 processors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t</a:t>
            </a:r>
            <a:r>
              <a:rPr lang="en-US" baseline="-25000" dirty="0" err="1"/>
              <a:t>total</a:t>
            </a:r>
            <a:r>
              <a:rPr lang="en-US" dirty="0"/>
              <a:t> = 10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+ (10000/100) × </a:t>
            </a:r>
            <a:r>
              <a:rPr lang="en-US" i="1" dirty="0" err="1"/>
              <a:t>t</a:t>
            </a:r>
            <a:r>
              <a:rPr lang="en-US" baseline="-25000" dirty="0" err="1"/>
              <a:t>add</a:t>
            </a:r>
            <a:r>
              <a:rPr lang="en-US" dirty="0"/>
              <a:t> = </a:t>
            </a:r>
            <a:r>
              <a:rPr lang="en-US" b="1" dirty="0">
                <a:solidFill>
                  <a:schemeClr val="accent1"/>
                </a:solidFill>
              </a:rPr>
              <a:t>110 </a:t>
            </a:r>
            <a:r>
              <a:rPr lang="en-US" b="1" i="1" dirty="0" err="1">
                <a:solidFill>
                  <a:schemeClr val="accent1"/>
                </a:solidFill>
              </a:rPr>
              <a:t>t</a:t>
            </a:r>
            <a:r>
              <a:rPr lang="en-US" b="1" baseline="-25000" dirty="0" err="1">
                <a:solidFill>
                  <a:schemeClr val="accent1"/>
                </a:solidFill>
              </a:rPr>
              <a:t>add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Speed-up = 10010/110 = </a:t>
            </a:r>
            <a:r>
              <a:rPr lang="en-US" b="1" dirty="0">
                <a:solidFill>
                  <a:schemeClr val="accent1"/>
                </a:solidFill>
              </a:rPr>
              <a:t>91</a:t>
            </a:r>
            <a:r>
              <a:rPr lang="en-US" dirty="0"/>
              <a:t> (91% of ideal)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31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vs Weak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384233" cy="367188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Strong scaling</a:t>
            </a:r>
          </a:p>
          <a:p>
            <a:pPr lvl="1"/>
            <a:r>
              <a:rPr lang="en-US" dirty="0"/>
              <a:t>Speed-up achieved on a multiprocessor without increasing the size of the problem.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Weak scaling</a:t>
            </a:r>
          </a:p>
          <a:p>
            <a:pPr lvl="1"/>
            <a:r>
              <a:rPr lang="en-US" dirty="0"/>
              <a:t>Speedup achieved on a multiprocessor while increasing the size of the problem proportionally to the increase in the number of processors.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78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384233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Difficult to continue to extract </a:t>
            </a:r>
            <a:r>
              <a:rPr lang="en-US" b="1" dirty="0">
                <a:solidFill>
                  <a:schemeClr val="accent1"/>
                </a:solidFill>
              </a:rPr>
              <a:t>instruction-level parallelism</a:t>
            </a:r>
            <a:r>
              <a:rPr lang="en-US" dirty="0"/>
              <a:t> (ILP) from a single sequential thread of control</a:t>
            </a:r>
          </a:p>
          <a:p>
            <a:r>
              <a:rPr lang="en-US" dirty="0"/>
              <a:t>Many workloads can make use of </a:t>
            </a:r>
            <a:r>
              <a:rPr lang="en-US" b="1" dirty="0">
                <a:solidFill>
                  <a:schemeClr val="accent1"/>
                </a:solidFill>
              </a:rPr>
              <a:t>thread-level parallelism</a:t>
            </a:r>
            <a:r>
              <a:rPr lang="en-US" dirty="0"/>
              <a:t> (TLP)</a:t>
            </a:r>
          </a:p>
          <a:p>
            <a:pPr lvl="1"/>
            <a:r>
              <a:rPr lang="en-US" dirty="0"/>
              <a:t>TLP from </a:t>
            </a:r>
            <a:r>
              <a:rPr lang="en-US" b="1" dirty="0">
                <a:solidFill>
                  <a:schemeClr val="accent1"/>
                </a:solidFill>
              </a:rPr>
              <a:t>multiprogramming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(run independent sequential jobs)</a:t>
            </a:r>
          </a:p>
          <a:p>
            <a:pPr lvl="1"/>
            <a:r>
              <a:rPr lang="en-US" dirty="0"/>
              <a:t>TLP from </a:t>
            </a:r>
            <a:r>
              <a:rPr lang="en-US" b="1" dirty="0">
                <a:solidFill>
                  <a:schemeClr val="accent1"/>
                </a:solidFill>
              </a:rPr>
              <a:t>multithreaded applications</a:t>
            </a:r>
            <a:r>
              <a:rPr lang="en-US" dirty="0"/>
              <a:t> (run one job faster using parallel threads)</a:t>
            </a:r>
          </a:p>
          <a:p>
            <a:r>
              <a:rPr lang="en-US" dirty="0"/>
              <a:t>Multithreading uses TLP to improve utilization of a single processor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17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web browser</a:t>
            </a:r>
          </a:p>
          <a:p>
            <a:pPr lvl="1"/>
            <a:r>
              <a:rPr lang="en-US" dirty="0"/>
              <a:t>One thread displays </a:t>
            </a:r>
            <a:r>
              <a:rPr lang="en-US" b="1" dirty="0">
                <a:solidFill>
                  <a:schemeClr val="accent1"/>
                </a:solidFill>
              </a:rPr>
              <a:t>images</a:t>
            </a:r>
          </a:p>
          <a:p>
            <a:pPr lvl="1"/>
            <a:r>
              <a:rPr lang="en-US" dirty="0"/>
              <a:t>One thread retrieves </a:t>
            </a:r>
            <a:r>
              <a:rPr lang="en-US" b="1" dirty="0">
                <a:solidFill>
                  <a:schemeClr val="accent1"/>
                </a:solidFill>
              </a:rPr>
              <a:t>data </a:t>
            </a:r>
            <a:r>
              <a:rPr lang="en-US" dirty="0"/>
              <a:t>from network</a:t>
            </a:r>
          </a:p>
          <a:p>
            <a:r>
              <a:rPr lang="en-US" dirty="0"/>
              <a:t>A word processor</a:t>
            </a:r>
          </a:p>
          <a:p>
            <a:pPr lvl="1"/>
            <a:r>
              <a:rPr lang="en-US" dirty="0"/>
              <a:t>One thread displays </a:t>
            </a:r>
            <a:r>
              <a:rPr lang="en-US" b="1" dirty="0">
                <a:solidFill>
                  <a:schemeClr val="accent1"/>
                </a:solidFill>
              </a:rPr>
              <a:t>graphics</a:t>
            </a:r>
          </a:p>
          <a:p>
            <a:pPr lvl="1"/>
            <a:r>
              <a:rPr lang="en-US" dirty="0"/>
              <a:t>One thread reads </a:t>
            </a:r>
            <a:r>
              <a:rPr lang="en-US" b="1" dirty="0">
                <a:solidFill>
                  <a:schemeClr val="accent1"/>
                </a:solidFill>
              </a:rPr>
              <a:t>keystrokes</a:t>
            </a:r>
          </a:p>
          <a:p>
            <a:pPr lvl="1"/>
            <a:r>
              <a:rPr lang="en-US" dirty="0"/>
              <a:t>One thread performs </a:t>
            </a:r>
            <a:r>
              <a:rPr lang="en-US" b="1" dirty="0">
                <a:solidFill>
                  <a:schemeClr val="accent1"/>
                </a:solidFill>
              </a:rPr>
              <a:t>spell checking </a:t>
            </a:r>
            <a:r>
              <a:rPr lang="en-US" dirty="0"/>
              <a:t>in the background</a:t>
            </a:r>
          </a:p>
          <a:p>
            <a:r>
              <a:rPr lang="en-US" dirty="0"/>
              <a:t>A web server</a:t>
            </a:r>
          </a:p>
          <a:p>
            <a:pPr lvl="1"/>
            <a:r>
              <a:rPr lang="en-US" dirty="0"/>
              <a:t>One thread accepts </a:t>
            </a:r>
            <a:r>
              <a:rPr lang="en-US" b="1" dirty="0">
                <a:solidFill>
                  <a:schemeClr val="accent1"/>
                </a:solidFill>
              </a:rPr>
              <a:t>requests</a:t>
            </a:r>
          </a:p>
          <a:p>
            <a:pPr lvl="1"/>
            <a:r>
              <a:rPr lang="en-US" dirty="0"/>
              <a:t>When a request comes in, separate thread is created to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</a:p>
          <a:p>
            <a:pPr lvl="1"/>
            <a:r>
              <a:rPr lang="en-US" dirty="0"/>
              <a:t>Many threads to support </a:t>
            </a:r>
            <a:r>
              <a:rPr lang="en-US" b="1" dirty="0">
                <a:solidFill>
                  <a:schemeClr val="accent1"/>
                </a:solidFill>
              </a:rPr>
              <a:t>thousands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client requests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57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Multithreading on a Chip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590967" cy="367188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Find a way to “hide” true </a:t>
            </a:r>
            <a:r>
              <a:rPr lang="en-US" sz="2000" b="1" dirty="0">
                <a:solidFill>
                  <a:schemeClr val="accent1"/>
                </a:solidFill>
              </a:rPr>
              <a:t>data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dependency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stalls, </a:t>
            </a:r>
            <a:r>
              <a:rPr lang="en-US" sz="2000" b="1" dirty="0">
                <a:solidFill>
                  <a:schemeClr val="accent1"/>
                </a:solidFill>
              </a:rPr>
              <a:t>cache miss </a:t>
            </a:r>
            <a:r>
              <a:rPr lang="en-US" sz="2000" dirty="0"/>
              <a:t>stalls, and </a:t>
            </a:r>
            <a:r>
              <a:rPr lang="en-US" sz="2000" b="1" dirty="0">
                <a:solidFill>
                  <a:schemeClr val="accent1"/>
                </a:solidFill>
              </a:rPr>
              <a:t>branch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stalls by finding instructions (from </a:t>
            </a:r>
            <a:r>
              <a:rPr lang="en-US" sz="2000" b="1" dirty="0">
                <a:solidFill>
                  <a:schemeClr val="accent1"/>
                </a:solidFill>
              </a:rPr>
              <a:t>other process threads</a:t>
            </a:r>
            <a:r>
              <a:rPr lang="en-US" sz="2000" dirty="0"/>
              <a:t>) that are independent of those stalling instructions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Hardware multithreading</a:t>
            </a:r>
            <a:r>
              <a:rPr lang="en-US" sz="2000" dirty="0"/>
              <a:t> – increase the utilization of resources on a chip by allowing multiple processes (threads) to share the functional units of a single processor</a:t>
            </a:r>
          </a:p>
          <a:p>
            <a:pPr lvl="1"/>
            <a:r>
              <a:rPr lang="en-US" sz="1600" dirty="0"/>
              <a:t>Processor must duplicate the state hardware for each thread – a separate register file, PC, instruction buffer, and store buffer for each thread</a:t>
            </a:r>
          </a:p>
          <a:p>
            <a:pPr lvl="1"/>
            <a:r>
              <a:rPr lang="en-US" sz="1600" dirty="0"/>
              <a:t>The </a:t>
            </a:r>
            <a:r>
              <a:rPr lang="en-US" sz="1600" b="1" dirty="0">
                <a:solidFill>
                  <a:schemeClr val="accent1"/>
                </a:solidFill>
              </a:rPr>
              <a:t>caches</a:t>
            </a:r>
            <a:r>
              <a:rPr lang="en-US" sz="1600" dirty="0"/>
              <a:t>, Translation Look-aside Buffers (</a:t>
            </a:r>
            <a:r>
              <a:rPr lang="en-US" sz="1600" b="1" dirty="0">
                <a:solidFill>
                  <a:schemeClr val="accent1"/>
                </a:solidFill>
              </a:rPr>
              <a:t>TLBs</a:t>
            </a:r>
            <a:r>
              <a:rPr lang="en-US" sz="1600" dirty="0"/>
              <a:t>), Branch History Table (</a:t>
            </a:r>
            <a:r>
              <a:rPr lang="en-US" sz="1600" b="1" dirty="0">
                <a:solidFill>
                  <a:schemeClr val="accent1"/>
                </a:solidFill>
              </a:rPr>
              <a:t>BHT</a:t>
            </a:r>
            <a:r>
              <a:rPr lang="en-US" sz="1600" dirty="0"/>
              <a:t>), Branch Target Buffer (</a:t>
            </a:r>
            <a:r>
              <a:rPr lang="en-US" sz="1600" b="1" dirty="0">
                <a:solidFill>
                  <a:schemeClr val="accent1"/>
                </a:solidFill>
              </a:rPr>
              <a:t>BTB</a:t>
            </a:r>
            <a:r>
              <a:rPr lang="en-US" sz="1600" dirty="0"/>
              <a:t>), Register Update Unit (</a:t>
            </a:r>
            <a:r>
              <a:rPr lang="en-US" sz="1600" b="1" dirty="0">
                <a:solidFill>
                  <a:schemeClr val="accent1"/>
                </a:solidFill>
              </a:rPr>
              <a:t>RUU</a:t>
            </a:r>
            <a:r>
              <a:rPr lang="en-US" sz="1600" dirty="0"/>
              <a:t>) can be shared (although the miss rates may increase if they are not sized accordingly)</a:t>
            </a:r>
          </a:p>
          <a:p>
            <a:pPr lvl="1"/>
            <a:r>
              <a:rPr lang="en-US" sz="1600" dirty="0"/>
              <a:t>The memory can be shared through virtual memory mechanisms</a:t>
            </a:r>
          </a:p>
          <a:p>
            <a:pPr lvl="1"/>
            <a:r>
              <a:rPr lang="en-US" sz="1600" dirty="0"/>
              <a:t>Hardware must support </a:t>
            </a:r>
            <a:r>
              <a:rPr lang="en-US" sz="1600" b="1" dirty="0">
                <a:solidFill>
                  <a:schemeClr val="accent1"/>
                </a:solidFill>
              </a:rPr>
              <a:t>efficient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thread context switching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014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74" y="844153"/>
            <a:ext cx="7621325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Fine-grained</a:t>
            </a:r>
            <a:r>
              <a:rPr lang="en-US" dirty="0"/>
              <a:t> multithreading</a:t>
            </a:r>
          </a:p>
          <a:p>
            <a:pPr lvl="1"/>
            <a:r>
              <a:rPr lang="en-US" dirty="0"/>
              <a:t>Switch threads after each cycle</a:t>
            </a:r>
          </a:p>
          <a:p>
            <a:pPr lvl="1"/>
            <a:r>
              <a:rPr lang="en-US" dirty="0"/>
              <a:t>Interleave instruction execution</a:t>
            </a:r>
          </a:p>
          <a:p>
            <a:pPr lvl="1"/>
            <a:r>
              <a:rPr lang="en-US" dirty="0"/>
              <a:t>If one thread stalls, others are executed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Coarse-grained</a:t>
            </a:r>
            <a:r>
              <a:rPr lang="en-US" dirty="0"/>
              <a:t> multithreading</a:t>
            </a:r>
          </a:p>
          <a:p>
            <a:pPr lvl="1"/>
            <a:r>
              <a:rPr lang="en-US" dirty="0"/>
              <a:t>Only switch on long stall (e.g., L2-cache miss)</a:t>
            </a:r>
          </a:p>
          <a:p>
            <a:pPr lvl="1"/>
            <a:r>
              <a:rPr lang="en-US" dirty="0"/>
              <a:t>Simplifies hardware, but does not hide short stalls</a:t>
            </a:r>
          </a:p>
          <a:p>
            <a:pPr lvl="1"/>
            <a:r>
              <a:rPr lang="en-US" dirty="0"/>
              <a:t>Also has pipeline start-up costs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38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Simultaneous Multithreading (SMT)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b="1" dirty="0">
                <a:solidFill>
                  <a:schemeClr val="accent1"/>
                </a:solidFill>
              </a:rPr>
              <a:t>multiple-issue</a:t>
            </a:r>
            <a:r>
              <a:rPr lang="en-US" dirty="0"/>
              <a:t> dynamically scheduled processor</a:t>
            </a:r>
          </a:p>
          <a:p>
            <a:pPr lvl="1"/>
            <a:r>
              <a:rPr lang="en-US" dirty="0"/>
              <a:t>Schedule instructions from </a:t>
            </a:r>
            <a:r>
              <a:rPr lang="en-US" b="1" dirty="0">
                <a:solidFill>
                  <a:schemeClr val="accent1"/>
                </a:solidFill>
              </a:rPr>
              <a:t>multiple threads</a:t>
            </a:r>
          </a:p>
          <a:p>
            <a:pPr lvl="1"/>
            <a:r>
              <a:rPr lang="en-US" dirty="0"/>
              <a:t>Instructions from </a:t>
            </a:r>
            <a:r>
              <a:rPr lang="en-US" b="1" dirty="0">
                <a:solidFill>
                  <a:schemeClr val="accent1"/>
                </a:solidFill>
              </a:rPr>
              <a:t>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threads execute when function units are available</a:t>
            </a:r>
          </a:p>
          <a:p>
            <a:pPr lvl="1"/>
            <a:r>
              <a:rPr lang="en-US" dirty="0"/>
              <a:t>Within threads, dependencies handled by </a:t>
            </a:r>
            <a:r>
              <a:rPr lang="en-US" b="1" dirty="0">
                <a:solidFill>
                  <a:schemeClr val="accent1"/>
                </a:solidFill>
              </a:rPr>
              <a:t>scheduling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register renaming</a:t>
            </a:r>
          </a:p>
          <a:p>
            <a:r>
              <a:rPr lang="en-US" dirty="0"/>
              <a:t>Example: Intel Pentium-4 </a:t>
            </a:r>
            <a:r>
              <a:rPr lang="en-US" b="1" dirty="0" err="1">
                <a:solidFill>
                  <a:schemeClr val="accent1"/>
                </a:solidFill>
              </a:rPr>
              <a:t>HyperThreading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Two threads: duplicated registers, shared function units and caches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312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Threading on a 4-way SS Processor Example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28" y="826937"/>
            <a:ext cx="4147847" cy="377033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96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Big Picture: Where are We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496" y="844153"/>
            <a:ext cx="7641205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Multiprocessor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a computer system with at least two processors</a:t>
            </a:r>
          </a:p>
          <a:p>
            <a:pPr lvl="1"/>
            <a:r>
              <a:rPr lang="en-US" dirty="0"/>
              <a:t>Can deliver high </a:t>
            </a:r>
            <a:r>
              <a:rPr lang="en-US" b="1" dirty="0">
                <a:solidFill>
                  <a:schemeClr val="accent1"/>
                </a:solidFill>
              </a:rPr>
              <a:t>throughput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jobs via </a:t>
            </a:r>
            <a:r>
              <a:rPr lang="en-US" b="1" dirty="0">
                <a:solidFill>
                  <a:schemeClr val="accent1"/>
                </a:solidFill>
              </a:rPr>
              <a:t>job-level parallelism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1"/>
                </a:solidFill>
              </a:rPr>
              <a:t>process-level parallelism</a:t>
            </a:r>
          </a:p>
          <a:p>
            <a:pPr lvl="1"/>
            <a:r>
              <a:rPr lang="en-US" dirty="0"/>
              <a:t>And improve the run time of a single program that has been </a:t>
            </a:r>
            <a:r>
              <a:rPr lang="en-US" b="1" dirty="0">
                <a:solidFill>
                  <a:schemeClr val="accent1"/>
                </a:solidFill>
              </a:rPr>
              <a:t>specially crafted </a:t>
            </a:r>
            <a:r>
              <a:rPr lang="en-US" dirty="0"/>
              <a:t>to run on a multiprocessor – a </a:t>
            </a:r>
            <a:r>
              <a:rPr lang="en-US" b="1" dirty="0">
                <a:solidFill>
                  <a:schemeClr val="accent1"/>
                </a:solidFill>
              </a:rPr>
              <a:t>parallel processing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36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Multicores Now Universal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sz="1800" dirty="0"/>
              <a:t>Power challenge has forced a change in microprocessor design</a:t>
            </a:r>
          </a:p>
          <a:p>
            <a:pPr lvl="1"/>
            <a:r>
              <a:rPr lang="en-US" sz="1500" dirty="0"/>
              <a:t>Since 2002 the rate of improvement in the response time of programs has slowed from a factor of 1.5 per year to less than a factor of 1.2 per year</a:t>
            </a:r>
          </a:p>
          <a:p>
            <a:r>
              <a:rPr lang="en-US" sz="1800" dirty="0"/>
              <a:t>Today’s microprocessors typically contain more than one core – </a:t>
            </a:r>
            <a:r>
              <a:rPr lang="en-US" sz="1800" b="1" dirty="0">
                <a:solidFill>
                  <a:schemeClr val="accent1"/>
                </a:solidFill>
              </a:rPr>
              <a:t>Chip Multicore </a:t>
            </a:r>
            <a:r>
              <a:rPr lang="en-US" sz="1800" b="1" dirty="0" err="1">
                <a:solidFill>
                  <a:schemeClr val="accent1"/>
                </a:solidFill>
              </a:rPr>
              <a:t>microProcessors</a:t>
            </a:r>
            <a:r>
              <a:rPr lang="en-US" sz="1800" b="1" dirty="0">
                <a:solidFill>
                  <a:schemeClr val="accent1"/>
                </a:solidFill>
              </a:rPr>
              <a:t> (CMPs)</a:t>
            </a:r>
            <a:r>
              <a:rPr lang="en-US" sz="1800" dirty="0"/>
              <a:t> – in a single 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69387"/>
              </p:ext>
            </p:extLst>
          </p:nvPr>
        </p:nvGraphicFramePr>
        <p:xfrm>
          <a:off x="1423283" y="2679589"/>
          <a:ext cx="6066846" cy="178306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604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4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12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52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Product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AMD Barcelona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Intel Nehalem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IBM Power 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 Niagara</a:t>
                      </a:r>
                      <a:r>
                        <a:rPr lang="en-US" sz="1400" baseline="0" dirty="0"/>
                        <a:t> 2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Cores per chip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Clock rate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2.5</a:t>
                      </a:r>
                      <a:r>
                        <a:rPr lang="en-US" sz="1400" baseline="0" dirty="0"/>
                        <a:t> GHz</a:t>
                      </a:r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~2.5 GHz?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4.7 GHz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1.4 GHz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Power</a:t>
                      </a:r>
                    </a:p>
                  </a:txBody>
                  <a:tcPr marL="68580" marR="68580" marT="34290" marB="34290" anchor="ctr">
                    <a:lnR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>
                    <a:lnL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120 W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~100 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~100 W?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 W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478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Multiprocessor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539" y="799415"/>
            <a:ext cx="7714211" cy="1740021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SMP</a:t>
            </a:r>
            <a:r>
              <a:rPr lang="en-US" sz="2000" dirty="0"/>
              <a:t>: shared memory multiprocessor</a:t>
            </a:r>
          </a:p>
          <a:p>
            <a:pPr lvl="1"/>
            <a:r>
              <a:rPr lang="en-US" sz="1800" dirty="0"/>
              <a:t>Hardware provides </a:t>
            </a:r>
            <a:r>
              <a:rPr lang="en-US" sz="1800" b="1" dirty="0">
                <a:solidFill>
                  <a:schemeClr val="accent1"/>
                </a:solidFill>
              </a:rPr>
              <a:t>single physical address space</a:t>
            </a:r>
            <a:r>
              <a:rPr lang="en-US" sz="1800" dirty="0"/>
              <a:t> for all processors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Synchronize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shared variables using </a:t>
            </a:r>
            <a:r>
              <a:rPr lang="en-US" sz="1800" b="1" dirty="0">
                <a:solidFill>
                  <a:schemeClr val="accent1"/>
                </a:solidFill>
              </a:rPr>
              <a:t>locks</a:t>
            </a:r>
          </a:p>
          <a:p>
            <a:pPr lvl="1"/>
            <a:r>
              <a:rPr lang="en-US" sz="1800" dirty="0"/>
              <a:t>Memory access time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UMA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(uniform) vs. </a:t>
            </a:r>
            <a:r>
              <a:rPr lang="en-US" b="1" dirty="0">
                <a:solidFill>
                  <a:schemeClr val="accent1"/>
                </a:solidFill>
              </a:rPr>
              <a:t>NUMA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nonuniform</a:t>
            </a:r>
            <a:r>
              <a:rPr lang="en-US" dirty="0"/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567" y="2584174"/>
            <a:ext cx="3568866" cy="19343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35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Address Space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Autofit/>
          </a:bodyPr>
          <a:lstStyle/>
          <a:p>
            <a:r>
              <a:rPr lang="en-US" sz="1800" dirty="0"/>
              <a:t>Add 100,000 numbers in shared memory using 100 processors (P0–P99)</a:t>
            </a:r>
            <a:endParaRPr lang="en-US" sz="1500" dirty="0"/>
          </a:p>
          <a:p>
            <a:pPr marL="0" indent="0">
              <a:buNone/>
              <a:tabLst>
                <a:tab pos="198835" algn="l"/>
              </a:tabLst>
            </a:pPr>
            <a:r>
              <a:rPr lang="en-US" sz="1500" dirty="0"/>
              <a:t>	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1000*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1000*(Pn+1);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+= 1)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+= A[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]; /*sum the assigned areas*/</a:t>
            </a:r>
          </a:p>
          <a:p>
            <a:r>
              <a:rPr lang="en-US" sz="1800" dirty="0"/>
              <a:t>Gather the partial sums (</a:t>
            </a:r>
            <a:r>
              <a:rPr lang="en-US" sz="1800" b="1" dirty="0">
                <a:solidFill>
                  <a:schemeClr val="accent1"/>
                </a:solidFill>
              </a:rPr>
              <a:t>reduction</a:t>
            </a:r>
            <a:r>
              <a:rPr lang="en-US" sz="1800" dirty="0"/>
              <a:t>)</a:t>
            </a:r>
          </a:p>
          <a:p>
            <a:pPr marL="0" indent="0">
              <a:buNone/>
              <a:tabLst>
                <a:tab pos="198835" algn="l"/>
              </a:tabLst>
            </a:pPr>
            <a:r>
              <a:rPr lang="en-US" sz="1500" dirty="0"/>
              <a:t>	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half = 100; /*100 processors in multiprocessor*/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do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synch()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 /*wait for partial sum completion*/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if (half%2 != 0 &amp;&amp;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== 0)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	sum[0] += sum[half–1];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half = half/2;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half) 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 += sum[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Pn+half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while (half &gt; 1);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506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57" y="1083845"/>
            <a:ext cx="6331286" cy="324583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98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100055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Each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processor has private </a:t>
            </a:r>
            <a:r>
              <a:rPr lang="en-US" b="1" dirty="0">
                <a:solidFill>
                  <a:schemeClr val="accent1"/>
                </a:solidFill>
              </a:rPr>
              <a:t>physical address</a:t>
            </a:r>
            <a:r>
              <a:rPr lang="en-US" dirty="0"/>
              <a:t> space</a:t>
            </a:r>
          </a:p>
          <a:p>
            <a:r>
              <a:rPr lang="en-US" dirty="0"/>
              <a:t>Hardware sends/receives </a:t>
            </a:r>
            <a:r>
              <a:rPr lang="en-US" b="1" dirty="0">
                <a:solidFill>
                  <a:schemeClr val="accent1"/>
                </a:solidFill>
              </a:rPr>
              <a:t>messages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between processors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661" y="1940118"/>
            <a:ext cx="4988659" cy="26173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26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Reduction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Sum 100,000 on 100 processors</a:t>
            </a:r>
          </a:p>
          <a:p>
            <a:r>
              <a:rPr lang="en-US" dirty="0"/>
              <a:t>First distribute 100 numbers to each</a:t>
            </a:r>
          </a:p>
          <a:p>
            <a:r>
              <a:rPr lang="en-US" dirty="0"/>
              <a:t>The do partial sums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sum = 0;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&lt;1000;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+ 1)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sum += AN[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/>
              <a:t>Reduction</a:t>
            </a:r>
          </a:p>
          <a:p>
            <a:pPr lvl="1"/>
            <a:r>
              <a:rPr lang="en-US" dirty="0"/>
              <a:t>Half the processors </a:t>
            </a:r>
            <a:r>
              <a:rPr lang="en-US" b="1" dirty="0">
                <a:solidFill>
                  <a:schemeClr val="accent1"/>
                </a:solidFill>
              </a:rPr>
              <a:t>send</a:t>
            </a:r>
            <a:r>
              <a:rPr lang="en-US" dirty="0"/>
              <a:t>, other half </a:t>
            </a:r>
            <a:r>
              <a:rPr lang="en-US" b="1" dirty="0">
                <a:solidFill>
                  <a:schemeClr val="accent1"/>
                </a:solidFill>
              </a:rPr>
              <a:t>receive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add</a:t>
            </a:r>
          </a:p>
          <a:p>
            <a:pPr lvl="1"/>
            <a:r>
              <a:rPr lang="en-US" dirty="0"/>
              <a:t>The quarter send, quarter receive and add,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543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Reduction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Given send() and receive() operations</a:t>
            </a:r>
          </a:p>
          <a:p>
            <a:pPr marL="0" indent="0">
              <a:buNone/>
              <a:tabLst>
                <a:tab pos="266700" algn="l"/>
                <a:tab pos="609600" algn="l"/>
                <a:tab pos="942975" algn="l"/>
                <a:tab pos="3095625" algn="l"/>
              </a:tabLst>
            </a:pP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limit = 100; half = 100;/* 100 processors */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do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half = (half+1)/2; /* send vs. receive 					dividing line */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&gt;= half &amp;&amp;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&lt; limit)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send(</a:t>
            </a:r>
            <a:r>
              <a:rPr lang="en-US" sz="165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half, sum)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&lt; (limit/2))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	sum = sum + </a:t>
            </a:r>
            <a:r>
              <a:rPr lang="en-US" sz="165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receive()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	limit = half; /* upper limit of senders */ 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while (half &gt; 1); /* exit with final sum */</a:t>
            </a:r>
          </a:p>
          <a:p>
            <a:r>
              <a:rPr lang="en-US" dirty="0"/>
              <a:t>Send/receive also provide synchronization</a:t>
            </a:r>
          </a:p>
          <a:p>
            <a:r>
              <a:rPr lang="en-US" dirty="0"/>
              <a:t>Assumes send/receive take similar time to addition (which is unrealistic)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788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Passing Multiprocessors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129" y="837352"/>
            <a:ext cx="5851730" cy="37724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162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Pros and Cons of Message Passing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Message sending and receiving is </a:t>
            </a:r>
            <a:r>
              <a:rPr lang="en-US" sz="2000" b="1" dirty="0">
                <a:solidFill>
                  <a:schemeClr val="accent1"/>
                </a:solidFill>
              </a:rPr>
              <a:t>much slower</a:t>
            </a:r>
            <a:r>
              <a:rPr lang="en-US" sz="2000" dirty="0"/>
              <a:t> than addition</a:t>
            </a:r>
          </a:p>
          <a:p>
            <a:r>
              <a:rPr lang="en-US" sz="2000" dirty="0"/>
              <a:t>But message passing multiprocessors are </a:t>
            </a:r>
            <a:r>
              <a:rPr lang="en-US" sz="2000" b="1" dirty="0">
                <a:solidFill>
                  <a:schemeClr val="accent1"/>
                </a:solidFill>
              </a:rPr>
              <a:t>much easier </a:t>
            </a:r>
            <a:r>
              <a:rPr lang="en-US" sz="2000" dirty="0"/>
              <a:t>for </a:t>
            </a:r>
            <a:r>
              <a:rPr lang="en-US" sz="2000" b="1" dirty="0">
                <a:solidFill>
                  <a:schemeClr val="accent1"/>
                </a:solidFill>
              </a:rPr>
              <a:t>hardware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designers to design</a:t>
            </a:r>
          </a:p>
          <a:p>
            <a:pPr lvl="1"/>
            <a:r>
              <a:rPr lang="en-US" sz="1800" dirty="0"/>
              <a:t>Don’t have to worry about cache coherency for example</a:t>
            </a:r>
          </a:p>
          <a:p>
            <a:r>
              <a:rPr lang="en-US" sz="2000" dirty="0"/>
              <a:t>The advantage for programmers is that </a:t>
            </a:r>
            <a:r>
              <a:rPr lang="en-US" sz="2000" b="1" dirty="0">
                <a:solidFill>
                  <a:schemeClr val="accent1"/>
                </a:solidFill>
              </a:rPr>
              <a:t>communication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is </a:t>
            </a:r>
            <a:r>
              <a:rPr lang="en-US" sz="2000" b="1" dirty="0">
                <a:solidFill>
                  <a:schemeClr val="accent1"/>
                </a:solidFill>
              </a:rPr>
              <a:t>explicit</a:t>
            </a:r>
            <a:r>
              <a:rPr lang="en-US" sz="2000" dirty="0"/>
              <a:t>, so there are fewer “performance surprises” than with the </a:t>
            </a:r>
            <a:r>
              <a:rPr lang="en-US" sz="2000" b="1" dirty="0">
                <a:solidFill>
                  <a:schemeClr val="accent1"/>
                </a:solidFill>
              </a:rPr>
              <a:t>implicit communication </a:t>
            </a:r>
            <a:r>
              <a:rPr lang="en-US" sz="2000" dirty="0"/>
              <a:t>in cache-coherent SMPs.</a:t>
            </a:r>
          </a:p>
          <a:p>
            <a:r>
              <a:rPr lang="en-US" sz="2000" dirty="0"/>
              <a:t>However, its harder to port a sequential program to a message passing multiprocessor since every </a:t>
            </a:r>
            <a:r>
              <a:rPr lang="en-US" sz="2000" b="1" dirty="0">
                <a:solidFill>
                  <a:schemeClr val="accent1"/>
                </a:solidFill>
              </a:rPr>
              <a:t>communication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must be </a:t>
            </a:r>
            <a:r>
              <a:rPr lang="en-US" sz="2000" b="1" dirty="0">
                <a:solidFill>
                  <a:schemeClr val="accent1"/>
                </a:solidFill>
              </a:rPr>
              <a:t>identified in advance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With cache-coherent shared memory the hardware figures out what data needs to be communicated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236513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2535</TotalTime>
  <Words>1500</Words>
  <Application>Microsoft Office PowerPoint</Application>
  <PresentationFormat>全屏显示(16:9)</PresentationFormat>
  <Paragraphs>197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MS Sans Serif</vt:lpstr>
      <vt:lpstr>华文楷体</vt:lpstr>
      <vt:lpstr>Arial</vt:lpstr>
      <vt:lpstr>Calibri</vt:lpstr>
      <vt:lpstr>Cambria Math</vt:lpstr>
      <vt:lpstr>Courier New</vt:lpstr>
      <vt:lpstr>Times New Roman</vt:lpstr>
      <vt:lpstr>Wingdings</vt:lpstr>
      <vt:lpstr>NTHU UniCloud</vt:lpstr>
      <vt:lpstr>CSC3050 – Computer Architecture Parallel Programming</vt:lpstr>
      <vt:lpstr>Introduction</vt:lpstr>
      <vt:lpstr>Hardware and Software </vt:lpstr>
      <vt:lpstr>Parallel Programming</vt:lpstr>
      <vt:lpstr>Amdahl’s Law (1) </vt:lpstr>
      <vt:lpstr>Amdahl’s Law (2) </vt:lpstr>
      <vt:lpstr>Scaling Example </vt:lpstr>
      <vt:lpstr>Scaling Example (cont’d)</vt:lpstr>
      <vt:lpstr>Strong vs Weak Scaling</vt:lpstr>
      <vt:lpstr>Multithreading</vt:lpstr>
      <vt:lpstr>Examples of Threads</vt:lpstr>
      <vt:lpstr>Multithreading on a Chip</vt:lpstr>
      <vt:lpstr>Types of Multithreading</vt:lpstr>
      <vt:lpstr>Simultaneous Multithreading (SMT)</vt:lpstr>
      <vt:lpstr>Threading on a 4-way SS Processor Example </vt:lpstr>
      <vt:lpstr>The Big Picture: Where are We Now?</vt:lpstr>
      <vt:lpstr>Multicores Now Universal</vt:lpstr>
      <vt:lpstr>Shared Memory Multiprocessor</vt:lpstr>
      <vt:lpstr>Shared Address Space Example</vt:lpstr>
      <vt:lpstr>Reduction</vt:lpstr>
      <vt:lpstr>Message Passing </vt:lpstr>
      <vt:lpstr>Sum Reduction (1)</vt:lpstr>
      <vt:lpstr>Sum Reduction (2) </vt:lpstr>
      <vt:lpstr>Message Passing Multiprocessors</vt:lpstr>
      <vt:lpstr>Pros and Cons of Message Passing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266</cp:revision>
  <dcterms:created xsi:type="dcterms:W3CDTF">2015-06-05T07:23:35Z</dcterms:created>
  <dcterms:modified xsi:type="dcterms:W3CDTF">2022-04-09T20:44:46Z</dcterms:modified>
</cp:coreProperties>
</file>