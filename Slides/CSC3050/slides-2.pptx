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handoutMasterIdLst>
    <p:handoutMasterId r:id="rId52"/>
  </p:handoutMasterIdLst>
  <p:sldIdLst>
    <p:sldId id="256" r:id="rId2"/>
    <p:sldId id="304" r:id="rId3"/>
    <p:sldId id="322" r:id="rId4"/>
    <p:sldId id="323" r:id="rId5"/>
    <p:sldId id="325" r:id="rId6"/>
    <p:sldId id="326" r:id="rId7"/>
    <p:sldId id="328" r:id="rId8"/>
    <p:sldId id="331" r:id="rId9"/>
    <p:sldId id="332" r:id="rId10"/>
    <p:sldId id="330" r:id="rId11"/>
    <p:sldId id="327" r:id="rId12"/>
    <p:sldId id="329" r:id="rId13"/>
    <p:sldId id="333" r:id="rId14"/>
    <p:sldId id="334" r:id="rId15"/>
    <p:sldId id="335" r:id="rId16"/>
    <p:sldId id="336" r:id="rId17"/>
    <p:sldId id="337" r:id="rId18"/>
    <p:sldId id="339" r:id="rId19"/>
    <p:sldId id="338" r:id="rId20"/>
    <p:sldId id="341" r:id="rId21"/>
    <p:sldId id="342" r:id="rId22"/>
    <p:sldId id="343" r:id="rId23"/>
    <p:sldId id="345" r:id="rId24"/>
    <p:sldId id="344" r:id="rId25"/>
    <p:sldId id="346" r:id="rId26"/>
    <p:sldId id="347" r:id="rId27"/>
    <p:sldId id="348" r:id="rId28"/>
    <p:sldId id="349" r:id="rId29"/>
    <p:sldId id="350" r:id="rId30"/>
    <p:sldId id="351" r:id="rId31"/>
    <p:sldId id="353" r:id="rId32"/>
    <p:sldId id="352" r:id="rId33"/>
    <p:sldId id="355" r:id="rId34"/>
    <p:sldId id="356" r:id="rId35"/>
    <p:sldId id="358" r:id="rId36"/>
    <p:sldId id="359" r:id="rId37"/>
    <p:sldId id="361" r:id="rId38"/>
    <p:sldId id="363" r:id="rId39"/>
    <p:sldId id="364" r:id="rId40"/>
    <p:sldId id="365" r:id="rId41"/>
    <p:sldId id="366" r:id="rId42"/>
    <p:sldId id="367" r:id="rId43"/>
    <p:sldId id="369" r:id="rId44"/>
    <p:sldId id="370" r:id="rId45"/>
    <p:sldId id="368" r:id="rId46"/>
    <p:sldId id="372" r:id="rId47"/>
    <p:sldId id="374" r:id="rId48"/>
    <p:sldId id="376" r:id="rId49"/>
    <p:sldId id="377" r:id="rId5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473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5016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2019/1/20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2019/1/20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</a:t>
            </a:r>
            <a:r>
              <a:rPr lang="en-US" baseline="-25000" dirty="0"/>
              <a:t>8</a:t>
            </a:r>
            <a:r>
              <a:rPr lang="en-US" baseline="0" dirty="0"/>
              <a:t>=011 110</a:t>
            </a:r>
            <a:r>
              <a:rPr lang="en-US" baseline="-25000" dirty="0"/>
              <a:t>2</a:t>
            </a:r>
            <a:endParaRPr lang="en-US" baseline="0" dirty="0"/>
          </a:p>
          <a:p>
            <a:r>
              <a:rPr lang="en-US" baseline="0" dirty="0"/>
              <a:t>36</a:t>
            </a:r>
            <a:r>
              <a:rPr lang="en-US" baseline="-25000" dirty="0"/>
              <a:t>10</a:t>
            </a:r>
            <a:r>
              <a:rPr lang="en-US" baseline="0" dirty="0"/>
              <a:t>=100100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43326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108586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03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339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</a:t>
            </a:r>
            <a:r>
              <a:rPr lang="en-US" baseline="-25000" dirty="0"/>
              <a:t>8</a:t>
            </a:r>
            <a:r>
              <a:rPr lang="en-US" baseline="0" dirty="0"/>
              <a:t>=011 110</a:t>
            </a:r>
            <a:r>
              <a:rPr lang="en-US" baseline="-25000" dirty="0"/>
              <a:t>2</a:t>
            </a:r>
            <a:endParaRPr lang="en-US" baseline="0" dirty="0"/>
          </a:p>
          <a:p>
            <a:r>
              <a:rPr lang="en-US" baseline="0" dirty="0"/>
              <a:t>36</a:t>
            </a:r>
            <a:r>
              <a:rPr lang="en-US" baseline="-25000" dirty="0"/>
              <a:t>10</a:t>
            </a:r>
            <a:r>
              <a:rPr lang="en-US" baseline="0" dirty="0"/>
              <a:t>=100100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84428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</a:t>
            </a:r>
            <a:r>
              <a:rPr lang="en-US" baseline="-25000" dirty="0"/>
              <a:t>8</a:t>
            </a:r>
            <a:r>
              <a:rPr lang="en-US" baseline="0" dirty="0"/>
              <a:t>=011 110</a:t>
            </a:r>
            <a:r>
              <a:rPr lang="en-US" baseline="-25000" dirty="0"/>
              <a:t>2</a:t>
            </a:r>
            <a:endParaRPr lang="en-US" baseline="0" dirty="0"/>
          </a:p>
          <a:p>
            <a:r>
              <a:rPr lang="en-US" baseline="0" dirty="0"/>
              <a:t>36</a:t>
            </a:r>
            <a:r>
              <a:rPr lang="en-US" baseline="-25000" dirty="0"/>
              <a:t>10</a:t>
            </a:r>
            <a:r>
              <a:rPr lang="en-US" baseline="0" dirty="0"/>
              <a:t>=100100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1007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740594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2.xml"/><Relationship Id="rId7" Type="http://schemas.openxmlformats.org/officeDocument/2006/relationships/image" Target="../media/image10.wmf"/><Relationship Id="rId2" Type="http://schemas.openxmlformats.org/officeDocument/2006/relationships/tags" Target="../tags/tag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png"/><Relationship Id="rId5" Type="http://schemas.openxmlformats.org/officeDocument/2006/relationships/oleObject" Target="../embeddings/oleObject6.bin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tags" Target="../tags/tag4.xml"/><Relationship Id="rId7" Type="http://schemas.openxmlformats.org/officeDocument/2006/relationships/image" Target="../media/image27.wmf"/><Relationship Id="rId2" Type="http://schemas.openxmlformats.org/officeDocument/2006/relationships/tags" Target="../tags/tag3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9.wmf"/><Relationship Id="rId5" Type="http://schemas.openxmlformats.org/officeDocument/2006/relationships/slideLayout" Target="../slideLayouts/slideLayout1.xml"/><Relationship Id="rId10" Type="http://schemas.openxmlformats.org/officeDocument/2006/relationships/oleObject" Target="../embeddings/oleObject10.bin"/><Relationship Id="rId4" Type="http://schemas.openxmlformats.org/officeDocument/2006/relationships/tags" Target="../tags/tag5.xml"/><Relationship Id="rId9" Type="http://schemas.openxmlformats.org/officeDocument/2006/relationships/image" Target="../media/image2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1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4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4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tags" Target="../tags/tag11.xml"/><Relationship Id="rId7" Type="http://schemas.openxmlformats.org/officeDocument/2006/relationships/image" Target="../media/image38.wmf"/><Relationship Id="rId2" Type="http://schemas.openxmlformats.org/officeDocument/2006/relationships/tags" Target="../tags/tag10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40.wmf"/><Relationship Id="rId5" Type="http://schemas.openxmlformats.org/officeDocument/2006/relationships/slideLayout" Target="../slideLayouts/slideLayout1.xml"/><Relationship Id="rId10" Type="http://schemas.openxmlformats.org/officeDocument/2006/relationships/oleObject" Target="../embeddings/oleObject17.bin"/><Relationship Id="rId4" Type="http://schemas.openxmlformats.org/officeDocument/2006/relationships/tags" Target="../tags/tag12.xml"/><Relationship Id="rId9" Type="http://schemas.openxmlformats.org/officeDocument/2006/relationships/image" Target="../media/image39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18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42.emf"/><Relationship Id="rId4" Type="http://schemas.openxmlformats.org/officeDocument/2006/relationships/oleObject" Target="../embeddings/oleObject19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BE8B77-416B-47A4-8F42-B6C1D1D49F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178" y="108349"/>
            <a:ext cx="7744512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Review: Major Components of a Computer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855" y="869744"/>
            <a:ext cx="4909897" cy="3710645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BC98E7A-68CA-4881-B341-6E3552E58A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7344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Review: Instruction Set Architecture (ISA)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292" y="881207"/>
            <a:ext cx="7261064" cy="417256"/>
          </a:xfrm>
        </p:spPr>
        <p:txBody>
          <a:bodyPr/>
          <a:lstStyle/>
          <a:p>
            <a:r>
              <a:rPr lang="en-US" sz="2400" dirty="0"/>
              <a:t>The interface description separating the software and hardware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DAE73F8-D47F-4123-AB1F-AB2819863F2F}"/>
              </a:ext>
            </a:extLst>
          </p:cNvPr>
          <p:cNvGrpSpPr/>
          <p:nvPr/>
        </p:nvGrpSpPr>
        <p:grpSpPr>
          <a:xfrm>
            <a:off x="1614488" y="1950008"/>
            <a:ext cx="5546564" cy="2337419"/>
            <a:chOff x="1614488" y="1253722"/>
            <a:chExt cx="5546564" cy="2337419"/>
          </a:xfrm>
        </p:grpSpPr>
        <p:grpSp>
          <p:nvGrpSpPr>
            <p:cNvPr id="6" name="Group 5"/>
            <p:cNvGrpSpPr/>
            <p:nvPr/>
          </p:nvGrpSpPr>
          <p:grpSpPr>
            <a:xfrm>
              <a:off x="1614488" y="1253722"/>
              <a:ext cx="5546564" cy="2337419"/>
              <a:chOff x="95041" y="1997080"/>
              <a:chExt cx="7395419" cy="3116559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1564665" y="4107003"/>
                <a:ext cx="5557470" cy="1006636"/>
                <a:chOff x="1639583" y="4107003"/>
                <a:chExt cx="5557470" cy="1006636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2840124" y="4861639"/>
                  <a:ext cx="1800027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2840124" y="4610321"/>
                  <a:ext cx="1800027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Rectangle 16"/>
                <p:cNvSpPr/>
                <p:nvPr/>
              </p:nvSpPr>
              <p:spPr>
                <a:xfrm>
                  <a:off x="2840124" y="4358321"/>
                  <a:ext cx="1800027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/>
                <p:cNvSpPr/>
                <p:nvPr/>
              </p:nvSpPr>
              <p:spPr>
                <a:xfrm>
                  <a:off x="1639583" y="4107003"/>
                  <a:ext cx="1389368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/>
                <p:cNvSpPr/>
                <p:nvPr/>
              </p:nvSpPr>
              <p:spPr>
                <a:xfrm>
                  <a:off x="3028950" y="4107003"/>
                  <a:ext cx="1389368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/>
                <p:cNvSpPr/>
                <p:nvPr/>
              </p:nvSpPr>
              <p:spPr>
                <a:xfrm>
                  <a:off x="4418318" y="4107003"/>
                  <a:ext cx="1389368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/>
                <p:cNvSpPr/>
                <p:nvPr/>
              </p:nvSpPr>
              <p:spPr>
                <a:xfrm>
                  <a:off x="5807685" y="4107003"/>
                  <a:ext cx="1389368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8" name="Rectangle 7"/>
              <p:cNvSpPr/>
              <p:nvPr/>
            </p:nvSpPr>
            <p:spPr>
              <a:xfrm>
                <a:off x="1196340" y="3863340"/>
                <a:ext cx="6294120" cy="1828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2539570" y="1997080"/>
                <a:ext cx="3607661" cy="1812920"/>
                <a:chOff x="2473099" y="1997080"/>
                <a:chExt cx="3607661" cy="1812920"/>
              </a:xfrm>
            </p:grpSpPr>
            <p:sp>
              <p:nvSpPr>
                <p:cNvPr id="11" name="Rectangle 10"/>
                <p:cNvSpPr/>
                <p:nvPr/>
              </p:nvSpPr>
              <p:spPr>
                <a:xfrm>
                  <a:off x="2473099" y="1997080"/>
                  <a:ext cx="3043781" cy="181291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3990351" y="2813156"/>
                  <a:ext cx="2090409" cy="9968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2954032" y="3484965"/>
                  <a:ext cx="1389368" cy="25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4608445" y="3484965"/>
                  <a:ext cx="1389368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" name="Rectangle 9"/>
              <p:cNvSpPr/>
              <p:nvPr/>
            </p:nvSpPr>
            <p:spPr>
              <a:xfrm>
                <a:off x="95041" y="3358166"/>
                <a:ext cx="2031127" cy="252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</a:rPr>
                  <a:t>Instruction Set Architecture</a:t>
                </a: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69A836E-E614-47A9-946D-A3365D08503E}"/>
                </a:ext>
              </a:extLst>
            </p:cNvPr>
            <p:cNvGrpSpPr/>
            <p:nvPr/>
          </p:nvGrpSpPr>
          <p:grpSpPr>
            <a:xfrm>
              <a:off x="5242340" y="1467510"/>
              <a:ext cx="1574338" cy="1911205"/>
              <a:chOff x="5242340" y="1467510"/>
              <a:chExt cx="1574338" cy="1911205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5842783" y="1467510"/>
                <a:ext cx="973895" cy="1616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b="1" dirty="0">
                    <a:solidFill>
                      <a:schemeClr val="accent6"/>
                    </a:solidFill>
                  </a:rPr>
                  <a:t>Software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5242340" y="3217017"/>
                <a:ext cx="973895" cy="1616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b="1" dirty="0">
                    <a:solidFill>
                      <a:srgbClr val="00B050"/>
                    </a:solidFill>
                  </a:rPr>
                  <a:t>Hardware</a:t>
                </a:r>
              </a:p>
            </p:txBody>
          </p:sp>
        </p:grp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6D0DA1-EC9D-472B-B498-0ECBEA554D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1295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Analog vs. Digital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61396" y="907824"/>
            <a:ext cx="3388236" cy="215441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Analog Signal</a:t>
            </a:r>
          </a:p>
          <a:p>
            <a:pPr lvl="1"/>
            <a:r>
              <a:rPr lang="en-US" sz="1600" dirty="0"/>
              <a:t>Vary in a smooth way over time</a:t>
            </a:r>
          </a:p>
          <a:p>
            <a:pPr lvl="1"/>
            <a:r>
              <a:rPr lang="en-US" sz="1600" dirty="0"/>
              <a:t>Analog data are continuously valued</a:t>
            </a:r>
          </a:p>
          <a:p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Example:</a:t>
            </a:r>
            <a:r>
              <a:rPr lang="en-US" sz="2000" dirty="0"/>
              <a:t> audio, video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345497" y="891045"/>
            <a:ext cx="4330193" cy="2019935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Digital Signal</a:t>
            </a:r>
          </a:p>
          <a:p>
            <a:pPr lvl="1"/>
            <a:r>
              <a:rPr lang="en-US" sz="1600" dirty="0"/>
              <a:t>Maintains a constant level then changes to another constant level (generally operate in one of the two states)</a:t>
            </a:r>
          </a:p>
          <a:p>
            <a:pPr lvl="1"/>
            <a:r>
              <a:rPr lang="en-US" sz="1600" dirty="0"/>
              <a:t>Digital data are discretely valued</a:t>
            </a:r>
          </a:p>
          <a:p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Example:</a:t>
            </a:r>
            <a:r>
              <a:rPr lang="en-US" sz="2000" dirty="0"/>
              <a:t> computer data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7" y="3120962"/>
            <a:ext cx="3486340" cy="131855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966" y="3098872"/>
            <a:ext cx="3684312" cy="1390975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D9F04D6-405A-4A19-A4D5-385C8233F3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5132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Radix or Base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922789" y="844153"/>
            <a:ext cx="7441035" cy="2612111"/>
          </a:xfrm>
        </p:spPr>
        <p:txBody>
          <a:bodyPr/>
          <a:lstStyle/>
          <a:p>
            <a:r>
              <a:rPr lang="en-US" sz="2400" dirty="0"/>
              <a:t>An ordered set of symbols, called digits, with relations defined for addition, subtraction, multiplication and division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1"/>
                </a:solidFill>
              </a:rPr>
              <a:t>Radix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or </a:t>
            </a:r>
            <a:r>
              <a:rPr lang="en-US" sz="2400" b="1" dirty="0">
                <a:solidFill>
                  <a:schemeClr val="accent1"/>
                </a:solidFill>
              </a:rPr>
              <a:t>base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of the number system is the total number of digits allowed in the number system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241B9CA-8DA4-46F2-A8F6-2AB56328E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965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569" y="108349"/>
            <a:ext cx="7585121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Decimal, Binary, Octal and Hexadecimal</a:t>
            </a:r>
          </a:p>
        </p:txBody>
      </p:sp>
      <p:graphicFrame>
        <p:nvGraphicFramePr>
          <p:cNvPr id="6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0904933"/>
              </p:ext>
            </p:extLst>
          </p:nvPr>
        </p:nvGraphicFramePr>
        <p:xfrm>
          <a:off x="1614488" y="816049"/>
          <a:ext cx="5915025" cy="3739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6804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System Name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Decimal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Binary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Octal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</a:rPr>
                        <a:t>Hexadecimal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+mn-lt"/>
                        </a:rPr>
                        <a:t>Radix</a:t>
                      </a:r>
                    </a:p>
                  </a:txBody>
                  <a:tcPr marL="27000" marR="27000" marT="27000" marB="27000"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+mn-lt"/>
                        </a:rPr>
                        <a:t>10</a:t>
                      </a:r>
                    </a:p>
                  </a:txBody>
                  <a:tcPr marL="27000" marR="27000" marT="27000" marB="27000"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27000" marR="27000" marT="27000" marB="27000"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+mn-lt"/>
                        </a:rPr>
                        <a:t>8</a:t>
                      </a:r>
                    </a:p>
                  </a:txBody>
                  <a:tcPr marL="27000" marR="27000" marT="27000" marB="27000"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  <a:latin typeface="+mn-lt"/>
                        </a:rPr>
                        <a:t>16</a:t>
                      </a:r>
                    </a:p>
                  </a:txBody>
                  <a:tcPr marL="27000" marR="27000" marT="27000" marB="27000"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27000" marR="27000" marT="27000" marB="2700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0000</a:t>
                      </a:r>
                    </a:p>
                  </a:txBody>
                  <a:tcPr marL="27000" marR="27000" marT="27000" marB="2700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27000" marR="27000" marT="27000" marB="2700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27000" marR="27000" marT="27000" marB="2700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0001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0010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0011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0100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0101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0110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0111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1001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1100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1101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1110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1111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6804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10000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+mn-lt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9B1F507-D721-4C52-8AC9-F36F2DF655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9335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734" y="108349"/>
            <a:ext cx="7710956" cy="519113"/>
          </a:xfrm>
        </p:spPr>
        <p:txBody>
          <a:bodyPr/>
          <a:lstStyle/>
          <a:p>
            <a:r>
              <a:rPr lang="en-US" altLang="en-US" sz="3200" dirty="0"/>
              <a:t>Number Systems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844" y="844657"/>
            <a:ext cx="7710956" cy="2854888"/>
          </a:xfrm>
        </p:spPr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Decimal numbers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400" b="1" dirty="0">
              <a:solidFill>
                <a:schemeClr val="accent1"/>
              </a:solidFill>
            </a:endParaRPr>
          </a:p>
          <a:p>
            <a:r>
              <a:rPr lang="en-US" sz="2400" b="1" dirty="0">
                <a:solidFill>
                  <a:schemeClr val="accent1"/>
                </a:solidFill>
              </a:rPr>
              <a:t>Binary numbers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160675" y="1323493"/>
            <a:ext cx="4296015" cy="1640612"/>
            <a:chOff x="2130968" y="1777866"/>
            <a:chExt cx="5728020" cy="2187481"/>
          </a:xfrm>
        </p:grpSpPr>
        <p:graphicFrame>
          <p:nvGraphicFramePr>
            <p:cNvPr id="7" name="Object 6"/>
            <p:cNvGraphicFramePr>
              <a:graphicFrameLocks noChangeAspect="1"/>
            </p:cNvGraphicFramePr>
            <p:nvPr>
              <p:extLst/>
            </p:nvPr>
          </p:nvGraphicFramePr>
          <p:xfrm>
            <a:off x="2146357" y="3023626"/>
            <a:ext cx="5712631" cy="54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8" name="Equation" r:id="rId3" imgW="2552400" imgH="241200" progId="Equation.3">
                    <p:embed/>
                  </p:oleObj>
                </mc:Choice>
                <mc:Fallback>
                  <p:oleObj name="Equation" r:id="rId3" imgW="2552400" imgH="241200" progId="Equation.3">
                    <p:embed/>
                    <p:pic>
                      <p:nvPicPr>
                        <p:cNvPr id="7" name="Object 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46357" y="3023626"/>
                          <a:ext cx="5712631" cy="540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Box 10"/>
            <p:cNvSpPr txBox="1"/>
            <p:nvPr/>
          </p:nvSpPr>
          <p:spPr>
            <a:xfrm rot="5400000">
              <a:off x="1595779" y="2313055"/>
              <a:ext cx="1408933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1000’s column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5400000">
              <a:off x="1826368" y="2263362"/>
              <a:ext cx="1308478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100’s column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 rot="5400000">
              <a:off x="2056959" y="2213670"/>
              <a:ext cx="120802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10’s column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 rot="5400000">
              <a:off x="2287551" y="2163976"/>
              <a:ext cx="1107569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1’s column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74885" y="3411349"/>
              <a:ext cx="1077647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five</a:t>
              </a:r>
            </a:p>
            <a:p>
              <a:pPr algn="ctr"/>
              <a:r>
                <a:rPr lang="en-US" sz="1050" dirty="0"/>
                <a:t>thousands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76672" y="3411350"/>
              <a:ext cx="998565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three</a:t>
              </a:r>
            </a:p>
            <a:p>
              <a:pPr algn="ctr"/>
              <a:r>
                <a:rPr lang="en-US" sz="1050" dirty="0"/>
                <a:t>hundreds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772360" y="3411350"/>
              <a:ext cx="727123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seven</a:t>
              </a:r>
            </a:p>
            <a:p>
              <a:pPr algn="ctr"/>
              <a:r>
                <a:rPr lang="en-US" sz="1050" dirty="0"/>
                <a:t>tens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34661" y="3411350"/>
              <a:ext cx="637355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four</a:t>
              </a:r>
            </a:p>
            <a:p>
              <a:pPr algn="ctr"/>
              <a:r>
                <a:rPr lang="en-US" sz="1050" dirty="0"/>
                <a:t>ones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127119" y="3198082"/>
            <a:ext cx="4357817" cy="1403069"/>
            <a:chOff x="2130967" y="4403767"/>
            <a:chExt cx="5810422" cy="1870759"/>
          </a:xfrm>
        </p:grpSpPr>
        <p:graphicFrame>
          <p:nvGraphicFramePr>
            <p:cNvPr id="8" name="Object 7"/>
            <p:cNvGraphicFramePr>
              <a:graphicFrameLocks noChangeAspect="1"/>
            </p:cNvGraphicFramePr>
            <p:nvPr>
              <p:extLst/>
            </p:nvPr>
          </p:nvGraphicFramePr>
          <p:xfrm>
            <a:off x="2200989" y="5331699"/>
            <a:ext cx="5740400" cy="539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9" name="Equation" r:id="rId5" imgW="2565360" imgH="241200" progId="Equation.3">
                    <p:embed/>
                  </p:oleObj>
                </mc:Choice>
                <mc:Fallback>
                  <p:oleObj name="Equation" r:id="rId5" imgW="2565360" imgH="241200" progId="Equation.3">
                    <p:embed/>
                    <p:pic>
                      <p:nvPicPr>
                        <p:cNvPr id="8" name="Object 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00989" y="5331699"/>
                          <a:ext cx="5740400" cy="5397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Box 19"/>
            <p:cNvSpPr txBox="1"/>
            <p:nvPr/>
          </p:nvSpPr>
          <p:spPr>
            <a:xfrm rot="5400000">
              <a:off x="1746460" y="4788274"/>
              <a:ext cx="1107570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8’s column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 rot="5400000">
              <a:off x="1926824" y="4788274"/>
              <a:ext cx="1107570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4’s column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 rot="5400000">
              <a:off x="2107187" y="4788274"/>
              <a:ext cx="1107570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2’s column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 rot="5400000">
              <a:off x="2287551" y="4788274"/>
              <a:ext cx="1107570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1’s column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02084" y="5720529"/>
              <a:ext cx="637355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one</a:t>
              </a:r>
            </a:p>
            <a:p>
              <a:pPr algn="ctr"/>
              <a:r>
                <a:rPr lang="en-US" sz="1050" dirty="0"/>
                <a:t>eight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345548" y="5720529"/>
              <a:ext cx="556136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one</a:t>
              </a:r>
            </a:p>
            <a:p>
              <a:pPr algn="ctr"/>
              <a:r>
                <a:rPr lang="en-US" sz="1050" dirty="0"/>
                <a:t>four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350987" y="5720529"/>
              <a:ext cx="596744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zero</a:t>
              </a:r>
            </a:p>
            <a:p>
              <a:pPr algn="ctr"/>
              <a:r>
                <a:rPr lang="en-US" sz="1050" dirty="0"/>
                <a:t>two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41315" y="5720529"/>
              <a:ext cx="547587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/>
                <a:t>one</a:t>
              </a:r>
            </a:p>
            <a:p>
              <a:pPr algn="ctr"/>
              <a:r>
                <a:rPr lang="en-US" sz="1050" dirty="0"/>
                <a:t>one</a:t>
              </a: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52766F-C428-4C97-8B8D-9BB1CED7A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0451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567" y="108349"/>
            <a:ext cx="7736123" cy="519113"/>
          </a:xfrm>
        </p:spPr>
        <p:txBody>
          <a:bodyPr/>
          <a:lstStyle/>
          <a:p>
            <a:r>
              <a:rPr lang="en-US" altLang="en-US" sz="3200" dirty="0"/>
              <a:t>Powers of Two</a:t>
            </a:r>
            <a:endParaRPr lang="en-US" sz="32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052818" y="994752"/>
            <a:ext cx="4038600" cy="3170774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0</a:t>
            </a:r>
            <a:r>
              <a:rPr lang="en-US" dirty="0">
                <a:cs typeface="Times New Roman" panose="02020603050405020304" pitchFamily="18" charset="0"/>
              </a:rPr>
              <a:t> = 1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1</a:t>
            </a:r>
            <a:r>
              <a:rPr lang="en-US" dirty="0">
                <a:cs typeface="Times New Roman" panose="02020603050405020304" pitchFamily="18" charset="0"/>
              </a:rPr>
              <a:t> = 2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2</a:t>
            </a:r>
            <a:r>
              <a:rPr lang="en-US" dirty="0">
                <a:cs typeface="Times New Roman" panose="02020603050405020304" pitchFamily="18" charset="0"/>
              </a:rPr>
              <a:t> = 4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3</a:t>
            </a:r>
            <a:r>
              <a:rPr lang="en-US" dirty="0">
                <a:cs typeface="Times New Roman" panose="02020603050405020304" pitchFamily="18" charset="0"/>
              </a:rPr>
              <a:t> = 8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4</a:t>
            </a:r>
            <a:r>
              <a:rPr lang="en-US" dirty="0">
                <a:cs typeface="Times New Roman" panose="02020603050405020304" pitchFamily="18" charset="0"/>
              </a:rPr>
              <a:t> = 16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5</a:t>
            </a:r>
            <a:r>
              <a:rPr lang="en-US" dirty="0">
                <a:cs typeface="Times New Roman" panose="02020603050405020304" pitchFamily="18" charset="0"/>
              </a:rPr>
              <a:t> = 32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6</a:t>
            </a:r>
            <a:r>
              <a:rPr lang="en-US" dirty="0">
                <a:cs typeface="Times New Roman" panose="02020603050405020304" pitchFamily="18" charset="0"/>
              </a:rPr>
              <a:t> = 64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7</a:t>
            </a:r>
            <a:r>
              <a:rPr lang="en-US" dirty="0">
                <a:cs typeface="Times New Roman" panose="02020603050405020304" pitchFamily="18" charset="0"/>
              </a:rPr>
              <a:t> =128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8</a:t>
            </a:r>
            <a:r>
              <a:rPr lang="en-US" dirty="0">
                <a:cs typeface="Times New Roman" panose="02020603050405020304" pitchFamily="18" charset="0"/>
              </a:rPr>
              <a:t> = 256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9</a:t>
            </a:r>
            <a:r>
              <a:rPr lang="en-US" dirty="0">
                <a:cs typeface="Times New Roman" panose="02020603050405020304" pitchFamily="18" charset="0"/>
              </a:rPr>
              <a:t> = 512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10</a:t>
            </a:r>
            <a:r>
              <a:rPr lang="en-US" dirty="0">
                <a:cs typeface="Times New Roman" panose="02020603050405020304" pitchFamily="18" charset="0"/>
              </a:rPr>
              <a:t> = 1024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3749045" y="994752"/>
            <a:ext cx="3696578" cy="3263504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11</a:t>
            </a:r>
            <a:r>
              <a:rPr lang="en-US" dirty="0">
                <a:cs typeface="Times New Roman" panose="02020603050405020304" pitchFamily="18" charset="0"/>
              </a:rPr>
              <a:t> = 2</a:t>
            </a:r>
            <a:r>
              <a:rPr lang="en-US" baseline="30000" dirty="0">
                <a:cs typeface="Times New Roman" panose="02020603050405020304" pitchFamily="18" charset="0"/>
              </a:rPr>
              <a:t>10</a:t>
            </a:r>
            <a:r>
              <a:rPr lang="en-US" dirty="0">
                <a:cs typeface="Times New Roman" panose="02020603050405020304" pitchFamily="18" charset="0"/>
              </a:rPr>
              <a:t> × 2</a:t>
            </a:r>
            <a:r>
              <a:rPr lang="en-US" baseline="30000" dirty="0">
                <a:cs typeface="Times New Roman" panose="02020603050405020304" pitchFamily="18" charset="0"/>
              </a:rPr>
              <a:t>1</a:t>
            </a:r>
            <a:r>
              <a:rPr lang="en-US" dirty="0">
                <a:cs typeface="Times New Roman" panose="02020603050405020304" pitchFamily="18" charset="0"/>
              </a:rPr>
              <a:t> = 2048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12</a:t>
            </a:r>
            <a:r>
              <a:rPr lang="en-US" dirty="0">
                <a:cs typeface="Times New Roman" panose="02020603050405020304" pitchFamily="18" charset="0"/>
              </a:rPr>
              <a:t> = 2</a:t>
            </a:r>
            <a:r>
              <a:rPr lang="en-US" baseline="30000" dirty="0">
                <a:cs typeface="Times New Roman" panose="02020603050405020304" pitchFamily="18" charset="0"/>
              </a:rPr>
              <a:t>10</a:t>
            </a:r>
            <a:r>
              <a:rPr lang="en-US" dirty="0">
                <a:cs typeface="Times New Roman" panose="02020603050405020304" pitchFamily="18" charset="0"/>
              </a:rPr>
              <a:t> × 2</a:t>
            </a:r>
            <a:r>
              <a:rPr lang="en-US" baseline="30000" dirty="0">
                <a:cs typeface="Times New Roman" panose="02020603050405020304" pitchFamily="18" charset="0"/>
              </a:rPr>
              <a:t>2</a:t>
            </a:r>
            <a:r>
              <a:rPr lang="en-US" dirty="0">
                <a:cs typeface="Times New Roman" panose="02020603050405020304" pitchFamily="18" charset="0"/>
              </a:rPr>
              <a:t> = 4096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16</a:t>
            </a:r>
            <a:r>
              <a:rPr lang="en-US" dirty="0">
                <a:cs typeface="Times New Roman" panose="02020603050405020304" pitchFamily="18" charset="0"/>
              </a:rPr>
              <a:t> = 2</a:t>
            </a:r>
            <a:r>
              <a:rPr lang="en-US" baseline="30000" dirty="0">
                <a:cs typeface="Times New Roman" panose="02020603050405020304" pitchFamily="18" charset="0"/>
              </a:rPr>
              <a:t>10</a:t>
            </a:r>
            <a:r>
              <a:rPr lang="en-US" dirty="0">
                <a:cs typeface="Times New Roman" panose="02020603050405020304" pitchFamily="18" charset="0"/>
              </a:rPr>
              <a:t> 2</a:t>
            </a:r>
            <a:r>
              <a:rPr lang="en-US" baseline="30000" dirty="0">
                <a:cs typeface="Times New Roman" panose="02020603050405020304" pitchFamily="18" charset="0"/>
              </a:rPr>
              <a:t>6</a:t>
            </a:r>
            <a:r>
              <a:rPr lang="en-US" dirty="0">
                <a:cs typeface="Times New Roman" panose="02020603050405020304" pitchFamily="18" charset="0"/>
              </a:rPr>
              <a:t> = 65536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…</a:t>
            </a:r>
          </a:p>
          <a:p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20</a:t>
            </a:r>
            <a:r>
              <a:rPr lang="en-US" dirty="0">
                <a:cs typeface="Times New Roman" panose="02020603050405020304" pitchFamily="18" charset="0"/>
              </a:rPr>
              <a:t> = 2</a:t>
            </a:r>
            <a:r>
              <a:rPr lang="en-US" baseline="30000" dirty="0">
                <a:cs typeface="Times New Roman" panose="02020603050405020304" pitchFamily="18" charset="0"/>
              </a:rPr>
              <a:t>10</a:t>
            </a:r>
            <a:r>
              <a:rPr lang="en-US" dirty="0">
                <a:cs typeface="Times New Roman" panose="02020603050405020304" pitchFamily="18" charset="0"/>
              </a:rPr>
              <a:t> × 2</a:t>
            </a:r>
            <a:r>
              <a:rPr lang="en-US" baseline="30000" dirty="0">
                <a:cs typeface="Times New Roman" panose="02020603050405020304" pitchFamily="18" charset="0"/>
              </a:rPr>
              <a:t>10</a:t>
            </a:r>
            <a:r>
              <a:rPr lang="en-US" dirty="0">
                <a:cs typeface="Times New Roman" panose="02020603050405020304" pitchFamily="18" charset="0"/>
              </a:rPr>
              <a:t> = 1048576</a:t>
            </a:r>
          </a:p>
          <a:p>
            <a:endParaRPr lang="en-US" dirty="0"/>
          </a:p>
          <a:p>
            <a:r>
              <a:rPr lang="en-US" dirty="0"/>
              <a:t>Handy to memorize up to </a:t>
            </a:r>
            <a:r>
              <a:rPr lang="en-US" dirty="0">
                <a:cs typeface="Times New Roman" panose="02020603050405020304" pitchFamily="18" charset="0"/>
              </a:rPr>
              <a:t>2</a:t>
            </a:r>
            <a:r>
              <a:rPr lang="en-US" baseline="30000" dirty="0">
                <a:cs typeface="Times New Roman" panose="02020603050405020304" pitchFamily="18" charset="0"/>
              </a:rPr>
              <a:t>10</a:t>
            </a:r>
            <a:endParaRPr lang="en-US" dirty="0"/>
          </a:p>
          <a:p>
            <a:endParaRPr 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640091A-DDA1-414D-9A06-FEFCE94640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5670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73123" y="108349"/>
            <a:ext cx="7702567" cy="519113"/>
          </a:xfrm>
        </p:spPr>
        <p:txBody>
          <a:bodyPr/>
          <a:lstStyle/>
          <a:p>
            <a:r>
              <a:rPr lang="en-US" altLang="en-US" sz="3200" dirty="0"/>
              <a:t>Decimal vs Binary Numbers</a:t>
            </a:r>
            <a:endParaRPr lang="en-US" sz="32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65402" y="844153"/>
            <a:ext cx="7621398" cy="3671888"/>
          </a:xfrm>
        </p:spPr>
        <p:txBody>
          <a:bodyPr>
            <a:noAutofit/>
          </a:bodyPr>
          <a:lstStyle/>
          <a:p>
            <a:r>
              <a:rPr lang="en-US" sz="1600" dirty="0"/>
              <a:t>Binary to decimal conversion:</a:t>
            </a:r>
          </a:p>
          <a:p>
            <a:pPr lvl="1"/>
            <a:r>
              <a:rPr lang="en-US" sz="1200" dirty="0"/>
              <a:t>Convert 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10011</a:t>
            </a:r>
            <a:r>
              <a:rPr lang="en-US" sz="1200" baseline="-25000" dirty="0">
                <a:cs typeface="Times New Roman" panose="02020603050405020304" pitchFamily="18" charset="0"/>
              </a:rPr>
              <a:t>2</a:t>
            </a:r>
            <a:r>
              <a:rPr lang="en-US" sz="1200" dirty="0"/>
              <a:t> to decimal</a:t>
            </a:r>
          </a:p>
          <a:p>
            <a:pPr lvl="1"/>
            <a:r>
              <a:rPr lang="en-US" sz="1200" dirty="0">
                <a:cs typeface="Times New Roman" panose="02020603050405020304" pitchFamily="18" charset="0"/>
              </a:rPr>
              <a:t>16×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+ 8×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0</a:t>
            </a:r>
            <a:r>
              <a:rPr lang="en-US" sz="1200" dirty="0">
                <a:cs typeface="Times New Roman" panose="02020603050405020304" pitchFamily="18" charset="0"/>
              </a:rPr>
              <a:t> + 4×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0</a:t>
            </a:r>
            <a:r>
              <a:rPr lang="en-US" sz="1200" dirty="0">
                <a:cs typeface="Times New Roman" panose="02020603050405020304" pitchFamily="18" charset="0"/>
              </a:rPr>
              <a:t> + 2×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+ 1×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= 19</a:t>
            </a:r>
            <a:r>
              <a:rPr lang="en-US" sz="1200" baseline="-25000" dirty="0">
                <a:cs typeface="Times New Roman" panose="02020603050405020304" pitchFamily="18" charset="0"/>
              </a:rPr>
              <a:t>10</a:t>
            </a:r>
          </a:p>
          <a:p>
            <a:r>
              <a:rPr lang="en-US" sz="1600" dirty="0"/>
              <a:t>Decimal to binary conversion:</a:t>
            </a:r>
          </a:p>
          <a:p>
            <a:pPr lvl="1"/>
            <a:r>
              <a:rPr lang="en-US" sz="1200" dirty="0"/>
              <a:t>Convert </a:t>
            </a:r>
            <a:r>
              <a:rPr lang="en-US" sz="1200" dirty="0">
                <a:cs typeface="Times New Roman" panose="02020603050405020304" pitchFamily="18" charset="0"/>
              </a:rPr>
              <a:t>47</a:t>
            </a:r>
            <a:r>
              <a:rPr lang="en-US" sz="1200" baseline="-25000" dirty="0">
                <a:cs typeface="Times New Roman" panose="02020603050405020304" pitchFamily="18" charset="0"/>
              </a:rPr>
              <a:t>10</a:t>
            </a:r>
            <a:r>
              <a:rPr lang="en-US" sz="1200" dirty="0"/>
              <a:t> to binary</a:t>
            </a:r>
          </a:p>
          <a:p>
            <a:pPr lvl="1"/>
            <a:r>
              <a:rPr lang="en-US" sz="1200" dirty="0">
                <a:cs typeface="Times New Roman" panose="02020603050405020304" pitchFamily="18" charset="0"/>
              </a:rPr>
              <a:t>32×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+ 16×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0</a:t>
            </a:r>
            <a:r>
              <a:rPr lang="en-US" sz="1200" dirty="0">
                <a:cs typeface="Times New Roman" panose="02020603050405020304" pitchFamily="18" charset="0"/>
              </a:rPr>
              <a:t> + 8×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+ 4×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+ 2×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+ 1×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r>
              <a:rPr lang="en-US" sz="1200" dirty="0">
                <a:cs typeface="Times New Roman" panose="02020603050405020304" pitchFamily="18" charset="0"/>
              </a:rPr>
              <a:t> = 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101111</a:t>
            </a:r>
            <a:r>
              <a:rPr lang="en-US" sz="1200" baseline="-25000" dirty="0">
                <a:cs typeface="Times New Roman" panose="02020603050405020304" pitchFamily="18" charset="0"/>
              </a:rPr>
              <a:t>2</a:t>
            </a:r>
          </a:p>
          <a:p>
            <a:r>
              <a:rPr lang="en-US" sz="1600" i="1" dirty="0"/>
              <a:t>N</a:t>
            </a:r>
            <a:r>
              <a:rPr lang="en-US" sz="1600" dirty="0"/>
              <a:t>-digit decimal number</a:t>
            </a:r>
          </a:p>
          <a:p>
            <a:pPr lvl="1">
              <a:tabLst>
                <a:tab pos="3429000" algn="l"/>
              </a:tabLst>
            </a:pPr>
            <a:r>
              <a:rPr lang="en-US" sz="1200" dirty="0"/>
              <a:t>How many values? 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10</a:t>
            </a:r>
            <a:r>
              <a:rPr lang="en-US" sz="1200" b="1" i="1" baseline="30000" dirty="0">
                <a:solidFill>
                  <a:schemeClr val="accent1"/>
                </a:solidFill>
                <a:cs typeface="Times New Roman" panose="02020603050405020304" pitchFamily="18" charset="0"/>
              </a:rPr>
              <a:t>N</a:t>
            </a:r>
            <a:r>
              <a:rPr lang="en-US" sz="1200" dirty="0"/>
              <a:t>	Range: [0, 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10</a:t>
            </a:r>
            <a:r>
              <a:rPr lang="en-US" sz="1200" b="1" i="1" baseline="30000" dirty="0">
                <a:solidFill>
                  <a:schemeClr val="accent1"/>
                </a:solidFill>
                <a:cs typeface="Times New Roman" panose="02020603050405020304" pitchFamily="18" charset="0"/>
              </a:rPr>
              <a:t>N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−1</a:t>
            </a:r>
            <a:r>
              <a:rPr lang="en-US" sz="1200" dirty="0"/>
              <a:t>]</a:t>
            </a:r>
          </a:p>
          <a:p>
            <a:pPr lvl="1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Example:</a:t>
            </a:r>
            <a:r>
              <a:rPr lang="en-US" sz="1200" dirty="0"/>
              <a:t> 3-digit decimal number:</a:t>
            </a:r>
          </a:p>
          <a:p>
            <a:pPr lvl="1">
              <a:tabLst>
                <a:tab pos="3429000" algn="l"/>
              </a:tabLst>
            </a:pPr>
            <a:r>
              <a:rPr lang="en-US" sz="1200" b="1" dirty="0">
                <a:cs typeface="Times New Roman" panose="02020603050405020304" pitchFamily="18" charset="0"/>
              </a:rPr>
              <a:t>10</a:t>
            </a:r>
            <a:r>
              <a:rPr lang="en-US" sz="1200" b="1" baseline="30000" dirty="0">
                <a:cs typeface="Times New Roman" panose="02020603050405020304" pitchFamily="18" charset="0"/>
              </a:rPr>
              <a:t>3</a:t>
            </a:r>
            <a:r>
              <a:rPr lang="en-US" sz="1200" dirty="0"/>
              <a:t> = </a:t>
            </a:r>
            <a:r>
              <a:rPr lang="en-US" sz="1200" b="1" dirty="0">
                <a:cs typeface="Times New Roman" panose="02020603050405020304" pitchFamily="18" charset="0"/>
              </a:rPr>
              <a:t>1000</a:t>
            </a:r>
            <a:r>
              <a:rPr lang="en-US" sz="1200" dirty="0"/>
              <a:t> possible values	Range: [</a:t>
            </a:r>
            <a:r>
              <a:rPr lang="en-US" sz="1200" b="1" dirty="0">
                <a:cs typeface="Times New Roman" panose="02020603050405020304" pitchFamily="18" charset="0"/>
              </a:rPr>
              <a:t>000</a:t>
            </a:r>
            <a:r>
              <a:rPr lang="en-US" sz="1200" dirty="0"/>
              <a:t>, </a:t>
            </a:r>
            <a:r>
              <a:rPr lang="en-US" sz="1200" b="1" dirty="0">
                <a:cs typeface="Times New Roman" panose="02020603050405020304" pitchFamily="18" charset="0"/>
              </a:rPr>
              <a:t>999</a:t>
            </a:r>
            <a:r>
              <a:rPr lang="en-US" sz="1200" dirty="0"/>
              <a:t>]</a:t>
            </a:r>
          </a:p>
          <a:p>
            <a:r>
              <a:rPr lang="en-US" sz="1600" i="1" dirty="0"/>
              <a:t>N</a:t>
            </a:r>
            <a:r>
              <a:rPr lang="en-US" sz="1600" dirty="0"/>
              <a:t>-digit binary number</a:t>
            </a:r>
          </a:p>
          <a:p>
            <a:pPr lvl="1">
              <a:tabLst>
                <a:tab pos="3429000" algn="l"/>
              </a:tabLst>
            </a:pPr>
            <a:r>
              <a:rPr lang="en-US" sz="1200" dirty="0"/>
              <a:t>How many values? 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2</a:t>
            </a:r>
            <a:r>
              <a:rPr lang="en-US" sz="1200" b="1" i="1" baseline="30000" dirty="0">
                <a:solidFill>
                  <a:schemeClr val="accent1"/>
                </a:solidFill>
                <a:cs typeface="Times New Roman" panose="02020603050405020304" pitchFamily="18" charset="0"/>
              </a:rPr>
              <a:t>N</a:t>
            </a:r>
            <a:r>
              <a:rPr lang="en-US" sz="1200" dirty="0"/>
              <a:t>	Range: [0, 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2</a:t>
            </a:r>
            <a:r>
              <a:rPr lang="en-US" sz="1200" b="1" i="1" baseline="30000" dirty="0">
                <a:solidFill>
                  <a:schemeClr val="accent1"/>
                </a:solidFill>
                <a:cs typeface="Times New Roman" panose="02020603050405020304" pitchFamily="18" charset="0"/>
              </a:rPr>
              <a:t>N</a:t>
            </a:r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−1</a:t>
            </a:r>
            <a:r>
              <a:rPr lang="en-US" sz="1200" dirty="0"/>
              <a:t>]</a:t>
            </a:r>
          </a:p>
          <a:p>
            <a:pPr lvl="1"/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Example: </a:t>
            </a:r>
            <a:r>
              <a:rPr lang="en-US" sz="1200" dirty="0"/>
              <a:t>3-digit binary number:</a:t>
            </a:r>
          </a:p>
          <a:p>
            <a:pPr lvl="1">
              <a:tabLst>
                <a:tab pos="3429000" algn="l"/>
              </a:tabLst>
            </a:pPr>
            <a:r>
              <a:rPr lang="en-US" sz="1200" b="1" dirty="0">
                <a:cs typeface="Times New Roman" panose="02020603050405020304" pitchFamily="18" charset="0"/>
              </a:rPr>
              <a:t>2</a:t>
            </a:r>
            <a:r>
              <a:rPr lang="en-US" sz="1200" b="1" baseline="30000" dirty="0">
                <a:cs typeface="Times New Roman" panose="02020603050405020304" pitchFamily="18" charset="0"/>
              </a:rPr>
              <a:t>3</a:t>
            </a:r>
            <a:r>
              <a:rPr lang="en-US" sz="1200" dirty="0"/>
              <a:t> = </a:t>
            </a:r>
            <a:r>
              <a:rPr lang="en-US" sz="1200" b="1" dirty="0">
                <a:cs typeface="Times New Roman" panose="02020603050405020304" pitchFamily="18" charset="0"/>
              </a:rPr>
              <a:t>8</a:t>
            </a:r>
            <a:r>
              <a:rPr lang="en-US" sz="1200" dirty="0"/>
              <a:t> possible values	Range: [</a:t>
            </a:r>
            <a:r>
              <a:rPr lang="en-US" sz="1200" b="1" dirty="0">
                <a:cs typeface="Times New Roman" panose="02020603050405020304" pitchFamily="18" charset="0"/>
              </a:rPr>
              <a:t>000</a:t>
            </a:r>
            <a:r>
              <a:rPr lang="en-US" sz="1200" b="1" baseline="-25000" dirty="0">
                <a:cs typeface="Times New Roman" panose="02020603050405020304" pitchFamily="18" charset="0"/>
              </a:rPr>
              <a:t>2</a:t>
            </a:r>
            <a:r>
              <a:rPr lang="en-US" sz="1200" dirty="0"/>
              <a:t>, </a:t>
            </a:r>
            <a:r>
              <a:rPr lang="en-US" sz="1200" b="1" dirty="0">
                <a:cs typeface="Times New Roman" panose="02020603050405020304" pitchFamily="18" charset="0"/>
              </a:rPr>
              <a:t>111</a:t>
            </a:r>
            <a:r>
              <a:rPr lang="en-US" sz="1200" b="1" baseline="-25000" dirty="0">
                <a:cs typeface="Times New Roman" panose="02020603050405020304" pitchFamily="18" charset="0"/>
              </a:rPr>
              <a:t>2</a:t>
            </a:r>
            <a:r>
              <a:rPr lang="en-US" sz="1200" dirty="0"/>
              <a:t>]</a:t>
            </a:r>
          </a:p>
          <a:p>
            <a:pPr marL="342900" lvl="1" indent="0">
              <a:buNone/>
              <a:tabLst>
                <a:tab pos="3969544" algn="l"/>
              </a:tabLst>
            </a:pPr>
            <a:r>
              <a:rPr lang="en-US" sz="1200" dirty="0"/>
              <a:t>	[  </a:t>
            </a:r>
            <a:r>
              <a:rPr lang="en-US" sz="1200" dirty="0">
                <a:cs typeface="Times New Roman" panose="02020603050405020304" pitchFamily="18" charset="0"/>
              </a:rPr>
              <a:t>0</a:t>
            </a:r>
            <a:r>
              <a:rPr lang="en-US" sz="1200" dirty="0"/>
              <a:t>   ,  </a:t>
            </a:r>
            <a:r>
              <a:rPr lang="en-US" sz="1200" dirty="0">
                <a:cs typeface="Times New Roman" panose="02020603050405020304" pitchFamily="18" charset="0"/>
              </a:rPr>
              <a:t>7</a:t>
            </a:r>
            <a:r>
              <a:rPr lang="en-US" sz="1200" dirty="0"/>
              <a:t>   ]</a:t>
            </a:r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endParaRPr lang="en-US" sz="135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1C8CD3-6479-46A5-A624-420D7122D2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6233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Hexadecimal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956" y="844153"/>
            <a:ext cx="7643844" cy="3671888"/>
          </a:xfrm>
        </p:spPr>
        <p:txBody>
          <a:bodyPr/>
          <a:lstStyle/>
          <a:p>
            <a:pPr marL="214313" indent="-214313"/>
            <a:r>
              <a:rPr lang="en-US" sz="2400" b="1" dirty="0">
                <a:solidFill>
                  <a:schemeClr val="accent1"/>
                </a:solidFill>
              </a:rPr>
              <a:t>Hexadecimal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to </a:t>
            </a:r>
            <a:r>
              <a:rPr lang="en-US" sz="2400" b="1" dirty="0">
                <a:solidFill>
                  <a:schemeClr val="accent1"/>
                </a:solidFill>
              </a:rPr>
              <a:t>binary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conversion</a:t>
            </a:r>
          </a:p>
          <a:p>
            <a:pPr marL="557213" lvl="1" indent="-214313"/>
            <a:r>
              <a:rPr lang="en-US" sz="2000" dirty="0">
                <a:cs typeface="Times New Roman" panose="02020603050405020304" pitchFamily="18" charset="0"/>
              </a:rPr>
              <a:t>4AF</a:t>
            </a:r>
            <a:r>
              <a:rPr lang="en-US" sz="2000" baseline="-25000" dirty="0">
                <a:cs typeface="Times New Roman" panose="02020603050405020304" pitchFamily="18" charset="0"/>
              </a:rPr>
              <a:t>16</a:t>
            </a:r>
            <a:r>
              <a:rPr lang="en-US" sz="2000" dirty="0"/>
              <a:t> (or </a:t>
            </a:r>
            <a:r>
              <a:rPr lang="en-US" sz="2000" dirty="0">
                <a:cs typeface="Times New Roman" panose="02020603050405020304" pitchFamily="18" charset="0"/>
              </a:rPr>
              <a:t>0x4AF</a:t>
            </a:r>
            <a:r>
              <a:rPr lang="en-US" sz="2000" dirty="0"/>
              <a:t>)</a:t>
            </a:r>
          </a:p>
          <a:p>
            <a:pPr marL="557213" lvl="1" indent="-214313"/>
            <a:r>
              <a:rPr lang="en-US" sz="2000" dirty="0">
                <a:cs typeface="Times New Roman" panose="02020603050405020304" pitchFamily="18" charset="0"/>
              </a:rPr>
              <a:t>0100 1010 1111</a:t>
            </a:r>
            <a:r>
              <a:rPr lang="en-US" sz="2000" baseline="-25000" dirty="0">
                <a:cs typeface="Times New Roman" panose="02020603050405020304" pitchFamily="18" charset="0"/>
              </a:rPr>
              <a:t>2</a:t>
            </a:r>
          </a:p>
          <a:p>
            <a:pPr marL="214313" indent="-214313"/>
            <a:endParaRPr lang="en-US" sz="2000" b="1" dirty="0">
              <a:solidFill>
                <a:schemeClr val="accent1"/>
              </a:solidFill>
            </a:endParaRPr>
          </a:p>
          <a:p>
            <a:pPr marL="214313" indent="-214313"/>
            <a:r>
              <a:rPr lang="en-US" sz="2400" b="1" dirty="0">
                <a:solidFill>
                  <a:schemeClr val="accent1"/>
                </a:solidFill>
              </a:rPr>
              <a:t>Hexadecimal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to </a:t>
            </a:r>
            <a:r>
              <a:rPr lang="en-US" sz="2400" b="1" dirty="0">
                <a:solidFill>
                  <a:schemeClr val="accent1"/>
                </a:solidFill>
              </a:rPr>
              <a:t>decimal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conversion</a:t>
            </a:r>
          </a:p>
          <a:p>
            <a:pPr marL="557213" lvl="1" indent="-214313"/>
            <a:r>
              <a:rPr lang="en-US" sz="2000" dirty="0">
                <a:cs typeface="Times New Roman" panose="02020603050405020304" pitchFamily="18" charset="0"/>
              </a:rPr>
              <a:t>4AF</a:t>
            </a:r>
            <a:r>
              <a:rPr lang="en-US" sz="2000" baseline="-25000" dirty="0">
                <a:cs typeface="Times New Roman" panose="02020603050405020304" pitchFamily="18" charset="0"/>
              </a:rPr>
              <a:t>16</a:t>
            </a:r>
            <a:r>
              <a:rPr lang="en-US" sz="2000" dirty="0"/>
              <a:t> (or </a:t>
            </a:r>
            <a:r>
              <a:rPr lang="en-US" sz="2000" dirty="0">
                <a:cs typeface="Times New Roman" panose="02020603050405020304" pitchFamily="18" charset="0"/>
              </a:rPr>
              <a:t>0x4AF</a:t>
            </a:r>
            <a:r>
              <a:rPr lang="en-US" sz="2000" dirty="0"/>
              <a:t>)</a:t>
            </a:r>
          </a:p>
          <a:p>
            <a:pPr marL="557213" lvl="1" indent="-214313"/>
            <a:r>
              <a:rPr lang="en-US" sz="2000" dirty="0">
                <a:cs typeface="Times New Roman" panose="02020603050405020304" pitchFamily="18" charset="0"/>
              </a:rPr>
              <a:t>16</a:t>
            </a:r>
            <a:r>
              <a:rPr lang="en-US" sz="2000" baseline="30000" dirty="0">
                <a:cs typeface="Times New Roman" panose="02020603050405020304" pitchFamily="18" charset="0"/>
              </a:rPr>
              <a:t>2</a:t>
            </a:r>
            <a:r>
              <a:rPr lang="en-US" sz="2000" dirty="0">
                <a:cs typeface="Times New Roman" panose="02020603050405020304" pitchFamily="18" charset="0"/>
              </a:rPr>
              <a:t>×4 + 16</a:t>
            </a:r>
            <a:r>
              <a:rPr lang="en-US" sz="2000" baseline="30000" dirty="0">
                <a:cs typeface="Times New Roman" panose="02020603050405020304" pitchFamily="18" charset="0"/>
              </a:rPr>
              <a:t>1</a:t>
            </a:r>
            <a:r>
              <a:rPr lang="en-US" sz="2000" dirty="0">
                <a:cs typeface="Times New Roman" panose="02020603050405020304" pitchFamily="18" charset="0"/>
              </a:rPr>
              <a:t>×10 + 16</a:t>
            </a:r>
            <a:r>
              <a:rPr lang="en-US" sz="2000" baseline="30000" dirty="0">
                <a:cs typeface="Times New Roman" panose="02020603050405020304" pitchFamily="18" charset="0"/>
              </a:rPr>
              <a:t>0</a:t>
            </a:r>
            <a:r>
              <a:rPr lang="en-US" sz="2000" dirty="0">
                <a:cs typeface="Times New Roman" panose="02020603050405020304" pitchFamily="18" charset="0"/>
              </a:rPr>
              <a:t>×15</a:t>
            </a:r>
            <a:br>
              <a:rPr lang="en-US" sz="2000" dirty="0"/>
            </a:br>
            <a:r>
              <a:rPr lang="en-US" sz="2000" dirty="0">
                <a:cs typeface="Times New Roman" panose="02020603050405020304" pitchFamily="18" charset="0"/>
              </a:rPr>
              <a:t>= 1199</a:t>
            </a:r>
            <a:r>
              <a:rPr lang="en-US" sz="2000" baseline="-25000" dirty="0">
                <a:cs typeface="Times New Roman" panose="02020603050405020304" pitchFamily="18" charset="0"/>
              </a:rPr>
              <a:t>10</a:t>
            </a:r>
          </a:p>
          <a:p>
            <a:pPr marL="214313" indent="-214313"/>
            <a:endParaRPr lang="en-US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DE9DD7-0ABD-4DE8-8EAA-5F1C4F8E8A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1228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068" y="108349"/>
            <a:ext cx="7660622" cy="519113"/>
          </a:xfrm>
        </p:spPr>
        <p:txBody>
          <a:bodyPr/>
          <a:lstStyle/>
          <a:p>
            <a:r>
              <a:rPr lang="en-US" dirty="0"/>
              <a:t>Exercise L02-1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736" y="844153"/>
            <a:ext cx="7571064" cy="3671888"/>
          </a:xfrm>
        </p:spPr>
        <p:txBody>
          <a:bodyPr/>
          <a:lstStyle/>
          <a:p>
            <a:r>
              <a:rPr lang="en-US" sz="2400" b="1" dirty="0">
                <a:solidFill>
                  <a:schemeClr val="accent6"/>
                </a:solidFill>
              </a:rPr>
              <a:t>Ex 1:</a:t>
            </a:r>
            <a:r>
              <a:rPr lang="en-US" sz="2400" dirty="0"/>
              <a:t> Convert 36</a:t>
            </a:r>
            <a:r>
              <a:rPr lang="en-US" sz="2400" baseline="-25000" dirty="0"/>
              <a:t>8</a:t>
            </a:r>
            <a:r>
              <a:rPr lang="en-US" sz="2400" dirty="0"/>
              <a:t> to binary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6"/>
                </a:solidFill>
              </a:rPr>
              <a:t>Ex 2:</a:t>
            </a:r>
            <a:r>
              <a:rPr lang="en-US" sz="2400" dirty="0"/>
              <a:t> Convert 36</a:t>
            </a:r>
            <a:r>
              <a:rPr lang="en-US" sz="2400" baseline="-25000" dirty="0"/>
              <a:t>10</a:t>
            </a:r>
            <a:r>
              <a:rPr lang="en-US" sz="2400" dirty="0"/>
              <a:t> to binary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90DAFD-39F8-44FC-872A-2C81053F20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7946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956" y="108349"/>
            <a:ext cx="7727734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Unsigned and Signed Numbers</a:t>
            </a:r>
          </a:p>
        </p:txBody>
      </p:sp>
      <p:graphicFrame>
        <p:nvGraphicFramePr>
          <p:cNvPr id="6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4693435"/>
              </p:ext>
            </p:extLst>
          </p:nvPr>
        </p:nvGraphicFramePr>
        <p:xfrm>
          <a:off x="1473348" y="1043472"/>
          <a:ext cx="4671000" cy="326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76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Hexadecimal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Binary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Decimal (Unsigned)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Decimal</a:t>
                      </a:r>
                      <a:br>
                        <a:rPr lang="en-US" sz="1200" dirty="0">
                          <a:latin typeface="+mn-lt"/>
                        </a:rPr>
                      </a:br>
                      <a:r>
                        <a:rPr lang="en-US" sz="1200" baseline="0" dirty="0">
                          <a:latin typeface="+mn-lt"/>
                        </a:rPr>
                        <a:t>(2’s Complement)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0x8F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0111 1111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127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127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0x8E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0111 1110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126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126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0x02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0000 0010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0x01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0000 0001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0x00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0000 0000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0xFF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1111 1111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200" baseline="30000" dirty="0">
                          <a:latin typeface="+mn-lt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−1 = 255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−1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0xFE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1111 1110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>
                          <a:latin typeface="+mn-lt"/>
                          <a:cs typeface="Times New Roman" panose="02020603050405020304" pitchFamily="18" charset="0"/>
                        </a:rPr>
                        <a:t>254</a:t>
                      </a:r>
                      <a:endParaRPr lang="en-US" sz="12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−2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0x82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1000 0010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130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−126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0x81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1000 0001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129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−127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68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0x80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1000 0000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128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cs typeface="Times New Roman" panose="02020603050405020304" pitchFamily="18" charset="0"/>
                        </a:rPr>
                        <a:t>−128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2556166" y="1426193"/>
            <a:ext cx="872837" cy="28401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28" name="Group 27"/>
          <p:cNvGrpSpPr/>
          <p:nvPr/>
        </p:nvGrpSpPr>
        <p:grpSpPr>
          <a:xfrm>
            <a:off x="6224592" y="1446096"/>
            <a:ext cx="1704313" cy="1125418"/>
            <a:chOff x="6849341" y="2252502"/>
            <a:chExt cx="2272416" cy="1500556"/>
          </a:xfrm>
        </p:grpSpPr>
        <p:sp>
          <p:nvSpPr>
            <p:cNvPr id="7" name="TextBox 6"/>
            <p:cNvSpPr txBox="1"/>
            <p:nvPr/>
          </p:nvSpPr>
          <p:spPr>
            <a:xfrm>
              <a:off x="7317418" y="2622836"/>
              <a:ext cx="133626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1000 0000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17418" y="3352949"/>
              <a:ext cx="133626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1000 0001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49341" y="2252502"/>
              <a:ext cx="227241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accent6"/>
                  </a:solidFill>
                </a:rPr>
                <a:t>Complement all bits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49341" y="2983617"/>
              <a:ext cx="14132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accent6"/>
                  </a:solidFill>
                </a:rPr>
                <a:t>Then add 1</a:t>
              </a:r>
            </a:p>
          </p:txBody>
        </p:sp>
      </p:grpSp>
      <p:sp>
        <p:nvSpPr>
          <p:cNvPr id="16" name="Oval 15"/>
          <p:cNvSpPr/>
          <p:nvPr/>
        </p:nvSpPr>
        <p:spPr>
          <a:xfrm>
            <a:off x="2556166" y="3809174"/>
            <a:ext cx="872837" cy="28401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8" name="Curved Connector 17"/>
          <p:cNvCxnSpPr>
            <a:stCxn id="10" idx="2"/>
            <a:endCxn id="16" idx="2"/>
          </p:cNvCxnSpPr>
          <p:nvPr/>
        </p:nvCxnSpPr>
        <p:spPr>
          <a:xfrm rot="10800000" flipV="1">
            <a:off x="2556166" y="1568201"/>
            <a:ext cx="9525" cy="2382982"/>
          </a:xfrm>
          <a:prstGeom prst="curvedConnector3">
            <a:avLst>
              <a:gd name="adj1" fmla="val 1800000"/>
            </a:avLst>
          </a:prstGeom>
          <a:ln w="28575">
            <a:solidFill>
              <a:schemeClr val="accent6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59629" y="3106056"/>
            <a:ext cx="872837" cy="2840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29" name="Group 28"/>
          <p:cNvGrpSpPr/>
          <p:nvPr/>
        </p:nvGrpSpPr>
        <p:grpSpPr>
          <a:xfrm>
            <a:off x="6224592" y="2990858"/>
            <a:ext cx="1704313" cy="1125418"/>
            <a:chOff x="6849341" y="2252502"/>
            <a:chExt cx="2272416" cy="1500556"/>
          </a:xfrm>
        </p:grpSpPr>
        <p:sp>
          <p:nvSpPr>
            <p:cNvPr id="30" name="TextBox 29"/>
            <p:cNvSpPr txBox="1"/>
            <p:nvPr/>
          </p:nvSpPr>
          <p:spPr>
            <a:xfrm>
              <a:off x="7317418" y="2622836"/>
              <a:ext cx="133626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0000 0001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317418" y="3352949"/>
              <a:ext cx="133626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0000 0010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849341" y="2252502"/>
              <a:ext cx="227241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rgbClr val="00B050"/>
                  </a:solidFill>
                </a:rPr>
                <a:t>Complement all bits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49341" y="2983617"/>
              <a:ext cx="14132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rgbClr val="00B050"/>
                  </a:solidFill>
                </a:rPr>
                <a:t>Then add 1</a:t>
              </a:r>
            </a:p>
          </p:txBody>
        </p:sp>
      </p:grpSp>
      <p:sp>
        <p:nvSpPr>
          <p:cNvPr id="34" name="Oval 33"/>
          <p:cNvSpPr/>
          <p:nvPr/>
        </p:nvSpPr>
        <p:spPr>
          <a:xfrm>
            <a:off x="2560928" y="2156075"/>
            <a:ext cx="872837" cy="284018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35" name="Curved Connector 34"/>
          <p:cNvCxnSpPr>
            <a:stCxn id="27" idx="6"/>
            <a:endCxn id="34" idx="6"/>
          </p:cNvCxnSpPr>
          <p:nvPr/>
        </p:nvCxnSpPr>
        <p:spPr>
          <a:xfrm flipV="1">
            <a:off x="3432466" y="2298085"/>
            <a:ext cx="1299" cy="949981"/>
          </a:xfrm>
          <a:prstGeom prst="curvedConnector3">
            <a:avLst>
              <a:gd name="adj1" fmla="val 5832737"/>
            </a:avLst>
          </a:prstGeom>
          <a:ln w="28575">
            <a:solidFill>
              <a:srgbClr val="00B050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17D0B20-07DA-4EFC-B046-C69B375E1C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8817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624" y="108349"/>
            <a:ext cx="7627066" cy="519113"/>
          </a:xfrm>
        </p:spPr>
        <p:txBody>
          <a:bodyPr/>
          <a:lstStyle/>
          <a:p>
            <a:r>
              <a:rPr lang="en-US" dirty="0"/>
              <a:t>Exercise L02-2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624" y="844153"/>
            <a:ext cx="7638176" cy="1655766"/>
          </a:xfrm>
        </p:spPr>
        <p:txBody>
          <a:bodyPr/>
          <a:lstStyle/>
          <a:p>
            <a:r>
              <a:rPr lang="en-US" sz="2400" b="1" dirty="0">
                <a:solidFill>
                  <a:schemeClr val="accent6"/>
                </a:solidFill>
              </a:rPr>
              <a:t>Ex 3:</a:t>
            </a:r>
            <a:r>
              <a:rPr lang="en-US" sz="2400" dirty="0"/>
              <a:t> For a </a:t>
            </a:r>
            <a:r>
              <a:rPr lang="en-US" sz="2400" i="1" dirty="0"/>
              <a:t>n</a:t>
            </a:r>
            <a:r>
              <a:rPr lang="en-US" sz="2400" dirty="0"/>
              <a:t>-bit 2’s complement signed binary numeral system, what’s the largest positive number and the smallest negative number?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3D2E7A-0B6E-4C69-88ED-06800D6403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523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901" y="108349"/>
            <a:ext cx="7685789" cy="519113"/>
          </a:xfrm>
        </p:spPr>
        <p:txBody>
          <a:bodyPr/>
          <a:lstStyle/>
          <a:p>
            <a:r>
              <a:rPr lang="en-US" sz="3200" dirty="0"/>
              <a:t>Digital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901" y="844153"/>
            <a:ext cx="7189366" cy="3671888"/>
          </a:xfrm>
        </p:spPr>
        <p:txBody>
          <a:bodyPr>
            <a:normAutofit/>
          </a:bodyPr>
          <a:lstStyle/>
          <a:p>
            <a:r>
              <a:rPr lang="en-US" sz="2000" dirty="0"/>
              <a:t>Digital circuits generally contain two parts</a:t>
            </a:r>
          </a:p>
          <a:p>
            <a:pPr lvl="1"/>
            <a:r>
              <a:rPr lang="en-US" sz="1800" dirty="0"/>
              <a:t>Combinational logic</a:t>
            </a:r>
          </a:p>
          <a:p>
            <a:pPr lvl="1"/>
            <a:r>
              <a:rPr lang="en-US" sz="1800" dirty="0"/>
              <a:t>Sequential logic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Combinational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circuits consist of logic gates with inputs and outputs</a:t>
            </a:r>
          </a:p>
          <a:p>
            <a:pPr lvl="1"/>
            <a:r>
              <a:rPr lang="en-US" sz="1800" dirty="0"/>
              <a:t>The outputs at any instance of time depend only on the combination of the input values based on logic operations such as AND, OR, etc.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Sequential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circuits, in addition to inputs and outputs also have storage elements, therefore the output depends on both the current inputs as well as the stored values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5AD0C4-B0DB-4347-8BB4-C7EF7E18D3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4864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457" y="108349"/>
            <a:ext cx="7652233" cy="519113"/>
          </a:xfrm>
        </p:spPr>
        <p:txBody>
          <a:bodyPr/>
          <a:lstStyle/>
          <a:p>
            <a:r>
              <a:rPr lang="en-US" sz="3200" dirty="0"/>
              <a:t>Digital Signal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566" y="844153"/>
            <a:ext cx="7652234" cy="2528221"/>
          </a:xfrm>
        </p:spPr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Active High</a:t>
            </a:r>
          </a:p>
          <a:p>
            <a:pPr lvl="1"/>
            <a:r>
              <a:rPr lang="en-US" sz="2000" dirty="0"/>
              <a:t>High voltage activates/enables the pin</a:t>
            </a:r>
          </a:p>
          <a:p>
            <a:pPr lvl="1"/>
            <a:endParaRPr lang="en-US" sz="2000" dirty="0"/>
          </a:p>
          <a:p>
            <a:r>
              <a:rPr lang="en-US" sz="2400" b="1" dirty="0">
                <a:solidFill>
                  <a:schemeClr val="accent1"/>
                </a:solidFill>
              </a:rPr>
              <a:t>Active Low</a:t>
            </a:r>
          </a:p>
          <a:p>
            <a:pPr lvl="1"/>
            <a:r>
              <a:rPr lang="en-US" sz="2000" dirty="0"/>
              <a:t>Low voltage activates/enables the pin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057F1A-C18E-4284-9596-BA2F2984F9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1450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956" y="108349"/>
            <a:ext cx="7727734" cy="51911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Logic Levels</a:t>
            </a:r>
            <a:endParaRPr 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97F1C55-7C66-49FF-9F57-22E5605C80B7}"/>
              </a:ext>
            </a:extLst>
          </p:cNvPr>
          <p:cNvGrpSpPr/>
          <p:nvPr/>
        </p:nvGrpSpPr>
        <p:grpSpPr>
          <a:xfrm>
            <a:off x="1614488" y="906896"/>
            <a:ext cx="6400800" cy="3600707"/>
            <a:chOff x="1614488" y="957230"/>
            <a:chExt cx="6400800" cy="3600707"/>
          </a:xfrm>
        </p:grpSpPr>
        <p:graphicFrame>
          <p:nvGraphicFramePr>
            <p:cNvPr id="7" name="Object 5"/>
            <p:cNvGraphicFramePr>
              <a:graphicFrameLocks noChangeAspect="1"/>
            </p:cNvGraphicFramePr>
            <p:nvPr>
              <p:custDataLst>
                <p:tags r:id="rId2"/>
              </p:custDataLst>
              <p:extLst>
                <p:ext uri="{D42A27DB-BD31-4B8C-83A1-F6EECF244321}">
                  <p14:modId xmlns:p14="http://schemas.microsoft.com/office/powerpoint/2010/main" val="1281429648"/>
                </p:ext>
              </p:extLst>
            </p:nvPr>
          </p:nvGraphicFramePr>
          <p:xfrm>
            <a:off x="3089002" y="957230"/>
            <a:ext cx="3143250" cy="822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" name="VISIO" r:id="rId6" imgW="1978401" imgH="517498" progId="Visio.Drawing.6">
                    <p:embed/>
                  </p:oleObj>
                </mc:Choice>
                <mc:Fallback>
                  <p:oleObj name="VISIO" r:id="rId6" imgW="1978401" imgH="517498" progId="Visio.Drawing.6">
                    <p:embed/>
                    <p:pic>
                      <p:nvPicPr>
                        <p:cNvPr id="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9002" y="957230"/>
                          <a:ext cx="3143250" cy="8227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6"/>
            <p:cNvGraphicFramePr>
              <a:graphicFrameLocks noChangeAspect="1"/>
            </p:cNvGraphicFramePr>
            <p:nvPr>
              <p:custDataLst>
                <p:tags r:id="rId3"/>
              </p:custDataLst>
              <p:extLst>
                <p:ext uri="{D42A27DB-BD31-4B8C-83A1-F6EECF244321}">
                  <p14:modId xmlns:p14="http://schemas.microsoft.com/office/powerpoint/2010/main" val="2213701374"/>
                </p:ext>
              </p:extLst>
            </p:nvPr>
          </p:nvGraphicFramePr>
          <p:xfrm>
            <a:off x="1614488" y="1880222"/>
            <a:ext cx="6400800" cy="26777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" name="VISIO" r:id="rId8" imgW="4030077" imgH="1686831" progId="Visio.Drawing.6">
                    <p:embed/>
                  </p:oleObj>
                </mc:Choice>
                <mc:Fallback>
                  <p:oleObj name="VISIO" r:id="rId8" imgW="4030077" imgH="1686831" progId="Visio.Drawing.6">
                    <p:embed/>
                    <p:pic>
                      <p:nvPicPr>
                        <p:cNvPr id="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4488" y="1880222"/>
                          <a:ext cx="6400800" cy="26777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A1E84F-6B77-48FD-B791-8C36612EDF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2850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624" y="108349"/>
            <a:ext cx="7627066" cy="519113"/>
          </a:xfrm>
        </p:spPr>
        <p:txBody>
          <a:bodyPr/>
          <a:lstStyle/>
          <a:p>
            <a:r>
              <a:rPr lang="en-US" sz="3200" dirty="0"/>
              <a:t>Logic Gates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95C4A5C-C507-4444-BA1E-B1235CAF11C0}"/>
              </a:ext>
            </a:extLst>
          </p:cNvPr>
          <p:cNvGrpSpPr/>
          <p:nvPr/>
        </p:nvGrpSpPr>
        <p:grpSpPr>
          <a:xfrm>
            <a:off x="1647833" y="974788"/>
            <a:ext cx="5741662" cy="3470984"/>
            <a:chOff x="1647833" y="1083845"/>
            <a:chExt cx="5741662" cy="347098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833" y="1083845"/>
              <a:ext cx="1037612" cy="3447901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2867891" y="1122586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OR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67891" y="1737429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NOR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867891" y="2375728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67891" y="3008089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NAND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867891" y="3640450"/>
              <a:ext cx="770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buffer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867891" y="4185497"/>
              <a:ext cx="16552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NOT (inverter)</a:t>
              </a:r>
            </a:p>
          </p:txBody>
        </p: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0162" y="1114565"/>
              <a:ext cx="959126" cy="1262648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5903336" y="1150295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XOR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903336" y="1965969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XNOR</a:t>
              </a: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H="1">
              <a:off x="3733801" y="3041443"/>
              <a:ext cx="967088" cy="138176"/>
            </a:xfrm>
            <a:prstGeom prst="straightConnector1">
              <a:avLst/>
            </a:prstGeom>
            <a:ln w="381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6928" y="3041443"/>
              <a:ext cx="1132567" cy="1127442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00890" y="2536531"/>
              <a:ext cx="1187906" cy="1934939"/>
            </a:xfrm>
            <a:prstGeom prst="rect">
              <a:avLst/>
            </a:prstGeom>
          </p:spPr>
        </p:pic>
        <p:cxnSp>
          <p:nvCxnSpPr>
            <p:cNvPr id="40" name="Curved Connector 39"/>
            <p:cNvCxnSpPr>
              <a:stCxn id="34" idx="2"/>
              <a:endCxn id="24" idx="2"/>
            </p:cNvCxnSpPr>
            <p:nvPr/>
          </p:nvCxnSpPr>
          <p:spPr>
            <a:xfrm rot="5400000">
              <a:off x="5066395" y="2798012"/>
              <a:ext cx="385944" cy="3127690"/>
            </a:xfrm>
            <a:prstGeom prst="curvedConnector3">
              <a:avLst>
                <a:gd name="adj1" fmla="val 104890"/>
              </a:avLst>
            </a:prstGeom>
            <a:ln w="381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31CF9D-C56E-4F7D-8B61-63A1ECAE83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9718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567" y="108349"/>
            <a:ext cx="7736123" cy="519113"/>
          </a:xfrm>
        </p:spPr>
        <p:txBody>
          <a:bodyPr/>
          <a:lstStyle/>
          <a:p>
            <a:r>
              <a:rPr lang="en-US" sz="3200" dirty="0"/>
              <a:t>Exercise L02-3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0676" y="844153"/>
            <a:ext cx="7052421" cy="3671888"/>
          </a:xfrm>
        </p:spPr>
        <p:txBody>
          <a:bodyPr/>
          <a:lstStyle/>
          <a:p>
            <a:r>
              <a:rPr lang="en-US" sz="2400" b="1" dirty="0">
                <a:solidFill>
                  <a:schemeClr val="accent6"/>
                </a:solidFill>
              </a:rPr>
              <a:t>Ex 4:</a:t>
            </a:r>
            <a:r>
              <a:rPr lang="en-US" sz="2400" dirty="0"/>
              <a:t> What is the schematic view of a NOR gate?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758BDE-E4C7-4038-830B-8ADDB3BA0B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0981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345" y="108349"/>
            <a:ext cx="7719345" cy="519113"/>
          </a:xfrm>
        </p:spPr>
        <p:txBody>
          <a:bodyPr/>
          <a:lstStyle/>
          <a:p>
            <a:r>
              <a:rPr lang="en-US" sz="3200" dirty="0"/>
              <a:t>Truth Table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967454" y="844153"/>
            <a:ext cx="7161478" cy="3671888"/>
          </a:xfrm>
        </p:spPr>
        <p:txBody>
          <a:bodyPr>
            <a:normAutofit/>
          </a:bodyPr>
          <a:lstStyle/>
          <a:p>
            <a:r>
              <a:rPr lang="en-US" sz="2400" dirty="0"/>
              <a:t>A tool for describing how the output of a logic circuit depends on the logic levels presented at the inputs</a:t>
            </a:r>
          </a:p>
          <a:p>
            <a:r>
              <a:rPr lang="en-US" sz="2400" dirty="0"/>
              <a:t>The number of input combinations will equal 2</a:t>
            </a:r>
            <a:r>
              <a:rPr lang="en-US" sz="2400" i="1" baseline="30000" dirty="0"/>
              <a:t>N</a:t>
            </a:r>
            <a:r>
              <a:rPr lang="en-US" sz="2400" dirty="0"/>
              <a:t> for an </a:t>
            </a:r>
            <a:r>
              <a:rPr lang="en-US" sz="2400" i="1" dirty="0"/>
              <a:t>N</a:t>
            </a:r>
            <a:r>
              <a:rPr lang="en-US" sz="2400" dirty="0"/>
              <a:t>-input truth table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2010307" y="3500384"/>
            <a:ext cx="3463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2010306" y="3867421"/>
            <a:ext cx="3463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3430398" y="3676900"/>
            <a:ext cx="3463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356670" y="3157355"/>
            <a:ext cx="1073727" cy="10390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Logic Circuit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3523" y="3354705"/>
            <a:ext cx="3000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3523" y="3732712"/>
            <a:ext cx="3000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762" y="3538400"/>
            <a:ext cx="29046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Z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435548"/>
              </p:ext>
            </p:extLst>
          </p:nvPr>
        </p:nvGraphicFramePr>
        <p:xfrm>
          <a:off x="4578419" y="2991100"/>
          <a:ext cx="2628900" cy="1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Z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27000" marR="27000" marT="27000" marB="27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27000" marR="27000" marT="27000" marB="27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88064" y="2681476"/>
            <a:ext cx="76014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chemeClr val="accent1"/>
                </a:solidFill>
              </a:rPr>
              <a:t>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0383" y="2681476"/>
            <a:ext cx="8130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chemeClr val="accent1"/>
                </a:solidFill>
              </a:rPr>
              <a:t>Output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0D94E3-DF29-4247-9675-9BA6EC0884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7988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512" y="108349"/>
            <a:ext cx="7694178" cy="519113"/>
          </a:xfrm>
        </p:spPr>
        <p:txBody>
          <a:bodyPr/>
          <a:lstStyle/>
          <a:p>
            <a:r>
              <a:rPr lang="en-US" sz="3200" dirty="0"/>
              <a:t>Exercise L02-4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622" y="844153"/>
            <a:ext cx="7161477" cy="2234607"/>
          </a:xfrm>
        </p:spPr>
        <p:txBody>
          <a:bodyPr/>
          <a:lstStyle/>
          <a:p>
            <a:r>
              <a:rPr lang="en-US" sz="2400" b="1" dirty="0">
                <a:solidFill>
                  <a:schemeClr val="accent6"/>
                </a:solidFill>
              </a:rPr>
              <a:t>Ex 5:</a:t>
            </a:r>
            <a:r>
              <a:rPr lang="en-US" sz="2400" dirty="0"/>
              <a:t> Draw the truth table of a 3-input AND gate.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EB1560-DB20-4334-B87F-7893510195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0948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345" y="108349"/>
            <a:ext cx="7719345" cy="519113"/>
          </a:xfrm>
        </p:spPr>
        <p:txBody>
          <a:bodyPr/>
          <a:lstStyle/>
          <a:p>
            <a:r>
              <a:rPr lang="en-US" sz="3200" dirty="0"/>
              <a:t>Combinational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345" y="899788"/>
            <a:ext cx="7482980" cy="1082179"/>
          </a:xfrm>
        </p:spPr>
        <p:txBody>
          <a:bodyPr/>
          <a:lstStyle/>
          <a:p>
            <a:r>
              <a:rPr lang="en-US" sz="2400" dirty="0"/>
              <a:t>In combinational circuits, the output at any time is a direct function of the applied external inputs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E3B61E5-F1A0-4298-8F16-586DE7178350}"/>
              </a:ext>
            </a:extLst>
          </p:cNvPr>
          <p:cNvGrpSpPr/>
          <p:nvPr/>
        </p:nvGrpSpPr>
        <p:grpSpPr>
          <a:xfrm>
            <a:off x="2055018" y="2348451"/>
            <a:ext cx="5033963" cy="2021725"/>
            <a:chOff x="2052637" y="1232715"/>
            <a:chExt cx="5033963" cy="2021725"/>
          </a:xfrm>
        </p:grpSpPr>
        <p:grpSp>
          <p:nvGrpSpPr>
            <p:cNvPr id="18" name="Group 17"/>
            <p:cNvGrpSpPr/>
            <p:nvPr/>
          </p:nvGrpSpPr>
          <p:grpSpPr>
            <a:xfrm>
              <a:off x="2052637" y="1232715"/>
              <a:ext cx="5033963" cy="1577161"/>
              <a:chOff x="1212850" y="2253219"/>
              <a:chExt cx="6711950" cy="2102881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3371850" y="2794000"/>
                <a:ext cx="2400300" cy="15621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27000" tIns="0" rIns="2700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Combinational Circuits</a:t>
                </a:r>
              </a:p>
            </p:txBody>
          </p:sp>
          <p:cxnSp>
            <p:nvCxnSpPr>
              <p:cNvPr id="8" name="Straight Arrow Connector 7"/>
              <p:cNvCxnSpPr/>
              <p:nvPr/>
            </p:nvCxnSpPr>
            <p:spPr>
              <a:xfrm>
                <a:off x="1219200" y="3111500"/>
                <a:ext cx="21590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>
                <a:off x="1212850" y="3409950"/>
                <a:ext cx="21590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1212850" y="4070350"/>
                <a:ext cx="21590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 rot="5400000">
                <a:off x="2060174" y="3540096"/>
                <a:ext cx="477053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…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631333" y="2253219"/>
                <a:ext cx="122084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 </a:t>
                </a:r>
                <a:r>
                  <a:rPr lang="en-US" i="1" dirty="0"/>
                  <a:t>X</a:t>
                </a:r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5765800" y="3111500"/>
                <a:ext cx="21590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>
                <a:off x="5759450" y="3409950"/>
                <a:ext cx="21590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>
                <a:off x="5759450" y="4070350"/>
                <a:ext cx="21590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 rot="5400000">
                <a:off x="6606775" y="3540096"/>
                <a:ext cx="477053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…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259304" y="2253219"/>
                <a:ext cx="1443131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Output </a:t>
                </a:r>
                <a:r>
                  <a:rPr lang="en-US" i="1" dirty="0"/>
                  <a:t>Z</a:t>
                </a: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4077154" y="2885108"/>
              <a:ext cx="1037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Z</a:t>
              </a:r>
              <a:r>
                <a:rPr lang="en-US" dirty="0"/>
                <a:t> = </a:t>
              </a:r>
              <a:r>
                <a:rPr lang="en-US" i="1" dirty="0"/>
                <a:t>F</a:t>
              </a:r>
              <a:r>
                <a:rPr lang="en-US" dirty="0"/>
                <a:t>(</a:t>
              </a:r>
              <a:r>
                <a:rPr lang="en-US" i="1" dirty="0"/>
                <a:t>X)</a:t>
              </a: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84DDB1-AD94-473C-BC5B-A62D32DA7D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9561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956" y="108349"/>
            <a:ext cx="7727734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Design Procedure of Combinational Circuits</a:t>
            </a:r>
          </a:p>
        </p:txBody>
      </p:sp>
      <p:sp>
        <p:nvSpPr>
          <p:cNvPr id="6" name="Flowchart: Process 5"/>
          <p:cNvSpPr/>
          <p:nvPr/>
        </p:nvSpPr>
        <p:spPr>
          <a:xfrm>
            <a:off x="3835761" y="1201188"/>
            <a:ext cx="1500188" cy="551817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7500" bIns="67500" rtlCol="0" anchor="ctr">
            <a:spAutoFit/>
          </a:bodyPr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Circuit Specification </a:t>
            </a:r>
          </a:p>
        </p:txBody>
      </p:sp>
      <p:sp>
        <p:nvSpPr>
          <p:cNvPr id="7" name="Flowchart: Process 6"/>
          <p:cNvSpPr/>
          <p:nvPr/>
        </p:nvSpPr>
        <p:spPr>
          <a:xfrm>
            <a:off x="3476517" y="2160504"/>
            <a:ext cx="2218676" cy="551817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7500" bIns="67500" rtlCol="0" anchor="ctr">
            <a:spAutoFit/>
          </a:bodyPr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Truth Table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(How many input/output?)</a:t>
            </a:r>
          </a:p>
        </p:txBody>
      </p:sp>
      <p:sp>
        <p:nvSpPr>
          <p:cNvPr id="8" name="Flowchart: Process 7"/>
          <p:cNvSpPr/>
          <p:nvPr/>
        </p:nvSpPr>
        <p:spPr>
          <a:xfrm>
            <a:off x="2679880" y="3119820"/>
            <a:ext cx="3811949" cy="551817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7500" bIns="67500" rtlCol="0" anchor="ctr">
            <a:spAutoFit/>
          </a:bodyPr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Minimization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(K-maps, algebraic manipulation, CAD tools)</a:t>
            </a:r>
          </a:p>
        </p:txBody>
      </p:sp>
      <p:sp>
        <p:nvSpPr>
          <p:cNvPr id="9" name="Flowchart: Process 8"/>
          <p:cNvSpPr/>
          <p:nvPr/>
        </p:nvSpPr>
        <p:spPr>
          <a:xfrm>
            <a:off x="3835761" y="4079135"/>
            <a:ext cx="1500188" cy="34406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7500" bIns="67500" rtlCol="0" anchor="ctr">
            <a:spAutoFit/>
          </a:bodyPr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Logic Diagram</a:t>
            </a:r>
          </a:p>
        </p:txBody>
      </p: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>
            <a:off x="4585855" y="1753005"/>
            <a:ext cx="0" cy="40749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2"/>
            <a:endCxn id="8" idx="0"/>
          </p:cNvCxnSpPr>
          <p:nvPr/>
        </p:nvCxnSpPr>
        <p:spPr>
          <a:xfrm>
            <a:off x="4585855" y="2712321"/>
            <a:ext cx="0" cy="40749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9" idx="0"/>
          </p:cNvCxnSpPr>
          <p:nvPr/>
        </p:nvCxnSpPr>
        <p:spPr>
          <a:xfrm>
            <a:off x="4585855" y="3671637"/>
            <a:ext cx="0" cy="40749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B3F0FC2-37CE-4296-84BB-57EE56C859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526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457" y="108349"/>
            <a:ext cx="7652233" cy="519113"/>
          </a:xfrm>
        </p:spPr>
        <p:txBody>
          <a:bodyPr/>
          <a:lstStyle/>
          <a:p>
            <a:r>
              <a:rPr lang="en-US" dirty="0"/>
              <a:t>Exercise L02-5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456" y="844153"/>
            <a:ext cx="7663343" cy="3671888"/>
          </a:xfrm>
        </p:spPr>
        <p:txBody>
          <a:bodyPr/>
          <a:lstStyle/>
          <a:p>
            <a:r>
              <a:rPr lang="en-US" sz="2400" b="1" dirty="0">
                <a:solidFill>
                  <a:schemeClr val="accent6"/>
                </a:solidFill>
              </a:rPr>
              <a:t>Ex 6:</a:t>
            </a:r>
            <a:r>
              <a:rPr lang="en-US" sz="2400" dirty="0"/>
              <a:t> Implement AB+CD using NAND gates only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83F3ED-B4B1-4071-B0D7-B329457B67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327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123" y="108349"/>
            <a:ext cx="7702567" cy="519113"/>
          </a:xfrm>
        </p:spPr>
        <p:txBody>
          <a:bodyPr/>
          <a:lstStyle/>
          <a:p>
            <a:r>
              <a:rPr lang="en-US" sz="3200" dirty="0"/>
              <a:t>Propagation Delay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4153"/>
            <a:ext cx="8229600" cy="2011431"/>
          </a:xfrm>
        </p:spPr>
        <p:txBody>
          <a:bodyPr/>
          <a:lstStyle/>
          <a:p>
            <a:r>
              <a:rPr lang="en-US" sz="2400" dirty="0"/>
              <a:t>The delay when the signal arrives at the input of a circuit, and when the output of the circuit changes, is called the propagation delay.</a:t>
            </a:r>
          </a:p>
          <a:p>
            <a:r>
              <a:rPr lang="en-US" sz="2400" dirty="0"/>
              <a:t>A circuit is considered to be fast, if its propagation delay is small (ideally as close to 0 as possible).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935" y="3127058"/>
            <a:ext cx="1040130" cy="6229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43325" y="3143250"/>
            <a:ext cx="3000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i="1" dirty="0"/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3800" y="3414724"/>
            <a:ext cx="3000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i="1" dirty="0"/>
              <a:t>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9281" y="3272037"/>
            <a:ext cx="29046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i="1" dirty="0"/>
              <a:t>Z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4267200" y="3691723"/>
            <a:ext cx="528638" cy="285750"/>
            <a:chOff x="4165600" y="4922297"/>
            <a:chExt cx="704850" cy="3810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4165600" y="4922297"/>
              <a:ext cx="0" cy="381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870450" y="4922297"/>
              <a:ext cx="0" cy="381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4165600" y="5112797"/>
              <a:ext cx="7048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1913900" y="4072273"/>
            <a:ext cx="4838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Delay between input (</a:t>
            </a:r>
            <a:r>
              <a:rPr lang="en-US" sz="1600" i="1" dirty="0"/>
              <a:t>X</a:t>
            </a:r>
            <a:r>
              <a:rPr lang="en-US" sz="1600" dirty="0"/>
              <a:t>, </a:t>
            </a:r>
            <a:r>
              <a:rPr lang="en-US" sz="1600" i="1" dirty="0"/>
              <a:t>Y</a:t>
            </a:r>
            <a:r>
              <a:rPr lang="en-US" sz="1600" dirty="0"/>
              <a:t>) and change in output </a:t>
            </a:r>
            <a:r>
              <a:rPr lang="en-US" sz="1600" i="1" dirty="0"/>
              <a:t>Z</a:t>
            </a:r>
            <a:r>
              <a:rPr lang="en-US" sz="1600" dirty="0"/>
              <a:t>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41CE35-C822-4419-A025-A12273A5B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44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91" y="108349"/>
            <a:ext cx="7601899" cy="519113"/>
          </a:xfrm>
        </p:spPr>
        <p:txBody>
          <a:bodyPr/>
          <a:lstStyle/>
          <a:p>
            <a:r>
              <a:rPr lang="en-US" sz="3200" dirty="0"/>
              <a:t>Timing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4901" y="844153"/>
            <a:ext cx="6926586" cy="1814622"/>
          </a:xfrm>
        </p:spPr>
        <p:txBody>
          <a:bodyPr>
            <a:normAutofit/>
          </a:bodyPr>
          <a:lstStyle/>
          <a:p>
            <a:r>
              <a:rPr lang="en-US" sz="2000" dirty="0"/>
              <a:t>The inputs to a circuit can be changed over time.</a:t>
            </a:r>
          </a:p>
          <a:p>
            <a:r>
              <a:rPr lang="en-US" sz="2000" dirty="0"/>
              <a:t>The timing diagram shows the values of the input signals to a circuit with the passage of time, in the form of a waveform.</a:t>
            </a:r>
          </a:p>
          <a:p>
            <a:r>
              <a:rPr lang="en-US" sz="2000" dirty="0"/>
              <a:t>It also shows a waveform for the output.</a:t>
            </a:r>
          </a:p>
        </p:txBody>
      </p:sp>
      <p:grpSp>
        <p:nvGrpSpPr>
          <p:cNvPr id="83" name="Group 82"/>
          <p:cNvGrpSpPr/>
          <p:nvPr/>
        </p:nvGrpSpPr>
        <p:grpSpPr>
          <a:xfrm>
            <a:off x="1698522" y="2482606"/>
            <a:ext cx="5746956" cy="1961236"/>
            <a:chOff x="771495" y="3713019"/>
            <a:chExt cx="7662609" cy="2614980"/>
          </a:xfrm>
        </p:grpSpPr>
        <p:grpSp>
          <p:nvGrpSpPr>
            <p:cNvPr id="80" name="Group 79"/>
            <p:cNvGrpSpPr/>
            <p:nvPr/>
          </p:nvGrpSpPr>
          <p:grpSpPr>
            <a:xfrm>
              <a:off x="771495" y="3713019"/>
              <a:ext cx="7662609" cy="2614980"/>
              <a:chOff x="517817" y="3796144"/>
              <a:chExt cx="7662609" cy="2614980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1777423" y="3796144"/>
                <a:ext cx="5589155" cy="2392218"/>
                <a:chOff x="1282700" y="3602182"/>
                <a:chExt cx="5589155" cy="2392218"/>
              </a:xfrm>
            </p:grpSpPr>
            <p:cxnSp>
              <p:nvCxnSpPr>
                <p:cNvPr id="9" name="Straight Arrow Connector 8"/>
                <p:cNvCxnSpPr/>
                <p:nvPr/>
              </p:nvCxnSpPr>
              <p:spPr>
                <a:xfrm flipV="1">
                  <a:off x="1282700" y="3602182"/>
                  <a:ext cx="0" cy="239221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/>
                <p:cNvCxnSpPr/>
                <p:nvPr/>
              </p:nvCxnSpPr>
              <p:spPr>
                <a:xfrm>
                  <a:off x="1282700" y="5994400"/>
                  <a:ext cx="5589155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8" name="Group 27"/>
                <p:cNvGrpSpPr/>
                <p:nvPr/>
              </p:nvGrpSpPr>
              <p:grpSpPr>
                <a:xfrm>
                  <a:off x="1282700" y="3999563"/>
                  <a:ext cx="4681309" cy="360000"/>
                  <a:chOff x="1282700" y="3999563"/>
                  <a:chExt cx="4681309" cy="360000"/>
                </a:xfrm>
              </p:grpSpPr>
              <p:cxnSp>
                <p:nvCxnSpPr>
                  <p:cNvPr id="15" name="Straight Connector 14"/>
                  <p:cNvCxnSpPr/>
                  <p:nvPr/>
                </p:nvCxnSpPr>
                <p:spPr>
                  <a:xfrm>
                    <a:off x="1282700" y="4359563"/>
                    <a:ext cx="36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/>
                  <p:cNvCxnSpPr/>
                  <p:nvPr/>
                </p:nvCxnSpPr>
                <p:spPr>
                  <a:xfrm>
                    <a:off x="1642700" y="3999563"/>
                    <a:ext cx="0" cy="36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/>
                  <p:cNvCxnSpPr/>
                  <p:nvPr/>
                </p:nvCxnSpPr>
                <p:spPr>
                  <a:xfrm>
                    <a:off x="1642700" y="3999563"/>
                    <a:ext cx="108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/>
                  <p:cNvCxnSpPr/>
                  <p:nvPr/>
                </p:nvCxnSpPr>
                <p:spPr>
                  <a:xfrm>
                    <a:off x="2722700" y="3999563"/>
                    <a:ext cx="0" cy="36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/>
                  <p:cNvCxnSpPr/>
                  <p:nvPr/>
                </p:nvCxnSpPr>
                <p:spPr>
                  <a:xfrm>
                    <a:off x="2722700" y="4359563"/>
                    <a:ext cx="108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/>
                  <p:cNvCxnSpPr/>
                  <p:nvPr/>
                </p:nvCxnSpPr>
                <p:spPr>
                  <a:xfrm>
                    <a:off x="3804009" y="3999563"/>
                    <a:ext cx="0" cy="36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/>
                  <p:cNvCxnSpPr/>
                  <p:nvPr/>
                </p:nvCxnSpPr>
                <p:spPr>
                  <a:xfrm>
                    <a:off x="3804009" y="3999563"/>
                    <a:ext cx="108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/>
                  <p:cNvCxnSpPr/>
                  <p:nvPr/>
                </p:nvCxnSpPr>
                <p:spPr>
                  <a:xfrm>
                    <a:off x="4884009" y="3999563"/>
                    <a:ext cx="0" cy="36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/>
                  <p:cNvCxnSpPr/>
                  <p:nvPr/>
                </p:nvCxnSpPr>
                <p:spPr>
                  <a:xfrm>
                    <a:off x="4884009" y="4359563"/>
                    <a:ext cx="108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1282700" y="4648525"/>
                  <a:ext cx="4680000" cy="360218"/>
                  <a:chOff x="1282700" y="4765963"/>
                  <a:chExt cx="4680000" cy="360218"/>
                </a:xfrm>
              </p:grpSpPr>
              <p:cxnSp>
                <p:nvCxnSpPr>
                  <p:cNvPr id="17" name="Straight Connector 16"/>
                  <p:cNvCxnSpPr/>
                  <p:nvPr/>
                </p:nvCxnSpPr>
                <p:spPr>
                  <a:xfrm>
                    <a:off x="1282700" y="4765963"/>
                    <a:ext cx="324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4522700" y="4766181"/>
                    <a:ext cx="0" cy="36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4522700" y="5126181"/>
                    <a:ext cx="144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" name="Group 40"/>
                <p:cNvGrpSpPr/>
                <p:nvPr/>
              </p:nvGrpSpPr>
              <p:grpSpPr>
                <a:xfrm>
                  <a:off x="1282700" y="5297706"/>
                  <a:ext cx="4680673" cy="373420"/>
                  <a:chOff x="1282700" y="5297706"/>
                  <a:chExt cx="4680673" cy="373420"/>
                </a:xfrm>
              </p:grpSpPr>
              <p:cxnSp>
                <p:nvCxnSpPr>
                  <p:cNvPr id="18" name="Straight Connector 17"/>
                  <p:cNvCxnSpPr/>
                  <p:nvPr/>
                </p:nvCxnSpPr>
                <p:spPr>
                  <a:xfrm>
                    <a:off x="1282700" y="5671126"/>
                    <a:ext cx="54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/>
                  <p:cNvCxnSpPr/>
                  <p:nvPr/>
                </p:nvCxnSpPr>
                <p:spPr>
                  <a:xfrm>
                    <a:off x="1822700" y="5311126"/>
                    <a:ext cx="0" cy="36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/>
                  <p:cNvCxnSpPr/>
                  <p:nvPr/>
                </p:nvCxnSpPr>
                <p:spPr>
                  <a:xfrm>
                    <a:off x="1822700" y="5311126"/>
                    <a:ext cx="108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/>
                  <p:cNvCxnSpPr/>
                  <p:nvPr/>
                </p:nvCxnSpPr>
                <p:spPr>
                  <a:xfrm>
                    <a:off x="2902700" y="5311126"/>
                    <a:ext cx="0" cy="36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/>
                  <p:cNvCxnSpPr/>
                  <p:nvPr/>
                </p:nvCxnSpPr>
                <p:spPr>
                  <a:xfrm>
                    <a:off x="2902700" y="5662107"/>
                    <a:ext cx="108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3982700" y="5302107"/>
                    <a:ext cx="0" cy="36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3976273" y="5297706"/>
                    <a:ext cx="72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>
                    <a:off x="4703373" y="5311126"/>
                    <a:ext cx="0" cy="36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4703373" y="5671126"/>
                    <a:ext cx="126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5" name="TextBox 44"/>
              <p:cNvSpPr txBox="1"/>
              <p:nvPr/>
            </p:nvSpPr>
            <p:spPr>
              <a:xfrm>
                <a:off x="1368173" y="4188859"/>
                <a:ext cx="400111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350" i="1" dirty="0"/>
                  <a:t>X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1358937" y="4838038"/>
                <a:ext cx="400111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350" i="1" dirty="0"/>
                  <a:t>Y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1383822" y="5495756"/>
                <a:ext cx="387285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350" i="1" dirty="0"/>
                  <a:t>Z</a:t>
                </a:r>
              </a:p>
            </p:txBody>
          </p:sp>
          <p:cxnSp>
            <p:nvCxnSpPr>
              <p:cNvPr id="49" name="Straight Connector 48"/>
              <p:cNvCxnSpPr/>
              <p:nvPr/>
            </p:nvCxnSpPr>
            <p:spPr>
              <a:xfrm>
                <a:off x="2137423" y="4553525"/>
                <a:ext cx="0" cy="93814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/>
              <p:nvPr/>
            </p:nvCxnSpPr>
            <p:spPr>
              <a:xfrm>
                <a:off x="2137423" y="5159302"/>
                <a:ext cx="180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2317423" y="4553525"/>
                <a:ext cx="0" cy="93814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217096" y="4553525"/>
                <a:ext cx="0" cy="93814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/>
              <p:nvPr/>
            </p:nvCxnSpPr>
            <p:spPr>
              <a:xfrm>
                <a:off x="3217096" y="5159302"/>
                <a:ext cx="180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3397096" y="4553525"/>
                <a:ext cx="0" cy="93814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4290996" y="4553525"/>
                <a:ext cx="0" cy="93814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>
              <a:xfrm>
                <a:off x="4290996" y="5159302"/>
                <a:ext cx="180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4470996" y="4553525"/>
                <a:ext cx="0" cy="93814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5018692" y="5202705"/>
                <a:ext cx="0" cy="28896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/>
              <p:nvPr/>
            </p:nvCxnSpPr>
            <p:spPr>
              <a:xfrm>
                <a:off x="5018692" y="5337102"/>
                <a:ext cx="180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5198692" y="5202705"/>
                <a:ext cx="0" cy="288963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/>
              <p:cNvSpPr txBox="1"/>
              <p:nvPr/>
            </p:nvSpPr>
            <p:spPr>
              <a:xfrm>
                <a:off x="563997" y="4498109"/>
                <a:ext cx="874599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Inputs</a:t>
                </a: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517817" y="5495756"/>
                <a:ext cx="938719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Output</a:t>
                </a: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7429793" y="6011015"/>
                <a:ext cx="750633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Time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5261138" y="5261834"/>
                <a:ext cx="2304478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Propagation delay =</a:t>
                </a:r>
              </a:p>
            </p:txBody>
          </p:sp>
        </p:grpSp>
        <p:sp>
          <p:nvSpPr>
            <p:cNvPr id="81" name="TextBox 80"/>
            <p:cNvSpPr txBox="1"/>
            <p:nvPr/>
          </p:nvSpPr>
          <p:spPr>
            <a:xfrm>
              <a:off x="7637771" y="5144325"/>
              <a:ext cx="33812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13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τ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40CA48-8513-4EC8-B40B-DB0B115833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108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sz="3200" dirty="0"/>
              <a:t>Fan-in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346" y="844153"/>
            <a:ext cx="7046753" cy="3671888"/>
          </a:xfrm>
        </p:spPr>
        <p:txBody>
          <a:bodyPr/>
          <a:lstStyle/>
          <a:p>
            <a:r>
              <a:rPr lang="en-US" sz="2400" dirty="0"/>
              <a:t>Fan-in of a gate is the number of inputs to the gate.</a:t>
            </a:r>
          </a:p>
          <a:p>
            <a:r>
              <a:rPr lang="en-US" sz="2400" dirty="0"/>
              <a:t>For a 3-input OR gate, the fan-in = 3.</a:t>
            </a:r>
          </a:p>
          <a:p>
            <a:r>
              <a:rPr lang="en-US" sz="2400" dirty="0"/>
              <a:t>There is a limitation on the fan-in for any gate.</a:t>
            </a:r>
          </a:p>
          <a:p>
            <a:r>
              <a:rPr lang="en-US" sz="2400" dirty="0"/>
              <a:t>In CMOS IC technology, higher fan-in implies slower gates (higher propagation delays).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D5919B-B902-421D-BA53-B47A2D58F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7848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734" y="108349"/>
            <a:ext cx="7710956" cy="519113"/>
          </a:xfrm>
        </p:spPr>
        <p:txBody>
          <a:bodyPr/>
          <a:lstStyle/>
          <a:p>
            <a:r>
              <a:rPr lang="en-US" sz="3200" dirty="0"/>
              <a:t>Fan-out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Fan-out is the number of gates that can be driven by a driver gate.</a:t>
            </a:r>
          </a:p>
          <a:p>
            <a:r>
              <a:rPr lang="en-US" sz="2400" dirty="0"/>
              <a:t>The driven gate is called the load gate.</a:t>
            </a:r>
          </a:p>
          <a:p>
            <a:r>
              <a:rPr lang="en-US" sz="2400" dirty="0"/>
              <a:t>There is a limit to the number of load gates that can be driven by a driver gate.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2965534" y="2680097"/>
            <a:ext cx="3079433" cy="1712684"/>
            <a:chOff x="2396490" y="3921025"/>
            <a:chExt cx="4105910" cy="228357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96490" y="4777005"/>
              <a:ext cx="1386840" cy="83058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15560" y="3921025"/>
              <a:ext cx="1386840" cy="83058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15560" y="4642335"/>
              <a:ext cx="1386840" cy="83058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15560" y="5374023"/>
              <a:ext cx="1386840" cy="830580"/>
            </a:xfrm>
            <a:prstGeom prst="rect">
              <a:avLst/>
            </a:prstGeom>
          </p:spPr>
        </p:pic>
        <p:cxnSp>
          <p:nvCxnSpPr>
            <p:cNvPr id="11" name="Straight Connector 10"/>
            <p:cNvCxnSpPr/>
            <p:nvPr/>
          </p:nvCxnSpPr>
          <p:spPr>
            <a:xfrm>
              <a:off x="3397250" y="5181600"/>
              <a:ext cx="200025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Elbow Connector 12"/>
            <p:cNvCxnSpPr/>
            <p:nvPr/>
          </p:nvCxnSpPr>
          <p:spPr>
            <a:xfrm flipV="1">
              <a:off x="3389630" y="4464052"/>
              <a:ext cx="2000250" cy="717548"/>
            </a:xfrm>
            <a:prstGeom prst="bentConnector3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bow Connector 15"/>
            <p:cNvCxnSpPr/>
            <p:nvPr/>
          </p:nvCxnSpPr>
          <p:spPr>
            <a:xfrm rot="10800000">
              <a:off x="3397250" y="5181601"/>
              <a:ext cx="1992630" cy="737523"/>
            </a:xfrm>
            <a:prstGeom prst="bentConnector3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3923316" y="4296407"/>
            <a:ext cx="10743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Fan-out = 3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91232B-F12D-4949-BAEC-714B553162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882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/>
          <a:lstStyle/>
          <a:p>
            <a:r>
              <a:rPr lang="en-US" dirty="0"/>
              <a:t>Buffers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4153"/>
            <a:ext cx="8229600" cy="1840973"/>
          </a:xfrm>
        </p:spPr>
        <p:txBody>
          <a:bodyPr>
            <a:normAutofit/>
          </a:bodyPr>
          <a:lstStyle/>
          <a:p>
            <a:r>
              <a:rPr lang="en-US" sz="2000" dirty="0"/>
              <a:t>Buffers have a single input and a single output, where output = input.</a:t>
            </a:r>
          </a:p>
          <a:p>
            <a:r>
              <a:rPr lang="en-US" sz="2000" dirty="0"/>
              <a:t>Buffers help increase the driving capability of a circuit by increasing the fan-out.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Drive strength</a:t>
            </a:r>
            <a:r>
              <a:rPr lang="en-US" sz="2000" dirty="0"/>
              <a:t>: how much load a gate can drive.</a:t>
            </a:r>
          </a:p>
          <a:p>
            <a:r>
              <a:rPr lang="en-US" sz="2000" dirty="0"/>
              <a:t>Greater drive strength, load gates are (dis)charged more quickly.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278690" y="2803357"/>
            <a:ext cx="3730943" cy="1712684"/>
            <a:chOff x="1527810" y="3921025"/>
            <a:chExt cx="4974590" cy="2283578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63165" y="4893683"/>
              <a:ext cx="1280160" cy="556260"/>
            </a:xfrm>
            <a:prstGeom prst="rect">
              <a:avLst/>
            </a:prstGeom>
          </p:spPr>
        </p:pic>
        <p:grpSp>
          <p:nvGrpSpPr>
            <p:cNvPr id="6" name="Group 5"/>
            <p:cNvGrpSpPr/>
            <p:nvPr/>
          </p:nvGrpSpPr>
          <p:grpSpPr>
            <a:xfrm>
              <a:off x="1527810" y="3921025"/>
              <a:ext cx="4974590" cy="2283578"/>
              <a:chOff x="1527810" y="3921025"/>
              <a:chExt cx="4974590" cy="2283578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7810" y="4777005"/>
                <a:ext cx="1386840" cy="830580"/>
              </a:xfrm>
              <a:prstGeom prst="rect">
                <a:avLst/>
              </a:prstGeom>
            </p:spPr>
          </p:pic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5560" y="3921025"/>
                <a:ext cx="1386840" cy="830580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5560" y="4642335"/>
                <a:ext cx="1386840" cy="830580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5560" y="5374023"/>
                <a:ext cx="1386840" cy="830580"/>
              </a:xfrm>
              <a:prstGeom prst="rect">
                <a:avLst/>
              </a:prstGeom>
            </p:spPr>
          </p:pic>
          <p:cxnSp>
            <p:nvCxnSpPr>
              <p:cNvPr id="11" name="Straight Connector 10"/>
              <p:cNvCxnSpPr/>
              <p:nvPr/>
            </p:nvCxnSpPr>
            <p:spPr>
              <a:xfrm>
                <a:off x="3397250" y="5181600"/>
                <a:ext cx="200025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Elbow Connector 11"/>
              <p:cNvCxnSpPr/>
              <p:nvPr/>
            </p:nvCxnSpPr>
            <p:spPr>
              <a:xfrm flipV="1">
                <a:off x="3389630" y="4464052"/>
                <a:ext cx="2000250" cy="717548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Elbow Connector 12"/>
              <p:cNvCxnSpPr/>
              <p:nvPr/>
            </p:nvCxnSpPr>
            <p:spPr>
              <a:xfrm rot="10800000">
                <a:off x="3397250" y="5181601"/>
                <a:ext cx="1992630" cy="737523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51E0D2-BF0C-4D1A-8600-AA17D3F39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004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178" y="108349"/>
            <a:ext cx="7744512" cy="519113"/>
          </a:xfrm>
        </p:spPr>
        <p:txBody>
          <a:bodyPr/>
          <a:lstStyle/>
          <a:p>
            <a:r>
              <a:rPr lang="en-US" sz="3200" dirty="0"/>
              <a:t>Decoders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6678" y="844153"/>
            <a:ext cx="7680121" cy="3671888"/>
          </a:xfrm>
        </p:spPr>
        <p:txBody>
          <a:bodyPr/>
          <a:lstStyle/>
          <a:p>
            <a:r>
              <a:rPr lang="en-US" sz="2400" dirty="0"/>
              <a:t>Information is represented by binary codes.</a:t>
            </a:r>
          </a:p>
          <a:p>
            <a:r>
              <a:rPr lang="en-US" sz="2400" dirty="0"/>
              <a:t>Circuits that perform decoding are called </a:t>
            </a:r>
            <a:r>
              <a:rPr lang="en-US" sz="2400" b="1" dirty="0">
                <a:solidFill>
                  <a:schemeClr val="accent1"/>
                </a:solidFill>
              </a:rPr>
              <a:t>decoders</a:t>
            </a:r>
            <a:r>
              <a:rPr lang="en-US" sz="2400" dirty="0"/>
              <a:t>.</a:t>
            </a:r>
          </a:p>
          <a:p>
            <a:r>
              <a:rPr lang="en-US" sz="2400" dirty="0"/>
              <a:t>A decoder is a </a:t>
            </a:r>
            <a:r>
              <a:rPr lang="en-US" sz="2400" b="1" dirty="0" err="1">
                <a:solidFill>
                  <a:schemeClr val="accent1"/>
                </a:solidFill>
              </a:rPr>
              <a:t>minterm</a:t>
            </a:r>
            <a:r>
              <a:rPr lang="en-US" sz="2400" b="1" dirty="0">
                <a:solidFill>
                  <a:schemeClr val="accent1"/>
                </a:solidFill>
              </a:rPr>
              <a:t> generator</a:t>
            </a:r>
            <a:r>
              <a:rPr lang="en-US" sz="2400" dirty="0"/>
              <a:t>.</a:t>
            </a:r>
          </a:p>
          <a:p>
            <a:pPr>
              <a:buClr>
                <a:schemeClr val="tx1"/>
              </a:buClr>
            </a:pPr>
            <a:r>
              <a:rPr lang="en-US" sz="2400" b="1" dirty="0" err="1">
                <a:solidFill>
                  <a:schemeClr val="accent1"/>
                </a:solidFill>
              </a:rPr>
              <a:t>Minterm</a:t>
            </a:r>
            <a:r>
              <a:rPr lang="en-US" sz="2400" dirty="0"/>
              <a:t>: product that includes all input variables</a:t>
            </a:r>
          </a:p>
          <a:p>
            <a:pPr lvl="1">
              <a:buClr>
                <a:schemeClr val="tx1"/>
              </a:buClr>
            </a:pPr>
            <a:r>
              <a:rPr lang="en-US" sz="2000" i="1" dirty="0"/>
              <a:t>ABC</a:t>
            </a:r>
            <a:r>
              <a:rPr lang="en-US" sz="2000" dirty="0"/>
              <a:t>, </a:t>
            </a:r>
            <a:r>
              <a:rPr lang="en-US" sz="2000" i="1" dirty="0"/>
              <a:t>ABC</a:t>
            </a:r>
            <a:r>
              <a:rPr lang="en-US" sz="2000" dirty="0"/>
              <a:t>, </a:t>
            </a:r>
            <a:r>
              <a:rPr lang="en-US" sz="2000" i="1" dirty="0"/>
              <a:t>ABC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1785807" y="2571750"/>
            <a:ext cx="22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11298" y="2571750"/>
            <a:ext cx="22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3703" y="2571750"/>
            <a:ext cx="22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4D8775-DAA9-4AF6-8850-43675605C9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9931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901" y="108349"/>
            <a:ext cx="7685789" cy="519113"/>
          </a:xfrm>
        </p:spPr>
        <p:txBody>
          <a:bodyPr/>
          <a:lstStyle/>
          <a:p>
            <a:r>
              <a:rPr lang="en-US" dirty="0"/>
              <a:t>Decoders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1010" y="844153"/>
            <a:ext cx="7685789" cy="942702"/>
          </a:xfrm>
        </p:spPr>
        <p:txBody>
          <a:bodyPr>
            <a:normAutofit/>
          </a:bodyPr>
          <a:lstStyle/>
          <a:p>
            <a:r>
              <a:rPr lang="en-US" sz="2400" i="1" dirty="0"/>
              <a:t>N</a:t>
            </a:r>
            <a:r>
              <a:rPr lang="en-US" sz="2400" dirty="0"/>
              <a:t> inputs, 2</a:t>
            </a:r>
            <a:r>
              <a:rPr lang="en-US" sz="2400" i="1" baseline="30000" dirty="0"/>
              <a:t>N</a:t>
            </a:r>
            <a:r>
              <a:rPr lang="en-US" sz="2400" dirty="0"/>
              <a:t> outputs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One-hot outputs</a:t>
            </a:r>
            <a:r>
              <a:rPr lang="en-US" sz="2400" dirty="0"/>
              <a:t>: only one output HIGH at once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/>
          </p:nvPr>
        </p:nvGraphicFramePr>
        <p:xfrm>
          <a:off x="2040950" y="2330457"/>
          <a:ext cx="1525190" cy="1650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Artwork" r:id="rId3" imgW="1390844" imgH="1504762" progId="Adobe.Illustrator.7">
                  <p:embed/>
                </p:oleObj>
              </mc:Choice>
              <mc:Fallback>
                <p:oleObj name="Artwork" r:id="rId3" imgW="1390844" imgH="1504762" progId="Adobe.Illustrator.7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0950" y="2330457"/>
                        <a:ext cx="1525190" cy="16502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/>
          </p:nvPr>
        </p:nvGraphicFramePr>
        <p:xfrm>
          <a:off x="4085034" y="2330456"/>
          <a:ext cx="3444479" cy="1601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Artwork" r:id="rId5" imgW="3010320" imgH="1400000" progId="Adobe.Illustrator.7">
                  <p:embed/>
                </p:oleObj>
              </mc:Choice>
              <mc:Fallback>
                <p:oleObj name="Artwork" r:id="rId5" imgW="3010320" imgH="1400000" progId="Adobe.Illustrator.7">
                  <p:embed/>
                  <p:pic>
                    <p:nvPicPr>
                      <p:cNvPr id="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5034" y="2330456"/>
                        <a:ext cx="3444479" cy="16013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1841494" y="4068262"/>
            <a:ext cx="187743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/>
              <a:t>Binary 2-to-4 Decoder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8794" y="4068262"/>
            <a:ext cx="236795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/>
              <a:t>Note: “x” denotes don’t care.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AAED34-32A6-44EC-88BB-53B7A11A15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373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567" y="108349"/>
            <a:ext cx="7736123" cy="519113"/>
          </a:xfrm>
        </p:spPr>
        <p:txBody>
          <a:bodyPr/>
          <a:lstStyle/>
          <a:p>
            <a:r>
              <a:rPr lang="en-US" sz="3200" dirty="0"/>
              <a:t>Decoders (3)</a:t>
            </a: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046358"/>
              </p:ext>
            </p:extLst>
          </p:nvPr>
        </p:nvGraphicFramePr>
        <p:xfrm>
          <a:off x="2076646" y="1164323"/>
          <a:ext cx="4443413" cy="3332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Artwork" r:id="rId3" imgW="3772427" imgH="2828571" progId="Adobe.Illustrator.7">
                  <p:embed/>
                </p:oleObj>
              </mc:Choice>
              <mc:Fallback>
                <p:oleObj name="Artwork" r:id="rId3" imgW="3772427" imgH="2828571" progId="Adobe.Illustrator.7">
                  <p:embed/>
                  <p:pic>
                    <p:nvPicPr>
                      <p:cNvPr id="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646" y="1164323"/>
                        <a:ext cx="4443413" cy="3332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3070132" y="849203"/>
            <a:ext cx="250260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/>
              <a:t>2-to-4 Decoder </a:t>
            </a:r>
            <a:r>
              <a:rPr lang="en-US" sz="1350"/>
              <a:t>Logic Diagram</a:t>
            </a:r>
            <a:endParaRPr lang="en-US" sz="13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EB23699-8540-4EB5-86E0-A2CAF1BDE7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23125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123" y="108349"/>
            <a:ext cx="7702567" cy="519113"/>
          </a:xfrm>
        </p:spPr>
        <p:txBody>
          <a:bodyPr/>
          <a:lstStyle/>
          <a:p>
            <a:r>
              <a:rPr lang="en-US" sz="3200" dirty="0"/>
              <a:t>Decoder Applications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half" idx="1"/>
          </p:nvPr>
        </p:nvSpPr>
        <p:spPr>
          <a:xfrm>
            <a:off x="1348099" y="881785"/>
            <a:ext cx="2914650" cy="3548878"/>
          </a:xfrm>
        </p:spPr>
        <p:txBody>
          <a:bodyPr>
            <a:normAutofit/>
          </a:bodyPr>
          <a:lstStyle/>
          <a:p>
            <a:r>
              <a:rPr lang="en-US" sz="2000" dirty="0"/>
              <a:t>Decode</a:t>
            </a:r>
            <a:r>
              <a:rPr lang="en-US" sz="1800" dirty="0"/>
              <a:t> 3-bit opcodes: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half" idx="2"/>
          </p:nvPr>
        </p:nvSpPr>
        <p:spPr>
          <a:xfrm>
            <a:off x="4799420" y="914734"/>
            <a:ext cx="2914650" cy="3548878"/>
          </a:xfrm>
        </p:spPr>
        <p:txBody>
          <a:bodyPr>
            <a:normAutofit/>
          </a:bodyPr>
          <a:lstStyle/>
          <a:p>
            <a:r>
              <a:rPr lang="en-US" sz="1800" dirty="0"/>
              <a:t>Home automation: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1513167" y="1700996"/>
            <a:ext cx="2735390" cy="2314575"/>
            <a:chOff x="983823" y="2171065"/>
            <a:chExt cx="3647186" cy="3086100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6860" y="2171065"/>
              <a:ext cx="2049780" cy="3086100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983823" y="3201640"/>
              <a:ext cx="63094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op0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83823" y="3739516"/>
              <a:ext cx="63094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op1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3823" y="4277329"/>
              <a:ext cx="63094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op2</a:t>
              </a:r>
            </a:p>
          </p:txBody>
        </p:sp>
        <p:cxnSp>
          <p:nvCxnSpPr>
            <p:cNvPr id="27" name="Straight Connector 26"/>
            <p:cNvCxnSpPr/>
            <p:nvPr/>
          </p:nvCxnSpPr>
          <p:spPr>
            <a:xfrm flipH="1">
              <a:off x="3400426" y="2917922"/>
              <a:ext cx="198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/>
            <p:cNvGrpSpPr/>
            <p:nvPr/>
          </p:nvGrpSpPr>
          <p:grpSpPr>
            <a:xfrm>
              <a:off x="3593887" y="2700712"/>
              <a:ext cx="1037122" cy="2418984"/>
              <a:chOff x="3609127" y="2723572"/>
              <a:chExt cx="1037122" cy="2418984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3609127" y="2723572"/>
                <a:ext cx="7335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ADD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3609127" y="3011983"/>
                <a:ext cx="720710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/>
                  <a:t>SUB</a:t>
                </a:r>
                <a:endParaRPr lang="en-US" sz="1350" dirty="0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3609127" y="3300395"/>
                <a:ext cx="7335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AND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3609127" y="3588805"/>
                <a:ext cx="746358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XOR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3609127" y="3877216"/>
                <a:ext cx="7335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NOT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609127" y="4165628"/>
                <a:ext cx="874598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LOAD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609127" y="4454038"/>
                <a:ext cx="1037122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STORE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3609127" y="4742447"/>
                <a:ext cx="874598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/>
                  <a:t>JUMP</a:t>
                </a:r>
                <a:endParaRPr lang="en-US" sz="1350" dirty="0"/>
              </a:p>
            </p:txBody>
          </p:sp>
        </p:grpSp>
      </p:grpSp>
      <p:grpSp>
        <p:nvGrpSpPr>
          <p:cNvPr id="44" name="Group 43"/>
          <p:cNvGrpSpPr/>
          <p:nvPr/>
        </p:nvGrpSpPr>
        <p:grpSpPr>
          <a:xfrm>
            <a:off x="4844735" y="1960752"/>
            <a:ext cx="2374602" cy="1651635"/>
            <a:chOff x="5162123" y="2444481"/>
            <a:chExt cx="3166135" cy="220218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24500" y="2444481"/>
              <a:ext cx="2095500" cy="220218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5162123" y="3074640"/>
              <a:ext cx="49842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i="1" dirty="0"/>
                <a:t>C</a:t>
              </a:r>
              <a:r>
                <a:rPr lang="en-US" sz="1350" baseline="-25000" dirty="0"/>
                <a:t>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62123" y="3392140"/>
              <a:ext cx="49842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i="1"/>
                <a:t>C</a:t>
              </a:r>
              <a:r>
                <a:rPr lang="en-US" sz="1350" baseline="-25000"/>
                <a:t>1</a:t>
              </a:r>
              <a:endParaRPr lang="en-US" sz="1350" baseline="-250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581900" y="3097033"/>
              <a:ext cx="74635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Light</a:t>
              </a:r>
              <a:endParaRPr lang="en-US" sz="1350" baseline="-250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581900" y="3433164"/>
              <a:ext cx="63094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A/C</a:t>
              </a:r>
              <a:endParaRPr lang="en-US" sz="1350" baseline="-250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581900" y="3769293"/>
              <a:ext cx="74635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Door</a:t>
              </a:r>
              <a:endParaRPr lang="en-US" sz="1350" baseline="-250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581900" y="4105424"/>
              <a:ext cx="54117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TV</a:t>
              </a:r>
              <a:endParaRPr lang="en-US" sz="1350" baseline="-25000" dirty="0"/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5453696-73B6-4794-800D-8DC884CF04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10906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345" y="108349"/>
            <a:ext cx="7719345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Decoders as Binary Adder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579" y="1357278"/>
            <a:ext cx="2256235" cy="2702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21"/>
          <a:stretch/>
        </p:blipFill>
        <p:spPr bwMode="auto">
          <a:xfrm>
            <a:off x="1501744" y="876437"/>
            <a:ext cx="2970844" cy="1514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 descr="http://www.expertsmind.com/CMSImages/536_Draw%20the%20logic%20circuit%20of%20a%203%20line%20to%208%20line%20decod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744" y="2470594"/>
            <a:ext cx="3016615" cy="205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B251D49-8ECF-4DB1-AC0A-81125E9CAE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702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123" y="108349"/>
            <a:ext cx="7702567" cy="519113"/>
          </a:xfrm>
        </p:spPr>
        <p:txBody>
          <a:bodyPr/>
          <a:lstStyle/>
          <a:p>
            <a:r>
              <a:rPr lang="en-US" sz="3200" dirty="0"/>
              <a:t>Multiplexers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624" y="844153"/>
            <a:ext cx="7088697" cy="1449613"/>
          </a:xfrm>
        </p:spPr>
        <p:txBody>
          <a:bodyPr/>
          <a:lstStyle/>
          <a:p>
            <a:r>
              <a:rPr lang="en-US" sz="2200" dirty="0"/>
              <a:t>Directs one of 2</a:t>
            </a:r>
            <a:r>
              <a:rPr lang="en-US" sz="2200" i="1" baseline="30000" dirty="0"/>
              <a:t>n</a:t>
            </a:r>
            <a:r>
              <a:rPr lang="en-US" sz="2200" dirty="0"/>
              <a:t> input to the output, basically a data selector.</a:t>
            </a:r>
          </a:p>
          <a:p>
            <a:r>
              <a:rPr lang="en-US" sz="2200" dirty="0"/>
              <a:t>Input to output direction is done based on a set of </a:t>
            </a:r>
            <a:r>
              <a:rPr lang="en-US" sz="2200" i="1" dirty="0"/>
              <a:t>n</a:t>
            </a:r>
            <a:r>
              <a:rPr lang="en-US" sz="2200" dirty="0"/>
              <a:t> select bits.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2191109" y="2571750"/>
            <a:ext cx="4761782" cy="1972448"/>
            <a:chOff x="845508" y="3543300"/>
            <a:chExt cx="6349042" cy="2629931"/>
          </a:xfrm>
        </p:grpSpPr>
        <p:sp>
          <p:nvSpPr>
            <p:cNvPr id="6" name="Trapezoid 5"/>
            <p:cNvSpPr/>
            <p:nvPr/>
          </p:nvSpPr>
          <p:spPr>
            <a:xfrm rot="5400000">
              <a:off x="3727450" y="3924300"/>
              <a:ext cx="1689100" cy="927100"/>
            </a:xfrm>
            <a:prstGeom prst="trapezoid">
              <a:avLst>
                <a:gd name="adj" fmla="val 38699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1949450" y="3886200"/>
              <a:ext cx="2159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1943100" y="4184650"/>
              <a:ext cx="2159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1943100" y="4845050"/>
              <a:ext cx="2159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 rot="5400000">
              <a:off x="2790422" y="4314796"/>
              <a:ext cx="477053" cy="40010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…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5035550" y="4368800"/>
              <a:ext cx="2159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V="1">
              <a:off x="4292600" y="5232400"/>
              <a:ext cx="0" cy="46355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V="1">
              <a:off x="4474633" y="5232400"/>
              <a:ext cx="0" cy="46355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4656666" y="5232400"/>
              <a:ext cx="0" cy="46355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4838700" y="5232400"/>
              <a:ext cx="0" cy="46355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112098" y="4063500"/>
              <a:ext cx="934445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50" dirty="0"/>
                <a:t>2</a:t>
              </a:r>
              <a:r>
                <a:rPr lang="en-US" sz="1350" i="1" baseline="30000" dirty="0"/>
                <a:t>n</a:t>
              </a:r>
              <a:r>
                <a:rPr lang="en-US" sz="1350" dirty="0"/>
                <a:t>-to-1</a:t>
              </a:r>
              <a:br>
                <a:rPr lang="en-US" sz="1350" dirty="0"/>
              </a:br>
              <a:r>
                <a:rPr lang="en-US" sz="1350" dirty="0"/>
                <a:t>MUX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45508" y="4163397"/>
              <a:ext cx="113962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2</a:t>
              </a:r>
              <a:r>
                <a:rPr lang="en-US" sz="1350" i="1" baseline="30000" dirty="0"/>
                <a:t>n</a:t>
              </a:r>
              <a:r>
                <a:rPr lang="en-US" sz="1350" dirty="0"/>
                <a:t> inputs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856683" y="3946665"/>
              <a:ext cx="107978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1 output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70526" y="5773122"/>
              <a:ext cx="146450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i="1" dirty="0"/>
                <a:t>n</a:t>
              </a:r>
              <a:r>
                <a:rPr lang="en-US" sz="1350" dirty="0"/>
                <a:t> select bits</a:t>
              </a: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B28A46-7057-4E3B-A6E8-16664BD2C9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9822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068" y="108349"/>
            <a:ext cx="7660622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Sequential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066" y="844153"/>
            <a:ext cx="7822734" cy="2528221"/>
          </a:xfrm>
        </p:spPr>
        <p:txBody>
          <a:bodyPr>
            <a:noAutofit/>
          </a:bodyPr>
          <a:lstStyle/>
          <a:p>
            <a:r>
              <a:rPr lang="en-US" sz="2000" dirty="0"/>
              <a:t>Give sequence to events</a:t>
            </a:r>
          </a:p>
          <a:p>
            <a:r>
              <a:rPr lang="en-US" sz="2000" dirty="0"/>
              <a:t>Have memory (short-term)</a:t>
            </a:r>
          </a:p>
          <a:p>
            <a:r>
              <a:rPr lang="en-US" sz="2000" dirty="0"/>
              <a:t>Use feedback from output to input to store information</a:t>
            </a:r>
          </a:p>
          <a:p>
            <a:r>
              <a:rPr lang="en-US" sz="2000" dirty="0"/>
              <a:t>The state of a circuit influences its future behavior</a:t>
            </a:r>
          </a:p>
          <a:p>
            <a:r>
              <a:rPr lang="en-US" sz="2000" dirty="0"/>
              <a:t>State elements store state</a:t>
            </a:r>
          </a:p>
          <a:p>
            <a:pPr lvl="1">
              <a:buClr>
                <a:schemeClr val="tx1"/>
              </a:buClr>
            </a:pPr>
            <a:r>
              <a:rPr lang="en-US" sz="1600" b="1" dirty="0">
                <a:solidFill>
                  <a:schemeClr val="accent1"/>
                </a:solidFill>
              </a:rPr>
              <a:t>Latch</a:t>
            </a:r>
          </a:p>
          <a:p>
            <a:pPr lvl="1">
              <a:buClr>
                <a:schemeClr val="tx1"/>
              </a:buClr>
            </a:pPr>
            <a:r>
              <a:rPr lang="en-US" sz="1600" b="1" dirty="0">
                <a:solidFill>
                  <a:schemeClr val="accent1"/>
                </a:solidFill>
              </a:rPr>
              <a:t>Flip-flop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628" y="2919370"/>
            <a:ext cx="6275569" cy="1652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CCFD08-AE72-49F6-B2A6-00481B2B65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75798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791" y="108349"/>
            <a:ext cx="7601899" cy="51911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Bistable</a:t>
            </a:r>
            <a:r>
              <a:rPr lang="en-US" dirty="0"/>
              <a:t> Circuit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7" y="810597"/>
            <a:ext cx="5108895" cy="3618790"/>
          </a:xfrm>
        </p:spPr>
        <p:txBody>
          <a:bodyPr>
            <a:normAutofit/>
          </a:bodyPr>
          <a:lstStyle/>
          <a:p>
            <a:r>
              <a:rPr lang="en-US" sz="1800" dirty="0"/>
              <a:t>Fundamental building block of other state elements</a:t>
            </a:r>
          </a:p>
          <a:p>
            <a:pPr lvl="1"/>
            <a:r>
              <a:rPr lang="en-US" sz="1500" dirty="0"/>
              <a:t>Two outputs: </a:t>
            </a:r>
            <a:r>
              <a:rPr lang="en-US" sz="1500" i="1" dirty="0"/>
              <a:t>Q</a:t>
            </a:r>
            <a:r>
              <a:rPr lang="en-US" sz="1500" dirty="0"/>
              <a:t>, </a:t>
            </a:r>
            <a:r>
              <a:rPr lang="en-US" sz="1500" i="1" dirty="0"/>
              <a:t>Q</a:t>
            </a:r>
          </a:p>
          <a:p>
            <a:pPr lvl="1"/>
            <a:r>
              <a:rPr lang="en-US" sz="1500" dirty="0"/>
              <a:t>No inputs</a:t>
            </a:r>
          </a:p>
          <a:p>
            <a:pPr lvl="1"/>
            <a:endParaRPr lang="en-US" sz="1500" dirty="0"/>
          </a:p>
          <a:p>
            <a:pPr lvl="1"/>
            <a:endParaRPr lang="en-US" sz="1500" dirty="0"/>
          </a:p>
          <a:p>
            <a:r>
              <a:rPr lang="en-US" sz="1800" dirty="0"/>
              <a:t>Consider the two possible cases:</a:t>
            </a:r>
          </a:p>
          <a:p>
            <a:pPr lvl="1"/>
            <a:r>
              <a:rPr lang="en-US" sz="1500" i="1" dirty="0"/>
              <a:t>Q</a:t>
            </a:r>
            <a:r>
              <a:rPr lang="en-US" sz="1500" dirty="0"/>
              <a:t> = 0: then </a:t>
            </a:r>
            <a:r>
              <a:rPr lang="en-US" sz="1500" i="1" dirty="0"/>
              <a:t>Q</a:t>
            </a:r>
            <a:r>
              <a:rPr lang="en-US" sz="1500" dirty="0"/>
              <a:t> = 1, </a:t>
            </a:r>
            <a:r>
              <a:rPr lang="en-US" sz="1500" i="1" dirty="0"/>
              <a:t>Q</a:t>
            </a:r>
            <a:r>
              <a:rPr lang="en-US" sz="1500" dirty="0"/>
              <a:t> = 0 (consistent)</a:t>
            </a:r>
          </a:p>
          <a:p>
            <a:pPr lvl="1"/>
            <a:r>
              <a:rPr lang="en-US" sz="1500" i="1" dirty="0"/>
              <a:t>Q</a:t>
            </a:r>
            <a:r>
              <a:rPr lang="en-US" sz="1500" dirty="0"/>
              <a:t> = 1: then </a:t>
            </a:r>
            <a:r>
              <a:rPr lang="en-US" sz="1500" i="1" dirty="0"/>
              <a:t>Q</a:t>
            </a:r>
            <a:r>
              <a:rPr lang="en-US" sz="1500" dirty="0"/>
              <a:t> = 0, </a:t>
            </a:r>
            <a:r>
              <a:rPr lang="en-US" sz="1500" i="1" dirty="0"/>
              <a:t>Q</a:t>
            </a:r>
            <a:r>
              <a:rPr lang="en-US" sz="1500" dirty="0"/>
              <a:t> = 1 (consistent)</a:t>
            </a:r>
            <a:endParaRPr lang="en-US" sz="1800" dirty="0"/>
          </a:p>
          <a:p>
            <a:r>
              <a:rPr lang="en-US" sz="1800" dirty="0"/>
              <a:t>Stores 1 bit of state in the state variable, </a:t>
            </a:r>
            <a:r>
              <a:rPr lang="en-US" sz="1800" i="1" dirty="0"/>
              <a:t>Q</a:t>
            </a:r>
            <a:r>
              <a:rPr lang="en-US" sz="1800" dirty="0"/>
              <a:t> (or </a:t>
            </a:r>
            <a:r>
              <a:rPr lang="en-US" sz="1800" i="1" dirty="0"/>
              <a:t>Q</a:t>
            </a:r>
            <a:r>
              <a:rPr lang="en-US" sz="1800" dirty="0"/>
              <a:t>).</a:t>
            </a:r>
          </a:p>
          <a:p>
            <a:r>
              <a:rPr lang="en-US" sz="1800" dirty="0"/>
              <a:t>But there are </a:t>
            </a:r>
            <a:r>
              <a:rPr lang="en-US" sz="1800" b="1" dirty="0">
                <a:solidFill>
                  <a:schemeClr val="accent1"/>
                </a:solidFill>
              </a:rPr>
              <a:t>no inputs to control the state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52022374"/>
              </p:ext>
            </p:extLst>
          </p:nvPr>
        </p:nvGraphicFramePr>
        <p:xfrm>
          <a:off x="4925339" y="813734"/>
          <a:ext cx="3909789" cy="1367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3" name="VISIO" r:id="rId6" imgW="2060835" imgH="720529" progId="Visio.Drawing.6">
                  <p:embed/>
                </p:oleObj>
              </mc:Choice>
              <mc:Fallback>
                <p:oleObj name="VISIO" r:id="rId6" imgW="2060835" imgH="720529" progId="Visio.Drawing.6">
                  <p:embed/>
                  <p:pic>
                    <p:nvPicPr>
                      <p:cNvPr id="7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5339" y="813734"/>
                        <a:ext cx="3909789" cy="1367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353613" y="1393631"/>
            <a:ext cx="220211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50" dirty="0"/>
              <a:t>̅</a:t>
            </a:r>
          </a:p>
        </p:txBody>
      </p:sp>
      <p:graphicFrame>
        <p:nvGraphicFramePr>
          <p:cNvPr id="9" name="Object 1"/>
          <p:cNvGraphicFramePr>
            <a:graphicFrameLocks noGrp="1"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662223796"/>
              </p:ext>
            </p:extLst>
          </p:nvPr>
        </p:nvGraphicFramePr>
        <p:xfrm>
          <a:off x="5402510" y="2506575"/>
          <a:ext cx="1786214" cy="1512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4" name="VISIO" r:id="rId8" imgW="914400" imgH="775484" progId="Visio.Drawing.11">
                  <p:embed/>
                </p:oleObj>
              </mc:Choice>
              <mc:Fallback>
                <p:oleObj name="VISIO" r:id="rId8" imgW="914400" imgH="775484" progId="Visio.Drawing.11">
                  <p:embed/>
                  <p:pic>
                    <p:nvPicPr>
                      <p:cNvPr id="9" name="Object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2510" y="2506575"/>
                        <a:ext cx="1786214" cy="15127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Grp="1"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776973606"/>
              </p:ext>
            </p:extLst>
          </p:nvPr>
        </p:nvGraphicFramePr>
        <p:xfrm>
          <a:off x="7104937" y="2439463"/>
          <a:ext cx="1787393" cy="1512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5" name="VISIO" r:id="rId10" imgW="914400" imgH="775484" progId="Visio.Drawing.11">
                  <p:embed/>
                </p:oleObj>
              </mc:Choice>
              <mc:Fallback>
                <p:oleObj name="VISIO" r:id="rId10" imgW="914400" imgH="775484" progId="Visio.Drawing.11">
                  <p:embed/>
                  <p:pic>
                    <p:nvPicPr>
                      <p:cNvPr id="1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937" y="2439463"/>
                        <a:ext cx="1787393" cy="15127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968767" y="2823268"/>
            <a:ext cx="2202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̅</a:t>
            </a:r>
          </a:p>
        </p:txBody>
      </p:sp>
      <p:sp>
        <p:nvSpPr>
          <p:cNvPr id="12" name="TextBox 11"/>
          <p:cNvSpPr txBox="1"/>
          <p:nvPr/>
        </p:nvSpPr>
        <p:spPr>
          <a:xfrm flipV="1">
            <a:off x="2010712" y="2920082"/>
            <a:ext cx="1117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8857" y="3411045"/>
            <a:ext cx="220211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50" dirty="0"/>
              <a:t>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0B19EC-7706-4906-8389-476A20571C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09702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90" y="108349"/>
            <a:ext cx="7677400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SR (Set/Reset) Latch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9400" y="844152"/>
            <a:ext cx="6918196" cy="3761403"/>
          </a:xfrm>
        </p:spPr>
        <p:txBody>
          <a:bodyPr>
            <a:normAutofit fontScale="77500" lnSpcReduction="20000"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accent1"/>
                </a:solidFill>
              </a:rPr>
              <a:t>SR Latch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Consider the four possible cases:</a:t>
            </a:r>
          </a:p>
          <a:p>
            <a:pPr lvl="1"/>
            <a:r>
              <a:rPr lang="en-US" i="1" dirty="0"/>
              <a:t>S</a:t>
            </a:r>
            <a:r>
              <a:rPr lang="en-US" dirty="0"/>
              <a:t> = 1, </a:t>
            </a:r>
            <a:r>
              <a:rPr lang="en-US" i="1" dirty="0"/>
              <a:t>R</a:t>
            </a:r>
            <a:r>
              <a:rPr lang="en-US" dirty="0"/>
              <a:t> = 0</a:t>
            </a:r>
          </a:p>
          <a:p>
            <a:pPr lvl="1"/>
            <a:r>
              <a:rPr lang="en-US" i="1" dirty="0"/>
              <a:t>S</a:t>
            </a:r>
            <a:r>
              <a:rPr lang="en-US" dirty="0"/>
              <a:t> = 0, </a:t>
            </a:r>
            <a:r>
              <a:rPr lang="en-US" i="1" dirty="0"/>
              <a:t>R</a:t>
            </a:r>
            <a:r>
              <a:rPr lang="en-US" dirty="0"/>
              <a:t> = 1</a:t>
            </a:r>
          </a:p>
          <a:p>
            <a:pPr lvl="1"/>
            <a:r>
              <a:rPr lang="en-US" i="1" dirty="0"/>
              <a:t>S</a:t>
            </a:r>
            <a:r>
              <a:rPr lang="en-US" dirty="0"/>
              <a:t> = 0, </a:t>
            </a:r>
            <a:r>
              <a:rPr lang="en-US" i="1" dirty="0"/>
              <a:t>R</a:t>
            </a:r>
            <a:r>
              <a:rPr lang="en-US" dirty="0"/>
              <a:t> = 0</a:t>
            </a:r>
          </a:p>
          <a:p>
            <a:pPr lvl="1"/>
            <a:r>
              <a:rPr lang="en-US" i="1" dirty="0"/>
              <a:t>S</a:t>
            </a:r>
            <a:r>
              <a:rPr lang="en-US" dirty="0"/>
              <a:t> = 1, </a:t>
            </a:r>
            <a:r>
              <a:rPr lang="en-US" i="1" dirty="0"/>
              <a:t>R</a:t>
            </a:r>
            <a:r>
              <a:rPr lang="en-US" dirty="0"/>
              <a:t> = 1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4746216"/>
              </p:ext>
            </p:extLst>
          </p:nvPr>
        </p:nvGraphicFramePr>
        <p:xfrm>
          <a:off x="3059121" y="844152"/>
          <a:ext cx="2484835" cy="1945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VISIO" r:id="rId4" imgW="1057895" imgH="828914" progId="Visio.Drawing.6">
                  <p:embed/>
                </p:oleObj>
              </mc:Choice>
              <mc:Fallback>
                <p:oleObj name="VISIO" r:id="rId4" imgW="1057895" imgH="828914" progId="Visio.Drawing.6">
                  <p:embed/>
                  <p:pic>
                    <p:nvPicPr>
                      <p:cNvPr id="7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21" y="844152"/>
                        <a:ext cx="2484835" cy="19454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5691B9-CAD7-45B3-852C-A34343ADEF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44284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345" y="108349"/>
            <a:ext cx="7719345" cy="519113"/>
          </a:xfrm>
        </p:spPr>
        <p:txBody>
          <a:bodyPr/>
          <a:lstStyle/>
          <a:p>
            <a:r>
              <a:rPr lang="en-US" sz="3200" dirty="0">
                <a:cs typeface="Calibri" panose="020F0502020204030204" pitchFamily="34" charset="0"/>
              </a:rPr>
              <a:t>SR Latch Analysis</a:t>
            </a:r>
            <a:r>
              <a:rPr lang="zh-CN" altLang="en-US" sz="3200" dirty="0">
                <a:cs typeface="Calibri" panose="020F0502020204030204" pitchFamily="34" charset="0"/>
              </a:rPr>
              <a:t>（</a:t>
            </a:r>
            <a:r>
              <a:rPr lang="en-US" altLang="zh-CN" sz="3200" dirty="0">
                <a:cs typeface="Calibri" panose="020F0502020204030204" pitchFamily="34" charset="0"/>
              </a:rPr>
              <a:t>1</a:t>
            </a:r>
            <a:r>
              <a:rPr lang="zh-CN" altLang="en-US" sz="3200" dirty="0">
                <a:cs typeface="Calibri" panose="020F0502020204030204" pitchFamily="34" charset="0"/>
              </a:rPr>
              <a:t>）</a:t>
            </a:r>
            <a:endParaRPr lang="en-US" sz="3200" dirty="0"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234" y="844153"/>
            <a:ext cx="7646565" cy="3671888"/>
          </a:xfrm>
        </p:spPr>
        <p:txBody>
          <a:bodyPr>
            <a:normAutofit/>
          </a:bodyPr>
          <a:lstStyle/>
          <a:p>
            <a:pPr marL="171450" lvl="1">
              <a:spcBef>
                <a:spcPts val="750"/>
              </a:spcBef>
            </a:pPr>
            <a:r>
              <a:rPr lang="en-US" sz="2100" i="1" dirty="0"/>
              <a:t>S</a:t>
            </a:r>
            <a:r>
              <a:rPr lang="en-US" sz="2100" dirty="0"/>
              <a:t> = 1, </a:t>
            </a:r>
            <a:r>
              <a:rPr lang="en-US" sz="2100" i="1" dirty="0"/>
              <a:t>R</a:t>
            </a:r>
            <a:r>
              <a:rPr lang="en-US" sz="2100" dirty="0"/>
              <a:t> = 0:</a:t>
            </a:r>
          </a:p>
          <a:p>
            <a:pPr marL="514350" lvl="2">
              <a:spcBef>
                <a:spcPts val="750"/>
              </a:spcBef>
            </a:pPr>
            <a:r>
              <a:rPr lang="en-US" sz="1800" dirty="0"/>
              <a:t>then </a:t>
            </a:r>
            <a:r>
              <a:rPr lang="en-US" sz="1800" i="1" dirty="0"/>
              <a:t>Q</a:t>
            </a:r>
            <a:r>
              <a:rPr lang="en-US" sz="1800" dirty="0"/>
              <a:t> = 1 and </a:t>
            </a:r>
            <a:r>
              <a:rPr lang="en-US" sz="1800" i="1" dirty="0"/>
              <a:t>Q</a:t>
            </a:r>
            <a:r>
              <a:rPr lang="en-US" sz="1800" dirty="0"/>
              <a:t> = 0</a:t>
            </a:r>
          </a:p>
          <a:p>
            <a:pPr marL="514350" lvl="2">
              <a:spcBef>
                <a:spcPts val="750"/>
              </a:spcBef>
            </a:pPr>
            <a:endParaRPr lang="en-US" dirty="0"/>
          </a:p>
          <a:p>
            <a:pPr marL="514350" lvl="2">
              <a:spcBef>
                <a:spcPts val="750"/>
              </a:spcBef>
            </a:pPr>
            <a:endParaRPr lang="en-US" dirty="0"/>
          </a:p>
          <a:p>
            <a:pPr marL="514350" lvl="2">
              <a:spcBef>
                <a:spcPts val="750"/>
              </a:spcBef>
            </a:pPr>
            <a:endParaRPr lang="en-US" dirty="0"/>
          </a:p>
          <a:p>
            <a:pPr marL="171450" lvl="1">
              <a:spcBef>
                <a:spcPts val="750"/>
              </a:spcBef>
            </a:pPr>
            <a:endParaRPr lang="en-US" dirty="0"/>
          </a:p>
          <a:p>
            <a:pPr marL="171450" lvl="1">
              <a:spcBef>
                <a:spcPts val="750"/>
              </a:spcBef>
            </a:pPr>
            <a:r>
              <a:rPr lang="en-US" sz="2100" i="1" dirty="0"/>
              <a:t>S</a:t>
            </a:r>
            <a:r>
              <a:rPr lang="en-US" sz="2100" dirty="0"/>
              <a:t> = 0, </a:t>
            </a:r>
            <a:r>
              <a:rPr lang="en-US" sz="2100" i="1" dirty="0"/>
              <a:t>R</a:t>
            </a:r>
            <a:r>
              <a:rPr lang="en-US" sz="2100" dirty="0"/>
              <a:t> = 1:</a:t>
            </a:r>
          </a:p>
          <a:p>
            <a:pPr marL="514350" lvl="2">
              <a:spcBef>
                <a:spcPts val="750"/>
              </a:spcBef>
            </a:pPr>
            <a:r>
              <a:rPr lang="en-US" sz="1800" dirty="0"/>
              <a:t>then </a:t>
            </a:r>
            <a:r>
              <a:rPr lang="en-US" sz="1800" i="1" dirty="0"/>
              <a:t>Q</a:t>
            </a:r>
            <a:r>
              <a:rPr lang="en-US" sz="1800" dirty="0"/>
              <a:t> = 0 and </a:t>
            </a:r>
            <a:r>
              <a:rPr lang="en-US" sz="1800" i="1" dirty="0"/>
              <a:t>Q</a:t>
            </a:r>
            <a:r>
              <a:rPr lang="en-US" sz="1800" dirty="0"/>
              <a:t> = 1</a:t>
            </a:r>
          </a:p>
          <a:p>
            <a:pPr marL="171450" lvl="1">
              <a:spcBef>
                <a:spcPts val="750"/>
              </a:spcBef>
            </a:pPr>
            <a:endParaRPr lang="en-US" dirty="0"/>
          </a:p>
          <a:p>
            <a:pPr marL="342900" lvl="2" indent="0">
              <a:spcBef>
                <a:spcPts val="750"/>
              </a:spcBef>
              <a:buNone/>
            </a:pPr>
            <a:endParaRPr lang="en-US" dirty="0"/>
          </a:p>
          <a:p>
            <a:endParaRPr lang="en-US" sz="24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901" y="983420"/>
            <a:ext cx="1937066" cy="1620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901" y="2875341"/>
            <a:ext cx="1937311" cy="162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53833" y="1263689"/>
            <a:ext cx="22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2222" y="3762257"/>
            <a:ext cx="22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5C29CA-9BAD-4C4B-A5A1-6B9D97431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61567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345" y="108349"/>
            <a:ext cx="7719345" cy="519113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" panose="020F0502020204030204" pitchFamily="34" charset="0"/>
              </a:rPr>
              <a:t>SR Latch Analysis </a:t>
            </a:r>
            <a:r>
              <a:rPr lang="zh-CN" altLang="en-US" dirty="0">
                <a:cs typeface="Calibri" panose="020F0502020204030204" pitchFamily="34" charset="0"/>
              </a:rPr>
              <a:t>（</a:t>
            </a:r>
            <a:r>
              <a:rPr lang="en-US" altLang="zh-CN" dirty="0">
                <a:cs typeface="Calibri" panose="020F0502020204030204" pitchFamily="34" charset="0"/>
              </a:rPr>
              <a:t>2</a:t>
            </a:r>
            <a:r>
              <a:rPr lang="zh-CN" altLang="en-US" dirty="0">
                <a:cs typeface="Calibri" panose="020F0502020204030204" pitchFamily="34" charset="0"/>
              </a:rPr>
              <a:t>）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066" y="844153"/>
            <a:ext cx="7822734" cy="3671888"/>
          </a:xfrm>
        </p:spPr>
        <p:txBody>
          <a:bodyPr/>
          <a:lstStyle/>
          <a:p>
            <a:r>
              <a:rPr lang="en-US" sz="2400" i="1" dirty="0"/>
              <a:t>S</a:t>
            </a:r>
            <a:r>
              <a:rPr lang="en-US" sz="2400" dirty="0"/>
              <a:t> = 0, </a:t>
            </a:r>
            <a:r>
              <a:rPr lang="en-US" sz="2400" i="1" dirty="0"/>
              <a:t>R</a:t>
            </a:r>
            <a:r>
              <a:rPr lang="en-US" sz="2400" dirty="0"/>
              <a:t> = 0:</a:t>
            </a:r>
          </a:p>
          <a:p>
            <a:pPr lvl="1"/>
            <a:r>
              <a:rPr lang="en-US" sz="2000" dirty="0"/>
              <a:t>then </a:t>
            </a:r>
            <a:r>
              <a:rPr lang="en-US" sz="2000" i="1" dirty="0"/>
              <a:t>Q</a:t>
            </a:r>
            <a:r>
              <a:rPr lang="en-US" sz="2000" dirty="0"/>
              <a:t> = </a:t>
            </a:r>
            <a:r>
              <a:rPr lang="en-US" sz="2000" i="1" dirty="0" err="1"/>
              <a:t>Q</a:t>
            </a:r>
            <a:r>
              <a:rPr lang="en-US" sz="2000" i="1" baseline="-25000" dirty="0" err="1"/>
              <a:t>prev</a:t>
            </a:r>
            <a:endParaRPr lang="en-US" sz="2000" i="1" baseline="-25000" dirty="0"/>
          </a:p>
          <a:p>
            <a:pPr lvl="1">
              <a:buClr>
                <a:schemeClr val="tx1"/>
              </a:buClr>
            </a:pPr>
            <a:r>
              <a:rPr lang="en-US" sz="2000" b="1" dirty="0">
                <a:solidFill>
                  <a:schemeClr val="accent1"/>
                </a:solidFill>
              </a:rPr>
              <a:t>Memory</a:t>
            </a:r>
          </a:p>
          <a:p>
            <a:pPr marL="0" indent="0">
              <a:buNone/>
            </a:pPr>
            <a:endParaRPr lang="en-US" sz="2400" i="1" dirty="0"/>
          </a:p>
          <a:p>
            <a:endParaRPr lang="en-US" sz="2400" i="1" dirty="0"/>
          </a:p>
          <a:p>
            <a:r>
              <a:rPr lang="en-US" sz="2400" i="1" dirty="0"/>
              <a:t>S</a:t>
            </a:r>
            <a:r>
              <a:rPr lang="en-US" sz="2400" dirty="0"/>
              <a:t> = 1, </a:t>
            </a:r>
            <a:r>
              <a:rPr lang="en-US" sz="2400" i="1" dirty="0"/>
              <a:t>R</a:t>
            </a:r>
            <a:r>
              <a:rPr lang="en-US" sz="2400" dirty="0"/>
              <a:t> = 1: </a:t>
            </a:r>
          </a:p>
          <a:p>
            <a:pPr lvl="1"/>
            <a:r>
              <a:rPr lang="en-US" sz="2000" dirty="0"/>
              <a:t>then </a:t>
            </a:r>
            <a:r>
              <a:rPr lang="en-US" sz="2000" i="1" dirty="0"/>
              <a:t>Q</a:t>
            </a:r>
            <a:r>
              <a:rPr lang="en-US" sz="2000" dirty="0"/>
              <a:t> = 0, </a:t>
            </a:r>
            <a:r>
              <a:rPr lang="en-US" sz="2000" i="1" dirty="0"/>
              <a:t>Q</a:t>
            </a:r>
            <a:r>
              <a:rPr lang="en-US" sz="2000" dirty="0"/>
              <a:t> = 0</a:t>
            </a:r>
          </a:p>
          <a:p>
            <a:pPr lvl="1">
              <a:buClr>
                <a:schemeClr val="tx1"/>
              </a:buClr>
            </a:pPr>
            <a:r>
              <a:rPr lang="en-US" sz="2000" b="1" dirty="0">
                <a:solidFill>
                  <a:srgbClr val="C00000"/>
                </a:solidFill>
              </a:rPr>
              <a:t>Invalid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(</a:t>
            </a:r>
            <a:r>
              <a:rPr lang="en-US" sz="2000" i="1" dirty="0"/>
              <a:t>Q</a:t>
            </a:r>
            <a:r>
              <a:rPr lang="en-US" sz="2000" dirty="0"/>
              <a:t> = </a:t>
            </a:r>
            <a:r>
              <a:rPr lang="en-US" sz="2000" i="1" dirty="0"/>
              <a:t>Q</a:t>
            </a:r>
            <a:r>
              <a:rPr lang="en-US" sz="2000" dirty="0"/>
              <a:t>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r="13784"/>
          <a:stretch/>
        </p:blipFill>
        <p:spPr>
          <a:xfrm>
            <a:off x="4209588" y="815397"/>
            <a:ext cx="3640411" cy="189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04274" y="3331962"/>
            <a:ext cx="22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̅</a:t>
            </a:r>
          </a:p>
        </p:txBody>
      </p:sp>
      <p:graphicFrame>
        <p:nvGraphicFramePr>
          <p:cNvPr id="10" name="Object 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76882830"/>
              </p:ext>
            </p:extLst>
          </p:nvPr>
        </p:nvGraphicFramePr>
        <p:xfrm>
          <a:off x="5098232" y="2985968"/>
          <a:ext cx="1885950" cy="1579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VISIO" r:id="rId5" imgW="1057895" imgH="885396" progId="Visio.Drawing.6">
                  <p:embed/>
                </p:oleObj>
              </mc:Choice>
              <mc:Fallback>
                <p:oleObj name="VISIO" r:id="rId5" imgW="1057895" imgH="885396" progId="Visio.Drawing.6">
                  <p:embed/>
                  <p:pic>
                    <p:nvPicPr>
                      <p:cNvPr id="1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8232" y="2985968"/>
                        <a:ext cx="1885950" cy="1579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72434" y="3701294"/>
            <a:ext cx="22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E2DC69-5553-4A8B-914A-2EB0D447B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7442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234" y="108349"/>
            <a:ext cx="7635455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SR Latch Symbol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1345" y="844153"/>
            <a:ext cx="6871596" cy="3671888"/>
          </a:xfrm>
        </p:spPr>
        <p:txBody>
          <a:bodyPr>
            <a:normAutofit fontScale="92500" lnSpcReduction="10000"/>
          </a:bodyPr>
          <a:lstStyle/>
          <a:p>
            <a:r>
              <a:rPr lang="en-US" sz="2600" b="1" dirty="0"/>
              <a:t>SR</a:t>
            </a:r>
            <a:r>
              <a:rPr lang="en-US" sz="2600" dirty="0"/>
              <a:t> (</a:t>
            </a:r>
            <a:r>
              <a:rPr lang="en-US" sz="2600" b="1" dirty="0">
                <a:solidFill>
                  <a:schemeClr val="accent1"/>
                </a:solidFill>
              </a:rPr>
              <a:t>Set/Reset</a:t>
            </a:r>
            <a:r>
              <a:rPr lang="en-US" sz="2600" dirty="0"/>
              <a:t>) </a:t>
            </a:r>
            <a:r>
              <a:rPr lang="en-US" sz="2600" b="1" dirty="0">
                <a:solidFill>
                  <a:schemeClr val="accent1"/>
                </a:solidFill>
              </a:rPr>
              <a:t>Latch</a:t>
            </a:r>
          </a:p>
          <a:p>
            <a:pPr lvl="1"/>
            <a:r>
              <a:rPr lang="en-US" sz="2200" dirty="0"/>
              <a:t>Stores one bit of state (</a:t>
            </a:r>
            <a:r>
              <a:rPr lang="en-US" sz="2200" i="1" dirty="0"/>
              <a:t>Q</a:t>
            </a:r>
            <a:r>
              <a:rPr lang="en-US" sz="2200" dirty="0"/>
              <a:t>)</a:t>
            </a:r>
          </a:p>
          <a:p>
            <a:r>
              <a:rPr lang="en-US" sz="2600" dirty="0"/>
              <a:t>Control what value is being stored with </a:t>
            </a:r>
            <a:r>
              <a:rPr lang="en-US" sz="2600" i="1" dirty="0"/>
              <a:t>S</a:t>
            </a:r>
            <a:r>
              <a:rPr lang="en-US" sz="2600" dirty="0"/>
              <a:t>, </a:t>
            </a:r>
            <a:r>
              <a:rPr lang="en-US" sz="2600" i="1" dirty="0"/>
              <a:t>R</a:t>
            </a:r>
            <a:r>
              <a:rPr lang="en-US" sz="2600" dirty="0"/>
              <a:t> inputs</a:t>
            </a:r>
          </a:p>
          <a:p>
            <a:pPr lvl="1">
              <a:buClr>
                <a:schemeClr val="tx1"/>
              </a:buClr>
            </a:pPr>
            <a:r>
              <a:rPr lang="en-US" sz="2200" b="1" dirty="0">
                <a:solidFill>
                  <a:schemeClr val="accent1"/>
                </a:solidFill>
              </a:rPr>
              <a:t>Set</a:t>
            </a:r>
            <a:r>
              <a:rPr lang="en-US" sz="2200" dirty="0"/>
              <a:t>: Make the output 1 </a:t>
            </a:r>
            <a:br>
              <a:rPr lang="en-US" sz="2200" dirty="0"/>
            </a:br>
            <a:r>
              <a:rPr lang="en-US" sz="2200" dirty="0"/>
              <a:t>(S = 1, R = 0, Q = 1)</a:t>
            </a:r>
          </a:p>
          <a:p>
            <a:pPr lvl="1">
              <a:buClr>
                <a:schemeClr val="tx1"/>
              </a:buClr>
            </a:pPr>
            <a:r>
              <a:rPr lang="en-US" sz="2200" b="1" dirty="0">
                <a:solidFill>
                  <a:schemeClr val="accent1"/>
                </a:solidFill>
              </a:rPr>
              <a:t>Reset</a:t>
            </a:r>
            <a:r>
              <a:rPr lang="en-US" sz="2200" dirty="0"/>
              <a:t>: Make the output 0</a:t>
            </a:r>
            <a:br>
              <a:rPr lang="en-US" sz="2200" dirty="0"/>
            </a:br>
            <a:r>
              <a:rPr lang="en-US" sz="2200" dirty="0"/>
              <a:t>(S = 0, R = 1, Q = 0)</a:t>
            </a:r>
          </a:p>
          <a:p>
            <a:endParaRPr lang="en-US" dirty="0"/>
          </a:p>
          <a:p>
            <a:r>
              <a:rPr lang="en-US" sz="2600" dirty="0"/>
              <a:t>Must do something to avoid </a:t>
            </a:r>
            <a:r>
              <a:rPr lang="en-US" sz="2600" b="1" dirty="0">
                <a:solidFill>
                  <a:schemeClr val="accent1"/>
                </a:solidFill>
              </a:rPr>
              <a:t>invalid</a:t>
            </a:r>
            <a:r>
              <a:rPr lang="en-US" sz="2600" dirty="0">
                <a:solidFill>
                  <a:schemeClr val="accent1"/>
                </a:solidFill>
              </a:rPr>
              <a:t> </a:t>
            </a:r>
            <a:r>
              <a:rPr lang="en-US" sz="2600" dirty="0"/>
              <a:t>state (when </a:t>
            </a:r>
            <a:r>
              <a:rPr lang="en-US" sz="2600" i="1" dirty="0"/>
              <a:t>S</a:t>
            </a:r>
            <a:r>
              <a:rPr lang="en-US" sz="2600" dirty="0"/>
              <a:t> = </a:t>
            </a:r>
            <a:r>
              <a:rPr lang="en-US" sz="2600" i="1" dirty="0"/>
              <a:t>R</a:t>
            </a:r>
            <a:r>
              <a:rPr lang="en-US" sz="2600" dirty="0"/>
              <a:t> = 1)</a:t>
            </a:r>
            <a:endParaRPr lang="en-US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109" y="2371392"/>
            <a:ext cx="1618628" cy="1170533"/>
          </a:xfrm>
          <a:prstGeom prst="rect">
            <a:avLst/>
          </a:prstGeom>
        </p:spPr>
      </p:pic>
      <p:graphicFrame>
        <p:nvGraphicFramePr>
          <p:cNvPr id="25" name="Object 12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6389121" y="2102788"/>
          <a:ext cx="1533820" cy="148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VISIO" r:id="rId5" imgW="886922" imgH="857918" progId="Visio.Drawing.6">
                  <p:embed/>
                </p:oleObj>
              </mc:Choice>
              <mc:Fallback>
                <p:oleObj name="VISIO" r:id="rId5" imgW="886922" imgH="857918" progId="Visio.Drawing.6">
                  <p:embed/>
                  <p:pic>
                    <p:nvPicPr>
                      <p:cNvPr id="25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9121" y="2102788"/>
                        <a:ext cx="1533820" cy="148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F4B0BA-C13E-4FE0-9A60-997CAD89F3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2334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512" y="108349"/>
            <a:ext cx="7694178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Gated D Latch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736" y="844153"/>
            <a:ext cx="7571064" cy="3518122"/>
          </a:xfrm>
        </p:spPr>
        <p:txBody>
          <a:bodyPr>
            <a:normAutofit/>
          </a:bodyPr>
          <a:lstStyle/>
          <a:p>
            <a:r>
              <a:rPr lang="en-US" sz="2400" dirty="0"/>
              <a:t>Two inputs: </a:t>
            </a:r>
            <a:r>
              <a:rPr lang="en-US" sz="2400" i="1" dirty="0"/>
              <a:t>CLK</a:t>
            </a:r>
            <a:r>
              <a:rPr lang="en-US" sz="2400" dirty="0"/>
              <a:t>, </a:t>
            </a:r>
            <a:r>
              <a:rPr lang="en-US" sz="2400" i="1" dirty="0"/>
              <a:t>D</a:t>
            </a:r>
          </a:p>
          <a:p>
            <a:pPr lvl="1">
              <a:buClr>
                <a:schemeClr val="tx1"/>
              </a:buClr>
            </a:pPr>
            <a:r>
              <a:rPr lang="en-US" sz="2000" b="1" i="1" dirty="0">
                <a:solidFill>
                  <a:schemeClr val="accent1"/>
                </a:solidFill>
              </a:rPr>
              <a:t>CLK</a:t>
            </a:r>
            <a:r>
              <a:rPr lang="en-US" sz="2000" dirty="0"/>
              <a:t>: controls when the output changes.</a:t>
            </a:r>
          </a:p>
          <a:p>
            <a:pPr lvl="1">
              <a:buClr>
                <a:schemeClr val="tx1"/>
              </a:buClr>
            </a:pPr>
            <a:r>
              <a:rPr lang="en-US" sz="2000" b="1" i="1" dirty="0">
                <a:solidFill>
                  <a:schemeClr val="accent1"/>
                </a:solidFill>
              </a:rPr>
              <a:t>D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(data input): controls what the output changes to.</a:t>
            </a:r>
          </a:p>
          <a:p>
            <a:r>
              <a:rPr lang="en-US" sz="2400" dirty="0"/>
              <a:t>Function</a:t>
            </a:r>
          </a:p>
          <a:p>
            <a:pPr lvl="1"/>
            <a:r>
              <a:rPr lang="en-US" sz="2000" dirty="0"/>
              <a:t>When </a:t>
            </a:r>
            <a:r>
              <a:rPr lang="en-US" sz="2000" i="1" dirty="0"/>
              <a:t>CLK</a:t>
            </a:r>
            <a:r>
              <a:rPr lang="en-US" sz="2000" dirty="0"/>
              <a:t> = 1, </a:t>
            </a:r>
            <a:br>
              <a:rPr lang="en-US" sz="2000" dirty="0"/>
            </a:br>
            <a:r>
              <a:rPr lang="en-US" sz="2000" i="1" dirty="0"/>
              <a:t>D</a:t>
            </a:r>
            <a:r>
              <a:rPr lang="en-US" sz="2000" dirty="0"/>
              <a:t> passes through to </a:t>
            </a:r>
            <a:r>
              <a:rPr lang="en-US" sz="2000" i="1" dirty="0"/>
              <a:t>Q</a:t>
            </a:r>
            <a:r>
              <a:rPr lang="en-US" sz="2000" dirty="0"/>
              <a:t> (</a:t>
            </a:r>
            <a:r>
              <a:rPr lang="en-US" sz="2000" b="1" dirty="0">
                <a:solidFill>
                  <a:schemeClr val="accent1"/>
                </a:solidFill>
              </a:rPr>
              <a:t>transparent</a:t>
            </a:r>
            <a:r>
              <a:rPr lang="en-US" sz="2000" dirty="0"/>
              <a:t>).</a:t>
            </a:r>
          </a:p>
          <a:p>
            <a:pPr lvl="1"/>
            <a:r>
              <a:rPr lang="en-US" sz="2000" dirty="0"/>
              <a:t>When </a:t>
            </a:r>
            <a:r>
              <a:rPr lang="en-US" sz="2000" i="1" dirty="0"/>
              <a:t>CLK</a:t>
            </a:r>
            <a:r>
              <a:rPr lang="en-US" sz="2000" dirty="0"/>
              <a:t> = 0, </a:t>
            </a:r>
            <a:br>
              <a:rPr lang="en-US" sz="2000" dirty="0"/>
            </a:br>
            <a:r>
              <a:rPr lang="en-US" sz="2000" i="1" dirty="0"/>
              <a:t>Q</a:t>
            </a:r>
            <a:r>
              <a:rPr lang="en-US" sz="2000" dirty="0"/>
              <a:t> holds its previous value (</a:t>
            </a:r>
            <a:r>
              <a:rPr lang="en-US" sz="2000" b="1" dirty="0">
                <a:solidFill>
                  <a:schemeClr val="accent1"/>
                </a:solidFill>
              </a:rPr>
              <a:t>opaque</a:t>
            </a:r>
            <a:r>
              <a:rPr lang="en-US" sz="2000" dirty="0"/>
              <a:t>).</a:t>
            </a:r>
          </a:p>
          <a:p>
            <a:r>
              <a:rPr lang="en-US" sz="2400" dirty="0"/>
              <a:t>Avoids invalid case when </a:t>
            </a:r>
            <a:r>
              <a:rPr lang="en-US" sz="2400" i="1" dirty="0"/>
              <a:t>Q</a:t>
            </a:r>
            <a:r>
              <a:rPr lang="en-US" sz="2400" dirty="0"/>
              <a:t> ≠ NOT </a:t>
            </a:r>
            <a:r>
              <a:rPr lang="en-US" sz="2400" i="1" dirty="0"/>
              <a:t>Q.</a:t>
            </a: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5937250" y="2114550"/>
          <a:ext cx="1806575" cy="186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VISIO" r:id="rId4" imgW="885444" imgH="912876" progId="Visio.Drawing.6">
                  <p:embed/>
                </p:oleObj>
              </mc:Choice>
              <mc:Fallback>
                <p:oleObj name="VISIO" r:id="rId4" imgW="885444" imgH="912876" progId="Visio.Drawing.6">
                  <p:embed/>
                  <p:pic>
                    <p:nvPicPr>
                      <p:cNvPr id="7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2114550"/>
                        <a:ext cx="1806575" cy="186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16246" y="3808348"/>
            <a:ext cx="22021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33BB31-95B1-41AD-9BC6-EAD1C6C88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51716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958" y="108349"/>
            <a:ext cx="7576732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Gated D Latch Internal Circuit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662460" y="1186759"/>
          <a:ext cx="4135408" cy="1480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7" name="VISIO" r:id="rId6" imgW="1837959" imgH="657941" progId="Visio.Drawing.11">
                  <p:embed/>
                </p:oleObj>
              </mc:Choice>
              <mc:Fallback>
                <p:oleObj name="VISIO" r:id="rId6" imgW="1837959" imgH="657941" progId="Visio.Drawing.11">
                  <p:embed/>
                  <p:pic>
                    <p:nvPicPr>
                      <p:cNvPr id="7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460" y="1186759"/>
                        <a:ext cx="4135408" cy="14803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  <p:extLst/>
          </p:nvPr>
        </p:nvGraphicFramePr>
        <p:xfrm>
          <a:off x="6342057" y="1248583"/>
          <a:ext cx="1105981" cy="1356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8" name="VISIO" r:id="rId8" imgW="491547" imgH="602985" progId="Visio.Drawing.6">
                  <p:embed/>
                </p:oleObj>
              </mc:Choice>
              <mc:Fallback>
                <p:oleObj name="VISIO" r:id="rId8" imgW="491547" imgH="602985" progId="Visio.Drawing.6">
                  <p:embed/>
                  <p:pic>
                    <p:nvPicPr>
                      <p:cNvPr id="8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2057" y="1248583"/>
                        <a:ext cx="1105981" cy="13567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"/>
          <p:cNvGraphicFramePr>
            <a:graphicFrameLocks noGrp="1" noChangeAspect="1"/>
          </p:cNvGraphicFramePr>
          <p:nvPr>
            <p:custDataLst>
              <p:tags r:id="rId4"/>
            </p:custDataLst>
            <p:extLst/>
          </p:nvPr>
        </p:nvGraphicFramePr>
        <p:xfrm>
          <a:off x="2386013" y="3000533"/>
          <a:ext cx="4183380" cy="1433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9" name="VISIO" r:id="rId10" imgW="1859280" imgH="637032" progId="Visio.Drawing.11">
                  <p:embed/>
                </p:oleObj>
              </mc:Choice>
              <mc:Fallback>
                <p:oleObj name="VISIO" r:id="rId10" imgW="1859280" imgH="637032" progId="Visio.Drawing.11">
                  <p:embed/>
                  <p:pic>
                    <p:nvPicPr>
                      <p:cNvPr id="9" name="Object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013" y="3000533"/>
                        <a:ext cx="4183380" cy="1433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3956B4E-843C-4C53-942D-5311C0BAA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94803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457" y="108349"/>
            <a:ext cx="7652233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Master-Slave D Flip-Flop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456" y="844153"/>
            <a:ext cx="7029975" cy="3671888"/>
          </a:xfrm>
        </p:spPr>
        <p:txBody>
          <a:bodyPr>
            <a:normAutofit/>
          </a:bodyPr>
          <a:lstStyle/>
          <a:p>
            <a:r>
              <a:rPr lang="en-US" sz="1800" dirty="0"/>
              <a:t>Two back-to-back latches (L1 and L2) controlled by complementary clocks.</a:t>
            </a:r>
          </a:p>
          <a:p>
            <a:r>
              <a:rPr lang="en-US" sz="1800" dirty="0"/>
              <a:t>When </a:t>
            </a:r>
            <a:r>
              <a:rPr lang="en-US" sz="1800" b="1" i="1" dirty="0">
                <a:solidFill>
                  <a:schemeClr val="accent1"/>
                </a:solidFill>
              </a:rPr>
              <a:t>CLK</a:t>
            </a:r>
            <a:r>
              <a:rPr lang="en-US" sz="1800" b="1" dirty="0">
                <a:solidFill>
                  <a:schemeClr val="accent1"/>
                </a:solidFill>
              </a:rPr>
              <a:t> = 0</a:t>
            </a:r>
          </a:p>
          <a:p>
            <a:pPr lvl="1"/>
            <a:r>
              <a:rPr lang="en-US" sz="1500" dirty="0"/>
              <a:t>L1 is transparent</a:t>
            </a:r>
          </a:p>
          <a:p>
            <a:pPr lvl="1"/>
            <a:r>
              <a:rPr lang="en-US" sz="1500" dirty="0"/>
              <a:t>L2 is opaque</a:t>
            </a:r>
          </a:p>
          <a:p>
            <a:pPr lvl="1"/>
            <a:r>
              <a:rPr lang="en-US" sz="1500" i="1" dirty="0"/>
              <a:t>D</a:t>
            </a:r>
            <a:r>
              <a:rPr lang="en-US" sz="1500" dirty="0"/>
              <a:t> passes through to </a:t>
            </a:r>
            <a:r>
              <a:rPr lang="en-US" sz="1500" i="1" dirty="0"/>
              <a:t>Y</a:t>
            </a:r>
          </a:p>
          <a:p>
            <a:r>
              <a:rPr lang="en-US" sz="1800" dirty="0"/>
              <a:t>When </a:t>
            </a:r>
            <a:r>
              <a:rPr lang="en-US" sz="1800" b="1" i="1" dirty="0">
                <a:solidFill>
                  <a:schemeClr val="accent1"/>
                </a:solidFill>
              </a:rPr>
              <a:t>CLK</a:t>
            </a:r>
            <a:r>
              <a:rPr lang="en-US" sz="1800" b="1" dirty="0">
                <a:solidFill>
                  <a:schemeClr val="accent1"/>
                </a:solidFill>
              </a:rPr>
              <a:t> = 1</a:t>
            </a:r>
          </a:p>
          <a:p>
            <a:pPr lvl="1"/>
            <a:r>
              <a:rPr lang="en-US" sz="1500" dirty="0"/>
              <a:t>L1 is opaque</a:t>
            </a:r>
          </a:p>
          <a:p>
            <a:pPr lvl="1"/>
            <a:r>
              <a:rPr lang="en-US" sz="1500" dirty="0"/>
              <a:t>L2 is transparent</a:t>
            </a:r>
          </a:p>
          <a:p>
            <a:pPr lvl="1"/>
            <a:r>
              <a:rPr lang="en-US" sz="1500" i="1" dirty="0"/>
              <a:t>Y</a:t>
            </a:r>
            <a:r>
              <a:rPr lang="en-US" sz="1500" dirty="0"/>
              <a:t> passes through to </a:t>
            </a:r>
            <a:r>
              <a:rPr lang="en-US" sz="1500" i="1" dirty="0"/>
              <a:t>Q</a:t>
            </a:r>
          </a:p>
          <a:p>
            <a:r>
              <a:rPr lang="en-US" sz="1800" dirty="0"/>
              <a:t>Thus, on the edge of the clock (when </a:t>
            </a:r>
            <a:r>
              <a:rPr lang="en-US" sz="1800" b="1" i="1" dirty="0">
                <a:solidFill>
                  <a:schemeClr val="accent1"/>
                </a:solidFill>
              </a:rPr>
              <a:t>CLK</a:t>
            </a:r>
            <a:r>
              <a:rPr lang="en-US" sz="1800" b="1" dirty="0">
                <a:solidFill>
                  <a:schemeClr val="accent1"/>
                </a:solidFill>
              </a:rPr>
              <a:t> rises from 0</a:t>
            </a:r>
            <a:r>
              <a:rPr lang="en-US" sz="1800" b="1" dirty="0">
                <a:solidFill>
                  <a:schemeClr val="accent1"/>
                </a:solidFill>
                <a:sym typeface="Wingdings" panose="05000000000000000000" pitchFamily="2" charset="2"/>
              </a:rPr>
              <a:t></a:t>
            </a:r>
            <a:r>
              <a:rPr lang="en-US" sz="1800" b="1" dirty="0">
                <a:solidFill>
                  <a:schemeClr val="accent1"/>
                </a:solidFill>
              </a:rPr>
              <a:t>1</a:t>
            </a:r>
            <a:r>
              <a:rPr lang="en-US" sz="1800" dirty="0"/>
              <a:t>), </a:t>
            </a:r>
            <a:r>
              <a:rPr lang="en-US" sz="1800" i="1" dirty="0"/>
              <a:t>D</a:t>
            </a:r>
            <a:r>
              <a:rPr lang="en-US" sz="1800" dirty="0"/>
              <a:t> passes through to </a:t>
            </a:r>
            <a:r>
              <a:rPr lang="en-US" sz="1800" i="1" dirty="0"/>
              <a:t>Q</a:t>
            </a:r>
            <a:r>
              <a:rPr lang="en-US" sz="1800" dirty="0"/>
              <a:t>.</a:t>
            </a:r>
            <a:endParaRPr lang="en-US" sz="1800" i="1" dirty="0"/>
          </a:p>
          <a:p>
            <a:endParaRPr lang="en-US" sz="1800" dirty="0"/>
          </a:p>
          <a:p>
            <a:endParaRPr lang="en-US" sz="1800" dirty="0"/>
          </a:p>
        </p:txBody>
      </p:sp>
      <p:grpSp>
        <p:nvGrpSpPr>
          <p:cNvPr id="10" name="Group 9"/>
          <p:cNvGrpSpPr/>
          <p:nvPr/>
        </p:nvGrpSpPr>
        <p:grpSpPr>
          <a:xfrm>
            <a:off x="4988303" y="1371600"/>
            <a:ext cx="2628900" cy="2038350"/>
            <a:chOff x="5638800" y="1828800"/>
            <a:chExt cx="3505200" cy="2717800"/>
          </a:xfrm>
        </p:grpSpPr>
        <p:graphicFrame>
          <p:nvGraphicFramePr>
            <p:cNvPr id="7" name="Object 4"/>
            <p:cNvGraphicFramePr>
              <a:graphicFrameLocks noChangeAspect="1"/>
            </p:cNvGraphicFramePr>
            <p:nvPr>
              <p:custDataLst>
                <p:tags r:id="rId2"/>
              </p:custDataLst>
              <p:extLst/>
            </p:nvPr>
          </p:nvGraphicFramePr>
          <p:xfrm>
            <a:off x="5638800" y="1828800"/>
            <a:ext cx="3505200" cy="271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1" name="VISIO" r:id="rId4" imgW="1399841" imgH="1085373" progId="Visio.Drawing.6">
                    <p:embed/>
                  </p:oleObj>
                </mc:Choice>
                <mc:Fallback>
                  <p:oleObj name="VISIO" r:id="rId4" imgW="1399841" imgH="1085373" progId="Visio.Drawing.6">
                    <p:embed/>
                    <p:pic>
                      <p:nvPicPr>
                        <p:cNvPr id="7" name="Object 4"/>
                        <p:cNvPicPr>
                          <a:picLocks noGrp="1"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8800" y="1828800"/>
                          <a:ext cx="3505200" cy="2717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Box 2"/>
            <p:cNvSpPr txBox="1">
              <a:spLocks noChangeArrowheads="1"/>
            </p:cNvSpPr>
            <p:nvPr/>
          </p:nvSpPr>
          <p:spPr bwMode="auto">
            <a:xfrm>
              <a:off x="7235825" y="3022367"/>
              <a:ext cx="311151" cy="4308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500" dirty="0"/>
                <a:t>Y</a:t>
              </a:r>
            </a:p>
          </p:txBody>
        </p:sp>
      </p:grp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0105F-D407-4796-A155-2F1A343E9D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61817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457" y="108349"/>
            <a:ext cx="7652233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Edge-Triggered D Flip-Flop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4126" y="790230"/>
            <a:ext cx="4425920" cy="3683419"/>
          </a:xfrm>
        </p:spPr>
        <p:txBody>
          <a:bodyPr/>
          <a:lstStyle/>
          <a:p>
            <a:r>
              <a:rPr lang="en-US" sz="2400" dirty="0"/>
              <a:t>Inputs: </a:t>
            </a:r>
            <a:r>
              <a:rPr lang="en-US" sz="2400" i="1" dirty="0"/>
              <a:t>CLK</a:t>
            </a:r>
            <a:r>
              <a:rPr lang="en-US" sz="2400" dirty="0"/>
              <a:t>, </a:t>
            </a:r>
            <a:r>
              <a:rPr lang="en-US" sz="2400" i="1" dirty="0"/>
              <a:t>D</a:t>
            </a:r>
          </a:p>
          <a:p>
            <a:r>
              <a:rPr lang="en-US" sz="2400" dirty="0"/>
              <a:t>Function</a:t>
            </a:r>
          </a:p>
          <a:p>
            <a:pPr lvl="1"/>
            <a:r>
              <a:rPr lang="en-US" sz="2000" dirty="0"/>
              <a:t>Samples </a:t>
            </a:r>
            <a:r>
              <a:rPr lang="en-US" sz="2000" i="1" dirty="0"/>
              <a:t>D</a:t>
            </a:r>
            <a:r>
              <a:rPr lang="en-US" sz="2000" dirty="0"/>
              <a:t> on </a:t>
            </a:r>
            <a:r>
              <a:rPr lang="en-US" sz="2000" b="1" dirty="0">
                <a:solidFill>
                  <a:schemeClr val="accent1"/>
                </a:solidFill>
              </a:rPr>
              <a:t>rising edge</a:t>
            </a:r>
            <a:r>
              <a:rPr lang="en-US" sz="2000" dirty="0"/>
              <a:t> of </a:t>
            </a:r>
            <a:r>
              <a:rPr lang="en-US" sz="2000" i="1" dirty="0"/>
              <a:t>CLK</a:t>
            </a:r>
          </a:p>
          <a:p>
            <a:pPr lvl="2"/>
            <a:r>
              <a:rPr lang="en-US" sz="1600" dirty="0"/>
              <a:t>When </a:t>
            </a:r>
            <a:r>
              <a:rPr lang="en-US" sz="1600" i="1" dirty="0"/>
              <a:t>CLK</a:t>
            </a:r>
            <a:r>
              <a:rPr lang="en-US" sz="1600" dirty="0"/>
              <a:t> rises from 0 to 1, </a:t>
            </a:r>
            <a:r>
              <a:rPr lang="en-US" sz="1600" i="1" dirty="0"/>
              <a:t>D</a:t>
            </a:r>
            <a:r>
              <a:rPr lang="en-US" sz="1600" dirty="0"/>
              <a:t> passes through to </a:t>
            </a:r>
            <a:r>
              <a:rPr lang="en-US" sz="1600" i="1" dirty="0"/>
              <a:t>Q</a:t>
            </a:r>
          </a:p>
          <a:p>
            <a:pPr lvl="2"/>
            <a:r>
              <a:rPr lang="en-US" sz="1600" dirty="0"/>
              <a:t>Otherwise, </a:t>
            </a:r>
            <a:r>
              <a:rPr lang="en-US" sz="1600" i="1" dirty="0"/>
              <a:t>Q</a:t>
            </a:r>
            <a:r>
              <a:rPr lang="en-US" sz="1600" dirty="0"/>
              <a:t> holds its previous value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</a:rPr>
              <a:t>Q</a:t>
            </a:r>
            <a:r>
              <a:rPr lang="en-US" b="1" dirty="0">
                <a:solidFill>
                  <a:schemeClr val="accent1"/>
                </a:solidFill>
              </a:rPr>
              <a:t> changes only on rising edge of </a:t>
            </a:r>
            <a:r>
              <a:rPr lang="en-US" b="1" i="1" dirty="0">
                <a:solidFill>
                  <a:schemeClr val="accent1"/>
                </a:solidFill>
              </a:rPr>
              <a:t>CLK</a:t>
            </a:r>
          </a:p>
          <a:p>
            <a:r>
              <a:rPr lang="en-US" sz="2400" dirty="0"/>
              <a:t>Called </a:t>
            </a:r>
            <a:r>
              <a:rPr lang="en-US" sz="2400" b="1" dirty="0">
                <a:solidFill>
                  <a:schemeClr val="accent1"/>
                </a:solidFill>
              </a:rPr>
              <a:t>edge-triggered</a:t>
            </a:r>
            <a:r>
              <a:rPr lang="en-US" sz="2400" dirty="0"/>
              <a:t>.</a:t>
            </a:r>
          </a:p>
          <a:p>
            <a:r>
              <a:rPr lang="en-US" sz="2400" dirty="0"/>
              <a:t>Activated on the clock edge.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34080110"/>
              </p:ext>
            </p:extLst>
          </p:nvPr>
        </p:nvGraphicFramePr>
        <p:xfrm>
          <a:off x="5779564" y="1111055"/>
          <a:ext cx="1990404" cy="189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name="VISIO" r:id="rId4" imgW="963360" imgH="914400" progId="Visio.Drawing.6">
                  <p:embed/>
                </p:oleObj>
              </mc:Choice>
              <mc:Fallback>
                <p:oleObj name="VISIO" r:id="rId4" imgW="963360" imgH="914400" progId="Visio.Drawing.6">
                  <p:embed/>
                  <p:pic>
                    <p:nvPicPr>
                      <p:cNvPr id="7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9564" y="1111055"/>
                        <a:ext cx="1990404" cy="189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C95B74-6414-4859-AA97-A3078CDB1B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09618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068" y="108349"/>
            <a:ext cx="7660622" cy="519113"/>
          </a:xfrm>
        </p:spPr>
        <p:txBody>
          <a:bodyPr/>
          <a:lstStyle/>
          <a:p>
            <a:r>
              <a:rPr lang="en-US" sz="3200" dirty="0"/>
              <a:t>Latch and Flip-Flop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2181" y="791099"/>
            <a:ext cx="2914650" cy="3548878"/>
          </a:xfrm>
        </p:spPr>
        <p:txBody>
          <a:bodyPr>
            <a:normAutofit/>
          </a:bodyPr>
          <a:lstStyle/>
          <a:p>
            <a:r>
              <a:rPr lang="en-US" sz="2000" dirty="0"/>
              <a:t>Latch is level-sensitive.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half" idx="2"/>
          </p:nvPr>
        </p:nvSpPr>
        <p:spPr>
          <a:xfrm>
            <a:off x="4614862" y="857342"/>
            <a:ext cx="3446957" cy="3548878"/>
          </a:xfrm>
        </p:spPr>
        <p:txBody>
          <a:bodyPr>
            <a:normAutofit/>
          </a:bodyPr>
          <a:lstStyle/>
          <a:p>
            <a:r>
              <a:rPr lang="en-US" sz="2000" dirty="0"/>
              <a:t>Flip-flop is edge-triggered.</a:t>
            </a:r>
          </a:p>
          <a:p>
            <a:endParaRPr lang="en-US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798" y="1217444"/>
            <a:ext cx="1668780" cy="12287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139" y="1151721"/>
            <a:ext cx="1055138" cy="129444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708" y="2565538"/>
            <a:ext cx="4680585" cy="1971675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A8AD7D-DDA5-405A-89A4-87F71AAB3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5473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123" y="108349"/>
            <a:ext cx="7702567" cy="519113"/>
          </a:xfrm>
        </p:spPr>
        <p:txBody>
          <a:bodyPr/>
          <a:lstStyle/>
          <a:p>
            <a:r>
              <a:rPr lang="en-US" sz="3200" dirty="0"/>
              <a:t>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123" y="844153"/>
            <a:ext cx="7189366" cy="3671888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>
                <a:solidFill>
                  <a:schemeClr val="accent1"/>
                </a:solidFill>
              </a:rPr>
              <a:t>register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is a simple memory device that is composed of </a:t>
            </a:r>
            <a:r>
              <a:rPr lang="en-US" sz="2400" b="1" dirty="0">
                <a:solidFill>
                  <a:schemeClr val="accent1"/>
                </a:solidFill>
              </a:rPr>
              <a:t>a series of flip-flops </a:t>
            </a:r>
            <a:r>
              <a:rPr lang="en-US" sz="2400" dirty="0"/>
              <a:t>wired together so that they share a common clock pulse. </a:t>
            </a:r>
          </a:p>
          <a:p>
            <a:r>
              <a:rPr lang="en-US" sz="2400" dirty="0"/>
              <a:t>Registers come in various sizes and types. </a:t>
            </a:r>
          </a:p>
          <a:p>
            <a:r>
              <a:rPr lang="en-US" sz="2400" dirty="0"/>
              <a:t>The size of a register is closely tied to the structure of the microprocessor, e.g. 8-bit registers for microprocessor architecture with 8-bit wide data.</a:t>
            </a:r>
          </a:p>
          <a:p>
            <a:endParaRPr 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C51449-E3BA-4575-B384-43A811A421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90927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235" y="108349"/>
            <a:ext cx="7635455" cy="519113"/>
          </a:xfrm>
        </p:spPr>
        <p:txBody>
          <a:bodyPr/>
          <a:lstStyle/>
          <a:p>
            <a:r>
              <a:rPr lang="en-US" sz="3200" dirty="0"/>
              <a:t>4-Bit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235" y="931593"/>
            <a:ext cx="3095537" cy="3665574"/>
          </a:xfrm>
        </p:spPr>
        <p:txBody>
          <a:bodyPr>
            <a:noAutofit/>
          </a:bodyPr>
          <a:lstStyle/>
          <a:p>
            <a:r>
              <a:rPr lang="en-US" sz="2000" dirty="0"/>
              <a:t>A simple 4-bit register can be made with 4 D-FF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Common Clock</a:t>
            </a:r>
          </a:p>
          <a:p>
            <a:pPr lvl="1"/>
            <a:r>
              <a:rPr lang="en-US" sz="1600" dirty="0"/>
              <a:t>At each </a:t>
            </a:r>
            <a:r>
              <a:rPr lang="en-US" sz="1600" b="1" dirty="0">
                <a:solidFill>
                  <a:schemeClr val="accent1"/>
                </a:solidFill>
              </a:rPr>
              <a:t>positive-edge</a:t>
            </a:r>
            <a:r>
              <a:rPr lang="en-US" sz="1600" dirty="0"/>
              <a:t>, 4 bits are loaded in parallel</a:t>
            </a:r>
          </a:p>
          <a:p>
            <a:pPr lvl="1"/>
            <a:r>
              <a:rPr lang="en-US" sz="1600" dirty="0"/>
              <a:t>Previous data is overwritten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Common Clear</a:t>
            </a:r>
          </a:p>
          <a:p>
            <a:pPr lvl="1"/>
            <a:r>
              <a:rPr lang="en-US" sz="1600" b="1" dirty="0">
                <a:solidFill>
                  <a:schemeClr val="accent1"/>
                </a:solidFill>
              </a:rPr>
              <a:t>Asynchronous clear</a:t>
            </a:r>
          </a:p>
          <a:p>
            <a:pPr lvl="1"/>
            <a:r>
              <a:rPr lang="en-US" sz="1600" dirty="0"/>
              <a:t>When Clear = 0, all FFs are cleared; i.e. 0 is stored.</a:t>
            </a:r>
          </a:p>
        </p:txBody>
      </p:sp>
      <p:pic>
        <p:nvPicPr>
          <p:cNvPr id="7" name="Picture 4" descr="p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645" y="931592"/>
            <a:ext cx="3402784" cy="3586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598C65-AD7D-4543-888E-EFE91DC00D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07500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344" y="108349"/>
            <a:ext cx="7719346" cy="519113"/>
          </a:xfrm>
        </p:spPr>
        <p:txBody>
          <a:bodyPr/>
          <a:lstStyle/>
          <a:p>
            <a:r>
              <a:rPr lang="en-US" sz="3200" dirty="0"/>
              <a:t>Shift 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345" y="844153"/>
            <a:ext cx="6887362" cy="3671888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Serial-in, serial-out</a:t>
            </a:r>
            <a:r>
              <a:rPr lang="en-US" sz="1800" dirty="0"/>
              <a:t>: A register which can shift its stored bits laterally in one or both directions is called a shift registers.</a:t>
            </a:r>
          </a:p>
          <a:p>
            <a:r>
              <a:rPr lang="en-US" sz="1800" dirty="0"/>
              <a:t>Common Clock</a:t>
            </a:r>
          </a:p>
          <a:p>
            <a:pPr lvl="1"/>
            <a:r>
              <a:rPr lang="en-US" sz="1600" dirty="0"/>
              <a:t>At each positive-edge, 4 bits are loaded in parallel</a:t>
            </a:r>
          </a:p>
          <a:p>
            <a:pPr lvl="1"/>
            <a:r>
              <a:rPr lang="en-US" sz="1600" dirty="0"/>
              <a:t>Previous data is overwritten</a:t>
            </a:r>
          </a:p>
          <a:p>
            <a:r>
              <a:rPr lang="en-US" sz="1800" dirty="0"/>
              <a:t>Which direction is this registering shifting?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7" name="Picture 4" descr="p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386" y="2744096"/>
            <a:ext cx="3159261" cy="1838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B9DF1C-A1FA-4824-9832-BA7CBCDB06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77679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>
            <a:noAutofit/>
          </a:bodyPr>
          <a:lstStyle/>
          <a:p>
            <a:r>
              <a:rPr lang="en-US" sz="3000" dirty="0"/>
              <a:t>Bidirectional Shift Register with Parallel Load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49" y="884552"/>
            <a:ext cx="5827506" cy="351966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276" y="1786855"/>
            <a:ext cx="3175001" cy="11616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D03E5A6-BDAC-4682-BCDC-98BD0EB6A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21704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2476</TotalTime>
  <Words>1948</Words>
  <Application>Microsoft Office PowerPoint</Application>
  <PresentationFormat>全屏显示(16:9)</PresentationFormat>
  <Paragraphs>576</Paragraphs>
  <Slides>49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49</vt:i4>
      </vt:variant>
    </vt:vector>
  </HeadingPairs>
  <TitlesOfParts>
    <vt:vector size="59" baseType="lpstr">
      <vt:lpstr>MS Sans Serif</vt:lpstr>
      <vt:lpstr>Arial</vt:lpstr>
      <vt:lpstr>Calibri</vt:lpstr>
      <vt:lpstr>Tahoma</vt:lpstr>
      <vt:lpstr>Times New Roman</vt:lpstr>
      <vt:lpstr>Wingdings</vt:lpstr>
      <vt:lpstr>NTHU UniCloud</vt:lpstr>
      <vt:lpstr>Equation</vt:lpstr>
      <vt:lpstr>VISIO</vt:lpstr>
      <vt:lpstr>Artwork</vt:lpstr>
      <vt:lpstr>CSC3050 – Computer Architecture</vt:lpstr>
      <vt:lpstr>Review: Major Components of a Computer</vt:lpstr>
      <vt:lpstr>Review: Instruction Set Architecture (ISA)</vt:lpstr>
      <vt:lpstr>Analog vs. Digital</vt:lpstr>
      <vt:lpstr>Radix or Base</vt:lpstr>
      <vt:lpstr>Decimal, Binary, Octal and Hexadecimal</vt:lpstr>
      <vt:lpstr>Number Systems</vt:lpstr>
      <vt:lpstr>Powers of Two</vt:lpstr>
      <vt:lpstr>Decimal vs Binary Numbers</vt:lpstr>
      <vt:lpstr>Hexadecimal Numbers</vt:lpstr>
      <vt:lpstr>Exercise L02-1</vt:lpstr>
      <vt:lpstr>Unsigned and Signed Numbers</vt:lpstr>
      <vt:lpstr>Exercise L02-2</vt:lpstr>
      <vt:lpstr>Digital Circuits</vt:lpstr>
      <vt:lpstr>Digital Signal Representation</vt:lpstr>
      <vt:lpstr>Logic Levels</vt:lpstr>
      <vt:lpstr>Logic Gates</vt:lpstr>
      <vt:lpstr>Exercise L02-3</vt:lpstr>
      <vt:lpstr>Truth Table</vt:lpstr>
      <vt:lpstr>Exercise L02-4</vt:lpstr>
      <vt:lpstr>Combinational Circuits</vt:lpstr>
      <vt:lpstr>Design Procedure of Combinational Circuits</vt:lpstr>
      <vt:lpstr>Exercise L02-5</vt:lpstr>
      <vt:lpstr>Propagation Delay</vt:lpstr>
      <vt:lpstr>Timing Diagram</vt:lpstr>
      <vt:lpstr>Fan-in</vt:lpstr>
      <vt:lpstr>Fan-out</vt:lpstr>
      <vt:lpstr>Buffers</vt:lpstr>
      <vt:lpstr>Decoders (1)</vt:lpstr>
      <vt:lpstr>Decoders (2)</vt:lpstr>
      <vt:lpstr>Decoders (3)</vt:lpstr>
      <vt:lpstr>Decoder Applications</vt:lpstr>
      <vt:lpstr>Decoders as Binary Adder</vt:lpstr>
      <vt:lpstr>Multiplexers</vt:lpstr>
      <vt:lpstr>Sequential Circuits</vt:lpstr>
      <vt:lpstr>Bistable Circuit</vt:lpstr>
      <vt:lpstr>SR (Set/Reset) Latch</vt:lpstr>
      <vt:lpstr>SR Latch Analysis（1）</vt:lpstr>
      <vt:lpstr>SR Latch Analysis （2）</vt:lpstr>
      <vt:lpstr>SR Latch Symbol</vt:lpstr>
      <vt:lpstr>Gated D Latch </vt:lpstr>
      <vt:lpstr>Gated D Latch Internal Circuit</vt:lpstr>
      <vt:lpstr>Master-Slave D Flip-Flop</vt:lpstr>
      <vt:lpstr>Edge-Triggered D Flip-Flop</vt:lpstr>
      <vt:lpstr>Latch and Flip-Flop</vt:lpstr>
      <vt:lpstr>Registers</vt:lpstr>
      <vt:lpstr>4-Bit Register</vt:lpstr>
      <vt:lpstr>Shift Registers</vt:lpstr>
      <vt:lpstr>Bidirectional Shift Register with Parallel Load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252</cp:revision>
  <dcterms:created xsi:type="dcterms:W3CDTF">2015-06-05T07:23:35Z</dcterms:created>
  <dcterms:modified xsi:type="dcterms:W3CDTF">2019-01-20T02:36:34Z</dcterms:modified>
</cp:coreProperties>
</file>