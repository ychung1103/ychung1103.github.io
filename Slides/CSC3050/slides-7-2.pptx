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525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2019/4/21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2019/4/21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914399"/>
            <a:ext cx="7714211" cy="36016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Static RAM (SRAM)</a:t>
            </a:r>
          </a:p>
          <a:p>
            <a:pPr lvl="1"/>
            <a:r>
              <a:rPr lang="en-US" dirty="0"/>
              <a:t>0.5ns – 2.5ns, $500 – $1000 per GB (2012)</a:t>
            </a:r>
          </a:p>
          <a:p>
            <a:r>
              <a:rPr lang="en-US" dirty="0"/>
              <a:t>Dynamic RAM (DRAM)</a:t>
            </a:r>
          </a:p>
          <a:p>
            <a:pPr lvl="1"/>
            <a:r>
              <a:rPr lang="en-US" dirty="0"/>
              <a:t>50ns – 70ns, $10 – $20 per GB (2012)</a:t>
            </a:r>
          </a:p>
          <a:p>
            <a:r>
              <a:rPr lang="en-US" dirty="0"/>
              <a:t>Flash Memory</a:t>
            </a:r>
          </a:p>
          <a:p>
            <a:pPr lvl="1"/>
            <a:r>
              <a:rPr lang="en-US" dirty="0"/>
              <a:t>5µs – 50µs, $0.75 – $1.00 per GB (2012)</a:t>
            </a:r>
          </a:p>
          <a:p>
            <a:r>
              <a:rPr lang="en-US" dirty="0"/>
              <a:t>Magnetic disk</a:t>
            </a:r>
          </a:p>
          <a:p>
            <a:pPr lvl="1"/>
            <a:r>
              <a:rPr lang="en-US" dirty="0"/>
              <a:t>5ms – 20ms, $0.05 – $0.10 per GB (2012)</a:t>
            </a:r>
          </a:p>
          <a:p>
            <a:r>
              <a:rPr lang="en-US" dirty="0"/>
              <a:t>Ideal memory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Access time of SRAM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Capacity and cost/GB of disk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992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SRAM vs. DRAM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473" y="984417"/>
            <a:ext cx="2913032" cy="266769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43A735-5262-48BD-984F-837F7AF8C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51" y="1052797"/>
            <a:ext cx="4530674" cy="26269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C88069-5502-4112-906A-FA2C70D316DB}"/>
              </a:ext>
            </a:extLst>
          </p:cNvPr>
          <p:cNvSpPr txBox="1"/>
          <p:nvPr/>
        </p:nvSpPr>
        <p:spPr>
          <a:xfrm>
            <a:off x="6319684" y="3974379"/>
            <a:ext cx="1607574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DRAM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0942361-BCD6-424C-B09F-F10CE9BD432C}"/>
              </a:ext>
            </a:extLst>
          </p:cNvPr>
          <p:cNvSpPr txBox="1"/>
          <p:nvPr/>
        </p:nvSpPr>
        <p:spPr>
          <a:xfrm>
            <a:off x="1929581" y="3949798"/>
            <a:ext cx="1607574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SRAM</a:t>
            </a:r>
          </a:p>
        </p:txBody>
      </p:sp>
    </p:spTree>
    <p:extLst>
      <p:ext uri="{BB962C8B-B14F-4D97-AF65-F5344CB8AC3E}">
        <p14:creationId xmlns:p14="http://schemas.microsoft.com/office/powerpoint/2010/main" val="3486286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Typical Memory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7968" y="844153"/>
            <a:ext cx="7315200" cy="947776"/>
          </a:xfrm>
        </p:spPr>
        <p:txBody>
          <a:bodyPr>
            <a:normAutofit/>
          </a:bodyPr>
          <a:lstStyle/>
          <a:p>
            <a:r>
              <a:rPr lang="en-US" sz="1800" dirty="0"/>
              <a:t>Take advantage of the </a:t>
            </a:r>
            <a:r>
              <a:rPr lang="en-US" sz="1800" dirty="0">
                <a:solidFill>
                  <a:srgbClr val="FF0000"/>
                </a:solidFill>
              </a:rPr>
              <a:t>principle of locality </a:t>
            </a:r>
            <a:r>
              <a:rPr lang="en-US" sz="1800" dirty="0"/>
              <a:t>to present the user with as much memory as is available in the </a:t>
            </a:r>
            <a:r>
              <a:rPr lang="en-US" sz="1800" dirty="0">
                <a:solidFill>
                  <a:srgbClr val="FF0000"/>
                </a:solidFill>
              </a:rPr>
              <a:t>cheapest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technology at the speed offered by the </a:t>
            </a:r>
            <a:r>
              <a:rPr lang="en-US" sz="1800" dirty="0">
                <a:solidFill>
                  <a:srgbClr val="FF0000"/>
                </a:solidFill>
              </a:rPr>
              <a:t>fastest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technology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573" y="1896967"/>
            <a:ext cx="4549414" cy="268415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723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 of Locality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9" y="844153"/>
            <a:ext cx="7372342" cy="3671888"/>
          </a:xfrm>
        </p:spPr>
        <p:txBody>
          <a:bodyPr>
            <a:normAutofit/>
          </a:bodyPr>
          <a:lstStyle/>
          <a:p>
            <a:r>
              <a:rPr lang="en-US" dirty="0"/>
              <a:t>Programs access a small proportion of their address space at any time</a:t>
            </a:r>
          </a:p>
          <a:p>
            <a:r>
              <a:rPr lang="en-US" dirty="0">
                <a:solidFill>
                  <a:srgbClr val="FF0000"/>
                </a:solidFill>
              </a:rPr>
              <a:t>Temporal locality</a:t>
            </a:r>
          </a:p>
          <a:p>
            <a:pPr lvl="1"/>
            <a:r>
              <a:rPr lang="en-US" dirty="0"/>
              <a:t>Items accessed </a:t>
            </a:r>
            <a:r>
              <a:rPr lang="en-US" dirty="0">
                <a:solidFill>
                  <a:srgbClr val="FF0000"/>
                </a:solidFill>
              </a:rPr>
              <a:t>recently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are likely to be accessed again soon</a:t>
            </a:r>
          </a:p>
          <a:p>
            <a:pPr lvl="1"/>
            <a:r>
              <a:rPr lang="en-US" dirty="0"/>
              <a:t>e.g., instructions in a loop, induction variables</a:t>
            </a:r>
          </a:p>
          <a:p>
            <a:r>
              <a:rPr lang="en-US" dirty="0">
                <a:solidFill>
                  <a:srgbClr val="FF0000"/>
                </a:solidFill>
              </a:rPr>
              <a:t>Spatial locality</a:t>
            </a:r>
          </a:p>
          <a:p>
            <a:pPr lvl="1"/>
            <a:r>
              <a:rPr lang="en-US" dirty="0"/>
              <a:t>Items </a:t>
            </a:r>
            <a:r>
              <a:rPr lang="en-US" dirty="0">
                <a:solidFill>
                  <a:srgbClr val="FF0000"/>
                </a:solidFill>
              </a:rPr>
              <a:t>near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those accessed recently are likely to be accessed soon</a:t>
            </a:r>
          </a:p>
          <a:p>
            <a:pPr lvl="1"/>
            <a:r>
              <a:rPr lang="en-US" dirty="0"/>
              <a:t>e.g., sequential instruction access, array data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1631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Advantage of Locality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Memory hierarchy</a:t>
            </a:r>
          </a:p>
          <a:p>
            <a:r>
              <a:rPr lang="en-US" dirty="0"/>
              <a:t>Store everything on </a:t>
            </a:r>
            <a:r>
              <a:rPr lang="en-US" dirty="0">
                <a:solidFill>
                  <a:srgbClr val="FF0000"/>
                </a:solidFill>
              </a:rPr>
              <a:t>disk</a:t>
            </a:r>
          </a:p>
          <a:p>
            <a:r>
              <a:rPr lang="en-US" dirty="0"/>
              <a:t>Copy recently accessed (and nearby) items from disk to smaller DRAM memory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Main memory</a:t>
            </a:r>
          </a:p>
          <a:p>
            <a:r>
              <a:rPr lang="en-US" dirty="0"/>
              <a:t>Copy more recently accessed (and nearby) items from DRAM to smaller SRAM memory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Cache memory </a:t>
            </a:r>
            <a:r>
              <a:rPr lang="en-US" dirty="0"/>
              <a:t>attached to CPU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320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Hierarchy Levels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9" y="816764"/>
            <a:ext cx="5245442" cy="3776479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Block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(aka </a:t>
            </a:r>
            <a:r>
              <a:rPr lang="en-US" sz="2000" dirty="0">
                <a:solidFill>
                  <a:srgbClr val="FF0000"/>
                </a:solidFill>
              </a:rPr>
              <a:t>line</a:t>
            </a:r>
            <a:r>
              <a:rPr lang="en-US" sz="2000" dirty="0"/>
              <a:t>): unit of copying</a:t>
            </a:r>
          </a:p>
          <a:p>
            <a:pPr lvl="1"/>
            <a:r>
              <a:rPr lang="en-US" sz="1600" dirty="0"/>
              <a:t>May be multiple words</a:t>
            </a:r>
          </a:p>
          <a:p>
            <a:r>
              <a:rPr lang="en-US" sz="2000" dirty="0"/>
              <a:t>If accessed data is present in upper level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Hit</a:t>
            </a:r>
            <a:r>
              <a:rPr lang="en-US" sz="1600" dirty="0"/>
              <a:t>: access satisfied by upper level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Hit ratio</a:t>
            </a:r>
            <a:r>
              <a:rPr lang="en-US" sz="1600" dirty="0"/>
              <a:t>: hits/accesses</a:t>
            </a:r>
          </a:p>
          <a:p>
            <a:r>
              <a:rPr lang="en-US" sz="2000" dirty="0"/>
              <a:t>If accessed data is absent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Miss</a:t>
            </a:r>
            <a:r>
              <a:rPr lang="en-US" sz="1600" dirty="0"/>
              <a:t>: block copied from lower level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Miss penalty</a:t>
            </a:r>
            <a:r>
              <a:rPr lang="en-US" sz="1600" dirty="0"/>
              <a:t>: extra time taken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Miss ratio</a:t>
            </a:r>
            <a:r>
              <a:rPr lang="en-US" sz="1600" dirty="0"/>
              <a:t>: misses/accesses = (1 – hit ratio)</a:t>
            </a:r>
          </a:p>
          <a:p>
            <a:r>
              <a:rPr lang="en-US" sz="2000" dirty="0"/>
              <a:t>Then accessed data supplied from upper level</a:t>
            </a:r>
          </a:p>
          <a:p>
            <a:r>
              <a:rPr lang="en-US" sz="2000" dirty="0">
                <a:solidFill>
                  <a:srgbClr val="FF0000"/>
                </a:solidFill>
              </a:rPr>
              <a:t>Hit time &lt;&lt; Miss penalty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818" y="1211960"/>
            <a:ext cx="2464795" cy="280485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1682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Memory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475" y="844153"/>
            <a:ext cx="6917636" cy="1119819"/>
          </a:xfrm>
        </p:spPr>
        <p:txBody>
          <a:bodyPr>
            <a:noAutofit/>
          </a:bodyPr>
          <a:lstStyle/>
          <a:p>
            <a:r>
              <a:rPr lang="en-US" sz="2000" dirty="0"/>
              <a:t>The level of the memory hierarchy closest to the CPU</a:t>
            </a:r>
          </a:p>
          <a:p>
            <a:r>
              <a:rPr lang="en-US" sz="2000" dirty="0"/>
              <a:t>Given accesses X</a:t>
            </a:r>
            <a:r>
              <a:rPr lang="en-US" sz="2000" baseline="-25000" dirty="0"/>
              <a:t>1</a:t>
            </a:r>
            <a:r>
              <a:rPr lang="en-US" sz="2000" dirty="0"/>
              <a:t>, …, </a:t>
            </a:r>
            <a:r>
              <a:rPr lang="en-US" sz="2000" dirty="0" err="1"/>
              <a:t>X</a:t>
            </a:r>
            <a:r>
              <a:rPr lang="en-US" sz="2000" i="1" baseline="-25000" dirty="0" err="1"/>
              <a:t>n</a:t>
            </a:r>
            <a:r>
              <a:rPr lang="en-US" sz="2000" baseline="-25000" dirty="0"/>
              <a:t>–1</a:t>
            </a:r>
            <a:r>
              <a:rPr lang="en-US" sz="2000" dirty="0"/>
              <a:t>, </a:t>
            </a:r>
            <a:r>
              <a:rPr lang="en-US" sz="2000" dirty="0" err="1"/>
              <a:t>X</a:t>
            </a:r>
            <a:r>
              <a:rPr lang="en-US" sz="2000" i="1" baseline="-25000" dirty="0" err="1"/>
              <a:t>n</a:t>
            </a:r>
            <a:endParaRPr lang="en-US" sz="2000" i="1" baseline="-25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724" y="1804243"/>
            <a:ext cx="3784332" cy="27877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9078" y="2937662"/>
            <a:ext cx="38166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How do we know if the data is present?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Where do we look?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13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Mapped Cache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844153"/>
            <a:ext cx="6408751" cy="1080063"/>
          </a:xfrm>
        </p:spPr>
        <p:txBody>
          <a:bodyPr>
            <a:noAutofit/>
          </a:bodyPr>
          <a:lstStyle/>
          <a:p>
            <a:r>
              <a:rPr lang="en-US" sz="2000" dirty="0"/>
              <a:t>Location determined by address</a:t>
            </a:r>
          </a:p>
          <a:p>
            <a:r>
              <a:rPr lang="en-US" sz="2000" dirty="0"/>
              <a:t>Direct mapped: only one choice</a:t>
            </a:r>
          </a:p>
          <a:p>
            <a:pPr lvl="1"/>
            <a:r>
              <a:rPr lang="en-US" sz="1600" dirty="0"/>
              <a:t>(Block address) modulo (#Blocks in cache)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010" y="2019357"/>
            <a:ext cx="6000285" cy="256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50293" y="2368340"/>
            <a:ext cx="26962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#Blocks is a power of 2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500" dirty="0"/>
              <a:t>Use low-order address bits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004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 and Valid Bits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101041"/>
          </a:xfrm>
        </p:spPr>
        <p:txBody>
          <a:bodyPr>
            <a:normAutofit/>
          </a:bodyPr>
          <a:lstStyle/>
          <a:p>
            <a:r>
              <a:rPr lang="en-US" dirty="0"/>
              <a:t>How do we know which particular block is stored in a cache location?</a:t>
            </a:r>
          </a:p>
          <a:p>
            <a:pPr lvl="1"/>
            <a:r>
              <a:rPr lang="en-US" dirty="0"/>
              <a:t>Store block address as well as the data</a:t>
            </a:r>
          </a:p>
          <a:p>
            <a:pPr lvl="1"/>
            <a:r>
              <a:rPr lang="en-US" dirty="0"/>
              <a:t>Actually, only need the </a:t>
            </a:r>
            <a:r>
              <a:rPr lang="en-US" dirty="0">
                <a:solidFill>
                  <a:srgbClr val="FF0000"/>
                </a:solidFill>
              </a:rPr>
              <a:t>high-order bits</a:t>
            </a:r>
          </a:p>
          <a:p>
            <a:pPr lvl="1"/>
            <a:r>
              <a:rPr lang="en-US" dirty="0"/>
              <a:t>Called the </a:t>
            </a:r>
            <a:r>
              <a:rPr lang="en-US" dirty="0">
                <a:solidFill>
                  <a:srgbClr val="FF0000"/>
                </a:solidFill>
              </a:rPr>
              <a:t>tag</a:t>
            </a:r>
          </a:p>
          <a:p>
            <a:r>
              <a:rPr lang="en-US" dirty="0"/>
              <a:t>What if there is no data in a location?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Valid bit</a:t>
            </a:r>
            <a:r>
              <a:rPr lang="en-US" dirty="0"/>
              <a:t>: 1 = present, 0 = not present</a:t>
            </a:r>
          </a:p>
          <a:p>
            <a:pPr lvl="1"/>
            <a:r>
              <a:rPr lang="en-US" dirty="0"/>
              <a:t>Initially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7215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Example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844153"/>
            <a:ext cx="7589520" cy="968744"/>
          </a:xfrm>
        </p:spPr>
        <p:txBody>
          <a:bodyPr/>
          <a:lstStyle/>
          <a:p>
            <a:r>
              <a:rPr lang="en-US" sz="2000" dirty="0"/>
              <a:t>8-blocks, 1 word/block, direct mapped</a:t>
            </a:r>
          </a:p>
          <a:p>
            <a:r>
              <a:rPr lang="en-US" sz="2000" dirty="0"/>
              <a:t>Initial state of cache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90540"/>
              </p:ext>
            </p:extLst>
          </p:nvPr>
        </p:nvGraphicFramePr>
        <p:xfrm>
          <a:off x="2098525" y="1877699"/>
          <a:ext cx="5265000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Index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Tag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84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Example (2)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133388"/>
              </p:ext>
            </p:extLst>
          </p:nvPr>
        </p:nvGraphicFramePr>
        <p:xfrm>
          <a:off x="1939500" y="1882430"/>
          <a:ext cx="5265000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Index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Tag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Memory[10110</a:t>
                      </a:r>
                      <a:r>
                        <a:rPr lang="en-US" sz="1200" b="1" baseline="-250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18371"/>
              </p:ext>
            </p:extLst>
          </p:nvPr>
        </p:nvGraphicFramePr>
        <p:xfrm>
          <a:off x="1940985" y="942637"/>
          <a:ext cx="5263515" cy="55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Address (decimal)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Address</a:t>
                      </a:r>
                      <a:r>
                        <a:rPr lang="en-US" sz="1200" baseline="0" dirty="0"/>
                        <a:t> (binary)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Hit/miss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Cache block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r>
                        <a:rPr lang="en-US" sz="1200" baseline="0" dirty="0"/>
                        <a:t> 110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019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Example (3)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49438"/>
              </p:ext>
            </p:extLst>
          </p:nvPr>
        </p:nvGraphicFramePr>
        <p:xfrm>
          <a:off x="1957754" y="2009651"/>
          <a:ext cx="5265000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Index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Tag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Memory[11010</a:t>
                      </a:r>
                      <a:r>
                        <a:rPr lang="en-US" sz="1200" b="1" baseline="-250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Memory[10110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541093"/>
              </p:ext>
            </p:extLst>
          </p:nvPr>
        </p:nvGraphicFramePr>
        <p:xfrm>
          <a:off x="1940985" y="942637"/>
          <a:ext cx="5263515" cy="55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Address (decimal)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Address</a:t>
                      </a:r>
                      <a:r>
                        <a:rPr lang="en-US" sz="1200" baseline="0" dirty="0"/>
                        <a:t> (binary)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Hit/miss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Cache block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  <a:r>
                        <a:rPr lang="en-US" sz="1200" baseline="0" dirty="0"/>
                        <a:t> 010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4133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Example (4)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86912"/>
              </p:ext>
            </p:extLst>
          </p:nvPr>
        </p:nvGraphicFramePr>
        <p:xfrm>
          <a:off x="1940985" y="1993749"/>
          <a:ext cx="5265000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Index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Tag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Memory[11010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Memory[10110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69318"/>
              </p:ext>
            </p:extLst>
          </p:nvPr>
        </p:nvGraphicFramePr>
        <p:xfrm>
          <a:off x="1940985" y="942637"/>
          <a:ext cx="5263515" cy="834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Address (decimal)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Address</a:t>
                      </a:r>
                      <a:r>
                        <a:rPr lang="en-US" sz="1200" baseline="0" dirty="0"/>
                        <a:t> (binary)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Hit/miss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Cache block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r>
                        <a:rPr lang="en-US" sz="1200" baseline="0" dirty="0"/>
                        <a:t> 110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</a:t>
                      </a:r>
                      <a:r>
                        <a:rPr lang="en-US" sz="1200" baseline="0" dirty="0"/>
                        <a:t> 010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511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Example (5)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838103"/>
              </p:ext>
            </p:extLst>
          </p:nvPr>
        </p:nvGraphicFramePr>
        <p:xfrm>
          <a:off x="1939500" y="2097121"/>
          <a:ext cx="5265000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Index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Tag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Memory[10000</a:t>
                      </a:r>
                      <a:r>
                        <a:rPr lang="en-US" sz="1200" b="1" baseline="-250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Memory[11010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Memory[00011</a:t>
                      </a:r>
                      <a:r>
                        <a:rPr lang="en-US" sz="1200" b="1" baseline="-25000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Memory[10110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04878"/>
              </p:ext>
            </p:extLst>
          </p:nvPr>
        </p:nvGraphicFramePr>
        <p:xfrm>
          <a:off x="1940985" y="807469"/>
          <a:ext cx="526351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Address (decimal)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Address</a:t>
                      </a:r>
                      <a:r>
                        <a:rPr lang="en-US" sz="1200" baseline="0" dirty="0"/>
                        <a:t> (binary)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Hit/miss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Cache block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10 000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00 011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</a:t>
                      </a:r>
                      <a:r>
                        <a:rPr lang="en-US" sz="1200" baseline="0" dirty="0"/>
                        <a:t> 000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323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Example (6)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124864"/>
              </p:ext>
            </p:extLst>
          </p:nvPr>
        </p:nvGraphicFramePr>
        <p:xfrm>
          <a:off x="1939500" y="2073264"/>
          <a:ext cx="5265000" cy="250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Index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Tag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Memory[10000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Memory[10010</a:t>
                      </a:r>
                      <a:r>
                        <a:rPr lang="en-US" sz="1200" b="1" baseline="-250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Memory[00011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Memory[10110</a:t>
                      </a:r>
                      <a:r>
                        <a:rPr lang="en-US" sz="1200" b="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]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4755428"/>
              </p:ext>
            </p:extLst>
          </p:nvPr>
        </p:nvGraphicFramePr>
        <p:xfrm>
          <a:off x="1940985" y="942637"/>
          <a:ext cx="5263515" cy="556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baseline="0" dirty="0"/>
                        <a:t>Address (decimal)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Address</a:t>
                      </a:r>
                      <a:r>
                        <a:rPr lang="en-US" sz="1200" baseline="0" dirty="0"/>
                        <a:t> (binary)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Hit/miss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Cache block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10 010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Miss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2058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Subdivision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41" y="800661"/>
            <a:ext cx="3808812" cy="3784645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132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Larger Block Size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844153"/>
            <a:ext cx="7589519" cy="2149770"/>
          </a:xfrm>
        </p:spPr>
        <p:txBody>
          <a:bodyPr/>
          <a:lstStyle/>
          <a:p>
            <a:r>
              <a:rPr lang="en-US" dirty="0"/>
              <a:t>64 blocks, 16 bytes/block</a:t>
            </a:r>
          </a:p>
          <a:p>
            <a:pPr lvl="1"/>
            <a:r>
              <a:rPr lang="en-US" dirty="0"/>
              <a:t>To what block number does address 1200 map?</a:t>
            </a:r>
          </a:p>
          <a:p>
            <a:r>
              <a:rPr lang="en-US" dirty="0"/>
              <a:t>Block address = [1200/16] = 75</a:t>
            </a:r>
          </a:p>
          <a:p>
            <a:r>
              <a:rPr lang="en-US" dirty="0"/>
              <a:t>Block number = 75 modulo 64 = 11</a:t>
            </a:r>
          </a:p>
          <a:p>
            <a:pPr lvl="1"/>
            <a:r>
              <a:rPr lang="en-US" dirty="0"/>
              <a:t>This block maps all addresses between 1200 and 1215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367926" y="3308346"/>
            <a:ext cx="4571190" cy="740283"/>
            <a:chOff x="1975549" y="4904187"/>
            <a:chExt cx="5877533" cy="987044"/>
          </a:xfrm>
        </p:grpSpPr>
        <p:grpSp>
          <p:nvGrpSpPr>
            <p:cNvPr id="7" name="Group 6"/>
            <p:cNvGrpSpPr/>
            <p:nvPr/>
          </p:nvGrpSpPr>
          <p:grpSpPr>
            <a:xfrm>
              <a:off x="2021635" y="5181792"/>
              <a:ext cx="5760000" cy="360000"/>
              <a:chOff x="-75898" y="5536856"/>
              <a:chExt cx="5760000" cy="3600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-75898" y="5536856"/>
                <a:ext cx="396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Tag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884102" y="5536856"/>
                <a:ext cx="108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Index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964102" y="5536856"/>
                <a:ext cx="720000" cy="36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350" dirty="0">
                    <a:solidFill>
                      <a:schemeClr val="tx1"/>
                    </a:solidFill>
                  </a:rPr>
                  <a:t>Offset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1975549" y="4904187"/>
              <a:ext cx="5877533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2676525" algn="l"/>
                  <a:tab pos="2992041" algn="l"/>
                  <a:tab pos="3624263" algn="l"/>
                  <a:tab pos="3792141" algn="l"/>
                  <a:tab pos="4155281" algn="l"/>
                </a:tabLst>
              </a:pPr>
              <a:r>
                <a:rPr lang="en-US" sz="1050" dirty="0"/>
                <a:t>31	   10  9	  4	  3	    0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021635" y="5531231"/>
              <a:ext cx="5760000" cy="360000"/>
              <a:chOff x="-75898" y="5536856"/>
              <a:chExt cx="5760000" cy="3600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-75898" y="5536856"/>
                <a:ext cx="3960000" cy="36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22 bits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884102" y="5536856"/>
                <a:ext cx="1080000" cy="36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6 bits</a:t>
                </a: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964102" y="5536856"/>
                <a:ext cx="720000" cy="36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4 bits</a:t>
                </a:r>
              </a:p>
            </p:txBody>
          </p:sp>
        </p:grp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8717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Size Considerations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3671888"/>
          </a:xfrm>
        </p:spPr>
        <p:txBody>
          <a:bodyPr>
            <a:normAutofit/>
          </a:bodyPr>
          <a:lstStyle/>
          <a:p>
            <a:r>
              <a:rPr lang="en-US" dirty="0"/>
              <a:t>Larger blocks should reduce miss rate</a:t>
            </a:r>
          </a:p>
          <a:p>
            <a:pPr lvl="1"/>
            <a:r>
              <a:rPr lang="en-US" dirty="0"/>
              <a:t>Due to </a:t>
            </a:r>
            <a:r>
              <a:rPr lang="en-US" dirty="0">
                <a:solidFill>
                  <a:srgbClr val="FF0000"/>
                </a:solidFill>
              </a:rPr>
              <a:t>spatial locality</a:t>
            </a:r>
          </a:p>
          <a:p>
            <a:r>
              <a:rPr lang="en-US" dirty="0"/>
              <a:t>But in a </a:t>
            </a:r>
            <a:r>
              <a:rPr lang="en-US" dirty="0">
                <a:solidFill>
                  <a:srgbClr val="FF0000"/>
                </a:solidFill>
              </a:rPr>
              <a:t>fixed-sized</a:t>
            </a:r>
            <a:r>
              <a:rPr lang="en-US" dirty="0"/>
              <a:t> cache</a:t>
            </a:r>
          </a:p>
          <a:p>
            <a:pPr lvl="1"/>
            <a:r>
              <a:rPr lang="en-US" dirty="0"/>
              <a:t>Larger blocks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fewer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of them</a:t>
            </a:r>
          </a:p>
          <a:p>
            <a:pPr lvl="2"/>
            <a:r>
              <a:rPr lang="en-US" dirty="0"/>
              <a:t>More competition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increased miss rate</a:t>
            </a:r>
          </a:p>
          <a:p>
            <a:pPr lvl="1"/>
            <a:r>
              <a:rPr lang="en-US" dirty="0"/>
              <a:t>Larger blocks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spatial locality decreases</a:t>
            </a:r>
          </a:p>
          <a:p>
            <a:r>
              <a:rPr lang="en-US" dirty="0"/>
              <a:t>Larger miss penalty</a:t>
            </a:r>
          </a:p>
          <a:p>
            <a:pPr lvl="1"/>
            <a:r>
              <a:rPr lang="en-US" dirty="0"/>
              <a:t>Can override benefit of reduced miss rate</a:t>
            </a:r>
          </a:p>
          <a:p>
            <a:pPr lvl="1"/>
            <a:r>
              <a:rPr lang="en-US" dirty="0"/>
              <a:t>Early restart and critical-word-first can help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74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Miss Rate vs. Block Size vs. Cache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620" y="844153"/>
            <a:ext cx="7645179" cy="367188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Miss rate </a:t>
            </a:r>
            <a:r>
              <a:rPr lang="en-US" sz="2000" dirty="0"/>
              <a:t>goes up if the block size becomes a significant fraction of the cache size because the </a:t>
            </a:r>
            <a:r>
              <a:rPr lang="en-US" sz="2000" dirty="0">
                <a:solidFill>
                  <a:srgbClr val="FF0000"/>
                </a:solidFill>
              </a:rPr>
              <a:t>number of blocks </a:t>
            </a:r>
            <a:r>
              <a:rPr lang="en-US" sz="2000" dirty="0"/>
              <a:t>that can be held in the same size cache is </a:t>
            </a:r>
            <a:r>
              <a:rPr lang="en-US" sz="2000" dirty="0">
                <a:solidFill>
                  <a:srgbClr val="FF0000"/>
                </a:solidFill>
              </a:rPr>
              <a:t>smaller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(increasing </a:t>
            </a:r>
            <a:r>
              <a:rPr lang="en-US" sz="2000" dirty="0">
                <a:solidFill>
                  <a:srgbClr val="FF0000"/>
                </a:solidFill>
              </a:rPr>
              <a:t>capacity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misses)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895" y="2094271"/>
            <a:ext cx="4669334" cy="248097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8078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Misses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670" y="844153"/>
            <a:ext cx="7653130" cy="3671888"/>
          </a:xfrm>
        </p:spPr>
        <p:txBody>
          <a:bodyPr>
            <a:normAutofit/>
          </a:bodyPr>
          <a:lstStyle/>
          <a:p>
            <a:r>
              <a:rPr lang="en-US" dirty="0"/>
              <a:t>On cache </a:t>
            </a:r>
            <a:r>
              <a:rPr lang="en-US" dirty="0">
                <a:solidFill>
                  <a:srgbClr val="FF0000"/>
                </a:solidFill>
              </a:rPr>
              <a:t>hit</a:t>
            </a:r>
            <a:r>
              <a:rPr lang="en-US" dirty="0"/>
              <a:t>, CPU proceeds normally</a:t>
            </a:r>
          </a:p>
          <a:p>
            <a:r>
              <a:rPr lang="en-US" dirty="0"/>
              <a:t>On cache </a:t>
            </a:r>
            <a:r>
              <a:rPr lang="en-US" dirty="0">
                <a:solidFill>
                  <a:srgbClr val="FF0000"/>
                </a:solidFill>
              </a:rPr>
              <a:t>miss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Stall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the CPU pipeline</a:t>
            </a:r>
          </a:p>
          <a:p>
            <a:pPr lvl="1"/>
            <a:r>
              <a:rPr lang="en-US" dirty="0"/>
              <a:t>Fetch block from next level of hierarchy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Instruction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cache miss</a:t>
            </a:r>
          </a:p>
          <a:p>
            <a:pPr lvl="2"/>
            <a:r>
              <a:rPr lang="en-US" dirty="0"/>
              <a:t>Restart instruction fetch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cache miss</a:t>
            </a:r>
          </a:p>
          <a:p>
            <a:pPr lvl="2"/>
            <a:r>
              <a:rPr lang="en-US" dirty="0"/>
              <a:t>Complete data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298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Write-Through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5474" y="844153"/>
            <a:ext cx="7354957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On data-write hit, could just update the block in cache</a:t>
            </a:r>
          </a:p>
          <a:p>
            <a:pPr lvl="1"/>
            <a:r>
              <a:rPr lang="en-US" dirty="0"/>
              <a:t>But then </a:t>
            </a:r>
            <a:r>
              <a:rPr lang="en-US" dirty="0">
                <a:solidFill>
                  <a:srgbClr val="FF0000"/>
                </a:solidFill>
              </a:rPr>
              <a:t>cache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memory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would be </a:t>
            </a:r>
            <a:r>
              <a:rPr lang="en-US" dirty="0">
                <a:solidFill>
                  <a:srgbClr val="FF0000"/>
                </a:solidFill>
              </a:rPr>
              <a:t>inconsistent</a:t>
            </a:r>
          </a:p>
          <a:p>
            <a:r>
              <a:rPr lang="en-US" dirty="0">
                <a:solidFill>
                  <a:srgbClr val="FF0000"/>
                </a:solidFill>
              </a:rPr>
              <a:t>Write-through</a:t>
            </a:r>
            <a:r>
              <a:rPr lang="en-US" dirty="0"/>
              <a:t>: also update memory</a:t>
            </a:r>
          </a:p>
          <a:p>
            <a:r>
              <a:rPr lang="en-US" dirty="0"/>
              <a:t>But makes writes take longer</a:t>
            </a:r>
          </a:p>
          <a:p>
            <a:pPr lvl="1"/>
            <a:r>
              <a:rPr lang="en-US" dirty="0"/>
              <a:t>e.g., if base CPI = 1, 10% of instructions are stores, write to memory takes 100 cycles</a:t>
            </a:r>
          </a:p>
          <a:p>
            <a:pPr lvl="2"/>
            <a:r>
              <a:rPr lang="en-US" dirty="0"/>
              <a:t>Effective CPI = 1 + 0.1×100 = 11</a:t>
            </a:r>
          </a:p>
          <a:p>
            <a:r>
              <a:rPr lang="en-US" dirty="0"/>
              <a:t>Solution: </a:t>
            </a:r>
            <a:r>
              <a:rPr lang="en-US" dirty="0">
                <a:solidFill>
                  <a:srgbClr val="FF0000"/>
                </a:solidFill>
              </a:rPr>
              <a:t>write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buffer</a:t>
            </a:r>
          </a:p>
          <a:p>
            <a:pPr lvl="1"/>
            <a:r>
              <a:rPr lang="en-US" dirty="0"/>
              <a:t>Holds data waiting to be written to memory</a:t>
            </a:r>
          </a:p>
          <a:p>
            <a:pPr lvl="1"/>
            <a:r>
              <a:rPr lang="en-US" dirty="0"/>
              <a:t>CPU continues immediately</a:t>
            </a:r>
          </a:p>
          <a:p>
            <a:pPr lvl="2"/>
            <a:r>
              <a:rPr lang="en-US" dirty="0"/>
              <a:t>Only stalls on write if write buffer is already full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7544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Write-Back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3671888"/>
          </a:xfrm>
        </p:spPr>
        <p:txBody>
          <a:bodyPr>
            <a:normAutofit/>
          </a:bodyPr>
          <a:lstStyle/>
          <a:p>
            <a:r>
              <a:rPr lang="en-US" dirty="0"/>
              <a:t>Alternative: On data-write hit, just update the block in </a:t>
            </a:r>
            <a:r>
              <a:rPr lang="en-US" dirty="0">
                <a:solidFill>
                  <a:srgbClr val="FF0000"/>
                </a:solidFill>
              </a:rPr>
              <a:t>cache</a:t>
            </a:r>
          </a:p>
          <a:p>
            <a:pPr lvl="1"/>
            <a:r>
              <a:rPr lang="en-US" dirty="0"/>
              <a:t>Keep track of whether each block is </a:t>
            </a:r>
            <a:r>
              <a:rPr lang="en-US" dirty="0">
                <a:solidFill>
                  <a:srgbClr val="FF0000"/>
                </a:solidFill>
              </a:rPr>
              <a:t>dirty</a:t>
            </a:r>
          </a:p>
          <a:p>
            <a:r>
              <a:rPr lang="en-US" dirty="0"/>
              <a:t>When a </a:t>
            </a:r>
            <a:r>
              <a:rPr lang="en-US" dirty="0">
                <a:solidFill>
                  <a:srgbClr val="FF0000"/>
                </a:solidFill>
              </a:rPr>
              <a:t>dirty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block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replaced</a:t>
            </a:r>
          </a:p>
          <a:p>
            <a:pPr lvl="1"/>
            <a:r>
              <a:rPr lang="en-US" dirty="0"/>
              <a:t>Write it back to </a:t>
            </a:r>
            <a:r>
              <a:rPr lang="en-US" dirty="0">
                <a:solidFill>
                  <a:srgbClr val="FF0000"/>
                </a:solidFill>
              </a:rPr>
              <a:t>memory</a:t>
            </a:r>
          </a:p>
          <a:p>
            <a:pPr lvl="1"/>
            <a:r>
              <a:rPr lang="en-US" dirty="0"/>
              <a:t>Can use a write buffer to allow replacing block to be read first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0122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328" y="844153"/>
            <a:ext cx="7597471" cy="3671888"/>
          </a:xfrm>
        </p:spPr>
        <p:txBody>
          <a:bodyPr>
            <a:normAutofit/>
          </a:bodyPr>
          <a:lstStyle/>
          <a:p>
            <a:r>
              <a:rPr lang="en-US" dirty="0"/>
              <a:t>What should happen on a write miss?</a:t>
            </a:r>
          </a:p>
          <a:p>
            <a:r>
              <a:rPr lang="en-US" dirty="0"/>
              <a:t>Alternatives for write-through</a:t>
            </a:r>
          </a:p>
          <a:p>
            <a:pPr lvl="1"/>
            <a:r>
              <a:rPr lang="en-US" dirty="0"/>
              <a:t>Allocate on miss: </a:t>
            </a:r>
            <a:r>
              <a:rPr lang="en-US" dirty="0">
                <a:solidFill>
                  <a:srgbClr val="FF0000"/>
                </a:solidFill>
              </a:rPr>
              <a:t>write allocate</a:t>
            </a:r>
          </a:p>
          <a:p>
            <a:pPr lvl="1"/>
            <a:r>
              <a:rPr lang="en-US" dirty="0"/>
              <a:t>Don’t update cache: </a:t>
            </a:r>
            <a:r>
              <a:rPr lang="en-US" dirty="0">
                <a:solidFill>
                  <a:srgbClr val="FF0000"/>
                </a:solidFill>
              </a:rPr>
              <a:t>no write allocate</a:t>
            </a:r>
          </a:p>
          <a:p>
            <a:pPr lvl="2"/>
            <a:r>
              <a:rPr lang="en-US" dirty="0"/>
              <a:t>Since programs often write a whole block before reading it (e.g., initialization)</a:t>
            </a:r>
          </a:p>
          <a:p>
            <a:r>
              <a:rPr lang="en-US" dirty="0"/>
              <a:t>For write-back</a:t>
            </a:r>
          </a:p>
          <a:p>
            <a:pPr lvl="1"/>
            <a:r>
              <a:rPr lang="en-US" dirty="0"/>
              <a:t>Usually </a:t>
            </a:r>
            <a:r>
              <a:rPr lang="en-US" dirty="0">
                <a:solidFill>
                  <a:srgbClr val="FF0000"/>
                </a:solidFill>
              </a:rPr>
              <a:t>write allocate</a:t>
            </a:r>
            <a:r>
              <a:rPr lang="en-US" dirty="0"/>
              <a:t>, but need to check if the block being replaced is </a:t>
            </a:r>
            <a:r>
              <a:rPr lang="en-US" dirty="0">
                <a:solidFill>
                  <a:srgbClr val="FF0000"/>
                </a:solidFill>
              </a:rPr>
              <a:t>dirty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or not (and write-back if dirty).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521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Cache Performance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81376" y="844153"/>
                <a:ext cx="7605423" cy="367188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Components of CPU time</a:t>
                </a:r>
              </a:p>
              <a:p>
                <a:pPr lvl="1"/>
                <a:r>
                  <a:rPr lang="en-US" dirty="0"/>
                  <a:t>Program execution cycles</a:t>
                </a:r>
              </a:p>
              <a:p>
                <a:pPr lvl="2"/>
                <a:r>
                  <a:rPr lang="en-US" dirty="0"/>
                  <a:t>Includes cache hit time</a:t>
                </a:r>
              </a:p>
              <a:p>
                <a:pPr lvl="1"/>
                <a:r>
                  <a:rPr lang="en-US" dirty="0"/>
                  <a:t>Memory stall cycles</a:t>
                </a:r>
              </a:p>
              <a:p>
                <a:pPr lvl="2"/>
                <a:r>
                  <a:rPr lang="en-US" dirty="0"/>
                  <a:t>Mainly from cache misses</a:t>
                </a:r>
              </a:p>
              <a:p>
                <a:pPr>
                  <a:spcAft>
                    <a:spcPts val="900"/>
                  </a:spcAft>
                </a:pPr>
                <a:r>
                  <a:rPr lang="en-US" dirty="0"/>
                  <a:t>With simplifying assumptions:</a:t>
                </a:r>
              </a:p>
              <a:p>
                <a:pPr marL="0" indent="0">
                  <a:spcBef>
                    <a:spcPts val="0"/>
                  </a:spcBef>
                  <a:spcAft>
                    <a:spcPts val="1350"/>
                  </a:spcAft>
                  <a:buNone/>
                </a:pPr>
                <a:r>
                  <a:rPr lang="en-US" sz="165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50"/>
                      <m:t>Memory</m:t>
                    </m:r>
                    <m:r>
                      <m:rPr>
                        <m:nor/>
                      </m:rPr>
                      <a:rPr lang="en-US" sz="1650"/>
                      <m:t> </m:t>
                    </m:r>
                    <m:r>
                      <m:rPr>
                        <m:nor/>
                      </m:rPr>
                      <a:rPr lang="en-US" sz="1650"/>
                      <m:t>stall</m:t>
                    </m:r>
                    <m:r>
                      <m:rPr>
                        <m:nor/>
                      </m:rPr>
                      <a:rPr lang="en-US" sz="1650"/>
                      <m:t> </m:t>
                    </m:r>
                    <m:r>
                      <m:rPr>
                        <m:nor/>
                      </m:rPr>
                      <a:rPr lang="en-US" sz="1650"/>
                      <m:t>cycles</m:t>
                    </m:r>
                  </m:oMath>
                </a14:m>
                <a:endParaRPr lang="en-US" sz="1650" dirty="0"/>
              </a:p>
              <a:p>
                <a:pPr marL="0" indent="0">
                  <a:spcBef>
                    <a:spcPts val="0"/>
                  </a:spcBef>
                  <a:spcAft>
                    <a:spcPts val="1350"/>
                  </a:spcAft>
                  <a:buNone/>
                </a:pPr>
                <a:r>
                  <a:rPr lang="en-US" sz="165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50"/>
                      <m:t>= </m:t>
                    </m:r>
                    <m:f>
                      <m:fPr>
                        <m:ctrlPr>
                          <a:rPr lang="en-US" sz="16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50"/>
                          <m:t>Memory</m:t>
                        </m:r>
                        <m:r>
                          <m:rPr>
                            <m:nor/>
                          </m:rPr>
                          <a:rPr lang="en-US" sz="1650"/>
                          <m:t> </m:t>
                        </m:r>
                        <m:r>
                          <m:rPr>
                            <m:nor/>
                          </m:rPr>
                          <a:rPr lang="en-US" sz="1650"/>
                          <m:t>accesses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50"/>
                          <m:t>Program</m:t>
                        </m:r>
                      </m:den>
                    </m:f>
                    <m:r>
                      <m:rPr>
                        <m:nor/>
                      </m:rPr>
                      <a:rPr lang="en-US" sz="1650"/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Miss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rate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Miss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penalty</m:t>
                    </m:r>
                  </m:oMath>
                </a14:m>
                <a:r>
                  <a:rPr lang="en-US" sz="1650" dirty="0"/>
                  <a:t> </a:t>
                </a:r>
              </a:p>
              <a:p>
                <a:pPr marL="0" indent="0">
                  <a:spcBef>
                    <a:spcPts val="0"/>
                  </a:spcBef>
                  <a:spcAft>
                    <a:spcPts val="1350"/>
                  </a:spcAft>
                  <a:buNone/>
                </a:pPr>
                <a:r>
                  <a:rPr lang="en-US" sz="1650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50"/>
                      <m:t>= </m:t>
                    </m:r>
                    <m:f>
                      <m:fPr>
                        <m:ctrlPr>
                          <a:rPr lang="en-US" sz="16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50"/>
                          <m:t>Instructions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50"/>
                          <m:t>Program</m:t>
                        </m:r>
                      </m:den>
                    </m:f>
                    <m:r>
                      <m:rPr>
                        <m:nor/>
                      </m:rPr>
                      <a:rPr lang="en-US" sz="1650"/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16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50">
                            <a:ea typeface="Cambria Math" panose="02040503050406030204" pitchFamily="18" charset="0"/>
                          </a:rPr>
                          <m:t>Misses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50">
                            <a:ea typeface="Cambria Math" panose="02040503050406030204" pitchFamily="18" charset="0"/>
                          </a:rPr>
                          <m:t>Instruction</m:t>
                        </m:r>
                      </m:den>
                    </m:f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Miss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50">
                        <a:ea typeface="Cambria Math" panose="02040503050406030204" pitchFamily="18" charset="0"/>
                      </a:rPr>
                      <m:t>penalty</m:t>
                    </m:r>
                  </m:oMath>
                </a14:m>
                <a:endParaRPr lang="en-US" sz="1650" dirty="0"/>
              </a:p>
              <a:p>
                <a:pPr marL="0" indent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81376" y="844153"/>
                <a:ext cx="7605423" cy="3671888"/>
              </a:xfrm>
              <a:blipFill>
                <a:blip r:embed="rId2"/>
                <a:stretch>
                  <a:fillRect l="-481" t="-19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09738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Performance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620" y="844153"/>
            <a:ext cx="7645179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I-cache miss rate = 2%</a:t>
            </a:r>
          </a:p>
          <a:p>
            <a:pPr lvl="1"/>
            <a:r>
              <a:rPr lang="en-US" dirty="0"/>
              <a:t>D-cache miss rate = 4%</a:t>
            </a:r>
          </a:p>
          <a:p>
            <a:pPr lvl="1"/>
            <a:r>
              <a:rPr lang="en-US" dirty="0"/>
              <a:t>Miss penalty = 100 cycles</a:t>
            </a:r>
          </a:p>
          <a:p>
            <a:pPr lvl="1"/>
            <a:r>
              <a:rPr lang="en-US" dirty="0"/>
              <a:t>Base CPI (ideal cache) = 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en-US" dirty="0"/>
              <a:t>Load &amp; stores are </a:t>
            </a:r>
            <a:r>
              <a:rPr lang="en-US" dirty="0">
                <a:solidFill>
                  <a:srgbClr val="FF0000"/>
                </a:solidFill>
              </a:rPr>
              <a:t>36%</a:t>
            </a:r>
            <a:r>
              <a:rPr lang="en-US" dirty="0"/>
              <a:t> of instructions</a:t>
            </a:r>
          </a:p>
          <a:p>
            <a:r>
              <a:rPr lang="en-US" dirty="0">
                <a:solidFill>
                  <a:srgbClr val="FF0000"/>
                </a:solidFill>
              </a:rPr>
              <a:t>Miss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cycles per </a:t>
            </a:r>
            <a:r>
              <a:rPr lang="en-US" dirty="0">
                <a:solidFill>
                  <a:srgbClr val="FF0000"/>
                </a:solidFill>
              </a:rPr>
              <a:t>instruction</a:t>
            </a:r>
          </a:p>
          <a:p>
            <a:pPr lvl="1"/>
            <a:r>
              <a:rPr lang="en-US" dirty="0"/>
              <a:t>I-cache: 0.02 × 100 = </a:t>
            </a:r>
            <a:r>
              <a:rPr lang="en-US" dirty="0">
                <a:solidFill>
                  <a:srgbClr val="FF0000"/>
                </a:solidFill>
              </a:rPr>
              <a:t>2</a:t>
            </a:r>
          </a:p>
          <a:p>
            <a:pPr lvl="1"/>
            <a:r>
              <a:rPr lang="en-US" dirty="0"/>
              <a:t>D-cache: 0.36 × 0.04 × 100 = </a:t>
            </a:r>
            <a:r>
              <a:rPr lang="en-US" dirty="0">
                <a:solidFill>
                  <a:srgbClr val="FF0000"/>
                </a:solidFill>
              </a:rPr>
              <a:t>1.44</a:t>
            </a:r>
          </a:p>
          <a:p>
            <a:r>
              <a:rPr lang="en-US" dirty="0"/>
              <a:t>Actual CPI = </a:t>
            </a:r>
            <a:r>
              <a:rPr lang="en-US" dirty="0">
                <a:solidFill>
                  <a:schemeClr val="accent1"/>
                </a:solidFill>
              </a:rPr>
              <a:t>2</a:t>
            </a:r>
            <a:r>
              <a:rPr lang="en-US" dirty="0"/>
              <a:t> +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dirty="0"/>
              <a:t> + </a:t>
            </a:r>
            <a:r>
              <a:rPr lang="en-US" dirty="0">
                <a:solidFill>
                  <a:srgbClr val="FF0000"/>
                </a:solidFill>
              </a:rPr>
              <a:t>1.44</a:t>
            </a:r>
            <a:r>
              <a:rPr lang="en-US" dirty="0"/>
              <a:t> = 5.44</a:t>
            </a:r>
          </a:p>
          <a:p>
            <a:pPr lvl="1"/>
            <a:r>
              <a:rPr lang="en-US" dirty="0"/>
              <a:t>Ideal CPU is 5.44/</a:t>
            </a:r>
            <a:r>
              <a:rPr lang="en-US" dirty="0">
                <a:solidFill>
                  <a:schemeClr val="accent1"/>
                </a:solidFill>
              </a:rPr>
              <a:t>2</a:t>
            </a:r>
            <a:r>
              <a:rPr lang="en-US" dirty="0"/>
              <a:t> = 2.72 times faster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344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Access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522" y="844153"/>
            <a:ext cx="7629277" cy="36718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Hit time is also important for performance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</a:rPr>
              <a:t>Average memory access time </a:t>
            </a:r>
            <a:r>
              <a:rPr lang="en-US" dirty="0"/>
              <a:t>(AMAT)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AMAT = Hit time + Miss rate × Miss penalty</a:t>
            </a:r>
          </a:p>
          <a:p>
            <a:pPr>
              <a:lnSpc>
                <a:spcPct val="100000"/>
              </a:lnSpc>
            </a:pPr>
            <a:r>
              <a:rPr lang="en-US" dirty="0"/>
              <a:t>Example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CPU with 1ns clock, </a:t>
            </a:r>
            <a:r>
              <a:rPr lang="en-US" sz="2100" dirty="0">
                <a:solidFill>
                  <a:srgbClr val="FF0000"/>
                </a:solidFill>
              </a:rPr>
              <a:t>hit</a:t>
            </a:r>
            <a:r>
              <a:rPr lang="en-US" sz="2100" dirty="0">
                <a:solidFill>
                  <a:schemeClr val="accent1"/>
                </a:solidFill>
              </a:rPr>
              <a:t> </a:t>
            </a:r>
            <a:r>
              <a:rPr lang="en-US" sz="2100" dirty="0"/>
              <a:t>time = </a:t>
            </a:r>
            <a:r>
              <a:rPr lang="en-US" sz="2100" dirty="0">
                <a:solidFill>
                  <a:srgbClr val="FF0000"/>
                </a:solidFill>
              </a:rPr>
              <a:t>1</a:t>
            </a:r>
            <a:r>
              <a:rPr lang="en-US" sz="2100" dirty="0"/>
              <a:t> cycle, </a:t>
            </a:r>
            <a:br>
              <a:rPr lang="en-US" sz="2100" dirty="0"/>
            </a:br>
            <a:r>
              <a:rPr lang="en-US" sz="2100" dirty="0">
                <a:solidFill>
                  <a:srgbClr val="FF0000"/>
                </a:solidFill>
              </a:rPr>
              <a:t>miss </a:t>
            </a:r>
            <a:r>
              <a:rPr lang="en-US" sz="2100" dirty="0"/>
              <a:t>penalty = </a:t>
            </a:r>
            <a:r>
              <a:rPr lang="en-US" sz="2100" dirty="0">
                <a:solidFill>
                  <a:srgbClr val="FF0000"/>
                </a:solidFill>
              </a:rPr>
              <a:t>20 </a:t>
            </a:r>
            <a:r>
              <a:rPr lang="en-US" sz="2100" dirty="0"/>
              <a:t>cycles, </a:t>
            </a:r>
            <a:br>
              <a:rPr lang="en-US" sz="2100" dirty="0"/>
            </a:br>
            <a:r>
              <a:rPr lang="en-US" sz="2100" dirty="0"/>
              <a:t>I-cache miss rate = </a:t>
            </a:r>
            <a:r>
              <a:rPr lang="en-US" sz="2100" dirty="0">
                <a:solidFill>
                  <a:srgbClr val="FF0000"/>
                </a:solidFill>
              </a:rPr>
              <a:t>5%</a:t>
            </a:r>
          </a:p>
          <a:p>
            <a:pPr lvl="1">
              <a:lnSpc>
                <a:spcPct val="100000"/>
              </a:lnSpc>
            </a:pPr>
            <a:r>
              <a:rPr lang="en-US" sz="2100" dirty="0"/>
              <a:t>AMAT = 1 + 0.05 × 20 = 2ns</a:t>
            </a:r>
          </a:p>
          <a:p>
            <a:pPr lvl="2">
              <a:lnSpc>
                <a:spcPct val="100000"/>
              </a:lnSpc>
            </a:pPr>
            <a:r>
              <a:rPr lang="en-US" dirty="0"/>
              <a:t>In average 2 cycles per instruction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1165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3670" y="844153"/>
            <a:ext cx="7653130" cy="3671888"/>
          </a:xfrm>
        </p:spPr>
        <p:txBody>
          <a:bodyPr>
            <a:normAutofit/>
          </a:bodyPr>
          <a:lstStyle/>
          <a:p>
            <a:r>
              <a:rPr lang="en-US" dirty="0"/>
              <a:t>When CPU performance increased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Miss penalty </a:t>
            </a:r>
            <a:r>
              <a:rPr lang="en-US" dirty="0"/>
              <a:t>becomes more significant</a:t>
            </a:r>
          </a:p>
          <a:p>
            <a:r>
              <a:rPr lang="en-US" dirty="0"/>
              <a:t>Decreasing base CPI</a:t>
            </a:r>
          </a:p>
          <a:p>
            <a:pPr lvl="1"/>
            <a:r>
              <a:rPr lang="en-US" dirty="0"/>
              <a:t>Greater proportion of time spent on </a:t>
            </a:r>
            <a:r>
              <a:rPr lang="en-US" dirty="0">
                <a:solidFill>
                  <a:srgbClr val="FF0000"/>
                </a:solidFill>
              </a:rPr>
              <a:t>memory stalls</a:t>
            </a:r>
          </a:p>
          <a:p>
            <a:r>
              <a:rPr lang="en-US" dirty="0"/>
              <a:t>Increasing </a:t>
            </a:r>
            <a:r>
              <a:rPr lang="en-US" dirty="0">
                <a:solidFill>
                  <a:srgbClr val="FF0000"/>
                </a:solidFill>
              </a:rPr>
              <a:t>clock rate</a:t>
            </a:r>
          </a:p>
          <a:p>
            <a:pPr lvl="1"/>
            <a:r>
              <a:rPr lang="en-US" dirty="0"/>
              <a:t>Memory stalls account for </a:t>
            </a:r>
            <a:r>
              <a:rPr lang="en-US" dirty="0">
                <a:solidFill>
                  <a:srgbClr val="FF0000"/>
                </a:solidFill>
              </a:rPr>
              <a:t>more CPU cycles</a:t>
            </a:r>
          </a:p>
          <a:p>
            <a:r>
              <a:rPr lang="en-US" dirty="0"/>
              <a:t>Can</a:t>
            </a:r>
            <a:r>
              <a:rPr lang="zh-CN" altLang="en-US" dirty="0"/>
              <a:t> </a:t>
            </a:r>
            <a:r>
              <a:rPr lang="en-US" dirty="0"/>
              <a:t>not neglect cache behavior when evaluating system performance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265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Associative Caches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Fully associative</a:t>
            </a:r>
          </a:p>
          <a:p>
            <a:pPr lvl="1"/>
            <a:r>
              <a:rPr lang="en-US" dirty="0"/>
              <a:t>Allow a given block to go in </a:t>
            </a:r>
            <a:r>
              <a:rPr lang="en-US" dirty="0">
                <a:solidFill>
                  <a:srgbClr val="FF0000"/>
                </a:solidFill>
              </a:rPr>
              <a:t>any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cache entry</a:t>
            </a:r>
          </a:p>
          <a:p>
            <a:pPr lvl="1"/>
            <a:r>
              <a:rPr lang="en-US" dirty="0"/>
              <a:t>Requires </a:t>
            </a:r>
            <a:r>
              <a:rPr lang="en-US" dirty="0">
                <a:solidFill>
                  <a:srgbClr val="FF0000"/>
                </a:solidFill>
              </a:rPr>
              <a:t>all entries </a:t>
            </a:r>
            <a:r>
              <a:rPr lang="en-US" dirty="0"/>
              <a:t>to be searched at once</a:t>
            </a:r>
          </a:p>
          <a:p>
            <a:pPr lvl="1"/>
            <a:r>
              <a:rPr lang="en-US" dirty="0"/>
              <a:t>Comparator per entry (</a:t>
            </a:r>
            <a:r>
              <a:rPr lang="en-US" dirty="0">
                <a:solidFill>
                  <a:srgbClr val="FF0000"/>
                </a:solidFill>
              </a:rPr>
              <a:t>expensive</a:t>
            </a:r>
            <a:r>
              <a:rPr lang="en-US" dirty="0"/>
              <a:t>)</a:t>
            </a:r>
          </a:p>
          <a:p>
            <a:r>
              <a:rPr lang="en-US" i="1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-way set associative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set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contains </a:t>
            </a:r>
            <a:r>
              <a:rPr lang="en-US" i="1" dirty="0"/>
              <a:t>n</a:t>
            </a:r>
            <a:r>
              <a:rPr lang="en-US" dirty="0"/>
              <a:t> entries</a:t>
            </a:r>
          </a:p>
          <a:p>
            <a:pPr lvl="1"/>
            <a:r>
              <a:rPr lang="en-US" dirty="0"/>
              <a:t>Block number determines which set</a:t>
            </a:r>
          </a:p>
          <a:p>
            <a:pPr lvl="2">
              <a:buClr>
                <a:srgbClr val="0000FF"/>
              </a:buClr>
            </a:pPr>
            <a:r>
              <a:rPr lang="en-US" dirty="0"/>
              <a:t>(Block number) modulo (#Sets in cache)</a:t>
            </a:r>
          </a:p>
          <a:p>
            <a:pPr lvl="1"/>
            <a:r>
              <a:rPr lang="en-US" dirty="0"/>
              <a:t>Search all entries in a given set at once</a:t>
            </a:r>
          </a:p>
          <a:p>
            <a:pPr lvl="1"/>
            <a:r>
              <a:rPr lang="en-US" i="1" dirty="0"/>
              <a:t>n</a:t>
            </a:r>
            <a:r>
              <a:rPr lang="en-US" dirty="0"/>
              <a:t> comparators (</a:t>
            </a:r>
            <a:r>
              <a:rPr lang="en-US" dirty="0">
                <a:solidFill>
                  <a:srgbClr val="FF0000"/>
                </a:solidFill>
              </a:rPr>
              <a:t>less expensive</a:t>
            </a:r>
            <a:r>
              <a:rPr lang="en-US" dirty="0"/>
              <a:t>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8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Associative Cache Example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33" y="951271"/>
            <a:ext cx="7997365" cy="340687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571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of Associativity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410" y="831436"/>
            <a:ext cx="5915025" cy="393066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For a cache with </a:t>
            </a:r>
            <a:r>
              <a:rPr lang="en-US" sz="2000" dirty="0">
                <a:solidFill>
                  <a:srgbClr val="FF0000"/>
                </a:solidFill>
              </a:rPr>
              <a:t>8 entries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465" y="1309207"/>
            <a:ext cx="6540909" cy="329966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6312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1708216"/>
          </a:xfrm>
        </p:spPr>
        <p:txBody>
          <a:bodyPr/>
          <a:lstStyle/>
          <a:p>
            <a:r>
              <a:rPr lang="en-US" dirty="0"/>
              <a:t>Compare 4-block caches</a:t>
            </a:r>
          </a:p>
          <a:p>
            <a:pPr lvl="1"/>
            <a:r>
              <a:rPr lang="en-US" dirty="0"/>
              <a:t>Direct mapped, 2-way set associative, fully associative</a:t>
            </a:r>
          </a:p>
          <a:p>
            <a:pPr lvl="1"/>
            <a:r>
              <a:rPr lang="en-US" dirty="0"/>
              <a:t>Block access sequence: 0, 8, 0, 6, 8</a:t>
            </a:r>
          </a:p>
          <a:p>
            <a:pPr>
              <a:spcBef>
                <a:spcPts val="1350"/>
              </a:spcBef>
            </a:pPr>
            <a:r>
              <a:rPr lang="en-US" dirty="0"/>
              <a:t>Direct mapped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97" y="2760859"/>
            <a:ext cx="6194756" cy="175518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07427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119" y="836201"/>
            <a:ext cx="7714211" cy="3671888"/>
          </a:xfrm>
        </p:spPr>
        <p:txBody>
          <a:bodyPr>
            <a:normAutofit/>
          </a:bodyPr>
          <a:lstStyle/>
          <a:p>
            <a:r>
              <a:rPr lang="en-US" sz="2000" dirty="0"/>
              <a:t>2-way set associative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spcBef>
                <a:spcPts val="3000"/>
              </a:spcBef>
            </a:pPr>
            <a:r>
              <a:rPr lang="en-US" sz="2000" dirty="0"/>
              <a:t>Fully associative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96" y="1179081"/>
            <a:ext cx="5164904" cy="15047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664" y="3026670"/>
            <a:ext cx="5240849" cy="15198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Example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9822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Much Associativity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26" y="844153"/>
            <a:ext cx="7613374" cy="3671888"/>
          </a:xfrm>
        </p:spPr>
        <p:txBody>
          <a:bodyPr>
            <a:normAutofit/>
          </a:bodyPr>
          <a:lstStyle/>
          <a:p>
            <a:r>
              <a:rPr lang="en-US" dirty="0"/>
              <a:t>Increased associativity decreases miss rate</a:t>
            </a:r>
          </a:p>
          <a:p>
            <a:pPr lvl="1"/>
            <a:r>
              <a:rPr lang="en-US" dirty="0"/>
              <a:t>But with </a:t>
            </a:r>
            <a:r>
              <a:rPr lang="en-US" dirty="0">
                <a:solidFill>
                  <a:srgbClr val="FF0000"/>
                </a:solidFill>
              </a:rPr>
              <a:t>diminishing returns</a:t>
            </a:r>
          </a:p>
          <a:p>
            <a:r>
              <a:rPr lang="en-US" dirty="0"/>
              <a:t>Simulation of a system with 64KB D-cache, 16-word blocks, SPEC2000</a:t>
            </a:r>
          </a:p>
          <a:p>
            <a:pPr lvl="1"/>
            <a:r>
              <a:rPr lang="en-US" dirty="0"/>
              <a:t>1-way: 10.3%</a:t>
            </a:r>
          </a:p>
          <a:p>
            <a:pPr lvl="1"/>
            <a:r>
              <a:rPr lang="en-US" dirty="0"/>
              <a:t>2-way: 8.6%</a:t>
            </a:r>
          </a:p>
          <a:p>
            <a:pPr lvl="1"/>
            <a:r>
              <a:rPr lang="en-US" dirty="0"/>
              <a:t>4-way: 8.3%</a:t>
            </a:r>
          </a:p>
          <a:p>
            <a:pPr lvl="1"/>
            <a:r>
              <a:rPr lang="en-US" dirty="0"/>
              <a:t>8-way: 8.1%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0683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Set Associative Cache Organization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82" y="844017"/>
            <a:ext cx="7418438" cy="372625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131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Replacement Policy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26" y="844153"/>
            <a:ext cx="7613374" cy="367188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Direct mapped</a:t>
            </a:r>
            <a:r>
              <a:rPr lang="en-US" dirty="0"/>
              <a:t>: no choice</a:t>
            </a:r>
          </a:p>
          <a:p>
            <a:r>
              <a:rPr lang="en-US" dirty="0">
                <a:solidFill>
                  <a:srgbClr val="FF0000"/>
                </a:solidFill>
              </a:rPr>
              <a:t>Set associative</a:t>
            </a:r>
          </a:p>
          <a:p>
            <a:pPr lvl="1"/>
            <a:r>
              <a:rPr lang="en-US" dirty="0"/>
              <a:t>Prefer </a:t>
            </a:r>
            <a:r>
              <a:rPr lang="en-US" dirty="0">
                <a:solidFill>
                  <a:srgbClr val="FF0000"/>
                </a:solidFill>
              </a:rPr>
              <a:t>non-valid</a:t>
            </a:r>
            <a:r>
              <a:rPr lang="en-US" dirty="0"/>
              <a:t> entry, if there is one</a:t>
            </a:r>
          </a:p>
          <a:p>
            <a:pPr lvl="1"/>
            <a:r>
              <a:rPr lang="en-US" dirty="0"/>
              <a:t>Otherwise, choose among entries in the set</a:t>
            </a:r>
          </a:p>
          <a:p>
            <a:r>
              <a:rPr lang="en-US" dirty="0"/>
              <a:t>Least-recently used (LRU)</a:t>
            </a:r>
          </a:p>
          <a:p>
            <a:pPr lvl="1"/>
            <a:r>
              <a:rPr lang="en-US" dirty="0"/>
              <a:t>Choose the one </a:t>
            </a:r>
            <a:r>
              <a:rPr lang="en-US" dirty="0">
                <a:solidFill>
                  <a:srgbClr val="FF0000"/>
                </a:solidFill>
              </a:rPr>
              <a:t>unused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for the </a:t>
            </a:r>
            <a:r>
              <a:rPr lang="en-US" dirty="0">
                <a:solidFill>
                  <a:srgbClr val="FF0000"/>
                </a:solidFill>
              </a:rPr>
              <a:t>longest time</a:t>
            </a:r>
          </a:p>
          <a:p>
            <a:pPr lvl="2"/>
            <a:r>
              <a:rPr lang="en-US" dirty="0"/>
              <a:t>Simple for 2-way, manageable for 4-way, too hard beyond that</a:t>
            </a:r>
          </a:p>
          <a:p>
            <a:r>
              <a:rPr lang="en-US" dirty="0"/>
              <a:t>Random</a:t>
            </a:r>
          </a:p>
          <a:p>
            <a:pPr lvl="1"/>
            <a:r>
              <a:rPr lang="en-US" dirty="0"/>
              <a:t>Gives approximately the same performance as LRU for high associativity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87913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Caches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Primary cache attached to CPU</a:t>
            </a:r>
          </a:p>
          <a:p>
            <a:pPr lvl="1"/>
            <a:r>
              <a:rPr lang="en-US" dirty="0"/>
              <a:t>Small, but fast</a:t>
            </a:r>
          </a:p>
          <a:p>
            <a:r>
              <a:rPr lang="en-US" dirty="0">
                <a:solidFill>
                  <a:srgbClr val="FF0000"/>
                </a:solidFill>
              </a:rPr>
              <a:t>Level-2 cache </a:t>
            </a:r>
            <a:r>
              <a:rPr lang="en-US" dirty="0"/>
              <a:t>services misses from primary cache</a:t>
            </a:r>
          </a:p>
          <a:p>
            <a:pPr lvl="1"/>
            <a:r>
              <a:rPr lang="en-US" dirty="0"/>
              <a:t>Larger, slower, but still faster than main memory</a:t>
            </a:r>
          </a:p>
          <a:p>
            <a:r>
              <a:rPr lang="en-US" dirty="0"/>
              <a:t>Main memory services </a:t>
            </a:r>
            <a:r>
              <a:rPr lang="en-US" dirty="0">
                <a:solidFill>
                  <a:srgbClr val="FF0000"/>
                </a:solidFill>
              </a:rPr>
              <a:t>L-2 cache </a:t>
            </a:r>
            <a:r>
              <a:rPr lang="en-US" dirty="0"/>
              <a:t>misses</a:t>
            </a:r>
          </a:p>
          <a:p>
            <a:r>
              <a:rPr lang="en-US" dirty="0"/>
              <a:t>Some high-end systems include </a:t>
            </a:r>
            <a:r>
              <a:rPr lang="en-US" dirty="0">
                <a:solidFill>
                  <a:srgbClr val="FF0000"/>
                </a:solidFill>
              </a:rPr>
              <a:t>L-3 cache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864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Cache Example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Given</a:t>
            </a:r>
          </a:p>
          <a:p>
            <a:pPr lvl="1"/>
            <a:r>
              <a:rPr lang="en-US" sz="2100" dirty="0"/>
              <a:t>CPU base CPI = 1, clock rate = 4GHz </a:t>
            </a:r>
            <a:br>
              <a:rPr lang="en-US" sz="2100" dirty="0"/>
            </a:br>
            <a:r>
              <a:rPr lang="en-US" sz="2100" dirty="0"/>
              <a:t>(1 cycle = </a:t>
            </a:r>
            <a:r>
              <a:rPr lang="en-US" sz="2100" dirty="0">
                <a:solidFill>
                  <a:srgbClr val="FF0000"/>
                </a:solidFill>
              </a:rPr>
              <a:t>0.25ns</a:t>
            </a:r>
            <a:r>
              <a:rPr lang="en-US" sz="2100" dirty="0"/>
              <a:t>)</a:t>
            </a:r>
          </a:p>
          <a:p>
            <a:pPr lvl="1"/>
            <a:r>
              <a:rPr lang="en-US" sz="2100" dirty="0"/>
              <a:t>Miss rate/instruction = </a:t>
            </a:r>
            <a:r>
              <a:rPr lang="en-US" sz="2100" dirty="0">
                <a:solidFill>
                  <a:srgbClr val="FF0000"/>
                </a:solidFill>
              </a:rPr>
              <a:t>2%</a:t>
            </a:r>
          </a:p>
          <a:p>
            <a:pPr lvl="1"/>
            <a:r>
              <a:rPr lang="en-US" sz="2100" dirty="0"/>
              <a:t>Main memory access time = </a:t>
            </a:r>
            <a:r>
              <a:rPr lang="en-US" sz="2100" dirty="0">
                <a:solidFill>
                  <a:srgbClr val="FF0000"/>
                </a:solidFill>
              </a:rPr>
              <a:t>100ns</a:t>
            </a:r>
          </a:p>
          <a:p>
            <a:r>
              <a:rPr lang="en-US" dirty="0"/>
              <a:t>With just </a:t>
            </a:r>
            <a:r>
              <a:rPr lang="en-US" dirty="0">
                <a:solidFill>
                  <a:srgbClr val="FF0000"/>
                </a:solidFill>
              </a:rPr>
              <a:t>primary cache</a:t>
            </a:r>
          </a:p>
          <a:p>
            <a:pPr lvl="1"/>
            <a:r>
              <a:rPr lang="en-US" sz="2100" dirty="0"/>
              <a:t>Miss penalty = 100ns/0.25ns = </a:t>
            </a:r>
            <a:r>
              <a:rPr lang="en-US" sz="2100" dirty="0">
                <a:solidFill>
                  <a:srgbClr val="FF0000"/>
                </a:solidFill>
              </a:rPr>
              <a:t>400 cycles</a:t>
            </a:r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Effective CPI </a:t>
            </a:r>
            <a:r>
              <a:rPr lang="en-US" sz="2100" dirty="0"/>
              <a:t>= 1 + </a:t>
            </a:r>
            <a:r>
              <a:rPr lang="en-US" sz="2100" dirty="0">
                <a:solidFill>
                  <a:srgbClr val="FF0000"/>
                </a:solidFill>
              </a:rPr>
              <a:t>0.02</a:t>
            </a:r>
            <a:r>
              <a:rPr lang="en-US" sz="2100" dirty="0"/>
              <a:t> × </a:t>
            </a:r>
            <a:r>
              <a:rPr lang="en-US" sz="2100" dirty="0">
                <a:solidFill>
                  <a:srgbClr val="FF0000"/>
                </a:solidFill>
              </a:rPr>
              <a:t>400</a:t>
            </a:r>
            <a:r>
              <a:rPr lang="en-US" sz="2100" dirty="0"/>
              <a:t> = </a:t>
            </a:r>
            <a:r>
              <a:rPr lang="en-US" sz="2100" dirty="0">
                <a:solidFill>
                  <a:schemeClr val="accent1"/>
                </a:solidFill>
              </a:rPr>
              <a:t>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5865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Multilevel Cache Example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Now add L-2 cache</a:t>
            </a:r>
          </a:p>
          <a:p>
            <a:pPr lvl="1"/>
            <a:r>
              <a:rPr lang="en-US" dirty="0"/>
              <a:t>Access time = </a:t>
            </a:r>
            <a:r>
              <a:rPr lang="en-US" dirty="0">
                <a:solidFill>
                  <a:srgbClr val="FF0000"/>
                </a:solidFill>
              </a:rPr>
              <a:t>5ns</a:t>
            </a:r>
          </a:p>
          <a:p>
            <a:pPr lvl="1"/>
            <a:r>
              <a:rPr lang="en-US" dirty="0"/>
              <a:t>Miss rate/instruction = </a:t>
            </a:r>
            <a:r>
              <a:rPr lang="en-US" dirty="0">
                <a:solidFill>
                  <a:srgbClr val="FF0000"/>
                </a:solidFill>
              </a:rPr>
              <a:t>2%</a:t>
            </a:r>
            <a:r>
              <a:rPr lang="en-US" dirty="0"/>
              <a:t> (same)</a:t>
            </a:r>
          </a:p>
          <a:p>
            <a:pPr lvl="1"/>
            <a:r>
              <a:rPr lang="en-US" dirty="0"/>
              <a:t>Global miss rate to main memory = </a:t>
            </a:r>
            <a:r>
              <a:rPr lang="en-US" dirty="0">
                <a:solidFill>
                  <a:srgbClr val="FF0000"/>
                </a:solidFill>
              </a:rPr>
              <a:t>0.5%</a:t>
            </a:r>
          </a:p>
          <a:p>
            <a:r>
              <a:rPr lang="en-US" dirty="0"/>
              <a:t>Primary miss with L-2 hit</a:t>
            </a:r>
          </a:p>
          <a:p>
            <a:pPr lvl="1"/>
            <a:r>
              <a:rPr lang="en-US" dirty="0"/>
              <a:t>Penalty = 5ns/0.25ns = </a:t>
            </a:r>
            <a:r>
              <a:rPr lang="en-US" dirty="0">
                <a:solidFill>
                  <a:srgbClr val="FF0000"/>
                </a:solidFill>
              </a:rPr>
              <a:t>20 cycles</a:t>
            </a:r>
          </a:p>
          <a:p>
            <a:r>
              <a:rPr lang="en-US" dirty="0"/>
              <a:t>Primary miss with L-2 miss</a:t>
            </a:r>
          </a:p>
          <a:p>
            <a:pPr lvl="1"/>
            <a:r>
              <a:rPr lang="en-US" dirty="0"/>
              <a:t>Extra penalty = </a:t>
            </a:r>
            <a:r>
              <a:rPr lang="en-US" dirty="0">
                <a:solidFill>
                  <a:srgbClr val="FF0000"/>
                </a:solidFill>
              </a:rPr>
              <a:t>400 + 20 cycles</a:t>
            </a:r>
          </a:p>
          <a:p>
            <a:r>
              <a:rPr lang="en-US" dirty="0"/>
              <a:t>CPI = 1 + </a:t>
            </a:r>
            <a:r>
              <a:rPr lang="en-US" dirty="0">
                <a:solidFill>
                  <a:srgbClr val="FF0000"/>
                </a:solidFill>
              </a:rPr>
              <a:t>0.02</a:t>
            </a:r>
            <a:r>
              <a:rPr lang="en-US" dirty="0"/>
              <a:t> ×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r>
              <a:rPr lang="en-US" dirty="0"/>
              <a:t> + </a:t>
            </a:r>
            <a:r>
              <a:rPr lang="en-US" dirty="0">
                <a:solidFill>
                  <a:srgbClr val="FF0000"/>
                </a:solidFill>
              </a:rPr>
              <a:t>0.005</a:t>
            </a:r>
            <a:r>
              <a:rPr lang="en-US" dirty="0"/>
              <a:t> × </a:t>
            </a:r>
            <a:r>
              <a:rPr lang="en-US" dirty="0">
                <a:solidFill>
                  <a:srgbClr val="FF0000"/>
                </a:solidFill>
              </a:rPr>
              <a:t>400</a:t>
            </a:r>
            <a:r>
              <a:rPr lang="en-US" dirty="0"/>
              <a:t> = </a:t>
            </a:r>
            <a:r>
              <a:rPr lang="en-US" dirty="0">
                <a:solidFill>
                  <a:srgbClr val="FF0000"/>
                </a:solidFill>
              </a:rPr>
              <a:t>3.4</a:t>
            </a:r>
          </a:p>
          <a:p>
            <a:r>
              <a:rPr lang="en-US" dirty="0"/>
              <a:t>Performance ratio = 9/3.4 = </a:t>
            </a:r>
            <a:r>
              <a:rPr lang="en-US" dirty="0">
                <a:solidFill>
                  <a:srgbClr val="FF0000"/>
                </a:solidFill>
              </a:rPr>
              <a:t>2.6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56448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Multilevel Cache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rmAutofit/>
          </a:bodyPr>
          <a:lstStyle/>
          <a:p>
            <a:r>
              <a:rPr lang="en-US" dirty="0"/>
              <a:t>Primary cache</a:t>
            </a:r>
          </a:p>
          <a:p>
            <a:pPr lvl="1"/>
            <a:r>
              <a:rPr lang="en-US" dirty="0"/>
              <a:t>Focus on </a:t>
            </a:r>
            <a:r>
              <a:rPr lang="en-US" dirty="0">
                <a:solidFill>
                  <a:srgbClr val="FF0000"/>
                </a:solidFill>
              </a:rPr>
              <a:t>minimal hit time</a:t>
            </a:r>
          </a:p>
          <a:p>
            <a:r>
              <a:rPr lang="en-US" dirty="0"/>
              <a:t>L-2 cache</a:t>
            </a:r>
          </a:p>
          <a:p>
            <a:pPr lvl="1"/>
            <a:r>
              <a:rPr lang="en-US" dirty="0"/>
              <a:t>Focus on </a:t>
            </a:r>
            <a:r>
              <a:rPr lang="en-US" dirty="0">
                <a:solidFill>
                  <a:srgbClr val="FF0000"/>
                </a:solidFill>
              </a:rPr>
              <a:t>low miss rate </a:t>
            </a:r>
            <a:r>
              <a:rPr lang="en-US" dirty="0"/>
              <a:t>to avoid main memory access</a:t>
            </a:r>
          </a:p>
          <a:p>
            <a:pPr lvl="1"/>
            <a:r>
              <a:rPr lang="en-US" dirty="0"/>
              <a:t>Hit time has less overall impact</a:t>
            </a:r>
          </a:p>
          <a:p>
            <a:r>
              <a:rPr lang="en-US" dirty="0"/>
              <a:t>Results</a:t>
            </a:r>
          </a:p>
          <a:p>
            <a:pPr lvl="1"/>
            <a:r>
              <a:rPr lang="en-US" dirty="0"/>
              <a:t>L-1 cache usually </a:t>
            </a:r>
            <a:r>
              <a:rPr lang="en-US" dirty="0">
                <a:solidFill>
                  <a:srgbClr val="FF0000"/>
                </a:solidFill>
              </a:rPr>
              <a:t>smaller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than a single cache</a:t>
            </a:r>
          </a:p>
          <a:p>
            <a:pPr lvl="1"/>
            <a:r>
              <a:rPr lang="en-US" dirty="0"/>
              <a:t>L-1 block size </a:t>
            </a:r>
            <a:r>
              <a:rPr lang="en-US" dirty="0">
                <a:solidFill>
                  <a:srgbClr val="FF0000"/>
                </a:solidFill>
              </a:rPr>
              <a:t>smaller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than L-2 block size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26976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Interactions with Advanced CPUs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572" y="844153"/>
            <a:ext cx="7410616" cy="36718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Out-of-order</a:t>
            </a:r>
            <a:r>
              <a:rPr lang="en-US" dirty="0"/>
              <a:t> CPUs can execute instructions during cache miss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Pending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store stays in </a:t>
            </a:r>
            <a:r>
              <a:rPr lang="en-US" dirty="0">
                <a:solidFill>
                  <a:srgbClr val="FF0000"/>
                </a:solidFill>
              </a:rPr>
              <a:t>load/store unit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instructions </a:t>
            </a:r>
            <a:r>
              <a:rPr lang="en-US" dirty="0">
                <a:solidFill>
                  <a:srgbClr val="FF0000"/>
                </a:solidFill>
              </a:rPr>
              <a:t>wait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 reservation stations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Independent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instructions </a:t>
            </a:r>
            <a:r>
              <a:rPr lang="en-US" dirty="0">
                <a:solidFill>
                  <a:srgbClr val="FF0000"/>
                </a:solidFill>
              </a:rPr>
              <a:t>continue</a:t>
            </a:r>
          </a:p>
          <a:p>
            <a:r>
              <a:rPr lang="en-US" dirty="0"/>
              <a:t>Effect of miss depends on program data flow</a:t>
            </a:r>
          </a:p>
          <a:p>
            <a:pPr lvl="1"/>
            <a:r>
              <a:rPr lang="en-US" dirty="0"/>
              <a:t>Much harder to analyze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FF0000"/>
                </a:solidFill>
              </a:rPr>
              <a:t>system simulation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0096355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2615</TotalTime>
  <Words>1848</Words>
  <Application>Microsoft Office PowerPoint</Application>
  <PresentationFormat>全屏显示(16:9)</PresentationFormat>
  <Paragraphs>500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8" baseType="lpstr">
      <vt:lpstr>MS Sans Serif</vt:lpstr>
      <vt:lpstr>Arial</vt:lpstr>
      <vt:lpstr>Calibri</vt:lpstr>
      <vt:lpstr>Cambria Math</vt:lpstr>
      <vt:lpstr>Times New Roman</vt:lpstr>
      <vt:lpstr>Wingdings</vt:lpstr>
      <vt:lpstr>NTHU UniCloud</vt:lpstr>
      <vt:lpstr>CSC3050 – Computer Architecture</vt:lpstr>
      <vt:lpstr>Memory Technology</vt:lpstr>
      <vt:lpstr>SRAM vs. DRAM</vt:lpstr>
      <vt:lpstr>A Typical Memory Hierarchy</vt:lpstr>
      <vt:lpstr>Principle of Locality </vt:lpstr>
      <vt:lpstr>Taking Advantage of Locality </vt:lpstr>
      <vt:lpstr>Memory Hierarchy Levels </vt:lpstr>
      <vt:lpstr>Cache Memory </vt:lpstr>
      <vt:lpstr>Direct Mapped Cache </vt:lpstr>
      <vt:lpstr>Tags and Valid Bits </vt:lpstr>
      <vt:lpstr>Cache Example (1)</vt:lpstr>
      <vt:lpstr>Cache Example (2) </vt:lpstr>
      <vt:lpstr>Cache Example (3) </vt:lpstr>
      <vt:lpstr>Cache Example (4) </vt:lpstr>
      <vt:lpstr>Cache Example (5) </vt:lpstr>
      <vt:lpstr>Cache Example (6) </vt:lpstr>
      <vt:lpstr>Address Subdivision </vt:lpstr>
      <vt:lpstr>Example: Larger Block Size </vt:lpstr>
      <vt:lpstr>Block Size Considerations </vt:lpstr>
      <vt:lpstr>Miss Rate vs. Block Size vs. Cache Size</vt:lpstr>
      <vt:lpstr>Cache Misses</vt:lpstr>
      <vt:lpstr>Write-Through </vt:lpstr>
      <vt:lpstr>Write-Back </vt:lpstr>
      <vt:lpstr>Write Allocation</vt:lpstr>
      <vt:lpstr>Measuring Cache Performance </vt:lpstr>
      <vt:lpstr>Cache Performance Example</vt:lpstr>
      <vt:lpstr>Average Access Time</vt:lpstr>
      <vt:lpstr>Performance Summary</vt:lpstr>
      <vt:lpstr>Associative Caches</vt:lpstr>
      <vt:lpstr>Associative Cache Example</vt:lpstr>
      <vt:lpstr>Spectrum of Associativity </vt:lpstr>
      <vt:lpstr>Associativity Example </vt:lpstr>
      <vt:lpstr>Associativity Example </vt:lpstr>
      <vt:lpstr>How Much Associativity </vt:lpstr>
      <vt:lpstr>Set Associative Cache Organization </vt:lpstr>
      <vt:lpstr>Replacement Policy </vt:lpstr>
      <vt:lpstr>Multilevel Caches</vt:lpstr>
      <vt:lpstr>Multilevel Cache Example (1)</vt:lpstr>
      <vt:lpstr>Multilevel Cache Example (2)</vt:lpstr>
      <vt:lpstr>Multilevel Cache Considerations</vt:lpstr>
      <vt:lpstr>Interactions with Advanced CPUs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271</cp:revision>
  <dcterms:created xsi:type="dcterms:W3CDTF">2015-06-05T07:23:35Z</dcterms:created>
  <dcterms:modified xsi:type="dcterms:W3CDTF">2019-04-21T12:54:07Z</dcterms:modified>
</cp:coreProperties>
</file>