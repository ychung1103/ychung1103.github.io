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2"/>
  </p:notesMasterIdLst>
  <p:handoutMasterIdLst>
    <p:handoutMasterId r:id="rId73"/>
  </p:handoutMasterIdLst>
  <p:sldIdLst>
    <p:sldId id="256" r:id="rId2"/>
    <p:sldId id="522" r:id="rId3"/>
    <p:sldId id="523" r:id="rId4"/>
    <p:sldId id="524" r:id="rId5"/>
    <p:sldId id="525" r:id="rId6"/>
    <p:sldId id="526" r:id="rId7"/>
    <p:sldId id="527" r:id="rId8"/>
    <p:sldId id="528" r:id="rId9"/>
    <p:sldId id="529" r:id="rId10"/>
    <p:sldId id="530" r:id="rId11"/>
    <p:sldId id="531" r:id="rId12"/>
    <p:sldId id="532" r:id="rId13"/>
    <p:sldId id="533" r:id="rId14"/>
    <p:sldId id="534" r:id="rId15"/>
    <p:sldId id="535" r:id="rId16"/>
    <p:sldId id="536" r:id="rId17"/>
    <p:sldId id="537" r:id="rId18"/>
    <p:sldId id="538" r:id="rId19"/>
    <p:sldId id="539" r:id="rId20"/>
    <p:sldId id="540" r:id="rId21"/>
    <p:sldId id="541" r:id="rId22"/>
    <p:sldId id="543" r:id="rId23"/>
    <p:sldId id="545" r:id="rId24"/>
    <p:sldId id="544" r:id="rId25"/>
    <p:sldId id="542" r:id="rId26"/>
    <p:sldId id="546" r:id="rId27"/>
    <p:sldId id="547" r:id="rId28"/>
    <p:sldId id="548" r:id="rId29"/>
    <p:sldId id="549" r:id="rId30"/>
    <p:sldId id="551" r:id="rId31"/>
    <p:sldId id="550" r:id="rId32"/>
    <p:sldId id="552" r:id="rId33"/>
    <p:sldId id="553" r:id="rId34"/>
    <p:sldId id="556" r:id="rId35"/>
    <p:sldId id="554" r:id="rId36"/>
    <p:sldId id="555" r:id="rId37"/>
    <p:sldId id="557" r:id="rId38"/>
    <p:sldId id="591" r:id="rId39"/>
    <p:sldId id="558" r:id="rId40"/>
    <p:sldId id="559" r:id="rId41"/>
    <p:sldId id="560" r:id="rId42"/>
    <p:sldId id="561" r:id="rId43"/>
    <p:sldId id="562" r:id="rId44"/>
    <p:sldId id="563" r:id="rId45"/>
    <p:sldId id="564" r:id="rId46"/>
    <p:sldId id="565" r:id="rId47"/>
    <p:sldId id="569" r:id="rId48"/>
    <p:sldId id="566" r:id="rId49"/>
    <p:sldId id="567" r:id="rId50"/>
    <p:sldId id="570" r:id="rId51"/>
    <p:sldId id="571" r:id="rId52"/>
    <p:sldId id="572" r:id="rId53"/>
    <p:sldId id="573" r:id="rId54"/>
    <p:sldId id="574" r:id="rId55"/>
    <p:sldId id="576" r:id="rId56"/>
    <p:sldId id="575" r:id="rId57"/>
    <p:sldId id="577" r:id="rId58"/>
    <p:sldId id="578" r:id="rId59"/>
    <p:sldId id="579" r:id="rId60"/>
    <p:sldId id="581" r:id="rId61"/>
    <p:sldId id="582" r:id="rId62"/>
    <p:sldId id="580" r:id="rId63"/>
    <p:sldId id="583" r:id="rId64"/>
    <p:sldId id="584" r:id="rId65"/>
    <p:sldId id="585" r:id="rId66"/>
    <p:sldId id="586" r:id="rId67"/>
    <p:sldId id="587" r:id="rId68"/>
    <p:sldId id="588" r:id="rId69"/>
    <p:sldId id="589" r:id="rId70"/>
    <p:sldId id="590" r:id="rId71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525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545"/>
    </p:cViewPr>
  </p:sorterViewPr>
  <p:notesViewPr>
    <p:cSldViewPr snapToGrid="0">
      <p:cViewPr varScale="1">
        <p:scale>
          <a:sx n="37" d="100"/>
          <a:sy n="37" d="100"/>
        </p:scale>
        <p:origin x="1975" y="4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2019/4/7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2019/4/7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338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363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854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589" y="108349"/>
            <a:ext cx="7703101" cy="51911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4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A17C40-74AE-493D-A593-82A9B11C9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Single-Cycle </a:t>
            </a:r>
            <a:r>
              <a:rPr lang="en-US" altLang="zh-CN" sz="2800" dirty="0"/>
              <a:t>A</a:t>
            </a:r>
            <a:r>
              <a:rPr lang="en-US" sz="2800" dirty="0"/>
              <a:t>dvantages &amp; </a:t>
            </a:r>
            <a:r>
              <a:rPr lang="en-US" altLang="zh-CN" sz="2800" dirty="0"/>
              <a:t>Disa</a:t>
            </a:r>
            <a:r>
              <a:rPr lang="en-US" sz="2800" dirty="0"/>
              <a:t>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785" y="844153"/>
            <a:ext cx="7977931" cy="3671888"/>
          </a:xfrm>
        </p:spPr>
        <p:txBody>
          <a:bodyPr>
            <a:noAutofit/>
          </a:bodyPr>
          <a:lstStyle/>
          <a:p>
            <a:r>
              <a:rPr lang="en-US" sz="2000" dirty="0"/>
              <a:t>Uses the clock cycle inefficiently – the clock cycle must be timed to accommodate the </a:t>
            </a:r>
            <a:r>
              <a:rPr lang="en-US" sz="2000" b="1" dirty="0">
                <a:solidFill>
                  <a:schemeClr val="accent1"/>
                </a:solidFill>
              </a:rPr>
              <a:t>slowest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instruction</a:t>
            </a:r>
          </a:p>
          <a:p>
            <a:pPr lvl="1"/>
            <a:r>
              <a:rPr lang="en-US" sz="1600" dirty="0"/>
              <a:t>Especially problematic for more complex instructions, e.g., floating-point multiplication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May be wasteful of area since some functional units (e.g., adders) must be duplicated since they can not be shared during a clock cycle</a:t>
            </a:r>
          </a:p>
          <a:p>
            <a:r>
              <a:rPr lang="en-US" sz="2000" dirty="0"/>
              <a:t>But it is simple and easy to understand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408894" y="2063664"/>
            <a:ext cx="6326213" cy="1017581"/>
            <a:chOff x="97049" y="2966613"/>
            <a:chExt cx="8434951" cy="1356774"/>
          </a:xfrm>
        </p:grpSpPr>
        <p:sp>
          <p:nvSpPr>
            <p:cNvPr id="8" name="Rectangle 7"/>
            <p:cNvSpPr/>
            <p:nvPr/>
          </p:nvSpPr>
          <p:spPr>
            <a:xfrm>
              <a:off x="972000" y="3963387"/>
              <a:ext cx="360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 err="1">
                  <a:solidFill>
                    <a:sysClr val="windowText" lastClr="000000"/>
                  </a:solidFill>
                </a:rPr>
                <a:t>lw</a:t>
              </a:r>
              <a:endParaRPr lang="en-US" sz="13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2000" y="3963387"/>
              <a:ext cx="270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 err="1">
                  <a:solidFill>
                    <a:sysClr val="windowText" lastClr="000000"/>
                  </a:solidFill>
                </a:rPr>
                <a:t>sw</a:t>
              </a:r>
              <a:endParaRPr lang="en-US" sz="13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088000" y="2966613"/>
              <a:ext cx="1368000" cy="360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>
                  <a:solidFill>
                    <a:sysClr val="windowText" lastClr="000000"/>
                  </a:solidFill>
                </a:rPr>
                <a:t>Cycle 1</a:t>
              </a:r>
              <a:endParaRPr lang="en-US" sz="13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72000" y="3963387"/>
              <a:ext cx="90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>
                  <a:solidFill>
                    <a:srgbClr val="FF0000"/>
                  </a:solidFill>
                </a:rPr>
                <a:t>waste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9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972000" y="3810372"/>
              <a:ext cx="180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7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2772000" y="3561368"/>
              <a:ext cx="180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45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4572000" y="3810372"/>
              <a:ext cx="180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63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6372000" y="3561368"/>
              <a:ext cx="180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81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8352000" y="3630372"/>
              <a:ext cx="0" cy="36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792000" y="3386481"/>
              <a:ext cx="0" cy="36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972000" y="3269616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4572000" y="3269616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8172000" y="3269616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>
              <a:off x="4572000" y="339561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972000" y="339561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5687999" y="2966613"/>
              <a:ext cx="1368000" cy="360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>
                  <a:solidFill>
                    <a:sysClr val="windowText" lastClr="000000"/>
                  </a:solidFill>
                </a:rPr>
                <a:t>Cycle 2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7049" y="3504372"/>
              <a:ext cx="531601" cy="360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 err="1">
                  <a:solidFill>
                    <a:sysClr val="windowText" lastClr="000000"/>
                  </a:solidFill>
                </a:rPr>
                <a:t>Clk</a:t>
              </a:r>
              <a:endParaRPr lang="en-US" sz="135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32BC96-29A3-4A0D-9BF6-F5093EA58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210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3" y="1077235"/>
            <a:ext cx="4984376" cy="3163071"/>
          </a:xfrm>
        </p:spPr>
        <p:txBody>
          <a:bodyPr>
            <a:normAutofit/>
          </a:bodyPr>
          <a:lstStyle/>
          <a:p>
            <a:r>
              <a:rPr lang="en-US" sz="2000" dirty="0"/>
              <a:t>Pipelined laundry: overlapping execution</a:t>
            </a:r>
          </a:p>
          <a:p>
            <a:pPr lvl="1"/>
            <a:r>
              <a:rPr lang="en-US" sz="1600" dirty="0"/>
              <a:t>Parallelism improves performance</a:t>
            </a:r>
          </a:p>
          <a:p>
            <a:pPr lvl="1"/>
            <a:r>
              <a:rPr lang="en-US" sz="1600" dirty="0"/>
              <a:t>4-load speedup</a:t>
            </a:r>
            <a:br>
              <a:rPr lang="en-US" sz="1600" dirty="0"/>
            </a:br>
            <a:r>
              <a:rPr lang="en-US" sz="1600" dirty="0"/>
              <a:t>= 8/3.5 </a:t>
            </a:r>
            <a:br>
              <a:rPr lang="en-US" sz="1600" dirty="0"/>
            </a:br>
            <a:r>
              <a:rPr lang="en-US" sz="1600" dirty="0"/>
              <a:t>= 2.3</a:t>
            </a:r>
          </a:p>
          <a:p>
            <a:pPr lvl="1"/>
            <a:r>
              <a:rPr lang="en-US" sz="1600" dirty="0"/>
              <a:t>20-load speedup</a:t>
            </a:r>
            <a:br>
              <a:rPr lang="en-US" sz="1600" dirty="0"/>
            </a:br>
            <a:r>
              <a:rPr lang="en-US" sz="1600" dirty="0"/>
              <a:t>= 40/11.5</a:t>
            </a:r>
            <a:br>
              <a:rPr lang="en-US" sz="1600" dirty="0"/>
            </a:br>
            <a:r>
              <a:rPr lang="en-US" sz="1600" dirty="0"/>
              <a:t>= 3.478</a:t>
            </a:r>
          </a:p>
          <a:p>
            <a:r>
              <a:rPr lang="en-US" sz="2000" dirty="0"/>
              <a:t>Under ideal conditions</a:t>
            </a:r>
          </a:p>
          <a:p>
            <a:pPr lvl="1"/>
            <a:r>
              <a:rPr lang="en-US" sz="1600" dirty="0"/>
              <a:t>The speedup from pipelining ≈ The number of pipe stages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41049" y="1089967"/>
            <a:ext cx="3864355" cy="3154862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933FF4-95F1-4FF6-9F9E-BB8E7CE217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426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Stages of Load Instruction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8290" y="844153"/>
            <a:ext cx="7688510" cy="3671888"/>
          </a:xfrm>
        </p:spPr>
        <p:txBody>
          <a:bodyPr>
            <a:normAutofit/>
          </a:bodyPr>
          <a:lstStyle/>
          <a:p>
            <a:r>
              <a:rPr lang="en-US" dirty="0"/>
              <a:t>Five stages, one step per stage</a:t>
            </a:r>
          </a:p>
          <a:p>
            <a:pPr marL="385763" indent="-385763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IF</a:t>
            </a:r>
            <a:r>
              <a:rPr lang="en-US" dirty="0"/>
              <a:t>: Instruction fetch from (instruction) memory</a:t>
            </a:r>
          </a:p>
          <a:p>
            <a:pPr marL="385763" indent="-385763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ID</a:t>
            </a:r>
            <a:r>
              <a:rPr lang="en-US" dirty="0"/>
              <a:t>: Instruction decode &amp; register read</a:t>
            </a:r>
          </a:p>
          <a:p>
            <a:pPr marL="385763" indent="-385763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EX</a:t>
            </a:r>
            <a:r>
              <a:rPr lang="en-US" dirty="0"/>
              <a:t>: Execute operation or calculate address</a:t>
            </a:r>
          </a:p>
          <a:p>
            <a:pPr marL="385763" indent="-385763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MEM</a:t>
            </a:r>
            <a:r>
              <a:rPr lang="en-US" dirty="0"/>
              <a:t>: Access (data) memory operand</a:t>
            </a:r>
          </a:p>
          <a:p>
            <a:pPr marL="385763" indent="-385763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WB</a:t>
            </a:r>
            <a:r>
              <a:rPr lang="en-US" dirty="0"/>
              <a:t>: Write result back to register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59125B-B9E3-4345-A468-3A39AF2FD3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0008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anose="020F0502020204030204" pitchFamily="34" charset="0"/>
              </a:rPr>
              <a:t>Pipeline Performance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232" y="844153"/>
            <a:ext cx="7797567" cy="1739656"/>
          </a:xfrm>
        </p:spPr>
        <p:txBody>
          <a:bodyPr/>
          <a:lstStyle/>
          <a:p>
            <a:r>
              <a:rPr lang="en-US" dirty="0"/>
              <a:t>Assume time for stages is</a:t>
            </a:r>
          </a:p>
          <a:p>
            <a:pPr lvl="1"/>
            <a:r>
              <a:rPr lang="en-US" dirty="0"/>
              <a:t>100 ns for register read or write</a:t>
            </a:r>
          </a:p>
          <a:p>
            <a:pPr lvl="1"/>
            <a:r>
              <a:rPr lang="en-US" dirty="0"/>
              <a:t>200 ns for other stages</a:t>
            </a:r>
          </a:p>
          <a:p>
            <a:r>
              <a:rPr lang="en-US" dirty="0"/>
              <a:t>Compare pipelined </a:t>
            </a:r>
            <a:r>
              <a:rPr lang="en-US" dirty="0" err="1"/>
              <a:t>datapath</a:t>
            </a:r>
            <a:r>
              <a:rPr lang="en-US" dirty="0"/>
              <a:t> with single-cycle </a:t>
            </a:r>
            <a:r>
              <a:rPr lang="en-US" dirty="0" err="1"/>
              <a:t>datapath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10681"/>
              </p:ext>
            </p:extLst>
          </p:nvPr>
        </p:nvGraphicFramePr>
        <p:xfrm>
          <a:off x="1294978" y="2696081"/>
          <a:ext cx="6498393" cy="1766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87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1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6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711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Instruction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IF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Reg</a:t>
                      </a:r>
                      <a:r>
                        <a:rPr lang="en-US" sz="1400" baseline="0" dirty="0"/>
                        <a:t> Read</a:t>
                      </a:r>
                      <a:endParaRPr 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ALU</a:t>
                      </a:r>
                      <a:r>
                        <a:rPr lang="en-US" sz="1400" baseline="0" dirty="0"/>
                        <a:t> Op</a:t>
                      </a:r>
                      <a:endParaRPr 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Mem Access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Reg</a:t>
                      </a:r>
                      <a:r>
                        <a:rPr lang="en-US" sz="1400" dirty="0"/>
                        <a:t> Write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Total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9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lw</a:t>
                      </a:r>
                      <a:endParaRPr 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800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9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sw</a:t>
                      </a:r>
                      <a:endParaRPr 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R-format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9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beq</a:t>
                      </a:r>
                      <a:endParaRPr 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483D99-E0AB-48EA-ABF6-44DEDAED1D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4496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0945" y="804437"/>
            <a:ext cx="5480433" cy="38034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Performance (2)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2487C52-CE91-46DD-B580-2C2F435DBB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6880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Speedup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8290" y="844153"/>
            <a:ext cx="7688510" cy="3671888"/>
          </a:xfrm>
        </p:spPr>
        <p:txBody>
          <a:bodyPr>
            <a:normAutofit/>
          </a:bodyPr>
          <a:lstStyle/>
          <a:p>
            <a:r>
              <a:rPr lang="en-US" dirty="0"/>
              <a:t>If all stages are balanced, i.e., all take the same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not balanced, speedup is less</a:t>
            </a:r>
          </a:p>
          <a:p>
            <a:r>
              <a:rPr lang="en-US" dirty="0"/>
              <a:t>Speedup due to increased </a:t>
            </a:r>
            <a:r>
              <a:rPr lang="en-US" b="1" dirty="0">
                <a:solidFill>
                  <a:srgbClr val="FF0000"/>
                </a:solidFill>
              </a:rPr>
              <a:t>throughput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Latency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(time for each instruction) does not decrease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327688"/>
              </p:ext>
            </p:extLst>
          </p:nvPr>
        </p:nvGraphicFramePr>
        <p:xfrm>
          <a:off x="1013012" y="1559859"/>
          <a:ext cx="6840070" cy="9770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02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537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Time between </a:t>
                      </a:r>
                      <a:r>
                        <a:rPr lang="en-US" sz="1600" dirty="0" err="1"/>
                        <a:t>instructions</a:t>
                      </a:r>
                      <a:r>
                        <a:rPr lang="en-US" sz="1600" baseline="-25000" dirty="0" err="1"/>
                        <a:t>pipelined</a:t>
                      </a:r>
                      <a:r>
                        <a:rPr lang="en-US" sz="1600" baseline="0" dirty="0"/>
                        <a:t> =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Time between </a:t>
                      </a:r>
                      <a:r>
                        <a:rPr lang="en-US" sz="1600" dirty="0" err="1"/>
                        <a:t>instructions</a:t>
                      </a:r>
                      <a:r>
                        <a:rPr lang="en-US" sz="1600" baseline="-25000" dirty="0" err="1"/>
                        <a:t>nonpipelined</a:t>
                      </a:r>
                      <a:endParaRPr lang="en-US" sz="1600" baseline="-25000" dirty="0"/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53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Number of pipeline stages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76C7C0-529A-49C3-958B-F831390B9F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5723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and ISA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234" y="844153"/>
            <a:ext cx="7646565" cy="3671888"/>
          </a:xfrm>
        </p:spPr>
        <p:txBody>
          <a:bodyPr>
            <a:normAutofit/>
          </a:bodyPr>
          <a:lstStyle/>
          <a:p>
            <a:r>
              <a:rPr lang="en-US" dirty="0"/>
              <a:t>MIPS ISA designed for pipelining</a:t>
            </a:r>
          </a:p>
          <a:p>
            <a:pPr lvl="1"/>
            <a:r>
              <a:rPr lang="en-US" dirty="0"/>
              <a:t>All </a:t>
            </a:r>
            <a:r>
              <a:rPr lang="en-US" b="1" dirty="0">
                <a:solidFill>
                  <a:srgbClr val="FF0000"/>
                </a:solidFill>
              </a:rPr>
              <a:t>instructions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are </a:t>
            </a:r>
            <a:r>
              <a:rPr lang="en-US" b="1" dirty="0">
                <a:solidFill>
                  <a:srgbClr val="FF0000"/>
                </a:solidFill>
              </a:rPr>
              <a:t>32-bits</a:t>
            </a:r>
          </a:p>
          <a:p>
            <a:pPr lvl="2"/>
            <a:r>
              <a:rPr lang="en-US" dirty="0"/>
              <a:t>Easier to fetch and decode in one cycle</a:t>
            </a:r>
          </a:p>
          <a:p>
            <a:pPr lvl="2"/>
            <a:r>
              <a:rPr lang="en-US" dirty="0"/>
              <a:t>c.f. x86: 1- to 17-byte instructions</a:t>
            </a:r>
          </a:p>
          <a:p>
            <a:pPr lvl="1"/>
            <a:r>
              <a:rPr lang="en-US" dirty="0"/>
              <a:t>Few and </a:t>
            </a:r>
            <a:r>
              <a:rPr lang="en-US" b="1" dirty="0">
                <a:solidFill>
                  <a:srgbClr val="FF0000"/>
                </a:solidFill>
              </a:rPr>
              <a:t>regular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instruction </a:t>
            </a:r>
            <a:r>
              <a:rPr lang="en-US" b="1" dirty="0">
                <a:solidFill>
                  <a:srgbClr val="FF0000"/>
                </a:solidFill>
              </a:rPr>
              <a:t>formats</a:t>
            </a:r>
          </a:p>
          <a:p>
            <a:pPr lvl="2"/>
            <a:r>
              <a:rPr lang="en-US" dirty="0"/>
              <a:t>Can decode and read registers in one step</a:t>
            </a:r>
          </a:p>
          <a:p>
            <a:pPr lvl="1"/>
            <a:r>
              <a:rPr lang="en-US" dirty="0"/>
              <a:t>Load/store addressing</a:t>
            </a:r>
          </a:p>
          <a:p>
            <a:pPr lvl="2"/>
            <a:r>
              <a:rPr lang="en-US" dirty="0"/>
              <a:t>Can </a:t>
            </a:r>
            <a:r>
              <a:rPr lang="en-US" b="1" dirty="0">
                <a:solidFill>
                  <a:srgbClr val="FF0000"/>
                </a:solidFill>
              </a:rPr>
              <a:t>calculate address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in the 3rd stage, </a:t>
            </a:r>
            <a:r>
              <a:rPr lang="en-US" b="1" dirty="0">
                <a:solidFill>
                  <a:srgbClr val="FF0000"/>
                </a:solidFill>
              </a:rPr>
              <a:t>access memory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in the 4th stage</a:t>
            </a:r>
          </a:p>
          <a:p>
            <a:pPr lvl="1"/>
            <a:r>
              <a:rPr lang="en-US" dirty="0"/>
              <a:t>Alignment of </a:t>
            </a:r>
            <a:r>
              <a:rPr lang="en-US" b="1" dirty="0">
                <a:solidFill>
                  <a:srgbClr val="FF0000"/>
                </a:solidFill>
              </a:rPr>
              <a:t>memory operands</a:t>
            </a:r>
          </a:p>
          <a:p>
            <a:pPr lvl="2"/>
            <a:r>
              <a:rPr lang="en-US" dirty="0"/>
              <a:t>Memory access takes only one cycle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2B3DA6-A97E-49F5-B82D-9009923631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701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835" y="844153"/>
            <a:ext cx="7288306" cy="3671888"/>
          </a:xfrm>
        </p:spPr>
        <p:txBody>
          <a:bodyPr>
            <a:normAutofit/>
          </a:bodyPr>
          <a:lstStyle/>
          <a:p>
            <a:r>
              <a:rPr lang="en-US" dirty="0"/>
              <a:t>Situations that prevent starting the next instruction in the next cycle</a:t>
            </a:r>
          </a:p>
          <a:p>
            <a:r>
              <a:rPr lang="en-US" b="1" dirty="0">
                <a:solidFill>
                  <a:srgbClr val="FF0000"/>
                </a:solidFill>
              </a:rPr>
              <a:t>Structure hazards</a:t>
            </a:r>
          </a:p>
          <a:p>
            <a:pPr lvl="1"/>
            <a:r>
              <a:rPr lang="en-US" dirty="0"/>
              <a:t>A required resource is busy</a:t>
            </a:r>
          </a:p>
          <a:p>
            <a:r>
              <a:rPr lang="en-US" b="1" dirty="0">
                <a:solidFill>
                  <a:srgbClr val="FF0000"/>
                </a:solidFill>
              </a:rPr>
              <a:t>Data hazard</a:t>
            </a:r>
          </a:p>
          <a:p>
            <a:pPr lvl="1"/>
            <a:r>
              <a:rPr lang="en-US" dirty="0"/>
              <a:t>Need to wait for previous instruction to complete its data read/write</a:t>
            </a:r>
          </a:p>
          <a:p>
            <a:r>
              <a:rPr lang="en-US" b="1" dirty="0">
                <a:solidFill>
                  <a:srgbClr val="FF0000"/>
                </a:solidFill>
              </a:rPr>
              <a:t>Control hazard</a:t>
            </a:r>
          </a:p>
          <a:p>
            <a:pPr lvl="1"/>
            <a:r>
              <a:rPr lang="en-US" dirty="0"/>
              <a:t>The decision on control action depends on previous instruction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A13DB1-4F7C-4727-832E-D8FC1821ED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2794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Hazards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900" y="844153"/>
            <a:ext cx="7696899" cy="3671888"/>
          </a:xfrm>
        </p:spPr>
        <p:txBody>
          <a:bodyPr>
            <a:normAutofit/>
          </a:bodyPr>
          <a:lstStyle/>
          <a:p>
            <a:r>
              <a:rPr lang="en-US" dirty="0"/>
              <a:t>Conflict for use of a resource</a:t>
            </a:r>
          </a:p>
          <a:p>
            <a:r>
              <a:rPr lang="en-US" dirty="0"/>
              <a:t>In MIPS pipeline with a </a:t>
            </a:r>
            <a:r>
              <a:rPr lang="en-US" b="1" dirty="0">
                <a:solidFill>
                  <a:srgbClr val="FF0000"/>
                </a:solidFill>
              </a:rPr>
              <a:t>single memory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Load/store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requires data access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Instruction fetch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would have to </a:t>
            </a:r>
            <a:r>
              <a:rPr lang="en-US" b="1" i="1" dirty="0"/>
              <a:t>stall</a:t>
            </a:r>
            <a:r>
              <a:rPr lang="en-US" dirty="0"/>
              <a:t> for that cycle</a:t>
            </a:r>
          </a:p>
          <a:p>
            <a:pPr lvl="2"/>
            <a:r>
              <a:rPr lang="en-US" dirty="0"/>
              <a:t>Would cause a pipeline “bubble”</a:t>
            </a:r>
          </a:p>
          <a:p>
            <a:r>
              <a:rPr lang="en-US" dirty="0"/>
              <a:t>Hence, pipelined </a:t>
            </a:r>
            <a:r>
              <a:rPr lang="en-US" dirty="0" err="1"/>
              <a:t>datapaths</a:t>
            </a:r>
            <a:r>
              <a:rPr lang="en-US" dirty="0"/>
              <a:t> require </a:t>
            </a:r>
            <a:r>
              <a:rPr lang="en-US" b="1" dirty="0">
                <a:solidFill>
                  <a:srgbClr val="FF0000"/>
                </a:solidFill>
              </a:rPr>
              <a:t>separate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instruction/data memories</a:t>
            </a:r>
          </a:p>
          <a:p>
            <a:pPr lvl="1"/>
            <a:r>
              <a:rPr lang="en-US" dirty="0"/>
              <a:t>Or separate instruction/data caches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374ED2-1738-4CF1-A7D3-1DBE37054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9568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Hazards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122" y="844153"/>
            <a:ext cx="7331979" cy="3671888"/>
          </a:xfrm>
        </p:spPr>
        <p:txBody>
          <a:bodyPr/>
          <a:lstStyle/>
          <a:p>
            <a:r>
              <a:rPr lang="en-US" dirty="0"/>
              <a:t>An instruction depends on completion of data access by a previous instruction</a:t>
            </a:r>
          </a:p>
          <a:p>
            <a:pPr marL="342900" lvl="1" indent="0">
              <a:buNone/>
            </a:pP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$s0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$t0, $t1 </a:t>
            </a:r>
            <a:b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$t2, </a:t>
            </a:r>
            <a:r>
              <a:rPr lang="fr-F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$s0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$t3</a:t>
            </a:r>
          </a:p>
          <a:p>
            <a:pPr lvl="0"/>
            <a:r>
              <a:rPr lang="en-US" dirty="0">
                <a:solidFill>
                  <a:srgbClr val="000000"/>
                </a:solidFill>
              </a:rPr>
              <a:t>We may need to insert a </a:t>
            </a:r>
            <a:r>
              <a:rPr lang="en-US" b="1" dirty="0">
                <a:solidFill>
                  <a:srgbClr val="FF0000"/>
                </a:solidFill>
              </a:rPr>
              <a:t>pipeline stall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(or </a:t>
            </a:r>
            <a:r>
              <a:rPr lang="en-US" b="1" dirty="0">
                <a:solidFill>
                  <a:srgbClr val="FF0000"/>
                </a:solidFill>
              </a:rPr>
              <a:t>bubble</a:t>
            </a:r>
            <a:r>
              <a:rPr lang="en-US" dirty="0">
                <a:solidFill>
                  <a:srgbClr val="000000"/>
                </a:solidFill>
              </a:rPr>
              <a:t>)</a:t>
            </a:r>
          </a:p>
          <a:p>
            <a:pPr marL="34290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A3AD7B-8C0A-466C-A5F8-31DBB28D03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881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 (or Bypassing)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956" y="844153"/>
            <a:ext cx="7738844" cy="1217729"/>
          </a:xfrm>
        </p:spPr>
        <p:txBody>
          <a:bodyPr/>
          <a:lstStyle/>
          <a:p>
            <a:r>
              <a:rPr lang="en-US" dirty="0"/>
              <a:t>Use result when it is computed</a:t>
            </a:r>
          </a:p>
          <a:p>
            <a:pPr lvl="1"/>
            <a:r>
              <a:rPr lang="en-US" dirty="0"/>
              <a:t>Do not wait for it to be stored in a register</a:t>
            </a:r>
          </a:p>
          <a:p>
            <a:pPr lvl="1"/>
            <a:r>
              <a:rPr lang="en-US" dirty="0"/>
              <a:t>Requires </a:t>
            </a:r>
            <a:r>
              <a:rPr lang="en-US" b="1" dirty="0">
                <a:solidFill>
                  <a:srgbClr val="FF0000"/>
                </a:solidFill>
              </a:rPr>
              <a:t>extra connections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in the </a:t>
            </a:r>
            <a:r>
              <a:rPr lang="en-US" dirty="0" err="1"/>
              <a:t>datapath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91873" y="2305953"/>
            <a:ext cx="6279658" cy="2248118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CF127B-6E79-4033-9DC1-95418282DB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094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Load-Use Data Hazard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122" y="844153"/>
            <a:ext cx="7713677" cy="3671888"/>
          </a:xfrm>
        </p:spPr>
        <p:txBody>
          <a:bodyPr/>
          <a:lstStyle/>
          <a:p>
            <a:r>
              <a:rPr lang="en-US" dirty="0"/>
              <a:t>Cannot always avoid </a:t>
            </a:r>
            <a:r>
              <a:rPr lang="en-US" b="1" dirty="0">
                <a:solidFill>
                  <a:srgbClr val="FF0000"/>
                </a:solidFill>
              </a:rPr>
              <a:t>stalls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by forwarding</a:t>
            </a:r>
          </a:p>
          <a:p>
            <a:pPr lvl="1"/>
            <a:r>
              <a:rPr lang="en-US" dirty="0"/>
              <a:t>If value not computed when needed</a:t>
            </a:r>
          </a:p>
          <a:p>
            <a:pPr lvl="1"/>
            <a:r>
              <a:rPr lang="en-US" dirty="0"/>
              <a:t>Can not forward in time!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33066" y="2147195"/>
            <a:ext cx="5879669" cy="2442023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804194-E553-4647-8323-DA47DDDC1F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889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Reorder Code to Avoid Pipeline Stalls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900" y="844153"/>
            <a:ext cx="7696899" cy="367188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Reorder</a:t>
            </a:r>
            <a:r>
              <a:rPr lang="en-US" dirty="0"/>
              <a:t> code to avoid the use of load result in the next instruction</a:t>
            </a:r>
          </a:p>
          <a:p>
            <a:r>
              <a:rPr lang="en-US" dirty="0"/>
              <a:t>Consider the C-code</a:t>
            </a:r>
          </a:p>
          <a:p>
            <a:pPr marL="3429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b + e; c = b + f;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96596" y="2574823"/>
            <a:ext cx="258788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604838" algn="l"/>
              </a:tabLs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$t1, 0($t0)</a:t>
            </a:r>
          </a:p>
          <a:p>
            <a:pPr>
              <a:tabLst>
                <a:tab pos="604838" algn="l"/>
              </a:tabLs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$t2, 4($t0)</a:t>
            </a:r>
          </a:p>
          <a:p>
            <a:pPr>
              <a:tabLst>
                <a:tab pos="60483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	$t3, $t1, $t2</a:t>
            </a:r>
          </a:p>
          <a:p>
            <a:pPr>
              <a:tabLst>
                <a:tab pos="604838" algn="l"/>
              </a:tabLs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$t3, 12($t0)</a:t>
            </a:r>
          </a:p>
          <a:p>
            <a:pPr>
              <a:tabLst>
                <a:tab pos="604838" algn="l"/>
              </a:tabLs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$t4, 8($t0)</a:t>
            </a:r>
          </a:p>
          <a:p>
            <a:pPr>
              <a:tabLst>
                <a:tab pos="60483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	$t5, $t1, $t4</a:t>
            </a:r>
          </a:p>
          <a:p>
            <a:pPr>
              <a:tabLst>
                <a:tab pos="604838" algn="l"/>
              </a:tabLs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$t5, 16($t0)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1382" y="2574823"/>
            <a:ext cx="258788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604838" algn="l"/>
              </a:tabLs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$t1, 0($t0)</a:t>
            </a:r>
          </a:p>
          <a:p>
            <a:pPr>
              <a:tabLst>
                <a:tab pos="604838" algn="l"/>
              </a:tabLs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$t2, 4($t0)</a:t>
            </a:r>
          </a:p>
          <a:p>
            <a:pPr>
              <a:tabLst>
                <a:tab pos="604838" algn="l"/>
              </a:tabLst>
            </a:pP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$t4, 8($t0)</a:t>
            </a:r>
          </a:p>
          <a:p>
            <a:pPr>
              <a:tabLst>
                <a:tab pos="60483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	$t3, $t1, $t2</a:t>
            </a:r>
          </a:p>
          <a:p>
            <a:pPr>
              <a:tabLst>
                <a:tab pos="604838" algn="l"/>
              </a:tabLs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$t3, 12($t0)</a:t>
            </a:r>
          </a:p>
          <a:p>
            <a:pPr>
              <a:tabLst>
                <a:tab pos="60483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	$t5, $t1, $t4</a:t>
            </a:r>
          </a:p>
          <a:p>
            <a:pPr>
              <a:tabLst>
                <a:tab pos="604838" algn="l"/>
              </a:tabLs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$t5, 16($t0)</a:t>
            </a:r>
          </a:p>
        </p:txBody>
      </p:sp>
      <p:sp>
        <p:nvSpPr>
          <p:cNvPr id="8" name="Oval 7"/>
          <p:cNvSpPr/>
          <p:nvPr/>
        </p:nvSpPr>
        <p:spPr>
          <a:xfrm>
            <a:off x="2695676" y="2862238"/>
            <a:ext cx="561614" cy="3023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Oval 8"/>
          <p:cNvSpPr/>
          <p:nvPr/>
        </p:nvSpPr>
        <p:spPr>
          <a:xfrm>
            <a:off x="4067155" y="3133426"/>
            <a:ext cx="561614" cy="3023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Oval 9"/>
          <p:cNvSpPr/>
          <p:nvPr/>
        </p:nvSpPr>
        <p:spPr>
          <a:xfrm>
            <a:off x="2695676" y="3690913"/>
            <a:ext cx="561614" cy="3023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Oval 10"/>
          <p:cNvSpPr/>
          <p:nvPr/>
        </p:nvSpPr>
        <p:spPr>
          <a:xfrm>
            <a:off x="4059936" y="3962101"/>
            <a:ext cx="561614" cy="3023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3" name="Straight Arrow Connector 12"/>
          <p:cNvCxnSpPr>
            <a:stCxn id="8" idx="6"/>
            <a:endCxn id="9" idx="1"/>
          </p:cNvCxnSpPr>
          <p:nvPr/>
        </p:nvCxnSpPr>
        <p:spPr>
          <a:xfrm>
            <a:off x="3257290" y="3013422"/>
            <a:ext cx="892111" cy="164284"/>
          </a:xfrm>
          <a:prstGeom prst="curvedConnector2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2"/>
          <p:cNvCxnSpPr>
            <a:stCxn id="10" idx="6"/>
            <a:endCxn id="11" idx="1"/>
          </p:cNvCxnSpPr>
          <p:nvPr/>
        </p:nvCxnSpPr>
        <p:spPr>
          <a:xfrm>
            <a:off x="3257290" y="3842097"/>
            <a:ext cx="884892" cy="164284"/>
          </a:xfrm>
          <a:prstGeom prst="curvedConnector2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550463" y="2862238"/>
            <a:ext cx="561614" cy="3023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Oval 19"/>
          <p:cNvSpPr/>
          <p:nvPr/>
        </p:nvSpPr>
        <p:spPr>
          <a:xfrm>
            <a:off x="6936379" y="3412257"/>
            <a:ext cx="561614" cy="3023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21" name="Straight Arrow Connector 12"/>
          <p:cNvCxnSpPr>
            <a:stCxn id="19" idx="6"/>
            <a:endCxn id="20" idx="1"/>
          </p:cNvCxnSpPr>
          <p:nvPr/>
        </p:nvCxnSpPr>
        <p:spPr>
          <a:xfrm>
            <a:off x="6112076" y="3013422"/>
            <a:ext cx="906549" cy="443115"/>
          </a:xfrm>
          <a:prstGeom prst="curvedConnector2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550463" y="3154168"/>
            <a:ext cx="561614" cy="3023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Oval 22"/>
          <p:cNvSpPr/>
          <p:nvPr/>
        </p:nvSpPr>
        <p:spPr>
          <a:xfrm>
            <a:off x="6936379" y="3966125"/>
            <a:ext cx="561614" cy="3023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24" name="Straight Arrow Connector 12"/>
          <p:cNvCxnSpPr>
            <a:cxnSpLocks/>
            <a:stCxn id="22" idx="6"/>
            <a:endCxn id="23" idx="1"/>
          </p:cNvCxnSpPr>
          <p:nvPr/>
        </p:nvCxnSpPr>
        <p:spPr>
          <a:xfrm>
            <a:off x="6112076" y="3305353"/>
            <a:ext cx="906549" cy="705053"/>
          </a:xfrm>
          <a:prstGeom prst="curvedConnector2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65282" y="3146949"/>
            <a:ext cx="492443" cy="30008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accent1"/>
                </a:solidFill>
              </a:rPr>
              <a:t>stall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65282" y="3966124"/>
            <a:ext cx="492443" cy="30008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accent1"/>
                </a:solidFill>
              </a:rPr>
              <a:t>stall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B9E289F1-D840-455A-A210-C81DEA4108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423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Hazards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090" y="897942"/>
            <a:ext cx="7815167" cy="28134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Branch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determines flow of control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Fetch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next instruction depends on </a:t>
            </a:r>
            <a:r>
              <a:rPr lang="en-US" b="1" dirty="0">
                <a:solidFill>
                  <a:srgbClr val="FF0000"/>
                </a:solidFill>
              </a:rPr>
              <a:t>branch outcome</a:t>
            </a:r>
          </a:p>
          <a:p>
            <a:pPr lvl="1"/>
            <a:r>
              <a:rPr lang="en-US" dirty="0"/>
              <a:t>Pipeline cannot always fetch correct instruction</a:t>
            </a:r>
          </a:p>
          <a:p>
            <a:pPr lvl="2"/>
            <a:r>
              <a:rPr lang="en-US" dirty="0"/>
              <a:t>Still working on ID stage of branch</a:t>
            </a:r>
          </a:p>
          <a:p>
            <a:r>
              <a:rPr lang="en-US" dirty="0"/>
              <a:t>In MIPS pipeline</a:t>
            </a:r>
          </a:p>
          <a:p>
            <a:pPr lvl="1"/>
            <a:r>
              <a:rPr lang="en-US" dirty="0"/>
              <a:t>Need to compare registers and compute target early in the pipeline</a:t>
            </a:r>
          </a:p>
          <a:p>
            <a:pPr lvl="1"/>
            <a:r>
              <a:rPr lang="en-US" dirty="0"/>
              <a:t>Add hardware to do it in ID stage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A97FB6-3DAC-4016-A551-8A349CEC2A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9581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Stall on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900" y="808294"/>
            <a:ext cx="7696899" cy="1513565"/>
          </a:xfrm>
        </p:spPr>
        <p:txBody>
          <a:bodyPr/>
          <a:lstStyle/>
          <a:p>
            <a:r>
              <a:rPr lang="en-US" dirty="0"/>
              <a:t>Wait until branch outcome determined before fetching the next instruction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Conservative approach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Stall immediately after fetching a branch, wait until outcome of branch is known and fetch branch address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7663" y="2454838"/>
            <a:ext cx="5125453" cy="2026262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F77874-1CDE-4932-A866-9D3A27D59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836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4047" y="844153"/>
            <a:ext cx="7682752" cy="3671888"/>
          </a:xfrm>
        </p:spPr>
        <p:txBody>
          <a:bodyPr>
            <a:normAutofit/>
          </a:bodyPr>
          <a:lstStyle/>
          <a:p>
            <a:r>
              <a:rPr lang="en-US" dirty="0"/>
              <a:t>Longer pipelines cannot readily determine branch outcome early</a:t>
            </a:r>
          </a:p>
          <a:p>
            <a:pPr lvl="1"/>
            <a:r>
              <a:rPr lang="en-US" dirty="0"/>
              <a:t>Stall penalty becomes unacceptable</a:t>
            </a:r>
          </a:p>
          <a:p>
            <a:r>
              <a:rPr lang="en-US" b="1" dirty="0">
                <a:solidFill>
                  <a:srgbClr val="FF0000"/>
                </a:solidFill>
              </a:rPr>
              <a:t>Predict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outcome of branch</a:t>
            </a:r>
          </a:p>
          <a:p>
            <a:pPr lvl="1"/>
            <a:r>
              <a:rPr lang="en-US" dirty="0"/>
              <a:t>Only </a:t>
            </a:r>
            <a:r>
              <a:rPr lang="en-US" b="1" dirty="0">
                <a:solidFill>
                  <a:srgbClr val="FF0000"/>
                </a:solidFill>
              </a:rPr>
              <a:t>stall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if prediction is </a:t>
            </a:r>
            <a:r>
              <a:rPr lang="en-US" b="1" dirty="0">
                <a:solidFill>
                  <a:srgbClr val="FF0000"/>
                </a:solidFill>
              </a:rPr>
              <a:t>wrong</a:t>
            </a:r>
          </a:p>
          <a:p>
            <a:r>
              <a:rPr lang="en-US" dirty="0"/>
              <a:t>In MIPS pipeline</a:t>
            </a:r>
          </a:p>
          <a:p>
            <a:pPr lvl="1"/>
            <a:r>
              <a:rPr lang="en-US" dirty="0"/>
              <a:t>Can predict branches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taken</a:t>
            </a:r>
          </a:p>
          <a:p>
            <a:pPr lvl="1"/>
            <a:r>
              <a:rPr lang="en-US" dirty="0"/>
              <a:t>Fetch instruction after branch, with no delay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74D6ED-7F6F-4D77-A0A9-F9F8F2E043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1611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27876" y="851125"/>
            <a:ext cx="4501637" cy="37292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 Branches Are Not Taken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060" y="1638702"/>
            <a:ext cx="1569660" cy="5078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/>
              <a:t>Prediction Correct</a:t>
            </a:r>
          </a:p>
          <a:p>
            <a:pPr marL="214313" indent="-214313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rgbClr val="FF0000"/>
                </a:solidFill>
              </a:rPr>
              <a:t>No</a:t>
            </a:r>
            <a:r>
              <a:rPr lang="en-US" sz="1350" b="1" dirty="0">
                <a:solidFill>
                  <a:schemeClr val="accent1"/>
                </a:solidFill>
              </a:rPr>
              <a:t> </a:t>
            </a:r>
            <a:r>
              <a:rPr lang="en-US" sz="1350" b="1" dirty="0">
                <a:solidFill>
                  <a:srgbClr val="FF0000"/>
                </a:solidFill>
              </a:rPr>
              <a:t>penalty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1" y="3602257"/>
            <a:ext cx="1675459" cy="5078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/>
              <a:t>Prediction Incorrect</a:t>
            </a:r>
          </a:p>
          <a:p>
            <a:pPr marL="214313" indent="-214313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350" b="1" dirty="0">
                <a:solidFill>
                  <a:srgbClr val="FF0000"/>
                </a:solidFill>
              </a:rPr>
              <a:t>Stall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BD4B21C-4395-4A9B-A9F5-20E4D1A96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4962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More-Realistic Branch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122" y="844153"/>
            <a:ext cx="7713677" cy="36718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Static branch prediction</a:t>
            </a:r>
          </a:p>
          <a:p>
            <a:pPr lvl="1"/>
            <a:r>
              <a:rPr lang="en-US" dirty="0"/>
              <a:t>Based on typical branch behavior</a:t>
            </a:r>
          </a:p>
          <a:p>
            <a:pPr lvl="1"/>
            <a:r>
              <a:rPr lang="en-US" dirty="0"/>
              <a:t>Example: loop and if-statement branches</a:t>
            </a:r>
          </a:p>
          <a:p>
            <a:pPr lvl="2">
              <a:buClr>
                <a:srgbClr val="0000FF"/>
              </a:buClr>
            </a:pPr>
            <a:r>
              <a:rPr lang="en-US" dirty="0"/>
              <a:t>Predict </a:t>
            </a:r>
            <a:r>
              <a:rPr lang="en-US" b="1" dirty="0">
                <a:solidFill>
                  <a:srgbClr val="FF0000"/>
                </a:solidFill>
              </a:rPr>
              <a:t>backward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branches </a:t>
            </a:r>
            <a:r>
              <a:rPr lang="en-US" b="1" dirty="0">
                <a:solidFill>
                  <a:srgbClr val="FF0000"/>
                </a:solidFill>
              </a:rPr>
              <a:t>taken</a:t>
            </a:r>
          </a:p>
          <a:p>
            <a:pPr lvl="2">
              <a:buClr>
                <a:srgbClr val="0000FF"/>
              </a:buClr>
            </a:pPr>
            <a:r>
              <a:rPr lang="en-US" dirty="0"/>
              <a:t>Predict </a:t>
            </a:r>
            <a:r>
              <a:rPr lang="en-US" b="1" dirty="0">
                <a:solidFill>
                  <a:srgbClr val="FF0000"/>
                </a:solidFill>
              </a:rPr>
              <a:t>forward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branches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taken</a:t>
            </a:r>
          </a:p>
          <a:p>
            <a:r>
              <a:rPr lang="en-US" dirty="0"/>
              <a:t>Dynamic branch prediction</a:t>
            </a:r>
          </a:p>
          <a:p>
            <a:pPr lvl="1"/>
            <a:r>
              <a:rPr lang="en-US" dirty="0"/>
              <a:t>Hardware measures actual branch behavior</a:t>
            </a:r>
          </a:p>
          <a:p>
            <a:pPr lvl="2">
              <a:buClr>
                <a:srgbClr val="0000FF"/>
              </a:buClr>
            </a:pPr>
            <a:r>
              <a:rPr lang="en-US" dirty="0"/>
              <a:t>e.g., record recent history of each branch</a:t>
            </a:r>
          </a:p>
          <a:p>
            <a:pPr lvl="1"/>
            <a:r>
              <a:rPr lang="en-US" dirty="0"/>
              <a:t>Assume future behavior will continue the trend</a:t>
            </a:r>
          </a:p>
          <a:p>
            <a:pPr lvl="2">
              <a:buClr>
                <a:srgbClr val="0000FF"/>
              </a:buClr>
            </a:pPr>
            <a:r>
              <a:rPr lang="en-US" dirty="0"/>
              <a:t>When wrong, stall while re-fetching, and update history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821C06-12D2-4577-8F7E-F22385E8B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656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Big-Picture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900" y="844153"/>
            <a:ext cx="7535535" cy="3671888"/>
          </a:xfrm>
        </p:spPr>
        <p:txBody>
          <a:bodyPr>
            <a:normAutofit/>
          </a:bodyPr>
          <a:lstStyle/>
          <a:p>
            <a:r>
              <a:rPr lang="en-US" dirty="0"/>
              <a:t>Pipelining improves performance by increasing instruction </a:t>
            </a:r>
            <a:r>
              <a:rPr lang="en-US" b="1" dirty="0">
                <a:solidFill>
                  <a:srgbClr val="FF0000"/>
                </a:solidFill>
              </a:rPr>
              <a:t>throughput</a:t>
            </a:r>
          </a:p>
          <a:p>
            <a:pPr lvl="1"/>
            <a:r>
              <a:rPr lang="en-US" dirty="0"/>
              <a:t>Executes </a:t>
            </a:r>
            <a:r>
              <a:rPr lang="en-US" b="1" dirty="0">
                <a:solidFill>
                  <a:srgbClr val="FF0000"/>
                </a:solidFill>
              </a:rPr>
              <a:t>multiple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instructions in </a:t>
            </a:r>
            <a:r>
              <a:rPr lang="en-US" b="1" dirty="0">
                <a:solidFill>
                  <a:srgbClr val="FF0000"/>
                </a:solidFill>
              </a:rPr>
              <a:t>parallel</a:t>
            </a:r>
          </a:p>
          <a:p>
            <a:pPr lvl="1"/>
            <a:r>
              <a:rPr lang="en-US" dirty="0"/>
              <a:t>Each instruction has the same </a:t>
            </a:r>
            <a:r>
              <a:rPr lang="en-US" b="1" dirty="0">
                <a:solidFill>
                  <a:srgbClr val="FF0000"/>
                </a:solidFill>
              </a:rPr>
              <a:t>latency</a:t>
            </a:r>
          </a:p>
          <a:p>
            <a:r>
              <a:rPr lang="en-US" dirty="0"/>
              <a:t>Subject to </a:t>
            </a:r>
            <a:r>
              <a:rPr lang="en-US" b="1" dirty="0">
                <a:solidFill>
                  <a:srgbClr val="FF0000"/>
                </a:solidFill>
              </a:rPr>
              <a:t>hazards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Structure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data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control</a:t>
            </a:r>
          </a:p>
          <a:p>
            <a:r>
              <a:rPr lang="en-US" dirty="0"/>
              <a:t>Instruction set design affects complexity of pipeline implementation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7D9011-524F-487E-B9D4-7F5E830C0C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7501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Pipelined </a:t>
            </a:r>
            <a:r>
              <a:rPr lang="en-US" dirty="0" err="1"/>
              <a:t>Datapath</a:t>
            </a:r>
            <a:endParaRPr 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960FC4F-049D-42B3-87DA-4662A46777A3}"/>
              </a:ext>
            </a:extLst>
          </p:cNvPr>
          <p:cNvGrpSpPr/>
          <p:nvPr/>
        </p:nvGrpSpPr>
        <p:grpSpPr>
          <a:xfrm>
            <a:off x="466166" y="860612"/>
            <a:ext cx="8256493" cy="3661054"/>
            <a:chOff x="1284148" y="768999"/>
            <a:chExt cx="6111042" cy="408213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8811" y="768999"/>
              <a:ext cx="5646379" cy="4082135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2351078" y="3735519"/>
              <a:ext cx="1009894" cy="51476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WB</a:t>
              </a:r>
            </a:p>
            <a:p>
              <a:pPr marL="214313" indent="-214313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 b="1" dirty="0">
                  <a:solidFill>
                    <a:srgbClr val="FF0000"/>
                  </a:solidFill>
                </a:rPr>
                <a:t>Data</a:t>
              </a:r>
              <a:r>
                <a:rPr lang="en-US" sz="1200" b="1" dirty="0">
                  <a:solidFill>
                    <a:schemeClr val="accent1"/>
                  </a:solidFill>
                </a:rPr>
                <a:t> </a:t>
              </a:r>
              <a:r>
                <a:rPr lang="en-US" sz="1200" b="1" dirty="0">
                  <a:solidFill>
                    <a:srgbClr val="FF0000"/>
                  </a:solidFill>
                </a:rPr>
                <a:t>hazard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84148" y="995103"/>
              <a:ext cx="1167800" cy="51476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MEM</a:t>
              </a:r>
            </a:p>
            <a:p>
              <a:pPr marL="214313" indent="-214313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 b="1" dirty="0">
                  <a:solidFill>
                    <a:srgbClr val="FF0000"/>
                  </a:solidFill>
                </a:rPr>
                <a:t>Control</a:t>
              </a:r>
              <a:r>
                <a:rPr lang="en-US" sz="1200" b="1" dirty="0">
                  <a:solidFill>
                    <a:schemeClr val="accent1"/>
                  </a:solidFill>
                </a:rPr>
                <a:t> </a:t>
              </a:r>
              <a:r>
                <a:rPr lang="en-US" sz="1200" b="1" dirty="0">
                  <a:solidFill>
                    <a:srgbClr val="FF0000"/>
                  </a:solidFill>
                </a:rPr>
                <a:t>hazard</a:t>
              </a: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70BBC34-27D4-4B0E-A48D-0A33A262D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9651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314" y="808741"/>
            <a:ext cx="5915025" cy="867659"/>
          </a:xfrm>
        </p:spPr>
        <p:txBody>
          <a:bodyPr/>
          <a:lstStyle/>
          <a:p>
            <a:r>
              <a:rPr lang="en-US" dirty="0"/>
              <a:t>Need registers between stages</a:t>
            </a:r>
          </a:p>
          <a:p>
            <a:pPr lvl="1"/>
            <a:r>
              <a:rPr lang="en-US" dirty="0"/>
              <a:t>To hold information produced in previous cycle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B494F21-DE54-42A6-811D-9F4539A74A91}"/>
              </a:ext>
            </a:extLst>
          </p:cNvPr>
          <p:cNvGrpSpPr/>
          <p:nvPr/>
        </p:nvGrpSpPr>
        <p:grpSpPr>
          <a:xfrm>
            <a:off x="1224793" y="1558684"/>
            <a:ext cx="6675539" cy="2962982"/>
            <a:chOff x="1143000" y="1592240"/>
            <a:chExt cx="6858000" cy="3249304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3000" y="1592240"/>
              <a:ext cx="6858000" cy="3241548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066577" y="4564545"/>
              <a:ext cx="4411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[</a:t>
              </a:r>
              <a:r>
                <a:rPr lang="en-US" sz="1200" b="1" dirty="0">
                  <a:solidFill>
                    <a:schemeClr val="accent1"/>
                  </a:solidFill>
                </a:rPr>
                <a:t>64</a:t>
              </a:r>
              <a:r>
                <a:rPr lang="en-US" sz="1200" dirty="0"/>
                <a:t>]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88568" y="4482967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[</a:t>
              </a:r>
              <a:r>
                <a:rPr lang="en-US" sz="1200" b="1" dirty="0">
                  <a:solidFill>
                    <a:schemeClr val="accent1"/>
                  </a:solidFill>
                </a:rPr>
                <a:t>128</a:t>
              </a:r>
              <a:r>
                <a:rPr lang="en-US" sz="1200" dirty="0"/>
                <a:t>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42387" y="4482967"/>
              <a:ext cx="4411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[</a:t>
              </a:r>
              <a:r>
                <a:rPr lang="en-US" sz="1200" b="1" dirty="0">
                  <a:solidFill>
                    <a:schemeClr val="accent1"/>
                  </a:solidFill>
                </a:rPr>
                <a:t>97</a:t>
              </a:r>
              <a:r>
                <a:rPr lang="en-US" sz="1200" dirty="0"/>
                <a:t>]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396408" y="4482967"/>
              <a:ext cx="4411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[</a:t>
              </a:r>
              <a:r>
                <a:rPr lang="en-US" sz="1200" b="1">
                  <a:solidFill>
                    <a:schemeClr val="accent1"/>
                  </a:solidFill>
                </a:rPr>
                <a:t>64</a:t>
              </a:r>
              <a:r>
                <a:rPr lang="en-US" sz="1200"/>
                <a:t>]</a:t>
              </a:r>
              <a:endParaRPr lang="en-US" sz="1200" dirty="0"/>
            </a:p>
          </p:txBody>
        </p:sp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199816-5385-40E8-AECB-608EDE423D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350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Timeline of Instruction Execution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95" y="855298"/>
            <a:ext cx="7709646" cy="371176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1CDC11A-D845-4F43-B86F-126431B60C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7853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Operation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1846" y="844153"/>
            <a:ext cx="7248088" cy="3671888"/>
          </a:xfrm>
        </p:spPr>
        <p:txBody>
          <a:bodyPr>
            <a:normAutofit/>
          </a:bodyPr>
          <a:lstStyle/>
          <a:p>
            <a:r>
              <a:rPr lang="en-US" dirty="0"/>
              <a:t>Cycle-by-cycle flow of instructions through the pipelined </a:t>
            </a:r>
            <a:r>
              <a:rPr lang="en-US" dirty="0" err="1"/>
              <a:t>datapath</a:t>
            </a:r>
            <a:endParaRPr lang="en-US" dirty="0"/>
          </a:p>
          <a:p>
            <a:pPr lvl="1"/>
            <a:r>
              <a:rPr lang="en-US" dirty="0"/>
              <a:t>“Single-clock-cycle” pipeline diagram</a:t>
            </a:r>
          </a:p>
          <a:p>
            <a:pPr lvl="2">
              <a:buClr>
                <a:srgbClr val="0000FF"/>
              </a:buClr>
            </a:pPr>
            <a:r>
              <a:rPr lang="en-US" dirty="0"/>
              <a:t>Shows pipeline usage in a single cycle</a:t>
            </a:r>
          </a:p>
          <a:p>
            <a:pPr lvl="2">
              <a:buClr>
                <a:srgbClr val="0000FF"/>
              </a:buClr>
            </a:pPr>
            <a:r>
              <a:rPr lang="en-US" dirty="0"/>
              <a:t>Highlight resources used</a:t>
            </a:r>
          </a:p>
          <a:p>
            <a:r>
              <a:rPr lang="en-US" dirty="0"/>
              <a:t>We will look at “single-clock-cycle” diagrams for load &amp; store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C30CA4-988F-4C5B-9FF8-2E22960EAB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6651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for Load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24" y="803082"/>
            <a:ext cx="8202705" cy="380898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E5D7FB0-1F9B-4D5E-A2C1-714C2E196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4400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 for Load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71" y="813732"/>
            <a:ext cx="8095129" cy="3779846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EC50EB7-DDCB-4220-B52E-8865EB6A17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8618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 for Load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19" y="838899"/>
            <a:ext cx="8041340" cy="373429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D499C5A-7662-4B6F-A82D-81DB8BA1C5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0263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 for Load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53" y="864065"/>
            <a:ext cx="8077200" cy="3682997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911D67F-5116-4606-A384-A18320EA91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06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WB for Load (with bug)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46" y="869576"/>
            <a:ext cx="6902029" cy="363967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346848" y="3082529"/>
            <a:ext cx="650532" cy="20359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TextBox 9"/>
          <p:cNvSpPr txBox="1"/>
          <p:nvPr/>
        </p:nvSpPr>
        <p:spPr>
          <a:xfrm>
            <a:off x="1518842" y="3591935"/>
            <a:ext cx="164660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Incorrect </a:t>
            </a:r>
            <a:br>
              <a:rPr lang="en-US" sz="1350" dirty="0"/>
            </a:br>
            <a:r>
              <a:rPr lang="en-US" sz="1350" dirty="0"/>
              <a:t>destination register</a:t>
            </a:r>
          </a:p>
        </p:txBody>
      </p:sp>
      <p:cxnSp>
        <p:nvCxnSpPr>
          <p:cNvPr id="12" name="Straight Arrow Connector 11"/>
          <p:cNvCxnSpPr>
            <a:endCxn id="9" idx="3"/>
          </p:cNvCxnSpPr>
          <p:nvPr/>
        </p:nvCxnSpPr>
        <p:spPr>
          <a:xfrm flipV="1">
            <a:off x="2920365" y="3256309"/>
            <a:ext cx="521751" cy="49844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F83B54F-8714-438D-B030-5F0349F36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89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Corrected </a:t>
            </a:r>
            <a:r>
              <a:rPr lang="en-US" dirty="0" err="1"/>
              <a:t>Datapath</a:t>
            </a:r>
            <a:r>
              <a:rPr lang="en-US" dirty="0"/>
              <a:t> for Load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13" y="842679"/>
            <a:ext cx="7864551" cy="373828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CEFAEDE-6122-4BD1-9C1F-758F68DF7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548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 for Store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53" y="860532"/>
            <a:ext cx="7772400" cy="3719857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A49A70C-58A3-453C-B9F3-87B63B0635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530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 for Store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41" y="864066"/>
            <a:ext cx="7826187" cy="3687119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86A5A55-5321-47A9-A7DF-CC99AA8C1C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8306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WB for Store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75" y="822120"/>
            <a:ext cx="7951695" cy="373310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EDE64EA-D25D-412F-9CDD-6C7ABE374A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82489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Multi-Cycle Pipeline Diagram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244" y="808294"/>
            <a:ext cx="7805956" cy="489697"/>
          </a:xfrm>
        </p:spPr>
        <p:txBody>
          <a:bodyPr>
            <a:normAutofit/>
          </a:bodyPr>
          <a:lstStyle/>
          <a:p>
            <a:r>
              <a:rPr lang="en-US" dirty="0"/>
              <a:t>Traditional diagram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8565" y="1378427"/>
            <a:ext cx="7919979" cy="3061981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B37FED-5D30-45CA-9999-9CE02F8468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38281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Multi-Cycle Pipeline Diagram</a:t>
            </a:r>
            <a:r>
              <a:rPr lang="zh-CN" altLang="en-US" dirty="0"/>
              <a:t> </a:t>
            </a:r>
            <a:r>
              <a:rPr lang="en-US" altLang="zh-CN" dirty="0"/>
              <a:t>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2426" y="823786"/>
            <a:ext cx="5915025" cy="49328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Resources usage </a:t>
            </a:r>
            <a:r>
              <a:rPr lang="en-US" dirty="0"/>
              <a:t>is shown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7529" y="1312341"/>
            <a:ext cx="7879977" cy="3280950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369C6D-17AE-4065-8A37-B6050C25EC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67171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Single-Cycle Pipeline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8870" y="844011"/>
            <a:ext cx="5915025" cy="4562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State of the pipeline at a specific cycle 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94C237D-83F9-4543-B9EB-FCF6302E7B6F}"/>
              </a:ext>
            </a:extLst>
          </p:cNvPr>
          <p:cNvGrpSpPr/>
          <p:nvPr/>
        </p:nvGrpSpPr>
        <p:grpSpPr>
          <a:xfrm>
            <a:off x="466165" y="1392572"/>
            <a:ext cx="8184776" cy="3078760"/>
            <a:chOff x="1325686" y="1277245"/>
            <a:chExt cx="6351314" cy="358087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67000" y="1277245"/>
              <a:ext cx="6210000" cy="3490019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5686" y="3703344"/>
              <a:ext cx="860346" cy="1154776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810F42-D584-4CD5-A228-AA6BB8AD3D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9925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Pipelined Datapath with Control Signals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8211" y="865731"/>
            <a:ext cx="7691717" cy="371088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0A140AC-9EAE-4095-8F37-B5EEFC9FB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91477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Signals (1)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59" y="1342651"/>
            <a:ext cx="8703614" cy="2440455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F8B7CBE-CF40-4F7B-BDD5-DE0583E5C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90485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Signals (2)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80" y="1048870"/>
            <a:ext cx="8872042" cy="3218329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F8B7CBE-CF40-4F7B-BDD5-DE0583E5C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72447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7259" y="806196"/>
            <a:ext cx="5915025" cy="753664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Control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signals</a:t>
            </a:r>
            <a:r>
              <a:rPr lang="en-US" dirty="0"/>
              <a:t> derived from </a:t>
            </a:r>
            <a:r>
              <a:rPr lang="en-US" b="1" dirty="0">
                <a:solidFill>
                  <a:srgbClr val="FF0000"/>
                </a:solidFill>
              </a:rPr>
              <a:t>instruction</a:t>
            </a:r>
          </a:p>
          <a:p>
            <a:pPr lvl="1">
              <a:spcBef>
                <a:spcPts val="0"/>
              </a:spcBef>
            </a:pPr>
            <a:r>
              <a:rPr lang="en-US" dirty="0"/>
              <a:t>As in single-cycle implementation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3694" y="1622611"/>
            <a:ext cx="7055224" cy="2995286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14E695-A019-4363-AAE2-5B4693A5D1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2782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0634" y="832752"/>
            <a:ext cx="8155181" cy="37571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</a:t>
            </a:r>
            <a:r>
              <a:rPr lang="en-US" dirty="0" err="1"/>
              <a:t>Datapath</a:t>
            </a:r>
            <a:r>
              <a:rPr lang="en-US" dirty="0"/>
              <a:t> with Control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6384F9E-642F-436F-BDA0-F9C735D7E6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93706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Hazards in ALU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122" y="844153"/>
            <a:ext cx="7713677" cy="36718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Consider this sequence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sub	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$2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$1,$3	# Register $2 written by sub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and	$12,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$2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,$5	# 1st operand($2) depends on sub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or	$13,$6,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$2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# 2nd operand($2) depends on sub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add	$14,$2,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$2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# 1st($2) &amp; 2nd($2) depend on sub</a:t>
            </a:r>
          </a:p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$15,100(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$2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	# Base ($2) depends on sub</a:t>
            </a:r>
          </a:p>
          <a:p>
            <a:endParaRPr lang="en-US" dirty="0"/>
          </a:p>
          <a:p>
            <a:r>
              <a:rPr lang="en-US" dirty="0"/>
              <a:t>We can resolve hazards with forwarding</a:t>
            </a:r>
          </a:p>
          <a:p>
            <a:pPr lvl="1"/>
            <a:r>
              <a:rPr lang="en-US" dirty="0"/>
              <a:t>How do we detect when to forward?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209A5F-2018-4A07-8DCD-A02BCA020A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37697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Dependencies and Forwarding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0965" y="817581"/>
            <a:ext cx="7413811" cy="3737642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9034382-5517-4123-AF4B-ADC4297671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25816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 the Need to Forward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234" y="844153"/>
            <a:ext cx="7646565" cy="3671888"/>
          </a:xfrm>
        </p:spPr>
        <p:txBody>
          <a:bodyPr>
            <a:normAutofit/>
          </a:bodyPr>
          <a:lstStyle/>
          <a:p>
            <a:r>
              <a:rPr lang="en-US" dirty="0"/>
              <a:t>Pass register numbers along pipeline</a:t>
            </a:r>
          </a:p>
          <a:p>
            <a:pPr lvl="1"/>
            <a:r>
              <a:rPr lang="en-US" dirty="0"/>
              <a:t>e.g., ID/</a:t>
            </a:r>
            <a:r>
              <a:rPr lang="en-US" dirty="0" err="1"/>
              <a:t>EX.RegisterRs</a:t>
            </a:r>
            <a:r>
              <a:rPr lang="en-US" dirty="0"/>
              <a:t> = register number for </a:t>
            </a:r>
            <a:r>
              <a:rPr lang="en-US" dirty="0" err="1"/>
              <a:t>Rs</a:t>
            </a:r>
            <a:r>
              <a:rPr lang="en-US" dirty="0"/>
              <a:t> sitting in ID/EX pipeline register</a:t>
            </a:r>
          </a:p>
          <a:p>
            <a:r>
              <a:rPr lang="en-US" dirty="0"/>
              <a:t>ALU operand register numbers in EX stage are given by</a:t>
            </a:r>
          </a:p>
          <a:p>
            <a:pPr lvl="1"/>
            <a:r>
              <a:rPr lang="en-US" dirty="0"/>
              <a:t>ID/</a:t>
            </a:r>
            <a:r>
              <a:rPr lang="en-US" dirty="0" err="1"/>
              <a:t>EX.RegisterRs</a:t>
            </a:r>
            <a:r>
              <a:rPr lang="en-US" dirty="0"/>
              <a:t>, ID/</a:t>
            </a:r>
            <a:r>
              <a:rPr lang="en-US" dirty="0" err="1"/>
              <a:t>EX.RegisterRt</a:t>
            </a:r>
            <a:endParaRPr lang="en-US" dirty="0"/>
          </a:p>
          <a:p>
            <a:r>
              <a:rPr lang="en-US" dirty="0"/>
              <a:t>Data hazards when</a:t>
            </a:r>
          </a:p>
          <a:p>
            <a:pPr lvl="1"/>
            <a:r>
              <a:rPr lang="en-US" sz="1500" b="1" dirty="0">
                <a:solidFill>
                  <a:srgbClr val="FF0000"/>
                </a:solidFill>
              </a:rPr>
              <a:t>1a</a:t>
            </a:r>
            <a:r>
              <a:rPr lang="en-US" sz="1500" dirty="0"/>
              <a:t>. EX/</a:t>
            </a:r>
            <a:r>
              <a:rPr lang="en-US" sz="1500" dirty="0" err="1"/>
              <a:t>MEM.RegisterRd</a:t>
            </a:r>
            <a:r>
              <a:rPr lang="en-US" sz="1500" dirty="0"/>
              <a:t> = ID/</a:t>
            </a:r>
            <a:r>
              <a:rPr lang="en-US" sz="1500" dirty="0" err="1"/>
              <a:t>EX.RegisterRs</a:t>
            </a:r>
            <a:endParaRPr lang="en-US" sz="1500" dirty="0"/>
          </a:p>
          <a:p>
            <a:pPr lvl="1"/>
            <a:r>
              <a:rPr lang="en-US" sz="1500" b="1" dirty="0">
                <a:solidFill>
                  <a:srgbClr val="FF0000"/>
                </a:solidFill>
              </a:rPr>
              <a:t>1b</a:t>
            </a:r>
            <a:r>
              <a:rPr lang="en-US" sz="1500" dirty="0"/>
              <a:t>. EX/</a:t>
            </a:r>
            <a:r>
              <a:rPr lang="en-US" sz="1500" dirty="0" err="1"/>
              <a:t>MEM.RegisterRd</a:t>
            </a:r>
            <a:r>
              <a:rPr lang="en-US" sz="1500" dirty="0"/>
              <a:t> = ID/</a:t>
            </a:r>
            <a:r>
              <a:rPr lang="en-US" sz="1500" dirty="0" err="1"/>
              <a:t>EX.RegisterRt</a:t>
            </a:r>
            <a:endParaRPr lang="en-US" sz="1500" dirty="0"/>
          </a:p>
          <a:p>
            <a:pPr lvl="1"/>
            <a:r>
              <a:rPr lang="en-US" sz="1500" b="1" dirty="0">
                <a:solidFill>
                  <a:srgbClr val="FF0000"/>
                </a:solidFill>
              </a:rPr>
              <a:t>2a</a:t>
            </a:r>
            <a:r>
              <a:rPr lang="en-US" sz="1500" dirty="0"/>
              <a:t>. MEM/</a:t>
            </a:r>
            <a:r>
              <a:rPr lang="en-US" sz="1500" dirty="0" err="1"/>
              <a:t>WB.RegisterRd</a:t>
            </a:r>
            <a:r>
              <a:rPr lang="en-US" sz="1500" dirty="0"/>
              <a:t> = ID/</a:t>
            </a:r>
            <a:r>
              <a:rPr lang="en-US" sz="1500" dirty="0" err="1"/>
              <a:t>EX.RegisterRs</a:t>
            </a:r>
            <a:endParaRPr lang="en-US" sz="1500" dirty="0"/>
          </a:p>
          <a:p>
            <a:pPr lvl="1"/>
            <a:r>
              <a:rPr lang="en-US" sz="1500" b="1" dirty="0">
                <a:solidFill>
                  <a:srgbClr val="FF0000"/>
                </a:solidFill>
              </a:rPr>
              <a:t>2b</a:t>
            </a:r>
            <a:r>
              <a:rPr lang="en-US" sz="1500" dirty="0"/>
              <a:t>. MEM/</a:t>
            </a:r>
            <a:r>
              <a:rPr lang="en-US" sz="1500" dirty="0" err="1"/>
              <a:t>WB.RegisterRd</a:t>
            </a:r>
            <a:r>
              <a:rPr lang="en-US" sz="1500" dirty="0"/>
              <a:t> = ID/</a:t>
            </a:r>
            <a:r>
              <a:rPr lang="en-US" sz="1500" dirty="0" err="1"/>
              <a:t>EX.RegisterRt</a:t>
            </a:r>
            <a:endParaRPr lang="en-US" sz="1500" dirty="0"/>
          </a:p>
        </p:txBody>
      </p:sp>
      <p:sp>
        <p:nvSpPr>
          <p:cNvPr id="6" name="Right Brace 5"/>
          <p:cNvSpPr/>
          <p:nvPr/>
        </p:nvSpPr>
        <p:spPr>
          <a:xfrm>
            <a:off x="5123200" y="3251050"/>
            <a:ext cx="199430" cy="482203"/>
          </a:xfrm>
          <a:prstGeom prst="rightBrace">
            <a:avLst>
              <a:gd name="adj1" fmla="val 38333"/>
              <a:gd name="adj2" fmla="val 3074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ight Brace 8"/>
          <p:cNvSpPr/>
          <p:nvPr/>
        </p:nvSpPr>
        <p:spPr>
          <a:xfrm>
            <a:off x="5123200" y="3771166"/>
            <a:ext cx="199430" cy="482203"/>
          </a:xfrm>
          <a:prstGeom prst="rightBrace">
            <a:avLst>
              <a:gd name="adj1" fmla="val 38333"/>
              <a:gd name="adj2" fmla="val 6851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TextBox 9"/>
          <p:cNvSpPr txBox="1"/>
          <p:nvPr/>
        </p:nvSpPr>
        <p:spPr>
          <a:xfrm>
            <a:off x="5417427" y="3069343"/>
            <a:ext cx="1361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Forward from</a:t>
            </a:r>
            <a:br>
              <a:rPr lang="en-US" sz="1200" dirty="0"/>
            </a:br>
            <a:r>
              <a:rPr lang="en-US" sz="1200" dirty="0"/>
              <a:t>EX/MEM pipeline</a:t>
            </a:r>
            <a:br>
              <a:rPr lang="en-US" sz="1200" dirty="0"/>
            </a:br>
            <a:r>
              <a:rPr lang="en-US" sz="1200" dirty="0"/>
              <a:t>registers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7427" y="3791326"/>
            <a:ext cx="1404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Forward from</a:t>
            </a:r>
            <a:br>
              <a:rPr lang="en-US" sz="1200" dirty="0"/>
            </a:br>
            <a:r>
              <a:rPr lang="en-US" sz="1200" dirty="0"/>
              <a:t>MEM/WB pipeline</a:t>
            </a:r>
            <a:br>
              <a:rPr lang="en-US" sz="1200" dirty="0"/>
            </a:br>
            <a:r>
              <a:rPr lang="en-US" sz="1200" dirty="0"/>
              <a:t>registers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303669-AD85-44CA-86F2-41D0D09D26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58943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 the Need to Forward (2)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624" y="844153"/>
            <a:ext cx="7638176" cy="3671888"/>
          </a:xfrm>
        </p:spPr>
        <p:txBody>
          <a:bodyPr/>
          <a:lstStyle/>
          <a:p>
            <a:r>
              <a:rPr lang="en-US" dirty="0"/>
              <a:t>But only if forwarding instruction will write to a register</a:t>
            </a:r>
          </a:p>
          <a:p>
            <a:pPr lvl="1"/>
            <a:r>
              <a:rPr lang="en-US" dirty="0"/>
              <a:t>EX/</a:t>
            </a:r>
            <a:r>
              <a:rPr lang="en-US" dirty="0" err="1"/>
              <a:t>MEM.RegWrite</a:t>
            </a:r>
            <a:endParaRPr lang="en-US" dirty="0"/>
          </a:p>
          <a:p>
            <a:pPr lvl="1"/>
            <a:r>
              <a:rPr lang="en-US" dirty="0"/>
              <a:t>MEM/</a:t>
            </a:r>
            <a:r>
              <a:rPr lang="en-US" dirty="0" err="1"/>
              <a:t>WB.RegWrite</a:t>
            </a:r>
            <a:endParaRPr lang="en-US" dirty="0"/>
          </a:p>
          <a:p>
            <a:r>
              <a:rPr lang="en-US" dirty="0"/>
              <a:t>And only if Rd for that instruction is not $zero</a:t>
            </a:r>
          </a:p>
          <a:p>
            <a:pPr lvl="1"/>
            <a:r>
              <a:rPr lang="en-US" dirty="0"/>
              <a:t>EX/</a:t>
            </a:r>
            <a:r>
              <a:rPr lang="en-US" dirty="0" err="1"/>
              <a:t>MEM.RegisterRd</a:t>
            </a:r>
            <a:r>
              <a:rPr lang="en-US" dirty="0"/>
              <a:t> ≠ 0</a:t>
            </a:r>
          </a:p>
          <a:p>
            <a:pPr lvl="1"/>
            <a:r>
              <a:rPr lang="en-US" dirty="0"/>
              <a:t>MEM/</a:t>
            </a:r>
            <a:r>
              <a:rPr lang="en-US" dirty="0" err="1"/>
              <a:t>WB.RegisterRd</a:t>
            </a:r>
            <a:r>
              <a:rPr lang="en-US" dirty="0"/>
              <a:t> ≠ 0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0ACE6F-6C9A-44DB-A720-4A2591633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33903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 Paths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59" y="863879"/>
            <a:ext cx="7745505" cy="372605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8E1BA08-E6E0-44F0-B184-B9D432DF5A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83803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 Control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19" y="1486934"/>
            <a:ext cx="8452522" cy="2699172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1AA67BD-0A92-448A-A7C7-73E3B2BDCE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89953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 Conditions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901" y="793819"/>
            <a:ext cx="7705288" cy="3803348"/>
          </a:xfrm>
        </p:spPr>
        <p:txBody>
          <a:bodyPr>
            <a:noAutofit/>
          </a:bodyPr>
          <a:lstStyle/>
          <a:p>
            <a:r>
              <a:rPr lang="en-US" sz="1800" dirty="0"/>
              <a:t>EX hazard</a:t>
            </a:r>
          </a:p>
          <a:p>
            <a:pPr lvl="1"/>
            <a:r>
              <a:rPr lang="en-US" sz="1500" dirty="0"/>
              <a:t>if (EX/</a:t>
            </a:r>
            <a:r>
              <a:rPr lang="en-US" sz="1500" dirty="0" err="1"/>
              <a:t>MEM.RegWrite</a:t>
            </a:r>
            <a:r>
              <a:rPr lang="en-US" sz="1500" dirty="0"/>
              <a:t> and (EX/</a:t>
            </a:r>
            <a:r>
              <a:rPr lang="en-US" sz="1500" dirty="0" err="1"/>
              <a:t>MEM.RegisterRd</a:t>
            </a:r>
            <a:r>
              <a:rPr lang="en-US" sz="1500" dirty="0"/>
              <a:t> ≠ 0) </a:t>
            </a:r>
            <a:br>
              <a:rPr lang="en-US" sz="1500" dirty="0"/>
            </a:br>
            <a:r>
              <a:rPr lang="en-US" sz="1500" dirty="0"/>
              <a:t>	and (EX/</a:t>
            </a:r>
            <a:r>
              <a:rPr lang="en-US" sz="1500" dirty="0" err="1"/>
              <a:t>MEM.RegisterRd</a:t>
            </a:r>
            <a:r>
              <a:rPr lang="en-US" sz="1500" dirty="0"/>
              <a:t> = ID/</a:t>
            </a:r>
            <a:r>
              <a:rPr lang="en-US" sz="1500" dirty="0" err="1"/>
              <a:t>EX.RegisterRs</a:t>
            </a:r>
            <a:r>
              <a:rPr lang="en-US" sz="1500" dirty="0"/>
              <a:t>)) </a:t>
            </a:r>
          </a:p>
          <a:p>
            <a:pPr marL="515700" lvl="1" indent="0">
              <a:buNone/>
            </a:pPr>
            <a:r>
              <a:rPr lang="en-US" sz="1500" b="1" dirty="0" err="1">
                <a:solidFill>
                  <a:srgbClr val="FF0000"/>
                </a:solidFill>
              </a:rPr>
              <a:t>ForwardA</a:t>
            </a:r>
            <a:r>
              <a:rPr lang="en-US" sz="1500" b="1" dirty="0">
                <a:solidFill>
                  <a:srgbClr val="FF0000"/>
                </a:solidFill>
              </a:rPr>
              <a:t> = 10</a:t>
            </a:r>
          </a:p>
          <a:p>
            <a:pPr lvl="1"/>
            <a:r>
              <a:rPr lang="en-US" sz="1500" dirty="0"/>
              <a:t>if (EX/</a:t>
            </a:r>
            <a:r>
              <a:rPr lang="en-US" sz="1500" dirty="0" err="1"/>
              <a:t>MEM.RegWrite</a:t>
            </a:r>
            <a:r>
              <a:rPr lang="en-US" sz="1500" dirty="0"/>
              <a:t> and (EX/</a:t>
            </a:r>
            <a:r>
              <a:rPr lang="en-US" sz="1500" dirty="0" err="1"/>
              <a:t>MEM.RegisterRd</a:t>
            </a:r>
            <a:r>
              <a:rPr lang="en-US" sz="1500" dirty="0"/>
              <a:t> ≠ 0) </a:t>
            </a:r>
            <a:br>
              <a:rPr lang="en-US" sz="1500" dirty="0"/>
            </a:br>
            <a:r>
              <a:rPr lang="en-US" sz="1500" dirty="0"/>
              <a:t>	and (EX/</a:t>
            </a:r>
            <a:r>
              <a:rPr lang="en-US" sz="1500" dirty="0" err="1"/>
              <a:t>MEM.RegisterRd</a:t>
            </a:r>
            <a:r>
              <a:rPr lang="en-US" sz="1500" dirty="0"/>
              <a:t> = ID/</a:t>
            </a:r>
            <a:r>
              <a:rPr lang="en-US" sz="1500" dirty="0" err="1"/>
              <a:t>EX.RegisterRt</a:t>
            </a:r>
            <a:r>
              <a:rPr lang="en-US" sz="1500" dirty="0"/>
              <a:t>)) </a:t>
            </a:r>
          </a:p>
          <a:p>
            <a:pPr marL="515700" lvl="1" indent="0">
              <a:buNone/>
            </a:pPr>
            <a:r>
              <a:rPr lang="en-US" sz="1500" b="1" dirty="0" err="1">
                <a:solidFill>
                  <a:srgbClr val="FF0000"/>
                </a:solidFill>
              </a:rPr>
              <a:t>ForwardB</a:t>
            </a:r>
            <a:r>
              <a:rPr lang="en-US" sz="1500" b="1" dirty="0">
                <a:solidFill>
                  <a:srgbClr val="FF0000"/>
                </a:solidFill>
              </a:rPr>
              <a:t> = 10</a:t>
            </a:r>
          </a:p>
          <a:p>
            <a:r>
              <a:rPr lang="en-US" sz="1800" dirty="0"/>
              <a:t>MEM hazard</a:t>
            </a:r>
          </a:p>
          <a:p>
            <a:pPr lvl="1"/>
            <a:r>
              <a:rPr lang="en-US" sz="1500" dirty="0"/>
              <a:t>if (MEM/</a:t>
            </a:r>
            <a:r>
              <a:rPr lang="en-US" sz="1500" dirty="0" err="1"/>
              <a:t>WB.RegWrite</a:t>
            </a:r>
            <a:r>
              <a:rPr lang="en-US" sz="1500" dirty="0"/>
              <a:t> and (MEM/</a:t>
            </a:r>
            <a:r>
              <a:rPr lang="en-US" sz="1500" dirty="0" err="1"/>
              <a:t>WB.RegisterRd</a:t>
            </a:r>
            <a:r>
              <a:rPr lang="en-US" sz="1500" dirty="0"/>
              <a:t> ≠ 0) </a:t>
            </a:r>
            <a:br>
              <a:rPr lang="en-US" sz="1500" dirty="0"/>
            </a:br>
            <a:r>
              <a:rPr lang="en-US" sz="1500" dirty="0"/>
              <a:t>	and (MEM/</a:t>
            </a:r>
            <a:r>
              <a:rPr lang="en-US" sz="1500" dirty="0" err="1"/>
              <a:t>WB.RegisterRd</a:t>
            </a:r>
            <a:r>
              <a:rPr lang="en-US" sz="1500" dirty="0"/>
              <a:t> = ID/</a:t>
            </a:r>
            <a:r>
              <a:rPr lang="en-US" sz="1500" dirty="0" err="1"/>
              <a:t>EX.RegisterRs</a:t>
            </a:r>
            <a:r>
              <a:rPr lang="en-US" sz="1500" dirty="0"/>
              <a:t>))</a:t>
            </a:r>
          </a:p>
          <a:p>
            <a:pPr marL="515700" lvl="1" indent="0">
              <a:buNone/>
            </a:pPr>
            <a:r>
              <a:rPr lang="en-US" sz="1500" b="1" dirty="0" err="1">
                <a:solidFill>
                  <a:srgbClr val="FF0000"/>
                </a:solidFill>
              </a:rPr>
              <a:t>ForwardA</a:t>
            </a:r>
            <a:r>
              <a:rPr lang="en-US" sz="1500" b="1" dirty="0">
                <a:solidFill>
                  <a:srgbClr val="FF0000"/>
                </a:solidFill>
              </a:rPr>
              <a:t> = 01</a:t>
            </a:r>
          </a:p>
          <a:p>
            <a:pPr lvl="1"/>
            <a:r>
              <a:rPr lang="en-US" sz="1500" dirty="0"/>
              <a:t>if (MEM/</a:t>
            </a:r>
            <a:r>
              <a:rPr lang="en-US" sz="1500" dirty="0" err="1"/>
              <a:t>WB.RegWrite</a:t>
            </a:r>
            <a:r>
              <a:rPr lang="en-US" sz="1500" dirty="0"/>
              <a:t> and (MEM/</a:t>
            </a:r>
            <a:r>
              <a:rPr lang="en-US" sz="1500" dirty="0" err="1"/>
              <a:t>WB.RegisterRd</a:t>
            </a:r>
            <a:r>
              <a:rPr lang="en-US" sz="1500" dirty="0"/>
              <a:t> ≠ 0) </a:t>
            </a:r>
            <a:br>
              <a:rPr lang="en-US" sz="1500" dirty="0"/>
            </a:br>
            <a:r>
              <a:rPr lang="en-US" sz="1500" dirty="0"/>
              <a:t>	and (MEM/</a:t>
            </a:r>
            <a:r>
              <a:rPr lang="en-US" sz="1500" dirty="0" err="1"/>
              <a:t>WB.RegisterRd</a:t>
            </a:r>
            <a:r>
              <a:rPr lang="en-US" sz="1500" dirty="0"/>
              <a:t> = ID/</a:t>
            </a:r>
            <a:r>
              <a:rPr lang="en-US" sz="1500" dirty="0" err="1"/>
              <a:t>EX.RegisterRt</a:t>
            </a:r>
            <a:r>
              <a:rPr lang="en-US" sz="1500" dirty="0"/>
              <a:t>))</a:t>
            </a:r>
          </a:p>
          <a:p>
            <a:pPr marL="515700" lvl="1" indent="0">
              <a:buNone/>
            </a:pPr>
            <a:r>
              <a:rPr lang="en-US" sz="1500" b="1" dirty="0" err="1">
                <a:solidFill>
                  <a:srgbClr val="FF0000"/>
                </a:solidFill>
              </a:rPr>
              <a:t>ForwardB</a:t>
            </a:r>
            <a:r>
              <a:rPr lang="en-US" sz="1500" b="1" dirty="0">
                <a:solidFill>
                  <a:srgbClr val="FF0000"/>
                </a:solidFill>
              </a:rPr>
              <a:t> = 01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427971-7752-454B-95CA-EB88A669C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41341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Data Hazard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624" y="844153"/>
            <a:ext cx="7638176" cy="3671888"/>
          </a:xfrm>
        </p:spPr>
        <p:txBody>
          <a:bodyPr>
            <a:normAutofit/>
          </a:bodyPr>
          <a:lstStyle/>
          <a:p>
            <a:r>
              <a:rPr lang="en-US" dirty="0"/>
              <a:t>Consider the sequence:</a:t>
            </a:r>
          </a:p>
          <a:p>
            <a:pPr marL="3429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,$1,$2</a:t>
            </a:r>
          </a:p>
          <a:p>
            <a:pPr marL="3429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,$3</a:t>
            </a:r>
          </a:p>
          <a:p>
            <a:pPr marL="3429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$1,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,$4</a:t>
            </a:r>
          </a:p>
          <a:p>
            <a:r>
              <a:rPr lang="en-US" dirty="0"/>
              <a:t>Both hazards occur</a:t>
            </a:r>
          </a:p>
          <a:p>
            <a:pPr lvl="1"/>
            <a:r>
              <a:rPr lang="en-US" dirty="0"/>
              <a:t>Want to use the most recent</a:t>
            </a:r>
          </a:p>
          <a:p>
            <a:r>
              <a:rPr lang="en-US" dirty="0"/>
              <a:t>Revise MEM hazard condition</a:t>
            </a:r>
          </a:p>
          <a:p>
            <a:pPr lvl="1"/>
            <a:r>
              <a:rPr lang="en-US" dirty="0"/>
              <a:t>Only forward if EX hazard condition is not true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CD772A-B69D-4D5C-B40E-E69CA9C1E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50801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Revised Forwarding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122" y="844153"/>
            <a:ext cx="7713677" cy="367188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MEM hazard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if (MEM/</a:t>
            </a:r>
            <a:r>
              <a:rPr lang="en-US" sz="1800" dirty="0" err="1"/>
              <a:t>WB.RegWrite</a:t>
            </a:r>
            <a:r>
              <a:rPr lang="en-US" sz="1800" dirty="0"/>
              <a:t> and (MEM/</a:t>
            </a:r>
            <a:r>
              <a:rPr lang="en-US" sz="1800" dirty="0" err="1"/>
              <a:t>WB.RegisterRd</a:t>
            </a:r>
            <a:r>
              <a:rPr lang="en-US" sz="1800" dirty="0"/>
              <a:t> ≠ 0) 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dirty="0">
                <a:solidFill>
                  <a:srgbClr val="FF0000"/>
                </a:solidFill>
              </a:rPr>
              <a:t>and not (EX/</a:t>
            </a:r>
            <a:r>
              <a:rPr lang="en-US" sz="1800" dirty="0" err="1">
                <a:solidFill>
                  <a:srgbClr val="FF0000"/>
                </a:solidFill>
              </a:rPr>
              <a:t>MEM.RegWrite</a:t>
            </a:r>
            <a:r>
              <a:rPr lang="en-US" sz="1800" dirty="0">
                <a:solidFill>
                  <a:srgbClr val="FF0000"/>
                </a:solidFill>
              </a:rPr>
              <a:t> and (EX/</a:t>
            </a:r>
            <a:r>
              <a:rPr lang="en-US" sz="1800" dirty="0" err="1">
                <a:solidFill>
                  <a:srgbClr val="FF0000"/>
                </a:solidFill>
              </a:rPr>
              <a:t>MEM.RegisterRd</a:t>
            </a:r>
            <a:r>
              <a:rPr lang="en-US" sz="1800" dirty="0">
                <a:solidFill>
                  <a:srgbClr val="FF0000"/>
                </a:solidFill>
              </a:rPr>
              <a:t> ≠ 0)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800" dirty="0">
                <a:solidFill>
                  <a:srgbClr val="FF0000"/>
                </a:solidFill>
              </a:rPr>
              <a:t>		and (EX/</a:t>
            </a:r>
            <a:r>
              <a:rPr lang="en-US" sz="1800" dirty="0" err="1">
                <a:solidFill>
                  <a:srgbClr val="FF0000"/>
                </a:solidFill>
              </a:rPr>
              <a:t>MEM.RegisterRd</a:t>
            </a:r>
            <a:r>
              <a:rPr lang="en-US" sz="1800" dirty="0">
                <a:solidFill>
                  <a:srgbClr val="FF0000"/>
                </a:solidFill>
              </a:rPr>
              <a:t> = ID/</a:t>
            </a:r>
            <a:r>
              <a:rPr lang="en-US" sz="1800" dirty="0" err="1">
                <a:solidFill>
                  <a:srgbClr val="FF0000"/>
                </a:solidFill>
              </a:rPr>
              <a:t>EX.RegisterRs</a:t>
            </a:r>
            <a:r>
              <a:rPr lang="en-US" sz="1800" dirty="0">
                <a:solidFill>
                  <a:srgbClr val="FF0000"/>
                </a:solidFill>
              </a:rPr>
              <a:t>))</a:t>
            </a:r>
            <a:br>
              <a:rPr lang="en-US" sz="1800" dirty="0"/>
            </a:br>
            <a:r>
              <a:rPr lang="en-US" sz="1800" dirty="0"/>
              <a:t>	and (MEM/</a:t>
            </a:r>
            <a:r>
              <a:rPr lang="en-US" sz="1800" dirty="0" err="1"/>
              <a:t>WB.RegisterRd</a:t>
            </a:r>
            <a:r>
              <a:rPr lang="en-US" sz="1800" dirty="0"/>
              <a:t> = ID/</a:t>
            </a:r>
            <a:r>
              <a:rPr lang="en-US" sz="1800" dirty="0" err="1"/>
              <a:t>EX.RegisterRs</a:t>
            </a:r>
            <a:r>
              <a:rPr lang="en-US" sz="1800" dirty="0"/>
              <a:t>))</a:t>
            </a:r>
          </a:p>
          <a:p>
            <a:pPr marL="515700" lvl="1" indent="0">
              <a:buNone/>
            </a:pPr>
            <a:r>
              <a:rPr lang="en-US" sz="1800" b="1" dirty="0" err="1">
                <a:solidFill>
                  <a:srgbClr val="FF0000"/>
                </a:solidFill>
              </a:rPr>
              <a:t>ForwardA</a:t>
            </a:r>
            <a:r>
              <a:rPr lang="en-US" sz="1800" b="1" dirty="0">
                <a:solidFill>
                  <a:srgbClr val="FF0000"/>
                </a:solidFill>
              </a:rPr>
              <a:t> = 01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if (MEM/</a:t>
            </a:r>
            <a:r>
              <a:rPr lang="en-US" sz="1800" dirty="0" err="1"/>
              <a:t>WB.RegWrite</a:t>
            </a:r>
            <a:r>
              <a:rPr lang="en-US" sz="1800" dirty="0"/>
              <a:t> and (MEM/</a:t>
            </a:r>
            <a:r>
              <a:rPr lang="en-US" sz="1800" dirty="0" err="1"/>
              <a:t>WB.RegisterRd</a:t>
            </a:r>
            <a:r>
              <a:rPr lang="en-US" sz="1800" dirty="0"/>
              <a:t> ≠ 0) 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dirty="0">
                <a:solidFill>
                  <a:srgbClr val="FF0000"/>
                </a:solidFill>
              </a:rPr>
              <a:t>and not (EX/</a:t>
            </a:r>
            <a:r>
              <a:rPr lang="en-US" sz="1800" dirty="0" err="1">
                <a:solidFill>
                  <a:srgbClr val="FF0000"/>
                </a:solidFill>
              </a:rPr>
              <a:t>MEM.RegWrite</a:t>
            </a:r>
            <a:r>
              <a:rPr lang="en-US" sz="1800" dirty="0">
                <a:solidFill>
                  <a:srgbClr val="FF0000"/>
                </a:solidFill>
              </a:rPr>
              <a:t> and (EX/</a:t>
            </a:r>
            <a:r>
              <a:rPr lang="en-US" sz="1800" dirty="0" err="1">
                <a:solidFill>
                  <a:srgbClr val="FF0000"/>
                </a:solidFill>
              </a:rPr>
              <a:t>MEM.RegisterRd</a:t>
            </a:r>
            <a:r>
              <a:rPr lang="en-US" sz="1800" dirty="0">
                <a:solidFill>
                  <a:srgbClr val="FF0000"/>
                </a:solidFill>
              </a:rPr>
              <a:t> ≠ 0)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800" dirty="0">
                <a:solidFill>
                  <a:srgbClr val="FF0000"/>
                </a:solidFill>
              </a:rPr>
              <a:t>		and (EX/</a:t>
            </a:r>
            <a:r>
              <a:rPr lang="en-US" sz="1800" dirty="0" err="1">
                <a:solidFill>
                  <a:srgbClr val="FF0000"/>
                </a:solidFill>
              </a:rPr>
              <a:t>MEM.RegisterRd</a:t>
            </a:r>
            <a:r>
              <a:rPr lang="en-US" sz="1800" dirty="0">
                <a:solidFill>
                  <a:srgbClr val="FF0000"/>
                </a:solidFill>
              </a:rPr>
              <a:t> = ID/</a:t>
            </a:r>
            <a:r>
              <a:rPr lang="en-US" sz="1800" dirty="0" err="1">
                <a:solidFill>
                  <a:srgbClr val="FF0000"/>
                </a:solidFill>
              </a:rPr>
              <a:t>EX.RegisterRt</a:t>
            </a:r>
            <a:r>
              <a:rPr lang="en-US" sz="1800" dirty="0">
                <a:solidFill>
                  <a:srgbClr val="FF0000"/>
                </a:solidFill>
              </a:rPr>
              <a:t>))</a:t>
            </a:r>
            <a:br>
              <a:rPr lang="en-US" sz="1800" dirty="0"/>
            </a:br>
            <a:r>
              <a:rPr lang="en-US" sz="1800" dirty="0"/>
              <a:t>	and (MEM/</a:t>
            </a:r>
            <a:r>
              <a:rPr lang="en-US" sz="1800" dirty="0" err="1"/>
              <a:t>WB.RegisterRd</a:t>
            </a:r>
            <a:r>
              <a:rPr lang="en-US" sz="1800" dirty="0"/>
              <a:t> = ID/</a:t>
            </a:r>
            <a:r>
              <a:rPr lang="en-US" sz="1800" dirty="0" err="1"/>
              <a:t>EX.RegisterRt</a:t>
            </a:r>
            <a:r>
              <a:rPr lang="en-US" sz="1800" dirty="0"/>
              <a:t>))</a:t>
            </a:r>
          </a:p>
          <a:p>
            <a:pPr marL="515700" lvl="1" indent="0">
              <a:buNone/>
            </a:pPr>
            <a:r>
              <a:rPr lang="en-US" sz="1800" b="1" dirty="0" err="1">
                <a:solidFill>
                  <a:srgbClr val="FF0000"/>
                </a:solidFill>
              </a:rPr>
              <a:t>ForwardB</a:t>
            </a:r>
            <a:r>
              <a:rPr lang="en-US" sz="1800" b="1" dirty="0">
                <a:solidFill>
                  <a:srgbClr val="FF0000"/>
                </a:solidFill>
              </a:rPr>
              <a:t> = 01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9E9F11-E1CF-455B-B0B1-C8E631978C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6262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Datapath</a:t>
            </a:r>
            <a:r>
              <a:rPr lang="en-US" dirty="0"/>
              <a:t> with Forwarding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9953" y="855677"/>
            <a:ext cx="7987553" cy="3726467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328412-E3D4-4A59-9C9C-C85548918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2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Load-Use Data Hazard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2270CC0-9F8B-4FF8-B184-ABFA94930D17}"/>
              </a:ext>
            </a:extLst>
          </p:cNvPr>
          <p:cNvGrpSpPr/>
          <p:nvPr/>
        </p:nvGrpSpPr>
        <p:grpSpPr>
          <a:xfrm>
            <a:off x="797859" y="818631"/>
            <a:ext cx="7602070" cy="3700732"/>
            <a:chOff x="1909682" y="1022270"/>
            <a:chExt cx="5473179" cy="3744994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09682" y="1022270"/>
              <a:ext cx="5324636" cy="3744994"/>
            </a:xfrm>
            <a:prstGeom prst="rect">
              <a:avLst/>
            </a:prstGeom>
          </p:spPr>
        </p:pic>
        <p:sp>
          <p:nvSpPr>
            <p:cNvPr id="9" name="Oval 8"/>
            <p:cNvSpPr/>
            <p:nvPr/>
          </p:nvSpPr>
          <p:spPr>
            <a:xfrm rot="18977004">
              <a:off x="4252004" y="2434184"/>
              <a:ext cx="742369" cy="24204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17157" y="1857889"/>
              <a:ext cx="1165704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Need to stall</a:t>
              </a:r>
              <a:br>
                <a:rPr lang="en-US" sz="1350" dirty="0"/>
              </a:br>
              <a:r>
                <a:rPr lang="en-US" sz="1350" dirty="0"/>
                <a:t>for one cycle</a:t>
              </a:r>
            </a:p>
          </p:txBody>
        </p:sp>
        <p:cxnSp>
          <p:nvCxnSpPr>
            <p:cNvPr id="12" name="Straight Arrow Connector 11"/>
            <p:cNvCxnSpPr>
              <a:stCxn id="10" idx="1"/>
            </p:cNvCxnSpPr>
            <p:nvPr/>
          </p:nvCxnSpPr>
          <p:spPr>
            <a:xfrm flipH="1">
              <a:off x="4907758" y="2111805"/>
              <a:ext cx="1309399" cy="37422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CBF97B7-D2D4-4210-BBC0-0BBD242426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79230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Load-Use Hazard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344" y="844153"/>
            <a:ext cx="7730455" cy="3671888"/>
          </a:xfrm>
        </p:spPr>
        <p:txBody>
          <a:bodyPr>
            <a:normAutofit/>
          </a:bodyPr>
          <a:lstStyle/>
          <a:p>
            <a:r>
              <a:rPr lang="en-US" dirty="0"/>
              <a:t>Check when using instruction is decoded in ID stage</a:t>
            </a:r>
          </a:p>
          <a:p>
            <a:r>
              <a:rPr lang="en-US" dirty="0"/>
              <a:t>ALU operand register numbers in ID stage are given by</a:t>
            </a:r>
          </a:p>
          <a:p>
            <a:pPr lvl="1"/>
            <a:r>
              <a:rPr lang="en-US" dirty="0"/>
              <a:t>IF/</a:t>
            </a:r>
            <a:r>
              <a:rPr lang="en-US" dirty="0" err="1"/>
              <a:t>ID.RegisterRs</a:t>
            </a:r>
            <a:endParaRPr lang="en-US" dirty="0"/>
          </a:p>
          <a:p>
            <a:pPr lvl="1"/>
            <a:r>
              <a:rPr lang="en-US" dirty="0"/>
              <a:t>IF/</a:t>
            </a:r>
            <a:r>
              <a:rPr lang="en-US" dirty="0" err="1"/>
              <a:t>ID.RegisterRt</a:t>
            </a:r>
            <a:endParaRPr lang="en-US" dirty="0"/>
          </a:p>
          <a:p>
            <a:r>
              <a:rPr lang="en-US" dirty="0"/>
              <a:t>Load-use hazard when</a:t>
            </a:r>
          </a:p>
          <a:p>
            <a:pPr lvl="1"/>
            <a:r>
              <a:rPr lang="en-US" dirty="0"/>
              <a:t>ID/</a:t>
            </a:r>
            <a:r>
              <a:rPr lang="en-US" dirty="0" err="1"/>
              <a:t>EX.MemRead</a:t>
            </a:r>
            <a:r>
              <a:rPr lang="en-US" dirty="0"/>
              <a:t> and </a:t>
            </a:r>
            <a:br>
              <a:rPr lang="en-US" dirty="0"/>
            </a:br>
            <a:r>
              <a:rPr lang="en-US" dirty="0"/>
              <a:t>	((ID/</a:t>
            </a:r>
            <a:r>
              <a:rPr lang="en-US" dirty="0" err="1"/>
              <a:t>EX.RegisterRt</a:t>
            </a:r>
            <a:r>
              <a:rPr lang="en-US" dirty="0"/>
              <a:t> = IF/</a:t>
            </a:r>
            <a:r>
              <a:rPr lang="en-US" dirty="0" err="1"/>
              <a:t>ID.RegisterRs</a:t>
            </a:r>
            <a:r>
              <a:rPr lang="en-US" dirty="0"/>
              <a:t>) or</a:t>
            </a:r>
            <a:br>
              <a:rPr lang="en-US" dirty="0"/>
            </a:br>
            <a:r>
              <a:rPr lang="en-US" dirty="0"/>
              <a:t>	(ID/</a:t>
            </a:r>
            <a:r>
              <a:rPr lang="en-US" dirty="0" err="1"/>
              <a:t>EX.RegisterRt</a:t>
            </a:r>
            <a:r>
              <a:rPr lang="en-US" dirty="0"/>
              <a:t> = IF/</a:t>
            </a:r>
            <a:r>
              <a:rPr lang="en-US" dirty="0" err="1"/>
              <a:t>ID.RegisterRt</a:t>
            </a:r>
            <a:r>
              <a:rPr lang="en-US" dirty="0"/>
              <a:t>))</a:t>
            </a:r>
          </a:p>
          <a:p>
            <a:r>
              <a:rPr lang="en-US" dirty="0"/>
              <a:t>If detected, stall and insert bubble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277B42-E792-4C53-9D0F-CC23C78CC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18540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Stall the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012" y="844153"/>
            <a:ext cx="7629787" cy="3671888"/>
          </a:xfrm>
        </p:spPr>
        <p:txBody>
          <a:bodyPr>
            <a:normAutofit/>
          </a:bodyPr>
          <a:lstStyle/>
          <a:p>
            <a:r>
              <a:rPr lang="en-US" dirty="0"/>
              <a:t>Force control values in ID/EX register to 0</a:t>
            </a:r>
          </a:p>
          <a:p>
            <a:pPr lvl="1"/>
            <a:r>
              <a:rPr lang="en-US" dirty="0"/>
              <a:t>EX, MEM and WB do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r>
              <a:rPr lang="en-US" dirty="0"/>
              <a:t> (no-operation)</a:t>
            </a:r>
          </a:p>
          <a:p>
            <a:r>
              <a:rPr lang="en-US" dirty="0"/>
              <a:t>Prevent update of PC and IF/ID register</a:t>
            </a:r>
          </a:p>
          <a:p>
            <a:pPr lvl="1"/>
            <a:r>
              <a:rPr lang="en-US" dirty="0"/>
              <a:t>Using instruction is decoded again</a:t>
            </a:r>
          </a:p>
          <a:p>
            <a:pPr lvl="1"/>
            <a:r>
              <a:rPr lang="en-US" dirty="0"/>
              <a:t>Following instruction is fetched again</a:t>
            </a:r>
          </a:p>
          <a:p>
            <a:pPr lvl="1"/>
            <a:r>
              <a:rPr lang="en-US" dirty="0"/>
              <a:t>1-cycle stall allows MEM to read data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/>
              <a:t>Can subsequently forward to EX stage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9D73E6-AF22-4959-A81E-E84430BA1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34905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Stalling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0612" y="833450"/>
            <a:ext cx="7494493" cy="3746215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14BE003-5352-410E-B60F-A20EDFB5A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8951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Stall/Bubble in the Pipeline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28" y="841462"/>
            <a:ext cx="7655859" cy="3722149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29879BD-75EC-49B4-8D55-8A2E2AE5A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59939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Datapath</a:t>
            </a:r>
            <a:r>
              <a:rPr lang="en-US" dirty="0"/>
              <a:t> with Hazard Detection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48" y="845374"/>
            <a:ext cx="7718612" cy="3711079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B689AFF-DD19-4498-9C50-DBDE2F553A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54800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Stalls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068" y="844153"/>
            <a:ext cx="7671732" cy="3671888"/>
          </a:xfrm>
        </p:spPr>
        <p:txBody>
          <a:bodyPr/>
          <a:lstStyle/>
          <a:p>
            <a:r>
              <a:rPr lang="en-US" dirty="0"/>
              <a:t>Stalls reduce performance</a:t>
            </a:r>
          </a:p>
          <a:p>
            <a:pPr lvl="1"/>
            <a:r>
              <a:rPr lang="en-US" dirty="0"/>
              <a:t>But are required to get correct results</a:t>
            </a:r>
          </a:p>
          <a:p>
            <a:r>
              <a:rPr lang="en-US" dirty="0"/>
              <a:t>Compiler can arrange code to avoid hazards and stalls</a:t>
            </a:r>
          </a:p>
          <a:p>
            <a:pPr lvl="1"/>
            <a:r>
              <a:rPr lang="en-US" dirty="0"/>
              <a:t>Requires knowledge of the pipeline structure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070A17-ED4C-4B3F-8FA6-581DF87610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61118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Hazards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052425" y="792020"/>
            <a:ext cx="5915025" cy="3696530"/>
          </a:xfrm>
        </p:spPr>
        <p:txBody>
          <a:bodyPr/>
          <a:lstStyle/>
          <a:p>
            <a:r>
              <a:rPr lang="en-US" dirty="0"/>
              <a:t>If branch outcome determined in MEM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2B0FC47-0393-48DE-B313-7C32031CFA94}"/>
              </a:ext>
            </a:extLst>
          </p:cNvPr>
          <p:cNvGrpSpPr/>
          <p:nvPr/>
        </p:nvGrpSpPr>
        <p:grpSpPr>
          <a:xfrm>
            <a:off x="1013012" y="1256924"/>
            <a:ext cx="7745506" cy="3210377"/>
            <a:chOff x="2107478" y="1319677"/>
            <a:chExt cx="8163675" cy="344758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07478" y="1319677"/>
              <a:ext cx="4929044" cy="3447587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6604350" y="3333189"/>
              <a:ext cx="3666803" cy="5453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Flush these instructions (Set control values to 0) </a:t>
              </a: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D660132-DCD5-4108-8F53-B284C8266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04430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Hazards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0998" y="781571"/>
            <a:ext cx="7772671" cy="3827300"/>
          </a:xfrm>
        </p:spPr>
        <p:txBody>
          <a:bodyPr>
            <a:noAutofit/>
          </a:bodyPr>
          <a:lstStyle/>
          <a:p>
            <a:r>
              <a:rPr lang="en-US" sz="1800" dirty="0"/>
              <a:t>When the flow of instruction addresses is not sequential (i.e., PC = PC + 4); incurred by change of flow instructions</a:t>
            </a:r>
          </a:p>
          <a:p>
            <a:pPr lvl="1"/>
            <a:r>
              <a:rPr lang="en-US" sz="1600" dirty="0"/>
              <a:t>Unconditional branches (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sz="1600" dirty="0"/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600" dirty="0"/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Conditional branches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sz="1600" dirty="0"/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Exceptions</a:t>
            </a:r>
          </a:p>
          <a:p>
            <a:r>
              <a:rPr lang="en-US" sz="1800" dirty="0"/>
              <a:t>Possible approaches</a:t>
            </a:r>
          </a:p>
          <a:p>
            <a:pPr lvl="1"/>
            <a:r>
              <a:rPr lang="en-US" sz="1600" dirty="0"/>
              <a:t>Stall (impacts CPI)</a:t>
            </a:r>
          </a:p>
          <a:p>
            <a:pPr lvl="1"/>
            <a:r>
              <a:rPr lang="en-US" sz="1600" dirty="0"/>
              <a:t>Move decision point as early in the pipeline as possible, thereby reducing the number of stall cycles</a:t>
            </a:r>
          </a:p>
          <a:p>
            <a:pPr lvl="1"/>
            <a:r>
              <a:rPr lang="en-US" sz="1600" dirty="0"/>
              <a:t>Delay decision (requires compiler support)</a:t>
            </a:r>
          </a:p>
          <a:p>
            <a:pPr lvl="1"/>
            <a:r>
              <a:rPr lang="en-US" sz="1600" dirty="0"/>
              <a:t>Predict and hope for the best!</a:t>
            </a:r>
          </a:p>
          <a:p>
            <a:r>
              <a:rPr lang="en-US" sz="1800" dirty="0"/>
              <a:t>Control hazards occur less frequently than data hazards, but there is </a:t>
            </a:r>
            <a:r>
              <a:rPr lang="en-US" sz="1800" b="1" dirty="0">
                <a:solidFill>
                  <a:schemeClr val="accent1"/>
                </a:solidFill>
              </a:rPr>
              <a:t>nothing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as effective against control hazards as forwarding is for data hazards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7C1A2E-BED2-4EDA-AA70-FCBCF87B0A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51868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Branch Delay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012" y="844153"/>
            <a:ext cx="7629787" cy="36718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Move hardware to determine outcome to ID stage to reduce cost of the taken branch</a:t>
            </a:r>
          </a:p>
          <a:p>
            <a:pPr lvl="1"/>
            <a:r>
              <a:rPr lang="en-US" dirty="0"/>
              <a:t>Target address adder</a:t>
            </a:r>
          </a:p>
          <a:p>
            <a:pPr lvl="1"/>
            <a:r>
              <a:rPr lang="en-US" dirty="0"/>
              <a:t>Register comparator</a:t>
            </a:r>
          </a:p>
          <a:p>
            <a:r>
              <a:rPr lang="en-US" dirty="0"/>
              <a:t>Example: branch taken</a:t>
            </a:r>
          </a:p>
          <a:p>
            <a:pPr marL="470297" indent="0"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36: sub $10, $4, $8 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40: </a:t>
            </a:r>
            <a:r>
              <a:rPr lang="en-US" sz="15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sz="15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$1, $3, 7 </a:t>
            </a:r>
            <a:br>
              <a:rPr lang="en-US" sz="15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44: and $12, $2, $5 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48: or $13, $2, $6 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52: add $14, $4, $2 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56: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$15, $6, $7 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... 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72: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$4, 50($7)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3C34DE-82C8-4940-B2BA-0F83D872C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6693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Branch Taken (1)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6518" y="843835"/>
            <a:ext cx="8489576" cy="3703422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65F5F3B-BD5E-4020-8EC6-6A71A467EB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18327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Branch Taken (2)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" y="860037"/>
            <a:ext cx="8023412" cy="374259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9E85DD2-BEBC-494E-847D-8FA3232FAE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508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Branch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068" y="844153"/>
            <a:ext cx="7671732" cy="36718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deeper and superscalar pipelines, branch penalty is more significant</a:t>
            </a:r>
          </a:p>
          <a:p>
            <a:r>
              <a:rPr lang="en-US" dirty="0"/>
              <a:t>Use dynamic prediction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Branch prediction buffer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(aka branch history table)</a:t>
            </a:r>
          </a:p>
          <a:p>
            <a:pPr lvl="1"/>
            <a:r>
              <a:rPr lang="en-US" dirty="0"/>
              <a:t>Indexed by recent branch instruction addresses</a:t>
            </a:r>
          </a:p>
          <a:p>
            <a:pPr lvl="1"/>
            <a:r>
              <a:rPr lang="en-US" dirty="0"/>
              <a:t>Stores outcome (taken/not taken)</a:t>
            </a:r>
          </a:p>
          <a:p>
            <a:pPr lvl="1"/>
            <a:r>
              <a:rPr lang="en-US" dirty="0"/>
              <a:t>To execute a branch</a:t>
            </a:r>
          </a:p>
          <a:p>
            <a:pPr lvl="2"/>
            <a:r>
              <a:rPr lang="en-US" dirty="0"/>
              <a:t>Check table, expect the same outcome</a:t>
            </a:r>
          </a:p>
          <a:p>
            <a:pPr lvl="2"/>
            <a:r>
              <a:rPr lang="en-US" dirty="0"/>
              <a:t>Start fetching from fall-through or target</a:t>
            </a:r>
          </a:p>
          <a:p>
            <a:pPr lvl="2"/>
            <a:r>
              <a:rPr lang="en-US" dirty="0"/>
              <a:t>If wrong, flush pipeline and flip prediction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81580B-3819-4902-9909-413419582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9078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1-Bit Predictor - Shortcoming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065" y="844153"/>
            <a:ext cx="7550093" cy="3671888"/>
          </a:xfrm>
        </p:spPr>
        <p:txBody>
          <a:bodyPr>
            <a:normAutofit/>
          </a:bodyPr>
          <a:lstStyle/>
          <a:p>
            <a:r>
              <a:rPr lang="en-US" sz="2000" dirty="0"/>
              <a:t>A 1-bit predictor will be incorrect twice when not taken</a:t>
            </a:r>
          </a:p>
          <a:p>
            <a:pPr lvl="1"/>
            <a:r>
              <a:rPr lang="en-US" sz="1800" dirty="0"/>
              <a:t>Assume </a:t>
            </a:r>
            <a:r>
              <a:rPr lang="en-US" sz="1800" dirty="0" err="1"/>
              <a:t>predict_bit</a:t>
            </a:r>
            <a:r>
              <a:rPr lang="en-US" sz="1800" dirty="0"/>
              <a:t> = </a:t>
            </a:r>
            <a:r>
              <a:rPr lang="en-US" sz="1800" b="1" dirty="0">
                <a:solidFill>
                  <a:schemeClr val="accent1"/>
                </a:solidFill>
              </a:rPr>
              <a:t>0</a:t>
            </a:r>
            <a:r>
              <a:rPr lang="en-US" sz="1800" dirty="0"/>
              <a:t> to start (indicating branch not taken) and loop control is at the bottom of the loop code</a:t>
            </a:r>
          </a:p>
          <a:p>
            <a:pPr marL="728663" lvl="1" indent="-385763">
              <a:buFont typeface="+mj-lt"/>
              <a:buAutoNum type="arabicPeriod"/>
            </a:pPr>
            <a:r>
              <a:rPr lang="en-US" sz="1600" dirty="0"/>
              <a:t>First time through the loop, the predictor </a:t>
            </a:r>
            <a:r>
              <a:rPr lang="en-US" sz="1600" dirty="0" err="1"/>
              <a:t>mispredicts</a:t>
            </a:r>
            <a:r>
              <a:rPr lang="en-US" sz="1600" dirty="0"/>
              <a:t> the branch since the branch is taken back to the top of the loop; invert prediction bit (</a:t>
            </a:r>
            <a:r>
              <a:rPr lang="en-US" sz="1600" dirty="0" err="1"/>
              <a:t>predict_bit</a:t>
            </a:r>
            <a:r>
              <a:rPr lang="en-US" sz="1600" dirty="0"/>
              <a:t> = </a:t>
            </a:r>
            <a:r>
              <a:rPr lang="en-US" sz="1600" b="1" dirty="0">
                <a:solidFill>
                  <a:schemeClr val="accent1"/>
                </a:solidFill>
              </a:rPr>
              <a:t>1</a:t>
            </a:r>
            <a:r>
              <a:rPr lang="en-US" sz="1600" dirty="0"/>
              <a:t>)</a:t>
            </a:r>
          </a:p>
          <a:p>
            <a:pPr marL="728663" lvl="1" indent="-385763">
              <a:buFont typeface="+mj-lt"/>
              <a:buAutoNum type="arabicPeriod"/>
            </a:pPr>
            <a:r>
              <a:rPr lang="en-US" sz="1600" dirty="0"/>
              <a:t>As long as branch is taken (looping), prediction is correct</a:t>
            </a:r>
          </a:p>
          <a:p>
            <a:pPr marL="728663" lvl="1" indent="-385763">
              <a:buFont typeface="+mj-lt"/>
              <a:buAutoNum type="arabicPeriod"/>
            </a:pPr>
            <a:r>
              <a:rPr lang="en-US" sz="1600" dirty="0"/>
              <a:t>Exiting the loop, the predictor again </a:t>
            </a:r>
            <a:r>
              <a:rPr lang="en-US" sz="1600" dirty="0" err="1"/>
              <a:t>mispredicts</a:t>
            </a:r>
            <a:r>
              <a:rPr lang="en-US" sz="1600" dirty="0"/>
              <a:t> the branch since this time the branch is not taken falling out of the loop; invert prediction bit (</a:t>
            </a:r>
            <a:r>
              <a:rPr lang="en-US" sz="1600" dirty="0" err="1"/>
              <a:t>predict_bit</a:t>
            </a:r>
            <a:r>
              <a:rPr lang="en-US" sz="1600" dirty="0"/>
              <a:t> = </a:t>
            </a:r>
            <a:r>
              <a:rPr lang="en-US" sz="1600" b="1" dirty="0">
                <a:solidFill>
                  <a:schemeClr val="accent1"/>
                </a:solidFill>
              </a:rPr>
              <a:t>0</a:t>
            </a:r>
            <a:r>
              <a:rPr lang="en-US" sz="1600" dirty="0"/>
              <a:t>)</a:t>
            </a:r>
          </a:p>
          <a:p>
            <a:r>
              <a:rPr lang="en-US" sz="2000" dirty="0"/>
              <a:t>For 10 times through the loop we have a </a:t>
            </a:r>
            <a:r>
              <a:rPr lang="en-US" sz="2000" b="1" dirty="0">
                <a:solidFill>
                  <a:srgbClr val="FF0000"/>
                </a:solidFill>
              </a:rPr>
              <a:t>80%</a:t>
            </a:r>
            <a:r>
              <a:rPr lang="en-US" sz="2000" dirty="0"/>
              <a:t> prediction accuracy for a branch that is taken </a:t>
            </a:r>
            <a:r>
              <a:rPr lang="en-US" sz="2000" b="1" dirty="0">
                <a:solidFill>
                  <a:srgbClr val="FF0000"/>
                </a:solidFill>
              </a:rPr>
              <a:t>90%</a:t>
            </a:r>
            <a:r>
              <a:rPr lang="en-US" sz="2000" dirty="0"/>
              <a:t> of the time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F81C50-7550-4A74-819D-816481F73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93580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2-Bit Predictor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344" y="844153"/>
            <a:ext cx="7730455" cy="833645"/>
          </a:xfrm>
        </p:spPr>
        <p:txBody>
          <a:bodyPr>
            <a:normAutofit/>
          </a:bodyPr>
          <a:lstStyle/>
          <a:p>
            <a:r>
              <a:rPr lang="en-US" sz="2000" dirty="0"/>
              <a:t>A 2-bit scheme can give 90% accuracy since a prediction must be wrong twice before the prediction bit is changed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59145" y="1723194"/>
            <a:ext cx="4479536" cy="2762381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8FAE69-E3D4-40A2-A8A0-8036869CE1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88011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the Branch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6678" y="844153"/>
            <a:ext cx="7680121" cy="3671888"/>
          </a:xfrm>
        </p:spPr>
        <p:txBody>
          <a:bodyPr>
            <a:normAutofit/>
          </a:bodyPr>
          <a:lstStyle/>
          <a:p>
            <a:r>
              <a:rPr lang="en-US" dirty="0"/>
              <a:t>Even with predictor, still need to calculate the target address</a:t>
            </a:r>
          </a:p>
          <a:p>
            <a:pPr lvl="1"/>
            <a:r>
              <a:rPr lang="en-US" dirty="0"/>
              <a:t>1-cycle penalty for a taken branch</a:t>
            </a:r>
          </a:p>
          <a:p>
            <a:r>
              <a:rPr lang="en-US" dirty="0"/>
              <a:t>Branch target buffer</a:t>
            </a:r>
          </a:p>
          <a:p>
            <a:pPr lvl="1"/>
            <a:r>
              <a:rPr lang="en-US" dirty="0"/>
              <a:t>Cache of target addresses</a:t>
            </a:r>
          </a:p>
          <a:p>
            <a:pPr lvl="1"/>
            <a:r>
              <a:rPr lang="en-US" dirty="0"/>
              <a:t>Indexed by PC when instruction fetched</a:t>
            </a:r>
          </a:p>
          <a:p>
            <a:pPr lvl="2"/>
            <a:r>
              <a:rPr lang="en-US" dirty="0"/>
              <a:t>If hit and instruction is branch predicted taken, can fetch target immediately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42CCAD-5047-4094-BAF5-0AF9BD9FB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5417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 and Interrupts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012" y="844153"/>
            <a:ext cx="7629787" cy="3671888"/>
          </a:xfrm>
        </p:spPr>
        <p:txBody>
          <a:bodyPr>
            <a:normAutofit/>
          </a:bodyPr>
          <a:lstStyle/>
          <a:p>
            <a:r>
              <a:rPr lang="en-US" dirty="0"/>
              <a:t>“Unexpected” events requiring change in flow of control</a:t>
            </a:r>
          </a:p>
          <a:p>
            <a:pPr lvl="1"/>
            <a:r>
              <a:rPr lang="en-US" dirty="0"/>
              <a:t>Different ISAs use the terms differently</a:t>
            </a:r>
          </a:p>
          <a:p>
            <a:r>
              <a:rPr lang="en-US" dirty="0"/>
              <a:t>Exception</a:t>
            </a:r>
          </a:p>
          <a:p>
            <a:pPr lvl="1"/>
            <a:r>
              <a:rPr lang="en-US" dirty="0"/>
              <a:t>Arises within the CPU</a:t>
            </a:r>
          </a:p>
          <a:p>
            <a:pPr lvl="2"/>
            <a:r>
              <a:rPr lang="en-US" dirty="0"/>
              <a:t>e.g., undefined opcode, overflow, </a:t>
            </a:r>
            <a:r>
              <a:rPr lang="en-US" dirty="0" err="1"/>
              <a:t>syscall</a:t>
            </a:r>
            <a:r>
              <a:rPr lang="en-US" dirty="0"/>
              <a:t>, …</a:t>
            </a:r>
          </a:p>
          <a:p>
            <a:r>
              <a:rPr lang="en-US" dirty="0"/>
              <a:t>Interrupt</a:t>
            </a:r>
          </a:p>
          <a:p>
            <a:pPr lvl="1"/>
            <a:r>
              <a:rPr lang="en-US" dirty="0"/>
              <a:t>From an external I/O controller</a:t>
            </a:r>
          </a:p>
          <a:p>
            <a:r>
              <a:rPr lang="en-US" dirty="0"/>
              <a:t>Dealing with them without sacrificing performance is hard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AC62FD-2317-4A50-90CA-EF9811420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05395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Handling Exceptions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068" y="844153"/>
            <a:ext cx="7671732" cy="3671888"/>
          </a:xfrm>
        </p:spPr>
        <p:txBody>
          <a:bodyPr>
            <a:normAutofit/>
          </a:bodyPr>
          <a:lstStyle/>
          <a:p>
            <a:r>
              <a:rPr lang="en-US" dirty="0"/>
              <a:t>In MIPS, exceptions managed by a System Control Coprocessor (CP0)</a:t>
            </a:r>
          </a:p>
          <a:p>
            <a:r>
              <a:rPr lang="en-US" dirty="0"/>
              <a:t>Save PC of offending (or interrupted) instruction</a:t>
            </a:r>
          </a:p>
          <a:p>
            <a:pPr lvl="1"/>
            <a:r>
              <a:rPr lang="en-US" dirty="0"/>
              <a:t>In MIPS: </a:t>
            </a:r>
            <a:r>
              <a:rPr lang="en-US" b="1" dirty="0">
                <a:solidFill>
                  <a:srgbClr val="FF0000"/>
                </a:solidFill>
              </a:rPr>
              <a:t>Exception Program Counter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(EPC)</a:t>
            </a:r>
          </a:p>
          <a:p>
            <a:r>
              <a:rPr lang="en-US" dirty="0"/>
              <a:t>Save indication of the problem</a:t>
            </a:r>
          </a:p>
          <a:p>
            <a:pPr lvl="1"/>
            <a:r>
              <a:rPr lang="en-US" dirty="0"/>
              <a:t>In MIPS: </a:t>
            </a:r>
            <a:r>
              <a:rPr lang="en-US" b="1" dirty="0">
                <a:solidFill>
                  <a:srgbClr val="FF0000"/>
                </a:solidFill>
              </a:rPr>
              <a:t>Cause register</a:t>
            </a:r>
          </a:p>
          <a:p>
            <a:r>
              <a:rPr lang="en-US" dirty="0"/>
              <a:t>Jump to handler at 0x8000 0180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B9BBC1-E79E-44E2-A6A6-6F2E3295EC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5605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1496" y="797332"/>
            <a:ext cx="7093284" cy="3870531"/>
          </a:xfrm>
        </p:spPr>
        <p:txBody>
          <a:bodyPr>
            <a:normAutofit fontScale="70000" lnSpcReduction="20000"/>
          </a:bodyPr>
          <a:lstStyle/>
          <a:p>
            <a:r>
              <a:rPr lang="en-US" sz="2600" dirty="0"/>
              <a:t>ISA influences design of </a:t>
            </a:r>
            <a:r>
              <a:rPr lang="en-US" sz="2600" dirty="0" err="1"/>
              <a:t>datapath</a:t>
            </a:r>
            <a:r>
              <a:rPr lang="en-US" sz="2600" dirty="0"/>
              <a:t> and control</a:t>
            </a:r>
          </a:p>
          <a:p>
            <a:r>
              <a:rPr lang="en-US" sz="2600" dirty="0" err="1"/>
              <a:t>Datapath</a:t>
            </a:r>
            <a:r>
              <a:rPr lang="en-US" sz="2600" dirty="0"/>
              <a:t> and control influence design of ISA</a:t>
            </a:r>
          </a:p>
          <a:p>
            <a:r>
              <a:rPr lang="en-US" sz="2600" dirty="0"/>
              <a:t>Pipelining improves instruction throughput using parallelism</a:t>
            </a:r>
          </a:p>
          <a:p>
            <a:pPr lvl="1"/>
            <a:r>
              <a:rPr lang="en-US" sz="2300" dirty="0"/>
              <a:t>More instructions completed per second</a:t>
            </a:r>
          </a:p>
          <a:p>
            <a:pPr lvl="1"/>
            <a:r>
              <a:rPr lang="en-US" sz="2300" dirty="0"/>
              <a:t>Latency for each instruction not reduced</a:t>
            </a:r>
          </a:p>
          <a:p>
            <a:r>
              <a:rPr lang="en-US" sz="2600" dirty="0"/>
              <a:t>Hazards</a:t>
            </a:r>
          </a:p>
          <a:p>
            <a:pPr lvl="1"/>
            <a:r>
              <a:rPr lang="en-US" sz="2300" dirty="0"/>
              <a:t>Structural</a:t>
            </a:r>
          </a:p>
          <a:p>
            <a:pPr lvl="2"/>
            <a:r>
              <a:rPr lang="en-US" dirty="0"/>
              <a:t>designing the pipeline correctly</a:t>
            </a:r>
          </a:p>
          <a:p>
            <a:pPr lvl="1"/>
            <a:r>
              <a:rPr lang="en-US" sz="2300" dirty="0"/>
              <a:t>Data</a:t>
            </a:r>
          </a:p>
          <a:p>
            <a:pPr lvl="2"/>
            <a:r>
              <a:rPr lang="en-US" dirty="0"/>
              <a:t>Stall (impacts CPI)</a:t>
            </a:r>
          </a:p>
          <a:p>
            <a:pPr lvl="2"/>
            <a:r>
              <a:rPr lang="en-US" dirty="0"/>
              <a:t>Forward (requires hardware support)</a:t>
            </a:r>
          </a:p>
          <a:p>
            <a:pPr lvl="1"/>
            <a:r>
              <a:rPr lang="en-US" sz="2300" dirty="0"/>
              <a:t>Control</a:t>
            </a:r>
          </a:p>
          <a:p>
            <a:pPr lvl="2"/>
            <a:r>
              <a:rPr lang="en-US" dirty="0"/>
              <a:t>Stall (impacts CPI)</a:t>
            </a:r>
          </a:p>
          <a:p>
            <a:pPr lvl="2"/>
            <a:r>
              <a:rPr lang="en-US" dirty="0"/>
              <a:t>Delay decision (requires compiler support)</a:t>
            </a:r>
          </a:p>
          <a:p>
            <a:pPr lvl="2"/>
            <a:r>
              <a:rPr lang="en-US" dirty="0"/>
              <a:t>Static and dynamic prediction (requires hardware support)</a:t>
            </a:r>
          </a:p>
          <a:p>
            <a:r>
              <a:rPr lang="en-US" sz="2600" dirty="0"/>
              <a:t>Pipelining complicates exception handling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29656D-A9FF-443D-8D2B-46B668E7F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2993128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3049</TotalTime>
  <Words>2087</Words>
  <Application>Microsoft Office PowerPoint</Application>
  <PresentationFormat>全屏显示(16:9)</PresentationFormat>
  <Paragraphs>462</Paragraphs>
  <Slides>70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76" baseType="lpstr">
      <vt:lpstr>MS Sans Serif</vt:lpstr>
      <vt:lpstr>Arial</vt:lpstr>
      <vt:lpstr>Calibri</vt:lpstr>
      <vt:lpstr>Courier New</vt:lpstr>
      <vt:lpstr>Wingdings</vt:lpstr>
      <vt:lpstr>NTHU UniCloud</vt:lpstr>
      <vt:lpstr>CSC3050 – Computer Architecture</vt:lpstr>
      <vt:lpstr>Single-Cycle Advantages &amp; Disadvantages</vt:lpstr>
      <vt:lpstr>Pipelining Analogy</vt:lpstr>
      <vt:lpstr>Five Stages of Load Instruction</vt:lpstr>
      <vt:lpstr>Pipeline Performance (1)</vt:lpstr>
      <vt:lpstr>Pipeline Performance (2)</vt:lpstr>
      <vt:lpstr>Pipeline Speedup</vt:lpstr>
      <vt:lpstr>Pipelining and ISA Design</vt:lpstr>
      <vt:lpstr>Hazards</vt:lpstr>
      <vt:lpstr>Structure Hazards</vt:lpstr>
      <vt:lpstr>Data Hazards</vt:lpstr>
      <vt:lpstr>Forwarding (or Bypassing)</vt:lpstr>
      <vt:lpstr>Load-Use Data Hazard </vt:lpstr>
      <vt:lpstr>Reorder Code to Avoid Pipeline Stalls</vt:lpstr>
      <vt:lpstr>Control Hazards</vt:lpstr>
      <vt:lpstr>Stall on Branch</vt:lpstr>
      <vt:lpstr>Branch Prediction</vt:lpstr>
      <vt:lpstr>Predict Branches Are Not Taken</vt:lpstr>
      <vt:lpstr>More-Realistic Branch Prediction</vt:lpstr>
      <vt:lpstr>Pipeline Big-Picture Summary</vt:lpstr>
      <vt:lpstr>MIPS Pipelined Datapath</vt:lpstr>
      <vt:lpstr>Pipeline Registers</vt:lpstr>
      <vt:lpstr>Timeline of Instruction Execution</vt:lpstr>
      <vt:lpstr>Pipeline Operation </vt:lpstr>
      <vt:lpstr>IF for Load</vt:lpstr>
      <vt:lpstr>ID for Load</vt:lpstr>
      <vt:lpstr>EX for Load</vt:lpstr>
      <vt:lpstr>MEM for Load</vt:lpstr>
      <vt:lpstr>WB for Load (with bug)</vt:lpstr>
      <vt:lpstr>Corrected Datapath for Load</vt:lpstr>
      <vt:lpstr>EX for Store</vt:lpstr>
      <vt:lpstr>MEM for Store</vt:lpstr>
      <vt:lpstr>WB for Store</vt:lpstr>
      <vt:lpstr>Multi-Cycle Pipeline Diagram (1)</vt:lpstr>
      <vt:lpstr>Multi-Cycle Pipeline Diagram (2)</vt:lpstr>
      <vt:lpstr>Single-Cycle Pipeline Diagram</vt:lpstr>
      <vt:lpstr>Pipelined Datapath with Control Signals</vt:lpstr>
      <vt:lpstr>Control Signals (1)</vt:lpstr>
      <vt:lpstr>Control Signals (2)</vt:lpstr>
      <vt:lpstr>Pipeline Control</vt:lpstr>
      <vt:lpstr>Pipeline Datapath with Control</vt:lpstr>
      <vt:lpstr>Data Hazards in ALU Instructions</vt:lpstr>
      <vt:lpstr>Dependencies and Forwarding</vt:lpstr>
      <vt:lpstr>Detect the Need to Forward (1)</vt:lpstr>
      <vt:lpstr>Detect the Need to Forward (2) </vt:lpstr>
      <vt:lpstr>Forwarding Paths</vt:lpstr>
      <vt:lpstr>Forwarding Control</vt:lpstr>
      <vt:lpstr>Forwarding Conditions </vt:lpstr>
      <vt:lpstr>Double Data Hazard </vt:lpstr>
      <vt:lpstr>Revised Forwarding Conditions</vt:lpstr>
      <vt:lpstr>Datapath with Forwarding</vt:lpstr>
      <vt:lpstr>Load-Use Data Hazard</vt:lpstr>
      <vt:lpstr>Load-Use Hazard Detection</vt:lpstr>
      <vt:lpstr>How to Stall the Pipeline</vt:lpstr>
      <vt:lpstr>Without Stalling</vt:lpstr>
      <vt:lpstr>Stall/Bubble in the Pipeline</vt:lpstr>
      <vt:lpstr>Datapath with Hazard Detection</vt:lpstr>
      <vt:lpstr>Stalls and Performance</vt:lpstr>
      <vt:lpstr>Branch Hazards</vt:lpstr>
      <vt:lpstr>Control Hazards</vt:lpstr>
      <vt:lpstr>Reducing Branch Delay </vt:lpstr>
      <vt:lpstr>Example - Branch Taken (1)</vt:lpstr>
      <vt:lpstr>Example - Branch Taken (2)</vt:lpstr>
      <vt:lpstr>Dynamic Branch Prediction</vt:lpstr>
      <vt:lpstr>1-Bit Predictor - Shortcoming</vt:lpstr>
      <vt:lpstr>2-Bit Predictor</vt:lpstr>
      <vt:lpstr>Calculating the Branch Target</vt:lpstr>
      <vt:lpstr>Exceptions and Interrupts</vt:lpstr>
      <vt:lpstr>Handling Exceptions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280</cp:revision>
  <dcterms:created xsi:type="dcterms:W3CDTF">2015-06-05T07:23:35Z</dcterms:created>
  <dcterms:modified xsi:type="dcterms:W3CDTF">2019-04-07T08:33:15Z</dcterms:modified>
</cp:coreProperties>
</file>