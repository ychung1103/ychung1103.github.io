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5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Autofit/>
          </a:bodyPr>
          <a:lstStyle/>
          <a:p>
            <a:r>
              <a:rPr lang="en-US" sz="2000" dirty="0"/>
              <a:t>Use </a:t>
            </a:r>
            <a:r>
              <a:rPr lang="en-US" sz="2000" b="1" dirty="0">
                <a:solidFill>
                  <a:schemeClr val="accent1"/>
                </a:solidFill>
              </a:rPr>
              <a:t>main memory</a:t>
            </a:r>
            <a:r>
              <a:rPr lang="en-US" sz="2000" dirty="0"/>
              <a:t> as a “cache” for </a:t>
            </a:r>
            <a:r>
              <a:rPr lang="en-US" sz="2000" b="1" dirty="0">
                <a:solidFill>
                  <a:schemeClr val="accent1"/>
                </a:solidFill>
              </a:rPr>
              <a:t>secondary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(</a:t>
            </a:r>
            <a:r>
              <a:rPr lang="en-US" sz="2000" b="1" dirty="0">
                <a:solidFill>
                  <a:schemeClr val="accent1"/>
                </a:solidFill>
              </a:rPr>
              <a:t>disk</a:t>
            </a:r>
            <a:r>
              <a:rPr lang="en-US" sz="2000" dirty="0"/>
              <a:t>) </a:t>
            </a:r>
            <a:r>
              <a:rPr lang="en-US" sz="2000" b="1" dirty="0">
                <a:solidFill>
                  <a:schemeClr val="accent1"/>
                </a:solidFill>
              </a:rPr>
              <a:t>storage</a:t>
            </a:r>
          </a:p>
          <a:p>
            <a:pPr lvl="1"/>
            <a:r>
              <a:rPr lang="en-US" sz="1800" dirty="0"/>
              <a:t>Managed jointly by CPU hardware and the operating system (OS)</a:t>
            </a:r>
          </a:p>
          <a:p>
            <a:r>
              <a:rPr lang="en-US" sz="2000" dirty="0"/>
              <a:t>Programs share main memory</a:t>
            </a:r>
          </a:p>
          <a:p>
            <a:pPr lvl="1"/>
            <a:r>
              <a:rPr lang="en-US" sz="1800" dirty="0"/>
              <a:t>Each gets a private virtual address space holding its frequently used code and data</a:t>
            </a:r>
          </a:p>
          <a:p>
            <a:pPr lvl="1"/>
            <a:r>
              <a:rPr lang="en-US" sz="1800" dirty="0"/>
              <a:t>Protected from other programs</a:t>
            </a:r>
          </a:p>
          <a:p>
            <a:r>
              <a:rPr lang="en-US" sz="2000" dirty="0"/>
              <a:t>CPU and OS translate virtual addresses to physical addresses</a:t>
            </a:r>
          </a:p>
          <a:p>
            <a:pPr lvl="1"/>
            <a:r>
              <a:rPr lang="en-US" sz="1800" dirty="0"/>
              <a:t>VM “block” is called a </a:t>
            </a:r>
            <a:r>
              <a:rPr lang="en-US" sz="1800" b="1" dirty="0">
                <a:solidFill>
                  <a:schemeClr val="accent1"/>
                </a:solidFill>
              </a:rPr>
              <a:t>page</a:t>
            </a:r>
          </a:p>
          <a:p>
            <a:pPr lvl="1"/>
            <a:r>
              <a:rPr lang="en-US" sz="1800" dirty="0"/>
              <a:t>VM translation “miss” is called a </a:t>
            </a:r>
            <a:r>
              <a:rPr lang="en-US" sz="1800" b="1" dirty="0">
                <a:solidFill>
                  <a:schemeClr val="accent1"/>
                </a:solidFill>
              </a:rPr>
              <a:t>page fault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89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Programs Sharing Physical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687012"/>
          </a:xfrm>
        </p:spPr>
        <p:txBody>
          <a:bodyPr>
            <a:noAutofit/>
          </a:bodyPr>
          <a:lstStyle/>
          <a:p>
            <a:r>
              <a:rPr lang="en-US" sz="2000" dirty="0"/>
              <a:t>A program’s address space is divided into </a:t>
            </a:r>
            <a:r>
              <a:rPr lang="en-US" sz="2000" b="1" dirty="0">
                <a:solidFill>
                  <a:schemeClr val="accent1"/>
                </a:solidFill>
              </a:rPr>
              <a:t>pages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(all one fixed size) or </a:t>
            </a:r>
            <a:r>
              <a:rPr lang="en-US" sz="2000" b="1" dirty="0">
                <a:solidFill>
                  <a:schemeClr val="accent1"/>
                </a:solidFill>
              </a:rPr>
              <a:t>segments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(variable sizes)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820563" y="1747856"/>
            <a:ext cx="5330310" cy="2777085"/>
            <a:chOff x="1731545" y="1460003"/>
            <a:chExt cx="5701443" cy="3064937"/>
          </a:xfrm>
        </p:grpSpPr>
        <p:grpSp>
          <p:nvGrpSpPr>
            <p:cNvPr id="73" name="Group 72"/>
            <p:cNvGrpSpPr/>
            <p:nvPr/>
          </p:nvGrpSpPr>
          <p:grpSpPr>
            <a:xfrm>
              <a:off x="1731545" y="1460003"/>
              <a:ext cx="5701443" cy="2422347"/>
              <a:chOff x="784726" y="2111430"/>
              <a:chExt cx="7601924" cy="3229796"/>
            </a:xfrm>
          </p:grpSpPr>
          <p:sp>
            <p:nvSpPr>
              <p:cNvPr id="6" name="Flowchart: Magnetic Disk 5"/>
              <p:cNvSpPr/>
              <p:nvPr/>
            </p:nvSpPr>
            <p:spPr>
              <a:xfrm>
                <a:off x="784726" y="3959773"/>
                <a:ext cx="1824121" cy="723899"/>
              </a:xfrm>
              <a:prstGeom prst="flowChartMagneticDisk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3762098" y="2664826"/>
                <a:ext cx="1800000" cy="1512000"/>
                <a:chOff x="3822700" y="2525126"/>
                <a:chExt cx="1800000" cy="1512000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3822700" y="2525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3822700" y="2777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3822700" y="3029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822700" y="3281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3822700" y="3533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3822700" y="3785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18" name="TextBox 17"/>
              <p:cNvSpPr txBox="1"/>
              <p:nvPr/>
            </p:nvSpPr>
            <p:spPr>
              <a:xfrm>
                <a:off x="3572911" y="2111430"/>
                <a:ext cx="2178375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Program 1</a:t>
                </a:r>
              </a:p>
              <a:p>
                <a:pPr algn="ctr"/>
                <a:r>
                  <a:rPr lang="en-US" sz="1200" dirty="0"/>
                  <a:t>virtual address space</a:t>
                </a:r>
              </a:p>
            </p:txBody>
          </p:sp>
          <p:grpSp>
            <p:nvGrpSpPr>
              <p:cNvPr id="44" name="Group 43"/>
              <p:cNvGrpSpPr/>
              <p:nvPr/>
            </p:nvGrpSpPr>
            <p:grpSpPr>
              <a:xfrm>
                <a:off x="6586650" y="3325226"/>
                <a:ext cx="1800000" cy="2016000"/>
                <a:chOff x="6586650" y="3325226"/>
                <a:chExt cx="1800000" cy="2016000"/>
              </a:xfrm>
            </p:grpSpPr>
            <p:sp>
              <p:nvSpPr>
                <p:cNvPr id="36" name="Rectangle 35"/>
                <p:cNvSpPr/>
                <p:nvPr/>
              </p:nvSpPr>
              <p:spPr>
                <a:xfrm>
                  <a:off x="6586650" y="3325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6586650" y="3577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6586650" y="3829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6586650" y="4081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6586650" y="4333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6586650" y="4585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6586650" y="4837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6586650" y="50892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45" name="TextBox 44"/>
              <p:cNvSpPr txBox="1"/>
              <p:nvPr/>
            </p:nvSpPr>
            <p:spPr>
              <a:xfrm>
                <a:off x="6743711" y="2943395"/>
                <a:ext cx="14858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Main memory</a:t>
                </a:r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flipH="1">
                <a:off x="1168400" y="2790826"/>
                <a:ext cx="3493698" cy="12736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 flipH="1">
                <a:off x="1374274" y="3046352"/>
                <a:ext cx="3287824" cy="1016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 flipH="1">
                <a:off x="1583647" y="3298126"/>
                <a:ext cx="3078451" cy="77618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flipH="1">
                <a:off x="1574800" y="3553652"/>
                <a:ext cx="3087298" cy="5865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 flipH="1">
                <a:off x="2311400" y="3806026"/>
                <a:ext cx="2350698" cy="2579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H="1">
                <a:off x="2019300" y="4061552"/>
                <a:ext cx="2642798" cy="659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>
                <a:endCxn id="43" idx="1"/>
              </p:cNvCxnSpPr>
              <p:nvPr/>
            </p:nvCxnSpPr>
            <p:spPr>
              <a:xfrm>
                <a:off x="4662098" y="2787526"/>
                <a:ext cx="1924552" cy="24277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endCxn id="36" idx="1"/>
              </p:cNvCxnSpPr>
              <p:nvPr/>
            </p:nvCxnSpPr>
            <p:spPr>
              <a:xfrm flipV="1">
                <a:off x="4670945" y="3451226"/>
                <a:ext cx="1915705" cy="1024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>
                <a:endCxn id="41" idx="1"/>
              </p:cNvCxnSpPr>
              <p:nvPr/>
            </p:nvCxnSpPr>
            <p:spPr>
              <a:xfrm>
                <a:off x="4668595" y="3827954"/>
                <a:ext cx="1918055" cy="8832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1871663" y="3160368"/>
              <a:ext cx="4211325" cy="1364572"/>
              <a:chOff x="971550" y="4378584"/>
              <a:chExt cx="5615100" cy="1819429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3572911" y="4378584"/>
                <a:ext cx="2178375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1"/>
                    </a:solidFill>
                  </a:rPr>
                  <a:t>Program 2</a:t>
                </a:r>
              </a:p>
              <a:p>
                <a:pPr algn="ctr"/>
                <a:r>
                  <a:rPr lang="en-US" sz="1200" dirty="0">
                    <a:solidFill>
                      <a:schemeClr val="accent1"/>
                    </a:solidFill>
                  </a:rPr>
                  <a:t>virtual address space</a:t>
                </a:r>
              </a:p>
            </p:txBody>
          </p:sp>
          <p:grpSp>
            <p:nvGrpSpPr>
              <p:cNvPr id="28" name="Group 27"/>
              <p:cNvGrpSpPr/>
              <p:nvPr/>
            </p:nvGrpSpPr>
            <p:grpSpPr>
              <a:xfrm>
                <a:off x="3762097" y="4938013"/>
                <a:ext cx="1800000" cy="1260000"/>
                <a:chOff x="3822700" y="2525126"/>
                <a:chExt cx="1800000" cy="1260000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3822700" y="2525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3822700" y="2777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3822700" y="3029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3822700" y="3281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3822700" y="3533126"/>
                  <a:ext cx="1800000" cy="25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cxnSp>
            <p:nvCxnSpPr>
              <p:cNvPr id="74" name="Straight Arrow Connector 73"/>
              <p:cNvCxnSpPr/>
              <p:nvPr/>
            </p:nvCxnSpPr>
            <p:spPr>
              <a:xfrm flipH="1" flipV="1">
                <a:off x="2311400" y="4400143"/>
                <a:ext cx="2350699" cy="663872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 flipH="1" flipV="1">
                <a:off x="2017029" y="4458953"/>
                <a:ext cx="2645070" cy="857061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/>
              <p:nvPr/>
            </p:nvCxnSpPr>
            <p:spPr>
              <a:xfrm flipH="1" flipV="1">
                <a:off x="1696786" y="4468836"/>
                <a:ext cx="2965314" cy="1109063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>
              <a:xfrm flipH="1" flipV="1">
                <a:off x="1304925" y="4442560"/>
                <a:ext cx="3357174" cy="1387337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/>
              <p:cNvCxnSpPr/>
              <p:nvPr/>
            </p:nvCxnSpPr>
            <p:spPr>
              <a:xfrm flipH="1" flipV="1">
                <a:off x="971550" y="4468836"/>
                <a:ext cx="3690549" cy="1597825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/>
              <p:cNvCxnSpPr>
                <a:endCxn id="42" idx="1"/>
              </p:cNvCxnSpPr>
              <p:nvPr/>
            </p:nvCxnSpPr>
            <p:spPr>
              <a:xfrm flipV="1">
                <a:off x="4668595" y="4963226"/>
                <a:ext cx="1918055" cy="112506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40" idx="1"/>
              </p:cNvCxnSpPr>
              <p:nvPr/>
            </p:nvCxnSpPr>
            <p:spPr>
              <a:xfrm flipV="1">
                <a:off x="4662097" y="4459226"/>
                <a:ext cx="1924553" cy="1118673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endCxn id="41" idx="1"/>
              </p:cNvCxnSpPr>
              <p:nvPr/>
            </p:nvCxnSpPr>
            <p:spPr>
              <a:xfrm flipV="1">
                <a:off x="4662096" y="4711226"/>
                <a:ext cx="1924554" cy="1118672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oval" w="med" len="med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9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Translation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4153"/>
            <a:ext cx="8229600" cy="3777274"/>
          </a:xfrm>
        </p:spPr>
        <p:txBody>
          <a:bodyPr>
            <a:noAutofit/>
          </a:bodyPr>
          <a:lstStyle/>
          <a:p>
            <a:r>
              <a:rPr lang="en-US" sz="1800" dirty="0"/>
              <a:t>A </a:t>
            </a:r>
            <a:r>
              <a:rPr lang="en-US" sz="1800" b="1" dirty="0">
                <a:solidFill>
                  <a:schemeClr val="accent1"/>
                </a:solidFill>
              </a:rPr>
              <a:t>virtual address</a:t>
            </a:r>
            <a:r>
              <a:rPr lang="en-US" sz="1800" dirty="0"/>
              <a:t> is translated to a </a:t>
            </a:r>
            <a:r>
              <a:rPr lang="en-US" sz="1800" b="1" dirty="0">
                <a:solidFill>
                  <a:schemeClr val="accent1"/>
                </a:solidFill>
              </a:rPr>
              <a:t>physical address </a:t>
            </a:r>
            <a:r>
              <a:rPr lang="en-US" sz="1800" dirty="0"/>
              <a:t>by a combination of hardware and software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So each memory request </a:t>
            </a:r>
            <a:r>
              <a:rPr lang="en-US" sz="1800" b="1" dirty="0">
                <a:solidFill>
                  <a:schemeClr val="accent1"/>
                </a:solidFill>
              </a:rPr>
              <a:t>first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requires an address </a:t>
            </a:r>
            <a:r>
              <a:rPr lang="en-US" sz="1800" b="1" dirty="0">
                <a:solidFill>
                  <a:schemeClr val="accent1"/>
                </a:solidFill>
              </a:rPr>
              <a:t>translation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from the virtual space to the physical space</a:t>
            </a:r>
          </a:p>
          <a:p>
            <a:pPr lvl="1"/>
            <a:r>
              <a:rPr lang="en-US" sz="1600" dirty="0"/>
              <a:t>A virtual memory miss (i.e., when the page is not in physical memory) is called a </a:t>
            </a:r>
            <a:r>
              <a:rPr lang="en-US" sz="1600" b="1" dirty="0">
                <a:solidFill>
                  <a:schemeClr val="accent1"/>
                </a:solidFill>
              </a:rPr>
              <a:t>page fault</a:t>
            </a:r>
            <a:r>
              <a:rPr lang="en-US" sz="1600" dirty="0"/>
              <a:t>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937459" y="1520760"/>
            <a:ext cx="7269082" cy="1741423"/>
            <a:chOff x="757990" y="2257935"/>
            <a:chExt cx="10377514" cy="2289984"/>
          </a:xfrm>
        </p:grpSpPr>
        <p:grpSp>
          <p:nvGrpSpPr>
            <p:cNvPr id="36" name="Group 35"/>
            <p:cNvGrpSpPr/>
            <p:nvPr/>
          </p:nvGrpSpPr>
          <p:grpSpPr>
            <a:xfrm>
              <a:off x="757990" y="2257935"/>
              <a:ext cx="7399422" cy="2289984"/>
              <a:chOff x="757990" y="2366219"/>
              <a:chExt cx="7399422" cy="2289984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757990" y="2366219"/>
                <a:ext cx="7399422" cy="753392"/>
                <a:chOff x="757990" y="3703488"/>
                <a:chExt cx="7399422" cy="753392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854243" y="4024880"/>
                  <a:ext cx="5260808" cy="43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Virtual page number</a:t>
                  </a: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6115050" y="4024880"/>
                  <a:ext cx="1955723" cy="43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Page offset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757990" y="3703488"/>
                  <a:ext cx="7399422" cy="400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3898106" algn="r"/>
                      <a:tab pos="4168379" algn="r"/>
                      <a:tab pos="5413772" algn="r"/>
                    </a:tabLst>
                  </a:pPr>
                  <a:r>
                    <a:rPr lang="en-US" sz="1350" dirty="0"/>
                    <a:t>31	12	11	0</a:t>
                  </a:r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757990" y="3902811"/>
                <a:ext cx="7399422" cy="753392"/>
                <a:chOff x="757990" y="4961556"/>
                <a:chExt cx="7399422" cy="753392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1407695" y="5282948"/>
                  <a:ext cx="4707356" cy="43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Physical page number</a:t>
                  </a: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6115050" y="5282948"/>
                  <a:ext cx="1955723" cy="432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Page offset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757990" y="4961556"/>
                  <a:ext cx="7399422" cy="400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604838" algn="r"/>
                      <a:tab pos="3898106" algn="r"/>
                      <a:tab pos="4168379" algn="r"/>
                      <a:tab pos="5413772" algn="r"/>
                    </a:tabLst>
                  </a:pPr>
                  <a:r>
                    <a:rPr lang="en-US" sz="1350" dirty="0"/>
                    <a:t>	29	12	11	0</a:t>
                  </a:r>
                </a:p>
              </p:txBody>
            </p:sp>
          </p:grpSp>
          <p:sp>
            <p:nvSpPr>
              <p:cNvPr id="22" name="Rounded Rectangle 21"/>
              <p:cNvSpPr/>
              <p:nvPr/>
            </p:nvSpPr>
            <p:spPr>
              <a:xfrm>
                <a:off x="2883068" y="3478955"/>
                <a:ext cx="1756610" cy="39704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Translation</a:t>
                </a: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>
                <a:off x="3761373" y="3864203"/>
                <a:ext cx="0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>
                <a:off x="3761373" y="3118955"/>
                <a:ext cx="0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7120484" y="3124200"/>
                <a:ext cx="0" cy="11000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8253666" y="2580419"/>
              <a:ext cx="27073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chemeClr val="accent1"/>
                  </a:solidFill>
                </a:rPr>
                <a:t>Virtual Address (VA)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179908" y="4111014"/>
              <a:ext cx="295559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chemeClr val="accent1"/>
                  </a:solidFill>
                </a:rPr>
                <a:t>Physical Address (PA)</a:t>
              </a: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80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Fault Penalty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On page fault, the page must be fetched from disk</a:t>
            </a:r>
          </a:p>
          <a:p>
            <a:pPr lvl="1"/>
            <a:r>
              <a:rPr lang="en-US" dirty="0"/>
              <a:t>Takes </a:t>
            </a:r>
            <a:r>
              <a:rPr lang="en-US" b="1" dirty="0">
                <a:solidFill>
                  <a:schemeClr val="accent1"/>
                </a:solidFill>
              </a:rPr>
              <a:t>millions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clock cycles</a:t>
            </a:r>
          </a:p>
          <a:p>
            <a:pPr lvl="1"/>
            <a:r>
              <a:rPr lang="en-US" dirty="0"/>
              <a:t>Handled by </a:t>
            </a:r>
            <a:r>
              <a:rPr lang="en-US" b="1" dirty="0">
                <a:solidFill>
                  <a:schemeClr val="accent1"/>
                </a:solidFill>
              </a:rPr>
              <a:t>OS</a:t>
            </a:r>
            <a:r>
              <a:rPr lang="en-US" dirty="0"/>
              <a:t> code</a:t>
            </a:r>
          </a:p>
          <a:p>
            <a:r>
              <a:rPr lang="en-US" dirty="0"/>
              <a:t>Try to minimize page fault rate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Fully associative</a:t>
            </a:r>
            <a:r>
              <a:rPr lang="en-US" dirty="0"/>
              <a:t> placement in memory</a:t>
            </a:r>
          </a:p>
          <a:p>
            <a:pPr lvl="1"/>
            <a:r>
              <a:rPr lang="en-US" dirty="0"/>
              <a:t>Smart replacement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88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Stores placement information</a:t>
            </a:r>
          </a:p>
          <a:p>
            <a:pPr lvl="1"/>
            <a:r>
              <a:rPr lang="en-US" dirty="0"/>
              <a:t>Array of page table entries, indexed by </a:t>
            </a:r>
            <a:r>
              <a:rPr lang="en-US" b="1" dirty="0">
                <a:solidFill>
                  <a:schemeClr val="accent1"/>
                </a:solidFill>
              </a:rPr>
              <a:t>virtual page number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Page table register</a:t>
            </a:r>
            <a:r>
              <a:rPr lang="en-US" dirty="0"/>
              <a:t> in CPU points to page table in physical memory</a:t>
            </a:r>
          </a:p>
          <a:p>
            <a:r>
              <a:rPr lang="en-US" dirty="0"/>
              <a:t>If page is </a:t>
            </a:r>
            <a:r>
              <a:rPr lang="en-US" b="1" dirty="0">
                <a:solidFill>
                  <a:schemeClr val="accent1"/>
                </a:solidFill>
              </a:rPr>
              <a:t>present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 memory</a:t>
            </a:r>
          </a:p>
          <a:p>
            <a:pPr lvl="1"/>
            <a:r>
              <a:rPr lang="en-US" dirty="0"/>
              <a:t>Page table entry (PTE) stores the physical page number</a:t>
            </a:r>
          </a:p>
          <a:p>
            <a:pPr lvl="1"/>
            <a:r>
              <a:rPr lang="en-US" dirty="0"/>
              <a:t>Plus other status bits (referenced, dirty, …)</a:t>
            </a:r>
          </a:p>
          <a:p>
            <a:r>
              <a:rPr lang="en-US" dirty="0"/>
              <a:t>If page is </a:t>
            </a:r>
            <a:r>
              <a:rPr lang="en-US" b="1" dirty="0">
                <a:solidFill>
                  <a:schemeClr val="accent1"/>
                </a:solidFill>
              </a:rPr>
              <a:t>not present</a:t>
            </a:r>
          </a:p>
          <a:p>
            <a:pPr lvl="1"/>
            <a:r>
              <a:rPr lang="en-US" dirty="0"/>
              <a:t>PTE can refer to location in swap space on disk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52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Translation Mechanisms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76" y="838033"/>
            <a:ext cx="4855987" cy="367630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12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Replacement and Writes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9" y="860056"/>
            <a:ext cx="7328573" cy="3513162"/>
          </a:xfrm>
        </p:spPr>
        <p:txBody>
          <a:bodyPr>
            <a:noAutofit/>
          </a:bodyPr>
          <a:lstStyle/>
          <a:p>
            <a:r>
              <a:rPr lang="en-US" sz="2000" dirty="0"/>
              <a:t>To reduce page fault rate, prefer </a:t>
            </a:r>
            <a:r>
              <a:rPr lang="en-US" sz="2000" b="1" dirty="0">
                <a:solidFill>
                  <a:schemeClr val="accent1"/>
                </a:solidFill>
              </a:rPr>
              <a:t>least-recently used</a:t>
            </a:r>
            <a:r>
              <a:rPr lang="en-US" sz="2000" dirty="0"/>
              <a:t> (</a:t>
            </a:r>
            <a:r>
              <a:rPr lang="en-US" sz="2000" b="1" dirty="0">
                <a:solidFill>
                  <a:schemeClr val="accent1"/>
                </a:solidFill>
              </a:rPr>
              <a:t>LRU</a:t>
            </a:r>
            <a:r>
              <a:rPr lang="en-US" sz="2000" dirty="0"/>
              <a:t>) replacement</a:t>
            </a:r>
          </a:p>
          <a:p>
            <a:pPr lvl="1"/>
            <a:r>
              <a:rPr lang="en-US" sz="1800" dirty="0"/>
              <a:t>Reference bit (aka </a:t>
            </a:r>
            <a:r>
              <a:rPr lang="en-US" sz="1800" b="1" dirty="0">
                <a:solidFill>
                  <a:schemeClr val="accent1"/>
                </a:solidFill>
              </a:rPr>
              <a:t>use bit</a:t>
            </a:r>
            <a:r>
              <a:rPr lang="en-US" sz="1800" dirty="0"/>
              <a:t>) in PTE set to 1 on access to page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Periodically cleared</a:t>
            </a:r>
            <a:r>
              <a:rPr lang="en-US" sz="1800" dirty="0"/>
              <a:t> to 0 by OS</a:t>
            </a:r>
          </a:p>
          <a:p>
            <a:pPr lvl="1"/>
            <a:r>
              <a:rPr lang="en-US" sz="1800" dirty="0"/>
              <a:t>A page with reference bit = 0 has not been used recently</a:t>
            </a:r>
          </a:p>
          <a:p>
            <a:r>
              <a:rPr lang="en-US" sz="2000" dirty="0"/>
              <a:t>Disk writes take millions of cycles</a:t>
            </a:r>
          </a:p>
          <a:p>
            <a:pPr lvl="1"/>
            <a:r>
              <a:rPr lang="en-US" sz="1800" dirty="0"/>
              <a:t>Block at once, not individual locations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Write through</a:t>
            </a:r>
            <a:r>
              <a:rPr lang="en-US" sz="1800" dirty="0"/>
              <a:t> is </a:t>
            </a:r>
            <a:r>
              <a:rPr lang="en-US" sz="1800" b="1" dirty="0">
                <a:solidFill>
                  <a:srgbClr val="FF0000"/>
                </a:solidFill>
              </a:rPr>
              <a:t>impractical</a:t>
            </a:r>
          </a:p>
          <a:p>
            <a:pPr lvl="1"/>
            <a:r>
              <a:rPr lang="en-US" sz="1800" dirty="0"/>
              <a:t>Use </a:t>
            </a:r>
            <a:r>
              <a:rPr lang="en-US" sz="1800" b="1" dirty="0">
                <a:solidFill>
                  <a:schemeClr val="accent1"/>
                </a:solidFill>
              </a:rPr>
              <a:t>write-back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Dirty bit</a:t>
            </a:r>
            <a:r>
              <a:rPr lang="en-US" sz="1800" dirty="0"/>
              <a:t> in PTE set when page is written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44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Translation Using a TLB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Address translation would appear to require extra memory references</a:t>
            </a:r>
          </a:p>
          <a:p>
            <a:pPr lvl="1"/>
            <a:r>
              <a:rPr lang="en-US" dirty="0"/>
              <a:t>One to </a:t>
            </a:r>
            <a:r>
              <a:rPr lang="en-US" b="1" dirty="0">
                <a:solidFill>
                  <a:schemeClr val="accent1"/>
                </a:solidFill>
              </a:rPr>
              <a:t>access the PTE</a:t>
            </a:r>
          </a:p>
          <a:p>
            <a:pPr lvl="1"/>
            <a:r>
              <a:rPr lang="en-US" dirty="0"/>
              <a:t>Then the </a:t>
            </a:r>
            <a:r>
              <a:rPr lang="en-US" b="1" dirty="0">
                <a:solidFill>
                  <a:schemeClr val="accent1"/>
                </a:solidFill>
              </a:rPr>
              <a:t>actual memory access</a:t>
            </a:r>
          </a:p>
          <a:p>
            <a:r>
              <a:rPr lang="en-US" dirty="0"/>
              <a:t>But access to page tables has good locality</a:t>
            </a:r>
          </a:p>
          <a:p>
            <a:pPr lvl="1"/>
            <a:r>
              <a:rPr lang="en-US" dirty="0"/>
              <a:t>So use a fast cache of PTEs within the CPU</a:t>
            </a:r>
          </a:p>
          <a:p>
            <a:pPr lvl="1"/>
            <a:r>
              <a:rPr lang="en-US" dirty="0"/>
              <a:t>Called a </a:t>
            </a:r>
            <a:r>
              <a:rPr lang="en-US" b="1" dirty="0">
                <a:solidFill>
                  <a:schemeClr val="accent1"/>
                </a:solidFill>
              </a:rPr>
              <a:t>Translation Look-aside Buffer</a:t>
            </a:r>
            <a:r>
              <a:rPr lang="en-US" dirty="0"/>
              <a:t> (</a:t>
            </a:r>
            <a:r>
              <a:rPr lang="en-US" b="1" dirty="0">
                <a:solidFill>
                  <a:schemeClr val="accent1"/>
                </a:solidFill>
              </a:rPr>
              <a:t>TLB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Typical: 16–512 PTEs, 0.5–1 cycle for hit, 10–100 cycles for miss, 0.01%–1% miss rate</a:t>
            </a:r>
          </a:p>
          <a:p>
            <a:pPr lvl="1"/>
            <a:r>
              <a:rPr lang="en-US" dirty="0"/>
              <a:t>Misses could be handled by hardware or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492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Translation Using a TLB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216" y="816344"/>
            <a:ext cx="5367130" cy="377488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75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Misses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If </a:t>
            </a:r>
            <a:r>
              <a:rPr lang="en-US" b="1" dirty="0">
                <a:solidFill>
                  <a:schemeClr val="accent1"/>
                </a:solidFill>
              </a:rPr>
              <a:t>page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is in </a:t>
            </a:r>
            <a:r>
              <a:rPr lang="en-US" b="1" dirty="0">
                <a:solidFill>
                  <a:schemeClr val="accent1"/>
                </a:solidFill>
              </a:rPr>
              <a:t>memory</a:t>
            </a:r>
          </a:p>
          <a:p>
            <a:pPr lvl="1"/>
            <a:r>
              <a:rPr lang="en-US" dirty="0"/>
              <a:t>Load the </a:t>
            </a:r>
            <a:r>
              <a:rPr lang="en-US" b="1" dirty="0">
                <a:solidFill>
                  <a:schemeClr val="accent1"/>
                </a:solidFill>
              </a:rPr>
              <a:t>PTE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from memory and retry</a:t>
            </a:r>
          </a:p>
          <a:p>
            <a:pPr lvl="1"/>
            <a:r>
              <a:rPr lang="en-US" dirty="0"/>
              <a:t>Could be handled in hardware or in software</a:t>
            </a:r>
          </a:p>
          <a:p>
            <a:r>
              <a:rPr lang="en-US" dirty="0"/>
              <a:t>If </a:t>
            </a:r>
            <a:r>
              <a:rPr lang="en-US" b="1" dirty="0">
                <a:solidFill>
                  <a:schemeClr val="accent1"/>
                </a:solidFill>
              </a:rPr>
              <a:t>page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chemeClr val="accent1"/>
                </a:solidFill>
              </a:rPr>
              <a:t>not in memory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page fault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OS handles fetching the page and updating the </a:t>
            </a:r>
            <a:r>
              <a:rPr lang="en-US" b="1" dirty="0">
                <a:solidFill>
                  <a:schemeClr val="accent1"/>
                </a:solidFill>
              </a:rPr>
              <a:t>page table</a:t>
            </a:r>
          </a:p>
          <a:p>
            <a:pPr lvl="1"/>
            <a:r>
              <a:rPr lang="en-US" dirty="0"/>
              <a:t>Then restart the faulting instruction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35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and Cache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63" y="809665"/>
            <a:ext cx="4220506" cy="376233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9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Event Combinations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49572" y="844153"/>
            <a:ext cx="7637228" cy="1159576"/>
          </a:xfrm>
        </p:spPr>
        <p:txBody>
          <a:bodyPr>
            <a:normAutofit/>
          </a:bodyPr>
          <a:lstStyle/>
          <a:p>
            <a:r>
              <a:rPr lang="en-US" sz="2000" dirty="0"/>
              <a:t>TLB miss: PTE not in TLB</a:t>
            </a:r>
          </a:p>
          <a:p>
            <a:r>
              <a:rPr lang="en-US" sz="2000" dirty="0"/>
              <a:t>Page Table miss: page not in memory</a:t>
            </a:r>
          </a:p>
          <a:p>
            <a:r>
              <a:rPr lang="en-US" sz="2000" dirty="0"/>
              <a:t>Cache miss: block not in cache</a:t>
            </a: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3679174"/>
              </p:ext>
            </p:extLst>
          </p:nvPr>
        </p:nvGraphicFramePr>
        <p:xfrm>
          <a:off x="1338416" y="2298880"/>
          <a:ext cx="6324044" cy="2259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TLB</a:t>
                      </a:r>
                    </a:p>
                  </a:txBody>
                  <a:tcPr marL="68580" marR="68580" marT="34290" marB="3429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Page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</a:rPr>
                        <a:t> Table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Cache</a:t>
                      </a:r>
                    </a:p>
                  </a:txBody>
                  <a:tcPr marL="68580" marR="68580" marT="34290" marB="3429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Possible? Under what circumstances?</a:t>
                      </a:r>
                    </a:p>
                  </a:txBody>
                  <a:tcPr marL="68580" marR="68580" marT="34290" marB="3429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Yes. Although page table is never checked if TLB hits.</a:t>
                      </a:r>
                      <a:endParaRPr lang="en-US" sz="1200" dirty="0"/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 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Yes. TLB</a:t>
                      </a:r>
                      <a:r>
                        <a:rPr lang="en-US" sz="1200" baseline="0" dirty="0"/>
                        <a:t> misses, PA in page table, data in cache.</a:t>
                      </a:r>
                      <a:endParaRPr lang="en-US" sz="1200" dirty="0"/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Yes. TLB</a:t>
                      </a:r>
                      <a:r>
                        <a:rPr lang="en-US" sz="1200" baseline="0" dirty="0"/>
                        <a:t> misses, PA in page table, data not in cache.</a:t>
                      </a:r>
                      <a:endParaRPr lang="en-US" sz="1200" dirty="0"/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Yes. Page fault.</a:t>
                      </a:r>
                    </a:p>
                  </a:txBody>
                  <a:tcPr marL="68580" marR="68580" marT="34290" marB="34290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Miss/Hit</a:t>
                      </a:r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Impossible. Cannot have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TLB translation</a:t>
                      </a:r>
                      <a:r>
                        <a:rPr lang="en-US" sz="1200" baseline="0" dirty="0"/>
                        <a:t> if page is not in memory.</a:t>
                      </a:r>
                      <a:endParaRPr lang="en-US" sz="1200" dirty="0"/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3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Impossible.</a:t>
                      </a:r>
                      <a:r>
                        <a:rPr lang="en-US" sz="1200" baseline="0" dirty="0"/>
                        <a:t> Data cannot be allowed in cache if the page is not in memory</a:t>
                      </a:r>
                      <a:endParaRPr lang="en-US" sz="1200" dirty="0"/>
                    </a:p>
                  </a:txBody>
                  <a:tcPr marL="68580" marR="68580" marT="34290" marB="34290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193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Hardware / Software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Which part of address translation is done by hardware?</a:t>
            </a:r>
          </a:p>
          <a:p>
            <a:r>
              <a:rPr lang="en-US" dirty="0"/>
              <a:t>TLB that caches recent translations:</a:t>
            </a:r>
          </a:p>
          <a:p>
            <a:pPr lvl="1"/>
            <a:r>
              <a:rPr lang="en-US" dirty="0"/>
              <a:t>TLB access time is part of cache hit time</a:t>
            </a:r>
          </a:p>
          <a:p>
            <a:pPr lvl="1"/>
            <a:r>
              <a:rPr lang="en-US" dirty="0"/>
              <a:t>May allot extra stage in pipeline</a:t>
            </a:r>
          </a:p>
          <a:p>
            <a:r>
              <a:rPr lang="en-US" dirty="0"/>
              <a:t>Page Table storage, fault detection and updating</a:t>
            </a:r>
          </a:p>
          <a:p>
            <a:pPr lvl="1"/>
            <a:r>
              <a:rPr lang="en-US" dirty="0"/>
              <a:t>Dirty &amp; Reference bits</a:t>
            </a:r>
          </a:p>
          <a:p>
            <a:pPr lvl="1"/>
            <a:r>
              <a:rPr lang="en-US" dirty="0"/>
              <a:t>Page faults result in interrupts</a:t>
            </a:r>
          </a:p>
          <a:p>
            <a:r>
              <a:rPr lang="en-US" dirty="0"/>
              <a:t>Disk Placement: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6118316" y="1715684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Hardware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5298" y="2844653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Hardware</a:t>
            </a:r>
            <a:r>
              <a:rPr lang="en-US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5298" y="325746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Software</a:t>
            </a:r>
            <a:r>
              <a:rPr lang="en-US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5298" y="363574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Software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11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 Hierarchy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Common principles apply at all levels of the memory hierarchy</a:t>
            </a:r>
          </a:p>
          <a:p>
            <a:pPr lvl="1"/>
            <a:r>
              <a:rPr lang="en-US" dirty="0"/>
              <a:t>Based on notions of caching</a:t>
            </a:r>
          </a:p>
          <a:p>
            <a:r>
              <a:rPr lang="en-US" dirty="0"/>
              <a:t>At each level in the hierarchy</a:t>
            </a:r>
          </a:p>
          <a:p>
            <a:pPr lvl="1"/>
            <a:r>
              <a:rPr lang="en-US" dirty="0"/>
              <a:t>Block placement</a:t>
            </a:r>
          </a:p>
          <a:p>
            <a:pPr lvl="1"/>
            <a:r>
              <a:rPr lang="en-US" dirty="0"/>
              <a:t>Finding a block</a:t>
            </a:r>
          </a:p>
          <a:p>
            <a:pPr lvl="1"/>
            <a:r>
              <a:rPr lang="en-US" dirty="0"/>
              <a:t>Replacement on a miss</a:t>
            </a:r>
          </a:p>
          <a:p>
            <a:pPr lvl="1"/>
            <a:r>
              <a:rPr lang="en-US" dirty="0"/>
              <a:t>Write policy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6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Determined by </a:t>
            </a:r>
            <a:r>
              <a:rPr lang="en-US" b="1" dirty="0">
                <a:solidFill>
                  <a:schemeClr val="accent1"/>
                </a:solidFill>
              </a:rPr>
              <a:t>associativity</a:t>
            </a:r>
          </a:p>
          <a:p>
            <a:pPr lvl="1"/>
            <a:r>
              <a:rPr lang="en-US" sz="2100" dirty="0"/>
              <a:t>Direct mapped (1-way associative)</a:t>
            </a:r>
          </a:p>
          <a:p>
            <a:pPr lvl="2"/>
            <a:r>
              <a:rPr lang="en-US" dirty="0"/>
              <a:t>One choice for placement</a:t>
            </a:r>
          </a:p>
          <a:p>
            <a:pPr lvl="1"/>
            <a:r>
              <a:rPr lang="en-US" sz="2100" i="1" dirty="0"/>
              <a:t>n</a:t>
            </a:r>
            <a:r>
              <a:rPr lang="en-US" sz="2100" dirty="0"/>
              <a:t>-way set associative</a:t>
            </a:r>
          </a:p>
          <a:p>
            <a:pPr lvl="2"/>
            <a:r>
              <a:rPr lang="en-US" i="1" dirty="0"/>
              <a:t>n</a:t>
            </a:r>
            <a:r>
              <a:rPr lang="en-US" dirty="0"/>
              <a:t> choices within a set</a:t>
            </a:r>
          </a:p>
          <a:p>
            <a:pPr lvl="1"/>
            <a:r>
              <a:rPr lang="en-US" sz="2100" dirty="0"/>
              <a:t>Fully associative</a:t>
            </a:r>
          </a:p>
          <a:p>
            <a:pPr lvl="2"/>
            <a:r>
              <a:rPr lang="en-US" dirty="0"/>
              <a:t>Any location</a:t>
            </a:r>
          </a:p>
          <a:p>
            <a:r>
              <a:rPr lang="en-US" dirty="0"/>
              <a:t>Higher associativity </a:t>
            </a:r>
            <a:r>
              <a:rPr lang="en-US" b="1" dirty="0">
                <a:solidFill>
                  <a:schemeClr val="accent1"/>
                </a:solidFill>
              </a:rPr>
              <a:t>reduces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miss rate</a:t>
            </a:r>
          </a:p>
          <a:p>
            <a:pPr lvl="1"/>
            <a:r>
              <a:rPr lang="en-US" sz="2100" b="1" dirty="0">
                <a:solidFill>
                  <a:schemeClr val="accent1"/>
                </a:solidFill>
              </a:rPr>
              <a:t>Increases</a:t>
            </a:r>
            <a:r>
              <a:rPr lang="en-US" sz="2100" dirty="0">
                <a:solidFill>
                  <a:schemeClr val="accent1"/>
                </a:solidFill>
              </a:rPr>
              <a:t> </a:t>
            </a:r>
            <a:r>
              <a:rPr lang="en-US" sz="2100" dirty="0"/>
              <a:t>complexity, cost, and access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345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556" y="799054"/>
            <a:ext cx="5915025" cy="1729461"/>
          </a:xfrm>
        </p:spPr>
        <p:txBody>
          <a:bodyPr>
            <a:normAutofit/>
          </a:bodyPr>
          <a:lstStyle/>
          <a:p>
            <a:r>
              <a:rPr lang="en-US" sz="2000" dirty="0"/>
              <a:t>Hardware caches</a:t>
            </a:r>
          </a:p>
          <a:p>
            <a:pPr lvl="1"/>
            <a:r>
              <a:rPr lang="en-US" sz="1600" dirty="0"/>
              <a:t>Reduce </a:t>
            </a:r>
            <a:r>
              <a:rPr lang="en-US" sz="1600" b="1" dirty="0">
                <a:solidFill>
                  <a:schemeClr val="accent1"/>
                </a:solidFill>
              </a:rPr>
              <a:t>comparisons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to reduce cost</a:t>
            </a:r>
          </a:p>
          <a:p>
            <a:r>
              <a:rPr lang="en-US" sz="2000" dirty="0"/>
              <a:t>Virtual memory</a:t>
            </a:r>
          </a:p>
          <a:p>
            <a:pPr lvl="1"/>
            <a:r>
              <a:rPr lang="en-US" sz="1600" b="1" dirty="0">
                <a:solidFill>
                  <a:schemeClr val="accent1"/>
                </a:solidFill>
              </a:rPr>
              <a:t>Full table lookup </a:t>
            </a:r>
            <a:r>
              <a:rPr lang="en-US" sz="1600" dirty="0"/>
              <a:t>makes full associativity feasible</a:t>
            </a:r>
          </a:p>
          <a:p>
            <a:pPr lvl="1"/>
            <a:r>
              <a:rPr lang="en-US" sz="1600" dirty="0"/>
              <a:t>Benefit in reduced </a:t>
            </a:r>
            <a:r>
              <a:rPr lang="en-US" sz="1600" b="1" dirty="0">
                <a:solidFill>
                  <a:schemeClr val="accent1"/>
                </a:solidFill>
              </a:rPr>
              <a:t>miss rate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89" y="2664965"/>
            <a:ext cx="7374189" cy="159774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85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670" y="844153"/>
            <a:ext cx="7653130" cy="3671888"/>
          </a:xfrm>
        </p:spPr>
        <p:txBody>
          <a:bodyPr>
            <a:normAutofit/>
          </a:bodyPr>
          <a:lstStyle/>
          <a:p>
            <a:r>
              <a:rPr lang="en-US" dirty="0"/>
              <a:t>Choice of entry to replace on a miss</a:t>
            </a:r>
          </a:p>
          <a:p>
            <a:pPr lvl="1"/>
            <a:r>
              <a:rPr lang="en-US" sz="2100" dirty="0"/>
              <a:t>Least recently used (LRU)</a:t>
            </a:r>
          </a:p>
          <a:p>
            <a:pPr lvl="2"/>
            <a:r>
              <a:rPr lang="en-US" dirty="0"/>
              <a:t>Complex and costly hardware for high associativity</a:t>
            </a:r>
          </a:p>
          <a:p>
            <a:pPr lvl="1"/>
            <a:r>
              <a:rPr lang="en-US" sz="2100" dirty="0"/>
              <a:t>Random</a:t>
            </a:r>
          </a:p>
          <a:p>
            <a:pPr lvl="2"/>
            <a:r>
              <a:rPr lang="en-US" dirty="0"/>
              <a:t>Close to LRU, easier to implement</a:t>
            </a:r>
          </a:p>
          <a:p>
            <a:r>
              <a:rPr lang="en-US" dirty="0"/>
              <a:t>Virtual memory</a:t>
            </a:r>
          </a:p>
          <a:p>
            <a:pPr lvl="1"/>
            <a:r>
              <a:rPr lang="en-US" sz="2100" b="1" dirty="0">
                <a:solidFill>
                  <a:schemeClr val="accent1"/>
                </a:solidFill>
              </a:rPr>
              <a:t>LRU approximation </a:t>
            </a:r>
            <a:r>
              <a:rPr lang="en-US" sz="2100" dirty="0"/>
              <a:t>with hardware support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609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Policy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72" y="844153"/>
            <a:ext cx="7637228" cy="3671888"/>
          </a:xfrm>
        </p:spPr>
        <p:txBody>
          <a:bodyPr>
            <a:normAutofit/>
          </a:bodyPr>
          <a:lstStyle/>
          <a:p>
            <a:r>
              <a:rPr lang="en-US" dirty="0"/>
              <a:t>Write-through</a:t>
            </a:r>
          </a:p>
          <a:p>
            <a:pPr lvl="1"/>
            <a:r>
              <a:rPr lang="en-US" dirty="0"/>
              <a:t>Update both </a:t>
            </a:r>
            <a:r>
              <a:rPr lang="en-US" b="1" dirty="0">
                <a:solidFill>
                  <a:schemeClr val="accent1"/>
                </a:solidFill>
              </a:rPr>
              <a:t>upper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lower levels</a:t>
            </a:r>
          </a:p>
          <a:p>
            <a:pPr lvl="1"/>
            <a:r>
              <a:rPr lang="en-US" dirty="0"/>
              <a:t>Simplifies replacement, but may require write buffer</a:t>
            </a:r>
          </a:p>
          <a:p>
            <a:r>
              <a:rPr lang="en-US" dirty="0"/>
              <a:t>Write-back</a:t>
            </a:r>
          </a:p>
          <a:p>
            <a:pPr lvl="1"/>
            <a:r>
              <a:rPr lang="en-US" dirty="0"/>
              <a:t>Update </a:t>
            </a:r>
            <a:r>
              <a:rPr lang="en-US" b="1" dirty="0">
                <a:solidFill>
                  <a:schemeClr val="accent1"/>
                </a:solidFill>
              </a:rPr>
              <a:t>upper</a:t>
            </a:r>
            <a:r>
              <a:rPr lang="en-US" dirty="0"/>
              <a:t> level only</a:t>
            </a:r>
          </a:p>
          <a:p>
            <a:pPr lvl="1"/>
            <a:r>
              <a:rPr lang="en-US" dirty="0"/>
              <a:t>Update lower level when block is </a:t>
            </a:r>
            <a:r>
              <a:rPr lang="en-US" b="1" dirty="0">
                <a:solidFill>
                  <a:schemeClr val="accent1"/>
                </a:solidFill>
              </a:rPr>
              <a:t>replaced</a:t>
            </a:r>
          </a:p>
          <a:p>
            <a:pPr lvl="1"/>
            <a:r>
              <a:rPr lang="en-US" dirty="0"/>
              <a:t>Need to keep more state (e.g., dirty bit)</a:t>
            </a:r>
          </a:p>
          <a:p>
            <a:r>
              <a:rPr lang="en-US" dirty="0"/>
              <a:t>Virtual memory</a:t>
            </a:r>
          </a:p>
          <a:p>
            <a:pPr lvl="1"/>
            <a:r>
              <a:rPr lang="en-US" dirty="0"/>
              <a:t>Only </a:t>
            </a:r>
            <a:r>
              <a:rPr lang="en-US" b="1" dirty="0">
                <a:solidFill>
                  <a:schemeClr val="accent1"/>
                </a:solidFill>
              </a:rPr>
              <a:t>write-back</a:t>
            </a:r>
            <a:r>
              <a:rPr lang="en-US" dirty="0"/>
              <a:t> is feasible, given disk write latency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78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Misses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474" y="844153"/>
            <a:ext cx="7621325" cy="3671888"/>
          </a:xfrm>
        </p:spPr>
        <p:txBody>
          <a:bodyPr>
            <a:normAutofit/>
          </a:bodyPr>
          <a:lstStyle/>
          <a:p>
            <a:r>
              <a:rPr lang="en-US" dirty="0"/>
              <a:t>Compulsory misses (aka cold start misses)</a:t>
            </a:r>
          </a:p>
          <a:p>
            <a:pPr lvl="1"/>
            <a:r>
              <a:rPr lang="en-US" dirty="0"/>
              <a:t>First access to a block</a:t>
            </a:r>
          </a:p>
          <a:p>
            <a:r>
              <a:rPr lang="en-US" dirty="0"/>
              <a:t>Capacity misses</a:t>
            </a:r>
          </a:p>
          <a:p>
            <a:pPr lvl="1"/>
            <a:r>
              <a:rPr lang="en-US" dirty="0"/>
              <a:t>Due to finite cache size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replaced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block is later </a:t>
            </a:r>
            <a:r>
              <a:rPr lang="en-US" b="1" dirty="0">
                <a:solidFill>
                  <a:schemeClr val="accent1"/>
                </a:solidFill>
              </a:rPr>
              <a:t>accessed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again</a:t>
            </a:r>
          </a:p>
          <a:p>
            <a:r>
              <a:rPr lang="en-US" dirty="0"/>
              <a:t>Conflict misses (aka collision misses)</a:t>
            </a:r>
          </a:p>
          <a:p>
            <a:pPr lvl="1"/>
            <a:r>
              <a:rPr lang="en-US" dirty="0"/>
              <a:t>In a non-fully associative cache</a:t>
            </a:r>
          </a:p>
          <a:p>
            <a:pPr lvl="1"/>
            <a:r>
              <a:rPr lang="en-US" dirty="0"/>
              <a:t>Due to competition for entries in a set</a:t>
            </a:r>
          </a:p>
          <a:p>
            <a:pPr lvl="1"/>
            <a:r>
              <a:rPr lang="en-US" dirty="0"/>
              <a:t>Would not occur in a fully associative cache of the same total size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056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Design Trade-offs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49" y="1782066"/>
            <a:ext cx="7970244" cy="197130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26572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2578</TotalTime>
  <Words>1010</Words>
  <Application>Microsoft Office PowerPoint</Application>
  <PresentationFormat>全屏显示(16:9)</PresentationFormat>
  <Paragraphs>204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MS Sans Serif</vt:lpstr>
      <vt:lpstr>Arial</vt:lpstr>
      <vt:lpstr>Calibri</vt:lpstr>
      <vt:lpstr>Wingdings</vt:lpstr>
      <vt:lpstr>NTHU UniCloud</vt:lpstr>
      <vt:lpstr>CSC3050 – Computer Architecture</vt:lpstr>
      <vt:lpstr>Virtual Memory </vt:lpstr>
      <vt:lpstr>Two Programs Sharing Physical Memory </vt:lpstr>
      <vt:lpstr>Address Translation </vt:lpstr>
      <vt:lpstr>Page Fault Penalty</vt:lpstr>
      <vt:lpstr>Page Tables</vt:lpstr>
      <vt:lpstr>Address Translation Mechanisms</vt:lpstr>
      <vt:lpstr>Replacement and Writes </vt:lpstr>
      <vt:lpstr>Fast Translation Using a TLB </vt:lpstr>
      <vt:lpstr>Fast Translation Using a TLB </vt:lpstr>
      <vt:lpstr>TLB Misses</vt:lpstr>
      <vt:lpstr>TLB and Cache</vt:lpstr>
      <vt:lpstr>TLB Event Combinations</vt:lpstr>
      <vt:lpstr>The Hardware / Software Boundary</vt:lpstr>
      <vt:lpstr>The Memory Hierarchy </vt:lpstr>
      <vt:lpstr>Block Placement</vt:lpstr>
      <vt:lpstr>Finding a Block</vt:lpstr>
      <vt:lpstr>Replacement </vt:lpstr>
      <vt:lpstr>Write Policy </vt:lpstr>
      <vt:lpstr>Sources of Misses </vt:lpstr>
      <vt:lpstr>Cache Design Trade-offs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263</cp:revision>
  <dcterms:created xsi:type="dcterms:W3CDTF">2015-06-05T07:23:35Z</dcterms:created>
  <dcterms:modified xsi:type="dcterms:W3CDTF">2019-02-27T10:26:02Z</dcterms:modified>
</cp:coreProperties>
</file>