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2019/1/10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2019/1/10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75399"/>
            <a:ext cx="7746784" cy="519113"/>
          </a:xfrm>
        </p:spPr>
        <p:txBody>
          <a:bodyPr/>
          <a:lstStyle/>
          <a:p>
            <a:r>
              <a:rPr lang="en-US" sz="3200" dirty="0"/>
              <a:t>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5039" y="884791"/>
            <a:ext cx="4472637" cy="3745931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Desktop computers</a:t>
            </a:r>
          </a:p>
          <a:p>
            <a:pPr lvl="1"/>
            <a:r>
              <a:rPr lang="en-US" sz="2000" dirty="0"/>
              <a:t>Designed to deliver good performance to a single user at a low cost.</a:t>
            </a:r>
          </a:p>
          <a:p>
            <a:pPr lvl="1"/>
            <a:r>
              <a:rPr lang="en-US" sz="2000" dirty="0"/>
              <a:t>Usually executing third-party software.</a:t>
            </a:r>
          </a:p>
          <a:p>
            <a:pPr lvl="1"/>
            <a:r>
              <a:rPr lang="en-US" sz="2000" dirty="0"/>
              <a:t>Usually incorporating a graphics display, a keyboard and a mouse.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00" y="1645329"/>
            <a:ext cx="2629016" cy="19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0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62" y="108349"/>
            <a:ext cx="7769528" cy="519113"/>
          </a:xfrm>
        </p:spPr>
        <p:txBody>
          <a:bodyPr/>
          <a:lstStyle/>
          <a:p>
            <a:r>
              <a:rPr lang="en-US" sz="3200" dirty="0"/>
              <a:t>Other Classes of Computers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Servers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Used to run larger program for multiple users simultaneously, typically accessed only via a network, with a greater emphasis on dependability and (often) security.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Supercomputers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high performance, high-cost class of servers with a large number of processors, huge memory and storage that are used for high-end scientific and engineering applications.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Embedded computers (microprocessors)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computer within another system with a dedicated function or application.</a:t>
            </a:r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7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560" y="108349"/>
            <a:ext cx="7751130" cy="519113"/>
          </a:xfrm>
        </p:spPr>
        <p:txBody>
          <a:bodyPr/>
          <a:lstStyle/>
          <a:p>
            <a:r>
              <a:rPr lang="en-US" sz="3200" dirty="0"/>
              <a:t>Supercomputers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4560" y="950807"/>
            <a:ext cx="4038600" cy="3170774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Sunway </a:t>
            </a:r>
            <a:r>
              <a:rPr lang="en-US" sz="2400" b="1" dirty="0" err="1">
                <a:solidFill>
                  <a:schemeClr val="accent1"/>
                </a:solidFill>
              </a:rPr>
              <a:t>TaihuLight</a:t>
            </a:r>
            <a:endParaRPr lang="en-US" sz="2400" b="1" dirty="0">
              <a:solidFill>
                <a:schemeClr val="accent1"/>
              </a:solidFill>
            </a:endParaRPr>
          </a:p>
          <a:p>
            <a:pPr lvl="1"/>
            <a:r>
              <a:rPr lang="en-US" sz="2000" dirty="0"/>
              <a:t>Fastest supercomputer in the world (as of June 2017)</a:t>
            </a:r>
          </a:p>
          <a:p>
            <a:pPr lvl="1"/>
            <a:r>
              <a:rPr lang="en-US" sz="2000" dirty="0"/>
              <a:t>Over 10 million CPU cores</a:t>
            </a:r>
          </a:p>
          <a:p>
            <a:pPr lvl="1"/>
            <a:r>
              <a:rPr lang="en-US" sz="2000" dirty="0"/>
              <a:t>Power: 15 MW</a:t>
            </a:r>
          </a:p>
          <a:p>
            <a:pPr lvl="1"/>
            <a:r>
              <a:rPr lang="en-US" sz="2000" dirty="0"/>
              <a:t>Speed: 93 PFLOPS</a:t>
            </a:r>
          </a:p>
          <a:p>
            <a:pPr lvl="1"/>
            <a:endParaRPr lang="en-US" dirty="0"/>
          </a:p>
        </p:txBody>
      </p:sp>
      <p:pic>
        <p:nvPicPr>
          <p:cNvPr id="1026" name="Picture 2" descr="http://www.nsccwx.cn/image/yjzy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661" y="853440"/>
            <a:ext cx="2646242" cy="182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nsccwx.cn/kindeditor-4.1.10/attached/image/20160620/20160620093016_123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660" y="2746580"/>
            <a:ext cx="2646243" cy="182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14488" y="4632722"/>
            <a:ext cx="19431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http://www.nsccwx.cn/wxcyw/</a:t>
            </a:r>
          </a:p>
        </p:txBody>
      </p:sp>
    </p:spTree>
    <p:extLst>
      <p:ext uri="{BB962C8B-B14F-4D97-AF65-F5344CB8AC3E}">
        <p14:creationId xmlns:p14="http://schemas.microsoft.com/office/powerpoint/2010/main" val="1170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26160" y="108349"/>
            <a:ext cx="764953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Automotive Embedded Systems</a:t>
            </a:r>
          </a:p>
        </p:txBody>
      </p:sp>
      <p:pic>
        <p:nvPicPr>
          <p:cNvPr id="2050" name="Picture 2" descr="https://dcvizcayno.files.wordpress.com/2015/08/a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968" y="842126"/>
            <a:ext cx="6358448" cy="356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534914" y="4390946"/>
            <a:ext cx="60864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https://dcvizcayno.wordpress.com/2015/08/28/the-future-of-technology-privacy-security-and-risks-part-3-of-5/</a:t>
            </a:r>
          </a:p>
        </p:txBody>
      </p:sp>
    </p:spTree>
    <p:extLst>
      <p:ext uri="{BB962C8B-B14F-4D97-AF65-F5344CB8AC3E}">
        <p14:creationId xmlns:p14="http://schemas.microsoft.com/office/powerpoint/2010/main" val="341327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152400"/>
            <a:ext cx="7720650" cy="475062"/>
          </a:xfrm>
        </p:spPr>
        <p:txBody>
          <a:bodyPr/>
          <a:lstStyle/>
          <a:p>
            <a:r>
              <a:rPr lang="en-US" sz="3200" dirty="0"/>
              <a:t>Post-PC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5924" y="844498"/>
            <a:ext cx="4234921" cy="3351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Personal Mobile Devices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Battery-operated devices with wireless connectivity.</a:t>
            </a:r>
          </a:p>
          <a:p>
            <a:pPr lvl="1"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Warehouse-Scale Computers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Datacenter containing hundreds of thousands of servers providing software as a service (SaaS).</a:t>
            </a:r>
          </a:p>
        </p:txBody>
      </p:sp>
      <p:pic>
        <p:nvPicPr>
          <p:cNvPr id="3074" name="Picture 2" descr="Mobile devices coll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85" y="1140131"/>
            <a:ext cx="2889823" cy="18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luetooth Headset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85" y="3215200"/>
            <a:ext cx="981226" cy="9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bluetooth speake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083" b="78750" l="2917" r="960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87" b="18412"/>
          <a:stretch/>
        </p:blipFill>
        <p:spPr bwMode="auto">
          <a:xfrm>
            <a:off x="6632791" y="3121613"/>
            <a:ext cx="1710677" cy="116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81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Embedded vs. Desktop</a:t>
            </a:r>
          </a:p>
        </p:txBody>
      </p:sp>
      <p:pic>
        <p:nvPicPr>
          <p:cNvPr id="4098" name="Picture 2" descr="https://image.slidesharecdn.com/internettrends2014-052814-pdf-140528064345-phpapp02/95/kpcb-internet-trends-2014-95-638.jpg?cb=141668838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866" y="884246"/>
            <a:ext cx="4911872" cy="368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36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008" y="108349"/>
            <a:ext cx="7599682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(1)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08000" y="3012262"/>
            <a:ext cx="3848418" cy="1620459"/>
          </a:xfrm>
        </p:spPr>
        <p:txBody>
          <a:bodyPr>
            <a:normAutofit/>
          </a:bodyPr>
          <a:lstStyle/>
          <a:p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transistor invented by </a:t>
            </a:r>
            <a:r>
              <a:rPr lang="en-US" sz="1800" b="1" dirty="0">
                <a:solidFill>
                  <a:schemeClr val="accent1"/>
                </a:solidFill>
              </a:rPr>
              <a:t>John Bardeen</a:t>
            </a:r>
            <a:r>
              <a:rPr lang="en-US" sz="1800" dirty="0"/>
              <a:t>, </a:t>
            </a:r>
            <a:r>
              <a:rPr lang="en-US" sz="1800" b="1" dirty="0">
                <a:solidFill>
                  <a:schemeClr val="accent1"/>
                </a:solidFill>
              </a:rPr>
              <a:t>Walter Brattain</a:t>
            </a:r>
            <a:r>
              <a:rPr lang="en-US" sz="1800" dirty="0"/>
              <a:t>, and </a:t>
            </a:r>
            <a:r>
              <a:rPr lang="en-US" sz="1800" b="1" dirty="0">
                <a:solidFill>
                  <a:schemeClr val="accent1"/>
                </a:solidFill>
              </a:rPr>
              <a:t>William Shockley</a:t>
            </a:r>
            <a:r>
              <a:rPr lang="en-US" sz="1800" dirty="0"/>
              <a:t> at Bell Labs in 1947.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14862" y="3012263"/>
            <a:ext cx="4386898" cy="1000937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UNIVAC I</a:t>
            </a:r>
            <a:r>
              <a:rPr lang="en-US" sz="1800" dirty="0"/>
              <a:t> (</a:t>
            </a:r>
            <a:r>
              <a:rPr lang="en-US" sz="1800" b="1" dirty="0" err="1"/>
              <a:t>UNIV</a:t>
            </a:r>
            <a:r>
              <a:rPr lang="en-US" sz="1800" dirty="0" err="1"/>
              <a:t>ersal</a:t>
            </a:r>
            <a:r>
              <a:rPr lang="en-US" sz="1800" dirty="0"/>
              <a:t> </a:t>
            </a:r>
            <a:r>
              <a:rPr lang="en-US" sz="1800" b="1" dirty="0"/>
              <a:t>A</a:t>
            </a:r>
            <a:r>
              <a:rPr lang="en-US" sz="1800" dirty="0"/>
              <a:t>utomatic </a:t>
            </a:r>
            <a:br>
              <a:rPr lang="en-US" sz="1800" dirty="0"/>
            </a:br>
            <a:r>
              <a:rPr lang="en-US" sz="1800" b="1" dirty="0"/>
              <a:t>C</a:t>
            </a:r>
            <a:r>
              <a:rPr lang="en-US" sz="1800" dirty="0"/>
              <a:t>omputer </a:t>
            </a:r>
            <a:r>
              <a:rPr lang="en-US" sz="1800" b="1" dirty="0"/>
              <a:t>I</a:t>
            </a:r>
            <a:r>
              <a:rPr lang="en-US" sz="1800" dirty="0"/>
              <a:t>): 1</a:t>
            </a:r>
            <a:r>
              <a:rPr lang="en-US" sz="1800" baseline="30000" dirty="0"/>
              <a:t>st</a:t>
            </a:r>
            <a:r>
              <a:rPr lang="en-US" sz="1800" dirty="0"/>
              <a:t> commercial computer sold in US in 1951.</a:t>
            </a:r>
          </a:p>
        </p:txBody>
      </p:sp>
      <p:pic>
        <p:nvPicPr>
          <p:cNvPr id="5122" name="Picture 2" descr="https://upload.wikimedia.org/wikipedia/commons/2/26/1st-Transis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08" y="1083845"/>
            <a:ext cx="2340000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upload.wikimedia.org/wikipedia/commons/thumb/b/bd/UNIVAC-I-BRL61-0977.jpg/800px-UNIVAC-I-BRL61-097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76" y="1083845"/>
            <a:ext cx="3235023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70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(2)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3012263"/>
            <a:ext cx="4071938" cy="1122857"/>
          </a:xfrm>
        </p:spPr>
        <p:txBody>
          <a:bodyPr>
            <a:normAutofit/>
          </a:bodyPr>
          <a:lstStyle/>
          <a:p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integrated circuit invented by </a:t>
            </a:r>
            <a:r>
              <a:rPr lang="en-US" sz="1800" b="1" dirty="0">
                <a:solidFill>
                  <a:schemeClr val="accent1"/>
                </a:solidFill>
              </a:rPr>
              <a:t>Jack </a:t>
            </a:r>
            <a:r>
              <a:rPr lang="en-US" sz="1800" b="1" dirty="0" err="1">
                <a:solidFill>
                  <a:schemeClr val="accent1"/>
                </a:solidFill>
              </a:rPr>
              <a:t>Kilby</a:t>
            </a:r>
            <a:r>
              <a:rPr lang="en-US" sz="1800" dirty="0"/>
              <a:t> of Texas Instruments in 1958.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14862" y="3012263"/>
            <a:ext cx="4437697" cy="1620459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IBM System/360</a:t>
            </a:r>
            <a:r>
              <a:rPr lang="en-US" sz="1800" dirty="0"/>
              <a:t>: 1</a:t>
            </a:r>
            <a:r>
              <a:rPr lang="en-US" sz="1800" baseline="30000" dirty="0"/>
              <a:t>st</a:t>
            </a:r>
            <a:r>
              <a:rPr lang="en-US" sz="1800" dirty="0"/>
              <a:t> family of computers in 1964 with a range of performance but with the same instruction set.</a:t>
            </a:r>
          </a:p>
        </p:txBody>
      </p:sp>
      <p:pic>
        <p:nvPicPr>
          <p:cNvPr id="6146" name="Picture 2" descr="https://upload.wikimedia.org/wikipedia/en/4/42/Kilby_solid_circui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442" y="1083845"/>
            <a:ext cx="2642742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Bundesarchiv_B_145_Bild-F038812-0014,_Wolfsburg,_VW_Autowerk.jpg (800×504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051" y="1083845"/>
            <a:ext cx="2785714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07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0" y="108349"/>
            <a:ext cx="77308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(3)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14488" y="3164746"/>
            <a:ext cx="5915025" cy="149997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Intel 4004</a:t>
            </a:r>
            <a:r>
              <a:rPr lang="en-US" sz="1800" dirty="0"/>
              <a:t>: 1</a:t>
            </a:r>
            <a:r>
              <a:rPr lang="en-US" sz="1800" baseline="30000" dirty="0"/>
              <a:t>st</a:t>
            </a:r>
            <a:r>
              <a:rPr lang="en-US" sz="1800" dirty="0"/>
              <a:t> commercially available microprocessor by Intel in 1971.</a:t>
            </a:r>
          </a:p>
        </p:txBody>
      </p:sp>
      <p:pic>
        <p:nvPicPr>
          <p:cNvPr id="7172" name="Picture 4" descr="https://upload.wikimedia.org/wikipedia/commons/thumb/f/f9/Intel_C4004_b.jpg/800px-Intel_C4004_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740" y="1083845"/>
            <a:ext cx="2634146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443037" y="4559514"/>
            <a:ext cx="2115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https://en.wikipedia.org/wiki/Intel_4004</a:t>
            </a:r>
          </a:p>
        </p:txBody>
      </p:sp>
      <p:pic>
        <p:nvPicPr>
          <p:cNvPr id="7174" name="Picture 6" descr="https://regmedia.co.uk/2011/11/14/4004_die_lar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810" y="1083845"/>
            <a:ext cx="2415044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62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75360" y="108349"/>
            <a:ext cx="7700330" cy="519113"/>
          </a:xfrm>
        </p:spPr>
        <p:txBody>
          <a:bodyPr/>
          <a:lstStyle/>
          <a:p>
            <a:r>
              <a:rPr lang="en-US" dirty="0"/>
              <a:t>IC Manufacturing Process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614488" y="4360178"/>
            <a:ext cx="5915025" cy="304541"/>
          </a:xfrm>
        </p:spPr>
        <p:txBody>
          <a:bodyPr>
            <a:normAutofit lnSpcReduction="10000"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Yield</a:t>
            </a:r>
            <a:r>
              <a:rPr lang="en-US" sz="1500" dirty="0"/>
              <a:t>: proportion of working dies per wafer.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50" y="873760"/>
            <a:ext cx="6199400" cy="33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4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dirty="0"/>
              <a:t>Intel Core i7 Wafer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25688" y="4162841"/>
            <a:ext cx="4989513" cy="354874"/>
          </a:xfrm>
        </p:spPr>
        <p:txBody>
          <a:bodyPr>
            <a:normAutofit fontScale="92500"/>
          </a:bodyPr>
          <a:lstStyle/>
          <a:p>
            <a:r>
              <a:rPr lang="en-US" sz="1500" dirty="0"/>
              <a:t>300-mm wafer, 280 dies at 100% yield (32-nm technology).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25" y="967299"/>
            <a:ext cx="343795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04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108349"/>
            <a:ext cx="7720650" cy="519113"/>
          </a:xfrm>
        </p:spPr>
        <p:txBody>
          <a:bodyPr/>
          <a:lstStyle/>
          <a:p>
            <a:r>
              <a:rPr lang="en-US" dirty="0"/>
              <a:t>Integrated Circuit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8240" y="844153"/>
                <a:ext cx="5638800" cy="3671888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die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Cost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wafer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Die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wafer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×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yield</m:t>
                          </m:r>
                        </m:den>
                      </m:f>
                    </m:oMath>
                  </m:oMathPara>
                </a14:m>
                <a:endParaRPr lang="en-US" sz="15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Dies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wafer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≈ </m:t>
                      </m:r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Wafer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area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Die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area</m:t>
                          </m:r>
                        </m:den>
                      </m:f>
                    </m:oMath>
                  </m:oMathPara>
                </a14:m>
                <a:endParaRPr lang="en-US" sz="15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Yield</m:t>
                      </m:r>
                      <m:r>
                        <m:rPr>
                          <m:nor/>
                        </m:rP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15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5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Defects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per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area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×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Die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area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latin typeface="Times New Roman" panose="020206030504050203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/2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en-US" sz="1500" baseline="3000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5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sz="1500" dirty="0"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18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Nonlinear relation to defect rate and die area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5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Wafer cost and wafer area are fixed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5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Defect rate is determined by manufacturing process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5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Die area is determined by architecture and circuit design</a:t>
                </a:r>
              </a:p>
              <a:p>
                <a:pPr lvl="1">
                  <a:spcBef>
                    <a:spcPts val="0"/>
                  </a:spcBef>
                  <a:spcAft>
                    <a:spcPts val="750"/>
                  </a:spcAft>
                </a:pPr>
                <a:endParaRPr lang="en-US" sz="1200" dirty="0"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240" y="844153"/>
                <a:ext cx="5638800" cy="3671888"/>
              </a:xfrm>
              <a:blipFill>
                <a:blip r:embed="rId2"/>
                <a:stretch>
                  <a:fillRect l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7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560" y="108349"/>
            <a:ext cx="775113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Impacts of Advancing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119" y="844153"/>
            <a:ext cx="6807201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Processor</a:t>
            </a:r>
          </a:p>
          <a:p>
            <a:pPr lvl="1"/>
            <a:r>
              <a:rPr lang="en-US" sz="2000" dirty="0"/>
              <a:t>Logic capacity: increases about 30% per year</a:t>
            </a:r>
          </a:p>
          <a:p>
            <a:pPr lvl="1"/>
            <a:r>
              <a:rPr lang="en-US" sz="2000" dirty="0"/>
              <a:t>Performance: 2× every 1.5 years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Memory</a:t>
            </a:r>
          </a:p>
          <a:p>
            <a:pPr lvl="1"/>
            <a:r>
              <a:rPr lang="en-US" sz="2000" dirty="0"/>
              <a:t>DRAM capacity: 4× every 3 years, about 60% per year</a:t>
            </a:r>
          </a:p>
          <a:p>
            <a:pPr lvl="1"/>
            <a:r>
              <a:rPr lang="en-US" sz="2000" dirty="0"/>
              <a:t>Memory speed: 1.5× every 10 years</a:t>
            </a:r>
          </a:p>
          <a:p>
            <a:pPr lvl="1"/>
            <a:r>
              <a:rPr lang="en-US" sz="2000" dirty="0"/>
              <a:t>Cost per bit: decreases about 25% per year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Storage</a:t>
            </a:r>
          </a:p>
          <a:p>
            <a:pPr lvl="1"/>
            <a:r>
              <a:rPr lang="en-US" sz="2000" dirty="0"/>
              <a:t>Capacity: increases about 60% per year</a:t>
            </a:r>
          </a:p>
        </p:txBody>
      </p:sp>
    </p:spTree>
    <p:extLst>
      <p:ext uri="{BB962C8B-B14F-4D97-AF65-F5344CB8AC3E}">
        <p14:creationId xmlns:p14="http://schemas.microsoft.com/office/powerpoint/2010/main" val="56062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dirty="0"/>
              <a:t>Moore’s Law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281" y="982321"/>
            <a:ext cx="4643438" cy="347096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43037" y="4559514"/>
            <a:ext cx="211599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http://www.itrs2.net/</a:t>
            </a:r>
          </a:p>
        </p:txBody>
      </p:sp>
    </p:spTree>
    <p:extLst>
      <p:ext uri="{BB962C8B-B14F-4D97-AF65-F5344CB8AC3E}">
        <p14:creationId xmlns:p14="http://schemas.microsoft.com/office/powerpoint/2010/main" val="597433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1" y="108349"/>
            <a:ext cx="8356599" cy="519113"/>
          </a:xfrm>
        </p:spPr>
        <p:txBody>
          <a:bodyPr>
            <a:noAutofit/>
          </a:bodyPr>
          <a:lstStyle/>
          <a:p>
            <a:r>
              <a:rPr lang="en-US" sz="2800" dirty="0"/>
              <a:t>International Technology Roadmap for Semiconductors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909362"/>
              </p:ext>
            </p:extLst>
          </p:nvPr>
        </p:nvGraphicFramePr>
        <p:xfrm>
          <a:off x="1376100" y="1105059"/>
          <a:ext cx="6391800" cy="1032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Year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2019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38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Logic half pitch (nm)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13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38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Gate Density (gates/mm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6.4M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25.5M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40M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128M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1614488" y="2476284"/>
            <a:ext cx="5915025" cy="207667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Double the circuitry in the same space</a:t>
            </a:r>
          </a:p>
          <a:p>
            <a:pPr marL="0" indent="0" algn="ctr">
              <a:buNone/>
            </a:pPr>
            <a:r>
              <a:rPr lang="en-US" sz="2100" u="sng" dirty="0"/>
              <a:t>or</a:t>
            </a:r>
          </a:p>
          <a:p>
            <a:r>
              <a:rPr lang="en-US" sz="2100" dirty="0"/>
              <a:t>Same circuitry in half the space</a:t>
            </a:r>
          </a:p>
          <a:p>
            <a:pPr marL="0" indent="0" algn="ctr">
              <a:buNone/>
            </a:pPr>
            <a:r>
              <a:rPr lang="en-US" sz="2100" u="sng" dirty="0"/>
              <a:t>equals</a:t>
            </a:r>
          </a:p>
          <a:p>
            <a:r>
              <a:rPr lang="en-US" sz="2100" dirty="0"/>
              <a:t>Same capability, half the die size</a:t>
            </a:r>
          </a:p>
        </p:txBody>
      </p:sp>
    </p:spTree>
    <p:extLst>
      <p:ext uri="{BB962C8B-B14F-4D97-AF65-F5344CB8AC3E}">
        <p14:creationId xmlns:p14="http://schemas.microsoft.com/office/powerpoint/2010/main" val="3643586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720" y="108349"/>
            <a:ext cx="7740970" cy="519113"/>
          </a:xfrm>
        </p:spPr>
        <p:txBody>
          <a:bodyPr/>
          <a:lstStyle/>
          <a:p>
            <a:r>
              <a:rPr lang="en-US" sz="3200" dirty="0"/>
              <a:t>Clock Rate and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3853162"/>
            <a:ext cx="5915025" cy="811556"/>
          </a:xfrm>
        </p:spPr>
        <p:txBody>
          <a:bodyPr>
            <a:normAutofit lnSpcReduction="10000"/>
          </a:bodyPr>
          <a:lstStyle/>
          <a:p>
            <a:r>
              <a:rPr lang="en-US" sz="1500" dirty="0"/>
              <a:t>Pentium 4 had a dramatic jump in clock rate and power.</a:t>
            </a:r>
          </a:p>
          <a:p>
            <a:r>
              <a:rPr lang="en-US" sz="1500" dirty="0"/>
              <a:t>Core 2 reverts to simpler pipeline, lower clock rates and multiple processors per chip.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8" y="1216819"/>
            <a:ext cx="5915700" cy="25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92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0" y="108349"/>
            <a:ext cx="7730810" cy="519113"/>
          </a:xfrm>
        </p:spPr>
        <p:txBody>
          <a:bodyPr/>
          <a:lstStyle/>
          <a:p>
            <a:r>
              <a:rPr lang="en-US" sz="3200" dirty="0"/>
              <a:t>Power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090" y="986393"/>
            <a:ext cx="8229600" cy="2864247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i="1" dirty="0" err="1"/>
              <a:t>P</a:t>
            </a:r>
            <a:r>
              <a:rPr lang="en-US" sz="2400" baseline="-25000" dirty="0" err="1"/>
              <a:t>dynamic</a:t>
            </a:r>
            <a:r>
              <a:rPr lang="en-US" sz="2400" dirty="0"/>
              <a:t> = 0.5 × </a:t>
            </a:r>
            <a:r>
              <a:rPr lang="en-US" sz="2400" i="1" dirty="0"/>
              <a:t>C</a:t>
            </a:r>
            <a:r>
              <a:rPr lang="en-US" sz="2400" i="1" baseline="-25000" dirty="0"/>
              <a:t>L</a:t>
            </a:r>
            <a:r>
              <a:rPr lang="en-US" sz="2400" dirty="0"/>
              <a:t> × </a:t>
            </a:r>
            <a:r>
              <a:rPr lang="en-US" sz="2400" i="1" dirty="0"/>
              <a:t>V</a:t>
            </a:r>
            <a:r>
              <a:rPr lang="en-US" sz="2400" i="1" baseline="-25000" dirty="0"/>
              <a:t>dd</a:t>
            </a:r>
            <a:r>
              <a:rPr lang="en-US" sz="2400" baseline="30000" dirty="0"/>
              <a:t>2</a:t>
            </a:r>
            <a:r>
              <a:rPr lang="en-US" sz="2400" dirty="0"/>
              <a:t> × </a:t>
            </a:r>
            <a:r>
              <a:rPr lang="en-US" sz="2400" i="1" dirty="0" err="1"/>
              <a:t>f</a:t>
            </a:r>
            <a:r>
              <a:rPr lang="en-US" sz="2400" baseline="-25000" dirty="0" err="1"/>
              <a:t>switching</a:t>
            </a:r>
            <a:endParaRPr lang="en-US" sz="2400" baseline="-25000" dirty="0"/>
          </a:p>
          <a:p>
            <a:endParaRPr lang="en-US" dirty="0"/>
          </a:p>
          <a:p>
            <a:r>
              <a:rPr lang="en-US" sz="2400" b="1" dirty="0">
                <a:solidFill>
                  <a:schemeClr val="accent3"/>
                </a:solidFill>
              </a:rPr>
              <a:t>Example:</a:t>
            </a:r>
          </a:p>
          <a:p>
            <a:pPr lvl="1"/>
            <a:r>
              <a:rPr lang="en-US" sz="2000" dirty="0"/>
              <a:t>For a simple processor, if capacitive load is reduced by 15%, voltage is reduced by 15%, frequency is reduced by 15%, how much power consumption can be reduced?</a:t>
            </a:r>
          </a:p>
        </p:txBody>
      </p:sp>
    </p:spTree>
    <p:extLst>
      <p:ext uri="{BB962C8B-B14F-4D97-AF65-F5344CB8AC3E}">
        <p14:creationId xmlns:p14="http://schemas.microsoft.com/office/powerpoint/2010/main" val="841745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0" y="108349"/>
            <a:ext cx="77308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From Uniprocessors to Multiprocessors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2986167"/>
          </a:xfrm>
        </p:spPr>
        <p:txBody>
          <a:bodyPr/>
          <a:lstStyle/>
          <a:p>
            <a:r>
              <a:rPr lang="en-US" sz="2400" dirty="0"/>
              <a:t>Power limit forced a dramatic change in microprocessor design.</a:t>
            </a:r>
          </a:p>
          <a:p>
            <a:r>
              <a:rPr lang="en-US" sz="2400" dirty="0"/>
              <a:t>Since 2002, the response time improvement has slowed from 1.5× per year to 1.2× per year.</a:t>
            </a:r>
          </a:p>
          <a:p>
            <a:r>
              <a:rPr lang="en-US" sz="2400" dirty="0"/>
              <a:t>As of 2006, all computer companies are shipping microprocessors with multiple processors per chip (called “</a:t>
            </a:r>
            <a:r>
              <a:rPr lang="en-US" sz="2400" b="1" dirty="0">
                <a:solidFill>
                  <a:schemeClr val="accent1"/>
                </a:solidFill>
              </a:rPr>
              <a:t>multicore microprocessors</a:t>
            </a:r>
            <a:r>
              <a:rPr lang="en-US" sz="2400" dirty="0"/>
              <a:t>”).</a:t>
            </a:r>
          </a:p>
        </p:txBody>
      </p:sp>
    </p:spTree>
    <p:extLst>
      <p:ext uri="{BB962C8B-B14F-4D97-AF65-F5344CB8AC3E}">
        <p14:creationId xmlns:p14="http://schemas.microsoft.com/office/powerpoint/2010/main" val="1024665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160" y="108349"/>
            <a:ext cx="7649530" cy="519113"/>
          </a:xfrm>
        </p:spPr>
        <p:txBody>
          <a:bodyPr/>
          <a:lstStyle/>
          <a:p>
            <a:r>
              <a:rPr lang="en-US" dirty="0"/>
              <a:t>Intel Core i7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922496"/>
            <a:ext cx="5669280" cy="36175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43037" y="4559514"/>
            <a:ext cx="211599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http://www.intel.com/</a:t>
            </a:r>
          </a:p>
        </p:txBody>
      </p:sp>
    </p:spTree>
    <p:extLst>
      <p:ext uri="{BB962C8B-B14F-4D97-AF65-F5344CB8AC3E}">
        <p14:creationId xmlns:p14="http://schemas.microsoft.com/office/powerpoint/2010/main" val="3506505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8349"/>
            <a:ext cx="75784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Components of a Computer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30" y="974000"/>
            <a:ext cx="4707070" cy="355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08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640" y="108349"/>
            <a:ext cx="7619050" cy="519113"/>
          </a:xfrm>
        </p:spPr>
        <p:txBody>
          <a:bodyPr/>
          <a:lstStyle/>
          <a:p>
            <a:r>
              <a:rPr lang="en-US" dirty="0"/>
              <a:t>Computer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Components</a:t>
            </a:r>
          </a:p>
          <a:p>
            <a:pPr lvl="1"/>
            <a:r>
              <a:rPr lang="en-US" sz="1800" dirty="0"/>
              <a:t>Processor (control, </a:t>
            </a:r>
            <a:r>
              <a:rPr lang="en-US" sz="1800" dirty="0" err="1"/>
              <a:t>datapath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Input (keyboard, mouse)</a:t>
            </a:r>
          </a:p>
          <a:p>
            <a:pPr lvl="1"/>
            <a:r>
              <a:rPr lang="en-US" sz="1800" dirty="0"/>
              <a:t>Output (display, printer)</a:t>
            </a:r>
          </a:p>
          <a:p>
            <a:pPr lvl="1"/>
            <a:r>
              <a:rPr lang="en-US" sz="1800" dirty="0"/>
              <a:t>Memory (cache, SRAM, disk drive, CD/DVD)</a:t>
            </a:r>
          </a:p>
          <a:p>
            <a:pPr lvl="1"/>
            <a:r>
              <a:rPr lang="en-US" sz="1800" dirty="0"/>
              <a:t>Network</a:t>
            </a:r>
          </a:p>
          <a:p>
            <a:r>
              <a:rPr lang="en-US" sz="2000" dirty="0"/>
              <a:t>Our main focus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>
                <a:solidFill>
                  <a:schemeClr val="accent1"/>
                </a:solidFill>
              </a:rPr>
              <a:t>processor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(</a:t>
            </a:r>
            <a:r>
              <a:rPr lang="en-US" sz="1800" b="1" dirty="0">
                <a:solidFill>
                  <a:schemeClr val="accent1"/>
                </a:solidFill>
              </a:rPr>
              <a:t>control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and </a:t>
            </a:r>
            <a:r>
              <a:rPr lang="en-US" sz="1800" b="1" dirty="0" err="1">
                <a:solidFill>
                  <a:schemeClr val="accent1"/>
                </a:solidFill>
              </a:rPr>
              <a:t>datapath</a:t>
            </a:r>
            <a:r>
              <a:rPr lang="en-US" sz="1800" dirty="0"/>
              <a:t>) and its interaction with </a:t>
            </a:r>
            <a:r>
              <a:rPr lang="en-US" sz="1800" b="1" dirty="0">
                <a:solidFill>
                  <a:schemeClr val="accent1"/>
                </a:solidFill>
              </a:rPr>
              <a:t>memory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systems</a:t>
            </a:r>
          </a:p>
          <a:p>
            <a:pPr lvl="1"/>
            <a:r>
              <a:rPr lang="en-US" sz="1800" dirty="0"/>
              <a:t>Implemented using hundreds of millions of transistors; impossible to understand by looking at each transistor</a:t>
            </a:r>
          </a:p>
        </p:txBody>
      </p:sp>
    </p:spTree>
    <p:extLst>
      <p:ext uri="{BB962C8B-B14F-4D97-AF65-F5344CB8AC3E}">
        <p14:creationId xmlns:p14="http://schemas.microsoft.com/office/powerpoint/2010/main" val="110441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Machine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840" y="844153"/>
            <a:ext cx="8177850" cy="3671888"/>
          </a:xfrm>
        </p:spPr>
        <p:txBody>
          <a:bodyPr/>
          <a:lstStyle/>
          <a:p>
            <a:r>
              <a:rPr lang="en-US" sz="2400" dirty="0"/>
              <a:t>Capabilities and performance characteristics of the principal </a:t>
            </a:r>
            <a:r>
              <a:rPr lang="en-US" sz="2400" b="1" dirty="0">
                <a:solidFill>
                  <a:schemeClr val="accent1"/>
                </a:solidFill>
              </a:rPr>
              <a:t>functional units</a:t>
            </a:r>
            <a:r>
              <a:rPr lang="en-US" sz="2400" dirty="0"/>
              <a:t> (e.g., registers, ALU, shifters, logic units).</a:t>
            </a:r>
          </a:p>
          <a:p>
            <a:r>
              <a:rPr lang="en-US" sz="2400" dirty="0"/>
              <a:t>Ways in which these components are interconnected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Logic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1"/>
                </a:solidFill>
              </a:rPr>
              <a:t>means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by which such information flow is controlled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Instruction Set Architecture</a:t>
            </a:r>
            <a:r>
              <a:rPr lang="en-US" sz="2400" dirty="0"/>
              <a:t> (</a:t>
            </a:r>
            <a:r>
              <a:rPr lang="en-US" sz="2400" b="1" dirty="0">
                <a:solidFill>
                  <a:schemeClr val="accent1"/>
                </a:solidFill>
              </a:rPr>
              <a:t>ISA</a:t>
            </a:r>
            <a:r>
              <a:rPr lang="en-US" sz="2400" dirty="0"/>
              <a:t>)</a:t>
            </a:r>
          </a:p>
          <a:p>
            <a:r>
              <a:rPr lang="en-US" sz="2400" dirty="0"/>
              <a:t>Register Transfer Level (RTL) description</a:t>
            </a:r>
          </a:p>
        </p:txBody>
      </p:sp>
    </p:spTree>
    <p:extLst>
      <p:ext uri="{BB962C8B-B14F-4D97-AF65-F5344CB8AC3E}">
        <p14:creationId xmlns:p14="http://schemas.microsoft.com/office/powerpoint/2010/main" val="354978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Processor Organization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2945527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Control </a:t>
            </a:r>
            <a:r>
              <a:rPr lang="en-US" sz="2400" dirty="0"/>
              <a:t>needs to have </a:t>
            </a:r>
            <a:r>
              <a:rPr lang="en-US" sz="2400" b="1" dirty="0">
                <a:solidFill>
                  <a:schemeClr val="accent1"/>
                </a:solidFill>
              </a:rPr>
              <a:t>circuitry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</a:t>
            </a:r>
          </a:p>
          <a:p>
            <a:pPr lvl="1"/>
            <a:r>
              <a:rPr lang="en-US" sz="2000" dirty="0"/>
              <a:t>Decide which is the next instruction and input it from memory</a:t>
            </a:r>
          </a:p>
          <a:p>
            <a:pPr lvl="1"/>
            <a:r>
              <a:rPr lang="en-US" sz="2000" dirty="0"/>
              <a:t>Decode the instruction</a:t>
            </a:r>
          </a:p>
          <a:p>
            <a:pPr lvl="1"/>
            <a:r>
              <a:rPr lang="en-US" sz="2000" dirty="0"/>
              <a:t>Issue signals that control the way information flows between </a:t>
            </a:r>
            <a:r>
              <a:rPr lang="en-US" sz="2000" dirty="0" err="1"/>
              <a:t>datapath</a:t>
            </a:r>
            <a:r>
              <a:rPr lang="en-US" sz="2000" dirty="0"/>
              <a:t> components</a:t>
            </a:r>
          </a:p>
          <a:p>
            <a:pPr lvl="1"/>
            <a:r>
              <a:rPr lang="en-US" sz="2000" dirty="0"/>
              <a:t>Control what operations the </a:t>
            </a:r>
            <a:r>
              <a:rPr lang="en-US" sz="2000" dirty="0" err="1"/>
              <a:t>datapath’s</a:t>
            </a:r>
            <a:r>
              <a:rPr lang="en-US" sz="2000" dirty="0"/>
              <a:t> functional units perform</a:t>
            </a:r>
          </a:p>
        </p:txBody>
      </p:sp>
    </p:spTree>
    <p:extLst>
      <p:ext uri="{BB962C8B-B14F-4D97-AF65-F5344CB8AC3E}">
        <p14:creationId xmlns:p14="http://schemas.microsoft.com/office/powerpoint/2010/main" val="1643711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Processor Organization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280" y="935593"/>
            <a:ext cx="7538720" cy="2478167"/>
          </a:xfrm>
        </p:spPr>
        <p:txBody>
          <a:bodyPr/>
          <a:lstStyle/>
          <a:p>
            <a:r>
              <a:rPr lang="en-US" sz="2400" b="1" dirty="0" err="1">
                <a:solidFill>
                  <a:schemeClr val="accent1"/>
                </a:solidFill>
              </a:rPr>
              <a:t>Datapath</a:t>
            </a:r>
            <a:r>
              <a:rPr lang="en-US" sz="2400" dirty="0"/>
              <a:t> needs to have </a:t>
            </a:r>
            <a:r>
              <a:rPr lang="en-US" sz="2400" b="1" dirty="0">
                <a:solidFill>
                  <a:schemeClr val="accent1"/>
                </a:solidFill>
              </a:rPr>
              <a:t>circuitry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</a:t>
            </a:r>
          </a:p>
          <a:p>
            <a:pPr lvl="1"/>
            <a:r>
              <a:rPr lang="en-US" sz="2000" dirty="0"/>
              <a:t>Execute instructions – functional units (e.g., adder) and storage locations (e.g., register)</a:t>
            </a:r>
          </a:p>
          <a:p>
            <a:pPr lvl="1"/>
            <a:r>
              <a:rPr lang="en-US" sz="2000" dirty="0"/>
              <a:t>Interconnect the functional units so that the instructions can be executed as required</a:t>
            </a:r>
          </a:p>
          <a:p>
            <a:pPr lvl="1"/>
            <a:r>
              <a:rPr lang="en-US" sz="2000" dirty="0"/>
              <a:t>Load data from and store data to memory</a:t>
            </a:r>
          </a:p>
        </p:txBody>
      </p:sp>
    </p:spTree>
    <p:extLst>
      <p:ext uri="{BB962C8B-B14F-4D97-AF65-F5344CB8AC3E}">
        <p14:creationId xmlns:p14="http://schemas.microsoft.com/office/powerpoint/2010/main" val="2967936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sz="3200" dirty="0"/>
              <a:t>System Software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694810" y="915272"/>
            <a:ext cx="5201920" cy="3626248"/>
          </a:xfrm>
        </p:spPr>
        <p:txBody>
          <a:bodyPr>
            <a:noAutofit/>
          </a:bodyPr>
          <a:lstStyle/>
          <a:p>
            <a:r>
              <a:rPr lang="en-US" sz="2000" dirty="0"/>
              <a:t>Operating System</a:t>
            </a:r>
          </a:p>
          <a:p>
            <a:pPr lvl="1"/>
            <a:r>
              <a:rPr lang="en-US" sz="1600" dirty="0"/>
              <a:t>Supervising program that interfaces the user’s program with the hardware (e.g., Linux, iOS, Windows)</a:t>
            </a:r>
          </a:p>
          <a:p>
            <a:pPr lvl="1"/>
            <a:r>
              <a:rPr lang="en-US" sz="1600" dirty="0"/>
              <a:t>Handles basic input and output operations</a:t>
            </a:r>
          </a:p>
          <a:p>
            <a:pPr lvl="1"/>
            <a:r>
              <a:rPr lang="en-US" sz="1600" dirty="0"/>
              <a:t>Allocates storage and memory</a:t>
            </a:r>
          </a:p>
          <a:p>
            <a:pPr lvl="1"/>
            <a:r>
              <a:rPr lang="en-US" sz="1600" dirty="0"/>
              <a:t>Provides for protected sharing among multiple applications</a:t>
            </a:r>
          </a:p>
          <a:p>
            <a:r>
              <a:rPr lang="en-US" sz="2000" dirty="0"/>
              <a:t>Compiler</a:t>
            </a:r>
          </a:p>
          <a:p>
            <a:pPr lvl="1"/>
            <a:r>
              <a:rPr lang="en-US" sz="1600" dirty="0"/>
              <a:t>Translate high-level language programs (e.g., C, Java) into instructions that the hardware can execute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975690" y="1226979"/>
            <a:ext cx="2700000" cy="2700000"/>
            <a:chOff x="4945050" y="1624514"/>
            <a:chExt cx="3600000" cy="3600000"/>
          </a:xfrm>
        </p:grpSpPr>
        <p:sp>
          <p:nvSpPr>
            <p:cNvPr id="15" name="Oval 14"/>
            <p:cNvSpPr/>
            <p:nvPr/>
          </p:nvSpPr>
          <p:spPr>
            <a:xfrm>
              <a:off x="4945050" y="1624514"/>
              <a:ext cx="3600000" cy="360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sz="1200" dirty="0"/>
                <a:t>Application Software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485050" y="1825625"/>
              <a:ext cx="2520000" cy="25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sz="1200" dirty="0"/>
                <a:t>System Software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115050" y="2260600"/>
              <a:ext cx="1260000" cy="126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/>
                <a:t>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9389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26160" y="108349"/>
            <a:ext cx="7649530" cy="519113"/>
          </a:xfrm>
        </p:spPr>
        <p:txBody>
          <a:bodyPr/>
          <a:lstStyle/>
          <a:p>
            <a:r>
              <a:rPr lang="en-US" sz="3200" dirty="0"/>
              <a:t>High-Level Languages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68960" y="844153"/>
            <a:ext cx="7965440" cy="3671888"/>
          </a:xfrm>
        </p:spPr>
        <p:txBody>
          <a:bodyPr>
            <a:noAutofit/>
          </a:bodyPr>
          <a:lstStyle/>
          <a:p>
            <a:r>
              <a:rPr lang="en-US" sz="1800" dirty="0"/>
              <a:t>Allow the programmer to think in a more </a:t>
            </a:r>
            <a:r>
              <a:rPr lang="en-US" sz="1800" b="1" dirty="0">
                <a:solidFill>
                  <a:schemeClr val="accent1"/>
                </a:solidFill>
              </a:rPr>
              <a:t>natural language</a:t>
            </a:r>
            <a:r>
              <a:rPr lang="en-US" sz="1800" dirty="0"/>
              <a:t> and for their intended use (Fortran for scientific computation, Cobol for business programming, Lisp for symbol manipulation, Java for web programming, etc.).</a:t>
            </a:r>
          </a:p>
          <a:p>
            <a:r>
              <a:rPr lang="en-US" sz="1800" dirty="0"/>
              <a:t>Improve programmer </a:t>
            </a:r>
            <a:r>
              <a:rPr lang="en-US" sz="1800" b="1" dirty="0">
                <a:solidFill>
                  <a:schemeClr val="accent1"/>
                </a:solidFill>
              </a:rPr>
              <a:t>productivity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– more understandable code that is easier to debug and validate.</a:t>
            </a:r>
          </a:p>
          <a:p>
            <a:r>
              <a:rPr lang="en-US" sz="1800" dirty="0"/>
              <a:t>Improve program </a:t>
            </a:r>
            <a:r>
              <a:rPr lang="en-US" sz="1800" b="1" dirty="0">
                <a:solidFill>
                  <a:schemeClr val="accent1"/>
                </a:solidFill>
              </a:rPr>
              <a:t>maintainability</a:t>
            </a:r>
            <a:r>
              <a:rPr lang="en-US" sz="1800" dirty="0"/>
              <a:t>.</a:t>
            </a:r>
          </a:p>
          <a:p>
            <a:r>
              <a:rPr lang="en-US" sz="1800" dirty="0"/>
              <a:t>Allow programs to be </a:t>
            </a:r>
            <a:r>
              <a:rPr lang="en-US" sz="1800" b="1" dirty="0">
                <a:solidFill>
                  <a:schemeClr val="accent1"/>
                </a:solidFill>
              </a:rPr>
              <a:t>independent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of the computer on which they are developed (compilers and assemblers can translate high-level language programs to the binary instructions of any machine).</a:t>
            </a:r>
          </a:p>
          <a:p>
            <a:r>
              <a:rPr lang="en-US" sz="1800" dirty="0"/>
              <a:t>Emergence of </a:t>
            </a:r>
            <a:r>
              <a:rPr lang="en-US" sz="1800" b="1" dirty="0">
                <a:solidFill>
                  <a:schemeClr val="accent1"/>
                </a:solidFill>
              </a:rPr>
              <a:t>optimizing compilers</a:t>
            </a:r>
            <a:r>
              <a:rPr lang="en-US" sz="1800" dirty="0"/>
              <a:t> that produce very efficient assembly code optimized for the target machine.</a:t>
            </a:r>
          </a:p>
          <a:p>
            <a:r>
              <a:rPr lang="en-US" sz="1800" dirty="0"/>
              <a:t>As a result, very little programming is done today at the assembly level.</a:t>
            </a:r>
          </a:p>
        </p:txBody>
      </p:sp>
    </p:spTree>
    <p:extLst>
      <p:ext uri="{BB962C8B-B14F-4D97-AF65-F5344CB8AC3E}">
        <p14:creationId xmlns:p14="http://schemas.microsoft.com/office/powerpoint/2010/main" val="1429709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08349"/>
            <a:ext cx="7659690" cy="519113"/>
          </a:xfrm>
        </p:spPr>
        <p:txBody>
          <a:bodyPr/>
          <a:lstStyle/>
          <a:p>
            <a:r>
              <a:rPr lang="en-US" sz="3200" dirty="0"/>
              <a:t>Below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0" y="844153"/>
            <a:ext cx="7416800" cy="367188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450"/>
              </a:spcAft>
            </a:pPr>
            <a:r>
              <a:rPr lang="en-US" sz="1950" dirty="0"/>
              <a:t>High-level language program (in 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swap (int v[], int k)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int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temp = v[k];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v[k] = v[k+1];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v[k+1] = temp;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450"/>
              </a:spcAft>
            </a:pPr>
            <a:r>
              <a:rPr lang="en-US" sz="1950" dirty="0"/>
              <a:t>Assembly language program (for MIPS)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swap: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$2, $5, 2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add $2, $4, $2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$15, 0($2)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$16, 4($2)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$16, 0($2)	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$15, 4($2)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$31</a:t>
            </a:r>
          </a:p>
          <a:p>
            <a:pPr>
              <a:spcAft>
                <a:spcPts val="450"/>
              </a:spcAft>
            </a:pPr>
            <a:r>
              <a:rPr lang="en-US" sz="1950" dirty="0"/>
              <a:t>Machine (object) code (for MIPS)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000000 00000 00101 0001000010000000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nl-NL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000000 00100 00010 0001000000100000</a:t>
            </a:r>
            <a:endParaRPr lang="en-US" dirty="0"/>
          </a:p>
        </p:txBody>
      </p:sp>
      <p:sp>
        <p:nvSpPr>
          <p:cNvPr id="6" name="Curved Left Arrow 5"/>
          <p:cNvSpPr/>
          <p:nvPr/>
        </p:nvSpPr>
        <p:spPr>
          <a:xfrm>
            <a:off x="5781675" y="1324295"/>
            <a:ext cx="666750" cy="1104900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7" name="Curved Left Arrow 6"/>
          <p:cNvSpPr/>
          <p:nvPr/>
        </p:nvSpPr>
        <p:spPr>
          <a:xfrm>
            <a:off x="5791835" y="3085311"/>
            <a:ext cx="666750" cy="1104900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1756" y="1324295"/>
            <a:ext cx="115608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one-to-many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050" y="3085311"/>
            <a:ext cx="10214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one-to-one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313" y="1689518"/>
            <a:ext cx="1107996" cy="3000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350" b="1" dirty="0"/>
              <a:t>C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6525" y="3499261"/>
            <a:ext cx="1069524" cy="3000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350" b="1" dirty="0"/>
              <a:t>Assembler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230" y="4208482"/>
            <a:ext cx="643331" cy="188753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/>
          <p:cNvSpPr/>
          <p:nvPr/>
        </p:nvSpPr>
        <p:spPr>
          <a:xfrm>
            <a:off x="3145790" y="2741729"/>
            <a:ext cx="333463" cy="11711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/>
          <p:nvPr/>
        </p:nvSpPr>
        <p:spPr>
          <a:xfrm>
            <a:off x="4433377" y="4208482"/>
            <a:ext cx="1090045" cy="188753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2722881" y="2896738"/>
            <a:ext cx="589640" cy="1293473"/>
          </a:xfrm>
          <a:prstGeom prst="straightConnector1">
            <a:avLst/>
          </a:prstGeom>
          <a:ln w="254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367493" y="2858839"/>
            <a:ext cx="1478352" cy="1349643"/>
          </a:xfrm>
          <a:prstGeom prst="straightConnector1">
            <a:avLst/>
          </a:prstGeom>
          <a:ln w="254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36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Input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358045" y="2161169"/>
            <a:ext cx="4688631" cy="229932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398750" y="935967"/>
            <a:ext cx="2428870" cy="98103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000000 00000 00101 0001000010000000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000000 00100 00010 0001000000100000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100011 00010 01111 0000000000000000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100011 00010 10000 0000000000000100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101011 00010 10000 0000000000000000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101011 00010 01111 0000000000000100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000000 11111 00000 0000000000001000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0888" y="1017504"/>
            <a:ext cx="11464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Object Code</a:t>
            </a:r>
          </a:p>
        </p:txBody>
      </p:sp>
      <p:sp>
        <p:nvSpPr>
          <p:cNvPr id="19" name="Arc 18"/>
          <p:cNvSpPr/>
          <p:nvPr/>
        </p:nvSpPr>
        <p:spPr>
          <a:xfrm>
            <a:off x="4473255" y="541090"/>
            <a:ext cx="2445566" cy="2946384"/>
          </a:xfrm>
          <a:prstGeom prst="arc">
            <a:avLst>
              <a:gd name="adj1" fmla="val 328533"/>
              <a:gd name="adj2" fmla="val 5441017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5562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08349"/>
            <a:ext cx="7700330" cy="519113"/>
          </a:xfrm>
        </p:spPr>
        <p:txBody>
          <a:bodyPr/>
          <a:lstStyle/>
          <a:p>
            <a:r>
              <a:rPr lang="en-US" sz="3200" dirty="0"/>
              <a:t>Code Stored in Memory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158240" y="1036320"/>
            <a:ext cx="7223760" cy="3291839"/>
            <a:chOff x="286726" y="3030572"/>
            <a:chExt cx="8127431" cy="3065762"/>
          </a:xfrm>
        </p:grpSpPr>
        <p:grpSp>
          <p:nvGrpSpPr>
            <p:cNvPr id="18" name="Group 17"/>
            <p:cNvGrpSpPr/>
            <p:nvPr/>
          </p:nvGrpSpPr>
          <p:grpSpPr>
            <a:xfrm>
              <a:off x="286726" y="3030572"/>
              <a:ext cx="8127431" cy="3065762"/>
              <a:chOff x="286726" y="3030572"/>
              <a:chExt cx="8127431" cy="306576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01112" y="3301324"/>
                <a:ext cx="35139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89593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477148" y="3301324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813732" y="4028239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13732" y="4808827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6726" y="3030572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322" y="3924816"/>
                <a:ext cx="3238493" cy="1308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000000 00000 00101 0001000010000000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000000 00100 00010 0001000000100000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100011 00010 01111 0000000000000000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100011 00010 10000 0000000000000100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101011 00010 10000 0000000000000000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101011 00010 01111 0000000000000100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000000 11111 00000 0000000000001000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H="1" flipV="1">
              <a:off x="5972961" y="4605556"/>
              <a:ext cx="671120" cy="92279"/>
            </a:xfrm>
            <a:prstGeom prst="straightConnector1">
              <a:avLst/>
            </a:prstGeom>
            <a:ln w="762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661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Fetch from Memory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524214" y="1392085"/>
            <a:ext cx="6095573" cy="2299322"/>
            <a:chOff x="286726" y="3030572"/>
            <a:chExt cx="8127431" cy="3065762"/>
          </a:xfrm>
        </p:grpSpPr>
        <p:grpSp>
          <p:nvGrpSpPr>
            <p:cNvPr id="18" name="Group 17"/>
            <p:cNvGrpSpPr/>
            <p:nvPr/>
          </p:nvGrpSpPr>
          <p:grpSpPr>
            <a:xfrm>
              <a:off x="286726" y="3030572"/>
              <a:ext cx="8127431" cy="3065762"/>
              <a:chOff x="286726" y="3030572"/>
              <a:chExt cx="8127431" cy="306576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01112" y="3301324"/>
                <a:ext cx="35139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89593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477148" y="3301324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813732" y="4028239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13732" y="4808827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6726" y="3030572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322" y="3924816"/>
                <a:ext cx="3238493" cy="1308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000000 00000 00101 0001000010000000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000000 00100 00010 0001000000100000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100011 00010 01111 0000000000000000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100011 00010 10000 0000000000000100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101011 00010 10000 0000000000000000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101011 00010 01111 0000000000000100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000000 11111 00000 0000000000001000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H="1">
              <a:off x="2029174" y="4211274"/>
              <a:ext cx="660248" cy="153775"/>
            </a:xfrm>
            <a:prstGeom prst="straightConnector1">
              <a:avLst/>
            </a:prstGeom>
            <a:ln w="762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3445193" y="2224510"/>
            <a:ext cx="2289801" cy="13633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724185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Decoding Code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24214" y="1392085"/>
            <a:ext cx="6095573" cy="2299322"/>
            <a:chOff x="508284" y="1856113"/>
            <a:chExt cx="8127431" cy="3065762"/>
          </a:xfrm>
        </p:grpSpPr>
        <p:sp>
          <p:nvSpPr>
            <p:cNvPr id="7" name="Rectangle 6"/>
            <p:cNvSpPr/>
            <p:nvPr/>
          </p:nvSpPr>
          <p:spPr>
            <a:xfrm>
              <a:off x="811150" y="2126865"/>
              <a:ext cx="3636275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6698706" y="2126865"/>
              <a:ext cx="1622738" cy="2524259"/>
              <a:chOff x="4612631" y="3301324"/>
              <a:chExt cx="1622738" cy="252425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612631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Devices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99171" y="3745942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>
                    <a:solidFill>
                      <a:schemeClr val="tx1"/>
                    </a:solidFill>
                  </a:rPr>
                  <a:t>Network</a:t>
                </a:r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99171" y="4411188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Input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99171" y="5076434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Output</a:t>
                </a: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35289" y="2853780"/>
              <a:ext cx="3175983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35290" y="3634368"/>
              <a:ext cx="3175982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284" y="1856113"/>
              <a:ext cx="8127431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0792" y="3125805"/>
              <a:ext cx="3064975" cy="2238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lIns="27000" tIns="27000" rIns="27000" bIns="13500" rtlCol="0">
              <a:spAutoFit/>
            </a:bodyPr>
            <a:lstStyle/>
            <a:p>
              <a:pPr algn="ctr"/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00100 00010 00010</a:t>
              </a:r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00000100000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61697" y="2126865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455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040" y="108349"/>
            <a:ext cx="7466650" cy="519113"/>
          </a:xfrm>
        </p:spPr>
        <p:txBody>
          <a:bodyPr/>
          <a:lstStyle/>
          <a:p>
            <a:r>
              <a:rPr lang="en-US" sz="3200" dirty="0"/>
              <a:t>Executing Code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1614488" y="3924964"/>
            <a:ext cx="5915025" cy="739754"/>
          </a:xfrm>
        </p:spPr>
        <p:txBody>
          <a:bodyPr>
            <a:normAutofit/>
          </a:bodyPr>
          <a:lstStyle/>
          <a:p>
            <a:r>
              <a:rPr lang="en-US" sz="1500" dirty="0"/>
              <a:t>Control </a:t>
            </a:r>
            <a:r>
              <a:rPr lang="en-US" sz="1500" b="1" dirty="0">
                <a:solidFill>
                  <a:schemeClr val="accent1"/>
                </a:solidFill>
              </a:rPr>
              <a:t>decodes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  <a:r>
              <a:rPr lang="en-US" sz="1500" dirty="0"/>
              <a:t>the instruction to determine what to execute</a:t>
            </a:r>
          </a:p>
          <a:p>
            <a:r>
              <a:rPr lang="en-US" sz="1500" dirty="0" err="1"/>
              <a:t>Datapath</a:t>
            </a:r>
            <a:r>
              <a:rPr lang="en-US" sz="1500" dirty="0"/>
              <a:t> </a:t>
            </a:r>
            <a:r>
              <a:rPr lang="en-US" sz="1500" b="1" dirty="0">
                <a:solidFill>
                  <a:schemeClr val="accent1"/>
                </a:solidFill>
              </a:rPr>
              <a:t>executes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  <a:r>
              <a:rPr lang="en-US" sz="1500" dirty="0"/>
              <a:t>the instruction as directed by control</a:t>
            </a:r>
          </a:p>
          <a:p>
            <a:pPr marL="0" indent="0">
              <a:buNone/>
            </a:pPr>
            <a:endParaRPr lang="en-US" sz="15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524214" y="1392085"/>
            <a:ext cx="6095573" cy="2299322"/>
            <a:chOff x="508284" y="1856113"/>
            <a:chExt cx="8127431" cy="3065762"/>
          </a:xfrm>
        </p:grpSpPr>
        <p:sp>
          <p:nvSpPr>
            <p:cNvPr id="7" name="Rectangle 6"/>
            <p:cNvSpPr/>
            <p:nvPr/>
          </p:nvSpPr>
          <p:spPr>
            <a:xfrm>
              <a:off x="811150" y="2126865"/>
              <a:ext cx="3636275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6698706" y="2126865"/>
              <a:ext cx="1622738" cy="2524259"/>
              <a:chOff x="4612631" y="3301324"/>
              <a:chExt cx="1622738" cy="252425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612631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Devices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99171" y="3745942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>
                    <a:solidFill>
                      <a:schemeClr val="tx1"/>
                    </a:solidFill>
                  </a:rPr>
                  <a:t>Network</a:t>
                </a:r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99171" y="4411188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Input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99171" y="5076434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Output</a:t>
                </a: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35289" y="2853780"/>
              <a:ext cx="3175983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35290" y="3634367"/>
              <a:ext cx="3175982" cy="8028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7000" rIns="0" bIns="0" rtlCol="0" anchor="t" anchorCtr="0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284" y="1856113"/>
              <a:ext cx="8127431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61697" y="2126865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427527" y="2959334"/>
            <a:ext cx="1465170" cy="29481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none" lIns="27000" tIns="27000" rIns="27000" bIns="13500" rtlCol="0">
            <a:spAutoFit/>
          </a:bodyPr>
          <a:lstStyle/>
          <a:p>
            <a:r>
              <a:rPr lang="en-US" sz="825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sz="825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sz="825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#4</a:t>
            </a:r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825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sz="825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#2</a:t>
            </a:r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25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result in </a:t>
            </a:r>
            <a:r>
              <a:rPr lang="en-US" sz="825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</a:t>
            </a:r>
            <a:r>
              <a:rPr lang="en-US" sz="825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1095" y="2344354"/>
            <a:ext cx="2298731" cy="16785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lIns="27000" tIns="27000" rIns="27000" bIns="13500" rtlCol="0">
            <a:spAutoFit/>
          </a:bodyPr>
          <a:lstStyle/>
          <a:p>
            <a:pPr algn="ctr"/>
            <a:r>
              <a:rPr lang="en-US" sz="825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</a:t>
            </a:r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25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00100 </a:t>
            </a:r>
            <a:r>
              <a:rPr lang="en-US" sz="825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00010</a:t>
            </a:r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25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00010</a:t>
            </a:r>
            <a:r>
              <a:rPr lang="en-US" sz="825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00000100000</a:t>
            </a:r>
          </a:p>
        </p:txBody>
      </p:sp>
      <p:sp>
        <p:nvSpPr>
          <p:cNvPr id="19" name="Arc 18"/>
          <p:cNvSpPr/>
          <p:nvPr/>
        </p:nvSpPr>
        <p:spPr>
          <a:xfrm flipH="1">
            <a:off x="1717128" y="2358940"/>
            <a:ext cx="700318" cy="794660"/>
          </a:xfrm>
          <a:prstGeom prst="arc">
            <a:avLst>
              <a:gd name="adj1" fmla="val 17378787"/>
              <a:gd name="adj2" fmla="val 4678222"/>
            </a:avLst>
          </a:prstGeom>
          <a:ln w="603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21312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080" y="108349"/>
            <a:ext cx="7527610" cy="519113"/>
          </a:xfrm>
        </p:spPr>
        <p:txBody>
          <a:bodyPr/>
          <a:lstStyle/>
          <a:p>
            <a:r>
              <a:rPr lang="en-US" sz="3200" dirty="0"/>
              <a:t>The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3221372"/>
            <a:ext cx="5915025" cy="1443347"/>
          </a:xfrm>
        </p:spPr>
        <p:txBody>
          <a:bodyPr>
            <a:normAutofit/>
          </a:bodyPr>
          <a:lstStyle/>
          <a:p>
            <a:r>
              <a:rPr lang="en-US" sz="1800" dirty="0"/>
              <a:t>Processor fetches the next instruction from memory</a:t>
            </a:r>
          </a:p>
          <a:p>
            <a:r>
              <a:rPr lang="en-US" sz="1800" dirty="0"/>
              <a:t>How does it know which </a:t>
            </a:r>
            <a:r>
              <a:rPr lang="en-US" sz="1800" b="1" dirty="0">
                <a:solidFill>
                  <a:schemeClr val="accent1"/>
                </a:solidFill>
              </a:rPr>
              <a:t>location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in memory to fetch from next?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62" y="1316553"/>
            <a:ext cx="3947789" cy="1492241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5659292" y="1381531"/>
            <a:ext cx="2078573" cy="1362284"/>
            <a:chOff x="5845553" y="1581852"/>
            <a:chExt cx="2771431" cy="1816379"/>
          </a:xfrm>
        </p:grpSpPr>
        <p:sp>
          <p:nvSpPr>
            <p:cNvPr id="33" name="Oval 32"/>
            <p:cNvSpPr/>
            <p:nvPr/>
          </p:nvSpPr>
          <p:spPr>
            <a:xfrm>
              <a:off x="6686026" y="1581852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Fetch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536984" y="2750231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Decode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5845553" y="2750231"/>
              <a:ext cx="1080000" cy="648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350" dirty="0"/>
                <a:t>Execute</a:t>
              </a:r>
            </a:p>
          </p:txBody>
        </p:sp>
        <p:sp>
          <p:nvSpPr>
            <p:cNvPr id="36" name="Right Arrow 35"/>
            <p:cNvSpPr/>
            <p:nvPr/>
          </p:nvSpPr>
          <p:spPr>
            <a:xfrm rot="3167120">
              <a:off x="7515851" y="2251829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Right Arrow 36"/>
            <p:cNvSpPr/>
            <p:nvPr/>
          </p:nvSpPr>
          <p:spPr>
            <a:xfrm rot="18432880" flipV="1">
              <a:off x="6461551" y="2205940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Right Arrow 37"/>
            <p:cNvSpPr/>
            <p:nvPr/>
          </p:nvSpPr>
          <p:spPr>
            <a:xfrm flipH="1">
              <a:off x="6969652" y="2825583"/>
              <a:ext cx="500350" cy="446699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682650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320" y="108349"/>
            <a:ext cx="7639370" cy="519113"/>
          </a:xfrm>
        </p:spPr>
        <p:txBody>
          <a:bodyPr/>
          <a:lstStyle/>
          <a:p>
            <a:r>
              <a:rPr lang="en-US" sz="3200" dirty="0"/>
              <a:t>Data Output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55793" y="1234792"/>
            <a:ext cx="4688631" cy="229932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506310" y="3856801"/>
            <a:ext cx="2236511" cy="47320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00000100010100000000000000000000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00000000010011110000000000000100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00000011111000000000000000001000</a:t>
            </a:r>
          </a:p>
        </p:txBody>
      </p:sp>
      <p:sp>
        <p:nvSpPr>
          <p:cNvPr id="19" name="Arc 18"/>
          <p:cNvSpPr/>
          <p:nvPr/>
        </p:nvSpPr>
        <p:spPr>
          <a:xfrm>
            <a:off x="4422921" y="2960040"/>
            <a:ext cx="2577692" cy="1793522"/>
          </a:xfrm>
          <a:prstGeom prst="arc">
            <a:avLst>
              <a:gd name="adj1" fmla="val 16801684"/>
              <a:gd name="adj2" fmla="val 21425582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14988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ISA</a:t>
            </a:r>
            <a:r>
              <a:rPr lang="en-US" sz="2000" dirty="0"/>
              <a:t>, or simply architecture – the abstract interface between the hardware and the lowest level software that includes all the information necessary to write a machine language program, including instructions, registers, memory access, I/O, etc.</a:t>
            </a:r>
          </a:p>
          <a:p>
            <a:r>
              <a:rPr lang="en-US" sz="2000" dirty="0"/>
              <a:t>Enables </a:t>
            </a:r>
            <a:r>
              <a:rPr lang="en-US" sz="2000" b="1" dirty="0">
                <a:solidFill>
                  <a:schemeClr val="accent1"/>
                </a:solidFill>
              </a:rPr>
              <a:t>implementations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of varying cost and performance to run identical software.</a:t>
            </a:r>
          </a:p>
          <a:p>
            <a:r>
              <a:rPr lang="en-US" sz="2000" dirty="0"/>
              <a:t>The combination of the basic instruction set (the ISA) and the operating system interface is called the </a:t>
            </a:r>
            <a:r>
              <a:rPr lang="en-US" sz="2000" b="1" dirty="0">
                <a:solidFill>
                  <a:schemeClr val="accent1"/>
                </a:solidFill>
              </a:rPr>
              <a:t>Application Binary Interface</a:t>
            </a:r>
            <a:r>
              <a:rPr lang="en-US" sz="2000" dirty="0"/>
              <a:t> (</a:t>
            </a:r>
            <a:r>
              <a:rPr lang="en-US" sz="2000" b="1" dirty="0">
                <a:solidFill>
                  <a:schemeClr val="accent1"/>
                </a:solidFill>
              </a:rPr>
              <a:t>ABI</a:t>
            </a:r>
            <a:r>
              <a:rPr lang="en-US" sz="2000" dirty="0"/>
              <a:t>).</a:t>
            </a:r>
          </a:p>
          <a:p>
            <a:pPr lvl="1"/>
            <a:r>
              <a:rPr lang="en-US" sz="1600" dirty="0"/>
              <a:t>The user portion of the instruction set plus the operating system interfaces used by application programmers. </a:t>
            </a:r>
          </a:p>
          <a:p>
            <a:pPr lvl="1"/>
            <a:r>
              <a:rPr lang="en-US" sz="1600" dirty="0"/>
              <a:t>Define a standard for binary portability across computers.</a:t>
            </a:r>
          </a:p>
        </p:txBody>
      </p:sp>
    </p:spTree>
    <p:extLst>
      <p:ext uri="{BB962C8B-B14F-4D97-AF65-F5344CB8AC3E}">
        <p14:creationId xmlns:p14="http://schemas.microsoft.com/office/powerpoint/2010/main" val="4280479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160" y="108349"/>
            <a:ext cx="7649530" cy="519113"/>
          </a:xfrm>
        </p:spPr>
        <p:txBody>
          <a:bodyPr/>
          <a:lstStyle/>
          <a:p>
            <a:r>
              <a:rPr lang="en-US" sz="3200" dirty="0"/>
              <a:t>MIPS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769" y="879183"/>
            <a:ext cx="8229600" cy="3671888"/>
          </a:xfrm>
        </p:spPr>
        <p:txBody>
          <a:bodyPr>
            <a:normAutofit/>
          </a:bodyPr>
          <a:lstStyle/>
          <a:p>
            <a:r>
              <a:rPr lang="en-US" sz="1800" dirty="0"/>
              <a:t>Instruction Categories</a:t>
            </a:r>
          </a:p>
          <a:p>
            <a:pPr lvl="1"/>
            <a:r>
              <a:rPr lang="en-US" sz="1500" dirty="0"/>
              <a:t>Load/Store</a:t>
            </a:r>
          </a:p>
          <a:p>
            <a:pPr lvl="1"/>
            <a:r>
              <a:rPr lang="en-US" sz="1500" dirty="0"/>
              <a:t>Computational</a:t>
            </a:r>
          </a:p>
          <a:p>
            <a:pPr lvl="1"/>
            <a:r>
              <a:rPr lang="en-US" sz="1500" dirty="0"/>
              <a:t>Jump and Branch</a:t>
            </a:r>
          </a:p>
          <a:p>
            <a:pPr lvl="1"/>
            <a:r>
              <a:rPr lang="en-US" sz="1500" dirty="0"/>
              <a:t>Floating Point</a:t>
            </a:r>
          </a:p>
          <a:p>
            <a:pPr lvl="1"/>
            <a:r>
              <a:rPr lang="en-US" sz="1500" dirty="0"/>
              <a:t>Memory Management</a:t>
            </a:r>
          </a:p>
          <a:p>
            <a:pPr lvl="1"/>
            <a:r>
              <a:rPr lang="en-US" sz="1500" dirty="0"/>
              <a:t>Special</a:t>
            </a:r>
          </a:p>
          <a:p>
            <a:endParaRPr lang="en-US" sz="1800" dirty="0"/>
          </a:p>
          <a:p>
            <a:r>
              <a:rPr lang="en-US" sz="1800" dirty="0"/>
              <a:t>3 instruction formats: all 32-bit wide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710410" y="1186389"/>
            <a:ext cx="1350022" cy="2029582"/>
            <a:chOff x="5943008" y="1900082"/>
            <a:chExt cx="1800029" cy="2706109"/>
          </a:xfrm>
        </p:grpSpPr>
        <p:sp>
          <p:nvSpPr>
            <p:cNvPr id="6" name="Rectangle 5"/>
            <p:cNvSpPr/>
            <p:nvPr/>
          </p:nvSpPr>
          <p:spPr>
            <a:xfrm>
              <a:off x="5943008" y="2174051"/>
              <a:ext cx="1800027" cy="14261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R0–R31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010" y="3686399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009" y="4020295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009" y="4354191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43010" y="1900082"/>
              <a:ext cx="1800027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</a:rPr>
                <a:t>Registers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576904" y="3778764"/>
            <a:ext cx="4045394" cy="673866"/>
            <a:chOff x="1911871" y="5053592"/>
            <a:chExt cx="5393859" cy="898488"/>
          </a:xfrm>
        </p:grpSpPr>
        <p:grpSp>
          <p:nvGrpSpPr>
            <p:cNvPr id="25" name="Group 24"/>
            <p:cNvGrpSpPr/>
            <p:nvPr/>
          </p:nvGrpSpPr>
          <p:grpSpPr>
            <a:xfrm>
              <a:off x="1911871" y="5053592"/>
              <a:ext cx="5393859" cy="252000"/>
              <a:chOff x="1911871" y="5106088"/>
              <a:chExt cx="5393859" cy="25200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911871" y="5106088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028950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rs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885118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740271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rd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595424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sa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6450577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>
                    <a:solidFill>
                      <a:schemeClr val="tx1"/>
                    </a:solidFill>
                  </a:rPr>
                  <a:t>funct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1911871" y="5376836"/>
              <a:ext cx="5393859" cy="252000"/>
              <a:chOff x="1911871" y="5536856"/>
              <a:chExt cx="5393859" cy="2520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911871" y="5536856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027935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rs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3884103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4740271" y="5536856"/>
                <a:ext cx="2565459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immediate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1911871" y="5700080"/>
              <a:ext cx="5393859" cy="252000"/>
              <a:chOff x="1911871" y="5967625"/>
              <a:chExt cx="5393859" cy="25200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911871" y="5967625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029965" y="5967625"/>
                <a:ext cx="4275765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jump target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8118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108349"/>
            <a:ext cx="7720650" cy="519113"/>
          </a:xfrm>
        </p:spPr>
        <p:txBody>
          <a:bodyPr/>
          <a:lstStyle/>
          <a:p>
            <a:r>
              <a:rPr lang="en-US" altLang="ja-JP" sz="3200" dirty="0"/>
              <a:t>Computer Architecture</a:t>
            </a:r>
            <a:endParaRPr lang="en-US" sz="3200" dirty="0"/>
          </a:p>
        </p:txBody>
      </p:sp>
      <p:sp>
        <p:nvSpPr>
          <p:cNvPr id="22" name="Content Placeholder 21"/>
          <p:cNvSpPr>
            <a:spLocks noGrp="1"/>
          </p:cNvSpPr>
          <p:nvPr>
            <p:ph idx="1"/>
          </p:nvPr>
        </p:nvSpPr>
        <p:spPr>
          <a:xfrm>
            <a:off x="1614488" y="3609753"/>
            <a:ext cx="5915025" cy="1054966"/>
          </a:xfrm>
        </p:spPr>
        <p:txBody>
          <a:bodyPr>
            <a:normAutofit/>
          </a:bodyPr>
          <a:lstStyle/>
          <a:p>
            <a:r>
              <a:rPr lang="en-US" sz="1500" dirty="0"/>
              <a:t>Coordination of many levels of abstraction</a:t>
            </a:r>
          </a:p>
          <a:p>
            <a:r>
              <a:rPr lang="en-US" sz="1500" dirty="0"/>
              <a:t>Under a rapidly changing set of forces</a:t>
            </a:r>
          </a:p>
          <a:p>
            <a:r>
              <a:rPr lang="en-US" sz="1500" dirty="0"/>
              <a:t>Design, measurement, and evaluation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982948" y="1083845"/>
            <a:ext cx="5178104" cy="2337419"/>
            <a:chOff x="586322" y="1997080"/>
            <a:chExt cx="6904138" cy="3116559"/>
          </a:xfrm>
        </p:grpSpPr>
        <p:grpSp>
          <p:nvGrpSpPr>
            <p:cNvPr id="19" name="Group 18"/>
            <p:cNvGrpSpPr/>
            <p:nvPr/>
          </p:nvGrpSpPr>
          <p:grpSpPr>
            <a:xfrm>
              <a:off x="1564665" y="4107003"/>
              <a:ext cx="5557470" cy="1006636"/>
              <a:chOff x="1639583" y="4107003"/>
              <a:chExt cx="5557470" cy="100663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840124" y="4861639"/>
                <a:ext cx="1800027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Circuit Design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840124" y="4610321"/>
                <a:ext cx="1800027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Digital Design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840124" y="4358321"/>
                <a:ext cx="1800027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Datapath</a:t>
                </a:r>
                <a:r>
                  <a:rPr lang="en-US" sz="1050" dirty="0">
                    <a:solidFill>
                      <a:schemeClr val="tx1"/>
                    </a:solidFill>
                  </a:rPr>
                  <a:t> &amp; Control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639583" y="4107003"/>
                <a:ext cx="138936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Memory System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028950" y="4107003"/>
                <a:ext cx="138936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418318" y="4107003"/>
                <a:ext cx="138936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I/O System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807685" y="4107003"/>
                <a:ext cx="138936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Network</a:t>
                </a:r>
              </a:p>
            </p:txBody>
          </p:sp>
        </p:grpSp>
        <p:sp>
          <p:nvSpPr>
            <p:cNvPr id="13" name="Rectangle 12"/>
            <p:cNvSpPr/>
            <p:nvPr/>
          </p:nvSpPr>
          <p:spPr>
            <a:xfrm>
              <a:off x="1196340" y="3863340"/>
              <a:ext cx="6294120" cy="1828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2539570" y="1997080"/>
              <a:ext cx="3607661" cy="1812920"/>
              <a:chOff x="2473099" y="1997080"/>
              <a:chExt cx="3607661" cy="181292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473099" y="1997080"/>
                <a:ext cx="3043781" cy="18129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Applications</a:t>
                </a:r>
              </a:p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990351" y="2813156"/>
                <a:ext cx="2090409" cy="996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Operation System</a:t>
                </a:r>
              </a:p>
              <a:p>
                <a:pPr algn="ctr"/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954032" y="3484965"/>
                <a:ext cx="1389368" cy="25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Compiler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608445" y="3484965"/>
                <a:ext cx="1389368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Firmware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586322" y="3366160"/>
              <a:ext cx="1389368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</a:rPr>
                <a:t>Instruction Set Architecture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646974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2353</TotalTime>
  <Words>1526</Words>
  <Application>Microsoft Office PowerPoint</Application>
  <PresentationFormat>全屏显示(16:9)</PresentationFormat>
  <Paragraphs>324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MS Sans Serif</vt:lpstr>
      <vt:lpstr>Arial</vt:lpstr>
      <vt:lpstr>Calibri</vt:lpstr>
      <vt:lpstr>Cambria Math</vt:lpstr>
      <vt:lpstr>Courier New</vt:lpstr>
      <vt:lpstr>Times New Roman</vt:lpstr>
      <vt:lpstr>Wingdings</vt:lpstr>
      <vt:lpstr>NTHU UniCloud</vt:lpstr>
      <vt:lpstr>CSC3050 – Computer Architecture</vt:lpstr>
      <vt:lpstr>Computer</vt:lpstr>
      <vt:lpstr>Other Classes of Computers</vt:lpstr>
      <vt:lpstr>Supercomputers</vt:lpstr>
      <vt:lpstr>Automotive Embedded Systems</vt:lpstr>
      <vt:lpstr>Post-PC Era</vt:lpstr>
      <vt:lpstr>Embedded vs. Desktop</vt:lpstr>
      <vt:lpstr>Evolution of Computer Hardware (1)</vt:lpstr>
      <vt:lpstr>Evolution of Computer Hardware (2)</vt:lpstr>
      <vt:lpstr>Evolution of Computer Hardware (3)</vt:lpstr>
      <vt:lpstr>IC Manufacturing Process</vt:lpstr>
      <vt:lpstr>Intel Core i7 Wafer</vt:lpstr>
      <vt:lpstr>Integrated Circuit Cost</vt:lpstr>
      <vt:lpstr>Impacts of Advancing Technology</vt:lpstr>
      <vt:lpstr>Moore’s Law</vt:lpstr>
      <vt:lpstr>International Technology Roadmap for Semiconductors</vt:lpstr>
      <vt:lpstr>Clock Rate and Power</vt:lpstr>
      <vt:lpstr>Power Wall</vt:lpstr>
      <vt:lpstr>From Uniprocessors to Multiprocessors</vt:lpstr>
      <vt:lpstr>Intel Core i7</vt:lpstr>
      <vt:lpstr>Major Components of a Computer</vt:lpstr>
      <vt:lpstr>Computer Organization</vt:lpstr>
      <vt:lpstr>Machine Organization</vt:lpstr>
      <vt:lpstr>Processor Organization (1)</vt:lpstr>
      <vt:lpstr>Processor Organization (2)</vt:lpstr>
      <vt:lpstr>System Software</vt:lpstr>
      <vt:lpstr>High-Level Languages</vt:lpstr>
      <vt:lpstr>Below the Program</vt:lpstr>
      <vt:lpstr>Code Input to Device</vt:lpstr>
      <vt:lpstr>Code Stored in Memory</vt:lpstr>
      <vt:lpstr>Code Fetch from Memory</vt:lpstr>
      <vt:lpstr>Decoding Code</vt:lpstr>
      <vt:lpstr>Executing Code</vt:lpstr>
      <vt:lpstr>The Cycle</vt:lpstr>
      <vt:lpstr>Data Output to Device</vt:lpstr>
      <vt:lpstr>Instruction Set Architecture (ISA)</vt:lpstr>
      <vt:lpstr>MIPS ISA</vt:lpstr>
      <vt:lpstr>Computer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236</cp:revision>
  <dcterms:created xsi:type="dcterms:W3CDTF">2015-06-05T07:23:35Z</dcterms:created>
  <dcterms:modified xsi:type="dcterms:W3CDTF">2019-01-09T22:46:53Z</dcterms:modified>
</cp:coreProperties>
</file>