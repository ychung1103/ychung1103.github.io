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968" y="844153"/>
            <a:ext cx="7648832" cy="3671888"/>
          </a:xfrm>
        </p:spPr>
        <p:txBody>
          <a:bodyPr>
            <a:normAutofit/>
          </a:bodyPr>
          <a:lstStyle/>
          <a:p>
            <a:r>
              <a:rPr lang="en-US" sz="2000" dirty="0"/>
              <a:t>I/O devices can be characterized by</a:t>
            </a:r>
          </a:p>
          <a:p>
            <a:pPr lvl="1"/>
            <a:r>
              <a:rPr lang="en-US" sz="1600" dirty="0" err="1"/>
              <a:t>Behaviour</a:t>
            </a:r>
            <a:r>
              <a:rPr lang="en-US" sz="1600" dirty="0"/>
              <a:t>: input, output, storage</a:t>
            </a:r>
          </a:p>
          <a:p>
            <a:pPr lvl="1"/>
            <a:r>
              <a:rPr lang="en-US" sz="1600" dirty="0"/>
              <a:t>Partner: human or machine</a:t>
            </a:r>
          </a:p>
          <a:p>
            <a:pPr lvl="1"/>
            <a:r>
              <a:rPr lang="en-US" sz="1600" dirty="0"/>
              <a:t>Data rate: bytes/sec, transfers/sec</a:t>
            </a:r>
          </a:p>
          <a:p>
            <a:r>
              <a:rPr lang="en-US" sz="2000" dirty="0"/>
              <a:t>I/O bus connections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583" y="1656579"/>
            <a:ext cx="4095030" cy="295661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13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System Characteristic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108" y="844153"/>
            <a:ext cx="7574692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Dependability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is important</a:t>
            </a:r>
          </a:p>
          <a:p>
            <a:pPr lvl="1"/>
            <a:r>
              <a:rPr lang="en-US" dirty="0"/>
              <a:t>Particularly for storage devices</a:t>
            </a:r>
          </a:p>
          <a:p>
            <a:r>
              <a:rPr lang="en-US" dirty="0"/>
              <a:t>Performance measures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Latency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(response time)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Throughput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(bandwidth)</a:t>
            </a:r>
          </a:p>
          <a:p>
            <a:pPr lvl="1"/>
            <a:r>
              <a:rPr lang="en-US" dirty="0"/>
              <a:t>Desktops &amp; embedded systems</a:t>
            </a:r>
          </a:p>
          <a:p>
            <a:pPr lvl="2"/>
            <a:r>
              <a:rPr lang="en-US" dirty="0"/>
              <a:t>Mainly interested in </a:t>
            </a:r>
            <a:r>
              <a:rPr lang="en-US" b="1" dirty="0">
                <a:solidFill>
                  <a:schemeClr val="accent1"/>
                </a:solidFill>
              </a:rPr>
              <a:t>response time</a:t>
            </a:r>
            <a:r>
              <a:rPr lang="en-US" dirty="0"/>
              <a:t> &amp; </a:t>
            </a:r>
            <a:r>
              <a:rPr lang="en-US" b="1" dirty="0">
                <a:solidFill>
                  <a:schemeClr val="accent1"/>
                </a:solidFill>
              </a:rPr>
              <a:t>diversity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devices</a:t>
            </a:r>
          </a:p>
          <a:p>
            <a:pPr lvl="1"/>
            <a:r>
              <a:rPr lang="en-US" dirty="0"/>
              <a:t>Servers</a:t>
            </a:r>
          </a:p>
          <a:p>
            <a:pPr lvl="2"/>
            <a:r>
              <a:rPr lang="en-US" dirty="0"/>
              <a:t>Mainly interested in </a:t>
            </a:r>
            <a:r>
              <a:rPr lang="en-US" b="1" dirty="0">
                <a:solidFill>
                  <a:schemeClr val="accent1"/>
                </a:solidFill>
              </a:rPr>
              <a:t>throughput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&amp; </a:t>
            </a:r>
            <a:r>
              <a:rPr lang="en-US" b="1" dirty="0">
                <a:solidFill>
                  <a:schemeClr val="accent1"/>
                </a:solidFill>
              </a:rPr>
              <a:t>expandability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devices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83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Dependability Measures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918" y="844153"/>
            <a:ext cx="7615881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Reliability</a:t>
            </a:r>
            <a:r>
              <a:rPr lang="en-US" dirty="0"/>
              <a:t>: mean time to failure (MTTF)</a:t>
            </a:r>
          </a:p>
          <a:p>
            <a:r>
              <a:rPr lang="en-US" dirty="0"/>
              <a:t>Service </a:t>
            </a:r>
            <a:r>
              <a:rPr lang="en-US" b="1" dirty="0">
                <a:solidFill>
                  <a:schemeClr val="accent1"/>
                </a:solidFill>
              </a:rPr>
              <a:t>interruption</a:t>
            </a:r>
            <a:r>
              <a:rPr lang="en-US" dirty="0"/>
              <a:t>: mean time to repair (MTTR)</a:t>
            </a:r>
          </a:p>
          <a:p>
            <a:r>
              <a:rPr lang="en-US" dirty="0"/>
              <a:t>Mean time between failures</a:t>
            </a:r>
          </a:p>
          <a:p>
            <a:pPr lvl="1"/>
            <a:r>
              <a:rPr lang="en-US" dirty="0"/>
              <a:t>MTBF = MTTF + MTTR</a:t>
            </a:r>
          </a:p>
          <a:p>
            <a:r>
              <a:rPr lang="en-US" dirty="0"/>
              <a:t>Availability = MTTF / (MTTF + MTTR)</a:t>
            </a:r>
          </a:p>
          <a:p>
            <a:r>
              <a:rPr lang="en-US" dirty="0"/>
              <a:t>Improving Availability</a:t>
            </a:r>
          </a:p>
          <a:p>
            <a:pPr lvl="1"/>
            <a:r>
              <a:rPr lang="en-US" dirty="0"/>
              <a:t>Increase MTTF: fault avoidance, fault tolerance, fault forecasting</a:t>
            </a:r>
          </a:p>
          <a:p>
            <a:pPr lvl="1"/>
            <a:r>
              <a:rPr lang="en-US" dirty="0"/>
              <a:t>Reduce MTTR: improved tools and processes for diagnosis and repair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59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Interconnecting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Need </a:t>
            </a:r>
            <a:r>
              <a:rPr lang="en-US" b="1" dirty="0">
                <a:solidFill>
                  <a:schemeClr val="accent1"/>
                </a:solidFill>
              </a:rPr>
              <a:t>interconnections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between</a:t>
            </a:r>
          </a:p>
          <a:p>
            <a:pPr lvl="1"/>
            <a:r>
              <a:rPr lang="en-US" dirty="0"/>
              <a:t>CPU, memory, I/O controllers</a:t>
            </a:r>
          </a:p>
          <a:p>
            <a:r>
              <a:rPr lang="en-US" b="1" dirty="0">
                <a:solidFill>
                  <a:schemeClr val="accent1"/>
                </a:solidFill>
              </a:rPr>
              <a:t>Bus</a:t>
            </a:r>
            <a:r>
              <a:rPr lang="en-US" dirty="0"/>
              <a:t>: shared communication channel</a:t>
            </a:r>
          </a:p>
          <a:p>
            <a:pPr lvl="1"/>
            <a:r>
              <a:rPr lang="en-US" dirty="0"/>
              <a:t>Parallel set of wires for data and synchronization of data transfer</a:t>
            </a:r>
          </a:p>
          <a:p>
            <a:pPr lvl="1"/>
            <a:r>
              <a:rPr lang="en-US" dirty="0"/>
              <a:t>Can become a bottleneck</a:t>
            </a:r>
          </a:p>
          <a:p>
            <a:r>
              <a:rPr lang="en-US" dirty="0"/>
              <a:t>Performance limited by physical factors</a:t>
            </a:r>
          </a:p>
          <a:p>
            <a:pPr lvl="1"/>
            <a:r>
              <a:rPr lang="en-US" dirty="0"/>
              <a:t>Wire length, number of connections</a:t>
            </a:r>
          </a:p>
          <a:p>
            <a:r>
              <a:rPr lang="en-US" dirty="0"/>
              <a:t>More recent alternative: high-speed serial connections with switches</a:t>
            </a:r>
          </a:p>
          <a:p>
            <a:pPr lvl="1"/>
            <a:r>
              <a:rPr lang="en-US" dirty="0"/>
              <a:t>Like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9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918" y="844153"/>
            <a:ext cx="7615881" cy="367188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Processor-Memory</a:t>
            </a:r>
            <a:r>
              <a:rPr lang="en-US" dirty="0"/>
              <a:t> buses</a:t>
            </a:r>
          </a:p>
          <a:p>
            <a:pPr lvl="1"/>
            <a:r>
              <a:rPr lang="en-US" sz="2100" dirty="0"/>
              <a:t>Short, high speed</a:t>
            </a:r>
          </a:p>
          <a:p>
            <a:pPr lvl="1"/>
            <a:r>
              <a:rPr lang="en-US" sz="2100" dirty="0"/>
              <a:t>Design is matched to memory organization</a:t>
            </a:r>
          </a:p>
          <a:p>
            <a:r>
              <a:rPr lang="en-US" b="1" dirty="0">
                <a:solidFill>
                  <a:schemeClr val="accent1"/>
                </a:solidFill>
              </a:rPr>
              <a:t>I/O</a:t>
            </a:r>
            <a:r>
              <a:rPr lang="en-US" dirty="0"/>
              <a:t> buses</a:t>
            </a:r>
          </a:p>
          <a:p>
            <a:pPr lvl="1"/>
            <a:r>
              <a:rPr lang="en-US" sz="2100" dirty="0"/>
              <a:t>Longer, allowing multiple connections</a:t>
            </a:r>
          </a:p>
          <a:p>
            <a:pPr lvl="1"/>
            <a:r>
              <a:rPr lang="en-US" sz="2100" dirty="0"/>
              <a:t>Specified by standards for interoperability</a:t>
            </a:r>
          </a:p>
          <a:p>
            <a:pPr lvl="1"/>
            <a:r>
              <a:rPr lang="en-US" sz="2100" dirty="0"/>
              <a:t>Connect to processor-memory bus through a bridge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185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Signals and Synchronization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918" y="844153"/>
            <a:ext cx="7615881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Data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lines</a:t>
            </a:r>
          </a:p>
          <a:p>
            <a:pPr lvl="1"/>
            <a:r>
              <a:rPr lang="en-US" dirty="0"/>
              <a:t>Carry </a:t>
            </a:r>
            <a:r>
              <a:rPr lang="en-US" b="1" dirty="0">
                <a:solidFill>
                  <a:schemeClr val="accent1"/>
                </a:solidFill>
              </a:rPr>
              <a:t>address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data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Multiplexed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1"/>
                </a:solidFill>
              </a:rPr>
              <a:t>separate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Control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lines</a:t>
            </a:r>
          </a:p>
          <a:p>
            <a:pPr lvl="1"/>
            <a:r>
              <a:rPr lang="en-US" dirty="0"/>
              <a:t>Indicate data type, synchronize transactions</a:t>
            </a:r>
          </a:p>
          <a:p>
            <a:r>
              <a:rPr lang="en-US" b="1" dirty="0">
                <a:solidFill>
                  <a:schemeClr val="accent1"/>
                </a:solidFill>
              </a:rPr>
              <a:t>Synchronous</a:t>
            </a:r>
          </a:p>
          <a:p>
            <a:pPr lvl="1"/>
            <a:r>
              <a:rPr lang="en-US" dirty="0"/>
              <a:t>Uses a bus clock</a:t>
            </a:r>
          </a:p>
          <a:p>
            <a:r>
              <a:rPr lang="en-US" b="1" dirty="0">
                <a:solidFill>
                  <a:schemeClr val="accent1"/>
                </a:solidFill>
              </a:rPr>
              <a:t>Asynchronous</a:t>
            </a:r>
          </a:p>
          <a:p>
            <a:pPr lvl="1"/>
            <a:r>
              <a:rPr lang="en-US" dirty="0"/>
              <a:t>Uses request/acknowledge control lines for handshaking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84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Bus Examples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54118"/>
              </p:ext>
            </p:extLst>
          </p:nvPr>
        </p:nvGraphicFramePr>
        <p:xfrm>
          <a:off x="1414659" y="1057843"/>
          <a:ext cx="6426000" cy="3262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Firewire</a:t>
                      </a:r>
                      <a:endParaRPr lang="en-US" sz="1400" b="1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USB 2.0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PCI Express</a:t>
                      </a:r>
                      <a:endParaRPr lang="en-US" sz="1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Serial ATA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Serial Attached SCSI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Intended</a:t>
                      </a:r>
                      <a:r>
                        <a:rPr lang="en-US" sz="1000" baseline="0" dirty="0"/>
                        <a:t> use</a:t>
                      </a:r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External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External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Internal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381">
                <a:tc>
                  <a:txBody>
                    <a:bodyPr/>
                    <a:lstStyle/>
                    <a:p>
                      <a:r>
                        <a:rPr lang="en-US" sz="1000" dirty="0"/>
                        <a:t>Devices per channel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Data</a:t>
                      </a:r>
                      <a:r>
                        <a:rPr lang="en-US" sz="1000" baseline="0" dirty="0"/>
                        <a:t> width</a:t>
                      </a:r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2/lane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Peak bandwidth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50MB/s or 100MB/s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0.2MB/s, 1.5MB/s, or 60MB/s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250MB/s/lane 1×, 2×, 4×, 8×, 16×, 32×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300MB/s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300MB/s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Hot pluggable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Depends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Max</a:t>
                      </a:r>
                      <a:r>
                        <a:rPr lang="en-US" sz="1000" baseline="0" dirty="0"/>
                        <a:t> length</a:t>
                      </a:r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4.5m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0.5m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781">
                <a:tc>
                  <a:txBody>
                    <a:bodyPr/>
                    <a:lstStyle/>
                    <a:p>
                      <a:r>
                        <a:rPr lang="en-US" sz="1000" dirty="0"/>
                        <a:t>Standard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IEEE 1394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USB</a:t>
                      </a:r>
                      <a:r>
                        <a:rPr lang="en-US" sz="1000" baseline="0" dirty="0"/>
                        <a:t> Implementers Forum</a:t>
                      </a:r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PCI-SIG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SATA-IO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INCITS</a:t>
                      </a:r>
                      <a:r>
                        <a:rPr lang="en-US" sz="1000" baseline="0" dirty="0"/>
                        <a:t> TC T10</a:t>
                      </a:r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92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Typical x86 PC I/O System 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69" y="850790"/>
            <a:ext cx="4299018" cy="373711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67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I/O is mediated by the OS</a:t>
            </a:r>
          </a:p>
          <a:p>
            <a:pPr lvl="1"/>
            <a:r>
              <a:rPr lang="en-US" sz="2100" dirty="0"/>
              <a:t>Multiple programs </a:t>
            </a:r>
            <a:r>
              <a:rPr lang="en-US" sz="2100" b="1" dirty="0">
                <a:solidFill>
                  <a:schemeClr val="accent1"/>
                </a:solidFill>
              </a:rPr>
              <a:t>share</a:t>
            </a:r>
            <a:r>
              <a:rPr lang="en-US" sz="2100" dirty="0">
                <a:solidFill>
                  <a:schemeClr val="accent1"/>
                </a:solidFill>
              </a:rPr>
              <a:t> </a:t>
            </a:r>
            <a:r>
              <a:rPr lang="en-US" sz="2100" dirty="0"/>
              <a:t>I/O resources</a:t>
            </a:r>
          </a:p>
          <a:p>
            <a:pPr lvl="2"/>
            <a:r>
              <a:rPr lang="en-US" dirty="0"/>
              <a:t>Need protection and scheduling</a:t>
            </a:r>
          </a:p>
          <a:p>
            <a:pPr lvl="1"/>
            <a:r>
              <a:rPr lang="en-US" sz="2100" dirty="0"/>
              <a:t>I/O causes </a:t>
            </a:r>
            <a:r>
              <a:rPr lang="en-US" sz="2100" b="1" dirty="0">
                <a:solidFill>
                  <a:schemeClr val="accent1"/>
                </a:solidFill>
              </a:rPr>
              <a:t>asynchronous interrupts</a:t>
            </a:r>
          </a:p>
          <a:p>
            <a:pPr lvl="2"/>
            <a:r>
              <a:rPr lang="en-US" dirty="0"/>
              <a:t>Same mechanism as exceptions</a:t>
            </a:r>
          </a:p>
          <a:p>
            <a:pPr lvl="1"/>
            <a:r>
              <a:rPr lang="en-US" sz="2100" dirty="0"/>
              <a:t>I/O programming is complicated</a:t>
            </a:r>
          </a:p>
          <a:p>
            <a:pPr lvl="2"/>
            <a:r>
              <a:rPr lang="en-US" dirty="0"/>
              <a:t>OS provides </a:t>
            </a:r>
            <a:r>
              <a:rPr lang="en-US" b="1" dirty="0">
                <a:solidFill>
                  <a:schemeClr val="accent1"/>
                </a:solidFill>
              </a:rPr>
              <a:t>abstractions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to programs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66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Commands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I/O devices are managed by </a:t>
            </a:r>
            <a:r>
              <a:rPr lang="en-US" b="1" dirty="0">
                <a:solidFill>
                  <a:schemeClr val="accent1"/>
                </a:solidFill>
              </a:rPr>
              <a:t>I/O controller</a:t>
            </a:r>
            <a:r>
              <a:rPr lang="en-US" dirty="0"/>
              <a:t> hardware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Transfers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data to/from device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Synchronizes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operations with software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Command registers</a:t>
            </a:r>
          </a:p>
          <a:p>
            <a:pPr lvl="1"/>
            <a:r>
              <a:rPr lang="en-US" dirty="0"/>
              <a:t>Cause device to do something</a:t>
            </a:r>
          </a:p>
          <a:p>
            <a:r>
              <a:rPr lang="en-US" b="1" dirty="0">
                <a:solidFill>
                  <a:schemeClr val="accent1"/>
                </a:solidFill>
              </a:rPr>
              <a:t>Status registers</a:t>
            </a:r>
          </a:p>
          <a:p>
            <a:pPr lvl="1"/>
            <a:r>
              <a:rPr lang="en-US" dirty="0"/>
              <a:t>Indicate what the device is doing and occurrence of errors</a:t>
            </a:r>
          </a:p>
          <a:p>
            <a:r>
              <a:rPr lang="en-US" b="1" dirty="0">
                <a:solidFill>
                  <a:schemeClr val="accent1"/>
                </a:solidFill>
              </a:rPr>
              <a:t>Data registers</a:t>
            </a:r>
          </a:p>
          <a:p>
            <a:pPr lvl="1"/>
            <a:r>
              <a:rPr lang="en-US" dirty="0"/>
              <a:t>Write: transfer data to a device</a:t>
            </a:r>
          </a:p>
          <a:p>
            <a:pPr lvl="1"/>
            <a:r>
              <a:rPr lang="en-US" dirty="0"/>
              <a:t>Read: transfer data from a device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46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Register Mapping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Memory-mapped I/O</a:t>
            </a:r>
          </a:p>
          <a:p>
            <a:pPr lvl="1"/>
            <a:r>
              <a:rPr lang="en-US" dirty="0"/>
              <a:t>Registers are addressed in </a:t>
            </a:r>
            <a:r>
              <a:rPr lang="en-US" b="1" dirty="0">
                <a:solidFill>
                  <a:schemeClr val="accent1"/>
                </a:solidFill>
              </a:rPr>
              <a:t>same space </a:t>
            </a:r>
            <a:r>
              <a:rPr lang="en-US" dirty="0"/>
              <a:t>as memory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Address decoder</a:t>
            </a:r>
            <a:r>
              <a:rPr lang="en-US" dirty="0"/>
              <a:t> distinguishes between them</a:t>
            </a:r>
          </a:p>
          <a:p>
            <a:pPr lvl="1"/>
            <a:r>
              <a:rPr lang="en-US" dirty="0"/>
              <a:t>OS uses address translation mechanism to make them only accessible to kernel</a:t>
            </a:r>
          </a:p>
          <a:p>
            <a:r>
              <a:rPr lang="en-US" b="1" dirty="0">
                <a:solidFill>
                  <a:schemeClr val="accent1"/>
                </a:solidFill>
              </a:rPr>
              <a:t>I/O instructions</a:t>
            </a:r>
            <a:r>
              <a:rPr lang="en-US" dirty="0"/>
              <a:t> (or </a:t>
            </a:r>
            <a:r>
              <a:rPr lang="en-US" b="1" dirty="0">
                <a:solidFill>
                  <a:schemeClr val="accent1"/>
                </a:solidFill>
              </a:rPr>
              <a:t>port-mapped I/O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Separate instructions</a:t>
            </a:r>
            <a:r>
              <a:rPr lang="en-US" dirty="0"/>
              <a:t> to access I/O registers</a:t>
            </a:r>
          </a:p>
          <a:p>
            <a:pPr lvl="1"/>
            <a:r>
              <a:rPr lang="en-US" dirty="0"/>
              <a:t>Can only be executed in kernel mode</a:t>
            </a:r>
          </a:p>
          <a:p>
            <a:pPr lvl="1"/>
            <a:r>
              <a:rPr lang="en-US" dirty="0"/>
              <a:t>Example: x86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203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Periodically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check I/O status register</a:t>
            </a:r>
          </a:p>
          <a:p>
            <a:pPr lvl="1"/>
            <a:r>
              <a:rPr lang="en-US" dirty="0"/>
              <a:t>If device ready, do operation</a:t>
            </a:r>
          </a:p>
          <a:p>
            <a:pPr lvl="1"/>
            <a:r>
              <a:rPr lang="en-US" dirty="0"/>
              <a:t>If error, take action</a:t>
            </a:r>
          </a:p>
          <a:p>
            <a:r>
              <a:rPr lang="en-US" dirty="0"/>
              <a:t>Common in small or low-performance real-time embedded systems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Predictable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timing</a:t>
            </a:r>
          </a:p>
          <a:p>
            <a:pPr lvl="1"/>
            <a:r>
              <a:rPr lang="en-US" dirty="0"/>
              <a:t>Low </a:t>
            </a:r>
            <a:r>
              <a:rPr lang="en-US" b="1" dirty="0">
                <a:solidFill>
                  <a:schemeClr val="accent1"/>
                </a:solidFill>
              </a:rPr>
              <a:t>hardware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cost</a:t>
            </a:r>
          </a:p>
          <a:p>
            <a:r>
              <a:rPr lang="en-US" dirty="0"/>
              <a:t>In other systems, </a:t>
            </a:r>
            <a:r>
              <a:rPr lang="en-US" b="1" dirty="0">
                <a:solidFill>
                  <a:schemeClr val="accent1"/>
                </a:solidFill>
              </a:rPr>
              <a:t>wastes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CPU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23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When a device is </a:t>
            </a:r>
            <a:r>
              <a:rPr lang="en-US" b="1" dirty="0">
                <a:solidFill>
                  <a:schemeClr val="accent1"/>
                </a:solidFill>
              </a:rPr>
              <a:t>ready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1"/>
                </a:solidFill>
              </a:rPr>
              <a:t>error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occurs</a:t>
            </a:r>
          </a:p>
          <a:p>
            <a:pPr lvl="1"/>
            <a:r>
              <a:rPr lang="en-US" dirty="0"/>
              <a:t>Controller </a:t>
            </a:r>
            <a:r>
              <a:rPr lang="en-US" b="1" dirty="0">
                <a:solidFill>
                  <a:schemeClr val="accent1"/>
                </a:solidFill>
              </a:rPr>
              <a:t>interrupts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CPU</a:t>
            </a:r>
          </a:p>
          <a:p>
            <a:r>
              <a:rPr lang="en-US" dirty="0"/>
              <a:t>Interrupt is like an exception</a:t>
            </a:r>
          </a:p>
          <a:p>
            <a:pPr lvl="1"/>
            <a:r>
              <a:rPr lang="en-US" dirty="0"/>
              <a:t>But not synchronized to instruction execution</a:t>
            </a:r>
          </a:p>
          <a:p>
            <a:pPr lvl="1"/>
            <a:r>
              <a:rPr lang="en-US" dirty="0"/>
              <a:t>Can invoke handler </a:t>
            </a:r>
            <a:r>
              <a:rPr lang="en-US" b="1" dirty="0">
                <a:solidFill>
                  <a:schemeClr val="accent1"/>
                </a:solidFill>
              </a:rPr>
              <a:t>between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instructions</a:t>
            </a:r>
          </a:p>
          <a:p>
            <a:pPr lvl="1"/>
            <a:r>
              <a:rPr lang="en-US" dirty="0"/>
              <a:t>Cause information often identifies the interrupting device</a:t>
            </a:r>
          </a:p>
          <a:p>
            <a:r>
              <a:rPr lang="en-US" b="1" dirty="0">
                <a:solidFill>
                  <a:schemeClr val="accent1"/>
                </a:solidFill>
              </a:rPr>
              <a:t>Priority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interrupts</a:t>
            </a:r>
          </a:p>
          <a:p>
            <a:pPr lvl="1"/>
            <a:r>
              <a:rPr lang="en-US" dirty="0"/>
              <a:t>Devices needing more urgent attention get higher priority</a:t>
            </a:r>
          </a:p>
          <a:p>
            <a:pPr lvl="1"/>
            <a:r>
              <a:rPr lang="en-US" dirty="0"/>
              <a:t>Can </a:t>
            </a:r>
            <a:r>
              <a:rPr lang="en-US" b="1" dirty="0">
                <a:solidFill>
                  <a:schemeClr val="accent1"/>
                </a:solidFill>
              </a:rPr>
              <a:t>interrupt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handler for a </a:t>
            </a:r>
            <a:r>
              <a:rPr lang="en-US" b="1" dirty="0">
                <a:solidFill>
                  <a:schemeClr val="accent1"/>
                </a:solidFill>
              </a:rPr>
              <a:t>lower priority</a:t>
            </a:r>
            <a:r>
              <a:rPr lang="en-US" dirty="0"/>
              <a:t> interrupt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48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Data Transfer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Polling and interrupt-driven I/O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CPU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transfers data between memory and I/O data registers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Time consuming </a:t>
            </a:r>
            <a:r>
              <a:rPr lang="en-US" dirty="0"/>
              <a:t>for high-speed devices</a:t>
            </a:r>
          </a:p>
          <a:p>
            <a:r>
              <a:rPr lang="en-US" b="1" dirty="0">
                <a:solidFill>
                  <a:schemeClr val="accent1"/>
                </a:solidFill>
              </a:rPr>
              <a:t>Direct memory access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DMA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OS provides starting address in memory</a:t>
            </a:r>
          </a:p>
          <a:p>
            <a:pPr lvl="1"/>
            <a:r>
              <a:rPr lang="en-US" dirty="0"/>
              <a:t>I/O controller transfers to/from memory </a:t>
            </a:r>
            <a:r>
              <a:rPr lang="en-US" b="1" dirty="0">
                <a:solidFill>
                  <a:schemeClr val="accent1"/>
                </a:solidFill>
              </a:rPr>
              <a:t>autonomously</a:t>
            </a:r>
          </a:p>
          <a:p>
            <a:pPr lvl="1"/>
            <a:r>
              <a:rPr lang="en-US" dirty="0"/>
              <a:t>Controller </a:t>
            </a:r>
            <a:r>
              <a:rPr lang="en-US" b="1" dirty="0">
                <a:solidFill>
                  <a:schemeClr val="accent1"/>
                </a:solidFill>
              </a:rPr>
              <a:t>interrupts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chemeClr val="accent1"/>
                </a:solidFill>
              </a:rPr>
              <a:t>completion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or error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343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DMA/Cache Interaction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3671888"/>
          </a:xfrm>
        </p:spPr>
        <p:txBody>
          <a:bodyPr>
            <a:normAutofit/>
          </a:bodyPr>
          <a:lstStyle/>
          <a:p>
            <a:r>
              <a:rPr lang="en-US" dirty="0"/>
              <a:t>If DMA writes to a memory block that is cached</a:t>
            </a:r>
          </a:p>
          <a:p>
            <a:pPr lvl="1"/>
            <a:r>
              <a:rPr lang="en-US" dirty="0"/>
              <a:t>Cached copy becomes </a:t>
            </a:r>
            <a:r>
              <a:rPr lang="en-US" b="1" dirty="0">
                <a:solidFill>
                  <a:schemeClr val="accent1"/>
                </a:solidFill>
              </a:rPr>
              <a:t>stale</a:t>
            </a:r>
          </a:p>
          <a:p>
            <a:r>
              <a:rPr lang="en-US" dirty="0"/>
              <a:t>If write-back </a:t>
            </a:r>
            <a:r>
              <a:rPr lang="en-US" b="1" dirty="0">
                <a:solidFill>
                  <a:schemeClr val="accent1"/>
                </a:solidFill>
              </a:rPr>
              <a:t>cache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has </a:t>
            </a:r>
            <a:r>
              <a:rPr lang="en-US" b="1" dirty="0">
                <a:solidFill>
                  <a:schemeClr val="accent1"/>
                </a:solidFill>
              </a:rPr>
              <a:t>dirty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block, and DMA reads </a:t>
            </a:r>
            <a:r>
              <a:rPr lang="en-US" b="1" dirty="0">
                <a:solidFill>
                  <a:schemeClr val="accent1"/>
                </a:solidFill>
              </a:rPr>
              <a:t>memory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block</a:t>
            </a:r>
          </a:p>
          <a:p>
            <a:pPr lvl="1"/>
            <a:r>
              <a:rPr lang="en-US" dirty="0"/>
              <a:t>Reads stale data</a:t>
            </a:r>
          </a:p>
          <a:p>
            <a:r>
              <a:rPr lang="en-US" dirty="0"/>
              <a:t>Need to ensure cache coherence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Flush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blocks from cache if they will be used for DMA</a:t>
            </a:r>
          </a:p>
          <a:p>
            <a:pPr lvl="1"/>
            <a:r>
              <a:rPr lang="en-US" dirty="0"/>
              <a:t>Or use </a:t>
            </a:r>
            <a:r>
              <a:rPr lang="en-US" b="1" dirty="0">
                <a:solidFill>
                  <a:schemeClr val="accent1"/>
                </a:solidFill>
              </a:rPr>
              <a:t>non-cacheable</a:t>
            </a:r>
            <a:r>
              <a:rPr lang="en-US" dirty="0"/>
              <a:t> memory locations for I/O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866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DMA/VM Interaction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sz="2000" dirty="0"/>
              <a:t>OS uses </a:t>
            </a:r>
            <a:r>
              <a:rPr lang="en-US" sz="2000" b="1" dirty="0">
                <a:solidFill>
                  <a:schemeClr val="accent1"/>
                </a:solidFill>
              </a:rPr>
              <a:t>virtual addresses</a:t>
            </a:r>
            <a:r>
              <a:rPr lang="en-US" sz="2000" dirty="0"/>
              <a:t> for memory</a:t>
            </a:r>
          </a:p>
          <a:p>
            <a:pPr lvl="1"/>
            <a:r>
              <a:rPr lang="en-US" sz="1600" dirty="0"/>
              <a:t>DMA blocks may not be contiguous in physical memory</a:t>
            </a:r>
          </a:p>
          <a:p>
            <a:r>
              <a:rPr lang="en-US" sz="2000" dirty="0"/>
              <a:t>Should DMA use virtual addresses?</a:t>
            </a:r>
          </a:p>
          <a:p>
            <a:pPr lvl="1"/>
            <a:r>
              <a:rPr lang="en-US" sz="1600" dirty="0"/>
              <a:t>Would require </a:t>
            </a:r>
            <a:r>
              <a:rPr lang="en-US" sz="1600" b="1" dirty="0">
                <a:solidFill>
                  <a:schemeClr val="accent1"/>
                </a:solidFill>
              </a:rPr>
              <a:t>controller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to do translation</a:t>
            </a:r>
          </a:p>
          <a:p>
            <a:r>
              <a:rPr lang="en-US" sz="2000" dirty="0"/>
              <a:t>If DMA uses </a:t>
            </a:r>
            <a:r>
              <a:rPr lang="en-US" sz="2000" b="1" dirty="0">
                <a:solidFill>
                  <a:schemeClr val="accent1"/>
                </a:solidFill>
              </a:rPr>
              <a:t>physical addresses</a:t>
            </a:r>
          </a:p>
          <a:p>
            <a:pPr lvl="1"/>
            <a:r>
              <a:rPr lang="en-US" sz="1600" dirty="0"/>
              <a:t>May need to break transfers into page-sized chunks</a:t>
            </a:r>
          </a:p>
          <a:p>
            <a:pPr lvl="1"/>
            <a:r>
              <a:rPr lang="en-US" sz="1600" dirty="0"/>
              <a:t>Or chain multiple transfers</a:t>
            </a:r>
          </a:p>
          <a:p>
            <a:pPr lvl="1"/>
            <a:r>
              <a:rPr lang="en-US" sz="1600" dirty="0"/>
              <a:t>Or allocate contiguous physical pages for DMA</a:t>
            </a:r>
          </a:p>
          <a:p>
            <a:r>
              <a:rPr lang="en-US" sz="2000" dirty="0"/>
              <a:t>Whichever is used, the OS must cooperate by not remapping pages while a DMA transfer involving that page is in progress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021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DMA Stale Data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03" y="836203"/>
            <a:ext cx="8587410" cy="3671888"/>
          </a:xfrm>
        </p:spPr>
        <p:txBody>
          <a:bodyPr>
            <a:noAutofit/>
          </a:bodyPr>
          <a:lstStyle/>
          <a:p>
            <a:r>
              <a:rPr lang="en-US" sz="2000" dirty="0"/>
              <a:t>In systems with caches, there can be two copies of a data item, one in the </a:t>
            </a:r>
            <a:r>
              <a:rPr lang="en-US" sz="2000" b="1" dirty="0">
                <a:solidFill>
                  <a:schemeClr val="accent1"/>
                </a:solidFill>
              </a:rPr>
              <a:t>cache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and one in the </a:t>
            </a:r>
            <a:r>
              <a:rPr lang="en-US" sz="2000" b="1" dirty="0">
                <a:solidFill>
                  <a:schemeClr val="accent1"/>
                </a:solidFill>
              </a:rPr>
              <a:t>main memory</a:t>
            </a:r>
          </a:p>
          <a:p>
            <a:pPr lvl="1"/>
            <a:r>
              <a:rPr lang="en-US" sz="1600" dirty="0"/>
              <a:t>For a </a:t>
            </a:r>
            <a:r>
              <a:rPr lang="en-US" sz="1600" b="1" dirty="0">
                <a:solidFill>
                  <a:schemeClr val="accent1"/>
                </a:solidFill>
              </a:rPr>
              <a:t>DMA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b="1" dirty="0">
                <a:solidFill>
                  <a:schemeClr val="accent1"/>
                </a:solidFill>
              </a:rPr>
              <a:t>input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(from disk to memory) – the processor will be using </a:t>
            </a:r>
            <a:r>
              <a:rPr lang="en-US" sz="1600" b="1" dirty="0">
                <a:solidFill>
                  <a:schemeClr val="accent1"/>
                </a:solidFill>
              </a:rPr>
              <a:t>stale data</a:t>
            </a:r>
            <a:r>
              <a:rPr lang="en-US" sz="1600" dirty="0"/>
              <a:t> if that location is also in the cache</a:t>
            </a:r>
          </a:p>
          <a:p>
            <a:pPr lvl="1"/>
            <a:r>
              <a:rPr lang="en-US" sz="1600" dirty="0"/>
              <a:t>For a </a:t>
            </a:r>
            <a:r>
              <a:rPr lang="en-US" sz="1600" b="1" dirty="0">
                <a:solidFill>
                  <a:schemeClr val="accent1"/>
                </a:solidFill>
              </a:rPr>
              <a:t>DMA output </a:t>
            </a:r>
            <a:r>
              <a:rPr lang="en-US" sz="1600" dirty="0"/>
              <a:t>(from memory to disk) and a write-back cache –the I/O device will receive </a:t>
            </a:r>
            <a:r>
              <a:rPr lang="en-US" sz="1600" b="1" dirty="0">
                <a:solidFill>
                  <a:schemeClr val="accent1"/>
                </a:solidFill>
              </a:rPr>
              <a:t>stale data </a:t>
            </a:r>
            <a:r>
              <a:rPr lang="en-US" sz="1600" dirty="0"/>
              <a:t>if the data is in the cache and has not yet been written back to the memory</a:t>
            </a:r>
          </a:p>
          <a:p>
            <a:r>
              <a:rPr lang="en-US" sz="2000" dirty="0"/>
              <a:t>The </a:t>
            </a:r>
            <a:r>
              <a:rPr lang="en-US" sz="2000" b="1" dirty="0">
                <a:solidFill>
                  <a:schemeClr val="accent1"/>
                </a:solidFill>
              </a:rPr>
              <a:t>coherency problem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can be solved by</a:t>
            </a:r>
          </a:p>
          <a:p>
            <a:pPr lvl="1"/>
            <a:r>
              <a:rPr lang="en-US" sz="1600" dirty="0"/>
              <a:t>Routing all I/O activity through the </a:t>
            </a:r>
            <a:r>
              <a:rPr lang="en-US" sz="1600" b="1" dirty="0">
                <a:solidFill>
                  <a:schemeClr val="accent1"/>
                </a:solidFill>
              </a:rPr>
              <a:t>cache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– </a:t>
            </a:r>
            <a:r>
              <a:rPr lang="en-US" sz="1600" b="1" dirty="0">
                <a:solidFill>
                  <a:schemeClr val="accent1"/>
                </a:solidFill>
              </a:rPr>
              <a:t>expensive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and a large </a:t>
            </a:r>
            <a:r>
              <a:rPr lang="en-US" sz="1600" b="1" dirty="0">
                <a:solidFill>
                  <a:schemeClr val="accent1"/>
                </a:solidFill>
              </a:rPr>
              <a:t>negative performance</a:t>
            </a:r>
            <a:r>
              <a:rPr lang="en-US" sz="1600" dirty="0"/>
              <a:t> impact</a:t>
            </a:r>
          </a:p>
          <a:p>
            <a:pPr lvl="1"/>
            <a:r>
              <a:rPr lang="en-US" sz="1600" dirty="0"/>
              <a:t>Having the OS </a:t>
            </a:r>
            <a:r>
              <a:rPr lang="en-US" sz="1600" b="1" dirty="0">
                <a:solidFill>
                  <a:schemeClr val="accent1"/>
                </a:solidFill>
              </a:rPr>
              <a:t>invalidate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all the entries in the </a:t>
            </a:r>
            <a:r>
              <a:rPr lang="en-US" sz="1600" b="1" dirty="0">
                <a:solidFill>
                  <a:schemeClr val="accent1"/>
                </a:solidFill>
              </a:rPr>
              <a:t>cache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for an I/O input or </a:t>
            </a:r>
            <a:r>
              <a:rPr lang="en-US" sz="1600" b="1" dirty="0">
                <a:solidFill>
                  <a:schemeClr val="accent1"/>
                </a:solidFill>
              </a:rPr>
              <a:t>force write-backs</a:t>
            </a:r>
            <a:r>
              <a:rPr lang="en-US" sz="1600" dirty="0"/>
              <a:t> for an I/O output (called a </a:t>
            </a:r>
            <a:r>
              <a:rPr lang="en-US" sz="1600" b="1" dirty="0">
                <a:solidFill>
                  <a:schemeClr val="accent1"/>
                </a:solidFill>
              </a:rPr>
              <a:t>cache flush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Providing hardware to </a:t>
            </a:r>
            <a:r>
              <a:rPr lang="en-US" sz="1600" b="1" dirty="0">
                <a:solidFill>
                  <a:schemeClr val="accent1"/>
                </a:solidFill>
              </a:rPr>
              <a:t>selectively</a:t>
            </a:r>
            <a:r>
              <a:rPr lang="en-US" sz="1600" dirty="0"/>
              <a:t> invalidate cache entries – i.e., need a </a:t>
            </a:r>
            <a:r>
              <a:rPr lang="en-US" sz="1600" b="1" dirty="0">
                <a:solidFill>
                  <a:schemeClr val="accent1"/>
                </a:solidFill>
              </a:rPr>
              <a:t>snooping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cache controller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59025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2514</TotalTime>
  <Words>1046</Words>
  <Application>Microsoft Office PowerPoint</Application>
  <PresentationFormat>全屏显示(16:9)</PresentationFormat>
  <Paragraphs>205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MS Sans Serif</vt:lpstr>
      <vt:lpstr>Arial</vt:lpstr>
      <vt:lpstr>Calibri</vt:lpstr>
      <vt:lpstr>Courier New</vt:lpstr>
      <vt:lpstr>Wingdings</vt:lpstr>
      <vt:lpstr>NTHU UniCloud</vt:lpstr>
      <vt:lpstr>CSC3050 – Computer Architecture</vt:lpstr>
      <vt:lpstr>Introduction</vt:lpstr>
      <vt:lpstr>I/O System Characteristic </vt:lpstr>
      <vt:lpstr>Dependability Measures </vt:lpstr>
      <vt:lpstr>Interconnecting Components </vt:lpstr>
      <vt:lpstr>Bus Types </vt:lpstr>
      <vt:lpstr>Bus Signals and Synchronization </vt:lpstr>
      <vt:lpstr>I/O Bus Examples </vt:lpstr>
      <vt:lpstr>Typical x86 PC I/O System </vt:lpstr>
      <vt:lpstr>I/O Management </vt:lpstr>
      <vt:lpstr>I/O Commands </vt:lpstr>
      <vt:lpstr>I/O Register Mapping </vt:lpstr>
      <vt:lpstr>Polling </vt:lpstr>
      <vt:lpstr>Interrupts </vt:lpstr>
      <vt:lpstr>I/O Data Transfer </vt:lpstr>
      <vt:lpstr>DMA/Cache Interaction </vt:lpstr>
      <vt:lpstr>DMA/VM Interaction </vt:lpstr>
      <vt:lpstr>The DMA Stale Data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261</cp:revision>
  <dcterms:created xsi:type="dcterms:W3CDTF">2015-06-05T07:23:35Z</dcterms:created>
  <dcterms:modified xsi:type="dcterms:W3CDTF">2019-02-27T10:26:31Z</dcterms:modified>
</cp:coreProperties>
</file>