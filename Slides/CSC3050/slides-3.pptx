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9"/>
  </p:notesMasterIdLst>
  <p:handoutMasterIdLst>
    <p:handoutMasterId r:id="rId70"/>
  </p:handoutMasterIdLst>
  <p:sldIdLst>
    <p:sldId id="256" r:id="rId2"/>
    <p:sldId id="378" r:id="rId3"/>
    <p:sldId id="379" r:id="rId4"/>
    <p:sldId id="380" r:id="rId5"/>
    <p:sldId id="381" r:id="rId6"/>
    <p:sldId id="382" r:id="rId7"/>
    <p:sldId id="383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1" r:id="rId25"/>
    <p:sldId id="384" r:id="rId26"/>
    <p:sldId id="402" r:id="rId27"/>
    <p:sldId id="403" r:id="rId28"/>
    <p:sldId id="404" r:id="rId29"/>
    <p:sldId id="408" r:id="rId30"/>
    <p:sldId id="406" r:id="rId31"/>
    <p:sldId id="409" r:id="rId32"/>
    <p:sldId id="405" r:id="rId33"/>
    <p:sldId id="410" r:id="rId34"/>
    <p:sldId id="411" r:id="rId35"/>
    <p:sldId id="412" r:id="rId36"/>
    <p:sldId id="413" r:id="rId37"/>
    <p:sldId id="414" r:id="rId38"/>
    <p:sldId id="415" r:id="rId39"/>
    <p:sldId id="416" r:id="rId40"/>
    <p:sldId id="417" r:id="rId41"/>
    <p:sldId id="418" r:id="rId42"/>
    <p:sldId id="419" r:id="rId43"/>
    <p:sldId id="42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434" r:id="rId58"/>
    <p:sldId id="435" r:id="rId59"/>
    <p:sldId id="436" r:id="rId60"/>
    <p:sldId id="437" r:id="rId61"/>
    <p:sldId id="438" r:id="rId62"/>
    <p:sldId id="439" r:id="rId63"/>
    <p:sldId id="440" r:id="rId64"/>
    <p:sldId id="441" r:id="rId65"/>
    <p:sldId id="442" r:id="rId66"/>
    <p:sldId id="443" r:id="rId67"/>
    <p:sldId id="444" r:id="rId6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8403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2019/2/25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2019/2/25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6C40E4-B9C8-417B-AB00-3BF7F8038A2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713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F937D-D422-49DA-AF88-D9ED641D4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Principles of Machine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095" y="818986"/>
            <a:ext cx="5473817" cy="3671888"/>
          </a:xfrm>
        </p:spPr>
        <p:txBody>
          <a:bodyPr/>
          <a:lstStyle/>
          <a:p>
            <a:r>
              <a:rPr lang="en-US" dirty="0"/>
              <a:t>Instructions are represented as (binary) numbers and, as such, are indistinguishable from data.</a:t>
            </a:r>
          </a:p>
          <a:p>
            <a:r>
              <a:rPr lang="en-US" dirty="0"/>
              <a:t>Programs are stored in alterable memory (that can be read from or written to) just like data.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292966" y="1086322"/>
            <a:ext cx="1771650" cy="3182276"/>
            <a:chOff x="6273800" y="1649765"/>
            <a:chExt cx="2362200" cy="4243035"/>
          </a:xfrm>
        </p:grpSpPr>
        <p:sp>
          <p:nvSpPr>
            <p:cNvPr id="6" name="Rectangle 5"/>
            <p:cNvSpPr/>
            <p:nvPr/>
          </p:nvSpPr>
          <p:spPr>
            <a:xfrm>
              <a:off x="6273800" y="2146299"/>
              <a:ext cx="2362200" cy="37465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839133" y="1649765"/>
              <a:ext cx="123153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/>
                <a:t>Memory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26199" y="2325598"/>
              <a:ext cx="2057400" cy="977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Accounting Program</a:t>
              </a:r>
              <a:br>
                <a:rPr lang="en-US" sz="1350" dirty="0">
                  <a:solidFill>
                    <a:schemeClr val="tx1"/>
                  </a:solidFill>
                </a:rPr>
              </a:br>
              <a:r>
                <a:rPr lang="en-US" sz="1350" dirty="0">
                  <a:solidFill>
                    <a:schemeClr val="tx1"/>
                  </a:solidFill>
                </a:rPr>
                <a:t>(machine code)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26199" y="3399922"/>
              <a:ext cx="2057400" cy="66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C Compiler</a:t>
              </a:r>
              <a:br>
                <a:rPr lang="en-US" sz="1350" dirty="0">
                  <a:solidFill>
                    <a:schemeClr val="tx1"/>
                  </a:solidFill>
                </a:rPr>
              </a:br>
              <a:r>
                <a:rPr lang="en-US" sz="1350" dirty="0">
                  <a:solidFill>
                    <a:schemeClr val="tx1"/>
                  </a:solidFill>
                </a:rPr>
                <a:t>(machine code)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26199" y="4201561"/>
              <a:ext cx="2057400" cy="664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Accounting Data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26199" y="5003200"/>
              <a:ext cx="2057400" cy="71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chemeClr val="tx1"/>
                  </a:solidFill>
                </a:rPr>
                <a:t>Source Code</a:t>
              </a:r>
              <a:br>
                <a:rPr lang="en-US" sz="1350" dirty="0">
                  <a:solidFill>
                    <a:schemeClr val="tx1"/>
                  </a:solidFill>
                </a:rPr>
              </a:br>
              <a:r>
                <a:rPr lang="en-US" sz="1350" dirty="0">
                  <a:solidFill>
                    <a:schemeClr val="tx1"/>
                  </a:solidFill>
                </a:rPr>
                <a:t>(text file)</a:t>
              </a:r>
            </a:p>
          </p:txBody>
        </p:sp>
      </p:grp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78BDFA64-9A8C-4947-BC17-DD4FB5AC1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145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Stored-Program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Programs can be shipped as files of binary numbers – </a:t>
            </a:r>
            <a:r>
              <a:rPr lang="en-US" b="1" dirty="0">
                <a:solidFill>
                  <a:schemeClr val="accent1"/>
                </a:solidFill>
              </a:rPr>
              <a:t>binary-code compatibility</a:t>
            </a:r>
            <a:r>
              <a:rPr lang="en-US" dirty="0"/>
              <a:t>.</a:t>
            </a:r>
          </a:p>
          <a:p>
            <a:r>
              <a:rPr lang="en-US" dirty="0"/>
              <a:t>Computers can inherit ready-made software provided they are compatible with an existing ISA – leads industry to align around a small number of ISAs.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1C4E5-AF56-41CB-A6A5-8FDAF95DC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2566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Language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064" y="844153"/>
            <a:ext cx="7722066" cy="3671888"/>
          </a:xfrm>
        </p:spPr>
        <p:txBody>
          <a:bodyPr>
            <a:noAutofit/>
          </a:bodyPr>
          <a:lstStyle/>
          <a:p>
            <a:r>
              <a:rPr lang="en-US" dirty="0"/>
              <a:t>The language of the machine</a:t>
            </a:r>
          </a:p>
          <a:p>
            <a:pPr lvl="1"/>
            <a:r>
              <a:rPr lang="en-US" dirty="0"/>
              <a:t>Want an ISA that makes it easy to build the </a:t>
            </a:r>
            <a:r>
              <a:rPr lang="en-US" b="1" dirty="0">
                <a:solidFill>
                  <a:schemeClr val="accent1"/>
                </a:solidFill>
              </a:rPr>
              <a:t>hardware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chemeClr val="accent1"/>
                </a:solidFill>
              </a:rPr>
              <a:t>compiler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while maximizing </a:t>
            </a:r>
            <a:r>
              <a:rPr lang="en-US" b="1" dirty="0">
                <a:solidFill>
                  <a:schemeClr val="accent1"/>
                </a:solidFill>
              </a:rPr>
              <a:t>performance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minimizing </a:t>
            </a:r>
            <a:r>
              <a:rPr lang="en-US" b="1" dirty="0">
                <a:solidFill>
                  <a:schemeClr val="accent1"/>
                </a:solidFill>
              </a:rPr>
              <a:t>cost</a:t>
            </a:r>
            <a:r>
              <a:rPr lang="en-US" dirty="0"/>
              <a:t>.</a:t>
            </a:r>
          </a:p>
          <a:p>
            <a:r>
              <a:rPr lang="en-US" dirty="0"/>
              <a:t>Our target: the </a:t>
            </a:r>
            <a:r>
              <a:rPr lang="en-US" b="1" dirty="0">
                <a:solidFill>
                  <a:schemeClr val="accent1"/>
                </a:solidFill>
              </a:rPr>
              <a:t>MIPS ISA</a:t>
            </a:r>
          </a:p>
          <a:p>
            <a:pPr lvl="1"/>
            <a:r>
              <a:rPr lang="en-US" dirty="0"/>
              <a:t>Similar to other ISAs developed since the 1980’s</a:t>
            </a:r>
          </a:p>
          <a:p>
            <a:pPr lvl="1"/>
            <a:r>
              <a:rPr lang="en-US" dirty="0"/>
              <a:t>Used by Broadcom, Cisco, NEC, Nintendo, Sony, etc.</a:t>
            </a:r>
          </a:p>
          <a:p>
            <a:r>
              <a:rPr lang="en-US" dirty="0"/>
              <a:t>Design Goals:</a:t>
            </a:r>
          </a:p>
          <a:p>
            <a:pPr lvl="1"/>
            <a:r>
              <a:rPr lang="en-US" dirty="0"/>
              <a:t>Maximize </a:t>
            </a:r>
            <a:r>
              <a:rPr lang="en-US" b="1" dirty="0">
                <a:solidFill>
                  <a:schemeClr val="accent1"/>
                </a:solidFill>
              </a:rPr>
              <a:t>performance</a:t>
            </a:r>
            <a:r>
              <a:rPr lang="en-US" dirty="0"/>
              <a:t>, minimize </a:t>
            </a:r>
            <a:r>
              <a:rPr lang="en-US" b="1" dirty="0">
                <a:solidFill>
                  <a:schemeClr val="accent1"/>
                </a:solidFill>
              </a:rPr>
              <a:t>cost</a:t>
            </a:r>
            <a:r>
              <a:rPr lang="en-US" dirty="0"/>
              <a:t>, reduce design time (</a:t>
            </a:r>
            <a:r>
              <a:rPr lang="en-US" b="1" dirty="0">
                <a:solidFill>
                  <a:schemeClr val="accent1"/>
                </a:solidFill>
              </a:rPr>
              <a:t>time-to-market</a:t>
            </a:r>
            <a:r>
              <a:rPr lang="en-US" dirty="0"/>
              <a:t>), minimize </a:t>
            </a:r>
            <a:r>
              <a:rPr lang="en-US" b="1" dirty="0">
                <a:solidFill>
                  <a:schemeClr val="accent1"/>
                </a:solidFill>
              </a:rPr>
              <a:t>memory space</a:t>
            </a:r>
            <a:r>
              <a:rPr lang="en-US" dirty="0"/>
              <a:t> (embedded systems), minimize </a:t>
            </a:r>
            <a:r>
              <a:rPr lang="en-US" b="1" dirty="0">
                <a:solidFill>
                  <a:schemeClr val="accent1"/>
                </a:solidFill>
              </a:rPr>
              <a:t>power consumption</a:t>
            </a:r>
            <a:r>
              <a:rPr lang="en-US" dirty="0"/>
              <a:t> (mobile systems).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22A63-D93A-470D-B763-8418E62E1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8400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 vs. RISC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5" y="844153"/>
            <a:ext cx="7172588" cy="367188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Complex Instruction Set Computer</a:t>
            </a:r>
            <a:r>
              <a:rPr lang="en-US" dirty="0"/>
              <a:t> (</a:t>
            </a:r>
            <a:r>
              <a:rPr lang="en-US" b="1" dirty="0">
                <a:solidFill>
                  <a:schemeClr val="accent1"/>
                </a:solidFill>
              </a:rPr>
              <a:t>CISC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Lots of instructions of variable size, very memory optimal, typically less registers.</a:t>
            </a:r>
          </a:p>
          <a:p>
            <a:pPr lvl="1"/>
            <a:r>
              <a:rPr lang="en-US" dirty="0"/>
              <a:t>Intel x86</a:t>
            </a:r>
          </a:p>
          <a:p>
            <a:r>
              <a:rPr lang="en-US" b="1" dirty="0">
                <a:solidFill>
                  <a:schemeClr val="accent1"/>
                </a:solidFill>
              </a:rPr>
              <a:t>Reduced Instruction Set Computer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RISC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Instructions, all of a fixed size, more registers, optimized for speed.</a:t>
            </a:r>
          </a:p>
          <a:p>
            <a:pPr lvl="1"/>
            <a:r>
              <a:rPr lang="en-US" dirty="0"/>
              <a:t>Usually called a “Load/Store” architecture.</a:t>
            </a:r>
          </a:p>
          <a:p>
            <a:pPr lvl="1"/>
            <a:r>
              <a:rPr lang="en-US" dirty="0"/>
              <a:t>MIPS, Sun SPARC, HP PA-RISC, IBM PowerPC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5492EB-0EA0-419F-92C9-29DA69B7A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2093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RISC – Reduced Instruction Set Computer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373923" cy="3671888"/>
          </a:xfrm>
        </p:spPr>
        <p:txBody>
          <a:bodyPr/>
          <a:lstStyle/>
          <a:p>
            <a:r>
              <a:rPr lang="en-US" dirty="0"/>
              <a:t>RISC Philosophy</a:t>
            </a:r>
          </a:p>
          <a:p>
            <a:pPr lvl="1"/>
            <a:r>
              <a:rPr lang="en-US" dirty="0"/>
              <a:t>fixed instruction lengths</a:t>
            </a:r>
          </a:p>
          <a:p>
            <a:pPr lvl="1"/>
            <a:r>
              <a:rPr lang="en-US" dirty="0"/>
              <a:t>load-store instruction sets</a:t>
            </a:r>
          </a:p>
          <a:p>
            <a:pPr lvl="1"/>
            <a:r>
              <a:rPr lang="en-US" dirty="0"/>
              <a:t>limited number of addressing modes</a:t>
            </a:r>
          </a:p>
          <a:p>
            <a:pPr lvl="1"/>
            <a:r>
              <a:rPr lang="en-US" dirty="0"/>
              <a:t>limited number of operations</a:t>
            </a:r>
          </a:p>
          <a:p>
            <a:r>
              <a:rPr lang="en-US" dirty="0"/>
              <a:t>Instruction sets are measured by how well compilers use them as opposed to how well assembly language programmers use them.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BEC5DB-365E-493D-9A6D-D687969A3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819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(RISC)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9" y="844153"/>
            <a:ext cx="6191076" cy="367188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Simplicity favors regularity</a:t>
            </a:r>
          </a:p>
          <a:p>
            <a:pPr lvl="1"/>
            <a:r>
              <a:rPr lang="en-US" sz="1400" dirty="0"/>
              <a:t>fixed size instructions</a:t>
            </a:r>
          </a:p>
          <a:p>
            <a:pPr lvl="1"/>
            <a:r>
              <a:rPr lang="en-US" sz="1400" dirty="0"/>
              <a:t>small number of instruction formats</a:t>
            </a:r>
          </a:p>
          <a:p>
            <a:pPr lvl="1"/>
            <a:r>
              <a:rPr lang="en-US" sz="1400" dirty="0"/>
              <a:t>opcode always the first 6 bits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Smaller is faster</a:t>
            </a:r>
          </a:p>
          <a:p>
            <a:pPr lvl="1"/>
            <a:r>
              <a:rPr lang="en-US" sz="1400" dirty="0"/>
              <a:t>limited instruction set</a:t>
            </a:r>
          </a:p>
          <a:p>
            <a:pPr lvl="1"/>
            <a:r>
              <a:rPr lang="en-US" sz="1400" dirty="0"/>
              <a:t>limited number of registers</a:t>
            </a:r>
          </a:p>
          <a:p>
            <a:pPr lvl="1"/>
            <a:r>
              <a:rPr lang="en-US" sz="1400" dirty="0"/>
              <a:t>limited number of addressing modes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Make the common case fast</a:t>
            </a:r>
          </a:p>
          <a:p>
            <a:pPr lvl="1"/>
            <a:r>
              <a:rPr lang="en-US" sz="1400" dirty="0"/>
              <a:t>arithmetic operands from the registers (load-store machine)</a:t>
            </a:r>
          </a:p>
          <a:p>
            <a:pPr lvl="1"/>
            <a:r>
              <a:rPr lang="en-US" sz="1400" dirty="0"/>
              <a:t>allow instructions to contain immediate operands</a:t>
            </a:r>
          </a:p>
          <a:p>
            <a:r>
              <a:rPr lang="en-US" sz="1800" b="1" dirty="0">
                <a:solidFill>
                  <a:schemeClr val="accent1"/>
                </a:solidFill>
              </a:rPr>
              <a:t>Good design demands good compromises</a:t>
            </a:r>
          </a:p>
          <a:p>
            <a:pPr lvl="1"/>
            <a:r>
              <a:rPr lang="en-US" sz="1400" dirty="0"/>
              <a:t>three instruction formats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288D34-BCD7-4AD1-B182-68D7E6A25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69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012" y="844153"/>
            <a:ext cx="7629787" cy="3671888"/>
          </a:xfrm>
        </p:spPr>
        <p:txBody>
          <a:bodyPr>
            <a:normAutofit/>
          </a:bodyPr>
          <a:lstStyle/>
          <a:p>
            <a:r>
              <a:rPr lang="en-US" sz="2000" dirty="0"/>
              <a:t>Instruction Categories</a:t>
            </a:r>
          </a:p>
          <a:p>
            <a:pPr lvl="1"/>
            <a:r>
              <a:rPr lang="en-US" sz="1600" dirty="0"/>
              <a:t>Load/Store</a:t>
            </a:r>
          </a:p>
          <a:p>
            <a:pPr lvl="1"/>
            <a:r>
              <a:rPr lang="en-US" sz="1600" dirty="0"/>
              <a:t>Computational</a:t>
            </a:r>
          </a:p>
          <a:p>
            <a:pPr lvl="1"/>
            <a:r>
              <a:rPr lang="en-US" sz="1600" dirty="0"/>
              <a:t>Jump and Branch</a:t>
            </a:r>
          </a:p>
          <a:p>
            <a:pPr lvl="1"/>
            <a:r>
              <a:rPr lang="en-US" sz="1600" dirty="0"/>
              <a:t>Floating Point</a:t>
            </a:r>
          </a:p>
          <a:p>
            <a:pPr lvl="1"/>
            <a:r>
              <a:rPr lang="en-US" sz="1600" dirty="0"/>
              <a:t>Memory Management</a:t>
            </a:r>
          </a:p>
          <a:p>
            <a:pPr lvl="1"/>
            <a:r>
              <a:rPr lang="en-US" sz="1600" dirty="0"/>
              <a:t>Special</a:t>
            </a:r>
          </a:p>
          <a:p>
            <a:endParaRPr lang="en-US" sz="1800" dirty="0"/>
          </a:p>
          <a:p>
            <a:r>
              <a:rPr lang="en-US" sz="2000" dirty="0"/>
              <a:t>3 instruction formats: all </a:t>
            </a:r>
            <a:r>
              <a:rPr lang="en-US" sz="2000" b="1" dirty="0">
                <a:solidFill>
                  <a:schemeClr val="accent1"/>
                </a:solidFill>
              </a:rPr>
              <a:t>32-bit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wide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332905" y="1018610"/>
            <a:ext cx="1350022" cy="2029582"/>
            <a:chOff x="5943008" y="1900082"/>
            <a:chExt cx="1800029" cy="2706109"/>
          </a:xfrm>
        </p:grpSpPr>
        <p:sp>
          <p:nvSpPr>
            <p:cNvPr id="6" name="Rectangle 5"/>
            <p:cNvSpPr/>
            <p:nvPr/>
          </p:nvSpPr>
          <p:spPr>
            <a:xfrm>
              <a:off x="5943008" y="2174051"/>
              <a:ext cx="1800027" cy="14261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R0–R31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010" y="3686399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009" y="4020295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009" y="4354191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43010" y="1900082"/>
              <a:ext cx="1800027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</a:rPr>
                <a:t>Registers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116233" y="3733111"/>
            <a:ext cx="4888453" cy="765562"/>
            <a:chOff x="787793" y="4977480"/>
            <a:chExt cx="6517937" cy="1020749"/>
          </a:xfrm>
        </p:grpSpPr>
        <p:grpSp>
          <p:nvGrpSpPr>
            <p:cNvPr id="28" name="Group 27"/>
            <p:cNvGrpSpPr/>
            <p:nvPr/>
          </p:nvGrpSpPr>
          <p:grpSpPr>
            <a:xfrm>
              <a:off x="1911871" y="5038352"/>
              <a:ext cx="5393859" cy="898488"/>
              <a:chOff x="1911871" y="5053592"/>
              <a:chExt cx="5393859" cy="89848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911871" y="5053592"/>
                <a:ext cx="5393859" cy="252000"/>
                <a:chOff x="1911871" y="5106088"/>
                <a:chExt cx="5393859" cy="252000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1911871" y="5106088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3028950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rs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3885118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4740271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rd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5595424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shamt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6450577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>
                      <a:solidFill>
                        <a:schemeClr val="tx1"/>
                      </a:solidFill>
                    </a:rPr>
                    <a:t>funct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>
              <a:xfrm>
                <a:off x="1911871" y="5376836"/>
                <a:ext cx="5393859" cy="252000"/>
                <a:chOff x="1911871" y="5536856"/>
                <a:chExt cx="5393859" cy="252000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911871" y="5536856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3027935" y="5536856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rs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3884103" y="5536856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4740271" y="5536856"/>
                  <a:ext cx="2565459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immediate</a:t>
                  </a: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1911871" y="5700080"/>
                <a:ext cx="5393859" cy="252000"/>
                <a:chOff x="1911871" y="5967625"/>
                <a:chExt cx="5393859" cy="252000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1911871" y="5967625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3029965" y="5967625"/>
                  <a:ext cx="4275765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jump target</a:t>
                  </a:r>
                </a:p>
              </p:txBody>
            </p:sp>
          </p:grpSp>
        </p:grpSp>
        <p:sp>
          <p:nvSpPr>
            <p:cNvPr id="12" name="TextBox 11"/>
            <p:cNvSpPr txBox="1"/>
            <p:nvPr/>
          </p:nvSpPr>
          <p:spPr>
            <a:xfrm>
              <a:off x="787793" y="4977480"/>
              <a:ext cx="113107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R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9090" y="5297036"/>
              <a:ext cx="10284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I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7029" y="5598120"/>
              <a:ext cx="10926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J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</p:grp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4B984E2B-1254-49EF-90F9-119A09EF1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61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cs typeface="Calibri" panose="020F0502020204030204" pitchFamily="34" charset="0"/>
              </a:rPr>
              <a:t>MIPS Registers (1)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65402" y="844153"/>
            <a:ext cx="7621398" cy="12782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Holds thirty-two 32-bit registers</a:t>
            </a:r>
          </a:p>
          <a:p>
            <a:r>
              <a:rPr lang="en-US" dirty="0"/>
              <a:t>Two read ports</a:t>
            </a:r>
          </a:p>
          <a:p>
            <a:r>
              <a:rPr lang="en-US" dirty="0"/>
              <a:t>One write ports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384" y="1767464"/>
            <a:ext cx="3909269" cy="276580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47DB15-658A-4F49-BD02-BA0318374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426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Registers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365535" cy="3671888"/>
          </a:xfrm>
        </p:spPr>
        <p:txBody>
          <a:bodyPr/>
          <a:lstStyle/>
          <a:p>
            <a:r>
              <a:rPr lang="en-US" dirty="0"/>
              <a:t>Registers are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Faster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than main memory</a:t>
            </a:r>
          </a:p>
          <a:p>
            <a:pPr lvl="2"/>
            <a:r>
              <a:rPr lang="en-US" dirty="0"/>
              <a:t>But registers with more locations are slower</a:t>
            </a:r>
          </a:p>
          <a:p>
            <a:pPr lvl="2"/>
            <a:r>
              <a:rPr lang="en-US" dirty="0"/>
              <a:t>Read/write port increase impacts speed </a:t>
            </a:r>
            <a:r>
              <a:rPr lang="en-US" dirty="0" err="1"/>
              <a:t>quadratically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Easier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a complier to use</a:t>
            </a:r>
          </a:p>
          <a:p>
            <a:pPr lvl="2"/>
            <a:r>
              <a:rPr lang="en-US" dirty="0"/>
              <a:t>E.g., (A*B) – (C*D) – (E*F) can do multiplications in any order vs. stack</a:t>
            </a:r>
          </a:p>
          <a:p>
            <a:pPr lvl="1"/>
            <a:r>
              <a:rPr lang="en-US" dirty="0"/>
              <a:t>Can hold </a:t>
            </a:r>
            <a:r>
              <a:rPr lang="en-US" b="1" dirty="0">
                <a:solidFill>
                  <a:schemeClr val="accent1"/>
                </a:solidFill>
              </a:rPr>
              <a:t>variables</a:t>
            </a:r>
          </a:p>
          <a:p>
            <a:pPr lvl="2"/>
            <a:r>
              <a:rPr lang="en-US" dirty="0"/>
              <a:t>so that code density improves (since register are named with fewer bits than a memory location).</a:t>
            </a:r>
          </a:p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DDD9B2-9D81-411F-A815-C24EDECE6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6841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Register Convention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98505"/>
              </p:ext>
            </p:extLst>
          </p:nvPr>
        </p:nvGraphicFramePr>
        <p:xfrm>
          <a:off x="1563053" y="888631"/>
          <a:ext cx="6141720" cy="36156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Name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Register Number</a:t>
                      </a:r>
                    </a:p>
                  </a:txBody>
                  <a:tcPr marL="34290" marR="3429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Usage</a:t>
                      </a:r>
                    </a:p>
                  </a:txBody>
                  <a:tcPr marL="34290" marR="3429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Preserved on call?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$zero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34290" marR="3429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Constant</a:t>
                      </a:r>
                      <a:r>
                        <a:rPr lang="en-US" sz="1000" baseline="0" dirty="0"/>
                        <a:t> value 0</a:t>
                      </a:r>
                      <a:endParaRPr lang="en-US" sz="1000" dirty="0"/>
                    </a:p>
                  </a:txBody>
                  <a:tcPr marL="34290" marR="3429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N/A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$at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</a:t>
                      </a: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Reserved for assembler</a:t>
                      </a:r>
                      <a:r>
                        <a:rPr lang="en-US" sz="1000" dirty="0"/>
                        <a:t>)</a:t>
                      </a:r>
                      <a:r>
                        <a:rPr lang="en-US" sz="1000" baseline="0" dirty="0"/>
                        <a:t> </a:t>
                      </a:r>
                      <a:endParaRPr lang="en-US" sz="1000" dirty="0"/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$v0–$v1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2–3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Returned</a:t>
                      </a:r>
                      <a:r>
                        <a:rPr lang="en-US" sz="1000" baseline="0" dirty="0"/>
                        <a:t> values</a:t>
                      </a:r>
                      <a:endParaRPr lang="en-US" sz="1000" dirty="0"/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$a0–$a3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4–7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Arguments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$t0–$t7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8–15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Temporaries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$s0–$s7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16–23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Saved values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$t8–$t9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24–25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Temporaries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$k0–$k1</a:t>
                      </a:r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26–27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</a:t>
                      </a: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Reserved</a:t>
                      </a:r>
                      <a:r>
                        <a:rPr lang="en-US" sz="1000" b="1" baseline="0" dirty="0">
                          <a:solidFill>
                            <a:schemeClr val="accent1"/>
                          </a:solidFill>
                        </a:rPr>
                        <a:t> for OS</a:t>
                      </a:r>
                      <a:r>
                        <a:rPr lang="en-US" sz="1000" baseline="0" dirty="0"/>
                        <a:t>)</a:t>
                      </a:r>
                      <a:endParaRPr lang="en-US" sz="1000" dirty="0"/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</a:t>
                      </a:r>
                      <a:r>
                        <a:rPr lang="en-US" sz="1000" dirty="0" err="1"/>
                        <a:t>gp</a:t>
                      </a:r>
                      <a:endParaRPr lang="en-US" sz="1000" dirty="0"/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28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Global</a:t>
                      </a:r>
                      <a:r>
                        <a:rPr lang="en-US" sz="1000" baseline="0" dirty="0"/>
                        <a:t> pointer</a:t>
                      </a:r>
                      <a:endParaRPr lang="en-US" sz="1000" dirty="0"/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</a:t>
                      </a:r>
                      <a:r>
                        <a:rPr lang="en-US" sz="1000" dirty="0" err="1"/>
                        <a:t>sp</a:t>
                      </a:r>
                      <a:endParaRPr lang="en-US" sz="1000" dirty="0"/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29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Stack pointer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</a:t>
                      </a:r>
                      <a:r>
                        <a:rPr lang="en-US" sz="1000" dirty="0" err="1"/>
                        <a:t>fp</a:t>
                      </a:r>
                      <a:endParaRPr lang="en-US" sz="1000" dirty="0"/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30</a:t>
                      </a:r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Frame</a:t>
                      </a:r>
                      <a:r>
                        <a:rPr lang="en-US" sz="1000" baseline="0" dirty="0"/>
                        <a:t> pointer</a:t>
                      </a:r>
                      <a:endParaRPr lang="en-US" sz="1000" dirty="0"/>
                    </a:p>
                  </a:txBody>
                  <a:tcPr marL="34290" marR="3429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000" dirty="0"/>
                        <a:t>$</a:t>
                      </a:r>
                      <a:r>
                        <a:rPr lang="en-US" sz="1000" dirty="0" err="1"/>
                        <a:t>ra</a:t>
                      </a:r>
                      <a:endParaRPr lang="en-US" sz="1000" dirty="0"/>
                    </a:p>
                  </a:txBody>
                  <a:tcPr marL="34290" marR="3429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31</a:t>
                      </a:r>
                    </a:p>
                  </a:txBody>
                  <a:tcPr marL="34290" marR="3429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Return address</a:t>
                      </a:r>
                    </a:p>
                  </a:txBody>
                  <a:tcPr marL="34290" marR="3429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34290" marR="3429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10CD41-5437-48F4-AF16-6D72EB99B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709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705288" cy="3671888"/>
          </a:xfrm>
        </p:spPr>
        <p:txBody>
          <a:bodyPr/>
          <a:lstStyle/>
          <a:p>
            <a:r>
              <a:rPr lang="en-US" dirty="0"/>
              <a:t>Add and subtract, three operands</a:t>
            </a:r>
          </a:p>
          <a:p>
            <a:pPr lvl="1"/>
            <a:r>
              <a:rPr lang="en-US" dirty="0"/>
              <a:t>Two sources and one destination</a:t>
            </a:r>
          </a:p>
          <a:p>
            <a:pPr marL="542925" lvl="1" indent="0">
              <a:buNone/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add a, b, c	# a gets b + c</a:t>
            </a:r>
          </a:p>
          <a:p>
            <a:pPr lvl="1"/>
            <a:r>
              <a:rPr lang="en-US" dirty="0"/>
              <a:t>All arithmetic operations have this form</a:t>
            </a:r>
          </a:p>
          <a:p>
            <a:r>
              <a:rPr lang="en-US" dirty="0"/>
              <a:t>Design Principle 1: </a:t>
            </a:r>
            <a:r>
              <a:rPr lang="en-US" b="1" dirty="0">
                <a:solidFill>
                  <a:schemeClr val="accent1"/>
                </a:solidFill>
              </a:rPr>
              <a:t>Simplicity favors regularity</a:t>
            </a:r>
          </a:p>
          <a:p>
            <a:pPr lvl="1"/>
            <a:r>
              <a:rPr lang="en-US" dirty="0"/>
              <a:t>Regularity makes implementation simpler</a:t>
            </a:r>
          </a:p>
          <a:p>
            <a:pPr lvl="1"/>
            <a:r>
              <a:rPr lang="en-US" dirty="0"/>
              <a:t>Simplicity enables higher performance at lower cost</a:t>
            </a:r>
          </a:p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01B359-51F2-4204-92C2-B97B8B671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923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568" y="844153"/>
            <a:ext cx="7596231" cy="3671888"/>
          </a:xfrm>
        </p:spPr>
        <p:txBody>
          <a:bodyPr>
            <a:normAutofit/>
          </a:bodyPr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b="1" dirty="0"/>
              <a:t>C code:</a:t>
            </a:r>
          </a:p>
          <a:p>
            <a:pPr marL="0" indent="0">
              <a:buNone/>
              <a:tabLst>
                <a:tab pos="466725" algn="l"/>
                <a:tab pos="2762250" algn="l"/>
              </a:tabLst>
            </a:pPr>
            <a:r>
              <a:rPr 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f = (g + h) - (i + j); 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b="1" dirty="0"/>
              <a:t>Compiled MIPS code: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t0, g, h	# temp t0 = g + h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t1,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	# temp t1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j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sub f, t0, t1	# f = t0 - t1</a:t>
            </a:r>
          </a:p>
          <a:p>
            <a:pPr>
              <a:tabLst>
                <a:tab pos="466725" algn="l"/>
                <a:tab pos="2762250" algn="l"/>
              </a:tabLst>
            </a:pPr>
            <a:r>
              <a:rPr lang="en-US" b="1" dirty="0">
                <a:solidFill>
                  <a:srgbClr val="000000"/>
                </a:solidFill>
              </a:rPr>
              <a:t>Using registers (f–j are stored in $s0–$s4):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$t0, $s1, $s2	# $t0 = g + h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$t1, $s3, $s4	# $t1 = 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j</a:t>
            </a:r>
            <a:b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sub $s0, $t0, $t1	# f = $t0 - $t1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BF3730-4319-42C3-9B64-B3874F4ADC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43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8" y="844153"/>
            <a:ext cx="7680121" cy="3671888"/>
          </a:xfrm>
        </p:spPr>
        <p:txBody>
          <a:bodyPr/>
          <a:lstStyle/>
          <a:p>
            <a:r>
              <a:rPr lang="en-US" sz="2000" dirty="0"/>
              <a:t>Arithmetic instructions use register operands</a:t>
            </a:r>
          </a:p>
          <a:p>
            <a:r>
              <a:rPr lang="en-US" sz="2000" dirty="0"/>
              <a:t>MIPS has 32 × 32-bit registers</a:t>
            </a:r>
          </a:p>
          <a:p>
            <a:pPr lvl="1"/>
            <a:r>
              <a:rPr lang="en-US" sz="1800" dirty="0"/>
              <a:t>Use for frequently accessed data</a:t>
            </a:r>
          </a:p>
          <a:p>
            <a:pPr lvl="1"/>
            <a:r>
              <a:rPr lang="en-US" sz="1800" dirty="0"/>
              <a:t>Numbered 0 to 31</a:t>
            </a:r>
          </a:p>
          <a:p>
            <a:pPr lvl="1"/>
            <a:r>
              <a:rPr lang="en-US" sz="1800" dirty="0"/>
              <a:t>32-bit data called a “word”</a:t>
            </a:r>
          </a:p>
          <a:p>
            <a:r>
              <a:rPr lang="en-US" sz="2000" dirty="0"/>
              <a:t>Assembler names (convention)</a:t>
            </a:r>
          </a:p>
          <a:p>
            <a:pPr lvl="1"/>
            <a:r>
              <a:rPr lang="en-US" sz="1800" dirty="0"/>
              <a:t>$t0, $t1, …, $t9 for temporary values</a:t>
            </a:r>
          </a:p>
          <a:p>
            <a:pPr lvl="1"/>
            <a:r>
              <a:rPr lang="en-US" sz="1800" dirty="0"/>
              <a:t>$s0, $s1, …, $s7 for saved variables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CEEB3-BB30-447E-BB65-7DDBFF9B28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16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846" y="877709"/>
            <a:ext cx="7654954" cy="370268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sz="2600" dirty="0"/>
              <a:t>Design Principle 2: </a:t>
            </a:r>
            <a:r>
              <a:rPr lang="en-US" altLang="zh-CN" sz="2600" b="1" dirty="0">
                <a:solidFill>
                  <a:schemeClr val="accent1"/>
                </a:solidFill>
              </a:rPr>
              <a:t>Smaller is faster</a:t>
            </a:r>
          </a:p>
          <a:p>
            <a:pPr lvl="1"/>
            <a:r>
              <a:rPr lang="en-US" altLang="zh-CN" sz="2100" dirty="0"/>
              <a:t>(main memory: millions of locations)</a:t>
            </a:r>
          </a:p>
          <a:p>
            <a:r>
              <a:rPr lang="en-US" sz="2600" dirty="0"/>
              <a:t>Main memory used for composite data</a:t>
            </a:r>
          </a:p>
          <a:p>
            <a:pPr lvl="1"/>
            <a:r>
              <a:rPr lang="en-US" dirty="0"/>
              <a:t>Arrays, structures, dynamic data</a:t>
            </a:r>
          </a:p>
          <a:p>
            <a:r>
              <a:rPr lang="en-US" sz="2600" dirty="0"/>
              <a:t>To apply arithmetic operations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Load values from memory into registers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Store result from register to memory</a:t>
            </a:r>
          </a:p>
          <a:p>
            <a:r>
              <a:rPr lang="en-US" sz="2600" dirty="0"/>
              <a:t>Memory is byte addressed</a:t>
            </a:r>
          </a:p>
          <a:p>
            <a:pPr lvl="1"/>
            <a:r>
              <a:rPr lang="en-US" dirty="0"/>
              <a:t>Each address identifies an 8-bit byte</a:t>
            </a:r>
          </a:p>
          <a:p>
            <a:r>
              <a:rPr lang="en-US" sz="2600" dirty="0"/>
              <a:t>Words are aligned in memory</a:t>
            </a:r>
          </a:p>
          <a:p>
            <a:pPr lvl="1"/>
            <a:r>
              <a:rPr lang="en-US" dirty="0"/>
              <a:t>Address must be a multiple of 4</a:t>
            </a:r>
          </a:p>
          <a:p>
            <a:r>
              <a:rPr lang="en-US" sz="2600" dirty="0"/>
              <a:t>MIPS is </a:t>
            </a:r>
            <a:r>
              <a:rPr lang="en-US" sz="2600" b="1" dirty="0">
                <a:solidFill>
                  <a:schemeClr val="accent1"/>
                </a:solidFill>
              </a:rPr>
              <a:t>Big Endian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937E17-FAD3-49D3-B8E8-98DE80D75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2001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Endian / Little Endian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229" y="844153"/>
            <a:ext cx="8250572" cy="1831935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</a:rPr>
              <a:t>Big Endian</a:t>
            </a:r>
            <a:r>
              <a:rPr lang="en-US" sz="2000" dirty="0"/>
              <a:t>: The leftmost byte stores at the starting address of a word</a:t>
            </a:r>
          </a:p>
          <a:p>
            <a:pPr lvl="1"/>
            <a:r>
              <a:rPr lang="en-US" sz="1800" dirty="0"/>
              <a:t>IBM 360/370, Motorola 68k, MIPS, Sparc, HP PA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Little Endian</a:t>
            </a:r>
            <a:r>
              <a:rPr lang="en-US" sz="2000" dirty="0"/>
              <a:t>: The rightmost byte stores at the starting address of a word</a:t>
            </a:r>
          </a:p>
          <a:p>
            <a:pPr lvl="1"/>
            <a:r>
              <a:rPr lang="en-US" sz="1800" dirty="0"/>
              <a:t>Intel 80x86, DEC Vax, DEC Alpha</a:t>
            </a:r>
          </a:p>
          <a:p>
            <a:r>
              <a:rPr lang="en-US" sz="2000" dirty="0"/>
              <a:t>Example: </a:t>
            </a:r>
            <a:r>
              <a:rPr lang="en-US" altLang="zh-CN" sz="2000" dirty="0"/>
              <a:t>0x1234abcd</a:t>
            </a:r>
            <a:endParaRPr lang="en-US" sz="2000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9C2203BB-261E-4648-8D66-DAEF17DB6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7169A2D-5018-4EC3-B141-B27782BA9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208640"/>
              </p:ext>
            </p:extLst>
          </p:nvPr>
        </p:nvGraphicFramePr>
        <p:xfrm>
          <a:off x="2933225" y="2792903"/>
          <a:ext cx="3912192" cy="1670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04064">
                  <a:extLst>
                    <a:ext uri="{9D8B030D-6E8A-4147-A177-3AD203B41FA5}">
                      <a16:colId xmlns:a16="http://schemas.microsoft.com/office/drawing/2014/main" val="2569996928"/>
                    </a:ext>
                  </a:extLst>
                </a:gridCol>
                <a:gridCol w="1304064">
                  <a:extLst>
                    <a:ext uri="{9D8B030D-6E8A-4147-A177-3AD203B41FA5}">
                      <a16:colId xmlns:a16="http://schemas.microsoft.com/office/drawing/2014/main" val="2485120871"/>
                    </a:ext>
                  </a:extLst>
                </a:gridCol>
                <a:gridCol w="1304064">
                  <a:extLst>
                    <a:ext uri="{9D8B030D-6E8A-4147-A177-3AD203B41FA5}">
                      <a16:colId xmlns:a16="http://schemas.microsoft.com/office/drawing/2014/main" val="3514863645"/>
                    </a:ext>
                  </a:extLst>
                </a:gridCol>
              </a:tblGrid>
              <a:tr h="33400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Memory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Big-Endian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Little-Endian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480830"/>
                  </a:ext>
                </a:extLst>
              </a:tr>
              <a:tr h="33400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309763"/>
                  </a:ext>
                </a:extLst>
              </a:tr>
              <a:tr h="3340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470890"/>
                  </a:ext>
                </a:extLst>
              </a:tr>
              <a:tr h="33400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241882"/>
                  </a:ext>
                </a:extLst>
              </a:tr>
              <a:tr h="33400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0xcd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8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99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 Example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688510" cy="3671888"/>
          </a:xfrm>
        </p:spPr>
        <p:txBody>
          <a:bodyPr/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C code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g = h + A[8];</a:t>
            </a:r>
          </a:p>
          <a:p>
            <a:pPr lvl="1"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g in $s1, h in $s2, base address of A in $s3</a:t>
            </a:r>
          </a:p>
          <a:p>
            <a:pPr lvl="1">
              <a:tabLst>
                <a:tab pos="466725" algn="l"/>
                <a:tab pos="2762250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Compiled MIPS code</a:t>
            </a:r>
          </a:p>
          <a:p>
            <a:pPr lvl="1">
              <a:buFont typeface="Symbol" panose="05050102010706020507" pitchFamily="18" charset="2"/>
              <a:buChar char=""/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Index 8 requires offset of 32 (4 bytes </a:t>
            </a:r>
            <a:r>
              <a:rPr lang="en-US" dirty="0"/>
              <a:t>× 8 words)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09650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lw	$t0, 32($s3)	# load word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$s1, $s2, $t0</a:t>
            </a:r>
          </a:p>
          <a:p>
            <a:pPr lvl="1"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9938" y="3949642"/>
            <a:ext cx="643189" cy="300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Offset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5248" y="3916086"/>
            <a:ext cx="1204176" cy="300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Base register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513813" y="3301942"/>
            <a:ext cx="238125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3191923" y="3296961"/>
            <a:ext cx="47625" cy="5810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5231FA-E916-4EEC-8CDA-C21988813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624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Operand 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705288" cy="3671888"/>
          </a:xfrm>
        </p:spPr>
        <p:txBody>
          <a:bodyPr/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C code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A[12] = h + A[8];</a:t>
            </a:r>
          </a:p>
          <a:p>
            <a:pPr lvl="1">
              <a:buClr>
                <a:srgbClr val="000000"/>
              </a:buCl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h in $s2, base address of A in $s3</a:t>
            </a:r>
          </a:p>
          <a:p>
            <a:pPr lvl="1"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Compiled MIPS code</a:t>
            </a:r>
          </a:p>
          <a:p>
            <a:pPr lvl="1"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Index 8 requires offset of 32 (4 bytes × 8 words)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09650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lw	$t0, 32($s3)	# load word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$t0, $s2, $t0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sw	$t0, 48($s3)	# store word</a:t>
            </a:r>
          </a:p>
          <a:p>
            <a:pPr lvl="1"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9C6B2-B4E6-4E3F-AFCA-CB4EBCE7F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641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vs.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846" y="844153"/>
            <a:ext cx="7654954" cy="3671888"/>
          </a:xfrm>
        </p:spPr>
        <p:txBody>
          <a:bodyPr/>
          <a:lstStyle/>
          <a:p>
            <a:r>
              <a:rPr lang="en-US" dirty="0"/>
              <a:t>Registers are faster to access than memory</a:t>
            </a:r>
          </a:p>
          <a:p>
            <a:r>
              <a:rPr lang="en-US" dirty="0"/>
              <a:t>Operating on memory data requires loads and stores</a:t>
            </a:r>
          </a:p>
          <a:p>
            <a:pPr lvl="1"/>
            <a:r>
              <a:rPr lang="en-US" dirty="0"/>
              <a:t>More instructions to be executed</a:t>
            </a:r>
          </a:p>
          <a:p>
            <a:r>
              <a:rPr lang="en-US" dirty="0"/>
              <a:t>Compiler must use registers for variables as much as possible</a:t>
            </a:r>
          </a:p>
          <a:p>
            <a:pPr lvl="1"/>
            <a:r>
              <a:rPr lang="en-US" dirty="0"/>
              <a:t>Only spill to memory for less frequently used variables</a:t>
            </a:r>
          </a:p>
          <a:p>
            <a:pPr lvl="1"/>
            <a:r>
              <a:rPr lang="en-US" dirty="0"/>
              <a:t>Register optimization is important!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61DA1D-F94D-49E8-97DE-F3D2112DF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273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Operands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688510" cy="2150717"/>
          </a:xfrm>
        </p:spPr>
        <p:txBody>
          <a:bodyPr/>
          <a:lstStyle/>
          <a:p>
            <a:r>
              <a:rPr lang="en-US" dirty="0"/>
              <a:t>Constant data specified in an instruction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763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addi	$s3, $s3, 4</a:t>
            </a:r>
          </a:p>
          <a:p>
            <a:pPr lvl="0"/>
            <a:r>
              <a:rPr lang="en-US" dirty="0">
                <a:solidFill>
                  <a:srgbClr val="000000"/>
                </a:solidFill>
              </a:rPr>
              <a:t>No subtract immediate instruction</a:t>
            </a:r>
          </a:p>
          <a:p>
            <a:pPr lvl="1"/>
            <a:r>
              <a:rPr lang="en-US" dirty="0"/>
              <a:t>Just use a negative constant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763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addi	$s2, $s1, -1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09650" algn="l"/>
                <a:tab pos="2762250" algn="l"/>
              </a:tabLst>
            </a:pP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7C734F-B511-4F33-901A-1D1554A92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058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Constant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663343" cy="3182563"/>
          </a:xfrm>
        </p:spPr>
        <p:txBody>
          <a:bodyPr/>
          <a:lstStyle/>
          <a:p>
            <a:r>
              <a:rPr lang="en-US" altLang="zh-CN" dirty="0"/>
              <a:t>Design Principle 3: </a:t>
            </a:r>
            <a:r>
              <a:rPr lang="en-US" altLang="zh-CN" b="1" dirty="0">
                <a:solidFill>
                  <a:schemeClr val="accent1"/>
                </a:solidFill>
              </a:rPr>
              <a:t>Make the common case fast</a:t>
            </a:r>
          </a:p>
          <a:p>
            <a:pPr lvl="1"/>
            <a:r>
              <a:rPr lang="en-US" altLang="zh-CN" dirty="0"/>
              <a:t>Small constants are common</a:t>
            </a:r>
          </a:p>
          <a:p>
            <a:pPr lvl="1"/>
            <a:r>
              <a:rPr lang="en-US" altLang="zh-CN" dirty="0"/>
              <a:t>Immediate operand avoids a load instruction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en-US" dirty="0"/>
              <a:t>MIPS register 0 ($zero) is the constant 0</a:t>
            </a:r>
          </a:p>
          <a:p>
            <a:pPr lvl="1"/>
            <a:r>
              <a:rPr lang="en-US" dirty="0"/>
              <a:t>Cannot be overwritten</a:t>
            </a:r>
          </a:p>
          <a:p>
            <a:r>
              <a:rPr lang="en-US" dirty="0"/>
              <a:t>Useful for common operations</a:t>
            </a:r>
          </a:p>
          <a:p>
            <a:pPr lvl="1"/>
            <a:r>
              <a:rPr lang="en-US" dirty="0"/>
              <a:t>E.g., move between registers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763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$t2, $s1, $zero</a:t>
            </a:r>
          </a:p>
          <a:p>
            <a:pPr lvl="1"/>
            <a:endParaRPr lang="en-US" b="1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BEA819-E576-4318-86CD-42B3A2DE9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109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663343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Unsigned Binary Integers</a:t>
            </a:r>
          </a:p>
          <a:p>
            <a:pPr lvl="1"/>
            <a:r>
              <a:rPr lang="en-US" dirty="0"/>
              <a:t>Range: 0 to 2</a:t>
            </a:r>
            <a:r>
              <a:rPr lang="en-US" i="1" baseline="30000" dirty="0"/>
              <a:t>n</a:t>
            </a:r>
            <a:r>
              <a:rPr lang="en-US" dirty="0"/>
              <a:t> – 1</a:t>
            </a:r>
          </a:p>
          <a:p>
            <a:pPr lvl="1"/>
            <a:r>
              <a:rPr lang="en-US" dirty="0"/>
              <a:t>32 bit: 0 to 4,294,967,295</a:t>
            </a:r>
          </a:p>
          <a:p>
            <a:r>
              <a:rPr lang="en-US" dirty="0"/>
              <a:t>2’s-Complement Signed Integers</a:t>
            </a:r>
          </a:p>
          <a:p>
            <a:pPr lvl="1"/>
            <a:r>
              <a:rPr lang="en-US" dirty="0"/>
              <a:t>Range: –2</a:t>
            </a:r>
            <a:r>
              <a:rPr lang="en-US" baseline="30000" dirty="0"/>
              <a:t>(</a:t>
            </a:r>
            <a:r>
              <a:rPr lang="en-US" i="1" baseline="30000" dirty="0"/>
              <a:t>n</a:t>
            </a:r>
            <a:r>
              <a:rPr lang="en-US" baseline="30000" dirty="0"/>
              <a:t> – 1)</a:t>
            </a:r>
            <a:r>
              <a:rPr lang="en-US" dirty="0"/>
              <a:t> to +2</a:t>
            </a:r>
            <a:r>
              <a:rPr lang="en-US" baseline="30000" dirty="0"/>
              <a:t>(</a:t>
            </a:r>
            <a:r>
              <a:rPr lang="en-US" i="1" baseline="30000" dirty="0"/>
              <a:t>n</a:t>
            </a:r>
            <a:r>
              <a:rPr lang="en-US" baseline="30000" dirty="0"/>
              <a:t> – 1)</a:t>
            </a:r>
            <a:r>
              <a:rPr lang="en-US" dirty="0"/>
              <a:t> – 1</a:t>
            </a:r>
          </a:p>
          <a:p>
            <a:pPr lvl="1"/>
            <a:r>
              <a:rPr lang="en-US" dirty="0"/>
              <a:t>32 bits: –2,147,483,648 to +2,147,483,647</a:t>
            </a:r>
          </a:p>
          <a:p>
            <a:pPr lvl="1"/>
            <a:r>
              <a:rPr lang="en-US" dirty="0"/>
              <a:t>Bit 31 is sign bit: 1 is negative, 0 is positive</a:t>
            </a:r>
          </a:p>
          <a:p>
            <a:pPr lvl="1"/>
            <a:r>
              <a:rPr lang="en-US" dirty="0"/>
              <a:t>Some specific numbers</a:t>
            </a:r>
          </a:p>
          <a:p>
            <a:pPr lvl="2">
              <a:tabLst>
                <a:tab pos="1212056" algn="l"/>
                <a:tab pos="1747838" algn="l"/>
                <a:tab pos="2216944" algn="l"/>
                <a:tab pos="2489597" algn="l"/>
              </a:tabLst>
            </a:pPr>
            <a:r>
              <a:rPr lang="en-US" dirty="0"/>
              <a:t>0:	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0000	0000	…	0000</a:t>
            </a:r>
          </a:p>
          <a:p>
            <a:pPr lvl="2">
              <a:tabLst>
                <a:tab pos="1212056" algn="l"/>
                <a:tab pos="1747838" algn="l"/>
                <a:tab pos="2216944" algn="l"/>
                <a:tab pos="2489597" algn="l"/>
              </a:tabLst>
            </a:pPr>
            <a:r>
              <a:rPr lang="en-US" dirty="0"/>
              <a:t>–1:	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1111	1111	…	1111</a:t>
            </a:r>
          </a:p>
          <a:p>
            <a:pPr lvl="2">
              <a:tabLst>
                <a:tab pos="2216944" algn="l"/>
                <a:tab pos="2762250" algn="l"/>
                <a:tab pos="3231356" algn="l"/>
                <a:tab pos="3494485" algn="l"/>
              </a:tabLst>
            </a:pPr>
            <a:r>
              <a:rPr lang="en-US" dirty="0"/>
              <a:t>Most-negative:	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1000	0000	…	0000</a:t>
            </a:r>
          </a:p>
          <a:p>
            <a:pPr lvl="2">
              <a:tabLst>
                <a:tab pos="2216944" algn="l"/>
                <a:tab pos="2762250" algn="l"/>
                <a:tab pos="3231356" algn="l"/>
                <a:tab pos="3494485" algn="l"/>
              </a:tabLst>
            </a:pPr>
            <a:r>
              <a:rPr lang="en-US" dirty="0"/>
              <a:t>Most-positive:	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0111	1111	…	1111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28B33-CDFE-4708-8B65-7B4A3562A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694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663343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Representing a number using more bits</a:t>
            </a:r>
          </a:p>
          <a:p>
            <a:pPr lvl="1"/>
            <a:r>
              <a:rPr lang="en-US" dirty="0"/>
              <a:t>Preserve the numeric value</a:t>
            </a:r>
          </a:p>
          <a:p>
            <a:r>
              <a:rPr lang="en-US" dirty="0"/>
              <a:t>In MIPS instruction set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/>
              <a:t>: extend immediate value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lh</a:t>
            </a:r>
            <a:r>
              <a:rPr lang="en-US" dirty="0"/>
              <a:t>: extend loaded byte/</a:t>
            </a:r>
            <a:r>
              <a:rPr lang="en-US" dirty="0" err="1"/>
              <a:t>halfword</a:t>
            </a:r>
            <a:endParaRPr lang="en-US" dirty="0"/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/>
              <a:t>: extend the displacement</a:t>
            </a:r>
          </a:p>
          <a:p>
            <a:r>
              <a:rPr lang="en-US" dirty="0"/>
              <a:t>Replicate the sign bit to the left</a:t>
            </a:r>
          </a:p>
          <a:p>
            <a:pPr lvl="1"/>
            <a:r>
              <a:rPr lang="en-US" dirty="0"/>
              <a:t>compare unsigned values: extend with 0s</a:t>
            </a:r>
          </a:p>
          <a:p>
            <a:r>
              <a:rPr lang="en-US" dirty="0"/>
              <a:t>Examples: 8-bit to 16-bit</a:t>
            </a:r>
          </a:p>
          <a:p>
            <a:pPr lvl="1"/>
            <a:r>
              <a:rPr lang="en-US" dirty="0"/>
              <a:t>+2: </a:t>
            </a:r>
            <a:r>
              <a:rPr lang="en-US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000 0010 =&gt; </a:t>
            </a:r>
            <a:r>
              <a:rPr lang="en-US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0000 0000 0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000 0010</a:t>
            </a:r>
          </a:p>
          <a:p>
            <a:pPr lvl="1"/>
            <a:r>
              <a:rPr lang="en-US" dirty="0"/>
              <a:t>–2: </a:t>
            </a:r>
            <a:r>
              <a:rPr lang="en-US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111 1110 =&gt; </a:t>
            </a:r>
            <a:r>
              <a:rPr lang="en-US" dirty="0">
                <a:solidFill>
                  <a:schemeClr val="accent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1111 1111 1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111 1110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0DC3B4-F0D7-4B79-A3BD-A9255BFC68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660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1846" y="844153"/>
            <a:ext cx="7654954" cy="3671888"/>
          </a:xfrm>
        </p:spPr>
        <p:txBody>
          <a:bodyPr>
            <a:normAutofit/>
          </a:bodyPr>
          <a:lstStyle/>
          <a:p>
            <a:r>
              <a:rPr lang="en-US" sz="2000" dirty="0"/>
              <a:t>Instruction Categories</a:t>
            </a:r>
          </a:p>
          <a:p>
            <a:pPr lvl="1"/>
            <a:r>
              <a:rPr lang="en-US" sz="1600" dirty="0"/>
              <a:t>Load/Store</a:t>
            </a:r>
          </a:p>
          <a:p>
            <a:pPr lvl="1"/>
            <a:r>
              <a:rPr lang="en-US" sz="1600" dirty="0"/>
              <a:t>Computational</a:t>
            </a:r>
          </a:p>
          <a:p>
            <a:pPr lvl="1"/>
            <a:r>
              <a:rPr lang="en-US" sz="1600" dirty="0"/>
              <a:t>Jump and Branch</a:t>
            </a:r>
          </a:p>
          <a:p>
            <a:pPr lvl="1"/>
            <a:r>
              <a:rPr lang="en-US" sz="1600" dirty="0"/>
              <a:t>Floating Point</a:t>
            </a:r>
          </a:p>
          <a:p>
            <a:pPr lvl="1"/>
            <a:r>
              <a:rPr lang="en-US" sz="1600" dirty="0"/>
              <a:t>Memory Management</a:t>
            </a:r>
          </a:p>
          <a:p>
            <a:pPr lvl="1"/>
            <a:r>
              <a:rPr lang="en-US" sz="1600" dirty="0"/>
              <a:t>Special</a:t>
            </a:r>
          </a:p>
          <a:p>
            <a:endParaRPr lang="en-US" sz="1800" dirty="0"/>
          </a:p>
          <a:p>
            <a:r>
              <a:rPr lang="en-US" sz="2000" dirty="0"/>
              <a:t>3 instruction formats: all </a:t>
            </a:r>
            <a:r>
              <a:rPr lang="en-US" sz="2000" b="1" dirty="0">
                <a:solidFill>
                  <a:schemeClr val="accent1"/>
                </a:solidFill>
              </a:rPr>
              <a:t>32-bit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wide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710410" y="1186389"/>
            <a:ext cx="1350022" cy="2029582"/>
            <a:chOff x="5943008" y="1900082"/>
            <a:chExt cx="1800029" cy="2706109"/>
          </a:xfrm>
        </p:grpSpPr>
        <p:sp>
          <p:nvSpPr>
            <p:cNvPr id="6" name="Rectangle 5"/>
            <p:cNvSpPr/>
            <p:nvPr/>
          </p:nvSpPr>
          <p:spPr>
            <a:xfrm>
              <a:off x="5943008" y="2174051"/>
              <a:ext cx="1800027" cy="14261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R0–R31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010" y="3686399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PC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009" y="4020295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HI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943009" y="4354191"/>
              <a:ext cx="1800027" cy="25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dirty="0">
                  <a:solidFill>
                    <a:schemeClr val="tx1"/>
                  </a:solidFill>
                </a:rPr>
                <a:t>LO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43010" y="1900082"/>
              <a:ext cx="1800027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</a:rPr>
                <a:t>Registers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116233" y="3733111"/>
            <a:ext cx="4888453" cy="765562"/>
            <a:chOff x="787793" y="4977480"/>
            <a:chExt cx="6517937" cy="1020749"/>
          </a:xfrm>
        </p:grpSpPr>
        <p:grpSp>
          <p:nvGrpSpPr>
            <p:cNvPr id="28" name="Group 27"/>
            <p:cNvGrpSpPr/>
            <p:nvPr/>
          </p:nvGrpSpPr>
          <p:grpSpPr>
            <a:xfrm>
              <a:off x="1911871" y="5038352"/>
              <a:ext cx="5393859" cy="898488"/>
              <a:chOff x="1911871" y="5053592"/>
              <a:chExt cx="5393859" cy="89848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1911871" y="5053592"/>
                <a:ext cx="5393859" cy="252000"/>
                <a:chOff x="1911871" y="5106088"/>
                <a:chExt cx="5393859" cy="252000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1911871" y="5106088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3028950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rs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3885118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4740271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rd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5595424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shamt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6450577" y="5106088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>
                      <a:solidFill>
                        <a:schemeClr val="tx1"/>
                      </a:solidFill>
                    </a:rPr>
                    <a:t>funct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>
              <a:xfrm>
                <a:off x="1911871" y="5376836"/>
                <a:ext cx="5393859" cy="252000"/>
                <a:chOff x="1911871" y="5536856"/>
                <a:chExt cx="5393859" cy="252000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1911871" y="5536856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3027935" y="5536856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rs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3884103" y="5536856"/>
                  <a:ext cx="85515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 err="1">
                      <a:solidFill>
                        <a:schemeClr val="tx1"/>
                      </a:solidFill>
                    </a:rPr>
                    <a:t>rt</a:t>
                  </a:r>
                  <a:endParaRPr lang="en-US" sz="105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4740271" y="5536856"/>
                  <a:ext cx="2565459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immediate</a:t>
                  </a:r>
                </a:p>
              </p:txBody>
            </p:sp>
          </p:grpSp>
          <p:grpSp>
            <p:nvGrpSpPr>
              <p:cNvPr id="27" name="Group 26"/>
              <p:cNvGrpSpPr/>
              <p:nvPr/>
            </p:nvGrpSpPr>
            <p:grpSpPr>
              <a:xfrm>
                <a:off x="1911871" y="5700080"/>
                <a:ext cx="5393859" cy="252000"/>
                <a:chOff x="1911871" y="5967625"/>
                <a:chExt cx="5393859" cy="252000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1911871" y="5967625"/>
                  <a:ext cx="1117603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OP</a:t>
                  </a:r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3029965" y="5967625"/>
                  <a:ext cx="4275765" cy="2520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050" dirty="0">
                      <a:solidFill>
                        <a:schemeClr val="tx1"/>
                      </a:solidFill>
                    </a:rPr>
                    <a:t>jump target</a:t>
                  </a:r>
                </a:p>
              </p:txBody>
            </p:sp>
          </p:grpSp>
        </p:grpSp>
        <p:sp>
          <p:nvSpPr>
            <p:cNvPr id="12" name="TextBox 11"/>
            <p:cNvSpPr txBox="1"/>
            <p:nvPr/>
          </p:nvSpPr>
          <p:spPr>
            <a:xfrm>
              <a:off x="787793" y="4977480"/>
              <a:ext cx="113107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R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9090" y="5297036"/>
              <a:ext cx="102848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I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7029" y="5598120"/>
              <a:ext cx="10926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J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</p:grp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95AF4F67-A9F7-4C97-9C82-DD51992C51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9349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Instruction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844153"/>
            <a:ext cx="7457813" cy="3671888"/>
          </a:xfrm>
        </p:spPr>
        <p:txBody>
          <a:bodyPr>
            <a:normAutofit/>
          </a:bodyPr>
          <a:lstStyle/>
          <a:p>
            <a:r>
              <a:rPr lang="en-US" sz="1800" dirty="0"/>
              <a:t>MIPS fields are given names to make them easier to refer to.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/>
              <a:t>op:	6-bit	opcode that specifies the operation</a:t>
            </a:r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 err="1"/>
              <a:t>rs</a:t>
            </a:r>
            <a:r>
              <a:rPr lang="en-US" sz="1800" dirty="0"/>
              <a:t>:	5-bit	the first register source operand</a:t>
            </a:r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 err="1"/>
              <a:t>rt</a:t>
            </a:r>
            <a:r>
              <a:rPr lang="en-US" sz="1800" dirty="0"/>
              <a:t>:	5-bit	the second register source operand</a:t>
            </a:r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 err="1"/>
              <a:t>rd</a:t>
            </a:r>
            <a:r>
              <a:rPr lang="en-US" sz="1800" dirty="0"/>
              <a:t>:	5-bit	the register destination operand</a:t>
            </a:r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 err="1"/>
              <a:t>shamt</a:t>
            </a:r>
            <a:r>
              <a:rPr lang="en-US" sz="1800" dirty="0"/>
              <a:t>:	5-bit	shift amount</a:t>
            </a:r>
          </a:p>
          <a:p>
            <a:pPr>
              <a:tabLst>
                <a:tab pos="1009650" algn="l"/>
                <a:tab pos="1685925" algn="l"/>
              </a:tabLst>
            </a:pPr>
            <a:r>
              <a:rPr lang="en-US" sz="1800" dirty="0" err="1"/>
              <a:t>funct</a:t>
            </a:r>
            <a:r>
              <a:rPr lang="en-US" sz="1800" dirty="0"/>
              <a:t>:	6-bit	function code that selects specific variant of the operation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889009"/>
              </p:ext>
            </p:extLst>
          </p:nvPr>
        </p:nvGraphicFramePr>
        <p:xfrm>
          <a:off x="2067886" y="1317946"/>
          <a:ext cx="4572000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rs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rt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rd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shamt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funct</a:t>
                      </a:r>
                      <a:endParaRPr lang="en-US" sz="10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146F7-2D30-4EBB-AD3D-510CA9E9C6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746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R-format Example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0" y="1216819"/>
          <a:ext cx="4572000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rd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shamt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funct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286000" y="2821709"/>
          <a:ext cx="4572000" cy="278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$s1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$s2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$t0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32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14488" y="1906053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9916" y="1886808"/>
            <a:ext cx="1061509" cy="7155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$t0 </a:t>
            </a:r>
            <a:r>
              <a:rPr lang="en-US" sz="1350" dirty="0">
                <a:sym typeface="Wingdings" panose="05000000000000000000" pitchFamily="2" charset="2"/>
              </a:rPr>
              <a:t> R8</a:t>
            </a:r>
          </a:p>
          <a:p>
            <a:r>
              <a:rPr lang="en-US" sz="1350" dirty="0">
                <a:sym typeface="Wingdings" panose="05000000000000000000" pitchFamily="2" charset="2"/>
              </a:rPr>
              <a:t>$s1  R17</a:t>
            </a:r>
          </a:p>
          <a:p>
            <a:r>
              <a:rPr lang="en-US" sz="1350" dirty="0">
                <a:sym typeface="Wingdings" panose="05000000000000000000" pitchFamily="2" charset="2"/>
              </a:rPr>
              <a:t>$s2  R18</a:t>
            </a:r>
            <a:endParaRPr lang="en-US" sz="135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/>
          </p:nvPr>
        </p:nvGraphicFramePr>
        <p:xfrm>
          <a:off x="2286000" y="3255516"/>
          <a:ext cx="4572000" cy="278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17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18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32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2286000" y="3689324"/>
          <a:ext cx="4572000" cy="278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000000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10001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10010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01000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00000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100000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532450" y="4246730"/>
            <a:ext cx="607910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0000 0010 0011 0010 0100 0000 0010 0000</a:t>
            </a:r>
            <a:r>
              <a:rPr lang="en-US" baseline="-25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2</a:t>
            </a:r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02324020</a:t>
            </a:r>
            <a:r>
              <a:rPr lang="en-US" baseline="-25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16</a:t>
            </a:r>
            <a:endParaRPr lang="en-US" baseline="-25000" dirty="0">
              <a:solidFill>
                <a:srgbClr val="00B05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2383077" y="4180562"/>
            <a:ext cx="0" cy="4133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068877" y="4180562"/>
            <a:ext cx="0" cy="4133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3811044" y="4180562"/>
            <a:ext cx="0" cy="4133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34421" y="4180562"/>
            <a:ext cx="0" cy="4133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248405" y="4180562"/>
            <a:ext cx="0" cy="4133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7BF3D82-C773-4B5E-90EF-53CE7F934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365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I-format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870" y="843353"/>
            <a:ext cx="6908726" cy="2545799"/>
          </a:xfrm>
        </p:spPr>
        <p:txBody>
          <a:bodyPr>
            <a:normAutofit/>
          </a:bodyPr>
          <a:lstStyle/>
          <a:p>
            <a:r>
              <a:rPr lang="en-US" sz="2000" dirty="0"/>
              <a:t>Immediate arithmetic and load/store instructions</a:t>
            </a:r>
          </a:p>
          <a:p>
            <a:pPr lvl="1"/>
            <a:r>
              <a:rPr lang="en-US" sz="1600" b="1" dirty="0" err="1">
                <a:solidFill>
                  <a:schemeClr val="accent1"/>
                </a:solidFill>
              </a:rPr>
              <a:t>rt</a:t>
            </a:r>
            <a:r>
              <a:rPr lang="en-US" sz="1600" dirty="0"/>
              <a:t>: destination or source register number</a:t>
            </a:r>
          </a:p>
          <a:p>
            <a:pPr lvl="1"/>
            <a:r>
              <a:rPr lang="en-US" sz="1600" dirty="0"/>
              <a:t>Constant: (–2</a:t>
            </a:r>
            <a:r>
              <a:rPr lang="en-US" sz="1600" baseline="30000" dirty="0"/>
              <a:t>15</a:t>
            </a:r>
            <a:r>
              <a:rPr lang="en-US" sz="1600" dirty="0"/>
              <a:t>) to (+2</a:t>
            </a:r>
            <a:r>
              <a:rPr lang="en-US" sz="1600" baseline="30000" dirty="0"/>
              <a:t>15</a:t>
            </a:r>
            <a:r>
              <a:rPr lang="en-US" sz="1600" dirty="0"/>
              <a:t> – 1)</a:t>
            </a:r>
          </a:p>
          <a:p>
            <a:pPr lvl="1"/>
            <a:r>
              <a:rPr lang="en-US" sz="1600" dirty="0"/>
              <a:t>Address: offset added to base address in </a:t>
            </a:r>
            <a:r>
              <a:rPr lang="en-US" sz="1600" b="1" dirty="0" err="1">
                <a:solidFill>
                  <a:schemeClr val="accent1"/>
                </a:solidFill>
              </a:rPr>
              <a:t>rs</a:t>
            </a:r>
            <a:endParaRPr lang="en-US" sz="1600" b="1" dirty="0">
              <a:solidFill>
                <a:schemeClr val="accent1"/>
              </a:solidFill>
            </a:endParaRPr>
          </a:p>
          <a:p>
            <a:r>
              <a:rPr lang="en-US" sz="2000" dirty="0"/>
              <a:t>Design Principle 4: </a:t>
            </a:r>
            <a:r>
              <a:rPr lang="en-US" sz="2000" b="1" dirty="0">
                <a:solidFill>
                  <a:schemeClr val="accent1"/>
                </a:solidFill>
              </a:rPr>
              <a:t>Good design demands good compromises</a:t>
            </a:r>
          </a:p>
          <a:p>
            <a:pPr lvl="1"/>
            <a:r>
              <a:rPr lang="en-US" sz="1600" dirty="0"/>
              <a:t>Different formats complicate decoding, but allow 32-bit instructions uniformly</a:t>
            </a:r>
          </a:p>
          <a:p>
            <a:pPr lvl="1"/>
            <a:r>
              <a:rPr lang="en-US" sz="1600" dirty="0"/>
              <a:t>Keep formats as similar as possible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17862"/>
              </p:ext>
            </p:extLst>
          </p:nvPr>
        </p:nvGraphicFramePr>
        <p:xfrm>
          <a:off x="2227277" y="3682767"/>
          <a:ext cx="5180202" cy="8096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6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48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rs</a:t>
                      </a:r>
                      <a:endParaRPr lang="en-US" sz="16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rt</a:t>
                      </a:r>
                      <a:endParaRPr lang="en-US" sz="16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constant</a:t>
                      </a:r>
                      <a:r>
                        <a:rPr lang="en-US" sz="1600" baseline="0" dirty="0"/>
                        <a:t> or address</a:t>
                      </a:r>
                      <a:endParaRPr lang="en-US" sz="16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4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0D2CB3-FCFF-40EA-8B97-648B4D43E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53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Load/Store (I-format)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0264" y="1424548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$s3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33837"/>
              </p:ext>
            </p:extLst>
          </p:nvPr>
        </p:nvGraphicFramePr>
        <p:xfrm>
          <a:off x="2151776" y="857442"/>
          <a:ext cx="4572000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constant</a:t>
                      </a:r>
                      <a:r>
                        <a:rPr lang="en-US" sz="1000" baseline="0" dirty="0"/>
                        <a:t> or address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80124"/>
              </p:ext>
            </p:extLst>
          </p:nvPr>
        </p:nvGraphicFramePr>
        <p:xfrm>
          <a:off x="2151776" y="1863525"/>
          <a:ext cx="4572000" cy="2781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35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accent1"/>
                          </a:solidFill>
                        </a:rPr>
                        <a:t>19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accent3"/>
                          </a:solidFill>
                        </a:rPr>
                        <a:t>24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480264" y="2349429"/>
            <a:ext cx="2867773" cy="12464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500" dirty="0">
                <a:sym typeface="Wingdings" panose="05000000000000000000" pitchFamily="2" charset="2"/>
              </a:rPr>
              <a:t>$s3 = 0x12004094</a:t>
            </a:r>
          </a:p>
          <a:p>
            <a:pPr>
              <a:tabLst>
                <a:tab pos="810816" algn="l"/>
              </a:tabLst>
            </a:pPr>
            <a:r>
              <a:rPr lang="en-US" sz="1500" dirty="0"/>
              <a:t>$s3 + 24	= </a:t>
            </a:r>
            <a:r>
              <a:rPr lang="en-US" sz="1500" dirty="0">
                <a:sym typeface="Wingdings" panose="05000000000000000000" pitchFamily="2" charset="2"/>
              </a:rPr>
              <a:t>0x12004094</a:t>
            </a:r>
            <a:r>
              <a:rPr lang="en-US" sz="1500" dirty="0"/>
              <a:t> + 0x18</a:t>
            </a:r>
          </a:p>
          <a:p>
            <a:pPr>
              <a:tabLst>
                <a:tab pos="810816" algn="l"/>
              </a:tabLst>
            </a:pPr>
            <a:r>
              <a:rPr lang="en-US" sz="1500" dirty="0"/>
              <a:t>	= 0x120040AC</a:t>
            </a:r>
          </a:p>
          <a:p>
            <a:pPr>
              <a:tabLst>
                <a:tab pos="810816" algn="l"/>
              </a:tabLst>
            </a:pPr>
            <a:endParaRPr lang="en-US" sz="1500" dirty="0"/>
          </a:p>
          <a:p>
            <a:pPr>
              <a:tabLst>
                <a:tab pos="810816" algn="l"/>
              </a:tabLst>
            </a:pPr>
            <a:r>
              <a:rPr lang="en-US" sz="1500" dirty="0"/>
              <a:t>$t0 = data[0x120040AC]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885929"/>
              </p:ext>
            </p:extLst>
          </p:nvPr>
        </p:nvGraphicFramePr>
        <p:xfrm>
          <a:off x="5548154" y="2190479"/>
          <a:ext cx="1847136" cy="239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Memory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0xFFFFFFFF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0x120040AC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0x12004094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0x0000000C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0x00000008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0x00000004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0x00000000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Data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Address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900290" y="3105117"/>
            <a:ext cx="40267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$s3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55194" y="3234388"/>
            <a:ext cx="2701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79145" y="1232726"/>
            <a:ext cx="1061509" cy="5078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ym typeface="Wingdings" panose="05000000000000000000" pitchFamily="2" charset="2"/>
              </a:rPr>
              <a:t>$t0  R8</a:t>
            </a:r>
          </a:p>
          <a:p>
            <a:r>
              <a:rPr lang="en-US" sz="1350" dirty="0">
                <a:sym typeface="Wingdings" panose="05000000000000000000" pitchFamily="2" charset="2"/>
              </a:rPr>
              <a:t>$s3  R19</a:t>
            </a:r>
            <a:endParaRPr lang="en-US" sz="1350" dirty="0"/>
          </a:p>
        </p:txBody>
      </p:sp>
      <p:sp>
        <p:nvSpPr>
          <p:cNvPr id="17" name="TextBox 16"/>
          <p:cNvSpPr txBox="1"/>
          <p:nvPr/>
        </p:nvSpPr>
        <p:spPr>
          <a:xfrm>
            <a:off x="5087583" y="2724742"/>
            <a:ext cx="372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$t0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5383349" y="2849924"/>
            <a:ext cx="27016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820CC5-54D7-489C-AA4A-EFD416E3B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5732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Instruction Encoding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2094070"/>
              </p:ext>
            </p:extLst>
          </p:nvPr>
        </p:nvGraphicFramePr>
        <p:xfrm>
          <a:off x="1614487" y="1216819"/>
          <a:ext cx="5916021" cy="1691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8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1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1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8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95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Instruction</a:t>
                      </a: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Format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op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rs</a:t>
                      </a:r>
                      <a:endParaRPr lang="en-US" sz="1400" b="1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rt</a:t>
                      </a:r>
                      <a:endParaRPr lang="en-US" sz="1400" b="1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rd</a:t>
                      </a:r>
                      <a:endParaRPr lang="en-US" sz="1400" b="1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shamt</a:t>
                      </a:r>
                      <a:endParaRPr lang="en-US" sz="1400" b="1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funct</a:t>
                      </a:r>
                      <a:endParaRPr lang="en-US" sz="1400" b="1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address</a:t>
                      </a:r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</a:t>
                      </a: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marL="71637" marR="71637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</a:t>
                      </a: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34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addi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constant</a:t>
                      </a:r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lw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</a:t>
                      </a:r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address</a:t>
                      </a:r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</a:t>
                      </a: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1637" marR="71637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</a:t>
                      </a:r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43</a:t>
                      </a:r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reg</a:t>
                      </a:r>
                      <a:endParaRPr lang="en-US" sz="1400" dirty="0"/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1637" marR="71637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address</a:t>
                      </a:r>
                    </a:p>
                  </a:txBody>
                  <a:tcPr marL="71637" marR="71637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555765" y="3124901"/>
            <a:ext cx="20313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reg</a:t>
            </a:r>
            <a:r>
              <a:rPr lang="en-US" sz="1350" dirty="0"/>
              <a:t>: 0–31</a:t>
            </a:r>
          </a:p>
          <a:p>
            <a:r>
              <a:rPr lang="en-US" sz="1350" dirty="0"/>
              <a:t>constant/address: 16-bit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1F94BAE-3B98-438E-AB05-50DE22266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519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>
            <a:noAutofit/>
          </a:bodyPr>
          <a:lstStyle/>
          <a:p>
            <a:r>
              <a:rPr lang="en-US" dirty="0"/>
              <a:t>Translating C Code to Machine Code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638176" cy="2142328"/>
          </a:xfrm>
        </p:spPr>
        <p:txBody>
          <a:bodyPr>
            <a:normAutofit lnSpcReduction="10000"/>
          </a:bodyPr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C code: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A[300] = h + A[300];</a:t>
            </a:r>
          </a:p>
          <a:p>
            <a:pPr lvl="1">
              <a:buClr>
                <a:srgbClr val="000000"/>
              </a:buClr>
              <a:tabLst>
                <a:tab pos="466725" algn="l"/>
                <a:tab pos="2762250" algn="l"/>
              </a:tabLst>
            </a:pPr>
            <a:r>
              <a:rPr lang="en-US" sz="1500" dirty="0">
                <a:solidFill>
                  <a:srgbClr val="000000"/>
                </a:solidFill>
              </a:rPr>
              <a:t>h in $s2, base address of A in $t1</a:t>
            </a:r>
          </a:p>
          <a:p>
            <a:pPr>
              <a:tabLst>
                <a:tab pos="466725" algn="l"/>
                <a:tab pos="276225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Compiled MIPS code: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09650" algn="l"/>
                <a:tab pos="2762250" algn="l"/>
              </a:tabLst>
            </a:pPr>
            <a: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lw	$t0, 1200($t1)	# $t0 = A[300]</a:t>
            </a:r>
            <a:b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$t0, $s2, $t0	# $t0 = h + A[300]</a:t>
            </a:r>
            <a:b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35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sw	$t0, 1200($t1)	# A[300] = $t0</a:t>
            </a:r>
          </a:p>
          <a:p>
            <a:pPr>
              <a:tabLst>
                <a:tab pos="466725" algn="l"/>
                <a:tab pos="2762250" algn="l"/>
              </a:tabLst>
            </a:pPr>
            <a:r>
              <a:rPr lang="en-US" sz="1800" dirty="0">
                <a:solidFill>
                  <a:srgbClr val="000000"/>
                </a:solidFill>
              </a:rPr>
              <a:t>Machine code:</a:t>
            </a: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22022"/>
              </p:ext>
            </p:extLst>
          </p:nvPr>
        </p:nvGraphicFramePr>
        <p:xfrm>
          <a:off x="1308683" y="3011033"/>
          <a:ext cx="6543414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0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0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op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rs</a:t>
                      </a:r>
                      <a:endParaRPr lang="en-US" sz="1600" b="1" dirty="0"/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rt</a:t>
                      </a:r>
                      <a:endParaRPr lang="en-US" sz="1600" b="1" dirty="0"/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6400" algn="ctr"/>
                          <a:tab pos="1431925" algn="ctr"/>
                          <a:tab pos="2447925" algn="ctr"/>
                        </a:tabLst>
                        <a:defRPr/>
                      </a:pPr>
                      <a:r>
                        <a:rPr lang="en-US" sz="1600" b="1" dirty="0"/>
                        <a:t>		address</a:t>
                      </a:r>
                      <a:br>
                        <a:rPr lang="en-US" sz="1600" b="1" dirty="0"/>
                      </a:br>
                      <a:r>
                        <a:rPr lang="en-US" sz="1600" b="1" dirty="0"/>
                        <a:t>	</a:t>
                      </a:r>
                      <a:r>
                        <a:rPr lang="en-US" sz="1600" b="1" dirty="0" err="1"/>
                        <a:t>rd</a:t>
                      </a:r>
                      <a:r>
                        <a:rPr lang="en-US" sz="1600" b="1" dirty="0"/>
                        <a:t>	</a:t>
                      </a:r>
                      <a:r>
                        <a:rPr lang="en-US" sz="1600" b="1" dirty="0" err="1"/>
                        <a:t>shamt</a:t>
                      </a:r>
                      <a:r>
                        <a:rPr lang="en-US" sz="1600" b="1" dirty="0"/>
                        <a:t>	</a:t>
                      </a:r>
                      <a:r>
                        <a:rPr lang="en-US" sz="1600" b="1" dirty="0" err="1"/>
                        <a:t>funct</a:t>
                      </a:r>
                      <a:endParaRPr lang="en-US" sz="1600" b="1" dirty="0"/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35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43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BD96D-6BE8-4101-B589-0FDD48D23A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434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Translating C Code to Machine Code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2561777"/>
          </a:xfrm>
        </p:spPr>
        <p:txBody>
          <a:bodyPr>
            <a:normAutofit/>
          </a:bodyPr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Machine code (decimal)</a:t>
            </a: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sz="1800" b="1" dirty="0">
              <a:solidFill>
                <a:srgbClr val="000000"/>
              </a:solidFill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Machine code (binary)</a:t>
            </a:r>
            <a:endParaRPr lang="en-US" sz="1800" b="1" dirty="0">
              <a:solidFill>
                <a:srgbClr val="0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286000" y="1556118"/>
          <a:ext cx="4572000" cy="12687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op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rs</a:t>
                      </a:r>
                      <a:endParaRPr lang="en-US" sz="1200" b="1" dirty="0"/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rt</a:t>
                      </a:r>
                      <a:endParaRPr lang="en-US" sz="1200" b="1" dirty="0"/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06400" algn="ctr"/>
                          <a:tab pos="1431925" algn="ctr"/>
                          <a:tab pos="2447925" algn="ctr"/>
                        </a:tabLst>
                        <a:defRPr/>
                      </a:pPr>
                      <a:r>
                        <a:rPr lang="en-US" sz="1200" b="1" dirty="0"/>
                        <a:t>		address</a:t>
                      </a:r>
                      <a:br>
                        <a:rPr lang="en-US" sz="1200" b="1" dirty="0"/>
                      </a:br>
                      <a:r>
                        <a:rPr lang="en-US" sz="1200" b="1" dirty="0"/>
                        <a:t>	</a:t>
                      </a:r>
                      <a:r>
                        <a:rPr lang="en-US" sz="1200" b="1" dirty="0" err="1"/>
                        <a:t>rd</a:t>
                      </a:r>
                      <a:r>
                        <a:rPr lang="en-US" sz="1200" b="1" dirty="0"/>
                        <a:t>	</a:t>
                      </a:r>
                      <a:r>
                        <a:rPr lang="en-US" sz="1200" b="1" dirty="0" err="1"/>
                        <a:t>shamt</a:t>
                      </a:r>
                      <a:r>
                        <a:rPr lang="en-US" sz="1200" b="1" dirty="0"/>
                        <a:t>	</a:t>
                      </a:r>
                      <a:r>
                        <a:rPr lang="en-US" sz="1200" b="1" dirty="0" err="1"/>
                        <a:t>funct</a:t>
                      </a:r>
                      <a:endParaRPr lang="en-US" sz="1200" b="1" dirty="0"/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35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32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8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2286000" y="3601983"/>
          <a:ext cx="4572000" cy="8343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0</a:t>
                      </a:r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01001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01000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0000 0100 1011 0000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000000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100000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1</a:t>
                      </a:r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01001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01000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0000 0100 1011 0000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E3C6E-8DD2-44BC-8ABE-546D989FB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2726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4" y="844153"/>
            <a:ext cx="7730455" cy="3671888"/>
          </a:xfrm>
        </p:spPr>
        <p:txBody>
          <a:bodyPr/>
          <a:lstStyle/>
          <a:p>
            <a:r>
              <a:rPr lang="en-US" dirty="0"/>
              <a:t>Instructions for bitwise manipulation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Useful for extracting and inserting groups of bits in a word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0" y="1649000"/>
          <a:ext cx="4572000" cy="166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Operation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C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Java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/>
                        <a:t>MIPS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Shift</a:t>
                      </a:r>
                      <a:r>
                        <a:rPr lang="en-US" sz="1000" baseline="0" dirty="0"/>
                        <a:t> Left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&lt;&lt;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&lt;&lt;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sll</a:t>
                      </a:r>
                      <a:endParaRPr lang="en-US" sz="1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Shift Right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&gt;&gt;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&gt;&gt;&gt;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srl</a:t>
                      </a:r>
                      <a:endParaRPr lang="en-US" sz="1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Bitwise AND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&amp;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&amp;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and, </a:t>
                      </a:r>
                      <a:r>
                        <a:rPr lang="en-US" sz="1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andi</a:t>
                      </a:r>
                      <a:endParaRPr lang="en-US" sz="1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Bitwise OR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|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|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or, </a:t>
                      </a:r>
                      <a:r>
                        <a:rPr lang="en-US" sz="1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ori</a:t>
                      </a:r>
                      <a:endParaRPr lang="en-US" sz="1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Bitwise</a:t>
                      </a:r>
                      <a:r>
                        <a:rPr lang="en-US" sz="1000" baseline="0" dirty="0"/>
                        <a:t> NOT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~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~</a:t>
                      </a:r>
                    </a:p>
                  </a:txBody>
                  <a:tcPr marL="68580" marR="68580" marT="34290" marB="3429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nor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4BD77D-30A1-4D0A-B870-69C6ABCFFD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493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203" y="756761"/>
            <a:ext cx="7210731" cy="2758666"/>
          </a:xfrm>
        </p:spPr>
        <p:txBody>
          <a:bodyPr/>
          <a:lstStyle/>
          <a:p>
            <a:r>
              <a:rPr lang="en-US" dirty="0" err="1"/>
              <a:t>shamt</a:t>
            </a:r>
            <a:r>
              <a:rPr lang="en-US" dirty="0"/>
              <a:t>: how many positions to shift</a:t>
            </a:r>
          </a:p>
          <a:p>
            <a:r>
              <a:rPr lang="en-US" dirty="0"/>
              <a:t>Shift Left Logical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Shift left and fill with bit 0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/>
              <a:t> by </a:t>
            </a:r>
            <a:r>
              <a:rPr lang="en-US" i="1" dirty="0" err="1"/>
              <a:t>i</a:t>
            </a:r>
            <a:r>
              <a:rPr lang="en-US" dirty="0"/>
              <a:t> bits equals multiplication by 2</a:t>
            </a:r>
            <a:r>
              <a:rPr lang="en-US" i="1" baseline="30000" dirty="0"/>
              <a:t>i</a:t>
            </a:r>
          </a:p>
          <a:p>
            <a:r>
              <a:rPr lang="en-US" dirty="0"/>
              <a:t>Shift Right Logical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srl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Shift right and fill with bit 0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srl</a:t>
            </a:r>
            <a:r>
              <a:rPr lang="en-US" dirty="0"/>
              <a:t> by </a:t>
            </a:r>
            <a:r>
              <a:rPr lang="en-US" i="1" dirty="0" err="1"/>
              <a:t>i</a:t>
            </a:r>
            <a:r>
              <a:rPr lang="en-US" dirty="0"/>
              <a:t> bits equals division by 2</a:t>
            </a:r>
            <a:r>
              <a:rPr lang="en-US" i="1" baseline="30000" dirty="0"/>
              <a:t>i</a:t>
            </a:r>
            <a:r>
              <a:rPr lang="en-US" dirty="0"/>
              <a:t> (for unsigned numbers)</a:t>
            </a:r>
          </a:p>
          <a:p>
            <a:endParaRPr lang="en-US" i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131017"/>
              </p:ext>
            </p:extLst>
          </p:nvPr>
        </p:nvGraphicFramePr>
        <p:xfrm>
          <a:off x="1975606" y="3724712"/>
          <a:ext cx="5104704" cy="8419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07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9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rs</a:t>
                      </a:r>
                      <a:endParaRPr lang="en-US" sz="14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rt</a:t>
                      </a:r>
                      <a:endParaRPr lang="en-US" sz="14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rd</a:t>
                      </a:r>
                      <a:endParaRPr lang="en-US" sz="14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shamt</a:t>
                      </a:r>
                      <a:endParaRPr lang="en-US" sz="14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funct</a:t>
                      </a:r>
                      <a:endParaRPr lang="en-US" sz="14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95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8512BC-AF33-463D-8D05-55ED7928F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57326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42768" y="2594406"/>
            <a:ext cx="422564" cy="10935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4" y="844153"/>
            <a:ext cx="7730455" cy="3671888"/>
          </a:xfrm>
        </p:spPr>
        <p:txBody>
          <a:bodyPr/>
          <a:lstStyle/>
          <a:p>
            <a:r>
              <a:rPr lang="en-US" dirty="0"/>
              <a:t>Useful to </a:t>
            </a:r>
            <a:r>
              <a:rPr lang="en-US" b="1" dirty="0">
                <a:solidFill>
                  <a:schemeClr val="accent1"/>
                </a:solidFill>
              </a:rPr>
              <a:t>mask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bits in a word</a:t>
            </a:r>
          </a:p>
          <a:p>
            <a:pPr lvl="1"/>
            <a:r>
              <a:rPr lang="en-US" dirty="0"/>
              <a:t>Select some bits, clear others to 0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14488" y="1906053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and $t0, $t1, $t2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294360"/>
              </p:ext>
            </p:extLst>
          </p:nvPr>
        </p:nvGraphicFramePr>
        <p:xfrm>
          <a:off x="2023792" y="2710602"/>
          <a:ext cx="4846792" cy="84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3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2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$t2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0000 0000 0000 0000 0000 1101 1100 0000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$t1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</a:t>
                      </a: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11 11</a:t>
                      </a: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00 0000 0000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$t0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0000 0000 0000 0000 0000 1100 0000 0000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E40204-7D9F-410C-ACCD-F14102AE3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94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120" y="844153"/>
            <a:ext cx="7864679" cy="3671888"/>
          </a:xfrm>
        </p:spPr>
        <p:txBody>
          <a:bodyPr/>
          <a:lstStyle/>
          <a:p>
            <a:r>
              <a:rPr lang="en-US" dirty="0"/>
              <a:t>Useful to </a:t>
            </a:r>
            <a:r>
              <a:rPr lang="en-US" b="1" dirty="0">
                <a:solidFill>
                  <a:schemeClr val="accent1"/>
                </a:solidFill>
              </a:rPr>
              <a:t>include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bits in a word</a:t>
            </a:r>
          </a:p>
          <a:p>
            <a:pPr lvl="1"/>
            <a:r>
              <a:rPr lang="en-US" dirty="0"/>
              <a:t>Set some bits to 1, leave others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4487" y="1906053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or $t0, $t1, $t2</a:t>
            </a:r>
          </a:p>
        </p:txBody>
      </p:sp>
      <p:sp>
        <p:nvSpPr>
          <p:cNvPr id="7" name="Rectangle 6"/>
          <p:cNvSpPr/>
          <p:nvPr/>
        </p:nvSpPr>
        <p:spPr>
          <a:xfrm>
            <a:off x="4640764" y="2300791"/>
            <a:ext cx="422564" cy="10935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196046"/>
              </p:ext>
            </p:extLst>
          </p:nvPr>
        </p:nvGraphicFramePr>
        <p:xfrm>
          <a:off x="1728132" y="2433765"/>
          <a:ext cx="4838403" cy="845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2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$t2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0000 0000 0000 0000 0000 1101 1100 0000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$t1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</a:t>
                      </a:r>
                      <a:r>
                        <a:rPr lang="en-US" sz="1400" dirty="0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11 11</a:t>
                      </a: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00 0000 0000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$t0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0000 0000 0000 0000 0011 1101 1100 0000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6972A7-91B6-453A-B7ED-A17D98A348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114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3"/>
            <a:ext cx="7688510" cy="3671888"/>
          </a:xfrm>
        </p:spPr>
        <p:txBody>
          <a:bodyPr/>
          <a:lstStyle/>
          <a:p>
            <a:r>
              <a:rPr lang="en-US" dirty="0"/>
              <a:t>Useful to invert bits in a word</a:t>
            </a:r>
          </a:p>
          <a:p>
            <a:pPr lvl="1"/>
            <a:r>
              <a:rPr lang="en-US" dirty="0"/>
              <a:t>Change 0 to 1, and 1 to 0</a:t>
            </a:r>
          </a:p>
          <a:p>
            <a:r>
              <a:rPr lang="en-US" dirty="0"/>
              <a:t>MIPS has NOR 3-operand instruction</a:t>
            </a:r>
          </a:p>
          <a:p>
            <a:pPr lvl="1"/>
            <a:r>
              <a:rPr lang="en-US" dirty="0"/>
              <a:t>a NOR b == NOT (a OR 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4488" y="2674979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nor $t0, $t1, $zero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387062"/>
              </p:ext>
            </p:extLst>
          </p:nvPr>
        </p:nvGraphicFramePr>
        <p:xfrm>
          <a:off x="2114026" y="3154202"/>
          <a:ext cx="4452509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04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$t1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0000 0000 0000 0000 0011 1100 0000 0000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$t0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1111 1111 1111 1111 1100 0011 1111 1111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65261370-E31B-4556-8D30-011B492FB8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971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Logical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273256" cy="3048339"/>
          </a:xfrm>
        </p:spPr>
        <p:txBody>
          <a:bodyPr/>
          <a:lstStyle/>
          <a:p>
            <a:r>
              <a:rPr lang="en-US" dirty="0"/>
              <a:t>There are a number of bit-wise logical operations in the MIPS ISA</a:t>
            </a:r>
          </a:p>
          <a:p>
            <a:r>
              <a:rPr lang="en-US" dirty="0"/>
              <a:t>R-format</a:t>
            </a:r>
          </a:p>
          <a:p>
            <a:pPr marL="342900" lvl="1" indent="0">
              <a:buNone/>
              <a:tabLst>
                <a:tab pos="941785" algn="l"/>
                <a:tab pos="2888456" algn="l"/>
              </a:tabLst>
            </a:pP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and	$t0, $t1, $t2	# $t0 = $t1 &amp; $t2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or	$t0, $t1, $t2	# $t0 = $t1 | $t2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nor	$t0, $t1, $t2	# $t0 = not($t1 | $t2)</a:t>
            </a:r>
          </a:p>
          <a:p>
            <a:r>
              <a:rPr lang="en-US" dirty="0"/>
              <a:t>I-format</a:t>
            </a:r>
          </a:p>
          <a:p>
            <a:pPr marL="342900" lvl="1" indent="0">
              <a:buNone/>
              <a:tabLst>
                <a:tab pos="941785" algn="l"/>
                <a:tab pos="2888456" algn="l"/>
              </a:tabLst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$t0, $t1, 0xFF00	# $t0 = $t1 &amp; 0xFF00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$t0, $t1, 0xFF00	# $t0 = $t1 | 0XFF00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C19F5-EDCF-4990-8744-F13311211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469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8" y="844153"/>
            <a:ext cx="7680121" cy="3671888"/>
          </a:xfrm>
        </p:spPr>
        <p:txBody>
          <a:bodyPr/>
          <a:lstStyle/>
          <a:p>
            <a:r>
              <a:rPr lang="en-US" dirty="0"/>
              <a:t>Branch to a labeled instruction if a condition is true</a:t>
            </a:r>
          </a:p>
          <a:p>
            <a:pPr lvl="1"/>
            <a:r>
              <a:rPr lang="en-US" dirty="0"/>
              <a:t>Otherwise, continue sequentially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L1</a:t>
            </a: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== </a:t>
            </a:r>
            <a:r>
              <a:rPr lang="en-US" dirty="0" err="1"/>
              <a:t>rt</a:t>
            </a:r>
            <a:r>
              <a:rPr lang="en-US" dirty="0"/>
              <a:t>) branch to instruction labeled L1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L1</a:t>
            </a: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!= </a:t>
            </a:r>
            <a:r>
              <a:rPr lang="en-US" dirty="0" err="1"/>
              <a:t>rt</a:t>
            </a:r>
            <a:r>
              <a:rPr lang="en-US" dirty="0"/>
              <a:t>) branch to instruction labeled L1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 L1</a:t>
            </a:r>
          </a:p>
          <a:p>
            <a:pPr lvl="1"/>
            <a:r>
              <a:rPr lang="en-US" dirty="0"/>
              <a:t>unconditional jump to instruction labeled L1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3615D-0B70-4012-ABDE-FF9AFED16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78027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44153"/>
            <a:ext cx="7696899" cy="3671888"/>
          </a:xfrm>
        </p:spPr>
        <p:txBody>
          <a:bodyPr/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b="1" dirty="0">
                <a:solidFill>
                  <a:srgbClr val="000000"/>
                </a:solidFill>
              </a:rPr>
              <a:t>C code: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(i == j) f = g + h;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 f = g – h;</a:t>
            </a:r>
          </a:p>
          <a:p>
            <a:pPr lvl="1">
              <a:tabLst>
                <a:tab pos="466725" algn="l"/>
                <a:tab pos="2762250" algn="l"/>
              </a:tabLst>
            </a:pPr>
            <a:r>
              <a:rPr lang="en-US" dirty="0">
                <a:solidFill>
                  <a:srgbClr val="000000"/>
                </a:solidFill>
              </a:rPr>
              <a:t>f in $s0, g in $s1, h in $s2</a:t>
            </a: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b="1" dirty="0">
              <a:solidFill>
                <a:srgbClr val="000000"/>
              </a:solidFill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b="1" dirty="0">
                <a:solidFill>
                  <a:srgbClr val="000000"/>
                </a:solidFill>
              </a:rPr>
              <a:t>Compiled MIPS code:</a:t>
            </a:r>
          </a:p>
          <a:p>
            <a:pPr marL="0" indent="0">
              <a:buClr>
                <a:srgbClr val="000000"/>
              </a:buClr>
              <a:buNone/>
              <a:tabLst>
                <a:tab pos="676275" algn="l"/>
                <a:tab pos="1146572" algn="l"/>
                <a:tab pos="2958704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bne	$s3, $s4, Else	# go to Else if i≠j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$s0, $s1, $s2	# f=g+h (skipped if i≠j) 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j	Exit	# go to Exit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Else:	sub	$s0, $s1, $s2	# f=g-h (skipped if i=j)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	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90651" y="4271476"/>
            <a:ext cx="2666114" cy="3000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/>
              <a:t>Assembler calculates addresses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1451927" y="4154047"/>
            <a:ext cx="599749" cy="259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1500558" y="3930680"/>
            <a:ext cx="562013" cy="47701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841" y="1083844"/>
            <a:ext cx="2784042" cy="164030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6EA1D-C903-477F-9A88-31B97DC80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6576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Compiling 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844153"/>
            <a:ext cx="7738844" cy="3671888"/>
          </a:xfrm>
        </p:spPr>
        <p:txBody>
          <a:bodyPr/>
          <a:lstStyle/>
          <a:p>
            <a:pPr>
              <a:tabLst>
                <a:tab pos="466725" algn="l"/>
                <a:tab pos="2762250" algn="l"/>
              </a:tabLst>
            </a:pPr>
            <a:r>
              <a:rPr lang="en-US" b="1" dirty="0">
                <a:solidFill>
                  <a:srgbClr val="000000"/>
                </a:solidFill>
              </a:rPr>
              <a:t>C code: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2762250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 (save[i] == k) i += 1;</a:t>
            </a:r>
          </a:p>
          <a:p>
            <a:pPr lvl="1">
              <a:tabLst>
                <a:tab pos="466725" algn="l"/>
                <a:tab pos="2762250" algn="l"/>
              </a:tabLst>
            </a:pPr>
            <a:r>
              <a:rPr lang="en-US" dirty="0" err="1">
                <a:solidFill>
                  <a:srgbClr val="000000"/>
                </a:solidFill>
              </a:rPr>
              <a:t>i</a:t>
            </a:r>
            <a:r>
              <a:rPr lang="en-US" dirty="0">
                <a:solidFill>
                  <a:srgbClr val="000000"/>
                </a:solidFill>
              </a:rPr>
              <a:t> in </a:t>
            </a:r>
            <a:r>
              <a:rPr lang="en-US" dirty="0">
                <a:solidFill>
                  <a:schemeClr val="accent1"/>
                </a:solidFill>
              </a:rPr>
              <a:t>$s3</a:t>
            </a:r>
            <a:r>
              <a:rPr lang="en-US" dirty="0">
                <a:solidFill>
                  <a:srgbClr val="000000"/>
                </a:solidFill>
              </a:rPr>
              <a:t>, k in $s5, address of save in $s6</a:t>
            </a:r>
          </a:p>
          <a:p>
            <a:pPr>
              <a:buClr>
                <a:srgbClr val="000000"/>
              </a:buClr>
              <a:tabLst>
                <a:tab pos="466725" algn="l"/>
                <a:tab pos="2762250" algn="l"/>
              </a:tabLst>
            </a:pPr>
            <a:endParaRPr lang="en-US" b="1" dirty="0">
              <a:solidFill>
                <a:srgbClr val="000000"/>
              </a:solidFill>
            </a:endParaRPr>
          </a:p>
          <a:p>
            <a:pPr>
              <a:tabLst>
                <a:tab pos="466725" algn="l"/>
                <a:tab pos="2762250" algn="l"/>
              </a:tabLst>
            </a:pPr>
            <a:r>
              <a:rPr lang="en-US" b="1" dirty="0">
                <a:solidFill>
                  <a:srgbClr val="000000"/>
                </a:solidFill>
              </a:rPr>
              <a:t>Compiled MIPS code:</a:t>
            </a:r>
          </a:p>
          <a:p>
            <a:pPr marL="0" indent="0">
              <a:buClr>
                <a:srgbClr val="000000"/>
              </a:buClr>
              <a:buNone/>
              <a:tabLst>
                <a:tab pos="676275" algn="l"/>
                <a:tab pos="1209675" algn="l"/>
                <a:tab pos="2958704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Loop:	sll	$t1, </a:t>
            </a:r>
            <a:r>
              <a:rPr lang="pt-BR" sz="15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$s3</a:t>
            </a: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2	# $t1 = i * 4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	$t1, $t1, $s6	# $t1 = addr of save[i]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lw	$t0, 0($t1)	# $t0 = save[i]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bne	$t0, $s5, Exit	# Exit if save[i]≠k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addi	</a:t>
            </a:r>
            <a:r>
              <a:rPr lang="pt-BR" sz="15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$s3</a:t>
            </a: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sz="15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$s3</a:t>
            </a: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	# i = i+1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j	Loop	# go to Loop</a:t>
            </a:r>
            <a:b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Exit:	...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01B463-D85F-4907-B1EE-4086EDB64D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7319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705287" cy="3671888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>
                <a:solidFill>
                  <a:schemeClr val="accent1"/>
                </a:solidFill>
              </a:rPr>
              <a:t>basic block</a:t>
            </a:r>
            <a:r>
              <a:rPr lang="en-US" sz="2000" dirty="0"/>
              <a:t> is a sequence of instructions with</a:t>
            </a:r>
          </a:p>
          <a:p>
            <a:pPr lvl="1"/>
            <a:r>
              <a:rPr lang="en-US" sz="1800" dirty="0"/>
              <a:t>No embedded branches (except at end)</a:t>
            </a:r>
          </a:p>
          <a:p>
            <a:pPr lvl="1"/>
            <a:r>
              <a:rPr lang="en-US" sz="1800" dirty="0"/>
              <a:t>No branch targets (except at beginning)</a:t>
            </a:r>
          </a:p>
          <a:p>
            <a:r>
              <a:rPr lang="en-US" sz="2000" dirty="0"/>
              <a:t>A compiler identifies basic blocks </a:t>
            </a:r>
            <a:br>
              <a:rPr lang="en-US" sz="2000" dirty="0"/>
            </a:br>
            <a:r>
              <a:rPr lang="en-US" sz="2000" dirty="0"/>
              <a:t>for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798969" y="2258173"/>
          <a:ext cx="1350000" cy="226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6491828" y="2127213"/>
            <a:ext cx="0" cy="50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491828" y="2649822"/>
            <a:ext cx="0" cy="1365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491828" y="4021348"/>
            <a:ext cx="0" cy="604988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>
            <a:off x="5534566" y="2473685"/>
            <a:ext cx="0" cy="50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488256" y="4035637"/>
            <a:ext cx="8965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E58E1-2A21-4E50-889B-377B61DA1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160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Conditional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734" y="844153"/>
            <a:ext cx="7722066" cy="3671888"/>
          </a:xfrm>
        </p:spPr>
        <p:txBody>
          <a:bodyPr>
            <a:normAutofit/>
          </a:bodyPr>
          <a:lstStyle/>
          <a:p>
            <a:r>
              <a:rPr lang="en-US" dirty="0"/>
              <a:t>Set result to 1 if a condition is true</a:t>
            </a:r>
          </a:p>
          <a:p>
            <a:pPr lvl="1"/>
            <a:r>
              <a:rPr lang="en-US" dirty="0"/>
              <a:t>Otherwise, set to 0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&lt; </a:t>
            </a:r>
            <a:r>
              <a:rPr lang="en-US" dirty="0" err="1"/>
              <a:t>rt</a:t>
            </a:r>
            <a:r>
              <a:rPr lang="en-US" dirty="0"/>
              <a:t>) </a:t>
            </a:r>
            <a:r>
              <a:rPr lang="en-US" dirty="0" err="1"/>
              <a:t>rd</a:t>
            </a:r>
            <a:r>
              <a:rPr lang="en-US" dirty="0"/>
              <a:t> = 1; else </a:t>
            </a:r>
            <a:r>
              <a:rPr lang="en-US" dirty="0" err="1"/>
              <a:t>rd</a:t>
            </a:r>
            <a:r>
              <a:rPr lang="en-US" dirty="0"/>
              <a:t> = 0;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constant</a:t>
            </a:r>
          </a:p>
          <a:p>
            <a:pPr lvl="1"/>
            <a:r>
              <a:rPr lang="en-US" dirty="0"/>
              <a:t>if (</a:t>
            </a:r>
            <a:r>
              <a:rPr lang="en-US" dirty="0" err="1"/>
              <a:t>rs</a:t>
            </a:r>
            <a:r>
              <a:rPr lang="en-US" dirty="0"/>
              <a:t> &lt; constant) </a:t>
            </a:r>
            <a:r>
              <a:rPr lang="en-US" dirty="0" err="1"/>
              <a:t>rt</a:t>
            </a:r>
            <a:r>
              <a:rPr lang="en-US" dirty="0"/>
              <a:t> = 1; else </a:t>
            </a:r>
            <a:r>
              <a:rPr lang="en-US" dirty="0" err="1"/>
              <a:t>rt</a:t>
            </a:r>
            <a:r>
              <a:rPr lang="en-US" dirty="0"/>
              <a:t> = 0;</a:t>
            </a:r>
          </a:p>
          <a:p>
            <a:r>
              <a:rPr lang="en-US" dirty="0"/>
              <a:t>Use in combination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941785" algn="l"/>
                <a:tab pos="2888456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$t0, $s1, $s2	# if ($s1 &lt; $s2)</a:t>
            </a:r>
            <a:b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	$t0, $zero, L	# branch to L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0C0CD6-2E3D-4DFD-9B06-D505DCE0E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78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Instruction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844153"/>
            <a:ext cx="7738844" cy="3671888"/>
          </a:xfrm>
        </p:spPr>
        <p:txBody>
          <a:bodyPr>
            <a:normAutofit/>
          </a:bodyPr>
          <a:lstStyle/>
          <a:p>
            <a:r>
              <a:rPr lang="en-US" dirty="0"/>
              <a:t>Why not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blt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bge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?</a:t>
            </a:r>
          </a:p>
          <a:p>
            <a:r>
              <a:rPr lang="en-US" dirty="0"/>
              <a:t>Hardware for &lt;, ≥, … slower than =, ≠</a:t>
            </a:r>
          </a:p>
          <a:p>
            <a:pPr lvl="1"/>
            <a:r>
              <a:rPr lang="en-US" dirty="0"/>
              <a:t>Combining with branch involves more work per instruction, requiring a slower clock</a:t>
            </a:r>
          </a:p>
          <a:p>
            <a:pPr lvl="1"/>
            <a:r>
              <a:rPr lang="en-US" dirty="0"/>
              <a:t>All instructions penalized!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/>
              <a:t> and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/>
              <a:t> are the common case</a:t>
            </a:r>
          </a:p>
          <a:p>
            <a:r>
              <a:rPr lang="en-US" dirty="0"/>
              <a:t>This is a good design compromise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CF6D4-B027-4D3E-8603-4414234224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080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vs. Unsigned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624" y="844153"/>
            <a:ext cx="7638176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Signed comparison: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Unsigned comparison: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 dirty="0"/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sltui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Example:</a:t>
            </a:r>
          </a:p>
          <a:p>
            <a:pPr lvl="1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$s0 = 1111 1111 1111 1111 1111 1111 1111 1111</a:t>
            </a:r>
          </a:p>
          <a:p>
            <a:pPr lvl="1"/>
            <a:r>
              <a:rPr 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$s1 = 0000 0000 0000 0000 0000 0000 0000 0000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941785" algn="l"/>
                <a:tab pos="2888456" algn="l"/>
              </a:tabLst>
            </a:pPr>
            <a:endParaRPr lang="pt-BR" sz="15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73944" algn="l"/>
                <a:tab pos="2888456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$t0, $s0, $s1	# signed</a:t>
            </a:r>
          </a:p>
          <a:p>
            <a:pPr lvl="1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$s0 = −1, $s1 = 0, $s0 &lt; $s1 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 $t0 = 1</a:t>
            </a: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941785" algn="l"/>
                <a:tab pos="2888456" algn="l"/>
              </a:tabLst>
            </a:pPr>
            <a:endParaRPr lang="pt-BR" sz="15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1073944" algn="l"/>
                <a:tab pos="2888456" algn="l"/>
              </a:tabLst>
            </a:pPr>
            <a:r>
              <a:rPr lang="pt-BR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$t0, $s0, $s1	# unsigned</a:t>
            </a:r>
          </a:p>
          <a:p>
            <a:pPr lvl="1"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$s0 = +4,294,967,295, $s1 = 0, $s0 &gt; $s1 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 $t0 = 0</a:t>
            </a:r>
            <a:endParaRPr lang="en-US" dirty="0">
              <a:solidFill>
                <a:srgbClr val="000000"/>
              </a:solidFill>
            </a:endParaRPr>
          </a:p>
          <a:p>
            <a:pPr marL="0" indent="0">
              <a:buClr>
                <a:srgbClr val="000000"/>
              </a:buClr>
              <a:buNone/>
              <a:tabLst>
                <a:tab pos="466725" algn="l"/>
                <a:tab pos="941785" algn="l"/>
                <a:tab pos="2888456" algn="l"/>
              </a:tabLst>
            </a:pP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5B5068-E28F-4D9D-A731-5066E01AD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151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Check Shortcut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206143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Treating signed numbers as if they were unsigned gives a low cost way of checking if </a:t>
            </a:r>
            <a:br>
              <a:rPr lang="en-US" dirty="0"/>
            </a:br>
            <a:r>
              <a:rPr lang="en-US" dirty="0"/>
              <a:t>0 ≤ x &lt; y (index out of bounds for arrays)</a:t>
            </a:r>
          </a:p>
          <a:p>
            <a:pPr marL="130969" indent="0">
              <a:buNone/>
              <a:tabLst>
                <a:tab pos="808435" algn="l"/>
                <a:tab pos="3156347" algn="l"/>
              </a:tabLst>
            </a:pPr>
            <a:r>
              <a:rPr lang="en-US" sz="19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sltu</a:t>
            </a: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	$t0, $s1, $t2	# $t0 = 0 if</a:t>
            </a:r>
            <a:b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		# $s1 &gt; $t2 (max)</a:t>
            </a:r>
            <a:b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		# or $s1 &lt; 0 (min)</a:t>
            </a:r>
            <a:b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	$t0, $zero, IOOB	# go to IOOB if</a:t>
            </a:r>
            <a:b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950" dirty="0">
                <a:latin typeface="Courier New" panose="02070309020205020404" pitchFamily="49" charset="0"/>
                <a:cs typeface="Courier New" panose="02070309020205020404" pitchFamily="49" charset="0"/>
              </a:rPr>
              <a:t>		# $t0 = 0</a:t>
            </a:r>
          </a:p>
          <a:p>
            <a:r>
              <a:rPr lang="en-US" dirty="0"/>
              <a:t>The key is that </a:t>
            </a:r>
            <a:r>
              <a:rPr lang="en-US" b="1" dirty="0">
                <a:solidFill>
                  <a:schemeClr val="accent1"/>
                </a:solidFill>
              </a:rPr>
              <a:t>negative integers</a:t>
            </a:r>
            <a:r>
              <a:rPr lang="en-US" dirty="0"/>
              <a:t> in two’s complement look like large numbers in unsigned notation. Thus, an unsigned comparison of x &lt; y also checks if x is negative as well as if x is less than y 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322921-BF9A-4441-9C4C-E52EDBC93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7205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Calling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620" y="844153"/>
            <a:ext cx="7940179" cy="3671888"/>
          </a:xfrm>
        </p:spPr>
        <p:txBody>
          <a:bodyPr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2000" dirty="0"/>
              <a:t>Main routine (</a:t>
            </a:r>
            <a:r>
              <a:rPr lang="en-US" sz="2000" dirty="0">
                <a:solidFill>
                  <a:srgbClr val="FF0000"/>
                </a:solidFill>
              </a:rPr>
              <a:t>caller</a:t>
            </a:r>
            <a:r>
              <a:rPr lang="en-US" sz="2000" dirty="0"/>
              <a:t>) places parameters in a place where the procedure (</a:t>
            </a:r>
            <a:r>
              <a:rPr lang="en-US" sz="2000" dirty="0" err="1">
                <a:solidFill>
                  <a:srgbClr val="00B050"/>
                </a:solidFill>
              </a:rPr>
              <a:t>callee</a:t>
            </a:r>
            <a:r>
              <a:rPr lang="en-US" sz="2000" dirty="0"/>
              <a:t>) can access them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$a0</a:t>
            </a:r>
            <a:r>
              <a:rPr lang="en-US" sz="1600" dirty="0"/>
              <a:t>–</a:t>
            </a:r>
            <a:r>
              <a:rPr lang="en-US" sz="1600" dirty="0">
                <a:solidFill>
                  <a:schemeClr val="accent1"/>
                </a:solidFill>
              </a:rPr>
              <a:t>$a3</a:t>
            </a:r>
            <a:r>
              <a:rPr lang="en-US" sz="1600" dirty="0"/>
              <a:t>: four </a:t>
            </a:r>
            <a:r>
              <a:rPr lang="en-US" sz="1600" dirty="0">
                <a:solidFill>
                  <a:schemeClr val="accent1"/>
                </a:solidFill>
              </a:rPr>
              <a:t>argument</a:t>
            </a:r>
            <a:r>
              <a:rPr lang="en-US" sz="1600" dirty="0"/>
              <a:t> registers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</a:rPr>
              <a:t>Caller</a:t>
            </a:r>
            <a:r>
              <a:rPr lang="en-US" sz="2000" dirty="0"/>
              <a:t> transfers control to the </a:t>
            </a:r>
            <a:r>
              <a:rPr lang="en-US" sz="2000" dirty="0" err="1">
                <a:solidFill>
                  <a:srgbClr val="00B050"/>
                </a:solidFill>
              </a:rPr>
              <a:t>callee</a:t>
            </a:r>
            <a:endParaRPr lang="en-US" sz="2000" dirty="0">
              <a:solidFill>
                <a:srgbClr val="00B050"/>
              </a:solidFill>
            </a:endParaRPr>
          </a:p>
          <a:p>
            <a:pPr marL="385763" indent="-385763">
              <a:buFont typeface="+mj-lt"/>
              <a:buAutoNum type="arabicPeriod"/>
            </a:pPr>
            <a:r>
              <a:rPr lang="en-US" sz="2000" dirty="0" err="1">
                <a:solidFill>
                  <a:srgbClr val="00B050"/>
                </a:solidFill>
              </a:rPr>
              <a:t>Callee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acquires the storage resources needed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 err="1">
                <a:solidFill>
                  <a:srgbClr val="00B050"/>
                </a:solidFill>
              </a:rPr>
              <a:t>Callee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performs the desired task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 err="1">
                <a:solidFill>
                  <a:srgbClr val="00B050"/>
                </a:solidFill>
              </a:rPr>
              <a:t>Callee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places the result value in a place where the </a:t>
            </a:r>
            <a:r>
              <a:rPr lang="en-US" sz="2000" dirty="0">
                <a:solidFill>
                  <a:srgbClr val="FF0000"/>
                </a:solidFill>
              </a:rPr>
              <a:t>caller</a:t>
            </a:r>
            <a:r>
              <a:rPr lang="en-US" sz="2000" dirty="0"/>
              <a:t> can access it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$v0</a:t>
            </a:r>
            <a:r>
              <a:rPr lang="en-US" sz="1600" dirty="0"/>
              <a:t>–</a:t>
            </a:r>
            <a:r>
              <a:rPr lang="en-US" sz="1600" dirty="0">
                <a:solidFill>
                  <a:schemeClr val="accent1"/>
                </a:solidFill>
              </a:rPr>
              <a:t>$v1</a:t>
            </a:r>
            <a:r>
              <a:rPr lang="en-US" sz="1600" dirty="0"/>
              <a:t>: two </a:t>
            </a:r>
            <a:r>
              <a:rPr lang="en-US" sz="1600" dirty="0">
                <a:solidFill>
                  <a:schemeClr val="accent1"/>
                </a:solidFill>
              </a:rPr>
              <a:t>value</a:t>
            </a:r>
            <a:r>
              <a:rPr lang="en-US" sz="1600" dirty="0"/>
              <a:t> registers for result values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2000" dirty="0" err="1">
                <a:solidFill>
                  <a:srgbClr val="00B050"/>
                </a:solidFill>
              </a:rPr>
              <a:t>Callee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returns control to the </a:t>
            </a:r>
            <a:r>
              <a:rPr lang="en-US" sz="2000" dirty="0">
                <a:solidFill>
                  <a:srgbClr val="FF0000"/>
                </a:solidFill>
              </a:rPr>
              <a:t>caller</a:t>
            </a: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$</a:t>
            </a:r>
            <a:r>
              <a:rPr lang="en-US" sz="1600" dirty="0" err="1">
                <a:solidFill>
                  <a:schemeClr val="accent1"/>
                </a:solidFill>
              </a:rPr>
              <a:t>ra</a:t>
            </a:r>
            <a:r>
              <a:rPr lang="en-US" sz="1600" dirty="0"/>
              <a:t>: one </a:t>
            </a:r>
            <a:r>
              <a:rPr lang="en-US" sz="1600" dirty="0">
                <a:solidFill>
                  <a:schemeClr val="accent1"/>
                </a:solidFill>
              </a:rPr>
              <a:t>return address</a:t>
            </a:r>
            <a:r>
              <a:rPr lang="en-US" sz="1600" dirty="0"/>
              <a:t> register to return to the point of origin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8B034C-E2A6-421F-9334-13163E3A5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0838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Usage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566" y="844153"/>
            <a:ext cx="7747233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$a0–$a3: arguments (</a:t>
            </a:r>
            <a:r>
              <a:rPr lang="en-US" dirty="0" err="1"/>
              <a:t>reg</a:t>
            </a:r>
            <a:r>
              <a:rPr lang="en-US" dirty="0"/>
              <a:t> 4–7)</a:t>
            </a:r>
          </a:p>
          <a:p>
            <a:r>
              <a:rPr lang="en-US" dirty="0"/>
              <a:t>$v0, $v1: result values (</a:t>
            </a:r>
            <a:r>
              <a:rPr lang="en-US" dirty="0" err="1"/>
              <a:t>reg</a:t>
            </a:r>
            <a:r>
              <a:rPr lang="en-US" dirty="0"/>
              <a:t> 2 and 3)</a:t>
            </a:r>
          </a:p>
          <a:p>
            <a:r>
              <a:rPr lang="en-US" dirty="0"/>
              <a:t>$t0–$t9: temporaries</a:t>
            </a:r>
          </a:p>
          <a:p>
            <a:pPr lvl="1"/>
            <a:r>
              <a:rPr lang="en-US" dirty="0"/>
              <a:t>Can be overwritten by </a:t>
            </a:r>
            <a:r>
              <a:rPr lang="en-US" dirty="0" err="1"/>
              <a:t>callee</a:t>
            </a:r>
            <a:endParaRPr lang="en-US" dirty="0"/>
          </a:p>
          <a:p>
            <a:r>
              <a:rPr lang="en-US" dirty="0"/>
              <a:t>$s0–$s7: saved</a:t>
            </a:r>
          </a:p>
          <a:p>
            <a:pPr lvl="1"/>
            <a:r>
              <a:rPr lang="en-US" dirty="0"/>
              <a:t>Must be saved/restored by </a:t>
            </a:r>
            <a:r>
              <a:rPr lang="en-US" dirty="0" err="1"/>
              <a:t>callee</a:t>
            </a:r>
            <a:endParaRPr lang="en-US" dirty="0"/>
          </a:p>
          <a:p>
            <a:r>
              <a:rPr lang="en-US" dirty="0"/>
              <a:t>$</a:t>
            </a:r>
            <a:r>
              <a:rPr lang="en-US" dirty="0" err="1"/>
              <a:t>gp</a:t>
            </a:r>
            <a:r>
              <a:rPr lang="en-US" dirty="0"/>
              <a:t>: global pointer for static data (</a:t>
            </a:r>
            <a:r>
              <a:rPr lang="en-US" dirty="0" err="1"/>
              <a:t>reg</a:t>
            </a:r>
            <a:r>
              <a:rPr lang="en-US" dirty="0"/>
              <a:t> 28)</a:t>
            </a:r>
          </a:p>
          <a:p>
            <a:r>
              <a:rPr lang="en-US" dirty="0"/>
              <a:t>$</a:t>
            </a:r>
            <a:r>
              <a:rPr lang="en-US" dirty="0" err="1"/>
              <a:t>sp</a:t>
            </a:r>
            <a:r>
              <a:rPr lang="en-US" dirty="0"/>
              <a:t>: stack pointer (</a:t>
            </a:r>
            <a:r>
              <a:rPr lang="en-US" dirty="0" err="1"/>
              <a:t>reg</a:t>
            </a:r>
            <a:r>
              <a:rPr lang="en-US" dirty="0"/>
              <a:t> 29)</a:t>
            </a:r>
          </a:p>
          <a:p>
            <a:r>
              <a:rPr lang="en-US" dirty="0"/>
              <a:t>$</a:t>
            </a:r>
            <a:r>
              <a:rPr lang="en-US" dirty="0" err="1"/>
              <a:t>fp</a:t>
            </a:r>
            <a:r>
              <a:rPr lang="en-US" dirty="0"/>
              <a:t>: frame pointer (</a:t>
            </a:r>
            <a:r>
              <a:rPr lang="en-US" dirty="0" err="1"/>
              <a:t>reg</a:t>
            </a:r>
            <a:r>
              <a:rPr lang="en-US" dirty="0"/>
              <a:t> 30)</a:t>
            </a:r>
          </a:p>
          <a:p>
            <a:r>
              <a:rPr lang="en-US" dirty="0"/>
              <a:t>$</a:t>
            </a:r>
            <a:r>
              <a:rPr lang="en-US" dirty="0" err="1"/>
              <a:t>ra</a:t>
            </a:r>
            <a:r>
              <a:rPr lang="en-US" dirty="0"/>
              <a:t>: return address (</a:t>
            </a:r>
            <a:r>
              <a:rPr lang="en-US" dirty="0" err="1"/>
              <a:t>reg</a:t>
            </a:r>
            <a:r>
              <a:rPr lang="en-US" dirty="0"/>
              <a:t> 31)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CAF98-0ADF-418E-B116-02B9CBECA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2182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 Call Instructions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9566" y="844153"/>
            <a:ext cx="7747233" cy="3671888"/>
          </a:xfrm>
        </p:spPr>
        <p:txBody>
          <a:bodyPr/>
          <a:lstStyle/>
          <a:p>
            <a:r>
              <a:rPr lang="en-US" dirty="0"/>
              <a:t>Procedure call: jump and link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)</a:t>
            </a:r>
          </a:p>
          <a:p>
            <a:pPr marL="342900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ProcedureLabel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Address of following instruction is put in $</a:t>
            </a:r>
            <a:r>
              <a:rPr lang="en-US" dirty="0" err="1"/>
              <a:t>ra</a:t>
            </a:r>
            <a:endParaRPr lang="en-US" dirty="0"/>
          </a:p>
          <a:p>
            <a:pPr lvl="1"/>
            <a:r>
              <a:rPr lang="en-US" dirty="0"/>
              <a:t>Jumps to target address</a:t>
            </a:r>
          </a:p>
          <a:p>
            <a:r>
              <a:rPr lang="en-US" dirty="0"/>
              <a:t>Procedure return: jump register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/>
              <a:t>)</a:t>
            </a:r>
          </a:p>
          <a:p>
            <a:pPr marL="342900" lvl="1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dirty="0"/>
              <a:t>Copies $</a:t>
            </a:r>
            <a:r>
              <a:rPr lang="en-US" dirty="0" err="1"/>
              <a:t>ra</a:t>
            </a:r>
            <a:r>
              <a:rPr lang="en-US" dirty="0"/>
              <a:t> to program counter</a:t>
            </a:r>
          </a:p>
          <a:p>
            <a:pPr lvl="1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B14EA7-401E-4B5C-92FA-111A69751F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4329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Leaf Procedure Example</a:t>
            </a:r>
            <a:r>
              <a:rPr lang="zh-CN" altLang="en-US" dirty="0">
                <a:cs typeface="Calibri" panose="020F0502020204030204" pitchFamily="34" charset="0"/>
              </a:rPr>
              <a:t>（</a:t>
            </a:r>
            <a:r>
              <a:rPr lang="en-US" altLang="zh-CN" dirty="0">
                <a:cs typeface="Calibri" panose="020F0502020204030204" pitchFamily="34" charset="0"/>
              </a:rPr>
              <a:t>1</a:t>
            </a:r>
            <a:r>
              <a:rPr lang="zh-CN" altLang="en-US" dirty="0">
                <a:cs typeface="Calibri" panose="020F0502020204030204" pitchFamily="34" charset="0"/>
              </a:rPr>
              <a:t>）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rmAutofit/>
          </a:bodyPr>
          <a:lstStyle/>
          <a:p>
            <a:r>
              <a:rPr lang="en-US" b="1" dirty="0"/>
              <a:t>C code:</a:t>
            </a:r>
          </a:p>
          <a:p>
            <a:pPr marL="0" indent="0">
              <a:buNone/>
            </a:pP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leaf_example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g,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j)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f;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f = (g + h) –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+ j);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return f;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Arguments g–j in $a0–$a3</a:t>
            </a:r>
          </a:p>
          <a:p>
            <a:pPr lvl="1"/>
            <a:r>
              <a:rPr lang="en-US" dirty="0"/>
              <a:t>f in $s0 (hence, need to save $s0 on stack)</a:t>
            </a:r>
          </a:p>
          <a:p>
            <a:pPr lvl="1"/>
            <a:r>
              <a:rPr lang="en-US" dirty="0"/>
              <a:t>Result in $v0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D25B01-5F0D-4960-97C3-2A399FF5AE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104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Leaf Procedure Example</a:t>
            </a:r>
            <a:r>
              <a:rPr lang="zh-CN" altLang="en-US" dirty="0">
                <a:cs typeface="Calibri" panose="020F0502020204030204" pitchFamily="34" charset="0"/>
              </a:rPr>
              <a:t>（</a:t>
            </a:r>
            <a:r>
              <a:rPr lang="en-US" altLang="zh-CN" dirty="0">
                <a:cs typeface="Calibri" panose="020F0502020204030204" pitchFamily="34" charset="0"/>
              </a:rPr>
              <a:t>2</a:t>
            </a:r>
            <a:r>
              <a:rPr lang="zh-CN" altLang="en-US" dirty="0">
                <a:cs typeface="Calibri" panose="020F0502020204030204" pitchFamily="34" charset="0"/>
              </a:rPr>
              <a:t>）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9960" y="844153"/>
            <a:ext cx="7436840" cy="3671888"/>
          </a:xfrm>
        </p:spPr>
        <p:txBody>
          <a:bodyPr/>
          <a:lstStyle/>
          <a:p>
            <a:r>
              <a:rPr lang="en-US" b="1" dirty="0"/>
              <a:t>MIPS code:</a:t>
            </a:r>
          </a:p>
          <a:p>
            <a:pPr marL="0" indent="0">
              <a:buNone/>
              <a:tabLst>
                <a:tab pos="338138" algn="l"/>
                <a:tab pos="1146572" algn="l"/>
                <a:tab pos="3701654" algn="l"/>
              </a:tabLst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leaf_example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$s0, 0($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add	$t0, $a0, $a1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add	$t1, $a2, $a3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sub	$s0, $t0, $t1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add	$v0, $s0, $zero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$s0, 0($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2664" y="1736952"/>
            <a:ext cx="15985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Save $s0 on stack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597709" y="2167090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639654" y="3202843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648043" y="2949189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39654" y="3776252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92663" y="2467204"/>
            <a:ext cx="140615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Procedure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1053" y="2946911"/>
            <a:ext cx="6751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2664" y="3338464"/>
            <a:ext cx="19639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Restore $s0 from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1053" y="3816527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Return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580931" y="1585290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E925F5-6E56-4021-8A4E-DB5E7D45A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4300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Layout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515608" y="1067412"/>
          <a:ext cx="1743103" cy="239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3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Memory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0xFFFFFFFF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$</a:t>
                      </a:r>
                      <a:r>
                        <a:rPr lang="en-US" sz="1100" b="1" dirty="0" err="1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sp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  <a:sym typeface="Wingdings" panose="05000000000000000000" pitchFamily="2" charset="2"/>
                        </a:rPr>
                        <a:t></a:t>
                      </a: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0x00000000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Address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Data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3704532" y="1067412"/>
          <a:ext cx="1743103" cy="239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3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Memory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0xFFFFFFFF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$</a:t>
                      </a:r>
                      <a:r>
                        <a:rPr lang="en-US" sz="1100" b="1" dirty="0" err="1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sp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  <a:sym typeface="Wingdings" panose="05000000000000000000" pitchFamily="2" charset="2"/>
                        </a:rPr>
                        <a:t></a:t>
                      </a: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$s0</a:t>
                      </a:r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0x00000000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Address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Data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5893455" y="1067412"/>
          <a:ext cx="1743103" cy="239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3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Memory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0xFFFFFFFF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$</a:t>
                      </a:r>
                      <a:r>
                        <a:rPr lang="en-US" sz="1100" b="1" dirty="0" err="1">
                          <a:solidFill>
                            <a:schemeClr val="accent1"/>
                          </a:solidFill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sp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 </a:t>
                      </a:r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  <a:sym typeface="Wingdings" panose="05000000000000000000" pitchFamily="2" charset="2"/>
                        </a:rPr>
                        <a:t></a:t>
                      </a: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0x00000000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marL="54000" marR="54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28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Address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Data</a:t>
                      </a:r>
                    </a:p>
                  </a:txBody>
                  <a:tcPr marL="54000" marR="54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515608" y="3598101"/>
            <a:ext cx="1829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Before procedure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0410" y="3598101"/>
            <a:ext cx="1829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During procedure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533" y="3598101"/>
            <a:ext cx="1685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After procedure call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84AE63-6060-4FF2-871B-0DA90AC2B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7487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Non-Leaf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rmAutofit/>
          </a:bodyPr>
          <a:lstStyle/>
          <a:p>
            <a:r>
              <a:rPr lang="en-US" dirty="0"/>
              <a:t>Procedures that call other procedures</a:t>
            </a:r>
          </a:p>
          <a:p>
            <a:r>
              <a:rPr lang="en-US" dirty="0"/>
              <a:t>For nested call, caller needs to save on the </a:t>
            </a:r>
            <a:r>
              <a:rPr lang="en-US" b="1" dirty="0">
                <a:solidFill>
                  <a:schemeClr val="accent1"/>
                </a:solidFill>
              </a:rPr>
              <a:t>stack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Its return address</a:t>
            </a:r>
          </a:p>
          <a:p>
            <a:pPr lvl="1"/>
            <a:r>
              <a:rPr lang="en-US" dirty="0"/>
              <a:t>Any arguments and temporaries needed after the call</a:t>
            </a:r>
          </a:p>
          <a:p>
            <a:r>
              <a:rPr lang="en-US" dirty="0"/>
              <a:t>Restore from the stack after the call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8475D6-2A5E-479A-9336-BB1CE1682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5570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Non-Leaf Procedure Example (1)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705288" cy="3671888"/>
          </a:xfrm>
        </p:spPr>
        <p:txBody>
          <a:bodyPr/>
          <a:lstStyle/>
          <a:p>
            <a:r>
              <a:rPr lang="en-US" b="1" dirty="0"/>
              <a:t>C code:</a:t>
            </a:r>
          </a:p>
          <a:p>
            <a:pPr marL="0" indent="0">
              <a:buNone/>
            </a:pP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fact (</a:t>
            </a:r>
            <a:r>
              <a:rPr lang="en-US" sz="16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if (n &lt; 1) return f;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	else return n * fact(n – 1);</a:t>
            </a:r>
            <a:b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dirty="0"/>
              <a:t>Arguments n in $a0</a:t>
            </a:r>
          </a:p>
          <a:p>
            <a:pPr lvl="1"/>
            <a:r>
              <a:rPr lang="en-US" dirty="0"/>
              <a:t>Result in $v0</a:t>
            </a:r>
          </a:p>
          <a:p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2763B2-A627-48CD-B7F5-FF8E1995D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1634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Non-Leaf Procedure 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9321" y="797369"/>
            <a:ext cx="5915025" cy="3657185"/>
          </a:xfrm>
        </p:spPr>
        <p:txBody>
          <a:bodyPr>
            <a:noAutofit/>
          </a:bodyPr>
          <a:lstStyle/>
          <a:p>
            <a:r>
              <a:rPr lang="en-US" sz="2000" dirty="0"/>
              <a:t>MIPS code</a:t>
            </a:r>
          </a:p>
          <a:p>
            <a:pPr marL="0" indent="0">
              <a:buNone/>
              <a:tabLst>
                <a:tab pos="470297" algn="l"/>
                <a:tab pos="1212056" algn="l"/>
                <a:tab pos="3701654" algn="l"/>
              </a:tabLst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fact: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-8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$ra, 4($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$a0, 0($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$t0, $a0, 1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$t0, $zero, L1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$v0, $zero, 1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$ra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L1: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$a0, $a0, -1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fact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$a0, 0($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$ra, 4($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, 8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$v0, $a0, $v0</a:t>
            </a:r>
            <a:b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	$ra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2010" y="1410817"/>
            <a:ext cx="22862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Adjust stack pointer for 2 items</a:t>
            </a:r>
          </a:p>
          <a:p>
            <a:r>
              <a:rPr lang="en-US" sz="1000" dirty="0"/>
              <a:t>Save return address</a:t>
            </a:r>
          </a:p>
          <a:p>
            <a:r>
              <a:rPr lang="en-US" sz="1000" dirty="0"/>
              <a:t>Save argument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1589320" y="1413832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89320" y="3365220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589320" y="2990445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589320" y="3970836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589320" y="1986898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589320" y="2373575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589320" y="4183894"/>
            <a:ext cx="581344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2010" y="2058064"/>
            <a:ext cx="9396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Test for n &lt;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2010" y="2338718"/>
            <a:ext cx="17437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272654" algn="l"/>
              </a:tabLst>
            </a:pPr>
            <a:r>
              <a:rPr lang="en-US" sz="1000" dirty="0"/>
              <a:t>If so, result is 1</a:t>
            </a:r>
          </a:p>
          <a:p>
            <a:pPr>
              <a:tabLst>
                <a:tab pos="272654" algn="l"/>
              </a:tabLst>
            </a:pPr>
            <a:r>
              <a:rPr lang="en-US" sz="1000" dirty="0"/>
              <a:t>	pop 2 items from stack</a:t>
            </a:r>
          </a:p>
          <a:p>
            <a:pPr>
              <a:tabLst>
                <a:tab pos="272654" algn="l"/>
              </a:tabLst>
            </a:pPr>
            <a:r>
              <a:rPr lang="en-US" sz="1000" dirty="0"/>
              <a:t>	and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566" y="2978205"/>
            <a:ext cx="11769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272654" algn="l"/>
              </a:tabLst>
            </a:pPr>
            <a:r>
              <a:rPr lang="en-US" sz="1000" dirty="0"/>
              <a:t>Else decrement n</a:t>
            </a:r>
          </a:p>
          <a:p>
            <a:pPr>
              <a:tabLst>
                <a:tab pos="272654" algn="l"/>
              </a:tabLst>
            </a:pPr>
            <a:r>
              <a:rPr lang="en-US" sz="1000" dirty="0"/>
              <a:t>Recursive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0399" y="3334825"/>
            <a:ext cx="15289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272654" algn="l"/>
              </a:tabLst>
            </a:pPr>
            <a:r>
              <a:rPr lang="en-US" sz="1000" dirty="0"/>
              <a:t>Restore original n</a:t>
            </a:r>
          </a:p>
          <a:p>
            <a:pPr>
              <a:tabLst>
                <a:tab pos="272654" algn="l"/>
              </a:tabLst>
            </a:pPr>
            <a:r>
              <a:rPr lang="en-US" sz="1000" dirty="0"/>
              <a:t>	and return address</a:t>
            </a:r>
          </a:p>
          <a:p>
            <a:pPr>
              <a:tabLst>
                <a:tab pos="272654" algn="l"/>
              </a:tabLst>
            </a:pPr>
            <a:r>
              <a:rPr lang="en-US" sz="1000" dirty="0"/>
              <a:t>Pop 2 items from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2010" y="3966550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Multiply to get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8788" y="4181611"/>
            <a:ext cx="7793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And return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EA0DB2-E29C-4E4C-A00F-2428795D6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9328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Data on the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092" y="748457"/>
            <a:ext cx="5915025" cy="1323624"/>
          </a:xfrm>
        </p:spPr>
        <p:txBody>
          <a:bodyPr>
            <a:noAutofit/>
          </a:bodyPr>
          <a:lstStyle/>
          <a:p>
            <a:r>
              <a:rPr lang="en-US" sz="1800" dirty="0"/>
              <a:t>Local data allocated by </a:t>
            </a:r>
            <a:r>
              <a:rPr lang="en-US" sz="1800" dirty="0" err="1"/>
              <a:t>callee</a:t>
            </a:r>
            <a:endParaRPr lang="en-US" sz="1800" dirty="0"/>
          </a:p>
          <a:p>
            <a:pPr lvl="1"/>
            <a:r>
              <a:rPr lang="en-US" sz="1500" dirty="0"/>
              <a:t>e.g., C automatic variables</a:t>
            </a:r>
          </a:p>
          <a:p>
            <a:r>
              <a:rPr lang="en-US" sz="1800" dirty="0"/>
              <a:t>Procedure frame (activation record)</a:t>
            </a:r>
          </a:p>
          <a:p>
            <a:pPr lvl="1"/>
            <a:r>
              <a:rPr lang="en-US" sz="1500" dirty="0"/>
              <a:t>Used by some compilers to manage stack storage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2359"/>
          <a:stretch/>
        </p:blipFill>
        <p:spPr>
          <a:xfrm>
            <a:off x="1904300" y="2179359"/>
            <a:ext cx="5318141" cy="236704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26665-42F5-43CB-A5A4-ED72FDB1F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2067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732" y="847288"/>
            <a:ext cx="3892119" cy="374149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Text</a:t>
            </a:r>
            <a:r>
              <a:rPr lang="en-US" dirty="0"/>
              <a:t>: program code</a:t>
            </a:r>
          </a:p>
          <a:p>
            <a:r>
              <a:rPr lang="en-US" b="1" dirty="0">
                <a:solidFill>
                  <a:schemeClr val="accent1"/>
                </a:solidFill>
              </a:rPr>
              <a:t>Static data</a:t>
            </a:r>
            <a:r>
              <a:rPr lang="en-US" dirty="0"/>
              <a:t>: global variables</a:t>
            </a:r>
          </a:p>
          <a:p>
            <a:pPr lvl="1"/>
            <a:r>
              <a:rPr lang="en-US" dirty="0"/>
              <a:t>e.g., static variables in C, constant arrays and strings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gp</a:t>
            </a:r>
            <a:r>
              <a:rPr lang="en-US" dirty="0"/>
              <a:t> initialized to address allowing ±offsets into this segment</a:t>
            </a:r>
          </a:p>
          <a:p>
            <a:r>
              <a:rPr lang="en-US" b="1" dirty="0">
                <a:solidFill>
                  <a:schemeClr val="accent1"/>
                </a:solidFill>
              </a:rPr>
              <a:t>Dynamic data</a:t>
            </a:r>
            <a:r>
              <a:rPr lang="en-US" dirty="0"/>
              <a:t>: heap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malloc</a:t>
            </a:r>
            <a:r>
              <a:rPr lang="en-US" dirty="0"/>
              <a:t> in C, new in Java</a:t>
            </a:r>
          </a:p>
          <a:p>
            <a:r>
              <a:rPr lang="en-US" b="1" dirty="0">
                <a:solidFill>
                  <a:schemeClr val="accent1"/>
                </a:solidFill>
              </a:rPr>
              <a:t>Stack</a:t>
            </a:r>
            <a:r>
              <a:rPr lang="en-US" dirty="0"/>
              <a:t>: automatic storage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49" y="1173967"/>
            <a:ext cx="3959316" cy="310441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A346A-3870-40F0-BAF5-10DDD8CF74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94200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8" y="844153"/>
            <a:ext cx="7671732" cy="3671888"/>
          </a:xfrm>
        </p:spPr>
        <p:txBody>
          <a:bodyPr>
            <a:normAutofit/>
          </a:bodyPr>
          <a:lstStyle/>
          <a:p>
            <a:r>
              <a:rPr lang="en-US" dirty="0"/>
              <a:t>Byte-encoded character sets</a:t>
            </a:r>
          </a:p>
          <a:p>
            <a:pPr lvl="1"/>
            <a:r>
              <a:rPr lang="en-US" dirty="0"/>
              <a:t>ASCII: 128 characters</a:t>
            </a:r>
          </a:p>
          <a:p>
            <a:pPr lvl="2"/>
            <a:r>
              <a:rPr lang="en-US" dirty="0"/>
              <a:t>95 graphic, 33 control</a:t>
            </a:r>
          </a:p>
          <a:p>
            <a:pPr lvl="1"/>
            <a:r>
              <a:rPr lang="en-US" dirty="0"/>
              <a:t>Latin-1: 256 characters</a:t>
            </a:r>
          </a:p>
          <a:p>
            <a:pPr lvl="2"/>
            <a:r>
              <a:rPr lang="en-US" dirty="0"/>
              <a:t>ASCII, +96 more graphic characters</a:t>
            </a:r>
          </a:p>
          <a:p>
            <a:r>
              <a:rPr lang="en-US" dirty="0"/>
              <a:t>Unicode: 32-bit character set</a:t>
            </a:r>
          </a:p>
          <a:p>
            <a:pPr lvl="1"/>
            <a:r>
              <a:rPr lang="en-US" dirty="0"/>
              <a:t>Used in Java, C++ wide characters, …</a:t>
            </a:r>
          </a:p>
          <a:p>
            <a:pPr lvl="1"/>
            <a:r>
              <a:rPr lang="en-US" dirty="0"/>
              <a:t>Most of the world’s alphabets, plus symbols</a:t>
            </a:r>
          </a:p>
          <a:p>
            <a:pPr lvl="1"/>
            <a:r>
              <a:rPr lang="en-US" dirty="0"/>
              <a:t>UTF-8, UTF-16: variable-length encodings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20D23-181C-49FC-B8F7-FD2E35C88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8244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Byte/</a:t>
            </a:r>
            <a:r>
              <a:rPr lang="en-US" dirty="0" err="1"/>
              <a:t>Halfword</a:t>
            </a:r>
            <a:r>
              <a:rPr lang="en-US" dirty="0"/>
              <a:t> Operations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3456" y="844153"/>
            <a:ext cx="7663343" cy="3671888"/>
          </a:xfrm>
        </p:spPr>
        <p:txBody>
          <a:bodyPr>
            <a:normAutofit/>
          </a:bodyPr>
          <a:lstStyle/>
          <a:p>
            <a:r>
              <a:rPr lang="en-US" dirty="0"/>
              <a:t>Could use bitwise operations</a:t>
            </a:r>
          </a:p>
          <a:p>
            <a:r>
              <a:rPr lang="en-US" dirty="0"/>
              <a:t>MIPS byte/</a:t>
            </a:r>
            <a:r>
              <a:rPr lang="en-US" dirty="0" err="1"/>
              <a:t>halfword</a:t>
            </a:r>
            <a:r>
              <a:rPr lang="en-US" dirty="0"/>
              <a:t> load/store</a:t>
            </a:r>
          </a:p>
          <a:p>
            <a:pPr lvl="1"/>
            <a:r>
              <a:rPr lang="en-US" dirty="0"/>
              <a:t>String processing is a common case</a:t>
            </a:r>
          </a:p>
          <a:p>
            <a:pPr marL="0" indent="0">
              <a:buNone/>
              <a:tabLst>
                <a:tab pos="2958704" algn="l"/>
              </a:tabLst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Sign extend to 32 bits in </a:t>
            </a:r>
            <a:r>
              <a:rPr lang="en-US" dirty="0" err="1"/>
              <a:t>rt</a:t>
            </a:r>
            <a:endParaRPr lang="en-US" dirty="0"/>
          </a:p>
          <a:p>
            <a:pPr marL="0" indent="0">
              <a:buNone/>
              <a:tabLst>
                <a:tab pos="2958704" algn="l"/>
              </a:tabLst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lbu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lhu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Zero extend to 32 bits in </a:t>
            </a:r>
            <a:r>
              <a:rPr lang="en-US" dirty="0" err="1"/>
              <a:t>rt</a:t>
            </a:r>
            <a:endParaRPr lang="en-US" dirty="0"/>
          </a:p>
          <a:p>
            <a:pPr marL="0" indent="0">
              <a:buNone/>
              <a:tabLst>
                <a:tab pos="2958704" algn="l"/>
              </a:tabLst>
            </a:pP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offset(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Store just rightmost byte/</a:t>
            </a:r>
            <a:r>
              <a:rPr lang="en-US" dirty="0" err="1"/>
              <a:t>halfword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81835-F99D-49D7-A98C-4A651A6B0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40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32-bit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3671888"/>
          </a:xfrm>
        </p:spPr>
        <p:txBody>
          <a:bodyPr>
            <a:normAutofit/>
          </a:bodyPr>
          <a:lstStyle/>
          <a:p>
            <a:r>
              <a:rPr lang="en-US" dirty="0"/>
              <a:t>Most constants are small</a:t>
            </a:r>
          </a:p>
          <a:p>
            <a:pPr lvl="1"/>
            <a:r>
              <a:rPr lang="en-US" dirty="0"/>
              <a:t>16-bit immediate is sufficient</a:t>
            </a:r>
          </a:p>
          <a:p>
            <a:r>
              <a:rPr lang="en-US" dirty="0"/>
              <a:t>For the occasional 32-bit constant</a:t>
            </a: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constant</a:t>
            </a:r>
          </a:p>
          <a:p>
            <a:pPr lvl="1"/>
            <a:r>
              <a:rPr lang="en-US" dirty="0"/>
              <a:t>Copies 16-bit constant to left (upper) 16 bits of </a:t>
            </a:r>
            <a:r>
              <a:rPr lang="en-US" dirty="0" err="1"/>
              <a:t>rt</a:t>
            </a:r>
            <a:endParaRPr lang="en-US" dirty="0"/>
          </a:p>
          <a:p>
            <a:pPr lvl="1"/>
            <a:r>
              <a:rPr lang="en-US" dirty="0"/>
              <a:t>Clears right 16 bits of </a:t>
            </a:r>
            <a:r>
              <a:rPr lang="en-US" dirty="0" err="1"/>
              <a:t>rt</a:t>
            </a:r>
            <a:r>
              <a:rPr lang="en-US" dirty="0"/>
              <a:t> to 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6861" y="3684067"/>
            <a:ext cx="226215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$s0, 61</a:t>
            </a:r>
          </a:p>
          <a:p>
            <a:r>
              <a:rPr lang="en-US" sz="15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$s0, $s0, 2304</a:t>
            </a:r>
            <a:endParaRPr lang="en-U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160047"/>
              </p:ext>
            </p:extLst>
          </p:nvPr>
        </p:nvGraphicFramePr>
        <p:xfrm>
          <a:off x="3429994" y="3658722"/>
          <a:ext cx="4480824" cy="56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40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0000 0000 0011 1101</a:t>
                      </a:r>
                      <a:endParaRPr lang="en-US" sz="10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68580" marR="68580" marT="34290" marB="34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0000 0000 0000 0000</a:t>
                      </a:r>
                      <a:endParaRPr lang="en-US" sz="10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0000 0000 0011 1101</a:t>
                      </a:r>
                      <a:endParaRPr lang="en-US" sz="10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 Unicode MS" panose="020B0604020202020204" pitchFamily="34" charset="-128"/>
                          <a:ea typeface="Arial Unicode MS" panose="020B0604020202020204" pitchFamily="34" charset="-128"/>
                          <a:cs typeface="Arial Unicode MS" panose="020B0604020202020204" pitchFamily="34" charset="-128"/>
                        </a:rPr>
                        <a:t>0000 1001 0000 0000</a:t>
                      </a:r>
                      <a:endParaRPr lang="en-US" sz="1000" dirty="0">
                        <a:latin typeface="Arial Unicode MS" panose="020B0604020202020204" pitchFamily="34" charset="-128"/>
                        <a:ea typeface="Arial Unicode MS" panose="020B0604020202020204" pitchFamily="34" charset="-128"/>
                        <a:cs typeface="Arial Unicode MS" panose="020B0604020202020204" pitchFamily="34" charset="-128"/>
                      </a:endParaRPr>
                    </a:p>
                  </a:txBody>
                  <a:tcPr marL="68580" marR="68580" marT="34290" marB="3429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346E19-E105-4CC9-AB2C-FB2718331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609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705288" cy="36718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Branch instructions specify</a:t>
            </a:r>
          </a:p>
          <a:p>
            <a:pPr lvl="1"/>
            <a:r>
              <a:rPr lang="en-US" dirty="0"/>
              <a:t>Opcode, two registers, target address</a:t>
            </a:r>
          </a:p>
          <a:p>
            <a:r>
              <a:rPr lang="en-US" dirty="0"/>
              <a:t>Most branch targets are near branch</a:t>
            </a:r>
          </a:p>
          <a:p>
            <a:pPr lvl="1"/>
            <a:r>
              <a:rPr lang="en-US" dirty="0"/>
              <a:t>Forward or backward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PC-relative addressing</a:t>
            </a:r>
          </a:p>
          <a:p>
            <a:pPr lvl="2"/>
            <a:r>
              <a:rPr lang="en-US" dirty="0"/>
              <a:t>Target address = PC + offset × 4</a:t>
            </a:r>
          </a:p>
          <a:p>
            <a:pPr lvl="2"/>
            <a:r>
              <a:rPr lang="en-US" dirty="0"/>
              <a:t>PC already incremented by 4 by this time</a:t>
            </a:r>
          </a:p>
          <a:p>
            <a:pPr lvl="1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2286000" y="2614570"/>
          <a:ext cx="4572000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rt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constant</a:t>
                      </a:r>
                      <a:r>
                        <a:rPr lang="en-US" sz="1000" baseline="0" dirty="0"/>
                        <a:t> or address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5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FE811-AD22-469D-927A-5B2EFBD32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1575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Specifying Branch Destinations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956" y="844153"/>
            <a:ext cx="7738844" cy="3671888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Program Counter</a:t>
            </a:r>
            <a:r>
              <a:rPr lang="en-US" sz="2000" dirty="0"/>
              <a:t> (PC) gets updated (PC+4) when fetched.</a:t>
            </a:r>
          </a:p>
          <a:p>
            <a:r>
              <a:rPr lang="en-US" sz="2000" dirty="0"/>
              <a:t>Branch distance is limited to −2</a:t>
            </a:r>
            <a:r>
              <a:rPr lang="en-US" sz="2000" baseline="30000" dirty="0"/>
              <a:t>15</a:t>
            </a:r>
            <a:r>
              <a:rPr lang="en-US" sz="2000" dirty="0"/>
              <a:t> to +2</a:t>
            </a:r>
            <a:r>
              <a:rPr lang="en-US" sz="2000" baseline="30000" dirty="0"/>
              <a:t>15</a:t>
            </a:r>
            <a:r>
              <a:rPr lang="en-US" sz="2000" dirty="0"/>
              <a:t>−1 (word) instructions away.</a:t>
            </a:r>
          </a:p>
        </p:txBody>
      </p:sp>
      <p:grpSp>
        <p:nvGrpSpPr>
          <p:cNvPr id="91" name="Group 90"/>
          <p:cNvGrpSpPr/>
          <p:nvPr/>
        </p:nvGrpSpPr>
        <p:grpSpPr>
          <a:xfrm>
            <a:off x="1987985" y="1901240"/>
            <a:ext cx="5063193" cy="2359663"/>
            <a:chOff x="1237470" y="3299827"/>
            <a:chExt cx="6750925" cy="3146216"/>
          </a:xfrm>
        </p:grpSpPr>
        <p:grpSp>
          <p:nvGrpSpPr>
            <p:cNvPr id="9" name="Group 8"/>
            <p:cNvGrpSpPr/>
            <p:nvPr/>
          </p:nvGrpSpPr>
          <p:grpSpPr>
            <a:xfrm>
              <a:off x="2846487" y="3657004"/>
              <a:ext cx="1440000" cy="252000"/>
              <a:chOff x="3563332" y="3669025"/>
              <a:chExt cx="1440000" cy="2520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563332" y="3669025"/>
                <a:ext cx="1440000" cy="25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offset</a:t>
                </a: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3738563" y="3669025"/>
                <a:ext cx="0" cy="25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/>
            <p:cNvGrpSpPr/>
            <p:nvPr/>
          </p:nvGrpSpPr>
          <p:grpSpPr>
            <a:xfrm>
              <a:off x="1406487" y="4171354"/>
              <a:ext cx="3296393" cy="252000"/>
              <a:chOff x="2075707" y="3992875"/>
              <a:chExt cx="3296393" cy="25200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2075707" y="3992875"/>
                <a:ext cx="2880000" cy="252000"/>
                <a:chOff x="2123332" y="3669025"/>
                <a:chExt cx="2880000" cy="252000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3563332" y="3669025"/>
                  <a:ext cx="1440000" cy="252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3738563" y="3669025"/>
                  <a:ext cx="0" cy="252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Rectangle 15"/>
                <p:cNvSpPr/>
                <p:nvPr/>
              </p:nvSpPr>
              <p:spPr>
                <a:xfrm>
                  <a:off x="2123332" y="3669025"/>
                  <a:ext cx="1440000" cy="25200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  <p:sp>
            <p:nvSpPr>
              <p:cNvPr id="14" name="Rectangle 13"/>
              <p:cNvSpPr/>
              <p:nvPr/>
            </p:nvSpPr>
            <p:spPr>
              <a:xfrm>
                <a:off x="4955707" y="3992875"/>
                <a:ext cx="416393" cy="25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00</a:t>
                </a: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237470" y="3692400"/>
              <a:ext cx="154144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b="1" dirty="0">
                  <a:solidFill>
                    <a:schemeClr val="accent1"/>
                  </a:solidFill>
                </a:rPr>
                <a:t>sign-extend</a:t>
              </a:r>
            </a:p>
          </p:txBody>
        </p:sp>
        <p:sp>
          <p:nvSpPr>
            <p:cNvPr id="21" name="Arc 20"/>
            <p:cNvSpPr/>
            <p:nvPr/>
          </p:nvSpPr>
          <p:spPr>
            <a:xfrm>
              <a:off x="2135417" y="4015250"/>
              <a:ext cx="791066" cy="535468"/>
            </a:xfrm>
            <a:prstGeom prst="arc">
              <a:avLst>
                <a:gd name="adj1" fmla="val 11236610"/>
                <a:gd name="adj2" fmla="val 0"/>
              </a:avLst>
            </a:prstGeom>
            <a:ln w="25400"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743185" y="3299827"/>
              <a:ext cx="181075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b="1" dirty="0">
                  <a:solidFill>
                    <a:schemeClr val="accent1"/>
                  </a:solidFill>
                </a:rPr>
                <a:t>16-bit address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406487" y="5460531"/>
              <a:ext cx="3296393" cy="25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PC</a:t>
              </a:r>
            </a:p>
          </p:txBody>
        </p:sp>
        <p:grpSp>
          <p:nvGrpSpPr>
            <p:cNvPr id="33" name="Group 32"/>
            <p:cNvGrpSpPr/>
            <p:nvPr/>
          </p:nvGrpSpPr>
          <p:grpSpPr>
            <a:xfrm rot="16200000">
              <a:off x="6344793" y="4696241"/>
              <a:ext cx="676275" cy="449960"/>
              <a:chOff x="6810375" y="4348427"/>
              <a:chExt cx="676275" cy="449960"/>
            </a:xfrm>
          </p:grpSpPr>
          <p:grpSp>
            <p:nvGrpSpPr>
              <p:cNvPr id="31" name="Group 30"/>
              <p:cNvGrpSpPr/>
              <p:nvPr/>
            </p:nvGrpSpPr>
            <p:grpSpPr>
              <a:xfrm>
                <a:off x="6810375" y="4348427"/>
                <a:ext cx="676275" cy="363437"/>
                <a:chOff x="6810375" y="4348427"/>
                <a:chExt cx="676275" cy="363437"/>
              </a:xfrm>
            </p:grpSpPr>
            <p:sp>
              <p:nvSpPr>
                <p:cNvPr id="27" name="Trapezoid 26"/>
                <p:cNvSpPr/>
                <p:nvPr/>
              </p:nvSpPr>
              <p:spPr>
                <a:xfrm flipV="1">
                  <a:off x="6810375" y="4395364"/>
                  <a:ext cx="676275" cy="316500"/>
                </a:xfrm>
                <a:prstGeom prst="trapezoid">
                  <a:avLst>
                    <a:gd name="adj" fmla="val 51333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30" name="Group 29"/>
                <p:cNvGrpSpPr/>
                <p:nvPr/>
              </p:nvGrpSpPr>
              <p:grpSpPr>
                <a:xfrm>
                  <a:off x="7100887" y="4348427"/>
                  <a:ext cx="95249" cy="136372"/>
                  <a:chOff x="7100887" y="4438914"/>
                  <a:chExt cx="95249" cy="136372"/>
                </a:xfrm>
              </p:grpSpPr>
              <p:sp>
                <p:nvSpPr>
                  <p:cNvPr id="29" name="Isosceles Triangle 28"/>
                  <p:cNvSpPr/>
                  <p:nvPr/>
                </p:nvSpPr>
                <p:spPr>
                  <a:xfrm flipV="1">
                    <a:off x="7100887" y="4493899"/>
                    <a:ext cx="95249" cy="81387"/>
                  </a:xfrm>
                  <a:prstGeom prst="triangl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28" name="Isosceles Triangle 27"/>
                  <p:cNvSpPr/>
                  <p:nvPr/>
                </p:nvSpPr>
                <p:spPr>
                  <a:xfrm flipV="1">
                    <a:off x="7100887" y="4438914"/>
                    <a:ext cx="95249" cy="81387"/>
                  </a:xfrm>
                  <a:prstGeom prst="triangl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</p:grpSp>
          <p:sp>
            <p:nvSpPr>
              <p:cNvPr id="32" name="TextBox 31"/>
              <p:cNvSpPr txBox="1"/>
              <p:nvPr/>
            </p:nvSpPr>
            <p:spPr>
              <a:xfrm>
                <a:off x="6958074" y="4398278"/>
                <a:ext cx="38087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/>
                  <a:t>+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 rot="16200000">
              <a:off x="5256192" y="5149414"/>
              <a:ext cx="676275" cy="449960"/>
              <a:chOff x="6810375" y="4348427"/>
              <a:chExt cx="676275" cy="449960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6810375" y="4348427"/>
                <a:ext cx="676275" cy="363437"/>
                <a:chOff x="6810375" y="4348427"/>
                <a:chExt cx="676275" cy="363437"/>
              </a:xfrm>
            </p:grpSpPr>
            <p:sp>
              <p:nvSpPr>
                <p:cNvPr id="37" name="Trapezoid 36"/>
                <p:cNvSpPr/>
                <p:nvPr/>
              </p:nvSpPr>
              <p:spPr>
                <a:xfrm flipV="1">
                  <a:off x="6810375" y="4395364"/>
                  <a:ext cx="676275" cy="316500"/>
                </a:xfrm>
                <a:prstGeom prst="trapezoid">
                  <a:avLst>
                    <a:gd name="adj" fmla="val 51333"/>
                  </a:avLst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grpSp>
              <p:nvGrpSpPr>
                <p:cNvPr id="38" name="Group 37"/>
                <p:cNvGrpSpPr/>
                <p:nvPr/>
              </p:nvGrpSpPr>
              <p:grpSpPr>
                <a:xfrm>
                  <a:off x="7100887" y="4348427"/>
                  <a:ext cx="95249" cy="136372"/>
                  <a:chOff x="7100887" y="4438914"/>
                  <a:chExt cx="95249" cy="136372"/>
                </a:xfrm>
              </p:grpSpPr>
              <p:sp>
                <p:nvSpPr>
                  <p:cNvPr id="39" name="Isosceles Triangle 38"/>
                  <p:cNvSpPr/>
                  <p:nvPr/>
                </p:nvSpPr>
                <p:spPr>
                  <a:xfrm flipV="1">
                    <a:off x="7100887" y="4493899"/>
                    <a:ext cx="95249" cy="81387"/>
                  </a:xfrm>
                  <a:prstGeom prst="triangl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40" name="Isosceles Triangle 39"/>
                  <p:cNvSpPr/>
                  <p:nvPr/>
                </p:nvSpPr>
                <p:spPr>
                  <a:xfrm flipV="1">
                    <a:off x="7100887" y="4438914"/>
                    <a:ext cx="95249" cy="81387"/>
                  </a:xfrm>
                  <a:prstGeom prst="triangle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</p:grpSp>
          </p:grpSp>
          <p:sp>
            <p:nvSpPr>
              <p:cNvPr id="36" name="TextBox 35"/>
              <p:cNvSpPr txBox="1"/>
              <p:nvPr/>
            </p:nvSpPr>
            <p:spPr>
              <a:xfrm>
                <a:off x="6958074" y="4398278"/>
                <a:ext cx="38087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/>
                  <a:t>+</a:t>
                </a:r>
              </a:p>
            </p:txBody>
          </p:sp>
        </p:grpSp>
        <p:cxnSp>
          <p:nvCxnSpPr>
            <p:cNvPr id="42" name="Straight Arrow Connector 41"/>
            <p:cNvCxnSpPr>
              <a:stCxn id="6" idx="2"/>
              <a:endCxn id="11" idx="0"/>
            </p:cNvCxnSpPr>
            <p:nvPr/>
          </p:nvCxnSpPr>
          <p:spPr>
            <a:xfrm>
              <a:off x="3566487" y="3909004"/>
              <a:ext cx="0" cy="2623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4702880" y="5586531"/>
              <a:ext cx="70716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514100" y="3964249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558525" y="3902442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 dirty="0">
                  <a:solidFill>
                    <a:schemeClr val="accent1"/>
                  </a:solidFill>
                </a:rPr>
                <a:t>16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>
              <a:off x="4702880" y="5159811"/>
              <a:ext cx="70716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4855510" y="5329727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32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 flipH="1">
              <a:off x="4972390" y="5538880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 flipH="1">
              <a:off x="4972390" y="5104193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4855510" y="4891132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32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363803" y="5031955"/>
              <a:ext cx="416393" cy="252000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4</a:t>
              </a: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>
              <a:off x="3048000" y="4739773"/>
              <a:ext cx="345064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6115050" y="5104193"/>
              <a:ext cx="383594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5732787" y="5376481"/>
              <a:ext cx="383594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V="1">
              <a:off x="6115050" y="5095334"/>
              <a:ext cx="0" cy="286291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3054683" y="4429125"/>
              <a:ext cx="0" cy="310649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H="1">
              <a:off x="3547450" y="4696633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430570" y="4483572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32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 flipV="1">
              <a:off x="3054683" y="5712531"/>
              <a:ext cx="0" cy="35171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>
              <a:off x="3048000" y="6064250"/>
              <a:ext cx="4152900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>
              <a:off x="6821388" y="4935126"/>
              <a:ext cx="383594" cy="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 flipV="1">
              <a:off x="7201172" y="4930593"/>
              <a:ext cx="0" cy="1138262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>
              <a:off x="6994453" y="4874104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6877573" y="4661043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32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702880" y="6045934"/>
              <a:ext cx="3285515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b="1" dirty="0">
                  <a:solidFill>
                    <a:schemeClr val="accent1"/>
                  </a:solidFill>
                </a:rPr>
                <a:t>Branch destination address</a:t>
              </a:r>
            </a:p>
          </p:txBody>
        </p:sp>
        <p:cxnSp>
          <p:nvCxnSpPr>
            <p:cNvPr id="88" name="Straight Arrow Connector 87"/>
            <p:cNvCxnSpPr/>
            <p:nvPr/>
          </p:nvCxnSpPr>
          <p:spPr>
            <a:xfrm flipH="1">
              <a:off x="5874713" y="5323551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5757833" y="5110490"/>
              <a:ext cx="40438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32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A9B961-53DC-41F4-9FF8-89D87699A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84994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122" y="844153"/>
            <a:ext cx="7713677" cy="2737946"/>
          </a:xfrm>
        </p:spPr>
        <p:txBody>
          <a:bodyPr/>
          <a:lstStyle/>
          <a:p>
            <a:r>
              <a:rPr lang="en-US" dirty="0"/>
              <a:t>Jump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/>
              <a:t> and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/>
              <a:t>) targets could be anywhere in text segment</a:t>
            </a:r>
          </a:p>
          <a:p>
            <a:pPr lvl="1"/>
            <a:r>
              <a:rPr lang="en-US" dirty="0"/>
              <a:t>Encode full address in instruction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Pseudodirect</a:t>
            </a:r>
            <a:r>
              <a:rPr lang="en-US" dirty="0"/>
              <a:t> jump addressing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2286000" y="2384509"/>
          <a:ext cx="4572000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op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/>
                        <a:t>address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887121"/>
              </p:ext>
            </p:extLst>
          </p:nvPr>
        </p:nvGraphicFramePr>
        <p:xfrm>
          <a:off x="2286001" y="3759505"/>
          <a:ext cx="4571999" cy="556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24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6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PC[31:28]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/>
                        <a:t>address</a:t>
                      </a:r>
                      <a:endParaRPr lang="en-US" sz="1000" dirty="0"/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00</a:t>
                      </a:r>
                    </a:p>
                  </a:txBody>
                  <a:tcPr marL="68580" marR="68580" marT="34290" marB="3429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26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 bits</a:t>
                      </a:r>
                    </a:p>
                  </a:txBody>
                  <a:tcPr marL="68580" marR="68580" marT="34290" marB="3429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A48304E-32C2-44F8-A3C0-6D2A8C9D0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494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Addressing</a:t>
            </a:r>
          </a:p>
        </p:txBody>
      </p:sp>
      <p:sp>
        <p:nvSpPr>
          <p:cNvPr id="75" name="Content Placeholder 74"/>
          <p:cNvSpPr>
            <a:spLocks noGrp="1"/>
          </p:cNvSpPr>
          <p:nvPr>
            <p:ph idx="1"/>
          </p:nvPr>
        </p:nvSpPr>
        <p:spPr>
          <a:xfrm>
            <a:off x="964734" y="844153"/>
            <a:ext cx="7722066" cy="640698"/>
          </a:xfrm>
        </p:spPr>
        <p:txBody>
          <a:bodyPr>
            <a:normAutofit/>
          </a:bodyPr>
          <a:lstStyle/>
          <a:p>
            <a:r>
              <a:rPr lang="en-US" dirty="0"/>
              <a:t>Target address must be within the 256-MB region.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1678874" y="1857204"/>
            <a:ext cx="5871217" cy="2656073"/>
            <a:chOff x="1005318" y="2588126"/>
            <a:chExt cx="7194921" cy="3146216"/>
          </a:xfrm>
        </p:grpSpPr>
        <p:grpSp>
          <p:nvGrpSpPr>
            <p:cNvPr id="6" name="Group 5"/>
            <p:cNvGrpSpPr/>
            <p:nvPr/>
          </p:nvGrpSpPr>
          <p:grpSpPr>
            <a:xfrm>
              <a:off x="1005318" y="2588126"/>
              <a:ext cx="7194921" cy="3146216"/>
              <a:chOff x="613939" y="3299827"/>
              <a:chExt cx="7194921" cy="3146216"/>
            </a:xfrm>
          </p:grpSpPr>
          <p:sp>
            <p:nvSpPr>
              <p:cNvPr id="58" name="Rectangle 57"/>
              <p:cNvSpPr/>
              <p:nvPr/>
            </p:nvSpPr>
            <p:spPr>
              <a:xfrm>
                <a:off x="1902455" y="3657004"/>
                <a:ext cx="2384032" cy="25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address</a:t>
                </a:r>
              </a:p>
            </p:txBody>
          </p:sp>
          <p:grpSp>
            <p:nvGrpSpPr>
              <p:cNvPr id="8" name="Group 7"/>
              <p:cNvGrpSpPr/>
              <p:nvPr/>
            </p:nvGrpSpPr>
            <p:grpSpPr>
              <a:xfrm>
                <a:off x="1406487" y="4171354"/>
                <a:ext cx="3523877" cy="1541177"/>
                <a:chOff x="2075707" y="3992875"/>
                <a:chExt cx="3523877" cy="1541177"/>
              </a:xfrm>
            </p:grpSpPr>
            <p:grpSp>
              <p:nvGrpSpPr>
                <p:cNvPr id="53" name="Group 52"/>
                <p:cNvGrpSpPr/>
                <p:nvPr/>
              </p:nvGrpSpPr>
              <p:grpSpPr>
                <a:xfrm>
                  <a:off x="2075707" y="3992875"/>
                  <a:ext cx="2880000" cy="1541177"/>
                  <a:chOff x="2123332" y="3669025"/>
                  <a:chExt cx="2880000" cy="1541177"/>
                </a:xfrm>
              </p:grpSpPr>
              <p:sp>
                <p:nvSpPr>
                  <p:cNvPr id="55" name="Rectangle 54"/>
                  <p:cNvSpPr/>
                  <p:nvPr/>
                </p:nvSpPr>
                <p:spPr>
                  <a:xfrm>
                    <a:off x="2619300" y="3669025"/>
                    <a:ext cx="2384032" cy="252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>
                  <a:xfrm>
                    <a:off x="2123332" y="3669025"/>
                    <a:ext cx="495968" cy="252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0"/>
                  </a:p>
                </p:txBody>
              </p:sp>
              <p:cxnSp>
                <p:nvCxnSpPr>
                  <p:cNvPr id="60" name="Straight Connector 59"/>
                  <p:cNvCxnSpPr/>
                  <p:nvPr/>
                </p:nvCxnSpPr>
                <p:spPr>
                  <a:xfrm>
                    <a:off x="2619300" y="4958202"/>
                    <a:ext cx="0" cy="2520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4" name="Rectangle 53"/>
                <p:cNvSpPr/>
                <p:nvPr/>
              </p:nvSpPr>
              <p:spPr>
                <a:xfrm>
                  <a:off x="4955707" y="3992875"/>
                  <a:ext cx="643877" cy="257465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>
                      <a:solidFill>
                        <a:schemeClr val="tx1"/>
                      </a:solidFill>
                    </a:rPr>
                    <a:t>00</a:t>
                  </a: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2188347" y="3299827"/>
                <a:ext cx="1810752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>
                    <a:solidFill>
                      <a:schemeClr val="accent1"/>
                    </a:solidFill>
                  </a:rPr>
                  <a:t>26-bit address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406487" y="5460531"/>
                <a:ext cx="3296393" cy="252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PC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>
                <a:off x="3068799" y="3909004"/>
                <a:ext cx="0" cy="26235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>
                <a:off x="4702880" y="5586531"/>
                <a:ext cx="707163" cy="0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3016412" y="3964249"/>
                <a:ext cx="108000" cy="108000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/>
              <p:cNvSpPr txBox="1"/>
              <p:nvPr/>
            </p:nvSpPr>
            <p:spPr>
              <a:xfrm>
                <a:off x="3060836" y="3902442"/>
                <a:ext cx="404384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25" b="1" dirty="0">
                    <a:solidFill>
                      <a:schemeClr val="accent1"/>
                    </a:solidFill>
                  </a:rPr>
                  <a:t>26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4855510" y="5329727"/>
                <a:ext cx="404384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25" b="1">
                    <a:solidFill>
                      <a:schemeClr val="accent1"/>
                    </a:solidFill>
                  </a:rPr>
                  <a:t>32</a:t>
                </a:r>
                <a:endParaRPr lang="en-US" sz="825" b="1" dirty="0"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H="1">
                <a:off x="4972390" y="5538880"/>
                <a:ext cx="108000" cy="108000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/>
              <p:nvPr/>
            </p:nvCxnSpPr>
            <p:spPr>
              <a:xfrm>
                <a:off x="3048000" y="4739773"/>
                <a:ext cx="4160674" cy="0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V="1">
                <a:off x="3054683" y="4429125"/>
                <a:ext cx="0" cy="310649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3547450" y="4696633"/>
                <a:ext cx="108000" cy="108000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3430570" y="4483572"/>
                <a:ext cx="404384" cy="292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25" b="1" dirty="0">
                    <a:solidFill>
                      <a:schemeClr val="accent1"/>
                    </a:solidFill>
                  </a:rPr>
                  <a:t>32</a:t>
                </a:r>
              </a:p>
            </p:txBody>
          </p:sp>
          <p:cxnSp>
            <p:nvCxnSpPr>
              <p:cNvPr id="32" name="Straight Arrow Connector 31"/>
              <p:cNvCxnSpPr/>
              <p:nvPr/>
            </p:nvCxnSpPr>
            <p:spPr>
              <a:xfrm flipV="1">
                <a:off x="3054683" y="5712531"/>
                <a:ext cx="0" cy="351719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3048000" y="6064250"/>
                <a:ext cx="4152900" cy="0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 flipV="1">
                <a:off x="7201172" y="4737601"/>
                <a:ext cx="0" cy="1331254"/>
              </a:xfrm>
              <a:prstGeom prst="straightConnector1">
                <a:avLst/>
              </a:prstGeom>
              <a:ln w="190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/>
              <p:cNvSpPr txBox="1"/>
              <p:nvPr/>
            </p:nvSpPr>
            <p:spPr>
              <a:xfrm>
                <a:off x="4702881" y="6045934"/>
                <a:ext cx="3105979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>
                    <a:solidFill>
                      <a:schemeClr val="accent1"/>
                    </a:solidFill>
                  </a:rPr>
                  <a:t>Jump destination address</a:t>
                </a:r>
              </a:p>
            </p:txBody>
          </p:sp>
          <p:cxnSp>
            <p:nvCxnSpPr>
              <p:cNvPr id="70" name="Straight Arrow Connector 69"/>
              <p:cNvCxnSpPr/>
              <p:nvPr/>
            </p:nvCxnSpPr>
            <p:spPr>
              <a:xfrm flipV="1">
                <a:off x="1637363" y="4430261"/>
                <a:ext cx="0" cy="103027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613939" y="3798252"/>
                <a:ext cx="1310615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b="1" dirty="0">
                    <a:solidFill>
                      <a:schemeClr val="accent1"/>
                    </a:solidFill>
                  </a:rPr>
                  <a:t>PC[31:28]</a:t>
                </a:r>
              </a:p>
            </p:txBody>
          </p:sp>
        </p:grpSp>
        <p:cxnSp>
          <p:nvCxnSpPr>
            <p:cNvPr id="72" name="Straight Arrow Connector 71"/>
            <p:cNvCxnSpPr/>
            <p:nvPr/>
          </p:nvCxnSpPr>
          <p:spPr>
            <a:xfrm flipH="1">
              <a:off x="1974862" y="4162488"/>
              <a:ext cx="108000" cy="108000"/>
            </a:xfrm>
            <a:prstGeom prst="straightConnector1">
              <a:avLst/>
            </a:prstGeom>
            <a:ln w="190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2031827" y="4093241"/>
              <a:ext cx="32530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25" b="1">
                  <a:solidFill>
                    <a:schemeClr val="accent1"/>
                  </a:solidFill>
                </a:rPr>
                <a:t>4</a:t>
              </a:r>
              <a:endParaRPr lang="en-US" sz="825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FA548B-C7BE-4EED-9D01-FF464D04F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1718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Far Away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44153"/>
            <a:ext cx="7696899" cy="3671888"/>
          </a:xfrm>
        </p:spPr>
        <p:txBody>
          <a:bodyPr/>
          <a:lstStyle/>
          <a:p>
            <a:r>
              <a:rPr lang="en-US" dirty="0"/>
              <a:t>If branch target is too far to encode with 16-bit offset, assembler rewrites the code: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$s0, $s1, L1 </a:t>
            </a:r>
          </a:p>
          <a:p>
            <a:pPr marL="133350" indent="0">
              <a:buNone/>
            </a:pPr>
            <a:r>
              <a:rPr lang="en-US" dirty="0"/>
              <a:t>may be replaced by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$s0,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$s1, L2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L1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L2: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...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D474D-6BBA-4A02-9A37-720ED51A05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32324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Mode Summary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826" y="849228"/>
            <a:ext cx="3074077" cy="367243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6DC6D4-0333-4D04-8CBC-2F33A30CB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0364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Code Translation </a:t>
            </a:r>
            <a:r>
              <a:rPr lang="en-US" dirty="0" err="1"/>
              <a:t>Hierachy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88" y="916065"/>
            <a:ext cx="4809713" cy="3510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6AF75C0-9621-40CB-AB7D-9F4B1BE97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090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MIPS Organization So Far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78" y="966399"/>
            <a:ext cx="5663267" cy="351000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3122A78-3554-41C7-8FB5-5A9215CE9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980468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2547</TotalTime>
  <Words>3060</Words>
  <Application>Microsoft Office PowerPoint</Application>
  <PresentationFormat>全屏显示(16:9)</PresentationFormat>
  <Paragraphs>953</Paragraphs>
  <Slides>67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5" baseType="lpstr">
      <vt:lpstr>Arial Unicode MS</vt:lpstr>
      <vt:lpstr>MS Sans Serif</vt:lpstr>
      <vt:lpstr>Arial</vt:lpstr>
      <vt:lpstr>Calibri</vt:lpstr>
      <vt:lpstr>Courier New</vt:lpstr>
      <vt:lpstr>Symbol</vt:lpstr>
      <vt:lpstr>Wingdings</vt:lpstr>
      <vt:lpstr>NTHU UniCloud</vt:lpstr>
      <vt:lpstr>CSC3050 – Computer Architecture</vt:lpstr>
      <vt:lpstr>Two Key Principles of Machine Design</vt:lpstr>
      <vt:lpstr>Stored-Program Concept</vt:lpstr>
      <vt:lpstr>Assembly Language Instructions</vt:lpstr>
      <vt:lpstr>CISC vs. RISC</vt:lpstr>
      <vt:lpstr>RISC – Reduced Instruction Set Computer</vt:lpstr>
      <vt:lpstr>MIPS (RISC) Design Principles</vt:lpstr>
      <vt:lpstr>MIPS ISA</vt:lpstr>
      <vt:lpstr>MIPS Registers (1)</vt:lpstr>
      <vt:lpstr>MIPS Registers (2)</vt:lpstr>
      <vt:lpstr>MIPS Register Convention</vt:lpstr>
      <vt:lpstr>Arithmetic Operations</vt:lpstr>
      <vt:lpstr>Arithmetic Example</vt:lpstr>
      <vt:lpstr>Register Operands</vt:lpstr>
      <vt:lpstr>Memory Operands</vt:lpstr>
      <vt:lpstr>Big Endian / Little Endian</vt:lpstr>
      <vt:lpstr>Memory Operand Example (1)</vt:lpstr>
      <vt:lpstr>Memory Operand Example (2)</vt:lpstr>
      <vt:lpstr>Registers vs. Memory</vt:lpstr>
      <vt:lpstr>Immediate Operands</vt:lpstr>
      <vt:lpstr>The Constant Zero</vt:lpstr>
      <vt:lpstr>Binary Integers</vt:lpstr>
      <vt:lpstr>Sign Extension</vt:lpstr>
      <vt:lpstr>MIPS ISA</vt:lpstr>
      <vt:lpstr>MIPS Instruction Fields</vt:lpstr>
      <vt:lpstr>R-format Example</vt:lpstr>
      <vt:lpstr>MIPS I-format Instructions</vt:lpstr>
      <vt:lpstr>Load/Store (I-format)</vt:lpstr>
      <vt:lpstr>MIPS Instruction Encoding</vt:lpstr>
      <vt:lpstr>Translating C Code to Machine Code (1)</vt:lpstr>
      <vt:lpstr>Translating C Code to Machine Code (2)</vt:lpstr>
      <vt:lpstr>Logical Operations</vt:lpstr>
      <vt:lpstr>Shift Operations</vt:lpstr>
      <vt:lpstr>AND Operations </vt:lpstr>
      <vt:lpstr>OR Operations</vt:lpstr>
      <vt:lpstr>NOT Operations</vt:lpstr>
      <vt:lpstr>MIPS Logical Operations</vt:lpstr>
      <vt:lpstr>Conditional Operations</vt:lpstr>
      <vt:lpstr>Compiling If Statements</vt:lpstr>
      <vt:lpstr>Compiling Loop Statements</vt:lpstr>
      <vt:lpstr>Basic Blocks</vt:lpstr>
      <vt:lpstr>More Conditional Operations</vt:lpstr>
      <vt:lpstr>Branch Instruction Design</vt:lpstr>
      <vt:lpstr>Signed vs. Unsigned</vt:lpstr>
      <vt:lpstr>Bounds Check Shortcut </vt:lpstr>
      <vt:lpstr>Procedure Calling</vt:lpstr>
      <vt:lpstr>Register Usage </vt:lpstr>
      <vt:lpstr>Procedure Call Instructions </vt:lpstr>
      <vt:lpstr>Leaf Procedure Example（1）</vt:lpstr>
      <vt:lpstr>Leaf Procedure Example（2）</vt:lpstr>
      <vt:lpstr>Stack Layout</vt:lpstr>
      <vt:lpstr>Non-Leaf Procedures</vt:lpstr>
      <vt:lpstr>Non-Leaf Procedure Example (1) </vt:lpstr>
      <vt:lpstr>Non-Leaf Procedure Example (2)</vt:lpstr>
      <vt:lpstr>Local Data on the Stack</vt:lpstr>
      <vt:lpstr>Memory Layout</vt:lpstr>
      <vt:lpstr>Character Data</vt:lpstr>
      <vt:lpstr>Byte/Halfword Operations </vt:lpstr>
      <vt:lpstr>32-bit Constants</vt:lpstr>
      <vt:lpstr>Branch Addressing</vt:lpstr>
      <vt:lpstr>Specifying Branch Destinations </vt:lpstr>
      <vt:lpstr>Jump Addressing</vt:lpstr>
      <vt:lpstr>Jump Addressing</vt:lpstr>
      <vt:lpstr>Branching Far Away </vt:lpstr>
      <vt:lpstr>Addressing Mode Summary</vt:lpstr>
      <vt:lpstr>C Code Translation Hierachy</vt:lpstr>
      <vt:lpstr>MIPS Organization So Far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264</cp:revision>
  <dcterms:created xsi:type="dcterms:W3CDTF">2015-06-05T07:23:35Z</dcterms:created>
  <dcterms:modified xsi:type="dcterms:W3CDTF">2019-02-25T00:37:58Z</dcterms:modified>
</cp:coreProperties>
</file>