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5"/>
  </p:notesMasterIdLst>
  <p:handoutMasterIdLst>
    <p:handoutMasterId r:id="rId46"/>
  </p:handoutMasterIdLst>
  <p:sldIdLst>
    <p:sldId id="256" r:id="rId2"/>
    <p:sldId id="257" r:id="rId3"/>
    <p:sldId id="312" r:id="rId4"/>
    <p:sldId id="263" r:id="rId5"/>
    <p:sldId id="264" r:id="rId6"/>
    <p:sldId id="259" r:id="rId7"/>
    <p:sldId id="262" r:id="rId8"/>
    <p:sldId id="281" r:id="rId9"/>
    <p:sldId id="265" r:id="rId10"/>
    <p:sldId id="266" r:id="rId11"/>
    <p:sldId id="260" r:id="rId12"/>
    <p:sldId id="261" r:id="rId13"/>
    <p:sldId id="267" r:id="rId14"/>
    <p:sldId id="268" r:id="rId15"/>
    <p:sldId id="270" r:id="rId16"/>
    <p:sldId id="275" r:id="rId17"/>
    <p:sldId id="276" r:id="rId18"/>
    <p:sldId id="277" r:id="rId19"/>
    <p:sldId id="278" r:id="rId20"/>
    <p:sldId id="279" r:id="rId21"/>
    <p:sldId id="283" r:id="rId22"/>
    <p:sldId id="309" r:id="rId23"/>
    <p:sldId id="284" r:id="rId24"/>
    <p:sldId id="286" r:id="rId25"/>
    <p:sldId id="289" r:id="rId26"/>
    <p:sldId id="290" r:id="rId27"/>
    <p:sldId id="291" r:id="rId28"/>
    <p:sldId id="294" r:id="rId29"/>
    <p:sldId id="292" r:id="rId30"/>
    <p:sldId id="293" r:id="rId31"/>
    <p:sldId id="295" r:id="rId32"/>
    <p:sldId id="296" r:id="rId33"/>
    <p:sldId id="288" r:id="rId34"/>
    <p:sldId id="297" r:id="rId35"/>
    <p:sldId id="299" r:id="rId36"/>
    <p:sldId id="300" r:id="rId37"/>
    <p:sldId id="301" r:id="rId38"/>
    <p:sldId id="302" r:id="rId39"/>
    <p:sldId id="303" r:id="rId40"/>
    <p:sldId id="304" r:id="rId41"/>
    <p:sldId id="305" r:id="rId42"/>
    <p:sldId id="307" r:id="rId43"/>
    <p:sldId id="310" r:id="rId44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339" y="38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2023/10/15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2023/10/15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C67FEB8-36D3-4CC5-9713-36EE82A172D2}"/>
              </a:ext>
            </a:extLst>
          </p:cNvPr>
          <p:cNvSpPr/>
          <p:nvPr userDrawn="1"/>
        </p:nvSpPr>
        <p:spPr>
          <a:xfrm>
            <a:off x="669958" y="4681829"/>
            <a:ext cx="21921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iff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iff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f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iff"/><Relationship Id="rId2" Type="http://schemas.openxmlformats.org/officeDocument/2006/relationships/image" Target="../media/image21.tiff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iff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iff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tiff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iff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cisig.com/developers/main/training_materials/get_document?doc_id=ee6c699074c0b2440bfac3abdecb74b3d89821a8" TargetMode="External"/><Relationship Id="rId2" Type="http://schemas.openxmlformats.org/officeDocument/2006/relationships/hyperlink" Target="http://www.pcisig.com/developers/main/training_materials/get_document?doc_id=e3da4046eb5314826343d9df18b60f083880bf7b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pcisig.com/developers/main/training_materials/get_document?doc_id=656dc1d4f27b8fdca34f583bdc9437627bc3249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6032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Advanced Operating Systems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</a:t>
            </a:r>
            <a:r>
              <a:rPr lang="en-US" altLang="zh-CN" sz="2400" dirty="0"/>
              <a:t>Data </a:t>
            </a:r>
            <a:r>
              <a:rPr lang="en-US" altLang="zh-TW" sz="2400" dirty="0"/>
              <a:t>Science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子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altLang="zh-TW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>Hardware Support Virtualization</a:t>
            </a:r>
          </a:p>
          <a:p>
            <a:pPr algn="ctr"/>
            <a:r>
              <a:rPr lang="en-US" altLang="zh-TW" sz="10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</a:rPr>
              <a:t>MR-IOV</a:t>
            </a:r>
            <a:endParaRPr lang="en-US" altLang="zh-TW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  <a:ea typeface="標楷體" pitchFamily="65" charset="-120"/>
            </a:endParaRPr>
          </a:p>
          <a:p>
            <a:endParaRPr kumimoji="1" lang="zh-TW" altLang="en-US" dirty="0"/>
          </a:p>
        </p:txBody>
      </p:sp>
      <p:sp>
        <p:nvSpPr>
          <p:cNvPr id="4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虛擬化技術</a:t>
            </a:r>
            <a:br>
              <a:rPr lang="en-US" altLang="zh-TW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Virtualization Techniques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25875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MR-IOV Introduction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052119" y="1200151"/>
            <a:ext cx="3605981" cy="3394472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/>
              <a:t>Multiple servers &amp; VMs sharing one I/O adapter</a:t>
            </a:r>
          </a:p>
          <a:p>
            <a:endParaRPr lang="en-US" altLang="zh-TW" dirty="0"/>
          </a:p>
          <a:p>
            <a:r>
              <a:rPr lang="en-US" altLang="zh-TW" dirty="0"/>
              <a:t>Bandwidth of the I/O adapter is shared among the servers</a:t>
            </a:r>
          </a:p>
          <a:p>
            <a:endParaRPr lang="en-US" altLang="zh-TW" dirty="0"/>
          </a:p>
          <a:p>
            <a:r>
              <a:rPr lang="en-US" altLang="zh-TW" dirty="0"/>
              <a:t>The I/O adapter is placed into a separate chassis</a:t>
            </a:r>
          </a:p>
          <a:p>
            <a:endParaRPr lang="en-US" altLang="zh-TW" dirty="0"/>
          </a:p>
          <a:p>
            <a:r>
              <a:rPr lang="en-US" altLang="zh-TW" dirty="0"/>
              <a:t>Bus extender cards are placed into the servers</a:t>
            </a:r>
            <a:endParaRPr lang="zh-TW" altLang="en-US" dirty="0"/>
          </a:p>
        </p:txBody>
      </p:sp>
      <p:sp>
        <p:nvSpPr>
          <p:cNvPr id="44034" name="AutoShape 2" descr="MR-IOV.jpg"/>
          <p:cNvSpPr>
            <a:spLocks noChangeAspect="1" noChangeArrowheads="1"/>
          </p:cNvSpPr>
          <p:nvPr/>
        </p:nvSpPr>
        <p:spPr bwMode="auto">
          <a:xfrm>
            <a:off x="1259681" y="-108347"/>
            <a:ext cx="228600" cy="228601"/>
          </a:xfrm>
          <a:prstGeom prst="rect">
            <a:avLst/>
          </a:prstGeom>
          <a:noFill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TW" altLang="en-US" sz="1350"/>
          </a:p>
        </p:txBody>
      </p:sp>
      <p:pic>
        <p:nvPicPr>
          <p:cNvPr id="5" name="圖片 4" descr="MR-IO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646" y="1292469"/>
            <a:ext cx="2573474" cy="29816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MR-IOV Topology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zh-TW" dirty="0"/>
              <a:t>MR components group to create Virtual Hierarchies (VH)</a:t>
            </a:r>
          </a:p>
          <a:p>
            <a:pPr lvl="1"/>
            <a:r>
              <a:rPr kumimoji="1" lang="en-US" altLang="zh-TW" dirty="0"/>
              <a:t>Virtual Hierarchy = a logical </a:t>
            </a:r>
            <a:r>
              <a:rPr kumimoji="1" lang="en-US" altLang="zh-TW" dirty="0" err="1"/>
              <a:t>PCIe</a:t>
            </a:r>
            <a:r>
              <a:rPr kumimoji="1" lang="en-US" altLang="zh-TW" dirty="0"/>
              <a:t> hierarchy within a MR topology.</a:t>
            </a:r>
          </a:p>
          <a:p>
            <a:pPr lvl="1"/>
            <a:r>
              <a:rPr kumimoji="1" lang="en-US" altLang="zh-TW" dirty="0"/>
              <a:t>Each VH typically contains at least one </a:t>
            </a:r>
            <a:r>
              <a:rPr kumimoji="1" lang="en-US" altLang="zh-TW" dirty="0" err="1"/>
              <a:t>PCIe</a:t>
            </a:r>
            <a:r>
              <a:rPr kumimoji="1" lang="en-US" altLang="zh-TW" dirty="0"/>
              <a:t> Switch.</a:t>
            </a:r>
          </a:p>
          <a:p>
            <a:pPr lvl="1"/>
            <a:r>
              <a:rPr kumimoji="1" lang="en-US" altLang="zh-TW" dirty="0"/>
              <a:t>Extends from a RP to all its EPs</a:t>
            </a:r>
          </a:p>
          <a:p>
            <a:r>
              <a:rPr kumimoji="1" lang="en-US" altLang="zh-TW" dirty="0"/>
              <a:t>Each VH may contain any mix of Multi-Root Aware (MRA) Devices, SR-IOV Devices, Non-IOV Devices, or </a:t>
            </a:r>
            <a:r>
              <a:rPr kumimoji="1" lang="en-US" altLang="zh-TW" dirty="0" err="1"/>
              <a:t>PCIe</a:t>
            </a:r>
            <a:r>
              <a:rPr kumimoji="1" lang="en-US" altLang="zh-TW" dirty="0"/>
              <a:t> to PCI/PCI-X Bridges.</a:t>
            </a:r>
          </a:p>
          <a:p>
            <a:r>
              <a:rPr kumimoji="1" lang="en-US" altLang="zh-TW" dirty="0"/>
              <a:t>The MR-IOV topology typically contains at least one MRA Switch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29130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MR-IOV Topology</a:t>
            </a:r>
            <a:endParaRPr lang="zh-TW" altLang="en-US" dirty="0"/>
          </a:p>
        </p:txBody>
      </p:sp>
      <p:sp>
        <p:nvSpPr>
          <p:cNvPr id="10" name="六邊形 9"/>
          <p:cNvSpPr/>
          <p:nvPr/>
        </p:nvSpPr>
        <p:spPr>
          <a:xfrm>
            <a:off x="2132026" y="2769580"/>
            <a:ext cx="856094" cy="575123"/>
          </a:xfrm>
          <a:prstGeom prst="hexag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MRA</a:t>
            </a:r>
          </a:p>
          <a:p>
            <a:pPr algn="ctr"/>
            <a:r>
              <a:rPr lang="en-US" altLang="zh-TW" sz="1350" dirty="0"/>
              <a:t>Switch</a:t>
            </a:r>
            <a:endParaRPr lang="zh-TW" altLang="en-US" sz="1350" dirty="0"/>
          </a:p>
        </p:txBody>
      </p:sp>
      <p:cxnSp>
        <p:nvCxnSpPr>
          <p:cNvPr id="26" name="肘形接點 25"/>
          <p:cNvCxnSpPr>
            <a:stCxn id="8" idx="2"/>
            <a:endCxn id="10" idx="4"/>
          </p:cNvCxnSpPr>
          <p:nvPr/>
        </p:nvCxnSpPr>
        <p:spPr>
          <a:xfrm rot="16200000" flipH="1">
            <a:off x="1674519" y="2168291"/>
            <a:ext cx="698383" cy="504195"/>
          </a:xfrm>
          <a:prstGeom prst="bentConnector3">
            <a:avLst>
              <a:gd name="adj1" fmla="val 50000"/>
            </a:avLst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1200371" y="4043085"/>
            <a:ext cx="1336076" cy="538021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MRA </a:t>
            </a:r>
            <a:r>
              <a:rPr lang="en-US" altLang="zh-TW" sz="1350" dirty="0" err="1"/>
              <a:t>PCIe</a:t>
            </a:r>
            <a:endParaRPr lang="en-US" altLang="zh-TW" sz="1350" dirty="0"/>
          </a:p>
          <a:p>
            <a:pPr algn="ctr"/>
            <a:r>
              <a:rPr lang="en-US" altLang="zh-TW" sz="1350" dirty="0"/>
              <a:t>Device</a:t>
            </a:r>
            <a:endParaRPr lang="zh-TW" altLang="en-US" sz="1350" dirty="0"/>
          </a:p>
        </p:txBody>
      </p:sp>
      <p:sp>
        <p:nvSpPr>
          <p:cNvPr id="31" name="矩形 30"/>
          <p:cNvSpPr/>
          <p:nvPr/>
        </p:nvSpPr>
        <p:spPr>
          <a:xfrm>
            <a:off x="1218993" y="1041163"/>
            <a:ext cx="1235680" cy="59406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Root Complex (RC)</a:t>
            </a:r>
          </a:p>
        </p:txBody>
      </p:sp>
      <p:sp>
        <p:nvSpPr>
          <p:cNvPr id="33" name="矩形 32"/>
          <p:cNvSpPr/>
          <p:nvPr/>
        </p:nvSpPr>
        <p:spPr>
          <a:xfrm>
            <a:off x="2594306" y="1041163"/>
            <a:ext cx="1235680" cy="59406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Root Complex (RC)</a:t>
            </a:r>
          </a:p>
        </p:txBody>
      </p:sp>
      <p:sp>
        <p:nvSpPr>
          <p:cNvPr id="34" name="矩形 33"/>
          <p:cNvSpPr/>
          <p:nvPr/>
        </p:nvSpPr>
        <p:spPr>
          <a:xfrm>
            <a:off x="3934898" y="1041163"/>
            <a:ext cx="1235680" cy="59406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Root Complex (RC)</a:t>
            </a:r>
          </a:p>
        </p:txBody>
      </p:sp>
      <p:sp>
        <p:nvSpPr>
          <p:cNvPr id="35" name="矩形 34"/>
          <p:cNvSpPr/>
          <p:nvPr/>
        </p:nvSpPr>
        <p:spPr>
          <a:xfrm>
            <a:off x="5302200" y="1041163"/>
            <a:ext cx="1235680" cy="59406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Root Complex (RC)</a:t>
            </a:r>
          </a:p>
        </p:txBody>
      </p:sp>
      <p:sp>
        <p:nvSpPr>
          <p:cNvPr id="9" name="矩形 8"/>
          <p:cNvSpPr/>
          <p:nvPr/>
        </p:nvSpPr>
        <p:spPr>
          <a:xfrm>
            <a:off x="2988119" y="1477131"/>
            <a:ext cx="448053" cy="594066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Root</a:t>
            </a:r>
          </a:p>
          <a:p>
            <a:pPr algn="ctr"/>
            <a:r>
              <a:rPr lang="en-US" altLang="zh-TW" sz="1050" dirty="0"/>
              <a:t>Port (RP)</a:t>
            </a:r>
            <a:endParaRPr lang="zh-TW" altLang="en-US" sz="1050" dirty="0"/>
          </a:p>
        </p:txBody>
      </p:sp>
      <p:sp>
        <p:nvSpPr>
          <p:cNvPr id="8" name="矩形 7"/>
          <p:cNvSpPr/>
          <p:nvPr/>
        </p:nvSpPr>
        <p:spPr>
          <a:xfrm>
            <a:off x="1561062" y="1477131"/>
            <a:ext cx="421100" cy="594066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Root</a:t>
            </a:r>
          </a:p>
          <a:p>
            <a:pPr algn="ctr"/>
            <a:r>
              <a:rPr lang="en-US" altLang="zh-TW" sz="1050" dirty="0"/>
              <a:t>Port (RP)</a:t>
            </a:r>
            <a:endParaRPr lang="zh-TW" altLang="en-US" sz="1050" dirty="0"/>
          </a:p>
        </p:txBody>
      </p:sp>
      <p:sp>
        <p:nvSpPr>
          <p:cNvPr id="36" name="矩形 35"/>
          <p:cNvSpPr/>
          <p:nvPr/>
        </p:nvSpPr>
        <p:spPr>
          <a:xfrm>
            <a:off x="4312354" y="1477131"/>
            <a:ext cx="448053" cy="594066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Root</a:t>
            </a:r>
          </a:p>
          <a:p>
            <a:pPr algn="ctr"/>
            <a:r>
              <a:rPr lang="en-US" altLang="zh-TW" sz="1050" dirty="0"/>
              <a:t>Port (RP)</a:t>
            </a:r>
            <a:endParaRPr lang="zh-TW" altLang="en-US" sz="1050" dirty="0"/>
          </a:p>
        </p:txBody>
      </p:sp>
      <p:sp>
        <p:nvSpPr>
          <p:cNvPr id="37" name="矩形 36"/>
          <p:cNvSpPr/>
          <p:nvPr/>
        </p:nvSpPr>
        <p:spPr>
          <a:xfrm>
            <a:off x="5696014" y="1477131"/>
            <a:ext cx="448053" cy="594066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Root</a:t>
            </a:r>
          </a:p>
          <a:p>
            <a:pPr algn="ctr"/>
            <a:r>
              <a:rPr lang="en-US" altLang="zh-TW" sz="1050" dirty="0"/>
              <a:t>Port (RP)</a:t>
            </a:r>
            <a:endParaRPr lang="zh-TW" altLang="en-US" sz="1050" dirty="0"/>
          </a:p>
        </p:txBody>
      </p:sp>
      <p:cxnSp>
        <p:nvCxnSpPr>
          <p:cNvPr id="42" name="肘形接點 41"/>
          <p:cNvCxnSpPr>
            <a:stCxn id="9" idx="2"/>
          </p:cNvCxnSpPr>
          <p:nvPr/>
        </p:nvCxnSpPr>
        <p:spPr>
          <a:xfrm rot="5400000">
            <a:off x="2659256" y="2216689"/>
            <a:ext cx="698382" cy="407399"/>
          </a:xfrm>
          <a:prstGeom prst="bentConnector3">
            <a:avLst>
              <a:gd name="adj1" fmla="val 50000"/>
            </a:avLst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肘形接點 47"/>
          <p:cNvCxnSpPr/>
          <p:nvPr/>
        </p:nvCxnSpPr>
        <p:spPr>
          <a:xfrm rot="5400000">
            <a:off x="1722917" y="3490194"/>
            <a:ext cx="698382" cy="407399"/>
          </a:xfrm>
          <a:prstGeom prst="bentConnector3">
            <a:avLst>
              <a:gd name="adj1" fmla="val 50000"/>
            </a:avLst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肘形接點 48"/>
          <p:cNvCxnSpPr/>
          <p:nvPr/>
        </p:nvCxnSpPr>
        <p:spPr>
          <a:xfrm rot="16200000" flipH="1">
            <a:off x="2707654" y="3441796"/>
            <a:ext cx="698383" cy="504195"/>
          </a:xfrm>
          <a:prstGeom prst="bentConnector3">
            <a:avLst>
              <a:gd name="adj1" fmla="val 50000"/>
            </a:avLst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2650747" y="4043085"/>
            <a:ext cx="1336076" cy="538021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SR-IOV </a:t>
            </a:r>
            <a:r>
              <a:rPr lang="en-US" altLang="zh-TW" sz="1350" dirty="0" err="1"/>
              <a:t>PCIe</a:t>
            </a:r>
            <a:endParaRPr lang="en-US" altLang="zh-TW" sz="1350" dirty="0"/>
          </a:p>
          <a:p>
            <a:pPr algn="ctr"/>
            <a:r>
              <a:rPr lang="en-US" altLang="zh-TW" sz="1350" dirty="0"/>
              <a:t>Device</a:t>
            </a:r>
            <a:endParaRPr lang="zh-TW" altLang="en-US" sz="1350" dirty="0"/>
          </a:p>
        </p:txBody>
      </p:sp>
      <p:cxnSp>
        <p:nvCxnSpPr>
          <p:cNvPr id="51" name="直線單箭頭接點 26"/>
          <p:cNvCxnSpPr/>
          <p:nvPr/>
        </p:nvCxnSpPr>
        <p:spPr>
          <a:xfrm flipH="1">
            <a:off x="3014842" y="3059723"/>
            <a:ext cx="1859312" cy="0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六邊形 51"/>
          <p:cNvSpPr/>
          <p:nvPr/>
        </p:nvSpPr>
        <p:spPr>
          <a:xfrm>
            <a:off x="4874153" y="2769579"/>
            <a:ext cx="856094" cy="575123"/>
          </a:xfrm>
          <a:prstGeom prst="hexag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MRA</a:t>
            </a:r>
          </a:p>
          <a:p>
            <a:pPr algn="ctr"/>
            <a:r>
              <a:rPr lang="en-US" altLang="zh-TW" sz="1350" dirty="0"/>
              <a:t>Switch</a:t>
            </a:r>
            <a:endParaRPr lang="zh-TW" altLang="en-US" sz="1350" dirty="0"/>
          </a:p>
        </p:txBody>
      </p:sp>
      <p:cxnSp>
        <p:nvCxnSpPr>
          <p:cNvPr id="55" name="肘形接點 54"/>
          <p:cNvCxnSpPr/>
          <p:nvPr/>
        </p:nvCxnSpPr>
        <p:spPr>
          <a:xfrm rot="5400000">
            <a:off x="4648750" y="3389643"/>
            <a:ext cx="497282" cy="407399"/>
          </a:xfrm>
          <a:prstGeom prst="bentConnector3">
            <a:avLst>
              <a:gd name="adj1" fmla="val 50000"/>
            </a:avLst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肘形接點 55"/>
          <p:cNvCxnSpPr/>
          <p:nvPr/>
        </p:nvCxnSpPr>
        <p:spPr>
          <a:xfrm rot="16200000" flipH="1">
            <a:off x="5599290" y="3375442"/>
            <a:ext cx="565679" cy="504197"/>
          </a:xfrm>
          <a:prstGeom prst="bentConnector3">
            <a:avLst>
              <a:gd name="adj1" fmla="val 50000"/>
            </a:avLst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5466190" y="3910380"/>
            <a:ext cx="1336076" cy="38823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 err="1"/>
              <a:t>PCIe</a:t>
            </a:r>
            <a:r>
              <a:rPr lang="en-US" altLang="zh-TW" sz="1350" dirty="0"/>
              <a:t> to PCI Bridge</a:t>
            </a:r>
            <a:endParaRPr lang="zh-TW" altLang="en-US" sz="1350" dirty="0"/>
          </a:p>
        </p:txBody>
      </p:sp>
      <p:cxnSp>
        <p:nvCxnSpPr>
          <p:cNvPr id="58" name="肘形接點 57"/>
          <p:cNvCxnSpPr/>
          <p:nvPr/>
        </p:nvCxnSpPr>
        <p:spPr>
          <a:xfrm rot="16200000" flipH="1">
            <a:off x="4396319" y="2168291"/>
            <a:ext cx="698383" cy="504195"/>
          </a:xfrm>
          <a:prstGeom prst="bentConnector3">
            <a:avLst>
              <a:gd name="adj1" fmla="val 50000"/>
            </a:avLst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肘形接點 58"/>
          <p:cNvCxnSpPr/>
          <p:nvPr/>
        </p:nvCxnSpPr>
        <p:spPr>
          <a:xfrm rot="5400000">
            <a:off x="5381056" y="2216689"/>
            <a:ext cx="698382" cy="407399"/>
          </a:xfrm>
          <a:prstGeom prst="bentConnector3">
            <a:avLst>
              <a:gd name="adj1" fmla="val 50000"/>
            </a:avLst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六邊形 59"/>
          <p:cNvSpPr/>
          <p:nvPr/>
        </p:nvSpPr>
        <p:spPr>
          <a:xfrm>
            <a:off x="4244996" y="3841984"/>
            <a:ext cx="856094" cy="575123"/>
          </a:xfrm>
          <a:prstGeom prst="hexag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 err="1"/>
              <a:t>PCIe</a:t>
            </a:r>
            <a:endParaRPr lang="en-US" altLang="zh-TW" sz="1350" dirty="0"/>
          </a:p>
          <a:p>
            <a:pPr algn="ctr"/>
            <a:r>
              <a:rPr lang="en-US" altLang="zh-TW" sz="1350" dirty="0"/>
              <a:t>Switch</a:t>
            </a:r>
            <a:endParaRPr lang="zh-TW" altLang="en-US" sz="1350" dirty="0"/>
          </a:p>
        </p:txBody>
      </p:sp>
      <p:cxnSp>
        <p:nvCxnSpPr>
          <p:cNvPr id="61" name="直線單箭頭接點 21"/>
          <p:cNvCxnSpPr/>
          <p:nvPr/>
        </p:nvCxnSpPr>
        <p:spPr>
          <a:xfrm>
            <a:off x="4693691" y="4417107"/>
            <a:ext cx="0" cy="327998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21"/>
          <p:cNvCxnSpPr/>
          <p:nvPr/>
        </p:nvCxnSpPr>
        <p:spPr>
          <a:xfrm>
            <a:off x="6134228" y="4298619"/>
            <a:ext cx="9839" cy="446485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>
          <a:xfrm>
            <a:off x="4052916" y="4745105"/>
            <a:ext cx="1281551" cy="398396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 err="1"/>
              <a:t>PCIe</a:t>
            </a:r>
            <a:endParaRPr lang="en-US" altLang="zh-TW" sz="1350" dirty="0"/>
          </a:p>
          <a:p>
            <a:pPr algn="ctr"/>
            <a:r>
              <a:rPr lang="en-US" altLang="zh-TW" sz="1350" dirty="0"/>
              <a:t>Device</a:t>
            </a:r>
            <a:endParaRPr lang="zh-TW" altLang="en-US" sz="1350" dirty="0"/>
          </a:p>
        </p:txBody>
      </p:sp>
      <p:sp>
        <p:nvSpPr>
          <p:cNvPr id="68" name="矩形 67"/>
          <p:cNvSpPr/>
          <p:nvPr/>
        </p:nvSpPr>
        <p:spPr>
          <a:xfrm>
            <a:off x="5520715" y="4745104"/>
            <a:ext cx="1281551" cy="398396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PCI/PCI-X</a:t>
            </a:r>
          </a:p>
          <a:p>
            <a:pPr algn="ctr"/>
            <a:r>
              <a:rPr lang="en-US" altLang="zh-TW" sz="1350" dirty="0"/>
              <a:t>Device</a:t>
            </a:r>
            <a:endParaRPr lang="zh-TW" alt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Topology Overview and Terms</a:t>
            </a:r>
            <a:endParaRPr kumimoji="1"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1165123" y="1227803"/>
          <a:ext cx="6725264" cy="3954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5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51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47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86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100" dirty="0"/>
                        <a:t>SR Topology</a:t>
                      </a:r>
                      <a:endParaRPr lang="zh-TW" altLang="en-US" sz="2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100" dirty="0"/>
                        <a:t>Multi-Root Topology</a:t>
                      </a:r>
                      <a:endParaRPr lang="zh-TW" altLang="en-US" sz="2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Terms</a:t>
                      </a:r>
                      <a:endParaRPr lang="zh-TW" altLang="en-US" sz="18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9757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000" b="1" dirty="0"/>
                        <a:t>Single Root (SR) IOV Overview,</a:t>
                      </a:r>
                    </a:p>
                    <a:p>
                      <a:r>
                        <a:rPr lang="en-US" altLang="zh-TW" sz="1000" b="0" dirty="0"/>
                        <a:t>   Only has one Root.</a:t>
                      </a:r>
                    </a:p>
                    <a:p>
                      <a:r>
                        <a:rPr lang="en-US" altLang="zh-TW" sz="1000" b="0" dirty="0"/>
                        <a:t>   Switches</a:t>
                      </a:r>
                      <a:r>
                        <a:rPr lang="en-US" altLang="zh-TW" sz="1000" b="0" baseline="0" dirty="0"/>
                        <a:t> only need to support</a:t>
                      </a:r>
                    </a:p>
                    <a:p>
                      <a:r>
                        <a:rPr lang="en-US" altLang="zh-TW" sz="1000" b="0" baseline="0" dirty="0"/>
                        <a:t>   </a:t>
                      </a:r>
                      <a:r>
                        <a:rPr lang="en-US" altLang="zh-TW" sz="1000" b="0" baseline="0" dirty="0" err="1"/>
                        <a:t>PCIe</a:t>
                      </a:r>
                      <a:r>
                        <a:rPr lang="en-US" altLang="zh-TW" sz="1000" b="0" baseline="0" dirty="0"/>
                        <a:t> base functionality.</a:t>
                      </a:r>
                    </a:p>
                    <a:p>
                      <a:r>
                        <a:rPr lang="en-US" altLang="zh-TW" sz="1000" b="0" baseline="0" dirty="0"/>
                        <a:t>   To make full use of IOV, EP</a:t>
                      </a:r>
                    </a:p>
                    <a:p>
                      <a:r>
                        <a:rPr lang="en-US" altLang="zh-TW" sz="1000" b="0" baseline="0" dirty="0"/>
                        <a:t>   must support SR-IOV capabilities.</a:t>
                      </a:r>
                    </a:p>
                    <a:p>
                      <a:r>
                        <a:rPr lang="en-US" altLang="zh-TW" sz="1000" b="0" baseline="0" dirty="0"/>
                        <a:t>    SR-PCIM configures the EP. 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/>
                        <a:t>Multi-Root (MR) IOV Overview,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/>
                        <a:t>   One or more Roots.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/>
                        <a:t>   Switches with Multi-Root Aware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/>
                        <a:t>   (MRA) functionality are needed.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/>
                        <a:t>   To make full use of IOV, EP must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/>
                        <a:t>   support SR &amp; MR-IOV </a:t>
                      </a:r>
                      <a:r>
                        <a:rPr lang="en-US" altLang="zh-TW" sz="1000" b="0" baseline="0" dirty="0"/>
                        <a:t>capabilities.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baseline="0" dirty="0"/>
                        <a:t>   MR-PCIM assigns Virtual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baseline="0" dirty="0"/>
                        <a:t>   Endpoints (VEs) to RCs and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baseline="0" dirty="0"/>
                        <a:t>   manages </a:t>
                      </a:r>
                      <a:r>
                        <a:rPr lang="en-US" altLang="zh-TW" sz="1000" b="0" baseline="0" dirty="0" err="1"/>
                        <a:t>PCIe</a:t>
                      </a:r>
                      <a:r>
                        <a:rPr lang="en-US" altLang="zh-TW" sz="1000" b="0" baseline="0" dirty="0"/>
                        <a:t> components.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baseline="0" dirty="0"/>
                        <a:t>   SR-PCIM configures its VEs.</a:t>
                      </a:r>
                      <a:r>
                        <a:rPr lang="en-US" altLang="zh-TW" sz="1000" b="0" dirty="0"/>
                        <a:t>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08889" y="1624995"/>
            <a:ext cx="2043113" cy="3557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19535" y="1622322"/>
            <a:ext cx="1135856" cy="354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87683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Multi-Root IOV function Types and Terms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485900" y="1047750"/>
          <a:ext cx="5921976" cy="37491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9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29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7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MR Topology</a:t>
                      </a:r>
                      <a:endParaRPr lang="zh-TW" altLang="en-US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MR Topology Terms</a:t>
                      </a:r>
                      <a:endParaRPr lang="zh-TW" altLang="en-US" sz="18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1386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altLang="zh-TW" sz="1000" dirty="0"/>
                    </a:p>
                    <a:p>
                      <a:r>
                        <a:rPr lang="en-US" altLang="zh-TW" sz="1000" b="1" dirty="0"/>
                        <a:t>Virtual Endpoint (VE) </a:t>
                      </a:r>
                      <a:r>
                        <a:rPr lang="en-US" altLang="zh-TW" sz="1000" dirty="0"/>
                        <a:t>is the set of physical</a:t>
                      </a:r>
                      <a:r>
                        <a:rPr lang="en-US" altLang="zh-TW" sz="1000" baseline="0" dirty="0"/>
                        <a:t> and virtual functions assigned to an RC.</a:t>
                      </a:r>
                    </a:p>
                    <a:p>
                      <a:r>
                        <a:rPr lang="en-US" altLang="zh-TW" sz="1000" baseline="0" dirty="0"/>
                        <a:t>Each VE is assigned to a Virtual Hierarchy (VH).</a:t>
                      </a:r>
                    </a:p>
                    <a:p>
                      <a:endParaRPr lang="en-US" altLang="zh-TW" sz="1000" baseline="0" dirty="0"/>
                    </a:p>
                    <a:p>
                      <a:r>
                        <a:rPr lang="en-US" altLang="zh-TW" sz="1000" b="1" baseline="0" dirty="0"/>
                        <a:t>Virtual Hierarchy</a:t>
                      </a:r>
                      <a:r>
                        <a:rPr lang="en-US" altLang="zh-TW" sz="1000" baseline="0" dirty="0"/>
                        <a:t> </a:t>
                      </a:r>
                      <a:r>
                        <a:rPr lang="en-US" altLang="zh-TW" sz="1000" b="1" baseline="0" dirty="0"/>
                        <a:t>(VH)</a:t>
                      </a:r>
                      <a:r>
                        <a:rPr lang="en-US" altLang="zh-TW" sz="1000" baseline="0" dirty="0"/>
                        <a:t> is a fully functional </a:t>
                      </a:r>
                      <a:r>
                        <a:rPr lang="en-US" altLang="zh-TW" sz="1000" baseline="0" dirty="0" err="1"/>
                        <a:t>PCIe</a:t>
                      </a:r>
                      <a:r>
                        <a:rPr lang="en-US" altLang="zh-TW" sz="1000" baseline="0" dirty="0"/>
                        <a:t> hierarchy that is assigned to an RC or MR-PCIM. Note, all PFs and VFs in a VE are assigned the same VH.</a:t>
                      </a:r>
                    </a:p>
                    <a:p>
                      <a:endParaRPr lang="en-US" altLang="zh-TW" sz="1000" b="1" baseline="0" dirty="0"/>
                    </a:p>
                    <a:p>
                      <a:r>
                        <a:rPr lang="en-US" altLang="zh-TW" sz="1000" b="1" baseline="0" dirty="0"/>
                        <a:t>Base Function (BF) </a:t>
                      </a:r>
                      <a:r>
                        <a:rPr lang="en-US" altLang="zh-TW" sz="1000" baseline="0" dirty="0"/>
                        <a:t>only 1 per EP and is used by MR-PCIM to manage an MR aware EP (e.g. assigning functions to Virtual Endpoints).</a:t>
                      </a:r>
                    </a:p>
                    <a:p>
                      <a:endParaRPr lang="zh-TW" altLang="en-US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85900" y="1453618"/>
            <a:ext cx="2700338" cy="334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MRA Components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/>
              <a:t>Multi-Root Aware Root Port (MRA RP)</a:t>
            </a:r>
          </a:p>
          <a:p>
            <a:endParaRPr lang="it-IT" altLang="zh-TW" i="1" dirty="0"/>
          </a:p>
          <a:p>
            <a:r>
              <a:rPr lang="it-IT" altLang="zh-TW" i="1" dirty="0"/>
              <a:t>Multi-Root Aware Device (MRA Device)</a:t>
            </a:r>
          </a:p>
          <a:p>
            <a:endParaRPr lang="en-US" altLang="zh-TW" i="1" dirty="0"/>
          </a:p>
          <a:p>
            <a:r>
              <a:rPr lang="en-US" altLang="zh-TW" i="1" dirty="0"/>
              <a:t>Multi-Root PCI Manager (MR-PCIM)</a:t>
            </a:r>
          </a:p>
          <a:p>
            <a:endParaRPr lang="en-US" altLang="zh-TW" i="1" dirty="0"/>
          </a:p>
          <a:p>
            <a:r>
              <a:rPr lang="en-US" altLang="zh-TW" i="1" dirty="0"/>
              <a:t>Multi-Root Aware Switch (MRA Switch)</a:t>
            </a:r>
          </a:p>
          <a:p>
            <a:endParaRPr lang="en-US" altLang="zh-TW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MRA Components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Multi-Root Aware Root Port (MRA RP)</a:t>
            </a:r>
          </a:p>
          <a:p>
            <a:pPr lvl="1"/>
            <a:r>
              <a:rPr lang="en-US" altLang="zh-TW" dirty="0"/>
              <a:t>Maintain state to delineate each VH. At a high level, this amounts to a set of resource mapping tables to translate the I/O function associated with each SI into a VH and MR I/O function identifier.</a:t>
            </a:r>
          </a:p>
          <a:p>
            <a:pPr lvl="1"/>
            <a:r>
              <a:rPr lang="en-US" altLang="zh-TW" dirty="0"/>
              <a:t>Participate in the MR transaction encapsulation protocol to enable an MRA Switch to derive the VH and associated routing information.</a:t>
            </a:r>
          </a:p>
          <a:p>
            <a:pPr lvl="1"/>
            <a:r>
              <a:rPr lang="en-US" altLang="zh-TW" dirty="0"/>
              <a:t>Emit an MR Link. An MR Link is identical to the physical layer of a </a:t>
            </a:r>
            <a:r>
              <a:rPr lang="en-US" altLang="zh-TW" dirty="0" err="1"/>
              <a:t>PCIe</a:t>
            </a:r>
            <a:r>
              <a:rPr lang="en-US" altLang="zh-TW" dirty="0"/>
              <a:t> Link as defined in the </a:t>
            </a:r>
            <a:r>
              <a:rPr lang="en-US" altLang="zh-TW" i="1" dirty="0"/>
              <a:t>PCI Express Base Specification.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MRA Components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Multi-Root Aware Root Port (MRA RP)</a:t>
            </a:r>
          </a:p>
          <a:p>
            <a:pPr lvl="1"/>
            <a:r>
              <a:rPr lang="en-US" altLang="zh-TW" dirty="0"/>
              <a:t>Implement MRA congestion management. </a:t>
            </a:r>
            <a:endParaRPr lang="en-US" altLang="zh-TW" dirty="0">
              <a:solidFill>
                <a:srgbClr val="FF0000"/>
              </a:solidFill>
            </a:endParaRPr>
          </a:p>
          <a:p>
            <a:pPr lvl="1"/>
            <a:r>
              <a:rPr lang="en-US" altLang="zh-TW" dirty="0"/>
              <a:t>It does not forward TLPs for VHs where it is not the root. If this functionality is required, the MRA Root Complex may contain an embedded MRA Switch.</a:t>
            </a:r>
          </a:p>
          <a:p>
            <a:pPr lvl="2"/>
            <a:r>
              <a:rPr lang="en-US" altLang="zh-TW" dirty="0"/>
              <a:t>A Translation Agent (TA) parses the contents of a </a:t>
            </a:r>
            <a:r>
              <a:rPr lang="en-US" altLang="zh-TW" dirty="0" err="1"/>
              <a:t>PCIe</a:t>
            </a:r>
            <a:r>
              <a:rPr lang="en-US" altLang="zh-TW" dirty="0"/>
              <a:t> DMA request transaction (TLP)</a:t>
            </a:r>
          </a:p>
        </p:txBody>
      </p:sp>
      <p:pic>
        <p:nvPicPr>
          <p:cNvPr id="5" name="圖片 4" descr="PastedGraphic-1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763" y="3307010"/>
            <a:ext cx="3800475" cy="1447800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2440460" y="4754809"/>
            <a:ext cx="474499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b="1" dirty="0" err="1"/>
              <a:t>PCIe</a:t>
            </a:r>
            <a:r>
              <a:rPr lang="en-US" altLang="zh-TW" sz="1350" b="1" dirty="0"/>
              <a:t> RP and MRA RP and MRA RP Functional Block Comparison</a:t>
            </a:r>
            <a:endParaRPr lang="zh-TW" altLang="en-US" sz="135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MRA Components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TW" dirty="0"/>
              <a:t>Multi-Root Aware Device(MRA Device)</a:t>
            </a:r>
          </a:p>
          <a:p>
            <a:pPr lvl="1"/>
            <a:r>
              <a:rPr kumimoji="1" lang="en-US" altLang="zh-TW" dirty="0"/>
              <a:t>Must support the new MR-IOV DLLP protocol.</a:t>
            </a:r>
          </a:p>
          <a:p>
            <a:pPr lvl="2"/>
            <a:r>
              <a:rPr kumimoji="1" lang="en-US" altLang="zh-TW" dirty="0"/>
              <a:t>Non-IOV Devices and SR-IOV Devices do not support the MR-IOV capability and therefore are unable to participate in this protocol.</a:t>
            </a:r>
          </a:p>
          <a:p>
            <a:pPr lvl="2"/>
            <a:endParaRPr kumimoji="1" lang="en-US" altLang="zh-TW" dirty="0"/>
          </a:p>
          <a:p>
            <a:pPr lvl="2"/>
            <a:r>
              <a:rPr kumimoji="1" lang="en-US" altLang="zh-TW" dirty="0"/>
              <a:t>An MRA Switch must assume all responsibility for forwarding transactions and event handling on behalf of these devices through the MR-IOV topology.</a:t>
            </a:r>
          </a:p>
          <a:p>
            <a:pPr lvl="2"/>
            <a:endParaRPr kumimoji="1" lang="en-US" altLang="zh-TW" dirty="0"/>
          </a:p>
          <a:p>
            <a:pPr lvl="2"/>
            <a:r>
              <a:rPr kumimoji="1" lang="en-US" altLang="zh-TW" dirty="0"/>
              <a:t>The MRA Switch performs all encapsulation or de-encapsulation as appropriate.</a:t>
            </a:r>
          </a:p>
          <a:p>
            <a:pPr lvl="2"/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31564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MRA Components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Multi-Root Aware Device(MRA Device)</a:t>
            </a:r>
          </a:p>
          <a:p>
            <a:pPr lvl="1"/>
            <a:r>
              <a:rPr kumimoji="1" lang="en-US" altLang="zh-TW" dirty="0"/>
              <a:t>Must support the MR-IOV transaction encapsulation protocol.</a:t>
            </a:r>
          </a:p>
          <a:p>
            <a:pPr lvl="2"/>
            <a:r>
              <a:rPr kumimoji="1" lang="en-US" altLang="zh-TW" dirty="0"/>
              <a:t>The MR-IOV encapsulation protocol provides VH identification information to the MRA Switch to enable the transaction to be transparently forwarded through the MR-IOV topology without requiring modification to </a:t>
            </a:r>
            <a:r>
              <a:rPr kumimoji="1" lang="en-US" altLang="zh-TW" i="1" dirty="0"/>
              <a:t>the PCI Express Base Specification</a:t>
            </a:r>
            <a:r>
              <a:rPr kumimoji="1" lang="en-US" altLang="zh-TW" dirty="0"/>
              <a:t> TLP protocol or contents.</a:t>
            </a: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89364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MRA Components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altLang="zh-TW" dirty="0"/>
              <a:t>Multi-Root Aware Device(MRA Device)</a:t>
            </a:r>
          </a:p>
          <a:p>
            <a:pPr lvl="1"/>
            <a:r>
              <a:rPr lang="en-US" altLang="zh-TW" dirty="0"/>
              <a:t>It is composed of a set of Functions in each VH.</a:t>
            </a:r>
          </a:p>
          <a:p>
            <a:r>
              <a:rPr lang="en-US" altLang="zh-TW" dirty="0"/>
              <a:t>There are a variety of Function types:</a:t>
            </a:r>
          </a:p>
          <a:p>
            <a:pPr lvl="1"/>
            <a:r>
              <a:rPr lang="en-US" altLang="zh-TW" dirty="0"/>
              <a:t>BF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PF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VF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Non-IOV Function</a:t>
            </a:r>
            <a:endParaRPr lang="zh-TW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MRA Components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TW" dirty="0"/>
              <a:t>A </a:t>
            </a:r>
            <a:r>
              <a:rPr lang="en-US" altLang="zh-TW" dirty="0">
                <a:solidFill>
                  <a:srgbClr val="FF0000"/>
                </a:solidFill>
              </a:rPr>
              <a:t>BF</a:t>
            </a:r>
            <a:r>
              <a:rPr lang="en-US" altLang="zh-TW" dirty="0"/>
              <a:t> is a function compliant with this specification that includes the MR-IOV Capability. A BF shall not contain an SR-IOV Capability.</a:t>
            </a:r>
          </a:p>
          <a:p>
            <a:endParaRPr lang="en-US" altLang="zh-TW" dirty="0"/>
          </a:p>
          <a:p>
            <a:r>
              <a:rPr lang="en-US" altLang="zh-TW" dirty="0"/>
              <a:t>A </a:t>
            </a:r>
            <a:r>
              <a:rPr lang="en-US" altLang="zh-TW" dirty="0">
                <a:solidFill>
                  <a:srgbClr val="FF0000"/>
                </a:solidFill>
              </a:rPr>
              <a:t>PF</a:t>
            </a:r>
            <a:r>
              <a:rPr lang="en-US" altLang="zh-TW" dirty="0"/>
              <a:t> is a Function compliant with the </a:t>
            </a:r>
            <a:r>
              <a:rPr lang="en-US" altLang="zh-TW" i="1" dirty="0"/>
              <a:t>PCI Express Base Specification that includes the SR-IOV </a:t>
            </a:r>
            <a:r>
              <a:rPr lang="en-US" altLang="zh-TW" dirty="0"/>
              <a:t>Extended Capability. Every PF is associated with a BF. The Function Offset fields in a BF’s Function Table point to the PFs.</a:t>
            </a:r>
          </a:p>
          <a:p>
            <a:endParaRPr lang="en-US" altLang="zh-TW" dirty="0"/>
          </a:p>
          <a:p>
            <a:endParaRPr lang="en-US" altLang="zh-TW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MRA Components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 </a:t>
            </a:r>
            <a:r>
              <a:rPr lang="en-US" altLang="zh-TW" dirty="0">
                <a:solidFill>
                  <a:srgbClr val="FF0000"/>
                </a:solidFill>
              </a:rPr>
              <a:t>VF</a:t>
            </a:r>
            <a:r>
              <a:rPr lang="en-US" altLang="zh-TW" dirty="0"/>
              <a:t> is a Function associated with a PF and is described in the </a:t>
            </a:r>
            <a:r>
              <a:rPr lang="en-US" altLang="zh-TW" i="1" dirty="0"/>
              <a:t>Single-Root I/O Virtualization and Sharing Specification. VFs are associated with a PF and are thus indirectly as </a:t>
            </a:r>
            <a:r>
              <a:rPr lang="en-US" altLang="zh-TW" i="1" dirty="0" err="1"/>
              <a:t>asociated</a:t>
            </a:r>
            <a:r>
              <a:rPr lang="en-US" altLang="zh-TW" i="1" dirty="0"/>
              <a:t> with a </a:t>
            </a:r>
            <a:r>
              <a:rPr lang="en-US" altLang="zh-TW" dirty="0"/>
              <a:t>BF.</a:t>
            </a:r>
          </a:p>
          <a:p>
            <a:endParaRPr lang="en-US" altLang="zh-TW" dirty="0"/>
          </a:p>
          <a:p>
            <a:r>
              <a:rPr lang="en-US" altLang="zh-TW" dirty="0"/>
              <a:t>A </a:t>
            </a:r>
            <a:r>
              <a:rPr lang="en-US" altLang="zh-TW" dirty="0">
                <a:solidFill>
                  <a:srgbClr val="FF0000"/>
                </a:solidFill>
              </a:rPr>
              <a:t>Non-IOV</a:t>
            </a:r>
            <a:r>
              <a:rPr lang="en-US" altLang="zh-TW" dirty="0"/>
              <a:t> Function is a Function that is not a BF, PF, or VF. Non-IOV Functions may or may not be associated with a BF.</a:t>
            </a:r>
            <a:endParaRPr lang="zh-TW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MRA Components</a:t>
            </a:r>
            <a:endParaRPr lang="zh-TW" altLang="en-US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75140" y="903685"/>
            <a:ext cx="5393145" cy="3650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字方塊 4"/>
          <p:cNvSpPr txBox="1"/>
          <p:nvPr/>
        </p:nvSpPr>
        <p:spPr>
          <a:xfrm>
            <a:off x="2440460" y="4754809"/>
            <a:ext cx="474499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b="1" dirty="0"/>
              <a:t>Non-IOV, SR-IOV, and MRA Device Functional Block Comparison</a:t>
            </a:r>
            <a:endParaRPr lang="zh-TW" alt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MRA Components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i="1" dirty="0"/>
              <a:t>Multi-Root PCI Manager (MR-PCIM)</a:t>
            </a:r>
          </a:p>
          <a:p>
            <a:pPr lvl="1"/>
            <a:r>
              <a:rPr lang="en-US" altLang="zh-TW" dirty="0"/>
              <a:t>Each MRA component must support a corresponding MR-IOV capability. This capability is accessed and configured by the Multi Root PCI Manager (MR-PCIM). 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MR-PCIM can be implemented anywhere within the MR-IOV topology.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Alternatively, MR-PCIM can manage the MR-IOV topology through a private interface provided by an MRA Switch.</a:t>
            </a:r>
            <a:endParaRPr lang="zh-TW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MRA Components</a:t>
            </a:r>
            <a:endParaRPr lang="zh-TW" altLang="en-US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95049" y="1185863"/>
            <a:ext cx="5146010" cy="3189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字方塊 4"/>
          <p:cNvSpPr txBox="1"/>
          <p:nvPr/>
        </p:nvSpPr>
        <p:spPr>
          <a:xfrm>
            <a:off x="3256006" y="4754809"/>
            <a:ext cx="474499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b="1" dirty="0"/>
              <a:t>MRA PCIM in an MR-IOV Topology</a:t>
            </a:r>
            <a:endParaRPr lang="zh-TW" alt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MRA Components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i="1" dirty="0"/>
              <a:t>Multi-Root Aware Switch (MRA Switch)</a:t>
            </a:r>
          </a:p>
          <a:p>
            <a:pPr lvl="1"/>
            <a:r>
              <a:rPr lang="en-US" altLang="zh-TW" dirty="0"/>
              <a:t>In contrast to a </a:t>
            </a:r>
            <a:r>
              <a:rPr lang="en-US" altLang="zh-TW" dirty="0" err="1"/>
              <a:t>PCIe</a:t>
            </a:r>
            <a:r>
              <a:rPr lang="en-US" altLang="zh-TW" dirty="0"/>
              <a:t> Switch, an MRA Switch is as follows:</a:t>
            </a:r>
          </a:p>
          <a:p>
            <a:pPr lvl="2"/>
            <a:r>
              <a:rPr lang="en-US" altLang="zh-TW" dirty="0"/>
              <a:t>An MRA Switch is composed of zero or more upstream Ports attached to a </a:t>
            </a:r>
            <a:r>
              <a:rPr lang="en-US" altLang="zh-TW" dirty="0" err="1"/>
              <a:t>PCIe</a:t>
            </a:r>
            <a:r>
              <a:rPr lang="en-US" altLang="zh-TW" dirty="0"/>
              <a:t> RP or an MRA RP or the downstream Port of an Switch.</a:t>
            </a:r>
          </a:p>
          <a:p>
            <a:pPr lvl="2"/>
            <a:r>
              <a:rPr lang="en-US" altLang="zh-TW" dirty="0"/>
              <a:t>An MRA Switch is composed of zero or more downstream Ports attached to </a:t>
            </a:r>
            <a:r>
              <a:rPr lang="en-US" altLang="zh-TW" dirty="0" err="1"/>
              <a:t>PCIe</a:t>
            </a:r>
            <a:r>
              <a:rPr lang="en-US" altLang="zh-TW" dirty="0"/>
              <a:t> Devices, MRA Devices, </a:t>
            </a:r>
            <a:r>
              <a:rPr lang="en-US" altLang="zh-TW" dirty="0" err="1"/>
              <a:t>PCIe</a:t>
            </a:r>
            <a:r>
              <a:rPr lang="en-US" altLang="zh-TW" dirty="0"/>
              <a:t> Switch upstream Ports, or </a:t>
            </a:r>
            <a:r>
              <a:rPr lang="en-US" altLang="zh-TW" dirty="0" err="1"/>
              <a:t>PCIe</a:t>
            </a:r>
            <a:r>
              <a:rPr lang="en-US" altLang="zh-TW" dirty="0"/>
              <a:t> to PCI/PCI-X Bridges.</a:t>
            </a:r>
          </a:p>
          <a:p>
            <a:pPr lvl="2"/>
            <a:r>
              <a:rPr lang="en-US" altLang="zh-TW" dirty="0"/>
              <a:t>An MRA Switch is composed of zero or more bidirectional Ports attached to other MRA Switches or MRA RPs. </a:t>
            </a:r>
          </a:p>
          <a:p>
            <a:pPr lvl="2"/>
            <a:r>
              <a:rPr lang="en-US" altLang="zh-TW" dirty="0"/>
              <a:t>A set of logical P2P bridges that constitute a VH.</a:t>
            </a:r>
          </a:p>
          <a:p>
            <a:pPr lvl="2"/>
            <a:r>
              <a:rPr lang="en-US" altLang="zh-TW" dirty="0"/>
              <a:t>Each VH represents a separate address space.</a:t>
            </a:r>
            <a:endParaRPr lang="zh-TW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MRA Components</a:t>
            </a:r>
            <a:endParaRPr lang="zh-TW" altLang="en-US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753308" y="764573"/>
            <a:ext cx="5904792" cy="2724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1485900" y="3489238"/>
            <a:ext cx="6172200" cy="1654262"/>
          </a:xfrm>
        </p:spPr>
        <p:txBody>
          <a:bodyPr>
            <a:normAutofit fontScale="47500" lnSpcReduction="20000"/>
          </a:bodyPr>
          <a:lstStyle/>
          <a:p>
            <a:r>
              <a:rPr lang="en-US" altLang="zh-TW" dirty="0"/>
              <a:t>Virtual Switch per VH </a:t>
            </a:r>
          </a:p>
          <a:p>
            <a:pPr lvl="1"/>
            <a:r>
              <a:rPr lang="en-US" altLang="zh-TW" dirty="0" err="1"/>
              <a:t>PCIe</a:t>
            </a:r>
            <a:r>
              <a:rPr lang="en-US" altLang="zh-TW" dirty="0"/>
              <a:t> Type1 CFG space per VH</a:t>
            </a:r>
          </a:p>
          <a:p>
            <a:pPr lvl="1"/>
            <a:r>
              <a:rPr lang="en-US" altLang="zh-TW" dirty="0"/>
              <a:t>Virtual Hot plug control, Power management tracking, Isolation, Error containment &amp; processing per VH</a:t>
            </a:r>
          </a:p>
          <a:p>
            <a:r>
              <a:rPr lang="en-US" altLang="zh-TW" dirty="0"/>
              <a:t>VP protocol support </a:t>
            </a:r>
          </a:p>
          <a:p>
            <a:pPr lvl="1"/>
            <a:r>
              <a:rPr lang="en-US" altLang="zh-TW" dirty="0"/>
              <a:t>Insert/Remove VP label </a:t>
            </a:r>
            <a:r>
              <a:rPr lang="zh-TW" altLang="en-US" dirty="0"/>
              <a:t> </a:t>
            </a:r>
            <a:r>
              <a:rPr lang="en-US" altLang="zh-TW" dirty="0"/>
              <a:t>&amp;</a:t>
            </a:r>
            <a:r>
              <a:rPr lang="zh-TW" altLang="en-US" dirty="0"/>
              <a:t> </a:t>
            </a:r>
            <a:r>
              <a:rPr lang="en-US" altLang="zh-TW" dirty="0"/>
              <a:t>Process Reset DLLP</a:t>
            </a:r>
          </a:p>
          <a:p>
            <a:r>
              <a:rPr lang="en-US" altLang="zh-TW" dirty="0"/>
              <a:t>PCIM interface</a:t>
            </a:r>
          </a:p>
          <a:p>
            <a:pPr lvl="1"/>
            <a:r>
              <a:rPr lang="en-US" altLang="zh-TW" dirty="0"/>
              <a:t>SW registers model for MR PCIM control of shared resources</a:t>
            </a:r>
            <a:endParaRPr lang="zh-TW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1197061" y="991630"/>
            <a:ext cx="1424117" cy="26968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MRA Endpoint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812957" y="1200151"/>
            <a:ext cx="3188044" cy="3394472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/>
              <a:t>VP protocol support</a:t>
            </a:r>
          </a:p>
          <a:p>
            <a:pPr lvl="1"/>
            <a:r>
              <a:rPr lang="en-US" altLang="zh-TW" dirty="0"/>
              <a:t>Insert/Remove VP label at DLL</a:t>
            </a:r>
          </a:p>
          <a:p>
            <a:pPr lvl="1"/>
            <a:r>
              <a:rPr lang="en-US" altLang="zh-TW" dirty="0"/>
              <a:t>Process DLLP for VP RESET</a:t>
            </a:r>
          </a:p>
          <a:p>
            <a:r>
              <a:rPr lang="en-US" altLang="zh-TW" dirty="0"/>
              <a:t>Virtual Endpoint(s) per VH</a:t>
            </a:r>
          </a:p>
          <a:p>
            <a:pPr lvl="1"/>
            <a:r>
              <a:rPr lang="en-US" altLang="zh-TW" dirty="0"/>
              <a:t>Type 0 CFG space per VH </a:t>
            </a:r>
          </a:p>
          <a:p>
            <a:pPr lvl="1"/>
            <a:r>
              <a:rPr lang="en-US" altLang="zh-TW" dirty="0"/>
              <a:t>IOV capabilities within VH for SR IOV  support</a:t>
            </a:r>
          </a:p>
          <a:p>
            <a:r>
              <a:rPr lang="en-US" altLang="zh-TW" dirty="0"/>
              <a:t>PCIM interface</a:t>
            </a:r>
          </a:p>
          <a:p>
            <a:pPr lvl="1"/>
            <a:r>
              <a:rPr lang="en-US" altLang="zh-TW" dirty="0"/>
              <a:t>Registers for MR PCIM control </a:t>
            </a:r>
          </a:p>
          <a:p>
            <a:pPr lvl="1"/>
            <a:r>
              <a:rPr lang="en-US" altLang="zh-TW" dirty="0"/>
              <a:t>Included in IOV CFG space of PF</a:t>
            </a:r>
          </a:p>
          <a:p>
            <a:pPr lvl="1"/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1485900" y="1200150"/>
            <a:ext cx="806279" cy="32899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PHY</a:t>
            </a:r>
            <a:endParaRPr lang="zh-TW" altLang="en-US" sz="1350" dirty="0"/>
          </a:p>
        </p:txBody>
      </p:sp>
      <p:sp>
        <p:nvSpPr>
          <p:cNvPr id="5" name="矩形 4"/>
          <p:cNvSpPr/>
          <p:nvPr/>
        </p:nvSpPr>
        <p:spPr>
          <a:xfrm>
            <a:off x="1331441" y="1478949"/>
            <a:ext cx="1155357" cy="32899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DLL</a:t>
            </a:r>
            <a:endParaRPr lang="zh-TW" altLang="en-US" sz="1350" dirty="0"/>
          </a:p>
        </p:txBody>
      </p:sp>
      <p:cxnSp>
        <p:nvCxnSpPr>
          <p:cNvPr id="7" name="直線單箭頭接點 6"/>
          <p:cNvCxnSpPr>
            <a:stCxn id="5" idx="2"/>
          </p:cNvCxnSpPr>
          <p:nvPr/>
        </p:nvCxnSpPr>
        <p:spPr>
          <a:xfrm>
            <a:off x="1909119" y="1807948"/>
            <a:ext cx="0" cy="546014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501346" y="2353962"/>
            <a:ext cx="815546" cy="328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PF0</a:t>
            </a:r>
            <a:endParaRPr lang="zh-TW" altLang="en-US" sz="1350" dirty="0"/>
          </a:p>
        </p:txBody>
      </p:sp>
      <p:cxnSp>
        <p:nvCxnSpPr>
          <p:cNvPr id="12" name="直線接點 11"/>
          <p:cNvCxnSpPr>
            <a:stCxn id="10" idx="2"/>
          </p:cNvCxnSpPr>
          <p:nvPr/>
        </p:nvCxnSpPr>
        <p:spPr>
          <a:xfrm>
            <a:off x="1909119" y="2682961"/>
            <a:ext cx="0" cy="227056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331440" y="2910017"/>
            <a:ext cx="1195517" cy="6023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Device Specific Functionality</a:t>
            </a:r>
            <a:endParaRPr lang="zh-TW" altLang="en-US" sz="1350" dirty="0"/>
          </a:p>
        </p:txBody>
      </p:sp>
      <p:sp>
        <p:nvSpPr>
          <p:cNvPr id="16" name="矩形 15"/>
          <p:cNvSpPr/>
          <p:nvPr/>
        </p:nvSpPr>
        <p:spPr>
          <a:xfrm>
            <a:off x="1448830" y="3512409"/>
            <a:ext cx="288839" cy="38923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 dirty="0"/>
          </a:p>
        </p:txBody>
      </p:sp>
      <p:sp>
        <p:nvSpPr>
          <p:cNvPr id="17" name="矩形 16"/>
          <p:cNvSpPr/>
          <p:nvPr/>
        </p:nvSpPr>
        <p:spPr>
          <a:xfrm>
            <a:off x="2147759" y="3512409"/>
            <a:ext cx="288839" cy="38923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 dirty="0"/>
          </a:p>
        </p:txBody>
      </p:sp>
      <p:sp>
        <p:nvSpPr>
          <p:cNvPr id="18" name="矩形 17"/>
          <p:cNvSpPr/>
          <p:nvPr/>
        </p:nvSpPr>
        <p:spPr>
          <a:xfrm>
            <a:off x="2783360" y="994717"/>
            <a:ext cx="1844246" cy="26968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9" name="矩形 18"/>
          <p:cNvSpPr/>
          <p:nvPr/>
        </p:nvSpPr>
        <p:spPr>
          <a:xfrm>
            <a:off x="3222056" y="1203237"/>
            <a:ext cx="806279" cy="32899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PHY</a:t>
            </a:r>
            <a:endParaRPr lang="zh-TW" altLang="en-US" sz="1350" dirty="0"/>
          </a:p>
        </p:txBody>
      </p:sp>
      <p:sp>
        <p:nvSpPr>
          <p:cNvPr id="20" name="矩形 19"/>
          <p:cNvSpPr/>
          <p:nvPr/>
        </p:nvSpPr>
        <p:spPr>
          <a:xfrm>
            <a:off x="3067597" y="1482036"/>
            <a:ext cx="1155357" cy="32899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DLL</a:t>
            </a:r>
            <a:endParaRPr lang="zh-TW" altLang="en-US" sz="1350" dirty="0"/>
          </a:p>
        </p:txBody>
      </p:sp>
      <p:cxnSp>
        <p:nvCxnSpPr>
          <p:cNvPr id="21" name="直線單箭頭接點 20"/>
          <p:cNvCxnSpPr/>
          <p:nvPr/>
        </p:nvCxnSpPr>
        <p:spPr>
          <a:xfrm flipH="1">
            <a:off x="3067597" y="1811035"/>
            <a:ext cx="304285" cy="524392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2981103" y="2357049"/>
            <a:ext cx="407774" cy="328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PF0</a:t>
            </a:r>
            <a:endParaRPr lang="zh-TW" altLang="en-US" sz="1350" dirty="0"/>
          </a:p>
        </p:txBody>
      </p:sp>
      <p:cxnSp>
        <p:nvCxnSpPr>
          <p:cNvPr id="23" name="直線接點 22"/>
          <p:cNvCxnSpPr>
            <a:stCxn id="22" idx="2"/>
          </p:cNvCxnSpPr>
          <p:nvPr/>
        </p:nvCxnSpPr>
        <p:spPr>
          <a:xfrm flipH="1">
            <a:off x="3184985" y="2686048"/>
            <a:ext cx="5" cy="205433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3067597" y="2913104"/>
            <a:ext cx="1195517" cy="6023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Device Specific Functionality</a:t>
            </a:r>
            <a:endParaRPr lang="zh-TW" altLang="en-US" sz="1350" dirty="0"/>
          </a:p>
        </p:txBody>
      </p:sp>
      <p:sp>
        <p:nvSpPr>
          <p:cNvPr id="25" name="矩形 24"/>
          <p:cNvSpPr/>
          <p:nvPr/>
        </p:nvSpPr>
        <p:spPr>
          <a:xfrm>
            <a:off x="3184986" y="3515496"/>
            <a:ext cx="288839" cy="38923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 dirty="0"/>
          </a:p>
        </p:txBody>
      </p:sp>
      <p:sp>
        <p:nvSpPr>
          <p:cNvPr id="26" name="矩形 25"/>
          <p:cNvSpPr/>
          <p:nvPr/>
        </p:nvSpPr>
        <p:spPr>
          <a:xfrm>
            <a:off x="3883915" y="3515496"/>
            <a:ext cx="288839" cy="38923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 dirty="0"/>
          </a:p>
        </p:txBody>
      </p:sp>
      <p:sp>
        <p:nvSpPr>
          <p:cNvPr id="33" name="矩形 32"/>
          <p:cNvSpPr/>
          <p:nvPr/>
        </p:nvSpPr>
        <p:spPr>
          <a:xfrm>
            <a:off x="3436757" y="2357049"/>
            <a:ext cx="407774" cy="32899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PF1</a:t>
            </a:r>
            <a:endParaRPr lang="zh-TW" altLang="en-US" sz="1350" dirty="0"/>
          </a:p>
        </p:txBody>
      </p:sp>
      <p:sp>
        <p:nvSpPr>
          <p:cNvPr id="34" name="矩形 33"/>
          <p:cNvSpPr/>
          <p:nvPr/>
        </p:nvSpPr>
        <p:spPr>
          <a:xfrm>
            <a:off x="3931800" y="2357049"/>
            <a:ext cx="407774" cy="32899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PF2</a:t>
            </a:r>
            <a:endParaRPr lang="zh-TW" altLang="en-US" sz="1350" dirty="0"/>
          </a:p>
        </p:txBody>
      </p:sp>
      <p:cxnSp>
        <p:nvCxnSpPr>
          <p:cNvPr id="36" name="直線接點 35"/>
          <p:cNvCxnSpPr/>
          <p:nvPr/>
        </p:nvCxnSpPr>
        <p:spPr>
          <a:xfrm flipH="1">
            <a:off x="3635971" y="2673694"/>
            <a:ext cx="5" cy="205433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" name="直線接點 36"/>
          <p:cNvCxnSpPr/>
          <p:nvPr/>
        </p:nvCxnSpPr>
        <p:spPr>
          <a:xfrm flipH="1">
            <a:off x="4172749" y="2673694"/>
            <a:ext cx="5" cy="205433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stCxn id="20" idx="2"/>
          </p:cNvCxnSpPr>
          <p:nvPr/>
        </p:nvCxnSpPr>
        <p:spPr>
          <a:xfrm flipH="1">
            <a:off x="3635972" y="1811035"/>
            <a:ext cx="9304" cy="524392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/>
          <p:nvPr/>
        </p:nvCxnSpPr>
        <p:spPr>
          <a:xfrm>
            <a:off x="4037640" y="1832658"/>
            <a:ext cx="135110" cy="502769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字方塊 42"/>
          <p:cNvSpPr txBox="1"/>
          <p:nvPr/>
        </p:nvSpPr>
        <p:spPr>
          <a:xfrm>
            <a:off x="1303637" y="4170406"/>
            <a:ext cx="145191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 err="1"/>
              <a:t>PCIe</a:t>
            </a:r>
            <a:r>
              <a:rPr lang="en-US" altLang="zh-TW" sz="1350" dirty="0"/>
              <a:t> 1.X Endpoint</a:t>
            </a:r>
            <a:endParaRPr lang="zh-TW" altLang="en-US" sz="1350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3008906" y="4170406"/>
            <a:ext cx="145191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/>
              <a:t>MRA Endpoint</a:t>
            </a:r>
            <a:endParaRPr lang="zh-TW" alt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Base-SR-MR EP Progression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65472" y="1200151"/>
            <a:ext cx="2705782" cy="3683858"/>
          </a:xfrm>
        </p:spPr>
        <p:txBody>
          <a:bodyPr>
            <a:normAutofit fontScale="62500" lnSpcReduction="20000"/>
          </a:bodyPr>
          <a:lstStyle/>
          <a:p>
            <a:r>
              <a:rPr lang="en-US" altLang="zh-TW" dirty="0"/>
              <a:t>MR Endpoints function as SR or Base Endpoints</a:t>
            </a:r>
          </a:p>
          <a:p>
            <a:pPr lvl="1"/>
            <a:r>
              <a:rPr lang="en-US" altLang="zh-TW" dirty="0"/>
              <a:t>MR capabilities unused by non-MRA SW</a:t>
            </a:r>
          </a:p>
          <a:p>
            <a:pPr lvl="1"/>
            <a:r>
              <a:rPr lang="en-US" altLang="zh-TW" dirty="0"/>
              <a:t>ALL SR capabilities included in MR device</a:t>
            </a:r>
          </a:p>
          <a:p>
            <a:r>
              <a:rPr lang="en-US" altLang="zh-TW" dirty="0"/>
              <a:t>SR Endpoints function as Base Endpoints</a:t>
            </a:r>
          </a:p>
          <a:p>
            <a:pPr lvl="1"/>
            <a:r>
              <a:rPr lang="en-US" altLang="zh-TW" dirty="0"/>
              <a:t>IOV capability register ignored by </a:t>
            </a:r>
            <a:r>
              <a:rPr lang="en-US" altLang="zh-TW" dirty="0" err="1"/>
              <a:t>PCIe</a:t>
            </a:r>
            <a:r>
              <a:rPr lang="en-US" altLang="zh-TW" dirty="0"/>
              <a:t> Base SW</a:t>
            </a:r>
          </a:p>
          <a:p>
            <a:r>
              <a:rPr lang="en-US" altLang="zh-TW" dirty="0"/>
              <a:t>Goal is to minimize cost of new functions</a:t>
            </a:r>
          </a:p>
          <a:p>
            <a:pPr lvl="1"/>
            <a:r>
              <a:rPr lang="en-US" altLang="zh-TW" dirty="0"/>
              <a:t>Minimal CFG space replication</a:t>
            </a:r>
            <a:br>
              <a:rPr lang="en-US" altLang="zh-TW" dirty="0"/>
            </a:br>
            <a:r>
              <a:rPr lang="en-US" altLang="zh-TW" dirty="0"/>
              <a:t>Minimal logic impact of new functions</a:t>
            </a:r>
            <a:endParaRPr lang="zh-TW" altLang="en-US" dirty="0"/>
          </a:p>
        </p:txBody>
      </p:sp>
      <p:pic>
        <p:nvPicPr>
          <p:cNvPr id="4" name="內容版面配置區 3" descr="PastedGraphic-17.tiff"/>
          <p:cNvPicPr>
            <a:picLocks noChangeAspect="1"/>
          </p:cNvPicPr>
          <p:nvPr/>
        </p:nvPicPr>
        <p:blipFill>
          <a:blip r:embed="rId2">
            <a:clrChange>
              <a:clrFrom>
                <a:srgbClr val="E7DFF7"/>
              </a:clrFrom>
              <a:clrTo>
                <a:srgbClr val="E7DF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63478" y="1200151"/>
            <a:ext cx="3901994" cy="35996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Virtual Plane Protocol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TW" dirty="0"/>
              <a:t>TLP Tag</a:t>
            </a:r>
          </a:p>
          <a:p>
            <a:pPr lvl="1"/>
            <a:r>
              <a:rPr lang="en-US" altLang="zh-TW" dirty="0"/>
              <a:t>Inserted/removed at DLL</a:t>
            </a:r>
          </a:p>
          <a:p>
            <a:pPr lvl="2"/>
            <a:r>
              <a:rPr lang="en-US" altLang="zh-TW" dirty="0"/>
              <a:t>TLP is unmodified</a:t>
            </a:r>
          </a:p>
          <a:p>
            <a:pPr lvl="2"/>
            <a:r>
              <a:rPr lang="en-US" altLang="zh-TW" dirty="0"/>
              <a:t>TLP processing uses </a:t>
            </a:r>
            <a:r>
              <a:rPr lang="en-US" altLang="zh-TW" dirty="0" err="1"/>
              <a:t>PCIe</a:t>
            </a:r>
            <a:r>
              <a:rPr lang="en-US" altLang="zh-TW" dirty="0"/>
              <a:t> 1.x rules</a:t>
            </a:r>
          </a:p>
          <a:p>
            <a:pPr lvl="1"/>
            <a:r>
              <a:rPr lang="en-US" altLang="zh-TW" dirty="0"/>
              <a:t>Targeted for support of 256 VP</a:t>
            </a:r>
          </a:p>
          <a:p>
            <a:pPr lvl="2"/>
            <a:r>
              <a:rPr lang="en-US" altLang="zh-TW" dirty="0"/>
              <a:t>Room for expansion to more VP or more functions</a:t>
            </a:r>
          </a:p>
          <a:p>
            <a:pPr lvl="2"/>
            <a:r>
              <a:rPr lang="en-US" altLang="zh-TW" dirty="0"/>
              <a:t>Devices may support from 1 to 256 VP</a:t>
            </a:r>
          </a:p>
          <a:p>
            <a:r>
              <a:rPr lang="en-US" altLang="zh-TW" dirty="0"/>
              <a:t>RESET DLLP</a:t>
            </a:r>
          </a:p>
          <a:p>
            <a:pPr lvl="1"/>
            <a:r>
              <a:rPr lang="en-US" altLang="zh-TW" dirty="0"/>
              <a:t>Per plane RESET DLLP</a:t>
            </a:r>
          </a:p>
          <a:p>
            <a:pPr lvl="2"/>
            <a:r>
              <a:rPr lang="en-US" altLang="zh-TW" dirty="0"/>
              <a:t>Guaranteed progress under all topology conditions</a:t>
            </a:r>
          </a:p>
          <a:p>
            <a:pPr lvl="2"/>
            <a:r>
              <a:rPr lang="en-US" altLang="zh-TW" dirty="0"/>
              <a:t>TLP messages can stall due to FC </a:t>
            </a:r>
            <a:r>
              <a:rPr lang="en-US" altLang="zh-TW" dirty="0" err="1"/>
              <a:t>congesion</a:t>
            </a:r>
            <a:endParaRPr lang="en-US" altLang="zh-TW" dirty="0"/>
          </a:p>
          <a:p>
            <a:pPr lvl="1"/>
            <a:r>
              <a:rPr lang="en-US" altLang="zh-TW" dirty="0"/>
              <a:t>Propagates using RESET logical rules </a:t>
            </a:r>
          </a:p>
          <a:p>
            <a:pPr lvl="2"/>
            <a:r>
              <a:rPr lang="en-US" altLang="zh-TW" dirty="0"/>
              <a:t>Provides a mirror of </a:t>
            </a:r>
            <a:r>
              <a:rPr lang="en-US" altLang="zh-TW" dirty="0" err="1"/>
              <a:t>PCIe</a:t>
            </a:r>
            <a:r>
              <a:rPr lang="en-US" altLang="zh-TW" dirty="0"/>
              <a:t> RESET within a plane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Tagging TLPs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442254" y="1200151"/>
            <a:ext cx="3215846" cy="3394472"/>
          </a:xfrm>
        </p:spPr>
        <p:txBody>
          <a:bodyPr>
            <a:normAutofit fontScale="55000" lnSpcReduction="20000"/>
          </a:bodyPr>
          <a:lstStyle/>
          <a:p>
            <a:r>
              <a:rPr lang="en-US" altLang="zh-TW" dirty="0"/>
              <a:t>Header for all TLPs on MR link</a:t>
            </a:r>
          </a:p>
          <a:p>
            <a:pPr lvl="1"/>
            <a:r>
              <a:rPr lang="en-US" altLang="zh-TW" dirty="0"/>
              <a:t>Not included on </a:t>
            </a:r>
            <a:r>
              <a:rPr lang="en-US" altLang="zh-TW" dirty="0" err="1"/>
              <a:t>PCIe</a:t>
            </a:r>
            <a:r>
              <a:rPr lang="en-US" altLang="zh-TW" dirty="0"/>
              <a:t> 1.X links</a:t>
            </a:r>
          </a:p>
          <a:p>
            <a:r>
              <a:rPr lang="en-US" altLang="zh-TW" dirty="0"/>
              <a:t>Header included on all TLPs</a:t>
            </a:r>
          </a:p>
          <a:p>
            <a:pPr lvl="1"/>
            <a:r>
              <a:rPr lang="en-US" altLang="zh-TW" dirty="0"/>
              <a:t>Stable during retransmissions</a:t>
            </a:r>
          </a:p>
          <a:p>
            <a:r>
              <a:rPr lang="en-US" altLang="zh-TW" dirty="0"/>
              <a:t>Located between Sequence # and TLP </a:t>
            </a:r>
            <a:r>
              <a:rPr lang="en-US" altLang="zh-TW" dirty="0" err="1"/>
              <a:t>Hdr</a:t>
            </a:r>
            <a:endParaRPr lang="en-US" altLang="zh-TW" dirty="0"/>
          </a:p>
          <a:p>
            <a:r>
              <a:rPr lang="en-US" altLang="zh-TW" dirty="0"/>
              <a:t>ACK/Sequence # concept remains per link</a:t>
            </a:r>
          </a:p>
          <a:p>
            <a:pPr lvl="1"/>
            <a:r>
              <a:rPr lang="en-US" altLang="zh-TW" dirty="0"/>
              <a:t>Not affected by Virtual Plane changes</a:t>
            </a:r>
          </a:p>
          <a:p>
            <a:pPr lvl="1"/>
            <a:r>
              <a:rPr lang="en-US" altLang="zh-TW" dirty="0"/>
              <a:t>Like VC today</a:t>
            </a:r>
          </a:p>
          <a:p>
            <a:r>
              <a:rPr lang="en-US" altLang="zh-TW" dirty="0"/>
              <a:t>Header covered by LCRC</a:t>
            </a:r>
          </a:p>
          <a:p>
            <a:pPr lvl="1"/>
            <a:r>
              <a:rPr lang="en-US" altLang="zh-TW" dirty="0"/>
              <a:t>VP# bits are not part of ECRC</a:t>
            </a:r>
            <a:endParaRPr lang="zh-TW" altLang="en-US" dirty="0"/>
          </a:p>
        </p:txBody>
      </p:sp>
      <p:pic>
        <p:nvPicPr>
          <p:cNvPr id="4" name="內容版面配置區 4" descr="PastedGraphic-2.tiff"/>
          <p:cNvPicPr>
            <a:picLocks noChangeAspect="1"/>
          </p:cNvPicPr>
          <p:nvPr/>
        </p:nvPicPr>
        <p:blipFill>
          <a:blip r:embed="rId2">
            <a:clrChange>
              <a:clrFrom>
                <a:srgbClr val="E7DFF7"/>
              </a:clrFrom>
              <a:clrTo>
                <a:srgbClr val="E7DF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81125" y="2068711"/>
            <a:ext cx="3190875" cy="16573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RESET DLLP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483793" y="1200151"/>
            <a:ext cx="3174307" cy="3394472"/>
          </a:xfrm>
        </p:spPr>
        <p:txBody>
          <a:bodyPr>
            <a:normAutofit fontScale="55000" lnSpcReduction="20000"/>
          </a:bodyPr>
          <a:lstStyle/>
          <a:p>
            <a:r>
              <a:rPr lang="en-US" altLang="zh-TW" dirty="0"/>
              <a:t>Provides RESET assert/clear for up to 16 VP in single DLLP</a:t>
            </a:r>
          </a:p>
          <a:p>
            <a:pPr lvl="1"/>
            <a:r>
              <a:rPr lang="en-US" altLang="zh-TW" dirty="0"/>
              <a:t>RESET function remains a level event</a:t>
            </a:r>
          </a:p>
          <a:p>
            <a:pPr lvl="1"/>
            <a:r>
              <a:rPr lang="en-US" altLang="zh-TW" dirty="0"/>
              <a:t>RESET state is stored and maintained by each link partner</a:t>
            </a:r>
          </a:p>
          <a:p>
            <a:endParaRPr lang="en-US" altLang="zh-TW" dirty="0"/>
          </a:p>
          <a:p>
            <a:r>
              <a:rPr lang="en-US" altLang="zh-TW" dirty="0"/>
              <a:t>Handshake for complete reliability of RESET propagation</a:t>
            </a:r>
          </a:p>
          <a:p>
            <a:endParaRPr lang="en-US" altLang="zh-TW" dirty="0"/>
          </a:p>
          <a:p>
            <a:r>
              <a:rPr lang="en-US" altLang="zh-TW" dirty="0"/>
              <a:t>Guarantees buffer flush of VH within intermediate switches </a:t>
            </a:r>
          </a:p>
          <a:p>
            <a:endParaRPr lang="en-US" altLang="zh-TW" dirty="0"/>
          </a:p>
          <a:p>
            <a:r>
              <a:rPr lang="en-US" altLang="zh-TW" dirty="0"/>
              <a:t>Utilizes currently RSVD DLLP</a:t>
            </a:r>
            <a:endParaRPr lang="zh-TW" altLang="en-US" dirty="0"/>
          </a:p>
        </p:txBody>
      </p:sp>
      <p:pic>
        <p:nvPicPr>
          <p:cNvPr id="4" name="內容版面配置區 3" descr="PastedGraphic-3.tiff"/>
          <p:cNvPicPr>
            <a:picLocks noChangeAspect="1"/>
          </p:cNvPicPr>
          <p:nvPr/>
        </p:nvPicPr>
        <p:blipFill>
          <a:blip r:embed="rId2">
            <a:clrChange>
              <a:clrFrom>
                <a:srgbClr val="E7DFF7"/>
              </a:clrFrom>
              <a:clrTo>
                <a:srgbClr val="E7DF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43000" y="1706638"/>
            <a:ext cx="3340793" cy="231548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Virtual Plane Operation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zh-TW" dirty="0"/>
              <a:t>Initialization &amp; Enumeration</a:t>
            </a:r>
          </a:p>
          <a:p>
            <a:pPr lvl="1"/>
            <a:r>
              <a:rPr lang="en-US" altLang="zh-TW" dirty="0"/>
              <a:t>MR PCIM discovers MR, SR, and Base devices</a:t>
            </a:r>
          </a:p>
          <a:p>
            <a:pPr lvl="1"/>
            <a:r>
              <a:rPr lang="en-US" altLang="zh-TW" dirty="0"/>
              <a:t>MR PCIM devices and PFs to RPs </a:t>
            </a:r>
          </a:p>
          <a:p>
            <a:pPr lvl="1"/>
            <a:r>
              <a:rPr lang="en-US" altLang="zh-TW" dirty="0"/>
              <a:t>MR PCIM programs MR switch and EP tables with MR assignments </a:t>
            </a:r>
          </a:p>
          <a:p>
            <a:pPr lvl="1"/>
            <a:r>
              <a:rPr lang="en-US" altLang="zh-TW" dirty="0"/>
              <a:t>SR SW enumerates within its Virtual Hierarchies</a:t>
            </a:r>
          </a:p>
          <a:p>
            <a:r>
              <a:rPr lang="en-US" altLang="zh-TW" dirty="0"/>
              <a:t>Traffic Flow </a:t>
            </a:r>
          </a:p>
          <a:p>
            <a:pPr lvl="1"/>
            <a:r>
              <a:rPr lang="en-US" altLang="zh-TW" dirty="0"/>
              <a:t>Base RP &amp; Base/SR EP utilize </a:t>
            </a:r>
            <a:r>
              <a:rPr lang="en-US" altLang="zh-TW" dirty="0" err="1"/>
              <a:t>PCIe</a:t>
            </a:r>
            <a:r>
              <a:rPr lang="en-US" altLang="zh-TW" dirty="0"/>
              <a:t> Base protocol</a:t>
            </a:r>
          </a:p>
          <a:p>
            <a:pPr lvl="1"/>
            <a:r>
              <a:rPr lang="en-US" altLang="zh-TW" dirty="0"/>
              <a:t>MR EP inserts VP tag at DLL for appropriate PF on Base TLP</a:t>
            </a:r>
          </a:p>
          <a:p>
            <a:pPr lvl="1"/>
            <a:r>
              <a:rPr lang="en-US" altLang="zh-TW" dirty="0"/>
              <a:t>Switch utilizes VP tag to index correct Type 1 CFG headers</a:t>
            </a:r>
          </a:p>
          <a:p>
            <a:pPr lvl="1"/>
            <a:r>
              <a:rPr lang="en-US" altLang="zh-TW" dirty="0" err="1"/>
              <a:t>PCIe</a:t>
            </a:r>
            <a:r>
              <a:rPr lang="en-US" altLang="zh-TW" dirty="0"/>
              <a:t> Base routing rules utilized within a Virtual Hierarchy</a:t>
            </a:r>
          </a:p>
          <a:p>
            <a:r>
              <a:rPr lang="en-US" altLang="zh-TW" dirty="0"/>
              <a:t>RESET</a:t>
            </a:r>
          </a:p>
          <a:p>
            <a:pPr lvl="1"/>
            <a:r>
              <a:rPr lang="en-US" altLang="zh-TW" dirty="0"/>
              <a:t>Base RP asserts RESET as TS1 or Fundamental RESET</a:t>
            </a:r>
          </a:p>
          <a:p>
            <a:pPr lvl="1"/>
            <a:r>
              <a:rPr lang="en-US" altLang="zh-TW" dirty="0"/>
              <a:t>Switch propagates on MR link as RESET DLLP within a VP </a:t>
            </a:r>
          </a:p>
          <a:p>
            <a:pPr lvl="1"/>
            <a:r>
              <a:rPr lang="en-US" altLang="zh-TW" dirty="0"/>
              <a:t>Switch propagates on Base link as TS1</a:t>
            </a:r>
          </a:p>
          <a:p>
            <a:pPr lvl="1"/>
            <a:r>
              <a:rPr lang="en-US" altLang="zh-TW" dirty="0"/>
              <a:t>MR Switch or EP receiving RESET DLLP must flush according to </a:t>
            </a:r>
            <a:r>
              <a:rPr lang="en-US" altLang="zh-TW" dirty="0" err="1"/>
              <a:t>PCIe</a:t>
            </a:r>
            <a:r>
              <a:rPr lang="en-US" altLang="zh-TW" dirty="0"/>
              <a:t> rules</a:t>
            </a:r>
            <a:endParaRPr lang="zh-TW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Protocol Selection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MRA protocol usage must be enabled per link</a:t>
            </a:r>
          </a:p>
          <a:p>
            <a:pPr lvl="1"/>
            <a:r>
              <a:rPr lang="en-US" altLang="zh-TW" dirty="0"/>
              <a:t>Base, SR, and MR devices all coexist </a:t>
            </a:r>
          </a:p>
          <a:p>
            <a:r>
              <a:rPr lang="en-US" altLang="zh-TW" dirty="0"/>
              <a:t>Base devices must work unchanged</a:t>
            </a:r>
          </a:p>
          <a:p>
            <a:pPr lvl="1"/>
            <a:r>
              <a:rPr lang="en-US" altLang="zh-TW" dirty="0"/>
              <a:t>New protocol should either be ignored or</a:t>
            </a:r>
          </a:p>
          <a:p>
            <a:pPr lvl="1"/>
            <a:r>
              <a:rPr lang="en-US" altLang="zh-TW" dirty="0"/>
              <a:t>Enabled only after both link partners are determined as capable</a:t>
            </a:r>
          </a:p>
          <a:p>
            <a:r>
              <a:rPr lang="en-US" altLang="zh-TW" dirty="0"/>
              <a:t>Two options under consideration </a:t>
            </a:r>
          </a:p>
          <a:p>
            <a:pPr lvl="1"/>
            <a:r>
              <a:rPr lang="en-US" altLang="zh-TW" dirty="0"/>
              <a:t>Auto-negotiation at DLL</a:t>
            </a:r>
          </a:p>
          <a:p>
            <a:pPr lvl="2"/>
            <a:r>
              <a:rPr lang="en-US" altLang="zh-TW" dirty="0"/>
              <a:t>Does not modify the PHY layer training</a:t>
            </a:r>
          </a:p>
          <a:p>
            <a:pPr lvl="1"/>
            <a:r>
              <a:rPr lang="en-US" altLang="zh-TW" dirty="0"/>
              <a:t>SW enable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Protocol Selection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Auto negotiation modifies the DLL training SM</a:t>
            </a:r>
          </a:p>
          <a:p>
            <a:pPr lvl="1"/>
            <a:r>
              <a:rPr lang="en-US" altLang="zh-TW" dirty="0"/>
              <a:t>New DLLPs used during DLL training to indicate capabilities of link partners </a:t>
            </a:r>
          </a:p>
          <a:p>
            <a:pPr lvl="1"/>
            <a:r>
              <a:rPr lang="en-US" altLang="zh-TW" dirty="0"/>
              <a:t>New DLLPs dropped by base devices during training</a:t>
            </a:r>
          </a:p>
          <a:p>
            <a:pPr lvl="2"/>
            <a:r>
              <a:rPr lang="en-US" altLang="zh-TW" dirty="0"/>
              <a:t>Once dropped, link reverts to </a:t>
            </a:r>
            <a:r>
              <a:rPr lang="en-US" altLang="zh-TW" dirty="0" err="1"/>
              <a:t>PCIe</a:t>
            </a:r>
            <a:r>
              <a:rPr lang="en-US" altLang="zh-TW" dirty="0"/>
              <a:t> Base operation</a:t>
            </a:r>
          </a:p>
          <a:p>
            <a:r>
              <a:rPr lang="en-US" altLang="zh-TW" dirty="0"/>
              <a:t>SW enable controlled by MR PCIM</a:t>
            </a:r>
          </a:p>
          <a:p>
            <a:pPr lvl="1"/>
            <a:r>
              <a:rPr lang="en-US" altLang="zh-TW" dirty="0"/>
              <a:t>MR PCIM uses </a:t>
            </a:r>
            <a:r>
              <a:rPr lang="en-US" altLang="zh-TW" dirty="0" err="1"/>
              <a:t>PCIe</a:t>
            </a:r>
            <a:r>
              <a:rPr lang="en-US" altLang="zh-TW" dirty="0"/>
              <a:t> Base protocol for initial discovery</a:t>
            </a:r>
          </a:p>
          <a:p>
            <a:pPr lvl="1"/>
            <a:r>
              <a:rPr lang="en-US" altLang="zh-TW" dirty="0"/>
              <a:t>MRA enabled during discovery and initialization by MR PCIM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MR PCIM initialization</a:t>
            </a:r>
            <a:endParaRPr lang="zh-TW" altLang="en-US" dirty="0"/>
          </a:p>
        </p:txBody>
      </p:sp>
      <p:pic>
        <p:nvPicPr>
          <p:cNvPr id="4" name="內容版面配置區 3" descr="PastedGraphic-4.tiff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E7DFF7"/>
              </a:clrFrom>
              <a:clrTo>
                <a:srgbClr val="E7DF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64985" y="1200151"/>
            <a:ext cx="5814031" cy="3394472"/>
          </a:xfr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MR PCIM Assignment</a:t>
            </a:r>
            <a:endParaRPr lang="zh-TW" altLang="en-US" dirty="0"/>
          </a:p>
        </p:txBody>
      </p:sp>
      <p:pic>
        <p:nvPicPr>
          <p:cNvPr id="4" name="內容版面配置區 3" descr="PastedGraphic-5.tiff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E7DFF7"/>
              </a:clrFrom>
              <a:clrTo>
                <a:srgbClr val="E7DF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71998" y="1200151"/>
            <a:ext cx="5800004" cy="3394472"/>
          </a:xfr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SR PCIM Assignment</a:t>
            </a:r>
            <a:endParaRPr lang="zh-TW" altLang="en-US" dirty="0"/>
          </a:p>
        </p:txBody>
      </p:sp>
      <p:pic>
        <p:nvPicPr>
          <p:cNvPr id="4" name="內容版面配置區 3" descr="PastedGraphic-6.tiff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E7DFF7"/>
              </a:clrFrom>
              <a:clrTo>
                <a:srgbClr val="E7DF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88476" y="1200151"/>
            <a:ext cx="5767049" cy="3394472"/>
          </a:xfr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Non-Posted (NP) Request from </a:t>
            </a:r>
            <a:r>
              <a:rPr lang="en-US" altLang="zh-TW" dirty="0" err="1"/>
              <a:t>PCIe</a:t>
            </a:r>
            <a:r>
              <a:rPr lang="en-US" altLang="zh-TW" dirty="0"/>
              <a:t> Base to </a:t>
            </a:r>
            <a:r>
              <a:rPr lang="en-US" altLang="zh-TW" dirty="0" err="1"/>
              <a:t>PCIe</a:t>
            </a:r>
            <a:r>
              <a:rPr lang="en-US" altLang="zh-TW" dirty="0"/>
              <a:t> Base</a:t>
            </a:r>
            <a:endParaRPr lang="zh-TW" altLang="en-US" dirty="0"/>
          </a:p>
        </p:txBody>
      </p:sp>
      <p:pic>
        <p:nvPicPr>
          <p:cNvPr id="4" name="內容版面配置區 3" descr="PastedGraphic-7.tiff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E7DFF7"/>
              </a:clrFrom>
              <a:clrTo>
                <a:srgbClr val="E7DF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16239" y="1200151"/>
            <a:ext cx="5911523" cy="3394472"/>
          </a:xfr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NP from </a:t>
            </a:r>
            <a:r>
              <a:rPr lang="en-US" altLang="zh-TW" dirty="0" err="1"/>
              <a:t>PCIe</a:t>
            </a:r>
            <a:r>
              <a:rPr lang="en-US" altLang="zh-TW" dirty="0"/>
              <a:t> Base to MRA</a:t>
            </a:r>
            <a:endParaRPr lang="zh-TW" altLang="en-US" dirty="0"/>
          </a:p>
        </p:txBody>
      </p:sp>
      <p:pic>
        <p:nvPicPr>
          <p:cNvPr id="6" name="內容版面配置區 5" descr="PastedGraphic-18.tiff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E7DFF7"/>
              </a:clrFrom>
              <a:clrTo>
                <a:srgbClr val="E7DF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11913" y="1200151"/>
            <a:ext cx="5920175" cy="3394472"/>
          </a:xfr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Posted from MRA to </a:t>
            </a:r>
            <a:r>
              <a:rPr lang="en-US" altLang="zh-TW" dirty="0" err="1"/>
              <a:t>PCIe</a:t>
            </a:r>
            <a:r>
              <a:rPr lang="en-US" altLang="zh-TW" dirty="0"/>
              <a:t> Base</a:t>
            </a:r>
            <a:endParaRPr lang="zh-TW" altLang="en-US" dirty="0"/>
          </a:p>
        </p:txBody>
      </p:sp>
      <p:pic>
        <p:nvPicPr>
          <p:cNvPr id="4" name="內容版面配置區 3" descr="PastedGraphic-9.tiff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E7DFF7"/>
              </a:clrFrom>
              <a:clrTo>
                <a:srgbClr val="E7DF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8502" y="1200151"/>
            <a:ext cx="5926997" cy="3394472"/>
          </a:xfr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RESET Propagation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267068" y="1200150"/>
            <a:ext cx="2391032" cy="1802542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dirty="0"/>
              <a:t>RP Reset completely resets VH</a:t>
            </a:r>
          </a:p>
          <a:p>
            <a:r>
              <a:rPr lang="en-US" altLang="zh-TW" dirty="0"/>
              <a:t>Equivalent to </a:t>
            </a:r>
            <a:r>
              <a:rPr lang="en-US" altLang="zh-TW" dirty="0" err="1"/>
              <a:t>PCIe</a:t>
            </a:r>
            <a:r>
              <a:rPr lang="en-US" altLang="zh-TW" dirty="0"/>
              <a:t> 1.X RESET functionality</a:t>
            </a:r>
            <a:endParaRPr lang="zh-TW" altLang="en-US" dirty="0"/>
          </a:p>
        </p:txBody>
      </p:sp>
      <p:pic>
        <p:nvPicPr>
          <p:cNvPr id="4" name="內容版面配置區 3" descr="PastedGraphic-10.tiff"/>
          <p:cNvPicPr>
            <a:picLocks noChangeAspect="1"/>
          </p:cNvPicPr>
          <p:nvPr/>
        </p:nvPicPr>
        <p:blipFill>
          <a:blip r:embed="rId2">
            <a:clrChange>
              <a:clrFrom>
                <a:srgbClr val="E7DFF7"/>
              </a:clrFrom>
              <a:clrTo>
                <a:srgbClr val="E7DF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85900" y="692977"/>
            <a:ext cx="3410465" cy="4376593"/>
          </a:xfrm>
          <a:prstGeom prst="rect">
            <a:avLst/>
          </a:prstGeom>
        </p:spPr>
      </p:pic>
      <p:pic>
        <p:nvPicPr>
          <p:cNvPr id="5" name="圖片 4" descr="PastedGraphic-12.tiff"/>
          <p:cNvPicPr>
            <a:picLocks noChangeAspect="1"/>
          </p:cNvPicPr>
          <p:nvPr/>
        </p:nvPicPr>
        <p:blipFill>
          <a:blip r:embed="rId3">
            <a:clrChange>
              <a:clrFrom>
                <a:srgbClr val="E7DFF7"/>
              </a:clrFrom>
              <a:clrTo>
                <a:srgbClr val="E7DF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57825" y="2786130"/>
            <a:ext cx="2543175" cy="225742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Hot Plug in MR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/>
              <a:t>MRA Switches have two Hot Plug Controllers (HPC)</a:t>
            </a:r>
          </a:p>
          <a:p>
            <a:pPr lvl="1"/>
            <a:r>
              <a:rPr lang="en-US" altLang="zh-TW" dirty="0"/>
              <a:t>Physical controller (1 per link)</a:t>
            </a:r>
          </a:p>
          <a:p>
            <a:pPr lvl="2"/>
            <a:r>
              <a:rPr lang="en-US" altLang="zh-TW" dirty="0"/>
              <a:t>Controls events on the link</a:t>
            </a:r>
          </a:p>
          <a:p>
            <a:pPr lvl="2"/>
            <a:r>
              <a:rPr lang="en-US" altLang="zh-TW" dirty="0"/>
              <a:t>Owned by MR PCIM</a:t>
            </a:r>
          </a:p>
          <a:p>
            <a:pPr lvl="1"/>
            <a:r>
              <a:rPr lang="en-US" altLang="zh-TW" dirty="0"/>
              <a:t>Virtual controller (1 per VP per link)</a:t>
            </a:r>
          </a:p>
          <a:p>
            <a:pPr lvl="2"/>
            <a:r>
              <a:rPr lang="en-US" altLang="zh-TW" dirty="0"/>
              <a:t>Controls events within a VH</a:t>
            </a:r>
          </a:p>
          <a:p>
            <a:pPr lvl="2"/>
            <a:r>
              <a:rPr lang="en-US" altLang="zh-TW" dirty="0"/>
              <a:t>Owned by SR PCIM, coordinated with MR PCIM</a:t>
            </a:r>
          </a:p>
          <a:p>
            <a:pPr lvl="3"/>
            <a:r>
              <a:rPr lang="en-US" altLang="zh-TW" dirty="0"/>
              <a:t>New registers added for MR PCIM access point</a:t>
            </a:r>
          </a:p>
          <a:p>
            <a:pPr lvl="1"/>
            <a:r>
              <a:rPr lang="en-US" altLang="zh-TW" dirty="0"/>
              <a:t>Hot Plug in MR consists of two event types</a:t>
            </a:r>
          </a:p>
          <a:p>
            <a:pPr lvl="2"/>
            <a:r>
              <a:rPr lang="en-US" altLang="zh-TW" dirty="0"/>
              <a:t>Physical events coordinated by MR PCIM and physical HPC (</a:t>
            </a:r>
            <a:r>
              <a:rPr lang="en-US" altLang="zh-TW" dirty="0" err="1"/>
              <a:t>pHPC</a:t>
            </a:r>
            <a:r>
              <a:rPr lang="en-US" altLang="zh-TW" dirty="0"/>
              <a:t>)</a:t>
            </a:r>
          </a:p>
          <a:p>
            <a:pPr lvl="2"/>
            <a:r>
              <a:rPr lang="en-US" altLang="zh-TW" dirty="0"/>
              <a:t>Virtual events coordinated by MR PCIM, SR PCIM, and virtual HPC (</a:t>
            </a:r>
            <a:r>
              <a:rPr lang="en-US" altLang="zh-TW" dirty="0" err="1"/>
              <a:t>vHPC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HPC SW interface same a </a:t>
            </a:r>
            <a:r>
              <a:rPr lang="en-US" altLang="zh-TW" dirty="0" err="1"/>
              <a:t>PCIe</a:t>
            </a:r>
            <a:r>
              <a:rPr lang="en-US" altLang="zh-TW" dirty="0"/>
              <a:t> Base</a:t>
            </a:r>
          </a:p>
          <a:p>
            <a:pPr lvl="2"/>
            <a:r>
              <a:rPr lang="en-US" altLang="zh-TW" dirty="0"/>
              <a:t>Utilizes </a:t>
            </a:r>
            <a:r>
              <a:rPr lang="en-US" altLang="zh-TW" dirty="0" err="1"/>
              <a:t>PCIe</a:t>
            </a:r>
            <a:r>
              <a:rPr lang="en-US" altLang="zh-TW" dirty="0"/>
              <a:t> Hot Plug specification within switches</a:t>
            </a:r>
            <a:endParaRPr lang="zh-TW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MR Hot Plug Interfaces</a:t>
            </a:r>
            <a:endParaRPr lang="zh-TW" altLang="en-US" dirty="0"/>
          </a:p>
        </p:txBody>
      </p:sp>
      <p:pic>
        <p:nvPicPr>
          <p:cNvPr id="4" name="內容版面配置區 3" descr="PastedGraphic-13.tiff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E7DFF7"/>
              </a:clrFrom>
              <a:clrTo>
                <a:srgbClr val="E7DF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24038" y="1206698"/>
            <a:ext cx="5495925" cy="3381375"/>
          </a:xfr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Hot Plug Event Steps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User event initiated</a:t>
            </a:r>
          </a:p>
          <a:p>
            <a:pPr lvl="1"/>
            <a:r>
              <a:rPr lang="en-US" altLang="zh-TW" dirty="0"/>
              <a:t>Example: Slot Attention Button Press for device removal</a:t>
            </a:r>
          </a:p>
          <a:p>
            <a:r>
              <a:rPr lang="en-US" altLang="zh-TW" dirty="0" err="1"/>
              <a:t>pHPC</a:t>
            </a:r>
            <a:r>
              <a:rPr lang="en-US" altLang="zh-TW" dirty="0"/>
              <a:t> notifies MR PCIM of event</a:t>
            </a:r>
          </a:p>
          <a:p>
            <a:pPr lvl="1"/>
            <a:r>
              <a:rPr lang="en-US" altLang="zh-TW" dirty="0"/>
              <a:t>Uses MR PCIM </a:t>
            </a:r>
            <a:r>
              <a:rPr lang="en-US" altLang="zh-TW" dirty="0" err="1"/>
              <a:t>pHPC</a:t>
            </a:r>
            <a:r>
              <a:rPr lang="en-US" altLang="zh-TW" dirty="0"/>
              <a:t> interface (#3)</a:t>
            </a:r>
          </a:p>
          <a:p>
            <a:r>
              <a:rPr lang="en-US" altLang="zh-TW" dirty="0"/>
              <a:t>MR PCIM initiated virtual HP events through </a:t>
            </a:r>
            <a:r>
              <a:rPr lang="en-US" altLang="zh-TW" dirty="0" err="1"/>
              <a:t>vHPC</a:t>
            </a:r>
            <a:endParaRPr lang="en-US" altLang="zh-TW" dirty="0"/>
          </a:p>
          <a:p>
            <a:pPr lvl="1"/>
            <a:r>
              <a:rPr lang="en-US" altLang="zh-TW" dirty="0"/>
              <a:t>Uses MR PCIM </a:t>
            </a:r>
            <a:r>
              <a:rPr lang="en-US" altLang="zh-TW" dirty="0" err="1"/>
              <a:t>vHPC</a:t>
            </a:r>
            <a:r>
              <a:rPr lang="en-US" altLang="zh-TW" dirty="0"/>
              <a:t> interface (#2)</a:t>
            </a:r>
          </a:p>
          <a:p>
            <a:r>
              <a:rPr lang="en-US" altLang="zh-TW" dirty="0" err="1"/>
              <a:t>vHPC</a:t>
            </a:r>
            <a:r>
              <a:rPr lang="en-US" altLang="zh-TW" dirty="0"/>
              <a:t> notifies SR PCIM(s) of event</a:t>
            </a:r>
          </a:p>
          <a:p>
            <a:pPr lvl="1"/>
            <a:r>
              <a:rPr lang="en-US" altLang="zh-TW" dirty="0"/>
              <a:t>Uses SR PCIM </a:t>
            </a:r>
            <a:r>
              <a:rPr lang="en-US" altLang="zh-TW" dirty="0" err="1"/>
              <a:t>vHPC</a:t>
            </a:r>
            <a:r>
              <a:rPr lang="en-US" altLang="zh-TW" dirty="0"/>
              <a:t> interface (#1)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Hot Plug Event Steps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SR PCIM processes event and updates state of </a:t>
            </a:r>
            <a:r>
              <a:rPr lang="en-US" altLang="zh-TW" dirty="0" err="1"/>
              <a:t>vHPC</a:t>
            </a:r>
            <a:endParaRPr lang="en-US" altLang="zh-TW" dirty="0"/>
          </a:p>
          <a:p>
            <a:pPr lvl="1"/>
            <a:r>
              <a:rPr lang="en-US" altLang="zh-TW" dirty="0"/>
              <a:t>Uses SR PCIM </a:t>
            </a:r>
            <a:r>
              <a:rPr lang="en-US" altLang="zh-TW" dirty="0" err="1"/>
              <a:t>vPHC</a:t>
            </a:r>
            <a:r>
              <a:rPr lang="en-US" altLang="zh-TW" dirty="0"/>
              <a:t> interface (#1)</a:t>
            </a:r>
            <a:endParaRPr lang="zh-TW" altLang="en-US" dirty="0"/>
          </a:p>
          <a:p>
            <a:r>
              <a:rPr lang="en-US" altLang="zh-TW" dirty="0" err="1"/>
              <a:t>vHPC</a:t>
            </a:r>
            <a:r>
              <a:rPr lang="en-US" altLang="zh-TW" dirty="0"/>
              <a:t> notifies MR PCIM of state change for that </a:t>
            </a:r>
            <a:r>
              <a:rPr lang="en-US" altLang="zh-TW" dirty="0" err="1"/>
              <a:t>vHPC</a:t>
            </a:r>
            <a:endParaRPr lang="en-US" altLang="zh-TW" dirty="0"/>
          </a:p>
          <a:p>
            <a:pPr lvl="1"/>
            <a:r>
              <a:rPr lang="en-US" altLang="zh-TW" dirty="0"/>
              <a:t>Uses MR PCIM </a:t>
            </a:r>
            <a:r>
              <a:rPr lang="en-US" altLang="zh-TW" dirty="0" err="1"/>
              <a:t>vHPC</a:t>
            </a:r>
            <a:r>
              <a:rPr lang="en-US" altLang="zh-TW" dirty="0"/>
              <a:t> interface (#2)</a:t>
            </a:r>
          </a:p>
          <a:p>
            <a:r>
              <a:rPr lang="en-US" altLang="zh-TW" dirty="0"/>
              <a:t>MR PCIM processes all state changes and updates state of </a:t>
            </a:r>
            <a:r>
              <a:rPr lang="en-US" altLang="zh-TW" dirty="0" err="1"/>
              <a:t>pHPC</a:t>
            </a:r>
            <a:r>
              <a:rPr lang="en-US" altLang="zh-TW" dirty="0"/>
              <a:t> </a:t>
            </a:r>
          </a:p>
          <a:p>
            <a:pPr lvl="1"/>
            <a:r>
              <a:rPr lang="en-US" altLang="zh-TW" dirty="0"/>
              <a:t>Uses MR PCIM </a:t>
            </a:r>
            <a:r>
              <a:rPr lang="en-US" altLang="zh-TW" dirty="0" err="1"/>
              <a:t>pHPC</a:t>
            </a:r>
            <a:r>
              <a:rPr lang="en-US" altLang="zh-TW" dirty="0"/>
              <a:t> interface (#3)</a:t>
            </a:r>
          </a:p>
          <a:p>
            <a:r>
              <a:rPr lang="en-US" altLang="zh-TW" dirty="0" err="1"/>
              <a:t>pHPC</a:t>
            </a:r>
            <a:r>
              <a:rPr lang="en-US" altLang="zh-TW" dirty="0"/>
              <a:t> indicates device is safe for removal</a:t>
            </a:r>
          </a:p>
          <a:p>
            <a:pPr lvl="1"/>
            <a:r>
              <a:rPr lang="en-US" altLang="zh-TW" dirty="0"/>
              <a:t>Example: Slot power removed &amp; LED state change</a:t>
            </a:r>
            <a:endParaRPr lang="zh-TW" altLang="en-US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Hot Removal Event Initiated</a:t>
            </a:r>
            <a:endParaRPr lang="zh-TW" altLang="en-US" dirty="0"/>
          </a:p>
        </p:txBody>
      </p:sp>
      <p:pic>
        <p:nvPicPr>
          <p:cNvPr id="4" name="內容版面配置區 3" descr="PastedGraphic-14.tiff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E7DFF7"/>
              </a:clrFrom>
              <a:clrTo>
                <a:srgbClr val="E7DF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81395" y="1200151"/>
            <a:ext cx="5781211" cy="3394472"/>
          </a:xfr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Hot Removal Coordination</a:t>
            </a:r>
            <a:endParaRPr lang="zh-TW" altLang="en-US" dirty="0"/>
          </a:p>
        </p:txBody>
      </p:sp>
      <p:pic>
        <p:nvPicPr>
          <p:cNvPr id="4" name="內容版面配置區 3" descr="PastedGraphic-15.tiff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E7DFF7"/>
              </a:clrFrom>
              <a:clrTo>
                <a:srgbClr val="E7DF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10691" y="1200151"/>
            <a:ext cx="5722619" cy="3394472"/>
          </a:xfr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Hot Removal Completion</a:t>
            </a:r>
            <a:endParaRPr lang="zh-TW" altLang="en-US" dirty="0"/>
          </a:p>
        </p:txBody>
      </p:sp>
      <p:pic>
        <p:nvPicPr>
          <p:cNvPr id="4" name="內容版面配置區 3" descr="PastedGraphic-16.tiff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E7DFF7"/>
              </a:clrFrom>
              <a:clrTo>
                <a:srgbClr val="E7DF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18357" y="1200151"/>
            <a:ext cx="5707286" cy="3394472"/>
          </a:xfr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Reference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TW" dirty="0"/>
              <a:t>Multi-Root I/O Virtualization and Sharing Specification Revision 1.0</a:t>
            </a:r>
            <a:endParaRPr lang="en-US" altLang="zh-TW" dirty="0">
              <a:hlinkClick r:id="rId2"/>
            </a:endParaRPr>
          </a:p>
          <a:p>
            <a:r>
              <a:rPr lang="en-US" altLang="zh-TW" dirty="0"/>
              <a:t>Dennis Martin, “Innovations in storage networking: Next-gen storage networks for next-gen data centers,” in Storage Decisions </a:t>
            </a:r>
            <a:r>
              <a:rPr lang="en-US" altLang="zh-TW" dirty="0" err="1"/>
              <a:t>Chincago</a:t>
            </a:r>
            <a:r>
              <a:rPr lang="en-US" altLang="zh-TW" dirty="0"/>
              <a:t> presentation titled, 2012.</a:t>
            </a:r>
            <a:endParaRPr lang="en-US" altLang="zh-TW" dirty="0">
              <a:hlinkClick r:id="rId2"/>
            </a:endParaRPr>
          </a:p>
          <a:p>
            <a:r>
              <a:rPr lang="en-US" altLang="zh-TW" dirty="0">
                <a:hlinkClick r:id="rId2"/>
              </a:rPr>
              <a:t>http://www.pcisig.com/developers/main/training_materials/get_document?doc_id=e3da4046eb5314826343d9df18b60f083880bf7b</a:t>
            </a:r>
            <a:endParaRPr lang="en-US" altLang="zh-TW" dirty="0"/>
          </a:p>
          <a:p>
            <a:r>
              <a:rPr lang="en-US" altLang="zh-TW" dirty="0">
                <a:hlinkClick r:id="rId3"/>
              </a:rPr>
              <a:t>http://www.pcisig.com/developers/main/training_materials/get_document?doc_id=ee6c699074c0b2440bfac3abdecb74b3d89821a8</a:t>
            </a:r>
            <a:endParaRPr lang="en-US" altLang="zh-TW" dirty="0"/>
          </a:p>
          <a:p>
            <a:r>
              <a:rPr lang="en-US" altLang="zh-TW" dirty="0">
                <a:hlinkClick r:id="rId4"/>
              </a:rPr>
              <a:t>http://www.pcisig.com/developers/main/training_materials/get_document?doc_id=656dc1d4f27b8fdca34f583bdc9437627bc3249f</a:t>
            </a: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2444</TotalTime>
  <Words>2194</Words>
  <Application>Microsoft Office PowerPoint</Application>
  <PresentationFormat>全屏显示(16:9)</PresentationFormat>
  <Paragraphs>309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0" baseType="lpstr">
      <vt:lpstr>標楷體</vt:lpstr>
      <vt:lpstr>MS Sans Serif</vt:lpstr>
      <vt:lpstr>Arial</vt:lpstr>
      <vt:lpstr>Calibri</vt:lpstr>
      <vt:lpstr>Times New Roman</vt:lpstr>
      <vt:lpstr>Wingdings</vt:lpstr>
      <vt:lpstr>NTHU UniCloud</vt:lpstr>
      <vt:lpstr>CSC6032 – Advanced Operating Systems</vt:lpstr>
      <vt:lpstr>虛擬化技術 Virtualization Techniques</vt:lpstr>
      <vt:lpstr>MR-IOV Introduction</vt:lpstr>
      <vt:lpstr>MR-IOV Topology</vt:lpstr>
      <vt:lpstr>MR-IOV Topology</vt:lpstr>
      <vt:lpstr>Topology Overview and Terms</vt:lpstr>
      <vt:lpstr>Multi-Root IOV function Types and Terms</vt:lpstr>
      <vt:lpstr>MRA Components</vt:lpstr>
      <vt:lpstr>MRA Components</vt:lpstr>
      <vt:lpstr>MRA Components</vt:lpstr>
      <vt:lpstr>MRA Components</vt:lpstr>
      <vt:lpstr>MRA Components</vt:lpstr>
      <vt:lpstr>MRA Components</vt:lpstr>
      <vt:lpstr>MRA Components</vt:lpstr>
      <vt:lpstr>MRA Components</vt:lpstr>
      <vt:lpstr>MRA Components</vt:lpstr>
      <vt:lpstr>MRA Components</vt:lpstr>
      <vt:lpstr>MRA Components</vt:lpstr>
      <vt:lpstr>MRA Components</vt:lpstr>
      <vt:lpstr>MRA Components</vt:lpstr>
      <vt:lpstr>MRA Endpoint</vt:lpstr>
      <vt:lpstr>Base-SR-MR EP Progression</vt:lpstr>
      <vt:lpstr>Virtual Plane Protocol</vt:lpstr>
      <vt:lpstr>Tagging TLPs</vt:lpstr>
      <vt:lpstr>RESET DLLP</vt:lpstr>
      <vt:lpstr>Virtual Plane Operation</vt:lpstr>
      <vt:lpstr>Protocol Selection</vt:lpstr>
      <vt:lpstr>Protocol Selection</vt:lpstr>
      <vt:lpstr>MR PCIM initialization</vt:lpstr>
      <vt:lpstr>MR PCIM Assignment</vt:lpstr>
      <vt:lpstr>SR PCIM Assignment</vt:lpstr>
      <vt:lpstr>Non-Posted (NP) Request from PCIe Base to PCIe Base</vt:lpstr>
      <vt:lpstr>NP from PCIe Base to MRA</vt:lpstr>
      <vt:lpstr>Posted from MRA to PCIe Base</vt:lpstr>
      <vt:lpstr>RESET Propagation</vt:lpstr>
      <vt:lpstr>Hot Plug in MR</vt:lpstr>
      <vt:lpstr>MR Hot Plug Interfaces</vt:lpstr>
      <vt:lpstr>Hot Plug Event Steps</vt:lpstr>
      <vt:lpstr>Hot Plug Event Steps</vt:lpstr>
      <vt:lpstr>Hot Removal Event Initiated</vt:lpstr>
      <vt:lpstr>Hot Removal Coordination</vt:lpstr>
      <vt:lpstr>Hot Removal Completion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</cp:lastModifiedBy>
  <cp:revision>271</cp:revision>
  <dcterms:created xsi:type="dcterms:W3CDTF">2015-06-05T07:23:35Z</dcterms:created>
  <dcterms:modified xsi:type="dcterms:W3CDTF">2023-10-15T06:20:38Z</dcterms:modified>
</cp:coreProperties>
</file>