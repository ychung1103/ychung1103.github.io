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56" r:id="rId2"/>
    <p:sldId id="266" r:id="rId3"/>
    <p:sldId id="267" r:id="rId4"/>
    <p:sldId id="288" r:id="rId5"/>
    <p:sldId id="289" r:id="rId6"/>
    <p:sldId id="293" r:id="rId7"/>
    <p:sldId id="294" r:id="rId8"/>
    <p:sldId id="325" r:id="rId9"/>
    <p:sldId id="290" r:id="rId10"/>
    <p:sldId id="326" r:id="rId11"/>
    <p:sldId id="322" r:id="rId12"/>
    <p:sldId id="323" r:id="rId13"/>
    <p:sldId id="328" r:id="rId14"/>
    <p:sldId id="271" r:id="rId15"/>
    <p:sldId id="291" r:id="rId16"/>
    <p:sldId id="295" r:id="rId17"/>
    <p:sldId id="296" r:id="rId18"/>
    <p:sldId id="292" r:id="rId19"/>
    <p:sldId id="330" r:id="rId20"/>
    <p:sldId id="297" r:id="rId21"/>
    <p:sldId id="331" r:id="rId22"/>
    <p:sldId id="298" r:id="rId23"/>
    <p:sldId id="308" r:id="rId24"/>
    <p:sldId id="300" r:id="rId25"/>
    <p:sldId id="309" r:id="rId26"/>
    <p:sldId id="301" r:id="rId27"/>
    <p:sldId id="319" r:id="rId28"/>
    <p:sldId id="340" r:id="rId29"/>
    <p:sldId id="341" r:id="rId30"/>
    <p:sldId id="342" r:id="rId31"/>
    <p:sldId id="343" r:id="rId32"/>
    <p:sldId id="344" r:id="rId33"/>
    <p:sldId id="333" r:id="rId34"/>
    <p:sldId id="334" r:id="rId35"/>
    <p:sldId id="335" r:id="rId36"/>
    <p:sldId id="302" r:id="rId37"/>
    <p:sldId id="303" r:id="rId38"/>
    <p:sldId id="332" r:id="rId39"/>
    <p:sldId id="304" r:id="rId40"/>
    <p:sldId id="305" r:id="rId41"/>
    <p:sldId id="306" r:id="rId42"/>
    <p:sldId id="316" r:id="rId43"/>
    <p:sldId id="311" r:id="rId44"/>
    <p:sldId id="314" r:id="rId45"/>
    <p:sldId id="315" r:id="rId46"/>
    <p:sldId id="321" r:id="rId47"/>
    <p:sldId id="307" r:id="rId48"/>
    <p:sldId id="317" r:id="rId4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59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mtu.edu/~zlwang/papers/vee11.pdf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</a:t>
            </a:r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2400300"/>
            <a:ext cx="4800600" cy="177165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System Virtualization</a:t>
            </a:r>
          </a:p>
          <a:p>
            <a:pPr algn="ctr"/>
            <a:r>
              <a:rPr lang="en-US" altLang="zh-TW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Memory Virtualization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Basic concept of memory management</a:t>
            </a:r>
          </a:p>
          <a:p>
            <a:r>
              <a:rPr lang="en-US" altLang="zh-TW" dirty="0"/>
              <a:t>Brief introduction to ARM v7 AMSA</a:t>
            </a:r>
          </a:p>
          <a:p>
            <a:r>
              <a:rPr lang="en-US" altLang="zh-TW" dirty="0"/>
              <a:t>Memory Virtualization</a:t>
            </a:r>
          </a:p>
          <a:p>
            <a:pPr lvl="1"/>
            <a:r>
              <a:rPr lang="en-US" altLang="zh-TW" dirty="0"/>
              <a:t>Shadow page table</a:t>
            </a:r>
          </a:p>
          <a:p>
            <a:pPr lvl="1"/>
            <a:r>
              <a:rPr lang="en-US" altLang="zh-TW" dirty="0"/>
              <a:t>Hardware assistance</a:t>
            </a:r>
          </a:p>
          <a:p>
            <a:pPr lvl="1"/>
            <a:r>
              <a:rPr lang="en-US" altLang="zh-TW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689609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concept of memory management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7646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Management Unit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 hardware component responsible for handling accesses to memory requested by the CPU</a:t>
            </a:r>
          </a:p>
          <a:p>
            <a:pPr lvl="1"/>
            <a:r>
              <a:rPr lang="en-US" altLang="zh-TW" dirty="0"/>
              <a:t>Address translation: virtual address to physical address (VA to PA)</a:t>
            </a:r>
          </a:p>
          <a:p>
            <a:pPr lvl="1"/>
            <a:r>
              <a:rPr lang="en-US" altLang="zh-TW" dirty="0"/>
              <a:t>Memory protection</a:t>
            </a:r>
          </a:p>
          <a:p>
            <a:pPr lvl="1"/>
            <a:r>
              <a:rPr lang="en-US" altLang="zh-TW" dirty="0"/>
              <a:t>Cache control</a:t>
            </a:r>
          </a:p>
          <a:p>
            <a:pPr lvl="1"/>
            <a:r>
              <a:rPr lang="en-US" altLang="zh-TW" dirty="0"/>
              <a:t>Bus arbitration</a:t>
            </a:r>
          </a:p>
          <a:p>
            <a:r>
              <a:rPr lang="en-US" altLang="zh-TW" dirty="0"/>
              <a:t>Page tables are maintained by operating system, and MMU only references them.</a:t>
            </a:r>
          </a:p>
          <a:p>
            <a:r>
              <a:rPr lang="en-US" altLang="zh-TW" dirty="0"/>
              <a:t>TLB updates are performed automatically by page-table walking hardware</a:t>
            </a:r>
          </a:p>
        </p:txBody>
      </p:sp>
    </p:spTree>
    <p:extLst>
      <p:ext uri="{BB962C8B-B14F-4D97-AF65-F5344CB8AC3E}">
        <p14:creationId xmlns:p14="http://schemas.microsoft.com/office/powerpoint/2010/main" val="2403305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Tables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97565"/>
            <a:ext cx="6172200" cy="3394472"/>
          </a:xfrm>
        </p:spPr>
        <p:txBody>
          <a:bodyPr/>
          <a:lstStyle/>
          <a:p>
            <a:r>
              <a:rPr lang="en-US" altLang="zh-TW" dirty="0"/>
              <a:t>A page table is the data structure used by a virtual memory system to store the mapping between virtual addresses and physical addresses</a:t>
            </a:r>
          </a:p>
          <a:p>
            <a:r>
              <a:rPr lang="en-US" altLang="zh-TW" dirty="0"/>
              <a:t>Translation table base register(TTBR)</a:t>
            </a:r>
          </a:p>
          <a:p>
            <a:pPr lvl="1"/>
            <a:r>
              <a:rPr lang="en-US" altLang="zh-TW" dirty="0"/>
              <a:t>Also called page table base register</a:t>
            </a:r>
          </a:p>
          <a:p>
            <a:pPr lvl="1"/>
            <a:r>
              <a:rPr lang="en-US" altLang="zh-TW" dirty="0"/>
              <a:t>A register that stores the address of the base page table for MMU</a:t>
            </a:r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3778" y="3112926"/>
            <a:ext cx="4931383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3478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images.cnblogs.com/cnblogs_com/cornflower/MMU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3847" y="2538282"/>
            <a:ext cx="4336307" cy="257175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TLB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789552"/>
            <a:ext cx="6172200" cy="1890210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Translation look-aside buffer</a:t>
            </a:r>
          </a:p>
          <a:p>
            <a:pPr lvl="1"/>
            <a:r>
              <a:rPr lang="en-US" altLang="zh-TW" sz="1500" dirty="0"/>
              <a:t>A CPU cache that memory management hardware uses to improve virtual address translation speed</a:t>
            </a:r>
          </a:p>
          <a:p>
            <a:pPr lvl="1"/>
            <a:r>
              <a:rPr lang="en-US" altLang="zh-TW" sz="1500" dirty="0"/>
              <a:t>The TLB is typically implemented as content-addressable memory (CAM)</a:t>
            </a:r>
          </a:p>
          <a:p>
            <a:pPr lvl="1"/>
            <a:r>
              <a:rPr lang="en-US" altLang="zh-TW" sz="1500" dirty="0"/>
              <a:t>The CAM search key is the virtual address and the search result is a physical address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485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Brief introduction to ARMv7 VMSA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01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ARMv7 VMSA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VMSA: Virtual memory system architecture</a:t>
            </a:r>
          </a:p>
          <a:p>
            <a:r>
              <a:rPr lang="en-US" altLang="zh-TW" dirty="0"/>
              <a:t>Support four mapping types</a:t>
            </a:r>
          </a:p>
          <a:p>
            <a:pPr lvl="1"/>
            <a:r>
              <a:rPr lang="en-US" altLang="zh-TW" dirty="0"/>
              <a:t>16MB Super section</a:t>
            </a:r>
          </a:p>
          <a:p>
            <a:pPr lvl="1"/>
            <a:r>
              <a:rPr lang="en-US" altLang="zh-TW" dirty="0"/>
              <a:t>1MB Section</a:t>
            </a:r>
          </a:p>
          <a:p>
            <a:pPr lvl="1"/>
            <a:r>
              <a:rPr lang="en-US" altLang="zh-TW" dirty="0"/>
              <a:t>64KB Large page</a:t>
            </a:r>
          </a:p>
          <a:p>
            <a:pPr lvl="1"/>
            <a:r>
              <a:rPr lang="en-US" altLang="zh-TW" dirty="0"/>
              <a:t>4KB Small page</a:t>
            </a:r>
          </a:p>
          <a:p>
            <a:endParaRPr lang="en-US" altLang="zh-TW" dirty="0"/>
          </a:p>
          <a:p>
            <a:r>
              <a:rPr lang="en-US" altLang="zh-TW" dirty="0"/>
              <a:t>Basically a 32-bit two-layer translation table</a:t>
            </a:r>
          </a:p>
          <a:p>
            <a:r>
              <a:rPr lang="en-US" altLang="zh-TW" dirty="0"/>
              <a:t>Other features (virtualization extension and 64-bit large physical address extension) would be mentioned in the future class</a:t>
            </a:r>
          </a:p>
        </p:txBody>
      </p:sp>
    </p:spTree>
    <p:extLst>
      <p:ext uri="{BB962C8B-B14F-4D97-AF65-F5344CB8AC3E}">
        <p14:creationId xmlns:p14="http://schemas.microsoft.com/office/powerpoint/2010/main" val="179807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L1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First-level table</a:t>
            </a:r>
          </a:p>
          <a:p>
            <a:pPr lvl="1"/>
            <a:r>
              <a:rPr lang="en-US" altLang="zh-TW" dirty="0"/>
              <a:t>Translation properties for a Section and Super-section</a:t>
            </a:r>
          </a:p>
          <a:p>
            <a:pPr lvl="1"/>
            <a:r>
              <a:rPr lang="en-US" altLang="zh-TW" dirty="0"/>
              <a:t>Translation properties and pointers to a second-level table for a Large page or a Small page.</a:t>
            </a:r>
          </a:p>
          <a:p>
            <a:endParaRPr lang="en-US" altLang="zh-TW" dirty="0"/>
          </a:p>
          <a:p>
            <a:r>
              <a:rPr lang="en-US" altLang="zh-TW" dirty="0"/>
              <a:t>L1 descriptor[1:0]</a:t>
            </a:r>
          </a:p>
          <a:p>
            <a:pPr lvl="1"/>
            <a:r>
              <a:rPr lang="en-US" altLang="zh-TW" dirty="0"/>
              <a:t>0b00, invalid or fault entry</a:t>
            </a:r>
          </a:p>
          <a:p>
            <a:pPr lvl="2"/>
            <a:r>
              <a:rPr lang="en-US" altLang="zh-TW" dirty="0"/>
              <a:t>Translation fault</a:t>
            </a:r>
          </a:p>
          <a:p>
            <a:pPr lvl="1"/>
            <a:r>
              <a:rPr lang="en-US" altLang="zh-TW" dirty="0"/>
              <a:t>0b01, page table</a:t>
            </a:r>
          </a:p>
          <a:p>
            <a:pPr lvl="2"/>
            <a:r>
              <a:rPr lang="en-US" altLang="zh-TW" dirty="0"/>
              <a:t>Address of 2</a:t>
            </a:r>
            <a:r>
              <a:rPr lang="en-US" altLang="zh-TW" baseline="30000" dirty="0"/>
              <a:t>nd</a:t>
            </a:r>
            <a:r>
              <a:rPr lang="en-US" altLang="zh-TW" dirty="0"/>
              <a:t> level translation table</a:t>
            </a:r>
          </a:p>
          <a:p>
            <a:pPr lvl="1"/>
            <a:r>
              <a:rPr lang="en-US" altLang="zh-TW" dirty="0"/>
              <a:t>0b10, section of super-section</a:t>
            </a:r>
          </a:p>
          <a:p>
            <a:pPr lvl="1"/>
            <a:r>
              <a:rPr lang="en-US" altLang="zh-TW" dirty="0"/>
              <a:t>0b11, special usage with PXN attribute</a:t>
            </a:r>
          </a:p>
        </p:txBody>
      </p:sp>
    </p:spTree>
    <p:extLst>
      <p:ext uri="{BB962C8B-B14F-4D97-AF65-F5344CB8AC3E}">
        <p14:creationId xmlns:p14="http://schemas.microsoft.com/office/powerpoint/2010/main" val="15063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en-US" altLang="zh-TW" baseline="30000" dirty="0"/>
              <a:t>st</a:t>
            </a:r>
            <a:r>
              <a:rPr lang="en-US" altLang="zh-TW" dirty="0"/>
              <a:t> Page Table Descriptor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52" y="1024201"/>
            <a:ext cx="6478438" cy="3977819"/>
          </a:xfrm>
        </p:spPr>
      </p:pic>
    </p:spTree>
    <p:extLst>
      <p:ext uri="{BB962C8B-B14F-4D97-AF65-F5344CB8AC3E}">
        <p14:creationId xmlns:p14="http://schemas.microsoft.com/office/powerpoint/2010/main" val="379202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L2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Second-level tables</a:t>
            </a:r>
          </a:p>
          <a:p>
            <a:pPr lvl="1"/>
            <a:r>
              <a:rPr lang="en-US" altLang="zh-TW" dirty="0"/>
              <a:t>The base address and translation properties for a Small page or a Large page.</a:t>
            </a:r>
          </a:p>
          <a:p>
            <a:pPr lvl="1"/>
            <a:r>
              <a:rPr lang="en-US" altLang="zh-TW" dirty="0"/>
              <a:t>That is, page tables</a:t>
            </a:r>
          </a:p>
          <a:p>
            <a:pPr lvl="1"/>
            <a:r>
              <a:rPr lang="en-US" altLang="zh-TW" dirty="0"/>
              <a:t>1KB</a:t>
            </a:r>
          </a:p>
          <a:p>
            <a:r>
              <a:rPr lang="en-US" altLang="zh-TW" dirty="0"/>
              <a:t>L2 descriptor[1:0]</a:t>
            </a:r>
          </a:p>
          <a:p>
            <a:pPr lvl="1"/>
            <a:r>
              <a:rPr lang="en-US" altLang="zh-TW" dirty="0"/>
              <a:t>0b00, invalid or fault entry</a:t>
            </a:r>
          </a:p>
          <a:p>
            <a:pPr lvl="2"/>
            <a:r>
              <a:rPr lang="en-US" altLang="zh-TW" dirty="0"/>
              <a:t>Translation fault</a:t>
            </a:r>
          </a:p>
          <a:p>
            <a:pPr lvl="1"/>
            <a:r>
              <a:rPr lang="en-US" altLang="zh-TW" dirty="0"/>
              <a:t>0b01, large page</a:t>
            </a:r>
          </a:p>
          <a:p>
            <a:pPr lvl="1"/>
            <a:r>
              <a:rPr lang="en-US" altLang="zh-TW" dirty="0"/>
              <a:t>0b1x, small page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6119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altLang="zh-TW" baseline="30000" dirty="0"/>
              <a:t>nd</a:t>
            </a:r>
            <a:r>
              <a:rPr lang="en-US" altLang="zh-TW" dirty="0"/>
              <a:t> Page Table Descriptor</a:t>
            </a:r>
            <a:endParaRPr lang="zh-TW" altLang="en-US" dirty="0"/>
          </a:p>
        </p:txBody>
      </p:sp>
      <p:pic>
        <p:nvPicPr>
          <p:cNvPr id="6" name="內容版面配置區 5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363" y="1545636"/>
            <a:ext cx="6504001" cy="2970330"/>
          </a:xfrm>
        </p:spPr>
      </p:pic>
    </p:spTree>
    <p:extLst>
      <p:ext uri="{BB962C8B-B14F-4D97-AF65-F5344CB8AC3E}">
        <p14:creationId xmlns:p14="http://schemas.microsoft.com/office/powerpoint/2010/main" val="416148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Concepts</a:t>
            </a:r>
          </a:p>
          <a:p>
            <a:r>
              <a:rPr lang="en-US" dirty="0"/>
              <a:t>Shadow page table</a:t>
            </a:r>
          </a:p>
          <a:p>
            <a:r>
              <a:rPr lang="en-US" dirty="0"/>
              <a:t>Hardware assistance</a:t>
            </a:r>
          </a:p>
          <a:p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49529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Management on a VM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7036" y="1167594"/>
            <a:ext cx="6129300" cy="3240360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Traditionally, OS fully controls all physical memory space and provides a continuous addressing space to each process</a:t>
            </a:r>
          </a:p>
          <a:p>
            <a:r>
              <a:rPr lang="en-US" altLang="zh-TW" dirty="0"/>
              <a:t>Guest OS is just one of user space processes of host OS </a:t>
            </a:r>
          </a:p>
          <a:p>
            <a:r>
              <a:rPr lang="en-US" altLang="zh-TW" dirty="0"/>
              <a:t>If guest OS is allowed to access the physical memory arbitrarily, then what happens? </a:t>
            </a:r>
          </a:p>
          <a:p>
            <a:r>
              <a:rPr lang="en-US" altLang="zh-TW" dirty="0"/>
              <a:t>In system virtualization, VMM should make all virtual machines share the physical memory space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3165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4804" y="1491630"/>
            <a:ext cx="4673203" cy="3475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85900" y="951570"/>
            <a:ext cx="6172200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685800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en-US" sz="21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Memory virtualization architecture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42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51570"/>
            <a:ext cx="6172200" cy="17716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performance drop of memory access is usually unbearable. VMM needs further optimization.</a:t>
            </a:r>
            <a:br>
              <a:rPr lang="en-US" dirty="0"/>
            </a:br>
            <a:endParaRPr lang="en-US" sz="1200" dirty="0"/>
          </a:p>
          <a:p>
            <a:r>
              <a:rPr lang="en-US" dirty="0"/>
              <a:t> VMM maintains shadow page tables :</a:t>
            </a:r>
          </a:p>
          <a:p>
            <a:pPr lvl="1">
              <a:spcAft>
                <a:spcPts val="0"/>
              </a:spcAft>
            </a:pPr>
            <a:r>
              <a:rPr lang="en-US" dirty="0"/>
              <a:t>Direct virtual-to-physical address mapping</a:t>
            </a:r>
          </a:p>
          <a:p>
            <a:pPr lvl="1"/>
            <a:r>
              <a:rPr lang="en-US" dirty="0"/>
              <a:t>Use hardware TLB for address translation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5411" y="2998188"/>
            <a:ext cx="4933179" cy="191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17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Goals of Memory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Address Translation</a:t>
            </a:r>
          </a:p>
          <a:p>
            <a:pPr lvl="1"/>
            <a:r>
              <a:rPr lang="en-US" altLang="zh-TW" dirty="0"/>
              <a:t>Control table-walking hardware that accesses translation tables in main memory.</a:t>
            </a:r>
          </a:p>
          <a:p>
            <a:r>
              <a:rPr lang="en-US" altLang="zh-TW" dirty="0"/>
              <a:t>Memory Protection</a:t>
            </a:r>
          </a:p>
          <a:p>
            <a:pPr lvl="1"/>
            <a:r>
              <a:rPr lang="en-US" altLang="zh-TW" dirty="0"/>
              <a:t>Define access permission which uses the Access Control Hardware.</a:t>
            </a:r>
          </a:p>
          <a:p>
            <a:r>
              <a:rPr lang="en-US" altLang="zh-TW" dirty="0"/>
              <a:t>Access Attribute</a:t>
            </a:r>
          </a:p>
          <a:p>
            <a:pPr lvl="1"/>
            <a:r>
              <a:rPr lang="en-US" altLang="zh-TW" dirty="0"/>
              <a:t>Define attribute and type of memory region to direct how memory operation to be handled.</a:t>
            </a:r>
          </a:p>
          <a:p>
            <a:endParaRPr lang="en-US" altLang="zh-TW" dirty="0"/>
          </a:p>
          <a:p>
            <a:r>
              <a:rPr lang="en-US" altLang="zh-TW" dirty="0"/>
              <a:t>How to implement?</a:t>
            </a:r>
          </a:p>
          <a:p>
            <a:pPr lvl="1"/>
            <a:r>
              <a:rPr lang="en-US" altLang="zh-TW" dirty="0"/>
              <a:t>Software solution: shadow page table</a:t>
            </a:r>
          </a:p>
          <a:p>
            <a:pPr lvl="1"/>
            <a:r>
              <a:rPr lang="en-US" altLang="zh-TW" dirty="0"/>
              <a:t>Hardware solution</a:t>
            </a:r>
          </a:p>
          <a:p>
            <a:pPr lvl="2"/>
            <a:r>
              <a:rPr lang="en-US" altLang="zh-TW" dirty="0"/>
              <a:t>NPT on SVM from AMD</a:t>
            </a:r>
          </a:p>
          <a:p>
            <a:pPr lvl="2"/>
            <a:r>
              <a:rPr lang="en-US" altLang="zh-TW" dirty="0"/>
              <a:t>EPT on VMX from Intel</a:t>
            </a:r>
          </a:p>
          <a:p>
            <a:pPr lvl="2"/>
            <a:r>
              <a:rPr lang="en-US" altLang="zh-TW" dirty="0"/>
              <a:t>ARM v7 VMSA (Virtual Memory System Architecture) with virtualization extension</a:t>
            </a:r>
          </a:p>
        </p:txBody>
      </p:sp>
    </p:spTree>
    <p:extLst>
      <p:ext uri="{BB962C8B-B14F-4D97-AF65-F5344CB8AC3E}">
        <p14:creationId xmlns:p14="http://schemas.microsoft.com/office/powerpoint/2010/main" val="2131261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Concepts </a:t>
            </a:r>
          </a:p>
          <a:p>
            <a:r>
              <a:rPr lang="en-US" dirty="0">
                <a:solidFill>
                  <a:srgbClr val="C00000"/>
                </a:solidFill>
              </a:rPr>
              <a:t>Shadow page table</a:t>
            </a:r>
          </a:p>
          <a:p>
            <a:r>
              <a:rPr lang="en-US" dirty="0"/>
              <a:t>Hardware assistance</a:t>
            </a:r>
          </a:p>
          <a:p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26326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002424" cy="33944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Map guest virtual address to host physical address</a:t>
            </a:r>
          </a:p>
          <a:p>
            <a:pPr lvl="1"/>
            <a:r>
              <a:rPr lang="en-US" dirty="0"/>
              <a:t>Shadow page table</a:t>
            </a:r>
          </a:p>
          <a:p>
            <a:pPr lvl="2"/>
            <a:r>
              <a:rPr lang="en-US" dirty="0"/>
              <a:t>Guest OS will maintain its own virtual memory page table in the guest physical memory frames.</a:t>
            </a:r>
          </a:p>
          <a:p>
            <a:pPr lvl="2"/>
            <a:r>
              <a:rPr lang="en-US" dirty="0"/>
              <a:t>For each guest physical memory frame, VMM should map it to host physical memory frame.</a:t>
            </a:r>
          </a:p>
          <a:p>
            <a:pPr lvl="2"/>
            <a:r>
              <a:rPr lang="en-US" dirty="0"/>
              <a:t>Shadow page table maintains the mapping from guest virtual address to host physical address.</a:t>
            </a:r>
          </a:p>
          <a:p>
            <a:pPr lvl="1"/>
            <a:r>
              <a:rPr lang="en-US" dirty="0"/>
              <a:t>Page table protection</a:t>
            </a:r>
          </a:p>
          <a:p>
            <a:pPr lvl="2"/>
            <a:r>
              <a:rPr lang="en-US" dirty="0"/>
              <a:t>VMM will apply write protection to all the physical frames of guest page tables, which lead the guest page table write exception and trap to VMM.</a:t>
            </a:r>
          </a:p>
        </p:txBody>
      </p:sp>
    </p:spTree>
    <p:extLst>
      <p:ext uri="{BB962C8B-B14F-4D97-AF65-F5344CB8AC3E}">
        <p14:creationId xmlns:p14="http://schemas.microsoft.com/office/powerpoint/2010/main" val="1768794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Shadow Page Table: Overview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908" y="1200151"/>
            <a:ext cx="5378184" cy="3394472"/>
          </a:xfrm>
        </p:spPr>
      </p:pic>
    </p:spTree>
    <p:extLst>
      <p:ext uri="{BB962C8B-B14F-4D97-AF65-F5344CB8AC3E}">
        <p14:creationId xmlns:p14="http://schemas.microsoft.com/office/powerpoint/2010/main" val="355841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113588"/>
            <a:ext cx="6172200" cy="16867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How does this technique work ?</a:t>
            </a:r>
          </a:p>
          <a:p>
            <a:pPr lvl="1"/>
            <a:r>
              <a:rPr lang="en-US" dirty="0"/>
              <a:t>VMM should make MMU virtualized</a:t>
            </a:r>
          </a:p>
          <a:p>
            <a:pPr lvl="2"/>
            <a:r>
              <a:rPr lang="en-US" dirty="0"/>
              <a:t>VMM manages the real PTBR and a virtual PTBR for each VM</a:t>
            </a:r>
          </a:p>
          <a:p>
            <a:pPr lvl="2"/>
            <a:r>
              <a:rPr lang="en-US" dirty="0"/>
              <a:t>When a guest OS is activated, the real PTBR points to the corresponding shadow page table of the guest OS</a:t>
            </a:r>
          </a:p>
          <a:p>
            <a:pPr lvl="2"/>
            <a:r>
              <a:rPr lang="en-US" dirty="0"/>
              <a:t>When the guest OS attempts to modify the PTBR, it will be intercepted by VMM for further emulation</a:t>
            </a: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4970" y="2628900"/>
            <a:ext cx="539406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26227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5900" y="2657310"/>
            <a:ext cx="6172200" cy="2314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71550"/>
            <a:ext cx="6172200" cy="16002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Construct shadow page table</a:t>
            </a:r>
          </a:p>
          <a:p>
            <a:pPr lvl="1"/>
            <a:r>
              <a:rPr lang="en-US" dirty="0"/>
              <a:t>Guest OS will maintain its own page table for each process.</a:t>
            </a:r>
          </a:p>
          <a:p>
            <a:pPr lvl="1"/>
            <a:r>
              <a:rPr lang="en-US" dirty="0"/>
              <a:t>VMM maps each guest physical page to host physical page.</a:t>
            </a:r>
          </a:p>
          <a:p>
            <a:pPr lvl="1"/>
            <a:r>
              <a:rPr lang="en-US" dirty="0"/>
              <a:t>Create shadow page tables for each guest page table.</a:t>
            </a:r>
          </a:p>
          <a:p>
            <a:pPr lvl="1"/>
            <a:r>
              <a:rPr lang="en-US" dirty="0"/>
              <a:t>VMM should protect host frame which contains guest page table. (that means to write protect the guest page tables in host memory)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1671" y="3257550"/>
            <a:ext cx="3362061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5310" y="3802923"/>
            <a:ext cx="4424663" cy="654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63882" y="4090309"/>
            <a:ext cx="4103198" cy="824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Oval 9"/>
          <p:cNvSpPr/>
          <p:nvPr/>
        </p:nvSpPr>
        <p:spPr>
          <a:xfrm>
            <a:off x="2837905" y="4101737"/>
            <a:ext cx="342900" cy="342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Oval 14"/>
          <p:cNvSpPr/>
          <p:nvPr/>
        </p:nvSpPr>
        <p:spPr>
          <a:xfrm>
            <a:off x="3688623" y="4101737"/>
            <a:ext cx="342900" cy="342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2797644" y="4432385"/>
            <a:ext cx="1317155" cy="25391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1200" b="1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Write protection</a:t>
            </a:r>
          </a:p>
        </p:txBody>
      </p:sp>
    </p:spTree>
    <p:extLst>
      <p:ext uri="{BB962C8B-B14F-4D97-AF65-F5344CB8AC3E}">
        <p14:creationId xmlns:p14="http://schemas.microsoft.com/office/powerpoint/2010/main" val="171081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57250"/>
            <a:ext cx="6172200" cy="9715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Implement with PTBR :</a:t>
            </a:r>
          </a:p>
          <a:p>
            <a:pPr lvl="1"/>
            <a:r>
              <a:rPr lang="en-US" dirty="0"/>
              <a:t>For example, process 2 in guest OS wants to access its memory whose page number is 1.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8432" y="3512866"/>
            <a:ext cx="4114800" cy="1543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4710" y="1661346"/>
            <a:ext cx="4745521" cy="123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4709" y="2409732"/>
            <a:ext cx="4767491" cy="123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1272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SPT Maintenance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142944"/>
            <a:ext cx="6172200" cy="358904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If guest OS modify one of its page tables, then the corresponding entry of SPT must be updated.</a:t>
            </a:r>
          </a:p>
          <a:p>
            <a:pPr lvl="1"/>
            <a:r>
              <a:rPr lang="en-US" altLang="zh-TW" dirty="0"/>
              <a:t>We call it “shadow” because SPT is just like the shadow of page tables of guest OS.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How to identify this kind of modification?</a:t>
            </a:r>
          </a:p>
          <a:p>
            <a:pPr lvl="1"/>
            <a:r>
              <a:rPr lang="en-US" altLang="zh-TW" dirty="0"/>
              <a:t>Guest OS could read/write a physical frame with the help of SPT.</a:t>
            </a:r>
          </a:p>
          <a:p>
            <a:pPr lvl="1"/>
            <a:r>
              <a:rPr lang="en-US" altLang="zh-TW" dirty="0"/>
              <a:t>Mark those physical frames used as guest page tables read-only, so that when a guest OS tries to modify its guest page table, an exception would be triggered.</a:t>
            </a:r>
          </a:p>
          <a:p>
            <a:pPr lvl="1"/>
            <a:r>
              <a:rPr lang="en-US" altLang="zh-TW" dirty="0"/>
              <a:t>Then VMM checks the modification and updates the corresponding entry on SPT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0708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742950"/>
            <a:ext cx="6172200" cy="400050"/>
          </a:xfrm>
        </p:spPr>
        <p:txBody>
          <a:bodyPr/>
          <a:lstStyle/>
          <a:p>
            <a:r>
              <a:rPr lang="en-US" dirty="0"/>
              <a:t>Shadow page table operations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26</a:t>
            </a:fld>
            <a:endParaRPr lang="en-US" dirty="0"/>
          </a:p>
        </p:txBody>
      </p:sp>
      <p:grpSp>
        <p:nvGrpSpPr>
          <p:cNvPr id="5" name="群組 20"/>
          <p:cNvGrpSpPr/>
          <p:nvPr/>
        </p:nvGrpSpPr>
        <p:grpSpPr>
          <a:xfrm>
            <a:off x="1257300" y="2505849"/>
            <a:ext cx="800100" cy="286433"/>
            <a:chOff x="304800" y="2438400"/>
            <a:chExt cx="1371600" cy="533400"/>
          </a:xfrm>
        </p:grpSpPr>
        <p:sp>
          <p:nvSpPr>
            <p:cNvPr id="89" name="矩形 88"/>
            <p:cNvSpPr/>
            <p:nvPr/>
          </p:nvSpPr>
          <p:spPr>
            <a:xfrm>
              <a:off x="304800" y="2438400"/>
              <a:ext cx="1371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90" name="橢圓 89"/>
            <p:cNvSpPr/>
            <p:nvPr/>
          </p:nvSpPr>
          <p:spPr>
            <a:xfrm>
              <a:off x="838200" y="2590800"/>
              <a:ext cx="2286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grpSp>
        <p:nvGrpSpPr>
          <p:cNvPr id="6" name="群組 19"/>
          <p:cNvGrpSpPr/>
          <p:nvPr/>
        </p:nvGrpSpPr>
        <p:grpSpPr>
          <a:xfrm>
            <a:off x="1257300" y="3305266"/>
            <a:ext cx="800100" cy="286433"/>
            <a:chOff x="304800" y="3962400"/>
            <a:chExt cx="1371600" cy="533400"/>
          </a:xfrm>
        </p:grpSpPr>
        <p:sp>
          <p:nvSpPr>
            <p:cNvPr id="92" name="矩形 91"/>
            <p:cNvSpPr/>
            <p:nvPr/>
          </p:nvSpPr>
          <p:spPr>
            <a:xfrm>
              <a:off x="304800" y="3962400"/>
              <a:ext cx="1371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93" name="橢圓 92"/>
            <p:cNvSpPr/>
            <p:nvPr/>
          </p:nvSpPr>
          <p:spPr>
            <a:xfrm>
              <a:off x="838200" y="4114800"/>
              <a:ext cx="2286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94" name="矩形 93"/>
          <p:cNvSpPr/>
          <p:nvPr/>
        </p:nvSpPr>
        <p:spPr>
          <a:xfrm>
            <a:off x="2571750" y="2506532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Process 1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95" name="矩形 94"/>
          <p:cNvSpPr/>
          <p:nvPr/>
        </p:nvSpPr>
        <p:spPr>
          <a:xfrm>
            <a:off x="2571750" y="2334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6" name="矩形 95"/>
          <p:cNvSpPr/>
          <p:nvPr/>
        </p:nvSpPr>
        <p:spPr>
          <a:xfrm>
            <a:off x="2571750" y="19914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7" name="矩形 96"/>
          <p:cNvSpPr/>
          <p:nvPr/>
        </p:nvSpPr>
        <p:spPr>
          <a:xfrm>
            <a:off x="2571750" y="1648599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8" name="矩形 97"/>
          <p:cNvSpPr/>
          <p:nvPr/>
        </p:nvSpPr>
        <p:spPr>
          <a:xfrm>
            <a:off x="2571750" y="14771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9" name="矩形 98"/>
          <p:cNvSpPr/>
          <p:nvPr/>
        </p:nvSpPr>
        <p:spPr>
          <a:xfrm>
            <a:off x="2571750" y="4334649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Shadow 1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100" name="矩形 99"/>
          <p:cNvSpPr/>
          <p:nvPr/>
        </p:nvSpPr>
        <p:spPr>
          <a:xfrm>
            <a:off x="2571750" y="41631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1" name="矩形 100"/>
          <p:cNvSpPr/>
          <p:nvPr/>
        </p:nvSpPr>
        <p:spPr>
          <a:xfrm>
            <a:off x="2571750" y="39917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2" name="矩形 101"/>
          <p:cNvSpPr/>
          <p:nvPr/>
        </p:nvSpPr>
        <p:spPr>
          <a:xfrm>
            <a:off x="2571750" y="38202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3" name="矩形 102"/>
          <p:cNvSpPr/>
          <p:nvPr/>
        </p:nvSpPr>
        <p:spPr>
          <a:xfrm>
            <a:off x="2571750" y="3648849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4" name="矩形 103"/>
          <p:cNvSpPr/>
          <p:nvPr/>
        </p:nvSpPr>
        <p:spPr>
          <a:xfrm>
            <a:off x="2571750" y="33059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5" name="矩形 104"/>
          <p:cNvSpPr/>
          <p:nvPr/>
        </p:nvSpPr>
        <p:spPr>
          <a:xfrm>
            <a:off x="4000500" y="2506532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Process 2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106" name="矩形 105"/>
          <p:cNvSpPr/>
          <p:nvPr/>
        </p:nvSpPr>
        <p:spPr>
          <a:xfrm>
            <a:off x="4000500" y="2334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7" name="矩形 106"/>
          <p:cNvSpPr/>
          <p:nvPr/>
        </p:nvSpPr>
        <p:spPr>
          <a:xfrm>
            <a:off x="4000500" y="1991499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8" name="矩形 107"/>
          <p:cNvSpPr/>
          <p:nvPr/>
        </p:nvSpPr>
        <p:spPr>
          <a:xfrm>
            <a:off x="4000500" y="18200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9" name="矩形 108"/>
          <p:cNvSpPr/>
          <p:nvPr/>
        </p:nvSpPr>
        <p:spPr>
          <a:xfrm>
            <a:off x="4000500" y="1477149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0" name="矩形 109"/>
          <p:cNvSpPr/>
          <p:nvPr/>
        </p:nvSpPr>
        <p:spPr>
          <a:xfrm>
            <a:off x="4000500" y="4334649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Shadow 1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111" name="矩形 110"/>
          <p:cNvSpPr/>
          <p:nvPr/>
        </p:nvSpPr>
        <p:spPr>
          <a:xfrm>
            <a:off x="4000500" y="41631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2" name="矩形 111"/>
          <p:cNvSpPr/>
          <p:nvPr/>
        </p:nvSpPr>
        <p:spPr>
          <a:xfrm>
            <a:off x="4000500" y="3820299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3" name="矩形 112"/>
          <p:cNvSpPr/>
          <p:nvPr/>
        </p:nvSpPr>
        <p:spPr>
          <a:xfrm>
            <a:off x="4000500" y="36488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4" name="矩形 113"/>
          <p:cNvSpPr/>
          <p:nvPr/>
        </p:nvSpPr>
        <p:spPr>
          <a:xfrm>
            <a:off x="4000500" y="3477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5" name="矩形 114"/>
          <p:cNvSpPr/>
          <p:nvPr/>
        </p:nvSpPr>
        <p:spPr>
          <a:xfrm>
            <a:off x="4000500" y="3305949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16" name="直線接點 115"/>
          <p:cNvCxnSpPr>
            <a:stCxn id="94" idx="2"/>
            <a:endCxn id="104" idx="0"/>
          </p:cNvCxnSpPr>
          <p:nvPr/>
        </p:nvCxnSpPr>
        <p:spPr>
          <a:xfrm rot="5400000">
            <a:off x="2743541" y="3049115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2"/>
            <a:endCxn id="115" idx="0"/>
          </p:cNvCxnSpPr>
          <p:nvPr/>
        </p:nvCxnSpPr>
        <p:spPr>
          <a:xfrm rot="5400000">
            <a:off x="4172291" y="3049115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61"/>
          <p:cNvSpPr txBox="1"/>
          <p:nvPr/>
        </p:nvSpPr>
        <p:spPr>
          <a:xfrm>
            <a:off x="1045313" y="2743200"/>
            <a:ext cx="12266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chemeClr val="tx2">
                    <a:lumMod val="75000"/>
                  </a:schemeClr>
                </a:solidFill>
              </a:rPr>
              <a:t>Virtual PTPR</a:t>
            </a:r>
          </a:p>
        </p:txBody>
      </p:sp>
      <p:sp>
        <p:nvSpPr>
          <p:cNvPr id="119" name="TextBox 62"/>
          <p:cNvSpPr txBox="1"/>
          <p:nvPr/>
        </p:nvSpPr>
        <p:spPr>
          <a:xfrm>
            <a:off x="1154792" y="3077349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chemeClr val="tx2">
                    <a:lumMod val="75000"/>
                  </a:schemeClr>
                </a:solidFill>
              </a:rPr>
              <a:t>Real PTPR</a:t>
            </a:r>
          </a:p>
        </p:txBody>
      </p:sp>
      <p:cxnSp>
        <p:nvCxnSpPr>
          <p:cNvPr id="120" name="肘形接點 76"/>
          <p:cNvCxnSpPr>
            <a:endCxn id="99" idx="2"/>
          </p:cNvCxnSpPr>
          <p:nvPr/>
        </p:nvCxnSpPr>
        <p:spPr>
          <a:xfrm rot="16200000" flipH="1">
            <a:off x="1762482" y="3382505"/>
            <a:ext cx="1110538" cy="13652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1143000" y="3086783"/>
            <a:ext cx="6858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字方塊 121"/>
          <p:cNvSpPr txBox="1"/>
          <p:nvPr/>
        </p:nvSpPr>
        <p:spPr>
          <a:xfrm>
            <a:off x="7005487" y="2743883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Guest OS</a:t>
            </a:r>
            <a:endParaRPr lang="zh-TW" altLang="en-US" dirty="0"/>
          </a:p>
        </p:txBody>
      </p:sp>
      <p:sp>
        <p:nvSpPr>
          <p:cNvPr id="123" name="文字方塊 122"/>
          <p:cNvSpPr txBox="1"/>
          <p:nvPr/>
        </p:nvSpPr>
        <p:spPr>
          <a:xfrm>
            <a:off x="7200901" y="301685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VMM</a:t>
            </a:r>
            <a:endParaRPr lang="zh-TW" altLang="en-US" dirty="0"/>
          </a:p>
        </p:txBody>
      </p:sp>
      <p:cxnSp>
        <p:nvCxnSpPr>
          <p:cNvPr id="124" name="肘形接點 123"/>
          <p:cNvCxnSpPr>
            <a:endCxn id="98" idx="0"/>
          </p:cNvCxnSpPr>
          <p:nvPr/>
        </p:nvCxnSpPr>
        <p:spPr>
          <a:xfrm rot="5400000" flipH="1" flipV="1">
            <a:off x="1762482" y="1349794"/>
            <a:ext cx="1110538" cy="13652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2571750" y="21629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6" name="矩形 125"/>
          <p:cNvSpPr/>
          <p:nvPr/>
        </p:nvSpPr>
        <p:spPr>
          <a:xfrm>
            <a:off x="4000500" y="16485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7" name="矩形 126"/>
          <p:cNvSpPr/>
          <p:nvPr/>
        </p:nvSpPr>
        <p:spPr>
          <a:xfrm>
            <a:off x="2571750" y="18200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8" name="矩形 127"/>
          <p:cNvSpPr/>
          <p:nvPr/>
        </p:nvSpPr>
        <p:spPr>
          <a:xfrm>
            <a:off x="2571750" y="3477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9" name="矩形 128"/>
          <p:cNvSpPr/>
          <p:nvPr/>
        </p:nvSpPr>
        <p:spPr>
          <a:xfrm>
            <a:off x="4000500" y="21629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0" name="矩形 129"/>
          <p:cNvSpPr/>
          <p:nvPr/>
        </p:nvSpPr>
        <p:spPr>
          <a:xfrm>
            <a:off x="4000500" y="39917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1" name="文字方塊 130"/>
          <p:cNvSpPr txBox="1"/>
          <p:nvPr/>
        </p:nvSpPr>
        <p:spPr>
          <a:xfrm>
            <a:off x="2971800" y="4743450"/>
            <a:ext cx="24545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Corresponding mapping table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32" name="肘形接點 131"/>
          <p:cNvCxnSpPr>
            <a:endCxn id="109" idx="0"/>
          </p:cNvCxnSpPr>
          <p:nvPr/>
        </p:nvCxnSpPr>
        <p:spPr>
          <a:xfrm rot="5400000" flipH="1" flipV="1">
            <a:off x="2476857" y="635419"/>
            <a:ext cx="1110538" cy="279400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>
            <a:off x="3200400" y="1200150"/>
            <a:ext cx="1143000" cy="119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4343400" y="1037451"/>
            <a:ext cx="130997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Context switch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35" name="肘形接點 76"/>
          <p:cNvCxnSpPr>
            <a:endCxn id="110" idx="2"/>
          </p:cNvCxnSpPr>
          <p:nvPr/>
        </p:nvCxnSpPr>
        <p:spPr>
          <a:xfrm rot="16200000" flipH="1">
            <a:off x="2476857" y="2668130"/>
            <a:ext cx="1110538" cy="279400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4457701" y="4686300"/>
            <a:ext cx="27622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Switch the pointer to new location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5429250" y="2506532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Process 3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138" name="矩形 137"/>
          <p:cNvSpPr/>
          <p:nvPr/>
        </p:nvSpPr>
        <p:spPr>
          <a:xfrm>
            <a:off x="5429250" y="2162949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9" name="矩形 138"/>
          <p:cNvSpPr/>
          <p:nvPr/>
        </p:nvSpPr>
        <p:spPr>
          <a:xfrm>
            <a:off x="5429250" y="19914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0" name="矩形 139"/>
          <p:cNvSpPr/>
          <p:nvPr/>
        </p:nvSpPr>
        <p:spPr>
          <a:xfrm>
            <a:off x="5429250" y="16485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1" name="矩形 140"/>
          <p:cNvSpPr/>
          <p:nvPr/>
        </p:nvSpPr>
        <p:spPr>
          <a:xfrm>
            <a:off x="5429250" y="1820049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2" name="矩形 141"/>
          <p:cNvSpPr/>
          <p:nvPr/>
        </p:nvSpPr>
        <p:spPr>
          <a:xfrm>
            <a:off x="5429250" y="14771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3" name="矩形 142"/>
          <p:cNvSpPr/>
          <p:nvPr/>
        </p:nvSpPr>
        <p:spPr>
          <a:xfrm>
            <a:off x="5429250" y="4334649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b="1" dirty="0"/>
              <a:t>Shadow 3</a:t>
            </a:r>
          </a:p>
          <a:p>
            <a:pPr algn="ctr"/>
            <a:r>
              <a:rPr lang="en-US" altLang="zh-TW" sz="1050" i="1" dirty="0"/>
              <a:t>Page Table</a:t>
            </a:r>
            <a:endParaRPr lang="zh-TW" altLang="en-US" sz="1050" i="1" dirty="0"/>
          </a:p>
        </p:txBody>
      </p:sp>
      <p:sp>
        <p:nvSpPr>
          <p:cNvPr id="144" name="矩形 143"/>
          <p:cNvSpPr/>
          <p:nvPr/>
        </p:nvSpPr>
        <p:spPr>
          <a:xfrm>
            <a:off x="5429250" y="39917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5" name="矩形 144"/>
          <p:cNvSpPr/>
          <p:nvPr/>
        </p:nvSpPr>
        <p:spPr>
          <a:xfrm>
            <a:off x="5429250" y="38202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6" name="矩形 145"/>
          <p:cNvSpPr/>
          <p:nvPr/>
        </p:nvSpPr>
        <p:spPr>
          <a:xfrm>
            <a:off x="5429250" y="36488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7" name="矩形 146"/>
          <p:cNvSpPr/>
          <p:nvPr/>
        </p:nvSpPr>
        <p:spPr>
          <a:xfrm>
            <a:off x="5429250" y="330594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48" name="直線接點 147"/>
          <p:cNvCxnSpPr>
            <a:stCxn id="137" idx="2"/>
            <a:endCxn id="147" idx="0"/>
          </p:cNvCxnSpPr>
          <p:nvPr/>
        </p:nvCxnSpPr>
        <p:spPr>
          <a:xfrm rot="5400000">
            <a:off x="5601041" y="3049115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4743450" y="1134249"/>
            <a:ext cx="1143000" cy="119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/>
          <p:cNvSpPr txBox="1"/>
          <p:nvPr/>
        </p:nvSpPr>
        <p:spPr>
          <a:xfrm>
            <a:off x="5886450" y="971550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New process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51" name="肘形接點 150"/>
          <p:cNvCxnSpPr>
            <a:endCxn id="142" idx="0"/>
          </p:cNvCxnSpPr>
          <p:nvPr/>
        </p:nvCxnSpPr>
        <p:spPr>
          <a:xfrm rot="5400000" flipH="1" flipV="1">
            <a:off x="3191232" y="-78956"/>
            <a:ext cx="1110538" cy="42227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5429250" y="41631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53" name="矩形 152"/>
          <p:cNvSpPr/>
          <p:nvPr/>
        </p:nvSpPr>
        <p:spPr>
          <a:xfrm>
            <a:off x="5429250" y="3477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54" name="肘形接點 76"/>
          <p:cNvCxnSpPr>
            <a:endCxn id="143" idx="2"/>
          </p:cNvCxnSpPr>
          <p:nvPr/>
        </p:nvCxnSpPr>
        <p:spPr>
          <a:xfrm rot="16200000" flipH="1">
            <a:off x="3191232" y="1953755"/>
            <a:ext cx="1110538" cy="42227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/>
          <p:cNvSpPr txBox="1"/>
          <p:nvPr/>
        </p:nvSpPr>
        <p:spPr>
          <a:xfrm>
            <a:off x="3938878" y="4800600"/>
            <a:ext cx="44935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Create new shadow page table mapping to new process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sp>
        <p:nvSpPr>
          <p:cNvPr id="156" name="文字方塊 155"/>
          <p:cNvSpPr txBox="1"/>
          <p:nvPr/>
        </p:nvSpPr>
        <p:spPr>
          <a:xfrm>
            <a:off x="6308974" y="1314450"/>
            <a:ext cx="7425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Access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57" name="弧形接點 156"/>
          <p:cNvCxnSpPr>
            <a:stCxn id="141" idx="3"/>
            <a:endCxn id="161" idx="3"/>
          </p:cNvCxnSpPr>
          <p:nvPr/>
        </p:nvCxnSpPr>
        <p:spPr>
          <a:xfrm>
            <a:off x="6286500" y="1901692"/>
            <a:ext cx="1191" cy="1657350"/>
          </a:xfrm>
          <a:prstGeom prst="curvedConnector3">
            <a:avLst>
              <a:gd name="adj1" fmla="val 14395466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弧形接點 100"/>
          <p:cNvCxnSpPr>
            <a:stCxn id="156" idx="2"/>
            <a:endCxn id="141" idx="3"/>
          </p:cNvCxnSpPr>
          <p:nvPr/>
        </p:nvCxnSpPr>
        <p:spPr>
          <a:xfrm rot="5400000">
            <a:off x="6339785" y="1561247"/>
            <a:ext cx="287160" cy="3937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弧形接點 100"/>
          <p:cNvCxnSpPr>
            <a:stCxn id="156" idx="2"/>
            <a:endCxn id="138" idx="3"/>
          </p:cNvCxnSpPr>
          <p:nvPr/>
        </p:nvCxnSpPr>
        <p:spPr>
          <a:xfrm rot="5400000">
            <a:off x="6168335" y="1732697"/>
            <a:ext cx="630060" cy="3937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弧形接點 159"/>
          <p:cNvCxnSpPr>
            <a:stCxn id="138" idx="3"/>
            <a:endCxn id="162" idx="3"/>
          </p:cNvCxnSpPr>
          <p:nvPr/>
        </p:nvCxnSpPr>
        <p:spPr>
          <a:xfrm>
            <a:off x="6286500" y="2244592"/>
            <a:ext cx="1191" cy="1828800"/>
          </a:xfrm>
          <a:prstGeom prst="curvedConnector3">
            <a:avLst>
              <a:gd name="adj1" fmla="val 2214692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5429250" y="3477399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62" name="矩形 161"/>
          <p:cNvSpPr/>
          <p:nvPr/>
        </p:nvSpPr>
        <p:spPr>
          <a:xfrm>
            <a:off x="5429250" y="3991749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grpSp>
        <p:nvGrpSpPr>
          <p:cNvPr id="7" name="群組 132"/>
          <p:cNvGrpSpPr/>
          <p:nvPr/>
        </p:nvGrpSpPr>
        <p:grpSpPr>
          <a:xfrm>
            <a:off x="6457950" y="3363099"/>
            <a:ext cx="1085850" cy="514350"/>
            <a:chOff x="6858000" y="5638800"/>
            <a:chExt cx="1447800" cy="685800"/>
          </a:xfrm>
        </p:grpSpPr>
        <p:sp>
          <p:nvSpPr>
            <p:cNvPr id="164" name="爆炸 1 163"/>
            <p:cNvSpPr/>
            <p:nvPr/>
          </p:nvSpPr>
          <p:spPr>
            <a:xfrm>
              <a:off x="6858000" y="5638800"/>
              <a:ext cx="1447800" cy="685800"/>
            </a:xfrm>
            <a:prstGeom prst="irregularSeal1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sp>
          <p:nvSpPr>
            <p:cNvPr id="165" name="文字方塊 164"/>
            <p:cNvSpPr txBox="1"/>
            <p:nvPr/>
          </p:nvSpPr>
          <p:spPr>
            <a:xfrm>
              <a:off x="7086600" y="5802868"/>
              <a:ext cx="1154591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rgbClr val="C00000"/>
                  </a:solidFill>
                </a:rPr>
                <a:t>Page fault !</a:t>
              </a:r>
              <a:endParaRPr lang="zh-TW" altLang="en-US" sz="10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66" name="文字方塊 165"/>
          <p:cNvSpPr txBox="1"/>
          <p:nvPr/>
        </p:nvSpPr>
        <p:spPr>
          <a:xfrm>
            <a:off x="6572251" y="4448949"/>
            <a:ext cx="66556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Load !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67" name="弧形接點 100"/>
          <p:cNvCxnSpPr/>
          <p:nvPr/>
        </p:nvCxnSpPr>
        <p:spPr>
          <a:xfrm rot="16200000" flipV="1">
            <a:off x="6385027" y="4032017"/>
            <a:ext cx="375557" cy="572608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弧形接點 100"/>
          <p:cNvCxnSpPr/>
          <p:nvPr/>
        </p:nvCxnSpPr>
        <p:spPr>
          <a:xfrm rot="16200000" flipV="1">
            <a:off x="6127852" y="3774842"/>
            <a:ext cx="889907" cy="572608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429250" y="2334399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177030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1" grpId="1"/>
      <p:bldP spid="134" grpId="0"/>
      <p:bldP spid="134" grpId="1"/>
      <p:bldP spid="136" grpId="0"/>
      <p:bldP spid="136" grpId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50" grpId="0"/>
      <p:bldP spid="155" grpId="0"/>
      <p:bldP spid="156" grpId="0"/>
      <p:bldP spid="161" grpId="0" animBg="1"/>
      <p:bldP spid="1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Overhead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113589"/>
            <a:ext cx="6172200" cy="3481034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A page fault caused by guest OS would launch the walking process that costs a lot of overhead.</a:t>
            </a:r>
          </a:p>
          <a:p>
            <a:pPr lvl="1"/>
            <a:r>
              <a:rPr lang="en-US" altLang="zh-TW" dirty="0"/>
              <a:t>Several steps to get a new entry on shadow page table</a:t>
            </a:r>
          </a:p>
          <a:p>
            <a:pPr lvl="2"/>
            <a:r>
              <a:rPr lang="en-US" altLang="zh-TW" dirty="0"/>
              <a:t>Walk page tables on guest OS</a:t>
            </a:r>
          </a:p>
          <a:p>
            <a:pPr lvl="2"/>
            <a:r>
              <a:rPr lang="en-US" altLang="zh-TW" dirty="0"/>
              <a:t>Check the permission on guest</a:t>
            </a:r>
          </a:p>
          <a:p>
            <a:pPr lvl="2"/>
            <a:r>
              <a:rPr lang="en-US" altLang="zh-TW" dirty="0"/>
              <a:t>Offset shift: GPA to HVA</a:t>
            </a:r>
          </a:p>
          <a:p>
            <a:pPr lvl="2"/>
            <a:r>
              <a:rPr lang="en-US" altLang="zh-TW" dirty="0"/>
              <a:t>Walk page tables on VMM</a:t>
            </a:r>
          </a:p>
          <a:p>
            <a:pPr lvl="2"/>
            <a:r>
              <a:rPr lang="en-US" altLang="zh-TW" dirty="0"/>
              <a:t>Check the permission on VMM</a:t>
            </a:r>
          </a:p>
          <a:p>
            <a:pPr lvl="2"/>
            <a:r>
              <a:rPr lang="en-US" altLang="zh-TW" dirty="0"/>
              <a:t>New entry established!</a:t>
            </a:r>
          </a:p>
          <a:p>
            <a:pPr lvl="2"/>
            <a:r>
              <a:rPr lang="en-US" altLang="zh-TW" dirty="0"/>
              <a:t>Invalidate the TLB entry</a:t>
            </a:r>
          </a:p>
          <a:p>
            <a:pPr lvl="1"/>
            <a:r>
              <a:rPr lang="en-US" altLang="zh-TW" dirty="0"/>
              <a:t>Each new process on guest OS would consume two pages.  One is the page table on guest OS, and the other is the corresponding shadow page table.</a:t>
            </a:r>
          </a:p>
        </p:txBody>
      </p:sp>
    </p:spTree>
    <p:extLst>
      <p:ext uri="{BB962C8B-B14F-4D97-AF65-F5344CB8AC3E}">
        <p14:creationId xmlns:p14="http://schemas.microsoft.com/office/powerpoint/2010/main" val="2546217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700" dirty="0"/>
              <a:t>Page Walking Process on ARM </a:t>
            </a:r>
            <a:endParaRPr lang="zh-TW" altLang="en-US" sz="2700" dirty="0"/>
          </a:p>
        </p:txBody>
      </p:sp>
      <p:grpSp>
        <p:nvGrpSpPr>
          <p:cNvPr id="3" name="群組 23"/>
          <p:cNvGrpSpPr/>
          <p:nvPr/>
        </p:nvGrpSpPr>
        <p:grpSpPr>
          <a:xfrm>
            <a:off x="1871700" y="1653648"/>
            <a:ext cx="5319843" cy="2366496"/>
            <a:chOff x="1856850" y="2273872"/>
            <a:chExt cx="4803382" cy="1616617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Guest  </a:t>
              </a:r>
            </a:p>
            <a:p>
              <a:pPr algn="ctr"/>
              <a:r>
                <a:rPr lang="en-US" altLang="zh-TW" sz="1050" b="1" dirty="0"/>
                <a:t>Page Table</a:t>
              </a:r>
            </a:p>
            <a:p>
              <a:pPr algn="ctr"/>
              <a:r>
                <a:rPr lang="en-US" altLang="zh-TW" sz="1050" b="1" dirty="0"/>
                <a:t>Walker</a:t>
              </a:r>
              <a:endParaRPr lang="zh-TW" altLang="en-US" sz="1050" b="1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Guest  </a:t>
              </a:r>
            </a:p>
            <a:p>
              <a:pPr algn="ctr"/>
              <a:r>
                <a:rPr lang="en-US" altLang="zh-TW" sz="1050" b="1" dirty="0"/>
                <a:t>Permission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Shadow Page Table</a:t>
              </a:r>
            </a:p>
            <a:p>
              <a:pPr algn="ctr"/>
              <a:r>
                <a:rPr lang="en-US" altLang="zh-TW" sz="1050" b="1" dirty="0"/>
                <a:t>Mapping</a:t>
              </a:r>
              <a:endParaRPr lang="zh-TW" altLang="en-US" sz="1050" b="1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Shadow Page Table</a:t>
              </a:r>
            </a:p>
            <a:p>
              <a:pPr algn="ctr"/>
              <a:r>
                <a:rPr lang="en-US" altLang="zh-TW" sz="1050" b="1" dirty="0"/>
                <a:t>Update</a:t>
              </a:r>
              <a:endParaRPr lang="zh-TW" altLang="en-US" sz="1050" b="1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MMIO</a:t>
              </a:r>
            </a:p>
            <a:p>
              <a:pPr algn="ctr"/>
              <a:r>
                <a:rPr lang="en-US" altLang="zh-TW" sz="1050" b="1" dirty="0"/>
                <a:t>Access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 flipH="1">
              <a:off x="2495291" y="3356992"/>
              <a:ext cx="1285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54665" y="2273872"/>
              <a:ext cx="90779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dirty="0"/>
                <a:t>PABT / DABT</a:t>
              </a:r>
            </a:p>
            <a:p>
              <a:pPr algn="ctr"/>
              <a:r>
                <a:rPr lang="en-US" altLang="zh-TW" sz="1050" dirty="0"/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 flipH="1">
              <a:off x="2508146" y="2557710"/>
              <a:ext cx="416" cy="2952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856850" y="3717032"/>
              <a:ext cx="1276880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/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792045" y="3507544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/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 flipH="1">
              <a:off x="3444234" y="3356992"/>
              <a:ext cx="8642" cy="1505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 flipH="1">
              <a:off x="4367143" y="3356992"/>
              <a:ext cx="24837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837256" y="3717032"/>
              <a:ext cx="1059772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/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880155" y="3528233"/>
              <a:ext cx="1316601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/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10372" cy="1712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2102503" y="2373357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1961063" y="2265345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1</a:t>
            </a:r>
            <a:endParaRPr lang="zh-TW" altLang="en-US" sz="1350" b="1" dirty="0"/>
          </a:p>
        </p:txBody>
      </p:sp>
      <p:sp>
        <p:nvSpPr>
          <p:cNvPr id="28" name="橢圓 27"/>
          <p:cNvSpPr/>
          <p:nvPr/>
        </p:nvSpPr>
        <p:spPr>
          <a:xfrm>
            <a:off x="3150344" y="2373357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9" name="文字方塊 28"/>
          <p:cNvSpPr txBox="1"/>
          <p:nvPr/>
        </p:nvSpPr>
        <p:spPr>
          <a:xfrm>
            <a:off x="3045825" y="2234857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2</a:t>
            </a:r>
            <a:endParaRPr lang="zh-TW" altLang="en-US" sz="1350" b="1" dirty="0"/>
          </a:p>
        </p:txBody>
      </p:sp>
      <p:sp>
        <p:nvSpPr>
          <p:cNvPr id="32" name="橢圓 31"/>
          <p:cNvSpPr/>
          <p:nvPr/>
        </p:nvSpPr>
        <p:spPr>
          <a:xfrm>
            <a:off x="4206975" y="2373357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33" name="文字方塊 32"/>
          <p:cNvSpPr txBox="1"/>
          <p:nvPr/>
        </p:nvSpPr>
        <p:spPr>
          <a:xfrm>
            <a:off x="4102456" y="2234857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3</a:t>
            </a:r>
            <a:endParaRPr lang="zh-TW" altLang="en-US" sz="1350" b="1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5205652" y="1923678"/>
            <a:ext cx="0" cy="18902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5421676" y="2224315"/>
            <a:ext cx="636713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Initial</a:t>
            </a:r>
            <a:endParaRPr lang="zh-TW" altLang="en-US" sz="135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6156776" y="2224315"/>
            <a:ext cx="1531188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Synchronization</a:t>
            </a:r>
            <a:endParaRPr lang="zh-TW" altLang="en-US" sz="135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3337704" y="1769063"/>
            <a:ext cx="18004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i="1" u="sng" dirty="0"/>
              <a:t>Real MMU Behavior</a:t>
            </a:r>
            <a:endParaRPr lang="zh-TW" altLang="en-US" sz="1350" b="1" i="1" u="sng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421676" y="1769063"/>
            <a:ext cx="21307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i="1" u="sng" dirty="0"/>
              <a:t>Shadow Table Behavior</a:t>
            </a:r>
            <a:endParaRPr lang="zh-TW" altLang="en-US" sz="1350" b="1" i="1" u="sng" dirty="0"/>
          </a:p>
        </p:txBody>
      </p:sp>
    </p:spTree>
    <p:extLst>
      <p:ext uri="{BB962C8B-B14F-4D97-AF65-F5344CB8AC3E}">
        <p14:creationId xmlns:p14="http://schemas.microsoft.com/office/powerpoint/2010/main" val="8451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Step 1</a:t>
            </a:r>
            <a:endParaRPr lang="zh-TW" altLang="en-US" dirty="0"/>
          </a:p>
        </p:txBody>
      </p:sp>
      <p:sp>
        <p:nvSpPr>
          <p:cNvPr id="35" name="內容版面配置區 34"/>
          <p:cNvSpPr>
            <a:spLocks noGrp="1"/>
          </p:cNvSpPr>
          <p:nvPr>
            <p:ph idx="1"/>
          </p:nvPr>
        </p:nvSpPr>
        <p:spPr>
          <a:xfrm>
            <a:off x="1601670" y="1005576"/>
            <a:ext cx="5886654" cy="1134126"/>
          </a:xfrm>
        </p:spPr>
        <p:txBody>
          <a:bodyPr/>
          <a:lstStyle/>
          <a:p>
            <a:r>
              <a:rPr lang="en-US" altLang="zh-TW" dirty="0"/>
              <a:t>While</a:t>
            </a:r>
            <a:r>
              <a:rPr lang="zh-TW" altLang="en-US" dirty="0"/>
              <a:t> </a:t>
            </a:r>
            <a:r>
              <a:rPr lang="en-US" altLang="zh-TW" dirty="0"/>
              <a:t>a page fault is occurred, Guest Page Table Walker will walk through guest page table to check if the fault is from guest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2060681" y="2535376"/>
            <a:ext cx="5205547" cy="2147212"/>
            <a:chOff x="1960050" y="2423670"/>
            <a:chExt cx="4700182" cy="1466818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Guest  </a:t>
              </a:r>
            </a:p>
            <a:p>
              <a:pPr algn="ctr"/>
              <a:r>
                <a:rPr lang="en-US" altLang="zh-TW" sz="1050" b="1" dirty="0"/>
                <a:t>Page Table</a:t>
              </a:r>
            </a:p>
            <a:p>
              <a:pPr algn="ctr"/>
              <a:r>
                <a:rPr lang="en-US" altLang="zh-TW" sz="1050" b="1" dirty="0"/>
                <a:t>Walker</a:t>
              </a:r>
              <a:endParaRPr lang="zh-TW" altLang="en-US" sz="1050" b="1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Permission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Mapping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Update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Access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35739" y="242367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/>
                <a:t>PABT / DABT</a:t>
              </a:r>
            </a:p>
            <a:p>
              <a:pPr algn="ctr"/>
              <a:r>
                <a:rPr lang="en-US" altLang="zh-TW" sz="1050" b="1" dirty="0"/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>
              <a:off x="2504112" y="2707508"/>
              <a:ext cx="4034" cy="1454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/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3" y="3512053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94117" cy="15506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60283" cy="3600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2377" y="3717030"/>
              <a:ext cx="1059772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6" y="3501008"/>
              <a:ext cx="1276162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93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2177187" y="3035801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2035747" y="2927789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1</a:t>
            </a:r>
            <a:endParaRPr lang="zh-TW" altLang="en-US" sz="1350" b="1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5280336" y="2586122"/>
            <a:ext cx="0" cy="18902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2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Step 2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2060681" y="2540483"/>
            <a:ext cx="5205547" cy="2142103"/>
            <a:chOff x="1960050" y="2427160"/>
            <a:chExt cx="4700182" cy="146332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Guest  </a:t>
              </a:r>
            </a:p>
            <a:p>
              <a:pPr algn="ctr"/>
              <a:r>
                <a:rPr lang="en-US" altLang="zh-TW" sz="1050" b="1" dirty="0"/>
                <a:t>Permission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Mapping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Update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Access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40189" y="242716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 flipH="1">
              <a:off x="2508146" y="2710998"/>
              <a:ext cx="416" cy="1419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9402"/>
              <a:ext cx="1401354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/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142602" cy="1524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67212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9306" y="3717032"/>
              <a:ext cx="1059772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6" y="3501008"/>
              <a:ext cx="1276162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93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3211293" y="3040910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3069853" y="2932898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2</a:t>
            </a:r>
            <a:endParaRPr lang="zh-TW" altLang="en-US" sz="1350" b="1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5280336" y="2586122"/>
            <a:ext cx="0" cy="18902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內容版面配置區 34"/>
          <p:cNvSpPr>
            <a:spLocks noGrp="1"/>
          </p:cNvSpPr>
          <p:nvPr>
            <p:ph idx="1"/>
          </p:nvPr>
        </p:nvSpPr>
        <p:spPr>
          <a:xfrm>
            <a:off x="1601670" y="1221601"/>
            <a:ext cx="5724636" cy="756083"/>
          </a:xfrm>
        </p:spPr>
        <p:txBody>
          <a:bodyPr/>
          <a:lstStyle/>
          <a:p>
            <a:r>
              <a:rPr lang="en-US" altLang="zh-TW" dirty="0"/>
              <a:t>Step 2 will check if guest access permission is not allowed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924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Step 3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2060681" y="2535374"/>
            <a:ext cx="5205547" cy="2147212"/>
            <a:chOff x="1960050" y="2423670"/>
            <a:chExt cx="4700182" cy="146681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Permission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Mapping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Update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MMIO</a:t>
              </a:r>
            </a:p>
            <a:p>
              <a:pPr algn="ctr"/>
              <a:r>
                <a:rPr lang="en-US" altLang="zh-TW" sz="1050" b="1" dirty="0"/>
                <a:t>Access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33700" y="242367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>
              <a:off x="2502073" y="2707508"/>
              <a:ext cx="6073" cy="1454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7544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94115" cy="1505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8199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2377" y="3717032"/>
              <a:ext cx="110319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/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6" y="3501008"/>
              <a:ext cx="1276162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93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4264534" y="3035801"/>
            <a:ext cx="972108" cy="918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4123094" y="2927789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3</a:t>
            </a:r>
            <a:endParaRPr lang="zh-TW" altLang="en-US" sz="1350" b="1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5280336" y="2586122"/>
            <a:ext cx="0" cy="18902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內容版面配置區 34"/>
          <p:cNvSpPr>
            <a:spLocks noGrp="1"/>
          </p:cNvSpPr>
          <p:nvPr>
            <p:ph idx="1"/>
          </p:nvPr>
        </p:nvSpPr>
        <p:spPr>
          <a:xfrm>
            <a:off x="1709682" y="1113588"/>
            <a:ext cx="5886654" cy="1080120"/>
          </a:xfrm>
        </p:spPr>
        <p:txBody>
          <a:bodyPr/>
          <a:lstStyle/>
          <a:p>
            <a:r>
              <a:rPr lang="en-US" altLang="zh-TW" dirty="0"/>
              <a:t>Step 3 will check if the guest physical memory address used is located in the range of MMIO address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6699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Steps 4 &amp; 5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2060681" y="2535374"/>
            <a:ext cx="5205547" cy="2147212"/>
            <a:chOff x="1960050" y="2423670"/>
            <a:chExt cx="4700182" cy="146681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Permission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Mapping</a:t>
              </a:r>
              <a:endParaRPr lang="zh-TW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Update</a:t>
              </a:r>
              <a:endParaRPr lang="zh-TW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Access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33700" y="242367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>
              <a:off x="2502073" y="2707508"/>
              <a:ext cx="6073" cy="1454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7544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94115" cy="1505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8199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2377" y="3717032"/>
              <a:ext cx="110319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6" y="3501008"/>
              <a:ext cx="1276162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b="1" dirty="0"/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93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直線接點 38"/>
          <p:cNvCxnSpPr/>
          <p:nvPr/>
        </p:nvCxnSpPr>
        <p:spPr>
          <a:xfrm>
            <a:off x="5280336" y="2586122"/>
            <a:ext cx="0" cy="189021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內容版面配置區 34"/>
          <p:cNvSpPr>
            <a:spLocks noGrp="1"/>
          </p:cNvSpPr>
          <p:nvPr>
            <p:ph idx="1"/>
          </p:nvPr>
        </p:nvSpPr>
        <p:spPr>
          <a:xfrm>
            <a:off x="1655676" y="1113588"/>
            <a:ext cx="5940660" cy="1080120"/>
          </a:xfrm>
        </p:spPr>
        <p:txBody>
          <a:bodyPr/>
          <a:lstStyle/>
          <a:p>
            <a:r>
              <a:rPr lang="en-US" altLang="zh-TW" dirty="0"/>
              <a:t>Step 4 and step 5 are used to build up shadow page tables and maintain their consistency between guest and shadow ones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680720" y="2807125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4</a:t>
            </a:r>
            <a:endParaRPr lang="zh-TW" altLang="en-US" sz="135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717474" y="2807125"/>
            <a:ext cx="280846" cy="30008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5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727974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Optimization For SPT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Para-virtualization</a:t>
            </a:r>
          </a:p>
          <a:p>
            <a:pPr lvl="1"/>
            <a:r>
              <a:rPr lang="en-US" altLang="zh-TW" dirty="0"/>
              <a:t>Reduce VM</a:t>
            </a:r>
            <a:r>
              <a:rPr lang="zh-TW" altLang="en-US" dirty="0"/>
              <a:t> </a:t>
            </a:r>
            <a:r>
              <a:rPr lang="en-US" altLang="zh-TW" dirty="0"/>
              <a:t>exits</a:t>
            </a:r>
          </a:p>
          <a:p>
            <a:pPr lvl="1"/>
            <a:r>
              <a:rPr lang="en-US" altLang="zh-TW" dirty="0"/>
              <a:t>Guest OS would send a hyper call to VMM when guest OS sets the page table entries.</a:t>
            </a:r>
          </a:p>
          <a:p>
            <a:pPr lvl="1"/>
            <a:r>
              <a:rPr lang="en-US" altLang="zh-TW" dirty="0"/>
              <a:t>This method will eliminate from using write-protection for synchronization</a:t>
            </a:r>
          </a:p>
          <a:p>
            <a:endParaRPr lang="en-US" altLang="zh-TW" dirty="0"/>
          </a:p>
          <a:p>
            <a:r>
              <a:rPr lang="en-US" altLang="zh-TW" dirty="0"/>
              <a:t>No trap for non-present PTEs</a:t>
            </a:r>
          </a:p>
          <a:p>
            <a:pPr lvl="1"/>
            <a:r>
              <a:rPr lang="en-US" altLang="zh-TW" dirty="0"/>
              <a:t>Reduce VM exits</a:t>
            </a:r>
          </a:p>
          <a:p>
            <a:pPr lvl="1"/>
            <a:r>
              <a:rPr lang="en-US" altLang="zh-TW" dirty="0"/>
              <a:t>If the page-fault is caused by PTE not present, it is not intercepted by the host</a:t>
            </a:r>
          </a:p>
          <a:p>
            <a:pPr lvl="1"/>
            <a:r>
              <a:rPr lang="en-US" altLang="zh-TW" dirty="0"/>
              <a:t>Only works on VMX</a:t>
            </a:r>
          </a:p>
        </p:txBody>
      </p:sp>
    </p:spTree>
    <p:extLst>
      <p:ext uri="{BB962C8B-B14F-4D97-AF65-F5344CB8AC3E}">
        <p14:creationId xmlns:p14="http://schemas.microsoft.com/office/powerpoint/2010/main" val="1248614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964" y="2247422"/>
            <a:ext cx="3672608" cy="23822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Optimization For SPT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9652" y="1059583"/>
            <a:ext cx="6172200" cy="3186354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Un-synchronize shadow page table pages</a:t>
            </a:r>
          </a:p>
          <a:p>
            <a:pPr lvl="1"/>
            <a:r>
              <a:rPr lang="en-US" altLang="zh-TW" dirty="0"/>
              <a:t>Reduce VM exits</a:t>
            </a:r>
          </a:p>
          <a:p>
            <a:pPr lvl="1"/>
            <a:r>
              <a:rPr lang="en-US" altLang="zh-TW" dirty="0"/>
              <a:t>Allow the guest page table to be writable if and only if the page is the last level page-structure (level 1)</a:t>
            </a:r>
          </a:p>
          <a:p>
            <a:pPr lvl="1"/>
            <a:r>
              <a:rPr lang="en-US" altLang="zh-TW" dirty="0"/>
              <a:t>Based on TLB rules</a:t>
            </a:r>
          </a:p>
          <a:p>
            <a:pPr lvl="2"/>
            <a:r>
              <a:rPr lang="en-US" altLang="zh-TW" dirty="0"/>
              <a:t>We need to flush TLB</a:t>
            </a:r>
          </a:p>
          <a:p>
            <a:pPr marL="685800" lvl="2" indent="0">
              <a:buNone/>
            </a:pPr>
            <a:r>
              <a:rPr lang="en-US" altLang="zh-TW" dirty="0"/>
              <a:t>to ensure the translation</a:t>
            </a:r>
          </a:p>
          <a:p>
            <a:pPr marL="685800" lvl="2" indent="0">
              <a:buNone/>
            </a:pPr>
            <a:r>
              <a:rPr lang="en-US" altLang="zh-TW" dirty="0"/>
              <a:t>use the modified page </a:t>
            </a:r>
          </a:p>
          <a:p>
            <a:pPr marL="685800" lvl="2" indent="0">
              <a:buNone/>
            </a:pPr>
            <a:r>
              <a:rPr lang="en-US" altLang="zh-TW" dirty="0"/>
              <a:t>structures, then we can</a:t>
            </a:r>
          </a:p>
          <a:p>
            <a:pPr marL="685800" lvl="2" indent="0">
              <a:buNone/>
            </a:pPr>
            <a:r>
              <a:rPr lang="en-US" altLang="zh-TW" dirty="0"/>
              <a:t>Intercept the TLB flush </a:t>
            </a:r>
          </a:p>
          <a:p>
            <a:pPr marL="685800" lvl="2" indent="0">
              <a:buNone/>
            </a:pPr>
            <a:r>
              <a:rPr lang="en-US" altLang="zh-TW" dirty="0"/>
              <a:t>operations and sync shadow</a:t>
            </a:r>
          </a:p>
          <a:p>
            <a:pPr marL="685800" lvl="2" indent="0">
              <a:buNone/>
            </a:pPr>
            <a:r>
              <a:rPr lang="en-US" altLang="zh-TW" dirty="0"/>
              <a:t>pages</a:t>
            </a:r>
          </a:p>
          <a:p>
            <a:pPr lvl="2"/>
            <a:r>
              <a:rPr lang="en-US" altLang="zh-TW" dirty="0"/>
              <a:t>Sometimes, TLB need not</a:t>
            </a:r>
          </a:p>
          <a:p>
            <a:pPr marL="685800" lvl="2" indent="0">
              <a:buNone/>
            </a:pPr>
            <a:r>
              <a:rPr lang="en-US" altLang="zh-TW" dirty="0"/>
              <a:t>be flushed, then it can be </a:t>
            </a:r>
          </a:p>
          <a:p>
            <a:pPr marL="685800" lvl="2" indent="0">
              <a:buNone/>
            </a:pPr>
            <a:r>
              <a:rPr lang="en-US" altLang="zh-TW" dirty="0"/>
              <a:t>synced through page fault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464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Optimization for SPT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1570"/>
            <a:ext cx="6172200" cy="486054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KSM: kernel shared memory</a:t>
            </a:r>
          </a:p>
          <a:p>
            <a:pPr lvl="1"/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3112565" y="1761661"/>
            <a:ext cx="972108" cy="107653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23" name="直線接點 22"/>
          <p:cNvCxnSpPr/>
          <p:nvPr/>
        </p:nvCxnSpPr>
        <p:spPr>
          <a:xfrm>
            <a:off x="3112565" y="2157390"/>
            <a:ext cx="9721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175920" y="2373414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107992" y="1841071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27" name="矩形 26"/>
          <p:cNvSpPr/>
          <p:nvPr/>
        </p:nvSpPr>
        <p:spPr>
          <a:xfrm>
            <a:off x="5110787" y="1761660"/>
            <a:ext cx="972108" cy="107653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29" name="直線接點 28"/>
          <p:cNvCxnSpPr/>
          <p:nvPr/>
        </p:nvCxnSpPr>
        <p:spPr>
          <a:xfrm>
            <a:off x="5110787" y="2157389"/>
            <a:ext cx="9721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174142" y="2373413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106214" y="1841071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34" name="等於 33"/>
          <p:cNvSpPr/>
          <p:nvPr/>
        </p:nvSpPr>
        <p:spPr>
          <a:xfrm>
            <a:off x="4438802" y="1861960"/>
            <a:ext cx="378042" cy="24143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schemeClr val="tx1"/>
              </a:solidFill>
            </a:endParaRPr>
          </a:p>
        </p:txBody>
      </p:sp>
      <p:sp>
        <p:nvSpPr>
          <p:cNvPr id="35" name="不等於 34"/>
          <p:cNvSpPr/>
          <p:nvPr/>
        </p:nvSpPr>
        <p:spPr>
          <a:xfrm>
            <a:off x="4438802" y="2371286"/>
            <a:ext cx="378042" cy="276999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schemeClr val="tx1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004586" y="2893486"/>
            <a:ext cx="1463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 Process 1</a:t>
            </a:r>
            <a:endParaRPr lang="zh-TW" altLang="en-US" sz="135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5002808" y="2893486"/>
            <a:ext cx="1463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 Process 2</a:t>
            </a:r>
            <a:endParaRPr lang="zh-TW" altLang="en-US" sz="1350" dirty="0"/>
          </a:p>
        </p:txBody>
      </p:sp>
      <p:sp>
        <p:nvSpPr>
          <p:cNvPr id="39" name="矩形 38"/>
          <p:cNvSpPr/>
          <p:nvPr/>
        </p:nvSpPr>
        <p:spPr>
          <a:xfrm>
            <a:off x="2593361" y="3498725"/>
            <a:ext cx="972108" cy="1076539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2593361" y="3894454"/>
            <a:ext cx="9721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656715" y="4110478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2588788" y="3578135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43" name="矩形 42"/>
          <p:cNvSpPr/>
          <p:nvPr/>
        </p:nvSpPr>
        <p:spPr>
          <a:xfrm>
            <a:off x="4116987" y="3356184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cxnSp>
        <p:nvCxnSpPr>
          <p:cNvPr id="44" name="直線接點 43"/>
          <p:cNvCxnSpPr/>
          <p:nvPr/>
        </p:nvCxnSpPr>
        <p:spPr>
          <a:xfrm>
            <a:off x="1979712" y="3228695"/>
            <a:ext cx="50765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116987" y="3836407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sp>
        <p:nvSpPr>
          <p:cNvPr id="46" name="矩形 45"/>
          <p:cNvSpPr/>
          <p:nvPr/>
        </p:nvSpPr>
        <p:spPr>
          <a:xfrm>
            <a:off x="4100564" y="4308814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cxnSp>
        <p:nvCxnSpPr>
          <p:cNvPr id="47" name="直線接點 46"/>
          <p:cNvCxnSpPr/>
          <p:nvPr/>
        </p:nvCxnSpPr>
        <p:spPr>
          <a:xfrm flipV="1">
            <a:off x="3565468" y="3356184"/>
            <a:ext cx="489437" cy="14254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565468" y="3894454"/>
            <a:ext cx="489437" cy="82693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5012029" y="3768755"/>
            <a:ext cx="29065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i="1" dirty="0"/>
              <a:t>The shadow tables of kernel space </a:t>
            </a:r>
          </a:p>
          <a:p>
            <a:r>
              <a:rPr lang="en-US" altLang="zh-TW" sz="1350" i="1" dirty="0"/>
              <a:t>are shared by all guest processes</a:t>
            </a:r>
            <a:endParaRPr lang="zh-TW" altLang="en-US" sz="1350" i="1" dirty="0"/>
          </a:p>
        </p:txBody>
      </p:sp>
    </p:spTree>
    <p:extLst>
      <p:ext uri="{BB962C8B-B14F-4D97-AF65-F5344CB8AC3E}">
        <p14:creationId xmlns:p14="http://schemas.microsoft.com/office/powerpoint/2010/main" val="2319856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266774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Page fault and page protection issue</a:t>
            </a:r>
          </a:p>
          <a:p>
            <a:pPr lvl="1"/>
            <a:r>
              <a:rPr lang="en-US" dirty="0"/>
              <a:t>When a physical page fault occurs, VMM needs to decide whether this exception should be injected to guest OS or not</a:t>
            </a:r>
          </a:p>
          <a:p>
            <a:pPr lvl="2"/>
            <a:r>
              <a:rPr lang="en-US" dirty="0"/>
              <a:t>If the page entry in a guest page table is still valid, VMM prepares for the corresponding page and does not inject any exception to guest OS.</a:t>
            </a:r>
          </a:p>
          <a:p>
            <a:pPr lvl="2"/>
            <a:r>
              <a:rPr lang="en-US" dirty="0"/>
              <a:t>If the page entry in a guest page table is invalid, then VMM directly injects the virtual page fault to guest OS.</a:t>
            </a:r>
          </a:p>
        </p:txBody>
      </p:sp>
    </p:spTree>
    <p:extLst>
      <p:ext uri="{BB962C8B-B14F-4D97-AF65-F5344CB8AC3E}">
        <p14:creationId xmlns:p14="http://schemas.microsoft.com/office/powerpoint/2010/main" val="395752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Concepts </a:t>
            </a:r>
          </a:p>
          <a:p>
            <a:r>
              <a:rPr lang="en-US" dirty="0"/>
              <a:t>Shadow page table</a:t>
            </a:r>
          </a:p>
          <a:p>
            <a:r>
              <a:rPr lang="en-US" dirty="0">
                <a:solidFill>
                  <a:srgbClr val="C00000"/>
                </a:solidFill>
              </a:rPr>
              <a:t>Hardware assistance</a:t>
            </a:r>
          </a:p>
          <a:p>
            <a:r>
              <a:rPr lang="en-US" altLang="zh-TW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987650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Hardware Assistance: Overview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210154"/>
            <a:ext cx="6172200" cy="3374463"/>
          </a:xfrm>
        </p:spPr>
      </p:pic>
    </p:spTree>
    <p:extLst>
      <p:ext uri="{BB962C8B-B14F-4D97-AF65-F5344CB8AC3E}">
        <p14:creationId xmlns:p14="http://schemas.microsoft.com/office/powerpoint/2010/main" val="2867365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Difficulties of shadow page table technique :</a:t>
            </a:r>
          </a:p>
          <a:p>
            <a:pPr lvl="1"/>
            <a:r>
              <a:rPr lang="en-US" dirty="0"/>
              <a:t>Shadow page table implementation is extremely complex.</a:t>
            </a:r>
          </a:p>
          <a:p>
            <a:pPr lvl="1"/>
            <a:r>
              <a:rPr lang="en-US" dirty="0"/>
              <a:t>Page fault mechanism and synchronization issues are critical.</a:t>
            </a:r>
          </a:p>
          <a:p>
            <a:pPr lvl="1"/>
            <a:r>
              <a:rPr lang="en-US" dirty="0"/>
              <a:t>Host memory space overhead is considerable.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But why we need this technique to virtualize MMU ?</a:t>
            </a:r>
          </a:p>
          <a:p>
            <a:pPr lvl="1"/>
            <a:r>
              <a:rPr lang="en-US" dirty="0"/>
              <a:t>MMU do not first implemented for virtualization.</a:t>
            </a:r>
          </a:p>
          <a:p>
            <a:pPr lvl="1"/>
            <a:r>
              <a:rPr lang="en-US" dirty="0"/>
              <a:t>MMU is knowing nothing about two level page address translation.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Now, let us consider hardware solution.</a:t>
            </a:r>
          </a:p>
        </p:txBody>
      </p:sp>
    </p:spTree>
    <p:extLst>
      <p:ext uri="{BB962C8B-B14F-4D97-AF65-F5344CB8AC3E}">
        <p14:creationId xmlns:p14="http://schemas.microsoft.com/office/powerpoint/2010/main" val="453257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371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Concept of Extended Page Table (EPT) :</a:t>
            </a:r>
          </a:p>
          <a:p>
            <a:pPr lvl="1"/>
            <a:r>
              <a:rPr lang="en-US" dirty="0"/>
              <a:t>Instead of walking along with only one page table hierarchy, EPT technique implement one more page table hierarchy.</a:t>
            </a:r>
          </a:p>
          <a:p>
            <a:pPr lvl="2"/>
            <a:r>
              <a:rPr lang="en-US" dirty="0"/>
              <a:t>One page table is maintained by guest OS, which is used to generate guest physical address.</a:t>
            </a:r>
          </a:p>
          <a:p>
            <a:pPr lvl="2"/>
            <a:r>
              <a:rPr lang="en-US" dirty="0"/>
              <a:t>The other page table is maintained by VMM, which is used to map guest physical address to host physical address.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For each memory access operation, EPT MMU directly gets the guest physical address from guest page table, and then gets the host physical address by the VMM mapping table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509782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operation :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5132" y="1811086"/>
            <a:ext cx="4874419" cy="26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162817" y="20649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0819" y="1892609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0060" y="1714500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212" y="20649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1150" y="1892609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177" y="1714500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8</a:t>
            </a:r>
          </a:p>
        </p:txBody>
      </p:sp>
      <p:cxnSp>
        <p:nvCxnSpPr>
          <p:cNvPr id="13" name="Straight Arrow Connector 12"/>
          <p:cNvCxnSpPr>
            <a:stCxn id="6" idx="2"/>
            <a:endCxn id="44" idx="0"/>
          </p:cNvCxnSpPr>
          <p:nvPr/>
        </p:nvCxnSpPr>
        <p:spPr>
          <a:xfrm flipH="1">
            <a:off x="3468942" y="2295766"/>
            <a:ext cx="818268" cy="84527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50" idx="0"/>
          </p:cNvCxnSpPr>
          <p:nvPr/>
        </p:nvCxnSpPr>
        <p:spPr>
          <a:xfrm>
            <a:off x="4287210" y="2295766"/>
            <a:ext cx="341985" cy="833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4" idx="0"/>
            <a:endCxn id="9" idx="2"/>
          </p:cNvCxnSpPr>
          <p:nvPr/>
        </p:nvCxnSpPr>
        <p:spPr>
          <a:xfrm flipV="1">
            <a:off x="4974251" y="2295766"/>
            <a:ext cx="51354" cy="833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2"/>
            <a:endCxn id="44" idx="0"/>
          </p:cNvCxnSpPr>
          <p:nvPr/>
        </p:nvCxnSpPr>
        <p:spPr>
          <a:xfrm flipH="1">
            <a:off x="3468942" y="2123441"/>
            <a:ext cx="1866270" cy="10176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50" idx="0"/>
          </p:cNvCxnSpPr>
          <p:nvPr/>
        </p:nvCxnSpPr>
        <p:spPr>
          <a:xfrm flipH="1">
            <a:off x="4629195" y="2123441"/>
            <a:ext cx="706017" cy="10057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4" idx="0"/>
            <a:endCxn id="10" idx="2"/>
          </p:cNvCxnSpPr>
          <p:nvPr/>
        </p:nvCxnSpPr>
        <p:spPr>
          <a:xfrm flipV="1">
            <a:off x="4974251" y="2123441"/>
            <a:ext cx="1071292" cy="10057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2"/>
            <a:endCxn id="44" idx="0"/>
          </p:cNvCxnSpPr>
          <p:nvPr/>
        </p:nvCxnSpPr>
        <p:spPr>
          <a:xfrm flipH="1">
            <a:off x="3468942" y="1945332"/>
            <a:ext cx="2905511" cy="119571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2"/>
            <a:endCxn id="50" idx="0"/>
          </p:cNvCxnSpPr>
          <p:nvPr/>
        </p:nvCxnSpPr>
        <p:spPr>
          <a:xfrm flipH="1">
            <a:off x="4629195" y="1945332"/>
            <a:ext cx="1745258" cy="11838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54" idx="0"/>
            <a:endCxn id="11" idx="2"/>
          </p:cNvCxnSpPr>
          <p:nvPr/>
        </p:nvCxnSpPr>
        <p:spPr>
          <a:xfrm flipV="1">
            <a:off x="4974251" y="1945332"/>
            <a:ext cx="2099319" cy="11838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326067" y="3141045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0" name="Rectangle 49"/>
          <p:cNvSpPr/>
          <p:nvPr/>
        </p:nvSpPr>
        <p:spPr>
          <a:xfrm>
            <a:off x="4486320" y="3129184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4" name="Rectangle 53"/>
          <p:cNvSpPr/>
          <p:nvPr/>
        </p:nvSpPr>
        <p:spPr>
          <a:xfrm>
            <a:off x="4831376" y="3129184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59" name="Straight Arrow Connector 58"/>
          <p:cNvCxnSpPr>
            <a:endCxn id="60" idx="1"/>
          </p:cNvCxnSpPr>
          <p:nvPr/>
        </p:nvCxnSpPr>
        <p:spPr>
          <a:xfrm>
            <a:off x="7142153" y="2117440"/>
            <a:ext cx="213528" cy="115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55681" y="2013565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Data</a:t>
            </a:r>
          </a:p>
        </p:txBody>
      </p:sp>
      <p:pic>
        <p:nvPicPr>
          <p:cNvPr id="6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114" y="3771790"/>
            <a:ext cx="2895686" cy="1085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522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6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  <a:p>
            <a:r>
              <a:rPr lang="en-US" dirty="0"/>
              <a:t>Shadow page table</a:t>
            </a:r>
          </a:p>
          <a:p>
            <a:r>
              <a:rPr lang="en-US" dirty="0"/>
              <a:t>Hardware assistance</a:t>
            </a:r>
          </a:p>
          <a:p>
            <a:r>
              <a:rPr lang="en-US" dirty="0">
                <a:solidFill>
                  <a:srgbClr val="C00000"/>
                </a:solidFill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53064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Question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Computer architecture with virtualization extension is a trend.</a:t>
            </a:r>
          </a:p>
          <a:p>
            <a:endParaRPr lang="en-US" altLang="zh-TW" dirty="0"/>
          </a:p>
          <a:p>
            <a:r>
              <a:rPr lang="en-US" altLang="zh-TW" dirty="0"/>
              <a:t>Hardware-assisted techniques replace many software methods of virtualization.</a:t>
            </a:r>
          </a:p>
          <a:p>
            <a:endParaRPr lang="en-US" altLang="zh-TW" dirty="0"/>
          </a:p>
          <a:p>
            <a:r>
              <a:rPr lang="en-US" altLang="zh-TW" dirty="0"/>
              <a:t>However, is hardware-assisted implementation a definite winner?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9573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Hardware-assisted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Walk any requested address</a:t>
            </a:r>
          </a:p>
          <a:p>
            <a:pPr lvl="1"/>
            <a:r>
              <a:rPr lang="en-US" altLang="zh-TW" dirty="0"/>
              <a:t>Appropriate to programs that have a large amount of page table miss when executing</a:t>
            </a:r>
          </a:p>
          <a:p>
            <a:pPr lvl="1"/>
            <a:r>
              <a:rPr lang="en-US" altLang="zh-TW" dirty="0"/>
              <a:t>Less chance to exit VM (less context switch)</a:t>
            </a:r>
          </a:p>
          <a:p>
            <a:r>
              <a:rPr lang="en-US" altLang="zh-TW" dirty="0"/>
              <a:t>Two-layer EPT</a:t>
            </a:r>
          </a:p>
          <a:p>
            <a:pPr lvl="1"/>
            <a:r>
              <a:rPr lang="en-US" altLang="zh-TW" dirty="0"/>
              <a:t>Means each access needs to walk two tables</a:t>
            </a:r>
          </a:p>
          <a:p>
            <a:r>
              <a:rPr lang="en-US" altLang="zh-TW" dirty="0"/>
              <a:t>Easier to develop</a:t>
            </a:r>
          </a:p>
          <a:p>
            <a:pPr lvl="1"/>
            <a:r>
              <a:rPr lang="en-US" altLang="zh-TW" dirty="0"/>
              <a:t>Many particular registers</a:t>
            </a:r>
          </a:p>
          <a:p>
            <a:pPr lvl="1"/>
            <a:r>
              <a:rPr lang="en-US" altLang="zh-TW" dirty="0"/>
              <a:t>Hardware helps guest OS to notify the VMM</a:t>
            </a:r>
          </a:p>
          <a:p>
            <a:pPr lvl="1"/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Software solution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Only walk when SPT entry miss</a:t>
            </a:r>
          </a:p>
          <a:p>
            <a:pPr lvl="1"/>
            <a:r>
              <a:rPr lang="en-US" altLang="zh-TW" dirty="0"/>
              <a:t>Appropriate to programs that would access only some addresses frequently</a:t>
            </a:r>
          </a:p>
          <a:p>
            <a:pPr lvl="1"/>
            <a:r>
              <a:rPr lang="en-US" altLang="zh-TW" dirty="0"/>
              <a:t>Every access might be intercepted by VMM (many traps)</a:t>
            </a:r>
          </a:p>
          <a:p>
            <a:r>
              <a:rPr lang="en-US" altLang="zh-TW" dirty="0"/>
              <a:t>One reference</a:t>
            </a:r>
          </a:p>
          <a:p>
            <a:pPr lvl="1"/>
            <a:r>
              <a:rPr lang="en-US" altLang="zh-TW" dirty="0"/>
              <a:t>Fast and convenient when page hit</a:t>
            </a:r>
          </a:p>
          <a:p>
            <a:r>
              <a:rPr lang="en-US" altLang="zh-TW" dirty="0"/>
              <a:t>Hard to develop</a:t>
            </a:r>
          </a:p>
          <a:p>
            <a:pPr lvl="1"/>
            <a:r>
              <a:rPr lang="en-US" altLang="zh-TW" dirty="0"/>
              <a:t>Two-layer structure </a:t>
            </a:r>
          </a:p>
          <a:p>
            <a:pPr lvl="1"/>
            <a:r>
              <a:rPr lang="en-US" altLang="zh-TW" dirty="0"/>
              <a:t>Complicated reverse map</a:t>
            </a:r>
          </a:p>
          <a:p>
            <a:pPr lvl="1"/>
            <a:r>
              <a:rPr lang="en-US" altLang="zh-TW" dirty="0"/>
              <a:t>Permission emulation</a:t>
            </a:r>
          </a:p>
        </p:txBody>
      </p:sp>
    </p:spTree>
    <p:extLst>
      <p:ext uri="{BB962C8B-B14F-4D97-AF65-F5344CB8AC3E}">
        <p14:creationId xmlns:p14="http://schemas.microsoft.com/office/powerpoint/2010/main" val="2160700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Combination?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Is hardware-assisted implementation a definite winner? </a:t>
            </a:r>
          </a:p>
          <a:p>
            <a:pPr lvl="1"/>
            <a:r>
              <a:rPr lang="en-US" altLang="zh-TW" dirty="0"/>
              <a:t>No </a:t>
            </a:r>
          </a:p>
          <a:p>
            <a:pPr lvl="1"/>
            <a:r>
              <a:rPr lang="en-US" altLang="zh-TW" dirty="0"/>
              <a:t>How about combining these two methods?</a:t>
            </a:r>
          </a:p>
          <a:p>
            <a:r>
              <a:rPr lang="en-US" altLang="zh-TW" dirty="0"/>
              <a:t>Selective memory virtualization</a:t>
            </a:r>
          </a:p>
          <a:p>
            <a:pPr lvl="1"/>
            <a:r>
              <a:rPr lang="en-US" altLang="zh-TW" dirty="0"/>
              <a:t>The VMM can dynamically choose the memory management mechanism depending on the executing status.</a:t>
            </a:r>
          </a:p>
          <a:p>
            <a:pPr lvl="1"/>
            <a:r>
              <a:rPr lang="en-US" altLang="zh-TW" dirty="0"/>
              <a:t>Challenge</a:t>
            </a:r>
          </a:p>
          <a:p>
            <a:pPr lvl="2"/>
            <a:r>
              <a:rPr lang="en-US" altLang="zh-TW" dirty="0"/>
              <a:t>Hard to figure out the standard that we judge a program performs too many page table misses</a:t>
            </a:r>
          </a:p>
          <a:p>
            <a:pPr lvl="2"/>
            <a:r>
              <a:rPr lang="en-US" altLang="zh-TW" dirty="0"/>
              <a:t>An accurate algorithm to sample behaviors of a program is necessary</a:t>
            </a:r>
          </a:p>
          <a:p>
            <a:pPr lvl="1"/>
            <a:r>
              <a:rPr lang="en-US" altLang="zh-TW" dirty="0"/>
              <a:t>Group from Peking University completed a selective solution on VEE 2011</a:t>
            </a:r>
          </a:p>
          <a:p>
            <a:pPr lvl="2"/>
            <a:r>
              <a:rPr lang="en-US" altLang="zh-TW" dirty="0"/>
              <a:t>Gain just a little bit performance improvement</a:t>
            </a:r>
          </a:p>
          <a:p>
            <a:pPr lvl="2"/>
            <a:r>
              <a:rPr lang="en-US" altLang="zh-TW" dirty="0"/>
              <a:t>For now, it’s not worth to do so.</a:t>
            </a:r>
          </a:p>
        </p:txBody>
      </p:sp>
    </p:spTree>
    <p:extLst>
      <p:ext uri="{BB962C8B-B14F-4D97-AF65-F5344CB8AC3E}">
        <p14:creationId xmlns:p14="http://schemas.microsoft.com/office/powerpoint/2010/main" val="4169062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Selective Memory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Experiment data</a:t>
            </a:r>
          </a:p>
          <a:p>
            <a:pPr lvl="1"/>
            <a:r>
              <a:rPr lang="en-US" altLang="zh-TW" dirty="0"/>
              <a:t>The bar shows the normalized execution time</a:t>
            </a:r>
          </a:p>
          <a:p>
            <a:pPr lvl="1"/>
            <a:r>
              <a:rPr lang="en-US" altLang="zh-TW" dirty="0"/>
              <a:t>The lower, the better.</a:t>
            </a:r>
          </a:p>
          <a:p>
            <a:pPr lvl="1"/>
            <a:r>
              <a:rPr lang="en-US" altLang="zh-TW" dirty="0"/>
              <a:t>HAP: hardware-assisted page table</a:t>
            </a:r>
          </a:p>
          <a:p>
            <a:pPr lvl="1"/>
            <a:r>
              <a:rPr lang="en-US" altLang="zh-TW" dirty="0"/>
              <a:t>SP: shadow page table</a:t>
            </a:r>
          </a:p>
          <a:p>
            <a:pPr lvl="1"/>
            <a:r>
              <a:rPr lang="en-US" altLang="zh-TW" dirty="0"/>
              <a:t>DSP: dynamic selective page table</a:t>
            </a:r>
          </a:p>
          <a:p>
            <a:pPr lvl="1"/>
            <a:r>
              <a:rPr lang="en-US" altLang="zh-TW" dirty="0"/>
              <a:t>Take hardware extension as 100%</a:t>
            </a:r>
          </a:p>
          <a:p>
            <a:r>
              <a:rPr lang="en-US" altLang="zh-TW" dirty="0"/>
              <a:t>We can see that…</a:t>
            </a:r>
          </a:p>
          <a:p>
            <a:pPr lvl="1"/>
            <a:r>
              <a:rPr lang="en-US" altLang="zh-TW" dirty="0"/>
              <a:t>Generally HAP is faster than SPT, but not always.</a:t>
            </a:r>
          </a:p>
          <a:p>
            <a:pPr lvl="1"/>
            <a:r>
              <a:rPr lang="en-US" altLang="zh-TW" dirty="0"/>
              <a:t>The performance of DSP is best , but only tiny disparities. (about 2%)</a:t>
            </a:r>
            <a:endParaRPr lang="zh-TW" altLang="en-US" dirty="0"/>
          </a:p>
        </p:txBody>
      </p:sp>
      <p:pic>
        <p:nvPicPr>
          <p:cNvPr id="5" name="內容版面配置區 4" descr="畫面剪輯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373" y="1707654"/>
            <a:ext cx="3439608" cy="212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78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Software implementation</a:t>
            </a:r>
          </a:p>
          <a:p>
            <a:pPr lvl="1"/>
            <a:r>
              <a:rPr lang="en-US" dirty="0"/>
              <a:t>Memory architecture</a:t>
            </a:r>
          </a:p>
          <a:p>
            <a:pPr lvl="2"/>
            <a:r>
              <a:rPr lang="en-US" dirty="0"/>
              <a:t>MMU (memory management unit)</a:t>
            </a:r>
          </a:p>
          <a:p>
            <a:pPr lvl="2"/>
            <a:r>
              <a:rPr lang="en-US" dirty="0"/>
              <a:t>TLB (translation look-aside buffer)</a:t>
            </a:r>
          </a:p>
          <a:p>
            <a:pPr lvl="1"/>
            <a:r>
              <a:rPr lang="en-US" dirty="0"/>
              <a:t>Shadow page table</a:t>
            </a:r>
          </a:p>
          <a:p>
            <a:pPr lvl="2"/>
            <a:r>
              <a:rPr lang="en-US" dirty="0"/>
              <a:t>MMU virtualization by virtual PTBR</a:t>
            </a:r>
          </a:p>
          <a:p>
            <a:pPr lvl="2"/>
            <a:r>
              <a:rPr lang="en-US" dirty="0"/>
              <a:t>Shadow page table construction</a:t>
            </a:r>
          </a:p>
          <a:p>
            <a:pPr lvl="2"/>
            <a:r>
              <a:rPr lang="en-US" dirty="0"/>
              <a:t>Page fault and page table protection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Hardware assistance</a:t>
            </a:r>
          </a:p>
          <a:p>
            <a:pPr lvl="1"/>
            <a:r>
              <a:rPr lang="en-US" dirty="0"/>
              <a:t>Extended page table</a:t>
            </a:r>
          </a:p>
          <a:p>
            <a:pPr lvl="2"/>
            <a:r>
              <a:rPr lang="en-US" dirty="0"/>
              <a:t>Hardware walk guest and host page table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698402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Selective hardware/software memory virtualization</a:t>
            </a:r>
          </a:p>
          <a:p>
            <a:pPr lvl="1"/>
            <a:r>
              <a:rPr lang="en-US" altLang="zh-TW" dirty="0">
                <a:hlinkClick r:id="rId2"/>
              </a:rPr>
              <a:t>http://www.cs.mtu.edu/~zlwang/papers/vee11.pdf</a:t>
            </a:r>
            <a:endParaRPr lang="en-US" altLang="zh-TW" dirty="0"/>
          </a:p>
          <a:p>
            <a:r>
              <a:rPr lang="en-US" altLang="zh-TW" dirty="0"/>
              <a:t>ARM</a:t>
            </a:r>
            <a:r>
              <a:rPr lang="en-US" altLang="zh-TW" baseline="30000" dirty="0"/>
              <a:t>®</a:t>
            </a:r>
            <a:r>
              <a:rPr lang="en-US" altLang="zh-TW" dirty="0"/>
              <a:t> Architecture Reference Manual: ARMv7-A and ARMv7-R edition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21514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2445</TotalTime>
  <Words>2257</Words>
  <Application>Microsoft Office PowerPoint</Application>
  <PresentationFormat>全屏显示(16:9)</PresentationFormat>
  <Paragraphs>440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標楷體</vt:lpstr>
      <vt:lpstr>MS Sans Serif</vt:lpstr>
      <vt:lpstr>Arial</vt:lpstr>
      <vt:lpstr>Calibri</vt:lpstr>
      <vt:lpstr>Cambria</vt:lpstr>
      <vt:lpstr>Times New Roman</vt:lpstr>
      <vt:lpstr>Wingdings</vt:lpstr>
      <vt:lpstr>NTHU UniCloud</vt:lpstr>
      <vt:lpstr>CSC6032 – Advanced Operating Systems</vt:lpstr>
      <vt:lpstr>虛擬化技術 Virtualization Technique</vt:lpstr>
      <vt:lpstr>Agenda</vt:lpstr>
      <vt:lpstr>Basic concept of memory management</vt:lpstr>
      <vt:lpstr>Memory Management Unit</vt:lpstr>
      <vt:lpstr>Page Tables</vt:lpstr>
      <vt:lpstr>TLB</vt:lpstr>
      <vt:lpstr>Brief introduction to ARMv7 VMSA</vt:lpstr>
      <vt:lpstr>ARMv7 VMSA</vt:lpstr>
      <vt:lpstr>L1 Page Table</vt:lpstr>
      <vt:lpstr>1st Page Table Descriptor</vt:lpstr>
      <vt:lpstr>L2 Page Table</vt:lpstr>
      <vt:lpstr>2nd Page Table Descriptor</vt:lpstr>
      <vt:lpstr>Memory Virtualization</vt:lpstr>
      <vt:lpstr>Memory Management on a VM</vt:lpstr>
      <vt:lpstr>Memory Virtualization</vt:lpstr>
      <vt:lpstr>Memory Virtualization</vt:lpstr>
      <vt:lpstr>Goals of Memory Virtualization</vt:lpstr>
      <vt:lpstr>Memory Virtualization</vt:lpstr>
      <vt:lpstr>Shadow Page Table</vt:lpstr>
      <vt:lpstr>Shadow Page Table: Overview</vt:lpstr>
      <vt:lpstr>Shadow Page Table</vt:lpstr>
      <vt:lpstr>Shadow Page Table</vt:lpstr>
      <vt:lpstr>Shadow Page Table</vt:lpstr>
      <vt:lpstr>SPT Maintenance</vt:lpstr>
      <vt:lpstr>Shadow Page Table</vt:lpstr>
      <vt:lpstr>Big Overhead</vt:lpstr>
      <vt:lpstr>Page Walking Process on ARM </vt:lpstr>
      <vt:lpstr>Step 1</vt:lpstr>
      <vt:lpstr>Step 2</vt:lpstr>
      <vt:lpstr>Step 3</vt:lpstr>
      <vt:lpstr>Steps 4 &amp; 5</vt:lpstr>
      <vt:lpstr>Optimization For SPT</vt:lpstr>
      <vt:lpstr>Optimization For SPT</vt:lpstr>
      <vt:lpstr>Optimization for SPT</vt:lpstr>
      <vt:lpstr>Other Issues</vt:lpstr>
      <vt:lpstr>Memory Virtualization</vt:lpstr>
      <vt:lpstr>Hardware Assistance: Overview</vt:lpstr>
      <vt:lpstr>Hardware Solution</vt:lpstr>
      <vt:lpstr>Extended Page Table</vt:lpstr>
      <vt:lpstr>Extended Page Table</vt:lpstr>
      <vt:lpstr>Memory Virtualization</vt:lpstr>
      <vt:lpstr>Question</vt:lpstr>
      <vt:lpstr>Comparisons</vt:lpstr>
      <vt:lpstr>Combination?</vt:lpstr>
      <vt:lpstr>Selective Memory Virtualization</vt:lpstr>
      <vt:lpstr>Memory Virtualization Summary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2023-10-15T06:06:33Z</dcterms:modified>
</cp:coreProperties>
</file>