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256" r:id="rId2"/>
    <p:sldId id="319" r:id="rId3"/>
    <p:sldId id="259" r:id="rId4"/>
    <p:sldId id="295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94" r:id="rId17"/>
    <p:sldId id="260" r:id="rId18"/>
    <p:sldId id="286" r:id="rId19"/>
    <p:sldId id="261" r:id="rId20"/>
    <p:sldId id="287" r:id="rId21"/>
    <p:sldId id="293" r:id="rId22"/>
    <p:sldId id="296" r:id="rId23"/>
    <p:sldId id="263" r:id="rId24"/>
    <p:sldId id="264" r:id="rId25"/>
    <p:sldId id="265" r:id="rId26"/>
    <p:sldId id="267" r:id="rId27"/>
    <p:sldId id="268" r:id="rId28"/>
    <p:sldId id="269" r:id="rId29"/>
    <p:sldId id="270" r:id="rId30"/>
    <p:sldId id="271" r:id="rId31"/>
    <p:sldId id="272" r:id="rId32"/>
    <p:sldId id="288" r:id="rId33"/>
    <p:sldId id="297" r:id="rId34"/>
    <p:sldId id="299" r:id="rId35"/>
    <p:sldId id="289" r:id="rId36"/>
    <p:sldId id="301" r:id="rId37"/>
    <p:sldId id="302" r:id="rId38"/>
    <p:sldId id="303" r:id="rId39"/>
    <p:sldId id="300" r:id="rId40"/>
    <p:sldId id="304" r:id="rId41"/>
    <p:sldId id="306" r:id="rId42"/>
    <p:sldId id="305" r:id="rId43"/>
    <p:sldId id="307" r:id="rId44"/>
    <p:sldId id="308" r:id="rId45"/>
    <p:sldId id="309" r:id="rId46"/>
    <p:sldId id="310" r:id="rId47"/>
    <p:sldId id="317" r:id="rId48"/>
    <p:sldId id="357" r:id="rId4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2.png"/><Relationship Id="rId9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5975" y="2400300"/>
            <a:ext cx="4972050" cy="1771650"/>
          </a:xfrm>
        </p:spPr>
        <p:txBody>
          <a:bodyPr>
            <a:normAutofit/>
          </a:bodyPr>
          <a:lstStyle/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Network Virtualization</a:t>
            </a:r>
          </a:p>
          <a:p>
            <a:pPr algn="ct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Introduction</a:t>
            </a:r>
          </a:p>
          <a:p>
            <a:pPr algn="ctr"/>
            <a:endParaRPr lang="en-US" sz="2100" dirty="0">
              <a:latin typeface="標楷體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85851"/>
            <a:ext cx="6172200" cy="3508772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External network virtualization</a:t>
            </a:r>
          </a:p>
          <a:p>
            <a:pPr lvl="1"/>
            <a:r>
              <a:rPr lang="en-US" dirty="0"/>
              <a:t>What to be virtualized </a:t>
            </a:r>
          </a:p>
          <a:p>
            <a:pPr lvl="2"/>
            <a:r>
              <a:rPr lang="en-US" dirty="0"/>
              <a:t>Network device virtualization</a:t>
            </a:r>
          </a:p>
          <a:p>
            <a:pPr lvl="2"/>
            <a:r>
              <a:rPr lang="en-US" dirty="0"/>
              <a:t>Network data path virtualization</a:t>
            </a:r>
          </a:p>
          <a:p>
            <a:pPr lvl="1"/>
            <a:r>
              <a:rPr lang="en-US" dirty="0"/>
              <a:t>How to be virtualized</a:t>
            </a:r>
          </a:p>
          <a:p>
            <a:pPr lvl="2"/>
            <a:r>
              <a:rPr lang="en-US" dirty="0"/>
              <a:t>Protocol approach</a:t>
            </a:r>
          </a:p>
          <a:p>
            <a:r>
              <a:rPr lang="en-US" dirty="0"/>
              <a:t>Internal network virtualization</a:t>
            </a:r>
          </a:p>
          <a:p>
            <a:pPr lvl="1"/>
            <a:r>
              <a:rPr lang="en-US" dirty="0"/>
              <a:t>KVM approach</a:t>
            </a:r>
          </a:p>
          <a:p>
            <a:pPr lvl="1"/>
            <a:r>
              <a:rPr lang="en-US" dirty="0" err="1"/>
              <a:t>Xen</a:t>
            </a:r>
            <a:r>
              <a:rPr lang="en-US"/>
              <a:t> approach</a:t>
            </a:r>
            <a:endParaRPr lang="en-US" dirty="0"/>
          </a:p>
          <a:p>
            <a:pPr lvl="1"/>
            <a:r>
              <a:rPr lang="en-US" dirty="0"/>
              <a:t>Case study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Introduction</a:t>
            </a:r>
          </a:p>
          <a:p>
            <a:r>
              <a:rPr lang="en-US" dirty="0"/>
              <a:t>External network virtualization</a:t>
            </a:r>
          </a:p>
          <a:p>
            <a:r>
              <a:rPr lang="en-US" dirty="0"/>
              <a:t>Internal network virtualization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57251"/>
            <a:ext cx="6172200" cy="2708672"/>
          </a:xfrm>
        </p:spPr>
        <p:txBody>
          <a:bodyPr>
            <a:noAutofit/>
          </a:bodyPr>
          <a:lstStyle/>
          <a:p>
            <a:r>
              <a:rPr lang="en-US" dirty="0"/>
              <a:t>What is computer network ?</a:t>
            </a:r>
          </a:p>
          <a:p>
            <a:pPr lvl="1"/>
            <a:r>
              <a:rPr lang="en-US" dirty="0"/>
              <a:t>A computer network, often simply referred to as a network, is a collection of computers and devices interconnected by communications channels that facilitate communications among users and allows users to share resources.</a:t>
            </a:r>
          </a:p>
          <a:p>
            <a:r>
              <a:rPr lang="en-US" dirty="0"/>
              <a:t>Why should we study network ?</a:t>
            </a:r>
          </a:p>
          <a:p>
            <a:pPr lvl="1"/>
            <a:r>
              <a:rPr lang="en-US" dirty="0"/>
              <a:t>Computer networks are used for communication and coordination, as well as commerce by large as well as small organizations.</a:t>
            </a:r>
          </a:p>
          <a:p>
            <a:pPr lvl="1"/>
            <a:r>
              <a:rPr lang="en-US" dirty="0"/>
              <a:t>Computer networks and the Internet is a vital part of business infrastructure.</a:t>
            </a:r>
          </a:p>
        </p:txBody>
      </p:sp>
      <p:pic>
        <p:nvPicPr>
          <p:cNvPr id="4" name="Picture 2" descr="FIG01_03"/>
          <p:cNvPicPr>
            <a:picLocks noChangeAspect="1" noChangeArrowheads="1"/>
          </p:cNvPicPr>
          <p:nvPr/>
        </p:nvPicPr>
        <p:blipFill>
          <a:blip r:embed="rId2" cstate="print"/>
          <a:srcRect t="9048"/>
          <a:stretch>
            <a:fillRect/>
          </a:stretch>
        </p:blipFill>
        <p:spPr>
          <a:xfrm>
            <a:off x="3371850" y="3429000"/>
            <a:ext cx="4497142" cy="160020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Protocol and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14400"/>
            <a:ext cx="6172200" cy="19431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Network protocol</a:t>
            </a:r>
          </a:p>
          <a:p>
            <a:pPr lvl="1"/>
            <a:r>
              <a:rPr lang="en-US" dirty="0"/>
              <a:t>Rules and procedures governing transmission between computers</a:t>
            </a:r>
          </a:p>
          <a:p>
            <a:pPr lvl="1"/>
            <a:r>
              <a:rPr lang="en-US" dirty="0"/>
              <a:t>Used to identify communicating devices, secure attention of intended recipient, check for errors and re-transmissions</a:t>
            </a:r>
          </a:p>
          <a:p>
            <a:pPr lvl="1"/>
            <a:r>
              <a:rPr lang="en-US" dirty="0"/>
              <a:t>All computers using a protocol have to agree on how to code/decode the message, how to identify errors, and steps to take when there are errors or missed communications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10632" y="2800350"/>
            <a:ext cx="5090268" cy="2137350"/>
            <a:chOff x="123608" y="1847850"/>
            <a:chExt cx="8618241" cy="4295023"/>
          </a:xfrm>
        </p:grpSpPr>
        <p:pic>
          <p:nvPicPr>
            <p:cNvPr id="4" name="Picture 3" descr="Truck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2132014" y="1847850"/>
              <a:ext cx="5334003" cy="3848103"/>
            </a:xfrm>
            <a:prstGeom prst="rect">
              <a:avLst/>
            </a:prstGeom>
            <a:noFill/>
            <a:ln/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989248" y="2114132"/>
              <a:ext cx="1752601" cy="1159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050" b="1" dirty="0">
                  <a:solidFill>
                    <a:schemeClr val="accent2">
                      <a:lumMod val="50000"/>
                    </a:schemeClr>
                  </a:solidFill>
                </a:rPr>
                <a:t>Computer System Protocol</a:t>
              </a: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H="1">
              <a:off x="4292067" y="2605218"/>
              <a:ext cx="2550696" cy="90822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407826" y="5632627"/>
              <a:ext cx="2424600" cy="510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050" b="1" dirty="0">
                  <a:solidFill>
                    <a:schemeClr val="accent2">
                      <a:lumMod val="50000"/>
                    </a:schemeClr>
                  </a:solidFill>
                </a:rPr>
                <a:t>Packaging Protocol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 flipV="1">
              <a:off x="3886202" y="3505204"/>
              <a:ext cx="457201" cy="220980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23608" y="4518631"/>
              <a:ext cx="2042879" cy="834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050" b="1" dirty="0">
                  <a:solidFill>
                    <a:schemeClr val="accent2">
                      <a:lumMod val="50000"/>
                    </a:schemeClr>
                  </a:solidFill>
                </a:rPr>
                <a:t>Delivery Protocol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1733350" y="3805880"/>
              <a:ext cx="773229" cy="716693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sz="135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Protocol and Model</a:t>
            </a:r>
          </a:p>
        </p:txBody>
      </p:sp>
      <p:pic>
        <p:nvPicPr>
          <p:cNvPr id="4" name="Picture 4" descr="obr23119_042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028700"/>
            <a:ext cx="6024247" cy="3829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06078"/>
            <a:ext cx="6172200" cy="3394472"/>
          </a:xfrm>
        </p:spPr>
        <p:txBody>
          <a:bodyPr/>
          <a:lstStyle/>
          <a:p>
            <a:r>
              <a:rPr lang="en-US" dirty="0"/>
              <a:t>Topologies</a:t>
            </a:r>
          </a:p>
          <a:p>
            <a:pPr lvl="1"/>
            <a:r>
              <a:rPr lang="en-US" dirty="0"/>
              <a:t>Topology refers to the physical or logical layout of the computers in a particular network.</a:t>
            </a:r>
          </a:p>
          <a:p>
            <a:pPr lvl="1"/>
            <a:r>
              <a:rPr lang="en-US" dirty="0"/>
              <a:t>Commonly used topologies are star, bus and ring.</a:t>
            </a:r>
          </a:p>
        </p:txBody>
      </p:sp>
      <p:pic>
        <p:nvPicPr>
          <p:cNvPr id="4" name="Picture 3" descr="network topologies"/>
          <p:cNvPicPr>
            <a:picLocks noChangeAspect="1" noChangeArrowheads="1"/>
          </p:cNvPicPr>
          <p:nvPr/>
        </p:nvPicPr>
        <p:blipFill>
          <a:blip r:embed="rId2" cstate="print"/>
          <a:srcRect t="9171" b="10126"/>
          <a:stretch>
            <a:fillRect/>
          </a:stretch>
        </p:blipFill>
        <p:spPr>
          <a:xfrm>
            <a:off x="2057400" y="2514600"/>
            <a:ext cx="4883727" cy="228600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LANs and WANs</a:t>
            </a:r>
          </a:p>
          <a:p>
            <a:pPr lvl="1"/>
            <a:r>
              <a:rPr lang="en-US" dirty="0"/>
              <a:t>Local area network</a:t>
            </a:r>
          </a:p>
          <a:p>
            <a:pPr lvl="2"/>
            <a:r>
              <a:rPr lang="en-US" dirty="0"/>
              <a:t>Network of computers and other devices within a limited distance</a:t>
            </a:r>
          </a:p>
          <a:p>
            <a:pPr lvl="2"/>
            <a:r>
              <a:rPr lang="en-US" dirty="0"/>
              <a:t>Use star, bus or ring topologies</a:t>
            </a:r>
          </a:p>
          <a:p>
            <a:pPr lvl="2"/>
            <a:r>
              <a:rPr lang="en-US" dirty="0"/>
              <a:t>Network interface cards in each device specifies transmission rate, message structure, and topology</a:t>
            </a:r>
          </a:p>
          <a:p>
            <a:pPr lvl="2"/>
            <a:r>
              <a:rPr lang="en-US" dirty="0"/>
              <a:t>Network operating system routes and manages communications and coordinates network resources</a:t>
            </a:r>
          </a:p>
          <a:p>
            <a:pPr lvl="1"/>
            <a:r>
              <a:rPr lang="en-US" dirty="0"/>
              <a:t>Wide area network</a:t>
            </a:r>
          </a:p>
          <a:p>
            <a:pPr lvl="2"/>
            <a:r>
              <a:rPr lang="en-US" dirty="0"/>
              <a:t>Network of computers spanning broad geographical distances</a:t>
            </a:r>
          </a:p>
          <a:p>
            <a:pPr lvl="2"/>
            <a:r>
              <a:rPr lang="en-US" dirty="0"/>
              <a:t>Switched or dedicated lines</a:t>
            </a:r>
          </a:p>
          <a:p>
            <a:pPr lvl="2"/>
            <a:r>
              <a:rPr lang="en-US" dirty="0"/>
              <a:t>Firms use commercial WANs for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5943600" cy="3394472"/>
          </a:xfrm>
        </p:spPr>
        <p:txBody>
          <a:bodyPr/>
          <a:lstStyle/>
          <a:p>
            <a:r>
              <a:rPr lang="en-US" dirty="0"/>
              <a:t>Packet switching</a:t>
            </a:r>
          </a:p>
          <a:p>
            <a:pPr lvl="1"/>
            <a:r>
              <a:rPr lang="en-US" dirty="0"/>
              <a:t>Message/Data is divided into fixed or variable length packets</a:t>
            </a:r>
          </a:p>
          <a:p>
            <a:pPr lvl="1"/>
            <a:r>
              <a:rPr lang="en-US" dirty="0"/>
              <a:t>Each packet is numbered and sent along different paths to the destination</a:t>
            </a:r>
          </a:p>
          <a:p>
            <a:pPr lvl="1"/>
            <a:r>
              <a:rPr lang="en-US" dirty="0"/>
              <a:t>Packets are assembled</a:t>
            </a:r>
            <a:br>
              <a:rPr lang="en-US" dirty="0"/>
            </a:br>
            <a:r>
              <a:rPr lang="en-US" dirty="0"/>
              <a:t>at the destination</a:t>
            </a:r>
          </a:p>
          <a:p>
            <a:pPr lvl="1"/>
            <a:r>
              <a:rPr lang="en-US" dirty="0"/>
              <a:t>Useful for continued</a:t>
            </a:r>
            <a:br>
              <a:rPr lang="en-US" dirty="0"/>
            </a:br>
            <a:r>
              <a:rPr lang="en-US" dirty="0"/>
              <a:t>message transmission</a:t>
            </a:r>
            <a:br>
              <a:rPr lang="en-US" dirty="0"/>
            </a:br>
            <a:r>
              <a:rPr lang="en-US" dirty="0"/>
              <a:t>even when part of the</a:t>
            </a:r>
            <a:br>
              <a:rPr lang="en-US" dirty="0"/>
            </a:br>
            <a:r>
              <a:rPr lang="en-US" dirty="0"/>
              <a:t>network path is</a:t>
            </a:r>
            <a:br>
              <a:rPr lang="en-US" dirty="0"/>
            </a:br>
            <a:r>
              <a:rPr lang="en-US" dirty="0"/>
              <a:t>broken</a:t>
            </a:r>
          </a:p>
        </p:txBody>
      </p:sp>
      <p:pic>
        <p:nvPicPr>
          <p:cNvPr id="4" name="Picture 3" descr="FIG08-09"/>
          <p:cNvPicPr>
            <a:picLocks noChangeAspect="1" noChangeArrowheads="1"/>
          </p:cNvPicPr>
          <p:nvPr/>
        </p:nvPicPr>
        <p:blipFill>
          <a:blip r:embed="rId2" cstate="print"/>
          <a:srcRect t="7035"/>
          <a:stretch>
            <a:fillRect/>
          </a:stretch>
        </p:blipFill>
        <p:spPr>
          <a:xfrm>
            <a:off x="4000500" y="2306241"/>
            <a:ext cx="3886200" cy="226576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1998" y="1311101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two networks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3100" y="2095500"/>
            <a:ext cx="5053013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24709" y="1266051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multiple networks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6938" y="1812132"/>
            <a:ext cx="4810125" cy="304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24709" y="1266051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multiple networks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6938" y="1771651"/>
            <a:ext cx="4810125" cy="3040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3076" y="1317480"/>
            <a:ext cx="5657849" cy="3654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24709" y="911051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multiple networks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4192" y="1308164"/>
            <a:ext cx="5395618" cy="377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08118" y="911051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 simple view of Internet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_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7300" y="1085850"/>
            <a:ext cx="3371850" cy="38507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9100" y="1520428"/>
            <a:ext cx="3486150" cy="33944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Hierarchical approach</a:t>
            </a:r>
          </a:p>
          <a:p>
            <a:pPr lvl="1"/>
            <a:r>
              <a:rPr lang="en-US" dirty="0"/>
              <a:t>Traffic is aggregated hierarchically from an access layer into a layer of distribution switches and finally onto the network core.</a:t>
            </a:r>
          </a:p>
          <a:p>
            <a:pPr lvl="1"/>
            <a:r>
              <a:rPr lang="en-US" dirty="0"/>
              <a:t>A hierarchical approach to network design has proven to deliver the best results in terms of optimizing scalability, improving manageability, and maximizing network availability.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85900" y="1200151"/>
            <a:ext cx="6172200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685800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/>
            </a:pPr>
            <a:r>
              <a:rPr lang="en-US" sz="21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What is network virtualization ?</a:t>
            </a:r>
          </a:p>
        </p:txBody>
      </p:sp>
      <p:pic>
        <p:nvPicPr>
          <p:cNvPr id="16386" name="Picture 2" descr="http://www.cisco.com/en/US/i/200001-300000/220001-230000/221001-222000/22103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885950"/>
            <a:ext cx="5983151" cy="2914650"/>
          </a:xfrm>
          <a:prstGeom prst="rect">
            <a:avLst/>
          </a:prstGeom>
          <a:noFill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network virtualization ?</a:t>
            </a:r>
          </a:p>
          <a:p>
            <a:pPr lvl="1"/>
            <a:r>
              <a:rPr lang="en-US" dirty="0"/>
              <a:t>In computing, network virtualization is the process of combining hardware and software network resources and network functionality into a single, software-based administrative entity, a virtual network.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Two categories :</a:t>
            </a:r>
          </a:p>
          <a:p>
            <a:pPr lvl="1"/>
            <a:r>
              <a:rPr lang="en-US" dirty="0"/>
              <a:t>External network virtualization</a:t>
            </a:r>
          </a:p>
          <a:p>
            <a:pPr lvl="2"/>
            <a:r>
              <a:rPr lang="en-US" dirty="0"/>
              <a:t>Combine many networks, or parts of networks, into a virtual unit.</a:t>
            </a:r>
          </a:p>
          <a:p>
            <a:pPr lvl="1"/>
            <a:r>
              <a:rPr lang="en-US" dirty="0"/>
              <a:t>Internal network virtualization</a:t>
            </a:r>
          </a:p>
          <a:p>
            <a:pPr lvl="2"/>
            <a:r>
              <a:rPr lang="en-US" dirty="0"/>
              <a:t>Provide network-like functionality to the software containers on a single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Desirable properties of network virtualization :</a:t>
            </a:r>
          </a:p>
          <a:p>
            <a:pPr lvl="1"/>
            <a:r>
              <a:rPr lang="en-US" dirty="0"/>
              <a:t>Scalability</a:t>
            </a:r>
          </a:p>
          <a:p>
            <a:pPr lvl="2"/>
            <a:r>
              <a:rPr lang="en-US" dirty="0"/>
              <a:t>Easy to extend resources in need</a:t>
            </a:r>
          </a:p>
          <a:p>
            <a:pPr lvl="2"/>
            <a:r>
              <a:rPr lang="en-US" dirty="0"/>
              <a:t>Administrator can dynamically create or delete virtual network connection</a:t>
            </a:r>
          </a:p>
          <a:p>
            <a:pPr lvl="1"/>
            <a:r>
              <a:rPr lang="en-US" dirty="0"/>
              <a:t>Resilience</a:t>
            </a:r>
          </a:p>
          <a:p>
            <a:pPr lvl="2"/>
            <a:r>
              <a:rPr lang="en-US" dirty="0"/>
              <a:t>Recover from the failures</a:t>
            </a:r>
          </a:p>
          <a:p>
            <a:pPr lvl="2"/>
            <a:r>
              <a:rPr lang="en-US" dirty="0"/>
              <a:t>Virtual network will automatically redirect packets by redundant links</a:t>
            </a:r>
          </a:p>
          <a:p>
            <a:pPr lvl="1"/>
            <a:r>
              <a:rPr lang="en-US" dirty="0"/>
              <a:t>Security</a:t>
            </a:r>
          </a:p>
          <a:p>
            <a:pPr lvl="2"/>
            <a:r>
              <a:rPr lang="en-US" dirty="0"/>
              <a:t>Increased path isolation and user segmentation</a:t>
            </a:r>
          </a:p>
          <a:p>
            <a:pPr lvl="2"/>
            <a:r>
              <a:rPr lang="en-US" dirty="0"/>
              <a:t>Virtual network should work with firewall software</a:t>
            </a:r>
          </a:p>
          <a:p>
            <a:pPr lvl="1"/>
            <a:r>
              <a:rPr lang="en-US" dirty="0"/>
              <a:t>Availability</a:t>
            </a:r>
          </a:p>
          <a:p>
            <a:pPr lvl="2"/>
            <a:r>
              <a:rPr lang="en-US" dirty="0"/>
              <a:t>Access network resource anytime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network virtualization in different layers :</a:t>
            </a:r>
          </a:p>
          <a:p>
            <a:pPr lvl="1"/>
            <a:r>
              <a:rPr lang="en-US" dirty="0"/>
              <a:t>Layer 1</a:t>
            </a:r>
          </a:p>
          <a:p>
            <a:pPr lvl="2"/>
            <a:r>
              <a:rPr lang="en-US" dirty="0"/>
              <a:t>Seldom virtualization implement in this physical data transmission layer.</a:t>
            </a:r>
          </a:p>
          <a:p>
            <a:pPr lvl="1"/>
            <a:r>
              <a:rPr lang="en-US" dirty="0"/>
              <a:t>Layer 2</a:t>
            </a:r>
          </a:p>
          <a:p>
            <a:pPr lvl="2"/>
            <a:r>
              <a:rPr lang="en-US" dirty="0"/>
              <a:t>Use some tags in MAC address packet to provide virtualization.</a:t>
            </a:r>
          </a:p>
          <a:p>
            <a:pPr lvl="2"/>
            <a:r>
              <a:rPr lang="en-US" dirty="0"/>
              <a:t>Example, VLAN.</a:t>
            </a:r>
          </a:p>
          <a:p>
            <a:pPr lvl="1"/>
            <a:r>
              <a:rPr lang="en-US" dirty="0"/>
              <a:t>Layer 3</a:t>
            </a:r>
          </a:p>
          <a:p>
            <a:pPr lvl="2"/>
            <a:r>
              <a:rPr lang="en-US" dirty="0"/>
              <a:t>Use some tunnel techniques to form a virtual network.</a:t>
            </a:r>
          </a:p>
          <a:p>
            <a:pPr lvl="2"/>
            <a:r>
              <a:rPr lang="en-US" dirty="0"/>
              <a:t>Example, VPN.</a:t>
            </a:r>
          </a:p>
          <a:p>
            <a:pPr lvl="1"/>
            <a:r>
              <a:rPr lang="en-US" dirty="0"/>
              <a:t>Layer 4 or higher</a:t>
            </a:r>
          </a:p>
          <a:p>
            <a:pPr lvl="2"/>
            <a:r>
              <a:rPr lang="en-US" dirty="0"/>
              <a:t>Build up some overlay network for some application.</a:t>
            </a:r>
          </a:p>
          <a:p>
            <a:pPr lvl="2"/>
            <a:r>
              <a:rPr lang="en-US" dirty="0"/>
              <a:t>Example, P2P.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network virtualization in different layers :</a:t>
            </a:r>
          </a:p>
          <a:p>
            <a:pPr lvl="1"/>
            <a:r>
              <a:rPr lang="en-US" dirty="0"/>
              <a:t>Layer 1</a:t>
            </a:r>
          </a:p>
          <a:p>
            <a:pPr lvl="2"/>
            <a:r>
              <a:rPr lang="en-US" dirty="0"/>
              <a:t>Hypervisor usually do not need to emulate the physical layer.</a:t>
            </a:r>
          </a:p>
          <a:p>
            <a:pPr lvl="1"/>
            <a:r>
              <a:rPr lang="en-US" dirty="0"/>
              <a:t>Layer 2</a:t>
            </a:r>
          </a:p>
          <a:p>
            <a:pPr lvl="2"/>
            <a:r>
              <a:rPr lang="en-US" dirty="0"/>
              <a:t>Implement virtual L2 network devices, such as switch, in hypervisor.</a:t>
            </a:r>
          </a:p>
          <a:p>
            <a:pPr lvl="2"/>
            <a:r>
              <a:rPr lang="en-US" dirty="0"/>
              <a:t>Example, Linux TAP driver + Linux bridge.</a:t>
            </a:r>
          </a:p>
          <a:p>
            <a:pPr lvl="1"/>
            <a:r>
              <a:rPr lang="en-US" dirty="0"/>
              <a:t>Layer 3</a:t>
            </a:r>
          </a:p>
          <a:p>
            <a:pPr lvl="2"/>
            <a:r>
              <a:rPr lang="en-US" dirty="0"/>
              <a:t>Implement virtual L3 network devices, such as router, in hypervisor.</a:t>
            </a:r>
          </a:p>
          <a:p>
            <a:pPr lvl="2"/>
            <a:r>
              <a:rPr lang="en-US" dirty="0"/>
              <a:t>Example, Linux TUN driver + Linux bridge  + </a:t>
            </a:r>
            <a:r>
              <a:rPr lang="en-US" dirty="0" err="1"/>
              <a:t>iptables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Layer 4 or higher</a:t>
            </a:r>
          </a:p>
          <a:p>
            <a:pPr lvl="2"/>
            <a:r>
              <a:rPr lang="en-US" dirty="0"/>
              <a:t>Layer 4 or higher layers virtualization is usually implemented in guest OS.</a:t>
            </a:r>
          </a:p>
          <a:p>
            <a:pPr lvl="2"/>
            <a:r>
              <a:rPr lang="en-US" dirty="0"/>
              <a:t>Applications should make their own choice.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>
                <a:solidFill>
                  <a:srgbClr val="C00000"/>
                </a:solidFill>
              </a:rPr>
              <a:t>External network virtualization</a:t>
            </a:r>
          </a:p>
          <a:p>
            <a:r>
              <a:rPr lang="en-US" dirty="0"/>
              <a:t>Internal network virtualization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1257301"/>
            <a:ext cx="3600450" cy="196572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Two virtualization components :</a:t>
            </a:r>
          </a:p>
          <a:p>
            <a:pPr lvl="1"/>
            <a:r>
              <a:rPr lang="en-US" dirty="0"/>
              <a:t>Device virtualization</a:t>
            </a:r>
          </a:p>
          <a:p>
            <a:pPr lvl="2"/>
            <a:r>
              <a:rPr lang="en-US" dirty="0" err="1"/>
              <a:t>Virtualize</a:t>
            </a:r>
            <a:r>
              <a:rPr lang="en-US" dirty="0"/>
              <a:t> physical devices in the network</a:t>
            </a:r>
          </a:p>
          <a:p>
            <a:pPr lvl="1"/>
            <a:r>
              <a:rPr lang="en-US" dirty="0"/>
              <a:t>Data path virtualization</a:t>
            </a:r>
          </a:p>
          <a:p>
            <a:pPr lvl="2"/>
            <a:r>
              <a:rPr lang="en-US" dirty="0" err="1"/>
              <a:t>Virtualize</a:t>
            </a:r>
            <a:r>
              <a:rPr lang="en-US" dirty="0"/>
              <a:t> communication path between network access points</a:t>
            </a:r>
          </a:p>
        </p:txBody>
      </p:sp>
      <p:pic>
        <p:nvPicPr>
          <p:cNvPr id="4" name="Picture 3" descr="Network_1.png"/>
          <p:cNvPicPr>
            <a:picLocks noChangeAspect="1"/>
          </p:cNvPicPr>
          <p:nvPr/>
        </p:nvPicPr>
        <p:blipFill>
          <a:blip r:embed="rId2" cstate="print"/>
          <a:srcRect r="17084"/>
          <a:stretch>
            <a:fillRect/>
          </a:stretch>
        </p:blipFill>
        <p:spPr>
          <a:xfrm>
            <a:off x="4827925" y="1104702"/>
            <a:ext cx="2715875" cy="3924498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48632" y="2923401"/>
            <a:ext cx="7425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i="1" dirty="0">
                <a:solidFill>
                  <a:srgbClr val="C00000"/>
                </a:solidFill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3941" y="4629150"/>
            <a:ext cx="7425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i="1" dirty="0">
                <a:solidFill>
                  <a:srgbClr val="C00000"/>
                </a:solidFill>
              </a:rPr>
              <a:t>Switch</a:t>
            </a:r>
          </a:p>
        </p:txBody>
      </p:sp>
      <p:cxnSp>
        <p:nvCxnSpPr>
          <p:cNvPr id="11" name="Straight Arrow Connector 10"/>
          <p:cNvCxnSpPr>
            <a:stCxn id="8" idx="1"/>
          </p:cNvCxnSpPr>
          <p:nvPr/>
        </p:nvCxnSpPr>
        <p:spPr>
          <a:xfrm flipH="1" flipV="1">
            <a:off x="6572250" y="2866251"/>
            <a:ext cx="676382" cy="20719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1"/>
          </p:cNvCxnSpPr>
          <p:nvPr/>
        </p:nvCxnSpPr>
        <p:spPr>
          <a:xfrm flipH="1">
            <a:off x="6572250" y="3073442"/>
            <a:ext cx="676382" cy="3555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3"/>
          </p:cNvCxnSpPr>
          <p:nvPr/>
        </p:nvCxnSpPr>
        <p:spPr>
          <a:xfrm flipV="1">
            <a:off x="4396452" y="4743450"/>
            <a:ext cx="575598" cy="3574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200650" y="1600200"/>
            <a:ext cx="571500" cy="22860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5514975" y="2085975"/>
            <a:ext cx="514350" cy="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772150" y="2286000"/>
            <a:ext cx="742950" cy="28575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5915025" y="3114675"/>
            <a:ext cx="1085850" cy="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V="1">
            <a:off x="5728901" y="3629799"/>
            <a:ext cx="742950" cy="28575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5400675" y="4257675"/>
            <a:ext cx="742950" cy="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9418" y="2514600"/>
            <a:ext cx="98296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i="1" dirty="0">
                <a:solidFill>
                  <a:schemeClr val="accent6">
                    <a:lumMod val="75000"/>
                  </a:schemeClr>
                </a:solidFill>
              </a:rPr>
              <a:t>Data Path</a:t>
            </a:r>
          </a:p>
        </p:txBody>
      </p:sp>
      <p:cxnSp>
        <p:nvCxnSpPr>
          <p:cNvPr id="43" name="Straight Arrow Connector 42"/>
          <p:cNvCxnSpPr>
            <a:stCxn id="42" idx="1"/>
          </p:cNvCxnSpPr>
          <p:nvPr/>
        </p:nvCxnSpPr>
        <p:spPr>
          <a:xfrm flipH="1">
            <a:off x="6457950" y="2664641"/>
            <a:ext cx="681468" cy="2140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3086100" cy="3394472"/>
          </a:xfrm>
        </p:spPr>
        <p:txBody>
          <a:bodyPr/>
          <a:lstStyle/>
          <a:p>
            <a:r>
              <a:rPr lang="en-US" dirty="0"/>
              <a:t>Device virtualization</a:t>
            </a:r>
          </a:p>
          <a:p>
            <a:pPr lvl="1"/>
            <a:r>
              <a:rPr lang="en-US" dirty="0"/>
              <a:t>Layer 2 solution</a:t>
            </a:r>
          </a:p>
          <a:p>
            <a:pPr lvl="2"/>
            <a:r>
              <a:rPr lang="en-US" dirty="0"/>
              <a:t>Divide physical switch into multiple logical switches.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29100" y="1200151"/>
            <a:ext cx="3543300" cy="1714500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/>
          <a:p>
            <a:pPr marL="257175" indent="-257175" defTabSz="685800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/>
            </a:pPr>
            <a:endParaRPr lang="en-US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557213" lvl="1" indent="-214313">
              <a:spcBef>
                <a:spcPct val="200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§"/>
              <a:defRPr/>
            </a:pPr>
            <a:r>
              <a:rPr lang="en-US" sz="1500" dirty="0">
                <a:solidFill>
                  <a:schemeClr val="accent3">
                    <a:lumMod val="50000"/>
                  </a:schemeClr>
                </a:solidFill>
                <a:latin typeface="Cambria" pitchFamily="18" charset="0"/>
              </a:rPr>
              <a:t>Layer 3 solution 3</a:t>
            </a:r>
          </a:p>
          <a:p>
            <a:pPr marL="857250" lvl="2" indent="-171450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sz="1350" dirty="0">
                <a:solidFill>
                  <a:schemeClr val="accent4">
                    <a:lumMod val="50000"/>
                  </a:schemeClr>
                </a:solidFill>
              </a:rPr>
              <a:t>VRF technique</a:t>
            </a:r>
            <a:br>
              <a:rPr lang="en-US" sz="13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350" dirty="0">
                <a:solidFill>
                  <a:schemeClr val="accent4">
                    <a:lumMod val="50000"/>
                  </a:schemeClr>
                </a:solidFill>
              </a:rPr>
              <a:t>( Virtual Routing and Forwarding )</a:t>
            </a:r>
          </a:p>
          <a:p>
            <a:pPr marL="857250" lvl="2" indent="-171450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sz="1350" dirty="0">
                <a:solidFill>
                  <a:schemeClr val="accent4">
                    <a:lumMod val="50000"/>
                  </a:schemeClr>
                </a:solidFill>
              </a:rPr>
              <a:t>Emulate isolated routing tables within one physical router</a:t>
            </a: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5" name="Picture 4" descr="vlan.png"/>
          <p:cNvPicPr>
            <a:picLocks noChangeAspect="1"/>
          </p:cNvPicPr>
          <p:nvPr/>
        </p:nvPicPr>
        <p:blipFill>
          <a:blip r:embed="rId2" cstate="print"/>
          <a:srcRect b="6486"/>
          <a:stretch>
            <a:fillRect/>
          </a:stretch>
        </p:blipFill>
        <p:spPr>
          <a:xfrm>
            <a:off x="1871325" y="2514600"/>
            <a:ext cx="2414925" cy="247210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29150" y="2971800"/>
            <a:ext cx="312615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314450" y="1234678"/>
            <a:ext cx="3200400" cy="3394472"/>
          </a:xfrm>
        </p:spPr>
        <p:txBody>
          <a:bodyPr/>
          <a:lstStyle/>
          <a:p>
            <a:r>
              <a:rPr lang="en-US" dirty="0"/>
              <a:t>Data path virtualization</a:t>
            </a:r>
          </a:p>
          <a:p>
            <a:pPr lvl="1"/>
            <a:r>
              <a:rPr lang="en-US" dirty="0"/>
              <a:t>Hop-to-hop case</a:t>
            </a:r>
          </a:p>
          <a:p>
            <a:pPr lvl="2"/>
            <a:r>
              <a:rPr lang="en-US" dirty="0"/>
              <a:t>Consider the virtualization applied on a single hop data-path.</a:t>
            </a:r>
            <a:br>
              <a:rPr lang="en-US" dirty="0"/>
            </a:br>
            <a:endParaRPr lang="en-US" dirty="0"/>
          </a:p>
          <a:p>
            <a:pPr lvl="1">
              <a:defRPr/>
            </a:pPr>
            <a:r>
              <a:rPr lang="en-US" dirty="0"/>
              <a:t>Hop-to-cloud case</a:t>
            </a:r>
          </a:p>
          <a:p>
            <a:pPr lvl="2"/>
            <a:r>
              <a:rPr lang="en-US" dirty="0"/>
              <a:t>Consider the virtualization tunnels allow multi-hop data-path.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3" name="群組 18"/>
          <p:cNvGrpSpPr/>
          <p:nvPr/>
        </p:nvGrpSpPr>
        <p:grpSpPr>
          <a:xfrm>
            <a:off x="4286250" y="1864519"/>
            <a:ext cx="3371850" cy="821531"/>
            <a:chOff x="4191000" y="2514600"/>
            <a:chExt cx="4495800" cy="1095375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91000" y="2514600"/>
              <a:ext cx="1905000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81800" y="2514600"/>
              <a:ext cx="1905000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圓柱 12"/>
            <p:cNvSpPr/>
            <p:nvPr/>
          </p:nvSpPr>
          <p:spPr>
            <a:xfrm rot="5400000">
              <a:off x="6286500" y="2552700"/>
              <a:ext cx="228600" cy="1066800"/>
            </a:xfrm>
            <a:prstGeom prst="can">
              <a:avLst>
                <a:gd name="adj" fmla="val 93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114551"/>
            <a:ext cx="914400" cy="392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群組 27"/>
          <p:cNvGrpSpPr/>
          <p:nvPr/>
        </p:nvGrpSpPr>
        <p:grpSpPr>
          <a:xfrm>
            <a:off x="4000500" y="3507582"/>
            <a:ext cx="4000500" cy="1178719"/>
            <a:chOff x="3810000" y="4676775"/>
            <a:chExt cx="5334000" cy="1571625"/>
          </a:xfrm>
        </p:grpSpPr>
        <p:pic>
          <p:nvPicPr>
            <p:cNvPr id="3084" name="Picture 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86400" y="4905375"/>
              <a:ext cx="2133600" cy="1200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477125" y="4800600"/>
              <a:ext cx="1666875" cy="140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10000" y="4676775"/>
              <a:ext cx="1581150" cy="1571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" name="Picture 5" descr="http://www.cisco.com/en/US/i/200001-300000/220001-230000/221001-222000/221174.jpg"/>
          <p:cNvPicPr>
            <a:picLocks noChangeAspect="1" noChangeArrowheads="1"/>
          </p:cNvPicPr>
          <p:nvPr/>
        </p:nvPicPr>
        <p:blipFill>
          <a:blip r:embed="rId7" cstate="print"/>
          <a:srcRect t="40324" b="51862"/>
          <a:stretch>
            <a:fillRect/>
          </a:stretch>
        </p:blipFill>
        <p:spPr bwMode="auto">
          <a:xfrm>
            <a:off x="4343401" y="2647084"/>
            <a:ext cx="3564731" cy="210416"/>
          </a:xfrm>
          <a:prstGeom prst="rect">
            <a:avLst/>
          </a:prstGeom>
          <a:noFill/>
        </p:spPr>
      </p:pic>
      <p:pic>
        <p:nvPicPr>
          <p:cNvPr id="17" name="Picture 7" descr="http://www.cisco.com/en/US/i/200001-300000/220001-230000/221001-222000/221174.jpg"/>
          <p:cNvPicPr>
            <a:picLocks noChangeAspect="1" noChangeArrowheads="1"/>
          </p:cNvPicPr>
          <p:nvPr/>
        </p:nvPicPr>
        <p:blipFill>
          <a:blip r:embed="rId7" cstate="print"/>
          <a:srcRect t="94775" r="16568"/>
          <a:stretch>
            <a:fillRect/>
          </a:stretch>
        </p:blipFill>
        <p:spPr bwMode="auto">
          <a:xfrm>
            <a:off x="4629151" y="4629150"/>
            <a:ext cx="2753591" cy="130277"/>
          </a:xfrm>
          <a:prstGeom prst="rect">
            <a:avLst/>
          </a:prstGeom>
          <a:noFill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143500" y="3429000"/>
            <a:ext cx="1600200" cy="121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057900" cy="3394472"/>
          </a:xfrm>
        </p:spPr>
        <p:txBody>
          <a:bodyPr/>
          <a:lstStyle/>
          <a:p>
            <a:r>
              <a:rPr lang="en-US" dirty="0"/>
              <a:t>Protocol approach</a:t>
            </a:r>
          </a:p>
          <a:p>
            <a:pPr lvl="1"/>
            <a:r>
              <a:rPr lang="en-US" dirty="0"/>
              <a:t>Protocols usually use for data-path virtualization.</a:t>
            </a:r>
          </a:p>
          <a:p>
            <a:pPr lvl="1"/>
            <a:r>
              <a:rPr lang="en-US" dirty="0"/>
              <a:t>Three implementations</a:t>
            </a:r>
          </a:p>
          <a:p>
            <a:pPr lvl="2"/>
            <a:r>
              <a:rPr lang="en-US" b="1" dirty="0"/>
              <a:t>802.1Q</a:t>
            </a:r>
            <a:r>
              <a:rPr lang="en-US" dirty="0"/>
              <a:t> – implement hop to hop data-path virtualization</a:t>
            </a:r>
          </a:p>
          <a:p>
            <a:pPr lvl="2"/>
            <a:r>
              <a:rPr lang="en-US" b="1" dirty="0"/>
              <a:t>MPLS ( Multiprotocol Label Switch ) </a:t>
            </a:r>
            <a:r>
              <a:rPr lang="en-US" dirty="0"/>
              <a:t>– implement router and switch layer virtualization</a:t>
            </a:r>
          </a:p>
          <a:p>
            <a:pPr lvl="2"/>
            <a:r>
              <a:rPr lang="en-US" b="1" dirty="0"/>
              <a:t>GRE (Generic Routing Encapsulation ) </a:t>
            </a:r>
            <a:r>
              <a:rPr lang="en-US" dirty="0"/>
              <a:t>– implement virtualization among wide variety of networks with tunneling technique.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4450" y="1200151"/>
            <a:ext cx="3257550" cy="3394472"/>
          </a:xfrm>
        </p:spPr>
        <p:txBody>
          <a:bodyPr/>
          <a:lstStyle/>
          <a:p>
            <a:r>
              <a:rPr lang="en-US" dirty="0"/>
              <a:t>802.1Q</a:t>
            </a:r>
          </a:p>
          <a:p>
            <a:pPr lvl="1"/>
            <a:r>
              <a:rPr lang="en-US" dirty="0"/>
              <a:t>Standard by IEEE 802.1</a:t>
            </a:r>
          </a:p>
          <a:p>
            <a:pPr lvl="1"/>
            <a:r>
              <a:rPr lang="en-US" dirty="0"/>
              <a:t>Not encapsulate the original frame</a:t>
            </a:r>
          </a:p>
          <a:p>
            <a:pPr lvl="1"/>
            <a:r>
              <a:rPr lang="en-US" dirty="0"/>
              <a:t>Add a 32-bit field between </a:t>
            </a:r>
            <a:r>
              <a:rPr lang="en-US" i="1" dirty="0"/>
              <a:t>MAC address </a:t>
            </a:r>
            <a:r>
              <a:rPr lang="en-US" dirty="0"/>
              <a:t>and</a:t>
            </a:r>
            <a:br>
              <a:rPr lang="en-US" dirty="0"/>
            </a:br>
            <a:r>
              <a:rPr lang="en-US" i="1" dirty="0" err="1"/>
              <a:t>EtherTypes</a:t>
            </a:r>
            <a:r>
              <a:rPr lang="en-US" i="1" dirty="0"/>
              <a:t> </a:t>
            </a:r>
            <a:r>
              <a:rPr lang="en-US" dirty="0"/>
              <a:t>field</a:t>
            </a:r>
          </a:p>
          <a:p>
            <a:pPr lvl="2"/>
            <a:r>
              <a:rPr lang="en-US" altLang="zh-TW" dirty="0"/>
              <a:t>ETYPE(2B): Protocol identifier</a:t>
            </a:r>
          </a:p>
          <a:p>
            <a:pPr lvl="2"/>
            <a:r>
              <a:rPr lang="en-US" altLang="zh-TW" dirty="0"/>
              <a:t>Dot1Q Tag(2B): VLAN number, Priority code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3711" y="1543050"/>
            <a:ext cx="672989" cy="290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2012" y="1600200"/>
            <a:ext cx="1693069" cy="264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9162" y="4057650"/>
            <a:ext cx="1693069" cy="264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6261" y="2114550"/>
            <a:ext cx="241458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6261" y="3571875"/>
            <a:ext cx="241458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27612" y="2571750"/>
            <a:ext cx="3093244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字方塊 16"/>
          <p:cNvSpPr txBox="1"/>
          <p:nvPr/>
        </p:nvSpPr>
        <p:spPr>
          <a:xfrm>
            <a:off x="6171635" y="4408185"/>
            <a:ext cx="17732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050" dirty="0"/>
              <a:t>CE: Customer Edge router</a:t>
            </a:r>
          </a:p>
          <a:p>
            <a:pPr algn="r"/>
            <a:r>
              <a:rPr lang="en-US" altLang="zh-TW" sz="1050" dirty="0"/>
              <a:t>PE: Provider Edge router</a:t>
            </a:r>
            <a:endParaRPr lang="zh-TW" alt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3.33333E-6 0.1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1.66667E-6 0.08889 " pathEditMode="relative" ptsTypes="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4.16667E-6 0.11111 " pathEditMode="relative" ptsTypes="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11111 L 8.33333E-7 0.2 " pathEditMode="relative" ptsTypes="AA"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L -0.00104 0.102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5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Virtualization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1650" y="2743200"/>
            <a:ext cx="5429250" cy="1017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字方塊 20"/>
          <p:cNvSpPr txBox="1"/>
          <p:nvPr/>
        </p:nvSpPr>
        <p:spPr>
          <a:xfrm>
            <a:off x="6686550" y="2971800"/>
            <a:ext cx="15119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Physical Network</a:t>
            </a:r>
            <a:endParaRPr lang="zh-TW" altLang="en-US" sz="1350" dirty="0"/>
          </a:p>
        </p:txBody>
      </p:sp>
      <p:grpSp>
        <p:nvGrpSpPr>
          <p:cNvPr id="3" name="群組 23"/>
          <p:cNvGrpSpPr/>
          <p:nvPr/>
        </p:nvGrpSpPr>
        <p:grpSpPr>
          <a:xfrm>
            <a:off x="1771650" y="1428750"/>
            <a:ext cx="5691456" cy="1171575"/>
            <a:chOff x="790575" y="1905000"/>
            <a:chExt cx="7588608" cy="1562100"/>
          </a:xfrm>
        </p:grpSpPr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90575" y="1905000"/>
              <a:ext cx="6677025" cy="156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文字方塊 19"/>
            <p:cNvSpPr txBox="1"/>
            <p:nvPr/>
          </p:nvSpPr>
          <p:spPr>
            <a:xfrm>
              <a:off x="7620000" y="2133600"/>
              <a:ext cx="75918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VN 1</a:t>
              </a:r>
              <a:endParaRPr lang="zh-TW" altLang="en-US" sz="1350" dirty="0"/>
            </a:p>
          </p:txBody>
        </p:sp>
      </p:grpSp>
      <p:grpSp>
        <p:nvGrpSpPr>
          <p:cNvPr id="5" name="群組 24"/>
          <p:cNvGrpSpPr/>
          <p:nvPr/>
        </p:nvGrpSpPr>
        <p:grpSpPr>
          <a:xfrm>
            <a:off x="1752518" y="3829050"/>
            <a:ext cx="5598587" cy="1128713"/>
            <a:chOff x="914400" y="5105400"/>
            <a:chExt cx="7464783" cy="1504950"/>
          </a:xfrm>
        </p:grpSpPr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14400" y="5105400"/>
              <a:ext cx="6867525" cy="1504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文字方塊 21"/>
            <p:cNvSpPr txBox="1"/>
            <p:nvPr/>
          </p:nvSpPr>
          <p:spPr>
            <a:xfrm>
              <a:off x="7620000" y="5257800"/>
              <a:ext cx="75918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VN 2</a:t>
              </a:r>
              <a:endParaRPr lang="zh-TW" altLang="en-US" sz="1350" dirty="0"/>
            </a:p>
          </p:txBody>
        </p:sp>
      </p:grpSp>
      <p:sp>
        <p:nvSpPr>
          <p:cNvPr id="37" name="文字方塊 36"/>
          <p:cNvSpPr txBox="1"/>
          <p:nvPr/>
        </p:nvSpPr>
        <p:spPr>
          <a:xfrm>
            <a:off x="1143000" y="2514600"/>
            <a:ext cx="7328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Source</a:t>
            </a:r>
            <a:endParaRPr lang="zh-TW" altLang="en-US" sz="135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3967285" y="2514600"/>
            <a:ext cx="10214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destination</a:t>
            </a:r>
            <a:endParaRPr lang="zh-TW" altLang="en-US" sz="135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4000500" y="4866501"/>
            <a:ext cx="10214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destination</a:t>
            </a:r>
            <a:endParaRPr lang="zh-TW" altLang="en-US" sz="13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0250" y="1657350"/>
            <a:ext cx="6429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7400" y="4057650"/>
            <a:ext cx="6429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1464469"/>
            <a:ext cx="742950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1464469"/>
            <a:ext cx="742950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3000" y="1657350"/>
            <a:ext cx="5286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3000" y="4057650"/>
            <a:ext cx="5286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43000" y="1885950"/>
            <a:ext cx="523119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文字方塊 27"/>
          <p:cNvSpPr txBox="1"/>
          <p:nvPr/>
        </p:nvSpPr>
        <p:spPr>
          <a:xfrm>
            <a:off x="1143000" y="4866501"/>
            <a:ext cx="7328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Source</a:t>
            </a:r>
            <a:endParaRPr lang="zh-TW" altLang="en-US" sz="1350" dirty="0"/>
          </a:p>
        </p:txBody>
      </p:sp>
      <p:pic>
        <p:nvPicPr>
          <p:cNvPr id="29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43000" y="4286250"/>
            <a:ext cx="523119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63031" y="2343150"/>
            <a:ext cx="523119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1943100"/>
            <a:ext cx="6429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29100" y="2400300"/>
            <a:ext cx="5286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14650" y="3886201"/>
            <a:ext cx="742950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14650" y="4572000"/>
            <a:ext cx="523119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14650" y="3886201"/>
            <a:ext cx="742950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57750" y="4286250"/>
            <a:ext cx="6429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71950" y="4800600"/>
            <a:ext cx="528638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9" cstate="print"/>
          <a:srcRect t="8238" r="2307" b="11920"/>
          <a:stretch>
            <a:fillRect/>
          </a:stretch>
        </p:blipFill>
        <p:spPr bwMode="auto">
          <a:xfrm>
            <a:off x="5026100" y="1948758"/>
            <a:ext cx="716772" cy="165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1485900" y="971550"/>
            <a:ext cx="61722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Example of 802.1Q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6232E-6 L 0.13334 2.26232E-6 " pathEditMode="relative" ptsTypes="AA">
                                      <p:cBhvr>
                                        <p:cTn id="6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-4.33727E-6 L 0.15834 -0.03331 " pathEditMode="relative" ptsTypes="AA">
                                      <p:cBhvr>
                                        <p:cTn id="1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6.41221E-6 L 0.26667 0.08882 " pathEditMode="relative" ptsTypes="AA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737E-7 L 0.15 -0.01111 " pathEditMode="relative" ptsTypes="AA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38 L -0.11459 0.08397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4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41499E-6 L -0.2 -2.41499E-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14296E-6 L -0.15729 0.00972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6232E-6 L 0.13334 2.26232E-6 " pathEditMode="relative" ptsTypes="AA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2.26232E-6 L 0.125 -0.03331 " pathEditMode="relative" ptsTypes="AA">
                                      <p:cBhvr>
                                        <p:cTn id="8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-0.00139 L 0.25521 0.0687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" y="35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737E-7 L 0.075 0.05551 " pathEditMode="relative" ptsTypes="AA">
                                      <p:cBhvr>
                                        <p:cTn id="9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38 L -0.11459 0.08397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14296E-6 L -0.15729 0.00972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06078"/>
            <a:ext cx="6172200" cy="3394472"/>
          </a:xfrm>
        </p:spPr>
        <p:txBody>
          <a:bodyPr>
            <a:normAutofit/>
          </a:bodyPr>
          <a:lstStyle/>
          <a:p>
            <a:r>
              <a:rPr lang="en-US" dirty="0"/>
              <a:t>MPLS ( Multiprotocol Label Switch )</a:t>
            </a:r>
          </a:p>
          <a:p>
            <a:pPr lvl="1"/>
            <a:r>
              <a:rPr lang="en-US" dirty="0"/>
              <a:t>Also classified as layer 2.5 virtualization</a:t>
            </a:r>
          </a:p>
          <a:p>
            <a:pPr lvl="1"/>
            <a:r>
              <a:rPr lang="en-US" dirty="0"/>
              <a:t>Add one or more labels into package</a:t>
            </a:r>
          </a:p>
          <a:p>
            <a:pPr lvl="1"/>
            <a:r>
              <a:rPr lang="en-US" dirty="0"/>
              <a:t>Need Label Switch Router(LSR) to read MPLS header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2343150"/>
            <a:ext cx="4600575" cy="252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Virtualization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1650" y="2743200"/>
            <a:ext cx="5429250" cy="1017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字方塊 20"/>
          <p:cNvSpPr txBox="1"/>
          <p:nvPr/>
        </p:nvSpPr>
        <p:spPr>
          <a:xfrm>
            <a:off x="6686550" y="2971800"/>
            <a:ext cx="15119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Physical Network</a:t>
            </a:r>
            <a:endParaRPr lang="zh-TW" altLang="en-US" sz="1350" dirty="0"/>
          </a:p>
        </p:txBody>
      </p:sp>
      <p:grpSp>
        <p:nvGrpSpPr>
          <p:cNvPr id="3" name="群組 23"/>
          <p:cNvGrpSpPr/>
          <p:nvPr/>
        </p:nvGrpSpPr>
        <p:grpSpPr>
          <a:xfrm>
            <a:off x="1771650" y="1428750"/>
            <a:ext cx="5691456" cy="1171575"/>
            <a:chOff x="790575" y="1905000"/>
            <a:chExt cx="7588608" cy="1562100"/>
          </a:xfrm>
        </p:grpSpPr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90575" y="1905000"/>
              <a:ext cx="6677025" cy="156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文字方塊 19"/>
            <p:cNvSpPr txBox="1"/>
            <p:nvPr/>
          </p:nvSpPr>
          <p:spPr>
            <a:xfrm>
              <a:off x="7620000" y="2133600"/>
              <a:ext cx="75918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VN 1</a:t>
              </a:r>
              <a:endParaRPr lang="zh-TW" altLang="en-US" sz="1350" dirty="0"/>
            </a:p>
          </p:txBody>
        </p:sp>
      </p:grpSp>
      <p:grpSp>
        <p:nvGrpSpPr>
          <p:cNvPr id="5" name="群組 24"/>
          <p:cNvGrpSpPr/>
          <p:nvPr/>
        </p:nvGrpSpPr>
        <p:grpSpPr>
          <a:xfrm>
            <a:off x="1752518" y="3829050"/>
            <a:ext cx="5598587" cy="1128713"/>
            <a:chOff x="914400" y="5105400"/>
            <a:chExt cx="7464783" cy="1504950"/>
          </a:xfrm>
        </p:grpSpPr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14400" y="5105400"/>
              <a:ext cx="6867525" cy="1504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文字方塊 21"/>
            <p:cNvSpPr txBox="1"/>
            <p:nvPr/>
          </p:nvSpPr>
          <p:spPr>
            <a:xfrm>
              <a:off x="7620000" y="5257800"/>
              <a:ext cx="75918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VN 2</a:t>
              </a:r>
              <a:endParaRPr lang="zh-TW" altLang="en-US" sz="1350" dirty="0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8832" y="1657351"/>
            <a:ext cx="550069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字方塊 16"/>
          <p:cNvSpPr txBox="1"/>
          <p:nvPr/>
        </p:nvSpPr>
        <p:spPr>
          <a:xfrm>
            <a:off x="3545635" y="165735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4</a:t>
            </a:r>
            <a:endParaRPr lang="zh-TW" altLang="en-US" sz="135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488485" y="405765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4</a:t>
            </a:r>
            <a:endParaRPr lang="zh-TW" altLang="en-US" sz="135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572000" y="148590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5</a:t>
            </a:r>
            <a:endParaRPr lang="zh-TW" altLang="en-US" sz="135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4000500" y="1951851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7</a:t>
            </a:r>
            <a:endParaRPr lang="zh-TW" altLang="en-US" sz="135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631485" y="222885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8</a:t>
            </a:r>
            <a:endParaRPr lang="zh-TW" altLang="en-US" sz="135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5317285" y="200025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9</a:t>
            </a:r>
            <a:endParaRPr lang="zh-TW" altLang="en-US" sz="135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657850" y="1723251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2</a:t>
            </a:r>
            <a:endParaRPr lang="zh-TW" altLang="en-US" sz="135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14650" y="1428750"/>
            <a:ext cx="74295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57650" y="1314451"/>
            <a:ext cx="742950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14950" y="1485901"/>
            <a:ext cx="550069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8832" y="4057651"/>
            <a:ext cx="550069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14650" y="3886201"/>
            <a:ext cx="721519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00600" y="4229100"/>
            <a:ext cx="721519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文字方塊 39"/>
          <p:cNvSpPr txBox="1"/>
          <p:nvPr/>
        </p:nvSpPr>
        <p:spPr>
          <a:xfrm>
            <a:off x="2199369" y="3266301"/>
            <a:ext cx="4251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CE</a:t>
            </a:r>
            <a:endParaRPr lang="zh-TW" altLang="en-US" sz="135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3143250" y="3086100"/>
            <a:ext cx="38977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LER</a:t>
            </a:r>
            <a:endParaRPr lang="zh-TW" altLang="en-US" sz="135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3667879" y="3314700"/>
            <a:ext cx="38977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LSR</a:t>
            </a:r>
            <a:endParaRPr lang="zh-TW" altLang="en-US" sz="135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4982329" y="3371850"/>
            <a:ext cx="38977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LER</a:t>
            </a:r>
            <a:endParaRPr lang="zh-TW" altLang="en-US" sz="135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439529" y="3086100"/>
            <a:ext cx="38977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LER</a:t>
            </a:r>
            <a:endParaRPr lang="zh-TW" altLang="en-US" sz="135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4296529" y="3666351"/>
            <a:ext cx="3897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CE</a:t>
            </a:r>
            <a:endParaRPr lang="zh-TW" altLang="en-US" sz="135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6286500" y="3323451"/>
            <a:ext cx="3897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CE</a:t>
            </a:r>
            <a:endParaRPr lang="zh-TW" altLang="en-US" sz="135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4229100" y="2971800"/>
            <a:ext cx="38977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LSR</a:t>
            </a:r>
            <a:endParaRPr lang="zh-TW" altLang="en-US" sz="135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5257800" y="4466451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9</a:t>
            </a:r>
            <a:endParaRPr lang="zh-TW" altLang="en-US" sz="135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657850" y="405765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2</a:t>
            </a:r>
            <a:endParaRPr lang="zh-TW" altLang="en-US" sz="135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4572000" y="3894951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5</a:t>
            </a:r>
            <a:endParaRPr lang="zh-TW" altLang="en-US" sz="135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4000500" y="434340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7</a:t>
            </a:r>
            <a:endParaRPr lang="zh-TW" altLang="en-US" sz="1350" dirty="0"/>
          </a:p>
        </p:txBody>
      </p:sp>
      <p:sp>
        <p:nvSpPr>
          <p:cNvPr id="38" name="Content Placeholder 2"/>
          <p:cNvSpPr>
            <a:spLocks noGrp="1"/>
          </p:cNvSpPr>
          <p:nvPr>
            <p:ph idx="1"/>
          </p:nvPr>
        </p:nvSpPr>
        <p:spPr>
          <a:xfrm>
            <a:off x="1485900" y="971550"/>
            <a:ext cx="61722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Example of MPLS</a:t>
            </a:r>
          </a:p>
        </p:txBody>
      </p:sp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72100" y="3943351"/>
            <a:ext cx="550069" cy="1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737E-7 L 0.125 1.8737E-7 " pathEditMode="relative" ptsTypes="AA">
                                      <p:cBhvr>
                                        <p:cTn id="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5.8501E-6 L 0.16667 -0.02221 " pathEditMode="relative" ptsTypes="AA">
                                      <p:cBhvr>
                                        <p:cTn id="1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1.8737E-7 L 0.16666 0.03331 " pathEditMode="relative" ptsTypes="AA">
                                      <p:cBhvr>
                                        <p:cTn id="3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737E-7 L 0.125 0.04441 " pathEditMode="relative" ptsTypes="AA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737E-7 L 0.14167 1.8737E-7 " pathEditMode="relative" ptsTypes="AA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8737E-7 L 0.26666 0.06662 " pathEditMode="relative" ptsTypes="AA">
                                      <p:cBhvr>
                                        <p:cTn id="5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5.66273E-6 L 0.05 -0.04441 " pathEditMode="relative" ptsTypes="AA">
                                      <p:cBhvr>
                                        <p:cTn id="70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737E-7 L 0.125 0.04441 " pathEditMode="relative" ptsTypes="AA">
                                      <p:cBhvr>
                                        <p:cTn id="8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 ( Generic Routing Encapsulation )</a:t>
            </a:r>
          </a:p>
          <a:p>
            <a:pPr lvl="1"/>
            <a:r>
              <a:rPr lang="en-US" dirty="0"/>
              <a:t>GRE is a tunnel protocol developed by CISCO</a:t>
            </a:r>
          </a:p>
          <a:p>
            <a:pPr lvl="1"/>
            <a:r>
              <a:rPr lang="en-US" dirty="0"/>
              <a:t>Encapsulate a wide variety of network layer protocols inside virtual point-to-point links over an Internet Protocol internetwork</a:t>
            </a:r>
          </a:p>
          <a:p>
            <a:pPr lvl="1"/>
            <a:r>
              <a:rPr lang="en-US" dirty="0"/>
              <a:t>Stateless property</a:t>
            </a:r>
          </a:p>
          <a:p>
            <a:pPr lvl="2"/>
            <a:r>
              <a:rPr lang="en-US" dirty="0"/>
              <a:t>This means end-point doesn't keep information about the state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7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50" y="3886200"/>
            <a:ext cx="5150644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4550" y="4057650"/>
            <a:ext cx="978694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4057650"/>
            <a:ext cx="607219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00350" y="3600451"/>
            <a:ext cx="212690" cy="387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群組 22"/>
          <p:cNvGrpSpPr/>
          <p:nvPr/>
        </p:nvGrpSpPr>
        <p:grpSpPr>
          <a:xfrm>
            <a:off x="2114550" y="3600450"/>
            <a:ext cx="978694" cy="757238"/>
            <a:chOff x="1676400" y="4495800"/>
            <a:chExt cx="1304925" cy="1009650"/>
          </a:xfrm>
        </p:grpSpPr>
        <p:pic>
          <p:nvPicPr>
            <p:cNvPr id="2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6400" y="5105400"/>
              <a:ext cx="130492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90800" y="4495800"/>
              <a:ext cx="283586" cy="516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72201" y="4114801"/>
            <a:ext cx="992981" cy="335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0" y="3600450"/>
            <a:ext cx="235744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迴轉箭號 27"/>
          <p:cNvSpPr/>
          <p:nvPr/>
        </p:nvSpPr>
        <p:spPr>
          <a:xfrm>
            <a:off x="2457450" y="3143250"/>
            <a:ext cx="4400550" cy="571500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>
                <a:solidFill>
                  <a:schemeClr val="tx1"/>
                </a:solidFill>
              </a:rPr>
              <a:t> Built  Tunnel</a:t>
            </a:r>
            <a:endParaRPr lang="zh-TW" altLang="en-US" sz="1350" dirty="0">
              <a:solidFill>
                <a:schemeClr val="tx1"/>
              </a:solidFill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58050" y="4171950"/>
            <a:ext cx="607219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8.29979E-6 L 0.13333 -8.29979E-6 " pathEditMode="relative" ptsTypes="AA">
                                      <p:cBhvr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03493E-6 C 0.04774 -0.01619 0.09549 -0.03238 0.14636 -0.04395 C 0.19722 -0.05551 0.25 -0.06801 0.30521 -0.07009 C 0.36042 -0.07217 0.42934 -0.06986 0.47726 -0.05621 C 0.52518 -0.04256 0.57188 0.00625 0.59271 0.01249 " pathEditMode="relative" ptsTypes="aaaaA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96253E-6 L 0.15 -3.96253E-6 " pathEditMode="relative" ptsTypes="AA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External network virtualization</a:t>
            </a:r>
          </a:p>
          <a:p>
            <a:r>
              <a:rPr lang="en-US" dirty="0">
                <a:solidFill>
                  <a:srgbClr val="C00000"/>
                </a:solidFill>
              </a:rPr>
              <a:t>Internal network virtualization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85850"/>
            <a:ext cx="6172200" cy="37147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Internal network virtualization</a:t>
            </a:r>
          </a:p>
          <a:p>
            <a:pPr lvl="1"/>
            <a:r>
              <a:rPr lang="en-US" dirty="0"/>
              <a:t>A single system is configured with containers, such as the </a:t>
            </a:r>
            <a:r>
              <a:rPr lang="en-US" dirty="0" err="1"/>
              <a:t>Xen</a:t>
            </a:r>
            <a:r>
              <a:rPr lang="en-US" dirty="0"/>
              <a:t> domain, combined with hypervisor control programs or pseudo-interfaces such as the VNIC, to create a “network in a box”.</a:t>
            </a:r>
          </a:p>
          <a:p>
            <a:pPr lvl="1"/>
            <a:r>
              <a:rPr lang="en-US" dirty="0"/>
              <a:t>This solution improves overall efficiency of a single system by isolating applications to separate containers and/or pseudo interfaces.</a:t>
            </a:r>
          </a:p>
          <a:p>
            <a:pPr lvl="1"/>
            <a:r>
              <a:rPr lang="en-US" dirty="0"/>
              <a:t>Virtual machine and virtual switch :</a:t>
            </a:r>
          </a:p>
          <a:p>
            <a:pPr lvl="2"/>
            <a:r>
              <a:rPr lang="en-US" dirty="0"/>
              <a:t>The VMs are connected logically to each other so that they can send data to and receive data from each other.</a:t>
            </a:r>
          </a:p>
          <a:p>
            <a:pPr lvl="2"/>
            <a:r>
              <a:rPr lang="en-US" dirty="0"/>
              <a:t>Each virtual network is serviced by a single virtual switch.</a:t>
            </a:r>
          </a:p>
          <a:p>
            <a:pPr lvl="2"/>
            <a:r>
              <a:rPr lang="en-US" dirty="0"/>
              <a:t>A virtual network can be connected to a physical network by associating one or more network adapters (uplink adapters) with the virtual switch.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0651" y="2278857"/>
            <a:ext cx="2593181" cy="2636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85851"/>
            <a:ext cx="6172200" cy="35087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Properties of virtual switch</a:t>
            </a:r>
          </a:p>
          <a:p>
            <a:pPr lvl="1"/>
            <a:r>
              <a:rPr lang="en-US" dirty="0"/>
              <a:t>A virtual switch works much like a physical Ethernet switch.</a:t>
            </a:r>
          </a:p>
          <a:p>
            <a:pPr lvl="1"/>
            <a:r>
              <a:rPr lang="en-US" dirty="0"/>
              <a:t>It detects which VMs are logically connected to each of its virtual ports and uses that information to forward traffic to the correct virtual machines.</a:t>
            </a:r>
          </a:p>
          <a:p>
            <a:endParaRPr lang="en-US" dirty="0"/>
          </a:p>
          <a:p>
            <a:r>
              <a:rPr lang="en-US" dirty="0"/>
              <a:t>Typical virtual network configuration</a:t>
            </a:r>
          </a:p>
          <a:p>
            <a:pPr lvl="1"/>
            <a:r>
              <a:rPr lang="en-US" dirty="0"/>
              <a:t>Communication network</a:t>
            </a:r>
          </a:p>
          <a:p>
            <a:pPr lvl="2"/>
            <a:r>
              <a:rPr lang="en-US" dirty="0"/>
              <a:t>Connect VMs on different hosts</a:t>
            </a:r>
          </a:p>
          <a:p>
            <a:pPr lvl="1"/>
            <a:r>
              <a:rPr lang="en-US" dirty="0"/>
              <a:t>Storage network</a:t>
            </a:r>
          </a:p>
          <a:p>
            <a:pPr lvl="2"/>
            <a:r>
              <a:rPr lang="en-US" dirty="0"/>
              <a:t>Connect VMs to remote storage system</a:t>
            </a:r>
          </a:p>
          <a:p>
            <a:pPr lvl="1"/>
            <a:r>
              <a:rPr lang="en-US" dirty="0"/>
              <a:t>Management network</a:t>
            </a:r>
          </a:p>
          <a:p>
            <a:pPr lvl="2"/>
            <a:r>
              <a:rPr lang="en-US" dirty="0"/>
              <a:t>Individual links for system administration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Network Virtualization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7350" y="1543050"/>
            <a:ext cx="5257800" cy="347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86001" y="1085850"/>
            <a:ext cx="5083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Network virtualization example form VMware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2343150"/>
          </a:xfrm>
        </p:spPr>
        <p:txBody>
          <a:bodyPr/>
          <a:lstStyle/>
          <a:p>
            <a:r>
              <a:rPr lang="en-US" dirty="0"/>
              <a:t>In KVM system</a:t>
            </a:r>
          </a:p>
          <a:p>
            <a:pPr lvl="1"/>
            <a:r>
              <a:rPr lang="en-US" dirty="0"/>
              <a:t>KVM focuses on CPU and memory virtualization, so IO virtualization framework is completed by QEMU.</a:t>
            </a:r>
          </a:p>
          <a:p>
            <a:pPr lvl="1"/>
            <a:r>
              <a:rPr lang="en-US" dirty="0"/>
              <a:t>In QEMU, network interface of virtual machines connect to host by TUN/TAP driver and Linux bridge.</a:t>
            </a:r>
          </a:p>
          <a:p>
            <a:pPr lvl="2"/>
            <a:r>
              <a:rPr lang="en-US" dirty="0"/>
              <a:t>Virtual machines connect to host by a virtual network adapter, which is implemented by TUN/TAP driver.</a:t>
            </a:r>
          </a:p>
          <a:p>
            <a:pPr lvl="2"/>
            <a:r>
              <a:rPr lang="en-US" dirty="0"/>
              <a:t>Virtual adapters will connect to Linux bridges, which play the role of virtual switch.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TUN/TAP driver</a:t>
            </a:r>
          </a:p>
          <a:p>
            <a:pPr lvl="1"/>
            <a:r>
              <a:rPr lang="en-US" dirty="0"/>
              <a:t>TUN and TAP are virtual network kernel drivers :</a:t>
            </a:r>
          </a:p>
          <a:p>
            <a:pPr lvl="2"/>
            <a:r>
              <a:rPr lang="en-US" dirty="0"/>
              <a:t>TAP (as in network tap) simulates an Ethernet device and operates with layer 2 packets such as Ethernet frames.</a:t>
            </a:r>
          </a:p>
          <a:p>
            <a:pPr lvl="2"/>
            <a:r>
              <a:rPr lang="en-US" dirty="0"/>
              <a:t>TUN (as in network </a:t>
            </a:r>
            <a:r>
              <a:rPr lang="en-US" dirty="0" err="1"/>
              <a:t>TUNnel</a:t>
            </a:r>
            <a:r>
              <a:rPr lang="en-US" dirty="0"/>
              <a:t>) simulates a network layer device and operates with layer 3 packets such as IP.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Data flow of TUN/TAP driver</a:t>
            </a:r>
          </a:p>
          <a:p>
            <a:pPr lvl="2"/>
            <a:r>
              <a:rPr lang="en-US" dirty="0"/>
              <a:t>Packets sent by an operating system via a TUN/TAP device are delivered to a user-space program that attaches itself to the device.</a:t>
            </a:r>
          </a:p>
          <a:p>
            <a:pPr lvl="2"/>
            <a:r>
              <a:rPr lang="en-US" dirty="0"/>
              <a:t>A user-space program may pass packets into a TUN/TAP device.</a:t>
            </a:r>
            <a:r>
              <a:rPr lang="zh-TW" altLang="en-US" dirty="0"/>
              <a:t>  </a:t>
            </a:r>
            <a:r>
              <a:rPr lang="en-US" dirty="0"/>
              <a:t>TUN/TAP device delivers (or "injects") these packets to the operating system network stack thus emulating their reception from an external source.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KVM Approach</a:t>
            </a:r>
          </a:p>
        </p:txBody>
      </p:sp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1650" y="1050208"/>
            <a:ext cx="5600700" cy="3921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Straight Connector 30"/>
          <p:cNvCxnSpPr/>
          <p:nvPr/>
        </p:nvCxnSpPr>
        <p:spPr>
          <a:xfrm rot="5400000">
            <a:off x="3629025" y="2371725"/>
            <a:ext cx="1428750" cy="0"/>
          </a:xfrm>
          <a:prstGeom prst="line">
            <a:avLst/>
          </a:prstGeom>
          <a:ln w="76200">
            <a:solidFill>
              <a:srgbClr val="FFFF00"/>
            </a:solidFill>
            <a:tail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956292" y="2657475"/>
            <a:ext cx="2571750" cy="0"/>
          </a:xfrm>
          <a:prstGeom prst="line">
            <a:avLst/>
          </a:prstGeom>
          <a:ln w="76200">
            <a:solidFill>
              <a:srgbClr val="FFFF00"/>
            </a:solidFill>
            <a:head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4679642" y="3398484"/>
            <a:ext cx="2743200" cy="0"/>
          </a:xfrm>
          <a:prstGeom prst="line">
            <a:avLst/>
          </a:prstGeom>
          <a:ln w="76200">
            <a:solidFill>
              <a:srgbClr val="FFFF00"/>
            </a:solidFill>
            <a:tail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3114675" y="3514725"/>
            <a:ext cx="857250" cy="0"/>
          </a:xfrm>
          <a:prstGeom prst="line">
            <a:avLst/>
          </a:prstGeom>
          <a:ln w="76200">
            <a:solidFill>
              <a:srgbClr val="FFFF00"/>
            </a:solidFill>
            <a:tail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2628900" y="1714500"/>
            <a:ext cx="685800" cy="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4514850" y="487716"/>
            <a:ext cx="0" cy="308610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3955778" y="2674620"/>
            <a:ext cx="0" cy="82296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2907992" y="3291840"/>
            <a:ext cx="0" cy="130302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2604153" y="994410"/>
            <a:ext cx="0" cy="75438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http://benjr.tw/files/images/xennetworking/bridge_mod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3028951"/>
            <a:ext cx="3071813" cy="202168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3394472"/>
          </a:xfrm>
        </p:spPr>
        <p:txBody>
          <a:bodyPr/>
          <a:lstStyle/>
          <a:p>
            <a:r>
              <a:rPr lang="en-US" dirty="0"/>
              <a:t>Linux bridge</a:t>
            </a:r>
          </a:p>
          <a:p>
            <a:pPr lvl="1"/>
            <a:r>
              <a:rPr lang="en-US" dirty="0"/>
              <a:t>Bridging is a forwarding technique used in packet-switched computer networks.</a:t>
            </a:r>
          </a:p>
          <a:p>
            <a:pPr lvl="1"/>
            <a:r>
              <a:rPr lang="en-US" dirty="0"/>
              <a:t>Unlike routing, bridging makes no assumptions about where in a network a particular address is located.</a:t>
            </a:r>
          </a:p>
          <a:p>
            <a:pPr lvl="1"/>
            <a:r>
              <a:rPr lang="en-US" dirty="0"/>
              <a:t>Bridging depends on flooding and examination of source addresses in received packet headers to locate unknown devices.</a:t>
            </a:r>
          </a:p>
          <a:p>
            <a:pPr lvl="1"/>
            <a:r>
              <a:rPr lang="en-US" dirty="0"/>
              <a:t>Bridging connects multiple network</a:t>
            </a:r>
            <a:br>
              <a:rPr lang="en-US" dirty="0"/>
            </a:br>
            <a:r>
              <a:rPr lang="en-US" dirty="0"/>
              <a:t>segments at the data link layer</a:t>
            </a:r>
            <a:br>
              <a:rPr lang="en-US" dirty="0"/>
            </a:br>
            <a:r>
              <a:rPr lang="en-US" dirty="0"/>
              <a:t>(Layer 2) of the OSI model.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KVM Approach</a:t>
            </a:r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4741" y="1341835"/>
            <a:ext cx="5674519" cy="3744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065290" y="853901"/>
            <a:ext cx="354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TAP/TUN driver + Linux Bridge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 descr="Diapositive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2705100"/>
            <a:ext cx="3526023" cy="23241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Xen</a:t>
            </a:r>
            <a:r>
              <a:rPr lang="en-US" dirty="0"/>
              <a:t>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245745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Xen</a:t>
            </a:r>
            <a:r>
              <a:rPr lang="en-US" dirty="0"/>
              <a:t> system</a:t>
            </a:r>
          </a:p>
          <a:p>
            <a:pPr lvl="1"/>
            <a:r>
              <a:rPr lang="en-US" dirty="0"/>
              <a:t>Since implemented by </a:t>
            </a:r>
            <a:r>
              <a:rPr lang="en-US" dirty="0" err="1"/>
              <a:t>para</a:t>
            </a:r>
            <a:r>
              <a:rPr lang="en-US" dirty="0"/>
              <a:t>-virtualization, guest OS loads modified network interface drivers.</a:t>
            </a:r>
          </a:p>
          <a:p>
            <a:pPr lvl="1"/>
            <a:r>
              <a:rPr lang="en-US" dirty="0"/>
              <a:t>Modified network interface drivers,</a:t>
            </a:r>
            <a:r>
              <a:rPr lang="en-US" altLang="zh-TW" dirty="0"/>
              <a:t> which act as TAP in KVM approach,</a:t>
            </a:r>
            <a:r>
              <a:rPr lang="en-US" dirty="0"/>
              <a:t> communicate with virtual switches in Dom0.</a:t>
            </a:r>
          </a:p>
          <a:p>
            <a:pPr lvl="1"/>
            <a:r>
              <a:rPr lang="en-US" dirty="0"/>
              <a:t>Virtual switch in </a:t>
            </a:r>
            <a:r>
              <a:rPr lang="en-US" dirty="0" err="1"/>
              <a:t>Xen</a:t>
            </a:r>
            <a:r>
              <a:rPr lang="en-US" dirty="0"/>
              <a:t> can be</a:t>
            </a:r>
            <a:br>
              <a:rPr lang="en-US" dirty="0"/>
            </a:br>
            <a:r>
              <a:rPr lang="en-US" dirty="0"/>
              <a:t>implemented by Linux bridge</a:t>
            </a:r>
            <a:br>
              <a:rPr lang="en-US" dirty="0"/>
            </a:br>
            <a:r>
              <a:rPr lang="en-US" dirty="0"/>
              <a:t>or work with other approaches.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Xen</a:t>
            </a:r>
            <a:r>
              <a:rPr lang="en-US" dirty="0"/>
              <a:t> Approach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5950" y="1371104"/>
            <a:ext cx="5486400" cy="360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534312" y="97155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Detail in </a:t>
            </a:r>
            <a:r>
              <a:rPr lang="en-US" b="1" i="1" dirty="0" err="1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Xen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System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Xen</a:t>
            </a:r>
            <a:r>
              <a:rPr lang="en-US" dirty="0"/>
              <a:t>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0" y="1200150"/>
            <a:ext cx="3429000" cy="3657600"/>
          </a:xfrm>
        </p:spPr>
        <p:txBody>
          <a:bodyPr/>
          <a:lstStyle/>
          <a:p>
            <a:r>
              <a:rPr lang="en-US" dirty="0"/>
              <a:t>Some performance issues :</a:t>
            </a:r>
          </a:p>
          <a:p>
            <a:pPr lvl="1"/>
            <a:r>
              <a:rPr lang="en-US" dirty="0"/>
              <a:t>Page remapping</a:t>
            </a:r>
          </a:p>
          <a:p>
            <a:pPr lvl="2"/>
            <a:r>
              <a:rPr lang="en-US" dirty="0"/>
              <a:t>Hypervisor remaps memory page for MMIO.</a:t>
            </a:r>
          </a:p>
          <a:p>
            <a:pPr lvl="1"/>
            <a:r>
              <a:rPr lang="en-US" dirty="0"/>
              <a:t>Context switching</a:t>
            </a:r>
          </a:p>
          <a:p>
            <a:pPr lvl="2"/>
            <a:r>
              <a:rPr lang="en-US" dirty="0"/>
              <a:t>Whenever packets sent, induce one context switch from guest to Domain 0 to drive real NIC.</a:t>
            </a:r>
          </a:p>
          <a:p>
            <a:pPr lvl="1"/>
            <a:r>
              <a:rPr lang="en-US" dirty="0"/>
              <a:t>Software bridge management</a:t>
            </a:r>
          </a:p>
          <a:p>
            <a:pPr lvl="2"/>
            <a:r>
              <a:rPr lang="en-US" dirty="0"/>
              <a:t>Linux bridge is a pure software implementation.</a:t>
            </a:r>
          </a:p>
          <a:p>
            <a:pPr lvl="1"/>
            <a:r>
              <a:rPr lang="en-US" dirty="0"/>
              <a:t>Interrupt handling</a:t>
            </a:r>
          </a:p>
          <a:p>
            <a:pPr lvl="2"/>
            <a:r>
              <a:rPr lang="en-US" dirty="0"/>
              <a:t>When interrupt occur, induce one context switch again.</a:t>
            </a:r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9150" y="1714500"/>
            <a:ext cx="3268069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Xen</a:t>
            </a:r>
            <a:r>
              <a:rPr lang="en-US" dirty="0"/>
              <a:t>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85850"/>
            <a:ext cx="6172200" cy="1314450"/>
          </a:xfrm>
        </p:spPr>
        <p:txBody>
          <a:bodyPr/>
          <a:lstStyle/>
          <a:p>
            <a:r>
              <a:rPr lang="en-US" dirty="0"/>
              <a:t>Improve </a:t>
            </a:r>
            <a:r>
              <a:rPr lang="en-US" dirty="0" err="1"/>
              <a:t>Xen</a:t>
            </a:r>
            <a:r>
              <a:rPr lang="en-US" dirty="0"/>
              <a:t> performance by software</a:t>
            </a:r>
          </a:p>
          <a:p>
            <a:pPr lvl="1"/>
            <a:r>
              <a:rPr lang="en-US" dirty="0"/>
              <a:t>Large effective MTU</a:t>
            </a:r>
          </a:p>
          <a:p>
            <a:pPr lvl="1"/>
            <a:r>
              <a:rPr lang="en-US" dirty="0"/>
              <a:t>Fewer packets</a:t>
            </a:r>
          </a:p>
          <a:p>
            <a:pPr lvl="1"/>
            <a:r>
              <a:rPr lang="en-US" dirty="0"/>
              <a:t>Lower per-byte cost</a:t>
            </a:r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5641" y="2505075"/>
            <a:ext cx="6511528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Xen</a:t>
            </a:r>
            <a:r>
              <a:rPr lang="en-US" dirty="0"/>
              <a:t>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14400"/>
            <a:ext cx="6172200" cy="14859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Improve </a:t>
            </a:r>
            <a:r>
              <a:rPr lang="en-US" dirty="0" err="1"/>
              <a:t>Xen</a:t>
            </a:r>
            <a:r>
              <a:rPr lang="en-US" dirty="0"/>
              <a:t> performance by hardware</a:t>
            </a:r>
          </a:p>
          <a:p>
            <a:pPr lvl="1"/>
            <a:r>
              <a:rPr lang="en-US" dirty="0"/>
              <a:t>CDNA (Concurrent Direct Network Access) hardware adapter</a:t>
            </a:r>
          </a:p>
          <a:p>
            <a:pPr lvl="1"/>
            <a:r>
              <a:rPr lang="en-US" dirty="0"/>
              <a:t>Remove driver domain from data and interrupts</a:t>
            </a:r>
          </a:p>
          <a:p>
            <a:pPr lvl="1"/>
            <a:r>
              <a:rPr lang="en-US" dirty="0"/>
              <a:t>Hypervisor only responsible for virtual interrupts and assigning context to guest OS</a:t>
            </a:r>
          </a:p>
          <a:p>
            <a:pPr lvl="1"/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 t="6589"/>
          <a:stretch>
            <a:fillRect/>
          </a:stretch>
        </p:blipFill>
        <p:spPr bwMode="auto">
          <a:xfrm>
            <a:off x="1714501" y="2286000"/>
            <a:ext cx="578234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1485900"/>
            <a:ext cx="2857500" cy="2457450"/>
          </a:xfrm>
        </p:spPr>
        <p:txBody>
          <a:bodyPr/>
          <a:lstStyle/>
          <a:p>
            <a:r>
              <a:rPr lang="en-US" dirty="0"/>
              <a:t>VMware offer a hybrid solution of network virtualization in Cloud.</a:t>
            </a:r>
          </a:p>
          <a:p>
            <a:pPr lvl="1"/>
            <a:r>
              <a:rPr lang="en-US" dirty="0"/>
              <a:t>Use redundant links to provide high availability.</a:t>
            </a:r>
          </a:p>
          <a:p>
            <a:pPr lvl="1"/>
            <a:r>
              <a:rPr lang="en-US" dirty="0"/>
              <a:t>Virtual switch in host OS will automatically detect link failure and redirect packets to back-up links.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4451" y="1028700"/>
            <a:ext cx="337059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4451" y="3278982"/>
            <a:ext cx="3357251" cy="1795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own Arrow 6"/>
          <p:cNvSpPr/>
          <p:nvPr/>
        </p:nvSpPr>
        <p:spPr>
          <a:xfrm>
            <a:off x="2862589" y="2914650"/>
            <a:ext cx="274320" cy="34290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in layers</a:t>
            </a:r>
          </a:p>
          <a:p>
            <a:pPr lvl="1"/>
            <a:r>
              <a:rPr lang="en-US" dirty="0"/>
              <a:t>Usually in Layer 2 and Layer 3</a:t>
            </a:r>
          </a:p>
          <a:p>
            <a:r>
              <a:rPr lang="en-US" dirty="0"/>
              <a:t>External network virtualization</a:t>
            </a:r>
          </a:p>
          <a:p>
            <a:pPr lvl="1"/>
            <a:r>
              <a:rPr lang="en-US" dirty="0"/>
              <a:t>Layer 2</a:t>
            </a:r>
          </a:p>
          <a:p>
            <a:pPr lvl="2"/>
            <a:r>
              <a:rPr lang="en-US" dirty="0"/>
              <a:t>802.1q</a:t>
            </a:r>
          </a:p>
          <a:p>
            <a:pPr lvl="1"/>
            <a:r>
              <a:rPr lang="en-US" dirty="0"/>
              <a:t>Layer 3</a:t>
            </a:r>
          </a:p>
          <a:p>
            <a:pPr lvl="2"/>
            <a:r>
              <a:rPr lang="en-US" dirty="0"/>
              <a:t>MPLS, GRE</a:t>
            </a:r>
          </a:p>
          <a:p>
            <a:r>
              <a:rPr lang="en-US" dirty="0"/>
              <a:t>Internal network virtualization</a:t>
            </a:r>
          </a:p>
          <a:p>
            <a:pPr lvl="1"/>
            <a:r>
              <a:rPr lang="en-US" dirty="0"/>
              <a:t>Traditional approach</a:t>
            </a:r>
          </a:p>
          <a:p>
            <a:pPr lvl="2"/>
            <a:r>
              <a:rPr lang="en-US" dirty="0"/>
              <a:t>TAP/TUN + Linux bridge</a:t>
            </a:r>
          </a:p>
          <a:p>
            <a:pPr lvl="1"/>
            <a:r>
              <a:rPr lang="en-US" dirty="0"/>
              <a:t>New technique</a:t>
            </a:r>
          </a:p>
          <a:p>
            <a:pPr lvl="2"/>
            <a:r>
              <a:rPr lang="en-US" dirty="0"/>
              <a:t>Virtual switch</a:t>
            </a:r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2114550"/>
            <a:ext cx="2961317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Books :</a:t>
            </a:r>
          </a:p>
          <a:p>
            <a:pPr lvl="1"/>
            <a:r>
              <a:rPr lang="en-US" sz="1200" dirty="0"/>
              <a:t>Kumar Reddy &amp; Victor Moreno, </a:t>
            </a:r>
            <a:r>
              <a:rPr lang="en-US" sz="1200" b="1" i="1" dirty="0"/>
              <a:t>Network Virtualization</a:t>
            </a:r>
            <a:r>
              <a:rPr lang="en-US" sz="1200" dirty="0"/>
              <a:t>, Cisco Press 2006</a:t>
            </a:r>
          </a:p>
          <a:p>
            <a:r>
              <a:rPr lang="en-US" dirty="0"/>
              <a:t>Web resources :</a:t>
            </a:r>
          </a:p>
          <a:p>
            <a:pPr lvl="1"/>
            <a:r>
              <a:rPr lang="en-US" sz="1200" dirty="0"/>
              <a:t>Linux Bridge </a:t>
            </a:r>
            <a:r>
              <a:rPr lang="en-US" sz="1200" i="1" dirty="0"/>
              <a:t>http://www.ibm.com/developerworks/cn/linux/l-tuntap/index.html</a:t>
            </a:r>
          </a:p>
          <a:p>
            <a:pPr lvl="1"/>
            <a:r>
              <a:rPr lang="en-US" sz="1200" dirty="0" err="1"/>
              <a:t>Xen</a:t>
            </a:r>
            <a:r>
              <a:rPr lang="en-US" sz="1200" dirty="0"/>
              <a:t> networking </a:t>
            </a:r>
            <a:r>
              <a:rPr lang="en-US" sz="1200" i="1" dirty="0"/>
              <a:t>http://wiki.xensource.com/xenwiki/XenNetworking</a:t>
            </a:r>
          </a:p>
          <a:p>
            <a:pPr lvl="1"/>
            <a:r>
              <a:rPr lang="en-US" sz="1200" dirty="0"/>
              <a:t>VMware Virtual Networking Concepts </a:t>
            </a:r>
            <a:r>
              <a:rPr lang="en-US" sz="1200" i="1" dirty="0"/>
              <a:t>http://www.vmware.com/files/pdf/virtual_networking_concepts.pdf</a:t>
            </a:r>
          </a:p>
          <a:p>
            <a:pPr lvl="1"/>
            <a:r>
              <a:rPr lang="en-US" sz="1200" dirty="0"/>
              <a:t>TUN/TAP wiki </a:t>
            </a:r>
            <a:r>
              <a:rPr lang="en-US" sz="1200" i="1" dirty="0"/>
              <a:t>http://en.wikipedia.org/wiki/TUN/TAP</a:t>
            </a:r>
          </a:p>
          <a:p>
            <a:pPr lvl="1"/>
            <a:r>
              <a:rPr lang="en-US" sz="1200" dirty="0"/>
              <a:t>Network Virtualization wiki </a:t>
            </a:r>
            <a:r>
              <a:rPr lang="en-US" sz="1200" i="1" dirty="0"/>
              <a:t>http://en.wikipedia.org/wiki/Network_virtualization</a:t>
            </a:r>
          </a:p>
          <a:p>
            <a:r>
              <a:rPr lang="en-US" dirty="0"/>
              <a:t>Papers :</a:t>
            </a:r>
            <a:endParaRPr lang="en-US" sz="1200" dirty="0"/>
          </a:p>
          <a:p>
            <a:pPr lvl="1"/>
            <a:r>
              <a:rPr lang="en-US" sz="1200" dirty="0"/>
              <a:t>A. </a:t>
            </a:r>
            <a:r>
              <a:rPr lang="en-US" sz="1200" dirty="0" err="1"/>
              <a:t>Menon</a:t>
            </a:r>
            <a:r>
              <a:rPr lang="en-US" sz="1200" dirty="0"/>
              <a:t>, A. Cox, and W. </a:t>
            </a:r>
            <a:r>
              <a:rPr lang="en-US" sz="1200" dirty="0" err="1"/>
              <a:t>Zwaenepoel</a:t>
            </a:r>
            <a:r>
              <a:rPr lang="en-US" sz="1200" dirty="0"/>
              <a:t>. Optimizing Network Virtualization in </a:t>
            </a:r>
            <a:r>
              <a:rPr lang="en-US" sz="1200" dirty="0" err="1"/>
              <a:t>Xen</a:t>
            </a:r>
            <a:r>
              <a:rPr lang="en-US" sz="1200" dirty="0"/>
              <a:t>. Proc. USENIX Annual Technical </a:t>
            </a:r>
            <a:r>
              <a:rPr lang="fr-FR" sz="1200" dirty="0" err="1"/>
              <a:t>Conference</a:t>
            </a:r>
            <a:r>
              <a:rPr lang="fr-FR" sz="1200" dirty="0"/>
              <a:t> (USENIX 2006), pages 15–28, 2006.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6011955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2445</TotalTime>
  <Words>1999</Words>
  <Application>Microsoft Office PowerPoint</Application>
  <PresentationFormat>全屏显示(16:9)</PresentationFormat>
  <Paragraphs>328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標楷體</vt:lpstr>
      <vt:lpstr>MS Sans Serif</vt:lpstr>
      <vt:lpstr>Arial</vt:lpstr>
      <vt:lpstr>Calibri</vt:lpstr>
      <vt:lpstr>Cambria</vt:lpstr>
      <vt:lpstr>Times New Roman</vt:lpstr>
      <vt:lpstr>Wingdings</vt:lpstr>
      <vt:lpstr>NTHU UniCloud</vt:lpstr>
      <vt:lpstr>CSC6032 – Advanced Operating Systems</vt:lpstr>
      <vt:lpstr>虛擬化技術 Virtualization Techniques</vt:lpstr>
      <vt:lpstr>Agenda</vt:lpstr>
      <vt:lpstr>Network virtualization</vt:lpstr>
      <vt:lpstr>Introduction</vt:lpstr>
      <vt:lpstr>Network Protocol and Model</vt:lpstr>
      <vt:lpstr>Network Protocol and Model</vt:lpstr>
      <vt:lpstr>Network Topologies</vt:lpstr>
      <vt:lpstr>Network Types</vt:lpstr>
      <vt:lpstr>Network Architecture</vt:lpstr>
      <vt:lpstr>Network Architecture</vt:lpstr>
      <vt:lpstr>Network Architecture</vt:lpstr>
      <vt:lpstr>Network Architecture</vt:lpstr>
      <vt:lpstr>Network Architecture</vt:lpstr>
      <vt:lpstr>Network Architecture</vt:lpstr>
      <vt:lpstr>Network Design Rules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Internal Network Virtualization</vt:lpstr>
      <vt:lpstr>Internal Network Virtualization</vt:lpstr>
      <vt:lpstr>Internal Network Virtualization</vt:lpstr>
      <vt:lpstr>KVM Approach</vt:lpstr>
      <vt:lpstr>KVM Approach</vt:lpstr>
      <vt:lpstr>KVM Approach</vt:lpstr>
      <vt:lpstr>KVM Approach</vt:lpstr>
      <vt:lpstr>KVM Approach</vt:lpstr>
      <vt:lpstr>Xen Approach</vt:lpstr>
      <vt:lpstr>Xen Approach</vt:lpstr>
      <vt:lpstr>Xen Approach</vt:lpstr>
      <vt:lpstr>Xen Approach</vt:lpstr>
      <vt:lpstr>Xen Approach</vt:lpstr>
      <vt:lpstr>Case Study</vt:lpstr>
      <vt:lpstr>Network Virtualization Summary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2023-10-15T06:12:46Z</dcterms:modified>
</cp:coreProperties>
</file>