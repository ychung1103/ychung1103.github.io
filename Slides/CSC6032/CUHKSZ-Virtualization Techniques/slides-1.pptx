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7" r:id="rId3"/>
    <p:sldId id="420" r:id="rId4"/>
    <p:sldId id="427" r:id="rId5"/>
    <p:sldId id="434" r:id="rId6"/>
    <p:sldId id="419" r:id="rId7"/>
    <p:sldId id="424" r:id="rId8"/>
    <p:sldId id="425" r:id="rId9"/>
    <p:sldId id="422" r:id="rId10"/>
    <p:sldId id="421" r:id="rId11"/>
    <p:sldId id="423" r:id="rId12"/>
    <p:sldId id="426" r:id="rId13"/>
    <p:sldId id="289" r:id="rId14"/>
    <p:sldId id="429" r:id="rId15"/>
    <p:sldId id="436" r:id="rId16"/>
    <p:sldId id="432" r:id="rId17"/>
    <p:sldId id="433" r:id="rId18"/>
    <p:sldId id="430" r:id="rId19"/>
    <p:sldId id="435" r:id="rId20"/>
    <p:sldId id="437" r:id="rId21"/>
    <p:sldId id="439" r:id="rId22"/>
    <p:sldId id="414" r:id="rId23"/>
    <p:sldId id="451" r:id="rId24"/>
    <p:sldId id="450" r:id="rId25"/>
    <p:sldId id="452" r:id="rId26"/>
    <p:sldId id="453" r:id="rId27"/>
    <p:sldId id="459" r:id="rId28"/>
    <p:sldId id="415" r:id="rId29"/>
    <p:sldId id="454" r:id="rId30"/>
    <p:sldId id="460" r:id="rId31"/>
    <p:sldId id="455" r:id="rId32"/>
    <p:sldId id="456" r:id="rId33"/>
    <p:sldId id="457" r:id="rId34"/>
    <p:sldId id="416" r:id="rId35"/>
    <p:sldId id="461" r:id="rId36"/>
    <p:sldId id="462" r:id="rId37"/>
    <p:sldId id="463" r:id="rId38"/>
    <p:sldId id="464" r:id="rId39"/>
    <p:sldId id="417" r:id="rId40"/>
    <p:sldId id="465" r:id="rId41"/>
    <p:sldId id="448" r:id="rId42"/>
    <p:sldId id="449" r:id="rId43"/>
    <p:sldId id="418" r:id="rId44"/>
    <p:sldId id="441" r:id="rId45"/>
    <p:sldId id="447" r:id="rId46"/>
    <p:sldId id="443" r:id="rId47"/>
    <p:sldId id="446" r:id="rId4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77" y="127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12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Yeh-Ching Chung</a:t>
            </a:r>
          </a:p>
          <a:p>
            <a:endParaRPr lang="en-US" altLang="zh-TW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/>
              <a:t>School of </a:t>
            </a:r>
            <a:r>
              <a:rPr lang="en-US" altLang="zh-CN" sz="2400"/>
              <a:t>Data </a:t>
            </a:r>
            <a:r>
              <a:rPr lang="en-US" altLang="zh-TW" sz="2400"/>
              <a:t>Science</a:t>
            </a:r>
          </a:p>
          <a:p>
            <a:r>
              <a:rPr lang="en-US" altLang="zh-TW" sz="2400"/>
              <a:t>Chinese University of Hong Kong, Shenzhen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457" y="108349"/>
            <a:ext cx="7703233" cy="51911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714343" cy="3671888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Introduction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	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 Virtualization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886" y="108349"/>
            <a:ext cx="7775804" cy="519113"/>
          </a:xfrm>
        </p:spPr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5156" y="870548"/>
            <a:ext cx="6961415" cy="218470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Definition of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In computing, virtualization means to create a virtual version of a device or resource, such as a server, storage device, network or even an operating system where the framework divides the resource into one or more execution environments.</a:t>
            </a:r>
            <a:endParaRPr lang="zh-TW" altLang="en-US" sz="2000" dirty="0">
              <a:latin typeface="Times New Roman" panose="02020603050405020304" pitchFamily="18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513BC96-BC70-8416-4DA4-7A011ADE1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59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6" y="108349"/>
            <a:ext cx="7804833" cy="519113"/>
          </a:xfrm>
        </p:spPr>
        <p:txBody>
          <a:bodyPr/>
          <a:lstStyle/>
          <a:p>
            <a:r>
              <a:rPr lang="en-US" altLang="zh-TW" dirty="0"/>
              <a:t>Multiple VMs in One Machine</a:t>
            </a:r>
            <a:endParaRPr lang="zh-TW" altLang="en-US" dirty="0"/>
          </a:p>
        </p:txBody>
      </p:sp>
      <p:pic>
        <p:nvPicPr>
          <p:cNvPr id="3074" name="Picture 2" descr="http://p.blog.csdn.net/images/p_blog_csdn_net/lionsea/vm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162" y="986836"/>
            <a:ext cx="5963835" cy="3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636B43F-5DD8-E23B-40F5-08738D29B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1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Performance of Virtualizations </a:t>
            </a:r>
            <a:endParaRPr lang="zh-TW" altLang="en-US" dirty="0"/>
          </a:p>
        </p:txBody>
      </p:sp>
      <p:pic>
        <p:nvPicPr>
          <p:cNvPr id="6146" name="Picture 2" descr="\\vmware-host\Shared Folders\Desktop\Virtualization\SpeedofV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0"/>
          <a:stretch/>
        </p:blipFill>
        <p:spPr bwMode="auto">
          <a:xfrm>
            <a:off x="1349639" y="913523"/>
            <a:ext cx="6271062" cy="369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B135A82-46B4-9727-0E5F-30E0F01C3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47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2629" y="108349"/>
            <a:ext cx="7783061" cy="519113"/>
          </a:xfrm>
        </p:spPr>
        <p:txBody>
          <a:bodyPr/>
          <a:lstStyle/>
          <a:p>
            <a:r>
              <a:rPr lang="en-US" altLang="zh-TW" dirty="0"/>
              <a:t>History of Virtualization</a:t>
            </a:r>
            <a:endParaRPr lang="zh-TW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6BC7059-49E8-C69C-95F9-756833C83F79}"/>
              </a:ext>
            </a:extLst>
          </p:cNvPr>
          <p:cNvGrpSpPr/>
          <p:nvPr/>
        </p:nvGrpSpPr>
        <p:grpSpPr>
          <a:xfrm>
            <a:off x="892629" y="961049"/>
            <a:ext cx="7445828" cy="3502378"/>
            <a:chOff x="1230932" y="1127963"/>
            <a:chExt cx="6751369" cy="3502378"/>
          </a:xfrm>
        </p:grpSpPr>
        <p:sp>
          <p:nvSpPr>
            <p:cNvPr id="8" name="AutoShape 11"/>
            <p:cNvSpPr>
              <a:spLocks/>
            </p:cNvSpPr>
            <p:nvPr/>
          </p:nvSpPr>
          <p:spPr bwMode="auto">
            <a:xfrm>
              <a:off x="1230932" y="2050016"/>
              <a:ext cx="568877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1964 IBM CP-40</a:t>
              </a:r>
            </a:p>
          </p:txBody>
        </p:sp>
        <p:sp>
          <p:nvSpPr>
            <p:cNvPr id="9" name="AutoShape 12"/>
            <p:cNvSpPr>
              <a:spLocks/>
            </p:cNvSpPr>
            <p:nvPr/>
          </p:nvSpPr>
          <p:spPr bwMode="auto">
            <a:xfrm>
              <a:off x="1862520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10" name="AutoShape 13"/>
            <p:cNvSpPr>
              <a:spLocks/>
            </p:cNvSpPr>
            <p:nvPr/>
          </p:nvSpPr>
          <p:spPr bwMode="auto">
            <a:xfrm>
              <a:off x="2050652" y="2050016"/>
              <a:ext cx="568877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1972 IBM VM/370  </a:t>
              </a:r>
            </a:p>
          </p:txBody>
        </p:sp>
        <p:sp>
          <p:nvSpPr>
            <p:cNvPr id="11" name="AutoShape 14"/>
            <p:cNvSpPr>
              <a:spLocks/>
            </p:cNvSpPr>
            <p:nvPr/>
          </p:nvSpPr>
          <p:spPr bwMode="auto">
            <a:xfrm>
              <a:off x="2682240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12" name="AutoShape 15"/>
            <p:cNvSpPr>
              <a:spLocks/>
            </p:cNvSpPr>
            <p:nvPr/>
          </p:nvSpPr>
          <p:spPr bwMode="auto">
            <a:xfrm>
              <a:off x="2870373" y="2050016"/>
              <a:ext cx="570370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1997 Virtual PC</a:t>
              </a:r>
            </a:p>
          </p:txBody>
        </p:sp>
        <p:sp>
          <p:nvSpPr>
            <p:cNvPr id="13" name="AutoShape 16"/>
            <p:cNvSpPr>
              <a:spLocks/>
            </p:cNvSpPr>
            <p:nvPr/>
          </p:nvSpPr>
          <p:spPr bwMode="auto">
            <a:xfrm>
              <a:off x="3503454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14" name="AutoShape 17"/>
            <p:cNvSpPr>
              <a:spLocks/>
            </p:cNvSpPr>
            <p:nvPr/>
          </p:nvSpPr>
          <p:spPr bwMode="auto">
            <a:xfrm>
              <a:off x="3691586" y="2050016"/>
              <a:ext cx="568877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1999 VMware </a:t>
              </a:r>
            </a:p>
          </p:txBody>
        </p:sp>
        <p:sp>
          <p:nvSpPr>
            <p:cNvPr id="15" name="AutoShape 18"/>
            <p:cNvSpPr>
              <a:spLocks/>
            </p:cNvSpPr>
            <p:nvPr/>
          </p:nvSpPr>
          <p:spPr bwMode="auto">
            <a:xfrm>
              <a:off x="4323174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16" name="AutoShape 19"/>
            <p:cNvSpPr>
              <a:spLocks/>
            </p:cNvSpPr>
            <p:nvPr/>
          </p:nvSpPr>
          <p:spPr bwMode="auto">
            <a:xfrm>
              <a:off x="4511307" y="2050016"/>
              <a:ext cx="570370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2003</a:t>
              </a:r>
              <a:endParaRPr lang="en-US" altLang="zh-TW" sz="900" b="1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Xen</a:t>
              </a:r>
            </a:p>
          </p:txBody>
        </p:sp>
        <p:sp>
          <p:nvSpPr>
            <p:cNvPr id="17" name="AutoShape 20"/>
            <p:cNvSpPr>
              <a:spLocks/>
            </p:cNvSpPr>
            <p:nvPr/>
          </p:nvSpPr>
          <p:spPr bwMode="auto">
            <a:xfrm>
              <a:off x="5144388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18" name="AutoShape 21"/>
            <p:cNvSpPr>
              <a:spLocks/>
            </p:cNvSpPr>
            <p:nvPr/>
          </p:nvSpPr>
          <p:spPr bwMode="auto">
            <a:xfrm>
              <a:off x="5332520" y="2050016"/>
              <a:ext cx="568877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2005 </a:t>
              </a:r>
              <a:endParaRPr lang="en-US" altLang="zh-TW" sz="900" b="1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Intel VT</a:t>
              </a:r>
            </a:p>
          </p:txBody>
        </p:sp>
        <p:sp>
          <p:nvSpPr>
            <p:cNvPr id="19" name="AutoShape 22"/>
            <p:cNvSpPr>
              <a:spLocks/>
            </p:cNvSpPr>
            <p:nvPr/>
          </p:nvSpPr>
          <p:spPr bwMode="auto">
            <a:xfrm>
              <a:off x="5964108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20" name="AutoShape 23"/>
            <p:cNvSpPr>
              <a:spLocks/>
            </p:cNvSpPr>
            <p:nvPr/>
          </p:nvSpPr>
          <p:spPr bwMode="auto">
            <a:xfrm>
              <a:off x="6152241" y="2050016"/>
              <a:ext cx="570370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2006 </a:t>
              </a:r>
              <a:endParaRPr lang="en-US" altLang="zh-TW" sz="900" b="1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AMD VT</a:t>
              </a:r>
            </a:p>
          </p:txBody>
        </p:sp>
        <p:sp>
          <p:nvSpPr>
            <p:cNvPr id="21" name="AutoShape 24"/>
            <p:cNvSpPr>
              <a:spLocks/>
            </p:cNvSpPr>
            <p:nvPr/>
          </p:nvSpPr>
          <p:spPr bwMode="auto">
            <a:xfrm>
              <a:off x="6785321" y="2270997"/>
              <a:ext cx="125422" cy="125422"/>
            </a:xfrm>
            <a:prstGeom prst="rightArrow">
              <a:avLst>
                <a:gd name="adj1" fmla="val 64000"/>
                <a:gd name="adj2" fmla="val 50000"/>
              </a:avLst>
            </a:prstGeom>
            <a:solidFill>
              <a:srgbClr val="FED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22" name="AutoShape 25"/>
            <p:cNvSpPr>
              <a:spLocks/>
            </p:cNvSpPr>
            <p:nvPr/>
          </p:nvSpPr>
          <p:spPr bwMode="auto">
            <a:xfrm>
              <a:off x="6971961" y="2050016"/>
              <a:ext cx="570370" cy="568877"/>
            </a:xfrm>
            <a:prstGeom prst="roundRect">
              <a:avLst>
                <a:gd name="adj" fmla="val 7500"/>
              </a:avLst>
            </a:prstGeom>
            <a:solidFill>
              <a:srgbClr val="FDA023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2007</a:t>
              </a:r>
              <a:endParaRPr lang="en-US" altLang="zh-TW" sz="900" b="1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900" b="1">
                  <a:latin typeface="Lucida Grande" charset="0"/>
                  <a:ea typeface="新細明體" charset="-120"/>
                  <a:sym typeface="Lucida Grande" charset="0"/>
                </a:rPr>
                <a:t>KVM-X86</a:t>
              </a:r>
            </a:p>
          </p:txBody>
        </p:sp>
        <p:sp>
          <p:nvSpPr>
            <p:cNvPr id="24" name="AutoShape 27"/>
            <p:cNvSpPr>
              <a:spLocks/>
            </p:cNvSpPr>
            <p:nvPr/>
          </p:nvSpPr>
          <p:spPr bwMode="auto">
            <a:xfrm>
              <a:off x="7413424" y="2969932"/>
              <a:ext cx="568877" cy="568877"/>
            </a:xfrm>
            <a:prstGeom prst="roundRect">
              <a:avLst>
                <a:gd name="adj" fmla="val 7500"/>
              </a:avLst>
            </a:prstGeom>
            <a:solidFill>
              <a:srgbClr val="FFFF00"/>
            </a:solidFill>
            <a:ln w="15875" cap="flat">
              <a:solidFill>
                <a:srgbClr val="CFCFC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2012</a:t>
              </a:r>
              <a:b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</a:br>
              <a:r>
                <a:rPr lang="en-US" altLang="zh-TW" sz="900" b="1" dirty="0" err="1">
                  <a:latin typeface="Lucida Grande" charset="0"/>
                  <a:ea typeface="新細明體" charset="-120"/>
                  <a:sym typeface="Lucida Grande" charset="0"/>
                </a:rPr>
                <a:t>Xen</a:t>
              </a:r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-ARM</a:t>
              </a:r>
              <a:endParaRPr lang="en-US" altLang="zh-TW" sz="900" b="1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900" b="1" dirty="0">
                  <a:latin typeface="Lucida Grande" charset="0"/>
                  <a:ea typeface="新細明體" charset="-120"/>
                  <a:sym typeface="Lucida Grande" charset="0"/>
                </a:rPr>
                <a:t>KVM-ARM</a:t>
              </a:r>
            </a:p>
          </p:txBody>
        </p:sp>
        <p:sp>
          <p:nvSpPr>
            <p:cNvPr id="25" name="Rectangle 29"/>
            <p:cNvSpPr>
              <a:spLocks/>
            </p:cNvSpPr>
            <p:nvPr/>
          </p:nvSpPr>
          <p:spPr bwMode="auto">
            <a:xfrm>
              <a:off x="1768078" y="3615929"/>
              <a:ext cx="929742" cy="219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Time  Sharing</a:t>
              </a:r>
            </a:p>
          </p:txBody>
        </p:sp>
        <p:sp>
          <p:nvSpPr>
            <p:cNvPr id="26" name="Rectangle 30"/>
            <p:cNvSpPr>
              <a:spLocks/>
            </p:cNvSpPr>
            <p:nvPr/>
          </p:nvSpPr>
          <p:spPr bwMode="auto">
            <a:xfrm>
              <a:off x="1714500" y="3812382"/>
              <a:ext cx="1051570" cy="219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Virtual Memory</a:t>
              </a:r>
            </a:p>
          </p:txBody>
        </p:sp>
        <p:sp>
          <p:nvSpPr>
            <p:cNvPr id="27" name="Rectangle 31"/>
            <p:cNvSpPr>
              <a:spLocks/>
            </p:cNvSpPr>
            <p:nvPr/>
          </p:nvSpPr>
          <p:spPr bwMode="auto">
            <a:xfrm>
              <a:off x="1770460" y="3115866"/>
              <a:ext cx="913712" cy="380873"/>
            </a:xfrm>
            <a:prstGeom prst="rect">
              <a:avLst/>
            </a:prstGeom>
            <a:solidFill>
              <a:srgbClr val="E36C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Mainframe </a:t>
              </a:r>
              <a:endParaRPr lang="en-US" altLang="zh-TW" sz="1350" b="1"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28" name="Rectangle 32"/>
            <p:cNvSpPr>
              <a:spLocks/>
            </p:cNvSpPr>
            <p:nvPr/>
          </p:nvSpPr>
          <p:spPr bwMode="auto">
            <a:xfrm>
              <a:off x="3012281" y="3113485"/>
              <a:ext cx="913712" cy="380873"/>
            </a:xfrm>
            <a:prstGeom prst="rect">
              <a:avLst/>
            </a:prstGeom>
            <a:solidFill>
              <a:srgbClr val="E36C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 dirty="0">
                  <a:latin typeface="Lucida Grande" charset="0"/>
                  <a:ea typeface="新細明體" charset="-120"/>
                  <a:sym typeface="Lucida Grande" charset="0"/>
                </a:rPr>
                <a:t>Desktop</a:t>
              </a:r>
              <a:endParaRPr lang="en-US" altLang="zh-TW" sz="1350" b="1" dirty="0"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1050" b="1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29" name="Rectangle 33"/>
            <p:cNvSpPr>
              <a:spLocks/>
            </p:cNvSpPr>
            <p:nvPr/>
          </p:nvSpPr>
          <p:spPr bwMode="auto">
            <a:xfrm>
              <a:off x="4325541" y="3113485"/>
              <a:ext cx="913712" cy="380873"/>
            </a:xfrm>
            <a:prstGeom prst="rect">
              <a:avLst/>
            </a:prstGeom>
            <a:solidFill>
              <a:srgbClr val="E36C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Server</a:t>
              </a:r>
              <a:endParaRPr lang="en-US" altLang="zh-TW" sz="1350" b="1"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30" name="Rectangle 34"/>
            <p:cNvSpPr>
              <a:spLocks/>
            </p:cNvSpPr>
            <p:nvPr/>
          </p:nvSpPr>
          <p:spPr bwMode="auto">
            <a:xfrm>
              <a:off x="5637610" y="3115866"/>
              <a:ext cx="767839" cy="380873"/>
            </a:xfrm>
            <a:prstGeom prst="rect">
              <a:avLst/>
            </a:prstGeom>
            <a:solidFill>
              <a:srgbClr val="E36C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28575" tIns="28575" rIns="28575" bIns="28575">
              <a:spAutoFit/>
            </a:bodyPr>
            <a:lstStyle/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Cloud </a:t>
              </a:r>
              <a:endParaRPr lang="en-US" altLang="zh-TW" sz="1350" b="1">
                <a:latin typeface="Lucida Grande" charset="0"/>
                <a:ea typeface="新細明體" charset="-120"/>
                <a:sym typeface="Lucida Grande" charset="0"/>
              </a:endParaRPr>
            </a:p>
            <a:p>
              <a:r>
                <a:rPr lang="en-US" altLang="zh-TW" sz="1050" b="1">
                  <a:latin typeface="Lucida Grande" charset="0"/>
                  <a:ea typeface="新細明體" charset="-120"/>
                  <a:sym typeface="Lucida Grande" charset="0"/>
                </a:rPr>
                <a:t>Computing</a:t>
              </a:r>
            </a:p>
          </p:txBody>
        </p:sp>
        <p:sp>
          <p:nvSpPr>
            <p:cNvPr id="31" name="AutoShape 35"/>
            <p:cNvSpPr>
              <a:spLocks/>
            </p:cNvSpPr>
            <p:nvPr/>
          </p:nvSpPr>
          <p:spPr bwMode="auto">
            <a:xfrm>
              <a:off x="2734866" y="3169444"/>
              <a:ext cx="247650" cy="267891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FEAE8"/>
                </a:gs>
                <a:gs pos="65001">
                  <a:srgbClr val="FFC9C4"/>
                </a:gs>
                <a:gs pos="100000">
                  <a:srgbClr val="FFB2AB"/>
                </a:gs>
              </a:gsLst>
              <a:lin ang="5400000" scaled="1"/>
            </a:gradFill>
            <a:ln w="9525" cap="flat">
              <a:solidFill>
                <a:srgbClr val="A9271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32" name="AutoShape 36"/>
            <p:cNvSpPr>
              <a:spLocks/>
            </p:cNvSpPr>
            <p:nvPr/>
          </p:nvSpPr>
          <p:spPr bwMode="auto">
            <a:xfrm>
              <a:off x="4020741" y="3169444"/>
              <a:ext cx="247650" cy="267891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FEAE8"/>
                </a:gs>
                <a:gs pos="65001">
                  <a:srgbClr val="FFC9C4"/>
                </a:gs>
                <a:gs pos="100000">
                  <a:srgbClr val="FFB2AB"/>
                </a:gs>
              </a:gsLst>
              <a:lin ang="5400000" scaled="1"/>
            </a:gradFill>
            <a:ln w="9525" cap="flat">
              <a:solidFill>
                <a:srgbClr val="A9271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33" name="AutoShape 37"/>
            <p:cNvSpPr>
              <a:spLocks/>
            </p:cNvSpPr>
            <p:nvPr/>
          </p:nvSpPr>
          <p:spPr bwMode="auto">
            <a:xfrm>
              <a:off x="5355431" y="3169444"/>
              <a:ext cx="247650" cy="267891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FEAE8"/>
                </a:gs>
                <a:gs pos="65001">
                  <a:srgbClr val="FFC9C4"/>
                </a:gs>
                <a:gs pos="100000">
                  <a:srgbClr val="FFB2AB"/>
                </a:gs>
              </a:gsLst>
              <a:lin ang="5400000" scaled="1"/>
            </a:gradFill>
            <a:ln w="9525" cap="flat">
              <a:solidFill>
                <a:srgbClr val="A9271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sp>
          <p:nvSpPr>
            <p:cNvPr id="34" name="AutoShape 38"/>
            <p:cNvSpPr>
              <a:spLocks/>
            </p:cNvSpPr>
            <p:nvPr/>
          </p:nvSpPr>
          <p:spPr bwMode="auto">
            <a:xfrm rot="2639999">
              <a:off x="6542485" y="3302794"/>
              <a:ext cx="247650" cy="26789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 cap="flat">
              <a:solidFill>
                <a:srgbClr val="A9271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  <p:grpSp>
          <p:nvGrpSpPr>
            <p:cNvPr id="35" name="Group 41"/>
            <p:cNvGrpSpPr>
              <a:grpSpLocks/>
            </p:cNvGrpSpPr>
            <p:nvPr/>
          </p:nvGrpSpPr>
          <p:grpSpPr bwMode="auto">
            <a:xfrm>
              <a:off x="1930168" y="1258400"/>
              <a:ext cx="2090700" cy="723842"/>
              <a:chOff x="0" y="0"/>
              <a:chExt cx="1755" cy="607"/>
            </a:xfrm>
          </p:grpSpPr>
          <p:sp>
            <p:nvSpPr>
              <p:cNvPr id="36" name="Rectangle 39"/>
              <p:cNvSpPr>
                <a:spLocks/>
              </p:cNvSpPr>
              <p:nvPr/>
            </p:nvSpPr>
            <p:spPr bwMode="auto">
              <a:xfrm>
                <a:off x="0" y="0"/>
                <a:ext cx="175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28575" tIns="28575" rIns="28575" bIns="28575">
                <a:spAutoFit/>
              </a:bodyPr>
              <a:lstStyle/>
              <a:p>
                <a:pPr algn="l"/>
                <a:r>
                  <a:rPr lang="en-US" altLang="zh-TW" sz="1350" b="1" dirty="0">
                    <a:latin typeface="Lucida Grande" charset="0"/>
                    <a:ea typeface="新細明體" charset="-120"/>
                    <a:sym typeface="Lucida Grande" charset="0"/>
                  </a:rPr>
                  <a:t>Traditional-virtualization</a:t>
                </a:r>
              </a:p>
            </p:txBody>
          </p:sp>
          <p:sp>
            <p:nvSpPr>
              <p:cNvPr id="37" name="AutoShape 40"/>
              <p:cNvSpPr>
                <a:spLocks/>
              </p:cNvSpPr>
              <p:nvPr/>
            </p:nvSpPr>
            <p:spPr bwMode="auto">
              <a:xfrm rot="-2520000">
                <a:off x="1388" y="199"/>
                <a:ext cx="249" cy="408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0" y="6595"/>
                    </a:moveTo>
                    <a:lnTo>
                      <a:pt x="10800" y="0"/>
                    </a:lnTo>
                    <a:lnTo>
                      <a:pt x="21600" y="6595"/>
                    </a:lnTo>
                    <a:lnTo>
                      <a:pt x="16200" y="6595"/>
                    </a:lnTo>
                    <a:lnTo>
                      <a:pt x="16200" y="21600"/>
                    </a:lnTo>
                    <a:lnTo>
                      <a:pt x="5400" y="21600"/>
                    </a:lnTo>
                    <a:lnTo>
                      <a:pt x="5400" y="6595"/>
                    </a:lnTo>
                    <a:close/>
                    <a:moveTo>
                      <a:pt x="0" y="6595"/>
                    </a:moveTo>
                  </a:path>
                </a:pathLst>
              </a:custGeom>
              <a:gradFill rotWithShape="0">
                <a:gsLst>
                  <a:gs pos="0">
                    <a:srgbClr val="F2FFEA"/>
                  </a:gs>
                  <a:gs pos="65001">
                    <a:srgbClr val="DDFEC9"/>
                  </a:gs>
                  <a:gs pos="100000">
                    <a:srgbClr val="CFFFB2"/>
                  </a:gs>
                </a:gsLst>
                <a:lin ang="2880000" scaled="1"/>
              </a:gradFill>
              <a:ln w="9525" cap="flat">
                <a:solidFill>
                  <a:srgbClr val="61A53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19999" dir="5400000" algn="ctr" rotWithShape="0">
                  <a:schemeClr val="bg2">
                    <a:alpha val="37999"/>
                  </a:schemeClr>
                </a:outerShdw>
              </a:effectLst>
            </p:spPr>
            <p:txBody>
              <a:bodyPr lIns="0" tIns="0" rIns="0" bIns="0"/>
              <a:lstStyle/>
              <a:p>
                <a:endParaRPr lang="zh-TW" altLang="en-US" sz="1350" b="1"/>
              </a:p>
            </p:txBody>
          </p:sp>
        </p:grpSp>
        <p:grpSp>
          <p:nvGrpSpPr>
            <p:cNvPr id="38" name="Group 44"/>
            <p:cNvGrpSpPr>
              <a:grpSpLocks/>
            </p:cNvGrpSpPr>
            <p:nvPr/>
          </p:nvGrpSpPr>
          <p:grpSpPr bwMode="auto">
            <a:xfrm>
              <a:off x="3905279" y="1127963"/>
              <a:ext cx="1570434" cy="857250"/>
              <a:chOff x="0" y="0"/>
              <a:chExt cx="1319" cy="719"/>
            </a:xfrm>
          </p:grpSpPr>
          <p:sp>
            <p:nvSpPr>
              <p:cNvPr id="39" name="Rectangle 42"/>
              <p:cNvSpPr>
                <a:spLocks/>
              </p:cNvSpPr>
              <p:nvPr/>
            </p:nvSpPr>
            <p:spPr bwMode="auto">
              <a:xfrm>
                <a:off x="0" y="0"/>
                <a:ext cx="1319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28575" tIns="28575" rIns="28575" bIns="28575">
                <a:spAutoFit/>
              </a:bodyPr>
              <a:lstStyle/>
              <a:p>
                <a:pPr algn="l"/>
                <a:r>
                  <a:rPr lang="en-US" altLang="zh-TW" sz="1350" b="1" dirty="0">
                    <a:latin typeface="Lucida Grande" charset="0"/>
                    <a:ea typeface="新細明體" charset="-120"/>
                    <a:sym typeface="Lucida Grande" charset="0"/>
                  </a:rPr>
                  <a:t>Para-virtualization</a:t>
                </a:r>
              </a:p>
            </p:txBody>
          </p:sp>
          <p:sp>
            <p:nvSpPr>
              <p:cNvPr id="40" name="AutoShape 43"/>
              <p:cNvSpPr>
                <a:spLocks/>
              </p:cNvSpPr>
              <p:nvPr/>
            </p:nvSpPr>
            <p:spPr bwMode="auto">
              <a:xfrm>
                <a:off x="581" y="224"/>
                <a:ext cx="249" cy="495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0" y="5438"/>
                    </a:moveTo>
                    <a:lnTo>
                      <a:pt x="10800" y="0"/>
                    </a:lnTo>
                    <a:lnTo>
                      <a:pt x="21600" y="5438"/>
                    </a:lnTo>
                    <a:lnTo>
                      <a:pt x="16200" y="5438"/>
                    </a:lnTo>
                    <a:lnTo>
                      <a:pt x="16200" y="21600"/>
                    </a:lnTo>
                    <a:lnTo>
                      <a:pt x="5400" y="21600"/>
                    </a:lnTo>
                    <a:lnTo>
                      <a:pt x="5400" y="5438"/>
                    </a:lnTo>
                    <a:close/>
                    <a:moveTo>
                      <a:pt x="0" y="5438"/>
                    </a:moveTo>
                  </a:path>
                </a:pathLst>
              </a:custGeom>
              <a:gradFill rotWithShape="0">
                <a:gsLst>
                  <a:gs pos="0">
                    <a:srgbClr val="F2FFEA"/>
                  </a:gs>
                  <a:gs pos="65001">
                    <a:srgbClr val="DDFEC9"/>
                  </a:gs>
                  <a:gs pos="100000">
                    <a:srgbClr val="CFFFB2"/>
                  </a:gs>
                </a:gsLst>
                <a:lin ang="5400000" scaled="1"/>
              </a:gradFill>
              <a:ln w="9525" cap="flat">
                <a:solidFill>
                  <a:srgbClr val="61A53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19999" dir="5400000" algn="ctr" rotWithShape="0">
                  <a:schemeClr val="bg2">
                    <a:alpha val="37999"/>
                  </a:schemeClr>
                </a:outerShdw>
              </a:effectLst>
            </p:spPr>
            <p:txBody>
              <a:bodyPr lIns="0" tIns="0" rIns="0" bIns="0"/>
              <a:lstStyle/>
              <a:p>
                <a:endParaRPr lang="zh-TW" altLang="en-US" sz="1350" b="1"/>
              </a:p>
            </p:txBody>
          </p:sp>
        </p:grpSp>
        <p:grpSp>
          <p:nvGrpSpPr>
            <p:cNvPr id="41" name="Group 47"/>
            <p:cNvGrpSpPr>
              <a:grpSpLocks/>
            </p:cNvGrpSpPr>
            <p:nvPr/>
          </p:nvGrpSpPr>
          <p:grpSpPr bwMode="auto">
            <a:xfrm>
              <a:off x="5251067" y="1335132"/>
              <a:ext cx="925116" cy="650081"/>
              <a:chOff x="0" y="0"/>
              <a:chExt cx="777" cy="545"/>
            </a:xfrm>
          </p:grpSpPr>
          <p:sp>
            <p:nvSpPr>
              <p:cNvPr id="42" name="Rectangle 45"/>
              <p:cNvSpPr>
                <a:spLocks/>
              </p:cNvSpPr>
              <p:nvPr/>
            </p:nvSpPr>
            <p:spPr bwMode="auto">
              <a:xfrm>
                <a:off x="0" y="0"/>
                <a:ext cx="777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28575" tIns="28575" rIns="28575" bIns="28575">
                <a:spAutoFit/>
              </a:bodyPr>
              <a:lstStyle/>
              <a:p>
                <a:pPr algn="l"/>
                <a:r>
                  <a:rPr lang="en-US" altLang="zh-TW" sz="1350" b="1">
                    <a:latin typeface="Lucida Grande" charset="0"/>
                    <a:ea typeface="新細明體" charset="-120"/>
                    <a:sym typeface="Lucida Grande" charset="0"/>
                  </a:rPr>
                  <a:t>HW-assist </a:t>
                </a:r>
              </a:p>
            </p:txBody>
          </p:sp>
          <p:sp>
            <p:nvSpPr>
              <p:cNvPr id="43" name="AutoShape 46"/>
              <p:cNvSpPr>
                <a:spLocks/>
              </p:cNvSpPr>
              <p:nvPr/>
            </p:nvSpPr>
            <p:spPr bwMode="auto">
              <a:xfrm>
                <a:off x="284" y="224"/>
                <a:ext cx="249" cy="321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0" y="8385"/>
                    </a:moveTo>
                    <a:lnTo>
                      <a:pt x="10800" y="0"/>
                    </a:lnTo>
                    <a:lnTo>
                      <a:pt x="21600" y="8385"/>
                    </a:lnTo>
                    <a:lnTo>
                      <a:pt x="16200" y="8385"/>
                    </a:lnTo>
                    <a:lnTo>
                      <a:pt x="16200" y="21600"/>
                    </a:lnTo>
                    <a:lnTo>
                      <a:pt x="5400" y="21600"/>
                    </a:lnTo>
                    <a:lnTo>
                      <a:pt x="5400" y="8385"/>
                    </a:lnTo>
                    <a:close/>
                    <a:moveTo>
                      <a:pt x="0" y="8385"/>
                    </a:moveTo>
                  </a:path>
                </a:pathLst>
              </a:custGeom>
              <a:gradFill rotWithShape="0">
                <a:gsLst>
                  <a:gs pos="0">
                    <a:srgbClr val="F2FFEA"/>
                  </a:gs>
                  <a:gs pos="65001">
                    <a:srgbClr val="DDFEC9"/>
                  </a:gs>
                  <a:gs pos="100000">
                    <a:srgbClr val="CFFFB2"/>
                  </a:gs>
                </a:gsLst>
                <a:lin ang="5400000" scaled="1"/>
              </a:gradFill>
              <a:ln w="9525" cap="flat">
                <a:solidFill>
                  <a:srgbClr val="61A537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19999" dir="5400000" algn="ctr" rotWithShape="0">
                  <a:schemeClr val="bg2">
                    <a:alpha val="37999"/>
                  </a:schemeClr>
                </a:outerShdw>
              </a:effectLst>
            </p:spPr>
            <p:txBody>
              <a:bodyPr lIns="0" tIns="0" rIns="0" bIns="0"/>
              <a:lstStyle/>
              <a:p>
                <a:endParaRPr lang="zh-TW" altLang="en-US" sz="1350" b="1"/>
              </a:p>
            </p:txBody>
          </p:sp>
        </p:grpSp>
        <p:grpSp>
          <p:nvGrpSpPr>
            <p:cNvPr id="44" name="Group 51"/>
            <p:cNvGrpSpPr>
              <a:grpSpLocks/>
            </p:cNvGrpSpPr>
            <p:nvPr/>
          </p:nvGrpSpPr>
          <p:grpSpPr bwMode="auto">
            <a:xfrm>
              <a:off x="5482829" y="3665935"/>
              <a:ext cx="1981200" cy="964406"/>
              <a:chOff x="0" y="0"/>
              <a:chExt cx="1663" cy="810"/>
            </a:xfrm>
          </p:grpSpPr>
          <p:sp>
            <p:nvSpPr>
              <p:cNvPr id="45" name="AutoShape 48"/>
              <p:cNvSpPr>
                <a:spLocks/>
              </p:cNvSpPr>
              <p:nvPr/>
            </p:nvSpPr>
            <p:spPr bwMode="auto">
              <a:xfrm>
                <a:off x="0" y="0"/>
                <a:ext cx="1663" cy="810"/>
              </a:xfrm>
              <a:custGeom>
                <a:avLst/>
                <a:gdLst/>
                <a:ahLst/>
                <a:cxnLst/>
                <a:rect l="0" t="0" r="r" b="b"/>
                <a:pathLst>
                  <a:path w="20879" h="20683">
                    <a:moveTo>
                      <a:pt x="1901" y="6809"/>
                    </a:moveTo>
                    <a:cubicBezTo>
                      <a:pt x="1658" y="4403"/>
                      <a:pt x="2907" y="2186"/>
                      <a:pt x="4691" y="1859"/>
                    </a:cubicBezTo>
                    <a:cubicBezTo>
                      <a:pt x="5414" y="1726"/>
                      <a:pt x="6149" y="1925"/>
                      <a:pt x="6778" y="2422"/>
                    </a:cubicBezTo>
                    <a:cubicBezTo>
                      <a:pt x="7445" y="726"/>
                      <a:pt x="9003" y="81"/>
                      <a:pt x="10259" y="982"/>
                    </a:cubicBezTo>
                    <a:cubicBezTo>
                      <a:pt x="10478" y="1140"/>
                      <a:pt x="10680" y="1340"/>
                      <a:pt x="10857" y="1575"/>
                    </a:cubicBezTo>
                    <a:cubicBezTo>
                      <a:pt x="11376" y="169"/>
                      <a:pt x="12642" y="-402"/>
                      <a:pt x="13683" y="299"/>
                    </a:cubicBezTo>
                    <a:cubicBezTo>
                      <a:pt x="13971" y="493"/>
                      <a:pt x="14222" y="774"/>
                      <a:pt x="14418" y="1120"/>
                    </a:cubicBezTo>
                    <a:cubicBezTo>
                      <a:pt x="15255" y="-210"/>
                      <a:pt x="16734" y="-374"/>
                      <a:pt x="17722" y="753"/>
                    </a:cubicBezTo>
                    <a:cubicBezTo>
                      <a:pt x="18137" y="1227"/>
                      <a:pt x="18417" y="1880"/>
                      <a:pt x="18513" y="2601"/>
                    </a:cubicBezTo>
                    <a:cubicBezTo>
                      <a:pt x="19885" y="3106"/>
                      <a:pt x="20694" y="5019"/>
                      <a:pt x="20321" y="6874"/>
                    </a:cubicBezTo>
                    <a:cubicBezTo>
                      <a:pt x="20289" y="7030"/>
                      <a:pt x="20250" y="7182"/>
                      <a:pt x="20203" y="7331"/>
                    </a:cubicBezTo>
                    <a:cubicBezTo>
                      <a:pt x="21303" y="9264"/>
                      <a:pt x="21034" y="12033"/>
                      <a:pt x="19601" y="13518"/>
                    </a:cubicBezTo>
                    <a:cubicBezTo>
                      <a:pt x="19155" y="13980"/>
                      <a:pt x="18629" y="14279"/>
                      <a:pt x="18072" y="14386"/>
                    </a:cubicBezTo>
                    <a:cubicBezTo>
                      <a:pt x="18060" y="16465"/>
                      <a:pt x="16800" y="18137"/>
                      <a:pt x="15258" y="18121"/>
                    </a:cubicBezTo>
                    <a:cubicBezTo>
                      <a:pt x="14743" y="18115"/>
                      <a:pt x="14238" y="17917"/>
                      <a:pt x="13801" y="17550"/>
                    </a:cubicBezTo>
                    <a:cubicBezTo>
                      <a:pt x="13280" y="19881"/>
                      <a:pt x="11460" y="21198"/>
                      <a:pt x="9738" y="20492"/>
                    </a:cubicBezTo>
                    <a:cubicBezTo>
                      <a:pt x="9016" y="20196"/>
                      <a:pt x="8392" y="19571"/>
                      <a:pt x="7973" y="18722"/>
                    </a:cubicBezTo>
                    <a:cubicBezTo>
                      <a:pt x="6209" y="20158"/>
                      <a:pt x="3920" y="19386"/>
                      <a:pt x="2859" y="16998"/>
                    </a:cubicBezTo>
                    <a:cubicBezTo>
                      <a:pt x="2846" y="16968"/>
                      <a:pt x="2833" y="16937"/>
                      <a:pt x="2820" y="16907"/>
                    </a:cubicBezTo>
                    <a:cubicBezTo>
                      <a:pt x="1666" y="17089"/>
                      <a:pt x="620" y="15978"/>
                      <a:pt x="485" y="14424"/>
                    </a:cubicBezTo>
                    <a:cubicBezTo>
                      <a:pt x="412" y="13596"/>
                      <a:pt x="615" y="12767"/>
                      <a:pt x="1038" y="12159"/>
                    </a:cubicBezTo>
                    <a:cubicBezTo>
                      <a:pt x="39" y="11365"/>
                      <a:pt x="-297" y="9622"/>
                      <a:pt x="288" y="8266"/>
                    </a:cubicBezTo>
                    <a:cubicBezTo>
                      <a:pt x="626" y="7484"/>
                      <a:pt x="1218" y="6967"/>
                      <a:pt x="1883" y="6874"/>
                    </a:cubicBezTo>
                    <a:close/>
                    <a:moveTo>
                      <a:pt x="1901" y="6809"/>
                    </a:moveTo>
                  </a:path>
                </a:pathLst>
              </a:custGeom>
              <a:solidFill>
                <a:srgbClr val="FFC000"/>
              </a:solidFill>
              <a:ln w="25400" cap="flat">
                <a:solidFill>
                  <a:srgbClr val="87931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zh-TW" altLang="en-US" sz="1350" b="1"/>
              </a:p>
            </p:txBody>
          </p:sp>
          <p:sp>
            <p:nvSpPr>
              <p:cNvPr id="46" name="AutoShape 49"/>
              <p:cNvSpPr>
                <a:spLocks/>
              </p:cNvSpPr>
              <p:nvPr/>
            </p:nvSpPr>
            <p:spPr bwMode="auto">
              <a:xfrm>
                <a:off x="84" y="41"/>
                <a:ext cx="1525" cy="689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380" y="14010"/>
                    </a:moveTo>
                    <a:cubicBezTo>
                      <a:pt x="899" y="14066"/>
                      <a:pt x="417" y="13902"/>
                      <a:pt x="0" y="13542"/>
                    </a:cubicBezTo>
                    <a:moveTo>
                      <a:pt x="2598" y="19137"/>
                    </a:moveTo>
                    <a:cubicBezTo>
                      <a:pt x="2405" y="19250"/>
                      <a:pt x="2202" y="19325"/>
                      <a:pt x="1994" y="19361"/>
                    </a:cubicBezTo>
                    <a:moveTo>
                      <a:pt x="7802" y="21600"/>
                    </a:moveTo>
                    <a:cubicBezTo>
                      <a:pt x="7657" y="21279"/>
                      <a:pt x="7535" y="20936"/>
                      <a:pt x="7438" y="20577"/>
                    </a:cubicBezTo>
                    <a:moveTo>
                      <a:pt x="14532" y="19050"/>
                    </a:moveTo>
                    <a:cubicBezTo>
                      <a:pt x="14510" y="19430"/>
                      <a:pt x="14462" y="19806"/>
                      <a:pt x="14386" y="20172"/>
                    </a:cubicBezTo>
                    <a:moveTo>
                      <a:pt x="17421" y="12116"/>
                    </a:moveTo>
                    <a:cubicBezTo>
                      <a:pt x="18513" y="12896"/>
                      <a:pt x="19202" y="14528"/>
                      <a:pt x="19193" y="16310"/>
                    </a:cubicBezTo>
                    <a:moveTo>
                      <a:pt x="21600" y="7649"/>
                    </a:moveTo>
                    <a:cubicBezTo>
                      <a:pt x="21423" y="8256"/>
                      <a:pt x="21153" y="8794"/>
                      <a:pt x="20811" y="9222"/>
                    </a:cubicBezTo>
                    <a:moveTo>
                      <a:pt x="19707" y="1814"/>
                    </a:moveTo>
                    <a:cubicBezTo>
                      <a:pt x="19737" y="2059"/>
                      <a:pt x="19751" y="2307"/>
                      <a:pt x="19749" y="2556"/>
                    </a:cubicBezTo>
                    <a:moveTo>
                      <a:pt x="14668" y="947"/>
                    </a:moveTo>
                    <a:cubicBezTo>
                      <a:pt x="14771" y="605"/>
                      <a:pt x="14907" y="286"/>
                      <a:pt x="15073" y="0"/>
                    </a:cubicBezTo>
                    <a:moveTo>
                      <a:pt x="10888" y="1399"/>
                    </a:moveTo>
                    <a:cubicBezTo>
                      <a:pt x="10930" y="1115"/>
                      <a:pt x="10996" y="841"/>
                      <a:pt x="11084" y="582"/>
                    </a:cubicBezTo>
                    <a:moveTo>
                      <a:pt x="6452" y="1676"/>
                    </a:moveTo>
                    <a:cubicBezTo>
                      <a:pt x="6709" y="1897"/>
                      <a:pt x="6947" y="2163"/>
                      <a:pt x="7160" y="2469"/>
                    </a:cubicBezTo>
                    <a:moveTo>
                      <a:pt x="1072" y="7905"/>
                    </a:moveTo>
                    <a:cubicBezTo>
                      <a:pt x="1016" y="7632"/>
                      <a:pt x="974" y="7353"/>
                      <a:pt x="948" y="7071"/>
                    </a:cubicBezTo>
                  </a:path>
                </a:pathLst>
              </a:custGeom>
              <a:noFill/>
              <a:ln w="25400" cap="flat">
                <a:solidFill>
                  <a:srgbClr val="87931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TW" altLang="en-US" sz="1350" b="1"/>
              </a:p>
            </p:txBody>
          </p:sp>
          <p:sp>
            <p:nvSpPr>
              <p:cNvPr id="47" name="Rectangle 50"/>
              <p:cNvSpPr>
                <a:spLocks/>
              </p:cNvSpPr>
              <p:nvPr/>
            </p:nvSpPr>
            <p:spPr bwMode="auto">
              <a:xfrm>
                <a:off x="229" y="191"/>
                <a:ext cx="108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r>
                  <a:rPr lang="en-US" altLang="zh-TW" sz="1350" b="1" dirty="0">
                    <a:latin typeface="Lucida Grande" charset="0"/>
                    <a:ea typeface="新細明體" charset="-120"/>
                    <a:sym typeface="Lucida Grande" charset="0"/>
                  </a:rPr>
                  <a:t>Mobile</a:t>
                </a:r>
                <a:endParaRPr lang="en-US" altLang="zh-TW" sz="1350" b="1" dirty="0">
                  <a:solidFill>
                    <a:srgbClr val="FFFFFF"/>
                  </a:solidFill>
                  <a:latin typeface="Lucida Grande" charset="0"/>
                  <a:ea typeface="新細明體" charset="-120"/>
                  <a:sym typeface="Lucida Grande" charset="0"/>
                </a:endParaRPr>
              </a:p>
              <a:p>
                <a:r>
                  <a:rPr lang="en-US" altLang="zh-TW" sz="1350" b="1" dirty="0">
                    <a:latin typeface="Lucida Grande" charset="0"/>
                    <a:ea typeface="新細明體" charset="-120"/>
                    <a:sym typeface="Lucida Grande" charset="0"/>
                  </a:rPr>
                  <a:t>Virtualization</a:t>
                </a:r>
              </a:p>
            </p:txBody>
          </p:sp>
        </p:grpSp>
        <p:sp>
          <p:nvSpPr>
            <p:cNvPr id="48" name="AutoShape 38"/>
            <p:cNvSpPr>
              <a:spLocks/>
            </p:cNvSpPr>
            <p:nvPr/>
          </p:nvSpPr>
          <p:spPr bwMode="auto">
            <a:xfrm rot="2639999">
              <a:off x="7153247" y="2719181"/>
              <a:ext cx="247650" cy="26789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 cap="flat">
              <a:solidFill>
                <a:srgbClr val="A9271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19999" dir="5400000" algn="ctr" rotWithShape="0">
                <a:schemeClr val="bg2">
                  <a:alpha val="37999"/>
                </a:schemeClr>
              </a:outerShdw>
            </a:effectLst>
          </p:spPr>
          <p:txBody>
            <a:bodyPr lIns="0" tIns="0" rIns="0" bIns="0"/>
            <a:lstStyle/>
            <a:p>
              <a:endParaRPr lang="zh-TW" altLang="en-US" sz="1350" b="1"/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9AEE7F4-32F8-FFB4-4DB1-7E76DC94D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91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Example: Server Virtualization</a:t>
            </a:r>
            <a:endParaRPr lang="zh-TW" altLang="en-US" dirty="0"/>
          </a:p>
        </p:txBody>
      </p:sp>
      <p:pic>
        <p:nvPicPr>
          <p:cNvPr id="1026" name="Picture 2" descr="Figure 1: Virtualization can drastically reduce the number of servers in a data 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703" y="937387"/>
            <a:ext cx="5346594" cy="332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261699" y="4264158"/>
            <a:ext cx="7163843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350" dirty="0"/>
              <a:t>http://www.energystar.gov/index.cfm?c=power_mgt.datacenter_efficiency_virtualization</a:t>
            </a:r>
            <a:endParaRPr lang="zh-TW" altLang="en-US" sz="135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A35513-35B9-2957-870B-959C75E23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23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1" y="108349"/>
            <a:ext cx="7739519" cy="519113"/>
          </a:xfrm>
        </p:spPr>
        <p:txBody>
          <a:bodyPr/>
          <a:lstStyle/>
          <a:p>
            <a:r>
              <a:rPr lang="en-US" altLang="zh-TW" dirty="0"/>
              <a:t>Benefits of Server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343" y="844153"/>
            <a:ext cx="7511143" cy="235624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can reduce data center energy expenses by 10%–40%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also improves scalability, reduces downtime, and enables faster deployments.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data center footprint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D62D80A-7C82-674A-201E-63A9EBB21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96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3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Example: Mobile Virtualization</a:t>
            </a:r>
            <a:endParaRPr lang="zh-TW" altLang="en-US" dirty="0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544864" y="991733"/>
            <a:ext cx="5372100" cy="1689497"/>
            <a:chOff x="0" y="0"/>
            <a:chExt cx="4512" cy="1419"/>
          </a:xfrm>
        </p:grpSpPr>
        <p:sp>
          <p:nvSpPr>
            <p:cNvPr id="6" name="Rectangle 11"/>
            <p:cNvSpPr>
              <a:spLocks/>
            </p:cNvSpPr>
            <p:nvPr/>
          </p:nvSpPr>
          <p:spPr bwMode="auto">
            <a:xfrm>
              <a:off x="1624" y="314"/>
              <a:ext cx="2888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/>
            <a:lstStyle/>
            <a:p>
              <a:pPr algn="l"/>
              <a:r>
                <a:rPr lang="en-US" altLang="zh-TW" sz="1600" dirty="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Gartner predict that by 2012, more than 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50%</a:t>
              </a:r>
              <a:r>
                <a:rPr lang="en-US" altLang="zh-TW" sz="1600" dirty="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 of new 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smart phones </a:t>
              </a:r>
              <a:r>
                <a:rPr lang="en-US" altLang="zh-TW" sz="1600" dirty="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shipped will be 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virtualized</a:t>
              </a:r>
            </a:p>
          </p:txBody>
        </p: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0" y="0"/>
              <a:ext cx="1490" cy="1419"/>
              <a:chOff x="0" y="0"/>
              <a:chExt cx="1490" cy="1419"/>
            </a:xfrm>
          </p:grpSpPr>
          <p:pic>
            <p:nvPicPr>
              <p:cNvPr id="8" name="Picture 1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490" cy="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Rectangle 13"/>
              <p:cNvSpPr>
                <a:spLocks/>
              </p:cNvSpPr>
              <p:nvPr/>
            </p:nvSpPr>
            <p:spPr bwMode="auto">
              <a:xfrm>
                <a:off x="214" y="1203"/>
                <a:ext cx="1072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28575" tIns="28575" rIns="28575" bIns="28575"/>
              <a:lstStyle/>
              <a:p>
                <a:pPr algn="l"/>
                <a:r>
                  <a:rPr lang="en-US" altLang="zh-TW" sz="1600">
                    <a:latin typeface="Times New Roman" panose="02020603050405020304" pitchFamily="18" charset="0"/>
                    <a:ea typeface="新細明體" charset="-120"/>
                    <a:cs typeface="Times New Roman" panose="02020603050405020304" pitchFamily="18" charset="0"/>
                    <a:sym typeface="Lucida Grande" charset="0"/>
                  </a:rPr>
                  <a:t>VMware MVP</a:t>
                </a:r>
              </a:p>
            </p:txBody>
          </p:sp>
        </p:grpSp>
      </p:grpSp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786411" y="2918789"/>
            <a:ext cx="5524481" cy="1445419"/>
            <a:chOff x="78" y="0"/>
            <a:chExt cx="4639" cy="1214"/>
          </a:xfrm>
        </p:grpSpPr>
        <p:pic>
          <p:nvPicPr>
            <p:cNvPr id="11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" y="0"/>
              <a:ext cx="1603" cy="1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2" name="Rectangle 17"/>
            <p:cNvSpPr>
              <a:spLocks/>
            </p:cNvSpPr>
            <p:nvPr/>
          </p:nvSpPr>
          <p:spPr bwMode="auto">
            <a:xfrm>
              <a:off x="78" y="247"/>
              <a:ext cx="288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/>
            <a:lstStyle/>
            <a:p>
              <a:pPr algn="l"/>
              <a:r>
                <a:rPr lang="en-US" altLang="zh-TW" sz="1600" dirty="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ARM 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Cortex-A15 </a:t>
              </a:r>
              <a:r>
                <a:rPr lang="en-US" altLang="zh-TW" sz="1600" dirty="0"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enables efficient handling of the complex software environments including full </a:t>
              </a:r>
              <a:r>
                <a:rPr lang="en-US" altLang="zh-TW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hardware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 </a:t>
              </a:r>
              <a:r>
                <a:rPr lang="en-US" altLang="zh-TW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新細明體" charset="-120"/>
                  <a:cs typeface="Times New Roman" panose="02020603050405020304" pitchFamily="18" charset="0"/>
                  <a:sym typeface="Lucida Grande" charset="0"/>
                </a:rPr>
                <a:t>virtualization</a:t>
              </a: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D4611AE-BBA5-4614-4F01-06883E001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90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1829" y="108349"/>
            <a:ext cx="7833861" cy="519113"/>
          </a:xfrm>
        </p:spPr>
        <p:txBody>
          <a:bodyPr/>
          <a:lstStyle/>
          <a:p>
            <a:r>
              <a:rPr lang="en-US" altLang="zh-TW" dirty="0"/>
              <a:t>Benefits of Mobile Virtualization</a:t>
            </a:r>
            <a:endParaRPr lang="zh-TW" altLang="en-US" dirty="0"/>
          </a:p>
        </p:txBody>
      </p:sp>
      <p:sp>
        <p:nvSpPr>
          <p:cNvPr id="4" name="Rectangle 10"/>
          <p:cNvSpPr txBox="1">
            <a:spLocks noChangeArrowheads="1"/>
          </p:cNvSpPr>
          <p:nvPr/>
        </p:nvSpPr>
        <p:spPr>
          <a:xfrm>
            <a:off x="902305" y="806419"/>
            <a:ext cx="5314326" cy="270398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 sz="2400" kern="120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Portability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OSes on a single chip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Dynamic Update of System Software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Legacy Code re-use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Protection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Manageability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02E5BD4-2BF8-CD97-36DC-9B57C1B3F63D}"/>
              </a:ext>
            </a:extLst>
          </p:cNvPr>
          <p:cNvGrpSpPr/>
          <p:nvPr/>
        </p:nvGrpSpPr>
        <p:grpSpPr>
          <a:xfrm>
            <a:off x="5211760" y="2649281"/>
            <a:ext cx="3425606" cy="1653140"/>
            <a:chOff x="5211760" y="2649281"/>
            <a:chExt cx="3425606" cy="1653140"/>
          </a:xfrm>
        </p:grpSpPr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5321906" y="4126750"/>
              <a:ext cx="3315460" cy="17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28575" tIns="28575" rIns="28575" bIns="28575"/>
            <a:lstStyle/>
            <a:p>
              <a:pPr algn="l"/>
              <a:r>
                <a:rPr lang="en-US" altLang="zh-TW" sz="900" dirty="0">
                  <a:latin typeface="Lucida Grande" charset="0"/>
                  <a:ea typeface="新細明體" charset="-120"/>
                  <a:sym typeface="Lucida Grande" charset="0"/>
                </a:rPr>
                <a:t>Reference : http://en.wikipedia.org/wiki/Embedded_Hypervisor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92695EE-A224-9363-FDAC-069851639CE7}"/>
                </a:ext>
              </a:extLst>
            </p:cNvPr>
            <p:cNvGrpSpPr/>
            <p:nvPr/>
          </p:nvGrpSpPr>
          <p:grpSpPr>
            <a:xfrm>
              <a:off x="5211760" y="2649281"/>
              <a:ext cx="3425606" cy="1511138"/>
              <a:chOff x="3218707" y="3293091"/>
              <a:chExt cx="3096306" cy="1243012"/>
            </a:xfrm>
          </p:grpSpPr>
          <p:grpSp>
            <p:nvGrpSpPr>
              <p:cNvPr id="6" name="Group 20"/>
              <p:cNvGrpSpPr>
                <a:grpSpLocks/>
              </p:cNvGrpSpPr>
              <p:nvPr/>
            </p:nvGrpSpPr>
            <p:grpSpPr bwMode="auto">
              <a:xfrm>
                <a:off x="3218707" y="3293091"/>
                <a:ext cx="1696531" cy="1243012"/>
                <a:chOff x="536" y="0"/>
                <a:chExt cx="1424" cy="1044"/>
              </a:xfrm>
            </p:grpSpPr>
            <p:grpSp>
              <p:nvGrpSpPr>
                <p:cNvPr id="7" name="Group 18"/>
                <p:cNvGrpSpPr>
                  <a:grpSpLocks/>
                </p:cNvGrpSpPr>
                <p:nvPr/>
              </p:nvGrpSpPr>
              <p:grpSpPr bwMode="auto">
                <a:xfrm>
                  <a:off x="714" y="0"/>
                  <a:ext cx="912" cy="829"/>
                  <a:chOff x="536" y="0"/>
                  <a:chExt cx="912" cy="829"/>
                </a:xfrm>
              </p:grpSpPr>
              <p:sp>
                <p:nvSpPr>
                  <p:cNvPr id="9" name="Rectangle 13"/>
                  <p:cNvSpPr>
                    <a:spLocks/>
                  </p:cNvSpPr>
                  <p:nvPr/>
                </p:nvSpPr>
                <p:spPr bwMode="auto">
                  <a:xfrm>
                    <a:off x="572" y="637"/>
                    <a:ext cx="424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P1</a:t>
                    </a:r>
                  </a:p>
                </p:txBody>
              </p:sp>
              <p:sp>
                <p:nvSpPr>
                  <p:cNvPr id="10" name="Rectangle 14"/>
                  <p:cNvSpPr>
                    <a:spLocks/>
                  </p:cNvSpPr>
                  <p:nvPr/>
                </p:nvSpPr>
                <p:spPr bwMode="auto">
                  <a:xfrm>
                    <a:off x="1030" y="637"/>
                    <a:ext cx="416" cy="192"/>
                  </a:xfrm>
                  <a:prstGeom prst="rect">
                    <a:avLst/>
                  </a:prstGeom>
                  <a:solidFill>
                    <a:srgbClr val="FF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P2</a:t>
                    </a:r>
                  </a:p>
                </p:txBody>
              </p:sp>
              <p:sp>
                <p:nvSpPr>
                  <p:cNvPr id="11" name="Rectangle 15"/>
                  <p:cNvSpPr>
                    <a:spLocks/>
                  </p:cNvSpPr>
                  <p:nvPr/>
                </p:nvSpPr>
                <p:spPr bwMode="auto">
                  <a:xfrm>
                    <a:off x="536" y="232"/>
                    <a:ext cx="912" cy="336"/>
                  </a:xfrm>
                  <a:prstGeom prst="rect">
                    <a:avLst/>
                  </a:prstGeom>
                  <a:solidFill>
                    <a:srgbClr val="FFD7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chemeClr val="tx1"/>
                        </a:solidFill>
                        <a:miter lim="800000"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28575" tIns="28575" rIns="28575" bIns="28575"/>
                  <a:lstStyle/>
                  <a:p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Embedded</a:t>
                    </a:r>
                    <a:endParaRPr lang="en-US" altLang="zh-TW" sz="1350" dirty="0">
                      <a:latin typeface="Lucida Grande" charset="0"/>
                      <a:ea typeface="新細明體" charset="-120"/>
                      <a:sym typeface="Lucida Grande" charset="0"/>
                    </a:endParaRPr>
                  </a:p>
                  <a:p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Hypervisor</a:t>
                    </a:r>
                  </a:p>
                </p:txBody>
              </p:sp>
              <p:sp>
                <p:nvSpPr>
                  <p:cNvPr id="12" name="Rectangle 16"/>
                  <p:cNvSpPr>
                    <a:spLocks/>
                  </p:cNvSpPr>
                  <p:nvPr/>
                </p:nvSpPr>
                <p:spPr bwMode="auto">
                  <a:xfrm>
                    <a:off x="537" y="0"/>
                    <a:ext cx="344" cy="204"/>
                  </a:xfrm>
                  <a:prstGeom prst="rect">
                    <a:avLst/>
                  </a:prstGeom>
                  <a:solidFill>
                    <a:srgbClr val="B0BCD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l"/>
                    <a:r>
                      <a:rPr lang="en-US" altLang="zh-TW" sz="1200" dirty="0">
                        <a:latin typeface="Lucida Grande" charset="0"/>
                        <a:ea typeface="新細明體" charset="-120"/>
                        <a:sym typeface="Lucida Grande" charset="0"/>
                      </a:rPr>
                      <a:t>Linux</a:t>
                    </a:r>
                  </a:p>
                </p:txBody>
              </p:sp>
              <p:sp>
                <p:nvSpPr>
                  <p:cNvPr id="13" name="Rectangle 17"/>
                  <p:cNvSpPr>
                    <a:spLocks/>
                  </p:cNvSpPr>
                  <p:nvPr/>
                </p:nvSpPr>
                <p:spPr bwMode="auto">
                  <a:xfrm>
                    <a:off x="1005" y="0"/>
                    <a:ext cx="349" cy="204"/>
                  </a:xfrm>
                  <a:prstGeom prst="rect">
                    <a:avLst/>
                  </a:prstGeom>
                  <a:solidFill>
                    <a:srgbClr val="FED9A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rnd">
                        <a:solidFill>
                          <a:schemeClr val="tx1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wrap="none" lIns="28575" tIns="28575" rIns="28575" bIns="28575">
                    <a:spAutoFit/>
                  </a:bodyPr>
                  <a:lstStyle/>
                  <a:p>
                    <a:pPr algn="l"/>
                    <a:r>
                      <a:rPr lang="en-US" altLang="zh-TW" sz="1200">
                        <a:latin typeface="Lucida Grande" charset="0"/>
                        <a:ea typeface="新細明體" charset="-120"/>
                        <a:sym typeface="Lucida Grande" charset="0"/>
                      </a:rPr>
                      <a:t>RTOS</a:t>
                    </a:r>
                  </a:p>
                </p:txBody>
              </p:sp>
            </p:grpSp>
            <p:sp>
              <p:nvSpPr>
                <p:cNvPr id="8" name="Rectangle 19"/>
                <p:cNvSpPr>
                  <a:spLocks/>
                </p:cNvSpPr>
                <p:nvPr/>
              </p:nvSpPr>
              <p:spPr bwMode="auto">
                <a:xfrm>
                  <a:off x="536" y="860"/>
                  <a:ext cx="1424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l"/>
                  <a:r>
                    <a:rPr lang="en-US" altLang="zh-TW" sz="1050">
                      <a:latin typeface="Lucida Grande" charset="0"/>
                      <a:ea typeface="新細明體" charset="-120"/>
                      <a:sym typeface="Lucida Grande" charset="0"/>
                    </a:rPr>
                    <a:t>multiple operating systems </a:t>
                  </a:r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5010192" y="3293091"/>
                <a:ext cx="1304821" cy="1228726"/>
                <a:chOff x="0" y="0"/>
                <a:chExt cx="1095" cy="1031"/>
              </a:xfrm>
            </p:grpSpPr>
            <p:sp>
              <p:nvSpPr>
                <p:cNvPr id="15" name="Rectangle 21"/>
                <p:cNvSpPr>
                  <a:spLocks/>
                </p:cNvSpPr>
                <p:nvPr/>
              </p:nvSpPr>
              <p:spPr bwMode="auto">
                <a:xfrm>
                  <a:off x="18" y="232"/>
                  <a:ext cx="1000" cy="336"/>
                </a:xfrm>
                <a:prstGeom prst="rect">
                  <a:avLst/>
                </a:prstGeom>
                <a:solidFill>
                  <a:srgbClr val="FFD7C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Embedded</a:t>
                  </a:r>
                  <a:endParaRPr lang="en-US" altLang="zh-TW" sz="1350">
                    <a:latin typeface="Lucida Grande" charset="0"/>
                    <a:ea typeface="新細明體" charset="-120"/>
                    <a:sym typeface="Lucida Grande" charset="0"/>
                  </a:endParaRPr>
                </a:p>
                <a:p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Hypervisor</a:t>
                  </a:r>
                </a:p>
              </p:txBody>
            </p:sp>
            <p:sp>
              <p:nvSpPr>
                <p:cNvPr id="16" name="Rectangle 22"/>
                <p:cNvSpPr>
                  <a:spLocks/>
                </p:cNvSpPr>
                <p:nvPr/>
              </p:nvSpPr>
              <p:spPr bwMode="auto">
                <a:xfrm>
                  <a:off x="16" y="0"/>
                  <a:ext cx="344" cy="203"/>
                </a:xfrm>
                <a:prstGeom prst="rect">
                  <a:avLst/>
                </a:prstGeom>
                <a:solidFill>
                  <a:srgbClr val="B0BC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l"/>
                  <a:r>
                    <a:rPr lang="en-US" altLang="zh-TW" sz="1200" dirty="0">
                      <a:latin typeface="Lucida Grande" charset="0"/>
                      <a:ea typeface="新細明體" charset="-120"/>
                      <a:sym typeface="Lucida Grande" charset="0"/>
                    </a:rPr>
                    <a:t>Linux</a:t>
                  </a:r>
                </a:p>
              </p:txBody>
            </p:sp>
            <p:sp>
              <p:nvSpPr>
                <p:cNvPr id="17" name="Rectangle 23"/>
                <p:cNvSpPr>
                  <a:spLocks/>
                </p:cNvSpPr>
                <p:nvPr/>
              </p:nvSpPr>
              <p:spPr bwMode="auto">
                <a:xfrm>
                  <a:off x="473" y="0"/>
                  <a:ext cx="498" cy="203"/>
                </a:xfrm>
                <a:prstGeom prst="rect">
                  <a:avLst/>
                </a:prstGeom>
                <a:solidFill>
                  <a:srgbClr val="EA62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l"/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Security</a:t>
                  </a:r>
                </a:p>
              </p:txBody>
            </p:sp>
            <p:sp>
              <p:nvSpPr>
                <p:cNvPr id="18" name="Rectangle 24"/>
                <p:cNvSpPr>
                  <a:spLocks/>
                </p:cNvSpPr>
                <p:nvPr/>
              </p:nvSpPr>
              <p:spPr bwMode="auto">
                <a:xfrm>
                  <a:off x="0" y="847"/>
                  <a:ext cx="1095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28575" tIns="28575" rIns="28575" bIns="28575">
                  <a:spAutoFit/>
                </a:bodyPr>
                <a:lstStyle/>
                <a:p>
                  <a:pPr algn="l"/>
                  <a:r>
                    <a:rPr lang="en-US" altLang="zh-TW" sz="1050" dirty="0">
                      <a:latin typeface="Lucida Grande" charset="0"/>
                      <a:ea typeface="新細明體" charset="-120"/>
                      <a:sym typeface="Lucida Grande" charset="0"/>
                    </a:rPr>
                    <a:t>security environment</a:t>
                  </a:r>
                </a:p>
              </p:txBody>
            </p:sp>
            <p:sp>
              <p:nvSpPr>
                <p:cNvPr id="19" name="Rectangle 25"/>
                <p:cNvSpPr>
                  <a:spLocks/>
                </p:cNvSpPr>
                <p:nvPr/>
              </p:nvSpPr>
              <p:spPr bwMode="auto">
                <a:xfrm>
                  <a:off x="80" y="637"/>
                  <a:ext cx="424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P1</a:t>
                  </a:r>
                </a:p>
              </p:txBody>
            </p:sp>
            <p:sp>
              <p:nvSpPr>
                <p:cNvPr id="20" name="Rectangle 26"/>
                <p:cNvSpPr>
                  <a:spLocks/>
                </p:cNvSpPr>
                <p:nvPr/>
              </p:nvSpPr>
              <p:spPr bwMode="auto">
                <a:xfrm>
                  <a:off x="538" y="637"/>
                  <a:ext cx="416" cy="19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28575" tIns="28575" rIns="28575" bIns="28575"/>
                <a:lstStyle/>
                <a:p>
                  <a:r>
                    <a:rPr lang="en-US" altLang="zh-TW" sz="1200">
                      <a:latin typeface="Lucida Grande" charset="0"/>
                      <a:ea typeface="新細明體" charset="-120"/>
                      <a:sym typeface="Lucida Grande" charset="0"/>
                    </a:rPr>
                    <a:t>P2</a:t>
                  </a:r>
                </a:p>
              </p:txBody>
            </p:sp>
          </p:grpSp>
        </p:grp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C40AB54-1C65-612E-9127-101FF6FD7E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90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Virtualization Techniques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2914" y="844153"/>
            <a:ext cx="5348515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3D9194E-8EEB-64F7-02C2-80420E7D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14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2286" y="108349"/>
            <a:ext cx="7623404" cy="519113"/>
          </a:xfrm>
        </p:spPr>
        <p:txBody>
          <a:bodyPr/>
          <a:lstStyle/>
          <a:p>
            <a:r>
              <a:rPr lang="en-US" altLang="zh-TW" dirty="0"/>
              <a:t>Virtualization Techniques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96578" y="815521"/>
            <a:ext cx="6539537" cy="3512457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GPU Virtualization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Virtual Desktop Infrastructure (VDI)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EyeOS</a:t>
            </a:r>
            <a:endParaRPr lang="en-US" altLang="zh-TW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Support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 VT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SRIOV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MRIOV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0A3DF65-04F8-B5CB-F038-2A6584B7F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87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8914" y="108349"/>
            <a:ext cx="7746776" cy="519113"/>
          </a:xfrm>
        </p:spPr>
        <p:txBody>
          <a:bodyPr/>
          <a:lstStyle/>
          <a:p>
            <a:r>
              <a:rPr lang="en-US" altLang="zh-TW" dirty="0"/>
              <a:t>Virtual Machine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4229" y="844153"/>
            <a:ext cx="7249885" cy="367188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 machine (VM) is a software implementation of a machine that executes programs like a physical machine. Virtual machines are separated into two major classifications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virtual machine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provides a complete system platform which supports the execution of a complete operating system (OS)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virtual machine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designed to run a single program, which means that it supports a single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2D26A52-8ECF-CE81-BE4A-3DABA9095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61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429" y="108349"/>
            <a:ext cx="7732261" cy="519113"/>
          </a:xfrm>
        </p:spPr>
        <p:txBody>
          <a:bodyPr/>
          <a:lstStyle/>
          <a:p>
            <a:r>
              <a:rPr lang="en-US" altLang="zh-TW" dirty="0"/>
              <a:t>Virtual Machine (2/2)</a:t>
            </a:r>
            <a:endParaRPr lang="zh-TW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A2CCAE-99B0-8C5C-F6E2-9E940BA04E1A}"/>
              </a:ext>
            </a:extLst>
          </p:cNvPr>
          <p:cNvGrpSpPr/>
          <p:nvPr/>
        </p:nvGrpSpPr>
        <p:grpSpPr>
          <a:xfrm>
            <a:off x="1352235" y="1131080"/>
            <a:ext cx="6715300" cy="3244337"/>
            <a:chOff x="2364738" y="2158991"/>
            <a:chExt cx="5669296" cy="2534861"/>
          </a:xfrm>
        </p:grpSpPr>
        <p:sp>
          <p:nvSpPr>
            <p:cNvPr id="4" name="矩形 3"/>
            <p:cNvSpPr/>
            <p:nvPr/>
          </p:nvSpPr>
          <p:spPr>
            <a:xfrm>
              <a:off x="2675493" y="2904630"/>
              <a:ext cx="1296144" cy="43204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System VM</a:t>
              </a:r>
              <a:endParaRPr lang="zh-TW" altLang="en-US" sz="20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814695" y="2889803"/>
              <a:ext cx="129614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Process VM</a:t>
              </a:r>
              <a:endParaRPr lang="zh-TW" altLang="en-US" sz="2000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711544" y="2355726"/>
              <a:ext cx="1502447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Program</a:t>
              </a:r>
              <a:endParaRPr lang="zh-TW" altLang="en-US" sz="2000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2409205" y="2471604"/>
              <a:ext cx="2522846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Guest Operating System</a:t>
              </a:r>
              <a:endParaRPr lang="zh-TW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55892" y="2158991"/>
              <a:ext cx="2008803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Guest  Applications</a:t>
              </a:r>
              <a:endParaRPr lang="zh-TW" altLang="en-US" sz="2000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448684" y="3420040"/>
              <a:ext cx="2161673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Java Virtual Machine</a:t>
              </a:r>
              <a:endParaRPr lang="zh-TW" altLang="en-US" sz="20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956446" y="3446710"/>
              <a:ext cx="950296" cy="3126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/>
                <a:t>VMware</a:t>
              </a:r>
              <a:endParaRPr lang="zh-TW" altLang="en-US" sz="2000" dirty="0"/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V="1">
              <a:off x="3323565" y="3921900"/>
              <a:ext cx="0" cy="432048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2364738" y="4381239"/>
              <a:ext cx="5669296" cy="312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This course we will focus on the system virtualization</a:t>
              </a:r>
              <a:endParaRPr lang="zh-TW" altLang="en-US" sz="2000" b="1" dirty="0"/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A922C03-DF60-9177-21BA-4811E40DF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80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2629" y="108349"/>
            <a:ext cx="7783061" cy="519113"/>
          </a:xfrm>
        </p:spPr>
        <p:txBody>
          <a:bodyPr/>
          <a:lstStyle/>
          <a:p>
            <a:r>
              <a:rPr lang="en-US" altLang="zh-TW" dirty="0"/>
              <a:t>System Virtual 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2630" y="844153"/>
            <a:ext cx="7518400" cy="2798933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 machine is controlled by a hypervisor or VMM (Virtual Machine Monitor)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hypervisor or VMM is a software to provide a hardware emulation interface including CPU, memory, I/O by multiplexing host resources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12D3B27-5EFE-DA64-33F0-5C32FD1E6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22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5371" y="108349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5200" y="844153"/>
            <a:ext cx="7329714" cy="367188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their 1974 article "Formal Requirements for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Virtualizable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Third Generation Architectures" Gerald J.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Popek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Robert P. Goldberg classified two types of hypervisor: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1 hypervisor : Bare metal type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2 hypervisor : Hosted type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B65B6D-525B-861C-EC5C-0AF86F0DE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98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5371" y="108349"/>
            <a:ext cx="7790319" cy="519113"/>
          </a:xfrm>
        </p:spPr>
        <p:txBody>
          <a:bodyPr/>
          <a:lstStyle/>
          <a:p>
            <a:r>
              <a:rPr lang="en-US" altLang="zh-TW" dirty="0"/>
              <a:t>Two Types of Hypervisor (2/2)</a:t>
            </a:r>
            <a:endParaRPr lang="zh-TW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F00F23-83DC-E97F-0816-683A7AB96162}"/>
              </a:ext>
            </a:extLst>
          </p:cNvPr>
          <p:cNvGrpSpPr/>
          <p:nvPr/>
        </p:nvGrpSpPr>
        <p:grpSpPr>
          <a:xfrm>
            <a:off x="2005028" y="933643"/>
            <a:ext cx="4916233" cy="3692119"/>
            <a:chOff x="2140043" y="1491630"/>
            <a:chExt cx="4916233" cy="3692119"/>
          </a:xfrm>
        </p:grpSpPr>
        <p:pic>
          <p:nvPicPr>
            <p:cNvPr id="4100" name="Picture 4" descr="http://upload.wikimedia.org/wikipedia/commons/e/e1/Hyperviseu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3778" y="1491630"/>
              <a:ext cx="4482498" cy="2798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2140043" y="4360447"/>
              <a:ext cx="265566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b-NO" altLang="zh-TW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1</a:t>
              </a:r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(or </a:t>
              </a:r>
              <a:r>
                <a:rPr lang="nb-NO" altLang="zh-TW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native</a:t>
              </a:r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bare metal) </a:t>
              </a:r>
            </a:p>
            <a:p>
              <a:pPr algn="ctr"/>
              <a:r>
                <a:rPr lang="nb-NO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058054" y="4360448"/>
              <a:ext cx="17227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2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(or </a:t>
              </a:r>
              <a:r>
                <a:rPr lang="en-US" altLang="zh-TW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hosted</a:t>
              </a:r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</a:p>
            <a:p>
              <a:pPr algn="ctr"/>
              <a:r>
                <a:rPr lang="en-US" altLang="zh-TW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hypervisors</a:t>
              </a:r>
              <a:endPara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954794" y="4845195"/>
              <a:ext cx="346229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http://en.wikipedia.org/wiki/Hypervisor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F30CD2D-7817-13F6-00A0-D93E1371D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61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Purposes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8550" y="878115"/>
            <a:ext cx="6946900" cy="334327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all sensitive instructions by emulation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guest physical memory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guest virtual address to host virtual address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Virtualization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Emulate I/O devices for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Keyboard, UART, Storage and Network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7FC3016-9C24-F07B-0025-24FF149E6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263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4686" y="0"/>
            <a:ext cx="6172200" cy="756084"/>
          </a:xfrm>
        </p:spPr>
        <p:txBody>
          <a:bodyPr>
            <a:normAutofit/>
          </a:bodyPr>
          <a:lstStyle/>
          <a:p>
            <a:r>
              <a:rPr lang="en-US" altLang="zh-TW" dirty="0"/>
              <a:t>Implementations of Hypervisor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286" y="844153"/>
            <a:ext cx="7779657" cy="3671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wholly emulated virtual machine makes guest operating system binary can be executed directly without modifying guest source code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efficiency, it needs hardware-assisted virtualization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Para-Virtualization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Hypercalls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defined and used in a guest operating system to make a virtual machine abstraction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literature, it’s most efficient way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Pre-Virtualization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compiling technique, guest operating system binary or source could be compiled for virtualization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57331B7-56E5-0DAC-E1AE-A59197D3A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52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8557" y="99657"/>
            <a:ext cx="7700675" cy="519113"/>
          </a:xfrm>
        </p:spPr>
        <p:txBody>
          <a:bodyPr/>
          <a:lstStyle/>
          <a:p>
            <a:r>
              <a:rPr lang="en-US" altLang="zh-TW" dirty="0"/>
              <a:t>Hypervisor Case: KVM</a:t>
            </a:r>
            <a:endParaRPr lang="zh-TW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BBA13B2-B0CF-ACC4-8C9B-5CA5E5C2441A}"/>
              </a:ext>
            </a:extLst>
          </p:cNvPr>
          <p:cNvGrpSpPr/>
          <p:nvPr/>
        </p:nvGrpSpPr>
        <p:grpSpPr>
          <a:xfrm>
            <a:off x="1287127" y="792791"/>
            <a:ext cx="6274816" cy="3879735"/>
            <a:chOff x="1458686" y="1380954"/>
            <a:chExt cx="6274816" cy="3879735"/>
          </a:xfrm>
        </p:grpSpPr>
        <p:sp>
          <p:nvSpPr>
            <p:cNvPr id="4" name="AutoShape 10"/>
            <p:cNvSpPr>
              <a:spLocks/>
            </p:cNvSpPr>
            <p:nvPr/>
          </p:nvSpPr>
          <p:spPr bwMode="auto">
            <a:xfrm>
              <a:off x="2470715" y="3396962"/>
              <a:ext cx="4795502" cy="67297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endParaRPr lang="zh-TW" altLang="en-US" sz="1350">
                <a:ea typeface="新細明體" charset="-120"/>
              </a:endParaRPr>
            </a:p>
          </p:txBody>
        </p:sp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2582240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CPU</a:t>
              </a:r>
            </a:p>
          </p:txBody>
        </p:sp>
        <p:sp>
          <p:nvSpPr>
            <p:cNvPr id="6" name="Rectangle 13"/>
            <p:cNvSpPr>
              <a:spLocks/>
            </p:cNvSpPr>
            <p:nvPr/>
          </p:nvSpPr>
          <p:spPr bwMode="auto">
            <a:xfrm>
              <a:off x="3456159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</a:p>
          </p:txBody>
        </p:sp>
        <p:sp>
          <p:nvSpPr>
            <p:cNvPr id="7" name="Rectangle 14"/>
            <p:cNvSpPr>
              <a:spLocks/>
            </p:cNvSpPr>
            <p:nvPr/>
          </p:nvSpPr>
          <p:spPr bwMode="auto">
            <a:xfrm>
              <a:off x="5282577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</a:p>
          </p:txBody>
        </p:sp>
        <p:sp>
          <p:nvSpPr>
            <p:cNvPr id="8" name="Rectangle 15"/>
            <p:cNvSpPr>
              <a:spLocks/>
            </p:cNvSpPr>
            <p:nvPr/>
          </p:nvSpPr>
          <p:spPr bwMode="auto">
            <a:xfrm>
              <a:off x="4364606" y="3457773"/>
              <a:ext cx="74697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Timer</a:t>
              </a:r>
            </a:p>
          </p:txBody>
        </p:sp>
        <p:sp>
          <p:nvSpPr>
            <p:cNvPr id="9" name="Rectangle 16"/>
            <p:cNvSpPr>
              <a:spLocks/>
            </p:cNvSpPr>
            <p:nvPr/>
          </p:nvSpPr>
          <p:spPr bwMode="auto">
            <a:xfrm>
              <a:off x="6202518" y="3457773"/>
              <a:ext cx="904964" cy="55134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solidFill>
                    <a:schemeClr val="tx1"/>
                  </a:solidFill>
                  <a:latin typeface="Lucida Grande" charset="0"/>
                  <a:ea typeface="新細明體" charset="-120"/>
                  <a:sym typeface="Lucida Grande" charset="0"/>
                </a:rPr>
                <a:t>Interrupt</a:t>
              </a:r>
            </a:p>
          </p:txBody>
        </p:sp>
        <p:sp>
          <p:nvSpPr>
            <p:cNvPr id="10" name="Rectangle 17"/>
            <p:cNvSpPr>
              <a:spLocks/>
            </p:cNvSpPr>
            <p:nvPr/>
          </p:nvSpPr>
          <p:spPr bwMode="auto">
            <a:xfrm>
              <a:off x="1544802" y="3556226"/>
              <a:ext cx="834834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Hardware</a:t>
              </a:r>
            </a:p>
          </p:txBody>
        </p:sp>
        <p:sp>
          <p:nvSpPr>
            <p:cNvPr id="11" name="Rectangle 18"/>
            <p:cNvSpPr>
              <a:spLocks/>
            </p:cNvSpPr>
            <p:nvPr/>
          </p:nvSpPr>
          <p:spPr bwMode="auto">
            <a:xfrm>
              <a:off x="3339178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CPU Virtualization</a:t>
              </a:r>
            </a:p>
          </p:txBody>
        </p:sp>
        <p:sp>
          <p:nvSpPr>
            <p:cNvPr id="12" name="Rectangle 19"/>
            <p:cNvSpPr>
              <a:spLocks/>
            </p:cNvSpPr>
            <p:nvPr/>
          </p:nvSpPr>
          <p:spPr bwMode="auto">
            <a:xfrm>
              <a:off x="5170732" y="2688630"/>
              <a:ext cx="1326662" cy="551348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MMU</a:t>
              </a:r>
              <a:endParaRPr lang="en-US" altLang="zh-TW" sz="1350" dirty="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 dirty="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3" name="Rectangle 20"/>
            <p:cNvSpPr>
              <a:spLocks/>
            </p:cNvSpPr>
            <p:nvPr/>
          </p:nvSpPr>
          <p:spPr bwMode="auto">
            <a:xfrm>
              <a:off x="2670420" y="1971793"/>
              <a:ext cx="1326662" cy="552700"/>
            </a:xfrm>
            <a:prstGeom prst="rect">
              <a:avLst/>
            </a:prstGeom>
            <a:solidFill>
              <a:srgbClr val="CC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lIns="28575" tIns="28575" rIns="28575" bIns="28575" anchor="ctr"/>
            <a:lstStyle/>
            <a:p>
              <a:pPr algn="ctr"/>
              <a:r>
                <a:rPr lang="en-US" altLang="zh-TW" sz="1350">
                  <a:latin typeface="Lucida Grande" charset="0"/>
                  <a:ea typeface="新細明體" charset="-120"/>
                  <a:sym typeface="Lucida Grande" charset="0"/>
                </a:rPr>
                <a:t>I/O</a:t>
              </a:r>
              <a:endParaRPr lang="en-US" altLang="zh-TW" sz="1350">
                <a:solidFill>
                  <a:srgbClr val="FFFFFF"/>
                </a:solidFill>
                <a:latin typeface="Lucida Grande" charset="0"/>
                <a:ea typeface="新細明體" charset="-120"/>
                <a:sym typeface="Lucida Grande" charset="0"/>
              </a:endParaRPr>
            </a:p>
            <a:p>
              <a:pPr algn="ctr"/>
              <a:r>
                <a:rPr lang="en-US" altLang="zh-TW" sz="1350">
                  <a:latin typeface="Lucida Grande" charset="0"/>
                  <a:ea typeface="新細明體" charset="-120"/>
                  <a:sym typeface="Lucida Grande" charset="0"/>
                </a:rPr>
                <a:t>Virtualization</a:t>
              </a:r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2609957" y="1727534"/>
              <a:ext cx="18735" cy="1546332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 flipH="1">
              <a:off x="2628707" y="3273866"/>
              <a:ext cx="447951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H="1">
              <a:off x="7094872" y="2298007"/>
              <a:ext cx="38843" cy="97530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4122434" y="2305887"/>
              <a:ext cx="3004158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4096941" y="1667853"/>
              <a:ext cx="0" cy="678376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 flipH="1">
              <a:off x="2591308" y="1708193"/>
              <a:ext cx="1475360" cy="0"/>
            </a:xfrm>
            <a:prstGeom prst="line">
              <a:avLst/>
            </a:prstGeom>
            <a:noFill/>
            <a:ln w="38100" cap="flat">
              <a:solidFill>
                <a:srgbClr val="64A73B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3000" dir="5400000" algn="ctr" rotWithShape="0">
                <a:schemeClr val="bg2">
                  <a:alpha val="34999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zh-TW" altLang="en-US" sz="1350"/>
            </a:p>
          </p:txBody>
        </p:sp>
        <p:grpSp>
          <p:nvGrpSpPr>
            <p:cNvPr id="20" name="Group 29"/>
            <p:cNvGrpSpPr>
              <a:grpSpLocks/>
            </p:cNvGrpSpPr>
            <p:nvPr/>
          </p:nvGrpSpPr>
          <p:grpSpPr bwMode="auto">
            <a:xfrm>
              <a:off x="4281392" y="1424730"/>
              <a:ext cx="1044370" cy="782430"/>
              <a:chOff x="0" y="0"/>
              <a:chExt cx="899" cy="578"/>
            </a:xfrm>
          </p:grpSpPr>
          <p:sp>
            <p:nvSpPr>
              <p:cNvPr id="21" name="AutoShape 27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2" name="Rectangle 28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0</a:t>
                </a:r>
              </a:p>
            </p:txBody>
          </p:sp>
        </p:grpSp>
        <p:grpSp>
          <p:nvGrpSpPr>
            <p:cNvPr id="23" name="Group 32"/>
            <p:cNvGrpSpPr>
              <a:grpSpLocks/>
            </p:cNvGrpSpPr>
            <p:nvPr/>
          </p:nvGrpSpPr>
          <p:grpSpPr bwMode="auto">
            <a:xfrm>
              <a:off x="5506545" y="1424730"/>
              <a:ext cx="1044370" cy="782430"/>
              <a:chOff x="0" y="0"/>
              <a:chExt cx="899" cy="578"/>
            </a:xfrm>
          </p:grpSpPr>
          <p:sp>
            <p:nvSpPr>
              <p:cNvPr id="24" name="AutoShape 30"/>
              <p:cNvSpPr>
                <a:spLocks/>
              </p:cNvSpPr>
              <p:nvPr/>
            </p:nvSpPr>
            <p:spPr bwMode="auto">
              <a:xfrm>
                <a:off x="0" y="0"/>
                <a:ext cx="899" cy="578"/>
              </a:xfrm>
              <a:prstGeom prst="roundRect">
                <a:avLst>
                  <a:gd name="adj" fmla="val 16667"/>
                </a:avLst>
              </a:prstGeom>
              <a:solidFill>
                <a:srgbClr val="F4F8CD"/>
              </a:solidFill>
              <a:ln w="25400">
                <a:solidFill>
                  <a:srgbClr val="B87419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zh-TW" altLang="en-US" sz="1350">
                  <a:ea typeface="新細明體" charset="-120"/>
                </a:endParaRPr>
              </a:p>
            </p:txBody>
          </p:sp>
          <p:sp>
            <p:nvSpPr>
              <p:cNvPr id="25" name="Rectangle 31"/>
              <p:cNvSpPr>
                <a:spLocks/>
              </p:cNvSpPr>
              <p:nvPr/>
            </p:nvSpPr>
            <p:spPr bwMode="auto">
              <a:xfrm>
                <a:off x="29" y="181"/>
                <a:ext cx="84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8575" tIns="28575" rIns="28575" bIns="28575" anchor="ctr"/>
              <a:lstStyle/>
              <a:p>
                <a:pPr algn="ctr"/>
                <a:r>
                  <a:rPr lang="en-US" altLang="zh-TW" sz="1350">
                    <a:latin typeface="Lucida Grande" charset="0"/>
                    <a:ea typeface="新細明體" charset="-120"/>
                    <a:sym typeface="Lucida Grande" charset="0"/>
                  </a:rPr>
                  <a:t>VM 1</a:t>
                </a:r>
              </a:p>
            </p:txBody>
          </p:sp>
        </p:grpSp>
        <p:sp>
          <p:nvSpPr>
            <p:cNvPr id="26" name="Rectangle 33"/>
            <p:cNvSpPr>
              <a:spLocks/>
            </p:cNvSpPr>
            <p:nvPr/>
          </p:nvSpPr>
          <p:spPr bwMode="auto">
            <a:xfrm>
              <a:off x="1458686" y="2387601"/>
              <a:ext cx="1058487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latin typeface="Lucida Grande" charset="0"/>
                  <a:ea typeface="新細明體" charset="-120"/>
                  <a:sym typeface="Lucida Grande" charset="0"/>
                </a:rPr>
                <a:t>Hypervisor</a:t>
              </a:r>
            </a:p>
          </p:txBody>
        </p:sp>
        <p:sp>
          <p:nvSpPr>
            <p:cNvPr id="27" name="Rectangle 34"/>
            <p:cNvSpPr>
              <a:spLocks/>
            </p:cNvSpPr>
            <p:nvPr/>
          </p:nvSpPr>
          <p:spPr bwMode="auto">
            <a:xfrm>
              <a:off x="3041054" y="1380954"/>
              <a:ext cx="795359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pPr algn="l"/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QEMU</a:t>
              </a:r>
            </a:p>
          </p:txBody>
        </p:sp>
        <p:sp>
          <p:nvSpPr>
            <p:cNvPr id="29" name="Rectangle 36"/>
            <p:cNvSpPr>
              <a:spLocks/>
            </p:cNvSpPr>
            <p:nvPr/>
          </p:nvSpPr>
          <p:spPr bwMode="auto">
            <a:xfrm>
              <a:off x="4281884" y="2340980"/>
              <a:ext cx="1402198" cy="265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28575" tIns="28575" rIns="28575" bIns="28575">
              <a:spAutoFit/>
            </a:bodyPr>
            <a:lstStyle/>
            <a:p>
              <a:r>
                <a:rPr lang="en-US" altLang="zh-TW" sz="1350" b="1" dirty="0">
                  <a:solidFill>
                    <a:srgbClr val="C00000"/>
                  </a:solidFill>
                  <a:latin typeface="Lucida Grande" charset="0"/>
                  <a:ea typeface="新細明體" charset="-120"/>
                  <a:sym typeface="Lucida Grande" charset="0"/>
                </a:rPr>
                <a:t>Linux + KVM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2267958" y="4129610"/>
              <a:ext cx="5465544" cy="1131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CPU and memory virtualizations are handled in the Linux Kernel Space 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I/O virtualization is handled in the Linux User Space by QEMU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type 2 virtual machine</a:t>
              </a:r>
            </a:p>
            <a:p>
              <a:pPr marL="257175" indent="-257175">
                <a:buFont typeface="+mj-lt"/>
                <a:buAutoNum type="arabicPeriod"/>
              </a:pPr>
              <a:r>
                <a:rPr lang="en-US" altLang="zh-TW" sz="1350" dirty="0"/>
                <a:t>It’s a full virtualization implementation</a:t>
              </a: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A28C4903-027C-635A-566A-7ECCED2AA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26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7C1822-EA05-5EF7-C66E-2306CFE4C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8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342" y="108349"/>
            <a:ext cx="7819348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LVM(1/2)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1571" y="806669"/>
            <a:ext cx="7220858" cy="712932"/>
          </a:xfrm>
        </p:spPr>
        <p:txBody>
          <a:bodyPr>
            <a:no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logical volume manager for the Linux kernel; it manages disk drives and similar mass-storage devices.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55D18-7216-091E-2FDD-10D6FFD648E4}"/>
              </a:ext>
            </a:extLst>
          </p:cNvPr>
          <p:cNvGrpSpPr/>
          <p:nvPr/>
        </p:nvGrpSpPr>
        <p:grpSpPr>
          <a:xfrm>
            <a:off x="2829720" y="1596571"/>
            <a:ext cx="3360623" cy="2992215"/>
            <a:chOff x="2802194" y="1275607"/>
            <a:chExt cx="3834426" cy="3442013"/>
          </a:xfrm>
        </p:grpSpPr>
        <p:pic>
          <p:nvPicPr>
            <p:cNvPr id="17410" name="Picture 2" descr="http://bobcares.com/images/lvm_internal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2194" y="1275607"/>
              <a:ext cx="3834426" cy="3195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3408491" y="4417538"/>
              <a:ext cx="2258952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350" b="1" dirty="0"/>
                <a:t> Logical Volume Manager</a:t>
              </a:r>
              <a:endParaRPr lang="zh-TW" altLang="en-US" sz="1350" b="1" dirty="0"/>
            </a:p>
          </p:txBody>
        </p:sp>
      </p:grp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519866AF-040F-18FF-C3BB-FA094C641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67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4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LVM(2/2) :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1656" y="868586"/>
            <a:ext cx="7663543" cy="815071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partition -&gt; physical volumes -&gt; volume group -&gt; logical volumes -&gt; file systems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http://www.tuxradar.com/files/LXF112.tut_adv.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10" y="1786896"/>
            <a:ext cx="6656933" cy="275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62A422A-9581-2B6A-F64B-008BD9E23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7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6171" y="108349"/>
            <a:ext cx="7739519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RAID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6171" y="840178"/>
            <a:ext cx="7150100" cy="2672280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(redundant array of independent disks) is a storage technology that combines multiple disk drive components into a logical unit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distributed across the drives in one of several ways called "RAID levels“, such as RAID0, RAID1, etc., depending on the level of redundancy and performance required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94FC6AA-ED4B-0E30-814D-DCAA03DF8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607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7943" y="108349"/>
            <a:ext cx="7717747" cy="519113"/>
          </a:xfrm>
        </p:spPr>
        <p:txBody>
          <a:bodyPr/>
          <a:lstStyle/>
          <a:p>
            <a:r>
              <a:rPr lang="en-US" altLang="zh-TW" dirty="0"/>
              <a:t>Example : RAID 0 and RAID 1</a:t>
            </a:r>
            <a:endParaRPr lang="zh-TW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D6BA773-F20A-6338-3AD4-C8C71AF76373}"/>
              </a:ext>
            </a:extLst>
          </p:cNvPr>
          <p:cNvGrpSpPr/>
          <p:nvPr/>
        </p:nvGrpSpPr>
        <p:grpSpPr>
          <a:xfrm>
            <a:off x="311109" y="833448"/>
            <a:ext cx="4505707" cy="3665290"/>
            <a:chOff x="515257" y="739105"/>
            <a:chExt cx="4505707" cy="3665290"/>
          </a:xfrm>
        </p:grpSpPr>
        <p:pic>
          <p:nvPicPr>
            <p:cNvPr id="18434" name="Picture 2" descr="File:RAID 0.sv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902" y="739105"/>
              <a:ext cx="2000922" cy="3078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515257" y="3688814"/>
              <a:ext cx="4505707" cy="715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provides improved performance and additional storage but no fault tolerance (block-level striping without parity or mirroring) . 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5C04029-B0FA-A9D7-508A-51E9D212BA67}"/>
              </a:ext>
            </a:extLst>
          </p:cNvPr>
          <p:cNvGrpSpPr/>
          <p:nvPr/>
        </p:nvGrpSpPr>
        <p:grpSpPr>
          <a:xfrm>
            <a:off x="5407984" y="833448"/>
            <a:ext cx="2627642" cy="3313799"/>
            <a:chOff x="5052385" y="1042657"/>
            <a:chExt cx="2627642" cy="3313799"/>
          </a:xfrm>
        </p:grpSpPr>
        <p:pic>
          <p:nvPicPr>
            <p:cNvPr id="18436" name="Picture 4" descr="File:RAID 1.sv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692" y="1042657"/>
              <a:ext cx="2056443" cy="31637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5052385" y="4056374"/>
              <a:ext cx="2627642" cy="300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mirroring without parity or striping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687BA76D-8DE7-0E9C-F79A-3927E9393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699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94229" y="108349"/>
            <a:ext cx="7681461" cy="519113"/>
          </a:xfrm>
        </p:spPr>
        <p:txBody>
          <a:bodyPr/>
          <a:lstStyle/>
          <a:p>
            <a:r>
              <a:rPr lang="en-US" altLang="zh-TW" dirty="0"/>
              <a:t>LVM and RIAD for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4399" y="844153"/>
            <a:ext cx="7561944" cy="367188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provides a virtual storage systems which is flexible to partition and allocate logical volumes to virtual machines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not only improves storage performance but has fault tolerance capability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Leaning how to configure LVM and RAID in the virtualization system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EF16210-DB97-34D3-2D8E-4446AE622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519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81C3F9-8066-9960-AAF3-7CAA2613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891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(1/2)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00172" y="827314"/>
            <a:ext cx="6975428" cy="3164115"/>
          </a:xfrm>
        </p:spPr>
        <p:txBody>
          <a:bodyPr>
            <a:norm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approach to building computer networks that separates and abstracts elements of these systems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decouples the system that makes decisions about where traffic is sent (the control plane) from the underlying system that forwards traffic to the selected destination (the data plane)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786560-52AA-099B-AB2A-3392F230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77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8114" y="108349"/>
            <a:ext cx="7797576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Software Defined Network (2/2)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8114" y="899079"/>
            <a:ext cx="7178628" cy="268594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inventors and vendors of these systems claim that this technology simplifies networking and enables new applications, such as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 in which the control plane is separated from the data plane and implemented in a software application.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6ADBB87-3AFA-D0E3-436D-4FD89B298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174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343" y="108349"/>
            <a:ext cx="7819347" cy="519113"/>
          </a:xfrm>
        </p:spPr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343" y="844154"/>
            <a:ext cx="7692572" cy="3277904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flexible, multi-layer software network switch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Typically used in virtualization environments as the network switching component in the hypervisor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the logical state of a virtual machine's network connection across physical hosts when a virtual machine is migrated, and it can be managed and monitored by standard protocols such as: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OpenFlow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NetFlow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sFlow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SPAN, RSPAN.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1CBBAE6-408D-D33C-02AE-769EFD3B7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20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718457" y="829616"/>
            <a:ext cx="7874000" cy="123141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comes to virtualization, open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vSwitch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attractive because it provides the ability for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controller to manage your virtual network across all your servers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2" name="Picture 2" descr="open vswit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984" y="2061028"/>
            <a:ext cx="3818930" cy="254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77A6C85D-EAD5-E3ED-94B0-053E952FF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931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Virtualization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105736" y="897391"/>
            <a:ext cx="6932528" cy="2890838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switched fabric communications link used in high-performance computing and enterprise data centers.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two key features : low latency and high bandwidth</a:t>
            </a:r>
          </a:p>
          <a:p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zh-TW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big benefits to data centers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BA99A53E-CC1D-F08D-D065-13FD3A8A8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526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50BE8F-6106-8E17-1F0A-A15002A1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157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7" y="108349"/>
            <a:ext cx="7804833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What Is GPU (Graphics processing unit)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1086" y="829649"/>
            <a:ext cx="7381827" cy="1196023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Graphics Processing Units (GPUs) are high-performance many-core processors capable of very high computation and data throughput.</a:t>
            </a:r>
          </a:p>
        </p:txBody>
      </p:sp>
      <p:pic>
        <p:nvPicPr>
          <p:cNvPr id="2050" name="Picture 2" descr="https://encrypted-tbn1.gstatic.com/images?q=tbn:ANd9GcQ8KuAvXmzjJs6jCraVgl2QXhl7c6ofGHViGXpwQ8TJss6kGN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313" y="2447198"/>
            <a:ext cx="3019374" cy="205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21D9793-B552-307C-2CB2-48B374B63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933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8114" y="108349"/>
            <a:ext cx="7797576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Performance Comparison: GPU vs. CPU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7029" y="809724"/>
            <a:ext cx="7026800" cy="101907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Intel Core I7 980X (extreme edition) gives us around 110GFLOPS,  GPUs such as AMD Radeon 6970 and NVidia C2090 offer more than 660GFLOPS.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://3.bp.blogspot.com/-CMJkP4H8_tE/TfOYpCqBe7I/AAAAAAAAA9E/sBjmlolpCDg/s1600/chart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943" y="1915884"/>
            <a:ext cx="4231062" cy="261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9B69390-24CE-B6CE-51FF-E71F2AE7D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721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/>
          <a:lstStyle/>
          <a:p>
            <a:r>
              <a:rPr lang="en-US" altLang="zh-TW" dirty="0"/>
              <a:t>GPGPU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456" y="844153"/>
            <a:ext cx="7416801" cy="33432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of modern Graphics Processing Units may be utilized not only for graphics related application but also for general computing.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GPUs are general-purpose parallel processors with support for accessible programming interfaces and industry-standard languages such as C. 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who port their applications to GPUs often achieve speedups of orders of magnitude vs. optimized CPU implementations. 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6D975B6-97FC-E4E6-DE8B-37615DECC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36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657" y="108349"/>
            <a:ext cx="7754033" cy="519113"/>
          </a:xfrm>
        </p:spPr>
        <p:txBody>
          <a:bodyPr/>
          <a:lstStyle/>
          <a:p>
            <a:r>
              <a:rPr lang="en-US" altLang="zh-TW" dirty="0"/>
              <a:t>GPU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9256" y="844153"/>
            <a:ext cx="7917543" cy="120961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 allows multiple virtual machines to interact directly with a GPU and manages the GPU resources so multiple users can share common hardware, while improving user density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hart showing synergy between Kepler technology and NVIDIA VGX Hypervi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84" y="2181375"/>
            <a:ext cx="3426859" cy="226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429910D-D277-9ABB-7BD4-A604038BF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607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Software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24C90A-F1F5-4686-A067-F994E940C5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144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Software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9772" y="853881"/>
            <a:ext cx="7004456" cy="3333490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administrators have a lot to deal with in today’s corporate infrastructure. With the ever increasing prices of upgrading desktop computers, software virtualization is becoming very appealing. 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following features: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Management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02FD9CD-155D-D045-1C5B-D4C6D025E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376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0857" y="108349"/>
            <a:ext cx="7804833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Virtual Desktop Infrastructure (VDI)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4356" y="785123"/>
            <a:ext cx="6990443" cy="1435561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desktop Infrastructure (VDI) is a desktop-centric service that hosts users desktop environments on remote servers, which are accessed over a network using a remote display protocol.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http://mythoughtsonit.com/wp-content/uploads/2012/10/vd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19" y="2220683"/>
            <a:ext cx="3177069" cy="23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78F1DA7-932E-CE92-0030-321A6072F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003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2318" y="108349"/>
            <a:ext cx="7743372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EyeOS</a:t>
            </a:r>
            <a:r>
              <a:rPr lang="en-US" altLang="zh-TW" dirty="0"/>
              <a:t> : Web Desktop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0314" y="833874"/>
            <a:ext cx="7743372" cy="1152106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eyeOS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desktop following the cloud computing concept that seeks to enable collaboration and communication among users. It is mainly written in PHP, XML, and JavaScript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File:EyeOS-2.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371" y="2078644"/>
            <a:ext cx="3947886" cy="24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A07BDC2-8DD3-FEE1-07A8-C70AE37DE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695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1684735" y="1383618"/>
            <a:ext cx="5829300" cy="1921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System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Storage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Network Virtualization	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GPU Virtualization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 Virtualization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Hardware Support  Virtualization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4F0DB-F821-2F0F-BA4A-8C261AFA1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684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83" y="858608"/>
            <a:ext cx="323865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429" y="108349"/>
            <a:ext cx="7732261" cy="519113"/>
          </a:xfrm>
        </p:spPr>
        <p:txBody>
          <a:bodyPr/>
          <a:lstStyle/>
          <a:p>
            <a:r>
              <a:rPr lang="en-US" altLang="zh-TW" dirty="0"/>
              <a:t>Intel VT-x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6777" y="858608"/>
            <a:ext cx="4164368" cy="3394472"/>
          </a:xfrm>
        </p:spPr>
        <p:txBody>
          <a:bodyPr/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CPU Operating Mode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VMX Root Operation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Non-Root Operation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Transitions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entry to Guest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exit to VMM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Control Structure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by VMM software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2575406-1D5F-8409-46D6-731E0F5BB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036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7143" y="108349"/>
            <a:ext cx="7768547" cy="519113"/>
          </a:xfrm>
        </p:spPr>
        <p:txBody>
          <a:bodyPr/>
          <a:lstStyle/>
          <a:p>
            <a:r>
              <a:rPr lang="en-US" altLang="zh-TW" dirty="0"/>
              <a:t>ARM Virtualization Extension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779354"/>
            <a:ext cx="8355013" cy="204367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world supports a single virtual machine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Non-secure level of privilege to hold Hypervisor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mode applies to normal world</a:t>
            </a:r>
          </a:p>
          <a:p>
            <a:pPr lvl="1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is used by the Hypervisor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given same kernel/user privilege structure as for a non virtualized environment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mode controls transition between worlds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629" y="2877271"/>
            <a:ext cx="4263347" cy="1671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64A5C0E-ED98-7669-4291-6B9C17971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495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Single-Root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6548" y="787385"/>
            <a:ext cx="8019142" cy="1048671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PCI-SIG specifies multiple functional elements addressing performance and security aspects of I/O virtualization</a:t>
            </a:r>
          </a:p>
          <a:p>
            <a:r>
              <a:rPr lang="en-US" altLang="zh-TW" sz="2000" dirty="0" err="1"/>
              <a:t>PCIe</a:t>
            </a:r>
            <a:r>
              <a:rPr lang="en-US" altLang="zh-TW" sz="2000" dirty="0"/>
              <a:t> devices will have multiple virtual functions (VF’s)</a:t>
            </a:r>
            <a:endParaRPr lang="zh-TW" altLang="en-US" sz="2000" dirty="0"/>
          </a:p>
        </p:txBody>
      </p:sp>
      <p:pic>
        <p:nvPicPr>
          <p:cNvPr id="10243" name="Picture 3" descr="\\vmware-host\Shared Folders\Desktop\Virtualization\SRIO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51" y="1959994"/>
            <a:ext cx="3034477" cy="256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F486E5D-F5CD-088B-81D1-C4011F03D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05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Multi-Root I/O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6260" y="848150"/>
            <a:ext cx="6434473" cy="697623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hardware domains utilizing same IO endpoints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dedicated to virtual machines</a:t>
            </a:r>
          </a:p>
        </p:txBody>
      </p:sp>
      <p:pic>
        <p:nvPicPr>
          <p:cNvPr id="12290" name="Picture 2" descr="\\vmware-host\Shared Folders\Desktop\Virtualization\MRIO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771" y="1545773"/>
            <a:ext cx="3512458" cy="294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EA4B6C3-0607-134E-4B53-B1CF4BBAC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1813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2516</TotalTime>
  <Words>1743</Words>
  <Application>Microsoft Office PowerPoint</Application>
  <PresentationFormat>全屏显示(16:9)</PresentationFormat>
  <Paragraphs>338</Paragraphs>
  <Slides>47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4" baseType="lpstr">
      <vt:lpstr>Lucida Grande</vt:lpstr>
      <vt:lpstr>MS Sans Serif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Outline</vt:lpstr>
      <vt:lpstr>Introduction</vt:lpstr>
      <vt:lpstr>Multiple VMs in One Machine</vt:lpstr>
      <vt:lpstr>Performance of Virtualizations </vt:lpstr>
      <vt:lpstr>History of Virtualization</vt:lpstr>
      <vt:lpstr>Example: Server Virtualization</vt:lpstr>
      <vt:lpstr>Benefits of Server Virtualization</vt:lpstr>
      <vt:lpstr>Example: Mobile Virtualization</vt:lpstr>
      <vt:lpstr>Benefits of Mobile Virtualization</vt:lpstr>
      <vt:lpstr>Virtualization Techniques (1/2)</vt:lpstr>
      <vt:lpstr>Virtualization Techniques (2/2)</vt:lpstr>
      <vt:lpstr>Virtualization Techniques</vt:lpstr>
      <vt:lpstr>Virtual Machine (1/2)</vt:lpstr>
      <vt:lpstr>Virtual Machine (2/2)</vt:lpstr>
      <vt:lpstr>System Virtual Machine</vt:lpstr>
      <vt:lpstr>Two Types of Hypervisor (1/2)</vt:lpstr>
      <vt:lpstr>Two Types of Hypervisor (2/2)</vt:lpstr>
      <vt:lpstr>Purposes of Hypervisor</vt:lpstr>
      <vt:lpstr>Implementations of Hypervisor</vt:lpstr>
      <vt:lpstr>Hypervisor Case: KVM</vt:lpstr>
      <vt:lpstr>Virtualization Techniques</vt:lpstr>
      <vt:lpstr>LVM(1/2) </vt:lpstr>
      <vt:lpstr>LVM(2/2) : Example</vt:lpstr>
      <vt:lpstr>RAID</vt:lpstr>
      <vt:lpstr>Example : RAID 0 and RAID 1</vt:lpstr>
      <vt:lpstr>LVM and RIAD for Virtualization</vt:lpstr>
      <vt:lpstr>Virtualization Techniques</vt:lpstr>
      <vt:lpstr>Software Defined Network (1/2) </vt:lpstr>
      <vt:lpstr>Software Defined Network (2/2) </vt:lpstr>
      <vt:lpstr>Open vSwitch (1/2)</vt:lpstr>
      <vt:lpstr>Open vSwitch (2/2)</vt:lpstr>
      <vt:lpstr>InfiniBand Virtualization</vt:lpstr>
      <vt:lpstr>Virtualization Techniques</vt:lpstr>
      <vt:lpstr>What Is GPU (Graphics processing unit)</vt:lpstr>
      <vt:lpstr>Performance Comparison: GPU vs. CPU</vt:lpstr>
      <vt:lpstr>GPGPU</vt:lpstr>
      <vt:lpstr>GPU Virtualization</vt:lpstr>
      <vt:lpstr>Virtualization Techniques</vt:lpstr>
      <vt:lpstr>Software Virtualization</vt:lpstr>
      <vt:lpstr>Virtual Desktop Infrastructure (VDI)</vt:lpstr>
      <vt:lpstr>EyeOS : Web Desktop Virtualization</vt:lpstr>
      <vt:lpstr>Virtualization Techniques</vt:lpstr>
      <vt:lpstr>Intel VT-x</vt:lpstr>
      <vt:lpstr>ARM Virtualization Extension</vt:lpstr>
      <vt:lpstr>Single-Root I/O Virtualization</vt:lpstr>
      <vt:lpstr>Multi-Root I/O Virtualization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2023-10-13T20:11:15Z</dcterms:modified>
</cp:coreProperties>
</file>