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8"/>
  </p:notesMasterIdLst>
  <p:handoutMasterIdLst>
    <p:handoutMasterId r:id="rId49"/>
  </p:handoutMasterIdLst>
  <p:sldIdLst>
    <p:sldId id="256" r:id="rId2"/>
    <p:sldId id="453" r:id="rId3"/>
    <p:sldId id="454" r:id="rId4"/>
    <p:sldId id="499" r:id="rId5"/>
    <p:sldId id="455" r:id="rId6"/>
    <p:sldId id="456" r:id="rId7"/>
    <p:sldId id="457" r:id="rId8"/>
    <p:sldId id="471" r:id="rId9"/>
    <p:sldId id="473" r:id="rId10"/>
    <p:sldId id="472" r:id="rId11"/>
    <p:sldId id="474" r:id="rId12"/>
    <p:sldId id="477" r:id="rId13"/>
    <p:sldId id="476" r:id="rId14"/>
    <p:sldId id="475" r:id="rId15"/>
    <p:sldId id="478" r:id="rId16"/>
    <p:sldId id="479" r:id="rId17"/>
    <p:sldId id="480" r:id="rId18"/>
    <p:sldId id="481" r:id="rId19"/>
    <p:sldId id="482" r:id="rId20"/>
    <p:sldId id="483" r:id="rId21"/>
    <p:sldId id="484" r:id="rId22"/>
    <p:sldId id="485" r:id="rId23"/>
    <p:sldId id="486" r:id="rId24"/>
    <p:sldId id="501" r:id="rId25"/>
    <p:sldId id="502" r:id="rId26"/>
    <p:sldId id="452" r:id="rId27"/>
    <p:sldId id="460" r:id="rId28"/>
    <p:sldId id="461" r:id="rId29"/>
    <p:sldId id="462" r:id="rId30"/>
    <p:sldId id="487" r:id="rId31"/>
    <p:sldId id="464" r:id="rId32"/>
    <p:sldId id="490" r:id="rId33"/>
    <p:sldId id="488" r:id="rId34"/>
    <p:sldId id="465" r:id="rId35"/>
    <p:sldId id="491" r:id="rId36"/>
    <p:sldId id="466" r:id="rId37"/>
    <p:sldId id="467" r:id="rId38"/>
    <p:sldId id="468" r:id="rId39"/>
    <p:sldId id="469" r:id="rId40"/>
    <p:sldId id="500" r:id="rId41"/>
    <p:sldId id="470" r:id="rId42"/>
    <p:sldId id="493" r:id="rId43"/>
    <p:sldId id="494" r:id="rId44"/>
    <p:sldId id="492" r:id="rId45"/>
    <p:sldId id="495" r:id="rId46"/>
    <p:sldId id="496" r:id="rId47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339" y="38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2023/10/15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2023/10/15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>
                <a:solidFill>
                  <a:prstClr val="black"/>
                </a:solidFill>
              </a:rPr>
              <a:pPr/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>
                <a:solidFill>
                  <a:prstClr val="black"/>
                </a:solidFill>
              </a:rPr>
              <a:pPr/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>
                <a:solidFill>
                  <a:prstClr val="black"/>
                </a:solidFill>
              </a:rPr>
              <a:pPr/>
              <a:t>7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3936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>
                <a:solidFill>
                  <a:prstClr val="black"/>
                </a:solidFill>
              </a:rPr>
              <a:pPr/>
              <a:t>9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>
                <a:solidFill>
                  <a:prstClr val="black"/>
                </a:solidFill>
              </a:rPr>
              <a:pPr/>
              <a:t>13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>
                <a:solidFill>
                  <a:prstClr val="black"/>
                </a:solidFill>
              </a:rPr>
              <a:pPr/>
              <a:t>26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>
                <a:solidFill>
                  <a:prstClr val="black"/>
                </a:solidFill>
              </a:rPr>
              <a:pPr/>
              <a:t>30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>
                <a:solidFill>
                  <a:prstClr val="black"/>
                </a:solidFill>
              </a:rPr>
              <a:pPr/>
              <a:t>33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>
                <a:solidFill>
                  <a:prstClr val="black"/>
                </a:solidFill>
              </a:rPr>
              <a:pPr/>
              <a:t>35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>
                <a:solidFill>
                  <a:prstClr val="black"/>
                </a:solidFill>
              </a:rPr>
              <a:pPr/>
              <a:t>40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C67FEB8-36D3-4CC5-9713-36EE82A172D2}"/>
              </a:ext>
            </a:extLst>
          </p:cNvPr>
          <p:cNvSpPr/>
          <p:nvPr userDrawn="1"/>
        </p:nvSpPr>
        <p:spPr>
          <a:xfrm>
            <a:off x="669958" y="4681829"/>
            <a:ext cx="21921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香港中文大学（深圳）数据科学院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CUHK-SZ School of Data Science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cisig.com/developers/main/training_materials/get_document?doc_id=4717c70ea2fe2f92dcbc4560a39cba8129af32c1" TargetMode="External"/><Relationship Id="rId2" Type="http://schemas.openxmlformats.org/officeDocument/2006/relationships/hyperlink" Target="http://www.mindshare.com/files/ebooks/PCI%20System%20Architecture%20(4th%20Edition).pdf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://ieeexplore.ieee.org/xpls/abs_all.jsp?arnumber=5416637&amp;tag=1" TargetMode="External"/><Relationship Id="rId4" Type="http://schemas.openxmlformats.org/officeDocument/2006/relationships/hyperlink" Target="http://www.intel.com/content/dam/doc/application-note/pci-sig-sr-iov-primer-sr-iov-technology-paper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6003" y="826534"/>
            <a:ext cx="8547653" cy="1307066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6032</a:t>
            </a: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Advanced Operating Systems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</a:t>
            </a:r>
            <a:r>
              <a:rPr lang="en-US" altLang="zh-CN" sz="2400" dirty="0"/>
              <a:t>Data </a:t>
            </a:r>
            <a:r>
              <a:rPr lang="en-US" altLang="zh-TW" sz="2400" dirty="0"/>
              <a:t>Science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1650" y="1028700"/>
            <a:ext cx="5829300" cy="1428750"/>
          </a:xfrm>
        </p:spPr>
        <p:txBody>
          <a:bodyPr>
            <a:normAutofit/>
          </a:bodyPr>
          <a:lstStyle/>
          <a:p>
            <a:r>
              <a:rPr lang="zh-TW" alt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虛擬化技術</a:t>
            </a:r>
            <a:br>
              <a:rPr lang="en-US" altLang="zh-TW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TW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Virtualization Techniques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3718" y="2400300"/>
            <a:ext cx="4938582" cy="1771650"/>
          </a:xfrm>
        </p:spPr>
        <p:txBody>
          <a:bodyPr>
            <a:normAutofit/>
          </a:bodyPr>
          <a:lstStyle/>
          <a:p>
            <a:pPr algn="ctr"/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</a:rPr>
              <a:t>Hardware Support Virtualization</a:t>
            </a:r>
          </a:p>
          <a:p>
            <a:pPr algn="ctr"/>
            <a:r>
              <a:rPr lang="en-US" altLang="zh-TW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</a:rPr>
              <a:t>SR-IOV</a:t>
            </a:r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</a:endParaRPr>
          </a:p>
          <a:p>
            <a:pPr algn="ctr"/>
            <a:endParaRPr lang="en-US" altLang="zh-TW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</a:endParaRPr>
          </a:p>
          <a:p>
            <a:pPr algn="ctr"/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76199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Agenda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331640" y="1221601"/>
            <a:ext cx="3024336" cy="3394472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/>
              <a:t>Overview</a:t>
            </a:r>
          </a:p>
          <a:p>
            <a:pPr lvl="1"/>
            <a:r>
              <a:rPr lang="en-US" altLang="zh-TW" dirty="0"/>
              <a:t>Introduction</a:t>
            </a:r>
          </a:p>
          <a:p>
            <a:pPr lvl="2"/>
            <a:r>
              <a:rPr lang="en-US" altLang="zh-TW" dirty="0"/>
              <a:t>Memory Virtualization</a:t>
            </a:r>
          </a:p>
          <a:p>
            <a:pPr lvl="2"/>
            <a:r>
              <a:rPr lang="en-US" altLang="zh-TW" dirty="0"/>
              <a:t>Storage Virtualization</a:t>
            </a:r>
          </a:p>
          <a:p>
            <a:pPr lvl="2"/>
            <a:r>
              <a:rPr lang="en-US" altLang="zh-TW" dirty="0"/>
              <a:t>Servers Virtualization</a:t>
            </a:r>
          </a:p>
          <a:p>
            <a:pPr lvl="2"/>
            <a:r>
              <a:rPr lang="en-US" altLang="zh-TW" dirty="0"/>
              <a:t>I/O Virtualization</a:t>
            </a:r>
          </a:p>
          <a:p>
            <a:pPr lvl="2"/>
            <a:endParaRPr lang="en-US" altLang="zh-TW" dirty="0"/>
          </a:p>
          <a:p>
            <a:r>
              <a:rPr lang="en-US" altLang="zh-TW" dirty="0" err="1"/>
              <a:t>PCIe</a:t>
            </a:r>
            <a:r>
              <a:rPr lang="en-US" altLang="zh-TW" dirty="0"/>
              <a:t> Virtualization</a:t>
            </a:r>
          </a:p>
          <a:p>
            <a:pPr lvl="1"/>
            <a:r>
              <a:rPr lang="en-US" altLang="zh-TW" dirty="0"/>
              <a:t>Motivation</a:t>
            </a:r>
          </a:p>
          <a:p>
            <a:pPr lvl="1"/>
            <a:r>
              <a:rPr lang="en-US" altLang="zh-TW" dirty="0"/>
              <a:t>Directed I/O</a:t>
            </a:r>
          </a:p>
          <a:p>
            <a:pPr lvl="1"/>
            <a:r>
              <a:rPr lang="en-US" altLang="zh-TW" dirty="0" err="1"/>
              <a:t>PCIe</a:t>
            </a:r>
            <a:r>
              <a:rPr lang="en-US" altLang="zh-TW" dirty="0"/>
              <a:t> Architecture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half" idx="2"/>
          </p:nvPr>
        </p:nvSpPr>
        <p:spPr>
          <a:xfrm>
            <a:off x="3977934" y="1200151"/>
            <a:ext cx="4023066" cy="3394472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/>
              <a:t>SR-IOV</a:t>
            </a:r>
          </a:p>
          <a:p>
            <a:pPr lvl="1"/>
            <a:r>
              <a:rPr lang="en-US" altLang="zh-TW" dirty="0"/>
              <a:t>Architecture Supporting SR-IOV Capability</a:t>
            </a:r>
          </a:p>
          <a:p>
            <a:pPr lvl="1"/>
            <a:r>
              <a:rPr lang="en-US" altLang="zh-TW" dirty="0"/>
              <a:t>ARI – Alternative Routing ID Interpretation</a:t>
            </a:r>
          </a:p>
          <a:p>
            <a:pPr lvl="1"/>
            <a:r>
              <a:rPr lang="en-US" altLang="zh-TW" dirty="0"/>
              <a:t>ACS Access Control Services</a:t>
            </a:r>
          </a:p>
          <a:p>
            <a:pPr lvl="1"/>
            <a:r>
              <a:rPr lang="en-US" altLang="zh-TW" dirty="0"/>
              <a:t>ATS - Address Translation Service</a:t>
            </a:r>
          </a:p>
          <a:p>
            <a:pPr lvl="1"/>
            <a:r>
              <a:rPr lang="en-US" altLang="zh-TW" dirty="0"/>
              <a:t>Theory of Operations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75769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Overview</a:t>
            </a:r>
          </a:p>
        </p:txBody>
      </p:sp>
      <p:sp>
        <p:nvSpPr>
          <p:cNvPr id="8" name="文字版面配置區 7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altLang="zh-TW" dirty="0"/>
              <a:t>Memory Virtualization</a:t>
            </a:r>
          </a:p>
          <a:p>
            <a:r>
              <a:rPr lang="en-US" altLang="zh-TW" dirty="0"/>
              <a:t>Storage Virtualization</a:t>
            </a:r>
          </a:p>
          <a:p>
            <a:r>
              <a:rPr lang="en-US" altLang="zh-TW" dirty="0"/>
              <a:t>Servers Virtualization</a:t>
            </a:r>
          </a:p>
          <a:p>
            <a:r>
              <a:rPr lang="en-US" altLang="zh-TW" dirty="0"/>
              <a:t>I/O Virtualization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80211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Overview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485900" y="1200150"/>
            <a:ext cx="6164442" cy="3801870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 dirty="0"/>
              <a:t>Memory Virtualization</a:t>
            </a:r>
          </a:p>
          <a:p>
            <a:pPr lvl="1"/>
            <a:r>
              <a:rPr lang="en-US" altLang="zh-TW" dirty="0"/>
              <a:t>Uses memory more effectively</a:t>
            </a:r>
          </a:p>
          <a:p>
            <a:pPr lvl="1"/>
            <a:r>
              <a:rPr lang="en-US" altLang="zh-TW" dirty="0"/>
              <a:t>Was revolutionary, but now is assumed </a:t>
            </a:r>
          </a:p>
          <a:p>
            <a:pPr lvl="1"/>
            <a:endParaRPr lang="zh-TW" altLang="en-US" dirty="0"/>
          </a:p>
          <a:p>
            <a:r>
              <a:rPr lang="en-US" altLang="zh-TW" dirty="0"/>
              <a:t>Storage Virtualization</a:t>
            </a:r>
          </a:p>
          <a:p>
            <a:pPr lvl="1"/>
            <a:r>
              <a:rPr lang="en-US" altLang="zh-TW" dirty="0"/>
              <a:t>Presents storage resources in ways not bound to the underlying hardware characteristics</a:t>
            </a:r>
          </a:p>
          <a:p>
            <a:pPr lvl="1"/>
            <a:r>
              <a:rPr lang="en-US" altLang="zh-TW" dirty="0"/>
              <a:t>Fairly common now 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Servers Virtualization</a:t>
            </a:r>
          </a:p>
          <a:p>
            <a:pPr lvl="1"/>
            <a:r>
              <a:rPr lang="en-US" altLang="zh-TW" dirty="0"/>
              <a:t>Increases typically under-utilized CPU resources</a:t>
            </a:r>
          </a:p>
          <a:p>
            <a:pPr lvl="1"/>
            <a:r>
              <a:rPr lang="en-US" altLang="zh-TW" dirty="0"/>
              <a:t>Becoming more common</a:t>
            </a:r>
          </a:p>
        </p:txBody>
      </p:sp>
    </p:spTree>
    <p:extLst>
      <p:ext uri="{BB962C8B-B14F-4D97-AF65-F5344CB8AC3E}">
        <p14:creationId xmlns:p14="http://schemas.microsoft.com/office/powerpoint/2010/main" val="3457908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Overview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I/O Virtualization</a:t>
            </a:r>
          </a:p>
          <a:p>
            <a:pPr lvl="1"/>
            <a:r>
              <a:rPr lang="en-US" altLang="zh-TW" dirty="0"/>
              <a:t>Virtualizing the I/O path between a server and an external device</a:t>
            </a:r>
          </a:p>
          <a:p>
            <a:pPr lvl="1"/>
            <a:r>
              <a:rPr lang="en-US" altLang="zh-TW" dirty="0"/>
              <a:t>Can apply to anything that uses an adapter in a server, such as:</a:t>
            </a:r>
          </a:p>
          <a:p>
            <a:pPr lvl="2"/>
            <a:r>
              <a:rPr lang="en-US" altLang="zh-TW" dirty="0"/>
              <a:t>Ethernet Network Interface Cards (NICs)</a:t>
            </a:r>
          </a:p>
          <a:p>
            <a:pPr lvl="2"/>
            <a:r>
              <a:rPr lang="en-US" altLang="zh-TW" dirty="0"/>
              <a:t>Disk Controllers (including RAID controllers)</a:t>
            </a:r>
          </a:p>
          <a:p>
            <a:pPr lvl="2"/>
            <a:r>
              <a:rPr lang="en-US" altLang="zh-TW" dirty="0" err="1"/>
              <a:t>Fibre</a:t>
            </a:r>
            <a:r>
              <a:rPr lang="en-US" altLang="zh-TW" dirty="0"/>
              <a:t> Channel Host Bus Adapters (HBAs)</a:t>
            </a:r>
          </a:p>
          <a:p>
            <a:pPr lvl="2"/>
            <a:r>
              <a:rPr lang="en-US" altLang="zh-TW" dirty="0"/>
              <a:t>Graphics/Video cards or co-processors</a:t>
            </a:r>
          </a:p>
          <a:p>
            <a:pPr lvl="2"/>
            <a:r>
              <a:rPr lang="en-US" altLang="zh-TW" dirty="0"/>
              <a:t>SSDs mounted on internal cards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18550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PCIe</a:t>
            </a:r>
            <a:r>
              <a:rPr lang="en-US" altLang="zh-TW" dirty="0"/>
              <a:t> I/O Virtualization</a:t>
            </a:r>
          </a:p>
        </p:txBody>
      </p:sp>
      <p:sp>
        <p:nvSpPr>
          <p:cNvPr id="8" name="文字版面配置區 7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dirty="0"/>
              <a:t>Motivation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Directed I/O</a:t>
            </a:r>
          </a:p>
          <a:p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</a:rPr>
              <a:t>PCIe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</a:rPr>
              <a:t>Architecuture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3019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Motivation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43000" y="897564"/>
            <a:ext cx="6858000" cy="4245936"/>
          </a:xfrm>
        </p:spPr>
        <p:txBody>
          <a:bodyPr/>
          <a:lstStyle/>
          <a:p>
            <a:r>
              <a:rPr lang="en-US" altLang="zh-TW" dirty="0"/>
              <a:t>I/O Virtualization Solutions</a:t>
            </a:r>
          </a:p>
          <a:p>
            <a:pPr lvl="1"/>
            <a:r>
              <a:rPr lang="en-US" altLang="zh-TW" dirty="0"/>
              <a:t>A - Software only </a:t>
            </a:r>
          </a:p>
          <a:p>
            <a:pPr lvl="1"/>
            <a:r>
              <a:rPr lang="en-US" altLang="zh-TW" dirty="0"/>
              <a:t>B - Directed  I/O </a:t>
            </a:r>
            <a:r>
              <a:rPr lang="en-US" altLang="zh-TW" b="1" dirty="0"/>
              <a:t>(enhance performance)</a:t>
            </a:r>
          </a:p>
          <a:p>
            <a:pPr lvl="1"/>
            <a:r>
              <a:rPr lang="en-US" altLang="zh-TW" dirty="0"/>
              <a:t>C – Directed I/O and Device Sharing </a:t>
            </a:r>
            <a:r>
              <a:rPr lang="en-US" altLang="zh-TW" b="1" dirty="0"/>
              <a:t>(resource saving)</a:t>
            </a:r>
            <a:endParaRPr lang="zh-TW" altLang="en-US" b="1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5506681" y="2464943"/>
            <a:ext cx="111601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50" dirty="0">
                <a:solidFill>
                  <a:schemeClr val="bg1"/>
                </a:solidFill>
              </a:rPr>
              <a:t>Virtual Machine</a:t>
            </a:r>
            <a:endParaRPr lang="zh-TW" altLang="en-US" sz="1050" dirty="0">
              <a:solidFill>
                <a:schemeClr val="bg1"/>
              </a:solidFill>
            </a:endParaRPr>
          </a:p>
        </p:txBody>
      </p:sp>
      <p:grpSp>
        <p:nvGrpSpPr>
          <p:cNvPr id="136" name="群組 135"/>
          <p:cNvGrpSpPr/>
          <p:nvPr/>
        </p:nvGrpSpPr>
        <p:grpSpPr>
          <a:xfrm>
            <a:off x="1327233" y="2377944"/>
            <a:ext cx="2173171" cy="1898367"/>
            <a:chOff x="323528" y="3243356"/>
            <a:chExt cx="2897561" cy="2882167"/>
          </a:xfrm>
        </p:grpSpPr>
        <p:grpSp>
          <p:nvGrpSpPr>
            <p:cNvPr id="8" name="群組 7"/>
            <p:cNvGrpSpPr/>
            <p:nvPr/>
          </p:nvGrpSpPr>
          <p:grpSpPr>
            <a:xfrm>
              <a:off x="323528" y="3243356"/>
              <a:ext cx="1488014" cy="774786"/>
              <a:chOff x="827584" y="3784638"/>
              <a:chExt cx="1654985" cy="774786"/>
            </a:xfrm>
          </p:grpSpPr>
          <p:sp>
            <p:nvSpPr>
              <p:cNvPr id="4" name="圓角矩形 3"/>
              <p:cNvSpPr/>
              <p:nvPr/>
            </p:nvSpPr>
            <p:spPr>
              <a:xfrm>
                <a:off x="827584" y="3784638"/>
                <a:ext cx="1512168" cy="774786"/>
              </a:xfrm>
              <a:prstGeom prst="round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 dirty="0"/>
              </a:p>
            </p:txBody>
          </p:sp>
          <p:sp>
            <p:nvSpPr>
              <p:cNvPr id="5" name="文字方塊 4"/>
              <p:cNvSpPr txBox="1"/>
              <p:nvPr/>
            </p:nvSpPr>
            <p:spPr>
              <a:xfrm>
                <a:off x="827584" y="3862135"/>
                <a:ext cx="1654985" cy="3855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050" dirty="0">
                    <a:solidFill>
                      <a:schemeClr val="bg1"/>
                    </a:solidFill>
                  </a:rPr>
                  <a:t>Virtual Machine</a:t>
                </a:r>
                <a:endParaRPr lang="zh-TW" altLang="en-US" sz="105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" name="圓角矩形 6"/>
              <p:cNvSpPr/>
              <p:nvPr/>
            </p:nvSpPr>
            <p:spPr>
              <a:xfrm>
                <a:off x="912750" y="4208498"/>
                <a:ext cx="1274440" cy="328526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dirty="0"/>
                  <a:t>I/O Driver</a:t>
                </a:r>
                <a:endParaRPr lang="zh-TW" altLang="en-US" sz="1050" dirty="0"/>
              </a:p>
            </p:txBody>
          </p:sp>
        </p:grpSp>
        <p:grpSp>
          <p:nvGrpSpPr>
            <p:cNvPr id="21" name="群組 20"/>
            <p:cNvGrpSpPr/>
            <p:nvPr/>
          </p:nvGrpSpPr>
          <p:grpSpPr>
            <a:xfrm>
              <a:off x="1733075" y="3243356"/>
              <a:ext cx="1488014" cy="774786"/>
              <a:chOff x="827584" y="3784638"/>
              <a:chExt cx="1654985" cy="774786"/>
            </a:xfrm>
          </p:grpSpPr>
          <p:sp>
            <p:nvSpPr>
              <p:cNvPr id="22" name="圓角矩形 21"/>
              <p:cNvSpPr/>
              <p:nvPr/>
            </p:nvSpPr>
            <p:spPr>
              <a:xfrm>
                <a:off x="827584" y="3784638"/>
                <a:ext cx="1512168" cy="774786"/>
              </a:xfrm>
              <a:prstGeom prst="round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 dirty="0"/>
              </a:p>
            </p:txBody>
          </p:sp>
          <p:sp>
            <p:nvSpPr>
              <p:cNvPr id="23" name="文字方塊 22"/>
              <p:cNvSpPr txBox="1"/>
              <p:nvPr/>
            </p:nvSpPr>
            <p:spPr>
              <a:xfrm>
                <a:off x="827584" y="3862135"/>
                <a:ext cx="1654985" cy="3855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050" dirty="0">
                    <a:solidFill>
                      <a:schemeClr val="bg1"/>
                    </a:solidFill>
                  </a:rPr>
                  <a:t>Virtual Machine</a:t>
                </a:r>
                <a:endParaRPr lang="zh-TW" altLang="en-US" sz="105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圓角矩形 23"/>
              <p:cNvSpPr/>
              <p:nvPr/>
            </p:nvSpPr>
            <p:spPr>
              <a:xfrm>
                <a:off x="912750" y="4208498"/>
                <a:ext cx="1274440" cy="328526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dirty="0"/>
                  <a:t>I/O Driver</a:t>
                </a:r>
                <a:endParaRPr lang="zh-TW" altLang="en-US" sz="1050" dirty="0"/>
              </a:p>
            </p:txBody>
          </p:sp>
        </p:grpSp>
        <p:sp>
          <p:nvSpPr>
            <p:cNvPr id="49" name="矩形 48"/>
            <p:cNvSpPr/>
            <p:nvPr/>
          </p:nvSpPr>
          <p:spPr>
            <a:xfrm>
              <a:off x="373640" y="4293096"/>
              <a:ext cx="2719041" cy="720080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/>
                <a:t>Virtual Machine Monitor</a:t>
              </a:r>
              <a:endParaRPr lang="zh-TW" altLang="en-US" sz="1350" dirty="0"/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9530" y="5275225"/>
              <a:ext cx="1167089" cy="850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56" name="直線單箭頭接點 55"/>
            <p:cNvCxnSpPr>
              <a:stCxn id="7" idx="2"/>
            </p:cNvCxnSpPr>
            <p:nvPr/>
          </p:nvCxnSpPr>
          <p:spPr>
            <a:xfrm>
              <a:off x="973033" y="3995742"/>
              <a:ext cx="15149" cy="29735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單箭頭接點 64"/>
            <p:cNvCxnSpPr/>
            <p:nvPr/>
          </p:nvCxnSpPr>
          <p:spPr>
            <a:xfrm>
              <a:off x="2412878" y="3983879"/>
              <a:ext cx="15149" cy="30921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線單箭頭接點 67"/>
            <p:cNvCxnSpPr>
              <a:stCxn id="49" idx="2"/>
            </p:cNvCxnSpPr>
            <p:nvPr/>
          </p:nvCxnSpPr>
          <p:spPr>
            <a:xfrm>
              <a:off x="1733161" y="5013176"/>
              <a:ext cx="0" cy="5040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7" name="群組 136"/>
          <p:cNvGrpSpPr/>
          <p:nvPr/>
        </p:nvGrpSpPr>
        <p:grpSpPr>
          <a:xfrm>
            <a:off x="3649022" y="2377944"/>
            <a:ext cx="2173171" cy="1951447"/>
            <a:chOff x="3341362" y="3243356"/>
            <a:chExt cx="2897561" cy="2915049"/>
          </a:xfrm>
        </p:grpSpPr>
        <p:grpSp>
          <p:nvGrpSpPr>
            <p:cNvPr id="33" name="群組 32"/>
            <p:cNvGrpSpPr/>
            <p:nvPr/>
          </p:nvGrpSpPr>
          <p:grpSpPr>
            <a:xfrm>
              <a:off x="3341362" y="3243356"/>
              <a:ext cx="1488014" cy="774786"/>
              <a:chOff x="827584" y="3784638"/>
              <a:chExt cx="1654985" cy="774786"/>
            </a:xfrm>
          </p:grpSpPr>
          <p:sp>
            <p:nvSpPr>
              <p:cNvPr id="34" name="圓角矩形 33"/>
              <p:cNvSpPr/>
              <p:nvPr/>
            </p:nvSpPr>
            <p:spPr>
              <a:xfrm>
                <a:off x="827584" y="3784638"/>
                <a:ext cx="1512168" cy="774786"/>
              </a:xfrm>
              <a:prstGeom prst="round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 dirty="0"/>
              </a:p>
            </p:txBody>
          </p:sp>
          <p:sp>
            <p:nvSpPr>
              <p:cNvPr id="35" name="文字方塊 34"/>
              <p:cNvSpPr txBox="1"/>
              <p:nvPr/>
            </p:nvSpPr>
            <p:spPr>
              <a:xfrm>
                <a:off x="827584" y="3862136"/>
                <a:ext cx="1654985" cy="3792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050" dirty="0">
                    <a:solidFill>
                      <a:schemeClr val="bg1"/>
                    </a:solidFill>
                  </a:rPr>
                  <a:t>Virtual Machine</a:t>
                </a:r>
                <a:endParaRPr lang="zh-TW" altLang="en-US" sz="105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圓角矩形 35"/>
              <p:cNvSpPr/>
              <p:nvPr/>
            </p:nvSpPr>
            <p:spPr>
              <a:xfrm>
                <a:off x="912750" y="4208498"/>
                <a:ext cx="1274440" cy="328526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dirty="0"/>
                  <a:t>I/O Driver</a:t>
                </a:r>
                <a:endParaRPr lang="zh-TW" altLang="en-US" sz="1050" dirty="0"/>
              </a:p>
            </p:txBody>
          </p:sp>
        </p:grpSp>
        <p:grpSp>
          <p:nvGrpSpPr>
            <p:cNvPr id="37" name="群組 36"/>
            <p:cNvGrpSpPr/>
            <p:nvPr/>
          </p:nvGrpSpPr>
          <p:grpSpPr>
            <a:xfrm>
              <a:off x="4750909" y="3243356"/>
              <a:ext cx="1488014" cy="774786"/>
              <a:chOff x="827584" y="3784638"/>
              <a:chExt cx="1654985" cy="774786"/>
            </a:xfrm>
          </p:grpSpPr>
          <p:sp>
            <p:nvSpPr>
              <p:cNvPr id="38" name="圓角矩形 37"/>
              <p:cNvSpPr/>
              <p:nvPr/>
            </p:nvSpPr>
            <p:spPr>
              <a:xfrm>
                <a:off x="827584" y="3784638"/>
                <a:ext cx="1512168" cy="774786"/>
              </a:xfrm>
              <a:prstGeom prst="round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 dirty="0"/>
              </a:p>
            </p:txBody>
          </p:sp>
          <p:sp>
            <p:nvSpPr>
              <p:cNvPr id="39" name="文字方塊 38"/>
              <p:cNvSpPr txBox="1"/>
              <p:nvPr/>
            </p:nvSpPr>
            <p:spPr>
              <a:xfrm>
                <a:off x="827584" y="3862136"/>
                <a:ext cx="1654985" cy="3792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050" dirty="0">
                    <a:solidFill>
                      <a:schemeClr val="bg1"/>
                    </a:solidFill>
                  </a:rPr>
                  <a:t>Virtual Machine</a:t>
                </a:r>
                <a:endParaRPr lang="zh-TW" altLang="en-US" sz="105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圓角矩形 39"/>
              <p:cNvSpPr/>
              <p:nvPr/>
            </p:nvSpPr>
            <p:spPr>
              <a:xfrm>
                <a:off x="912750" y="4208498"/>
                <a:ext cx="1274440" cy="328526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dirty="0"/>
                  <a:t>I/O Driver</a:t>
                </a:r>
                <a:endParaRPr lang="zh-TW" altLang="en-US" sz="1050" dirty="0"/>
              </a:p>
            </p:txBody>
          </p:sp>
        </p:grpSp>
        <p:sp>
          <p:nvSpPr>
            <p:cNvPr id="51" name="矩形 50"/>
            <p:cNvSpPr/>
            <p:nvPr/>
          </p:nvSpPr>
          <p:spPr>
            <a:xfrm>
              <a:off x="3924304" y="4293096"/>
              <a:ext cx="1703116" cy="720080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/>
                <a:t>Virtual Machine Monitor</a:t>
              </a:r>
              <a:endParaRPr lang="zh-TW" altLang="en-US" sz="1350" dirty="0"/>
            </a:p>
          </p:txBody>
        </p:sp>
        <p:pic>
          <p:nvPicPr>
            <p:cNvPr id="52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0865" y="5308107"/>
              <a:ext cx="1167089" cy="850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3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3426" y="5287385"/>
              <a:ext cx="1167089" cy="850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83" name="直線單箭頭接點 82"/>
            <p:cNvCxnSpPr/>
            <p:nvPr/>
          </p:nvCxnSpPr>
          <p:spPr>
            <a:xfrm>
              <a:off x="3707904" y="4018142"/>
              <a:ext cx="0" cy="14990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線單箭頭接點 85"/>
            <p:cNvCxnSpPr/>
            <p:nvPr/>
          </p:nvCxnSpPr>
          <p:spPr>
            <a:xfrm>
              <a:off x="5818241" y="3951191"/>
              <a:ext cx="0" cy="156604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8" name="群組 137"/>
          <p:cNvGrpSpPr/>
          <p:nvPr/>
        </p:nvGrpSpPr>
        <p:grpSpPr>
          <a:xfrm>
            <a:off x="5942863" y="2377944"/>
            <a:ext cx="2173171" cy="2003414"/>
            <a:chOff x="6374847" y="3209093"/>
            <a:chExt cx="2897561" cy="3056492"/>
          </a:xfrm>
        </p:grpSpPr>
        <p:grpSp>
          <p:nvGrpSpPr>
            <p:cNvPr id="41" name="群組 40"/>
            <p:cNvGrpSpPr/>
            <p:nvPr/>
          </p:nvGrpSpPr>
          <p:grpSpPr>
            <a:xfrm>
              <a:off x="6374847" y="3209093"/>
              <a:ext cx="1488014" cy="774786"/>
              <a:chOff x="827584" y="3784638"/>
              <a:chExt cx="1654985" cy="774786"/>
            </a:xfrm>
          </p:grpSpPr>
          <p:sp>
            <p:nvSpPr>
              <p:cNvPr id="42" name="圓角矩形 41"/>
              <p:cNvSpPr/>
              <p:nvPr/>
            </p:nvSpPr>
            <p:spPr>
              <a:xfrm>
                <a:off x="827584" y="3784638"/>
                <a:ext cx="1512168" cy="774786"/>
              </a:xfrm>
              <a:prstGeom prst="round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 dirty="0"/>
              </a:p>
            </p:txBody>
          </p:sp>
          <p:sp>
            <p:nvSpPr>
              <p:cNvPr id="43" name="文字方塊 42"/>
              <p:cNvSpPr txBox="1"/>
              <p:nvPr/>
            </p:nvSpPr>
            <p:spPr>
              <a:xfrm>
                <a:off x="827584" y="3862134"/>
                <a:ext cx="1654985" cy="3873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050" dirty="0">
                    <a:solidFill>
                      <a:schemeClr val="bg1"/>
                    </a:solidFill>
                  </a:rPr>
                  <a:t>Virtual Machine</a:t>
                </a:r>
                <a:endParaRPr lang="zh-TW" altLang="en-US" sz="105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4" name="圓角矩形 43"/>
              <p:cNvSpPr/>
              <p:nvPr/>
            </p:nvSpPr>
            <p:spPr>
              <a:xfrm>
                <a:off x="912750" y="4208498"/>
                <a:ext cx="1274440" cy="328526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dirty="0"/>
                  <a:t>I/O Driver</a:t>
                </a:r>
                <a:endParaRPr lang="zh-TW" altLang="en-US" sz="1050" dirty="0"/>
              </a:p>
            </p:txBody>
          </p:sp>
        </p:grpSp>
        <p:grpSp>
          <p:nvGrpSpPr>
            <p:cNvPr id="45" name="群組 44"/>
            <p:cNvGrpSpPr/>
            <p:nvPr/>
          </p:nvGrpSpPr>
          <p:grpSpPr>
            <a:xfrm>
              <a:off x="7784394" y="3209093"/>
              <a:ext cx="1488014" cy="774786"/>
              <a:chOff x="827584" y="3784638"/>
              <a:chExt cx="1654985" cy="774786"/>
            </a:xfrm>
          </p:grpSpPr>
          <p:sp>
            <p:nvSpPr>
              <p:cNvPr id="46" name="圓角矩形 45"/>
              <p:cNvSpPr/>
              <p:nvPr/>
            </p:nvSpPr>
            <p:spPr>
              <a:xfrm>
                <a:off x="827584" y="3784638"/>
                <a:ext cx="1512168" cy="774786"/>
              </a:xfrm>
              <a:prstGeom prst="round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 dirty="0"/>
              </a:p>
            </p:txBody>
          </p:sp>
          <p:sp>
            <p:nvSpPr>
              <p:cNvPr id="47" name="文字方塊 46"/>
              <p:cNvSpPr txBox="1"/>
              <p:nvPr/>
            </p:nvSpPr>
            <p:spPr>
              <a:xfrm>
                <a:off x="827584" y="3862134"/>
                <a:ext cx="1654985" cy="3873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050" dirty="0">
                    <a:solidFill>
                      <a:schemeClr val="bg1"/>
                    </a:solidFill>
                  </a:rPr>
                  <a:t>Virtual Machine</a:t>
                </a:r>
                <a:endParaRPr lang="zh-TW" altLang="en-US" sz="105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圓角矩形 47"/>
              <p:cNvSpPr/>
              <p:nvPr/>
            </p:nvSpPr>
            <p:spPr>
              <a:xfrm>
                <a:off x="912750" y="4208498"/>
                <a:ext cx="1274440" cy="328526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dirty="0"/>
                  <a:t>I/O Driver</a:t>
                </a:r>
                <a:endParaRPr lang="zh-TW" altLang="en-US" sz="1050" dirty="0"/>
              </a:p>
            </p:txBody>
          </p:sp>
        </p:grpSp>
        <p:pic>
          <p:nvPicPr>
            <p:cNvPr id="54" name="Picture 2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60176" y="5159482"/>
              <a:ext cx="1409547" cy="11061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5" name="矩形 54"/>
            <p:cNvSpPr/>
            <p:nvPr/>
          </p:nvSpPr>
          <p:spPr>
            <a:xfrm>
              <a:off x="6882895" y="4293096"/>
              <a:ext cx="1703116" cy="720080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/>
                <a:t>Virtual Machine Monitor</a:t>
              </a:r>
              <a:endParaRPr lang="zh-TW" altLang="en-US" sz="1350" dirty="0"/>
            </a:p>
          </p:txBody>
        </p:sp>
        <p:cxnSp>
          <p:nvCxnSpPr>
            <p:cNvPr id="88" name="肘形接點 87"/>
            <p:cNvCxnSpPr/>
            <p:nvPr/>
          </p:nvCxnSpPr>
          <p:spPr>
            <a:xfrm rot="5400000">
              <a:off x="7764660" y="4286925"/>
              <a:ext cx="1391548" cy="720082"/>
            </a:xfrm>
            <a:prstGeom prst="bentConnector3">
              <a:avLst>
                <a:gd name="adj1" fmla="val 85842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肘形接點 92"/>
            <p:cNvCxnSpPr/>
            <p:nvPr/>
          </p:nvCxnSpPr>
          <p:spPr>
            <a:xfrm rot="16200000" flipH="1">
              <a:off x="6426377" y="4171832"/>
              <a:ext cx="1347003" cy="994816"/>
            </a:xfrm>
            <a:prstGeom prst="bentConnector3">
              <a:avLst>
                <a:gd name="adj1" fmla="val 83942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7" name="矩形 1046"/>
            <p:cNvSpPr/>
            <p:nvPr/>
          </p:nvSpPr>
          <p:spPr>
            <a:xfrm>
              <a:off x="7319356" y="5342741"/>
              <a:ext cx="1072680" cy="17449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750" dirty="0"/>
                <a:t>Virtual Function</a:t>
              </a:r>
              <a:endParaRPr lang="zh-TW" altLang="en-US" sz="750" dirty="0"/>
            </a:p>
          </p:txBody>
        </p:sp>
        <p:sp>
          <p:nvSpPr>
            <p:cNvPr id="128" name="矩形 127"/>
            <p:cNvSpPr/>
            <p:nvPr/>
          </p:nvSpPr>
          <p:spPr>
            <a:xfrm>
              <a:off x="7308813" y="5643847"/>
              <a:ext cx="1083223" cy="1788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750" dirty="0"/>
                <a:t>Physical Function</a:t>
              </a:r>
              <a:endParaRPr lang="zh-TW" altLang="en-US" sz="750" dirty="0"/>
            </a:p>
          </p:txBody>
        </p:sp>
        <p:cxnSp>
          <p:nvCxnSpPr>
            <p:cNvPr id="132" name="肘形接點 131"/>
            <p:cNvCxnSpPr>
              <a:stCxn id="55" idx="3"/>
              <a:endCxn id="128" idx="3"/>
            </p:cNvCxnSpPr>
            <p:nvPr/>
          </p:nvCxnSpPr>
          <p:spPr>
            <a:xfrm flipH="1">
              <a:off x="8392036" y="4653136"/>
              <a:ext cx="193975" cy="1080120"/>
            </a:xfrm>
            <a:prstGeom prst="bentConnector3">
              <a:avLst>
                <a:gd name="adj1" fmla="val -206238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9" name="文字方塊 138"/>
          <p:cNvSpPr txBox="1"/>
          <p:nvPr/>
        </p:nvSpPr>
        <p:spPr>
          <a:xfrm>
            <a:off x="1575521" y="4567373"/>
            <a:ext cx="2112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A – Software only</a:t>
            </a:r>
            <a:endParaRPr lang="zh-TW" altLang="en-US" b="1" dirty="0"/>
          </a:p>
        </p:txBody>
      </p:sp>
      <p:sp>
        <p:nvSpPr>
          <p:cNvPr id="142" name="文字方塊 141"/>
          <p:cNvSpPr txBox="1"/>
          <p:nvPr/>
        </p:nvSpPr>
        <p:spPr>
          <a:xfrm>
            <a:off x="3810608" y="4559093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B – Directed I/O</a:t>
            </a:r>
            <a:endParaRPr lang="zh-TW" altLang="en-US" b="1" dirty="0"/>
          </a:p>
        </p:txBody>
      </p:sp>
      <p:sp>
        <p:nvSpPr>
          <p:cNvPr id="143" name="文字方塊 142"/>
          <p:cNvSpPr txBox="1"/>
          <p:nvPr/>
        </p:nvSpPr>
        <p:spPr>
          <a:xfrm>
            <a:off x="5979290" y="4433254"/>
            <a:ext cx="21980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/>
              <a:t>C – Directed I/O &amp; </a:t>
            </a:r>
            <a:br>
              <a:rPr lang="en-US" altLang="zh-TW" b="1" dirty="0"/>
            </a:br>
            <a:r>
              <a:rPr lang="en-US" altLang="zh-TW" b="1" dirty="0"/>
              <a:t>Device Sharing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3421052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PCIe</a:t>
            </a:r>
            <a:r>
              <a:rPr lang="en-US" altLang="zh-TW" dirty="0"/>
              <a:t> I/O Virtualization</a:t>
            </a:r>
          </a:p>
        </p:txBody>
      </p:sp>
      <p:sp>
        <p:nvSpPr>
          <p:cNvPr id="8" name="文字版面配置區 7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Motivation</a:t>
            </a:r>
          </a:p>
          <a:p>
            <a:r>
              <a:rPr lang="en-US" altLang="zh-TW" dirty="0"/>
              <a:t>Directed I/O</a:t>
            </a:r>
          </a:p>
          <a:p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</a:rPr>
              <a:t>PCIe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 Architecture</a:t>
            </a:r>
          </a:p>
        </p:txBody>
      </p:sp>
    </p:spTree>
    <p:extLst>
      <p:ext uri="{BB962C8B-B14F-4D97-AF65-F5344CB8AC3E}">
        <p14:creationId xmlns:p14="http://schemas.microsoft.com/office/powerpoint/2010/main" val="659848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Directed I/O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43000" y="789552"/>
            <a:ext cx="6858000" cy="4353948"/>
          </a:xfrm>
        </p:spPr>
        <p:txBody>
          <a:bodyPr/>
          <a:lstStyle/>
          <a:p>
            <a:r>
              <a:rPr lang="en-US" altLang="zh-TW" dirty="0"/>
              <a:t>Software-based sharing  adds overhead to each I/O due to emulation layer</a:t>
            </a:r>
          </a:p>
          <a:p>
            <a:pPr lvl="1"/>
            <a:r>
              <a:rPr lang="en-US" altLang="zh-TW" dirty="0"/>
              <a:t>This indirection has the additional affect of eliminating the use of hardware acceleration that may be available in the physical device.</a:t>
            </a:r>
          </a:p>
          <a:p>
            <a:r>
              <a:rPr lang="en-US" altLang="zh-TW" dirty="0"/>
              <a:t>Directed I/O has added enhancements to facilitate memory translation and ensure protection of memory that enables a device to directly DMA to/form host memory.</a:t>
            </a:r>
          </a:p>
          <a:p>
            <a:pPr lvl="1"/>
            <a:r>
              <a:rPr lang="en-US" altLang="zh-TW" dirty="0"/>
              <a:t>Bypass the VMM’s I/O emulation layer</a:t>
            </a:r>
          </a:p>
          <a:p>
            <a:pPr lvl="1"/>
            <a:r>
              <a:rPr lang="en-US" altLang="zh-TW" dirty="0"/>
              <a:t>Throughput improvement for the VMs</a:t>
            </a:r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  <p:pic>
        <p:nvPicPr>
          <p:cNvPr id="2050" name="圖片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2521" y="3444181"/>
            <a:ext cx="1782197" cy="154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7222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Drawbacks to Directed I/O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43000" y="1200151"/>
            <a:ext cx="6858000" cy="3394472"/>
          </a:xfrm>
        </p:spPr>
        <p:txBody>
          <a:bodyPr/>
          <a:lstStyle/>
          <a:p>
            <a:r>
              <a:rPr lang="en-US" altLang="zh-TW" dirty="0"/>
              <a:t>One concern with direct assignment is that it has limited scalability</a:t>
            </a:r>
          </a:p>
          <a:p>
            <a:pPr lvl="1"/>
            <a:r>
              <a:rPr lang="en-US" altLang="zh-TW" dirty="0"/>
              <a:t>A physical device can only be assigned to one VM.</a:t>
            </a:r>
          </a:p>
          <a:p>
            <a:pPr lvl="1"/>
            <a:r>
              <a:rPr lang="en-US" altLang="zh-TW" dirty="0"/>
              <a:t>For example, a dual port NIC allows for direct assignment to two VMs. (one port per VM)</a:t>
            </a:r>
          </a:p>
          <a:p>
            <a:pPr lvl="1"/>
            <a:r>
              <a:rPr lang="en-US" altLang="zh-TW" dirty="0"/>
              <a:t>Consider for a moment a fairly substantial server of the very near future</a:t>
            </a:r>
          </a:p>
          <a:p>
            <a:pPr lvl="2"/>
            <a:r>
              <a:rPr lang="en-US" altLang="zh-TW" dirty="0"/>
              <a:t>4 physical CPU’s</a:t>
            </a:r>
          </a:p>
          <a:p>
            <a:pPr lvl="2"/>
            <a:r>
              <a:rPr lang="en-US" altLang="zh-TW" dirty="0"/>
              <a:t>12 cores per CPU</a:t>
            </a:r>
          </a:p>
          <a:p>
            <a:pPr lvl="2"/>
            <a:r>
              <a:rPr lang="en-US" altLang="zh-TW" dirty="0"/>
              <a:t>If we use the rule that one VM per core, it would need 48 physical ports.</a:t>
            </a:r>
          </a:p>
        </p:txBody>
      </p:sp>
    </p:spTree>
    <p:extLst>
      <p:ext uri="{BB962C8B-B14F-4D97-AF65-F5344CB8AC3E}">
        <p14:creationId xmlns:p14="http://schemas.microsoft.com/office/powerpoint/2010/main" val="3235147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Terminology relating to Directed I/O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1601670" y="1005576"/>
          <a:ext cx="5638429" cy="3865364"/>
        </p:xfrm>
        <a:graphic>
          <a:graphicData uri="http://schemas.openxmlformats.org/drawingml/2006/table">
            <a:tbl>
              <a:tblPr firstRow="1" bandRow="1"/>
              <a:tblGrid>
                <a:gridCol w="692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81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9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10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Acronym</a:t>
                      </a: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Expansion</a:t>
                      </a: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Defined By</a:t>
                      </a: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What is it?</a:t>
                      </a: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631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I/O MMU</a:t>
                      </a: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I/O Memory</a:t>
                      </a:r>
                      <a:r>
                        <a:rPr lang="en-US" sz="1100" baseline="0" dirty="0">
                          <a:latin typeface="Trebuchet MS" pitchFamily="34" charset="0"/>
                        </a:rPr>
                        <a:t> Management Unit</a:t>
                      </a:r>
                      <a:endParaRPr lang="en-US" sz="1100" dirty="0">
                        <a:latin typeface="Trebuchet MS" pitchFamily="34" charset="0"/>
                      </a:endParaRP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Common</a:t>
                      </a:r>
                      <a:r>
                        <a:rPr lang="en-US" sz="1100" baseline="0" dirty="0">
                          <a:latin typeface="Trebuchet MS" pitchFamily="34" charset="0"/>
                        </a:rPr>
                        <a:t> parlance</a:t>
                      </a:r>
                      <a:endParaRPr lang="en-US" sz="1100" dirty="0">
                        <a:latin typeface="Trebuchet MS" pitchFamily="34" charset="0"/>
                      </a:endParaRP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Translation</a:t>
                      </a:r>
                      <a:r>
                        <a:rPr lang="en-US" sz="1100" baseline="0" dirty="0">
                          <a:latin typeface="Trebuchet MS" pitchFamily="34" charset="0"/>
                        </a:rPr>
                        <a:t> mechanism in the system memory controller (North Bridge) that allows a device or set of devices to use translated addresses when accessing main memory.  In many cases, it also translates interrupts coming from the devices </a:t>
                      </a:r>
                      <a:br>
                        <a:rPr lang="en-US" sz="1100" baseline="0" dirty="0">
                          <a:latin typeface="Trebuchet MS" pitchFamily="34" charset="0"/>
                        </a:rPr>
                      </a:br>
                      <a:r>
                        <a:rPr lang="en-US" sz="1100" baseline="0" dirty="0">
                          <a:latin typeface="Trebuchet MS" pitchFamily="34" charset="0"/>
                        </a:rPr>
                        <a:t>as messages.</a:t>
                      </a:r>
                      <a:endParaRPr lang="en-US" sz="1100" dirty="0">
                        <a:latin typeface="Trebuchet MS" pitchFamily="34" charset="0"/>
                      </a:endParaRP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62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ATPT</a:t>
                      </a: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Address Translation and Protection Table</a:t>
                      </a: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PCI SIG</a:t>
                      </a: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I/O MMU</a:t>
                      </a: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23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VT-d</a:t>
                      </a:r>
                      <a:r>
                        <a:rPr lang="en-US" sz="1100">
                          <a:latin typeface="Trebuchet MS" pitchFamily="34" charset="0"/>
                        </a:rPr>
                        <a:t>, </a:t>
                      </a:r>
                    </a:p>
                    <a:p>
                      <a:r>
                        <a:rPr lang="en-US" sz="1100">
                          <a:latin typeface="Trebuchet MS" pitchFamily="34" charset="0"/>
                        </a:rPr>
                        <a:t>VT-d2</a:t>
                      </a:r>
                      <a:endParaRPr lang="en-US" sz="1100" dirty="0">
                        <a:latin typeface="Trebuchet MS" pitchFamily="34" charset="0"/>
                      </a:endParaRP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Virtualization</a:t>
                      </a:r>
                      <a:r>
                        <a:rPr lang="en-US" sz="1100" baseline="0" dirty="0">
                          <a:latin typeface="Trebuchet MS" pitchFamily="34" charset="0"/>
                        </a:rPr>
                        <a:t> Technology for Directed I/O</a:t>
                      </a:r>
                      <a:endParaRPr lang="en-US" sz="1100" dirty="0">
                        <a:latin typeface="Trebuchet MS" pitchFamily="34" charset="0"/>
                      </a:endParaRP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Intel</a:t>
                      </a: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I/O MMU</a:t>
                      </a: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2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 err="1">
                          <a:latin typeface="Trebuchet MS" pitchFamily="34" charset="0"/>
                        </a:rPr>
                        <a:t>DMAr</a:t>
                      </a:r>
                      <a:endParaRPr lang="en-US" sz="1100" dirty="0">
                        <a:latin typeface="Trebuchet MS" pitchFamily="34" charset="0"/>
                      </a:endParaRP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DMA Remapping</a:t>
                      </a: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Intel, Microsoft</a:t>
                      </a: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I/O MMU</a:t>
                      </a: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23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IOMMU</a:t>
                      </a: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I/O</a:t>
                      </a:r>
                      <a:r>
                        <a:rPr lang="en-US" sz="1100" baseline="0" dirty="0">
                          <a:latin typeface="Trebuchet MS" pitchFamily="34" charset="0"/>
                        </a:rPr>
                        <a:t> Memory Management Unit</a:t>
                      </a:r>
                      <a:endParaRPr lang="en-US" sz="1100" dirty="0">
                        <a:latin typeface="Trebuchet MS" pitchFamily="34" charset="0"/>
                      </a:endParaRP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AMD</a:t>
                      </a: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"/>
                        </a:defRPr>
                      </a:lvl9pPr>
                    </a:lstStyle>
                    <a:p>
                      <a:r>
                        <a:rPr lang="en-US" sz="1100" dirty="0">
                          <a:latin typeface="Trebuchet MS" pitchFamily="34" charset="0"/>
                        </a:rPr>
                        <a:t>I/O MMU</a:t>
                      </a:r>
                    </a:p>
                  </a:txBody>
                  <a:tcPr marL="66174" marR="66174" marT="33087" marB="3308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29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6018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PCIe</a:t>
            </a:r>
            <a:r>
              <a:rPr lang="en-US" altLang="zh-TW" dirty="0"/>
              <a:t> I/O Virtualization</a:t>
            </a:r>
          </a:p>
        </p:txBody>
      </p:sp>
      <p:sp>
        <p:nvSpPr>
          <p:cNvPr id="8" name="文字版面配置區 7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Motivation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Directed I/O</a:t>
            </a:r>
          </a:p>
          <a:p>
            <a:r>
              <a:rPr lang="en-US" altLang="zh-TW" dirty="0" err="1">
                <a:solidFill>
                  <a:srgbClr val="C00000"/>
                </a:solidFill>
              </a:rPr>
              <a:t>PCIe</a:t>
            </a:r>
            <a:r>
              <a:rPr lang="en-US" altLang="zh-TW" dirty="0">
                <a:solidFill>
                  <a:srgbClr val="C00000"/>
                </a:solidFill>
              </a:rPr>
              <a:t> Architecture</a:t>
            </a:r>
          </a:p>
        </p:txBody>
      </p:sp>
    </p:spTree>
    <p:extLst>
      <p:ext uri="{BB962C8B-B14F-4D97-AF65-F5344CB8AC3E}">
        <p14:creationId xmlns:p14="http://schemas.microsoft.com/office/powerpoint/2010/main" val="3351825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Generic Platform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874955" y="1585143"/>
            <a:ext cx="3126046" cy="3558357"/>
          </a:xfrm>
        </p:spPr>
        <p:txBody>
          <a:bodyPr/>
          <a:lstStyle/>
          <a:p>
            <a:r>
              <a:rPr lang="en-US" altLang="zh-TW" dirty="0"/>
              <a:t>System Image(SI)</a:t>
            </a:r>
          </a:p>
          <a:p>
            <a:pPr lvl="1"/>
            <a:r>
              <a:rPr lang="en-US" altLang="zh-TW" dirty="0"/>
              <a:t>SW, e.g., a guest OS, to which virtual and physical devices can be assigned</a:t>
            </a:r>
          </a:p>
          <a:p>
            <a:pPr lvl="1"/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1204218" y="303499"/>
            <a:ext cx="777944" cy="455651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System Image (SI)</a:t>
            </a:r>
            <a:endParaRPr lang="zh-TW" altLang="en-US" sz="900" dirty="0"/>
          </a:p>
        </p:txBody>
      </p:sp>
      <p:sp>
        <p:nvSpPr>
          <p:cNvPr id="5" name="矩形 4"/>
          <p:cNvSpPr/>
          <p:nvPr/>
        </p:nvSpPr>
        <p:spPr>
          <a:xfrm>
            <a:off x="1204217" y="1423125"/>
            <a:ext cx="3332598" cy="324036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Processor</a:t>
            </a:r>
            <a:endParaRPr lang="zh-TW" altLang="en-US" sz="1350" dirty="0"/>
          </a:p>
        </p:txBody>
      </p:sp>
      <p:sp>
        <p:nvSpPr>
          <p:cNvPr id="6" name="矩形 5"/>
          <p:cNvSpPr/>
          <p:nvPr/>
        </p:nvSpPr>
        <p:spPr>
          <a:xfrm>
            <a:off x="1204217" y="1747161"/>
            <a:ext cx="3332598" cy="324036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Memory</a:t>
            </a:r>
            <a:endParaRPr lang="zh-TW" altLang="en-US" sz="1350" dirty="0"/>
          </a:p>
        </p:txBody>
      </p:sp>
      <p:sp>
        <p:nvSpPr>
          <p:cNvPr id="7" name="矩形 6"/>
          <p:cNvSpPr/>
          <p:nvPr/>
        </p:nvSpPr>
        <p:spPr>
          <a:xfrm>
            <a:off x="1233837" y="2329088"/>
            <a:ext cx="3332598" cy="59406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Root Complex (RC)</a:t>
            </a:r>
            <a:endParaRPr lang="zh-TW" altLang="en-US" sz="1350" dirty="0"/>
          </a:p>
        </p:txBody>
      </p:sp>
      <p:sp>
        <p:nvSpPr>
          <p:cNvPr id="8" name="矩形 7"/>
          <p:cNvSpPr/>
          <p:nvPr/>
        </p:nvSpPr>
        <p:spPr>
          <a:xfrm>
            <a:off x="1561062" y="2787774"/>
            <a:ext cx="421100" cy="59406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/>
              <a:t>Root</a:t>
            </a:r>
          </a:p>
          <a:p>
            <a:pPr algn="ctr"/>
            <a:r>
              <a:rPr lang="en-US" altLang="zh-TW" sz="1050" dirty="0"/>
              <a:t>Port (RP)</a:t>
            </a:r>
            <a:endParaRPr lang="zh-TW" altLang="en-US" sz="1050" dirty="0"/>
          </a:p>
        </p:txBody>
      </p:sp>
      <p:sp>
        <p:nvSpPr>
          <p:cNvPr id="9" name="矩形 8"/>
          <p:cNvSpPr/>
          <p:nvPr/>
        </p:nvSpPr>
        <p:spPr>
          <a:xfrm>
            <a:off x="3588635" y="2787774"/>
            <a:ext cx="448053" cy="59406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/>
              <a:t>Root</a:t>
            </a:r>
          </a:p>
          <a:p>
            <a:pPr algn="ctr"/>
            <a:r>
              <a:rPr lang="en-US" altLang="zh-TW" sz="1050" dirty="0"/>
              <a:t>Port (RP)</a:t>
            </a:r>
            <a:endParaRPr lang="zh-TW" altLang="en-US" sz="1050" dirty="0"/>
          </a:p>
        </p:txBody>
      </p:sp>
      <p:sp>
        <p:nvSpPr>
          <p:cNvPr id="10" name="矩形 9"/>
          <p:cNvSpPr/>
          <p:nvPr/>
        </p:nvSpPr>
        <p:spPr>
          <a:xfrm>
            <a:off x="1428712" y="3851639"/>
            <a:ext cx="685800" cy="57512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 err="1"/>
              <a:t>PCIe</a:t>
            </a:r>
            <a:r>
              <a:rPr lang="en-US" altLang="zh-TW" sz="1350" dirty="0"/>
              <a:t> Device</a:t>
            </a:r>
            <a:endParaRPr lang="zh-TW" altLang="en-US" sz="1350" dirty="0"/>
          </a:p>
        </p:txBody>
      </p:sp>
      <p:sp>
        <p:nvSpPr>
          <p:cNvPr id="11" name="六邊形 10"/>
          <p:cNvSpPr/>
          <p:nvPr/>
        </p:nvSpPr>
        <p:spPr>
          <a:xfrm>
            <a:off x="3401822" y="3714005"/>
            <a:ext cx="856094" cy="575123"/>
          </a:xfrm>
          <a:prstGeom prst="hexagon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Switch</a:t>
            </a:r>
            <a:endParaRPr lang="zh-TW" altLang="en-US" sz="1350" dirty="0"/>
          </a:p>
        </p:txBody>
      </p:sp>
      <p:sp>
        <p:nvSpPr>
          <p:cNvPr id="12" name="矩形 11"/>
          <p:cNvSpPr/>
          <p:nvPr/>
        </p:nvSpPr>
        <p:spPr>
          <a:xfrm>
            <a:off x="2339909" y="4461960"/>
            <a:ext cx="685800" cy="57512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 err="1"/>
              <a:t>PCIe</a:t>
            </a:r>
            <a:r>
              <a:rPr lang="en-US" altLang="zh-TW" sz="1350" dirty="0"/>
              <a:t> Device</a:t>
            </a:r>
            <a:endParaRPr lang="zh-TW" altLang="en-US" sz="1350" dirty="0"/>
          </a:p>
        </p:txBody>
      </p:sp>
      <p:sp>
        <p:nvSpPr>
          <p:cNvPr id="13" name="矩形 12"/>
          <p:cNvSpPr/>
          <p:nvPr/>
        </p:nvSpPr>
        <p:spPr>
          <a:xfrm>
            <a:off x="3486969" y="4461960"/>
            <a:ext cx="685800" cy="57512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 err="1"/>
              <a:t>PCIe</a:t>
            </a:r>
            <a:r>
              <a:rPr lang="en-US" altLang="zh-TW" sz="1350" dirty="0"/>
              <a:t> Device</a:t>
            </a:r>
            <a:endParaRPr lang="zh-TW" altLang="en-US" sz="1350" dirty="0"/>
          </a:p>
        </p:txBody>
      </p:sp>
      <p:sp>
        <p:nvSpPr>
          <p:cNvPr id="14" name="矩形 13"/>
          <p:cNvSpPr/>
          <p:nvPr/>
        </p:nvSpPr>
        <p:spPr>
          <a:xfrm>
            <a:off x="4532054" y="4461959"/>
            <a:ext cx="685800" cy="57512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 err="1"/>
              <a:t>PCIe</a:t>
            </a:r>
            <a:r>
              <a:rPr lang="en-US" altLang="zh-TW" sz="1350" dirty="0"/>
              <a:t> Device</a:t>
            </a:r>
            <a:endParaRPr lang="zh-TW" altLang="en-US" sz="1350" dirty="0"/>
          </a:p>
        </p:txBody>
      </p:sp>
      <p:cxnSp>
        <p:nvCxnSpPr>
          <p:cNvPr id="22" name="直線單箭頭接點 21"/>
          <p:cNvCxnSpPr>
            <a:stCxn id="6" idx="2"/>
            <a:endCxn id="7" idx="0"/>
          </p:cNvCxnSpPr>
          <p:nvPr/>
        </p:nvCxnSpPr>
        <p:spPr>
          <a:xfrm>
            <a:off x="2870517" y="2071198"/>
            <a:ext cx="29620" cy="257891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>
            <a:stCxn id="8" idx="2"/>
            <a:endCxn id="10" idx="0"/>
          </p:cNvCxnSpPr>
          <p:nvPr/>
        </p:nvCxnSpPr>
        <p:spPr>
          <a:xfrm>
            <a:off x="1771612" y="3381841"/>
            <a:ext cx="0" cy="469799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>
            <a:stCxn id="9" idx="2"/>
          </p:cNvCxnSpPr>
          <p:nvPr/>
        </p:nvCxnSpPr>
        <p:spPr>
          <a:xfrm>
            <a:off x="3812661" y="3381841"/>
            <a:ext cx="15474" cy="343376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肘形接點 31"/>
          <p:cNvCxnSpPr>
            <a:stCxn id="11" idx="3"/>
            <a:endCxn id="12" idx="0"/>
          </p:cNvCxnSpPr>
          <p:nvPr/>
        </p:nvCxnSpPr>
        <p:spPr>
          <a:xfrm rot="10800000" flipV="1">
            <a:off x="2682810" y="4001566"/>
            <a:ext cx="719014" cy="460394"/>
          </a:xfrm>
          <a:prstGeom prst="bentConnector2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肘形接點 34"/>
          <p:cNvCxnSpPr>
            <a:stCxn id="11" idx="0"/>
            <a:endCxn id="14" idx="0"/>
          </p:cNvCxnSpPr>
          <p:nvPr/>
        </p:nvCxnSpPr>
        <p:spPr>
          <a:xfrm>
            <a:off x="4257916" y="4001567"/>
            <a:ext cx="617039" cy="460393"/>
          </a:xfrm>
          <a:prstGeom prst="bentConnector2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>
            <a:endCxn id="13" idx="0"/>
          </p:cNvCxnSpPr>
          <p:nvPr/>
        </p:nvCxnSpPr>
        <p:spPr>
          <a:xfrm>
            <a:off x="3829869" y="4231762"/>
            <a:ext cx="0" cy="230198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橢圓 43"/>
          <p:cNvSpPr/>
          <p:nvPr/>
        </p:nvSpPr>
        <p:spPr>
          <a:xfrm>
            <a:off x="2048110" y="303499"/>
            <a:ext cx="777944" cy="455651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System Image (SI)</a:t>
            </a:r>
            <a:endParaRPr lang="zh-TW" altLang="en-US" sz="900" dirty="0"/>
          </a:p>
        </p:txBody>
      </p:sp>
      <p:sp>
        <p:nvSpPr>
          <p:cNvPr id="45" name="橢圓 44"/>
          <p:cNvSpPr/>
          <p:nvPr/>
        </p:nvSpPr>
        <p:spPr>
          <a:xfrm>
            <a:off x="2900788" y="319276"/>
            <a:ext cx="777944" cy="455651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System Image (SI)</a:t>
            </a:r>
            <a:endParaRPr lang="zh-TW" altLang="en-US" sz="900" dirty="0"/>
          </a:p>
        </p:txBody>
      </p:sp>
      <p:sp>
        <p:nvSpPr>
          <p:cNvPr id="46" name="橢圓 45"/>
          <p:cNvSpPr/>
          <p:nvPr/>
        </p:nvSpPr>
        <p:spPr>
          <a:xfrm>
            <a:off x="3754111" y="319276"/>
            <a:ext cx="777944" cy="455651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System Image (SI)</a:t>
            </a:r>
            <a:endParaRPr lang="zh-TW" altLang="en-US" sz="900" dirty="0"/>
          </a:p>
        </p:txBody>
      </p:sp>
      <p:sp>
        <p:nvSpPr>
          <p:cNvPr id="65" name="橢圓 64"/>
          <p:cNvSpPr/>
          <p:nvPr/>
        </p:nvSpPr>
        <p:spPr>
          <a:xfrm>
            <a:off x="1204218" y="951570"/>
            <a:ext cx="3347374" cy="324036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Virtualization Intermediary</a:t>
            </a:r>
            <a:endParaRPr lang="zh-TW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3747098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PCIe</a:t>
            </a:r>
            <a:r>
              <a:rPr lang="en-US" altLang="zh-TW" dirty="0"/>
              <a:t> components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43000" y="843559"/>
            <a:ext cx="6858000" cy="3751064"/>
          </a:xfrm>
        </p:spPr>
        <p:txBody>
          <a:bodyPr/>
          <a:lstStyle/>
          <a:p>
            <a:r>
              <a:rPr lang="en-US" altLang="zh-TW" dirty="0"/>
              <a:t>Root Complex</a:t>
            </a:r>
          </a:p>
          <a:p>
            <a:pPr lvl="1"/>
            <a:r>
              <a:rPr lang="en-US" altLang="zh-TW" dirty="0"/>
              <a:t>A root complex connects the processor and memory subsystem to the </a:t>
            </a:r>
            <a:r>
              <a:rPr lang="en-US" altLang="zh-TW" dirty="0" err="1"/>
              <a:t>PCIe</a:t>
            </a:r>
            <a:r>
              <a:rPr lang="en-US" altLang="zh-TW" dirty="0"/>
              <a:t> switch fabric composed of one or more switch devices</a:t>
            </a:r>
          </a:p>
          <a:p>
            <a:pPr lvl="1"/>
            <a:r>
              <a:rPr lang="en-US" altLang="zh-TW" dirty="0"/>
              <a:t>Similar to a </a:t>
            </a:r>
            <a:r>
              <a:rPr lang="en-US" altLang="zh-TW" dirty="0">
                <a:solidFill>
                  <a:srgbClr val="FF0000"/>
                </a:solidFill>
              </a:rPr>
              <a:t>host bridge </a:t>
            </a:r>
            <a:r>
              <a:rPr lang="en-US" altLang="zh-TW" dirty="0"/>
              <a:t>in a PCI system</a:t>
            </a:r>
          </a:p>
          <a:p>
            <a:pPr lvl="2"/>
            <a:r>
              <a:rPr lang="en-US" altLang="zh-TW" dirty="0"/>
              <a:t>Generate transaction requests on </a:t>
            </a:r>
          </a:p>
          <a:p>
            <a:pPr marL="685800" lvl="2" indent="0">
              <a:buNone/>
            </a:pPr>
            <a:r>
              <a:rPr lang="en-US" altLang="zh-TW" dirty="0"/>
              <a:t>behalf of the processor, which is</a:t>
            </a:r>
          </a:p>
          <a:p>
            <a:pPr marL="685800" lvl="2" indent="0">
              <a:buNone/>
            </a:pPr>
            <a:r>
              <a:rPr lang="en-US" altLang="zh-TW" dirty="0"/>
              <a:t>interconnected through a local bus.</a:t>
            </a:r>
          </a:p>
          <a:p>
            <a:pPr lvl="2"/>
            <a:r>
              <a:rPr lang="en-US" altLang="zh-TW" dirty="0"/>
              <a:t>May contain more than one </a:t>
            </a:r>
            <a:r>
              <a:rPr lang="en-US" altLang="zh-TW" dirty="0" err="1"/>
              <a:t>PCIe</a:t>
            </a:r>
            <a:r>
              <a:rPr lang="en-US" altLang="zh-TW" dirty="0"/>
              <a:t> port</a:t>
            </a:r>
          </a:p>
          <a:p>
            <a:pPr marL="685800" lvl="2" indent="0">
              <a:buNone/>
            </a:pPr>
            <a:r>
              <a:rPr lang="en-US" altLang="zh-TW" dirty="0"/>
              <a:t>and multiple switch devices.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0473" y="2463738"/>
            <a:ext cx="2640527" cy="25382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3263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PCIe</a:t>
            </a:r>
            <a:r>
              <a:rPr lang="en-US" altLang="zh-TW" dirty="0"/>
              <a:t> components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43000" y="951571"/>
            <a:ext cx="6858000" cy="3643052"/>
          </a:xfrm>
        </p:spPr>
        <p:txBody>
          <a:bodyPr/>
          <a:lstStyle/>
          <a:p>
            <a:r>
              <a:rPr lang="en-US" altLang="zh-TW" dirty="0"/>
              <a:t>Root Port (RP)</a:t>
            </a:r>
          </a:p>
          <a:p>
            <a:pPr lvl="1"/>
            <a:r>
              <a:rPr lang="en-US" altLang="zh-TW" dirty="0"/>
              <a:t>The portion of the motherboard that  contains the host bridge. The host bridge allows the </a:t>
            </a:r>
            <a:r>
              <a:rPr lang="en-US" altLang="zh-TW" dirty="0" err="1"/>
              <a:t>PCIe</a:t>
            </a:r>
            <a:r>
              <a:rPr lang="en-US" altLang="zh-TW" dirty="0"/>
              <a:t> ports to talk to the rest of the computer 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5947" y="2355726"/>
            <a:ext cx="3249941" cy="2254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826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PCIe</a:t>
            </a:r>
            <a:r>
              <a:rPr lang="en-US" altLang="zh-TW" dirty="0"/>
              <a:t> Device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5900" y="843559"/>
            <a:ext cx="6172200" cy="3751064"/>
          </a:xfrm>
        </p:spPr>
        <p:txBody>
          <a:bodyPr/>
          <a:lstStyle/>
          <a:p>
            <a:r>
              <a:rPr lang="en-US" altLang="zh-TW" dirty="0" err="1"/>
              <a:t>PCIe</a:t>
            </a:r>
            <a:r>
              <a:rPr lang="en-US" altLang="zh-TW" dirty="0"/>
              <a:t> Device</a:t>
            </a:r>
          </a:p>
          <a:p>
            <a:pPr lvl="1"/>
            <a:r>
              <a:rPr lang="en-US" altLang="zh-TW" dirty="0"/>
              <a:t>Unique PCI Function Address</a:t>
            </a:r>
          </a:p>
          <a:p>
            <a:pPr lvl="2"/>
            <a:r>
              <a:rPr lang="en-US" altLang="zh-TW" dirty="0"/>
              <a:t>Bus / </a:t>
            </a:r>
            <a:r>
              <a:rPr lang="en-US" altLang="zh-TW" dirty="0" err="1"/>
              <a:t>Dev</a:t>
            </a:r>
            <a:r>
              <a:rPr lang="en-US" altLang="zh-TW" dirty="0"/>
              <a:t> / </a:t>
            </a:r>
            <a:r>
              <a:rPr lang="en-US" altLang="zh-TW" b="1" dirty="0">
                <a:solidFill>
                  <a:srgbClr val="FF0000"/>
                </a:solidFill>
              </a:rPr>
              <a:t>Function</a:t>
            </a:r>
          </a:p>
          <a:p>
            <a:pPr lvl="2"/>
            <a:r>
              <a:rPr lang="en-US" altLang="zh-TW" dirty="0"/>
              <a:t>Command, </a:t>
            </a:r>
            <a:r>
              <a:rPr lang="en-US" altLang="zh-TW" dirty="0" err="1"/>
              <a:t>lspci</a:t>
            </a:r>
            <a:r>
              <a:rPr lang="en-US" altLang="zh-TW" dirty="0"/>
              <a:t> -v,  can get PCI device information on </a:t>
            </a:r>
            <a:r>
              <a:rPr lang="en-US" altLang="zh-TW" dirty="0" err="1"/>
              <a:t>linux</a:t>
            </a:r>
            <a:r>
              <a:rPr lang="en-US" altLang="zh-TW" dirty="0"/>
              <a:t> 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grpSp>
        <p:nvGrpSpPr>
          <p:cNvPr id="9" name="群組 8"/>
          <p:cNvGrpSpPr/>
          <p:nvPr/>
        </p:nvGrpSpPr>
        <p:grpSpPr>
          <a:xfrm>
            <a:off x="1326556" y="2285453"/>
            <a:ext cx="4055534" cy="2420042"/>
            <a:chOff x="81314" y="3487990"/>
            <a:chExt cx="6362893" cy="3226723"/>
          </a:xfrm>
        </p:grpSpPr>
        <p:pic>
          <p:nvPicPr>
            <p:cNvPr id="5124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314" y="3487990"/>
              <a:ext cx="6362893" cy="32267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5" name="直線接點 4"/>
            <p:cNvCxnSpPr/>
            <p:nvPr/>
          </p:nvCxnSpPr>
          <p:spPr>
            <a:xfrm>
              <a:off x="81314" y="3789040"/>
              <a:ext cx="53024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圖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811" y="2680816"/>
            <a:ext cx="1841190" cy="1544701"/>
          </a:xfrm>
          <a:prstGeom prst="rect">
            <a:avLst/>
          </a:prstGeom>
        </p:spPr>
      </p:pic>
      <p:cxnSp>
        <p:nvCxnSpPr>
          <p:cNvPr id="12" name="直線單箭頭接點 11"/>
          <p:cNvCxnSpPr>
            <a:endCxn id="15" idx="2"/>
          </p:cNvCxnSpPr>
          <p:nvPr/>
        </p:nvCxnSpPr>
        <p:spPr>
          <a:xfrm flipV="1">
            <a:off x="6894258" y="2972002"/>
            <a:ext cx="277114" cy="4811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6799406" y="2418004"/>
            <a:ext cx="74393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b="1" dirty="0"/>
              <a:t>Device</a:t>
            </a:r>
            <a:endParaRPr lang="zh-TW" altLang="en-US" sz="1500" b="1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5490103" y="4587788"/>
            <a:ext cx="109328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b="1" dirty="0"/>
              <a:t>Function1</a:t>
            </a:r>
            <a:endParaRPr lang="zh-TW" altLang="en-US" sz="1500" b="1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6853653" y="4275870"/>
            <a:ext cx="114734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b="1" dirty="0"/>
              <a:t>Function2</a:t>
            </a:r>
            <a:endParaRPr lang="zh-TW" altLang="en-US" sz="1500" b="1" dirty="0"/>
          </a:p>
        </p:txBody>
      </p:sp>
      <p:cxnSp>
        <p:nvCxnSpPr>
          <p:cNvPr id="21" name="直線單箭頭接點 20"/>
          <p:cNvCxnSpPr>
            <a:endCxn id="24" idx="0"/>
          </p:cNvCxnSpPr>
          <p:nvPr/>
        </p:nvCxnSpPr>
        <p:spPr>
          <a:xfrm>
            <a:off x="6373179" y="3453166"/>
            <a:ext cx="1054148" cy="8227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>
            <a:endCxn id="23" idx="0"/>
          </p:cNvCxnSpPr>
          <p:nvPr/>
        </p:nvCxnSpPr>
        <p:spPr>
          <a:xfrm flipH="1">
            <a:off x="6036743" y="3717711"/>
            <a:ext cx="209443" cy="8700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54136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Example: Multi-Function Device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5900" y="951571"/>
            <a:ext cx="6172200" cy="3643052"/>
          </a:xfrm>
        </p:spPr>
        <p:txBody>
          <a:bodyPr/>
          <a:lstStyle/>
          <a:p>
            <a:r>
              <a:rPr lang="en-US" altLang="zh-TW" dirty="0"/>
              <a:t>The link and </a:t>
            </a:r>
            <a:r>
              <a:rPr lang="en-US" altLang="zh-TW" dirty="0" err="1"/>
              <a:t>PCIe</a:t>
            </a:r>
            <a:r>
              <a:rPr lang="en-US" altLang="zh-TW" dirty="0"/>
              <a:t> functionality shared by all functions is </a:t>
            </a:r>
            <a:r>
              <a:rPr lang="en-US" altLang="zh-TW" dirty="0">
                <a:solidFill>
                  <a:srgbClr val="FF0000"/>
                </a:solidFill>
              </a:rPr>
              <a:t>managed through </a:t>
            </a:r>
            <a:r>
              <a:rPr lang="en-US" altLang="zh-TW" b="1" dirty="0">
                <a:solidFill>
                  <a:srgbClr val="FF0000"/>
                </a:solidFill>
              </a:rPr>
              <a:t>Function 0</a:t>
            </a:r>
          </a:p>
          <a:p>
            <a:r>
              <a:rPr lang="en-US" altLang="zh-TW" dirty="0"/>
              <a:t>All functions use a single Bus Number captured through the PCI enumeration process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Each function can be assigned to an SI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grpSp>
        <p:nvGrpSpPr>
          <p:cNvPr id="19" name="群組 18"/>
          <p:cNvGrpSpPr/>
          <p:nvPr/>
        </p:nvGrpSpPr>
        <p:grpSpPr>
          <a:xfrm>
            <a:off x="2048054" y="2881245"/>
            <a:ext cx="4887162" cy="2126584"/>
            <a:chOff x="1972086" y="2348880"/>
            <a:chExt cx="6632361" cy="3002699"/>
          </a:xfrm>
        </p:grpSpPr>
        <p:grpSp>
          <p:nvGrpSpPr>
            <p:cNvPr id="20" name="群組 19"/>
            <p:cNvGrpSpPr/>
            <p:nvPr/>
          </p:nvGrpSpPr>
          <p:grpSpPr>
            <a:xfrm>
              <a:off x="1972086" y="2348880"/>
              <a:ext cx="6632361" cy="2952328"/>
              <a:chOff x="1024106" y="2348880"/>
              <a:chExt cx="7580342" cy="2952328"/>
            </a:xfrm>
          </p:grpSpPr>
          <p:sp>
            <p:nvSpPr>
              <p:cNvPr id="22" name="矩形 21"/>
              <p:cNvSpPr/>
              <p:nvPr/>
            </p:nvSpPr>
            <p:spPr>
              <a:xfrm>
                <a:off x="1403648" y="2348880"/>
                <a:ext cx="7200800" cy="2952328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 dirty="0"/>
              </a:p>
            </p:txBody>
          </p:sp>
          <p:grpSp>
            <p:nvGrpSpPr>
              <p:cNvPr id="23" name="群組 22"/>
              <p:cNvGrpSpPr/>
              <p:nvPr/>
            </p:nvGrpSpPr>
            <p:grpSpPr>
              <a:xfrm>
                <a:off x="5289829" y="2513328"/>
                <a:ext cx="3314618" cy="655222"/>
                <a:chOff x="5868143" y="1988840"/>
                <a:chExt cx="3314618" cy="655222"/>
              </a:xfrm>
            </p:grpSpPr>
            <p:sp>
              <p:nvSpPr>
                <p:cNvPr id="44" name="矩形 43"/>
                <p:cNvSpPr/>
                <p:nvPr/>
              </p:nvSpPr>
              <p:spPr>
                <a:xfrm>
                  <a:off x="5868143" y="1988840"/>
                  <a:ext cx="3314618" cy="655222"/>
                </a:xfrm>
                <a:prstGeom prst="rect">
                  <a:avLst/>
                </a:prstGeom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altLang="zh-TW" sz="1350" dirty="0"/>
                    <a:t>Function 0 </a:t>
                  </a:r>
                  <a:endParaRPr lang="zh-TW" altLang="en-US" sz="1350" dirty="0"/>
                </a:p>
              </p:txBody>
            </p:sp>
            <p:sp>
              <p:nvSpPr>
                <p:cNvPr id="45" name="矩形 44"/>
                <p:cNvSpPr/>
                <p:nvPr/>
              </p:nvSpPr>
              <p:spPr>
                <a:xfrm>
                  <a:off x="7413609" y="2073271"/>
                  <a:ext cx="720080" cy="504056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900" dirty="0"/>
                    <a:t>ATC1</a:t>
                  </a:r>
                  <a:endParaRPr lang="zh-TW" altLang="en-US" sz="900" dirty="0"/>
                </a:p>
              </p:txBody>
            </p:sp>
            <p:sp>
              <p:nvSpPr>
                <p:cNvPr id="46" name="矩形 45"/>
                <p:cNvSpPr/>
                <p:nvPr/>
              </p:nvSpPr>
              <p:spPr>
                <a:xfrm>
                  <a:off x="8158903" y="2073271"/>
                  <a:ext cx="1000852" cy="504056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900" dirty="0"/>
                    <a:t>Physical Resources1</a:t>
                  </a:r>
                  <a:endParaRPr lang="zh-TW" altLang="en-US" sz="900" dirty="0"/>
                </a:p>
              </p:txBody>
            </p:sp>
          </p:grpSp>
          <p:grpSp>
            <p:nvGrpSpPr>
              <p:cNvPr id="24" name="群組 23"/>
              <p:cNvGrpSpPr/>
              <p:nvPr/>
            </p:nvGrpSpPr>
            <p:grpSpPr>
              <a:xfrm>
                <a:off x="5289830" y="3450529"/>
                <a:ext cx="3291611" cy="655222"/>
                <a:chOff x="5868144" y="1988840"/>
                <a:chExt cx="3291611" cy="655222"/>
              </a:xfrm>
            </p:grpSpPr>
            <p:sp>
              <p:nvSpPr>
                <p:cNvPr id="41" name="矩形 40"/>
                <p:cNvSpPr/>
                <p:nvPr/>
              </p:nvSpPr>
              <p:spPr>
                <a:xfrm>
                  <a:off x="5868144" y="1988840"/>
                  <a:ext cx="3291611" cy="655222"/>
                </a:xfrm>
                <a:prstGeom prst="rect">
                  <a:avLst/>
                </a:prstGeom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altLang="zh-TW" sz="1350" dirty="0"/>
                    <a:t>Function 1 </a:t>
                  </a:r>
                  <a:endParaRPr lang="zh-TW" altLang="en-US" sz="1350" dirty="0"/>
                </a:p>
              </p:txBody>
            </p:sp>
            <p:sp>
              <p:nvSpPr>
                <p:cNvPr id="42" name="矩形 41"/>
                <p:cNvSpPr/>
                <p:nvPr/>
              </p:nvSpPr>
              <p:spPr>
                <a:xfrm>
                  <a:off x="7413609" y="2088605"/>
                  <a:ext cx="720080" cy="504056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900" dirty="0"/>
                    <a:t>ATC2</a:t>
                  </a:r>
                  <a:endParaRPr lang="zh-TW" altLang="en-US" sz="900" dirty="0"/>
                </a:p>
              </p:txBody>
            </p:sp>
            <p:sp>
              <p:nvSpPr>
                <p:cNvPr id="43" name="矩形 42"/>
                <p:cNvSpPr/>
                <p:nvPr/>
              </p:nvSpPr>
              <p:spPr>
                <a:xfrm>
                  <a:off x="8133689" y="2088605"/>
                  <a:ext cx="1000852" cy="504056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900" dirty="0"/>
                    <a:t>Physical Resources2</a:t>
                  </a:r>
                  <a:endParaRPr lang="zh-TW" altLang="en-US" sz="900" dirty="0"/>
                </a:p>
              </p:txBody>
            </p:sp>
          </p:grpSp>
          <p:grpSp>
            <p:nvGrpSpPr>
              <p:cNvPr id="25" name="群組 24"/>
              <p:cNvGrpSpPr/>
              <p:nvPr/>
            </p:nvGrpSpPr>
            <p:grpSpPr>
              <a:xfrm>
                <a:off x="5289830" y="4295355"/>
                <a:ext cx="3291611" cy="655222"/>
                <a:chOff x="5868144" y="1988840"/>
                <a:chExt cx="3291611" cy="655222"/>
              </a:xfrm>
            </p:grpSpPr>
            <p:sp>
              <p:nvSpPr>
                <p:cNvPr id="38" name="矩形 37"/>
                <p:cNvSpPr/>
                <p:nvPr/>
              </p:nvSpPr>
              <p:spPr>
                <a:xfrm>
                  <a:off x="5868144" y="1988840"/>
                  <a:ext cx="3291611" cy="655222"/>
                </a:xfrm>
                <a:prstGeom prst="rect">
                  <a:avLst/>
                </a:prstGeom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altLang="zh-TW" sz="1350" dirty="0"/>
                    <a:t>Function 2 </a:t>
                  </a:r>
                  <a:endParaRPr lang="zh-TW" altLang="en-US" sz="1350" dirty="0"/>
                </a:p>
              </p:txBody>
            </p:sp>
            <p:sp>
              <p:nvSpPr>
                <p:cNvPr id="39" name="矩形 38"/>
                <p:cNvSpPr/>
                <p:nvPr/>
              </p:nvSpPr>
              <p:spPr>
                <a:xfrm>
                  <a:off x="7438823" y="2088605"/>
                  <a:ext cx="720080" cy="504056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900" dirty="0"/>
                    <a:t>ATC3</a:t>
                  </a:r>
                  <a:endParaRPr lang="zh-TW" altLang="en-US" sz="900" dirty="0"/>
                </a:p>
              </p:txBody>
            </p:sp>
            <p:sp>
              <p:nvSpPr>
                <p:cNvPr id="40" name="矩形 39"/>
                <p:cNvSpPr/>
                <p:nvPr/>
              </p:nvSpPr>
              <p:spPr>
                <a:xfrm>
                  <a:off x="8158902" y="2088605"/>
                  <a:ext cx="1000852" cy="504056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900" dirty="0"/>
                    <a:t>Physical Resources3</a:t>
                  </a:r>
                  <a:endParaRPr lang="zh-TW" altLang="en-US" sz="900" dirty="0"/>
                </a:p>
              </p:txBody>
            </p:sp>
          </p:grpSp>
          <p:sp>
            <p:nvSpPr>
              <p:cNvPr id="26" name="六邊形 25"/>
              <p:cNvSpPr/>
              <p:nvPr/>
            </p:nvSpPr>
            <p:spPr>
              <a:xfrm>
                <a:off x="3159494" y="3406285"/>
                <a:ext cx="1152128" cy="753479"/>
              </a:xfrm>
              <a:prstGeom prst="hexagon">
                <a:avLst/>
              </a:prstGeom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900" dirty="0"/>
                  <a:t>Internal Routing</a:t>
                </a:r>
                <a:endParaRPr lang="zh-TW" altLang="en-US" sz="900" dirty="0"/>
              </a:p>
            </p:txBody>
          </p:sp>
          <p:sp>
            <p:nvSpPr>
              <p:cNvPr id="27" name="矩形 26"/>
              <p:cNvSpPr/>
              <p:nvPr/>
            </p:nvSpPr>
            <p:spPr>
              <a:xfrm>
                <a:off x="1514887" y="2573048"/>
                <a:ext cx="1656184" cy="586789"/>
              </a:xfrm>
              <a:prstGeom prst="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900" dirty="0"/>
                  <a:t>Configuration Resources</a:t>
                </a:r>
                <a:endParaRPr lang="zh-TW" altLang="en-US" sz="900" dirty="0"/>
              </a:p>
            </p:txBody>
          </p:sp>
          <p:cxnSp>
            <p:nvCxnSpPr>
              <p:cNvPr id="28" name="肘形接點 27"/>
              <p:cNvCxnSpPr>
                <a:stCxn id="44" idx="1"/>
                <a:endCxn id="26" idx="5"/>
              </p:cNvCxnSpPr>
              <p:nvPr/>
            </p:nvCxnSpPr>
            <p:spPr>
              <a:xfrm rot="10800000" flipV="1">
                <a:off x="4099523" y="2840939"/>
                <a:ext cx="1190307" cy="565346"/>
              </a:xfrm>
              <a:prstGeom prst="bentConnector2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肘形接點 28"/>
              <p:cNvCxnSpPr>
                <a:stCxn id="41" idx="1"/>
                <a:endCxn id="26" idx="0"/>
              </p:cNvCxnSpPr>
              <p:nvPr/>
            </p:nvCxnSpPr>
            <p:spPr>
              <a:xfrm rot="10800000" flipV="1">
                <a:off x="4311622" y="3778139"/>
                <a:ext cx="978208" cy="4885"/>
              </a:xfrm>
              <a:prstGeom prst="bentConnector3">
                <a:avLst>
                  <a:gd name="adj1" fmla="val 50000"/>
                </a:avLst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肘形接點 29"/>
              <p:cNvCxnSpPr>
                <a:stCxn id="38" idx="1"/>
                <a:endCxn id="26" idx="1"/>
              </p:cNvCxnSpPr>
              <p:nvPr/>
            </p:nvCxnSpPr>
            <p:spPr>
              <a:xfrm rot="10800000">
                <a:off x="4099522" y="4159764"/>
                <a:ext cx="1190308" cy="463202"/>
              </a:xfrm>
              <a:prstGeom prst="bentConnector2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肘形接點 30"/>
              <p:cNvCxnSpPr>
                <a:stCxn id="27" idx="3"/>
                <a:endCxn id="26" idx="4"/>
              </p:cNvCxnSpPr>
              <p:nvPr/>
            </p:nvCxnSpPr>
            <p:spPr>
              <a:xfrm>
                <a:off x="3171071" y="2866443"/>
                <a:ext cx="176793" cy="539842"/>
              </a:xfrm>
              <a:prstGeom prst="bentConnector2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矩形 31"/>
              <p:cNvSpPr/>
              <p:nvPr/>
            </p:nvSpPr>
            <p:spPr>
              <a:xfrm>
                <a:off x="1024106" y="3331168"/>
                <a:ext cx="914400" cy="504056"/>
              </a:xfrm>
              <a:prstGeom prst="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350" dirty="0" err="1"/>
                  <a:t>PCIe</a:t>
                </a:r>
                <a:endParaRPr lang="en-US" altLang="zh-TW" sz="1350" dirty="0"/>
              </a:p>
              <a:p>
                <a:pPr algn="ctr"/>
                <a:r>
                  <a:rPr lang="en-US" altLang="zh-TW" sz="1350" dirty="0"/>
                  <a:t>Port</a:t>
                </a:r>
                <a:endParaRPr lang="zh-TW" altLang="en-US" sz="1350" dirty="0"/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1057687" y="4054350"/>
                <a:ext cx="914400" cy="504056"/>
              </a:xfrm>
              <a:prstGeom prst="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350" dirty="0" err="1"/>
                  <a:t>PCIe</a:t>
                </a:r>
                <a:endParaRPr lang="en-US" altLang="zh-TW" sz="1350" dirty="0"/>
              </a:p>
              <a:p>
                <a:pPr algn="ctr"/>
                <a:r>
                  <a:rPr lang="en-US" altLang="zh-TW" sz="1350" dirty="0"/>
                  <a:t>Port</a:t>
                </a:r>
                <a:endParaRPr lang="zh-TW" altLang="en-US" sz="1350" dirty="0"/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1057687" y="4749471"/>
                <a:ext cx="914400" cy="504056"/>
              </a:xfrm>
              <a:prstGeom prst="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350" dirty="0" err="1"/>
                  <a:t>PCIe</a:t>
                </a:r>
                <a:endParaRPr lang="en-US" altLang="zh-TW" sz="1350" dirty="0"/>
              </a:p>
              <a:p>
                <a:pPr algn="ctr"/>
                <a:r>
                  <a:rPr lang="en-US" altLang="zh-TW" sz="1350" dirty="0"/>
                  <a:t>Port</a:t>
                </a:r>
                <a:endParaRPr lang="zh-TW" altLang="en-US" sz="1350" dirty="0"/>
              </a:p>
            </p:txBody>
          </p:sp>
          <p:cxnSp>
            <p:nvCxnSpPr>
              <p:cNvPr id="35" name="肘形接點 34"/>
              <p:cNvCxnSpPr>
                <a:stCxn id="32" idx="3"/>
                <a:endCxn id="26" idx="3"/>
              </p:cNvCxnSpPr>
              <p:nvPr/>
            </p:nvCxnSpPr>
            <p:spPr>
              <a:xfrm>
                <a:off x="1938506" y="3583196"/>
                <a:ext cx="1220988" cy="199829"/>
              </a:xfrm>
              <a:prstGeom prst="bentConnector3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肘形接點 35"/>
              <p:cNvCxnSpPr>
                <a:stCxn id="33" idx="3"/>
                <a:endCxn id="26" idx="2"/>
              </p:cNvCxnSpPr>
              <p:nvPr/>
            </p:nvCxnSpPr>
            <p:spPr>
              <a:xfrm flipV="1">
                <a:off x="1972087" y="4159764"/>
                <a:ext cx="1375777" cy="146614"/>
              </a:xfrm>
              <a:prstGeom prst="bentConnector2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肘形接點 36"/>
              <p:cNvCxnSpPr>
                <a:stCxn id="34" idx="3"/>
                <a:endCxn id="26" idx="2"/>
              </p:cNvCxnSpPr>
              <p:nvPr/>
            </p:nvCxnSpPr>
            <p:spPr>
              <a:xfrm flipV="1">
                <a:off x="1972087" y="4159764"/>
                <a:ext cx="1375777" cy="841735"/>
              </a:xfrm>
              <a:prstGeom prst="bentConnector2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文字方塊 20"/>
            <p:cNvSpPr txBox="1"/>
            <p:nvPr/>
          </p:nvSpPr>
          <p:spPr>
            <a:xfrm>
              <a:off x="4135616" y="4895276"/>
              <a:ext cx="1747308" cy="4563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00" b="1" dirty="0" err="1"/>
                <a:t>PCIe</a:t>
              </a:r>
              <a:r>
                <a:rPr lang="en-US" altLang="zh-TW" sz="1500" b="1" dirty="0"/>
                <a:t> Device</a:t>
              </a:r>
              <a:endParaRPr lang="zh-TW" altLang="en-US" sz="15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0089458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Components in </a:t>
            </a:r>
            <a:r>
              <a:rPr lang="en-US" altLang="zh-TW" dirty="0" err="1"/>
              <a:t>PCIe</a:t>
            </a:r>
            <a:r>
              <a:rPr lang="en-US" altLang="zh-TW" dirty="0"/>
              <a:t> Device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809790" y="1599643"/>
            <a:ext cx="3191210" cy="3221552"/>
          </a:xfrm>
        </p:spPr>
        <p:txBody>
          <a:bodyPr/>
          <a:lstStyle/>
          <a:p>
            <a:r>
              <a:rPr lang="en-US" altLang="zh-TW" dirty="0"/>
              <a:t>Configuration Space</a:t>
            </a:r>
          </a:p>
          <a:p>
            <a:pPr lvl="1"/>
            <a:r>
              <a:rPr lang="en-US" altLang="zh-TW" dirty="0"/>
              <a:t>Devices will </a:t>
            </a:r>
            <a:r>
              <a:rPr lang="en-US" altLang="zh-TW" b="1" dirty="0">
                <a:solidFill>
                  <a:srgbClr val="FF0000"/>
                </a:solidFill>
              </a:rPr>
              <a:t>allocate resource such as memory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dirty="0"/>
              <a:t>and record the address into this configuration space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Reference:</a:t>
            </a:r>
          </a:p>
          <a:p>
            <a:pPr lvl="2"/>
            <a:r>
              <a:rPr lang="en-US" altLang="zh-TW" dirty="0"/>
              <a:t>PCI Local Bus Specification ver.2.3 Chap 6</a:t>
            </a:r>
            <a:endParaRPr lang="zh-TW" altLang="en-US" dirty="0"/>
          </a:p>
        </p:txBody>
      </p:sp>
      <p:sp>
        <p:nvSpPr>
          <p:cNvPr id="85" name="矩形 84"/>
          <p:cNvSpPr/>
          <p:nvPr/>
        </p:nvSpPr>
        <p:spPr>
          <a:xfrm>
            <a:off x="5544108" y="1005576"/>
            <a:ext cx="1067767" cy="41557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Configuration Resources</a:t>
            </a:r>
            <a:endParaRPr lang="zh-TW" altLang="en-US" sz="9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628" y="1005577"/>
            <a:ext cx="3586163" cy="3707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52822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Components in </a:t>
            </a:r>
            <a:r>
              <a:rPr lang="en-US" altLang="zh-TW" dirty="0" err="1"/>
              <a:t>PCIe</a:t>
            </a:r>
            <a:r>
              <a:rPr lang="en-US" altLang="zh-TW" dirty="0"/>
              <a:t> Device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43000" y="789552"/>
            <a:ext cx="6515100" cy="4353948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 dirty="0"/>
              <a:t>ARI – </a:t>
            </a:r>
            <a:r>
              <a:rPr lang="en-US" altLang="zh-TW" b="1" dirty="0"/>
              <a:t>A</a:t>
            </a:r>
            <a:r>
              <a:rPr lang="en-US" altLang="zh-TW" dirty="0"/>
              <a:t>lternative </a:t>
            </a:r>
            <a:r>
              <a:rPr lang="en-US" altLang="zh-TW" b="1" dirty="0"/>
              <a:t>R</a:t>
            </a:r>
            <a:r>
              <a:rPr lang="en-US" altLang="zh-TW" dirty="0"/>
              <a:t>outing Id </a:t>
            </a:r>
            <a:r>
              <a:rPr lang="en-US" altLang="zh-TW" b="1" dirty="0"/>
              <a:t>I</a:t>
            </a:r>
            <a:r>
              <a:rPr lang="en-US" altLang="zh-TW" dirty="0"/>
              <a:t>nterpretation</a:t>
            </a:r>
          </a:p>
          <a:p>
            <a:pPr lvl="1"/>
            <a:r>
              <a:rPr lang="en-US" altLang="zh-TW" dirty="0"/>
              <a:t>Alternative Routing ID Interpretation as per the </a:t>
            </a:r>
            <a:r>
              <a:rPr lang="en-US" altLang="zh-TW" dirty="0" err="1"/>
              <a:t>PCIe</a:t>
            </a:r>
            <a:r>
              <a:rPr lang="en-US" altLang="zh-TW" dirty="0"/>
              <a:t> Base Specification</a:t>
            </a:r>
            <a:endParaRPr lang="zh-TW" altLang="en-US" dirty="0"/>
          </a:p>
          <a:p>
            <a:r>
              <a:rPr lang="en-US" altLang="zh-TW" dirty="0"/>
              <a:t>Physical Resources</a:t>
            </a:r>
          </a:p>
          <a:p>
            <a:pPr lvl="1"/>
            <a:r>
              <a:rPr lang="en-US" altLang="zh-TW" dirty="0"/>
              <a:t>Memory which allocated from physical memory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ATC - </a:t>
            </a:r>
            <a:r>
              <a:rPr lang="en-US" altLang="zh-TW" b="1" dirty="0"/>
              <a:t>A</a:t>
            </a:r>
            <a:r>
              <a:rPr lang="en-US" altLang="zh-TW" dirty="0"/>
              <a:t>ddress </a:t>
            </a:r>
            <a:r>
              <a:rPr lang="en-US" altLang="zh-TW" b="1" dirty="0"/>
              <a:t>T</a:t>
            </a:r>
            <a:r>
              <a:rPr lang="en-US" altLang="zh-TW" dirty="0"/>
              <a:t>ranslation </a:t>
            </a:r>
            <a:r>
              <a:rPr lang="en-US" altLang="zh-TW" b="1" dirty="0"/>
              <a:t>C</a:t>
            </a:r>
            <a:r>
              <a:rPr lang="en-US" altLang="zh-TW" dirty="0"/>
              <a:t>ache</a:t>
            </a:r>
          </a:p>
          <a:p>
            <a:pPr lvl="1"/>
            <a:r>
              <a:rPr lang="en-US" altLang="zh-TW" dirty="0"/>
              <a:t>A </a:t>
            </a:r>
            <a:r>
              <a:rPr lang="en-US" altLang="zh-TW" b="1" dirty="0"/>
              <a:t>hardware</a:t>
            </a:r>
            <a:r>
              <a:rPr lang="en-US" altLang="zh-TW" dirty="0"/>
              <a:t> stores recently </a:t>
            </a:r>
          </a:p>
          <a:p>
            <a:pPr marL="342900" lvl="1" indent="0">
              <a:buNone/>
            </a:pPr>
            <a:r>
              <a:rPr lang="en-US" altLang="zh-TW" dirty="0"/>
              <a:t>    used address translations.</a:t>
            </a:r>
          </a:p>
          <a:p>
            <a:pPr lvl="1"/>
            <a:r>
              <a:rPr lang="en-US" altLang="zh-TW" dirty="0"/>
              <a:t>This term is used instead of </a:t>
            </a:r>
          </a:p>
          <a:p>
            <a:pPr marL="342900" lvl="1" indent="0">
              <a:buNone/>
            </a:pPr>
            <a:r>
              <a:rPr lang="en-US" altLang="zh-TW" dirty="0"/>
              <a:t>     TLB buffer</a:t>
            </a:r>
          </a:p>
          <a:p>
            <a:pPr lvl="1"/>
            <a:r>
              <a:rPr lang="en-US" altLang="zh-TW" dirty="0"/>
              <a:t>To differentiate the</a:t>
            </a:r>
            <a:r>
              <a:rPr lang="en-US" altLang="zh-TW" b="1" dirty="0"/>
              <a:t> TLB used </a:t>
            </a:r>
          </a:p>
          <a:p>
            <a:pPr marL="342900" lvl="1" indent="0">
              <a:buNone/>
            </a:pPr>
            <a:r>
              <a:rPr lang="en-US" altLang="zh-TW" b="1" dirty="0"/>
              <a:t>     for I/O</a:t>
            </a:r>
            <a:r>
              <a:rPr lang="en-US" altLang="zh-TW" dirty="0"/>
              <a:t> from the </a:t>
            </a:r>
            <a:r>
              <a:rPr lang="en-US" altLang="zh-TW" b="1" dirty="0"/>
              <a:t>TLB used by </a:t>
            </a:r>
          </a:p>
          <a:p>
            <a:pPr marL="342900" lvl="1" indent="0">
              <a:buNone/>
            </a:pPr>
            <a:r>
              <a:rPr lang="en-US" altLang="zh-TW" b="1" dirty="0"/>
              <a:t>     the CPU</a:t>
            </a:r>
          </a:p>
        </p:txBody>
      </p:sp>
      <p:grpSp>
        <p:nvGrpSpPr>
          <p:cNvPr id="48" name="群組 47"/>
          <p:cNvGrpSpPr/>
          <p:nvPr/>
        </p:nvGrpSpPr>
        <p:grpSpPr>
          <a:xfrm>
            <a:off x="4812601" y="3062140"/>
            <a:ext cx="3139048" cy="1726118"/>
            <a:chOff x="3537557" y="3996948"/>
            <a:chExt cx="4185397" cy="2301491"/>
          </a:xfrm>
        </p:grpSpPr>
        <p:grpSp>
          <p:nvGrpSpPr>
            <p:cNvPr id="21" name="群組 20"/>
            <p:cNvGrpSpPr/>
            <p:nvPr/>
          </p:nvGrpSpPr>
          <p:grpSpPr>
            <a:xfrm>
              <a:off x="4873641" y="3996948"/>
              <a:ext cx="2849313" cy="618725"/>
              <a:chOff x="5868143" y="1988840"/>
              <a:chExt cx="3314618" cy="655222"/>
            </a:xfrm>
          </p:grpSpPr>
          <p:sp>
            <p:nvSpPr>
              <p:cNvPr id="42" name="矩形 41"/>
              <p:cNvSpPr/>
              <p:nvPr/>
            </p:nvSpPr>
            <p:spPr>
              <a:xfrm>
                <a:off x="5868143" y="1988840"/>
                <a:ext cx="3314618" cy="655222"/>
              </a:xfrm>
              <a:prstGeom prst="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zh-TW" sz="1350" dirty="0"/>
                  <a:t>Function 0 </a:t>
                </a:r>
                <a:endParaRPr lang="zh-TW" altLang="en-US" sz="1350" dirty="0"/>
              </a:p>
            </p:txBody>
          </p:sp>
          <p:sp>
            <p:nvSpPr>
              <p:cNvPr id="43" name="矩形 42"/>
              <p:cNvSpPr/>
              <p:nvPr/>
            </p:nvSpPr>
            <p:spPr>
              <a:xfrm>
                <a:off x="7413609" y="2073271"/>
                <a:ext cx="720080" cy="504056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900" dirty="0"/>
                  <a:t>ATC1</a:t>
                </a:r>
                <a:endParaRPr lang="zh-TW" altLang="en-US" sz="900" dirty="0"/>
              </a:p>
            </p:txBody>
          </p:sp>
          <p:sp>
            <p:nvSpPr>
              <p:cNvPr id="44" name="矩形 43"/>
              <p:cNvSpPr/>
              <p:nvPr/>
            </p:nvSpPr>
            <p:spPr>
              <a:xfrm>
                <a:off x="8158903" y="2073271"/>
                <a:ext cx="1000852" cy="50405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900" dirty="0"/>
                  <a:t>Physical Resources1</a:t>
                </a:r>
                <a:endParaRPr lang="zh-TW" altLang="en-US" sz="900" dirty="0"/>
              </a:p>
            </p:txBody>
          </p:sp>
        </p:grpSp>
        <p:grpSp>
          <p:nvGrpSpPr>
            <p:cNvPr id="22" name="群組 21"/>
            <p:cNvGrpSpPr/>
            <p:nvPr/>
          </p:nvGrpSpPr>
          <p:grpSpPr>
            <a:xfrm>
              <a:off x="4873642" y="4881946"/>
              <a:ext cx="2829536" cy="618725"/>
              <a:chOff x="5868144" y="1988840"/>
              <a:chExt cx="3291611" cy="655222"/>
            </a:xfrm>
          </p:grpSpPr>
          <p:sp>
            <p:nvSpPr>
              <p:cNvPr id="39" name="矩形 38"/>
              <p:cNvSpPr/>
              <p:nvPr/>
            </p:nvSpPr>
            <p:spPr>
              <a:xfrm>
                <a:off x="5868144" y="1988840"/>
                <a:ext cx="3291611" cy="655222"/>
              </a:xfrm>
              <a:prstGeom prst="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zh-TW" sz="1350" dirty="0"/>
                  <a:t>Function 1 </a:t>
                </a:r>
                <a:endParaRPr lang="zh-TW" altLang="en-US" sz="1350" dirty="0"/>
              </a:p>
            </p:txBody>
          </p:sp>
          <p:sp>
            <p:nvSpPr>
              <p:cNvPr id="40" name="矩形 39"/>
              <p:cNvSpPr/>
              <p:nvPr/>
            </p:nvSpPr>
            <p:spPr>
              <a:xfrm>
                <a:off x="7413609" y="2088605"/>
                <a:ext cx="720080" cy="504056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900" dirty="0"/>
                  <a:t>ATC2</a:t>
                </a:r>
                <a:endParaRPr lang="zh-TW" altLang="en-US" sz="900" dirty="0"/>
              </a:p>
            </p:txBody>
          </p:sp>
          <p:sp>
            <p:nvSpPr>
              <p:cNvPr id="41" name="矩形 40"/>
              <p:cNvSpPr/>
              <p:nvPr/>
            </p:nvSpPr>
            <p:spPr>
              <a:xfrm>
                <a:off x="8133689" y="2088605"/>
                <a:ext cx="1000852" cy="50405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900" dirty="0"/>
                  <a:t>Physical Resources2</a:t>
                </a:r>
                <a:endParaRPr lang="zh-TW" altLang="en-US" sz="900" dirty="0"/>
              </a:p>
            </p:txBody>
          </p:sp>
        </p:grpSp>
        <p:grpSp>
          <p:nvGrpSpPr>
            <p:cNvPr id="23" name="群組 22"/>
            <p:cNvGrpSpPr/>
            <p:nvPr/>
          </p:nvGrpSpPr>
          <p:grpSpPr>
            <a:xfrm>
              <a:off x="4873642" y="5679714"/>
              <a:ext cx="2829536" cy="618725"/>
              <a:chOff x="5868144" y="1988840"/>
              <a:chExt cx="3291611" cy="655222"/>
            </a:xfrm>
          </p:grpSpPr>
          <p:sp>
            <p:nvSpPr>
              <p:cNvPr id="36" name="矩形 35"/>
              <p:cNvSpPr/>
              <p:nvPr/>
            </p:nvSpPr>
            <p:spPr>
              <a:xfrm>
                <a:off x="5868144" y="1988840"/>
                <a:ext cx="3291611" cy="655222"/>
              </a:xfrm>
              <a:prstGeom prst="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zh-TW" sz="1350" dirty="0"/>
                  <a:t>Function 2 </a:t>
                </a:r>
                <a:endParaRPr lang="zh-TW" altLang="en-US" sz="1350" dirty="0"/>
              </a:p>
            </p:txBody>
          </p:sp>
          <p:sp>
            <p:nvSpPr>
              <p:cNvPr id="37" name="矩形 36"/>
              <p:cNvSpPr/>
              <p:nvPr/>
            </p:nvSpPr>
            <p:spPr>
              <a:xfrm>
                <a:off x="7438823" y="2088605"/>
                <a:ext cx="720080" cy="504056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900" dirty="0"/>
                  <a:t>ATC3</a:t>
                </a:r>
                <a:endParaRPr lang="zh-TW" altLang="en-US" sz="900" dirty="0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8158902" y="2088605"/>
                <a:ext cx="1000852" cy="50405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900" dirty="0"/>
                  <a:t>Physical Resources3</a:t>
                </a:r>
                <a:endParaRPr lang="zh-TW" altLang="en-US" sz="900" dirty="0"/>
              </a:p>
            </p:txBody>
          </p:sp>
        </p:grpSp>
        <p:sp>
          <p:nvSpPr>
            <p:cNvPr id="24" name="六邊形 23"/>
            <p:cNvSpPr/>
            <p:nvPr/>
          </p:nvSpPr>
          <p:spPr>
            <a:xfrm>
              <a:off x="3537557" y="4835553"/>
              <a:ext cx="990393" cy="711509"/>
            </a:xfrm>
            <a:prstGeom prst="hexagon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900" dirty="0"/>
                <a:t>Internal Routing</a:t>
              </a:r>
              <a:endParaRPr lang="zh-TW" altLang="en-US" sz="900" dirty="0"/>
            </a:p>
          </p:txBody>
        </p:sp>
        <p:cxnSp>
          <p:nvCxnSpPr>
            <p:cNvPr id="26" name="肘形接點 25"/>
            <p:cNvCxnSpPr>
              <a:stCxn id="42" idx="1"/>
              <a:endCxn id="24" idx="5"/>
            </p:cNvCxnSpPr>
            <p:nvPr/>
          </p:nvCxnSpPr>
          <p:spPr>
            <a:xfrm rot="10800000" flipV="1">
              <a:off x="4350073" y="4306311"/>
              <a:ext cx="523568" cy="529242"/>
            </a:xfrm>
            <a:prstGeom prst="bentConnector2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肘形接點 26"/>
            <p:cNvCxnSpPr>
              <a:stCxn id="39" idx="1"/>
              <a:endCxn id="24" idx="0"/>
            </p:cNvCxnSpPr>
            <p:nvPr/>
          </p:nvCxnSpPr>
          <p:spPr>
            <a:xfrm rot="10800000">
              <a:off x="4527950" y="5191309"/>
              <a:ext cx="345692" cy="1"/>
            </a:xfrm>
            <a:prstGeom prst="bentConnector3">
              <a:avLst>
                <a:gd name="adj1" fmla="val 50000"/>
              </a:avLst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肘形接點 27"/>
            <p:cNvCxnSpPr>
              <a:stCxn id="36" idx="1"/>
              <a:endCxn id="24" idx="1"/>
            </p:cNvCxnSpPr>
            <p:nvPr/>
          </p:nvCxnSpPr>
          <p:spPr>
            <a:xfrm rot="10800000">
              <a:off x="4350074" y="5547063"/>
              <a:ext cx="523569" cy="442015"/>
            </a:xfrm>
            <a:prstGeom prst="bentConnector2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496917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Physical V.S. Virtual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1427976" y="854117"/>
            <a:ext cx="4887162" cy="1974558"/>
            <a:chOff x="1972086" y="2348880"/>
            <a:chExt cx="6632361" cy="3044707"/>
          </a:xfrm>
        </p:grpSpPr>
        <p:grpSp>
          <p:nvGrpSpPr>
            <p:cNvPr id="5" name="群組 4"/>
            <p:cNvGrpSpPr/>
            <p:nvPr/>
          </p:nvGrpSpPr>
          <p:grpSpPr>
            <a:xfrm>
              <a:off x="1972086" y="2348880"/>
              <a:ext cx="6632361" cy="2952328"/>
              <a:chOff x="1024106" y="2348880"/>
              <a:chExt cx="7580342" cy="2952328"/>
            </a:xfrm>
          </p:grpSpPr>
          <p:sp>
            <p:nvSpPr>
              <p:cNvPr id="7" name="矩形 6"/>
              <p:cNvSpPr/>
              <p:nvPr/>
            </p:nvSpPr>
            <p:spPr>
              <a:xfrm>
                <a:off x="1403648" y="2348880"/>
                <a:ext cx="7200800" cy="2952328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 dirty="0"/>
              </a:p>
            </p:txBody>
          </p:sp>
          <p:grpSp>
            <p:nvGrpSpPr>
              <p:cNvPr id="8" name="群組 7"/>
              <p:cNvGrpSpPr/>
              <p:nvPr/>
            </p:nvGrpSpPr>
            <p:grpSpPr>
              <a:xfrm>
                <a:off x="5289829" y="2513328"/>
                <a:ext cx="3314618" cy="655222"/>
                <a:chOff x="5868143" y="1988840"/>
                <a:chExt cx="3314618" cy="655222"/>
              </a:xfrm>
            </p:grpSpPr>
            <p:sp>
              <p:nvSpPr>
                <p:cNvPr id="29" name="矩形 28"/>
                <p:cNvSpPr/>
                <p:nvPr/>
              </p:nvSpPr>
              <p:spPr>
                <a:xfrm>
                  <a:off x="5868143" y="1988840"/>
                  <a:ext cx="3314618" cy="655222"/>
                </a:xfrm>
                <a:prstGeom prst="rect">
                  <a:avLst/>
                </a:prstGeom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altLang="zh-TW" sz="1350" dirty="0"/>
                    <a:t>Function 0 </a:t>
                  </a:r>
                  <a:endParaRPr lang="zh-TW" altLang="en-US" sz="1350" dirty="0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>
                  <a:off x="7413609" y="2073271"/>
                  <a:ext cx="720080" cy="504056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900" dirty="0"/>
                    <a:t>ATC1</a:t>
                  </a:r>
                  <a:endParaRPr lang="zh-TW" altLang="en-US" sz="900" dirty="0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>
                  <a:off x="8158903" y="2073271"/>
                  <a:ext cx="1000852" cy="504056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900" dirty="0"/>
                    <a:t>Physical Resources1</a:t>
                  </a:r>
                  <a:endParaRPr lang="zh-TW" altLang="en-US" sz="900" dirty="0"/>
                </a:p>
              </p:txBody>
            </p:sp>
          </p:grpSp>
          <p:grpSp>
            <p:nvGrpSpPr>
              <p:cNvPr id="9" name="群組 8"/>
              <p:cNvGrpSpPr/>
              <p:nvPr/>
            </p:nvGrpSpPr>
            <p:grpSpPr>
              <a:xfrm>
                <a:off x="5289830" y="3450529"/>
                <a:ext cx="3291611" cy="655222"/>
                <a:chOff x="5868144" y="1988840"/>
                <a:chExt cx="3291611" cy="655222"/>
              </a:xfrm>
            </p:grpSpPr>
            <p:sp>
              <p:nvSpPr>
                <p:cNvPr id="26" name="矩形 25"/>
                <p:cNvSpPr/>
                <p:nvPr/>
              </p:nvSpPr>
              <p:spPr>
                <a:xfrm>
                  <a:off x="5868144" y="1988840"/>
                  <a:ext cx="3291611" cy="655222"/>
                </a:xfrm>
                <a:prstGeom prst="rect">
                  <a:avLst/>
                </a:prstGeom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altLang="zh-TW" sz="1350" dirty="0"/>
                    <a:t>Function 1 </a:t>
                  </a:r>
                  <a:endParaRPr lang="zh-TW" altLang="en-US" sz="1350" dirty="0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7413609" y="2088605"/>
                  <a:ext cx="720080" cy="504056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900" dirty="0"/>
                    <a:t>ATC2</a:t>
                  </a:r>
                  <a:endParaRPr lang="zh-TW" altLang="en-US" sz="900" dirty="0"/>
                </a:p>
              </p:txBody>
            </p:sp>
            <p:sp>
              <p:nvSpPr>
                <p:cNvPr id="28" name="矩形 27"/>
                <p:cNvSpPr/>
                <p:nvPr/>
              </p:nvSpPr>
              <p:spPr>
                <a:xfrm>
                  <a:off x="8133689" y="2088605"/>
                  <a:ext cx="1000852" cy="504056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900" dirty="0"/>
                    <a:t>Physical Resources2</a:t>
                  </a:r>
                  <a:endParaRPr lang="zh-TW" altLang="en-US" sz="900" dirty="0"/>
                </a:p>
              </p:txBody>
            </p:sp>
          </p:grpSp>
          <p:grpSp>
            <p:nvGrpSpPr>
              <p:cNvPr id="10" name="群組 9"/>
              <p:cNvGrpSpPr/>
              <p:nvPr/>
            </p:nvGrpSpPr>
            <p:grpSpPr>
              <a:xfrm>
                <a:off x="5289830" y="4295355"/>
                <a:ext cx="3291611" cy="655222"/>
                <a:chOff x="5868144" y="1988840"/>
                <a:chExt cx="3291611" cy="655222"/>
              </a:xfrm>
            </p:grpSpPr>
            <p:sp>
              <p:nvSpPr>
                <p:cNvPr id="23" name="矩形 22"/>
                <p:cNvSpPr/>
                <p:nvPr/>
              </p:nvSpPr>
              <p:spPr>
                <a:xfrm>
                  <a:off x="5868144" y="1988840"/>
                  <a:ext cx="3291611" cy="655222"/>
                </a:xfrm>
                <a:prstGeom prst="rect">
                  <a:avLst/>
                </a:prstGeom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altLang="zh-TW" sz="1350" dirty="0"/>
                    <a:t>Function 2 </a:t>
                  </a:r>
                  <a:endParaRPr lang="zh-TW" altLang="en-US" sz="1350" dirty="0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7438823" y="2088605"/>
                  <a:ext cx="720080" cy="504056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900" dirty="0"/>
                    <a:t>ATC3</a:t>
                  </a:r>
                  <a:endParaRPr lang="zh-TW" altLang="en-US" sz="900" dirty="0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8158902" y="2088605"/>
                  <a:ext cx="1000852" cy="504056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900" dirty="0"/>
                    <a:t>Physical Resources3</a:t>
                  </a:r>
                  <a:endParaRPr lang="zh-TW" altLang="en-US" sz="900" dirty="0"/>
                </a:p>
              </p:txBody>
            </p:sp>
          </p:grpSp>
          <p:sp>
            <p:nvSpPr>
              <p:cNvPr id="11" name="六邊形 10"/>
              <p:cNvSpPr/>
              <p:nvPr/>
            </p:nvSpPr>
            <p:spPr>
              <a:xfrm>
                <a:off x="3159494" y="3406285"/>
                <a:ext cx="1152128" cy="753479"/>
              </a:xfrm>
              <a:prstGeom prst="hexagon">
                <a:avLst/>
              </a:prstGeom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900" dirty="0"/>
                  <a:t>Internal Routing</a:t>
                </a:r>
                <a:endParaRPr lang="zh-TW" altLang="en-US" sz="900" dirty="0"/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1514887" y="2573048"/>
                <a:ext cx="1656184" cy="586789"/>
              </a:xfrm>
              <a:prstGeom prst="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900" dirty="0"/>
                  <a:t>Configuration Resources</a:t>
                </a:r>
                <a:endParaRPr lang="zh-TW" altLang="en-US" sz="900" dirty="0"/>
              </a:p>
            </p:txBody>
          </p:sp>
          <p:cxnSp>
            <p:nvCxnSpPr>
              <p:cNvPr id="13" name="肘形接點 12"/>
              <p:cNvCxnSpPr>
                <a:stCxn id="29" idx="1"/>
                <a:endCxn id="11" idx="5"/>
              </p:cNvCxnSpPr>
              <p:nvPr/>
            </p:nvCxnSpPr>
            <p:spPr>
              <a:xfrm rot="10800000" flipV="1">
                <a:off x="4099523" y="2840939"/>
                <a:ext cx="1190307" cy="565346"/>
              </a:xfrm>
              <a:prstGeom prst="bentConnector2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肘形接點 13"/>
              <p:cNvCxnSpPr>
                <a:stCxn id="26" idx="1"/>
                <a:endCxn id="11" idx="0"/>
              </p:cNvCxnSpPr>
              <p:nvPr/>
            </p:nvCxnSpPr>
            <p:spPr>
              <a:xfrm rot="10800000" flipV="1">
                <a:off x="4311622" y="3778139"/>
                <a:ext cx="978208" cy="4885"/>
              </a:xfrm>
              <a:prstGeom prst="bentConnector3">
                <a:avLst>
                  <a:gd name="adj1" fmla="val 50000"/>
                </a:avLst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肘形接點 14"/>
              <p:cNvCxnSpPr>
                <a:stCxn id="23" idx="1"/>
                <a:endCxn id="11" idx="1"/>
              </p:cNvCxnSpPr>
              <p:nvPr/>
            </p:nvCxnSpPr>
            <p:spPr>
              <a:xfrm rot="10800000">
                <a:off x="4099522" y="4159764"/>
                <a:ext cx="1190308" cy="463202"/>
              </a:xfrm>
              <a:prstGeom prst="bentConnector2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肘形接點 15"/>
              <p:cNvCxnSpPr>
                <a:stCxn id="12" idx="3"/>
                <a:endCxn id="11" idx="4"/>
              </p:cNvCxnSpPr>
              <p:nvPr/>
            </p:nvCxnSpPr>
            <p:spPr>
              <a:xfrm>
                <a:off x="3171071" y="2866443"/>
                <a:ext cx="176793" cy="539842"/>
              </a:xfrm>
              <a:prstGeom prst="bentConnector2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矩形 16"/>
              <p:cNvSpPr/>
              <p:nvPr/>
            </p:nvSpPr>
            <p:spPr>
              <a:xfrm>
                <a:off x="1024106" y="3331168"/>
                <a:ext cx="914400" cy="504056"/>
              </a:xfrm>
              <a:prstGeom prst="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350" dirty="0" err="1"/>
                  <a:t>PCIe</a:t>
                </a:r>
                <a:endParaRPr lang="en-US" altLang="zh-TW" sz="1350" dirty="0"/>
              </a:p>
              <a:p>
                <a:pPr algn="ctr"/>
                <a:r>
                  <a:rPr lang="en-US" altLang="zh-TW" sz="1350" dirty="0"/>
                  <a:t>Port</a:t>
                </a:r>
                <a:endParaRPr lang="zh-TW" altLang="en-US" sz="1350" dirty="0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1057687" y="4054350"/>
                <a:ext cx="914400" cy="504056"/>
              </a:xfrm>
              <a:prstGeom prst="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350" dirty="0" err="1"/>
                  <a:t>PCIe</a:t>
                </a:r>
                <a:endParaRPr lang="en-US" altLang="zh-TW" sz="1350" dirty="0"/>
              </a:p>
              <a:p>
                <a:pPr algn="ctr"/>
                <a:r>
                  <a:rPr lang="en-US" altLang="zh-TW" sz="1350" dirty="0"/>
                  <a:t>Port</a:t>
                </a:r>
                <a:endParaRPr lang="zh-TW" altLang="en-US" sz="1350" dirty="0"/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1057687" y="4749471"/>
                <a:ext cx="914400" cy="504056"/>
              </a:xfrm>
              <a:prstGeom prst="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350" dirty="0" err="1"/>
                  <a:t>PCIe</a:t>
                </a:r>
                <a:endParaRPr lang="en-US" altLang="zh-TW" sz="1350" dirty="0"/>
              </a:p>
              <a:p>
                <a:pPr algn="ctr"/>
                <a:r>
                  <a:rPr lang="en-US" altLang="zh-TW" sz="1350" dirty="0"/>
                  <a:t>Port</a:t>
                </a:r>
                <a:endParaRPr lang="zh-TW" altLang="en-US" sz="1350" dirty="0"/>
              </a:p>
            </p:txBody>
          </p:sp>
          <p:cxnSp>
            <p:nvCxnSpPr>
              <p:cNvPr id="20" name="肘形接點 19"/>
              <p:cNvCxnSpPr>
                <a:stCxn id="17" idx="3"/>
                <a:endCxn id="11" idx="3"/>
              </p:cNvCxnSpPr>
              <p:nvPr/>
            </p:nvCxnSpPr>
            <p:spPr>
              <a:xfrm>
                <a:off x="1938506" y="3583196"/>
                <a:ext cx="1220988" cy="199829"/>
              </a:xfrm>
              <a:prstGeom prst="bentConnector3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肘形接點 20"/>
              <p:cNvCxnSpPr>
                <a:stCxn id="18" idx="3"/>
                <a:endCxn id="11" idx="2"/>
              </p:cNvCxnSpPr>
              <p:nvPr/>
            </p:nvCxnSpPr>
            <p:spPr>
              <a:xfrm flipV="1">
                <a:off x="1972087" y="4159764"/>
                <a:ext cx="1375777" cy="146614"/>
              </a:xfrm>
              <a:prstGeom prst="bentConnector2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肘形接點 21"/>
              <p:cNvCxnSpPr>
                <a:stCxn id="19" idx="3"/>
                <a:endCxn id="11" idx="2"/>
              </p:cNvCxnSpPr>
              <p:nvPr/>
            </p:nvCxnSpPr>
            <p:spPr>
              <a:xfrm flipV="1">
                <a:off x="1972087" y="4159764"/>
                <a:ext cx="1375777" cy="841735"/>
              </a:xfrm>
              <a:prstGeom prst="bentConnector2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字方塊 5"/>
            <p:cNvSpPr txBox="1"/>
            <p:nvPr/>
          </p:nvSpPr>
          <p:spPr>
            <a:xfrm>
              <a:off x="4135616" y="4895277"/>
              <a:ext cx="1747308" cy="4983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00" b="1" dirty="0" err="1"/>
                <a:t>PCIe</a:t>
              </a:r>
              <a:r>
                <a:rPr lang="en-US" altLang="zh-TW" sz="1500" b="1" dirty="0"/>
                <a:t> Device</a:t>
              </a:r>
              <a:endParaRPr lang="zh-TW" altLang="en-US" sz="1500" b="1" dirty="0"/>
            </a:p>
          </p:txBody>
        </p:sp>
      </p:grpSp>
      <p:grpSp>
        <p:nvGrpSpPr>
          <p:cNvPr id="70" name="群組 69"/>
          <p:cNvGrpSpPr/>
          <p:nvPr/>
        </p:nvGrpSpPr>
        <p:grpSpPr>
          <a:xfrm>
            <a:off x="1385646" y="3020321"/>
            <a:ext cx="4887162" cy="2116299"/>
            <a:chOff x="323528" y="4027094"/>
            <a:chExt cx="6516216" cy="2821732"/>
          </a:xfrm>
        </p:grpSpPr>
        <p:grpSp>
          <p:nvGrpSpPr>
            <p:cNvPr id="33" name="群組 32"/>
            <p:cNvGrpSpPr/>
            <p:nvPr/>
          </p:nvGrpSpPr>
          <p:grpSpPr>
            <a:xfrm>
              <a:off x="323528" y="4027094"/>
              <a:ext cx="6516216" cy="2821732"/>
              <a:chOff x="1972086" y="2348880"/>
              <a:chExt cx="6632361" cy="2952328"/>
            </a:xfrm>
          </p:grpSpPr>
          <p:grpSp>
            <p:nvGrpSpPr>
              <p:cNvPr id="34" name="群組 33"/>
              <p:cNvGrpSpPr/>
              <p:nvPr/>
            </p:nvGrpSpPr>
            <p:grpSpPr>
              <a:xfrm>
                <a:off x="1972086" y="2348880"/>
                <a:ext cx="6632361" cy="2952328"/>
                <a:chOff x="1024106" y="2348880"/>
                <a:chExt cx="7580342" cy="2952328"/>
              </a:xfrm>
            </p:grpSpPr>
            <p:sp>
              <p:nvSpPr>
                <p:cNvPr id="36" name="矩形 35"/>
                <p:cNvSpPr/>
                <p:nvPr/>
              </p:nvSpPr>
              <p:spPr>
                <a:xfrm>
                  <a:off x="1403648" y="2348880"/>
                  <a:ext cx="7200800" cy="2952328"/>
                </a:xfrm>
                <a:prstGeom prst="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 dirty="0"/>
                </a:p>
              </p:txBody>
            </p:sp>
            <p:grpSp>
              <p:nvGrpSpPr>
                <p:cNvPr id="37" name="群組 36"/>
                <p:cNvGrpSpPr/>
                <p:nvPr/>
              </p:nvGrpSpPr>
              <p:grpSpPr>
                <a:xfrm>
                  <a:off x="5289829" y="2513327"/>
                  <a:ext cx="3314618" cy="1017669"/>
                  <a:chOff x="5868143" y="1988839"/>
                  <a:chExt cx="3314618" cy="1017669"/>
                </a:xfrm>
              </p:grpSpPr>
              <p:sp>
                <p:nvSpPr>
                  <p:cNvPr id="58" name="矩形 57"/>
                  <p:cNvSpPr/>
                  <p:nvPr/>
                </p:nvSpPr>
                <p:spPr>
                  <a:xfrm>
                    <a:off x="5868143" y="1988839"/>
                    <a:ext cx="3314618" cy="1017669"/>
                  </a:xfrm>
                  <a:prstGeom prst="rect">
                    <a:avLst/>
                  </a:prstGeom>
                </p:spPr>
                <p:style>
                  <a:lnRef idx="0">
                    <a:schemeClr val="accent6"/>
                  </a:lnRef>
                  <a:fillRef idx="3">
                    <a:schemeClr val="accent6"/>
                  </a:fillRef>
                  <a:effectRef idx="3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altLang="zh-TW" sz="1350" dirty="0"/>
                      <a:t>PF 0 </a:t>
                    </a:r>
                    <a:endParaRPr lang="zh-TW" altLang="en-US" sz="1350" dirty="0"/>
                  </a:p>
                </p:txBody>
              </p:sp>
              <p:sp>
                <p:nvSpPr>
                  <p:cNvPr id="59" name="矩形 58"/>
                  <p:cNvSpPr/>
                  <p:nvPr/>
                </p:nvSpPr>
                <p:spPr>
                  <a:xfrm>
                    <a:off x="7461829" y="2490141"/>
                    <a:ext cx="720080" cy="504056"/>
                  </a:xfrm>
                  <a:prstGeom prst="rect">
                    <a:avLst/>
                  </a:prstGeom>
                </p:spPr>
                <p:style>
                  <a:lnRef idx="1">
                    <a:schemeClr val="accent6"/>
                  </a:lnRef>
                  <a:fillRef idx="2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900" dirty="0"/>
                      <a:t>ATC1</a:t>
                    </a:r>
                    <a:endParaRPr lang="zh-TW" altLang="en-US" sz="900" dirty="0"/>
                  </a:p>
                </p:txBody>
              </p:sp>
              <p:sp>
                <p:nvSpPr>
                  <p:cNvPr id="60" name="矩形 59"/>
                  <p:cNvSpPr/>
                  <p:nvPr/>
                </p:nvSpPr>
                <p:spPr>
                  <a:xfrm>
                    <a:off x="8181909" y="2502452"/>
                    <a:ext cx="1000852" cy="504056"/>
                  </a:xfrm>
                  <a:prstGeom prst="rect">
                    <a:avLst/>
                  </a:prstGeom>
                </p:spPr>
                <p:style>
                  <a:lnRef idx="1">
                    <a:schemeClr val="accent3"/>
                  </a:lnRef>
                  <a:fillRef idx="2">
                    <a:schemeClr val="accent3"/>
                  </a:fillRef>
                  <a:effectRef idx="1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900" dirty="0"/>
                      <a:t>Physical Resources</a:t>
                    </a:r>
                    <a:endParaRPr lang="zh-TW" altLang="en-US" sz="900" dirty="0"/>
                  </a:p>
                </p:txBody>
              </p:sp>
            </p:grpSp>
            <p:grpSp>
              <p:nvGrpSpPr>
                <p:cNvPr id="38" name="群組 37"/>
                <p:cNvGrpSpPr/>
                <p:nvPr/>
              </p:nvGrpSpPr>
              <p:grpSpPr>
                <a:xfrm>
                  <a:off x="5289830" y="3802321"/>
                  <a:ext cx="3291611" cy="655222"/>
                  <a:chOff x="5868144" y="2340632"/>
                  <a:chExt cx="3291611" cy="655222"/>
                </a:xfrm>
              </p:grpSpPr>
              <p:sp>
                <p:nvSpPr>
                  <p:cNvPr id="55" name="矩形 54"/>
                  <p:cNvSpPr/>
                  <p:nvPr/>
                </p:nvSpPr>
                <p:spPr>
                  <a:xfrm>
                    <a:off x="5868144" y="2340632"/>
                    <a:ext cx="3291611" cy="655222"/>
                  </a:xfrm>
                  <a:prstGeom prst="rect">
                    <a:avLst/>
                  </a:prstGeom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altLang="zh-TW" sz="1350" dirty="0"/>
                      <a:t>VF 0,1 </a:t>
                    </a:r>
                    <a:endParaRPr lang="zh-TW" altLang="en-US" sz="1350" dirty="0"/>
                  </a:p>
                </p:txBody>
              </p:sp>
              <p:sp>
                <p:nvSpPr>
                  <p:cNvPr id="57" name="矩形 56"/>
                  <p:cNvSpPr/>
                  <p:nvPr/>
                </p:nvSpPr>
                <p:spPr>
                  <a:xfrm>
                    <a:off x="8124094" y="2446047"/>
                    <a:ext cx="1000852" cy="504056"/>
                  </a:xfrm>
                  <a:prstGeom prst="rect">
                    <a:avLst/>
                  </a:prstGeom>
                </p:spPr>
                <p:style>
                  <a:lnRef idx="1">
                    <a:schemeClr val="accent3"/>
                  </a:lnRef>
                  <a:fillRef idx="2">
                    <a:schemeClr val="accent3"/>
                  </a:fillRef>
                  <a:effectRef idx="1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900" dirty="0"/>
                      <a:t>Physical Resources</a:t>
                    </a:r>
                    <a:endParaRPr lang="zh-TW" altLang="en-US" sz="900" dirty="0"/>
                  </a:p>
                </p:txBody>
              </p:sp>
            </p:grpSp>
            <p:grpSp>
              <p:nvGrpSpPr>
                <p:cNvPr id="39" name="群組 38"/>
                <p:cNvGrpSpPr/>
                <p:nvPr/>
              </p:nvGrpSpPr>
              <p:grpSpPr>
                <a:xfrm>
                  <a:off x="5312836" y="4558406"/>
                  <a:ext cx="3291611" cy="655222"/>
                  <a:chOff x="5891150" y="2251891"/>
                  <a:chExt cx="3291611" cy="655222"/>
                </a:xfrm>
              </p:grpSpPr>
              <p:sp>
                <p:nvSpPr>
                  <p:cNvPr id="52" name="矩形 51"/>
                  <p:cNvSpPr/>
                  <p:nvPr/>
                </p:nvSpPr>
                <p:spPr>
                  <a:xfrm>
                    <a:off x="5891150" y="2251891"/>
                    <a:ext cx="3291611" cy="655222"/>
                  </a:xfrm>
                  <a:prstGeom prst="rect">
                    <a:avLst/>
                  </a:prstGeom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altLang="zh-TW" sz="1350" dirty="0"/>
                      <a:t>VF 0,2</a:t>
                    </a:r>
                    <a:endParaRPr lang="zh-TW" altLang="en-US" sz="1350" dirty="0"/>
                  </a:p>
                </p:txBody>
              </p:sp>
              <p:sp>
                <p:nvSpPr>
                  <p:cNvPr id="54" name="矩形 53"/>
                  <p:cNvSpPr/>
                  <p:nvPr/>
                </p:nvSpPr>
                <p:spPr>
                  <a:xfrm>
                    <a:off x="8158902" y="2340633"/>
                    <a:ext cx="1000852" cy="504056"/>
                  </a:xfrm>
                  <a:prstGeom prst="rect">
                    <a:avLst/>
                  </a:prstGeom>
                </p:spPr>
                <p:style>
                  <a:lnRef idx="1">
                    <a:schemeClr val="accent3"/>
                  </a:lnRef>
                  <a:fillRef idx="2">
                    <a:schemeClr val="accent3"/>
                  </a:fillRef>
                  <a:effectRef idx="1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900" dirty="0"/>
                      <a:t>Physical Resources</a:t>
                    </a:r>
                    <a:endParaRPr lang="zh-TW" altLang="en-US" sz="900" dirty="0"/>
                  </a:p>
                </p:txBody>
              </p:sp>
            </p:grpSp>
            <p:sp>
              <p:nvSpPr>
                <p:cNvPr id="40" name="六邊形 39"/>
                <p:cNvSpPr/>
                <p:nvPr/>
              </p:nvSpPr>
              <p:spPr>
                <a:xfrm>
                  <a:off x="3159494" y="3406285"/>
                  <a:ext cx="1152128" cy="753479"/>
                </a:xfrm>
                <a:prstGeom prst="hexagon">
                  <a:avLst/>
                </a:prstGeom>
              </p:spPr>
              <p:style>
                <a:lnRef idx="0">
                  <a:schemeClr val="accent4"/>
                </a:lnRef>
                <a:fillRef idx="3">
                  <a:schemeClr val="accent4"/>
                </a:fillRef>
                <a:effectRef idx="3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900" dirty="0"/>
                    <a:t>Internal Routing</a:t>
                  </a:r>
                  <a:endParaRPr lang="zh-TW" altLang="en-US" sz="900" dirty="0"/>
                </a:p>
              </p:txBody>
            </p:sp>
            <p:cxnSp>
              <p:nvCxnSpPr>
                <p:cNvPr id="42" name="肘形接點 41"/>
                <p:cNvCxnSpPr>
                  <a:stCxn id="58" idx="1"/>
                  <a:endCxn id="40" idx="5"/>
                </p:cNvCxnSpPr>
                <p:nvPr/>
              </p:nvCxnSpPr>
              <p:spPr>
                <a:xfrm rot="10800000" flipV="1">
                  <a:off x="4102186" y="3022162"/>
                  <a:ext cx="1187644" cy="384124"/>
                </a:xfrm>
                <a:prstGeom prst="bentConnector2">
                  <a:avLst/>
                </a:prstGeom>
                <a:ln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肘形接點 42"/>
                <p:cNvCxnSpPr>
                  <a:stCxn id="55" idx="1"/>
                  <a:endCxn id="40" idx="0"/>
                </p:cNvCxnSpPr>
                <p:nvPr/>
              </p:nvCxnSpPr>
              <p:spPr>
                <a:xfrm rot="10800000">
                  <a:off x="4311624" y="3783025"/>
                  <a:ext cx="978207" cy="346907"/>
                </a:xfrm>
                <a:prstGeom prst="bentConnector3">
                  <a:avLst>
                    <a:gd name="adj1" fmla="val 50000"/>
                  </a:avLst>
                </a:prstGeom>
                <a:ln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肘形接點 43"/>
                <p:cNvCxnSpPr>
                  <a:stCxn id="52" idx="1"/>
                  <a:endCxn id="40" idx="1"/>
                </p:cNvCxnSpPr>
                <p:nvPr/>
              </p:nvCxnSpPr>
              <p:spPr>
                <a:xfrm rot="10800000">
                  <a:off x="4102185" y="4159765"/>
                  <a:ext cx="1210651" cy="726253"/>
                </a:xfrm>
                <a:prstGeom prst="bentConnector2">
                  <a:avLst/>
                </a:prstGeom>
                <a:ln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" name="矩形 45"/>
                <p:cNvSpPr/>
                <p:nvPr/>
              </p:nvSpPr>
              <p:spPr>
                <a:xfrm>
                  <a:off x="1024106" y="3530996"/>
                  <a:ext cx="914400" cy="504056"/>
                </a:xfrm>
                <a:prstGeom prst="rect">
                  <a:avLst/>
                </a:prstGeom>
              </p:spPr>
              <p:style>
                <a:lnRef idx="0">
                  <a:schemeClr val="accent3"/>
                </a:lnRef>
                <a:fillRef idx="3">
                  <a:schemeClr val="accent3"/>
                </a:fillRef>
                <a:effectRef idx="3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350" dirty="0" err="1"/>
                    <a:t>PCIe</a:t>
                  </a:r>
                  <a:endParaRPr lang="en-US" altLang="zh-TW" sz="1350" dirty="0"/>
                </a:p>
                <a:p>
                  <a:pPr algn="ctr"/>
                  <a:r>
                    <a:rPr lang="en-US" altLang="zh-TW" sz="1350" dirty="0"/>
                    <a:t>Port</a:t>
                  </a:r>
                  <a:endParaRPr lang="zh-TW" altLang="en-US" sz="1350" dirty="0"/>
                </a:p>
              </p:txBody>
            </p:sp>
            <p:cxnSp>
              <p:nvCxnSpPr>
                <p:cNvPr id="49" name="肘形接點 48"/>
                <p:cNvCxnSpPr>
                  <a:stCxn id="46" idx="3"/>
                  <a:endCxn id="40" idx="3"/>
                </p:cNvCxnSpPr>
                <p:nvPr/>
              </p:nvCxnSpPr>
              <p:spPr>
                <a:xfrm>
                  <a:off x="1938506" y="3783024"/>
                  <a:ext cx="1220988" cy="1"/>
                </a:xfrm>
                <a:prstGeom prst="bentConnector3">
                  <a:avLst/>
                </a:prstGeom>
                <a:ln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5" name="文字方塊 34"/>
              <p:cNvSpPr txBox="1"/>
              <p:nvPr/>
            </p:nvSpPr>
            <p:spPr>
              <a:xfrm>
                <a:off x="2287998" y="4494618"/>
                <a:ext cx="2182395" cy="772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sz="1500" b="1" dirty="0" err="1"/>
                  <a:t>PCIe</a:t>
                </a:r>
                <a:r>
                  <a:rPr lang="en-US" altLang="zh-TW" sz="1500" b="1" dirty="0"/>
                  <a:t> SR-IOV </a:t>
                </a:r>
              </a:p>
              <a:p>
                <a:pPr algn="ctr"/>
                <a:r>
                  <a:rPr lang="en-US" altLang="zh-TW" sz="1500" b="1" dirty="0"/>
                  <a:t>Capable Device</a:t>
                </a:r>
                <a:endParaRPr lang="zh-TW" altLang="en-US" sz="1500" b="1" dirty="0"/>
              </a:p>
            </p:txBody>
          </p:sp>
        </p:grpSp>
        <p:sp>
          <p:nvSpPr>
            <p:cNvPr id="67" name="矩形 66"/>
            <p:cNvSpPr/>
            <p:nvPr/>
          </p:nvSpPr>
          <p:spPr>
            <a:xfrm>
              <a:off x="4776597" y="4241346"/>
              <a:ext cx="2043370" cy="280417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900" dirty="0"/>
                <a:t>Configuration Resources</a:t>
              </a:r>
              <a:endParaRPr lang="zh-TW" altLang="en-US" sz="900" dirty="0"/>
            </a:p>
          </p:txBody>
        </p:sp>
      </p:grpSp>
      <p:sp>
        <p:nvSpPr>
          <p:cNvPr id="71" name="文字方塊 70"/>
          <p:cNvSpPr txBox="1"/>
          <p:nvPr/>
        </p:nvSpPr>
        <p:spPr>
          <a:xfrm>
            <a:off x="6431694" y="2437761"/>
            <a:ext cx="96532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00" b="1" dirty="0"/>
              <a:t>Physical</a:t>
            </a:r>
            <a:endParaRPr lang="zh-TW" altLang="en-US" sz="1500" b="1" dirty="0"/>
          </a:p>
        </p:txBody>
      </p:sp>
      <p:sp>
        <p:nvSpPr>
          <p:cNvPr id="72" name="文字方塊 71"/>
          <p:cNvSpPr txBox="1"/>
          <p:nvPr/>
        </p:nvSpPr>
        <p:spPr>
          <a:xfrm>
            <a:off x="6412256" y="4794270"/>
            <a:ext cx="77912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00" b="1" dirty="0"/>
              <a:t>Virtual</a:t>
            </a:r>
            <a:endParaRPr lang="zh-TW" altLang="en-US" sz="1500" b="1" dirty="0"/>
          </a:p>
        </p:txBody>
      </p:sp>
    </p:spTree>
    <p:extLst>
      <p:ext uri="{BB962C8B-B14F-4D97-AF65-F5344CB8AC3E}">
        <p14:creationId xmlns:p14="http://schemas.microsoft.com/office/powerpoint/2010/main" val="31969538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PCIe</a:t>
            </a:r>
            <a:r>
              <a:rPr lang="en-US" altLang="zh-TW" dirty="0"/>
              <a:t> SR-IOV Capable Device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43000" y="789552"/>
            <a:ext cx="6515100" cy="4353948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dirty="0"/>
              <a:t>SR-IOV</a:t>
            </a:r>
          </a:p>
          <a:p>
            <a:pPr lvl="1"/>
            <a:r>
              <a:rPr lang="en-US" altLang="zh-TW" dirty="0"/>
              <a:t>A technique performs and manages </a:t>
            </a:r>
            <a:r>
              <a:rPr lang="en-US" altLang="zh-TW" dirty="0" err="1"/>
              <a:t>PCIe</a:t>
            </a:r>
            <a:r>
              <a:rPr lang="en-US" altLang="zh-TW" dirty="0"/>
              <a:t> Virtualization.</a:t>
            </a:r>
          </a:p>
          <a:p>
            <a:r>
              <a:rPr lang="en-US" altLang="zh-TW" dirty="0"/>
              <a:t>PF – physical Function</a:t>
            </a:r>
          </a:p>
          <a:p>
            <a:pPr lvl="1"/>
            <a:r>
              <a:rPr lang="en-US" altLang="zh-TW" dirty="0"/>
              <a:t>Provide full </a:t>
            </a:r>
            <a:r>
              <a:rPr lang="en-US" altLang="zh-TW" dirty="0" err="1"/>
              <a:t>PCIe</a:t>
            </a:r>
            <a:r>
              <a:rPr lang="en-US" altLang="zh-TW" dirty="0"/>
              <a:t> functionality, including the SR-IOV capabilities </a:t>
            </a:r>
          </a:p>
          <a:p>
            <a:pPr lvl="1"/>
            <a:r>
              <a:rPr lang="en-US" altLang="zh-TW" dirty="0"/>
              <a:t>Discover the </a:t>
            </a:r>
            <a:r>
              <a:rPr lang="en-US" altLang="zh-TW" b="1" dirty="0">
                <a:solidFill>
                  <a:srgbClr val="FF0000"/>
                </a:solidFill>
              </a:rPr>
              <a:t>page sizes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dirty="0"/>
              <a:t>supported by a PF and its associated VF</a:t>
            </a:r>
          </a:p>
          <a:p>
            <a:r>
              <a:rPr lang="en-US" altLang="zh-TW" dirty="0"/>
              <a:t>VF – virtual Function </a:t>
            </a:r>
          </a:p>
          <a:p>
            <a:pPr lvl="1"/>
            <a:r>
              <a:rPr lang="en-US" altLang="zh-TW" dirty="0"/>
              <a:t>A </a:t>
            </a:r>
            <a:r>
              <a:rPr lang="en-US" altLang="zh-TW" b="1" dirty="0">
                <a:solidFill>
                  <a:srgbClr val="FF0000"/>
                </a:solidFill>
              </a:rPr>
              <a:t>“light-weight</a:t>
            </a:r>
            <a:r>
              <a:rPr lang="en-US" altLang="zh-TW" dirty="0"/>
              <a:t>” </a:t>
            </a:r>
            <a:r>
              <a:rPr lang="en-US" altLang="zh-TW" dirty="0" err="1"/>
              <a:t>PCIe</a:t>
            </a:r>
            <a:r>
              <a:rPr lang="en-US" altLang="zh-TW" dirty="0"/>
              <a:t> function that</a:t>
            </a:r>
          </a:p>
          <a:p>
            <a:pPr marL="342900" lvl="1" indent="0">
              <a:buNone/>
            </a:pPr>
            <a:r>
              <a:rPr lang="en-US" altLang="zh-TW" dirty="0"/>
              <a:t>    is </a:t>
            </a:r>
            <a:r>
              <a:rPr lang="en-US" altLang="zh-TW" b="1" dirty="0">
                <a:solidFill>
                  <a:srgbClr val="FF0000"/>
                </a:solidFill>
              </a:rPr>
              <a:t>directly accessible by an SI, </a:t>
            </a:r>
          </a:p>
          <a:p>
            <a:pPr marL="342900" lvl="1" indent="0">
              <a:buNone/>
            </a:pPr>
            <a:r>
              <a:rPr lang="en-US" altLang="zh-TW" b="1" dirty="0">
                <a:solidFill>
                  <a:srgbClr val="FF0000"/>
                </a:solidFill>
              </a:rPr>
              <a:t>    </a:t>
            </a:r>
            <a:r>
              <a:rPr lang="en-US" altLang="zh-TW" dirty="0"/>
              <a:t>including </a:t>
            </a:r>
            <a:r>
              <a:rPr lang="en-US" altLang="zh-TW" u="sng" dirty="0"/>
              <a:t>an isolated memory </a:t>
            </a:r>
          </a:p>
          <a:p>
            <a:pPr marL="342900" lvl="1" indent="0">
              <a:buNone/>
            </a:pPr>
            <a:r>
              <a:rPr lang="en-US" altLang="zh-TW" dirty="0"/>
              <a:t>    </a:t>
            </a:r>
            <a:r>
              <a:rPr lang="en-US" altLang="zh-TW" u="sng" dirty="0"/>
              <a:t>space</a:t>
            </a:r>
            <a:r>
              <a:rPr lang="en-US" altLang="zh-TW" dirty="0"/>
              <a:t>, </a:t>
            </a:r>
            <a:r>
              <a:rPr lang="en-US" altLang="zh-TW" u="sng" dirty="0"/>
              <a:t>a work queue</a:t>
            </a:r>
            <a:r>
              <a:rPr lang="en-US" altLang="zh-TW" dirty="0"/>
              <a:t>, </a:t>
            </a:r>
            <a:r>
              <a:rPr lang="en-US" altLang="zh-TW" u="sng" dirty="0"/>
              <a:t>interrupts </a:t>
            </a:r>
          </a:p>
          <a:p>
            <a:pPr marL="342900" lvl="1" indent="0">
              <a:buNone/>
            </a:pPr>
            <a:r>
              <a:rPr lang="en-US" altLang="zh-TW" dirty="0"/>
              <a:t>    and </a:t>
            </a:r>
            <a:r>
              <a:rPr lang="en-US" altLang="zh-TW" u="sng" dirty="0"/>
              <a:t>command processing</a:t>
            </a:r>
            <a:r>
              <a:rPr lang="en-US" altLang="zh-TW" dirty="0"/>
              <a:t>.</a:t>
            </a:r>
            <a:endParaRPr lang="en-US" altLang="zh-TW" b="1" dirty="0">
              <a:solidFill>
                <a:srgbClr val="FF0000"/>
              </a:solidFill>
            </a:endParaRPr>
          </a:p>
          <a:p>
            <a:pPr lvl="1"/>
            <a:r>
              <a:rPr lang="en-US" altLang="zh-TW" b="1" dirty="0">
                <a:solidFill>
                  <a:srgbClr val="FF0000"/>
                </a:solidFill>
              </a:rPr>
              <a:t>For data movement</a:t>
            </a:r>
          </a:p>
          <a:p>
            <a:pPr lvl="1"/>
            <a:r>
              <a:rPr lang="en-US" altLang="zh-TW" dirty="0"/>
              <a:t>Can be optionally migrated form </a:t>
            </a:r>
          </a:p>
          <a:p>
            <a:pPr marL="342900" lvl="1" indent="0">
              <a:buNone/>
            </a:pPr>
            <a:r>
              <a:rPr lang="en-US" altLang="zh-TW" dirty="0"/>
              <a:t>    one PF to another PF </a:t>
            </a:r>
          </a:p>
          <a:p>
            <a:pPr lvl="1"/>
            <a:r>
              <a:rPr lang="en-US" altLang="zh-TW" dirty="0"/>
              <a:t>Can be serially shared by different </a:t>
            </a:r>
          </a:p>
          <a:p>
            <a:pPr marL="342900" lvl="1" indent="0">
              <a:buNone/>
            </a:pPr>
            <a:r>
              <a:rPr lang="en-US" altLang="zh-TW" dirty="0"/>
              <a:t>    SI</a:t>
            </a:r>
          </a:p>
        </p:txBody>
      </p:sp>
      <p:grpSp>
        <p:nvGrpSpPr>
          <p:cNvPr id="4" name="群組 3"/>
          <p:cNvGrpSpPr/>
          <p:nvPr/>
        </p:nvGrpSpPr>
        <p:grpSpPr>
          <a:xfrm>
            <a:off x="4971120" y="3107520"/>
            <a:ext cx="2951908" cy="1837735"/>
            <a:chOff x="3561359" y="2306860"/>
            <a:chExt cx="5063327" cy="2952328"/>
          </a:xfrm>
        </p:grpSpPr>
        <p:grpSp>
          <p:nvGrpSpPr>
            <p:cNvPr id="5" name="群組 4"/>
            <p:cNvGrpSpPr/>
            <p:nvPr/>
          </p:nvGrpSpPr>
          <p:grpSpPr>
            <a:xfrm>
              <a:off x="3561359" y="2306860"/>
              <a:ext cx="5063327" cy="2952328"/>
              <a:chOff x="2840537" y="2306860"/>
              <a:chExt cx="5787040" cy="2952328"/>
            </a:xfrm>
          </p:grpSpPr>
          <p:sp>
            <p:nvSpPr>
              <p:cNvPr id="7" name="矩形 6"/>
              <p:cNvSpPr/>
              <p:nvPr/>
            </p:nvSpPr>
            <p:spPr>
              <a:xfrm>
                <a:off x="3297736" y="2306860"/>
                <a:ext cx="5309959" cy="2952328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 dirty="0"/>
              </a:p>
            </p:txBody>
          </p:sp>
          <p:grpSp>
            <p:nvGrpSpPr>
              <p:cNvPr id="8" name="群組 7"/>
              <p:cNvGrpSpPr/>
              <p:nvPr/>
            </p:nvGrpSpPr>
            <p:grpSpPr>
              <a:xfrm>
                <a:off x="6120824" y="2695469"/>
                <a:ext cx="2506753" cy="1028859"/>
                <a:chOff x="6699138" y="2170981"/>
                <a:chExt cx="2506753" cy="1028859"/>
              </a:xfrm>
            </p:grpSpPr>
            <p:sp>
              <p:nvSpPr>
                <p:cNvPr id="21" name="矩形 20"/>
                <p:cNvSpPr/>
                <p:nvPr/>
              </p:nvSpPr>
              <p:spPr>
                <a:xfrm>
                  <a:off x="6699138" y="2170981"/>
                  <a:ext cx="2506753" cy="1028859"/>
                </a:xfrm>
                <a:prstGeom prst="rect">
                  <a:avLst/>
                </a:prstGeom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altLang="zh-TW" sz="1350" dirty="0"/>
                    <a:t>PF 0 </a:t>
                  </a:r>
                  <a:endParaRPr lang="zh-TW" altLang="en-US" sz="1350" dirty="0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7461829" y="2490141"/>
                  <a:ext cx="720080" cy="504056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900" dirty="0"/>
                    <a:t>ATC1</a:t>
                  </a:r>
                  <a:endParaRPr lang="zh-TW" altLang="en-US" sz="900" dirty="0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8181909" y="2502452"/>
                  <a:ext cx="1000852" cy="504056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900" dirty="0"/>
                    <a:t>Physical Resources</a:t>
                  </a:r>
                  <a:endParaRPr lang="zh-TW" altLang="en-US" sz="900" dirty="0"/>
                </a:p>
              </p:txBody>
            </p:sp>
          </p:grpSp>
          <p:grpSp>
            <p:nvGrpSpPr>
              <p:cNvPr id="9" name="群組 8"/>
              <p:cNvGrpSpPr/>
              <p:nvPr/>
            </p:nvGrpSpPr>
            <p:grpSpPr>
              <a:xfrm>
                <a:off x="6097691" y="3802321"/>
                <a:ext cx="2483748" cy="655222"/>
                <a:chOff x="6676005" y="2340632"/>
                <a:chExt cx="2483748" cy="655222"/>
              </a:xfrm>
            </p:grpSpPr>
            <p:sp>
              <p:nvSpPr>
                <p:cNvPr id="19" name="矩形 18"/>
                <p:cNvSpPr/>
                <p:nvPr/>
              </p:nvSpPr>
              <p:spPr>
                <a:xfrm>
                  <a:off x="6676005" y="2340632"/>
                  <a:ext cx="2483748" cy="655222"/>
                </a:xfrm>
                <a:prstGeom prst="rect">
                  <a:avLst/>
                </a:prstGeom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altLang="zh-TW" sz="1350" dirty="0"/>
                    <a:t>VF 0,1 </a:t>
                  </a:r>
                  <a:endParaRPr lang="zh-TW" altLang="en-US" sz="1350" dirty="0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8124094" y="2446047"/>
                  <a:ext cx="1000852" cy="504056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900" dirty="0"/>
                    <a:t>Physical Resources</a:t>
                  </a:r>
                  <a:endParaRPr lang="zh-TW" altLang="en-US" sz="900" dirty="0"/>
                </a:p>
              </p:txBody>
            </p:sp>
          </p:grpSp>
          <p:grpSp>
            <p:nvGrpSpPr>
              <p:cNvPr id="10" name="群組 9"/>
              <p:cNvGrpSpPr/>
              <p:nvPr/>
            </p:nvGrpSpPr>
            <p:grpSpPr>
              <a:xfrm>
                <a:off x="6097692" y="4558406"/>
                <a:ext cx="2506753" cy="655222"/>
                <a:chOff x="6676006" y="2251891"/>
                <a:chExt cx="2506753" cy="655222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6676006" y="2251891"/>
                  <a:ext cx="2506753" cy="655222"/>
                </a:xfrm>
                <a:prstGeom prst="rect">
                  <a:avLst/>
                </a:prstGeom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altLang="zh-TW" sz="1350" dirty="0"/>
                    <a:t>VF 0,2</a:t>
                  </a:r>
                  <a:endParaRPr lang="zh-TW" altLang="en-US" sz="1350" dirty="0"/>
                </a:p>
              </p:txBody>
            </p:sp>
            <p:sp>
              <p:nvSpPr>
                <p:cNvPr id="18" name="矩形 17"/>
                <p:cNvSpPr/>
                <p:nvPr/>
              </p:nvSpPr>
              <p:spPr>
                <a:xfrm>
                  <a:off x="8158902" y="2340633"/>
                  <a:ext cx="1000852" cy="504056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900" dirty="0"/>
                    <a:t>Physical Resources</a:t>
                  </a:r>
                  <a:endParaRPr lang="zh-TW" altLang="en-US" sz="900" dirty="0"/>
                </a:p>
              </p:txBody>
            </p:sp>
          </p:grpSp>
          <p:sp>
            <p:nvSpPr>
              <p:cNvPr id="11" name="六邊形 10"/>
              <p:cNvSpPr/>
              <p:nvPr/>
            </p:nvSpPr>
            <p:spPr>
              <a:xfrm>
                <a:off x="4110896" y="3753192"/>
                <a:ext cx="1560143" cy="753479"/>
              </a:xfrm>
              <a:prstGeom prst="hexagon">
                <a:avLst/>
              </a:prstGeom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900" dirty="0"/>
                  <a:t>Internal Routing</a:t>
                </a:r>
                <a:endParaRPr lang="zh-TW" altLang="en-US" sz="900" dirty="0"/>
              </a:p>
            </p:txBody>
          </p:sp>
          <p:cxnSp>
            <p:nvCxnSpPr>
              <p:cNvPr id="12" name="肘形接點 11"/>
              <p:cNvCxnSpPr>
                <a:stCxn id="21" idx="1"/>
                <a:endCxn id="11" idx="5"/>
              </p:cNvCxnSpPr>
              <p:nvPr/>
            </p:nvCxnSpPr>
            <p:spPr>
              <a:xfrm rot="10800000" flipV="1">
                <a:off x="5406325" y="3209898"/>
                <a:ext cx="714498" cy="543294"/>
              </a:xfrm>
              <a:prstGeom prst="bentConnector2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肘形接點 12"/>
              <p:cNvCxnSpPr>
                <a:stCxn id="19" idx="1"/>
                <a:endCxn id="11" idx="0"/>
              </p:cNvCxnSpPr>
              <p:nvPr/>
            </p:nvCxnSpPr>
            <p:spPr>
              <a:xfrm rot="10800000">
                <a:off x="5671039" y="4129932"/>
                <a:ext cx="426652" cy="13288"/>
              </a:xfrm>
              <a:prstGeom prst="bentConnector3">
                <a:avLst>
                  <a:gd name="adj1" fmla="val 50000"/>
                </a:avLst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肘形接點 13"/>
              <p:cNvCxnSpPr>
                <a:stCxn id="17" idx="1"/>
                <a:endCxn id="11" idx="1"/>
              </p:cNvCxnSpPr>
              <p:nvPr/>
            </p:nvCxnSpPr>
            <p:spPr>
              <a:xfrm rot="10800000">
                <a:off x="5406325" y="4506671"/>
                <a:ext cx="691367" cy="379346"/>
              </a:xfrm>
              <a:prstGeom prst="bentConnector2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矩形 14"/>
              <p:cNvSpPr/>
              <p:nvPr/>
            </p:nvSpPr>
            <p:spPr>
              <a:xfrm>
                <a:off x="2840537" y="3877903"/>
                <a:ext cx="914399" cy="504056"/>
              </a:xfrm>
              <a:prstGeom prst="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350" dirty="0" err="1"/>
                  <a:t>PCIe</a:t>
                </a:r>
                <a:endParaRPr lang="en-US" altLang="zh-TW" sz="1350" dirty="0"/>
              </a:p>
              <a:p>
                <a:pPr algn="ctr"/>
                <a:r>
                  <a:rPr lang="en-US" altLang="zh-TW" sz="1350" dirty="0"/>
                  <a:t>Port</a:t>
                </a:r>
                <a:endParaRPr lang="zh-TW" altLang="en-US" sz="1350" dirty="0"/>
              </a:p>
            </p:txBody>
          </p:sp>
          <p:cxnSp>
            <p:nvCxnSpPr>
              <p:cNvPr id="16" name="肘形接點 15"/>
              <p:cNvCxnSpPr>
                <a:stCxn id="15" idx="3"/>
                <a:endCxn id="11" idx="3"/>
              </p:cNvCxnSpPr>
              <p:nvPr/>
            </p:nvCxnSpPr>
            <p:spPr>
              <a:xfrm>
                <a:off x="3754935" y="4129931"/>
                <a:ext cx="355961" cy="1"/>
              </a:xfrm>
              <a:prstGeom prst="bentConnector3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字方塊 5"/>
            <p:cNvSpPr txBox="1"/>
            <p:nvPr/>
          </p:nvSpPr>
          <p:spPr>
            <a:xfrm>
              <a:off x="3617670" y="2375051"/>
              <a:ext cx="2758387" cy="8900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500" b="1" dirty="0" err="1"/>
                <a:t>PCIe</a:t>
              </a:r>
              <a:r>
                <a:rPr lang="en-US" altLang="zh-TW" sz="1500" b="1" dirty="0"/>
                <a:t> SR-IOV </a:t>
              </a:r>
            </a:p>
            <a:p>
              <a:pPr algn="ctr"/>
              <a:r>
                <a:rPr lang="en-US" altLang="zh-TW" sz="1500" b="1" dirty="0"/>
                <a:t>Capable Device</a:t>
              </a:r>
              <a:endParaRPr lang="zh-TW" altLang="en-US" sz="1500" b="1" dirty="0"/>
            </a:p>
          </p:txBody>
        </p:sp>
      </p:grpSp>
      <p:sp>
        <p:nvSpPr>
          <p:cNvPr id="54" name="矩形 53"/>
          <p:cNvSpPr/>
          <p:nvPr/>
        </p:nvSpPr>
        <p:spPr>
          <a:xfrm>
            <a:off x="6644359" y="3349417"/>
            <a:ext cx="1286099" cy="188231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Configuration Resources</a:t>
            </a:r>
            <a:endParaRPr lang="zh-TW" altLang="en-US" sz="900" dirty="0"/>
          </a:p>
        </p:txBody>
      </p:sp>
    </p:spTree>
    <p:extLst>
      <p:ext uri="{BB962C8B-B14F-4D97-AF65-F5344CB8AC3E}">
        <p14:creationId xmlns:p14="http://schemas.microsoft.com/office/powerpoint/2010/main" val="10704688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Directly and Software Shared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694" y="1113588"/>
            <a:ext cx="5427571" cy="3348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字方塊 3"/>
          <p:cNvSpPr txBox="1"/>
          <p:nvPr/>
        </p:nvSpPr>
        <p:spPr>
          <a:xfrm>
            <a:off x="3047731" y="4647496"/>
            <a:ext cx="350288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b="1" dirty="0"/>
              <a:t>Figure from Inter PCI-SIG SR-IOV Primer</a:t>
            </a:r>
            <a:endParaRPr lang="zh-TW" altLang="en-US" sz="1350" b="1" dirty="0"/>
          </a:p>
        </p:txBody>
      </p:sp>
    </p:spTree>
    <p:extLst>
      <p:ext uri="{BB962C8B-B14F-4D97-AF65-F5344CB8AC3E}">
        <p14:creationId xmlns:p14="http://schemas.microsoft.com/office/powerpoint/2010/main" val="38256552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Extended Capabilities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1617" y="1275606"/>
            <a:ext cx="3024336" cy="3707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491630"/>
            <a:ext cx="2943225" cy="3491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3275856" y="3921900"/>
            <a:ext cx="970097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cxnSp>
        <p:nvCxnSpPr>
          <p:cNvPr id="7" name="肘形接點 6"/>
          <p:cNvCxnSpPr>
            <a:endCxn id="1027" idx="0"/>
          </p:cNvCxnSpPr>
          <p:nvPr/>
        </p:nvCxnSpPr>
        <p:spPr>
          <a:xfrm rot="5400000" flipH="1" flipV="1">
            <a:off x="3983654" y="1753929"/>
            <a:ext cx="2538282" cy="2013684"/>
          </a:xfrm>
          <a:prstGeom prst="bentConnector3">
            <a:avLst>
              <a:gd name="adj1" fmla="val 106755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69687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SR-IOV Extended Capabilities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4018" y="1167593"/>
            <a:ext cx="2991590" cy="35455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245992"/>
            <a:ext cx="2943225" cy="3491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89268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SR-IOV</a:t>
            </a:r>
            <a:endParaRPr lang="zh-TW" altLang="en-US" dirty="0"/>
          </a:p>
        </p:txBody>
      </p:sp>
      <p:sp>
        <p:nvSpPr>
          <p:cNvPr id="8" name="文字版面配置區 7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altLang="zh-TW" dirty="0">
                <a:solidFill>
                  <a:srgbClr val="C00000"/>
                </a:solidFill>
              </a:rPr>
              <a:t>Architecture Supporting SR-IOV Capability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ARI – Alternative Routing ID Interpretation 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ACS – Access Control Services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ATS – Address Translation Service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Data Path for Incoming Packets</a:t>
            </a:r>
          </a:p>
        </p:txBody>
      </p:sp>
    </p:spTree>
    <p:extLst>
      <p:ext uri="{BB962C8B-B14F-4D97-AF65-F5344CB8AC3E}">
        <p14:creationId xmlns:p14="http://schemas.microsoft.com/office/powerpoint/2010/main" val="6562728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85900" y="205978"/>
            <a:ext cx="6515100" cy="651272"/>
          </a:xfrm>
        </p:spPr>
        <p:txBody>
          <a:bodyPr>
            <a:normAutofit/>
          </a:bodyPr>
          <a:lstStyle/>
          <a:p>
            <a:r>
              <a:rPr lang="en-US" altLang="zh-TW" sz="2700" dirty="0"/>
              <a:t>Platform with SR-IOV</a:t>
            </a:r>
            <a:endParaRPr lang="zh-TW" altLang="en-US" sz="27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66435" y="1200150"/>
            <a:ext cx="3434565" cy="3943350"/>
          </a:xfrm>
        </p:spPr>
        <p:txBody>
          <a:bodyPr/>
          <a:lstStyle/>
          <a:p>
            <a:r>
              <a:rPr lang="en-US" altLang="zh-TW" dirty="0"/>
              <a:t>SR-PCIM</a:t>
            </a:r>
          </a:p>
          <a:p>
            <a:pPr lvl="1"/>
            <a:r>
              <a:rPr lang="en-US" altLang="zh-TW" dirty="0"/>
              <a:t>Configure SR-IOV Capability</a:t>
            </a:r>
          </a:p>
          <a:p>
            <a:pPr lvl="1"/>
            <a:r>
              <a:rPr lang="en-US" altLang="zh-TW" dirty="0"/>
              <a:t>Management of PFs and VFs</a:t>
            </a:r>
          </a:p>
          <a:p>
            <a:pPr lvl="1"/>
            <a:r>
              <a:rPr lang="en-US" altLang="zh-TW" dirty="0"/>
              <a:t>Processing of error events</a:t>
            </a:r>
          </a:p>
          <a:p>
            <a:pPr lvl="1"/>
            <a:r>
              <a:rPr lang="en-US" altLang="zh-TW" dirty="0"/>
              <a:t>Device controls</a:t>
            </a:r>
          </a:p>
          <a:p>
            <a:pPr lvl="2"/>
            <a:r>
              <a:rPr lang="en-US" altLang="zh-TW" dirty="0"/>
              <a:t>Power management</a:t>
            </a:r>
          </a:p>
          <a:p>
            <a:pPr lvl="2"/>
            <a:r>
              <a:rPr lang="en-US" altLang="zh-TW" dirty="0"/>
              <a:t>Hot-plug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1217740" y="86734"/>
            <a:ext cx="777944" cy="455651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System Image (SI)</a:t>
            </a:r>
            <a:endParaRPr lang="zh-TW" altLang="en-US" sz="900" dirty="0"/>
          </a:p>
        </p:txBody>
      </p:sp>
      <p:sp>
        <p:nvSpPr>
          <p:cNvPr id="5" name="矩形 4"/>
          <p:cNvSpPr/>
          <p:nvPr/>
        </p:nvSpPr>
        <p:spPr>
          <a:xfrm>
            <a:off x="1173278" y="1423125"/>
            <a:ext cx="3332598" cy="16201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Processor</a:t>
            </a:r>
            <a:endParaRPr lang="zh-TW" altLang="en-US" sz="1350" dirty="0"/>
          </a:p>
        </p:txBody>
      </p:sp>
      <p:sp>
        <p:nvSpPr>
          <p:cNvPr id="6" name="矩形 5"/>
          <p:cNvSpPr/>
          <p:nvPr/>
        </p:nvSpPr>
        <p:spPr>
          <a:xfrm>
            <a:off x="1181262" y="1585143"/>
            <a:ext cx="3332598" cy="162018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Memory</a:t>
            </a:r>
            <a:endParaRPr lang="zh-TW" altLang="en-US" sz="1350" dirty="0"/>
          </a:p>
        </p:txBody>
      </p:sp>
      <p:sp>
        <p:nvSpPr>
          <p:cNvPr id="7" name="矩形 6"/>
          <p:cNvSpPr/>
          <p:nvPr/>
        </p:nvSpPr>
        <p:spPr>
          <a:xfrm>
            <a:off x="1233837" y="2752064"/>
            <a:ext cx="3332598" cy="47821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Root Complex (RC)</a:t>
            </a:r>
            <a:endParaRPr lang="zh-TW" altLang="en-US" sz="1350" dirty="0"/>
          </a:p>
        </p:txBody>
      </p:sp>
      <p:sp>
        <p:nvSpPr>
          <p:cNvPr id="8" name="矩形 7"/>
          <p:cNvSpPr/>
          <p:nvPr/>
        </p:nvSpPr>
        <p:spPr>
          <a:xfrm>
            <a:off x="1561061" y="2991173"/>
            <a:ext cx="421100" cy="59406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/>
              <a:t>Root</a:t>
            </a:r>
          </a:p>
          <a:p>
            <a:pPr algn="ctr"/>
            <a:r>
              <a:rPr lang="en-US" altLang="zh-TW" sz="1050" dirty="0"/>
              <a:t>Port (RP)</a:t>
            </a:r>
            <a:endParaRPr lang="zh-TW" altLang="en-US" sz="1050" dirty="0"/>
          </a:p>
        </p:txBody>
      </p:sp>
      <p:sp>
        <p:nvSpPr>
          <p:cNvPr id="9" name="矩形 8"/>
          <p:cNvSpPr/>
          <p:nvPr/>
        </p:nvSpPr>
        <p:spPr>
          <a:xfrm>
            <a:off x="3605843" y="2933248"/>
            <a:ext cx="448053" cy="59406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/>
              <a:t>Root</a:t>
            </a:r>
          </a:p>
          <a:p>
            <a:pPr algn="ctr"/>
            <a:r>
              <a:rPr lang="en-US" altLang="zh-TW" sz="1050" dirty="0"/>
              <a:t>Port (RP)</a:t>
            </a:r>
            <a:endParaRPr lang="zh-TW" altLang="en-US" sz="1050" dirty="0"/>
          </a:p>
        </p:txBody>
      </p:sp>
      <p:sp>
        <p:nvSpPr>
          <p:cNvPr id="10" name="矩形 9"/>
          <p:cNvSpPr/>
          <p:nvPr/>
        </p:nvSpPr>
        <p:spPr>
          <a:xfrm>
            <a:off x="1428710" y="4461960"/>
            <a:ext cx="685800" cy="57512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 err="1"/>
              <a:t>PCIe</a:t>
            </a:r>
            <a:r>
              <a:rPr lang="en-US" altLang="zh-TW" sz="1350" dirty="0"/>
              <a:t> Device</a:t>
            </a:r>
            <a:endParaRPr lang="zh-TW" altLang="en-US" sz="1350" dirty="0"/>
          </a:p>
        </p:txBody>
      </p:sp>
      <p:sp>
        <p:nvSpPr>
          <p:cNvPr id="11" name="六邊形 10"/>
          <p:cNvSpPr/>
          <p:nvPr/>
        </p:nvSpPr>
        <p:spPr>
          <a:xfrm>
            <a:off x="3401822" y="3714005"/>
            <a:ext cx="856094" cy="575123"/>
          </a:xfrm>
          <a:prstGeom prst="hexagon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Switch</a:t>
            </a:r>
            <a:endParaRPr lang="zh-TW" altLang="en-US" sz="1350" dirty="0"/>
          </a:p>
        </p:txBody>
      </p:sp>
      <p:sp>
        <p:nvSpPr>
          <p:cNvPr id="12" name="矩形 11"/>
          <p:cNvSpPr/>
          <p:nvPr/>
        </p:nvSpPr>
        <p:spPr>
          <a:xfrm>
            <a:off x="2339909" y="4461960"/>
            <a:ext cx="685800" cy="57512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 err="1"/>
              <a:t>PCIe</a:t>
            </a:r>
            <a:r>
              <a:rPr lang="en-US" altLang="zh-TW" sz="1350" dirty="0"/>
              <a:t> Device</a:t>
            </a:r>
            <a:endParaRPr lang="zh-TW" altLang="en-US" sz="1350" dirty="0"/>
          </a:p>
        </p:txBody>
      </p:sp>
      <p:sp>
        <p:nvSpPr>
          <p:cNvPr id="13" name="矩形 12"/>
          <p:cNvSpPr/>
          <p:nvPr/>
        </p:nvSpPr>
        <p:spPr>
          <a:xfrm>
            <a:off x="3486969" y="4461960"/>
            <a:ext cx="685800" cy="57512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 err="1"/>
              <a:t>PCIe</a:t>
            </a:r>
            <a:r>
              <a:rPr lang="en-US" altLang="zh-TW" sz="1350" dirty="0"/>
              <a:t> Device</a:t>
            </a:r>
            <a:endParaRPr lang="zh-TW" altLang="en-US" sz="1350" dirty="0"/>
          </a:p>
        </p:txBody>
      </p:sp>
      <p:sp>
        <p:nvSpPr>
          <p:cNvPr id="14" name="矩形 13"/>
          <p:cNvSpPr/>
          <p:nvPr/>
        </p:nvSpPr>
        <p:spPr>
          <a:xfrm>
            <a:off x="4532054" y="4461959"/>
            <a:ext cx="685800" cy="57512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 err="1"/>
              <a:t>PCIe</a:t>
            </a:r>
            <a:r>
              <a:rPr lang="en-US" altLang="zh-TW" sz="1350" dirty="0"/>
              <a:t> Device</a:t>
            </a:r>
            <a:endParaRPr lang="zh-TW" altLang="en-US" sz="1350" dirty="0"/>
          </a:p>
        </p:txBody>
      </p:sp>
      <p:cxnSp>
        <p:nvCxnSpPr>
          <p:cNvPr id="15" name="直線單箭頭接點 14"/>
          <p:cNvCxnSpPr/>
          <p:nvPr/>
        </p:nvCxnSpPr>
        <p:spPr>
          <a:xfrm>
            <a:off x="1643999" y="1747162"/>
            <a:ext cx="0" cy="1004903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stCxn id="8" idx="2"/>
            <a:endCxn id="10" idx="0"/>
          </p:cNvCxnSpPr>
          <p:nvPr/>
        </p:nvCxnSpPr>
        <p:spPr>
          <a:xfrm flipH="1">
            <a:off x="1771611" y="3585238"/>
            <a:ext cx="1" cy="876722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>
            <a:stCxn id="9" idx="2"/>
          </p:cNvCxnSpPr>
          <p:nvPr/>
        </p:nvCxnSpPr>
        <p:spPr>
          <a:xfrm>
            <a:off x="3829869" y="3527314"/>
            <a:ext cx="0" cy="197902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肘形接點 17"/>
          <p:cNvCxnSpPr>
            <a:stCxn id="11" idx="3"/>
            <a:endCxn id="12" idx="0"/>
          </p:cNvCxnSpPr>
          <p:nvPr/>
        </p:nvCxnSpPr>
        <p:spPr>
          <a:xfrm rot="10800000" flipV="1">
            <a:off x="2682810" y="4001566"/>
            <a:ext cx="719014" cy="460394"/>
          </a:xfrm>
          <a:prstGeom prst="bentConnector2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肘形接點 18"/>
          <p:cNvCxnSpPr>
            <a:stCxn id="11" idx="0"/>
            <a:endCxn id="14" idx="0"/>
          </p:cNvCxnSpPr>
          <p:nvPr/>
        </p:nvCxnSpPr>
        <p:spPr>
          <a:xfrm>
            <a:off x="4257916" y="4001567"/>
            <a:ext cx="617039" cy="460393"/>
          </a:xfrm>
          <a:prstGeom prst="bentConnector2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endCxn id="13" idx="0"/>
          </p:cNvCxnSpPr>
          <p:nvPr/>
        </p:nvCxnSpPr>
        <p:spPr>
          <a:xfrm>
            <a:off x="3829869" y="4231762"/>
            <a:ext cx="0" cy="230198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橢圓 20"/>
          <p:cNvSpPr/>
          <p:nvPr/>
        </p:nvSpPr>
        <p:spPr>
          <a:xfrm>
            <a:off x="2061633" y="86734"/>
            <a:ext cx="777944" cy="455651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System Image (SI)</a:t>
            </a:r>
            <a:endParaRPr lang="zh-TW" altLang="en-US" sz="900" dirty="0"/>
          </a:p>
        </p:txBody>
      </p:sp>
      <p:sp>
        <p:nvSpPr>
          <p:cNvPr id="22" name="橢圓 21"/>
          <p:cNvSpPr/>
          <p:nvPr/>
        </p:nvSpPr>
        <p:spPr>
          <a:xfrm>
            <a:off x="2914311" y="102511"/>
            <a:ext cx="777944" cy="455651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System Image (SI)</a:t>
            </a:r>
            <a:endParaRPr lang="zh-TW" altLang="en-US" sz="900" dirty="0"/>
          </a:p>
        </p:txBody>
      </p:sp>
      <p:sp>
        <p:nvSpPr>
          <p:cNvPr id="23" name="橢圓 22"/>
          <p:cNvSpPr/>
          <p:nvPr/>
        </p:nvSpPr>
        <p:spPr>
          <a:xfrm>
            <a:off x="3767633" y="102511"/>
            <a:ext cx="777944" cy="455651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System Image (SI)</a:t>
            </a:r>
            <a:endParaRPr lang="zh-TW" altLang="en-US" sz="900" dirty="0"/>
          </a:p>
        </p:txBody>
      </p:sp>
      <p:sp>
        <p:nvSpPr>
          <p:cNvPr id="24" name="橢圓 23"/>
          <p:cNvSpPr/>
          <p:nvPr/>
        </p:nvSpPr>
        <p:spPr>
          <a:xfrm>
            <a:off x="1204218" y="637411"/>
            <a:ext cx="3347374" cy="63819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sz="1350" dirty="0"/>
              <a:t>Virtualization Intermediary</a:t>
            </a:r>
          </a:p>
          <a:p>
            <a:endParaRPr lang="zh-TW" altLang="en-US" sz="1350" dirty="0"/>
          </a:p>
        </p:txBody>
      </p:sp>
      <p:sp>
        <p:nvSpPr>
          <p:cNvPr id="34" name="矩形 33"/>
          <p:cNvSpPr/>
          <p:nvPr/>
        </p:nvSpPr>
        <p:spPr>
          <a:xfrm>
            <a:off x="1948269" y="2076850"/>
            <a:ext cx="685800" cy="3531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Translation Agent (TA)</a:t>
            </a:r>
            <a:endParaRPr lang="zh-TW" altLang="en-US" sz="900" dirty="0"/>
          </a:p>
        </p:txBody>
      </p:sp>
      <p:sp>
        <p:nvSpPr>
          <p:cNvPr id="36" name="矩形 35"/>
          <p:cNvSpPr/>
          <p:nvPr/>
        </p:nvSpPr>
        <p:spPr>
          <a:xfrm>
            <a:off x="3063339" y="2073037"/>
            <a:ext cx="1503097" cy="3531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Address Translation and Protection Table (ATPT)</a:t>
            </a:r>
            <a:endParaRPr lang="zh-TW" altLang="en-US" sz="900" dirty="0"/>
          </a:p>
        </p:txBody>
      </p:sp>
      <p:cxnSp>
        <p:nvCxnSpPr>
          <p:cNvPr id="39" name="直線單箭頭接點 38"/>
          <p:cNvCxnSpPr>
            <a:endCxn id="34" idx="0"/>
          </p:cNvCxnSpPr>
          <p:nvPr/>
        </p:nvCxnSpPr>
        <p:spPr>
          <a:xfrm>
            <a:off x="2291169" y="1747161"/>
            <a:ext cx="0" cy="329688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>
            <a:stCxn id="34" idx="2"/>
          </p:cNvCxnSpPr>
          <p:nvPr/>
        </p:nvCxnSpPr>
        <p:spPr>
          <a:xfrm>
            <a:off x="2291169" y="2430000"/>
            <a:ext cx="0" cy="325877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>
            <a:stCxn id="36" idx="1"/>
            <a:endCxn id="34" idx="3"/>
          </p:cNvCxnSpPr>
          <p:nvPr/>
        </p:nvCxnSpPr>
        <p:spPr>
          <a:xfrm flipH="1">
            <a:off x="2634070" y="2249613"/>
            <a:ext cx="429269" cy="3812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橢圓 56"/>
          <p:cNvSpPr/>
          <p:nvPr/>
        </p:nvSpPr>
        <p:spPr>
          <a:xfrm>
            <a:off x="2432677" y="956507"/>
            <a:ext cx="969145" cy="31909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050" dirty="0"/>
              <a:t>SR-PCIM</a:t>
            </a:r>
            <a:endParaRPr lang="zh-TW" altLang="en-US" sz="1050" dirty="0"/>
          </a:p>
        </p:txBody>
      </p:sp>
      <p:sp>
        <p:nvSpPr>
          <p:cNvPr id="59" name="橢圓 58"/>
          <p:cNvSpPr/>
          <p:nvPr/>
        </p:nvSpPr>
        <p:spPr>
          <a:xfrm>
            <a:off x="6462210" y="1209330"/>
            <a:ext cx="969145" cy="31909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050" dirty="0"/>
              <a:t>SR-PCIM</a:t>
            </a:r>
            <a:endParaRPr lang="zh-TW" altLang="en-US" sz="1050" dirty="0"/>
          </a:p>
        </p:txBody>
      </p:sp>
    </p:spTree>
    <p:extLst>
      <p:ext uri="{BB962C8B-B14F-4D97-AF65-F5344CB8AC3E}">
        <p14:creationId xmlns:p14="http://schemas.microsoft.com/office/powerpoint/2010/main" val="3823956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547664" y="195486"/>
            <a:ext cx="6172200" cy="651272"/>
          </a:xfrm>
        </p:spPr>
        <p:txBody>
          <a:bodyPr/>
          <a:lstStyle/>
          <a:p>
            <a:r>
              <a:rPr lang="en-US" altLang="zh-TW" dirty="0"/>
              <a:t>Components of SR-IOV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5900" y="1005577"/>
            <a:ext cx="6172200" cy="3589046"/>
          </a:xfrm>
        </p:spPr>
        <p:txBody>
          <a:bodyPr/>
          <a:lstStyle/>
          <a:p>
            <a:r>
              <a:rPr lang="en-US" altLang="zh-TW" dirty="0"/>
              <a:t>TA – Translation Agent</a:t>
            </a:r>
          </a:p>
          <a:p>
            <a:pPr lvl="1"/>
            <a:r>
              <a:rPr lang="en-US" altLang="zh-TW" b="1" dirty="0"/>
              <a:t>Translate address </a:t>
            </a:r>
            <a:r>
              <a:rPr lang="en-US" altLang="zh-TW" dirty="0"/>
              <a:t>within a </a:t>
            </a:r>
            <a:r>
              <a:rPr lang="en-US" altLang="zh-TW" b="1" dirty="0" err="1"/>
              <a:t>PCIe</a:t>
            </a:r>
            <a:r>
              <a:rPr lang="en-US" altLang="zh-TW" b="1" dirty="0"/>
              <a:t> transaction </a:t>
            </a:r>
            <a:r>
              <a:rPr lang="en-US" altLang="zh-TW" dirty="0"/>
              <a:t>into the associated platform </a:t>
            </a:r>
            <a:r>
              <a:rPr lang="en-US" altLang="zh-TW" b="1" dirty="0"/>
              <a:t>physical address</a:t>
            </a:r>
            <a:r>
              <a:rPr lang="en-US" altLang="zh-TW" dirty="0"/>
              <a:t>.</a:t>
            </a:r>
          </a:p>
          <a:p>
            <a:pPr lvl="1"/>
            <a:r>
              <a:rPr lang="en-US" altLang="zh-TW" dirty="0"/>
              <a:t>Hardware or combination of hardware and software</a:t>
            </a:r>
          </a:p>
          <a:p>
            <a:pPr lvl="1"/>
            <a:r>
              <a:rPr lang="en-US" altLang="zh-TW" dirty="0"/>
              <a:t>A TA may also support to enable a </a:t>
            </a:r>
            <a:r>
              <a:rPr lang="en-US" altLang="zh-TW" dirty="0" err="1"/>
              <a:t>PCIe</a:t>
            </a:r>
            <a:r>
              <a:rPr lang="en-US" altLang="zh-TW" dirty="0"/>
              <a:t> function to obtain address translations </a:t>
            </a:r>
            <a:r>
              <a:rPr lang="en-US" altLang="zh-TW" b="1" dirty="0"/>
              <a:t>a priori to DMA access </a:t>
            </a:r>
            <a:r>
              <a:rPr lang="en-US" altLang="zh-TW" dirty="0"/>
              <a:t>to the associated memory.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4646452" y="3784774"/>
            <a:ext cx="685800" cy="3531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Translation Agent (TA)</a:t>
            </a:r>
            <a:endParaRPr lang="zh-TW" altLang="en-US" sz="900" dirty="0"/>
          </a:p>
        </p:txBody>
      </p:sp>
      <p:sp>
        <p:nvSpPr>
          <p:cNvPr id="5" name="矩形 4"/>
          <p:cNvSpPr/>
          <p:nvPr/>
        </p:nvSpPr>
        <p:spPr>
          <a:xfrm>
            <a:off x="5761521" y="3784774"/>
            <a:ext cx="1503097" cy="3531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Address Translation and Protection Table (ATPT)</a:t>
            </a:r>
            <a:endParaRPr lang="zh-TW" altLang="en-US" sz="900" dirty="0"/>
          </a:p>
        </p:txBody>
      </p:sp>
      <p:cxnSp>
        <p:nvCxnSpPr>
          <p:cNvPr id="6" name="直線單箭頭接點 5"/>
          <p:cNvCxnSpPr>
            <a:stCxn id="5" idx="1"/>
            <a:endCxn id="4" idx="3"/>
          </p:cNvCxnSpPr>
          <p:nvPr/>
        </p:nvCxnSpPr>
        <p:spPr>
          <a:xfrm flipH="1">
            <a:off x="5332252" y="3961349"/>
            <a:ext cx="429269" cy="0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59116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Components of SR-IOV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93658" y="951571"/>
            <a:ext cx="6172200" cy="3830984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/>
              <a:t>ATPT – </a:t>
            </a:r>
            <a:r>
              <a:rPr lang="en-US" altLang="zh-TW" b="1" dirty="0"/>
              <a:t>A</a:t>
            </a:r>
            <a:r>
              <a:rPr lang="en-US" altLang="zh-TW" dirty="0"/>
              <a:t>ddress </a:t>
            </a:r>
            <a:r>
              <a:rPr lang="en-US" altLang="zh-TW" b="1" dirty="0"/>
              <a:t>T</a:t>
            </a:r>
            <a:r>
              <a:rPr lang="en-US" altLang="zh-TW" dirty="0"/>
              <a:t>ranslation and </a:t>
            </a:r>
            <a:r>
              <a:rPr lang="en-US" altLang="zh-TW" b="1" dirty="0"/>
              <a:t>P</a:t>
            </a:r>
            <a:r>
              <a:rPr lang="en-US" altLang="zh-TW" dirty="0"/>
              <a:t>rotection </a:t>
            </a:r>
            <a:r>
              <a:rPr lang="en-US" altLang="zh-TW" b="1" dirty="0"/>
              <a:t>T</a:t>
            </a:r>
            <a:r>
              <a:rPr lang="en-US" altLang="zh-TW" dirty="0"/>
              <a:t>able</a:t>
            </a:r>
          </a:p>
          <a:p>
            <a:pPr lvl="1"/>
            <a:r>
              <a:rPr lang="en-US" altLang="zh-TW" dirty="0"/>
              <a:t>Contain the set of address translations accessed by a TA to Process </a:t>
            </a:r>
            <a:r>
              <a:rPr lang="en-US" altLang="zh-TW" dirty="0" err="1"/>
              <a:t>PCEe</a:t>
            </a:r>
            <a:r>
              <a:rPr lang="en-US" altLang="zh-TW" dirty="0"/>
              <a:t> requests</a:t>
            </a:r>
          </a:p>
          <a:p>
            <a:pPr lvl="2"/>
            <a:r>
              <a:rPr lang="en-US" altLang="zh-TW" dirty="0"/>
              <a:t>DMA Read/Write</a:t>
            </a:r>
          </a:p>
          <a:p>
            <a:pPr lvl="2"/>
            <a:r>
              <a:rPr lang="en-US" altLang="zh-TW" dirty="0"/>
              <a:t>Interrupt requests</a:t>
            </a:r>
          </a:p>
          <a:p>
            <a:pPr lvl="1"/>
            <a:r>
              <a:rPr lang="en-US" altLang="zh-TW" dirty="0"/>
              <a:t>DMA Read/Write requests are translated through a combination of the </a:t>
            </a:r>
            <a:r>
              <a:rPr lang="en-US" altLang="zh-TW" b="1" dirty="0">
                <a:solidFill>
                  <a:srgbClr val="FF0000"/>
                </a:solidFill>
              </a:rPr>
              <a:t>Routing ID</a:t>
            </a:r>
            <a:r>
              <a:rPr lang="en-US" altLang="zh-TW" dirty="0"/>
              <a:t> and </a:t>
            </a:r>
            <a:r>
              <a:rPr lang="en-US" altLang="zh-TW" b="1" dirty="0">
                <a:solidFill>
                  <a:srgbClr val="FF0000"/>
                </a:solidFill>
              </a:rPr>
              <a:t>the address contained within a </a:t>
            </a:r>
            <a:r>
              <a:rPr lang="en-US" altLang="zh-TW" b="1" dirty="0" err="1">
                <a:solidFill>
                  <a:srgbClr val="FF0000"/>
                </a:solidFill>
              </a:rPr>
              <a:t>PCIe</a:t>
            </a:r>
            <a:r>
              <a:rPr lang="en-US" altLang="zh-TW" b="1" dirty="0">
                <a:solidFill>
                  <a:srgbClr val="FF0000"/>
                </a:solidFill>
              </a:rPr>
              <a:t> transaction</a:t>
            </a:r>
          </a:p>
          <a:p>
            <a:pPr lvl="1"/>
            <a:r>
              <a:rPr lang="en-US" altLang="zh-TW" dirty="0"/>
              <a:t>In </a:t>
            </a:r>
            <a:r>
              <a:rPr lang="en-US" altLang="zh-TW" dirty="0" err="1"/>
              <a:t>PCIe</a:t>
            </a:r>
            <a:r>
              <a:rPr lang="en-US" altLang="zh-TW" dirty="0"/>
              <a:t>, interrupts are treated as memory write operations. </a:t>
            </a:r>
          </a:p>
          <a:p>
            <a:pPr lvl="2"/>
            <a:r>
              <a:rPr lang="en-US" altLang="zh-TW" dirty="0"/>
              <a:t>Though the combination of the Routing ID and the address contained within a </a:t>
            </a:r>
            <a:r>
              <a:rPr lang="en-US" altLang="zh-TW" dirty="0" err="1"/>
              <a:t>PCIe</a:t>
            </a:r>
            <a:r>
              <a:rPr lang="en-US" altLang="zh-TW" dirty="0"/>
              <a:t> transaction as well</a:t>
            </a:r>
          </a:p>
          <a:p>
            <a:endParaRPr lang="en-US" altLang="zh-TW" dirty="0"/>
          </a:p>
        </p:txBody>
      </p:sp>
      <p:sp>
        <p:nvSpPr>
          <p:cNvPr id="7" name="矩形 6"/>
          <p:cNvSpPr/>
          <p:nvPr/>
        </p:nvSpPr>
        <p:spPr>
          <a:xfrm>
            <a:off x="4924727" y="4569973"/>
            <a:ext cx="685800" cy="3531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Translation Agent (TA)</a:t>
            </a:r>
            <a:endParaRPr lang="zh-TW" altLang="en-US" sz="900" dirty="0"/>
          </a:p>
        </p:txBody>
      </p:sp>
      <p:sp>
        <p:nvSpPr>
          <p:cNvPr id="8" name="矩形 7"/>
          <p:cNvSpPr/>
          <p:nvPr/>
        </p:nvSpPr>
        <p:spPr>
          <a:xfrm>
            <a:off x="6039797" y="4569973"/>
            <a:ext cx="1503097" cy="3531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Address Translation and Protection Table (ATPT)</a:t>
            </a:r>
            <a:endParaRPr lang="zh-TW" altLang="en-US" sz="900" dirty="0"/>
          </a:p>
        </p:txBody>
      </p:sp>
      <p:cxnSp>
        <p:nvCxnSpPr>
          <p:cNvPr id="9" name="直線單箭頭接點 8"/>
          <p:cNvCxnSpPr>
            <a:stCxn id="8" idx="1"/>
            <a:endCxn id="7" idx="3"/>
          </p:cNvCxnSpPr>
          <p:nvPr/>
        </p:nvCxnSpPr>
        <p:spPr>
          <a:xfrm flipH="1">
            <a:off x="5610528" y="4746548"/>
            <a:ext cx="429269" cy="0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1801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SR-IOV</a:t>
            </a:r>
            <a:endParaRPr lang="zh-TW" altLang="en-US" dirty="0"/>
          </a:p>
        </p:txBody>
      </p:sp>
      <p:sp>
        <p:nvSpPr>
          <p:cNvPr id="8" name="文字版面配置區 7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Architecture Supporting SR-IOV Capability</a:t>
            </a:r>
          </a:p>
          <a:p>
            <a:r>
              <a:rPr lang="en-US" altLang="zh-TW" dirty="0">
                <a:solidFill>
                  <a:srgbClr val="C00000"/>
                </a:solidFill>
              </a:rPr>
              <a:t>ARI – Alternative Routing ID Interpretation 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ACS – Access Control Services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ATS – Address Translation Service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Data Path for Incoming Packets</a:t>
            </a:r>
          </a:p>
        </p:txBody>
      </p:sp>
    </p:spTree>
    <p:extLst>
      <p:ext uri="{BB962C8B-B14F-4D97-AF65-F5344CB8AC3E}">
        <p14:creationId xmlns:p14="http://schemas.microsoft.com/office/powerpoint/2010/main" val="41685616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43000" y="205978"/>
            <a:ext cx="6858000" cy="651272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ARI – Alternative Routing ID Interpretation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43000" y="897565"/>
            <a:ext cx="6858000" cy="3697058"/>
          </a:xfrm>
        </p:spPr>
        <p:txBody>
          <a:bodyPr/>
          <a:lstStyle/>
          <a:p>
            <a:r>
              <a:rPr lang="en-US" altLang="zh-TW" dirty="0"/>
              <a:t>Routing ID is used to forward  requests to the corresponding PFs and VFs</a:t>
            </a:r>
          </a:p>
          <a:p>
            <a:r>
              <a:rPr lang="en-US" altLang="zh-TW" dirty="0"/>
              <a:t>All VFs and PFs must have distinct Routing IDs</a:t>
            </a:r>
          </a:p>
          <a:p>
            <a:r>
              <a:rPr lang="en-US" altLang="zh-TW" dirty="0"/>
              <a:t>ARI provides a mechanism to allow single </a:t>
            </a:r>
            <a:r>
              <a:rPr lang="en-US" altLang="zh-TW" dirty="0" err="1"/>
              <a:t>PCIe</a:t>
            </a:r>
            <a:r>
              <a:rPr lang="en-US" altLang="zh-TW" dirty="0"/>
              <a:t> component to support </a:t>
            </a:r>
            <a:r>
              <a:rPr lang="en-US" altLang="zh-TW" b="1" dirty="0"/>
              <a:t>up to 256 functions</a:t>
            </a:r>
            <a:r>
              <a:rPr lang="en-US" altLang="zh-TW" dirty="0"/>
              <a:t>.</a:t>
            </a:r>
          </a:p>
          <a:p>
            <a:pPr lvl="1"/>
            <a:r>
              <a:rPr lang="en-US" altLang="zh-TW" dirty="0"/>
              <a:t>Originally there are </a:t>
            </a:r>
            <a:r>
              <a:rPr lang="en-US" altLang="zh-TW" b="1" dirty="0"/>
              <a:t>8 functions </a:t>
            </a:r>
            <a:r>
              <a:rPr lang="en-US" altLang="zh-TW" dirty="0"/>
              <a:t>at most in a </a:t>
            </a:r>
            <a:r>
              <a:rPr lang="en-US" altLang="zh-TW" dirty="0" err="1"/>
              <a:t>PCIe</a:t>
            </a:r>
            <a:r>
              <a:rPr lang="en-US" altLang="zh-TW" dirty="0"/>
              <a:t>. </a:t>
            </a:r>
            <a:endParaRPr lang="zh-TW" altLang="en-US" dirty="0"/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670" y="3165816"/>
            <a:ext cx="4607719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8814" y="4135011"/>
            <a:ext cx="4593431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5164972" y="4795986"/>
            <a:ext cx="334899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b="1" dirty="0"/>
              <a:t>Figure from Intel PCI-SIG SR_IOV prim</a:t>
            </a:r>
            <a:endParaRPr lang="zh-TW" altLang="en-US" sz="1350" b="1" dirty="0"/>
          </a:p>
        </p:txBody>
      </p:sp>
    </p:spTree>
    <p:extLst>
      <p:ext uri="{BB962C8B-B14F-4D97-AF65-F5344CB8AC3E}">
        <p14:creationId xmlns:p14="http://schemas.microsoft.com/office/powerpoint/2010/main" val="42797228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ARI – Alternative Routing ID Interpretation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634" y="1923678"/>
            <a:ext cx="3348372" cy="2480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1367636" y="4454803"/>
            <a:ext cx="396454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b="1" dirty="0"/>
              <a:t>Figure from  SR-IOV Specification revision 1.1</a:t>
            </a:r>
            <a:endParaRPr lang="zh-TW" altLang="en-US" sz="1350" b="1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865" y="1625691"/>
            <a:ext cx="2961601" cy="3010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矩形 6"/>
          <p:cNvSpPr/>
          <p:nvPr/>
        </p:nvSpPr>
        <p:spPr>
          <a:xfrm>
            <a:off x="4912844" y="4752928"/>
            <a:ext cx="334899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350" b="1" dirty="0"/>
              <a:t>Figure from Intel PCI-SIG SR_IOV prim</a:t>
            </a:r>
            <a:endParaRPr lang="zh-TW" altLang="en-US" sz="1350" b="1" dirty="0"/>
          </a:p>
        </p:txBody>
      </p:sp>
    </p:spTree>
    <p:extLst>
      <p:ext uri="{BB962C8B-B14F-4D97-AF65-F5344CB8AC3E}">
        <p14:creationId xmlns:p14="http://schemas.microsoft.com/office/powerpoint/2010/main" val="33790045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SR-IOV</a:t>
            </a:r>
            <a:endParaRPr lang="zh-TW" altLang="en-US" dirty="0"/>
          </a:p>
        </p:txBody>
      </p:sp>
      <p:sp>
        <p:nvSpPr>
          <p:cNvPr id="8" name="文字版面配置區 7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Architecture Supporting SR-IOV Capability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ARI – Alternative Routing ID Interpretation </a:t>
            </a:r>
          </a:p>
          <a:p>
            <a:r>
              <a:rPr lang="en-US" altLang="zh-TW" dirty="0">
                <a:solidFill>
                  <a:srgbClr val="C00000"/>
                </a:solidFill>
              </a:rPr>
              <a:t>ACS – Access Control Services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ATS – Address Translation Service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Data Path for Incoming Packets</a:t>
            </a:r>
          </a:p>
        </p:txBody>
      </p:sp>
    </p:spTree>
    <p:extLst>
      <p:ext uri="{BB962C8B-B14F-4D97-AF65-F5344CB8AC3E}">
        <p14:creationId xmlns:p14="http://schemas.microsoft.com/office/powerpoint/2010/main" val="3761208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93658" y="24833"/>
            <a:ext cx="6172200" cy="651272"/>
          </a:xfrm>
        </p:spPr>
        <p:txBody>
          <a:bodyPr/>
          <a:lstStyle/>
          <a:p>
            <a:r>
              <a:rPr lang="en-US" altLang="zh-TW" dirty="0"/>
              <a:t>ACS – Access Control Services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43000" y="681541"/>
            <a:ext cx="6858000" cy="3672408"/>
          </a:xfrm>
        </p:spPr>
        <p:txBody>
          <a:bodyPr>
            <a:normAutofit fontScale="62500" lnSpcReduction="20000"/>
          </a:bodyPr>
          <a:lstStyle/>
          <a:p>
            <a:r>
              <a:rPr lang="en-US" altLang="zh-TW" dirty="0"/>
              <a:t>The </a:t>
            </a:r>
            <a:r>
              <a:rPr lang="en-US" altLang="zh-TW" dirty="0" err="1"/>
              <a:t>PCIe</a:t>
            </a:r>
            <a:r>
              <a:rPr lang="en-US" altLang="zh-TW" dirty="0"/>
              <a:t> specification allows for P2P transactions.</a:t>
            </a:r>
          </a:p>
          <a:p>
            <a:pPr lvl="1"/>
            <a:r>
              <a:rPr lang="en-US" altLang="zh-TW" dirty="0"/>
              <a:t>This means that it is possible and even desirable in some cases for one </a:t>
            </a:r>
            <a:r>
              <a:rPr lang="en-US" altLang="zh-TW" dirty="0" err="1"/>
              <a:t>PCIe</a:t>
            </a:r>
            <a:r>
              <a:rPr lang="en-US" altLang="zh-TW" dirty="0"/>
              <a:t> endpoint to send data directly to another endpoint without having to go through the Root Complex.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However, in a virtualized environment it is generally not desirable to have P2P transactions. </a:t>
            </a:r>
          </a:p>
          <a:p>
            <a:pPr lvl="1"/>
            <a:r>
              <a:rPr lang="en-US" altLang="zh-TW" dirty="0"/>
              <a:t>With both direct assignment and SR-IOV, the </a:t>
            </a:r>
            <a:r>
              <a:rPr lang="en-US" altLang="zh-TW" dirty="0" err="1"/>
              <a:t>PCIe</a:t>
            </a:r>
            <a:r>
              <a:rPr lang="en-US" altLang="zh-TW" dirty="0"/>
              <a:t> transactions should go through the Root Complex in order for the ATS to be utilized.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ACS provides a mechanism by</a:t>
            </a:r>
          </a:p>
          <a:p>
            <a:pPr marL="0" indent="0">
              <a:buNone/>
            </a:pPr>
            <a:r>
              <a:rPr lang="en-US" altLang="zh-TW" dirty="0"/>
              <a:t>     which  a P2P </a:t>
            </a:r>
            <a:r>
              <a:rPr lang="en-US" altLang="zh-TW" dirty="0" err="1"/>
              <a:t>PCIe</a:t>
            </a:r>
            <a:r>
              <a:rPr lang="en-US" altLang="zh-TW" dirty="0"/>
              <a:t> transaction </a:t>
            </a:r>
          </a:p>
          <a:p>
            <a:pPr marL="0" indent="0">
              <a:buNone/>
            </a:pPr>
            <a:r>
              <a:rPr lang="en-US" altLang="zh-TW" dirty="0"/>
              <a:t>     can be </a:t>
            </a:r>
            <a:r>
              <a:rPr lang="en-US" altLang="zh-TW" b="1" dirty="0"/>
              <a:t>forced to go up through </a:t>
            </a:r>
          </a:p>
          <a:p>
            <a:pPr marL="0" indent="0">
              <a:buNone/>
            </a:pPr>
            <a:r>
              <a:rPr lang="en-US" altLang="zh-TW" b="1" dirty="0"/>
              <a:t>     the RC</a:t>
            </a:r>
          </a:p>
          <a:p>
            <a:endParaRPr lang="en-US" altLang="zh-TW" dirty="0"/>
          </a:p>
          <a:p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2895787"/>
            <a:ext cx="2456892" cy="2019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2386027" y="4637990"/>
            <a:ext cx="334899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350" b="1" dirty="0"/>
              <a:t>Figure from Intel PCI-SIG SR_IOV prim</a:t>
            </a:r>
            <a:endParaRPr lang="zh-TW" altLang="en-US" sz="1350" b="1" dirty="0"/>
          </a:p>
        </p:txBody>
      </p:sp>
    </p:spTree>
    <p:extLst>
      <p:ext uri="{BB962C8B-B14F-4D97-AF65-F5344CB8AC3E}">
        <p14:creationId xmlns:p14="http://schemas.microsoft.com/office/powerpoint/2010/main" val="2198208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SR-IOV</a:t>
            </a:r>
            <a:endParaRPr lang="zh-TW" altLang="en-US" dirty="0"/>
          </a:p>
        </p:txBody>
      </p:sp>
      <p:sp>
        <p:nvSpPr>
          <p:cNvPr id="8" name="文字版面配置區 7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Architecture Supporting SR-IOV Capability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ARI – Alternative Routing ID Interpretation 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ACS – Access Control Services</a:t>
            </a:r>
          </a:p>
          <a:p>
            <a:r>
              <a:rPr lang="en-US" altLang="zh-TW" dirty="0">
                <a:solidFill>
                  <a:srgbClr val="C00000"/>
                </a:solidFill>
              </a:rPr>
              <a:t>ATS – Address Translation Service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Data Path for Incoming Packets</a:t>
            </a:r>
          </a:p>
        </p:txBody>
      </p:sp>
    </p:spTree>
    <p:extLst>
      <p:ext uri="{BB962C8B-B14F-4D97-AF65-F5344CB8AC3E}">
        <p14:creationId xmlns:p14="http://schemas.microsoft.com/office/powerpoint/2010/main" val="7970608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ATS – Address Translation Services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5900" y="951571"/>
            <a:ext cx="6172200" cy="3643052"/>
          </a:xfrm>
        </p:spPr>
        <p:txBody>
          <a:bodyPr/>
          <a:lstStyle/>
          <a:p>
            <a:r>
              <a:rPr lang="en-US" altLang="zh-TW" dirty="0"/>
              <a:t>ATS provides a mechanism allowing a  virtual machine to perform DMA transaction directly to and from a </a:t>
            </a:r>
            <a:r>
              <a:rPr lang="en-US" altLang="zh-TW" dirty="0" err="1"/>
              <a:t>PCIe</a:t>
            </a:r>
            <a:r>
              <a:rPr lang="en-US" altLang="zh-TW" dirty="0"/>
              <a:t> endpoint.</a:t>
            </a:r>
          </a:p>
          <a:p>
            <a:endParaRPr lang="zh-TW" alt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5706" y="2247714"/>
            <a:ext cx="4743450" cy="259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2031" y="4577730"/>
            <a:ext cx="2889647" cy="370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075076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ATS – Address Translation Services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ATS uses a </a:t>
            </a:r>
            <a:r>
              <a:rPr lang="en-US" altLang="zh-TW" b="1" dirty="0">
                <a:solidFill>
                  <a:srgbClr val="FF0000"/>
                </a:solidFill>
              </a:rPr>
              <a:t>request-completion</a:t>
            </a:r>
            <a:r>
              <a:rPr lang="en-US" altLang="zh-TW" dirty="0"/>
              <a:t> protocol between a Device and a Root Complex (RC)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7814" y="2137582"/>
            <a:ext cx="3240360" cy="2755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43760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ATS – Address Translation Services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43000" y="951570"/>
            <a:ext cx="6858000" cy="4191930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 dirty="0"/>
              <a:t>Upon receipt of an ATS Translation Request, the TA performs the following Requests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altLang="zh-TW" dirty="0"/>
              <a:t>Validates that the Function has been configured to issue </a:t>
            </a:r>
            <a:r>
              <a:rPr lang="en-US" altLang="zh-TW" u="sng" dirty="0"/>
              <a:t>ATS Translation Requests</a:t>
            </a:r>
            <a:r>
              <a:rPr lang="en-US" altLang="zh-TW" dirty="0"/>
              <a:t>.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altLang="zh-TW" dirty="0"/>
              <a:t>Determines whether the Function may access the memory indicated by the </a:t>
            </a:r>
            <a:r>
              <a:rPr lang="en-US" altLang="zh-TW" u="sng" dirty="0"/>
              <a:t>ATS Translation Request </a:t>
            </a:r>
            <a:r>
              <a:rPr lang="en-US" altLang="zh-TW" dirty="0"/>
              <a:t>and has the associated access rights.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altLang="zh-TW" dirty="0"/>
              <a:t>Determines whether a translation can be provided to the Function. If yes, the TA issues a translation to the Function.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altLang="zh-TW" dirty="0"/>
              <a:t>The TA communicates the success or failure of the request to the RC which generates an </a:t>
            </a:r>
            <a:r>
              <a:rPr lang="en-US" altLang="zh-TW" u="sng" dirty="0"/>
              <a:t>ATS Translation Completion and transmits</a:t>
            </a:r>
            <a:r>
              <a:rPr lang="en-US" altLang="zh-TW" dirty="0"/>
              <a:t> via a Response TLP through a RP to the Function.</a:t>
            </a:r>
          </a:p>
          <a:p>
            <a:r>
              <a:rPr lang="en-US" altLang="zh-TW" dirty="0"/>
              <a:t>Path</a:t>
            </a:r>
          </a:p>
          <a:p>
            <a:pPr lvl="1"/>
            <a:r>
              <a:rPr lang="en-US" altLang="zh-TW" dirty="0"/>
              <a:t>Function(Request)=&gt;TA=&gt;RC(Completion)=&gt;Function</a:t>
            </a:r>
          </a:p>
          <a:p>
            <a:pPr marL="685800" lvl="1" indent="-342900">
              <a:buFont typeface="+mj-lt"/>
              <a:buAutoNum type="arabicPeriod"/>
            </a:pPr>
            <a:endParaRPr lang="en-US" altLang="zh-TW" dirty="0"/>
          </a:p>
          <a:p>
            <a:pPr lvl="1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264944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ATS – Address Translation Services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43000" y="1200151"/>
            <a:ext cx="7047402" cy="3394472"/>
          </a:xfrm>
        </p:spPr>
        <p:txBody>
          <a:bodyPr>
            <a:normAutofit fontScale="85000" lnSpcReduction="10000"/>
          </a:bodyPr>
          <a:lstStyle/>
          <a:p>
            <a:r>
              <a:rPr lang="en-US" altLang="zh-TW" dirty="0"/>
              <a:t>When the Function receives the ATS Translation Completion  </a:t>
            </a:r>
          </a:p>
          <a:p>
            <a:pPr lvl="1"/>
            <a:r>
              <a:rPr lang="en-US" altLang="zh-TW" dirty="0"/>
              <a:t>Either updates its ATC to reflect the translation </a:t>
            </a:r>
          </a:p>
          <a:p>
            <a:pPr lvl="1"/>
            <a:r>
              <a:rPr lang="en-US" altLang="zh-TW" dirty="0"/>
              <a:t>Or notes that a translation does not exist.</a:t>
            </a:r>
          </a:p>
          <a:p>
            <a:endParaRPr lang="en-US" altLang="zh-TW" dirty="0"/>
          </a:p>
          <a:p>
            <a:r>
              <a:rPr lang="en-US" altLang="zh-TW" dirty="0"/>
              <a:t>The Function generates subsequent requests using </a:t>
            </a:r>
          </a:p>
          <a:p>
            <a:pPr lvl="1"/>
            <a:r>
              <a:rPr lang="en-US" altLang="zh-TW" dirty="0"/>
              <a:t>either a translated address </a:t>
            </a:r>
          </a:p>
          <a:p>
            <a:pPr lvl="1"/>
            <a:r>
              <a:rPr lang="en-US" altLang="zh-TW" dirty="0"/>
              <a:t>or an un-translated address based on the results of the Completion.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47585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SR-IOV</a:t>
            </a:r>
            <a:endParaRPr lang="zh-TW" altLang="en-US" dirty="0"/>
          </a:p>
        </p:txBody>
      </p:sp>
      <p:sp>
        <p:nvSpPr>
          <p:cNvPr id="8" name="文字版面配置區 7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Architecture Supporting SR-IOV Capability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ARI – Alternative Routing ID Interpretation 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ACS – Access Control Services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ATS – Address Translation Service</a:t>
            </a:r>
          </a:p>
          <a:p>
            <a:r>
              <a:rPr lang="en-US" altLang="zh-TW" dirty="0">
                <a:solidFill>
                  <a:srgbClr val="C00000"/>
                </a:solidFill>
              </a:rPr>
              <a:t>Data Path for Incoming Packets</a:t>
            </a:r>
          </a:p>
        </p:txBody>
      </p:sp>
    </p:spTree>
    <p:extLst>
      <p:ext uri="{BB962C8B-B14F-4D97-AF65-F5344CB8AC3E}">
        <p14:creationId xmlns:p14="http://schemas.microsoft.com/office/powerpoint/2010/main" val="6391790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9225" y="1329612"/>
            <a:ext cx="2771775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93658" y="18124"/>
            <a:ext cx="6172200" cy="651272"/>
          </a:xfrm>
        </p:spPr>
        <p:txBody>
          <a:bodyPr/>
          <a:lstStyle/>
          <a:p>
            <a:r>
              <a:rPr lang="en-US" altLang="zh-TW" dirty="0"/>
              <a:t>Data Path for incoming packets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43000" y="897564"/>
            <a:ext cx="4086225" cy="4245936"/>
          </a:xfrm>
        </p:spPr>
        <p:txBody>
          <a:bodyPr>
            <a:normAutofit fontScale="92500" lnSpcReduction="20000"/>
          </a:bodyPr>
          <a:lstStyle/>
          <a:p>
            <a:pPr marL="385763" indent="-385763">
              <a:buFont typeface="+mj-lt"/>
              <a:buAutoNum type="arabicPeriod"/>
            </a:pPr>
            <a:r>
              <a:rPr lang="en-US" altLang="zh-TW" dirty="0"/>
              <a:t>The Ethernet packet arrives at the Ethernet NIC</a:t>
            </a:r>
          </a:p>
          <a:p>
            <a:pPr marL="385763" indent="-385763">
              <a:buFont typeface="+mj-lt"/>
              <a:buAutoNum type="arabicPeriod"/>
            </a:pPr>
            <a:endParaRPr lang="en-US" altLang="zh-TW" dirty="0"/>
          </a:p>
          <a:p>
            <a:pPr marL="385763" indent="-385763">
              <a:buFont typeface="+mj-lt"/>
              <a:buAutoNum type="arabicPeriod"/>
            </a:pPr>
            <a:r>
              <a:rPr lang="en-US" altLang="zh-TW" dirty="0"/>
              <a:t>The packet is sent to the Layer 2 sorter/switch/classifier</a:t>
            </a:r>
          </a:p>
          <a:p>
            <a:pPr marL="685800" lvl="1" indent="-385763"/>
            <a:r>
              <a:rPr lang="en-US" altLang="zh-TW" dirty="0"/>
              <a:t>This Layer 2 sorter is configured by the Master Driver. When either the MD or the VF Driver configure a </a:t>
            </a:r>
            <a:r>
              <a:rPr lang="en-US" altLang="zh-TW" b="1" dirty="0"/>
              <a:t>MAC address </a:t>
            </a:r>
            <a:r>
              <a:rPr lang="en-US" altLang="zh-TW" dirty="0"/>
              <a:t>or </a:t>
            </a:r>
            <a:r>
              <a:rPr lang="en-US" altLang="zh-TW" b="1" dirty="0"/>
              <a:t>VLAN</a:t>
            </a:r>
            <a:r>
              <a:rPr lang="en-US" altLang="zh-TW" dirty="0"/>
              <a:t>, this Layer 2 sorter is configured.</a:t>
            </a:r>
          </a:p>
          <a:p>
            <a:pPr marL="685800" lvl="1" indent="-385763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5785779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 Path for incoming packets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43000" y="1200150"/>
            <a:ext cx="3807042" cy="394335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TW" dirty="0"/>
              <a:t>3. After being sorted by the</a:t>
            </a:r>
          </a:p>
          <a:p>
            <a:pPr marL="0" indent="0">
              <a:buNone/>
            </a:pPr>
            <a:r>
              <a:rPr lang="en-US" altLang="zh-TW" dirty="0"/>
              <a:t>    Layer 2 Switch, the packet is </a:t>
            </a:r>
          </a:p>
          <a:p>
            <a:pPr marL="0" indent="0">
              <a:buNone/>
            </a:pPr>
            <a:r>
              <a:rPr lang="en-US" altLang="zh-TW" dirty="0"/>
              <a:t>    placed into a receive queue </a:t>
            </a:r>
          </a:p>
          <a:p>
            <a:pPr marL="0" indent="0">
              <a:buNone/>
            </a:pPr>
            <a:r>
              <a:rPr lang="en-US" altLang="zh-TW" dirty="0"/>
              <a:t>    dedicated to the target VF.</a:t>
            </a:r>
          </a:p>
          <a:p>
            <a:pPr marL="385763" indent="-385763">
              <a:buFont typeface="+mj-lt"/>
              <a:buAutoNum type="arabicPeriod"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4. The DMA operation is </a:t>
            </a:r>
          </a:p>
          <a:p>
            <a:pPr marL="0" indent="0">
              <a:buNone/>
            </a:pPr>
            <a:r>
              <a:rPr lang="en-US" altLang="zh-TW" dirty="0"/>
              <a:t>     initiated. The target memory </a:t>
            </a:r>
          </a:p>
          <a:p>
            <a:pPr marL="0" indent="0">
              <a:buNone/>
            </a:pPr>
            <a:r>
              <a:rPr lang="en-US" altLang="zh-TW" dirty="0"/>
              <a:t>     address for the DMA operation </a:t>
            </a:r>
          </a:p>
          <a:p>
            <a:pPr marL="0" indent="0">
              <a:buNone/>
            </a:pPr>
            <a:r>
              <a:rPr lang="en-US" altLang="zh-TW" dirty="0"/>
              <a:t>     is defined within the </a:t>
            </a:r>
          </a:p>
          <a:p>
            <a:pPr marL="0" indent="0">
              <a:buNone/>
            </a:pPr>
            <a:r>
              <a:rPr lang="en-US" altLang="zh-TW" dirty="0"/>
              <a:t>    descriptors in the VF, which </a:t>
            </a:r>
          </a:p>
          <a:p>
            <a:pPr marL="0" indent="0">
              <a:buNone/>
            </a:pPr>
            <a:r>
              <a:rPr lang="en-US" altLang="zh-TW" dirty="0"/>
              <a:t>    have been configured by the VF </a:t>
            </a:r>
          </a:p>
          <a:p>
            <a:pPr marL="0" indent="0">
              <a:buNone/>
            </a:pPr>
            <a:r>
              <a:rPr lang="en-US" altLang="zh-TW" dirty="0"/>
              <a:t>    driver within the VM.</a:t>
            </a:r>
          </a:p>
          <a:p>
            <a:pPr marL="385763" indent="-385763">
              <a:buFont typeface="+mj-lt"/>
              <a:buAutoNum type="arabicPeriod"/>
            </a:pPr>
            <a:endParaRPr lang="en-US" altLang="zh-TW" dirty="0"/>
          </a:p>
          <a:p>
            <a:endParaRPr lang="zh-TW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9225" y="1329612"/>
            <a:ext cx="2771775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81513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9225" y="1329612"/>
            <a:ext cx="2771775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 Path for incoming packets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43000" y="897564"/>
            <a:ext cx="3969060" cy="424593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zh-TW" dirty="0"/>
              <a:t>5. The DMA Operation has</a:t>
            </a:r>
          </a:p>
          <a:p>
            <a:pPr marL="0" indent="0">
              <a:buNone/>
            </a:pPr>
            <a:r>
              <a:rPr lang="en-US" altLang="zh-TW" dirty="0"/>
              <a:t>     reached the chipset.  Intel VT-d,</a:t>
            </a:r>
          </a:p>
          <a:p>
            <a:pPr marL="0" indent="0">
              <a:buNone/>
            </a:pPr>
            <a:r>
              <a:rPr lang="en-US" altLang="zh-TW" dirty="0"/>
              <a:t>     which has been configured by </a:t>
            </a:r>
          </a:p>
          <a:p>
            <a:pPr marL="0" indent="0">
              <a:buNone/>
            </a:pPr>
            <a:r>
              <a:rPr lang="en-US" altLang="zh-TW" dirty="0"/>
              <a:t>     the </a:t>
            </a:r>
            <a:r>
              <a:rPr lang="en-US" altLang="zh-TW" b="1" dirty="0"/>
              <a:t>VMM then remaps the target   </a:t>
            </a:r>
          </a:p>
          <a:p>
            <a:pPr marL="0" indent="0">
              <a:buNone/>
            </a:pPr>
            <a:r>
              <a:rPr lang="en-US" altLang="zh-TW" b="1" dirty="0"/>
              <a:t>     DMA address from a virtual host </a:t>
            </a:r>
          </a:p>
          <a:p>
            <a:pPr marL="0" indent="0">
              <a:buNone/>
            </a:pPr>
            <a:r>
              <a:rPr lang="en-US" altLang="zh-TW" b="1" dirty="0"/>
              <a:t>     address to a physical host address</a:t>
            </a:r>
            <a:r>
              <a:rPr lang="en-US" altLang="zh-TW" dirty="0"/>
              <a:t>. </a:t>
            </a:r>
          </a:p>
          <a:p>
            <a:pPr marL="0" indent="0">
              <a:buNone/>
            </a:pPr>
            <a:r>
              <a:rPr lang="en-US" altLang="zh-TW" dirty="0"/>
              <a:t>     The DMA operation is completed;  </a:t>
            </a:r>
          </a:p>
          <a:p>
            <a:pPr marL="0" indent="0">
              <a:buNone/>
            </a:pPr>
            <a:r>
              <a:rPr lang="en-US" altLang="zh-TW" dirty="0"/>
              <a:t>     the Ethernet packet is now in the </a:t>
            </a:r>
          </a:p>
          <a:p>
            <a:pPr marL="0" indent="0">
              <a:buNone/>
            </a:pPr>
            <a:r>
              <a:rPr lang="en-US" altLang="zh-TW" dirty="0"/>
              <a:t>      memory space of the VM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6. The NIC </a:t>
            </a:r>
            <a:r>
              <a:rPr lang="en-US" altLang="zh-TW" b="1" dirty="0"/>
              <a:t>fires interrupt</a:t>
            </a:r>
            <a:r>
              <a:rPr lang="en-US" altLang="zh-TW" dirty="0"/>
              <a:t>, </a:t>
            </a:r>
          </a:p>
          <a:p>
            <a:pPr marL="0" indent="0">
              <a:buNone/>
            </a:pPr>
            <a:r>
              <a:rPr lang="en-US" altLang="zh-TW" dirty="0"/>
              <a:t>     indicating a packet has   </a:t>
            </a:r>
          </a:p>
          <a:p>
            <a:pPr marL="0" indent="0">
              <a:buNone/>
            </a:pPr>
            <a:r>
              <a:rPr lang="en-US" altLang="zh-TW" dirty="0"/>
              <a:t>     arrived. This interrupt </a:t>
            </a:r>
          </a:p>
          <a:p>
            <a:pPr marL="0" indent="0">
              <a:buNone/>
            </a:pPr>
            <a:r>
              <a:rPr lang="en-US" altLang="zh-TW" dirty="0"/>
              <a:t>     is handled by the VMM</a:t>
            </a:r>
          </a:p>
        </p:txBody>
      </p:sp>
    </p:spTree>
    <p:extLst>
      <p:ext uri="{BB962C8B-B14F-4D97-AF65-F5344CB8AC3E}">
        <p14:creationId xmlns:p14="http://schemas.microsoft.com/office/powerpoint/2010/main" val="17188274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 Path for incoming packets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43000" y="1200150"/>
            <a:ext cx="3320988" cy="3943350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7. The VMM fires a virtual </a:t>
            </a:r>
          </a:p>
          <a:p>
            <a:pPr marL="0" indent="0">
              <a:buNone/>
            </a:pPr>
            <a:r>
              <a:rPr lang="en-US" altLang="zh-TW" dirty="0"/>
              <a:t>     interrupt to the VM, so </a:t>
            </a:r>
          </a:p>
          <a:p>
            <a:pPr marL="0" indent="0">
              <a:buNone/>
            </a:pPr>
            <a:r>
              <a:rPr lang="en-US" altLang="zh-TW" dirty="0"/>
              <a:t>     that it is informed that </a:t>
            </a:r>
          </a:p>
          <a:p>
            <a:pPr marL="0" indent="0">
              <a:buNone/>
            </a:pPr>
            <a:r>
              <a:rPr lang="en-US" altLang="zh-TW" dirty="0"/>
              <a:t>     the packet has arrived</a:t>
            </a:r>
          </a:p>
          <a:p>
            <a:endParaRPr lang="zh-TW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1221600"/>
            <a:ext cx="2771775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670014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Summary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43000" y="843558"/>
            <a:ext cx="6858000" cy="4299942"/>
          </a:xfrm>
        </p:spPr>
        <p:txBody>
          <a:bodyPr/>
          <a:lstStyle/>
          <a:p>
            <a:r>
              <a:rPr lang="en-US" altLang="zh-TW" sz="1800" dirty="0"/>
              <a:t>SR-IOV creates </a:t>
            </a:r>
            <a:r>
              <a:rPr lang="en-US" altLang="zh-TW" sz="1800" dirty="0">
                <a:solidFill>
                  <a:srgbClr val="FF0000"/>
                </a:solidFill>
              </a:rPr>
              <a:t>Virtual Function</a:t>
            </a:r>
            <a:r>
              <a:rPr lang="en-US" altLang="zh-TW" sz="1800" dirty="0"/>
              <a:t>, which records the information of the virtual </a:t>
            </a:r>
            <a:r>
              <a:rPr lang="en-US" altLang="zh-TW" sz="1800" dirty="0" err="1"/>
              <a:t>PCIe</a:t>
            </a:r>
            <a:r>
              <a:rPr lang="en-US" altLang="zh-TW" sz="1800" dirty="0"/>
              <a:t> device and be directly mapped to a system image.</a:t>
            </a:r>
          </a:p>
          <a:p>
            <a:r>
              <a:rPr lang="en-US" altLang="zh-TW" sz="1800" dirty="0"/>
              <a:t>Virtual Function is a “light weight” function just for data movement. The management is controlled by Physical Function.</a:t>
            </a:r>
          </a:p>
          <a:p>
            <a:r>
              <a:rPr lang="en-US" altLang="zh-TW" sz="1800" b="1" dirty="0"/>
              <a:t>ATC</a:t>
            </a:r>
            <a:r>
              <a:rPr lang="en-US" altLang="zh-TW" sz="1800" dirty="0"/>
              <a:t>, a hardware stores recently used address translations</a:t>
            </a:r>
          </a:p>
          <a:p>
            <a:r>
              <a:rPr lang="en-US" altLang="zh-TW" sz="1800" b="1" dirty="0"/>
              <a:t>ARI</a:t>
            </a:r>
            <a:r>
              <a:rPr lang="en-US" altLang="zh-TW" sz="1800" dirty="0"/>
              <a:t>,  a mechanism to allow single </a:t>
            </a:r>
            <a:r>
              <a:rPr lang="en-US" altLang="zh-TW" sz="1800" dirty="0" err="1"/>
              <a:t>PCIe</a:t>
            </a:r>
            <a:r>
              <a:rPr lang="en-US" altLang="zh-TW" sz="1800" dirty="0"/>
              <a:t> component to support up to 256 functions. And Routing ID is used to forward  requests to the corresponding PFs and VFs. </a:t>
            </a:r>
          </a:p>
          <a:p>
            <a:r>
              <a:rPr lang="en-US" altLang="zh-TW" sz="1800" b="1" dirty="0"/>
              <a:t>ATS</a:t>
            </a:r>
            <a:r>
              <a:rPr lang="en-US" altLang="zh-TW" sz="1800" dirty="0"/>
              <a:t>, a mechanism allowing a  virtual machine to perform DMA transaction directly to and from a </a:t>
            </a:r>
            <a:r>
              <a:rPr lang="en-US" altLang="zh-TW" sz="1800" dirty="0" err="1"/>
              <a:t>PCIe</a:t>
            </a:r>
            <a:r>
              <a:rPr lang="en-US" altLang="zh-TW" sz="1800" dirty="0"/>
              <a:t> endpoint</a:t>
            </a:r>
          </a:p>
          <a:p>
            <a:r>
              <a:rPr lang="en-US" altLang="zh-TW" sz="1800" dirty="0"/>
              <a:t>In the end, a example show up the data path for the incoming packets.</a:t>
            </a:r>
          </a:p>
        </p:txBody>
      </p:sp>
    </p:spTree>
    <p:extLst>
      <p:ext uri="{BB962C8B-B14F-4D97-AF65-F5344CB8AC3E}">
        <p14:creationId xmlns:p14="http://schemas.microsoft.com/office/powerpoint/2010/main" val="13061540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Reference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43000" y="1200150"/>
            <a:ext cx="6858000" cy="3943350"/>
          </a:xfrm>
        </p:spPr>
        <p:txBody>
          <a:bodyPr>
            <a:normAutofit/>
          </a:bodyPr>
          <a:lstStyle/>
          <a:p>
            <a:r>
              <a:rPr lang="en-US" altLang="zh-TW" sz="1500" dirty="0"/>
              <a:t>Intel PCI-SIG SR-IOV Primer</a:t>
            </a:r>
          </a:p>
          <a:p>
            <a:r>
              <a:rPr lang="en-US" altLang="zh-TW" sz="1500" dirty="0"/>
              <a:t>“SR-IOV Networking in </a:t>
            </a:r>
            <a:r>
              <a:rPr lang="en-US" altLang="zh-TW" sz="1500" dirty="0" err="1"/>
              <a:t>Xen</a:t>
            </a:r>
            <a:r>
              <a:rPr lang="en-US" altLang="zh-TW" sz="1500" dirty="0"/>
              <a:t>: Architecture, Design and Implementation” </a:t>
            </a:r>
            <a:r>
              <a:rPr lang="en-US" altLang="zh-TW" sz="900" dirty="0" err="1"/>
              <a:t>Yaozu</a:t>
            </a:r>
            <a:r>
              <a:rPr lang="en-US" altLang="zh-TW" sz="900" dirty="0"/>
              <a:t> Dong, Zhao Yu and Greg Rose</a:t>
            </a:r>
            <a:endParaRPr lang="zh-TW" altLang="en-US" sz="900" dirty="0"/>
          </a:p>
          <a:p>
            <a:r>
              <a:rPr lang="en-US" altLang="zh-TW" sz="1500" dirty="0"/>
              <a:t>Single Root I/O Virtualization and Sharing Specification Revision 1.1</a:t>
            </a:r>
          </a:p>
          <a:p>
            <a:r>
              <a:rPr lang="en-US" altLang="zh-TW" sz="1500" dirty="0"/>
              <a:t>Address Translation Services Revision 1.1</a:t>
            </a:r>
          </a:p>
          <a:p>
            <a:r>
              <a:rPr lang="en-US" altLang="zh-TW" sz="1500" dirty="0"/>
              <a:t>“Implementing PCI I/O Virtualization Standards”, </a:t>
            </a:r>
            <a:r>
              <a:rPr lang="en-US" altLang="zh-TW" sz="900" dirty="0"/>
              <a:t>Mike Krause and Renato </a:t>
            </a:r>
            <a:r>
              <a:rPr lang="en-US" altLang="zh-TW" sz="900" dirty="0" err="1"/>
              <a:t>Recio</a:t>
            </a:r>
            <a:endParaRPr lang="en-US" altLang="zh-TW" sz="900" dirty="0"/>
          </a:p>
          <a:p>
            <a:r>
              <a:rPr lang="en-US" altLang="zh-TW" sz="900" dirty="0"/>
              <a:t>PCI SIG IOV Work Group Co-chairs</a:t>
            </a:r>
            <a:endParaRPr lang="zh-TW" altLang="en-US" sz="1500" dirty="0"/>
          </a:p>
          <a:p>
            <a:r>
              <a:rPr lang="en-US" altLang="zh-TW" sz="1500" dirty="0">
                <a:hlinkClick r:id="rId2"/>
              </a:rPr>
              <a:t>http://www.mindshare.com/files/ebooks/PCI%20System%20Architecture%20(4th%20Edition).pdf</a:t>
            </a:r>
            <a:endParaRPr lang="en-US" altLang="zh-TW" sz="1500" dirty="0"/>
          </a:p>
          <a:p>
            <a:r>
              <a:rPr lang="en-US" altLang="zh-TW" sz="1500" dirty="0">
                <a:hlinkClick r:id="rId3"/>
              </a:rPr>
              <a:t>http://www.pcisig.com/developers/main/training_materials/get_document?doc_id=4717c70ea2fe2f92dcbc4560a39cba8129af32c1</a:t>
            </a:r>
            <a:endParaRPr lang="en-US" altLang="zh-TW" sz="1500" dirty="0"/>
          </a:p>
          <a:p>
            <a:r>
              <a:rPr lang="en-US" altLang="zh-TW" sz="1500" dirty="0">
                <a:hlinkClick r:id="rId4"/>
              </a:rPr>
              <a:t>http://www.intel.com/content/dam/doc/application-note/pci-sig-sr-iov-primer-sr-iov-technology-paper.pdf</a:t>
            </a:r>
            <a:endParaRPr lang="en-US" altLang="zh-TW" sz="1500" dirty="0"/>
          </a:p>
          <a:p>
            <a:r>
              <a:rPr lang="en-US" altLang="zh-TW" sz="1500" dirty="0">
                <a:hlinkClick r:id="rId5"/>
              </a:rPr>
              <a:t>http://ieeexplore.ieee.org/xpls/abs_all.jsp?arnumber=5416637&amp;tag=1</a:t>
            </a:r>
            <a:endParaRPr lang="en-US" altLang="zh-TW" sz="1500" dirty="0"/>
          </a:p>
          <a:p>
            <a:endParaRPr lang="en-US" altLang="zh-TW" sz="1500" dirty="0"/>
          </a:p>
          <a:p>
            <a:pPr marL="0" indent="0">
              <a:buNone/>
            </a:pP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6557200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2444</TotalTime>
  <Words>2527</Words>
  <Application>Microsoft Office PowerPoint</Application>
  <PresentationFormat>全屏显示(16:9)</PresentationFormat>
  <Paragraphs>482</Paragraphs>
  <Slides>46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4" baseType="lpstr">
      <vt:lpstr>標楷體</vt:lpstr>
      <vt:lpstr>MS Sans Serif</vt:lpstr>
      <vt:lpstr>Arial</vt:lpstr>
      <vt:lpstr>Calibri</vt:lpstr>
      <vt:lpstr>Times New Roman</vt:lpstr>
      <vt:lpstr>Trebuchet MS</vt:lpstr>
      <vt:lpstr>Wingdings</vt:lpstr>
      <vt:lpstr>NTHU UniCloud</vt:lpstr>
      <vt:lpstr>CSC6032 – Advanced Operating Systems</vt:lpstr>
      <vt:lpstr>虛擬化技術 Virtualization Techniques</vt:lpstr>
      <vt:lpstr>Agenda</vt:lpstr>
      <vt:lpstr>Overview</vt:lpstr>
      <vt:lpstr>Overview</vt:lpstr>
      <vt:lpstr>Overview</vt:lpstr>
      <vt:lpstr>PCIe I/O Virtualization</vt:lpstr>
      <vt:lpstr>Motivation</vt:lpstr>
      <vt:lpstr>PCIe I/O Virtualization</vt:lpstr>
      <vt:lpstr>Directed I/O</vt:lpstr>
      <vt:lpstr>Drawbacks to Directed I/O</vt:lpstr>
      <vt:lpstr>Terminology relating to Directed I/O</vt:lpstr>
      <vt:lpstr>PCIe I/O Virtualization</vt:lpstr>
      <vt:lpstr>Generic Platform </vt:lpstr>
      <vt:lpstr>PCIe components</vt:lpstr>
      <vt:lpstr>PCIe components</vt:lpstr>
      <vt:lpstr>PCIe Device</vt:lpstr>
      <vt:lpstr>Example: Multi-Function Device </vt:lpstr>
      <vt:lpstr>Components in PCIe Device </vt:lpstr>
      <vt:lpstr>Components in PCIe Device </vt:lpstr>
      <vt:lpstr>Physical V.S. Virtual</vt:lpstr>
      <vt:lpstr>PCIe SR-IOV Capable Device</vt:lpstr>
      <vt:lpstr>Directly and Software Shared</vt:lpstr>
      <vt:lpstr>Extended Capabilities</vt:lpstr>
      <vt:lpstr>SR-IOV Extended Capabilities</vt:lpstr>
      <vt:lpstr>SR-IOV</vt:lpstr>
      <vt:lpstr>Platform with SR-IOV</vt:lpstr>
      <vt:lpstr>Components of SR-IOV</vt:lpstr>
      <vt:lpstr>Components of SR-IOV</vt:lpstr>
      <vt:lpstr>SR-IOV</vt:lpstr>
      <vt:lpstr>ARI – Alternative Routing ID Interpretation</vt:lpstr>
      <vt:lpstr>ARI – Alternative Routing ID Interpretation</vt:lpstr>
      <vt:lpstr>SR-IOV</vt:lpstr>
      <vt:lpstr>ACS – Access Control Services</vt:lpstr>
      <vt:lpstr>SR-IOV</vt:lpstr>
      <vt:lpstr>ATS – Address Translation Services</vt:lpstr>
      <vt:lpstr>ATS – Address Translation Services</vt:lpstr>
      <vt:lpstr>ATS – Address Translation Services</vt:lpstr>
      <vt:lpstr>ATS – Address Translation Services</vt:lpstr>
      <vt:lpstr>SR-IOV</vt:lpstr>
      <vt:lpstr>Data Path for incoming packets</vt:lpstr>
      <vt:lpstr>Data Path for incoming packets</vt:lpstr>
      <vt:lpstr>Data Path for incoming packets</vt:lpstr>
      <vt:lpstr>Data Path for incoming packets</vt:lpstr>
      <vt:lpstr>Summary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</cp:lastModifiedBy>
  <cp:revision>271</cp:revision>
  <dcterms:created xsi:type="dcterms:W3CDTF">2015-06-05T07:23:35Z</dcterms:created>
  <dcterms:modified xsi:type="dcterms:W3CDTF">2023-10-15T06:19:39Z</dcterms:modified>
</cp:coreProperties>
</file>