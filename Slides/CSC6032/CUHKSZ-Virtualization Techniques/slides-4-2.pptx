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9"/>
  </p:notesMasterIdLst>
  <p:handoutMasterIdLst>
    <p:handoutMasterId r:id="rId80"/>
  </p:handoutMasterIdLst>
  <p:sldIdLst>
    <p:sldId id="256" r:id="rId2"/>
    <p:sldId id="266" r:id="rId3"/>
    <p:sldId id="257" r:id="rId4"/>
    <p:sldId id="493" r:id="rId5"/>
    <p:sldId id="416" r:id="rId6"/>
    <p:sldId id="495" r:id="rId7"/>
    <p:sldId id="414" r:id="rId8"/>
    <p:sldId id="494" r:id="rId9"/>
    <p:sldId id="496" r:id="rId10"/>
    <p:sldId id="417" r:id="rId11"/>
    <p:sldId id="419" r:id="rId12"/>
    <p:sldId id="422" r:id="rId13"/>
    <p:sldId id="423" r:id="rId14"/>
    <p:sldId id="424" r:id="rId15"/>
    <p:sldId id="426" r:id="rId16"/>
    <p:sldId id="425" r:id="rId17"/>
    <p:sldId id="446" r:id="rId18"/>
    <p:sldId id="427" r:id="rId19"/>
    <p:sldId id="428" r:id="rId20"/>
    <p:sldId id="430" r:id="rId21"/>
    <p:sldId id="431" r:id="rId22"/>
    <p:sldId id="432" r:id="rId23"/>
    <p:sldId id="433" r:id="rId24"/>
    <p:sldId id="462" r:id="rId25"/>
    <p:sldId id="463" r:id="rId26"/>
    <p:sldId id="464" r:id="rId27"/>
    <p:sldId id="444" r:id="rId28"/>
    <p:sldId id="434" r:id="rId29"/>
    <p:sldId id="436" r:id="rId30"/>
    <p:sldId id="437" r:id="rId31"/>
    <p:sldId id="438" r:id="rId32"/>
    <p:sldId id="439" r:id="rId33"/>
    <p:sldId id="440" r:id="rId34"/>
    <p:sldId id="441" r:id="rId35"/>
    <p:sldId id="442" r:id="rId36"/>
    <p:sldId id="443" r:id="rId37"/>
    <p:sldId id="445" r:id="rId38"/>
    <p:sldId id="435" r:id="rId39"/>
    <p:sldId id="447" r:id="rId40"/>
    <p:sldId id="448" r:id="rId41"/>
    <p:sldId id="497" r:id="rId42"/>
    <p:sldId id="452" r:id="rId43"/>
    <p:sldId id="454" r:id="rId44"/>
    <p:sldId id="453" r:id="rId45"/>
    <p:sldId id="498" r:id="rId46"/>
    <p:sldId id="451" r:id="rId47"/>
    <p:sldId id="456" r:id="rId48"/>
    <p:sldId id="457" r:id="rId49"/>
    <p:sldId id="458" r:id="rId50"/>
    <p:sldId id="499" r:id="rId51"/>
    <p:sldId id="459" r:id="rId52"/>
    <p:sldId id="460" r:id="rId53"/>
    <p:sldId id="465" r:id="rId54"/>
    <p:sldId id="466" r:id="rId55"/>
    <p:sldId id="467" r:id="rId56"/>
    <p:sldId id="468" r:id="rId57"/>
    <p:sldId id="471" r:id="rId58"/>
    <p:sldId id="472" r:id="rId59"/>
    <p:sldId id="470" r:id="rId60"/>
    <p:sldId id="473" r:id="rId61"/>
    <p:sldId id="475" r:id="rId62"/>
    <p:sldId id="476" r:id="rId63"/>
    <p:sldId id="477" r:id="rId64"/>
    <p:sldId id="478" r:id="rId65"/>
    <p:sldId id="479" r:id="rId66"/>
    <p:sldId id="480" r:id="rId67"/>
    <p:sldId id="481" r:id="rId68"/>
    <p:sldId id="482" r:id="rId69"/>
    <p:sldId id="483" r:id="rId70"/>
    <p:sldId id="484" r:id="rId71"/>
    <p:sldId id="485" r:id="rId72"/>
    <p:sldId id="486" r:id="rId73"/>
    <p:sldId id="488" r:id="rId74"/>
    <p:sldId id="490" r:id="rId75"/>
    <p:sldId id="491" r:id="rId76"/>
    <p:sldId id="492" r:id="rId77"/>
    <p:sldId id="265" r:id="rId7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1F-4EED-A3EC-D5D8B3B89813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2000" b="1"/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E1F-4EED-A3EC-D5D8B3B898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/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physical machine</c:v>
                </c:pt>
                <c:pt idx="1">
                  <c:v>virtual machine</c:v>
                </c:pt>
              </c:strCache>
            </c:strRef>
          </c:cat>
          <c:val>
            <c:numRef>
              <c:f>Sheet1!$B$7:$C$7</c:f>
              <c:numCache>
                <c:formatCode>g/"通""用""格""式"</c:formatCode>
                <c:ptCount val="2"/>
                <c:pt idx="0">
                  <c:v>24.834000000000007</c:v>
                </c:pt>
                <c:pt idx="1">
                  <c:v>0.34500000000000008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1F-4EED-A3EC-D5D8B3B89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0355328"/>
        <c:axId val="80356864"/>
      </c:barChart>
      <c:catAx>
        <c:axId val="8035532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one"/>
        <c:crossAx val="80356864"/>
        <c:crosses val="autoZero"/>
        <c:auto val="1"/>
        <c:lblAlgn val="ctr"/>
        <c:lblOffset val="100"/>
        <c:noMultiLvlLbl val="0"/>
      </c:catAx>
      <c:valAx>
        <c:axId val="80356864"/>
        <c:scaling>
          <c:orientation val="minMax"/>
        </c:scaling>
        <c:delete val="0"/>
        <c:axPos val="l"/>
        <c:majorGridlines/>
        <c:numFmt formatCode="g/&quot;通&quot;&quot;用&quot;&quot;格&quot;&quot;式&quot;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zh-CN"/>
          </a:p>
        </c:txPr>
        <c:crossAx val="8035532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gridbus.csse.unimelb.edu.au/~raj/superstorage/chap42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slideshare.net/Cameroon45/infiniband-and-rocee-virtualization-with-sri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1650" y="1028700"/>
            <a:ext cx="5829300" cy="1428750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2400300"/>
            <a:ext cx="4800600" cy="1771650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Network Virtualization</a:t>
            </a:r>
          </a:p>
          <a:p>
            <a:pPr algn="ctr"/>
            <a:r>
              <a:rPr lang="en-US" altLang="zh-TW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InfiniBand</a:t>
            </a:r>
            <a:r>
              <a:rPr lang="en-US" altLang="zh-TW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 Virtualization</a:t>
            </a:r>
            <a:endParaRPr lang="en-US" altLang="zh-TW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  <a:p>
            <a:pPr algn="ctr"/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lt"/>
              </a:rPr>
              <a:t>Overview</a:t>
            </a:r>
          </a:p>
          <a:p>
            <a:pPr lvl="1"/>
            <a:r>
              <a:rPr lang="en-US" altLang="zh-TW" dirty="0">
                <a:latin typeface="+mj-lt"/>
              </a:rPr>
              <a:t>What is </a:t>
            </a:r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</a:t>
            </a:r>
          </a:p>
          <a:p>
            <a:pPr lvl="1"/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Architecture</a:t>
            </a:r>
          </a:p>
          <a:p>
            <a:pPr lvl="1"/>
            <a:endParaRPr lang="en-US" altLang="zh-TW" dirty="0">
              <a:latin typeface="+mj-lt"/>
            </a:endParaRPr>
          </a:p>
          <a:p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Virtualization</a:t>
            </a:r>
          </a:p>
          <a:p>
            <a:pPr lvl="1"/>
            <a:r>
              <a:rPr lang="en-US" altLang="zh-TW" dirty="0">
                <a:latin typeface="+mj-lt"/>
              </a:rPr>
              <a:t>Why do we need to virtualize </a:t>
            </a:r>
            <a:r>
              <a:rPr lang="en-US" altLang="zh-TW" dirty="0" err="1">
                <a:latin typeface="+mj-lt"/>
              </a:rPr>
              <a:t>InfiniBand</a:t>
            </a:r>
            <a:endParaRPr lang="en-US" altLang="zh-TW" dirty="0">
              <a:latin typeface="+mj-lt"/>
            </a:endParaRPr>
          </a:p>
          <a:p>
            <a:pPr lvl="1"/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latin typeface="+mj-lt"/>
              </a:rPr>
              <a:t>Case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lt"/>
              </a:rPr>
              <a:t>Overview</a:t>
            </a:r>
          </a:p>
          <a:p>
            <a:pPr lvl="1"/>
            <a:r>
              <a:rPr lang="en-US" altLang="zh-TW" dirty="0">
                <a:latin typeface="+mj-lt"/>
              </a:rPr>
              <a:t>What is </a:t>
            </a:r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</a:t>
            </a: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Architecture</a:t>
            </a:r>
          </a:p>
          <a:p>
            <a:pPr lvl="1"/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Virtualization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Why do we need to virtualize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81618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IBA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InfiniBand</a:t>
            </a:r>
            <a:r>
              <a:rPr lang="en-US" altLang="zh-TW" dirty="0"/>
              <a:t> Architecture (IBA) is a new industry-standard architecture for </a:t>
            </a:r>
            <a:r>
              <a:rPr lang="en-US" altLang="zh-TW" dirty="0">
                <a:solidFill>
                  <a:srgbClr val="FF0000"/>
                </a:solidFill>
              </a:rPr>
              <a:t>server I/O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inter-server communication.</a:t>
            </a:r>
          </a:p>
          <a:p>
            <a:pPr lvl="1"/>
            <a:r>
              <a:rPr lang="en-US" altLang="zh-TW" dirty="0">
                <a:latin typeface="+mj-lt"/>
              </a:rPr>
              <a:t>Developed by </a:t>
            </a:r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Trade Association (IBTA).</a:t>
            </a:r>
          </a:p>
          <a:p>
            <a:r>
              <a:rPr lang="en-US" altLang="zh-TW" dirty="0"/>
              <a:t>It defines a </a:t>
            </a:r>
            <a:r>
              <a:rPr lang="en-US" altLang="zh-TW" dirty="0">
                <a:solidFill>
                  <a:srgbClr val="FF0000"/>
                </a:solidFill>
              </a:rPr>
              <a:t>switch-based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point-to-point</a:t>
            </a:r>
            <a:r>
              <a:rPr lang="en-US" altLang="zh-TW" dirty="0"/>
              <a:t> interconnection network that enables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High-speed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Low-latency </a:t>
            </a:r>
          </a:p>
          <a:p>
            <a:pPr marL="0" lvl="1" indent="0"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100" dirty="0">
                <a:solidFill>
                  <a:schemeClr val="tx2">
                    <a:lumMod val="75000"/>
                  </a:schemeClr>
                </a:solidFill>
              </a:rPr>
              <a:t>     communication between connected devices.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76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Devices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1026" name="Picture 2" descr="http://www.fujitsu.com/fts/Images/W-DK27592_tcm21-16312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1545636"/>
            <a:ext cx="2514321" cy="160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336" y="3651870"/>
            <a:ext cx="4407983" cy="702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 descr="http://www.cablesondemand.com/images/products/SF-QSFPINFQDR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788" y="1687339"/>
            <a:ext cx="1964531" cy="196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979712" y="2949792"/>
            <a:ext cx="19982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5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Adapter Card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274078" y="2972473"/>
            <a:ext cx="19982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5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Cable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3869922" y="4407954"/>
            <a:ext cx="19982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5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424136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is commonly used in high performance computing (HPC).</a:t>
            </a:r>
          </a:p>
          <a:p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383" y="1977684"/>
            <a:ext cx="3471634" cy="2860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5216257" y="3062803"/>
            <a:ext cx="8427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 err="1"/>
              <a:t>InfiniBand</a:t>
            </a:r>
            <a:r>
              <a:rPr lang="en-US" altLang="zh-TW" sz="1050" b="1" dirty="0"/>
              <a:t> 44.80%</a:t>
            </a:r>
            <a:endParaRPr lang="zh-TW" altLang="en-US" sz="105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4794879" y="4001523"/>
            <a:ext cx="12641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/>
              <a:t>Gigabit Ethernet</a:t>
            </a:r>
          </a:p>
          <a:p>
            <a:pPr algn="ctr"/>
            <a:r>
              <a:rPr lang="en-US" altLang="zh-TW" sz="1050" b="1" dirty="0"/>
              <a:t>37.80%</a:t>
            </a:r>
            <a:endParaRPr lang="zh-TW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45700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VS. Ethernet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1493658" y="1815666"/>
          <a:ext cx="6172200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Ethernet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err="1"/>
                        <a:t>InfiniBand</a:t>
                      </a:r>
                      <a:endParaRPr lang="zh-TW" alt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500" dirty="0"/>
                        <a:t>Commonly</a:t>
                      </a:r>
                      <a:r>
                        <a:rPr lang="en-US" altLang="zh-TW" sz="1500" baseline="0" dirty="0"/>
                        <a:t> used in what kinds of</a:t>
                      </a:r>
                      <a:r>
                        <a:rPr lang="en-US" altLang="zh-TW" sz="1500" dirty="0"/>
                        <a:t> network</a:t>
                      </a:r>
                      <a:endParaRPr lang="zh-TW" alt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Local</a:t>
                      </a:r>
                      <a:r>
                        <a:rPr lang="en-US" altLang="zh-TW" sz="1500" baseline="0" dirty="0">
                          <a:solidFill>
                            <a:srgbClr val="002060"/>
                          </a:solidFill>
                        </a:rPr>
                        <a:t> area network(LAN) or </a:t>
                      </a:r>
                    </a:p>
                    <a:p>
                      <a:pPr algn="ctr"/>
                      <a:r>
                        <a:rPr lang="en-US" altLang="zh-TW" sz="1500" baseline="0" dirty="0">
                          <a:solidFill>
                            <a:srgbClr val="002060"/>
                          </a:solidFill>
                        </a:rPr>
                        <a:t>wide area network(WAN)</a:t>
                      </a:r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 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err="1">
                          <a:solidFill>
                            <a:srgbClr val="002060"/>
                          </a:solidFill>
                        </a:rPr>
                        <a:t>Interprocess</a:t>
                      </a:r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 communication (IPC) network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500" dirty="0"/>
                        <a:t>Transmission medium</a:t>
                      </a:r>
                      <a:endParaRPr lang="zh-TW" alt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Copper/optical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Copper/optical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500" dirty="0"/>
                        <a:t>Bandwidth</a:t>
                      </a:r>
                      <a:endParaRPr lang="zh-TW" alt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1Gb/10Gb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2.5Gb~120Gb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500" dirty="0"/>
                        <a:t>Latency</a:t>
                      </a:r>
                      <a:endParaRPr lang="zh-TW" alt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High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Low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500" dirty="0"/>
                        <a:t>Popularity</a:t>
                      </a:r>
                      <a:endParaRPr lang="zh-TW" alt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High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Low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1500" dirty="0"/>
                        <a:t>Cost</a:t>
                      </a:r>
                      <a:endParaRPr lang="zh-TW" altLang="en-US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Low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2060"/>
                          </a:solidFill>
                        </a:rPr>
                        <a:t>High</a:t>
                      </a:r>
                      <a:endParaRPr lang="zh-TW" alt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318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lt"/>
              </a:rPr>
              <a:t>Overview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What is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</a:p>
          <a:p>
            <a:pPr lvl="1"/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Architecture</a:t>
            </a:r>
          </a:p>
          <a:p>
            <a:pPr lvl="1"/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Virtualization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Why do we need to virtualize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61982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The IBA Subnet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Communication Service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Communication Model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Subnet Management</a:t>
            </a:r>
          </a:p>
        </p:txBody>
      </p:sp>
    </p:spTree>
    <p:extLst>
      <p:ext uri="{BB962C8B-B14F-4D97-AF65-F5344CB8AC3E}">
        <p14:creationId xmlns:p14="http://schemas.microsoft.com/office/powerpoint/2010/main" val="111602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IBA Subnet Overview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IBA subnet  is the smallest complete IBA unit.</a:t>
            </a:r>
          </a:p>
          <a:p>
            <a:pPr lvl="1"/>
            <a:r>
              <a:rPr lang="en-US" altLang="zh-TW" dirty="0"/>
              <a:t>Usually used for system area network.</a:t>
            </a:r>
          </a:p>
          <a:p>
            <a:endParaRPr lang="en-US" altLang="zh-TW" dirty="0"/>
          </a:p>
          <a:p>
            <a:r>
              <a:rPr lang="en-US" altLang="zh-TW" dirty="0"/>
              <a:t>Element of a subnet</a:t>
            </a:r>
          </a:p>
          <a:p>
            <a:pPr lvl="1"/>
            <a:r>
              <a:rPr lang="en-US" altLang="zh-TW" dirty="0" err="1"/>
              <a:t>Endnodes</a:t>
            </a:r>
            <a:endParaRPr lang="en-US" altLang="zh-TW" dirty="0"/>
          </a:p>
          <a:p>
            <a:pPr lvl="1"/>
            <a:r>
              <a:rPr lang="en-US" altLang="zh-TW" dirty="0"/>
              <a:t>Links</a:t>
            </a:r>
          </a:p>
          <a:p>
            <a:pPr lvl="1"/>
            <a:r>
              <a:rPr lang="en-US" altLang="zh-TW" dirty="0"/>
              <a:t>Channel Adapters(CAs)</a:t>
            </a:r>
          </a:p>
          <a:p>
            <a:pPr lvl="2"/>
            <a:r>
              <a:rPr lang="en-US" altLang="zh-TW" dirty="0"/>
              <a:t>Connect </a:t>
            </a:r>
            <a:r>
              <a:rPr lang="en-US" altLang="zh-TW" dirty="0" err="1"/>
              <a:t>endnodes</a:t>
            </a:r>
            <a:r>
              <a:rPr lang="en-US" altLang="zh-TW" dirty="0"/>
              <a:t> to links</a:t>
            </a:r>
            <a:endParaRPr lang="zh-TW" altLang="en-US" dirty="0"/>
          </a:p>
          <a:p>
            <a:pPr lvl="1"/>
            <a:r>
              <a:rPr lang="en-US" altLang="zh-TW" dirty="0"/>
              <a:t>Switches</a:t>
            </a:r>
          </a:p>
          <a:p>
            <a:pPr lvl="1"/>
            <a:r>
              <a:rPr lang="en-US" altLang="zh-TW" dirty="0"/>
              <a:t>Subnet manager</a:t>
            </a:r>
            <a:endParaRPr lang="zh-TW" altLang="en-US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612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IBA Subnet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796" y="1221600"/>
            <a:ext cx="3996444" cy="3767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91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Endnodes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IBA </a:t>
            </a:r>
            <a:r>
              <a:rPr lang="en-US" altLang="zh-TW" dirty="0" err="1"/>
              <a:t>endnodes</a:t>
            </a:r>
            <a:r>
              <a:rPr lang="en-US" altLang="zh-TW" dirty="0"/>
              <a:t> are the ultimate sources and sinks of communication in IBA.</a:t>
            </a:r>
          </a:p>
          <a:p>
            <a:pPr lvl="1"/>
            <a:r>
              <a:rPr lang="en-US" altLang="zh-TW" dirty="0"/>
              <a:t>They may be host systems or devices.</a:t>
            </a:r>
          </a:p>
          <a:p>
            <a:pPr lvl="2"/>
            <a:r>
              <a:rPr lang="en-US" altLang="zh-TW" dirty="0"/>
              <a:t>Ex. network adapters, storage subsystems, etc.</a:t>
            </a:r>
          </a:p>
          <a:p>
            <a:pPr lvl="2"/>
            <a:endParaRPr lang="en-US" altLang="zh-TW" dirty="0"/>
          </a:p>
        </p:txBody>
      </p:sp>
      <p:pic>
        <p:nvPicPr>
          <p:cNvPr id="1026" name="Picture 2" descr="http://h10003.www1.hp.com/digmedialib/prodimg/lowres/c03224539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6424">
            <a:off x="1511194" y="2424794"/>
            <a:ext cx="2215025" cy="247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netpro.com.tw/userfiles/image/201106/201106132027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807" y="2655752"/>
            <a:ext cx="3103253" cy="231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766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IBA links are bidirectional point-to-point communication channels, and may be either copper and optical </a:t>
            </a:r>
            <a:r>
              <a:rPr lang="en-US" altLang="zh-TW" dirty="0" err="1"/>
              <a:t>fibre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The base </a:t>
            </a:r>
            <a:r>
              <a:rPr lang="en-US" altLang="zh-TW" dirty="0" err="1"/>
              <a:t>signalling</a:t>
            </a:r>
            <a:r>
              <a:rPr lang="en-US" altLang="zh-TW" dirty="0"/>
              <a:t> rate on all links is 2.5 </a:t>
            </a:r>
            <a:r>
              <a:rPr lang="en-US" altLang="zh-TW" dirty="0" err="1"/>
              <a:t>Gbaud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/>
              <a:t> Link widths are 1X, 4X, and 12X.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754" y="3381841"/>
            <a:ext cx="4558122" cy="1192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1814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Channel Adapter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Channel Adapter (CA) is the interface between an </a:t>
            </a:r>
            <a:r>
              <a:rPr lang="en-US" altLang="zh-TW" dirty="0" err="1"/>
              <a:t>endnode</a:t>
            </a:r>
            <a:r>
              <a:rPr lang="en-US" altLang="zh-TW" dirty="0"/>
              <a:t> and a link</a:t>
            </a:r>
          </a:p>
          <a:p>
            <a:r>
              <a:rPr lang="en-US" altLang="zh-TW" dirty="0"/>
              <a:t>There are two types of channel adapters</a:t>
            </a:r>
          </a:p>
          <a:p>
            <a:pPr lvl="1"/>
            <a:r>
              <a:rPr lang="en-US" altLang="zh-TW" dirty="0"/>
              <a:t>Host channel adapter(HCA)</a:t>
            </a:r>
          </a:p>
          <a:p>
            <a:pPr lvl="2"/>
            <a:r>
              <a:rPr lang="en-US" altLang="zh-TW" dirty="0"/>
              <a:t>For inter-server communication</a:t>
            </a:r>
          </a:p>
          <a:p>
            <a:pPr lvl="2"/>
            <a:r>
              <a:rPr lang="en-US" altLang="zh-TW" dirty="0"/>
              <a:t>Has a collection of features that are defined to be available to host programs, defined by verbs</a:t>
            </a:r>
          </a:p>
          <a:p>
            <a:pPr lvl="1"/>
            <a:r>
              <a:rPr lang="en-US" altLang="zh-TW" dirty="0"/>
              <a:t>Target channel adapter(TCA)</a:t>
            </a:r>
          </a:p>
          <a:p>
            <a:pPr lvl="2"/>
            <a:r>
              <a:rPr lang="en-US" altLang="zh-TW" dirty="0"/>
              <a:t>For server IO communication</a:t>
            </a:r>
          </a:p>
          <a:p>
            <a:pPr lvl="2"/>
            <a:r>
              <a:rPr lang="en-US" altLang="zh-TW" dirty="0"/>
              <a:t>No defined software interface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6240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Switches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IBA switches route messages from their source to their destination based on routing tables</a:t>
            </a:r>
          </a:p>
          <a:p>
            <a:pPr lvl="1"/>
            <a:r>
              <a:rPr lang="en-US" altLang="zh-TW" dirty="0"/>
              <a:t>Support multicast and multiple virtual lanes</a:t>
            </a:r>
          </a:p>
          <a:p>
            <a:r>
              <a:rPr lang="en-US" altLang="zh-TW" dirty="0"/>
              <a:t>Switch size denotes the number of ports</a:t>
            </a:r>
          </a:p>
          <a:p>
            <a:pPr lvl="1"/>
            <a:r>
              <a:rPr lang="en-US" altLang="zh-TW" dirty="0"/>
              <a:t>The maximum switch size supported is one with 256 ports</a:t>
            </a:r>
          </a:p>
          <a:p>
            <a:r>
              <a:rPr lang="en-US" altLang="zh-TW" dirty="0"/>
              <a:t>The addressing used by switched </a:t>
            </a:r>
          </a:p>
          <a:p>
            <a:pPr lvl="1"/>
            <a:r>
              <a:rPr lang="en-US" altLang="zh-TW" dirty="0"/>
              <a:t>Local Identifiers, or LIDs allows 48K </a:t>
            </a:r>
            <a:r>
              <a:rPr lang="en-US" altLang="zh-TW" dirty="0" err="1"/>
              <a:t>endnodes</a:t>
            </a:r>
            <a:r>
              <a:rPr lang="en-US" altLang="zh-TW" dirty="0"/>
              <a:t> on a single subnet</a:t>
            </a:r>
          </a:p>
          <a:p>
            <a:pPr lvl="1"/>
            <a:r>
              <a:rPr lang="en-US" altLang="zh-TW" dirty="0"/>
              <a:t>The 64K LID address space is reserved for multicast addresses</a:t>
            </a:r>
          </a:p>
          <a:p>
            <a:pPr lvl="1"/>
            <a:r>
              <a:rPr lang="en-US" altLang="zh-TW" dirty="0"/>
              <a:t>Routing between different subnets is done on the basis of a Global Identifier (GID) that is 128 bits long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645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Addressing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LIDs </a:t>
            </a:r>
          </a:p>
          <a:p>
            <a:pPr lvl="1"/>
            <a:r>
              <a:rPr lang="en-US" altLang="zh-TW" sz="1650" dirty="0"/>
              <a:t>Local Identifiers, 16 bits</a:t>
            </a:r>
          </a:p>
          <a:p>
            <a:pPr lvl="1"/>
            <a:r>
              <a:rPr lang="en-US" altLang="zh-TW" sz="1650" dirty="0"/>
              <a:t>Used within a subnet by switch for routing</a:t>
            </a:r>
          </a:p>
          <a:p>
            <a:r>
              <a:rPr lang="en-US" altLang="zh-TW" dirty="0"/>
              <a:t>GUIDs</a:t>
            </a:r>
          </a:p>
          <a:p>
            <a:pPr lvl="1"/>
            <a:r>
              <a:rPr lang="en-US" altLang="zh-TW" sz="1650" dirty="0"/>
              <a:t>Global Unique Identifier</a:t>
            </a:r>
          </a:p>
          <a:p>
            <a:pPr lvl="1"/>
            <a:r>
              <a:rPr lang="en-US" altLang="zh-TW" sz="1650" dirty="0"/>
              <a:t>64 EUI-64 IEEE-defined identifiers for elements in a subnet</a:t>
            </a:r>
          </a:p>
          <a:p>
            <a:r>
              <a:rPr lang="en-US" altLang="zh-TW" dirty="0"/>
              <a:t>GIDs</a:t>
            </a:r>
          </a:p>
          <a:p>
            <a:pPr lvl="1"/>
            <a:r>
              <a:rPr lang="en-US" altLang="zh-TW" sz="1650" dirty="0"/>
              <a:t>Global IDs, 128 bits</a:t>
            </a:r>
          </a:p>
          <a:p>
            <a:pPr lvl="1"/>
            <a:r>
              <a:rPr lang="en-US" altLang="zh-TW" sz="1650" dirty="0"/>
              <a:t>Used for routing across subnets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2106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The IBA Subnet</a:t>
            </a:r>
          </a:p>
          <a:p>
            <a:r>
              <a:rPr lang="en-US" altLang="zh-TW" dirty="0"/>
              <a:t>Communication Service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Communication Model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Subnet Management</a:t>
            </a:r>
          </a:p>
        </p:txBody>
      </p:sp>
    </p:spTree>
    <p:extLst>
      <p:ext uri="{BB962C8B-B14F-4D97-AF65-F5344CB8AC3E}">
        <p14:creationId xmlns:p14="http://schemas.microsoft.com/office/powerpoint/2010/main" val="3803392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Communication Service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83" y="1167352"/>
            <a:ext cx="6163865" cy="3726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0095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Rate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Effective theoretical throughput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76" y="1977684"/>
            <a:ext cx="6134337" cy="16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3730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The IBA Subnet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Communication Service</a:t>
            </a:r>
          </a:p>
          <a:p>
            <a:r>
              <a:rPr lang="en-US" altLang="zh-TW" dirty="0"/>
              <a:t>Communication Model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Subnet Management</a:t>
            </a:r>
          </a:p>
        </p:txBody>
      </p:sp>
    </p:spTree>
    <p:extLst>
      <p:ext uri="{BB962C8B-B14F-4D97-AF65-F5344CB8AC3E}">
        <p14:creationId xmlns:p14="http://schemas.microsoft.com/office/powerpoint/2010/main" val="1516275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Queue-Based Model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Channel adapters communicate using Work Queues of three types: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Queue Pair(QP) </a:t>
            </a:r>
            <a:r>
              <a:rPr lang="en-US" altLang="zh-TW" dirty="0"/>
              <a:t>consists of</a:t>
            </a:r>
          </a:p>
          <a:p>
            <a:pPr lvl="2"/>
            <a:r>
              <a:rPr lang="en-US" altLang="zh-TW" dirty="0"/>
              <a:t>Send queue</a:t>
            </a:r>
          </a:p>
          <a:p>
            <a:pPr lvl="2"/>
            <a:r>
              <a:rPr lang="en-US" altLang="zh-TW" dirty="0"/>
              <a:t>Receive queue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Work Queue Request (WQR) </a:t>
            </a:r>
            <a:r>
              <a:rPr lang="en-US" altLang="zh-TW" dirty="0"/>
              <a:t>contains the communication instruction </a:t>
            </a:r>
          </a:p>
          <a:p>
            <a:pPr lvl="2"/>
            <a:r>
              <a:rPr lang="en-US" altLang="zh-TW" dirty="0"/>
              <a:t>It would be submitted to QP.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Completion Queues (CQs)</a:t>
            </a:r>
            <a:r>
              <a:rPr lang="en-US" altLang="zh-TW" dirty="0"/>
              <a:t> use Completion Queue Entries (CQEs) to report the completion of the communication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8260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Queue-Based Mode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597" y="1923678"/>
            <a:ext cx="6802085" cy="2322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1735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Access Model for </a:t>
            </a:r>
            <a:r>
              <a:rPr lang="en-US" altLang="zh-TW" dirty="0" err="1"/>
              <a:t>InfiniBand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Privileged Access</a:t>
            </a:r>
          </a:p>
          <a:p>
            <a:pPr lvl="1"/>
            <a:r>
              <a:rPr lang="en-US" altLang="zh-TW" dirty="0"/>
              <a:t>OS involved</a:t>
            </a:r>
          </a:p>
          <a:p>
            <a:pPr lvl="1"/>
            <a:r>
              <a:rPr lang="en-US" altLang="zh-TW" dirty="0"/>
              <a:t>Resource management and memory management</a:t>
            </a:r>
          </a:p>
          <a:p>
            <a:pPr lvl="2"/>
            <a:r>
              <a:rPr lang="en-US" altLang="zh-TW" dirty="0"/>
              <a:t>Open HCA, create queue-pairs, register </a:t>
            </a:r>
            <a:r>
              <a:rPr lang="en-US" altLang="zh-TW"/>
              <a:t>memory, </a:t>
            </a:r>
            <a:r>
              <a:rPr lang="en-US" altLang="zh-TW" dirty="0"/>
              <a:t>etc.</a:t>
            </a:r>
          </a:p>
          <a:p>
            <a:r>
              <a:rPr lang="en-US" altLang="zh-TW" dirty="0"/>
              <a:t>Direct Access</a:t>
            </a:r>
          </a:p>
          <a:p>
            <a:pPr lvl="1"/>
            <a:r>
              <a:rPr lang="en-US" altLang="zh-TW" dirty="0"/>
              <a:t>Can be done directly in user space (OS-bypass)</a:t>
            </a:r>
          </a:p>
          <a:p>
            <a:pPr lvl="1"/>
            <a:r>
              <a:rPr lang="en-US" altLang="zh-TW" dirty="0"/>
              <a:t>Queue-pair access </a:t>
            </a:r>
          </a:p>
          <a:p>
            <a:pPr lvl="2"/>
            <a:r>
              <a:rPr lang="en-US" altLang="zh-TW" dirty="0"/>
              <a:t>Post send/receive/RDMA descriptors.</a:t>
            </a:r>
          </a:p>
          <a:p>
            <a:pPr lvl="1"/>
            <a:r>
              <a:rPr lang="en-US" altLang="zh-TW" dirty="0"/>
              <a:t>CQ polling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4111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Access Model for </a:t>
            </a:r>
            <a:r>
              <a:rPr lang="en-US" altLang="zh-TW" dirty="0" err="1"/>
              <a:t>InfiniBand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Queue pair access has two phases</a:t>
            </a:r>
          </a:p>
          <a:p>
            <a:pPr lvl="1"/>
            <a:r>
              <a:rPr lang="en-US" altLang="zh-TW" dirty="0"/>
              <a:t>Initialization (privileged access)</a:t>
            </a:r>
          </a:p>
          <a:p>
            <a:pPr lvl="2"/>
            <a:r>
              <a:rPr lang="en-US" altLang="zh-TW" dirty="0"/>
              <a:t>Map doorbell page (User Access Region)</a:t>
            </a:r>
          </a:p>
          <a:p>
            <a:pPr lvl="2"/>
            <a:r>
              <a:rPr lang="en-US" altLang="zh-TW" dirty="0"/>
              <a:t>Allocate and register QP buffers</a:t>
            </a:r>
          </a:p>
          <a:p>
            <a:pPr lvl="2"/>
            <a:r>
              <a:rPr lang="en-US" altLang="zh-TW" dirty="0"/>
              <a:t>Create QP</a:t>
            </a:r>
          </a:p>
          <a:p>
            <a:pPr lvl="1"/>
            <a:r>
              <a:rPr lang="en-US" altLang="zh-TW" dirty="0"/>
              <a:t>Communication (direct access)</a:t>
            </a:r>
          </a:p>
          <a:p>
            <a:pPr lvl="2"/>
            <a:r>
              <a:rPr lang="en-US" altLang="zh-TW" dirty="0"/>
              <a:t>Put WQR in QP buffer.</a:t>
            </a:r>
          </a:p>
          <a:p>
            <a:pPr lvl="2"/>
            <a:r>
              <a:rPr lang="en-US" altLang="zh-TW" dirty="0"/>
              <a:t>Write to doorbell page.</a:t>
            </a:r>
          </a:p>
          <a:p>
            <a:pPr lvl="3"/>
            <a:r>
              <a:rPr lang="en-US" altLang="zh-TW" dirty="0"/>
              <a:t>Notify channel adapter to work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66236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Access Model for </a:t>
            </a:r>
            <a:r>
              <a:rPr lang="en-US" altLang="zh-TW" dirty="0" err="1"/>
              <a:t>InfiniBand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CQ Polling</a:t>
            </a:r>
            <a:r>
              <a:rPr lang="zh-TW" altLang="en-US" dirty="0"/>
              <a:t> </a:t>
            </a:r>
            <a:r>
              <a:rPr lang="en-US" altLang="zh-TW" dirty="0"/>
              <a:t>has two phases</a:t>
            </a:r>
          </a:p>
          <a:p>
            <a:pPr lvl="1"/>
            <a:r>
              <a:rPr lang="en-US" altLang="zh-TW" dirty="0"/>
              <a:t>Initialization (privileged access)</a:t>
            </a:r>
          </a:p>
          <a:p>
            <a:pPr lvl="2"/>
            <a:r>
              <a:rPr lang="en-US" altLang="zh-TW" dirty="0"/>
              <a:t>Allocate and register CQ buffer</a:t>
            </a:r>
          </a:p>
          <a:p>
            <a:pPr lvl="2"/>
            <a:r>
              <a:rPr lang="en-US" altLang="zh-TW" dirty="0"/>
              <a:t>Create CQ</a:t>
            </a:r>
          </a:p>
          <a:p>
            <a:pPr lvl="1"/>
            <a:r>
              <a:rPr lang="en-US" altLang="zh-TW" dirty="0"/>
              <a:t>Communication steps (direct access)</a:t>
            </a:r>
          </a:p>
          <a:p>
            <a:pPr lvl="2"/>
            <a:r>
              <a:rPr lang="en-US" altLang="zh-TW" dirty="0"/>
              <a:t>Poll on CQ buffer for new completion entry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5180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75606"/>
            <a:ext cx="6326460" cy="3371850"/>
          </a:xfrm>
        </p:spPr>
        <p:txBody>
          <a:bodyPr/>
          <a:lstStyle/>
          <a:p>
            <a:pPr>
              <a:defRPr/>
            </a:pPr>
            <a:r>
              <a:rPr lang="en-US" altLang="zh-TW" sz="1950" dirty="0"/>
              <a:t>Control of memory access by and through an HCA is provided by three objects</a:t>
            </a:r>
          </a:p>
          <a:p>
            <a:pPr lvl="1">
              <a:defRPr/>
            </a:pPr>
            <a:r>
              <a:rPr lang="en-US" altLang="zh-TW" dirty="0"/>
              <a:t>Memory regions</a:t>
            </a:r>
          </a:p>
          <a:p>
            <a:pPr lvl="2">
              <a:defRPr/>
            </a:pPr>
            <a:r>
              <a:rPr lang="en-US" altLang="zh-TW" dirty="0">
                <a:solidFill>
                  <a:srgbClr val="002060"/>
                </a:solidFill>
              </a:rPr>
              <a:t>Provide the basic mapping required to operate with virtual address</a:t>
            </a:r>
          </a:p>
          <a:p>
            <a:pPr lvl="2">
              <a:defRPr/>
            </a:pPr>
            <a:r>
              <a:rPr lang="en-US" altLang="zh-TW" dirty="0">
                <a:solidFill>
                  <a:srgbClr val="002060"/>
                </a:solidFill>
              </a:rPr>
              <a:t>Have </a:t>
            </a:r>
            <a:r>
              <a:rPr lang="en-US" altLang="zh-TW" dirty="0" err="1">
                <a:solidFill>
                  <a:srgbClr val="002060"/>
                </a:solidFill>
              </a:rPr>
              <a:t>R_key</a:t>
            </a:r>
            <a:r>
              <a:rPr lang="en-US" altLang="zh-TW" dirty="0">
                <a:solidFill>
                  <a:srgbClr val="002060"/>
                </a:solidFill>
              </a:rPr>
              <a:t> for remote HCA to access system memory and  </a:t>
            </a:r>
            <a:r>
              <a:rPr lang="en-US" altLang="zh-TW" dirty="0" err="1">
                <a:solidFill>
                  <a:srgbClr val="002060"/>
                </a:solidFill>
              </a:rPr>
              <a:t>L_key</a:t>
            </a:r>
            <a:r>
              <a:rPr lang="en-US" altLang="zh-TW" dirty="0">
                <a:solidFill>
                  <a:srgbClr val="002060"/>
                </a:solidFill>
              </a:rPr>
              <a:t> for local HCA to access local memory. </a:t>
            </a:r>
          </a:p>
          <a:p>
            <a:pPr lvl="1">
              <a:defRPr/>
            </a:pPr>
            <a:r>
              <a:rPr lang="en-US" altLang="zh-TW" dirty="0"/>
              <a:t>Memory windows</a:t>
            </a:r>
          </a:p>
          <a:p>
            <a:pPr lvl="2">
              <a:defRPr/>
            </a:pPr>
            <a:r>
              <a:rPr lang="en-US" altLang="zh-TW" dirty="0">
                <a:solidFill>
                  <a:srgbClr val="002060"/>
                </a:solidFill>
              </a:rPr>
              <a:t>Specify a contiguous virtual memory segment with byte granularity</a:t>
            </a:r>
          </a:p>
          <a:p>
            <a:pPr lvl="1">
              <a:defRPr/>
            </a:pPr>
            <a:r>
              <a:rPr lang="en-US" altLang="zh-TW" dirty="0"/>
              <a:t>Protection domains</a:t>
            </a:r>
          </a:p>
          <a:p>
            <a:pPr lvl="2">
              <a:defRPr/>
            </a:pPr>
            <a:r>
              <a:rPr lang="en-US" altLang="zh-TW" dirty="0">
                <a:solidFill>
                  <a:srgbClr val="002060"/>
                </a:solidFill>
              </a:rPr>
              <a:t>Attach QPs to memory regions and windows</a:t>
            </a:r>
          </a:p>
          <a:p>
            <a:pPr lvl="2"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0080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Communication Semantics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Two types of communication semantics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Channel</a:t>
            </a:r>
            <a:r>
              <a:rPr lang="en-US" altLang="zh-TW" dirty="0"/>
              <a:t> semantics</a:t>
            </a:r>
          </a:p>
          <a:p>
            <a:pPr lvl="2"/>
            <a:r>
              <a:rPr lang="en-US" altLang="zh-TW" dirty="0"/>
              <a:t>With traditional send/receive operations.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Memory</a:t>
            </a:r>
            <a:r>
              <a:rPr lang="en-US" altLang="zh-TW" dirty="0"/>
              <a:t> semantics</a:t>
            </a:r>
          </a:p>
          <a:p>
            <a:pPr lvl="2"/>
            <a:r>
              <a:rPr lang="en-US" altLang="zh-TW" dirty="0"/>
              <a:t>With RDMA operations.</a:t>
            </a:r>
          </a:p>
          <a:p>
            <a:endParaRPr lang="zh-TW" altLang="en-US" dirty="0"/>
          </a:p>
        </p:txBody>
      </p:sp>
      <p:pic>
        <p:nvPicPr>
          <p:cNvPr id="4" name="Picture 2" descr="http://blog.tmcnet.com/blog/rich-tehrani/uploads/infiniband-graphi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514" y="2787774"/>
            <a:ext cx="3459592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529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Send and Receive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7279"/>
            <a:chOff x="1043608" y="2420888"/>
            <a:chExt cx="3672408" cy="3169705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92727" y="5089945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82856"/>
            <a:chOff x="1043608" y="2420888"/>
            <a:chExt cx="3672408" cy="3177141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92727" y="5097381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cxnSp>
        <p:nvCxnSpPr>
          <p:cNvPr id="90" name="直線單箭頭接點 89"/>
          <p:cNvCxnSpPr>
            <a:stCxn id="4" idx="2"/>
            <a:endCxn id="46" idx="0"/>
          </p:cNvCxnSpPr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橢圓 102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7" name="直線單箭頭接點 96"/>
          <p:cNvCxnSpPr>
            <a:stCxn id="50" idx="2"/>
            <a:endCxn id="54" idx="0"/>
          </p:cNvCxnSpPr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橢圓 10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2941542" y="439207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084168" y="1576995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37596" y="2791994"/>
            <a:ext cx="19495" cy="3083664"/>
          </a:xfrm>
          <a:prstGeom prst="bentConnector3">
            <a:avLst>
              <a:gd name="adj1" fmla="val -879468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14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96296E-6 L -0.00312 0.269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1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Send and Receive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cxnSp>
        <p:nvCxnSpPr>
          <p:cNvPr id="78" name="直線單箭頭接點 77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1" name="直線單箭頭接點 80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529684" y="1549773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6057165" y="2954082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43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22222E-6 L 0.00018 0.272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Send and Receive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2514450" y="2981235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cxnSp>
        <p:nvCxnSpPr>
          <p:cNvPr id="78" name="直線單箭頭接點 77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1" name="直線單箭頭接點 80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6057165" y="2954082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391988" y="3145773"/>
            <a:ext cx="721672" cy="20774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Data packet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05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6 0.02083 L 0.03386 0.26991 L 0.4849 0.27129 L 0.51042 -0.02269 " pathEditMode="relative" ptsTypes="AAAA">
                                      <p:cBhvr>
                                        <p:cTn id="6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橢圓 85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8" name="橢圓 87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Send and Receive</a:t>
            </a:r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cxnSp>
        <p:nvCxnSpPr>
          <p:cNvPr id="85" name="直線單箭頭接點 84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370826" y="1167594"/>
            <a:ext cx="2543004" cy="588623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75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Complete</a:t>
            </a:r>
            <a:endParaRPr lang="zh-TW" altLang="en-US" sz="3375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846082" y="2281980"/>
            <a:ext cx="393056" cy="20774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chemeClr val="bg1"/>
                </a:solidFill>
                <a:latin typeface="Arial" charset="0"/>
              </a:rPr>
              <a:t>CQE</a:t>
            </a:r>
            <a:endParaRPr lang="zh-TW" altLang="en-US" sz="75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757397" y="2320785"/>
            <a:ext cx="393056" cy="20774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chemeClr val="bg1"/>
                </a:solidFill>
                <a:latin typeface="Arial" charset="0"/>
              </a:rPr>
              <a:t>CQE</a:t>
            </a:r>
            <a:endParaRPr lang="zh-TW" altLang="en-US" sz="75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4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-0.12049 -0.16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24" y="-805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48148E-6 L -0.11909 -0.1474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55" y="-738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8" grpId="0" animBg="1"/>
      <p:bldP spid="8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RDMA Read / 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cxnSp>
        <p:nvCxnSpPr>
          <p:cNvPr id="78" name="直線單箭頭接點 77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1" name="直線單箭頭接點 80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 bwMode="auto">
          <a:xfrm>
            <a:off x="6729817" y="1391533"/>
            <a:ext cx="1136549" cy="2621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Target Buffer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20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RDMA Read / 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cxnSp>
        <p:nvCxnSpPr>
          <p:cNvPr id="78" name="直線單箭頭接點 77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1" name="直線單箭頭接點 80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529684" y="1549773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 bwMode="auto">
          <a:xfrm>
            <a:off x="6729817" y="1391533"/>
            <a:ext cx="1136549" cy="2621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Target Buffer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18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22222E-6 L 0.00018 0.272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RDMA Read / 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2514450" y="2981235"/>
            <a:ext cx="415498" cy="20774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WQE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cxnSp>
        <p:nvCxnSpPr>
          <p:cNvPr id="78" name="直線單箭頭接點 77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1" name="直線單箭頭接點 80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3" name="矩形 82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2360561" y="3131859"/>
            <a:ext cx="721672" cy="20774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rgbClr val="663300"/>
                </a:solidFill>
                <a:latin typeface="Arial" charset="0"/>
              </a:rPr>
              <a:t>Data packet</a:t>
            </a:r>
            <a:endParaRPr lang="zh-TW" altLang="en-US" sz="750" b="1" dirty="0">
              <a:solidFill>
                <a:srgbClr val="663300"/>
              </a:solidFill>
              <a:latin typeface="Arial" charset="0"/>
            </a:endParaRPr>
          </a:p>
        </p:txBody>
      </p:sp>
      <p:sp>
        <p:nvSpPr>
          <p:cNvPr id="85" name="矩形 84"/>
          <p:cNvSpPr/>
          <p:nvPr/>
        </p:nvSpPr>
        <p:spPr bwMode="auto">
          <a:xfrm>
            <a:off x="6729817" y="1391533"/>
            <a:ext cx="1136549" cy="2621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Target Buffer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6" name="肘形接點 85"/>
          <p:cNvCxnSpPr/>
          <p:nvPr/>
        </p:nvCxnSpPr>
        <p:spPr bwMode="auto">
          <a:xfrm rot="5400000" flipH="1" flipV="1">
            <a:off x="6533840" y="1176972"/>
            <a:ext cx="287576" cy="1240927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6431861" y="1689295"/>
            <a:ext cx="10905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Read /</a:t>
            </a:r>
            <a:r>
              <a:rPr lang="zh-TW" altLang="en-US" sz="1350" dirty="0"/>
              <a:t> </a:t>
            </a:r>
            <a:r>
              <a:rPr lang="en-US" altLang="zh-TW" sz="1350" dirty="0"/>
              <a:t>Write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08264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11111E-6 L 0.04497 0.26273 L 0.48976 0.25995 L 0.48976 0.18773 " pathEditMode="relative" ptsTypes="AAAA">
                                      <p:cBhvr>
                                        <p:cTn id="6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RDMA Read / Write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1596348" y="1966295"/>
            <a:ext cx="2754306" cy="2373708"/>
            <a:chOff x="1043608" y="2420888"/>
            <a:chExt cx="3672408" cy="3164944"/>
          </a:xfrm>
        </p:grpSpPr>
        <p:sp>
          <p:nvSpPr>
            <p:cNvPr id="6" name="圓角矩形 5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29" name="群組 28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14" name="群組 13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10" name="矩形 9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13" name="群組 1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8" name="矩形 7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22" name="群組 21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23" name="矩形 22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24" name="群組 23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25" name="矩形 24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27" name="矩形 26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28" name="文字方塊 27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32" name="群組 31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39" name="矩形 38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40" name="群組 39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41" name="矩形 40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2" name="矩形 41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46" name="矩形 45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680012" y="1941223"/>
            <a:ext cx="2754306" cy="2373708"/>
            <a:chOff x="1043608" y="2420888"/>
            <a:chExt cx="3672408" cy="3164944"/>
          </a:xfrm>
        </p:grpSpPr>
        <p:sp>
          <p:nvSpPr>
            <p:cNvPr id="49" name="圓角矩形 48"/>
            <p:cNvSpPr/>
            <p:nvPr/>
          </p:nvSpPr>
          <p:spPr bwMode="auto">
            <a:xfrm>
              <a:off x="1043608" y="2420888"/>
              <a:ext cx="3672408" cy="288032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 dirty="0"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04527" y="3355576"/>
              <a:ext cx="2835932" cy="14215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Transport Engine</a:t>
              </a:r>
              <a:endParaRPr lang="zh-TW" altLang="en-US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159748" y="4689177"/>
              <a:ext cx="116955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Channel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rgbClr val="FFFF00"/>
                  </a:solidFill>
                  <a:latin typeface="Arial" charset="0"/>
                </a:rPr>
                <a:t>Adapter</a:t>
              </a:r>
              <a:endParaRPr lang="zh-TW" altLang="en-US" sz="1350" dirty="0">
                <a:solidFill>
                  <a:srgbClr val="FFFF00"/>
                </a:solidFill>
                <a:latin typeface="Arial" charset="0"/>
              </a:endParaRPr>
            </a:p>
          </p:txBody>
        </p:sp>
        <p:grpSp>
          <p:nvGrpSpPr>
            <p:cNvPr id="52" name="群組 51"/>
            <p:cNvGrpSpPr/>
            <p:nvPr/>
          </p:nvGrpSpPr>
          <p:grpSpPr>
            <a:xfrm>
              <a:off x="1979712" y="2799586"/>
              <a:ext cx="1656184" cy="1524288"/>
              <a:chOff x="1851112" y="2799586"/>
              <a:chExt cx="1656184" cy="1524288"/>
            </a:xfrm>
          </p:grpSpPr>
          <p:grpSp>
            <p:nvGrpSpPr>
              <p:cNvPr id="62" name="群組 61"/>
              <p:cNvGrpSpPr/>
              <p:nvPr/>
            </p:nvGrpSpPr>
            <p:grpSpPr>
              <a:xfrm>
                <a:off x="1851112" y="2799586"/>
                <a:ext cx="1656184" cy="1440160"/>
                <a:chOff x="1907704" y="2564904"/>
                <a:chExt cx="1656184" cy="1440160"/>
              </a:xfrm>
            </p:grpSpPr>
            <p:sp>
              <p:nvSpPr>
                <p:cNvPr id="64" name="矩形 63"/>
                <p:cNvSpPr/>
                <p:nvPr/>
              </p:nvSpPr>
              <p:spPr bwMode="auto">
                <a:xfrm>
                  <a:off x="1907704" y="2564904"/>
                  <a:ext cx="1656184" cy="144016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TW" sz="1350" dirty="0">
                      <a:solidFill>
                        <a:schemeClr val="tx1"/>
                      </a:solidFill>
                      <a:latin typeface="Arial" charset="0"/>
                    </a:rPr>
                    <a:t>QP</a:t>
                  </a:r>
                  <a:endParaRPr lang="zh-TW" altLang="en-US" sz="1350" dirty="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65" name="群組 64"/>
                <p:cNvGrpSpPr/>
                <p:nvPr/>
              </p:nvGrpSpPr>
              <p:grpSpPr>
                <a:xfrm>
                  <a:off x="2195736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72" name="矩形 71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73" name="群組 72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74" name="矩形 73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5" name="矩形 74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6" name="矩形 75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  <p:grpSp>
              <p:nvGrpSpPr>
                <p:cNvPr id="66" name="群組 65"/>
                <p:cNvGrpSpPr/>
                <p:nvPr/>
              </p:nvGrpSpPr>
              <p:grpSpPr>
                <a:xfrm>
                  <a:off x="2807804" y="2852936"/>
                  <a:ext cx="504056" cy="913791"/>
                  <a:chOff x="1830634" y="2757500"/>
                  <a:chExt cx="504056" cy="913791"/>
                </a:xfrm>
                <a:noFill/>
              </p:grpSpPr>
              <p:sp>
                <p:nvSpPr>
                  <p:cNvPr id="67" name="矩形 66"/>
                  <p:cNvSpPr/>
                  <p:nvPr/>
                </p:nvSpPr>
                <p:spPr bwMode="auto">
                  <a:xfrm>
                    <a:off x="1830634" y="2996952"/>
                    <a:ext cx="504056" cy="242291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grpSp>
                <p:nvGrpSpPr>
                  <p:cNvPr id="68" name="群組 67"/>
                  <p:cNvGrpSpPr/>
                  <p:nvPr/>
                </p:nvGrpSpPr>
                <p:grpSpPr>
                  <a:xfrm>
                    <a:off x="1830634" y="2757500"/>
                    <a:ext cx="504056" cy="913791"/>
                    <a:chOff x="1830634" y="2757500"/>
                    <a:chExt cx="504056" cy="913791"/>
                  </a:xfrm>
                  <a:grpFill/>
                </p:grpSpPr>
                <p:sp>
                  <p:nvSpPr>
                    <p:cNvPr id="69" name="矩形 68"/>
                    <p:cNvSpPr/>
                    <p:nvPr/>
                  </p:nvSpPr>
                  <p:spPr bwMode="auto">
                    <a:xfrm>
                      <a:off x="1830634" y="27575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0" name="矩形 69"/>
                    <p:cNvSpPr/>
                    <p:nvPr/>
                  </p:nvSpPr>
                  <p:spPr bwMode="auto">
                    <a:xfrm>
                      <a:off x="1830634" y="3239243"/>
                      <a:ext cx="504056" cy="189757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  <p:sp>
                  <p:nvSpPr>
                    <p:cNvPr id="71" name="矩形 70"/>
                    <p:cNvSpPr/>
                    <p:nvPr/>
                  </p:nvSpPr>
                  <p:spPr bwMode="auto">
                    <a:xfrm>
                      <a:off x="1830634" y="3429000"/>
                      <a:ext cx="504056" cy="242291"/>
                    </a:xfrm>
                    <a:prstGeom prst="rect">
                      <a:avLst/>
                    </a:prstGeom>
                    <a:grpFill/>
                    <a:ln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TW" altLang="en-US" sz="1350">
                        <a:solidFill>
                          <a:schemeClr val="tx1"/>
                        </a:solidFill>
                        <a:latin typeface="Arial" charset="0"/>
                      </a:endParaRPr>
                    </a:p>
                  </p:txBody>
                </p:sp>
              </p:grpSp>
            </p:grpSp>
          </p:grpSp>
          <p:sp>
            <p:nvSpPr>
              <p:cNvPr id="63" name="文字方塊 62"/>
              <p:cNvSpPr txBox="1"/>
              <p:nvPr/>
            </p:nvSpPr>
            <p:spPr>
              <a:xfrm>
                <a:off x="1979712" y="3969931"/>
                <a:ext cx="14401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25" dirty="0"/>
                  <a:t>Send   </a:t>
                </a:r>
                <a:r>
                  <a:rPr lang="en-US" altLang="zh-TW" sz="1125" dirty="0" err="1"/>
                  <a:t>Recv</a:t>
                </a:r>
                <a:endParaRPr lang="zh-TW" altLang="en-US" sz="1125" dirty="0"/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776683" y="2589643"/>
              <a:ext cx="792088" cy="1440160"/>
              <a:chOff x="2043336" y="2564904"/>
              <a:chExt cx="792088" cy="1440160"/>
            </a:xfrm>
          </p:grpSpPr>
          <p:sp>
            <p:nvSpPr>
              <p:cNvPr id="55" name="矩形 54"/>
              <p:cNvSpPr/>
              <p:nvPr/>
            </p:nvSpPr>
            <p:spPr bwMode="auto">
              <a:xfrm>
                <a:off x="2043336" y="2564904"/>
                <a:ext cx="792088" cy="1440160"/>
              </a:xfrm>
              <a:prstGeom prst="rect">
                <a:avLst/>
              </a:prstGeom>
              <a:solidFill>
                <a:srgbClr val="92D050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CQ</a:t>
                </a: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90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grpSp>
            <p:nvGrpSpPr>
              <p:cNvPr id="56" name="群組 55"/>
              <p:cNvGrpSpPr/>
              <p:nvPr/>
            </p:nvGrpSpPr>
            <p:grpSpPr>
              <a:xfrm>
                <a:off x="2195736" y="2881442"/>
                <a:ext cx="457910" cy="902520"/>
                <a:chOff x="1830634" y="2786006"/>
                <a:chExt cx="457910" cy="902520"/>
              </a:xfrm>
              <a:noFill/>
            </p:grpSpPr>
            <p:sp>
              <p:nvSpPr>
                <p:cNvPr id="57" name="矩形 56"/>
                <p:cNvSpPr/>
                <p:nvPr/>
              </p:nvSpPr>
              <p:spPr bwMode="auto">
                <a:xfrm>
                  <a:off x="1830634" y="3025458"/>
                  <a:ext cx="457910" cy="231020"/>
                </a:xfrm>
                <a:prstGeom prst="rect">
                  <a:avLst/>
                </a:prstGeom>
                <a:grpFill/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1350">
                    <a:solidFill>
                      <a:schemeClr val="tx1"/>
                    </a:solidFill>
                    <a:latin typeface="Arial" charset="0"/>
                  </a:endParaRPr>
                </a:p>
              </p:txBody>
            </p:sp>
            <p:grpSp>
              <p:nvGrpSpPr>
                <p:cNvPr id="58" name="群組 57"/>
                <p:cNvGrpSpPr/>
                <p:nvPr/>
              </p:nvGrpSpPr>
              <p:grpSpPr>
                <a:xfrm>
                  <a:off x="1830634" y="2786006"/>
                  <a:ext cx="457910" cy="902520"/>
                  <a:chOff x="1830634" y="2786006"/>
                  <a:chExt cx="457910" cy="902520"/>
                </a:xfrm>
                <a:grpFill/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1830634" y="27860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0" name="矩形 59"/>
                  <p:cNvSpPr/>
                  <p:nvPr/>
                </p:nvSpPr>
                <p:spPr bwMode="auto">
                  <a:xfrm>
                    <a:off x="1830634" y="3267749"/>
                    <a:ext cx="457910" cy="18093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 bwMode="auto">
                  <a:xfrm>
                    <a:off x="1830634" y="3457506"/>
                    <a:ext cx="457910" cy="231020"/>
                  </a:xfrm>
                  <a:prstGeom prst="rect">
                    <a:avLst/>
                  </a:prstGeom>
                  <a:grpFill/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 sz="1350">
                      <a:solidFill>
                        <a:schemeClr val="tx1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矩形 53"/>
            <p:cNvSpPr/>
            <p:nvPr/>
          </p:nvSpPr>
          <p:spPr bwMode="auto">
            <a:xfrm>
              <a:off x="2350046" y="5085184"/>
              <a:ext cx="1059532" cy="50064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latin typeface="Arial" charset="0"/>
                </a:rPr>
                <a:t>Port</a:t>
              </a:r>
              <a:endParaRPr lang="zh-TW" altLang="en-US" sz="1350" dirty="0">
                <a:latin typeface="Arial" charset="0"/>
              </a:endParaRPr>
            </a:p>
          </p:txBody>
        </p:sp>
      </p:grpSp>
      <p:cxnSp>
        <p:nvCxnSpPr>
          <p:cNvPr id="77" name="直線單箭頭接點 76"/>
          <p:cNvCxnSpPr/>
          <p:nvPr/>
        </p:nvCxnSpPr>
        <p:spPr bwMode="auto">
          <a:xfrm>
            <a:off x="3005512" y="3733438"/>
            <a:ext cx="0" cy="2346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 bwMode="auto">
          <a:xfrm>
            <a:off x="5211572" y="1376241"/>
            <a:ext cx="1815279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Remote Process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1" name="直線單箭頭接點 80"/>
          <p:cNvCxnSpPr/>
          <p:nvPr/>
        </p:nvCxnSpPr>
        <p:spPr bwMode="auto">
          <a:xfrm>
            <a:off x="6089176" y="3708366"/>
            <a:ext cx="0" cy="24022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橢圓 81"/>
          <p:cNvSpPr/>
          <p:nvPr/>
        </p:nvSpPr>
        <p:spPr bwMode="auto">
          <a:xfrm>
            <a:off x="2097115" y="1391533"/>
            <a:ext cx="1644761" cy="285709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Process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70826" y="1167594"/>
            <a:ext cx="2543004" cy="588623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75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Complete</a:t>
            </a:r>
            <a:endParaRPr lang="zh-TW" altLang="en-US" sz="3375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757397" y="2320785"/>
            <a:ext cx="393056" cy="20774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750" b="1" dirty="0">
                <a:solidFill>
                  <a:schemeClr val="bg1"/>
                </a:solidFill>
                <a:latin typeface="Arial" charset="0"/>
              </a:rPr>
              <a:t>CQE</a:t>
            </a:r>
            <a:endParaRPr lang="zh-TW" altLang="en-US" sz="75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2934936" y="4510794"/>
            <a:ext cx="3326692" cy="432048"/>
          </a:xfrm>
          <a:prstGeom prst="rect">
            <a:avLst/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latin typeface="Arial" charset="0"/>
              </a:rPr>
              <a:t>Fabric</a:t>
            </a:r>
            <a:endParaRPr lang="zh-TW" altLang="en-US" sz="1350" dirty="0">
              <a:latin typeface="Arial" charset="0"/>
            </a:endParaRPr>
          </a:p>
        </p:txBody>
      </p:sp>
      <p:cxnSp>
        <p:nvCxnSpPr>
          <p:cNvPr id="80" name="肘形接點 79"/>
          <p:cNvCxnSpPr>
            <a:stCxn id="46" idx="2"/>
            <a:endCxn id="54" idx="2"/>
          </p:cNvCxnSpPr>
          <p:nvPr/>
        </p:nvCxnSpPr>
        <p:spPr bwMode="auto">
          <a:xfrm rot="5400000" flipH="1" flipV="1">
            <a:off x="4502797" y="2785635"/>
            <a:ext cx="25072" cy="3083664"/>
          </a:xfrm>
          <a:prstGeom prst="bentConnector3">
            <a:avLst>
              <a:gd name="adj1" fmla="val -1158345"/>
            </a:avLst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 bwMode="auto">
          <a:xfrm>
            <a:off x="6729817" y="1391533"/>
            <a:ext cx="1136549" cy="2621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Target Buffer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17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48148E-6 L -0.11909 -0.147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55" y="-738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The IBA Subnet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Communication Service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Communication Model</a:t>
            </a:r>
          </a:p>
          <a:p>
            <a:r>
              <a:rPr lang="en-US" altLang="zh-TW" dirty="0"/>
              <a:t>Subnet Management</a:t>
            </a:r>
          </a:p>
        </p:txBody>
      </p:sp>
    </p:spTree>
    <p:extLst>
      <p:ext uri="{BB962C8B-B14F-4D97-AF65-F5344CB8AC3E}">
        <p14:creationId xmlns:p14="http://schemas.microsoft.com/office/powerpoint/2010/main" val="666087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 Roles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Subnet Managers(SM)</a:t>
            </a:r>
            <a:r>
              <a:rPr lang="zh-TW" altLang="en-US" dirty="0"/>
              <a:t> </a:t>
            </a:r>
            <a:r>
              <a:rPr lang="en-US" altLang="zh-TW" dirty="0"/>
              <a:t>: Active entities</a:t>
            </a:r>
          </a:p>
          <a:p>
            <a:pPr lvl="1"/>
            <a:r>
              <a:rPr lang="en-US" altLang="zh-TW" dirty="0"/>
              <a:t>In an</a:t>
            </a:r>
            <a:r>
              <a:rPr lang="zh-TW" altLang="en-US" dirty="0"/>
              <a:t> </a:t>
            </a:r>
            <a:r>
              <a:rPr lang="en-US" altLang="zh-TW" dirty="0"/>
              <a:t>IBA subnet, there must be a single master SM.</a:t>
            </a:r>
          </a:p>
          <a:p>
            <a:pPr lvl="1"/>
            <a:r>
              <a:rPr lang="en-US" altLang="zh-TW" dirty="0"/>
              <a:t>Responsible for discovering and initializing the network, assigning LIDs to all elements, deciding path MTUs, and loading the switch routing tables.</a:t>
            </a:r>
          </a:p>
          <a:p>
            <a:r>
              <a:rPr lang="en-US" altLang="zh-TW" dirty="0"/>
              <a:t>Subnet Management Agents</a:t>
            </a:r>
            <a:r>
              <a:rPr lang="zh-TW" altLang="en-US" dirty="0"/>
              <a:t> </a:t>
            </a:r>
            <a:r>
              <a:rPr lang="en-US" altLang="zh-TW" dirty="0"/>
              <a:t>:Passive entities.</a:t>
            </a:r>
          </a:p>
          <a:p>
            <a:pPr lvl="1"/>
            <a:r>
              <a:rPr lang="en-US" altLang="zh-TW" dirty="0"/>
              <a:t>Exist on all nodes.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734907" y="3543858"/>
            <a:ext cx="3402378" cy="1489197"/>
            <a:chOff x="2483768" y="4725144"/>
            <a:chExt cx="4536504" cy="1985596"/>
          </a:xfrm>
        </p:grpSpPr>
        <p:sp>
          <p:nvSpPr>
            <p:cNvPr id="5" name="雲朵形 4"/>
            <p:cNvSpPr/>
            <p:nvPr/>
          </p:nvSpPr>
          <p:spPr bwMode="auto">
            <a:xfrm>
              <a:off x="2483768" y="4725144"/>
              <a:ext cx="4536504" cy="1985596"/>
            </a:xfrm>
            <a:prstGeom prst="cloud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accent4">
                      <a:lumMod val="95000"/>
                      <a:lumOff val="5000"/>
                    </a:schemeClr>
                  </a:solidFill>
                  <a:latin typeface="Arial" charset="0"/>
                </a:rPr>
                <a:t>IBA Subnet</a:t>
              </a:r>
              <a:endParaRPr lang="zh-TW" altLang="en-US" sz="1350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charset="0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2861151" y="5489612"/>
              <a:ext cx="828092" cy="72008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900" b="1" dirty="0">
                  <a:solidFill>
                    <a:schemeClr val="tx1"/>
                  </a:solidFill>
                  <a:latin typeface="Arial" charset="0"/>
                </a:rPr>
                <a:t>Master Subnet Manager</a:t>
              </a:r>
              <a:endParaRPr lang="zh-TW" altLang="en-US" sz="900" b="1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4752020" y="5013176"/>
              <a:ext cx="972108" cy="6480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750" dirty="0">
                  <a:solidFill>
                    <a:schemeClr val="tx1"/>
                  </a:solidFill>
                  <a:latin typeface="Arial" charset="0"/>
                </a:rPr>
                <a:t>Subnet Management Agents</a:t>
              </a:r>
              <a:endParaRPr lang="zh-TW" altLang="en-US" sz="7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3801312" y="5661248"/>
              <a:ext cx="972108" cy="6480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750" dirty="0">
                  <a:solidFill>
                    <a:schemeClr val="tx1"/>
                  </a:solidFill>
                  <a:latin typeface="Arial" charset="0"/>
                </a:rPr>
                <a:t>Subnet Management Agents</a:t>
              </a:r>
              <a:endParaRPr lang="zh-TW" altLang="en-US" sz="7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932040" y="5774636"/>
              <a:ext cx="972108" cy="6480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750" dirty="0">
                  <a:solidFill>
                    <a:schemeClr val="tx1"/>
                  </a:solidFill>
                  <a:latin typeface="Arial" charset="0"/>
                </a:rPr>
                <a:t>Subnet Management Agents</a:t>
              </a:r>
              <a:endParaRPr lang="zh-TW" altLang="en-US" sz="750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5776934" y="5165576"/>
              <a:ext cx="972108" cy="6480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750" dirty="0">
                  <a:solidFill>
                    <a:schemeClr val="tx1"/>
                  </a:solidFill>
                  <a:latin typeface="Arial" charset="0"/>
                </a:rPr>
                <a:t>Subnet Management Agents</a:t>
              </a:r>
              <a:endParaRPr lang="zh-TW" altLang="en-US" sz="750" dirty="0">
                <a:solidFill>
                  <a:schemeClr val="tx1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235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Initialization State 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730" y="1059582"/>
            <a:ext cx="5127692" cy="394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1161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Management Datagrams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All management is performed in-band, using Management Datagrams (MADs).</a:t>
            </a:r>
          </a:p>
          <a:p>
            <a:pPr lvl="1"/>
            <a:r>
              <a:rPr lang="en-US" altLang="zh-TW" dirty="0"/>
              <a:t>MADs are unreliable datagrams with 256 bytes of data (minimum MTU).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Subnet Management Packets (SMP) is special MADs for subnet management.</a:t>
            </a:r>
          </a:p>
          <a:p>
            <a:pPr lvl="1"/>
            <a:r>
              <a:rPr lang="en-US" altLang="zh-TW" dirty="0"/>
              <a:t>Only packets allowed on virtual lane 15 (VL15).</a:t>
            </a:r>
          </a:p>
          <a:p>
            <a:pPr lvl="1"/>
            <a:r>
              <a:rPr lang="en-US" altLang="zh-TW" dirty="0"/>
              <a:t>Always sent and receive on Queue Pair 0 of each port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28514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Overview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What is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Architecture</a:t>
            </a:r>
          </a:p>
          <a:p>
            <a:pPr lvl="1"/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Virtualization</a:t>
            </a:r>
          </a:p>
          <a:p>
            <a:pPr lvl="1"/>
            <a:r>
              <a:rPr lang="en-US" altLang="zh-TW" dirty="0">
                <a:latin typeface="+mj-lt"/>
              </a:rPr>
              <a:t>Why do we need to virtualize </a:t>
            </a:r>
            <a:r>
              <a:rPr lang="en-US" altLang="zh-TW" dirty="0" err="1">
                <a:latin typeface="+mj-lt"/>
              </a:rPr>
              <a:t>InfiniBand</a:t>
            </a:r>
            <a:endParaRPr lang="en-US" altLang="zh-TW" dirty="0">
              <a:latin typeface="+mj-lt"/>
            </a:endParaRP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234642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Cloud Computing 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Virtualization is usually used in cloud computing</a:t>
            </a:r>
          </a:p>
          <a:p>
            <a:pPr lvl="1"/>
            <a:r>
              <a:rPr lang="en-US" altLang="zh-TW" dirty="0"/>
              <a:t>It would cause overhead and lead to performance degradation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http://blog.cloudpassage.com/wp-content/uploads/2011/07/virtualization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796" y="2474297"/>
            <a:ext cx="4079658" cy="244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56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Cloud Computing 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performance degradation is especially large for IO virtualization.</a:t>
            </a:r>
          </a:p>
          <a:p>
            <a:endParaRPr lang="zh-TW" altLang="en-US" dirty="0"/>
          </a:p>
        </p:txBody>
      </p:sp>
      <p:graphicFrame>
        <p:nvGraphicFramePr>
          <p:cNvPr id="4" name="圖表 4"/>
          <p:cNvGraphicFramePr/>
          <p:nvPr/>
        </p:nvGraphicFramePr>
        <p:xfrm>
          <a:off x="2798778" y="2233462"/>
          <a:ext cx="3447408" cy="2336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文字方塊 8"/>
          <p:cNvSpPr txBox="1"/>
          <p:nvPr/>
        </p:nvSpPr>
        <p:spPr>
          <a:xfrm>
            <a:off x="3087216" y="2031690"/>
            <a:ext cx="3158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b="1" dirty="0">
                <a:solidFill>
                  <a:schemeClr val="accent6">
                    <a:lumMod val="50000"/>
                  </a:schemeClr>
                </a:solidFill>
              </a:rPr>
              <a:t>PTRANS (Communication utilization)</a:t>
            </a:r>
            <a:endParaRPr lang="zh-TW" altLang="en-US" sz="15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文字方塊 6"/>
          <p:cNvSpPr txBox="1"/>
          <p:nvPr/>
        </p:nvSpPr>
        <p:spPr>
          <a:xfrm>
            <a:off x="2398449" y="2709815"/>
            <a:ext cx="415498" cy="81009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altLang="zh-TW" sz="1500" b="1" dirty="0"/>
              <a:t>GB/s</a:t>
            </a:r>
            <a:endParaRPr lang="zh-TW" altLang="en-US" sz="1500" b="1" dirty="0"/>
          </a:p>
        </p:txBody>
      </p:sp>
      <p:sp>
        <p:nvSpPr>
          <p:cNvPr id="7" name="文字方塊 6"/>
          <p:cNvSpPr txBox="1"/>
          <p:nvPr/>
        </p:nvSpPr>
        <p:spPr>
          <a:xfrm>
            <a:off x="3545886" y="4478509"/>
            <a:ext cx="6480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50" dirty="0"/>
              <a:t>PM</a:t>
            </a:r>
            <a:endParaRPr lang="zh-TW" altLang="en-US" sz="135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058054" y="4461960"/>
            <a:ext cx="6480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50" dirty="0"/>
              <a:t>KVM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394506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High Performance Computing 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2235696"/>
          </a:xfrm>
        </p:spPr>
        <p:txBody>
          <a:bodyPr>
            <a:normAutofit fontScale="85000" lnSpcReduction="20000"/>
          </a:bodyPr>
          <a:lstStyle/>
          <a:p>
            <a:pPr lvl="0">
              <a:buClr>
                <a:srgbClr val="4F81BD">
                  <a:lumMod val="75000"/>
                </a:srgbClr>
              </a:buClr>
            </a:pPr>
            <a:r>
              <a:rPr lang="en-US" altLang="zh-TW" sz="2100" dirty="0" err="1">
                <a:solidFill>
                  <a:schemeClr val="tx2">
                    <a:lumMod val="75000"/>
                  </a:schemeClr>
                </a:solidFill>
              </a:rPr>
              <a:t>InfiniBand</a:t>
            </a:r>
            <a:r>
              <a:rPr lang="en-US" altLang="zh-TW" sz="2100" dirty="0">
                <a:solidFill>
                  <a:schemeClr val="tx2">
                    <a:lumMod val="75000"/>
                  </a:schemeClr>
                </a:solidFill>
              </a:rPr>
              <a:t> is widely used in the high-performance </a:t>
            </a:r>
            <a:r>
              <a:rPr lang="en-US" altLang="zh-TW" dirty="0"/>
              <a:t>computing center</a:t>
            </a:r>
          </a:p>
          <a:p>
            <a:pPr lvl="1"/>
            <a:r>
              <a:rPr lang="en-US" altLang="zh-TW" dirty="0"/>
              <a:t>Transfer supercomputing centers to data centers</a:t>
            </a:r>
          </a:p>
          <a:p>
            <a:pPr lvl="1"/>
            <a:r>
              <a:rPr lang="en-US" altLang="zh-TW" dirty="0"/>
              <a:t>For HPC on cloud</a:t>
            </a:r>
          </a:p>
          <a:p>
            <a:pPr lvl="2"/>
            <a:r>
              <a:rPr lang="en-US" altLang="zh-TW" dirty="0">
                <a:solidFill>
                  <a:srgbClr val="002060"/>
                </a:solidFill>
              </a:rPr>
              <a:t>Both of them would need to </a:t>
            </a:r>
            <a:r>
              <a:rPr lang="en-US" altLang="zh-TW" dirty="0" err="1">
                <a:solidFill>
                  <a:srgbClr val="002060"/>
                </a:solidFill>
              </a:rPr>
              <a:t>virtualize</a:t>
            </a:r>
            <a:r>
              <a:rPr lang="en-US" altLang="zh-TW" dirty="0">
                <a:solidFill>
                  <a:srgbClr val="002060"/>
                </a:solidFill>
              </a:rPr>
              <a:t> the systems</a:t>
            </a:r>
          </a:p>
          <a:p>
            <a:pPr lvl="2"/>
            <a:r>
              <a:rPr lang="en-US" altLang="zh-TW" dirty="0"/>
              <a:t>Consider the performance and the availability of  the existed </a:t>
            </a:r>
            <a:r>
              <a:rPr lang="en-US" altLang="zh-TW" dirty="0" err="1"/>
              <a:t>InfiniBand</a:t>
            </a:r>
            <a:r>
              <a:rPr lang="en-US" altLang="zh-TW" dirty="0"/>
              <a:t> devices, it would need to </a:t>
            </a:r>
            <a:r>
              <a:rPr lang="en-US" altLang="zh-TW" dirty="0" err="1"/>
              <a:t>virtualize</a:t>
            </a:r>
            <a:r>
              <a:rPr lang="en-US" altLang="zh-TW" dirty="0"/>
              <a:t> </a:t>
            </a:r>
            <a:r>
              <a:rPr lang="en-US" altLang="zh-TW" dirty="0" err="1"/>
              <a:t>InfiniBand</a:t>
            </a:r>
            <a:endParaRPr lang="en-US" altLang="zh-TW" sz="2100" dirty="0">
              <a:ea typeface="+mn-ea"/>
              <a:cs typeface="+mn-cs"/>
            </a:endParaRPr>
          </a:p>
        </p:txBody>
      </p:sp>
      <p:pic>
        <p:nvPicPr>
          <p:cNvPr id="4098" name="Picture 2" descr="http://media2.hpcwire.com/hpccloud/dutchclo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777326"/>
            <a:ext cx="1782198" cy="131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5488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Overview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What is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Architecture</a:t>
            </a:r>
          </a:p>
          <a:p>
            <a:pPr lvl="1"/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Virtualization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Why do we need to virtualize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pPr lvl="1"/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765671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 kinds of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272454" cy="339447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Fully virtualization: software-based I/O virtualization</a:t>
            </a:r>
          </a:p>
          <a:p>
            <a:pPr lvl="1"/>
            <a:r>
              <a:rPr lang="en-US" altLang="zh-TW" dirty="0"/>
              <a:t>Flexibility and ease of migration</a:t>
            </a:r>
          </a:p>
          <a:p>
            <a:pPr lvl="2"/>
            <a:r>
              <a:rPr lang="en-US" altLang="zh-TW" dirty="0"/>
              <a:t>May suffer from low I/O bandwidth and high I/O latency</a:t>
            </a:r>
          </a:p>
          <a:p>
            <a:r>
              <a:rPr lang="en-US" altLang="zh-TW" dirty="0"/>
              <a:t>Bypass: hardware-based I/O virtualization</a:t>
            </a:r>
          </a:p>
          <a:p>
            <a:pPr lvl="1"/>
            <a:r>
              <a:rPr lang="en-US" altLang="zh-TW" dirty="0"/>
              <a:t>Efficient but lacking of flexibility for migration</a:t>
            </a:r>
          </a:p>
          <a:p>
            <a:r>
              <a:rPr lang="en-US" altLang="zh-TW" dirty="0" err="1"/>
              <a:t>Paravirtualization</a:t>
            </a:r>
            <a:r>
              <a:rPr lang="en-US" altLang="zh-TW" dirty="0"/>
              <a:t>: a hybrid of software-based and hardware-based virtualization.</a:t>
            </a:r>
          </a:p>
          <a:p>
            <a:pPr lvl="1"/>
            <a:r>
              <a:rPr lang="en-US" altLang="zh-TW" dirty="0"/>
              <a:t>Try to balance the flexibility and efficiency of virtual I/O.</a:t>
            </a:r>
          </a:p>
          <a:p>
            <a:pPr lvl="1"/>
            <a:r>
              <a:rPr lang="en-US" altLang="zh-TW" dirty="0"/>
              <a:t>Ex. </a:t>
            </a:r>
            <a:r>
              <a:rPr lang="en-US" altLang="zh-TW" dirty="0" err="1"/>
              <a:t>Xsigo</a:t>
            </a:r>
            <a:r>
              <a:rPr lang="en-US" altLang="zh-TW" dirty="0"/>
              <a:t> Systems.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28320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4" name="Picture 6" descr="http://www.ibm.com/developerworks/linux/library/l-pci-passthrough/figure2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132" y="1653648"/>
            <a:ext cx="5382596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821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Bypass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6" name="Picture 4" descr="http://www.ibm.com/developerworks/linux/library/l-pci-passthrough/figure3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29" y="1653648"/>
            <a:ext cx="5175572" cy="27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979712" y="1543130"/>
            <a:ext cx="1452452" cy="28623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3158243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Paravirtualization</a:t>
            </a:r>
            <a:endParaRPr lang="zh-TW" altLang="en-US" dirty="0"/>
          </a:p>
        </p:txBody>
      </p:sp>
      <p:pic>
        <p:nvPicPr>
          <p:cNvPr id="4098" name="Picture 2" descr="http://betanews.com/wp-content/uploads/2012/07/xsigooracle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91" y="1113588"/>
            <a:ext cx="3421856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843808" y="2787774"/>
            <a:ext cx="3078342" cy="108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Software Defined Network</a:t>
            </a:r>
            <a:endParaRPr lang="zh-TW" altLang="en-US" sz="1350" dirty="0"/>
          </a:p>
        </p:txBody>
      </p:sp>
      <p:sp>
        <p:nvSpPr>
          <p:cNvPr id="3" name="文字方塊 2"/>
          <p:cNvSpPr txBox="1"/>
          <p:nvPr/>
        </p:nvSpPr>
        <p:spPr>
          <a:xfrm>
            <a:off x="4626006" y="3853085"/>
            <a:ext cx="8322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50" b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TW" sz="1050" b="1" dirty="0" err="1">
                <a:solidFill>
                  <a:schemeClr val="bg1">
                    <a:lumMod val="50000"/>
                  </a:schemeClr>
                </a:solidFill>
              </a:rPr>
              <a:t>InfiniBand</a:t>
            </a:r>
            <a:endParaRPr lang="zh-TW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0455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Overview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What is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Architecture</a:t>
            </a:r>
          </a:p>
          <a:p>
            <a:pPr lvl="1"/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</a:t>
            </a:r>
            <a:r>
              <a:rPr lang="en-US" altLang="zh-TW" dirty="0">
                <a:latin typeface="+mj-lt"/>
              </a:rPr>
              <a:t>Virtualization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Why do we need to virtualize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endParaRPr lang="en-US" altLang="zh-TW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pPr lvl="1"/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9133714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What is </a:t>
            </a:r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 </a:t>
            </a:r>
          </a:p>
          <a:p>
            <a:pPr lvl="1"/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Overview</a:t>
            </a:r>
          </a:p>
          <a:p>
            <a:pPr lvl="1"/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 Architecture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Why </a:t>
            </a:r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  <a:latin typeface="+mj-lt"/>
              </a:rPr>
              <a:t>InfiniBand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 Virtualization</a:t>
            </a:r>
          </a:p>
          <a:p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Virtualization Methods</a:t>
            </a:r>
          </a:p>
          <a:p>
            <a:pPr lvl="1"/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Methods</a:t>
            </a:r>
          </a:p>
          <a:p>
            <a:pPr lvl="1"/>
            <a:r>
              <a:rPr lang="en-US" altLang="zh-TW" dirty="0">
                <a:latin typeface="+mj-l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0219703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VMM-Bypass I/O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Extend the idea of OS-bypass originated from user-level communication</a:t>
            </a:r>
          </a:p>
          <a:p>
            <a:r>
              <a:rPr lang="en-US" altLang="zh-TW" dirty="0"/>
              <a:t>Allows time critical I/O operations to be carried out directly in guest virtual machines without involving virtual machine monitor and a privileged virtual machine</a:t>
            </a:r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934" y="2864809"/>
            <a:ext cx="3186354" cy="219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47847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InfiniBand</a:t>
            </a:r>
            <a:r>
              <a:rPr lang="en-US" altLang="zh-TW" dirty="0"/>
              <a:t> Driver Stack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059582"/>
            <a:ext cx="6172200" cy="3834426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/>
              <a:t>OpenIB</a:t>
            </a:r>
            <a:r>
              <a:rPr lang="en-US" altLang="zh-TW" dirty="0"/>
              <a:t> Gen2 Driver Stack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/>
            <a:r>
              <a:rPr lang="en-US" altLang="zh-TW" dirty="0"/>
              <a:t>HCA Driver is hardware dependent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94" y="1437624"/>
            <a:ext cx="5293328" cy="286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2987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1976973" y="1167594"/>
            <a:ext cx="5349700" cy="3510390"/>
            <a:chOff x="1111965" y="1805675"/>
            <a:chExt cx="7132933" cy="468052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965" y="1805675"/>
              <a:ext cx="7132933" cy="4680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矩形 5"/>
            <p:cNvSpPr/>
            <p:nvPr/>
          </p:nvSpPr>
          <p:spPr bwMode="auto">
            <a:xfrm>
              <a:off x="4788024" y="4145935"/>
              <a:ext cx="2592288" cy="435193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3275856" y="3501008"/>
              <a:ext cx="864096" cy="64492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>
                <a:latin typeface="Arial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4499992" y="4804977"/>
              <a:ext cx="1123629" cy="21759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>
                <a:latin typeface="Arial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499992" y="5083611"/>
              <a:ext cx="1123629" cy="21759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350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85795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Follows </a:t>
            </a:r>
            <a:r>
              <a:rPr lang="en-US" altLang="zh-TW" dirty="0" err="1"/>
              <a:t>Xen</a:t>
            </a:r>
            <a:r>
              <a:rPr lang="en-US" altLang="zh-TW" dirty="0"/>
              <a:t> split driver model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Front-end </a:t>
            </a:r>
            <a:r>
              <a:rPr lang="en-US" altLang="zh-TW" dirty="0"/>
              <a:t>implemented as </a:t>
            </a:r>
            <a:r>
              <a:rPr lang="en-US" altLang="zh-TW" dirty="0">
                <a:solidFill>
                  <a:srgbClr val="FF0000"/>
                </a:solidFill>
              </a:rPr>
              <a:t>a new HCA driver module</a:t>
            </a:r>
            <a:r>
              <a:rPr lang="en-US" altLang="zh-TW" dirty="0"/>
              <a:t> (reusing core module) and it would create two channels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Device channel </a:t>
            </a:r>
            <a:r>
              <a:rPr lang="en-US" altLang="zh-TW" dirty="0"/>
              <a:t>for </a:t>
            </a:r>
            <a:r>
              <a:rPr lang="en-US" altLang="zh-TW" dirty="0">
                <a:solidFill>
                  <a:srgbClr val="FF0000"/>
                </a:solidFill>
              </a:rPr>
              <a:t>processing requests</a:t>
            </a:r>
            <a:r>
              <a:rPr lang="en-US" altLang="zh-TW" dirty="0"/>
              <a:t> initiated from the guest domain.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Event channel </a:t>
            </a:r>
            <a:r>
              <a:rPr lang="en-US" altLang="zh-TW" dirty="0"/>
              <a:t>for sending </a:t>
            </a:r>
            <a:r>
              <a:rPr lang="en-US" altLang="zh-TW" dirty="0" err="1"/>
              <a:t>InifiniBand</a:t>
            </a:r>
            <a:r>
              <a:rPr lang="en-US" altLang="zh-TW" dirty="0">
                <a:solidFill>
                  <a:srgbClr val="6633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CQ and QP events </a:t>
            </a:r>
            <a:r>
              <a:rPr lang="en-US" altLang="zh-TW" dirty="0"/>
              <a:t>to the guest domain.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Backend</a:t>
            </a:r>
            <a:r>
              <a:rPr lang="en-US" altLang="zh-TW" dirty="0"/>
              <a:t> uses kernel threads to </a:t>
            </a:r>
            <a:r>
              <a:rPr lang="en-US" altLang="zh-TW" dirty="0">
                <a:solidFill>
                  <a:srgbClr val="FF0000"/>
                </a:solidFill>
              </a:rPr>
              <a:t>process requests </a:t>
            </a:r>
            <a:r>
              <a:rPr lang="en-US" altLang="zh-TW" dirty="0"/>
              <a:t>from front-ends (reusing IB drivers in dom0).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08098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Privileged Access</a:t>
            </a:r>
          </a:p>
          <a:p>
            <a:pPr lvl="1"/>
            <a:r>
              <a:rPr lang="en-US" altLang="zh-TW" dirty="0"/>
              <a:t>Memory registration</a:t>
            </a:r>
          </a:p>
          <a:p>
            <a:pPr lvl="1"/>
            <a:r>
              <a:rPr lang="en-US" altLang="zh-TW" dirty="0"/>
              <a:t>CQ and QP creation</a:t>
            </a:r>
          </a:p>
          <a:p>
            <a:pPr lvl="1"/>
            <a:r>
              <a:rPr lang="en-US" altLang="zh-TW" dirty="0"/>
              <a:t>Other operations</a:t>
            </a:r>
          </a:p>
          <a:p>
            <a:r>
              <a:rPr lang="en-US" altLang="zh-TW" dirty="0"/>
              <a:t>VMM-bypass Access</a:t>
            </a:r>
          </a:p>
          <a:p>
            <a:pPr lvl="1"/>
            <a:r>
              <a:rPr lang="en-US" altLang="zh-TW" dirty="0"/>
              <a:t>Communication phase</a:t>
            </a:r>
          </a:p>
          <a:p>
            <a:r>
              <a:rPr lang="en-US" altLang="zh-TW" dirty="0"/>
              <a:t>Event handling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97231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Privileged Access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Memory registration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2681790" y="2139702"/>
            <a:ext cx="962676" cy="11341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Back-end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driver</a:t>
            </a:r>
            <a:endParaRPr lang="zh-TW" altLang="en-US" sz="135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940610" y="2132096"/>
            <a:ext cx="962676" cy="11341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Front-end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driver</a:t>
            </a:r>
            <a:endParaRPr lang="zh-TW" altLang="en-US" sz="1350" dirty="0">
              <a:solidFill>
                <a:schemeClr val="bg1"/>
              </a:solidFill>
              <a:latin typeface="Arial" charset="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5903286" y="1774307"/>
            <a:ext cx="1855068" cy="770964"/>
            <a:chOff x="6347048" y="2365740"/>
            <a:chExt cx="2473424" cy="1027952"/>
          </a:xfrm>
        </p:grpSpPr>
        <p:sp>
          <p:nvSpPr>
            <p:cNvPr id="10" name="文字方塊 9"/>
            <p:cNvSpPr txBox="1"/>
            <p:nvPr/>
          </p:nvSpPr>
          <p:spPr>
            <a:xfrm>
              <a:off x="6565304" y="2716584"/>
              <a:ext cx="2255168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>
                <a:buFont typeface="Wingdings" pitchFamily="2" charset="2"/>
                <a:buChar char="l"/>
              </a:pPr>
              <a:r>
                <a:rPr lang="en-US" altLang="zh-TW" sz="1350" dirty="0"/>
                <a:t>Memory pinning </a:t>
              </a:r>
            </a:p>
            <a:p>
              <a:pPr marL="214313" indent="-214313">
                <a:buFont typeface="Wingdings" pitchFamily="2" charset="2"/>
                <a:buChar char="l"/>
              </a:pPr>
              <a:r>
                <a:rPr lang="en-US" altLang="zh-TW" sz="1350" dirty="0"/>
                <a:t>Translation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347048" y="2365740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1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cxnSp>
        <p:nvCxnSpPr>
          <p:cNvPr id="14" name="直線單箭頭接點 13"/>
          <p:cNvCxnSpPr/>
          <p:nvPr/>
        </p:nvCxnSpPr>
        <p:spPr bwMode="auto">
          <a:xfrm flipH="1">
            <a:off x="3644466" y="2355726"/>
            <a:ext cx="129614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" name="群組 14"/>
          <p:cNvGrpSpPr/>
          <p:nvPr/>
        </p:nvGrpSpPr>
        <p:grpSpPr>
          <a:xfrm>
            <a:off x="3437874" y="1653650"/>
            <a:ext cx="1855068" cy="770964"/>
            <a:chOff x="6347048" y="2365740"/>
            <a:chExt cx="2473424" cy="1027952"/>
          </a:xfrm>
        </p:grpSpPr>
        <p:sp>
          <p:nvSpPr>
            <p:cNvPr id="16" name="文字方塊 15"/>
            <p:cNvSpPr txBox="1"/>
            <p:nvPr/>
          </p:nvSpPr>
          <p:spPr>
            <a:xfrm>
              <a:off x="6565304" y="2716584"/>
              <a:ext cx="2255168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350" dirty="0"/>
                <a:t>Send physical page information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6347048" y="2365740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2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sp>
        <p:nvSpPr>
          <p:cNvPr id="18" name="矩形 17"/>
          <p:cNvSpPr/>
          <p:nvPr/>
        </p:nvSpPr>
        <p:spPr bwMode="auto">
          <a:xfrm>
            <a:off x="2461050" y="3867894"/>
            <a:ext cx="1404156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Native HCA driver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9" name="直線單箭頭接點 18"/>
          <p:cNvCxnSpPr>
            <a:stCxn id="4" idx="2"/>
            <a:endCxn id="18" idx="0"/>
          </p:cNvCxnSpPr>
          <p:nvPr/>
        </p:nvCxnSpPr>
        <p:spPr bwMode="auto">
          <a:xfrm>
            <a:off x="3163128" y="3273828"/>
            <a:ext cx="0" cy="594066"/>
          </a:xfrm>
          <a:prstGeom prst="straightConnector1">
            <a:avLst/>
          </a:prstGeom>
          <a:ln>
            <a:solidFill>
              <a:srgbClr val="FFC000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2" name="群組 21"/>
          <p:cNvGrpSpPr/>
          <p:nvPr/>
        </p:nvGrpSpPr>
        <p:grpSpPr>
          <a:xfrm>
            <a:off x="1694603" y="3218397"/>
            <a:ext cx="1372056" cy="686725"/>
            <a:chOff x="6565304" y="2478057"/>
            <a:chExt cx="2333464" cy="915633"/>
          </a:xfrm>
        </p:grpSpPr>
        <p:sp>
          <p:nvSpPr>
            <p:cNvPr id="23" name="文字方塊 22"/>
            <p:cNvSpPr txBox="1"/>
            <p:nvPr/>
          </p:nvSpPr>
          <p:spPr>
            <a:xfrm>
              <a:off x="6565304" y="2716583"/>
              <a:ext cx="2333464" cy="677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Register </a:t>
              </a:r>
            </a:p>
            <a:p>
              <a:pPr algn="ctr"/>
              <a:r>
                <a:rPr lang="en-US" altLang="zh-TW" sz="1350" dirty="0"/>
                <a:t>physical page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6781124" y="2478057"/>
              <a:ext cx="326367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3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sp>
        <p:nvSpPr>
          <p:cNvPr id="26" name="矩形 25"/>
          <p:cNvSpPr/>
          <p:nvPr/>
        </p:nvSpPr>
        <p:spPr bwMode="auto">
          <a:xfrm>
            <a:off x="2461050" y="4569972"/>
            <a:ext cx="1404156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HCA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29" name="直線單箭頭接點 28"/>
          <p:cNvCxnSpPr>
            <a:stCxn id="18" idx="2"/>
            <a:endCxn id="26" idx="0"/>
          </p:cNvCxnSpPr>
          <p:nvPr/>
        </p:nvCxnSpPr>
        <p:spPr bwMode="auto">
          <a:xfrm>
            <a:off x="3163128" y="4299942"/>
            <a:ext cx="0" cy="270030"/>
          </a:xfrm>
          <a:prstGeom prst="straightConnector1">
            <a:avLst/>
          </a:prstGeom>
          <a:ln>
            <a:solidFill>
              <a:srgbClr val="FFC000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 bwMode="auto">
          <a:xfrm>
            <a:off x="3644466" y="3111810"/>
            <a:ext cx="1296144" cy="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群組 33"/>
          <p:cNvGrpSpPr/>
          <p:nvPr/>
        </p:nvGrpSpPr>
        <p:grpSpPr>
          <a:xfrm>
            <a:off x="3614801" y="3111811"/>
            <a:ext cx="1372056" cy="793315"/>
            <a:chOff x="6565304" y="2335939"/>
            <a:chExt cx="2333464" cy="1057753"/>
          </a:xfrm>
        </p:grpSpPr>
        <p:sp>
          <p:nvSpPr>
            <p:cNvPr id="35" name="文字方塊 34"/>
            <p:cNvSpPr txBox="1"/>
            <p:nvPr/>
          </p:nvSpPr>
          <p:spPr>
            <a:xfrm>
              <a:off x="6565304" y="2716584"/>
              <a:ext cx="2333464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Send local and remote key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6615755" y="2335939"/>
              <a:ext cx="326367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4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14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4931178" y="1933872"/>
            <a:ext cx="1629612" cy="188260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Guest Domain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Privileged Access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lvl="1" indent="-257175"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2100" dirty="0">
                <a:solidFill>
                  <a:schemeClr val="tx2">
                    <a:lumMod val="75000"/>
                  </a:schemeClr>
                </a:solidFill>
              </a:rPr>
              <a:t>CQ and QP creation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2672358" y="2679762"/>
            <a:ext cx="962676" cy="11341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Back-end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driver</a:t>
            </a:r>
            <a:endParaRPr lang="zh-TW" altLang="en-US" sz="135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931178" y="2672156"/>
            <a:ext cx="962676" cy="11341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Front-end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driver</a:t>
            </a:r>
            <a:endParaRPr lang="zh-TW" altLang="en-US" sz="1350" dirty="0">
              <a:solidFill>
                <a:schemeClr val="bg1"/>
              </a:solidFill>
              <a:latin typeface="Arial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4940610" y="1923677"/>
            <a:ext cx="1693050" cy="701715"/>
            <a:chOff x="6563072" y="2365740"/>
            <a:chExt cx="2257400" cy="935620"/>
          </a:xfrm>
        </p:grpSpPr>
        <p:sp>
          <p:nvSpPr>
            <p:cNvPr id="8" name="文字方塊 7"/>
            <p:cNvSpPr txBox="1"/>
            <p:nvPr/>
          </p:nvSpPr>
          <p:spPr>
            <a:xfrm>
              <a:off x="6565304" y="2716584"/>
              <a:ext cx="2255168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25" dirty="0"/>
                <a:t>Allocate CQ and QP buffer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563072" y="2365740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1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931178" y="3543860"/>
            <a:ext cx="1855068" cy="770964"/>
            <a:chOff x="6347048" y="2365740"/>
            <a:chExt cx="2473424" cy="1027952"/>
          </a:xfrm>
        </p:grpSpPr>
        <p:sp>
          <p:nvSpPr>
            <p:cNvPr id="11" name="文字方塊 10"/>
            <p:cNvSpPr txBox="1"/>
            <p:nvPr/>
          </p:nvSpPr>
          <p:spPr>
            <a:xfrm>
              <a:off x="6565304" y="2716584"/>
              <a:ext cx="2255168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350" dirty="0"/>
                <a:t>Register CQ and QP buffers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347048" y="2365740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2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3597078" y="2457865"/>
            <a:ext cx="1372056" cy="947059"/>
            <a:chOff x="6565304" y="2407947"/>
            <a:chExt cx="2333464" cy="1262745"/>
          </a:xfrm>
        </p:grpSpPr>
        <p:sp>
          <p:nvSpPr>
            <p:cNvPr id="14" name="文字方塊 13"/>
            <p:cNvSpPr txBox="1"/>
            <p:nvPr/>
          </p:nvSpPr>
          <p:spPr>
            <a:xfrm>
              <a:off x="6565304" y="2716584"/>
              <a:ext cx="2333464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Send requests with CQ, QP buffer keys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6590951" y="2407947"/>
              <a:ext cx="326367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3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cxnSp>
        <p:nvCxnSpPr>
          <p:cNvPr id="16" name="直線單箭頭接點 15"/>
          <p:cNvCxnSpPr/>
          <p:nvPr/>
        </p:nvCxnSpPr>
        <p:spPr bwMode="auto">
          <a:xfrm flipH="1">
            <a:off x="3635034" y="3381840"/>
            <a:ext cx="1296144" cy="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2" name="群組 21"/>
          <p:cNvGrpSpPr/>
          <p:nvPr/>
        </p:nvGrpSpPr>
        <p:grpSpPr>
          <a:xfrm>
            <a:off x="1223628" y="2841781"/>
            <a:ext cx="1504104" cy="793315"/>
            <a:chOff x="6340729" y="2335939"/>
            <a:chExt cx="2558039" cy="1057753"/>
          </a:xfrm>
        </p:grpSpPr>
        <p:sp>
          <p:nvSpPr>
            <p:cNvPr id="23" name="文字方塊 22"/>
            <p:cNvSpPr txBox="1"/>
            <p:nvPr/>
          </p:nvSpPr>
          <p:spPr>
            <a:xfrm>
              <a:off x="6340729" y="2716584"/>
              <a:ext cx="2558039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Create CQ, QP using those keys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6615755" y="2335939"/>
              <a:ext cx="326367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4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0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Privileged Access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Other operations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2529204" y="2031690"/>
            <a:ext cx="962676" cy="11341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Back-end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driver</a:t>
            </a:r>
            <a:endParaRPr lang="zh-TW" altLang="en-US" sz="135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788024" y="2024084"/>
            <a:ext cx="962676" cy="11341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Front-end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bg1"/>
                </a:solidFill>
                <a:latin typeface="Arial" charset="0"/>
              </a:rPr>
              <a:t>driver</a:t>
            </a:r>
            <a:endParaRPr lang="zh-TW" altLang="en-US" sz="1350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308464" y="3813888"/>
            <a:ext cx="1404156" cy="5400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Native HCA driver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 flipH="1">
            <a:off x="3491880" y="2301720"/>
            <a:ext cx="1296144" cy="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群組 20"/>
          <p:cNvGrpSpPr/>
          <p:nvPr/>
        </p:nvGrpSpPr>
        <p:grpSpPr>
          <a:xfrm>
            <a:off x="3410871" y="1790097"/>
            <a:ext cx="1458162" cy="519373"/>
            <a:chOff x="3023828" y="2386797"/>
            <a:chExt cx="1944216" cy="692497"/>
          </a:xfrm>
        </p:grpSpPr>
        <p:sp>
          <p:nvSpPr>
            <p:cNvPr id="11" name="文字方塊 10"/>
            <p:cNvSpPr txBox="1"/>
            <p:nvPr/>
          </p:nvSpPr>
          <p:spPr>
            <a:xfrm>
              <a:off x="3023828" y="2679185"/>
              <a:ext cx="194421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Send requests</a:t>
              </a:r>
              <a:endParaRPr lang="zh-TW" altLang="en-US" sz="135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170988" y="2386797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1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871700" y="3052867"/>
            <a:ext cx="1458162" cy="686727"/>
            <a:chOff x="467544" y="4058925"/>
            <a:chExt cx="1944216" cy="915635"/>
          </a:xfrm>
        </p:grpSpPr>
        <p:sp>
          <p:nvSpPr>
            <p:cNvPr id="16" name="文字方塊 15"/>
            <p:cNvSpPr txBox="1"/>
            <p:nvPr/>
          </p:nvSpPr>
          <p:spPr>
            <a:xfrm>
              <a:off x="467544" y="4297452"/>
              <a:ext cx="194421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Process requests</a:t>
              </a:r>
              <a:endParaRPr lang="zh-TW" altLang="en-US" sz="135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25352" y="4058925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2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cxnSp>
        <p:nvCxnSpPr>
          <p:cNvPr id="19" name="直線單箭頭接點 18"/>
          <p:cNvCxnSpPr>
            <a:stCxn id="4" idx="2"/>
            <a:endCxn id="6" idx="0"/>
          </p:cNvCxnSpPr>
          <p:nvPr/>
        </p:nvCxnSpPr>
        <p:spPr bwMode="auto">
          <a:xfrm>
            <a:off x="3010542" y="3165816"/>
            <a:ext cx="0" cy="648072"/>
          </a:xfrm>
          <a:prstGeom prst="straightConnector1">
            <a:avLst/>
          </a:prstGeom>
          <a:ln>
            <a:solidFill>
              <a:srgbClr val="FFC000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 bwMode="auto">
          <a:xfrm>
            <a:off x="3491880" y="2895786"/>
            <a:ext cx="1296144" cy="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群組 25"/>
          <p:cNvGrpSpPr/>
          <p:nvPr/>
        </p:nvGrpSpPr>
        <p:grpSpPr>
          <a:xfrm>
            <a:off x="3386074" y="2841779"/>
            <a:ext cx="1671980" cy="595264"/>
            <a:chOff x="2738737" y="2285609"/>
            <a:chExt cx="2229307" cy="793685"/>
          </a:xfrm>
        </p:grpSpPr>
        <p:sp>
          <p:nvSpPr>
            <p:cNvPr id="27" name="文字方塊 26"/>
            <p:cNvSpPr txBox="1"/>
            <p:nvPr/>
          </p:nvSpPr>
          <p:spPr>
            <a:xfrm>
              <a:off x="2738737" y="2679185"/>
              <a:ext cx="222930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350" dirty="0"/>
                <a:t>Send back results</a:t>
              </a:r>
              <a:endParaRPr lang="zh-TW" altLang="en-US" sz="1350" dirty="0"/>
            </a:p>
          </p:txBody>
        </p:sp>
        <p:sp>
          <p:nvSpPr>
            <p:cNvPr id="28" name="矩形 27"/>
            <p:cNvSpPr/>
            <p:nvPr/>
          </p:nvSpPr>
          <p:spPr>
            <a:xfrm>
              <a:off x="2841474" y="2285609"/>
              <a:ext cx="326369" cy="477053"/>
            </a:xfrm>
            <a:prstGeom prst="rect">
              <a:avLst/>
            </a:prstGeom>
            <a:noFill/>
          </p:spPr>
          <p:txBody>
            <a:bodyPr wrap="square" lIns="68580" tIns="34290" rIns="68580" bIns="34290">
              <a:spAutoFit/>
              <a:scene3d>
                <a:camera prst="orthographicFront"/>
                <a:lightRig rig="brightRoom" dir="t"/>
              </a:scene3d>
              <a:sp3d contourW="6350" prstMaterial="plastic">
                <a:bevelT w="20320" h="20320" prst="angle"/>
                <a:contourClr>
                  <a:schemeClr val="accent1">
                    <a:tint val="100000"/>
                    <a:shade val="100000"/>
                    <a:hueMod val="100000"/>
                    <a:satMod val="100000"/>
                  </a:schemeClr>
                </a:contourClr>
              </a:sp3d>
            </a:bodyPr>
            <a:lstStyle/>
            <a:p>
              <a:pPr algn="ctr"/>
              <a:r>
                <a:rPr lang="en-US" altLang="zh-TW" sz="1875" b="1" cap="all" dirty="0">
                  <a:ln/>
                  <a:solidFill>
                    <a:schemeClr val="accent1"/>
                  </a:solidFill>
                  <a:effectLst>
                    <a:outerShdw blurRad="19685" dist="12700" dir="5400000" algn="tl" rotWithShape="0">
                      <a:schemeClr val="accent1">
                        <a:satMod val="130000"/>
                        <a:alpha val="60000"/>
                      </a:schemeClr>
                    </a:outerShdw>
                    <a:reflection blurRad="10000" stA="55000" endPos="48000" dist="500" dir="5400000" sy="-100000" algn="bl" rotWithShape="0"/>
                  </a:effectLst>
                </a:rPr>
                <a:t>3</a:t>
              </a:r>
              <a:endParaRPr lang="zh-TW" altLang="en-US" sz="1875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endParaRPr>
            </a:p>
          </p:txBody>
        </p:sp>
      </p:grpSp>
      <p:sp>
        <p:nvSpPr>
          <p:cNvPr id="29" name="矩形 28"/>
          <p:cNvSpPr/>
          <p:nvPr/>
        </p:nvSpPr>
        <p:spPr bwMode="auto">
          <a:xfrm>
            <a:off x="1277634" y="2377898"/>
            <a:ext cx="1251570" cy="7560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rgbClr val="FF0000"/>
                </a:solidFill>
                <a:latin typeface="Arial" charset="0"/>
              </a:rPr>
              <a:t>IB operation  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rgbClr val="FF0000"/>
                </a:solidFill>
                <a:latin typeface="Arial" charset="0"/>
              </a:rPr>
              <a:t>Resource Pool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(Including QP, CQ, and etc.)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5750700" y="2390169"/>
            <a:ext cx="1508669" cy="756084"/>
          </a:xfrm>
          <a:prstGeom prst="rect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Each resource has itself </a:t>
            </a:r>
            <a:r>
              <a:rPr lang="en-US" altLang="zh-TW" sz="1125" dirty="0">
                <a:solidFill>
                  <a:srgbClr val="FF0000"/>
                </a:solidFill>
                <a:latin typeface="Arial" charset="0"/>
              </a:rPr>
              <a:t>handle number </a:t>
            </a: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which as a key to get resource. 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5750700" y="2193708"/>
            <a:ext cx="1508669" cy="19646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Keep</a:t>
            </a:r>
            <a:r>
              <a:rPr lang="en-US" altLang="zh-TW" sz="1125" dirty="0">
                <a:latin typeface="Arial" charset="0"/>
              </a:rPr>
              <a:t>: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1277634" y="2181437"/>
            <a:ext cx="1251570" cy="19646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125" dirty="0">
                <a:solidFill>
                  <a:schemeClr val="tx1"/>
                </a:solidFill>
                <a:latin typeface="Arial" charset="0"/>
              </a:rPr>
              <a:t>Keep</a:t>
            </a:r>
            <a:r>
              <a:rPr lang="en-US" altLang="zh-TW" sz="1125" dirty="0">
                <a:latin typeface="Arial" charset="0"/>
              </a:rPr>
              <a:t>:</a:t>
            </a:r>
            <a:endParaRPr lang="zh-TW" altLang="en-US" sz="1125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35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000" dirty="0"/>
              <a:t>VMM-bypass Access</a:t>
            </a:r>
            <a:endParaRPr lang="zh-TW" altLang="en-US" sz="3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Communication phase</a:t>
            </a:r>
          </a:p>
          <a:p>
            <a:pPr lvl="1"/>
            <a:r>
              <a:rPr lang="en-US" altLang="zh-TW" dirty="0"/>
              <a:t>QP access</a:t>
            </a:r>
          </a:p>
          <a:p>
            <a:pPr lvl="2"/>
            <a:r>
              <a:rPr lang="en-US" altLang="zh-TW" dirty="0"/>
              <a:t>Before communication, doorbell page is mapped into address space (needs some support from </a:t>
            </a:r>
            <a:r>
              <a:rPr lang="en-US" altLang="zh-TW" dirty="0" err="1"/>
              <a:t>Xen</a:t>
            </a:r>
            <a:r>
              <a:rPr lang="en-US" altLang="zh-TW" dirty="0"/>
              <a:t>).</a:t>
            </a:r>
          </a:p>
          <a:p>
            <a:pPr lvl="2"/>
            <a:r>
              <a:rPr lang="en-US" altLang="zh-TW" dirty="0"/>
              <a:t>Put WQR in QP buffer.</a:t>
            </a:r>
          </a:p>
          <a:p>
            <a:pPr lvl="2"/>
            <a:r>
              <a:rPr lang="en-US" altLang="zh-TW" dirty="0"/>
              <a:t>Ring the doorbell. </a:t>
            </a:r>
          </a:p>
          <a:p>
            <a:r>
              <a:rPr lang="en-US" altLang="zh-TW" dirty="0"/>
              <a:t>CQ polling</a:t>
            </a:r>
          </a:p>
          <a:p>
            <a:pPr lvl="1"/>
            <a:r>
              <a:rPr lang="en-US" altLang="zh-TW" dirty="0"/>
              <a:t>Can be done directly.</a:t>
            </a:r>
          </a:p>
          <a:p>
            <a:pPr lvl="2"/>
            <a:r>
              <a:rPr lang="en-US" altLang="zh-TW" dirty="0"/>
              <a:t>Because CQ buffer is allocated in guest domain.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96854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Event Handling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Event handling</a:t>
            </a:r>
          </a:p>
          <a:p>
            <a:pPr lvl="1"/>
            <a:r>
              <a:rPr lang="en-US" altLang="zh-TW" dirty="0"/>
              <a:t>Each domain has a set of end-points(or ports) which may be bounded to an event source.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When a pair of end-points in two domains are bound together, a “send” operation on one side will cause </a:t>
            </a:r>
          </a:p>
          <a:p>
            <a:pPr lvl="2"/>
            <a:r>
              <a:rPr lang="en-US" altLang="zh-TW" dirty="0"/>
              <a:t>An event to be received by the destination domain</a:t>
            </a:r>
          </a:p>
          <a:p>
            <a:pPr lvl="2"/>
            <a:r>
              <a:rPr lang="en-US" altLang="zh-TW" dirty="0"/>
              <a:t>In turn, cause an interrupt. </a:t>
            </a:r>
          </a:p>
        </p:txBody>
      </p:sp>
    </p:spTree>
    <p:extLst>
      <p:ext uri="{BB962C8B-B14F-4D97-AF65-F5344CB8AC3E}">
        <p14:creationId xmlns:p14="http://schemas.microsoft.com/office/powerpoint/2010/main" val="26095448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 Handling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CQ, QP Event handling</a:t>
            </a:r>
          </a:p>
          <a:p>
            <a:pPr lvl="1"/>
            <a:r>
              <a:rPr lang="en-US" altLang="zh-TW" dirty="0"/>
              <a:t>Uses a dedicated device channel (</a:t>
            </a:r>
            <a:r>
              <a:rPr lang="en-US" altLang="zh-TW" dirty="0" err="1"/>
              <a:t>Xen</a:t>
            </a:r>
            <a:r>
              <a:rPr lang="en-US" altLang="zh-TW" dirty="0"/>
              <a:t> event channel + shared memory)</a:t>
            </a:r>
          </a:p>
          <a:p>
            <a:pPr lvl="1"/>
            <a:r>
              <a:rPr lang="da-DK" altLang="zh-TW" dirty="0"/>
              <a:t>Special event handler registered at back-end for </a:t>
            </a:r>
            <a:r>
              <a:rPr lang="en-US" altLang="zh-TW" dirty="0"/>
              <a:t>CQs/QPs in guest domains</a:t>
            </a:r>
          </a:p>
          <a:p>
            <a:pPr lvl="2"/>
            <a:r>
              <a:rPr lang="en-US" altLang="zh-TW" dirty="0"/>
              <a:t>Forwards events to front-end</a:t>
            </a:r>
          </a:p>
          <a:p>
            <a:pPr lvl="2"/>
            <a:r>
              <a:rPr lang="en-US" altLang="zh-TW" dirty="0"/>
              <a:t>Raise a virtual interrupt</a:t>
            </a:r>
          </a:p>
          <a:p>
            <a:pPr lvl="1"/>
            <a:r>
              <a:rPr lang="en-US" altLang="zh-TW" dirty="0"/>
              <a:t>Guest domain event handler called through interrupt handler</a:t>
            </a:r>
          </a:p>
        </p:txBody>
      </p:sp>
    </p:spTree>
    <p:extLst>
      <p:ext uri="{BB962C8B-B14F-4D97-AF65-F5344CB8AC3E}">
        <p14:creationId xmlns:p14="http://schemas.microsoft.com/office/powerpoint/2010/main" val="34923090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Case study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VMM-Bypass I/O</a:t>
            </a:r>
          </a:p>
          <a:p>
            <a:r>
              <a:rPr lang="en-US" altLang="zh-TW" dirty="0"/>
              <a:t>Single Root I/O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761584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 Overview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SR-IOV (Single Root I/O Virtualization) is a specification that is able to allow a PCI Express device appears to be multiple physical PCI Express devices. </a:t>
            </a:r>
          </a:p>
          <a:p>
            <a:pPr lvl="1"/>
            <a:r>
              <a:rPr lang="en-US" altLang="zh-TW" dirty="0"/>
              <a:t>Allows an I/O device to be shared by multiple Virtual Machines(VMs).</a:t>
            </a:r>
          </a:p>
          <a:p>
            <a:r>
              <a:rPr lang="en-US" altLang="zh-TW" dirty="0"/>
              <a:t>SR-IOV needs support from BIOS and operating system or hypervisor.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55610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SR-IOV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There are two kinds of functions: </a:t>
            </a:r>
          </a:p>
          <a:p>
            <a:pPr lvl="1"/>
            <a:r>
              <a:rPr lang="en-US" altLang="zh-TW" dirty="0"/>
              <a:t>Physical functions (PFs)</a:t>
            </a:r>
          </a:p>
          <a:p>
            <a:pPr lvl="2"/>
            <a:r>
              <a:rPr lang="en-US" altLang="zh-TW" dirty="0"/>
              <a:t>Have full configuration resources such as discovery, management and manipulation </a:t>
            </a:r>
          </a:p>
          <a:p>
            <a:pPr lvl="1"/>
            <a:r>
              <a:rPr lang="en-US" altLang="zh-TW" dirty="0"/>
              <a:t>Virtual functions (VFs)</a:t>
            </a:r>
          </a:p>
          <a:p>
            <a:pPr lvl="2"/>
            <a:r>
              <a:rPr lang="en-US" altLang="zh-TW" dirty="0"/>
              <a:t>Viewed as “light weighted” </a:t>
            </a:r>
            <a:r>
              <a:rPr lang="en-US" altLang="zh-TW" dirty="0" err="1"/>
              <a:t>PCIe</a:t>
            </a:r>
            <a:r>
              <a:rPr lang="en-US" altLang="zh-TW" dirty="0"/>
              <a:t> function.</a:t>
            </a:r>
          </a:p>
          <a:p>
            <a:pPr lvl="2"/>
            <a:r>
              <a:rPr lang="en-US" altLang="zh-TW" dirty="0"/>
              <a:t>Have only the ability to move data in and out of devices. </a:t>
            </a:r>
          </a:p>
          <a:p>
            <a:r>
              <a:rPr lang="en-US" altLang="zh-TW" dirty="0"/>
              <a:t>SR-IOV specification shows that each device can have up to 256 VFs.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90685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3140106" cy="33944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Hardware controlled by privileged  software through PF.</a:t>
            </a:r>
          </a:p>
          <a:p>
            <a:r>
              <a:rPr lang="en-US" altLang="zh-TW" dirty="0"/>
              <a:t>VF contain minimum replicated resources</a:t>
            </a:r>
          </a:p>
          <a:p>
            <a:pPr lvl="1"/>
            <a:r>
              <a:rPr lang="en-US" altLang="zh-TW" dirty="0"/>
              <a:t>Minimum configure space</a:t>
            </a:r>
          </a:p>
          <a:p>
            <a:pPr lvl="1"/>
            <a:r>
              <a:rPr lang="en-US" altLang="zh-TW" dirty="0"/>
              <a:t>MMIO for direct communication.</a:t>
            </a:r>
          </a:p>
          <a:p>
            <a:pPr lvl="1"/>
            <a:r>
              <a:rPr lang="en-US" altLang="zh-TW" dirty="0"/>
              <a:t>RID for DMA traffic index.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12" y="1329612"/>
            <a:ext cx="3135153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82168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  <a:p>
            <a:pPr lvl="1"/>
            <a:r>
              <a:rPr lang="en-US" altLang="zh-TW" dirty="0"/>
              <a:t>Transfer the received data to the right VF</a:t>
            </a:r>
          </a:p>
          <a:p>
            <a:r>
              <a:rPr lang="en-US" altLang="zh-TW" dirty="0"/>
              <a:t>Shared port</a:t>
            </a:r>
          </a:p>
          <a:p>
            <a:pPr lvl="1"/>
            <a:r>
              <a:rPr lang="en-US" altLang="zh-TW" dirty="0"/>
              <a:t>The port on the HCA is shared between PFs and VFs.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441" y="2787774"/>
            <a:ext cx="2791243" cy="1890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972" y="2810340"/>
            <a:ext cx="2902370" cy="1845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1721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Virtual Switch</a:t>
            </a:r>
          </a:p>
          <a:p>
            <a:pPr lvl="1"/>
            <a:r>
              <a:rPr lang="en-US" altLang="zh-TW" dirty="0"/>
              <a:t>Each VF acts as a complete HCA.</a:t>
            </a:r>
          </a:p>
          <a:p>
            <a:pPr lvl="2"/>
            <a:r>
              <a:rPr lang="en-US" altLang="zh-TW" dirty="0"/>
              <a:t>Has unique port (LID, GID Table, and </a:t>
            </a:r>
            <a:r>
              <a:rPr lang="en-US" altLang="zh-TW" dirty="0" err="1"/>
              <a:t>etc</a:t>
            </a:r>
            <a:r>
              <a:rPr lang="en-US" altLang="zh-TW" dirty="0"/>
              <a:t>).	</a:t>
            </a:r>
          </a:p>
          <a:p>
            <a:pPr lvl="2"/>
            <a:r>
              <a:rPr lang="en-US" altLang="zh-TW" dirty="0"/>
              <a:t>Owns management QP0 and QP1.</a:t>
            </a:r>
          </a:p>
          <a:p>
            <a:pPr lvl="1"/>
            <a:r>
              <a:rPr lang="en-US" altLang="zh-TW" dirty="0"/>
              <a:t>Network sees the VFs behind the virtual switch as the multiple HCA.</a:t>
            </a:r>
          </a:p>
          <a:p>
            <a:r>
              <a:rPr lang="en-US" altLang="zh-TW" dirty="0"/>
              <a:t>Shared port</a:t>
            </a:r>
          </a:p>
          <a:p>
            <a:pPr lvl="1"/>
            <a:r>
              <a:rPr lang="en-US" altLang="zh-TW" dirty="0"/>
              <a:t>Single port shared by all VFs.</a:t>
            </a:r>
          </a:p>
          <a:p>
            <a:pPr lvl="2"/>
            <a:r>
              <a:rPr lang="en-US" altLang="zh-TW" dirty="0"/>
              <a:t>Each VF uses unique GID.</a:t>
            </a:r>
          </a:p>
          <a:p>
            <a:pPr lvl="1"/>
            <a:r>
              <a:rPr lang="en-US" altLang="zh-TW" dirty="0"/>
              <a:t>Network sees a single HCA.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30593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Shared port</a:t>
            </a:r>
          </a:p>
          <a:p>
            <a:pPr lvl="1"/>
            <a:r>
              <a:rPr lang="en-US" altLang="zh-TW" dirty="0"/>
              <a:t>Multiple unicast GIDs</a:t>
            </a:r>
          </a:p>
          <a:p>
            <a:pPr lvl="2"/>
            <a:r>
              <a:rPr lang="en-US" altLang="zh-TW" dirty="0">
                <a:solidFill>
                  <a:srgbClr val="002060"/>
                </a:solidFill>
              </a:rPr>
              <a:t>Generated by PF driver before port is initialized.</a:t>
            </a:r>
          </a:p>
          <a:p>
            <a:pPr lvl="2"/>
            <a:r>
              <a:rPr lang="en-US" altLang="zh-TW" dirty="0">
                <a:solidFill>
                  <a:srgbClr val="002060"/>
                </a:solidFill>
              </a:rPr>
              <a:t>Discovered by SM.</a:t>
            </a:r>
          </a:p>
          <a:p>
            <a:pPr lvl="3"/>
            <a:r>
              <a:rPr lang="en-US" altLang="zh-TW" dirty="0"/>
              <a:t>Each VF sees only a unique subset assigned to it.</a:t>
            </a:r>
          </a:p>
          <a:p>
            <a:pPr lvl="1"/>
            <a:r>
              <a:rPr lang="en-US" altLang="zh-TW" dirty="0" err="1"/>
              <a:t>Pkeys</a:t>
            </a:r>
            <a:r>
              <a:rPr lang="en-US" altLang="zh-TW" dirty="0"/>
              <a:t>, index for operation domain partition, managed by PF</a:t>
            </a:r>
          </a:p>
          <a:p>
            <a:pPr lvl="2"/>
            <a:r>
              <a:rPr lang="en-US" altLang="zh-TW" dirty="0">
                <a:solidFill>
                  <a:srgbClr val="002060"/>
                </a:solidFill>
              </a:rPr>
              <a:t>Controls which </a:t>
            </a:r>
            <a:r>
              <a:rPr lang="en-US" altLang="zh-TW" dirty="0" err="1">
                <a:solidFill>
                  <a:srgbClr val="002060"/>
                </a:solidFill>
              </a:rPr>
              <a:t>Pkeys</a:t>
            </a:r>
            <a:r>
              <a:rPr lang="en-US" altLang="zh-TW" dirty="0">
                <a:solidFill>
                  <a:srgbClr val="002060"/>
                </a:solidFill>
              </a:rPr>
              <a:t> are visible to which VF.</a:t>
            </a:r>
          </a:p>
          <a:p>
            <a:pPr lvl="2"/>
            <a:r>
              <a:rPr lang="en-US" altLang="zh-TW" dirty="0">
                <a:solidFill>
                  <a:srgbClr val="002060"/>
                </a:solidFill>
              </a:rPr>
              <a:t>Enforced during QP transitions.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95273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Shared port</a:t>
            </a:r>
          </a:p>
          <a:p>
            <a:pPr lvl="1"/>
            <a:r>
              <a:rPr lang="en-US" altLang="zh-TW" dirty="0"/>
              <a:t>QP0 owned by PF</a:t>
            </a:r>
          </a:p>
          <a:p>
            <a:pPr lvl="2"/>
            <a:r>
              <a:rPr lang="en-US" altLang="zh-TW" dirty="0"/>
              <a:t>VFs have a QP0, but it is a “black hole”.</a:t>
            </a:r>
          </a:p>
          <a:p>
            <a:pPr lvl="3"/>
            <a:r>
              <a:rPr lang="en-US" altLang="zh-TW" dirty="0"/>
              <a:t>Implies that only PF can run SM.</a:t>
            </a:r>
          </a:p>
          <a:p>
            <a:pPr lvl="1"/>
            <a:r>
              <a:rPr lang="en-US" altLang="zh-TW" dirty="0"/>
              <a:t>QP1 managed by PF</a:t>
            </a:r>
          </a:p>
          <a:p>
            <a:pPr lvl="2"/>
            <a:r>
              <a:rPr lang="en-US" altLang="zh-TW" dirty="0"/>
              <a:t>VFs have a QP1, but all Management Datagram traffic is tunneled through the PF.</a:t>
            </a:r>
          </a:p>
          <a:p>
            <a:pPr lvl="1"/>
            <a:r>
              <a:rPr lang="en-US" altLang="zh-TW" dirty="0"/>
              <a:t>Shared Queue Pair Number(QPN) space</a:t>
            </a:r>
          </a:p>
          <a:p>
            <a:pPr lvl="2"/>
            <a:r>
              <a:rPr lang="en-US" altLang="zh-TW" dirty="0"/>
              <a:t>Traffic multiplexed by QPN as usual.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8551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Mellanox</a:t>
            </a:r>
            <a:r>
              <a:rPr lang="zh-TW" altLang="en-US" dirty="0"/>
              <a:t> </a:t>
            </a:r>
            <a:r>
              <a:rPr lang="en-US" altLang="zh-TW" dirty="0"/>
              <a:t>Driver Stack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631" y="1437625"/>
            <a:ext cx="5150644" cy="3250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2789802" y="3435846"/>
            <a:ext cx="3132348" cy="86409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TW" altLang="en-US" sz="135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072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ConnectX2 Support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Functions contain ─</a:t>
            </a:r>
          </a:p>
          <a:p>
            <a:pPr lvl="1"/>
            <a:r>
              <a:rPr lang="en-US" altLang="zh-TW" dirty="0"/>
              <a:t>Multiple PFs and VFs.</a:t>
            </a:r>
          </a:p>
          <a:p>
            <a:pPr lvl="1"/>
            <a:r>
              <a:rPr lang="en-US" altLang="zh-TW" dirty="0"/>
              <a:t>Practically unlimited hardware resources.</a:t>
            </a:r>
          </a:p>
          <a:p>
            <a:pPr lvl="2"/>
            <a:r>
              <a:rPr lang="en-US" altLang="zh-TW" dirty="0"/>
              <a:t>QPs, CQs, SRQs, Memory regions, Protection domains</a:t>
            </a:r>
          </a:p>
          <a:p>
            <a:pPr lvl="2"/>
            <a:r>
              <a:rPr lang="en-US" altLang="zh-TW" dirty="0"/>
              <a:t>Dynamically assigned to VFs upon request.</a:t>
            </a:r>
          </a:p>
          <a:p>
            <a:pPr lvl="1"/>
            <a:r>
              <a:rPr lang="en-US" altLang="zh-TW" dirty="0"/>
              <a:t>Hardware communication channel</a:t>
            </a:r>
          </a:p>
          <a:p>
            <a:pPr lvl="2"/>
            <a:r>
              <a:rPr lang="en-US" altLang="zh-TW" dirty="0"/>
              <a:t>For every VF, the PF can </a:t>
            </a:r>
          </a:p>
          <a:p>
            <a:pPr lvl="3"/>
            <a:r>
              <a:rPr lang="en-US" altLang="zh-TW" dirty="0"/>
              <a:t>Exchange control information</a:t>
            </a:r>
          </a:p>
          <a:p>
            <a:pPr lvl="3"/>
            <a:r>
              <a:rPr lang="en-US" altLang="zh-TW" dirty="0"/>
              <a:t>DMA to/from guest address space</a:t>
            </a:r>
          </a:p>
          <a:p>
            <a:pPr lvl="2"/>
            <a:r>
              <a:rPr lang="en-US" altLang="zh-TW" dirty="0"/>
              <a:t>Hypervisor independent</a:t>
            </a:r>
          </a:p>
          <a:p>
            <a:pPr lvl="3"/>
            <a:r>
              <a:rPr lang="en-US" altLang="zh-TW" dirty="0"/>
              <a:t>Same code for Linux/KVM/</a:t>
            </a:r>
            <a:r>
              <a:rPr lang="en-US" altLang="zh-TW" dirty="0" err="1"/>
              <a:t>Xen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22573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Arial" charset="0"/>
                <a:cs typeface="Arial" charset="0"/>
              </a:rPr>
              <a:t>ConnectX2 Driver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2573778" y="2295432"/>
            <a:ext cx="1080120" cy="972108"/>
            <a:chOff x="1547664" y="3356992"/>
            <a:chExt cx="1440160" cy="1296144"/>
          </a:xfrm>
        </p:grpSpPr>
        <p:grpSp>
          <p:nvGrpSpPr>
            <p:cNvPr id="9" name="群組 8"/>
            <p:cNvGrpSpPr/>
            <p:nvPr/>
          </p:nvGrpSpPr>
          <p:grpSpPr>
            <a:xfrm>
              <a:off x="1547664" y="3356992"/>
              <a:ext cx="1440160" cy="1296144"/>
              <a:chOff x="1835696" y="3356992"/>
              <a:chExt cx="1440160" cy="1296144"/>
            </a:xfrm>
          </p:grpSpPr>
          <p:sp>
            <p:nvSpPr>
              <p:cNvPr id="4" name="矩形 3"/>
              <p:cNvSpPr/>
              <p:nvPr/>
            </p:nvSpPr>
            <p:spPr bwMode="auto">
              <a:xfrm>
                <a:off x="1835696" y="3356992"/>
                <a:ext cx="1440160" cy="12961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mlx4_core module</a:t>
                </a:r>
                <a:endParaRPr lang="zh-TW" altLang="en-US" sz="135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 bwMode="auto">
              <a:xfrm>
                <a:off x="1835696" y="3356992"/>
                <a:ext cx="1440160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bg1"/>
                    </a:solidFill>
                    <a:latin typeface="Arial" charset="0"/>
                  </a:rPr>
                  <a:t>PF</a:t>
                </a:r>
                <a:endParaRPr lang="zh-TW" altLang="en-US" sz="1350" dirty="0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13" name="矩形 12"/>
            <p:cNvSpPr/>
            <p:nvPr/>
          </p:nvSpPr>
          <p:spPr bwMode="auto">
            <a:xfrm>
              <a:off x="1547664" y="3717032"/>
              <a:ext cx="792088" cy="28803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750" dirty="0">
                  <a:solidFill>
                    <a:schemeClr val="tx1"/>
                  </a:solidFill>
                  <a:latin typeface="Arial" charset="0"/>
                </a:rPr>
                <a:t>Device ID</a:t>
              </a:r>
              <a:endParaRPr lang="zh-TW" altLang="en-US" sz="750" dirty="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023675" y="2295432"/>
            <a:ext cx="1080120" cy="972108"/>
            <a:chOff x="4932040" y="3356992"/>
            <a:chExt cx="1440160" cy="1296144"/>
          </a:xfrm>
        </p:grpSpPr>
        <p:grpSp>
          <p:nvGrpSpPr>
            <p:cNvPr id="10" name="群組 9"/>
            <p:cNvGrpSpPr/>
            <p:nvPr/>
          </p:nvGrpSpPr>
          <p:grpSpPr>
            <a:xfrm>
              <a:off x="4932040" y="3356992"/>
              <a:ext cx="1440160" cy="1296144"/>
              <a:chOff x="1835696" y="3356992"/>
              <a:chExt cx="1440160" cy="1296144"/>
            </a:xfrm>
          </p:grpSpPr>
          <p:sp>
            <p:nvSpPr>
              <p:cNvPr id="11" name="矩形 10"/>
              <p:cNvSpPr/>
              <p:nvPr/>
            </p:nvSpPr>
            <p:spPr bwMode="auto">
              <a:xfrm>
                <a:off x="1835696" y="3356992"/>
                <a:ext cx="1440160" cy="12961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TW" sz="1350" dirty="0">
                  <a:solidFill>
                    <a:schemeClr val="tx1"/>
                  </a:solidFill>
                  <a:latin typeface="Arial" charset="0"/>
                </a:endParaRP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tx1"/>
                    </a:solidFill>
                    <a:latin typeface="Arial" charset="0"/>
                  </a:rPr>
                  <a:t>mlx4_core module</a:t>
                </a:r>
                <a:endParaRPr lang="zh-TW" altLang="en-US" sz="135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 bwMode="auto">
              <a:xfrm>
                <a:off x="1835696" y="3356992"/>
                <a:ext cx="1440160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solidFill>
                      <a:schemeClr val="bg1"/>
                    </a:solidFill>
                    <a:latin typeface="Arial" charset="0"/>
                  </a:rPr>
                  <a:t>VF</a:t>
                </a:r>
                <a:endParaRPr lang="zh-TW" altLang="en-US" sz="1350" dirty="0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14" name="矩形 13"/>
            <p:cNvSpPr/>
            <p:nvPr/>
          </p:nvSpPr>
          <p:spPr bwMode="auto">
            <a:xfrm>
              <a:off x="4932040" y="3725416"/>
              <a:ext cx="792088" cy="28803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750" dirty="0">
                  <a:solidFill>
                    <a:schemeClr val="tx1"/>
                  </a:solidFill>
                  <a:latin typeface="Arial" charset="0"/>
                </a:rPr>
                <a:t>Device ID</a:t>
              </a:r>
              <a:endParaRPr lang="zh-TW" altLang="en-US" sz="750" dirty="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17" name="圓角矩形 16"/>
          <p:cNvSpPr/>
          <p:nvPr/>
        </p:nvSpPr>
        <p:spPr bwMode="auto">
          <a:xfrm>
            <a:off x="6098927" y="2301720"/>
            <a:ext cx="1566174" cy="97210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050" dirty="0">
                <a:latin typeface="Arial" charset="0"/>
              </a:rPr>
              <a:t>Have</a:t>
            </a:r>
          </a:p>
          <a:p>
            <a:pPr marL="214313" indent="-214313" defTabSz="6858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en-US" altLang="zh-TW" sz="1050" dirty="0">
                <a:latin typeface="Arial" charset="0"/>
              </a:rPr>
              <a:t>UARs</a:t>
            </a:r>
          </a:p>
          <a:p>
            <a:pPr marL="214313" indent="-2143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en-US" altLang="zh-TW" sz="1050" dirty="0">
                <a:latin typeface="Arial" charset="0"/>
              </a:rPr>
              <a:t>Protection Domain</a:t>
            </a:r>
          </a:p>
          <a:p>
            <a:pPr marL="214313" indent="-2143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en-US" altLang="zh-TW" sz="1050" dirty="0">
                <a:solidFill>
                  <a:schemeClr val="tx1"/>
                </a:solidFill>
                <a:latin typeface="Arial" charset="0"/>
              </a:rPr>
              <a:t>Element Queue</a:t>
            </a:r>
          </a:p>
          <a:p>
            <a:pPr marL="214313" lvl="1" indent="-214313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l"/>
            </a:pPr>
            <a:r>
              <a:rPr lang="en-US" altLang="zh-TW" sz="1050" dirty="0">
                <a:latin typeface="Arial" charset="0"/>
              </a:rPr>
              <a:t>MSI-X vectors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sz="10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195736" y="3966018"/>
            <a:ext cx="1836204" cy="5400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350" dirty="0">
                <a:solidFill>
                  <a:schemeClr val="tx1"/>
                </a:solidFill>
                <a:latin typeface="Arial" charset="0"/>
              </a:rPr>
              <a:t>ConnextX2 Device</a:t>
            </a:r>
            <a:endParaRPr lang="zh-TW" altLang="en-US" sz="135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661962" y="2298534"/>
            <a:ext cx="136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/>
              <a:t>Hands off Firmware Command and resource allocation of VM</a:t>
            </a:r>
          </a:p>
        </p:txBody>
      </p:sp>
      <p:cxnSp>
        <p:nvCxnSpPr>
          <p:cNvPr id="23" name="直線單箭頭接點 22"/>
          <p:cNvCxnSpPr/>
          <p:nvPr/>
        </p:nvCxnSpPr>
        <p:spPr bwMode="auto">
          <a:xfrm>
            <a:off x="3653898" y="2617858"/>
            <a:ext cx="1369777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18" idx="0"/>
          </p:cNvCxnSpPr>
          <p:nvPr/>
        </p:nvCxnSpPr>
        <p:spPr bwMode="auto">
          <a:xfrm>
            <a:off x="3113838" y="3267540"/>
            <a:ext cx="0" cy="69847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1757180" y="3456688"/>
            <a:ext cx="140210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25" dirty="0"/>
              <a:t>Allocates resources</a:t>
            </a: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>
            <a:off x="3653898" y="3055734"/>
            <a:ext cx="1369777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621571" y="3066079"/>
            <a:ext cx="1402104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25" dirty="0"/>
              <a:t>Accepts VF command and executes</a:t>
            </a:r>
          </a:p>
        </p:txBody>
      </p:sp>
      <p:sp>
        <p:nvSpPr>
          <p:cNvPr id="35" name="圓角矩形 34"/>
          <p:cNvSpPr/>
          <p:nvPr/>
        </p:nvSpPr>
        <p:spPr bwMode="auto">
          <a:xfrm>
            <a:off x="1270099" y="2295432"/>
            <a:ext cx="1303679" cy="97210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050" dirty="0">
                <a:solidFill>
                  <a:schemeClr val="tx1"/>
                </a:solidFill>
                <a:latin typeface="Arial" charset="0"/>
              </a:rPr>
              <a:t>Main Work</a:t>
            </a:r>
            <a:r>
              <a:rPr lang="zh-TW" altLang="en-US" sz="1050" dirty="0">
                <a:solidFill>
                  <a:schemeClr val="tx1"/>
                </a:solidFill>
                <a:latin typeface="Arial" charset="0"/>
              </a:rPr>
              <a:t>：</a:t>
            </a:r>
            <a:endParaRPr lang="en-US" altLang="zh-TW" sz="1050" dirty="0">
              <a:solidFill>
                <a:schemeClr val="tx1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050" dirty="0">
                <a:solidFill>
                  <a:schemeClr val="tx1"/>
                </a:solidFill>
                <a:latin typeface="Arial" charset="0"/>
              </a:rPr>
              <a:t>Para-virtualize shared resources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TW" sz="1050" dirty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42" name="群組 41"/>
          <p:cNvGrpSpPr/>
          <p:nvPr/>
        </p:nvGrpSpPr>
        <p:grpSpPr>
          <a:xfrm>
            <a:off x="2573778" y="1653648"/>
            <a:ext cx="3530017" cy="641784"/>
            <a:chOff x="1907704" y="2204864"/>
            <a:chExt cx="4706689" cy="855712"/>
          </a:xfrm>
        </p:grpSpPr>
        <p:sp>
          <p:nvSpPr>
            <p:cNvPr id="36" name="矩形 35"/>
            <p:cNvSpPr/>
            <p:nvPr/>
          </p:nvSpPr>
          <p:spPr bwMode="auto">
            <a:xfrm>
              <a:off x="1907704" y="2204864"/>
              <a:ext cx="4700199" cy="85571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350" dirty="0">
                  <a:solidFill>
                    <a:schemeClr val="tx1"/>
                  </a:solidFill>
                  <a:latin typeface="Arial" charset="0"/>
                </a:rPr>
                <a:t>Same Interface driver</a:t>
              </a:r>
              <a:r>
                <a:rPr lang="zh-TW" altLang="en-US" sz="1350" dirty="0">
                  <a:solidFill>
                    <a:schemeClr val="tx1"/>
                  </a:solidFill>
                  <a:latin typeface="Arial" charset="0"/>
                </a:rPr>
                <a:t>─</a:t>
              </a:r>
              <a:endParaRPr lang="en-US" altLang="zh-TW" sz="1350" dirty="0">
                <a:solidFill>
                  <a:schemeClr val="tx1"/>
                </a:solidFill>
                <a:latin typeface="Arial" charset="0"/>
              </a:endParaRPr>
            </a:p>
          </p:txBody>
        </p:sp>
        <p:grpSp>
          <p:nvGrpSpPr>
            <p:cNvPr id="41" name="群組 40"/>
            <p:cNvGrpSpPr/>
            <p:nvPr/>
          </p:nvGrpSpPr>
          <p:grpSpPr>
            <a:xfrm>
              <a:off x="1907704" y="2564195"/>
              <a:ext cx="4706689" cy="495672"/>
              <a:chOff x="1907704" y="2564195"/>
              <a:chExt cx="4706689" cy="495672"/>
            </a:xfrm>
          </p:grpSpPr>
          <p:sp>
            <p:nvSpPr>
              <p:cNvPr id="37" name="矩形 36"/>
              <p:cNvSpPr/>
              <p:nvPr/>
            </p:nvSpPr>
            <p:spPr bwMode="auto">
              <a:xfrm>
                <a:off x="3428420" y="2564195"/>
                <a:ext cx="1575628" cy="49567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latin typeface="Arial" charset="0"/>
                    <a:cs typeface="Arial" charset="0"/>
                  </a:rPr>
                  <a:t>mlx4_ib</a:t>
                </a:r>
                <a:endParaRPr lang="zh-TW" altLang="en-US" sz="135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 bwMode="auto">
              <a:xfrm>
                <a:off x="1907704" y="2564195"/>
                <a:ext cx="1520716" cy="49567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latin typeface="Arial" charset="0"/>
                    <a:cs typeface="Arial" charset="0"/>
                  </a:rPr>
                  <a:t>mlx4_en</a:t>
                </a:r>
                <a:endParaRPr lang="zh-TW" altLang="en-US" sz="135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 bwMode="auto">
              <a:xfrm>
                <a:off x="5010538" y="2564195"/>
                <a:ext cx="1603855" cy="49567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sz="1350" dirty="0">
                    <a:latin typeface="Arial" charset="0"/>
                    <a:cs typeface="Arial" charset="0"/>
                  </a:rPr>
                  <a:t>mlx4_fc</a:t>
                </a:r>
                <a:endParaRPr lang="zh-TW" altLang="en-US" sz="1350" dirty="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092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/>
      <p:bldP spid="31" grpId="0"/>
      <p:bldP spid="34" grpId="0"/>
      <p:bldP spid="3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Arial" charset="0"/>
                <a:cs typeface="Arial" charset="0"/>
              </a:rPr>
              <a:t>ConnectX2 Driver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defTabSz="685800">
              <a:lnSpc>
                <a:spcPct val="80000"/>
              </a:lnSpc>
            </a:pPr>
            <a:r>
              <a:rPr lang="en-US" altLang="zh-TW" dirty="0"/>
              <a:t>PF/VF partitioning at mlx4_core module 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Same driver for PF/VF, but with different works.</a:t>
            </a:r>
          </a:p>
          <a:p>
            <a:pPr lvl="1" defTabSz="685800">
              <a:lnSpc>
                <a:spcPct val="80000"/>
              </a:lnSpc>
            </a:pPr>
            <a:r>
              <a:rPr lang="en-US" altLang="zh-TW" dirty="0"/>
              <a:t>Core driver is identified by Device ID.</a:t>
            </a:r>
          </a:p>
          <a:p>
            <a:pPr lvl="1" defTabSz="685800">
              <a:lnSpc>
                <a:spcPct val="80000"/>
              </a:lnSpc>
            </a:pPr>
            <a:endParaRPr lang="en-US" altLang="zh-TW" sz="1350" dirty="0">
              <a:latin typeface="Arial" charset="0"/>
              <a:cs typeface="Arial" charset="0"/>
            </a:endParaRPr>
          </a:p>
          <a:p>
            <a:pPr>
              <a:lnSpc>
                <a:spcPct val="80000"/>
              </a:lnSpc>
            </a:pPr>
            <a:r>
              <a:rPr lang="en-US" altLang="zh-TW" dirty="0"/>
              <a:t>VF work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Have its User Access Regions, Protection Domain, Element Queue, and MSI-X vectors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Handle firmware commands and resource allocation to PF</a:t>
            </a:r>
          </a:p>
          <a:p>
            <a:pPr lvl="1">
              <a:lnSpc>
                <a:spcPct val="90000"/>
              </a:lnSpc>
            </a:pPr>
            <a:endParaRPr lang="en-US" altLang="zh-TW" dirty="0"/>
          </a:p>
          <a:p>
            <a:pPr>
              <a:lnSpc>
                <a:spcPct val="80000"/>
              </a:lnSpc>
            </a:pPr>
            <a:r>
              <a:rPr lang="en-US" altLang="zh-TW" dirty="0"/>
              <a:t>PF work</a:t>
            </a:r>
          </a:p>
          <a:p>
            <a:pPr lvl="1" defTabSz="685800">
              <a:lnSpc>
                <a:spcPct val="80000"/>
              </a:lnSpc>
            </a:pPr>
            <a:r>
              <a:rPr lang="en-US" altLang="zh-TW" dirty="0"/>
              <a:t>Allocates resources</a:t>
            </a:r>
          </a:p>
          <a:p>
            <a:pPr lvl="1" defTabSz="685800">
              <a:lnSpc>
                <a:spcPct val="80000"/>
              </a:lnSpc>
            </a:pPr>
            <a:r>
              <a:rPr lang="en-US" altLang="zh-TW" dirty="0"/>
              <a:t>Executes VF commands in a secure way</a:t>
            </a:r>
          </a:p>
          <a:p>
            <a:pPr lvl="1" defTabSz="685800">
              <a:lnSpc>
                <a:spcPct val="80000"/>
              </a:lnSpc>
            </a:pPr>
            <a:r>
              <a:rPr lang="en-US" altLang="zh-TW" dirty="0"/>
              <a:t>Para-virtualizes shared resources</a:t>
            </a:r>
          </a:p>
          <a:p>
            <a:pPr lvl="1" defTabSz="685800">
              <a:lnSpc>
                <a:spcPct val="80000"/>
              </a:lnSpc>
            </a:pPr>
            <a:endParaRPr lang="en-US" altLang="zh-TW" sz="1350" dirty="0">
              <a:latin typeface="Arial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/>
              <a:t>Interface drivers (mlx4_ib/en/fc) unchanged</a:t>
            </a:r>
          </a:p>
          <a:p>
            <a:pPr lvl="1">
              <a:lnSpc>
                <a:spcPct val="80000"/>
              </a:lnSpc>
            </a:pPr>
            <a:r>
              <a:rPr lang="en-US" altLang="zh-TW" dirty="0"/>
              <a:t>Implies IB, </a:t>
            </a:r>
            <a:r>
              <a:rPr lang="en-US" altLang="zh-TW" dirty="0" err="1"/>
              <a:t>RoCEE</a:t>
            </a:r>
            <a:r>
              <a:rPr lang="en-US" altLang="zh-TW" dirty="0"/>
              <a:t>, </a:t>
            </a:r>
            <a:r>
              <a:rPr lang="en-US" altLang="zh-TW" dirty="0" err="1"/>
              <a:t>vHBA</a:t>
            </a:r>
            <a:r>
              <a:rPr lang="en-US" altLang="zh-TW" dirty="0"/>
              <a:t> (</a:t>
            </a:r>
            <a:r>
              <a:rPr lang="en-US" altLang="zh-TW" dirty="0" err="1"/>
              <a:t>FCoIB</a:t>
            </a:r>
            <a:r>
              <a:rPr lang="en-US" altLang="zh-TW" dirty="0"/>
              <a:t> / </a:t>
            </a:r>
            <a:r>
              <a:rPr lang="en-US" altLang="zh-TW" dirty="0" err="1"/>
              <a:t>FCoE</a:t>
            </a:r>
            <a:r>
              <a:rPr lang="en-US" altLang="zh-TW" dirty="0"/>
              <a:t>) and </a:t>
            </a:r>
            <a:r>
              <a:rPr lang="en-US" altLang="zh-TW" dirty="0" err="1"/>
              <a:t>vNIC</a:t>
            </a:r>
            <a:r>
              <a:rPr lang="en-US" altLang="zh-TW" dirty="0"/>
              <a:t> (</a:t>
            </a:r>
            <a:r>
              <a:rPr lang="en-US" altLang="zh-TW" dirty="0" err="1"/>
              <a:t>EoIB</a:t>
            </a:r>
            <a:r>
              <a:rPr lang="en-US" altLang="zh-TW" dirty="0"/>
              <a:t>)</a:t>
            </a:r>
          </a:p>
          <a:p>
            <a:pPr lvl="1">
              <a:lnSpc>
                <a:spcPct val="80000"/>
              </a:lnSpc>
            </a:pPr>
            <a:endParaRPr lang="en-US" altLang="zh-TW" sz="1350" dirty="0">
              <a:solidFill>
                <a:srgbClr val="00206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8414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Xen</a:t>
            </a:r>
            <a:r>
              <a:rPr lang="en-US" altLang="zh-TW" dirty="0"/>
              <a:t> SRIOV SW Stack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11965" y="1336498"/>
            <a:ext cx="6229350" cy="3657600"/>
            <a:chOff x="609600" y="1447800"/>
            <a:chExt cx="8305800" cy="487680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1219200" y="4648200"/>
              <a:ext cx="6553200" cy="457200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IOMMU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219200" y="4038600"/>
              <a:ext cx="6553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Hypervisor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219200" y="1447800"/>
              <a:ext cx="3048000" cy="2438400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724400" y="1447800"/>
              <a:ext cx="3048000" cy="2438400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19200" y="5867400"/>
              <a:ext cx="6553200" cy="457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ConnectX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600200" y="3276600"/>
              <a:ext cx="23622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mlx4_core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105400" y="3276600"/>
              <a:ext cx="23622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mlx4_core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6781800" y="2895600"/>
              <a:ext cx="6858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mlx4_ib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5105400" y="2895600"/>
              <a:ext cx="6858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mlx4_en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5943600" y="2895600"/>
              <a:ext cx="6858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mlx4_fc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5867400" y="1600200"/>
              <a:ext cx="838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DomU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2362200" y="1600200"/>
              <a:ext cx="838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1200" b="1" dirty="0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Dom0</a:t>
              </a: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3886200" y="3581400"/>
              <a:ext cx="0" cy="2362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486400" y="3581400"/>
              <a:ext cx="0" cy="2362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886200" y="5943600"/>
              <a:ext cx="1600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6781800" y="2438400"/>
              <a:ext cx="685800" cy="381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ib_core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5943600" y="2438400"/>
              <a:ext cx="685800" cy="381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scsi</a:t>
              </a:r>
            </a:p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mid-layer</a:t>
              </a: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114800" y="5257800"/>
              <a:ext cx="129540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Communication</a:t>
              </a:r>
            </a:p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channel</a:t>
              </a: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6858000" y="3581400"/>
              <a:ext cx="0" cy="228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6553200" y="3581400"/>
              <a:ext cx="0" cy="228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6858000" y="5181600"/>
              <a:ext cx="1295400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Interrupts and dma from/to device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5791200" y="5334000"/>
              <a:ext cx="8382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Doorbells</a:t>
              </a: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1676400" y="3581400"/>
              <a:ext cx="0" cy="228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609600" y="5364163"/>
              <a:ext cx="12954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HW commands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5105400" y="2438400"/>
              <a:ext cx="685800" cy="381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tcp/ip</a:t>
              </a:r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5257800" y="4800600"/>
              <a:ext cx="1905000" cy="152400"/>
            </a:xfrm>
            <a:prstGeom prst="ellipse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31" name="AutoShape 29"/>
            <p:cNvSpPr>
              <a:spLocks noChangeArrowheads="1"/>
            </p:cNvSpPr>
            <p:nvPr/>
          </p:nvSpPr>
          <p:spPr bwMode="auto">
            <a:xfrm>
              <a:off x="7239000" y="4114800"/>
              <a:ext cx="1676400" cy="762000"/>
            </a:xfrm>
            <a:prstGeom prst="wedgeRoundRectCallout">
              <a:avLst>
                <a:gd name="adj1" fmla="val -64204"/>
                <a:gd name="adj2" fmla="val 43750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800" eaLnBrk="0" hangingPunct="0"/>
              <a:r>
                <a:rPr lang="en-US" altLang="zh-TW" sz="900" b="1" dirty="0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guest-physical to machine</a:t>
              </a:r>
            </a:p>
            <a:p>
              <a:pPr algn="ctr" defTabSz="685800" eaLnBrk="0" hangingPunct="0"/>
              <a:r>
                <a:rPr lang="en-US" altLang="zh-TW" sz="900" b="1" dirty="0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address translation</a:t>
              </a: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3276600" y="2895600"/>
              <a:ext cx="6858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 dirty="0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mlx4_ib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1600200" y="2895600"/>
              <a:ext cx="6858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mlx4_en</a:t>
              </a: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2438400" y="2895600"/>
              <a:ext cx="685800" cy="304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mlx4_fc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3276600" y="2438400"/>
              <a:ext cx="685800" cy="381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ib_core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2438400" y="2438400"/>
              <a:ext cx="685800" cy="381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scsi</a:t>
              </a:r>
            </a:p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mid-layer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1600200" y="2438400"/>
              <a:ext cx="685800" cy="381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tcp/ip</a:t>
              </a:r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2819400" y="3581400"/>
              <a:ext cx="0" cy="228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2514600" y="3581400"/>
              <a:ext cx="0" cy="228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2819400" y="5181600"/>
              <a:ext cx="1295400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Interrupts and dma from/to device</a:t>
              </a:r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1752600" y="5334000"/>
              <a:ext cx="8382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Doorbells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5027470" y="3272153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111172" y="3279598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2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783540" y="3279598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824880" y="3285318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320653" y="3285318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4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340272" y="3285318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4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612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KVM SRIOV SW Stack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596118" y="1200150"/>
            <a:ext cx="6229350" cy="3771900"/>
            <a:chOff x="609600" y="1447800"/>
            <a:chExt cx="8305800" cy="502920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1219200" y="4800600"/>
              <a:ext cx="6553200" cy="457200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IOMMU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219200" y="1447800"/>
              <a:ext cx="6553200" cy="320040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endParaRPr lang="zh-TW" altLang="zh-TW" sz="1200" b="1">
                <a:solidFill>
                  <a:srgbClr val="241172"/>
                </a:solidFill>
                <a:latin typeface="Arial Narrow" pitchFamily="34" charset="0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4953000" y="1600200"/>
              <a:ext cx="2667000" cy="1828800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219200" y="6019800"/>
              <a:ext cx="6553200" cy="457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/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ConnectX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5486400" y="1568451"/>
              <a:ext cx="137160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12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Guest Process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4267200" y="3581400"/>
              <a:ext cx="83820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105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Kernel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886200" y="4495800"/>
              <a:ext cx="0" cy="1600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486400" y="3276600"/>
              <a:ext cx="0" cy="2819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886200" y="6096000"/>
              <a:ext cx="1600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4114800" y="5410200"/>
              <a:ext cx="129540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Communication</a:t>
              </a:r>
            </a:p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channel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6858000" y="3276600"/>
              <a:ext cx="0" cy="2743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6553200" y="3276600"/>
              <a:ext cx="0" cy="2743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6858000" y="5334000"/>
              <a:ext cx="1295400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Interrupts and dma from/to device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5791200" y="5486400"/>
              <a:ext cx="8382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Doorbells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676400" y="4495800"/>
              <a:ext cx="0" cy="152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609600" y="5516563"/>
              <a:ext cx="12954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HW commands</a:t>
              </a:r>
            </a:p>
          </p:txBody>
        </p:sp>
        <p:grpSp>
          <p:nvGrpSpPr>
            <p:cNvPr id="21" name="Group 19"/>
            <p:cNvGrpSpPr>
              <a:grpSpLocks/>
            </p:cNvGrpSpPr>
            <p:nvPr/>
          </p:nvGrpSpPr>
          <p:grpSpPr bwMode="auto">
            <a:xfrm>
              <a:off x="5105400" y="2590800"/>
              <a:ext cx="2362200" cy="685800"/>
              <a:chOff x="3216" y="1488"/>
              <a:chExt cx="1488" cy="432"/>
            </a:xfrm>
          </p:grpSpPr>
          <p:sp>
            <p:nvSpPr>
              <p:cNvPr id="42" name="Rectangle 20"/>
              <p:cNvSpPr>
                <a:spLocks noChangeArrowheads="1"/>
              </p:cNvSpPr>
              <p:nvPr/>
            </p:nvSpPr>
            <p:spPr bwMode="auto">
              <a:xfrm>
                <a:off x="3216" y="1776"/>
                <a:ext cx="1488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mlx4_core</a:t>
                </a:r>
              </a:p>
            </p:txBody>
          </p:sp>
          <p:sp>
            <p:nvSpPr>
              <p:cNvPr id="43" name="Rectangle 21"/>
              <p:cNvSpPr>
                <a:spLocks noChangeArrowheads="1"/>
              </p:cNvSpPr>
              <p:nvPr/>
            </p:nvSpPr>
            <p:spPr bwMode="auto">
              <a:xfrm>
                <a:off x="4224" y="1632"/>
                <a:ext cx="480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mlx4_ib</a:t>
                </a:r>
              </a:p>
            </p:txBody>
          </p:sp>
          <p:sp>
            <p:nvSpPr>
              <p:cNvPr id="44" name="Rectangle 22"/>
              <p:cNvSpPr>
                <a:spLocks noChangeArrowheads="1"/>
              </p:cNvSpPr>
              <p:nvPr/>
            </p:nvSpPr>
            <p:spPr bwMode="auto">
              <a:xfrm>
                <a:off x="3216" y="1632"/>
                <a:ext cx="480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mlx4_en</a:t>
                </a:r>
              </a:p>
            </p:txBody>
          </p:sp>
          <p:sp>
            <p:nvSpPr>
              <p:cNvPr id="45" name="Rectangle 23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528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mlx4_fc</a:t>
                </a:r>
              </a:p>
            </p:txBody>
          </p:sp>
          <p:sp>
            <p:nvSpPr>
              <p:cNvPr id="46" name="Rectangle 24"/>
              <p:cNvSpPr>
                <a:spLocks noChangeArrowheads="1"/>
              </p:cNvSpPr>
              <p:nvPr/>
            </p:nvSpPr>
            <p:spPr bwMode="auto">
              <a:xfrm>
                <a:off x="4224" y="1488"/>
                <a:ext cx="480" cy="14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ib_core</a:t>
                </a:r>
              </a:p>
            </p:txBody>
          </p:sp>
          <p:sp>
            <p:nvSpPr>
              <p:cNvPr id="47" name="Rectangle 25"/>
              <p:cNvSpPr>
                <a:spLocks noChangeArrowheads="1"/>
              </p:cNvSpPr>
              <p:nvPr/>
            </p:nvSpPr>
            <p:spPr bwMode="auto">
              <a:xfrm>
                <a:off x="3696" y="1488"/>
                <a:ext cx="528" cy="14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scsi mid-layer</a:t>
                </a:r>
              </a:p>
            </p:txBody>
          </p:sp>
          <p:sp>
            <p:nvSpPr>
              <p:cNvPr id="48" name="Rectangle 26"/>
              <p:cNvSpPr>
                <a:spLocks noChangeArrowheads="1"/>
              </p:cNvSpPr>
              <p:nvPr/>
            </p:nvSpPr>
            <p:spPr bwMode="auto">
              <a:xfrm>
                <a:off x="3216" y="1488"/>
                <a:ext cx="480" cy="14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tcp/ip</a:t>
                </a:r>
              </a:p>
            </p:txBody>
          </p:sp>
        </p:grpSp>
        <p:sp>
          <p:nvSpPr>
            <p:cNvPr id="22" name="Oval 27"/>
            <p:cNvSpPr>
              <a:spLocks noChangeArrowheads="1"/>
            </p:cNvSpPr>
            <p:nvPr/>
          </p:nvSpPr>
          <p:spPr bwMode="auto">
            <a:xfrm>
              <a:off x="5257800" y="4953000"/>
              <a:ext cx="1905000" cy="152400"/>
            </a:xfrm>
            <a:prstGeom prst="ellipse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1350"/>
            </a:p>
          </p:txBody>
        </p:sp>
        <p:sp>
          <p:nvSpPr>
            <p:cNvPr id="23" name="AutoShape 28"/>
            <p:cNvSpPr>
              <a:spLocks noChangeArrowheads="1"/>
            </p:cNvSpPr>
            <p:nvPr/>
          </p:nvSpPr>
          <p:spPr bwMode="auto">
            <a:xfrm>
              <a:off x="7239000" y="4267200"/>
              <a:ext cx="1676400" cy="762000"/>
            </a:xfrm>
            <a:prstGeom prst="wedgeRoundRectCallout">
              <a:avLst>
                <a:gd name="adj1" fmla="val -64204"/>
                <a:gd name="adj2" fmla="val 43750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guest-physical to machine</a:t>
              </a:r>
            </a:p>
            <a:p>
              <a:pPr algn="ctr" defTabSz="685800" eaLnBrk="0" hangingPunct="0"/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address translation</a:t>
              </a:r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2819400" y="4495800"/>
              <a:ext cx="0" cy="152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2514600" y="4495800"/>
              <a:ext cx="0" cy="152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2819400" y="5334000"/>
              <a:ext cx="1295400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Interrupts and dma from/to device</a:t>
              </a:r>
            </a:p>
          </p:txBody>
        </p:sp>
        <p:sp>
          <p:nvSpPr>
            <p:cNvPr id="27" name="Text Box 32"/>
            <p:cNvSpPr txBox="1">
              <a:spLocks noChangeArrowheads="1"/>
            </p:cNvSpPr>
            <p:nvPr/>
          </p:nvSpPr>
          <p:spPr bwMode="auto">
            <a:xfrm>
              <a:off x="1752600" y="5486400"/>
              <a:ext cx="8382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Doorbells</a:t>
              </a:r>
            </a:p>
          </p:txBody>
        </p:sp>
        <p:grpSp>
          <p:nvGrpSpPr>
            <p:cNvPr id="28" name="Group 33"/>
            <p:cNvGrpSpPr>
              <a:grpSpLocks/>
            </p:cNvGrpSpPr>
            <p:nvPr/>
          </p:nvGrpSpPr>
          <p:grpSpPr bwMode="auto">
            <a:xfrm>
              <a:off x="1600200" y="3810000"/>
              <a:ext cx="2362200" cy="685800"/>
              <a:chOff x="3216" y="1488"/>
              <a:chExt cx="1488" cy="432"/>
            </a:xfrm>
          </p:grpSpPr>
          <p:sp>
            <p:nvSpPr>
              <p:cNvPr id="35" name="Rectangle 34"/>
              <p:cNvSpPr>
                <a:spLocks noChangeArrowheads="1"/>
              </p:cNvSpPr>
              <p:nvPr/>
            </p:nvSpPr>
            <p:spPr bwMode="auto">
              <a:xfrm>
                <a:off x="3216" y="1776"/>
                <a:ext cx="1488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mlx4_core</a:t>
                </a:r>
              </a:p>
            </p:txBody>
          </p:sp>
          <p:sp>
            <p:nvSpPr>
              <p:cNvPr id="36" name="Rectangle 35"/>
              <p:cNvSpPr>
                <a:spLocks noChangeArrowheads="1"/>
              </p:cNvSpPr>
              <p:nvPr/>
            </p:nvSpPr>
            <p:spPr bwMode="auto">
              <a:xfrm>
                <a:off x="4224" y="1632"/>
                <a:ext cx="480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mlx4_ib</a:t>
                </a:r>
              </a:p>
            </p:txBody>
          </p:sp>
          <p:sp>
            <p:nvSpPr>
              <p:cNvPr id="37" name="Rectangle 36"/>
              <p:cNvSpPr>
                <a:spLocks noChangeArrowheads="1"/>
              </p:cNvSpPr>
              <p:nvPr/>
            </p:nvSpPr>
            <p:spPr bwMode="auto">
              <a:xfrm>
                <a:off x="3216" y="1632"/>
                <a:ext cx="480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mlx4_en</a:t>
                </a:r>
              </a:p>
            </p:txBody>
          </p:sp>
          <p:sp>
            <p:nvSpPr>
              <p:cNvPr id="38" name="Rectangle 37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528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mlx4_fc</a:t>
                </a:r>
              </a:p>
            </p:txBody>
          </p:sp>
          <p:sp>
            <p:nvSpPr>
              <p:cNvPr id="39" name="Rectangle 38"/>
              <p:cNvSpPr>
                <a:spLocks noChangeArrowheads="1"/>
              </p:cNvSpPr>
              <p:nvPr/>
            </p:nvSpPr>
            <p:spPr bwMode="auto">
              <a:xfrm>
                <a:off x="4224" y="1488"/>
                <a:ext cx="480" cy="14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ib_core</a:t>
                </a:r>
              </a:p>
            </p:txBody>
          </p:sp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3696" y="1488"/>
                <a:ext cx="528" cy="14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scsi mid-layer</a:t>
                </a:r>
              </a:p>
            </p:txBody>
          </p:sp>
          <p:sp>
            <p:nvSpPr>
              <p:cNvPr id="41" name="Rectangle 40"/>
              <p:cNvSpPr>
                <a:spLocks noChangeArrowheads="1"/>
              </p:cNvSpPr>
              <p:nvPr/>
            </p:nvSpPr>
            <p:spPr bwMode="auto">
              <a:xfrm>
                <a:off x="3216" y="1488"/>
                <a:ext cx="480" cy="144"/>
              </a:xfrm>
              <a:prstGeom prst="rect">
                <a:avLst/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/>
                <a:r>
                  <a:rPr lang="en-US" altLang="zh-TW" sz="900" b="1">
                    <a:solidFill>
                      <a:srgbClr val="241172"/>
                    </a:solidFill>
                    <a:latin typeface="Arial Narrow" pitchFamily="34" charset="0"/>
                    <a:ea typeface="新細明體" charset="-120"/>
                  </a:rPr>
                  <a:t>tcp/ip</a:t>
                </a:r>
              </a:p>
            </p:txBody>
          </p:sp>
        </p:grpSp>
        <p:sp>
          <p:nvSpPr>
            <p:cNvPr id="29" name="Line 41"/>
            <p:cNvSpPr>
              <a:spLocks noChangeShapeType="1"/>
            </p:cNvSpPr>
            <p:nvPr/>
          </p:nvSpPr>
          <p:spPr bwMode="auto">
            <a:xfrm>
              <a:off x="1219200" y="3581400"/>
              <a:ext cx="6553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30" name="Text Box 42"/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609600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105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User</a:t>
              </a:r>
            </a:p>
          </p:txBody>
        </p:sp>
        <p:sp>
          <p:nvSpPr>
            <p:cNvPr id="31" name="Line 43"/>
            <p:cNvSpPr>
              <a:spLocks noChangeShapeType="1"/>
            </p:cNvSpPr>
            <p:nvPr/>
          </p:nvSpPr>
          <p:spPr bwMode="auto">
            <a:xfrm>
              <a:off x="4953000" y="2362200"/>
              <a:ext cx="2667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350"/>
            </a:p>
          </p:txBody>
        </p:sp>
        <p:sp>
          <p:nvSpPr>
            <p:cNvPr id="32" name="Text Box 44"/>
            <p:cNvSpPr txBox="1">
              <a:spLocks noChangeArrowheads="1"/>
            </p:cNvSpPr>
            <p:nvPr/>
          </p:nvSpPr>
          <p:spPr bwMode="auto">
            <a:xfrm>
              <a:off x="5943600" y="2057400"/>
              <a:ext cx="609600" cy="3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User</a:t>
              </a:r>
            </a:p>
          </p:txBody>
        </p:sp>
        <p:sp>
          <p:nvSpPr>
            <p:cNvPr id="33" name="Text Box 45"/>
            <p:cNvSpPr txBox="1">
              <a:spLocks noChangeArrowheads="1"/>
            </p:cNvSpPr>
            <p:nvPr/>
          </p:nvSpPr>
          <p:spPr bwMode="auto">
            <a:xfrm>
              <a:off x="5943600" y="2362200"/>
              <a:ext cx="6096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9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Kernel</a:t>
              </a:r>
            </a:p>
          </p:txBody>
        </p:sp>
        <p:sp>
          <p:nvSpPr>
            <p:cNvPr id="34" name="Text Box 46"/>
            <p:cNvSpPr txBox="1">
              <a:spLocks noChangeArrowheads="1"/>
            </p:cNvSpPr>
            <p:nvPr/>
          </p:nvSpPr>
          <p:spPr bwMode="auto">
            <a:xfrm>
              <a:off x="1295400" y="1524000"/>
              <a:ext cx="13716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pitchFamily="4" charset="-128"/>
                </a:defRPr>
              </a:lvl9pPr>
            </a:lstStyle>
            <a:p>
              <a:pPr defTabSz="685800">
                <a:spcBef>
                  <a:spcPct val="50000"/>
                </a:spcBef>
              </a:pPr>
              <a:r>
                <a:rPr lang="en-US" altLang="zh-TW" sz="1500" b="1">
                  <a:solidFill>
                    <a:srgbClr val="241172"/>
                  </a:solidFill>
                  <a:latin typeface="Arial Narrow" pitchFamily="34" charset="0"/>
                  <a:ea typeface="新細明體" charset="-120"/>
                </a:rPr>
                <a:t>Linux</a:t>
              </a:r>
            </a:p>
          </p:txBody>
        </p:sp>
      </p:grpSp>
      <p:sp>
        <p:nvSpPr>
          <p:cNvPr id="49" name="矩形 48"/>
          <p:cNvSpPr/>
          <p:nvPr/>
        </p:nvSpPr>
        <p:spPr>
          <a:xfrm>
            <a:off x="4989893" y="3435846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073595" y="3443292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2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745964" y="3443292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787304" y="3449011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283076" y="3449011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4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302695" y="3449011"/>
            <a:ext cx="213521" cy="3577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altLang="zh-TW" sz="187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4</a:t>
            </a:r>
            <a:endParaRPr lang="zh-TW" altLang="en-US" sz="187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079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380466" cy="339447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>
                <a:latin typeface="+mj-lt"/>
              </a:rPr>
              <a:t>An Introduction to the </a:t>
            </a:r>
            <a:r>
              <a:rPr lang="en-US" altLang="zh-TW" dirty="0" err="1">
                <a:latin typeface="+mj-lt"/>
              </a:rPr>
              <a:t>InﬁniBand</a:t>
            </a:r>
            <a:r>
              <a:rPr lang="en-US" altLang="zh-TW" dirty="0">
                <a:latin typeface="+mj-lt"/>
              </a:rPr>
              <a:t>™ Architecture</a:t>
            </a:r>
          </a:p>
          <a:p>
            <a:pPr lvl="1"/>
            <a:r>
              <a:rPr lang="en-US" altLang="zh-TW" dirty="0">
                <a:latin typeface="+mj-lt"/>
                <a:hlinkClick r:id="rId3"/>
              </a:rPr>
              <a:t>http://gridbus.csse.unimelb.edu.au/~raj/superstorage/chap42.pdf</a:t>
            </a:r>
            <a:endParaRPr lang="en-US" altLang="zh-TW" dirty="0">
              <a:latin typeface="+mj-lt"/>
            </a:endParaRPr>
          </a:p>
          <a:p>
            <a:r>
              <a:rPr lang="en-US" altLang="zh-TW" dirty="0">
                <a:latin typeface="+mj-lt"/>
              </a:rPr>
              <a:t>J. Liu, W. H., B. </a:t>
            </a:r>
            <a:r>
              <a:rPr lang="en-US" altLang="zh-TW" dirty="0" err="1">
                <a:latin typeface="+mj-lt"/>
              </a:rPr>
              <a:t>Abali</a:t>
            </a:r>
            <a:r>
              <a:rPr lang="en-US" altLang="zh-TW" dirty="0">
                <a:latin typeface="+mj-lt"/>
              </a:rPr>
              <a:t> and D. K. Panda, "High Performance VMM-Bypass I/O in Virtual Machines", in USENIX Annual Technical </a:t>
            </a:r>
            <a:r>
              <a:rPr lang="en-US" altLang="zh-TW" dirty="0" err="1">
                <a:latin typeface="+mj-lt"/>
              </a:rPr>
              <a:t>Conferencepp</a:t>
            </a:r>
            <a:r>
              <a:rPr lang="en-US" altLang="zh-TW" dirty="0">
                <a:latin typeface="+mj-lt"/>
              </a:rPr>
              <a:t>, 29-42 (June 2006)</a:t>
            </a:r>
          </a:p>
          <a:p>
            <a:r>
              <a:rPr lang="en-US" altLang="zh-TW" dirty="0" err="1">
                <a:latin typeface="+mj-lt"/>
              </a:rPr>
              <a:t>Infiniband</a:t>
            </a:r>
            <a:r>
              <a:rPr lang="en-US" altLang="zh-TW" dirty="0">
                <a:latin typeface="+mj-lt"/>
              </a:rPr>
              <a:t> and </a:t>
            </a:r>
            <a:r>
              <a:rPr lang="en-US" altLang="zh-TW" dirty="0" err="1">
                <a:latin typeface="+mj-lt"/>
              </a:rPr>
              <a:t>RoCEE</a:t>
            </a:r>
            <a:r>
              <a:rPr lang="en-US" altLang="zh-TW" dirty="0">
                <a:latin typeface="+mj-lt"/>
              </a:rPr>
              <a:t> Virtualization with SR-IOV</a:t>
            </a:r>
            <a:endParaRPr lang="zh-TW" altLang="en-US" dirty="0">
              <a:latin typeface="+mj-lt"/>
            </a:endParaRPr>
          </a:p>
          <a:p>
            <a:pPr lvl="1"/>
            <a:r>
              <a:rPr lang="en-US" altLang="zh-TW" dirty="0">
                <a:latin typeface="+mj-lt"/>
                <a:hlinkClick r:id="rId4"/>
              </a:rPr>
              <a:t>http://www.slideshare.net/Cameroon45/infiniband-and-rocee-virtualization-with-sriov</a:t>
            </a:r>
            <a:endParaRPr lang="en-US" altLang="zh-TW" dirty="0">
              <a:latin typeface="+mj-lt"/>
            </a:endParaRPr>
          </a:p>
          <a:p>
            <a:pPr lvl="1"/>
            <a:endParaRPr lang="en-US" altLang="zh-TW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2771</Words>
  <Application>Microsoft Office PowerPoint</Application>
  <PresentationFormat>全屏显示(16:9)</PresentationFormat>
  <Paragraphs>795</Paragraphs>
  <Slides>77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5" baseType="lpstr">
      <vt:lpstr>標楷體</vt:lpstr>
      <vt:lpstr>MS Sans Serif</vt:lpstr>
      <vt:lpstr>Arial</vt:lpstr>
      <vt:lpstr>Arial Narrow</vt:lpstr>
      <vt:lpstr>Calibri</vt:lpstr>
      <vt:lpstr>Times New Roman</vt:lpstr>
      <vt:lpstr>Wingdings</vt:lpstr>
      <vt:lpstr>NTHU UniCloud</vt:lpstr>
      <vt:lpstr>CSC6032 – Advanced Operating Systems</vt:lpstr>
      <vt:lpstr>虛擬化技術 Virtualization Techniques</vt:lpstr>
      <vt:lpstr>Agenda</vt:lpstr>
      <vt:lpstr>Agenda</vt:lpstr>
      <vt:lpstr>IBA</vt:lpstr>
      <vt:lpstr>InfiniBand Devices</vt:lpstr>
      <vt:lpstr>Usage</vt:lpstr>
      <vt:lpstr>InfiniBand VS. Ethernet</vt:lpstr>
      <vt:lpstr>Agenda</vt:lpstr>
      <vt:lpstr>InfiniBand Architecture</vt:lpstr>
      <vt:lpstr>IBA Subnet Overview</vt:lpstr>
      <vt:lpstr>IBA Subnet</vt:lpstr>
      <vt:lpstr>Endnodes</vt:lpstr>
      <vt:lpstr>Links</vt:lpstr>
      <vt:lpstr>Channel Adapter</vt:lpstr>
      <vt:lpstr>Switches</vt:lpstr>
      <vt:lpstr>Addressing</vt:lpstr>
      <vt:lpstr>InfiniBand Architecture</vt:lpstr>
      <vt:lpstr>Communication Service Types</vt:lpstr>
      <vt:lpstr>Data Rate</vt:lpstr>
      <vt:lpstr>InfiniBand Architecture</vt:lpstr>
      <vt:lpstr>Queue-Based Model </vt:lpstr>
      <vt:lpstr>Queue-Based Mode</vt:lpstr>
      <vt:lpstr>Access Model for InfiniBand </vt:lpstr>
      <vt:lpstr>Access Model for InfiniBand </vt:lpstr>
      <vt:lpstr>Access Model for InfiniBand </vt:lpstr>
      <vt:lpstr>Memory Model</vt:lpstr>
      <vt:lpstr>Communication Semantics</vt:lpstr>
      <vt:lpstr>Send and Receive</vt:lpstr>
      <vt:lpstr>Send and Receive</vt:lpstr>
      <vt:lpstr>Send and Receive</vt:lpstr>
      <vt:lpstr>Send and Receive</vt:lpstr>
      <vt:lpstr>RDMA Read / Write</vt:lpstr>
      <vt:lpstr>RDMA Read / Write</vt:lpstr>
      <vt:lpstr>RDMA Read / Write</vt:lpstr>
      <vt:lpstr>RDMA Read / Write</vt:lpstr>
      <vt:lpstr>InfiniBand Architecture</vt:lpstr>
      <vt:lpstr>Two Roles</vt:lpstr>
      <vt:lpstr>Initialization State Machine</vt:lpstr>
      <vt:lpstr>Management Datagrams</vt:lpstr>
      <vt:lpstr>Agenda</vt:lpstr>
      <vt:lpstr>Cloud Computing View</vt:lpstr>
      <vt:lpstr>Cloud Computing View</vt:lpstr>
      <vt:lpstr>High Performance Computing View</vt:lpstr>
      <vt:lpstr>Agenda</vt:lpstr>
      <vt:lpstr>Three kinds of methods</vt:lpstr>
      <vt:lpstr>Fully virtualization</vt:lpstr>
      <vt:lpstr>Bypass</vt:lpstr>
      <vt:lpstr>Paravirtualization</vt:lpstr>
      <vt:lpstr>Agenda</vt:lpstr>
      <vt:lpstr>Agenda</vt:lpstr>
      <vt:lpstr>VMM-Bypass I/O Overview</vt:lpstr>
      <vt:lpstr>InfiniBand Driver Stack</vt:lpstr>
      <vt:lpstr>Design Architecture</vt:lpstr>
      <vt:lpstr>Implementation</vt:lpstr>
      <vt:lpstr>Implementation</vt:lpstr>
      <vt:lpstr>Privileged Access</vt:lpstr>
      <vt:lpstr>Privileged Access</vt:lpstr>
      <vt:lpstr>Privileged Access</vt:lpstr>
      <vt:lpstr>VMM-bypass Access</vt:lpstr>
      <vt:lpstr>Event Handling</vt:lpstr>
      <vt:lpstr>Event Handling</vt:lpstr>
      <vt:lpstr>Case study</vt:lpstr>
      <vt:lpstr>SR-IOV Overview</vt:lpstr>
      <vt:lpstr>SR-IOV Overview</vt:lpstr>
      <vt:lpstr>Virtualization Model</vt:lpstr>
      <vt:lpstr>Implementation</vt:lpstr>
      <vt:lpstr>Implementation</vt:lpstr>
      <vt:lpstr>Implementation</vt:lpstr>
      <vt:lpstr>Implementation</vt:lpstr>
      <vt:lpstr>Mellanox Driver Stack</vt:lpstr>
      <vt:lpstr>ConnectX2 Support Function</vt:lpstr>
      <vt:lpstr>ConnectX2 Driver Architecture</vt:lpstr>
      <vt:lpstr>ConnectX2 Driver Architecture</vt:lpstr>
      <vt:lpstr>Xen SRIOV SW Stack</vt:lpstr>
      <vt:lpstr>KVM SRIOV SW Stack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2023-10-15T06:13:32Z</dcterms:modified>
</cp:coreProperties>
</file>