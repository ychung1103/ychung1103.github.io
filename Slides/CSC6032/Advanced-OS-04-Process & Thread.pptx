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57"/>
  </p:notesMasterIdLst>
  <p:sldIdLst>
    <p:sldId id="256" r:id="rId3"/>
    <p:sldId id="315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9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0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1768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1838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1752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0959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2508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376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14076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3664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8581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15818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105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4401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42476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9037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23277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57271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55994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32981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21435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52273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84173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29202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64723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60513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45704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36448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6532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3570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71685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00084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47767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52474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38675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7868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08796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46727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94629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73672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7875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376532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87126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76116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256387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2757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966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67041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350565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316840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111249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482080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491766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392545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2910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55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56.png"/><Relationship Id="rId4" Type="http://schemas.microsoft.com/office/2007/relationships/hdphoto" Target="../media/hdphoto3.wdp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4671" y="1102045"/>
            <a:ext cx="11396871" cy="1742755"/>
          </a:xfrm>
        </p:spPr>
        <p:txBody>
          <a:bodyPr/>
          <a:lstStyle/>
          <a:p>
            <a:pPr algn="ctr"/>
            <a: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CSC</a:t>
            </a: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6032</a:t>
            </a:r>
            <a: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Advanced Operating Systems</a:t>
            </a:r>
            <a:b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US" altLang="zh-CN" sz="4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&amp; Thread</a:t>
            </a:r>
            <a:endParaRPr lang="zh-TW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398432"/>
            <a:ext cx="8534400" cy="2402395"/>
          </a:xfrm>
        </p:spPr>
        <p:txBody>
          <a:bodyPr/>
          <a:lstStyle/>
          <a:p>
            <a:r>
              <a:rPr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US" altLang="zh-TW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Yeh-Ching</a:t>
            </a:r>
            <a:r>
              <a:rPr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Chung</a:t>
            </a:r>
          </a:p>
          <a:p>
            <a:endParaRPr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89973" y="187890"/>
            <a:ext cx="9125220" cy="597391"/>
          </a:xfrm>
        </p:spPr>
        <p:txBody>
          <a:bodyPr/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283977" y="1120588"/>
            <a:ext cx="9547123" cy="4796118"/>
          </a:xfrm>
        </p:spPr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&amp; Thread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Process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Schemes</a:t>
            </a:r>
          </a:p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programming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ADC77B9-3C3A-6B84-5E75-3956C3F84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278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976" y="1065319"/>
            <a:ext cx="7573336" cy="218988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827" y="3439065"/>
            <a:ext cx="5303328" cy="2614316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168400" y="187890"/>
            <a:ext cx="9146793" cy="597391"/>
          </a:xfrm>
        </p:spPr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with Shared Memory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056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215" y="1138793"/>
            <a:ext cx="7328986" cy="478171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05840" y="187890"/>
            <a:ext cx="9309353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Alternatives for Programming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151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05" y="1395947"/>
            <a:ext cx="10387099" cy="3795813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36320" y="187890"/>
            <a:ext cx="9278873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Alternatives for Programming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022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660" y="1127184"/>
            <a:ext cx="3754888" cy="496181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Concurrent Process – </a:t>
            </a:r>
            <a:r>
              <a:rPr lang="en-US" altLang="zh-CN" sz="2800" dirty="0">
                <a:latin typeface="+mj-ea"/>
                <a:ea typeface="+mj-ea"/>
                <a:cs typeface="Times New Roman" panose="02020603050405020304" pitchFamily="18" charset="0"/>
              </a:rPr>
              <a:t>FORK-JOIN</a:t>
            </a:r>
            <a:r>
              <a:rPr lang="en-US" altLang="zh-CN" sz="3600" dirty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621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6" y="1126839"/>
            <a:ext cx="7959301" cy="4907157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26160" y="187890"/>
            <a:ext cx="1104392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 Heavyweight Processes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816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227" y="1119200"/>
            <a:ext cx="6326037" cy="4953504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985520" y="187890"/>
            <a:ext cx="1108456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 Heavyweight Processes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784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016" y="1131915"/>
            <a:ext cx="6756283" cy="4946908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985520" y="187890"/>
            <a:ext cx="1108456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700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152" y="1124018"/>
            <a:ext cx="7431536" cy="4978013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05840" y="187890"/>
            <a:ext cx="11064240" cy="597391"/>
          </a:xfrm>
        </p:spPr>
        <p:txBody>
          <a:bodyPr/>
          <a:lstStyle/>
          <a:p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344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789" y="1246836"/>
            <a:ext cx="9653695" cy="4249724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05840" y="187890"/>
            <a:ext cx="11064240" cy="597391"/>
          </a:xfrm>
        </p:spPr>
        <p:txBody>
          <a:bodyPr/>
          <a:lstStyle/>
          <a:p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Barrier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213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099" y="1115684"/>
            <a:ext cx="7542277" cy="4987139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05840" y="187890"/>
            <a:ext cx="1106424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Detached Threads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805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136" y="1109376"/>
            <a:ext cx="7545237" cy="501307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Execution Order (1)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346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14" y="1534344"/>
            <a:ext cx="10618637" cy="2600776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Execution Order (2)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813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614" y="1104911"/>
            <a:ext cx="7890295" cy="499290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Compiler/Processor Optimizations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778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124" y="1136548"/>
            <a:ext cx="7809781" cy="494196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Thread-Safe Routines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926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422" y="1093552"/>
            <a:ext cx="8675817" cy="2594527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020" y="3850639"/>
            <a:ext cx="2629438" cy="2281423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Shared Data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123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595" y="1131101"/>
            <a:ext cx="7936304" cy="4968256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Section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98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355013" y="6559134"/>
            <a:ext cx="21336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800" y="1324393"/>
            <a:ext cx="9199400" cy="4461458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317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941" y="1426235"/>
            <a:ext cx="8663673" cy="3071123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 Lock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245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103" y="1120961"/>
            <a:ext cx="7855792" cy="4970700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 Lock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96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158" y="1097302"/>
            <a:ext cx="8267460" cy="5037277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Lock Routines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900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169" y="1111694"/>
            <a:ext cx="7167353" cy="4984305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Lock Routines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442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756" y="1169739"/>
            <a:ext cx="9274523" cy="4807609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Deadlock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561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575" y="1088019"/>
            <a:ext cx="8212347" cy="5000259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Deadlock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171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090" y="1227803"/>
            <a:ext cx="8118415" cy="1555295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Lock Checking Routine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233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239" y="1104181"/>
            <a:ext cx="7362420" cy="5003681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7909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061" y="1127097"/>
            <a:ext cx="8596552" cy="489396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of Critical Sections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742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563" y="1195072"/>
            <a:ext cx="8286391" cy="281045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Semaphore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7105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461" y="1127183"/>
            <a:ext cx="7886595" cy="4970647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Semaphore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4948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3" y="1098608"/>
            <a:ext cx="7775992" cy="4989771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235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874" y="1200187"/>
            <a:ext cx="8312151" cy="317352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Variables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1239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062" y="1107729"/>
            <a:ext cx="8536477" cy="4999772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Variable Operations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9877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055" y="1104602"/>
            <a:ext cx="8551469" cy="5002900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Variable Operations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810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492" y="1129370"/>
            <a:ext cx="7858027" cy="4955129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 Variable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2463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680" y="1109149"/>
            <a:ext cx="5577336" cy="496433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Constructs for Parallelism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3786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702" y="1140019"/>
            <a:ext cx="6878129" cy="4933911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Constructs for Parallelism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0669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566" y="1119101"/>
            <a:ext cx="8427700" cy="4976897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Analysis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8543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097" y="1113523"/>
            <a:ext cx="7944689" cy="498978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Berstein’s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9424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615" y="1127185"/>
            <a:ext cx="7847580" cy="4963064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0684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559" y="1162802"/>
            <a:ext cx="8471019" cy="433294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Data in System with Caches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7952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187" y="1136144"/>
            <a:ext cx="2263836" cy="4020261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777" y="1101640"/>
            <a:ext cx="3646099" cy="4126651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6701" y="5371290"/>
            <a:ext cx="7290639" cy="695292"/>
          </a:xfrm>
          <a:prstGeom prst="rect">
            <a:avLst/>
          </a:prstGeom>
        </p:spPr>
      </p:pic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Data in System with Caches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6369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545" y="1324613"/>
            <a:ext cx="6954287" cy="311511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/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Example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3233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44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541" y="1226722"/>
            <a:ext cx="8610959" cy="3608743"/>
          </a:xfrm>
          <a:prstGeom prst="rect">
            <a:avLst/>
          </a:prstGeom>
        </p:spPr>
      </p:pic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Example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005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45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500" y="1892300"/>
            <a:ext cx="8255000" cy="3073400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Example (3)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5410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46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52880" y="1124912"/>
            <a:ext cx="8910320" cy="4991365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Example (4)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0019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47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452" t="8172" r="4510" b="3871"/>
          <a:stretch/>
        </p:blipFill>
        <p:spPr>
          <a:xfrm>
            <a:off x="1229360" y="1259840"/>
            <a:ext cx="9662036" cy="4500880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Example (5)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1850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48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520" y="1141994"/>
            <a:ext cx="7396480" cy="4965149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Example (6)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2019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49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045" y="1178560"/>
            <a:ext cx="9584875" cy="4848256"/>
          </a:xfrm>
          <a:prstGeom prst="rect">
            <a:avLst/>
          </a:prstGeom>
        </p:spPr>
      </p:pic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Example (7)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0142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50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58657" y="4520241"/>
            <a:ext cx="4896356" cy="1483744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52009" y="1162888"/>
            <a:ext cx="3924300" cy="317500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37312" y="1175589"/>
            <a:ext cx="3835400" cy="3162300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Example (8)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081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51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1279985"/>
            <a:ext cx="8304960" cy="4325268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 (1)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4291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52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250" y="1879600"/>
            <a:ext cx="8699500" cy="3098800"/>
          </a:xfrm>
          <a:prstGeom prst="rect">
            <a:avLst/>
          </a:prstGeom>
        </p:spPr>
      </p:pic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 (2)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3932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53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765" y="1127186"/>
            <a:ext cx="5717787" cy="4980317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 (3)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2466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54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404" y="1108582"/>
            <a:ext cx="6723392" cy="4984372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187890"/>
            <a:ext cx="11054080" cy="597391"/>
          </a:xfrm>
        </p:spPr>
        <p:txBody>
          <a:bodyPr/>
          <a:lstStyle/>
          <a:p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 (4)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742217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372</Words>
  <Application>Microsoft Office PowerPoint</Application>
  <PresentationFormat>宽屏</PresentationFormat>
  <Paragraphs>168</Paragraphs>
  <Slides>54</Slides>
  <Notes>53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54</vt:i4>
      </vt:variant>
    </vt:vector>
  </HeadingPairs>
  <TitlesOfParts>
    <vt:vector size="64" baseType="lpstr">
      <vt:lpstr>MS Sans Serif</vt:lpstr>
      <vt:lpstr>华文楷体</vt:lpstr>
      <vt:lpstr>Arial</vt:lpstr>
      <vt:lpstr>Bahnschrift SemiBold Condensed</vt:lpstr>
      <vt:lpstr>Calibri</vt:lpstr>
      <vt:lpstr>Calibri Light</vt:lpstr>
      <vt:lpstr>Times New Roman</vt:lpstr>
      <vt:lpstr>Wingdings</vt:lpstr>
      <vt:lpstr>NTHU UniCloud</vt:lpstr>
      <vt:lpstr>自訂設計</vt:lpstr>
      <vt:lpstr>CSC6032 – Advanced Operating Systems Process &amp; Thread</vt:lpstr>
      <vt:lpstr>Outline</vt:lpstr>
      <vt:lpstr>Programming with Shared Memory</vt:lpstr>
      <vt:lpstr>Several Alternatives for Programming (1)</vt:lpstr>
      <vt:lpstr>Several Alternatives for Programming (2)</vt:lpstr>
      <vt:lpstr>Creating Concurrent Process – FORK-JOIN Construct</vt:lpstr>
      <vt:lpstr>UNIX Heavyweight Processes (1)</vt:lpstr>
      <vt:lpstr>UNIX Heavyweight Processes (2)</vt:lpstr>
      <vt:lpstr>Thread </vt:lpstr>
      <vt:lpstr>Pthread </vt:lpstr>
      <vt:lpstr>Pthread Barrier </vt:lpstr>
      <vt:lpstr>Detached Threads </vt:lpstr>
      <vt:lpstr>Statement Execution Order (1) </vt:lpstr>
      <vt:lpstr>Statement Execution Order (2) </vt:lpstr>
      <vt:lpstr>Compiler/Processor Optimizations</vt:lpstr>
      <vt:lpstr>Thread-Safe Routines</vt:lpstr>
      <vt:lpstr>Accessing Shared Data</vt:lpstr>
      <vt:lpstr>Critical Section</vt:lpstr>
      <vt:lpstr>Locks</vt:lpstr>
      <vt:lpstr>Spin Lock (1)</vt:lpstr>
      <vt:lpstr>Spin Lock (2)</vt:lpstr>
      <vt:lpstr>Pthread Lock Routines (1)</vt:lpstr>
      <vt:lpstr>Pthread Lock Routines (2)</vt:lpstr>
      <vt:lpstr>Deadlock (1)</vt:lpstr>
      <vt:lpstr>Deadlock (2)</vt:lpstr>
      <vt:lpstr>Pthread Lock Checking Routine</vt:lpstr>
      <vt:lpstr>Semaphore</vt:lpstr>
      <vt:lpstr>Mutual Exclusion of Critical Sections</vt:lpstr>
      <vt:lpstr>General Semaphore (1)</vt:lpstr>
      <vt:lpstr>General Semaphore (2)</vt:lpstr>
      <vt:lpstr>Monitor </vt:lpstr>
      <vt:lpstr>Condition Variables</vt:lpstr>
      <vt:lpstr>Condition Variable Operations (1)</vt:lpstr>
      <vt:lpstr>Condition Variable Operations (2)</vt:lpstr>
      <vt:lpstr>Pthread Condition Variable</vt:lpstr>
      <vt:lpstr>Language Constructs for Parallelism (1)</vt:lpstr>
      <vt:lpstr>Language Constructs for Parallelism (2)</vt:lpstr>
      <vt:lpstr>Dependency Analysis</vt:lpstr>
      <vt:lpstr>Berstein’s Conditions</vt:lpstr>
      <vt:lpstr>Example</vt:lpstr>
      <vt:lpstr>Shared Data in System with Caches (1)</vt:lpstr>
      <vt:lpstr>Shared Data in System with Caches (2)</vt:lpstr>
      <vt:lpstr>Program Example (1)</vt:lpstr>
      <vt:lpstr>Program Example (2)</vt:lpstr>
      <vt:lpstr>Program Example (3)</vt:lpstr>
      <vt:lpstr>Program Example (4)</vt:lpstr>
      <vt:lpstr>Program Example (5)</vt:lpstr>
      <vt:lpstr>Program Example (6)</vt:lpstr>
      <vt:lpstr>Program Example (7)</vt:lpstr>
      <vt:lpstr>Program Example (8)</vt:lpstr>
      <vt:lpstr>Pthread Example (1)</vt:lpstr>
      <vt:lpstr>Pthread Example (2)</vt:lpstr>
      <vt:lpstr>Pthread Example (3)</vt:lpstr>
      <vt:lpstr>Pthread Example (4)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Yeh-Ching Chung</cp:lastModifiedBy>
  <cp:revision>24</cp:revision>
  <dcterms:created xsi:type="dcterms:W3CDTF">2020-07-15T11:13:39Z</dcterms:created>
  <dcterms:modified xsi:type="dcterms:W3CDTF">2026-09-28T08:20:10Z</dcterms:modified>
</cp:coreProperties>
</file>