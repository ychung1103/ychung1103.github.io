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76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D244F-F468-4DCC-8ED6-82C2B108C88F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B6993-D3AC-4BA3-8A82-29612805B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24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4487" y="578942"/>
            <a:ext cx="85464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777A8-E331-48EE-A3FE-43165CCB69CC}" type="datetime1">
              <a:rPr lang="en-US" altLang="zh-CN" smtClean="0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56DF7-ABE2-4E94-97EF-A1F0B7B1190C}" type="datetime1">
              <a:rPr lang="en-US" altLang="zh-CN" smtClean="0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CB52B-DF9B-4452-A732-56DE66EC1C7C}" type="datetime1">
              <a:rPr lang="en-US" altLang="zh-CN" smtClean="0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0A8A6-059B-4C50-9419-3011FB824FF7}" type="datetime1">
              <a:rPr lang="en-US" altLang="zh-CN" smtClean="0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33BB3-C97B-442D-BCE2-FEB2858BDEA1}" type="datetime1">
              <a:rPr lang="en-US" altLang="zh-CN" smtClean="0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4487" y="153161"/>
            <a:ext cx="11157102" cy="1153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8787" y="1516761"/>
            <a:ext cx="10572115" cy="401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AE318-A575-48A5-BCB6-B4CC85E28F4F}" type="datetime1">
              <a:rPr lang="en-US" altLang="zh-CN" smtClean="0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01.08361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01.08361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bmk.sh/2020/05/29/GPT-3-A-Brief-Summary/" TargetMode="External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review.net/pdf?id=yzkSU5zdwD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review.net/pdf?id=yzkSU5zdwD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review.net/pdf?id=yzkSU5zdwD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jmlr.org/papers/volume21/20-074/20-074.pd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https://proceedings.mlr.press/v162/wang22u/wang22u.pd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hyperlink" Target="https://proceedings.mlr.press/v162/wang22u/wang22u.pdf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hyperlink" Target="https://arxiv.org/pdf/2307.09288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s://openreview.net/pdf?id=gEZrGCozdqR" TargetMode="Externa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hyperlink" Target="https://arxiv.org/pdf/2005.14165.pdf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hyperlink" Target="https://arxiv.org/pdf/2201.11903.pdf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05708" y="1426916"/>
            <a:ext cx="5748655" cy="2111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40300"/>
              </a:lnSpc>
              <a:spcBef>
                <a:spcPts val="95"/>
              </a:spcBef>
            </a:pP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Introduction</a:t>
            </a:r>
            <a:r>
              <a:rPr sz="36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3600" b="1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Deep</a:t>
            </a:r>
            <a:r>
              <a:rPr sz="3600" b="1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Learning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Lecture</a:t>
            </a:r>
            <a:r>
              <a:rPr sz="36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000FF"/>
                </a:solidFill>
                <a:latin typeface="Calibri"/>
                <a:cs typeface="Calibri"/>
              </a:rPr>
              <a:t>20</a:t>
            </a:r>
            <a:endParaRPr sz="3600">
              <a:latin typeface="Calibri"/>
              <a:cs typeface="Calibri"/>
            </a:endParaRPr>
          </a:p>
          <a:p>
            <a:pPr marR="60325" algn="ctr">
              <a:lnSpc>
                <a:spcPts val="4300"/>
              </a:lnSpc>
            </a:pPr>
            <a:r>
              <a:rPr sz="3600" b="1" dirty="0">
                <a:solidFill>
                  <a:srgbClr val="00AF50"/>
                </a:solidFill>
                <a:latin typeface="Calibri"/>
                <a:cs typeface="Calibri"/>
              </a:rPr>
              <a:t>Large</a:t>
            </a:r>
            <a:r>
              <a:rPr sz="3600" b="1" spc="-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AF50"/>
                </a:solidFill>
                <a:latin typeface="Calibri"/>
                <a:cs typeface="Calibri"/>
              </a:rPr>
              <a:t>Language</a:t>
            </a:r>
            <a:r>
              <a:rPr sz="3600" b="1" spc="-1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0AF50"/>
                </a:solidFill>
                <a:latin typeface="Calibri"/>
                <a:cs typeface="Calibri"/>
              </a:rPr>
              <a:t>Models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8796" y="3785996"/>
            <a:ext cx="19932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Roshan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Sharma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383" y="4560189"/>
            <a:ext cx="68986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Some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slides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borrowed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Danqi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Chen,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Chenyan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Xiong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Graham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Neubig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–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thanks!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37303" y="5568797"/>
            <a:ext cx="2520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11-</a:t>
            </a:r>
            <a:r>
              <a:rPr sz="2400" b="1" dirty="0">
                <a:latin typeface="Calibri"/>
                <a:cs typeface="Calibri"/>
              </a:rPr>
              <a:t>785,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Spring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2024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46398C-35C6-8766-0965-5B374F45A3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Agenda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484485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190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Emergent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Abilities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Scaling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Effects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025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LLMs?</a:t>
            </a:r>
            <a:endParaRPr sz="2800">
              <a:latin typeface="Calibri"/>
              <a:cs typeface="Calibri"/>
            </a:endParaRPr>
          </a:p>
          <a:p>
            <a:pPr marL="436245" indent="-423545">
              <a:lnSpc>
                <a:spcPts val="3025"/>
              </a:lnSpc>
              <a:buSzPct val="64285"/>
              <a:buFont typeface="Arial"/>
              <a:buChar char="●"/>
              <a:tabLst>
                <a:tab pos="436245" algn="l"/>
              </a:tabLst>
            </a:pPr>
            <a:r>
              <a:rPr sz="2800" dirty="0">
                <a:latin typeface="Calibri"/>
                <a:cs typeface="Calibri"/>
              </a:rPr>
              <a:t>Modern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025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LLM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Procedure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025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LLM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Inference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Prompting,</a:t>
            </a:r>
            <a:r>
              <a:rPr sz="2800" spc="-25" dirty="0">
                <a:latin typeface="Calibri"/>
                <a:cs typeface="Calibri"/>
              </a:rPr>
              <a:t> In-</a:t>
            </a:r>
            <a:r>
              <a:rPr sz="2800" dirty="0">
                <a:latin typeface="Calibri"/>
                <a:cs typeface="Calibri"/>
              </a:rPr>
              <a:t>Context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Thought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025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Evaluating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LLMs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190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Multimodal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LLMs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52CA78-6458-4DD9-F2B2-23ADDF03FD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6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Review:</a:t>
            </a:r>
            <a:r>
              <a:rPr sz="3600" b="1" spc="-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Language</a:t>
            </a:r>
            <a:r>
              <a:rPr sz="36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Models</a:t>
            </a:r>
            <a:r>
              <a:rPr sz="3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36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000FF"/>
                </a:solidFill>
                <a:latin typeface="Calibri"/>
                <a:cs typeface="Calibri"/>
              </a:rPr>
              <a:t>Generalists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02538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just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single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task,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but </a:t>
            </a: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tasks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predict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token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6F168F-803B-3B7B-49CD-0C611D6EA1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114546" y="924813"/>
            <a:ext cx="3963035" cy="5687060"/>
            <a:chOff x="4114546" y="924813"/>
            <a:chExt cx="3963035" cy="5687060"/>
          </a:xfrm>
        </p:grpSpPr>
        <p:pic>
          <p:nvPicPr>
            <p:cNvPr id="4" name="object 4" descr="The Transformer Model - MachineLearningMastery.com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3818" y="1002290"/>
              <a:ext cx="3811810" cy="56089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96000" y="931163"/>
              <a:ext cx="1975485" cy="4996180"/>
            </a:xfrm>
            <a:custGeom>
              <a:avLst/>
              <a:gdLst/>
              <a:ahLst/>
              <a:cxnLst/>
              <a:rect l="l" t="t" r="r" b="b"/>
              <a:pathLst>
                <a:path w="1975484" h="4996180">
                  <a:moveTo>
                    <a:pt x="1645920" y="0"/>
                  </a:moveTo>
                  <a:lnTo>
                    <a:pt x="329184" y="0"/>
                  </a:lnTo>
                  <a:lnTo>
                    <a:pt x="280525" y="3567"/>
                  </a:lnTo>
                  <a:lnTo>
                    <a:pt x="234089" y="13932"/>
                  </a:lnTo>
                  <a:lnTo>
                    <a:pt x="190382" y="30585"/>
                  </a:lnTo>
                  <a:lnTo>
                    <a:pt x="149913" y="53018"/>
                  </a:lnTo>
                  <a:lnTo>
                    <a:pt x="113190" y="80722"/>
                  </a:lnTo>
                  <a:lnTo>
                    <a:pt x="80722" y="113190"/>
                  </a:lnTo>
                  <a:lnTo>
                    <a:pt x="53018" y="149913"/>
                  </a:lnTo>
                  <a:lnTo>
                    <a:pt x="30585" y="190382"/>
                  </a:lnTo>
                  <a:lnTo>
                    <a:pt x="13932" y="234089"/>
                  </a:lnTo>
                  <a:lnTo>
                    <a:pt x="3567" y="280525"/>
                  </a:lnTo>
                  <a:lnTo>
                    <a:pt x="0" y="329184"/>
                  </a:lnTo>
                  <a:lnTo>
                    <a:pt x="0" y="4666488"/>
                  </a:lnTo>
                  <a:lnTo>
                    <a:pt x="3567" y="4715131"/>
                  </a:lnTo>
                  <a:lnTo>
                    <a:pt x="13932" y="4761559"/>
                  </a:lnTo>
                  <a:lnTo>
                    <a:pt x="30585" y="4805262"/>
                  </a:lnTo>
                  <a:lnTo>
                    <a:pt x="53018" y="4845730"/>
                  </a:lnTo>
                  <a:lnTo>
                    <a:pt x="80722" y="4882455"/>
                  </a:lnTo>
                  <a:lnTo>
                    <a:pt x="113190" y="4914927"/>
                  </a:lnTo>
                  <a:lnTo>
                    <a:pt x="149913" y="4942637"/>
                  </a:lnTo>
                  <a:lnTo>
                    <a:pt x="190382" y="4965076"/>
                  </a:lnTo>
                  <a:lnTo>
                    <a:pt x="234089" y="4981734"/>
                  </a:lnTo>
                  <a:lnTo>
                    <a:pt x="280525" y="4992102"/>
                  </a:lnTo>
                  <a:lnTo>
                    <a:pt x="329184" y="4995672"/>
                  </a:lnTo>
                  <a:lnTo>
                    <a:pt x="1645920" y="4995672"/>
                  </a:lnTo>
                  <a:lnTo>
                    <a:pt x="1694578" y="4992102"/>
                  </a:lnTo>
                  <a:lnTo>
                    <a:pt x="1741014" y="4981734"/>
                  </a:lnTo>
                  <a:lnTo>
                    <a:pt x="1784721" y="4965076"/>
                  </a:lnTo>
                  <a:lnTo>
                    <a:pt x="1825190" y="4942637"/>
                  </a:lnTo>
                  <a:lnTo>
                    <a:pt x="1861913" y="4914927"/>
                  </a:lnTo>
                  <a:lnTo>
                    <a:pt x="1894381" y="4882455"/>
                  </a:lnTo>
                  <a:lnTo>
                    <a:pt x="1922085" y="4845730"/>
                  </a:lnTo>
                  <a:lnTo>
                    <a:pt x="1944518" y="4805262"/>
                  </a:lnTo>
                  <a:lnTo>
                    <a:pt x="1961171" y="4761559"/>
                  </a:lnTo>
                  <a:lnTo>
                    <a:pt x="1971536" y="4715131"/>
                  </a:lnTo>
                  <a:lnTo>
                    <a:pt x="1975103" y="4666488"/>
                  </a:lnTo>
                  <a:lnTo>
                    <a:pt x="1975103" y="329184"/>
                  </a:lnTo>
                  <a:lnTo>
                    <a:pt x="1971536" y="280525"/>
                  </a:lnTo>
                  <a:lnTo>
                    <a:pt x="1961171" y="234089"/>
                  </a:lnTo>
                  <a:lnTo>
                    <a:pt x="1944518" y="190382"/>
                  </a:lnTo>
                  <a:lnTo>
                    <a:pt x="1922085" y="149913"/>
                  </a:lnTo>
                  <a:lnTo>
                    <a:pt x="1894381" y="113190"/>
                  </a:lnTo>
                  <a:lnTo>
                    <a:pt x="1861913" y="80722"/>
                  </a:lnTo>
                  <a:lnTo>
                    <a:pt x="1825190" y="53018"/>
                  </a:lnTo>
                  <a:lnTo>
                    <a:pt x="1784721" y="30585"/>
                  </a:lnTo>
                  <a:lnTo>
                    <a:pt x="1741014" y="13932"/>
                  </a:lnTo>
                  <a:lnTo>
                    <a:pt x="1694578" y="3567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BAD5ED">
                <a:alpha val="345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0" y="931163"/>
              <a:ext cx="1975485" cy="4996180"/>
            </a:xfrm>
            <a:custGeom>
              <a:avLst/>
              <a:gdLst/>
              <a:ahLst/>
              <a:cxnLst/>
              <a:rect l="l" t="t" r="r" b="b"/>
              <a:pathLst>
                <a:path w="1975484" h="4996180">
                  <a:moveTo>
                    <a:pt x="0" y="329184"/>
                  </a:moveTo>
                  <a:lnTo>
                    <a:pt x="3567" y="280525"/>
                  </a:lnTo>
                  <a:lnTo>
                    <a:pt x="13932" y="234089"/>
                  </a:lnTo>
                  <a:lnTo>
                    <a:pt x="30585" y="190382"/>
                  </a:lnTo>
                  <a:lnTo>
                    <a:pt x="53018" y="149913"/>
                  </a:lnTo>
                  <a:lnTo>
                    <a:pt x="80722" y="113190"/>
                  </a:lnTo>
                  <a:lnTo>
                    <a:pt x="113190" y="80722"/>
                  </a:lnTo>
                  <a:lnTo>
                    <a:pt x="149913" y="53018"/>
                  </a:lnTo>
                  <a:lnTo>
                    <a:pt x="190382" y="30585"/>
                  </a:lnTo>
                  <a:lnTo>
                    <a:pt x="234089" y="13932"/>
                  </a:lnTo>
                  <a:lnTo>
                    <a:pt x="280525" y="3567"/>
                  </a:lnTo>
                  <a:lnTo>
                    <a:pt x="329184" y="0"/>
                  </a:lnTo>
                  <a:lnTo>
                    <a:pt x="1645920" y="0"/>
                  </a:lnTo>
                  <a:lnTo>
                    <a:pt x="1694578" y="3567"/>
                  </a:lnTo>
                  <a:lnTo>
                    <a:pt x="1741014" y="13932"/>
                  </a:lnTo>
                  <a:lnTo>
                    <a:pt x="1784721" y="30585"/>
                  </a:lnTo>
                  <a:lnTo>
                    <a:pt x="1825190" y="53018"/>
                  </a:lnTo>
                  <a:lnTo>
                    <a:pt x="1861913" y="80722"/>
                  </a:lnTo>
                  <a:lnTo>
                    <a:pt x="1894381" y="113190"/>
                  </a:lnTo>
                  <a:lnTo>
                    <a:pt x="1922085" y="149913"/>
                  </a:lnTo>
                  <a:lnTo>
                    <a:pt x="1944518" y="190382"/>
                  </a:lnTo>
                  <a:lnTo>
                    <a:pt x="1961171" y="234089"/>
                  </a:lnTo>
                  <a:lnTo>
                    <a:pt x="1971536" y="280525"/>
                  </a:lnTo>
                  <a:lnTo>
                    <a:pt x="1975103" y="329184"/>
                  </a:lnTo>
                  <a:lnTo>
                    <a:pt x="1975103" y="4666488"/>
                  </a:lnTo>
                  <a:lnTo>
                    <a:pt x="1971536" y="4715131"/>
                  </a:lnTo>
                  <a:lnTo>
                    <a:pt x="1961171" y="4761559"/>
                  </a:lnTo>
                  <a:lnTo>
                    <a:pt x="1944518" y="4805262"/>
                  </a:lnTo>
                  <a:lnTo>
                    <a:pt x="1922085" y="4845730"/>
                  </a:lnTo>
                  <a:lnTo>
                    <a:pt x="1894381" y="4882455"/>
                  </a:lnTo>
                  <a:lnTo>
                    <a:pt x="1861913" y="4914927"/>
                  </a:lnTo>
                  <a:lnTo>
                    <a:pt x="1825190" y="4942637"/>
                  </a:lnTo>
                  <a:lnTo>
                    <a:pt x="1784721" y="4965076"/>
                  </a:lnTo>
                  <a:lnTo>
                    <a:pt x="1741014" y="4981734"/>
                  </a:lnTo>
                  <a:lnTo>
                    <a:pt x="1694578" y="4992102"/>
                  </a:lnTo>
                  <a:lnTo>
                    <a:pt x="1645920" y="4995672"/>
                  </a:lnTo>
                  <a:lnTo>
                    <a:pt x="329184" y="4995672"/>
                  </a:lnTo>
                  <a:lnTo>
                    <a:pt x="280525" y="4992102"/>
                  </a:lnTo>
                  <a:lnTo>
                    <a:pt x="234089" y="4981734"/>
                  </a:lnTo>
                  <a:lnTo>
                    <a:pt x="190382" y="4965076"/>
                  </a:lnTo>
                  <a:lnTo>
                    <a:pt x="149913" y="4942637"/>
                  </a:lnTo>
                  <a:lnTo>
                    <a:pt x="113190" y="4914927"/>
                  </a:lnTo>
                  <a:lnTo>
                    <a:pt x="80722" y="4882455"/>
                  </a:lnTo>
                  <a:lnTo>
                    <a:pt x="53018" y="4845730"/>
                  </a:lnTo>
                  <a:lnTo>
                    <a:pt x="30585" y="4805262"/>
                  </a:lnTo>
                  <a:lnTo>
                    <a:pt x="13932" y="4761559"/>
                  </a:lnTo>
                  <a:lnTo>
                    <a:pt x="3567" y="4715131"/>
                  </a:lnTo>
                  <a:lnTo>
                    <a:pt x="0" y="4666488"/>
                  </a:lnTo>
                  <a:lnTo>
                    <a:pt x="0" y="329184"/>
                  </a:lnTo>
                  <a:close/>
                </a:path>
              </a:pathLst>
            </a:custGeom>
            <a:ln w="12700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0896" y="2743199"/>
              <a:ext cx="1975485" cy="3183890"/>
            </a:xfrm>
            <a:custGeom>
              <a:avLst/>
              <a:gdLst/>
              <a:ahLst/>
              <a:cxnLst/>
              <a:rect l="l" t="t" r="r" b="b"/>
              <a:pathLst>
                <a:path w="1975485" h="3183890">
                  <a:moveTo>
                    <a:pt x="1645919" y="0"/>
                  </a:moveTo>
                  <a:lnTo>
                    <a:pt x="329183" y="0"/>
                  </a:lnTo>
                  <a:lnTo>
                    <a:pt x="280554" y="3570"/>
                  </a:lnTo>
                  <a:lnTo>
                    <a:pt x="234135" y="13942"/>
                  </a:lnTo>
                  <a:lnTo>
                    <a:pt x="190437" y="30605"/>
                  </a:lnTo>
                  <a:lnTo>
                    <a:pt x="149969" y="53050"/>
                  </a:lnTo>
                  <a:lnTo>
                    <a:pt x="113242" y="80765"/>
                  </a:lnTo>
                  <a:lnTo>
                    <a:pt x="80765" y="113242"/>
                  </a:lnTo>
                  <a:lnTo>
                    <a:pt x="53050" y="149969"/>
                  </a:lnTo>
                  <a:lnTo>
                    <a:pt x="30605" y="190437"/>
                  </a:lnTo>
                  <a:lnTo>
                    <a:pt x="13942" y="234135"/>
                  </a:lnTo>
                  <a:lnTo>
                    <a:pt x="3570" y="280554"/>
                  </a:lnTo>
                  <a:lnTo>
                    <a:pt x="0" y="329184"/>
                  </a:lnTo>
                  <a:lnTo>
                    <a:pt x="0" y="2854439"/>
                  </a:lnTo>
                  <a:lnTo>
                    <a:pt x="3570" y="2903086"/>
                  </a:lnTo>
                  <a:lnTo>
                    <a:pt x="13942" y="2949516"/>
                  </a:lnTo>
                  <a:lnTo>
                    <a:pt x="30605" y="2993221"/>
                  </a:lnTo>
                  <a:lnTo>
                    <a:pt x="53050" y="3033691"/>
                  </a:lnTo>
                  <a:lnTo>
                    <a:pt x="80765" y="3070417"/>
                  </a:lnTo>
                  <a:lnTo>
                    <a:pt x="113242" y="3102890"/>
                  </a:lnTo>
                  <a:lnTo>
                    <a:pt x="149969" y="3130601"/>
                  </a:lnTo>
                  <a:lnTo>
                    <a:pt x="190437" y="3153040"/>
                  </a:lnTo>
                  <a:lnTo>
                    <a:pt x="234135" y="3169698"/>
                  </a:lnTo>
                  <a:lnTo>
                    <a:pt x="280554" y="3180066"/>
                  </a:lnTo>
                  <a:lnTo>
                    <a:pt x="329183" y="3183636"/>
                  </a:lnTo>
                  <a:lnTo>
                    <a:pt x="1645919" y="3183636"/>
                  </a:lnTo>
                  <a:lnTo>
                    <a:pt x="1694549" y="3180066"/>
                  </a:lnTo>
                  <a:lnTo>
                    <a:pt x="1740968" y="3169698"/>
                  </a:lnTo>
                  <a:lnTo>
                    <a:pt x="1784666" y="3153040"/>
                  </a:lnTo>
                  <a:lnTo>
                    <a:pt x="1825134" y="3130601"/>
                  </a:lnTo>
                  <a:lnTo>
                    <a:pt x="1861861" y="3102890"/>
                  </a:lnTo>
                  <a:lnTo>
                    <a:pt x="1894338" y="3070417"/>
                  </a:lnTo>
                  <a:lnTo>
                    <a:pt x="1922053" y="3033691"/>
                  </a:lnTo>
                  <a:lnTo>
                    <a:pt x="1944498" y="2993221"/>
                  </a:lnTo>
                  <a:lnTo>
                    <a:pt x="1961161" y="2949516"/>
                  </a:lnTo>
                  <a:lnTo>
                    <a:pt x="1971533" y="2903086"/>
                  </a:lnTo>
                  <a:lnTo>
                    <a:pt x="1975103" y="2854439"/>
                  </a:lnTo>
                  <a:lnTo>
                    <a:pt x="1975103" y="329184"/>
                  </a:lnTo>
                  <a:lnTo>
                    <a:pt x="1971533" y="280554"/>
                  </a:lnTo>
                  <a:lnTo>
                    <a:pt x="1961161" y="234135"/>
                  </a:lnTo>
                  <a:lnTo>
                    <a:pt x="1944498" y="190437"/>
                  </a:lnTo>
                  <a:lnTo>
                    <a:pt x="1922053" y="149969"/>
                  </a:lnTo>
                  <a:lnTo>
                    <a:pt x="1894338" y="113242"/>
                  </a:lnTo>
                  <a:lnTo>
                    <a:pt x="1861861" y="80765"/>
                  </a:lnTo>
                  <a:lnTo>
                    <a:pt x="1825134" y="53050"/>
                  </a:lnTo>
                  <a:lnTo>
                    <a:pt x="1784666" y="30605"/>
                  </a:lnTo>
                  <a:lnTo>
                    <a:pt x="1740968" y="13942"/>
                  </a:lnTo>
                  <a:lnTo>
                    <a:pt x="1694549" y="3570"/>
                  </a:lnTo>
                  <a:lnTo>
                    <a:pt x="1645919" y="0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20896" y="2743199"/>
              <a:ext cx="1975485" cy="3183890"/>
            </a:xfrm>
            <a:custGeom>
              <a:avLst/>
              <a:gdLst/>
              <a:ahLst/>
              <a:cxnLst/>
              <a:rect l="l" t="t" r="r" b="b"/>
              <a:pathLst>
                <a:path w="1975485" h="3183890">
                  <a:moveTo>
                    <a:pt x="0" y="329184"/>
                  </a:moveTo>
                  <a:lnTo>
                    <a:pt x="3570" y="280554"/>
                  </a:lnTo>
                  <a:lnTo>
                    <a:pt x="13942" y="234135"/>
                  </a:lnTo>
                  <a:lnTo>
                    <a:pt x="30605" y="190437"/>
                  </a:lnTo>
                  <a:lnTo>
                    <a:pt x="53050" y="149969"/>
                  </a:lnTo>
                  <a:lnTo>
                    <a:pt x="80765" y="113242"/>
                  </a:lnTo>
                  <a:lnTo>
                    <a:pt x="113242" y="80765"/>
                  </a:lnTo>
                  <a:lnTo>
                    <a:pt x="149969" y="53050"/>
                  </a:lnTo>
                  <a:lnTo>
                    <a:pt x="190437" y="30605"/>
                  </a:lnTo>
                  <a:lnTo>
                    <a:pt x="234135" y="13942"/>
                  </a:lnTo>
                  <a:lnTo>
                    <a:pt x="280554" y="3570"/>
                  </a:lnTo>
                  <a:lnTo>
                    <a:pt x="329183" y="0"/>
                  </a:lnTo>
                  <a:lnTo>
                    <a:pt x="1645919" y="0"/>
                  </a:lnTo>
                  <a:lnTo>
                    <a:pt x="1694549" y="3570"/>
                  </a:lnTo>
                  <a:lnTo>
                    <a:pt x="1740968" y="13942"/>
                  </a:lnTo>
                  <a:lnTo>
                    <a:pt x="1784666" y="30605"/>
                  </a:lnTo>
                  <a:lnTo>
                    <a:pt x="1825134" y="53050"/>
                  </a:lnTo>
                  <a:lnTo>
                    <a:pt x="1861861" y="80765"/>
                  </a:lnTo>
                  <a:lnTo>
                    <a:pt x="1894338" y="113242"/>
                  </a:lnTo>
                  <a:lnTo>
                    <a:pt x="1922053" y="149969"/>
                  </a:lnTo>
                  <a:lnTo>
                    <a:pt x="1944498" y="190437"/>
                  </a:lnTo>
                  <a:lnTo>
                    <a:pt x="1961161" y="234135"/>
                  </a:lnTo>
                  <a:lnTo>
                    <a:pt x="1971533" y="280554"/>
                  </a:lnTo>
                  <a:lnTo>
                    <a:pt x="1975103" y="329184"/>
                  </a:lnTo>
                  <a:lnTo>
                    <a:pt x="1975103" y="2854439"/>
                  </a:lnTo>
                  <a:lnTo>
                    <a:pt x="1971533" y="2903086"/>
                  </a:lnTo>
                  <a:lnTo>
                    <a:pt x="1961161" y="2949516"/>
                  </a:lnTo>
                  <a:lnTo>
                    <a:pt x="1944498" y="2993221"/>
                  </a:lnTo>
                  <a:lnTo>
                    <a:pt x="1922053" y="3033691"/>
                  </a:lnTo>
                  <a:lnTo>
                    <a:pt x="1894338" y="3070417"/>
                  </a:lnTo>
                  <a:lnTo>
                    <a:pt x="1861861" y="3102890"/>
                  </a:lnTo>
                  <a:lnTo>
                    <a:pt x="1825134" y="3130601"/>
                  </a:lnTo>
                  <a:lnTo>
                    <a:pt x="1784666" y="3153040"/>
                  </a:lnTo>
                  <a:lnTo>
                    <a:pt x="1740968" y="3169698"/>
                  </a:lnTo>
                  <a:lnTo>
                    <a:pt x="1694549" y="3180066"/>
                  </a:lnTo>
                  <a:lnTo>
                    <a:pt x="1645919" y="3183636"/>
                  </a:lnTo>
                  <a:lnTo>
                    <a:pt x="329183" y="3183636"/>
                  </a:lnTo>
                  <a:lnTo>
                    <a:pt x="280554" y="3180066"/>
                  </a:lnTo>
                  <a:lnTo>
                    <a:pt x="234135" y="3169698"/>
                  </a:lnTo>
                  <a:lnTo>
                    <a:pt x="190437" y="3153040"/>
                  </a:lnTo>
                  <a:lnTo>
                    <a:pt x="149969" y="3130601"/>
                  </a:lnTo>
                  <a:lnTo>
                    <a:pt x="113242" y="3102890"/>
                  </a:lnTo>
                  <a:lnTo>
                    <a:pt x="80765" y="3070417"/>
                  </a:lnTo>
                  <a:lnTo>
                    <a:pt x="53050" y="3033691"/>
                  </a:lnTo>
                  <a:lnTo>
                    <a:pt x="30605" y="2993221"/>
                  </a:lnTo>
                  <a:lnTo>
                    <a:pt x="13942" y="2949516"/>
                  </a:lnTo>
                  <a:lnTo>
                    <a:pt x="3570" y="2903086"/>
                  </a:lnTo>
                  <a:lnTo>
                    <a:pt x="0" y="2854439"/>
                  </a:lnTo>
                  <a:lnTo>
                    <a:pt x="0" y="329184"/>
                  </a:lnTo>
                  <a:close/>
                </a:path>
              </a:pathLst>
            </a:custGeom>
            <a:ln w="12700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Review:</a:t>
            </a:r>
            <a:r>
              <a:rPr sz="36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6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LLM</a:t>
            </a:r>
            <a:r>
              <a:rPr sz="36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Era</a:t>
            </a:r>
            <a:r>
              <a:rPr sz="36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36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Paradigm</a:t>
            </a:r>
            <a:r>
              <a:rPr sz="3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Shift</a:t>
            </a:r>
            <a:r>
              <a:rPr sz="3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3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Machine</a:t>
            </a:r>
            <a:r>
              <a:rPr sz="36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000FF"/>
                </a:solidFill>
                <a:latin typeface="Calibri"/>
                <a:cs typeface="Calibri"/>
              </a:rPr>
              <a:t>Learning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50719" y="3234944"/>
            <a:ext cx="10839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8288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BERT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Oct</a:t>
            </a: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2018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4793" y="3234944"/>
            <a:ext cx="111633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83845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GPT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Jun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2018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6670" y="4402328"/>
            <a:ext cx="1866264" cy="2838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0"/>
              </a:lnSpc>
            </a:pPr>
            <a:r>
              <a:rPr sz="2000" b="1" spc="-10" dirty="0">
                <a:latin typeface="Arial"/>
                <a:cs typeface="Arial"/>
              </a:rPr>
              <a:t>Representation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69985" y="4402328"/>
            <a:ext cx="1356995" cy="283845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180"/>
              </a:lnSpc>
            </a:pPr>
            <a:r>
              <a:rPr sz="2000" b="1" spc="-10" dirty="0">
                <a:latin typeface="Arial"/>
                <a:cs typeface="Arial"/>
              </a:rPr>
              <a:t>Generation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846179" y="636798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515C1705-C789-071D-AEB7-E054E4CC10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114546" y="924813"/>
            <a:ext cx="3963035" cy="5687060"/>
            <a:chOff x="4114546" y="924813"/>
            <a:chExt cx="3963035" cy="5687060"/>
          </a:xfrm>
        </p:grpSpPr>
        <p:pic>
          <p:nvPicPr>
            <p:cNvPr id="4" name="object 4" descr="The Transformer Model - MachineLearningMastery.com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3818" y="1002290"/>
              <a:ext cx="3811810" cy="56089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96000" y="931163"/>
              <a:ext cx="1975485" cy="4996180"/>
            </a:xfrm>
            <a:custGeom>
              <a:avLst/>
              <a:gdLst/>
              <a:ahLst/>
              <a:cxnLst/>
              <a:rect l="l" t="t" r="r" b="b"/>
              <a:pathLst>
                <a:path w="1975484" h="4996180">
                  <a:moveTo>
                    <a:pt x="1645920" y="0"/>
                  </a:moveTo>
                  <a:lnTo>
                    <a:pt x="329184" y="0"/>
                  </a:lnTo>
                  <a:lnTo>
                    <a:pt x="280525" y="3567"/>
                  </a:lnTo>
                  <a:lnTo>
                    <a:pt x="234089" y="13932"/>
                  </a:lnTo>
                  <a:lnTo>
                    <a:pt x="190382" y="30585"/>
                  </a:lnTo>
                  <a:lnTo>
                    <a:pt x="149913" y="53018"/>
                  </a:lnTo>
                  <a:lnTo>
                    <a:pt x="113190" y="80722"/>
                  </a:lnTo>
                  <a:lnTo>
                    <a:pt x="80722" y="113190"/>
                  </a:lnTo>
                  <a:lnTo>
                    <a:pt x="53018" y="149913"/>
                  </a:lnTo>
                  <a:lnTo>
                    <a:pt x="30585" y="190382"/>
                  </a:lnTo>
                  <a:lnTo>
                    <a:pt x="13932" y="234089"/>
                  </a:lnTo>
                  <a:lnTo>
                    <a:pt x="3567" y="280525"/>
                  </a:lnTo>
                  <a:lnTo>
                    <a:pt x="0" y="329184"/>
                  </a:lnTo>
                  <a:lnTo>
                    <a:pt x="0" y="4666488"/>
                  </a:lnTo>
                  <a:lnTo>
                    <a:pt x="3567" y="4715131"/>
                  </a:lnTo>
                  <a:lnTo>
                    <a:pt x="13932" y="4761559"/>
                  </a:lnTo>
                  <a:lnTo>
                    <a:pt x="30585" y="4805262"/>
                  </a:lnTo>
                  <a:lnTo>
                    <a:pt x="53018" y="4845730"/>
                  </a:lnTo>
                  <a:lnTo>
                    <a:pt x="80722" y="4882455"/>
                  </a:lnTo>
                  <a:lnTo>
                    <a:pt x="113190" y="4914927"/>
                  </a:lnTo>
                  <a:lnTo>
                    <a:pt x="149913" y="4942637"/>
                  </a:lnTo>
                  <a:lnTo>
                    <a:pt x="190382" y="4965076"/>
                  </a:lnTo>
                  <a:lnTo>
                    <a:pt x="234089" y="4981734"/>
                  </a:lnTo>
                  <a:lnTo>
                    <a:pt x="280525" y="4992102"/>
                  </a:lnTo>
                  <a:lnTo>
                    <a:pt x="329184" y="4995672"/>
                  </a:lnTo>
                  <a:lnTo>
                    <a:pt x="1645920" y="4995672"/>
                  </a:lnTo>
                  <a:lnTo>
                    <a:pt x="1694578" y="4992102"/>
                  </a:lnTo>
                  <a:lnTo>
                    <a:pt x="1741014" y="4981734"/>
                  </a:lnTo>
                  <a:lnTo>
                    <a:pt x="1784721" y="4965076"/>
                  </a:lnTo>
                  <a:lnTo>
                    <a:pt x="1825190" y="4942637"/>
                  </a:lnTo>
                  <a:lnTo>
                    <a:pt x="1861913" y="4914927"/>
                  </a:lnTo>
                  <a:lnTo>
                    <a:pt x="1894381" y="4882455"/>
                  </a:lnTo>
                  <a:lnTo>
                    <a:pt x="1922085" y="4845730"/>
                  </a:lnTo>
                  <a:lnTo>
                    <a:pt x="1944518" y="4805262"/>
                  </a:lnTo>
                  <a:lnTo>
                    <a:pt x="1961171" y="4761559"/>
                  </a:lnTo>
                  <a:lnTo>
                    <a:pt x="1971536" y="4715131"/>
                  </a:lnTo>
                  <a:lnTo>
                    <a:pt x="1975103" y="4666488"/>
                  </a:lnTo>
                  <a:lnTo>
                    <a:pt x="1975103" y="329184"/>
                  </a:lnTo>
                  <a:lnTo>
                    <a:pt x="1971536" y="280525"/>
                  </a:lnTo>
                  <a:lnTo>
                    <a:pt x="1961171" y="234089"/>
                  </a:lnTo>
                  <a:lnTo>
                    <a:pt x="1944518" y="190382"/>
                  </a:lnTo>
                  <a:lnTo>
                    <a:pt x="1922085" y="149913"/>
                  </a:lnTo>
                  <a:lnTo>
                    <a:pt x="1894381" y="113190"/>
                  </a:lnTo>
                  <a:lnTo>
                    <a:pt x="1861913" y="80722"/>
                  </a:lnTo>
                  <a:lnTo>
                    <a:pt x="1825190" y="53018"/>
                  </a:lnTo>
                  <a:lnTo>
                    <a:pt x="1784721" y="30585"/>
                  </a:lnTo>
                  <a:lnTo>
                    <a:pt x="1741014" y="13932"/>
                  </a:lnTo>
                  <a:lnTo>
                    <a:pt x="1694578" y="3567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BAD5ED">
                <a:alpha val="345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0" y="931163"/>
              <a:ext cx="1975485" cy="4996180"/>
            </a:xfrm>
            <a:custGeom>
              <a:avLst/>
              <a:gdLst/>
              <a:ahLst/>
              <a:cxnLst/>
              <a:rect l="l" t="t" r="r" b="b"/>
              <a:pathLst>
                <a:path w="1975484" h="4996180">
                  <a:moveTo>
                    <a:pt x="0" y="329184"/>
                  </a:moveTo>
                  <a:lnTo>
                    <a:pt x="3567" y="280525"/>
                  </a:lnTo>
                  <a:lnTo>
                    <a:pt x="13932" y="234089"/>
                  </a:lnTo>
                  <a:lnTo>
                    <a:pt x="30585" y="190382"/>
                  </a:lnTo>
                  <a:lnTo>
                    <a:pt x="53018" y="149913"/>
                  </a:lnTo>
                  <a:lnTo>
                    <a:pt x="80722" y="113190"/>
                  </a:lnTo>
                  <a:lnTo>
                    <a:pt x="113190" y="80722"/>
                  </a:lnTo>
                  <a:lnTo>
                    <a:pt x="149913" y="53018"/>
                  </a:lnTo>
                  <a:lnTo>
                    <a:pt x="190382" y="30585"/>
                  </a:lnTo>
                  <a:lnTo>
                    <a:pt x="234089" y="13932"/>
                  </a:lnTo>
                  <a:lnTo>
                    <a:pt x="280525" y="3567"/>
                  </a:lnTo>
                  <a:lnTo>
                    <a:pt x="329184" y="0"/>
                  </a:lnTo>
                  <a:lnTo>
                    <a:pt x="1645920" y="0"/>
                  </a:lnTo>
                  <a:lnTo>
                    <a:pt x="1694578" y="3567"/>
                  </a:lnTo>
                  <a:lnTo>
                    <a:pt x="1741014" y="13932"/>
                  </a:lnTo>
                  <a:lnTo>
                    <a:pt x="1784721" y="30585"/>
                  </a:lnTo>
                  <a:lnTo>
                    <a:pt x="1825190" y="53018"/>
                  </a:lnTo>
                  <a:lnTo>
                    <a:pt x="1861913" y="80722"/>
                  </a:lnTo>
                  <a:lnTo>
                    <a:pt x="1894381" y="113190"/>
                  </a:lnTo>
                  <a:lnTo>
                    <a:pt x="1922085" y="149913"/>
                  </a:lnTo>
                  <a:lnTo>
                    <a:pt x="1944518" y="190382"/>
                  </a:lnTo>
                  <a:lnTo>
                    <a:pt x="1961171" y="234089"/>
                  </a:lnTo>
                  <a:lnTo>
                    <a:pt x="1971536" y="280525"/>
                  </a:lnTo>
                  <a:lnTo>
                    <a:pt x="1975103" y="329184"/>
                  </a:lnTo>
                  <a:lnTo>
                    <a:pt x="1975103" y="4666488"/>
                  </a:lnTo>
                  <a:lnTo>
                    <a:pt x="1971536" y="4715131"/>
                  </a:lnTo>
                  <a:lnTo>
                    <a:pt x="1961171" y="4761559"/>
                  </a:lnTo>
                  <a:lnTo>
                    <a:pt x="1944518" y="4805262"/>
                  </a:lnTo>
                  <a:lnTo>
                    <a:pt x="1922085" y="4845730"/>
                  </a:lnTo>
                  <a:lnTo>
                    <a:pt x="1894381" y="4882455"/>
                  </a:lnTo>
                  <a:lnTo>
                    <a:pt x="1861913" y="4914927"/>
                  </a:lnTo>
                  <a:lnTo>
                    <a:pt x="1825190" y="4942637"/>
                  </a:lnTo>
                  <a:lnTo>
                    <a:pt x="1784721" y="4965076"/>
                  </a:lnTo>
                  <a:lnTo>
                    <a:pt x="1741014" y="4981734"/>
                  </a:lnTo>
                  <a:lnTo>
                    <a:pt x="1694578" y="4992102"/>
                  </a:lnTo>
                  <a:lnTo>
                    <a:pt x="1645920" y="4995672"/>
                  </a:lnTo>
                  <a:lnTo>
                    <a:pt x="329184" y="4995672"/>
                  </a:lnTo>
                  <a:lnTo>
                    <a:pt x="280525" y="4992102"/>
                  </a:lnTo>
                  <a:lnTo>
                    <a:pt x="234089" y="4981734"/>
                  </a:lnTo>
                  <a:lnTo>
                    <a:pt x="190382" y="4965076"/>
                  </a:lnTo>
                  <a:lnTo>
                    <a:pt x="149913" y="4942637"/>
                  </a:lnTo>
                  <a:lnTo>
                    <a:pt x="113190" y="4914927"/>
                  </a:lnTo>
                  <a:lnTo>
                    <a:pt x="80722" y="4882455"/>
                  </a:lnTo>
                  <a:lnTo>
                    <a:pt x="53018" y="4845730"/>
                  </a:lnTo>
                  <a:lnTo>
                    <a:pt x="30585" y="4805262"/>
                  </a:lnTo>
                  <a:lnTo>
                    <a:pt x="13932" y="4761559"/>
                  </a:lnTo>
                  <a:lnTo>
                    <a:pt x="3567" y="4715131"/>
                  </a:lnTo>
                  <a:lnTo>
                    <a:pt x="0" y="4666488"/>
                  </a:lnTo>
                  <a:lnTo>
                    <a:pt x="0" y="329184"/>
                  </a:lnTo>
                  <a:close/>
                </a:path>
              </a:pathLst>
            </a:custGeom>
            <a:ln w="12700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0896" y="2743199"/>
              <a:ext cx="1975485" cy="3183890"/>
            </a:xfrm>
            <a:custGeom>
              <a:avLst/>
              <a:gdLst/>
              <a:ahLst/>
              <a:cxnLst/>
              <a:rect l="l" t="t" r="r" b="b"/>
              <a:pathLst>
                <a:path w="1975485" h="3183890">
                  <a:moveTo>
                    <a:pt x="1645919" y="0"/>
                  </a:moveTo>
                  <a:lnTo>
                    <a:pt x="329183" y="0"/>
                  </a:lnTo>
                  <a:lnTo>
                    <a:pt x="280554" y="3570"/>
                  </a:lnTo>
                  <a:lnTo>
                    <a:pt x="234135" y="13942"/>
                  </a:lnTo>
                  <a:lnTo>
                    <a:pt x="190437" y="30605"/>
                  </a:lnTo>
                  <a:lnTo>
                    <a:pt x="149969" y="53050"/>
                  </a:lnTo>
                  <a:lnTo>
                    <a:pt x="113242" y="80765"/>
                  </a:lnTo>
                  <a:lnTo>
                    <a:pt x="80765" y="113242"/>
                  </a:lnTo>
                  <a:lnTo>
                    <a:pt x="53050" y="149969"/>
                  </a:lnTo>
                  <a:lnTo>
                    <a:pt x="30605" y="190437"/>
                  </a:lnTo>
                  <a:lnTo>
                    <a:pt x="13942" y="234135"/>
                  </a:lnTo>
                  <a:lnTo>
                    <a:pt x="3570" y="280554"/>
                  </a:lnTo>
                  <a:lnTo>
                    <a:pt x="0" y="329184"/>
                  </a:lnTo>
                  <a:lnTo>
                    <a:pt x="0" y="2854439"/>
                  </a:lnTo>
                  <a:lnTo>
                    <a:pt x="3570" y="2903086"/>
                  </a:lnTo>
                  <a:lnTo>
                    <a:pt x="13942" y="2949516"/>
                  </a:lnTo>
                  <a:lnTo>
                    <a:pt x="30605" y="2993221"/>
                  </a:lnTo>
                  <a:lnTo>
                    <a:pt x="53050" y="3033691"/>
                  </a:lnTo>
                  <a:lnTo>
                    <a:pt x="80765" y="3070417"/>
                  </a:lnTo>
                  <a:lnTo>
                    <a:pt x="113242" y="3102890"/>
                  </a:lnTo>
                  <a:lnTo>
                    <a:pt x="149969" y="3130601"/>
                  </a:lnTo>
                  <a:lnTo>
                    <a:pt x="190437" y="3153040"/>
                  </a:lnTo>
                  <a:lnTo>
                    <a:pt x="234135" y="3169698"/>
                  </a:lnTo>
                  <a:lnTo>
                    <a:pt x="280554" y="3180066"/>
                  </a:lnTo>
                  <a:lnTo>
                    <a:pt x="329183" y="3183636"/>
                  </a:lnTo>
                  <a:lnTo>
                    <a:pt x="1645919" y="3183636"/>
                  </a:lnTo>
                  <a:lnTo>
                    <a:pt x="1694549" y="3180066"/>
                  </a:lnTo>
                  <a:lnTo>
                    <a:pt x="1740968" y="3169698"/>
                  </a:lnTo>
                  <a:lnTo>
                    <a:pt x="1784666" y="3153040"/>
                  </a:lnTo>
                  <a:lnTo>
                    <a:pt x="1825134" y="3130601"/>
                  </a:lnTo>
                  <a:lnTo>
                    <a:pt x="1861861" y="3102890"/>
                  </a:lnTo>
                  <a:lnTo>
                    <a:pt x="1894338" y="3070417"/>
                  </a:lnTo>
                  <a:lnTo>
                    <a:pt x="1922053" y="3033691"/>
                  </a:lnTo>
                  <a:lnTo>
                    <a:pt x="1944498" y="2993221"/>
                  </a:lnTo>
                  <a:lnTo>
                    <a:pt x="1961161" y="2949516"/>
                  </a:lnTo>
                  <a:lnTo>
                    <a:pt x="1971533" y="2903086"/>
                  </a:lnTo>
                  <a:lnTo>
                    <a:pt x="1975103" y="2854439"/>
                  </a:lnTo>
                  <a:lnTo>
                    <a:pt x="1975103" y="329184"/>
                  </a:lnTo>
                  <a:lnTo>
                    <a:pt x="1971533" y="280554"/>
                  </a:lnTo>
                  <a:lnTo>
                    <a:pt x="1961161" y="234135"/>
                  </a:lnTo>
                  <a:lnTo>
                    <a:pt x="1944498" y="190437"/>
                  </a:lnTo>
                  <a:lnTo>
                    <a:pt x="1922053" y="149969"/>
                  </a:lnTo>
                  <a:lnTo>
                    <a:pt x="1894338" y="113242"/>
                  </a:lnTo>
                  <a:lnTo>
                    <a:pt x="1861861" y="80765"/>
                  </a:lnTo>
                  <a:lnTo>
                    <a:pt x="1825134" y="53050"/>
                  </a:lnTo>
                  <a:lnTo>
                    <a:pt x="1784666" y="30605"/>
                  </a:lnTo>
                  <a:lnTo>
                    <a:pt x="1740968" y="13942"/>
                  </a:lnTo>
                  <a:lnTo>
                    <a:pt x="1694549" y="3570"/>
                  </a:lnTo>
                  <a:lnTo>
                    <a:pt x="1645919" y="0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20896" y="2743199"/>
              <a:ext cx="1975485" cy="3183890"/>
            </a:xfrm>
            <a:custGeom>
              <a:avLst/>
              <a:gdLst/>
              <a:ahLst/>
              <a:cxnLst/>
              <a:rect l="l" t="t" r="r" b="b"/>
              <a:pathLst>
                <a:path w="1975485" h="3183890">
                  <a:moveTo>
                    <a:pt x="0" y="329184"/>
                  </a:moveTo>
                  <a:lnTo>
                    <a:pt x="3570" y="280554"/>
                  </a:lnTo>
                  <a:lnTo>
                    <a:pt x="13942" y="234135"/>
                  </a:lnTo>
                  <a:lnTo>
                    <a:pt x="30605" y="190437"/>
                  </a:lnTo>
                  <a:lnTo>
                    <a:pt x="53050" y="149969"/>
                  </a:lnTo>
                  <a:lnTo>
                    <a:pt x="80765" y="113242"/>
                  </a:lnTo>
                  <a:lnTo>
                    <a:pt x="113242" y="80765"/>
                  </a:lnTo>
                  <a:lnTo>
                    <a:pt x="149969" y="53050"/>
                  </a:lnTo>
                  <a:lnTo>
                    <a:pt x="190437" y="30605"/>
                  </a:lnTo>
                  <a:lnTo>
                    <a:pt x="234135" y="13942"/>
                  </a:lnTo>
                  <a:lnTo>
                    <a:pt x="280554" y="3570"/>
                  </a:lnTo>
                  <a:lnTo>
                    <a:pt x="329183" y="0"/>
                  </a:lnTo>
                  <a:lnTo>
                    <a:pt x="1645919" y="0"/>
                  </a:lnTo>
                  <a:lnTo>
                    <a:pt x="1694549" y="3570"/>
                  </a:lnTo>
                  <a:lnTo>
                    <a:pt x="1740968" y="13942"/>
                  </a:lnTo>
                  <a:lnTo>
                    <a:pt x="1784666" y="30605"/>
                  </a:lnTo>
                  <a:lnTo>
                    <a:pt x="1825134" y="53050"/>
                  </a:lnTo>
                  <a:lnTo>
                    <a:pt x="1861861" y="80765"/>
                  </a:lnTo>
                  <a:lnTo>
                    <a:pt x="1894338" y="113242"/>
                  </a:lnTo>
                  <a:lnTo>
                    <a:pt x="1922053" y="149969"/>
                  </a:lnTo>
                  <a:lnTo>
                    <a:pt x="1944498" y="190437"/>
                  </a:lnTo>
                  <a:lnTo>
                    <a:pt x="1961161" y="234135"/>
                  </a:lnTo>
                  <a:lnTo>
                    <a:pt x="1971533" y="280554"/>
                  </a:lnTo>
                  <a:lnTo>
                    <a:pt x="1975103" y="329184"/>
                  </a:lnTo>
                  <a:lnTo>
                    <a:pt x="1975103" y="2854439"/>
                  </a:lnTo>
                  <a:lnTo>
                    <a:pt x="1971533" y="2903086"/>
                  </a:lnTo>
                  <a:lnTo>
                    <a:pt x="1961161" y="2949516"/>
                  </a:lnTo>
                  <a:lnTo>
                    <a:pt x="1944498" y="2993221"/>
                  </a:lnTo>
                  <a:lnTo>
                    <a:pt x="1922053" y="3033691"/>
                  </a:lnTo>
                  <a:lnTo>
                    <a:pt x="1894338" y="3070417"/>
                  </a:lnTo>
                  <a:lnTo>
                    <a:pt x="1861861" y="3102890"/>
                  </a:lnTo>
                  <a:lnTo>
                    <a:pt x="1825134" y="3130601"/>
                  </a:lnTo>
                  <a:lnTo>
                    <a:pt x="1784666" y="3153040"/>
                  </a:lnTo>
                  <a:lnTo>
                    <a:pt x="1740968" y="3169698"/>
                  </a:lnTo>
                  <a:lnTo>
                    <a:pt x="1694549" y="3180066"/>
                  </a:lnTo>
                  <a:lnTo>
                    <a:pt x="1645919" y="3183636"/>
                  </a:lnTo>
                  <a:lnTo>
                    <a:pt x="329183" y="3183636"/>
                  </a:lnTo>
                  <a:lnTo>
                    <a:pt x="280554" y="3180066"/>
                  </a:lnTo>
                  <a:lnTo>
                    <a:pt x="234135" y="3169698"/>
                  </a:lnTo>
                  <a:lnTo>
                    <a:pt x="190437" y="3153040"/>
                  </a:lnTo>
                  <a:lnTo>
                    <a:pt x="149969" y="3130601"/>
                  </a:lnTo>
                  <a:lnTo>
                    <a:pt x="113242" y="3102890"/>
                  </a:lnTo>
                  <a:lnTo>
                    <a:pt x="80765" y="3070417"/>
                  </a:lnTo>
                  <a:lnTo>
                    <a:pt x="53050" y="3033691"/>
                  </a:lnTo>
                  <a:lnTo>
                    <a:pt x="30605" y="2993221"/>
                  </a:lnTo>
                  <a:lnTo>
                    <a:pt x="13942" y="2949516"/>
                  </a:lnTo>
                  <a:lnTo>
                    <a:pt x="3570" y="2903086"/>
                  </a:lnTo>
                  <a:lnTo>
                    <a:pt x="0" y="2854439"/>
                  </a:lnTo>
                  <a:lnTo>
                    <a:pt x="0" y="329184"/>
                  </a:lnTo>
                  <a:close/>
                </a:path>
              </a:pathLst>
            </a:custGeom>
            <a:ln w="12700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Review:</a:t>
            </a:r>
            <a:r>
              <a:rPr sz="36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6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LLM</a:t>
            </a:r>
            <a:r>
              <a:rPr sz="36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Era</a:t>
            </a:r>
            <a:r>
              <a:rPr sz="36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36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Paradigm</a:t>
            </a:r>
            <a:r>
              <a:rPr sz="3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Shift</a:t>
            </a:r>
            <a:r>
              <a:rPr sz="3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3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Machine</a:t>
            </a:r>
            <a:r>
              <a:rPr sz="36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000FF"/>
                </a:solidFill>
                <a:latin typeface="Calibri"/>
                <a:cs typeface="Calibri"/>
              </a:rPr>
              <a:t>Learning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50719" y="3234944"/>
            <a:ext cx="10839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8288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BERT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Oct</a:t>
            </a: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2018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4793" y="3234944"/>
            <a:ext cx="111633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83845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GPT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Jun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2018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6670" y="4402328"/>
            <a:ext cx="1866264" cy="2838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0"/>
              </a:lnSpc>
            </a:pPr>
            <a:r>
              <a:rPr sz="2000" b="1" spc="-10" dirty="0">
                <a:latin typeface="Arial"/>
                <a:cs typeface="Arial"/>
              </a:rPr>
              <a:t>Representation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69985" y="4402328"/>
            <a:ext cx="1356995" cy="283845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180"/>
              </a:lnSpc>
            </a:pPr>
            <a:r>
              <a:rPr sz="2000" b="1" spc="-10" dirty="0">
                <a:latin typeface="Arial"/>
                <a:cs typeface="Arial"/>
              </a:rPr>
              <a:t>Generation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846179" y="636798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78787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F5E00B4D-71B6-32DB-C520-4CFCA2ED47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GPT</a:t>
            </a:r>
            <a:r>
              <a:rPr sz="40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Generalizing</a:t>
            </a:r>
            <a:r>
              <a:rPr sz="40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Unseen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Tasks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dirty="0"/>
              <a:t>LMs</a:t>
            </a:r>
            <a:r>
              <a:rPr spc="-40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different</a:t>
            </a:r>
            <a:r>
              <a:rPr spc="-40" dirty="0"/>
              <a:t> </a:t>
            </a:r>
            <a:r>
              <a:rPr dirty="0"/>
              <a:t>tasks</a:t>
            </a:r>
            <a:r>
              <a:rPr spc="-45" dirty="0"/>
              <a:t> </a:t>
            </a:r>
            <a:r>
              <a:rPr dirty="0"/>
              <a:t>by</a:t>
            </a:r>
            <a:r>
              <a:rPr spc="-55" dirty="0"/>
              <a:t> </a:t>
            </a:r>
            <a:r>
              <a:rPr spc="-10" dirty="0"/>
              <a:t>pre-</a:t>
            </a:r>
            <a:r>
              <a:rPr dirty="0"/>
              <a:t>training</a:t>
            </a:r>
            <a:r>
              <a:rPr spc="-2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“base”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5" dirty="0"/>
              <a:t> </a:t>
            </a:r>
            <a:r>
              <a:rPr spc="-25" dirty="0"/>
              <a:t>and </a:t>
            </a:r>
            <a:r>
              <a:rPr dirty="0"/>
              <a:t>then</a:t>
            </a:r>
            <a:r>
              <a:rPr spc="-40" dirty="0"/>
              <a:t> </a:t>
            </a:r>
            <a:r>
              <a:rPr spc="-10" dirty="0"/>
              <a:t>fine-</a:t>
            </a:r>
            <a:r>
              <a:rPr dirty="0"/>
              <a:t>tuning</a:t>
            </a:r>
            <a:r>
              <a:rPr spc="-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task(s)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interest</a:t>
            </a:r>
          </a:p>
          <a:p>
            <a:pPr marL="354965" indent="-342265">
              <a:lnSpc>
                <a:spcPts val="3229"/>
              </a:lnSpc>
              <a:spcBef>
                <a:spcPts val="264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dirty="0"/>
              <a:t>Practical</a:t>
            </a:r>
            <a:r>
              <a:rPr spc="-40" dirty="0"/>
              <a:t> </a:t>
            </a:r>
            <a:r>
              <a:rPr spc="-10" dirty="0"/>
              <a:t>Issues:</a:t>
            </a: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Too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copies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Need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large-</a:t>
            </a:r>
            <a:r>
              <a:rPr sz="2400" dirty="0">
                <a:latin typeface="Calibri"/>
                <a:cs typeface="Calibri"/>
              </a:rPr>
              <a:t>scale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labeled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fine-</a:t>
            </a:r>
            <a:r>
              <a:rPr sz="2400" spc="-10" dirty="0">
                <a:latin typeface="Calibri"/>
                <a:cs typeface="Calibri"/>
              </a:rPr>
              <a:t>tuning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6366B9-5D65-5124-FBBE-01E28FDCB5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GPT</a:t>
            </a:r>
            <a:r>
              <a:rPr sz="40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Generalizing</a:t>
            </a:r>
            <a:r>
              <a:rPr sz="40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Unseen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Tasks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765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dirty="0"/>
              <a:t>LMs</a:t>
            </a:r>
            <a:r>
              <a:rPr spc="-40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different</a:t>
            </a:r>
            <a:r>
              <a:rPr spc="-40" dirty="0"/>
              <a:t> </a:t>
            </a:r>
            <a:r>
              <a:rPr dirty="0"/>
              <a:t>tasks</a:t>
            </a:r>
            <a:r>
              <a:rPr spc="-45" dirty="0"/>
              <a:t> </a:t>
            </a:r>
            <a:r>
              <a:rPr dirty="0"/>
              <a:t>by</a:t>
            </a:r>
            <a:r>
              <a:rPr spc="-55" dirty="0"/>
              <a:t> </a:t>
            </a:r>
            <a:r>
              <a:rPr spc="-10" dirty="0"/>
              <a:t>pre-</a:t>
            </a:r>
            <a:r>
              <a:rPr dirty="0"/>
              <a:t>training</a:t>
            </a:r>
            <a:r>
              <a:rPr spc="-2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“base”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5" dirty="0"/>
              <a:t> </a:t>
            </a:r>
            <a:r>
              <a:rPr spc="-25" dirty="0"/>
              <a:t>and </a:t>
            </a:r>
            <a:r>
              <a:rPr dirty="0"/>
              <a:t>then</a:t>
            </a:r>
            <a:r>
              <a:rPr spc="-40" dirty="0"/>
              <a:t> </a:t>
            </a:r>
            <a:r>
              <a:rPr spc="-10" dirty="0"/>
              <a:t>fine-</a:t>
            </a:r>
            <a:r>
              <a:rPr dirty="0"/>
              <a:t>tuning</a:t>
            </a:r>
            <a:r>
              <a:rPr spc="-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task(s)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interest</a:t>
            </a:r>
          </a:p>
          <a:p>
            <a:pPr marL="354965" indent="-342265">
              <a:lnSpc>
                <a:spcPts val="3080"/>
              </a:lnSpc>
              <a:spcBef>
                <a:spcPts val="202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dirty="0"/>
              <a:t>Practical</a:t>
            </a:r>
            <a:r>
              <a:rPr spc="-40" dirty="0"/>
              <a:t> </a:t>
            </a:r>
            <a:r>
              <a:rPr spc="-10" dirty="0"/>
              <a:t>Issues:</a:t>
            </a:r>
          </a:p>
          <a:p>
            <a:pPr marL="812165" lvl="1" indent="-316865">
              <a:lnSpc>
                <a:spcPts val="231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Too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copies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Need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large-</a:t>
            </a:r>
            <a:r>
              <a:rPr sz="2400" dirty="0">
                <a:latin typeface="Calibri"/>
                <a:cs typeface="Calibri"/>
              </a:rPr>
              <a:t>scale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labeled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fine-</a:t>
            </a:r>
            <a:r>
              <a:rPr sz="2400" spc="-10" dirty="0">
                <a:latin typeface="Calibri"/>
                <a:cs typeface="Calibri"/>
              </a:rPr>
              <a:t>tuning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080"/>
              </a:lnSpc>
              <a:spcBef>
                <a:spcPts val="19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pc="-20" dirty="0"/>
              <a:t>Multi-</a:t>
            </a:r>
            <a:r>
              <a:rPr dirty="0"/>
              <a:t>task</a:t>
            </a:r>
            <a:r>
              <a:rPr spc="30" dirty="0"/>
              <a:t> </a:t>
            </a:r>
            <a:r>
              <a:rPr spc="-10" dirty="0"/>
              <a:t>Training?</a:t>
            </a:r>
          </a:p>
          <a:p>
            <a:pPr marL="812165" lvl="1" indent="-316865">
              <a:lnSpc>
                <a:spcPts val="231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challenge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Humans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don’t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volumes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 –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better?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dirty="0"/>
              <a:t>Train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perform</a:t>
            </a:r>
            <a:r>
              <a:rPr spc="-20" dirty="0"/>
              <a:t> </a:t>
            </a:r>
            <a:r>
              <a:rPr dirty="0"/>
              <a:t>NLP</a:t>
            </a:r>
            <a:r>
              <a:rPr spc="-30" dirty="0"/>
              <a:t> </a:t>
            </a:r>
            <a:r>
              <a:rPr dirty="0"/>
              <a:t>tasks</a:t>
            </a:r>
            <a:r>
              <a:rPr spc="-3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zero-shot</a:t>
            </a:r>
            <a:r>
              <a:rPr spc="-20" dirty="0"/>
              <a:t> </a:t>
            </a:r>
            <a:r>
              <a:rPr spc="-10" dirty="0"/>
              <a:t>manner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7FC3B2-353E-F600-F5BD-82E576BA5E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GPT</a:t>
            </a:r>
            <a:r>
              <a:rPr sz="40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sz="40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Task</a:t>
            </a: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Specifications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13523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shift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assumptions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single-</a:t>
            </a:r>
            <a:r>
              <a:rPr sz="2800" dirty="0">
                <a:latin typeface="Calibri"/>
                <a:cs typeface="Calibri"/>
              </a:rPr>
              <a:t>task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general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93853" y="2609028"/>
            <a:ext cx="2490470" cy="681355"/>
            <a:chOff x="1293853" y="2609028"/>
            <a:chExt cx="2490470" cy="6813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3853" y="2609028"/>
              <a:ext cx="2490260" cy="6813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2627375"/>
              <a:ext cx="2418588" cy="6096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31975" y="2627376"/>
            <a:ext cx="2418715" cy="609600"/>
          </a:xfrm>
          <a:prstGeom prst="rect">
            <a:avLst/>
          </a:prstGeom>
          <a:ln w="9525">
            <a:solidFill>
              <a:srgbClr val="FFBE00"/>
            </a:solidFill>
          </a:ln>
        </p:spPr>
        <p:txBody>
          <a:bodyPr vert="horz" wrap="square" lIns="0" tIns="193040" rIns="0" bIns="0" rtlCol="0">
            <a:spAutoFit/>
          </a:bodyPr>
          <a:lstStyle/>
          <a:p>
            <a:pPr marL="478790">
              <a:lnSpc>
                <a:spcPct val="100000"/>
              </a:lnSpc>
              <a:spcBef>
                <a:spcPts val="1520"/>
              </a:spcBef>
            </a:pPr>
            <a:r>
              <a:rPr sz="1400" dirty="0">
                <a:latin typeface="Arial"/>
                <a:cs typeface="Arial"/>
              </a:rPr>
              <a:t>Single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Task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65802" y="2615438"/>
            <a:ext cx="1244600" cy="716280"/>
            <a:chOff x="4765802" y="2615438"/>
            <a:chExt cx="1244600" cy="716280"/>
          </a:xfrm>
        </p:grpSpPr>
        <p:sp>
          <p:nvSpPr>
            <p:cNvPr id="15" name="object 15"/>
            <p:cNvSpPr/>
            <p:nvPr/>
          </p:nvSpPr>
          <p:spPr>
            <a:xfrm>
              <a:off x="4778502" y="2628138"/>
              <a:ext cx="1219200" cy="690880"/>
            </a:xfrm>
            <a:custGeom>
              <a:avLst/>
              <a:gdLst/>
              <a:ahLst/>
              <a:cxnLst/>
              <a:rect l="l" t="t" r="r" b="b"/>
              <a:pathLst>
                <a:path w="1219200" h="690879">
                  <a:moveTo>
                    <a:pt x="874013" y="0"/>
                  </a:moveTo>
                  <a:lnTo>
                    <a:pt x="874013" y="172592"/>
                  </a:lnTo>
                  <a:lnTo>
                    <a:pt x="0" y="172592"/>
                  </a:lnTo>
                  <a:lnTo>
                    <a:pt x="0" y="517778"/>
                  </a:lnTo>
                  <a:lnTo>
                    <a:pt x="874013" y="517778"/>
                  </a:lnTo>
                  <a:lnTo>
                    <a:pt x="874013" y="690372"/>
                  </a:lnTo>
                  <a:lnTo>
                    <a:pt x="1219200" y="345186"/>
                  </a:lnTo>
                  <a:lnTo>
                    <a:pt x="8740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78502" y="2628138"/>
              <a:ext cx="1219200" cy="690880"/>
            </a:xfrm>
            <a:custGeom>
              <a:avLst/>
              <a:gdLst/>
              <a:ahLst/>
              <a:cxnLst/>
              <a:rect l="l" t="t" r="r" b="b"/>
              <a:pathLst>
                <a:path w="1219200" h="690879">
                  <a:moveTo>
                    <a:pt x="0" y="172592"/>
                  </a:moveTo>
                  <a:lnTo>
                    <a:pt x="874013" y="172592"/>
                  </a:lnTo>
                  <a:lnTo>
                    <a:pt x="874013" y="0"/>
                  </a:lnTo>
                  <a:lnTo>
                    <a:pt x="1219200" y="345186"/>
                  </a:lnTo>
                  <a:lnTo>
                    <a:pt x="874013" y="690372"/>
                  </a:lnTo>
                  <a:lnTo>
                    <a:pt x="874013" y="517778"/>
                  </a:lnTo>
                  <a:lnTo>
                    <a:pt x="0" y="517778"/>
                  </a:lnTo>
                  <a:lnTo>
                    <a:pt x="0" y="172592"/>
                  </a:lnTo>
                  <a:close/>
                </a:path>
              </a:pathLst>
            </a:custGeom>
            <a:ln w="254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351753" y="2689800"/>
            <a:ext cx="2490470" cy="681355"/>
            <a:chOff x="7351753" y="2689800"/>
            <a:chExt cx="2490470" cy="6813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1753" y="2689800"/>
              <a:ext cx="2490260" cy="6813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9875" y="2708147"/>
              <a:ext cx="2418587" cy="6096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389876" y="2708148"/>
            <a:ext cx="2418715" cy="609600"/>
          </a:xfrm>
          <a:prstGeom prst="rect">
            <a:avLst/>
          </a:prstGeom>
          <a:ln w="9525">
            <a:solidFill>
              <a:srgbClr val="FFBE00"/>
            </a:solidFill>
          </a:ln>
        </p:spPr>
        <p:txBody>
          <a:bodyPr vert="horz" wrap="square" lIns="0" tIns="192405" rIns="0" bIns="0" rtlCol="0">
            <a:spAutoFit/>
          </a:bodyPr>
          <a:lstStyle/>
          <a:p>
            <a:pPr marL="627380">
              <a:lnSpc>
                <a:spcPct val="100000"/>
              </a:lnSpc>
              <a:spcBef>
                <a:spcPts val="1515"/>
              </a:spcBef>
            </a:pPr>
            <a:r>
              <a:rPr sz="1400" dirty="0">
                <a:latin typeface="Arial"/>
                <a:cs typeface="Arial"/>
              </a:rPr>
              <a:t>General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8414" y="3494913"/>
            <a:ext cx="1287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P(output</a:t>
            </a:r>
            <a:r>
              <a:rPr sz="1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|</a:t>
            </a:r>
            <a:r>
              <a:rPr sz="1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input)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58759" y="3632453"/>
            <a:ext cx="16916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P(output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|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 input,</a:t>
            </a:r>
            <a:r>
              <a:rPr sz="1400" b="1" spc="-10" dirty="0">
                <a:solidFill>
                  <a:srgbClr val="C00000"/>
                </a:solidFill>
                <a:latin typeface="Arial"/>
                <a:cs typeface="Arial"/>
              </a:rPr>
              <a:t>task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7ED07285-F39C-1759-1463-6FF6CE7DEF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GPT</a:t>
            </a:r>
            <a:r>
              <a:rPr sz="40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sz="40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Task</a:t>
            </a: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Specifications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13523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shift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assumptions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single-</a:t>
            </a:r>
            <a:r>
              <a:rPr sz="2800" dirty="0">
                <a:latin typeface="Calibri"/>
                <a:cs typeface="Calibri"/>
              </a:rPr>
              <a:t>task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general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93853" y="2609028"/>
            <a:ext cx="2490470" cy="681355"/>
            <a:chOff x="1293853" y="2609028"/>
            <a:chExt cx="2490470" cy="6813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3853" y="2609028"/>
              <a:ext cx="2490260" cy="6813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976" y="2627375"/>
              <a:ext cx="2418588" cy="6096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31975" y="2627376"/>
            <a:ext cx="2418715" cy="609600"/>
          </a:xfrm>
          <a:prstGeom prst="rect">
            <a:avLst/>
          </a:prstGeom>
          <a:ln w="9525">
            <a:solidFill>
              <a:srgbClr val="FFBE00"/>
            </a:solidFill>
          </a:ln>
        </p:spPr>
        <p:txBody>
          <a:bodyPr vert="horz" wrap="square" lIns="0" tIns="193040" rIns="0" bIns="0" rtlCol="0">
            <a:spAutoFit/>
          </a:bodyPr>
          <a:lstStyle/>
          <a:p>
            <a:pPr marL="478790">
              <a:lnSpc>
                <a:spcPct val="100000"/>
              </a:lnSpc>
              <a:spcBef>
                <a:spcPts val="1520"/>
              </a:spcBef>
            </a:pPr>
            <a:r>
              <a:rPr sz="1400" dirty="0">
                <a:latin typeface="Arial"/>
                <a:cs typeface="Arial"/>
              </a:rPr>
              <a:t>Single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Task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65802" y="2615438"/>
            <a:ext cx="1244600" cy="716280"/>
            <a:chOff x="4765802" y="2615438"/>
            <a:chExt cx="1244600" cy="716280"/>
          </a:xfrm>
        </p:grpSpPr>
        <p:sp>
          <p:nvSpPr>
            <p:cNvPr id="16" name="object 16"/>
            <p:cNvSpPr/>
            <p:nvPr/>
          </p:nvSpPr>
          <p:spPr>
            <a:xfrm>
              <a:off x="4778502" y="2628138"/>
              <a:ext cx="1219200" cy="690880"/>
            </a:xfrm>
            <a:custGeom>
              <a:avLst/>
              <a:gdLst/>
              <a:ahLst/>
              <a:cxnLst/>
              <a:rect l="l" t="t" r="r" b="b"/>
              <a:pathLst>
                <a:path w="1219200" h="690879">
                  <a:moveTo>
                    <a:pt x="874013" y="0"/>
                  </a:moveTo>
                  <a:lnTo>
                    <a:pt x="874013" y="172592"/>
                  </a:lnTo>
                  <a:lnTo>
                    <a:pt x="0" y="172592"/>
                  </a:lnTo>
                  <a:lnTo>
                    <a:pt x="0" y="517778"/>
                  </a:lnTo>
                  <a:lnTo>
                    <a:pt x="874013" y="517778"/>
                  </a:lnTo>
                  <a:lnTo>
                    <a:pt x="874013" y="690372"/>
                  </a:lnTo>
                  <a:lnTo>
                    <a:pt x="1219200" y="345186"/>
                  </a:lnTo>
                  <a:lnTo>
                    <a:pt x="8740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78502" y="2628138"/>
              <a:ext cx="1219200" cy="690880"/>
            </a:xfrm>
            <a:custGeom>
              <a:avLst/>
              <a:gdLst/>
              <a:ahLst/>
              <a:cxnLst/>
              <a:rect l="l" t="t" r="r" b="b"/>
              <a:pathLst>
                <a:path w="1219200" h="690879">
                  <a:moveTo>
                    <a:pt x="0" y="172592"/>
                  </a:moveTo>
                  <a:lnTo>
                    <a:pt x="874013" y="172592"/>
                  </a:lnTo>
                  <a:lnTo>
                    <a:pt x="874013" y="0"/>
                  </a:lnTo>
                  <a:lnTo>
                    <a:pt x="1219200" y="345186"/>
                  </a:lnTo>
                  <a:lnTo>
                    <a:pt x="874013" y="690372"/>
                  </a:lnTo>
                  <a:lnTo>
                    <a:pt x="874013" y="517778"/>
                  </a:lnTo>
                  <a:lnTo>
                    <a:pt x="0" y="517778"/>
                  </a:lnTo>
                  <a:lnTo>
                    <a:pt x="0" y="172592"/>
                  </a:lnTo>
                  <a:close/>
                </a:path>
              </a:pathLst>
            </a:custGeom>
            <a:ln w="254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351753" y="2689800"/>
            <a:ext cx="2490470" cy="681355"/>
            <a:chOff x="7351753" y="2689800"/>
            <a:chExt cx="2490470" cy="6813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1753" y="2689800"/>
              <a:ext cx="2490260" cy="6813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9875" y="2708147"/>
              <a:ext cx="2418587" cy="6096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389876" y="2708148"/>
            <a:ext cx="2418715" cy="609600"/>
          </a:xfrm>
          <a:prstGeom prst="rect">
            <a:avLst/>
          </a:prstGeom>
          <a:ln w="9525">
            <a:solidFill>
              <a:srgbClr val="FFBE00"/>
            </a:solidFill>
          </a:ln>
        </p:spPr>
        <p:txBody>
          <a:bodyPr vert="horz" wrap="square" lIns="0" tIns="192405" rIns="0" bIns="0" rtlCol="0">
            <a:spAutoFit/>
          </a:bodyPr>
          <a:lstStyle/>
          <a:p>
            <a:pPr marL="627380">
              <a:lnSpc>
                <a:spcPct val="100000"/>
              </a:lnSpc>
              <a:spcBef>
                <a:spcPts val="1515"/>
              </a:spcBef>
            </a:pPr>
            <a:r>
              <a:rPr sz="1400" dirty="0">
                <a:latin typeface="Arial"/>
                <a:cs typeface="Arial"/>
              </a:rPr>
              <a:t>General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88414" y="3494913"/>
            <a:ext cx="1287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P(output</a:t>
            </a:r>
            <a:r>
              <a:rPr sz="1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|</a:t>
            </a:r>
            <a:r>
              <a:rPr sz="1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input)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58759" y="3632453"/>
            <a:ext cx="16916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P(output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|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 input,</a:t>
            </a:r>
            <a:r>
              <a:rPr sz="1400" b="1" spc="-10" dirty="0">
                <a:solidFill>
                  <a:srgbClr val="C00000"/>
                </a:solidFill>
                <a:latin typeface="Arial"/>
                <a:cs typeface="Arial"/>
              </a:rPr>
              <a:t>task</a:t>
            </a:r>
            <a:r>
              <a:rPr sz="1400" spc="-10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787" y="4238701"/>
            <a:ext cx="10537825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marR="5080" indent="-342900">
              <a:lnSpc>
                <a:spcPts val="3030"/>
              </a:lnSpc>
              <a:spcBef>
                <a:spcPts val="475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Task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descriptions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translate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this </a:t>
            </a:r>
            <a:r>
              <a:rPr sz="2800" dirty="0">
                <a:latin typeface="Calibri"/>
                <a:cs typeface="Calibri"/>
              </a:rPr>
              <a:t>French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English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0FA98E8-1FD8-78D7-CF6D-F46E2DB33A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GPT</a:t>
            </a:r>
            <a:r>
              <a:rPr sz="40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what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makes</a:t>
            </a:r>
            <a:r>
              <a:rPr sz="40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such</a:t>
            </a:r>
            <a:r>
              <a:rPr sz="40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an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LM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work</a:t>
            </a:r>
            <a:r>
              <a:rPr sz="40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8001634" cy="1494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Diverse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75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disparate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all!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2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Scaling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capacity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120" y="3614004"/>
            <a:ext cx="10118578" cy="1800362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2D383C-5D69-35C2-5C68-7DD61B798A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Scaling</a:t>
            </a:r>
            <a:r>
              <a:rPr sz="40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GPT-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3543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Scaling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perplexity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3654" y="2720965"/>
            <a:ext cx="3340391" cy="3058671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F6F84A-A003-E285-CD5F-2162E01CED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Why</a:t>
            </a:r>
            <a:r>
              <a:rPr sz="400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40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this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interesting?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Look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at</a:t>
            </a:r>
            <a:r>
              <a:rPr sz="4000" b="1" spc="-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scaling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68641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typical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scaling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effects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increase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amount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894" y="3009023"/>
            <a:ext cx="3858668" cy="2654823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851DAD-CFBF-64DB-A418-33661B30A0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Why</a:t>
            </a:r>
            <a:r>
              <a:rPr sz="400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40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this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interesting?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Look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at</a:t>
            </a:r>
            <a:r>
              <a:rPr sz="4000" b="1" spc="-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scaling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7012940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190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Loss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dataset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log-log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plot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190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“power-</a:t>
            </a:r>
            <a:r>
              <a:rPr sz="2800" dirty="0">
                <a:latin typeface="Calibri"/>
                <a:cs typeface="Calibri"/>
              </a:rPr>
              <a:t>law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scaling”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606" y="3012154"/>
            <a:ext cx="4013352" cy="27609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8528" y="3120964"/>
            <a:ext cx="3619217" cy="294485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F56360-4F12-11B1-9173-3359FB76BE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Scaling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(Kaplan,2020)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427970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understand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scaling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scaling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laws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  <a:p>
            <a:pPr marL="355600" marR="899794" indent="-342900">
              <a:lnSpc>
                <a:spcPts val="3020"/>
              </a:lnSpc>
              <a:spcBef>
                <a:spcPts val="307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scaling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laws,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decisions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architecture,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data, </a:t>
            </a:r>
            <a:r>
              <a:rPr sz="2800" dirty="0">
                <a:latin typeface="Calibri"/>
                <a:cs typeface="Calibri"/>
              </a:rPr>
              <a:t>hyperparameters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smaller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models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ts val="3020"/>
              </a:lnSpc>
              <a:spcBef>
                <a:spcPts val="3035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  <a:hlinkClick r:id="rId2"/>
              </a:rPr>
              <a:t>Open</a:t>
            </a:r>
            <a:r>
              <a:rPr sz="2800" spc="-75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AI</a:t>
            </a:r>
            <a:r>
              <a:rPr sz="2800" spc="-25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Study</a:t>
            </a:r>
            <a:r>
              <a:rPr sz="2800" spc="-15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:</a:t>
            </a:r>
            <a:r>
              <a:rPr sz="2800" spc="-5" dirty="0">
                <a:latin typeface="Calibri"/>
                <a:cs typeface="Calibri"/>
                <a:hlinkClick r:id="rId2"/>
              </a:rPr>
              <a:t> </a:t>
            </a:r>
            <a:r>
              <a:rPr sz="2800" b="1" spc="-6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Scaling</a:t>
            </a:r>
            <a:r>
              <a:rPr sz="2800" b="1" spc="-15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7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Laws</a:t>
            </a:r>
            <a:r>
              <a:rPr sz="2800" b="1" spc="-21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for</a:t>
            </a:r>
            <a:r>
              <a:rPr sz="2800" b="1" spc="-15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7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Neural</a:t>
            </a:r>
            <a:r>
              <a:rPr sz="2800" b="1" spc="-18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4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Language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2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Models</a:t>
            </a:r>
            <a:r>
              <a:rPr sz="2800" b="1" spc="-10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(</a:t>
            </a:r>
            <a:r>
              <a:rPr sz="2800" u="sng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Kaplan</a:t>
            </a:r>
            <a:r>
              <a:rPr sz="2800" u="sng" spc="-114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u="sng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800" u="sng" spc="-140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u="sng" spc="-25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al.</a:t>
            </a:r>
            <a:r>
              <a:rPr sz="2800" u="none" spc="-25" dirty="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2020</a:t>
            </a:r>
            <a:r>
              <a:rPr sz="2800" u="none" spc="-10" dirty="0">
                <a:latin typeface="Calibri"/>
                <a:cs typeface="Calibri"/>
                <a:hlinkClick r:id="rId2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B3C275-A8FA-6B06-8AC0-C0AA1A230F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Scaling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(Kaplan,2020)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0687" y="1550288"/>
            <a:ext cx="10558145" cy="35286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93700" marR="97155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93700" algn="l"/>
              </a:tabLst>
            </a:pPr>
            <a:r>
              <a:rPr sz="2800" dirty="0">
                <a:latin typeface="Calibri"/>
                <a:cs typeface="Calibri"/>
                <a:hlinkClick r:id="rId2"/>
              </a:rPr>
              <a:t>Open</a:t>
            </a:r>
            <a:r>
              <a:rPr sz="2800" spc="-75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AI</a:t>
            </a:r>
            <a:r>
              <a:rPr sz="2800" spc="-25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Study</a:t>
            </a:r>
            <a:r>
              <a:rPr sz="2800" spc="-15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:</a:t>
            </a:r>
            <a:r>
              <a:rPr sz="2800" spc="-5" dirty="0">
                <a:latin typeface="Calibri"/>
                <a:cs typeface="Calibri"/>
                <a:hlinkClick r:id="rId2"/>
              </a:rPr>
              <a:t> </a:t>
            </a:r>
            <a:r>
              <a:rPr sz="2800" b="1" spc="-6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Scaling</a:t>
            </a:r>
            <a:r>
              <a:rPr sz="2800" b="1" spc="-15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7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Laws</a:t>
            </a:r>
            <a:r>
              <a:rPr sz="2800" b="1" spc="-21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for</a:t>
            </a:r>
            <a:r>
              <a:rPr sz="2800" b="1" spc="-15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7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Neural</a:t>
            </a:r>
            <a:r>
              <a:rPr sz="2800" b="1" spc="-18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40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Language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b="1" spc="-2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Models</a:t>
            </a:r>
            <a:r>
              <a:rPr sz="2800" b="1" spc="-105" dirty="0">
                <a:solidFill>
                  <a:srgbClr val="C00000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(</a:t>
            </a:r>
            <a:r>
              <a:rPr sz="2800" u="sng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Kaplan</a:t>
            </a:r>
            <a:r>
              <a:rPr sz="2800" u="sng" spc="-114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u="sng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800" u="sng" spc="-140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u="sng" spc="-25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al.</a:t>
            </a:r>
            <a:r>
              <a:rPr sz="2800" u="none" spc="-25" dirty="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Calibri"/>
                <a:cs typeface="Calibri"/>
                <a:hlinkClick r:id="rId2"/>
              </a:rPr>
              <a:t>2020</a:t>
            </a:r>
            <a:r>
              <a:rPr sz="2800" u="none" spc="-10" dirty="0">
                <a:latin typeface="Calibri"/>
                <a:cs typeface="Calibri"/>
                <a:hlinkClick r:id="rId2"/>
              </a:rPr>
              <a:t>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5"/>
              </a:spcBef>
              <a:buFont typeface="Arial"/>
              <a:buChar char="●"/>
            </a:pPr>
            <a:endParaRPr sz="28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buSzPct val="64285"/>
              <a:buFont typeface="Arial"/>
              <a:buChar char="●"/>
              <a:tabLst>
                <a:tab pos="393065" algn="l"/>
              </a:tabLst>
            </a:pPr>
            <a:r>
              <a:rPr sz="2800" dirty="0">
                <a:latin typeface="Calibri"/>
                <a:cs typeface="Calibri"/>
              </a:rPr>
              <a:t>Key</a:t>
            </a:r>
            <a:r>
              <a:rPr sz="2800" spc="-10" dirty="0">
                <a:latin typeface="Calibri"/>
                <a:cs typeface="Calibri"/>
              </a:rPr>
              <a:t> Findings:</a:t>
            </a:r>
            <a:endParaRPr sz="2800">
              <a:latin typeface="Calibri"/>
              <a:cs typeface="Calibri"/>
            </a:endParaRPr>
          </a:p>
          <a:p>
            <a:pPr marL="796925" lvl="1" indent="-365125">
              <a:lnSpc>
                <a:spcPct val="100000"/>
              </a:lnSpc>
              <a:spcBef>
                <a:spcPts val="1025"/>
              </a:spcBef>
              <a:buSzPct val="58333"/>
              <a:buFont typeface="Arial"/>
              <a:buChar char="o"/>
              <a:tabLst>
                <a:tab pos="796925" algn="l"/>
              </a:tabLst>
            </a:pPr>
            <a:r>
              <a:rPr sz="2400" spc="-10" dirty="0">
                <a:latin typeface="Calibri"/>
                <a:cs typeface="Calibri"/>
              </a:rPr>
              <a:t>Performance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depends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strongly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and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weakly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the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shape</a:t>
            </a:r>
            <a:endParaRPr sz="2400">
              <a:latin typeface="Calibri"/>
              <a:cs typeface="Calibri"/>
            </a:endParaRPr>
          </a:p>
          <a:p>
            <a:pPr marL="850265" lvl="2" indent="-316865">
              <a:lnSpc>
                <a:spcPts val="2735"/>
              </a:lnSpc>
              <a:spcBef>
                <a:spcPts val="155"/>
              </a:spcBef>
              <a:buSzPct val="58333"/>
              <a:buFont typeface="Arial"/>
              <a:buChar char="○"/>
              <a:tabLst>
                <a:tab pos="850265" algn="l"/>
              </a:tabLst>
            </a:pPr>
            <a:r>
              <a:rPr sz="2400" spc="-10" dirty="0">
                <a:latin typeface="Calibri"/>
                <a:cs typeface="Calibri"/>
              </a:rPr>
              <a:t>Larger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sample-</a:t>
            </a:r>
            <a:r>
              <a:rPr sz="2400" spc="-10" dirty="0">
                <a:latin typeface="Calibri"/>
                <a:cs typeface="Calibri"/>
              </a:rPr>
              <a:t>efficient</a:t>
            </a:r>
            <a:endParaRPr sz="2400">
              <a:latin typeface="Calibri"/>
              <a:cs typeface="Calibri"/>
            </a:endParaRPr>
          </a:p>
          <a:p>
            <a:pPr marL="850265" lvl="2" indent="-316865">
              <a:lnSpc>
                <a:spcPts val="2595"/>
              </a:lnSpc>
              <a:buSzPct val="58333"/>
              <a:buFont typeface="Arial"/>
              <a:buChar char="○"/>
              <a:tabLst>
                <a:tab pos="850265" algn="l"/>
              </a:tabLst>
            </a:pPr>
            <a:r>
              <a:rPr sz="2400" dirty="0">
                <a:latin typeface="Calibri"/>
                <a:cs typeface="Calibri"/>
              </a:rPr>
              <a:t>Smooth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ax</a:t>
            </a:r>
            <a:r>
              <a:rPr sz="2400" baseline="24305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b/w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empirical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parameters,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 marL="8509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BBE505-98EE-6527-1CC4-104219476A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Scaling</a:t>
            </a:r>
            <a:r>
              <a:rPr sz="4000" b="1" spc="-1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Effects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937240" cy="25952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effect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hyperparameters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LMs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predicted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before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optimizer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(Adam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v/s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SGD),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depth,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LSTM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v/s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Transformer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64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Idea: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Train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Establish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SGD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law)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hyper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0EAF33-BD55-32C5-D92E-F93A6F03A1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6983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4000" b="1" spc="-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Scaling: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GPT-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92296" y="2217623"/>
            <a:ext cx="4097020" cy="3797935"/>
            <a:chOff x="3892296" y="2217623"/>
            <a:chExt cx="4097020" cy="3797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2296" y="2321051"/>
              <a:ext cx="4096511" cy="36941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290054" y="2231910"/>
              <a:ext cx="640080" cy="454025"/>
            </a:xfrm>
            <a:custGeom>
              <a:avLst/>
              <a:gdLst/>
              <a:ahLst/>
              <a:cxnLst/>
              <a:rect l="l" t="t" r="r" b="b"/>
              <a:pathLst>
                <a:path w="640079" h="454025">
                  <a:moveTo>
                    <a:pt x="0" y="453758"/>
                  </a:moveTo>
                  <a:lnTo>
                    <a:pt x="639597" y="453758"/>
                  </a:lnTo>
                  <a:lnTo>
                    <a:pt x="639597" y="0"/>
                  </a:lnTo>
                  <a:lnTo>
                    <a:pt x="0" y="0"/>
                  </a:lnTo>
                  <a:lnTo>
                    <a:pt x="0" y="453758"/>
                  </a:lnTo>
                  <a:close/>
                </a:path>
              </a:pathLst>
            </a:custGeom>
            <a:ln w="2857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27652" y="2653411"/>
            <a:ext cx="26822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4871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Meiryo UI"/>
                <a:cs typeface="Meiryo UI"/>
              </a:rPr>
              <a:t>Source: </a:t>
            </a:r>
            <a:r>
              <a:rPr sz="1000" u="sng" spc="-10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Meiryo UI"/>
                <a:cs typeface="Meiryo UI"/>
                <a:hlinkClick r:id="rId3"/>
              </a:rPr>
              <a:t>https://bmk.sh/2020/05/29/GPT-3-A-</a:t>
            </a:r>
            <a:r>
              <a:rPr sz="1000" u="sng" spc="-20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Meiryo UI"/>
                <a:cs typeface="Meiryo UI"/>
                <a:hlinkClick r:id="rId3"/>
              </a:rPr>
              <a:t>Brief</a:t>
            </a:r>
            <a:endParaRPr sz="1000">
              <a:latin typeface="Meiryo UI"/>
              <a:cs typeface="Meiryo UI"/>
            </a:endParaRPr>
          </a:p>
          <a:p>
            <a:pPr marL="1022985">
              <a:lnSpc>
                <a:spcPct val="100000"/>
              </a:lnSpc>
            </a:pPr>
            <a:r>
              <a:rPr sz="1000" u="sng" spc="-10" dirty="0">
                <a:solidFill>
                  <a:srgbClr val="0462C1"/>
                </a:solidFill>
                <a:uFill>
                  <a:solidFill>
                    <a:srgbClr val="0096A7"/>
                  </a:solidFill>
                </a:uFill>
                <a:latin typeface="Meiryo UI"/>
                <a:cs typeface="Meiryo UI"/>
                <a:hlinkClick r:id="rId3"/>
              </a:rPr>
              <a:t>-Summary/</a:t>
            </a:r>
            <a:endParaRPr sz="1000">
              <a:latin typeface="Meiryo UI"/>
              <a:cs typeface="Meiryo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6779" y="1417511"/>
            <a:ext cx="8729345" cy="4992370"/>
            <a:chOff x="1656779" y="1417511"/>
            <a:chExt cx="8729345" cy="4992370"/>
          </a:xfrm>
        </p:grpSpPr>
        <p:sp>
          <p:nvSpPr>
            <p:cNvPr id="8" name="object 8"/>
            <p:cNvSpPr/>
            <p:nvPr/>
          </p:nvSpPr>
          <p:spPr>
            <a:xfrm>
              <a:off x="3542538" y="2468118"/>
              <a:ext cx="16510" cy="3597910"/>
            </a:xfrm>
            <a:custGeom>
              <a:avLst/>
              <a:gdLst/>
              <a:ahLst/>
              <a:cxnLst/>
              <a:rect l="l" t="t" r="r" b="b"/>
              <a:pathLst>
                <a:path w="16510" h="3597910">
                  <a:moveTo>
                    <a:pt x="16256" y="0"/>
                  </a:moveTo>
                  <a:lnTo>
                    <a:pt x="0" y="3597719"/>
                  </a:lnTo>
                </a:path>
              </a:pathLst>
            </a:custGeom>
            <a:ln w="28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11295" y="2397252"/>
              <a:ext cx="92963" cy="1173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542538" y="6058661"/>
              <a:ext cx="4458970" cy="7620"/>
            </a:xfrm>
            <a:custGeom>
              <a:avLst/>
              <a:gdLst/>
              <a:ahLst/>
              <a:cxnLst/>
              <a:rect l="l" t="t" r="r" b="b"/>
              <a:pathLst>
                <a:path w="4458970" h="7620">
                  <a:moveTo>
                    <a:pt x="4458716" y="7340"/>
                  </a:moveTo>
                  <a:lnTo>
                    <a:pt x="0" y="0"/>
                  </a:lnTo>
                </a:path>
              </a:pathLst>
            </a:custGeom>
            <a:ln w="28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53755" y="6018276"/>
              <a:ext cx="117346" cy="929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58199" y="1572768"/>
              <a:ext cx="1772411" cy="17068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18753" y="143179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4">
                  <a:moveTo>
                    <a:pt x="0" y="2052574"/>
                  </a:moveTo>
                  <a:lnTo>
                    <a:pt x="2052574" y="2052574"/>
                  </a:lnTo>
                  <a:lnTo>
                    <a:pt x="2052574" y="0"/>
                  </a:lnTo>
                  <a:lnTo>
                    <a:pt x="0" y="0"/>
                  </a:lnTo>
                  <a:lnTo>
                    <a:pt x="0" y="2052574"/>
                  </a:lnTo>
                  <a:close/>
                </a:path>
              </a:pathLst>
            </a:custGeom>
            <a:ln w="28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29371" y="2395727"/>
              <a:ext cx="374903" cy="1234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18126" y="5638038"/>
              <a:ext cx="403860" cy="321310"/>
            </a:xfrm>
            <a:custGeom>
              <a:avLst/>
              <a:gdLst/>
              <a:ahLst/>
              <a:cxnLst/>
              <a:rect l="l" t="t" r="r" b="b"/>
              <a:pathLst>
                <a:path w="403860" h="321310">
                  <a:moveTo>
                    <a:pt x="0" y="321183"/>
                  </a:moveTo>
                  <a:lnTo>
                    <a:pt x="403237" y="321183"/>
                  </a:lnTo>
                  <a:lnTo>
                    <a:pt x="403237" y="0"/>
                  </a:lnTo>
                  <a:lnTo>
                    <a:pt x="0" y="0"/>
                  </a:lnTo>
                  <a:lnTo>
                    <a:pt x="0" y="321183"/>
                  </a:lnTo>
                  <a:close/>
                </a:path>
              </a:pathLst>
            </a:custGeom>
            <a:ln w="2857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2437" y="5798058"/>
              <a:ext cx="2075180" cy="0"/>
            </a:xfrm>
            <a:custGeom>
              <a:avLst/>
              <a:gdLst/>
              <a:ahLst/>
              <a:cxnLst/>
              <a:rect l="l" t="t" r="r" b="b"/>
              <a:pathLst>
                <a:path w="2075179">
                  <a:moveTo>
                    <a:pt x="2075179" y="0"/>
                  </a:moveTo>
                  <a:lnTo>
                    <a:pt x="0" y="0"/>
                  </a:lnTo>
                </a:path>
              </a:pathLst>
            </a:custGeom>
            <a:ln w="28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98419" y="5736335"/>
              <a:ext cx="158495" cy="1234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11451" y="5254752"/>
              <a:ext cx="824484" cy="11064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671065" y="5202173"/>
              <a:ext cx="914400" cy="1193165"/>
            </a:xfrm>
            <a:custGeom>
              <a:avLst/>
              <a:gdLst/>
              <a:ahLst/>
              <a:cxnLst/>
              <a:rect l="l" t="t" r="r" b="b"/>
              <a:pathLst>
                <a:path w="914400" h="1193164">
                  <a:moveTo>
                    <a:pt x="0" y="1192911"/>
                  </a:moveTo>
                  <a:lnTo>
                    <a:pt x="913853" y="1192911"/>
                  </a:lnTo>
                  <a:lnTo>
                    <a:pt x="913853" y="0"/>
                  </a:lnTo>
                  <a:lnTo>
                    <a:pt x="0" y="0"/>
                  </a:lnTo>
                  <a:lnTo>
                    <a:pt x="0" y="1192911"/>
                  </a:lnTo>
                  <a:close/>
                </a:path>
              </a:pathLst>
            </a:custGeom>
            <a:ln w="28573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186770" y="2939338"/>
            <a:ext cx="252095" cy="2559685"/>
          </a:xfrm>
          <a:prstGeom prst="rect">
            <a:avLst/>
          </a:prstGeom>
        </p:spPr>
        <p:txBody>
          <a:bodyPr vert="vert270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400" b="1" spc="-45" dirty="0">
                <a:latin typeface="Meiryo UI"/>
                <a:cs typeface="Meiryo UI"/>
              </a:rPr>
              <a:t>Size</a:t>
            </a:r>
            <a:r>
              <a:rPr sz="1400" b="1" spc="-155" dirty="0">
                <a:latin typeface="Meiryo UI"/>
                <a:cs typeface="Meiryo UI"/>
              </a:rPr>
              <a:t> </a:t>
            </a:r>
            <a:r>
              <a:rPr sz="1400" b="1" spc="-10" dirty="0">
                <a:latin typeface="Meiryo UI"/>
                <a:cs typeface="Meiryo UI"/>
              </a:rPr>
              <a:t>(billions</a:t>
            </a:r>
            <a:r>
              <a:rPr sz="1400" b="1" spc="-120" dirty="0">
                <a:latin typeface="Meiryo UI"/>
                <a:cs typeface="Meiryo UI"/>
              </a:rPr>
              <a:t> </a:t>
            </a:r>
            <a:r>
              <a:rPr sz="1400" b="1" spc="-20" dirty="0">
                <a:latin typeface="Meiryo UI"/>
                <a:cs typeface="Meiryo UI"/>
              </a:rPr>
              <a:t>of</a:t>
            </a:r>
            <a:r>
              <a:rPr sz="1400" b="1" spc="-90" dirty="0">
                <a:latin typeface="Meiryo UI"/>
                <a:cs typeface="Meiryo UI"/>
              </a:rPr>
              <a:t> </a:t>
            </a:r>
            <a:r>
              <a:rPr sz="1400" b="1" spc="-45" dirty="0">
                <a:latin typeface="Meiryo UI"/>
                <a:cs typeface="Meiryo UI"/>
              </a:rPr>
              <a:t>parameters)</a:t>
            </a:r>
            <a:endParaRPr sz="1400">
              <a:latin typeface="Meiryo UI"/>
              <a:cs typeface="Meiryo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0190" y="3485134"/>
            <a:ext cx="140779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97155">
              <a:lnSpc>
                <a:spcPct val="100000"/>
              </a:lnSpc>
              <a:spcBef>
                <a:spcPts val="105"/>
              </a:spcBef>
            </a:pPr>
            <a:r>
              <a:rPr sz="1400" b="1" spc="-135" dirty="0">
                <a:latin typeface="Meiryo UI"/>
                <a:cs typeface="Meiryo UI"/>
              </a:rPr>
              <a:t>175b</a:t>
            </a:r>
            <a:r>
              <a:rPr sz="1400" b="1" spc="-254" dirty="0">
                <a:latin typeface="Meiryo UI"/>
                <a:cs typeface="Meiryo UI"/>
              </a:rPr>
              <a:t> </a:t>
            </a:r>
            <a:r>
              <a:rPr sz="1400" b="1" spc="-10" dirty="0">
                <a:latin typeface="Meiryo UI"/>
                <a:cs typeface="Meiryo UI"/>
              </a:rPr>
              <a:t>params! GPT-</a:t>
            </a:r>
            <a:r>
              <a:rPr sz="1400" b="1" dirty="0">
                <a:latin typeface="Meiryo UI"/>
                <a:cs typeface="Meiryo UI"/>
              </a:rPr>
              <a:t>2</a:t>
            </a:r>
            <a:r>
              <a:rPr sz="1400" b="1" spc="-65" dirty="0">
                <a:latin typeface="Meiryo UI"/>
                <a:cs typeface="Meiryo UI"/>
              </a:rPr>
              <a:t> </a:t>
            </a:r>
            <a:r>
              <a:rPr sz="1400" b="1" spc="-75" dirty="0">
                <a:latin typeface="Meiryo UI"/>
                <a:cs typeface="Meiryo UI"/>
              </a:rPr>
              <a:t>was</a:t>
            </a:r>
            <a:r>
              <a:rPr sz="1400" b="1" spc="-160" dirty="0">
                <a:latin typeface="Meiryo UI"/>
                <a:cs typeface="Meiryo UI"/>
              </a:rPr>
              <a:t> </a:t>
            </a:r>
            <a:r>
              <a:rPr sz="1400" b="1" spc="-110" dirty="0">
                <a:latin typeface="Meiryo UI"/>
                <a:cs typeface="Meiryo UI"/>
              </a:rPr>
              <a:t>1.5b</a:t>
            </a:r>
            <a:endParaRPr sz="1400">
              <a:latin typeface="Meiryo UI"/>
              <a:cs typeface="Meiryo UI"/>
            </a:endParaRP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6C5726DC-1FE9-4C4E-E6FD-A5367DE8F2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Emergent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Abilities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GPT-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Wei</a:t>
            </a:r>
            <a:r>
              <a:rPr sz="4000" b="1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et.</a:t>
            </a:r>
            <a:r>
              <a:rPr sz="4000" b="1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al</a:t>
            </a:r>
            <a:r>
              <a:rPr sz="4000" b="1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2022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dirty="0"/>
              <a:t>Emergent</a:t>
            </a:r>
            <a:r>
              <a:rPr spc="-5" dirty="0"/>
              <a:t> </a:t>
            </a:r>
            <a:r>
              <a:rPr spc="-10" dirty="0"/>
              <a:t>abilities:</a:t>
            </a: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LLMs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GPT3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66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pc="-10" dirty="0"/>
              <a:t>Findings:</a:t>
            </a: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20" dirty="0">
                <a:latin typeface="Calibri"/>
                <a:cs typeface="Calibri"/>
              </a:rPr>
              <a:t>GPT-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arithmetic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subtraction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abilities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“emerge”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AAF402-6764-52C1-6631-F8863AEE3F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Emergent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Abilities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GPT-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Wei</a:t>
            </a:r>
            <a:r>
              <a:rPr sz="4000" b="1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et.</a:t>
            </a:r>
            <a:r>
              <a:rPr sz="4000" b="1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al</a:t>
            </a:r>
            <a:r>
              <a:rPr sz="4000" b="1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2022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dirty="0"/>
              <a:t>Emergent</a:t>
            </a:r>
            <a:r>
              <a:rPr spc="-5" dirty="0"/>
              <a:t> </a:t>
            </a:r>
            <a:r>
              <a:rPr spc="-10" dirty="0"/>
              <a:t>abilities:</a:t>
            </a: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LLMs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GPT3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66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pc="-10" dirty="0"/>
              <a:t>Findings:</a:t>
            </a: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20" dirty="0">
                <a:latin typeface="Calibri"/>
                <a:cs typeface="Calibri"/>
              </a:rPr>
              <a:t>GPT-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arithmetic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subtraction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abilities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“emerge”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DE4493-1F10-D717-9E05-23234BE777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Emergent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Abilities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GPT-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Wei</a:t>
            </a:r>
            <a:r>
              <a:rPr sz="4000" b="1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et.</a:t>
            </a:r>
            <a:r>
              <a:rPr sz="4000" b="1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al</a:t>
            </a:r>
            <a:r>
              <a:rPr sz="4000" b="1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2022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dirty="0"/>
              <a:t>Emergent</a:t>
            </a:r>
            <a:r>
              <a:rPr spc="-5" dirty="0"/>
              <a:t> </a:t>
            </a:r>
            <a:r>
              <a:rPr spc="-10" dirty="0"/>
              <a:t>abilities:</a:t>
            </a: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LLMs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GPT3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66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pc="-10" dirty="0"/>
              <a:t>Findings:</a:t>
            </a: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20" dirty="0">
                <a:latin typeface="Calibri"/>
                <a:cs typeface="Calibri"/>
              </a:rPr>
              <a:t>GPT-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arithmetic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subtraction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abilities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“emerge”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scales</a:t>
            </a:r>
            <a:endParaRPr sz="2400">
              <a:latin typeface="Calibri"/>
              <a:cs typeface="Calibri"/>
            </a:endParaRPr>
          </a:p>
          <a:p>
            <a:pPr marL="812800" marR="5080" lvl="1" indent="-317500">
              <a:lnSpc>
                <a:spcPct val="90000"/>
              </a:lnSpc>
              <a:spcBef>
                <a:spcPts val="145"/>
              </a:spcBef>
              <a:buClr>
                <a:srgbClr val="000000"/>
              </a:buClr>
              <a:buSzPct val="58333"/>
              <a:buFont typeface="Arial"/>
              <a:buChar char="○"/>
              <a:tabLst>
                <a:tab pos="812800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Model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scale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only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contributor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emergence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BIG-</a:t>
            </a:r>
            <a:r>
              <a:rPr sz="2400" dirty="0">
                <a:latin typeface="Calibri"/>
                <a:cs typeface="Calibri"/>
              </a:rPr>
              <a:t>Bench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tasks, </a:t>
            </a:r>
            <a:r>
              <a:rPr sz="2400" dirty="0">
                <a:latin typeface="Calibri"/>
                <a:cs typeface="Calibri"/>
              </a:rPr>
              <a:t>LaMDA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137B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GPT-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175B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 </a:t>
            </a:r>
            <a:r>
              <a:rPr sz="2400" spc="-20" dirty="0">
                <a:latin typeface="Calibri"/>
                <a:cs typeface="Calibri"/>
              </a:rPr>
              <a:t>near-</a:t>
            </a:r>
            <a:r>
              <a:rPr sz="2400" dirty="0">
                <a:latin typeface="Calibri"/>
                <a:cs typeface="Calibri"/>
              </a:rPr>
              <a:t>random,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PaLM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62B </a:t>
            </a:r>
            <a:r>
              <a:rPr sz="2400" dirty="0">
                <a:latin typeface="Calibri"/>
                <a:cs typeface="Calibri"/>
              </a:rPr>
              <a:t>achieves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above-</a:t>
            </a:r>
            <a:r>
              <a:rPr sz="2400" dirty="0">
                <a:latin typeface="Calibri"/>
                <a:cs typeface="Calibri"/>
              </a:rPr>
              <a:t>random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performance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LLMs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can’t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today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emergent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future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LLMs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61264D-FE73-A332-ABBD-D5B937249C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Large</a:t>
            </a:r>
            <a:r>
              <a:rPr sz="4000" b="1" spc="-1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Language</a:t>
            </a:r>
            <a:r>
              <a:rPr sz="4000" b="1" spc="-1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Models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846435" cy="1604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parameters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(over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1B)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 </a:t>
            </a: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tasks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prompting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Eg.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GPT,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Llama2,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Gemini,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PaLM,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Mistral,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Mixtral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7F3F84-5D2D-86B6-1FE2-D78F239963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LLM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Realization</a:t>
            </a:r>
            <a:r>
              <a:rPr sz="40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Architecture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7641590" cy="424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20" dirty="0">
                <a:latin typeface="Calibri"/>
                <a:cs typeface="Calibri"/>
              </a:rPr>
              <a:t>Encoder-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(BERT)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20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(MLM)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Great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hard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66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15" dirty="0">
                <a:latin typeface="Calibri"/>
                <a:cs typeface="Calibri"/>
              </a:rPr>
              <a:t>Decoder-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(GPT)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20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training: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Auto-</a:t>
            </a:r>
            <a:r>
              <a:rPr sz="2400" dirty="0">
                <a:latin typeface="Calibri"/>
                <a:cs typeface="Calibri"/>
              </a:rPr>
              <a:t>regressive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Modeling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Stable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faster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convergence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generalization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pre-training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23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20" dirty="0">
                <a:latin typeface="Calibri"/>
                <a:cs typeface="Calibri"/>
              </a:rPr>
              <a:t>Encoder-</a:t>
            </a:r>
            <a:r>
              <a:rPr sz="2800" dirty="0">
                <a:latin typeface="Calibri"/>
                <a:cs typeface="Calibri"/>
              </a:rPr>
              <a:t>decoder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(T0/T5)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20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Prediction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Good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MT,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summarization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20E28-AA7A-00AF-8714-836512EAF6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T5/</a:t>
            </a:r>
            <a:r>
              <a:rPr sz="4000" b="1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T0</a:t>
            </a:r>
            <a:r>
              <a:rPr sz="4000" b="1" u="sng" spc="-7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 </a:t>
            </a:r>
            <a:r>
              <a:rPr sz="4000" b="1" u="none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r>
              <a:rPr sz="4000" b="1" u="none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u="none" dirty="0">
                <a:solidFill>
                  <a:srgbClr val="0000FF"/>
                </a:solidFill>
                <a:latin typeface="Calibri"/>
                <a:cs typeface="Calibri"/>
              </a:rPr>
              <a:t>Masked</a:t>
            </a:r>
            <a:r>
              <a:rPr sz="4000" b="1" u="none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u="none" dirty="0">
                <a:solidFill>
                  <a:srgbClr val="0000FF"/>
                </a:solidFill>
                <a:latin typeface="Calibri"/>
                <a:cs typeface="Calibri"/>
              </a:rPr>
              <a:t>Span</a:t>
            </a:r>
            <a:r>
              <a:rPr sz="4000" b="1" u="none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u="none" spc="-10" dirty="0">
                <a:solidFill>
                  <a:srgbClr val="0000FF"/>
                </a:solidFill>
                <a:latin typeface="Calibri"/>
                <a:cs typeface="Calibri"/>
              </a:rPr>
              <a:t>Prediction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6460490" cy="1113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Masked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prediction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involves: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Mask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continuous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tokens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(span)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decoder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1364" y="3091428"/>
            <a:ext cx="6095999" cy="2475743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7E97E1-15D4-4CE6-D6B9-2F89A0A080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Attention</a:t>
            </a:r>
            <a:r>
              <a:rPr sz="4000" b="1" spc="-11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patterns</a:t>
            </a:r>
            <a:r>
              <a:rPr sz="4000" b="1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Wang</a:t>
            </a:r>
            <a:r>
              <a:rPr sz="4000" b="1" u="sng" spc="-10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et.</a:t>
            </a:r>
            <a:r>
              <a:rPr sz="4000" b="1" u="sng" spc="-1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al</a:t>
            </a:r>
            <a:r>
              <a:rPr sz="4000" b="1" u="none" spc="-25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1619" y="1376172"/>
            <a:ext cx="8606028" cy="3006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4767" y="4862321"/>
            <a:ext cx="978979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"/>
                <a:cs typeface="Arial"/>
              </a:rPr>
              <a:t>Causal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decoder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--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token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attends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previous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tokens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only.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both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non-</a:t>
            </a:r>
            <a:r>
              <a:rPr sz="1400" dirty="0">
                <a:latin typeface="Arial"/>
                <a:cs typeface="Arial"/>
              </a:rPr>
              <a:t>causal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decoder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encoder-decoder,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attention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allowed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bidirectional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any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conditioning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information.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"/>
                <a:cs typeface="Arial"/>
              </a:rPr>
              <a:t>For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encoder-</a:t>
            </a:r>
            <a:r>
              <a:rPr sz="1400" dirty="0">
                <a:latin typeface="Arial"/>
                <a:cs typeface="Arial"/>
              </a:rPr>
              <a:t>decoder,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conditioning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fed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encoder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model.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012341-2354-F25C-F81B-4BFA7B0D8B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Empirical</a:t>
            </a:r>
            <a:r>
              <a:rPr sz="4000" b="1" spc="-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Observations</a:t>
            </a:r>
            <a:r>
              <a:rPr sz="4000" b="1" spc="-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Wang</a:t>
            </a:r>
            <a:r>
              <a:rPr sz="4000" b="1" u="sng" spc="-1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et.</a:t>
            </a:r>
            <a:r>
              <a:rPr sz="4000" b="1" u="sng" spc="-1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al</a:t>
            </a:r>
            <a:r>
              <a:rPr sz="4000" b="1" u="none" spc="-25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80770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Decoder-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outperform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encoder-</a:t>
            </a:r>
            <a:r>
              <a:rPr sz="2800" dirty="0">
                <a:latin typeface="Calibri"/>
                <a:cs typeface="Calibri"/>
              </a:rPr>
              <a:t>decoder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similar configuration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100" y="3249167"/>
            <a:ext cx="5219700" cy="1970531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4C76FC-AB3D-0789-A480-99B3BD48FF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Llama</a:t>
            </a:r>
            <a:r>
              <a:rPr sz="4000" b="1" spc="-1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sz="4000" b="1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Architecture</a:t>
            </a:r>
            <a:r>
              <a:rPr sz="40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Ouyang</a:t>
            </a:r>
            <a:r>
              <a:rPr sz="4000" b="1" u="sng" spc="-1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et.</a:t>
            </a:r>
            <a:r>
              <a:rPr sz="4000" b="1" u="sng" spc="-1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al.)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9219565" cy="2486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190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15" dirty="0">
                <a:latin typeface="Calibri"/>
                <a:cs typeface="Calibri"/>
              </a:rPr>
              <a:t>Decoder-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060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transformer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module: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Norm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sublayer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before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sublayer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LayerNorm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RMSNorm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stability</a:t>
            </a:r>
            <a:endParaRPr sz="2400">
              <a:latin typeface="Calibri"/>
              <a:cs typeface="Calibri"/>
            </a:endParaRPr>
          </a:p>
          <a:p>
            <a:pPr marL="880744" lvl="1" indent="-385445">
              <a:lnSpc>
                <a:spcPts val="2595"/>
              </a:lnSpc>
              <a:buSzPct val="58333"/>
              <a:buFont typeface="Arial"/>
              <a:buChar char="○"/>
              <a:tabLst>
                <a:tab pos="880744" algn="l"/>
              </a:tabLst>
            </a:pPr>
            <a:r>
              <a:rPr sz="2400" dirty="0">
                <a:latin typeface="Calibri"/>
                <a:cs typeface="Calibri"/>
              </a:rPr>
              <a:t>Activation: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SwiGLU(x)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Swish(xW)xV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xWSigmoid(AxW)xV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Position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Absolute/Relative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RoPE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(Rotary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PE)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Long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contexts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Multi-</a:t>
            </a:r>
            <a:r>
              <a:rPr sz="2400" dirty="0">
                <a:latin typeface="Calibri"/>
                <a:cs typeface="Calibri"/>
              </a:rPr>
              <a:t>head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attention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Grouped-</a:t>
            </a:r>
            <a:r>
              <a:rPr sz="2400" dirty="0">
                <a:latin typeface="Calibri"/>
                <a:cs typeface="Calibri"/>
              </a:rPr>
              <a:t>query </a:t>
            </a:r>
            <a:r>
              <a:rPr sz="2400" spc="-10" dirty="0">
                <a:latin typeface="Calibri"/>
                <a:cs typeface="Calibri"/>
              </a:rPr>
              <a:t>attention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2059" y="4197907"/>
            <a:ext cx="5420080" cy="2048428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DBF755-F209-DA40-B9EE-74FD5DC81AA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Poll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758170" cy="314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emergent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abilities?</a:t>
            </a:r>
            <a:endParaRPr sz="2800">
              <a:latin typeface="Calibri"/>
              <a:cs typeface="Calibri"/>
            </a:endParaRPr>
          </a:p>
          <a:p>
            <a:pPr marL="527685" marR="223520" indent="-515620">
              <a:lnSpc>
                <a:spcPts val="3020"/>
              </a:lnSpc>
              <a:spcBef>
                <a:spcPts val="3070"/>
              </a:spcBef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fewer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parameters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175B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any </a:t>
            </a:r>
            <a:r>
              <a:rPr sz="2800" dirty="0">
                <a:latin typeface="Calibri"/>
                <a:cs typeface="Calibri"/>
              </a:rPr>
              <a:t>emergent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abilities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2820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They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models</a:t>
            </a:r>
            <a:endParaRPr sz="2800">
              <a:latin typeface="Calibri"/>
              <a:cs typeface="Calibri"/>
            </a:endParaRPr>
          </a:p>
          <a:p>
            <a:pPr marL="527685" marR="5080" indent="-515620">
              <a:lnSpc>
                <a:spcPts val="3020"/>
              </a:lnSpc>
              <a:spcBef>
                <a:spcPts val="219"/>
              </a:spcBef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Summarization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likely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emergent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ability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pre-</a:t>
            </a:r>
            <a:r>
              <a:rPr sz="2800" dirty="0">
                <a:latin typeface="Calibri"/>
                <a:cs typeface="Calibri"/>
              </a:rPr>
              <a:t>trained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summarization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corpus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298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Emergent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abilities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arise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scaling.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EC6656-D064-A505-5D39-176412E2AB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Poll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758170" cy="314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emergent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abilities?</a:t>
            </a:r>
            <a:endParaRPr sz="2800">
              <a:latin typeface="Calibri"/>
              <a:cs typeface="Calibri"/>
            </a:endParaRPr>
          </a:p>
          <a:p>
            <a:pPr marL="527685" marR="223520" indent="-515620">
              <a:lnSpc>
                <a:spcPts val="3020"/>
              </a:lnSpc>
              <a:spcBef>
                <a:spcPts val="3070"/>
              </a:spcBef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fewer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parameters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175B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any </a:t>
            </a:r>
            <a:r>
              <a:rPr sz="2800" dirty="0">
                <a:latin typeface="Calibri"/>
                <a:cs typeface="Calibri"/>
              </a:rPr>
              <a:t>emergent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abilities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2820"/>
              </a:lnSpc>
              <a:buClr>
                <a:srgbClr val="000000"/>
              </a:buClr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They</a:t>
            </a:r>
            <a:r>
              <a:rPr sz="2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2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found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large</a:t>
            </a:r>
            <a:r>
              <a:rPr sz="28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models</a:t>
            </a:r>
            <a:r>
              <a:rPr sz="2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but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small</a:t>
            </a:r>
            <a:r>
              <a:rPr sz="2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models</a:t>
            </a:r>
            <a:endParaRPr sz="2800">
              <a:latin typeface="Calibri"/>
              <a:cs typeface="Calibri"/>
            </a:endParaRPr>
          </a:p>
          <a:p>
            <a:pPr marL="527685" marR="5080" indent="-515620">
              <a:lnSpc>
                <a:spcPts val="3020"/>
              </a:lnSpc>
              <a:spcBef>
                <a:spcPts val="219"/>
              </a:spcBef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Summarization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likely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emergent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ability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pre-</a:t>
            </a:r>
            <a:r>
              <a:rPr sz="2800" dirty="0">
                <a:latin typeface="Calibri"/>
                <a:cs typeface="Calibri"/>
              </a:rPr>
              <a:t>trained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summarization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corpus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298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Emergent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abilities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arise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scaling.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6AC0E6-7F19-3E34-0917-6B518AE9AC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Training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Decoder-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only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LLMs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Llama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28382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tabLst>
                <a:tab pos="354965" algn="l"/>
              </a:tabLst>
            </a:pPr>
            <a:r>
              <a:rPr sz="1800" spc="-25" dirty="0">
                <a:latin typeface="Calibri"/>
                <a:cs typeface="Calibri"/>
              </a:rPr>
              <a:t>1.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585858"/>
                </a:solidFill>
                <a:latin typeface="Calibri"/>
                <a:cs typeface="Calibri"/>
              </a:rPr>
              <a:t>Auto-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regressive</a:t>
            </a:r>
            <a:r>
              <a:rPr sz="28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85858"/>
                </a:solidFill>
                <a:latin typeface="Calibri"/>
                <a:cs typeface="Calibri"/>
              </a:rPr>
              <a:t>Pre-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training</a:t>
            </a:r>
            <a:r>
              <a:rPr sz="2800" spc="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sz="28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Train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predict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next</a:t>
            </a:r>
            <a:r>
              <a:rPr sz="2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token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2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very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large-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scale</a:t>
            </a:r>
            <a:r>
              <a:rPr sz="2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corpora</a:t>
            </a:r>
            <a:r>
              <a:rPr sz="2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2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~3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trillion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tokens)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82037-F9E1-9430-E66E-1E6FFD923D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Training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Decoder-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only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LLMs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Llama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1082020" cy="3524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Clr>
                <a:srgbClr val="000000"/>
              </a:buClr>
              <a:buSzPct val="64285"/>
              <a:buAutoNum type="arabicPeriod"/>
              <a:tabLst>
                <a:tab pos="355600" algn="l"/>
              </a:tabLst>
            </a:pPr>
            <a:r>
              <a:rPr sz="2800" spc="-25" dirty="0">
                <a:solidFill>
                  <a:srgbClr val="585858"/>
                </a:solidFill>
                <a:latin typeface="Calibri"/>
                <a:cs typeface="Calibri"/>
              </a:rPr>
              <a:t>Auto-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regressive</a:t>
            </a:r>
            <a:r>
              <a:rPr sz="28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85858"/>
                </a:solidFill>
                <a:latin typeface="Calibri"/>
                <a:cs typeface="Calibri"/>
              </a:rPr>
              <a:t>Pre-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training</a:t>
            </a:r>
            <a:r>
              <a:rPr sz="2800" spc="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sz="28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Train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predict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next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token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very</a:t>
            </a:r>
            <a:r>
              <a:rPr sz="28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large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scale</a:t>
            </a:r>
            <a:r>
              <a:rPr sz="28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corpora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~3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trillion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tokens)</a:t>
            </a:r>
            <a:endParaRPr sz="2800">
              <a:latin typeface="Calibri"/>
              <a:cs typeface="Calibri"/>
            </a:endParaRPr>
          </a:p>
          <a:p>
            <a:pPr marL="355600" marR="193040" indent="-342900">
              <a:lnSpc>
                <a:spcPts val="3020"/>
              </a:lnSpc>
              <a:spcBef>
                <a:spcPts val="5"/>
              </a:spcBef>
              <a:buClr>
                <a:srgbClr val="000000"/>
              </a:buClr>
              <a:buSzPct val="64285"/>
              <a:buAutoNum type="arabicPeriod"/>
              <a:tabLst>
                <a:tab pos="355600" algn="l"/>
              </a:tabLst>
            </a:pP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Instruction</a:t>
            </a:r>
            <a:r>
              <a:rPr sz="2800" spc="-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85858"/>
                </a:solidFill>
                <a:latin typeface="Calibri"/>
                <a:cs typeface="Calibri"/>
              </a:rPr>
              <a:t>Fine-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tuning/</a:t>
            </a:r>
            <a:r>
              <a:rPr sz="28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Supervised</a:t>
            </a:r>
            <a:r>
              <a:rPr sz="28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85858"/>
                </a:solidFill>
                <a:latin typeface="Calibri"/>
                <a:cs typeface="Calibri"/>
              </a:rPr>
              <a:t>Fine-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tuning</a:t>
            </a:r>
            <a:r>
              <a:rPr sz="28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(SFT)</a:t>
            </a:r>
            <a:r>
              <a:rPr sz="28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sz="2800" spc="-6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Fine-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tune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pre-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trained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pairs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8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(instruction+input,output)</a:t>
            </a:r>
            <a:r>
              <a:rPr sz="28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large</a:t>
            </a:r>
            <a:r>
              <a:rPr sz="2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dataset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ts val="2985"/>
              </a:lnSpc>
            </a:pP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then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small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high-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quality</a:t>
            </a:r>
            <a:r>
              <a:rPr sz="28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dataset</a:t>
            </a:r>
            <a:endParaRPr sz="2800">
              <a:latin typeface="Calibri"/>
              <a:cs typeface="Calibri"/>
            </a:endParaRPr>
          </a:p>
          <a:p>
            <a:pPr marL="12700" marR="107314">
              <a:lnSpc>
                <a:spcPts val="3020"/>
              </a:lnSpc>
              <a:spcBef>
                <a:spcPts val="3075"/>
              </a:spcBef>
            </a:pPr>
            <a:r>
              <a:rPr sz="2800" dirty="0">
                <a:latin typeface="Calibri"/>
                <a:cs typeface="Calibri"/>
              </a:rPr>
              <a:t>Instruction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fine-</a:t>
            </a:r>
            <a:r>
              <a:rPr sz="2800" dirty="0">
                <a:latin typeface="Calibri"/>
                <a:cs typeface="Calibri"/>
              </a:rPr>
              <a:t>tuning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prefix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description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task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along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input.</a:t>
            </a:r>
            <a:endParaRPr sz="2800">
              <a:latin typeface="Calibri"/>
              <a:cs typeface="Calibri"/>
            </a:endParaRPr>
          </a:p>
          <a:p>
            <a:pPr marL="354965" lvl="1" indent="-342265">
              <a:lnSpc>
                <a:spcPts val="2985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E.g.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Translate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French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sentence: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&gt;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m’appelle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08A152-EC13-F078-D5C3-DA6ABA0169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Supervised</a:t>
            </a:r>
            <a:r>
              <a:rPr sz="4000" b="1" spc="-11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Fine-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tuning</a:t>
            </a:r>
            <a:r>
              <a:rPr sz="4000" b="1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versus</a:t>
            </a:r>
            <a:r>
              <a:rPr sz="4000" b="1" spc="-11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Pre-training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807700" cy="3912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Objective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75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Loss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tokens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SFT,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tokens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pre-</a:t>
            </a:r>
            <a:r>
              <a:rPr sz="2400" spc="-10" dirty="0"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66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Input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Target</a:t>
            </a:r>
            <a:endParaRPr sz="2800">
              <a:latin typeface="Calibri"/>
              <a:cs typeface="Calibri"/>
            </a:endParaRPr>
          </a:p>
          <a:p>
            <a:pPr marL="812800" marR="407034" lvl="1" indent="-317500">
              <a:lnSpc>
                <a:spcPts val="2590"/>
              </a:lnSpc>
              <a:spcBef>
                <a:spcPts val="200"/>
              </a:spcBef>
              <a:buSzPct val="58333"/>
              <a:buFont typeface="Arial"/>
              <a:buChar char="○"/>
              <a:tabLst>
                <a:tab pos="812800" algn="l"/>
              </a:tabLst>
            </a:pP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SFT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shifted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target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19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Purpose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20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generalist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auto-</a:t>
            </a:r>
            <a:r>
              <a:rPr sz="2400" dirty="0">
                <a:latin typeface="Calibri"/>
                <a:cs typeface="Calibri"/>
              </a:rPr>
              <a:t>completes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SFT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builds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8128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unseen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SFT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guide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nature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safety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helpfulness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F8504D-AFDD-26E5-05C1-1EED3A5D43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Instruction</a:t>
            </a:r>
            <a:r>
              <a:rPr sz="40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Tuning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Wei</a:t>
            </a:r>
            <a:r>
              <a:rPr sz="4000" b="1" u="sng" spc="-9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et.</a:t>
            </a:r>
            <a:r>
              <a:rPr sz="4000" b="1" u="sng" spc="-10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al.</a:t>
            </a:r>
            <a:r>
              <a:rPr sz="4000" b="1" u="sng" spc="-9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2021</a:t>
            </a:r>
            <a:r>
              <a:rPr sz="4000" b="1" u="none" spc="-10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" y="2144267"/>
            <a:ext cx="9814560" cy="390144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4D60CB-BC74-8B3B-4961-21E4C87FCF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Unsafe</a:t>
            </a:r>
            <a:r>
              <a:rPr sz="400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Outputs</a:t>
            </a:r>
            <a:r>
              <a:rPr sz="40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1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Alignment</a:t>
            </a:r>
            <a:r>
              <a:rPr sz="4000" b="1" spc="-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Problem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894060" cy="3360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LLMs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produce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Harmful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unparliamentary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discrimination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Text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harm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dangerous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 marL="355600" marR="525145" indent="-342900">
              <a:lnSpc>
                <a:spcPts val="3020"/>
              </a:lnSpc>
              <a:spcBef>
                <a:spcPts val="2615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Therefore,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LLMs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align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human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preferences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ts val="3030"/>
              </a:lnSpc>
              <a:spcBef>
                <a:spcPts val="3025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Modern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LLMs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SFT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human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preference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directly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training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8573AD-B72B-C20C-FBC7-03F56CA5F7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Training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Decoder-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only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LLMs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Llama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1085830" cy="3140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Clr>
                <a:srgbClr val="000000"/>
              </a:buClr>
              <a:buSzPct val="64285"/>
              <a:buAutoNum type="arabicPeriod"/>
              <a:tabLst>
                <a:tab pos="355600" algn="l"/>
              </a:tabLst>
            </a:pPr>
            <a:r>
              <a:rPr sz="2800" spc="-25" dirty="0">
                <a:solidFill>
                  <a:srgbClr val="585858"/>
                </a:solidFill>
                <a:latin typeface="Calibri"/>
                <a:cs typeface="Calibri"/>
              </a:rPr>
              <a:t>Auto-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regressive</a:t>
            </a:r>
            <a:r>
              <a:rPr sz="28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85858"/>
                </a:solidFill>
                <a:latin typeface="Calibri"/>
                <a:cs typeface="Calibri"/>
              </a:rPr>
              <a:t>Pre-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training</a:t>
            </a:r>
            <a:r>
              <a:rPr sz="2800" spc="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sz="28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Train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predict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next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token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very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large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scale</a:t>
            </a:r>
            <a:r>
              <a:rPr sz="28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corpora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~3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trillion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tokens)</a:t>
            </a:r>
            <a:endParaRPr sz="2800">
              <a:latin typeface="Calibri"/>
              <a:cs typeface="Calibri"/>
            </a:endParaRPr>
          </a:p>
          <a:p>
            <a:pPr marL="355600" marR="196850" indent="-342900">
              <a:lnSpc>
                <a:spcPts val="3020"/>
              </a:lnSpc>
              <a:spcBef>
                <a:spcPts val="5"/>
              </a:spcBef>
              <a:buClr>
                <a:srgbClr val="000000"/>
              </a:buClr>
              <a:buSzPct val="64285"/>
              <a:buAutoNum type="arabicPeriod"/>
              <a:tabLst>
                <a:tab pos="355600" algn="l"/>
              </a:tabLst>
            </a:pP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Instruction</a:t>
            </a:r>
            <a:r>
              <a:rPr sz="2800" spc="-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85858"/>
                </a:solidFill>
                <a:latin typeface="Calibri"/>
                <a:cs typeface="Calibri"/>
              </a:rPr>
              <a:t>Fine-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tuning/</a:t>
            </a:r>
            <a:r>
              <a:rPr sz="28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Supervised</a:t>
            </a:r>
            <a:r>
              <a:rPr sz="28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85858"/>
                </a:solidFill>
                <a:latin typeface="Calibri"/>
                <a:cs typeface="Calibri"/>
              </a:rPr>
              <a:t>Fine-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tuning</a:t>
            </a:r>
            <a:r>
              <a:rPr sz="28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(SFT)</a:t>
            </a:r>
            <a:r>
              <a:rPr sz="28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sz="2800" spc="-6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Fine-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tune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pre-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trained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pairs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8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(instruction+input,output)</a:t>
            </a:r>
            <a:r>
              <a:rPr sz="28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large</a:t>
            </a:r>
            <a:r>
              <a:rPr sz="2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dataset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ts val="2820"/>
              </a:lnSpc>
            </a:pP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then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small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high-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quality</a:t>
            </a:r>
            <a:r>
              <a:rPr sz="28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dataset</a:t>
            </a:r>
            <a:endParaRPr sz="2800">
              <a:latin typeface="Calibri"/>
              <a:cs typeface="Calibri"/>
            </a:endParaRPr>
          </a:p>
          <a:p>
            <a:pPr marL="355600" marR="93345" indent="-342900">
              <a:lnSpc>
                <a:spcPts val="3020"/>
              </a:lnSpc>
              <a:spcBef>
                <a:spcPts val="219"/>
              </a:spcBef>
              <a:buClr>
                <a:srgbClr val="000000"/>
              </a:buClr>
              <a:buSzPct val="64285"/>
              <a:buAutoNum type="arabicPeriod" startAt="3"/>
              <a:tabLst>
                <a:tab pos="355600" algn="l"/>
              </a:tabLst>
            </a:pP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Safety</a:t>
            </a:r>
            <a:r>
              <a:rPr sz="2800" spc="-6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/</a:t>
            </a:r>
            <a:r>
              <a:rPr sz="28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RLHF</a:t>
            </a:r>
            <a:r>
              <a:rPr sz="28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sz="28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28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8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reward</a:t>
            </a:r>
            <a:r>
              <a:rPr sz="28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28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based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28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human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feedback</a:t>
            </a:r>
            <a:r>
              <a:rPr sz="28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use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policy</a:t>
            </a:r>
            <a:r>
              <a:rPr sz="2800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gradient</a:t>
            </a:r>
            <a:r>
              <a:rPr sz="2800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methods</a:t>
            </a:r>
            <a:r>
              <a:rPr sz="28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trained</a:t>
            </a:r>
            <a:r>
              <a:rPr sz="2800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reward</a:t>
            </a:r>
            <a:r>
              <a:rPr sz="2800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28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update</a:t>
            </a:r>
            <a:r>
              <a:rPr sz="28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LLM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parameters</a:t>
            </a:r>
            <a:r>
              <a:rPr sz="28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so</a:t>
            </a:r>
            <a:r>
              <a:rPr sz="28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that</a:t>
            </a:r>
            <a:r>
              <a:rPr sz="2800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outputs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align</a:t>
            </a:r>
            <a:r>
              <a:rPr sz="28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human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12A174-0166-DA29-6D12-B1DC43175E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>
                <a:solidFill>
                  <a:srgbClr val="0000FF"/>
                </a:solidFill>
                <a:latin typeface="Calibri"/>
                <a:cs typeface="Calibri"/>
              </a:rPr>
              <a:t>RLHF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9" y="1518419"/>
            <a:ext cx="5654977" cy="5106526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030B5C-3EC7-B0D6-19EC-8486C3C1381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4000" b="1" spc="-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Fine-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tuning</a:t>
            </a:r>
            <a:r>
              <a:rPr sz="40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00FF"/>
                </a:solidFill>
                <a:latin typeface="Calibri"/>
                <a:cs typeface="Calibri"/>
              </a:rPr>
              <a:t>RLHF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468" y="1456944"/>
            <a:ext cx="8709207" cy="515416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2DEFFC-7499-DCE5-64FA-5EE3C0E0A5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Note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LLM</a:t>
            </a:r>
            <a:r>
              <a:rPr sz="40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Safety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Harmfulness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108329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Does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RLHF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safety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tuning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LLMs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never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harmful </a:t>
            </a:r>
            <a:r>
              <a:rPr sz="2800" dirty="0">
                <a:latin typeface="Calibri"/>
                <a:cs typeface="Calibri"/>
              </a:rPr>
              <a:t>outputs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2821B-E949-1A9F-410E-0C593C277A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Note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LLM</a:t>
            </a:r>
            <a:r>
              <a:rPr sz="40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Safety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40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Harmfulness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1083290" cy="41281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Does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RLHF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safety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tuning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LLMs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never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harmful outputs?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No!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harmful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exhaustive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large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69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concerns?</a:t>
            </a:r>
            <a:endParaRPr sz="2800">
              <a:latin typeface="Calibri"/>
              <a:cs typeface="Calibri"/>
            </a:endParaRPr>
          </a:p>
          <a:p>
            <a:pPr marL="812800" marR="922655" lvl="1" indent="-317500">
              <a:lnSpc>
                <a:spcPts val="2590"/>
              </a:lnSpc>
              <a:spcBef>
                <a:spcPts val="200"/>
              </a:spcBef>
              <a:buSzPct val="58333"/>
              <a:buFont typeface="Arial"/>
              <a:buChar char="○"/>
              <a:tabLst>
                <a:tab pos="812800" algn="l"/>
              </a:tabLst>
            </a:pPr>
            <a:r>
              <a:rPr sz="2400" dirty="0">
                <a:latin typeface="Calibri"/>
                <a:cs typeface="Calibri"/>
              </a:rPr>
              <a:t>Adversarial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Robustness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adversaries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LLM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harmful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attacking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355600" marR="967740" indent="-342900">
              <a:lnSpc>
                <a:spcPts val="3020"/>
              </a:lnSpc>
              <a:spcBef>
                <a:spcPts val="2580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experience,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Claude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harmful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least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when </a:t>
            </a:r>
            <a:r>
              <a:rPr sz="2800" dirty="0">
                <a:latin typeface="Calibri"/>
                <a:cs typeface="Calibri"/>
              </a:rPr>
              <a:t>compared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ChatGPT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Llama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BDC5BA-0EBF-9ECD-DFF3-5FF6D67666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Poll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6733540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feature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Llama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2?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5"/>
              </a:spcBef>
            </a:pP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19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Swishy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activations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02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Relativistic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positional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02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spc="-20" dirty="0">
                <a:latin typeface="Calibri"/>
                <a:cs typeface="Calibri"/>
              </a:rPr>
              <a:t>Multi-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attention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190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spc="-25" dirty="0">
                <a:latin typeface="Calibri"/>
                <a:cs typeface="Calibri"/>
              </a:rPr>
              <a:t>Grouped-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5074B0-8CE8-F6F1-588A-4F5967BC6B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Poll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6733540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feature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Llama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2?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5"/>
              </a:spcBef>
            </a:pP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19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Swishy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activations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02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Relativistic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positional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02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spc="-20" dirty="0">
                <a:latin typeface="Calibri"/>
                <a:cs typeface="Calibri"/>
              </a:rPr>
              <a:t>Multi-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attention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190"/>
              </a:lnSpc>
              <a:buClr>
                <a:srgbClr val="000000"/>
              </a:buClr>
              <a:buSzPct val="64285"/>
              <a:buAutoNum type="alphaUcPeriod"/>
              <a:tabLst>
                <a:tab pos="527685" algn="l"/>
              </a:tabLst>
            </a:pPr>
            <a:r>
              <a:rPr sz="2800" spc="-25" dirty="0">
                <a:solidFill>
                  <a:srgbClr val="C00000"/>
                </a:solidFill>
                <a:latin typeface="Calibri"/>
                <a:cs typeface="Calibri"/>
              </a:rPr>
              <a:t>Grouped-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query</a:t>
            </a:r>
            <a:r>
              <a:rPr sz="2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attention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7F3F3-2031-8246-6D87-C10B868F29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LLM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Inference: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Prompting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9223375" cy="314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Prompts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Tell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natural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language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textual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summary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paragraph: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short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23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Prompt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Engineering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prompt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General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thumb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 manual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automatic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prefix-</a:t>
            </a:r>
            <a:r>
              <a:rPr sz="2400" dirty="0">
                <a:latin typeface="Calibri"/>
                <a:cs typeface="Calibri"/>
              </a:rPr>
              <a:t>tuning, paraphrasing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6A7377-FF94-8E06-97D1-1BC9B0624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ChatGPT</a:t>
            </a:r>
            <a:r>
              <a:rPr sz="4000" b="1" spc="-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Prompt</a:t>
            </a:r>
            <a:r>
              <a:rPr sz="4000" b="1" spc="-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example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051" y="2130528"/>
            <a:ext cx="9990541" cy="378868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FE8567-2AE0-998E-9724-DCDD153785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solidFill>
                  <a:srgbClr val="0000FF"/>
                </a:solidFill>
                <a:latin typeface="Calibri"/>
                <a:cs typeface="Calibri"/>
              </a:rPr>
              <a:t>In-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context</a:t>
            </a:r>
            <a:r>
              <a:rPr sz="4000" b="1" spc="-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learning/</a:t>
            </a:r>
            <a:r>
              <a:rPr sz="4000" b="1" spc="-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Few-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shot</a:t>
            </a:r>
            <a:r>
              <a:rPr sz="4000" b="1" spc="-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prompting</a:t>
            </a:r>
            <a:r>
              <a:rPr sz="4000" b="1" spc="-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40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Brown,21</a:t>
            </a:r>
            <a:r>
              <a:rPr sz="4000" b="1" u="none" spc="-10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7584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Provide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few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along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3772" y="2639859"/>
            <a:ext cx="8810698" cy="176807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AC853D-E531-D3F0-2077-788BD094A3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Chain</a:t>
            </a:r>
            <a:r>
              <a:rPr sz="4000" b="1" spc="-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4000" b="1" spc="-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thought</a:t>
            </a:r>
            <a:r>
              <a:rPr sz="400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prompting</a:t>
            </a:r>
            <a:r>
              <a:rPr sz="4000" b="1" spc="-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40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Wei,</a:t>
            </a:r>
            <a:r>
              <a:rPr sz="4000" b="1" u="sng" spc="-9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40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2021</a:t>
            </a:r>
            <a:r>
              <a:rPr sz="4000" b="1" u="none" spc="-10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60067"/>
            <a:ext cx="8533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Get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4745" y="2451898"/>
            <a:ext cx="6581609" cy="3539816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AD02ED-D38C-0050-18B9-AABEB60AF8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626609" y="620344"/>
            <a:ext cx="2796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5" dirty="0">
                <a:solidFill>
                  <a:srgbClr val="0000FF"/>
                </a:solidFill>
                <a:latin typeface="Calibri"/>
                <a:cs typeface="Calibri"/>
              </a:rPr>
              <a:t>What</a:t>
            </a:r>
            <a:r>
              <a:rPr sz="4000" b="1" spc="-3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4000" b="1" spc="-3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00FF"/>
                </a:solidFill>
                <a:latin typeface="Calibri"/>
                <a:cs typeface="Calibri"/>
              </a:rPr>
              <a:t>Pick?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73490" y="1024509"/>
            <a:ext cx="126746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eiryo UI"/>
                <a:cs typeface="Meiryo UI"/>
              </a:rPr>
              <a:t>Stronger </a:t>
            </a:r>
            <a:r>
              <a:rPr sz="1600" spc="-20" dirty="0">
                <a:latin typeface="Meiryo UI"/>
                <a:cs typeface="Meiryo UI"/>
              </a:rPr>
              <a:t>task-</a:t>
            </a:r>
            <a:r>
              <a:rPr sz="1600" spc="-10" dirty="0">
                <a:latin typeface="Meiryo UI"/>
                <a:cs typeface="Meiryo UI"/>
              </a:rPr>
              <a:t>specific </a:t>
            </a:r>
            <a:r>
              <a:rPr sz="1600" spc="-20" dirty="0">
                <a:latin typeface="Meiryo UI"/>
                <a:cs typeface="Meiryo UI"/>
              </a:rPr>
              <a:t>performance</a:t>
            </a:r>
            <a:endParaRPr sz="1600">
              <a:latin typeface="Meiryo UI"/>
              <a:cs typeface="Meiryo U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6958" y="1609725"/>
            <a:ext cx="27120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32130" algn="l"/>
              </a:tabLst>
            </a:pPr>
            <a:r>
              <a:rPr sz="2000" spc="-25" dirty="0">
                <a:latin typeface="Calibri"/>
                <a:cs typeface="Calibri"/>
              </a:rPr>
              <a:t>1.</a:t>
            </a:r>
            <a:r>
              <a:rPr sz="2000" dirty="0">
                <a:latin typeface="Calibri"/>
                <a:cs typeface="Calibri"/>
              </a:rPr>
              <a:t>	Full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85" dirty="0">
                <a:latin typeface="Calibri"/>
                <a:cs typeface="Calibri"/>
              </a:rPr>
              <a:t>Fine-</a:t>
            </a:r>
            <a:r>
              <a:rPr sz="2000" spc="80" dirty="0">
                <a:latin typeface="Calibri"/>
                <a:cs typeface="Calibri"/>
              </a:rPr>
              <a:t>tuning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(FT)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4779" y="1996567"/>
            <a:ext cx="6602730" cy="3855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850">
              <a:lnSpc>
                <a:spcPct val="100000"/>
              </a:lnSpc>
              <a:spcBef>
                <a:spcPts val="105"/>
              </a:spcBef>
              <a:tabLst>
                <a:tab pos="1204595" algn="l"/>
              </a:tabLst>
            </a:pPr>
            <a:r>
              <a:rPr sz="2000" spc="-25" dirty="0">
                <a:latin typeface="Calibri"/>
                <a:cs typeface="Calibri"/>
              </a:rPr>
              <a:t>a.</a:t>
            </a:r>
            <a:r>
              <a:rPr sz="2000" dirty="0">
                <a:latin typeface="Calibri"/>
                <a:cs typeface="Calibri"/>
              </a:rPr>
              <a:t>	+Strongest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endParaRPr sz="2000">
              <a:latin typeface="Calibri"/>
              <a:cs typeface="Calibri"/>
            </a:endParaRPr>
          </a:p>
          <a:p>
            <a:pPr marL="1204595" marR="5080" indent="-512445">
              <a:lnSpc>
                <a:spcPts val="2520"/>
              </a:lnSpc>
              <a:spcBef>
                <a:spcPts val="5"/>
              </a:spcBef>
              <a:buAutoNum type="alphaLcPeriod" startAt="2"/>
              <a:tabLst>
                <a:tab pos="1204595" algn="l"/>
              </a:tabLst>
            </a:pPr>
            <a:r>
              <a:rPr sz="2000" dirty="0">
                <a:latin typeface="Calibri"/>
                <a:cs typeface="Calibri"/>
              </a:rPr>
              <a:t>-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Need</a:t>
            </a:r>
            <a:r>
              <a:rPr sz="2000" spc="-1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curated</a:t>
            </a:r>
            <a:r>
              <a:rPr sz="2000" spc="-1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and</a:t>
            </a:r>
            <a:r>
              <a:rPr sz="2000" spc="-1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labeled</a:t>
            </a:r>
            <a:r>
              <a:rPr sz="2000" spc="-1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</a:t>
            </a:r>
            <a:r>
              <a:rPr sz="2000" spc="-145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for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each</a:t>
            </a:r>
            <a:r>
              <a:rPr sz="2000" spc="-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1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task </a:t>
            </a:r>
            <a:r>
              <a:rPr sz="2000" dirty="0">
                <a:latin typeface="Calibri"/>
                <a:cs typeface="Calibri"/>
              </a:rPr>
              <a:t>(typically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5" dirty="0">
                <a:latin typeface="Calibri"/>
                <a:cs typeface="Calibri"/>
              </a:rPr>
              <a:t>1k-</a:t>
            </a:r>
            <a:r>
              <a:rPr sz="2000" spc="-45" dirty="0">
                <a:latin typeface="Calibri"/>
                <a:cs typeface="Calibri"/>
              </a:rPr>
              <a:t>100k+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ex.)</a:t>
            </a:r>
            <a:endParaRPr sz="2000">
              <a:latin typeface="Calibri"/>
              <a:cs typeface="Calibri"/>
            </a:endParaRPr>
          </a:p>
          <a:p>
            <a:pPr marL="1204595" indent="-489584">
              <a:lnSpc>
                <a:spcPct val="100000"/>
              </a:lnSpc>
              <a:spcBef>
                <a:spcPts val="90"/>
              </a:spcBef>
              <a:buAutoNum type="alphaLcPeriod" startAt="2"/>
              <a:tabLst>
                <a:tab pos="1204595" algn="l"/>
              </a:tabLst>
            </a:pPr>
            <a:r>
              <a:rPr sz="2000" dirty="0">
                <a:latin typeface="Calibri"/>
                <a:cs typeface="Calibri"/>
              </a:rPr>
              <a:t>-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generalization,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spurious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feature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exploitation</a:t>
            </a:r>
            <a:endParaRPr sz="2000">
              <a:latin typeface="Calibri"/>
              <a:cs typeface="Calibri"/>
            </a:endParaRPr>
          </a:p>
          <a:p>
            <a:pPr marL="594360" indent="-568325">
              <a:lnSpc>
                <a:spcPct val="100000"/>
              </a:lnSpc>
              <a:spcBef>
                <a:spcPts val="110"/>
              </a:spcBef>
              <a:buAutoNum type="arabicPeriod" startAt="2"/>
              <a:tabLst>
                <a:tab pos="594360" algn="l"/>
              </a:tabLst>
            </a:pPr>
            <a:r>
              <a:rPr sz="2000" spc="75" dirty="0">
                <a:latin typeface="Calibri"/>
                <a:cs typeface="Calibri"/>
              </a:rPr>
              <a:t>Few-</a:t>
            </a:r>
            <a:r>
              <a:rPr sz="2000" dirty="0">
                <a:latin typeface="Calibri"/>
                <a:cs typeface="Calibri"/>
              </a:rPr>
              <a:t>shot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(FS)</a:t>
            </a:r>
            <a:endParaRPr sz="2000">
              <a:latin typeface="Calibri"/>
              <a:cs typeface="Calibri"/>
            </a:endParaRPr>
          </a:p>
          <a:p>
            <a:pPr marL="704850">
              <a:lnSpc>
                <a:spcPct val="100000"/>
              </a:lnSpc>
              <a:spcBef>
                <a:spcPts val="190"/>
              </a:spcBef>
              <a:tabLst>
                <a:tab pos="1204595" algn="l"/>
              </a:tabLst>
            </a:pPr>
            <a:r>
              <a:rPr sz="2000" spc="-25" dirty="0">
                <a:latin typeface="Calibri"/>
                <a:cs typeface="Calibri"/>
              </a:rPr>
              <a:t>a.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80" dirty="0">
                <a:latin typeface="Calibri"/>
                <a:cs typeface="Calibri"/>
              </a:rPr>
              <a:t>+Much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task-</a:t>
            </a:r>
            <a:r>
              <a:rPr sz="2000" dirty="0">
                <a:latin typeface="Calibri"/>
                <a:cs typeface="Calibri"/>
              </a:rPr>
              <a:t>specific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needed</a:t>
            </a:r>
            <a:endParaRPr sz="2000">
              <a:latin typeface="Calibri"/>
              <a:cs typeface="Calibri"/>
            </a:endParaRPr>
          </a:p>
          <a:p>
            <a:pPr marL="692150">
              <a:lnSpc>
                <a:spcPct val="100000"/>
              </a:lnSpc>
              <a:spcBef>
                <a:spcPts val="110"/>
              </a:spcBef>
              <a:tabLst>
                <a:tab pos="1204595" algn="l"/>
              </a:tabLst>
            </a:pPr>
            <a:r>
              <a:rPr sz="2000" spc="-25" dirty="0">
                <a:latin typeface="Calibri"/>
                <a:cs typeface="Calibri"/>
              </a:rPr>
              <a:t>b.</a:t>
            </a:r>
            <a:r>
              <a:rPr sz="2000" dirty="0">
                <a:latin typeface="Calibri"/>
                <a:cs typeface="Calibri"/>
              </a:rPr>
              <a:t>	+No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spurious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exploitation</a:t>
            </a:r>
            <a:endParaRPr sz="2000">
              <a:latin typeface="Calibri"/>
              <a:cs typeface="Calibri"/>
            </a:endParaRPr>
          </a:p>
          <a:p>
            <a:pPr marL="715010">
              <a:lnSpc>
                <a:spcPct val="100000"/>
              </a:lnSpc>
              <a:spcBef>
                <a:spcPts val="95"/>
              </a:spcBef>
              <a:tabLst>
                <a:tab pos="1204595" algn="l"/>
              </a:tabLst>
            </a:pPr>
            <a:r>
              <a:rPr sz="2000" spc="-25" dirty="0">
                <a:latin typeface="Calibri"/>
                <a:cs typeface="Calibri"/>
              </a:rPr>
              <a:t>c.</a:t>
            </a:r>
            <a:r>
              <a:rPr sz="2000" dirty="0">
                <a:latin typeface="Calibri"/>
                <a:cs typeface="Calibri"/>
              </a:rPr>
              <a:t>	-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Challenging</a:t>
            </a:r>
            <a:endParaRPr sz="2000">
              <a:latin typeface="Calibri"/>
              <a:cs typeface="Calibri"/>
            </a:endParaRPr>
          </a:p>
          <a:p>
            <a:pPr marL="594360" indent="-55626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594360" algn="l"/>
              </a:tabLst>
            </a:pPr>
            <a:r>
              <a:rPr sz="2000" spc="65" dirty="0">
                <a:latin typeface="Calibri"/>
                <a:cs typeface="Calibri"/>
              </a:rPr>
              <a:t>One-</a:t>
            </a:r>
            <a:r>
              <a:rPr sz="2000" dirty="0">
                <a:latin typeface="Calibri"/>
                <a:cs typeface="Calibri"/>
              </a:rPr>
              <a:t>shot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(1S)</a:t>
            </a:r>
            <a:endParaRPr sz="2000">
              <a:latin typeface="Calibri"/>
              <a:cs typeface="Calibri"/>
            </a:endParaRPr>
          </a:p>
          <a:p>
            <a:pPr marL="704850">
              <a:lnSpc>
                <a:spcPct val="100000"/>
              </a:lnSpc>
              <a:spcBef>
                <a:spcPts val="204"/>
              </a:spcBef>
              <a:tabLst>
                <a:tab pos="1204595" algn="l"/>
              </a:tabLst>
            </a:pPr>
            <a:r>
              <a:rPr sz="2000" spc="-25" dirty="0">
                <a:latin typeface="Calibri"/>
                <a:cs typeface="Calibri"/>
              </a:rPr>
              <a:t>a.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100" dirty="0">
                <a:latin typeface="Calibri"/>
                <a:cs typeface="Calibri"/>
              </a:rPr>
              <a:t>+"Most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natural,"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90" dirty="0">
                <a:latin typeface="Calibri"/>
                <a:cs typeface="Calibri"/>
              </a:rPr>
              <a:t>e.g.</a:t>
            </a:r>
            <a:r>
              <a:rPr sz="2000" spc="-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humans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instructions</a:t>
            </a:r>
            <a:endParaRPr sz="2000">
              <a:latin typeface="Calibri"/>
              <a:cs typeface="Calibri"/>
            </a:endParaRPr>
          </a:p>
          <a:p>
            <a:pPr marL="692150">
              <a:lnSpc>
                <a:spcPct val="100000"/>
              </a:lnSpc>
              <a:spcBef>
                <a:spcPts val="100"/>
              </a:spcBef>
              <a:tabLst>
                <a:tab pos="1204595" algn="l"/>
              </a:tabLst>
            </a:pPr>
            <a:r>
              <a:rPr sz="2000" spc="-25" dirty="0">
                <a:latin typeface="Calibri"/>
                <a:cs typeface="Calibri"/>
              </a:rPr>
              <a:t>b.</a:t>
            </a:r>
            <a:r>
              <a:rPr sz="2000" dirty="0">
                <a:latin typeface="Calibri"/>
                <a:cs typeface="Calibri"/>
              </a:rPr>
              <a:t>	-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Challenging</a:t>
            </a:r>
            <a:endParaRPr sz="2000">
              <a:latin typeface="Calibri"/>
              <a:cs typeface="Calibri"/>
            </a:endParaRPr>
          </a:p>
          <a:p>
            <a:pPr marL="594360" indent="-581660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594360" algn="l"/>
              </a:tabLst>
            </a:pPr>
            <a:r>
              <a:rPr sz="2000" spc="60" dirty="0">
                <a:latin typeface="Calibri"/>
                <a:cs typeface="Calibri"/>
              </a:rPr>
              <a:t>Zero-</a:t>
            </a:r>
            <a:r>
              <a:rPr sz="2000" dirty="0">
                <a:latin typeface="Calibri"/>
                <a:cs typeface="Calibri"/>
              </a:rPr>
              <a:t>shot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(0S)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991791" y="2171891"/>
            <a:ext cx="516255" cy="3501390"/>
            <a:chOff x="8991791" y="2171891"/>
            <a:chExt cx="516255" cy="3501390"/>
          </a:xfrm>
        </p:grpSpPr>
        <p:sp>
          <p:nvSpPr>
            <p:cNvPr id="8" name="object 8"/>
            <p:cNvSpPr/>
            <p:nvPr/>
          </p:nvSpPr>
          <p:spPr>
            <a:xfrm>
              <a:off x="9005316" y="2185415"/>
              <a:ext cx="487680" cy="3472815"/>
            </a:xfrm>
            <a:custGeom>
              <a:avLst/>
              <a:gdLst/>
              <a:ahLst/>
              <a:cxnLst/>
              <a:rect l="l" t="t" r="r" b="b"/>
              <a:pathLst>
                <a:path w="487679" h="3472815">
                  <a:moveTo>
                    <a:pt x="365378" y="0"/>
                  </a:moveTo>
                  <a:lnTo>
                    <a:pt x="121792" y="0"/>
                  </a:lnTo>
                  <a:lnTo>
                    <a:pt x="121792" y="3229356"/>
                  </a:lnTo>
                  <a:lnTo>
                    <a:pt x="0" y="3229356"/>
                  </a:lnTo>
                  <a:lnTo>
                    <a:pt x="243585" y="3472611"/>
                  </a:lnTo>
                  <a:lnTo>
                    <a:pt x="487299" y="3229356"/>
                  </a:lnTo>
                  <a:lnTo>
                    <a:pt x="365378" y="3229356"/>
                  </a:lnTo>
                  <a:lnTo>
                    <a:pt x="365378" y="0"/>
                  </a:lnTo>
                  <a:close/>
                </a:path>
              </a:pathLst>
            </a:custGeom>
            <a:solidFill>
              <a:srgbClr val="FF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06078" y="2186177"/>
              <a:ext cx="487680" cy="3472815"/>
            </a:xfrm>
            <a:custGeom>
              <a:avLst/>
              <a:gdLst/>
              <a:ahLst/>
              <a:cxnLst/>
              <a:rect l="l" t="t" r="r" b="b"/>
              <a:pathLst>
                <a:path w="487679" h="3472815">
                  <a:moveTo>
                    <a:pt x="0" y="3229356"/>
                  </a:moveTo>
                  <a:lnTo>
                    <a:pt x="121793" y="3229356"/>
                  </a:lnTo>
                  <a:lnTo>
                    <a:pt x="121793" y="0"/>
                  </a:lnTo>
                  <a:lnTo>
                    <a:pt x="365378" y="0"/>
                  </a:lnTo>
                  <a:lnTo>
                    <a:pt x="365378" y="3229356"/>
                  </a:lnTo>
                  <a:lnTo>
                    <a:pt x="487299" y="3229356"/>
                  </a:lnTo>
                  <a:lnTo>
                    <a:pt x="243586" y="3472611"/>
                  </a:lnTo>
                  <a:lnTo>
                    <a:pt x="0" y="3229356"/>
                  </a:lnTo>
                  <a:close/>
                </a:path>
              </a:pathLst>
            </a:custGeom>
            <a:ln w="28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4"/>
          <p:cNvSpPr txBox="1"/>
          <p:nvPr/>
        </p:nvSpPr>
        <p:spPr>
          <a:xfrm>
            <a:off x="1225092" y="5837631"/>
            <a:ext cx="3865245" cy="64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  <a:tabLst>
                <a:tab pos="522605" algn="l"/>
              </a:tabLst>
            </a:pPr>
            <a:r>
              <a:rPr sz="2000" spc="-25" dirty="0">
                <a:latin typeface="Calibri"/>
                <a:cs typeface="Calibri"/>
              </a:rPr>
              <a:t>a.</a:t>
            </a:r>
            <a:r>
              <a:rPr sz="2000" dirty="0">
                <a:latin typeface="Calibri"/>
                <a:cs typeface="Calibri"/>
              </a:rPr>
              <a:t>	+Most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convenient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2605" algn="l"/>
              </a:tabLst>
            </a:pPr>
            <a:r>
              <a:rPr sz="2000" spc="-25" dirty="0">
                <a:latin typeface="Calibri"/>
                <a:cs typeface="Calibri"/>
              </a:rPr>
              <a:t>b.</a:t>
            </a:r>
            <a:r>
              <a:rPr sz="2000" dirty="0">
                <a:latin typeface="Calibri"/>
                <a:cs typeface="Calibri"/>
              </a:rPr>
              <a:t>	-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Challenging,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be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ambiguous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23452" y="6025692"/>
            <a:ext cx="17494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eiryo UI"/>
                <a:cs typeface="Meiryo UI"/>
              </a:rPr>
              <a:t>More</a:t>
            </a:r>
            <a:r>
              <a:rPr sz="1600" spc="75" dirty="0">
                <a:latin typeface="Meiryo UI"/>
                <a:cs typeface="Meiryo UI"/>
              </a:rPr>
              <a:t> </a:t>
            </a:r>
            <a:r>
              <a:rPr sz="1600" spc="-10" dirty="0">
                <a:latin typeface="Meiryo UI"/>
                <a:cs typeface="Meiryo UI"/>
              </a:rPr>
              <a:t>convenient, general,</a:t>
            </a:r>
            <a:r>
              <a:rPr sz="1600" spc="-95" dirty="0">
                <a:latin typeface="Meiryo UI"/>
                <a:cs typeface="Meiryo UI"/>
              </a:rPr>
              <a:t> </a:t>
            </a:r>
            <a:r>
              <a:rPr sz="1600" dirty="0">
                <a:latin typeface="Meiryo UI"/>
                <a:cs typeface="Meiryo UI"/>
              </a:rPr>
              <a:t>less</a:t>
            </a:r>
            <a:r>
              <a:rPr sz="1600" spc="-95" dirty="0">
                <a:latin typeface="Meiryo UI"/>
                <a:cs typeface="Meiryo UI"/>
              </a:rPr>
              <a:t> </a:t>
            </a:r>
            <a:r>
              <a:rPr sz="1600" spc="-20" dirty="0">
                <a:latin typeface="Meiryo UI"/>
                <a:cs typeface="Meiryo UI"/>
              </a:rPr>
              <a:t>data</a:t>
            </a:r>
            <a:endParaRPr sz="1600">
              <a:latin typeface="Meiryo UI"/>
              <a:cs typeface="Meiryo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14226" y="6360363"/>
            <a:ext cx="21780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40" dirty="0">
                <a:solidFill>
                  <a:srgbClr val="585858"/>
                </a:solidFill>
                <a:latin typeface="Meiryo UI"/>
                <a:cs typeface="Meiryo UI"/>
              </a:rPr>
              <a:t>19</a:t>
            </a:r>
            <a:endParaRPr sz="1300">
              <a:latin typeface="Meiryo UI"/>
              <a:cs typeface="Meiryo UI"/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45891EBF-6AC3-501D-BB84-EE2A1B64EA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45</a:t>
            </a:fld>
            <a:endParaRPr lang="en-US" altLang="zh-C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Note</a:t>
            </a:r>
            <a:r>
              <a:rPr sz="4000" b="1" spc="-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4000" b="1" spc="-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Parameter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Efficient</a:t>
            </a:r>
            <a:r>
              <a:rPr sz="40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00FF"/>
                </a:solidFill>
                <a:latin typeface="Calibri"/>
                <a:cs typeface="Calibri"/>
              </a:rPr>
              <a:t>Fine-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tuning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9700895" cy="1442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don’t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enough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SFT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Freeze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parameters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trainable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(which?)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Add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adapter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adapt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parameters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Perform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Low-</a:t>
            </a:r>
            <a:r>
              <a:rPr sz="2400" dirty="0">
                <a:latin typeface="Calibri"/>
                <a:cs typeface="Calibri"/>
              </a:rPr>
              <a:t>rank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Adaptation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(LoRA)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84D9A9-D15E-D12B-9C91-58B691BFDB1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Poll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7713980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in-</a:t>
            </a:r>
            <a:r>
              <a:rPr sz="2800" dirty="0">
                <a:latin typeface="Calibri"/>
                <a:cs typeface="Calibri"/>
              </a:rPr>
              <a:t>context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learning?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5"/>
              </a:spcBef>
            </a:pP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19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Providing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detailed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during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RLHF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02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Providing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prompts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02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Asking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work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190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spc="-10" dirty="0">
                <a:latin typeface="Calibri"/>
                <a:cs typeface="Calibri"/>
              </a:rPr>
              <a:t>Zero-</a:t>
            </a:r>
            <a:r>
              <a:rPr sz="2800" dirty="0">
                <a:latin typeface="Calibri"/>
                <a:cs typeface="Calibri"/>
              </a:rPr>
              <a:t>shot </a:t>
            </a:r>
            <a:r>
              <a:rPr sz="2800" spc="-10" dirty="0">
                <a:latin typeface="Calibri"/>
                <a:cs typeface="Calibri"/>
              </a:rPr>
              <a:t>prompting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9A9B06-2B57-2879-19E9-BCDEAA000E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Poll</a:t>
            </a:r>
            <a:r>
              <a:rPr sz="40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50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7713980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in-</a:t>
            </a:r>
            <a:r>
              <a:rPr sz="2800" dirty="0">
                <a:latin typeface="Calibri"/>
                <a:cs typeface="Calibri"/>
              </a:rPr>
              <a:t>context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learning?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5"/>
              </a:spcBef>
            </a:pP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19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Providing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detailed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instructions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during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RLHF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025"/>
              </a:lnSpc>
              <a:buClr>
                <a:srgbClr val="000000"/>
              </a:buClr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Providing</a:t>
            </a:r>
            <a:r>
              <a:rPr sz="28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examples</a:t>
            </a:r>
            <a:r>
              <a:rPr sz="2800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within</a:t>
            </a:r>
            <a:r>
              <a:rPr sz="2800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LLM</a:t>
            </a:r>
            <a:r>
              <a:rPr sz="2800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prompts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025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dirty="0">
                <a:latin typeface="Calibri"/>
                <a:cs typeface="Calibri"/>
              </a:rPr>
              <a:t>Asking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work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ts val="3190"/>
              </a:lnSpc>
              <a:buSzPct val="64285"/>
              <a:buAutoNum type="alphaUcPeriod"/>
              <a:tabLst>
                <a:tab pos="527685" algn="l"/>
              </a:tabLst>
            </a:pPr>
            <a:r>
              <a:rPr sz="2800" spc="-10" dirty="0">
                <a:latin typeface="Calibri"/>
                <a:cs typeface="Calibri"/>
              </a:rPr>
              <a:t>Zero-</a:t>
            </a:r>
            <a:r>
              <a:rPr sz="2800" dirty="0">
                <a:latin typeface="Calibri"/>
                <a:cs typeface="Calibri"/>
              </a:rPr>
              <a:t>shot </a:t>
            </a:r>
            <a:r>
              <a:rPr sz="2800" spc="-10" dirty="0">
                <a:latin typeface="Calibri"/>
                <a:cs typeface="Calibri"/>
              </a:rPr>
              <a:t>prompting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CF132-0024-8351-E4D0-7FFF329F50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Evaluating</a:t>
            </a:r>
            <a:r>
              <a:rPr sz="4000" b="1" spc="-1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00FF"/>
                </a:solidFill>
                <a:latin typeface="Calibri"/>
                <a:cs typeface="Calibri"/>
              </a:rPr>
              <a:t>LLMs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7122795" cy="78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Evaluation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challenging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75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Evaluate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19" y="2862277"/>
            <a:ext cx="9124794" cy="2499051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D68464-68C5-F757-2832-7A7A29A91A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Multimodal</a:t>
            </a:r>
            <a:r>
              <a:rPr sz="4000" b="1" spc="-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00FF"/>
                </a:solidFill>
                <a:latin typeface="Calibri"/>
                <a:cs typeface="Calibri"/>
              </a:rPr>
              <a:t>LLMs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0281920" cy="2486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Text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picture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LLMs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listening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well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cross-</a:t>
            </a:r>
            <a:r>
              <a:rPr sz="2400" dirty="0">
                <a:latin typeface="Calibri"/>
                <a:cs typeface="Calibri"/>
              </a:rPr>
              <a:t>modal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2230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Multimodality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introduced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From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training:</a:t>
            </a:r>
            <a:r>
              <a:rPr sz="2400" spc="-10" dirty="0">
                <a:latin typeface="Calibri"/>
                <a:cs typeface="Calibri"/>
              </a:rPr>
              <a:t> Gemini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0" dirty="0">
                <a:latin typeface="Calibri"/>
                <a:cs typeface="Calibri"/>
              </a:rPr>
              <a:t> instruction-</a:t>
            </a:r>
            <a:r>
              <a:rPr sz="2400" dirty="0">
                <a:latin typeface="Calibri"/>
                <a:cs typeface="Calibri"/>
              </a:rPr>
              <a:t>tuning: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AudioGPT,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Flamingo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484BEC-AD1B-A710-9BF8-9C4BC36E77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50</a:t>
            </a:fld>
            <a:endParaRPr lang="en-US" altLang="zh-C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832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Modelling</a:t>
            </a:r>
            <a:r>
              <a:rPr sz="4000" b="1" spc="-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sz="4000" b="1" spc="-1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using</a:t>
            </a:r>
            <a:r>
              <a:rPr sz="4000" b="1" spc="-1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continuous</a:t>
            </a:r>
            <a:r>
              <a:rPr sz="4000" b="1" spc="-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representations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7367" y="1580768"/>
            <a:ext cx="4085590" cy="25990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9900" marR="13335" indent="-457200">
              <a:lnSpc>
                <a:spcPts val="3020"/>
              </a:lnSpc>
              <a:spcBef>
                <a:spcPts val="480"/>
              </a:spcBef>
              <a:buSzPct val="64285"/>
              <a:buFont typeface="Arial"/>
              <a:buChar char="●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continuous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speech representations</a:t>
            </a:r>
            <a:endParaRPr sz="2800">
              <a:latin typeface="Calibri"/>
              <a:cs typeface="Calibri"/>
            </a:endParaRPr>
          </a:p>
          <a:p>
            <a:pPr marL="1078865" lvl="1" indent="-423545">
              <a:lnSpc>
                <a:spcPts val="2475"/>
              </a:lnSpc>
              <a:buSzPct val="58333"/>
              <a:buFont typeface="Arial"/>
              <a:buChar char="○"/>
              <a:tabLst>
                <a:tab pos="1078865" algn="l"/>
              </a:tabLst>
            </a:pPr>
            <a:r>
              <a:rPr sz="2400" spc="-20" dirty="0">
                <a:latin typeface="Calibri"/>
                <a:cs typeface="Calibri"/>
              </a:rPr>
              <a:t>Pros</a:t>
            </a:r>
            <a:endParaRPr sz="2400">
              <a:latin typeface="Calibri"/>
              <a:cs typeface="Calibri"/>
            </a:endParaRPr>
          </a:p>
          <a:p>
            <a:pPr marL="1688464" lvl="2" indent="-423545">
              <a:lnSpc>
                <a:spcPts val="2175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dirty="0">
                <a:latin typeface="Calibri"/>
                <a:cs typeface="Calibri"/>
              </a:rPr>
              <a:t>Rich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endParaRPr sz="2000">
              <a:latin typeface="Calibri"/>
              <a:cs typeface="Calibri"/>
            </a:endParaRPr>
          </a:p>
          <a:p>
            <a:pPr marL="1688464" lvl="2" indent="-423545">
              <a:lnSpc>
                <a:spcPts val="2125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dirty="0">
                <a:latin typeface="Calibri"/>
                <a:cs typeface="Calibri"/>
              </a:rPr>
              <a:t>Good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endParaRPr sz="2000">
              <a:latin typeface="Calibri"/>
              <a:cs typeface="Calibri"/>
            </a:endParaRPr>
          </a:p>
          <a:p>
            <a:pPr marL="1078865" lvl="1" indent="-423545">
              <a:lnSpc>
                <a:spcPts val="2615"/>
              </a:lnSpc>
              <a:buSzPct val="58333"/>
              <a:buFont typeface="Arial"/>
              <a:buChar char="○"/>
              <a:tabLst>
                <a:tab pos="1078865" algn="l"/>
              </a:tabLst>
            </a:pPr>
            <a:r>
              <a:rPr sz="2400" spc="-20" dirty="0">
                <a:latin typeface="Calibri"/>
                <a:cs typeface="Calibri"/>
              </a:rPr>
              <a:t>Cons</a:t>
            </a:r>
            <a:endParaRPr sz="2400">
              <a:latin typeface="Calibri"/>
              <a:cs typeface="Calibri"/>
            </a:endParaRPr>
          </a:p>
          <a:p>
            <a:pPr marL="1688464" lvl="2" indent="-423545">
              <a:lnSpc>
                <a:spcPts val="2175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dirty="0">
                <a:latin typeface="Calibri"/>
                <a:cs typeface="Calibri"/>
              </a:rPr>
              <a:t>Computationally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heavy</a:t>
            </a:r>
            <a:endParaRPr sz="2000">
              <a:latin typeface="Calibri"/>
              <a:cs typeface="Calibri"/>
            </a:endParaRPr>
          </a:p>
          <a:p>
            <a:pPr marL="1688464" lvl="2" indent="-423545">
              <a:lnSpc>
                <a:spcPts val="2280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dirty="0">
                <a:latin typeface="Calibri"/>
                <a:cs typeface="Calibri"/>
              </a:rPr>
              <a:t>Storage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heavy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21489" y="2058733"/>
            <a:ext cx="6240145" cy="1291590"/>
            <a:chOff x="5821489" y="2058733"/>
            <a:chExt cx="6240145" cy="1291590"/>
          </a:xfrm>
        </p:grpSpPr>
        <p:sp>
          <p:nvSpPr>
            <p:cNvPr id="6" name="object 6"/>
            <p:cNvSpPr/>
            <p:nvPr/>
          </p:nvSpPr>
          <p:spPr>
            <a:xfrm>
              <a:off x="5826252" y="2063495"/>
              <a:ext cx="6230620" cy="1282065"/>
            </a:xfrm>
            <a:custGeom>
              <a:avLst/>
              <a:gdLst/>
              <a:ahLst/>
              <a:cxnLst/>
              <a:rect l="l" t="t" r="r" b="b"/>
              <a:pathLst>
                <a:path w="6230620" h="1282064">
                  <a:moveTo>
                    <a:pt x="6016498" y="0"/>
                  </a:moveTo>
                  <a:lnTo>
                    <a:pt x="213613" y="0"/>
                  </a:lnTo>
                  <a:lnTo>
                    <a:pt x="164631" y="5641"/>
                  </a:lnTo>
                  <a:lnTo>
                    <a:pt x="119668" y="21710"/>
                  </a:lnTo>
                  <a:lnTo>
                    <a:pt x="80006" y="46926"/>
                  </a:lnTo>
                  <a:lnTo>
                    <a:pt x="46926" y="80006"/>
                  </a:lnTo>
                  <a:lnTo>
                    <a:pt x="21710" y="119668"/>
                  </a:lnTo>
                  <a:lnTo>
                    <a:pt x="5641" y="164631"/>
                  </a:lnTo>
                  <a:lnTo>
                    <a:pt x="0" y="213613"/>
                  </a:lnTo>
                  <a:lnTo>
                    <a:pt x="0" y="1068069"/>
                  </a:lnTo>
                  <a:lnTo>
                    <a:pt x="5641" y="1117052"/>
                  </a:lnTo>
                  <a:lnTo>
                    <a:pt x="21710" y="1162015"/>
                  </a:lnTo>
                  <a:lnTo>
                    <a:pt x="46926" y="1201677"/>
                  </a:lnTo>
                  <a:lnTo>
                    <a:pt x="80006" y="1234757"/>
                  </a:lnTo>
                  <a:lnTo>
                    <a:pt x="119668" y="1259973"/>
                  </a:lnTo>
                  <a:lnTo>
                    <a:pt x="164631" y="1276042"/>
                  </a:lnTo>
                  <a:lnTo>
                    <a:pt x="213613" y="1281683"/>
                  </a:lnTo>
                  <a:lnTo>
                    <a:pt x="6016498" y="1281683"/>
                  </a:lnTo>
                  <a:lnTo>
                    <a:pt x="6065480" y="1276042"/>
                  </a:lnTo>
                  <a:lnTo>
                    <a:pt x="6110443" y="1259973"/>
                  </a:lnTo>
                  <a:lnTo>
                    <a:pt x="6150105" y="1234757"/>
                  </a:lnTo>
                  <a:lnTo>
                    <a:pt x="6183185" y="1201677"/>
                  </a:lnTo>
                  <a:lnTo>
                    <a:pt x="6208401" y="1162015"/>
                  </a:lnTo>
                  <a:lnTo>
                    <a:pt x="6224470" y="1117052"/>
                  </a:lnTo>
                  <a:lnTo>
                    <a:pt x="6230112" y="1068069"/>
                  </a:lnTo>
                  <a:lnTo>
                    <a:pt x="6230112" y="213613"/>
                  </a:lnTo>
                  <a:lnTo>
                    <a:pt x="6224470" y="164631"/>
                  </a:lnTo>
                  <a:lnTo>
                    <a:pt x="6208401" y="119668"/>
                  </a:lnTo>
                  <a:lnTo>
                    <a:pt x="6183185" y="80006"/>
                  </a:lnTo>
                  <a:lnTo>
                    <a:pt x="6150105" y="46926"/>
                  </a:lnTo>
                  <a:lnTo>
                    <a:pt x="6110443" y="21710"/>
                  </a:lnTo>
                  <a:lnTo>
                    <a:pt x="6065480" y="5641"/>
                  </a:lnTo>
                  <a:lnTo>
                    <a:pt x="6016498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26252" y="2063495"/>
              <a:ext cx="6230620" cy="1282065"/>
            </a:xfrm>
            <a:custGeom>
              <a:avLst/>
              <a:gdLst/>
              <a:ahLst/>
              <a:cxnLst/>
              <a:rect l="l" t="t" r="r" b="b"/>
              <a:pathLst>
                <a:path w="6230620" h="1282064">
                  <a:moveTo>
                    <a:pt x="0" y="213613"/>
                  </a:moveTo>
                  <a:lnTo>
                    <a:pt x="5641" y="164631"/>
                  </a:lnTo>
                  <a:lnTo>
                    <a:pt x="21710" y="119668"/>
                  </a:lnTo>
                  <a:lnTo>
                    <a:pt x="46926" y="80006"/>
                  </a:lnTo>
                  <a:lnTo>
                    <a:pt x="80006" y="46926"/>
                  </a:lnTo>
                  <a:lnTo>
                    <a:pt x="119668" y="21710"/>
                  </a:lnTo>
                  <a:lnTo>
                    <a:pt x="164631" y="5641"/>
                  </a:lnTo>
                  <a:lnTo>
                    <a:pt x="213613" y="0"/>
                  </a:lnTo>
                  <a:lnTo>
                    <a:pt x="6016498" y="0"/>
                  </a:lnTo>
                  <a:lnTo>
                    <a:pt x="6065480" y="5641"/>
                  </a:lnTo>
                  <a:lnTo>
                    <a:pt x="6110443" y="21710"/>
                  </a:lnTo>
                  <a:lnTo>
                    <a:pt x="6150105" y="46926"/>
                  </a:lnTo>
                  <a:lnTo>
                    <a:pt x="6183185" y="80006"/>
                  </a:lnTo>
                  <a:lnTo>
                    <a:pt x="6208401" y="119668"/>
                  </a:lnTo>
                  <a:lnTo>
                    <a:pt x="6224470" y="164631"/>
                  </a:lnTo>
                  <a:lnTo>
                    <a:pt x="6230112" y="213613"/>
                  </a:lnTo>
                  <a:lnTo>
                    <a:pt x="6230112" y="1068069"/>
                  </a:lnTo>
                  <a:lnTo>
                    <a:pt x="6224470" y="1117052"/>
                  </a:lnTo>
                  <a:lnTo>
                    <a:pt x="6208401" y="1162015"/>
                  </a:lnTo>
                  <a:lnTo>
                    <a:pt x="6183185" y="1201677"/>
                  </a:lnTo>
                  <a:lnTo>
                    <a:pt x="6150105" y="1234757"/>
                  </a:lnTo>
                  <a:lnTo>
                    <a:pt x="6110443" y="1259973"/>
                  </a:lnTo>
                  <a:lnTo>
                    <a:pt x="6065480" y="1276042"/>
                  </a:lnTo>
                  <a:lnTo>
                    <a:pt x="6016498" y="1281683"/>
                  </a:lnTo>
                  <a:lnTo>
                    <a:pt x="213613" y="1281683"/>
                  </a:lnTo>
                  <a:lnTo>
                    <a:pt x="164631" y="1276042"/>
                  </a:lnTo>
                  <a:lnTo>
                    <a:pt x="119668" y="1259973"/>
                  </a:lnTo>
                  <a:lnTo>
                    <a:pt x="80006" y="1234757"/>
                  </a:lnTo>
                  <a:lnTo>
                    <a:pt x="46926" y="1201677"/>
                  </a:lnTo>
                  <a:lnTo>
                    <a:pt x="21710" y="1162015"/>
                  </a:lnTo>
                  <a:lnTo>
                    <a:pt x="5641" y="1117052"/>
                  </a:lnTo>
                  <a:lnTo>
                    <a:pt x="0" y="1068069"/>
                  </a:lnTo>
                  <a:lnTo>
                    <a:pt x="0" y="213613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20888" y="2479293"/>
            <a:ext cx="164020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spc="-10" dirty="0">
                <a:latin typeface="Arial"/>
                <a:cs typeface="Arial"/>
              </a:rPr>
              <a:t>SpeechLM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634793" y="3454717"/>
            <a:ext cx="586105" cy="613410"/>
            <a:chOff x="8634793" y="3454717"/>
            <a:chExt cx="586105" cy="613410"/>
          </a:xfrm>
        </p:grpSpPr>
        <p:sp>
          <p:nvSpPr>
            <p:cNvPr id="21" name="object 21"/>
            <p:cNvSpPr/>
            <p:nvPr/>
          </p:nvSpPr>
          <p:spPr>
            <a:xfrm>
              <a:off x="8639556" y="3459479"/>
              <a:ext cx="576580" cy="603885"/>
            </a:xfrm>
            <a:custGeom>
              <a:avLst/>
              <a:gdLst/>
              <a:ahLst/>
              <a:cxnLst/>
              <a:rect l="l" t="t" r="r" b="b"/>
              <a:pathLst>
                <a:path w="576579" h="603885">
                  <a:moveTo>
                    <a:pt x="288036" y="0"/>
                  </a:moveTo>
                  <a:lnTo>
                    <a:pt x="0" y="288036"/>
                  </a:lnTo>
                  <a:lnTo>
                    <a:pt x="144018" y="288036"/>
                  </a:lnTo>
                  <a:lnTo>
                    <a:pt x="144018" y="603504"/>
                  </a:lnTo>
                  <a:lnTo>
                    <a:pt x="432053" y="603504"/>
                  </a:lnTo>
                  <a:lnTo>
                    <a:pt x="432053" y="288036"/>
                  </a:lnTo>
                  <a:lnTo>
                    <a:pt x="576072" y="288036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39556" y="3459479"/>
              <a:ext cx="576580" cy="603885"/>
            </a:xfrm>
            <a:custGeom>
              <a:avLst/>
              <a:gdLst/>
              <a:ahLst/>
              <a:cxnLst/>
              <a:rect l="l" t="t" r="r" b="b"/>
              <a:pathLst>
                <a:path w="576579" h="603885">
                  <a:moveTo>
                    <a:pt x="0" y="288036"/>
                  </a:moveTo>
                  <a:lnTo>
                    <a:pt x="288036" y="0"/>
                  </a:lnTo>
                  <a:lnTo>
                    <a:pt x="576072" y="288036"/>
                  </a:lnTo>
                  <a:lnTo>
                    <a:pt x="432053" y="288036"/>
                  </a:lnTo>
                  <a:lnTo>
                    <a:pt x="432053" y="603504"/>
                  </a:lnTo>
                  <a:lnTo>
                    <a:pt x="144018" y="603504"/>
                  </a:lnTo>
                  <a:lnTo>
                    <a:pt x="144018" y="288036"/>
                  </a:lnTo>
                  <a:lnTo>
                    <a:pt x="0" y="288036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062281" y="4148137"/>
            <a:ext cx="5756910" cy="1291590"/>
            <a:chOff x="6062281" y="4148137"/>
            <a:chExt cx="5756910" cy="1291590"/>
          </a:xfrm>
        </p:grpSpPr>
        <p:sp>
          <p:nvSpPr>
            <p:cNvPr id="10" name="object 10"/>
            <p:cNvSpPr/>
            <p:nvPr/>
          </p:nvSpPr>
          <p:spPr>
            <a:xfrm>
              <a:off x="6067044" y="4152900"/>
              <a:ext cx="5747385" cy="1282065"/>
            </a:xfrm>
            <a:custGeom>
              <a:avLst/>
              <a:gdLst/>
              <a:ahLst/>
              <a:cxnLst/>
              <a:rect l="l" t="t" r="r" b="b"/>
              <a:pathLst>
                <a:path w="5747384" h="1282064">
                  <a:moveTo>
                    <a:pt x="5533389" y="0"/>
                  </a:moveTo>
                  <a:lnTo>
                    <a:pt x="213613" y="0"/>
                  </a:lnTo>
                  <a:lnTo>
                    <a:pt x="164631" y="5641"/>
                  </a:lnTo>
                  <a:lnTo>
                    <a:pt x="119668" y="21710"/>
                  </a:lnTo>
                  <a:lnTo>
                    <a:pt x="80006" y="46926"/>
                  </a:lnTo>
                  <a:lnTo>
                    <a:pt x="46926" y="80006"/>
                  </a:lnTo>
                  <a:lnTo>
                    <a:pt x="21710" y="119668"/>
                  </a:lnTo>
                  <a:lnTo>
                    <a:pt x="5641" y="164631"/>
                  </a:lnTo>
                  <a:lnTo>
                    <a:pt x="0" y="213613"/>
                  </a:lnTo>
                  <a:lnTo>
                    <a:pt x="0" y="1068070"/>
                  </a:lnTo>
                  <a:lnTo>
                    <a:pt x="5641" y="1117052"/>
                  </a:lnTo>
                  <a:lnTo>
                    <a:pt x="21710" y="1162015"/>
                  </a:lnTo>
                  <a:lnTo>
                    <a:pt x="46926" y="1201677"/>
                  </a:lnTo>
                  <a:lnTo>
                    <a:pt x="80006" y="1234757"/>
                  </a:lnTo>
                  <a:lnTo>
                    <a:pt x="119668" y="1259973"/>
                  </a:lnTo>
                  <a:lnTo>
                    <a:pt x="164631" y="1276042"/>
                  </a:lnTo>
                  <a:lnTo>
                    <a:pt x="213613" y="1281684"/>
                  </a:lnTo>
                  <a:lnTo>
                    <a:pt x="5533389" y="1281684"/>
                  </a:lnTo>
                  <a:lnTo>
                    <a:pt x="5582372" y="1276042"/>
                  </a:lnTo>
                  <a:lnTo>
                    <a:pt x="5627335" y="1259973"/>
                  </a:lnTo>
                  <a:lnTo>
                    <a:pt x="5666997" y="1234757"/>
                  </a:lnTo>
                  <a:lnTo>
                    <a:pt x="5700077" y="1201677"/>
                  </a:lnTo>
                  <a:lnTo>
                    <a:pt x="5725293" y="1162015"/>
                  </a:lnTo>
                  <a:lnTo>
                    <a:pt x="5741362" y="1117052"/>
                  </a:lnTo>
                  <a:lnTo>
                    <a:pt x="5747004" y="1068070"/>
                  </a:lnTo>
                  <a:lnTo>
                    <a:pt x="5747004" y="213613"/>
                  </a:lnTo>
                  <a:lnTo>
                    <a:pt x="5741362" y="164631"/>
                  </a:lnTo>
                  <a:lnTo>
                    <a:pt x="5725293" y="119668"/>
                  </a:lnTo>
                  <a:lnTo>
                    <a:pt x="5700077" y="80006"/>
                  </a:lnTo>
                  <a:lnTo>
                    <a:pt x="5666997" y="46926"/>
                  </a:lnTo>
                  <a:lnTo>
                    <a:pt x="5627335" y="21710"/>
                  </a:lnTo>
                  <a:lnTo>
                    <a:pt x="5582372" y="5641"/>
                  </a:lnTo>
                  <a:lnTo>
                    <a:pt x="5533389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67044" y="4152900"/>
              <a:ext cx="5747385" cy="1282065"/>
            </a:xfrm>
            <a:custGeom>
              <a:avLst/>
              <a:gdLst/>
              <a:ahLst/>
              <a:cxnLst/>
              <a:rect l="l" t="t" r="r" b="b"/>
              <a:pathLst>
                <a:path w="5747384" h="1282064">
                  <a:moveTo>
                    <a:pt x="0" y="213613"/>
                  </a:moveTo>
                  <a:lnTo>
                    <a:pt x="5641" y="164631"/>
                  </a:lnTo>
                  <a:lnTo>
                    <a:pt x="21710" y="119668"/>
                  </a:lnTo>
                  <a:lnTo>
                    <a:pt x="46926" y="80006"/>
                  </a:lnTo>
                  <a:lnTo>
                    <a:pt x="80006" y="46926"/>
                  </a:lnTo>
                  <a:lnTo>
                    <a:pt x="119668" y="21710"/>
                  </a:lnTo>
                  <a:lnTo>
                    <a:pt x="164631" y="5641"/>
                  </a:lnTo>
                  <a:lnTo>
                    <a:pt x="213613" y="0"/>
                  </a:lnTo>
                  <a:lnTo>
                    <a:pt x="5533389" y="0"/>
                  </a:lnTo>
                  <a:lnTo>
                    <a:pt x="5582372" y="5641"/>
                  </a:lnTo>
                  <a:lnTo>
                    <a:pt x="5627335" y="21710"/>
                  </a:lnTo>
                  <a:lnTo>
                    <a:pt x="5666997" y="46926"/>
                  </a:lnTo>
                  <a:lnTo>
                    <a:pt x="5700077" y="80006"/>
                  </a:lnTo>
                  <a:lnTo>
                    <a:pt x="5725293" y="119668"/>
                  </a:lnTo>
                  <a:lnTo>
                    <a:pt x="5741362" y="164631"/>
                  </a:lnTo>
                  <a:lnTo>
                    <a:pt x="5747004" y="213613"/>
                  </a:lnTo>
                  <a:lnTo>
                    <a:pt x="5747004" y="1068070"/>
                  </a:lnTo>
                  <a:lnTo>
                    <a:pt x="5741362" y="1117052"/>
                  </a:lnTo>
                  <a:lnTo>
                    <a:pt x="5725293" y="1162015"/>
                  </a:lnTo>
                  <a:lnTo>
                    <a:pt x="5700077" y="1201677"/>
                  </a:lnTo>
                  <a:lnTo>
                    <a:pt x="5666997" y="1234757"/>
                  </a:lnTo>
                  <a:lnTo>
                    <a:pt x="5627335" y="1259973"/>
                  </a:lnTo>
                  <a:lnTo>
                    <a:pt x="5582372" y="1276042"/>
                  </a:lnTo>
                  <a:lnTo>
                    <a:pt x="5533389" y="1281684"/>
                  </a:lnTo>
                  <a:lnTo>
                    <a:pt x="213613" y="1281684"/>
                  </a:lnTo>
                  <a:lnTo>
                    <a:pt x="164631" y="1276042"/>
                  </a:lnTo>
                  <a:lnTo>
                    <a:pt x="119668" y="1259973"/>
                  </a:lnTo>
                  <a:lnTo>
                    <a:pt x="80006" y="1234757"/>
                  </a:lnTo>
                  <a:lnTo>
                    <a:pt x="46926" y="1201677"/>
                  </a:lnTo>
                  <a:lnTo>
                    <a:pt x="21710" y="1162015"/>
                  </a:lnTo>
                  <a:lnTo>
                    <a:pt x="5641" y="1117052"/>
                  </a:lnTo>
                  <a:lnTo>
                    <a:pt x="0" y="1068070"/>
                  </a:lnTo>
                  <a:lnTo>
                    <a:pt x="0" y="213613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71944" y="4808219"/>
              <a:ext cx="1690370" cy="524510"/>
            </a:xfrm>
            <a:custGeom>
              <a:avLst/>
              <a:gdLst/>
              <a:ahLst/>
              <a:cxnLst/>
              <a:rect l="l" t="t" r="r" b="b"/>
              <a:pathLst>
                <a:path w="1690370" h="524510">
                  <a:moveTo>
                    <a:pt x="1602739" y="0"/>
                  </a:moveTo>
                  <a:lnTo>
                    <a:pt x="87375" y="0"/>
                  </a:lnTo>
                  <a:lnTo>
                    <a:pt x="53363" y="6865"/>
                  </a:lnTo>
                  <a:lnTo>
                    <a:pt x="25590" y="25590"/>
                  </a:lnTo>
                  <a:lnTo>
                    <a:pt x="6865" y="53363"/>
                  </a:lnTo>
                  <a:lnTo>
                    <a:pt x="0" y="87375"/>
                  </a:lnTo>
                  <a:lnTo>
                    <a:pt x="0" y="436879"/>
                  </a:lnTo>
                  <a:lnTo>
                    <a:pt x="6865" y="470892"/>
                  </a:lnTo>
                  <a:lnTo>
                    <a:pt x="25590" y="498665"/>
                  </a:lnTo>
                  <a:lnTo>
                    <a:pt x="53363" y="517390"/>
                  </a:lnTo>
                  <a:lnTo>
                    <a:pt x="87375" y="524255"/>
                  </a:lnTo>
                  <a:lnTo>
                    <a:pt x="1602739" y="524255"/>
                  </a:lnTo>
                  <a:lnTo>
                    <a:pt x="1636752" y="517390"/>
                  </a:lnTo>
                  <a:lnTo>
                    <a:pt x="1664525" y="498665"/>
                  </a:lnTo>
                  <a:lnTo>
                    <a:pt x="1683250" y="470892"/>
                  </a:lnTo>
                  <a:lnTo>
                    <a:pt x="1690115" y="436879"/>
                  </a:lnTo>
                  <a:lnTo>
                    <a:pt x="1690115" y="87375"/>
                  </a:lnTo>
                  <a:lnTo>
                    <a:pt x="1683250" y="53363"/>
                  </a:lnTo>
                  <a:lnTo>
                    <a:pt x="1664525" y="25590"/>
                  </a:lnTo>
                  <a:lnTo>
                    <a:pt x="1636752" y="6865"/>
                  </a:lnTo>
                  <a:lnTo>
                    <a:pt x="160273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71944" y="4808219"/>
              <a:ext cx="1690370" cy="524510"/>
            </a:xfrm>
            <a:custGeom>
              <a:avLst/>
              <a:gdLst/>
              <a:ahLst/>
              <a:cxnLst/>
              <a:rect l="l" t="t" r="r" b="b"/>
              <a:pathLst>
                <a:path w="1690370" h="524510">
                  <a:moveTo>
                    <a:pt x="0" y="87375"/>
                  </a:moveTo>
                  <a:lnTo>
                    <a:pt x="6865" y="53363"/>
                  </a:lnTo>
                  <a:lnTo>
                    <a:pt x="25590" y="25590"/>
                  </a:lnTo>
                  <a:lnTo>
                    <a:pt x="53363" y="6865"/>
                  </a:lnTo>
                  <a:lnTo>
                    <a:pt x="87375" y="0"/>
                  </a:lnTo>
                  <a:lnTo>
                    <a:pt x="1602739" y="0"/>
                  </a:lnTo>
                  <a:lnTo>
                    <a:pt x="1636752" y="6865"/>
                  </a:lnTo>
                  <a:lnTo>
                    <a:pt x="1664525" y="25590"/>
                  </a:lnTo>
                  <a:lnTo>
                    <a:pt x="1683250" y="53363"/>
                  </a:lnTo>
                  <a:lnTo>
                    <a:pt x="1690115" y="87375"/>
                  </a:lnTo>
                  <a:lnTo>
                    <a:pt x="1690115" y="436879"/>
                  </a:lnTo>
                  <a:lnTo>
                    <a:pt x="1683250" y="470892"/>
                  </a:lnTo>
                  <a:lnTo>
                    <a:pt x="1664525" y="498665"/>
                  </a:lnTo>
                  <a:lnTo>
                    <a:pt x="1636752" y="517390"/>
                  </a:lnTo>
                  <a:lnTo>
                    <a:pt x="1602739" y="524255"/>
                  </a:lnTo>
                  <a:lnTo>
                    <a:pt x="87375" y="524255"/>
                  </a:lnTo>
                  <a:lnTo>
                    <a:pt x="53363" y="517390"/>
                  </a:lnTo>
                  <a:lnTo>
                    <a:pt x="25590" y="498665"/>
                  </a:lnTo>
                  <a:lnTo>
                    <a:pt x="6865" y="470892"/>
                  </a:lnTo>
                  <a:lnTo>
                    <a:pt x="0" y="436879"/>
                  </a:lnTo>
                  <a:lnTo>
                    <a:pt x="0" y="87375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17105" y="4942458"/>
            <a:ext cx="140081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Arial"/>
                <a:cs typeface="Arial"/>
              </a:rPr>
              <a:t>Speech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Encoder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61513" y="4803457"/>
            <a:ext cx="1699895" cy="534035"/>
            <a:chOff x="9061513" y="4803457"/>
            <a:chExt cx="1699895" cy="534035"/>
          </a:xfrm>
        </p:grpSpPr>
        <p:sp>
          <p:nvSpPr>
            <p:cNvPr id="16" name="object 16"/>
            <p:cNvSpPr/>
            <p:nvPr/>
          </p:nvSpPr>
          <p:spPr>
            <a:xfrm>
              <a:off x="9066276" y="4808220"/>
              <a:ext cx="1690370" cy="524510"/>
            </a:xfrm>
            <a:custGeom>
              <a:avLst/>
              <a:gdLst/>
              <a:ahLst/>
              <a:cxnLst/>
              <a:rect l="l" t="t" r="r" b="b"/>
              <a:pathLst>
                <a:path w="1690370" h="524510">
                  <a:moveTo>
                    <a:pt x="1602740" y="0"/>
                  </a:moveTo>
                  <a:lnTo>
                    <a:pt x="87375" y="0"/>
                  </a:lnTo>
                  <a:lnTo>
                    <a:pt x="53363" y="6865"/>
                  </a:lnTo>
                  <a:lnTo>
                    <a:pt x="25590" y="25590"/>
                  </a:lnTo>
                  <a:lnTo>
                    <a:pt x="6865" y="53363"/>
                  </a:lnTo>
                  <a:lnTo>
                    <a:pt x="0" y="87375"/>
                  </a:lnTo>
                  <a:lnTo>
                    <a:pt x="0" y="436879"/>
                  </a:lnTo>
                  <a:lnTo>
                    <a:pt x="6865" y="470892"/>
                  </a:lnTo>
                  <a:lnTo>
                    <a:pt x="25590" y="498665"/>
                  </a:lnTo>
                  <a:lnTo>
                    <a:pt x="53363" y="517390"/>
                  </a:lnTo>
                  <a:lnTo>
                    <a:pt x="87375" y="524255"/>
                  </a:lnTo>
                  <a:lnTo>
                    <a:pt x="1602740" y="524255"/>
                  </a:lnTo>
                  <a:lnTo>
                    <a:pt x="1636752" y="517390"/>
                  </a:lnTo>
                  <a:lnTo>
                    <a:pt x="1664525" y="498665"/>
                  </a:lnTo>
                  <a:lnTo>
                    <a:pt x="1683250" y="470892"/>
                  </a:lnTo>
                  <a:lnTo>
                    <a:pt x="1690116" y="436879"/>
                  </a:lnTo>
                  <a:lnTo>
                    <a:pt x="1690116" y="87375"/>
                  </a:lnTo>
                  <a:lnTo>
                    <a:pt x="1683250" y="53363"/>
                  </a:lnTo>
                  <a:lnTo>
                    <a:pt x="1664525" y="25590"/>
                  </a:lnTo>
                  <a:lnTo>
                    <a:pt x="1636752" y="6865"/>
                  </a:lnTo>
                  <a:lnTo>
                    <a:pt x="1602740" y="0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66276" y="4808220"/>
              <a:ext cx="1690370" cy="524510"/>
            </a:xfrm>
            <a:custGeom>
              <a:avLst/>
              <a:gdLst/>
              <a:ahLst/>
              <a:cxnLst/>
              <a:rect l="l" t="t" r="r" b="b"/>
              <a:pathLst>
                <a:path w="1690370" h="524510">
                  <a:moveTo>
                    <a:pt x="0" y="87375"/>
                  </a:moveTo>
                  <a:lnTo>
                    <a:pt x="6865" y="53363"/>
                  </a:lnTo>
                  <a:lnTo>
                    <a:pt x="25590" y="25590"/>
                  </a:lnTo>
                  <a:lnTo>
                    <a:pt x="53363" y="6865"/>
                  </a:lnTo>
                  <a:lnTo>
                    <a:pt x="87375" y="0"/>
                  </a:lnTo>
                  <a:lnTo>
                    <a:pt x="1602740" y="0"/>
                  </a:lnTo>
                  <a:lnTo>
                    <a:pt x="1636752" y="6865"/>
                  </a:lnTo>
                  <a:lnTo>
                    <a:pt x="1664525" y="25590"/>
                  </a:lnTo>
                  <a:lnTo>
                    <a:pt x="1683250" y="53363"/>
                  </a:lnTo>
                  <a:lnTo>
                    <a:pt x="1690116" y="87375"/>
                  </a:lnTo>
                  <a:lnTo>
                    <a:pt x="1690116" y="436879"/>
                  </a:lnTo>
                  <a:lnTo>
                    <a:pt x="1683250" y="470892"/>
                  </a:lnTo>
                  <a:lnTo>
                    <a:pt x="1664525" y="498665"/>
                  </a:lnTo>
                  <a:lnTo>
                    <a:pt x="1636752" y="517390"/>
                  </a:lnTo>
                  <a:lnTo>
                    <a:pt x="1602740" y="524255"/>
                  </a:lnTo>
                  <a:lnTo>
                    <a:pt x="87375" y="524255"/>
                  </a:lnTo>
                  <a:lnTo>
                    <a:pt x="53363" y="517390"/>
                  </a:lnTo>
                  <a:lnTo>
                    <a:pt x="25590" y="498665"/>
                  </a:lnTo>
                  <a:lnTo>
                    <a:pt x="6865" y="470892"/>
                  </a:lnTo>
                  <a:lnTo>
                    <a:pt x="0" y="436879"/>
                  </a:lnTo>
                  <a:lnTo>
                    <a:pt x="0" y="87375"/>
                  </a:lnTo>
                  <a:close/>
                </a:path>
              </a:pathLst>
            </a:custGeom>
            <a:ln w="952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21269" y="4259423"/>
            <a:ext cx="2972435" cy="81978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650" dirty="0">
                <a:latin typeface="Arial"/>
                <a:cs typeface="Arial"/>
              </a:rPr>
              <a:t>Modality</a:t>
            </a:r>
            <a:r>
              <a:rPr sz="2650" spc="-5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Encoder</a:t>
            </a:r>
            <a:endParaRPr sz="2650">
              <a:latin typeface="Arial"/>
              <a:cs typeface="Arial"/>
            </a:endParaRPr>
          </a:p>
          <a:p>
            <a:pPr marL="1622425">
              <a:lnSpc>
                <a:spcPct val="100000"/>
              </a:lnSpc>
              <a:spcBef>
                <a:spcPts val="480"/>
              </a:spcBef>
            </a:pPr>
            <a:r>
              <a:rPr sz="1450" dirty="0">
                <a:latin typeface="Arial"/>
                <a:cs typeface="Arial"/>
              </a:rPr>
              <a:t>Text</a:t>
            </a:r>
            <a:r>
              <a:rPr sz="1450" spc="1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embedding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34043" y="5054600"/>
            <a:ext cx="135763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Arial"/>
                <a:cs typeface="Arial"/>
              </a:rPr>
              <a:t>+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Text</a:t>
            </a:r>
            <a:r>
              <a:rPr sz="1450" spc="1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tokenizer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21084" y="5332476"/>
            <a:ext cx="2730500" cy="1172210"/>
            <a:chOff x="7221084" y="5332476"/>
            <a:chExt cx="2730500" cy="117221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1084" y="5760720"/>
              <a:ext cx="1600978" cy="74394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979029" y="5332475"/>
              <a:ext cx="1972310" cy="596265"/>
            </a:xfrm>
            <a:custGeom>
              <a:avLst/>
              <a:gdLst/>
              <a:ahLst/>
              <a:cxnLst/>
              <a:rect l="l" t="t" r="r" b="b"/>
              <a:pathLst>
                <a:path w="1972309" h="596264">
                  <a:moveTo>
                    <a:pt x="76200" y="75692"/>
                  </a:moveTo>
                  <a:lnTo>
                    <a:pt x="69850" y="63373"/>
                  </a:lnTo>
                  <a:lnTo>
                    <a:pt x="37211" y="0"/>
                  </a:lnTo>
                  <a:lnTo>
                    <a:pt x="0" y="76708"/>
                  </a:lnTo>
                  <a:lnTo>
                    <a:pt x="31775" y="76288"/>
                  </a:lnTo>
                  <a:lnTo>
                    <a:pt x="36055" y="427520"/>
                  </a:lnTo>
                  <a:lnTo>
                    <a:pt x="36068" y="427672"/>
                  </a:lnTo>
                  <a:lnTo>
                    <a:pt x="48768" y="427520"/>
                  </a:lnTo>
                  <a:lnTo>
                    <a:pt x="44475" y="76708"/>
                  </a:lnTo>
                  <a:lnTo>
                    <a:pt x="44475" y="76123"/>
                  </a:lnTo>
                  <a:lnTo>
                    <a:pt x="76200" y="75692"/>
                  </a:lnTo>
                  <a:close/>
                </a:path>
                <a:path w="1972309" h="596264">
                  <a:moveTo>
                    <a:pt x="1972183" y="75692"/>
                  </a:moveTo>
                  <a:lnTo>
                    <a:pt x="1965807" y="63373"/>
                  </a:lnTo>
                  <a:lnTo>
                    <a:pt x="1933067" y="0"/>
                  </a:lnTo>
                  <a:lnTo>
                    <a:pt x="1895983" y="76708"/>
                  </a:lnTo>
                  <a:lnTo>
                    <a:pt x="1927771" y="76288"/>
                  </a:lnTo>
                  <a:lnTo>
                    <a:pt x="1934705" y="595515"/>
                  </a:lnTo>
                  <a:lnTo>
                    <a:pt x="1934718" y="595680"/>
                  </a:lnTo>
                  <a:lnTo>
                    <a:pt x="1947418" y="595515"/>
                  </a:lnTo>
                  <a:lnTo>
                    <a:pt x="1940483" y="76708"/>
                  </a:lnTo>
                  <a:lnTo>
                    <a:pt x="1940471" y="76123"/>
                  </a:lnTo>
                  <a:lnTo>
                    <a:pt x="1972183" y="75692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184385" y="6033922"/>
            <a:ext cx="142684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dirty="0">
                <a:latin typeface="Arial"/>
                <a:cs typeface="Arial"/>
              </a:rPr>
              <a:t>This is</a:t>
            </a:r>
            <a:r>
              <a:rPr sz="1450" spc="2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text</a:t>
            </a:r>
            <a:r>
              <a:rPr sz="1450" spc="2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input.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39498" y="6469786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libri"/>
                <a:cs typeface="Calibri"/>
              </a:rPr>
              <a:t>51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EEB1C2CE-3D58-97CB-1098-801D50D864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832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Modeling</a:t>
            </a:r>
            <a:r>
              <a:rPr sz="4000" b="1" spc="-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sz="4000" b="1" spc="-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using</a:t>
            </a:r>
            <a:r>
              <a:rPr sz="4000" b="1" spc="-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Discrete</a:t>
            </a:r>
            <a:r>
              <a:rPr sz="4000" b="1" spc="-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Units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7367" y="1580768"/>
            <a:ext cx="9963785" cy="4194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Recently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discrete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promising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performance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benefit</a:t>
            </a:r>
            <a:endParaRPr sz="2800">
              <a:latin typeface="Calibri"/>
              <a:cs typeface="Calibri"/>
            </a:endParaRPr>
          </a:p>
          <a:p>
            <a:pPr marL="469900" marR="121920">
              <a:lnSpc>
                <a:spcPts val="1440"/>
              </a:lnSpc>
              <a:spcBef>
                <a:spcPts val="1720"/>
              </a:spcBef>
            </a:pP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Chang,</a:t>
            </a:r>
            <a:r>
              <a:rPr sz="1300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Xuankai,</a:t>
            </a:r>
            <a:r>
              <a:rPr sz="1300" spc="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et</a:t>
            </a:r>
            <a:r>
              <a:rPr sz="1300" spc="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al.</a:t>
            </a:r>
            <a:r>
              <a:rPr sz="1300" spc="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"Exploring</a:t>
            </a:r>
            <a:r>
              <a:rPr sz="1300" spc="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Speech</a:t>
            </a:r>
            <a:r>
              <a:rPr sz="1300" spc="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Recognition,</a:t>
            </a:r>
            <a:r>
              <a:rPr sz="1300" spc="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Translation,</a:t>
            </a:r>
            <a:r>
              <a:rPr sz="1300" spc="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z="1300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Understanding</a:t>
            </a:r>
            <a:r>
              <a:rPr sz="1300" spc="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with</a:t>
            </a:r>
            <a:r>
              <a:rPr sz="1300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Discrete</a:t>
            </a:r>
            <a:r>
              <a:rPr sz="1300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Speech</a:t>
            </a:r>
            <a:r>
              <a:rPr sz="1300" spc="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Units:</a:t>
            </a:r>
            <a:r>
              <a:rPr sz="1300" spc="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1300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Comparative</a:t>
            </a:r>
            <a:r>
              <a:rPr sz="1300" spc="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Study." </a:t>
            </a:r>
            <a:r>
              <a:rPr sz="1300" i="1" dirty="0">
                <a:solidFill>
                  <a:srgbClr val="212121"/>
                </a:solidFill>
                <a:latin typeface="Calibri"/>
                <a:cs typeface="Calibri"/>
              </a:rPr>
              <a:t>arXiv</a:t>
            </a:r>
            <a:r>
              <a:rPr sz="1300" i="1" spc="7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212121"/>
                </a:solidFill>
                <a:latin typeface="Calibri"/>
                <a:cs typeface="Calibri"/>
              </a:rPr>
              <a:t>preprint</a:t>
            </a:r>
            <a:r>
              <a:rPr sz="1300" i="1" spc="1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212121"/>
                </a:solidFill>
                <a:latin typeface="Calibri"/>
                <a:cs typeface="Calibri"/>
              </a:rPr>
              <a:t>arXiv:2309.15800</a:t>
            </a:r>
            <a:r>
              <a:rPr sz="1300" i="1" spc="1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libri"/>
                <a:cs typeface="Calibri"/>
              </a:rPr>
              <a:t>(2023).</a:t>
            </a:r>
            <a:endParaRPr sz="1300">
              <a:latin typeface="Calibri"/>
              <a:cs typeface="Calibri"/>
            </a:endParaRPr>
          </a:p>
          <a:p>
            <a:pPr marL="1078865" lvl="1" indent="-423545">
              <a:lnSpc>
                <a:spcPts val="2775"/>
              </a:lnSpc>
              <a:spcBef>
                <a:spcPts val="1225"/>
              </a:spcBef>
              <a:buSzPct val="58333"/>
              <a:buFont typeface="Arial"/>
              <a:buChar char="○"/>
              <a:tabLst>
                <a:tab pos="1078865" algn="l"/>
              </a:tabLst>
            </a:pPr>
            <a:r>
              <a:rPr sz="2400" spc="-10" dirty="0"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  <a:p>
            <a:pPr marL="1688464" lvl="2" indent="-423545">
              <a:lnSpc>
                <a:spcPts val="2175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dirty="0">
                <a:latin typeface="Calibri"/>
                <a:cs typeface="Calibri"/>
              </a:rPr>
              <a:t>Audio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features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(HuBERT):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1024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32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(float)</a:t>
            </a:r>
            <a:endParaRPr sz="2000">
              <a:latin typeface="Calibri"/>
              <a:cs typeface="Calibri"/>
            </a:endParaRPr>
          </a:p>
          <a:p>
            <a:pPr marL="1688464" lvl="2" indent="-423545">
              <a:lnSpc>
                <a:spcPts val="2120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dirty="0">
                <a:latin typeface="Calibri"/>
                <a:cs typeface="Calibri"/>
              </a:rPr>
              <a:t>Discrete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(1000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2000-</a:t>
            </a:r>
            <a:r>
              <a:rPr sz="2000" dirty="0">
                <a:latin typeface="Calibri"/>
                <a:cs typeface="Calibri"/>
              </a:rPr>
              <a:t>cluster):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12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bit</a:t>
            </a:r>
            <a:endParaRPr sz="2000">
              <a:latin typeface="Calibri"/>
              <a:cs typeface="Calibri"/>
            </a:endParaRPr>
          </a:p>
          <a:p>
            <a:pPr marL="1078865" lvl="1" indent="-423545">
              <a:lnSpc>
                <a:spcPts val="2615"/>
              </a:lnSpc>
              <a:buSzPct val="58333"/>
              <a:buFont typeface="Arial"/>
              <a:buChar char="○"/>
              <a:tabLst>
                <a:tab pos="1078865" algn="l"/>
              </a:tabLst>
            </a:pP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length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(&gt;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50%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reduction)</a:t>
            </a:r>
            <a:endParaRPr sz="2400">
              <a:latin typeface="Calibri"/>
              <a:cs typeface="Calibri"/>
            </a:endParaRPr>
          </a:p>
          <a:p>
            <a:pPr marL="1688464" lvl="2" indent="-423545">
              <a:lnSpc>
                <a:spcPts val="2175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spc="-10" dirty="0">
                <a:latin typeface="Calibri"/>
                <a:cs typeface="Calibri"/>
              </a:rPr>
              <a:t>De-duplication</a:t>
            </a:r>
            <a:endParaRPr sz="2000">
              <a:latin typeface="Calibri"/>
              <a:cs typeface="Calibri"/>
            </a:endParaRPr>
          </a:p>
          <a:p>
            <a:pPr marL="1688464" lvl="2" indent="-423545">
              <a:lnSpc>
                <a:spcPts val="2125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dirty="0">
                <a:latin typeface="Calibri"/>
                <a:cs typeface="Calibri"/>
              </a:rPr>
              <a:t>Subword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Modeling</a:t>
            </a:r>
            <a:endParaRPr sz="2000">
              <a:latin typeface="Calibri"/>
              <a:cs typeface="Calibri"/>
            </a:endParaRPr>
          </a:p>
          <a:p>
            <a:pPr marL="1078865" lvl="1" indent="-423545">
              <a:lnSpc>
                <a:spcPts val="2615"/>
              </a:lnSpc>
              <a:buSzPct val="58333"/>
              <a:buFont typeface="Arial"/>
              <a:buChar char="○"/>
              <a:tabLst>
                <a:tab pos="1078865" algn="l"/>
              </a:tabLst>
            </a:pP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okay</a:t>
            </a:r>
            <a:endParaRPr sz="2400">
              <a:latin typeface="Calibri"/>
              <a:cs typeface="Calibri"/>
            </a:endParaRPr>
          </a:p>
          <a:p>
            <a:pPr marL="1688464" lvl="2" indent="-423545">
              <a:lnSpc>
                <a:spcPts val="2135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dirty="0">
                <a:latin typeface="Calibri"/>
                <a:cs typeface="Calibri"/>
              </a:rPr>
              <a:t>&gt;fbank,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~&lt;SSL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feature</a:t>
            </a:r>
            <a:endParaRPr sz="2000">
              <a:latin typeface="Calibri"/>
              <a:cs typeface="Calibri"/>
            </a:endParaRPr>
          </a:p>
          <a:p>
            <a:pPr marL="1078865" lvl="1" indent="-423545">
              <a:lnSpc>
                <a:spcPts val="2615"/>
              </a:lnSpc>
              <a:buSzPct val="58333"/>
              <a:buFont typeface="Arial"/>
              <a:buChar char="○"/>
              <a:tabLst>
                <a:tab pos="10788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semantic</a:t>
            </a:r>
            <a:r>
              <a:rPr sz="2400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features</a:t>
            </a:r>
            <a:r>
              <a:rPr sz="24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24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SSL</a:t>
            </a:r>
            <a:endParaRPr sz="2400">
              <a:latin typeface="Calibri"/>
              <a:cs typeface="Calibri"/>
            </a:endParaRPr>
          </a:p>
          <a:p>
            <a:pPr marL="1688464" lvl="2" indent="-423545">
              <a:lnSpc>
                <a:spcPts val="2295"/>
              </a:lnSpc>
              <a:buSzPct val="70000"/>
              <a:buFont typeface="Arial"/>
              <a:buChar char="■"/>
              <a:tabLst>
                <a:tab pos="1688464" algn="l"/>
              </a:tabLst>
            </a:pPr>
            <a:r>
              <a:rPr sz="2000" dirty="0">
                <a:latin typeface="Calibri"/>
                <a:cs typeface="Calibri"/>
              </a:rPr>
              <a:t>ASR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SLU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39498" y="6367983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libri"/>
                <a:cs typeface="Calibri"/>
              </a:rPr>
              <a:t>52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2808" y="3581398"/>
            <a:ext cx="6048755" cy="325831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6C70C-C584-ADF8-1134-FC26385EA6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52</a:t>
            </a:fld>
            <a:endParaRPr lang="en-US" altLang="zh-C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832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Modeling</a:t>
            </a:r>
            <a:r>
              <a:rPr sz="4000" b="1" spc="-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sz="4000" b="1" spc="-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using</a:t>
            </a:r>
            <a:r>
              <a:rPr sz="4000" b="1" spc="-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Discrete</a:t>
            </a:r>
            <a:r>
              <a:rPr sz="4000" b="1" spc="-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00FF"/>
                </a:solidFill>
                <a:latin typeface="Calibri"/>
                <a:cs typeface="Calibri"/>
              </a:rPr>
              <a:t>Unit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6181" y="1956625"/>
            <a:ext cx="6240145" cy="1291590"/>
            <a:chOff x="2976181" y="1956625"/>
            <a:chExt cx="6240145" cy="1291590"/>
          </a:xfrm>
        </p:grpSpPr>
        <p:sp>
          <p:nvSpPr>
            <p:cNvPr id="5" name="object 5"/>
            <p:cNvSpPr/>
            <p:nvPr/>
          </p:nvSpPr>
          <p:spPr>
            <a:xfrm>
              <a:off x="2980944" y="1961388"/>
              <a:ext cx="6230620" cy="1282065"/>
            </a:xfrm>
            <a:custGeom>
              <a:avLst/>
              <a:gdLst/>
              <a:ahLst/>
              <a:cxnLst/>
              <a:rect l="l" t="t" r="r" b="b"/>
              <a:pathLst>
                <a:path w="6230620" h="1282064">
                  <a:moveTo>
                    <a:pt x="6016498" y="0"/>
                  </a:moveTo>
                  <a:lnTo>
                    <a:pt x="213613" y="0"/>
                  </a:lnTo>
                  <a:lnTo>
                    <a:pt x="164631" y="5641"/>
                  </a:lnTo>
                  <a:lnTo>
                    <a:pt x="119668" y="21710"/>
                  </a:lnTo>
                  <a:lnTo>
                    <a:pt x="80006" y="46926"/>
                  </a:lnTo>
                  <a:lnTo>
                    <a:pt x="46926" y="80006"/>
                  </a:lnTo>
                  <a:lnTo>
                    <a:pt x="21710" y="119668"/>
                  </a:lnTo>
                  <a:lnTo>
                    <a:pt x="5641" y="164631"/>
                  </a:lnTo>
                  <a:lnTo>
                    <a:pt x="0" y="213613"/>
                  </a:lnTo>
                  <a:lnTo>
                    <a:pt x="0" y="1068070"/>
                  </a:lnTo>
                  <a:lnTo>
                    <a:pt x="5641" y="1117052"/>
                  </a:lnTo>
                  <a:lnTo>
                    <a:pt x="21710" y="1162015"/>
                  </a:lnTo>
                  <a:lnTo>
                    <a:pt x="46926" y="1201677"/>
                  </a:lnTo>
                  <a:lnTo>
                    <a:pt x="80006" y="1234757"/>
                  </a:lnTo>
                  <a:lnTo>
                    <a:pt x="119668" y="1259973"/>
                  </a:lnTo>
                  <a:lnTo>
                    <a:pt x="164631" y="1276042"/>
                  </a:lnTo>
                  <a:lnTo>
                    <a:pt x="213613" y="1281684"/>
                  </a:lnTo>
                  <a:lnTo>
                    <a:pt x="6016498" y="1281684"/>
                  </a:lnTo>
                  <a:lnTo>
                    <a:pt x="6065480" y="1276042"/>
                  </a:lnTo>
                  <a:lnTo>
                    <a:pt x="6110443" y="1259973"/>
                  </a:lnTo>
                  <a:lnTo>
                    <a:pt x="6150105" y="1234757"/>
                  </a:lnTo>
                  <a:lnTo>
                    <a:pt x="6183185" y="1201677"/>
                  </a:lnTo>
                  <a:lnTo>
                    <a:pt x="6208401" y="1162015"/>
                  </a:lnTo>
                  <a:lnTo>
                    <a:pt x="6224470" y="1117052"/>
                  </a:lnTo>
                  <a:lnTo>
                    <a:pt x="6230111" y="1068070"/>
                  </a:lnTo>
                  <a:lnTo>
                    <a:pt x="6230111" y="213613"/>
                  </a:lnTo>
                  <a:lnTo>
                    <a:pt x="6224470" y="164631"/>
                  </a:lnTo>
                  <a:lnTo>
                    <a:pt x="6208401" y="119668"/>
                  </a:lnTo>
                  <a:lnTo>
                    <a:pt x="6183185" y="80006"/>
                  </a:lnTo>
                  <a:lnTo>
                    <a:pt x="6150105" y="46926"/>
                  </a:lnTo>
                  <a:lnTo>
                    <a:pt x="6110443" y="21710"/>
                  </a:lnTo>
                  <a:lnTo>
                    <a:pt x="6065480" y="5641"/>
                  </a:lnTo>
                  <a:lnTo>
                    <a:pt x="6016498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80944" y="1961388"/>
              <a:ext cx="6230620" cy="1282065"/>
            </a:xfrm>
            <a:custGeom>
              <a:avLst/>
              <a:gdLst/>
              <a:ahLst/>
              <a:cxnLst/>
              <a:rect l="l" t="t" r="r" b="b"/>
              <a:pathLst>
                <a:path w="6230620" h="1282064">
                  <a:moveTo>
                    <a:pt x="0" y="213613"/>
                  </a:moveTo>
                  <a:lnTo>
                    <a:pt x="5641" y="164631"/>
                  </a:lnTo>
                  <a:lnTo>
                    <a:pt x="21710" y="119668"/>
                  </a:lnTo>
                  <a:lnTo>
                    <a:pt x="46926" y="80006"/>
                  </a:lnTo>
                  <a:lnTo>
                    <a:pt x="80006" y="46926"/>
                  </a:lnTo>
                  <a:lnTo>
                    <a:pt x="119668" y="21710"/>
                  </a:lnTo>
                  <a:lnTo>
                    <a:pt x="164631" y="5641"/>
                  </a:lnTo>
                  <a:lnTo>
                    <a:pt x="213613" y="0"/>
                  </a:lnTo>
                  <a:lnTo>
                    <a:pt x="6016498" y="0"/>
                  </a:lnTo>
                  <a:lnTo>
                    <a:pt x="6065480" y="5641"/>
                  </a:lnTo>
                  <a:lnTo>
                    <a:pt x="6110443" y="21710"/>
                  </a:lnTo>
                  <a:lnTo>
                    <a:pt x="6150105" y="46926"/>
                  </a:lnTo>
                  <a:lnTo>
                    <a:pt x="6183185" y="80006"/>
                  </a:lnTo>
                  <a:lnTo>
                    <a:pt x="6208401" y="119668"/>
                  </a:lnTo>
                  <a:lnTo>
                    <a:pt x="6224470" y="164631"/>
                  </a:lnTo>
                  <a:lnTo>
                    <a:pt x="6230111" y="213613"/>
                  </a:lnTo>
                  <a:lnTo>
                    <a:pt x="6230111" y="1068070"/>
                  </a:lnTo>
                  <a:lnTo>
                    <a:pt x="6224470" y="1117052"/>
                  </a:lnTo>
                  <a:lnTo>
                    <a:pt x="6208401" y="1162015"/>
                  </a:lnTo>
                  <a:lnTo>
                    <a:pt x="6183185" y="1201677"/>
                  </a:lnTo>
                  <a:lnTo>
                    <a:pt x="6150105" y="1234757"/>
                  </a:lnTo>
                  <a:lnTo>
                    <a:pt x="6110443" y="1259973"/>
                  </a:lnTo>
                  <a:lnTo>
                    <a:pt x="6065480" y="1276042"/>
                  </a:lnTo>
                  <a:lnTo>
                    <a:pt x="6016498" y="1281684"/>
                  </a:lnTo>
                  <a:lnTo>
                    <a:pt x="213613" y="1281684"/>
                  </a:lnTo>
                  <a:lnTo>
                    <a:pt x="164631" y="1276042"/>
                  </a:lnTo>
                  <a:lnTo>
                    <a:pt x="119668" y="1259973"/>
                  </a:lnTo>
                  <a:lnTo>
                    <a:pt x="80006" y="1234757"/>
                  </a:lnTo>
                  <a:lnTo>
                    <a:pt x="46926" y="1201677"/>
                  </a:lnTo>
                  <a:lnTo>
                    <a:pt x="21710" y="1162015"/>
                  </a:lnTo>
                  <a:lnTo>
                    <a:pt x="5641" y="1117052"/>
                  </a:lnTo>
                  <a:lnTo>
                    <a:pt x="0" y="1068070"/>
                  </a:lnTo>
                  <a:lnTo>
                    <a:pt x="0" y="213613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75579" y="2377820"/>
            <a:ext cx="164020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spc="-10" dirty="0">
                <a:latin typeface="Arial"/>
                <a:cs typeface="Arial"/>
              </a:rPr>
              <a:t>SpeechLM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03201" y="3296221"/>
            <a:ext cx="586105" cy="457834"/>
            <a:chOff x="5803201" y="3296221"/>
            <a:chExt cx="586105" cy="457834"/>
          </a:xfrm>
        </p:grpSpPr>
        <p:sp>
          <p:nvSpPr>
            <p:cNvPr id="17" name="object 17"/>
            <p:cNvSpPr/>
            <p:nvPr/>
          </p:nvSpPr>
          <p:spPr>
            <a:xfrm>
              <a:off x="5807964" y="3300984"/>
              <a:ext cx="576580" cy="448309"/>
            </a:xfrm>
            <a:custGeom>
              <a:avLst/>
              <a:gdLst/>
              <a:ahLst/>
              <a:cxnLst/>
              <a:rect l="l" t="t" r="r" b="b"/>
              <a:pathLst>
                <a:path w="576579" h="448310">
                  <a:moveTo>
                    <a:pt x="288036" y="0"/>
                  </a:moveTo>
                  <a:lnTo>
                    <a:pt x="0" y="224027"/>
                  </a:lnTo>
                  <a:lnTo>
                    <a:pt x="144018" y="224027"/>
                  </a:lnTo>
                  <a:lnTo>
                    <a:pt x="144018" y="448055"/>
                  </a:lnTo>
                  <a:lnTo>
                    <a:pt x="432053" y="448055"/>
                  </a:lnTo>
                  <a:lnTo>
                    <a:pt x="432053" y="224027"/>
                  </a:lnTo>
                  <a:lnTo>
                    <a:pt x="576072" y="224027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07964" y="3300984"/>
              <a:ext cx="576580" cy="448309"/>
            </a:xfrm>
            <a:custGeom>
              <a:avLst/>
              <a:gdLst/>
              <a:ahLst/>
              <a:cxnLst/>
              <a:rect l="l" t="t" r="r" b="b"/>
              <a:pathLst>
                <a:path w="576579" h="448310">
                  <a:moveTo>
                    <a:pt x="0" y="224027"/>
                  </a:moveTo>
                  <a:lnTo>
                    <a:pt x="288036" y="0"/>
                  </a:lnTo>
                  <a:lnTo>
                    <a:pt x="576072" y="224027"/>
                  </a:lnTo>
                  <a:lnTo>
                    <a:pt x="432053" y="224027"/>
                  </a:lnTo>
                  <a:lnTo>
                    <a:pt x="432053" y="448055"/>
                  </a:lnTo>
                  <a:lnTo>
                    <a:pt x="144018" y="448055"/>
                  </a:lnTo>
                  <a:lnTo>
                    <a:pt x="144018" y="224027"/>
                  </a:lnTo>
                  <a:lnTo>
                    <a:pt x="0" y="224027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218497" y="3802189"/>
            <a:ext cx="5755005" cy="611505"/>
            <a:chOff x="3218497" y="3802189"/>
            <a:chExt cx="5755005" cy="611505"/>
          </a:xfrm>
        </p:grpSpPr>
        <p:sp>
          <p:nvSpPr>
            <p:cNvPr id="9" name="object 9"/>
            <p:cNvSpPr/>
            <p:nvPr/>
          </p:nvSpPr>
          <p:spPr>
            <a:xfrm>
              <a:off x="3223260" y="3806952"/>
              <a:ext cx="5745480" cy="601980"/>
            </a:xfrm>
            <a:custGeom>
              <a:avLst/>
              <a:gdLst/>
              <a:ahLst/>
              <a:cxnLst/>
              <a:rect l="l" t="t" r="r" b="b"/>
              <a:pathLst>
                <a:path w="5745480" h="601979">
                  <a:moveTo>
                    <a:pt x="5645149" y="0"/>
                  </a:moveTo>
                  <a:lnTo>
                    <a:pt x="100329" y="0"/>
                  </a:lnTo>
                  <a:lnTo>
                    <a:pt x="61293" y="7889"/>
                  </a:lnTo>
                  <a:lnTo>
                    <a:pt x="29400" y="29400"/>
                  </a:lnTo>
                  <a:lnTo>
                    <a:pt x="7889" y="61293"/>
                  </a:lnTo>
                  <a:lnTo>
                    <a:pt x="0" y="100330"/>
                  </a:lnTo>
                  <a:lnTo>
                    <a:pt x="0" y="501650"/>
                  </a:lnTo>
                  <a:lnTo>
                    <a:pt x="7889" y="540686"/>
                  </a:lnTo>
                  <a:lnTo>
                    <a:pt x="29400" y="572579"/>
                  </a:lnTo>
                  <a:lnTo>
                    <a:pt x="61293" y="594090"/>
                  </a:lnTo>
                  <a:lnTo>
                    <a:pt x="100329" y="601980"/>
                  </a:lnTo>
                  <a:lnTo>
                    <a:pt x="5645149" y="601980"/>
                  </a:lnTo>
                  <a:lnTo>
                    <a:pt x="5684186" y="594090"/>
                  </a:lnTo>
                  <a:lnTo>
                    <a:pt x="5716079" y="572579"/>
                  </a:lnTo>
                  <a:lnTo>
                    <a:pt x="5737590" y="540686"/>
                  </a:lnTo>
                  <a:lnTo>
                    <a:pt x="5745480" y="501650"/>
                  </a:lnTo>
                  <a:lnTo>
                    <a:pt x="5745480" y="100330"/>
                  </a:lnTo>
                  <a:lnTo>
                    <a:pt x="5737590" y="61293"/>
                  </a:lnTo>
                  <a:lnTo>
                    <a:pt x="5716079" y="29400"/>
                  </a:lnTo>
                  <a:lnTo>
                    <a:pt x="5684186" y="7889"/>
                  </a:lnTo>
                  <a:lnTo>
                    <a:pt x="5645149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3260" y="3806952"/>
              <a:ext cx="5745480" cy="601980"/>
            </a:xfrm>
            <a:custGeom>
              <a:avLst/>
              <a:gdLst/>
              <a:ahLst/>
              <a:cxnLst/>
              <a:rect l="l" t="t" r="r" b="b"/>
              <a:pathLst>
                <a:path w="5745480" h="601979">
                  <a:moveTo>
                    <a:pt x="0" y="100330"/>
                  </a:moveTo>
                  <a:lnTo>
                    <a:pt x="7889" y="61293"/>
                  </a:lnTo>
                  <a:lnTo>
                    <a:pt x="29400" y="29400"/>
                  </a:lnTo>
                  <a:lnTo>
                    <a:pt x="61293" y="7889"/>
                  </a:lnTo>
                  <a:lnTo>
                    <a:pt x="100329" y="0"/>
                  </a:lnTo>
                  <a:lnTo>
                    <a:pt x="5645149" y="0"/>
                  </a:lnTo>
                  <a:lnTo>
                    <a:pt x="5684186" y="7889"/>
                  </a:lnTo>
                  <a:lnTo>
                    <a:pt x="5716079" y="29400"/>
                  </a:lnTo>
                  <a:lnTo>
                    <a:pt x="5737590" y="61293"/>
                  </a:lnTo>
                  <a:lnTo>
                    <a:pt x="5745480" y="100330"/>
                  </a:lnTo>
                  <a:lnTo>
                    <a:pt x="5745480" y="501650"/>
                  </a:lnTo>
                  <a:lnTo>
                    <a:pt x="5737590" y="540686"/>
                  </a:lnTo>
                  <a:lnTo>
                    <a:pt x="5716079" y="572579"/>
                  </a:lnTo>
                  <a:lnTo>
                    <a:pt x="5684186" y="594090"/>
                  </a:lnTo>
                  <a:lnTo>
                    <a:pt x="5645149" y="601980"/>
                  </a:lnTo>
                  <a:lnTo>
                    <a:pt x="100329" y="601980"/>
                  </a:lnTo>
                  <a:lnTo>
                    <a:pt x="61293" y="594090"/>
                  </a:lnTo>
                  <a:lnTo>
                    <a:pt x="29400" y="572579"/>
                  </a:lnTo>
                  <a:lnTo>
                    <a:pt x="7889" y="540686"/>
                  </a:lnTo>
                  <a:lnTo>
                    <a:pt x="0" y="501650"/>
                  </a:lnTo>
                  <a:lnTo>
                    <a:pt x="0" y="100330"/>
                  </a:lnTo>
                  <a:close/>
                </a:path>
              </a:pathLst>
            </a:custGeom>
            <a:ln w="952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29988" y="3883609"/>
            <a:ext cx="2733675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dirty="0">
                <a:latin typeface="Arial"/>
                <a:cs typeface="Arial"/>
              </a:rPr>
              <a:t>Token</a:t>
            </a:r>
            <a:r>
              <a:rPr sz="2650" spc="-10" dirty="0">
                <a:latin typeface="Arial"/>
                <a:cs typeface="Arial"/>
              </a:rPr>
              <a:t> embedding</a:t>
            </a:r>
            <a:endParaRPr sz="26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968740" y="4075429"/>
            <a:ext cx="1427480" cy="76200"/>
          </a:xfrm>
          <a:custGeom>
            <a:avLst/>
            <a:gdLst/>
            <a:ahLst/>
            <a:cxnLst/>
            <a:rect l="l" t="t" r="r" b="b"/>
            <a:pathLst>
              <a:path w="1427479" h="76200">
                <a:moveTo>
                  <a:pt x="50800" y="27051"/>
                </a:moveTo>
                <a:lnTo>
                  <a:pt x="0" y="27051"/>
                </a:lnTo>
                <a:lnTo>
                  <a:pt x="0" y="39751"/>
                </a:lnTo>
                <a:lnTo>
                  <a:pt x="50800" y="39751"/>
                </a:lnTo>
                <a:lnTo>
                  <a:pt x="50800" y="27051"/>
                </a:lnTo>
                <a:close/>
              </a:path>
              <a:path w="1427479" h="76200">
                <a:moveTo>
                  <a:pt x="88900" y="27178"/>
                </a:moveTo>
                <a:lnTo>
                  <a:pt x="88900" y="39878"/>
                </a:lnTo>
                <a:lnTo>
                  <a:pt x="139700" y="40132"/>
                </a:lnTo>
                <a:lnTo>
                  <a:pt x="139700" y="27432"/>
                </a:lnTo>
                <a:lnTo>
                  <a:pt x="88900" y="27178"/>
                </a:lnTo>
                <a:close/>
              </a:path>
              <a:path w="1427479" h="76200">
                <a:moveTo>
                  <a:pt x="177800" y="27559"/>
                </a:moveTo>
                <a:lnTo>
                  <a:pt x="177800" y="40259"/>
                </a:lnTo>
                <a:lnTo>
                  <a:pt x="228600" y="40386"/>
                </a:lnTo>
                <a:lnTo>
                  <a:pt x="228600" y="27686"/>
                </a:lnTo>
                <a:lnTo>
                  <a:pt x="177800" y="27559"/>
                </a:lnTo>
                <a:close/>
              </a:path>
              <a:path w="1427479" h="76200">
                <a:moveTo>
                  <a:pt x="266700" y="27940"/>
                </a:moveTo>
                <a:lnTo>
                  <a:pt x="266700" y="40640"/>
                </a:lnTo>
                <a:lnTo>
                  <a:pt x="317500" y="40767"/>
                </a:lnTo>
                <a:lnTo>
                  <a:pt x="317500" y="28067"/>
                </a:lnTo>
                <a:lnTo>
                  <a:pt x="266700" y="27940"/>
                </a:lnTo>
                <a:close/>
              </a:path>
              <a:path w="1427479" h="76200">
                <a:moveTo>
                  <a:pt x="406400" y="28321"/>
                </a:moveTo>
                <a:lnTo>
                  <a:pt x="355600" y="28321"/>
                </a:lnTo>
                <a:lnTo>
                  <a:pt x="355600" y="41021"/>
                </a:lnTo>
                <a:lnTo>
                  <a:pt x="406400" y="41021"/>
                </a:lnTo>
                <a:lnTo>
                  <a:pt x="406400" y="28321"/>
                </a:lnTo>
                <a:close/>
              </a:path>
              <a:path w="1427479" h="76200">
                <a:moveTo>
                  <a:pt x="495300" y="28702"/>
                </a:moveTo>
                <a:lnTo>
                  <a:pt x="444500" y="28702"/>
                </a:lnTo>
                <a:lnTo>
                  <a:pt x="444500" y="41402"/>
                </a:lnTo>
                <a:lnTo>
                  <a:pt x="495300" y="41402"/>
                </a:lnTo>
                <a:lnTo>
                  <a:pt x="495300" y="28702"/>
                </a:lnTo>
                <a:close/>
              </a:path>
              <a:path w="1427479" h="76200">
                <a:moveTo>
                  <a:pt x="533400" y="28829"/>
                </a:moveTo>
                <a:lnTo>
                  <a:pt x="533400" y="41529"/>
                </a:lnTo>
                <a:lnTo>
                  <a:pt x="584200" y="41656"/>
                </a:lnTo>
                <a:lnTo>
                  <a:pt x="584200" y="28956"/>
                </a:lnTo>
                <a:lnTo>
                  <a:pt x="533400" y="28829"/>
                </a:lnTo>
                <a:close/>
              </a:path>
              <a:path w="1427479" h="76200">
                <a:moveTo>
                  <a:pt x="622300" y="29210"/>
                </a:moveTo>
                <a:lnTo>
                  <a:pt x="622300" y="41910"/>
                </a:lnTo>
                <a:lnTo>
                  <a:pt x="673100" y="42037"/>
                </a:lnTo>
                <a:lnTo>
                  <a:pt x="673100" y="29337"/>
                </a:lnTo>
                <a:lnTo>
                  <a:pt x="622300" y="29210"/>
                </a:lnTo>
                <a:close/>
              </a:path>
              <a:path w="1427479" h="76200">
                <a:moveTo>
                  <a:pt x="762000" y="29591"/>
                </a:moveTo>
                <a:lnTo>
                  <a:pt x="711200" y="29591"/>
                </a:lnTo>
                <a:lnTo>
                  <a:pt x="711200" y="42291"/>
                </a:lnTo>
                <a:lnTo>
                  <a:pt x="762000" y="42291"/>
                </a:lnTo>
                <a:lnTo>
                  <a:pt x="762000" y="29591"/>
                </a:lnTo>
                <a:close/>
              </a:path>
              <a:path w="1427479" h="76200">
                <a:moveTo>
                  <a:pt x="850900" y="29972"/>
                </a:moveTo>
                <a:lnTo>
                  <a:pt x="800100" y="29972"/>
                </a:lnTo>
                <a:lnTo>
                  <a:pt x="800100" y="42672"/>
                </a:lnTo>
                <a:lnTo>
                  <a:pt x="850900" y="42672"/>
                </a:lnTo>
                <a:lnTo>
                  <a:pt x="850900" y="29972"/>
                </a:lnTo>
                <a:close/>
              </a:path>
              <a:path w="1427479" h="76200">
                <a:moveTo>
                  <a:pt x="939800" y="30226"/>
                </a:moveTo>
                <a:lnTo>
                  <a:pt x="889000" y="30226"/>
                </a:lnTo>
                <a:lnTo>
                  <a:pt x="889000" y="42926"/>
                </a:lnTo>
                <a:lnTo>
                  <a:pt x="939800" y="42926"/>
                </a:lnTo>
                <a:lnTo>
                  <a:pt x="939800" y="30226"/>
                </a:lnTo>
                <a:close/>
              </a:path>
              <a:path w="1427479" h="76200">
                <a:moveTo>
                  <a:pt x="1028700" y="30607"/>
                </a:moveTo>
                <a:lnTo>
                  <a:pt x="977900" y="30607"/>
                </a:lnTo>
                <a:lnTo>
                  <a:pt x="977900" y="43307"/>
                </a:lnTo>
                <a:lnTo>
                  <a:pt x="1028700" y="43307"/>
                </a:lnTo>
                <a:lnTo>
                  <a:pt x="1028700" y="30607"/>
                </a:lnTo>
                <a:close/>
              </a:path>
              <a:path w="1427479" h="76200">
                <a:moveTo>
                  <a:pt x="1066800" y="30734"/>
                </a:moveTo>
                <a:lnTo>
                  <a:pt x="1066800" y="43434"/>
                </a:lnTo>
                <a:lnTo>
                  <a:pt x="1117600" y="43561"/>
                </a:lnTo>
                <a:lnTo>
                  <a:pt x="1117600" y="30861"/>
                </a:lnTo>
                <a:lnTo>
                  <a:pt x="1066800" y="30734"/>
                </a:lnTo>
                <a:close/>
              </a:path>
              <a:path w="1427479" h="76200">
                <a:moveTo>
                  <a:pt x="1155700" y="31115"/>
                </a:moveTo>
                <a:lnTo>
                  <a:pt x="1155700" y="43815"/>
                </a:lnTo>
                <a:lnTo>
                  <a:pt x="1206500" y="43942"/>
                </a:lnTo>
                <a:lnTo>
                  <a:pt x="1206500" y="31242"/>
                </a:lnTo>
                <a:lnTo>
                  <a:pt x="1155700" y="31115"/>
                </a:lnTo>
                <a:close/>
              </a:path>
              <a:path w="1427479" h="76200">
                <a:moveTo>
                  <a:pt x="1244600" y="31369"/>
                </a:moveTo>
                <a:lnTo>
                  <a:pt x="1244600" y="44069"/>
                </a:lnTo>
                <a:lnTo>
                  <a:pt x="1295400" y="44323"/>
                </a:lnTo>
                <a:lnTo>
                  <a:pt x="1295400" y="31623"/>
                </a:lnTo>
                <a:lnTo>
                  <a:pt x="1244600" y="31369"/>
                </a:lnTo>
                <a:close/>
              </a:path>
              <a:path w="1427479" h="76200">
                <a:moveTo>
                  <a:pt x="1350899" y="0"/>
                </a:moveTo>
                <a:lnTo>
                  <a:pt x="1350793" y="31750"/>
                </a:lnTo>
                <a:lnTo>
                  <a:pt x="1350771" y="38354"/>
                </a:lnTo>
                <a:lnTo>
                  <a:pt x="1350644" y="76200"/>
                </a:lnTo>
                <a:lnTo>
                  <a:pt x="1414677" y="44450"/>
                </a:lnTo>
                <a:lnTo>
                  <a:pt x="1363471" y="44450"/>
                </a:lnTo>
                <a:lnTo>
                  <a:pt x="1363471" y="31750"/>
                </a:lnTo>
                <a:lnTo>
                  <a:pt x="1413873" y="31750"/>
                </a:lnTo>
                <a:lnTo>
                  <a:pt x="1350899" y="0"/>
                </a:lnTo>
                <a:close/>
              </a:path>
              <a:path w="1427479" h="76200">
                <a:moveTo>
                  <a:pt x="1350793" y="31750"/>
                </a:moveTo>
                <a:lnTo>
                  <a:pt x="1333500" y="31750"/>
                </a:lnTo>
                <a:lnTo>
                  <a:pt x="1333500" y="44450"/>
                </a:lnTo>
                <a:lnTo>
                  <a:pt x="1350750" y="44450"/>
                </a:lnTo>
                <a:lnTo>
                  <a:pt x="1350793" y="31750"/>
                </a:lnTo>
                <a:close/>
              </a:path>
              <a:path w="1427479" h="76200">
                <a:moveTo>
                  <a:pt x="1413873" y="31750"/>
                </a:moveTo>
                <a:lnTo>
                  <a:pt x="1363471" y="31750"/>
                </a:lnTo>
                <a:lnTo>
                  <a:pt x="1363471" y="44450"/>
                </a:lnTo>
                <a:lnTo>
                  <a:pt x="1414677" y="44450"/>
                </a:lnTo>
                <a:lnTo>
                  <a:pt x="1426971" y="38354"/>
                </a:lnTo>
                <a:lnTo>
                  <a:pt x="1413873" y="3175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3189541" y="4609909"/>
            <a:ext cx="663575" cy="290195"/>
            <a:chOff x="3189541" y="4609909"/>
            <a:chExt cx="663575" cy="290195"/>
          </a:xfrm>
        </p:grpSpPr>
        <p:sp>
          <p:nvSpPr>
            <p:cNvPr id="28" name="object 28"/>
            <p:cNvSpPr/>
            <p:nvPr/>
          </p:nvSpPr>
          <p:spPr>
            <a:xfrm>
              <a:off x="3194304" y="4614671"/>
              <a:ext cx="654050" cy="280670"/>
            </a:xfrm>
            <a:custGeom>
              <a:avLst/>
              <a:gdLst/>
              <a:ahLst/>
              <a:cxnLst/>
              <a:rect l="l" t="t" r="r" b="b"/>
              <a:pathLst>
                <a:path w="654050" h="280670">
                  <a:moveTo>
                    <a:pt x="607059" y="0"/>
                  </a:moveTo>
                  <a:lnTo>
                    <a:pt x="46735" y="0"/>
                  </a:lnTo>
                  <a:lnTo>
                    <a:pt x="28557" y="3677"/>
                  </a:lnTo>
                  <a:lnTo>
                    <a:pt x="13700" y="13700"/>
                  </a:lnTo>
                  <a:lnTo>
                    <a:pt x="3677" y="28557"/>
                  </a:lnTo>
                  <a:lnTo>
                    <a:pt x="0" y="46735"/>
                  </a:lnTo>
                  <a:lnTo>
                    <a:pt x="0" y="233679"/>
                  </a:lnTo>
                  <a:lnTo>
                    <a:pt x="3677" y="251858"/>
                  </a:lnTo>
                  <a:lnTo>
                    <a:pt x="13700" y="266715"/>
                  </a:lnTo>
                  <a:lnTo>
                    <a:pt x="28557" y="276738"/>
                  </a:lnTo>
                  <a:lnTo>
                    <a:pt x="46735" y="280415"/>
                  </a:lnTo>
                  <a:lnTo>
                    <a:pt x="607059" y="280415"/>
                  </a:lnTo>
                  <a:lnTo>
                    <a:pt x="625238" y="276738"/>
                  </a:lnTo>
                  <a:lnTo>
                    <a:pt x="640095" y="266715"/>
                  </a:lnTo>
                  <a:lnTo>
                    <a:pt x="650118" y="251858"/>
                  </a:lnTo>
                  <a:lnTo>
                    <a:pt x="653795" y="233679"/>
                  </a:lnTo>
                  <a:lnTo>
                    <a:pt x="653795" y="46735"/>
                  </a:lnTo>
                  <a:lnTo>
                    <a:pt x="650118" y="28557"/>
                  </a:lnTo>
                  <a:lnTo>
                    <a:pt x="640095" y="13700"/>
                  </a:lnTo>
                  <a:lnTo>
                    <a:pt x="625238" y="3677"/>
                  </a:lnTo>
                  <a:lnTo>
                    <a:pt x="607059" y="0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94304" y="4614671"/>
              <a:ext cx="654050" cy="280670"/>
            </a:xfrm>
            <a:custGeom>
              <a:avLst/>
              <a:gdLst/>
              <a:ahLst/>
              <a:cxnLst/>
              <a:rect l="l" t="t" r="r" b="b"/>
              <a:pathLst>
                <a:path w="654050" h="280670">
                  <a:moveTo>
                    <a:pt x="0" y="46735"/>
                  </a:moveTo>
                  <a:lnTo>
                    <a:pt x="3677" y="28557"/>
                  </a:lnTo>
                  <a:lnTo>
                    <a:pt x="13700" y="13700"/>
                  </a:lnTo>
                  <a:lnTo>
                    <a:pt x="28557" y="3677"/>
                  </a:lnTo>
                  <a:lnTo>
                    <a:pt x="46735" y="0"/>
                  </a:lnTo>
                  <a:lnTo>
                    <a:pt x="607059" y="0"/>
                  </a:lnTo>
                  <a:lnTo>
                    <a:pt x="625238" y="3677"/>
                  </a:lnTo>
                  <a:lnTo>
                    <a:pt x="640095" y="13700"/>
                  </a:lnTo>
                  <a:lnTo>
                    <a:pt x="650118" y="28557"/>
                  </a:lnTo>
                  <a:lnTo>
                    <a:pt x="653795" y="46735"/>
                  </a:lnTo>
                  <a:lnTo>
                    <a:pt x="653795" y="233679"/>
                  </a:lnTo>
                  <a:lnTo>
                    <a:pt x="650118" y="251858"/>
                  </a:lnTo>
                  <a:lnTo>
                    <a:pt x="640095" y="266715"/>
                  </a:lnTo>
                  <a:lnTo>
                    <a:pt x="625238" y="276738"/>
                  </a:lnTo>
                  <a:lnTo>
                    <a:pt x="607059" y="280415"/>
                  </a:lnTo>
                  <a:lnTo>
                    <a:pt x="46735" y="280415"/>
                  </a:lnTo>
                  <a:lnTo>
                    <a:pt x="28557" y="276738"/>
                  </a:lnTo>
                  <a:lnTo>
                    <a:pt x="13700" y="266715"/>
                  </a:lnTo>
                  <a:lnTo>
                    <a:pt x="3677" y="251858"/>
                  </a:lnTo>
                  <a:lnTo>
                    <a:pt x="0" y="233679"/>
                  </a:lnTo>
                  <a:lnTo>
                    <a:pt x="0" y="46735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374263" y="4604461"/>
            <a:ext cx="29400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-25" dirty="0">
                <a:latin typeface="Arial"/>
                <a:cs typeface="Arial"/>
              </a:rPr>
              <a:t>A1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43921" y="4616005"/>
            <a:ext cx="663575" cy="290195"/>
            <a:chOff x="3943921" y="4616005"/>
            <a:chExt cx="663575" cy="290195"/>
          </a:xfrm>
        </p:grpSpPr>
        <p:sp>
          <p:nvSpPr>
            <p:cNvPr id="32" name="object 32"/>
            <p:cNvSpPr/>
            <p:nvPr/>
          </p:nvSpPr>
          <p:spPr>
            <a:xfrm>
              <a:off x="3948684" y="4620767"/>
              <a:ext cx="654050" cy="280670"/>
            </a:xfrm>
            <a:custGeom>
              <a:avLst/>
              <a:gdLst/>
              <a:ahLst/>
              <a:cxnLst/>
              <a:rect l="l" t="t" r="r" b="b"/>
              <a:pathLst>
                <a:path w="654050" h="280670">
                  <a:moveTo>
                    <a:pt x="607060" y="0"/>
                  </a:moveTo>
                  <a:lnTo>
                    <a:pt x="46736" y="0"/>
                  </a:lnTo>
                  <a:lnTo>
                    <a:pt x="28557" y="3677"/>
                  </a:lnTo>
                  <a:lnTo>
                    <a:pt x="13700" y="13700"/>
                  </a:lnTo>
                  <a:lnTo>
                    <a:pt x="3677" y="28557"/>
                  </a:lnTo>
                  <a:lnTo>
                    <a:pt x="0" y="46735"/>
                  </a:lnTo>
                  <a:lnTo>
                    <a:pt x="0" y="233679"/>
                  </a:lnTo>
                  <a:lnTo>
                    <a:pt x="3677" y="251858"/>
                  </a:lnTo>
                  <a:lnTo>
                    <a:pt x="13700" y="266715"/>
                  </a:lnTo>
                  <a:lnTo>
                    <a:pt x="28557" y="276738"/>
                  </a:lnTo>
                  <a:lnTo>
                    <a:pt x="46736" y="280415"/>
                  </a:lnTo>
                  <a:lnTo>
                    <a:pt x="607060" y="280415"/>
                  </a:lnTo>
                  <a:lnTo>
                    <a:pt x="625238" y="276738"/>
                  </a:lnTo>
                  <a:lnTo>
                    <a:pt x="640095" y="266715"/>
                  </a:lnTo>
                  <a:lnTo>
                    <a:pt x="650118" y="251858"/>
                  </a:lnTo>
                  <a:lnTo>
                    <a:pt x="653795" y="233679"/>
                  </a:lnTo>
                  <a:lnTo>
                    <a:pt x="653795" y="46735"/>
                  </a:lnTo>
                  <a:lnTo>
                    <a:pt x="650118" y="28557"/>
                  </a:lnTo>
                  <a:lnTo>
                    <a:pt x="640095" y="13700"/>
                  </a:lnTo>
                  <a:lnTo>
                    <a:pt x="625238" y="3677"/>
                  </a:lnTo>
                  <a:lnTo>
                    <a:pt x="607060" y="0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48684" y="4620767"/>
              <a:ext cx="654050" cy="280670"/>
            </a:xfrm>
            <a:custGeom>
              <a:avLst/>
              <a:gdLst/>
              <a:ahLst/>
              <a:cxnLst/>
              <a:rect l="l" t="t" r="r" b="b"/>
              <a:pathLst>
                <a:path w="654050" h="280670">
                  <a:moveTo>
                    <a:pt x="0" y="46735"/>
                  </a:moveTo>
                  <a:lnTo>
                    <a:pt x="3677" y="28557"/>
                  </a:lnTo>
                  <a:lnTo>
                    <a:pt x="13700" y="13700"/>
                  </a:lnTo>
                  <a:lnTo>
                    <a:pt x="28557" y="3677"/>
                  </a:lnTo>
                  <a:lnTo>
                    <a:pt x="46736" y="0"/>
                  </a:lnTo>
                  <a:lnTo>
                    <a:pt x="607060" y="0"/>
                  </a:lnTo>
                  <a:lnTo>
                    <a:pt x="625238" y="3677"/>
                  </a:lnTo>
                  <a:lnTo>
                    <a:pt x="640095" y="13700"/>
                  </a:lnTo>
                  <a:lnTo>
                    <a:pt x="650118" y="28557"/>
                  </a:lnTo>
                  <a:lnTo>
                    <a:pt x="653795" y="46735"/>
                  </a:lnTo>
                  <a:lnTo>
                    <a:pt x="653795" y="233679"/>
                  </a:lnTo>
                  <a:lnTo>
                    <a:pt x="650118" y="251858"/>
                  </a:lnTo>
                  <a:lnTo>
                    <a:pt x="640095" y="266715"/>
                  </a:lnTo>
                  <a:lnTo>
                    <a:pt x="625238" y="276738"/>
                  </a:lnTo>
                  <a:lnTo>
                    <a:pt x="607060" y="280415"/>
                  </a:lnTo>
                  <a:lnTo>
                    <a:pt x="46736" y="280415"/>
                  </a:lnTo>
                  <a:lnTo>
                    <a:pt x="28557" y="276738"/>
                  </a:lnTo>
                  <a:lnTo>
                    <a:pt x="13700" y="266715"/>
                  </a:lnTo>
                  <a:lnTo>
                    <a:pt x="3677" y="251858"/>
                  </a:lnTo>
                  <a:lnTo>
                    <a:pt x="0" y="233679"/>
                  </a:lnTo>
                  <a:lnTo>
                    <a:pt x="0" y="46735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201221" y="4614481"/>
            <a:ext cx="663575" cy="290195"/>
            <a:chOff x="5201221" y="4614481"/>
            <a:chExt cx="663575" cy="290195"/>
          </a:xfrm>
        </p:grpSpPr>
        <p:sp>
          <p:nvSpPr>
            <p:cNvPr id="35" name="object 35"/>
            <p:cNvSpPr/>
            <p:nvPr/>
          </p:nvSpPr>
          <p:spPr>
            <a:xfrm>
              <a:off x="5205984" y="4619244"/>
              <a:ext cx="654050" cy="280670"/>
            </a:xfrm>
            <a:custGeom>
              <a:avLst/>
              <a:gdLst/>
              <a:ahLst/>
              <a:cxnLst/>
              <a:rect l="l" t="t" r="r" b="b"/>
              <a:pathLst>
                <a:path w="654050" h="280670">
                  <a:moveTo>
                    <a:pt x="607060" y="0"/>
                  </a:moveTo>
                  <a:lnTo>
                    <a:pt x="46736" y="0"/>
                  </a:lnTo>
                  <a:lnTo>
                    <a:pt x="28557" y="3677"/>
                  </a:lnTo>
                  <a:lnTo>
                    <a:pt x="13700" y="13700"/>
                  </a:lnTo>
                  <a:lnTo>
                    <a:pt x="3677" y="28557"/>
                  </a:lnTo>
                  <a:lnTo>
                    <a:pt x="0" y="46735"/>
                  </a:lnTo>
                  <a:lnTo>
                    <a:pt x="0" y="233679"/>
                  </a:lnTo>
                  <a:lnTo>
                    <a:pt x="3677" y="251858"/>
                  </a:lnTo>
                  <a:lnTo>
                    <a:pt x="13700" y="266715"/>
                  </a:lnTo>
                  <a:lnTo>
                    <a:pt x="28557" y="276738"/>
                  </a:lnTo>
                  <a:lnTo>
                    <a:pt x="46736" y="280415"/>
                  </a:lnTo>
                  <a:lnTo>
                    <a:pt x="607060" y="280415"/>
                  </a:lnTo>
                  <a:lnTo>
                    <a:pt x="625238" y="276738"/>
                  </a:lnTo>
                  <a:lnTo>
                    <a:pt x="640095" y="266715"/>
                  </a:lnTo>
                  <a:lnTo>
                    <a:pt x="650118" y="251858"/>
                  </a:lnTo>
                  <a:lnTo>
                    <a:pt x="653795" y="233679"/>
                  </a:lnTo>
                  <a:lnTo>
                    <a:pt x="653795" y="46735"/>
                  </a:lnTo>
                  <a:lnTo>
                    <a:pt x="650118" y="28557"/>
                  </a:lnTo>
                  <a:lnTo>
                    <a:pt x="640095" y="13700"/>
                  </a:lnTo>
                  <a:lnTo>
                    <a:pt x="625238" y="3677"/>
                  </a:lnTo>
                  <a:lnTo>
                    <a:pt x="607060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05984" y="4619244"/>
              <a:ext cx="654050" cy="280670"/>
            </a:xfrm>
            <a:custGeom>
              <a:avLst/>
              <a:gdLst/>
              <a:ahLst/>
              <a:cxnLst/>
              <a:rect l="l" t="t" r="r" b="b"/>
              <a:pathLst>
                <a:path w="654050" h="280670">
                  <a:moveTo>
                    <a:pt x="0" y="46735"/>
                  </a:moveTo>
                  <a:lnTo>
                    <a:pt x="3677" y="28557"/>
                  </a:lnTo>
                  <a:lnTo>
                    <a:pt x="13700" y="13700"/>
                  </a:lnTo>
                  <a:lnTo>
                    <a:pt x="28557" y="3677"/>
                  </a:lnTo>
                  <a:lnTo>
                    <a:pt x="46736" y="0"/>
                  </a:lnTo>
                  <a:lnTo>
                    <a:pt x="607060" y="0"/>
                  </a:lnTo>
                  <a:lnTo>
                    <a:pt x="625238" y="3677"/>
                  </a:lnTo>
                  <a:lnTo>
                    <a:pt x="640095" y="13700"/>
                  </a:lnTo>
                  <a:lnTo>
                    <a:pt x="650118" y="28557"/>
                  </a:lnTo>
                  <a:lnTo>
                    <a:pt x="653795" y="46735"/>
                  </a:lnTo>
                  <a:lnTo>
                    <a:pt x="653795" y="233679"/>
                  </a:lnTo>
                  <a:lnTo>
                    <a:pt x="650118" y="251858"/>
                  </a:lnTo>
                  <a:lnTo>
                    <a:pt x="640095" y="266715"/>
                  </a:lnTo>
                  <a:lnTo>
                    <a:pt x="625238" y="276738"/>
                  </a:lnTo>
                  <a:lnTo>
                    <a:pt x="607060" y="280415"/>
                  </a:lnTo>
                  <a:lnTo>
                    <a:pt x="46736" y="280415"/>
                  </a:lnTo>
                  <a:lnTo>
                    <a:pt x="28557" y="276738"/>
                  </a:lnTo>
                  <a:lnTo>
                    <a:pt x="13700" y="266715"/>
                  </a:lnTo>
                  <a:lnTo>
                    <a:pt x="3677" y="251858"/>
                  </a:lnTo>
                  <a:lnTo>
                    <a:pt x="0" y="233679"/>
                  </a:lnTo>
                  <a:lnTo>
                    <a:pt x="0" y="46735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955601" y="4620577"/>
            <a:ext cx="663575" cy="290195"/>
            <a:chOff x="5955601" y="4620577"/>
            <a:chExt cx="663575" cy="290195"/>
          </a:xfrm>
        </p:grpSpPr>
        <p:sp>
          <p:nvSpPr>
            <p:cNvPr id="38" name="object 38"/>
            <p:cNvSpPr/>
            <p:nvPr/>
          </p:nvSpPr>
          <p:spPr>
            <a:xfrm>
              <a:off x="5960364" y="4625340"/>
              <a:ext cx="654050" cy="280670"/>
            </a:xfrm>
            <a:custGeom>
              <a:avLst/>
              <a:gdLst/>
              <a:ahLst/>
              <a:cxnLst/>
              <a:rect l="l" t="t" r="r" b="b"/>
              <a:pathLst>
                <a:path w="654050" h="280670">
                  <a:moveTo>
                    <a:pt x="607060" y="0"/>
                  </a:moveTo>
                  <a:lnTo>
                    <a:pt x="46736" y="0"/>
                  </a:lnTo>
                  <a:lnTo>
                    <a:pt x="28557" y="3677"/>
                  </a:lnTo>
                  <a:lnTo>
                    <a:pt x="13700" y="13700"/>
                  </a:lnTo>
                  <a:lnTo>
                    <a:pt x="3677" y="28557"/>
                  </a:lnTo>
                  <a:lnTo>
                    <a:pt x="0" y="46736"/>
                  </a:lnTo>
                  <a:lnTo>
                    <a:pt x="0" y="233680"/>
                  </a:lnTo>
                  <a:lnTo>
                    <a:pt x="3677" y="251858"/>
                  </a:lnTo>
                  <a:lnTo>
                    <a:pt x="13700" y="266715"/>
                  </a:lnTo>
                  <a:lnTo>
                    <a:pt x="28557" y="276738"/>
                  </a:lnTo>
                  <a:lnTo>
                    <a:pt x="46736" y="280416"/>
                  </a:lnTo>
                  <a:lnTo>
                    <a:pt x="607060" y="280416"/>
                  </a:lnTo>
                  <a:lnTo>
                    <a:pt x="625238" y="276738"/>
                  </a:lnTo>
                  <a:lnTo>
                    <a:pt x="640095" y="266715"/>
                  </a:lnTo>
                  <a:lnTo>
                    <a:pt x="650118" y="251858"/>
                  </a:lnTo>
                  <a:lnTo>
                    <a:pt x="653795" y="233680"/>
                  </a:lnTo>
                  <a:lnTo>
                    <a:pt x="653795" y="46736"/>
                  </a:lnTo>
                  <a:lnTo>
                    <a:pt x="650118" y="28557"/>
                  </a:lnTo>
                  <a:lnTo>
                    <a:pt x="640095" y="13700"/>
                  </a:lnTo>
                  <a:lnTo>
                    <a:pt x="625238" y="3677"/>
                  </a:lnTo>
                  <a:lnTo>
                    <a:pt x="607060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60364" y="4625340"/>
              <a:ext cx="654050" cy="280670"/>
            </a:xfrm>
            <a:custGeom>
              <a:avLst/>
              <a:gdLst/>
              <a:ahLst/>
              <a:cxnLst/>
              <a:rect l="l" t="t" r="r" b="b"/>
              <a:pathLst>
                <a:path w="654050" h="280670">
                  <a:moveTo>
                    <a:pt x="0" y="46736"/>
                  </a:moveTo>
                  <a:lnTo>
                    <a:pt x="3677" y="28557"/>
                  </a:lnTo>
                  <a:lnTo>
                    <a:pt x="13700" y="13700"/>
                  </a:lnTo>
                  <a:lnTo>
                    <a:pt x="28557" y="3677"/>
                  </a:lnTo>
                  <a:lnTo>
                    <a:pt x="46736" y="0"/>
                  </a:lnTo>
                  <a:lnTo>
                    <a:pt x="607060" y="0"/>
                  </a:lnTo>
                  <a:lnTo>
                    <a:pt x="625238" y="3677"/>
                  </a:lnTo>
                  <a:lnTo>
                    <a:pt x="640095" y="13700"/>
                  </a:lnTo>
                  <a:lnTo>
                    <a:pt x="650118" y="28557"/>
                  </a:lnTo>
                  <a:lnTo>
                    <a:pt x="653795" y="46736"/>
                  </a:lnTo>
                  <a:lnTo>
                    <a:pt x="653795" y="233680"/>
                  </a:lnTo>
                  <a:lnTo>
                    <a:pt x="650118" y="251858"/>
                  </a:lnTo>
                  <a:lnTo>
                    <a:pt x="640095" y="266715"/>
                  </a:lnTo>
                  <a:lnTo>
                    <a:pt x="625238" y="276738"/>
                  </a:lnTo>
                  <a:lnTo>
                    <a:pt x="607060" y="280416"/>
                  </a:lnTo>
                  <a:lnTo>
                    <a:pt x="46736" y="280416"/>
                  </a:lnTo>
                  <a:lnTo>
                    <a:pt x="28557" y="276738"/>
                  </a:lnTo>
                  <a:lnTo>
                    <a:pt x="13700" y="266715"/>
                  </a:lnTo>
                  <a:lnTo>
                    <a:pt x="3677" y="251858"/>
                  </a:lnTo>
                  <a:lnTo>
                    <a:pt x="0" y="233680"/>
                  </a:lnTo>
                  <a:lnTo>
                    <a:pt x="0" y="46736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305365" y="5108257"/>
            <a:ext cx="1699895" cy="534035"/>
            <a:chOff x="3305365" y="5108257"/>
            <a:chExt cx="1699895" cy="534035"/>
          </a:xfrm>
        </p:grpSpPr>
        <p:sp>
          <p:nvSpPr>
            <p:cNvPr id="13" name="object 13"/>
            <p:cNvSpPr/>
            <p:nvPr/>
          </p:nvSpPr>
          <p:spPr>
            <a:xfrm>
              <a:off x="3310128" y="5113020"/>
              <a:ext cx="1690370" cy="524510"/>
            </a:xfrm>
            <a:custGeom>
              <a:avLst/>
              <a:gdLst/>
              <a:ahLst/>
              <a:cxnLst/>
              <a:rect l="l" t="t" r="r" b="b"/>
              <a:pathLst>
                <a:path w="1690370" h="524510">
                  <a:moveTo>
                    <a:pt x="1602739" y="0"/>
                  </a:moveTo>
                  <a:lnTo>
                    <a:pt x="87375" y="0"/>
                  </a:lnTo>
                  <a:lnTo>
                    <a:pt x="53363" y="6865"/>
                  </a:lnTo>
                  <a:lnTo>
                    <a:pt x="25590" y="25590"/>
                  </a:lnTo>
                  <a:lnTo>
                    <a:pt x="6865" y="53363"/>
                  </a:lnTo>
                  <a:lnTo>
                    <a:pt x="0" y="87375"/>
                  </a:lnTo>
                  <a:lnTo>
                    <a:pt x="0" y="436879"/>
                  </a:lnTo>
                  <a:lnTo>
                    <a:pt x="6865" y="470892"/>
                  </a:lnTo>
                  <a:lnTo>
                    <a:pt x="25590" y="498665"/>
                  </a:lnTo>
                  <a:lnTo>
                    <a:pt x="53363" y="517390"/>
                  </a:lnTo>
                  <a:lnTo>
                    <a:pt x="87375" y="524255"/>
                  </a:lnTo>
                  <a:lnTo>
                    <a:pt x="1602739" y="524255"/>
                  </a:lnTo>
                  <a:lnTo>
                    <a:pt x="1636752" y="517390"/>
                  </a:lnTo>
                  <a:lnTo>
                    <a:pt x="1664525" y="498665"/>
                  </a:lnTo>
                  <a:lnTo>
                    <a:pt x="1683250" y="470892"/>
                  </a:lnTo>
                  <a:lnTo>
                    <a:pt x="1690116" y="436879"/>
                  </a:lnTo>
                  <a:lnTo>
                    <a:pt x="1690116" y="87375"/>
                  </a:lnTo>
                  <a:lnTo>
                    <a:pt x="1683250" y="53363"/>
                  </a:lnTo>
                  <a:lnTo>
                    <a:pt x="1664525" y="25590"/>
                  </a:lnTo>
                  <a:lnTo>
                    <a:pt x="1636752" y="6865"/>
                  </a:lnTo>
                  <a:lnTo>
                    <a:pt x="160273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10128" y="5113020"/>
              <a:ext cx="1690370" cy="524510"/>
            </a:xfrm>
            <a:custGeom>
              <a:avLst/>
              <a:gdLst/>
              <a:ahLst/>
              <a:cxnLst/>
              <a:rect l="l" t="t" r="r" b="b"/>
              <a:pathLst>
                <a:path w="1690370" h="524510">
                  <a:moveTo>
                    <a:pt x="0" y="87375"/>
                  </a:moveTo>
                  <a:lnTo>
                    <a:pt x="6865" y="53363"/>
                  </a:lnTo>
                  <a:lnTo>
                    <a:pt x="25590" y="25590"/>
                  </a:lnTo>
                  <a:lnTo>
                    <a:pt x="53363" y="6865"/>
                  </a:lnTo>
                  <a:lnTo>
                    <a:pt x="87375" y="0"/>
                  </a:lnTo>
                  <a:lnTo>
                    <a:pt x="1602739" y="0"/>
                  </a:lnTo>
                  <a:lnTo>
                    <a:pt x="1636752" y="6865"/>
                  </a:lnTo>
                  <a:lnTo>
                    <a:pt x="1664525" y="25590"/>
                  </a:lnTo>
                  <a:lnTo>
                    <a:pt x="1683250" y="53363"/>
                  </a:lnTo>
                  <a:lnTo>
                    <a:pt x="1690116" y="87375"/>
                  </a:lnTo>
                  <a:lnTo>
                    <a:pt x="1690116" y="436879"/>
                  </a:lnTo>
                  <a:lnTo>
                    <a:pt x="1683250" y="470892"/>
                  </a:lnTo>
                  <a:lnTo>
                    <a:pt x="1664525" y="498665"/>
                  </a:lnTo>
                  <a:lnTo>
                    <a:pt x="1636752" y="517390"/>
                  </a:lnTo>
                  <a:lnTo>
                    <a:pt x="1602739" y="524255"/>
                  </a:lnTo>
                  <a:lnTo>
                    <a:pt x="87375" y="524255"/>
                  </a:lnTo>
                  <a:lnTo>
                    <a:pt x="53363" y="517390"/>
                  </a:lnTo>
                  <a:lnTo>
                    <a:pt x="25590" y="498665"/>
                  </a:lnTo>
                  <a:lnTo>
                    <a:pt x="6865" y="470892"/>
                  </a:lnTo>
                  <a:lnTo>
                    <a:pt x="0" y="436879"/>
                  </a:lnTo>
                  <a:lnTo>
                    <a:pt x="0" y="87375"/>
                  </a:lnTo>
                  <a:close/>
                </a:path>
              </a:pathLst>
            </a:custGeom>
            <a:ln w="9524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39388" y="5135371"/>
            <a:ext cx="831850" cy="473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8265">
              <a:lnSpc>
                <a:spcPct val="101400"/>
              </a:lnSpc>
              <a:spcBef>
                <a:spcPts val="90"/>
              </a:spcBef>
            </a:pPr>
            <a:r>
              <a:rPr sz="1450" spc="-10" dirty="0">
                <a:latin typeface="Arial"/>
                <a:cs typeface="Arial"/>
              </a:rPr>
              <a:t>Speech Quantizer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201221" y="5108257"/>
            <a:ext cx="1699895" cy="923925"/>
            <a:chOff x="5201221" y="5108257"/>
            <a:chExt cx="1699895" cy="923925"/>
          </a:xfrm>
        </p:grpSpPr>
        <p:sp>
          <p:nvSpPr>
            <p:cNvPr id="23" name="object 23"/>
            <p:cNvSpPr/>
            <p:nvPr/>
          </p:nvSpPr>
          <p:spPr>
            <a:xfrm>
              <a:off x="5205984" y="5113020"/>
              <a:ext cx="1690370" cy="524510"/>
            </a:xfrm>
            <a:custGeom>
              <a:avLst/>
              <a:gdLst/>
              <a:ahLst/>
              <a:cxnLst/>
              <a:rect l="l" t="t" r="r" b="b"/>
              <a:pathLst>
                <a:path w="1690370" h="524510">
                  <a:moveTo>
                    <a:pt x="1602739" y="0"/>
                  </a:moveTo>
                  <a:lnTo>
                    <a:pt x="87375" y="0"/>
                  </a:lnTo>
                  <a:lnTo>
                    <a:pt x="53363" y="6865"/>
                  </a:lnTo>
                  <a:lnTo>
                    <a:pt x="25590" y="25590"/>
                  </a:lnTo>
                  <a:lnTo>
                    <a:pt x="6865" y="53363"/>
                  </a:lnTo>
                  <a:lnTo>
                    <a:pt x="0" y="87375"/>
                  </a:lnTo>
                  <a:lnTo>
                    <a:pt x="0" y="436879"/>
                  </a:lnTo>
                  <a:lnTo>
                    <a:pt x="6865" y="470892"/>
                  </a:lnTo>
                  <a:lnTo>
                    <a:pt x="25590" y="498665"/>
                  </a:lnTo>
                  <a:lnTo>
                    <a:pt x="53363" y="517390"/>
                  </a:lnTo>
                  <a:lnTo>
                    <a:pt x="87375" y="524255"/>
                  </a:lnTo>
                  <a:lnTo>
                    <a:pt x="1602739" y="524255"/>
                  </a:lnTo>
                  <a:lnTo>
                    <a:pt x="1636752" y="517390"/>
                  </a:lnTo>
                  <a:lnTo>
                    <a:pt x="1664525" y="498665"/>
                  </a:lnTo>
                  <a:lnTo>
                    <a:pt x="1683250" y="470892"/>
                  </a:lnTo>
                  <a:lnTo>
                    <a:pt x="1690115" y="436879"/>
                  </a:lnTo>
                  <a:lnTo>
                    <a:pt x="1690115" y="87375"/>
                  </a:lnTo>
                  <a:lnTo>
                    <a:pt x="1683250" y="53363"/>
                  </a:lnTo>
                  <a:lnTo>
                    <a:pt x="1664525" y="25590"/>
                  </a:lnTo>
                  <a:lnTo>
                    <a:pt x="1636752" y="6865"/>
                  </a:lnTo>
                  <a:lnTo>
                    <a:pt x="1602739" y="0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05984" y="5113020"/>
              <a:ext cx="1690370" cy="524510"/>
            </a:xfrm>
            <a:custGeom>
              <a:avLst/>
              <a:gdLst/>
              <a:ahLst/>
              <a:cxnLst/>
              <a:rect l="l" t="t" r="r" b="b"/>
              <a:pathLst>
                <a:path w="1690370" h="524510">
                  <a:moveTo>
                    <a:pt x="0" y="87375"/>
                  </a:moveTo>
                  <a:lnTo>
                    <a:pt x="6865" y="53363"/>
                  </a:lnTo>
                  <a:lnTo>
                    <a:pt x="25590" y="25590"/>
                  </a:lnTo>
                  <a:lnTo>
                    <a:pt x="53363" y="6865"/>
                  </a:lnTo>
                  <a:lnTo>
                    <a:pt x="87375" y="0"/>
                  </a:lnTo>
                  <a:lnTo>
                    <a:pt x="1602739" y="0"/>
                  </a:lnTo>
                  <a:lnTo>
                    <a:pt x="1636752" y="6865"/>
                  </a:lnTo>
                  <a:lnTo>
                    <a:pt x="1664525" y="25590"/>
                  </a:lnTo>
                  <a:lnTo>
                    <a:pt x="1683250" y="53363"/>
                  </a:lnTo>
                  <a:lnTo>
                    <a:pt x="1690115" y="87375"/>
                  </a:lnTo>
                  <a:lnTo>
                    <a:pt x="1690115" y="436879"/>
                  </a:lnTo>
                  <a:lnTo>
                    <a:pt x="1683250" y="470892"/>
                  </a:lnTo>
                  <a:lnTo>
                    <a:pt x="1664525" y="498665"/>
                  </a:lnTo>
                  <a:lnTo>
                    <a:pt x="1636752" y="517390"/>
                  </a:lnTo>
                  <a:lnTo>
                    <a:pt x="1602739" y="524255"/>
                  </a:lnTo>
                  <a:lnTo>
                    <a:pt x="87375" y="524255"/>
                  </a:lnTo>
                  <a:lnTo>
                    <a:pt x="53363" y="517390"/>
                  </a:lnTo>
                  <a:lnTo>
                    <a:pt x="25590" y="498665"/>
                  </a:lnTo>
                  <a:lnTo>
                    <a:pt x="6865" y="470892"/>
                  </a:lnTo>
                  <a:lnTo>
                    <a:pt x="0" y="436879"/>
                  </a:lnTo>
                  <a:lnTo>
                    <a:pt x="0" y="87375"/>
                  </a:lnTo>
                  <a:close/>
                </a:path>
              </a:pathLst>
            </a:custGeom>
            <a:ln w="9525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13704" y="5637276"/>
              <a:ext cx="76200" cy="394970"/>
            </a:xfrm>
            <a:custGeom>
              <a:avLst/>
              <a:gdLst/>
              <a:ahLst/>
              <a:cxnLst/>
              <a:rect l="l" t="t" r="r" b="b"/>
              <a:pathLst>
                <a:path w="76200" h="39497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94804"/>
                  </a:lnTo>
                  <a:lnTo>
                    <a:pt x="44450" y="394804"/>
                  </a:lnTo>
                  <a:lnTo>
                    <a:pt x="44450" y="63500"/>
                  </a:lnTo>
                  <a:close/>
                </a:path>
                <a:path w="76200" h="39497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9497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103242" y="4597146"/>
            <a:ext cx="2934335" cy="8991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619760" algn="l"/>
                <a:tab pos="1301750" algn="l"/>
                <a:tab pos="2056130" algn="l"/>
                <a:tab pos="2632710" algn="l"/>
              </a:tabLst>
            </a:pPr>
            <a:r>
              <a:rPr sz="2550" spc="-37" baseline="1633" dirty="0">
                <a:latin typeface="Arial"/>
                <a:cs typeface="Arial"/>
              </a:rPr>
              <a:t>A2</a:t>
            </a:r>
            <a:r>
              <a:rPr sz="2550" baseline="1633" dirty="0">
                <a:latin typeface="Arial"/>
                <a:cs typeface="Arial"/>
              </a:rPr>
              <a:t>	</a:t>
            </a:r>
            <a:r>
              <a:rPr sz="2775" spc="-75" baseline="19519" dirty="0">
                <a:latin typeface="Arial"/>
                <a:cs typeface="Arial"/>
              </a:rPr>
              <a:t>…</a:t>
            </a:r>
            <a:r>
              <a:rPr sz="2775" baseline="19519" dirty="0">
                <a:latin typeface="Arial"/>
                <a:cs typeface="Arial"/>
              </a:rPr>
              <a:t>	</a:t>
            </a:r>
            <a:r>
              <a:rPr sz="2550" spc="-37" baseline="1633" dirty="0">
                <a:latin typeface="Arial"/>
                <a:cs typeface="Arial"/>
              </a:rPr>
              <a:t>T1</a:t>
            </a:r>
            <a:r>
              <a:rPr sz="2550" baseline="1633" dirty="0">
                <a:latin typeface="Arial"/>
                <a:cs typeface="Arial"/>
              </a:rPr>
              <a:t>	</a:t>
            </a:r>
            <a:r>
              <a:rPr sz="1700" spc="-25" dirty="0">
                <a:latin typeface="Arial"/>
                <a:cs typeface="Arial"/>
              </a:rPr>
              <a:t>T2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2775" spc="-75" baseline="19519" dirty="0">
                <a:latin typeface="Arial"/>
                <a:cs typeface="Arial"/>
              </a:rPr>
              <a:t>…</a:t>
            </a:r>
            <a:endParaRPr sz="2775" baseline="19519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700">
              <a:latin typeface="Arial"/>
              <a:cs typeface="Arial"/>
            </a:endParaRPr>
          </a:p>
          <a:p>
            <a:pPr marL="1362710">
              <a:lnSpc>
                <a:spcPct val="100000"/>
              </a:lnSpc>
            </a:pPr>
            <a:r>
              <a:rPr sz="1450" dirty="0">
                <a:latin typeface="Arial"/>
                <a:cs typeface="Arial"/>
              </a:rPr>
              <a:t>Text</a:t>
            </a:r>
            <a:r>
              <a:rPr sz="1450" spc="1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tokenizer</a:t>
            </a:r>
            <a:endParaRPr sz="14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396728" y="2855976"/>
            <a:ext cx="1795780" cy="2514600"/>
          </a:xfrm>
          <a:prstGeom prst="rect">
            <a:avLst/>
          </a:prstGeom>
          <a:solidFill>
            <a:srgbClr val="E7E6E6"/>
          </a:solidFill>
          <a:ln w="9525">
            <a:solidFill>
              <a:srgbClr val="44536A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550"/>
              </a:spcBef>
            </a:pPr>
            <a:r>
              <a:rPr sz="1850" dirty="0">
                <a:latin typeface="Arial"/>
                <a:cs typeface="Arial"/>
              </a:rPr>
              <a:t>Whole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0" dirty="0">
                <a:latin typeface="Arial"/>
                <a:cs typeface="Arial"/>
              </a:rPr>
              <a:t>Vocab</a:t>
            </a:r>
            <a:endParaRPr sz="18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524743" y="3448811"/>
            <a:ext cx="1615440" cy="524510"/>
          </a:xfrm>
          <a:prstGeom prst="rect">
            <a:avLst/>
          </a:prstGeom>
          <a:solidFill>
            <a:srgbClr val="999999"/>
          </a:solidFill>
          <a:ln w="9525">
            <a:solidFill>
              <a:srgbClr val="44536A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910"/>
              </a:spcBef>
            </a:pPr>
            <a:r>
              <a:rPr sz="1850" dirty="0">
                <a:latin typeface="Arial"/>
                <a:cs typeface="Arial"/>
              </a:rPr>
              <a:t>Text</a:t>
            </a:r>
            <a:r>
              <a:rPr sz="1850" spc="15" dirty="0">
                <a:latin typeface="Arial"/>
                <a:cs typeface="Arial"/>
              </a:rPr>
              <a:t> </a:t>
            </a:r>
            <a:r>
              <a:rPr sz="1850" spc="-20" dirty="0">
                <a:latin typeface="Arial"/>
                <a:cs typeface="Arial"/>
              </a:rPr>
              <a:t>Vocab</a:t>
            </a:r>
            <a:endParaRPr sz="18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524743" y="4090415"/>
            <a:ext cx="1615440" cy="524510"/>
          </a:xfrm>
          <a:prstGeom prst="rect">
            <a:avLst/>
          </a:prstGeom>
          <a:solidFill>
            <a:srgbClr val="999999"/>
          </a:solidFill>
          <a:ln w="9525">
            <a:solidFill>
              <a:srgbClr val="44536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4495">
              <a:lnSpc>
                <a:spcPts val="2010"/>
              </a:lnSpc>
            </a:pPr>
            <a:r>
              <a:rPr sz="1850" spc="-10" dirty="0">
                <a:latin typeface="Arial"/>
                <a:cs typeface="Arial"/>
              </a:rPr>
              <a:t>Speech</a:t>
            </a:r>
            <a:endParaRPr sz="1850">
              <a:latin typeface="Arial"/>
              <a:cs typeface="Arial"/>
            </a:endParaRPr>
          </a:p>
          <a:p>
            <a:pPr marL="470534">
              <a:lnSpc>
                <a:spcPts val="2090"/>
              </a:lnSpc>
              <a:spcBef>
                <a:spcPts val="25"/>
              </a:spcBef>
            </a:pPr>
            <a:r>
              <a:rPr sz="1850" spc="-10" dirty="0">
                <a:latin typeface="Arial"/>
                <a:cs typeface="Arial"/>
              </a:rPr>
              <a:t>Vocab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54696" y="5637276"/>
            <a:ext cx="1601470" cy="1024890"/>
            <a:chOff x="3354696" y="5637276"/>
            <a:chExt cx="1601470" cy="102489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4696" y="5917692"/>
              <a:ext cx="1600978" cy="74394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17847" y="5637276"/>
              <a:ext cx="76200" cy="280035"/>
            </a:xfrm>
            <a:custGeom>
              <a:avLst/>
              <a:gdLst/>
              <a:ahLst/>
              <a:cxnLst/>
              <a:rect l="l" t="t" r="r" b="b"/>
              <a:pathLst>
                <a:path w="76200" h="28003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79996"/>
                  </a:lnTo>
                  <a:lnTo>
                    <a:pt x="44450" y="279996"/>
                  </a:lnTo>
                  <a:lnTo>
                    <a:pt x="44450" y="63500"/>
                  </a:lnTo>
                  <a:close/>
                </a:path>
                <a:path w="76200" h="28003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8003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14950" y="6138164"/>
            <a:ext cx="142684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dirty="0">
                <a:latin typeface="Arial"/>
                <a:cs typeface="Arial"/>
              </a:rPr>
              <a:t>This is</a:t>
            </a:r>
            <a:r>
              <a:rPr sz="1450" spc="2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text</a:t>
            </a:r>
            <a:r>
              <a:rPr sz="1450" spc="2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input.</a:t>
            </a:r>
            <a:endParaRPr sz="1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39498" y="6367983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libri"/>
                <a:cs typeface="Calibri"/>
              </a:rPr>
              <a:t>53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灯片编号占位符 44">
            <a:extLst>
              <a:ext uri="{FF2B5EF4-FFF2-40B4-BE49-F238E27FC236}">
                <a16:creationId xmlns:a16="http://schemas.microsoft.com/office/drawing/2014/main" id="{F23E5858-1871-D434-EA9F-D2D606E4F8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Multimodal</a:t>
            </a:r>
            <a:r>
              <a:rPr sz="4000" b="1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LLMs</a:t>
            </a:r>
            <a:r>
              <a:rPr sz="4000" b="1" spc="-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4000" b="1" spc="-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Representing</a:t>
            </a:r>
            <a:r>
              <a:rPr sz="4000" b="1" spc="-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Images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8004809" cy="2814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Continuous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concatenated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LLMs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20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trained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independently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Ex: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CLIP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889"/>
              </a:spcBef>
              <a:buFont typeface="Arial"/>
              <a:buChar char="○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229"/>
              </a:lnSpc>
              <a:spcBef>
                <a:spcPts val="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Discrete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representations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75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Extracted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self-</a:t>
            </a:r>
            <a:r>
              <a:rPr sz="2400" dirty="0">
                <a:latin typeface="Calibri"/>
                <a:cs typeface="Calibri"/>
              </a:rPr>
              <a:t>supervised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audio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VQ-</a:t>
            </a:r>
            <a:r>
              <a:rPr sz="2400" spc="-20" dirty="0">
                <a:latin typeface="Calibri"/>
                <a:cs typeface="Calibri"/>
              </a:rPr>
              <a:t>VAEs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18DBB4-7838-2724-282B-37FB559AF0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Open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Challenges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400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00FF"/>
                </a:solidFill>
                <a:latin typeface="Calibri"/>
                <a:cs typeface="Calibri"/>
              </a:rPr>
              <a:t>LLMs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7858759" cy="4186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New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Capabilities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10" dirty="0">
                <a:latin typeface="Calibri"/>
                <a:cs typeface="Calibri"/>
              </a:rPr>
              <a:t>Multimodal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spc="-10" dirty="0">
                <a:latin typeface="Calibri"/>
                <a:cs typeface="Calibri"/>
              </a:rPr>
              <a:t>Multi-lingual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5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050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Hallucinations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Alignment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Preference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Increase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Context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Length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Efficiently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5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Strategy,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050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Efficiency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Computational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money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73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Compute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architecture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GPU/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TPU/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HPU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DF95E-3A6D-2A1D-4C66-B4FC3D3844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55</a:t>
            </a:fld>
            <a:endParaRPr lang="en-US" altLang="zh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Open</a:t>
            </a:r>
            <a:r>
              <a:rPr sz="4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Challenges</a:t>
            </a:r>
            <a:r>
              <a:rPr sz="4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4000" b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00FF"/>
                </a:solidFill>
                <a:latin typeface="Calibri"/>
                <a:cs typeface="Calibri"/>
              </a:rPr>
              <a:t>LLMs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4808220" cy="2156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229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Safety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60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Harm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9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Adversarial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Robustness</a:t>
            </a:r>
            <a:endParaRPr sz="2400">
              <a:latin typeface="Calibri"/>
              <a:cs typeface="Calibri"/>
            </a:endParaRPr>
          </a:p>
          <a:p>
            <a:pPr marL="812165" lvl="1" indent="-316865">
              <a:lnSpc>
                <a:spcPts val="2555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Privacy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Concerns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050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Interpretability</a:t>
            </a:r>
            <a:endParaRPr sz="2800">
              <a:latin typeface="Calibri"/>
              <a:cs typeface="Calibri"/>
            </a:endParaRPr>
          </a:p>
          <a:p>
            <a:pPr marL="812165" lvl="1" indent="-316865">
              <a:lnSpc>
                <a:spcPts val="2750"/>
              </a:lnSpc>
              <a:buSzPct val="58333"/>
              <a:buFont typeface="Arial"/>
              <a:buChar char="○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Why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LLMs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FA2C13-A9DA-8B36-4580-5FFA20C823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56</a:t>
            </a:fld>
            <a:endParaRPr lang="en-US" altLang="zh-C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000FF"/>
                </a:solidFill>
                <a:latin typeface="Calibri"/>
                <a:cs typeface="Calibri"/>
              </a:rPr>
              <a:t>Summary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787" y="1550288"/>
            <a:ext cx="11078210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3190"/>
              </a:lnSpc>
              <a:spcBef>
                <a:spcPts val="95"/>
              </a:spcBef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LLMs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large-</a:t>
            </a:r>
            <a:r>
              <a:rPr sz="2800" dirty="0">
                <a:latin typeface="Calibri"/>
                <a:cs typeface="Calibri"/>
              </a:rPr>
              <a:t>scale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possess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astounding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abilities</a:t>
            </a:r>
            <a:endParaRPr sz="2800">
              <a:latin typeface="Calibri"/>
              <a:cs typeface="Calibri"/>
            </a:endParaRPr>
          </a:p>
          <a:p>
            <a:pPr marL="355600" marR="412115" indent="-342900">
              <a:lnSpc>
                <a:spcPts val="3020"/>
              </a:lnSpc>
              <a:spcBef>
                <a:spcPts val="215"/>
              </a:spcBef>
              <a:buSzPct val="64285"/>
              <a:buFont typeface="Arial"/>
              <a:buChar char="●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Scaling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capacity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performance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leads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emergence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abilities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2820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Decoder-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architectures</a:t>
            </a:r>
            <a:r>
              <a:rPr sz="2800" dirty="0">
                <a:latin typeface="Calibri"/>
                <a:cs typeface="Calibri"/>
              </a:rPr>
              <a:t> are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convergence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  <a:p>
            <a:pPr marL="436245" indent="-423545">
              <a:lnSpc>
                <a:spcPts val="3025"/>
              </a:lnSpc>
              <a:buSzPct val="64285"/>
              <a:buFont typeface="Arial"/>
              <a:buChar char="●"/>
              <a:tabLst>
                <a:tab pos="436245" algn="l"/>
              </a:tabLst>
            </a:pPr>
            <a:r>
              <a:rPr sz="2800" dirty="0">
                <a:latin typeface="Calibri"/>
                <a:cs typeface="Calibri"/>
              </a:rPr>
              <a:t>LLMs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pre-</a:t>
            </a:r>
            <a:r>
              <a:rPr sz="2800" dirty="0">
                <a:latin typeface="Calibri"/>
                <a:cs typeface="Calibri"/>
              </a:rPr>
              <a:t>training,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SFT,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RLHF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025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LLMs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evaluated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prompting/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strategies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ICL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CoT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190"/>
              </a:lnSpc>
              <a:buSzPct val="64285"/>
              <a:buFont typeface="Arial"/>
              <a:buChar char="●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Multimodal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LLMs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audio,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images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more.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5361B4-1A94-FEEA-AD64-A4CC126CEA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849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5"/>
              </a:spcBef>
            </a:pPr>
            <a:r>
              <a:rPr dirty="0"/>
              <a:t>Thank </a:t>
            </a:r>
            <a:r>
              <a:rPr spc="-20" dirty="0"/>
              <a:t>you!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AED18F2-E771-37C8-2870-9A71C8C6B6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2535</Words>
  <Application>Microsoft Office PowerPoint</Application>
  <PresentationFormat>宽屏</PresentationFormat>
  <Paragraphs>407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3" baseType="lpstr">
      <vt:lpstr>Meiryo UI</vt:lpstr>
      <vt:lpstr>等线</vt:lpstr>
      <vt:lpstr>Arial</vt:lpstr>
      <vt:lpstr>Calibri</vt:lpstr>
      <vt:lpstr>Office Theme</vt:lpstr>
      <vt:lpstr>Introduction to Deep Learning Lecture 20 Large Language Models</vt:lpstr>
      <vt:lpstr>Agenda</vt:lpstr>
      <vt:lpstr>Review: Language Models as Generalists</vt:lpstr>
      <vt:lpstr>Review: The LLM Era – Paradigm Shift in Machine Learning</vt:lpstr>
      <vt:lpstr>Review: The LLM Era – Paradigm Shift in Machine Learning</vt:lpstr>
      <vt:lpstr>GPT 2 – Generalizing to Unseen Tasks</vt:lpstr>
      <vt:lpstr>GPT 2 – Generalizing to Unseen Tasks</vt:lpstr>
      <vt:lpstr>GPT 2 – Task Specifications</vt:lpstr>
      <vt:lpstr>GPT 2 – Task Specifications</vt:lpstr>
      <vt:lpstr>GPT 2 – what makes such an LM work ?</vt:lpstr>
      <vt:lpstr>Scaling in GPT-2</vt:lpstr>
      <vt:lpstr>Why is this interesting? Look at data scaling</vt:lpstr>
      <vt:lpstr>Why is this interesting? Look at data scaling</vt:lpstr>
      <vt:lpstr>Scaling - (Kaplan,2020)</vt:lpstr>
      <vt:lpstr>Scaling - (Kaplan,2020)</vt:lpstr>
      <vt:lpstr>Scaling Effects</vt:lpstr>
      <vt:lpstr>Model Scaling: GPT-3</vt:lpstr>
      <vt:lpstr>Emergent Abilities with GPT-3 – Wei et. al 2022</vt:lpstr>
      <vt:lpstr>Emergent Abilities with GPT-3 – Wei et. al 2022</vt:lpstr>
      <vt:lpstr>Emergent Abilities with GPT-3 – Wei et. al 2022</vt:lpstr>
      <vt:lpstr>Large Language Models</vt:lpstr>
      <vt:lpstr>LLM Realization - Architecture</vt:lpstr>
      <vt:lpstr>T5/ T0 : Masked Span Prediction</vt:lpstr>
      <vt:lpstr>Attention patterns (Wang et. al)</vt:lpstr>
      <vt:lpstr>Empirical Observations (Wang et. al)</vt:lpstr>
      <vt:lpstr>Llama 2 Architecture (Ouyang et. al.)</vt:lpstr>
      <vt:lpstr>Poll 1</vt:lpstr>
      <vt:lpstr>Poll 1</vt:lpstr>
      <vt:lpstr>Training of Decoder-only LLMs – Llama 2</vt:lpstr>
      <vt:lpstr>Training of Decoder-only LLMs – Llama 2</vt:lpstr>
      <vt:lpstr>Supervised Fine-tuning versus Pre-training</vt:lpstr>
      <vt:lpstr>Instruction Tuning (Wei et. al. 2021)</vt:lpstr>
      <vt:lpstr>Unsafe Outputs – Alignment Problem</vt:lpstr>
      <vt:lpstr>Training of Decoder-only LLMs – Llama 2</vt:lpstr>
      <vt:lpstr>RLHF</vt:lpstr>
      <vt:lpstr>Model Fine-tuning for RLHF</vt:lpstr>
      <vt:lpstr>Note on LLM Safety and Harmfulness</vt:lpstr>
      <vt:lpstr>Note on LLM Safety and Harmfulness</vt:lpstr>
      <vt:lpstr>Poll 2</vt:lpstr>
      <vt:lpstr>Poll 2</vt:lpstr>
      <vt:lpstr>LLM Inference: Prompting</vt:lpstr>
      <vt:lpstr>ChatGPT Prompt example</vt:lpstr>
      <vt:lpstr>In-context learning/ Few-shot prompting (Brown,21)</vt:lpstr>
      <vt:lpstr>Chain of thought prompting (Wei, 2021)</vt:lpstr>
      <vt:lpstr>What to Pick?</vt:lpstr>
      <vt:lpstr>Note on Parameter Efficient Fine-tuning</vt:lpstr>
      <vt:lpstr>Poll 3</vt:lpstr>
      <vt:lpstr>Poll 3</vt:lpstr>
      <vt:lpstr>Evaluating LLMs</vt:lpstr>
      <vt:lpstr>Multimodal LLMs</vt:lpstr>
      <vt:lpstr>Modelling data using continuous representations</vt:lpstr>
      <vt:lpstr>Modeling data using Discrete Units</vt:lpstr>
      <vt:lpstr>Modeling data using Discrete Unit</vt:lpstr>
      <vt:lpstr>Multimodal LLMs – Representing Images</vt:lpstr>
      <vt:lpstr>Open Challenges - LLMs</vt:lpstr>
      <vt:lpstr>Open Challenges - LLMs</vt:lpstr>
      <vt:lpstr>Summary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Yeh-Ching Chung</cp:lastModifiedBy>
  <cp:revision>1</cp:revision>
  <dcterms:created xsi:type="dcterms:W3CDTF">2026-09-27T04:46:16Z</dcterms:created>
  <dcterms:modified xsi:type="dcterms:W3CDTF">2026-09-27T04:50:38Z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2024-03-29T00:00:00Z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2026-09-27T00:00:00Z</vt:filetime>
  </property>
  <property fmtid="{D5CDD505-2E9C-101B-9397-08002B2CF9AE}" pid="6" name="Producer">
    <vt:lpwstr>Microsoft® PowerPoint® for Microsoft 365</vt:lpwstr>
  </property>
</Properties>
</file>