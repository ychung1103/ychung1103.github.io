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26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6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80" r:id="rId21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72" y="60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2026/9/28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2026/9/28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Bookman Old Style"/>
                <a:cs typeface="Bookman Old Styl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3867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C67FEB8-36D3-4CC5-9713-36EE82A172D2}"/>
              </a:ext>
            </a:extLst>
          </p:cNvPr>
          <p:cNvSpPr/>
          <p:nvPr userDrawn="1"/>
        </p:nvSpPr>
        <p:spPr>
          <a:xfrm>
            <a:off x="669958" y="4681829"/>
            <a:ext cx="21921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5" r:id="rId1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Times New Roman" panose="02020603050405020304" pitchFamily="18" charset="0"/>
          <a:ea typeface="標楷體" pitchFamily="65" charset="-120"/>
          <a:cs typeface="Times New Roman" panose="02020603050405020304" pitchFamily="18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Times New Roman" panose="02020603050405020304" pitchFamily="18" charset="0"/>
          <a:ea typeface="標楷體" pitchFamily="65" charset="-120"/>
          <a:cs typeface="Times New Roman" panose="02020603050405020304" pitchFamily="18" charset="0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Times New Roman" panose="02020603050405020304" pitchFamily="18" charset="0"/>
          <a:ea typeface="標楷體" pitchFamily="65" charset="-120"/>
          <a:cs typeface="Times New Roman" panose="02020603050405020304" pitchFamily="18" charset="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6032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Advanced Operating Systems</a:t>
            </a:r>
            <a:b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Agent OS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</a:t>
            </a:r>
            <a:r>
              <a:rPr lang="en-US" altLang="zh-CN" sz="2400" dirty="0"/>
              <a:t>Data </a:t>
            </a:r>
            <a:r>
              <a:rPr lang="en-US" altLang="zh-TW" sz="2400" dirty="0"/>
              <a:t>Science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988C7A-F935-D4B0-8A52-9D5BCEEE8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2492" y="79474"/>
            <a:ext cx="7753198" cy="51911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134E72-FB3D-02C6-3FB8-8EBC62CC31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  <p:sp>
        <p:nvSpPr>
          <p:cNvPr id="8" name="Rectangle 1027">
            <a:extLst>
              <a:ext uri="{FF2B5EF4-FFF2-40B4-BE49-F238E27FC236}">
                <a16:creationId xmlns:a16="http://schemas.microsoft.com/office/drawing/2014/main" id="{FE9AE1BD-BA3C-7E15-C84C-F93E375B7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6546" y="882922"/>
            <a:ext cx="6714066" cy="3138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0"/>
              </a:spcBef>
            </a:pPr>
            <a:r>
              <a:rPr lang="en-US" altLang="zh-CN" sz="2200" kern="0" dirty="0"/>
              <a:t>Introduction</a:t>
            </a:r>
          </a:p>
          <a:p>
            <a:pPr marL="11430">
              <a:spcBef>
                <a:spcPts val="0"/>
              </a:spcBef>
            </a:pPr>
            <a:r>
              <a:rPr lang="en-US" altLang="zh-CN" sz="2200" spc="-11" dirty="0"/>
              <a:t>Agent</a:t>
            </a:r>
            <a:r>
              <a:rPr lang="en-US" altLang="zh-CN" sz="2200" spc="-75" dirty="0"/>
              <a:t> </a:t>
            </a:r>
            <a:r>
              <a:rPr lang="en-US" altLang="zh-CN" sz="2200" spc="-19" dirty="0"/>
              <a:t>OS</a:t>
            </a:r>
            <a:endParaRPr lang="en-US" altLang="zh-CN" sz="2200" dirty="0"/>
          </a:p>
          <a:p>
            <a:pPr marL="12859">
              <a:spcBef>
                <a:spcPts val="0"/>
              </a:spcBef>
            </a:pPr>
            <a:r>
              <a:rPr lang="en-US" altLang="zh-CN" sz="2200" spc="-8" dirty="0"/>
              <a:t>Agents</a:t>
            </a:r>
          </a:p>
          <a:p>
            <a:pPr marL="12859">
              <a:spcBef>
                <a:spcPts val="0"/>
              </a:spcBef>
            </a:pPr>
            <a:r>
              <a:rPr lang="en-US" altLang="zh-CN" sz="2200" dirty="0"/>
              <a:t>Agent</a:t>
            </a:r>
            <a:r>
              <a:rPr lang="en-US" altLang="zh-CN" sz="2200" spc="161" dirty="0"/>
              <a:t> </a:t>
            </a:r>
            <a:r>
              <a:rPr lang="en-US" altLang="zh-CN" sz="2200" spc="-8" dirty="0"/>
              <a:t>paradigm </a:t>
            </a:r>
          </a:p>
          <a:p>
            <a:pPr marL="12859">
              <a:spcBef>
                <a:spcPts val="0"/>
              </a:spcBef>
            </a:pPr>
            <a:r>
              <a:rPr lang="en-US" altLang="zh-CN" sz="2200" dirty="0"/>
              <a:t>Life cycle</a:t>
            </a:r>
            <a:r>
              <a:rPr lang="en-US" altLang="zh-CN" sz="2200" spc="161" dirty="0"/>
              <a:t> of</a:t>
            </a:r>
            <a:r>
              <a:rPr lang="en-US" altLang="zh-CN" sz="2200" spc="-86" dirty="0"/>
              <a:t> </a:t>
            </a:r>
            <a:r>
              <a:rPr lang="en-US" altLang="zh-CN" sz="2200" dirty="0"/>
              <a:t>an</a:t>
            </a:r>
            <a:r>
              <a:rPr lang="en-US" altLang="zh-CN" sz="2200" spc="-8" dirty="0"/>
              <a:t> agent</a:t>
            </a:r>
          </a:p>
          <a:p>
            <a:pPr marL="12859">
              <a:spcBef>
                <a:spcPts val="0"/>
              </a:spcBef>
            </a:pPr>
            <a:r>
              <a:rPr lang="en-US" altLang="zh-CN" sz="2200" dirty="0"/>
              <a:t>Agent</a:t>
            </a:r>
            <a:r>
              <a:rPr lang="en-US" altLang="zh-CN" sz="2200" spc="34" dirty="0"/>
              <a:t> </a:t>
            </a:r>
            <a:r>
              <a:rPr lang="en-US" altLang="zh-CN" sz="2200" dirty="0"/>
              <a:t>OS</a:t>
            </a:r>
            <a:r>
              <a:rPr lang="en-US" altLang="zh-CN" sz="2200" spc="26" dirty="0"/>
              <a:t> </a:t>
            </a:r>
            <a:r>
              <a:rPr lang="en-US" altLang="zh-CN" sz="2200" spc="-8" dirty="0"/>
              <a:t>requirements</a:t>
            </a:r>
          </a:p>
          <a:p>
            <a:pPr marL="12859">
              <a:spcBef>
                <a:spcPts val="0"/>
              </a:spcBef>
            </a:pPr>
            <a:r>
              <a:rPr lang="en-US" altLang="zh-CN" sz="2200" dirty="0"/>
              <a:t>Design of agent</a:t>
            </a:r>
            <a:r>
              <a:rPr lang="en-US" altLang="zh-CN" sz="2200" spc="71" dirty="0"/>
              <a:t> </a:t>
            </a:r>
            <a:r>
              <a:rPr lang="en-US" altLang="zh-CN" sz="2200" spc="-19" dirty="0"/>
              <a:t>OS </a:t>
            </a:r>
          </a:p>
          <a:p>
            <a:pPr marL="12859">
              <a:spcBef>
                <a:spcPts val="0"/>
              </a:spcBef>
            </a:pPr>
            <a:r>
              <a:rPr lang="en-US" altLang="zh-CN" sz="2200" spc="-8" dirty="0"/>
              <a:t>Advantages  </a:t>
            </a:r>
          </a:p>
          <a:p>
            <a:pPr marL="12859">
              <a:spcBef>
                <a:spcPts val="0"/>
              </a:spcBef>
            </a:pPr>
            <a:r>
              <a:rPr lang="en-US" altLang="zh-CN" sz="2200" spc="-8" dirty="0"/>
              <a:t>Conclusion</a:t>
            </a:r>
            <a:endParaRPr lang="en-US" altLang="zh-CN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C615AA8-FAB6-DF13-1077-794AE55EBABD}"/>
              </a:ext>
            </a:extLst>
          </p:cNvPr>
          <p:cNvSpPr txBox="1">
            <a:spLocks/>
          </p:cNvSpPr>
          <p:nvPr/>
        </p:nvSpPr>
        <p:spPr bwMode="auto">
          <a:xfrm>
            <a:off x="956732" y="79474"/>
            <a:ext cx="771895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kern="0" dirty="0"/>
              <a:t>Introduction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B99CA7E-1EA6-3C59-37E6-94F543C4277E}"/>
              </a:ext>
            </a:extLst>
          </p:cNvPr>
          <p:cNvSpPr txBox="1">
            <a:spLocks/>
          </p:cNvSpPr>
          <p:nvPr/>
        </p:nvSpPr>
        <p:spPr>
          <a:xfrm>
            <a:off x="1032932" y="910983"/>
            <a:ext cx="7504676" cy="2608634"/>
          </a:xfrm>
          <a:prstGeom prst="rect">
            <a:avLst/>
          </a:prstGeom>
        </p:spPr>
        <p:txBody>
          <a:bodyPr>
            <a:noAutofit/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200" dirty="0"/>
              <a:t>Internet - world wide information repository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200" dirty="0"/>
              <a:t>Resource sharing on a world wide basis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Agents are new approach to the development of distribute client-server application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F51A87D7-3C43-C425-BA52-B4998ABD02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C615AA8-FAB6-DF13-1077-794AE55EBABD}"/>
              </a:ext>
            </a:extLst>
          </p:cNvPr>
          <p:cNvSpPr txBox="1">
            <a:spLocks/>
          </p:cNvSpPr>
          <p:nvPr/>
        </p:nvSpPr>
        <p:spPr bwMode="auto">
          <a:xfrm>
            <a:off x="956732" y="79474"/>
            <a:ext cx="771895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sz="3600" spc="-8" dirty="0"/>
              <a:t>A</a:t>
            </a:r>
            <a:r>
              <a:rPr lang="en-US" altLang="zh-CN" spc="-8" dirty="0"/>
              <a:t>gent</a:t>
            </a:r>
            <a:r>
              <a:rPr lang="en-US" altLang="zh-CN" sz="3600" spc="-165" dirty="0"/>
              <a:t> </a:t>
            </a:r>
            <a:r>
              <a:rPr lang="en-US" altLang="zh-CN" sz="3600" spc="-101" dirty="0"/>
              <a:t>OS</a:t>
            </a:r>
            <a:endParaRPr lang="en-US" kern="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B99CA7E-1EA6-3C59-37E6-94F543C4277E}"/>
              </a:ext>
            </a:extLst>
          </p:cNvPr>
          <p:cNvSpPr txBox="1">
            <a:spLocks/>
          </p:cNvSpPr>
          <p:nvPr/>
        </p:nvSpPr>
        <p:spPr>
          <a:xfrm>
            <a:off x="1109132" y="927916"/>
            <a:ext cx="7501468" cy="1789884"/>
          </a:xfrm>
          <a:prstGeom prst="rect">
            <a:avLst/>
          </a:prstGeom>
        </p:spPr>
        <p:txBody>
          <a:bodyPr>
            <a:noAutofit/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200" dirty="0"/>
              <a:t>Supports agent-based client-server applications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200" dirty="0"/>
              <a:t>Behaves as a traditional server for a single host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200" dirty="0"/>
              <a:t>Entire network-provides an environment for distributed applications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30722D6-66DE-82DB-4D95-66A3A33E0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5098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C615AA8-FAB6-DF13-1077-794AE55EBABD}"/>
              </a:ext>
            </a:extLst>
          </p:cNvPr>
          <p:cNvSpPr txBox="1">
            <a:spLocks/>
          </p:cNvSpPr>
          <p:nvPr/>
        </p:nvSpPr>
        <p:spPr bwMode="auto">
          <a:xfrm>
            <a:off x="956732" y="79474"/>
            <a:ext cx="771895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sz="3600" spc="-8" dirty="0"/>
              <a:t>Agent</a:t>
            </a:r>
            <a:r>
              <a:rPr lang="en-US" altLang="zh-CN" spc="-165" dirty="0"/>
              <a:t>s</a:t>
            </a:r>
            <a:endParaRPr lang="en-US" kern="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B99CA7E-1EA6-3C59-37E6-94F543C4277E}"/>
              </a:ext>
            </a:extLst>
          </p:cNvPr>
          <p:cNvSpPr txBox="1">
            <a:spLocks/>
          </p:cNvSpPr>
          <p:nvPr/>
        </p:nvSpPr>
        <p:spPr>
          <a:xfrm>
            <a:off x="956732" y="889414"/>
            <a:ext cx="7501468" cy="2720060"/>
          </a:xfrm>
          <a:prstGeom prst="rect">
            <a:avLst/>
          </a:prstGeom>
        </p:spPr>
        <p:txBody>
          <a:bodyPr>
            <a:noAutofit/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200" dirty="0"/>
              <a:t>Supports agent-based client-server applications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200" dirty="0"/>
              <a:t>Object representation of distributed systems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200" dirty="0"/>
              <a:t>Contains both computational logic and state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200" dirty="0"/>
              <a:t>It can be a single algorithm or a complete application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200" dirty="0"/>
              <a:t>Agents are active and mobile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E6F9424-7902-6F03-9B2F-5DF38ED0F4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7027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C615AA8-FAB6-DF13-1077-794AE55EBABD}"/>
              </a:ext>
            </a:extLst>
          </p:cNvPr>
          <p:cNvSpPr txBox="1">
            <a:spLocks/>
          </p:cNvSpPr>
          <p:nvPr/>
        </p:nvSpPr>
        <p:spPr bwMode="auto">
          <a:xfrm>
            <a:off x="956732" y="79474"/>
            <a:ext cx="771895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sz="3600" spc="-8" dirty="0"/>
              <a:t>Agent Paradigm (1)</a:t>
            </a:r>
            <a:endParaRPr lang="en-US" kern="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B99CA7E-1EA6-3C59-37E6-94F543C4277E}"/>
              </a:ext>
            </a:extLst>
          </p:cNvPr>
          <p:cNvSpPr txBox="1">
            <a:spLocks/>
          </p:cNvSpPr>
          <p:nvPr/>
        </p:nvSpPr>
        <p:spPr>
          <a:xfrm>
            <a:off x="1062609" y="865211"/>
            <a:ext cx="6753104" cy="3085819"/>
          </a:xfrm>
          <a:prstGeom prst="rect">
            <a:avLst/>
          </a:prstGeom>
        </p:spPr>
        <p:txBody>
          <a:bodyPr>
            <a:noAutofit/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200" dirty="0"/>
              <a:t>Classical architecture involves two parts 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/>
              <a:t>Lower Level layer-Implementing communication protocol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/>
              <a:t>Higher Level layer-Implementing algorithm</a:t>
            </a:r>
          </a:p>
          <a:p>
            <a:pPr marL="9525">
              <a:spcBef>
                <a:spcPts val="68"/>
              </a:spcBef>
            </a:pPr>
            <a:r>
              <a:rPr lang="en-US" altLang="zh-CN" sz="2200" dirty="0"/>
              <a:t>Drawbacks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altLang="zh-CN" sz="2200" dirty="0"/>
              <a:t>The complexity of the lower layer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zh-CN" sz="2200" dirty="0"/>
              <a:t>Separation between these layers may not be clear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DB73842-2BED-115E-C106-CD7F7BD4B9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6261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C615AA8-FAB6-DF13-1077-794AE55EBABD}"/>
              </a:ext>
            </a:extLst>
          </p:cNvPr>
          <p:cNvSpPr txBox="1">
            <a:spLocks/>
          </p:cNvSpPr>
          <p:nvPr/>
        </p:nvSpPr>
        <p:spPr bwMode="auto">
          <a:xfrm>
            <a:off x="956732" y="79474"/>
            <a:ext cx="771895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sz="3600" spc="-8" dirty="0"/>
              <a:t>Agent Paradigm (2)</a:t>
            </a:r>
            <a:endParaRPr lang="en-US" kern="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B99CA7E-1EA6-3C59-37E6-94F543C4277E}"/>
              </a:ext>
            </a:extLst>
          </p:cNvPr>
          <p:cNvSpPr txBox="1">
            <a:spLocks/>
          </p:cNvSpPr>
          <p:nvPr/>
        </p:nvSpPr>
        <p:spPr>
          <a:xfrm>
            <a:off x="1062609" y="836335"/>
            <a:ext cx="6897483" cy="3475783"/>
          </a:xfrm>
          <a:prstGeom prst="rect">
            <a:avLst/>
          </a:prstGeom>
        </p:spPr>
        <p:txBody>
          <a:bodyPr>
            <a:noAutofit/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0001"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/>
              <a:t>Provide solution to above problems</a:t>
            </a:r>
          </a:p>
          <a:p>
            <a:pPr marL="333375" indent="-333375" defTabSz="355600"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/>
              <a:t>Distributed application is broken down into components </a:t>
            </a:r>
            <a:r>
              <a:rPr lang="en-US" altLang="zh-CN" sz="2200" dirty="0">
                <a:sym typeface="Symbol" panose="05050102010706020507" pitchFamily="18" charset="2"/>
              </a:rPr>
              <a:t> </a:t>
            </a:r>
            <a:r>
              <a:rPr lang="en-US" altLang="zh-CN" sz="2200" dirty="0"/>
              <a:t>Agents</a:t>
            </a:r>
          </a:p>
          <a:p>
            <a:pPr marL="13335"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/>
              <a:t>Agents are then used to carry out the algorithms</a:t>
            </a:r>
          </a:p>
          <a:p>
            <a:pPr marL="13335"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/>
              <a:t>Agents behaves more like a centralized application</a:t>
            </a:r>
          </a:p>
          <a:p>
            <a:pPr marL="13335"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/>
              <a:t>Agent OS is responsible </a:t>
            </a:r>
          </a:p>
          <a:p>
            <a:pPr marL="808038" lvl="1" indent="-3556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</a:pPr>
            <a:r>
              <a:rPr lang="en-US" altLang="zh-CN" sz="2200" dirty="0"/>
              <a:t>Transporting agents</a:t>
            </a:r>
          </a:p>
          <a:p>
            <a:pPr marL="808038" lvl="1" indent="-3556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</a:pPr>
            <a:r>
              <a:rPr lang="en-US" altLang="zh-CN" sz="2200" dirty="0"/>
              <a:t>Communication between agent hosts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2EF8674-FD20-E9FF-B4F0-0EEC0A230C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8768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C615AA8-FAB6-DF13-1077-794AE55EBABD}"/>
              </a:ext>
            </a:extLst>
          </p:cNvPr>
          <p:cNvSpPr txBox="1">
            <a:spLocks/>
          </p:cNvSpPr>
          <p:nvPr/>
        </p:nvSpPr>
        <p:spPr bwMode="auto">
          <a:xfrm>
            <a:off x="956732" y="79474"/>
            <a:ext cx="771895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sz="3600" spc="-8" dirty="0"/>
              <a:t>Agent Paradigm (3)</a:t>
            </a:r>
            <a:endParaRPr lang="en-US" kern="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B99CA7E-1EA6-3C59-37E6-94F543C4277E}"/>
              </a:ext>
            </a:extLst>
          </p:cNvPr>
          <p:cNvSpPr txBox="1">
            <a:spLocks/>
          </p:cNvSpPr>
          <p:nvPr/>
        </p:nvSpPr>
        <p:spPr>
          <a:xfrm>
            <a:off x="1062609" y="836335"/>
            <a:ext cx="6878233" cy="3085819"/>
          </a:xfrm>
          <a:prstGeom prst="rect">
            <a:avLst/>
          </a:prstGeom>
        </p:spPr>
        <p:txBody>
          <a:bodyPr>
            <a:noAutofit/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33375" indent="-333375"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/>
              <a:t>Provide solution to above problems</a:t>
            </a:r>
          </a:p>
          <a:p>
            <a:pPr marL="633406" lvl="1" indent="-333375"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/>
              <a:t>Separation b/w communication protocol layer &amp; application layer</a:t>
            </a:r>
          </a:p>
          <a:p>
            <a:pPr marL="633406" lvl="1" indent="-333375"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/>
              <a:t>Changes in applications are localized to the application layer</a:t>
            </a:r>
          </a:p>
          <a:p>
            <a:pPr marL="633406" lvl="1" indent="-333375"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/>
              <a:t>Changes in communication protocol do not have an effect on application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2760230-2BDB-5D64-D55E-CCB2905B25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9400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B99CA7E-1EA6-3C59-37E6-94F543C4277E}"/>
              </a:ext>
            </a:extLst>
          </p:cNvPr>
          <p:cNvSpPr txBox="1">
            <a:spLocks/>
          </p:cNvSpPr>
          <p:nvPr/>
        </p:nvSpPr>
        <p:spPr>
          <a:xfrm>
            <a:off x="1062609" y="836335"/>
            <a:ext cx="6878233" cy="3085819"/>
          </a:xfrm>
          <a:prstGeom prst="rect">
            <a:avLst/>
          </a:prstGeom>
        </p:spPr>
        <p:txBody>
          <a:bodyPr>
            <a:noAutofit/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33375" indent="-333375"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/>
              <a:t>Applications suited for mobile agents</a:t>
            </a:r>
          </a:p>
          <a:p>
            <a:pPr marL="633406" lvl="1" indent="-333375"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/>
              <a:t>Distributed Data Collection </a:t>
            </a:r>
          </a:p>
          <a:p>
            <a:pPr marL="633406" lvl="1" indent="-333375"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/>
              <a:t>Monitoring</a:t>
            </a:r>
          </a:p>
          <a:p>
            <a:pPr marL="633406" lvl="1" indent="-333375"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/>
              <a:t>Information Delivery and ‘Push’ Negotiation</a:t>
            </a:r>
          </a:p>
          <a:p>
            <a:pPr marL="633406" lvl="1" indent="-333375"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/>
              <a:t>Transaction</a:t>
            </a:r>
          </a:p>
          <a:p>
            <a:pPr marL="633406" lvl="1" indent="-333375"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/>
              <a:t>Parallel Processing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244BEA-C978-E977-6AC5-EF50E1704517}"/>
              </a:ext>
            </a:extLst>
          </p:cNvPr>
          <p:cNvSpPr txBox="1">
            <a:spLocks/>
          </p:cNvSpPr>
          <p:nvPr/>
        </p:nvSpPr>
        <p:spPr bwMode="auto">
          <a:xfrm>
            <a:off x="956732" y="79474"/>
            <a:ext cx="771895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sz="3600" spc="-8" dirty="0"/>
              <a:t>Agent Paradigm (4)</a:t>
            </a:r>
            <a:endParaRPr lang="en-US" kern="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E2AA516-9171-0FA4-744E-7482E95027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3591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44BEA-C978-E977-6AC5-EF50E1704517}"/>
              </a:ext>
            </a:extLst>
          </p:cNvPr>
          <p:cNvSpPr txBox="1">
            <a:spLocks/>
          </p:cNvSpPr>
          <p:nvPr/>
        </p:nvSpPr>
        <p:spPr bwMode="auto">
          <a:xfrm>
            <a:off x="956732" y="79474"/>
            <a:ext cx="771895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sz="3600" dirty="0"/>
              <a:t>The</a:t>
            </a:r>
            <a:r>
              <a:rPr lang="en-US" altLang="zh-CN" sz="3600" spc="11" dirty="0"/>
              <a:t> </a:t>
            </a:r>
            <a:r>
              <a:rPr lang="en-US" altLang="zh-CN" sz="3600" dirty="0"/>
              <a:t>Agent</a:t>
            </a:r>
            <a:r>
              <a:rPr lang="en-US" altLang="zh-CN" sz="3600" spc="101" dirty="0"/>
              <a:t> </a:t>
            </a:r>
            <a:r>
              <a:rPr lang="en-US" altLang="zh-CN" sz="3600" spc="34" dirty="0"/>
              <a:t>Lifecycle</a:t>
            </a:r>
            <a:endParaRPr lang="en-US" kern="0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2BEE5C69-EABB-461D-728A-AB120A1646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575"/>
          <a:stretch/>
        </p:blipFill>
        <p:spPr>
          <a:xfrm>
            <a:off x="1819176" y="822056"/>
            <a:ext cx="5815916" cy="3764682"/>
          </a:xfrm>
          <a:prstGeom prst="rect">
            <a:avLst/>
          </a:prstGeom>
        </p:spPr>
      </p:pic>
      <p:sp>
        <p:nvSpPr>
          <p:cNvPr id="33" name="灯片编号占位符 32">
            <a:extLst>
              <a:ext uri="{FF2B5EF4-FFF2-40B4-BE49-F238E27FC236}">
                <a16:creationId xmlns:a16="http://schemas.microsoft.com/office/drawing/2014/main" id="{F9F3A447-C518-79D0-B5E4-848B0B99C0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7850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E213C22-0A6C-9218-3259-F92E99659C18}"/>
              </a:ext>
            </a:extLst>
          </p:cNvPr>
          <p:cNvSpPr txBox="1">
            <a:spLocks/>
          </p:cNvSpPr>
          <p:nvPr/>
        </p:nvSpPr>
        <p:spPr bwMode="auto">
          <a:xfrm>
            <a:off x="956732" y="79474"/>
            <a:ext cx="771895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sz="3600" dirty="0"/>
              <a:t>Agent</a:t>
            </a:r>
            <a:r>
              <a:rPr lang="en-US" altLang="zh-CN" sz="3600" spc="101" dirty="0"/>
              <a:t> </a:t>
            </a:r>
            <a:r>
              <a:rPr lang="en-US" altLang="zh-CN" sz="3600" spc="34" dirty="0"/>
              <a:t>OS Requirements</a:t>
            </a:r>
            <a:endParaRPr lang="en-US" kern="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9033EA9-AE83-D2DD-341A-E0B6A4E6A964}"/>
              </a:ext>
            </a:extLst>
          </p:cNvPr>
          <p:cNvSpPr txBox="1">
            <a:spLocks/>
          </p:cNvSpPr>
          <p:nvPr/>
        </p:nvSpPr>
        <p:spPr>
          <a:xfrm>
            <a:off x="1033733" y="928835"/>
            <a:ext cx="6878233" cy="3402533"/>
          </a:xfrm>
          <a:prstGeom prst="rect">
            <a:avLst/>
          </a:prstGeom>
        </p:spPr>
        <p:txBody>
          <a:bodyPr>
            <a:noAutofit/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33375" indent="-333375"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/>
              <a:t>Platform independence </a:t>
            </a:r>
          </a:p>
          <a:p>
            <a:pPr marL="333375" indent="-333375"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/>
              <a:t>Dynamic agent invocation </a:t>
            </a:r>
          </a:p>
          <a:p>
            <a:pPr marL="333375" indent="-333375"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/>
              <a:t>Migration of agents and their state </a:t>
            </a:r>
          </a:p>
          <a:p>
            <a:pPr marL="333375" indent="-333375"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/>
              <a:t>Inter-agent communication</a:t>
            </a:r>
          </a:p>
          <a:p>
            <a:pPr marL="10478">
              <a:spcBef>
                <a:spcPts val="68"/>
              </a:spcBef>
            </a:pPr>
            <a:r>
              <a:rPr lang="en-US" altLang="zh-CN" sz="2200" spc="-49" dirty="0"/>
              <a:t>Agent</a:t>
            </a:r>
            <a:r>
              <a:rPr lang="en-US" altLang="zh-CN" sz="2200" spc="-75" dirty="0"/>
              <a:t> </a:t>
            </a:r>
            <a:r>
              <a:rPr lang="en-US" altLang="zh-CN" sz="2200" spc="-8" dirty="0"/>
              <a:t>reuse</a:t>
            </a:r>
            <a:endParaRPr lang="en-US" altLang="zh-CN" sz="2200" dirty="0"/>
          </a:p>
          <a:p>
            <a:pPr marL="15716"/>
            <a:r>
              <a:rPr lang="en-US" altLang="zh-CN" sz="2200" spc="68" dirty="0"/>
              <a:t>Unique</a:t>
            </a:r>
            <a:r>
              <a:rPr lang="en-US" altLang="zh-CN" sz="2200" spc="199" dirty="0"/>
              <a:t> </a:t>
            </a:r>
            <a:r>
              <a:rPr lang="en-US" altLang="zh-CN" sz="2200" spc="83" dirty="0"/>
              <a:t>naming</a:t>
            </a:r>
            <a:r>
              <a:rPr lang="en-US" altLang="zh-CN" sz="2200" spc="150" dirty="0"/>
              <a:t> </a:t>
            </a:r>
            <a:r>
              <a:rPr lang="en-US" altLang="zh-CN" sz="2200" spc="45" dirty="0"/>
              <a:t>scheme</a:t>
            </a:r>
            <a:endParaRPr lang="en-US" altLang="zh-CN" sz="2200" dirty="0"/>
          </a:p>
          <a:p>
            <a:pPr marL="9525"/>
            <a:r>
              <a:rPr lang="en-US" altLang="zh-CN" sz="2200" spc="68" dirty="0"/>
              <a:t>Security</a:t>
            </a:r>
            <a:endParaRPr lang="en-US" altLang="zh-CN" sz="2200" dirty="0"/>
          </a:p>
          <a:p>
            <a:pPr marL="13335"/>
            <a:r>
              <a:rPr lang="en-US" altLang="zh-CN" sz="2200" spc="83" dirty="0"/>
              <a:t>Feature-</a:t>
            </a:r>
            <a:r>
              <a:rPr lang="en-US" altLang="zh-CN" sz="2200" spc="64" dirty="0"/>
              <a:t>rich</a:t>
            </a:r>
            <a:endParaRPr lang="en-US" altLang="zh-CN" sz="2200" dirty="0"/>
          </a:p>
          <a:p>
            <a:pPr marL="333375" indent="-333375">
              <a:spcBef>
                <a:spcPts val="0"/>
              </a:spcBef>
              <a:spcAft>
                <a:spcPts val="600"/>
              </a:spcAft>
            </a:pPr>
            <a:endParaRPr lang="en-US" altLang="zh-CN" sz="2200" dirty="0"/>
          </a:p>
          <a:p>
            <a:pPr marL="9525">
              <a:spcBef>
                <a:spcPts val="68"/>
              </a:spcBef>
            </a:pPr>
            <a:endParaRPr lang="en-US" altLang="zh-CN" sz="2200" dirty="0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166D3C7A-0088-0DC5-8F88-C50C0AAE06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BF8D2A0A-15C6-3E08-5E96-ECAE31F073CA}"/>
              </a:ext>
            </a:extLst>
          </p:cNvPr>
          <p:cNvSpPr txBox="1">
            <a:spLocks/>
          </p:cNvSpPr>
          <p:nvPr/>
        </p:nvSpPr>
        <p:spPr bwMode="auto">
          <a:xfrm>
            <a:off x="904776" y="79474"/>
            <a:ext cx="7770914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sz="3600" dirty="0"/>
              <a:t>Architecture of Agent OS</a:t>
            </a:r>
            <a:endParaRPr lang="en-US" kern="0" dirty="0"/>
          </a:p>
        </p:txBody>
      </p:sp>
      <p:sp>
        <p:nvSpPr>
          <p:cNvPr id="31" name="灯片编号占位符 30">
            <a:extLst>
              <a:ext uri="{FF2B5EF4-FFF2-40B4-BE49-F238E27FC236}">
                <a16:creationId xmlns:a16="http://schemas.microsoft.com/office/drawing/2014/main" id="{1FE23529-1909-4902-2F21-68D4A4A9E8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E491E33F-FE79-AF32-DC32-1F19060D3B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17044" y="829932"/>
            <a:ext cx="5665564" cy="371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731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BF8D2A0A-15C6-3E08-5E96-ECAE31F073CA}"/>
              </a:ext>
            </a:extLst>
          </p:cNvPr>
          <p:cNvSpPr txBox="1">
            <a:spLocks/>
          </p:cNvSpPr>
          <p:nvPr/>
        </p:nvSpPr>
        <p:spPr bwMode="auto">
          <a:xfrm>
            <a:off x="904776" y="79474"/>
            <a:ext cx="7770914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sz="3600" dirty="0"/>
              <a:t>System Components of Agent OS (1) </a:t>
            </a:r>
            <a:endParaRPr lang="en-US" kern="0" dirty="0"/>
          </a:p>
        </p:txBody>
      </p:sp>
      <p:sp>
        <p:nvSpPr>
          <p:cNvPr id="31" name="灯片编号占位符 30">
            <a:extLst>
              <a:ext uri="{FF2B5EF4-FFF2-40B4-BE49-F238E27FC236}">
                <a16:creationId xmlns:a16="http://schemas.microsoft.com/office/drawing/2014/main" id="{1FE23529-1909-4902-2F21-68D4A4A9E8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28E0CE0-CFE3-0068-AE73-2D2C0BEA45EE}"/>
              </a:ext>
            </a:extLst>
          </p:cNvPr>
          <p:cNvSpPr txBox="1">
            <a:spLocks/>
          </p:cNvSpPr>
          <p:nvPr/>
        </p:nvSpPr>
        <p:spPr>
          <a:xfrm>
            <a:off x="972153" y="861265"/>
            <a:ext cx="7064942" cy="3431602"/>
          </a:xfrm>
          <a:prstGeom prst="rect">
            <a:avLst/>
          </a:prstGeom>
        </p:spPr>
        <p:txBody>
          <a:bodyPr>
            <a:noAutofit/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95279" indent="-457200">
              <a:spcBef>
                <a:spcPts val="0"/>
              </a:spcBef>
              <a:spcAft>
                <a:spcPts val="600"/>
              </a:spcAft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</a:p>
          <a:p>
            <a:pPr marL="625475" lvl="1" indent="-269875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access to system services </a:t>
            </a:r>
          </a:p>
          <a:p>
            <a:pPr marL="625475" lvl="1" indent="-269875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n/w connection Implement communication protocol</a:t>
            </a:r>
          </a:p>
          <a:p>
            <a:pPr marL="295279" indent="-457200">
              <a:spcBef>
                <a:spcPts val="0"/>
              </a:spcBef>
              <a:spcAft>
                <a:spcPts val="600"/>
              </a:spcAft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Enum</a:t>
            </a:r>
          </a:p>
          <a:p>
            <a:pPr marL="593725" lvl="1" indent="-238125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of kernel subsystem </a:t>
            </a:r>
          </a:p>
          <a:p>
            <a:pPr marL="593725" lvl="1" indent="-238125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a list of standard and extended services</a:t>
            </a:r>
          </a:p>
        </p:txBody>
      </p:sp>
    </p:spTree>
    <p:extLst>
      <p:ext uri="{BB962C8B-B14F-4D97-AF65-F5344CB8AC3E}">
        <p14:creationId xmlns:p14="http://schemas.microsoft.com/office/powerpoint/2010/main" val="2683033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BF8D2A0A-15C6-3E08-5E96-ECAE31F073CA}"/>
              </a:ext>
            </a:extLst>
          </p:cNvPr>
          <p:cNvSpPr txBox="1">
            <a:spLocks/>
          </p:cNvSpPr>
          <p:nvPr/>
        </p:nvSpPr>
        <p:spPr bwMode="auto">
          <a:xfrm>
            <a:off x="904776" y="79474"/>
            <a:ext cx="7770914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sz="3600" dirty="0"/>
              <a:t>System Components of Agent OS (2) </a:t>
            </a:r>
            <a:endParaRPr lang="en-US" altLang="zh-CN" kern="0" dirty="0"/>
          </a:p>
        </p:txBody>
      </p:sp>
      <p:sp>
        <p:nvSpPr>
          <p:cNvPr id="31" name="灯片编号占位符 30">
            <a:extLst>
              <a:ext uri="{FF2B5EF4-FFF2-40B4-BE49-F238E27FC236}">
                <a16:creationId xmlns:a16="http://schemas.microsoft.com/office/drawing/2014/main" id="{1FE23529-1909-4902-2F21-68D4A4A9E8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28E0CE0-CFE3-0068-AE73-2D2C0BEA45EE}"/>
              </a:ext>
            </a:extLst>
          </p:cNvPr>
          <p:cNvSpPr txBox="1">
            <a:spLocks/>
          </p:cNvSpPr>
          <p:nvPr/>
        </p:nvSpPr>
        <p:spPr>
          <a:xfrm>
            <a:off x="1164657" y="861265"/>
            <a:ext cx="7209322" cy="2940714"/>
          </a:xfrm>
          <a:prstGeom prst="rect">
            <a:avLst/>
          </a:prstGeom>
        </p:spPr>
        <p:txBody>
          <a:bodyPr>
            <a:noAutofit/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/>
              <a:t>Event Pool</a:t>
            </a:r>
          </a:p>
          <a:p>
            <a:pPr marL="895340" lvl="2" indent="-4572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AgentOS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s/m contains a single event pool </a:t>
            </a:r>
          </a:p>
          <a:p>
            <a:pPr marL="895340" lvl="2" indent="-4572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queue based communication b/w agents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/>
              <a:t>Agent Context </a:t>
            </a:r>
          </a:p>
          <a:p>
            <a:pPr marL="895340" lvl="2" indent="-4572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execution model for agents</a:t>
            </a:r>
          </a:p>
          <a:p>
            <a:pPr marL="895340" lvl="2" indent="-4572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Starts, stops and controls the execution of agents</a:t>
            </a:r>
          </a:p>
        </p:txBody>
      </p:sp>
    </p:spTree>
    <p:extLst>
      <p:ext uri="{BB962C8B-B14F-4D97-AF65-F5344CB8AC3E}">
        <p14:creationId xmlns:p14="http://schemas.microsoft.com/office/powerpoint/2010/main" val="3000547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BF8D2A0A-15C6-3E08-5E96-ECAE31F073CA}"/>
              </a:ext>
            </a:extLst>
          </p:cNvPr>
          <p:cNvSpPr txBox="1">
            <a:spLocks/>
          </p:cNvSpPr>
          <p:nvPr/>
        </p:nvSpPr>
        <p:spPr bwMode="auto">
          <a:xfrm>
            <a:off x="904776" y="79474"/>
            <a:ext cx="7770914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sz="3600" dirty="0"/>
              <a:t>System Components of Agent OS (3) </a:t>
            </a:r>
            <a:endParaRPr lang="en-US" altLang="zh-CN" kern="0" dirty="0"/>
          </a:p>
        </p:txBody>
      </p:sp>
      <p:sp>
        <p:nvSpPr>
          <p:cNvPr id="31" name="灯片编号占位符 30">
            <a:extLst>
              <a:ext uri="{FF2B5EF4-FFF2-40B4-BE49-F238E27FC236}">
                <a16:creationId xmlns:a16="http://schemas.microsoft.com/office/drawing/2014/main" id="{1FE23529-1909-4902-2F21-68D4A4A9E8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28E0CE0-CFE3-0068-AE73-2D2C0BEA45EE}"/>
              </a:ext>
            </a:extLst>
          </p:cNvPr>
          <p:cNvSpPr txBox="1">
            <a:spLocks/>
          </p:cNvSpPr>
          <p:nvPr/>
        </p:nvSpPr>
        <p:spPr>
          <a:xfrm>
            <a:off x="1164657" y="861265"/>
            <a:ext cx="7209322" cy="3537480"/>
          </a:xfrm>
          <a:prstGeom prst="rect">
            <a:avLst/>
          </a:prstGeom>
        </p:spPr>
        <p:txBody>
          <a:bodyPr>
            <a:noAutofit/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/>
              <a:t>Agent </a:t>
            </a:r>
          </a:p>
          <a:p>
            <a:pPr marL="895340" lvl="2" indent="-4572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</a:pPr>
            <a:r>
              <a:rPr lang="en-US" altLang="zh-CN" sz="2200" spc="-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</a:t>
            </a:r>
            <a:r>
              <a:rPr lang="en-US" altLang="zh-CN" sz="2200" spc="-9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56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</a:t>
            </a:r>
            <a:r>
              <a:rPr lang="en-US" altLang="zh-CN" sz="2200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spc="75" dirty="0"/>
              <a:t>Agent Package</a:t>
            </a:r>
            <a:r>
              <a:rPr lang="en-US" altLang="zh-CN" sz="2200" dirty="0"/>
              <a:t> </a:t>
            </a:r>
          </a:p>
          <a:p>
            <a:pPr marL="895340" lvl="2" indent="-4572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</a:pPr>
            <a:r>
              <a:rPr lang="en-US" altLang="zh-CN" sz="2200" spc="-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en-US" altLang="zh-CN" sz="2200" spc="-8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altLang="zh-CN" sz="2200" spc="-1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migration</a:t>
            </a:r>
            <a:r>
              <a:rPr lang="en-US" altLang="zh-CN" sz="2200" spc="-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altLang="zh-CN" sz="2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zh-CN" sz="2200" spc="-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5340" lvl="2" indent="-4572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</a:pPr>
            <a:r>
              <a:rPr lang="en-US" altLang="zh-CN" sz="2200" spc="-86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</a:t>
            </a:r>
            <a:r>
              <a:rPr lang="en-US" altLang="zh-CN" sz="2200" spc="-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agents</a:t>
            </a:r>
            <a:r>
              <a:rPr lang="en-US" altLang="zh-CN" sz="2200" spc="-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US" altLang="zh-CN" sz="2200" spc="-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r>
              <a:rPr lang="en-US" altLang="zh-CN" sz="2200" spc="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1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needed</a:t>
            </a:r>
            <a:r>
              <a:rPr lang="en-US" altLang="zh-CN" sz="2200" spc="-4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zh-CN" sz="2200" spc="-1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US" altLang="zh-CN" sz="2200" spc="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spc="-68" dirty="0"/>
              <a:t>Service</a:t>
            </a:r>
            <a:r>
              <a:rPr lang="en-US" altLang="zh-CN" sz="2200" spc="-83" dirty="0"/>
              <a:t> </a:t>
            </a:r>
            <a:r>
              <a:rPr lang="en-US" altLang="zh-CN" sz="2200" spc="-38" dirty="0"/>
              <a:t>Providers</a:t>
            </a:r>
            <a:r>
              <a:rPr lang="en-US" altLang="zh-CN" sz="2200" spc="-41" dirty="0"/>
              <a:t> </a:t>
            </a:r>
            <a:r>
              <a:rPr lang="en-US" altLang="zh-CN" sz="2200" spc="-135" dirty="0"/>
              <a:t>and</a:t>
            </a:r>
            <a:r>
              <a:rPr lang="en-US" altLang="zh-CN" sz="2200" spc="-49" dirty="0"/>
              <a:t> </a:t>
            </a:r>
            <a:r>
              <a:rPr lang="en-US" altLang="zh-CN" sz="2200" spc="-64" dirty="0"/>
              <a:t>Service</a:t>
            </a:r>
            <a:r>
              <a:rPr lang="en-US" altLang="zh-CN" sz="2200" spc="-60" dirty="0"/>
              <a:t> </a:t>
            </a:r>
            <a:r>
              <a:rPr lang="en-US" altLang="zh-CN" sz="2200" spc="-8" dirty="0"/>
              <a:t>Implementers</a:t>
            </a:r>
            <a:r>
              <a:rPr lang="en-US" altLang="zh-CN" sz="2200" dirty="0"/>
              <a:t> </a:t>
            </a:r>
          </a:p>
          <a:p>
            <a:pPr marL="895340" lvl="2" indent="-4572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</a:pPr>
            <a:r>
              <a:rPr lang="en-US" altLang="zh-CN" sz="2200" spc="-4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lang="en-US" altLang="zh-CN" sz="2200" spc="-8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provider</a:t>
            </a:r>
            <a:r>
              <a:rPr lang="en-US" altLang="zh-CN" sz="2200" spc="3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2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altLang="zh-CN" sz="2200" spc="-1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altLang="zh-CN" sz="2200" spc="-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</a:t>
            </a:r>
            <a:r>
              <a:rPr lang="en-US" altLang="zh-CN" sz="2200" spc="-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zh-CN" sz="2200" spc="-1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1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en-US" altLang="zh-CN" sz="2200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4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</a:t>
            </a:r>
          </a:p>
          <a:p>
            <a:pPr marL="895340" lvl="2" indent="-4572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</a:pPr>
            <a:r>
              <a:rPr lang="en-US" altLang="zh-CN" sz="2200" spc="-4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lang="en-US" altLang="zh-CN" sz="2200" spc="-8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68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implementer</a:t>
            </a:r>
            <a:r>
              <a:rPr lang="en-US" altLang="zh-CN" sz="2200" spc="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4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altLang="zh-CN" sz="2200" spc="-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</a:t>
            </a:r>
            <a:r>
              <a:rPr lang="en-US" altLang="zh-CN" sz="2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</a:t>
            </a:r>
            <a:r>
              <a:rPr lang="en-US" altLang="zh-CN" sz="2200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78AE552-ED13-7BF3-204C-C63E45C801AF}"/>
              </a:ext>
            </a:extLst>
          </p:cNvPr>
          <p:cNvSpPr txBox="1"/>
          <p:nvPr/>
        </p:nvSpPr>
        <p:spPr>
          <a:xfrm>
            <a:off x="2276375" y="2375654"/>
            <a:ext cx="4591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5340" lvl="2" indent="-4572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</a:pP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26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BF8D2A0A-15C6-3E08-5E96-ECAE31F073CA}"/>
              </a:ext>
            </a:extLst>
          </p:cNvPr>
          <p:cNvSpPr txBox="1">
            <a:spLocks/>
          </p:cNvSpPr>
          <p:nvPr/>
        </p:nvSpPr>
        <p:spPr bwMode="auto">
          <a:xfrm>
            <a:off x="933650" y="79474"/>
            <a:ext cx="774203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sz="3600" spc="-60" dirty="0"/>
              <a:t>Instance</a:t>
            </a:r>
            <a:r>
              <a:rPr lang="en-US" altLang="zh-CN" sz="3600" spc="-45" dirty="0"/>
              <a:t> </a:t>
            </a:r>
            <a:r>
              <a:rPr lang="en-US" altLang="zh-CN" sz="3600" spc="-41" dirty="0"/>
              <a:t>IDs</a:t>
            </a:r>
            <a:r>
              <a:rPr lang="en-US" altLang="zh-CN" sz="3600" dirty="0"/>
              <a:t>  </a:t>
            </a:r>
            <a:endParaRPr lang="en-US" altLang="zh-CN" kern="0" dirty="0"/>
          </a:p>
        </p:txBody>
      </p:sp>
      <p:sp>
        <p:nvSpPr>
          <p:cNvPr id="31" name="灯片编号占位符 30">
            <a:extLst>
              <a:ext uri="{FF2B5EF4-FFF2-40B4-BE49-F238E27FC236}">
                <a16:creationId xmlns:a16="http://schemas.microsoft.com/office/drawing/2014/main" id="{1FE23529-1909-4902-2F21-68D4A4A9E8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28E0CE0-CFE3-0068-AE73-2D2C0BEA45EE}"/>
              </a:ext>
            </a:extLst>
          </p:cNvPr>
          <p:cNvSpPr txBox="1">
            <a:spLocks/>
          </p:cNvSpPr>
          <p:nvPr/>
        </p:nvSpPr>
        <p:spPr>
          <a:xfrm>
            <a:off x="1164657" y="861265"/>
            <a:ext cx="7511032" cy="3537480"/>
          </a:xfrm>
          <a:prstGeom prst="rect">
            <a:avLst/>
          </a:prstGeom>
        </p:spPr>
        <p:txBody>
          <a:bodyPr>
            <a:noAutofit/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400" dirty="0" err="1"/>
              <a:t>AgentOS</a:t>
            </a:r>
            <a:r>
              <a:rPr lang="en-US" altLang="zh-CN" sz="2400" dirty="0"/>
              <a:t> ID</a:t>
            </a:r>
          </a:p>
          <a:p>
            <a:pPr marL="895340" lvl="2" indent="-4572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ID</a:t>
            </a:r>
          </a:p>
          <a:p>
            <a:pPr marL="895340" lvl="2" indent="-4572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 of n/w address, time stamp and a sequential Counter</a:t>
            </a:r>
          </a:p>
          <a:p>
            <a:pPr marL="895340" lvl="2" indent="-4572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Guarantees uniqueness to static objects</a:t>
            </a:r>
          </a:p>
          <a:p>
            <a:pPr marL="9525">
              <a:spcBef>
                <a:spcPts val="105"/>
              </a:spcBef>
            </a:pPr>
            <a:r>
              <a:rPr lang="en-US" altLang="zh-CN" sz="2400" dirty="0"/>
              <a:t>Agent Instance ID</a:t>
            </a:r>
          </a:p>
          <a:p>
            <a:pPr marL="895340" lvl="2" indent="-4572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Guarantees uniqueness to static &amp; active objects</a:t>
            </a:r>
          </a:p>
          <a:p>
            <a:pPr marL="895340" lvl="2" indent="-4572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 of n/w address and time of creation</a:t>
            </a:r>
          </a:p>
        </p:txBody>
      </p:sp>
    </p:spTree>
    <p:extLst>
      <p:ext uri="{BB962C8B-B14F-4D97-AF65-F5344CB8AC3E}">
        <p14:creationId xmlns:p14="http://schemas.microsoft.com/office/powerpoint/2010/main" val="1026310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BF8D2A0A-15C6-3E08-5E96-ECAE31F073CA}"/>
              </a:ext>
            </a:extLst>
          </p:cNvPr>
          <p:cNvSpPr txBox="1">
            <a:spLocks/>
          </p:cNvSpPr>
          <p:nvPr/>
        </p:nvSpPr>
        <p:spPr bwMode="auto">
          <a:xfrm>
            <a:off x="933650" y="79474"/>
            <a:ext cx="774203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sz="3600" spc="-60" dirty="0"/>
              <a:t>Instance</a:t>
            </a:r>
            <a:r>
              <a:rPr lang="en-US" altLang="zh-CN" sz="3600" spc="-45" dirty="0"/>
              <a:t> </a:t>
            </a:r>
            <a:r>
              <a:rPr lang="en-US" altLang="zh-CN" sz="3600" spc="-41" dirty="0"/>
              <a:t>IDs</a:t>
            </a:r>
            <a:r>
              <a:rPr lang="en-US" altLang="zh-CN" sz="3600" dirty="0"/>
              <a:t>  </a:t>
            </a:r>
            <a:endParaRPr lang="en-US" altLang="zh-CN" kern="0" dirty="0"/>
          </a:p>
        </p:txBody>
      </p:sp>
      <p:sp>
        <p:nvSpPr>
          <p:cNvPr id="31" name="灯片编号占位符 30">
            <a:extLst>
              <a:ext uri="{FF2B5EF4-FFF2-40B4-BE49-F238E27FC236}">
                <a16:creationId xmlns:a16="http://schemas.microsoft.com/office/drawing/2014/main" id="{1FE23529-1909-4902-2F21-68D4A4A9E8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28E0CE0-CFE3-0068-AE73-2D2C0BEA45EE}"/>
              </a:ext>
            </a:extLst>
          </p:cNvPr>
          <p:cNvSpPr txBox="1">
            <a:spLocks/>
          </p:cNvSpPr>
          <p:nvPr/>
        </p:nvSpPr>
        <p:spPr>
          <a:xfrm>
            <a:off x="1164657" y="861265"/>
            <a:ext cx="6843562" cy="3537480"/>
          </a:xfrm>
          <a:prstGeom prst="rect">
            <a:avLst/>
          </a:prstGeom>
        </p:spPr>
        <p:txBody>
          <a:bodyPr>
            <a:noAutofit/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400" dirty="0" err="1"/>
              <a:t>AgentOS</a:t>
            </a:r>
            <a:r>
              <a:rPr lang="en-US" altLang="zh-CN" sz="2400" dirty="0"/>
              <a:t> ID</a:t>
            </a:r>
          </a:p>
          <a:p>
            <a:pPr marL="895340" lvl="2" indent="-4572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ID</a:t>
            </a:r>
          </a:p>
          <a:p>
            <a:pPr marL="895340" lvl="2" indent="-4572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 of n/w address, time stamp and a sequential Counter</a:t>
            </a:r>
          </a:p>
          <a:p>
            <a:pPr marL="895340" lvl="2" indent="-4572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Guarantees uniqueness to static objects</a:t>
            </a:r>
          </a:p>
          <a:p>
            <a:pPr marL="9525">
              <a:spcBef>
                <a:spcPts val="105"/>
              </a:spcBef>
            </a:pPr>
            <a:r>
              <a:rPr lang="en-US" altLang="zh-CN" sz="2400" dirty="0"/>
              <a:t>Agent Instance ID</a:t>
            </a:r>
          </a:p>
          <a:p>
            <a:pPr marL="895340" lvl="2" indent="-4572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Guarantees uniqueness to static &amp; active objects</a:t>
            </a:r>
          </a:p>
          <a:p>
            <a:pPr marL="895340" lvl="2" indent="-4572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 of n/w address and time of creation</a:t>
            </a:r>
          </a:p>
        </p:txBody>
      </p:sp>
    </p:spTree>
    <p:extLst>
      <p:ext uri="{BB962C8B-B14F-4D97-AF65-F5344CB8AC3E}">
        <p14:creationId xmlns:p14="http://schemas.microsoft.com/office/powerpoint/2010/main" val="9272599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BF8D2A0A-15C6-3E08-5E96-ECAE31F073CA}"/>
              </a:ext>
            </a:extLst>
          </p:cNvPr>
          <p:cNvSpPr txBox="1">
            <a:spLocks/>
          </p:cNvSpPr>
          <p:nvPr/>
        </p:nvSpPr>
        <p:spPr bwMode="auto">
          <a:xfrm>
            <a:off x="962526" y="79474"/>
            <a:ext cx="77131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sz="3600" spc="-60" dirty="0"/>
              <a:t>Advantages</a:t>
            </a:r>
            <a:endParaRPr lang="en-US" altLang="zh-CN" kern="0" dirty="0"/>
          </a:p>
        </p:txBody>
      </p:sp>
      <p:sp>
        <p:nvSpPr>
          <p:cNvPr id="31" name="灯片编号占位符 30">
            <a:extLst>
              <a:ext uri="{FF2B5EF4-FFF2-40B4-BE49-F238E27FC236}">
                <a16:creationId xmlns:a16="http://schemas.microsoft.com/office/drawing/2014/main" id="{1FE23529-1909-4902-2F21-68D4A4A9E8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28E0CE0-CFE3-0068-AE73-2D2C0BEA45EE}"/>
              </a:ext>
            </a:extLst>
          </p:cNvPr>
          <p:cNvSpPr txBox="1">
            <a:spLocks/>
          </p:cNvSpPr>
          <p:nvPr/>
        </p:nvSpPr>
        <p:spPr>
          <a:xfrm>
            <a:off x="1164657" y="861265"/>
            <a:ext cx="6843562" cy="2401699"/>
          </a:xfrm>
          <a:prstGeom prst="rect">
            <a:avLst/>
          </a:prstGeom>
        </p:spPr>
        <p:txBody>
          <a:bodyPr>
            <a:noAutofit/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/>
              <a:t>Load balancing &amp; Fault tolerance</a:t>
            </a:r>
          </a:p>
          <a:p>
            <a:pPr marL="9525"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/>
              <a:t>Disconnected operation</a:t>
            </a:r>
          </a:p>
          <a:p>
            <a:pPr marL="9525"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/>
              <a:t>Reduced Inter-node communication</a:t>
            </a:r>
          </a:p>
          <a:p>
            <a:pPr marL="9525"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/>
              <a:t> Event based communication Secure transaction</a:t>
            </a:r>
          </a:p>
        </p:txBody>
      </p:sp>
    </p:spTree>
    <p:extLst>
      <p:ext uri="{BB962C8B-B14F-4D97-AF65-F5344CB8AC3E}">
        <p14:creationId xmlns:p14="http://schemas.microsoft.com/office/powerpoint/2010/main" val="8615929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BF8D2A0A-15C6-3E08-5E96-ECAE31F073CA}"/>
              </a:ext>
            </a:extLst>
          </p:cNvPr>
          <p:cNvSpPr txBox="1">
            <a:spLocks/>
          </p:cNvSpPr>
          <p:nvPr/>
        </p:nvSpPr>
        <p:spPr bwMode="auto">
          <a:xfrm>
            <a:off x="962526" y="79474"/>
            <a:ext cx="77131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sz="3600" spc="-60" dirty="0"/>
              <a:t>Conclusions</a:t>
            </a:r>
            <a:endParaRPr lang="en-US" altLang="zh-CN" kern="0" dirty="0"/>
          </a:p>
        </p:txBody>
      </p:sp>
      <p:sp>
        <p:nvSpPr>
          <p:cNvPr id="31" name="灯片编号占位符 30">
            <a:extLst>
              <a:ext uri="{FF2B5EF4-FFF2-40B4-BE49-F238E27FC236}">
                <a16:creationId xmlns:a16="http://schemas.microsoft.com/office/drawing/2014/main" id="{1FE23529-1909-4902-2F21-68D4A4A9E8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28E0CE0-CFE3-0068-AE73-2D2C0BEA45EE}"/>
              </a:ext>
            </a:extLst>
          </p:cNvPr>
          <p:cNvSpPr txBox="1">
            <a:spLocks/>
          </p:cNvSpPr>
          <p:nvPr/>
        </p:nvSpPr>
        <p:spPr>
          <a:xfrm>
            <a:off x="1029903" y="919018"/>
            <a:ext cx="7511032" cy="2940714"/>
          </a:xfrm>
          <a:prstGeom prst="rect">
            <a:avLst/>
          </a:prstGeom>
        </p:spPr>
        <p:txBody>
          <a:bodyPr>
            <a:noAutofit/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55588" indent="-255588"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 err="1"/>
              <a:t>AgentOS</a:t>
            </a:r>
            <a:r>
              <a:rPr lang="en-US" altLang="zh-CN" sz="2400" dirty="0"/>
              <a:t> is an OS “of agents, for agents, and by agents”</a:t>
            </a:r>
          </a:p>
          <a:p>
            <a:pPr marL="246063" indent="-246063"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/>
              <a:t>System functions are carried out by agents, hence an OS of agent</a:t>
            </a:r>
          </a:p>
          <a:p>
            <a:pPr marL="246063" indent="-246063"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/>
              <a:t>Agent OS manages the </a:t>
            </a:r>
            <a:r>
              <a:rPr lang="en-US" altLang="zh-CN" sz="2400" dirty="0" err="1"/>
              <a:t>agents,hence</a:t>
            </a:r>
            <a:r>
              <a:rPr lang="en-US" altLang="zh-CN" sz="2400" dirty="0"/>
              <a:t> OS for agents</a:t>
            </a:r>
          </a:p>
          <a:p>
            <a:pPr marL="246063" indent="-246063"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/>
              <a:t>For agent communication underlying protocol is partially generated by agents</a:t>
            </a:r>
          </a:p>
        </p:txBody>
      </p:sp>
    </p:spTree>
    <p:extLst>
      <p:ext uri="{BB962C8B-B14F-4D97-AF65-F5344CB8AC3E}">
        <p14:creationId xmlns:p14="http://schemas.microsoft.com/office/powerpoint/2010/main" val="2023670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29639" y="2104315"/>
            <a:ext cx="3484721" cy="934871"/>
          </a:xfrm>
          <a:prstGeom prst="rect">
            <a:avLst/>
          </a:prstGeom>
        </p:spPr>
        <p:txBody>
          <a:bodyPr vert="horz" wrap="square" lIns="0" tIns="114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 algn="ctr">
              <a:spcBef>
                <a:spcPts val="90"/>
              </a:spcBef>
            </a:pPr>
            <a:r>
              <a:rPr lang="en-US" sz="6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&amp; A</a:t>
            </a:r>
            <a:endParaRPr sz="6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702E90C-422E-1C30-8347-91B99D6423A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>
                <a:solidFill>
                  <a:schemeClr val="bg1"/>
                </a:solidFill>
              </a:rPr>
              <a:t>20</a:t>
            </a:fld>
            <a:endParaRPr lang="en-US" altLang="zh-C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2769</TotalTime>
  <Words>601</Words>
  <Application>Microsoft Office PowerPoint</Application>
  <PresentationFormat>全屏显示(16:9)</PresentationFormat>
  <Paragraphs>137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MS Sans Serif</vt:lpstr>
      <vt:lpstr>Arial</vt:lpstr>
      <vt:lpstr>Bookman Old Style</vt:lpstr>
      <vt:lpstr>Calibri</vt:lpstr>
      <vt:lpstr>Symbol</vt:lpstr>
      <vt:lpstr>Times New Roman</vt:lpstr>
      <vt:lpstr>Wingdings</vt:lpstr>
      <vt:lpstr>NTHU UniCloud</vt:lpstr>
      <vt:lpstr>CSC6032 – Advanced Operating Systems Agent OS</vt:lpstr>
      <vt:lpstr>Agenda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</cp:lastModifiedBy>
  <cp:revision>298</cp:revision>
  <dcterms:created xsi:type="dcterms:W3CDTF">2015-06-05T07:23:35Z</dcterms:created>
  <dcterms:modified xsi:type="dcterms:W3CDTF">2026-09-28T07:49:38Z</dcterms:modified>
</cp:coreProperties>
</file>