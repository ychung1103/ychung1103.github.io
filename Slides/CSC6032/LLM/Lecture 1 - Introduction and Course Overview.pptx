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988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25425" y="125162"/>
            <a:ext cx="4111625" cy="382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rgbClr val="59595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rgbClr val="59595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07325" y="2089978"/>
            <a:ext cx="2627375" cy="2939396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3450" y="178820"/>
            <a:ext cx="8281799" cy="129807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2400" y="762000"/>
            <a:ext cx="8839199" cy="5161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5425" y="125162"/>
            <a:ext cx="7860030" cy="382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4725" y="1025741"/>
            <a:ext cx="8034020" cy="35706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rgbClr val="59595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93/mind/LIX.236.433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eb.njit.edu/~ronkowit/eliza.html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hyperlink" Target="https://arxiv.org/abs/2310.20216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pnas.org/doi/10.1073/pnas.2313925121" TargetMode="External"/><Relationship Id="rId4" Type="http://schemas.openxmlformats.org/officeDocument/2006/relationships/image" Target="../media/image7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05.20010" TargetMode="External"/><Relationship Id="rId2" Type="http://schemas.openxmlformats.org/officeDocument/2006/relationships/hyperlink" Target="https://www.humanornot.ai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l.acm.org/doi/10.5555/972470.972475" TargetMode="Externa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jalammar.github.io/illustrated-transformer/" TargetMode="External"/><Relationship Id="rId4" Type="http://schemas.openxmlformats.org/officeDocument/2006/relationships/hyperlink" Target="https://arxiv.org/abs/1706.03762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03.18223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407.05694v1" TargetMode="External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rxiv.org/pdf/2105.13120" TargetMode="External"/><Relationship Id="rId4" Type="http://schemas.openxmlformats.org/officeDocument/2006/relationships/hyperlink" Target="https://www.anyscale.com/blog/what-is-distributed-training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203.15556" TargetMode="External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jpg"/><Relationship Id="rId5" Type="http://schemas.openxmlformats.org/officeDocument/2006/relationships/image" Target="../media/image25.jp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06.05685" TargetMode="External"/><Relationship Id="rId2" Type="http://schemas.openxmlformats.org/officeDocument/2006/relationships/hyperlink" Target="https://lmarena.ai/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03.18223" TargetMode="External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2005.14165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2201.11903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abs/2206.07682" TargetMode="Externa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openai.com/customer-stories/harvey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106.09685" TargetMode="External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jp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tiktokenizer.vercel.app/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10.08419" TargetMode="External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07.03172" TargetMode="External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hyperlink" Target="https://about.fb.com/news/2024/07/open-source-ai-is-the-path-forward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lmarena.ai/" TargetMode="External"/><Relationship Id="rId4" Type="http://schemas.openxmlformats.org/officeDocument/2006/relationships/image" Target="../media/image43.jp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nature.com/articles/s41586-024-07566-y" TargetMode="Externa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rxiv.org/abs/2305.14314" TargetMode="External"/><Relationship Id="rId4" Type="http://schemas.openxmlformats.org/officeDocument/2006/relationships/image" Target="../media/image48.jp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transformer-circuits.pub/2023/monosemantic-features/index.html" TargetMode="External"/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05.16291" TargetMode="External"/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jpg"/><Relationship Id="rId4" Type="http://schemas.openxmlformats.org/officeDocument/2006/relationships/hyperlink" Target="https://arxiv.org/abs/2401.02117" TargetMode="Externa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12.14125" TargetMode="External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g"/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hyperlink" Target="https://ojs.aaai.org/index.php/AAAI/article/view/28934" TargetMode="Externa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g"/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ojs.aaai.org/index.php/AAAI/article/view/28934" TargetMode="Externa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hyperlink" Target="https://llm-class.github.io/" TargetMode="Externa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hyperlink" Target="https://llm-class.github.io/homeworks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149964" y="1609307"/>
            <a:ext cx="245872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solidFill>
                  <a:srgbClr val="595959"/>
                </a:solidFill>
                <a:latin typeface="Roboto"/>
                <a:cs typeface="Roboto"/>
              </a:rPr>
              <a:t>CIS</a:t>
            </a:r>
            <a:r>
              <a:rPr sz="2100" b="1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2100" b="1" dirty="0">
                <a:solidFill>
                  <a:srgbClr val="595959"/>
                </a:solidFill>
                <a:latin typeface="Roboto"/>
                <a:cs typeface="Roboto"/>
              </a:rPr>
              <a:t>7000</a:t>
            </a:r>
            <a:r>
              <a:rPr sz="2100" b="1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2100" b="1" dirty="0">
                <a:solidFill>
                  <a:srgbClr val="595959"/>
                </a:solidFill>
                <a:latin typeface="Roboto"/>
                <a:cs typeface="Roboto"/>
              </a:rPr>
              <a:t>-</a:t>
            </a:r>
            <a:r>
              <a:rPr sz="2100" b="1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2100" b="1" dirty="0">
                <a:solidFill>
                  <a:srgbClr val="595959"/>
                </a:solidFill>
                <a:latin typeface="Roboto"/>
                <a:cs typeface="Roboto"/>
              </a:rPr>
              <a:t>Fall</a:t>
            </a:r>
            <a:r>
              <a:rPr sz="2100" b="1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2100" b="1" spc="-20" dirty="0">
                <a:solidFill>
                  <a:srgbClr val="595959"/>
                </a:solidFill>
                <a:latin typeface="Roboto"/>
                <a:cs typeface="Roboto"/>
              </a:rPr>
              <a:t>2024</a:t>
            </a:r>
            <a:endParaRPr sz="21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1125" y="2385698"/>
            <a:ext cx="271907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10" dirty="0">
                <a:solidFill>
                  <a:srgbClr val="434343"/>
                </a:solidFill>
                <a:latin typeface="Calibri"/>
                <a:cs typeface="Calibri"/>
              </a:rPr>
              <a:t>Introduction</a:t>
            </a:r>
            <a:endParaRPr sz="4200">
              <a:latin typeface="Calibri"/>
              <a:cs typeface="Calibr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471125" y="3624183"/>
            <a:ext cx="29521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595959"/>
                </a:solidFill>
                <a:latin typeface="Roboto"/>
                <a:cs typeface="Roboto"/>
              </a:rPr>
              <a:t>Professor</a:t>
            </a:r>
            <a:r>
              <a:rPr sz="2400" spc="-8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2400" dirty="0">
                <a:solidFill>
                  <a:srgbClr val="595959"/>
                </a:solidFill>
                <a:latin typeface="Roboto"/>
                <a:cs typeface="Roboto"/>
              </a:rPr>
              <a:t>Mayur</a:t>
            </a:r>
            <a:r>
              <a:rPr sz="2400" spc="-7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2400" spc="-20" dirty="0">
                <a:solidFill>
                  <a:srgbClr val="595959"/>
                </a:solidFill>
                <a:latin typeface="Roboto"/>
                <a:cs typeface="Roboto"/>
              </a:rPr>
              <a:t>Naik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5450" y="4492188"/>
            <a:ext cx="63055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Slides</a:t>
            </a:r>
            <a:r>
              <a:rPr sz="14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adapted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part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from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Stanford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CS25:</a:t>
            </a:r>
            <a:r>
              <a:rPr sz="14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Transformers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United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V4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(Spring’24).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10" dirty="0"/>
              <a:t>Today’s</a:t>
            </a:r>
            <a:r>
              <a:rPr spc="-110" dirty="0"/>
              <a:t> </a:t>
            </a:r>
            <a:r>
              <a:rPr spc="-10" dirty="0"/>
              <a:t>Agenda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459967" y="1443940"/>
            <a:ext cx="7652384" cy="254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4335" indent="-381635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94335" algn="l"/>
              </a:tabLst>
            </a:pPr>
            <a:r>
              <a:rPr sz="2000" dirty="0">
                <a:solidFill>
                  <a:srgbClr val="595959"/>
                </a:solidFill>
                <a:latin typeface="Roboto"/>
                <a:cs typeface="Roboto"/>
              </a:rPr>
              <a:t>The</a:t>
            </a:r>
            <a:r>
              <a:rPr sz="2000" spc="-9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boto"/>
                <a:cs typeface="Roboto"/>
              </a:rPr>
              <a:t>Turing</a:t>
            </a:r>
            <a:r>
              <a:rPr sz="2000" spc="-7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2000" spc="-20" dirty="0">
                <a:solidFill>
                  <a:srgbClr val="595959"/>
                </a:solidFill>
                <a:latin typeface="Roboto"/>
                <a:cs typeface="Roboto"/>
              </a:rPr>
              <a:t>Test</a:t>
            </a:r>
            <a:endParaRPr sz="2000">
              <a:latin typeface="Roboto"/>
              <a:cs typeface="Roboto"/>
            </a:endParaRPr>
          </a:p>
          <a:p>
            <a:pPr marL="394335" indent="-381635">
              <a:lnSpc>
                <a:spcPct val="100000"/>
              </a:lnSpc>
              <a:spcBef>
                <a:spcPts val="2200"/>
              </a:spcBef>
              <a:buFont typeface="Arial"/>
              <a:buChar char="●"/>
              <a:tabLst>
                <a:tab pos="394335" algn="l"/>
              </a:tabLst>
            </a:pPr>
            <a:r>
              <a:rPr sz="2000" dirty="0">
                <a:solidFill>
                  <a:srgbClr val="595959"/>
                </a:solidFill>
                <a:latin typeface="Roboto"/>
                <a:cs typeface="Roboto"/>
              </a:rPr>
              <a:t>Overview</a:t>
            </a:r>
            <a:r>
              <a:rPr sz="2000" spc="-7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595959"/>
                </a:solidFill>
                <a:latin typeface="Roboto"/>
                <a:cs typeface="Roboto"/>
              </a:rPr>
              <a:t>of</a:t>
            </a:r>
            <a:r>
              <a:rPr sz="2000" spc="-7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2000" spc="-20" dirty="0">
                <a:solidFill>
                  <a:srgbClr val="595959"/>
                </a:solidFill>
                <a:latin typeface="Roboto"/>
                <a:cs typeface="Roboto"/>
              </a:rPr>
              <a:t>LLMs</a:t>
            </a:r>
            <a:endParaRPr sz="2000">
              <a:latin typeface="Roboto"/>
              <a:cs typeface="Roboto"/>
            </a:endParaRPr>
          </a:p>
          <a:p>
            <a:pPr marL="851535" marR="5080" lvl="1" indent="-382270">
              <a:lnSpc>
                <a:spcPct val="150000"/>
              </a:lnSpc>
              <a:spcBef>
                <a:spcPts val="1000"/>
              </a:spcBef>
              <a:buFont typeface="Arial"/>
              <a:buChar char="○"/>
              <a:tabLst>
                <a:tab pos="851535" algn="l"/>
              </a:tabLst>
            </a:pPr>
            <a:r>
              <a:rPr sz="2000" dirty="0">
                <a:solidFill>
                  <a:srgbClr val="595959"/>
                </a:solidFill>
                <a:latin typeface="Roboto"/>
                <a:cs typeface="Roboto"/>
              </a:rPr>
              <a:t>How</a:t>
            </a:r>
            <a:r>
              <a:rPr sz="20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595959"/>
                </a:solidFill>
                <a:latin typeface="Roboto"/>
                <a:cs typeface="Roboto"/>
              </a:rPr>
              <a:t>do</a:t>
            </a:r>
            <a:r>
              <a:rPr sz="20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595959"/>
                </a:solidFill>
                <a:latin typeface="Roboto"/>
                <a:cs typeface="Roboto"/>
              </a:rPr>
              <a:t>LLMs</a:t>
            </a:r>
            <a:r>
              <a:rPr sz="20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595959"/>
                </a:solidFill>
                <a:latin typeface="Roboto"/>
                <a:cs typeface="Roboto"/>
              </a:rPr>
              <a:t>work,</a:t>
            </a:r>
            <a:r>
              <a:rPr sz="20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595959"/>
                </a:solidFill>
                <a:latin typeface="Roboto"/>
                <a:cs typeface="Roboto"/>
              </a:rPr>
              <a:t>What</a:t>
            </a:r>
            <a:r>
              <a:rPr sz="20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595959"/>
                </a:solidFill>
                <a:latin typeface="Roboto"/>
                <a:cs typeface="Roboto"/>
              </a:rPr>
              <a:t>LLMs</a:t>
            </a:r>
            <a:r>
              <a:rPr sz="20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20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595959"/>
                </a:solidFill>
                <a:latin typeface="Roboto"/>
                <a:cs typeface="Roboto"/>
              </a:rPr>
              <a:t>do,</a:t>
            </a:r>
            <a:r>
              <a:rPr sz="20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595959"/>
                </a:solidFill>
                <a:latin typeface="Roboto"/>
                <a:cs typeface="Roboto"/>
              </a:rPr>
              <a:t>Limitations</a:t>
            </a:r>
            <a:r>
              <a:rPr sz="20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595959"/>
                </a:solidFill>
                <a:latin typeface="Roboto"/>
                <a:cs typeface="Roboto"/>
              </a:rPr>
              <a:t>of</a:t>
            </a:r>
            <a:r>
              <a:rPr sz="20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boto"/>
                <a:cs typeface="Roboto"/>
              </a:rPr>
              <a:t>LLMs, </a:t>
            </a:r>
            <a:r>
              <a:rPr sz="2000" dirty="0">
                <a:solidFill>
                  <a:srgbClr val="595959"/>
                </a:solidFill>
                <a:latin typeface="Roboto"/>
                <a:cs typeface="Roboto"/>
              </a:rPr>
              <a:t>What</a:t>
            </a:r>
            <a:r>
              <a:rPr sz="20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595959"/>
                </a:solidFill>
                <a:latin typeface="Roboto"/>
                <a:cs typeface="Roboto"/>
              </a:rPr>
              <a:t>is</a:t>
            </a:r>
            <a:r>
              <a:rPr sz="2000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595959"/>
                </a:solidFill>
                <a:latin typeface="Roboto"/>
                <a:cs typeface="Roboto"/>
              </a:rPr>
              <a:t>the</a:t>
            </a:r>
            <a:r>
              <a:rPr sz="2000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boto"/>
                <a:cs typeface="Roboto"/>
              </a:rPr>
              <a:t>future</a:t>
            </a:r>
            <a:endParaRPr sz="2000">
              <a:latin typeface="Roboto"/>
              <a:cs typeface="Roboto"/>
            </a:endParaRPr>
          </a:p>
          <a:p>
            <a:pPr marL="394335" indent="-381635">
              <a:lnSpc>
                <a:spcPct val="100000"/>
              </a:lnSpc>
              <a:spcBef>
                <a:spcPts val="2200"/>
              </a:spcBef>
              <a:buFont typeface="Arial"/>
              <a:buChar char="●"/>
              <a:tabLst>
                <a:tab pos="394335" algn="l"/>
              </a:tabLst>
            </a:pPr>
            <a:r>
              <a:rPr sz="2000" dirty="0">
                <a:solidFill>
                  <a:srgbClr val="595959"/>
                </a:solidFill>
                <a:latin typeface="Roboto"/>
                <a:cs typeface="Roboto"/>
              </a:rPr>
              <a:t>Course</a:t>
            </a:r>
            <a:r>
              <a:rPr sz="20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boto"/>
                <a:cs typeface="Roboto"/>
              </a:rPr>
              <a:t>Logistics</a:t>
            </a:r>
            <a:endParaRPr sz="20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The</a:t>
            </a:r>
            <a:r>
              <a:rPr spc="25" dirty="0"/>
              <a:t> </a:t>
            </a:r>
            <a:r>
              <a:rPr dirty="0"/>
              <a:t>Imitation</a:t>
            </a:r>
            <a:r>
              <a:rPr spc="30" dirty="0"/>
              <a:t> </a:t>
            </a:r>
            <a:r>
              <a:rPr dirty="0"/>
              <a:t>Game</a:t>
            </a:r>
            <a:r>
              <a:rPr spc="25" dirty="0"/>
              <a:t> </a:t>
            </a:r>
            <a:r>
              <a:rPr dirty="0"/>
              <a:t>(aka</a:t>
            </a:r>
            <a:r>
              <a:rPr spc="-2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Turing</a:t>
            </a:r>
            <a:r>
              <a:rPr spc="-15" dirty="0"/>
              <a:t> </a:t>
            </a:r>
            <a:r>
              <a:rPr spc="-10" dirty="0"/>
              <a:t>Test)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96225" y="1093565"/>
            <a:ext cx="4719955" cy="2286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27635">
              <a:lnSpc>
                <a:spcPct val="114999"/>
              </a:lnSpc>
              <a:spcBef>
                <a:spcPts val="100"/>
              </a:spcBef>
            </a:pP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Proposed</a:t>
            </a:r>
            <a:r>
              <a:rPr sz="15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in</a:t>
            </a:r>
            <a:r>
              <a:rPr sz="15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1950</a:t>
            </a:r>
            <a:r>
              <a:rPr sz="15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by</a:t>
            </a:r>
            <a:r>
              <a:rPr sz="15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Alan</a:t>
            </a:r>
            <a:r>
              <a:rPr sz="15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M.</a:t>
            </a:r>
            <a:r>
              <a:rPr sz="15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595959"/>
                </a:solidFill>
                <a:latin typeface="Roboto"/>
                <a:cs typeface="Roboto"/>
              </a:rPr>
              <a:t>Turing</a:t>
            </a:r>
            <a:r>
              <a:rPr sz="15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who</a:t>
            </a:r>
            <a:r>
              <a:rPr sz="15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is</a:t>
            </a:r>
            <a:r>
              <a:rPr sz="15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595959"/>
                </a:solidFill>
                <a:latin typeface="Roboto"/>
                <a:cs typeface="Roboto"/>
              </a:rPr>
              <a:t>considered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the</a:t>
            </a:r>
            <a:r>
              <a:rPr sz="15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father</a:t>
            </a:r>
            <a:r>
              <a:rPr sz="15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of</a:t>
            </a:r>
            <a:r>
              <a:rPr sz="15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595959"/>
                </a:solidFill>
                <a:latin typeface="Roboto"/>
                <a:cs typeface="Roboto"/>
              </a:rPr>
              <a:t>theoretical</a:t>
            </a:r>
            <a:r>
              <a:rPr sz="15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computer</a:t>
            </a:r>
            <a:r>
              <a:rPr sz="15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595959"/>
                </a:solidFill>
                <a:latin typeface="Roboto"/>
                <a:cs typeface="Roboto"/>
              </a:rPr>
              <a:t>science.</a:t>
            </a:r>
            <a:endParaRPr sz="1500">
              <a:latin typeface="Roboto"/>
              <a:cs typeface="Roboto"/>
            </a:endParaRPr>
          </a:p>
          <a:p>
            <a:pPr marL="12700" marR="5080">
              <a:lnSpc>
                <a:spcPct val="114999"/>
              </a:lnSpc>
              <a:spcBef>
                <a:spcPts val="1655"/>
              </a:spcBef>
            </a:pPr>
            <a:r>
              <a:rPr sz="1500" spc="-10" dirty="0">
                <a:solidFill>
                  <a:srgbClr val="595959"/>
                </a:solidFill>
                <a:latin typeface="Roboto"/>
                <a:cs typeface="Roboto"/>
              </a:rPr>
              <a:t>Tests</a:t>
            </a:r>
            <a:r>
              <a:rPr sz="15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a</a:t>
            </a:r>
            <a:r>
              <a:rPr sz="15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595959"/>
                </a:solidFill>
                <a:latin typeface="Roboto"/>
                <a:cs typeface="Roboto"/>
              </a:rPr>
              <a:t>machine's</a:t>
            </a:r>
            <a:r>
              <a:rPr sz="15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ability</a:t>
            </a:r>
            <a:r>
              <a:rPr sz="15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to</a:t>
            </a:r>
            <a:r>
              <a:rPr sz="15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exhibit</a:t>
            </a:r>
            <a:r>
              <a:rPr sz="15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intelligent</a:t>
            </a:r>
            <a:r>
              <a:rPr sz="15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595959"/>
                </a:solidFill>
                <a:latin typeface="Roboto"/>
                <a:cs typeface="Roboto"/>
              </a:rPr>
              <a:t>behaviour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equivalent</a:t>
            </a:r>
            <a:r>
              <a:rPr sz="15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to,</a:t>
            </a:r>
            <a:r>
              <a:rPr sz="15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or</a:t>
            </a:r>
            <a:r>
              <a:rPr sz="15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indistinguishable</a:t>
            </a:r>
            <a:r>
              <a:rPr sz="15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from,</a:t>
            </a:r>
            <a:r>
              <a:rPr sz="15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that</a:t>
            </a:r>
            <a:r>
              <a:rPr sz="15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of</a:t>
            </a:r>
            <a:r>
              <a:rPr sz="15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a</a:t>
            </a:r>
            <a:r>
              <a:rPr sz="15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595959"/>
                </a:solidFill>
                <a:latin typeface="Roboto"/>
                <a:cs typeface="Roboto"/>
              </a:rPr>
              <a:t>human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–</a:t>
            </a:r>
            <a:r>
              <a:rPr sz="1500" spc="-1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via</a:t>
            </a:r>
            <a:r>
              <a:rPr sz="1500" spc="-1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595959"/>
                </a:solidFill>
                <a:latin typeface="Roboto"/>
                <a:cs typeface="Roboto"/>
              </a:rPr>
              <a:t>language.</a:t>
            </a:r>
            <a:endParaRPr sz="1500">
              <a:latin typeface="Roboto"/>
              <a:cs typeface="Roboto"/>
            </a:endParaRPr>
          </a:p>
          <a:p>
            <a:pPr marL="12700" marR="473075">
              <a:lnSpc>
                <a:spcPct val="114999"/>
              </a:lnSpc>
              <a:spcBef>
                <a:spcPts val="1655"/>
              </a:spcBef>
            </a:pPr>
            <a:r>
              <a:rPr sz="1500" u="heavy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Roboto"/>
                <a:cs typeface="Roboto"/>
              </a:rPr>
              <a:t>Language</a:t>
            </a:r>
            <a:r>
              <a:rPr sz="1500" u="heavy" spc="-4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Roboto"/>
                <a:cs typeface="Roboto"/>
              </a:rPr>
              <a:t> </a:t>
            </a:r>
            <a:r>
              <a:rPr sz="1500" u="heavy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Roboto"/>
                <a:cs typeface="Roboto"/>
              </a:rPr>
              <a:t>modeling</a:t>
            </a:r>
            <a:r>
              <a:rPr sz="1500" u="none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u="none" dirty="0">
                <a:solidFill>
                  <a:srgbClr val="595959"/>
                </a:solidFill>
                <a:latin typeface="Roboto"/>
                <a:cs typeface="Roboto"/>
              </a:rPr>
              <a:t>has</a:t>
            </a:r>
            <a:r>
              <a:rPr sz="1500" u="none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u="none" dirty="0">
                <a:solidFill>
                  <a:srgbClr val="595959"/>
                </a:solidFill>
                <a:latin typeface="Roboto"/>
                <a:cs typeface="Roboto"/>
              </a:rPr>
              <a:t>since</a:t>
            </a:r>
            <a:r>
              <a:rPr sz="1500" u="none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u="none" dirty="0">
                <a:solidFill>
                  <a:srgbClr val="595959"/>
                </a:solidFill>
                <a:latin typeface="Roboto"/>
                <a:cs typeface="Roboto"/>
              </a:rPr>
              <a:t>been</a:t>
            </a:r>
            <a:r>
              <a:rPr sz="1500" u="none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u="none" dirty="0">
                <a:solidFill>
                  <a:srgbClr val="595959"/>
                </a:solidFill>
                <a:latin typeface="Roboto"/>
                <a:cs typeface="Roboto"/>
              </a:rPr>
              <a:t>proposed</a:t>
            </a:r>
            <a:r>
              <a:rPr sz="1500" u="none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u="none" dirty="0">
                <a:solidFill>
                  <a:srgbClr val="595959"/>
                </a:solidFill>
                <a:latin typeface="Roboto"/>
                <a:cs typeface="Roboto"/>
              </a:rPr>
              <a:t>as</a:t>
            </a:r>
            <a:r>
              <a:rPr sz="1500" u="none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u="none" spc="-50" dirty="0">
                <a:solidFill>
                  <a:srgbClr val="595959"/>
                </a:solidFill>
                <a:latin typeface="Roboto"/>
                <a:cs typeface="Roboto"/>
              </a:rPr>
              <a:t>a </a:t>
            </a:r>
            <a:r>
              <a:rPr sz="1500" u="none" spc="-10" dirty="0">
                <a:solidFill>
                  <a:srgbClr val="595959"/>
                </a:solidFill>
                <a:latin typeface="Roboto"/>
                <a:cs typeface="Roboto"/>
              </a:rPr>
              <a:t>benchmark</a:t>
            </a:r>
            <a:r>
              <a:rPr sz="1500" u="none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u="none" dirty="0">
                <a:solidFill>
                  <a:srgbClr val="595959"/>
                </a:solidFill>
                <a:latin typeface="Roboto"/>
                <a:cs typeface="Roboto"/>
              </a:rPr>
              <a:t>to</a:t>
            </a:r>
            <a:r>
              <a:rPr sz="1500" u="none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u="none" spc="-10" dirty="0">
                <a:solidFill>
                  <a:srgbClr val="595959"/>
                </a:solidFill>
                <a:latin typeface="Roboto"/>
                <a:cs typeface="Roboto"/>
              </a:rPr>
              <a:t>measure</a:t>
            </a:r>
            <a:r>
              <a:rPr sz="1500" u="none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u="none" spc="-10" dirty="0">
                <a:solidFill>
                  <a:srgbClr val="595959"/>
                </a:solidFill>
                <a:latin typeface="Roboto"/>
                <a:cs typeface="Roboto"/>
              </a:rPr>
              <a:t>progress</a:t>
            </a:r>
            <a:r>
              <a:rPr sz="1500" u="none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u="none" dirty="0">
                <a:solidFill>
                  <a:srgbClr val="595959"/>
                </a:solidFill>
                <a:latin typeface="Roboto"/>
                <a:cs typeface="Roboto"/>
              </a:rPr>
              <a:t>toward</a:t>
            </a:r>
            <a:r>
              <a:rPr sz="1500" u="none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u="none" spc="-25" dirty="0">
                <a:solidFill>
                  <a:srgbClr val="595959"/>
                </a:solidFill>
                <a:latin typeface="Roboto"/>
                <a:cs typeface="Roboto"/>
              </a:rPr>
              <a:t>AI.</a:t>
            </a:r>
            <a:endParaRPr sz="1500">
              <a:latin typeface="Roboto"/>
              <a:cs typeface="Roboto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90828" y="1100059"/>
            <a:ext cx="3202037" cy="251036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44500" y="3764150"/>
            <a:ext cx="8315325" cy="1181735"/>
          </a:xfrm>
          <a:prstGeom prst="rect">
            <a:avLst/>
          </a:prstGeom>
          <a:solidFill>
            <a:srgbClr val="EEEEEE"/>
          </a:solidFill>
        </p:spPr>
        <p:txBody>
          <a:bodyPr vert="horz" wrap="square" lIns="0" tIns="174625" rIns="0" bIns="0" rtlCol="0">
            <a:spAutoFit/>
          </a:bodyPr>
          <a:lstStyle/>
          <a:p>
            <a:pPr marL="244475" marR="239395" indent="-635" algn="ctr">
              <a:lnSpc>
                <a:spcPts val="1650"/>
              </a:lnSpc>
              <a:spcBef>
                <a:spcPts val="1375"/>
              </a:spcBef>
            </a:pPr>
            <a:r>
              <a:rPr sz="1400" i="1" dirty="0">
                <a:latin typeface="Roboto"/>
                <a:cs typeface="Roboto"/>
              </a:rPr>
              <a:t>“I</a:t>
            </a:r>
            <a:r>
              <a:rPr sz="1400" i="1" spc="-35" dirty="0">
                <a:latin typeface="Roboto"/>
                <a:cs typeface="Roboto"/>
              </a:rPr>
              <a:t> </a:t>
            </a:r>
            <a:r>
              <a:rPr sz="1400" i="1" dirty="0">
                <a:latin typeface="Roboto"/>
                <a:cs typeface="Roboto"/>
              </a:rPr>
              <a:t>believe</a:t>
            </a:r>
            <a:r>
              <a:rPr sz="1400" i="1" spc="-35" dirty="0">
                <a:latin typeface="Roboto"/>
                <a:cs typeface="Roboto"/>
              </a:rPr>
              <a:t> </a:t>
            </a:r>
            <a:r>
              <a:rPr sz="1400" i="1" dirty="0">
                <a:latin typeface="Roboto"/>
                <a:cs typeface="Roboto"/>
              </a:rPr>
              <a:t>that</a:t>
            </a:r>
            <a:r>
              <a:rPr sz="1400" i="1" spc="-35" dirty="0">
                <a:latin typeface="Roboto"/>
                <a:cs typeface="Roboto"/>
              </a:rPr>
              <a:t> </a:t>
            </a:r>
            <a:r>
              <a:rPr sz="1400" i="1" dirty="0">
                <a:latin typeface="Roboto"/>
                <a:cs typeface="Roboto"/>
              </a:rPr>
              <a:t>in</a:t>
            </a:r>
            <a:r>
              <a:rPr sz="1400" i="1" spc="-35" dirty="0">
                <a:latin typeface="Roboto"/>
                <a:cs typeface="Roboto"/>
              </a:rPr>
              <a:t> </a:t>
            </a:r>
            <a:r>
              <a:rPr sz="1400" i="1" dirty="0">
                <a:latin typeface="Roboto"/>
                <a:cs typeface="Roboto"/>
              </a:rPr>
              <a:t>about</a:t>
            </a:r>
            <a:r>
              <a:rPr sz="1400" i="1" spc="-35" dirty="0">
                <a:latin typeface="Roboto"/>
                <a:cs typeface="Roboto"/>
              </a:rPr>
              <a:t> </a:t>
            </a:r>
            <a:r>
              <a:rPr sz="1400" i="1" dirty="0">
                <a:latin typeface="Roboto"/>
                <a:cs typeface="Roboto"/>
              </a:rPr>
              <a:t>fifty</a:t>
            </a:r>
            <a:r>
              <a:rPr sz="1400" i="1" spc="-35" dirty="0">
                <a:latin typeface="Roboto"/>
                <a:cs typeface="Roboto"/>
              </a:rPr>
              <a:t> </a:t>
            </a:r>
            <a:r>
              <a:rPr sz="1400" i="1" dirty="0">
                <a:latin typeface="Roboto"/>
                <a:cs typeface="Roboto"/>
              </a:rPr>
              <a:t>years’</a:t>
            </a:r>
            <a:r>
              <a:rPr sz="1400" i="1" spc="-35" dirty="0">
                <a:latin typeface="Roboto"/>
                <a:cs typeface="Roboto"/>
              </a:rPr>
              <a:t> </a:t>
            </a:r>
            <a:r>
              <a:rPr sz="1400" i="1" dirty="0">
                <a:latin typeface="Roboto"/>
                <a:cs typeface="Roboto"/>
              </a:rPr>
              <a:t>time</a:t>
            </a:r>
            <a:r>
              <a:rPr sz="1400" i="1" spc="-35" dirty="0">
                <a:latin typeface="Roboto"/>
                <a:cs typeface="Roboto"/>
              </a:rPr>
              <a:t> </a:t>
            </a:r>
            <a:r>
              <a:rPr sz="1400" i="1" dirty="0">
                <a:latin typeface="Roboto"/>
                <a:cs typeface="Roboto"/>
              </a:rPr>
              <a:t>it</a:t>
            </a:r>
            <a:r>
              <a:rPr sz="1400" i="1" spc="-35" dirty="0">
                <a:latin typeface="Roboto"/>
                <a:cs typeface="Roboto"/>
              </a:rPr>
              <a:t> </a:t>
            </a:r>
            <a:r>
              <a:rPr sz="1400" i="1" dirty="0">
                <a:latin typeface="Roboto"/>
                <a:cs typeface="Roboto"/>
              </a:rPr>
              <a:t>will</a:t>
            </a:r>
            <a:r>
              <a:rPr sz="1400" i="1" spc="-35" dirty="0">
                <a:latin typeface="Roboto"/>
                <a:cs typeface="Roboto"/>
              </a:rPr>
              <a:t> </a:t>
            </a:r>
            <a:r>
              <a:rPr sz="1400" i="1" dirty="0">
                <a:latin typeface="Roboto"/>
                <a:cs typeface="Roboto"/>
              </a:rPr>
              <a:t>be</a:t>
            </a:r>
            <a:r>
              <a:rPr sz="1400" i="1" spc="-35" dirty="0">
                <a:latin typeface="Roboto"/>
                <a:cs typeface="Roboto"/>
              </a:rPr>
              <a:t> </a:t>
            </a:r>
            <a:r>
              <a:rPr sz="1400" i="1" spc="-10" dirty="0">
                <a:latin typeface="Roboto"/>
                <a:cs typeface="Roboto"/>
              </a:rPr>
              <a:t>possible</a:t>
            </a:r>
            <a:r>
              <a:rPr sz="1400" i="1" spc="-35" dirty="0">
                <a:latin typeface="Roboto"/>
                <a:cs typeface="Roboto"/>
              </a:rPr>
              <a:t> </a:t>
            </a:r>
            <a:r>
              <a:rPr sz="1400" i="1" dirty="0">
                <a:latin typeface="Roboto"/>
                <a:cs typeface="Roboto"/>
              </a:rPr>
              <a:t>to</a:t>
            </a:r>
            <a:r>
              <a:rPr sz="1400" i="1" spc="-35" dirty="0">
                <a:latin typeface="Roboto"/>
                <a:cs typeface="Roboto"/>
              </a:rPr>
              <a:t> </a:t>
            </a:r>
            <a:r>
              <a:rPr sz="1400" i="1" spc="-10" dirty="0">
                <a:latin typeface="Roboto"/>
                <a:cs typeface="Roboto"/>
              </a:rPr>
              <a:t>programme</a:t>
            </a:r>
            <a:r>
              <a:rPr sz="1400" i="1" spc="-35" dirty="0">
                <a:latin typeface="Roboto"/>
                <a:cs typeface="Roboto"/>
              </a:rPr>
              <a:t> </a:t>
            </a:r>
            <a:r>
              <a:rPr sz="1400" i="1" spc="-10" dirty="0">
                <a:latin typeface="Roboto"/>
                <a:cs typeface="Roboto"/>
              </a:rPr>
              <a:t>computers,</a:t>
            </a:r>
            <a:r>
              <a:rPr sz="1400" i="1" spc="-35" dirty="0">
                <a:latin typeface="Roboto"/>
                <a:cs typeface="Roboto"/>
              </a:rPr>
              <a:t> </a:t>
            </a:r>
            <a:r>
              <a:rPr sz="1400" i="1" dirty="0">
                <a:latin typeface="Roboto"/>
                <a:cs typeface="Roboto"/>
              </a:rPr>
              <a:t>with</a:t>
            </a:r>
            <a:r>
              <a:rPr sz="1400" i="1" spc="-35" dirty="0">
                <a:latin typeface="Roboto"/>
                <a:cs typeface="Roboto"/>
              </a:rPr>
              <a:t> </a:t>
            </a:r>
            <a:r>
              <a:rPr sz="1400" i="1" dirty="0">
                <a:latin typeface="Roboto"/>
                <a:cs typeface="Roboto"/>
              </a:rPr>
              <a:t>a</a:t>
            </a:r>
            <a:r>
              <a:rPr sz="1400" i="1" spc="-35" dirty="0">
                <a:latin typeface="Roboto"/>
                <a:cs typeface="Roboto"/>
              </a:rPr>
              <a:t> </a:t>
            </a:r>
            <a:r>
              <a:rPr sz="1400" i="1" spc="-10" dirty="0">
                <a:latin typeface="Roboto"/>
                <a:cs typeface="Roboto"/>
              </a:rPr>
              <a:t>storage capacity</a:t>
            </a:r>
            <a:r>
              <a:rPr sz="1400" i="1" spc="-30" dirty="0">
                <a:latin typeface="Roboto"/>
                <a:cs typeface="Roboto"/>
              </a:rPr>
              <a:t> </a:t>
            </a:r>
            <a:r>
              <a:rPr sz="1400" i="1" dirty="0">
                <a:latin typeface="Roboto"/>
                <a:cs typeface="Roboto"/>
              </a:rPr>
              <a:t>of</a:t>
            </a:r>
            <a:r>
              <a:rPr sz="1400" i="1" spc="-25" dirty="0">
                <a:latin typeface="Roboto"/>
                <a:cs typeface="Roboto"/>
              </a:rPr>
              <a:t> </a:t>
            </a:r>
            <a:r>
              <a:rPr sz="1400" i="1" dirty="0">
                <a:latin typeface="Roboto"/>
                <a:cs typeface="Roboto"/>
              </a:rPr>
              <a:t>about</a:t>
            </a:r>
            <a:r>
              <a:rPr sz="1400" i="1" spc="-30" dirty="0">
                <a:latin typeface="Roboto"/>
                <a:cs typeface="Roboto"/>
              </a:rPr>
              <a:t> </a:t>
            </a:r>
            <a:r>
              <a:rPr sz="1400" i="1" dirty="0">
                <a:latin typeface="Roboto"/>
                <a:cs typeface="Roboto"/>
              </a:rPr>
              <a:t>10^9,</a:t>
            </a:r>
            <a:r>
              <a:rPr sz="1400" i="1" spc="-25" dirty="0">
                <a:latin typeface="Roboto"/>
                <a:cs typeface="Roboto"/>
              </a:rPr>
              <a:t> </a:t>
            </a:r>
            <a:r>
              <a:rPr sz="1400" i="1" dirty="0">
                <a:latin typeface="Roboto"/>
                <a:cs typeface="Roboto"/>
              </a:rPr>
              <a:t>to</a:t>
            </a:r>
            <a:r>
              <a:rPr sz="1400" i="1" spc="-30" dirty="0">
                <a:latin typeface="Roboto"/>
                <a:cs typeface="Roboto"/>
              </a:rPr>
              <a:t> </a:t>
            </a:r>
            <a:r>
              <a:rPr sz="1400" i="1" dirty="0">
                <a:latin typeface="Roboto"/>
                <a:cs typeface="Roboto"/>
              </a:rPr>
              <a:t>make</a:t>
            </a:r>
            <a:r>
              <a:rPr sz="1400" i="1" spc="-25" dirty="0">
                <a:latin typeface="Roboto"/>
                <a:cs typeface="Roboto"/>
              </a:rPr>
              <a:t> </a:t>
            </a:r>
            <a:r>
              <a:rPr sz="1400" i="1" dirty="0">
                <a:latin typeface="Roboto"/>
                <a:cs typeface="Roboto"/>
              </a:rPr>
              <a:t>them</a:t>
            </a:r>
            <a:r>
              <a:rPr sz="1400" i="1" spc="-30" dirty="0">
                <a:latin typeface="Roboto"/>
                <a:cs typeface="Roboto"/>
              </a:rPr>
              <a:t> </a:t>
            </a:r>
            <a:r>
              <a:rPr sz="1400" i="1" dirty="0">
                <a:latin typeface="Roboto"/>
                <a:cs typeface="Roboto"/>
              </a:rPr>
              <a:t>play</a:t>
            </a:r>
            <a:r>
              <a:rPr sz="1400" i="1" spc="-25" dirty="0">
                <a:latin typeface="Roboto"/>
                <a:cs typeface="Roboto"/>
              </a:rPr>
              <a:t> </a:t>
            </a:r>
            <a:r>
              <a:rPr sz="1400" i="1" dirty="0">
                <a:latin typeface="Roboto"/>
                <a:cs typeface="Roboto"/>
              </a:rPr>
              <a:t>the</a:t>
            </a:r>
            <a:r>
              <a:rPr sz="1400" i="1" spc="-30" dirty="0">
                <a:latin typeface="Roboto"/>
                <a:cs typeface="Roboto"/>
              </a:rPr>
              <a:t> </a:t>
            </a:r>
            <a:r>
              <a:rPr sz="1400" i="1" spc="-10" dirty="0">
                <a:latin typeface="Roboto"/>
                <a:cs typeface="Roboto"/>
              </a:rPr>
              <a:t>imitation</a:t>
            </a:r>
            <a:r>
              <a:rPr sz="1400" i="1" spc="-25" dirty="0">
                <a:latin typeface="Roboto"/>
                <a:cs typeface="Roboto"/>
              </a:rPr>
              <a:t> </a:t>
            </a:r>
            <a:r>
              <a:rPr sz="1400" i="1" dirty="0">
                <a:latin typeface="Roboto"/>
                <a:cs typeface="Roboto"/>
              </a:rPr>
              <a:t>game</a:t>
            </a:r>
            <a:r>
              <a:rPr sz="1400" i="1" spc="-30" dirty="0">
                <a:latin typeface="Roboto"/>
                <a:cs typeface="Roboto"/>
              </a:rPr>
              <a:t> </a:t>
            </a:r>
            <a:r>
              <a:rPr sz="1400" i="1" dirty="0">
                <a:latin typeface="Roboto"/>
                <a:cs typeface="Roboto"/>
              </a:rPr>
              <a:t>so</a:t>
            </a:r>
            <a:r>
              <a:rPr sz="1400" i="1" spc="-25" dirty="0">
                <a:latin typeface="Roboto"/>
                <a:cs typeface="Roboto"/>
              </a:rPr>
              <a:t> </a:t>
            </a:r>
            <a:r>
              <a:rPr sz="1400" i="1" dirty="0">
                <a:latin typeface="Roboto"/>
                <a:cs typeface="Roboto"/>
              </a:rPr>
              <a:t>well</a:t>
            </a:r>
            <a:r>
              <a:rPr sz="1400" i="1" spc="-25" dirty="0">
                <a:latin typeface="Roboto"/>
                <a:cs typeface="Roboto"/>
              </a:rPr>
              <a:t> </a:t>
            </a:r>
            <a:r>
              <a:rPr sz="1400" i="1" dirty="0">
                <a:latin typeface="Roboto"/>
                <a:cs typeface="Roboto"/>
              </a:rPr>
              <a:t>that</a:t>
            </a:r>
            <a:r>
              <a:rPr sz="1400" i="1" spc="-30" dirty="0">
                <a:latin typeface="Roboto"/>
                <a:cs typeface="Roboto"/>
              </a:rPr>
              <a:t> </a:t>
            </a:r>
            <a:r>
              <a:rPr sz="1400" i="1" dirty="0">
                <a:latin typeface="Roboto"/>
                <a:cs typeface="Roboto"/>
              </a:rPr>
              <a:t>an</a:t>
            </a:r>
            <a:r>
              <a:rPr sz="1400" i="1" spc="-25" dirty="0">
                <a:latin typeface="Roboto"/>
                <a:cs typeface="Roboto"/>
              </a:rPr>
              <a:t> </a:t>
            </a:r>
            <a:r>
              <a:rPr sz="1400" i="1" spc="-10" dirty="0">
                <a:latin typeface="Roboto"/>
                <a:cs typeface="Roboto"/>
              </a:rPr>
              <a:t>average</a:t>
            </a:r>
            <a:r>
              <a:rPr sz="1400" i="1" spc="-30" dirty="0">
                <a:latin typeface="Roboto"/>
                <a:cs typeface="Roboto"/>
              </a:rPr>
              <a:t> </a:t>
            </a:r>
            <a:r>
              <a:rPr sz="1400" i="1" spc="-10" dirty="0">
                <a:latin typeface="Roboto"/>
                <a:cs typeface="Roboto"/>
              </a:rPr>
              <a:t>interrogator</a:t>
            </a:r>
            <a:r>
              <a:rPr sz="1400" i="1" spc="-25" dirty="0">
                <a:latin typeface="Roboto"/>
                <a:cs typeface="Roboto"/>
              </a:rPr>
              <a:t> </a:t>
            </a:r>
            <a:r>
              <a:rPr sz="1400" i="1" spc="-20" dirty="0">
                <a:latin typeface="Roboto"/>
                <a:cs typeface="Roboto"/>
              </a:rPr>
              <a:t>will </a:t>
            </a:r>
            <a:r>
              <a:rPr sz="1400" i="1" dirty="0">
                <a:latin typeface="Roboto"/>
                <a:cs typeface="Roboto"/>
              </a:rPr>
              <a:t>not</a:t>
            </a:r>
            <a:r>
              <a:rPr sz="1400" i="1" spc="-35" dirty="0">
                <a:latin typeface="Roboto"/>
                <a:cs typeface="Roboto"/>
              </a:rPr>
              <a:t> </a:t>
            </a:r>
            <a:r>
              <a:rPr sz="1400" i="1" dirty="0">
                <a:latin typeface="Roboto"/>
                <a:cs typeface="Roboto"/>
              </a:rPr>
              <a:t>have</a:t>
            </a:r>
            <a:r>
              <a:rPr sz="1400" i="1" spc="-30" dirty="0">
                <a:latin typeface="Roboto"/>
                <a:cs typeface="Roboto"/>
              </a:rPr>
              <a:t> </a:t>
            </a:r>
            <a:r>
              <a:rPr sz="1400" i="1" dirty="0">
                <a:latin typeface="Roboto"/>
                <a:cs typeface="Roboto"/>
              </a:rPr>
              <a:t>more</a:t>
            </a:r>
            <a:r>
              <a:rPr sz="1400" i="1" spc="-35" dirty="0">
                <a:latin typeface="Roboto"/>
                <a:cs typeface="Roboto"/>
              </a:rPr>
              <a:t> </a:t>
            </a:r>
            <a:r>
              <a:rPr sz="1400" i="1" dirty="0">
                <a:latin typeface="Roboto"/>
                <a:cs typeface="Roboto"/>
              </a:rPr>
              <a:t>than</a:t>
            </a:r>
            <a:r>
              <a:rPr sz="1400" i="1" spc="-30" dirty="0">
                <a:latin typeface="Roboto"/>
                <a:cs typeface="Roboto"/>
              </a:rPr>
              <a:t> </a:t>
            </a:r>
            <a:r>
              <a:rPr sz="1400" i="1" dirty="0">
                <a:latin typeface="Roboto"/>
                <a:cs typeface="Roboto"/>
              </a:rPr>
              <a:t>70%</a:t>
            </a:r>
            <a:r>
              <a:rPr sz="1400" i="1" spc="-30" dirty="0">
                <a:latin typeface="Roboto"/>
                <a:cs typeface="Roboto"/>
              </a:rPr>
              <a:t> </a:t>
            </a:r>
            <a:r>
              <a:rPr sz="1400" i="1" dirty="0">
                <a:latin typeface="Roboto"/>
                <a:cs typeface="Roboto"/>
              </a:rPr>
              <a:t>chance</a:t>
            </a:r>
            <a:r>
              <a:rPr sz="1400" i="1" spc="-35" dirty="0">
                <a:latin typeface="Roboto"/>
                <a:cs typeface="Roboto"/>
              </a:rPr>
              <a:t> </a:t>
            </a:r>
            <a:r>
              <a:rPr sz="1400" i="1" dirty="0">
                <a:latin typeface="Roboto"/>
                <a:cs typeface="Roboto"/>
              </a:rPr>
              <a:t>of</a:t>
            </a:r>
            <a:r>
              <a:rPr sz="1400" i="1" spc="-30" dirty="0">
                <a:latin typeface="Roboto"/>
                <a:cs typeface="Roboto"/>
              </a:rPr>
              <a:t> </a:t>
            </a:r>
            <a:r>
              <a:rPr sz="1400" i="1" dirty="0">
                <a:latin typeface="Roboto"/>
                <a:cs typeface="Roboto"/>
              </a:rPr>
              <a:t>making</a:t>
            </a:r>
            <a:r>
              <a:rPr sz="1400" i="1" spc="-30" dirty="0">
                <a:latin typeface="Roboto"/>
                <a:cs typeface="Roboto"/>
              </a:rPr>
              <a:t> </a:t>
            </a:r>
            <a:r>
              <a:rPr sz="1400" i="1" dirty="0">
                <a:latin typeface="Roboto"/>
                <a:cs typeface="Roboto"/>
              </a:rPr>
              <a:t>the</a:t>
            </a:r>
            <a:r>
              <a:rPr sz="1400" i="1" spc="-35" dirty="0">
                <a:latin typeface="Roboto"/>
                <a:cs typeface="Roboto"/>
              </a:rPr>
              <a:t> </a:t>
            </a:r>
            <a:r>
              <a:rPr sz="1400" i="1" dirty="0">
                <a:latin typeface="Roboto"/>
                <a:cs typeface="Roboto"/>
              </a:rPr>
              <a:t>right</a:t>
            </a:r>
            <a:r>
              <a:rPr sz="1400" i="1" spc="-30" dirty="0">
                <a:latin typeface="Roboto"/>
                <a:cs typeface="Roboto"/>
              </a:rPr>
              <a:t> </a:t>
            </a:r>
            <a:r>
              <a:rPr sz="1400" i="1" spc="-10" dirty="0">
                <a:latin typeface="Roboto"/>
                <a:cs typeface="Roboto"/>
              </a:rPr>
              <a:t>identification</a:t>
            </a:r>
            <a:r>
              <a:rPr sz="1400" i="1" spc="-30" dirty="0">
                <a:latin typeface="Roboto"/>
                <a:cs typeface="Roboto"/>
              </a:rPr>
              <a:t> </a:t>
            </a:r>
            <a:r>
              <a:rPr sz="1400" i="1" dirty="0">
                <a:latin typeface="Roboto"/>
                <a:cs typeface="Roboto"/>
              </a:rPr>
              <a:t>after</a:t>
            </a:r>
            <a:r>
              <a:rPr sz="1400" i="1" spc="-35" dirty="0">
                <a:latin typeface="Roboto"/>
                <a:cs typeface="Roboto"/>
              </a:rPr>
              <a:t> </a:t>
            </a:r>
            <a:r>
              <a:rPr sz="1400" i="1" dirty="0">
                <a:latin typeface="Roboto"/>
                <a:cs typeface="Roboto"/>
              </a:rPr>
              <a:t>five</a:t>
            </a:r>
            <a:r>
              <a:rPr sz="1400" i="1" spc="-30" dirty="0">
                <a:latin typeface="Roboto"/>
                <a:cs typeface="Roboto"/>
              </a:rPr>
              <a:t> </a:t>
            </a:r>
            <a:r>
              <a:rPr sz="1400" i="1" dirty="0">
                <a:latin typeface="Roboto"/>
                <a:cs typeface="Roboto"/>
              </a:rPr>
              <a:t>minutes</a:t>
            </a:r>
            <a:r>
              <a:rPr sz="1400" i="1" spc="-35" dirty="0">
                <a:latin typeface="Roboto"/>
                <a:cs typeface="Roboto"/>
              </a:rPr>
              <a:t> </a:t>
            </a:r>
            <a:r>
              <a:rPr sz="1400" i="1" dirty="0">
                <a:latin typeface="Roboto"/>
                <a:cs typeface="Roboto"/>
              </a:rPr>
              <a:t>of</a:t>
            </a:r>
            <a:r>
              <a:rPr sz="1400" i="1" spc="-30" dirty="0">
                <a:latin typeface="Roboto"/>
                <a:cs typeface="Roboto"/>
              </a:rPr>
              <a:t> </a:t>
            </a:r>
            <a:r>
              <a:rPr sz="1400" i="1" spc="-10" dirty="0">
                <a:latin typeface="Roboto"/>
                <a:cs typeface="Roboto"/>
              </a:rPr>
              <a:t>questioning.”</a:t>
            </a:r>
            <a:endParaRPr sz="1400">
              <a:latin typeface="Roboto"/>
              <a:cs typeface="Roboto"/>
            </a:endParaRPr>
          </a:p>
          <a:p>
            <a:pPr algn="ctr">
              <a:lnSpc>
                <a:spcPts val="1600"/>
              </a:lnSpc>
            </a:pPr>
            <a:r>
              <a:rPr sz="1400" dirty="0">
                <a:latin typeface="Roboto"/>
                <a:cs typeface="Roboto"/>
              </a:rPr>
              <a:t>—</a:t>
            </a:r>
            <a:r>
              <a:rPr sz="1400" spc="-40" dirty="0">
                <a:latin typeface="Roboto"/>
                <a:cs typeface="Roboto"/>
              </a:rPr>
              <a:t> </a:t>
            </a:r>
            <a:r>
              <a:rPr sz="1400" dirty="0">
                <a:latin typeface="Roboto"/>
                <a:cs typeface="Roboto"/>
              </a:rPr>
              <a:t>A.</a:t>
            </a:r>
            <a:r>
              <a:rPr sz="1400" spc="-60" dirty="0">
                <a:latin typeface="Roboto"/>
                <a:cs typeface="Roboto"/>
              </a:rPr>
              <a:t> </a:t>
            </a:r>
            <a:r>
              <a:rPr sz="1400" spc="-10" dirty="0">
                <a:latin typeface="Roboto"/>
                <a:cs typeface="Roboto"/>
              </a:rPr>
              <a:t>Turing.</a:t>
            </a:r>
            <a:r>
              <a:rPr sz="1400" spc="-40" dirty="0">
                <a:latin typeface="Roboto"/>
                <a:cs typeface="Roboto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Computing</a:t>
            </a:r>
            <a:r>
              <a:rPr sz="1400" u="heavy" spc="-4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4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Machinery</a:t>
            </a:r>
            <a:r>
              <a:rPr sz="1400" u="heavy" spc="-3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and</a:t>
            </a:r>
            <a:r>
              <a:rPr sz="1400" u="heavy" spc="-4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Intelligence</a:t>
            </a:r>
            <a:r>
              <a:rPr sz="1400" u="none" dirty="0">
                <a:latin typeface="Roboto"/>
                <a:cs typeface="Roboto"/>
              </a:rPr>
              <a:t>.</a:t>
            </a:r>
            <a:r>
              <a:rPr sz="1400" u="none" spc="-35" dirty="0">
                <a:latin typeface="Roboto"/>
                <a:cs typeface="Roboto"/>
              </a:rPr>
              <a:t> </a:t>
            </a:r>
            <a:r>
              <a:rPr sz="1400" u="none" dirty="0">
                <a:latin typeface="Roboto"/>
                <a:cs typeface="Roboto"/>
              </a:rPr>
              <a:t>Mind,</a:t>
            </a:r>
            <a:r>
              <a:rPr sz="1400" u="none" spc="-40" dirty="0">
                <a:latin typeface="Roboto"/>
                <a:cs typeface="Roboto"/>
              </a:rPr>
              <a:t> </a:t>
            </a:r>
            <a:r>
              <a:rPr sz="1400" u="none" spc="-10" dirty="0">
                <a:latin typeface="Roboto"/>
                <a:cs typeface="Roboto"/>
              </a:rPr>
              <a:t>1950.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Eras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Language</a:t>
            </a:r>
            <a:r>
              <a:rPr spc="30" dirty="0"/>
              <a:t> </a:t>
            </a:r>
            <a:r>
              <a:rPr spc="-10" dirty="0"/>
              <a:t>Modeling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777225" y="1143334"/>
          <a:ext cx="7038975" cy="1934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60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63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65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8135">
                <a:tc>
                  <a:txBody>
                    <a:bodyPr/>
                    <a:lstStyle/>
                    <a:p>
                      <a:pPr marL="454025">
                        <a:lnSpc>
                          <a:spcPts val="1590"/>
                        </a:lnSpc>
                      </a:pPr>
                      <a:r>
                        <a:rPr sz="1400" b="1" dirty="0">
                          <a:solidFill>
                            <a:srgbClr val="0000FF"/>
                          </a:solidFill>
                          <a:latin typeface="Roboto"/>
                          <a:cs typeface="Roboto"/>
                        </a:rPr>
                        <a:t>Symbolic</a:t>
                      </a:r>
                      <a:r>
                        <a:rPr sz="1400" b="1" spc="-40" dirty="0">
                          <a:solidFill>
                            <a:srgbClr val="0000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400" b="1" spc="-25" dirty="0">
                          <a:solidFill>
                            <a:srgbClr val="0000FF"/>
                          </a:solidFill>
                          <a:latin typeface="Roboto"/>
                          <a:cs typeface="Roboto"/>
                        </a:rPr>
                        <a:t>Era</a:t>
                      </a:r>
                      <a:endParaRPr sz="1400">
                        <a:latin typeface="Roboto"/>
                        <a:cs typeface="Robo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0710">
                        <a:lnSpc>
                          <a:spcPts val="1590"/>
                        </a:lnSpc>
                      </a:pPr>
                      <a:r>
                        <a:rPr sz="1400" b="1" spc="-10" dirty="0">
                          <a:solidFill>
                            <a:srgbClr val="980000"/>
                          </a:solidFill>
                          <a:latin typeface="Roboto"/>
                          <a:cs typeface="Roboto"/>
                        </a:rPr>
                        <a:t>Statistical </a:t>
                      </a:r>
                      <a:r>
                        <a:rPr sz="1400" b="1" spc="-25" dirty="0">
                          <a:solidFill>
                            <a:srgbClr val="980000"/>
                          </a:solidFill>
                          <a:latin typeface="Roboto"/>
                          <a:cs typeface="Roboto"/>
                        </a:rPr>
                        <a:t>Era</a:t>
                      </a:r>
                      <a:endParaRPr sz="1400">
                        <a:latin typeface="Roboto"/>
                        <a:cs typeface="Robo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80770">
                        <a:lnSpc>
                          <a:spcPts val="1580"/>
                        </a:lnSpc>
                      </a:pPr>
                      <a:r>
                        <a:rPr sz="1400" b="1" dirty="0">
                          <a:solidFill>
                            <a:srgbClr val="8E7BC3"/>
                          </a:solidFill>
                          <a:latin typeface="Roboto"/>
                          <a:cs typeface="Roboto"/>
                        </a:rPr>
                        <a:t>Scale</a:t>
                      </a:r>
                      <a:r>
                        <a:rPr sz="1400" b="1" spc="-60" dirty="0">
                          <a:solidFill>
                            <a:srgbClr val="8E7BC3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400" b="1" spc="-25" dirty="0">
                          <a:solidFill>
                            <a:srgbClr val="8E7BC3"/>
                          </a:solidFill>
                          <a:latin typeface="Roboto"/>
                          <a:cs typeface="Roboto"/>
                        </a:rPr>
                        <a:t>Era</a:t>
                      </a:r>
                      <a:endParaRPr sz="1400">
                        <a:latin typeface="Roboto"/>
                        <a:cs typeface="Robot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245">
                <a:tc>
                  <a:txBody>
                    <a:bodyPr/>
                    <a:lstStyle/>
                    <a:p>
                      <a:pPr marL="617855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1400" spc="-20" dirty="0">
                          <a:solidFill>
                            <a:srgbClr val="0000FF"/>
                          </a:solidFill>
                          <a:latin typeface="Roboto"/>
                          <a:cs typeface="Roboto"/>
                        </a:rPr>
                        <a:t>Pre-1990</a:t>
                      </a:r>
                      <a:endParaRPr sz="1400">
                        <a:latin typeface="Roboto"/>
                        <a:cs typeface="Roboto"/>
                      </a:endParaRPr>
                    </a:p>
                  </a:txBody>
                  <a:tcPr marL="0" marR="0" marT="97155" marB="0"/>
                </a:tc>
                <a:tc>
                  <a:txBody>
                    <a:bodyPr/>
                    <a:lstStyle/>
                    <a:p>
                      <a:pPr marL="730885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1400" spc="-20" dirty="0">
                          <a:solidFill>
                            <a:srgbClr val="980000"/>
                          </a:solidFill>
                          <a:latin typeface="Roboto"/>
                          <a:cs typeface="Roboto"/>
                        </a:rPr>
                        <a:t>1990-2010</a:t>
                      </a:r>
                      <a:endParaRPr sz="1400">
                        <a:latin typeface="Roboto"/>
                        <a:cs typeface="Roboto"/>
                      </a:endParaRPr>
                    </a:p>
                  </a:txBody>
                  <a:tcPr marL="0" marR="0" marT="97155" marB="0"/>
                </a:tc>
                <a:tc>
                  <a:txBody>
                    <a:bodyPr/>
                    <a:lstStyle/>
                    <a:p>
                      <a:pPr marL="890269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1400" dirty="0">
                          <a:solidFill>
                            <a:srgbClr val="8E7BC3"/>
                          </a:solidFill>
                          <a:latin typeface="Roboto"/>
                          <a:cs typeface="Roboto"/>
                        </a:rPr>
                        <a:t>2010</a:t>
                      </a:r>
                      <a:r>
                        <a:rPr sz="1400" spc="-55" dirty="0">
                          <a:solidFill>
                            <a:srgbClr val="8E7BC3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400" spc="-10" dirty="0">
                          <a:solidFill>
                            <a:srgbClr val="8E7BC3"/>
                          </a:solidFill>
                          <a:latin typeface="Roboto"/>
                          <a:cs typeface="Roboto"/>
                        </a:rPr>
                        <a:t>onwards</a:t>
                      </a:r>
                      <a:endParaRPr sz="1400">
                        <a:latin typeface="Roboto"/>
                        <a:cs typeface="Roboto"/>
                      </a:endParaRPr>
                    </a:p>
                  </a:txBody>
                  <a:tcPr marL="0" marR="0" marT="9525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24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400" spc="-10" dirty="0">
                          <a:solidFill>
                            <a:srgbClr val="0000FF"/>
                          </a:solidFill>
                          <a:latin typeface="Roboto"/>
                          <a:cs typeface="Roboto"/>
                        </a:rPr>
                        <a:t>Rule-</a:t>
                      </a:r>
                      <a:r>
                        <a:rPr sz="1400" dirty="0">
                          <a:solidFill>
                            <a:srgbClr val="0000FF"/>
                          </a:solidFill>
                          <a:latin typeface="Roboto"/>
                          <a:cs typeface="Roboto"/>
                        </a:rPr>
                        <a:t>based </a:t>
                      </a:r>
                      <a:r>
                        <a:rPr sz="1400" spc="-10" dirty="0">
                          <a:solidFill>
                            <a:srgbClr val="0000FF"/>
                          </a:solidFill>
                          <a:latin typeface="Roboto"/>
                          <a:cs typeface="Roboto"/>
                        </a:rPr>
                        <a:t>approaches</a:t>
                      </a:r>
                      <a:endParaRPr sz="1400">
                        <a:latin typeface="Roboto"/>
                        <a:cs typeface="Roboto"/>
                      </a:endParaRPr>
                    </a:p>
                  </a:txBody>
                  <a:tcPr marL="0" marR="0" marT="106680" marB="0"/>
                </a:tc>
                <a:tc>
                  <a:txBody>
                    <a:bodyPr/>
                    <a:lstStyle/>
                    <a:p>
                      <a:pPr marL="180975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400" spc="-10" dirty="0">
                          <a:solidFill>
                            <a:srgbClr val="980000"/>
                          </a:solidFill>
                          <a:latin typeface="Roboto"/>
                          <a:cs typeface="Roboto"/>
                        </a:rPr>
                        <a:t>Data-</a:t>
                      </a:r>
                      <a:r>
                        <a:rPr sz="1400" dirty="0">
                          <a:solidFill>
                            <a:srgbClr val="980000"/>
                          </a:solidFill>
                          <a:latin typeface="Roboto"/>
                          <a:cs typeface="Roboto"/>
                        </a:rPr>
                        <a:t>driven</a:t>
                      </a:r>
                      <a:r>
                        <a:rPr sz="1400" spc="-10" dirty="0">
                          <a:solidFill>
                            <a:srgbClr val="980000"/>
                          </a:solidFill>
                          <a:latin typeface="Roboto"/>
                          <a:cs typeface="Roboto"/>
                        </a:rPr>
                        <a:t> approaches</a:t>
                      </a:r>
                      <a:endParaRPr sz="1400">
                        <a:latin typeface="Roboto"/>
                        <a:cs typeface="Roboto"/>
                      </a:endParaRPr>
                    </a:p>
                  </a:txBody>
                  <a:tcPr marL="0" marR="0" marT="106680" marB="0"/>
                </a:tc>
                <a:tc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400" dirty="0">
                          <a:solidFill>
                            <a:srgbClr val="8E7BC3"/>
                          </a:solidFill>
                          <a:latin typeface="Roboto"/>
                          <a:cs typeface="Roboto"/>
                        </a:rPr>
                        <a:t>Deep</a:t>
                      </a:r>
                      <a:r>
                        <a:rPr sz="1400" spc="-50" dirty="0">
                          <a:solidFill>
                            <a:srgbClr val="8E7BC3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400" dirty="0">
                          <a:solidFill>
                            <a:srgbClr val="8E7BC3"/>
                          </a:solidFill>
                          <a:latin typeface="Roboto"/>
                          <a:cs typeface="Roboto"/>
                        </a:rPr>
                        <a:t>learning</a:t>
                      </a:r>
                      <a:r>
                        <a:rPr sz="1400" spc="-45" dirty="0">
                          <a:solidFill>
                            <a:srgbClr val="8E7BC3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400" dirty="0">
                          <a:solidFill>
                            <a:srgbClr val="8E7BC3"/>
                          </a:solidFill>
                          <a:latin typeface="Roboto"/>
                          <a:cs typeface="Roboto"/>
                        </a:rPr>
                        <a:t>and</a:t>
                      </a:r>
                      <a:r>
                        <a:rPr sz="1400" spc="-45" dirty="0">
                          <a:solidFill>
                            <a:srgbClr val="8E7BC3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400" dirty="0">
                          <a:solidFill>
                            <a:srgbClr val="8E7BC3"/>
                          </a:solidFill>
                          <a:latin typeface="Roboto"/>
                          <a:cs typeface="Roboto"/>
                        </a:rPr>
                        <a:t>neural</a:t>
                      </a:r>
                      <a:r>
                        <a:rPr sz="1400" spc="-45" dirty="0">
                          <a:solidFill>
                            <a:srgbClr val="8E7BC3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400" spc="-20" dirty="0">
                          <a:solidFill>
                            <a:srgbClr val="8E7BC3"/>
                          </a:solidFill>
                          <a:latin typeface="Roboto"/>
                          <a:cs typeface="Roboto"/>
                        </a:rPr>
                        <a:t>nets</a:t>
                      </a:r>
                      <a:endParaRPr sz="1400">
                        <a:latin typeface="Roboto"/>
                        <a:cs typeface="Roboto"/>
                      </a:endParaRPr>
                    </a:p>
                  </a:txBody>
                  <a:tcPr marL="0" marR="0" marT="10477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08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1400" dirty="0">
                          <a:solidFill>
                            <a:srgbClr val="0000FF"/>
                          </a:solidFill>
                          <a:latin typeface="Roboto"/>
                          <a:cs typeface="Roboto"/>
                        </a:rPr>
                        <a:t>Expert</a:t>
                      </a:r>
                      <a:r>
                        <a:rPr sz="1400" spc="-40" dirty="0">
                          <a:solidFill>
                            <a:srgbClr val="0000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400" spc="-10" dirty="0">
                          <a:solidFill>
                            <a:srgbClr val="0000FF"/>
                          </a:solidFill>
                          <a:latin typeface="Roboto"/>
                          <a:cs typeface="Roboto"/>
                        </a:rPr>
                        <a:t>systems</a:t>
                      </a:r>
                      <a:endParaRPr sz="1400">
                        <a:latin typeface="Roboto"/>
                        <a:cs typeface="Roboto"/>
                      </a:endParaRPr>
                    </a:p>
                  </a:txBody>
                  <a:tcPr marL="0" marR="0" marT="96520" marB="0"/>
                </a:tc>
                <a:tc>
                  <a:txBody>
                    <a:bodyPr/>
                    <a:lstStyle/>
                    <a:p>
                      <a:pPr marL="180975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1400" spc="-10" dirty="0">
                          <a:solidFill>
                            <a:srgbClr val="980000"/>
                          </a:solidFill>
                          <a:latin typeface="Roboto"/>
                          <a:cs typeface="Roboto"/>
                        </a:rPr>
                        <a:t>Probabilistic</a:t>
                      </a:r>
                      <a:r>
                        <a:rPr sz="1400" spc="-25" dirty="0">
                          <a:solidFill>
                            <a:srgbClr val="98000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400" spc="-10" dirty="0">
                          <a:solidFill>
                            <a:srgbClr val="980000"/>
                          </a:solidFill>
                          <a:latin typeface="Roboto"/>
                          <a:cs typeface="Roboto"/>
                        </a:rPr>
                        <a:t>models</a:t>
                      </a:r>
                      <a:endParaRPr sz="1400">
                        <a:latin typeface="Roboto"/>
                        <a:cs typeface="Roboto"/>
                      </a:endParaRPr>
                    </a:p>
                  </a:txBody>
                  <a:tcPr marL="0" marR="0" marT="97155" marB="0"/>
                </a:tc>
                <a:tc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1400" spc="-10" dirty="0">
                          <a:solidFill>
                            <a:srgbClr val="8E7BC3"/>
                          </a:solidFill>
                          <a:latin typeface="Roboto"/>
                          <a:cs typeface="Roboto"/>
                        </a:rPr>
                        <a:t>General-</a:t>
                      </a:r>
                      <a:r>
                        <a:rPr sz="1400" dirty="0">
                          <a:solidFill>
                            <a:srgbClr val="8E7BC3"/>
                          </a:solidFill>
                          <a:latin typeface="Roboto"/>
                          <a:cs typeface="Roboto"/>
                        </a:rPr>
                        <a:t>purpose</a:t>
                      </a:r>
                      <a:r>
                        <a:rPr sz="1400" spc="-90" dirty="0">
                          <a:solidFill>
                            <a:srgbClr val="8E7BC3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400" spc="-25" dirty="0">
                          <a:solidFill>
                            <a:srgbClr val="8E7BC3"/>
                          </a:solidFill>
                          <a:latin typeface="Roboto"/>
                          <a:cs typeface="Roboto"/>
                        </a:rPr>
                        <a:t>LMs</a:t>
                      </a:r>
                      <a:endParaRPr sz="1400">
                        <a:latin typeface="Roboto"/>
                        <a:cs typeface="Roboto"/>
                      </a:endParaRPr>
                    </a:p>
                  </a:txBody>
                  <a:tcPr marL="0" marR="0" marT="9525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8135">
                <a:tc>
                  <a:txBody>
                    <a:bodyPr/>
                    <a:lstStyle/>
                    <a:p>
                      <a:pPr marL="31750">
                        <a:lnSpc>
                          <a:spcPts val="1645"/>
                        </a:lnSpc>
                        <a:spcBef>
                          <a:spcPts val="760"/>
                        </a:spcBef>
                      </a:pPr>
                      <a:r>
                        <a:rPr sz="1400" dirty="0">
                          <a:solidFill>
                            <a:srgbClr val="0000FF"/>
                          </a:solidFill>
                          <a:latin typeface="Roboto"/>
                          <a:cs typeface="Roboto"/>
                        </a:rPr>
                        <a:t>Limited</a:t>
                      </a:r>
                      <a:r>
                        <a:rPr sz="1400" spc="-35" dirty="0">
                          <a:solidFill>
                            <a:srgbClr val="0000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400" spc="-10" dirty="0">
                          <a:solidFill>
                            <a:srgbClr val="0000FF"/>
                          </a:solidFill>
                          <a:latin typeface="Roboto"/>
                          <a:cs typeface="Roboto"/>
                        </a:rPr>
                        <a:t>generalization</a:t>
                      </a:r>
                      <a:endParaRPr sz="1400">
                        <a:latin typeface="Roboto"/>
                        <a:cs typeface="Roboto"/>
                      </a:endParaRPr>
                    </a:p>
                  </a:txBody>
                  <a:tcPr marL="0" marR="0" marT="96520" marB="0"/>
                </a:tc>
                <a:tc>
                  <a:txBody>
                    <a:bodyPr/>
                    <a:lstStyle/>
                    <a:p>
                      <a:pPr marL="180975">
                        <a:lnSpc>
                          <a:spcPts val="1639"/>
                        </a:lnSpc>
                        <a:spcBef>
                          <a:spcPts val="765"/>
                        </a:spcBef>
                      </a:pPr>
                      <a:r>
                        <a:rPr sz="1400" spc="-10" dirty="0">
                          <a:solidFill>
                            <a:srgbClr val="980000"/>
                          </a:solidFill>
                          <a:latin typeface="Roboto"/>
                          <a:cs typeface="Roboto"/>
                        </a:rPr>
                        <a:t>Introduction</a:t>
                      </a:r>
                      <a:r>
                        <a:rPr sz="1400" spc="-25" dirty="0">
                          <a:solidFill>
                            <a:srgbClr val="98000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400" dirty="0">
                          <a:solidFill>
                            <a:srgbClr val="980000"/>
                          </a:solidFill>
                          <a:latin typeface="Roboto"/>
                          <a:cs typeface="Roboto"/>
                        </a:rPr>
                        <a:t>of</a:t>
                      </a:r>
                      <a:r>
                        <a:rPr sz="1400" spc="-25" dirty="0">
                          <a:solidFill>
                            <a:srgbClr val="98000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400" spc="-10" dirty="0">
                          <a:solidFill>
                            <a:srgbClr val="980000"/>
                          </a:solidFill>
                          <a:latin typeface="Roboto"/>
                          <a:cs typeface="Roboto"/>
                        </a:rPr>
                        <a:t>corpora</a:t>
                      </a:r>
                      <a:endParaRPr sz="1400">
                        <a:latin typeface="Roboto"/>
                        <a:cs typeface="Roboto"/>
                      </a:endParaRPr>
                    </a:p>
                  </a:txBody>
                  <a:tcPr marL="0" marR="0" marT="97155" marB="0"/>
                </a:tc>
                <a:tc>
                  <a:txBody>
                    <a:bodyPr/>
                    <a:lstStyle/>
                    <a:p>
                      <a:pPr marL="174625">
                        <a:lnSpc>
                          <a:spcPts val="1655"/>
                        </a:lnSpc>
                        <a:spcBef>
                          <a:spcPts val="750"/>
                        </a:spcBef>
                      </a:pPr>
                      <a:r>
                        <a:rPr sz="1400" dirty="0">
                          <a:solidFill>
                            <a:srgbClr val="8E7BC3"/>
                          </a:solidFill>
                          <a:latin typeface="Roboto"/>
                          <a:cs typeface="Roboto"/>
                        </a:rPr>
                        <a:t>Massive</a:t>
                      </a:r>
                      <a:r>
                        <a:rPr sz="1400" spc="-50" dirty="0">
                          <a:solidFill>
                            <a:srgbClr val="8E7BC3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400" spc="-10" dirty="0">
                          <a:solidFill>
                            <a:srgbClr val="8E7BC3"/>
                          </a:solidFill>
                          <a:latin typeface="Roboto"/>
                          <a:cs typeface="Roboto"/>
                        </a:rPr>
                        <a:t>datasets</a:t>
                      </a:r>
                      <a:r>
                        <a:rPr sz="1400" spc="-45" dirty="0">
                          <a:solidFill>
                            <a:srgbClr val="8E7BC3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400" dirty="0">
                          <a:solidFill>
                            <a:srgbClr val="8E7BC3"/>
                          </a:solidFill>
                          <a:latin typeface="Roboto"/>
                          <a:cs typeface="Roboto"/>
                        </a:rPr>
                        <a:t>and</a:t>
                      </a:r>
                      <a:r>
                        <a:rPr sz="1400" spc="-45" dirty="0">
                          <a:solidFill>
                            <a:srgbClr val="8E7BC3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400" spc="-10" dirty="0">
                          <a:solidFill>
                            <a:srgbClr val="8E7BC3"/>
                          </a:solidFill>
                          <a:latin typeface="Roboto"/>
                          <a:cs typeface="Roboto"/>
                        </a:rPr>
                        <a:t>compute</a:t>
                      </a:r>
                      <a:endParaRPr sz="1400">
                        <a:latin typeface="Roboto"/>
                        <a:cs typeface="Roboto"/>
                      </a:endParaRPr>
                    </a:p>
                  </a:txBody>
                  <a:tcPr marL="0" marR="0" marT="9525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414305" y="3524151"/>
            <a:ext cx="87566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858585"/>
                </a:solidFill>
                <a:latin typeface="Calibri"/>
                <a:cs typeface="Calibri"/>
              </a:rPr>
              <a:t>Turing</a:t>
            </a:r>
            <a:r>
              <a:rPr sz="1500" b="1" spc="-45" dirty="0">
                <a:solidFill>
                  <a:srgbClr val="858585"/>
                </a:solidFill>
                <a:latin typeface="Calibri"/>
                <a:cs typeface="Calibri"/>
              </a:rPr>
              <a:t> </a:t>
            </a:r>
            <a:r>
              <a:rPr sz="1500" b="1" spc="-20" dirty="0">
                <a:solidFill>
                  <a:srgbClr val="858585"/>
                </a:solidFill>
                <a:latin typeface="Calibri"/>
                <a:cs typeface="Calibri"/>
              </a:rPr>
              <a:t>Test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35996" y="3524142"/>
            <a:ext cx="45529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858585"/>
                </a:solidFill>
                <a:latin typeface="Calibri"/>
                <a:cs typeface="Calibri"/>
              </a:rPr>
              <a:t>ELIZA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030262" y="3523667"/>
            <a:ext cx="70358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858585"/>
                </a:solidFill>
                <a:latin typeface="Calibri"/>
                <a:cs typeface="Calibri"/>
              </a:rPr>
              <a:t>ChatGPT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83987" y="3840948"/>
            <a:ext cx="7642859" cy="347345"/>
            <a:chOff x="883987" y="3840948"/>
            <a:chExt cx="7642859" cy="347345"/>
          </a:xfrm>
        </p:grpSpPr>
        <p:sp>
          <p:nvSpPr>
            <p:cNvPr id="6" name="object 6"/>
            <p:cNvSpPr/>
            <p:nvPr/>
          </p:nvSpPr>
          <p:spPr>
            <a:xfrm>
              <a:off x="898275" y="3841618"/>
              <a:ext cx="0" cy="346710"/>
            </a:xfrm>
            <a:custGeom>
              <a:avLst/>
              <a:gdLst/>
              <a:ahLst/>
              <a:cxnLst/>
              <a:rect l="l" t="t" r="r" b="b"/>
              <a:pathLst>
                <a:path h="346710">
                  <a:moveTo>
                    <a:pt x="0" y="0"/>
                  </a:moveTo>
                  <a:lnTo>
                    <a:pt x="0" y="346199"/>
                  </a:lnTo>
                </a:path>
              </a:pathLst>
            </a:custGeom>
            <a:ln w="28574">
              <a:solidFill>
                <a:srgbClr val="C1C1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98288" y="3875900"/>
              <a:ext cx="7628255" cy="276860"/>
            </a:xfrm>
            <a:custGeom>
              <a:avLst/>
              <a:gdLst/>
              <a:ahLst/>
              <a:cxnLst/>
              <a:rect l="l" t="t" r="r" b="b"/>
              <a:pathLst>
                <a:path w="7628255" h="276860">
                  <a:moveTo>
                    <a:pt x="7489949" y="276299"/>
                  </a:moveTo>
                  <a:lnTo>
                    <a:pt x="7489949" y="207224"/>
                  </a:lnTo>
                  <a:lnTo>
                    <a:pt x="0" y="207224"/>
                  </a:lnTo>
                  <a:lnTo>
                    <a:pt x="0" y="69074"/>
                  </a:lnTo>
                  <a:lnTo>
                    <a:pt x="7489949" y="69074"/>
                  </a:lnTo>
                  <a:lnTo>
                    <a:pt x="7489949" y="0"/>
                  </a:lnTo>
                  <a:lnTo>
                    <a:pt x="7628099" y="138149"/>
                  </a:lnTo>
                  <a:lnTo>
                    <a:pt x="7489949" y="276299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989916" y="3840948"/>
              <a:ext cx="4401820" cy="346710"/>
            </a:xfrm>
            <a:custGeom>
              <a:avLst/>
              <a:gdLst/>
              <a:ahLst/>
              <a:cxnLst/>
              <a:rect l="l" t="t" r="r" b="b"/>
              <a:pathLst>
                <a:path w="4401820" h="346710">
                  <a:moveTo>
                    <a:pt x="0" y="0"/>
                  </a:moveTo>
                  <a:lnTo>
                    <a:pt x="0" y="346199"/>
                  </a:lnTo>
                </a:path>
                <a:path w="4401820" h="346710">
                  <a:moveTo>
                    <a:pt x="4401683" y="0"/>
                  </a:moveTo>
                  <a:lnTo>
                    <a:pt x="4401683" y="346199"/>
                  </a:lnTo>
                </a:path>
              </a:pathLst>
            </a:custGeom>
            <a:ln w="28574">
              <a:solidFill>
                <a:srgbClr val="C1C1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" name="object 4"/>
          <p:cNvSpPr txBox="1"/>
          <p:nvPr/>
        </p:nvSpPr>
        <p:spPr>
          <a:xfrm>
            <a:off x="697884" y="4202848"/>
            <a:ext cx="41148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20" dirty="0">
                <a:solidFill>
                  <a:srgbClr val="858585"/>
                </a:solidFill>
                <a:latin typeface="Calibri"/>
                <a:cs typeface="Calibri"/>
              </a:rPr>
              <a:t>1950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59834" y="4202848"/>
            <a:ext cx="41148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20" dirty="0">
                <a:solidFill>
                  <a:srgbClr val="858585"/>
                </a:solidFill>
                <a:latin typeface="Calibri"/>
                <a:cs typeface="Calibri"/>
              </a:rPr>
              <a:t>1966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67859" y="4202835"/>
            <a:ext cx="41148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20" dirty="0">
                <a:solidFill>
                  <a:srgbClr val="858585"/>
                </a:solidFill>
                <a:latin typeface="Calibri"/>
                <a:cs typeface="Calibri"/>
              </a:rPr>
              <a:t>2022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ELIZA</a:t>
            </a:r>
            <a:r>
              <a:rPr spc="60" dirty="0"/>
              <a:t> </a:t>
            </a:r>
            <a:r>
              <a:rPr spc="-10" dirty="0"/>
              <a:t>(1966)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0299" y="1076275"/>
            <a:ext cx="4672558" cy="3029987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5664500" y="1218388"/>
            <a:ext cx="2884805" cy="236791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307975">
              <a:lnSpc>
                <a:spcPct val="105000"/>
              </a:lnSpc>
              <a:spcBef>
                <a:spcPts val="15"/>
              </a:spcBef>
            </a:pP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Early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NLP</a:t>
            </a:r>
            <a:r>
              <a:rPr sz="14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program</a:t>
            </a:r>
            <a:r>
              <a:rPr sz="14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developed</a:t>
            </a:r>
            <a:r>
              <a:rPr sz="14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5" dirty="0">
                <a:solidFill>
                  <a:srgbClr val="595959"/>
                </a:solidFill>
                <a:latin typeface="Roboto"/>
                <a:cs typeface="Roboto"/>
              </a:rPr>
              <a:t>by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Joseph</a:t>
            </a:r>
            <a:r>
              <a:rPr sz="14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Weizenbaum</a:t>
            </a:r>
            <a:r>
              <a:rPr sz="14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at</a:t>
            </a:r>
            <a:r>
              <a:rPr sz="14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MIT.</a:t>
            </a:r>
            <a:endParaRPr sz="14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525"/>
              </a:spcBef>
            </a:pPr>
            <a:endParaRPr sz="1400">
              <a:latin typeface="Roboto"/>
              <a:cs typeface="Roboto"/>
            </a:endParaRPr>
          </a:p>
          <a:p>
            <a:pPr marL="12700" marR="5080">
              <a:lnSpc>
                <a:spcPct val="105000"/>
              </a:lnSpc>
            </a:pP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Created</a:t>
            </a:r>
            <a:r>
              <a:rPr sz="14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illusion</a:t>
            </a:r>
            <a:r>
              <a:rPr sz="14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of</a:t>
            </a:r>
            <a:r>
              <a:rPr sz="14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a</a:t>
            </a:r>
            <a:r>
              <a:rPr sz="14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conversation</a:t>
            </a:r>
            <a:r>
              <a:rPr sz="14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5" dirty="0">
                <a:solidFill>
                  <a:srgbClr val="595959"/>
                </a:solidFill>
                <a:latin typeface="Roboto"/>
                <a:cs typeface="Roboto"/>
              </a:rPr>
              <a:t>by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rephrasing</a:t>
            </a: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user</a:t>
            </a: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statements</a:t>
            </a:r>
            <a:r>
              <a:rPr sz="14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5" dirty="0">
                <a:solidFill>
                  <a:srgbClr val="595959"/>
                </a:solidFill>
                <a:latin typeface="Roboto"/>
                <a:cs typeface="Roboto"/>
              </a:rPr>
              <a:t>as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questions</a:t>
            </a:r>
            <a:r>
              <a:rPr sz="14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using</a:t>
            </a:r>
            <a:r>
              <a:rPr sz="14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pattern</a:t>
            </a:r>
            <a:r>
              <a:rPr sz="14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matching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and</a:t>
            </a:r>
            <a:r>
              <a:rPr sz="14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substitution</a:t>
            </a:r>
            <a:r>
              <a:rPr sz="14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methodology.</a:t>
            </a:r>
            <a:endParaRPr sz="14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1400">
              <a:latin typeface="Roboto"/>
              <a:cs typeface="Roboto"/>
            </a:endParaRPr>
          </a:p>
          <a:p>
            <a:pPr marL="12700" marR="20320">
              <a:lnSpc>
                <a:spcPct val="105000"/>
              </a:lnSpc>
            </a:pP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One</a:t>
            </a:r>
            <a:r>
              <a:rPr sz="14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of</a:t>
            </a:r>
            <a:r>
              <a:rPr sz="14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the</a:t>
            </a:r>
            <a:r>
              <a:rPr sz="14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first</a:t>
            </a:r>
            <a:r>
              <a:rPr sz="14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programs</a:t>
            </a:r>
            <a:r>
              <a:rPr sz="14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capable</a:t>
            </a:r>
            <a:r>
              <a:rPr sz="14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5" dirty="0">
                <a:solidFill>
                  <a:srgbClr val="595959"/>
                </a:solidFill>
                <a:latin typeface="Roboto"/>
                <a:cs typeface="Roboto"/>
              </a:rPr>
              <a:t>of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attempting</a:t>
            </a:r>
            <a:r>
              <a:rPr sz="1400" spc="-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the</a:t>
            </a:r>
            <a:r>
              <a:rPr sz="1400" spc="-7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Turing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test.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84925" y="4329479"/>
            <a:ext cx="450596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Try</a:t>
            </a:r>
            <a:r>
              <a:rPr sz="15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it</a:t>
            </a:r>
            <a:r>
              <a:rPr sz="15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out</a:t>
            </a:r>
            <a:r>
              <a:rPr sz="15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at</a:t>
            </a:r>
            <a:r>
              <a:rPr sz="1500" spc="-1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https://web.njit.edu/~ronkowit/eliza.html</a:t>
            </a:r>
            <a:endParaRPr sz="15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Has</a:t>
            </a:r>
            <a:r>
              <a:rPr spc="15" dirty="0"/>
              <a:t> </a:t>
            </a:r>
            <a:r>
              <a:rPr dirty="0"/>
              <a:t>AI</a:t>
            </a:r>
            <a:r>
              <a:rPr spc="20" dirty="0"/>
              <a:t> </a:t>
            </a:r>
            <a:r>
              <a:rPr dirty="0"/>
              <a:t>Passed</a:t>
            </a:r>
            <a:r>
              <a:rPr spc="-3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Turing</a:t>
            </a:r>
            <a:r>
              <a:rPr spc="-30" dirty="0"/>
              <a:t> </a:t>
            </a:r>
            <a:r>
              <a:rPr spc="-10" dirty="0"/>
              <a:t>Test?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460925" y="1078018"/>
            <a:ext cx="4947285" cy="1497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6040" algn="just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595959"/>
                </a:solidFill>
                <a:latin typeface="Roboto"/>
                <a:cs typeface="Roboto"/>
              </a:rPr>
              <a:t>How</a:t>
            </a:r>
            <a:r>
              <a:rPr sz="1600" b="1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b="1" dirty="0">
                <a:solidFill>
                  <a:srgbClr val="595959"/>
                </a:solidFill>
                <a:latin typeface="Roboto"/>
                <a:cs typeface="Roboto"/>
              </a:rPr>
              <a:t>do</a:t>
            </a:r>
            <a:r>
              <a:rPr sz="1600" b="1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b="1" dirty="0">
                <a:solidFill>
                  <a:srgbClr val="595959"/>
                </a:solidFill>
                <a:latin typeface="Roboto"/>
                <a:cs typeface="Roboto"/>
              </a:rPr>
              <a:t>we</a:t>
            </a:r>
            <a:r>
              <a:rPr sz="1600" b="1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b="1" dirty="0">
                <a:solidFill>
                  <a:srgbClr val="595959"/>
                </a:solidFill>
                <a:latin typeface="Roboto"/>
                <a:cs typeface="Roboto"/>
              </a:rPr>
              <a:t>even</a:t>
            </a:r>
            <a:r>
              <a:rPr sz="1600" b="1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Roboto"/>
                <a:cs typeface="Roboto"/>
              </a:rPr>
              <a:t>tell?</a:t>
            </a:r>
            <a:endParaRPr sz="16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1600">
              <a:latin typeface="Roboto"/>
              <a:cs typeface="Roboto"/>
            </a:endParaRPr>
          </a:p>
          <a:p>
            <a:pPr marL="12700" marR="153035" algn="just">
              <a:lnSpc>
                <a:spcPts val="1570"/>
              </a:lnSpc>
            </a:pPr>
            <a:r>
              <a:rPr sz="1350" i="1" dirty="0">
                <a:solidFill>
                  <a:srgbClr val="595959"/>
                </a:solidFill>
                <a:latin typeface="Roboto"/>
                <a:cs typeface="Roboto"/>
              </a:rPr>
              <a:t>“The</a:t>
            </a:r>
            <a:r>
              <a:rPr sz="1350" i="1" spc="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50" i="1" dirty="0">
                <a:solidFill>
                  <a:srgbClr val="595959"/>
                </a:solidFill>
                <a:latin typeface="Roboto"/>
                <a:cs typeface="Roboto"/>
              </a:rPr>
              <a:t>best-performing</a:t>
            </a:r>
            <a:r>
              <a:rPr sz="1350" i="1" spc="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50" i="1" spc="-40" dirty="0">
                <a:solidFill>
                  <a:srgbClr val="595959"/>
                </a:solidFill>
                <a:latin typeface="Roboto"/>
                <a:cs typeface="Roboto"/>
              </a:rPr>
              <a:t>GPT-</a:t>
            </a:r>
            <a:r>
              <a:rPr sz="1350" i="1" dirty="0">
                <a:solidFill>
                  <a:srgbClr val="595959"/>
                </a:solidFill>
                <a:latin typeface="Roboto"/>
                <a:cs typeface="Roboto"/>
              </a:rPr>
              <a:t>4</a:t>
            </a:r>
            <a:r>
              <a:rPr sz="1350" i="1" spc="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50" i="1" dirty="0">
                <a:solidFill>
                  <a:srgbClr val="595959"/>
                </a:solidFill>
                <a:latin typeface="Roboto"/>
                <a:cs typeface="Roboto"/>
              </a:rPr>
              <a:t>prompt</a:t>
            </a:r>
            <a:r>
              <a:rPr sz="1350" i="1" spc="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50" i="1" dirty="0">
                <a:solidFill>
                  <a:srgbClr val="595959"/>
                </a:solidFill>
                <a:latin typeface="Roboto"/>
                <a:cs typeface="Roboto"/>
              </a:rPr>
              <a:t>passed</a:t>
            </a:r>
            <a:r>
              <a:rPr sz="1350" i="1" spc="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50" i="1" dirty="0">
                <a:solidFill>
                  <a:srgbClr val="595959"/>
                </a:solidFill>
                <a:latin typeface="Roboto"/>
                <a:cs typeface="Roboto"/>
              </a:rPr>
              <a:t>in</a:t>
            </a:r>
            <a:r>
              <a:rPr sz="1350" i="1" spc="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50" i="1" dirty="0">
                <a:solidFill>
                  <a:srgbClr val="595959"/>
                </a:solidFill>
                <a:latin typeface="Roboto"/>
                <a:cs typeface="Roboto"/>
              </a:rPr>
              <a:t>49.7%</a:t>
            </a:r>
            <a:r>
              <a:rPr sz="1350" i="1" spc="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50" i="1" dirty="0">
                <a:solidFill>
                  <a:srgbClr val="595959"/>
                </a:solidFill>
                <a:latin typeface="Roboto"/>
                <a:cs typeface="Roboto"/>
              </a:rPr>
              <a:t>of</a:t>
            </a:r>
            <a:r>
              <a:rPr sz="1350" i="1" spc="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50" i="1" spc="-10" dirty="0">
                <a:solidFill>
                  <a:srgbClr val="595959"/>
                </a:solidFill>
                <a:latin typeface="Roboto"/>
                <a:cs typeface="Roboto"/>
              </a:rPr>
              <a:t>games, </a:t>
            </a:r>
            <a:r>
              <a:rPr sz="1350" i="1" dirty="0">
                <a:solidFill>
                  <a:srgbClr val="595959"/>
                </a:solidFill>
                <a:latin typeface="Roboto"/>
                <a:cs typeface="Roboto"/>
              </a:rPr>
              <a:t>outperforming</a:t>
            </a:r>
            <a:r>
              <a:rPr sz="1350" i="1" spc="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50" i="1" dirty="0">
                <a:solidFill>
                  <a:srgbClr val="595959"/>
                </a:solidFill>
                <a:latin typeface="Roboto"/>
                <a:cs typeface="Roboto"/>
              </a:rPr>
              <a:t>ELIZA</a:t>
            </a:r>
            <a:r>
              <a:rPr sz="1350" i="1" spc="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50" i="1" dirty="0">
                <a:solidFill>
                  <a:srgbClr val="595959"/>
                </a:solidFill>
                <a:latin typeface="Roboto"/>
                <a:cs typeface="Roboto"/>
              </a:rPr>
              <a:t>(22%)</a:t>
            </a:r>
            <a:r>
              <a:rPr sz="1350" i="1" spc="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50" i="1" dirty="0">
                <a:solidFill>
                  <a:srgbClr val="595959"/>
                </a:solidFill>
                <a:latin typeface="Roboto"/>
                <a:cs typeface="Roboto"/>
              </a:rPr>
              <a:t>and</a:t>
            </a:r>
            <a:r>
              <a:rPr sz="1350" i="1" spc="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50" i="1" spc="-40" dirty="0">
                <a:solidFill>
                  <a:srgbClr val="595959"/>
                </a:solidFill>
                <a:latin typeface="Roboto"/>
                <a:cs typeface="Roboto"/>
              </a:rPr>
              <a:t>GPT-</a:t>
            </a:r>
            <a:r>
              <a:rPr sz="1350" i="1" dirty="0">
                <a:solidFill>
                  <a:srgbClr val="595959"/>
                </a:solidFill>
                <a:latin typeface="Roboto"/>
                <a:cs typeface="Roboto"/>
              </a:rPr>
              <a:t>3.5</a:t>
            </a:r>
            <a:r>
              <a:rPr sz="1350" i="1" spc="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50" i="1" dirty="0">
                <a:solidFill>
                  <a:srgbClr val="595959"/>
                </a:solidFill>
                <a:latin typeface="Roboto"/>
                <a:cs typeface="Roboto"/>
              </a:rPr>
              <a:t>(20%),</a:t>
            </a:r>
            <a:r>
              <a:rPr sz="1350" i="1" spc="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50" i="1" dirty="0">
                <a:solidFill>
                  <a:srgbClr val="595959"/>
                </a:solidFill>
                <a:latin typeface="Roboto"/>
                <a:cs typeface="Roboto"/>
              </a:rPr>
              <a:t>but</a:t>
            </a:r>
            <a:r>
              <a:rPr sz="1350" i="1" spc="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50" i="1" dirty="0">
                <a:solidFill>
                  <a:srgbClr val="595959"/>
                </a:solidFill>
                <a:latin typeface="Roboto"/>
                <a:cs typeface="Roboto"/>
              </a:rPr>
              <a:t>falling</a:t>
            </a:r>
            <a:r>
              <a:rPr sz="1350" i="1" spc="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50" i="1" spc="-10" dirty="0">
                <a:solidFill>
                  <a:srgbClr val="595959"/>
                </a:solidFill>
                <a:latin typeface="Roboto"/>
                <a:cs typeface="Roboto"/>
              </a:rPr>
              <a:t>short </a:t>
            </a:r>
            <a:r>
              <a:rPr sz="1350" i="1" dirty="0">
                <a:solidFill>
                  <a:srgbClr val="595959"/>
                </a:solidFill>
                <a:latin typeface="Roboto"/>
                <a:cs typeface="Roboto"/>
              </a:rPr>
              <a:t>of</a:t>
            </a:r>
            <a:r>
              <a:rPr sz="1350" i="1" spc="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50" i="1" dirty="0">
                <a:solidFill>
                  <a:srgbClr val="595959"/>
                </a:solidFill>
                <a:latin typeface="Roboto"/>
                <a:cs typeface="Roboto"/>
              </a:rPr>
              <a:t>the</a:t>
            </a:r>
            <a:r>
              <a:rPr sz="1350" i="1" spc="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50" i="1" dirty="0">
                <a:solidFill>
                  <a:srgbClr val="595959"/>
                </a:solidFill>
                <a:latin typeface="Roboto"/>
                <a:cs typeface="Roboto"/>
              </a:rPr>
              <a:t>baseline</a:t>
            </a:r>
            <a:r>
              <a:rPr sz="1350" i="1" spc="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50" i="1" dirty="0">
                <a:solidFill>
                  <a:srgbClr val="595959"/>
                </a:solidFill>
                <a:latin typeface="Roboto"/>
                <a:cs typeface="Roboto"/>
              </a:rPr>
              <a:t>set</a:t>
            </a:r>
            <a:r>
              <a:rPr sz="1350" i="1" spc="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50" i="1" dirty="0">
                <a:solidFill>
                  <a:srgbClr val="595959"/>
                </a:solidFill>
                <a:latin typeface="Roboto"/>
                <a:cs typeface="Roboto"/>
              </a:rPr>
              <a:t>by</a:t>
            </a:r>
            <a:r>
              <a:rPr sz="1350" i="1" spc="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50" i="1" dirty="0">
                <a:solidFill>
                  <a:srgbClr val="595959"/>
                </a:solidFill>
                <a:latin typeface="Roboto"/>
                <a:cs typeface="Roboto"/>
              </a:rPr>
              <a:t>human</a:t>
            </a:r>
            <a:r>
              <a:rPr sz="1350" i="1" spc="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50" i="1" dirty="0">
                <a:solidFill>
                  <a:srgbClr val="595959"/>
                </a:solidFill>
                <a:latin typeface="Roboto"/>
                <a:cs typeface="Roboto"/>
              </a:rPr>
              <a:t>participants</a:t>
            </a:r>
            <a:r>
              <a:rPr sz="1350" i="1" spc="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50" i="1" spc="-10" dirty="0">
                <a:solidFill>
                  <a:srgbClr val="595959"/>
                </a:solidFill>
                <a:latin typeface="Roboto"/>
                <a:cs typeface="Roboto"/>
              </a:rPr>
              <a:t>(66%).”</a:t>
            </a:r>
            <a:endParaRPr sz="13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1350" dirty="0">
                <a:solidFill>
                  <a:srgbClr val="595959"/>
                </a:solidFill>
                <a:latin typeface="Roboto"/>
                <a:cs typeface="Roboto"/>
              </a:rPr>
              <a:t>C.</a:t>
            </a:r>
            <a:r>
              <a:rPr sz="1350" spc="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595959"/>
                </a:solidFill>
                <a:latin typeface="Roboto"/>
                <a:cs typeface="Roboto"/>
              </a:rPr>
              <a:t>Jones</a:t>
            </a:r>
            <a:r>
              <a:rPr sz="1350" spc="1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595959"/>
                </a:solidFill>
                <a:latin typeface="Roboto"/>
                <a:cs typeface="Roboto"/>
              </a:rPr>
              <a:t>and</a:t>
            </a:r>
            <a:r>
              <a:rPr sz="1350" spc="1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595959"/>
                </a:solidFill>
                <a:latin typeface="Roboto"/>
                <a:cs typeface="Roboto"/>
              </a:rPr>
              <a:t>B.</a:t>
            </a:r>
            <a:r>
              <a:rPr sz="1350" spc="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595959"/>
                </a:solidFill>
                <a:latin typeface="Roboto"/>
                <a:cs typeface="Roboto"/>
              </a:rPr>
              <a:t>Bergen.</a:t>
            </a:r>
            <a:r>
              <a:rPr sz="1350" spc="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5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Does</a:t>
            </a:r>
            <a:r>
              <a:rPr sz="1350" u="heavy" spc="1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 </a:t>
            </a:r>
            <a:r>
              <a:rPr sz="1350" u="heavy" spc="-4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GPT-</a:t>
            </a:r>
            <a:r>
              <a:rPr sz="135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4</a:t>
            </a:r>
            <a:r>
              <a:rPr sz="1350" u="heavy" spc="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 </a:t>
            </a:r>
            <a:r>
              <a:rPr sz="135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pass</a:t>
            </a:r>
            <a:r>
              <a:rPr sz="1350" u="heavy" spc="1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 </a:t>
            </a:r>
            <a:r>
              <a:rPr sz="135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the</a:t>
            </a:r>
            <a:r>
              <a:rPr sz="135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 </a:t>
            </a:r>
            <a:r>
              <a:rPr sz="135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Turing</a:t>
            </a:r>
            <a:r>
              <a:rPr sz="1350" u="heavy" spc="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 </a:t>
            </a:r>
            <a:r>
              <a:rPr sz="135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test?</a:t>
            </a:r>
            <a:r>
              <a:rPr sz="1350" u="none" spc="35" dirty="0">
                <a:solidFill>
                  <a:srgbClr val="0097A7"/>
                </a:solidFill>
                <a:latin typeface="Roboto"/>
                <a:cs typeface="Roboto"/>
              </a:rPr>
              <a:t> </a:t>
            </a:r>
            <a:r>
              <a:rPr sz="1350" u="none" spc="-10" dirty="0">
                <a:solidFill>
                  <a:srgbClr val="595959"/>
                </a:solidFill>
                <a:latin typeface="Roboto"/>
                <a:cs typeface="Roboto"/>
              </a:rPr>
              <a:t>2024.</a:t>
            </a:r>
            <a:endParaRPr sz="1350">
              <a:latin typeface="Roboto"/>
              <a:cs typeface="Roboto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32271" y="1086385"/>
            <a:ext cx="2417815" cy="206521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4800" y="2863025"/>
            <a:ext cx="2865725" cy="18987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525349" y="3288033"/>
            <a:ext cx="5022215" cy="118364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88900">
              <a:lnSpc>
                <a:spcPts val="1570"/>
              </a:lnSpc>
              <a:spcBef>
                <a:spcPts val="219"/>
              </a:spcBef>
            </a:pPr>
            <a:r>
              <a:rPr sz="1350" i="1" spc="-20" dirty="0">
                <a:solidFill>
                  <a:srgbClr val="595959"/>
                </a:solidFill>
                <a:latin typeface="Roboto"/>
                <a:cs typeface="Roboto"/>
              </a:rPr>
              <a:t>“ChatGPT-</a:t>
            </a:r>
            <a:r>
              <a:rPr sz="1350" i="1" dirty="0">
                <a:solidFill>
                  <a:srgbClr val="595959"/>
                </a:solidFill>
                <a:latin typeface="Roboto"/>
                <a:cs typeface="Roboto"/>
              </a:rPr>
              <a:t>4</a:t>
            </a:r>
            <a:r>
              <a:rPr sz="1350" i="1" spc="1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50" i="1" dirty="0">
                <a:solidFill>
                  <a:srgbClr val="595959"/>
                </a:solidFill>
                <a:latin typeface="Roboto"/>
                <a:cs typeface="Roboto"/>
              </a:rPr>
              <a:t>exhibits</a:t>
            </a:r>
            <a:r>
              <a:rPr sz="1350" i="1" spc="1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50" i="1" dirty="0">
                <a:solidFill>
                  <a:srgbClr val="595959"/>
                </a:solidFill>
                <a:latin typeface="Roboto"/>
                <a:cs typeface="Roboto"/>
              </a:rPr>
              <a:t>behavioral</a:t>
            </a:r>
            <a:r>
              <a:rPr sz="1350" i="1" spc="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50" i="1" dirty="0">
                <a:solidFill>
                  <a:srgbClr val="595959"/>
                </a:solidFill>
                <a:latin typeface="Roboto"/>
                <a:cs typeface="Roboto"/>
              </a:rPr>
              <a:t>and</a:t>
            </a:r>
            <a:r>
              <a:rPr sz="1350" i="1" spc="1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50" i="1" dirty="0">
                <a:solidFill>
                  <a:srgbClr val="595959"/>
                </a:solidFill>
                <a:latin typeface="Roboto"/>
                <a:cs typeface="Roboto"/>
              </a:rPr>
              <a:t>personality</a:t>
            </a:r>
            <a:r>
              <a:rPr sz="1350" i="1" spc="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50" i="1" dirty="0">
                <a:solidFill>
                  <a:srgbClr val="595959"/>
                </a:solidFill>
                <a:latin typeface="Roboto"/>
                <a:cs typeface="Roboto"/>
              </a:rPr>
              <a:t>traits</a:t>
            </a:r>
            <a:r>
              <a:rPr sz="1350" i="1" spc="1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50" i="1" dirty="0">
                <a:solidFill>
                  <a:srgbClr val="595959"/>
                </a:solidFill>
                <a:latin typeface="Roboto"/>
                <a:cs typeface="Roboto"/>
              </a:rPr>
              <a:t>that</a:t>
            </a:r>
            <a:r>
              <a:rPr sz="1350" i="1" spc="1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50" i="1" spc="-25" dirty="0">
                <a:solidFill>
                  <a:srgbClr val="595959"/>
                </a:solidFill>
                <a:latin typeface="Roboto"/>
                <a:cs typeface="Roboto"/>
              </a:rPr>
              <a:t>are </a:t>
            </a:r>
            <a:r>
              <a:rPr sz="1350" i="1" dirty="0">
                <a:solidFill>
                  <a:srgbClr val="595959"/>
                </a:solidFill>
                <a:latin typeface="Roboto"/>
                <a:cs typeface="Roboto"/>
              </a:rPr>
              <a:t>statistically</a:t>
            </a:r>
            <a:r>
              <a:rPr sz="1350" i="1" spc="1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50" i="1" dirty="0">
                <a:solidFill>
                  <a:srgbClr val="595959"/>
                </a:solidFill>
                <a:latin typeface="Roboto"/>
                <a:cs typeface="Roboto"/>
              </a:rPr>
              <a:t>indistinguishable</a:t>
            </a:r>
            <a:r>
              <a:rPr sz="1350" i="1" spc="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50" i="1" dirty="0">
                <a:solidFill>
                  <a:srgbClr val="595959"/>
                </a:solidFill>
                <a:latin typeface="Roboto"/>
                <a:cs typeface="Roboto"/>
              </a:rPr>
              <a:t>from</a:t>
            </a:r>
            <a:r>
              <a:rPr sz="1350" i="1" spc="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50" i="1" dirty="0">
                <a:solidFill>
                  <a:srgbClr val="595959"/>
                </a:solidFill>
                <a:latin typeface="Roboto"/>
                <a:cs typeface="Roboto"/>
              </a:rPr>
              <a:t>a</a:t>
            </a:r>
            <a:r>
              <a:rPr sz="1350" i="1" spc="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50" i="1" dirty="0">
                <a:solidFill>
                  <a:srgbClr val="595959"/>
                </a:solidFill>
                <a:latin typeface="Roboto"/>
                <a:cs typeface="Roboto"/>
              </a:rPr>
              <a:t>random</a:t>
            </a:r>
            <a:r>
              <a:rPr sz="1350" i="1" spc="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50" i="1" dirty="0">
                <a:solidFill>
                  <a:srgbClr val="595959"/>
                </a:solidFill>
                <a:latin typeface="Roboto"/>
                <a:cs typeface="Roboto"/>
              </a:rPr>
              <a:t>human</a:t>
            </a:r>
            <a:r>
              <a:rPr sz="1350" i="1" spc="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50" i="1" dirty="0">
                <a:solidFill>
                  <a:srgbClr val="595959"/>
                </a:solidFill>
                <a:latin typeface="Roboto"/>
                <a:cs typeface="Roboto"/>
              </a:rPr>
              <a:t>from</a:t>
            </a:r>
            <a:r>
              <a:rPr sz="1350" i="1" spc="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50" i="1" dirty="0">
                <a:solidFill>
                  <a:srgbClr val="595959"/>
                </a:solidFill>
                <a:latin typeface="Roboto"/>
                <a:cs typeface="Roboto"/>
              </a:rPr>
              <a:t>tens</a:t>
            </a:r>
            <a:r>
              <a:rPr sz="1350" i="1" spc="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50" i="1" spc="-25" dirty="0">
                <a:solidFill>
                  <a:srgbClr val="595959"/>
                </a:solidFill>
                <a:latin typeface="Roboto"/>
                <a:cs typeface="Roboto"/>
              </a:rPr>
              <a:t>of </a:t>
            </a:r>
            <a:r>
              <a:rPr sz="1350" i="1" dirty="0">
                <a:solidFill>
                  <a:srgbClr val="595959"/>
                </a:solidFill>
                <a:latin typeface="Roboto"/>
                <a:cs typeface="Roboto"/>
              </a:rPr>
              <a:t>thousands</a:t>
            </a:r>
            <a:r>
              <a:rPr sz="1350" i="1" spc="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50" i="1" dirty="0">
                <a:solidFill>
                  <a:srgbClr val="595959"/>
                </a:solidFill>
                <a:latin typeface="Roboto"/>
                <a:cs typeface="Roboto"/>
              </a:rPr>
              <a:t>of</a:t>
            </a:r>
            <a:r>
              <a:rPr sz="1350" i="1" spc="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50" i="1" dirty="0">
                <a:solidFill>
                  <a:srgbClr val="595959"/>
                </a:solidFill>
                <a:latin typeface="Roboto"/>
                <a:cs typeface="Roboto"/>
              </a:rPr>
              <a:t>human</a:t>
            </a:r>
            <a:r>
              <a:rPr sz="1350" i="1" spc="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50" i="1" dirty="0">
                <a:solidFill>
                  <a:srgbClr val="595959"/>
                </a:solidFill>
                <a:latin typeface="Roboto"/>
                <a:cs typeface="Roboto"/>
              </a:rPr>
              <a:t>subjects</a:t>
            </a:r>
            <a:r>
              <a:rPr sz="1350" i="1" spc="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50" i="1" dirty="0">
                <a:solidFill>
                  <a:srgbClr val="595959"/>
                </a:solidFill>
                <a:latin typeface="Roboto"/>
                <a:cs typeface="Roboto"/>
              </a:rPr>
              <a:t>from</a:t>
            </a:r>
            <a:r>
              <a:rPr sz="1350" i="1" spc="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50" i="1" dirty="0">
                <a:solidFill>
                  <a:srgbClr val="595959"/>
                </a:solidFill>
                <a:latin typeface="Roboto"/>
                <a:cs typeface="Roboto"/>
              </a:rPr>
              <a:t>more</a:t>
            </a:r>
            <a:r>
              <a:rPr sz="1350" i="1" spc="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50" i="1" dirty="0">
                <a:solidFill>
                  <a:srgbClr val="595959"/>
                </a:solidFill>
                <a:latin typeface="Roboto"/>
                <a:cs typeface="Roboto"/>
              </a:rPr>
              <a:t>than</a:t>
            </a:r>
            <a:r>
              <a:rPr sz="1350" i="1" spc="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50" i="1" dirty="0">
                <a:solidFill>
                  <a:srgbClr val="595959"/>
                </a:solidFill>
                <a:latin typeface="Roboto"/>
                <a:cs typeface="Roboto"/>
              </a:rPr>
              <a:t>50</a:t>
            </a:r>
            <a:r>
              <a:rPr sz="1350" i="1" spc="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50" i="1" spc="-10" dirty="0">
                <a:solidFill>
                  <a:srgbClr val="595959"/>
                </a:solidFill>
                <a:latin typeface="Roboto"/>
                <a:cs typeface="Roboto"/>
              </a:rPr>
              <a:t>countries.”</a:t>
            </a:r>
            <a:endParaRPr sz="1350">
              <a:latin typeface="Roboto"/>
              <a:cs typeface="Roboto"/>
            </a:endParaRPr>
          </a:p>
          <a:p>
            <a:pPr marL="12700" marR="5080">
              <a:lnSpc>
                <a:spcPts val="1570"/>
              </a:lnSpc>
              <a:spcBef>
                <a:spcPts val="1190"/>
              </a:spcBef>
            </a:pPr>
            <a:r>
              <a:rPr sz="1350" dirty="0">
                <a:solidFill>
                  <a:srgbClr val="595959"/>
                </a:solidFill>
                <a:latin typeface="Roboto"/>
                <a:cs typeface="Roboto"/>
              </a:rPr>
              <a:t>Q.</a:t>
            </a:r>
            <a:r>
              <a:rPr sz="1350" spc="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595959"/>
                </a:solidFill>
                <a:latin typeface="Roboto"/>
                <a:cs typeface="Roboto"/>
              </a:rPr>
              <a:t>Mei</a:t>
            </a:r>
            <a:r>
              <a:rPr sz="1350" spc="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595959"/>
                </a:solidFill>
                <a:latin typeface="Roboto"/>
                <a:cs typeface="Roboto"/>
              </a:rPr>
              <a:t>et</a:t>
            </a:r>
            <a:r>
              <a:rPr sz="1350" spc="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595959"/>
                </a:solidFill>
                <a:latin typeface="Roboto"/>
                <a:cs typeface="Roboto"/>
              </a:rPr>
              <a:t>al.</a:t>
            </a:r>
            <a:r>
              <a:rPr sz="1350" spc="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5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5"/>
              </a:rPr>
              <a:t>A</a:t>
            </a:r>
            <a:r>
              <a:rPr sz="135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5"/>
              </a:rPr>
              <a:t> </a:t>
            </a:r>
            <a:r>
              <a:rPr sz="135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5"/>
              </a:rPr>
              <a:t>Turing</a:t>
            </a:r>
            <a:r>
              <a:rPr sz="1350" u="heavy" spc="2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5"/>
              </a:rPr>
              <a:t> </a:t>
            </a:r>
            <a:r>
              <a:rPr sz="135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5"/>
              </a:rPr>
              <a:t>test</a:t>
            </a:r>
            <a:r>
              <a:rPr sz="1350" u="heavy" spc="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5"/>
              </a:rPr>
              <a:t> </a:t>
            </a:r>
            <a:r>
              <a:rPr sz="135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5"/>
              </a:rPr>
              <a:t>of</a:t>
            </a:r>
            <a:r>
              <a:rPr sz="1350" u="heavy" spc="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5"/>
              </a:rPr>
              <a:t> </a:t>
            </a:r>
            <a:r>
              <a:rPr sz="135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5"/>
              </a:rPr>
              <a:t>whether</a:t>
            </a:r>
            <a:r>
              <a:rPr sz="1350" u="heavy" spc="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5"/>
              </a:rPr>
              <a:t> </a:t>
            </a:r>
            <a:r>
              <a:rPr sz="135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5"/>
              </a:rPr>
              <a:t>AI</a:t>
            </a:r>
            <a:r>
              <a:rPr sz="1350" u="heavy" spc="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5"/>
              </a:rPr>
              <a:t> </a:t>
            </a:r>
            <a:r>
              <a:rPr sz="135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5"/>
              </a:rPr>
              <a:t>chatbots</a:t>
            </a:r>
            <a:r>
              <a:rPr sz="1350" u="heavy" spc="1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5"/>
              </a:rPr>
              <a:t> </a:t>
            </a:r>
            <a:r>
              <a:rPr sz="135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5"/>
              </a:rPr>
              <a:t>are</a:t>
            </a:r>
            <a:r>
              <a:rPr sz="1350" u="heavy" spc="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5"/>
              </a:rPr>
              <a:t> </a:t>
            </a:r>
            <a:r>
              <a:rPr sz="135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5"/>
              </a:rPr>
              <a:t>behaviorally</a:t>
            </a:r>
            <a:r>
              <a:rPr sz="1350" u="none" spc="-10" dirty="0">
                <a:solidFill>
                  <a:srgbClr val="0097A7"/>
                </a:solidFill>
                <a:latin typeface="Roboto"/>
                <a:cs typeface="Roboto"/>
              </a:rPr>
              <a:t> </a:t>
            </a:r>
            <a:r>
              <a:rPr sz="135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5"/>
              </a:rPr>
              <a:t>similar</a:t>
            </a:r>
            <a:r>
              <a:rPr sz="1350" u="heavy" spc="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5"/>
              </a:rPr>
              <a:t> </a:t>
            </a:r>
            <a:r>
              <a:rPr sz="135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5"/>
              </a:rPr>
              <a:t>to</a:t>
            </a:r>
            <a:r>
              <a:rPr sz="1350" u="heavy" spc="3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5"/>
              </a:rPr>
              <a:t> </a:t>
            </a:r>
            <a:r>
              <a:rPr sz="135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5"/>
              </a:rPr>
              <a:t>humans</a:t>
            </a:r>
            <a:r>
              <a:rPr sz="1350" u="none" dirty="0">
                <a:solidFill>
                  <a:srgbClr val="595959"/>
                </a:solidFill>
                <a:latin typeface="Roboto"/>
                <a:cs typeface="Roboto"/>
              </a:rPr>
              <a:t>.</a:t>
            </a:r>
            <a:r>
              <a:rPr sz="1350" u="none" spc="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50" u="none" dirty="0">
                <a:solidFill>
                  <a:srgbClr val="595959"/>
                </a:solidFill>
                <a:latin typeface="Roboto"/>
                <a:cs typeface="Roboto"/>
              </a:rPr>
              <a:t>PNAS,</a:t>
            </a:r>
            <a:r>
              <a:rPr sz="1350" u="none" spc="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50" u="none" spc="-10" dirty="0">
                <a:solidFill>
                  <a:srgbClr val="595959"/>
                </a:solidFill>
                <a:latin typeface="Roboto"/>
                <a:cs typeface="Roboto"/>
              </a:rPr>
              <a:t>2024.</a:t>
            </a:r>
            <a:endParaRPr sz="13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A</a:t>
            </a:r>
            <a:r>
              <a:rPr spc="5" dirty="0"/>
              <a:t> </a:t>
            </a:r>
            <a:r>
              <a:rPr dirty="0"/>
              <a:t>Social</a:t>
            </a:r>
            <a:r>
              <a:rPr spc="-40" dirty="0"/>
              <a:t> </a:t>
            </a:r>
            <a:r>
              <a:rPr dirty="0"/>
              <a:t>Turing</a:t>
            </a:r>
            <a:r>
              <a:rPr spc="5" dirty="0"/>
              <a:t> </a:t>
            </a:r>
            <a:r>
              <a:rPr spc="-20" dirty="0"/>
              <a:t>Game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05383"/>
            <a:ext cx="8032115" cy="3364865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 algn="just">
              <a:lnSpc>
                <a:spcPts val="2050"/>
              </a:lnSpc>
              <a:spcBef>
                <a:spcPts val="260"/>
              </a:spcBef>
            </a:pP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Chat</a:t>
            </a:r>
            <a:r>
              <a:rPr sz="18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with</a:t>
            </a:r>
            <a:r>
              <a:rPr sz="18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someone</a:t>
            </a:r>
            <a:r>
              <a:rPr sz="18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for</a:t>
            </a:r>
            <a:r>
              <a:rPr sz="18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two</a:t>
            </a:r>
            <a:r>
              <a:rPr sz="1800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minutes</a:t>
            </a:r>
            <a:r>
              <a:rPr sz="18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and</a:t>
            </a:r>
            <a:r>
              <a:rPr sz="18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guess</a:t>
            </a:r>
            <a:r>
              <a:rPr sz="18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if</a:t>
            </a:r>
            <a:r>
              <a:rPr sz="1800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it</a:t>
            </a:r>
            <a:r>
              <a:rPr sz="18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was</a:t>
            </a:r>
            <a:r>
              <a:rPr sz="18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a</a:t>
            </a:r>
            <a:r>
              <a:rPr sz="18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fellow</a:t>
            </a:r>
            <a:r>
              <a:rPr sz="1800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human</a:t>
            </a:r>
            <a:r>
              <a:rPr sz="18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or</a:t>
            </a:r>
            <a:r>
              <a:rPr sz="18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an</a:t>
            </a:r>
            <a:r>
              <a:rPr sz="1800" spc="-25" dirty="0">
                <a:solidFill>
                  <a:srgbClr val="595959"/>
                </a:solidFill>
                <a:latin typeface="Roboto"/>
                <a:cs typeface="Roboto"/>
              </a:rPr>
              <a:t> AI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bot.</a:t>
            </a:r>
            <a:r>
              <a:rPr sz="1800" spc="-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The</a:t>
            </a:r>
            <a:r>
              <a:rPr sz="18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AI</a:t>
            </a:r>
            <a:r>
              <a:rPr sz="18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bots</a:t>
            </a:r>
            <a:r>
              <a:rPr sz="18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in</a:t>
            </a:r>
            <a:r>
              <a:rPr sz="18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the</a:t>
            </a:r>
            <a:r>
              <a:rPr sz="18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game</a:t>
            </a:r>
            <a:r>
              <a:rPr sz="18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are</a:t>
            </a:r>
            <a:r>
              <a:rPr sz="18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chosen</a:t>
            </a:r>
            <a:r>
              <a:rPr sz="18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from</a:t>
            </a:r>
            <a:r>
              <a:rPr sz="18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a</a:t>
            </a:r>
            <a:r>
              <a:rPr sz="18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mix</a:t>
            </a:r>
            <a:r>
              <a:rPr sz="18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of</a:t>
            </a:r>
            <a:r>
              <a:rPr sz="18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different</a:t>
            </a:r>
            <a:r>
              <a:rPr sz="18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LLMs,</a:t>
            </a:r>
            <a:r>
              <a:rPr sz="18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including Jurassic-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2,</a:t>
            </a: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70" dirty="0">
                <a:solidFill>
                  <a:srgbClr val="595959"/>
                </a:solidFill>
                <a:latin typeface="Roboto"/>
                <a:cs typeface="Roboto"/>
              </a:rPr>
              <a:t>GPT-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4,</a:t>
            </a: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Claude,</a:t>
            </a: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and</a:t>
            </a:r>
            <a:r>
              <a:rPr sz="1800" spc="-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Cohere.</a:t>
            </a: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800">
              <a:latin typeface="Roboto"/>
              <a:cs typeface="Roboto"/>
            </a:endParaRPr>
          </a:p>
          <a:p>
            <a:pPr marL="342900" algn="ctr">
              <a:lnSpc>
                <a:spcPct val="100000"/>
              </a:lnSpc>
            </a:pPr>
            <a:r>
              <a:rPr sz="20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https://www.humanornot.ai/</a:t>
            </a:r>
            <a:endParaRPr sz="20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2000">
              <a:latin typeface="Roboto"/>
              <a:cs typeface="Roboto"/>
            </a:endParaRPr>
          </a:p>
          <a:p>
            <a:pPr marL="12700" algn="just">
              <a:lnSpc>
                <a:spcPct val="100000"/>
              </a:lnSpc>
            </a:pP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Part</a:t>
            </a:r>
            <a:r>
              <a:rPr sz="18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of</a:t>
            </a:r>
            <a:r>
              <a:rPr sz="18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a</a:t>
            </a:r>
            <a:r>
              <a:rPr sz="18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larger</a:t>
            </a:r>
            <a:r>
              <a:rPr sz="18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scientific</a:t>
            </a:r>
            <a:r>
              <a:rPr sz="18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research</a:t>
            </a:r>
            <a:r>
              <a:rPr sz="18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project</a:t>
            </a:r>
            <a:r>
              <a:rPr sz="18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by</a:t>
            </a:r>
            <a:r>
              <a:rPr sz="18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AI21</a:t>
            </a:r>
            <a:r>
              <a:rPr sz="18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Labs.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D.</a:t>
            </a:r>
            <a:r>
              <a:rPr sz="18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Jannai</a:t>
            </a:r>
            <a:r>
              <a:rPr sz="18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et</a:t>
            </a:r>
            <a:r>
              <a:rPr sz="18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al.</a:t>
            </a:r>
            <a:r>
              <a:rPr sz="18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Human</a:t>
            </a:r>
            <a:r>
              <a:rPr sz="1800" u="heavy" spc="-4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8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or</a:t>
            </a:r>
            <a:r>
              <a:rPr sz="1800" u="heavy" spc="-3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8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Not?</a:t>
            </a:r>
            <a:r>
              <a:rPr sz="1800" u="heavy" spc="-4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8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A</a:t>
            </a:r>
            <a:r>
              <a:rPr sz="1800" u="heavy" spc="-4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8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Gamified</a:t>
            </a:r>
            <a:r>
              <a:rPr sz="1800" u="heavy" spc="-3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8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Approach</a:t>
            </a:r>
            <a:r>
              <a:rPr sz="1800" u="heavy" spc="-4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8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to</a:t>
            </a:r>
            <a:r>
              <a:rPr sz="1800" u="heavy" spc="-3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8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the</a:t>
            </a:r>
            <a:r>
              <a:rPr sz="1800" u="heavy" spc="-7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800" u="heavy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Turing</a:t>
            </a:r>
            <a:r>
              <a:rPr sz="1800" u="heavy" spc="-7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8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Test</a:t>
            </a:r>
            <a:r>
              <a:rPr sz="1800" u="none" dirty="0">
                <a:solidFill>
                  <a:srgbClr val="595959"/>
                </a:solidFill>
                <a:latin typeface="Roboto"/>
                <a:cs typeface="Roboto"/>
              </a:rPr>
              <a:t>.</a:t>
            </a:r>
            <a:r>
              <a:rPr sz="1800" u="none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u="none" spc="-10" dirty="0">
                <a:solidFill>
                  <a:srgbClr val="595959"/>
                </a:solidFill>
                <a:latin typeface="Roboto"/>
                <a:cs typeface="Roboto"/>
              </a:rPr>
              <a:t>2023.</a:t>
            </a: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00">
              <a:latin typeface="Roboto"/>
              <a:cs typeface="Roboto"/>
            </a:endParaRPr>
          </a:p>
          <a:p>
            <a:pPr marL="12700" algn="just">
              <a:lnSpc>
                <a:spcPct val="100000"/>
              </a:lnSpc>
            </a:pPr>
            <a:r>
              <a:rPr sz="1800" b="1" spc="-10" dirty="0">
                <a:solidFill>
                  <a:srgbClr val="595959"/>
                </a:solidFill>
                <a:latin typeface="Roboto"/>
                <a:cs typeface="Roboto"/>
              </a:rPr>
              <a:t>Question:</a:t>
            </a:r>
            <a:r>
              <a:rPr sz="1800" b="1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8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8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identify</a:t>
            </a:r>
            <a:r>
              <a:rPr sz="18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a</a:t>
            </a:r>
            <a:r>
              <a:rPr sz="18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flaw</a:t>
            </a:r>
            <a:r>
              <a:rPr sz="18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of</a:t>
            </a:r>
            <a:r>
              <a:rPr sz="18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using</a:t>
            </a:r>
            <a:r>
              <a:rPr sz="18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this</a:t>
            </a:r>
            <a:r>
              <a:rPr sz="18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game</a:t>
            </a:r>
            <a:r>
              <a:rPr sz="18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as</a:t>
            </a:r>
            <a:r>
              <a:rPr sz="18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a</a:t>
            </a:r>
            <a:r>
              <a:rPr sz="1800" spc="-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Turing</a:t>
            </a:r>
            <a:r>
              <a:rPr sz="1800" spc="-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Test?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Has</a:t>
            </a:r>
            <a:r>
              <a:rPr spc="15" dirty="0"/>
              <a:t> </a:t>
            </a:r>
            <a:r>
              <a:rPr dirty="0"/>
              <a:t>AI</a:t>
            </a:r>
            <a:r>
              <a:rPr spc="20" dirty="0"/>
              <a:t> </a:t>
            </a:r>
            <a:r>
              <a:rPr dirty="0"/>
              <a:t>Passed</a:t>
            </a:r>
            <a:r>
              <a:rPr spc="-3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Turing</a:t>
            </a:r>
            <a:r>
              <a:rPr spc="-30" dirty="0"/>
              <a:t> </a:t>
            </a:r>
            <a:r>
              <a:rPr spc="-10" dirty="0"/>
              <a:t>Test?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4525" y="1154218"/>
            <a:ext cx="4718050" cy="1006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595959"/>
                </a:solidFill>
                <a:latin typeface="Roboto"/>
                <a:cs typeface="Roboto"/>
              </a:rPr>
              <a:t>How</a:t>
            </a:r>
            <a:r>
              <a:rPr sz="1600" b="1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b="1" dirty="0">
                <a:solidFill>
                  <a:srgbClr val="595959"/>
                </a:solidFill>
                <a:latin typeface="Roboto"/>
                <a:cs typeface="Roboto"/>
              </a:rPr>
              <a:t>do</a:t>
            </a:r>
            <a:r>
              <a:rPr sz="1600" b="1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b="1" dirty="0">
                <a:solidFill>
                  <a:srgbClr val="595959"/>
                </a:solidFill>
                <a:latin typeface="Roboto"/>
                <a:cs typeface="Roboto"/>
              </a:rPr>
              <a:t>we</a:t>
            </a:r>
            <a:r>
              <a:rPr sz="1600" b="1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b="1" dirty="0">
                <a:solidFill>
                  <a:srgbClr val="595959"/>
                </a:solidFill>
                <a:latin typeface="Roboto"/>
                <a:cs typeface="Roboto"/>
              </a:rPr>
              <a:t>even</a:t>
            </a:r>
            <a:r>
              <a:rPr sz="1600" b="1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Roboto"/>
                <a:cs typeface="Roboto"/>
              </a:rPr>
              <a:t>tell?</a:t>
            </a:r>
            <a:endParaRPr sz="16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6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6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solidFill>
                  <a:srgbClr val="595959"/>
                </a:solidFill>
                <a:latin typeface="Roboto"/>
                <a:cs typeface="Roboto"/>
              </a:rPr>
              <a:t>Is</a:t>
            </a:r>
            <a:r>
              <a:rPr sz="1600" b="1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b="1" dirty="0">
                <a:solidFill>
                  <a:srgbClr val="595959"/>
                </a:solidFill>
                <a:latin typeface="Roboto"/>
                <a:cs typeface="Roboto"/>
              </a:rPr>
              <a:t>the</a:t>
            </a:r>
            <a:r>
              <a:rPr sz="1600" b="1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b="1" dirty="0">
                <a:solidFill>
                  <a:srgbClr val="595959"/>
                </a:solidFill>
                <a:latin typeface="Roboto"/>
                <a:cs typeface="Roboto"/>
              </a:rPr>
              <a:t>test</a:t>
            </a:r>
            <a:r>
              <a:rPr sz="1600" b="1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b="1" dirty="0">
                <a:solidFill>
                  <a:srgbClr val="595959"/>
                </a:solidFill>
                <a:latin typeface="Roboto"/>
                <a:cs typeface="Roboto"/>
              </a:rPr>
              <a:t>even</a:t>
            </a:r>
            <a:r>
              <a:rPr sz="1600" b="1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b="1" dirty="0">
                <a:solidFill>
                  <a:srgbClr val="595959"/>
                </a:solidFill>
                <a:latin typeface="Roboto"/>
                <a:cs typeface="Roboto"/>
              </a:rPr>
              <a:t>a</a:t>
            </a:r>
            <a:r>
              <a:rPr sz="1600" b="1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b="1" dirty="0">
                <a:solidFill>
                  <a:srgbClr val="595959"/>
                </a:solidFill>
                <a:latin typeface="Roboto"/>
                <a:cs typeface="Roboto"/>
              </a:rPr>
              <a:t>valid</a:t>
            </a:r>
            <a:r>
              <a:rPr sz="1600" b="1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Roboto"/>
                <a:cs typeface="Roboto"/>
              </a:rPr>
              <a:t>measure</a:t>
            </a:r>
            <a:r>
              <a:rPr sz="1600" b="1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b="1" dirty="0">
                <a:solidFill>
                  <a:srgbClr val="595959"/>
                </a:solidFill>
                <a:latin typeface="Roboto"/>
                <a:cs typeface="Roboto"/>
              </a:rPr>
              <a:t>of</a:t>
            </a:r>
            <a:r>
              <a:rPr sz="1600" b="1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b="1" spc="-35" dirty="0">
                <a:solidFill>
                  <a:srgbClr val="595959"/>
                </a:solidFill>
                <a:latin typeface="Roboto"/>
                <a:cs typeface="Roboto"/>
              </a:rPr>
              <a:t>AI’s </a:t>
            </a:r>
            <a:r>
              <a:rPr sz="1600" b="1" spc="-10" dirty="0">
                <a:solidFill>
                  <a:srgbClr val="595959"/>
                </a:solidFill>
                <a:latin typeface="Roboto"/>
                <a:cs typeface="Roboto"/>
              </a:rPr>
              <a:t>capabilities?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4525" y="2764531"/>
            <a:ext cx="4864735" cy="990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595959"/>
                </a:solidFill>
                <a:latin typeface="Roboto"/>
                <a:cs typeface="Roboto"/>
              </a:rPr>
              <a:t>What</a:t>
            </a:r>
            <a:r>
              <a:rPr sz="1600" b="1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b="1" dirty="0">
                <a:solidFill>
                  <a:srgbClr val="595959"/>
                </a:solidFill>
                <a:latin typeface="Roboto"/>
                <a:cs typeface="Roboto"/>
              </a:rPr>
              <a:t>are</a:t>
            </a:r>
            <a:r>
              <a:rPr sz="1600" b="1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b="1" dirty="0">
                <a:solidFill>
                  <a:srgbClr val="595959"/>
                </a:solidFill>
                <a:latin typeface="Roboto"/>
                <a:cs typeface="Roboto"/>
              </a:rPr>
              <a:t>the</a:t>
            </a:r>
            <a:r>
              <a:rPr sz="1600" b="1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b="1" dirty="0">
                <a:solidFill>
                  <a:srgbClr val="595959"/>
                </a:solidFill>
                <a:latin typeface="Roboto"/>
                <a:cs typeface="Roboto"/>
              </a:rPr>
              <a:t>ethical</a:t>
            </a:r>
            <a:r>
              <a:rPr sz="1600" b="1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Roboto"/>
                <a:cs typeface="Roboto"/>
              </a:rPr>
              <a:t>implications</a:t>
            </a:r>
            <a:r>
              <a:rPr sz="1600" b="1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b="1" dirty="0">
                <a:solidFill>
                  <a:srgbClr val="595959"/>
                </a:solidFill>
                <a:latin typeface="Roboto"/>
                <a:cs typeface="Roboto"/>
              </a:rPr>
              <a:t>of</a:t>
            </a:r>
            <a:r>
              <a:rPr sz="1600" b="1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b="1" dirty="0">
                <a:solidFill>
                  <a:srgbClr val="595959"/>
                </a:solidFill>
                <a:latin typeface="Roboto"/>
                <a:cs typeface="Roboto"/>
              </a:rPr>
              <a:t>passing</a:t>
            </a:r>
            <a:r>
              <a:rPr sz="1600" b="1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b="1" dirty="0">
                <a:solidFill>
                  <a:srgbClr val="595959"/>
                </a:solidFill>
                <a:latin typeface="Roboto"/>
                <a:cs typeface="Roboto"/>
              </a:rPr>
              <a:t>the</a:t>
            </a:r>
            <a:r>
              <a:rPr sz="1600" b="1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Roboto"/>
                <a:cs typeface="Roboto"/>
              </a:rPr>
              <a:t>test?</a:t>
            </a:r>
            <a:endParaRPr sz="16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835"/>
              </a:spcBef>
            </a:pPr>
            <a:endParaRPr sz="16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solidFill>
                  <a:srgbClr val="595959"/>
                </a:solidFill>
                <a:latin typeface="Roboto"/>
                <a:cs typeface="Roboto"/>
              </a:rPr>
              <a:t>And</a:t>
            </a:r>
            <a:r>
              <a:rPr sz="1600" b="1" spc="-7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b="1" dirty="0">
                <a:solidFill>
                  <a:srgbClr val="595959"/>
                </a:solidFill>
                <a:latin typeface="Roboto"/>
                <a:cs typeface="Roboto"/>
              </a:rPr>
              <a:t>many</a:t>
            </a:r>
            <a:r>
              <a:rPr sz="1600" b="1" spc="-7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b="1" dirty="0">
                <a:solidFill>
                  <a:srgbClr val="595959"/>
                </a:solidFill>
                <a:latin typeface="Roboto"/>
                <a:cs typeface="Roboto"/>
              </a:rPr>
              <a:t>others</a:t>
            </a:r>
            <a:r>
              <a:rPr sz="1600" b="1" spc="-6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b="1" spc="-50" dirty="0">
                <a:solidFill>
                  <a:srgbClr val="595959"/>
                </a:solidFill>
                <a:latin typeface="Roboto"/>
                <a:cs typeface="Roboto"/>
              </a:rPr>
              <a:t>…</a:t>
            </a:r>
            <a:endParaRPr sz="16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Overview</a:t>
            </a:r>
            <a:r>
              <a:rPr spc="55" dirty="0"/>
              <a:t> </a:t>
            </a:r>
            <a:r>
              <a:rPr dirty="0"/>
              <a:t>of</a:t>
            </a:r>
            <a:r>
              <a:rPr spc="55" dirty="0"/>
              <a:t> </a:t>
            </a:r>
            <a:r>
              <a:rPr spc="-20" dirty="0"/>
              <a:t>LLMs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38193" y="1394837"/>
            <a:ext cx="3255645" cy="1182370"/>
            <a:chOff x="838193" y="1394837"/>
            <a:chExt cx="3255645" cy="1182370"/>
          </a:xfrm>
        </p:grpSpPr>
        <p:sp>
          <p:nvSpPr>
            <p:cNvPr id="4" name="object 4"/>
            <p:cNvSpPr/>
            <p:nvPr/>
          </p:nvSpPr>
          <p:spPr>
            <a:xfrm>
              <a:off x="842956" y="1399600"/>
              <a:ext cx="3246120" cy="1172845"/>
            </a:xfrm>
            <a:custGeom>
              <a:avLst/>
              <a:gdLst/>
              <a:ahLst/>
              <a:cxnLst/>
              <a:rect l="l" t="t" r="r" b="b"/>
              <a:pathLst>
                <a:path w="3246120" h="1172845">
                  <a:moveTo>
                    <a:pt x="3050246" y="1172699"/>
                  </a:moveTo>
                  <a:lnTo>
                    <a:pt x="195453" y="1172699"/>
                  </a:lnTo>
                  <a:lnTo>
                    <a:pt x="150638" y="1167537"/>
                  </a:lnTo>
                  <a:lnTo>
                    <a:pt x="109498" y="1152833"/>
                  </a:lnTo>
                  <a:lnTo>
                    <a:pt x="73207" y="1129760"/>
                  </a:lnTo>
                  <a:lnTo>
                    <a:pt x="42939" y="1099492"/>
                  </a:lnTo>
                  <a:lnTo>
                    <a:pt x="19866" y="1063201"/>
                  </a:lnTo>
                  <a:lnTo>
                    <a:pt x="5162" y="1022061"/>
                  </a:lnTo>
                  <a:lnTo>
                    <a:pt x="0" y="977245"/>
                  </a:lnTo>
                  <a:lnTo>
                    <a:pt x="0" y="195453"/>
                  </a:lnTo>
                  <a:lnTo>
                    <a:pt x="5162" y="150638"/>
                  </a:lnTo>
                  <a:lnTo>
                    <a:pt x="19866" y="109498"/>
                  </a:lnTo>
                  <a:lnTo>
                    <a:pt x="42939" y="73207"/>
                  </a:lnTo>
                  <a:lnTo>
                    <a:pt x="73207" y="42939"/>
                  </a:lnTo>
                  <a:lnTo>
                    <a:pt x="109498" y="19866"/>
                  </a:lnTo>
                  <a:lnTo>
                    <a:pt x="150638" y="5162"/>
                  </a:lnTo>
                  <a:lnTo>
                    <a:pt x="195453" y="0"/>
                  </a:lnTo>
                  <a:lnTo>
                    <a:pt x="3050246" y="0"/>
                  </a:lnTo>
                  <a:lnTo>
                    <a:pt x="3088555" y="3790"/>
                  </a:lnTo>
                  <a:lnTo>
                    <a:pt x="3125043" y="14878"/>
                  </a:lnTo>
                  <a:lnTo>
                    <a:pt x="3158684" y="32838"/>
                  </a:lnTo>
                  <a:lnTo>
                    <a:pt x="3188452" y="57247"/>
                  </a:lnTo>
                  <a:lnTo>
                    <a:pt x="3212861" y="87016"/>
                  </a:lnTo>
                  <a:lnTo>
                    <a:pt x="3230822" y="120656"/>
                  </a:lnTo>
                  <a:lnTo>
                    <a:pt x="3241909" y="157144"/>
                  </a:lnTo>
                  <a:lnTo>
                    <a:pt x="3245700" y="195453"/>
                  </a:lnTo>
                  <a:lnTo>
                    <a:pt x="3245700" y="977245"/>
                  </a:lnTo>
                  <a:lnTo>
                    <a:pt x="3240538" y="1022061"/>
                  </a:lnTo>
                  <a:lnTo>
                    <a:pt x="3225834" y="1063201"/>
                  </a:lnTo>
                  <a:lnTo>
                    <a:pt x="3202761" y="1099492"/>
                  </a:lnTo>
                  <a:lnTo>
                    <a:pt x="3172492" y="1129760"/>
                  </a:lnTo>
                  <a:lnTo>
                    <a:pt x="3136201" y="1152833"/>
                  </a:lnTo>
                  <a:lnTo>
                    <a:pt x="3095062" y="1167537"/>
                  </a:lnTo>
                  <a:lnTo>
                    <a:pt x="3050246" y="11726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42956" y="1399600"/>
              <a:ext cx="3246120" cy="1172845"/>
            </a:xfrm>
            <a:custGeom>
              <a:avLst/>
              <a:gdLst/>
              <a:ahLst/>
              <a:cxnLst/>
              <a:rect l="l" t="t" r="r" b="b"/>
              <a:pathLst>
                <a:path w="3246120" h="1172845">
                  <a:moveTo>
                    <a:pt x="0" y="195453"/>
                  </a:moveTo>
                  <a:lnTo>
                    <a:pt x="5162" y="150638"/>
                  </a:lnTo>
                  <a:lnTo>
                    <a:pt x="19866" y="109498"/>
                  </a:lnTo>
                  <a:lnTo>
                    <a:pt x="42939" y="73207"/>
                  </a:lnTo>
                  <a:lnTo>
                    <a:pt x="73207" y="42939"/>
                  </a:lnTo>
                  <a:lnTo>
                    <a:pt x="109498" y="19866"/>
                  </a:lnTo>
                  <a:lnTo>
                    <a:pt x="150638" y="5162"/>
                  </a:lnTo>
                  <a:lnTo>
                    <a:pt x="195453" y="0"/>
                  </a:lnTo>
                  <a:lnTo>
                    <a:pt x="3050246" y="0"/>
                  </a:lnTo>
                  <a:lnTo>
                    <a:pt x="3088555" y="3790"/>
                  </a:lnTo>
                  <a:lnTo>
                    <a:pt x="3125043" y="14878"/>
                  </a:lnTo>
                  <a:lnTo>
                    <a:pt x="3158684" y="32838"/>
                  </a:lnTo>
                  <a:lnTo>
                    <a:pt x="3188452" y="57247"/>
                  </a:lnTo>
                  <a:lnTo>
                    <a:pt x="3212861" y="87016"/>
                  </a:lnTo>
                  <a:lnTo>
                    <a:pt x="3230822" y="120656"/>
                  </a:lnTo>
                  <a:lnTo>
                    <a:pt x="3241909" y="157144"/>
                  </a:lnTo>
                  <a:lnTo>
                    <a:pt x="3245700" y="195453"/>
                  </a:lnTo>
                  <a:lnTo>
                    <a:pt x="3245700" y="977245"/>
                  </a:lnTo>
                  <a:lnTo>
                    <a:pt x="3240538" y="1022061"/>
                  </a:lnTo>
                  <a:lnTo>
                    <a:pt x="3225834" y="1063201"/>
                  </a:lnTo>
                  <a:lnTo>
                    <a:pt x="3202761" y="1099492"/>
                  </a:lnTo>
                  <a:lnTo>
                    <a:pt x="3172492" y="1129760"/>
                  </a:lnTo>
                  <a:lnTo>
                    <a:pt x="3136201" y="1152833"/>
                  </a:lnTo>
                  <a:lnTo>
                    <a:pt x="3095062" y="1167537"/>
                  </a:lnTo>
                  <a:lnTo>
                    <a:pt x="3050246" y="1172699"/>
                  </a:lnTo>
                  <a:lnTo>
                    <a:pt x="195453" y="1172699"/>
                  </a:lnTo>
                  <a:lnTo>
                    <a:pt x="150638" y="1167537"/>
                  </a:lnTo>
                  <a:lnTo>
                    <a:pt x="109498" y="1152833"/>
                  </a:lnTo>
                  <a:lnTo>
                    <a:pt x="73207" y="1129760"/>
                  </a:lnTo>
                  <a:lnTo>
                    <a:pt x="42939" y="1099492"/>
                  </a:lnTo>
                  <a:lnTo>
                    <a:pt x="19866" y="1063201"/>
                  </a:lnTo>
                  <a:lnTo>
                    <a:pt x="5162" y="1022061"/>
                  </a:lnTo>
                  <a:lnTo>
                    <a:pt x="0" y="977245"/>
                  </a:lnTo>
                  <a:lnTo>
                    <a:pt x="0" y="195453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058586" y="1512684"/>
            <a:ext cx="2811780" cy="930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Calibri"/>
                <a:cs typeface="Calibri"/>
              </a:rPr>
              <a:t>How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do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LLMs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spc="-20" dirty="0">
                <a:latin typeface="Calibri"/>
                <a:cs typeface="Calibri"/>
              </a:rPr>
              <a:t>work</a:t>
            </a:r>
            <a:endParaRPr sz="1600">
              <a:latin typeface="Calibri"/>
              <a:cs typeface="Calibri"/>
            </a:endParaRPr>
          </a:p>
          <a:p>
            <a:pPr marL="12700" marR="5080" algn="ctr">
              <a:lnSpc>
                <a:spcPct val="100000"/>
              </a:lnSpc>
              <a:spcBef>
                <a:spcPts val="1605"/>
              </a:spcBef>
            </a:pPr>
            <a:r>
              <a:rPr sz="1500" dirty="0">
                <a:latin typeface="Calibri"/>
                <a:cs typeface="Calibri"/>
              </a:rPr>
              <a:t>What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technology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underlying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50" dirty="0">
                <a:latin typeface="Calibri"/>
                <a:cs typeface="Calibri"/>
              </a:rPr>
              <a:t>a </a:t>
            </a:r>
            <a:r>
              <a:rPr sz="1500" dirty="0">
                <a:latin typeface="Calibri"/>
                <a:cs typeface="Calibri"/>
              </a:rPr>
              <a:t>chatbot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like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chatGPT?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755998" y="1394837"/>
            <a:ext cx="3255645" cy="1182370"/>
            <a:chOff x="4755998" y="1394837"/>
            <a:chExt cx="3255645" cy="1182370"/>
          </a:xfrm>
        </p:grpSpPr>
        <p:sp>
          <p:nvSpPr>
            <p:cNvPr id="8" name="object 8"/>
            <p:cNvSpPr/>
            <p:nvPr/>
          </p:nvSpPr>
          <p:spPr>
            <a:xfrm>
              <a:off x="4760760" y="1399600"/>
              <a:ext cx="3246120" cy="1172845"/>
            </a:xfrm>
            <a:custGeom>
              <a:avLst/>
              <a:gdLst/>
              <a:ahLst/>
              <a:cxnLst/>
              <a:rect l="l" t="t" r="r" b="b"/>
              <a:pathLst>
                <a:path w="3246120" h="1172845">
                  <a:moveTo>
                    <a:pt x="3050245" y="1172699"/>
                  </a:moveTo>
                  <a:lnTo>
                    <a:pt x="195453" y="1172699"/>
                  </a:lnTo>
                  <a:lnTo>
                    <a:pt x="150638" y="1167537"/>
                  </a:lnTo>
                  <a:lnTo>
                    <a:pt x="109498" y="1152833"/>
                  </a:lnTo>
                  <a:lnTo>
                    <a:pt x="73207" y="1129760"/>
                  </a:lnTo>
                  <a:lnTo>
                    <a:pt x="42939" y="1099492"/>
                  </a:lnTo>
                  <a:lnTo>
                    <a:pt x="19866" y="1063201"/>
                  </a:lnTo>
                  <a:lnTo>
                    <a:pt x="5162" y="1022061"/>
                  </a:lnTo>
                  <a:lnTo>
                    <a:pt x="0" y="977245"/>
                  </a:lnTo>
                  <a:lnTo>
                    <a:pt x="0" y="195453"/>
                  </a:lnTo>
                  <a:lnTo>
                    <a:pt x="5162" y="150638"/>
                  </a:lnTo>
                  <a:lnTo>
                    <a:pt x="19866" y="109498"/>
                  </a:lnTo>
                  <a:lnTo>
                    <a:pt x="42939" y="73207"/>
                  </a:lnTo>
                  <a:lnTo>
                    <a:pt x="73207" y="42939"/>
                  </a:lnTo>
                  <a:lnTo>
                    <a:pt x="109498" y="19866"/>
                  </a:lnTo>
                  <a:lnTo>
                    <a:pt x="150638" y="5162"/>
                  </a:lnTo>
                  <a:lnTo>
                    <a:pt x="195453" y="0"/>
                  </a:lnTo>
                  <a:lnTo>
                    <a:pt x="3050245" y="0"/>
                  </a:lnTo>
                  <a:lnTo>
                    <a:pt x="3088555" y="3790"/>
                  </a:lnTo>
                  <a:lnTo>
                    <a:pt x="3125043" y="14878"/>
                  </a:lnTo>
                  <a:lnTo>
                    <a:pt x="3158684" y="32838"/>
                  </a:lnTo>
                  <a:lnTo>
                    <a:pt x="3188452" y="57247"/>
                  </a:lnTo>
                  <a:lnTo>
                    <a:pt x="3212861" y="87016"/>
                  </a:lnTo>
                  <a:lnTo>
                    <a:pt x="3230822" y="120656"/>
                  </a:lnTo>
                  <a:lnTo>
                    <a:pt x="3241909" y="157144"/>
                  </a:lnTo>
                  <a:lnTo>
                    <a:pt x="3245699" y="195453"/>
                  </a:lnTo>
                  <a:lnTo>
                    <a:pt x="3245699" y="977245"/>
                  </a:lnTo>
                  <a:lnTo>
                    <a:pt x="3240537" y="1022061"/>
                  </a:lnTo>
                  <a:lnTo>
                    <a:pt x="3225833" y="1063201"/>
                  </a:lnTo>
                  <a:lnTo>
                    <a:pt x="3202760" y="1099492"/>
                  </a:lnTo>
                  <a:lnTo>
                    <a:pt x="3172492" y="1129760"/>
                  </a:lnTo>
                  <a:lnTo>
                    <a:pt x="3136201" y="1152833"/>
                  </a:lnTo>
                  <a:lnTo>
                    <a:pt x="3095061" y="1167537"/>
                  </a:lnTo>
                  <a:lnTo>
                    <a:pt x="3050245" y="11726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760760" y="1399600"/>
              <a:ext cx="3246120" cy="1172845"/>
            </a:xfrm>
            <a:custGeom>
              <a:avLst/>
              <a:gdLst/>
              <a:ahLst/>
              <a:cxnLst/>
              <a:rect l="l" t="t" r="r" b="b"/>
              <a:pathLst>
                <a:path w="3246120" h="1172845">
                  <a:moveTo>
                    <a:pt x="0" y="195453"/>
                  </a:moveTo>
                  <a:lnTo>
                    <a:pt x="5162" y="150638"/>
                  </a:lnTo>
                  <a:lnTo>
                    <a:pt x="19866" y="109498"/>
                  </a:lnTo>
                  <a:lnTo>
                    <a:pt x="42939" y="73207"/>
                  </a:lnTo>
                  <a:lnTo>
                    <a:pt x="73207" y="42939"/>
                  </a:lnTo>
                  <a:lnTo>
                    <a:pt x="109498" y="19866"/>
                  </a:lnTo>
                  <a:lnTo>
                    <a:pt x="150638" y="5162"/>
                  </a:lnTo>
                  <a:lnTo>
                    <a:pt x="195453" y="0"/>
                  </a:lnTo>
                  <a:lnTo>
                    <a:pt x="3050245" y="0"/>
                  </a:lnTo>
                  <a:lnTo>
                    <a:pt x="3088555" y="3790"/>
                  </a:lnTo>
                  <a:lnTo>
                    <a:pt x="3125043" y="14878"/>
                  </a:lnTo>
                  <a:lnTo>
                    <a:pt x="3158684" y="32838"/>
                  </a:lnTo>
                  <a:lnTo>
                    <a:pt x="3188452" y="57247"/>
                  </a:lnTo>
                  <a:lnTo>
                    <a:pt x="3212861" y="87016"/>
                  </a:lnTo>
                  <a:lnTo>
                    <a:pt x="3230822" y="120656"/>
                  </a:lnTo>
                  <a:lnTo>
                    <a:pt x="3241909" y="157144"/>
                  </a:lnTo>
                  <a:lnTo>
                    <a:pt x="3245699" y="195453"/>
                  </a:lnTo>
                  <a:lnTo>
                    <a:pt x="3245699" y="977245"/>
                  </a:lnTo>
                  <a:lnTo>
                    <a:pt x="3240537" y="1022061"/>
                  </a:lnTo>
                  <a:lnTo>
                    <a:pt x="3225833" y="1063201"/>
                  </a:lnTo>
                  <a:lnTo>
                    <a:pt x="3202760" y="1099492"/>
                  </a:lnTo>
                  <a:lnTo>
                    <a:pt x="3172492" y="1129760"/>
                  </a:lnTo>
                  <a:lnTo>
                    <a:pt x="3136201" y="1152833"/>
                  </a:lnTo>
                  <a:lnTo>
                    <a:pt x="3095061" y="1167537"/>
                  </a:lnTo>
                  <a:lnTo>
                    <a:pt x="3050245" y="1172699"/>
                  </a:lnTo>
                  <a:lnTo>
                    <a:pt x="195453" y="1172699"/>
                  </a:lnTo>
                  <a:lnTo>
                    <a:pt x="150638" y="1167537"/>
                  </a:lnTo>
                  <a:lnTo>
                    <a:pt x="109498" y="1152833"/>
                  </a:lnTo>
                  <a:lnTo>
                    <a:pt x="73207" y="1129760"/>
                  </a:lnTo>
                  <a:lnTo>
                    <a:pt x="42939" y="1099492"/>
                  </a:lnTo>
                  <a:lnTo>
                    <a:pt x="19866" y="1063201"/>
                  </a:lnTo>
                  <a:lnTo>
                    <a:pt x="5162" y="1022061"/>
                  </a:lnTo>
                  <a:lnTo>
                    <a:pt x="0" y="977245"/>
                  </a:lnTo>
                  <a:lnTo>
                    <a:pt x="0" y="195453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981507" y="1512684"/>
            <a:ext cx="2802255" cy="930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Calibri"/>
                <a:cs typeface="Calibri"/>
              </a:rPr>
              <a:t>What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LLMs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can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spc="-25" dirty="0">
                <a:latin typeface="Calibri"/>
                <a:cs typeface="Calibri"/>
              </a:rPr>
              <a:t>do</a:t>
            </a:r>
            <a:endParaRPr sz="1600">
              <a:latin typeface="Calibri"/>
              <a:cs typeface="Calibri"/>
            </a:endParaRPr>
          </a:p>
          <a:p>
            <a:pPr marL="12065" marR="5080" algn="ctr">
              <a:lnSpc>
                <a:spcPct val="100000"/>
              </a:lnSpc>
              <a:spcBef>
                <a:spcPts val="1605"/>
              </a:spcBef>
            </a:pPr>
            <a:r>
              <a:rPr sz="1500" dirty="0">
                <a:latin typeface="Calibri"/>
                <a:cs typeface="Calibri"/>
              </a:rPr>
              <a:t>What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functionality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beyond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chatbots </a:t>
            </a:r>
            <a:r>
              <a:rPr sz="1500" dirty="0">
                <a:latin typeface="Calibri"/>
                <a:cs typeface="Calibri"/>
              </a:rPr>
              <a:t>does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technology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enable?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01937" y="2963261"/>
            <a:ext cx="3255645" cy="1182370"/>
            <a:chOff x="801937" y="2963261"/>
            <a:chExt cx="3255645" cy="1182370"/>
          </a:xfrm>
        </p:grpSpPr>
        <p:sp>
          <p:nvSpPr>
            <p:cNvPr id="12" name="object 12"/>
            <p:cNvSpPr/>
            <p:nvPr/>
          </p:nvSpPr>
          <p:spPr>
            <a:xfrm>
              <a:off x="806699" y="2968024"/>
              <a:ext cx="3246120" cy="1172845"/>
            </a:xfrm>
            <a:custGeom>
              <a:avLst/>
              <a:gdLst/>
              <a:ahLst/>
              <a:cxnLst/>
              <a:rect l="l" t="t" r="r" b="b"/>
              <a:pathLst>
                <a:path w="3246120" h="1172845">
                  <a:moveTo>
                    <a:pt x="3050245" y="1172700"/>
                  </a:moveTo>
                  <a:lnTo>
                    <a:pt x="195453" y="1172700"/>
                  </a:lnTo>
                  <a:lnTo>
                    <a:pt x="150638" y="1167538"/>
                  </a:lnTo>
                  <a:lnTo>
                    <a:pt x="109498" y="1152834"/>
                  </a:lnTo>
                  <a:lnTo>
                    <a:pt x="73207" y="1129761"/>
                  </a:lnTo>
                  <a:lnTo>
                    <a:pt x="42939" y="1099492"/>
                  </a:lnTo>
                  <a:lnTo>
                    <a:pt x="19866" y="1063201"/>
                  </a:lnTo>
                  <a:lnTo>
                    <a:pt x="5162" y="1022062"/>
                  </a:lnTo>
                  <a:lnTo>
                    <a:pt x="0" y="977246"/>
                  </a:lnTo>
                  <a:lnTo>
                    <a:pt x="0" y="195453"/>
                  </a:lnTo>
                  <a:lnTo>
                    <a:pt x="5162" y="150638"/>
                  </a:lnTo>
                  <a:lnTo>
                    <a:pt x="19866" y="109498"/>
                  </a:lnTo>
                  <a:lnTo>
                    <a:pt x="42939" y="73207"/>
                  </a:lnTo>
                  <a:lnTo>
                    <a:pt x="73207" y="42939"/>
                  </a:lnTo>
                  <a:lnTo>
                    <a:pt x="109498" y="19866"/>
                  </a:lnTo>
                  <a:lnTo>
                    <a:pt x="150638" y="5162"/>
                  </a:lnTo>
                  <a:lnTo>
                    <a:pt x="195453" y="0"/>
                  </a:lnTo>
                  <a:lnTo>
                    <a:pt x="3050245" y="0"/>
                  </a:lnTo>
                  <a:lnTo>
                    <a:pt x="3088555" y="3790"/>
                  </a:lnTo>
                  <a:lnTo>
                    <a:pt x="3125042" y="14878"/>
                  </a:lnTo>
                  <a:lnTo>
                    <a:pt x="3158683" y="32838"/>
                  </a:lnTo>
                  <a:lnTo>
                    <a:pt x="3188452" y="57246"/>
                  </a:lnTo>
                  <a:lnTo>
                    <a:pt x="3212861" y="87016"/>
                  </a:lnTo>
                  <a:lnTo>
                    <a:pt x="3230821" y="120657"/>
                  </a:lnTo>
                  <a:lnTo>
                    <a:pt x="3241909" y="157144"/>
                  </a:lnTo>
                  <a:lnTo>
                    <a:pt x="3245699" y="195453"/>
                  </a:lnTo>
                  <a:lnTo>
                    <a:pt x="3245699" y="977246"/>
                  </a:lnTo>
                  <a:lnTo>
                    <a:pt x="3240537" y="1022062"/>
                  </a:lnTo>
                  <a:lnTo>
                    <a:pt x="3225833" y="1063201"/>
                  </a:lnTo>
                  <a:lnTo>
                    <a:pt x="3202760" y="1099492"/>
                  </a:lnTo>
                  <a:lnTo>
                    <a:pt x="3172492" y="1129761"/>
                  </a:lnTo>
                  <a:lnTo>
                    <a:pt x="3136201" y="1152834"/>
                  </a:lnTo>
                  <a:lnTo>
                    <a:pt x="3095061" y="1167538"/>
                  </a:lnTo>
                  <a:lnTo>
                    <a:pt x="3050245" y="117270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06699" y="2968024"/>
              <a:ext cx="3246120" cy="1172845"/>
            </a:xfrm>
            <a:custGeom>
              <a:avLst/>
              <a:gdLst/>
              <a:ahLst/>
              <a:cxnLst/>
              <a:rect l="l" t="t" r="r" b="b"/>
              <a:pathLst>
                <a:path w="3246120" h="1172845">
                  <a:moveTo>
                    <a:pt x="0" y="195453"/>
                  </a:moveTo>
                  <a:lnTo>
                    <a:pt x="5162" y="150638"/>
                  </a:lnTo>
                  <a:lnTo>
                    <a:pt x="19866" y="109498"/>
                  </a:lnTo>
                  <a:lnTo>
                    <a:pt x="42939" y="73207"/>
                  </a:lnTo>
                  <a:lnTo>
                    <a:pt x="73207" y="42939"/>
                  </a:lnTo>
                  <a:lnTo>
                    <a:pt x="109498" y="19866"/>
                  </a:lnTo>
                  <a:lnTo>
                    <a:pt x="150638" y="5162"/>
                  </a:lnTo>
                  <a:lnTo>
                    <a:pt x="195453" y="0"/>
                  </a:lnTo>
                  <a:lnTo>
                    <a:pt x="3050245" y="0"/>
                  </a:lnTo>
                  <a:lnTo>
                    <a:pt x="3088555" y="3790"/>
                  </a:lnTo>
                  <a:lnTo>
                    <a:pt x="3125042" y="14878"/>
                  </a:lnTo>
                  <a:lnTo>
                    <a:pt x="3158683" y="32838"/>
                  </a:lnTo>
                  <a:lnTo>
                    <a:pt x="3188452" y="57246"/>
                  </a:lnTo>
                  <a:lnTo>
                    <a:pt x="3212861" y="87016"/>
                  </a:lnTo>
                  <a:lnTo>
                    <a:pt x="3230821" y="120657"/>
                  </a:lnTo>
                  <a:lnTo>
                    <a:pt x="3241909" y="157144"/>
                  </a:lnTo>
                  <a:lnTo>
                    <a:pt x="3245699" y="195453"/>
                  </a:lnTo>
                  <a:lnTo>
                    <a:pt x="3245699" y="977246"/>
                  </a:lnTo>
                  <a:lnTo>
                    <a:pt x="3240537" y="1022062"/>
                  </a:lnTo>
                  <a:lnTo>
                    <a:pt x="3225833" y="1063201"/>
                  </a:lnTo>
                  <a:lnTo>
                    <a:pt x="3202760" y="1099492"/>
                  </a:lnTo>
                  <a:lnTo>
                    <a:pt x="3172492" y="1129761"/>
                  </a:lnTo>
                  <a:lnTo>
                    <a:pt x="3136201" y="1152834"/>
                  </a:lnTo>
                  <a:lnTo>
                    <a:pt x="3095061" y="1167538"/>
                  </a:lnTo>
                  <a:lnTo>
                    <a:pt x="3050245" y="1172700"/>
                  </a:lnTo>
                  <a:lnTo>
                    <a:pt x="195453" y="1172700"/>
                  </a:lnTo>
                  <a:lnTo>
                    <a:pt x="150638" y="1167538"/>
                  </a:lnTo>
                  <a:lnTo>
                    <a:pt x="109498" y="1152834"/>
                  </a:lnTo>
                  <a:lnTo>
                    <a:pt x="73207" y="1129761"/>
                  </a:lnTo>
                  <a:lnTo>
                    <a:pt x="42939" y="1099492"/>
                  </a:lnTo>
                  <a:lnTo>
                    <a:pt x="19866" y="1063201"/>
                  </a:lnTo>
                  <a:lnTo>
                    <a:pt x="5162" y="1022062"/>
                  </a:lnTo>
                  <a:lnTo>
                    <a:pt x="0" y="977246"/>
                  </a:lnTo>
                  <a:lnTo>
                    <a:pt x="0" y="195453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966380" y="3081108"/>
            <a:ext cx="2924175" cy="930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Calibri"/>
                <a:cs typeface="Calibri"/>
              </a:rPr>
              <a:t>Limitations</a:t>
            </a:r>
            <a:r>
              <a:rPr sz="1600" b="1" spc="-5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of</a:t>
            </a:r>
            <a:r>
              <a:rPr sz="1600" b="1" spc="-55" dirty="0">
                <a:latin typeface="Calibri"/>
                <a:cs typeface="Calibri"/>
              </a:rPr>
              <a:t> </a:t>
            </a:r>
            <a:r>
              <a:rPr sz="1600" b="1" spc="-20" dirty="0">
                <a:latin typeface="Calibri"/>
                <a:cs typeface="Calibri"/>
              </a:rPr>
              <a:t>LLMs</a:t>
            </a:r>
            <a:endParaRPr sz="1600">
              <a:latin typeface="Calibri"/>
              <a:cs typeface="Calibri"/>
            </a:endParaRPr>
          </a:p>
          <a:p>
            <a:pPr marL="12065" marR="5080" algn="ctr">
              <a:lnSpc>
                <a:spcPct val="100000"/>
              </a:lnSpc>
              <a:spcBef>
                <a:spcPts val="1610"/>
              </a:spcBef>
            </a:pPr>
            <a:r>
              <a:rPr sz="1500" dirty="0">
                <a:latin typeface="Calibri"/>
                <a:cs typeface="Calibri"/>
              </a:rPr>
              <a:t>What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fundamental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challenges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remain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be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addressed?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755998" y="2963261"/>
            <a:ext cx="3255645" cy="1182370"/>
            <a:chOff x="4755998" y="2963261"/>
            <a:chExt cx="3255645" cy="1182370"/>
          </a:xfrm>
        </p:grpSpPr>
        <p:sp>
          <p:nvSpPr>
            <p:cNvPr id="16" name="object 16"/>
            <p:cNvSpPr/>
            <p:nvPr/>
          </p:nvSpPr>
          <p:spPr>
            <a:xfrm>
              <a:off x="4760760" y="2968024"/>
              <a:ext cx="3246120" cy="1172845"/>
            </a:xfrm>
            <a:custGeom>
              <a:avLst/>
              <a:gdLst/>
              <a:ahLst/>
              <a:cxnLst/>
              <a:rect l="l" t="t" r="r" b="b"/>
              <a:pathLst>
                <a:path w="3246120" h="1172845">
                  <a:moveTo>
                    <a:pt x="3050245" y="1172700"/>
                  </a:moveTo>
                  <a:lnTo>
                    <a:pt x="195453" y="1172700"/>
                  </a:lnTo>
                  <a:lnTo>
                    <a:pt x="150638" y="1167538"/>
                  </a:lnTo>
                  <a:lnTo>
                    <a:pt x="109498" y="1152834"/>
                  </a:lnTo>
                  <a:lnTo>
                    <a:pt x="73207" y="1129761"/>
                  </a:lnTo>
                  <a:lnTo>
                    <a:pt x="42939" y="1099492"/>
                  </a:lnTo>
                  <a:lnTo>
                    <a:pt x="19866" y="1063201"/>
                  </a:lnTo>
                  <a:lnTo>
                    <a:pt x="5162" y="1022062"/>
                  </a:lnTo>
                  <a:lnTo>
                    <a:pt x="0" y="977246"/>
                  </a:lnTo>
                  <a:lnTo>
                    <a:pt x="0" y="195453"/>
                  </a:lnTo>
                  <a:lnTo>
                    <a:pt x="5162" y="150638"/>
                  </a:lnTo>
                  <a:lnTo>
                    <a:pt x="19866" y="109498"/>
                  </a:lnTo>
                  <a:lnTo>
                    <a:pt x="42939" y="73207"/>
                  </a:lnTo>
                  <a:lnTo>
                    <a:pt x="73207" y="42939"/>
                  </a:lnTo>
                  <a:lnTo>
                    <a:pt x="109498" y="19866"/>
                  </a:lnTo>
                  <a:lnTo>
                    <a:pt x="150638" y="5162"/>
                  </a:lnTo>
                  <a:lnTo>
                    <a:pt x="195453" y="0"/>
                  </a:lnTo>
                  <a:lnTo>
                    <a:pt x="3050245" y="0"/>
                  </a:lnTo>
                  <a:lnTo>
                    <a:pt x="3088555" y="3790"/>
                  </a:lnTo>
                  <a:lnTo>
                    <a:pt x="3125043" y="14878"/>
                  </a:lnTo>
                  <a:lnTo>
                    <a:pt x="3158684" y="32838"/>
                  </a:lnTo>
                  <a:lnTo>
                    <a:pt x="3188452" y="57246"/>
                  </a:lnTo>
                  <a:lnTo>
                    <a:pt x="3212861" y="87016"/>
                  </a:lnTo>
                  <a:lnTo>
                    <a:pt x="3230822" y="120657"/>
                  </a:lnTo>
                  <a:lnTo>
                    <a:pt x="3241909" y="157144"/>
                  </a:lnTo>
                  <a:lnTo>
                    <a:pt x="3245699" y="195453"/>
                  </a:lnTo>
                  <a:lnTo>
                    <a:pt x="3245699" y="977246"/>
                  </a:lnTo>
                  <a:lnTo>
                    <a:pt x="3240537" y="1022062"/>
                  </a:lnTo>
                  <a:lnTo>
                    <a:pt x="3225833" y="1063201"/>
                  </a:lnTo>
                  <a:lnTo>
                    <a:pt x="3202760" y="1099492"/>
                  </a:lnTo>
                  <a:lnTo>
                    <a:pt x="3172492" y="1129761"/>
                  </a:lnTo>
                  <a:lnTo>
                    <a:pt x="3136201" y="1152834"/>
                  </a:lnTo>
                  <a:lnTo>
                    <a:pt x="3095061" y="1167538"/>
                  </a:lnTo>
                  <a:lnTo>
                    <a:pt x="3050245" y="117270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760760" y="2968024"/>
              <a:ext cx="3246120" cy="1172845"/>
            </a:xfrm>
            <a:custGeom>
              <a:avLst/>
              <a:gdLst/>
              <a:ahLst/>
              <a:cxnLst/>
              <a:rect l="l" t="t" r="r" b="b"/>
              <a:pathLst>
                <a:path w="3246120" h="1172845">
                  <a:moveTo>
                    <a:pt x="0" y="195453"/>
                  </a:moveTo>
                  <a:lnTo>
                    <a:pt x="5162" y="150638"/>
                  </a:lnTo>
                  <a:lnTo>
                    <a:pt x="19866" y="109498"/>
                  </a:lnTo>
                  <a:lnTo>
                    <a:pt x="42939" y="73207"/>
                  </a:lnTo>
                  <a:lnTo>
                    <a:pt x="73207" y="42939"/>
                  </a:lnTo>
                  <a:lnTo>
                    <a:pt x="109498" y="19866"/>
                  </a:lnTo>
                  <a:lnTo>
                    <a:pt x="150638" y="5162"/>
                  </a:lnTo>
                  <a:lnTo>
                    <a:pt x="195453" y="0"/>
                  </a:lnTo>
                  <a:lnTo>
                    <a:pt x="3050245" y="0"/>
                  </a:lnTo>
                  <a:lnTo>
                    <a:pt x="3088555" y="3790"/>
                  </a:lnTo>
                  <a:lnTo>
                    <a:pt x="3125043" y="14878"/>
                  </a:lnTo>
                  <a:lnTo>
                    <a:pt x="3158684" y="32838"/>
                  </a:lnTo>
                  <a:lnTo>
                    <a:pt x="3188452" y="57246"/>
                  </a:lnTo>
                  <a:lnTo>
                    <a:pt x="3212861" y="87016"/>
                  </a:lnTo>
                  <a:lnTo>
                    <a:pt x="3230822" y="120657"/>
                  </a:lnTo>
                  <a:lnTo>
                    <a:pt x="3241909" y="157144"/>
                  </a:lnTo>
                  <a:lnTo>
                    <a:pt x="3245699" y="195453"/>
                  </a:lnTo>
                  <a:lnTo>
                    <a:pt x="3245699" y="977246"/>
                  </a:lnTo>
                  <a:lnTo>
                    <a:pt x="3240537" y="1022062"/>
                  </a:lnTo>
                  <a:lnTo>
                    <a:pt x="3225833" y="1063201"/>
                  </a:lnTo>
                  <a:lnTo>
                    <a:pt x="3202760" y="1099492"/>
                  </a:lnTo>
                  <a:lnTo>
                    <a:pt x="3172492" y="1129761"/>
                  </a:lnTo>
                  <a:lnTo>
                    <a:pt x="3136201" y="1152834"/>
                  </a:lnTo>
                  <a:lnTo>
                    <a:pt x="3095061" y="1167538"/>
                  </a:lnTo>
                  <a:lnTo>
                    <a:pt x="3050245" y="1172700"/>
                  </a:lnTo>
                  <a:lnTo>
                    <a:pt x="195453" y="1172700"/>
                  </a:lnTo>
                  <a:lnTo>
                    <a:pt x="150638" y="1167538"/>
                  </a:lnTo>
                  <a:lnTo>
                    <a:pt x="109498" y="1152834"/>
                  </a:lnTo>
                  <a:lnTo>
                    <a:pt x="73207" y="1129761"/>
                  </a:lnTo>
                  <a:lnTo>
                    <a:pt x="42939" y="1099492"/>
                  </a:lnTo>
                  <a:lnTo>
                    <a:pt x="19866" y="1063201"/>
                  </a:lnTo>
                  <a:lnTo>
                    <a:pt x="5162" y="1022062"/>
                  </a:lnTo>
                  <a:lnTo>
                    <a:pt x="0" y="977246"/>
                  </a:lnTo>
                  <a:lnTo>
                    <a:pt x="0" y="195453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083501" y="3081108"/>
            <a:ext cx="2597785" cy="930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Calibri"/>
                <a:cs typeface="Calibri"/>
              </a:rPr>
              <a:t>What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is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the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Future</a:t>
            </a:r>
            <a:endParaRPr sz="1600">
              <a:latin typeface="Calibri"/>
              <a:cs typeface="Calibri"/>
            </a:endParaRPr>
          </a:p>
          <a:p>
            <a:pPr marL="12065" marR="5080" algn="ctr">
              <a:lnSpc>
                <a:spcPct val="100000"/>
              </a:lnSpc>
              <a:spcBef>
                <a:spcPts val="1610"/>
              </a:spcBef>
            </a:pPr>
            <a:r>
              <a:rPr sz="1500" dirty="0">
                <a:latin typeface="Calibri"/>
                <a:cs typeface="Calibri"/>
              </a:rPr>
              <a:t>How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research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addressing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those challenges?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31033" y="2266442"/>
            <a:ext cx="40805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Arial"/>
                <a:cs typeface="Arial"/>
              </a:rPr>
              <a:t>How</a:t>
            </a:r>
            <a:r>
              <a:rPr sz="3600" spc="-10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Do</a:t>
            </a:r>
            <a:r>
              <a:rPr sz="3600" spc="-10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LLMs</a:t>
            </a:r>
            <a:r>
              <a:rPr sz="3600" spc="-10" dirty="0">
                <a:latin typeface="Arial"/>
                <a:cs typeface="Arial"/>
              </a:rPr>
              <a:t> </a:t>
            </a:r>
            <a:r>
              <a:rPr sz="3600" spc="-20" dirty="0">
                <a:latin typeface="Arial"/>
                <a:cs typeface="Arial"/>
              </a:rPr>
              <a:t>Work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Let’s</a:t>
            </a:r>
            <a:r>
              <a:rPr spc="-75" dirty="0"/>
              <a:t> </a:t>
            </a:r>
            <a:r>
              <a:rPr dirty="0"/>
              <a:t>Take</a:t>
            </a:r>
            <a:r>
              <a:rPr spc="-3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History</a:t>
            </a:r>
            <a:r>
              <a:rPr spc="-70" dirty="0"/>
              <a:t> </a:t>
            </a:r>
            <a:r>
              <a:rPr spc="-10" dirty="0"/>
              <a:t>Tour!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1925" y="1547064"/>
            <a:ext cx="6728459" cy="84836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1800" i="1" dirty="0">
                <a:solidFill>
                  <a:srgbClr val="595959"/>
                </a:solidFill>
                <a:latin typeface="Roboto"/>
                <a:cs typeface="Roboto"/>
              </a:rPr>
              <a:t>“Those</a:t>
            </a:r>
            <a:r>
              <a:rPr sz="1800" i="1" spc="-6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i="1" dirty="0">
                <a:solidFill>
                  <a:srgbClr val="595959"/>
                </a:solidFill>
                <a:latin typeface="Roboto"/>
                <a:cs typeface="Roboto"/>
              </a:rPr>
              <a:t>who</a:t>
            </a:r>
            <a:r>
              <a:rPr sz="1800" i="1" spc="-6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i="1" dirty="0">
                <a:solidFill>
                  <a:srgbClr val="595959"/>
                </a:solidFill>
                <a:latin typeface="Roboto"/>
                <a:cs typeface="Roboto"/>
              </a:rPr>
              <a:t>cannot</a:t>
            </a:r>
            <a:r>
              <a:rPr sz="1800" i="1" spc="-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i="1" dirty="0">
                <a:solidFill>
                  <a:srgbClr val="595959"/>
                </a:solidFill>
                <a:latin typeface="Roboto"/>
                <a:cs typeface="Roboto"/>
              </a:rPr>
              <a:t>remember</a:t>
            </a:r>
            <a:r>
              <a:rPr sz="1800" i="1" spc="-6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i="1" dirty="0">
                <a:solidFill>
                  <a:srgbClr val="595959"/>
                </a:solidFill>
                <a:latin typeface="Roboto"/>
                <a:cs typeface="Roboto"/>
              </a:rPr>
              <a:t>the</a:t>
            </a:r>
            <a:r>
              <a:rPr sz="1800" i="1" spc="-6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i="1" dirty="0">
                <a:solidFill>
                  <a:srgbClr val="595959"/>
                </a:solidFill>
                <a:latin typeface="Roboto"/>
                <a:cs typeface="Roboto"/>
              </a:rPr>
              <a:t>past</a:t>
            </a:r>
            <a:r>
              <a:rPr sz="1800" i="1" spc="-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i="1" dirty="0">
                <a:solidFill>
                  <a:srgbClr val="595959"/>
                </a:solidFill>
                <a:latin typeface="Roboto"/>
                <a:cs typeface="Roboto"/>
              </a:rPr>
              <a:t>are</a:t>
            </a:r>
            <a:r>
              <a:rPr sz="1800" i="1" spc="-6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i="1" dirty="0">
                <a:solidFill>
                  <a:srgbClr val="595959"/>
                </a:solidFill>
                <a:latin typeface="Roboto"/>
                <a:cs typeface="Roboto"/>
              </a:rPr>
              <a:t>condemned</a:t>
            </a:r>
            <a:r>
              <a:rPr sz="1800" i="1" spc="-6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i="1" dirty="0">
                <a:solidFill>
                  <a:srgbClr val="595959"/>
                </a:solidFill>
                <a:latin typeface="Roboto"/>
                <a:cs typeface="Roboto"/>
              </a:rPr>
              <a:t>to</a:t>
            </a:r>
            <a:r>
              <a:rPr sz="1800" i="1" spc="-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i="1" dirty="0">
                <a:solidFill>
                  <a:srgbClr val="595959"/>
                </a:solidFill>
                <a:latin typeface="Roboto"/>
                <a:cs typeface="Roboto"/>
              </a:rPr>
              <a:t>repeat</a:t>
            </a:r>
            <a:r>
              <a:rPr sz="1800" i="1" spc="-6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i="1" spc="-20" dirty="0">
                <a:solidFill>
                  <a:srgbClr val="595959"/>
                </a:solidFill>
                <a:latin typeface="Roboto"/>
                <a:cs typeface="Roboto"/>
              </a:rPr>
              <a:t>it.”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latin typeface="Arial"/>
                <a:cs typeface="Arial"/>
              </a:rPr>
              <a:t>—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George</a:t>
            </a:r>
            <a:r>
              <a:rPr sz="18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Santayana.</a:t>
            </a:r>
            <a:r>
              <a:rPr sz="1800" spc="-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The</a:t>
            </a:r>
            <a:r>
              <a:rPr sz="18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Life</a:t>
            </a:r>
            <a:r>
              <a:rPr sz="18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of</a:t>
            </a:r>
            <a:r>
              <a:rPr sz="18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Reason,</a:t>
            </a:r>
            <a:r>
              <a:rPr sz="18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1905.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Linguistic</a:t>
            </a:r>
            <a:r>
              <a:rPr spc="55" dirty="0"/>
              <a:t> </a:t>
            </a:r>
            <a:r>
              <a:rPr spc="-10" dirty="0"/>
              <a:t>Foundations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347262" y="1059605"/>
            <a:ext cx="24479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solidFill>
                  <a:srgbClr val="595959"/>
                </a:solidFill>
                <a:latin typeface="Roboto"/>
                <a:cs typeface="Roboto"/>
              </a:rPr>
              <a:t>Rule-</a:t>
            </a:r>
            <a:r>
              <a:rPr sz="1800" b="1" dirty="0">
                <a:solidFill>
                  <a:srgbClr val="595959"/>
                </a:solidFill>
                <a:latin typeface="Roboto"/>
                <a:cs typeface="Roboto"/>
              </a:rPr>
              <a:t>based</a:t>
            </a:r>
            <a:r>
              <a:rPr sz="1800" b="1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b="1" spc="-10" dirty="0">
                <a:solidFill>
                  <a:srgbClr val="595959"/>
                </a:solidFill>
                <a:latin typeface="Roboto"/>
                <a:cs typeface="Roboto"/>
              </a:rPr>
              <a:t>approaches</a:t>
            </a:r>
            <a:endParaRPr sz="1800">
              <a:latin typeface="Roboto"/>
              <a:cs typeface="Roboto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10050" y="1883099"/>
            <a:ext cx="3853815" cy="2095500"/>
            <a:chOff x="610050" y="1883099"/>
            <a:chExt cx="3853815" cy="20955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9575" y="1892625"/>
              <a:ext cx="3834274" cy="20764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14812" y="1887862"/>
              <a:ext cx="3844290" cy="2085975"/>
            </a:xfrm>
            <a:custGeom>
              <a:avLst/>
              <a:gdLst/>
              <a:ahLst/>
              <a:cxnLst/>
              <a:rect l="l" t="t" r="r" b="b"/>
              <a:pathLst>
                <a:path w="3844290" h="2085975">
                  <a:moveTo>
                    <a:pt x="0" y="0"/>
                  </a:moveTo>
                  <a:lnTo>
                    <a:pt x="3843799" y="0"/>
                  </a:lnTo>
                  <a:lnTo>
                    <a:pt x="3843799" y="2085925"/>
                  </a:lnTo>
                  <a:lnTo>
                    <a:pt x="0" y="208592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005125" y="2140912"/>
            <a:ext cx="3504565" cy="1518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65430" algn="just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Example</a:t>
            </a:r>
            <a:r>
              <a:rPr sz="14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rule</a:t>
            </a:r>
            <a:r>
              <a:rPr sz="14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in</a:t>
            </a:r>
            <a:r>
              <a:rPr sz="14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a</a:t>
            </a:r>
            <a:r>
              <a:rPr sz="14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chatbot</a:t>
            </a:r>
            <a:r>
              <a:rPr sz="14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based</a:t>
            </a:r>
            <a:r>
              <a:rPr sz="14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on</a:t>
            </a:r>
            <a:r>
              <a:rPr sz="14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AIML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(Artificial</a:t>
            </a:r>
            <a:r>
              <a:rPr sz="14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Intelligence</a:t>
            </a: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Markup</a:t>
            </a: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Language)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which</a:t>
            </a: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was</a:t>
            </a: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developed</a:t>
            </a: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in</a:t>
            </a: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1992-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2002.</a:t>
            </a:r>
            <a:endParaRPr sz="1400">
              <a:latin typeface="Roboto"/>
              <a:cs typeface="Roboto"/>
            </a:endParaRPr>
          </a:p>
          <a:p>
            <a:pPr marL="12700" marR="5080">
              <a:lnSpc>
                <a:spcPct val="100000"/>
              </a:lnSpc>
              <a:spcBef>
                <a:spcPts val="1680"/>
              </a:spcBef>
            </a:pP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AIML</a:t>
            </a:r>
            <a:r>
              <a:rPr sz="14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formed</a:t>
            </a: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the</a:t>
            </a: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basis</a:t>
            </a:r>
            <a:r>
              <a:rPr sz="14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for</a:t>
            </a: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a</a:t>
            </a: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highly</a:t>
            </a:r>
            <a:r>
              <a:rPr sz="14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extended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Eliza</a:t>
            </a:r>
            <a:r>
              <a:rPr sz="14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called</a:t>
            </a:r>
            <a:r>
              <a:rPr sz="14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A.L.I.C.E.</a:t>
            </a:r>
            <a:r>
              <a:rPr sz="14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("Artificial</a:t>
            </a:r>
            <a:r>
              <a:rPr sz="14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Linguistic Internet</a:t>
            </a:r>
            <a:r>
              <a:rPr sz="1400" spc="-1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Computer</a:t>
            </a:r>
            <a:r>
              <a:rPr sz="1400" spc="-1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Entity").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Linguistic</a:t>
            </a:r>
            <a:r>
              <a:rPr spc="55" dirty="0"/>
              <a:t> </a:t>
            </a:r>
            <a:r>
              <a:rPr spc="-10" dirty="0"/>
              <a:t>Foundations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355975" y="1014155"/>
            <a:ext cx="60191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595959"/>
                </a:solidFill>
                <a:latin typeface="Roboto"/>
                <a:cs typeface="Roboto"/>
              </a:rPr>
              <a:t>Semantic</a:t>
            </a:r>
            <a:r>
              <a:rPr sz="1800" b="1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b="1" dirty="0">
                <a:solidFill>
                  <a:srgbClr val="595959"/>
                </a:solidFill>
                <a:latin typeface="Roboto"/>
                <a:cs typeface="Roboto"/>
              </a:rPr>
              <a:t>parsing:</a:t>
            </a:r>
            <a:r>
              <a:rPr sz="1800" b="1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b="1" dirty="0">
                <a:solidFill>
                  <a:srgbClr val="595959"/>
                </a:solidFill>
                <a:latin typeface="Roboto"/>
                <a:cs typeface="Roboto"/>
              </a:rPr>
              <a:t>analyzing</a:t>
            </a:r>
            <a:r>
              <a:rPr sz="1800" b="1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b="1" dirty="0">
                <a:solidFill>
                  <a:srgbClr val="595959"/>
                </a:solidFill>
                <a:latin typeface="Roboto"/>
                <a:cs typeface="Roboto"/>
              </a:rPr>
              <a:t>the</a:t>
            </a:r>
            <a:r>
              <a:rPr sz="1800" b="1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b="1" spc="-10" dirty="0">
                <a:solidFill>
                  <a:srgbClr val="595959"/>
                </a:solidFill>
                <a:latin typeface="Roboto"/>
                <a:cs typeface="Roboto"/>
              </a:rPr>
              <a:t>linguistic</a:t>
            </a:r>
            <a:r>
              <a:rPr sz="1800" b="1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b="1" spc="-10" dirty="0">
                <a:solidFill>
                  <a:srgbClr val="595959"/>
                </a:solidFill>
                <a:latin typeface="Roboto"/>
                <a:cs typeface="Roboto"/>
              </a:rPr>
              <a:t>structure</a:t>
            </a:r>
            <a:r>
              <a:rPr sz="1800" b="1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b="1" dirty="0">
                <a:solidFill>
                  <a:srgbClr val="595959"/>
                </a:solidFill>
                <a:latin typeface="Roboto"/>
                <a:cs typeface="Roboto"/>
              </a:rPr>
              <a:t>of</a:t>
            </a:r>
            <a:r>
              <a:rPr sz="1800" b="1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b="1" spc="-20" dirty="0">
                <a:solidFill>
                  <a:srgbClr val="595959"/>
                </a:solidFill>
                <a:latin typeface="Roboto"/>
                <a:cs typeface="Roboto"/>
              </a:rPr>
              <a:t>text</a:t>
            </a:r>
            <a:endParaRPr sz="1800">
              <a:latin typeface="Roboto"/>
              <a:cs typeface="Roboto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996950" y="1512403"/>
            <a:ext cx="2397125" cy="2405380"/>
            <a:chOff x="1996950" y="1512403"/>
            <a:chExt cx="2397125" cy="24053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29755" y="1545208"/>
              <a:ext cx="2328029" cy="230474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001712" y="1517165"/>
              <a:ext cx="2387600" cy="2395855"/>
            </a:xfrm>
            <a:custGeom>
              <a:avLst/>
              <a:gdLst/>
              <a:ahLst/>
              <a:cxnLst/>
              <a:rect l="l" t="t" r="r" b="b"/>
              <a:pathLst>
                <a:path w="2387600" h="2395854">
                  <a:moveTo>
                    <a:pt x="0" y="0"/>
                  </a:moveTo>
                  <a:lnTo>
                    <a:pt x="2387025" y="0"/>
                  </a:lnTo>
                  <a:lnTo>
                    <a:pt x="2387025" y="2395747"/>
                  </a:lnTo>
                  <a:lnTo>
                    <a:pt x="0" y="239574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775825" y="1904146"/>
            <a:ext cx="217487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The</a:t>
            </a:r>
            <a:r>
              <a:rPr sz="13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introduction</a:t>
            </a:r>
            <a:r>
              <a:rPr sz="13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of</a:t>
            </a:r>
            <a:r>
              <a:rPr sz="13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corpora</a:t>
            </a:r>
            <a:r>
              <a:rPr sz="13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spc="-50" dirty="0">
                <a:solidFill>
                  <a:srgbClr val="595959"/>
                </a:solidFill>
                <a:latin typeface="Roboto"/>
                <a:cs typeface="Roboto"/>
              </a:rPr>
              <a:t>…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2075" y="2216354"/>
            <a:ext cx="157353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21285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595959"/>
                </a:solidFill>
                <a:latin typeface="Roboto"/>
                <a:cs typeface="Roboto"/>
              </a:rPr>
              <a:t>Example</a:t>
            </a:r>
            <a:r>
              <a:rPr sz="1200" spc="-1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200" spc="-25" dirty="0">
                <a:solidFill>
                  <a:srgbClr val="595959"/>
                </a:solidFill>
                <a:latin typeface="Roboto"/>
                <a:cs typeface="Roboto"/>
              </a:rPr>
              <a:t>of </a:t>
            </a:r>
            <a:r>
              <a:rPr sz="1200" b="1" dirty="0">
                <a:solidFill>
                  <a:srgbClr val="595959"/>
                </a:solidFill>
                <a:latin typeface="Roboto"/>
                <a:cs typeface="Roboto"/>
              </a:rPr>
              <a:t>constituency</a:t>
            </a:r>
            <a:r>
              <a:rPr sz="1200" b="1" spc="-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200" b="1" spc="-10" dirty="0">
                <a:solidFill>
                  <a:srgbClr val="595959"/>
                </a:solidFill>
                <a:latin typeface="Roboto"/>
                <a:cs typeface="Roboto"/>
              </a:rPr>
              <a:t>parsing </a:t>
            </a:r>
            <a:r>
              <a:rPr sz="1200" dirty="0">
                <a:solidFill>
                  <a:srgbClr val="595959"/>
                </a:solidFill>
                <a:latin typeface="Roboto"/>
                <a:cs typeface="Roboto"/>
              </a:rPr>
              <a:t>using</a:t>
            </a:r>
            <a:r>
              <a:rPr sz="12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200" spc="-50" dirty="0">
                <a:solidFill>
                  <a:srgbClr val="595959"/>
                </a:solidFill>
                <a:latin typeface="Roboto"/>
                <a:cs typeface="Roboto"/>
              </a:rPr>
              <a:t>a</a:t>
            </a:r>
            <a:endParaRPr sz="12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200" b="1" spc="-10" dirty="0">
                <a:solidFill>
                  <a:srgbClr val="595959"/>
                </a:solidFill>
                <a:latin typeface="Roboto"/>
                <a:cs typeface="Roboto"/>
              </a:rPr>
              <a:t>context-</a:t>
            </a:r>
            <a:r>
              <a:rPr sz="1200" b="1" dirty="0">
                <a:solidFill>
                  <a:srgbClr val="595959"/>
                </a:solidFill>
                <a:latin typeface="Roboto"/>
                <a:cs typeface="Roboto"/>
              </a:rPr>
              <a:t>free</a:t>
            </a:r>
            <a:r>
              <a:rPr sz="1200" b="1" spc="-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200" b="1" spc="-10" dirty="0">
                <a:solidFill>
                  <a:srgbClr val="595959"/>
                </a:solidFill>
                <a:latin typeface="Roboto"/>
                <a:cs typeface="Roboto"/>
              </a:rPr>
              <a:t>grammar</a:t>
            </a:r>
            <a:r>
              <a:rPr sz="1200" spc="-10" dirty="0">
                <a:solidFill>
                  <a:srgbClr val="595959"/>
                </a:solidFill>
                <a:latin typeface="Roboto"/>
                <a:cs typeface="Roboto"/>
              </a:rPr>
              <a:t>.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73041" y="2477721"/>
            <a:ext cx="3926840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The</a:t>
            </a:r>
            <a:r>
              <a:rPr sz="13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b="1" dirty="0">
                <a:solidFill>
                  <a:srgbClr val="595959"/>
                </a:solidFill>
                <a:latin typeface="Roboto"/>
                <a:cs typeface="Roboto"/>
              </a:rPr>
              <a:t>Penn</a:t>
            </a:r>
            <a:r>
              <a:rPr sz="1300" b="1" spc="-7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b="1" spc="-10" dirty="0">
                <a:solidFill>
                  <a:srgbClr val="595959"/>
                </a:solidFill>
                <a:latin typeface="Roboto"/>
                <a:cs typeface="Roboto"/>
              </a:rPr>
              <a:t>Treebank</a:t>
            </a:r>
            <a:r>
              <a:rPr sz="1300" b="1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b="1" dirty="0">
                <a:solidFill>
                  <a:srgbClr val="595959"/>
                </a:solidFill>
                <a:latin typeface="Roboto"/>
                <a:cs typeface="Roboto"/>
              </a:rPr>
              <a:t>(PTB)</a:t>
            </a:r>
            <a:r>
              <a:rPr sz="1300" b="1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corpus</a:t>
            </a:r>
            <a:r>
              <a:rPr sz="13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developed</a:t>
            </a:r>
            <a:r>
              <a:rPr sz="13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spc="-10" dirty="0">
                <a:solidFill>
                  <a:srgbClr val="595959"/>
                </a:solidFill>
                <a:latin typeface="Roboto"/>
                <a:cs typeface="Roboto"/>
              </a:rPr>
              <a:t>during 1989-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1996</a:t>
            </a:r>
            <a:r>
              <a:rPr sz="13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was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widely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used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for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evaluating</a:t>
            </a:r>
            <a:r>
              <a:rPr sz="13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models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 for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sequence</a:t>
            </a:r>
            <a:r>
              <a:rPr sz="13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labelling.</a:t>
            </a:r>
            <a:r>
              <a:rPr sz="1300" spc="-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The</a:t>
            </a:r>
            <a:r>
              <a:rPr sz="13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task</a:t>
            </a:r>
            <a:r>
              <a:rPr sz="13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consists</a:t>
            </a:r>
            <a:r>
              <a:rPr sz="13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of</a:t>
            </a:r>
            <a:r>
              <a:rPr sz="13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spc="-10" dirty="0">
                <a:solidFill>
                  <a:srgbClr val="595959"/>
                </a:solidFill>
                <a:latin typeface="Roboto"/>
                <a:cs typeface="Roboto"/>
              </a:rPr>
              <a:t>annotating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each</a:t>
            </a:r>
            <a:r>
              <a:rPr sz="1300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word</a:t>
            </a:r>
            <a:r>
              <a:rPr sz="1300" spc="-1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with</a:t>
            </a:r>
            <a:r>
              <a:rPr sz="1300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its</a:t>
            </a:r>
            <a:r>
              <a:rPr sz="1300" spc="-1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spc="-10" dirty="0">
                <a:solidFill>
                  <a:srgbClr val="595959"/>
                </a:solidFill>
                <a:latin typeface="Roboto"/>
                <a:cs typeface="Roboto"/>
              </a:rPr>
              <a:t>Part-of-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Speech</a:t>
            </a:r>
            <a:r>
              <a:rPr sz="1300" spc="-20" dirty="0">
                <a:solidFill>
                  <a:srgbClr val="595959"/>
                </a:solidFill>
                <a:latin typeface="Roboto"/>
                <a:cs typeface="Roboto"/>
              </a:rPr>
              <a:t> tag.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73041" y="3726920"/>
            <a:ext cx="4076065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M.</a:t>
            </a:r>
            <a:r>
              <a:rPr sz="13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Marcus</a:t>
            </a:r>
            <a:r>
              <a:rPr sz="13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et</a:t>
            </a:r>
            <a:r>
              <a:rPr sz="13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al.</a:t>
            </a:r>
            <a:r>
              <a:rPr sz="1300" spc="-1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Building</a:t>
            </a:r>
            <a:r>
              <a:rPr sz="1300" u="heavy" spc="-3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3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a</a:t>
            </a:r>
            <a:r>
              <a:rPr sz="1300" u="heavy" spc="-3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3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Large</a:t>
            </a:r>
            <a:r>
              <a:rPr sz="1300" u="heavy" spc="-3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3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Annotated</a:t>
            </a:r>
            <a:r>
              <a:rPr sz="1300" u="heavy" spc="-2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3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Corpus</a:t>
            </a:r>
            <a:r>
              <a:rPr sz="1300" u="heavy" spc="-3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300" u="heavy" spc="-2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of</a:t>
            </a:r>
            <a:r>
              <a:rPr sz="1300" u="none" spc="-25" dirty="0">
                <a:solidFill>
                  <a:srgbClr val="0097A7"/>
                </a:solidFill>
                <a:latin typeface="Roboto"/>
                <a:cs typeface="Roboto"/>
              </a:rPr>
              <a:t> </a:t>
            </a:r>
            <a:r>
              <a:rPr sz="13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English:</a:t>
            </a:r>
            <a:r>
              <a:rPr sz="1300" u="heavy" spc="-5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3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The</a:t>
            </a:r>
            <a:r>
              <a:rPr sz="1300" u="heavy" spc="-3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3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Penn</a:t>
            </a:r>
            <a:r>
              <a:rPr sz="1300" u="heavy" spc="-5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3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Treebank</a:t>
            </a:r>
            <a:r>
              <a:rPr sz="1300" u="none" spc="-10" dirty="0">
                <a:solidFill>
                  <a:srgbClr val="595959"/>
                </a:solidFill>
                <a:latin typeface="Roboto"/>
                <a:cs typeface="Roboto"/>
              </a:rPr>
              <a:t>.</a:t>
            </a:r>
            <a:r>
              <a:rPr sz="1300" u="none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u="none" dirty="0">
                <a:solidFill>
                  <a:srgbClr val="595959"/>
                </a:solidFill>
                <a:latin typeface="Roboto"/>
                <a:cs typeface="Roboto"/>
              </a:rPr>
              <a:t>Computational</a:t>
            </a:r>
            <a:r>
              <a:rPr sz="1300" u="none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u="none" spc="-10" dirty="0">
                <a:solidFill>
                  <a:srgbClr val="595959"/>
                </a:solidFill>
                <a:latin typeface="Roboto"/>
                <a:cs typeface="Roboto"/>
              </a:rPr>
              <a:t>Linguistics, 1993.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0749" y="4223178"/>
            <a:ext cx="14490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595959"/>
                </a:solidFill>
                <a:latin typeface="Roboto"/>
                <a:cs typeface="Roboto"/>
              </a:rPr>
              <a:t>Same</a:t>
            </a:r>
            <a:r>
              <a:rPr sz="1200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595959"/>
                </a:solidFill>
                <a:latin typeface="Roboto"/>
                <a:cs typeface="Roboto"/>
              </a:rPr>
              <a:t>example</a:t>
            </a:r>
            <a:r>
              <a:rPr sz="1200" spc="-1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595959"/>
                </a:solidFill>
                <a:latin typeface="Roboto"/>
                <a:cs typeface="Roboto"/>
              </a:rPr>
              <a:t>using </a:t>
            </a:r>
            <a:r>
              <a:rPr sz="1200" b="1" spc="-10" dirty="0">
                <a:solidFill>
                  <a:srgbClr val="595959"/>
                </a:solidFill>
                <a:latin typeface="Roboto"/>
                <a:cs typeface="Roboto"/>
              </a:rPr>
              <a:t>dependency</a:t>
            </a:r>
            <a:r>
              <a:rPr sz="1200" b="1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200" b="1" spc="-10" dirty="0">
                <a:solidFill>
                  <a:srgbClr val="595959"/>
                </a:solidFill>
                <a:latin typeface="Roboto"/>
                <a:cs typeface="Roboto"/>
              </a:rPr>
              <a:t>parsing</a:t>
            </a:r>
            <a:r>
              <a:rPr sz="1200" spc="-10" dirty="0">
                <a:solidFill>
                  <a:srgbClr val="595959"/>
                </a:solidFill>
                <a:latin typeface="Roboto"/>
                <a:cs typeface="Roboto"/>
              </a:rPr>
              <a:t>.</a:t>
            </a:r>
            <a:endParaRPr sz="1200">
              <a:latin typeface="Roboto"/>
              <a:cs typeface="Roboto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999024" y="4086315"/>
            <a:ext cx="2397125" cy="800735"/>
            <a:chOff x="1999024" y="4086315"/>
            <a:chExt cx="2397125" cy="80073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92709" y="4137920"/>
              <a:ext cx="2251260" cy="71535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003787" y="4091077"/>
              <a:ext cx="2387600" cy="791210"/>
            </a:xfrm>
            <a:custGeom>
              <a:avLst/>
              <a:gdLst/>
              <a:ahLst/>
              <a:cxnLst/>
              <a:rect l="l" t="t" r="r" b="b"/>
              <a:pathLst>
                <a:path w="2387600" h="791210">
                  <a:moveTo>
                    <a:pt x="0" y="0"/>
                  </a:moveTo>
                  <a:lnTo>
                    <a:pt x="2387024" y="0"/>
                  </a:lnTo>
                  <a:lnTo>
                    <a:pt x="2387024" y="790629"/>
                  </a:lnTo>
                  <a:lnTo>
                    <a:pt x="0" y="79062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Word</a:t>
            </a:r>
            <a:r>
              <a:rPr spc="-15" dirty="0"/>
              <a:t> </a:t>
            </a:r>
            <a:r>
              <a:rPr spc="-10" dirty="0"/>
              <a:t>Embeddings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1255" y="1218235"/>
            <a:ext cx="4879975" cy="30321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50520" indent="-337820">
              <a:lnSpc>
                <a:spcPct val="100000"/>
              </a:lnSpc>
              <a:spcBef>
                <a:spcPts val="130"/>
              </a:spcBef>
              <a:buFont typeface="Arial"/>
              <a:buChar char="●"/>
              <a:tabLst>
                <a:tab pos="350520" algn="l"/>
              </a:tabLst>
            </a:pP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Represent</a:t>
            </a:r>
            <a:r>
              <a:rPr sz="1400" spc="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each</a:t>
            </a:r>
            <a:r>
              <a:rPr sz="1400" spc="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word</a:t>
            </a:r>
            <a:r>
              <a:rPr sz="1400" spc="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using</a:t>
            </a:r>
            <a:r>
              <a:rPr sz="1400" spc="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a</a:t>
            </a:r>
            <a:r>
              <a:rPr sz="1400" spc="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“vector”</a:t>
            </a:r>
            <a:r>
              <a:rPr sz="1400" spc="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of</a:t>
            </a:r>
            <a:r>
              <a:rPr sz="1400" spc="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numbers.</a:t>
            </a:r>
            <a:endParaRPr sz="1400">
              <a:latin typeface="Roboto"/>
              <a:cs typeface="Roboto"/>
            </a:endParaRPr>
          </a:p>
          <a:p>
            <a:pPr marL="350520" indent="-337820">
              <a:lnSpc>
                <a:spcPct val="100000"/>
              </a:lnSpc>
              <a:spcBef>
                <a:spcPts val="1550"/>
              </a:spcBef>
              <a:buFont typeface="Arial"/>
              <a:buChar char="●"/>
              <a:tabLst>
                <a:tab pos="350520" algn="l"/>
              </a:tabLst>
            </a:pP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Converts</a:t>
            </a:r>
            <a:r>
              <a:rPr sz="1400" spc="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a</a:t>
            </a:r>
            <a:r>
              <a:rPr sz="1400" spc="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“discrete”</a:t>
            </a:r>
            <a:r>
              <a:rPr sz="1400" spc="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representation</a:t>
            </a:r>
            <a:r>
              <a:rPr sz="1400" spc="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to</a:t>
            </a:r>
            <a:r>
              <a:rPr sz="1400" spc="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“continuous”.</a:t>
            </a:r>
            <a:endParaRPr sz="1400">
              <a:latin typeface="Roboto"/>
              <a:cs typeface="Roboto"/>
            </a:endParaRPr>
          </a:p>
          <a:p>
            <a:pPr marL="350520" indent="-337820">
              <a:lnSpc>
                <a:spcPct val="100000"/>
              </a:lnSpc>
              <a:spcBef>
                <a:spcPts val="1550"/>
              </a:spcBef>
              <a:buFont typeface="Arial"/>
              <a:buChar char="●"/>
              <a:tabLst>
                <a:tab pos="350520" algn="l"/>
              </a:tabLst>
            </a:pP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Many</a:t>
            </a:r>
            <a:r>
              <a:rPr sz="1400" spc="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benefits:</a:t>
            </a:r>
            <a:endParaRPr sz="1400">
              <a:latin typeface="Roboto"/>
              <a:cs typeface="Roboto"/>
            </a:endParaRPr>
          </a:p>
          <a:p>
            <a:pPr marL="807720" lvl="1" indent="-319405">
              <a:lnSpc>
                <a:spcPct val="100000"/>
              </a:lnSpc>
              <a:spcBef>
                <a:spcPts val="1515"/>
              </a:spcBef>
              <a:buFont typeface="Arial"/>
              <a:buChar char="○"/>
              <a:tabLst>
                <a:tab pos="807720" algn="l"/>
              </a:tabLst>
            </a:pPr>
            <a:r>
              <a:rPr sz="1150" dirty="0">
                <a:solidFill>
                  <a:srgbClr val="595959"/>
                </a:solidFill>
                <a:latin typeface="Roboto"/>
                <a:cs typeface="Roboto"/>
              </a:rPr>
              <a:t>More</a:t>
            </a:r>
            <a:r>
              <a:rPr sz="1150" spc="8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595959"/>
                </a:solidFill>
                <a:latin typeface="Roboto"/>
                <a:cs typeface="Roboto"/>
              </a:rPr>
              <a:t>“fine-grained”</a:t>
            </a:r>
            <a:r>
              <a:rPr sz="1150" spc="9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595959"/>
                </a:solidFill>
                <a:latin typeface="Roboto"/>
                <a:cs typeface="Roboto"/>
              </a:rPr>
              <a:t>representations</a:t>
            </a:r>
            <a:r>
              <a:rPr sz="1150" spc="8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595959"/>
                </a:solidFill>
                <a:latin typeface="Roboto"/>
                <a:cs typeface="Roboto"/>
              </a:rPr>
              <a:t>of</a:t>
            </a:r>
            <a:r>
              <a:rPr sz="1150" spc="9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595959"/>
                </a:solidFill>
                <a:latin typeface="Roboto"/>
                <a:cs typeface="Roboto"/>
              </a:rPr>
              <a:t>words.</a:t>
            </a:r>
            <a:endParaRPr sz="1150">
              <a:latin typeface="Roboto"/>
              <a:cs typeface="Roboto"/>
            </a:endParaRPr>
          </a:p>
          <a:p>
            <a:pPr marL="807720" lvl="1" indent="-319405">
              <a:lnSpc>
                <a:spcPct val="100000"/>
              </a:lnSpc>
              <a:spcBef>
                <a:spcPts val="975"/>
              </a:spcBef>
              <a:buFont typeface="Arial"/>
              <a:buChar char="○"/>
              <a:tabLst>
                <a:tab pos="807720" algn="l"/>
              </a:tabLst>
            </a:pPr>
            <a:r>
              <a:rPr sz="1150" dirty="0">
                <a:solidFill>
                  <a:srgbClr val="595959"/>
                </a:solidFill>
                <a:latin typeface="Roboto"/>
                <a:cs typeface="Roboto"/>
              </a:rPr>
              <a:t>Useful</a:t>
            </a:r>
            <a:r>
              <a:rPr sz="1150" spc="8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595959"/>
                </a:solidFill>
                <a:latin typeface="Roboto"/>
                <a:cs typeface="Roboto"/>
              </a:rPr>
              <a:t>computations</a:t>
            </a:r>
            <a:r>
              <a:rPr sz="1150" spc="8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595959"/>
                </a:solidFill>
                <a:latin typeface="Roboto"/>
                <a:cs typeface="Roboto"/>
              </a:rPr>
              <a:t>such</a:t>
            </a:r>
            <a:r>
              <a:rPr sz="1150" spc="8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595959"/>
                </a:solidFill>
                <a:latin typeface="Roboto"/>
                <a:cs typeface="Roboto"/>
              </a:rPr>
              <a:t>as</a:t>
            </a:r>
            <a:r>
              <a:rPr sz="1150" spc="8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595959"/>
                </a:solidFill>
                <a:latin typeface="Roboto"/>
                <a:cs typeface="Roboto"/>
              </a:rPr>
              <a:t>cosine</a:t>
            </a:r>
            <a:r>
              <a:rPr sz="1150" spc="8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595959"/>
                </a:solidFill>
                <a:latin typeface="Roboto"/>
                <a:cs typeface="Roboto"/>
              </a:rPr>
              <a:t>and</a:t>
            </a:r>
            <a:r>
              <a:rPr sz="1150" spc="8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595959"/>
                </a:solidFill>
                <a:latin typeface="Roboto"/>
                <a:cs typeface="Roboto"/>
              </a:rPr>
              <a:t>Euclidean</a:t>
            </a:r>
            <a:r>
              <a:rPr sz="1150" spc="8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595959"/>
                </a:solidFill>
                <a:latin typeface="Roboto"/>
                <a:cs typeface="Roboto"/>
              </a:rPr>
              <a:t>distance.</a:t>
            </a:r>
            <a:endParaRPr sz="1150">
              <a:latin typeface="Roboto"/>
              <a:cs typeface="Roboto"/>
            </a:endParaRPr>
          </a:p>
          <a:p>
            <a:pPr marL="807720" lvl="1" indent="-319405">
              <a:lnSpc>
                <a:spcPct val="100000"/>
              </a:lnSpc>
              <a:spcBef>
                <a:spcPts val="975"/>
              </a:spcBef>
              <a:buFont typeface="Arial"/>
              <a:buChar char="○"/>
              <a:tabLst>
                <a:tab pos="807720" algn="l"/>
              </a:tabLst>
            </a:pPr>
            <a:r>
              <a:rPr sz="1150" dirty="0">
                <a:solidFill>
                  <a:srgbClr val="595959"/>
                </a:solidFill>
                <a:latin typeface="Roboto"/>
                <a:cs typeface="Roboto"/>
              </a:rPr>
              <a:t>Visualization</a:t>
            </a:r>
            <a:r>
              <a:rPr sz="1150" spc="7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595959"/>
                </a:solidFill>
                <a:latin typeface="Roboto"/>
                <a:cs typeface="Roboto"/>
              </a:rPr>
              <a:t>and</a:t>
            </a:r>
            <a:r>
              <a:rPr sz="1150" spc="8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595959"/>
                </a:solidFill>
                <a:latin typeface="Roboto"/>
                <a:cs typeface="Roboto"/>
              </a:rPr>
              <a:t>mapping</a:t>
            </a:r>
            <a:r>
              <a:rPr sz="1150" spc="7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595959"/>
                </a:solidFill>
                <a:latin typeface="Roboto"/>
                <a:cs typeface="Roboto"/>
              </a:rPr>
              <a:t>of</a:t>
            </a:r>
            <a:r>
              <a:rPr sz="1150" spc="8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595959"/>
                </a:solidFill>
                <a:latin typeface="Roboto"/>
                <a:cs typeface="Roboto"/>
              </a:rPr>
              <a:t>words</a:t>
            </a:r>
            <a:r>
              <a:rPr sz="1150" spc="8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595959"/>
                </a:solidFill>
                <a:latin typeface="Roboto"/>
                <a:cs typeface="Roboto"/>
              </a:rPr>
              <a:t>onto</a:t>
            </a:r>
            <a:r>
              <a:rPr sz="1150" spc="7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595959"/>
                </a:solidFill>
                <a:latin typeface="Roboto"/>
                <a:cs typeface="Roboto"/>
              </a:rPr>
              <a:t>a</a:t>
            </a:r>
            <a:r>
              <a:rPr sz="1150" spc="8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595959"/>
                </a:solidFill>
                <a:latin typeface="Roboto"/>
                <a:cs typeface="Roboto"/>
              </a:rPr>
              <a:t>semantic</a:t>
            </a:r>
            <a:r>
              <a:rPr sz="1150" spc="8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595959"/>
                </a:solidFill>
                <a:latin typeface="Roboto"/>
                <a:cs typeface="Roboto"/>
              </a:rPr>
              <a:t>space.</a:t>
            </a:r>
            <a:endParaRPr sz="1150">
              <a:latin typeface="Roboto"/>
              <a:cs typeface="Roboto"/>
            </a:endParaRPr>
          </a:p>
          <a:p>
            <a:pPr marL="807720" lvl="1" indent="-319405">
              <a:lnSpc>
                <a:spcPct val="100000"/>
              </a:lnSpc>
              <a:spcBef>
                <a:spcPts val="980"/>
              </a:spcBef>
              <a:buFont typeface="Arial"/>
              <a:buChar char="○"/>
              <a:tabLst>
                <a:tab pos="807720" algn="l"/>
              </a:tabLst>
            </a:pPr>
            <a:r>
              <a:rPr sz="115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150" spc="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595959"/>
                </a:solidFill>
                <a:latin typeface="Roboto"/>
                <a:cs typeface="Roboto"/>
              </a:rPr>
              <a:t>be</a:t>
            </a:r>
            <a:r>
              <a:rPr sz="1150" spc="6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595959"/>
                </a:solidFill>
                <a:latin typeface="Roboto"/>
                <a:cs typeface="Roboto"/>
              </a:rPr>
              <a:t>learnt</a:t>
            </a:r>
            <a:r>
              <a:rPr sz="1150" spc="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595959"/>
                </a:solidFill>
                <a:latin typeface="Roboto"/>
                <a:cs typeface="Roboto"/>
              </a:rPr>
              <a:t>in</a:t>
            </a:r>
            <a:r>
              <a:rPr sz="1150" spc="6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595959"/>
                </a:solidFill>
                <a:latin typeface="Roboto"/>
                <a:cs typeface="Roboto"/>
              </a:rPr>
              <a:t>self-supervised</a:t>
            </a:r>
            <a:r>
              <a:rPr sz="1150" spc="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595959"/>
                </a:solidFill>
                <a:latin typeface="Roboto"/>
                <a:cs typeface="Roboto"/>
              </a:rPr>
              <a:t>manner</a:t>
            </a:r>
            <a:r>
              <a:rPr sz="1150" spc="6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595959"/>
                </a:solidFill>
                <a:latin typeface="Roboto"/>
                <a:cs typeface="Roboto"/>
              </a:rPr>
              <a:t>from</a:t>
            </a:r>
            <a:r>
              <a:rPr sz="1150" spc="6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595959"/>
                </a:solidFill>
                <a:latin typeface="Roboto"/>
                <a:cs typeface="Roboto"/>
              </a:rPr>
              <a:t>a</a:t>
            </a:r>
            <a:r>
              <a:rPr sz="1150" spc="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595959"/>
                </a:solidFill>
                <a:latin typeface="Roboto"/>
                <a:cs typeface="Roboto"/>
              </a:rPr>
              <a:t>large</a:t>
            </a:r>
            <a:r>
              <a:rPr sz="1150" spc="6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595959"/>
                </a:solidFill>
                <a:latin typeface="Roboto"/>
                <a:cs typeface="Roboto"/>
              </a:rPr>
              <a:t>corpus.</a:t>
            </a:r>
            <a:endParaRPr sz="1150">
              <a:latin typeface="Roboto"/>
              <a:cs typeface="Roboto"/>
            </a:endParaRPr>
          </a:p>
          <a:p>
            <a:pPr marL="350520" indent="-337820">
              <a:lnSpc>
                <a:spcPct val="100000"/>
              </a:lnSpc>
              <a:spcBef>
                <a:spcPts val="1010"/>
              </a:spcBef>
              <a:buFont typeface="Arial"/>
              <a:buChar char="●"/>
              <a:tabLst>
                <a:tab pos="350520" algn="l"/>
              </a:tabLst>
            </a:pP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Examples:</a:t>
            </a:r>
            <a:endParaRPr sz="1400">
              <a:latin typeface="Roboto"/>
              <a:cs typeface="Roboto"/>
            </a:endParaRPr>
          </a:p>
          <a:p>
            <a:pPr marL="807720" lvl="1" indent="-311785">
              <a:lnSpc>
                <a:spcPct val="100000"/>
              </a:lnSpc>
              <a:spcBef>
                <a:spcPts val="1575"/>
              </a:spcBef>
              <a:buFont typeface="Arial"/>
              <a:buChar char="○"/>
              <a:tabLst>
                <a:tab pos="807720" algn="l"/>
              </a:tabLst>
            </a:pPr>
            <a:r>
              <a:rPr sz="1050" dirty="0">
                <a:solidFill>
                  <a:srgbClr val="595959"/>
                </a:solidFill>
                <a:latin typeface="Roboto"/>
                <a:cs typeface="Roboto"/>
              </a:rPr>
              <a:t>Word2Vec</a:t>
            </a:r>
            <a:r>
              <a:rPr sz="1050" spc="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050" dirty="0">
                <a:solidFill>
                  <a:srgbClr val="595959"/>
                </a:solidFill>
                <a:latin typeface="Roboto"/>
                <a:cs typeface="Roboto"/>
              </a:rPr>
              <a:t>(2013),</a:t>
            </a:r>
            <a:r>
              <a:rPr sz="1050" spc="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050" dirty="0">
                <a:solidFill>
                  <a:srgbClr val="595959"/>
                </a:solidFill>
                <a:latin typeface="Roboto"/>
                <a:cs typeface="Roboto"/>
              </a:rPr>
              <a:t>GloVe,</a:t>
            </a:r>
            <a:r>
              <a:rPr sz="1050" spc="6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050" spc="-10" dirty="0">
                <a:solidFill>
                  <a:srgbClr val="595959"/>
                </a:solidFill>
                <a:latin typeface="Roboto"/>
                <a:cs typeface="Roboto"/>
              </a:rPr>
              <a:t>BERT,</a:t>
            </a:r>
            <a:r>
              <a:rPr sz="1050" spc="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050" spc="-20" dirty="0">
                <a:solidFill>
                  <a:srgbClr val="595959"/>
                </a:solidFill>
                <a:latin typeface="Roboto"/>
                <a:cs typeface="Roboto"/>
              </a:rPr>
              <a:t>ELMo</a:t>
            </a:r>
            <a:endParaRPr sz="1050">
              <a:latin typeface="Roboto"/>
              <a:cs typeface="Roboto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17325" y="1599025"/>
            <a:ext cx="3498074" cy="18449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25425" y="125162"/>
            <a:ext cx="2248535" cy="3822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Seq2Seq</a:t>
            </a:r>
            <a:r>
              <a:rPr spc="65" dirty="0"/>
              <a:t> </a:t>
            </a:r>
            <a:r>
              <a:rPr spc="-10" dirty="0"/>
              <a:t>Models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498262" y="952629"/>
            <a:ext cx="4158615" cy="1397000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356235" indent="-343535">
              <a:lnSpc>
                <a:spcPct val="100000"/>
              </a:lnSpc>
              <a:spcBef>
                <a:spcPts val="1000"/>
              </a:spcBef>
              <a:buFont typeface="Arial"/>
              <a:buChar char="●"/>
              <a:tabLst>
                <a:tab pos="356235" algn="l"/>
              </a:tabLst>
            </a:pPr>
            <a:r>
              <a:rPr sz="1500" spc="-10" dirty="0">
                <a:solidFill>
                  <a:srgbClr val="595959"/>
                </a:solidFill>
                <a:latin typeface="Roboto"/>
                <a:cs typeface="Roboto"/>
              </a:rPr>
              <a:t>Recurrent</a:t>
            </a:r>
            <a:r>
              <a:rPr sz="15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Neural</a:t>
            </a:r>
            <a:r>
              <a:rPr sz="15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595959"/>
                </a:solidFill>
                <a:latin typeface="Roboto"/>
                <a:cs typeface="Roboto"/>
              </a:rPr>
              <a:t>Networks</a:t>
            </a:r>
            <a:r>
              <a:rPr sz="15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595959"/>
                </a:solidFill>
                <a:latin typeface="Roboto"/>
                <a:cs typeface="Roboto"/>
              </a:rPr>
              <a:t>(RNNs)</a:t>
            </a:r>
            <a:endParaRPr sz="1500">
              <a:latin typeface="Roboto"/>
              <a:cs typeface="Roboto"/>
            </a:endParaRPr>
          </a:p>
          <a:p>
            <a:pPr marL="356235" indent="-343535">
              <a:lnSpc>
                <a:spcPct val="100000"/>
              </a:lnSpc>
              <a:spcBef>
                <a:spcPts val="900"/>
              </a:spcBef>
              <a:buFont typeface="Arial"/>
              <a:buChar char="●"/>
              <a:tabLst>
                <a:tab pos="356235" algn="l"/>
              </a:tabLst>
            </a:pP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Long</a:t>
            </a:r>
            <a:r>
              <a:rPr sz="15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Short-</a:t>
            </a:r>
            <a:r>
              <a:rPr sz="1500" spc="-20" dirty="0">
                <a:solidFill>
                  <a:srgbClr val="595959"/>
                </a:solidFill>
                <a:latin typeface="Roboto"/>
                <a:cs typeface="Roboto"/>
              </a:rPr>
              <a:t>Term</a:t>
            </a:r>
            <a:r>
              <a:rPr sz="15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Memory</a:t>
            </a:r>
            <a:r>
              <a:rPr sz="15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595959"/>
                </a:solidFill>
                <a:latin typeface="Roboto"/>
                <a:cs typeface="Roboto"/>
              </a:rPr>
              <a:t>Networks</a:t>
            </a:r>
            <a:r>
              <a:rPr sz="15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595959"/>
                </a:solidFill>
                <a:latin typeface="Roboto"/>
                <a:cs typeface="Roboto"/>
              </a:rPr>
              <a:t>(LSTMs)</a:t>
            </a:r>
            <a:endParaRPr sz="1500">
              <a:latin typeface="Roboto"/>
              <a:cs typeface="Roboto"/>
            </a:endParaRPr>
          </a:p>
          <a:p>
            <a:pPr marL="356235" indent="-343535">
              <a:lnSpc>
                <a:spcPct val="100000"/>
              </a:lnSpc>
              <a:spcBef>
                <a:spcPts val="900"/>
              </a:spcBef>
              <a:buFont typeface="Arial"/>
              <a:buChar char="●"/>
              <a:tabLst>
                <a:tab pos="356235" algn="l"/>
              </a:tabLst>
            </a:pP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Capture</a:t>
            </a:r>
            <a:r>
              <a:rPr sz="15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595959"/>
                </a:solidFill>
                <a:latin typeface="Roboto"/>
                <a:cs typeface="Roboto"/>
              </a:rPr>
              <a:t>dependencies</a:t>
            </a:r>
            <a:r>
              <a:rPr sz="15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between</a:t>
            </a:r>
            <a:r>
              <a:rPr sz="15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input</a:t>
            </a:r>
            <a:r>
              <a:rPr sz="15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595959"/>
                </a:solidFill>
                <a:latin typeface="Roboto"/>
                <a:cs typeface="Roboto"/>
              </a:rPr>
              <a:t>tokens</a:t>
            </a:r>
            <a:endParaRPr sz="1500">
              <a:latin typeface="Roboto"/>
              <a:cs typeface="Roboto"/>
            </a:endParaRPr>
          </a:p>
          <a:p>
            <a:pPr marL="356235" indent="-343535">
              <a:lnSpc>
                <a:spcPct val="100000"/>
              </a:lnSpc>
              <a:spcBef>
                <a:spcPts val="900"/>
              </a:spcBef>
              <a:buFont typeface="Arial"/>
              <a:buChar char="●"/>
              <a:tabLst>
                <a:tab pos="356235" algn="l"/>
              </a:tabLst>
            </a:pP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Gates</a:t>
            </a:r>
            <a:r>
              <a:rPr sz="15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control</a:t>
            </a:r>
            <a:r>
              <a:rPr sz="15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the</a:t>
            </a:r>
            <a:r>
              <a:rPr sz="15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flow</a:t>
            </a:r>
            <a:r>
              <a:rPr sz="15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of</a:t>
            </a:r>
            <a:r>
              <a:rPr sz="15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595959"/>
                </a:solidFill>
                <a:latin typeface="Roboto"/>
                <a:cs typeface="Roboto"/>
              </a:rPr>
              <a:t>information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089074" y="216424"/>
            <a:ext cx="2824480" cy="739140"/>
          </a:xfrm>
          <a:custGeom>
            <a:avLst/>
            <a:gdLst/>
            <a:ahLst/>
            <a:cxnLst/>
            <a:rect l="l" t="t" r="r" b="b"/>
            <a:pathLst>
              <a:path w="2824479" h="739140">
                <a:moveTo>
                  <a:pt x="2824199" y="738899"/>
                </a:moveTo>
                <a:lnTo>
                  <a:pt x="0" y="738899"/>
                </a:lnTo>
                <a:lnTo>
                  <a:pt x="0" y="0"/>
                </a:lnTo>
                <a:lnTo>
                  <a:pt x="2824199" y="0"/>
                </a:lnTo>
                <a:lnTo>
                  <a:pt x="2824199" y="7388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136700" y="283354"/>
            <a:ext cx="24707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595959"/>
                </a:solidFill>
                <a:latin typeface="Roboto"/>
                <a:cs typeface="Roboto"/>
              </a:rPr>
              <a:t>The</a:t>
            </a:r>
            <a:r>
              <a:rPr sz="12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595959"/>
                </a:solidFill>
                <a:latin typeface="Roboto"/>
                <a:cs typeface="Roboto"/>
              </a:rPr>
              <a:t>inputs</a:t>
            </a:r>
            <a:r>
              <a:rPr sz="12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595959"/>
                </a:solidFill>
                <a:latin typeface="Roboto"/>
                <a:cs typeface="Roboto"/>
              </a:rPr>
              <a:t>to</a:t>
            </a:r>
            <a:r>
              <a:rPr sz="12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595959"/>
                </a:solidFill>
                <a:latin typeface="Roboto"/>
                <a:cs typeface="Roboto"/>
              </a:rPr>
              <a:t>each</a:t>
            </a:r>
            <a:r>
              <a:rPr sz="12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595959"/>
                </a:solidFill>
                <a:latin typeface="Roboto"/>
                <a:cs typeface="Roboto"/>
              </a:rPr>
              <a:t>unit</a:t>
            </a:r>
            <a:r>
              <a:rPr sz="12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595959"/>
                </a:solidFill>
                <a:latin typeface="Roboto"/>
                <a:cs typeface="Roboto"/>
              </a:rPr>
              <a:t>consists</a:t>
            </a:r>
            <a:r>
              <a:rPr sz="1200" spc="-25" dirty="0">
                <a:solidFill>
                  <a:srgbClr val="595959"/>
                </a:solidFill>
                <a:latin typeface="Roboto"/>
                <a:cs typeface="Roboto"/>
              </a:rPr>
              <a:t> of </a:t>
            </a:r>
            <a:r>
              <a:rPr sz="1200" dirty="0">
                <a:solidFill>
                  <a:srgbClr val="595959"/>
                </a:solidFill>
                <a:latin typeface="Roboto"/>
                <a:cs typeface="Roboto"/>
              </a:rPr>
              <a:t>the</a:t>
            </a:r>
            <a:r>
              <a:rPr sz="12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595959"/>
                </a:solidFill>
                <a:latin typeface="Roboto"/>
                <a:cs typeface="Roboto"/>
              </a:rPr>
              <a:t>current</a:t>
            </a:r>
            <a:r>
              <a:rPr sz="1200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595959"/>
                </a:solidFill>
                <a:latin typeface="Roboto"/>
                <a:cs typeface="Roboto"/>
              </a:rPr>
              <a:t>input</a:t>
            </a:r>
            <a:r>
              <a:rPr sz="1200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595959"/>
                </a:solidFill>
                <a:latin typeface="Roboto"/>
                <a:cs typeface="Roboto"/>
              </a:rPr>
              <a:t>x</a:t>
            </a:r>
            <a:r>
              <a:rPr sz="1200" baseline="-31250" dirty="0">
                <a:solidFill>
                  <a:srgbClr val="595959"/>
                </a:solidFill>
                <a:latin typeface="Roboto"/>
                <a:cs typeface="Roboto"/>
              </a:rPr>
              <a:t>t</a:t>
            </a:r>
            <a:r>
              <a:rPr sz="1200" dirty="0">
                <a:solidFill>
                  <a:srgbClr val="595959"/>
                </a:solidFill>
                <a:latin typeface="Roboto"/>
                <a:cs typeface="Roboto"/>
              </a:rPr>
              <a:t>,</a:t>
            </a:r>
            <a:r>
              <a:rPr sz="1200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595959"/>
                </a:solidFill>
                <a:latin typeface="Roboto"/>
                <a:cs typeface="Roboto"/>
              </a:rPr>
              <a:t>previous</a:t>
            </a:r>
            <a:r>
              <a:rPr sz="12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595959"/>
                </a:solidFill>
                <a:latin typeface="Roboto"/>
                <a:cs typeface="Roboto"/>
              </a:rPr>
              <a:t>hidden </a:t>
            </a:r>
            <a:r>
              <a:rPr sz="1200" dirty="0">
                <a:solidFill>
                  <a:srgbClr val="595959"/>
                </a:solidFill>
                <a:latin typeface="Roboto"/>
                <a:cs typeface="Roboto"/>
              </a:rPr>
              <a:t>state</a:t>
            </a:r>
            <a:r>
              <a:rPr sz="1200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595959"/>
                </a:solidFill>
                <a:latin typeface="Roboto"/>
                <a:cs typeface="Roboto"/>
              </a:rPr>
              <a:t>h</a:t>
            </a:r>
            <a:r>
              <a:rPr sz="1200" spc="-15" baseline="-31250" dirty="0">
                <a:solidFill>
                  <a:srgbClr val="595959"/>
                </a:solidFill>
                <a:latin typeface="Roboto"/>
                <a:cs typeface="Roboto"/>
              </a:rPr>
              <a:t>t-</a:t>
            </a:r>
            <a:r>
              <a:rPr sz="1200" baseline="-31250" dirty="0">
                <a:solidFill>
                  <a:srgbClr val="595959"/>
                </a:solidFill>
                <a:latin typeface="Roboto"/>
                <a:cs typeface="Roboto"/>
              </a:rPr>
              <a:t>1</a:t>
            </a:r>
            <a:r>
              <a:rPr sz="1200" dirty="0">
                <a:solidFill>
                  <a:srgbClr val="595959"/>
                </a:solidFill>
                <a:latin typeface="Roboto"/>
                <a:cs typeface="Roboto"/>
              </a:rPr>
              <a:t>,</a:t>
            </a:r>
            <a:r>
              <a:rPr sz="1200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595959"/>
                </a:solidFill>
                <a:latin typeface="Roboto"/>
                <a:cs typeface="Roboto"/>
              </a:rPr>
              <a:t>and</a:t>
            </a:r>
            <a:r>
              <a:rPr sz="1200" spc="-1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595959"/>
                </a:solidFill>
                <a:latin typeface="Roboto"/>
                <a:cs typeface="Roboto"/>
              </a:rPr>
              <a:t>previous</a:t>
            </a:r>
            <a:r>
              <a:rPr sz="1200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595959"/>
                </a:solidFill>
                <a:latin typeface="Roboto"/>
                <a:cs typeface="Roboto"/>
              </a:rPr>
              <a:t>context</a:t>
            </a:r>
            <a:r>
              <a:rPr sz="1200" spc="-1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595959"/>
                </a:solidFill>
                <a:latin typeface="Roboto"/>
                <a:cs typeface="Roboto"/>
              </a:rPr>
              <a:t>c</a:t>
            </a:r>
            <a:r>
              <a:rPr sz="1200" baseline="-31250" dirty="0">
                <a:solidFill>
                  <a:srgbClr val="595959"/>
                </a:solidFill>
                <a:latin typeface="Roboto"/>
                <a:cs typeface="Roboto"/>
              </a:rPr>
              <a:t>t-</a:t>
            </a:r>
            <a:r>
              <a:rPr sz="1200" spc="-75" baseline="-31250" dirty="0">
                <a:solidFill>
                  <a:srgbClr val="595959"/>
                </a:solidFill>
                <a:latin typeface="Roboto"/>
                <a:cs typeface="Roboto"/>
              </a:rPr>
              <a:t>1</a:t>
            </a:r>
            <a:endParaRPr sz="1200" baseline="-31250">
              <a:latin typeface="Roboto"/>
              <a:cs typeface="Robo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84674" y="2726350"/>
            <a:ext cx="4770120" cy="1503045"/>
            <a:chOff x="384674" y="2726350"/>
            <a:chExt cx="4770120" cy="150304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4199" y="2735875"/>
              <a:ext cx="4750950" cy="148387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89437" y="2731112"/>
              <a:ext cx="4760595" cy="1493520"/>
            </a:xfrm>
            <a:custGeom>
              <a:avLst/>
              <a:gdLst/>
              <a:ahLst/>
              <a:cxnLst/>
              <a:rect l="l" t="t" r="r" b="b"/>
              <a:pathLst>
                <a:path w="4760595" h="1493520">
                  <a:moveTo>
                    <a:pt x="0" y="0"/>
                  </a:moveTo>
                  <a:lnTo>
                    <a:pt x="4760475" y="0"/>
                  </a:lnTo>
                  <a:lnTo>
                    <a:pt x="4760475" y="1493400"/>
                  </a:lnTo>
                  <a:lnTo>
                    <a:pt x="0" y="149340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4881562" y="963937"/>
            <a:ext cx="3901440" cy="2270125"/>
            <a:chOff x="4881562" y="963937"/>
            <a:chExt cx="3901440" cy="2270125"/>
          </a:xfrm>
        </p:grpSpPr>
        <p:sp>
          <p:nvSpPr>
            <p:cNvPr id="10" name="object 10"/>
            <p:cNvSpPr/>
            <p:nvPr/>
          </p:nvSpPr>
          <p:spPr>
            <a:xfrm>
              <a:off x="4886325" y="968699"/>
              <a:ext cx="1092200" cy="2260600"/>
            </a:xfrm>
            <a:custGeom>
              <a:avLst/>
              <a:gdLst/>
              <a:ahLst/>
              <a:cxnLst/>
              <a:rect l="l" t="t" r="r" b="b"/>
              <a:pathLst>
                <a:path w="1092200" h="2260600">
                  <a:moveTo>
                    <a:pt x="457202" y="1317379"/>
                  </a:moveTo>
                  <a:lnTo>
                    <a:pt x="458072" y="1246999"/>
                  </a:lnTo>
                  <a:lnTo>
                    <a:pt x="460642" y="1178022"/>
                  </a:lnTo>
                  <a:lnTo>
                    <a:pt x="464850" y="1110634"/>
                  </a:lnTo>
                  <a:lnTo>
                    <a:pt x="470634" y="1045014"/>
                  </a:lnTo>
                  <a:lnTo>
                    <a:pt x="477934" y="981347"/>
                  </a:lnTo>
                  <a:lnTo>
                    <a:pt x="486688" y="919813"/>
                  </a:lnTo>
                  <a:lnTo>
                    <a:pt x="496835" y="860597"/>
                  </a:lnTo>
                  <a:lnTo>
                    <a:pt x="508313" y="803879"/>
                  </a:lnTo>
                  <a:lnTo>
                    <a:pt x="521061" y="749842"/>
                  </a:lnTo>
                  <a:lnTo>
                    <a:pt x="535018" y="698669"/>
                  </a:lnTo>
                  <a:lnTo>
                    <a:pt x="550122" y="650542"/>
                  </a:lnTo>
                  <a:lnTo>
                    <a:pt x="566313" y="605644"/>
                  </a:lnTo>
                  <a:lnTo>
                    <a:pt x="583528" y="564156"/>
                  </a:lnTo>
                  <a:lnTo>
                    <a:pt x="601706" y="526261"/>
                  </a:lnTo>
                  <a:lnTo>
                    <a:pt x="620786" y="492141"/>
                  </a:lnTo>
                  <a:lnTo>
                    <a:pt x="661408" y="435957"/>
                  </a:lnTo>
                  <a:lnTo>
                    <a:pt x="704901" y="397062"/>
                  </a:lnTo>
                  <a:lnTo>
                    <a:pt x="750775" y="376916"/>
                  </a:lnTo>
                  <a:lnTo>
                    <a:pt x="774452" y="374329"/>
                  </a:lnTo>
                  <a:lnTo>
                    <a:pt x="836633" y="392617"/>
                  </a:lnTo>
                  <a:lnTo>
                    <a:pt x="895858" y="446115"/>
                  </a:lnTo>
                  <a:lnTo>
                    <a:pt x="923842" y="485427"/>
                  </a:lnTo>
                  <a:lnTo>
                    <a:pt x="950462" y="532773"/>
                  </a:lnTo>
                  <a:lnTo>
                    <a:pt x="975512" y="587897"/>
                  </a:lnTo>
                  <a:lnTo>
                    <a:pt x="998781" y="650542"/>
                  </a:lnTo>
                  <a:lnTo>
                    <a:pt x="1012045" y="692450"/>
                  </a:lnTo>
                  <a:lnTo>
                    <a:pt x="1024363" y="736451"/>
                  </a:lnTo>
                  <a:lnTo>
                    <a:pt x="1035715" y="782400"/>
                  </a:lnTo>
                  <a:lnTo>
                    <a:pt x="1046082" y="830154"/>
                  </a:lnTo>
                  <a:lnTo>
                    <a:pt x="1055442" y="879569"/>
                  </a:lnTo>
                  <a:lnTo>
                    <a:pt x="1063777" y="930500"/>
                  </a:lnTo>
                  <a:lnTo>
                    <a:pt x="1071065" y="982804"/>
                  </a:lnTo>
                  <a:lnTo>
                    <a:pt x="1077287" y="1036337"/>
                  </a:lnTo>
                  <a:lnTo>
                    <a:pt x="1082423" y="1090953"/>
                  </a:lnTo>
                  <a:lnTo>
                    <a:pt x="1086452" y="1146510"/>
                  </a:lnTo>
                  <a:lnTo>
                    <a:pt x="1089355" y="1202863"/>
                  </a:lnTo>
                  <a:lnTo>
                    <a:pt x="1091112" y="1259867"/>
                  </a:lnTo>
                  <a:lnTo>
                    <a:pt x="1091702" y="1317379"/>
                  </a:lnTo>
                  <a:lnTo>
                    <a:pt x="1090832" y="1387760"/>
                  </a:lnTo>
                  <a:lnTo>
                    <a:pt x="1088262" y="1456737"/>
                  </a:lnTo>
                  <a:lnTo>
                    <a:pt x="1084054" y="1524125"/>
                  </a:lnTo>
                  <a:lnTo>
                    <a:pt x="1078270" y="1589745"/>
                  </a:lnTo>
                  <a:lnTo>
                    <a:pt x="1070970" y="1653412"/>
                  </a:lnTo>
                  <a:lnTo>
                    <a:pt x="1062216" y="1714946"/>
                  </a:lnTo>
                  <a:lnTo>
                    <a:pt x="1052069" y="1774162"/>
                  </a:lnTo>
                  <a:lnTo>
                    <a:pt x="1040591" y="1830880"/>
                  </a:lnTo>
                  <a:lnTo>
                    <a:pt x="1027843" y="1884917"/>
                  </a:lnTo>
                  <a:lnTo>
                    <a:pt x="1013886" y="1936090"/>
                  </a:lnTo>
                  <a:lnTo>
                    <a:pt x="998782" y="1984217"/>
                  </a:lnTo>
                  <a:lnTo>
                    <a:pt x="982591" y="2029115"/>
                  </a:lnTo>
                  <a:lnTo>
                    <a:pt x="965376" y="2070603"/>
                  </a:lnTo>
                  <a:lnTo>
                    <a:pt x="947198" y="2108498"/>
                  </a:lnTo>
                  <a:lnTo>
                    <a:pt x="928118" y="2142618"/>
                  </a:lnTo>
                  <a:lnTo>
                    <a:pt x="887496" y="2198802"/>
                  </a:lnTo>
                  <a:lnTo>
                    <a:pt x="844003" y="2237697"/>
                  </a:lnTo>
                  <a:lnTo>
                    <a:pt x="798129" y="2257843"/>
                  </a:lnTo>
                  <a:lnTo>
                    <a:pt x="774452" y="2260429"/>
                  </a:lnTo>
                  <a:lnTo>
                    <a:pt x="712271" y="2242142"/>
                  </a:lnTo>
                  <a:lnTo>
                    <a:pt x="653046" y="2188644"/>
                  </a:lnTo>
                  <a:lnTo>
                    <a:pt x="625062" y="2149332"/>
                  </a:lnTo>
                  <a:lnTo>
                    <a:pt x="598442" y="2101986"/>
                  </a:lnTo>
                  <a:lnTo>
                    <a:pt x="573392" y="2046862"/>
                  </a:lnTo>
                  <a:lnTo>
                    <a:pt x="550122" y="1984216"/>
                  </a:lnTo>
                  <a:lnTo>
                    <a:pt x="536859" y="1942309"/>
                  </a:lnTo>
                  <a:lnTo>
                    <a:pt x="524541" y="1898309"/>
                  </a:lnTo>
                  <a:lnTo>
                    <a:pt x="513189" y="1852359"/>
                  </a:lnTo>
                  <a:lnTo>
                    <a:pt x="502822" y="1804605"/>
                  </a:lnTo>
                  <a:lnTo>
                    <a:pt x="493462" y="1755190"/>
                  </a:lnTo>
                  <a:lnTo>
                    <a:pt x="485127" y="1704259"/>
                  </a:lnTo>
                  <a:lnTo>
                    <a:pt x="477839" y="1651955"/>
                  </a:lnTo>
                  <a:lnTo>
                    <a:pt x="471617" y="1598422"/>
                  </a:lnTo>
                  <a:lnTo>
                    <a:pt x="466481" y="1543806"/>
                  </a:lnTo>
                  <a:lnTo>
                    <a:pt x="462452" y="1488249"/>
                  </a:lnTo>
                  <a:lnTo>
                    <a:pt x="459549" y="1431896"/>
                  </a:lnTo>
                  <a:lnTo>
                    <a:pt x="457792" y="1374892"/>
                  </a:lnTo>
                  <a:lnTo>
                    <a:pt x="457202" y="1317379"/>
                  </a:lnTo>
                  <a:close/>
                </a:path>
                <a:path w="1092200" h="2260600">
                  <a:moveTo>
                    <a:pt x="0" y="0"/>
                  </a:moveTo>
                  <a:lnTo>
                    <a:pt x="565766" y="489123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441802" y="1445921"/>
              <a:ext cx="43180" cy="40640"/>
            </a:xfrm>
            <a:custGeom>
              <a:avLst/>
              <a:gdLst/>
              <a:ahLst/>
              <a:cxnLst/>
              <a:rect l="l" t="t" r="r" b="b"/>
              <a:pathLst>
                <a:path w="43179" h="40640">
                  <a:moveTo>
                    <a:pt x="42988" y="40171"/>
                  </a:moveTo>
                  <a:lnTo>
                    <a:pt x="0" y="23803"/>
                  </a:lnTo>
                  <a:lnTo>
                    <a:pt x="20578" y="0"/>
                  </a:lnTo>
                  <a:lnTo>
                    <a:pt x="42988" y="40171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41802" y="1445921"/>
              <a:ext cx="43180" cy="40640"/>
            </a:xfrm>
            <a:custGeom>
              <a:avLst/>
              <a:gdLst/>
              <a:ahLst/>
              <a:cxnLst/>
              <a:rect l="l" t="t" r="r" b="b"/>
              <a:pathLst>
                <a:path w="43179" h="40640">
                  <a:moveTo>
                    <a:pt x="0" y="23803"/>
                  </a:moveTo>
                  <a:lnTo>
                    <a:pt x="42988" y="40171"/>
                  </a:lnTo>
                  <a:lnTo>
                    <a:pt x="20578" y="0"/>
                  </a:lnTo>
                  <a:lnTo>
                    <a:pt x="0" y="23803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32775" y="1200056"/>
              <a:ext cx="3349930" cy="181290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288925" y="3007904"/>
            <a:ext cx="8430895" cy="1790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156325" marR="473075" indent="-471805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595959"/>
                </a:solidFill>
                <a:latin typeface="Roboto"/>
                <a:cs typeface="Roboto"/>
              </a:rPr>
              <a:t>A</a:t>
            </a:r>
            <a:r>
              <a:rPr sz="12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595959"/>
                </a:solidFill>
                <a:latin typeface="Roboto"/>
                <a:cs typeface="Roboto"/>
              </a:rPr>
              <a:t>single</a:t>
            </a:r>
            <a:r>
              <a:rPr sz="12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595959"/>
                </a:solidFill>
                <a:latin typeface="Roboto"/>
                <a:cs typeface="Roboto"/>
              </a:rPr>
              <a:t>LSTM</a:t>
            </a:r>
            <a:r>
              <a:rPr sz="12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595959"/>
                </a:solidFill>
                <a:latin typeface="Roboto"/>
                <a:cs typeface="Roboto"/>
              </a:rPr>
              <a:t>unit</a:t>
            </a:r>
            <a:r>
              <a:rPr sz="12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595959"/>
                </a:solidFill>
                <a:latin typeface="Roboto"/>
                <a:cs typeface="Roboto"/>
              </a:rPr>
              <a:t>displayed</a:t>
            </a:r>
            <a:r>
              <a:rPr sz="12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595959"/>
                </a:solidFill>
                <a:latin typeface="Roboto"/>
                <a:cs typeface="Roboto"/>
              </a:rPr>
              <a:t>as</a:t>
            </a:r>
            <a:r>
              <a:rPr sz="12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200" spc="-50" dirty="0">
                <a:solidFill>
                  <a:srgbClr val="595959"/>
                </a:solidFill>
                <a:latin typeface="Roboto"/>
                <a:cs typeface="Roboto"/>
              </a:rPr>
              <a:t>a </a:t>
            </a:r>
            <a:r>
              <a:rPr sz="1200" dirty="0">
                <a:solidFill>
                  <a:srgbClr val="595959"/>
                </a:solidFill>
                <a:latin typeface="Roboto"/>
                <a:cs typeface="Roboto"/>
              </a:rPr>
              <a:t>computation</a:t>
            </a:r>
            <a:r>
              <a:rPr sz="1200" spc="-6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595959"/>
                </a:solidFill>
                <a:latin typeface="Roboto"/>
                <a:cs typeface="Roboto"/>
              </a:rPr>
              <a:t>graph.</a:t>
            </a:r>
            <a:endParaRPr sz="12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885"/>
              </a:spcBef>
            </a:pPr>
            <a:endParaRPr sz="1200">
              <a:latin typeface="Roboto"/>
              <a:cs typeface="Roboto"/>
            </a:endParaRPr>
          </a:p>
          <a:p>
            <a:pPr marL="5546090" marR="55880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solidFill>
                  <a:srgbClr val="595959"/>
                </a:solidFill>
                <a:latin typeface="Roboto"/>
                <a:cs typeface="Roboto"/>
              </a:rPr>
              <a:t>The</a:t>
            </a:r>
            <a:r>
              <a:rPr sz="1200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595959"/>
                </a:solidFill>
                <a:latin typeface="Roboto"/>
                <a:cs typeface="Roboto"/>
              </a:rPr>
              <a:t>outputs</a:t>
            </a:r>
            <a:r>
              <a:rPr sz="1200" spc="-1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595959"/>
                </a:solidFill>
                <a:latin typeface="Roboto"/>
                <a:cs typeface="Roboto"/>
              </a:rPr>
              <a:t>are</a:t>
            </a:r>
            <a:r>
              <a:rPr sz="1200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595959"/>
                </a:solidFill>
                <a:latin typeface="Roboto"/>
                <a:cs typeface="Roboto"/>
              </a:rPr>
              <a:t>a</a:t>
            </a:r>
            <a:r>
              <a:rPr sz="1200" spc="-1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595959"/>
                </a:solidFill>
                <a:latin typeface="Roboto"/>
                <a:cs typeface="Roboto"/>
              </a:rPr>
              <a:t>new</a:t>
            </a:r>
            <a:r>
              <a:rPr sz="1200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595959"/>
                </a:solidFill>
                <a:latin typeface="Roboto"/>
                <a:cs typeface="Roboto"/>
              </a:rPr>
              <a:t>hidden</a:t>
            </a:r>
            <a:r>
              <a:rPr sz="1200" spc="-1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595959"/>
                </a:solidFill>
                <a:latin typeface="Roboto"/>
                <a:cs typeface="Roboto"/>
              </a:rPr>
              <a:t>state</a:t>
            </a:r>
            <a:r>
              <a:rPr sz="1200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595959"/>
                </a:solidFill>
                <a:latin typeface="Roboto"/>
                <a:cs typeface="Roboto"/>
              </a:rPr>
              <a:t>h</a:t>
            </a:r>
            <a:r>
              <a:rPr sz="1200" baseline="-31250" dirty="0">
                <a:solidFill>
                  <a:srgbClr val="595959"/>
                </a:solidFill>
                <a:latin typeface="Roboto"/>
                <a:cs typeface="Roboto"/>
              </a:rPr>
              <a:t>t</a:t>
            </a:r>
            <a:r>
              <a:rPr sz="1200" spc="127" baseline="-312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200" spc="-25" dirty="0">
                <a:solidFill>
                  <a:srgbClr val="595959"/>
                </a:solidFill>
                <a:latin typeface="Roboto"/>
                <a:cs typeface="Roboto"/>
              </a:rPr>
              <a:t>and </a:t>
            </a:r>
            <a:r>
              <a:rPr sz="1200" dirty="0">
                <a:solidFill>
                  <a:srgbClr val="595959"/>
                </a:solidFill>
                <a:latin typeface="Roboto"/>
                <a:cs typeface="Roboto"/>
              </a:rPr>
              <a:t>an</a:t>
            </a:r>
            <a:r>
              <a:rPr sz="12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595959"/>
                </a:solidFill>
                <a:latin typeface="Roboto"/>
                <a:cs typeface="Roboto"/>
              </a:rPr>
              <a:t>updated</a:t>
            </a:r>
            <a:r>
              <a:rPr sz="12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595959"/>
                </a:solidFill>
                <a:latin typeface="Roboto"/>
                <a:cs typeface="Roboto"/>
              </a:rPr>
              <a:t>context</a:t>
            </a:r>
            <a:r>
              <a:rPr sz="1200" spc="-25" dirty="0">
                <a:solidFill>
                  <a:srgbClr val="595959"/>
                </a:solidFill>
                <a:latin typeface="Roboto"/>
                <a:cs typeface="Roboto"/>
              </a:rPr>
              <a:t> c</a:t>
            </a:r>
            <a:r>
              <a:rPr sz="1200" spc="-37" baseline="-31250" dirty="0">
                <a:solidFill>
                  <a:srgbClr val="595959"/>
                </a:solidFill>
                <a:latin typeface="Roboto"/>
                <a:cs typeface="Roboto"/>
              </a:rPr>
              <a:t>t</a:t>
            </a:r>
            <a:r>
              <a:rPr sz="1200" spc="-25" dirty="0">
                <a:solidFill>
                  <a:srgbClr val="595959"/>
                </a:solidFill>
                <a:latin typeface="Roboto"/>
                <a:cs typeface="Roboto"/>
              </a:rPr>
              <a:t>.</a:t>
            </a:r>
            <a:endParaRPr sz="12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2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Roboto"/>
              <a:cs typeface="Roboto"/>
            </a:endParaRPr>
          </a:p>
          <a:p>
            <a:pPr marL="25400" marR="3421379">
              <a:lnSpc>
                <a:spcPct val="100000"/>
              </a:lnSpc>
            </a:pPr>
            <a:r>
              <a:rPr sz="1200" dirty="0">
                <a:solidFill>
                  <a:srgbClr val="595959"/>
                </a:solidFill>
                <a:latin typeface="Roboto"/>
                <a:cs typeface="Roboto"/>
              </a:rPr>
              <a:t>A</a:t>
            </a:r>
            <a:r>
              <a:rPr sz="12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595959"/>
                </a:solidFill>
                <a:latin typeface="Roboto"/>
                <a:cs typeface="Roboto"/>
              </a:rPr>
              <a:t>simple</a:t>
            </a:r>
            <a:r>
              <a:rPr sz="12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595959"/>
                </a:solidFill>
                <a:latin typeface="Roboto"/>
                <a:cs typeface="Roboto"/>
              </a:rPr>
              <a:t>RNN</a:t>
            </a:r>
            <a:r>
              <a:rPr sz="12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595959"/>
                </a:solidFill>
                <a:latin typeface="Roboto"/>
                <a:cs typeface="Roboto"/>
              </a:rPr>
              <a:t>shown</a:t>
            </a:r>
            <a:r>
              <a:rPr sz="12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595959"/>
                </a:solidFill>
                <a:latin typeface="Roboto"/>
                <a:cs typeface="Roboto"/>
              </a:rPr>
              <a:t>unrolled</a:t>
            </a:r>
            <a:r>
              <a:rPr sz="12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595959"/>
                </a:solidFill>
                <a:latin typeface="Roboto"/>
                <a:cs typeface="Roboto"/>
              </a:rPr>
              <a:t>in</a:t>
            </a:r>
            <a:r>
              <a:rPr sz="12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595959"/>
                </a:solidFill>
                <a:latin typeface="Roboto"/>
                <a:cs typeface="Roboto"/>
              </a:rPr>
              <a:t>time.</a:t>
            </a:r>
            <a:r>
              <a:rPr sz="12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595959"/>
                </a:solidFill>
                <a:latin typeface="Roboto"/>
                <a:cs typeface="Roboto"/>
              </a:rPr>
              <a:t>Network</a:t>
            </a:r>
            <a:r>
              <a:rPr sz="12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595959"/>
                </a:solidFill>
                <a:latin typeface="Roboto"/>
                <a:cs typeface="Roboto"/>
              </a:rPr>
              <a:t>layers</a:t>
            </a:r>
            <a:r>
              <a:rPr sz="12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595959"/>
                </a:solidFill>
                <a:latin typeface="Roboto"/>
                <a:cs typeface="Roboto"/>
              </a:rPr>
              <a:t>are</a:t>
            </a:r>
            <a:r>
              <a:rPr sz="12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595959"/>
                </a:solidFill>
                <a:latin typeface="Roboto"/>
                <a:cs typeface="Roboto"/>
              </a:rPr>
              <a:t>recalculated</a:t>
            </a:r>
            <a:r>
              <a:rPr sz="12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200" spc="-25" dirty="0">
                <a:solidFill>
                  <a:srgbClr val="595959"/>
                </a:solidFill>
                <a:latin typeface="Roboto"/>
                <a:cs typeface="Roboto"/>
              </a:rPr>
              <a:t>for </a:t>
            </a:r>
            <a:r>
              <a:rPr sz="1200" dirty="0">
                <a:solidFill>
                  <a:srgbClr val="595959"/>
                </a:solidFill>
                <a:latin typeface="Roboto"/>
                <a:cs typeface="Roboto"/>
              </a:rPr>
              <a:t>each</a:t>
            </a:r>
            <a:r>
              <a:rPr sz="12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595959"/>
                </a:solidFill>
                <a:latin typeface="Roboto"/>
                <a:cs typeface="Roboto"/>
              </a:rPr>
              <a:t>time</a:t>
            </a:r>
            <a:r>
              <a:rPr sz="12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595959"/>
                </a:solidFill>
                <a:latin typeface="Roboto"/>
                <a:cs typeface="Roboto"/>
              </a:rPr>
              <a:t>step,</a:t>
            </a:r>
            <a:r>
              <a:rPr sz="1200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595959"/>
                </a:solidFill>
                <a:latin typeface="Roboto"/>
                <a:cs typeface="Roboto"/>
              </a:rPr>
              <a:t>while</a:t>
            </a:r>
            <a:r>
              <a:rPr sz="12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595959"/>
                </a:solidFill>
                <a:latin typeface="Roboto"/>
                <a:cs typeface="Roboto"/>
              </a:rPr>
              <a:t>weights</a:t>
            </a:r>
            <a:r>
              <a:rPr sz="12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595959"/>
                </a:solidFill>
                <a:latin typeface="Roboto"/>
                <a:cs typeface="Roboto"/>
              </a:rPr>
              <a:t>U,</a:t>
            </a:r>
            <a:r>
              <a:rPr sz="1200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595959"/>
                </a:solidFill>
                <a:latin typeface="Roboto"/>
                <a:cs typeface="Roboto"/>
              </a:rPr>
              <a:t>V</a:t>
            </a:r>
            <a:r>
              <a:rPr sz="12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595959"/>
                </a:solidFill>
                <a:latin typeface="Roboto"/>
                <a:cs typeface="Roboto"/>
              </a:rPr>
              <a:t>and</a:t>
            </a:r>
            <a:r>
              <a:rPr sz="1200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595959"/>
                </a:solidFill>
                <a:latin typeface="Roboto"/>
                <a:cs typeface="Roboto"/>
              </a:rPr>
              <a:t>W</a:t>
            </a:r>
            <a:r>
              <a:rPr sz="12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595959"/>
                </a:solidFill>
                <a:latin typeface="Roboto"/>
                <a:cs typeface="Roboto"/>
              </a:rPr>
              <a:t>are</a:t>
            </a:r>
            <a:r>
              <a:rPr sz="12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595959"/>
                </a:solidFill>
                <a:latin typeface="Roboto"/>
                <a:cs typeface="Roboto"/>
              </a:rPr>
              <a:t>shared</a:t>
            </a:r>
            <a:r>
              <a:rPr sz="1200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595959"/>
                </a:solidFill>
                <a:latin typeface="Roboto"/>
                <a:cs typeface="Roboto"/>
              </a:rPr>
              <a:t>across</a:t>
            </a:r>
            <a:r>
              <a:rPr sz="12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595959"/>
                </a:solidFill>
                <a:latin typeface="Roboto"/>
                <a:cs typeface="Roboto"/>
              </a:rPr>
              <a:t>all</a:t>
            </a:r>
            <a:r>
              <a:rPr sz="1200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595959"/>
                </a:solidFill>
                <a:latin typeface="Roboto"/>
                <a:cs typeface="Roboto"/>
              </a:rPr>
              <a:t>time</a:t>
            </a:r>
            <a:r>
              <a:rPr sz="12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595959"/>
                </a:solidFill>
                <a:latin typeface="Roboto"/>
                <a:cs typeface="Roboto"/>
              </a:rPr>
              <a:t>steps.</a:t>
            </a:r>
            <a:endParaRPr sz="1200">
              <a:latin typeface="Roboto"/>
              <a:cs typeface="Roboto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924812" y="1303092"/>
            <a:ext cx="1071880" cy="2329815"/>
            <a:chOff x="7924812" y="1303092"/>
            <a:chExt cx="1071880" cy="2329815"/>
          </a:xfrm>
        </p:grpSpPr>
        <p:sp>
          <p:nvSpPr>
            <p:cNvPr id="16" name="object 16"/>
            <p:cNvSpPr/>
            <p:nvPr/>
          </p:nvSpPr>
          <p:spPr>
            <a:xfrm>
              <a:off x="7929574" y="1307854"/>
              <a:ext cx="1062355" cy="2320290"/>
            </a:xfrm>
            <a:custGeom>
              <a:avLst/>
              <a:gdLst/>
              <a:ahLst/>
              <a:cxnLst/>
              <a:rect l="l" t="t" r="r" b="b"/>
              <a:pathLst>
                <a:path w="1062354" h="2320290">
                  <a:moveTo>
                    <a:pt x="427527" y="943049"/>
                  </a:moveTo>
                  <a:lnTo>
                    <a:pt x="428397" y="872669"/>
                  </a:lnTo>
                  <a:lnTo>
                    <a:pt x="430967" y="803692"/>
                  </a:lnTo>
                  <a:lnTo>
                    <a:pt x="435175" y="736304"/>
                  </a:lnTo>
                  <a:lnTo>
                    <a:pt x="440959" y="670684"/>
                  </a:lnTo>
                  <a:lnTo>
                    <a:pt x="448259" y="607017"/>
                  </a:lnTo>
                  <a:lnTo>
                    <a:pt x="457013" y="545483"/>
                  </a:lnTo>
                  <a:lnTo>
                    <a:pt x="467160" y="486267"/>
                  </a:lnTo>
                  <a:lnTo>
                    <a:pt x="478638" y="429549"/>
                  </a:lnTo>
                  <a:lnTo>
                    <a:pt x="491386" y="375512"/>
                  </a:lnTo>
                  <a:lnTo>
                    <a:pt x="505343" y="324339"/>
                  </a:lnTo>
                  <a:lnTo>
                    <a:pt x="520447" y="276212"/>
                  </a:lnTo>
                  <a:lnTo>
                    <a:pt x="536638" y="231314"/>
                  </a:lnTo>
                  <a:lnTo>
                    <a:pt x="553853" y="189826"/>
                  </a:lnTo>
                  <a:lnTo>
                    <a:pt x="572031" y="151931"/>
                  </a:lnTo>
                  <a:lnTo>
                    <a:pt x="591111" y="117811"/>
                  </a:lnTo>
                  <a:lnTo>
                    <a:pt x="631733" y="61627"/>
                  </a:lnTo>
                  <a:lnTo>
                    <a:pt x="675226" y="22732"/>
                  </a:lnTo>
                  <a:lnTo>
                    <a:pt x="721100" y="2586"/>
                  </a:lnTo>
                  <a:lnTo>
                    <a:pt x="744777" y="0"/>
                  </a:lnTo>
                  <a:lnTo>
                    <a:pt x="806958" y="18287"/>
                  </a:lnTo>
                  <a:lnTo>
                    <a:pt x="866183" y="71785"/>
                  </a:lnTo>
                  <a:lnTo>
                    <a:pt x="894167" y="111097"/>
                  </a:lnTo>
                  <a:lnTo>
                    <a:pt x="920787" y="158443"/>
                  </a:lnTo>
                  <a:lnTo>
                    <a:pt x="945837" y="213567"/>
                  </a:lnTo>
                  <a:lnTo>
                    <a:pt x="969106" y="276212"/>
                  </a:lnTo>
                  <a:lnTo>
                    <a:pt x="982370" y="318120"/>
                  </a:lnTo>
                  <a:lnTo>
                    <a:pt x="994688" y="362121"/>
                  </a:lnTo>
                  <a:lnTo>
                    <a:pt x="1006040" y="408070"/>
                  </a:lnTo>
                  <a:lnTo>
                    <a:pt x="1016407" y="455824"/>
                  </a:lnTo>
                  <a:lnTo>
                    <a:pt x="1025767" y="505239"/>
                  </a:lnTo>
                  <a:lnTo>
                    <a:pt x="1034102" y="556170"/>
                  </a:lnTo>
                  <a:lnTo>
                    <a:pt x="1041390" y="608474"/>
                  </a:lnTo>
                  <a:lnTo>
                    <a:pt x="1047612" y="662007"/>
                  </a:lnTo>
                  <a:lnTo>
                    <a:pt x="1052748" y="716623"/>
                  </a:lnTo>
                  <a:lnTo>
                    <a:pt x="1056777" y="772180"/>
                  </a:lnTo>
                  <a:lnTo>
                    <a:pt x="1059680" y="828533"/>
                  </a:lnTo>
                  <a:lnTo>
                    <a:pt x="1061437" y="885537"/>
                  </a:lnTo>
                  <a:lnTo>
                    <a:pt x="1062027" y="943049"/>
                  </a:lnTo>
                  <a:lnTo>
                    <a:pt x="1061157" y="1013430"/>
                  </a:lnTo>
                  <a:lnTo>
                    <a:pt x="1058587" y="1082407"/>
                  </a:lnTo>
                  <a:lnTo>
                    <a:pt x="1054379" y="1149795"/>
                  </a:lnTo>
                  <a:lnTo>
                    <a:pt x="1048595" y="1215415"/>
                  </a:lnTo>
                  <a:lnTo>
                    <a:pt x="1041295" y="1279082"/>
                  </a:lnTo>
                  <a:lnTo>
                    <a:pt x="1032541" y="1340616"/>
                  </a:lnTo>
                  <a:lnTo>
                    <a:pt x="1022394" y="1399832"/>
                  </a:lnTo>
                  <a:lnTo>
                    <a:pt x="1010916" y="1456550"/>
                  </a:lnTo>
                  <a:lnTo>
                    <a:pt x="998168" y="1510587"/>
                  </a:lnTo>
                  <a:lnTo>
                    <a:pt x="984211" y="1561760"/>
                  </a:lnTo>
                  <a:lnTo>
                    <a:pt x="969107" y="1609887"/>
                  </a:lnTo>
                  <a:lnTo>
                    <a:pt x="952916" y="1654785"/>
                  </a:lnTo>
                  <a:lnTo>
                    <a:pt x="935701" y="1696273"/>
                  </a:lnTo>
                  <a:lnTo>
                    <a:pt x="917523" y="1734168"/>
                  </a:lnTo>
                  <a:lnTo>
                    <a:pt x="898443" y="1768288"/>
                  </a:lnTo>
                  <a:lnTo>
                    <a:pt x="857821" y="1824472"/>
                  </a:lnTo>
                  <a:lnTo>
                    <a:pt x="814328" y="1863367"/>
                  </a:lnTo>
                  <a:lnTo>
                    <a:pt x="768454" y="1883513"/>
                  </a:lnTo>
                  <a:lnTo>
                    <a:pt x="744777" y="1886099"/>
                  </a:lnTo>
                  <a:lnTo>
                    <a:pt x="682596" y="1867812"/>
                  </a:lnTo>
                  <a:lnTo>
                    <a:pt x="623371" y="1814314"/>
                  </a:lnTo>
                  <a:lnTo>
                    <a:pt x="595387" y="1775002"/>
                  </a:lnTo>
                  <a:lnTo>
                    <a:pt x="568766" y="1727656"/>
                  </a:lnTo>
                  <a:lnTo>
                    <a:pt x="543717" y="1672532"/>
                  </a:lnTo>
                  <a:lnTo>
                    <a:pt x="520447" y="1609886"/>
                  </a:lnTo>
                  <a:lnTo>
                    <a:pt x="507184" y="1567979"/>
                  </a:lnTo>
                  <a:lnTo>
                    <a:pt x="494866" y="1523979"/>
                  </a:lnTo>
                  <a:lnTo>
                    <a:pt x="483514" y="1478029"/>
                  </a:lnTo>
                  <a:lnTo>
                    <a:pt x="473147" y="1430275"/>
                  </a:lnTo>
                  <a:lnTo>
                    <a:pt x="463787" y="1380860"/>
                  </a:lnTo>
                  <a:lnTo>
                    <a:pt x="455453" y="1329929"/>
                  </a:lnTo>
                  <a:lnTo>
                    <a:pt x="448164" y="1277625"/>
                  </a:lnTo>
                  <a:lnTo>
                    <a:pt x="441942" y="1224092"/>
                  </a:lnTo>
                  <a:lnTo>
                    <a:pt x="436806" y="1169476"/>
                  </a:lnTo>
                  <a:lnTo>
                    <a:pt x="432777" y="1113919"/>
                  </a:lnTo>
                  <a:lnTo>
                    <a:pt x="429874" y="1057566"/>
                  </a:lnTo>
                  <a:lnTo>
                    <a:pt x="428117" y="1000562"/>
                  </a:lnTo>
                  <a:lnTo>
                    <a:pt x="427527" y="943049"/>
                  </a:lnTo>
                  <a:close/>
                </a:path>
                <a:path w="1062354" h="2320290">
                  <a:moveTo>
                    <a:pt x="0" y="2320219"/>
                  </a:moveTo>
                  <a:lnTo>
                    <a:pt x="541286" y="1810691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460077" y="3088919"/>
              <a:ext cx="42545" cy="41275"/>
            </a:xfrm>
            <a:custGeom>
              <a:avLst/>
              <a:gdLst/>
              <a:ahLst/>
              <a:cxnLst/>
              <a:rect l="l" t="t" r="r" b="b"/>
              <a:pathLst>
                <a:path w="42545" h="41275">
                  <a:moveTo>
                    <a:pt x="21566" y="41083"/>
                  </a:moveTo>
                  <a:lnTo>
                    <a:pt x="0" y="18171"/>
                  </a:lnTo>
                  <a:lnTo>
                    <a:pt x="42257" y="0"/>
                  </a:lnTo>
                  <a:lnTo>
                    <a:pt x="21566" y="41083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460077" y="3088919"/>
              <a:ext cx="42545" cy="41275"/>
            </a:xfrm>
            <a:custGeom>
              <a:avLst/>
              <a:gdLst/>
              <a:ahLst/>
              <a:cxnLst/>
              <a:rect l="l" t="t" r="r" b="b"/>
              <a:pathLst>
                <a:path w="42545" h="41275">
                  <a:moveTo>
                    <a:pt x="21566" y="41083"/>
                  </a:moveTo>
                  <a:lnTo>
                    <a:pt x="42257" y="0"/>
                  </a:lnTo>
                  <a:lnTo>
                    <a:pt x="0" y="18171"/>
                  </a:lnTo>
                  <a:lnTo>
                    <a:pt x="21566" y="41083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Self-Attention</a:t>
            </a:r>
            <a:r>
              <a:rPr spc="50" dirty="0"/>
              <a:t> </a:t>
            </a:r>
            <a:r>
              <a:rPr dirty="0"/>
              <a:t>and </a:t>
            </a:r>
            <a:r>
              <a:rPr spc="-10" dirty="0"/>
              <a:t>Transformers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2062" y="1031189"/>
            <a:ext cx="4799330" cy="1865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235" marR="149225" indent="-344170">
              <a:lnSpc>
                <a:spcPct val="114999"/>
              </a:lnSpc>
              <a:spcBef>
                <a:spcPts val="100"/>
              </a:spcBef>
              <a:buFont typeface="Arial"/>
              <a:buChar char="●"/>
              <a:tabLst>
                <a:tab pos="356235" algn="l"/>
              </a:tabLst>
            </a:pP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Allows</a:t>
            </a:r>
            <a:r>
              <a:rPr sz="15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to</a:t>
            </a:r>
            <a:r>
              <a:rPr sz="15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“focus</a:t>
            </a:r>
            <a:r>
              <a:rPr sz="15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595959"/>
                </a:solidFill>
                <a:latin typeface="Roboto"/>
                <a:cs typeface="Roboto"/>
              </a:rPr>
              <a:t>attention”</a:t>
            </a:r>
            <a:r>
              <a:rPr sz="15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on</a:t>
            </a:r>
            <a:r>
              <a:rPr sz="15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particular</a:t>
            </a:r>
            <a:r>
              <a:rPr sz="15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aspects</a:t>
            </a:r>
            <a:r>
              <a:rPr sz="15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spc="-25" dirty="0">
                <a:solidFill>
                  <a:srgbClr val="595959"/>
                </a:solidFill>
                <a:latin typeface="Roboto"/>
                <a:cs typeface="Roboto"/>
              </a:rPr>
              <a:t>of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the</a:t>
            </a:r>
            <a:r>
              <a:rPr sz="15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input</a:t>
            </a:r>
            <a:r>
              <a:rPr sz="15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while</a:t>
            </a:r>
            <a:r>
              <a:rPr sz="15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595959"/>
                </a:solidFill>
                <a:latin typeface="Roboto"/>
                <a:cs typeface="Roboto"/>
              </a:rPr>
              <a:t>generating</a:t>
            </a:r>
            <a:r>
              <a:rPr sz="15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the</a:t>
            </a:r>
            <a:r>
              <a:rPr sz="15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595959"/>
                </a:solidFill>
                <a:latin typeface="Roboto"/>
                <a:cs typeface="Roboto"/>
              </a:rPr>
              <a:t>output.</a:t>
            </a:r>
            <a:endParaRPr sz="1500">
              <a:latin typeface="Roboto"/>
              <a:cs typeface="Roboto"/>
            </a:endParaRPr>
          </a:p>
          <a:p>
            <a:pPr marL="356235" marR="107314" indent="-344170">
              <a:lnSpc>
                <a:spcPct val="114999"/>
              </a:lnSpc>
              <a:buFont typeface="Arial"/>
              <a:buChar char="●"/>
              <a:tabLst>
                <a:tab pos="356235" algn="l"/>
              </a:tabLst>
            </a:pP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Done</a:t>
            </a:r>
            <a:r>
              <a:rPr sz="15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by</a:t>
            </a:r>
            <a:r>
              <a:rPr sz="15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using</a:t>
            </a:r>
            <a:r>
              <a:rPr sz="15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a</a:t>
            </a:r>
            <a:r>
              <a:rPr sz="15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set</a:t>
            </a:r>
            <a:r>
              <a:rPr sz="15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of</a:t>
            </a:r>
            <a:r>
              <a:rPr sz="15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595959"/>
                </a:solidFill>
                <a:latin typeface="Roboto"/>
                <a:cs typeface="Roboto"/>
              </a:rPr>
              <a:t>parameters,</a:t>
            </a:r>
            <a:r>
              <a:rPr sz="15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called</a:t>
            </a:r>
            <a:r>
              <a:rPr sz="15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595959"/>
                </a:solidFill>
                <a:latin typeface="Roboto"/>
                <a:cs typeface="Roboto"/>
              </a:rPr>
              <a:t>"weights,"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that</a:t>
            </a:r>
            <a:r>
              <a:rPr sz="15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595959"/>
                </a:solidFill>
                <a:latin typeface="Roboto"/>
                <a:cs typeface="Roboto"/>
              </a:rPr>
              <a:t>determine</a:t>
            </a:r>
            <a:r>
              <a:rPr sz="15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how</a:t>
            </a:r>
            <a:r>
              <a:rPr sz="15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much</a:t>
            </a:r>
            <a:r>
              <a:rPr sz="15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attention</a:t>
            </a:r>
            <a:r>
              <a:rPr sz="15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should</a:t>
            </a:r>
            <a:r>
              <a:rPr sz="15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be</a:t>
            </a:r>
            <a:r>
              <a:rPr sz="15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spc="-20" dirty="0">
                <a:solidFill>
                  <a:srgbClr val="595959"/>
                </a:solidFill>
                <a:latin typeface="Roboto"/>
                <a:cs typeface="Roboto"/>
              </a:rPr>
              <a:t>paid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to</a:t>
            </a:r>
            <a:r>
              <a:rPr sz="15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each</a:t>
            </a:r>
            <a:r>
              <a:rPr sz="15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input</a:t>
            </a:r>
            <a:r>
              <a:rPr sz="15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token</a:t>
            </a:r>
            <a:r>
              <a:rPr sz="15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at</a:t>
            </a:r>
            <a:r>
              <a:rPr sz="15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each</a:t>
            </a:r>
            <a:r>
              <a:rPr sz="15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time</a:t>
            </a:r>
            <a:r>
              <a:rPr sz="15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595959"/>
                </a:solidFill>
                <a:latin typeface="Roboto"/>
                <a:cs typeface="Roboto"/>
              </a:rPr>
              <a:t>step.</a:t>
            </a:r>
            <a:endParaRPr sz="1500">
              <a:latin typeface="Roboto"/>
              <a:cs typeface="Roboto"/>
            </a:endParaRPr>
          </a:p>
          <a:p>
            <a:pPr marL="356235" marR="5080" indent="-344170">
              <a:lnSpc>
                <a:spcPct val="114999"/>
              </a:lnSpc>
              <a:buFont typeface="Arial"/>
              <a:buChar char="●"/>
              <a:tabLst>
                <a:tab pos="356235" algn="l"/>
              </a:tabLst>
            </a:pP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These</a:t>
            </a:r>
            <a:r>
              <a:rPr sz="15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weights</a:t>
            </a:r>
            <a:r>
              <a:rPr sz="15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are</a:t>
            </a:r>
            <a:r>
              <a:rPr sz="15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computed</a:t>
            </a:r>
            <a:r>
              <a:rPr sz="15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using</a:t>
            </a:r>
            <a:r>
              <a:rPr sz="15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a</a:t>
            </a:r>
            <a:r>
              <a:rPr sz="15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combination</a:t>
            </a:r>
            <a:r>
              <a:rPr sz="15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spc="-25" dirty="0">
                <a:solidFill>
                  <a:srgbClr val="595959"/>
                </a:solidFill>
                <a:latin typeface="Roboto"/>
                <a:cs typeface="Roboto"/>
              </a:rPr>
              <a:t>of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the</a:t>
            </a:r>
            <a:r>
              <a:rPr sz="15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input</a:t>
            </a:r>
            <a:r>
              <a:rPr sz="15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and</a:t>
            </a:r>
            <a:r>
              <a:rPr sz="15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the</a:t>
            </a:r>
            <a:r>
              <a:rPr sz="15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595959"/>
                </a:solidFill>
                <a:latin typeface="Roboto"/>
                <a:cs typeface="Roboto"/>
              </a:rPr>
              <a:t>current</a:t>
            </a:r>
            <a:r>
              <a:rPr sz="15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hidden</a:t>
            </a:r>
            <a:r>
              <a:rPr sz="15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state</a:t>
            </a:r>
            <a:r>
              <a:rPr sz="15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of</a:t>
            </a:r>
            <a:r>
              <a:rPr sz="15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the</a:t>
            </a:r>
            <a:r>
              <a:rPr sz="15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595959"/>
                </a:solidFill>
                <a:latin typeface="Roboto"/>
                <a:cs typeface="Roboto"/>
              </a:rPr>
              <a:t>model.</a:t>
            </a:r>
            <a:endParaRPr sz="1500">
              <a:latin typeface="Roboto"/>
              <a:cs typeface="Roboto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57525" y="1019928"/>
            <a:ext cx="2779602" cy="2682546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809824" y="3247400"/>
            <a:ext cx="4013835" cy="777240"/>
            <a:chOff x="809824" y="3247400"/>
            <a:chExt cx="4013835" cy="77724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6981" y="3304962"/>
              <a:ext cx="3870701" cy="60847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14587" y="3252162"/>
              <a:ext cx="4004310" cy="767715"/>
            </a:xfrm>
            <a:custGeom>
              <a:avLst/>
              <a:gdLst/>
              <a:ahLst/>
              <a:cxnLst/>
              <a:rect l="l" t="t" r="r" b="b"/>
              <a:pathLst>
                <a:path w="4004310" h="767714">
                  <a:moveTo>
                    <a:pt x="0" y="0"/>
                  </a:moveTo>
                  <a:lnTo>
                    <a:pt x="4003874" y="0"/>
                  </a:lnTo>
                  <a:lnTo>
                    <a:pt x="4003874" y="767449"/>
                  </a:lnTo>
                  <a:lnTo>
                    <a:pt x="0" y="7674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38425" y="4386988"/>
            <a:ext cx="45942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A.</a:t>
            </a:r>
            <a:r>
              <a:rPr sz="14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Vaswani</a:t>
            </a:r>
            <a:r>
              <a:rPr sz="14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et</a:t>
            </a:r>
            <a:r>
              <a:rPr sz="14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al.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u="heavy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  <a:hlinkClick r:id="rId4"/>
              </a:rPr>
              <a:t>Attention</a:t>
            </a:r>
            <a:r>
              <a:rPr sz="1400" u="heavy" spc="-30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sz="1400" u="heavy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  <a:hlinkClick r:id="rId4"/>
              </a:rPr>
              <a:t>Is</a:t>
            </a:r>
            <a:r>
              <a:rPr sz="1400" u="heavy" spc="-9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sz="1400" u="heavy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  <a:hlinkClick r:id="rId4"/>
              </a:rPr>
              <a:t>All</a:t>
            </a:r>
            <a:r>
              <a:rPr sz="1400" u="heavy" spc="-5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sz="1400" u="heavy" spc="-3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  <a:hlinkClick r:id="rId4"/>
              </a:rPr>
              <a:t>You</a:t>
            </a:r>
            <a:r>
              <a:rPr sz="1400" u="heavy" spc="-30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sz="1400" u="heavy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  <a:hlinkClick r:id="rId4"/>
              </a:rPr>
              <a:t>Need</a:t>
            </a:r>
            <a:r>
              <a:rPr sz="1400" u="none" dirty="0">
                <a:solidFill>
                  <a:srgbClr val="595959"/>
                </a:solidFill>
                <a:latin typeface="Arial"/>
                <a:cs typeface="Arial"/>
              </a:rPr>
              <a:t>.</a:t>
            </a:r>
            <a:r>
              <a:rPr sz="1400" u="none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u="none" dirty="0">
                <a:solidFill>
                  <a:srgbClr val="595959"/>
                </a:solidFill>
                <a:latin typeface="Arial"/>
                <a:cs typeface="Arial"/>
              </a:rPr>
              <a:t>NeurIPS</a:t>
            </a:r>
            <a:r>
              <a:rPr sz="1400" u="none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u="none" spc="-10" dirty="0">
                <a:solidFill>
                  <a:srgbClr val="595959"/>
                </a:solidFill>
                <a:latin typeface="Arial"/>
                <a:cs typeface="Arial"/>
              </a:rPr>
              <a:t>2017.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18125" y="3774020"/>
            <a:ext cx="3446145" cy="1199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In</a:t>
            </a:r>
            <a:r>
              <a:rPr sz="13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encoding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the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word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"it",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one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attention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head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 is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focusing</a:t>
            </a:r>
            <a:r>
              <a:rPr sz="13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most</a:t>
            </a:r>
            <a:r>
              <a:rPr sz="1300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on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"the</a:t>
            </a:r>
            <a:r>
              <a:rPr sz="1300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animal",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while</a:t>
            </a:r>
            <a:r>
              <a:rPr sz="1300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another</a:t>
            </a:r>
            <a:r>
              <a:rPr sz="1300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is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focusing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on</a:t>
            </a:r>
            <a:r>
              <a:rPr sz="1300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"tired".</a:t>
            </a:r>
            <a:r>
              <a:rPr sz="13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The</a:t>
            </a:r>
            <a:r>
              <a:rPr sz="1300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spc="-10" dirty="0">
                <a:solidFill>
                  <a:srgbClr val="595959"/>
                </a:solidFill>
                <a:latin typeface="Roboto"/>
                <a:cs typeface="Roboto"/>
              </a:rPr>
              <a:t>model's</a:t>
            </a:r>
            <a:r>
              <a:rPr sz="1300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spc="-10" dirty="0">
                <a:solidFill>
                  <a:srgbClr val="595959"/>
                </a:solidFill>
                <a:latin typeface="Roboto"/>
                <a:cs typeface="Roboto"/>
              </a:rPr>
              <a:t>representation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of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the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word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"it"</a:t>
            </a:r>
            <a:r>
              <a:rPr sz="1300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thus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bakes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in</a:t>
            </a:r>
            <a:r>
              <a:rPr sz="1300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some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of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 the </a:t>
            </a:r>
            <a:r>
              <a:rPr sz="1300" spc="-10" dirty="0">
                <a:solidFill>
                  <a:srgbClr val="595959"/>
                </a:solidFill>
                <a:latin typeface="Roboto"/>
                <a:cs typeface="Roboto"/>
              </a:rPr>
              <a:t>representation</a:t>
            </a:r>
            <a:r>
              <a:rPr sz="1300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of</a:t>
            </a:r>
            <a:r>
              <a:rPr sz="1300" spc="-1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both</a:t>
            </a:r>
            <a:r>
              <a:rPr sz="1300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"animal"</a:t>
            </a:r>
            <a:r>
              <a:rPr sz="1300" spc="-1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and</a:t>
            </a:r>
            <a:r>
              <a:rPr sz="1300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spc="-10" dirty="0">
                <a:solidFill>
                  <a:srgbClr val="595959"/>
                </a:solidFill>
                <a:latin typeface="Roboto"/>
                <a:cs typeface="Roboto"/>
              </a:rPr>
              <a:t>"tired". </a:t>
            </a:r>
            <a:r>
              <a:rPr sz="1200" u="heavy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5"/>
              </a:rPr>
              <a:t>https://jalammar.github.io/illustrated-</a:t>
            </a:r>
            <a:r>
              <a:rPr sz="12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5"/>
              </a:rPr>
              <a:t>transformer/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Pre-Training:</a:t>
            </a:r>
            <a:r>
              <a:rPr spc="-15" dirty="0"/>
              <a:t> </a:t>
            </a:r>
            <a:r>
              <a:rPr dirty="0"/>
              <a:t>Data</a:t>
            </a:r>
            <a:r>
              <a:rPr spc="-15" dirty="0"/>
              <a:t> </a:t>
            </a:r>
            <a:r>
              <a:rPr spc="-10" dirty="0"/>
              <a:t>Preparation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232783" y="1132204"/>
            <a:ext cx="474789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A</a:t>
            </a:r>
            <a:r>
              <a:rPr sz="15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typical</a:t>
            </a:r>
            <a:r>
              <a:rPr sz="15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data</a:t>
            </a:r>
            <a:r>
              <a:rPr sz="15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595959"/>
                </a:solidFill>
                <a:latin typeface="Roboto"/>
                <a:cs typeface="Roboto"/>
              </a:rPr>
              <a:t>preparation</a:t>
            </a:r>
            <a:r>
              <a:rPr sz="15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pipeline</a:t>
            </a:r>
            <a:r>
              <a:rPr sz="15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for</a:t>
            </a:r>
            <a:r>
              <a:rPr sz="15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spc="-20" dirty="0">
                <a:solidFill>
                  <a:srgbClr val="595959"/>
                </a:solidFill>
                <a:latin typeface="Roboto"/>
                <a:cs typeface="Roboto"/>
              </a:rPr>
              <a:t>pre-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training</a:t>
            </a:r>
            <a:r>
              <a:rPr sz="15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595959"/>
                </a:solidFill>
                <a:latin typeface="Roboto"/>
                <a:cs typeface="Roboto"/>
              </a:rPr>
              <a:t>LLMs:</a:t>
            </a:r>
            <a:endParaRPr sz="1500">
              <a:latin typeface="Roboto"/>
              <a:cs typeface="Roboto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661" y="1638225"/>
            <a:ext cx="8811982" cy="18031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322335" y="3742188"/>
            <a:ext cx="45078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W.</a:t>
            </a: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Zhao</a:t>
            </a:r>
            <a:r>
              <a:rPr sz="14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et</a:t>
            </a:r>
            <a:r>
              <a:rPr sz="14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al.</a:t>
            </a:r>
            <a:r>
              <a:rPr sz="14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A</a:t>
            </a:r>
            <a:r>
              <a:rPr sz="1400" u="heavy" spc="-3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Survey</a:t>
            </a:r>
            <a:r>
              <a:rPr sz="1400" u="heavy" spc="-3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of</a:t>
            </a:r>
            <a:r>
              <a:rPr sz="1400" u="heavy" spc="-3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Large</a:t>
            </a:r>
            <a:r>
              <a:rPr sz="1400" u="heavy" spc="-3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4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Language</a:t>
            </a:r>
            <a:r>
              <a:rPr sz="1400" u="heavy" spc="-3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Models</a:t>
            </a:r>
            <a:r>
              <a:rPr sz="1400" u="none" dirty="0">
                <a:solidFill>
                  <a:srgbClr val="595959"/>
                </a:solidFill>
                <a:latin typeface="Roboto"/>
                <a:cs typeface="Roboto"/>
              </a:rPr>
              <a:t>.</a:t>
            </a:r>
            <a:r>
              <a:rPr sz="1400" u="none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u="none" spc="-10" dirty="0">
                <a:solidFill>
                  <a:srgbClr val="595959"/>
                </a:solidFill>
                <a:latin typeface="Roboto"/>
                <a:cs typeface="Roboto"/>
              </a:rPr>
              <a:t>2023.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Pre-Training</a:t>
            </a:r>
            <a:r>
              <a:rPr spc="25" dirty="0"/>
              <a:t> </a:t>
            </a:r>
            <a:r>
              <a:rPr dirty="0"/>
              <a:t>Data</a:t>
            </a:r>
            <a:r>
              <a:rPr spc="25" dirty="0"/>
              <a:t> </a:t>
            </a:r>
            <a:r>
              <a:rPr dirty="0"/>
              <a:t>Quality</a:t>
            </a:r>
            <a:r>
              <a:rPr spc="30" dirty="0"/>
              <a:t> </a:t>
            </a:r>
            <a:r>
              <a:rPr dirty="0"/>
              <a:t>Reduces</a:t>
            </a:r>
            <a:r>
              <a:rPr spc="25" dirty="0"/>
              <a:t> </a:t>
            </a:r>
            <a:r>
              <a:rPr dirty="0"/>
              <a:t>Reliance</a:t>
            </a:r>
            <a:r>
              <a:rPr spc="25" dirty="0"/>
              <a:t> </a:t>
            </a:r>
            <a:r>
              <a:rPr dirty="0"/>
              <a:t>on</a:t>
            </a:r>
            <a:r>
              <a:rPr spc="30" dirty="0"/>
              <a:t> </a:t>
            </a:r>
            <a:r>
              <a:rPr spc="-10" dirty="0"/>
              <a:t>Compute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8023" y="1027009"/>
            <a:ext cx="5635222" cy="331504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21625" y="4484163"/>
            <a:ext cx="68040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S.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 Hooker.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On</a:t>
            </a:r>
            <a:r>
              <a:rPr sz="1400" u="heavy" spc="-1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the</a:t>
            </a:r>
            <a:r>
              <a:rPr sz="1400" u="heavy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4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Limitations</a:t>
            </a:r>
            <a:r>
              <a:rPr sz="1400" u="heavy" spc="-1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of</a:t>
            </a:r>
            <a:r>
              <a:rPr sz="1400" u="heavy" spc="-1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4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Compute</a:t>
            </a:r>
            <a:r>
              <a:rPr sz="1400" u="heavy" spc="-4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4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Thresholds</a:t>
            </a:r>
            <a:r>
              <a:rPr sz="1400" u="heavy" spc="-1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as</a:t>
            </a:r>
            <a:r>
              <a:rPr sz="1400" u="heavy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a</a:t>
            </a:r>
            <a:r>
              <a:rPr sz="1400" u="heavy" spc="-1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4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Governance</a:t>
            </a:r>
            <a:r>
              <a:rPr sz="1400" u="heavy" spc="-1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4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Strategy</a:t>
            </a:r>
            <a:r>
              <a:rPr sz="1400" u="none" spc="-10" dirty="0">
                <a:solidFill>
                  <a:srgbClr val="595959"/>
                </a:solidFill>
                <a:latin typeface="Roboto"/>
                <a:cs typeface="Roboto"/>
              </a:rPr>
              <a:t>.</a:t>
            </a:r>
            <a:r>
              <a:rPr sz="1400" u="none" spc="-1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u="none" spc="-20" dirty="0">
                <a:solidFill>
                  <a:srgbClr val="595959"/>
                </a:solidFill>
                <a:latin typeface="Roboto"/>
                <a:cs typeface="Roboto"/>
              </a:rPr>
              <a:t>2024.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Pre-Training:</a:t>
            </a:r>
            <a:r>
              <a:rPr spc="-70" dirty="0"/>
              <a:t> </a:t>
            </a:r>
            <a:r>
              <a:rPr spc="-10" dirty="0"/>
              <a:t>Parallelism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02418" y="1056513"/>
            <a:ext cx="7056755" cy="1201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8830" marR="538480" indent="-272415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595959"/>
                </a:solidFill>
                <a:latin typeface="Roboto"/>
                <a:cs typeface="Roboto"/>
              </a:rPr>
              <a:t>4D</a:t>
            </a:r>
            <a:r>
              <a:rPr sz="1400" b="1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b="1" spc="-10" dirty="0">
                <a:solidFill>
                  <a:srgbClr val="595959"/>
                </a:solidFill>
                <a:latin typeface="Roboto"/>
                <a:cs typeface="Roboto"/>
              </a:rPr>
              <a:t>Parallelism</a:t>
            </a:r>
            <a:r>
              <a:rPr sz="1400" b="1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to</a:t>
            </a: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minimize</a:t>
            </a: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bottlenecks</a:t>
            </a: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and</a:t>
            </a: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maximizes</a:t>
            </a: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efficiency:</a:t>
            </a: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combines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Data,</a:t>
            </a:r>
            <a:r>
              <a:rPr sz="14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Context,</a:t>
            </a: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Pipeline</a:t>
            </a: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(Vertical),</a:t>
            </a:r>
            <a:r>
              <a:rPr sz="14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and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Tensor</a:t>
            </a:r>
            <a:r>
              <a:rPr sz="14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(Horizontal)</a:t>
            </a: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Parallelism.</a:t>
            </a:r>
            <a:endParaRPr sz="1400">
              <a:latin typeface="Roboto"/>
              <a:cs typeface="Roboto"/>
            </a:endParaRPr>
          </a:p>
          <a:p>
            <a:pPr marL="347980" indent="-335280">
              <a:lnSpc>
                <a:spcPct val="100000"/>
              </a:lnSpc>
              <a:spcBef>
                <a:spcPts val="15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b="1" dirty="0">
                <a:solidFill>
                  <a:srgbClr val="595959"/>
                </a:solidFill>
                <a:latin typeface="Roboto"/>
                <a:cs typeface="Roboto"/>
              </a:rPr>
              <a:t>Data</a:t>
            </a:r>
            <a:r>
              <a:rPr sz="1400" b="1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b="1" spc="-10" dirty="0">
                <a:solidFill>
                  <a:srgbClr val="595959"/>
                </a:solidFill>
                <a:latin typeface="Roboto"/>
                <a:cs typeface="Roboto"/>
              </a:rPr>
              <a:t>Parallelism</a:t>
            </a:r>
            <a:r>
              <a:rPr sz="1400" b="1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parallelizes</a:t>
            </a:r>
            <a:r>
              <a:rPr sz="14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tasks</a:t>
            </a:r>
            <a:r>
              <a:rPr sz="14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to</a:t>
            </a:r>
            <a:r>
              <a:rPr sz="14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speed</a:t>
            </a:r>
            <a:r>
              <a:rPr sz="14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up</a:t>
            </a:r>
            <a:r>
              <a:rPr sz="14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data</a:t>
            </a:r>
            <a:r>
              <a:rPr sz="14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processing</a:t>
            </a:r>
            <a:r>
              <a:rPr sz="14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and</a:t>
            </a:r>
            <a:r>
              <a:rPr sz="14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model</a:t>
            </a:r>
            <a:r>
              <a:rPr sz="14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iterations.</a:t>
            </a:r>
            <a:endParaRPr sz="1400">
              <a:latin typeface="Roboto"/>
              <a:cs typeface="Roboto"/>
            </a:endParaRPr>
          </a:p>
          <a:p>
            <a:pPr marL="347980" indent="-335280">
              <a:lnSpc>
                <a:spcPct val="100000"/>
              </a:lnSpc>
              <a:spcBef>
                <a:spcPts val="1000"/>
              </a:spcBef>
              <a:buFont typeface="Arial"/>
              <a:buChar char="●"/>
              <a:tabLst>
                <a:tab pos="347980" algn="l"/>
              </a:tabLst>
            </a:pPr>
            <a:r>
              <a:rPr sz="1400" b="1" dirty="0">
                <a:solidFill>
                  <a:srgbClr val="595959"/>
                </a:solidFill>
                <a:latin typeface="Roboto"/>
                <a:cs typeface="Roboto"/>
              </a:rPr>
              <a:t>Context</a:t>
            </a:r>
            <a:r>
              <a:rPr sz="1400" b="1" spc="-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b="1" spc="-10" dirty="0">
                <a:solidFill>
                  <a:srgbClr val="595959"/>
                </a:solidFill>
                <a:latin typeface="Roboto"/>
                <a:cs typeface="Roboto"/>
              </a:rPr>
              <a:t>Parallelism</a:t>
            </a:r>
            <a:r>
              <a:rPr sz="1400" b="1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splits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input</a:t>
            </a:r>
            <a:r>
              <a:rPr sz="14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sequences</a:t>
            </a:r>
            <a:r>
              <a:rPr sz="14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into</a:t>
            </a:r>
            <a:r>
              <a:rPr sz="14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chunks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to</a:t>
            </a:r>
            <a:r>
              <a:rPr sz="14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be</a:t>
            </a:r>
            <a:r>
              <a:rPr sz="14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processed</a:t>
            </a:r>
            <a:r>
              <a:rPr sz="14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separately.</a:t>
            </a:r>
            <a:endParaRPr sz="1400">
              <a:latin typeface="Roboto"/>
              <a:cs typeface="Roboto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4362" y="2513099"/>
            <a:ext cx="2806661" cy="170996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20635" y="2480882"/>
            <a:ext cx="3082117" cy="172598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284294" y="4317363"/>
            <a:ext cx="27705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6256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K.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Pijanowski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and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M.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Galarnyk.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4"/>
              </a:rPr>
              <a:t>What</a:t>
            </a:r>
            <a:r>
              <a:rPr sz="1400" u="heavy" spc="-4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4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4"/>
              </a:rPr>
              <a:t>is</a:t>
            </a:r>
            <a:r>
              <a:rPr sz="1400" u="heavy" spc="-4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4"/>
              </a:rPr>
              <a:t> </a:t>
            </a:r>
            <a:r>
              <a:rPr sz="14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4"/>
              </a:rPr>
              <a:t>Distributed</a:t>
            </a:r>
            <a:r>
              <a:rPr sz="1400" u="heavy" spc="-6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4"/>
              </a:rPr>
              <a:t> </a:t>
            </a:r>
            <a:r>
              <a:rPr sz="14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4"/>
              </a:rPr>
              <a:t>Training?</a:t>
            </a:r>
            <a:r>
              <a:rPr sz="1400" u="none" spc="-30" dirty="0">
                <a:solidFill>
                  <a:srgbClr val="0097A7"/>
                </a:solidFill>
                <a:latin typeface="Roboto"/>
                <a:cs typeface="Roboto"/>
              </a:rPr>
              <a:t> </a:t>
            </a:r>
            <a:r>
              <a:rPr sz="1400" u="none" spc="-10" dirty="0">
                <a:solidFill>
                  <a:srgbClr val="595959"/>
                </a:solidFill>
                <a:latin typeface="Roboto"/>
                <a:cs typeface="Roboto"/>
              </a:rPr>
              <a:t>2022.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55051" y="4319321"/>
            <a:ext cx="3830954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8770" marR="5080" indent="-306705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S.</a:t>
            </a:r>
            <a:r>
              <a:rPr sz="1400" spc="-1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Li</a:t>
            </a:r>
            <a:r>
              <a:rPr sz="1400" spc="-1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et</a:t>
            </a:r>
            <a:r>
              <a:rPr sz="1400" spc="-1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al.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5"/>
              </a:rPr>
              <a:t>Sequence</a:t>
            </a:r>
            <a:r>
              <a:rPr sz="1400" u="heavy" spc="-1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5"/>
              </a:rPr>
              <a:t> </a:t>
            </a:r>
            <a:r>
              <a:rPr sz="14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5"/>
              </a:rPr>
              <a:t>Parallelism: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5"/>
              </a:rPr>
              <a:t>Long</a:t>
            </a:r>
            <a:r>
              <a:rPr sz="1400" u="heavy" spc="-1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5"/>
              </a:rPr>
              <a:t> </a:t>
            </a:r>
            <a:r>
              <a:rPr sz="14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5"/>
              </a:rPr>
              <a:t>Sequence</a:t>
            </a:r>
            <a:r>
              <a:rPr sz="1400" u="none" spc="-10" dirty="0">
                <a:solidFill>
                  <a:srgbClr val="0097A7"/>
                </a:solidFill>
                <a:latin typeface="Roboto"/>
                <a:cs typeface="Roboto"/>
              </a:rPr>
              <a:t> </a:t>
            </a:r>
            <a:r>
              <a:rPr sz="14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5"/>
              </a:rPr>
              <a:t>Training</a:t>
            </a:r>
            <a:r>
              <a:rPr sz="1400" u="heavy" spc="-4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5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5"/>
              </a:rPr>
              <a:t>from</a:t>
            </a:r>
            <a:r>
              <a:rPr sz="1400" u="heavy" spc="-3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5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5"/>
              </a:rPr>
              <a:t>System</a:t>
            </a:r>
            <a:r>
              <a:rPr sz="1400" u="heavy" spc="-3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5"/>
              </a:rPr>
              <a:t> </a:t>
            </a:r>
            <a:r>
              <a:rPr sz="14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5"/>
              </a:rPr>
              <a:t>Perspective</a:t>
            </a:r>
            <a:r>
              <a:rPr sz="1400" u="none" spc="-10" dirty="0">
                <a:solidFill>
                  <a:srgbClr val="595959"/>
                </a:solidFill>
                <a:latin typeface="Roboto"/>
                <a:cs typeface="Roboto"/>
              </a:rPr>
              <a:t>.</a:t>
            </a:r>
            <a:r>
              <a:rPr sz="1400" u="none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u="none" spc="-10" dirty="0">
                <a:solidFill>
                  <a:srgbClr val="595959"/>
                </a:solidFill>
                <a:latin typeface="Roboto"/>
                <a:cs typeface="Roboto"/>
              </a:rPr>
              <a:t>2021.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Pre-Training:</a:t>
            </a:r>
            <a:r>
              <a:rPr spc="-70" dirty="0"/>
              <a:t> </a:t>
            </a:r>
            <a:r>
              <a:rPr spc="-10" dirty="0"/>
              <a:t>Parallelism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8887" y="1017880"/>
            <a:ext cx="7696834" cy="73660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356235" indent="-343535">
              <a:lnSpc>
                <a:spcPct val="100000"/>
              </a:lnSpc>
              <a:spcBef>
                <a:spcPts val="1100"/>
              </a:spcBef>
              <a:buFont typeface="Arial"/>
              <a:buChar char="●"/>
              <a:tabLst>
                <a:tab pos="356235" algn="l"/>
              </a:tabLst>
            </a:pPr>
            <a:r>
              <a:rPr sz="1500" b="1" spc="-10" dirty="0">
                <a:solidFill>
                  <a:srgbClr val="595959"/>
                </a:solidFill>
                <a:latin typeface="Roboto"/>
                <a:cs typeface="Roboto"/>
              </a:rPr>
              <a:t>Pipeline</a:t>
            </a:r>
            <a:r>
              <a:rPr sz="1500" b="1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b="1" spc="-10" dirty="0">
                <a:solidFill>
                  <a:srgbClr val="595959"/>
                </a:solidFill>
                <a:latin typeface="Roboto"/>
                <a:cs typeface="Roboto"/>
              </a:rPr>
              <a:t>Parallelism</a:t>
            </a:r>
            <a:r>
              <a:rPr sz="1500" b="1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595959"/>
                </a:solidFill>
                <a:latin typeface="Roboto"/>
                <a:cs typeface="Roboto"/>
              </a:rPr>
              <a:t>separates</a:t>
            </a:r>
            <a:r>
              <a:rPr sz="15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a</a:t>
            </a:r>
            <a:r>
              <a:rPr sz="15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model</a:t>
            </a:r>
            <a:r>
              <a:rPr sz="15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based</a:t>
            </a:r>
            <a:r>
              <a:rPr sz="15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on</a:t>
            </a:r>
            <a:r>
              <a:rPr sz="15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its</a:t>
            </a:r>
            <a:r>
              <a:rPr sz="15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layers,</a:t>
            </a:r>
            <a:r>
              <a:rPr sz="15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allowing</a:t>
            </a:r>
            <a:r>
              <a:rPr sz="15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higher</a:t>
            </a:r>
            <a:r>
              <a:rPr sz="15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595959"/>
                </a:solidFill>
                <a:latin typeface="Roboto"/>
                <a:cs typeface="Roboto"/>
              </a:rPr>
              <a:t>throughput.</a:t>
            </a:r>
            <a:endParaRPr sz="1500">
              <a:latin typeface="Roboto"/>
              <a:cs typeface="Roboto"/>
            </a:endParaRPr>
          </a:p>
          <a:p>
            <a:pPr marL="356235" indent="-343535">
              <a:lnSpc>
                <a:spcPct val="100000"/>
              </a:lnSpc>
              <a:spcBef>
                <a:spcPts val="1000"/>
              </a:spcBef>
              <a:buFont typeface="Arial"/>
              <a:buChar char="●"/>
              <a:tabLst>
                <a:tab pos="356235" algn="l"/>
              </a:tabLst>
            </a:pPr>
            <a:r>
              <a:rPr sz="1500" b="1" spc="-10" dirty="0">
                <a:solidFill>
                  <a:srgbClr val="595959"/>
                </a:solidFill>
                <a:latin typeface="Roboto"/>
                <a:cs typeface="Roboto"/>
              </a:rPr>
              <a:t>Tensor</a:t>
            </a:r>
            <a:r>
              <a:rPr sz="1500" b="1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b="1" spc="-10" dirty="0">
                <a:solidFill>
                  <a:srgbClr val="595959"/>
                </a:solidFill>
                <a:latin typeface="Roboto"/>
                <a:cs typeface="Roboto"/>
              </a:rPr>
              <a:t>Parallelism</a:t>
            </a:r>
            <a:r>
              <a:rPr sz="1500" b="1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splits</a:t>
            </a:r>
            <a:r>
              <a:rPr sz="15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595959"/>
                </a:solidFill>
                <a:latin typeface="Roboto"/>
                <a:cs typeface="Roboto"/>
              </a:rPr>
              <a:t>matrices</a:t>
            </a:r>
            <a:r>
              <a:rPr sz="15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across</a:t>
            </a:r>
            <a:r>
              <a:rPr sz="15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GPUs</a:t>
            </a:r>
            <a:r>
              <a:rPr sz="15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to</a:t>
            </a:r>
            <a:r>
              <a:rPr sz="15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reduce</a:t>
            </a:r>
            <a:r>
              <a:rPr sz="15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peak</a:t>
            </a:r>
            <a:r>
              <a:rPr sz="15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memory</a:t>
            </a:r>
            <a:r>
              <a:rPr sz="15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595959"/>
                </a:solidFill>
                <a:latin typeface="Roboto"/>
                <a:cs typeface="Roboto"/>
              </a:rPr>
              <a:t>consumption.</a:t>
            </a:r>
            <a:endParaRPr sz="1500">
              <a:latin typeface="Roboto"/>
              <a:cs typeface="Roboto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86186" y="2072500"/>
            <a:ext cx="4368613" cy="252660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Pre-Training:</a:t>
            </a:r>
            <a:r>
              <a:rPr spc="-10" dirty="0"/>
              <a:t> </a:t>
            </a:r>
            <a:r>
              <a:rPr dirty="0"/>
              <a:t>Scaling</a:t>
            </a:r>
            <a:r>
              <a:rPr spc="-10" dirty="0"/>
              <a:t> </a:t>
            </a:r>
            <a:r>
              <a:rPr spc="-20" dirty="0"/>
              <a:t>Laws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7125" y="954989"/>
            <a:ext cx="6232525" cy="551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Given</a:t>
            </a:r>
            <a:r>
              <a:rPr sz="15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a</a:t>
            </a:r>
            <a:r>
              <a:rPr sz="15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595959"/>
                </a:solidFill>
                <a:latin typeface="Roboto"/>
                <a:cs typeface="Roboto"/>
              </a:rPr>
              <a:t>fixed</a:t>
            </a:r>
            <a:r>
              <a:rPr sz="15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compute</a:t>
            </a:r>
            <a:r>
              <a:rPr sz="15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budget,</a:t>
            </a:r>
            <a:r>
              <a:rPr sz="15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what</a:t>
            </a:r>
            <a:r>
              <a:rPr sz="15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is</a:t>
            </a:r>
            <a:r>
              <a:rPr sz="15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the</a:t>
            </a:r>
            <a:r>
              <a:rPr sz="15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optimal</a:t>
            </a:r>
            <a:r>
              <a:rPr sz="15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model</a:t>
            </a:r>
            <a:r>
              <a:rPr sz="15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size</a:t>
            </a:r>
            <a:r>
              <a:rPr sz="15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and</a:t>
            </a:r>
            <a:r>
              <a:rPr sz="15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595959"/>
                </a:solidFill>
                <a:latin typeface="Roboto"/>
                <a:cs typeface="Roboto"/>
              </a:rPr>
              <a:t>training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dataset</a:t>
            </a:r>
            <a:r>
              <a:rPr sz="15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size</a:t>
            </a:r>
            <a:r>
              <a:rPr sz="15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for</a:t>
            </a:r>
            <a:r>
              <a:rPr sz="15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training</a:t>
            </a:r>
            <a:r>
              <a:rPr sz="15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595959"/>
                </a:solidFill>
                <a:latin typeface="Roboto"/>
                <a:cs typeface="Roboto"/>
              </a:rPr>
              <a:t>a</a:t>
            </a:r>
            <a:r>
              <a:rPr sz="15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595959"/>
                </a:solidFill>
                <a:latin typeface="Roboto"/>
                <a:cs typeface="Roboto"/>
              </a:rPr>
              <a:t>transformer</a:t>
            </a:r>
            <a:r>
              <a:rPr sz="15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500" spc="-25" dirty="0">
                <a:solidFill>
                  <a:srgbClr val="595959"/>
                </a:solidFill>
                <a:latin typeface="Roboto"/>
                <a:cs typeface="Roboto"/>
              </a:rPr>
              <a:t>LM?</a:t>
            </a:r>
            <a:endParaRPr sz="1500">
              <a:latin typeface="Roboto"/>
              <a:cs typeface="Roboto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75399" y="1778599"/>
            <a:ext cx="4638675" cy="2489200"/>
            <a:chOff x="875399" y="1778599"/>
            <a:chExt cx="4638675" cy="248920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0578" y="1893778"/>
              <a:ext cx="4463871" cy="232437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80162" y="1783362"/>
              <a:ext cx="4629150" cy="2479675"/>
            </a:xfrm>
            <a:custGeom>
              <a:avLst/>
              <a:gdLst/>
              <a:ahLst/>
              <a:cxnLst/>
              <a:rect l="l" t="t" r="r" b="b"/>
              <a:pathLst>
                <a:path w="4629150" h="2479675">
                  <a:moveTo>
                    <a:pt x="0" y="0"/>
                  </a:moveTo>
                  <a:lnTo>
                    <a:pt x="4628575" y="0"/>
                  </a:lnTo>
                  <a:lnTo>
                    <a:pt x="4628575" y="2479174"/>
                  </a:lnTo>
                  <a:lnTo>
                    <a:pt x="0" y="247917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object 2"/>
          <p:cNvSpPr txBox="1"/>
          <p:nvPr/>
        </p:nvSpPr>
        <p:spPr>
          <a:xfrm>
            <a:off x="5791286" y="2108563"/>
            <a:ext cx="2790190" cy="1285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595959"/>
                </a:solidFill>
                <a:latin typeface="Roboto"/>
                <a:cs typeface="Roboto"/>
              </a:rPr>
              <a:t>Chinchilla</a:t>
            </a:r>
            <a:r>
              <a:rPr sz="1400" b="1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b="1" dirty="0">
                <a:solidFill>
                  <a:srgbClr val="595959"/>
                </a:solidFill>
                <a:latin typeface="Roboto"/>
                <a:cs typeface="Roboto"/>
              </a:rPr>
              <a:t>Scaling</a:t>
            </a:r>
            <a:r>
              <a:rPr sz="1400" b="1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b="1" spc="-20" dirty="0">
                <a:solidFill>
                  <a:srgbClr val="595959"/>
                </a:solidFill>
                <a:latin typeface="Roboto"/>
                <a:cs typeface="Roboto"/>
              </a:rPr>
              <a:t>Law:</a:t>
            </a:r>
            <a:endParaRPr sz="14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760"/>
              </a:spcBef>
            </a:pPr>
            <a:endParaRPr sz="1400">
              <a:latin typeface="Roboto"/>
              <a:cs typeface="Roboto"/>
            </a:endParaRPr>
          </a:p>
          <a:p>
            <a:pPr marL="12065" marR="5080" algn="ctr">
              <a:lnSpc>
                <a:spcPct val="114999"/>
              </a:lnSpc>
            </a:pP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For</a:t>
            </a:r>
            <a:r>
              <a:rPr sz="14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every</a:t>
            </a: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doubling</a:t>
            </a: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of</a:t>
            </a: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model</a:t>
            </a: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size,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the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number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of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training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tokens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must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also</a:t>
            </a:r>
            <a:r>
              <a:rPr sz="14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be</a:t>
            </a:r>
            <a:r>
              <a:rPr sz="14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doubled.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4475" y="4571430"/>
            <a:ext cx="648398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595959"/>
                </a:solidFill>
                <a:latin typeface="Arial"/>
                <a:cs typeface="Arial"/>
              </a:rPr>
              <a:t>J.</a:t>
            </a:r>
            <a:r>
              <a:rPr sz="15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595959"/>
                </a:solidFill>
                <a:latin typeface="Arial"/>
                <a:cs typeface="Arial"/>
              </a:rPr>
              <a:t>Hoffmann</a:t>
            </a:r>
            <a:r>
              <a:rPr sz="15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595959"/>
                </a:solidFill>
                <a:latin typeface="Arial"/>
                <a:cs typeface="Arial"/>
              </a:rPr>
              <a:t>et</a:t>
            </a:r>
            <a:r>
              <a:rPr sz="15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595959"/>
                </a:solidFill>
                <a:latin typeface="Arial"/>
                <a:cs typeface="Arial"/>
              </a:rPr>
              <a:t>al.</a:t>
            </a:r>
            <a:r>
              <a:rPr sz="15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5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Training</a:t>
            </a:r>
            <a:r>
              <a:rPr sz="1500" u="heavy" spc="-3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500" u="heavy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Compute-</a:t>
            </a:r>
            <a:r>
              <a:rPr sz="15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Optimal</a:t>
            </a:r>
            <a:r>
              <a:rPr sz="1500" u="heavy" spc="-3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5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Large</a:t>
            </a:r>
            <a:r>
              <a:rPr sz="1500" u="heavy" spc="-3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5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Language</a:t>
            </a:r>
            <a:r>
              <a:rPr sz="1500" u="heavy" spc="-4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5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Models</a:t>
            </a:r>
            <a:r>
              <a:rPr sz="1500" u="none" dirty="0">
                <a:solidFill>
                  <a:srgbClr val="595959"/>
                </a:solidFill>
                <a:latin typeface="Arial"/>
                <a:cs typeface="Arial"/>
              </a:rPr>
              <a:t>.</a:t>
            </a:r>
            <a:r>
              <a:rPr sz="1500" u="none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500" u="none" spc="-10" dirty="0">
                <a:solidFill>
                  <a:srgbClr val="595959"/>
                </a:solidFill>
                <a:latin typeface="Arial"/>
                <a:cs typeface="Arial"/>
              </a:rPr>
              <a:t>2022.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Post-Training:</a:t>
            </a:r>
            <a:r>
              <a:rPr spc="-5" dirty="0"/>
              <a:t> </a:t>
            </a:r>
            <a:r>
              <a:rPr dirty="0"/>
              <a:t>Instruction-Tuning and</a:t>
            </a:r>
            <a:r>
              <a:rPr spc="-5" dirty="0"/>
              <a:t> </a:t>
            </a:r>
            <a:r>
              <a:rPr spc="-10" dirty="0"/>
              <a:t>Alignment</a:t>
            </a:r>
          </a:p>
        </p:txBody>
      </p:sp>
      <p:pic>
        <p:nvPicPr>
          <p:cNvPr id="27" name="object 2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9846" y="1081606"/>
            <a:ext cx="450027" cy="43451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56013" y="1071538"/>
            <a:ext cx="123825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25" dirty="0">
                <a:solidFill>
                  <a:srgbClr val="44464B"/>
                </a:solidFill>
                <a:latin typeface="Roboto"/>
                <a:cs typeface="Roboto"/>
              </a:rPr>
              <a:t>Pre-</a:t>
            </a:r>
            <a:r>
              <a:rPr sz="1700" b="1" spc="-10" dirty="0">
                <a:solidFill>
                  <a:srgbClr val="44464B"/>
                </a:solidFill>
                <a:latin typeface="Roboto"/>
                <a:cs typeface="Roboto"/>
              </a:rPr>
              <a:t>Training</a:t>
            </a:r>
            <a:endParaRPr sz="1700">
              <a:latin typeface="Roboto"/>
              <a:cs typeface="Roboto"/>
            </a:endParaRPr>
          </a:p>
        </p:txBody>
      </p:sp>
      <p:pic>
        <p:nvPicPr>
          <p:cNvPr id="29" name="object 2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68651" y="1073799"/>
            <a:ext cx="450026" cy="43451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552513" y="964858"/>
            <a:ext cx="11366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700" b="1" spc="-10" dirty="0">
                <a:solidFill>
                  <a:srgbClr val="44464B"/>
                </a:solidFill>
                <a:latin typeface="Roboto"/>
                <a:cs typeface="Roboto"/>
              </a:rPr>
              <a:t>Instruction </a:t>
            </a:r>
            <a:r>
              <a:rPr sz="1700" b="1" spc="-20" dirty="0">
                <a:solidFill>
                  <a:srgbClr val="44464B"/>
                </a:solidFill>
                <a:latin typeface="Roboto"/>
                <a:cs typeface="Roboto"/>
              </a:rPr>
              <a:t>Fine-</a:t>
            </a:r>
            <a:r>
              <a:rPr sz="1700" b="1" spc="-10" dirty="0">
                <a:solidFill>
                  <a:srgbClr val="44464B"/>
                </a:solidFill>
                <a:latin typeface="Roboto"/>
                <a:cs typeface="Roboto"/>
              </a:rPr>
              <a:t>tuning</a:t>
            </a:r>
            <a:endParaRPr sz="1700">
              <a:latin typeface="Roboto"/>
              <a:cs typeface="Roboto"/>
            </a:endParaRPr>
          </a:p>
        </p:txBody>
      </p:sp>
      <p:pic>
        <p:nvPicPr>
          <p:cNvPr id="28" name="object 2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30780" y="1078115"/>
            <a:ext cx="450027" cy="43451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967252" y="974259"/>
            <a:ext cx="236220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700" b="1" spc="-10" dirty="0">
                <a:solidFill>
                  <a:srgbClr val="44464B"/>
                </a:solidFill>
                <a:latin typeface="Roboto"/>
                <a:cs typeface="Roboto"/>
              </a:rPr>
              <a:t>Reinforcement</a:t>
            </a:r>
            <a:r>
              <a:rPr sz="1700" b="1" spc="-65" dirty="0">
                <a:solidFill>
                  <a:srgbClr val="44464B"/>
                </a:solidFill>
                <a:latin typeface="Roboto"/>
                <a:cs typeface="Roboto"/>
              </a:rPr>
              <a:t> </a:t>
            </a:r>
            <a:r>
              <a:rPr sz="1700" b="1" spc="-10" dirty="0">
                <a:solidFill>
                  <a:srgbClr val="44464B"/>
                </a:solidFill>
                <a:latin typeface="Roboto"/>
                <a:cs typeface="Roboto"/>
              </a:rPr>
              <a:t>Learning </a:t>
            </a:r>
            <a:r>
              <a:rPr sz="1700" b="1" dirty="0">
                <a:solidFill>
                  <a:srgbClr val="44464B"/>
                </a:solidFill>
                <a:latin typeface="Roboto"/>
                <a:cs typeface="Roboto"/>
              </a:rPr>
              <a:t>from</a:t>
            </a:r>
            <a:r>
              <a:rPr sz="1700" b="1" spc="-60" dirty="0">
                <a:solidFill>
                  <a:srgbClr val="44464B"/>
                </a:solidFill>
                <a:latin typeface="Roboto"/>
                <a:cs typeface="Roboto"/>
              </a:rPr>
              <a:t> </a:t>
            </a:r>
            <a:r>
              <a:rPr sz="1700" b="1" dirty="0">
                <a:solidFill>
                  <a:srgbClr val="44464B"/>
                </a:solidFill>
                <a:latin typeface="Roboto"/>
                <a:cs typeface="Roboto"/>
              </a:rPr>
              <a:t>Human</a:t>
            </a:r>
            <a:r>
              <a:rPr sz="1700" b="1" spc="-55" dirty="0">
                <a:solidFill>
                  <a:srgbClr val="44464B"/>
                </a:solidFill>
                <a:latin typeface="Roboto"/>
                <a:cs typeface="Roboto"/>
              </a:rPr>
              <a:t> </a:t>
            </a:r>
            <a:r>
              <a:rPr sz="1700" b="1" spc="-10" dirty="0">
                <a:solidFill>
                  <a:srgbClr val="44464B"/>
                </a:solidFill>
                <a:latin typeface="Roboto"/>
                <a:cs typeface="Roboto"/>
              </a:rPr>
              <a:t>Feedback</a:t>
            </a:r>
            <a:endParaRPr sz="1700">
              <a:latin typeface="Roboto"/>
              <a:cs typeface="Roboto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48200" y="1834038"/>
            <a:ext cx="20275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44464B"/>
                </a:solidFill>
                <a:latin typeface="Roboto"/>
                <a:cs typeface="Roboto"/>
              </a:rPr>
              <a:t>Massive</a:t>
            </a:r>
            <a:r>
              <a:rPr sz="1400" spc="-45" dirty="0">
                <a:solidFill>
                  <a:srgbClr val="44464B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44464B"/>
                </a:solidFill>
                <a:latin typeface="Roboto"/>
                <a:cs typeface="Roboto"/>
              </a:rPr>
              <a:t>amounts</a:t>
            </a:r>
            <a:r>
              <a:rPr sz="1400" spc="-45" dirty="0">
                <a:solidFill>
                  <a:srgbClr val="44464B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44464B"/>
                </a:solidFill>
                <a:latin typeface="Roboto"/>
                <a:cs typeface="Roboto"/>
              </a:rPr>
              <a:t>of</a:t>
            </a:r>
            <a:r>
              <a:rPr sz="1400" spc="-40" dirty="0">
                <a:solidFill>
                  <a:srgbClr val="44464B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44464B"/>
                </a:solidFill>
                <a:latin typeface="Roboto"/>
                <a:cs typeface="Roboto"/>
              </a:rPr>
              <a:t>data </a:t>
            </a:r>
            <a:r>
              <a:rPr sz="1400" dirty="0">
                <a:solidFill>
                  <a:srgbClr val="44464B"/>
                </a:solidFill>
                <a:latin typeface="Roboto"/>
                <a:cs typeface="Roboto"/>
              </a:rPr>
              <a:t>from</a:t>
            </a:r>
            <a:r>
              <a:rPr sz="1400" spc="-40" dirty="0">
                <a:solidFill>
                  <a:srgbClr val="44464B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44464B"/>
                </a:solidFill>
                <a:latin typeface="Roboto"/>
                <a:cs typeface="Roboto"/>
              </a:rPr>
              <a:t>Internet,</a:t>
            </a:r>
            <a:r>
              <a:rPr sz="1400" spc="-40" dirty="0">
                <a:solidFill>
                  <a:srgbClr val="44464B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44464B"/>
                </a:solidFill>
                <a:latin typeface="Roboto"/>
                <a:cs typeface="Roboto"/>
              </a:rPr>
              <a:t>books,</a:t>
            </a:r>
            <a:r>
              <a:rPr sz="1400" spc="-40" dirty="0">
                <a:solidFill>
                  <a:srgbClr val="44464B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44464B"/>
                </a:solidFill>
                <a:latin typeface="Roboto"/>
                <a:cs typeface="Roboto"/>
              </a:rPr>
              <a:t>etc.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018149" y="1827883"/>
            <a:ext cx="1931035" cy="45021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>
              <a:lnSpc>
                <a:spcPts val="1670"/>
              </a:lnSpc>
              <a:spcBef>
                <a:spcPts val="160"/>
              </a:spcBef>
            </a:pPr>
            <a:r>
              <a:rPr sz="1400" spc="-20" dirty="0">
                <a:solidFill>
                  <a:srgbClr val="44464B"/>
                </a:solidFill>
                <a:latin typeface="Roboto"/>
                <a:cs typeface="Roboto"/>
              </a:rPr>
              <a:t>Teach</a:t>
            </a:r>
            <a:r>
              <a:rPr sz="1400" spc="-35" dirty="0">
                <a:solidFill>
                  <a:srgbClr val="44464B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44464B"/>
                </a:solidFill>
                <a:latin typeface="Roboto"/>
                <a:cs typeface="Roboto"/>
              </a:rPr>
              <a:t>model</a:t>
            </a:r>
            <a:r>
              <a:rPr sz="1400" spc="-30" dirty="0">
                <a:solidFill>
                  <a:srgbClr val="44464B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44464B"/>
                </a:solidFill>
                <a:latin typeface="Roboto"/>
                <a:cs typeface="Roboto"/>
              </a:rPr>
              <a:t>to</a:t>
            </a:r>
            <a:r>
              <a:rPr sz="1400" spc="-30" dirty="0">
                <a:solidFill>
                  <a:srgbClr val="44464B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44464B"/>
                </a:solidFill>
                <a:latin typeface="Roboto"/>
                <a:cs typeface="Roboto"/>
              </a:rPr>
              <a:t>respond </a:t>
            </a:r>
            <a:r>
              <a:rPr sz="1400" dirty="0">
                <a:solidFill>
                  <a:srgbClr val="44464B"/>
                </a:solidFill>
                <a:latin typeface="Roboto"/>
                <a:cs typeface="Roboto"/>
              </a:rPr>
              <a:t>to</a:t>
            </a:r>
            <a:r>
              <a:rPr sz="1400" spc="-40" dirty="0">
                <a:solidFill>
                  <a:srgbClr val="44464B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44464B"/>
                </a:solidFill>
                <a:latin typeface="Roboto"/>
                <a:cs typeface="Roboto"/>
              </a:rPr>
              <a:t>instructions.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728650" y="1832733"/>
            <a:ext cx="3016250" cy="45021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>
              <a:lnSpc>
                <a:spcPts val="1670"/>
              </a:lnSpc>
              <a:spcBef>
                <a:spcPts val="160"/>
              </a:spcBef>
            </a:pPr>
            <a:r>
              <a:rPr sz="1400" spc="-20" dirty="0">
                <a:solidFill>
                  <a:srgbClr val="44464B"/>
                </a:solidFill>
                <a:latin typeface="Roboto"/>
                <a:cs typeface="Roboto"/>
              </a:rPr>
              <a:t>Teach</a:t>
            </a:r>
            <a:r>
              <a:rPr sz="1400" spc="-40" dirty="0">
                <a:solidFill>
                  <a:srgbClr val="44464B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44464B"/>
                </a:solidFill>
                <a:latin typeface="Roboto"/>
                <a:cs typeface="Roboto"/>
              </a:rPr>
              <a:t>model</a:t>
            </a:r>
            <a:r>
              <a:rPr sz="1400" spc="-35" dirty="0">
                <a:solidFill>
                  <a:srgbClr val="44464B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44464B"/>
                </a:solidFill>
                <a:latin typeface="Roboto"/>
                <a:cs typeface="Roboto"/>
              </a:rPr>
              <a:t>to</a:t>
            </a:r>
            <a:r>
              <a:rPr sz="1400" spc="-40" dirty="0">
                <a:solidFill>
                  <a:srgbClr val="44464B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44464B"/>
                </a:solidFill>
                <a:latin typeface="Roboto"/>
                <a:cs typeface="Roboto"/>
              </a:rPr>
              <a:t>produce</a:t>
            </a:r>
            <a:r>
              <a:rPr sz="1400" spc="-35" dirty="0">
                <a:solidFill>
                  <a:srgbClr val="44464B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44464B"/>
                </a:solidFill>
                <a:latin typeface="Roboto"/>
                <a:cs typeface="Roboto"/>
              </a:rPr>
              <a:t>output</a:t>
            </a:r>
            <a:r>
              <a:rPr sz="1400" spc="-40" dirty="0">
                <a:solidFill>
                  <a:srgbClr val="44464B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44464B"/>
                </a:solidFill>
                <a:latin typeface="Roboto"/>
                <a:cs typeface="Roboto"/>
              </a:rPr>
              <a:t>closer </a:t>
            </a:r>
            <a:r>
              <a:rPr sz="1400" dirty="0">
                <a:solidFill>
                  <a:srgbClr val="44464B"/>
                </a:solidFill>
                <a:latin typeface="Roboto"/>
                <a:cs typeface="Roboto"/>
              </a:rPr>
              <a:t>to</a:t>
            </a:r>
            <a:r>
              <a:rPr sz="1400" spc="-60" dirty="0">
                <a:solidFill>
                  <a:srgbClr val="44464B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44464B"/>
                </a:solidFill>
                <a:latin typeface="Roboto"/>
                <a:cs typeface="Roboto"/>
              </a:rPr>
              <a:t>what</a:t>
            </a:r>
            <a:r>
              <a:rPr sz="1400" spc="-55" dirty="0">
                <a:solidFill>
                  <a:srgbClr val="44464B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44464B"/>
                </a:solidFill>
                <a:latin typeface="Roboto"/>
                <a:cs typeface="Roboto"/>
              </a:rPr>
              <a:t>humans</a:t>
            </a:r>
            <a:r>
              <a:rPr sz="1400" spc="-55" dirty="0">
                <a:solidFill>
                  <a:srgbClr val="44464B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44464B"/>
                </a:solidFill>
                <a:latin typeface="Roboto"/>
                <a:cs typeface="Roboto"/>
              </a:rPr>
              <a:t>like.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48200" y="2565558"/>
            <a:ext cx="2133600" cy="109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44464B"/>
                </a:solidFill>
                <a:latin typeface="Roboto"/>
                <a:cs typeface="Roboto"/>
              </a:rPr>
              <a:t>Problem:</a:t>
            </a:r>
            <a:r>
              <a:rPr sz="1400" b="1" spc="-25" dirty="0">
                <a:solidFill>
                  <a:srgbClr val="44464B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44464B"/>
                </a:solidFill>
                <a:latin typeface="Roboto"/>
                <a:cs typeface="Roboto"/>
              </a:rPr>
              <a:t>A</a:t>
            </a:r>
            <a:r>
              <a:rPr sz="1400" spc="-25" dirty="0">
                <a:solidFill>
                  <a:srgbClr val="44464B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44464B"/>
                </a:solidFill>
                <a:latin typeface="Roboto"/>
                <a:cs typeface="Roboto"/>
              </a:rPr>
              <a:t>model</a:t>
            </a:r>
            <a:r>
              <a:rPr sz="1400" spc="-25" dirty="0">
                <a:solidFill>
                  <a:srgbClr val="44464B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44464B"/>
                </a:solidFill>
                <a:latin typeface="Roboto"/>
                <a:cs typeface="Roboto"/>
              </a:rPr>
              <a:t>that</a:t>
            </a:r>
            <a:r>
              <a:rPr sz="1400" spc="-25" dirty="0">
                <a:solidFill>
                  <a:srgbClr val="44464B"/>
                </a:solidFill>
                <a:latin typeface="Roboto"/>
                <a:cs typeface="Roboto"/>
              </a:rPr>
              <a:t> can </a:t>
            </a:r>
            <a:r>
              <a:rPr sz="1400" dirty="0">
                <a:solidFill>
                  <a:srgbClr val="44464B"/>
                </a:solidFill>
                <a:latin typeface="Roboto"/>
                <a:cs typeface="Roboto"/>
              </a:rPr>
              <a:t>babble</a:t>
            </a:r>
            <a:r>
              <a:rPr sz="1400" spc="-55" dirty="0">
                <a:solidFill>
                  <a:srgbClr val="44464B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44464B"/>
                </a:solidFill>
                <a:latin typeface="Roboto"/>
                <a:cs typeface="Roboto"/>
              </a:rPr>
              <a:t>on</a:t>
            </a:r>
            <a:r>
              <a:rPr sz="1400" spc="-55" dirty="0">
                <a:solidFill>
                  <a:srgbClr val="44464B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44464B"/>
                </a:solidFill>
                <a:latin typeface="Roboto"/>
                <a:cs typeface="Roboto"/>
              </a:rPr>
              <a:t>about</a:t>
            </a:r>
            <a:r>
              <a:rPr sz="1400" spc="-50" dirty="0">
                <a:solidFill>
                  <a:srgbClr val="44464B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44464B"/>
                </a:solidFill>
                <a:latin typeface="Roboto"/>
                <a:cs typeface="Roboto"/>
              </a:rPr>
              <a:t>anything, </a:t>
            </a:r>
            <a:r>
              <a:rPr sz="1400" dirty="0">
                <a:solidFill>
                  <a:srgbClr val="44464B"/>
                </a:solidFill>
                <a:latin typeface="Roboto"/>
                <a:cs typeface="Roboto"/>
              </a:rPr>
              <a:t>but</a:t>
            </a:r>
            <a:r>
              <a:rPr sz="1400" spc="-40" dirty="0">
                <a:solidFill>
                  <a:srgbClr val="44464B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44464B"/>
                </a:solidFill>
                <a:latin typeface="Roboto"/>
                <a:cs typeface="Roboto"/>
              </a:rPr>
              <a:t>not</a:t>
            </a:r>
            <a:r>
              <a:rPr sz="1400" spc="-40" dirty="0">
                <a:solidFill>
                  <a:srgbClr val="44464B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44464B"/>
                </a:solidFill>
                <a:latin typeface="Roboto"/>
                <a:cs typeface="Roboto"/>
              </a:rPr>
              <a:t>aligned</a:t>
            </a:r>
            <a:r>
              <a:rPr sz="1400" spc="-35" dirty="0">
                <a:solidFill>
                  <a:srgbClr val="44464B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44464B"/>
                </a:solidFill>
                <a:latin typeface="Roboto"/>
                <a:cs typeface="Roboto"/>
              </a:rPr>
              <a:t>with</a:t>
            </a:r>
            <a:r>
              <a:rPr sz="1400" spc="-40" dirty="0">
                <a:solidFill>
                  <a:srgbClr val="44464B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44464B"/>
                </a:solidFill>
                <a:latin typeface="Roboto"/>
                <a:cs typeface="Roboto"/>
              </a:rPr>
              <a:t>what </a:t>
            </a:r>
            <a:r>
              <a:rPr sz="1400" dirty="0">
                <a:solidFill>
                  <a:srgbClr val="44464B"/>
                </a:solidFill>
                <a:latin typeface="Roboto"/>
                <a:cs typeface="Roboto"/>
              </a:rPr>
              <a:t>we</a:t>
            </a:r>
            <a:r>
              <a:rPr sz="1400" spc="-35" dirty="0">
                <a:solidFill>
                  <a:srgbClr val="44464B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44464B"/>
                </a:solidFill>
                <a:latin typeface="Roboto"/>
                <a:cs typeface="Roboto"/>
              </a:rPr>
              <a:t>want</a:t>
            </a:r>
            <a:r>
              <a:rPr sz="1400" spc="-30" dirty="0">
                <a:solidFill>
                  <a:srgbClr val="44464B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44464B"/>
                </a:solidFill>
                <a:latin typeface="Roboto"/>
                <a:cs typeface="Roboto"/>
              </a:rPr>
              <a:t>(e.g.</a:t>
            </a:r>
            <a:endParaRPr sz="14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400" spc="-20" dirty="0">
                <a:solidFill>
                  <a:srgbClr val="44464B"/>
                </a:solidFill>
                <a:latin typeface="Roboto"/>
                <a:cs typeface="Roboto"/>
              </a:rPr>
              <a:t>Question-</a:t>
            </a:r>
            <a:r>
              <a:rPr sz="1400" spc="-10" dirty="0">
                <a:solidFill>
                  <a:srgbClr val="44464B"/>
                </a:solidFill>
                <a:latin typeface="Roboto"/>
                <a:cs typeface="Roboto"/>
              </a:rPr>
              <a:t>Answering)</a:t>
            </a:r>
            <a:endParaRPr sz="1400">
              <a:latin typeface="Roboto"/>
              <a:cs typeface="Roboto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898260" y="2820924"/>
            <a:ext cx="2415540" cy="1607820"/>
            <a:chOff x="2898260" y="2820924"/>
            <a:chExt cx="2415540" cy="1607820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49961" y="2839975"/>
              <a:ext cx="2316180" cy="155093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907785" y="2830449"/>
              <a:ext cx="2396490" cy="1588770"/>
            </a:xfrm>
            <a:custGeom>
              <a:avLst/>
              <a:gdLst/>
              <a:ahLst/>
              <a:cxnLst/>
              <a:rect l="l" t="t" r="r" b="b"/>
              <a:pathLst>
                <a:path w="2396490" h="1588770">
                  <a:moveTo>
                    <a:pt x="0" y="0"/>
                  </a:moveTo>
                  <a:lnTo>
                    <a:pt x="2396450" y="0"/>
                  </a:lnTo>
                  <a:lnTo>
                    <a:pt x="2396450" y="1588350"/>
                  </a:lnTo>
                  <a:lnTo>
                    <a:pt x="0" y="158835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5821574" y="2510399"/>
            <a:ext cx="3029585" cy="2066289"/>
            <a:chOff x="5821574" y="2510399"/>
            <a:chExt cx="3029585" cy="2066289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35573" y="2519924"/>
              <a:ext cx="1979433" cy="43449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330810" y="2515162"/>
              <a:ext cx="2056130" cy="452120"/>
            </a:xfrm>
            <a:custGeom>
              <a:avLst/>
              <a:gdLst/>
              <a:ahLst/>
              <a:cxnLst/>
              <a:rect l="l" t="t" r="r" b="b"/>
              <a:pathLst>
                <a:path w="2056129" h="452119">
                  <a:moveTo>
                    <a:pt x="0" y="0"/>
                  </a:moveTo>
                  <a:lnTo>
                    <a:pt x="2055724" y="0"/>
                  </a:lnTo>
                  <a:lnTo>
                    <a:pt x="2055724" y="451849"/>
                  </a:lnTo>
                  <a:lnTo>
                    <a:pt x="0" y="4518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A3141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31100" y="3244099"/>
              <a:ext cx="1279349" cy="5923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826337" y="3239337"/>
              <a:ext cx="1289050" cy="601980"/>
            </a:xfrm>
            <a:custGeom>
              <a:avLst/>
              <a:gdLst/>
              <a:ahLst/>
              <a:cxnLst/>
              <a:rect l="l" t="t" r="r" b="b"/>
              <a:pathLst>
                <a:path w="1289050" h="601979">
                  <a:moveTo>
                    <a:pt x="0" y="0"/>
                  </a:moveTo>
                  <a:lnTo>
                    <a:pt x="1288874" y="0"/>
                  </a:lnTo>
                  <a:lnTo>
                    <a:pt x="1288874" y="601924"/>
                  </a:lnTo>
                  <a:lnTo>
                    <a:pt x="0" y="6019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1B45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671925" y="3974290"/>
              <a:ext cx="1439959" cy="59239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667162" y="3969527"/>
              <a:ext cx="1449705" cy="601980"/>
            </a:xfrm>
            <a:custGeom>
              <a:avLst/>
              <a:gdLst/>
              <a:ahLst/>
              <a:cxnLst/>
              <a:rect l="l" t="t" r="r" b="b"/>
              <a:pathLst>
                <a:path w="1449704" h="601979">
                  <a:moveTo>
                    <a:pt x="0" y="0"/>
                  </a:moveTo>
                  <a:lnTo>
                    <a:pt x="1449484" y="0"/>
                  </a:lnTo>
                  <a:lnTo>
                    <a:pt x="1449484" y="601924"/>
                  </a:lnTo>
                  <a:lnTo>
                    <a:pt x="0" y="6019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1B45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615822" y="3235250"/>
              <a:ext cx="1225202" cy="66694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7611059" y="3230487"/>
              <a:ext cx="1235075" cy="676910"/>
            </a:xfrm>
            <a:custGeom>
              <a:avLst/>
              <a:gdLst/>
              <a:ahLst/>
              <a:cxnLst/>
              <a:rect l="l" t="t" r="r" b="b"/>
              <a:pathLst>
                <a:path w="1235075" h="676910">
                  <a:moveTo>
                    <a:pt x="0" y="0"/>
                  </a:moveTo>
                  <a:lnTo>
                    <a:pt x="1234727" y="0"/>
                  </a:lnTo>
                  <a:lnTo>
                    <a:pt x="1234727" y="676474"/>
                  </a:lnTo>
                  <a:lnTo>
                    <a:pt x="0" y="67647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1B45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772849" y="2984573"/>
              <a:ext cx="534035" cy="205104"/>
            </a:xfrm>
            <a:custGeom>
              <a:avLst/>
              <a:gdLst/>
              <a:ahLst/>
              <a:cxnLst/>
              <a:rect l="l" t="t" r="r" b="b"/>
              <a:pathLst>
                <a:path w="534034" h="205105">
                  <a:moveTo>
                    <a:pt x="533734" y="0"/>
                  </a:moveTo>
                  <a:lnTo>
                    <a:pt x="0" y="204548"/>
                  </a:lnTo>
                </a:path>
              </a:pathLst>
            </a:custGeom>
            <a:ln w="9524">
              <a:solidFill>
                <a:srgbClr val="5700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732485" y="3174431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4" h="30480">
                  <a:moveTo>
                    <a:pt x="0" y="30159"/>
                  </a:moveTo>
                  <a:lnTo>
                    <a:pt x="34732" y="0"/>
                  </a:lnTo>
                  <a:lnTo>
                    <a:pt x="45992" y="29381"/>
                  </a:lnTo>
                  <a:lnTo>
                    <a:pt x="0" y="30159"/>
                  </a:lnTo>
                  <a:close/>
                </a:path>
              </a:pathLst>
            </a:custGeom>
            <a:solidFill>
              <a:srgbClr val="5700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732485" y="3174431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4" h="30480">
                  <a:moveTo>
                    <a:pt x="34732" y="0"/>
                  </a:moveTo>
                  <a:lnTo>
                    <a:pt x="0" y="30159"/>
                  </a:lnTo>
                  <a:lnTo>
                    <a:pt x="45992" y="29381"/>
                  </a:lnTo>
                  <a:lnTo>
                    <a:pt x="34732" y="0"/>
                  </a:lnTo>
                  <a:close/>
                </a:path>
              </a:pathLst>
            </a:custGeom>
            <a:ln w="9524">
              <a:solidFill>
                <a:srgbClr val="5700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302978" y="2993833"/>
              <a:ext cx="153670" cy="902335"/>
            </a:xfrm>
            <a:custGeom>
              <a:avLst/>
              <a:gdLst/>
              <a:ahLst/>
              <a:cxnLst/>
              <a:rect l="l" t="t" r="r" b="b"/>
              <a:pathLst>
                <a:path w="153670" h="902335">
                  <a:moveTo>
                    <a:pt x="153321" y="0"/>
                  </a:moveTo>
                  <a:lnTo>
                    <a:pt x="0" y="901858"/>
                  </a:lnTo>
                </a:path>
              </a:pathLst>
            </a:custGeom>
            <a:ln w="9524">
              <a:solidFill>
                <a:srgbClr val="5700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287468" y="3893054"/>
              <a:ext cx="31115" cy="45720"/>
            </a:xfrm>
            <a:custGeom>
              <a:avLst/>
              <a:gdLst/>
              <a:ahLst/>
              <a:cxnLst/>
              <a:rect l="l" t="t" r="r" b="b"/>
              <a:pathLst>
                <a:path w="31115" h="45720">
                  <a:moveTo>
                    <a:pt x="8265" y="45250"/>
                  </a:moveTo>
                  <a:lnTo>
                    <a:pt x="0" y="0"/>
                  </a:lnTo>
                  <a:lnTo>
                    <a:pt x="31020" y="5273"/>
                  </a:lnTo>
                  <a:lnTo>
                    <a:pt x="8265" y="45250"/>
                  </a:lnTo>
                  <a:close/>
                </a:path>
              </a:pathLst>
            </a:custGeom>
            <a:solidFill>
              <a:srgbClr val="5700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287468" y="3893054"/>
              <a:ext cx="31115" cy="45720"/>
            </a:xfrm>
            <a:custGeom>
              <a:avLst/>
              <a:gdLst/>
              <a:ahLst/>
              <a:cxnLst/>
              <a:rect l="l" t="t" r="r" b="b"/>
              <a:pathLst>
                <a:path w="31115" h="45720">
                  <a:moveTo>
                    <a:pt x="0" y="0"/>
                  </a:moveTo>
                  <a:lnTo>
                    <a:pt x="8265" y="45250"/>
                  </a:lnTo>
                  <a:lnTo>
                    <a:pt x="31020" y="5273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700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574176" y="2984573"/>
              <a:ext cx="421640" cy="184150"/>
            </a:xfrm>
            <a:custGeom>
              <a:avLst/>
              <a:gdLst/>
              <a:ahLst/>
              <a:cxnLst/>
              <a:rect l="l" t="t" r="r" b="b"/>
              <a:pathLst>
                <a:path w="421640" h="184150">
                  <a:moveTo>
                    <a:pt x="0" y="0"/>
                  </a:moveTo>
                  <a:lnTo>
                    <a:pt x="421319" y="183843"/>
                  </a:lnTo>
                </a:path>
              </a:pathLst>
            </a:custGeom>
            <a:ln w="9524">
              <a:solidFill>
                <a:srgbClr val="5700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989203" y="3153997"/>
              <a:ext cx="46355" cy="31750"/>
            </a:xfrm>
            <a:custGeom>
              <a:avLst/>
              <a:gdLst/>
              <a:ahLst/>
              <a:cxnLst/>
              <a:rect l="l" t="t" r="r" b="b"/>
              <a:pathLst>
                <a:path w="46354" h="31750">
                  <a:moveTo>
                    <a:pt x="45909" y="31706"/>
                  </a:moveTo>
                  <a:lnTo>
                    <a:pt x="0" y="28839"/>
                  </a:lnTo>
                  <a:lnTo>
                    <a:pt x="12584" y="0"/>
                  </a:lnTo>
                  <a:lnTo>
                    <a:pt x="45909" y="31706"/>
                  </a:lnTo>
                  <a:close/>
                </a:path>
              </a:pathLst>
            </a:custGeom>
            <a:solidFill>
              <a:srgbClr val="5700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989203" y="3153997"/>
              <a:ext cx="46355" cy="31750"/>
            </a:xfrm>
            <a:custGeom>
              <a:avLst/>
              <a:gdLst/>
              <a:ahLst/>
              <a:cxnLst/>
              <a:rect l="l" t="t" r="r" b="b"/>
              <a:pathLst>
                <a:path w="46354" h="31750">
                  <a:moveTo>
                    <a:pt x="0" y="28839"/>
                  </a:moveTo>
                  <a:lnTo>
                    <a:pt x="45909" y="31706"/>
                  </a:lnTo>
                  <a:lnTo>
                    <a:pt x="12584" y="0"/>
                  </a:lnTo>
                  <a:lnTo>
                    <a:pt x="0" y="28839"/>
                  </a:lnTo>
                  <a:close/>
                </a:path>
              </a:pathLst>
            </a:custGeom>
            <a:ln w="9524">
              <a:solidFill>
                <a:srgbClr val="5700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10" dirty="0"/>
              <a:t>Evaluation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016521"/>
            <a:ext cx="7558405" cy="350774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70"/>
              </a:spcBef>
              <a:buFont typeface="Arial"/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Datasets</a:t>
            </a:r>
            <a:endParaRPr sz="1800">
              <a:latin typeface="Roboto"/>
              <a:cs typeface="Roboto"/>
            </a:endParaRPr>
          </a:p>
          <a:p>
            <a:pPr marL="836294" lvl="1" indent="-351155">
              <a:lnSpc>
                <a:spcPct val="100000"/>
              </a:lnSpc>
              <a:spcBef>
                <a:spcPts val="335"/>
              </a:spcBef>
              <a:buFont typeface="Arial"/>
              <a:buChar char="○"/>
              <a:tabLst>
                <a:tab pos="836294" algn="l"/>
              </a:tabLst>
            </a:pP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GLUE,</a:t>
            </a:r>
            <a:r>
              <a:rPr sz="1600" spc="-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Roboto"/>
                <a:cs typeface="Roboto"/>
              </a:rPr>
              <a:t>SuperGLUE</a:t>
            </a:r>
            <a:r>
              <a:rPr sz="1600" spc="-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Roboto"/>
                <a:cs typeface="Roboto"/>
              </a:rPr>
              <a:t>(General</a:t>
            </a:r>
            <a:r>
              <a:rPr sz="1600" spc="-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Roboto"/>
                <a:cs typeface="Roboto"/>
              </a:rPr>
              <a:t>language</a:t>
            </a:r>
            <a:r>
              <a:rPr sz="1600" spc="-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Roboto"/>
                <a:cs typeface="Roboto"/>
              </a:rPr>
              <a:t>understanding)</a:t>
            </a:r>
            <a:endParaRPr sz="1600">
              <a:latin typeface="Roboto"/>
              <a:cs typeface="Roboto"/>
            </a:endParaRPr>
          </a:p>
          <a:p>
            <a:pPr marL="836294" lvl="1" indent="-351155">
              <a:lnSpc>
                <a:spcPct val="100000"/>
              </a:lnSpc>
              <a:spcBef>
                <a:spcPts val="285"/>
              </a:spcBef>
              <a:buFont typeface="Arial"/>
              <a:buChar char="○"/>
              <a:tabLst>
                <a:tab pos="836294" algn="l"/>
              </a:tabLst>
            </a:pPr>
            <a:r>
              <a:rPr sz="1600" spc="-10" dirty="0">
                <a:solidFill>
                  <a:srgbClr val="595959"/>
                </a:solidFill>
                <a:latin typeface="Roboto"/>
                <a:cs typeface="Roboto"/>
              </a:rPr>
              <a:t>HumanEval</a:t>
            </a:r>
            <a:r>
              <a:rPr sz="16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Roboto"/>
                <a:cs typeface="Roboto"/>
              </a:rPr>
              <a:t>(Coding)</a:t>
            </a:r>
            <a:endParaRPr sz="1600">
              <a:latin typeface="Roboto"/>
              <a:cs typeface="Roboto"/>
            </a:endParaRPr>
          </a:p>
          <a:p>
            <a:pPr marL="836294" lvl="1" indent="-351155">
              <a:lnSpc>
                <a:spcPct val="100000"/>
              </a:lnSpc>
              <a:spcBef>
                <a:spcPts val="290"/>
              </a:spcBef>
              <a:buFont typeface="Arial"/>
              <a:buChar char="○"/>
              <a:tabLst>
                <a:tab pos="836294" algn="l"/>
              </a:tabLst>
            </a:pPr>
            <a:r>
              <a:rPr sz="1600" spc="-10" dirty="0">
                <a:solidFill>
                  <a:srgbClr val="595959"/>
                </a:solidFill>
                <a:latin typeface="Roboto"/>
                <a:cs typeface="Roboto"/>
              </a:rPr>
              <a:t>HellaSwag</a:t>
            </a:r>
            <a:r>
              <a:rPr sz="16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Roboto"/>
                <a:cs typeface="Roboto"/>
              </a:rPr>
              <a:t>(Commonsense</a:t>
            </a:r>
            <a:r>
              <a:rPr sz="16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Roboto"/>
                <a:cs typeface="Roboto"/>
              </a:rPr>
              <a:t>reasoning)</a:t>
            </a:r>
            <a:endParaRPr sz="1600">
              <a:latin typeface="Roboto"/>
              <a:cs typeface="Roboto"/>
            </a:endParaRPr>
          </a:p>
          <a:p>
            <a:pPr marL="836294" lvl="1" indent="-351155">
              <a:lnSpc>
                <a:spcPct val="100000"/>
              </a:lnSpc>
              <a:spcBef>
                <a:spcPts val="290"/>
              </a:spcBef>
              <a:buFont typeface="Arial"/>
              <a:buChar char="○"/>
              <a:tabLst>
                <a:tab pos="836294" algn="l"/>
              </a:tabLst>
            </a:pPr>
            <a:r>
              <a:rPr sz="1600" spc="-10" dirty="0">
                <a:solidFill>
                  <a:srgbClr val="595959"/>
                </a:solidFill>
                <a:latin typeface="Roboto"/>
                <a:cs typeface="Roboto"/>
              </a:rPr>
              <a:t>GSM-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8K</a:t>
            </a:r>
            <a:r>
              <a:rPr sz="1600" spc="1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Roboto"/>
                <a:cs typeface="Roboto"/>
              </a:rPr>
              <a:t>(Math)</a:t>
            </a:r>
            <a:endParaRPr sz="1600">
              <a:latin typeface="Roboto"/>
              <a:cs typeface="Roboto"/>
            </a:endParaRPr>
          </a:p>
          <a:p>
            <a:pPr marL="379095" indent="-366395">
              <a:lnSpc>
                <a:spcPct val="100000"/>
              </a:lnSpc>
              <a:spcBef>
                <a:spcPts val="280"/>
              </a:spcBef>
              <a:buFont typeface="Arial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Human</a:t>
            </a:r>
            <a:r>
              <a:rPr sz="18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Preferences</a:t>
            </a:r>
            <a:endParaRPr sz="1800">
              <a:latin typeface="Roboto"/>
              <a:cs typeface="Roboto"/>
            </a:endParaRPr>
          </a:p>
          <a:p>
            <a:pPr marL="836294" marR="287020" lvl="1" indent="-351790">
              <a:lnSpc>
                <a:spcPct val="114999"/>
              </a:lnSpc>
              <a:spcBef>
                <a:spcPts val="40"/>
              </a:spcBef>
              <a:buClr>
                <a:srgbClr val="595959"/>
              </a:buClr>
              <a:buFont typeface="Arial"/>
              <a:buChar char="○"/>
              <a:tabLst>
                <a:tab pos="836294" algn="l"/>
              </a:tabLst>
            </a:pPr>
            <a:r>
              <a:rPr sz="16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Chatbot</a:t>
            </a:r>
            <a:r>
              <a:rPr sz="1600" u="heavy" spc="-7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 </a:t>
            </a:r>
            <a:r>
              <a:rPr sz="16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Arena</a:t>
            </a:r>
            <a:r>
              <a:rPr sz="1600" u="none" dirty="0">
                <a:solidFill>
                  <a:srgbClr val="595959"/>
                </a:solidFill>
                <a:latin typeface="Roboto"/>
                <a:cs typeface="Roboto"/>
              </a:rPr>
              <a:t>:</a:t>
            </a:r>
            <a:r>
              <a:rPr sz="1600" u="none" spc="-6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u="none" dirty="0">
                <a:solidFill>
                  <a:srgbClr val="595959"/>
                </a:solidFill>
                <a:latin typeface="Roboto"/>
                <a:cs typeface="Roboto"/>
              </a:rPr>
              <a:t>Crowdsourced</a:t>
            </a:r>
            <a:r>
              <a:rPr sz="1600" u="none" spc="-6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u="none" dirty="0">
                <a:solidFill>
                  <a:srgbClr val="595959"/>
                </a:solidFill>
                <a:latin typeface="Roboto"/>
                <a:cs typeface="Roboto"/>
              </a:rPr>
              <a:t>platform</a:t>
            </a:r>
            <a:r>
              <a:rPr sz="1600" u="none" spc="-7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u="none" dirty="0">
                <a:solidFill>
                  <a:srgbClr val="595959"/>
                </a:solidFill>
                <a:latin typeface="Roboto"/>
                <a:cs typeface="Roboto"/>
              </a:rPr>
              <a:t>where</a:t>
            </a:r>
            <a:r>
              <a:rPr sz="1600" u="none" spc="-6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u="none" dirty="0">
                <a:solidFill>
                  <a:srgbClr val="595959"/>
                </a:solidFill>
                <a:latin typeface="Roboto"/>
                <a:cs typeface="Roboto"/>
              </a:rPr>
              <a:t>humans</a:t>
            </a:r>
            <a:r>
              <a:rPr sz="1600" u="none" spc="-6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u="none" dirty="0">
                <a:solidFill>
                  <a:srgbClr val="595959"/>
                </a:solidFill>
                <a:latin typeface="Roboto"/>
                <a:cs typeface="Roboto"/>
              </a:rPr>
              <a:t>vote</a:t>
            </a:r>
            <a:r>
              <a:rPr sz="1600" u="none" spc="-6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u="none" dirty="0">
                <a:solidFill>
                  <a:srgbClr val="595959"/>
                </a:solidFill>
                <a:latin typeface="Roboto"/>
                <a:cs typeface="Roboto"/>
              </a:rPr>
              <a:t>on</a:t>
            </a:r>
            <a:r>
              <a:rPr sz="1600" u="none" spc="-7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u="none" spc="-10" dirty="0">
                <a:solidFill>
                  <a:srgbClr val="595959"/>
                </a:solidFill>
                <a:latin typeface="Roboto"/>
                <a:cs typeface="Roboto"/>
              </a:rPr>
              <a:t>pairwise comparisons</a:t>
            </a:r>
            <a:r>
              <a:rPr sz="1600" u="none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u="none" dirty="0">
                <a:solidFill>
                  <a:srgbClr val="595959"/>
                </a:solidFill>
                <a:latin typeface="Roboto"/>
                <a:cs typeface="Roboto"/>
              </a:rPr>
              <a:t>of</a:t>
            </a:r>
            <a:r>
              <a:rPr sz="1600" u="none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u="none" dirty="0">
                <a:solidFill>
                  <a:srgbClr val="595959"/>
                </a:solidFill>
                <a:latin typeface="Roboto"/>
                <a:cs typeface="Roboto"/>
              </a:rPr>
              <a:t>different</a:t>
            </a:r>
            <a:r>
              <a:rPr sz="1600" u="none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u="none" dirty="0">
                <a:solidFill>
                  <a:srgbClr val="595959"/>
                </a:solidFill>
                <a:latin typeface="Roboto"/>
                <a:cs typeface="Roboto"/>
              </a:rPr>
              <a:t>LLMs</a:t>
            </a:r>
            <a:r>
              <a:rPr sz="1600" u="none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u="none" dirty="0">
                <a:solidFill>
                  <a:srgbClr val="595959"/>
                </a:solidFill>
                <a:latin typeface="Roboto"/>
                <a:cs typeface="Roboto"/>
              </a:rPr>
              <a:t>(akin</a:t>
            </a:r>
            <a:r>
              <a:rPr sz="1600" u="none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u="none" dirty="0">
                <a:solidFill>
                  <a:srgbClr val="595959"/>
                </a:solidFill>
                <a:latin typeface="Roboto"/>
                <a:cs typeface="Roboto"/>
              </a:rPr>
              <a:t>to</a:t>
            </a:r>
            <a:r>
              <a:rPr sz="1600" u="none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u="none" dirty="0">
                <a:solidFill>
                  <a:srgbClr val="595959"/>
                </a:solidFill>
                <a:latin typeface="Roboto"/>
                <a:cs typeface="Roboto"/>
              </a:rPr>
              <a:t>Elo</a:t>
            </a:r>
            <a:r>
              <a:rPr sz="1600" u="none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u="none" dirty="0">
                <a:solidFill>
                  <a:srgbClr val="595959"/>
                </a:solidFill>
                <a:latin typeface="Roboto"/>
                <a:cs typeface="Roboto"/>
              </a:rPr>
              <a:t>rating</a:t>
            </a:r>
            <a:r>
              <a:rPr sz="1600" u="none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u="none" dirty="0">
                <a:solidFill>
                  <a:srgbClr val="595959"/>
                </a:solidFill>
                <a:latin typeface="Roboto"/>
                <a:cs typeface="Roboto"/>
              </a:rPr>
              <a:t>system</a:t>
            </a:r>
            <a:r>
              <a:rPr sz="1600" u="none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u="none" dirty="0">
                <a:solidFill>
                  <a:srgbClr val="595959"/>
                </a:solidFill>
                <a:latin typeface="Roboto"/>
                <a:cs typeface="Roboto"/>
              </a:rPr>
              <a:t>in</a:t>
            </a:r>
            <a:r>
              <a:rPr sz="1600" u="none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u="none" spc="-10" dirty="0">
                <a:solidFill>
                  <a:srgbClr val="595959"/>
                </a:solidFill>
                <a:latin typeface="Roboto"/>
                <a:cs typeface="Roboto"/>
              </a:rPr>
              <a:t>Chess).</a:t>
            </a:r>
            <a:endParaRPr sz="1600">
              <a:latin typeface="Roboto"/>
              <a:cs typeface="Roboto"/>
            </a:endParaRPr>
          </a:p>
          <a:p>
            <a:pPr marL="379095" indent="-366395">
              <a:lnSpc>
                <a:spcPct val="100000"/>
              </a:lnSpc>
              <a:spcBef>
                <a:spcPts val="280"/>
              </a:spcBef>
              <a:buFont typeface="Arial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LLMs</a:t>
            </a:r>
            <a:r>
              <a:rPr sz="1800" spc="-1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as</a:t>
            </a:r>
            <a:r>
              <a:rPr sz="1800" spc="-1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Judges</a:t>
            </a:r>
            <a:endParaRPr sz="1800">
              <a:latin typeface="Roboto"/>
              <a:cs typeface="Roboto"/>
            </a:endParaRPr>
          </a:p>
          <a:p>
            <a:pPr marL="836294" lvl="1" indent="-351155">
              <a:lnSpc>
                <a:spcPct val="100000"/>
              </a:lnSpc>
              <a:spcBef>
                <a:spcPts val="335"/>
              </a:spcBef>
              <a:buFont typeface="Arial"/>
              <a:buChar char="○"/>
              <a:tabLst>
                <a:tab pos="836294" algn="l"/>
              </a:tabLst>
            </a:pP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LLM</a:t>
            </a:r>
            <a:r>
              <a:rPr sz="16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6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Roboto"/>
                <a:cs typeface="Roboto"/>
              </a:rPr>
              <a:t>approximate</a:t>
            </a:r>
            <a:r>
              <a:rPr sz="16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human</a:t>
            </a:r>
            <a:r>
              <a:rPr sz="16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Roboto"/>
                <a:cs typeface="Roboto"/>
              </a:rPr>
              <a:t>preference</a:t>
            </a:r>
            <a:r>
              <a:rPr sz="16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with</a:t>
            </a:r>
            <a:r>
              <a:rPr sz="16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far</a:t>
            </a:r>
            <a:r>
              <a:rPr sz="16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lower</a:t>
            </a:r>
            <a:r>
              <a:rPr sz="16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Roboto"/>
                <a:cs typeface="Roboto"/>
              </a:rPr>
              <a:t>cost!</a:t>
            </a:r>
            <a:endParaRPr sz="1600">
              <a:latin typeface="Roboto"/>
              <a:cs typeface="Roboto"/>
            </a:endParaRPr>
          </a:p>
          <a:p>
            <a:pPr marL="836294" marR="5080" lvl="1" indent="-351790">
              <a:lnSpc>
                <a:spcPct val="114999"/>
              </a:lnSpc>
              <a:buFont typeface="Arial"/>
              <a:buChar char="○"/>
              <a:tabLst>
                <a:tab pos="836294" algn="l"/>
              </a:tabLst>
            </a:pP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L.</a:t>
            </a:r>
            <a:r>
              <a:rPr sz="16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Zheng</a:t>
            </a:r>
            <a:r>
              <a:rPr sz="16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et</a:t>
            </a:r>
            <a:r>
              <a:rPr sz="16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al.</a:t>
            </a:r>
            <a:r>
              <a:rPr sz="16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Judging</a:t>
            </a:r>
            <a:r>
              <a:rPr sz="1600" u="heavy" spc="-4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600" u="heavy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LLM-as-a-</a:t>
            </a:r>
            <a:r>
              <a:rPr sz="16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Judge</a:t>
            </a:r>
            <a:r>
              <a:rPr sz="1600" u="heavy" spc="-4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6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with</a:t>
            </a:r>
            <a:r>
              <a:rPr sz="1600" u="heavy" spc="-4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600" u="heavy" spc="-8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MT-</a:t>
            </a:r>
            <a:r>
              <a:rPr sz="16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Bench</a:t>
            </a:r>
            <a:r>
              <a:rPr sz="1600" u="heavy" spc="-4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6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and</a:t>
            </a:r>
            <a:r>
              <a:rPr sz="1600" u="heavy" spc="-4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6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Chatbot</a:t>
            </a:r>
            <a:r>
              <a:rPr sz="1600" u="heavy" spc="-4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6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Arena</a:t>
            </a:r>
            <a:r>
              <a:rPr sz="1600" u="none" spc="-10" dirty="0">
                <a:solidFill>
                  <a:srgbClr val="595959"/>
                </a:solidFill>
                <a:latin typeface="Roboto"/>
                <a:cs typeface="Roboto"/>
              </a:rPr>
              <a:t>. </a:t>
            </a:r>
            <a:r>
              <a:rPr sz="1600" u="none" dirty="0">
                <a:solidFill>
                  <a:srgbClr val="595959"/>
                </a:solidFill>
                <a:latin typeface="Roboto"/>
                <a:cs typeface="Roboto"/>
              </a:rPr>
              <a:t>NeurIPS</a:t>
            </a:r>
            <a:r>
              <a:rPr sz="1600" u="none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u="none" dirty="0">
                <a:solidFill>
                  <a:srgbClr val="595959"/>
                </a:solidFill>
                <a:latin typeface="Roboto"/>
                <a:cs typeface="Roboto"/>
              </a:rPr>
              <a:t>2023</a:t>
            </a:r>
            <a:r>
              <a:rPr sz="1600" u="none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u="none" spc="-10" dirty="0">
                <a:solidFill>
                  <a:srgbClr val="595959"/>
                </a:solidFill>
                <a:latin typeface="Roboto"/>
                <a:cs typeface="Roboto"/>
              </a:rPr>
              <a:t>Datasets</a:t>
            </a:r>
            <a:r>
              <a:rPr sz="1600" u="none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u="none" dirty="0">
                <a:solidFill>
                  <a:srgbClr val="595959"/>
                </a:solidFill>
                <a:latin typeface="Roboto"/>
                <a:cs typeface="Roboto"/>
              </a:rPr>
              <a:t>and</a:t>
            </a:r>
            <a:r>
              <a:rPr sz="1600" u="none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u="none" spc="-10" dirty="0">
                <a:solidFill>
                  <a:srgbClr val="595959"/>
                </a:solidFill>
                <a:latin typeface="Roboto"/>
                <a:cs typeface="Roboto"/>
              </a:rPr>
              <a:t>Benchmarks</a:t>
            </a:r>
            <a:r>
              <a:rPr sz="1600" u="none" spc="-7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u="none" spc="-10" dirty="0">
                <a:solidFill>
                  <a:srgbClr val="595959"/>
                </a:solidFill>
                <a:latin typeface="Roboto"/>
                <a:cs typeface="Roboto"/>
              </a:rPr>
              <a:t>Track.</a:t>
            </a:r>
            <a:endParaRPr sz="16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How</a:t>
            </a:r>
            <a:r>
              <a:rPr spc="25" dirty="0"/>
              <a:t> </a:t>
            </a:r>
            <a:r>
              <a:rPr dirty="0"/>
              <a:t>Do</a:t>
            </a:r>
            <a:r>
              <a:rPr spc="30" dirty="0"/>
              <a:t> </a:t>
            </a:r>
            <a:r>
              <a:rPr dirty="0"/>
              <a:t>LLMs</a:t>
            </a:r>
            <a:r>
              <a:rPr spc="25" dirty="0"/>
              <a:t> </a:t>
            </a:r>
            <a:r>
              <a:rPr dirty="0"/>
              <a:t>Work:</a:t>
            </a:r>
            <a:r>
              <a:rPr spc="30" dirty="0"/>
              <a:t> </a:t>
            </a:r>
            <a:r>
              <a:rPr dirty="0"/>
              <a:t>Key</a:t>
            </a:r>
            <a:r>
              <a:rPr spc="-20" dirty="0"/>
              <a:t> </a:t>
            </a:r>
            <a:r>
              <a:rPr spc="-10" dirty="0"/>
              <a:t>Topics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475249" y="1216355"/>
            <a:ext cx="7288530" cy="3270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Transformer</a:t>
            </a:r>
            <a:r>
              <a:rPr sz="1800" spc="-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Architecture</a:t>
            </a:r>
            <a:endParaRPr sz="1800">
              <a:latin typeface="Roboto"/>
              <a:cs typeface="Roboto"/>
            </a:endParaRPr>
          </a:p>
          <a:p>
            <a:pPr marL="836294" marR="5080" lvl="1" indent="-367030">
              <a:lnSpc>
                <a:spcPct val="114999"/>
              </a:lnSpc>
              <a:spcBef>
                <a:spcPts val="1000"/>
              </a:spcBef>
              <a:buFont typeface="Arial"/>
              <a:buChar char="○"/>
              <a:tabLst>
                <a:tab pos="836294" algn="l"/>
              </a:tabLst>
            </a:pP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Self-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Attention,</a:t>
            </a:r>
            <a:r>
              <a:rPr sz="1800" spc="-7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Input/Output</a:t>
            </a:r>
            <a:r>
              <a:rPr sz="1800" spc="-7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Processing,</a:t>
            </a:r>
            <a:r>
              <a:rPr sz="1800" spc="-7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Architecture</a:t>
            </a:r>
            <a:r>
              <a:rPr sz="1800" spc="-7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Variations, Training</a:t>
            </a:r>
            <a:r>
              <a:rPr sz="18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and</a:t>
            </a:r>
            <a:r>
              <a:rPr sz="18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Inference</a:t>
            </a:r>
            <a:endParaRPr sz="1800">
              <a:latin typeface="Roboto"/>
              <a:cs typeface="Roboto"/>
            </a:endParaRPr>
          </a:p>
          <a:p>
            <a:pPr marL="379095" indent="-366395">
              <a:lnSpc>
                <a:spcPct val="100000"/>
              </a:lnSpc>
              <a:spcBef>
                <a:spcPts val="1320"/>
              </a:spcBef>
              <a:buFont typeface="Arial"/>
              <a:buChar char="●"/>
              <a:tabLst>
                <a:tab pos="379095" algn="l"/>
              </a:tabLst>
            </a:pPr>
            <a:r>
              <a:rPr sz="1800" spc="-25" dirty="0">
                <a:solidFill>
                  <a:srgbClr val="595959"/>
                </a:solidFill>
                <a:latin typeface="Roboto"/>
                <a:cs typeface="Roboto"/>
              </a:rPr>
              <a:t>Pre-</a:t>
            </a: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Training</a:t>
            </a:r>
            <a:endParaRPr sz="1800">
              <a:latin typeface="Roboto"/>
              <a:cs typeface="Roboto"/>
            </a:endParaRPr>
          </a:p>
          <a:p>
            <a:pPr marL="836294" lvl="1" indent="-366395">
              <a:lnSpc>
                <a:spcPct val="100000"/>
              </a:lnSpc>
              <a:spcBef>
                <a:spcPts val="1325"/>
              </a:spcBef>
              <a:buFont typeface="Arial"/>
              <a:buChar char="○"/>
              <a:tabLst>
                <a:tab pos="836294" algn="l"/>
              </a:tabLst>
            </a:pP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Data</a:t>
            </a:r>
            <a:r>
              <a:rPr sz="18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Preparation</a:t>
            </a:r>
            <a:r>
              <a:rPr sz="18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(Tokenization,</a:t>
            </a:r>
            <a:r>
              <a:rPr sz="18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etc.),</a:t>
            </a:r>
            <a:r>
              <a:rPr sz="18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Parallelism,</a:t>
            </a:r>
            <a:r>
              <a:rPr sz="18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Scaling</a:t>
            </a:r>
            <a:r>
              <a:rPr sz="18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Roboto"/>
                <a:cs typeface="Roboto"/>
              </a:rPr>
              <a:t>Laws</a:t>
            </a:r>
            <a:endParaRPr sz="1800">
              <a:latin typeface="Roboto"/>
              <a:cs typeface="Roboto"/>
            </a:endParaRPr>
          </a:p>
          <a:p>
            <a:pPr marL="379095" indent="-366395">
              <a:lnSpc>
                <a:spcPct val="100000"/>
              </a:lnSpc>
              <a:spcBef>
                <a:spcPts val="1325"/>
              </a:spcBef>
              <a:buFont typeface="Arial"/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Post-Training</a:t>
            </a:r>
            <a:endParaRPr sz="1800">
              <a:latin typeface="Roboto"/>
              <a:cs typeface="Roboto"/>
            </a:endParaRPr>
          </a:p>
          <a:p>
            <a:pPr marL="836294" lvl="1" indent="-366395">
              <a:lnSpc>
                <a:spcPct val="100000"/>
              </a:lnSpc>
              <a:spcBef>
                <a:spcPts val="1325"/>
              </a:spcBef>
              <a:buFont typeface="Arial"/>
              <a:buChar char="○"/>
              <a:tabLst>
                <a:tab pos="836294" algn="l"/>
              </a:tabLst>
            </a:pP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Instruction</a:t>
            </a:r>
            <a:r>
              <a:rPr sz="18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Following/Tuning,</a:t>
            </a:r>
            <a:r>
              <a:rPr sz="18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Alignment</a:t>
            </a:r>
            <a:endParaRPr sz="1800">
              <a:latin typeface="Roboto"/>
              <a:cs typeface="Roboto"/>
            </a:endParaRPr>
          </a:p>
          <a:p>
            <a:pPr marL="379095" indent="-366395">
              <a:lnSpc>
                <a:spcPct val="100000"/>
              </a:lnSpc>
              <a:spcBef>
                <a:spcPts val="1325"/>
              </a:spcBef>
              <a:buFont typeface="Arial"/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Evaluation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64631" y="2266442"/>
            <a:ext cx="401192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Arial"/>
                <a:cs typeface="Arial"/>
              </a:rPr>
              <a:t>What</a:t>
            </a:r>
            <a:r>
              <a:rPr sz="3600" spc="-20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LLMs</a:t>
            </a:r>
            <a:r>
              <a:rPr sz="3600" spc="-15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Can</a:t>
            </a:r>
            <a:r>
              <a:rPr sz="3600" spc="-10" dirty="0">
                <a:latin typeface="Arial"/>
                <a:cs typeface="Arial"/>
              </a:rPr>
              <a:t> </a:t>
            </a:r>
            <a:r>
              <a:rPr sz="3600" spc="-25" dirty="0">
                <a:latin typeface="Arial"/>
                <a:cs typeface="Arial"/>
              </a:rPr>
              <a:t>Do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Evolution</a:t>
            </a:r>
            <a:r>
              <a:rPr spc="35" dirty="0"/>
              <a:t> </a:t>
            </a:r>
            <a:r>
              <a:rPr dirty="0"/>
              <a:t>of</a:t>
            </a:r>
            <a:r>
              <a:rPr spc="35" dirty="0"/>
              <a:t> </a:t>
            </a:r>
            <a:r>
              <a:rPr dirty="0"/>
              <a:t>LMs</a:t>
            </a:r>
            <a:r>
              <a:rPr spc="40" dirty="0"/>
              <a:t> </a:t>
            </a:r>
            <a:r>
              <a:rPr dirty="0"/>
              <a:t>from</a:t>
            </a:r>
            <a:r>
              <a:rPr spc="35" dirty="0"/>
              <a:t> </a:t>
            </a:r>
            <a:r>
              <a:rPr dirty="0"/>
              <a:t>Perspective</a:t>
            </a:r>
            <a:r>
              <a:rPr spc="4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spc="-25" dirty="0"/>
              <a:t>Task-</a:t>
            </a:r>
            <a:r>
              <a:rPr dirty="0"/>
              <a:t>Solving</a:t>
            </a:r>
            <a:r>
              <a:rPr spc="35" dirty="0"/>
              <a:t> </a:t>
            </a:r>
            <a:r>
              <a:rPr spc="-10" dirty="0"/>
              <a:t>Capacity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1005" y="1245427"/>
            <a:ext cx="7830966" cy="267524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405750" y="4364713"/>
            <a:ext cx="45078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W.</a:t>
            </a: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Zhao</a:t>
            </a:r>
            <a:r>
              <a:rPr sz="14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et</a:t>
            </a:r>
            <a:r>
              <a:rPr sz="14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al.</a:t>
            </a:r>
            <a:r>
              <a:rPr sz="14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A</a:t>
            </a:r>
            <a:r>
              <a:rPr sz="1400" u="heavy" spc="-3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Survey</a:t>
            </a:r>
            <a:r>
              <a:rPr sz="1400" u="heavy" spc="-3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of</a:t>
            </a:r>
            <a:r>
              <a:rPr sz="1400" u="heavy" spc="-3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Large</a:t>
            </a:r>
            <a:r>
              <a:rPr sz="1400" u="heavy" spc="-3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4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Language</a:t>
            </a:r>
            <a:r>
              <a:rPr sz="1400" u="heavy" spc="-3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Models</a:t>
            </a:r>
            <a:r>
              <a:rPr sz="1400" u="none" dirty="0">
                <a:solidFill>
                  <a:srgbClr val="595959"/>
                </a:solidFill>
                <a:latin typeface="Roboto"/>
                <a:cs typeface="Roboto"/>
              </a:rPr>
              <a:t>.</a:t>
            </a:r>
            <a:r>
              <a:rPr sz="1400" u="none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u="none" spc="-10" dirty="0">
                <a:solidFill>
                  <a:srgbClr val="595959"/>
                </a:solidFill>
                <a:latin typeface="Roboto"/>
                <a:cs typeface="Roboto"/>
              </a:rPr>
              <a:t>2023.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Few-Shot</a:t>
            </a:r>
            <a:r>
              <a:rPr spc="40" dirty="0"/>
              <a:t> </a:t>
            </a:r>
            <a:r>
              <a:rPr spc="-10" dirty="0"/>
              <a:t>Prompting</a:t>
            </a:r>
          </a:p>
        </p:txBody>
      </p:sp>
      <p:sp>
        <p:nvSpPr>
          <p:cNvPr id="3" name="object 3"/>
          <p:cNvSpPr/>
          <p:nvPr/>
        </p:nvSpPr>
        <p:spPr>
          <a:xfrm>
            <a:off x="1027928" y="1755781"/>
            <a:ext cx="2059305" cy="1985645"/>
          </a:xfrm>
          <a:custGeom>
            <a:avLst/>
            <a:gdLst/>
            <a:ahLst/>
            <a:cxnLst/>
            <a:rect l="l" t="t" r="r" b="b"/>
            <a:pathLst>
              <a:path w="2059305" h="1985645">
                <a:moveTo>
                  <a:pt x="0" y="0"/>
                </a:moveTo>
                <a:lnTo>
                  <a:pt x="2058965" y="0"/>
                </a:lnTo>
                <a:lnTo>
                  <a:pt x="2058965" y="1612591"/>
                </a:lnTo>
                <a:lnTo>
                  <a:pt x="2002818" y="1613213"/>
                </a:lnTo>
                <a:lnTo>
                  <a:pt x="1948710" y="1615039"/>
                </a:lnTo>
                <a:lnTo>
                  <a:pt x="1896564" y="1618010"/>
                </a:lnTo>
                <a:lnTo>
                  <a:pt x="1846301" y="1622064"/>
                </a:lnTo>
                <a:lnTo>
                  <a:pt x="1797842" y="1627142"/>
                </a:lnTo>
                <a:lnTo>
                  <a:pt x="1751109" y="1633183"/>
                </a:lnTo>
                <a:lnTo>
                  <a:pt x="1706024" y="1640128"/>
                </a:lnTo>
                <a:lnTo>
                  <a:pt x="1662508" y="1647916"/>
                </a:lnTo>
                <a:lnTo>
                  <a:pt x="1620482" y="1656488"/>
                </a:lnTo>
                <a:lnTo>
                  <a:pt x="1579869" y="1665783"/>
                </a:lnTo>
                <a:lnTo>
                  <a:pt x="1540589" y="1675740"/>
                </a:lnTo>
                <a:lnTo>
                  <a:pt x="1502564" y="1686301"/>
                </a:lnTo>
                <a:lnTo>
                  <a:pt x="1465717" y="1697404"/>
                </a:lnTo>
                <a:lnTo>
                  <a:pt x="1395238" y="1720998"/>
                </a:lnTo>
                <a:lnTo>
                  <a:pt x="1328526" y="1746042"/>
                </a:lnTo>
                <a:lnTo>
                  <a:pt x="1264951" y="1772054"/>
                </a:lnTo>
                <a:lnTo>
                  <a:pt x="1203887" y="1798554"/>
                </a:lnTo>
                <a:lnTo>
                  <a:pt x="1144706" y="1825059"/>
                </a:lnTo>
                <a:lnTo>
                  <a:pt x="1115626" y="1838164"/>
                </a:lnTo>
                <a:lnTo>
                  <a:pt x="1086781" y="1851091"/>
                </a:lnTo>
                <a:lnTo>
                  <a:pt x="1029482" y="1876166"/>
                </a:lnTo>
                <a:lnTo>
                  <a:pt x="972184" y="1899805"/>
                </a:lnTo>
                <a:lnTo>
                  <a:pt x="914259" y="1921526"/>
                </a:lnTo>
                <a:lnTo>
                  <a:pt x="855078" y="1940849"/>
                </a:lnTo>
                <a:lnTo>
                  <a:pt x="794014" y="1957292"/>
                </a:lnTo>
                <a:lnTo>
                  <a:pt x="730439" y="1970374"/>
                </a:lnTo>
                <a:lnTo>
                  <a:pt x="663727" y="1979615"/>
                </a:lnTo>
                <a:lnTo>
                  <a:pt x="593248" y="1984532"/>
                </a:lnTo>
                <a:lnTo>
                  <a:pt x="556400" y="1985220"/>
                </a:lnTo>
                <a:lnTo>
                  <a:pt x="518376" y="1984647"/>
                </a:lnTo>
                <a:lnTo>
                  <a:pt x="479096" y="1982752"/>
                </a:lnTo>
                <a:lnTo>
                  <a:pt x="438483" y="1979476"/>
                </a:lnTo>
                <a:lnTo>
                  <a:pt x="396457" y="1974758"/>
                </a:lnTo>
                <a:lnTo>
                  <a:pt x="352941" y="1968539"/>
                </a:lnTo>
                <a:lnTo>
                  <a:pt x="307856" y="1960759"/>
                </a:lnTo>
                <a:lnTo>
                  <a:pt x="261123" y="1951356"/>
                </a:lnTo>
                <a:lnTo>
                  <a:pt x="212664" y="1940272"/>
                </a:lnTo>
                <a:lnTo>
                  <a:pt x="162401" y="1927445"/>
                </a:lnTo>
                <a:lnTo>
                  <a:pt x="110255" y="1912816"/>
                </a:lnTo>
                <a:lnTo>
                  <a:pt x="56147" y="1896325"/>
                </a:lnTo>
                <a:lnTo>
                  <a:pt x="0" y="1877912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57000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10575" y="1824713"/>
            <a:ext cx="12103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Q: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“Elon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Musk” </a:t>
            </a:r>
            <a:r>
              <a:rPr sz="1400" dirty="0">
                <a:latin typeface="Arial"/>
                <a:cs typeface="Arial"/>
              </a:rPr>
              <a:t>A: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“nk”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532819" y="1260350"/>
            <a:ext cx="1791970" cy="1178560"/>
          </a:xfrm>
          <a:custGeom>
            <a:avLst/>
            <a:gdLst/>
            <a:ahLst/>
            <a:cxnLst/>
            <a:rect l="l" t="t" r="r" b="b"/>
            <a:pathLst>
              <a:path w="1791970" h="1178560">
                <a:moveTo>
                  <a:pt x="451305" y="112099"/>
                </a:moveTo>
                <a:lnTo>
                  <a:pt x="460114" y="68465"/>
                </a:lnTo>
                <a:lnTo>
                  <a:pt x="484138" y="32833"/>
                </a:lnTo>
                <a:lnTo>
                  <a:pt x="519771" y="8809"/>
                </a:lnTo>
                <a:lnTo>
                  <a:pt x="563405" y="0"/>
                </a:lnTo>
                <a:lnTo>
                  <a:pt x="674655" y="0"/>
                </a:lnTo>
                <a:lnTo>
                  <a:pt x="1009680" y="0"/>
                </a:lnTo>
                <a:lnTo>
                  <a:pt x="1679305" y="0"/>
                </a:lnTo>
                <a:lnTo>
                  <a:pt x="1701277" y="2173"/>
                </a:lnTo>
                <a:lnTo>
                  <a:pt x="1741498" y="18834"/>
                </a:lnTo>
                <a:lnTo>
                  <a:pt x="1772571" y="49906"/>
                </a:lnTo>
                <a:lnTo>
                  <a:pt x="1789231" y="90128"/>
                </a:lnTo>
                <a:lnTo>
                  <a:pt x="1791405" y="112099"/>
                </a:lnTo>
                <a:lnTo>
                  <a:pt x="1791405" y="392349"/>
                </a:lnTo>
                <a:lnTo>
                  <a:pt x="1791405" y="560499"/>
                </a:lnTo>
                <a:lnTo>
                  <a:pt x="1782596" y="604134"/>
                </a:lnTo>
                <a:lnTo>
                  <a:pt x="1758572" y="639766"/>
                </a:lnTo>
                <a:lnTo>
                  <a:pt x="1722939" y="663790"/>
                </a:lnTo>
                <a:lnTo>
                  <a:pt x="1679305" y="672599"/>
                </a:lnTo>
                <a:lnTo>
                  <a:pt x="1009680" y="672599"/>
                </a:lnTo>
                <a:lnTo>
                  <a:pt x="0" y="1178052"/>
                </a:lnTo>
                <a:lnTo>
                  <a:pt x="674655" y="672599"/>
                </a:lnTo>
                <a:lnTo>
                  <a:pt x="563405" y="672599"/>
                </a:lnTo>
                <a:lnTo>
                  <a:pt x="519771" y="663790"/>
                </a:lnTo>
                <a:lnTo>
                  <a:pt x="484138" y="639766"/>
                </a:lnTo>
                <a:lnTo>
                  <a:pt x="460114" y="604134"/>
                </a:lnTo>
                <a:lnTo>
                  <a:pt x="451305" y="560499"/>
                </a:lnTo>
                <a:lnTo>
                  <a:pt x="451305" y="392349"/>
                </a:lnTo>
                <a:lnTo>
                  <a:pt x="451305" y="112099"/>
                </a:lnTo>
                <a:close/>
              </a:path>
            </a:pathLst>
          </a:custGeom>
          <a:ln w="9524">
            <a:solidFill>
              <a:srgbClr val="57000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089983" y="1367287"/>
            <a:ext cx="100330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Arial"/>
                <a:cs typeface="Arial"/>
              </a:rPr>
              <a:t>Ideal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output! </a:t>
            </a:r>
            <a:r>
              <a:rPr sz="1400" spc="-30" dirty="0">
                <a:latin typeface="Arial"/>
                <a:cs typeface="Arial"/>
              </a:rPr>
              <a:t>GPT-</a:t>
            </a:r>
            <a:r>
              <a:rPr sz="1400" dirty="0">
                <a:latin typeface="Arial"/>
                <a:cs typeface="Arial"/>
              </a:rPr>
              <a:t>4: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“am”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10575" y="2464792"/>
            <a:ext cx="11410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Q: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“Bill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Gates” </a:t>
            </a:r>
            <a:r>
              <a:rPr sz="1400" dirty="0">
                <a:latin typeface="Arial"/>
                <a:cs typeface="Arial"/>
              </a:rPr>
              <a:t>A: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“ls”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391537" y="2395537"/>
            <a:ext cx="520065" cy="283845"/>
            <a:chOff x="3391537" y="2395537"/>
            <a:chExt cx="520065" cy="283845"/>
          </a:xfrm>
        </p:grpSpPr>
        <p:sp>
          <p:nvSpPr>
            <p:cNvPr id="9" name="object 9"/>
            <p:cNvSpPr/>
            <p:nvPr/>
          </p:nvSpPr>
          <p:spPr>
            <a:xfrm>
              <a:off x="3396300" y="2400300"/>
              <a:ext cx="510540" cy="274320"/>
            </a:xfrm>
            <a:custGeom>
              <a:avLst/>
              <a:gdLst/>
              <a:ahLst/>
              <a:cxnLst/>
              <a:rect l="l" t="t" r="r" b="b"/>
              <a:pathLst>
                <a:path w="510539" h="274319">
                  <a:moveTo>
                    <a:pt x="373049" y="273899"/>
                  </a:moveTo>
                  <a:lnTo>
                    <a:pt x="373049" y="205424"/>
                  </a:lnTo>
                  <a:lnTo>
                    <a:pt x="0" y="205424"/>
                  </a:lnTo>
                  <a:lnTo>
                    <a:pt x="0" y="68474"/>
                  </a:lnTo>
                  <a:lnTo>
                    <a:pt x="373049" y="68474"/>
                  </a:lnTo>
                  <a:lnTo>
                    <a:pt x="373049" y="0"/>
                  </a:lnTo>
                  <a:lnTo>
                    <a:pt x="509999" y="136949"/>
                  </a:lnTo>
                  <a:lnTo>
                    <a:pt x="373049" y="273899"/>
                  </a:lnTo>
                  <a:close/>
                </a:path>
              </a:pathLst>
            </a:custGeom>
            <a:solidFill>
              <a:srgbClr val="82A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396300" y="2400300"/>
              <a:ext cx="510540" cy="274320"/>
            </a:xfrm>
            <a:custGeom>
              <a:avLst/>
              <a:gdLst/>
              <a:ahLst/>
              <a:cxnLst/>
              <a:rect l="l" t="t" r="r" b="b"/>
              <a:pathLst>
                <a:path w="510539" h="274319">
                  <a:moveTo>
                    <a:pt x="0" y="68474"/>
                  </a:moveTo>
                  <a:lnTo>
                    <a:pt x="373049" y="68474"/>
                  </a:lnTo>
                  <a:lnTo>
                    <a:pt x="373049" y="0"/>
                  </a:lnTo>
                  <a:lnTo>
                    <a:pt x="509999" y="136949"/>
                  </a:lnTo>
                  <a:lnTo>
                    <a:pt x="373049" y="273899"/>
                  </a:lnTo>
                  <a:lnTo>
                    <a:pt x="373049" y="205424"/>
                  </a:lnTo>
                  <a:lnTo>
                    <a:pt x="0" y="205424"/>
                  </a:lnTo>
                  <a:lnTo>
                    <a:pt x="0" y="68474"/>
                  </a:lnTo>
                  <a:close/>
                </a:path>
              </a:pathLst>
            </a:custGeom>
            <a:ln w="9524">
              <a:solidFill>
                <a:srgbClr val="5700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4084999" y="2266950"/>
            <a:ext cx="923925" cy="586105"/>
          </a:xfrm>
          <a:custGeom>
            <a:avLst/>
            <a:gdLst/>
            <a:ahLst/>
            <a:cxnLst/>
            <a:rect l="l" t="t" r="r" b="b"/>
            <a:pathLst>
              <a:path w="923925" h="586105">
                <a:moveTo>
                  <a:pt x="0" y="97601"/>
                </a:moveTo>
                <a:lnTo>
                  <a:pt x="7670" y="59610"/>
                </a:lnTo>
                <a:lnTo>
                  <a:pt x="28586" y="28586"/>
                </a:lnTo>
                <a:lnTo>
                  <a:pt x="59610" y="7670"/>
                </a:lnTo>
                <a:lnTo>
                  <a:pt x="97601" y="0"/>
                </a:lnTo>
                <a:lnTo>
                  <a:pt x="826097" y="0"/>
                </a:lnTo>
                <a:lnTo>
                  <a:pt x="880247" y="16398"/>
                </a:lnTo>
                <a:lnTo>
                  <a:pt x="907301" y="43452"/>
                </a:lnTo>
                <a:lnTo>
                  <a:pt x="923699" y="97601"/>
                </a:lnTo>
                <a:lnTo>
                  <a:pt x="923699" y="487997"/>
                </a:lnTo>
                <a:lnTo>
                  <a:pt x="916029" y="525989"/>
                </a:lnTo>
                <a:lnTo>
                  <a:pt x="895112" y="557013"/>
                </a:lnTo>
                <a:lnTo>
                  <a:pt x="864089" y="577929"/>
                </a:lnTo>
                <a:lnTo>
                  <a:pt x="826097" y="585599"/>
                </a:lnTo>
                <a:lnTo>
                  <a:pt x="97601" y="585599"/>
                </a:lnTo>
                <a:lnTo>
                  <a:pt x="59610" y="577929"/>
                </a:lnTo>
                <a:lnTo>
                  <a:pt x="28586" y="557013"/>
                </a:lnTo>
                <a:lnTo>
                  <a:pt x="7670" y="525989"/>
                </a:lnTo>
                <a:lnTo>
                  <a:pt x="0" y="487997"/>
                </a:lnTo>
                <a:lnTo>
                  <a:pt x="0" y="97601"/>
                </a:lnTo>
                <a:close/>
              </a:path>
            </a:pathLst>
          </a:custGeom>
          <a:ln w="19049">
            <a:solidFill>
              <a:srgbClr val="57000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288149" y="2369186"/>
            <a:ext cx="51689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0" spc="-25" dirty="0">
                <a:latin typeface="Gill Sans"/>
                <a:cs typeface="Gill Sans"/>
              </a:rPr>
              <a:t>LLM</a:t>
            </a:r>
            <a:endParaRPr sz="2200">
              <a:latin typeface="Gill Sans"/>
              <a:cs typeface="Gill San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258837" y="2418987"/>
            <a:ext cx="520065" cy="283845"/>
            <a:chOff x="5258837" y="2418987"/>
            <a:chExt cx="520065" cy="283845"/>
          </a:xfrm>
        </p:grpSpPr>
        <p:sp>
          <p:nvSpPr>
            <p:cNvPr id="12" name="object 12"/>
            <p:cNvSpPr/>
            <p:nvPr/>
          </p:nvSpPr>
          <p:spPr>
            <a:xfrm>
              <a:off x="5263600" y="2423749"/>
              <a:ext cx="510540" cy="274320"/>
            </a:xfrm>
            <a:custGeom>
              <a:avLst/>
              <a:gdLst/>
              <a:ahLst/>
              <a:cxnLst/>
              <a:rect l="l" t="t" r="r" b="b"/>
              <a:pathLst>
                <a:path w="510539" h="274319">
                  <a:moveTo>
                    <a:pt x="373049" y="273899"/>
                  </a:moveTo>
                  <a:lnTo>
                    <a:pt x="373049" y="205424"/>
                  </a:lnTo>
                  <a:lnTo>
                    <a:pt x="0" y="205424"/>
                  </a:lnTo>
                  <a:lnTo>
                    <a:pt x="0" y="68474"/>
                  </a:lnTo>
                  <a:lnTo>
                    <a:pt x="373049" y="68474"/>
                  </a:lnTo>
                  <a:lnTo>
                    <a:pt x="373049" y="0"/>
                  </a:lnTo>
                  <a:lnTo>
                    <a:pt x="509999" y="136949"/>
                  </a:lnTo>
                  <a:lnTo>
                    <a:pt x="373049" y="273899"/>
                  </a:lnTo>
                  <a:close/>
                </a:path>
              </a:pathLst>
            </a:custGeom>
            <a:solidFill>
              <a:srgbClr val="82A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263600" y="2423749"/>
              <a:ext cx="510540" cy="274320"/>
            </a:xfrm>
            <a:custGeom>
              <a:avLst/>
              <a:gdLst/>
              <a:ahLst/>
              <a:cxnLst/>
              <a:rect l="l" t="t" r="r" b="b"/>
              <a:pathLst>
                <a:path w="510539" h="274319">
                  <a:moveTo>
                    <a:pt x="0" y="68474"/>
                  </a:moveTo>
                  <a:lnTo>
                    <a:pt x="373049" y="68474"/>
                  </a:lnTo>
                  <a:lnTo>
                    <a:pt x="373049" y="0"/>
                  </a:lnTo>
                  <a:lnTo>
                    <a:pt x="509999" y="136949"/>
                  </a:lnTo>
                  <a:lnTo>
                    <a:pt x="373049" y="273899"/>
                  </a:lnTo>
                  <a:lnTo>
                    <a:pt x="373049" y="205424"/>
                  </a:lnTo>
                  <a:lnTo>
                    <a:pt x="0" y="205424"/>
                  </a:lnTo>
                  <a:lnTo>
                    <a:pt x="0" y="68474"/>
                  </a:lnTo>
                  <a:close/>
                </a:path>
              </a:pathLst>
            </a:custGeom>
            <a:ln w="9524">
              <a:solidFill>
                <a:srgbClr val="5700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101525" y="2432374"/>
            <a:ext cx="3321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Arial"/>
                <a:cs typeface="Arial"/>
              </a:rPr>
              <a:t>“ka”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10575" y="3104872"/>
            <a:ext cx="156654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Q: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“Barack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Obama” </a:t>
            </a:r>
            <a:r>
              <a:rPr sz="1400" spc="-25" dirty="0">
                <a:latin typeface="Arial"/>
                <a:cs typeface="Arial"/>
              </a:rPr>
              <a:t>A: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24749" y="4364713"/>
            <a:ext cx="56172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80" dirty="0">
                <a:solidFill>
                  <a:srgbClr val="595959"/>
                </a:solidFill>
                <a:latin typeface="Roboto"/>
                <a:cs typeface="Roboto"/>
              </a:rPr>
              <a:t>T.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Brown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et</a:t>
            </a:r>
            <a:r>
              <a:rPr sz="14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al.</a:t>
            </a:r>
            <a:r>
              <a:rPr sz="14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Language</a:t>
            </a:r>
            <a:r>
              <a:rPr sz="1400" u="heavy" spc="-3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Models</a:t>
            </a:r>
            <a:r>
              <a:rPr sz="1400" u="heavy" spc="-3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are</a:t>
            </a:r>
            <a:r>
              <a:rPr sz="1400" u="heavy" spc="-2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 </a:t>
            </a:r>
            <a:r>
              <a:rPr sz="14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Few-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Shot</a:t>
            </a:r>
            <a:r>
              <a:rPr sz="1400" u="heavy" spc="-3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Learners</a:t>
            </a:r>
            <a:r>
              <a:rPr sz="1400" u="none" dirty="0">
                <a:solidFill>
                  <a:srgbClr val="595959"/>
                </a:solidFill>
                <a:latin typeface="Roboto"/>
                <a:cs typeface="Roboto"/>
              </a:rPr>
              <a:t>.</a:t>
            </a:r>
            <a:r>
              <a:rPr sz="1400" u="none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u="none" dirty="0">
                <a:solidFill>
                  <a:srgbClr val="595959"/>
                </a:solidFill>
                <a:latin typeface="Roboto"/>
                <a:cs typeface="Roboto"/>
              </a:rPr>
              <a:t>NeurIPS</a:t>
            </a:r>
            <a:r>
              <a:rPr sz="1400" u="none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u="none" spc="-10" dirty="0">
                <a:solidFill>
                  <a:srgbClr val="595959"/>
                </a:solidFill>
                <a:latin typeface="Roboto"/>
                <a:cs typeface="Roboto"/>
              </a:rPr>
              <a:t>2020.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Chain-of-Thought</a:t>
            </a:r>
            <a:r>
              <a:rPr spc="105" dirty="0"/>
              <a:t> </a:t>
            </a:r>
            <a:r>
              <a:rPr spc="-10" dirty="0"/>
              <a:t>Prompting</a:t>
            </a:r>
          </a:p>
        </p:txBody>
      </p:sp>
      <p:sp>
        <p:nvSpPr>
          <p:cNvPr id="3" name="object 3"/>
          <p:cNvSpPr/>
          <p:nvPr/>
        </p:nvSpPr>
        <p:spPr>
          <a:xfrm>
            <a:off x="489249" y="1527175"/>
            <a:ext cx="2746375" cy="1985645"/>
          </a:xfrm>
          <a:custGeom>
            <a:avLst/>
            <a:gdLst/>
            <a:ahLst/>
            <a:cxnLst/>
            <a:rect l="l" t="t" r="r" b="b"/>
            <a:pathLst>
              <a:path w="2746375" h="1985645">
                <a:moveTo>
                  <a:pt x="0" y="0"/>
                </a:moveTo>
                <a:lnTo>
                  <a:pt x="2745899" y="0"/>
                </a:lnTo>
                <a:lnTo>
                  <a:pt x="2745899" y="1612591"/>
                </a:lnTo>
                <a:lnTo>
                  <a:pt x="2685333" y="1612996"/>
                </a:lnTo>
                <a:lnTo>
                  <a:pt x="2626546" y="1614192"/>
                </a:lnTo>
                <a:lnTo>
                  <a:pt x="2569485" y="1616145"/>
                </a:lnTo>
                <a:lnTo>
                  <a:pt x="2514094" y="1618825"/>
                </a:lnTo>
                <a:lnTo>
                  <a:pt x="2460320" y="1622201"/>
                </a:lnTo>
                <a:lnTo>
                  <a:pt x="2408107" y="1626240"/>
                </a:lnTo>
                <a:lnTo>
                  <a:pt x="2357400" y="1630912"/>
                </a:lnTo>
                <a:lnTo>
                  <a:pt x="2308145" y="1636185"/>
                </a:lnTo>
                <a:lnTo>
                  <a:pt x="2260286" y="1642027"/>
                </a:lnTo>
                <a:lnTo>
                  <a:pt x="2213770" y="1648407"/>
                </a:lnTo>
                <a:lnTo>
                  <a:pt x="2168541" y="1655293"/>
                </a:lnTo>
                <a:lnTo>
                  <a:pt x="2124545" y="1662655"/>
                </a:lnTo>
                <a:lnTo>
                  <a:pt x="2081726" y="1670460"/>
                </a:lnTo>
                <a:lnTo>
                  <a:pt x="2040031" y="1678677"/>
                </a:lnTo>
                <a:lnTo>
                  <a:pt x="1999403" y="1687274"/>
                </a:lnTo>
                <a:lnTo>
                  <a:pt x="1959789" y="1696221"/>
                </a:lnTo>
                <a:lnTo>
                  <a:pt x="1921133" y="1705485"/>
                </a:lnTo>
                <a:lnTo>
                  <a:pt x="1883382" y="1715035"/>
                </a:lnTo>
                <a:lnTo>
                  <a:pt x="1846479" y="1724840"/>
                </a:lnTo>
                <a:lnTo>
                  <a:pt x="1775002" y="1745087"/>
                </a:lnTo>
                <a:lnTo>
                  <a:pt x="1706264" y="1765976"/>
                </a:lnTo>
                <a:lnTo>
                  <a:pt x="1639827" y="1787253"/>
                </a:lnTo>
                <a:lnTo>
                  <a:pt x="1575252" y="1808667"/>
                </a:lnTo>
                <a:lnTo>
                  <a:pt x="1512101" y="1829967"/>
                </a:lnTo>
                <a:lnTo>
                  <a:pt x="1480923" y="1840495"/>
                </a:lnTo>
                <a:lnTo>
                  <a:pt x="1419087" y="1861150"/>
                </a:lnTo>
                <a:lnTo>
                  <a:pt x="1357580" y="1881061"/>
                </a:lnTo>
                <a:lnTo>
                  <a:pt x="1295963" y="1899975"/>
                </a:lnTo>
                <a:lnTo>
                  <a:pt x="1233798" y="1917642"/>
                </a:lnTo>
                <a:lnTo>
                  <a:pt x="1170647" y="1933808"/>
                </a:lnTo>
                <a:lnTo>
                  <a:pt x="1106072" y="1948223"/>
                </a:lnTo>
                <a:lnTo>
                  <a:pt x="1039635" y="1960635"/>
                </a:lnTo>
                <a:lnTo>
                  <a:pt x="970897" y="1970791"/>
                </a:lnTo>
                <a:lnTo>
                  <a:pt x="899420" y="1978440"/>
                </a:lnTo>
                <a:lnTo>
                  <a:pt x="824766" y="1983330"/>
                </a:lnTo>
                <a:lnTo>
                  <a:pt x="786110" y="1984662"/>
                </a:lnTo>
                <a:lnTo>
                  <a:pt x="746496" y="1985209"/>
                </a:lnTo>
                <a:lnTo>
                  <a:pt x="705868" y="1984941"/>
                </a:lnTo>
                <a:lnTo>
                  <a:pt x="664173" y="1983826"/>
                </a:lnTo>
                <a:lnTo>
                  <a:pt x="621354" y="1981832"/>
                </a:lnTo>
                <a:lnTo>
                  <a:pt x="577358" y="1978927"/>
                </a:lnTo>
                <a:lnTo>
                  <a:pt x="532129" y="1975082"/>
                </a:lnTo>
                <a:lnTo>
                  <a:pt x="485612" y="1970263"/>
                </a:lnTo>
                <a:lnTo>
                  <a:pt x="437754" y="1964440"/>
                </a:lnTo>
                <a:lnTo>
                  <a:pt x="388499" y="1957580"/>
                </a:lnTo>
                <a:lnTo>
                  <a:pt x="337792" y="1949654"/>
                </a:lnTo>
                <a:lnTo>
                  <a:pt x="285579" y="1940628"/>
                </a:lnTo>
                <a:lnTo>
                  <a:pt x="231805" y="1930471"/>
                </a:lnTo>
                <a:lnTo>
                  <a:pt x="176414" y="1919153"/>
                </a:lnTo>
                <a:lnTo>
                  <a:pt x="119353" y="1906641"/>
                </a:lnTo>
                <a:lnTo>
                  <a:pt x="60566" y="1892905"/>
                </a:lnTo>
                <a:lnTo>
                  <a:pt x="0" y="1877912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57000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33375" y="1596113"/>
            <a:ext cx="2487930" cy="109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Q: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“Elon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Musk”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1400" dirty="0">
                <a:latin typeface="Arial"/>
                <a:cs typeface="Arial"/>
              </a:rPr>
              <a:t>A: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last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letter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"Elon"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"n".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last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letter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"Musk"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-20" dirty="0">
                <a:latin typeface="Arial"/>
                <a:cs typeface="Arial"/>
              </a:rPr>
              <a:t> "k". </a:t>
            </a:r>
            <a:r>
              <a:rPr sz="1400" dirty="0">
                <a:latin typeface="Arial"/>
                <a:cs typeface="Arial"/>
              </a:rPr>
              <a:t>Concatenating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"n",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"k"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leads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to </a:t>
            </a:r>
            <a:r>
              <a:rPr sz="1400" dirty="0">
                <a:latin typeface="Arial"/>
                <a:cs typeface="Arial"/>
              </a:rPr>
              <a:t>"nk".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so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output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"nk"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391537" y="2395537"/>
            <a:ext cx="520065" cy="283845"/>
            <a:chOff x="3391537" y="2395537"/>
            <a:chExt cx="520065" cy="283845"/>
          </a:xfrm>
        </p:grpSpPr>
        <p:sp>
          <p:nvSpPr>
            <p:cNvPr id="10" name="object 10"/>
            <p:cNvSpPr/>
            <p:nvPr/>
          </p:nvSpPr>
          <p:spPr>
            <a:xfrm>
              <a:off x="3396300" y="2400300"/>
              <a:ext cx="510540" cy="274320"/>
            </a:xfrm>
            <a:custGeom>
              <a:avLst/>
              <a:gdLst/>
              <a:ahLst/>
              <a:cxnLst/>
              <a:rect l="l" t="t" r="r" b="b"/>
              <a:pathLst>
                <a:path w="510539" h="274319">
                  <a:moveTo>
                    <a:pt x="373049" y="273899"/>
                  </a:moveTo>
                  <a:lnTo>
                    <a:pt x="373049" y="205424"/>
                  </a:lnTo>
                  <a:lnTo>
                    <a:pt x="0" y="205424"/>
                  </a:lnTo>
                  <a:lnTo>
                    <a:pt x="0" y="68474"/>
                  </a:lnTo>
                  <a:lnTo>
                    <a:pt x="373049" y="68474"/>
                  </a:lnTo>
                  <a:lnTo>
                    <a:pt x="373049" y="0"/>
                  </a:lnTo>
                  <a:lnTo>
                    <a:pt x="509999" y="136949"/>
                  </a:lnTo>
                  <a:lnTo>
                    <a:pt x="373049" y="273899"/>
                  </a:lnTo>
                  <a:close/>
                </a:path>
              </a:pathLst>
            </a:custGeom>
            <a:solidFill>
              <a:srgbClr val="82A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396300" y="2400300"/>
              <a:ext cx="510540" cy="274320"/>
            </a:xfrm>
            <a:custGeom>
              <a:avLst/>
              <a:gdLst/>
              <a:ahLst/>
              <a:cxnLst/>
              <a:rect l="l" t="t" r="r" b="b"/>
              <a:pathLst>
                <a:path w="510539" h="274319">
                  <a:moveTo>
                    <a:pt x="0" y="68474"/>
                  </a:moveTo>
                  <a:lnTo>
                    <a:pt x="373049" y="68474"/>
                  </a:lnTo>
                  <a:lnTo>
                    <a:pt x="373049" y="0"/>
                  </a:lnTo>
                  <a:lnTo>
                    <a:pt x="509999" y="136949"/>
                  </a:lnTo>
                  <a:lnTo>
                    <a:pt x="373049" y="273899"/>
                  </a:lnTo>
                  <a:lnTo>
                    <a:pt x="373049" y="205424"/>
                  </a:lnTo>
                  <a:lnTo>
                    <a:pt x="0" y="205424"/>
                  </a:lnTo>
                  <a:lnTo>
                    <a:pt x="0" y="68474"/>
                  </a:lnTo>
                  <a:close/>
                </a:path>
              </a:pathLst>
            </a:custGeom>
            <a:ln w="9524">
              <a:solidFill>
                <a:srgbClr val="5700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/>
          <p:nvPr/>
        </p:nvSpPr>
        <p:spPr>
          <a:xfrm>
            <a:off x="4084999" y="2266950"/>
            <a:ext cx="923925" cy="586105"/>
          </a:xfrm>
          <a:custGeom>
            <a:avLst/>
            <a:gdLst/>
            <a:ahLst/>
            <a:cxnLst/>
            <a:rect l="l" t="t" r="r" b="b"/>
            <a:pathLst>
              <a:path w="923925" h="586105">
                <a:moveTo>
                  <a:pt x="0" y="97601"/>
                </a:moveTo>
                <a:lnTo>
                  <a:pt x="7670" y="59610"/>
                </a:lnTo>
                <a:lnTo>
                  <a:pt x="28586" y="28586"/>
                </a:lnTo>
                <a:lnTo>
                  <a:pt x="59610" y="7670"/>
                </a:lnTo>
                <a:lnTo>
                  <a:pt x="97601" y="0"/>
                </a:lnTo>
                <a:lnTo>
                  <a:pt x="826097" y="0"/>
                </a:lnTo>
                <a:lnTo>
                  <a:pt x="880247" y="16398"/>
                </a:lnTo>
                <a:lnTo>
                  <a:pt x="907301" y="43452"/>
                </a:lnTo>
                <a:lnTo>
                  <a:pt x="923699" y="97601"/>
                </a:lnTo>
                <a:lnTo>
                  <a:pt x="923699" y="487997"/>
                </a:lnTo>
                <a:lnTo>
                  <a:pt x="916029" y="525989"/>
                </a:lnTo>
                <a:lnTo>
                  <a:pt x="895112" y="557013"/>
                </a:lnTo>
                <a:lnTo>
                  <a:pt x="864089" y="577929"/>
                </a:lnTo>
                <a:lnTo>
                  <a:pt x="826097" y="585599"/>
                </a:lnTo>
                <a:lnTo>
                  <a:pt x="97601" y="585599"/>
                </a:lnTo>
                <a:lnTo>
                  <a:pt x="59610" y="577929"/>
                </a:lnTo>
                <a:lnTo>
                  <a:pt x="28586" y="557013"/>
                </a:lnTo>
                <a:lnTo>
                  <a:pt x="7670" y="525989"/>
                </a:lnTo>
                <a:lnTo>
                  <a:pt x="0" y="487997"/>
                </a:lnTo>
                <a:lnTo>
                  <a:pt x="0" y="97601"/>
                </a:lnTo>
                <a:close/>
              </a:path>
            </a:pathLst>
          </a:custGeom>
          <a:ln w="19049">
            <a:solidFill>
              <a:srgbClr val="57000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288149" y="2369186"/>
            <a:ext cx="51689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0" spc="-25" dirty="0">
                <a:latin typeface="Gill Sans"/>
                <a:cs typeface="Gill Sans"/>
              </a:rPr>
              <a:t>LLM</a:t>
            </a:r>
            <a:endParaRPr sz="2200">
              <a:latin typeface="Gill Sans"/>
              <a:cs typeface="Gill San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258837" y="2418987"/>
            <a:ext cx="520065" cy="283845"/>
            <a:chOff x="5258837" y="2418987"/>
            <a:chExt cx="520065" cy="283845"/>
          </a:xfrm>
        </p:grpSpPr>
        <p:sp>
          <p:nvSpPr>
            <p:cNvPr id="13" name="object 13"/>
            <p:cNvSpPr/>
            <p:nvPr/>
          </p:nvSpPr>
          <p:spPr>
            <a:xfrm>
              <a:off x="5263600" y="2423749"/>
              <a:ext cx="510540" cy="274320"/>
            </a:xfrm>
            <a:custGeom>
              <a:avLst/>
              <a:gdLst/>
              <a:ahLst/>
              <a:cxnLst/>
              <a:rect l="l" t="t" r="r" b="b"/>
              <a:pathLst>
                <a:path w="510539" h="274319">
                  <a:moveTo>
                    <a:pt x="373049" y="273899"/>
                  </a:moveTo>
                  <a:lnTo>
                    <a:pt x="373049" y="205424"/>
                  </a:lnTo>
                  <a:lnTo>
                    <a:pt x="0" y="205424"/>
                  </a:lnTo>
                  <a:lnTo>
                    <a:pt x="0" y="68474"/>
                  </a:lnTo>
                  <a:lnTo>
                    <a:pt x="373049" y="68474"/>
                  </a:lnTo>
                  <a:lnTo>
                    <a:pt x="373049" y="0"/>
                  </a:lnTo>
                  <a:lnTo>
                    <a:pt x="509999" y="136949"/>
                  </a:lnTo>
                  <a:lnTo>
                    <a:pt x="373049" y="273899"/>
                  </a:lnTo>
                  <a:close/>
                </a:path>
              </a:pathLst>
            </a:custGeom>
            <a:solidFill>
              <a:srgbClr val="82A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263600" y="2423749"/>
              <a:ext cx="510540" cy="274320"/>
            </a:xfrm>
            <a:custGeom>
              <a:avLst/>
              <a:gdLst/>
              <a:ahLst/>
              <a:cxnLst/>
              <a:rect l="l" t="t" r="r" b="b"/>
              <a:pathLst>
                <a:path w="510539" h="274319">
                  <a:moveTo>
                    <a:pt x="0" y="68474"/>
                  </a:moveTo>
                  <a:lnTo>
                    <a:pt x="373049" y="68474"/>
                  </a:lnTo>
                  <a:lnTo>
                    <a:pt x="373049" y="0"/>
                  </a:lnTo>
                  <a:lnTo>
                    <a:pt x="509999" y="136949"/>
                  </a:lnTo>
                  <a:lnTo>
                    <a:pt x="373049" y="273899"/>
                  </a:lnTo>
                  <a:lnTo>
                    <a:pt x="373049" y="205424"/>
                  </a:lnTo>
                  <a:lnTo>
                    <a:pt x="0" y="205424"/>
                  </a:lnTo>
                  <a:lnTo>
                    <a:pt x="0" y="68474"/>
                  </a:lnTo>
                  <a:close/>
                </a:path>
              </a:pathLst>
            </a:custGeom>
            <a:ln w="9524">
              <a:solidFill>
                <a:srgbClr val="5700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33375" y="2876272"/>
            <a:ext cx="156654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Q: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“Barack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Obama” </a:t>
            </a:r>
            <a:r>
              <a:rPr sz="1400" spc="-25" dirty="0">
                <a:latin typeface="Arial"/>
                <a:cs typeface="Arial"/>
              </a:rPr>
              <a:t>A: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/>
          <p:nvPr/>
        </p:nvSpPr>
        <p:spPr>
          <a:xfrm>
            <a:off x="6010950" y="1516025"/>
            <a:ext cx="2429510" cy="1985645"/>
          </a:xfrm>
          <a:custGeom>
            <a:avLst/>
            <a:gdLst/>
            <a:ahLst/>
            <a:cxnLst/>
            <a:rect l="l" t="t" r="r" b="b"/>
            <a:pathLst>
              <a:path w="2429509" h="1985645">
                <a:moveTo>
                  <a:pt x="0" y="0"/>
                </a:moveTo>
                <a:lnTo>
                  <a:pt x="2429406" y="0"/>
                </a:lnTo>
                <a:lnTo>
                  <a:pt x="2429406" y="1612591"/>
                </a:lnTo>
                <a:lnTo>
                  <a:pt x="2370635" y="1613080"/>
                </a:lnTo>
                <a:lnTo>
                  <a:pt x="2313758" y="1614517"/>
                </a:lnTo>
                <a:lnTo>
                  <a:pt x="2258712" y="1616862"/>
                </a:lnTo>
                <a:lnTo>
                  <a:pt x="2205432" y="1620072"/>
                </a:lnTo>
                <a:lnTo>
                  <a:pt x="2153854" y="1624106"/>
                </a:lnTo>
                <a:lnTo>
                  <a:pt x="2103913" y="1628923"/>
                </a:lnTo>
                <a:lnTo>
                  <a:pt x="2055546" y="1634480"/>
                </a:lnTo>
                <a:lnTo>
                  <a:pt x="2008687" y="1640736"/>
                </a:lnTo>
                <a:lnTo>
                  <a:pt x="1963274" y="1647648"/>
                </a:lnTo>
                <a:lnTo>
                  <a:pt x="1919241" y="1655176"/>
                </a:lnTo>
                <a:lnTo>
                  <a:pt x="1876525" y="1663278"/>
                </a:lnTo>
                <a:lnTo>
                  <a:pt x="1835061" y="1671912"/>
                </a:lnTo>
                <a:lnTo>
                  <a:pt x="1794785" y="1681036"/>
                </a:lnTo>
                <a:lnTo>
                  <a:pt x="1755633" y="1690608"/>
                </a:lnTo>
                <a:lnTo>
                  <a:pt x="1717541" y="1700587"/>
                </a:lnTo>
                <a:lnTo>
                  <a:pt x="1680444" y="1710931"/>
                </a:lnTo>
                <a:lnTo>
                  <a:pt x="1608979" y="1732548"/>
                </a:lnTo>
                <a:lnTo>
                  <a:pt x="1540725" y="1755125"/>
                </a:lnTo>
                <a:lnTo>
                  <a:pt x="1475168" y="1778327"/>
                </a:lnTo>
                <a:lnTo>
                  <a:pt x="1411795" y="1801822"/>
                </a:lnTo>
                <a:lnTo>
                  <a:pt x="1350092" y="1825275"/>
                </a:lnTo>
                <a:lnTo>
                  <a:pt x="1319706" y="1836882"/>
                </a:lnTo>
                <a:lnTo>
                  <a:pt x="1289544" y="1848354"/>
                </a:lnTo>
                <a:lnTo>
                  <a:pt x="1229639" y="1870724"/>
                </a:lnTo>
                <a:lnTo>
                  <a:pt x="1169862" y="1892051"/>
                </a:lnTo>
                <a:lnTo>
                  <a:pt x="1109700" y="1912002"/>
                </a:lnTo>
                <a:lnTo>
                  <a:pt x="1048638" y="1930244"/>
                </a:lnTo>
                <a:lnTo>
                  <a:pt x="986164" y="1946442"/>
                </a:lnTo>
                <a:lnTo>
                  <a:pt x="921763" y="1960262"/>
                </a:lnTo>
                <a:lnTo>
                  <a:pt x="854922" y="1971372"/>
                </a:lnTo>
                <a:lnTo>
                  <a:pt x="785127" y="1979438"/>
                </a:lnTo>
                <a:lnTo>
                  <a:pt x="711864" y="1984125"/>
                </a:lnTo>
                <a:lnTo>
                  <a:pt x="673772" y="1985097"/>
                </a:lnTo>
                <a:lnTo>
                  <a:pt x="634620" y="1985100"/>
                </a:lnTo>
                <a:lnTo>
                  <a:pt x="594344" y="1984091"/>
                </a:lnTo>
                <a:lnTo>
                  <a:pt x="552880" y="1982029"/>
                </a:lnTo>
                <a:lnTo>
                  <a:pt x="510164" y="1978872"/>
                </a:lnTo>
                <a:lnTo>
                  <a:pt x="466131" y="1974579"/>
                </a:lnTo>
                <a:lnTo>
                  <a:pt x="420718" y="1969107"/>
                </a:lnTo>
                <a:lnTo>
                  <a:pt x="373860" y="1962416"/>
                </a:lnTo>
                <a:lnTo>
                  <a:pt x="325492" y="1954463"/>
                </a:lnTo>
                <a:lnTo>
                  <a:pt x="275551" y="1945206"/>
                </a:lnTo>
                <a:lnTo>
                  <a:pt x="223973" y="1934604"/>
                </a:lnTo>
                <a:lnTo>
                  <a:pt x="170693" y="1922616"/>
                </a:lnTo>
                <a:lnTo>
                  <a:pt x="115647" y="1909199"/>
                </a:lnTo>
                <a:lnTo>
                  <a:pt x="58770" y="1894311"/>
                </a:lnTo>
                <a:lnTo>
                  <a:pt x="0" y="1877912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57000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101825" y="1631169"/>
            <a:ext cx="2233295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3975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A: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last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letter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"Barack"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"k".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last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letter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of </a:t>
            </a:r>
            <a:r>
              <a:rPr sz="1400" dirty="0">
                <a:latin typeface="Arial"/>
                <a:cs typeface="Arial"/>
              </a:rPr>
              <a:t>"Obama"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"a".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1400" dirty="0">
                <a:latin typeface="Arial"/>
                <a:cs typeface="Arial"/>
              </a:rPr>
              <a:t>Concatenating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"k",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"a"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leads </a:t>
            </a:r>
            <a:r>
              <a:rPr sz="1400" dirty="0">
                <a:latin typeface="Arial"/>
                <a:cs typeface="Arial"/>
              </a:rPr>
              <a:t>to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"ka".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So,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output</a:t>
            </a:r>
            <a:r>
              <a:rPr sz="1400" spc="-25" dirty="0">
                <a:latin typeface="Arial"/>
                <a:cs typeface="Arial"/>
              </a:rPr>
              <a:t> is </a:t>
            </a:r>
            <a:r>
              <a:rPr sz="1400" spc="-10" dirty="0">
                <a:latin typeface="Arial"/>
                <a:cs typeface="Arial"/>
              </a:rPr>
              <a:t>"ka".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7175" y="4364713"/>
            <a:ext cx="7963534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J.</a:t>
            </a:r>
            <a:r>
              <a:rPr sz="14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Wei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et</a:t>
            </a:r>
            <a:r>
              <a:rPr sz="14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al.</a:t>
            </a:r>
            <a:r>
              <a:rPr sz="1400" spc="-1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u="heavy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Chain-of-</a:t>
            </a:r>
            <a:r>
              <a:rPr sz="14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Thought</a:t>
            </a:r>
            <a:r>
              <a:rPr sz="1400" u="heavy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 </a:t>
            </a:r>
            <a:r>
              <a:rPr sz="14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Prompting</a:t>
            </a:r>
            <a:r>
              <a:rPr sz="1400" u="heavy" spc="-2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Elicits</a:t>
            </a:r>
            <a:r>
              <a:rPr sz="1400" u="heavy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Reasoning</a:t>
            </a:r>
            <a:r>
              <a:rPr sz="1400" u="heavy" spc="-2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in</a:t>
            </a:r>
            <a:r>
              <a:rPr sz="1400" u="heavy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Large</a:t>
            </a:r>
            <a:r>
              <a:rPr sz="1400" u="heavy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 </a:t>
            </a:r>
            <a:r>
              <a:rPr sz="14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Language</a:t>
            </a:r>
            <a:r>
              <a:rPr sz="1400" u="heavy" spc="-2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Models</a:t>
            </a:r>
            <a:r>
              <a:rPr sz="1400" u="none" dirty="0">
                <a:solidFill>
                  <a:srgbClr val="595959"/>
                </a:solidFill>
                <a:latin typeface="Roboto"/>
                <a:cs typeface="Roboto"/>
              </a:rPr>
              <a:t>.</a:t>
            </a:r>
            <a:r>
              <a:rPr sz="1400" u="none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u="none" dirty="0">
                <a:solidFill>
                  <a:srgbClr val="595959"/>
                </a:solidFill>
                <a:latin typeface="Roboto"/>
                <a:cs typeface="Roboto"/>
              </a:rPr>
              <a:t>NeurIPS</a:t>
            </a:r>
            <a:r>
              <a:rPr sz="1400" u="none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u="none" spc="-10" dirty="0">
                <a:solidFill>
                  <a:srgbClr val="595959"/>
                </a:solidFill>
                <a:latin typeface="Roboto"/>
                <a:cs typeface="Roboto"/>
              </a:rPr>
              <a:t>2022.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CoT</a:t>
            </a:r>
            <a:r>
              <a:rPr spc="-5" dirty="0"/>
              <a:t> </a:t>
            </a:r>
            <a:r>
              <a:rPr dirty="0"/>
              <a:t>as</a:t>
            </a:r>
            <a:r>
              <a:rPr spc="40" dirty="0"/>
              <a:t> </a:t>
            </a:r>
            <a:r>
              <a:rPr dirty="0"/>
              <a:t>an</a:t>
            </a:r>
            <a:r>
              <a:rPr spc="45" dirty="0"/>
              <a:t> </a:t>
            </a:r>
            <a:r>
              <a:rPr dirty="0"/>
              <a:t>Emergent</a:t>
            </a:r>
            <a:r>
              <a:rPr spc="45" dirty="0"/>
              <a:t> </a:t>
            </a:r>
            <a:r>
              <a:rPr dirty="0"/>
              <a:t>Property</a:t>
            </a:r>
            <a:r>
              <a:rPr spc="40" dirty="0"/>
              <a:t> </a:t>
            </a:r>
            <a:r>
              <a:rPr dirty="0"/>
              <a:t>of</a:t>
            </a:r>
            <a:r>
              <a:rPr spc="45" dirty="0"/>
              <a:t> </a:t>
            </a:r>
            <a:r>
              <a:rPr dirty="0"/>
              <a:t>Model</a:t>
            </a:r>
            <a:r>
              <a:rPr spc="45" dirty="0"/>
              <a:t> </a:t>
            </a:r>
            <a:r>
              <a:rPr spc="-10" dirty="0"/>
              <a:t>Scale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067" y="949125"/>
            <a:ext cx="4346010" cy="341837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89461" y="1550208"/>
            <a:ext cx="3675462" cy="219004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67175" y="4517113"/>
            <a:ext cx="5603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J.</a:t>
            </a: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Wei</a:t>
            </a: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et</a:t>
            </a:r>
            <a:r>
              <a:rPr sz="14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al.</a:t>
            </a:r>
            <a:r>
              <a:rPr sz="14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4"/>
              </a:rPr>
              <a:t>Emergent</a:t>
            </a:r>
            <a:r>
              <a:rPr sz="1400" u="heavy" spc="-3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4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4"/>
              </a:rPr>
              <a:t>Abilities</a:t>
            </a:r>
            <a:r>
              <a:rPr sz="1400" u="heavy" spc="-3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4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4"/>
              </a:rPr>
              <a:t>of</a:t>
            </a:r>
            <a:r>
              <a:rPr sz="1400" u="heavy" spc="-3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4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4"/>
              </a:rPr>
              <a:t>Large</a:t>
            </a:r>
            <a:r>
              <a:rPr sz="1400" u="heavy" spc="-3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4"/>
              </a:rPr>
              <a:t> </a:t>
            </a:r>
            <a:r>
              <a:rPr sz="14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4"/>
              </a:rPr>
              <a:t>Language</a:t>
            </a:r>
            <a:r>
              <a:rPr sz="1400" u="heavy" spc="-3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4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4"/>
              </a:rPr>
              <a:t>Models</a:t>
            </a:r>
            <a:r>
              <a:rPr sz="1400" u="none" dirty="0">
                <a:solidFill>
                  <a:srgbClr val="595959"/>
                </a:solidFill>
                <a:latin typeface="Roboto"/>
                <a:cs typeface="Roboto"/>
              </a:rPr>
              <a:t>.</a:t>
            </a:r>
            <a:r>
              <a:rPr sz="1400" u="none" spc="-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u="none" dirty="0">
                <a:solidFill>
                  <a:srgbClr val="595959"/>
                </a:solidFill>
                <a:latin typeface="Roboto"/>
                <a:cs typeface="Roboto"/>
              </a:rPr>
              <a:t>TMLR</a:t>
            </a:r>
            <a:r>
              <a:rPr sz="1400" u="none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u="none" spc="-10" dirty="0">
                <a:solidFill>
                  <a:srgbClr val="595959"/>
                </a:solidFill>
                <a:latin typeface="Roboto"/>
                <a:cs typeface="Roboto"/>
              </a:rPr>
              <a:t>2022.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From</a:t>
            </a:r>
            <a:r>
              <a:rPr spc="25" dirty="0"/>
              <a:t> </a:t>
            </a:r>
            <a:r>
              <a:rPr dirty="0"/>
              <a:t>Prompting</a:t>
            </a:r>
            <a:r>
              <a:rPr spc="30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Fine-</a:t>
            </a:r>
            <a:r>
              <a:rPr spc="-10" dirty="0"/>
              <a:t>Tuning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8795" y="1597200"/>
            <a:ext cx="6137042" cy="288302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45963" y="1022808"/>
            <a:ext cx="8045450" cy="656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69745" marR="5080" indent="-1757680">
              <a:lnSpc>
                <a:spcPct val="114999"/>
              </a:lnSpc>
              <a:spcBef>
                <a:spcPts val="100"/>
              </a:spcBef>
            </a:pP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Unlike</a:t>
            </a:r>
            <a:r>
              <a:rPr sz="18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prompting,</a:t>
            </a:r>
            <a:r>
              <a:rPr sz="18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Roboto"/>
                <a:cs typeface="Roboto"/>
              </a:rPr>
              <a:t>fine-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tuning</a:t>
            </a:r>
            <a:r>
              <a:rPr sz="18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actually</a:t>
            </a:r>
            <a:r>
              <a:rPr sz="18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changes</a:t>
            </a:r>
            <a:r>
              <a:rPr sz="18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the</a:t>
            </a:r>
            <a:r>
              <a:rPr sz="18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model</a:t>
            </a:r>
            <a:r>
              <a:rPr sz="18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under</a:t>
            </a:r>
            <a:r>
              <a:rPr sz="18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the</a:t>
            </a:r>
            <a:r>
              <a:rPr sz="18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hood,</a:t>
            </a:r>
            <a:r>
              <a:rPr sz="18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giving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better</a:t>
            </a:r>
            <a:r>
              <a:rPr sz="18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domain-</a:t>
            </a:r>
            <a:r>
              <a:rPr sz="18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or</a:t>
            </a:r>
            <a:r>
              <a:rPr sz="18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task-specific</a:t>
            </a:r>
            <a:r>
              <a:rPr sz="18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performance.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55625" y="4730412"/>
            <a:ext cx="38950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Source:</a:t>
            </a:r>
            <a:r>
              <a:rPr sz="14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Andrej</a:t>
            </a:r>
            <a:r>
              <a:rPr sz="14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Karpathy</a:t>
            </a:r>
            <a:r>
              <a:rPr sz="14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@karpathy</a:t>
            </a:r>
            <a:r>
              <a:rPr sz="14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(not</a:t>
            </a:r>
            <a:r>
              <a:rPr sz="14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to</a:t>
            </a:r>
            <a:r>
              <a:rPr sz="14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scale)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Case</a:t>
            </a:r>
            <a:r>
              <a:rPr spc="35" dirty="0"/>
              <a:t> </a:t>
            </a:r>
            <a:r>
              <a:rPr dirty="0"/>
              <a:t>Study</a:t>
            </a:r>
            <a:r>
              <a:rPr spc="40" dirty="0"/>
              <a:t> </a:t>
            </a:r>
            <a:r>
              <a:rPr dirty="0"/>
              <a:t>in</a:t>
            </a:r>
            <a:r>
              <a:rPr spc="40" dirty="0"/>
              <a:t> </a:t>
            </a:r>
            <a:r>
              <a:rPr dirty="0"/>
              <a:t>Law:</a:t>
            </a:r>
            <a:r>
              <a:rPr spc="40" dirty="0"/>
              <a:t> </a:t>
            </a:r>
            <a:r>
              <a:rPr dirty="0"/>
              <a:t>Harvey</a:t>
            </a:r>
            <a:r>
              <a:rPr spc="40" dirty="0"/>
              <a:t> </a:t>
            </a:r>
            <a:r>
              <a:rPr spc="-25" dirty="0"/>
              <a:t>AI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490621" y="1180796"/>
            <a:ext cx="8107045" cy="2814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 marR="131445" indent="-351790" algn="just">
              <a:lnSpc>
                <a:spcPct val="114999"/>
              </a:lnSpc>
              <a:spcBef>
                <a:spcPts val="100"/>
              </a:spcBef>
              <a:buFont typeface="Arial"/>
              <a:buChar char="●"/>
              <a:tabLst>
                <a:tab pos="363855" algn="l"/>
                <a:tab pos="365760" algn="l"/>
              </a:tabLst>
            </a:pP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	Startup</a:t>
            </a:r>
            <a:r>
              <a:rPr sz="16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building</a:t>
            </a:r>
            <a:r>
              <a:rPr sz="16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a</a:t>
            </a:r>
            <a:r>
              <a:rPr sz="16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spc="-20" dirty="0">
                <a:solidFill>
                  <a:srgbClr val="595959"/>
                </a:solidFill>
                <a:latin typeface="Roboto"/>
                <a:cs typeface="Roboto"/>
              </a:rPr>
              <a:t>custom-</a:t>
            </a:r>
            <a:r>
              <a:rPr sz="1600" spc="-10" dirty="0">
                <a:solidFill>
                  <a:srgbClr val="595959"/>
                </a:solidFill>
                <a:latin typeface="Roboto"/>
                <a:cs typeface="Roboto"/>
              </a:rPr>
              <a:t>trained</a:t>
            </a:r>
            <a:r>
              <a:rPr sz="16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case</a:t>
            </a:r>
            <a:r>
              <a:rPr sz="16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law</a:t>
            </a:r>
            <a:r>
              <a:rPr sz="16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model</a:t>
            </a:r>
            <a:r>
              <a:rPr sz="16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for</a:t>
            </a:r>
            <a:r>
              <a:rPr sz="16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Roboto"/>
                <a:cs typeface="Roboto"/>
              </a:rPr>
              <a:t>drafting</a:t>
            </a:r>
            <a:r>
              <a:rPr sz="16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Roboto"/>
                <a:cs typeface="Roboto"/>
              </a:rPr>
              <a:t>documents,</a:t>
            </a:r>
            <a:r>
              <a:rPr sz="16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Roboto"/>
                <a:cs typeface="Roboto"/>
              </a:rPr>
              <a:t>answering questions</a:t>
            </a:r>
            <a:r>
              <a:rPr sz="16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about</a:t>
            </a:r>
            <a:r>
              <a:rPr sz="16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complex</a:t>
            </a:r>
            <a:r>
              <a:rPr sz="16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Roboto"/>
                <a:cs typeface="Roboto"/>
              </a:rPr>
              <a:t>litigation</a:t>
            </a:r>
            <a:r>
              <a:rPr sz="16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Roboto"/>
                <a:cs typeface="Roboto"/>
              </a:rPr>
              <a:t>scenarios,</a:t>
            </a:r>
            <a:r>
              <a:rPr sz="16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and</a:t>
            </a:r>
            <a:r>
              <a:rPr sz="16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Roboto"/>
                <a:cs typeface="Roboto"/>
              </a:rPr>
              <a:t>identifying</a:t>
            </a:r>
            <a:r>
              <a:rPr sz="16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material</a:t>
            </a:r>
            <a:r>
              <a:rPr sz="16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Roboto"/>
                <a:cs typeface="Roboto"/>
              </a:rPr>
              <a:t>discrepancies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between</a:t>
            </a:r>
            <a:r>
              <a:rPr sz="1600" spc="-7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hundreds</a:t>
            </a:r>
            <a:r>
              <a:rPr sz="1600" spc="-6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of</a:t>
            </a:r>
            <a:r>
              <a:rPr sz="1600" spc="-6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Roboto"/>
                <a:cs typeface="Roboto"/>
              </a:rPr>
              <a:t>contracts.</a:t>
            </a:r>
            <a:endParaRPr sz="1600">
              <a:latin typeface="Roboto"/>
              <a:cs typeface="Roboto"/>
            </a:endParaRPr>
          </a:p>
          <a:p>
            <a:pPr marL="363855" marR="5080" indent="-351790">
              <a:lnSpc>
                <a:spcPct val="114999"/>
              </a:lnSpc>
              <a:spcBef>
                <a:spcPts val="1000"/>
              </a:spcBef>
              <a:buFont typeface="Arial"/>
              <a:buChar char="●"/>
              <a:tabLst>
                <a:tab pos="363855" algn="l"/>
              </a:tabLst>
            </a:pP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Added</a:t>
            </a:r>
            <a:r>
              <a:rPr sz="16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b="1" dirty="0">
                <a:solidFill>
                  <a:srgbClr val="595959"/>
                </a:solidFill>
                <a:latin typeface="Roboto"/>
                <a:cs typeface="Roboto"/>
              </a:rPr>
              <a:t>10</a:t>
            </a:r>
            <a:r>
              <a:rPr sz="1600" b="1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b="1" dirty="0">
                <a:solidFill>
                  <a:srgbClr val="595959"/>
                </a:solidFill>
                <a:latin typeface="Roboto"/>
                <a:cs typeface="Roboto"/>
              </a:rPr>
              <a:t>billion</a:t>
            </a:r>
            <a:r>
              <a:rPr sz="1600" b="1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b="1" dirty="0">
                <a:solidFill>
                  <a:srgbClr val="595959"/>
                </a:solidFill>
                <a:latin typeface="Roboto"/>
                <a:cs typeface="Roboto"/>
              </a:rPr>
              <a:t>tokens</a:t>
            </a:r>
            <a:r>
              <a:rPr sz="1600" b="1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worth</a:t>
            </a:r>
            <a:r>
              <a:rPr sz="16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of</a:t>
            </a:r>
            <a:r>
              <a:rPr sz="16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data</a:t>
            </a:r>
            <a:r>
              <a:rPr sz="16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to</a:t>
            </a:r>
            <a:r>
              <a:rPr sz="16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power</a:t>
            </a:r>
            <a:r>
              <a:rPr sz="16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the</a:t>
            </a:r>
            <a:r>
              <a:rPr sz="16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model,</a:t>
            </a:r>
            <a:r>
              <a:rPr sz="16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starting</a:t>
            </a:r>
            <a:r>
              <a:rPr sz="16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with</a:t>
            </a:r>
            <a:r>
              <a:rPr sz="16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case</a:t>
            </a:r>
            <a:r>
              <a:rPr sz="16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law</a:t>
            </a:r>
            <a:r>
              <a:rPr sz="16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spc="-20" dirty="0">
                <a:solidFill>
                  <a:srgbClr val="595959"/>
                </a:solidFill>
                <a:latin typeface="Roboto"/>
                <a:cs typeface="Roboto"/>
              </a:rPr>
              <a:t>from </a:t>
            </a:r>
            <a:r>
              <a:rPr sz="1600" spc="-10" dirty="0">
                <a:solidFill>
                  <a:srgbClr val="595959"/>
                </a:solidFill>
                <a:latin typeface="Roboto"/>
                <a:cs typeface="Roboto"/>
              </a:rPr>
              <a:t>Delaware,</a:t>
            </a:r>
            <a:r>
              <a:rPr sz="16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and</a:t>
            </a:r>
            <a:r>
              <a:rPr sz="16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then</a:t>
            </a:r>
            <a:r>
              <a:rPr sz="16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Roboto"/>
                <a:cs typeface="Roboto"/>
              </a:rPr>
              <a:t>expanding</a:t>
            </a:r>
            <a:r>
              <a:rPr sz="16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to</a:t>
            </a:r>
            <a:r>
              <a:rPr sz="16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include</a:t>
            </a:r>
            <a:r>
              <a:rPr sz="16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all</a:t>
            </a:r>
            <a:r>
              <a:rPr sz="16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of</a:t>
            </a:r>
            <a:r>
              <a:rPr sz="16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U.S.</a:t>
            </a:r>
            <a:r>
              <a:rPr sz="16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case</a:t>
            </a:r>
            <a:r>
              <a:rPr sz="16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spc="-20" dirty="0">
                <a:solidFill>
                  <a:srgbClr val="595959"/>
                </a:solidFill>
                <a:latin typeface="Roboto"/>
                <a:cs typeface="Roboto"/>
              </a:rPr>
              <a:t>law.</a:t>
            </a:r>
            <a:endParaRPr sz="1600">
              <a:latin typeface="Roboto"/>
              <a:cs typeface="Roboto"/>
            </a:endParaRPr>
          </a:p>
          <a:p>
            <a:pPr marL="363855" marR="384175" indent="-351790">
              <a:lnSpc>
                <a:spcPct val="114999"/>
              </a:lnSpc>
              <a:spcBef>
                <a:spcPts val="1000"/>
              </a:spcBef>
              <a:buFont typeface="Arial"/>
              <a:buChar char="●"/>
              <a:tabLst>
                <a:tab pos="363855" algn="l"/>
              </a:tabLst>
            </a:pPr>
            <a:r>
              <a:rPr sz="1600" spc="-10" dirty="0">
                <a:solidFill>
                  <a:srgbClr val="595959"/>
                </a:solidFill>
                <a:latin typeface="Roboto"/>
                <a:cs typeface="Roboto"/>
              </a:rPr>
              <a:t>Attorneys</a:t>
            </a:r>
            <a:r>
              <a:rPr sz="16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from</a:t>
            </a:r>
            <a:r>
              <a:rPr sz="16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10</a:t>
            </a:r>
            <a:r>
              <a:rPr sz="16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large</a:t>
            </a:r>
            <a:r>
              <a:rPr sz="16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law</a:t>
            </a:r>
            <a:r>
              <a:rPr sz="16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firms</a:t>
            </a:r>
            <a:r>
              <a:rPr sz="16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preferred</a:t>
            </a:r>
            <a:r>
              <a:rPr sz="16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custom</a:t>
            </a:r>
            <a:r>
              <a:rPr sz="16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spc="-20" dirty="0">
                <a:solidFill>
                  <a:srgbClr val="595959"/>
                </a:solidFill>
                <a:latin typeface="Roboto"/>
                <a:cs typeface="Roboto"/>
              </a:rPr>
              <a:t>model’s</a:t>
            </a:r>
            <a:r>
              <a:rPr sz="16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output</a:t>
            </a:r>
            <a:r>
              <a:rPr sz="16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versus</a:t>
            </a:r>
            <a:r>
              <a:rPr sz="16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spc="-65" dirty="0">
                <a:solidFill>
                  <a:srgbClr val="595959"/>
                </a:solidFill>
                <a:latin typeface="Roboto"/>
                <a:cs typeface="Roboto"/>
              </a:rPr>
              <a:t>GPT-</a:t>
            </a:r>
            <a:r>
              <a:rPr sz="1600" spc="-25" dirty="0">
                <a:solidFill>
                  <a:srgbClr val="595959"/>
                </a:solidFill>
                <a:latin typeface="Roboto"/>
                <a:cs typeface="Roboto"/>
              </a:rPr>
              <a:t>4’s </a:t>
            </a:r>
            <a:r>
              <a:rPr sz="1600" b="1" dirty="0">
                <a:solidFill>
                  <a:srgbClr val="595959"/>
                </a:solidFill>
                <a:latin typeface="Roboto"/>
                <a:cs typeface="Roboto"/>
              </a:rPr>
              <a:t>97%</a:t>
            </a:r>
            <a:r>
              <a:rPr sz="1600" b="1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b="1" dirty="0">
                <a:solidFill>
                  <a:srgbClr val="595959"/>
                </a:solidFill>
                <a:latin typeface="Roboto"/>
                <a:cs typeface="Roboto"/>
              </a:rPr>
              <a:t>of</a:t>
            </a:r>
            <a:r>
              <a:rPr sz="1600" b="1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b="1" dirty="0">
                <a:solidFill>
                  <a:srgbClr val="595959"/>
                </a:solidFill>
                <a:latin typeface="Roboto"/>
                <a:cs typeface="Roboto"/>
              </a:rPr>
              <a:t>the</a:t>
            </a:r>
            <a:r>
              <a:rPr sz="1600" b="1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b="1" dirty="0">
                <a:solidFill>
                  <a:srgbClr val="595959"/>
                </a:solidFill>
                <a:latin typeface="Roboto"/>
                <a:cs typeface="Roboto"/>
              </a:rPr>
              <a:t>time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.</a:t>
            </a:r>
            <a:r>
              <a:rPr sz="16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Main</a:t>
            </a:r>
            <a:r>
              <a:rPr sz="16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Roboto"/>
                <a:cs typeface="Roboto"/>
              </a:rPr>
              <a:t>benefit</a:t>
            </a:r>
            <a:r>
              <a:rPr sz="16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was</a:t>
            </a:r>
            <a:r>
              <a:rPr sz="16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reduced</a:t>
            </a:r>
            <a:r>
              <a:rPr sz="16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Roboto"/>
                <a:cs typeface="Roboto"/>
              </a:rPr>
              <a:t>hallucinations!</a:t>
            </a:r>
            <a:endParaRPr sz="16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905"/>
              </a:spcBef>
            </a:pPr>
            <a:endParaRPr sz="1600">
              <a:latin typeface="Roboto"/>
              <a:cs typeface="Roboto"/>
            </a:endParaRPr>
          </a:p>
          <a:p>
            <a:pPr marL="379730">
              <a:lnSpc>
                <a:spcPct val="100000"/>
              </a:lnSpc>
            </a:pPr>
            <a:r>
              <a:rPr sz="1400" u="heavy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Roboto"/>
                <a:cs typeface="Roboto"/>
                <a:hlinkClick r:id="rId2"/>
              </a:rPr>
              <a:t>Open</a:t>
            </a:r>
            <a:r>
              <a:rPr sz="1400" u="heavy" spc="-40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Roboto"/>
                <a:cs typeface="Roboto"/>
                <a:hlinkClick r:id="rId2"/>
              </a:rPr>
              <a:t> </a:t>
            </a:r>
            <a:r>
              <a:rPr sz="1400" u="heavy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Roboto"/>
                <a:cs typeface="Roboto"/>
                <a:hlinkClick r:id="rId2"/>
              </a:rPr>
              <a:t>AI</a:t>
            </a:r>
            <a:r>
              <a:rPr sz="1400" u="heavy" spc="-40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Roboto"/>
                <a:cs typeface="Roboto"/>
                <a:hlinkClick r:id="rId2"/>
              </a:rPr>
              <a:t> </a:t>
            </a:r>
            <a:r>
              <a:rPr sz="1400" u="heavy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Roboto"/>
                <a:cs typeface="Roboto"/>
                <a:hlinkClick r:id="rId2"/>
              </a:rPr>
              <a:t>Customer</a:t>
            </a:r>
            <a:r>
              <a:rPr sz="1400" u="heavy" spc="-40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Roboto"/>
                <a:cs typeface="Roboto"/>
                <a:hlinkClick r:id="rId2"/>
              </a:rPr>
              <a:t> </a:t>
            </a:r>
            <a:r>
              <a:rPr sz="1400" u="heavy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Roboto"/>
                <a:cs typeface="Roboto"/>
                <a:hlinkClick r:id="rId2"/>
              </a:rPr>
              <a:t>Stories:</a:t>
            </a:r>
            <a:r>
              <a:rPr sz="1400" u="heavy" spc="-40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Roboto"/>
                <a:cs typeface="Roboto"/>
                <a:hlinkClick r:id="rId2"/>
              </a:rPr>
              <a:t> </a:t>
            </a:r>
            <a:r>
              <a:rPr sz="1400" u="heavy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Roboto"/>
                <a:cs typeface="Roboto"/>
                <a:hlinkClick r:id="rId2"/>
              </a:rPr>
              <a:t>Harvey</a:t>
            </a:r>
            <a:r>
              <a:rPr sz="1400" u="none" dirty="0">
                <a:solidFill>
                  <a:srgbClr val="595959"/>
                </a:solidFill>
                <a:latin typeface="Roboto"/>
                <a:cs typeface="Roboto"/>
              </a:rPr>
              <a:t>.</a:t>
            </a:r>
            <a:r>
              <a:rPr sz="1400" u="none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u="none" dirty="0">
                <a:solidFill>
                  <a:srgbClr val="595959"/>
                </a:solidFill>
                <a:latin typeface="Roboto"/>
                <a:cs typeface="Roboto"/>
              </a:rPr>
              <a:t>April</a:t>
            </a:r>
            <a:r>
              <a:rPr sz="1400" u="none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u="none" spc="-10" dirty="0">
                <a:solidFill>
                  <a:srgbClr val="595959"/>
                </a:solidFill>
                <a:latin typeface="Roboto"/>
                <a:cs typeface="Roboto"/>
              </a:rPr>
              <a:t>2024.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Case</a:t>
            </a:r>
            <a:r>
              <a:rPr spc="35" dirty="0"/>
              <a:t> </a:t>
            </a:r>
            <a:r>
              <a:rPr dirty="0"/>
              <a:t>Study</a:t>
            </a:r>
            <a:r>
              <a:rPr spc="40" dirty="0"/>
              <a:t> </a:t>
            </a:r>
            <a:r>
              <a:rPr dirty="0"/>
              <a:t>in</a:t>
            </a:r>
            <a:r>
              <a:rPr spc="40" dirty="0"/>
              <a:t> </a:t>
            </a:r>
            <a:r>
              <a:rPr dirty="0"/>
              <a:t>Law:</a:t>
            </a:r>
            <a:r>
              <a:rPr spc="40" dirty="0"/>
              <a:t> </a:t>
            </a:r>
            <a:r>
              <a:rPr dirty="0"/>
              <a:t>Harvey</a:t>
            </a:r>
            <a:r>
              <a:rPr spc="40" dirty="0"/>
              <a:t> </a:t>
            </a:r>
            <a:r>
              <a:rPr spc="-25" dirty="0"/>
              <a:t>AI</a:t>
            </a: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762000"/>
            <a:ext cx="8839199" cy="5161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4125" y="1087160"/>
            <a:ext cx="6551313" cy="3685113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Parameter</a:t>
            </a:r>
            <a:r>
              <a:rPr spc="5" dirty="0"/>
              <a:t> </a:t>
            </a:r>
            <a:r>
              <a:rPr spc="-10" dirty="0"/>
              <a:t>Efficient</a:t>
            </a:r>
            <a:r>
              <a:rPr spc="5" dirty="0"/>
              <a:t> </a:t>
            </a:r>
            <a:r>
              <a:rPr dirty="0"/>
              <a:t>Fine-Tuning</a:t>
            </a:r>
            <a:r>
              <a:rPr spc="5" dirty="0"/>
              <a:t> </a:t>
            </a:r>
            <a:r>
              <a:rPr spc="-10" dirty="0"/>
              <a:t>(PEFT)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388432" y="1683339"/>
            <a:ext cx="4533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595959"/>
                </a:solidFill>
                <a:latin typeface="Roboto"/>
                <a:cs typeface="Roboto"/>
              </a:rPr>
              <a:t>frozen</a:t>
            </a:r>
            <a:endParaRPr sz="1200">
              <a:latin typeface="Roboto"/>
              <a:cs typeface="Roboto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63862" y="915325"/>
            <a:ext cx="2797175" cy="1808480"/>
            <a:chOff x="963862" y="915325"/>
            <a:chExt cx="2797175" cy="18084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26825" y="915325"/>
              <a:ext cx="2108547" cy="180820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68624" y="1825046"/>
              <a:ext cx="301625" cy="5080"/>
            </a:xfrm>
            <a:custGeom>
              <a:avLst/>
              <a:gdLst/>
              <a:ahLst/>
              <a:cxnLst/>
              <a:rect l="l" t="t" r="r" b="b"/>
              <a:pathLst>
                <a:path w="301625" h="5080">
                  <a:moveTo>
                    <a:pt x="0" y="4790"/>
                  </a:moveTo>
                  <a:lnTo>
                    <a:pt x="301057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69431" y="1809315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500" y="31461"/>
                  </a:moveTo>
                  <a:lnTo>
                    <a:pt x="0" y="0"/>
                  </a:lnTo>
                  <a:lnTo>
                    <a:pt x="43470" y="15042"/>
                  </a:lnTo>
                  <a:lnTo>
                    <a:pt x="500" y="31461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269431" y="1809315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500" y="31461"/>
                  </a:moveTo>
                  <a:lnTo>
                    <a:pt x="43470" y="15042"/>
                  </a:lnTo>
                  <a:lnTo>
                    <a:pt x="0" y="0"/>
                  </a:lnTo>
                  <a:lnTo>
                    <a:pt x="500" y="3146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464214" y="1623783"/>
              <a:ext cx="292100" cy="207010"/>
            </a:xfrm>
            <a:custGeom>
              <a:avLst/>
              <a:gdLst/>
              <a:ahLst/>
              <a:cxnLst/>
              <a:rect l="l" t="t" r="r" b="b"/>
              <a:pathLst>
                <a:path w="292100" h="207010">
                  <a:moveTo>
                    <a:pt x="291497" y="20691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428967" y="1598762"/>
              <a:ext cx="44450" cy="38100"/>
            </a:xfrm>
            <a:custGeom>
              <a:avLst/>
              <a:gdLst/>
              <a:ahLst/>
              <a:cxnLst/>
              <a:rect l="l" t="t" r="r" b="b"/>
              <a:pathLst>
                <a:path w="44450" h="38100">
                  <a:moveTo>
                    <a:pt x="26140" y="37849"/>
                  </a:moveTo>
                  <a:lnTo>
                    <a:pt x="0" y="0"/>
                  </a:lnTo>
                  <a:lnTo>
                    <a:pt x="44354" y="12191"/>
                  </a:lnTo>
                  <a:lnTo>
                    <a:pt x="26140" y="378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428967" y="1598762"/>
              <a:ext cx="44450" cy="38100"/>
            </a:xfrm>
            <a:custGeom>
              <a:avLst/>
              <a:gdLst/>
              <a:ahLst/>
              <a:cxnLst/>
              <a:rect l="l" t="t" r="r" b="b"/>
              <a:pathLst>
                <a:path w="44450" h="38100">
                  <a:moveTo>
                    <a:pt x="44354" y="12191"/>
                  </a:moveTo>
                  <a:lnTo>
                    <a:pt x="0" y="0"/>
                  </a:lnTo>
                  <a:lnTo>
                    <a:pt x="26140" y="37849"/>
                  </a:lnTo>
                  <a:lnTo>
                    <a:pt x="44354" y="1219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485653" y="1950719"/>
              <a:ext cx="260985" cy="166370"/>
            </a:xfrm>
            <a:custGeom>
              <a:avLst/>
              <a:gdLst/>
              <a:ahLst/>
              <a:cxnLst/>
              <a:rect l="l" t="t" r="r" b="b"/>
              <a:pathLst>
                <a:path w="260985" h="166369">
                  <a:moveTo>
                    <a:pt x="260530" y="0"/>
                  </a:moveTo>
                  <a:lnTo>
                    <a:pt x="0" y="166344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449221" y="2103804"/>
              <a:ext cx="45085" cy="36830"/>
            </a:xfrm>
            <a:custGeom>
              <a:avLst/>
              <a:gdLst/>
              <a:ahLst/>
              <a:cxnLst/>
              <a:rect l="l" t="t" r="r" b="b"/>
              <a:pathLst>
                <a:path w="45085" h="36830">
                  <a:moveTo>
                    <a:pt x="0" y="36521"/>
                  </a:moveTo>
                  <a:lnTo>
                    <a:pt x="27965" y="0"/>
                  </a:lnTo>
                  <a:lnTo>
                    <a:pt x="44899" y="26520"/>
                  </a:lnTo>
                  <a:lnTo>
                    <a:pt x="0" y="36521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449221" y="2103804"/>
              <a:ext cx="45085" cy="36830"/>
            </a:xfrm>
            <a:custGeom>
              <a:avLst/>
              <a:gdLst/>
              <a:ahLst/>
              <a:cxnLst/>
              <a:rect l="l" t="t" r="r" b="b"/>
              <a:pathLst>
                <a:path w="45085" h="36830">
                  <a:moveTo>
                    <a:pt x="27965" y="0"/>
                  </a:moveTo>
                  <a:lnTo>
                    <a:pt x="0" y="36521"/>
                  </a:lnTo>
                  <a:lnTo>
                    <a:pt x="44899" y="26520"/>
                  </a:lnTo>
                  <a:lnTo>
                    <a:pt x="27965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137625" y="1066320"/>
            <a:ext cx="3314700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300" spc="-55" dirty="0">
                <a:solidFill>
                  <a:srgbClr val="595959"/>
                </a:solidFill>
                <a:latin typeface="Roboto"/>
                <a:cs typeface="Roboto"/>
              </a:rPr>
              <a:t>GPT-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3</a:t>
            </a:r>
            <a:r>
              <a:rPr sz="13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175B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validation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accuracy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vs.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spc="-10" dirty="0">
                <a:solidFill>
                  <a:srgbClr val="595959"/>
                </a:solidFill>
                <a:latin typeface="Roboto"/>
                <a:cs typeface="Roboto"/>
              </a:rPr>
              <a:t>number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of</a:t>
            </a:r>
            <a:r>
              <a:rPr sz="13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trainable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spc="-10" dirty="0">
                <a:solidFill>
                  <a:srgbClr val="595959"/>
                </a:solidFill>
                <a:latin typeface="Roboto"/>
                <a:cs typeface="Roboto"/>
              </a:rPr>
              <a:t>parameters</a:t>
            </a:r>
            <a:r>
              <a:rPr sz="13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of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spc="-10" dirty="0">
                <a:solidFill>
                  <a:srgbClr val="595959"/>
                </a:solidFill>
                <a:latin typeface="Roboto"/>
                <a:cs typeface="Roboto"/>
              </a:rPr>
              <a:t>several</a:t>
            </a:r>
            <a:r>
              <a:rPr sz="13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spc="-10" dirty="0">
                <a:solidFill>
                  <a:srgbClr val="595959"/>
                </a:solidFill>
                <a:latin typeface="Roboto"/>
                <a:cs typeface="Roboto"/>
              </a:rPr>
              <a:t>adaptation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methods</a:t>
            </a:r>
            <a:r>
              <a:rPr sz="13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on</a:t>
            </a:r>
            <a:r>
              <a:rPr sz="13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WikiSQL.</a:t>
            </a:r>
            <a:r>
              <a:rPr sz="13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LoRA</a:t>
            </a:r>
            <a:r>
              <a:rPr sz="13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exhibits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spc="-10" dirty="0">
                <a:solidFill>
                  <a:srgbClr val="595959"/>
                </a:solidFill>
                <a:latin typeface="Roboto"/>
                <a:cs typeface="Roboto"/>
              </a:rPr>
              <a:t>better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scalability</a:t>
            </a:r>
            <a:r>
              <a:rPr sz="13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and</a:t>
            </a:r>
            <a:r>
              <a:rPr sz="13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task</a:t>
            </a:r>
            <a:r>
              <a:rPr sz="13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spc="-10" dirty="0">
                <a:solidFill>
                  <a:srgbClr val="595959"/>
                </a:solidFill>
                <a:latin typeface="Roboto"/>
                <a:cs typeface="Roboto"/>
              </a:rPr>
              <a:t>performance.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4935" y="1866219"/>
            <a:ext cx="8001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595959"/>
                </a:solidFill>
                <a:latin typeface="Roboto"/>
                <a:cs typeface="Roboto"/>
              </a:rPr>
              <a:t>parameters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800270" y="1710024"/>
            <a:ext cx="8001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271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595959"/>
                </a:solidFill>
                <a:latin typeface="Roboto"/>
                <a:cs typeface="Roboto"/>
              </a:rPr>
              <a:t>trainable parameters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3525" y="2832021"/>
            <a:ext cx="6204585" cy="1990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2090" marR="2858135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solidFill>
                  <a:srgbClr val="595959"/>
                </a:solidFill>
                <a:latin typeface="Roboto"/>
                <a:cs typeface="Roboto"/>
              </a:rPr>
              <a:t>Techniques</a:t>
            </a:r>
            <a:r>
              <a:rPr sz="1300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like</a:t>
            </a:r>
            <a:r>
              <a:rPr sz="1300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LoRA</a:t>
            </a:r>
            <a:r>
              <a:rPr sz="1300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construct</a:t>
            </a:r>
            <a:r>
              <a:rPr sz="1300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a </a:t>
            </a:r>
            <a:r>
              <a:rPr sz="1300" b="1" spc="-10" dirty="0">
                <a:solidFill>
                  <a:srgbClr val="595959"/>
                </a:solidFill>
                <a:latin typeface="Roboto"/>
                <a:cs typeface="Roboto"/>
              </a:rPr>
              <a:t>low-</a:t>
            </a:r>
            <a:r>
              <a:rPr sz="1300" b="1" spc="-20" dirty="0">
                <a:solidFill>
                  <a:srgbClr val="595959"/>
                </a:solidFill>
                <a:latin typeface="Roboto"/>
                <a:cs typeface="Roboto"/>
              </a:rPr>
              <a:t>rank </a:t>
            </a:r>
            <a:r>
              <a:rPr sz="1300" spc="-10" dirty="0">
                <a:solidFill>
                  <a:srgbClr val="595959"/>
                </a:solidFill>
                <a:latin typeface="Roboto"/>
                <a:cs typeface="Roboto"/>
              </a:rPr>
              <a:t>parameterization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for</a:t>
            </a:r>
            <a:r>
              <a:rPr sz="1300" spc="-1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parameter</a:t>
            </a:r>
            <a:r>
              <a:rPr sz="1300" spc="-10" dirty="0">
                <a:solidFill>
                  <a:srgbClr val="595959"/>
                </a:solidFill>
                <a:latin typeface="Roboto"/>
                <a:cs typeface="Roboto"/>
              </a:rPr>
              <a:t> efficiency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during</a:t>
            </a:r>
            <a:r>
              <a:rPr sz="1300" spc="-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spc="-10" dirty="0">
                <a:solidFill>
                  <a:srgbClr val="595959"/>
                </a:solidFill>
                <a:latin typeface="Roboto"/>
                <a:cs typeface="Roboto"/>
              </a:rPr>
              <a:t>training.</a:t>
            </a:r>
            <a:endParaRPr sz="1300">
              <a:latin typeface="Roboto"/>
              <a:cs typeface="Roboto"/>
            </a:endParaRPr>
          </a:p>
          <a:p>
            <a:pPr marL="212090" marR="2683510" algn="just">
              <a:lnSpc>
                <a:spcPct val="100000"/>
              </a:lnSpc>
              <a:spcBef>
                <a:spcPts val="1560"/>
              </a:spcBef>
            </a:pP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For</a:t>
            </a:r>
            <a:r>
              <a:rPr sz="13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inference,</a:t>
            </a:r>
            <a:r>
              <a:rPr sz="13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the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model</a:t>
            </a:r>
            <a:r>
              <a:rPr sz="13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be</a:t>
            </a:r>
            <a:r>
              <a:rPr sz="13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converted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spc="-35" dirty="0">
                <a:solidFill>
                  <a:srgbClr val="595959"/>
                </a:solidFill>
                <a:latin typeface="Roboto"/>
                <a:cs typeface="Roboto"/>
              </a:rPr>
              <a:t>to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its</a:t>
            </a:r>
            <a:r>
              <a:rPr sz="1300" spc="-1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original</a:t>
            </a:r>
            <a:r>
              <a:rPr sz="1300" spc="-1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weight</a:t>
            </a:r>
            <a:r>
              <a:rPr sz="1300" spc="-1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spc="-10" dirty="0">
                <a:solidFill>
                  <a:srgbClr val="595959"/>
                </a:solidFill>
                <a:latin typeface="Roboto"/>
                <a:cs typeface="Roboto"/>
              </a:rPr>
              <a:t>parameterization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to</a:t>
            </a:r>
            <a:r>
              <a:rPr sz="1300" spc="-1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spc="-10" dirty="0">
                <a:solidFill>
                  <a:srgbClr val="595959"/>
                </a:solidFill>
                <a:latin typeface="Roboto"/>
                <a:cs typeface="Roboto"/>
              </a:rPr>
              <a:t>ensure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unchanged</a:t>
            </a:r>
            <a:r>
              <a:rPr sz="13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inference</a:t>
            </a:r>
            <a:r>
              <a:rPr sz="13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spc="-10" dirty="0">
                <a:solidFill>
                  <a:srgbClr val="595959"/>
                </a:solidFill>
                <a:latin typeface="Roboto"/>
                <a:cs typeface="Roboto"/>
              </a:rPr>
              <a:t>speed.</a:t>
            </a:r>
            <a:endParaRPr sz="13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310"/>
              </a:spcBef>
            </a:pPr>
            <a:endParaRPr sz="13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E.</a:t>
            </a:r>
            <a:r>
              <a:rPr sz="14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Hu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et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al.</a:t>
            </a:r>
            <a:r>
              <a:rPr sz="1400" spc="-1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LoRA:</a:t>
            </a:r>
            <a:r>
              <a:rPr sz="1400" u="heavy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 Low-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Rank</a:t>
            </a:r>
            <a:r>
              <a:rPr sz="1400" u="heavy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4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Adaptation</a:t>
            </a:r>
            <a:r>
              <a:rPr sz="1400" u="heavy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of</a:t>
            </a:r>
            <a:r>
              <a:rPr sz="1400" u="heavy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Large</a:t>
            </a:r>
            <a:r>
              <a:rPr sz="1400" u="heavy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4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Language</a:t>
            </a:r>
            <a:r>
              <a:rPr sz="1400" u="heavy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Models</a:t>
            </a:r>
            <a:r>
              <a:rPr sz="1400" u="none" dirty="0">
                <a:solidFill>
                  <a:srgbClr val="595959"/>
                </a:solidFill>
                <a:latin typeface="Roboto"/>
                <a:cs typeface="Roboto"/>
              </a:rPr>
              <a:t>.</a:t>
            </a:r>
            <a:r>
              <a:rPr sz="1400" u="none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u="none" dirty="0">
                <a:solidFill>
                  <a:srgbClr val="595959"/>
                </a:solidFill>
                <a:latin typeface="Roboto"/>
                <a:cs typeface="Roboto"/>
              </a:rPr>
              <a:t>ICLR</a:t>
            </a:r>
            <a:r>
              <a:rPr sz="1400" u="none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u="none" spc="-10" dirty="0">
                <a:solidFill>
                  <a:srgbClr val="595959"/>
                </a:solidFill>
                <a:latin typeface="Roboto"/>
                <a:cs typeface="Roboto"/>
              </a:rPr>
              <a:t>2022.</a:t>
            </a:r>
            <a:endParaRPr sz="1400">
              <a:latin typeface="Roboto"/>
              <a:cs typeface="Roboto"/>
            </a:endParaRPr>
          </a:p>
        </p:txBody>
      </p: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69243" y="2230762"/>
            <a:ext cx="3287387" cy="2048661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Design</a:t>
            </a:r>
            <a:r>
              <a:rPr spc="50" dirty="0"/>
              <a:t> </a:t>
            </a:r>
            <a:r>
              <a:rPr dirty="0"/>
              <a:t>Spaces</a:t>
            </a:r>
            <a:r>
              <a:rPr spc="50" dirty="0"/>
              <a:t> </a:t>
            </a:r>
            <a:r>
              <a:rPr dirty="0"/>
              <a:t>and The</a:t>
            </a:r>
            <a:r>
              <a:rPr spc="50" dirty="0"/>
              <a:t> </a:t>
            </a:r>
            <a:r>
              <a:rPr dirty="0"/>
              <a:t>CLAM</a:t>
            </a:r>
            <a:r>
              <a:rPr spc="50" dirty="0"/>
              <a:t> </a:t>
            </a:r>
            <a:r>
              <a:rPr spc="-10" dirty="0"/>
              <a:t>Framework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8185" y="1302745"/>
            <a:ext cx="4513362" cy="2338537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5225100" y="1951178"/>
            <a:ext cx="3388995" cy="937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CLAM</a:t>
            </a:r>
            <a:r>
              <a:rPr sz="13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enables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unlimited</a:t>
            </a:r>
            <a:r>
              <a:rPr sz="13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chaining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of</a:t>
            </a:r>
            <a:r>
              <a:rPr sz="13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spc="-10" dirty="0">
                <a:solidFill>
                  <a:srgbClr val="595959"/>
                </a:solidFill>
                <a:latin typeface="Roboto"/>
                <a:cs typeface="Roboto"/>
              </a:rPr>
              <a:t>popular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optimization</a:t>
            </a:r>
            <a:r>
              <a:rPr sz="1300" spc="-1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techniques</a:t>
            </a:r>
            <a:r>
              <a:rPr sz="1300" spc="-1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in</a:t>
            </a:r>
            <a:r>
              <a:rPr sz="1300" spc="-1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spc="-20" dirty="0">
                <a:solidFill>
                  <a:srgbClr val="595959"/>
                </a:solidFill>
                <a:latin typeface="Roboto"/>
                <a:cs typeface="Roboto"/>
              </a:rPr>
              <a:t>parameter-</a:t>
            </a:r>
            <a:r>
              <a:rPr sz="1300" spc="-10" dirty="0">
                <a:solidFill>
                  <a:srgbClr val="595959"/>
                </a:solidFill>
                <a:latin typeface="Roboto"/>
                <a:cs typeface="Roboto"/>
              </a:rPr>
              <a:t>efficient finetuning,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quantization,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and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pruning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on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spc="-10" dirty="0">
                <a:solidFill>
                  <a:srgbClr val="595959"/>
                </a:solidFill>
                <a:latin typeface="Roboto"/>
                <a:cs typeface="Roboto"/>
              </a:rPr>
              <a:t>nearly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every</a:t>
            </a:r>
            <a:r>
              <a:rPr sz="13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modern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spc="-20" dirty="0">
                <a:solidFill>
                  <a:srgbClr val="595959"/>
                </a:solidFill>
                <a:latin typeface="Roboto"/>
                <a:cs typeface="Roboto"/>
              </a:rPr>
              <a:t>LLM.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5925" y="4136333"/>
            <a:ext cx="8241665" cy="516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N.</a:t>
            </a: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Velingker</a:t>
            </a: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et</a:t>
            </a: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al.</a:t>
            </a: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CLAM:</a:t>
            </a: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Unifying</a:t>
            </a: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Finetuning,</a:t>
            </a: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Quantization,</a:t>
            </a: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and</a:t>
            </a: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Pruning</a:t>
            </a:r>
            <a:r>
              <a:rPr sz="14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through</a:t>
            </a: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Unrestricted</a:t>
            </a: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Chaining</a:t>
            </a: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5" dirty="0">
                <a:solidFill>
                  <a:srgbClr val="595959"/>
                </a:solidFill>
                <a:latin typeface="Roboto"/>
                <a:cs typeface="Roboto"/>
              </a:rPr>
              <a:t>of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LLM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Adapter</a:t>
            </a:r>
            <a:r>
              <a:rPr sz="14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Modules.</a:t>
            </a:r>
            <a:r>
              <a:rPr sz="14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2024.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What</a:t>
            </a:r>
            <a:r>
              <a:rPr spc="30" dirty="0"/>
              <a:t> </a:t>
            </a:r>
            <a:r>
              <a:rPr dirty="0"/>
              <a:t>LLMs</a:t>
            </a:r>
            <a:r>
              <a:rPr spc="35" dirty="0"/>
              <a:t> </a:t>
            </a:r>
            <a:r>
              <a:rPr dirty="0"/>
              <a:t>Can</a:t>
            </a:r>
            <a:r>
              <a:rPr spc="35" dirty="0"/>
              <a:t> </a:t>
            </a:r>
            <a:r>
              <a:rPr dirty="0"/>
              <a:t>Do:</a:t>
            </a:r>
            <a:r>
              <a:rPr spc="35" dirty="0"/>
              <a:t> </a:t>
            </a:r>
            <a:r>
              <a:rPr dirty="0"/>
              <a:t>Key</a:t>
            </a:r>
            <a:r>
              <a:rPr spc="-15" dirty="0"/>
              <a:t> </a:t>
            </a:r>
            <a:r>
              <a:rPr spc="-10" dirty="0"/>
              <a:t>Topics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089355"/>
            <a:ext cx="4869815" cy="283464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10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Prompt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Engineering</a:t>
            </a:r>
            <a:endParaRPr sz="1800">
              <a:latin typeface="Arial"/>
              <a:cs typeface="Arial"/>
            </a:endParaRPr>
          </a:p>
          <a:p>
            <a:pPr marL="836294" lvl="1" indent="-366395">
              <a:lnSpc>
                <a:spcPct val="100000"/>
              </a:lnSpc>
              <a:spcBef>
                <a:spcPts val="1000"/>
              </a:spcBef>
              <a:buChar char="○"/>
              <a:tabLst>
                <a:tab pos="836294" algn="l"/>
              </a:tabLst>
            </a:pP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Few-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Shot,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Chain-of-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Thought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(CoT),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etc.</a:t>
            </a:r>
            <a:endParaRPr sz="18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buClr>
                <a:srgbClr val="595959"/>
              </a:buClr>
              <a:buFont typeface="Arial"/>
              <a:buChar char="○"/>
            </a:pPr>
            <a:endParaRPr sz="18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Clr>
                <a:srgbClr val="595959"/>
              </a:buClr>
              <a:buFont typeface="Arial"/>
              <a:buChar char="○"/>
            </a:pP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Adaptation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(aka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Fine-Tuning)</a:t>
            </a:r>
            <a:endParaRPr sz="1800">
              <a:latin typeface="Arial"/>
              <a:cs typeface="Arial"/>
            </a:endParaRPr>
          </a:p>
          <a:p>
            <a:pPr marL="836294" lvl="1" indent="-366395">
              <a:lnSpc>
                <a:spcPct val="100000"/>
              </a:lnSpc>
              <a:spcBef>
                <a:spcPts val="1000"/>
              </a:spcBef>
              <a:buChar char="○"/>
              <a:tabLst>
                <a:tab pos="836294" algn="l"/>
              </a:tabLst>
            </a:pP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Parameter-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Efficient</a:t>
            </a:r>
            <a:r>
              <a:rPr sz="1800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Techniques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(PEFT)</a:t>
            </a:r>
            <a:endParaRPr sz="1800">
              <a:latin typeface="Arial"/>
              <a:cs typeface="Arial"/>
            </a:endParaRPr>
          </a:p>
          <a:p>
            <a:pPr marL="836294" lvl="1" indent="-366395">
              <a:lnSpc>
                <a:spcPct val="100000"/>
              </a:lnSpc>
              <a:spcBef>
                <a:spcPts val="1000"/>
              </a:spcBef>
              <a:buChar char="○"/>
              <a:tabLst>
                <a:tab pos="836294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Design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Spaces</a:t>
            </a:r>
            <a:endParaRPr sz="1800">
              <a:latin typeface="Arial"/>
              <a:cs typeface="Arial"/>
            </a:endParaRPr>
          </a:p>
          <a:p>
            <a:pPr marL="836294" lvl="1" indent="-366395">
              <a:lnSpc>
                <a:spcPct val="100000"/>
              </a:lnSpc>
              <a:spcBef>
                <a:spcPts val="1000"/>
              </a:spcBef>
              <a:buChar char="○"/>
              <a:tabLst>
                <a:tab pos="836294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CLAM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Framework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89969" y="2266442"/>
            <a:ext cx="39630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Arial"/>
                <a:cs typeface="Arial"/>
              </a:rPr>
              <a:t>Limitations</a:t>
            </a:r>
            <a:r>
              <a:rPr sz="3600" spc="-10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of</a:t>
            </a:r>
            <a:r>
              <a:rPr sz="3600" spc="-10" dirty="0">
                <a:latin typeface="Arial"/>
                <a:cs typeface="Arial"/>
              </a:rPr>
              <a:t> </a:t>
            </a:r>
            <a:r>
              <a:rPr sz="3600" spc="-20" dirty="0">
                <a:latin typeface="Arial"/>
                <a:cs typeface="Arial"/>
              </a:rPr>
              <a:t>LLMs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Unreliable</a:t>
            </a:r>
            <a:r>
              <a:rPr spc="40" dirty="0"/>
              <a:t> </a:t>
            </a:r>
            <a:r>
              <a:rPr dirty="0"/>
              <a:t>Reasoning</a:t>
            </a:r>
            <a:r>
              <a:rPr spc="40" dirty="0"/>
              <a:t> </a:t>
            </a:r>
            <a:r>
              <a:rPr dirty="0"/>
              <a:t>Even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dirty="0"/>
              <a:t>Simple</a:t>
            </a:r>
            <a:r>
              <a:rPr spc="-10" dirty="0"/>
              <a:t> Tasks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4974" y="1384503"/>
            <a:ext cx="4260473" cy="264934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483131" y="2199046"/>
            <a:ext cx="26657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Probably</a:t>
            </a:r>
            <a:r>
              <a:rPr sz="1600" spc="-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due</a:t>
            </a:r>
            <a:r>
              <a:rPr sz="16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to</a:t>
            </a:r>
            <a:r>
              <a:rPr sz="16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Roboto"/>
                <a:cs typeface="Roboto"/>
              </a:rPr>
              <a:t>tokenization</a:t>
            </a:r>
            <a:r>
              <a:rPr sz="1600" spc="-10" dirty="0">
                <a:solidFill>
                  <a:srgbClr val="595959"/>
                </a:solidFill>
                <a:latin typeface="Roboto"/>
                <a:cs typeface="Roboto"/>
              </a:rPr>
              <a:t>!</a:t>
            </a:r>
            <a:endParaRPr sz="1600">
              <a:latin typeface="Roboto"/>
              <a:cs typeface="Roboto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15775" y="2716925"/>
            <a:ext cx="3897951" cy="279841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5413271" y="3218447"/>
            <a:ext cx="2886710" cy="982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595959"/>
                </a:solidFill>
                <a:latin typeface="Roboto"/>
                <a:cs typeface="Roboto"/>
              </a:rPr>
              <a:t>Generated</a:t>
            </a:r>
            <a:r>
              <a:rPr sz="16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by</a:t>
            </a:r>
            <a:r>
              <a:rPr sz="16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spc="-20" dirty="0">
                <a:solidFill>
                  <a:srgbClr val="595959"/>
                </a:solidFill>
                <a:latin typeface="Roboto"/>
                <a:cs typeface="Roboto"/>
              </a:rPr>
              <a:t>gpt-</a:t>
            </a:r>
            <a:r>
              <a:rPr sz="1600" spc="-30" dirty="0">
                <a:solidFill>
                  <a:srgbClr val="595959"/>
                </a:solidFill>
                <a:latin typeface="Roboto"/>
                <a:cs typeface="Roboto"/>
              </a:rPr>
              <a:t>4o’s</a:t>
            </a:r>
            <a:r>
              <a:rPr sz="16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Roboto"/>
                <a:cs typeface="Roboto"/>
              </a:rPr>
              <a:t>tokenizer.</a:t>
            </a:r>
            <a:endParaRPr sz="1600">
              <a:latin typeface="Roboto"/>
              <a:cs typeface="Roboto"/>
            </a:endParaRPr>
          </a:p>
          <a:p>
            <a:pPr marL="66675" marR="58419" indent="-635" algn="ctr">
              <a:lnSpc>
                <a:spcPct val="114999"/>
              </a:lnSpc>
              <a:spcBef>
                <a:spcPts val="1200"/>
              </a:spcBef>
            </a:pP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Try</a:t>
            </a:r>
            <a:r>
              <a:rPr sz="16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it</a:t>
            </a:r>
            <a:r>
              <a:rPr sz="16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out</a:t>
            </a:r>
            <a:r>
              <a:rPr sz="16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spc="-25" dirty="0">
                <a:solidFill>
                  <a:srgbClr val="595959"/>
                </a:solidFill>
                <a:latin typeface="Roboto"/>
                <a:cs typeface="Roboto"/>
              </a:rPr>
              <a:t>at: </a:t>
            </a:r>
            <a:r>
              <a:rPr sz="1600" u="heavy" spc="-20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Roboto"/>
                <a:cs typeface="Roboto"/>
                <a:hlinkClick r:id="rId4"/>
              </a:rPr>
              <a:t>https://tiktokenizer.vercel.app/</a:t>
            </a:r>
            <a:endParaRPr sz="16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Jailbreaking</a:t>
            </a:r>
            <a:r>
              <a:rPr spc="45" dirty="0"/>
              <a:t> </a:t>
            </a:r>
            <a:r>
              <a:rPr dirty="0"/>
              <a:t>Can</a:t>
            </a:r>
            <a:r>
              <a:rPr spc="50" dirty="0"/>
              <a:t> </a:t>
            </a:r>
            <a:r>
              <a:rPr dirty="0"/>
              <a:t>Bypass</a:t>
            </a:r>
            <a:r>
              <a:rPr spc="45" dirty="0"/>
              <a:t> </a:t>
            </a:r>
            <a:r>
              <a:rPr spc="-10" dirty="0"/>
              <a:t>Safety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0808" y="1170124"/>
            <a:ext cx="4977041" cy="269852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710800" y="1300820"/>
            <a:ext cx="2900680" cy="2402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715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Process</a:t>
            </a:r>
            <a:r>
              <a:rPr sz="13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of</a:t>
            </a:r>
            <a:r>
              <a:rPr sz="13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manipulating</a:t>
            </a:r>
            <a:r>
              <a:rPr sz="13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prompts</a:t>
            </a:r>
            <a:r>
              <a:rPr sz="13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to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bypass</a:t>
            </a:r>
            <a:r>
              <a:rPr sz="13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an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spc="-20" dirty="0">
                <a:solidFill>
                  <a:srgbClr val="595959"/>
                </a:solidFill>
                <a:latin typeface="Roboto"/>
                <a:cs typeface="Roboto"/>
              </a:rPr>
              <a:t>LLM’s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spc="-10" dirty="0">
                <a:solidFill>
                  <a:srgbClr val="595959"/>
                </a:solidFill>
                <a:latin typeface="Roboto"/>
                <a:cs typeface="Roboto"/>
              </a:rPr>
              <a:t>safeguards,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leading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 to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harmful</a:t>
            </a:r>
            <a:r>
              <a:rPr sz="13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spc="-10" dirty="0">
                <a:solidFill>
                  <a:srgbClr val="595959"/>
                </a:solidFill>
                <a:latin typeface="Roboto"/>
                <a:cs typeface="Roboto"/>
              </a:rPr>
              <a:t>outputs.</a:t>
            </a:r>
            <a:endParaRPr sz="1300">
              <a:latin typeface="Roboto"/>
              <a:cs typeface="Roboto"/>
            </a:endParaRPr>
          </a:p>
          <a:p>
            <a:pPr marL="12700" marR="5080">
              <a:lnSpc>
                <a:spcPct val="100000"/>
              </a:lnSpc>
              <a:spcBef>
                <a:spcPts val="1560"/>
              </a:spcBef>
            </a:pPr>
            <a:r>
              <a:rPr sz="1300" spc="-30" dirty="0">
                <a:solidFill>
                  <a:srgbClr val="595959"/>
                </a:solidFill>
                <a:latin typeface="Roboto"/>
                <a:cs typeface="Roboto"/>
              </a:rPr>
              <a:t>PAIR—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which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is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inspired</a:t>
            </a:r>
            <a:r>
              <a:rPr sz="1300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by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spc="-10" dirty="0">
                <a:solidFill>
                  <a:srgbClr val="595959"/>
                </a:solidFill>
                <a:latin typeface="Roboto"/>
                <a:cs typeface="Roboto"/>
              </a:rPr>
              <a:t>social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engineering</a:t>
            </a:r>
            <a:r>
              <a:rPr sz="1300" spc="-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spc="-20" dirty="0">
                <a:solidFill>
                  <a:srgbClr val="595959"/>
                </a:solidFill>
                <a:latin typeface="Roboto"/>
                <a:cs typeface="Roboto"/>
              </a:rPr>
              <a:t>attacks—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uses</a:t>
            </a:r>
            <a:r>
              <a:rPr sz="1300" spc="-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an </a:t>
            </a:r>
            <a:r>
              <a:rPr sz="1300" spc="-10" dirty="0">
                <a:solidFill>
                  <a:srgbClr val="595959"/>
                </a:solidFill>
                <a:latin typeface="Roboto"/>
                <a:cs typeface="Roboto"/>
              </a:rPr>
              <a:t>attacker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LLM</a:t>
            </a:r>
            <a:r>
              <a:rPr sz="1300" spc="-1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to</a:t>
            </a:r>
            <a:r>
              <a:rPr sz="1300" spc="-10" dirty="0">
                <a:solidFill>
                  <a:srgbClr val="595959"/>
                </a:solidFill>
                <a:latin typeface="Roboto"/>
                <a:cs typeface="Roboto"/>
              </a:rPr>
              <a:t> automatically generate jailbreaks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for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a</a:t>
            </a:r>
            <a:r>
              <a:rPr sz="1300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spc="-10" dirty="0">
                <a:solidFill>
                  <a:srgbClr val="595959"/>
                </a:solidFill>
                <a:latin typeface="Roboto"/>
                <a:cs typeface="Roboto"/>
              </a:rPr>
              <a:t>separate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targeted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spc="-20" dirty="0">
                <a:solidFill>
                  <a:srgbClr val="595959"/>
                </a:solidFill>
                <a:latin typeface="Roboto"/>
                <a:cs typeface="Roboto"/>
              </a:rPr>
              <a:t>LLM.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The</a:t>
            </a:r>
            <a:r>
              <a:rPr sz="1300" spc="-1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spc="-10" dirty="0">
                <a:solidFill>
                  <a:srgbClr val="595959"/>
                </a:solidFill>
                <a:latin typeface="Roboto"/>
                <a:cs typeface="Roboto"/>
              </a:rPr>
              <a:t>attacker</a:t>
            </a:r>
            <a:r>
              <a:rPr sz="1300" spc="-1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LLM</a:t>
            </a:r>
            <a:r>
              <a:rPr sz="1300" spc="-1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spc="-10" dirty="0">
                <a:solidFill>
                  <a:srgbClr val="595959"/>
                </a:solidFill>
                <a:latin typeface="Roboto"/>
                <a:cs typeface="Roboto"/>
              </a:rPr>
              <a:t>iteratively</a:t>
            </a:r>
            <a:r>
              <a:rPr sz="1300" spc="-1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queries</a:t>
            </a:r>
            <a:r>
              <a:rPr sz="1300" spc="-1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the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target</a:t>
            </a:r>
            <a:r>
              <a:rPr sz="13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LLM</a:t>
            </a:r>
            <a:r>
              <a:rPr sz="13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to</a:t>
            </a:r>
            <a:r>
              <a:rPr sz="13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update</a:t>
            </a:r>
            <a:r>
              <a:rPr sz="13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and</a:t>
            </a:r>
            <a:r>
              <a:rPr sz="13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spc="-10" dirty="0">
                <a:solidFill>
                  <a:srgbClr val="595959"/>
                </a:solidFill>
                <a:latin typeface="Roboto"/>
                <a:cs typeface="Roboto"/>
              </a:rPr>
              <a:t>refine</a:t>
            </a:r>
            <a:r>
              <a:rPr sz="13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spc="-50" dirty="0">
                <a:solidFill>
                  <a:srgbClr val="595959"/>
                </a:solidFill>
                <a:latin typeface="Roboto"/>
                <a:cs typeface="Roboto"/>
              </a:rPr>
              <a:t>a </a:t>
            </a:r>
            <a:r>
              <a:rPr sz="1300" spc="-10" dirty="0">
                <a:solidFill>
                  <a:srgbClr val="595959"/>
                </a:solidFill>
                <a:latin typeface="Roboto"/>
                <a:cs typeface="Roboto"/>
              </a:rPr>
              <a:t>candidate</a:t>
            </a:r>
            <a:r>
              <a:rPr sz="1300" spc="-1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spc="-10" dirty="0">
                <a:solidFill>
                  <a:srgbClr val="595959"/>
                </a:solidFill>
                <a:latin typeface="Roboto"/>
                <a:cs typeface="Roboto"/>
              </a:rPr>
              <a:t>jailbreak,</a:t>
            </a:r>
            <a:r>
              <a:rPr sz="1300" spc="-1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often</a:t>
            </a:r>
            <a:r>
              <a:rPr sz="1300" spc="-1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in</a:t>
            </a:r>
            <a:r>
              <a:rPr sz="1300" spc="-1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fewer</a:t>
            </a:r>
            <a:r>
              <a:rPr sz="1300" spc="-1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spc="-20" dirty="0">
                <a:solidFill>
                  <a:srgbClr val="595959"/>
                </a:solidFill>
                <a:latin typeface="Roboto"/>
                <a:cs typeface="Roboto"/>
              </a:rPr>
              <a:t>than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twenty</a:t>
            </a:r>
            <a:r>
              <a:rPr sz="13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spc="-10" dirty="0">
                <a:solidFill>
                  <a:srgbClr val="595959"/>
                </a:solidFill>
                <a:latin typeface="Roboto"/>
                <a:cs typeface="Roboto"/>
              </a:rPr>
              <a:t>queries.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31825" y="4499088"/>
            <a:ext cx="6782434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25" dirty="0">
                <a:solidFill>
                  <a:srgbClr val="595959"/>
                </a:solidFill>
                <a:latin typeface="Roboto"/>
                <a:cs typeface="Roboto"/>
              </a:rPr>
              <a:t>P.</a:t>
            </a:r>
            <a:r>
              <a:rPr sz="1400" spc="-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Chao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et</a:t>
            </a:r>
            <a:r>
              <a:rPr sz="14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al.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Jailbreaking</a:t>
            </a:r>
            <a:r>
              <a:rPr sz="1400" u="heavy" spc="-2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Black</a:t>
            </a:r>
            <a:r>
              <a:rPr sz="1400" u="heavy" spc="-2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Box</a:t>
            </a:r>
            <a:r>
              <a:rPr sz="1400" u="heavy" spc="-2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Large</a:t>
            </a:r>
            <a:r>
              <a:rPr sz="1400" u="heavy" spc="-2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4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Language</a:t>
            </a:r>
            <a:r>
              <a:rPr sz="1400" u="heavy" spc="-2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Models</a:t>
            </a:r>
            <a:r>
              <a:rPr sz="1400" u="heavy" spc="-2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in</a:t>
            </a:r>
            <a:r>
              <a:rPr sz="1400" u="heavy" spc="-5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4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Twenty</a:t>
            </a:r>
            <a:r>
              <a:rPr sz="1400" u="heavy" spc="-2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Queries</a:t>
            </a:r>
            <a:r>
              <a:rPr sz="1400" u="none" dirty="0">
                <a:solidFill>
                  <a:srgbClr val="595959"/>
                </a:solidFill>
                <a:latin typeface="Roboto"/>
                <a:cs typeface="Roboto"/>
              </a:rPr>
              <a:t>.</a:t>
            </a:r>
            <a:r>
              <a:rPr sz="1400" u="none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u="none" spc="-10" dirty="0">
                <a:solidFill>
                  <a:srgbClr val="595959"/>
                </a:solidFill>
                <a:latin typeface="Roboto"/>
                <a:cs typeface="Roboto"/>
              </a:rPr>
              <a:t>2023.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Long</a:t>
            </a:r>
            <a:r>
              <a:rPr spc="65" dirty="0"/>
              <a:t> </a:t>
            </a:r>
            <a:r>
              <a:rPr dirty="0"/>
              <a:t>Contexts</a:t>
            </a:r>
            <a:r>
              <a:rPr spc="65" dirty="0"/>
              <a:t> </a:t>
            </a:r>
            <a:r>
              <a:rPr dirty="0"/>
              <a:t>Can</a:t>
            </a:r>
            <a:r>
              <a:rPr spc="70" dirty="0"/>
              <a:t> </a:t>
            </a:r>
            <a:r>
              <a:rPr dirty="0"/>
              <a:t>Hurt</a:t>
            </a:r>
            <a:r>
              <a:rPr spc="65" dirty="0"/>
              <a:t> </a:t>
            </a:r>
            <a:r>
              <a:rPr spc="-10" dirty="0"/>
              <a:t>Accuracy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0653" y="1267282"/>
            <a:ext cx="2664714" cy="2498171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3959225" y="1757221"/>
            <a:ext cx="4239260" cy="1412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Changing</a:t>
            </a:r>
            <a:r>
              <a:rPr sz="13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the</a:t>
            </a:r>
            <a:r>
              <a:rPr sz="13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location</a:t>
            </a:r>
            <a:r>
              <a:rPr sz="13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of</a:t>
            </a:r>
            <a:r>
              <a:rPr sz="13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relevant</a:t>
            </a:r>
            <a:r>
              <a:rPr sz="13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information</a:t>
            </a:r>
            <a:r>
              <a:rPr sz="13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within</a:t>
            </a:r>
            <a:r>
              <a:rPr sz="13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the </a:t>
            </a:r>
            <a:r>
              <a:rPr sz="1300" spc="-10" dirty="0">
                <a:solidFill>
                  <a:srgbClr val="595959"/>
                </a:solidFill>
                <a:latin typeface="Roboto"/>
                <a:cs typeface="Roboto"/>
              </a:rPr>
              <a:t>model’s</a:t>
            </a:r>
            <a:r>
              <a:rPr sz="13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input</a:t>
            </a:r>
            <a:r>
              <a:rPr sz="13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context</a:t>
            </a:r>
            <a:r>
              <a:rPr sz="13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results</a:t>
            </a:r>
            <a:r>
              <a:rPr sz="13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in</a:t>
            </a:r>
            <a:r>
              <a:rPr sz="13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a</a:t>
            </a:r>
            <a:r>
              <a:rPr sz="13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spc="-20" dirty="0">
                <a:solidFill>
                  <a:srgbClr val="595959"/>
                </a:solidFill>
                <a:latin typeface="Roboto"/>
                <a:cs typeface="Roboto"/>
              </a:rPr>
              <a:t>U-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shaped</a:t>
            </a:r>
            <a:r>
              <a:rPr sz="13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spc="-10" dirty="0">
                <a:solidFill>
                  <a:srgbClr val="595959"/>
                </a:solidFill>
                <a:latin typeface="Roboto"/>
                <a:cs typeface="Roboto"/>
              </a:rPr>
              <a:t>performance curve—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models</a:t>
            </a:r>
            <a:r>
              <a:rPr sz="13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are</a:t>
            </a:r>
            <a:r>
              <a:rPr sz="13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better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at</a:t>
            </a:r>
            <a:r>
              <a:rPr sz="13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using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relevant</a:t>
            </a:r>
            <a:r>
              <a:rPr sz="13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spc="-10" dirty="0">
                <a:solidFill>
                  <a:srgbClr val="595959"/>
                </a:solidFill>
                <a:latin typeface="Roboto"/>
                <a:cs typeface="Roboto"/>
              </a:rPr>
              <a:t>information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that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occurs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at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the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very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beginning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(primacy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bias)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or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end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 of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its</a:t>
            </a:r>
            <a:r>
              <a:rPr sz="13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input</a:t>
            </a:r>
            <a:r>
              <a:rPr sz="13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context</a:t>
            </a:r>
            <a:r>
              <a:rPr sz="13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(recency</a:t>
            </a:r>
            <a:r>
              <a:rPr sz="13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bias),</a:t>
            </a:r>
            <a:r>
              <a:rPr sz="13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and</a:t>
            </a:r>
            <a:r>
              <a:rPr sz="13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spc="-10" dirty="0">
                <a:solidFill>
                  <a:srgbClr val="595959"/>
                </a:solidFill>
                <a:latin typeface="Roboto"/>
                <a:cs typeface="Roboto"/>
              </a:rPr>
              <a:t>performance degrades</a:t>
            </a:r>
            <a:r>
              <a:rPr sz="13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spc="-10" dirty="0">
                <a:solidFill>
                  <a:srgbClr val="595959"/>
                </a:solidFill>
                <a:latin typeface="Roboto"/>
                <a:cs typeface="Roboto"/>
              </a:rPr>
              <a:t>significantly</a:t>
            </a:r>
            <a:r>
              <a:rPr sz="13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when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models</a:t>
            </a:r>
            <a:r>
              <a:rPr sz="13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must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access</a:t>
            </a:r>
            <a:r>
              <a:rPr sz="13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and</a:t>
            </a:r>
            <a:r>
              <a:rPr sz="13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use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information</a:t>
            </a:r>
            <a:r>
              <a:rPr sz="13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located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in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the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middle</a:t>
            </a:r>
            <a:r>
              <a:rPr sz="13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of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its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595959"/>
                </a:solidFill>
                <a:latin typeface="Roboto"/>
                <a:cs typeface="Roboto"/>
              </a:rPr>
              <a:t>input</a:t>
            </a:r>
            <a:r>
              <a:rPr sz="13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300" spc="-10" dirty="0">
                <a:solidFill>
                  <a:srgbClr val="595959"/>
                </a:solidFill>
                <a:latin typeface="Roboto"/>
                <a:cs typeface="Roboto"/>
              </a:rPr>
              <a:t>context.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09625" y="4206862"/>
            <a:ext cx="64128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N.</a:t>
            </a: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Liu.</a:t>
            </a:r>
            <a:r>
              <a:rPr sz="14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Lost</a:t>
            </a:r>
            <a:r>
              <a:rPr sz="14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in</a:t>
            </a:r>
            <a:r>
              <a:rPr sz="14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the</a:t>
            </a:r>
            <a:r>
              <a:rPr sz="14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Middle: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How</a:t>
            </a:r>
            <a:r>
              <a:rPr sz="1400" u="heavy" spc="-3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4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Language</a:t>
            </a:r>
            <a:r>
              <a:rPr sz="1400" u="heavy" spc="-3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Models</a:t>
            </a:r>
            <a:r>
              <a:rPr sz="1400" u="heavy" spc="-3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Use</a:t>
            </a:r>
            <a:r>
              <a:rPr sz="1400" u="heavy" spc="-3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Long</a:t>
            </a:r>
            <a:r>
              <a:rPr sz="1400" u="heavy" spc="-3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4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Contexts</a:t>
            </a:r>
            <a:r>
              <a:rPr sz="1400" u="none" spc="-10" dirty="0">
                <a:solidFill>
                  <a:srgbClr val="595959"/>
                </a:solidFill>
                <a:latin typeface="Roboto"/>
                <a:cs typeface="Roboto"/>
              </a:rPr>
              <a:t>.</a:t>
            </a:r>
            <a:r>
              <a:rPr sz="1400" u="none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u="none" dirty="0">
                <a:solidFill>
                  <a:srgbClr val="595959"/>
                </a:solidFill>
                <a:latin typeface="Roboto"/>
                <a:cs typeface="Roboto"/>
              </a:rPr>
              <a:t>TACL</a:t>
            </a:r>
            <a:r>
              <a:rPr sz="1400" u="none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u="none" spc="-10" dirty="0">
                <a:solidFill>
                  <a:srgbClr val="595959"/>
                </a:solidFill>
                <a:latin typeface="Roboto"/>
                <a:cs typeface="Roboto"/>
              </a:rPr>
              <a:t>2023.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Limitations</a:t>
            </a:r>
            <a:r>
              <a:rPr spc="35" dirty="0"/>
              <a:t> </a:t>
            </a:r>
            <a:r>
              <a:rPr dirty="0"/>
              <a:t>of</a:t>
            </a:r>
            <a:r>
              <a:rPr spc="40" dirty="0"/>
              <a:t> </a:t>
            </a:r>
            <a:r>
              <a:rPr dirty="0"/>
              <a:t>LLMs:</a:t>
            </a:r>
            <a:r>
              <a:rPr spc="40" dirty="0"/>
              <a:t> </a:t>
            </a:r>
            <a:r>
              <a:rPr dirty="0"/>
              <a:t>Key</a:t>
            </a:r>
            <a:r>
              <a:rPr spc="-10" dirty="0"/>
              <a:t> Topics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475249" y="1368755"/>
            <a:ext cx="2840355" cy="2512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Reasoning</a:t>
            </a:r>
            <a:r>
              <a:rPr sz="18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and</a:t>
            </a:r>
            <a:r>
              <a:rPr sz="18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Planning</a:t>
            </a:r>
            <a:endParaRPr sz="1800">
              <a:latin typeface="Roboto"/>
              <a:cs typeface="Roboto"/>
            </a:endParaRPr>
          </a:p>
          <a:p>
            <a:pPr marL="379095" indent="-366395">
              <a:lnSpc>
                <a:spcPct val="100000"/>
              </a:lnSpc>
              <a:spcBef>
                <a:spcPts val="1320"/>
              </a:spcBef>
              <a:buFont typeface="Arial"/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Hallucinations</a:t>
            </a:r>
            <a:endParaRPr sz="1800">
              <a:latin typeface="Roboto"/>
              <a:cs typeface="Roboto"/>
            </a:endParaRPr>
          </a:p>
          <a:p>
            <a:pPr marL="379095" indent="-366395">
              <a:lnSpc>
                <a:spcPct val="100000"/>
              </a:lnSpc>
              <a:spcBef>
                <a:spcPts val="1325"/>
              </a:spcBef>
              <a:buFont typeface="Arial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Limited</a:t>
            </a:r>
            <a:r>
              <a:rPr sz="18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Context</a:t>
            </a:r>
            <a:endParaRPr sz="1800">
              <a:latin typeface="Roboto"/>
              <a:cs typeface="Roboto"/>
            </a:endParaRPr>
          </a:p>
          <a:p>
            <a:pPr marL="379095" indent="-366395">
              <a:lnSpc>
                <a:spcPct val="100000"/>
              </a:lnSpc>
              <a:spcBef>
                <a:spcPts val="1325"/>
              </a:spcBef>
              <a:buFont typeface="Arial"/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Safety</a:t>
            </a:r>
            <a:endParaRPr sz="1800">
              <a:latin typeface="Roboto"/>
              <a:cs typeface="Roboto"/>
            </a:endParaRPr>
          </a:p>
          <a:p>
            <a:pPr marL="379095" indent="-366395">
              <a:lnSpc>
                <a:spcPct val="100000"/>
              </a:lnSpc>
              <a:spcBef>
                <a:spcPts val="1325"/>
              </a:spcBef>
              <a:buFont typeface="Arial"/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Interpretability</a:t>
            </a:r>
            <a:endParaRPr sz="1800">
              <a:latin typeface="Roboto"/>
              <a:cs typeface="Roboto"/>
            </a:endParaRPr>
          </a:p>
          <a:p>
            <a:pPr marL="379095" indent="-366395">
              <a:lnSpc>
                <a:spcPct val="100000"/>
              </a:lnSpc>
              <a:spcBef>
                <a:spcPts val="1325"/>
              </a:spcBef>
              <a:buFont typeface="Arial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Cost</a:t>
            </a:r>
            <a:r>
              <a:rPr sz="1800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and</a:t>
            </a:r>
            <a:r>
              <a:rPr sz="1800" spc="-1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Energy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606935" y="2266442"/>
            <a:ext cx="39274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Arial"/>
                <a:cs typeface="Arial"/>
              </a:rPr>
              <a:t>What</a:t>
            </a:r>
            <a:r>
              <a:rPr sz="3600" spc="-20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Is</a:t>
            </a:r>
            <a:r>
              <a:rPr sz="3600" spc="-80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The</a:t>
            </a:r>
            <a:r>
              <a:rPr sz="3600" spc="-10" dirty="0">
                <a:latin typeface="Arial"/>
                <a:cs typeface="Arial"/>
              </a:rPr>
              <a:t> Future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Synthetic</a:t>
            </a:r>
            <a:r>
              <a:rPr spc="35" dirty="0"/>
              <a:t> </a:t>
            </a:r>
            <a:r>
              <a:rPr dirty="0"/>
              <a:t>Data</a:t>
            </a:r>
            <a:r>
              <a:rPr spc="35" dirty="0"/>
              <a:t> </a:t>
            </a:r>
            <a:r>
              <a:rPr dirty="0"/>
              <a:t>/</a:t>
            </a:r>
            <a:r>
              <a:rPr spc="40" dirty="0"/>
              <a:t> </a:t>
            </a:r>
            <a:r>
              <a:rPr spc="-10" dirty="0"/>
              <a:t>Distillation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87780"/>
            <a:ext cx="8021955" cy="887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350" i="1" dirty="0">
                <a:solidFill>
                  <a:srgbClr val="344854"/>
                </a:solidFill>
                <a:latin typeface="Roboto"/>
                <a:cs typeface="Roboto"/>
              </a:rPr>
              <a:t>“In</a:t>
            </a:r>
            <a:r>
              <a:rPr sz="1350" i="1" spc="-30" dirty="0">
                <a:solidFill>
                  <a:srgbClr val="344854"/>
                </a:solidFill>
                <a:latin typeface="Roboto"/>
                <a:cs typeface="Roboto"/>
              </a:rPr>
              <a:t> </a:t>
            </a:r>
            <a:r>
              <a:rPr sz="1350" i="1" spc="-10" dirty="0">
                <a:solidFill>
                  <a:srgbClr val="344854"/>
                </a:solidFill>
                <a:latin typeface="Roboto"/>
                <a:cs typeface="Roboto"/>
              </a:rPr>
              <a:t>addition</a:t>
            </a:r>
            <a:r>
              <a:rPr sz="1350" i="1" spc="-30" dirty="0">
                <a:solidFill>
                  <a:srgbClr val="344854"/>
                </a:solidFill>
                <a:latin typeface="Roboto"/>
                <a:cs typeface="Roboto"/>
              </a:rPr>
              <a:t> </a:t>
            </a:r>
            <a:r>
              <a:rPr sz="1350" i="1" dirty="0">
                <a:solidFill>
                  <a:srgbClr val="344854"/>
                </a:solidFill>
                <a:latin typeface="Roboto"/>
                <a:cs typeface="Roboto"/>
              </a:rPr>
              <a:t>to</a:t>
            </a:r>
            <a:r>
              <a:rPr sz="1350" i="1" spc="-25" dirty="0">
                <a:solidFill>
                  <a:srgbClr val="344854"/>
                </a:solidFill>
                <a:latin typeface="Roboto"/>
                <a:cs typeface="Roboto"/>
              </a:rPr>
              <a:t> </a:t>
            </a:r>
            <a:r>
              <a:rPr sz="1350" i="1" dirty="0">
                <a:solidFill>
                  <a:srgbClr val="344854"/>
                </a:solidFill>
                <a:latin typeface="Roboto"/>
                <a:cs typeface="Roboto"/>
              </a:rPr>
              <a:t>having</a:t>
            </a:r>
            <a:r>
              <a:rPr sz="1350" i="1" spc="-30" dirty="0">
                <a:solidFill>
                  <a:srgbClr val="344854"/>
                </a:solidFill>
                <a:latin typeface="Roboto"/>
                <a:cs typeface="Roboto"/>
              </a:rPr>
              <a:t> </a:t>
            </a:r>
            <a:r>
              <a:rPr sz="1350" i="1" spc="-10" dirty="0">
                <a:solidFill>
                  <a:srgbClr val="344854"/>
                </a:solidFill>
                <a:latin typeface="Roboto"/>
                <a:cs typeface="Roboto"/>
              </a:rPr>
              <a:t>significantly</a:t>
            </a:r>
            <a:r>
              <a:rPr sz="1350" i="1" spc="-25" dirty="0">
                <a:solidFill>
                  <a:srgbClr val="344854"/>
                </a:solidFill>
                <a:latin typeface="Roboto"/>
                <a:cs typeface="Roboto"/>
              </a:rPr>
              <a:t> </a:t>
            </a:r>
            <a:r>
              <a:rPr sz="1350" i="1" dirty="0">
                <a:solidFill>
                  <a:srgbClr val="344854"/>
                </a:solidFill>
                <a:latin typeface="Roboto"/>
                <a:cs typeface="Roboto"/>
              </a:rPr>
              <a:t>better</a:t>
            </a:r>
            <a:r>
              <a:rPr sz="1350" i="1" spc="-30" dirty="0">
                <a:solidFill>
                  <a:srgbClr val="344854"/>
                </a:solidFill>
                <a:latin typeface="Roboto"/>
                <a:cs typeface="Roboto"/>
              </a:rPr>
              <a:t> </a:t>
            </a:r>
            <a:r>
              <a:rPr sz="1350" i="1" spc="-10" dirty="0">
                <a:solidFill>
                  <a:srgbClr val="344854"/>
                </a:solidFill>
                <a:latin typeface="Roboto"/>
                <a:cs typeface="Roboto"/>
              </a:rPr>
              <a:t>cost/performance</a:t>
            </a:r>
            <a:r>
              <a:rPr sz="1350" i="1" spc="-25" dirty="0">
                <a:solidFill>
                  <a:srgbClr val="344854"/>
                </a:solidFill>
                <a:latin typeface="Roboto"/>
                <a:cs typeface="Roboto"/>
              </a:rPr>
              <a:t> </a:t>
            </a:r>
            <a:r>
              <a:rPr sz="1350" i="1" spc="-10" dirty="0">
                <a:solidFill>
                  <a:srgbClr val="344854"/>
                </a:solidFill>
                <a:latin typeface="Roboto"/>
                <a:cs typeface="Roboto"/>
              </a:rPr>
              <a:t>relative</a:t>
            </a:r>
            <a:r>
              <a:rPr sz="1350" i="1" spc="-30" dirty="0">
                <a:solidFill>
                  <a:srgbClr val="344854"/>
                </a:solidFill>
                <a:latin typeface="Roboto"/>
                <a:cs typeface="Roboto"/>
              </a:rPr>
              <a:t> </a:t>
            </a:r>
            <a:r>
              <a:rPr sz="1350" i="1" dirty="0">
                <a:solidFill>
                  <a:srgbClr val="344854"/>
                </a:solidFill>
                <a:latin typeface="Roboto"/>
                <a:cs typeface="Roboto"/>
              </a:rPr>
              <a:t>to</a:t>
            </a:r>
            <a:r>
              <a:rPr sz="1350" i="1" spc="-25" dirty="0">
                <a:solidFill>
                  <a:srgbClr val="344854"/>
                </a:solidFill>
                <a:latin typeface="Roboto"/>
                <a:cs typeface="Roboto"/>
              </a:rPr>
              <a:t> </a:t>
            </a:r>
            <a:r>
              <a:rPr sz="1350" i="1" dirty="0">
                <a:solidFill>
                  <a:srgbClr val="344854"/>
                </a:solidFill>
                <a:latin typeface="Roboto"/>
                <a:cs typeface="Roboto"/>
              </a:rPr>
              <a:t>closed</a:t>
            </a:r>
            <a:r>
              <a:rPr sz="1350" i="1" spc="-30" dirty="0">
                <a:solidFill>
                  <a:srgbClr val="344854"/>
                </a:solidFill>
                <a:latin typeface="Roboto"/>
                <a:cs typeface="Roboto"/>
              </a:rPr>
              <a:t> </a:t>
            </a:r>
            <a:r>
              <a:rPr sz="1350" i="1" dirty="0">
                <a:solidFill>
                  <a:srgbClr val="344854"/>
                </a:solidFill>
                <a:latin typeface="Roboto"/>
                <a:cs typeface="Roboto"/>
              </a:rPr>
              <a:t>models,</a:t>
            </a:r>
            <a:r>
              <a:rPr sz="1350" i="1" spc="-25" dirty="0">
                <a:solidFill>
                  <a:srgbClr val="344854"/>
                </a:solidFill>
                <a:latin typeface="Roboto"/>
                <a:cs typeface="Roboto"/>
              </a:rPr>
              <a:t> </a:t>
            </a:r>
            <a:r>
              <a:rPr sz="1350" i="1" dirty="0">
                <a:solidFill>
                  <a:srgbClr val="344854"/>
                </a:solidFill>
                <a:latin typeface="Roboto"/>
                <a:cs typeface="Roboto"/>
              </a:rPr>
              <a:t>the</a:t>
            </a:r>
            <a:r>
              <a:rPr sz="1350" i="1" spc="-30" dirty="0">
                <a:solidFill>
                  <a:srgbClr val="344854"/>
                </a:solidFill>
                <a:latin typeface="Roboto"/>
                <a:cs typeface="Roboto"/>
              </a:rPr>
              <a:t> </a:t>
            </a:r>
            <a:r>
              <a:rPr sz="1350" i="1" dirty="0">
                <a:solidFill>
                  <a:srgbClr val="344854"/>
                </a:solidFill>
                <a:latin typeface="Roboto"/>
                <a:cs typeface="Roboto"/>
              </a:rPr>
              <a:t>fact</a:t>
            </a:r>
            <a:r>
              <a:rPr sz="1350" i="1" spc="-25" dirty="0">
                <a:solidFill>
                  <a:srgbClr val="344854"/>
                </a:solidFill>
                <a:latin typeface="Roboto"/>
                <a:cs typeface="Roboto"/>
              </a:rPr>
              <a:t> </a:t>
            </a:r>
            <a:r>
              <a:rPr sz="1350" i="1" dirty="0">
                <a:solidFill>
                  <a:srgbClr val="344854"/>
                </a:solidFill>
                <a:latin typeface="Roboto"/>
                <a:cs typeface="Roboto"/>
              </a:rPr>
              <a:t>that</a:t>
            </a:r>
            <a:r>
              <a:rPr sz="1350" i="1" spc="-30" dirty="0">
                <a:solidFill>
                  <a:srgbClr val="344854"/>
                </a:solidFill>
                <a:latin typeface="Roboto"/>
                <a:cs typeface="Roboto"/>
              </a:rPr>
              <a:t> </a:t>
            </a:r>
            <a:r>
              <a:rPr sz="1350" i="1" dirty="0">
                <a:solidFill>
                  <a:srgbClr val="344854"/>
                </a:solidFill>
                <a:latin typeface="Roboto"/>
                <a:cs typeface="Roboto"/>
              </a:rPr>
              <a:t>the</a:t>
            </a:r>
            <a:r>
              <a:rPr sz="1350" i="1" spc="25" dirty="0">
                <a:solidFill>
                  <a:srgbClr val="344854"/>
                </a:solidFill>
                <a:latin typeface="Roboto"/>
                <a:cs typeface="Roboto"/>
              </a:rPr>
              <a:t> </a:t>
            </a:r>
            <a:r>
              <a:rPr sz="1350" b="1" i="1" spc="-20" dirty="0">
                <a:solidFill>
                  <a:srgbClr val="344854"/>
                </a:solidFill>
                <a:latin typeface="Roboto"/>
                <a:cs typeface="Roboto"/>
              </a:rPr>
              <a:t>405B </a:t>
            </a:r>
            <a:r>
              <a:rPr sz="1350" i="1" dirty="0">
                <a:solidFill>
                  <a:srgbClr val="344854"/>
                </a:solidFill>
                <a:latin typeface="Roboto"/>
                <a:cs typeface="Roboto"/>
              </a:rPr>
              <a:t>model</a:t>
            </a:r>
            <a:r>
              <a:rPr sz="1350" i="1" spc="-30" dirty="0">
                <a:solidFill>
                  <a:srgbClr val="344854"/>
                </a:solidFill>
                <a:latin typeface="Roboto"/>
                <a:cs typeface="Roboto"/>
              </a:rPr>
              <a:t> </a:t>
            </a:r>
            <a:r>
              <a:rPr sz="1350" i="1" dirty="0">
                <a:solidFill>
                  <a:srgbClr val="344854"/>
                </a:solidFill>
                <a:latin typeface="Roboto"/>
                <a:cs typeface="Roboto"/>
              </a:rPr>
              <a:t>is</a:t>
            </a:r>
            <a:r>
              <a:rPr sz="1350" i="1" spc="-30" dirty="0">
                <a:solidFill>
                  <a:srgbClr val="344854"/>
                </a:solidFill>
                <a:latin typeface="Roboto"/>
                <a:cs typeface="Roboto"/>
              </a:rPr>
              <a:t> </a:t>
            </a:r>
            <a:r>
              <a:rPr sz="1350" i="1" dirty="0">
                <a:solidFill>
                  <a:srgbClr val="344854"/>
                </a:solidFill>
                <a:latin typeface="Roboto"/>
                <a:cs typeface="Roboto"/>
              </a:rPr>
              <a:t>open</a:t>
            </a:r>
            <a:r>
              <a:rPr sz="1350" i="1" spc="-30" dirty="0">
                <a:solidFill>
                  <a:srgbClr val="344854"/>
                </a:solidFill>
                <a:latin typeface="Roboto"/>
                <a:cs typeface="Roboto"/>
              </a:rPr>
              <a:t> </a:t>
            </a:r>
            <a:r>
              <a:rPr sz="1350" i="1" dirty="0">
                <a:solidFill>
                  <a:srgbClr val="344854"/>
                </a:solidFill>
                <a:latin typeface="Roboto"/>
                <a:cs typeface="Roboto"/>
              </a:rPr>
              <a:t>will</a:t>
            </a:r>
            <a:r>
              <a:rPr sz="1350" i="1" spc="-30" dirty="0">
                <a:solidFill>
                  <a:srgbClr val="344854"/>
                </a:solidFill>
                <a:latin typeface="Roboto"/>
                <a:cs typeface="Roboto"/>
              </a:rPr>
              <a:t> </a:t>
            </a:r>
            <a:r>
              <a:rPr sz="1350" i="1" dirty="0">
                <a:solidFill>
                  <a:srgbClr val="344854"/>
                </a:solidFill>
                <a:latin typeface="Roboto"/>
                <a:cs typeface="Roboto"/>
              </a:rPr>
              <a:t>make</a:t>
            </a:r>
            <a:r>
              <a:rPr sz="1350" i="1" spc="-30" dirty="0">
                <a:solidFill>
                  <a:srgbClr val="344854"/>
                </a:solidFill>
                <a:latin typeface="Roboto"/>
                <a:cs typeface="Roboto"/>
              </a:rPr>
              <a:t> </a:t>
            </a:r>
            <a:r>
              <a:rPr sz="1350" i="1" dirty="0">
                <a:solidFill>
                  <a:srgbClr val="344854"/>
                </a:solidFill>
                <a:latin typeface="Roboto"/>
                <a:cs typeface="Roboto"/>
              </a:rPr>
              <a:t>it</a:t>
            </a:r>
            <a:r>
              <a:rPr sz="1350" i="1" spc="-30" dirty="0">
                <a:solidFill>
                  <a:srgbClr val="344854"/>
                </a:solidFill>
                <a:latin typeface="Roboto"/>
                <a:cs typeface="Roboto"/>
              </a:rPr>
              <a:t> </a:t>
            </a:r>
            <a:r>
              <a:rPr sz="1350" i="1" dirty="0">
                <a:solidFill>
                  <a:srgbClr val="344854"/>
                </a:solidFill>
                <a:latin typeface="Roboto"/>
                <a:cs typeface="Roboto"/>
              </a:rPr>
              <a:t>the</a:t>
            </a:r>
            <a:r>
              <a:rPr sz="1350" i="1" spc="-30" dirty="0">
                <a:solidFill>
                  <a:srgbClr val="344854"/>
                </a:solidFill>
                <a:latin typeface="Roboto"/>
                <a:cs typeface="Roboto"/>
              </a:rPr>
              <a:t> </a:t>
            </a:r>
            <a:r>
              <a:rPr sz="1350" i="1" dirty="0">
                <a:solidFill>
                  <a:srgbClr val="344854"/>
                </a:solidFill>
                <a:latin typeface="Roboto"/>
                <a:cs typeface="Roboto"/>
              </a:rPr>
              <a:t>best</a:t>
            </a:r>
            <a:r>
              <a:rPr sz="1350" i="1" spc="-30" dirty="0">
                <a:solidFill>
                  <a:srgbClr val="344854"/>
                </a:solidFill>
                <a:latin typeface="Roboto"/>
                <a:cs typeface="Roboto"/>
              </a:rPr>
              <a:t> </a:t>
            </a:r>
            <a:r>
              <a:rPr sz="1350" i="1" dirty="0">
                <a:solidFill>
                  <a:srgbClr val="344854"/>
                </a:solidFill>
                <a:latin typeface="Roboto"/>
                <a:cs typeface="Roboto"/>
              </a:rPr>
              <a:t>choice</a:t>
            </a:r>
            <a:r>
              <a:rPr sz="1350" i="1" spc="-30" dirty="0">
                <a:solidFill>
                  <a:srgbClr val="344854"/>
                </a:solidFill>
                <a:latin typeface="Roboto"/>
                <a:cs typeface="Roboto"/>
              </a:rPr>
              <a:t> </a:t>
            </a:r>
            <a:r>
              <a:rPr sz="1350" i="1" dirty="0">
                <a:solidFill>
                  <a:srgbClr val="344854"/>
                </a:solidFill>
                <a:latin typeface="Roboto"/>
                <a:cs typeface="Roboto"/>
              </a:rPr>
              <a:t>for</a:t>
            </a:r>
            <a:r>
              <a:rPr sz="1350" i="1" spc="-5" dirty="0">
                <a:solidFill>
                  <a:srgbClr val="344854"/>
                </a:solidFill>
                <a:latin typeface="Roboto"/>
                <a:cs typeface="Roboto"/>
              </a:rPr>
              <a:t> </a:t>
            </a:r>
            <a:r>
              <a:rPr sz="1350" b="1" i="1" spc="-10" dirty="0">
                <a:solidFill>
                  <a:srgbClr val="344854"/>
                </a:solidFill>
                <a:latin typeface="Roboto"/>
                <a:cs typeface="Roboto"/>
              </a:rPr>
              <a:t>ﬁne-</a:t>
            </a:r>
            <a:r>
              <a:rPr sz="1350" b="1" i="1" dirty="0">
                <a:solidFill>
                  <a:srgbClr val="344854"/>
                </a:solidFill>
                <a:latin typeface="Roboto"/>
                <a:cs typeface="Roboto"/>
              </a:rPr>
              <a:t>tuning</a:t>
            </a:r>
            <a:r>
              <a:rPr sz="1350" b="1" i="1" spc="-20" dirty="0">
                <a:solidFill>
                  <a:srgbClr val="344854"/>
                </a:solidFill>
                <a:latin typeface="Roboto"/>
                <a:cs typeface="Roboto"/>
              </a:rPr>
              <a:t> </a:t>
            </a:r>
            <a:r>
              <a:rPr sz="1350" i="1" dirty="0">
                <a:solidFill>
                  <a:srgbClr val="344854"/>
                </a:solidFill>
                <a:latin typeface="Roboto"/>
                <a:cs typeface="Roboto"/>
              </a:rPr>
              <a:t>and</a:t>
            </a:r>
            <a:r>
              <a:rPr sz="1350" i="1" spc="-25" dirty="0">
                <a:solidFill>
                  <a:srgbClr val="344854"/>
                </a:solidFill>
                <a:latin typeface="Roboto"/>
                <a:cs typeface="Roboto"/>
              </a:rPr>
              <a:t> </a:t>
            </a:r>
            <a:r>
              <a:rPr sz="1350" b="1" i="1" dirty="0">
                <a:solidFill>
                  <a:srgbClr val="344854"/>
                </a:solidFill>
                <a:latin typeface="Roboto"/>
                <a:cs typeface="Roboto"/>
              </a:rPr>
              <a:t>distilling</a:t>
            </a:r>
            <a:r>
              <a:rPr sz="1350" b="1" i="1" spc="-20" dirty="0">
                <a:solidFill>
                  <a:srgbClr val="344854"/>
                </a:solidFill>
                <a:latin typeface="Roboto"/>
                <a:cs typeface="Roboto"/>
              </a:rPr>
              <a:t> </a:t>
            </a:r>
            <a:r>
              <a:rPr sz="1350" i="1" dirty="0">
                <a:solidFill>
                  <a:srgbClr val="344854"/>
                </a:solidFill>
                <a:latin typeface="Roboto"/>
                <a:cs typeface="Roboto"/>
              </a:rPr>
              <a:t>smaller</a:t>
            </a:r>
            <a:r>
              <a:rPr sz="1350" i="1" spc="-30" dirty="0">
                <a:solidFill>
                  <a:srgbClr val="344854"/>
                </a:solidFill>
                <a:latin typeface="Roboto"/>
                <a:cs typeface="Roboto"/>
              </a:rPr>
              <a:t> </a:t>
            </a:r>
            <a:r>
              <a:rPr sz="1350" i="1" spc="-10" dirty="0">
                <a:solidFill>
                  <a:srgbClr val="344854"/>
                </a:solidFill>
                <a:latin typeface="Roboto"/>
                <a:cs typeface="Roboto"/>
              </a:rPr>
              <a:t>models.”</a:t>
            </a:r>
            <a:endParaRPr sz="13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1350" dirty="0">
                <a:solidFill>
                  <a:srgbClr val="344854"/>
                </a:solidFill>
                <a:latin typeface="Roboto"/>
                <a:cs typeface="Roboto"/>
              </a:rPr>
              <a:t>—</a:t>
            </a:r>
            <a:r>
              <a:rPr sz="1350" spc="-15" dirty="0">
                <a:solidFill>
                  <a:srgbClr val="344854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44854"/>
                </a:solidFill>
                <a:latin typeface="Roboto"/>
                <a:cs typeface="Roboto"/>
              </a:rPr>
              <a:t>M.</a:t>
            </a:r>
            <a:r>
              <a:rPr sz="1350" spc="-20" dirty="0">
                <a:solidFill>
                  <a:srgbClr val="344854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44854"/>
                </a:solidFill>
                <a:latin typeface="Roboto"/>
                <a:cs typeface="Roboto"/>
              </a:rPr>
              <a:t>Zuckerberg. </a:t>
            </a:r>
            <a:r>
              <a:rPr sz="135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Open</a:t>
            </a:r>
            <a:r>
              <a:rPr sz="1350" u="heavy" spc="-1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 </a:t>
            </a:r>
            <a:r>
              <a:rPr sz="135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Source</a:t>
            </a:r>
            <a:r>
              <a:rPr sz="1350" u="heavy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 </a:t>
            </a:r>
            <a:r>
              <a:rPr sz="135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AI</a:t>
            </a:r>
            <a:r>
              <a:rPr sz="1350" u="heavy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 </a:t>
            </a:r>
            <a:r>
              <a:rPr sz="135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Is</a:t>
            </a:r>
            <a:r>
              <a:rPr sz="1350" u="heavy" spc="-1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 </a:t>
            </a:r>
            <a:r>
              <a:rPr sz="135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the</a:t>
            </a:r>
            <a:r>
              <a:rPr sz="1350" u="heavy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 </a:t>
            </a:r>
            <a:r>
              <a:rPr sz="135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Path</a:t>
            </a:r>
            <a:r>
              <a:rPr sz="1350" u="heavy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 </a:t>
            </a:r>
            <a:r>
              <a:rPr sz="135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Forward</a:t>
            </a:r>
            <a:r>
              <a:rPr sz="1350" u="heavy" spc="-1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 </a:t>
            </a:r>
            <a:r>
              <a:rPr sz="135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|</a:t>
            </a:r>
            <a:r>
              <a:rPr sz="1350" u="heavy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 </a:t>
            </a:r>
            <a:r>
              <a:rPr sz="135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Meta</a:t>
            </a:r>
            <a:r>
              <a:rPr sz="1350" u="none" dirty="0">
                <a:solidFill>
                  <a:srgbClr val="344854"/>
                </a:solidFill>
                <a:latin typeface="Roboto"/>
                <a:cs typeface="Roboto"/>
              </a:rPr>
              <a:t>.</a:t>
            </a:r>
            <a:r>
              <a:rPr sz="1350" u="none" spc="-20" dirty="0">
                <a:solidFill>
                  <a:srgbClr val="344854"/>
                </a:solidFill>
                <a:latin typeface="Roboto"/>
                <a:cs typeface="Roboto"/>
              </a:rPr>
              <a:t> </a:t>
            </a:r>
            <a:r>
              <a:rPr sz="1350" u="none" spc="-10" dirty="0">
                <a:solidFill>
                  <a:srgbClr val="344854"/>
                </a:solidFill>
                <a:latin typeface="Roboto"/>
                <a:cs typeface="Roboto"/>
              </a:rPr>
              <a:t>2024.</a:t>
            </a:r>
            <a:endParaRPr sz="1350">
              <a:latin typeface="Roboto"/>
              <a:cs typeface="Roboto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1371" y="2490983"/>
            <a:ext cx="4272724" cy="215099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47525" y="1798525"/>
            <a:ext cx="2756375" cy="282047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306474" y="4683897"/>
            <a:ext cx="1637664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https://lmarena.ai/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Risks</a:t>
            </a:r>
            <a:r>
              <a:rPr spc="35" dirty="0"/>
              <a:t> </a:t>
            </a:r>
            <a:r>
              <a:rPr dirty="0"/>
              <a:t>from</a:t>
            </a:r>
            <a:r>
              <a:rPr spc="40" dirty="0"/>
              <a:t> </a:t>
            </a:r>
            <a:r>
              <a:rPr dirty="0"/>
              <a:t>Synthetic</a:t>
            </a:r>
            <a:r>
              <a:rPr spc="40" dirty="0"/>
              <a:t> </a:t>
            </a:r>
            <a:r>
              <a:rPr spc="-20" dirty="0"/>
              <a:t>Data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307239"/>
            <a:ext cx="5504200" cy="221032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01951" y="1503056"/>
            <a:ext cx="3189650" cy="183131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37125" y="3923613"/>
            <a:ext cx="70942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I.</a:t>
            </a:r>
            <a:r>
              <a:rPr sz="14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Shumailov</a:t>
            </a:r>
            <a:r>
              <a:rPr sz="14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et</a:t>
            </a:r>
            <a:r>
              <a:rPr sz="14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al.</a:t>
            </a:r>
            <a:r>
              <a:rPr sz="14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u="heavy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Roboto"/>
                <a:cs typeface="Roboto"/>
                <a:hlinkClick r:id="rId4"/>
              </a:rPr>
              <a:t>AI</a:t>
            </a:r>
            <a:r>
              <a:rPr sz="1400" u="heavy" spc="-2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Roboto"/>
                <a:cs typeface="Roboto"/>
                <a:hlinkClick r:id="rId4"/>
              </a:rPr>
              <a:t> </a:t>
            </a:r>
            <a:r>
              <a:rPr sz="1400" u="heavy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Roboto"/>
                <a:cs typeface="Roboto"/>
                <a:hlinkClick r:id="rId4"/>
              </a:rPr>
              <a:t>Models</a:t>
            </a:r>
            <a:r>
              <a:rPr sz="1400" u="heavy" spc="-30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Roboto"/>
                <a:cs typeface="Roboto"/>
                <a:hlinkClick r:id="rId4"/>
              </a:rPr>
              <a:t> </a:t>
            </a:r>
            <a:r>
              <a:rPr sz="1400" u="heavy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Roboto"/>
                <a:cs typeface="Roboto"/>
                <a:hlinkClick r:id="rId4"/>
              </a:rPr>
              <a:t>Collapse</a:t>
            </a:r>
            <a:r>
              <a:rPr sz="1400" u="heavy" spc="-30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Roboto"/>
                <a:cs typeface="Roboto"/>
                <a:hlinkClick r:id="rId4"/>
              </a:rPr>
              <a:t> </a:t>
            </a:r>
            <a:r>
              <a:rPr sz="1400" u="heavy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Roboto"/>
                <a:cs typeface="Roboto"/>
                <a:hlinkClick r:id="rId4"/>
              </a:rPr>
              <a:t>When</a:t>
            </a:r>
            <a:r>
              <a:rPr sz="1400" u="heavy" spc="-50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Roboto"/>
                <a:cs typeface="Roboto"/>
                <a:hlinkClick r:id="rId4"/>
              </a:rPr>
              <a:t> </a:t>
            </a:r>
            <a:r>
              <a:rPr sz="1400" u="heavy" spc="-10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Roboto"/>
                <a:cs typeface="Roboto"/>
                <a:hlinkClick r:id="rId4"/>
              </a:rPr>
              <a:t>Trained</a:t>
            </a:r>
            <a:r>
              <a:rPr sz="1400" u="heavy" spc="-2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Roboto"/>
                <a:cs typeface="Roboto"/>
                <a:hlinkClick r:id="rId4"/>
              </a:rPr>
              <a:t> </a:t>
            </a:r>
            <a:r>
              <a:rPr sz="1400" u="heavy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Roboto"/>
                <a:cs typeface="Roboto"/>
                <a:hlinkClick r:id="rId4"/>
              </a:rPr>
              <a:t>on</a:t>
            </a:r>
            <a:r>
              <a:rPr sz="1400" u="heavy" spc="-30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Roboto"/>
                <a:cs typeface="Roboto"/>
                <a:hlinkClick r:id="rId4"/>
              </a:rPr>
              <a:t> </a:t>
            </a:r>
            <a:r>
              <a:rPr sz="1400" u="heavy" spc="-10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Roboto"/>
                <a:cs typeface="Roboto"/>
                <a:hlinkClick r:id="rId4"/>
              </a:rPr>
              <a:t>Recursively</a:t>
            </a:r>
            <a:r>
              <a:rPr sz="1400" u="heavy" spc="-30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Roboto"/>
                <a:cs typeface="Roboto"/>
                <a:hlinkClick r:id="rId4"/>
              </a:rPr>
              <a:t> </a:t>
            </a:r>
            <a:r>
              <a:rPr sz="1400" u="heavy" spc="-10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Roboto"/>
                <a:cs typeface="Roboto"/>
                <a:hlinkClick r:id="rId4"/>
              </a:rPr>
              <a:t>Generated</a:t>
            </a:r>
            <a:r>
              <a:rPr sz="1400" u="heavy" spc="-2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Roboto"/>
                <a:cs typeface="Roboto"/>
                <a:hlinkClick r:id="rId4"/>
              </a:rPr>
              <a:t> </a:t>
            </a:r>
            <a:r>
              <a:rPr sz="1400" u="heavy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Roboto"/>
                <a:cs typeface="Roboto"/>
                <a:hlinkClick r:id="rId4"/>
              </a:rPr>
              <a:t>Data</a:t>
            </a:r>
            <a:r>
              <a:rPr sz="1400" u="none" dirty="0">
                <a:solidFill>
                  <a:srgbClr val="595959"/>
                </a:solidFill>
                <a:latin typeface="Roboto"/>
                <a:cs typeface="Roboto"/>
              </a:rPr>
              <a:t>.</a:t>
            </a:r>
            <a:r>
              <a:rPr sz="1400" u="none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u="none" spc="-10" dirty="0">
                <a:solidFill>
                  <a:srgbClr val="595959"/>
                </a:solidFill>
                <a:latin typeface="Roboto"/>
                <a:cs typeface="Roboto"/>
              </a:rPr>
              <a:t>2024.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10" dirty="0"/>
              <a:t>Quantization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068461" y="976338"/>
            <a:ext cx="1410335" cy="671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Even</a:t>
            </a:r>
            <a:r>
              <a:rPr sz="14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fewer:</a:t>
            </a: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4</a:t>
            </a:r>
            <a:r>
              <a:rPr sz="14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bits</a:t>
            </a:r>
            <a:endParaRPr sz="14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0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</a:pPr>
            <a:r>
              <a:rPr sz="1400" b="1" spc="-10" dirty="0">
                <a:latin typeface="Roboto"/>
                <a:cs typeface="Roboto"/>
              </a:rPr>
              <a:t>QLoRA</a:t>
            </a:r>
            <a:endParaRPr sz="1400">
              <a:latin typeface="Roboto"/>
              <a:cs typeface="Roboto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24" y="1261175"/>
            <a:ext cx="4506565" cy="183106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86675" y="3322513"/>
            <a:ext cx="47688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Model</a:t>
            </a:r>
            <a:r>
              <a:rPr sz="14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parameters</a:t>
            </a:r>
            <a:r>
              <a:rPr sz="14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be</a:t>
            </a: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stored</a:t>
            </a:r>
            <a:r>
              <a:rPr sz="14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in</a:t>
            </a:r>
            <a:r>
              <a:rPr sz="14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fewer</a:t>
            </a:r>
            <a:r>
              <a:rPr sz="14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bits.</a:t>
            </a:r>
            <a:r>
              <a:rPr sz="14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(FP32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→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INT8)</a:t>
            </a:r>
            <a:endParaRPr sz="1400">
              <a:latin typeface="Roboto"/>
              <a:cs typeface="Roboto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53768" y="2179625"/>
            <a:ext cx="622454" cy="177158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45812" y="1840599"/>
            <a:ext cx="2387173" cy="239136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409650" y="4525238"/>
            <a:ext cx="63011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80" dirty="0">
                <a:solidFill>
                  <a:srgbClr val="595959"/>
                </a:solidFill>
                <a:latin typeface="Roboto"/>
                <a:cs typeface="Roboto"/>
              </a:rPr>
              <a:t>T.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Dettmers</a:t>
            </a:r>
            <a:r>
              <a:rPr sz="14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et</a:t>
            </a:r>
            <a:r>
              <a:rPr sz="14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al.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u="heavy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Roboto"/>
                <a:cs typeface="Roboto"/>
                <a:hlinkClick r:id="rId5"/>
              </a:rPr>
              <a:t>QLoRA:</a:t>
            </a:r>
            <a:r>
              <a:rPr sz="1400" u="heavy" spc="-2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Roboto"/>
                <a:cs typeface="Roboto"/>
                <a:hlinkClick r:id="rId5"/>
              </a:rPr>
              <a:t> </a:t>
            </a:r>
            <a:r>
              <a:rPr sz="1400" u="heavy" spc="-20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Roboto"/>
                <a:cs typeface="Roboto"/>
                <a:hlinkClick r:id="rId5"/>
              </a:rPr>
              <a:t>Efficient</a:t>
            </a:r>
            <a:r>
              <a:rPr sz="1400" u="heavy" spc="-30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Roboto"/>
                <a:cs typeface="Roboto"/>
                <a:hlinkClick r:id="rId5"/>
              </a:rPr>
              <a:t> </a:t>
            </a:r>
            <a:r>
              <a:rPr sz="1400" u="heavy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Roboto"/>
                <a:cs typeface="Roboto"/>
                <a:hlinkClick r:id="rId5"/>
              </a:rPr>
              <a:t>Finetuning</a:t>
            </a:r>
            <a:r>
              <a:rPr sz="1400" u="heavy" spc="-2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Roboto"/>
                <a:cs typeface="Roboto"/>
                <a:hlinkClick r:id="rId5"/>
              </a:rPr>
              <a:t> </a:t>
            </a:r>
            <a:r>
              <a:rPr sz="1400" u="heavy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Roboto"/>
                <a:cs typeface="Roboto"/>
                <a:hlinkClick r:id="rId5"/>
              </a:rPr>
              <a:t>of</a:t>
            </a:r>
            <a:r>
              <a:rPr sz="1400" u="heavy" spc="-2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Roboto"/>
                <a:cs typeface="Roboto"/>
                <a:hlinkClick r:id="rId5"/>
              </a:rPr>
              <a:t> </a:t>
            </a:r>
            <a:r>
              <a:rPr sz="1400" u="heavy" spc="-10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Roboto"/>
                <a:cs typeface="Roboto"/>
                <a:hlinkClick r:id="rId5"/>
              </a:rPr>
              <a:t>Quantized</a:t>
            </a:r>
            <a:r>
              <a:rPr sz="1400" u="heavy" spc="-2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Roboto"/>
                <a:cs typeface="Roboto"/>
                <a:hlinkClick r:id="rId5"/>
              </a:rPr>
              <a:t> </a:t>
            </a:r>
            <a:r>
              <a:rPr sz="1400" u="heavy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Roboto"/>
                <a:cs typeface="Roboto"/>
                <a:hlinkClick r:id="rId5"/>
              </a:rPr>
              <a:t>LLMs</a:t>
            </a:r>
            <a:r>
              <a:rPr sz="1400" u="none" dirty="0">
                <a:solidFill>
                  <a:srgbClr val="595959"/>
                </a:solidFill>
                <a:latin typeface="Roboto"/>
                <a:cs typeface="Roboto"/>
              </a:rPr>
              <a:t>.</a:t>
            </a:r>
            <a:r>
              <a:rPr sz="1400" u="none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u="none" dirty="0">
                <a:solidFill>
                  <a:srgbClr val="595959"/>
                </a:solidFill>
                <a:latin typeface="Roboto"/>
                <a:cs typeface="Roboto"/>
              </a:rPr>
              <a:t>NeurIPS</a:t>
            </a:r>
            <a:r>
              <a:rPr sz="1400" u="none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u="none" spc="-10" dirty="0">
                <a:solidFill>
                  <a:srgbClr val="595959"/>
                </a:solidFill>
                <a:latin typeface="Roboto"/>
                <a:cs typeface="Roboto"/>
              </a:rPr>
              <a:t>2023.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Interpretability</a:t>
            </a:r>
            <a:r>
              <a:rPr spc="60" dirty="0"/>
              <a:t> </a:t>
            </a:r>
            <a:r>
              <a:rPr dirty="0"/>
              <a:t>/</a:t>
            </a:r>
            <a:r>
              <a:rPr spc="65" dirty="0"/>
              <a:t> </a:t>
            </a:r>
            <a:r>
              <a:rPr dirty="0"/>
              <a:t>Representation</a:t>
            </a:r>
            <a:r>
              <a:rPr spc="65" dirty="0"/>
              <a:t> </a:t>
            </a:r>
            <a:r>
              <a:rPr spc="-10" dirty="0"/>
              <a:t>Engineering</a:t>
            </a: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300" y="789050"/>
            <a:ext cx="5984547" cy="390107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145875" y="2116933"/>
            <a:ext cx="2496820" cy="1252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A</a:t>
            </a:r>
            <a:r>
              <a:rPr sz="1400" spc="-1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visualization</a:t>
            </a:r>
            <a:r>
              <a:rPr sz="1400" spc="-1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of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a</a:t>
            </a:r>
            <a:r>
              <a:rPr sz="1400" spc="-1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transformer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layer</a:t>
            </a:r>
            <a:r>
              <a:rPr sz="14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with</a:t>
            </a:r>
            <a:r>
              <a:rPr sz="14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512</a:t>
            </a:r>
            <a:r>
              <a:rPr sz="14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neurons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decomposed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into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more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than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4000</a:t>
            </a:r>
            <a:r>
              <a:rPr sz="14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features</a:t>
            </a:r>
            <a:r>
              <a:rPr sz="14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with</a:t>
            </a:r>
            <a:r>
              <a:rPr sz="14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semantic meaning.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325" y="4634788"/>
            <a:ext cx="84963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80" dirty="0">
                <a:solidFill>
                  <a:srgbClr val="595959"/>
                </a:solidFill>
                <a:latin typeface="Roboto"/>
                <a:cs typeface="Roboto"/>
              </a:rPr>
              <a:t>T.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Bricken</a:t>
            </a:r>
            <a:r>
              <a:rPr sz="14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et</a:t>
            </a:r>
            <a:r>
              <a:rPr sz="1400" spc="-1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al.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u="heavy" spc="-20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Roboto"/>
                <a:cs typeface="Roboto"/>
                <a:hlinkClick r:id="rId3"/>
              </a:rPr>
              <a:t>Towards</a:t>
            </a:r>
            <a:r>
              <a:rPr sz="1400" u="heavy" spc="-1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400" u="heavy" spc="-10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Roboto"/>
                <a:cs typeface="Roboto"/>
                <a:hlinkClick r:id="rId3"/>
              </a:rPr>
              <a:t>Monosemanticity:</a:t>
            </a:r>
            <a:r>
              <a:rPr sz="1400" u="heavy" spc="-20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400" u="heavy" spc="-10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Roboto"/>
                <a:cs typeface="Roboto"/>
                <a:hlinkClick r:id="rId3"/>
              </a:rPr>
              <a:t>Decomposing</a:t>
            </a:r>
            <a:r>
              <a:rPr sz="1400" u="heavy" spc="-1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400" u="heavy" spc="-10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Roboto"/>
                <a:cs typeface="Roboto"/>
                <a:hlinkClick r:id="rId3"/>
              </a:rPr>
              <a:t>Language</a:t>
            </a:r>
            <a:r>
              <a:rPr sz="1400" u="heavy" spc="-20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400" u="heavy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Roboto"/>
                <a:cs typeface="Roboto"/>
                <a:hlinkClick r:id="rId3"/>
              </a:rPr>
              <a:t>Models</a:t>
            </a:r>
            <a:r>
              <a:rPr sz="1400" u="heavy" spc="-1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400" u="heavy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Roboto"/>
                <a:cs typeface="Roboto"/>
                <a:hlinkClick r:id="rId3"/>
              </a:rPr>
              <a:t>With</a:t>
            </a:r>
            <a:r>
              <a:rPr sz="1400" u="heavy" spc="-20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400" u="heavy" spc="-10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Roboto"/>
                <a:cs typeface="Roboto"/>
                <a:hlinkClick r:id="rId3"/>
              </a:rPr>
              <a:t>Dictionary</a:t>
            </a:r>
            <a:r>
              <a:rPr sz="1400" u="heavy" spc="-1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400" u="heavy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Roboto"/>
                <a:cs typeface="Roboto"/>
                <a:hlinkClick r:id="rId3"/>
              </a:rPr>
              <a:t>Learning</a:t>
            </a:r>
            <a:r>
              <a:rPr sz="1400" u="none" dirty="0">
                <a:solidFill>
                  <a:srgbClr val="595959"/>
                </a:solidFill>
                <a:latin typeface="Roboto"/>
                <a:cs typeface="Roboto"/>
              </a:rPr>
              <a:t>.</a:t>
            </a:r>
            <a:r>
              <a:rPr sz="1400" u="none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u="none" spc="-10" dirty="0">
                <a:solidFill>
                  <a:srgbClr val="595959"/>
                </a:solidFill>
                <a:latin typeface="Roboto"/>
                <a:cs typeface="Roboto"/>
              </a:rPr>
              <a:t>2023.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Beyond</a:t>
            </a:r>
            <a:r>
              <a:rPr spc="-20" dirty="0"/>
              <a:t> </a:t>
            </a:r>
            <a:r>
              <a:rPr dirty="0"/>
              <a:t>Text:</a:t>
            </a:r>
            <a:r>
              <a:rPr spc="35" dirty="0"/>
              <a:t> </a:t>
            </a:r>
            <a:r>
              <a:rPr dirty="0"/>
              <a:t>Robotics,</a:t>
            </a:r>
            <a:r>
              <a:rPr spc="30" dirty="0"/>
              <a:t> </a:t>
            </a:r>
            <a:r>
              <a:rPr dirty="0"/>
              <a:t>Simulations,</a:t>
            </a:r>
            <a:r>
              <a:rPr spc="30" dirty="0"/>
              <a:t> </a:t>
            </a:r>
            <a:r>
              <a:rPr dirty="0"/>
              <a:t>Physical</a:t>
            </a:r>
            <a:r>
              <a:rPr spc="-15" dirty="0"/>
              <a:t> </a:t>
            </a:r>
            <a:r>
              <a:rPr spc="-10" dirty="0"/>
              <a:t>Tasks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7675" y="974050"/>
            <a:ext cx="3771552" cy="217935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507775" y="1107821"/>
            <a:ext cx="4068445" cy="1457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32410">
              <a:lnSpc>
                <a:spcPct val="100000"/>
              </a:lnSpc>
              <a:spcBef>
                <a:spcPts val="100"/>
              </a:spcBef>
            </a:pPr>
            <a:r>
              <a:rPr sz="1300" spc="-20" dirty="0">
                <a:solidFill>
                  <a:srgbClr val="595959"/>
                </a:solidFill>
                <a:latin typeface="Arial"/>
                <a:cs typeface="Arial"/>
              </a:rPr>
              <a:t>LLM-</a:t>
            </a:r>
            <a:r>
              <a:rPr sz="1300" dirty="0">
                <a:solidFill>
                  <a:srgbClr val="595959"/>
                </a:solidFill>
                <a:latin typeface="Arial"/>
                <a:cs typeface="Arial"/>
              </a:rPr>
              <a:t>powered</a:t>
            </a:r>
            <a:r>
              <a:rPr sz="1300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595959"/>
                </a:solidFill>
                <a:latin typeface="Arial"/>
                <a:cs typeface="Arial"/>
              </a:rPr>
              <a:t>embodied</a:t>
            </a:r>
            <a:r>
              <a:rPr sz="1300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595959"/>
                </a:solidFill>
                <a:latin typeface="Arial"/>
                <a:cs typeface="Arial"/>
              </a:rPr>
              <a:t>lifelong</a:t>
            </a:r>
            <a:r>
              <a:rPr sz="1300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595959"/>
                </a:solidFill>
                <a:latin typeface="Arial"/>
                <a:cs typeface="Arial"/>
              </a:rPr>
              <a:t>learning</a:t>
            </a:r>
            <a:r>
              <a:rPr sz="1300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595959"/>
                </a:solidFill>
                <a:latin typeface="Arial"/>
                <a:cs typeface="Arial"/>
              </a:rPr>
              <a:t>agent</a:t>
            </a:r>
            <a:r>
              <a:rPr sz="1300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595959"/>
                </a:solidFill>
                <a:latin typeface="Arial"/>
                <a:cs typeface="Arial"/>
              </a:rPr>
              <a:t>in </a:t>
            </a:r>
            <a:r>
              <a:rPr sz="1300" spc="-10" dirty="0">
                <a:solidFill>
                  <a:srgbClr val="595959"/>
                </a:solidFill>
                <a:latin typeface="Arial"/>
                <a:cs typeface="Arial"/>
              </a:rPr>
              <a:t>Minecraft</a:t>
            </a:r>
            <a:r>
              <a:rPr sz="13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595959"/>
                </a:solidFill>
                <a:latin typeface="Arial"/>
                <a:cs typeface="Arial"/>
              </a:rPr>
              <a:t>that</a:t>
            </a:r>
            <a:r>
              <a:rPr sz="13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595959"/>
                </a:solidFill>
                <a:latin typeface="Arial"/>
                <a:cs typeface="Arial"/>
              </a:rPr>
              <a:t>continuously</a:t>
            </a:r>
            <a:r>
              <a:rPr sz="13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595959"/>
                </a:solidFill>
                <a:latin typeface="Arial"/>
                <a:cs typeface="Arial"/>
              </a:rPr>
              <a:t>explores</a:t>
            </a:r>
            <a:r>
              <a:rPr sz="13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3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595959"/>
                </a:solidFill>
                <a:latin typeface="Arial"/>
                <a:cs typeface="Arial"/>
              </a:rPr>
              <a:t>world, </a:t>
            </a:r>
            <a:r>
              <a:rPr sz="1300" dirty="0">
                <a:solidFill>
                  <a:srgbClr val="595959"/>
                </a:solidFill>
                <a:latin typeface="Arial"/>
                <a:cs typeface="Arial"/>
              </a:rPr>
              <a:t>acquires</a:t>
            </a:r>
            <a:r>
              <a:rPr sz="1300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595959"/>
                </a:solidFill>
                <a:latin typeface="Arial"/>
                <a:cs typeface="Arial"/>
              </a:rPr>
              <a:t>diverse</a:t>
            </a:r>
            <a:r>
              <a:rPr sz="13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595959"/>
                </a:solidFill>
                <a:latin typeface="Arial"/>
                <a:cs typeface="Arial"/>
              </a:rPr>
              <a:t>skills,</a:t>
            </a:r>
            <a:r>
              <a:rPr sz="13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3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595959"/>
                </a:solidFill>
                <a:latin typeface="Arial"/>
                <a:cs typeface="Arial"/>
              </a:rPr>
              <a:t>makes</a:t>
            </a:r>
            <a:r>
              <a:rPr sz="13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595959"/>
                </a:solidFill>
                <a:latin typeface="Arial"/>
                <a:cs typeface="Arial"/>
              </a:rPr>
              <a:t>novel</a:t>
            </a:r>
            <a:r>
              <a:rPr sz="13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595959"/>
                </a:solidFill>
                <a:latin typeface="Arial"/>
                <a:cs typeface="Arial"/>
              </a:rPr>
              <a:t>discoveries </a:t>
            </a:r>
            <a:r>
              <a:rPr sz="1300" dirty="0">
                <a:solidFill>
                  <a:srgbClr val="595959"/>
                </a:solidFill>
                <a:latin typeface="Arial"/>
                <a:cs typeface="Arial"/>
              </a:rPr>
              <a:t>without</a:t>
            </a:r>
            <a:r>
              <a:rPr sz="1300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595959"/>
                </a:solidFill>
                <a:latin typeface="Arial"/>
                <a:cs typeface="Arial"/>
              </a:rPr>
              <a:t>human</a:t>
            </a:r>
            <a:r>
              <a:rPr sz="1300" spc="-7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595959"/>
                </a:solidFill>
                <a:latin typeface="Arial"/>
                <a:cs typeface="Arial"/>
              </a:rPr>
              <a:t>intervention.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13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1400" dirty="0">
                <a:latin typeface="Arial"/>
                <a:cs typeface="Arial"/>
              </a:rPr>
              <a:t>G.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Wang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et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al.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u="heavy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Voyager: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An</a:t>
            </a:r>
            <a:r>
              <a:rPr sz="1400" u="heavy" spc="-1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Open-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Ended</a:t>
            </a:r>
            <a:r>
              <a:rPr sz="1400" u="heavy" spc="-1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Embodied</a:t>
            </a:r>
            <a:r>
              <a:rPr sz="1400" u="none" spc="-10" dirty="0">
                <a:solidFill>
                  <a:srgbClr val="0097A7"/>
                </a:solidFill>
                <a:latin typeface="Arial"/>
                <a:cs typeface="Arial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Agent</a:t>
            </a:r>
            <a:r>
              <a:rPr sz="1400" u="heavy" spc="-3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with</a:t>
            </a:r>
            <a:r>
              <a:rPr sz="1400" u="heavy" spc="-2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Large</a:t>
            </a:r>
            <a:r>
              <a:rPr sz="1400" u="heavy" spc="-2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Language</a:t>
            </a:r>
            <a:r>
              <a:rPr sz="1400" u="heavy" spc="-3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Models</a:t>
            </a:r>
            <a:r>
              <a:rPr sz="1400" u="none" dirty="0">
                <a:latin typeface="Arial"/>
                <a:cs typeface="Arial"/>
              </a:rPr>
              <a:t>.</a:t>
            </a:r>
            <a:r>
              <a:rPr sz="1400" u="none" spc="-25" dirty="0">
                <a:latin typeface="Arial"/>
                <a:cs typeface="Arial"/>
              </a:rPr>
              <a:t> </a:t>
            </a:r>
            <a:r>
              <a:rPr sz="1400" u="none" spc="-20" dirty="0">
                <a:latin typeface="Arial"/>
                <a:cs typeface="Arial"/>
              </a:rPr>
              <a:t>2023.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268550" y="3286545"/>
            <a:ext cx="4871720" cy="1457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4925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solidFill>
                  <a:srgbClr val="595959"/>
                </a:solidFill>
                <a:latin typeface="Arial"/>
                <a:cs typeface="Arial"/>
              </a:rPr>
              <a:t>Mobile</a:t>
            </a:r>
            <a:r>
              <a:rPr sz="1300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595959"/>
                </a:solidFill>
                <a:latin typeface="Arial"/>
                <a:cs typeface="Arial"/>
              </a:rPr>
              <a:t>ALOHA</a:t>
            </a:r>
            <a:r>
              <a:rPr sz="13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595959"/>
                </a:solidFill>
                <a:latin typeface="Arial"/>
                <a:cs typeface="Arial"/>
              </a:rPr>
              <a:t>doing</a:t>
            </a:r>
            <a:r>
              <a:rPr sz="1300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595959"/>
                </a:solidFill>
                <a:latin typeface="Arial"/>
                <a:cs typeface="Arial"/>
              </a:rPr>
              <a:t>complex</a:t>
            </a:r>
            <a:r>
              <a:rPr sz="13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595959"/>
                </a:solidFill>
                <a:latin typeface="Arial"/>
                <a:cs typeface="Arial"/>
              </a:rPr>
              <a:t>long-</a:t>
            </a:r>
            <a:r>
              <a:rPr sz="1300" dirty="0">
                <a:solidFill>
                  <a:srgbClr val="595959"/>
                </a:solidFill>
                <a:latin typeface="Arial"/>
                <a:cs typeface="Arial"/>
              </a:rPr>
              <a:t>horizon</a:t>
            </a:r>
            <a:r>
              <a:rPr sz="13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595959"/>
                </a:solidFill>
                <a:latin typeface="Arial"/>
                <a:cs typeface="Arial"/>
              </a:rPr>
              <a:t>tasks.</a:t>
            </a:r>
            <a:r>
              <a:rPr sz="13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595959"/>
                </a:solidFill>
                <a:latin typeface="Arial"/>
                <a:cs typeface="Arial"/>
              </a:rPr>
              <a:t>It</a:t>
            </a:r>
            <a:r>
              <a:rPr sz="13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595959"/>
                </a:solidFill>
                <a:latin typeface="Arial"/>
                <a:cs typeface="Arial"/>
              </a:rPr>
              <a:t>extends ALOHA</a:t>
            </a:r>
            <a:r>
              <a:rPr sz="1300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595959"/>
                </a:solidFill>
                <a:latin typeface="Arial"/>
                <a:cs typeface="Arial"/>
              </a:rPr>
              <a:t>with</a:t>
            </a:r>
            <a:r>
              <a:rPr sz="13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3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595959"/>
                </a:solidFill>
                <a:latin typeface="Arial"/>
                <a:cs typeface="Arial"/>
              </a:rPr>
              <a:t>mobile</a:t>
            </a:r>
            <a:r>
              <a:rPr sz="13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595959"/>
                </a:solidFill>
                <a:latin typeface="Arial"/>
                <a:cs typeface="Arial"/>
              </a:rPr>
              <a:t>base</a:t>
            </a:r>
            <a:r>
              <a:rPr sz="13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3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3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595959"/>
                </a:solidFill>
                <a:latin typeface="Arial"/>
                <a:cs typeface="Arial"/>
              </a:rPr>
              <a:t>whole-</a:t>
            </a:r>
            <a:r>
              <a:rPr sz="1300" dirty="0">
                <a:solidFill>
                  <a:srgbClr val="595959"/>
                </a:solidFill>
                <a:latin typeface="Arial"/>
                <a:cs typeface="Arial"/>
              </a:rPr>
              <a:t>body</a:t>
            </a:r>
            <a:r>
              <a:rPr sz="13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595959"/>
                </a:solidFill>
                <a:latin typeface="Arial"/>
                <a:cs typeface="Arial"/>
              </a:rPr>
              <a:t>teleoperation interface.</a:t>
            </a:r>
            <a:r>
              <a:rPr sz="1300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595959"/>
                </a:solidFill>
                <a:latin typeface="Arial"/>
                <a:cs typeface="Arial"/>
              </a:rPr>
              <a:t>ALOHA</a:t>
            </a:r>
            <a:r>
              <a:rPr sz="13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595959"/>
                </a:solidFill>
                <a:latin typeface="Arial"/>
                <a:cs typeface="Arial"/>
              </a:rPr>
              <a:t>learns</a:t>
            </a:r>
            <a:r>
              <a:rPr sz="1300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3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595959"/>
                </a:solidFill>
                <a:latin typeface="Arial"/>
                <a:cs typeface="Arial"/>
              </a:rPr>
              <a:t>policy</a:t>
            </a:r>
            <a:r>
              <a:rPr sz="13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595959"/>
                </a:solidFill>
                <a:latin typeface="Arial"/>
                <a:cs typeface="Arial"/>
              </a:rPr>
              <a:t>using</a:t>
            </a:r>
            <a:r>
              <a:rPr sz="13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595959"/>
                </a:solidFill>
                <a:latin typeface="Arial"/>
                <a:cs typeface="Arial"/>
              </a:rPr>
              <a:t>transformers</a:t>
            </a:r>
            <a:r>
              <a:rPr sz="13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3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595959"/>
                </a:solidFill>
                <a:latin typeface="Arial"/>
                <a:cs typeface="Arial"/>
              </a:rPr>
              <a:t>predict </a:t>
            </a:r>
            <a:r>
              <a:rPr sz="13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3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595959"/>
                </a:solidFill>
                <a:latin typeface="Arial"/>
                <a:cs typeface="Arial"/>
              </a:rPr>
              <a:t>sequence</a:t>
            </a:r>
            <a:r>
              <a:rPr sz="13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3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595959"/>
                </a:solidFill>
                <a:latin typeface="Arial"/>
                <a:cs typeface="Arial"/>
              </a:rPr>
              <a:t>actions.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13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Z.</a:t>
            </a:r>
            <a:r>
              <a:rPr sz="14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Fu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et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al.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u="heavy" spc="-10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  <a:hlinkClick r:id="rId4"/>
              </a:rPr>
              <a:t>Mobile</a:t>
            </a:r>
            <a:r>
              <a:rPr sz="1400" u="heavy" spc="-8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sz="1400" u="heavy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  <a:hlinkClick r:id="rId4"/>
              </a:rPr>
              <a:t>ALOHA:</a:t>
            </a:r>
            <a:r>
              <a:rPr sz="1400" u="heavy" spc="-2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sz="1400" u="heavy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  <a:hlinkClick r:id="rId4"/>
              </a:rPr>
              <a:t>Learning</a:t>
            </a:r>
            <a:r>
              <a:rPr sz="1400" u="heavy" spc="-20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sz="1400" u="heavy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  <a:hlinkClick r:id="rId4"/>
              </a:rPr>
              <a:t>Bimanual</a:t>
            </a:r>
            <a:r>
              <a:rPr sz="1400" u="heavy" spc="-2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sz="1400" u="heavy" spc="-10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  <a:hlinkClick r:id="rId4"/>
              </a:rPr>
              <a:t>Mobile</a:t>
            </a:r>
            <a:r>
              <a:rPr sz="1400" u="none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u="heavy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  <a:hlinkClick r:id="rId4"/>
              </a:rPr>
              <a:t>Manipulation</a:t>
            </a:r>
            <a:r>
              <a:rPr sz="1400" u="heavy" spc="-40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sz="1400" u="heavy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  <a:hlinkClick r:id="rId4"/>
              </a:rPr>
              <a:t>with</a:t>
            </a:r>
            <a:r>
              <a:rPr sz="1400" u="heavy" spc="-3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sz="1400" u="heavy" spc="-10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  <a:hlinkClick r:id="rId4"/>
              </a:rPr>
              <a:t>Low-</a:t>
            </a:r>
            <a:r>
              <a:rPr sz="1400" u="heavy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  <a:hlinkClick r:id="rId4"/>
              </a:rPr>
              <a:t>Cost</a:t>
            </a:r>
            <a:r>
              <a:rPr sz="1400" u="heavy" spc="-40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sz="1400" u="heavy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  <a:hlinkClick r:id="rId4"/>
              </a:rPr>
              <a:t>Whole-Body</a:t>
            </a:r>
            <a:r>
              <a:rPr sz="1400" u="heavy" spc="-60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sz="1400" u="heavy" spc="-10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  <a:hlinkClick r:id="rId4"/>
              </a:rPr>
              <a:t>Teleoperation</a:t>
            </a:r>
            <a:r>
              <a:rPr sz="1400" u="none" spc="-10" dirty="0">
                <a:solidFill>
                  <a:srgbClr val="595959"/>
                </a:solidFill>
                <a:latin typeface="Arial"/>
                <a:cs typeface="Arial"/>
              </a:rPr>
              <a:t>.</a:t>
            </a:r>
            <a:r>
              <a:rPr sz="1400" u="none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u="none" spc="-10" dirty="0">
                <a:solidFill>
                  <a:srgbClr val="595959"/>
                </a:solidFill>
                <a:latin typeface="Arial"/>
                <a:cs typeface="Arial"/>
              </a:rPr>
              <a:t>2024.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26650" y="3165937"/>
            <a:ext cx="3400598" cy="1825162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Beyond</a:t>
            </a:r>
            <a:r>
              <a:rPr spc="-45" dirty="0"/>
              <a:t> </a:t>
            </a:r>
            <a:r>
              <a:rPr dirty="0"/>
              <a:t>Text: Video</a:t>
            </a:r>
            <a:r>
              <a:rPr spc="5" dirty="0"/>
              <a:t> </a:t>
            </a:r>
            <a:r>
              <a:rPr spc="-10" dirty="0"/>
              <a:t>Generation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388763"/>
            <a:ext cx="66827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Autoregressively</a:t>
            </a:r>
            <a:r>
              <a:rPr sz="14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generate</a:t>
            </a:r>
            <a:r>
              <a:rPr sz="14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tokens</a:t>
            </a:r>
            <a:r>
              <a:rPr sz="14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of</a:t>
            </a: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multiple</a:t>
            </a:r>
            <a:r>
              <a:rPr sz="14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modalities</a:t>
            </a:r>
            <a:r>
              <a:rPr sz="14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(images,</a:t>
            </a: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videos,</a:t>
            </a:r>
            <a:r>
              <a:rPr sz="14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text,</a:t>
            </a:r>
            <a:r>
              <a:rPr sz="14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audio).</a:t>
            </a:r>
            <a:endParaRPr sz="1400">
              <a:latin typeface="Roboto"/>
              <a:cs typeface="Roboto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895557"/>
            <a:ext cx="9144002" cy="22860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74775" y="4363563"/>
            <a:ext cx="68973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Roboto"/>
                <a:cs typeface="Roboto"/>
              </a:rPr>
              <a:t>K.</a:t>
            </a:r>
            <a:r>
              <a:rPr sz="1400" spc="-30" dirty="0">
                <a:latin typeface="Roboto"/>
                <a:cs typeface="Roboto"/>
              </a:rPr>
              <a:t> </a:t>
            </a:r>
            <a:r>
              <a:rPr sz="1400" dirty="0">
                <a:latin typeface="Roboto"/>
                <a:cs typeface="Roboto"/>
              </a:rPr>
              <a:t>Dan</a:t>
            </a:r>
            <a:r>
              <a:rPr sz="1400" spc="-30" dirty="0">
                <a:latin typeface="Roboto"/>
                <a:cs typeface="Roboto"/>
              </a:rPr>
              <a:t> </a:t>
            </a:r>
            <a:r>
              <a:rPr sz="1400" dirty="0">
                <a:latin typeface="Roboto"/>
                <a:cs typeface="Roboto"/>
              </a:rPr>
              <a:t>et</a:t>
            </a:r>
            <a:r>
              <a:rPr sz="1400" spc="-30" dirty="0">
                <a:latin typeface="Roboto"/>
                <a:cs typeface="Roboto"/>
              </a:rPr>
              <a:t> </a:t>
            </a:r>
            <a:r>
              <a:rPr sz="1400" dirty="0">
                <a:latin typeface="Roboto"/>
                <a:cs typeface="Roboto"/>
              </a:rPr>
              <a:t>al.</a:t>
            </a:r>
            <a:r>
              <a:rPr sz="1400" spc="-25" dirty="0">
                <a:latin typeface="Roboto"/>
                <a:cs typeface="Roboto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VideoPoet:</a:t>
            </a:r>
            <a:r>
              <a:rPr sz="1400" u="heavy" spc="-3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A</a:t>
            </a:r>
            <a:r>
              <a:rPr sz="1400" u="heavy" spc="-3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Large</a:t>
            </a:r>
            <a:r>
              <a:rPr sz="1400" u="heavy" spc="-3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4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Language</a:t>
            </a:r>
            <a:r>
              <a:rPr sz="1400" u="heavy" spc="-3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Model</a:t>
            </a:r>
            <a:r>
              <a:rPr sz="1400" u="heavy" spc="-2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for</a:t>
            </a:r>
            <a:r>
              <a:rPr sz="1400" u="heavy" spc="-3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400" u="heavy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Zero-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Shot</a:t>
            </a:r>
            <a:r>
              <a:rPr sz="1400" u="heavy" spc="-3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Video</a:t>
            </a:r>
            <a:r>
              <a:rPr sz="1400" u="heavy" spc="-3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Generation</a:t>
            </a:r>
            <a:r>
              <a:rPr sz="1400" u="none" dirty="0">
                <a:latin typeface="Roboto"/>
                <a:cs typeface="Roboto"/>
              </a:rPr>
              <a:t>.</a:t>
            </a:r>
            <a:r>
              <a:rPr sz="1400" u="none" spc="-30" dirty="0">
                <a:latin typeface="Roboto"/>
                <a:cs typeface="Roboto"/>
              </a:rPr>
              <a:t> </a:t>
            </a:r>
            <a:r>
              <a:rPr sz="1400" u="none" spc="-10" dirty="0">
                <a:latin typeface="Roboto"/>
                <a:cs typeface="Roboto"/>
              </a:rPr>
              <a:t>2024.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Retrieval-Augmented</a:t>
            </a:r>
            <a:r>
              <a:rPr spc="85" dirty="0"/>
              <a:t> </a:t>
            </a:r>
            <a:r>
              <a:rPr dirty="0"/>
              <a:t>Generation</a:t>
            </a:r>
            <a:r>
              <a:rPr spc="85" dirty="0"/>
              <a:t> </a:t>
            </a:r>
            <a:r>
              <a:rPr spc="-10" dirty="0"/>
              <a:t>(RAG)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17431" y="1042613"/>
            <a:ext cx="6590030" cy="1133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LLMs</a:t>
            </a:r>
            <a:r>
              <a:rPr sz="17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have</a:t>
            </a:r>
            <a:r>
              <a:rPr sz="17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no</a:t>
            </a:r>
            <a:r>
              <a:rPr sz="17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boto"/>
                <a:cs typeface="Roboto"/>
              </a:rPr>
              <a:t>knowledge</a:t>
            </a:r>
            <a:r>
              <a:rPr sz="17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beyond</a:t>
            </a:r>
            <a:r>
              <a:rPr sz="17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training</a:t>
            </a:r>
            <a:r>
              <a:rPr sz="17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date,</a:t>
            </a:r>
            <a:r>
              <a:rPr sz="17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and</a:t>
            </a:r>
            <a:r>
              <a:rPr sz="17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frequent</a:t>
            </a:r>
            <a:r>
              <a:rPr sz="17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boto"/>
                <a:cs typeface="Roboto"/>
              </a:rPr>
              <a:t>updates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to</a:t>
            </a:r>
            <a:r>
              <a:rPr sz="17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model</a:t>
            </a:r>
            <a:r>
              <a:rPr sz="17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are</a:t>
            </a:r>
            <a:r>
              <a:rPr sz="17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boto"/>
                <a:cs typeface="Roboto"/>
              </a:rPr>
              <a:t>impractical.</a:t>
            </a:r>
            <a:endParaRPr sz="17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sz="1700">
              <a:latin typeface="Roboto"/>
              <a:cs typeface="Roboto"/>
            </a:endParaRPr>
          </a:p>
          <a:p>
            <a:pPr marL="33655" algn="ctr">
              <a:lnSpc>
                <a:spcPct val="100000"/>
              </a:lnSpc>
            </a:pP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Idea:</a:t>
            </a:r>
            <a:r>
              <a:rPr sz="17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Augment</a:t>
            </a:r>
            <a:r>
              <a:rPr sz="17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LLMs</a:t>
            </a:r>
            <a:r>
              <a:rPr sz="17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with</a:t>
            </a:r>
            <a:r>
              <a:rPr sz="1700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i="1" spc="-10" dirty="0">
                <a:solidFill>
                  <a:srgbClr val="595959"/>
                </a:solidFill>
                <a:latin typeface="Roboto"/>
                <a:cs typeface="Roboto"/>
              </a:rPr>
              <a:t>retrieval</a:t>
            </a:r>
            <a:r>
              <a:rPr sz="1700" i="1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i="1" spc="-10" dirty="0">
                <a:solidFill>
                  <a:srgbClr val="595959"/>
                </a:solidFill>
                <a:latin typeface="Roboto"/>
                <a:cs typeface="Roboto"/>
              </a:rPr>
              <a:t>system</a:t>
            </a:r>
            <a:r>
              <a:rPr sz="1700" spc="-10" dirty="0">
                <a:solidFill>
                  <a:srgbClr val="595959"/>
                </a:solidFill>
                <a:latin typeface="Roboto"/>
                <a:cs typeface="Roboto"/>
              </a:rPr>
              <a:t>!</a:t>
            </a:r>
            <a:endParaRPr sz="17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Example:</a:t>
            </a:r>
            <a:r>
              <a:rPr spc="60" dirty="0"/>
              <a:t> </a:t>
            </a:r>
            <a:r>
              <a:rPr dirty="0"/>
              <a:t>Retrieval</a:t>
            </a:r>
            <a:r>
              <a:rPr spc="60" dirty="0"/>
              <a:t> </a:t>
            </a:r>
            <a:r>
              <a:rPr dirty="0"/>
              <a:t>Step</a:t>
            </a:r>
            <a:r>
              <a:rPr spc="65" dirty="0"/>
              <a:t> </a:t>
            </a:r>
            <a:r>
              <a:rPr dirty="0"/>
              <a:t>of</a:t>
            </a:r>
            <a:r>
              <a:rPr spc="60" dirty="0"/>
              <a:t> </a:t>
            </a:r>
            <a:r>
              <a:rPr spc="-25" dirty="0"/>
              <a:t>RAG</a:t>
            </a:r>
          </a:p>
        </p:txBody>
      </p:sp>
      <p:grpSp>
        <p:nvGrpSpPr>
          <p:cNvPr id="17" name="object 17"/>
          <p:cNvGrpSpPr/>
          <p:nvPr/>
        </p:nvGrpSpPr>
        <p:grpSpPr>
          <a:xfrm>
            <a:off x="501876" y="933337"/>
            <a:ext cx="1513840" cy="1870075"/>
            <a:chOff x="501876" y="933337"/>
            <a:chExt cx="1513840" cy="1870075"/>
          </a:xfrm>
        </p:grpSpPr>
        <p:sp>
          <p:nvSpPr>
            <p:cNvPr id="18" name="object 18"/>
            <p:cNvSpPr/>
            <p:nvPr/>
          </p:nvSpPr>
          <p:spPr>
            <a:xfrm>
              <a:off x="506638" y="938100"/>
              <a:ext cx="1504315" cy="1860550"/>
            </a:xfrm>
            <a:custGeom>
              <a:avLst/>
              <a:gdLst/>
              <a:ahLst/>
              <a:cxnLst/>
              <a:rect l="l" t="t" r="r" b="b"/>
              <a:pathLst>
                <a:path w="1504314" h="1860550">
                  <a:moveTo>
                    <a:pt x="1253494" y="1860299"/>
                  </a:moveTo>
                  <a:lnTo>
                    <a:pt x="0" y="1860299"/>
                  </a:lnTo>
                  <a:lnTo>
                    <a:pt x="0" y="0"/>
                  </a:lnTo>
                  <a:lnTo>
                    <a:pt x="1504200" y="0"/>
                  </a:lnTo>
                  <a:lnTo>
                    <a:pt x="1504200" y="1609594"/>
                  </a:lnTo>
                  <a:lnTo>
                    <a:pt x="1253494" y="1860299"/>
                  </a:lnTo>
                  <a:close/>
                </a:path>
              </a:pathLst>
            </a:custGeom>
            <a:solidFill>
              <a:srgbClr val="F1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760133" y="2547694"/>
              <a:ext cx="250825" cy="250825"/>
            </a:xfrm>
            <a:custGeom>
              <a:avLst/>
              <a:gdLst/>
              <a:ahLst/>
              <a:cxnLst/>
              <a:rect l="l" t="t" r="r" b="b"/>
              <a:pathLst>
                <a:path w="250825" h="250825">
                  <a:moveTo>
                    <a:pt x="0" y="250704"/>
                  </a:moveTo>
                  <a:lnTo>
                    <a:pt x="50141" y="50140"/>
                  </a:lnTo>
                  <a:lnTo>
                    <a:pt x="250705" y="0"/>
                  </a:lnTo>
                  <a:lnTo>
                    <a:pt x="0" y="250704"/>
                  </a:lnTo>
                  <a:close/>
                </a:path>
              </a:pathLst>
            </a:custGeom>
            <a:solidFill>
              <a:srgbClr val="C1AE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06638" y="938100"/>
              <a:ext cx="1504315" cy="1860550"/>
            </a:xfrm>
            <a:custGeom>
              <a:avLst/>
              <a:gdLst/>
              <a:ahLst/>
              <a:cxnLst/>
              <a:rect l="l" t="t" r="r" b="b"/>
              <a:pathLst>
                <a:path w="1504314" h="1860550">
                  <a:moveTo>
                    <a:pt x="1253494" y="1860299"/>
                  </a:moveTo>
                  <a:lnTo>
                    <a:pt x="1303635" y="1659735"/>
                  </a:lnTo>
                  <a:lnTo>
                    <a:pt x="1504200" y="1609594"/>
                  </a:lnTo>
                  <a:lnTo>
                    <a:pt x="1253494" y="1860299"/>
                  </a:lnTo>
                  <a:lnTo>
                    <a:pt x="0" y="1860299"/>
                  </a:lnTo>
                  <a:lnTo>
                    <a:pt x="0" y="0"/>
                  </a:lnTo>
                  <a:lnTo>
                    <a:pt x="1504200" y="0"/>
                  </a:lnTo>
                  <a:lnTo>
                    <a:pt x="1504200" y="1609594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531814" y="943078"/>
            <a:ext cx="1437640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Gill Sans"/>
                <a:cs typeface="Gill Sans"/>
              </a:rPr>
              <a:t>Struggle</a:t>
            </a:r>
            <a:r>
              <a:rPr sz="1200" b="1" spc="-20" dirty="0">
                <a:latin typeface="Gill Sans"/>
                <a:cs typeface="Gill Sans"/>
              </a:rPr>
              <a:t> </a:t>
            </a:r>
            <a:r>
              <a:rPr sz="1200" b="1" dirty="0">
                <a:latin typeface="Gill Sans"/>
                <a:cs typeface="Gill Sans"/>
              </a:rPr>
              <a:t>for</a:t>
            </a:r>
            <a:r>
              <a:rPr sz="1200" b="1" spc="-20" dirty="0">
                <a:latin typeface="Gill Sans"/>
                <a:cs typeface="Gill Sans"/>
              </a:rPr>
              <a:t> Rome </a:t>
            </a:r>
            <a:r>
              <a:rPr sz="1200" b="1" dirty="0">
                <a:latin typeface="Gill Sans"/>
                <a:cs typeface="Gill Sans"/>
              </a:rPr>
              <a:t>(board</a:t>
            </a:r>
            <a:r>
              <a:rPr sz="1200" b="1" spc="-75" dirty="0">
                <a:latin typeface="Gill Sans"/>
                <a:cs typeface="Gill Sans"/>
              </a:rPr>
              <a:t> </a:t>
            </a:r>
            <a:r>
              <a:rPr sz="1200" b="1" dirty="0">
                <a:latin typeface="Gill Sans"/>
                <a:cs typeface="Gill Sans"/>
              </a:rPr>
              <a:t>game)</a:t>
            </a:r>
            <a:r>
              <a:rPr sz="1200" b="1" spc="-65" dirty="0">
                <a:latin typeface="Gill Sans"/>
                <a:cs typeface="Gill Sans"/>
              </a:rPr>
              <a:t> </a:t>
            </a:r>
            <a:r>
              <a:rPr sz="1200" b="0" spc="-50" dirty="0">
                <a:latin typeface="Gill Sans"/>
                <a:cs typeface="Gill Sans"/>
              </a:rPr>
              <a:t>— </a:t>
            </a:r>
            <a:r>
              <a:rPr sz="1200" b="0" dirty="0">
                <a:latin typeface="Gill Sans"/>
                <a:cs typeface="Gill Sans"/>
              </a:rPr>
              <a:t>Catan</a:t>
            </a:r>
            <a:r>
              <a:rPr sz="1200" b="0" spc="-35" dirty="0">
                <a:latin typeface="Gill Sans"/>
                <a:cs typeface="Gill Sans"/>
              </a:rPr>
              <a:t> </a:t>
            </a:r>
            <a:r>
              <a:rPr sz="1200" b="0" spc="-10" dirty="0">
                <a:latin typeface="Gill Sans"/>
                <a:cs typeface="Gill Sans"/>
              </a:rPr>
              <a:t>Histories: </a:t>
            </a:r>
            <a:r>
              <a:rPr sz="1200" b="0" dirty="0">
                <a:latin typeface="Gill Sans"/>
                <a:cs typeface="Gill Sans"/>
              </a:rPr>
              <a:t>Struggle</a:t>
            </a:r>
            <a:r>
              <a:rPr sz="1200" b="0" spc="-35" dirty="0">
                <a:latin typeface="Gill Sans"/>
                <a:cs typeface="Gill Sans"/>
              </a:rPr>
              <a:t> </a:t>
            </a:r>
            <a:r>
              <a:rPr sz="1200" b="0" dirty="0">
                <a:latin typeface="Gill Sans"/>
                <a:cs typeface="Gill Sans"/>
              </a:rPr>
              <a:t>for</a:t>
            </a:r>
            <a:r>
              <a:rPr sz="1200" b="0" spc="-30" dirty="0">
                <a:latin typeface="Gill Sans"/>
                <a:cs typeface="Gill Sans"/>
              </a:rPr>
              <a:t> </a:t>
            </a:r>
            <a:r>
              <a:rPr sz="1200" b="0" dirty="0">
                <a:latin typeface="Gill Sans"/>
                <a:cs typeface="Gill Sans"/>
              </a:rPr>
              <a:t>Rome</a:t>
            </a:r>
            <a:r>
              <a:rPr sz="1200" b="0" spc="-30" dirty="0">
                <a:latin typeface="Gill Sans"/>
                <a:cs typeface="Gill Sans"/>
              </a:rPr>
              <a:t> </a:t>
            </a:r>
            <a:r>
              <a:rPr sz="1200" b="0" dirty="0">
                <a:latin typeface="Gill Sans"/>
                <a:cs typeface="Gill Sans"/>
              </a:rPr>
              <a:t>is</a:t>
            </a:r>
            <a:r>
              <a:rPr sz="1200" b="0" spc="-30" dirty="0">
                <a:latin typeface="Gill Sans"/>
                <a:cs typeface="Gill Sans"/>
              </a:rPr>
              <a:t> </a:t>
            </a:r>
            <a:r>
              <a:rPr sz="1200" b="0" spc="-50" dirty="0">
                <a:latin typeface="Gill Sans"/>
                <a:cs typeface="Gill Sans"/>
              </a:rPr>
              <a:t>a </a:t>
            </a:r>
            <a:r>
              <a:rPr sz="1200" b="0" dirty="0">
                <a:latin typeface="Gill Sans"/>
                <a:cs typeface="Gill Sans"/>
              </a:rPr>
              <a:t>2006</a:t>
            </a:r>
            <a:r>
              <a:rPr sz="1200" b="0" spc="-5" dirty="0">
                <a:latin typeface="Gill Sans"/>
                <a:cs typeface="Gill Sans"/>
              </a:rPr>
              <a:t> </a:t>
            </a:r>
            <a:r>
              <a:rPr sz="1200" b="0" dirty="0">
                <a:latin typeface="Gill Sans"/>
                <a:cs typeface="Gill Sans"/>
              </a:rPr>
              <a:t>German-</a:t>
            </a:r>
            <a:r>
              <a:rPr sz="1200" b="0" spc="-10" dirty="0">
                <a:latin typeface="Gill Sans"/>
                <a:cs typeface="Gill Sans"/>
              </a:rPr>
              <a:t>style </a:t>
            </a:r>
            <a:r>
              <a:rPr sz="1200" b="0" dirty="0">
                <a:latin typeface="Gill Sans"/>
                <a:cs typeface="Gill Sans"/>
              </a:rPr>
              <a:t>board</a:t>
            </a:r>
            <a:r>
              <a:rPr sz="1200" b="0" spc="-45" dirty="0">
                <a:latin typeface="Gill Sans"/>
                <a:cs typeface="Gill Sans"/>
              </a:rPr>
              <a:t> </a:t>
            </a:r>
            <a:r>
              <a:rPr sz="1200" b="0" dirty="0">
                <a:latin typeface="Gill Sans"/>
                <a:cs typeface="Gill Sans"/>
              </a:rPr>
              <a:t>game</a:t>
            </a:r>
            <a:r>
              <a:rPr sz="1200" b="0" spc="-45" dirty="0">
                <a:latin typeface="Gill Sans"/>
                <a:cs typeface="Gill Sans"/>
              </a:rPr>
              <a:t> </a:t>
            </a:r>
            <a:r>
              <a:rPr sz="1200" b="0" dirty="0">
                <a:latin typeface="Gill Sans"/>
                <a:cs typeface="Gill Sans"/>
              </a:rPr>
              <a:t>based</a:t>
            </a:r>
            <a:r>
              <a:rPr sz="1200" b="0" spc="-40" dirty="0">
                <a:latin typeface="Gill Sans"/>
                <a:cs typeface="Gill Sans"/>
              </a:rPr>
              <a:t> </a:t>
            </a:r>
            <a:r>
              <a:rPr sz="1200" b="0" spc="-25" dirty="0">
                <a:latin typeface="Gill Sans"/>
                <a:cs typeface="Gill Sans"/>
              </a:rPr>
              <a:t>on </a:t>
            </a:r>
            <a:r>
              <a:rPr sz="1200" b="0" dirty="0">
                <a:latin typeface="Gill Sans"/>
                <a:cs typeface="Gill Sans"/>
              </a:rPr>
              <a:t>the</a:t>
            </a:r>
            <a:r>
              <a:rPr sz="1200" b="0" spc="-35" dirty="0">
                <a:latin typeface="Gill Sans"/>
                <a:cs typeface="Gill Sans"/>
              </a:rPr>
              <a:t> </a:t>
            </a:r>
            <a:r>
              <a:rPr sz="1200" b="0" dirty="0">
                <a:latin typeface="Gill Sans"/>
                <a:cs typeface="Gill Sans"/>
              </a:rPr>
              <a:t>game</a:t>
            </a:r>
            <a:r>
              <a:rPr sz="1200" b="0" spc="-30" dirty="0">
                <a:latin typeface="Gill Sans"/>
                <a:cs typeface="Gill Sans"/>
              </a:rPr>
              <a:t> </a:t>
            </a:r>
            <a:r>
              <a:rPr sz="1200" b="0" dirty="0">
                <a:latin typeface="Gill Sans"/>
                <a:cs typeface="Gill Sans"/>
              </a:rPr>
              <a:t>mechanics</a:t>
            </a:r>
            <a:r>
              <a:rPr sz="1200" b="0" spc="-35" dirty="0">
                <a:latin typeface="Gill Sans"/>
                <a:cs typeface="Gill Sans"/>
              </a:rPr>
              <a:t> </a:t>
            </a:r>
            <a:r>
              <a:rPr sz="1200" b="0" spc="-25" dirty="0">
                <a:latin typeface="Gill Sans"/>
                <a:cs typeface="Gill Sans"/>
              </a:rPr>
              <a:t>of </a:t>
            </a:r>
            <a:r>
              <a:rPr sz="1200" b="0" spc="-10" dirty="0">
                <a:latin typeface="Gill Sans"/>
                <a:cs typeface="Gill Sans"/>
              </a:rPr>
              <a:t>"Settlers</a:t>
            </a:r>
            <a:r>
              <a:rPr sz="1200" b="0" spc="-15" dirty="0">
                <a:latin typeface="Gill Sans"/>
                <a:cs typeface="Gill Sans"/>
              </a:rPr>
              <a:t> </a:t>
            </a:r>
            <a:r>
              <a:rPr sz="1200" b="0" dirty="0">
                <a:latin typeface="Gill Sans"/>
                <a:cs typeface="Gill Sans"/>
              </a:rPr>
              <a:t>of</a:t>
            </a:r>
            <a:r>
              <a:rPr sz="1200" b="0" spc="-10" dirty="0">
                <a:latin typeface="Gill Sans"/>
                <a:cs typeface="Gill Sans"/>
              </a:rPr>
              <a:t> Catan", depicting</a:t>
            </a:r>
            <a:r>
              <a:rPr sz="1200" b="0" spc="-20" dirty="0">
                <a:latin typeface="Gill Sans"/>
                <a:cs typeface="Gill Sans"/>
              </a:rPr>
              <a:t> </a:t>
            </a:r>
            <a:r>
              <a:rPr sz="1200" b="0" dirty="0">
                <a:latin typeface="Gill Sans"/>
                <a:cs typeface="Gill Sans"/>
              </a:rPr>
              <a:t>the</a:t>
            </a:r>
            <a:r>
              <a:rPr sz="1200" b="0" spc="-20" dirty="0">
                <a:latin typeface="Gill Sans"/>
                <a:cs typeface="Gill Sans"/>
              </a:rPr>
              <a:t> </a:t>
            </a:r>
            <a:r>
              <a:rPr sz="1200" b="0" dirty="0">
                <a:latin typeface="Gill Sans"/>
                <a:cs typeface="Gill Sans"/>
              </a:rPr>
              <a:t>fall</a:t>
            </a:r>
            <a:r>
              <a:rPr sz="1200" b="0" spc="-20" dirty="0">
                <a:latin typeface="Gill Sans"/>
                <a:cs typeface="Gill Sans"/>
              </a:rPr>
              <a:t> </a:t>
            </a:r>
            <a:r>
              <a:rPr sz="1200" b="0" dirty="0">
                <a:latin typeface="Gill Sans"/>
                <a:cs typeface="Gill Sans"/>
              </a:rPr>
              <a:t>of</a:t>
            </a:r>
            <a:r>
              <a:rPr sz="1200" b="0" spc="-20" dirty="0">
                <a:latin typeface="Gill Sans"/>
                <a:cs typeface="Gill Sans"/>
              </a:rPr>
              <a:t> </a:t>
            </a:r>
            <a:r>
              <a:rPr sz="1200" b="0" spc="-25" dirty="0">
                <a:latin typeface="Gill Sans"/>
                <a:cs typeface="Gill Sans"/>
              </a:rPr>
              <a:t>the </a:t>
            </a:r>
            <a:r>
              <a:rPr sz="1200" b="0" dirty="0">
                <a:latin typeface="Gill Sans"/>
                <a:cs typeface="Gill Sans"/>
              </a:rPr>
              <a:t>Roman</a:t>
            </a:r>
            <a:r>
              <a:rPr sz="1200" b="0" spc="-40" dirty="0">
                <a:latin typeface="Gill Sans"/>
                <a:cs typeface="Gill Sans"/>
              </a:rPr>
              <a:t> </a:t>
            </a:r>
            <a:r>
              <a:rPr sz="1200" b="0" spc="-10" dirty="0">
                <a:latin typeface="Gill Sans"/>
                <a:cs typeface="Gill Sans"/>
              </a:rPr>
              <a:t>Empire...</a:t>
            </a:r>
            <a:endParaRPr sz="1200">
              <a:latin typeface="Gill Sans"/>
              <a:cs typeface="Gill San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121678" y="933337"/>
            <a:ext cx="1513840" cy="1870075"/>
            <a:chOff x="2121678" y="933337"/>
            <a:chExt cx="1513840" cy="1870075"/>
          </a:xfrm>
        </p:grpSpPr>
        <p:sp>
          <p:nvSpPr>
            <p:cNvPr id="22" name="object 22"/>
            <p:cNvSpPr/>
            <p:nvPr/>
          </p:nvSpPr>
          <p:spPr>
            <a:xfrm>
              <a:off x="2126440" y="938100"/>
              <a:ext cx="1504315" cy="1860550"/>
            </a:xfrm>
            <a:custGeom>
              <a:avLst/>
              <a:gdLst/>
              <a:ahLst/>
              <a:cxnLst/>
              <a:rect l="l" t="t" r="r" b="b"/>
              <a:pathLst>
                <a:path w="1504314" h="1860550">
                  <a:moveTo>
                    <a:pt x="1253494" y="1860299"/>
                  </a:moveTo>
                  <a:lnTo>
                    <a:pt x="0" y="1860299"/>
                  </a:lnTo>
                  <a:lnTo>
                    <a:pt x="0" y="0"/>
                  </a:lnTo>
                  <a:lnTo>
                    <a:pt x="1504199" y="0"/>
                  </a:lnTo>
                  <a:lnTo>
                    <a:pt x="1504199" y="1609594"/>
                  </a:lnTo>
                  <a:lnTo>
                    <a:pt x="1253494" y="1860299"/>
                  </a:lnTo>
                  <a:close/>
                </a:path>
              </a:pathLst>
            </a:custGeom>
            <a:solidFill>
              <a:srgbClr val="F1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379935" y="2547694"/>
              <a:ext cx="250825" cy="250825"/>
            </a:xfrm>
            <a:custGeom>
              <a:avLst/>
              <a:gdLst/>
              <a:ahLst/>
              <a:cxnLst/>
              <a:rect l="l" t="t" r="r" b="b"/>
              <a:pathLst>
                <a:path w="250825" h="250825">
                  <a:moveTo>
                    <a:pt x="0" y="250704"/>
                  </a:moveTo>
                  <a:lnTo>
                    <a:pt x="50140" y="50140"/>
                  </a:lnTo>
                  <a:lnTo>
                    <a:pt x="250704" y="0"/>
                  </a:lnTo>
                  <a:lnTo>
                    <a:pt x="0" y="250704"/>
                  </a:lnTo>
                  <a:close/>
                </a:path>
              </a:pathLst>
            </a:custGeom>
            <a:solidFill>
              <a:srgbClr val="C1AE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126440" y="938100"/>
              <a:ext cx="1504315" cy="1860550"/>
            </a:xfrm>
            <a:custGeom>
              <a:avLst/>
              <a:gdLst/>
              <a:ahLst/>
              <a:cxnLst/>
              <a:rect l="l" t="t" r="r" b="b"/>
              <a:pathLst>
                <a:path w="1504314" h="1860550">
                  <a:moveTo>
                    <a:pt x="1253494" y="1860299"/>
                  </a:moveTo>
                  <a:lnTo>
                    <a:pt x="1303635" y="1659735"/>
                  </a:lnTo>
                  <a:lnTo>
                    <a:pt x="1504199" y="1609594"/>
                  </a:lnTo>
                  <a:lnTo>
                    <a:pt x="1253494" y="1860299"/>
                  </a:lnTo>
                  <a:lnTo>
                    <a:pt x="0" y="1860299"/>
                  </a:lnTo>
                  <a:lnTo>
                    <a:pt x="0" y="0"/>
                  </a:lnTo>
                  <a:lnTo>
                    <a:pt x="1504199" y="0"/>
                  </a:lnTo>
                  <a:lnTo>
                    <a:pt x="1504199" y="1609594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190083" y="953008"/>
            <a:ext cx="1325245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Gill Sans"/>
                <a:cs typeface="Gill Sans"/>
              </a:rPr>
              <a:t>The</a:t>
            </a:r>
            <a:r>
              <a:rPr sz="1200" b="1" spc="-25" dirty="0">
                <a:latin typeface="Gill Sans"/>
                <a:cs typeface="Gill Sans"/>
              </a:rPr>
              <a:t> </a:t>
            </a:r>
            <a:r>
              <a:rPr sz="1200" b="1" dirty="0">
                <a:latin typeface="Gill Sans"/>
                <a:cs typeface="Gill Sans"/>
              </a:rPr>
              <a:t>Kids</a:t>
            </a:r>
            <a:r>
              <a:rPr sz="1200" b="1" spc="-20" dirty="0">
                <a:latin typeface="Gill Sans"/>
                <a:cs typeface="Gill Sans"/>
              </a:rPr>
              <a:t> </a:t>
            </a:r>
            <a:r>
              <a:rPr sz="1200" b="1" dirty="0">
                <a:latin typeface="Gill Sans"/>
                <a:cs typeface="Gill Sans"/>
              </a:rPr>
              <a:t>of</a:t>
            </a:r>
            <a:r>
              <a:rPr sz="1200" b="1" spc="-25" dirty="0">
                <a:latin typeface="Gill Sans"/>
                <a:cs typeface="Gill Sans"/>
              </a:rPr>
              <a:t> </a:t>
            </a:r>
            <a:r>
              <a:rPr sz="1200" b="1" spc="-10" dirty="0">
                <a:latin typeface="Gill Sans"/>
                <a:cs typeface="Gill Sans"/>
              </a:rPr>
              <a:t>Catan</a:t>
            </a:r>
            <a:endParaRPr sz="1200">
              <a:latin typeface="Gill Sans"/>
              <a:cs typeface="Gill Sans"/>
            </a:endParaRPr>
          </a:p>
          <a:p>
            <a:pPr marL="12700" marR="5080">
              <a:lnSpc>
                <a:spcPct val="100000"/>
              </a:lnSpc>
            </a:pPr>
            <a:r>
              <a:rPr sz="1200" b="0" dirty="0">
                <a:latin typeface="Gill Sans"/>
                <a:cs typeface="Gill Sans"/>
              </a:rPr>
              <a:t>—</a:t>
            </a:r>
            <a:r>
              <a:rPr sz="1200" b="0" spc="-155" dirty="0">
                <a:latin typeface="Gill Sans"/>
                <a:cs typeface="Gill Sans"/>
              </a:rPr>
              <a:t> </a:t>
            </a:r>
            <a:r>
              <a:rPr sz="1200" b="0" dirty="0">
                <a:latin typeface="Gill Sans"/>
                <a:cs typeface="Gill Sans"/>
              </a:rPr>
              <a:t>The</a:t>
            </a:r>
            <a:r>
              <a:rPr sz="1200" b="0" spc="-40" dirty="0">
                <a:latin typeface="Gill Sans"/>
                <a:cs typeface="Gill Sans"/>
              </a:rPr>
              <a:t> </a:t>
            </a:r>
            <a:r>
              <a:rPr sz="1200" b="0" dirty="0">
                <a:latin typeface="Gill Sans"/>
                <a:cs typeface="Gill Sans"/>
              </a:rPr>
              <a:t>Kids</a:t>
            </a:r>
            <a:r>
              <a:rPr sz="1200" b="0" spc="-25" dirty="0">
                <a:latin typeface="Gill Sans"/>
                <a:cs typeface="Gill Sans"/>
              </a:rPr>
              <a:t> </a:t>
            </a:r>
            <a:r>
              <a:rPr sz="1200" b="0" dirty="0">
                <a:latin typeface="Gill Sans"/>
                <a:cs typeface="Gill Sans"/>
              </a:rPr>
              <a:t>of</a:t>
            </a:r>
            <a:r>
              <a:rPr sz="1200" b="0" spc="-25" dirty="0">
                <a:latin typeface="Gill Sans"/>
                <a:cs typeface="Gill Sans"/>
              </a:rPr>
              <a:t> </a:t>
            </a:r>
            <a:r>
              <a:rPr sz="1200" b="0" spc="-10" dirty="0">
                <a:latin typeface="Gill Sans"/>
                <a:cs typeface="Gill Sans"/>
              </a:rPr>
              <a:t>Catan </a:t>
            </a:r>
            <a:r>
              <a:rPr sz="1200" b="0" dirty="0">
                <a:latin typeface="Gill Sans"/>
                <a:cs typeface="Gill Sans"/>
              </a:rPr>
              <a:t>is</a:t>
            </a:r>
            <a:r>
              <a:rPr sz="1200" b="0" spc="-15" dirty="0">
                <a:latin typeface="Gill Sans"/>
                <a:cs typeface="Gill Sans"/>
              </a:rPr>
              <a:t> </a:t>
            </a:r>
            <a:r>
              <a:rPr sz="1200" b="0" dirty="0">
                <a:latin typeface="Gill Sans"/>
                <a:cs typeface="Gill Sans"/>
              </a:rPr>
              <a:t>a</a:t>
            </a:r>
            <a:r>
              <a:rPr sz="1200" b="0" spc="-10" dirty="0">
                <a:latin typeface="Gill Sans"/>
                <a:cs typeface="Gill Sans"/>
              </a:rPr>
              <a:t> </a:t>
            </a:r>
            <a:r>
              <a:rPr sz="1200" b="0" dirty="0">
                <a:latin typeface="Gill Sans"/>
                <a:cs typeface="Gill Sans"/>
              </a:rPr>
              <a:t>German</a:t>
            </a:r>
            <a:r>
              <a:rPr sz="1200" b="0" spc="-10" dirty="0">
                <a:latin typeface="Gill Sans"/>
                <a:cs typeface="Gill Sans"/>
              </a:rPr>
              <a:t> </a:t>
            </a:r>
            <a:r>
              <a:rPr sz="1200" b="0" spc="-20" dirty="0">
                <a:latin typeface="Gill Sans"/>
                <a:cs typeface="Gill Sans"/>
              </a:rPr>
              <a:t>board </a:t>
            </a:r>
            <a:r>
              <a:rPr sz="1200" b="0" dirty="0">
                <a:latin typeface="Gill Sans"/>
                <a:cs typeface="Gill Sans"/>
              </a:rPr>
              <a:t>game</a:t>
            </a:r>
            <a:r>
              <a:rPr sz="1200" b="0" spc="-60" dirty="0">
                <a:latin typeface="Gill Sans"/>
                <a:cs typeface="Gill Sans"/>
              </a:rPr>
              <a:t> </a:t>
            </a:r>
            <a:r>
              <a:rPr sz="1200" b="0" dirty="0">
                <a:latin typeface="Gill Sans"/>
                <a:cs typeface="Gill Sans"/>
              </a:rPr>
              <a:t>designed</a:t>
            </a:r>
            <a:r>
              <a:rPr sz="1200" b="0" spc="-55" dirty="0">
                <a:latin typeface="Gill Sans"/>
                <a:cs typeface="Gill Sans"/>
              </a:rPr>
              <a:t> </a:t>
            </a:r>
            <a:r>
              <a:rPr sz="1200" b="0" spc="-25" dirty="0">
                <a:latin typeface="Gill Sans"/>
                <a:cs typeface="Gill Sans"/>
              </a:rPr>
              <a:t>for </a:t>
            </a:r>
            <a:r>
              <a:rPr sz="1200" b="0" dirty="0">
                <a:latin typeface="Gill Sans"/>
                <a:cs typeface="Gill Sans"/>
              </a:rPr>
              <a:t>children</a:t>
            </a:r>
            <a:r>
              <a:rPr sz="1200" b="0" spc="-65" dirty="0">
                <a:latin typeface="Gill Sans"/>
                <a:cs typeface="Gill Sans"/>
              </a:rPr>
              <a:t> </a:t>
            </a:r>
            <a:r>
              <a:rPr sz="1200" b="0" dirty="0">
                <a:latin typeface="Gill Sans"/>
                <a:cs typeface="Gill Sans"/>
              </a:rPr>
              <a:t>using</a:t>
            </a:r>
            <a:r>
              <a:rPr sz="1200" b="0" spc="-60" dirty="0">
                <a:latin typeface="Gill Sans"/>
                <a:cs typeface="Gill Sans"/>
              </a:rPr>
              <a:t> </a:t>
            </a:r>
            <a:r>
              <a:rPr sz="1200" b="0" spc="-25" dirty="0">
                <a:latin typeface="Gill Sans"/>
                <a:cs typeface="Gill Sans"/>
              </a:rPr>
              <a:t>the </a:t>
            </a:r>
            <a:r>
              <a:rPr sz="1200" b="0" dirty="0">
                <a:latin typeface="Gill Sans"/>
                <a:cs typeface="Gill Sans"/>
              </a:rPr>
              <a:t>theme</a:t>
            </a:r>
            <a:r>
              <a:rPr sz="1200" b="0" spc="-50" dirty="0">
                <a:latin typeface="Gill Sans"/>
                <a:cs typeface="Gill Sans"/>
              </a:rPr>
              <a:t> </a:t>
            </a:r>
            <a:r>
              <a:rPr sz="1200" b="0" dirty="0">
                <a:latin typeface="Gill Sans"/>
                <a:cs typeface="Gill Sans"/>
              </a:rPr>
              <a:t>from</a:t>
            </a:r>
            <a:r>
              <a:rPr sz="1200" b="0" spc="-50" dirty="0">
                <a:latin typeface="Gill Sans"/>
                <a:cs typeface="Gill Sans"/>
              </a:rPr>
              <a:t> </a:t>
            </a:r>
            <a:r>
              <a:rPr sz="1200" b="0" spc="-20" dirty="0">
                <a:latin typeface="Gill Sans"/>
                <a:cs typeface="Gill Sans"/>
              </a:rPr>
              <a:t>"The </a:t>
            </a:r>
            <a:r>
              <a:rPr sz="1200" b="0" dirty="0">
                <a:latin typeface="Gill Sans"/>
                <a:cs typeface="Gill Sans"/>
              </a:rPr>
              <a:t>Settlers</a:t>
            </a:r>
            <a:r>
              <a:rPr sz="1200" b="0" spc="-55" dirty="0">
                <a:latin typeface="Gill Sans"/>
                <a:cs typeface="Gill Sans"/>
              </a:rPr>
              <a:t> </a:t>
            </a:r>
            <a:r>
              <a:rPr sz="1200" b="0" dirty="0">
                <a:latin typeface="Gill Sans"/>
                <a:cs typeface="Gill Sans"/>
              </a:rPr>
              <a:t>of</a:t>
            </a:r>
            <a:r>
              <a:rPr sz="1200" b="0" spc="-50" dirty="0">
                <a:latin typeface="Gill Sans"/>
                <a:cs typeface="Gill Sans"/>
              </a:rPr>
              <a:t> </a:t>
            </a:r>
            <a:r>
              <a:rPr sz="1200" b="0" spc="-10" dirty="0">
                <a:latin typeface="Gill Sans"/>
                <a:cs typeface="Gill Sans"/>
              </a:rPr>
              <a:t>Catan”...</a:t>
            </a:r>
            <a:endParaRPr sz="1200">
              <a:latin typeface="Gill Sans"/>
              <a:cs typeface="Gill San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738628" y="933337"/>
            <a:ext cx="1513840" cy="1870075"/>
            <a:chOff x="3738628" y="933337"/>
            <a:chExt cx="1513840" cy="1870075"/>
          </a:xfrm>
        </p:grpSpPr>
        <p:sp>
          <p:nvSpPr>
            <p:cNvPr id="11" name="object 11"/>
            <p:cNvSpPr/>
            <p:nvPr/>
          </p:nvSpPr>
          <p:spPr>
            <a:xfrm>
              <a:off x="3743390" y="938100"/>
              <a:ext cx="1504315" cy="1860550"/>
            </a:xfrm>
            <a:custGeom>
              <a:avLst/>
              <a:gdLst/>
              <a:ahLst/>
              <a:cxnLst/>
              <a:rect l="l" t="t" r="r" b="b"/>
              <a:pathLst>
                <a:path w="1504314" h="1860550">
                  <a:moveTo>
                    <a:pt x="1253494" y="1860299"/>
                  </a:moveTo>
                  <a:lnTo>
                    <a:pt x="0" y="1860299"/>
                  </a:lnTo>
                  <a:lnTo>
                    <a:pt x="0" y="0"/>
                  </a:lnTo>
                  <a:lnTo>
                    <a:pt x="1504199" y="0"/>
                  </a:lnTo>
                  <a:lnTo>
                    <a:pt x="1504199" y="1609594"/>
                  </a:lnTo>
                  <a:lnTo>
                    <a:pt x="1253494" y="1860299"/>
                  </a:lnTo>
                  <a:close/>
                </a:path>
              </a:pathLst>
            </a:custGeom>
            <a:solidFill>
              <a:srgbClr val="F1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996885" y="2547694"/>
              <a:ext cx="250825" cy="250825"/>
            </a:xfrm>
            <a:custGeom>
              <a:avLst/>
              <a:gdLst/>
              <a:ahLst/>
              <a:cxnLst/>
              <a:rect l="l" t="t" r="r" b="b"/>
              <a:pathLst>
                <a:path w="250825" h="250825">
                  <a:moveTo>
                    <a:pt x="0" y="250704"/>
                  </a:moveTo>
                  <a:lnTo>
                    <a:pt x="50140" y="50140"/>
                  </a:lnTo>
                  <a:lnTo>
                    <a:pt x="250704" y="0"/>
                  </a:lnTo>
                  <a:lnTo>
                    <a:pt x="0" y="250704"/>
                  </a:lnTo>
                  <a:close/>
                </a:path>
              </a:pathLst>
            </a:custGeom>
            <a:solidFill>
              <a:srgbClr val="C1AE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743390" y="938100"/>
              <a:ext cx="1504315" cy="1860550"/>
            </a:xfrm>
            <a:custGeom>
              <a:avLst/>
              <a:gdLst/>
              <a:ahLst/>
              <a:cxnLst/>
              <a:rect l="l" t="t" r="r" b="b"/>
              <a:pathLst>
                <a:path w="1504314" h="1860550">
                  <a:moveTo>
                    <a:pt x="1253494" y="1860299"/>
                  </a:moveTo>
                  <a:lnTo>
                    <a:pt x="1303635" y="1659735"/>
                  </a:lnTo>
                  <a:lnTo>
                    <a:pt x="1504199" y="1609594"/>
                  </a:lnTo>
                  <a:lnTo>
                    <a:pt x="1253494" y="1860299"/>
                  </a:lnTo>
                  <a:lnTo>
                    <a:pt x="0" y="1860299"/>
                  </a:lnTo>
                  <a:lnTo>
                    <a:pt x="0" y="0"/>
                  </a:lnTo>
                  <a:lnTo>
                    <a:pt x="1504199" y="0"/>
                  </a:lnTo>
                  <a:lnTo>
                    <a:pt x="1504199" y="1609594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743390" y="938100"/>
              <a:ext cx="1504315" cy="1860550"/>
            </a:xfrm>
            <a:custGeom>
              <a:avLst/>
              <a:gdLst/>
              <a:ahLst/>
              <a:cxnLst/>
              <a:rect l="l" t="t" r="r" b="b"/>
              <a:pathLst>
                <a:path w="1504314" h="1860550">
                  <a:moveTo>
                    <a:pt x="1253494" y="1860299"/>
                  </a:moveTo>
                  <a:lnTo>
                    <a:pt x="0" y="1860299"/>
                  </a:lnTo>
                  <a:lnTo>
                    <a:pt x="0" y="0"/>
                  </a:lnTo>
                  <a:lnTo>
                    <a:pt x="1504199" y="0"/>
                  </a:lnTo>
                  <a:lnTo>
                    <a:pt x="1504199" y="1609594"/>
                  </a:lnTo>
                  <a:lnTo>
                    <a:pt x="1253494" y="1860299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996885" y="2547694"/>
              <a:ext cx="250825" cy="250825"/>
            </a:xfrm>
            <a:custGeom>
              <a:avLst/>
              <a:gdLst/>
              <a:ahLst/>
              <a:cxnLst/>
              <a:rect l="l" t="t" r="r" b="b"/>
              <a:pathLst>
                <a:path w="250825" h="250825">
                  <a:moveTo>
                    <a:pt x="0" y="250704"/>
                  </a:moveTo>
                  <a:lnTo>
                    <a:pt x="50140" y="50140"/>
                  </a:lnTo>
                  <a:lnTo>
                    <a:pt x="250704" y="0"/>
                  </a:lnTo>
                  <a:lnTo>
                    <a:pt x="0" y="250704"/>
                  </a:lnTo>
                  <a:close/>
                </a:path>
              </a:pathLst>
            </a:custGeom>
            <a:solidFill>
              <a:srgbClr val="CBCB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743390" y="938100"/>
              <a:ext cx="1504315" cy="1860550"/>
            </a:xfrm>
            <a:custGeom>
              <a:avLst/>
              <a:gdLst/>
              <a:ahLst/>
              <a:cxnLst/>
              <a:rect l="l" t="t" r="r" b="b"/>
              <a:pathLst>
                <a:path w="1504314" h="1860550">
                  <a:moveTo>
                    <a:pt x="1253494" y="1860299"/>
                  </a:moveTo>
                  <a:lnTo>
                    <a:pt x="1303635" y="1659735"/>
                  </a:lnTo>
                  <a:lnTo>
                    <a:pt x="1504199" y="1609594"/>
                  </a:lnTo>
                  <a:lnTo>
                    <a:pt x="1253494" y="1860299"/>
                  </a:lnTo>
                  <a:lnTo>
                    <a:pt x="0" y="1860299"/>
                  </a:lnTo>
                  <a:lnTo>
                    <a:pt x="0" y="0"/>
                  </a:lnTo>
                  <a:lnTo>
                    <a:pt x="1504199" y="0"/>
                  </a:lnTo>
                  <a:lnTo>
                    <a:pt x="1504199" y="1609594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3806318" y="946854"/>
            <a:ext cx="1368425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latin typeface="Gill Sans"/>
                <a:cs typeface="Gill Sans"/>
              </a:rPr>
              <a:t>Pirate’s</a:t>
            </a:r>
            <a:r>
              <a:rPr sz="1200" b="1" spc="-45" dirty="0">
                <a:latin typeface="Gill Sans"/>
                <a:cs typeface="Gill Sans"/>
              </a:rPr>
              <a:t> </a:t>
            </a:r>
            <a:r>
              <a:rPr sz="1200" b="1" spc="-10" dirty="0">
                <a:latin typeface="Gill Sans"/>
                <a:cs typeface="Gill Sans"/>
              </a:rPr>
              <a:t>Cove</a:t>
            </a:r>
            <a:r>
              <a:rPr sz="1200" b="1" spc="-25" dirty="0">
                <a:latin typeface="Gill Sans"/>
                <a:cs typeface="Gill Sans"/>
              </a:rPr>
              <a:t> </a:t>
            </a:r>
            <a:r>
              <a:rPr sz="1200" b="0" spc="-50" dirty="0">
                <a:latin typeface="Gill Sans"/>
                <a:cs typeface="Gill Sans"/>
              </a:rPr>
              <a:t>— </a:t>
            </a:r>
            <a:r>
              <a:rPr sz="1200" b="0" spc="-20" dirty="0">
                <a:latin typeface="Gill Sans"/>
                <a:cs typeface="Gill Sans"/>
              </a:rPr>
              <a:t>Pirate’s</a:t>
            </a:r>
            <a:r>
              <a:rPr sz="1200" b="0" spc="-35" dirty="0">
                <a:latin typeface="Gill Sans"/>
                <a:cs typeface="Gill Sans"/>
              </a:rPr>
              <a:t> </a:t>
            </a:r>
            <a:r>
              <a:rPr sz="1200" b="0" dirty="0">
                <a:latin typeface="Gill Sans"/>
                <a:cs typeface="Gill Sans"/>
              </a:rPr>
              <a:t>Cove</a:t>
            </a:r>
            <a:r>
              <a:rPr sz="1200" b="0" spc="-35" dirty="0">
                <a:latin typeface="Gill Sans"/>
                <a:cs typeface="Gill Sans"/>
              </a:rPr>
              <a:t> </a:t>
            </a:r>
            <a:r>
              <a:rPr sz="1200" b="0" dirty="0">
                <a:latin typeface="Gill Sans"/>
                <a:cs typeface="Gill Sans"/>
              </a:rPr>
              <a:t>is</a:t>
            </a:r>
            <a:r>
              <a:rPr sz="1200" b="0" spc="-35" dirty="0">
                <a:latin typeface="Gill Sans"/>
                <a:cs typeface="Gill Sans"/>
              </a:rPr>
              <a:t> </a:t>
            </a:r>
            <a:r>
              <a:rPr sz="1200" b="0" spc="-50" dirty="0">
                <a:latin typeface="Gill Sans"/>
                <a:cs typeface="Gill Sans"/>
              </a:rPr>
              <a:t>a </a:t>
            </a:r>
            <a:r>
              <a:rPr sz="1200" b="0" dirty="0">
                <a:latin typeface="Gill Sans"/>
                <a:cs typeface="Gill Sans"/>
              </a:rPr>
              <a:t>board</a:t>
            </a:r>
            <a:r>
              <a:rPr sz="1200" b="0" spc="-40" dirty="0">
                <a:latin typeface="Gill Sans"/>
                <a:cs typeface="Gill Sans"/>
              </a:rPr>
              <a:t> </a:t>
            </a:r>
            <a:r>
              <a:rPr sz="1200" b="0" dirty="0">
                <a:latin typeface="Gill Sans"/>
                <a:cs typeface="Gill Sans"/>
              </a:rPr>
              <a:t>game</a:t>
            </a:r>
            <a:r>
              <a:rPr sz="1200" b="0" spc="-40" dirty="0">
                <a:latin typeface="Gill Sans"/>
                <a:cs typeface="Gill Sans"/>
              </a:rPr>
              <a:t> </a:t>
            </a:r>
            <a:r>
              <a:rPr sz="1200" b="0" spc="-10" dirty="0">
                <a:latin typeface="Gill Sans"/>
                <a:cs typeface="Gill Sans"/>
              </a:rPr>
              <a:t>designed </a:t>
            </a:r>
            <a:r>
              <a:rPr sz="1200" b="0" dirty="0">
                <a:latin typeface="Gill Sans"/>
                <a:cs typeface="Gill Sans"/>
              </a:rPr>
              <a:t>by</a:t>
            </a:r>
            <a:r>
              <a:rPr sz="1200" b="0" spc="-45" dirty="0">
                <a:latin typeface="Gill Sans"/>
                <a:cs typeface="Gill Sans"/>
              </a:rPr>
              <a:t> </a:t>
            </a:r>
            <a:r>
              <a:rPr sz="1200" b="0" dirty="0">
                <a:latin typeface="Gill Sans"/>
                <a:cs typeface="Gill Sans"/>
              </a:rPr>
              <a:t>Paul</a:t>
            </a:r>
            <a:r>
              <a:rPr sz="1200" b="0" spc="-45" dirty="0">
                <a:latin typeface="Gill Sans"/>
                <a:cs typeface="Gill Sans"/>
              </a:rPr>
              <a:t> </a:t>
            </a:r>
            <a:r>
              <a:rPr sz="1200" b="0" dirty="0">
                <a:latin typeface="Gill Sans"/>
                <a:cs typeface="Gill Sans"/>
              </a:rPr>
              <a:t>Randles</a:t>
            </a:r>
            <a:r>
              <a:rPr sz="1200" b="0" spc="-45" dirty="0">
                <a:latin typeface="Gill Sans"/>
                <a:cs typeface="Gill Sans"/>
              </a:rPr>
              <a:t> </a:t>
            </a:r>
            <a:r>
              <a:rPr sz="1200" b="0" spc="-25" dirty="0">
                <a:latin typeface="Gill Sans"/>
                <a:cs typeface="Gill Sans"/>
              </a:rPr>
              <a:t>and </a:t>
            </a:r>
            <a:r>
              <a:rPr sz="1200" b="0" dirty="0">
                <a:latin typeface="Gill Sans"/>
                <a:cs typeface="Gill Sans"/>
              </a:rPr>
              <a:t>Daniel</a:t>
            </a:r>
            <a:r>
              <a:rPr sz="1200" b="0" spc="-25" dirty="0">
                <a:latin typeface="Gill Sans"/>
                <a:cs typeface="Gill Sans"/>
              </a:rPr>
              <a:t> </a:t>
            </a:r>
            <a:r>
              <a:rPr sz="1200" b="0" spc="-10" dirty="0">
                <a:latin typeface="Gill Sans"/>
                <a:cs typeface="Gill Sans"/>
              </a:rPr>
              <a:t>Stahl,</a:t>
            </a:r>
            <a:r>
              <a:rPr sz="1200" b="0" spc="-125" dirty="0">
                <a:latin typeface="Gill Sans"/>
                <a:cs typeface="Gill Sans"/>
              </a:rPr>
              <a:t> </a:t>
            </a:r>
            <a:r>
              <a:rPr sz="1200" b="0" spc="-10" dirty="0">
                <a:latin typeface="Gill Sans"/>
                <a:cs typeface="Gill Sans"/>
              </a:rPr>
              <a:t>originally published</a:t>
            </a:r>
            <a:r>
              <a:rPr sz="1200" b="0" spc="-5" dirty="0">
                <a:latin typeface="Gill Sans"/>
                <a:cs typeface="Gill Sans"/>
              </a:rPr>
              <a:t> </a:t>
            </a:r>
            <a:r>
              <a:rPr sz="1200" b="0" dirty="0">
                <a:latin typeface="Gill Sans"/>
                <a:cs typeface="Gill Sans"/>
              </a:rPr>
              <a:t>in</a:t>
            </a:r>
            <a:r>
              <a:rPr sz="1200" b="0" spc="-5" dirty="0">
                <a:latin typeface="Gill Sans"/>
                <a:cs typeface="Gill Sans"/>
              </a:rPr>
              <a:t> </a:t>
            </a:r>
            <a:r>
              <a:rPr sz="1200" b="0" spc="-10" dirty="0">
                <a:latin typeface="Gill Sans"/>
                <a:cs typeface="Gill Sans"/>
              </a:rPr>
              <a:t>Germany </a:t>
            </a:r>
            <a:r>
              <a:rPr sz="1200" b="0" dirty="0">
                <a:latin typeface="Gill Sans"/>
                <a:cs typeface="Gill Sans"/>
              </a:rPr>
              <a:t>in</a:t>
            </a:r>
            <a:r>
              <a:rPr sz="1200" b="0" spc="-5" dirty="0">
                <a:latin typeface="Gill Sans"/>
                <a:cs typeface="Gill Sans"/>
              </a:rPr>
              <a:t> </a:t>
            </a:r>
            <a:r>
              <a:rPr sz="1200" b="0" spc="-10" dirty="0">
                <a:latin typeface="Gill Sans"/>
                <a:cs typeface="Gill Sans"/>
              </a:rPr>
              <a:t>2002...</a:t>
            </a:r>
            <a:endParaRPr sz="1200">
              <a:latin typeface="Gill Sans"/>
              <a:cs typeface="Gill Sans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359962" y="933337"/>
            <a:ext cx="1513840" cy="1870075"/>
            <a:chOff x="5359962" y="933337"/>
            <a:chExt cx="1513840" cy="1870075"/>
          </a:xfrm>
        </p:grpSpPr>
        <p:sp>
          <p:nvSpPr>
            <p:cNvPr id="27" name="object 27"/>
            <p:cNvSpPr/>
            <p:nvPr/>
          </p:nvSpPr>
          <p:spPr>
            <a:xfrm>
              <a:off x="5364724" y="938100"/>
              <a:ext cx="1504315" cy="1860550"/>
            </a:xfrm>
            <a:custGeom>
              <a:avLst/>
              <a:gdLst/>
              <a:ahLst/>
              <a:cxnLst/>
              <a:rect l="l" t="t" r="r" b="b"/>
              <a:pathLst>
                <a:path w="1504315" h="1860550">
                  <a:moveTo>
                    <a:pt x="1253494" y="1860299"/>
                  </a:moveTo>
                  <a:lnTo>
                    <a:pt x="0" y="1860299"/>
                  </a:lnTo>
                  <a:lnTo>
                    <a:pt x="0" y="0"/>
                  </a:lnTo>
                  <a:lnTo>
                    <a:pt x="1504199" y="0"/>
                  </a:lnTo>
                  <a:lnTo>
                    <a:pt x="1504199" y="1609594"/>
                  </a:lnTo>
                  <a:lnTo>
                    <a:pt x="1253494" y="1860299"/>
                  </a:lnTo>
                  <a:close/>
                </a:path>
              </a:pathLst>
            </a:custGeom>
            <a:solidFill>
              <a:srgbClr val="F1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618219" y="2547694"/>
              <a:ext cx="250825" cy="250825"/>
            </a:xfrm>
            <a:custGeom>
              <a:avLst/>
              <a:gdLst/>
              <a:ahLst/>
              <a:cxnLst/>
              <a:rect l="l" t="t" r="r" b="b"/>
              <a:pathLst>
                <a:path w="250825" h="250825">
                  <a:moveTo>
                    <a:pt x="0" y="250704"/>
                  </a:moveTo>
                  <a:lnTo>
                    <a:pt x="50140" y="50140"/>
                  </a:lnTo>
                  <a:lnTo>
                    <a:pt x="250704" y="0"/>
                  </a:lnTo>
                  <a:lnTo>
                    <a:pt x="0" y="250704"/>
                  </a:lnTo>
                  <a:close/>
                </a:path>
              </a:pathLst>
            </a:custGeom>
            <a:solidFill>
              <a:srgbClr val="C1AE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364724" y="938100"/>
              <a:ext cx="1504315" cy="1860550"/>
            </a:xfrm>
            <a:custGeom>
              <a:avLst/>
              <a:gdLst/>
              <a:ahLst/>
              <a:cxnLst/>
              <a:rect l="l" t="t" r="r" b="b"/>
              <a:pathLst>
                <a:path w="1504315" h="1860550">
                  <a:moveTo>
                    <a:pt x="1253494" y="1860299"/>
                  </a:moveTo>
                  <a:lnTo>
                    <a:pt x="1303635" y="1659735"/>
                  </a:lnTo>
                  <a:lnTo>
                    <a:pt x="1504199" y="1609594"/>
                  </a:lnTo>
                  <a:lnTo>
                    <a:pt x="1253494" y="1860299"/>
                  </a:lnTo>
                  <a:lnTo>
                    <a:pt x="0" y="1860299"/>
                  </a:lnTo>
                  <a:lnTo>
                    <a:pt x="0" y="0"/>
                  </a:lnTo>
                  <a:lnTo>
                    <a:pt x="1504199" y="0"/>
                  </a:lnTo>
                  <a:lnTo>
                    <a:pt x="1504199" y="1609594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5460288" y="960454"/>
            <a:ext cx="138112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Gill Sans"/>
                <a:cs typeface="Gill Sans"/>
              </a:rPr>
              <a:t>Catan:</a:t>
            </a:r>
            <a:r>
              <a:rPr sz="1200" b="1" spc="-125" dirty="0">
                <a:latin typeface="Gill Sans"/>
                <a:cs typeface="Gill Sans"/>
              </a:rPr>
              <a:t> </a:t>
            </a:r>
            <a:r>
              <a:rPr sz="1200" b="1" dirty="0">
                <a:latin typeface="Gill Sans"/>
                <a:cs typeface="Gill Sans"/>
              </a:rPr>
              <a:t>Cities</a:t>
            </a:r>
            <a:r>
              <a:rPr sz="1200" b="1" spc="-30" dirty="0">
                <a:latin typeface="Gill Sans"/>
                <a:cs typeface="Gill Sans"/>
              </a:rPr>
              <a:t> </a:t>
            </a:r>
            <a:r>
              <a:rPr sz="1200" b="1" spc="-50" dirty="0">
                <a:latin typeface="Gill Sans"/>
                <a:cs typeface="Gill Sans"/>
              </a:rPr>
              <a:t>&amp; </a:t>
            </a:r>
            <a:r>
              <a:rPr sz="1200" b="1" dirty="0">
                <a:latin typeface="Gill Sans"/>
                <a:cs typeface="Gill Sans"/>
              </a:rPr>
              <a:t>Knights</a:t>
            </a:r>
            <a:r>
              <a:rPr sz="1200" b="1" spc="-40" dirty="0">
                <a:latin typeface="Gill Sans"/>
                <a:cs typeface="Gill Sans"/>
              </a:rPr>
              <a:t> </a:t>
            </a:r>
            <a:r>
              <a:rPr sz="1200" b="0" dirty="0">
                <a:latin typeface="Gill Sans"/>
                <a:cs typeface="Gill Sans"/>
              </a:rPr>
              <a:t>—</a:t>
            </a:r>
            <a:r>
              <a:rPr sz="1200" b="0" spc="-40" dirty="0">
                <a:latin typeface="Gill Sans"/>
                <a:cs typeface="Gill Sans"/>
              </a:rPr>
              <a:t> </a:t>
            </a:r>
            <a:r>
              <a:rPr sz="1200" b="0" spc="-10" dirty="0">
                <a:latin typeface="Gill Sans"/>
                <a:cs typeface="Gill Sans"/>
              </a:rPr>
              <a:t>Catan: </a:t>
            </a:r>
            <a:r>
              <a:rPr sz="1200" b="0" dirty="0">
                <a:latin typeface="Gill Sans"/>
                <a:cs typeface="Gill Sans"/>
              </a:rPr>
              <a:t>Cities</a:t>
            </a:r>
            <a:r>
              <a:rPr sz="1200" b="0" spc="-35" dirty="0">
                <a:latin typeface="Gill Sans"/>
                <a:cs typeface="Gill Sans"/>
              </a:rPr>
              <a:t> </a:t>
            </a:r>
            <a:r>
              <a:rPr sz="1200" b="0" dirty="0">
                <a:latin typeface="Gill Sans"/>
                <a:cs typeface="Gill Sans"/>
              </a:rPr>
              <a:t>&amp;</a:t>
            </a:r>
            <a:r>
              <a:rPr sz="1200" b="0" spc="-30" dirty="0">
                <a:latin typeface="Gill Sans"/>
                <a:cs typeface="Gill Sans"/>
              </a:rPr>
              <a:t> </a:t>
            </a:r>
            <a:r>
              <a:rPr sz="1200" b="0" spc="-10" dirty="0">
                <a:latin typeface="Gill Sans"/>
                <a:cs typeface="Gill Sans"/>
              </a:rPr>
              <a:t>Knights, </a:t>
            </a:r>
            <a:r>
              <a:rPr sz="1200" b="0" dirty="0">
                <a:latin typeface="Gill Sans"/>
                <a:cs typeface="Gill Sans"/>
              </a:rPr>
              <a:t>formerly</a:t>
            </a:r>
            <a:r>
              <a:rPr sz="1200" b="0" spc="-55" dirty="0">
                <a:latin typeface="Gill Sans"/>
                <a:cs typeface="Gill Sans"/>
              </a:rPr>
              <a:t> </a:t>
            </a:r>
            <a:r>
              <a:rPr sz="1200" b="0" dirty="0">
                <a:latin typeface="Gill Sans"/>
                <a:cs typeface="Gill Sans"/>
              </a:rPr>
              <a:t>"The</a:t>
            </a:r>
            <a:r>
              <a:rPr sz="1200" b="0" spc="-50" dirty="0">
                <a:latin typeface="Gill Sans"/>
                <a:cs typeface="Gill Sans"/>
              </a:rPr>
              <a:t> </a:t>
            </a:r>
            <a:r>
              <a:rPr sz="1200" b="0" spc="-10" dirty="0">
                <a:latin typeface="Gill Sans"/>
                <a:cs typeface="Gill Sans"/>
              </a:rPr>
              <a:t>Cities </a:t>
            </a:r>
            <a:r>
              <a:rPr sz="1200" b="0" dirty="0">
                <a:latin typeface="Gill Sans"/>
                <a:cs typeface="Gill Sans"/>
              </a:rPr>
              <a:t>and</a:t>
            </a:r>
            <a:r>
              <a:rPr sz="1200" b="0" spc="-45" dirty="0">
                <a:latin typeface="Gill Sans"/>
                <a:cs typeface="Gill Sans"/>
              </a:rPr>
              <a:t> </a:t>
            </a:r>
            <a:r>
              <a:rPr sz="1200" b="0" dirty="0">
                <a:latin typeface="Gill Sans"/>
                <a:cs typeface="Gill Sans"/>
              </a:rPr>
              <a:t>Knights</a:t>
            </a:r>
            <a:r>
              <a:rPr sz="1200" b="0" spc="-45" dirty="0">
                <a:latin typeface="Gill Sans"/>
                <a:cs typeface="Gill Sans"/>
              </a:rPr>
              <a:t> </a:t>
            </a:r>
            <a:r>
              <a:rPr sz="1200" b="0" dirty="0">
                <a:latin typeface="Gill Sans"/>
                <a:cs typeface="Gill Sans"/>
              </a:rPr>
              <a:t>of</a:t>
            </a:r>
            <a:r>
              <a:rPr sz="1200" b="0" spc="-40" dirty="0">
                <a:latin typeface="Gill Sans"/>
                <a:cs typeface="Gill Sans"/>
              </a:rPr>
              <a:t> </a:t>
            </a:r>
            <a:r>
              <a:rPr sz="1200" b="0" spc="-10" dirty="0">
                <a:latin typeface="Gill Sans"/>
                <a:cs typeface="Gill Sans"/>
              </a:rPr>
              <a:t>Catan" </a:t>
            </a:r>
            <a:r>
              <a:rPr sz="1200" b="0" dirty="0">
                <a:latin typeface="Gill Sans"/>
                <a:cs typeface="Gill Sans"/>
              </a:rPr>
              <a:t>is</a:t>
            </a:r>
            <a:r>
              <a:rPr sz="1200" b="0" spc="-30" dirty="0">
                <a:latin typeface="Gill Sans"/>
                <a:cs typeface="Gill Sans"/>
              </a:rPr>
              <a:t> </a:t>
            </a:r>
            <a:r>
              <a:rPr sz="1200" b="0" dirty="0">
                <a:latin typeface="Gill Sans"/>
                <a:cs typeface="Gill Sans"/>
              </a:rPr>
              <a:t>an</a:t>
            </a:r>
            <a:r>
              <a:rPr sz="1200" b="0" spc="-30" dirty="0">
                <a:latin typeface="Gill Sans"/>
                <a:cs typeface="Gill Sans"/>
              </a:rPr>
              <a:t> </a:t>
            </a:r>
            <a:r>
              <a:rPr sz="1200" b="0" dirty="0">
                <a:latin typeface="Gill Sans"/>
                <a:cs typeface="Gill Sans"/>
              </a:rPr>
              <a:t>expansion</a:t>
            </a:r>
            <a:r>
              <a:rPr sz="1200" b="0" spc="-30" dirty="0">
                <a:latin typeface="Gill Sans"/>
                <a:cs typeface="Gill Sans"/>
              </a:rPr>
              <a:t> </a:t>
            </a:r>
            <a:r>
              <a:rPr sz="1200" b="0" dirty="0">
                <a:latin typeface="Gill Sans"/>
                <a:cs typeface="Gill Sans"/>
              </a:rPr>
              <a:t>to</a:t>
            </a:r>
            <a:r>
              <a:rPr sz="1200" b="0" spc="-30" dirty="0">
                <a:latin typeface="Gill Sans"/>
                <a:cs typeface="Gill Sans"/>
              </a:rPr>
              <a:t> </a:t>
            </a:r>
            <a:r>
              <a:rPr sz="1200" b="0" spc="-25" dirty="0">
                <a:latin typeface="Gill Sans"/>
                <a:cs typeface="Gill Sans"/>
              </a:rPr>
              <a:t>the </a:t>
            </a:r>
            <a:r>
              <a:rPr sz="1200" b="0" dirty="0">
                <a:latin typeface="Gill Sans"/>
                <a:cs typeface="Gill Sans"/>
              </a:rPr>
              <a:t>board</a:t>
            </a:r>
            <a:r>
              <a:rPr sz="1200" b="0" spc="-40" dirty="0">
                <a:latin typeface="Gill Sans"/>
                <a:cs typeface="Gill Sans"/>
              </a:rPr>
              <a:t> </a:t>
            </a:r>
            <a:r>
              <a:rPr sz="1200" b="0" dirty="0">
                <a:latin typeface="Gill Sans"/>
                <a:cs typeface="Gill Sans"/>
              </a:rPr>
              <a:t>game</a:t>
            </a:r>
            <a:r>
              <a:rPr sz="1200" b="0" spc="-40" dirty="0">
                <a:latin typeface="Gill Sans"/>
                <a:cs typeface="Gill Sans"/>
              </a:rPr>
              <a:t> </a:t>
            </a:r>
            <a:r>
              <a:rPr sz="1200" b="0" spc="-20" dirty="0">
                <a:latin typeface="Gill Sans"/>
                <a:cs typeface="Gill Sans"/>
              </a:rPr>
              <a:t>"The </a:t>
            </a:r>
            <a:r>
              <a:rPr sz="1200" b="0" dirty="0">
                <a:latin typeface="Gill Sans"/>
                <a:cs typeface="Gill Sans"/>
              </a:rPr>
              <a:t>Settlers</a:t>
            </a:r>
            <a:r>
              <a:rPr sz="1200" b="0" spc="-55" dirty="0">
                <a:latin typeface="Gill Sans"/>
                <a:cs typeface="Gill Sans"/>
              </a:rPr>
              <a:t> </a:t>
            </a:r>
            <a:r>
              <a:rPr sz="1200" b="0" dirty="0">
                <a:latin typeface="Gill Sans"/>
                <a:cs typeface="Gill Sans"/>
              </a:rPr>
              <a:t>of</a:t>
            </a:r>
            <a:r>
              <a:rPr sz="1200" b="0" spc="-50" dirty="0">
                <a:latin typeface="Gill Sans"/>
                <a:cs typeface="Gill Sans"/>
              </a:rPr>
              <a:t> </a:t>
            </a:r>
            <a:r>
              <a:rPr sz="1200" b="0" spc="-10" dirty="0">
                <a:latin typeface="Gill Sans"/>
                <a:cs typeface="Gill Sans"/>
              </a:rPr>
              <a:t>Catan”...</a:t>
            </a:r>
            <a:endParaRPr sz="1200">
              <a:latin typeface="Gill Sans"/>
              <a:cs typeface="Gill San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967187" y="933337"/>
            <a:ext cx="1513840" cy="1871345"/>
            <a:chOff x="6967187" y="933337"/>
            <a:chExt cx="1513840" cy="1871345"/>
          </a:xfrm>
        </p:grpSpPr>
        <p:sp>
          <p:nvSpPr>
            <p:cNvPr id="4" name="object 4"/>
            <p:cNvSpPr/>
            <p:nvPr/>
          </p:nvSpPr>
          <p:spPr>
            <a:xfrm>
              <a:off x="6971949" y="938100"/>
              <a:ext cx="1504315" cy="1860550"/>
            </a:xfrm>
            <a:custGeom>
              <a:avLst/>
              <a:gdLst/>
              <a:ahLst/>
              <a:cxnLst/>
              <a:rect l="l" t="t" r="r" b="b"/>
              <a:pathLst>
                <a:path w="1504315" h="1860550">
                  <a:moveTo>
                    <a:pt x="1253494" y="1860299"/>
                  </a:moveTo>
                  <a:lnTo>
                    <a:pt x="0" y="1860299"/>
                  </a:lnTo>
                  <a:lnTo>
                    <a:pt x="0" y="0"/>
                  </a:lnTo>
                  <a:lnTo>
                    <a:pt x="1504199" y="0"/>
                  </a:lnTo>
                  <a:lnTo>
                    <a:pt x="1504199" y="1609594"/>
                  </a:lnTo>
                  <a:lnTo>
                    <a:pt x="1253494" y="1860299"/>
                  </a:lnTo>
                  <a:close/>
                </a:path>
              </a:pathLst>
            </a:custGeom>
            <a:solidFill>
              <a:srgbClr val="F1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225444" y="2547694"/>
              <a:ext cx="250825" cy="250825"/>
            </a:xfrm>
            <a:custGeom>
              <a:avLst/>
              <a:gdLst/>
              <a:ahLst/>
              <a:cxnLst/>
              <a:rect l="l" t="t" r="r" b="b"/>
              <a:pathLst>
                <a:path w="250825" h="250825">
                  <a:moveTo>
                    <a:pt x="0" y="250704"/>
                  </a:moveTo>
                  <a:lnTo>
                    <a:pt x="50140" y="50140"/>
                  </a:lnTo>
                  <a:lnTo>
                    <a:pt x="250704" y="0"/>
                  </a:lnTo>
                  <a:lnTo>
                    <a:pt x="0" y="250704"/>
                  </a:lnTo>
                  <a:close/>
                </a:path>
              </a:pathLst>
            </a:custGeom>
            <a:solidFill>
              <a:srgbClr val="C1AE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971949" y="938100"/>
              <a:ext cx="1504315" cy="1860550"/>
            </a:xfrm>
            <a:custGeom>
              <a:avLst/>
              <a:gdLst/>
              <a:ahLst/>
              <a:cxnLst/>
              <a:rect l="l" t="t" r="r" b="b"/>
              <a:pathLst>
                <a:path w="1504315" h="1860550">
                  <a:moveTo>
                    <a:pt x="1253494" y="1860299"/>
                  </a:moveTo>
                  <a:lnTo>
                    <a:pt x="1303635" y="1659735"/>
                  </a:lnTo>
                  <a:lnTo>
                    <a:pt x="1504199" y="1609594"/>
                  </a:lnTo>
                  <a:lnTo>
                    <a:pt x="1253494" y="1860299"/>
                  </a:lnTo>
                  <a:lnTo>
                    <a:pt x="0" y="1860299"/>
                  </a:lnTo>
                  <a:lnTo>
                    <a:pt x="0" y="0"/>
                  </a:lnTo>
                  <a:lnTo>
                    <a:pt x="1504199" y="0"/>
                  </a:lnTo>
                  <a:lnTo>
                    <a:pt x="1504199" y="1609594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971950" y="939538"/>
              <a:ext cx="1504315" cy="1860550"/>
            </a:xfrm>
            <a:custGeom>
              <a:avLst/>
              <a:gdLst/>
              <a:ahLst/>
              <a:cxnLst/>
              <a:rect l="l" t="t" r="r" b="b"/>
              <a:pathLst>
                <a:path w="1504315" h="1860550">
                  <a:moveTo>
                    <a:pt x="1253494" y="1860299"/>
                  </a:moveTo>
                  <a:lnTo>
                    <a:pt x="0" y="1860299"/>
                  </a:lnTo>
                  <a:lnTo>
                    <a:pt x="0" y="0"/>
                  </a:lnTo>
                  <a:lnTo>
                    <a:pt x="1504199" y="0"/>
                  </a:lnTo>
                  <a:lnTo>
                    <a:pt x="1504199" y="1609594"/>
                  </a:lnTo>
                  <a:lnTo>
                    <a:pt x="1253494" y="1860299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225444" y="2549133"/>
              <a:ext cx="250825" cy="250825"/>
            </a:xfrm>
            <a:custGeom>
              <a:avLst/>
              <a:gdLst/>
              <a:ahLst/>
              <a:cxnLst/>
              <a:rect l="l" t="t" r="r" b="b"/>
              <a:pathLst>
                <a:path w="250825" h="250825">
                  <a:moveTo>
                    <a:pt x="0" y="250704"/>
                  </a:moveTo>
                  <a:lnTo>
                    <a:pt x="50141" y="50140"/>
                  </a:lnTo>
                  <a:lnTo>
                    <a:pt x="250705" y="0"/>
                  </a:lnTo>
                  <a:lnTo>
                    <a:pt x="0" y="250704"/>
                  </a:lnTo>
                  <a:close/>
                </a:path>
              </a:pathLst>
            </a:custGeom>
            <a:solidFill>
              <a:srgbClr val="CBCB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971950" y="939538"/>
              <a:ext cx="1504315" cy="1860550"/>
            </a:xfrm>
            <a:custGeom>
              <a:avLst/>
              <a:gdLst/>
              <a:ahLst/>
              <a:cxnLst/>
              <a:rect l="l" t="t" r="r" b="b"/>
              <a:pathLst>
                <a:path w="1504315" h="1860550">
                  <a:moveTo>
                    <a:pt x="1253494" y="1860299"/>
                  </a:moveTo>
                  <a:lnTo>
                    <a:pt x="1303635" y="1659735"/>
                  </a:lnTo>
                  <a:lnTo>
                    <a:pt x="1504199" y="1609594"/>
                  </a:lnTo>
                  <a:lnTo>
                    <a:pt x="1253494" y="1860299"/>
                  </a:lnTo>
                  <a:lnTo>
                    <a:pt x="0" y="1860299"/>
                  </a:lnTo>
                  <a:lnTo>
                    <a:pt x="0" y="0"/>
                  </a:lnTo>
                  <a:lnTo>
                    <a:pt x="1504199" y="0"/>
                  </a:lnTo>
                  <a:lnTo>
                    <a:pt x="1504199" y="1609594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7072750" y="960454"/>
            <a:ext cx="142748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Gill Sans"/>
                <a:cs typeface="Gill Sans"/>
              </a:rPr>
              <a:t>Catan</a:t>
            </a:r>
            <a:r>
              <a:rPr sz="1200" b="1" spc="-20" dirty="0">
                <a:latin typeface="Gill Sans"/>
                <a:cs typeface="Gill Sans"/>
              </a:rPr>
              <a:t> </a:t>
            </a:r>
            <a:r>
              <a:rPr sz="1200" b="0" dirty="0">
                <a:latin typeface="Gill Sans"/>
                <a:cs typeface="Gill Sans"/>
              </a:rPr>
              <a:t>—</a:t>
            </a:r>
            <a:r>
              <a:rPr sz="1200" b="0" spc="-155" dirty="0">
                <a:latin typeface="Gill Sans"/>
                <a:cs typeface="Gill Sans"/>
              </a:rPr>
              <a:t> </a:t>
            </a:r>
            <a:r>
              <a:rPr sz="1200" b="0" dirty="0">
                <a:latin typeface="Gill Sans"/>
                <a:cs typeface="Gill Sans"/>
              </a:rPr>
              <a:t>The</a:t>
            </a:r>
            <a:r>
              <a:rPr sz="1200" b="0" spc="-5" dirty="0">
                <a:latin typeface="Gill Sans"/>
                <a:cs typeface="Gill Sans"/>
              </a:rPr>
              <a:t> </a:t>
            </a:r>
            <a:r>
              <a:rPr sz="1200" b="0" spc="-10" dirty="0">
                <a:latin typeface="Gill Sans"/>
                <a:cs typeface="Gill Sans"/>
              </a:rPr>
              <a:t>Settlers </a:t>
            </a:r>
            <a:r>
              <a:rPr sz="1200" b="0" dirty="0">
                <a:latin typeface="Gill Sans"/>
                <a:cs typeface="Gill Sans"/>
              </a:rPr>
              <a:t>of</a:t>
            </a:r>
            <a:r>
              <a:rPr sz="1200" b="0" spc="-25" dirty="0">
                <a:latin typeface="Gill Sans"/>
                <a:cs typeface="Gill Sans"/>
              </a:rPr>
              <a:t> </a:t>
            </a:r>
            <a:r>
              <a:rPr sz="1200" b="0" spc="-10" dirty="0">
                <a:latin typeface="Gill Sans"/>
                <a:cs typeface="Gill Sans"/>
              </a:rPr>
              <a:t>Catan,</a:t>
            </a:r>
            <a:r>
              <a:rPr sz="1200" b="0" spc="-125" dirty="0">
                <a:latin typeface="Gill Sans"/>
                <a:cs typeface="Gill Sans"/>
              </a:rPr>
              <a:t> </a:t>
            </a:r>
            <a:r>
              <a:rPr sz="1200" b="0" spc="-10" dirty="0">
                <a:latin typeface="Gill Sans"/>
                <a:cs typeface="Gill Sans"/>
              </a:rPr>
              <a:t>sometimes </a:t>
            </a:r>
            <a:r>
              <a:rPr sz="1200" b="0" dirty="0">
                <a:latin typeface="Gill Sans"/>
                <a:cs typeface="Gill Sans"/>
              </a:rPr>
              <a:t>shortened</a:t>
            </a:r>
            <a:r>
              <a:rPr sz="1200" b="0" spc="-40" dirty="0">
                <a:latin typeface="Gill Sans"/>
                <a:cs typeface="Gill Sans"/>
              </a:rPr>
              <a:t> </a:t>
            </a:r>
            <a:r>
              <a:rPr sz="1200" b="0" dirty="0">
                <a:latin typeface="Gill Sans"/>
                <a:cs typeface="Gill Sans"/>
              </a:rPr>
              <a:t>to</a:t>
            </a:r>
            <a:r>
              <a:rPr sz="1200" b="0" spc="-40" dirty="0">
                <a:latin typeface="Gill Sans"/>
                <a:cs typeface="Gill Sans"/>
              </a:rPr>
              <a:t> </a:t>
            </a:r>
            <a:r>
              <a:rPr sz="1200" b="0" dirty="0">
                <a:latin typeface="Gill Sans"/>
                <a:cs typeface="Gill Sans"/>
              </a:rPr>
              <a:t>Catan</a:t>
            </a:r>
            <a:r>
              <a:rPr sz="1200" b="0" spc="-35" dirty="0">
                <a:latin typeface="Gill Sans"/>
                <a:cs typeface="Gill Sans"/>
              </a:rPr>
              <a:t> </a:t>
            </a:r>
            <a:r>
              <a:rPr sz="1200" b="0" spc="-25" dirty="0">
                <a:latin typeface="Gill Sans"/>
                <a:cs typeface="Gill Sans"/>
              </a:rPr>
              <a:t>or </a:t>
            </a:r>
            <a:r>
              <a:rPr sz="1200" b="0" spc="-10" dirty="0">
                <a:latin typeface="Gill Sans"/>
                <a:cs typeface="Gill Sans"/>
              </a:rPr>
              <a:t>Settlers,</a:t>
            </a:r>
            <a:r>
              <a:rPr sz="1200" b="0" spc="-125" dirty="0">
                <a:latin typeface="Gill Sans"/>
                <a:cs typeface="Gill Sans"/>
              </a:rPr>
              <a:t> </a:t>
            </a:r>
            <a:r>
              <a:rPr sz="1200" b="0" dirty="0">
                <a:latin typeface="Gill Sans"/>
                <a:cs typeface="Gill Sans"/>
              </a:rPr>
              <a:t>is</a:t>
            </a:r>
            <a:r>
              <a:rPr sz="1200" b="0" spc="-10" dirty="0">
                <a:latin typeface="Gill Sans"/>
                <a:cs typeface="Gill Sans"/>
              </a:rPr>
              <a:t> </a:t>
            </a:r>
            <a:r>
              <a:rPr sz="1200" b="0" spc="-50" dirty="0">
                <a:latin typeface="Gill Sans"/>
                <a:cs typeface="Gill Sans"/>
              </a:rPr>
              <a:t>a</a:t>
            </a:r>
            <a:r>
              <a:rPr sz="1200" b="0" spc="500" dirty="0">
                <a:latin typeface="Gill Sans"/>
                <a:cs typeface="Gill Sans"/>
              </a:rPr>
              <a:t> </a:t>
            </a:r>
            <a:r>
              <a:rPr sz="1200" b="0" spc="-10" dirty="0">
                <a:latin typeface="Gill Sans"/>
                <a:cs typeface="Gill Sans"/>
              </a:rPr>
              <a:t>multiplayer</a:t>
            </a:r>
            <a:r>
              <a:rPr sz="1200" b="0" spc="-45" dirty="0">
                <a:latin typeface="Gill Sans"/>
                <a:cs typeface="Gill Sans"/>
              </a:rPr>
              <a:t> </a:t>
            </a:r>
            <a:r>
              <a:rPr sz="1200" b="0" spc="-10" dirty="0">
                <a:latin typeface="Gill Sans"/>
                <a:cs typeface="Gill Sans"/>
              </a:rPr>
              <a:t>board</a:t>
            </a:r>
            <a:r>
              <a:rPr sz="1200" b="0" spc="500" dirty="0">
                <a:latin typeface="Gill Sans"/>
                <a:cs typeface="Gill Sans"/>
              </a:rPr>
              <a:t> </a:t>
            </a:r>
            <a:r>
              <a:rPr sz="1200" b="0" dirty="0">
                <a:latin typeface="Gill Sans"/>
                <a:cs typeface="Gill Sans"/>
              </a:rPr>
              <a:t>game</a:t>
            </a:r>
            <a:r>
              <a:rPr sz="1200" b="0" spc="-60" dirty="0">
                <a:latin typeface="Gill Sans"/>
                <a:cs typeface="Gill Sans"/>
              </a:rPr>
              <a:t> </a:t>
            </a:r>
            <a:r>
              <a:rPr sz="1200" b="0" dirty="0">
                <a:latin typeface="Gill Sans"/>
                <a:cs typeface="Gill Sans"/>
              </a:rPr>
              <a:t>designed</a:t>
            </a:r>
            <a:r>
              <a:rPr sz="1200" b="0" spc="-55" dirty="0">
                <a:latin typeface="Gill Sans"/>
                <a:cs typeface="Gill Sans"/>
              </a:rPr>
              <a:t> </a:t>
            </a:r>
            <a:r>
              <a:rPr sz="1200" b="0" spc="-25" dirty="0">
                <a:latin typeface="Gill Sans"/>
                <a:cs typeface="Gill Sans"/>
              </a:rPr>
              <a:t>by </a:t>
            </a:r>
            <a:r>
              <a:rPr sz="1200" b="0" spc="-10" dirty="0">
                <a:latin typeface="Gill Sans"/>
                <a:cs typeface="Gill Sans"/>
              </a:rPr>
              <a:t>Klaus</a:t>
            </a:r>
            <a:r>
              <a:rPr sz="1200" b="0" spc="-155" dirty="0">
                <a:latin typeface="Gill Sans"/>
                <a:cs typeface="Gill Sans"/>
              </a:rPr>
              <a:t> </a:t>
            </a:r>
            <a:r>
              <a:rPr sz="1200" b="0" spc="-30" dirty="0">
                <a:latin typeface="Gill Sans"/>
                <a:cs typeface="Gill Sans"/>
              </a:rPr>
              <a:t>Teuber</a:t>
            </a:r>
            <a:r>
              <a:rPr sz="1200" b="0" spc="-40" dirty="0">
                <a:latin typeface="Gill Sans"/>
                <a:cs typeface="Gill Sans"/>
              </a:rPr>
              <a:t> </a:t>
            </a:r>
            <a:r>
              <a:rPr sz="1200" b="0" dirty="0">
                <a:latin typeface="Gill Sans"/>
                <a:cs typeface="Gill Sans"/>
              </a:rPr>
              <a:t>and</a:t>
            </a:r>
            <a:r>
              <a:rPr sz="1200" b="0" spc="-30" dirty="0">
                <a:latin typeface="Gill Sans"/>
                <a:cs typeface="Gill Sans"/>
              </a:rPr>
              <a:t> </a:t>
            </a:r>
            <a:r>
              <a:rPr sz="1200" b="0" spc="-10" dirty="0">
                <a:latin typeface="Gill Sans"/>
                <a:cs typeface="Gill Sans"/>
              </a:rPr>
              <a:t>first published</a:t>
            </a:r>
            <a:r>
              <a:rPr sz="1200" b="0" spc="-5" dirty="0">
                <a:latin typeface="Gill Sans"/>
                <a:cs typeface="Gill Sans"/>
              </a:rPr>
              <a:t> </a:t>
            </a:r>
            <a:r>
              <a:rPr sz="1200" b="0" dirty="0">
                <a:latin typeface="Gill Sans"/>
                <a:cs typeface="Gill Sans"/>
              </a:rPr>
              <a:t>in</a:t>
            </a:r>
            <a:r>
              <a:rPr sz="1200" b="0" spc="-5" dirty="0">
                <a:latin typeface="Gill Sans"/>
                <a:cs typeface="Gill Sans"/>
              </a:rPr>
              <a:t> </a:t>
            </a:r>
            <a:r>
              <a:rPr sz="1200" b="0" spc="-10" dirty="0">
                <a:latin typeface="Gill Sans"/>
                <a:cs typeface="Gill Sans"/>
              </a:rPr>
              <a:t>1995...</a:t>
            </a:r>
            <a:endParaRPr sz="1200">
              <a:latin typeface="Gill Sans"/>
              <a:cs typeface="Gill Sans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55387" y="2856737"/>
            <a:ext cx="8053070" cy="1890395"/>
            <a:chOff x="455387" y="2856737"/>
            <a:chExt cx="8053070" cy="1890395"/>
          </a:xfrm>
        </p:grpSpPr>
        <p:sp>
          <p:nvSpPr>
            <p:cNvPr id="35" name="object 35"/>
            <p:cNvSpPr/>
            <p:nvPr/>
          </p:nvSpPr>
          <p:spPr>
            <a:xfrm>
              <a:off x="1916850" y="3818699"/>
              <a:ext cx="1861820" cy="454659"/>
            </a:xfrm>
            <a:custGeom>
              <a:avLst/>
              <a:gdLst/>
              <a:ahLst/>
              <a:cxnLst/>
              <a:rect l="l" t="t" r="r" b="b"/>
              <a:pathLst>
                <a:path w="1861820" h="454660">
                  <a:moveTo>
                    <a:pt x="0" y="454449"/>
                  </a:moveTo>
                  <a:lnTo>
                    <a:pt x="72282" y="453608"/>
                  </a:lnTo>
                  <a:lnTo>
                    <a:pt x="141044" y="451139"/>
                  </a:lnTo>
                  <a:lnTo>
                    <a:pt x="206471" y="447130"/>
                  </a:lnTo>
                  <a:lnTo>
                    <a:pt x="268749" y="441665"/>
                  </a:lnTo>
                  <a:lnTo>
                    <a:pt x="328063" y="434830"/>
                  </a:lnTo>
                  <a:lnTo>
                    <a:pt x="384598" y="426711"/>
                  </a:lnTo>
                  <a:lnTo>
                    <a:pt x="438539" y="417394"/>
                  </a:lnTo>
                  <a:lnTo>
                    <a:pt x="490072" y="406963"/>
                  </a:lnTo>
                  <a:lnTo>
                    <a:pt x="539382" y="395505"/>
                  </a:lnTo>
                  <a:lnTo>
                    <a:pt x="586654" y="383106"/>
                  </a:lnTo>
                  <a:lnTo>
                    <a:pt x="632074" y="369850"/>
                  </a:lnTo>
                  <a:lnTo>
                    <a:pt x="675826" y="355824"/>
                  </a:lnTo>
                  <a:lnTo>
                    <a:pt x="718096" y="341113"/>
                  </a:lnTo>
                  <a:lnTo>
                    <a:pt x="759069" y="325802"/>
                  </a:lnTo>
                  <a:lnTo>
                    <a:pt x="798931" y="309978"/>
                  </a:lnTo>
                  <a:lnTo>
                    <a:pt x="837866" y="293726"/>
                  </a:lnTo>
                  <a:lnTo>
                    <a:pt x="876060" y="277132"/>
                  </a:lnTo>
                  <a:lnTo>
                    <a:pt x="913699" y="260280"/>
                  </a:lnTo>
                  <a:lnTo>
                    <a:pt x="950967" y="243258"/>
                  </a:lnTo>
                  <a:lnTo>
                    <a:pt x="988049" y="226149"/>
                  </a:lnTo>
                  <a:lnTo>
                    <a:pt x="1029261" y="207144"/>
                  </a:lnTo>
                  <a:lnTo>
                    <a:pt x="1070726" y="188256"/>
                  </a:lnTo>
                  <a:lnTo>
                    <a:pt x="1112699" y="169603"/>
                  </a:lnTo>
                  <a:lnTo>
                    <a:pt x="1155435" y="151302"/>
                  </a:lnTo>
                  <a:lnTo>
                    <a:pt x="1199188" y="133471"/>
                  </a:lnTo>
                  <a:lnTo>
                    <a:pt x="1244211" y="116227"/>
                  </a:lnTo>
                  <a:lnTo>
                    <a:pt x="1290758" y="99688"/>
                  </a:lnTo>
                  <a:lnTo>
                    <a:pt x="1339085" y="83971"/>
                  </a:lnTo>
                  <a:lnTo>
                    <a:pt x="1389445" y="69193"/>
                  </a:lnTo>
                  <a:lnTo>
                    <a:pt x="1436717" y="56794"/>
                  </a:lnTo>
                  <a:lnTo>
                    <a:pt x="1486027" y="45336"/>
                  </a:lnTo>
                  <a:lnTo>
                    <a:pt x="1537560" y="34905"/>
                  </a:lnTo>
                  <a:lnTo>
                    <a:pt x="1591501" y="25588"/>
                  </a:lnTo>
                  <a:lnTo>
                    <a:pt x="1648036" y="17469"/>
                  </a:lnTo>
                  <a:lnTo>
                    <a:pt x="1722634" y="9136"/>
                  </a:lnTo>
                  <a:lnTo>
                    <a:pt x="1761675" y="5775"/>
                  </a:lnTo>
                  <a:lnTo>
                    <a:pt x="1801936" y="2977"/>
                  </a:lnTo>
                  <a:lnTo>
                    <a:pt x="1843464" y="765"/>
                  </a:lnTo>
                  <a:lnTo>
                    <a:pt x="1854049" y="306"/>
                  </a:lnTo>
                  <a:lnTo>
                    <a:pt x="1861820" y="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68553" y="3777715"/>
              <a:ext cx="106077" cy="81969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460150" y="2861499"/>
              <a:ext cx="8043545" cy="707390"/>
            </a:xfrm>
            <a:custGeom>
              <a:avLst/>
              <a:gdLst/>
              <a:ahLst/>
              <a:cxnLst/>
              <a:rect l="l" t="t" r="r" b="b"/>
              <a:pathLst>
                <a:path w="8043545" h="707389">
                  <a:moveTo>
                    <a:pt x="4666948" y="706770"/>
                  </a:moveTo>
                  <a:lnTo>
                    <a:pt x="3376051" y="706529"/>
                  </a:lnTo>
                  <a:lnTo>
                    <a:pt x="0" y="0"/>
                  </a:lnTo>
                  <a:lnTo>
                    <a:pt x="8042999" y="1499"/>
                  </a:lnTo>
                  <a:lnTo>
                    <a:pt x="4666948" y="706770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60150" y="2861499"/>
              <a:ext cx="8043545" cy="707390"/>
            </a:xfrm>
            <a:custGeom>
              <a:avLst/>
              <a:gdLst/>
              <a:ahLst/>
              <a:cxnLst/>
              <a:rect l="l" t="t" r="r" b="b"/>
              <a:pathLst>
                <a:path w="8043545" h="707389">
                  <a:moveTo>
                    <a:pt x="8042999" y="1499"/>
                  </a:moveTo>
                  <a:lnTo>
                    <a:pt x="4666948" y="706770"/>
                  </a:lnTo>
                  <a:lnTo>
                    <a:pt x="3376051" y="706529"/>
                  </a:lnTo>
                  <a:lnTo>
                    <a:pt x="0" y="0"/>
                  </a:lnTo>
                  <a:lnTo>
                    <a:pt x="8042999" y="1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99275" y="3342975"/>
              <a:ext cx="1403750" cy="1403750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5216300" y="3904349"/>
            <a:ext cx="122301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0" spc="-30" dirty="0">
                <a:solidFill>
                  <a:srgbClr val="595959"/>
                </a:solidFill>
                <a:latin typeface="Gill Sans"/>
                <a:cs typeface="Gill Sans"/>
              </a:rPr>
              <a:t>Vector</a:t>
            </a:r>
            <a:r>
              <a:rPr sz="2200" b="0" spc="-105" dirty="0">
                <a:solidFill>
                  <a:srgbClr val="595959"/>
                </a:solidFill>
                <a:latin typeface="Gill Sans"/>
                <a:cs typeface="Gill Sans"/>
              </a:rPr>
              <a:t> </a:t>
            </a:r>
            <a:r>
              <a:rPr sz="2200" b="0" spc="-25" dirty="0">
                <a:solidFill>
                  <a:srgbClr val="595959"/>
                </a:solidFill>
                <a:latin typeface="Gill Sans"/>
                <a:cs typeface="Gill Sans"/>
              </a:rPr>
              <a:t>DB</a:t>
            </a:r>
            <a:endParaRPr sz="2200">
              <a:latin typeface="Gill Sans"/>
              <a:cs typeface="Gill San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84225" y="4150978"/>
            <a:ext cx="2909570" cy="70929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300" b="1" spc="-10" dirty="0">
                <a:latin typeface="Roboto"/>
                <a:cs typeface="Roboto"/>
              </a:rPr>
              <a:t>Question:</a:t>
            </a:r>
            <a:endParaRPr sz="1300">
              <a:latin typeface="Roboto"/>
              <a:cs typeface="Roboto"/>
            </a:endParaRPr>
          </a:p>
          <a:p>
            <a:pPr marL="12700" marR="5080">
              <a:lnSpc>
                <a:spcPct val="114999"/>
              </a:lnSpc>
            </a:pPr>
            <a:r>
              <a:rPr sz="1300" dirty="0">
                <a:latin typeface="Roboto"/>
                <a:cs typeface="Roboto"/>
              </a:rPr>
              <a:t>Which</a:t>
            </a:r>
            <a:r>
              <a:rPr sz="1300" spc="-35" dirty="0">
                <a:latin typeface="Roboto"/>
                <a:cs typeface="Roboto"/>
              </a:rPr>
              <a:t> </a:t>
            </a:r>
            <a:r>
              <a:rPr sz="1300" dirty="0">
                <a:latin typeface="Roboto"/>
                <a:cs typeface="Roboto"/>
              </a:rPr>
              <a:t>board</a:t>
            </a:r>
            <a:r>
              <a:rPr sz="1300" spc="-35" dirty="0">
                <a:latin typeface="Roboto"/>
                <a:cs typeface="Roboto"/>
              </a:rPr>
              <a:t> </a:t>
            </a:r>
            <a:r>
              <a:rPr sz="1300" dirty="0">
                <a:latin typeface="Roboto"/>
                <a:cs typeface="Roboto"/>
              </a:rPr>
              <a:t>game</a:t>
            </a:r>
            <a:r>
              <a:rPr sz="1300" spc="-35" dirty="0">
                <a:latin typeface="Roboto"/>
                <a:cs typeface="Roboto"/>
              </a:rPr>
              <a:t> </a:t>
            </a:r>
            <a:r>
              <a:rPr sz="1300" dirty="0">
                <a:latin typeface="Roboto"/>
                <a:cs typeface="Roboto"/>
              </a:rPr>
              <a:t>was</a:t>
            </a:r>
            <a:r>
              <a:rPr sz="1300" spc="-35" dirty="0">
                <a:latin typeface="Roboto"/>
                <a:cs typeface="Roboto"/>
              </a:rPr>
              <a:t> </a:t>
            </a:r>
            <a:r>
              <a:rPr sz="1300" dirty="0">
                <a:latin typeface="Roboto"/>
                <a:cs typeface="Roboto"/>
              </a:rPr>
              <a:t>published</a:t>
            </a:r>
            <a:r>
              <a:rPr sz="1300" spc="-35" dirty="0">
                <a:latin typeface="Roboto"/>
                <a:cs typeface="Roboto"/>
              </a:rPr>
              <a:t> </a:t>
            </a:r>
            <a:r>
              <a:rPr sz="1300" spc="-20" dirty="0">
                <a:latin typeface="Roboto"/>
                <a:cs typeface="Roboto"/>
              </a:rPr>
              <a:t>most </a:t>
            </a:r>
            <a:r>
              <a:rPr sz="1300" spc="-10" dirty="0">
                <a:latin typeface="Roboto"/>
                <a:cs typeface="Roboto"/>
              </a:rPr>
              <a:t>recently,</a:t>
            </a:r>
            <a:r>
              <a:rPr sz="1300" spc="-25" dirty="0">
                <a:latin typeface="Roboto"/>
                <a:cs typeface="Roboto"/>
              </a:rPr>
              <a:t> Pirate’s</a:t>
            </a:r>
            <a:r>
              <a:rPr sz="1300" spc="-20" dirty="0">
                <a:latin typeface="Roboto"/>
                <a:cs typeface="Roboto"/>
              </a:rPr>
              <a:t> </a:t>
            </a:r>
            <a:r>
              <a:rPr sz="1300" dirty="0">
                <a:latin typeface="Roboto"/>
                <a:cs typeface="Roboto"/>
              </a:rPr>
              <a:t>Cove</a:t>
            </a:r>
            <a:r>
              <a:rPr sz="1300" spc="-20" dirty="0">
                <a:latin typeface="Roboto"/>
                <a:cs typeface="Roboto"/>
              </a:rPr>
              <a:t> </a:t>
            </a:r>
            <a:r>
              <a:rPr sz="1300" dirty="0">
                <a:latin typeface="Roboto"/>
                <a:cs typeface="Roboto"/>
              </a:rPr>
              <a:t>or</a:t>
            </a:r>
            <a:r>
              <a:rPr sz="1300" spc="-20" dirty="0">
                <a:latin typeface="Roboto"/>
                <a:cs typeface="Roboto"/>
              </a:rPr>
              <a:t> </a:t>
            </a:r>
            <a:r>
              <a:rPr sz="1300" spc="-10" dirty="0">
                <a:latin typeface="Roboto"/>
                <a:cs typeface="Roboto"/>
              </a:rPr>
              <a:t>Catan?</a:t>
            </a:r>
            <a:endParaRPr sz="13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Example:</a:t>
            </a:r>
            <a:r>
              <a:rPr spc="45" dirty="0"/>
              <a:t> </a:t>
            </a:r>
            <a:r>
              <a:rPr dirty="0"/>
              <a:t>Generation</a:t>
            </a:r>
            <a:r>
              <a:rPr spc="50" dirty="0"/>
              <a:t> </a:t>
            </a:r>
            <a:r>
              <a:rPr dirty="0"/>
              <a:t>Step</a:t>
            </a:r>
            <a:r>
              <a:rPr spc="50" dirty="0"/>
              <a:t> </a:t>
            </a:r>
            <a:r>
              <a:rPr dirty="0"/>
              <a:t>of</a:t>
            </a:r>
            <a:r>
              <a:rPr spc="45" dirty="0"/>
              <a:t> </a:t>
            </a:r>
            <a:r>
              <a:rPr spc="-25" dirty="0"/>
              <a:t>RAG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2949" y="1218449"/>
            <a:ext cx="3634104" cy="3326129"/>
            <a:chOff x="352949" y="1218449"/>
            <a:chExt cx="3634104" cy="3326129"/>
          </a:xfrm>
        </p:grpSpPr>
        <p:sp>
          <p:nvSpPr>
            <p:cNvPr id="4" name="object 4"/>
            <p:cNvSpPr/>
            <p:nvPr/>
          </p:nvSpPr>
          <p:spPr>
            <a:xfrm>
              <a:off x="362474" y="1227974"/>
              <a:ext cx="3615054" cy="3307079"/>
            </a:xfrm>
            <a:custGeom>
              <a:avLst/>
              <a:gdLst/>
              <a:ahLst/>
              <a:cxnLst/>
              <a:rect l="l" t="t" r="r" b="b"/>
              <a:pathLst>
                <a:path w="3615054" h="3307079">
                  <a:moveTo>
                    <a:pt x="0" y="0"/>
                  </a:moveTo>
                  <a:lnTo>
                    <a:pt x="3614976" y="0"/>
                  </a:lnTo>
                  <a:lnTo>
                    <a:pt x="3614976" y="2685949"/>
                  </a:lnTo>
                  <a:lnTo>
                    <a:pt x="3557292" y="2686300"/>
                  </a:lnTo>
                  <a:lnTo>
                    <a:pt x="3500835" y="2687343"/>
                  </a:lnTo>
                  <a:lnTo>
                    <a:pt x="3445579" y="2689055"/>
                  </a:lnTo>
                  <a:lnTo>
                    <a:pt x="3391495" y="2691419"/>
                  </a:lnTo>
                  <a:lnTo>
                    <a:pt x="3338557" y="2694415"/>
                  </a:lnTo>
                  <a:lnTo>
                    <a:pt x="3286739" y="2698022"/>
                  </a:lnTo>
                  <a:lnTo>
                    <a:pt x="3236012" y="2702222"/>
                  </a:lnTo>
                  <a:lnTo>
                    <a:pt x="3186351" y="2706994"/>
                  </a:lnTo>
                  <a:lnTo>
                    <a:pt x="3137727" y="2712320"/>
                  </a:lnTo>
                  <a:lnTo>
                    <a:pt x="3090115" y="2718179"/>
                  </a:lnTo>
                  <a:lnTo>
                    <a:pt x="3043488" y="2724552"/>
                  </a:lnTo>
                  <a:lnTo>
                    <a:pt x="2997817" y="2731419"/>
                  </a:lnTo>
                  <a:lnTo>
                    <a:pt x="2953077" y="2738761"/>
                  </a:lnTo>
                  <a:lnTo>
                    <a:pt x="2909240" y="2746558"/>
                  </a:lnTo>
                  <a:lnTo>
                    <a:pt x="2866280" y="2754790"/>
                  </a:lnTo>
                  <a:lnTo>
                    <a:pt x="2824169" y="2763439"/>
                  </a:lnTo>
                  <a:lnTo>
                    <a:pt x="2782880" y="2772483"/>
                  </a:lnTo>
                  <a:lnTo>
                    <a:pt x="2742387" y="2781905"/>
                  </a:lnTo>
                  <a:lnTo>
                    <a:pt x="2702662" y="2791683"/>
                  </a:lnTo>
                  <a:lnTo>
                    <a:pt x="2663679" y="2801799"/>
                  </a:lnTo>
                  <a:lnTo>
                    <a:pt x="2625411" y="2812233"/>
                  </a:lnTo>
                  <a:lnTo>
                    <a:pt x="2587830" y="2822964"/>
                  </a:lnTo>
                  <a:lnTo>
                    <a:pt x="2550910" y="2833975"/>
                  </a:lnTo>
                  <a:lnTo>
                    <a:pt x="2478943" y="2856754"/>
                  </a:lnTo>
                  <a:lnTo>
                    <a:pt x="2409296" y="2880411"/>
                  </a:lnTo>
                  <a:lnTo>
                    <a:pt x="2341752" y="2904792"/>
                  </a:lnTo>
                  <a:lnTo>
                    <a:pt x="2276096" y="2929738"/>
                  </a:lnTo>
                  <a:lnTo>
                    <a:pt x="2212111" y="2955092"/>
                  </a:lnTo>
                  <a:lnTo>
                    <a:pt x="2149583" y="2980699"/>
                  </a:lnTo>
                  <a:lnTo>
                    <a:pt x="2088295" y="3006400"/>
                  </a:lnTo>
                  <a:lnTo>
                    <a:pt x="2028031" y="3032040"/>
                  </a:lnTo>
                  <a:lnTo>
                    <a:pt x="1968577" y="3057462"/>
                  </a:lnTo>
                  <a:lnTo>
                    <a:pt x="1939086" y="3070041"/>
                  </a:lnTo>
                  <a:lnTo>
                    <a:pt x="1880440" y="3094840"/>
                  </a:lnTo>
                  <a:lnTo>
                    <a:pt x="1822065" y="3119029"/>
                  </a:lnTo>
                  <a:lnTo>
                    <a:pt x="1763743" y="3142450"/>
                  </a:lnTo>
                  <a:lnTo>
                    <a:pt x="1705259" y="3164947"/>
                  </a:lnTo>
                  <a:lnTo>
                    <a:pt x="1646398" y="3186362"/>
                  </a:lnTo>
                  <a:lnTo>
                    <a:pt x="1586944" y="3206539"/>
                  </a:lnTo>
                  <a:lnTo>
                    <a:pt x="1526680" y="3225322"/>
                  </a:lnTo>
                  <a:lnTo>
                    <a:pt x="1465392" y="3242552"/>
                  </a:lnTo>
                  <a:lnTo>
                    <a:pt x="1402864" y="3258074"/>
                  </a:lnTo>
                  <a:lnTo>
                    <a:pt x="1338880" y="3271731"/>
                  </a:lnTo>
                  <a:lnTo>
                    <a:pt x="1273223" y="3283365"/>
                  </a:lnTo>
                  <a:lnTo>
                    <a:pt x="1205679" y="3292820"/>
                  </a:lnTo>
                  <a:lnTo>
                    <a:pt x="1136032" y="3299940"/>
                  </a:lnTo>
                  <a:lnTo>
                    <a:pt x="1064066" y="3304566"/>
                  </a:lnTo>
                  <a:lnTo>
                    <a:pt x="989564" y="3306543"/>
                  </a:lnTo>
                  <a:lnTo>
                    <a:pt x="951296" y="3306488"/>
                  </a:lnTo>
                  <a:lnTo>
                    <a:pt x="912313" y="3305713"/>
                  </a:lnTo>
                  <a:lnTo>
                    <a:pt x="872588" y="3304197"/>
                  </a:lnTo>
                  <a:lnTo>
                    <a:pt x="832095" y="3301920"/>
                  </a:lnTo>
                  <a:lnTo>
                    <a:pt x="790807" y="3298863"/>
                  </a:lnTo>
                  <a:lnTo>
                    <a:pt x="748695" y="3295006"/>
                  </a:lnTo>
                  <a:lnTo>
                    <a:pt x="705735" y="3290331"/>
                  </a:lnTo>
                  <a:lnTo>
                    <a:pt x="661898" y="3284816"/>
                  </a:lnTo>
                  <a:lnTo>
                    <a:pt x="617158" y="3278443"/>
                  </a:lnTo>
                  <a:lnTo>
                    <a:pt x="571487" y="3271192"/>
                  </a:lnTo>
                  <a:lnTo>
                    <a:pt x="524860" y="3263043"/>
                  </a:lnTo>
                  <a:lnTo>
                    <a:pt x="477248" y="3253977"/>
                  </a:lnTo>
                  <a:lnTo>
                    <a:pt x="428624" y="3243974"/>
                  </a:lnTo>
                  <a:lnTo>
                    <a:pt x="378963" y="3233015"/>
                  </a:lnTo>
                  <a:lnTo>
                    <a:pt x="328237" y="3221079"/>
                  </a:lnTo>
                  <a:lnTo>
                    <a:pt x="276418" y="3208148"/>
                  </a:lnTo>
                  <a:lnTo>
                    <a:pt x="223480" y="3194201"/>
                  </a:lnTo>
                  <a:lnTo>
                    <a:pt x="169397" y="3179220"/>
                  </a:lnTo>
                  <a:lnTo>
                    <a:pt x="114140" y="3163184"/>
                  </a:lnTo>
                  <a:lnTo>
                    <a:pt x="57683" y="3146074"/>
                  </a:lnTo>
                  <a:lnTo>
                    <a:pt x="0" y="312787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92674" y="2265439"/>
              <a:ext cx="1504315" cy="1592580"/>
            </a:xfrm>
            <a:custGeom>
              <a:avLst/>
              <a:gdLst/>
              <a:ahLst/>
              <a:cxnLst/>
              <a:rect l="l" t="t" r="r" b="b"/>
              <a:pathLst>
                <a:path w="1504314" h="1592579">
                  <a:moveTo>
                    <a:pt x="1253494" y="1592400"/>
                  </a:moveTo>
                  <a:lnTo>
                    <a:pt x="0" y="1592400"/>
                  </a:lnTo>
                  <a:lnTo>
                    <a:pt x="0" y="0"/>
                  </a:lnTo>
                  <a:lnTo>
                    <a:pt x="1504199" y="0"/>
                  </a:lnTo>
                  <a:lnTo>
                    <a:pt x="1504199" y="1341694"/>
                  </a:lnTo>
                  <a:lnTo>
                    <a:pt x="1253494" y="159240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46169" y="3607134"/>
              <a:ext cx="250825" cy="250825"/>
            </a:xfrm>
            <a:custGeom>
              <a:avLst/>
              <a:gdLst/>
              <a:ahLst/>
              <a:cxnLst/>
              <a:rect l="l" t="t" r="r" b="b"/>
              <a:pathLst>
                <a:path w="250825" h="250825">
                  <a:moveTo>
                    <a:pt x="0" y="250705"/>
                  </a:moveTo>
                  <a:lnTo>
                    <a:pt x="50140" y="50140"/>
                  </a:lnTo>
                  <a:lnTo>
                    <a:pt x="250704" y="0"/>
                  </a:lnTo>
                  <a:lnTo>
                    <a:pt x="0" y="250705"/>
                  </a:lnTo>
                  <a:close/>
                </a:path>
              </a:pathLst>
            </a:custGeom>
            <a:solidFill>
              <a:srgbClr val="CBCB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2674" y="2265439"/>
              <a:ext cx="1504315" cy="1592580"/>
            </a:xfrm>
            <a:custGeom>
              <a:avLst/>
              <a:gdLst/>
              <a:ahLst/>
              <a:cxnLst/>
              <a:rect l="l" t="t" r="r" b="b"/>
              <a:pathLst>
                <a:path w="1504314" h="1592579">
                  <a:moveTo>
                    <a:pt x="1253494" y="1592400"/>
                  </a:moveTo>
                  <a:lnTo>
                    <a:pt x="1303635" y="1391835"/>
                  </a:lnTo>
                  <a:lnTo>
                    <a:pt x="1504199" y="1341694"/>
                  </a:lnTo>
                  <a:lnTo>
                    <a:pt x="1253494" y="1592400"/>
                  </a:lnTo>
                  <a:lnTo>
                    <a:pt x="0" y="1592400"/>
                  </a:lnTo>
                  <a:lnTo>
                    <a:pt x="0" y="0"/>
                  </a:lnTo>
                  <a:lnTo>
                    <a:pt x="1504199" y="0"/>
                  </a:lnTo>
                  <a:lnTo>
                    <a:pt x="1504199" y="1341694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08025" y="1331577"/>
            <a:ext cx="2909570" cy="709295"/>
          </a:xfrm>
          <a:prstGeom prst="rect">
            <a:avLst/>
          </a:prstGeom>
        </p:spPr>
        <p:txBody>
          <a:bodyPr vert="horz" wrap="square" lIns="0" tIns="425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300" b="1" spc="-10" dirty="0">
                <a:latin typeface="Roboto"/>
                <a:cs typeface="Roboto"/>
              </a:rPr>
              <a:t>Question:</a:t>
            </a:r>
            <a:endParaRPr sz="1300">
              <a:latin typeface="Roboto"/>
              <a:cs typeface="Roboto"/>
            </a:endParaRPr>
          </a:p>
          <a:p>
            <a:pPr marL="12700" marR="5080">
              <a:lnSpc>
                <a:spcPct val="114999"/>
              </a:lnSpc>
            </a:pPr>
            <a:r>
              <a:rPr sz="1300" dirty="0">
                <a:latin typeface="Roboto"/>
                <a:cs typeface="Roboto"/>
              </a:rPr>
              <a:t>Which</a:t>
            </a:r>
            <a:r>
              <a:rPr sz="1300" spc="-35" dirty="0">
                <a:latin typeface="Roboto"/>
                <a:cs typeface="Roboto"/>
              </a:rPr>
              <a:t> </a:t>
            </a:r>
            <a:r>
              <a:rPr sz="1300" dirty="0">
                <a:latin typeface="Roboto"/>
                <a:cs typeface="Roboto"/>
              </a:rPr>
              <a:t>board</a:t>
            </a:r>
            <a:r>
              <a:rPr sz="1300" spc="-35" dirty="0">
                <a:latin typeface="Roboto"/>
                <a:cs typeface="Roboto"/>
              </a:rPr>
              <a:t> </a:t>
            </a:r>
            <a:r>
              <a:rPr sz="1300" dirty="0">
                <a:latin typeface="Roboto"/>
                <a:cs typeface="Roboto"/>
              </a:rPr>
              <a:t>game</a:t>
            </a:r>
            <a:r>
              <a:rPr sz="1300" spc="-35" dirty="0">
                <a:latin typeface="Roboto"/>
                <a:cs typeface="Roboto"/>
              </a:rPr>
              <a:t> </a:t>
            </a:r>
            <a:r>
              <a:rPr sz="1300" dirty="0">
                <a:latin typeface="Roboto"/>
                <a:cs typeface="Roboto"/>
              </a:rPr>
              <a:t>was</a:t>
            </a:r>
            <a:r>
              <a:rPr sz="1300" spc="-35" dirty="0">
                <a:latin typeface="Roboto"/>
                <a:cs typeface="Roboto"/>
              </a:rPr>
              <a:t> </a:t>
            </a:r>
            <a:r>
              <a:rPr sz="1300" dirty="0">
                <a:latin typeface="Roboto"/>
                <a:cs typeface="Roboto"/>
              </a:rPr>
              <a:t>published</a:t>
            </a:r>
            <a:r>
              <a:rPr sz="1300" spc="-35" dirty="0">
                <a:latin typeface="Roboto"/>
                <a:cs typeface="Roboto"/>
              </a:rPr>
              <a:t> </a:t>
            </a:r>
            <a:r>
              <a:rPr sz="1300" spc="-20" dirty="0">
                <a:latin typeface="Roboto"/>
                <a:cs typeface="Roboto"/>
              </a:rPr>
              <a:t>most </a:t>
            </a:r>
            <a:r>
              <a:rPr sz="1300" spc="-10" dirty="0">
                <a:latin typeface="Roboto"/>
                <a:cs typeface="Roboto"/>
              </a:rPr>
              <a:t>recently,</a:t>
            </a:r>
            <a:r>
              <a:rPr sz="1300" spc="-25" dirty="0">
                <a:latin typeface="Roboto"/>
                <a:cs typeface="Roboto"/>
              </a:rPr>
              <a:t> Pirate’s</a:t>
            </a:r>
            <a:r>
              <a:rPr sz="1300" spc="-20" dirty="0">
                <a:latin typeface="Roboto"/>
                <a:cs typeface="Roboto"/>
              </a:rPr>
              <a:t> </a:t>
            </a:r>
            <a:r>
              <a:rPr sz="1300" dirty="0">
                <a:latin typeface="Roboto"/>
                <a:cs typeface="Roboto"/>
              </a:rPr>
              <a:t>Cove</a:t>
            </a:r>
            <a:r>
              <a:rPr sz="1300" spc="-20" dirty="0">
                <a:latin typeface="Roboto"/>
                <a:cs typeface="Roboto"/>
              </a:rPr>
              <a:t> </a:t>
            </a:r>
            <a:r>
              <a:rPr sz="1300" dirty="0">
                <a:latin typeface="Roboto"/>
                <a:cs typeface="Roboto"/>
              </a:rPr>
              <a:t>or</a:t>
            </a:r>
            <a:r>
              <a:rPr sz="1300" spc="-20" dirty="0">
                <a:latin typeface="Roboto"/>
                <a:cs typeface="Roboto"/>
              </a:rPr>
              <a:t> </a:t>
            </a:r>
            <a:r>
              <a:rPr sz="1300" spc="-10" dirty="0">
                <a:latin typeface="Roboto"/>
                <a:cs typeface="Roboto"/>
              </a:rPr>
              <a:t>Catan?</a:t>
            </a:r>
            <a:endParaRPr sz="1300">
              <a:latin typeface="Roboto"/>
              <a:cs typeface="Roboto"/>
            </a:endParaRPr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1056" y="2030054"/>
            <a:ext cx="491007" cy="48521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55584" y="2276730"/>
            <a:ext cx="1368425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latin typeface="Gill Sans"/>
                <a:cs typeface="Gill Sans"/>
              </a:rPr>
              <a:t>Pirate’s</a:t>
            </a:r>
            <a:r>
              <a:rPr sz="1200" b="1" spc="-45" dirty="0">
                <a:latin typeface="Gill Sans"/>
                <a:cs typeface="Gill Sans"/>
              </a:rPr>
              <a:t> </a:t>
            </a:r>
            <a:r>
              <a:rPr sz="1200" b="1" spc="-10" dirty="0">
                <a:latin typeface="Gill Sans"/>
                <a:cs typeface="Gill Sans"/>
              </a:rPr>
              <a:t>Cove</a:t>
            </a:r>
            <a:r>
              <a:rPr sz="1200" b="1" spc="-25" dirty="0">
                <a:latin typeface="Gill Sans"/>
                <a:cs typeface="Gill Sans"/>
              </a:rPr>
              <a:t> </a:t>
            </a:r>
            <a:r>
              <a:rPr sz="1200" b="0" spc="-50" dirty="0">
                <a:latin typeface="Gill Sans"/>
                <a:cs typeface="Gill Sans"/>
              </a:rPr>
              <a:t>— </a:t>
            </a:r>
            <a:r>
              <a:rPr sz="1200" b="0" spc="-20" dirty="0">
                <a:latin typeface="Gill Sans"/>
                <a:cs typeface="Gill Sans"/>
              </a:rPr>
              <a:t>Pirate’s</a:t>
            </a:r>
            <a:r>
              <a:rPr sz="1200" b="0" spc="-35" dirty="0">
                <a:latin typeface="Gill Sans"/>
                <a:cs typeface="Gill Sans"/>
              </a:rPr>
              <a:t> </a:t>
            </a:r>
            <a:r>
              <a:rPr sz="1200" b="0" dirty="0">
                <a:latin typeface="Gill Sans"/>
                <a:cs typeface="Gill Sans"/>
              </a:rPr>
              <a:t>Cove</a:t>
            </a:r>
            <a:r>
              <a:rPr sz="1200" b="0" spc="-35" dirty="0">
                <a:latin typeface="Gill Sans"/>
                <a:cs typeface="Gill Sans"/>
              </a:rPr>
              <a:t> </a:t>
            </a:r>
            <a:r>
              <a:rPr sz="1200" b="0" dirty="0">
                <a:latin typeface="Gill Sans"/>
                <a:cs typeface="Gill Sans"/>
              </a:rPr>
              <a:t>is</a:t>
            </a:r>
            <a:r>
              <a:rPr sz="1200" b="0" spc="-35" dirty="0">
                <a:latin typeface="Gill Sans"/>
                <a:cs typeface="Gill Sans"/>
              </a:rPr>
              <a:t> </a:t>
            </a:r>
            <a:r>
              <a:rPr sz="1200" b="0" spc="-50" dirty="0">
                <a:latin typeface="Gill Sans"/>
                <a:cs typeface="Gill Sans"/>
              </a:rPr>
              <a:t>a </a:t>
            </a:r>
            <a:r>
              <a:rPr sz="1200" b="0" dirty="0">
                <a:latin typeface="Gill Sans"/>
                <a:cs typeface="Gill Sans"/>
              </a:rPr>
              <a:t>board</a:t>
            </a:r>
            <a:r>
              <a:rPr sz="1200" b="0" spc="-40" dirty="0">
                <a:latin typeface="Gill Sans"/>
                <a:cs typeface="Gill Sans"/>
              </a:rPr>
              <a:t> </a:t>
            </a:r>
            <a:r>
              <a:rPr sz="1200" b="0" dirty="0">
                <a:latin typeface="Gill Sans"/>
                <a:cs typeface="Gill Sans"/>
              </a:rPr>
              <a:t>game</a:t>
            </a:r>
            <a:r>
              <a:rPr sz="1200" b="0" spc="-40" dirty="0">
                <a:latin typeface="Gill Sans"/>
                <a:cs typeface="Gill Sans"/>
              </a:rPr>
              <a:t> </a:t>
            </a:r>
            <a:r>
              <a:rPr sz="1200" b="0" spc="-10" dirty="0">
                <a:latin typeface="Gill Sans"/>
                <a:cs typeface="Gill Sans"/>
              </a:rPr>
              <a:t>designed </a:t>
            </a:r>
            <a:r>
              <a:rPr sz="1200" b="0" dirty="0">
                <a:latin typeface="Gill Sans"/>
                <a:cs typeface="Gill Sans"/>
              </a:rPr>
              <a:t>by</a:t>
            </a:r>
            <a:r>
              <a:rPr sz="1200" b="0" spc="-45" dirty="0">
                <a:latin typeface="Gill Sans"/>
                <a:cs typeface="Gill Sans"/>
              </a:rPr>
              <a:t> </a:t>
            </a:r>
            <a:r>
              <a:rPr sz="1200" b="0" dirty="0">
                <a:latin typeface="Gill Sans"/>
                <a:cs typeface="Gill Sans"/>
              </a:rPr>
              <a:t>Paul</a:t>
            </a:r>
            <a:r>
              <a:rPr sz="1200" b="0" spc="-45" dirty="0">
                <a:latin typeface="Gill Sans"/>
                <a:cs typeface="Gill Sans"/>
              </a:rPr>
              <a:t> </a:t>
            </a:r>
            <a:r>
              <a:rPr sz="1200" b="0" dirty="0">
                <a:latin typeface="Gill Sans"/>
                <a:cs typeface="Gill Sans"/>
              </a:rPr>
              <a:t>Randles</a:t>
            </a:r>
            <a:r>
              <a:rPr sz="1200" b="0" spc="-45" dirty="0">
                <a:latin typeface="Gill Sans"/>
                <a:cs typeface="Gill Sans"/>
              </a:rPr>
              <a:t> </a:t>
            </a:r>
            <a:r>
              <a:rPr sz="1200" b="0" spc="-25" dirty="0">
                <a:latin typeface="Gill Sans"/>
                <a:cs typeface="Gill Sans"/>
              </a:rPr>
              <a:t>and </a:t>
            </a:r>
            <a:r>
              <a:rPr sz="1200" b="0" dirty="0">
                <a:latin typeface="Gill Sans"/>
                <a:cs typeface="Gill Sans"/>
              </a:rPr>
              <a:t>Daniel</a:t>
            </a:r>
            <a:r>
              <a:rPr sz="1200" b="0" spc="-25" dirty="0">
                <a:latin typeface="Gill Sans"/>
                <a:cs typeface="Gill Sans"/>
              </a:rPr>
              <a:t> </a:t>
            </a:r>
            <a:r>
              <a:rPr sz="1200" b="0" spc="-10" dirty="0">
                <a:latin typeface="Gill Sans"/>
                <a:cs typeface="Gill Sans"/>
              </a:rPr>
              <a:t>Stahl,</a:t>
            </a:r>
            <a:r>
              <a:rPr sz="1200" b="0" spc="-125" dirty="0">
                <a:latin typeface="Gill Sans"/>
                <a:cs typeface="Gill Sans"/>
              </a:rPr>
              <a:t> </a:t>
            </a:r>
            <a:r>
              <a:rPr sz="1200" b="0" spc="-10" dirty="0">
                <a:latin typeface="Gill Sans"/>
                <a:cs typeface="Gill Sans"/>
              </a:rPr>
              <a:t>originally published</a:t>
            </a:r>
            <a:r>
              <a:rPr sz="1200" b="0" spc="-5" dirty="0">
                <a:latin typeface="Gill Sans"/>
                <a:cs typeface="Gill Sans"/>
              </a:rPr>
              <a:t> </a:t>
            </a:r>
            <a:r>
              <a:rPr sz="1200" b="0" dirty="0">
                <a:latin typeface="Gill Sans"/>
                <a:cs typeface="Gill Sans"/>
              </a:rPr>
              <a:t>in</a:t>
            </a:r>
            <a:r>
              <a:rPr sz="1200" b="0" spc="-5" dirty="0">
                <a:latin typeface="Gill Sans"/>
                <a:cs typeface="Gill Sans"/>
              </a:rPr>
              <a:t> </a:t>
            </a:r>
            <a:r>
              <a:rPr sz="1200" b="0" spc="-10" dirty="0">
                <a:latin typeface="Gill Sans"/>
                <a:cs typeface="Gill Sans"/>
              </a:rPr>
              <a:t>Germany </a:t>
            </a:r>
            <a:r>
              <a:rPr sz="1200" b="0" dirty="0">
                <a:latin typeface="Gill Sans"/>
                <a:cs typeface="Gill Sans"/>
              </a:rPr>
              <a:t>in</a:t>
            </a:r>
            <a:r>
              <a:rPr sz="1200" b="0" spc="-5" dirty="0">
                <a:latin typeface="Gill Sans"/>
                <a:cs typeface="Gill Sans"/>
              </a:rPr>
              <a:t> </a:t>
            </a:r>
            <a:r>
              <a:rPr sz="1200" b="0" spc="-10" dirty="0">
                <a:latin typeface="Gill Sans"/>
                <a:cs typeface="Gill Sans"/>
              </a:rPr>
              <a:t>2002...</a:t>
            </a:r>
            <a:endParaRPr sz="1200">
              <a:latin typeface="Gill Sans"/>
              <a:cs typeface="Gill San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176162" y="2267432"/>
            <a:ext cx="1513840" cy="1602105"/>
            <a:chOff x="2176162" y="2267432"/>
            <a:chExt cx="1513840" cy="1602105"/>
          </a:xfrm>
        </p:grpSpPr>
        <p:sp>
          <p:nvSpPr>
            <p:cNvPr id="20" name="object 20"/>
            <p:cNvSpPr/>
            <p:nvPr/>
          </p:nvSpPr>
          <p:spPr>
            <a:xfrm>
              <a:off x="2180925" y="2272195"/>
              <a:ext cx="1504315" cy="1592580"/>
            </a:xfrm>
            <a:custGeom>
              <a:avLst/>
              <a:gdLst/>
              <a:ahLst/>
              <a:cxnLst/>
              <a:rect l="l" t="t" r="r" b="b"/>
              <a:pathLst>
                <a:path w="1504314" h="1592579">
                  <a:moveTo>
                    <a:pt x="1253494" y="1592400"/>
                  </a:moveTo>
                  <a:lnTo>
                    <a:pt x="0" y="1592400"/>
                  </a:lnTo>
                  <a:lnTo>
                    <a:pt x="0" y="0"/>
                  </a:lnTo>
                  <a:lnTo>
                    <a:pt x="1504199" y="0"/>
                  </a:lnTo>
                  <a:lnTo>
                    <a:pt x="1504199" y="1341694"/>
                  </a:lnTo>
                  <a:lnTo>
                    <a:pt x="1253494" y="159240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434420" y="3613890"/>
              <a:ext cx="250825" cy="250825"/>
            </a:xfrm>
            <a:custGeom>
              <a:avLst/>
              <a:gdLst/>
              <a:ahLst/>
              <a:cxnLst/>
              <a:rect l="l" t="t" r="r" b="b"/>
              <a:pathLst>
                <a:path w="250825" h="250825">
                  <a:moveTo>
                    <a:pt x="0" y="250705"/>
                  </a:moveTo>
                  <a:lnTo>
                    <a:pt x="50140" y="50141"/>
                  </a:lnTo>
                  <a:lnTo>
                    <a:pt x="250704" y="0"/>
                  </a:lnTo>
                  <a:lnTo>
                    <a:pt x="0" y="250705"/>
                  </a:lnTo>
                  <a:close/>
                </a:path>
              </a:pathLst>
            </a:custGeom>
            <a:solidFill>
              <a:srgbClr val="CBCB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180925" y="2272195"/>
              <a:ext cx="1504315" cy="1592580"/>
            </a:xfrm>
            <a:custGeom>
              <a:avLst/>
              <a:gdLst/>
              <a:ahLst/>
              <a:cxnLst/>
              <a:rect l="l" t="t" r="r" b="b"/>
              <a:pathLst>
                <a:path w="1504314" h="1592579">
                  <a:moveTo>
                    <a:pt x="1253494" y="1592400"/>
                  </a:moveTo>
                  <a:lnTo>
                    <a:pt x="1303635" y="1391836"/>
                  </a:lnTo>
                  <a:lnTo>
                    <a:pt x="1504199" y="1341694"/>
                  </a:lnTo>
                  <a:lnTo>
                    <a:pt x="1253494" y="1592400"/>
                  </a:lnTo>
                  <a:lnTo>
                    <a:pt x="0" y="1592400"/>
                  </a:lnTo>
                  <a:lnTo>
                    <a:pt x="0" y="0"/>
                  </a:lnTo>
                  <a:lnTo>
                    <a:pt x="1504199" y="0"/>
                  </a:lnTo>
                  <a:lnTo>
                    <a:pt x="1504199" y="1341694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269125" y="2294549"/>
            <a:ext cx="142748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Gill Sans"/>
                <a:cs typeface="Gill Sans"/>
              </a:rPr>
              <a:t>Catan</a:t>
            </a:r>
            <a:r>
              <a:rPr sz="1200" b="1" spc="-20" dirty="0">
                <a:latin typeface="Gill Sans"/>
                <a:cs typeface="Gill Sans"/>
              </a:rPr>
              <a:t> </a:t>
            </a:r>
            <a:r>
              <a:rPr sz="1200" b="0" dirty="0">
                <a:latin typeface="Gill Sans"/>
                <a:cs typeface="Gill Sans"/>
              </a:rPr>
              <a:t>—</a:t>
            </a:r>
            <a:r>
              <a:rPr sz="1200" b="0" spc="-155" dirty="0">
                <a:latin typeface="Gill Sans"/>
                <a:cs typeface="Gill Sans"/>
              </a:rPr>
              <a:t> </a:t>
            </a:r>
            <a:r>
              <a:rPr sz="1200" b="0" dirty="0">
                <a:latin typeface="Gill Sans"/>
                <a:cs typeface="Gill Sans"/>
              </a:rPr>
              <a:t>The</a:t>
            </a:r>
            <a:r>
              <a:rPr sz="1200" b="0" spc="-5" dirty="0">
                <a:latin typeface="Gill Sans"/>
                <a:cs typeface="Gill Sans"/>
              </a:rPr>
              <a:t> </a:t>
            </a:r>
            <a:r>
              <a:rPr sz="1200" b="0" spc="-10" dirty="0">
                <a:latin typeface="Gill Sans"/>
                <a:cs typeface="Gill Sans"/>
              </a:rPr>
              <a:t>Settlers </a:t>
            </a:r>
            <a:r>
              <a:rPr sz="1200" b="0" dirty="0">
                <a:latin typeface="Gill Sans"/>
                <a:cs typeface="Gill Sans"/>
              </a:rPr>
              <a:t>of</a:t>
            </a:r>
            <a:r>
              <a:rPr sz="1200" b="0" spc="-25" dirty="0">
                <a:latin typeface="Gill Sans"/>
                <a:cs typeface="Gill Sans"/>
              </a:rPr>
              <a:t> </a:t>
            </a:r>
            <a:r>
              <a:rPr sz="1200" b="0" spc="-10" dirty="0">
                <a:latin typeface="Gill Sans"/>
                <a:cs typeface="Gill Sans"/>
              </a:rPr>
              <a:t>Catan,</a:t>
            </a:r>
            <a:r>
              <a:rPr sz="1200" b="0" spc="-125" dirty="0">
                <a:latin typeface="Gill Sans"/>
                <a:cs typeface="Gill Sans"/>
              </a:rPr>
              <a:t> </a:t>
            </a:r>
            <a:r>
              <a:rPr sz="1200" b="0" spc="-10" dirty="0">
                <a:latin typeface="Gill Sans"/>
                <a:cs typeface="Gill Sans"/>
              </a:rPr>
              <a:t>sometimes </a:t>
            </a:r>
            <a:r>
              <a:rPr sz="1200" b="0" dirty="0">
                <a:latin typeface="Gill Sans"/>
                <a:cs typeface="Gill Sans"/>
              </a:rPr>
              <a:t>shortened</a:t>
            </a:r>
            <a:r>
              <a:rPr sz="1200" b="0" spc="-40" dirty="0">
                <a:latin typeface="Gill Sans"/>
                <a:cs typeface="Gill Sans"/>
              </a:rPr>
              <a:t> </a:t>
            </a:r>
            <a:r>
              <a:rPr sz="1200" b="0" dirty="0">
                <a:latin typeface="Gill Sans"/>
                <a:cs typeface="Gill Sans"/>
              </a:rPr>
              <a:t>to</a:t>
            </a:r>
            <a:r>
              <a:rPr sz="1200" b="0" spc="-40" dirty="0">
                <a:latin typeface="Gill Sans"/>
                <a:cs typeface="Gill Sans"/>
              </a:rPr>
              <a:t> </a:t>
            </a:r>
            <a:r>
              <a:rPr sz="1200" b="0" dirty="0">
                <a:latin typeface="Gill Sans"/>
                <a:cs typeface="Gill Sans"/>
              </a:rPr>
              <a:t>Catan</a:t>
            </a:r>
            <a:r>
              <a:rPr sz="1200" b="0" spc="-35" dirty="0">
                <a:latin typeface="Gill Sans"/>
                <a:cs typeface="Gill Sans"/>
              </a:rPr>
              <a:t> </a:t>
            </a:r>
            <a:r>
              <a:rPr sz="1200" b="0" spc="-25" dirty="0">
                <a:latin typeface="Gill Sans"/>
                <a:cs typeface="Gill Sans"/>
              </a:rPr>
              <a:t>or </a:t>
            </a:r>
            <a:r>
              <a:rPr sz="1200" b="0" spc="-10" dirty="0">
                <a:latin typeface="Gill Sans"/>
                <a:cs typeface="Gill Sans"/>
              </a:rPr>
              <a:t>Settlers,</a:t>
            </a:r>
            <a:r>
              <a:rPr sz="1200" b="0" spc="-125" dirty="0">
                <a:latin typeface="Gill Sans"/>
                <a:cs typeface="Gill Sans"/>
              </a:rPr>
              <a:t> </a:t>
            </a:r>
            <a:r>
              <a:rPr sz="1200" b="0" dirty="0">
                <a:latin typeface="Gill Sans"/>
                <a:cs typeface="Gill Sans"/>
              </a:rPr>
              <a:t>is</a:t>
            </a:r>
            <a:r>
              <a:rPr sz="1200" b="0" spc="-10" dirty="0">
                <a:latin typeface="Gill Sans"/>
                <a:cs typeface="Gill Sans"/>
              </a:rPr>
              <a:t> </a:t>
            </a:r>
            <a:r>
              <a:rPr sz="1200" b="0" spc="-50" dirty="0">
                <a:latin typeface="Gill Sans"/>
                <a:cs typeface="Gill Sans"/>
              </a:rPr>
              <a:t>a</a:t>
            </a:r>
            <a:r>
              <a:rPr sz="1200" b="0" spc="500" dirty="0">
                <a:latin typeface="Gill Sans"/>
                <a:cs typeface="Gill Sans"/>
              </a:rPr>
              <a:t> </a:t>
            </a:r>
            <a:r>
              <a:rPr sz="1200" b="0" spc="-10" dirty="0">
                <a:latin typeface="Gill Sans"/>
                <a:cs typeface="Gill Sans"/>
              </a:rPr>
              <a:t>multiplayer</a:t>
            </a:r>
            <a:r>
              <a:rPr sz="1200" b="0" spc="-45" dirty="0">
                <a:latin typeface="Gill Sans"/>
                <a:cs typeface="Gill Sans"/>
              </a:rPr>
              <a:t> </a:t>
            </a:r>
            <a:r>
              <a:rPr sz="1200" b="0" spc="-10" dirty="0">
                <a:latin typeface="Gill Sans"/>
                <a:cs typeface="Gill Sans"/>
              </a:rPr>
              <a:t>board</a:t>
            </a:r>
            <a:r>
              <a:rPr sz="1200" b="0" spc="500" dirty="0">
                <a:latin typeface="Gill Sans"/>
                <a:cs typeface="Gill Sans"/>
              </a:rPr>
              <a:t> </a:t>
            </a:r>
            <a:r>
              <a:rPr sz="1200" b="0" dirty="0">
                <a:latin typeface="Gill Sans"/>
                <a:cs typeface="Gill Sans"/>
              </a:rPr>
              <a:t>game</a:t>
            </a:r>
            <a:r>
              <a:rPr sz="1200" b="0" spc="-60" dirty="0">
                <a:latin typeface="Gill Sans"/>
                <a:cs typeface="Gill Sans"/>
              </a:rPr>
              <a:t> </a:t>
            </a:r>
            <a:r>
              <a:rPr sz="1200" b="0" dirty="0">
                <a:latin typeface="Gill Sans"/>
                <a:cs typeface="Gill Sans"/>
              </a:rPr>
              <a:t>designed</a:t>
            </a:r>
            <a:r>
              <a:rPr sz="1200" b="0" spc="-55" dirty="0">
                <a:latin typeface="Gill Sans"/>
                <a:cs typeface="Gill Sans"/>
              </a:rPr>
              <a:t> </a:t>
            </a:r>
            <a:r>
              <a:rPr sz="1200" b="0" spc="-25" dirty="0">
                <a:latin typeface="Gill Sans"/>
                <a:cs typeface="Gill Sans"/>
              </a:rPr>
              <a:t>by </a:t>
            </a:r>
            <a:r>
              <a:rPr sz="1200" b="0" spc="-10" dirty="0">
                <a:latin typeface="Gill Sans"/>
                <a:cs typeface="Gill Sans"/>
              </a:rPr>
              <a:t>Klaus</a:t>
            </a:r>
            <a:r>
              <a:rPr sz="1200" b="0" spc="-155" dirty="0">
                <a:latin typeface="Gill Sans"/>
                <a:cs typeface="Gill Sans"/>
              </a:rPr>
              <a:t> </a:t>
            </a:r>
            <a:r>
              <a:rPr sz="1200" b="0" spc="-30" dirty="0">
                <a:latin typeface="Gill Sans"/>
                <a:cs typeface="Gill Sans"/>
              </a:rPr>
              <a:t>Teuber</a:t>
            </a:r>
            <a:r>
              <a:rPr sz="1200" b="0" spc="-40" dirty="0">
                <a:latin typeface="Gill Sans"/>
                <a:cs typeface="Gill Sans"/>
              </a:rPr>
              <a:t> </a:t>
            </a:r>
            <a:r>
              <a:rPr sz="1200" b="0" dirty="0">
                <a:latin typeface="Gill Sans"/>
                <a:cs typeface="Gill Sans"/>
              </a:rPr>
              <a:t>and</a:t>
            </a:r>
            <a:r>
              <a:rPr sz="1200" b="0" spc="-30" dirty="0">
                <a:latin typeface="Gill Sans"/>
                <a:cs typeface="Gill Sans"/>
              </a:rPr>
              <a:t> </a:t>
            </a:r>
            <a:r>
              <a:rPr sz="1200" b="0" spc="-10" dirty="0">
                <a:latin typeface="Gill Sans"/>
                <a:cs typeface="Gill Sans"/>
              </a:rPr>
              <a:t>first published</a:t>
            </a:r>
            <a:r>
              <a:rPr sz="1200" b="0" spc="-5" dirty="0">
                <a:latin typeface="Gill Sans"/>
                <a:cs typeface="Gill Sans"/>
              </a:rPr>
              <a:t> </a:t>
            </a:r>
            <a:r>
              <a:rPr sz="1200" b="0" dirty="0">
                <a:latin typeface="Gill Sans"/>
                <a:cs typeface="Gill Sans"/>
              </a:rPr>
              <a:t>in</a:t>
            </a:r>
            <a:r>
              <a:rPr sz="1200" b="0" spc="-5" dirty="0">
                <a:latin typeface="Gill Sans"/>
                <a:cs typeface="Gill Sans"/>
              </a:rPr>
              <a:t> </a:t>
            </a:r>
            <a:r>
              <a:rPr sz="1200" b="0" spc="-10" dirty="0">
                <a:latin typeface="Gill Sans"/>
                <a:cs typeface="Gill Sans"/>
              </a:rPr>
              <a:t>1995...</a:t>
            </a:r>
            <a:endParaRPr sz="1200">
              <a:latin typeface="Gill Sans"/>
              <a:cs typeface="Gill San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153537" y="2395537"/>
            <a:ext cx="520065" cy="283845"/>
            <a:chOff x="4153537" y="2395537"/>
            <a:chExt cx="520065" cy="283845"/>
          </a:xfrm>
        </p:grpSpPr>
        <p:sp>
          <p:nvSpPr>
            <p:cNvPr id="10" name="object 10"/>
            <p:cNvSpPr/>
            <p:nvPr/>
          </p:nvSpPr>
          <p:spPr>
            <a:xfrm>
              <a:off x="4158300" y="2400300"/>
              <a:ext cx="510540" cy="274320"/>
            </a:xfrm>
            <a:custGeom>
              <a:avLst/>
              <a:gdLst/>
              <a:ahLst/>
              <a:cxnLst/>
              <a:rect l="l" t="t" r="r" b="b"/>
              <a:pathLst>
                <a:path w="510539" h="274319">
                  <a:moveTo>
                    <a:pt x="373049" y="273899"/>
                  </a:moveTo>
                  <a:lnTo>
                    <a:pt x="373049" y="205424"/>
                  </a:lnTo>
                  <a:lnTo>
                    <a:pt x="0" y="205424"/>
                  </a:lnTo>
                  <a:lnTo>
                    <a:pt x="0" y="68474"/>
                  </a:lnTo>
                  <a:lnTo>
                    <a:pt x="373049" y="68474"/>
                  </a:lnTo>
                  <a:lnTo>
                    <a:pt x="373049" y="0"/>
                  </a:lnTo>
                  <a:lnTo>
                    <a:pt x="509999" y="136949"/>
                  </a:lnTo>
                  <a:lnTo>
                    <a:pt x="373049" y="2738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158300" y="2400300"/>
              <a:ext cx="510540" cy="274320"/>
            </a:xfrm>
            <a:custGeom>
              <a:avLst/>
              <a:gdLst/>
              <a:ahLst/>
              <a:cxnLst/>
              <a:rect l="l" t="t" r="r" b="b"/>
              <a:pathLst>
                <a:path w="510539" h="274319">
                  <a:moveTo>
                    <a:pt x="0" y="68474"/>
                  </a:moveTo>
                  <a:lnTo>
                    <a:pt x="373049" y="68474"/>
                  </a:lnTo>
                  <a:lnTo>
                    <a:pt x="373049" y="0"/>
                  </a:lnTo>
                  <a:lnTo>
                    <a:pt x="509999" y="136949"/>
                  </a:lnTo>
                  <a:lnTo>
                    <a:pt x="373049" y="273899"/>
                  </a:lnTo>
                  <a:lnTo>
                    <a:pt x="373049" y="205424"/>
                  </a:lnTo>
                  <a:lnTo>
                    <a:pt x="0" y="205424"/>
                  </a:lnTo>
                  <a:lnTo>
                    <a:pt x="0" y="6847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/>
          <p:nvPr/>
        </p:nvSpPr>
        <p:spPr>
          <a:xfrm>
            <a:off x="4846999" y="2266950"/>
            <a:ext cx="923925" cy="586105"/>
          </a:xfrm>
          <a:custGeom>
            <a:avLst/>
            <a:gdLst/>
            <a:ahLst/>
            <a:cxnLst/>
            <a:rect l="l" t="t" r="r" b="b"/>
            <a:pathLst>
              <a:path w="923925" h="586105">
                <a:moveTo>
                  <a:pt x="0" y="97601"/>
                </a:moveTo>
                <a:lnTo>
                  <a:pt x="7670" y="59610"/>
                </a:lnTo>
                <a:lnTo>
                  <a:pt x="28586" y="28586"/>
                </a:lnTo>
                <a:lnTo>
                  <a:pt x="59610" y="7670"/>
                </a:lnTo>
                <a:lnTo>
                  <a:pt x="97601" y="0"/>
                </a:lnTo>
                <a:lnTo>
                  <a:pt x="826097" y="0"/>
                </a:lnTo>
                <a:lnTo>
                  <a:pt x="880247" y="16398"/>
                </a:lnTo>
                <a:lnTo>
                  <a:pt x="907301" y="43452"/>
                </a:lnTo>
                <a:lnTo>
                  <a:pt x="923699" y="97601"/>
                </a:lnTo>
                <a:lnTo>
                  <a:pt x="923699" y="487997"/>
                </a:lnTo>
                <a:lnTo>
                  <a:pt x="916029" y="525989"/>
                </a:lnTo>
                <a:lnTo>
                  <a:pt x="895112" y="557013"/>
                </a:lnTo>
                <a:lnTo>
                  <a:pt x="864089" y="577929"/>
                </a:lnTo>
                <a:lnTo>
                  <a:pt x="826097" y="585599"/>
                </a:lnTo>
                <a:lnTo>
                  <a:pt x="97601" y="585599"/>
                </a:lnTo>
                <a:lnTo>
                  <a:pt x="59610" y="577929"/>
                </a:lnTo>
                <a:lnTo>
                  <a:pt x="28586" y="557013"/>
                </a:lnTo>
                <a:lnTo>
                  <a:pt x="7670" y="525989"/>
                </a:lnTo>
                <a:lnTo>
                  <a:pt x="0" y="487997"/>
                </a:lnTo>
                <a:lnTo>
                  <a:pt x="0" y="97601"/>
                </a:lnTo>
                <a:close/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050149" y="2369186"/>
            <a:ext cx="51689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0" spc="-25" dirty="0">
                <a:latin typeface="Gill Sans"/>
                <a:cs typeface="Gill Sans"/>
              </a:rPr>
              <a:t>LLM</a:t>
            </a:r>
            <a:endParaRPr sz="2200">
              <a:latin typeface="Gill Sans"/>
              <a:cs typeface="Gill San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020837" y="2418987"/>
            <a:ext cx="520065" cy="283845"/>
            <a:chOff x="6020837" y="2418987"/>
            <a:chExt cx="520065" cy="283845"/>
          </a:xfrm>
        </p:grpSpPr>
        <p:sp>
          <p:nvSpPr>
            <p:cNvPr id="13" name="object 13"/>
            <p:cNvSpPr/>
            <p:nvPr/>
          </p:nvSpPr>
          <p:spPr>
            <a:xfrm>
              <a:off x="6025600" y="2423749"/>
              <a:ext cx="510540" cy="274320"/>
            </a:xfrm>
            <a:custGeom>
              <a:avLst/>
              <a:gdLst/>
              <a:ahLst/>
              <a:cxnLst/>
              <a:rect l="l" t="t" r="r" b="b"/>
              <a:pathLst>
                <a:path w="510540" h="274319">
                  <a:moveTo>
                    <a:pt x="373049" y="273899"/>
                  </a:moveTo>
                  <a:lnTo>
                    <a:pt x="373049" y="205424"/>
                  </a:lnTo>
                  <a:lnTo>
                    <a:pt x="0" y="205424"/>
                  </a:lnTo>
                  <a:lnTo>
                    <a:pt x="0" y="68474"/>
                  </a:lnTo>
                  <a:lnTo>
                    <a:pt x="373049" y="68474"/>
                  </a:lnTo>
                  <a:lnTo>
                    <a:pt x="373049" y="0"/>
                  </a:lnTo>
                  <a:lnTo>
                    <a:pt x="509999" y="136949"/>
                  </a:lnTo>
                  <a:lnTo>
                    <a:pt x="373049" y="2738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025600" y="2423749"/>
              <a:ext cx="510540" cy="274320"/>
            </a:xfrm>
            <a:custGeom>
              <a:avLst/>
              <a:gdLst/>
              <a:ahLst/>
              <a:cxnLst/>
              <a:rect l="l" t="t" r="r" b="b"/>
              <a:pathLst>
                <a:path w="510540" h="274319">
                  <a:moveTo>
                    <a:pt x="0" y="68474"/>
                  </a:moveTo>
                  <a:lnTo>
                    <a:pt x="373049" y="68474"/>
                  </a:lnTo>
                  <a:lnTo>
                    <a:pt x="373049" y="0"/>
                  </a:lnTo>
                  <a:lnTo>
                    <a:pt x="509999" y="136949"/>
                  </a:lnTo>
                  <a:lnTo>
                    <a:pt x="373049" y="273899"/>
                  </a:lnTo>
                  <a:lnTo>
                    <a:pt x="373049" y="205424"/>
                  </a:lnTo>
                  <a:lnTo>
                    <a:pt x="0" y="205424"/>
                  </a:lnTo>
                  <a:lnTo>
                    <a:pt x="0" y="6847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787325" y="2350071"/>
            <a:ext cx="963294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latin typeface="Roboto"/>
                <a:cs typeface="Roboto"/>
              </a:rPr>
              <a:t>Answer:</a:t>
            </a:r>
            <a:endParaRPr sz="13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300" spc="-25" dirty="0">
                <a:latin typeface="Roboto"/>
                <a:cs typeface="Roboto"/>
              </a:rPr>
              <a:t>Pirate’s</a:t>
            </a:r>
            <a:r>
              <a:rPr sz="1300" spc="-20" dirty="0">
                <a:latin typeface="Roboto"/>
                <a:cs typeface="Roboto"/>
              </a:rPr>
              <a:t> Cove</a:t>
            </a:r>
            <a:endParaRPr sz="13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Example:</a:t>
            </a:r>
            <a:r>
              <a:rPr spc="55" dirty="0"/>
              <a:t> </a:t>
            </a:r>
            <a:r>
              <a:rPr dirty="0"/>
              <a:t>Without</a:t>
            </a:r>
            <a:r>
              <a:rPr spc="60" dirty="0"/>
              <a:t> </a:t>
            </a:r>
            <a:r>
              <a:rPr spc="-25" dirty="0"/>
              <a:t>RAG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2949" y="1218449"/>
            <a:ext cx="3634104" cy="3840479"/>
            <a:chOff x="352949" y="1218449"/>
            <a:chExt cx="3634104" cy="3840479"/>
          </a:xfrm>
        </p:grpSpPr>
        <p:sp>
          <p:nvSpPr>
            <p:cNvPr id="4" name="object 4"/>
            <p:cNvSpPr/>
            <p:nvPr/>
          </p:nvSpPr>
          <p:spPr>
            <a:xfrm>
              <a:off x="362474" y="1227974"/>
              <a:ext cx="3615054" cy="3821429"/>
            </a:xfrm>
            <a:custGeom>
              <a:avLst/>
              <a:gdLst/>
              <a:ahLst/>
              <a:cxnLst/>
              <a:rect l="l" t="t" r="r" b="b"/>
              <a:pathLst>
                <a:path w="3615054" h="3821429">
                  <a:moveTo>
                    <a:pt x="0" y="0"/>
                  </a:moveTo>
                  <a:lnTo>
                    <a:pt x="3614976" y="0"/>
                  </a:lnTo>
                  <a:lnTo>
                    <a:pt x="3614976" y="3104102"/>
                  </a:lnTo>
                  <a:lnTo>
                    <a:pt x="3559646" y="3104476"/>
                  </a:lnTo>
                  <a:lnTo>
                    <a:pt x="3505446" y="3105584"/>
                  </a:lnTo>
                  <a:lnTo>
                    <a:pt x="3452350" y="3107406"/>
                  </a:lnTo>
                  <a:lnTo>
                    <a:pt x="3400336" y="3109923"/>
                  </a:lnTo>
                  <a:lnTo>
                    <a:pt x="3349380" y="3113114"/>
                  </a:lnTo>
                  <a:lnTo>
                    <a:pt x="3299457" y="3116959"/>
                  </a:lnTo>
                  <a:lnTo>
                    <a:pt x="3250544" y="3121438"/>
                  </a:lnTo>
                  <a:lnTo>
                    <a:pt x="3202618" y="3126533"/>
                  </a:lnTo>
                  <a:lnTo>
                    <a:pt x="3155654" y="3132221"/>
                  </a:lnTo>
                  <a:lnTo>
                    <a:pt x="3109629" y="3138484"/>
                  </a:lnTo>
                  <a:lnTo>
                    <a:pt x="3064518" y="3145302"/>
                  </a:lnTo>
                  <a:lnTo>
                    <a:pt x="3020299" y="3152654"/>
                  </a:lnTo>
                  <a:lnTo>
                    <a:pt x="2976947" y="3160521"/>
                  </a:lnTo>
                  <a:lnTo>
                    <a:pt x="2934439" y="3168882"/>
                  </a:lnTo>
                  <a:lnTo>
                    <a:pt x="2892751" y="3177718"/>
                  </a:lnTo>
                  <a:lnTo>
                    <a:pt x="2851859" y="3187009"/>
                  </a:lnTo>
                  <a:lnTo>
                    <a:pt x="2811740" y="3196734"/>
                  </a:lnTo>
                  <a:lnTo>
                    <a:pt x="2772369" y="3206874"/>
                  </a:lnTo>
                  <a:lnTo>
                    <a:pt x="2733722" y="3217409"/>
                  </a:lnTo>
                  <a:lnTo>
                    <a:pt x="2695777" y="3228319"/>
                  </a:lnTo>
                  <a:lnTo>
                    <a:pt x="2658510" y="3239583"/>
                  </a:lnTo>
                  <a:lnTo>
                    <a:pt x="2621895" y="3251182"/>
                  </a:lnTo>
                  <a:lnTo>
                    <a:pt x="2550532" y="3275306"/>
                  </a:lnTo>
                  <a:lnTo>
                    <a:pt x="2481498" y="3300529"/>
                  </a:lnTo>
                  <a:lnTo>
                    <a:pt x="2414603" y="3326693"/>
                  </a:lnTo>
                  <a:lnTo>
                    <a:pt x="2349657" y="3353637"/>
                  </a:lnTo>
                  <a:lnTo>
                    <a:pt x="2286469" y="3381201"/>
                  </a:lnTo>
                  <a:lnTo>
                    <a:pt x="2224850" y="3409226"/>
                  </a:lnTo>
                  <a:lnTo>
                    <a:pt x="2164609" y="3437553"/>
                  </a:lnTo>
                  <a:lnTo>
                    <a:pt x="2105557" y="3466020"/>
                  </a:lnTo>
                  <a:lnTo>
                    <a:pt x="2047502" y="3494470"/>
                  </a:lnTo>
                  <a:lnTo>
                    <a:pt x="1990256" y="3522741"/>
                  </a:lnTo>
                  <a:lnTo>
                    <a:pt x="1961876" y="3536760"/>
                  </a:lnTo>
                  <a:lnTo>
                    <a:pt x="1905485" y="3564465"/>
                  </a:lnTo>
                  <a:lnTo>
                    <a:pt x="1849427" y="3591592"/>
                  </a:lnTo>
                  <a:lnTo>
                    <a:pt x="1793512" y="3617981"/>
                  </a:lnTo>
                  <a:lnTo>
                    <a:pt x="1737549" y="3643474"/>
                  </a:lnTo>
                  <a:lnTo>
                    <a:pt x="1681348" y="3667910"/>
                  </a:lnTo>
                  <a:lnTo>
                    <a:pt x="1624719" y="3691130"/>
                  </a:lnTo>
                  <a:lnTo>
                    <a:pt x="1567473" y="3712973"/>
                  </a:lnTo>
                  <a:lnTo>
                    <a:pt x="1509418" y="3733281"/>
                  </a:lnTo>
                  <a:lnTo>
                    <a:pt x="1450366" y="3751892"/>
                  </a:lnTo>
                  <a:lnTo>
                    <a:pt x="1390125" y="3768649"/>
                  </a:lnTo>
                  <a:lnTo>
                    <a:pt x="1328506" y="3783390"/>
                  </a:lnTo>
                  <a:lnTo>
                    <a:pt x="1265318" y="3795956"/>
                  </a:lnTo>
                  <a:lnTo>
                    <a:pt x="1200372" y="3806187"/>
                  </a:lnTo>
                  <a:lnTo>
                    <a:pt x="1133477" y="3813924"/>
                  </a:lnTo>
                  <a:lnTo>
                    <a:pt x="1064443" y="3819006"/>
                  </a:lnTo>
                  <a:lnTo>
                    <a:pt x="993080" y="3821275"/>
                  </a:lnTo>
                  <a:lnTo>
                    <a:pt x="956466" y="3821304"/>
                  </a:lnTo>
                  <a:lnTo>
                    <a:pt x="919198" y="3820570"/>
                  </a:lnTo>
                  <a:lnTo>
                    <a:pt x="842607" y="3816732"/>
                  </a:lnTo>
                  <a:lnTo>
                    <a:pt x="803236" y="3813587"/>
                  </a:lnTo>
                  <a:lnTo>
                    <a:pt x="763116" y="3809600"/>
                  </a:lnTo>
                  <a:lnTo>
                    <a:pt x="722224" y="3804749"/>
                  </a:lnTo>
                  <a:lnTo>
                    <a:pt x="680536" y="3799015"/>
                  </a:lnTo>
                  <a:lnTo>
                    <a:pt x="638028" y="3792378"/>
                  </a:lnTo>
                  <a:lnTo>
                    <a:pt x="594676" y="3784818"/>
                  </a:lnTo>
                  <a:lnTo>
                    <a:pt x="550457" y="3776315"/>
                  </a:lnTo>
                  <a:lnTo>
                    <a:pt x="505347" y="3766848"/>
                  </a:lnTo>
                  <a:lnTo>
                    <a:pt x="459321" y="3756399"/>
                  </a:lnTo>
                  <a:lnTo>
                    <a:pt x="412357" y="3744946"/>
                  </a:lnTo>
                  <a:lnTo>
                    <a:pt x="364431" y="3732471"/>
                  </a:lnTo>
                  <a:lnTo>
                    <a:pt x="315518" y="3718952"/>
                  </a:lnTo>
                  <a:lnTo>
                    <a:pt x="265595" y="3704371"/>
                  </a:lnTo>
                  <a:lnTo>
                    <a:pt x="214639" y="3688707"/>
                  </a:lnTo>
                  <a:lnTo>
                    <a:pt x="162625" y="3671940"/>
                  </a:lnTo>
                  <a:lnTo>
                    <a:pt x="109529" y="3654050"/>
                  </a:lnTo>
                  <a:lnTo>
                    <a:pt x="55329" y="3635017"/>
                  </a:lnTo>
                  <a:lnTo>
                    <a:pt x="0" y="3614822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34175" y="2154174"/>
              <a:ext cx="1504315" cy="1544320"/>
            </a:xfrm>
            <a:custGeom>
              <a:avLst/>
              <a:gdLst/>
              <a:ahLst/>
              <a:cxnLst/>
              <a:rect l="l" t="t" r="r" b="b"/>
              <a:pathLst>
                <a:path w="1504314" h="1544320">
                  <a:moveTo>
                    <a:pt x="1253494" y="1543799"/>
                  </a:moveTo>
                  <a:lnTo>
                    <a:pt x="0" y="1543799"/>
                  </a:lnTo>
                  <a:lnTo>
                    <a:pt x="0" y="0"/>
                  </a:lnTo>
                  <a:lnTo>
                    <a:pt x="1504199" y="0"/>
                  </a:lnTo>
                  <a:lnTo>
                    <a:pt x="1504199" y="1293094"/>
                  </a:lnTo>
                  <a:lnTo>
                    <a:pt x="1253494" y="1543799"/>
                  </a:lnTo>
                  <a:close/>
                </a:path>
              </a:pathLst>
            </a:custGeom>
            <a:solidFill>
              <a:srgbClr val="F1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87669" y="3447269"/>
              <a:ext cx="250825" cy="250825"/>
            </a:xfrm>
            <a:custGeom>
              <a:avLst/>
              <a:gdLst/>
              <a:ahLst/>
              <a:cxnLst/>
              <a:rect l="l" t="t" r="r" b="b"/>
              <a:pathLst>
                <a:path w="250825" h="250825">
                  <a:moveTo>
                    <a:pt x="0" y="250704"/>
                  </a:moveTo>
                  <a:lnTo>
                    <a:pt x="50140" y="50140"/>
                  </a:lnTo>
                  <a:lnTo>
                    <a:pt x="250704" y="0"/>
                  </a:lnTo>
                  <a:lnTo>
                    <a:pt x="0" y="250704"/>
                  </a:lnTo>
                  <a:close/>
                </a:path>
              </a:pathLst>
            </a:custGeom>
            <a:solidFill>
              <a:srgbClr val="C1AE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34175" y="2154174"/>
              <a:ext cx="1504315" cy="1544320"/>
            </a:xfrm>
            <a:custGeom>
              <a:avLst/>
              <a:gdLst/>
              <a:ahLst/>
              <a:cxnLst/>
              <a:rect l="l" t="t" r="r" b="b"/>
              <a:pathLst>
                <a:path w="1504314" h="1544320">
                  <a:moveTo>
                    <a:pt x="1253494" y="1543799"/>
                  </a:moveTo>
                  <a:lnTo>
                    <a:pt x="1303635" y="1343235"/>
                  </a:lnTo>
                  <a:lnTo>
                    <a:pt x="1504199" y="1293094"/>
                  </a:lnTo>
                  <a:lnTo>
                    <a:pt x="1253494" y="1543799"/>
                  </a:lnTo>
                  <a:lnTo>
                    <a:pt x="0" y="1543799"/>
                  </a:lnTo>
                  <a:lnTo>
                    <a:pt x="0" y="0"/>
                  </a:lnTo>
                  <a:lnTo>
                    <a:pt x="1504199" y="0"/>
                  </a:lnTo>
                  <a:lnTo>
                    <a:pt x="1504199" y="1293094"/>
                  </a:lnTo>
                </a:path>
              </a:pathLst>
            </a:custGeom>
            <a:ln w="9524">
              <a:solidFill>
                <a:srgbClr val="5700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08025" y="1331577"/>
            <a:ext cx="2909570" cy="1036319"/>
          </a:xfrm>
          <a:prstGeom prst="rect">
            <a:avLst/>
          </a:prstGeom>
        </p:spPr>
        <p:txBody>
          <a:bodyPr vert="horz" wrap="square" lIns="0" tIns="425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300" b="1" spc="-10" dirty="0">
                <a:latin typeface="Roboto"/>
                <a:cs typeface="Roboto"/>
              </a:rPr>
              <a:t>Question:</a:t>
            </a:r>
            <a:endParaRPr sz="1300">
              <a:latin typeface="Roboto"/>
              <a:cs typeface="Roboto"/>
            </a:endParaRPr>
          </a:p>
          <a:p>
            <a:pPr marL="12700" marR="5080">
              <a:lnSpc>
                <a:spcPct val="114999"/>
              </a:lnSpc>
            </a:pPr>
            <a:r>
              <a:rPr sz="1300" dirty="0">
                <a:latin typeface="Roboto"/>
                <a:cs typeface="Roboto"/>
              </a:rPr>
              <a:t>Which</a:t>
            </a:r>
            <a:r>
              <a:rPr sz="1300" spc="-35" dirty="0">
                <a:latin typeface="Roboto"/>
                <a:cs typeface="Roboto"/>
              </a:rPr>
              <a:t> </a:t>
            </a:r>
            <a:r>
              <a:rPr sz="1300" dirty="0">
                <a:latin typeface="Roboto"/>
                <a:cs typeface="Roboto"/>
              </a:rPr>
              <a:t>board</a:t>
            </a:r>
            <a:r>
              <a:rPr sz="1300" spc="-35" dirty="0">
                <a:latin typeface="Roboto"/>
                <a:cs typeface="Roboto"/>
              </a:rPr>
              <a:t> </a:t>
            </a:r>
            <a:r>
              <a:rPr sz="1300" dirty="0">
                <a:latin typeface="Roboto"/>
                <a:cs typeface="Roboto"/>
              </a:rPr>
              <a:t>game</a:t>
            </a:r>
            <a:r>
              <a:rPr sz="1300" spc="-35" dirty="0">
                <a:latin typeface="Roboto"/>
                <a:cs typeface="Roboto"/>
              </a:rPr>
              <a:t> </a:t>
            </a:r>
            <a:r>
              <a:rPr sz="1300" dirty="0">
                <a:latin typeface="Roboto"/>
                <a:cs typeface="Roboto"/>
              </a:rPr>
              <a:t>was</a:t>
            </a:r>
            <a:r>
              <a:rPr sz="1300" spc="-35" dirty="0">
                <a:latin typeface="Roboto"/>
                <a:cs typeface="Roboto"/>
              </a:rPr>
              <a:t> </a:t>
            </a:r>
            <a:r>
              <a:rPr sz="1300" dirty="0">
                <a:latin typeface="Roboto"/>
                <a:cs typeface="Roboto"/>
              </a:rPr>
              <a:t>published</a:t>
            </a:r>
            <a:r>
              <a:rPr sz="1300" spc="-35" dirty="0">
                <a:latin typeface="Roboto"/>
                <a:cs typeface="Roboto"/>
              </a:rPr>
              <a:t> </a:t>
            </a:r>
            <a:r>
              <a:rPr sz="1300" spc="-20" dirty="0">
                <a:latin typeface="Roboto"/>
                <a:cs typeface="Roboto"/>
              </a:rPr>
              <a:t>most </a:t>
            </a:r>
            <a:r>
              <a:rPr sz="1300" spc="-10" dirty="0">
                <a:latin typeface="Roboto"/>
                <a:cs typeface="Roboto"/>
              </a:rPr>
              <a:t>recently,</a:t>
            </a:r>
            <a:r>
              <a:rPr sz="1300" spc="-25" dirty="0">
                <a:latin typeface="Roboto"/>
                <a:cs typeface="Roboto"/>
              </a:rPr>
              <a:t> Pirate’s</a:t>
            </a:r>
            <a:r>
              <a:rPr sz="1300" spc="-20" dirty="0">
                <a:latin typeface="Roboto"/>
                <a:cs typeface="Roboto"/>
              </a:rPr>
              <a:t> </a:t>
            </a:r>
            <a:r>
              <a:rPr sz="1300" dirty="0">
                <a:latin typeface="Roboto"/>
                <a:cs typeface="Roboto"/>
              </a:rPr>
              <a:t>Cove</a:t>
            </a:r>
            <a:r>
              <a:rPr sz="1300" spc="-20" dirty="0">
                <a:latin typeface="Roboto"/>
                <a:cs typeface="Roboto"/>
              </a:rPr>
              <a:t> </a:t>
            </a:r>
            <a:r>
              <a:rPr sz="1300" dirty="0">
                <a:latin typeface="Roboto"/>
                <a:cs typeface="Roboto"/>
              </a:rPr>
              <a:t>or</a:t>
            </a:r>
            <a:r>
              <a:rPr sz="1300" spc="-20" dirty="0">
                <a:latin typeface="Roboto"/>
                <a:cs typeface="Roboto"/>
              </a:rPr>
              <a:t> </a:t>
            </a:r>
            <a:r>
              <a:rPr sz="1300" spc="-10" dirty="0">
                <a:latin typeface="Roboto"/>
                <a:cs typeface="Roboto"/>
              </a:rPr>
              <a:t>Catan?</a:t>
            </a:r>
            <a:endParaRPr sz="1300">
              <a:latin typeface="Roboto"/>
              <a:cs typeface="Roboto"/>
            </a:endParaRPr>
          </a:p>
          <a:p>
            <a:pPr marL="63500">
              <a:lnSpc>
                <a:spcPct val="100000"/>
              </a:lnSpc>
              <a:spcBef>
                <a:spcPts val="1130"/>
              </a:spcBef>
            </a:pPr>
            <a:r>
              <a:rPr sz="1200" b="1" spc="-10" dirty="0">
                <a:latin typeface="Gill Sans"/>
                <a:cs typeface="Gill Sans"/>
              </a:rPr>
              <a:t>Struggle</a:t>
            </a:r>
            <a:r>
              <a:rPr sz="1200" b="1" spc="-20" dirty="0">
                <a:latin typeface="Gill Sans"/>
                <a:cs typeface="Gill Sans"/>
              </a:rPr>
              <a:t> </a:t>
            </a:r>
            <a:r>
              <a:rPr sz="1200" b="1" dirty="0">
                <a:latin typeface="Gill Sans"/>
                <a:cs typeface="Gill Sans"/>
              </a:rPr>
              <a:t>for</a:t>
            </a:r>
            <a:r>
              <a:rPr sz="1200" b="1" spc="-20" dirty="0">
                <a:latin typeface="Gill Sans"/>
                <a:cs typeface="Gill Sans"/>
              </a:rPr>
              <a:t> Rome</a:t>
            </a:r>
            <a:endParaRPr sz="1200">
              <a:latin typeface="Gill Sans"/>
              <a:cs typeface="Gill San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153537" y="2395537"/>
            <a:ext cx="520065" cy="283845"/>
            <a:chOff x="4153537" y="2395537"/>
            <a:chExt cx="520065" cy="283845"/>
          </a:xfrm>
        </p:grpSpPr>
        <p:sp>
          <p:nvSpPr>
            <p:cNvPr id="9" name="object 9"/>
            <p:cNvSpPr/>
            <p:nvPr/>
          </p:nvSpPr>
          <p:spPr>
            <a:xfrm>
              <a:off x="4158300" y="2400300"/>
              <a:ext cx="510540" cy="274320"/>
            </a:xfrm>
            <a:custGeom>
              <a:avLst/>
              <a:gdLst/>
              <a:ahLst/>
              <a:cxnLst/>
              <a:rect l="l" t="t" r="r" b="b"/>
              <a:pathLst>
                <a:path w="510539" h="274319">
                  <a:moveTo>
                    <a:pt x="373049" y="273899"/>
                  </a:moveTo>
                  <a:lnTo>
                    <a:pt x="373049" y="205424"/>
                  </a:lnTo>
                  <a:lnTo>
                    <a:pt x="0" y="205424"/>
                  </a:lnTo>
                  <a:lnTo>
                    <a:pt x="0" y="68474"/>
                  </a:lnTo>
                  <a:lnTo>
                    <a:pt x="373049" y="68474"/>
                  </a:lnTo>
                  <a:lnTo>
                    <a:pt x="373049" y="0"/>
                  </a:lnTo>
                  <a:lnTo>
                    <a:pt x="509999" y="136949"/>
                  </a:lnTo>
                  <a:lnTo>
                    <a:pt x="373049" y="2738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158300" y="2400300"/>
              <a:ext cx="510540" cy="274320"/>
            </a:xfrm>
            <a:custGeom>
              <a:avLst/>
              <a:gdLst/>
              <a:ahLst/>
              <a:cxnLst/>
              <a:rect l="l" t="t" r="r" b="b"/>
              <a:pathLst>
                <a:path w="510539" h="274319">
                  <a:moveTo>
                    <a:pt x="0" y="68474"/>
                  </a:moveTo>
                  <a:lnTo>
                    <a:pt x="373049" y="68474"/>
                  </a:lnTo>
                  <a:lnTo>
                    <a:pt x="373049" y="0"/>
                  </a:lnTo>
                  <a:lnTo>
                    <a:pt x="509999" y="136949"/>
                  </a:lnTo>
                  <a:lnTo>
                    <a:pt x="373049" y="273899"/>
                  </a:lnTo>
                  <a:lnTo>
                    <a:pt x="373049" y="205424"/>
                  </a:lnTo>
                  <a:lnTo>
                    <a:pt x="0" y="205424"/>
                  </a:lnTo>
                  <a:lnTo>
                    <a:pt x="0" y="6847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4846999" y="2266950"/>
            <a:ext cx="923925" cy="586105"/>
          </a:xfrm>
          <a:custGeom>
            <a:avLst/>
            <a:gdLst/>
            <a:ahLst/>
            <a:cxnLst/>
            <a:rect l="l" t="t" r="r" b="b"/>
            <a:pathLst>
              <a:path w="923925" h="586105">
                <a:moveTo>
                  <a:pt x="0" y="97601"/>
                </a:moveTo>
                <a:lnTo>
                  <a:pt x="7670" y="59610"/>
                </a:lnTo>
                <a:lnTo>
                  <a:pt x="28586" y="28586"/>
                </a:lnTo>
                <a:lnTo>
                  <a:pt x="59610" y="7670"/>
                </a:lnTo>
                <a:lnTo>
                  <a:pt x="97601" y="0"/>
                </a:lnTo>
                <a:lnTo>
                  <a:pt x="826097" y="0"/>
                </a:lnTo>
                <a:lnTo>
                  <a:pt x="880247" y="16398"/>
                </a:lnTo>
                <a:lnTo>
                  <a:pt x="907301" y="43452"/>
                </a:lnTo>
                <a:lnTo>
                  <a:pt x="923699" y="97601"/>
                </a:lnTo>
                <a:lnTo>
                  <a:pt x="923699" y="487997"/>
                </a:lnTo>
                <a:lnTo>
                  <a:pt x="916029" y="525989"/>
                </a:lnTo>
                <a:lnTo>
                  <a:pt x="895112" y="557013"/>
                </a:lnTo>
                <a:lnTo>
                  <a:pt x="864089" y="577929"/>
                </a:lnTo>
                <a:lnTo>
                  <a:pt x="826097" y="585599"/>
                </a:lnTo>
                <a:lnTo>
                  <a:pt x="97601" y="585599"/>
                </a:lnTo>
                <a:lnTo>
                  <a:pt x="59610" y="577929"/>
                </a:lnTo>
                <a:lnTo>
                  <a:pt x="28586" y="557013"/>
                </a:lnTo>
                <a:lnTo>
                  <a:pt x="7670" y="525989"/>
                </a:lnTo>
                <a:lnTo>
                  <a:pt x="0" y="487997"/>
                </a:lnTo>
                <a:lnTo>
                  <a:pt x="0" y="97601"/>
                </a:lnTo>
                <a:close/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050149" y="2369186"/>
            <a:ext cx="51689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0" spc="-25" dirty="0">
                <a:latin typeface="Gill Sans"/>
                <a:cs typeface="Gill Sans"/>
              </a:rPr>
              <a:t>LLM</a:t>
            </a:r>
            <a:endParaRPr sz="2200">
              <a:latin typeface="Gill Sans"/>
              <a:cs typeface="Gill San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020837" y="2418987"/>
            <a:ext cx="520065" cy="283845"/>
            <a:chOff x="6020837" y="2418987"/>
            <a:chExt cx="520065" cy="283845"/>
          </a:xfrm>
        </p:grpSpPr>
        <p:sp>
          <p:nvSpPr>
            <p:cNvPr id="12" name="object 12"/>
            <p:cNvSpPr/>
            <p:nvPr/>
          </p:nvSpPr>
          <p:spPr>
            <a:xfrm>
              <a:off x="6025600" y="2423749"/>
              <a:ext cx="510540" cy="274320"/>
            </a:xfrm>
            <a:custGeom>
              <a:avLst/>
              <a:gdLst/>
              <a:ahLst/>
              <a:cxnLst/>
              <a:rect l="l" t="t" r="r" b="b"/>
              <a:pathLst>
                <a:path w="510540" h="274319">
                  <a:moveTo>
                    <a:pt x="373049" y="273899"/>
                  </a:moveTo>
                  <a:lnTo>
                    <a:pt x="373049" y="205424"/>
                  </a:lnTo>
                  <a:lnTo>
                    <a:pt x="0" y="205424"/>
                  </a:lnTo>
                  <a:lnTo>
                    <a:pt x="0" y="68474"/>
                  </a:lnTo>
                  <a:lnTo>
                    <a:pt x="373049" y="68474"/>
                  </a:lnTo>
                  <a:lnTo>
                    <a:pt x="373049" y="0"/>
                  </a:lnTo>
                  <a:lnTo>
                    <a:pt x="509999" y="136949"/>
                  </a:lnTo>
                  <a:lnTo>
                    <a:pt x="373049" y="2738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025600" y="2423749"/>
              <a:ext cx="510540" cy="274320"/>
            </a:xfrm>
            <a:custGeom>
              <a:avLst/>
              <a:gdLst/>
              <a:ahLst/>
              <a:cxnLst/>
              <a:rect l="l" t="t" r="r" b="b"/>
              <a:pathLst>
                <a:path w="510540" h="274319">
                  <a:moveTo>
                    <a:pt x="0" y="68474"/>
                  </a:moveTo>
                  <a:lnTo>
                    <a:pt x="373049" y="68474"/>
                  </a:lnTo>
                  <a:lnTo>
                    <a:pt x="373049" y="0"/>
                  </a:lnTo>
                  <a:lnTo>
                    <a:pt x="509999" y="136949"/>
                  </a:lnTo>
                  <a:lnTo>
                    <a:pt x="373049" y="273899"/>
                  </a:lnTo>
                  <a:lnTo>
                    <a:pt x="373049" y="205424"/>
                  </a:lnTo>
                  <a:lnTo>
                    <a:pt x="0" y="205424"/>
                  </a:lnTo>
                  <a:lnTo>
                    <a:pt x="0" y="6847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787325" y="2350071"/>
            <a:ext cx="1940560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latin typeface="Roboto"/>
                <a:cs typeface="Roboto"/>
              </a:rPr>
              <a:t>Answer:</a:t>
            </a:r>
            <a:endParaRPr sz="1300">
              <a:latin typeface="Roboto"/>
              <a:cs typeface="Roboto"/>
            </a:endParaRPr>
          </a:p>
          <a:p>
            <a:pPr marL="12700" marR="5080">
              <a:lnSpc>
                <a:spcPct val="100000"/>
              </a:lnSpc>
            </a:pPr>
            <a:r>
              <a:rPr sz="1300" dirty="0">
                <a:latin typeface="Roboto"/>
                <a:cs typeface="Roboto"/>
              </a:rPr>
              <a:t>The</a:t>
            </a:r>
            <a:r>
              <a:rPr sz="1300" spc="-30" dirty="0">
                <a:latin typeface="Roboto"/>
                <a:cs typeface="Roboto"/>
              </a:rPr>
              <a:t> </a:t>
            </a:r>
            <a:r>
              <a:rPr sz="1300" dirty="0">
                <a:latin typeface="Roboto"/>
                <a:cs typeface="Roboto"/>
              </a:rPr>
              <a:t>board</a:t>
            </a:r>
            <a:r>
              <a:rPr sz="1300" spc="-35" dirty="0">
                <a:latin typeface="Roboto"/>
                <a:cs typeface="Roboto"/>
              </a:rPr>
              <a:t> </a:t>
            </a:r>
            <a:r>
              <a:rPr sz="1300" dirty="0">
                <a:latin typeface="Roboto"/>
                <a:cs typeface="Roboto"/>
              </a:rPr>
              <a:t>game</a:t>
            </a:r>
            <a:r>
              <a:rPr sz="1300" spc="-30" dirty="0">
                <a:latin typeface="Roboto"/>
                <a:cs typeface="Roboto"/>
              </a:rPr>
              <a:t> </a:t>
            </a:r>
            <a:r>
              <a:rPr sz="1300" dirty="0">
                <a:latin typeface="Roboto"/>
                <a:cs typeface="Roboto"/>
              </a:rPr>
              <a:t>that</a:t>
            </a:r>
            <a:r>
              <a:rPr sz="1300" spc="-30" dirty="0">
                <a:latin typeface="Roboto"/>
                <a:cs typeface="Roboto"/>
              </a:rPr>
              <a:t> </a:t>
            </a:r>
            <a:r>
              <a:rPr sz="1300" spc="-25" dirty="0">
                <a:latin typeface="Roboto"/>
                <a:cs typeface="Roboto"/>
              </a:rPr>
              <a:t>was </a:t>
            </a:r>
            <a:r>
              <a:rPr sz="1300" dirty="0">
                <a:latin typeface="Roboto"/>
                <a:cs typeface="Roboto"/>
              </a:rPr>
              <a:t>published</a:t>
            </a:r>
            <a:r>
              <a:rPr sz="1300" spc="-40" dirty="0">
                <a:latin typeface="Roboto"/>
                <a:cs typeface="Roboto"/>
              </a:rPr>
              <a:t> </a:t>
            </a:r>
            <a:r>
              <a:rPr sz="1300" dirty="0">
                <a:latin typeface="Roboto"/>
                <a:cs typeface="Roboto"/>
              </a:rPr>
              <a:t>most</a:t>
            </a:r>
            <a:r>
              <a:rPr sz="1300" spc="-40" dirty="0">
                <a:latin typeface="Roboto"/>
                <a:cs typeface="Roboto"/>
              </a:rPr>
              <a:t> </a:t>
            </a:r>
            <a:r>
              <a:rPr sz="1300" dirty="0">
                <a:latin typeface="Roboto"/>
                <a:cs typeface="Roboto"/>
              </a:rPr>
              <a:t>recently</a:t>
            </a:r>
            <a:r>
              <a:rPr sz="1300" spc="-35" dirty="0">
                <a:latin typeface="Roboto"/>
                <a:cs typeface="Roboto"/>
              </a:rPr>
              <a:t> </a:t>
            </a:r>
            <a:r>
              <a:rPr sz="1300" spc="-25" dirty="0">
                <a:latin typeface="Roboto"/>
                <a:cs typeface="Roboto"/>
              </a:rPr>
              <a:t>is </a:t>
            </a:r>
            <a:r>
              <a:rPr sz="1300" spc="-10" dirty="0">
                <a:latin typeface="Roboto"/>
                <a:cs typeface="Roboto"/>
              </a:rPr>
              <a:t>[Settlers</a:t>
            </a:r>
            <a:r>
              <a:rPr sz="1300" spc="-5" dirty="0">
                <a:latin typeface="Roboto"/>
                <a:cs typeface="Roboto"/>
              </a:rPr>
              <a:t> </a:t>
            </a:r>
            <a:r>
              <a:rPr sz="1300" dirty="0">
                <a:latin typeface="Roboto"/>
                <a:cs typeface="Roboto"/>
              </a:rPr>
              <a:t>of]</a:t>
            </a:r>
            <a:r>
              <a:rPr sz="1300" spc="-5" dirty="0">
                <a:latin typeface="Roboto"/>
                <a:cs typeface="Roboto"/>
              </a:rPr>
              <a:t> </a:t>
            </a:r>
            <a:r>
              <a:rPr sz="1300" spc="-10" dirty="0">
                <a:latin typeface="Roboto"/>
                <a:cs typeface="Roboto"/>
              </a:rPr>
              <a:t>Catan.</a:t>
            </a:r>
            <a:endParaRPr sz="1300">
              <a:latin typeface="Roboto"/>
              <a:cs typeface="Roboto"/>
            </a:endParaRPr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03150" y="2018825"/>
            <a:ext cx="484632" cy="484631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886788" y="2382568"/>
            <a:ext cx="1513840" cy="1435735"/>
            <a:chOff x="886788" y="2382568"/>
            <a:chExt cx="1513840" cy="1435735"/>
          </a:xfrm>
        </p:grpSpPr>
        <p:sp>
          <p:nvSpPr>
            <p:cNvPr id="20" name="object 20"/>
            <p:cNvSpPr/>
            <p:nvPr/>
          </p:nvSpPr>
          <p:spPr>
            <a:xfrm>
              <a:off x="891551" y="2387330"/>
              <a:ext cx="1504315" cy="1426210"/>
            </a:xfrm>
            <a:custGeom>
              <a:avLst/>
              <a:gdLst/>
              <a:ahLst/>
              <a:cxnLst/>
              <a:rect l="l" t="t" r="r" b="b"/>
              <a:pathLst>
                <a:path w="1504314" h="1426210">
                  <a:moveTo>
                    <a:pt x="1266595" y="1425599"/>
                  </a:moveTo>
                  <a:lnTo>
                    <a:pt x="0" y="1425599"/>
                  </a:lnTo>
                  <a:lnTo>
                    <a:pt x="0" y="0"/>
                  </a:lnTo>
                  <a:lnTo>
                    <a:pt x="1504199" y="0"/>
                  </a:lnTo>
                  <a:lnTo>
                    <a:pt x="1504199" y="1187995"/>
                  </a:lnTo>
                  <a:lnTo>
                    <a:pt x="1266595" y="1425599"/>
                  </a:lnTo>
                  <a:close/>
                </a:path>
              </a:pathLst>
            </a:custGeom>
            <a:solidFill>
              <a:srgbClr val="F1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158146" y="3575326"/>
              <a:ext cx="238125" cy="238125"/>
            </a:xfrm>
            <a:custGeom>
              <a:avLst/>
              <a:gdLst/>
              <a:ahLst/>
              <a:cxnLst/>
              <a:rect l="l" t="t" r="r" b="b"/>
              <a:pathLst>
                <a:path w="238125" h="238125">
                  <a:moveTo>
                    <a:pt x="0" y="237604"/>
                  </a:moveTo>
                  <a:lnTo>
                    <a:pt x="47520" y="47520"/>
                  </a:lnTo>
                  <a:lnTo>
                    <a:pt x="237604" y="0"/>
                  </a:lnTo>
                  <a:lnTo>
                    <a:pt x="0" y="237604"/>
                  </a:lnTo>
                  <a:close/>
                </a:path>
              </a:pathLst>
            </a:custGeom>
            <a:solidFill>
              <a:srgbClr val="C1AE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91551" y="2387330"/>
              <a:ext cx="1504315" cy="1426210"/>
            </a:xfrm>
            <a:custGeom>
              <a:avLst/>
              <a:gdLst/>
              <a:ahLst/>
              <a:cxnLst/>
              <a:rect l="l" t="t" r="r" b="b"/>
              <a:pathLst>
                <a:path w="1504314" h="1426210">
                  <a:moveTo>
                    <a:pt x="1266595" y="1425599"/>
                  </a:moveTo>
                  <a:lnTo>
                    <a:pt x="1314115" y="1235516"/>
                  </a:lnTo>
                  <a:lnTo>
                    <a:pt x="1504199" y="1187995"/>
                  </a:lnTo>
                  <a:lnTo>
                    <a:pt x="1266595" y="1425599"/>
                  </a:lnTo>
                  <a:lnTo>
                    <a:pt x="0" y="1425599"/>
                  </a:lnTo>
                  <a:lnTo>
                    <a:pt x="0" y="0"/>
                  </a:lnTo>
                  <a:lnTo>
                    <a:pt x="1504199" y="0"/>
                  </a:lnTo>
                  <a:lnTo>
                    <a:pt x="1504199" y="1187995"/>
                  </a:lnTo>
                </a:path>
              </a:pathLst>
            </a:custGeom>
            <a:ln w="9524">
              <a:solidFill>
                <a:srgbClr val="5700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33958" y="2402239"/>
            <a:ext cx="16516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spc="-30" baseline="20833" dirty="0">
                <a:latin typeface="Gill Sans"/>
                <a:cs typeface="Gill Sans"/>
              </a:rPr>
              <a:t>(bo</a:t>
            </a:r>
            <a:r>
              <a:rPr sz="1800" b="1" spc="-300" baseline="20833" dirty="0">
                <a:latin typeface="Gill Sans"/>
                <a:cs typeface="Gill Sans"/>
              </a:rPr>
              <a:t>a</a:t>
            </a:r>
            <a:r>
              <a:rPr sz="1200" b="1" spc="-695" dirty="0">
                <a:latin typeface="Gill Sans"/>
                <a:cs typeface="Gill Sans"/>
              </a:rPr>
              <a:t>T</a:t>
            </a:r>
            <a:r>
              <a:rPr sz="1800" b="1" spc="-44" baseline="20833" dirty="0">
                <a:latin typeface="Gill Sans"/>
                <a:cs typeface="Gill Sans"/>
              </a:rPr>
              <a:t>r</a:t>
            </a:r>
            <a:r>
              <a:rPr sz="1800" b="1" spc="-839" baseline="20833" dirty="0">
                <a:latin typeface="Gill Sans"/>
                <a:cs typeface="Gill Sans"/>
              </a:rPr>
              <a:t>d</a:t>
            </a:r>
            <a:r>
              <a:rPr sz="1200" b="1" spc="-20" dirty="0">
                <a:latin typeface="Gill Sans"/>
                <a:cs typeface="Gill Sans"/>
              </a:rPr>
              <a:t>h</a:t>
            </a:r>
            <a:r>
              <a:rPr sz="1200" b="1" spc="-520" dirty="0">
                <a:latin typeface="Gill Sans"/>
                <a:cs typeface="Gill Sans"/>
              </a:rPr>
              <a:t>e</a:t>
            </a:r>
            <a:r>
              <a:rPr sz="1800" b="1" spc="-22" baseline="20833" dirty="0">
                <a:latin typeface="Gill Sans"/>
                <a:cs typeface="Gill Sans"/>
              </a:rPr>
              <a:t>g</a:t>
            </a:r>
            <a:r>
              <a:rPr sz="1800" b="1" spc="-719" baseline="20833" dirty="0">
                <a:latin typeface="Gill Sans"/>
                <a:cs typeface="Gill Sans"/>
              </a:rPr>
              <a:t>a</a:t>
            </a:r>
            <a:r>
              <a:rPr sz="1200" b="1" spc="-409" dirty="0">
                <a:latin typeface="Gill Sans"/>
                <a:cs typeface="Gill Sans"/>
              </a:rPr>
              <a:t>K</a:t>
            </a:r>
            <a:r>
              <a:rPr sz="1800" b="1" spc="-1162" baseline="20833" dirty="0">
                <a:latin typeface="Gill Sans"/>
                <a:cs typeface="Gill Sans"/>
              </a:rPr>
              <a:t>m</a:t>
            </a:r>
            <a:r>
              <a:rPr sz="1200" b="1" spc="-15" dirty="0">
                <a:latin typeface="Gill Sans"/>
                <a:cs typeface="Gill Sans"/>
              </a:rPr>
              <a:t>i</a:t>
            </a:r>
            <a:r>
              <a:rPr sz="1200" b="1" spc="-290" dirty="0">
                <a:latin typeface="Gill Sans"/>
                <a:cs typeface="Gill Sans"/>
              </a:rPr>
              <a:t>d</a:t>
            </a:r>
            <a:r>
              <a:rPr sz="1800" b="1" spc="-615" baseline="20833" dirty="0">
                <a:latin typeface="Gill Sans"/>
                <a:cs typeface="Gill Sans"/>
              </a:rPr>
              <a:t>e</a:t>
            </a:r>
            <a:r>
              <a:rPr sz="1200" b="1" spc="-140" dirty="0">
                <a:latin typeface="Gill Sans"/>
                <a:cs typeface="Gill Sans"/>
              </a:rPr>
              <a:t>s</a:t>
            </a:r>
            <a:r>
              <a:rPr sz="1800" b="1" spc="-37" baseline="20833" dirty="0">
                <a:latin typeface="Gill Sans"/>
                <a:cs typeface="Gill Sans"/>
              </a:rPr>
              <a:t>)</a:t>
            </a:r>
            <a:r>
              <a:rPr sz="1200" b="1" spc="-380" dirty="0">
                <a:latin typeface="Gill Sans"/>
                <a:cs typeface="Gill Sans"/>
              </a:rPr>
              <a:t>o</a:t>
            </a:r>
            <a:r>
              <a:rPr sz="1800" b="0" spc="-1267" baseline="20833" dirty="0">
                <a:latin typeface="Gill Sans"/>
                <a:cs typeface="Gill Sans"/>
              </a:rPr>
              <a:t>—</a:t>
            </a:r>
            <a:r>
              <a:rPr sz="1200" b="1" dirty="0">
                <a:latin typeface="Gill Sans"/>
                <a:cs typeface="Gill Sans"/>
              </a:rPr>
              <a:t>f</a:t>
            </a:r>
            <a:r>
              <a:rPr sz="1200" b="1" spc="180" dirty="0">
                <a:latin typeface="Gill Sans"/>
                <a:cs typeface="Gill Sans"/>
              </a:rPr>
              <a:t> </a:t>
            </a:r>
            <a:r>
              <a:rPr sz="1200" b="1" spc="-10" dirty="0">
                <a:latin typeface="Gill Sans"/>
                <a:cs typeface="Gill Sans"/>
              </a:rPr>
              <a:t>Catan</a:t>
            </a:r>
            <a:endParaRPr sz="1200">
              <a:latin typeface="Gill Sans"/>
              <a:cs typeface="Gill San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33958" y="2524914"/>
            <a:ext cx="16719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b="0" spc="-10" dirty="0">
                <a:latin typeface="Gill Sans"/>
                <a:cs typeface="Gill Sans"/>
              </a:rPr>
              <a:t>Cata</a:t>
            </a:r>
            <a:r>
              <a:rPr sz="1200" b="0" spc="-555" dirty="0">
                <a:latin typeface="Gill Sans"/>
                <a:cs typeface="Gill Sans"/>
              </a:rPr>
              <a:t>n</a:t>
            </a:r>
            <a:r>
              <a:rPr sz="1800" b="0" spc="-502" baseline="-20833" dirty="0">
                <a:latin typeface="Gill Sans"/>
                <a:cs typeface="Gill Sans"/>
              </a:rPr>
              <a:t>—</a:t>
            </a:r>
            <a:r>
              <a:rPr sz="1200" b="0" spc="-250" dirty="0">
                <a:latin typeface="Gill Sans"/>
                <a:cs typeface="Gill Sans"/>
              </a:rPr>
              <a:t>H</a:t>
            </a:r>
            <a:r>
              <a:rPr sz="1800" b="0" spc="-375" baseline="-20833" dirty="0">
                <a:latin typeface="Gill Sans"/>
                <a:cs typeface="Gill Sans"/>
              </a:rPr>
              <a:t>T</a:t>
            </a:r>
            <a:r>
              <a:rPr sz="1200" b="0" spc="-250" dirty="0">
                <a:latin typeface="Gill Sans"/>
                <a:cs typeface="Gill Sans"/>
              </a:rPr>
              <a:t>is</a:t>
            </a:r>
            <a:r>
              <a:rPr sz="1800" b="0" spc="-375" baseline="-20833" dirty="0">
                <a:latin typeface="Gill Sans"/>
                <a:cs typeface="Gill Sans"/>
              </a:rPr>
              <a:t>h</a:t>
            </a:r>
            <a:r>
              <a:rPr sz="1200" b="0" spc="-250" dirty="0">
                <a:latin typeface="Gill Sans"/>
                <a:cs typeface="Gill Sans"/>
              </a:rPr>
              <a:t>t</a:t>
            </a:r>
            <a:r>
              <a:rPr sz="1800" b="0" spc="-375" baseline="-20833" dirty="0">
                <a:latin typeface="Gill Sans"/>
                <a:cs typeface="Gill Sans"/>
              </a:rPr>
              <a:t>e</a:t>
            </a:r>
            <a:r>
              <a:rPr sz="1200" b="0" spc="-250" dirty="0">
                <a:latin typeface="Gill Sans"/>
                <a:cs typeface="Gill Sans"/>
              </a:rPr>
              <a:t>or</a:t>
            </a:r>
            <a:r>
              <a:rPr sz="1800" b="0" spc="-375" baseline="-20833" dirty="0">
                <a:latin typeface="Gill Sans"/>
                <a:cs typeface="Gill Sans"/>
              </a:rPr>
              <a:t>K</a:t>
            </a:r>
            <a:r>
              <a:rPr sz="1200" b="0" spc="-250" dirty="0">
                <a:latin typeface="Gill Sans"/>
                <a:cs typeface="Gill Sans"/>
              </a:rPr>
              <a:t>ie</a:t>
            </a:r>
            <a:r>
              <a:rPr sz="1800" b="0" spc="-375" baseline="-20833" dirty="0">
                <a:latin typeface="Gill Sans"/>
                <a:cs typeface="Gill Sans"/>
              </a:rPr>
              <a:t>id</a:t>
            </a:r>
            <a:r>
              <a:rPr sz="1200" b="0" spc="-250" dirty="0">
                <a:latin typeface="Gill Sans"/>
                <a:cs typeface="Gill Sans"/>
              </a:rPr>
              <a:t>s</a:t>
            </a:r>
            <a:r>
              <a:rPr sz="1800" b="0" spc="-375" baseline="-20833" dirty="0">
                <a:latin typeface="Gill Sans"/>
                <a:cs typeface="Gill Sans"/>
              </a:rPr>
              <a:t>s</a:t>
            </a:r>
            <a:r>
              <a:rPr sz="1200" b="0" spc="-250" dirty="0">
                <a:latin typeface="Gill Sans"/>
                <a:cs typeface="Gill Sans"/>
              </a:rPr>
              <a:t>:</a:t>
            </a:r>
            <a:r>
              <a:rPr sz="1200" b="0" spc="229" dirty="0">
                <a:latin typeface="Gill Sans"/>
                <a:cs typeface="Gill Sans"/>
              </a:rPr>
              <a:t> </a:t>
            </a:r>
            <a:r>
              <a:rPr sz="1800" b="0" baseline="-20833" dirty="0">
                <a:latin typeface="Gill Sans"/>
                <a:cs typeface="Gill Sans"/>
              </a:rPr>
              <a:t>of</a:t>
            </a:r>
            <a:r>
              <a:rPr sz="1800" b="0" spc="67" baseline="-20833" dirty="0">
                <a:latin typeface="Gill Sans"/>
                <a:cs typeface="Gill Sans"/>
              </a:rPr>
              <a:t> </a:t>
            </a:r>
            <a:r>
              <a:rPr sz="1800" b="0" spc="-15" baseline="-20833" dirty="0">
                <a:latin typeface="Gill Sans"/>
                <a:cs typeface="Gill Sans"/>
              </a:rPr>
              <a:t>Catan</a:t>
            </a:r>
            <a:endParaRPr sz="1800" baseline="-20833">
              <a:latin typeface="Gill Sans"/>
              <a:cs typeface="Gill Sans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201627" y="2637993"/>
            <a:ext cx="1513840" cy="1435735"/>
            <a:chOff x="1201627" y="2637993"/>
            <a:chExt cx="1513840" cy="1435735"/>
          </a:xfrm>
        </p:grpSpPr>
        <p:sp>
          <p:nvSpPr>
            <p:cNvPr id="26" name="object 26"/>
            <p:cNvSpPr/>
            <p:nvPr/>
          </p:nvSpPr>
          <p:spPr>
            <a:xfrm>
              <a:off x="1206389" y="2642755"/>
              <a:ext cx="1504315" cy="1426210"/>
            </a:xfrm>
            <a:custGeom>
              <a:avLst/>
              <a:gdLst/>
              <a:ahLst/>
              <a:cxnLst/>
              <a:rect l="l" t="t" r="r" b="b"/>
              <a:pathLst>
                <a:path w="1504314" h="1426210">
                  <a:moveTo>
                    <a:pt x="1266595" y="1425599"/>
                  </a:moveTo>
                  <a:lnTo>
                    <a:pt x="0" y="1425599"/>
                  </a:lnTo>
                  <a:lnTo>
                    <a:pt x="0" y="0"/>
                  </a:lnTo>
                  <a:lnTo>
                    <a:pt x="1504199" y="0"/>
                  </a:lnTo>
                  <a:lnTo>
                    <a:pt x="1504199" y="1187995"/>
                  </a:lnTo>
                  <a:lnTo>
                    <a:pt x="1266595" y="1425599"/>
                  </a:lnTo>
                  <a:close/>
                </a:path>
              </a:pathLst>
            </a:custGeom>
            <a:solidFill>
              <a:srgbClr val="F1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472985" y="3830751"/>
              <a:ext cx="238125" cy="238125"/>
            </a:xfrm>
            <a:custGeom>
              <a:avLst/>
              <a:gdLst/>
              <a:ahLst/>
              <a:cxnLst/>
              <a:rect l="l" t="t" r="r" b="b"/>
              <a:pathLst>
                <a:path w="238125" h="238125">
                  <a:moveTo>
                    <a:pt x="0" y="237604"/>
                  </a:moveTo>
                  <a:lnTo>
                    <a:pt x="47520" y="47520"/>
                  </a:lnTo>
                  <a:lnTo>
                    <a:pt x="237604" y="0"/>
                  </a:lnTo>
                  <a:lnTo>
                    <a:pt x="0" y="237604"/>
                  </a:lnTo>
                  <a:close/>
                </a:path>
              </a:pathLst>
            </a:custGeom>
            <a:solidFill>
              <a:srgbClr val="C1AE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206389" y="2642755"/>
              <a:ext cx="1504315" cy="1426210"/>
            </a:xfrm>
            <a:custGeom>
              <a:avLst/>
              <a:gdLst/>
              <a:ahLst/>
              <a:cxnLst/>
              <a:rect l="l" t="t" r="r" b="b"/>
              <a:pathLst>
                <a:path w="1504314" h="1426210">
                  <a:moveTo>
                    <a:pt x="1266595" y="1425599"/>
                  </a:moveTo>
                  <a:lnTo>
                    <a:pt x="1314116" y="1235516"/>
                  </a:lnTo>
                  <a:lnTo>
                    <a:pt x="1504199" y="1187995"/>
                  </a:lnTo>
                  <a:lnTo>
                    <a:pt x="1266595" y="1425599"/>
                  </a:lnTo>
                  <a:lnTo>
                    <a:pt x="0" y="1425599"/>
                  </a:lnTo>
                  <a:lnTo>
                    <a:pt x="0" y="0"/>
                  </a:lnTo>
                  <a:lnTo>
                    <a:pt x="1504199" y="0"/>
                  </a:lnTo>
                  <a:lnTo>
                    <a:pt x="1504199" y="1187995"/>
                  </a:lnTo>
                </a:path>
              </a:pathLst>
            </a:custGeom>
            <a:ln w="9524">
              <a:solidFill>
                <a:srgbClr val="5700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33958" y="2707794"/>
            <a:ext cx="18148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b="0" dirty="0">
                <a:latin typeface="Gill Sans"/>
                <a:cs typeface="Gill Sans"/>
              </a:rPr>
              <a:t>Struggle</a:t>
            </a:r>
            <a:r>
              <a:rPr sz="1200" b="0" spc="15" dirty="0">
                <a:latin typeface="Gill Sans"/>
                <a:cs typeface="Gill Sans"/>
              </a:rPr>
              <a:t> </a:t>
            </a:r>
            <a:r>
              <a:rPr sz="1200" b="0" spc="-30" dirty="0">
                <a:latin typeface="Gill Sans"/>
                <a:cs typeface="Gill Sans"/>
              </a:rPr>
              <a:t>f</a:t>
            </a:r>
            <a:r>
              <a:rPr sz="1200" b="0" spc="-385" dirty="0">
                <a:latin typeface="Gill Sans"/>
                <a:cs typeface="Gill Sans"/>
              </a:rPr>
              <a:t>o</a:t>
            </a:r>
            <a:r>
              <a:rPr sz="1800" b="1" spc="-652" baseline="20833" dirty="0">
                <a:latin typeface="Gill Sans"/>
                <a:cs typeface="Gill Sans"/>
              </a:rPr>
              <a:t>P</a:t>
            </a:r>
            <a:r>
              <a:rPr sz="1200" b="0" spc="-70" dirty="0">
                <a:latin typeface="Gill Sans"/>
                <a:cs typeface="Gill Sans"/>
              </a:rPr>
              <a:t>r</a:t>
            </a:r>
            <a:r>
              <a:rPr sz="1800" b="1" spc="-22" baseline="20833" dirty="0">
                <a:latin typeface="Gill Sans"/>
                <a:cs typeface="Gill Sans"/>
              </a:rPr>
              <a:t>i</a:t>
            </a:r>
            <a:r>
              <a:rPr sz="1800" b="1" spc="-727" baseline="20833" dirty="0">
                <a:latin typeface="Gill Sans"/>
                <a:cs typeface="Gill Sans"/>
              </a:rPr>
              <a:t>r</a:t>
            </a:r>
            <a:r>
              <a:rPr sz="1200" b="0" spc="-270" dirty="0">
                <a:latin typeface="Gill Sans"/>
                <a:cs typeface="Gill Sans"/>
              </a:rPr>
              <a:t>R</a:t>
            </a:r>
            <a:r>
              <a:rPr sz="1800" b="1" spc="-607" baseline="20833" dirty="0">
                <a:latin typeface="Gill Sans"/>
                <a:cs typeface="Gill Sans"/>
              </a:rPr>
              <a:t>a</a:t>
            </a:r>
            <a:r>
              <a:rPr sz="1200" b="0" spc="-295" dirty="0">
                <a:latin typeface="Gill Sans"/>
                <a:cs typeface="Gill Sans"/>
              </a:rPr>
              <a:t>o</a:t>
            </a:r>
            <a:r>
              <a:rPr sz="1800" b="1" spc="-337" baseline="20833" dirty="0">
                <a:latin typeface="Gill Sans"/>
                <a:cs typeface="Gill Sans"/>
              </a:rPr>
              <a:t>t</a:t>
            </a:r>
            <a:r>
              <a:rPr sz="1200" b="0" spc="-730" dirty="0">
                <a:latin typeface="Gill Sans"/>
                <a:cs typeface="Gill Sans"/>
              </a:rPr>
              <a:t>m</a:t>
            </a:r>
            <a:r>
              <a:rPr sz="1800" b="1" spc="-30" baseline="20833" dirty="0">
                <a:latin typeface="Gill Sans"/>
                <a:cs typeface="Gill Sans"/>
              </a:rPr>
              <a:t>e</a:t>
            </a:r>
            <a:r>
              <a:rPr sz="1800" b="1" spc="-419" baseline="20833" dirty="0">
                <a:latin typeface="Gill Sans"/>
                <a:cs typeface="Gill Sans"/>
              </a:rPr>
              <a:t>’</a:t>
            </a:r>
            <a:r>
              <a:rPr sz="1200" b="0" spc="-420" dirty="0">
                <a:latin typeface="Gill Sans"/>
                <a:cs typeface="Gill Sans"/>
              </a:rPr>
              <a:t>e</a:t>
            </a:r>
            <a:r>
              <a:rPr sz="1800" b="1" spc="-15" baseline="20833" dirty="0">
                <a:latin typeface="Gill Sans"/>
                <a:cs typeface="Gill Sans"/>
              </a:rPr>
              <a:t>s</a:t>
            </a:r>
            <a:r>
              <a:rPr sz="1800" b="1" spc="-150" baseline="20833" dirty="0">
                <a:latin typeface="Gill Sans"/>
                <a:cs typeface="Gill Sans"/>
              </a:rPr>
              <a:t> </a:t>
            </a:r>
            <a:r>
              <a:rPr sz="1200" b="0" spc="-165" dirty="0">
                <a:latin typeface="Gill Sans"/>
                <a:cs typeface="Gill Sans"/>
              </a:rPr>
              <a:t>i</a:t>
            </a:r>
            <a:r>
              <a:rPr sz="1800" b="1" spc="-1170" baseline="20833" dirty="0">
                <a:latin typeface="Gill Sans"/>
                <a:cs typeface="Gill Sans"/>
              </a:rPr>
              <a:t>C</a:t>
            </a:r>
            <a:r>
              <a:rPr sz="1200" b="0" spc="-10" dirty="0">
                <a:latin typeface="Gill Sans"/>
                <a:cs typeface="Gill Sans"/>
              </a:rPr>
              <a:t>s</a:t>
            </a:r>
            <a:r>
              <a:rPr sz="1200" b="0" spc="-5" dirty="0">
                <a:latin typeface="Gill Sans"/>
                <a:cs typeface="Gill Sans"/>
              </a:rPr>
              <a:t> </a:t>
            </a:r>
            <a:r>
              <a:rPr sz="1800" b="1" spc="-1050" baseline="20833" dirty="0">
                <a:latin typeface="Gill Sans"/>
                <a:cs typeface="Gill Sans"/>
              </a:rPr>
              <a:t>o</a:t>
            </a:r>
            <a:r>
              <a:rPr sz="1200" b="0" spc="-5" dirty="0">
                <a:latin typeface="Gill Sans"/>
                <a:cs typeface="Gill Sans"/>
              </a:rPr>
              <a:t>a</a:t>
            </a:r>
            <a:r>
              <a:rPr sz="1200" b="0" spc="-195" dirty="0">
                <a:latin typeface="Gill Sans"/>
                <a:cs typeface="Gill Sans"/>
              </a:rPr>
              <a:t> </a:t>
            </a:r>
            <a:r>
              <a:rPr sz="1800" b="1" baseline="20833" dirty="0">
                <a:latin typeface="Gill Sans"/>
                <a:cs typeface="Gill Sans"/>
              </a:rPr>
              <a:t>ve</a:t>
            </a:r>
            <a:r>
              <a:rPr sz="1800" b="1" spc="44" baseline="20833" dirty="0">
                <a:latin typeface="Gill Sans"/>
                <a:cs typeface="Gill Sans"/>
              </a:rPr>
              <a:t> </a:t>
            </a:r>
            <a:r>
              <a:rPr sz="1800" b="0" spc="-75" baseline="20833" dirty="0">
                <a:latin typeface="Gill Sans"/>
                <a:cs typeface="Gill Sans"/>
              </a:rPr>
              <a:t>—</a:t>
            </a:r>
            <a:endParaRPr sz="1800" baseline="20833">
              <a:latin typeface="Gill Sans"/>
              <a:cs typeface="Gill San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29785" y="2834389"/>
            <a:ext cx="14408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0" baseline="23148" dirty="0">
                <a:latin typeface="Gill Sans"/>
                <a:cs typeface="Gill Sans"/>
              </a:rPr>
              <a:t>is</a:t>
            </a:r>
            <a:r>
              <a:rPr sz="1800" b="0" spc="30" baseline="23148" dirty="0">
                <a:latin typeface="Gill Sans"/>
                <a:cs typeface="Gill Sans"/>
              </a:rPr>
              <a:t> </a:t>
            </a:r>
            <a:r>
              <a:rPr sz="1800" b="0" baseline="23148" dirty="0">
                <a:latin typeface="Gill Sans"/>
                <a:cs typeface="Gill Sans"/>
              </a:rPr>
              <a:t>a</a:t>
            </a:r>
            <a:r>
              <a:rPr sz="1800" b="0" spc="30" baseline="23148" dirty="0">
                <a:latin typeface="Gill Sans"/>
                <a:cs typeface="Gill Sans"/>
              </a:rPr>
              <a:t> </a:t>
            </a:r>
            <a:r>
              <a:rPr sz="1800" b="0" spc="-480" baseline="23148" dirty="0">
                <a:latin typeface="Gill Sans"/>
                <a:cs typeface="Gill Sans"/>
              </a:rPr>
              <a:t>G</a:t>
            </a:r>
            <a:r>
              <a:rPr sz="1200" b="0" spc="-310" dirty="0">
                <a:latin typeface="Gill Sans"/>
                <a:cs typeface="Gill Sans"/>
              </a:rPr>
              <a:t>P</a:t>
            </a:r>
            <a:r>
              <a:rPr sz="1800" b="0" spc="-434" baseline="23148" dirty="0">
                <a:latin typeface="Gill Sans"/>
                <a:cs typeface="Gill Sans"/>
              </a:rPr>
              <a:t>e</a:t>
            </a:r>
            <a:r>
              <a:rPr sz="1200" b="0" spc="-10" dirty="0">
                <a:latin typeface="Gill Sans"/>
                <a:cs typeface="Gill Sans"/>
              </a:rPr>
              <a:t>ir</a:t>
            </a:r>
            <a:r>
              <a:rPr sz="1200" b="0" spc="-515" dirty="0">
                <a:latin typeface="Gill Sans"/>
                <a:cs typeface="Gill Sans"/>
              </a:rPr>
              <a:t>a</a:t>
            </a:r>
            <a:r>
              <a:rPr sz="1800" b="0" spc="-652" baseline="23148" dirty="0">
                <a:latin typeface="Gill Sans"/>
                <a:cs typeface="Gill Sans"/>
              </a:rPr>
              <a:t>m</a:t>
            </a:r>
            <a:r>
              <a:rPr sz="1200" b="0" spc="-15" dirty="0">
                <a:latin typeface="Gill Sans"/>
                <a:cs typeface="Gill Sans"/>
              </a:rPr>
              <a:t>t</a:t>
            </a:r>
            <a:r>
              <a:rPr sz="1200" b="0" spc="-565" dirty="0">
                <a:latin typeface="Gill Sans"/>
                <a:cs typeface="Gill Sans"/>
              </a:rPr>
              <a:t>e</a:t>
            </a:r>
            <a:r>
              <a:rPr sz="1800" b="0" spc="-7" baseline="23148" dirty="0">
                <a:latin typeface="Gill Sans"/>
                <a:cs typeface="Gill Sans"/>
              </a:rPr>
              <a:t>a</a:t>
            </a:r>
            <a:r>
              <a:rPr sz="1800" b="0" spc="-862" baseline="23148" dirty="0">
                <a:latin typeface="Gill Sans"/>
                <a:cs typeface="Gill Sans"/>
              </a:rPr>
              <a:t>n</a:t>
            </a:r>
            <a:r>
              <a:rPr sz="1200" b="0" spc="-105" dirty="0">
                <a:latin typeface="Gill Sans"/>
                <a:cs typeface="Gill Sans"/>
              </a:rPr>
              <a:t>’</a:t>
            </a:r>
            <a:r>
              <a:rPr sz="1200" b="0" spc="-5" dirty="0">
                <a:latin typeface="Gill Sans"/>
                <a:cs typeface="Gill Sans"/>
              </a:rPr>
              <a:t>s</a:t>
            </a:r>
            <a:r>
              <a:rPr sz="1200" b="0" spc="-40" dirty="0">
                <a:latin typeface="Gill Sans"/>
                <a:cs typeface="Gill Sans"/>
              </a:rPr>
              <a:t> </a:t>
            </a:r>
            <a:r>
              <a:rPr sz="1800" b="0" spc="-825" baseline="23148" dirty="0">
                <a:latin typeface="Gill Sans"/>
                <a:cs typeface="Gill Sans"/>
              </a:rPr>
              <a:t>b</a:t>
            </a:r>
            <a:r>
              <a:rPr sz="1200" b="0" spc="-330" dirty="0">
                <a:latin typeface="Gill Sans"/>
                <a:cs typeface="Gill Sans"/>
              </a:rPr>
              <a:t>C</a:t>
            </a:r>
            <a:r>
              <a:rPr sz="1800" b="0" spc="-555" baseline="23148" dirty="0">
                <a:latin typeface="Gill Sans"/>
                <a:cs typeface="Gill Sans"/>
              </a:rPr>
              <a:t>o</a:t>
            </a:r>
            <a:r>
              <a:rPr sz="1200" b="0" spc="-330" dirty="0">
                <a:latin typeface="Gill Sans"/>
                <a:cs typeface="Gill Sans"/>
              </a:rPr>
              <a:t>o</a:t>
            </a:r>
            <a:r>
              <a:rPr sz="1800" b="0" spc="-345" baseline="23148" dirty="0">
                <a:latin typeface="Gill Sans"/>
                <a:cs typeface="Gill Sans"/>
              </a:rPr>
              <a:t>a</a:t>
            </a:r>
            <a:r>
              <a:rPr sz="1200" b="0" spc="-330" dirty="0">
                <a:latin typeface="Gill Sans"/>
                <a:cs typeface="Gill Sans"/>
              </a:rPr>
              <a:t>v</a:t>
            </a:r>
            <a:r>
              <a:rPr sz="1800" b="0" spc="-300" baseline="23148" dirty="0">
                <a:latin typeface="Gill Sans"/>
                <a:cs typeface="Gill Sans"/>
              </a:rPr>
              <a:t>r</a:t>
            </a:r>
            <a:r>
              <a:rPr sz="1200" b="0" spc="-425" dirty="0">
                <a:latin typeface="Gill Sans"/>
                <a:cs typeface="Gill Sans"/>
              </a:rPr>
              <a:t>e</a:t>
            </a:r>
            <a:r>
              <a:rPr sz="1800" b="0" spc="-15" baseline="23148" dirty="0">
                <a:latin typeface="Gill Sans"/>
                <a:cs typeface="Gill Sans"/>
              </a:rPr>
              <a:t>d</a:t>
            </a:r>
            <a:r>
              <a:rPr sz="1800" b="0" spc="-292" baseline="23148" dirty="0">
                <a:latin typeface="Gill Sans"/>
                <a:cs typeface="Gill Sans"/>
              </a:rPr>
              <a:t> </a:t>
            </a:r>
            <a:r>
              <a:rPr sz="1200" b="0" dirty="0">
                <a:latin typeface="Gill Sans"/>
                <a:cs typeface="Gill Sans"/>
              </a:rPr>
              <a:t>is</a:t>
            </a:r>
            <a:r>
              <a:rPr sz="1200" b="0" spc="20" dirty="0">
                <a:latin typeface="Gill Sans"/>
                <a:cs typeface="Gill Sans"/>
              </a:rPr>
              <a:t> </a:t>
            </a:r>
            <a:r>
              <a:rPr sz="1200" b="0" spc="-50" dirty="0">
                <a:latin typeface="Gill Sans"/>
                <a:cs typeface="Gill Sans"/>
              </a:rPr>
              <a:t>a</a:t>
            </a:r>
            <a:endParaRPr sz="1200">
              <a:latin typeface="Gill Sans"/>
              <a:cs typeface="Gill Sans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476612" y="2892362"/>
            <a:ext cx="1513840" cy="1553845"/>
            <a:chOff x="1476612" y="2892362"/>
            <a:chExt cx="1513840" cy="1553845"/>
          </a:xfrm>
        </p:grpSpPr>
        <p:sp>
          <p:nvSpPr>
            <p:cNvPr id="32" name="object 32"/>
            <p:cNvSpPr/>
            <p:nvPr/>
          </p:nvSpPr>
          <p:spPr>
            <a:xfrm>
              <a:off x="1481374" y="2897124"/>
              <a:ext cx="1504315" cy="1544320"/>
            </a:xfrm>
            <a:custGeom>
              <a:avLst/>
              <a:gdLst/>
              <a:ahLst/>
              <a:cxnLst/>
              <a:rect l="l" t="t" r="r" b="b"/>
              <a:pathLst>
                <a:path w="1504314" h="1544320">
                  <a:moveTo>
                    <a:pt x="1253494" y="1543799"/>
                  </a:moveTo>
                  <a:lnTo>
                    <a:pt x="0" y="1543799"/>
                  </a:lnTo>
                  <a:lnTo>
                    <a:pt x="0" y="0"/>
                  </a:lnTo>
                  <a:lnTo>
                    <a:pt x="1504199" y="0"/>
                  </a:lnTo>
                  <a:lnTo>
                    <a:pt x="1504199" y="1293094"/>
                  </a:lnTo>
                  <a:lnTo>
                    <a:pt x="1253494" y="1543799"/>
                  </a:lnTo>
                  <a:close/>
                </a:path>
              </a:pathLst>
            </a:custGeom>
            <a:solidFill>
              <a:srgbClr val="F1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734869" y="4190219"/>
              <a:ext cx="250825" cy="250825"/>
            </a:xfrm>
            <a:custGeom>
              <a:avLst/>
              <a:gdLst/>
              <a:ahLst/>
              <a:cxnLst/>
              <a:rect l="l" t="t" r="r" b="b"/>
              <a:pathLst>
                <a:path w="250825" h="250825">
                  <a:moveTo>
                    <a:pt x="0" y="250704"/>
                  </a:moveTo>
                  <a:lnTo>
                    <a:pt x="50140" y="50140"/>
                  </a:lnTo>
                  <a:lnTo>
                    <a:pt x="250704" y="0"/>
                  </a:lnTo>
                  <a:lnTo>
                    <a:pt x="0" y="250704"/>
                  </a:lnTo>
                  <a:close/>
                </a:path>
              </a:pathLst>
            </a:custGeom>
            <a:solidFill>
              <a:srgbClr val="C1AE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481374" y="2897124"/>
              <a:ext cx="1504315" cy="1544320"/>
            </a:xfrm>
            <a:custGeom>
              <a:avLst/>
              <a:gdLst/>
              <a:ahLst/>
              <a:cxnLst/>
              <a:rect l="l" t="t" r="r" b="b"/>
              <a:pathLst>
                <a:path w="1504314" h="1544320">
                  <a:moveTo>
                    <a:pt x="1253494" y="1543799"/>
                  </a:moveTo>
                  <a:lnTo>
                    <a:pt x="1303635" y="1343235"/>
                  </a:lnTo>
                  <a:lnTo>
                    <a:pt x="1504199" y="1293094"/>
                  </a:lnTo>
                  <a:lnTo>
                    <a:pt x="1253494" y="1543799"/>
                  </a:lnTo>
                  <a:lnTo>
                    <a:pt x="0" y="1543799"/>
                  </a:lnTo>
                  <a:lnTo>
                    <a:pt x="0" y="0"/>
                  </a:lnTo>
                  <a:lnTo>
                    <a:pt x="1504199" y="0"/>
                  </a:lnTo>
                  <a:lnTo>
                    <a:pt x="1504199" y="1293094"/>
                  </a:lnTo>
                </a:path>
              </a:pathLst>
            </a:custGeom>
            <a:ln w="9524">
              <a:solidFill>
                <a:srgbClr val="5700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33958" y="2890674"/>
            <a:ext cx="20580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b="0" spc="-10" dirty="0">
                <a:latin typeface="Gill Sans"/>
                <a:cs typeface="Gill Sans"/>
              </a:rPr>
              <a:t>200</a:t>
            </a:r>
            <a:r>
              <a:rPr sz="1200" b="0" spc="-85" dirty="0">
                <a:latin typeface="Gill Sans"/>
                <a:cs typeface="Gill Sans"/>
              </a:rPr>
              <a:t>6</a:t>
            </a:r>
            <a:r>
              <a:rPr sz="1800" b="0" spc="-187" baseline="-20833" dirty="0">
                <a:latin typeface="Gill Sans"/>
                <a:cs typeface="Gill Sans"/>
              </a:rPr>
              <a:t>g</a:t>
            </a:r>
            <a:r>
              <a:rPr sz="1200" b="0" spc="-790" dirty="0">
                <a:latin typeface="Gill Sans"/>
                <a:cs typeface="Gill Sans"/>
              </a:rPr>
              <a:t>G</a:t>
            </a:r>
            <a:r>
              <a:rPr sz="1800" b="0" spc="-15" baseline="-20833" dirty="0">
                <a:latin typeface="Gill Sans"/>
                <a:cs typeface="Gill Sans"/>
              </a:rPr>
              <a:t>a</a:t>
            </a:r>
            <a:r>
              <a:rPr sz="1800" b="0" spc="-1005" baseline="-20833" dirty="0">
                <a:latin typeface="Gill Sans"/>
                <a:cs typeface="Gill Sans"/>
              </a:rPr>
              <a:t>m</a:t>
            </a:r>
            <a:r>
              <a:rPr sz="1200" b="0" spc="-10" dirty="0">
                <a:latin typeface="Gill Sans"/>
                <a:cs typeface="Gill Sans"/>
              </a:rPr>
              <a:t>e</a:t>
            </a:r>
            <a:r>
              <a:rPr sz="1200" b="0" spc="-400" dirty="0">
                <a:latin typeface="Gill Sans"/>
                <a:cs typeface="Gill Sans"/>
              </a:rPr>
              <a:t>r</a:t>
            </a:r>
            <a:r>
              <a:rPr sz="1800" b="0" spc="-300" baseline="-20833" dirty="0">
                <a:latin typeface="Gill Sans"/>
                <a:cs typeface="Gill Sans"/>
              </a:rPr>
              <a:t>e</a:t>
            </a:r>
            <a:r>
              <a:rPr sz="1200" b="0" spc="-420" dirty="0">
                <a:latin typeface="Gill Sans"/>
                <a:cs typeface="Gill Sans"/>
              </a:rPr>
              <a:t>m</a:t>
            </a:r>
            <a:r>
              <a:rPr sz="1800" b="0" spc="-330" baseline="-20833" dirty="0">
                <a:latin typeface="Gill Sans"/>
                <a:cs typeface="Gill Sans"/>
              </a:rPr>
              <a:t>d</a:t>
            </a:r>
            <a:r>
              <a:rPr sz="1200" b="0" spc="-330" dirty="0">
                <a:latin typeface="Gill Sans"/>
                <a:cs typeface="Gill Sans"/>
              </a:rPr>
              <a:t>a</a:t>
            </a:r>
            <a:r>
              <a:rPr sz="1800" b="0" spc="-419" baseline="-20833" dirty="0">
                <a:latin typeface="Gill Sans"/>
                <a:cs typeface="Gill Sans"/>
              </a:rPr>
              <a:t>e</a:t>
            </a:r>
            <a:r>
              <a:rPr sz="1200" b="0" spc="-350" dirty="0">
                <a:latin typeface="Gill Sans"/>
                <a:cs typeface="Gill Sans"/>
              </a:rPr>
              <a:t>n</a:t>
            </a:r>
            <a:r>
              <a:rPr sz="1800" b="0" spc="-209" baseline="-20833" dirty="0">
                <a:latin typeface="Gill Sans"/>
                <a:cs typeface="Gill Sans"/>
              </a:rPr>
              <a:t>s</a:t>
            </a:r>
            <a:r>
              <a:rPr sz="1200" b="0" spc="-275" dirty="0">
                <a:latin typeface="Gill Sans"/>
                <a:cs typeface="Gill Sans"/>
              </a:rPr>
              <a:t>-</a:t>
            </a:r>
            <a:r>
              <a:rPr sz="1800" b="0" spc="-15" baseline="-20833" dirty="0">
                <a:latin typeface="Gill Sans"/>
                <a:cs typeface="Gill Sans"/>
              </a:rPr>
              <a:t>i</a:t>
            </a:r>
            <a:r>
              <a:rPr sz="1800" b="0" spc="-787" baseline="-20833" dirty="0">
                <a:latin typeface="Gill Sans"/>
                <a:cs typeface="Gill Sans"/>
              </a:rPr>
              <a:t>g</a:t>
            </a:r>
            <a:r>
              <a:rPr sz="1200" b="0" spc="-345" dirty="0">
                <a:latin typeface="Gill Sans"/>
                <a:cs typeface="Gill Sans"/>
              </a:rPr>
              <a:t>s</a:t>
            </a:r>
            <a:r>
              <a:rPr sz="1800" b="1" spc="-892" baseline="-11574" dirty="0">
                <a:latin typeface="Gill Sans"/>
                <a:cs typeface="Gill Sans"/>
              </a:rPr>
              <a:t>C</a:t>
            </a:r>
            <a:r>
              <a:rPr sz="1200" b="0" spc="-375" dirty="0">
                <a:latin typeface="Gill Sans"/>
                <a:cs typeface="Gill Sans"/>
              </a:rPr>
              <a:t>t</a:t>
            </a:r>
            <a:r>
              <a:rPr sz="1800" b="0" spc="-382" baseline="-20833" dirty="0">
                <a:latin typeface="Gill Sans"/>
                <a:cs typeface="Gill Sans"/>
              </a:rPr>
              <a:t>n</a:t>
            </a:r>
            <a:r>
              <a:rPr sz="1200" b="0" spc="-340" dirty="0">
                <a:latin typeface="Gill Sans"/>
                <a:cs typeface="Gill Sans"/>
              </a:rPr>
              <a:t>y</a:t>
            </a:r>
            <a:r>
              <a:rPr sz="1800" b="1" spc="-900" baseline="-11574" dirty="0">
                <a:latin typeface="Gill Sans"/>
                <a:cs typeface="Gill Sans"/>
              </a:rPr>
              <a:t>a</a:t>
            </a:r>
            <a:r>
              <a:rPr sz="1800" b="0" spc="-465" baseline="-20833" dirty="0">
                <a:latin typeface="Gill Sans"/>
                <a:cs typeface="Gill Sans"/>
              </a:rPr>
              <a:t>e</a:t>
            </a:r>
            <a:r>
              <a:rPr sz="1200" b="0" spc="-5" dirty="0">
                <a:latin typeface="Gill Sans"/>
                <a:cs typeface="Gill Sans"/>
              </a:rPr>
              <a:t>l</a:t>
            </a:r>
            <a:r>
              <a:rPr sz="1200" b="0" spc="-560" dirty="0">
                <a:latin typeface="Gill Sans"/>
                <a:cs typeface="Gill Sans"/>
              </a:rPr>
              <a:t>e</a:t>
            </a:r>
            <a:r>
              <a:rPr sz="1800" b="0" spc="-930" baseline="-20833" dirty="0">
                <a:latin typeface="Gill Sans"/>
                <a:cs typeface="Gill Sans"/>
              </a:rPr>
              <a:t>d</a:t>
            </a:r>
            <a:r>
              <a:rPr sz="1800" b="1" spc="-22" baseline="-11574" dirty="0">
                <a:latin typeface="Gill Sans"/>
                <a:cs typeface="Gill Sans"/>
              </a:rPr>
              <a:t>t</a:t>
            </a:r>
            <a:r>
              <a:rPr sz="1800" b="1" spc="-300" baseline="-11574" dirty="0">
                <a:latin typeface="Gill Sans"/>
                <a:cs typeface="Gill Sans"/>
              </a:rPr>
              <a:t>a</a:t>
            </a:r>
            <a:r>
              <a:rPr sz="1800" b="0" spc="-187" baseline="-20833" dirty="0">
                <a:latin typeface="Gill Sans"/>
                <a:cs typeface="Gill Sans"/>
              </a:rPr>
              <a:t>f</a:t>
            </a:r>
            <a:r>
              <a:rPr sz="1800" b="1" spc="-922" baseline="-11574" dirty="0">
                <a:latin typeface="Gill Sans"/>
                <a:cs typeface="Gill Sans"/>
              </a:rPr>
              <a:t>n</a:t>
            </a:r>
            <a:r>
              <a:rPr sz="1800" b="0" spc="-120" baseline="-20833" dirty="0">
                <a:latin typeface="Gill Sans"/>
                <a:cs typeface="Gill Sans"/>
              </a:rPr>
              <a:t>o</a:t>
            </a:r>
            <a:r>
              <a:rPr sz="1800" b="1" spc="-397" baseline="-11574" dirty="0">
                <a:latin typeface="Gill Sans"/>
                <a:cs typeface="Gill Sans"/>
              </a:rPr>
              <a:t>:</a:t>
            </a:r>
            <a:r>
              <a:rPr sz="1800" b="0" spc="-22" baseline="-20833" dirty="0">
                <a:latin typeface="Gill Sans"/>
                <a:cs typeface="Gill Sans"/>
              </a:rPr>
              <a:t>r</a:t>
            </a:r>
            <a:r>
              <a:rPr sz="1800" b="1" spc="-22" baseline="-11574" dirty="0">
                <a:latin typeface="Gill Sans"/>
                <a:cs typeface="Gill Sans"/>
              </a:rPr>
              <a:t>Citie</a:t>
            </a:r>
            <a:r>
              <a:rPr sz="1800" b="1" spc="-7" baseline="-11574" dirty="0">
                <a:latin typeface="Gill Sans"/>
                <a:cs typeface="Gill Sans"/>
              </a:rPr>
              <a:t>s</a:t>
            </a:r>
            <a:r>
              <a:rPr sz="1800" b="1" spc="427" baseline="-11574" dirty="0">
                <a:latin typeface="Gill Sans"/>
                <a:cs typeface="Gill Sans"/>
              </a:rPr>
              <a:t> </a:t>
            </a:r>
            <a:r>
              <a:rPr sz="1800" b="1" spc="-75" baseline="-11574" dirty="0">
                <a:latin typeface="Gill Sans"/>
                <a:cs typeface="Gill Sans"/>
              </a:rPr>
              <a:t>&amp;</a:t>
            </a:r>
            <a:endParaRPr sz="1800" baseline="-11574">
              <a:latin typeface="Gill Sans"/>
              <a:cs typeface="Gill San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33958" y="3017270"/>
            <a:ext cx="21672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0" baseline="-20833" dirty="0">
                <a:latin typeface="Gill Sans"/>
                <a:cs typeface="Gill Sans"/>
              </a:rPr>
              <a:t>board</a:t>
            </a:r>
            <a:r>
              <a:rPr sz="1800" b="0" spc="-75" baseline="-20833" dirty="0">
                <a:latin typeface="Gill Sans"/>
                <a:cs typeface="Gill Sans"/>
              </a:rPr>
              <a:t> </a:t>
            </a:r>
            <a:r>
              <a:rPr sz="1800" b="0" baseline="-20833" dirty="0">
                <a:latin typeface="Gill Sans"/>
                <a:cs typeface="Gill Sans"/>
              </a:rPr>
              <a:t>ga</a:t>
            </a:r>
            <a:r>
              <a:rPr sz="1800" b="0" spc="-480" baseline="-20833" dirty="0">
                <a:latin typeface="Gill Sans"/>
                <a:cs typeface="Gill Sans"/>
              </a:rPr>
              <a:t>m</a:t>
            </a:r>
            <a:r>
              <a:rPr sz="1200" b="0" spc="-285" dirty="0">
                <a:latin typeface="Gill Sans"/>
                <a:cs typeface="Gill Sans"/>
              </a:rPr>
              <a:t>b</a:t>
            </a:r>
            <a:r>
              <a:rPr sz="1800" b="0" spc="-450" baseline="-20833" dirty="0">
                <a:latin typeface="Gill Sans"/>
                <a:cs typeface="Gill Sans"/>
              </a:rPr>
              <a:t>e</a:t>
            </a:r>
            <a:r>
              <a:rPr sz="1200" b="0" spc="-45" dirty="0">
                <a:latin typeface="Gill Sans"/>
                <a:cs typeface="Gill Sans"/>
              </a:rPr>
              <a:t>o</a:t>
            </a:r>
            <a:r>
              <a:rPr sz="1800" b="0" spc="-847" baseline="-20833" dirty="0">
                <a:latin typeface="Gill Sans"/>
                <a:cs typeface="Gill Sans"/>
              </a:rPr>
              <a:t>b</a:t>
            </a:r>
            <a:r>
              <a:rPr sz="1200" b="0" spc="-10" dirty="0">
                <a:latin typeface="Gill Sans"/>
                <a:cs typeface="Gill Sans"/>
              </a:rPr>
              <a:t>a</a:t>
            </a:r>
            <a:r>
              <a:rPr sz="1200" b="0" spc="-420" dirty="0">
                <a:latin typeface="Gill Sans"/>
                <a:cs typeface="Gill Sans"/>
              </a:rPr>
              <a:t>r</a:t>
            </a:r>
            <a:r>
              <a:rPr sz="1800" b="0" spc="-172" baseline="-20833" dirty="0">
                <a:latin typeface="Gill Sans"/>
                <a:cs typeface="Gill Sans"/>
              </a:rPr>
              <a:t>a</a:t>
            </a:r>
            <a:r>
              <a:rPr sz="1200" b="0" spc="-515" dirty="0">
                <a:latin typeface="Gill Sans"/>
                <a:cs typeface="Gill Sans"/>
              </a:rPr>
              <a:t>d</a:t>
            </a:r>
            <a:r>
              <a:rPr sz="1800" b="0" spc="-569" baseline="-20833" dirty="0">
                <a:latin typeface="Gill Sans"/>
                <a:cs typeface="Gill Sans"/>
              </a:rPr>
              <a:t>s</a:t>
            </a:r>
            <a:r>
              <a:rPr sz="1800" b="1" spc="-742" baseline="-30092" dirty="0">
                <a:latin typeface="Gill Sans"/>
                <a:cs typeface="Gill Sans"/>
              </a:rPr>
              <a:t>K</a:t>
            </a:r>
            <a:r>
              <a:rPr sz="1800" b="0" spc="-307" baseline="-20833" dirty="0">
                <a:latin typeface="Gill Sans"/>
                <a:cs typeface="Gill Sans"/>
              </a:rPr>
              <a:t>e</a:t>
            </a:r>
            <a:r>
              <a:rPr sz="1200" b="0" spc="-405" dirty="0">
                <a:latin typeface="Gill Sans"/>
                <a:cs typeface="Gill Sans"/>
              </a:rPr>
              <a:t>g</a:t>
            </a:r>
            <a:r>
              <a:rPr sz="1800" b="1" spc="-944" baseline="-30092" dirty="0">
                <a:latin typeface="Gill Sans"/>
                <a:cs typeface="Gill Sans"/>
              </a:rPr>
              <a:t>n</a:t>
            </a:r>
            <a:r>
              <a:rPr sz="1800" b="0" spc="-457" baseline="-20833" dirty="0">
                <a:latin typeface="Gill Sans"/>
                <a:cs typeface="Gill Sans"/>
              </a:rPr>
              <a:t>d</a:t>
            </a:r>
            <a:r>
              <a:rPr sz="1200" b="0" spc="-220" dirty="0">
                <a:latin typeface="Gill Sans"/>
                <a:cs typeface="Gill Sans"/>
              </a:rPr>
              <a:t>a</a:t>
            </a:r>
            <a:r>
              <a:rPr sz="1800" b="1" spc="-172" baseline="-30092" dirty="0">
                <a:latin typeface="Gill Sans"/>
                <a:cs typeface="Gill Sans"/>
              </a:rPr>
              <a:t>i</a:t>
            </a:r>
            <a:r>
              <a:rPr sz="1200" b="0" spc="-815" dirty="0">
                <a:latin typeface="Gill Sans"/>
                <a:cs typeface="Gill Sans"/>
              </a:rPr>
              <a:t>m</a:t>
            </a:r>
            <a:r>
              <a:rPr sz="1800" b="1" spc="-975" baseline="-30092" dirty="0">
                <a:latin typeface="Gill Sans"/>
                <a:cs typeface="Gill Sans"/>
              </a:rPr>
              <a:t>g</a:t>
            </a:r>
            <a:r>
              <a:rPr sz="1800" b="0" spc="-37" baseline="-20833" dirty="0">
                <a:latin typeface="Gill Sans"/>
                <a:cs typeface="Gill Sans"/>
              </a:rPr>
              <a:t>o</a:t>
            </a:r>
            <a:r>
              <a:rPr sz="1800" b="1" spc="-1042" baseline="-30092" dirty="0">
                <a:latin typeface="Gill Sans"/>
                <a:cs typeface="Gill Sans"/>
              </a:rPr>
              <a:t>h</a:t>
            </a:r>
            <a:r>
              <a:rPr sz="1800" b="0" spc="-682" baseline="-20833" dirty="0">
                <a:latin typeface="Gill Sans"/>
                <a:cs typeface="Gill Sans"/>
              </a:rPr>
              <a:t>n</a:t>
            </a:r>
            <a:r>
              <a:rPr sz="1200" b="0" spc="-45" dirty="0">
                <a:latin typeface="Gill Sans"/>
                <a:cs typeface="Gill Sans"/>
              </a:rPr>
              <a:t>e</a:t>
            </a:r>
            <a:r>
              <a:rPr sz="1800" b="1" spc="-187" baseline="-30092" dirty="0">
                <a:latin typeface="Gill Sans"/>
                <a:cs typeface="Gill Sans"/>
              </a:rPr>
              <a:t>t</a:t>
            </a:r>
            <a:r>
              <a:rPr sz="1200" b="0" spc="-509" dirty="0">
                <a:latin typeface="Gill Sans"/>
                <a:cs typeface="Gill Sans"/>
              </a:rPr>
              <a:t>d</a:t>
            </a:r>
            <a:r>
              <a:rPr sz="1800" b="1" spc="-37" baseline="-30092" dirty="0">
                <a:latin typeface="Gill Sans"/>
                <a:cs typeface="Gill Sans"/>
              </a:rPr>
              <a:t>s</a:t>
            </a:r>
            <a:r>
              <a:rPr sz="1200" b="0" spc="-229" dirty="0">
                <a:latin typeface="Gill Sans"/>
                <a:cs typeface="Gill Sans"/>
              </a:rPr>
              <a:t>e</a:t>
            </a:r>
            <a:r>
              <a:rPr sz="1800" b="0" spc="-1477" baseline="-30092" dirty="0">
                <a:latin typeface="Gill Sans"/>
                <a:cs typeface="Gill Sans"/>
              </a:rPr>
              <a:t>—</a:t>
            </a:r>
            <a:r>
              <a:rPr sz="1200" b="0" spc="25" dirty="0">
                <a:latin typeface="Gill Sans"/>
                <a:cs typeface="Gill Sans"/>
              </a:rPr>
              <a:t>s</a:t>
            </a:r>
            <a:r>
              <a:rPr sz="1200" b="0" spc="30" dirty="0">
                <a:latin typeface="Gill Sans"/>
                <a:cs typeface="Gill Sans"/>
              </a:rPr>
              <a:t>i</a:t>
            </a:r>
            <a:r>
              <a:rPr sz="1200" b="0" spc="25" dirty="0">
                <a:latin typeface="Gill Sans"/>
                <a:cs typeface="Gill Sans"/>
              </a:rPr>
              <a:t>g</a:t>
            </a:r>
            <a:r>
              <a:rPr sz="1200" b="0" spc="-490" dirty="0">
                <a:latin typeface="Gill Sans"/>
                <a:cs typeface="Gill Sans"/>
              </a:rPr>
              <a:t>n</a:t>
            </a:r>
            <a:r>
              <a:rPr sz="1800" b="0" spc="-450" baseline="-30092" dirty="0">
                <a:latin typeface="Gill Sans"/>
                <a:cs typeface="Gill Sans"/>
              </a:rPr>
              <a:t>C</a:t>
            </a:r>
            <a:r>
              <a:rPr sz="1200" b="0" spc="-220" dirty="0">
                <a:latin typeface="Gill Sans"/>
                <a:cs typeface="Gill Sans"/>
              </a:rPr>
              <a:t>e</a:t>
            </a:r>
            <a:r>
              <a:rPr sz="1800" b="0" spc="-359" baseline="-30092" dirty="0">
                <a:latin typeface="Gill Sans"/>
                <a:cs typeface="Gill Sans"/>
              </a:rPr>
              <a:t>a</a:t>
            </a:r>
            <a:r>
              <a:rPr sz="1200" b="0" spc="-315" dirty="0">
                <a:latin typeface="Gill Sans"/>
                <a:cs typeface="Gill Sans"/>
              </a:rPr>
              <a:t>d</a:t>
            </a:r>
            <a:r>
              <a:rPr sz="1800" b="0" spc="37" baseline="-30092" dirty="0">
                <a:latin typeface="Gill Sans"/>
                <a:cs typeface="Gill Sans"/>
              </a:rPr>
              <a:t>t</a:t>
            </a:r>
            <a:r>
              <a:rPr sz="1800" b="0" spc="44" baseline="-30092" dirty="0">
                <a:latin typeface="Gill Sans"/>
                <a:cs typeface="Gill Sans"/>
              </a:rPr>
              <a:t>an:</a:t>
            </a:r>
            <a:endParaRPr sz="1800" baseline="-30092">
              <a:latin typeface="Gill Sans"/>
              <a:cs typeface="Gill San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33958" y="3256433"/>
            <a:ext cx="20237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b="0" dirty="0">
                <a:latin typeface="Gill Sans"/>
                <a:cs typeface="Gill Sans"/>
              </a:rPr>
              <a:t>the</a:t>
            </a:r>
            <a:r>
              <a:rPr sz="1200" b="0" spc="95" dirty="0">
                <a:latin typeface="Gill Sans"/>
                <a:cs typeface="Gill Sans"/>
              </a:rPr>
              <a:t> </a:t>
            </a:r>
            <a:r>
              <a:rPr sz="1200" b="0" spc="-105" dirty="0">
                <a:latin typeface="Gill Sans"/>
                <a:cs typeface="Gill Sans"/>
              </a:rPr>
              <a:t>g</a:t>
            </a:r>
            <a:r>
              <a:rPr sz="1800" b="0" spc="-509" baseline="-20833" dirty="0">
                <a:latin typeface="Gill Sans"/>
                <a:cs typeface="Gill Sans"/>
              </a:rPr>
              <a:t>t</a:t>
            </a:r>
            <a:r>
              <a:rPr sz="1200" b="0" spc="-220" dirty="0">
                <a:latin typeface="Gill Sans"/>
                <a:cs typeface="Gill Sans"/>
              </a:rPr>
              <a:t>a</a:t>
            </a:r>
            <a:r>
              <a:rPr sz="1800" b="0" spc="-615" baseline="-20833" dirty="0">
                <a:latin typeface="Gill Sans"/>
                <a:cs typeface="Gill Sans"/>
              </a:rPr>
              <a:t>h</a:t>
            </a:r>
            <a:r>
              <a:rPr sz="1200" b="0" spc="-540" dirty="0">
                <a:latin typeface="Gill Sans"/>
                <a:cs typeface="Gill Sans"/>
              </a:rPr>
              <a:t>m</a:t>
            </a:r>
            <a:r>
              <a:rPr sz="1800" b="0" spc="-97" baseline="-20833" dirty="0">
                <a:latin typeface="Gill Sans"/>
                <a:cs typeface="Gill Sans"/>
              </a:rPr>
              <a:t>e</a:t>
            </a:r>
            <a:r>
              <a:rPr sz="1200" b="0" spc="-550" dirty="0">
                <a:latin typeface="Gill Sans"/>
                <a:cs typeface="Gill Sans"/>
              </a:rPr>
              <a:t>e</a:t>
            </a:r>
            <a:r>
              <a:rPr sz="1800" b="0" spc="-120" baseline="-20833" dirty="0">
                <a:latin typeface="Gill Sans"/>
                <a:cs typeface="Gill Sans"/>
              </a:rPr>
              <a:t>m</a:t>
            </a:r>
            <a:r>
              <a:rPr sz="1200" b="0" spc="-869" dirty="0">
                <a:latin typeface="Gill Sans"/>
                <a:cs typeface="Gill Sans"/>
              </a:rPr>
              <a:t>m</a:t>
            </a:r>
            <a:r>
              <a:rPr sz="1800" b="0" spc="-15" baseline="-20833" dirty="0">
                <a:latin typeface="Gill Sans"/>
                <a:cs typeface="Gill Sans"/>
              </a:rPr>
              <a:t>e</a:t>
            </a:r>
            <a:r>
              <a:rPr sz="1800" b="0" spc="60" baseline="-20833" dirty="0">
                <a:latin typeface="Gill Sans"/>
                <a:cs typeface="Gill Sans"/>
              </a:rPr>
              <a:t> </a:t>
            </a:r>
            <a:r>
              <a:rPr sz="1200" b="0" spc="-550" dirty="0">
                <a:latin typeface="Gill Sans"/>
                <a:cs typeface="Gill Sans"/>
              </a:rPr>
              <a:t>e</a:t>
            </a:r>
            <a:r>
              <a:rPr sz="1800" b="0" spc="-30" baseline="-20833" dirty="0">
                <a:latin typeface="Gill Sans"/>
                <a:cs typeface="Gill Sans"/>
              </a:rPr>
              <a:t>f</a:t>
            </a:r>
            <a:r>
              <a:rPr sz="1800" b="0" spc="-390" baseline="-20833" dirty="0">
                <a:latin typeface="Gill Sans"/>
                <a:cs typeface="Gill Sans"/>
              </a:rPr>
              <a:t>r</a:t>
            </a:r>
            <a:r>
              <a:rPr sz="1200" b="0" spc="-320" dirty="0">
                <a:latin typeface="Gill Sans"/>
                <a:cs typeface="Gill Sans"/>
              </a:rPr>
              <a:t>c</a:t>
            </a:r>
            <a:r>
              <a:rPr sz="1800" b="0" spc="-562" baseline="-20833" dirty="0">
                <a:latin typeface="Gill Sans"/>
                <a:cs typeface="Gill Sans"/>
              </a:rPr>
              <a:t>o</a:t>
            </a:r>
            <a:r>
              <a:rPr sz="1200" b="0" spc="-260" dirty="0">
                <a:latin typeface="Gill Sans"/>
                <a:cs typeface="Gill Sans"/>
              </a:rPr>
              <a:t>h</a:t>
            </a:r>
            <a:r>
              <a:rPr sz="1800" b="0" spc="-1282" baseline="-20833" dirty="0">
                <a:latin typeface="Gill Sans"/>
                <a:cs typeface="Gill Sans"/>
              </a:rPr>
              <a:t>m</a:t>
            </a:r>
            <a:r>
              <a:rPr sz="1800" b="0" spc="-1064" baseline="-11574" dirty="0">
                <a:latin typeface="Gill Sans"/>
                <a:cs typeface="Gill Sans"/>
              </a:rPr>
              <a:t>C</a:t>
            </a:r>
            <a:r>
              <a:rPr sz="1200" b="0" spc="-20" dirty="0">
                <a:latin typeface="Gill Sans"/>
                <a:cs typeface="Gill Sans"/>
              </a:rPr>
              <a:t>a</a:t>
            </a:r>
            <a:r>
              <a:rPr sz="1200" b="0" spc="-434" dirty="0">
                <a:latin typeface="Gill Sans"/>
                <a:cs typeface="Gill Sans"/>
              </a:rPr>
              <a:t>n</a:t>
            </a:r>
            <a:r>
              <a:rPr sz="1800" b="0" spc="-22" baseline="-11574" dirty="0">
                <a:latin typeface="Gill Sans"/>
                <a:cs typeface="Gill Sans"/>
              </a:rPr>
              <a:t>i</a:t>
            </a:r>
            <a:r>
              <a:rPr sz="1800" b="0" spc="-547" baseline="-11574" dirty="0">
                <a:latin typeface="Gill Sans"/>
                <a:cs typeface="Gill Sans"/>
              </a:rPr>
              <a:t>t</a:t>
            </a:r>
            <a:r>
              <a:rPr sz="1800" b="0" spc="-517" baseline="-20833" dirty="0">
                <a:latin typeface="Gill Sans"/>
                <a:cs typeface="Gill Sans"/>
              </a:rPr>
              <a:t>"</a:t>
            </a:r>
            <a:r>
              <a:rPr sz="1200" b="0" spc="-35" dirty="0">
                <a:latin typeface="Gill Sans"/>
                <a:cs typeface="Gill Sans"/>
              </a:rPr>
              <a:t>i</a:t>
            </a:r>
            <a:r>
              <a:rPr sz="1800" b="0" spc="-375" baseline="-11574" dirty="0">
                <a:latin typeface="Gill Sans"/>
                <a:cs typeface="Gill Sans"/>
              </a:rPr>
              <a:t>i</a:t>
            </a:r>
            <a:r>
              <a:rPr sz="1200" b="0" spc="-475" dirty="0">
                <a:latin typeface="Gill Sans"/>
                <a:cs typeface="Gill Sans"/>
              </a:rPr>
              <a:t>c</a:t>
            </a:r>
            <a:r>
              <a:rPr sz="1800" b="0" spc="-862" baseline="-20833" dirty="0">
                <a:latin typeface="Gill Sans"/>
                <a:cs typeface="Gill Sans"/>
              </a:rPr>
              <a:t>T</a:t>
            </a:r>
            <a:r>
              <a:rPr sz="1800" b="0" spc="-457" baseline="-11574" dirty="0">
                <a:latin typeface="Gill Sans"/>
                <a:cs typeface="Gill Sans"/>
              </a:rPr>
              <a:t>e</a:t>
            </a:r>
            <a:r>
              <a:rPr sz="1200" b="0" spc="-215" dirty="0">
                <a:latin typeface="Gill Sans"/>
                <a:cs typeface="Gill Sans"/>
              </a:rPr>
              <a:t>s</a:t>
            </a:r>
            <a:r>
              <a:rPr sz="1800" b="0" spc="-885" baseline="-20833" dirty="0">
                <a:latin typeface="Gill Sans"/>
                <a:cs typeface="Gill Sans"/>
              </a:rPr>
              <a:t>h</a:t>
            </a:r>
            <a:r>
              <a:rPr sz="1800" b="0" spc="44" baseline="-11574" dirty="0">
                <a:latin typeface="Gill Sans"/>
                <a:cs typeface="Gill Sans"/>
              </a:rPr>
              <a:t>s</a:t>
            </a:r>
            <a:r>
              <a:rPr sz="1200" b="0" spc="-615" dirty="0">
                <a:latin typeface="Gill Sans"/>
                <a:cs typeface="Gill Sans"/>
              </a:rPr>
              <a:t>o</a:t>
            </a:r>
            <a:r>
              <a:rPr sz="1800" b="0" spc="-562" baseline="-20833" dirty="0">
                <a:latin typeface="Gill Sans"/>
                <a:cs typeface="Gill Sans"/>
              </a:rPr>
              <a:t>e</a:t>
            </a:r>
            <a:r>
              <a:rPr sz="1800" b="0" spc="-585" baseline="-11574" dirty="0">
                <a:latin typeface="Gill Sans"/>
                <a:cs typeface="Gill Sans"/>
              </a:rPr>
              <a:t>&amp;</a:t>
            </a:r>
            <a:r>
              <a:rPr sz="1200" b="0" spc="-10" dirty="0">
                <a:latin typeface="Gill Sans"/>
                <a:cs typeface="Gill Sans"/>
              </a:rPr>
              <a:t>f</a:t>
            </a:r>
            <a:r>
              <a:rPr sz="1200" b="0" spc="200" dirty="0">
                <a:latin typeface="Gill Sans"/>
                <a:cs typeface="Gill Sans"/>
              </a:rPr>
              <a:t> </a:t>
            </a:r>
            <a:r>
              <a:rPr sz="1800" b="0" spc="-15" baseline="-11574" dirty="0">
                <a:latin typeface="Gill Sans"/>
                <a:cs typeface="Gill Sans"/>
              </a:rPr>
              <a:t>Knights,</a:t>
            </a:r>
            <a:endParaRPr sz="1800" baseline="-11574">
              <a:latin typeface="Gill Sans"/>
              <a:cs typeface="Gill Sans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1730212" y="3157437"/>
            <a:ext cx="1513840" cy="1591945"/>
            <a:chOff x="1730212" y="3157437"/>
            <a:chExt cx="1513840" cy="1591945"/>
          </a:xfrm>
        </p:grpSpPr>
        <p:sp>
          <p:nvSpPr>
            <p:cNvPr id="39" name="object 39"/>
            <p:cNvSpPr/>
            <p:nvPr/>
          </p:nvSpPr>
          <p:spPr>
            <a:xfrm>
              <a:off x="1734974" y="3162200"/>
              <a:ext cx="1504315" cy="1582420"/>
            </a:xfrm>
            <a:custGeom>
              <a:avLst/>
              <a:gdLst/>
              <a:ahLst/>
              <a:cxnLst/>
              <a:rect l="l" t="t" r="r" b="b"/>
              <a:pathLst>
                <a:path w="1504314" h="1582420">
                  <a:moveTo>
                    <a:pt x="1253494" y="1582199"/>
                  </a:moveTo>
                  <a:lnTo>
                    <a:pt x="0" y="1582199"/>
                  </a:lnTo>
                  <a:lnTo>
                    <a:pt x="0" y="0"/>
                  </a:lnTo>
                  <a:lnTo>
                    <a:pt x="1504199" y="0"/>
                  </a:lnTo>
                  <a:lnTo>
                    <a:pt x="1504199" y="1331494"/>
                  </a:lnTo>
                  <a:lnTo>
                    <a:pt x="1253494" y="1582199"/>
                  </a:lnTo>
                  <a:close/>
                </a:path>
              </a:pathLst>
            </a:custGeom>
            <a:solidFill>
              <a:srgbClr val="F1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988469" y="4493694"/>
              <a:ext cx="250825" cy="250825"/>
            </a:xfrm>
            <a:custGeom>
              <a:avLst/>
              <a:gdLst/>
              <a:ahLst/>
              <a:cxnLst/>
              <a:rect l="l" t="t" r="r" b="b"/>
              <a:pathLst>
                <a:path w="250825" h="250825">
                  <a:moveTo>
                    <a:pt x="0" y="250704"/>
                  </a:moveTo>
                  <a:lnTo>
                    <a:pt x="50140" y="50140"/>
                  </a:lnTo>
                  <a:lnTo>
                    <a:pt x="250704" y="0"/>
                  </a:lnTo>
                  <a:lnTo>
                    <a:pt x="0" y="250704"/>
                  </a:lnTo>
                  <a:close/>
                </a:path>
              </a:pathLst>
            </a:custGeom>
            <a:solidFill>
              <a:srgbClr val="C1AE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734974" y="3162200"/>
              <a:ext cx="1504315" cy="1582420"/>
            </a:xfrm>
            <a:custGeom>
              <a:avLst/>
              <a:gdLst/>
              <a:ahLst/>
              <a:cxnLst/>
              <a:rect l="l" t="t" r="r" b="b"/>
              <a:pathLst>
                <a:path w="1504314" h="1582420">
                  <a:moveTo>
                    <a:pt x="1253494" y="1582199"/>
                  </a:moveTo>
                  <a:lnTo>
                    <a:pt x="1303635" y="1381635"/>
                  </a:lnTo>
                  <a:lnTo>
                    <a:pt x="1504199" y="1331494"/>
                  </a:lnTo>
                  <a:lnTo>
                    <a:pt x="1253494" y="1582199"/>
                  </a:lnTo>
                  <a:lnTo>
                    <a:pt x="0" y="1582199"/>
                  </a:lnTo>
                  <a:lnTo>
                    <a:pt x="0" y="0"/>
                  </a:lnTo>
                  <a:lnTo>
                    <a:pt x="1504199" y="0"/>
                  </a:lnTo>
                  <a:lnTo>
                    <a:pt x="1504199" y="1331494"/>
                  </a:lnTo>
                </a:path>
              </a:pathLst>
            </a:custGeom>
            <a:ln w="9524">
              <a:solidFill>
                <a:srgbClr val="5700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929785" y="3184554"/>
            <a:ext cx="23450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0" spc="-15" baseline="18518" dirty="0">
                <a:latin typeface="Gill Sans"/>
                <a:cs typeface="Gill Sans"/>
              </a:rPr>
              <a:t>child</a:t>
            </a:r>
            <a:r>
              <a:rPr sz="1800" b="0" spc="-390" baseline="18518" dirty="0">
                <a:latin typeface="Gill Sans"/>
                <a:cs typeface="Gill Sans"/>
              </a:rPr>
              <a:t>r</a:t>
            </a:r>
            <a:r>
              <a:rPr sz="1800" b="0" spc="-562" baseline="-4629" dirty="0">
                <a:latin typeface="Gill Sans"/>
                <a:cs typeface="Gill Sans"/>
              </a:rPr>
              <a:t>b</a:t>
            </a:r>
            <a:r>
              <a:rPr sz="1800" b="0" spc="-345" baseline="18518" dirty="0">
                <a:latin typeface="Gill Sans"/>
                <a:cs typeface="Gill Sans"/>
              </a:rPr>
              <a:t>e</a:t>
            </a:r>
            <a:r>
              <a:rPr sz="1800" b="0" spc="-472" baseline="-4629" dirty="0">
                <a:latin typeface="Gill Sans"/>
                <a:cs typeface="Gill Sans"/>
              </a:rPr>
              <a:t>y</a:t>
            </a:r>
            <a:r>
              <a:rPr sz="1800" b="0" spc="44" baseline="18518" dirty="0">
                <a:latin typeface="Gill Sans"/>
                <a:cs typeface="Gill Sans"/>
              </a:rPr>
              <a:t>n</a:t>
            </a:r>
            <a:r>
              <a:rPr sz="1800" b="0" spc="-494" baseline="-4629" dirty="0">
                <a:latin typeface="Gill Sans"/>
                <a:cs typeface="Gill Sans"/>
              </a:rPr>
              <a:t>P</a:t>
            </a:r>
            <a:r>
              <a:rPr sz="1800" b="0" spc="-434" baseline="18518" dirty="0">
                <a:latin typeface="Gill Sans"/>
                <a:cs typeface="Gill Sans"/>
              </a:rPr>
              <a:t>u</a:t>
            </a:r>
            <a:r>
              <a:rPr sz="1800" b="0" spc="-359" baseline="-4629" dirty="0">
                <a:latin typeface="Gill Sans"/>
                <a:cs typeface="Gill Sans"/>
              </a:rPr>
              <a:t>a</a:t>
            </a:r>
            <a:r>
              <a:rPr sz="1800" b="0" spc="-367" baseline="18518" dirty="0">
                <a:latin typeface="Gill Sans"/>
                <a:cs typeface="Gill Sans"/>
              </a:rPr>
              <a:t>s</a:t>
            </a:r>
            <a:r>
              <a:rPr sz="1800" b="0" spc="-562" baseline="-4629" dirty="0">
                <a:latin typeface="Gill Sans"/>
                <a:cs typeface="Gill Sans"/>
              </a:rPr>
              <a:t>u</a:t>
            </a:r>
            <a:r>
              <a:rPr sz="1800" b="0" spc="-15" baseline="18518" dirty="0">
                <a:latin typeface="Gill Sans"/>
                <a:cs typeface="Gill Sans"/>
              </a:rPr>
              <a:t>i</a:t>
            </a:r>
            <a:r>
              <a:rPr sz="1800" b="0" spc="-750" baseline="18518" dirty="0">
                <a:latin typeface="Gill Sans"/>
                <a:cs typeface="Gill Sans"/>
              </a:rPr>
              <a:t>n</a:t>
            </a:r>
            <a:r>
              <a:rPr sz="1800" b="0" spc="-7" baseline="-4629" dirty="0">
                <a:latin typeface="Gill Sans"/>
                <a:cs typeface="Gill Sans"/>
              </a:rPr>
              <a:t>l</a:t>
            </a:r>
            <a:r>
              <a:rPr sz="1800" b="0" spc="-30" baseline="-4629" dirty="0">
                <a:latin typeface="Gill Sans"/>
                <a:cs typeface="Gill Sans"/>
              </a:rPr>
              <a:t> </a:t>
            </a:r>
            <a:r>
              <a:rPr sz="1800" b="0" spc="-644" baseline="18518" dirty="0">
                <a:latin typeface="Gill Sans"/>
                <a:cs typeface="Gill Sans"/>
              </a:rPr>
              <a:t>g</a:t>
            </a:r>
            <a:r>
              <a:rPr sz="1800" b="0" spc="-217" baseline="-4629" dirty="0">
                <a:latin typeface="Gill Sans"/>
                <a:cs typeface="Gill Sans"/>
              </a:rPr>
              <a:t>R</a:t>
            </a:r>
            <a:r>
              <a:rPr sz="1200" b="1" spc="-805" dirty="0">
                <a:latin typeface="Gill Sans"/>
                <a:cs typeface="Gill Sans"/>
              </a:rPr>
              <a:t>C</a:t>
            </a:r>
            <a:r>
              <a:rPr sz="1800" b="0" spc="-765" baseline="-4629" dirty="0">
                <a:latin typeface="Gill Sans"/>
                <a:cs typeface="Gill Sans"/>
              </a:rPr>
              <a:t>a</a:t>
            </a:r>
            <a:r>
              <a:rPr sz="1800" b="0" spc="-15" baseline="18518" dirty="0">
                <a:latin typeface="Gill Sans"/>
                <a:cs typeface="Gill Sans"/>
              </a:rPr>
              <a:t>t</a:t>
            </a:r>
            <a:r>
              <a:rPr sz="1800" b="0" spc="-780" baseline="18518" dirty="0">
                <a:latin typeface="Gill Sans"/>
                <a:cs typeface="Gill Sans"/>
              </a:rPr>
              <a:t>h</a:t>
            </a:r>
            <a:r>
              <a:rPr sz="1800" b="0" spc="-487" baseline="-4629" dirty="0">
                <a:latin typeface="Gill Sans"/>
                <a:cs typeface="Gill Sans"/>
              </a:rPr>
              <a:t>n</a:t>
            </a:r>
            <a:r>
              <a:rPr sz="1200" b="1" spc="-434" dirty="0">
                <a:latin typeface="Gill Sans"/>
                <a:cs typeface="Gill Sans"/>
              </a:rPr>
              <a:t>a</a:t>
            </a:r>
            <a:r>
              <a:rPr sz="1800" b="0" spc="-750" baseline="18518" dirty="0">
                <a:latin typeface="Gill Sans"/>
                <a:cs typeface="Gill Sans"/>
              </a:rPr>
              <a:t>e</a:t>
            </a:r>
            <a:r>
              <a:rPr sz="1800" b="0" spc="-457" baseline="-4629" dirty="0">
                <a:latin typeface="Gill Sans"/>
                <a:cs typeface="Gill Sans"/>
              </a:rPr>
              <a:t>d</a:t>
            </a:r>
            <a:r>
              <a:rPr sz="1200" b="1" spc="-220" dirty="0">
                <a:latin typeface="Gill Sans"/>
                <a:cs typeface="Gill Sans"/>
              </a:rPr>
              <a:t>t</a:t>
            </a:r>
            <a:r>
              <a:rPr sz="1800" b="0" spc="-112" baseline="-4629" dirty="0">
                <a:latin typeface="Gill Sans"/>
                <a:cs typeface="Gill Sans"/>
              </a:rPr>
              <a:t>l</a:t>
            </a:r>
            <a:r>
              <a:rPr sz="1200" b="1" spc="-600" dirty="0">
                <a:latin typeface="Gill Sans"/>
                <a:cs typeface="Gill Sans"/>
              </a:rPr>
              <a:t>a</a:t>
            </a:r>
            <a:r>
              <a:rPr sz="1800" b="0" spc="-30" baseline="-4629" dirty="0">
                <a:latin typeface="Gill Sans"/>
                <a:cs typeface="Gill Sans"/>
              </a:rPr>
              <a:t>e</a:t>
            </a:r>
            <a:r>
              <a:rPr sz="1800" b="0" spc="-712" baseline="-4629" dirty="0">
                <a:latin typeface="Gill Sans"/>
                <a:cs typeface="Gill Sans"/>
              </a:rPr>
              <a:t>s</a:t>
            </a:r>
            <a:r>
              <a:rPr sz="1200" b="1" spc="80" dirty="0">
                <a:latin typeface="Gill Sans"/>
                <a:cs typeface="Gill Sans"/>
              </a:rPr>
              <a:t>n</a:t>
            </a:r>
            <a:r>
              <a:rPr sz="1800" b="0" spc="-434" baseline="-4629" dirty="0">
                <a:latin typeface="Gill Sans"/>
                <a:cs typeface="Gill Sans"/>
              </a:rPr>
              <a:t>a</a:t>
            </a:r>
            <a:r>
              <a:rPr sz="1200" b="0" spc="-940" dirty="0">
                <a:latin typeface="Gill Sans"/>
                <a:cs typeface="Gill Sans"/>
              </a:rPr>
              <a:t>—</a:t>
            </a:r>
            <a:r>
              <a:rPr sz="1800" b="0" spc="-30" baseline="-4629" dirty="0">
                <a:latin typeface="Gill Sans"/>
                <a:cs typeface="Gill Sans"/>
              </a:rPr>
              <a:t>nd</a:t>
            </a:r>
            <a:r>
              <a:rPr sz="1200" b="0" spc="-20" dirty="0">
                <a:latin typeface="Gill Sans"/>
                <a:cs typeface="Gill Sans"/>
              </a:rPr>
              <a:t>The</a:t>
            </a:r>
            <a:r>
              <a:rPr sz="1200" b="0" spc="125" dirty="0">
                <a:latin typeface="Gill Sans"/>
                <a:cs typeface="Gill Sans"/>
              </a:rPr>
              <a:t> </a:t>
            </a:r>
            <a:r>
              <a:rPr sz="1200" b="0" spc="-10" dirty="0">
                <a:latin typeface="Gill Sans"/>
                <a:cs typeface="Gill Sans"/>
              </a:rPr>
              <a:t>Settlers</a:t>
            </a:r>
            <a:endParaRPr sz="1200">
              <a:latin typeface="Gill Sans"/>
              <a:cs typeface="Gill Sans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33958" y="3383029"/>
            <a:ext cx="24955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0" spc="-15" baseline="-20833" dirty="0">
                <a:latin typeface="Gill Sans"/>
                <a:cs typeface="Gill Sans"/>
              </a:rPr>
              <a:t>"Settlers</a:t>
            </a:r>
            <a:r>
              <a:rPr sz="1800" b="0" spc="60" baseline="-20833" dirty="0">
                <a:latin typeface="Gill Sans"/>
                <a:cs typeface="Gill Sans"/>
              </a:rPr>
              <a:t> </a:t>
            </a:r>
            <a:r>
              <a:rPr sz="1800" b="0" spc="-480" baseline="-20833" dirty="0">
                <a:latin typeface="Gill Sans"/>
                <a:cs typeface="Gill Sans"/>
              </a:rPr>
              <a:t>o</a:t>
            </a:r>
            <a:r>
              <a:rPr sz="1200" b="0" spc="-600" dirty="0">
                <a:latin typeface="Gill Sans"/>
                <a:cs typeface="Gill Sans"/>
              </a:rPr>
              <a:t>D</a:t>
            </a:r>
            <a:r>
              <a:rPr sz="1800" b="0" spc="-7" baseline="-20833" dirty="0">
                <a:latin typeface="Gill Sans"/>
                <a:cs typeface="Gill Sans"/>
              </a:rPr>
              <a:t>f</a:t>
            </a:r>
            <a:r>
              <a:rPr sz="1800" b="0" baseline="-20833" dirty="0">
                <a:latin typeface="Gill Sans"/>
                <a:cs typeface="Gill Sans"/>
              </a:rPr>
              <a:t> </a:t>
            </a:r>
            <a:r>
              <a:rPr sz="1200" b="0" spc="-490" dirty="0">
                <a:latin typeface="Gill Sans"/>
                <a:cs typeface="Gill Sans"/>
              </a:rPr>
              <a:t>a</a:t>
            </a:r>
            <a:r>
              <a:rPr sz="1800" b="0" spc="-592" baseline="-20833" dirty="0">
                <a:latin typeface="Gill Sans"/>
                <a:cs typeface="Gill Sans"/>
              </a:rPr>
              <a:t>C</a:t>
            </a:r>
            <a:r>
              <a:rPr sz="1200" b="0" spc="-235" dirty="0">
                <a:latin typeface="Gill Sans"/>
                <a:cs typeface="Gill Sans"/>
              </a:rPr>
              <a:t>n</a:t>
            </a:r>
            <a:r>
              <a:rPr sz="1800" b="0" spc="-457" baseline="-20833" dirty="0">
                <a:latin typeface="Gill Sans"/>
                <a:cs typeface="Gill Sans"/>
              </a:rPr>
              <a:t>a</a:t>
            </a:r>
            <a:r>
              <a:rPr sz="1200" b="0" spc="-15" dirty="0">
                <a:latin typeface="Gill Sans"/>
                <a:cs typeface="Gill Sans"/>
              </a:rPr>
              <a:t>i</a:t>
            </a:r>
            <a:r>
              <a:rPr sz="1200" b="0" spc="-570" dirty="0">
                <a:latin typeface="Gill Sans"/>
                <a:cs typeface="Gill Sans"/>
              </a:rPr>
              <a:t>e</a:t>
            </a:r>
            <a:r>
              <a:rPr sz="1800" b="0" spc="-457" baseline="-20833" dirty="0">
                <a:latin typeface="Gill Sans"/>
                <a:cs typeface="Gill Sans"/>
              </a:rPr>
              <a:t>t</a:t>
            </a:r>
            <a:r>
              <a:rPr sz="1800" b="0" spc="-60" baseline="-30092" dirty="0">
                <a:latin typeface="Gill Sans"/>
                <a:cs typeface="Gill Sans"/>
              </a:rPr>
              <a:t>f</a:t>
            </a:r>
            <a:r>
              <a:rPr sz="1800" b="0" spc="-787" baseline="-20833" dirty="0">
                <a:latin typeface="Gill Sans"/>
                <a:cs typeface="Gill Sans"/>
              </a:rPr>
              <a:t>a</a:t>
            </a:r>
            <a:r>
              <a:rPr sz="1800" b="0" spc="-817" baseline="-30092" dirty="0">
                <a:latin typeface="Gill Sans"/>
                <a:cs typeface="Gill Sans"/>
              </a:rPr>
              <a:t>o</a:t>
            </a:r>
            <a:r>
              <a:rPr sz="1200" b="0" spc="-10" dirty="0">
                <a:latin typeface="Gill Sans"/>
                <a:cs typeface="Gill Sans"/>
              </a:rPr>
              <a:t>l</a:t>
            </a:r>
            <a:r>
              <a:rPr sz="1200" b="0" spc="-220" dirty="0">
                <a:latin typeface="Gill Sans"/>
                <a:cs typeface="Gill Sans"/>
              </a:rPr>
              <a:t> </a:t>
            </a:r>
            <a:r>
              <a:rPr sz="1800" b="0" spc="-675" baseline="-20833" dirty="0">
                <a:latin typeface="Gill Sans"/>
                <a:cs typeface="Gill Sans"/>
              </a:rPr>
              <a:t>n</a:t>
            </a:r>
            <a:r>
              <a:rPr sz="1800" b="0" spc="-615" baseline="-30092" dirty="0">
                <a:latin typeface="Gill Sans"/>
                <a:cs typeface="Gill Sans"/>
              </a:rPr>
              <a:t>r</a:t>
            </a:r>
            <a:r>
              <a:rPr sz="1200" b="0" spc="-200" dirty="0">
                <a:latin typeface="Gill Sans"/>
                <a:cs typeface="Gill Sans"/>
              </a:rPr>
              <a:t>S</a:t>
            </a:r>
            <a:r>
              <a:rPr sz="1800" b="0" spc="-607" baseline="-20833" dirty="0">
                <a:latin typeface="Gill Sans"/>
                <a:cs typeface="Gill Sans"/>
              </a:rPr>
              <a:t>"</a:t>
            </a:r>
            <a:r>
              <a:rPr sz="1800" b="0" spc="-1192" baseline="-30092" dirty="0">
                <a:latin typeface="Gill Sans"/>
                <a:cs typeface="Gill Sans"/>
              </a:rPr>
              <a:t>m</a:t>
            </a:r>
            <a:r>
              <a:rPr sz="1200" b="0" spc="-50" dirty="0">
                <a:latin typeface="Gill Sans"/>
                <a:cs typeface="Gill Sans"/>
              </a:rPr>
              <a:t>t</a:t>
            </a:r>
            <a:r>
              <a:rPr sz="1800" b="0" spc="-982" baseline="4629" dirty="0">
                <a:latin typeface="Gill Sans"/>
                <a:cs typeface="Gill Sans"/>
              </a:rPr>
              <a:t>o</a:t>
            </a:r>
            <a:r>
              <a:rPr sz="1200" b="0" spc="-150" dirty="0">
                <a:latin typeface="Gill Sans"/>
                <a:cs typeface="Gill Sans"/>
              </a:rPr>
              <a:t>a</a:t>
            </a:r>
            <a:r>
              <a:rPr sz="1800" b="0" spc="-690" baseline="-30092" dirty="0">
                <a:latin typeface="Gill Sans"/>
                <a:cs typeface="Gill Sans"/>
              </a:rPr>
              <a:t>e</a:t>
            </a:r>
            <a:r>
              <a:rPr sz="1200" b="0" spc="-495" dirty="0">
                <a:latin typeface="Gill Sans"/>
                <a:cs typeface="Gill Sans"/>
              </a:rPr>
              <a:t>h</a:t>
            </a:r>
            <a:r>
              <a:rPr sz="1800" b="0" spc="15" baseline="4629" dirty="0">
                <a:latin typeface="Gill Sans"/>
                <a:cs typeface="Gill Sans"/>
              </a:rPr>
              <a:t>f</a:t>
            </a:r>
            <a:r>
              <a:rPr sz="1800" b="0" spc="-487" baseline="-30092" dirty="0">
                <a:latin typeface="Gill Sans"/>
                <a:cs typeface="Gill Sans"/>
              </a:rPr>
              <a:t>r</a:t>
            </a:r>
            <a:r>
              <a:rPr sz="1200" b="0" spc="-125" dirty="0">
                <a:latin typeface="Gill Sans"/>
                <a:cs typeface="Gill Sans"/>
              </a:rPr>
              <a:t>l</a:t>
            </a:r>
            <a:r>
              <a:rPr sz="1800" b="0" spc="-1139" baseline="4629" dirty="0">
                <a:latin typeface="Gill Sans"/>
                <a:cs typeface="Gill Sans"/>
              </a:rPr>
              <a:t>C</a:t>
            </a:r>
            <a:r>
              <a:rPr sz="1200" b="0" spc="-220" dirty="0">
                <a:latin typeface="Gill Sans"/>
                <a:cs typeface="Gill Sans"/>
              </a:rPr>
              <a:t>,</a:t>
            </a:r>
            <a:r>
              <a:rPr sz="1800" b="0" spc="-37" baseline="-30092" dirty="0">
                <a:latin typeface="Gill Sans"/>
                <a:cs typeface="Gill Sans"/>
              </a:rPr>
              <a:t>l</a:t>
            </a:r>
            <a:r>
              <a:rPr sz="1800" b="0" spc="-555" baseline="-30092" dirty="0">
                <a:latin typeface="Gill Sans"/>
                <a:cs typeface="Gill Sans"/>
              </a:rPr>
              <a:t>y</a:t>
            </a:r>
            <a:r>
              <a:rPr sz="1200" b="0" spc="-415" dirty="0">
                <a:latin typeface="Gill Sans"/>
                <a:cs typeface="Gill Sans"/>
              </a:rPr>
              <a:t>o</a:t>
            </a:r>
            <a:r>
              <a:rPr sz="1800" b="0" spc="-195" baseline="4629" dirty="0">
                <a:latin typeface="Gill Sans"/>
                <a:cs typeface="Gill Sans"/>
              </a:rPr>
              <a:t>a</a:t>
            </a:r>
            <a:r>
              <a:rPr sz="1200" b="0" spc="-455" dirty="0">
                <a:latin typeface="Gill Sans"/>
                <a:cs typeface="Gill Sans"/>
              </a:rPr>
              <a:t>r</a:t>
            </a:r>
            <a:r>
              <a:rPr sz="1800" b="0" spc="-532" baseline="-30092" dirty="0">
                <a:latin typeface="Gill Sans"/>
                <a:cs typeface="Gill Sans"/>
              </a:rPr>
              <a:t>"</a:t>
            </a:r>
            <a:r>
              <a:rPr sz="1800" b="0" spc="-120" baseline="4629" dirty="0">
                <a:latin typeface="Gill Sans"/>
                <a:cs typeface="Gill Sans"/>
              </a:rPr>
              <a:t>t</a:t>
            </a:r>
            <a:r>
              <a:rPr sz="1800" b="0" spc="-1087" baseline="-30092" dirty="0">
                <a:latin typeface="Gill Sans"/>
                <a:cs typeface="Gill Sans"/>
              </a:rPr>
              <a:t>T</a:t>
            </a:r>
            <a:r>
              <a:rPr sz="1200" b="0" spc="-240" dirty="0">
                <a:latin typeface="Gill Sans"/>
                <a:cs typeface="Gill Sans"/>
              </a:rPr>
              <a:t>i</a:t>
            </a:r>
            <a:r>
              <a:rPr sz="1800" b="0" spc="-457" baseline="4629" dirty="0">
                <a:latin typeface="Gill Sans"/>
                <a:cs typeface="Gill Sans"/>
              </a:rPr>
              <a:t>a</a:t>
            </a:r>
            <a:r>
              <a:rPr sz="1200" b="0" spc="-245" dirty="0">
                <a:latin typeface="Gill Sans"/>
                <a:cs typeface="Gill Sans"/>
              </a:rPr>
              <a:t>g</a:t>
            </a:r>
            <a:r>
              <a:rPr sz="1800" b="0" spc="-690" baseline="4629" dirty="0">
                <a:latin typeface="Gill Sans"/>
                <a:cs typeface="Gill Sans"/>
              </a:rPr>
              <a:t>n</a:t>
            </a:r>
            <a:r>
              <a:rPr sz="1800" b="0" spc="-810" baseline="-30092" dirty="0">
                <a:latin typeface="Gill Sans"/>
                <a:cs typeface="Gill Sans"/>
              </a:rPr>
              <a:t>h</a:t>
            </a:r>
            <a:r>
              <a:rPr sz="1200" b="0" spc="-15" dirty="0">
                <a:latin typeface="Gill Sans"/>
                <a:cs typeface="Gill Sans"/>
              </a:rPr>
              <a:t>i</a:t>
            </a:r>
            <a:r>
              <a:rPr sz="1200" b="0" spc="-500" dirty="0">
                <a:latin typeface="Gill Sans"/>
                <a:cs typeface="Gill Sans"/>
              </a:rPr>
              <a:t>n</a:t>
            </a:r>
            <a:r>
              <a:rPr sz="1800" b="0" spc="-179" baseline="4629" dirty="0">
                <a:latin typeface="Gill Sans"/>
                <a:cs typeface="Gill Sans"/>
              </a:rPr>
              <a:t>,</a:t>
            </a:r>
            <a:r>
              <a:rPr sz="1800" b="0" spc="-405" baseline="-30092" dirty="0">
                <a:latin typeface="Gill Sans"/>
                <a:cs typeface="Gill Sans"/>
              </a:rPr>
              <a:t>e</a:t>
            </a:r>
            <a:r>
              <a:rPr sz="1800" b="0" spc="-697" baseline="4629" dirty="0">
                <a:latin typeface="Gill Sans"/>
                <a:cs typeface="Gill Sans"/>
              </a:rPr>
              <a:t>s</a:t>
            </a:r>
            <a:r>
              <a:rPr sz="1200" b="0" spc="-80" dirty="0">
                <a:latin typeface="Gill Sans"/>
                <a:cs typeface="Gill Sans"/>
              </a:rPr>
              <a:t>a</a:t>
            </a:r>
            <a:r>
              <a:rPr sz="1800" b="0" spc="-930" baseline="4629" dirty="0">
                <a:latin typeface="Gill Sans"/>
                <a:cs typeface="Gill Sans"/>
              </a:rPr>
              <a:t>o</a:t>
            </a:r>
            <a:r>
              <a:rPr sz="1200" b="0" spc="-215" dirty="0">
                <a:latin typeface="Gill Sans"/>
                <a:cs typeface="Gill Sans"/>
              </a:rPr>
              <a:t>l</a:t>
            </a:r>
            <a:r>
              <a:rPr sz="1800" b="0" spc="-1005" baseline="-30092" dirty="0">
                <a:latin typeface="Gill Sans"/>
                <a:cs typeface="Gill Sans"/>
              </a:rPr>
              <a:t>C</a:t>
            </a:r>
            <a:r>
              <a:rPr sz="1200" b="0" spc="-25" dirty="0">
                <a:latin typeface="Gill Sans"/>
                <a:cs typeface="Gill Sans"/>
              </a:rPr>
              <a:t>l</a:t>
            </a:r>
            <a:r>
              <a:rPr sz="1200" b="0" spc="-455" dirty="0">
                <a:latin typeface="Gill Sans"/>
                <a:cs typeface="Gill Sans"/>
              </a:rPr>
              <a:t>y</a:t>
            </a:r>
            <a:r>
              <a:rPr sz="1800" b="0" spc="-937" baseline="4629" dirty="0">
                <a:latin typeface="Gill Sans"/>
                <a:cs typeface="Gill Sans"/>
              </a:rPr>
              <a:t>m</a:t>
            </a:r>
            <a:r>
              <a:rPr sz="1800" b="0" spc="-22" baseline="-30092" dirty="0">
                <a:latin typeface="Gill Sans"/>
                <a:cs typeface="Gill Sans"/>
              </a:rPr>
              <a:t>i</a:t>
            </a:r>
            <a:r>
              <a:rPr sz="1800" b="0" spc="-97" baseline="-30092" dirty="0">
                <a:latin typeface="Gill Sans"/>
                <a:cs typeface="Gill Sans"/>
              </a:rPr>
              <a:t>t</a:t>
            </a:r>
            <a:r>
              <a:rPr sz="1800" b="0" spc="-825" baseline="4629" dirty="0">
                <a:latin typeface="Gill Sans"/>
                <a:cs typeface="Gill Sans"/>
              </a:rPr>
              <a:t>e</a:t>
            </a:r>
            <a:r>
              <a:rPr sz="1800" b="0" spc="-22" baseline="-30092" dirty="0">
                <a:latin typeface="Gill Sans"/>
                <a:cs typeface="Gill Sans"/>
              </a:rPr>
              <a:t>i</a:t>
            </a:r>
            <a:r>
              <a:rPr sz="1800" b="0" spc="-494" baseline="-30092" dirty="0">
                <a:latin typeface="Gill Sans"/>
                <a:cs typeface="Gill Sans"/>
              </a:rPr>
              <a:t>e</a:t>
            </a:r>
            <a:r>
              <a:rPr sz="1800" b="0" spc="-157" baseline="4629" dirty="0">
                <a:latin typeface="Gill Sans"/>
                <a:cs typeface="Gill Sans"/>
              </a:rPr>
              <a:t>t</a:t>
            </a:r>
            <a:r>
              <a:rPr sz="1800" b="0" spc="-585" baseline="-30092" dirty="0">
                <a:latin typeface="Gill Sans"/>
                <a:cs typeface="Gill Sans"/>
              </a:rPr>
              <a:t>s</a:t>
            </a:r>
            <a:r>
              <a:rPr sz="1800" b="0" spc="-22" baseline="4629" dirty="0">
                <a:latin typeface="Gill Sans"/>
                <a:cs typeface="Gill Sans"/>
              </a:rPr>
              <a:t>im</a:t>
            </a:r>
            <a:r>
              <a:rPr sz="1800" b="0" spc="-30" baseline="4629" dirty="0">
                <a:latin typeface="Gill Sans"/>
                <a:cs typeface="Gill Sans"/>
              </a:rPr>
              <a:t>es</a:t>
            </a:r>
            <a:endParaRPr sz="1800" baseline="4629">
              <a:latin typeface="Gill Sans"/>
              <a:cs typeface="Gill Sans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929785" y="3499519"/>
            <a:ext cx="2346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b="0" spc="-20" dirty="0">
                <a:latin typeface="Gill Sans"/>
                <a:cs typeface="Gill Sans"/>
              </a:rPr>
              <a:t>Settl</a:t>
            </a:r>
            <a:r>
              <a:rPr sz="1200" b="0" spc="-300" dirty="0">
                <a:latin typeface="Gill Sans"/>
                <a:cs typeface="Gill Sans"/>
              </a:rPr>
              <a:t>e</a:t>
            </a:r>
            <a:r>
              <a:rPr sz="1800" b="0" spc="-494" baseline="-23148" dirty="0">
                <a:latin typeface="Gill Sans"/>
                <a:cs typeface="Gill Sans"/>
              </a:rPr>
              <a:t>p</a:t>
            </a:r>
            <a:r>
              <a:rPr sz="1200" b="0" spc="-170" dirty="0">
                <a:latin typeface="Gill Sans"/>
                <a:cs typeface="Gill Sans"/>
              </a:rPr>
              <a:t>r</a:t>
            </a:r>
            <a:r>
              <a:rPr sz="1800" b="0" spc="-682" baseline="-23148" dirty="0">
                <a:latin typeface="Gill Sans"/>
                <a:cs typeface="Gill Sans"/>
              </a:rPr>
              <a:t>u</a:t>
            </a:r>
            <a:r>
              <a:rPr sz="1200" b="0" spc="-40" dirty="0">
                <a:latin typeface="Gill Sans"/>
                <a:cs typeface="Gill Sans"/>
              </a:rPr>
              <a:t>s</a:t>
            </a:r>
            <a:r>
              <a:rPr sz="1800" b="0" spc="-390" baseline="-23148" dirty="0">
                <a:latin typeface="Gill Sans"/>
                <a:cs typeface="Gill Sans"/>
              </a:rPr>
              <a:t>b</a:t>
            </a:r>
            <a:r>
              <a:rPr sz="1200" b="0" spc="-430" dirty="0">
                <a:latin typeface="Gill Sans"/>
                <a:cs typeface="Gill Sans"/>
              </a:rPr>
              <a:t>o</a:t>
            </a:r>
            <a:r>
              <a:rPr sz="1800" b="0" spc="-22" baseline="-23148" dirty="0">
                <a:latin typeface="Gill Sans"/>
                <a:cs typeface="Gill Sans"/>
              </a:rPr>
              <a:t>l</a:t>
            </a:r>
            <a:r>
              <a:rPr sz="1800" b="0" spc="-187" baseline="-23148" dirty="0">
                <a:latin typeface="Gill Sans"/>
                <a:cs typeface="Gill Sans"/>
              </a:rPr>
              <a:t>i</a:t>
            </a:r>
            <a:r>
              <a:rPr sz="1200" b="0" spc="-215" dirty="0">
                <a:latin typeface="Gill Sans"/>
                <a:cs typeface="Gill Sans"/>
              </a:rPr>
              <a:t>f</a:t>
            </a:r>
            <a:r>
              <a:rPr sz="1800" b="0" spc="-30" baseline="-23148" dirty="0">
                <a:latin typeface="Gill Sans"/>
                <a:cs typeface="Gill Sans"/>
              </a:rPr>
              <a:t>s</a:t>
            </a:r>
            <a:r>
              <a:rPr sz="1800" b="0" spc="-825" baseline="-23148" dirty="0">
                <a:latin typeface="Gill Sans"/>
                <a:cs typeface="Gill Sans"/>
              </a:rPr>
              <a:t>h</a:t>
            </a:r>
            <a:r>
              <a:rPr sz="1200" b="0" spc="-330" dirty="0">
                <a:latin typeface="Gill Sans"/>
                <a:cs typeface="Gill Sans"/>
              </a:rPr>
              <a:t>C</a:t>
            </a:r>
            <a:r>
              <a:rPr sz="1800" b="0" spc="-419" baseline="-23148" dirty="0">
                <a:latin typeface="Gill Sans"/>
                <a:cs typeface="Gill Sans"/>
              </a:rPr>
              <a:t>e</a:t>
            </a:r>
            <a:r>
              <a:rPr sz="1200" b="0" spc="-270" dirty="0">
                <a:latin typeface="Gill Sans"/>
                <a:cs typeface="Gill Sans"/>
              </a:rPr>
              <a:t>a</a:t>
            </a:r>
            <a:r>
              <a:rPr sz="1800" b="0" spc="-569" baseline="-23148" dirty="0">
                <a:latin typeface="Gill Sans"/>
                <a:cs typeface="Gill Sans"/>
              </a:rPr>
              <a:t>d</a:t>
            </a:r>
            <a:r>
              <a:rPr sz="1200" b="0" spc="-270" dirty="0">
                <a:latin typeface="Gill Sans"/>
                <a:cs typeface="Gill Sans"/>
              </a:rPr>
              <a:t>t</a:t>
            </a:r>
            <a:r>
              <a:rPr sz="1800" b="0" spc="-352" baseline="-18518" dirty="0">
                <a:latin typeface="Gill Sans"/>
                <a:cs typeface="Gill Sans"/>
              </a:rPr>
              <a:t>s</a:t>
            </a:r>
            <a:r>
              <a:rPr sz="1200" b="0" spc="-315" dirty="0">
                <a:latin typeface="Gill Sans"/>
                <a:cs typeface="Gill Sans"/>
              </a:rPr>
              <a:t>a</a:t>
            </a:r>
            <a:r>
              <a:rPr sz="1800" b="0" spc="-802" baseline="-18518" dirty="0">
                <a:latin typeface="Gill Sans"/>
                <a:cs typeface="Gill Sans"/>
              </a:rPr>
              <a:t>h</a:t>
            </a:r>
            <a:r>
              <a:rPr sz="1800" b="0" spc="-15" baseline="-23148" dirty="0">
                <a:latin typeface="Gill Sans"/>
                <a:cs typeface="Gill Sans"/>
              </a:rPr>
              <a:t>i</a:t>
            </a:r>
            <a:r>
              <a:rPr sz="1800" b="0" spc="-532" baseline="-23148" dirty="0">
                <a:latin typeface="Gill Sans"/>
                <a:cs typeface="Gill Sans"/>
              </a:rPr>
              <a:t>n</a:t>
            </a:r>
            <a:r>
              <a:rPr sz="1800" b="0" spc="-577" baseline="-18518" dirty="0">
                <a:latin typeface="Gill Sans"/>
                <a:cs typeface="Gill Sans"/>
              </a:rPr>
              <a:t>o</a:t>
            </a:r>
            <a:r>
              <a:rPr sz="1200" b="0" spc="-165" dirty="0">
                <a:latin typeface="Gill Sans"/>
                <a:cs typeface="Gill Sans"/>
              </a:rPr>
              <a:t>”</a:t>
            </a:r>
            <a:r>
              <a:rPr sz="1800" b="0" spc="-705" baseline="-18518" dirty="0">
                <a:latin typeface="Gill Sans"/>
                <a:cs typeface="Gill Sans"/>
              </a:rPr>
              <a:t>r</a:t>
            </a:r>
            <a:r>
              <a:rPr sz="1800" b="0" spc="-1147" baseline="-23148" dirty="0">
                <a:latin typeface="Gill Sans"/>
                <a:cs typeface="Gill Sans"/>
              </a:rPr>
              <a:t>G</a:t>
            </a:r>
            <a:r>
              <a:rPr sz="1200" b="0" spc="-15" dirty="0">
                <a:latin typeface="Gill Sans"/>
                <a:cs typeface="Gill Sans"/>
              </a:rPr>
              <a:t>.</a:t>
            </a:r>
            <a:r>
              <a:rPr sz="1200" b="0" spc="-185" dirty="0">
                <a:latin typeface="Gill Sans"/>
                <a:cs typeface="Gill Sans"/>
              </a:rPr>
              <a:t>.</a:t>
            </a:r>
            <a:r>
              <a:rPr sz="1800" b="0" spc="-367" baseline="-18518" dirty="0">
                <a:latin typeface="Gill Sans"/>
                <a:cs typeface="Gill Sans"/>
              </a:rPr>
              <a:t>t</a:t>
            </a:r>
            <a:r>
              <a:rPr sz="1200" b="0" spc="-50" dirty="0">
                <a:latin typeface="Gill Sans"/>
                <a:cs typeface="Gill Sans"/>
              </a:rPr>
              <a:t>.</a:t>
            </a:r>
            <a:r>
              <a:rPr sz="1800" b="1" spc="-30" baseline="-18518" dirty="0">
                <a:latin typeface="Gill Sans"/>
                <a:cs typeface="Gill Sans"/>
              </a:rPr>
              <a:t>e</a:t>
            </a:r>
            <a:r>
              <a:rPr sz="1800" b="0" spc="-907" baseline="-18518" dirty="0">
                <a:latin typeface="Gill Sans"/>
                <a:cs typeface="Gill Sans"/>
              </a:rPr>
              <a:t>n</a:t>
            </a:r>
            <a:r>
              <a:rPr sz="1800" b="0" spc="-15" baseline="-23148" dirty="0">
                <a:latin typeface="Gill Sans"/>
                <a:cs typeface="Gill Sans"/>
              </a:rPr>
              <a:t>r</a:t>
            </a:r>
            <a:r>
              <a:rPr sz="1800" b="0" spc="-1230" baseline="-23148" dirty="0">
                <a:latin typeface="Gill Sans"/>
                <a:cs typeface="Gill Sans"/>
              </a:rPr>
              <a:t>m</a:t>
            </a:r>
            <a:r>
              <a:rPr sz="1800" b="0" spc="-30" baseline="-18518" dirty="0">
                <a:latin typeface="Gill Sans"/>
                <a:cs typeface="Gill Sans"/>
              </a:rPr>
              <a:t>e</a:t>
            </a:r>
            <a:r>
              <a:rPr sz="1800" b="0" spc="-592" baseline="-18518" dirty="0">
                <a:latin typeface="Gill Sans"/>
                <a:cs typeface="Gill Sans"/>
              </a:rPr>
              <a:t>d</a:t>
            </a:r>
            <a:r>
              <a:rPr sz="1800" b="0" spc="-15" baseline="-23148" dirty="0">
                <a:latin typeface="Gill Sans"/>
                <a:cs typeface="Gill Sans"/>
              </a:rPr>
              <a:t>a</a:t>
            </a:r>
            <a:r>
              <a:rPr sz="1800" b="0" spc="-622" baseline="-23148" dirty="0">
                <a:latin typeface="Gill Sans"/>
                <a:cs typeface="Gill Sans"/>
              </a:rPr>
              <a:t>n</a:t>
            </a:r>
            <a:r>
              <a:rPr sz="1800" b="0" spc="-60" baseline="-18518" dirty="0">
                <a:latin typeface="Gill Sans"/>
                <a:cs typeface="Gill Sans"/>
              </a:rPr>
              <a:t>t</a:t>
            </a:r>
            <a:r>
              <a:rPr sz="1800" b="0" spc="-772" baseline="-23148" dirty="0">
                <a:latin typeface="Gill Sans"/>
                <a:cs typeface="Gill Sans"/>
              </a:rPr>
              <a:t>y</a:t>
            </a:r>
            <a:r>
              <a:rPr sz="1800" b="0" spc="-15" baseline="-18518" dirty="0">
                <a:latin typeface="Gill Sans"/>
                <a:cs typeface="Gill Sans"/>
              </a:rPr>
              <a:t>o</a:t>
            </a:r>
            <a:r>
              <a:rPr sz="1800" b="0" spc="202" baseline="-18518" dirty="0">
                <a:latin typeface="Gill Sans"/>
                <a:cs typeface="Gill Sans"/>
              </a:rPr>
              <a:t> </a:t>
            </a:r>
            <a:r>
              <a:rPr sz="1800" b="0" baseline="-18518" dirty="0">
                <a:latin typeface="Gill Sans"/>
                <a:cs typeface="Gill Sans"/>
              </a:rPr>
              <a:t>Catan</a:t>
            </a:r>
            <a:r>
              <a:rPr sz="1800" b="0" spc="202" baseline="-18518" dirty="0">
                <a:latin typeface="Gill Sans"/>
                <a:cs typeface="Gill Sans"/>
              </a:rPr>
              <a:t> </a:t>
            </a:r>
            <a:r>
              <a:rPr sz="1800" b="0" spc="-37" baseline="-18518" dirty="0">
                <a:latin typeface="Gill Sans"/>
                <a:cs typeface="Gill Sans"/>
              </a:rPr>
              <a:t>or</a:t>
            </a:r>
            <a:endParaRPr sz="1800" baseline="-18518">
              <a:latin typeface="Gill Sans"/>
              <a:cs typeface="Gill Sans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231207" y="3650999"/>
            <a:ext cx="176466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8140" marR="43180" indent="-307975">
              <a:lnSpc>
                <a:spcPct val="100000"/>
              </a:lnSpc>
              <a:spcBef>
                <a:spcPts val="100"/>
              </a:spcBef>
            </a:pPr>
            <a:r>
              <a:rPr sz="1800" b="0" baseline="-34722" dirty="0">
                <a:latin typeface="Gill Sans"/>
                <a:cs typeface="Gill Sans"/>
              </a:rPr>
              <a:t>in</a:t>
            </a:r>
            <a:r>
              <a:rPr sz="1800" b="0" spc="187" baseline="-34722" dirty="0">
                <a:latin typeface="Gill Sans"/>
                <a:cs typeface="Gill Sans"/>
              </a:rPr>
              <a:t> </a:t>
            </a:r>
            <a:r>
              <a:rPr sz="1800" b="0" spc="-22" baseline="-34722" dirty="0">
                <a:latin typeface="Gill Sans"/>
                <a:cs typeface="Gill Sans"/>
              </a:rPr>
              <a:t>20</a:t>
            </a:r>
            <a:r>
              <a:rPr sz="1800" b="0" spc="-877" baseline="-34722" dirty="0">
                <a:latin typeface="Gill Sans"/>
                <a:cs typeface="Gill Sans"/>
              </a:rPr>
              <a:t>0</a:t>
            </a:r>
            <a:r>
              <a:rPr sz="1200" b="0" spc="-20" dirty="0">
                <a:latin typeface="Gill Sans"/>
                <a:cs typeface="Gill Sans"/>
              </a:rPr>
              <a:t>a</a:t>
            </a:r>
            <a:r>
              <a:rPr sz="1200" b="0" spc="-550" dirty="0">
                <a:latin typeface="Gill Sans"/>
                <a:cs typeface="Gill Sans"/>
              </a:rPr>
              <a:t>n</a:t>
            </a:r>
            <a:r>
              <a:rPr sz="1800" b="0" spc="-112" baseline="-34722" dirty="0">
                <a:latin typeface="Gill Sans"/>
                <a:cs typeface="Gill Sans"/>
              </a:rPr>
              <a:t>2</a:t>
            </a:r>
            <a:r>
              <a:rPr sz="1200" b="0" spc="-570" dirty="0">
                <a:latin typeface="Gill Sans"/>
                <a:cs typeface="Gill Sans"/>
              </a:rPr>
              <a:t>d</a:t>
            </a:r>
            <a:r>
              <a:rPr sz="1800" b="0" spc="-22" baseline="-34722" dirty="0">
                <a:latin typeface="Gill Sans"/>
                <a:cs typeface="Gill Sans"/>
              </a:rPr>
              <a:t>..</a:t>
            </a:r>
            <a:r>
              <a:rPr sz="1800" b="0" spc="-52" baseline="-34722" dirty="0">
                <a:latin typeface="Gill Sans"/>
                <a:cs typeface="Gill Sans"/>
              </a:rPr>
              <a:t>.</a:t>
            </a:r>
            <a:r>
              <a:rPr sz="1800" b="0" spc="-675" baseline="-30092" dirty="0">
                <a:latin typeface="Gill Sans"/>
                <a:cs typeface="Gill Sans"/>
              </a:rPr>
              <a:t>S</a:t>
            </a:r>
            <a:r>
              <a:rPr sz="1200" b="0" spc="-370" dirty="0">
                <a:latin typeface="Gill Sans"/>
                <a:cs typeface="Gill Sans"/>
              </a:rPr>
              <a:t>K</a:t>
            </a:r>
            <a:r>
              <a:rPr sz="1800" b="0" spc="-359" baseline="-30092" dirty="0">
                <a:latin typeface="Gill Sans"/>
                <a:cs typeface="Gill Sans"/>
              </a:rPr>
              <a:t>e</a:t>
            </a:r>
            <a:r>
              <a:rPr sz="1200" b="0" spc="-390" dirty="0">
                <a:latin typeface="Gill Sans"/>
                <a:cs typeface="Gill Sans"/>
              </a:rPr>
              <a:t>n</a:t>
            </a:r>
            <a:r>
              <a:rPr sz="1800" b="0" spc="-60" baseline="-30092" dirty="0">
                <a:latin typeface="Gill Sans"/>
                <a:cs typeface="Gill Sans"/>
              </a:rPr>
              <a:t>t</a:t>
            </a:r>
            <a:r>
              <a:rPr sz="1200" b="0" spc="-250" dirty="0">
                <a:latin typeface="Gill Sans"/>
                <a:cs typeface="Gill Sans"/>
              </a:rPr>
              <a:t>i</a:t>
            </a:r>
            <a:r>
              <a:rPr sz="1800" b="0" spc="-277" baseline="-30092" dirty="0">
                <a:latin typeface="Gill Sans"/>
                <a:cs typeface="Gill Sans"/>
              </a:rPr>
              <a:t>t</a:t>
            </a:r>
            <a:r>
              <a:rPr sz="1200" b="0" spc="-370" dirty="0">
                <a:latin typeface="Gill Sans"/>
                <a:cs typeface="Gill Sans"/>
              </a:rPr>
              <a:t>g</a:t>
            </a:r>
            <a:r>
              <a:rPr sz="1800" b="0" spc="-22" baseline="-30092" dirty="0">
                <a:latin typeface="Gill Sans"/>
                <a:cs typeface="Gill Sans"/>
              </a:rPr>
              <a:t>l</a:t>
            </a:r>
            <a:r>
              <a:rPr sz="1800" b="0" spc="-757" baseline="-30092" dirty="0">
                <a:latin typeface="Gill Sans"/>
                <a:cs typeface="Gill Sans"/>
              </a:rPr>
              <a:t>e</a:t>
            </a:r>
            <a:r>
              <a:rPr sz="1200" b="0" spc="-125" dirty="0">
                <a:latin typeface="Gill Sans"/>
                <a:cs typeface="Gill Sans"/>
              </a:rPr>
              <a:t>h</a:t>
            </a:r>
            <a:r>
              <a:rPr sz="1800" b="0" spc="-555" baseline="-30092" dirty="0">
                <a:latin typeface="Gill Sans"/>
                <a:cs typeface="Gill Sans"/>
              </a:rPr>
              <a:t>r</a:t>
            </a:r>
            <a:r>
              <a:rPr sz="1200" b="0" spc="-55" dirty="0">
                <a:latin typeface="Gill Sans"/>
                <a:cs typeface="Gill Sans"/>
              </a:rPr>
              <a:t>t</a:t>
            </a:r>
            <a:r>
              <a:rPr sz="1800" b="0" spc="-30" baseline="-30092" dirty="0">
                <a:latin typeface="Gill Sans"/>
                <a:cs typeface="Gill Sans"/>
              </a:rPr>
              <a:t>s</a:t>
            </a:r>
            <a:r>
              <a:rPr sz="1800" b="0" spc="-15" baseline="-30092" dirty="0">
                <a:latin typeface="Gill Sans"/>
                <a:cs typeface="Gill Sans"/>
              </a:rPr>
              <a:t>,</a:t>
            </a:r>
            <a:r>
              <a:rPr sz="1800" b="0" spc="-284" baseline="-30092" dirty="0">
                <a:latin typeface="Gill Sans"/>
                <a:cs typeface="Gill Sans"/>
              </a:rPr>
              <a:t> </a:t>
            </a:r>
            <a:r>
              <a:rPr sz="1200" b="0" spc="-575" dirty="0">
                <a:latin typeface="Gill Sans"/>
                <a:cs typeface="Gill Sans"/>
              </a:rPr>
              <a:t>o</a:t>
            </a:r>
            <a:r>
              <a:rPr sz="1800" b="0" spc="-22" baseline="-30092" dirty="0">
                <a:latin typeface="Gill Sans"/>
                <a:cs typeface="Gill Sans"/>
              </a:rPr>
              <a:t>i</a:t>
            </a:r>
            <a:r>
              <a:rPr sz="1800" b="0" spc="-277" baseline="-30092" dirty="0">
                <a:latin typeface="Gill Sans"/>
                <a:cs typeface="Gill Sans"/>
              </a:rPr>
              <a:t>s</a:t>
            </a:r>
            <a:r>
              <a:rPr sz="1200" b="0" spc="-10" dirty="0">
                <a:latin typeface="Gill Sans"/>
                <a:cs typeface="Gill Sans"/>
              </a:rPr>
              <a:t>f</a:t>
            </a:r>
            <a:r>
              <a:rPr sz="1200" b="0" spc="-50" dirty="0">
                <a:latin typeface="Gill Sans"/>
                <a:cs typeface="Gill Sans"/>
              </a:rPr>
              <a:t> </a:t>
            </a:r>
            <a:r>
              <a:rPr sz="1800" b="0" spc="-60" baseline="-30092" dirty="0">
                <a:latin typeface="Gill Sans"/>
                <a:cs typeface="Gill Sans"/>
              </a:rPr>
              <a:t>a</a:t>
            </a:r>
            <a:r>
              <a:rPr sz="1200" b="0" spc="-40" dirty="0">
                <a:latin typeface="Gill Sans"/>
                <a:cs typeface="Gill Sans"/>
              </a:rPr>
              <a:t>Catan" </a:t>
            </a:r>
            <a:r>
              <a:rPr sz="1200" b="0" dirty="0">
                <a:latin typeface="Gill Sans"/>
                <a:cs typeface="Gill Sans"/>
              </a:rPr>
              <a:t>is</a:t>
            </a:r>
            <a:r>
              <a:rPr sz="1200" b="0" spc="105" dirty="0">
                <a:latin typeface="Gill Sans"/>
                <a:cs typeface="Gill Sans"/>
              </a:rPr>
              <a:t> </a:t>
            </a:r>
            <a:r>
              <a:rPr sz="1200" b="0" spc="-10" dirty="0">
                <a:latin typeface="Gill Sans"/>
                <a:cs typeface="Gill Sans"/>
              </a:rPr>
              <a:t>a</a:t>
            </a:r>
            <a:r>
              <a:rPr sz="1200" b="0" spc="-240" dirty="0">
                <a:latin typeface="Gill Sans"/>
                <a:cs typeface="Gill Sans"/>
              </a:rPr>
              <a:t>n</a:t>
            </a:r>
            <a:r>
              <a:rPr sz="1800" b="0" spc="-562" baseline="-30092" dirty="0">
                <a:latin typeface="Gill Sans"/>
                <a:cs typeface="Gill Sans"/>
              </a:rPr>
              <a:t>m</a:t>
            </a:r>
            <a:r>
              <a:rPr sz="1200" b="0" spc="-240" dirty="0">
                <a:latin typeface="Gill Sans"/>
                <a:cs typeface="Gill Sans"/>
              </a:rPr>
              <a:t>e</a:t>
            </a:r>
            <a:r>
              <a:rPr sz="1800" b="0" spc="-585" baseline="-30092" dirty="0">
                <a:latin typeface="Gill Sans"/>
                <a:cs typeface="Gill Sans"/>
              </a:rPr>
              <a:t>u</a:t>
            </a:r>
            <a:r>
              <a:rPr sz="1200" b="0" spc="-235" dirty="0">
                <a:latin typeface="Gill Sans"/>
                <a:cs typeface="Gill Sans"/>
              </a:rPr>
              <a:t>x</a:t>
            </a:r>
            <a:r>
              <a:rPr sz="1800" b="0" spc="-75" baseline="-30092" dirty="0">
                <a:latin typeface="Gill Sans"/>
                <a:cs typeface="Gill Sans"/>
              </a:rPr>
              <a:t>l</a:t>
            </a:r>
            <a:r>
              <a:rPr sz="1200" b="0" spc="-575" dirty="0">
                <a:latin typeface="Gill Sans"/>
                <a:cs typeface="Gill Sans"/>
              </a:rPr>
              <a:t>p</a:t>
            </a:r>
            <a:r>
              <a:rPr sz="1800" b="0" spc="-30" baseline="-30092" dirty="0">
                <a:latin typeface="Gill Sans"/>
                <a:cs typeface="Gill Sans"/>
              </a:rPr>
              <a:t>t</a:t>
            </a:r>
            <a:r>
              <a:rPr sz="1800" b="0" spc="-172" baseline="-30092" dirty="0">
                <a:latin typeface="Gill Sans"/>
                <a:cs typeface="Gill Sans"/>
              </a:rPr>
              <a:t>i</a:t>
            </a:r>
            <a:r>
              <a:rPr sz="1200" b="0" spc="-430" dirty="0">
                <a:latin typeface="Gill Sans"/>
                <a:cs typeface="Gill Sans"/>
              </a:rPr>
              <a:t>a</a:t>
            </a:r>
            <a:r>
              <a:rPr sz="1800" b="0" spc="-300" baseline="-30092" dirty="0">
                <a:latin typeface="Gill Sans"/>
                <a:cs typeface="Gill Sans"/>
              </a:rPr>
              <a:t>p</a:t>
            </a:r>
            <a:r>
              <a:rPr sz="1200" b="0" spc="-425" dirty="0">
                <a:latin typeface="Gill Sans"/>
                <a:cs typeface="Gill Sans"/>
              </a:rPr>
              <a:t>n</a:t>
            </a:r>
            <a:r>
              <a:rPr sz="1800" b="0" spc="-22" baseline="-30092" dirty="0">
                <a:latin typeface="Gill Sans"/>
                <a:cs typeface="Gill Sans"/>
              </a:rPr>
              <a:t>l</a:t>
            </a:r>
            <a:r>
              <a:rPr sz="1800" b="0" spc="-569" baseline="-30092" dirty="0">
                <a:latin typeface="Gill Sans"/>
                <a:cs typeface="Gill Sans"/>
              </a:rPr>
              <a:t>a</a:t>
            </a:r>
            <a:r>
              <a:rPr sz="1200" b="0" spc="-165" dirty="0">
                <a:latin typeface="Gill Sans"/>
                <a:cs typeface="Gill Sans"/>
              </a:rPr>
              <a:t>s</a:t>
            </a:r>
            <a:r>
              <a:rPr sz="1800" b="0" spc="-585" baseline="-30092" dirty="0">
                <a:latin typeface="Gill Sans"/>
                <a:cs typeface="Gill Sans"/>
              </a:rPr>
              <a:t>y</a:t>
            </a:r>
            <a:r>
              <a:rPr sz="1200" b="0" spc="-10" dirty="0">
                <a:latin typeface="Gill Sans"/>
                <a:cs typeface="Gill Sans"/>
              </a:rPr>
              <a:t>i</a:t>
            </a:r>
            <a:r>
              <a:rPr sz="1200" b="0" spc="-595" dirty="0">
                <a:latin typeface="Gill Sans"/>
                <a:cs typeface="Gill Sans"/>
              </a:rPr>
              <a:t>o</a:t>
            </a:r>
            <a:r>
              <a:rPr sz="1800" b="0" spc="-30" baseline="-30092" dirty="0">
                <a:latin typeface="Gill Sans"/>
                <a:cs typeface="Gill Sans"/>
              </a:rPr>
              <a:t>e</a:t>
            </a:r>
            <a:r>
              <a:rPr sz="1800" b="0" spc="-719" baseline="-30092" dirty="0">
                <a:latin typeface="Gill Sans"/>
                <a:cs typeface="Gill Sans"/>
              </a:rPr>
              <a:t>r</a:t>
            </a:r>
            <a:r>
              <a:rPr sz="1200" b="0" spc="-10" dirty="0">
                <a:latin typeface="Gill Sans"/>
                <a:cs typeface="Gill Sans"/>
              </a:rPr>
              <a:t>n</a:t>
            </a:r>
            <a:r>
              <a:rPr sz="1200" b="0" spc="-60" dirty="0">
                <a:latin typeface="Gill Sans"/>
                <a:cs typeface="Gill Sans"/>
              </a:rPr>
              <a:t> </a:t>
            </a:r>
            <a:r>
              <a:rPr sz="1800" b="0" spc="-712" baseline="-30092" dirty="0">
                <a:latin typeface="Gill Sans"/>
                <a:cs typeface="Gill Sans"/>
              </a:rPr>
              <a:t>b</a:t>
            </a:r>
            <a:r>
              <a:rPr sz="1200" b="0" spc="70" dirty="0">
                <a:latin typeface="Gill Sans"/>
                <a:cs typeface="Gill Sans"/>
              </a:rPr>
              <a:t>t</a:t>
            </a:r>
            <a:r>
              <a:rPr sz="1800" b="0" spc="-15" baseline="-30092" dirty="0">
                <a:latin typeface="Gill Sans"/>
                <a:cs typeface="Gill Sans"/>
              </a:rPr>
              <a:t>o</a:t>
            </a:r>
            <a:r>
              <a:rPr sz="1800" b="0" spc="-390" baseline="-30092" dirty="0">
                <a:latin typeface="Gill Sans"/>
                <a:cs typeface="Gill Sans"/>
              </a:rPr>
              <a:t>a</a:t>
            </a:r>
            <a:r>
              <a:rPr sz="1200" b="0" spc="-160" dirty="0">
                <a:latin typeface="Gill Sans"/>
                <a:cs typeface="Gill Sans"/>
              </a:rPr>
              <a:t>t</a:t>
            </a:r>
            <a:r>
              <a:rPr sz="1800" b="0" spc="-487" baseline="-30092" dirty="0">
                <a:latin typeface="Gill Sans"/>
                <a:cs typeface="Gill Sans"/>
              </a:rPr>
              <a:t>r</a:t>
            </a:r>
            <a:r>
              <a:rPr sz="1200" b="0" spc="-295" dirty="0">
                <a:latin typeface="Gill Sans"/>
                <a:cs typeface="Gill Sans"/>
              </a:rPr>
              <a:t>h</a:t>
            </a:r>
            <a:r>
              <a:rPr sz="1800" b="0" spc="-487" baseline="-30092" dirty="0">
                <a:latin typeface="Gill Sans"/>
                <a:cs typeface="Gill Sans"/>
              </a:rPr>
              <a:t>d</a:t>
            </a:r>
            <a:r>
              <a:rPr sz="1200" b="0" dirty="0">
                <a:latin typeface="Gill Sans"/>
                <a:cs typeface="Gill Sans"/>
              </a:rPr>
              <a:t>e</a:t>
            </a:r>
            <a:endParaRPr sz="1200">
              <a:latin typeface="Gill Sans"/>
              <a:cs typeface="Gill Sans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551529" y="4098954"/>
            <a:ext cx="14033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0" spc="-22" baseline="30092" dirty="0">
                <a:latin typeface="Gill Sans"/>
                <a:cs typeface="Gill Sans"/>
              </a:rPr>
              <a:t>boa</a:t>
            </a:r>
            <a:r>
              <a:rPr sz="1800" b="0" spc="-465" baseline="30092" dirty="0">
                <a:latin typeface="Gill Sans"/>
                <a:cs typeface="Gill Sans"/>
              </a:rPr>
              <a:t>r</a:t>
            </a:r>
            <a:r>
              <a:rPr sz="1200" b="0" spc="-235" dirty="0">
                <a:latin typeface="Gill Sans"/>
                <a:cs typeface="Gill Sans"/>
              </a:rPr>
              <a:t>g</a:t>
            </a:r>
            <a:r>
              <a:rPr sz="1800" b="0" spc="-600" baseline="30092" dirty="0">
                <a:latin typeface="Gill Sans"/>
                <a:cs typeface="Gill Sans"/>
              </a:rPr>
              <a:t>d</a:t>
            </a:r>
            <a:r>
              <a:rPr sz="1200" b="0" spc="-5" dirty="0">
                <a:latin typeface="Gill Sans"/>
                <a:cs typeface="Gill Sans"/>
              </a:rPr>
              <a:t>a</a:t>
            </a:r>
            <a:r>
              <a:rPr sz="1200" b="0" spc="-725" dirty="0">
                <a:latin typeface="Gill Sans"/>
                <a:cs typeface="Gill Sans"/>
              </a:rPr>
              <a:t>m</a:t>
            </a:r>
            <a:r>
              <a:rPr sz="1800" b="0" spc="-7" baseline="30092" dirty="0">
                <a:latin typeface="Gill Sans"/>
                <a:cs typeface="Gill Sans"/>
              </a:rPr>
              <a:t>g</a:t>
            </a:r>
            <a:r>
              <a:rPr sz="1800" b="0" spc="-480" baseline="30092" dirty="0">
                <a:latin typeface="Gill Sans"/>
                <a:cs typeface="Gill Sans"/>
              </a:rPr>
              <a:t>a</a:t>
            </a:r>
            <a:r>
              <a:rPr sz="1200" b="0" spc="-280" dirty="0">
                <a:latin typeface="Gill Sans"/>
                <a:cs typeface="Gill Sans"/>
              </a:rPr>
              <a:t>e</a:t>
            </a:r>
            <a:r>
              <a:rPr sz="1800" b="0" spc="-494" baseline="30092" dirty="0">
                <a:latin typeface="Gill Sans"/>
                <a:cs typeface="Gill Sans"/>
              </a:rPr>
              <a:t>m</a:t>
            </a:r>
            <a:r>
              <a:rPr sz="1200" b="0" spc="-300" dirty="0">
                <a:latin typeface="Gill Sans"/>
                <a:cs typeface="Gill Sans"/>
              </a:rPr>
              <a:t>d</a:t>
            </a:r>
            <a:r>
              <a:rPr sz="1800" b="0" spc="-450" baseline="30092" dirty="0">
                <a:latin typeface="Gill Sans"/>
                <a:cs typeface="Gill Sans"/>
              </a:rPr>
              <a:t>e</a:t>
            </a:r>
            <a:r>
              <a:rPr sz="1200" b="0" spc="-15" dirty="0">
                <a:latin typeface="Gill Sans"/>
                <a:cs typeface="Gill Sans"/>
              </a:rPr>
              <a:t>e</a:t>
            </a:r>
            <a:r>
              <a:rPr sz="1200" b="0" spc="-430" dirty="0">
                <a:latin typeface="Gill Sans"/>
                <a:cs typeface="Gill Sans"/>
              </a:rPr>
              <a:t>s</a:t>
            </a:r>
            <a:r>
              <a:rPr sz="1800" b="0" spc="-37" baseline="30092" dirty="0">
                <a:latin typeface="Gill Sans"/>
                <a:cs typeface="Gill Sans"/>
              </a:rPr>
              <a:t>"</a:t>
            </a:r>
            <a:r>
              <a:rPr sz="1200" b="0" spc="-260" dirty="0">
                <a:latin typeface="Gill Sans"/>
                <a:cs typeface="Gill Sans"/>
              </a:rPr>
              <a:t>i</a:t>
            </a:r>
            <a:r>
              <a:rPr sz="1800" b="0" spc="-727" baseline="30092" dirty="0">
                <a:latin typeface="Gill Sans"/>
                <a:cs typeface="Gill Sans"/>
              </a:rPr>
              <a:t>T</a:t>
            </a:r>
            <a:r>
              <a:rPr sz="1200" b="0" spc="-50" dirty="0">
                <a:latin typeface="Gill Sans"/>
                <a:cs typeface="Gill Sans"/>
              </a:rPr>
              <a:t>g</a:t>
            </a:r>
            <a:r>
              <a:rPr sz="1800" b="0" spc="-855" baseline="30092" dirty="0">
                <a:latin typeface="Gill Sans"/>
                <a:cs typeface="Gill Sans"/>
              </a:rPr>
              <a:t>h</a:t>
            </a:r>
            <a:r>
              <a:rPr sz="1200" b="0" spc="-10" dirty="0">
                <a:latin typeface="Gill Sans"/>
                <a:cs typeface="Gill Sans"/>
              </a:rPr>
              <a:t>n</a:t>
            </a:r>
            <a:r>
              <a:rPr sz="1200" b="0" spc="-15" dirty="0">
                <a:latin typeface="Gill Sans"/>
                <a:cs typeface="Gill Sans"/>
              </a:rPr>
              <a:t>e</a:t>
            </a:r>
            <a:r>
              <a:rPr sz="1200" b="0" spc="-5" dirty="0">
                <a:latin typeface="Gill Sans"/>
                <a:cs typeface="Gill Sans"/>
              </a:rPr>
              <a:t>d</a:t>
            </a:r>
            <a:r>
              <a:rPr sz="1200" b="0" spc="90" dirty="0">
                <a:latin typeface="Gill Sans"/>
                <a:cs typeface="Gill Sans"/>
              </a:rPr>
              <a:t> </a:t>
            </a:r>
            <a:r>
              <a:rPr sz="1200" b="0" spc="-25" dirty="0">
                <a:latin typeface="Gill Sans"/>
                <a:cs typeface="Gill Sans"/>
              </a:rPr>
              <a:t>by</a:t>
            </a:r>
            <a:endParaRPr sz="1200">
              <a:latin typeface="Gill Sans"/>
              <a:cs typeface="Gill Sans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551529" y="4117444"/>
            <a:ext cx="1650364" cy="555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3845" marR="30480" indent="-246379">
              <a:lnSpc>
                <a:spcPct val="144900"/>
              </a:lnSpc>
              <a:spcBef>
                <a:spcPts val="100"/>
              </a:spcBef>
            </a:pPr>
            <a:r>
              <a:rPr sz="1200" b="0" spc="-20" dirty="0">
                <a:latin typeface="Gill Sans"/>
                <a:cs typeface="Gill Sans"/>
              </a:rPr>
              <a:t>Sett</a:t>
            </a:r>
            <a:r>
              <a:rPr sz="1200" b="0" spc="-254" dirty="0">
                <a:latin typeface="Gill Sans"/>
                <a:cs typeface="Gill Sans"/>
              </a:rPr>
              <a:t>l</a:t>
            </a:r>
            <a:r>
              <a:rPr sz="1800" b="0" spc="-847" baseline="-30092" dirty="0">
                <a:latin typeface="Gill Sans"/>
                <a:cs typeface="Gill Sans"/>
              </a:rPr>
              <a:t>K</a:t>
            </a:r>
            <a:r>
              <a:rPr sz="1200" b="0" spc="-50" dirty="0">
                <a:latin typeface="Gill Sans"/>
                <a:cs typeface="Gill Sans"/>
              </a:rPr>
              <a:t>e</a:t>
            </a:r>
            <a:r>
              <a:rPr sz="1800" b="0" spc="-367" baseline="-30092" dirty="0">
                <a:latin typeface="Gill Sans"/>
                <a:cs typeface="Gill Sans"/>
              </a:rPr>
              <a:t>l</a:t>
            </a:r>
            <a:r>
              <a:rPr sz="1200" b="0" spc="-254" dirty="0">
                <a:latin typeface="Gill Sans"/>
                <a:cs typeface="Gill Sans"/>
              </a:rPr>
              <a:t>r</a:t>
            </a:r>
            <a:r>
              <a:rPr sz="1800" b="0" spc="-427" baseline="-30092" dirty="0">
                <a:latin typeface="Gill Sans"/>
                <a:cs typeface="Gill Sans"/>
              </a:rPr>
              <a:t>a</a:t>
            </a:r>
            <a:r>
              <a:rPr sz="1200" b="0" spc="-210" dirty="0">
                <a:latin typeface="Gill Sans"/>
                <a:cs typeface="Gill Sans"/>
              </a:rPr>
              <a:t>s</a:t>
            </a:r>
            <a:r>
              <a:rPr sz="1800" b="0" spc="-127" baseline="-30092" dirty="0">
                <a:latin typeface="Gill Sans"/>
                <a:cs typeface="Gill Sans"/>
              </a:rPr>
              <a:t>u</a:t>
            </a:r>
            <a:r>
              <a:rPr sz="1200" b="0" spc="-610" dirty="0">
                <a:latin typeface="Gill Sans"/>
                <a:cs typeface="Gill Sans"/>
              </a:rPr>
              <a:t>o</a:t>
            </a:r>
            <a:r>
              <a:rPr sz="1800" b="0" spc="-15" baseline="-30092" dirty="0">
                <a:latin typeface="Gill Sans"/>
                <a:cs typeface="Gill Sans"/>
              </a:rPr>
              <a:t>s</a:t>
            </a:r>
            <a:r>
              <a:rPr sz="1800" b="0" spc="-247" baseline="-30092" dirty="0">
                <a:latin typeface="Gill Sans"/>
                <a:cs typeface="Gill Sans"/>
              </a:rPr>
              <a:t> </a:t>
            </a:r>
            <a:r>
              <a:rPr sz="1200" b="0" spc="-265" dirty="0">
                <a:latin typeface="Gill Sans"/>
                <a:cs typeface="Gill Sans"/>
              </a:rPr>
              <a:t>f</a:t>
            </a:r>
            <a:r>
              <a:rPr sz="1800" b="0" spc="-277" baseline="-30092" dirty="0">
                <a:latin typeface="Gill Sans"/>
                <a:cs typeface="Gill Sans"/>
              </a:rPr>
              <a:t>T</a:t>
            </a:r>
            <a:r>
              <a:rPr sz="1800" b="0" spc="-832" baseline="-30092" dirty="0">
                <a:latin typeface="Gill Sans"/>
                <a:cs typeface="Gill Sans"/>
              </a:rPr>
              <a:t>e</a:t>
            </a:r>
            <a:r>
              <a:rPr sz="1200" b="0" spc="-315" dirty="0">
                <a:latin typeface="Gill Sans"/>
                <a:cs typeface="Gill Sans"/>
              </a:rPr>
              <a:t>C</a:t>
            </a:r>
            <a:r>
              <a:rPr sz="1800" b="0" spc="-442" baseline="-30092" dirty="0">
                <a:latin typeface="Gill Sans"/>
                <a:cs typeface="Gill Sans"/>
              </a:rPr>
              <a:t>u</a:t>
            </a:r>
            <a:r>
              <a:rPr sz="1200" b="0" spc="-229" dirty="0">
                <a:latin typeface="Gill Sans"/>
                <a:cs typeface="Gill Sans"/>
              </a:rPr>
              <a:t>a</a:t>
            </a:r>
            <a:r>
              <a:rPr sz="1800" b="0" spc="-569" baseline="-30092" dirty="0">
                <a:latin typeface="Gill Sans"/>
                <a:cs typeface="Gill Sans"/>
              </a:rPr>
              <a:t>b</a:t>
            </a:r>
            <a:r>
              <a:rPr sz="1200" b="0" spc="-30" dirty="0">
                <a:latin typeface="Gill Sans"/>
                <a:cs typeface="Gill Sans"/>
              </a:rPr>
              <a:t>t</a:t>
            </a:r>
            <a:r>
              <a:rPr sz="1800" b="0" spc="-847" baseline="-30092" dirty="0">
                <a:latin typeface="Gill Sans"/>
                <a:cs typeface="Gill Sans"/>
              </a:rPr>
              <a:t>e</a:t>
            </a:r>
            <a:r>
              <a:rPr sz="1200" b="0" spc="-10" dirty="0">
                <a:latin typeface="Gill Sans"/>
                <a:cs typeface="Gill Sans"/>
              </a:rPr>
              <a:t>a</a:t>
            </a:r>
            <a:r>
              <a:rPr sz="1200" b="0" spc="-560" dirty="0">
                <a:latin typeface="Gill Sans"/>
                <a:cs typeface="Gill Sans"/>
              </a:rPr>
              <a:t>n</a:t>
            </a:r>
            <a:r>
              <a:rPr sz="1800" b="0" baseline="-30092" dirty="0">
                <a:latin typeface="Gill Sans"/>
                <a:cs typeface="Gill Sans"/>
              </a:rPr>
              <a:t>r</a:t>
            </a:r>
            <a:r>
              <a:rPr sz="1800" b="0" spc="-337" baseline="-30092" dirty="0">
                <a:latin typeface="Gill Sans"/>
                <a:cs typeface="Gill Sans"/>
              </a:rPr>
              <a:t> </a:t>
            </a:r>
            <a:r>
              <a:rPr sz="1200" b="0" spc="-165" dirty="0">
                <a:latin typeface="Gill Sans"/>
                <a:cs typeface="Gill Sans"/>
              </a:rPr>
              <a:t>”</a:t>
            </a:r>
            <a:r>
              <a:rPr sz="1800" b="0" spc="-247" baseline="-30092" dirty="0">
                <a:latin typeface="Gill Sans"/>
                <a:cs typeface="Gill Sans"/>
              </a:rPr>
              <a:t>a</a:t>
            </a:r>
            <a:r>
              <a:rPr sz="1200" b="0" spc="-165" dirty="0">
                <a:latin typeface="Gill Sans"/>
                <a:cs typeface="Gill Sans"/>
              </a:rPr>
              <a:t>..</a:t>
            </a:r>
            <a:r>
              <a:rPr sz="1800" b="0" spc="-247" baseline="-30092" dirty="0">
                <a:latin typeface="Gill Sans"/>
                <a:cs typeface="Gill Sans"/>
              </a:rPr>
              <a:t>n</a:t>
            </a:r>
            <a:r>
              <a:rPr sz="1200" b="0" spc="-165" dirty="0">
                <a:latin typeface="Gill Sans"/>
                <a:cs typeface="Gill Sans"/>
              </a:rPr>
              <a:t>.</a:t>
            </a:r>
            <a:r>
              <a:rPr sz="1800" b="0" spc="-247" baseline="-30092" dirty="0">
                <a:latin typeface="Gill Sans"/>
                <a:cs typeface="Gill Sans"/>
              </a:rPr>
              <a:t>d</a:t>
            </a:r>
            <a:r>
              <a:rPr sz="1800" b="0" spc="179" baseline="-30092" dirty="0">
                <a:latin typeface="Gill Sans"/>
                <a:cs typeface="Gill Sans"/>
              </a:rPr>
              <a:t> </a:t>
            </a:r>
            <a:r>
              <a:rPr sz="1800" b="0" spc="-15" baseline="-30092" dirty="0">
                <a:latin typeface="Gill Sans"/>
                <a:cs typeface="Gill Sans"/>
              </a:rPr>
              <a:t>first </a:t>
            </a:r>
            <a:r>
              <a:rPr sz="1200" b="0" spc="-10" dirty="0">
                <a:latin typeface="Gill Sans"/>
                <a:cs typeface="Gill Sans"/>
              </a:rPr>
              <a:t>published</a:t>
            </a:r>
            <a:r>
              <a:rPr sz="1200" b="0" spc="-5" dirty="0">
                <a:latin typeface="Gill Sans"/>
                <a:cs typeface="Gill Sans"/>
              </a:rPr>
              <a:t> </a:t>
            </a:r>
            <a:r>
              <a:rPr sz="1200" b="0" dirty="0">
                <a:latin typeface="Gill Sans"/>
                <a:cs typeface="Gill Sans"/>
              </a:rPr>
              <a:t>in</a:t>
            </a:r>
            <a:r>
              <a:rPr sz="1200" b="0" spc="-5" dirty="0">
                <a:latin typeface="Gill Sans"/>
                <a:cs typeface="Gill Sans"/>
              </a:rPr>
              <a:t> </a:t>
            </a:r>
            <a:r>
              <a:rPr sz="1200" b="0" spc="-10" dirty="0">
                <a:latin typeface="Gill Sans"/>
                <a:cs typeface="Gill Sans"/>
              </a:rPr>
              <a:t>1995...</a:t>
            </a:r>
            <a:endParaRPr sz="1200">
              <a:latin typeface="Gill Sans"/>
              <a:cs typeface="Gill San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Retrieval-Augmented</a:t>
            </a:r>
            <a:r>
              <a:rPr spc="85" dirty="0"/>
              <a:t> </a:t>
            </a:r>
            <a:r>
              <a:rPr dirty="0"/>
              <a:t>Generation</a:t>
            </a:r>
            <a:r>
              <a:rPr spc="85" dirty="0"/>
              <a:t> </a:t>
            </a:r>
            <a:r>
              <a:rPr spc="-10" dirty="0"/>
              <a:t>(RAG)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3075" y="1042613"/>
            <a:ext cx="7264400" cy="3569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86435" marR="5080" algn="ctr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LLMs</a:t>
            </a:r>
            <a:r>
              <a:rPr sz="17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have</a:t>
            </a:r>
            <a:r>
              <a:rPr sz="17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no</a:t>
            </a:r>
            <a:r>
              <a:rPr sz="17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boto"/>
                <a:cs typeface="Roboto"/>
              </a:rPr>
              <a:t>knowledge</a:t>
            </a:r>
            <a:r>
              <a:rPr sz="17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beyond</a:t>
            </a:r>
            <a:r>
              <a:rPr sz="17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training</a:t>
            </a:r>
            <a:r>
              <a:rPr sz="17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date,</a:t>
            </a:r>
            <a:r>
              <a:rPr sz="17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and</a:t>
            </a:r>
            <a:r>
              <a:rPr sz="17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frequent</a:t>
            </a:r>
            <a:r>
              <a:rPr sz="17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boto"/>
                <a:cs typeface="Roboto"/>
              </a:rPr>
              <a:t>updates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to</a:t>
            </a:r>
            <a:r>
              <a:rPr sz="17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model</a:t>
            </a:r>
            <a:r>
              <a:rPr sz="17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are</a:t>
            </a:r>
            <a:r>
              <a:rPr sz="17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boto"/>
                <a:cs typeface="Roboto"/>
              </a:rPr>
              <a:t>impractical.</a:t>
            </a:r>
            <a:endParaRPr sz="17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sz="1700">
              <a:latin typeface="Roboto"/>
              <a:cs typeface="Roboto"/>
            </a:endParaRPr>
          </a:p>
          <a:p>
            <a:pPr marL="707390" algn="ctr">
              <a:lnSpc>
                <a:spcPct val="100000"/>
              </a:lnSpc>
            </a:pP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Idea:</a:t>
            </a:r>
            <a:r>
              <a:rPr sz="17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Augment</a:t>
            </a:r>
            <a:r>
              <a:rPr sz="17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LLMs</a:t>
            </a:r>
            <a:r>
              <a:rPr sz="17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with</a:t>
            </a:r>
            <a:r>
              <a:rPr sz="1700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i="1" spc="-10" dirty="0">
                <a:solidFill>
                  <a:srgbClr val="595959"/>
                </a:solidFill>
                <a:latin typeface="Roboto"/>
                <a:cs typeface="Roboto"/>
              </a:rPr>
              <a:t>retrieval</a:t>
            </a:r>
            <a:r>
              <a:rPr sz="1700" i="1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i="1" spc="-10" dirty="0">
                <a:solidFill>
                  <a:srgbClr val="595959"/>
                </a:solidFill>
                <a:latin typeface="Roboto"/>
                <a:cs typeface="Roboto"/>
              </a:rPr>
              <a:t>system</a:t>
            </a:r>
            <a:r>
              <a:rPr sz="1700" spc="-10" dirty="0">
                <a:solidFill>
                  <a:srgbClr val="595959"/>
                </a:solidFill>
                <a:latin typeface="Roboto"/>
                <a:cs typeface="Roboto"/>
              </a:rPr>
              <a:t>!</a:t>
            </a:r>
            <a:endParaRPr sz="17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7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endParaRPr sz="1700">
              <a:latin typeface="Roboto"/>
              <a:cs typeface="Roboto"/>
            </a:endParaRPr>
          </a:p>
          <a:p>
            <a:pPr marL="26670">
              <a:lnSpc>
                <a:spcPct val="100000"/>
              </a:lnSpc>
              <a:spcBef>
                <a:spcPts val="5"/>
              </a:spcBef>
            </a:pP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But</a:t>
            </a:r>
            <a:r>
              <a:rPr sz="17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at</a:t>
            </a:r>
            <a:r>
              <a:rPr sz="17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scale,</a:t>
            </a:r>
            <a:r>
              <a:rPr sz="17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sensitive</a:t>
            </a:r>
            <a:r>
              <a:rPr sz="17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to</a:t>
            </a:r>
            <a:r>
              <a:rPr sz="17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choices</a:t>
            </a:r>
            <a:r>
              <a:rPr sz="17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spc="-25" dirty="0">
                <a:solidFill>
                  <a:srgbClr val="595959"/>
                </a:solidFill>
                <a:latin typeface="Roboto"/>
                <a:cs typeface="Roboto"/>
              </a:rPr>
              <a:t>of:</a:t>
            </a:r>
            <a:endParaRPr sz="1700">
              <a:latin typeface="Roboto"/>
              <a:cs typeface="Roboto"/>
            </a:endParaRPr>
          </a:p>
          <a:p>
            <a:pPr marL="382270" indent="-248920">
              <a:lnSpc>
                <a:spcPct val="100000"/>
              </a:lnSpc>
              <a:buAutoNum type="arabicParenR"/>
              <a:tabLst>
                <a:tab pos="382270" algn="l"/>
              </a:tabLst>
            </a:pP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chunking</a:t>
            </a:r>
            <a:r>
              <a:rPr sz="17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boto"/>
                <a:cs typeface="Roboto"/>
              </a:rPr>
              <a:t>strategy,</a:t>
            </a:r>
            <a:endParaRPr sz="1700">
              <a:latin typeface="Roboto"/>
              <a:cs typeface="Roboto"/>
            </a:endParaRPr>
          </a:p>
          <a:p>
            <a:pPr marL="382270" indent="-248920">
              <a:lnSpc>
                <a:spcPct val="100000"/>
              </a:lnSpc>
              <a:spcBef>
                <a:spcPts val="359"/>
              </a:spcBef>
              <a:buAutoNum type="arabicParenR"/>
              <a:tabLst>
                <a:tab pos="382270" algn="l"/>
              </a:tabLst>
            </a:pP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embedding</a:t>
            </a:r>
            <a:r>
              <a:rPr sz="1700" spc="-6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model,</a:t>
            </a:r>
            <a:r>
              <a:rPr sz="1700" spc="-6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spc="-25" dirty="0">
                <a:solidFill>
                  <a:srgbClr val="595959"/>
                </a:solidFill>
                <a:latin typeface="Roboto"/>
                <a:cs typeface="Roboto"/>
              </a:rPr>
              <a:t>and</a:t>
            </a:r>
            <a:endParaRPr sz="1700">
              <a:latin typeface="Roboto"/>
              <a:cs typeface="Roboto"/>
            </a:endParaRPr>
          </a:p>
          <a:p>
            <a:pPr marL="382270" indent="-248920">
              <a:lnSpc>
                <a:spcPct val="100000"/>
              </a:lnSpc>
              <a:buAutoNum type="arabicParenR"/>
              <a:tabLst>
                <a:tab pos="382270" algn="l"/>
              </a:tabLst>
            </a:pP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generation</a:t>
            </a:r>
            <a:r>
              <a:rPr sz="1700" spc="-8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boto"/>
                <a:cs typeface="Roboto"/>
              </a:rPr>
              <a:t>model.</a:t>
            </a:r>
            <a:endParaRPr sz="17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035"/>
              </a:spcBef>
            </a:pPr>
            <a:endParaRPr sz="17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And</a:t>
            </a:r>
            <a:r>
              <a:rPr sz="17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not</a:t>
            </a:r>
            <a:r>
              <a:rPr sz="1700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guaranteed</a:t>
            </a:r>
            <a:r>
              <a:rPr sz="1700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to</a:t>
            </a:r>
            <a:r>
              <a:rPr sz="1700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be</a:t>
            </a:r>
            <a:r>
              <a:rPr sz="1700" spc="-20" dirty="0">
                <a:solidFill>
                  <a:srgbClr val="595959"/>
                </a:solidFill>
                <a:latin typeface="Roboto"/>
                <a:cs typeface="Roboto"/>
              </a:rPr>
              <a:t> hallucination-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free</a:t>
            </a:r>
            <a:r>
              <a:rPr sz="1700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spc="-50" dirty="0">
                <a:solidFill>
                  <a:srgbClr val="595959"/>
                </a:solidFill>
                <a:latin typeface="Roboto"/>
                <a:cs typeface="Roboto"/>
              </a:rPr>
              <a:t>…</a:t>
            </a:r>
            <a:endParaRPr sz="1700">
              <a:latin typeface="Roboto"/>
              <a:cs typeface="Robo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619625" y="2480066"/>
            <a:ext cx="3649979" cy="1652905"/>
            <a:chOff x="4619625" y="2480066"/>
            <a:chExt cx="3649979" cy="165290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9625" y="2480066"/>
              <a:ext cx="3649775" cy="165245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726221" y="3016790"/>
              <a:ext cx="3413760" cy="285750"/>
            </a:xfrm>
            <a:custGeom>
              <a:avLst/>
              <a:gdLst/>
              <a:ahLst/>
              <a:cxnLst/>
              <a:rect l="l" t="t" r="r" b="b"/>
              <a:pathLst>
                <a:path w="3413759" h="285750">
                  <a:moveTo>
                    <a:pt x="1109469" y="0"/>
                  </a:moveTo>
                  <a:lnTo>
                    <a:pt x="2250793" y="0"/>
                  </a:lnTo>
                  <a:lnTo>
                    <a:pt x="2250793" y="274694"/>
                  </a:lnTo>
                  <a:lnTo>
                    <a:pt x="1109469" y="274694"/>
                  </a:lnTo>
                  <a:lnTo>
                    <a:pt x="1109469" y="0"/>
                  </a:lnTo>
                  <a:close/>
                </a:path>
                <a:path w="3413759" h="285750">
                  <a:moveTo>
                    <a:pt x="0" y="10557"/>
                  </a:moveTo>
                  <a:lnTo>
                    <a:pt x="949431" y="10557"/>
                  </a:lnTo>
                  <a:lnTo>
                    <a:pt x="949431" y="285252"/>
                  </a:lnTo>
                  <a:lnTo>
                    <a:pt x="0" y="285252"/>
                  </a:lnTo>
                  <a:lnTo>
                    <a:pt x="0" y="10557"/>
                  </a:lnTo>
                  <a:close/>
                </a:path>
                <a:path w="3413759" h="285750">
                  <a:moveTo>
                    <a:pt x="2464127" y="4"/>
                  </a:moveTo>
                  <a:lnTo>
                    <a:pt x="3413558" y="4"/>
                  </a:lnTo>
                  <a:lnTo>
                    <a:pt x="3413558" y="274699"/>
                  </a:lnTo>
                  <a:lnTo>
                    <a:pt x="2464127" y="274699"/>
                  </a:lnTo>
                  <a:lnTo>
                    <a:pt x="2464127" y="4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Two</a:t>
            </a:r>
            <a:r>
              <a:rPr spc="25" dirty="0"/>
              <a:t> </a:t>
            </a:r>
            <a:r>
              <a:rPr dirty="0"/>
              <a:t>Modes</a:t>
            </a:r>
            <a:r>
              <a:rPr spc="30" dirty="0"/>
              <a:t> </a:t>
            </a:r>
            <a:r>
              <a:rPr dirty="0"/>
              <a:t>of</a:t>
            </a:r>
            <a:r>
              <a:rPr spc="30" dirty="0"/>
              <a:t> </a:t>
            </a:r>
            <a:r>
              <a:rPr dirty="0"/>
              <a:t>Human</a:t>
            </a:r>
            <a:r>
              <a:rPr spc="-20" dirty="0"/>
              <a:t> </a:t>
            </a:r>
            <a:r>
              <a:rPr spc="-10" dirty="0"/>
              <a:t>Thought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720911" y="1044397"/>
            <a:ext cx="586041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595959"/>
                </a:solidFill>
                <a:latin typeface="Roboto"/>
                <a:cs typeface="Roboto"/>
              </a:rPr>
              <a:t>Prompting</a:t>
            </a:r>
            <a:r>
              <a:rPr sz="16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and</a:t>
            </a:r>
            <a:r>
              <a:rPr sz="16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spc="-20" dirty="0">
                <a:solidFill>
                  <a:srgbClr val="595959"/>
                </a:solidFill>
                <a:latin typeface="Roboto"/>
                <a:cs typeface="Roboto"/>
              </a:rPr>
              <a:t>Fine-</a:t>
            </a:r>
            <a:r>
              <a:rPr sz="1600" spc="-10" dirty="0">
                <a:solidFill>
                  <a:srgbClr val="595959"/>
                </a:solidFill>
                <a:latin typeface="Roboto"/>
                <a:cs typeface="Roboto"/>
              </a:rPr>
              <a:t>Tuning</a:t>
            </a:r>
            <a:r>
              <a:rPr sz="16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6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still</a:t>
            </a:r>
            <a:r>
              <a:rPr sz="16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only</a:t>
            </a:r>
            <a:r>
              <a:rPr sz="16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yield</a:t>
            </a:r>
            <a:r>
              <a:rPr sz="16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a</a:t>
            </a:r>
            <a:r>
              <a:rPr sz="16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(better)</a:t>
            </a:r>
            <a:r>
              <a:rPr sz="16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System</a:t>
            </a:r>
            <a:r>
              <a:rPr sz="1600" spc="-50" dirty="0">
                <a:solidFill>
                  <a:srgbClr val="595959"/>
                </a:solidFill>
                <a:latin typeface="Roboto"/>
                <a:cs typeface="Roboto"/>
              </a:rPr>
              <a:t> 1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65491" y="1595092"/>
            <a:ext cx="9842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595959"/>
                </a:solidFill>
                <a:latin typeface="Roboto"/>
                <a:cs typeface="Roboto"/>
              </a:rPr>
              <a:t>System</a:t>
            </a:r>
            <a:r>
              <a:rPr sz="1800" b="1" spc="-9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b="1" spc="-50" dirty="0">
                <a:solidFill>
                  <a:srgbClr val="595959"/>
                </a:solidFill>
                <a:latin typeface="Roboto"/>
                <a:cs typeface="Roboto"/>
              </a:rPr>
              <a:t>1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91616" y="1579243"/>
            <a:ext cx="9842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595959"/>
                </a:solidFill>
                <a:latin typeface="Roboto"/>
                <a:cs typeface="Roboto"/>
              </a:rPr>
              <a:t>System</a:t>
            </a:r>
            <a:r>
              <a:rPr sz="1800" b="1" spc="-9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b="1" spc="-50" dirty="0">
                <a:solidFill>
                  <a:srgbClr val="595959"/>
                </a:solidFill>
                <a:latin typeface="Roboto"/>
                <a:cs typeface="Roboto"/>
              </a:rPr>
              <a:t>2</a:t>
            </a:r>
            <a:endParaRPr sz="1800">
              <a:latin typeface="Roboto"/>
              <a:cs typeface="Roboto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2699" y="2017900"/>
            <a:ext cx="5585998" cy="273880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79050" y="1583874"/>
            <a:ext cx="2133599" cy="3162449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Neurosymbolic</a:t>
            </a:r>
            <a:r>
              <a:rPr spc="-10" dirty="0"/>
              <a:t> </a:t>
            </a:r>
            <a:r>
              <a:rPr dirty="0"/>
              <a:t>To</a:t>
            </a:r>
            <a:r>
              <a:rPr spc="35" dirty="0"/>
              <a:t> </a:t>
            </a:r>
            <a:r>
              <a:rPr dirty="0"/>
              <a:t>Combine</a:t>
            </a:r>
            <a:r>
              <a:rPr spc="40" dirty="0"/>
              <a:t> </a:t>
            </a:r>
            <a:r>
              <a:rPr dirty="0"/>
              <a:t>Both</a:t>
            </a:r>
            <a:r>
              <a:rPr spc="35" dirty="0"/>
              <a:t> </a:t>
            </a:r>
            <a:r>
              <a:rPr spc="-10" dirty="0"/>
              <a:t>Worlds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29645" y="1062718"/>
            <a:ext cx="1983739" cy="838200"/>
          </a:xfrm>
          <a:prstGeom prst="rect">
            <a:avLst/>
          </a:prstGeom>
        </p:spPr>
        <p:txBody>
          <a:bodyPr vert="horz" wrap="square" lIns="0" tIns="1593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5"/>
              </a:spcBef>
            </a:pPr>
            <a:r>
              <a:rPr sz="2000" b="1" dirty="0">
                <a:solidFill>
                  <a:srgbClr val="EE8DC0"/>
                </a:solidFill>
                <a:latin typeface="Montserrat"/>
                <a:cs typeface="Montserrat"/>
              </a:rPr>
              <a:t>Deep </a:t>
            </a:r>
            <a:r>
              <a:rPr sz="2000" b="1" spc="-10" dirty="0">
                <a:solidFill>
                  <a:srgbClr val="EE8DC0"/>
                </a:solidFill>
                <a:latin typeface="Montserrat"/>
                <a:cs typeface="Montserrat"/>
              </a:rPr>
              <a:t>Learning</a:t>
            </a:r>
            <a:endParaRPr sz="2000">
              <a:latin typeface="Montserrat"/>
              <a:cs typeface="Montserrat"/>
            </a:endParaRPr>
          </a:p>
          <a:p>
            <a:pPr marL="14604" algn="ctr">
              <a:lnSpc>
                <a:spcPct val="100000"/>
              </a:lnSpc>
              <a:spcBef>
                <a:spcPts val="925"/>
              </a:spcBef>
            </a:pPr>
            <a:r>
              <a:rPr sz="1600" b="1" dirty="0">
                <a:solidFill>
                  <a:srgbClr val="44464B"/>
                </a:solidFill>
                <a:latin typeface="Gill Sans"/>
                <a:cs typeface="Gill Sans"/>
              </a:rPr>
              <a:t>[System</a:t>
            </a:r>
            <a:r>
              <a:rPr sz="1600" b="1" spc="-70" dirty="0">
                <a:solidFill>
                  <a:srgbClr val="44464B"/>
                </a:solidFill>
                <a:latin typeface="Gill Sans"/>
                <a:cs typeface="Gill Sans"/>
              </a:rPr>
              <a:t> </a:t>
            </a:r>
            <a:r>
              <a:rPr sz="1600" b="1" spc="-25" dirty="0">
                <a:solidFill>
                  <a:srgbClr val="44464B"/>
                </a:solidFill>
                <a:latin typeface="Gill Sans"/>
                <a:cs typeface="Gill Sans"/>
              </a:rPr>
              <a:t>1]</a:t>
            </a:r>
            <a:endParaRPr sz="1600">
              <a:latin typeface="Gill Sans"/>
              <a:cs typeface="Gill San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04821" y="1095262"/>
            <a:ext cx="2733675" cy="806450"/>
          </a:xfrm>
          <a:prstGeom prst="rect">
            <a:avLst/>
          </a:prstGeom>
        </p:spPr>
        <p:txBody>
          <a:bodyPr vert="horz" wrap="square" lIns="0" tIns="141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15"/>
              </a:spcBef>
            </a:pPr>
            <a:r>
              <a:rPr sz="2000" b="1" dirty="0">
                <a:solidFill>
                  <a:srgbClr val="70AEE4"/>
                </a:solidFill>
                <a:latin typeface="Montserrat"/>
                <a:cs typeface="Montserrat"/>
              </a:rPr>
              <a:t>Classical</a:t>
            </a:r>
            <a:r>
              <a:rPr sz="2000" b="1" spc="-95" dirty="0">
                <a:solidFill>
                  <a:srgbClr val="70AEE4"/>
                </a:solidFill>
                <a:latin typeface="Montserrat"/>
                <a:cs typeface="Montserrat"/>
              </a:rPr>
              <a:t> </a:t>
            </a:r>
            <a:r>
              <a:rPr sz="2000" b="1" spc="-10" dirty="0">
                <a:solidFill>
                  <a:srgbClr val="70AEE4"/>
                </a:solidFill>
                <a:latin typeface="Montserrat"/>
                <a:cs typeface="Montserrat"/>
              </a:rPr>
              <a:t>Algorithms</a:t>
            </a:r>
            <a:endParaRPr sz="2000">
              <a:latin typeface="Montserrat"/>
              <a:cs typeface="Montserrat"/>
            </a:endParaRPr>
          </a:p>
          <a:p>
            <a:pPr marL="934085">
              <a:lnSpc>
                <a:spcPct val="100000"/>
              </a:lnSpc>
              <a:spcBef>
                <a:spcPts val="810"/>
              </a:spcBef>
            </a:pPr>
            <a:r>
              <a:rPr sz="1600" b="1" dirty="0">
                <a:solidFill>
                  <a:srgbClr val="44464B"/>
                </a:solidFill>
                <a:latin typeface="Gill Sans"/>
                <a:cs typeface="Gill Sans"/>
              </a:rPr>
              <a:t>[System</a:t>
            </a:r>
            <a:r>
              <a:rPr sz="1600" b="1" spc="-70" dirty="0">
                <a:solidFill>
                  <a:srgbClr val="44464B"/>
                </a:solidFill>
                <a:latin typeface="Gill Sans"/>
                <a:cs typeface="Gill Sans"/>
              </a:rPr>
              <a:t> </a:t>
            </a:r>
            <a:r>
              <a:rPr sz="1600" b="1" spc="-25" dirty="0">
                <a:solidFill>
                  <a:srgbClr val="44464B"/>
                </a:solidFill>
                <a:latin typeface="Gill Sans"/>
                <a:cs typeface="Gill Sans"/>
              </a:rPr>
              <a:t>2]</a:t>
            </a:r>
            <a:endParaRPr sz="1600">
              <a:latin typeface="Gill Sans"/>
              <a:cs typeface="Gill San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20812" y="2137837"/>
            <a:ext cx="3676650" cy="1579245"/>
            <a:chOff x="520812" y="2137837"/>
            <a:chExt cx="3676650" cy="1579245"/>
          </a:xfrm>
        </p:grpSpPr>
        <p:sp>
          <p:nvSpPr>
            <p:cNvPr id="15" name="object 15"/>
            <p:cNvSpPr/>
            <p:nvPr/>
          </p:nvSpPr>
          <p:spPr>
            <a:xfrm>
              <a:off x="525574" y="2142600"/>
              <a:ext cx="3667125" cy="1569720"/>
            </a:xfrm>
            <a:custGeom>
              <a:avLst/>
              <a:gdLst/>
              <a:ahLst/>
              <a:cxnLst/>
              <a:rect l="l" t="t" r="r" b="b"/>
              <a:pathLst>
                <a:path w="3667125" h="1569720">
                  <a:moveTo>
                    <a:pt x="3489678" y="1569299"/>
                  </a:moveTo>
                  <a:lnTo>
                    <a:pt x="177221" y="1569299"/>
                  </a:lnTo>
                  <a:lnTo>
                    <a:pt x="130108" y="1562969"/>
                  </a:lnTo>
                  <a:lnTo>
                    <a:pt x="87774" y="1545104"/>
                  </a:lnTo>
                  <a:lnTo>
                    <a:pt x="51906" y="1517393"/>
                  </a:lnTo>
                  <a:lnTo>
                    <a:pt x="24195" y="1481525"/>
                  </a:lnTo>
                  <a:lnTo>
                    <a:pt x="6330" y="1439191"/>
                  </a:lnTo>
                  <a:lnTo>
                    <a:pt x="0" y="1392078"/>
                  </a:lnTo>
                  <a:lnTo>
                    <a:pt x="0" y="177220"/>
                  </a:lnTo>
                  <a:lnTo>
                    <a:pt x="6330" y="130108"/>
                  </a:lnTo>
                  <a:lnTo>
                    <a:pt x="24195" y="87774"/>
                  </a:lnTo>
                  <a:lnTo>
                    <a:pt x="51906" y="51906"/>
                  </a:lnTo>
                  <a:lnTo>
                    <a:pt x="87774" y="24195"/>
                  </a:lnTo>
                  <a:lnTo>
                    <a:pt x="130108" y="6330"/>
                  </a:lnTo>
                  <a:lnTo>
                    <a:pt x="177221" y="0"/>
                  </a:lnTo>
                  <a:lnTo>
                    <a:pt x="3489678" y="0"/>
                  </a:lnTo>
                  <a:lnTo>
                    <a:pt x="3557498" y="13490"/>
                  </a:lnTo>
                  <a:lnTo>
                    <a:pt x="3614992" y="51906"/>
                  </a:lnTo>
                  <a:lnTo>
                    <a:pt x="3653409" y="109401"/>
                  </a:lnTo>
                  <a:lnTo>
                    <a:pt x="3666899" y="177220"/>
                  </a:lnTo>
                  <a:lnTo>
                    <a:pt x="3666899" y="1392078"/>
                  </a:lnTo>
                  <a:lnTo>
                    <a:pt x="3660569" y="1439191"/>
                  </a:lnTo>
                  <a:lnTo>
                    <a:pt x="3642704" y="1481525"/>
                  </a:lnTo>
                  <a:lnTo>
                    <a:pt x="3614993" y="1517393"/>
                  </a:lnTo>
                  <a:lnTo>
                    <a:pt x="3579125" y="1545104"/>
                  </a:lnTo>
                  <a:lnTo>
                    <a:pt x="3536791" y="1562969"/>
                  </a:lnTo>
                  <a:lnTo>
                    <a:pt x="3489678" y="1569299"/>
                  </a:lnTo>
                  <a:close/>
                </a:path>
              </a:pathLst>
            </a:custGeom>
            <a:solidFill>
              <a:srgbClr val="EE8DC0">
                <a:alpha val="1726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25574" y="2142600"/>
              <a:ext cx="3667125" cy="1569720"/>
            </a:xfrm>
            <a:custGeom>
              <a:avLst/>
              <a:gdLst/>
              <a:ahLst/>
              <a:cxnLst/>
              <a:rect l="l" t="t" r="r" b="b"/>
              <a:pathLst>
                <a:path w="3667125" h="1569720">
                  <a:moveTo>
                    <a:pt x="0" y="177220"/>
                  </a:moveTo>
                  <a:lnTo>
                    <a:pt x="6330" y="130108"/>
                  </a:lnTo>
                  <a:lnTo>
                    <a:pt x="24195" y="87774"/>
                  </a:lnTo>
                  <a:lnTo>
                    <a:pt x="51906" y="51906"/>
                  </a:lnTo>
                  <a:lnTo>
                    <a:pt x="87774" y="24195"/>
                  </a:lnTo>
                  <a:lnTo>
                    <a:pt x="130108" y="6330"/>
                  </a:lnTo>
                  <a:lnTo>
                    <a:pt x="177221" y="0"/>
                  </a:lnTo>
                  <a:lnTo>
                    <a:pt x="3489678" y="0"/>
                  </a:lnTo>
                  <a:lnTo>
                    <a:pt x="3557498" y="13490"/>
                  </a:lnTo>
                  <a:lnTo>
                    <a:pt x="3614992" y="51906"/>
                  </a:lnTo>
                  <a:lnTo>
                    <a:pt x="3653409" y="109401"/>
                  </a:lnTo>
                  <a:lnTo>
                    <a:pt x="3666899" y="177220"/>
                  </a:lnTo>
                  <a:lnTo>
                    <a:pt x="3666899" y="1392078"/>
                  </a:lnTo>
                  <a:lnTo>
                    <a:pt x="3660569" y="1439191"/>
                  </a:lnTo>
                  <a:lnTo>
                    <a:pt x="3642704" y="1481525"/>
                  </a:lnTo>
                  <a:lnTo>
                    <a:pt x="3614993" y="1517393"/>
                  </a:lnTo>
                  <a:lnTo>
                    <a:pt x="3579125" y="1545104"/>
                  </a:lnTo>
                  <a:lnTo>
                    <a:pt x="3536791" y="1562969"/>
                  </a:lnTo>
                  <a:lnTo>
                    <a:pt x="3489678" y="1569299"/>
                  </a:lnTo>
                  <a:lnTo>
                    <a:pt x="177221" y="1569299"/>
                  </a:lnTo>
                  <a:lnTo>
                    <a:pt x="130108" y="1562969"/>
                  </a:lnTo>
                  <a:lnTo>
                    <a:pt x="87774" y="1545104"/>
                  </a:lnTo>
                  <a:lnTo>
                    <a:pt x="51906" y="1517393"/>
                  </a:lnTo>
                  <a:lnTo>
                    <a:pt x="24195" y="1481525"/>
                  </a:lnTo>
                  <a:lnTo>
                    <a:pt x="6330" y="1439191"/>
                  </a:lnTo>
                  <a:lnTo>
                    <a:pt x="0" y="1392078"/>
                  </a:lnTo>
                  <a:lnTo>
                    <a:pt x="0" y="177220"/>
                  </a:lnTo>
                  <a:close/>
                </a:path>
              </a:pathLst>
            </a:custGeom>
            <a:ln w="9524">
              <a:solidFill>
                <a:srgbClr val="EE8D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09350" y="2262976"/>
            <a:ext cx="3015615" cy="1313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0515" indent="-297815">
              <a:lnSpc>
                <a:spcPts val="2030"/>
              </a:lnSpc>
              <a:spcBef>
                <a:spcPts val="100"/>
              </a:spcBef>
              <a:buChar char="-"/>
              <a:tabLst>
                <a:tab pos="310515" algn="l"/>
              </a:tabLst>
            </a:pPr>
            <a:r>
              <a:rPr sz="1700" b="0" spc="-10" dirty="0">
                <a:latin typeface="Gill Sans"/>
                <a:cs typeface="Gill Sans"/>
              </a:rPr>
              <a:t>Sub-</a:t>
            </a:r>
            <a:r>
              <a:rPr sz="1700" b="0" dirty="0">
                <a:latin typeface="Gill Sans"/>
                <a:cs typeface="Gill Sans"/>
              </a:rPr>
              <a:t>symbolic</a:t>
            </a:r>
            <a:r>
              <a:rPr sz="1700" b="0" spc="-20" dirty="0">
                <a:latin typeface="Gill Sans"/>
                <a:cs typeface="Gill Sans"/>
              </a:rPr>
              <a:t> </a:t>
            </a:r>
            <a:r>
              <a:rPr sz="1700" b="0" spc="-10" dirty="0">
                <a:latin typeface="Gill Sans"/>
                <a:cs typeface="Gill Sans"/>
              </a:rPr>
              <a:t>knowledge</a:t>
            </a:r>
            <a:endParaRPr sz="1700">
              <a:latin typeface="Gill Sans"/>
              <a:cs typeface="Gill Sans"/>
            </a:endParaRPr>
          </a:p>
          <a:p>
            <a:pPr marL="310515" indent="-297815">
              <a:lnSpc>
                <a:spcPts val="2025"/>
              </a:lnSpc>
              <a:buChar char="-"/>
              <a:tabLst>
                <a:tab pos="310515" algn="l"/>
              </a:tabLst>
            </a:pPr>
            <a:r>
              <a:rPr sz="1700" b="0" dirty="0">
                <a:latin typeface="Gill Sans"/>
                <a:cs typeface="Gill Sans"/>
              </a:rPr>
              <a:t>Open-domain</a:t>
            </a:r>
            <a:r>
              <a:rPr sz="1700" b="0" spc="-5" dirty="0">
                <a:latin typeface="Gill Sans"/>
                <a:cs typeface="Gill Sans"/>
              </a:rPr>
              <a:t> </a:t>
            </a:r>
            <a:r>
              <a:rPr sz="1700" b="0" spc="-10" dirty="0">
                <a:latin typeface="Gill Sans"/>
                <a:cs typeface="Gill Sans"/>
              </a:rPr>
              <a:t>knowledge</a:t>
            </a:r>
            <a:endParaRPr sz="1700">
              <a:latin typeface="Gill Sans"/>
              <a:cs typeface="Gill Sans"/>
            </a:endParaRPr>
          </a:p>
          <a:p>
            <a:pPr marL="310515" indent="-297815">
              <a:lnSpc>
                <a:spcPts val="2025"/>
              </a:lnSpc>
              <a:buChar char="-"/>
              <a:tabLst>
                <a:tab pos="310515" algn="l"/>
              </a:tabLst>
            </a:pPr>
            <a:r>
              <a:rPr sz="1700" b="0" dirty="0">
                <a:latin typeface="Gill Sans"/>
                <a:cs typeface="Gill Sans"/>
              </a:rPr>
              <a:t>Rapid</a:t>
            </a:r>
            <a:r>
              <a:rPr sz="1700" b="0" spc="-40" dirty="0">
                <a:latin typeface="Gill Sans"/>
                <a:cs typeface="Gill Sans"/>
              </a:rPr>
              <a:t> </a:t>
            </a:r>
            <a:r>
              <a:rPr sz="1700" b="0" spc="-10" dirty="0">
                <a:latin typeface="Gill Sans"/>
                <a:cs typeface="Gill Sans"/>
              </a:rPr>
              <a:t>reasoning</a:t>
            </a:r>
            <a:endParaRPr sz="1700">
              <a:latin typeface="Gill Sans"/>
              <a:cs typeface="Gill Sans"/>
            </a:endParaRPr>
          </a:p>
          <a:p>
            <a:pPr marL="310515" indent="-297815">
              <a:lnSpc>
                <a:spcPts val="2025"/>
              </a:lnSpc>
              <a:buChar char="-"/>
              <a:tabLst>
                <a:tab pos="310515" algn="l"/>
              </a:tabLst>
            </a:pPr>
            <a:r>
              <a:rPr sz="1700" b="0" dirty="0">
                <a:latin typeface="Gill Sans"/>
                <a:cs typeface="Gill Sans"/>
              </a:rPr>
              <a:t>Handling</a:t>
            </a:r>
            <a:r>
              <a:rPr sz="1700" b="0" spc="-20" dirty="0">
                <a:latin typeface="Gill Sans"/>
                <a:cs typeface="Gill Sans"/>
              </a:rPr>
              <a:t> </a:t>
            </a:r>
            <a:r>
              <a:rPr sz="1700" b="0" dirty="0">
                <a:latin typeface="Gill Sans"/>
                <a:cs typeface="Gill Sans"/>
              </a:rPr>
              <a:t>noise</a:t>
            </a:r>
            <a:r>
              <a:rPr sz="1700" b="0" spc="-20" dirty="0">
                <a:latin typeface="Gill Sans"/>
                <a:cs typeface="Gill Sans"/>
              </a:rPr>
              <a:t> </a:t>
            </a:r>
            <a:r>
              <a:rPr sz="1700" b="0" dirty="0">
                <a:latin typeface="Gill Sans"/>
                <a:cs typeface="Gill Sans"/>
              </a:rPr>
              <a:t>and</a:t>
            </a:r>
            <a:r>
              <a:rPr sz="1700" b="0" spc="-20" dirty="0">
                <a:latin typeface="Gill Sans"/>
                <a:cs typeface="Gill Sans"/>
              </a:rPr>
              <a:t> </a:t>
            </a:r>
            <a:r>
              <a:rPr sz="1700" b="0" spc="-10" dirty="0">
                <a:latin typeface="Gill Sans"/>
                <a:cs typeface="Gill Sans"/>
              </a:rPr>
              <a:t>naturalness</a:t>
            </a:r>
            <a:endParaRPr sz="1700">
              <a:latin typeface="Gill Sans"/>
              <a:cs typeface="Gill Sans"/>
            </a:endParaRPr>
          </a:p>
          <a:p>
            <a:pPr marL="310515" indent="-297815">
              <a:lnSpc>
                <a:spcPts val="2035"/>
              </a:lnSpc>
              <a:buChar char="-"/>
              <a:tabLst>
                <a:tab pos="310515" algn="l"/>
              </a:tabLst>
            </a:pPr>
            <a:r>
              <a:rPr sz="1700" b="0" spc="-10" dirty="0">
                <a:latin typeface="Gill Sans"/>
                <a:cs typeface="Gill Sans"/>
              </a:rPr>
              <a:t>In-</a:t>
            </a:r>
            <a:r>
              <a:rPr sz="1700" b="0" dirty="0">
                <a:latin typeface="Gill Sans"/>
                <a:cs typeface="Gill Sans"/>
              </a:rPr>
              <a:t>context</a:t>
            </a:r>
            <a:r>
              <a:rPr sz="1700" b="0" spc="-50" dirty="0">
                <a:latin typeface="Gill Sans"/>
                <a:cs typeface="Gill Sans"/>
              </a:rPr>
              <a:t> </a:t>
            </a:r>
            <a:r>
              <a:rPr sz="1700" b="0" spc="-10" dirty="0">
                <a:latin typeface="Gill Sans"/>
                <a:cs typeface="Gill Sans"/>
              </a:rPr>
              <a:t>learning</a:t>
            </a:r>
            <a:endParaRPr sz="1700">
              <a:latin typeface="Gill Sans"/>
              <a:cs typeface="Gill San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948737" y="2137837"/>
            <a:ext cx="3592829" cy="1579245"/>
            <a:chOff x="4948737" y="2137837"/>
            <a:chExt cx="3592829" cy="1579245"/>
          </a:xfrm>
        </p:grpSpPr>
        <p:sp>
          <p:nvSpPr>
            <p:cNvPr id="11" name="object 11"/>
            <p:cNvSpPr/>
            <p:nvPr/>
          </p:nvSpPr>
          <p:spPr>
            <a:xfrm>
              <a:off x="4953499" y="2142600"/>
              <a:ext cx="3583304" cy="1569720"/>
            </a:xfrm>
            <a:custGeom>
              <a:avLst/>
              <a:gdLst/>
              <a:ahLst/>
              <a:cxnLst/>
              <a:rect l="l" t="t" r="r" b="b"/>
              <a:pathLst>
                <a:path w="3583304" h="1569720">
                  <a:moveTo>
                    <a:pt x="3448018" y="1569299"/>
                  </a:moveTo>
                  <a:lnTo>
                    <a:pt x="134881" y="1569299"/>
                  </a:lnTo>
                  <a:lnTo>
                    <a:pt x="92248" y="1562423"/>
                  </a:lnTo>
                  <a:lnTo>
                    <a:pt x="55222" y="1543275"/>
                  </a:lnTo>
                  <a:lnTo>
                    <a:pt x="26024" y="1514077"/>
                  </a:lnTo>
                  <a:lnTo>
                    <a:pt x="6876" y="1477051"/>
                  </a:lnTo>
                  <a:lnTo>
                    <a:pt x="0" y="1434418"/>
                  </a:lnTo>
                  <a:lnTo>
                    <a:pt x="0" y="134881"/>
                  </a:lnTo>
                  <a:lnTo>
                    <a:pt x="6876" y="92248"/>
                  </a:lnTo>
                  <a:lnTo>
                    <a:pt x="26024" y="55222"/>
                  </a:lnTo>
                  <a:lnTo>
                    <a:pt x="55222" y="26024"/>
                  </a:lnTo>
                  <a:lnTo>
                    <a:pt x="92248" y="6876"/>
                  </a:lnTo>
                  <a:lnTo>
                    <a:pt x="134881" y="0"/>
                  </a:lnTo>
                  <a:lnTo>
                    <a:pt x="3448018" y="0"/>
                  </a:lnTo>
                  <a:lnTo>
                    <a:pt x="3499635" y="10267"/>
                  </a:lnTo>
                  <a:lnTo>
                    <a:pt x="3543394" y="39505"/>
                  </a:lnTo>
                  <a:lnTo>
                    <a:pt x="3572632" y="83264"/>
                  </a:lnTo>
                  <a:lnTo>
                    <a:pt x="3582899" y="134881"/>
                  </a:lnTo>
                  <a:lnTo>
                    <a:pt x="3582899" y="1434418"/>
                  </a:lnTo>
                  <a:lnTo>
                    <a:pt x="3576023" y="1477051"/>
                  </a:lnTo>
                  <a:lnTo>
                    <a:pt x="3556875" y="1514077"/>
                  </a:lnTo>
                  <a:lnTo>
                    <a:pt x="3527677" y="1543275"/>
                  </a:lnTo>
                  <a:lnTo>
                    <a:pt x="3490651" y="1562423"/>
                  </a:lnTo>
                  <a:lnTo>
                    <a:pt x="3448018" y="1569299"/>
                  </a:lnTo>
                  <a:close/>
                </a:path>
              </a:pathLst>
            </a:custGeom>
            <a:solidFill>
              <a:srgbClr val="88C5FF">
                <a:alpha val="263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953499" y="2142600"/>
              <a:ext cx="3583304" cy="1569720"/>
            </a:xfrm>
            <a:custGeom>
              <a:avLst/>
              <a:gdLst/>
              <a:ahLst/>
              <a:cxnLst/>
              <a:rect l="l" t="t" r="r" b="b"/>
              <a:pathLst>
                <a:path w="3583304" h="1569720">
                  <a:moveTo>
                    <a:pt x="0" y="134881"/>
                  </a:moveTo>
                  <a:lnTo>
                    <a:pt x="6876" y="92248"/>
                  </a:lnTo>
                  <a:lnTo>
                    <a:pt x="26024" y="55222"/>
                  </a:lnTo>
                  <a:lnTo>
                    <a:pt x="55222" y="26024"/>
                  </a:lnTo>
                  <a:lnTo>
                    <a:pt x="92248" y="6876"/>
                  </a:lnTo>
                  <a:lnTo>
                    <a:pt x="134881" y="0"/>
                  </a:lnTo>
                  <a:lnTo>
                    <a:pt x="3448018" y="0"/>
                  </a:lnTo>
                  <a:lnTo>
                    <a:pt x="3499635" y="10267"/>
                  </a:lnTo>
                  <a:lnTo>
                    <a:pt x="3543394" y="39505"/>
                  </a:lnTo>
                  <a:lnTo>
                    <a:pt x="3572632" y="83264"/>
                  </a:lnTo>
                  <a:lnTo>
                    <a:pt x="3582899" y="134881"/>
                  </a:lnTo>
                  <a:lnTo>
                    <a:pt x="3582899" y="1434418"/>
                  </a:lnTo>
                  <a:lnTo>
                    <a:pt x="3576023" y="1477051"/>
                  </a:lnTo>
                  <a:lnTo>
                    <a:pt x="3556875" y="1514077"/>
                  </a:lnTo>
                  <a:lnTo>
                    <a:pt x="3527677" y="1543275"/>
                  </a:lnTo>
                  <a:lnTo>
                    <a:pt x="3490651" y="1562423"/>
                  </a:lnTo>
                  <a:lnTo>
                    <a:pt x="3448018" y="1569299"/>
                  </a:lnTo>
                  <a:lnTo>
                    <a:pt x="134881" y="1569299"/>
                  </a:lnTo>
                  <a:lnTo>
                    <a:pt x="92248" y="1562423"/>
                  </a:lnTo>
                  <a:lnTo>
                    <a:pt x="55222" y="1543275"/>
                  </a:lnTo>
                  <a:lnTo>
                    <a:pt x="26024" y="1514077"/>
                  </a:lnTo>
                  <a:lnTo>
                    <a:pt x="6876" y="1477051"/>
                  </a:lnTo>
                  <a:lnTo>
                    <a:pt x="0" y="1434418"/>
                  </a:lnTo>
                  <a:lnTo>
                    <a:pt x="0" y="134881"/>
                  </a:lnTo>
                  <a:close/>
                </a:path>
              </a:pathLst>
            </a:custGeom>
            <a:ln w="9524">
              <a:solidFill>
                <a:srgbClr val="97C0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224874" y="2262976"/>
            <a:ext cx="2717165" cy="1313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0515" indent="-297815">
              <a:lnSpc>
                <a:spcPts val="2030"/>
              </a:lnSpc>
              <a:spcBef>
                <a:spcPts val="100"/>
              </a:spcBef>
              <a:buChar char="-"/>
              <a:tabLst>
                <a:tab pos="310515" algn="l"/>
              </a:tabLst>
            </a:pPr>
            <a:r>
              <a:rPr sz="1700" b="0" spc="-10" dirty="0">
                <a:latin typeface="Gill Sans"/>
                <a:cs typeface="Gill Sans"/>
              </a:rPr>
              <a:t>Domain-</a:t>
            </a:r>
            <a:r>
              <a:rPr sz="1700" b="0" dirty="0">
                <a:latin typeface="Gill Sans"/>
                <a:cs typeface="Gill Sans"/>
              </a:rPr>
              <a:t>specific</a:t>
            </a:r>
            <a:r>
              <a:rPr sz="1700" b="0" spc="-5" dirty="0">
                <a:latin typeface="Gill Sans"/>
                <a:cs typeface="Gill Sans"/>
              </a:rPr>
              <a:t> </a:t>
            </a:r>
            <a:r>
              <a:rPr sz="1700" b="0" spc="-10" dirty="0">
                <a:latin typeface="Gill Sans"/>
                <a:cs typeface="Gill Sans"/>
              </a:rPr>
              <a:t>knowledge</a:t>
            </a:r>
            <a:endParaRPr sz="1700">
              <a:latin typeface="Gill Sans"/>
              <a:cs typeface="Gill Sans"/>
            </a:endParaRPr>
          </a:p>
          <a:p>
            <a:pPr marL="310515" indent="-297815">
              <a:lnSpc>
                <a:spcPts val="2025"/>
              </a:lnSpc>
              <a:buChar char="-"/>
              <a:tabLst>
                <a:tab pos="310515" algn="l"/>
              </a:tabLst>
            </a:pPr>
            <a:r>
              <a:rPr sz="1700" b="0" dirty="0">
                <a:latin typeface="Gill Sans"/>
                <a:cs typeface="Gill Sans"/>
              </a:rPr>
              <a:t>Complex</a:t>
            </a:r>
            <a:r>
              <a:rPr sz="1700" b="0" spc="-5" dirty="0">
                <a:latin typeface="Gill Sans"/>
                <a:cs typeface="Gill Sans"/>
              </a:rPr>
              <a:t> </a:t>
            </a:r>
            <a:r>
              <a:rPr sz="1700" b="0" spc="-10" dirty="0">
                <a:latin typeface="Gill Sans"/>
                <a:cs typeface="Gill Sans"/>
              </a:rPr>
              <a:t>reasoning</a:t>
            </a:r>
            <a:endParaRPr sz="1700">
              <a:latin typeface="Gill Sans"/>
              <a:cs typeface="Gill Sans"/>
            </a:endParaRPr>
          </a:p>
          <a:p>
            <a:pPr marL="310515" indent="-297815">
              <a:lnSpc>
                <a:spcPts val="2025"/>
              </a:lnSpc>
              <a:buChar char="-"/>
              <a:tabLst>
                <a:tab pos="310515" algn="l"/>
              </a:tabLst>
            </a:pPr>
            <a:r>
              <a:rPr sz="1700" b="0" spc="-10" dirty="0">
                <a:latin typeface="Gill Sans"/>
                <a:cs typeface="Gill Sans"/>
              </a:rPr>
              <a:t>Interpretability</a:t>
            </a:r>
            <a:endParaRPr sz="1700">
              <a:latin typeface="Gill Sans"/>
              <a:cs typeface="Gill Sans"/>
            </a:endParaRPr>
          </a:p>
          <a:p>
            <a:pPr marL="310515" indent="-297815">
              <a:lnSpc>
                <a:spcPts val="2025"/>
              </a:lnSpc>
              <a:buChar char="-"/>
              <a:tabLst>
                <a:tab pos="310515" algn="l"/>
              </a:tabLst>
            </a:pPr>
            <a:r>
              <a:rPr sz="1700" b="0" spc="-10" dirty="0">
                <a:latin typeface="Gill Sans"/>
                <a:cs typeface="Gill Sans"/>
              </a:rPr>
              <a:t>Compositional</a:t>
            </a:r>
            <a:r>
              <a:rPr sz="1700" b="0" spc="-40" dirty="0">
                <a:latin typeface="Gill Sans"/>
                <a:cs typeface="Gill Sans"/>
              </a:rPr>
              <a:t> </a:t>
            </a:r>
            <a:r>
              <a:rPr sz="1700" b="0" spc="-10" dirty="0">
                <a:latin typeface="Gill Sans"/>
                <a:cs typeface="Gill Sans"/>
              </a:rPr>
              <a:t>reasoning</a:t>
            </a:r>
            <a:endParaRPr sz="1700">
              <a:latin typeface="Gill Sans"/>
              <a:cs typeface="Gill Sans"/>
            </a:endParaRPr>
          </a:p>
          <a:p>
            <a:pPr marL="310515" indent="-297815">
              <a:lnSpc>
                <a:spcPts val="2035"/>
              </a:lnSpc>
              <a:buChar char="-"/>
              <a:tabLst>
                <a:tab pos="310515" algn="l"/>
              </a:tabLst>
            </a:pPr>
            <a:r>
              <a:rPr sz="1700" b="0" spc="-10" dirty="0">
                <a:latin typeface="Gill Sans"/>
                <a:cs typeface="Gill Sans"/>
              </a:rPr>
              <a:t>Generalizability</a:t>
            </a:r>
            <a:endParaRPr sz="1700">
              <a:latin typeface="Gill Sans"/>
              <a:cs typeface="Gill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77042" y="4162188"/>
            <a:ext cx="74295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10" dirty="0">
                <a:solidFill>
                  <a:srgbClr val="EE8DC0"/>
                </a:solidFill>
                <a:latin typeface="Montserrat"/>
                <a:cs typeface="Montserrat"/>
              </a:rPr>
              <a:t>neural</a:t>
            </a:r>
            <a:endParaRPr sz="1700">
              <a:latin typeface="Montserrat"/>
              <a:cs typeface="Montserra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63962" y="4042504"/>
            <a:ext cx="2159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0" dirty="0">
                <a:solidFill>
                  <a:srgbClr val="595959"/>
                </a:solidFill>
                <a:latin typeface="MS PGothic"/>
                <a:cs typeface="MS PGothic"/>
              </a:rPr>
              <a:t>⊕</a:t>
            </a:r>
            <a:endParaRPr sz="3000">
              <a:latin typeface="MS PGothic"/>
              <a:cs typeface="MS P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27650" y="4153568"/>
            <a:ext cx="104203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10" dirty="0">
                <a:solidFill>
                  <a:srgbClr val="70AEE4"/>
                </a:solidFill>
                <a:latin typeface="Montserrat"/>
                <a:cs typeface="Montserrat"/>
              </a:rPr>
              <a:t>symbolic</a:t>
            </a:r>
            <a:endParaRPr sz="1700">
              <a:latin typeface="Montserrat"/>
              <a:cs typeface="Montserra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89848" y="4055545"/>
            <a:ext cx="2482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0" dirty="0">
                <a:solidFill>
                  <a:srgbClr val="595959"/>
                </a:solidFill>
                <a:latin typeface="Arial"/>
                <a:cs typeface="Arial"/>
              </a:rPr>
              <a:t>=</a:t>
            </a:r>
            <a:endParaRPr sz="3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77573" y="4147424"/>
            <a:ext cx="170878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10" dirty="0">
                <a:solidFill>
                  <a:srgbClr val="EE8DC0"/>
                </a:solidFill>
                <a:latin typeface="Montserrat"/>
                <a:cs typeface="Montserrat"/>
              </a:rPr>
              <a:t>neuro</a:t>
            </a:r>
            <a:r>
              <a:rPr sz="1700" b="1" spc="-10" dirty="0">
                <a:solidFill>
                  <a:srgbClr val="70AEE4"/>
                </a:solidFill>
                <a:latin typeface="Montserrat"/>
                <a:cs typeface="Montserrat"/>
              </a:rPr>
              <a:t>symbolic</a:t>
            </a:r>
            <a:endParaRPr sz="1700">
              <a:latin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Example:</a:t>
            </a:r>
            <a:r>
              <a:rPr spc="45" dirty="0"/>
              <a:t> </a:t>
            </a:r>
            <a:r>
              <a:rPr dirty="0"/>
              <a:t>Extracting</a:t>
            </a:r>
            <a:r>
              <a:rPr spc="50" dirty="0"/>
              <a:t> </a:t>
            </a:r>
            <a:r>
              <a:rPr dirty="0"/>
              <a:t>Knowledge</a:t>
            </a:r>
            <a:r>
              <a:rPr spc="45" dirty="0"/>
              <a:t> </a:t>
            </a:r>
            <a:r>
              <a:rPr dirty="0"/>
              <a:t>Using</a:t>
            </a:r>
            <a:r>
              <a:rPr spc="50" dirty="0"/>
              <a:t> </a:t>
            </a:r>
            <a:r>
              <a:rPr spc="-25" dirty="0"/>
              <a:t>GPT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42042" y="1292957"/>
            <a:ext cx="8070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A31414"/>
                </a:solidFill>
                <a:latin typeface="Montserrat"/>
                <a:cs typeface="Montserrat"/>
              </a:rPr>
              <a:t>mountain</a:t>
            </a:r>
            <a:endParaRPr sz="1200">
              <a:latin typeface="Montserrat"/>
              <a:cs typeface="Montserra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135912" y="1259354"/>
            <a:ext cx="14097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A31414"/>
                </a:solidFill>
                <a:latin typeface="Montserrat"/>
                <a:cs typeface="Montserrat"/>
              </a:rPr>
              <a:t>mountain_height</a:t>
            </a:r>
            <a:endParaRPr sz="1200">
              <a:latin typeface="Montserrat"/>
              <a:cs typeface="Montserrat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713039" y="1577516"/>
          <a:ext cx="941705" cy="12160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5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3204">
                <a:tc>
                  <a:txBody>
                    <a:bodyPr/>
                    <a:lstStyle/>
                    <a:p>
                      <a:pPr marL="8572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000" b="1" spc="-20" dirty="0">
                          <a:solidFill>
                            <a:srgbClr val="DA6114"/>
                          </a:solidFill>
                          <a:latin typeface="Courier New"/>
                          <a:cs typeface="Courier New"/>
                        </a:rPr>
                        <a:t>name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33020" marB="0">
                    <a:lnL w="9525">
                      <a:solidFill>
                        <a:srgbClr val="F3831A"/>
                      </a:solidFill>
                      <a:prstDash val="solid"/>
                    </a:lnL>
                    <a:lnR w="9525">
                      <a:solidFill>
                        <a:srgbClr val="F3831A"/>
                      </a:solidFill>
                      <a:prstDash val="solid"/>
                    </a:lnR>
                    <a:lnT w="9525">
                      <a:solidFill>
                        <a:srgbClr val="F3831A"/>
                      </a:solidFill>
                      <a:prstDash val="solid"/>
                    </a:lnT>
                    <a:lnB w="9525">
                      <a:solidFill>
                        <a:srgbClr val="F3831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204">
                <a:tc>
                  <a:txBody>
                    <a:bodyPr/>
                    <a:lstStyle/>
                    <a:p>
                      <a:pPr marL="8572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000" b="0" spc="185" dirty="0">
                          <a:solidFill>
                            <a:srgbClr val="373C4B"/>
                          </a:solidFill>
                          <a:latin typeface="Roboto Condensed Light"/>
                          <a:cs typeface="Roboto Condensed Light"/>
                        </a:rPr>
                        <a:t>Everest</a:t>
                      </a:r>
                      <a:endParaRPr sz="1000">
                        <a:latin typeface="Roboto Condensed Light"/>
                        <a:cs typeface="Roboto Condensed Light"/>
                      </a:endParaRPr>
                    </a:p>
                  </a:txBody>
                  <a:tcPr marL="0" marR="0" marT="33020" marB="0">
                    <a:lnL w="9525">
                      <a:solidFill>
                        <a:srgbClr val="F3831A"/>
                      </a:solidFill>
                      <a:prstDash val="solid"/>
                    </a:lnL>
                    <a:lnR w="9525">
                      <a:solidFill>
                        <a:srgbClr val="F3831A"/>
                      </a:solidFill>
                      <a:prstDash val="solid"/>
                    </a:lnR>
                    <a:lnT w="9525">
                      <a:solidFill>
                        <a:srgbClr val="F3831A"/>
                      </a:solidFill>
                      <a:prstDash val="solid"/>
                    </a:lnT>
                    <a:lnB w="9525">
                      <a:solidFill>
                        <a:srgbClr val="F3831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204">
                <a:tc>
                  <a:txBody>
                    <a:bodyPr/>
                    <a:lstStyle/>
                    <a:p>
                      <a:pPr marL="8572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000" b="0" spc="225" dirty="0">
                          <a:latin typeface="Roboto Condensed Light"/>
                          <a:cs typeface="Roboto Condensed Light"/>
                        </a:rPr>
                        <a:t>Fuji</a:t>
                      </a:r>
                      <a:endParaRPr sz="1000">
                        <a:latin typeface="Roboto Condensed Light"/>
                        <a:cs typeface="Roboto Condensed Light"/>
                      </a:endParaRPr>
                    </a:p>
                  </a:txBody>
                  <a:tcPr marL="0" marR="0" marT="33020" marB="0">
                    <a:lnL w="9525">
                      <a:solidFill>
                        <a:srgbClr val="F3831A"/>
                      </a:solidFill>
                      <a:prstDash val="solid"/>
                    </a:lnL>
                    <a:lnR w="9525">
                      <a:solidFill>
                        <a:srgbClr val="F3831A"/>
                      </a:solidFill>
                      <a:prstDash val="solid"/>
                    </a:lnR>
                    <a:lnT w="9525">
                      <a:solidFill>
                        <a:srgbClr val="F3831A"/>
                      </a:solidFill>
                      <a:prstDash val="solid"/>
                    </a:lnT>
                    <a:lnB w="9525">
                      <a:solidFill>
                        <a:srgbClr val="F3831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204">
                <a:tc>
                  <a:txBody>
                    <a:bodyPr/>
                    <a:lstStyle/>
                    <a:p>
                      <a:pPr marL="85725"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000" b="0" spc="60" dirty="0">
                          <a:latin typeface="Roboto Condensed Light"/>
                          <a:cs typeface="Roboto Condensed Light"/>
                        </a:rPr>
                        <a:t>K2</a:t>
                      </a:r>
                      <a:endParaRPr sz="1000">
                        <a:latin typeface="Roboto Condensed Light"/>
                        <a:cs typeface="Roboto Condensed Light"/>
                      </a:endParaRPr>
                    </a:p>
                  </a:txBody>
                  <a:tcPr marL="0" marR="0" marT="33019" marB="0">
                    <a:lnL w="9525">
                      <a:solidFill>
                        <a:srgbClr val="F3831A"/>
                      </a:solidFill>
                      <a:prstDash val="solid"/>
                    </a:lnL>
                    <a:lnR w="9525">
                      <a:solidFill>
                        <a:srgbClr val="F3831A"/>
                      </a:solidFill>
                      <a:prstDash val="solid"/>
                    </a:lnR>
                    <a:lnT w="9525">
                      <a:solidFill>
                        <a:srgbClr val="F3831A"/>
                      </a:solidFill>
                      <a:prstDash val="solid"/>
                    </a:lnT>
                    <a:lnB w="9525">
                      <a:solidFill>
                        <a:srgbClr val="F3831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204">
                <a:tc>
                  <a:txBody>
                    <a:bodyPr/>
                    <a:lstStyle/>
                    <a:p>
                      <a:pPr marL="85725"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000" b="0" spc="195" dirty="0">
                          <a:latin typeface="Roboto Condensed Light"/>
                          <a:cs typeface="Roboto Condensed Light"/>
                        </a:rPr>
                        <a:t>Mt.</a:t>
                      </a:r>
                      <a:r>
                        <a:rPr sz="1000" b="0" spc="390" dirty="0">
                          <a:latin typeface="Roboto Condensed Light"/>
                          <a:cs typeface="Roboto Condensed Light"/>
                        </a:rPr>
                        <a:t> </a:t>
                      </a:r>
                      <a:r>
                        <a:rPr sz="1000" b="0" spc="160" dirty="0">
                          <a:latin typeface="Roboto Condensed Light"/>
                          <a:cs typeface="Roboto Condensed Light"/>
                        </a:rPr>
                        <a:t>Blanc</a:t>
                      </a:r>
                      <a:endParaRPr sz="1000">
                        <a:latin typeface="Roboto Condensed Light"/>
                        <a:cs typeface="Roboto Condensed Light"/>
                      </a:endParaRPr>
                    </a:p>
                  </a:txBody>
                  <a:tcPr marL="0" marR="0" marT="33019" marB="0">
                    <a:lnL w="9525">
                      <a:solidFill>
                        <a:srgbClr val="F3831A"/>
                      </a:solidFill>
                      <a:prstDash val="solid"/>
                    </a:lnL>
                    <a:lnR w="9525">
                      <a:solidFill>
                        <a:srgbClr val="F3831A"/>
                      </a:solidFill>
                      <a:prstDash val="solid"/>
                    </a:lnR>
                    <a:lnT w="9525">
                      <a:solidFill>
                        <a:srgbClr val="F3831A"/>
                      </a:solidFill>
                      <a:prstDash val="solid"/>
                    </a:lnT>
                    <a:lnB w="9525">
                      <a:solidFill>
                        <a:srgbClr val="F3831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1724619" y="1962962"/>
            <a:ext cx="403860" cy="390525"/>
            <a:chOff x="1724619" y="1962962"/>
            <a:chExt cx="403860" cy="390525"/>
          </a:xfrm>
        </p:grpSpPr>
        <p:sp>
          <p:nvSpPr>
            <p:cNvPr id="5" name="object 5"/>
            <p:cNvSpPr/>
            <p:nvPr/>
          </p:nvSpPr>
          <p:spPr>
            <a:xfrm>
              <a:off x="1729382" y="1967725"/>
              <a:ext cx="394335" cy="381000"/>
            </a:xfrm>
            <a:custGeom>
              <a:avLst/>
              <a:gdLst/>
              <a:ahLst/>
              <a:cxnLst/>
              <a:rect l="l" t="t" r="r" b="b"/>
              <a:pathLst>
                <a:path w="394335" h="381000">
                  <a:moveTo>
                    <a:pt x="203399" y="380999"/>
                  </a:moveTo>
                  <a:lnTo>
                    <a:pt x="203399" y="285749"/>
                  </a:lnTo>
                  <a:lnTo>
                    <a:pt x="0" y="285749"/>
                  </a:lnTo>
                  <a:lnTo>
                    <a:pt x="0" y="95249"/>
                  </a:lnTo>
                  <a:lnTo>
                    <a:pt x="203399" y="95249"/>
                  </a:lnTo>
                  <a:lnTo>
                    <a:pt x="203399" y="0"/>
                  </a:lnTo>
                  <a:lnTo>
                    <a:pt x="393899" y="190499"/>
                  </a:lnTo>
                  <a:lnTo>
                    <a:pt x="203399" y="3809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29382" y="1967725"/>
              <a:ext cx="394335" cy="381000"/>
            </a:xfrm>
            <a:custGeom>
              <a:avLst/>
              <a:gdLst/>
              <a:ahLst/>
              <a:cxnLst/>
              <a:rect l="l" t="t" r="r" b="b"/>
              <a:pathLst>
                <a:path w="394335" h="381000">
                  <a:moveTo>
                    <a:pt x="0" y="95249"/>
                  </a:moveTo>
                  <a:lnTo>
                    <a:pt x="203399" y="95249"/>
                  </a:lnTo>
                  <a:lnTo>
                    <a:pt x="203399" y="0"/>
                  </a:lnTo>
                  <a:lnTo>
                    <a:pt x="393899" y="190499"/>
                  </a:lnTo>
                  <a:lnTo>
                    <a:pt x="203399" y="380999"/>
                  </a:lnTo>
                  <a:lnTo>
                    <a:pt x="203399" y="285749"/>
                  </a:lnTo>
                  <a:lnTo>
                    <a:pt x="0" y="285749"/>
                  </a:lnTo>
                  <a:lnTo>
                    <a:pt x="0" y="952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" name="object 3"/>
          <p:cNvSpPr txBox="1"/>
          <p:nvPr/>
        </p:nvSpPr>
        <p:spPr>
          <a:xfrm>
            <a:off x="2244625" y="1723375"/>
            <a:ext cx="4209415" cy="869950"/>
          </a:xfrm>
          <a:prstGeom prst="rect">
            <a:avLst/>
          </a:prstGeom>
          <a:ln w="9524">
            <a:solidFill>
              <a:srgbClr val="78909B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76200" marR="621030">
              <a:lnSpc>
                <a:spcPct val="114999"/>
              </a:lnSpc>
              <a:spcBef>
                <a:spcPts val="455"/>
              </a:spcBef>
            </a:pPr>
            <a:r>
              <a:rPr sz="1000" b="0" dirty="0">
                <a:solidFill>
                  <a:srgbClr val="1F2328"/>
                </a:solidFill>
                <a:latin typeface="Roboto Condensed Light"/>
                <a:cs typeface="Roboto Condensed Light"/>
              </a:rPr>
              <a:t>@</a:t>
            </a:r>
            <a:r>
              <a:rPr sz="1000" b="1" dirty="0">
                <a:solidFill>
                  <a:srgbClr val="0550AE"/>
                </a:solidFill>
                <a:latin typeface="Courier New"/>
                <a:cs typeface="Courier New"/>
              </a:rPr>
              <a:t>gpt</a:t>
            </a:r>
            <a:r>
              <a:rPr sz="1000" b="0" dirty="0">
                <a:solidFill>
                  <a:srgbClr val="1F2328"/>
                </a:solidFill>
                <a:latin typeface="Roboto Condensed Light"/>
                <a:cs typeface="Roboto Condensed Light"/>
              </a:rPr>
              <a:t>(</a:t>
            </a:r>
            <a:r>
              <a:rPr sz="1000" b="1" dirty="0">
                <a:solidFill>
                  <a:srgbClr val="FF9900"/>
                </a:solidFill>
                <a:latin typeface="Courier New"/>
                <a:cs typeface="Courier New"/>
              </a:rPr>
              <a:t>“The</a:t>
            </a:r>
            <a:r>
              <a:rPr sz="1000" b="1" spc="-5" dirty="0">
                <a:solidFill>
                  <a:srgbClr val="FF9900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FF9900"/>
                </a:solidFill>
                <a:latin typeface="Courier New"/>
                <a:cs typeface="Courier New"/>
              </a:rPr>
              <a:t>height</a:t>
            </a:r>
            <a:r>
              <a:rPr sz="1000" b="1" spc="-5" dirty="0">
                <a:solidFill>
                  <a:srgbClr val="FF9900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FF9900"/>
                </a:solidFill>
                <a:latin typeface="Courier New"/>
                <a:cs typeface="Courier New"/>
              </a:rPr>
              <a:t>of</a:t>
            </a:r>
            <a:r>
              <a:rPr sz="1000" b="1" spc="-5" dirty="0">
                <a:solidFill>
                  <a:srgbClr val="FF9900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FF9900"/>
                </a:solidFill>
                <a:latin typeface="Courier New"/>
                <a:cs typeface="Courier New"/>
              </a:rPr>
              <a:t>{{x}}</a:t>
            </a:r>
            <a:r>
              <a:rPr sz="1000" b="1" spc="-5" dirty="0">
                <a:solidFill>
                  <a:srgbClr val="FF9900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FF9900"/>
                </a:solidFill>
                <a:latin typeface="Courier New"/>
                <a:cs typeface="Courier New"/>
              </a:rPr>
              <a:t>is</a:t>
            </a:r>
            <a:r>
              <a:rPr sz="1000" b="1" spc="-5" dirty="0">
                <a:solidFill>
                  <a:srgbClr val="FF9900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FF9900"/>
                </a:solidFill>
                <a:latin typeface="Courier New"/>
                <a:cs typeface="Courier New"/>
              </a:rPr>
              <a:t>{{y}}</a:t>
            </a:r>
            <a:r>
              <a:rPr sz="1000" b="1" spc="-5" dirty="0">
                <a:solidFill>
                  <a:srgbClr val="FF9900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FF9900"/>
                </a:solidFill>
                <a:latin typeface="Courier New"/>
                <a:cs typeface="Courier New"/>
              </a:rPr>
              <a:t>in</a:t>
            </a:r>
            <a:r>
              <a:rPr sz="1000" b="1" spc="-5" dirty="0">
                <a:solidFill>
                  <a:srgbClr val="FF9900"/>
                </a:solidFill>
                <a:latin typeface="Courier New"/>
                <a:cs typeface="Courier New"/>
              </a:rPr>
              <a:t> </a:t>
            </a:r>
            <a:r>
              <a:rPr sz="1000" b="1" spc="-10" dirty="0">
                <a:solidFill>
                  <a:srgbClr val="FF9900"/>
                </a:solidFill>
                <a:latin typeface="Courier New"/>
                <a:cs typeface="Courier New"/>
              </a:rPr>
              <a:t>meters”</a:t>
            </a:r>
            <a:r>
              <a:rPr sz="1000" b="0" spc="-10" dirty="0">
                <a:solidFill>
                  <a:srgbClr val="1F2328"/>
                </a:solidFill>
                <a:latin typeface="Roboto Condensed Light"/>
                <a:cs typeface="Roboto Condensed Light"/>
              </a:rPr>
              <a:t>) </a:t>
            </a:r>
            <a:r>
              <a:rPr sz="1000" b="1" dirty="0">
                <a:solidFill>
                  <a:srgbClr val="0431FF"/>
                </a:solidFill>
                <a:latin typeface="Courier New"/>
                <a:cs typeface="Courier New"/>
              </a:rPr>
              <a:t>type</a:t>
            </a:r>
            <a:r>
              <a:rPr sz="1000" b="1" spc="35" dirty="0">
                <a:solidFill>
                  <a:srgbClr val="0431F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A31414"/>
                </a:solidFill>
                <a:latin typeface="Courier New"/>
                <a:cs typeface="Courier New"/>
              </a:rPr>
              <a:t>height</a:t>
            </a:r>
            <a:r>
              <a:rPr sz="1000" b="0" dirty="0">
                <a:solidFill>
                  <a:srgbClr val="1F2328"/>
                </a:solidFill>
                <a:latin typeface="Roboto Condensed Light"/>
                <a:cs typeface="Roboto Condensed Light"/>
              </a:rPr>
              <a:t>(</a:t>
            </a:r>
            <a:r>
              <a:rPr sz="1000" b="1" dirty="0">
                <a:solidFill>
                  <a:srgbClr val="0431FF"/>
                </a:solidFill>
                <a:latin typeface="Courier New"/>
                <a:cs typeface="Courier New"/>
              </a:rPr>
              <a:t>bound</a:t>
            </a:r>
            <a:r>
              <a:rPr sz="1000" b="1" spc="40" dirty="0">
                <a:solidFill>
                  <a:srgbClr val="0431FF"/>
                </a:solidFill>
                <a:latin typeface="Courier New"/>
                <a:cs typeface="Courier New"/>
              </a:rPr>
              <a:t> </a:t>
            </a:r>
            <a:r>
              <a:rPr sz="1000" b="0" spc="285" dirty="0">
                <a:solidFill>
                  <a:srgbClr val="595959"/>
                </a:solidFill>
                <a:latin typeface="Roboto Condensed Light"/>
                <a:cs typeface="Roboto Condensed Light"/>
              </a:rPr>
              <a:t>x:</a:t>
            </a:r>
            <a:r>
              <a:rPr sz="1000" b="0" spc="430" dirty="0">
                <a:solidFill>
                  <a:srgbClr val="595959"/>
                </a:solidFill>
                <a:latin typeface="Roboto Condensed Light"/>
                <a:cs typeface="Roboto Condensed Light"/>
              </a:rPr>
              <a:t> </a:t>
            </a:r>
            <a:r>
              <a:rPr sz="1000" b="1" spc="55" dirty="0">
                <a:solidFill>
                  <a:srgbClr val="0431FF"/>
                </a:solidFill>
                <a:latin typeface="Courier New"/>
                <a:cs typeface="Courier New"/>
              </a:rPr>
              <a:t>String</a:t>
            </a:r>
            <a:r>
              <a:rPr sz="1000" b="0" spc="55" dirty="0">
                <a:solidFill>
                  <a:srgbClr val="1F2328"/>
                </a:solidFill>
                <a:latin typeface="Roboto Condensed Light"/>
                <a:cs typeface="Roboto Condensed Light"/>
              </a:rPr>
              <a:t>,</a:t>
            </a:r>
            <a:r>
              <a:rPr sz="1000" b="0" spc="425" dirty="0">
                <a:solidFill>
                  <a:srgbClr val="1F2328"/>
                </a:solidFill>
                <a:latin typeface="Roboto Condensed Light"/>
                <a:cs typeface="Roboto Condensed Light"/>
              </a:rPr>
              <a:t> </a:t>
            </a:r>
            <a:r>
              <a:rPr sz="1000" b="1" dirty="0">
                <a:solidFill>
                  <a:srgbClr val="0431FF"/>
                </a:solidFill>
                <a:latin typeface="Courier New"/>
                <a:cs typeface="Courier New"/>
              </a:rPr>
              <a:t>free</a:t>
            </a:r>
            <a:r>
              <a:rPr sz="1000" b="1" spc="40" dirty="0">
                <a:solidFill>
                  <a:srgbClr val="0431FF"/>
                </a:solidFill>
                <a:latin typeface="Courier New"/>
                <a:cs typeface="Courier New"/>
              </a:rPr>
              <a:t> </a:t>
            </a:r>
            <a:r>
              <a:rPr sz="1000" b="0" spc="285" dirty="0">
                <a:solidFill>
                  <a:srgbClr val="595959"/>
                </a:solidFill>
                <a:latin typeface="Roboto Condensed Light"/>
                <a:cs typeface="Roboto Condensed Light"/>
              </a:rPr>
              <a:t>y:</a:t>
            </a:r>
            <a:r>
              <a:rPr sz="1000" b="0" spc="430" dirty="0">
                <a:solidFill>
                  <a:srgbClr val="595959"/>
                </a:solidFill>
                <a:latin typeface="Roboto Condensed Light"/>
                <a:cs typeface="Roboto Condensed Light"/>
              </a:rPr>
              <a:t> </a:t>
            </a:r>
            <a:r>
              <a:rPr sz="1000" b="1" spc="55" dirty="0">
                <a:solidFill>
                  <a:srgbClr val="0431FF"/>
                </a:solidFill>
                <a:latin typeface="Courier New"/>
                <a:cs typeface="Courier New"/>
              </a:rPr>
              <a:t>i32</a:t>
            </a:r>
            <a:r>
              <a:rPr sz="1000" b="0" spc="55" dirty="0">
                <a:solidFill>
                  <a:srgbClr val="1F2328"/>
                </a:solidFill>
                <a:latin typeface="Roboto Condensed Light"/>
                <a:cs typeface="Roboto Condensed Light"/>
              </a:rPr>
              <a:t>)</a:t>
            </a:r>
            <a:endParaRPr sz="1000">
              <a:latin typeface="Roboto Condensed Light"/>
              <a:cs typeface="Roboto Condensed Light"/>
            </a:endParaRPr>
          </a:p>
          <a:p>
            <a:pPr marL="76200">
              <a:lnSpc>
                <a:spcPct val="100000"/>
              </a:lnSpc>
              <a:spcBef>
                <a:spcPts val="180"/>
              </a:spcBef>
            </a:pPr>
            <a:r>
              <a:rPr sz="1000" b="0" spc="254" dirty="0">
                <a:solidFill>
                  <a:srgbClr val="1691A4"/>
                </a:solidFill>
                <a:latin typeface="Roboto Condensed Light"/>
                <a:cs typeface="Roboto Condensed Light"/>
              </a:rPr>
              <a:t>//</a:t>
            </a:r>
            <a:r>
              <a:rPr sz="1000" b="0" spc="395" dirty="0">
                <a:solidFill>
                  <a:srgbClr val="1691A4"/>
                </a:solidFill>
                <a:latin typeface="Roboto Condensed Light"/>
                <a:cs typeface="Roboto Condensed Light"/>
              </a:rPr>
              <a:t> </a:t>
            </a:r>
            <a:r>
              <a:rPr sz="1000" b="0" spc="215" dirty="0">
                <a:solidFill>
                  <a:srgbClr val="1691A4"/>
                </a:solidFill>
                <a:latin typeface="Roboto Condensed Light"/>
                <a:cs typeface="Roboto Condensed Light"/>
              </a:rPr>
              <a:t>Retrieving</a:t>
            </a:r>
            <a:r>
              <a:rPr sz="1000" b="0" spc="400" dirty="0">
                <a:solidFill>
                  <a:srgbClr val="1691A4"/>
                </a:solidFill>
                <a:latin typeface="Roboto Condensed Light"/>
                <a:cs typeface="Roboto Condensed Light"/>
              </a:rPr>
              <a:t> </a:t>
            </a:r>
            <a:r>
              <a:rPr sz="1000" b="0" spc="200" dirty="0">
                <a:solidFill>
                  <a:srgbClr val="1691A4"/>
                </a:solidFill>
                <a:latin typeface="Roboto Condensed Light"/>
                <a:cs typeface="Roboto Condensed Light"/>
              </a:rPr>
              <a:t>height</a:t>
            </a:r>
            <a:r>
              <a:rPr sz="1000" b="0" spc="400" dirty="0">
                <a:solidFill>
                  <a:srgbClr val="1691A4"/>
                </a:solidFill>
                <a:latin typeface="Roboto Condensed Light"/>
                <a:cs typeface="Roboto Condensed Light"/>
              </a:rPr>
              <a:t> </a:t>
            </a:r>
            <a:r>
              <a:rPr sz="1000" b="0" spc="210" dirty="0">
                <a:solidFill>
                  <a:srgbClr val="1691A4"/>
                </a:solidFill>
                <a:latin typeface="Roboto Condensed Light"/>
                <a:cs typeface="Roboto Condensed Light"/>
              </a:rPr>
              <a:t>of</a:t>
            </a:r>
            <a:r>
              <a:rPr sz="1000" b="0" spc="400" dirty="0">
                <a:solidFill>
                  <a:srgbClr val="1691A4"/>
                </a:solidFill>
                <a:latin typeface="Roboto Condensed Light"/>
                <a:cs typeface="Roboto Condensed Light"/>
              </a:rPr>
              <a:t> </a:t>
            </a:r>
            <a:r>
              <a:rPr sz="1000" b="0" spc="135" dirty="0">
                <a:solidFill>
                  <a:srgbClr val="1691A4"/>
                </a:solidFill>
                <a:latin typeface="Roboto Condensed Light"/>
                <a:cs typeface="Roboto Condensed Light"/>
              </a:rPr>
              <a:t>mountains</a:t>
            </a:r>
            <a:endParaRPr sz="1000">
              <a:latin typeface="Roboto Condensed Light"/>
              <a:cs typeface="Roboto Condensed Light"/>
            </a:endParaRPr>
          </a:p>
          <a:p>
            <a:pPr marL="76200">
              <a:lnSpc>
                <a:spcPct val="100000"/>
              </a:lnSpc>
              <a:spcBef>
                <a:spcPts val="180"/>
              </a:spcBef>
            </a:pPr>
            <a:r>
              <a:rPr sz="1000" b="1" dirty="0">
                <a:solidFill>
                  <a:srgbClr val="0431FF"/>
                </a:solidFill>
                <a:latin typeface="Courier New"/>
                <a:cs typeface="Courier New"/>
              </a:rPr>
              <a:t>rel</a:t>
            </a:r>
            <a:r>
              <a:rPr sz="1000" b="1" spc="135" dirty="0">
                <a:solidFill>
                  <a:srgbClr val="0431F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A31414"/>
                </a:solidFill>
                <a:latin typeface="Courier New"/>
                <a:cs typeface="Courier New"/>
              </a:rPr>
              <a:t>mount_height</a:t>
            </a:r>
            <a:r>
              <a:rPr sz="1000" b="0" dirty="0">
                <a:solidFill>
                  <a:srgbClr val="595959"/>
                </a:solidFill>
                <a:latin typeface="Roboto Condensed Light"/>
                <a:cs typeface="Roboto Condensed Light"/>
              </a:rPr>
              <a:t>(m,</a:t>
            </a:r>
            <a:r>
              <a:rPr sz="1000" b="0" spc="155" dirty="0">
                <a:solidFill>
                  <a:srgbClr val="595959"/>
                </a:solidFill>
                <a:latin typeface="Roboto Condensed Light"/>
                <a:cs typeface="Roboto Condensed Light"/>
              </a:rPr>
              <a:t>  </a:t>
            </a:r>
            <a:r>
              <a:rPr sz="1000" b="0" spc="220" dirty="0">
                <a:solidFill>
                  <a:srgbClr val="595959"/>
                </a:solidFill>
                <a:latin typeface="Roboto Condensed Light"/>
                <a:cs typeface="Roboto Condensed Light"/>
              </a:rPr>
              <a:t>h)</a:t>
            </a:r>
            <a:r>
              <a:rPr sz="1000" b="0" spc="160" dirty="0">
                <a:solidFill>
                  <a:srgbClr val="595959"/>
                </a:solidFill>
                <a:latin typeface="Roboto Condensed Light"/>
                <a:cs typeface="Roboto Condensed Light"/>
              </a:rPr>
              <a:t>  </a:t>
            </a:r>
            <a:r>
              <a:rPr sz="1000" b="0" spc="120" dirty="0">
                <a:solidFill>
                  <a:srgbClr val="595959"/>
                </a:solidFill>
                <a:latin typeface="Roboto Condensed Light"/>
                <a:cs typeface="Roboto Condensed Light"/>
              </a:rPr>
              <a:t>=</a:t>
            </a:r>
            <a:r>
              <a:rPr sz="1000" b="0" spc="160" dirty="0">
                <a:solidFill>
                  <a:srgbClr val="595959"/>
                </a:solidFill>
                <a:latin typeface="Roboto Condensed Light"/>
                <a:cs typeface="Roboto Condensed Light"/>
              </a:rPr>
              <a:t>  </a:t>
            </a:r>
            <a:r>
              <a:rPr sz="1000" b="1" dirty="0">
                <a:solidFill>
                  <a:srgbClr val="A31414"/>
                </a:solidFill>
                <a:latin typeface="Courier New"/>
                <a:cs typeface="Courier New"/>
              </a:rPr>
              <a:t>mountain</a:t>
            </a:r>
            <a:r>
              <a:rPr sz="1000" b="0" dirty="0">
                <a:solidFill>
                  <a:srgbClr val="595959"/>
                </a:solidFill>
                <a:latin typeface="Roboto Condensed Light"/>
                <a:cs typeface="Roboto Condensed Light"/>
              </a:rPr>
              <a:t>(m)</a:t>
            </a:r>
            <a:r>
              <a:rPr sz="1000" b="0" spc="155" dirty="0">
                <a:solidFill>
                  <a:srgbClr val="595959"/>
                </a:solidFill>
                <a:latin typeface="Roboto Condensed Light"/>
                <a:cs typeface="Roboto Condensed Light"/>
              </a:rPr>
              <a:t>  </a:t>
            </a:r>
            <a:r>
              <a:rPr sz="1000" b="1" dirty="0">
                <a:solidFill>
                  <a:srgbClr val="0431FF"/>
                </a:solidFill>
                <a:latin typeface="Courier New"/>
                <a:cs typeface="Courier New"/>
              </a:rPr>
              <a:t>and</a:t>
            </a:r>
            <a:r>
              <a:rPr sz="1000" b="1" spc="140" dirty="0">
                <a:solidFill>
                  <a:srgbClr val="0431FF"/>
                </a:solidFill>
                <a:latin typeface="Courier New"/>
                <a:cs typeface="Courier New"/>
              </a:rPr>
              <a:t> </a:t>
            </a:r>
            <a:r>
              <a:rPr sz="1000" b="1" spc="60" dirty="0">
                <a:solidFill>
                  <a:srgbClr val="A31414"/>
                </a:solidFill>
                <a:latin typeface="Courier New"/>
                <a:cs typeface="Courier New"/>
              </a:rPr>
              <a:t>height</a:t>
            </a:r>
            <a:r>
              <a:rPr sz="1000" b="0" spc="60" dirty="0">
                <a:solidFill>
                  <a:srgbClr val="595959"/>
                </a:solidFill>
                <a:latin typeface="Roboto Condensed Light"/>
                <a:cs typeface="Roboto Condensed Light"/>
              </a:rPr>
              <a:t>(m,</a:t>
            </a:r>
            <a:r>
              <a:rPr sz="1000" b="0" spc="155" dirty="0">
                <a:solidFill>
                  <a:srgbClr val="595959"/>
                </a:solidFill>
                <a:latin typeface="Roboto Condensed Light"/>
                <a:cs typeface="Roboto Condensed Light"/>
              </a:rPr>
              <a:t>  </a:t>
            </a:r>
            <a:r>
              <a:rPr sz="1000" b="0" spc="195" dirty="0">
                <a:solidFill>
                  <a:srgbClr val="595959"/>
                </a:solidFill>
                <a:latin typeface="Roboto Condensed Light"/>
                <a:cs typeface="Roboto Condensed Light"/>
              </a:rPr>
              <a:t>h)</a:t>
            </a:r>
            <a:endParaRPr sz="1000">
              <a:latin typeface="Roboto Condensed Light"/>
              <a:cs typeface="Roboto Condensed Ligh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581776" y="1962962"/>
            <a:ext cx="403860" cy="390525"/>
            <a:chOff x="6581776" y="1962962"/>
            <a:chExt cx="403860" cy="390525"/>
          </a:xfrm>
        </p:grpSpPr>
        <p:sp>
          <p:nvSpPr>
            <p:cNvPr id="8" name="object 8"/>
            <p:cNvSpPr/>
            <p:nvPr/>
          </p:nvSpPr>
          <p:spPr>
            <a:xfrm>
              <a:off x="6586539" y="1967725"/>
              <a:ext cx="394335" cy="381000"/>
            </a:xfrm>
            <a:custGeom>
              <a:avLst/>
              <a:gdLst/>
              <a:ahLst/>
              <a:cxnLst/>
              <a:rect l="l" t="t" r="r" b="b"/>
              <a:pathLst>
                <a:path w="394334" h="381000">
                  <a:moveTo>
                    <a:pt x="203399" y="380999"/>
                  </a:moveTo>
                  <a:lnTo>
                    <a:pt x="203399" y="285749"/>
                  </a:lnTo>
                  <a:lnTo>
                    <a:pt x="0" y="285749"/>
                  </a:lnTo>
                  <a:lnTo>
                    <a:pt x="0" y="95249"/>
                  </a:lnTo>
                  <a:lnTo>
                    <a:pt x="203399" y="95249"/>
                  </a:lnTo>
                  <a:lnTo>
                    <a:pt x="203399" y="0"/>
                  </a:lnTo>
                  <a:lnTo>
                    <a:pt x="393899" y="190499"/>
                  </a:lnTo>
                  <a:lnTo>
                    <a:pt x="203399" y="3809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586539" y="1967725"/>
              <a:ext cx="394335" cy="381000"/>
            </a:xfrm>
            <a:custGeom>
              <a:avLst/>
              <a:gdLst/>
              <a:ahLst/>
              <a:cxnLst/>
              <a:rect l="l" t="t" r="r" b="b"/>
              <a:pathLst>
                <a:path w="394334" h="381000">
                  <a:moveTo>
                    <a:pt x="0" y="95249"/>
                  </a:moveTo>
                  <a:lnTo>
                    <a:pt x="203399" y="95249"/>
                  </a:lnTo>
                  <a:lnTo>
                    <a:pt x="203399" y="0"/>
                  </a:lnTo>
                  <a:lnTo>
                    <a:pt x="393899" y="190499"/>
                  </a:lnTo>
                  <a:lnTo>
                    <a:pt x="203399" y="380999"/>
                  </a:lnTo>
                  <a:lnTo>
                    <a:pt x="203399" y="285749"/>
                  </a:lnTo>
                  <a:lnTo>
                    <a:pt x="0" y="285749"/>
                  </a:lnTo>
                  <a:lnTo>
                    <a:pt x="0" y="952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7073682" y="1543912"/>
          <a:ext cx="1649095" cy="12160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7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3204">
                <a:tc>
                  <a:txBody>
                    <a:bodyPr/>
                    <a:lstStyle/>
                    <a:p>
                      <a:pPr marL="85725"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000" b="1" spc="-20" dirty="0">
                          <a:solidFill>
                            <a:srgbClr val="DA6114"/>
                          </a:solidFill>
                          <a:latin typeface="Courier New"/>
                          <a:cs typeface="Courier New"/>
                        </a:rPr>
                        <a:t>name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33019" marB="0">
                    <a:lnL w="9525">
                      <a:solidFill>
                        <a:srgbClr val="F3831A"/>
                      </a:solidFill>
                      <a:prstDash val="solid"/>
                    </a:lnL>
                    <a:lnR w="9525">
                      <a:solidFill>
                        <a:srgbClr val="F3831A"/>
                      </a:solidFill>
                      <a:prstDash val="solid"/>
                    </a:lnR>
                    <a:lnT w="9525">
                      <a:solidFill>
                        <a:srgbClr val="F3831A"/>
                      </a:solidFill>
                      <a:prstDash val="solid"/>
                    </a:lnT>
                    <a:lnB w="9525">
                      <a:solidFill>
                        <a:srgbClr val="F383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000" b="1" spc="-10" dirty="0">
                          <a:solidFill>
                            <a:srgbClr val="DA6114"/>
                          </a:solidFill>
                          <a:latin typeface="Courier New"/>
                          <a:cs typeface="Courier New"/>
                        </a:rPr>
                        <a:t>height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33019" marB="0">
                    <a:lnL w="9525">
                      <a:solidFill>
                        <a:srgbClr val="F3831A"/>
                      </a:solidFill>
                      <a:prstDash val="solid"/>
                    </a:lnL>
                    <a:lnR w="9525">
                      <a:solidFill>
                        <a:srgbClr val="F3831A"/>
                      </a:solidFill>
                      <a:prstDash val="solid"/>
                    </a:lnR>
                    <a:lnT w="9525">
                      <a:solidFill>
                        <a:srgbClr val="F3831A"/>
                      </a:solidFill>
                      <a:prstDash val="solid"/>
                    </a:lnT>
                    <a:lnB w="9525">
                      <a:solidFill>
                        <a:srgbClr val="F3831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204">
                <a:tc>
                  <a:txBody>
                    <a:bodyPr/>
                    <a:lstStyle/>
                    <a:p>
                      <a:pPr marL="8572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000" b="0" spc="185" dirty="0">
                          <a:solidFill>
                            <a:srgbClr val="373C4B"/>
                          </a:solidFill>
                          <a:latin typeface="Roboto Condensed Light"/>
                          <a:cs typeface="Roboto Condensed Light"/>
                        </a:rPr>
                        <a:t>Everest</a:t>
                      </a:r>
                      <a:endParaRPr sz="1000">
                        <a:latin typeface="Roboto Condensed Light"/>
                        <a:cs typeface="Roboto Condensed Light"/>
                      </a:endParaRPr>
                    </a:p>
                  </a:txBody>
                  <a:tcPr marL="0" marR="0" marT="33020" marB="0">
                    <a:lnL w="9525">
                      <a:solidFill>
                        <a:srgbClr val="F3831A"/>
                      </a:solidFill>
                      <a:prstDash val="solid"/>
                    </a:lnL>
                    <a:lnR w="9525">
                      <a:solidFill>
                        <a:srgbClr val="F3831A"/>
                      </a:solidFill>
                      <a:prstDash val="solid"/>
                    </a:lnR>
                    <a:lnT w="9525">
                      <a:solidFill>
                        <a:srgbClr val="F3831A"/>
                      </a:solidFill>
                      <a:prstDash val="solid"/>
                    </a:lnT>
                    <a:lnB w="9525">
                      <a:solidFill>
                        <a:srgbClr val="F383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000" b="0" spc="95" dirty="0">
                          <a:solidFill>
                            <a:srgbClr val="373C4B"/>
                          </a:solidFill>
                          <a:latin typeface="Roboto Condensed Light"/>
                          <a:cs typeface="Roboto Condensed Light"/>
                        </a:rPr>
                        <a:t>8848</a:t>
                      </a:r>
                      <a:endParaRPr sz="1000">
                        <a:latin typeface="Roboto Condensed Light"/>
                        <a:cs typeface="Roboto Condensed Light"/>
                      </a:endParaRPr>
                    </a:p>
                  </a:txBody>
                  <a:tcPr marL="0" marR="0" marT="33020" marB="0">
                    <a:lnL w="9525">
                      <a:solidFill>
                        <a:srgbClr val="F3831A"/>
                      </a:solidFill>
                      <a:prstDash val="solid"/>
                    </a:lnL>
                    <a:lnR w="9525">
                      <a:solidFill>
                        <a:srgbClr val="F3831A"/>
                      </a:solidFill>
                      <a:prstDash val="solid"/>
                    </a:lnR>
                    <a:lnT w="9525">
                      <a:solidFill>
                        <a:srgbClr val="F3831A"/>
                      </a:solidFill>
                      <a:prstDash val="solid"/>
                    </a:lnT>
                    <a:lnB w="9525">
                      <a:solidFill>
                        <a:srgbClr val="F3831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204">
                <a:tc>
                  <a:txBody>
                    <a:bodyPr/>
                    <a:lstStyle/>
                    <a:p>
                      <a:pPr marL="8572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000" b="0" spc="225" dirty="0">
                          <a:latin typeface="Roboto Condensed Light"/>
                          <a:cs typeface="Roboto Condensed Light"/>
                        </a:rPr>
                        <a:t>Fuji</a:t>
                      </a:r>
                      <a:endParaRPr sz="1000">
                        <a:latin typeface="Roboto Condensed Light"/>
                        <a:cs typeface="Roboto Condensed Light"/>
                      </a:endParaRPr>
                    </a:p>
                  </a:txBody>
                  <a:tcPr marL="0" marR="0" marT="33020" marB="0">
                    <a:lnL w="9525">
                      <a:solidFill>
                        <a:srgbClr val="F3831A"/>
                      </a:solidFill>
                      <a:prstDash val="solid"/>
                    </a:lnL>
                    <a:lnR w="9525">
                      <a:solidFill>
                        <a:srgbClr val="F3831A"/>
                      </a:solidFill>
                      <a:prstDash val="solid"/>
                    </a:lnR>
                    <a:lnT w="9525">
                      <a:solidFill>
                        <a:srgbClr val="F3831A"/>
                      </a:solidFill>
                      <a:prstDash val="solid"/>
                    </a:lnT>
                    <a:lnB w="9525">
                      <a:solidFill>
                        <a:srgbClr val="F383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000" b="0" spc="95" dirty="0">
                          <a:latin typeface="Roboto Condensed Light"/>
                          <a:cs typeface="Roboto Condensed Light"/>
                        </a:rPr>
                        <a:t>3776</a:t>
                      </a:r>
                      <a:endParaRPr sz="1000">
                        <a:latin typeface="Roboto Condensed Light"/>
                        <a:cs typeface="Roboto Condensed Light"/>
                      </a:endParaRPr>
                    </a:p>
                  </a:txBody>
                  <a:tcPr marL="0" marR="0" marT="33020" marB="0">
                    <a:lnL w="9525">
                      <a:solidFill>
                        <a:srgbClr val="F3831A"/>
                      </a:solidFill>
                      <a:prstDash val="solid"/>
                    </a:lnL>
                    <a:lnR w="9525">
                      <a:solidFill>
                        <a:srgbClr val="F3831A"/>
                      </a:solidFill>
                      <a:prstDash val="solid"/>
                    </a:lnR>
                    <a:lnT w="9525">
                      <a:solidFill>
                        <a:srgbClr val="F3831A"/>
                      </a:solidFill>
                      <a:prstDash val="solid"/>
                    </a:lnT>
                    <a:lnB w="9525">
                      <a:solidFill>
                        <a:srgbClr val="F3831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204">
                <a:tc>
                  <a:txBody>
                    <a:bodyPr/>
                    <a:lstStyle/>
                    <a:p>
                      <a:pPr marL="8572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000" b="0" spc="60" dirty="0">
                          <a:latin typeface="Roboto Condensed Light"/>
                          <a:cs typeface="Roboto Condensed Light"/>
                        </a:rPr>
                        <a:t>K2</a:t>
                      </a:r>
                      <a:endParaRPr sz="1000">
                        <a:latin typeface="Roboto Condensed Light"/>
                        <a:cs typeface="Roboto Condensed Light"/>
                      </a:endParaRPr>
                    </a:p>
                  </a:txBody>
                  <a:tcPr marL="0" marR="0" marT="33020" marB="0">
                    <a:lnL w="9525">
                      <a:solidFill>
                        <a:srgbClr val="F3831A"/>
                      </a:solidFill>
                      <a:prstDash val="solid"/>
                    </a:lnL>
                    <a:lnR w="9525">
                      <a:solidFill>
                        <a:srgbClr val="F3831A"/>
                      </a:solidFill>
                      <a:prstDash val="solid"/>
                    </a:lnR>
                    <a:lnT w="9525">
                      <a:solidFill>
                        <a:srgbClr val="F3831A"/>
                      </a:solidFill>
                      <a:prstDash val="solid"/>
                    </a:lnT>
                    <a:lnB w="9525">
                      <a:solidFill>
                        <a:srgbClr val="F383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000" b="0" spc="95" dirty="0">
                          <a:latin typeface="Roboto Condensed Light"/>
                          <a:cs typeface="Roboto Condensed Light"/>
                        </a:rPr>
                        <a:t>8611</a:t>
                      </a:r>
                      <a:endParaRPr sz="1000">
                        <a:latin typeface="Roboto Condensed Light"/>
                        <a:cs typeface="Roboto Condensed Light"/>
                      </a:endParaRPr>
                    </a:p>
                  </a:txBody>
                  <a:tcPr marL="0" marR="0" marT="33020" marB="0">
                    <a:lnL w="9525">
                      <a:solidFill>
                        <a:srgbClr val="F3831A"/>
                      </a:solidFill>
                      <a:prstDash val="solid"/>
                    </a:lnL>
                    <a:lnR w="9525">
                      <a:solidFill>
                        <a:srgbClr val="F3831A"/>
                      </a:solidFill>
                      <a:prstDash val="solid"/>
                    </a:lnR>
                    <a:lnT w="9525">
                      <a:solidFill>
                        <a:srgbClr val="F3831A"/>
                      </a:solidFill>
                      <a:prstDash val="solid"/>
                    </a:lnT>
                    <a:lnB w="9525">
                      <a:solidFill>
                        <a:srgbClr val="F3831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204">
                <a:tc>
                  <a:txBody>
                    <a:bodyPr/>
                    <a:lstStyle/>
                    <a:p>
                      <a:pPr marL="8572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000" b="0" spc="195" dirty="0">
                          <a:latin typeface="Roboto Condensed Light"/>
                          <a:cs typeface="Roboto Condensed Light"/>
                        </a:rPr>
                        <a:t>Mt.</a:t>
                      </a:r>
                      <a:r>
                        <a:rPr sz="1000" b="0" spc="390" dirty="0">
                          <a:latin typeface="Roboto Condensed Light"/>
                          <a:cs typeface="Roboto Condensed Light"/>
                        </a:rPr>
                        <a:t> </a:t>
                      </a:r>
                      <a:r>
                        <a:rPr sz="1000" b="0" spc="160" dirty="0">
                          <a:latin typeface="Roboto Condensed Light"/>
                          <a:cs typeface="Roboto Condensed Light"/>
                        </a:rPr>
                        <a:t>Blanc</a:t>
                      </a:r>
                      <a:endParaRPr sz="1000">
                        <a:latin typeface="Roboto Condensed Light"/>
                        <a:cs typeface="Roboto Condensed Light"/>
                      </a:endParaRPr>
                    </a:p>
                  </a:txBody>
                  <a:tcPr marL="0" marR="0" marT="33020" marB="0">
                    <a:lnL w="9525">
                      <a:solidFill>
                        <a:srgbClr val="F3831A"/>
                      </a:solidFill>
                      <a:prstDash val="solid"/>
                    </a:lnL>
                    <a:lnR w="9525">
                      <a:solidFill>
                        <a:srgbClr val="F3831A"/>
                      </a:solidFill>
                      <a:prstDash val="solid"/>
                    </a:lnR>
                    <a:lnT w="9525">
                      <a:solidFill>
                        <a:srgbClr val="F3831A"/>
                      </a:solidFill>
                      <a:prstDash val="solid"/>
                    </a:lnT>
                    <a:lnB w="9525">
                      <a:solidFill>
                        <a:srgbClr val="F383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000" b="0" spc="95" dirty="0">
                          <a:latin typeface="Roboto Condensed Light"/>
                          <a:cs typeface="Roboto Condensed Light"/>
                        </a:rPr>
                        <a:t>4808</a:t>
                      </a:r>
                      <a:endParaRPr sz="1000">
                        <a:latin typeface="Roboto Condensed Light"/>
                        <a:cs typeface="Roboto Condensed Light"/>
                      </a:endParaRPr>
                    </a:p>
                  </a:txBody>
                  <a:tcPr marL="0" marR="0" marT="33020" marB="0">
                    <a:lnL w="9525">
                      <a:solidFill>
                        <a:srgbClr val="F3831A"/>
                      </a:solidFill>
                      <a:prstDash val="solid"/>
                    </a:lnL>
                    <a:lnR w="9525">
                      <a:solidFill>
                        <a:srgbClr val="F3831A"/>
                      </a:solidFill>
                      <a:prstDash val="solid"/>
                    </a:lnR>
                    <a:lnT w="9525">
                      <a:solidFill>
                        <a:srgbClr val="F3831A"/>
                      </a:solidFill>
                      <a:prstDash val="solid"/>
                    </a:lnT>
                    <a:lnB w="9525">
                      <a:solidFill>
                        <a:srgbClr val="F3831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object 14"/>
          <p:cNvSpPr/>
          <p:nvPr/>
        </p:nvSpPr>
        <p:spPr>
          <a:xfrm>
            <a:off x="1674533" y="2727878"/>
            <a:ext cx="2821305" cy="1160145"/>
          </a:xfrm>
          <a:custGeom>
            <a:avLst/>
            <a:gdLst/>
            <a:ahLst/>
            <a:cxnLst/>
            <a:rect l="l" t="t" r="r" b="b"/>
            <a:pathLst>
              <a:path w="2821304" h="1160145">
                <a:moveTo>
                  <a:pt x="495916" y="434846"/>
                </a:moveTo>
                <a:lnTo>
                  <a:pt x="503306" y="389031"/>
                </a:lnTo>
                <a:lnTo>
                  <a:pt x="523883" y="349241"/>
                </a:lnTo>
                <a:lnTo>
                  <a:pt x="555261" y="317863"/>
                </a:lnTo>
                <a:lnTo>
                  <a:pt x="595051" y="297286"/>
                </a:lnTo>
                <a:lnTo>
                  <a:pt x="640866" y="289896"/>
                </a:lnTo>
                <a:lnTo>
                  <a:pt x="883466" y="289896"/>
                </a:lnTo>
                <a:lnTo>
                  <a:pt x="0" y="0"/>
                </a:lnTo>
                <a:lnTo>
                  <a:pt x="1464791" y="289896"/>
                </a:lnTo>
                <a:lnTo>
                  <a:pt x="2676266" y="289896"/>
                </a:lnTo>
                <a:lnTo>
                  <a:pt x="2704677" y="292707"/>
                </a:lnTo>
                <a:lnTo>
                  <a:pt x="2756685" y="314250"/>
                </a:lnTo>
                <a:lnTo>
                  <a:pt x="2796863" y="354428"/>
                </a:lnTo>
                <a:lnTo>
                  <a:pt x="2818405" y="406436"/>
                </a:lnTo>
                <a:lnTo>
                  <a:pt x="2821216" y="434846"/>
                </a:lnTo>
                <a:lnTo>
                  <a:pt x="2821216" y="652271"/>
                </a:lnTo>
                <a:lnTo>
                  <a:pt x="2821216" y="1014646"/>
                </a:lnTo>
                <a:lnTo>
                  <a:pt x="2813827" y="1060462"/>
                </a:lnTo>
                <a:lnTo>
                  <a:pt x="2793249" y="1100252"/>
                </a:lnTo>
                <a:lnTo>
                  <a:pt x="2761872" y="1131630"/>
                </a:lnTo>
                <a:lnTo>
                  <a:pt x="2722082" y="1152207"/>
                </a:lnTo>
                <a:lnTo>
                  <a:pt x="2676266" y="1159596"/>
                </a:lnTo>
                <a:lnTo>
                  <a:pt x="1464791" y="1159596"/>
                </a:lnTo>
                <a:lnTo>
                  <a:pt x="883466" y="1159596"/>
                </a:lnTo>
                <a:lnTo>
                  <a:pt x="640866" y="1159596"/>
                </a:lnTo>
                <a:lnTo>
                  <a:pt x="595051" y="1152207"/>
                </a:lnTo>
                <a:lnTo>
                  <a:pt x="555261" y="1131630"/>
                </a:lnTo>
                <a:lnTo>
                  <a:pt x="523883" y="1100252"/>
                </a:lnTo>
                <a:lnTo>
                  <a:pt x="503306" y="1060462"/>
                </a:lnTo>
                <a:lnTo>
                  <a:pt x="495916" y="1014646"/>
                </a:lnTo>
                <a:lnTo>
                  <a:pt x="495916" y="652271"/>
                </a:lnTo>
                <a:lnTo>
                  <a:pt x="495916" y="434846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309250" y="3118488"/>
            <a:ext cx="2047239" cy="65786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065" marR="5080" algn="ctr">
              <a:lnSpc>
                <a:spcPts val="1650"/>
              </a:lnSpc>
              <a:spcBef>
                <a:spcPts val="180"/>
              </a:spcBef>
            </a:pPr>
            <a:r>
              <a:rPr sz="1400" b="0" dirty="0">
                <a:latin typeface="Gill Sans"/>
                <a:cs typeface="Gill Sans"/>
              </a:rPr>
              <a:t>mountain</a:t>
            </a:r>
            <a:r>
              <a:rPr sz="1400" b="0" spc="-55" dirty="0">
                <a:latin typeface="Gill Sans"/>
                <a:cs typeface="Gill Sans"/>
              </a:rPr>
              <a:t> </a:t>
            </a:r>
            <a:r>
              <a:rPr sz="1400" b="0" dirty="0">
                <a:latin typeface="Gill Sans"/>
                <a:cs typeface="Gill Sans"/>
              </a:rPr>
              <a:t>names</a:t>
            </a:r>
            <a:r>
              <a:rPr sz="1400" b="0" spc="-50" dirty="0">
                <a:latin typeface="Gill Sans"/>
                <a:cs typeface="Gill Sans"/>
              </a:rPr>
              <a:t> </a:t>
            </a:r>
            <a:r>
              <a:rPr sz="1400" b="0" dirty="0">
                <a:latin typeface="Gill Sans"/>
                <a:cs typeface="Gill Sans"/>
              </a:rPr>
              <a:t>come</a:t>
            </a:r>
            <a:r>
              <a:rPr sz="1400" b="0" spc="-55" dirty="0">
                <a:latin typeface="Gill Sans"/>
                <a:cs typeface="Gill Sans"/>
              </a:rPr>
              <a:t> </a:t>
            </a:r>
            <a:r>
              <a:rPr sz="1400" b="0" spc="-20" dirty="0">
                <a:latin typeface="Gill Sans"/>
                <a:cs typeface="Gill Sans"/>
              </a:rPr>
              <a:t>from </a:t>
            </a:r>
            <a:r>
              <a:rPr sz="1400" b="0" dirty="0">
                <a:latin typeface="Gill Sans"/>
                <a:cs typeface="Gill Sans"/>
              </a:rPr>
              <a:t>a </a:t>
            </a:r>
            <a:r>
              <a:rPr sz="1400" b="0" spc="-10" dirty="0">
                <a:latin typeface="Gill Sans"/>
                <a:cs typeface="Gill Sans"/>
              </a:rPr>
              <a:t>database,</a:t>
            </a:r>
            <a:r>
              <a:rPr sz="1400" b="0" spc="-140" dirty="0">
                <a:latin typeface="Gill Sans"/>
                <a:cs typeface="Gill Sans"/>
              </a:rPr>
              <a:t> </a:t>
            </a:r>
            <a:r>
              <a:rPr sz="1400" b="0" dirty="0">
                <a:latin typeface="Gill Sans"/>
                <a:cs typeface="Gill Sans"/>
              </a:rPr>
              <a:t>which</a:t>
            </a:r>
            <a:r>
              <a:rPr sz="1400" b="0" spc="5" dirty="0">
                <a:latin typeface="Gill Sans"/>
                <a:cs typeface="Gill Sans"/>
              </a:rPr>
              <a:t> </a:t>
            </a:r>
            <a:r>
              <a:rPr sz="1400" b="0" spc="-10" dirty="0">
                <a:latin typeface="Gill Sans"/>
                <a:cs typeface="Gill Sans"/>
              </a:rPr>
              <a:t>cannot hallucinate!</a:t>
            </a:r>
            <a:endParaRPr sz="1400">
              <a:latin typeface="Gill Sans"/>
              <a:cs typeface="Gill San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54249" y="4378088"/>
            <a:ext cx="56546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Roboto"/>
                <a:cs typeface="Roboto"/>
              </a:rPr>
              <a:t>Z.</a:t>
            </a:r>
            <a:r>
              <a:rPr sz="1400" spc="-20" dirty="0">
                <a:latin typeface="Roboto"/>
                <a:cs typeface="Roboto"/>
              </a:rPr>
              <a:t> </a:t>
            </a:r>
            <a:r>
              <a:rPr sz="1400" dirty="0">
                <a:latin typeface="Roboto"/>
                <a:cs typeface="Roboto"/>
              </a:rPr>
              <a:t>Li</a:t>
            </a:r>
            <a:r>
              <a:rPr sz="1400" spc="-15" dirty="0">
                <a:latin typeface="Roboto"/>
                <a:cs typeface="Roboto"/>
              </a:rPr>
              <a:t> </a:t>
            </a:r>
            <a:r>
              <a:rPr sz="1400" dirty="0">
                <a:latin typeface="Roboto"/>
                <a:cs typeface="Roboto"/>
              </a:rPr>
              <a:t>et</a:t>
            </a:r>
            <a:r>
              <a:rPr sz="1400" spc="-20" dirty="0">
                <a:latin typeface="Roboto"/>
                <a:cs typeface="Roboto"/>
              </a:rPr>
              <a:t> </a:t>
            </a:r>
            <a:r>
              <a:rPr sz="1400" dirty="0">
                <a:latin typeface="Roboto"/>
                <a:cs typeface="Roboto"/>
              </a:rPr>
              <a:t>al.</a:t>
            </a:r>
            <a:r>
              <a:rPr sz="1400" spc="-10" dirty="0">
                <a:latin typeface="Roboto"/>
                <a:cs typeface="Roboto"/>
              </a:rPr>
              <a:t> </a:t>
            </a:r>
            <a:r>
              <a:rPr sz="14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Relational</a:t>
            </a:r>
            <a:r>
              <a:rPr sz="1400" u="heavy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 </a:t>
            </a:r>
            <a:r>
              <a:rPr sz="14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Programming</a:t>
            </a:r>
            <a:r>
              <a:rPr sz="1400" u="heavy" spc="-1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with</a:t>
            </a:r>
            <a:r>
              <a:rPr sz="1400" u="heavy" spc="-1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 </a:t>
            </a:r>
            <a:r>
              <a:rPr sz="14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Foundation</a:t>
            </a:r>
            <a:r>
              <a:rPr sz="1400" u="heavy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Models</a:t>
            </a:r>
            <a:r>
              <a:rPr sz="1400" u="none" dirty="0">
                <a:latin typeface="Roboto"/>
                <a:cs typeface="Roboto"/>
              </a:rPr>
              <a:t>.</a:t>
            </a:r>
            <a:r>
              <a:rPr sz="1400" u="none" spc="-15" dirty="0">
                <a:latin typeface="Roboto"/>
                <a:cs typeface="Roboto"/>
              </a:rPr>
              <a:t> </a:t>
            </a:r>
            <a:r>
              <a:rPr sz="1400" u="none" dirty="0">
                <a:latin typeface="Roboto"/>
                <a:cs typeface="Roboto"/>
              </a:rPr>
              <a:t>AAAI</a:t>
            </a:r>
            <a:r>
              <a:rPr sz="1400" u="none" spc="-20" dirty="0">
                <a:latin typeface="Roboto"/>
                <a:cs typeface="Roboto"/>
              </a:rPr>
              <a:t> </a:t>
            </a:r>
            <a:r>
              <a:rPr sz="1400" u="none" spc="-10" dirty="0">
                <a:latin typeface="Roboto"/>
                <a:cs typeface="Roboto"/>
              </a:rPr>
              <a:t>2024.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Example:</a:t>
            </a:r>
            <a:r>
              <a:rPr spc="55" dirty="0"/>
              <a:t> </a:t>
            </a:r>
            <a:r>
              <a:rPr dirty="0"/>
              <a:t>Classifying</a:t>
            </a:r>
            <a:r>
              <a:rPr spc="55" dirty="0"/>
              <a:t> </a:t>
            </a:r>
            <a:r>
              <a:rPr dirty="0"/>
              <a:t>Images</a:t>
            </a:r>
            <a:r>
              <a:rPr spc="60" dirty="0"/>
              <a:t> </a:t>
            </a:r>
            <a:r>
              <a:rPr dirty="0"/>
              <a:t>Using</a:t>
            </a:r>
            <a:r>
              <a:rPr spc="55" dirty="0"/>
              <a:t> </a:t>
            </a:r>
            <a:r>
              <a:rPr spc="-20" dirty="0"/>
              <a:t>CLIP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43312" y="1170704"/>
            <a:ext cx="5289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A31414"/>
                </a:solidFill>
                <a:latin typeface="Montserrat"/>
                <a:cs typeface="Montserrat"/>
              </a:rPr>
              <a:t>image</a:t>
            </a:r>
            <a:endParaRPr sz="1200">
              <a:latin typeface="Montserrat"/>
              <a:cs typeface="Montserrat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96302" y="1426390"/>
          <a:ext cx="1409065" cy="25260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3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9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3204">
                <a:tc>
                  <a:txBody>
                    <a:bodyPr/>
                    <a:lstStyle/>
                    <a:p>
                      <a:pPr marR="74930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000" b="1" spc="-25" dirty="0">
                          <a:solidFill>
                            <a:srgbClr val="DA6114"/>
                          </a:solidFill>
                          <a:latin typeface="Courier New"/>
                          <a:cs typeface="Courier New"/>
                        </a:rPr>
                        <a:t>id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33020" marB="0">
                    <a:lnL w="9525">
                      <a:solidFill>
                        <a:srgbClr val="F3831A"/>
                      </a:solidFill>
                      <a:prstDash val="solid"/>
                    </a:lnL>
                    <a:lnR w="9525">
                      <a:solidFill>
                        <a:srgbClr val="F3831A"/>
                      </a:solidFill>
                      <a:prstDash val="solid"/>
                    </a:lnR>
                    <a:lnT w="9525">
                      <a:solidFill>
                        <a:srgbClr val="F3831A"/>
                      </a:solidFill>
                      <a:prstDash val="solid"/>
                    </a:lnT>
                    <a:lnB w="9525">
                      <a:solidFill>
                        <a:srgbClr val="F383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1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000" b="1" spc="-10" dirty="0">
                          <a:solidFill>
                            <a:srgbClr val="DA6114"/>
                          </a:solidFill>
                          <a:latin typeface="Courier New"/>
                          <a:cs typeface="Courier New"/>
                        </a:rPr>
                        <a:t>image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33020" marB="0">
                    <a:lnL w="9525">
                      <a:solidFill>
                        <a:srgbClr val="F3831A"/>
                      </a:solidFill>
                      <a:prstDash val="solid"/>
                    </a:lnL>
                    <a:lnR w="9525">
                      <a:solidFill>
                        <a:srgbClr val="F3831A"/>
                      </a:solidFill>
                      <a:prstDash val="solid"/>
                    </a:lnR>
                    <a:lnT w="9525">
                      <a:solidFill>
                        <a:srgbClr val="F3831A"/>
                      </a:solidFill>
                      <a:prstDash val="solid"/>
                    </a:lnT>
                    <a:lnB w="9525">
                      <a:solidFill>
                        <a:srgbClr val="F3831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42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9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206375">
                        <a:lnSpc>
                          <a:spcPct val="100000"/>
                        </a:lnSpc>
                      </a:pPr>
                      <a:r>
                        <a:rPr sz="1000" b="0" spc="70" dirty="0">
                          <a:solidFill>
                            <a:srgbClr val="373C4B"/>
                          </a:solidFill>
                          <a:latin typeface="Roboto Condensed Light"/>
                          <a:cs typeface="Roboto Condensed Light"/>
                        </a:rPr>
                        <a:t>0</a:t>
                      </a:r>
                      <a:endParaRPr sz="1000">
                        <a:latin typeface="Roboto Condensed Light"/>
                        <a:cs typeface="Roboto Condensed Light"/>
                      </a:endParaRPr>
                    </a:p>
                  </a:txBody>
                  <a:tcPr marL="0" marR="0" marT="0" marB="0">
                    <a:lnL w="9525">
                      <a:solidFill>
                        <a:srgbClr val="F3831A"/>
                      </a:solidFill>
                      <a:prstDash val="solid"/>
                    </a:lnL>
                    <a:lnR w="9525">
                      <a:solidFill>
                        <a:srgbClr val="F3831A"/>
                      </a:solidFill>
                      <a:prstDash val="solid"/>
                    </a:lnR>
                    <a:lnT w="9525">
                      <a:solidFill>
                        <a:srgbClr val="F3831A"/>
                      </a:solidFill>
                      <a:prstDash val="solid"/>
                    </a:lnT>
                    <a:lnB w="9525">
                      <a:solidFill>
                        <a:srgbClr val="F383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3831A"/>
                      </a:solidFill>
                      <a:prstDash val="solid"/>
                    </a:lnL>
                    <a:lnR w="9525">
                      <a:solidFill>
                        <a:srgbClr val="F3831A"/>
                      </a:solidFill>
                      <a:prstDash val="solid"/>
                    </a:lnR>
                    <a:lnT w="9525">
                      <a:solidFill>
                        <a:srgbClr val="F3831A"/>
                      </a:solidFill>
                      <a:prstDash val="solid"/>
                    </a:lnT>
                    <a:lnB w="9525">
                      <a:solidFill>
                        <a:srgbClr val="F3831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53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2063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b="0" spc="70" dirty="0">
                          <a:solidFill>
                            <a:srgbClr val="373C4B"/>
                          </a:solidFill>
                          <a:latin typeface="Roboto Condensed Light"/>
                          <a:cs typeface="Roboto Condensed Light"/>
                        </a:rPr>
                        <a:t>1</a:t>
                      </a:r>
                      <a:endParaRPr sz="1000">
                        <a:latin typeface="Roboto Condensed Light"/>
                        <a:cs typeface="Roboto Condensed Light"/>
                      </a:endParaRPr>
                    </a:p>
                  </a:txBody>
                  <a:tcPr marL="0" marR="0" marT="0" marB="0">
                    <a:lnL w="9525">
                      <a:solidFill>
                        <a:srgbClr val="F3831A"/>
                      </a:solidFill>
                      <a:prstDash val="solid"/>
                    </a:lnL>
                    <a:lnR w="9525">
                      <a:solidFill>
                        <a:srgbClr val="F3831A"/>
                      </a:solidFill>
                      <a:prstDash val="solid"/>
                    </a:lnR>
                    <a:lnT w="9525">
                      <a:solidFill>
                        <a:srgbClr val="F3831A"/>
                      </a:solidFill>
                      <a:prstDash val="solid"/>
                    </a:lnT>
                    <a:lnB w="9525">
                      <a:solidFill>
                        <a:srgbClr val="F383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3831A"/>
                      </a:solidFill>
                      <a:prstDash val="solid"/>
                    </a:lnL>
                    <a:lnR w="9525">
                      <a:solidFill>
                        <a:srgbClr val="F3831A"/>
                      </a:solidFill>
                      <a:prstDash val="solid"/>
                    </a:lnR>
                    <a:lnT w="9525">
                      <a:solidFill>
                        <a:srgbClr val="F3831A"/>
                      </a:solidFill>
                      <a:prstDash val="solid"/>
                    </a:lnT>
                    <a:lnB w="9525">
                      <a:solidFill>
                        <a:srgbClr val="F3831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204">
                <a:tc>
                  <a:txBody>
                    <a:bodyPr/>
                    <a:lstStyle/>
                    <a:p>
                      <a:pPr marR="81280" algn="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000" b="0" spc="355" dirty="0">
                          <a:latin typeface="Roboto Condensed Light"/>
                          <a:cs typeface="Roboto Condensed Light"/>
                        </a:rPr>
                        <a:t>...</a:t>
                      </a:r>
                      <a:endParaRPr sz="1000">
                        <a:latin typeface="Roboto Condensed Light"/>
                        <a:cs typeface="Roboto Condensed Light"/>
                      </a:endParaRPr>
                    </a:p>
                  </a:txBody>
                  <a:tcPr marL="0" marR="0" marT="33019" marB="0">
                    <a:lnL w="9525">
                      <a:solidFill>
                        <a:srgbClr val="F3831A"/>
                      </a:solidFill>
                      <a:prstDash val="solid"/>
                    </a:lnL>
                    <a:lnR w="9525">
                      <a:solidFill>
                        <a:srgbClr val="F3831A"/>
                      </a:solidFill>
                      <a:prstDash val="solid"/>
                    </a:lnR>
                    <a:lnT w="9525">
                      <a:solidFill>
                        <a:srgbClr val="F3831A"/>
                      </a:solidFill>
                      <a:prstDash val="solid"/>
                    </a:lnT>
                    <a:lnB w="9525">
                      <a:solidFill>
                        <a:srgbClr val="F383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000" b="0" spc="355" dirty="0">
                          <a:latin typeface="Roboto Condensed Light"/>
                          <a:cs typeface="Roboto Condensed Light"/>
                        </a:rPr>
                        <a:t>...</a:t>
                      </a:r>
                      <a:endParaRPr sz="1000">
                        <a:latin typeface="Roboto Condensed Light"/>
                        <a:cs typeface="Roboto Condensed Light"/>
                      </a:endParaRPr>
                    </a:p>
                  </a:txBody>
                  <a:tcPr marL="0" marR="0" marT="33019" marB="0">
                    <a:lnL w="9525">
                      <a:solidFill>
                        <a:srgbClr val="F3831A"/>
                      </a:solidFill>
                      <a:prstDash val="solid"/>
                    </a:lnL>
                    <a:lnR w="9525">
                      <a:solidFill>
                        <a:srgbClr val="F3831A"/>
                      </a:solidFill>
                      <a:prstDash val="solid"/>
                    </a:lnR>
                    <a:lnT w="9525">
                      <a:solidFill>
                        <a:srgbClr val="F3831A"/>
                      </a:solidFill>
                      <a:prstDash val="solid"/>
                    </a:lnT>
                    <a:lnB w="9525">
                      <a:solidFill>
                        <a:srgbClr val="F3831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7527342" y="1579953"/>
            <a:ext cx="9004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A31414"/>
                </a:solidFill>
                <a:latin typeface="Montserrat"/>
                <a:cs typeface="Montserrat"/>
              </a:rPr>
              <a:t>cat_or_dog</a:t>
            </a:r>
            <a:endParaRPr sz="1200">
              <a:latin typeface="Montserrat"/>
              <a:cs typeface="Montserra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7811" y="1755252"/>
            <a:ext cx="881500" cy="859004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1769759" y="2343962"/>
            <a:ext cx="403860" cy="390525"/>
            <a:chOff x="1769759" y="2343962"/>
            <a:chExt cx="403860" cy="390525"/>
          </a:xfrm>
        </p:grpSpPr>
        <p:sp>
          <p:nvSpPr>
            <p:cNvPr id="11" name="object 11"/>
            <p:cNvSpPr/>
            <p:nvPr/>
          </p:nvSpPr>
          <p:spPr>
            <a:xfrm>
              <a:off x="1774522" y="2348725"/>
              <a:ext cx="394335" cy="381000"/>
            </a:xfrm>
            <a:custGeom>
              <a:avLst/>
              <a:gdLst/>
              <a:ahLst/>
              <a:cxnLst/>
              <a:rect l="l" t="t" r="r" b="b"/>
              <a:pathLst>
                <a:path w="394335" h="381000">
                  <a:moveTo>
                    <a:pt x="203399" y="380999"/>
                  </a:moveTo>
                  <a:lnTo>
                    <a:pt x="203399" y="285749"/>
                  </a:lnTo>
                  <a:lnTo>
                    <a:pt x="0" y="285749"/>
                  </a:lnTo>
                  <a:lnTo>
                    <a:pt x="0" y="95249"/>
                  </a:lnTo>
                  <a:lnTo>
                    <a:pt x="203399" y="95249"/>
                  </a:lnTo>
                  <a:lnTo>
                    <a:pt x="203399" y="0"/>
                  </a:lnTo>
                  <a:lnTo>
                    <a:pt x="393899" y="190499"/>
                  </a:lnTo>
                  <a:lnTo>
                    <a:pt x="203399" y="3809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774522" y="2348725"/>
              <a:ext cx="394335" cy="381000"/>
            </a:xfrm>
            <a:custGeom>
              <a:avLst/>
              <a:gdLst/>
              <a:ahLst/>
              <a:cxnLst/>
              <a:rect l="l" t="t" r="r" b="b"/>
              <a:pathLst>
                <a:path w="394335" h="381000">
                  <a:moveTo>
                    <a:pt x="0" y="95249"/>
                  </a:moveTo>
                  <a:lnTo>
                    <a:pt x="203399" y="95249"/>
                  </a:lnTo>
                  <a:lnTo>
                    <a:pt x="203399" y="0"/>
                  </a:lnTo>
                  <a:lnTo>
                    <a:pt x="393899" y="190499"/>
                  </a:lnTo>
                  <a:lnTo>
                    <a:pt x="203399" y="380999"/>
                  </a:lnTo>
                  <a:lnTo>
                    <a:pt x="203399" y="285749"/>
                  </a:lnTo>
                  <a:lnTo>
                    <a:pt x="0" y="285749"/>
                  </a:lnTo>
                  <a:lnTo>
                    <a:pt x="0" y="952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292409" y="2105099"/>
            <a:ext cx="4215765" cy="869950"/>
          </a:xfrm>
          <a:prstGeom prst="rect">
            <a:avLst/>
          </a:prstGeom>
          <a:ln w="9524">
            <a:solidFill>
              <a:srgbClr val="78909B"/>
            </a:solidFill>
          </a:ln>
        </p:spPr>
        <p:txBody>
          <a:bodyPr vert="horz" wrap="square" lIns="0" tIns="8064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635"/>
              </a:spcBef>
            </a:pPr>
            <a:r>
              <a:rPr sz="1000" b="0" spc="65" dirty="0">
                <a:solidFill>
                  <a:srgbClr val="1F2328"/>
                </a:solidFill>
                <a:latin typeface="Roboto Condensed Light"/>
                <a:cs typeface="Roboto Condensed Light"/>
              </a:rPr>
              <a:t>@</a:t>
            </a:r>
            <a:r>
              <a:rPr sz="1000" b="1" spc="65" dirty="0">
                <a:solidFill>
                  <a:srgbClr val="0550AE"/>
                </a:solidFill>
                <a:latin typeface="Courier New"/>
                <a:cs typeface="Courier New"/>
              </a:rPr>
              <a:t>clip</a:t>
            </a:r>
            <a:r>
              <a:rPr sz="1000" b="0" spc="65" dirty="0">
                <a:solidFill>
                  <a:srgbClr val="1F2328"/>
                </a:solidFill>
                <a:latin typeface="Roboto Condensed Light"/>
                <a:cs typeface="Roboto Condensed Light"/>
              </a:rPr>
              <a:t>([</a:t>
            </a:r>
            <a:r>
              <a:rPr sz="1000" b="1" spc="65" dirty="0">
                <a:solidFill>
                  <a:srgbClr val="FF9900"/>
                </a:solidFill>
                <a:latin typeface="Courier New"/>
                <a:cs typeface="Courier New"/>
              </a:rPr>
              <a:t>"cat"</a:t>
            </a:r>
            <a:r>
              <a:rPr sz="1000" b="0" spc="65" dirty="0">
                <a:solidFill>
                  <a:srgbClr val="1F2328"/>
                </a:solidFill>
                <a:latin typeface="Roboto Condensed Light"/>
                <a:cs typeface="Roboto Condensed Light"/>
              </a:rPr>
              <a:t>,</a:t>
            </a:r>
            <a:r>
              <a:rPr sz="1000" b="1" spc="65" dirty="0">
                <a:solidFill>
                  <a:srgbClr val="FF9900"/>
                </a:solidFill>
                <a:latin typeface="Courier New"/>
                <a:cs typeface="Courier New"/>
              </a:rPr>
              <a:t>"dog"</a:t>
            </a:r>
            <a:r>
              <a:rPr sz="1000" b="0" spc="65" dirty="0">
                <a:solidFill>
                  <a:srgbClr val="1F2328"/>
                </a:solidFill>
                <a:latin typeface="Roboto Condensed Light"/>
                <a:cs typeface="Roboto Condensed Light"/>
              </a:rPr>
              <a:t>])</a:t>
            </a:r>
            <a:endParaRPr sz="1000">
              <a:latin typeface="Roboto Condensed Light"/>
              <a:cs typeface="Roboto Condensed Light"/>
            </a:endParaRPr>
          </a:p>
          <a:p>
            <a:pPr marL="76200">
              <a:lnSpc>
                <a:spcPct val="100000"/>
              </a:lnSpc>
              <a:spcBef>
                <a:spcPts val="180"/>
              </a:spcBef>
            </a:pPr>
            <a:r>
              <a:rPr sz="1000" b="1" dirty="0">
                <a:solidFill>
                  <a:srgbClr val="0431FF"/>
                </a:solidFill>
                <a:latin typeface="Courier New"/>
                <a:cs typeface="Courier New"/>
              </a:rPr>
              <a:t>type</a:t>
            </a:r>
            <a:r>
              <a:rPr sz="1000" b="1" spc="35" dirty="0">
                <a:solidFill>
                  <a:srgbClr val="0431F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A31414"/>
                </a:solidFill>
                <a:latin typeface="Courier New"/>
                <a:cs typeface="Courier New"/>
              </a:rPr>
              <a:t>classify</a:t>
            </a:r>
            <a:r>
              <a:rPr sz="1000" b="0" dirty="0">
                <a:solidFill>
                  <a:srgbClr val="1F2328"/>
                </a:solidFill>
                <a:latin typeface="Roboto Condensed Light"/>
                <a:cs typeface="Roboto Condensed Light"/>
              </a:rPr>
              <a:t>(</a:t>
            </a:r>
            <a:r>
              <a:rPr sz="1000" b="1" dirty="0">
                <a:solidFill>
                  <a:srgbClr val="0431FF"/>
                </a:solidFill>
                <a:latin typeface="Courier New"/>
                <a:cs typeface="Courier New"/>
              </a:rPr>
              <a:t>bound</a:t>
            </a:r>
            <a:r>
              <a:rPr sz="1000" b="1" spc="40" dirty="0">
                <a:solidFill>
                  <a:srgbClr val="0431FF"/>
                </a:solidFill>
                <a:latin typeface="Courier New"/>
                <a:cs typeface="Courier New"/>
              </a:rPr>
              <a:t> </a:t>
            </a:r>
            <a:r>
              <a:rPr sz="1000" b="0" spc="185" dirty="0">
                <a:solidFill>
                  <a:srgbClr val="1F2328"/>
                </a:solidFill>
                <a:latin typeface="Roboto Condensed Light"/>
                <a:cs typeface="Roboto Condensed Light"/>
              </a:rPr>
              <a:t>img:</a:t>
            </a:r>
            <a:r>
              <a:rPr sz="1000" b="0" spc="430" dirty="0">
                <a:solidFill>
                  <a:srgbClr val="1F2328"/>
                </a:solidFill>
                <a:latin typeface="Roboto Condensed Light"/>
                <a:cs typeface="Roboto Condensed Light"/>
              </a:rPr>
              <a:t> </a:t>
            </a:r>
            <a:r>
              <a:rPr sz="1000" b="1" spc="55" dirty="0">
                <a:solidFill>
                  <a:srgbClr val="0431FF"/>
                </a:solidFill>
                <a:latin typeface="Courier New"/>
                <a:cs typeface="Courier New"/>
              </a:rPr>
              <a:t>Tensor</a:t>
            </a:r>
            <a:r>
              <a:rPr sz="1000" b="0" spc="55" dirty="0">
                <a:solidFill>
                  <a:srgbClr val="1F2328"/>
                </a:solidFill>
                <a:latin typeface="Roboto Condensed Light"/>
                <a:cs typeface="Roboto Condensed Light"/>
              </a:rPr>
              <a:t>,</a:t>
            </a:r>
            <a:r>
              <a:rPr sz="1000" b="0" spc="425" dirty="0">
                <a:solidFill>
                  <a:srgbClr val="1F2328"/>
                </a:solidFill>
                <a:latin typeface="Roboto Condensed Light"/>
                <a:cs typeface="Roboto Condensed Light"/>
              </a:rPr>
              <a:t> </a:t>
            </a:r>
            <a:r>
              <a:rPr sz="1000" b="1" dirty="0">
                <a:solidFill>
                  <a:srgbClr val="0431FF"/>
                </a:solidFill>
                <a:latin typeface="Courier New"/>
                <a:cs typeface="Courier New"/>
              </a:rPr>
              <a:t>free</a:t>
            </a:r>
            <a:r>
              <a:rPr sz="1000" b="1" spc="40" dirty="0">
                <a:solidFill>
                  <a:srgbClr val="0431FF"/>
                </a:solidFill>
                <a:latin typeface="Courier New"/>
                <a:cs typeface="Courier New"/>
              </a:rPr>
              <a:t> </a:t>
            </a:r>
            <a:r>
              <a:rPr sz="1000" b="0" spc="265" dirty="0">
                <a:solidFill>
                  <a:srgbClr val="1F2328"/>
                </a:solidFill>
                <a:latin typeface="Roboto Condensed Light"/>
                <a:cs typeface="Roboto Condensed Light"/>
              </a:rPr>
              <a:t>label:</a:t>
            </a:r>
            <a:r>
              <a:rPr sz="1000" b="0" spc="430" dirty="0">
                <a:solidFill>
                  <a:srgbClr val="1F2328"/>
                </a:solidFill>
                <a:latin typeface="Roboto Condensed Light"/>
                <a:cs typeface="Roboto Condensed Light"/>
              </a:rPr>
              <a:t> </a:t>
            </a:r>
            <a:r>
              <a:rPr sz="1000" b="1" spc="-10" dirty="0">
                <a:solidFill>
                  <a:srgbClr val="0431FF"/>
                </a:solidFill>
                <a:latin typeface="Courier New"/>
                <a:cs typeface="Courier New"/>
              </a:rPr>
              <a:t>String</a:t>
            </a:r>
            <a:r>
              <a:rPr sz="1000" b="0" spc="-10" dirty="0">
                <a:solidFill>
                  <a:srgbClr val="1F2328"/>
                </a:solidFill>
                <a:latin typeface="Roboto Condensed Light"/>
                <a:cs typeface="Roboto Condensed Light"/>
              </a:rPr>
              <a:t>)</a:t>
            </a:r>
            <a:endParaRPr sz="1000">
              <a:latin typeface="Roboto Condensed Light"/>
              <a:cs typeface="Roboto Condensed Light"/>
            </a:endParaRPr>
          </a:p>
          <a:p>
            <a:pPr marL="76200">
              <a:lnSpc>
                <a:spcPct val="100000"/>
              </a:lnSpc>
              <a:spcBef>
                <a:spcPts val="180"/>
              </a:spcBef>
            </a:pPr>
            <a:r>
              <a:rPr sz="1000" b="0" spc="254" dirty="0">
                <a:solidFill>
                  <a:srgbClr val="1691A4"/>
                </a:solidFill>
                <a:latin typeface="Roboto Condensed Light"/>
                <a:cs typeface="Roboto Condensed Light"/>
              </a:rPr>
              <a:t>//</a:t>
            </a:r>
            <a:r>
              <a:rPr sz="1000" b="0" spc="395" dirty="0">
                <a:solidFill>
                  <a:srgbClr val="1691A4"/>
                </a:solidFill>
                <a:latin typeface="Roboto Condensed Light"/>
                <a:cs typeface="Roboto Condensed Light"/>
              </a:rPr>
              <a:t> </a:t>
            </a:r>
            <a:r>
              <a:rPr sz="1000" b="0" spc="225" dirty="0">
                <a:solidFill>
                  <a:srgbClr val="1691A4"/>
                </a:solidFill>
                <a:latin typeface="Roboto Condensed Light"/>
                <a:cs typeface="Roboto Condensed Light"/>
              </a:rPr>
              <a:t>Classify</a:t>
            </a:r>
            <a:r>
              <a:rPr sz="1000" b="0" spc="395" dirty="0">
                <a:solidFill>
                  <a:srgbClr val="1691A4"/>
                </a:solidFill>
                <a:latin typeface="Roboto Condensed Light"/>
                <a:cs typeface="Roboto Condensed Light"/>
              </a:rPr>
              <a:t> </a:t>
            </a:r>
            <a:r>
              <a:rPr sz="1000" b="0" spc="140" dirty="0">
                <a:solidFill>
                  <a:srgbClr val="1691A4"/>
                </a:solidFill>
                <a:latin typeface="Roboto Condensed Light"/>
                <a:cs typeface="Roboto Condensed Light"/>
              </a:rPr>
              <a:t>each</a:t>
            </a:r>
            <a:r>
              <a:rPr sz="1000" b="0" spc="395" dirty="0">
                <a:solidFill>
                  <a:srgbClr val="1691A4"/>
                </a:solidFill>
                <a:latin typeface="Roboto Condensed Light"/>
                <a:cs typeface="Roboto Condensed Light"/>
              </a:rPr>
              <a:t> </a:t>
            </a:r>
            <a:r>
              <a:rPr sz="1000" b="0" spc="130" dirty="0">
                <a:solidFill>
                  <a:srgbClr val="1691A4"/>
                </a:solidFill>
                <a:latin typeface="Roboto Condensed Light"/>
                <a:cs typeface="Roboto Condensed Light"/>
              </a:rPr>
              <a:t>image</a:t>
            </a:r>
            <a:r>
              <a:rPr sz="1000" b="0" spc="395" dirty="0">
                <a:solidFill>
                  <a:srgbClr val="1691A4"/>
                </a:solidFill>
                <a:latin typeface="Roboto Condensed Light"/>
                <a:cs typeface="Roboto Condensed Light"/>
              </a:rPr>
              <a:t> </a:t>
            </a:r>
            <a:r>
              <a:rPr sz="1000" b="0" spc="150" dirty="0">
                <a:solidFill>
                  <a:srgbClr val="1691A4"/>
                </a:solidFill>
                <a:latin typeface="Roboto Condensed Light"/>
                <a:cs typeface="Roboto Condensed Light"/>
              </a:rPr>
              <a:t>as</a:t>
            </a:r>
            <a:r>
              <a:rPr sz="1000" b="0" spc="395" dirty="0">
                <a:solidFill>
                  <a:srgbClr val="1691A4"/>
                </a:solidFill>
                <a:latin typeface="Roboto Condensed Light"/>
                <a:cs typeface="Roboto Condensed Light"/>
              </a:rPr>
              <a:t> </a:t>
            </a:r>
            <a:r>
              <a:rPr sz="1000" b="0" spc="195" dirty="0">
                <a:solidFill>
                  <a:srgbClr val="1691A4"/>
                </a:solidFill>
                <a:latin typeface="Roboto Condensed Light"/>
                <a:cs typeface="Roboto Condensed Light"/>
              </a:rPr>
              <a:t>cat</a:t>
            </a:r>
            <a:r>
              <a:rPr sz="1000" b="0" spc="395" dirty="0">
                <a:solidFill>
                  <a:srgbClr val="1691A4"/>
                </a:solidFill>
                <a:latin typeface="Roboto Condensed Light"/>
                <a:cs typeface="Roboto Condensed Light"/>
              </a:rPr>
              <a:t> </a:t>
            </a:r>
            <a:r>
              <a:rPr sz="1000" b="0" spc="210" dirty="0">
                <a:solidFill>
                  <a:srgbClr val="1691A4"/>
                </a:solidFill>
                <a:latin typeface="Roboto Condensed Light"/>
                <a:cs typeface="Roboto Condensed Light"/>
              </a:rPr>
              <a:t>or</a:t>
            </a:r>
            <a:r>
              <a:rPr sz="1000" b="0" spc="395" dirty="0">
                <a:solidFill>
                  <a:srgbClr val="1691A4"/>
                </a:solidFill>
                <a:latin typeface="Roboto Condensed Light"/>
                <a:cs typeface="Roboto Condensed Light"/>
              </a:rPr>
              <a:t> </a:t>
            </a:r>
            <a:r>
              <a:rPr sz="1000" b="0" spc="90" dirty="0">
                <a:solidFill>
                  <a:srgbClr val="1691A4"/>
                </a:solidFill>
                <a:latin typeface="Roboto Condensed Light"/>
                <a:cs typeface="Roboto Condensed Light"/>
              </a:rPr>
              <a:t>dog</a:t>
            </a:r>
            <a:endParaRPr sz="1000">
              <a:latin typeface="Roboto Condensed Light"/>
              <a:cs typeface="Roboto Condensed Light"/>
            </a:endParaRPr>
          </a:p>
          <a:p>
            <a:pPr marL="76200">
              <a:lnSpc>
                <a:spcPct val="100000"/>
              </a:lnSpc>
              <a:spcBef>
                <a:spcPts val="180"/>
              </a:spcBef>
            </a:pPr>
            <a:r>
              <a:rPr sz="1000" b="1" dirty="0">
                <a:solidFill>
                  <a:srgbClr val="0431FF"/>
                </a:solidFill>
                <a:latin typeface="Courier New"/>
                <a:cs typeface="Courier New"/>
              </a:rPr>
              <a:t>rel </a:t>
            </a:r>
            <a:r>
              <a:rPr sz="1000" b="1" spc="80" dirty="0">
                <a:solidFill>
                  <a:srgbClr val="A31414"/>
                </a:solidFill>
                <a:latin typeface="Courier New"/>
                <a:cs typeface="Courier New"/>
              </a:rPr>
              <a:t>cat_or_dog</a:t>
            </a:r>
            <a:r>
              <a:rPr sz="1000" b="0" spc="80" dirty="0">
                <a:solidFill>
                  <a:srgbClr val="CE222E"/>
                </a:solidFill>
                <a:latin typeface="Roboto Condensed Light"/>
                <a:cs typeface="Roboto Condensed Light"/>
              </a:rPr>
              <a:t>(i,</a:t>
            </a:r>
            <a:r>
              <a:rPr sz="1000" b="0" spc="395" dirty="0">
                <a:solidFill>
                  <a:srgbClr val="CE222E"/>
                </a:solidFill>
                <a:latin typeface="Roboto Condensed Light"/>
                <a:cs typeface="Roboto Condensed Light"/>
              </a:rPr>
              <a:t> </a:t>
            </a:r>
            <a:r>
              <a:rPr sz="1000" b="0" spc="355" dirty="0">
                <a:solidFill>
                  <a:srgbClr val="CE222E"/>
                </a:solidFill>
                <a:latin typeface="Roboto Condensed Light"/>
                <a:cs typeface="Roboto Condensed Light"/>
              </a:rPr>
              <a:t>l)</a:t>
            </a:r>
            <a:r>
              <a:rPr sz="1000" b="0" spc="395" dirty="0">
                <a:solidFill>
                  <a:srgbClr val="CE222E"/>
                </a:solidFill>
                <a:latin typeface="Roboto Condensed Light"/>
                <a:cs typeface="Roboto Condensed Light"/>
              </a:rPr>
              <a:t> </a:t>
            </a:r>
            <a:r>
              <a:rPr sz="1000" b="0" spc="120" dirty="0">
                <a:solidFill>
                  <a:srgbClr val="CE222E"/>
                </a:solidFill>
                <a:latin typeface="Roboto Condensed Light"/>
                <a:cs typeface="Roboto Condensed Light"/>
              </a:rPr>
              <a:t>=</a:t>
            </a:r>
            <a:r>
              <a:rPr sz="1000" b="0" spc="395" dirty="0">
                <a:solidFill>
                  <a:srgbClr val="CE222E"/>
                </a:solidFill>
                <a:latin typeface="Roboto Condensed Light"/>
                <a:cs typeface="Roboto Condensed Light"/>
              </a:rPr>
              <a:t> </a:t>
            </a:r>
            <a:r>
              <a:rPr sz="1000" b="1" spc="135" dirty="0">
                <a:solidFill>
                  <a:srgbClr val="A31414"/>
                </a:solidFill>
                <a:latin typeface="Courier New"/>
                <a:cs typeface="Courier New"/>
              </a:rPr>
              <a:t>image</a:t>
            </a:r>
            <a:r>
              <a:rPr sz="1000" b="0" spc="135" dirty="0">
                <a:solidFill>
                  <a:srgbClr val="CE222E"/>
                </a:solidFill>
                <a:latin typeface="Roboto Condensed Light"/>
                <a:cs typeface="Roboto Condensed Light"/>
              </a:rPr>
              <a:t>(i,</a:t>
            </a:r>
            <a:r>
              <a:rPr sz="1000" b="0" spc="395" dirty="0">
                <a:solidFill>
                  <a:srgbClr val="CE222E"/>
                </a:solidFill>
                <a:latin typeface="Roboto Condensed Light"/>
                <a:cs typeface="Roboto Condensed Light"/>
              </a:rPr>
              <a:t> </a:t>
            </a:r>
            <a:r>
              <a:rPr sz="1000" b="0" spc="85" dirty="0">
                <a:solidFill>
                  <a:srgbClr val="CE222E"/>
                </a:solidFill>
                <a:latin typeface="Roboto Condensed Light"/>
                <a:cs typeface="Roboto Condensed Light"/>
              </a:rPr>
              <a:t>m)</a:t>
            </a:r>
            <a:r>
              <a:rPr sz="1000" b="0" spc="395" dirty="0">
                <a:solidFill>
                  <a:srgbClr val="CE222E"/>
                </a:solidFill>
                <a:latin typeface="Roboto Condensed Light"/>
                <a:cs typeface="Roboto Condensed Light"/>
              </a:rPr>
              <a:t> </a:t>
            </a:r>
            <a:r>
              <a:rPr sz="1000" b="1" dirty="0">
                <a:solidFill>
                  <a:srgbClr val="0431FF"/>
                </a:solidFill>
                <a:latin typeface="Courier New"/>
                <a:cs typeface="Courier New"/>
              </a:rPr>
              <a:t>and</a:t>
            </a:r>
            <a:r>
              <a:rPr sz="1000" b="1" spc="5" dirty="0">
                <a:solidFill>
                  <a:srgbClr val="0431FF"/>
                </a:solidFill>
                <a:latin typeface="Courier New"/>
                <a:cs typeface="Courier New"/>
              </a:rPr>
              <a:t> </a:t>
            </a:r>
            <a:r>
              <a:rPr sz="1000" b="1" spc="50" dirty="0">
                <a:solidFill>
                  <a:srgbClr val="A31414"/>
                </a:solidFill>
                <a:latin typeface="Courier New"/>
                <a:cs typeface="Courier New"/>
              </a:rPr>
              <a:t>classify</a:t>
            </a:r>
            <a:r>
              <a:rPr sz="1000" b="0" spc="50" dirty="0">
                <a:solidFill>
                  <a:srgbClr val="CE222E"/>
                </a:solidFill>
                <a:latin typeface="Roboto Condensed Light"/>
                <a:cs typeface="Roboto Condensed Light"/>
              </a:rPr>
              <a:t>(m,</a:t>
            </a:r>
            <a:r>
              <a:rPr sz="1000" b="0" spc="395" dirty="0">
                <a:solidFill>
                  <a:srgbClr val="CE222E"/>
                </a:solidFill>
                <a:latin typeface="Roboto Condensed Light"/>
                <a:cs typeface="Roboto Condensed Light"/>
              </a:rPr>
              <a:t> </a:t>
            </a:r>
            <a:r>
              <a:rPr sz="1000" b="0" spc="330" dirty="0">
                <a:solidFill>
                  <a:srgbClr val="CE222E"/>
                </a:solidFill>
                <a:latin typeface="Roboto Condensed Light"/>
                <a:cs typeface="Roboto Condensed Light"/>
              </a:rPr>
              <a:t>l)</a:t>
            </a:r>
            <a:endParaRPr sz="1000">
              <a:latin typeface="Roboto Condensed Light"/>
              <a:cs typeface="Roboto Condensed Ligh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626917" y="2343962"/>
            <a:ext cx="403860" cy="390525"/>
            <a:chOff x="6626917" y="2343962"/>
            <a:chExt cx="403860" cy="390525"/>
          </a:xfrm>
        </p:grpSpPr>
        <p:sp>
          <p:nvSpPr>
            <p:cNvPr id="14" name="object 14"/>
            <p:cNvSpPr/>
            <p:nvPr/>
          </p:nvSpPr>
          <p:spPr>
            <a:xfrm>
              <a:off x="6631679" y="2348725"/>
              <a:ext cx="394335" cy="381000"/>
            </a:xfrm>
            <a:custGeom>
              <a:avLst/>
              <a:gdLst/>
              <a:ahLst/>
              <a:cxnLst/>
              <a:rect l="l" t="t" r="r" b="b"/>
              <a:pathLst>
                <a:path w="394334" h="381000">
                  <a:moveTo>
                    <a:pt x="203399" y="380999"/>
                  </a:moveTo>
                  <a:lnTo>
                    <a:pt x="203399" y="285749"/>
                  </a:lnTo>
                  <a:lnTo>
                    <a:pt x="0" y="285749"/>
                  </a:lnTo>
                  <a:lnTo>
                    <a:pt x="0" y="95249"/>
                  </a:lnTo>
                  <a:lnTo>
                    <a:pt x="203399" y="95249"/>
                  </a:lnTo>
                  <a:lnTo>
                    <a:pt x="203399" y="0"/>
                  </a:lnTo>
                  <a:lnTo>
                    <a:pt x="393899" y="190499"/>
                  </a:lnTo>
                  <a:lnTo>
                    <a:pt x="203399" y="3809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631679" y="2348725"/>
              <a:ext cx="394335" cy="381000"/>
            </a:xfrm>
            <a:custGeom>
              <a:avLst/>
              <a:gdLst/>
              <a:ahLst/>
              <a:cxnLst/>
              <a:rect l="l" t="t" r="r" b="b"/>
              <a:pathLst>
                <a:path w="394334" h="381000">
                  <a:moveTo>
                    <a:pt x="0" y="95249"/>
                  </a:moveTo>
                  <a:lnTo>
                    <a:pt x="203399" y="95249"/>
                  </a:lnTo>
                  <a:lnTo>
                    <a:pt x="203399" y="0"/>
                  </a:lnTo>
                  <a:lnTo>
                    <a:pt x="393899" y="190499"/>
                  </a:lnTo>
                  <a:lnTo>
                    <a:pt x="203399" y="380999"/>
                  </a:lnTo>
                  <a:lnTo>
                    <a:pt x="203399" y="285749"/>
                  </a:lnTo>
                  <a:lnTo>
                    <a:pt x="0" y="285749"/>
                  </a:lnTo>
                  <a:lnTo>
                    <a:pt x="0" y="952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7811" y="2768906"/>
            <a:ext cx="881500" cy="881500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136327" y="1879262"/>
          <a:ext cx="1709420" cy="14592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00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97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26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3204"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000" b="1" spc="-20" dirty="0">
                          <a:solidFill>
                            <a:srgbClr val="DA6114"/>
                          </a:solidFill>
                          <a:latin typeface="Courier New"/>
                          <a:cs typeface="Courier New"/>
                        </a:rPr>
                        <a:t>prob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33020" marB="0">
                    <a:lnL w="9525">
                      <a:solidFill>
                        <a:srgbClr val="F3831A"/>
                      </a:solidFill>
                      <a:prstDash val="solid"/>
                    </a:lnL>
                    <a:lnR w="9525">
                      <a:solidFill>
                        <a:srgbClr val="F3831A"/>
                      </a:solidFill>
                      <a:prstDash val="solid"/>
                    </a:lnR>
                    <a:lnT w="9525">
                      <a:solidFill>
                        <a:srgbClr val="F3831A"/>
                      </a:solidFill>
                      <a:prstDash val="solid"/>
                    </a:lnT>
                    <a:lnB w="9525">
                      <a:solidFill>
                        <a:srgbClr val="F383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000" b="1" spc="-25" dirty="0">
                          <a:solidFill>
                            <a:srgbClr val="DA6114"/>
                          </a:solidFill>
                          <a:latin typeface="Courier New"/>
                          <a:cs typeface="Courier New"/>
                        </a:rPr>
                        <a:t>id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33020" marB="0">
                    <a:lnL w="9525">
                      <a:solidFill>
                        <a:srgbClr val="F3831A"/>
                      </a:solidFill>
                      <a:prstDash val="solid"/>
                    </a:lnL>
                    <a:lnR w="9525">
                      <a:solidFill>
                        <a:srgbClr val="F3831A"/>
                      </a:solidFill>
                      <a:prstDash val="solid"/>
                    </a:lnR>
                    <a:lnT w="9525">
                      <a:solidFill>
                        <a:srgbClr val="F3831A"/>
                      </a:solidFill>
                      <a:prstDash val="solid"/>
                    </a:lnT>
                    <a:lnB w="9525">
                      <a:solidFill>
                        <a:srgbClr val="F383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000" b="1" spc="-10" dirty="0">
                          <a:solidFill>
                            <a:srgbClr val="DA6114"/>
                          </a:solidFill>
                          <a:latin typeface="Courier New"/>
                          <a:cs typeface="Courier New"/>
                        </a:rPr>
                        <a:t>label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33020" marB="0">
                    <a:lnL w="9525">
                      <a:solidFill>
                        <a:srgbClr val="F3831A"/>
                      </a:solidFill>
                      <a:prstDash val="solid"/>
                    </a:lnL>
                    <a:lnR w="9525">
                      <a:solidFill>
                        <a:srgbClr val="F3831A"/>
                      </a:solidFill>
                      <a:prstDash val="solid"/>
                    </a:lnR>
                    <a:lnT w="9525">
                      <a:solidFill>
                        <a:srgbClr val="F3831A"/>
                      </a:solidFill>
                      <a:prstDash val="solid"/>
                    </a:lnT>
                    <a:lnB w="9525">
                      <a:solidFill>
                        <a:srgbClr val="F3831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204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000" b="0" spc="160" dirty="0">
                          <a:solidFill>
                            <a:srgbClr val="373C4B"/>
                          </a:solidFill>
                          <a:latin typeface="Roboto Condensed Light"/>
                          <a:cs typeface="Roboto Condensed Light"/>
                        </a:rPr>
                        <a:t>0.00</a:t>
                      </a:r>
                      <a:endParaRPr sz="1000">
                        <a:latin typeface="Roboto Condensed Light"/>
                        <a:cs typeface="Roboto Condensed Light"/>
                      </a:endParaRPr>
                    </a:p>
                  </a:txBody>
                  <a:tcPr marL="0" marR="0" marT="33020" marB="0">
                    <a:lnL w="9525">
                      <a:solidFill>
                        <a:srgbClr val="F3831A"/>
                      </a:solidFill>
                      <a:prstDash val="solid"/>
                    </a:lnL>
                    <a:lnR w="9525">
                      <a:solidFill>
                        <a:srgbClr val="F3831A"/>
                      </a:solidFill>
                      <a:prstDash val="solid"/>
                    </a:lnR>
                    <a:lnT w="9525">
                      <a:solidFill>
                        <a:srgbClr val="F3831A"/>
                      </a:solidFill>
                      <a:prstDash val="solid"/>
                    </a:lnT>
                    <a:lnB w="9525">
                      <a:solidFill>
                        <a:srgbClr val="F383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000" b="0" spc="70" dirty="0">
                          <a:solidFill>
                            <a:srgbClr val="373C4B"/>
                          </a:solidFill>
                          <a:latin typeface="Roboto Condensed Light"/>
                          <a:cs typeface="Roboto Condensed Light"/>
                        </a:rPr>
                        <a:t>0</a:t>
                      </a:r>
                      <a:endParaRPr sz="1000">
                        <a:latin typeface="Roboto Condensed Light"/>
                        <a:cs typeface="Roboto Condensed Light"/>
                      </a:endParaRPr>
                    </a:p>
                  </a:txBody>
                  <a:tcPr marL="0" marR="0" marT="33020" marB="0">
                    <a:lnL w="9525">
                      <a:solidFill>
                        <a:srgbClr val="F3831A"/>
                      </a:solidFill>
                      <a:prstDash val="solid"/>
                    </a:lnL>
                    <a:lnR w="9525">
                      <a:solidFill>
                        <a:srgbClr val="F3831A"/>
                      </a:solidFill>
                      <a:prstDash val="solid"/>
                    </a:lnR>
                    <a:lnT w="9525">
                      <a:solidFill>
                        <a:srgbClr val="F3831A"/>
                      </a:solidFill>
                      <a:prstDash val="solid"/>
                    </a:lnT>
                    <a:lnB w="9525">
                      <a:solidFill>
                        <a:srgbClr val="F383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000" b="0" spc="170" dirty="0">
                          <a:solidFill>
                            <a:srgbClr val="373C4B"/>
                          </a:solidFill>
                          <a:latin typeface="Roboto Condensed Light"/>
                          <a:cs typeface="Roboto Condensed Light"/>
                        </a:rPr>
                        <a:t>cat</a:t>
                      </a:r>
                      <a:endParaRPr sz="1000">
                        <a:latin typeface="Roboto Condensed Light"/>
                        <a:cs typeface="Roboto Condensed Light"/>
                      </a:endParaRPr>
                    </a:p>
                  </a:txBody>
                  <a:tcPr marL="0" marR="0" marT="33020" marB="0">
                    <a:lnL w="9525">
                      <a:solidFill>
                        <a:srgbClr val="F3831A"/>
                      </a:solidFill>
                      <a:prstDash val="solid"/>
                    </a:lnL>
                    <a:lnR w="9525">
                      <a:solidFill>
                        <a:srgbClr val="F3831A"/>
                      </a:solidFill>
                      <a:prstDash val="solid"/>
                    </a:lnR>
                    <a:lnT w="9525">
                      <a:solidFill>
                        <a:srgbClr val="F3831A"/>
                      </a:solidFill>
                      <a:prstDash val="solid"/>
                    </a:lnT>
                    <a:lnB w="9525">
                      <a:solidFill>
                        <a:srgbClr val="F3831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204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000" b="1" spc="-20" dirty="0">
                          <a:solidFill>
                            <a:srgbClr val="373C4B"/>
                          </a:solidFill>
                          <a:latin typeface="Courier New"/>
                          <a:cs typeface="Courier New"/>
                        </a:rPr>
                        <a:t>0.99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33020" marB="0">
                    <a:lnL w="9525">
                      <a:solidFill>
                        <a:srgbClr val="F3831A"/>
                      </a:solidFill>
                      <a:prstDash val="solid"/>
                    </a:lnL>
                    <a:lnR w="9525">
                      <a:solidFill>
                        <a:srgbClr val="F3831A"/>
                      </a:solidFill>
                      <a:prstDash val="solid"/>
                    </a:lnR>
                    <a:lnT w="9525">
                      <a:solidFill>
                        <a:srgbClr val="F3831A"/>
                      </a:solidFill>
                      <a:prstDash val="solid"/>
                    </a:lnT>
                    <a:lnB w="9525">
                      <a:solidFill>
                        <a:srgbClr val="F383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000" b="1" spc="-50" dirty="0">
                          <a:solidFill>
                            <a:srgbClr val="373C4B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33020" marB="0">
                    <a:lnL w="9525">
                      <a:solidFill>
                        <a:srgbClr val="F3831A"/>
                      </a:solidFill>
                      <a:prstDash val="solid"/>
                    </a:lnL>
                    <a:lnR w="9525">
                      <a:solidFill>
                        <a:srgbClr val="F3831A"/>
                      </a:solidFill>
                      <a:prstDash val="solid"/>
                    </a:lnR>
                    <a:lnT w="9525">
                      <a:solidFill>
                        <a:srgbClr val="F3831A"/>
                      </a:solidFill>
                      <a:prstDash val="solid"/>
                    </a:lnT>
                    <a:lnB w="9525">
                      <a:solidFill>
                        <a:srgbClr val="F383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000" b="1" spc="-25" dirty="0">
                          <a:solidFill>
                            <a:srgbClr val="373C4B"/>
                          </a:solidFill>
                          <a:latin typeface="Courier New"/>
                          <a:cs typeface="Courier New"/>
                        </a:rPr>
                        <a:t>dog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33020" marB="0">
                    <a:lnL w="9525">
                      <a:solidFill>
                        <a:srgbClr val="F3831A"/>
                      </a:solidFill>
                      <a:prstDash val="solid"/>
                    </a:lnL>
                    <a:lnR w="9525">
                      <a:solidFill>
                        <a:srgbClr val="F3831A"/>
                      </a:solidFill>
                      <a:prstDash val="solid"/>
                    </a:lnR>
                    <a:lnT w="9525">
                      <a:solidFill>
                        <a:srgbClr val="F3831A"/>
                      </a:solidFill>
                      <a:prstDash val="solid"/>
                    </a:lnT>
                    <a:lnB w="9525">
                      <a:solidFill>
                        <a:srgbClr val="F3831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204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000" b="1" spc="-20" dirty="0">
                          <a:latin typeface="Courier New"/>
                          <a:cs typeface="Courier New"/>
                        </a:rPr>
                        <a:t>0.98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33019" marB="0">
                    <a:lnL w="9525">
                      <a:solidFill>
                        <a:srgbClr val="F3831A"/>
                      </a:solidFill>
                      <a:prstDash val="solid"/>
                    </a:lnL>
                    <a:lnR w="9525">
                      <a:solidFill>
                        <a:srgbClr val="F3831A"/>
                      </a:solidFill>
                      <a:prstDash val="solid"/>
                    </a:lnR>
                    <a:lnT w="9525">
                      <a:solidFill>
                        <a:srgbClr val="F3831A"/>
                      </a:solidFill>
                      <a:prstDash val="solid"/>
                    </a:lnT>
                    <a:lnB w="9525">
                      <a:solidFill>
                        <a:srgbClr val="F383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000" b="1" spc="-50" dirty="0">
                          <a:latin typeface="Courier New"/>
                          <a:cs typeface="Courier New"/>
                        </a:rPr>
                        <a:t>1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33019" marB="0">
                    <a:lnL w="9525">
                      <a:solidFill>
                        <a:srgbClr val="F3831A"/>
                      </a:solidFill>
                      <a:prstDash val="solid"/>
                    </a:lnL>
                    <a:lnR w="9525">
                      <a:solidFill>
                        <a:srgbClr val="F3831A"/>
                      </a:solidFill>
                      <a:prstDash val="solid"/>
                    </a:lnR>
                    <a:lnT w="9525">
                      <a:solidFill>
                        <a:srgbClr val="F3831A"/>
                      </a:solidFill>
                      <a:prstDash val="solid"/>
                    </a:lnT>
                    <a:lnB w="9525">
                      <a:solidFill>
                        <a:srgbClr val="F383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000" b="1" spc="-25" dirty="0">
                          <a:latin typeface="Courier New"/>
                          <a:cs typeface="Courier New"/>
                        </a:rPr>
                        <a:t>cat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33019" marB="0">
                    <a:lnL w="9525">
                      <a:solidFill>
                        <a:srgbClr val="F3831A"/>
                      </a:solidFill>
                      <a:prstDash val="solid"/>
                    </a:lnL>
                    <a:lnR w="9525">
                      <a:solidFill>
                        <a:srgbClr val="F3831A"/>
                      </a:solidFill>
                      <a:prstDash val="solid"/>
                    </a:lnR>
                    <a:lnT w="9525">
                      <a:solidFill>
                        <a:srgbClr val="F3831A"/>
                      </a:solidFill>
                      <a:prstDash val="solid"/>
                    </a:lnT>
                    <a:lnB w="9525">
                      <a:solidFill>
                        <a:srgbClr val="F3831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204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000" b="0" spc="160" dirty="0">
                          <a:latin typeface="Roboto Condensed Light"/>
                          <a:cs typeface="Roboto Condensed Light"/>
                        </a:rPr>
                        <a:t>0.02</a:t>
                      </a:r>
                      <a:endParaRPr sz="1000">
                        <a:latin typeface="Roboto Condensed Light"/>
                        <a:cs typeface="Roboto Condensed Light"/>
                      </a:endParaRPr>
                    </a:p>
                  </a:txBody>
                  <a:tcPr marL="0" marR="0" marT="33019" marB="0">
                    <a:lnL w="9525">
                      <a:solidFill>
                        <a:srgbClr val="F3831A"/>
                      </a:solidFill>
                      <a:prstDash val="solid"/>
                    </a:lnL>
                    <a:lnR w="9525">
                      <a:solidFill>
                        <a:srgbClr val="F3831A"/>
                      </a:solidFill>
                      <a:prstDash val="solid"/>
                    </a:lnR>
                    <a:lnT w="9525">
                      <a:solidFill>
                        <a:srgbClr val="F3831A"/>
                      </a:solidFill>
                      <a:prstDash val="solid"/>
                    </a:lnT>
                    <a:lnB w="9525">
                      <a:solidFill>
                        <a:srgbClr val="F383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000" b="0" spc="70" dirty="0">
                          <a:latin typeface="Roboto Condensed Light"/>
                          <a:cs typeface="Roboto Condensed Light"/>
                        </a:rPr>
                        <a:t>1</a:t>
                      </a:r>
                      <a:endParaRPr sz="1000">
                        <a:latin typeface="Roboto Condensed Light"/>
                        <a:cs typeface="Roboto Condensed Light"/>
                      </a:endParaRPr>
                    </a:p>
                  </a:txBody>
                  <a:tcPr marL="0" marR="0" marT="33019" marB="0">
                    <a:lnL w="9525">
                      <a:solidFill>
                        <a:srgbClr val="F3831A"/>
                      </a:solidFill>
                      <a:prstDash val="solid"/>
                    </a:lnL>
                    <a:lnR w="9525">
                      <a:solidFill>
                        <a:srgbClr val="F3831A"/>
                      </a:solidFill>
                      <a:prstDash val="solid"/>
                    </a:lnR>
                    <a:lnT w="9525">
                      <a:solidFill>
                        <a:srgbClr val="F3831A"/>
                      </a:solidFill>
                      <a:prstDash val="solid"/>
                    </a:lnT>
                    <a:lnB w="9525">
                      <a:solidFill>
                        <a:srgbClr val="F383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000" b="0" spc="90" dirty="0">
                          <a:latin typeface="Roboto Condensed Light"/>
                          <a:cs typeface="Roboto Condensed Light"/>
                        </a:rPr>
                        <a:t>dog</a:t>
                      </a:r>
                      <a:endParaRPr sz="1000">
                        <a:latin typeface="Roboto Condensed Light"/>
                        <a:cs typeface="Roboto Condensed Light"/>
                      </a:endParaRPr>
                    </a:p>
                  </a:txBody>
                  <a:tcPr marL="0" marR="0" marT="33019" marB="0">
                    <a:lnL w="9525">
                      <a:solidFill>
                        <a:srgbClr val="F3831A"/>
                      </a:solidFill>
                      <a:prstDash val="solid"/>
                    </a:lnL>
                    <a:lnR w="9525">
                      <a:solidFill>
                        <a:srgbClr val="F3831A"/>
                      </a:solidFill>
                      <a:prstDash val="solid"/>
                    </a:lnR>
                    <a:lnT w="9525">
                      <a:solidFill>
                        <a:srgbClr val="F3831A"/>
                      </a:solidFill>
                      <a:prstDash val="solid"/>
                    </a:lnT>
                    <a:lnB w="9525">
                      <a:solidFill>
                        <a:srgbClr val="F3831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204">
                <a:tc>
                  <a:txBody>
                    <a:bodyPr/>
                    <a:lstStyle/>
                    <a:p>
                      <a:pPr marL="18859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000" b="0" spc="355" dirty="0">
                          <a:latin typeface="Roboto Condensed Light"/>
                          <a:cs typeface="Roboto Condensed Light"/>
                        </a:rPr>
                        <a:t>...</a:t>
                      </a:r>
                      <a:endParaRPr sz="1000">
                        <a:latin typeface="Roboto Condensed Light"/>
                        <a:cs typeface="Roboto Condensed Light"/>
                      </a:endParaRPr>
                    </a:p>
                  </a:txBody>
                  <a:tcPr marL="0" marR="0" marT="33020" marB="0">
                    <a:lnL w="9525">
                      <a:solidFill>
                        <a:srgbClr val="F3831A"/>
                      </a:solidFill>
                      <a:prstDash val="solid"/>
                    </a:lnL>
                    <a:lnR w="9525">
                      <a:solidFill>
                        <a:srgbClr val="F3831A"/>
                      </a:solidFill>
                      <a:prstDash val="solid"/>
                    </a:lnR>
                    <a:lnT w="9525">
                      <a:solidFill>
                        <a:srgbClr val="F3831A"/>
                      </a:solidFill>
                      <a:prstDash val="solid"/>
                    </a:lnT>
                    <a:lnB w="9525">
                      <a:solidFill>
                        <a:srgbClr val="F383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000" b="0" spc="355" dirty="0">
                          <a:latin typeface="Roboto Condensed Light"/>
                          <a:cs typeface="Roboto Condensed Light"/>
                        </a:rPr>
                        <a:t>...</a:t>
                      </a:r>
                      <a:endParaRPr sz="1000">
                        <a:latin typeface="Roboto Condensed Light"/>
                        <a:cs typeface="Roboto Condensed Light"/>
                      </a:endParaRPr>
                    </a:p>
                  </a:txBody>
                  <a:tcPr marL="0" marR="0" marT="33020" marB="0">
                    <a:lnL w="9525">
                      <a:solidFill>
                        <a:srgbClr val="F3831A"/>
                      </a:solidFill>
                      <a:prstDash val="solid"/>
                    </a:lnL>
                    <a:lnR w="9525">
                      <a:solidFill>
                        <a:srgbClr val="F3831A"/>
                      </a:solidFill>
                      <a:prstDash val="solid"/>
                    </a:lnR>
                    <a:lnT w="9525">
                      <a:solidFill>
                        <a:srgbClr val="F3831A"/>
                      </a:solidFill>
                      <a:prstDash val="solid"/>
                    </a:lnT>
                    <a:lnB w="9525">
                      <a:solidFill>
                        <a:srgbClr val="F383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000" b="0" spc="355" dirty="0">
                          <a:latin typeface="Roboto Condensed Light"/>
                          <a:cs typeface="Roboto Condensed Light"/>
                        </a:rPr>
                        <a:t>...</a:t>
                      </a:r>
                      <a:endParaRPr sz="1000">
                        <a:latin typeface="Roboto Condensed Light"/>
                        <a:cs typeface="Roboto Condensed Light"/>
                      </a:endParaRPr>
                    </a:p>
                  </a:txBody>
                  <a:tcPr marL="0" marR="0" marT="33020" marB="0">
                    <a:lnL w="9525">
                      <a:solidFill>
                        <a:srgbClr val="F3831A"/>
                      </a:solidFill>
                      <a:prstDash val="solid"/>
                    </a:lnL>
                    <a:lnR w="9525">
                      <a:solidFill>
                        <a:srgbClr val="F3831A"/>
                      </a:solidFill>
                      <a:prstDash val="solid"/>
                    </a:lnR>
                    <a:lnT w="9525">
                      <a:solidFill>
                        <a:srgbClr val="F3831A"/>
                      </a:solidFill>
                      <a:prstDash val="solid"/>
                    </a:lnT>
                    <a:lnB w="9525">
                      <a:solidFill>
                        <a:srgbClr val="F3831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" name="object 16"/>
          <p:cNvSpPr txBox="1"/>
          <p:nvPr/>
        </p:nvSpPr>
        <p:spPr>
          <a:xfrm>
            <a:off x="1154249" y="4378088"/>
            <a:ext cx="56546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Roboto"/>
                <a:cs typeface="Roboto"/>
              </a:rPr>
              <a:t>Z.</a:t>
            </a:r>
            <a:r>
              <a:rPr sz="1400" spc="-20" dirty="0">
                <a:latin typeface="Roboto"/>
                <a:cs typeface="Roboto"/>
              </a:rPr>
              <a:t> </a:t>
            </a:r>
            <a:r>
              <a:rPr sz="1400" dirty="0">
                <a:latin typeface="Roboto"/>
                <a:cs typeface="Roboto"/>
              </a:rPr>
              <a:t>Li</a:t>
            </a:r>
            <a:r>
              <a:rPr sz="1400" spc="-15" dirty="0">
                <a:latin typeface="Roboto"/>
                <a:cs typeface="Roboto"/>
              </a:rPr>
              <a:t> </a:t>
            </a:r>
            <a:r>
              <a:rPr sz="1400" dirty="0">
                <a:latin typeface="Roboto"/>
                <a:cs typeface="Roboto"/>
              </a:rPr>
              <a:t>et</a:t>
            </a:r>
            <a:r>
              <a:rPr sz="1400" spc="-20" dirty="0">
                <a:latin typeface="Roboto"/>
                <a:cs typeface="Roboto"/>
              </a:rPr>
              <a:t> </a:t>
            </a:r>
            <a:r>
              <a:rPr sz="1400" dirty="0">
                <a:latin typeface="Roboto"/>
                <a:cs typeface="Roboto"/>
              </a:rPr>
              <a:t>al.</a:t>
            </a:r>
            <a:r>
              <a:rPr sz="1400" spc="-10" dirty="0">
                <a:latin typeface="Roboto"/>
                <a:cs typeface="Roboto"/>
              </a:rPr>
              <a:t> </a:t>
            </a:r>
            <a:r>
              <a:rPr sz="14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4"/>
              </a:rPr>
              <a:t>Relational</a:t>
            </a:r>
            <a:r>
              <a:rPr sz="1400" u="heavy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4"/>
              </a:rPr>
              <a:t> </a:t>
            </a:r>
            <a:r>
              <a:rPr sz="14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4"/>
              </a:rPr>
              <a:t>Programming</a:t>
            </a:r>
            <a:r>
              <a:rPr sz="1400" u="heavy" spc="-1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4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4"/>
              </a:rPr>
              <a:t>with</a:t>
            </a:r>
            <a:r>
              <a:rPr sz="1400" u="heavy" spc="-1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4"/>
              </a:rPr>
              <a:t> </a:t>
            </a:r>
            <a:r>
              <a:rPr sz="14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4"/>
              </a:rPr>
              <a:t>Foundation</a:t>
            </a:r>
            <a:r>
              <a:rPr sz="1400" u="heavy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4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4"/>
              </a:rPr>
              <a:t>Models</a:t>
            </a:r>
            <a:r>
              <a:rPr sz="1400" u="none" dirty="0">
                <a:latin typeface="Roboto"/>
                <a:cs typeface="Roboto"/>
              </a:rPr>
              <a:t>.</a:t>
            </a:r>
            <a:r>
              <a:rPr sz="1400" u="none" spc="-15" dirty="0">
                <a:latin typeface="Roboto"/>
                <a:cs typeface="Roboto"/>
              </a:rPr>
              <a:t> </a:t>
            </a:r>
            <a:r>
              <a:rPr sz="1400" u="none" dirty="0">
                <a:latin typeface="Roboto"/>
                <a:cs typeface="Roboto"/>
              </a:rPr>
              <a:t>AAAI</a:t>
            </a:r>
            <a:r>
              <a:rPr sz="1400" u="none" spc="-20" dirty="0">
                <a:latin typeface="Roboto"/>
                <a:cs typeface="Roboto"/>
              </a:rPr>
              <a:t> </a:t>
            </a:r>
            <a:r>
              <a:rPr sz="1400" u="none" spc="-10" dirty="0">
                <a:latin typeface="Roboto"/>
                <a:cs typeface="Roboto"/>
              </a:rPr>
              <a:t>2024.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What</a:t>
            </a:r>
            <a:r>
              <a:rPr spc="30" dirty="0"/>
              <a:t> </a:t>
            </a:r>
            <a:r>
              <a:rPr dirty="0"/>
              <a:t>Is</a:t>
            </a:r>
            <a:r>
              <a:rPr spc="-20" dirty="0"/>
              <a:t> </a:t>
            </a:r>
            <a:r>
              <a:rPr dirty="0"/>
              <a:t>The</a:t>
            </a:r>
            <a:r>
              <a:rPr spc="35" dirty="0"/>
              <a:t> </a:t>
            </a:r>
            <a:r>
              <a:rPr dirty="0"/>
              <a:t>Future:</a:t>
            </a:r>
            <a:r>
              <a:rPr spc="30" dirty="0"/>
              <a:t> </a:t>
            </a:r>
            <a:r>
              <a:rPr dirty="0"/>
              <a:t>Key</a:t>
            </a:r>
            <a:r>
              <a:rPr spc="-15" dirty="0"/>
              <a:t> </a:t>
            </a:r>
            <a:r>
              <a:rPr spc="-10" dirty="0"/>
              <a:t>Topics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475249" y="1216355"/>
            <a:ext cx="3799204" cy="2954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Synthetic</a:t>
            </a:r>
            <a:r>
              <a:rPr sz="18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Data</a:t>
            </a:r>
            <a:r>
              <a:rPr sz="18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/</a:t>
            </a:r>
            <a:r>
              <a:rPr sz="1800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Distillation</a:t>
            </a:r>
            <a:endParaRPr sz="1800">
              <a:latin typeface="Roboto"/>
              <a:cs typeface="Roboto"/>
            </a:endParaRPr>
          </a:p>
          <a:p>
            <a:pPr marL="379095" indent="-366395">
              <a:lnSpc>
                <a:spcPct val="100000"/>
              </a:lnSpc>
              <a:spcBef>
                <a:spcPts val="1320"/>
              </a:spcBef>
              <a:buFont typeface="Arial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Model</a:t>
            </a:r>
            <a:r>
              <a:rPr sz="18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Compression</a:t>
            </a:r>
            <a:endParaRPr sz="1800">
              <a:latin typeface="Roboto"/>
              <a:cs typeface="Roboto"/>
            </a:endParaRPr>
          </a:p>
          <a:p>
            <a:pPr marL="379095" indent="-366395">
              <a:lnSpc>
                <a:spcPct val="100000"/>
              </a:lnSpc>
              <a:spcBef>
                <a:spcPts val="1325"/>
              </a:spcBef>
              <a:buFont typeface="Arial"/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Interpretability</a:t>
            </a:r>
            <a:endParaRPr sz="1800">
              <a:latin typeface="Roboto"/>
              <a:cs typeface="Roboto"/>
            </a:endParaRPr>
          </a:p>
          <a:p>
            <a:pPr marL="379095" indent="-366395">
              <a:lnSpc>
                <a:spcPct val="100000"/>
              </a:lnSpc>
              <a:spcBef>
                <a:spcPts val="1325"/>
              </a:spcBef>
              <a:buFont typeface="Arial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Beyond</a:t>
            </a:r>
            <a:r>
              <a:rPr sz="1800" spc="-9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Text:</a:t>
            </a:r>
            <a:r>
              <a:rPr sz="18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Robotics,</a:t>
            </a:r>
            <a:r>
              <a:rPr sz="18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Video,</a:t>
            </a:r>
            <a:r>
              <a:rPr sz="18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Roboto"/>
                <a:cs typeface="Roboto"/>
              </a:rPr>
              <a:t>etc.</a:t>
            </a:r>
            <a:endParaRPr sz="1800">
              <a:latin typeface="Roboto"/>
              <a:cs typeface="Roboto"/>
            </a:endParaRPr>
          </a:p>
          <a:p>
            <a:pPr marL="379095" indent="-366395">
              <a:lnSpc>
                <a:spcPct val="100000"/>
              </a:lnSpc>
              <a:spcBef>
                <a:spcPts val="1325"/>
              </a:spcBef>
              <a:buFont typeface="Arial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RAG</a:t>
            </a:r>
            <a:r>
              <a:rPr sz="1800" spc="-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and</a:t>
            </a:r>
            <a:r>
              <a:rPr sz="18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Vector</a:t>
            </a:r>
            <a:r>
              <a:rPr sz="18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Databases</a:t>
            </a:r>
            <a:endParaRPr sz="1800">
              <a:latin typeface="Roboto"/>
              <a:cs typeface="Roboto"/>
            </a:endParaRPr>
          </a:p>
          <a:p>
            <a:pPr marL="379095" indent="-366395">
              <a:lnSpc>
                <a:spcPct val="100000"/>
              </a:lnSpc>
              <a:spcBef>
                <a:spcPts val="1325"/>
              </a:spcBef>
              <a:buFont typeface="Arial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Agent</a:t>
            </a:r>
            <a:r>
              <a:rPr sz="18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Frameworks</a:t>
            </a:r>
            <a:endParaRPr sz="1800">
              <a:latin typeface="Roboto"/>
              <a:cs typeface="Roboto"/>
            </a:endParaRPr>
          </a:p>
          <a:p>
            <a:pPr marL="379095" indent="-366395">
              <a:lnSpc>
                <a:spcPct val="100000"/>
              </a:lnSpc>
              <a:spcBef>
                <a:spcPts val="1320"/>
              </a:spcBef>
              <a:buFont typeface="Arial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Neurosymbolic</a:t>
            </a:r>
            <a:r>
              <a:rPr sz="1800" spc="-9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Learning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Course</a:t>
            </a:r>
            <a:r>
              <a:rPr spc="55" dirty="0"/>
              <a:t> </a:t>
            </a:r>
            <a:r>
              <a:rPr dirty="0"/>
              <a:t>Overview</a:t>
            </a:r>
            <a:r>
              <a:rPr spc="60" dirty="0"/>
              <a:t> </a:t>
            </a:r>
            <a:r>
              <a:rPr dirty="0"/>
              <a:t>and</a:t>
            </a:r>
            <a:r>
              <a:rPr spc="60" dirty="0"/>
              <a:t> </a:t>
            </a:r>
            <a:r>
              <a:rPr dirty="0"/>
              <a:t>Pre-</a:t>
            </a:r>
            <a:r>
              <a:rPr spc="-10" dirty="0"/>
              <a:t>requisites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74015">
              <a:lnSpc>
                <a:spcPct val="114700"/>
              </a:lnSpc>
              <a:spcBef>
                <a:spcPts val="100"/>
              </a:spcBef>
            </a:pPr>
            <a:r>
              <a:rPr sz="1700" spc="-20" dirty="0">
                <a:latin typeface="Roboto"/>
                <a:cs typeface="Roboto"/>
              </a:rPr>
              <a:t>In-</a:t>
            </a:r>
            <a:r>
              <a:rPr sz="1700" dirty="0">
                <a:latin typeface="Roboto"/>
                <a:cs typeface="Roboto"/>
              </a:rPr>
              <a:t>depth</a:t>
            </a:r>
            <a:r>
              <a:rPr sz="1700" spc="-55" dirty="0">
                <a:latin typeface="Roboto"/>
                <a:cs typeface="Roboto"/>
              </a:rPr>
              <a:t> </a:t>
            </a:r>
            <a:r>
              <a:rPr sz="1700" spc="-10" dirty="0">
                <a:latin typeface="Roboto"/>
                <a:cs typeface="Roboto"/>
              </a:rPr>
              <a:t>exploration</a:t>
            </a:r>
            <a:r>
              <a:rPr sz="1700" spc="-50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of</a:t>
            </a:r>
            <a:r>
              <a:rPr sz="1700" spc="-50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large</a:t>
            </a:r>
            <a:r>
              <a:rPr sz="1700" spc="-55" dirty="0">
                <a:latin typeface="Roboto"/>
                <a:cs typeface="Roboto"/>
              </a:rPr>
              <a:t> </a:t>
            </a:r>
            <a:r>
              <a:rPr sz="1700" spc="-10" dirty="0">
                <a:latin typeface="Roboto"/>
                <a:cs typeface="Roboto"/>
              </a:rPr>
              <a:t>language</a:t>
            </a:r>
            <a:r>
              <a:rPr sz="1700" spc="-50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models</a:t>
            </a:r>
            <a:r>
              <a:rPr sz="1700" spc="-50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(LLMs)</a:t>
            </a:r>
            <a:r>
              <a:rPr sz="1700" spc="-55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with</a:t>
            </a:r>
            <a:r>
              <a:rPr sz="1700" spc="-50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a</a:t>
            </a:r>
            <a:r>
              <a:rPr sz="1700" spc="-50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focus</a:t>
            </a:r>
            <a:r>
              <a:rPr sz="1700" spc="-50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on</a:t>
            </a:r>
            <a:r>
              <a:rPr sz="1700" spc="-55" dirty="0">
                <a:latin typeface="Roboto"/>
                <a:cs typeface="Roboto"/>
              </a:rPr>
              <a:t> </a:t>
            </a:r>
            <a:r>
              <a:rPr sz="1700" spc="-10" dirty="0">
                <a:latin typeface="Roboto"/>
                <a:cs typeface="Roboto"/>
              </a:rPr>
              <a:t>designing, training,</a:t>
            </a:r>
            <a:r>
              <a:rPr sz="1700" spc="-50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and</a:t>
            </a:r>
            <a:r>
              <a:rPr sz="1700" spc="-50" dirty="0">
                <a:latin typeface="Roboto"/>
                <a:cs typeface="Roboto"/>
              </a:rPr>
              <a:t> </a:t>
            </a:r>
            <a:r>
              <a:rPr sz="1700" dirty="0">
                <a:latin typeface="Roboto"/>
                <a:cs typeface="Roboto"/>
              </a:rPr>
              <a:t>using</a:t>
            </a:r>
            <a:r>
              <a:rPr sz="1700" spc="-45" dirty="0">
                <a:latin typeface="Roboto"/>
                <a:cs typeface="Roboto"/>
              </a:rPr>
              <a:t> </a:t>
            </a:r>
            <a:r>
              <a:rPr sz="1700" spc="-10" dirty="0">
                <a:latin typeface="Roboto"/>
                <a:cs typeface="Roboto"/>
              </a:rPr>
              <a:t>them.</a:t>
            </a:r>
            <a:endParaRPr sz="1700">
              <a:latin typeface="Roboto"/>
              <a:cs typeface="Roboto"/>
            </a:endParaRPr>
          </a:p>
          <a:p>
            <a:pPr marL="469265" indent="-346710">
              <a:lnSpc>
                <a:spcPct val="100000"/>
              </a:lnSpc>
              <a:spcBef>
                <a:spcPts val="1500"/>
              </a:spcBef>
              <a:buFont typeface="Arial"/>
              <a:buChar char="●"/>
              <a:tabLst>
                <a:tab pos="469265" algn="l"/>
              </a:tabLst>
            </a:pPr>
            <a:r>
              <a:rPr sz="1550" dirty="0">
                <a:latin typeface="Roboto"/>
                <a:cs typeface="Roboto"/>
              </a:rPr>
              <a:t>Start</a:t>
            </a:r>
            <a:r>
              <a:rPr sz="1550" spc="-45" dirty="0">
                <a:latin typeface="Roboto"/>
                <a:cs typeface="Roboto"/>
              </a:rPr>
              <a:t> </a:t>
            </a:r>
            <a:r>
              <a:rPr sz="1550" dirty="0">
                <a:latin typeface="Roboto"/>
                <a:cs typeface="Roboto"/>
              </a:rPr>
              <a:t>with</a:t>
            </a:r>
            <a:r>
              <a:rPr sz="1550" spc="-45" dirty="0">
                <a:latin typeface="Roboto"/>
                <a:cs typeface="Roboto"/>
              </a:rPr>
              <a:t> </a:t>
            </a:r>
            <a:r>
              <a:rPr sz="1550" dirty="0">
                <a:latin typeface="Roboto"/>
                <a:cs typeface="Roboto"/>
              </a:rPr>
              <a:t>design</a:t>
            </a:r>
            <a:r>
              <a:rPr sz="1550" spc="-45" dirty="0">
                <a:latin typeface="Roboto"/>
                <a:cs typeface="Roboto"/>
              </a:rPr>
              <a:t> </a:t>
            </a:r>
            <a:r>
              <a:rPr sz="1550" spc="-10" dirty="0">
                <a:latin typeface="Roboto"/>
                <a:cs typeface="Roboto"/>
              </a:rPr>
              <a:t>decisions</a:t>
            </a:r>
            <a:r>
              <a:rPr sz="1550" spc="-45" dirty="0">
                <a:latin typeface="Roboto"/>
                <a:cs typeface="Roboto"/>
              </a:rPr>
              <a:t> </a:t>
            </a:r>
            <a:r>
              <a:rPr sz="1550" dirty="0">
                <a:latin typeface="Roboto"/>
                <a:cs typeface="Roboto"/>
              </a:rPr>
              <a:t>behind</a:t>
            </a:r>
            <a:r>
              <a:rPr sz="1550" spc="-45" dirty="0">
                <a:latin typeface="Roboto"/>
                <a:cs typeface="Roboto"/>
              </a:rPr>
              <a:t> </a:t>
            </a:r>
            <a:r>
              <a:rPr sz="1550" spc="-10" dirty="0">
                <a:latin typeface="Roboto"/>
                <a:cs typeface="Roboto"/>
              </a:rPr>
              <a:t>attention</a:t>
            </a:r>
            <a:r>
              <a:rPr sz="1550" spc="-45" dirty="0">
                <a:latin typeface="Roboto"/>
                <a:cs typeface="Roboto"/>
              </a:rPr>
              <a:t> </a:t>
            </a:r>
            <a:r>
              <a:rPr sz="1550" spc="-10" dirty="0">
                <a:latin typeface="Roboto"/>
                <a:cs typeface="Roboto"/>
              </a:rPr>
              <a:t>mechanism</a:t>
            </a:r>
            <a:r>
              <a:rPr sz="1550" spc="-45" dirty="0">
                <a:latin typeface="Roboto"/>
                <a:cs typeface="Roboto"/>
              </a:rPr>
              <a:t> </a:t>
            </a:r>
            <a:r>
              <a:rPr sz="1550" dirty="0">
                <a:latin typeface="Roboto"/>
                <a:cs typeface="Roboto"/>
              </a:rPr>
              <a:t>and</a:t>
            </a:r>
            <a:r>
              <a:rPr sz="1550" spc="-45" dirty="0">
                <a:latin typeface="Roboto"/>
                <a:cs typeface="Roboto"/>
              </a:rPr>
              <a:t> </a:t>
            </a:r>
            <a:r>
              <a:rPr sz="1550" spc="-10" dirty="0">
                <a:latin typeface="Roboto"/>
                <a:cs typeface="Roboto"/>
              </a:rPr>
              <a:t>transformer</a:t>
            </a:r>
            <a:r>
              <a:rPr sz="1550" spc="-45" dirty="0">
                <a:latin typeface="Roboto"/>
                <a:cs typeface="Roboto"/>
              </a:rPr>
              <a:t> </a:t>
            </a:r>
            <a:r>
              <a:rPr sz="1550" spc="-10" dirty="0">
                <a:latin typeface="Roboto"/>
                <a:cs typeface="Roboto"/>
              </a:rPr>
              <a:t>architectures.</a:t>
            </a:r>
            <a:endParaRPr sz="1550">
              <a:latin typeface="Roboto"/>
              <a:cs typeface="Roboto"/>
            </a:endParaRPr>
          </a:p>
          <a:p>
            <a:pPr marL="469265" indent="-346710">
              <a:lnSpc>
                <a:spcPct val="100000"/>
              </a:lnSpc>
              <a:spcBef>
                <a:spcPts val="1265"/>
              </a:spcBef>
              <a:buFont typeface="Arial"/>
              <a:buChar char="●"/>
              <a:tabLst>
                <a:tab pos="469265" algn="l"/>
              </a:tabLst>
            </a:pPr>
            <a:r>
              <a:rPr sz="1550" spc="-10" dirty="0">
                <a:latin typeface="Roboto"/>
                <a:cs typeface="Roboto"/>
              </a:rPr>
              <a:t>progress</a:t>
            </a:r>
            <a:r>
              <a:rPr sz="1550" spc="-45" dirty="0">
                <a:latin typeface="Roboto"/>
                <a:cs typeface="Roboto"/>
              </a:rPr>
              <a:t> </a:t>
            </a:r>
            <a:r>
              <a:rPr sz="1550" spc="-10" dirty="0">
                <a:latin typeface="Roboto"/>
                <a:cs typeface="Roboto"/>
              </a:rPr>
              <a:t>through</a:t>
            </a:r>
            <a:r>
              <a:rPr sz="1550" spc="-40" dirty="0">
                <a:latin typeface="Roboto"/>
                <a:cs typeface="Roboto"/>
              </a:rPr>
              <a:t> </a:t>
            </a:r>
            <a:r>
              <a:rPr sz="1550" spc="-10" dirty="0">
                <a:latin typeface="Roboto"/>
                <a:cs typeface="Roboto"/>
              </a:rPr>
              <a:t>practical</a:t>
            </a:r>
            <a:r>
              <a:rPr sz="1550" spc="-40" dirty="0">
                <a:latin typeface="Roboto"/>
                <a:cs typeface="Roboto"/>
              </a:rPr>
              <a:t> </a:t>
            </a:r>
            <a:r>
              <a:rPr sz="1550" dirty="0">
                <a:latin typeface="Roboto"/>
                <a:cs typeface="Roboto"/>
              </a:rPr>
              <a:t>aspects</a:t>
            </a:r>
            <a:r>
              <a:rPr sz="1550" spc="-40" dirty="0">
                <a:latin typeface="Roboto"/>
                <a:cs typeface="Roboto"/>
              </a:rPr>
              <a:t> </a:t>
            </a:r>
            <a:r>
              <a:rPr sz="1550" dirty="0">
                <a:latin typeface="Roboto"/>
                <a:cs typeface="Roboto"/>
              </a:rPr>
              <a:t>of</a:t>
            </a:r>
            <a:r>
              <a:rPr sz="1550" spc="-40" dirty="0">
                <a:latin typeface="Roboto"/>
                <a:cs typeface="Roboto"/>
              </a:rPr>
              <a:t> </a:t>
            </a:r>
            <a:r>
              <a:rPr sz="1550" spc="-25" dirty="0">
                <a:latin typeface="Roboto"/>
                <a:cs typeface="Roboto"/>
              </a:rPr>
              <a:t>pre-</a:t>
            </a:r>
            <a:r>
              <a:rPr sz="1550" spc="-10" dirty="0">
                <a:latin typeface="Roboto"/>
                <a:cs typeface="Roboto"/>
              </a:rPr>
              <a:t>training</a:t>
            </a:r>
            <a:r>
              <a:rPr sz="1550" spc="-40" dirty="0">
                <a:latin typeface="Roboto"/>
                <a:cs typeface="Roboto"/>
              </a:rPr>
              <a:t> </a:t>
            </a:r>
            <a:r>
              <a:rPr sz="1550" dirty="0">
                <a:latin typeface="Roboto"/>
                <a:cs typeface="Roboto"/>
              </a:rPr>
              <a:t>and</a:t>
            </a:r>
            <a:r>
              <a:rPr sz="1550" spc="-40" dirty="0">
                <a:latin typeface="Roboto"/>
                <a:cs typeface="Roboto"/>
              </a:rPr>
              <a:t> </a:t>
            </a:r>
            <a:r>
              <a:rPr sz="1550" spc="-25" dirty="0">
                <a:latin typeface="Roboto"/>
                <a:cs typeface="Roboto"/>
              </a:rPr>
              <a:t>efficient</a:t>
            </a:r>
            <a:r>
              <a:rPr sz="1550" spc="-40" dirty="0">
                <a:latin typeface="Roboto"/>
                <a:cs typeface="Roboto"/>
              </a:rPr>
              <a:t> </a:t>
            </a:r>
            <a:r>
              <a:rPr sz="1550" spc="-10" dirty="0">
                <a:latin typeface="Roboto"/>
                <a:cs typeface="Roboto"/>
              </a:rPr>
              <a:t>deployment</a:t>
            </a:r>
            <a:r>
              <a:rPr sz="1550" spc="-40" dirty="0">
                <a:latin typeface="Roboto"/>
                <a:cs typeface="Roboto"/>
              </a:rPr>
              <a:t> </a:t>
            </a:r>
            <a:r>
              <a:rPr sz="1550" dirty="0">
                <a:latin typeface="Roboto"/>
                <a:cs typeface="Roboto"/>
              </a:rPr>
              <a:t>at</a:t>
            </a:r>
            <a:r>
              <a:rPr sz="1550" spc="-40" dirty="0">
                <a:latin typeface="Roboto"/>
                <a:cs typeface="Roboto"/>
              </a:rPr>
              <a:t> </a:t>
            </a:r>
            <a:r>
              <a:rPr sz="1550" spc="-10" dirty="0">
                <a:latin typeface="Roboto"/>
                <a:cs typeface="Roboto"/>
              </a:rPr>
              <a:t>scale.</a:t>
            </a:r>
            <a:endParaRPr sz="1550">
              <a:latin typeface="Roboto"/>
              <a:cs typeface="Roboto"/>
            </a:endParaRPr>
          </a:p>
          <a:p>
            <a:pPr marL="469265" indent="-346710">
              <a:lnSpc>
                <a:spcPct val="100000"/>
              </a:lnSpc>
              <a:spcBef>
                <a:spcPts val="1265"/>
              </a:spcBef>
              <a:buFont typeface="Arial"/>
              <a:buChar char="●"/>
              <a:tabLst>
                <a:tab pos="469265" algn="l"/>
              </a:tabLst>
            </a:pPr>
            <a:r>
              <a:rPr sz="1550" spc="-10" dirty="0">
                <a:latin typeface="Roboto"/>
                <a:cs typeface="Roboto"/>
              </a:rPr>
              <a:t>culminate</a:t>
            </a:r>
            <a:r>
              <a:rPr sz="1550" spc="-35" dirty="0">
                <a:latin typeface="Roboto"/>
                <a:cs typeface="Roboto"/>
              </a:rPr>
              <a:t> </a:t>
            </a:r>
            <a:r>
              <a:rPr sz="1550" dirty="0">
                <a:latin typeface="Roboto"/>
                <a:cs typeface="Roboto"/>
              </a:rPr>
              <a:t>in</a:t>
            </a:r>
            <a:r>
              <a:rPr sz="1550" spc="-35" dirty="0">
                <a:latin typeface="Roboto"/>
                <a:cs typeface="Roboto"/>
              </a:rPr>
              <a:t> </a:t>
            </a:r>
            <a:r>
              <a:rPr sz="1550" dirty="0">
                <a:latin typeface="Roboto"/>
                <a:cs typeface="Roboto"/>
              </a:rPr>
              <a:t>usage</a:t>
            </a:r>
            <a:r>
              <a:rPr sz="1550" spc="-35" dirty="0">
                <a:latin typeface="Roboto"/>
                <a:cs typeface="Roboto"/>
              </a:rPr>
              <a:t> </a:t>
            </a:r>
            <a:r>
              <a:rPr sz="1550" spc="-10" dirty="0">
                <a:latin typeface="Roboto"/>
                <a:cs typeface="Roboto"/>
              </a:rPr>
              <a:t>techniques</a:t>
            </a:r>
            <a:r>
              <a:rPr sz="1550" spc="-30" dirty="0">
                <a:latin typeface="Roboto"/>
                <a:cs typeface="Roboto"/>
              </a:rPr>
              <a:t> </a:t>
            </a:r>
            <a:r>
              <a:rPr sz="1550" dirty="0">
                <a:latin typeface="Roboto"/>
                <a:cs typeface="Roboto"/>
              </a:rPr>
              <a:t>such</a:t>
            </a:r>
            <a:r>
              <a:rPr sz="1550" spc="-35" dirty="0">
                <a:latin typeface="Roboto"/>
                <a:cs typeface="Roboto"/>
              </a:rPr>
              <a:t> </a:t>
            </a:r>
            <a:r>
              <a:rPr sz="1550" dirty="0">
                <a:latin typeface="Roboto"/>
                <a:cs typeface="Roboto"/>
              </a:rPr>
              <a:t>as</a:t>
            </a:r>
            <a:r>
              <a:rPr sz="1550" spc="-35" dirty="0">
                <a:latin typeface="Roboto"/>
                <a:cs typeface="Roboto"/>
              </a:rPr>
              <a:t> </a:t>
            </a:r>
            <a:r>
              <a:rPr sz="1550" spc="-10" dirty="0">
                <a:latin typeface="Roboto"/>
                <a:cs typeface="Roboto"/>
              </a:rPr>
              <a:t>prompting,</a:t>
            </a:r>
            <a:r>
              <a:rPr sz="1550" spc="-35" dirty="0">
                <a:latin typeface="Roboto"/>
                <a:cs typeface="Roboto"/>
              </a:rPr>
              <a:t> </a:t>
            </a:r>
            <a:r>
              <a:rPr sz="1550" dirty="0">
                <a:latin typeface="Roboto"/>
                <a:cs typeface="Roboto"/>
              </a:rPr>
              <a:t>RAG,</a:t>
            </a:r>
            <a:r>
              <a:rPr sz="1550" spc="-30" dirty="0">
                <a:latin typeface="Roboto"/>
                <a:cs typeface="Roboto"/>
              </a:rPr>
              <a:t> </a:t>
            </a:r>
            <a:r>
              <a:rPr sz="1550" dirty="0">
                <a:latin typeface="Roboto"/>
                <a:cs typeface="Roboto"/>
              </a:rPr>
              <a:t>and</a:t>
            </a:r>
            <a:r>
              <a:rPr sz="1550" spc="-35" dirty="0">
                <a:latin typeface="Roboto"/>
                <a:cs typeface="Roboto"/>
              </a:rPr>
              <a:t> </a:t>
            </a:r>
            <a:r>
              <a:rPr sz="1550" spc="-20" dirty="0">
                <a:latin typeface="Roboto"/>
                <a:cs typeface="Roboto"/>
              </a:rPr>
              <a:t>neuro-</a:t>
            </a:r>
            <a:r>
              <a:rPr sz="1550" spc="-10" dirty="0">
                <a:latin typeface="Roboto"/>
                <a:cs typeface="Roboto"/>
              </a:rPr>
              <a:t>symbolic</a:t>
            </a:r>
            <a:r>
              <a:rPr sz="1550" spc="-35" dirty="0">
                <a:latin typeface="Roboto"/>
                <a:cs typeface="Roboto"/>
              </a:rPr>
              <a:t> </a:t>
            </a:r>
            <a:r>
              <a:rPr sz="1550" spc="-10" dirty="0">
                <a:latin typeface="Roboto"/>
                <a:cs typeface="Roboto"/>
              </a:rPr>
              <a:t>learning.</a:t>
            </a:r>
            <a:endParaRPr sz="15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530"/>
              </a:spcBef>
            </a:pPr>
            <a:endParaRPr sz="15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50" b="1" spc="-15" dirty="0">
                <a:latin typeface="Roboto"/>
                <a:cs typeface="Roboto"/>
              </a:rPr>
              <a:t>Pre-</a:t>
            </a:r>
            <a:r>
              <a:rPr sz="1550" b="1" spc="-10" dirty="0">
                <a:latin typeface="Roboto"/>
                <a:cs typeface="Roboto"/>
              </a:rPr>
              <a:t>requisites:</a:t>
            </a:r>
            <a:endParaRPr sz="1550">
              <a:latin typeface="Roboto"/>
              <a:cs typeface="Roboto"/>
            </a:endParaRPr>
          </a:p>
          <a:p>
            <a:pPr marL="469265" indent="-389255">
              <a:lnSpc>
                <a:spcPct val="100000"/>
              </a:lnSpc>
              <a:spcBef>
                <a:spcPts val="1265"/>
              </a:spcBef>
              <a:buAutoNum type="arabicPeriod"/>
              <a:tabLst>
                <a:tab pos="469265" algn="l"/>
              </a:tabLst>
            </a:pPr>
            <a:r>
              <a:rPr sz="1550" dirty="0">
                <a:latin typeface="Roboto"/>
                <a:cs typeface="Roboto"/>
              </a:rPr>
              <a:t>CIS</a:t>
            </a:r>
            <a:r>
              <a:rPr sz="1550" spc="-50" dirty="0">
                <a:latin typeface="Roboto"/>
                <a:cs typeface="Roboto"/>
              </a:rPr>
              <a:t> </a:t>
            </a:r>
            <a:r>
              <a:rPr sz="1550" dirty="0">
                <a:latin typeface="Roboto"/>
                <a:cs typeface="Roboto"/>
              </a:rPr>
              <a:t>5200</a:t>
            </a:r>
            <a:r>
              <a:rPr sz="1550" spc="-50" dirty="0">
                <a:latin typeface="Roboto"/>
                <a:cs typeface="Roboto"/>
              </a:rPr>
              <a:t> </a:t>
            </a:r>
            <a:r>
              <a:rPr sz="1550" dirty="0">
                <a:latin typeface="Roboto"/>
                <a:cs typeface="Roboto"/>
              </a:rPr>
              <a:t>or</a:t>
            </a:r>
            <a:r>
              <a:rPr sz="1550" spc="-45" dirty="0">
                <a:latin typeface="Roboto"/>
                <a:cs typeface="Roboto"/>
              </a:rPr>
              <a:t> </a:t>
            </a:r>
            <a:r>
              <a:rPr sz="1550" spc="-10" dirty="0">
                <a:latin typeface="Roboto"/>
                <a:cs typeface="Roboto"/>
              </a:rPr>
              <a:t>equivalent:</a:t>
            </a:r>
            <a:r>
              <a:rPr sz="1550" spc="-50" dirty="0">
                <a:latin typeface="Roboto"/>
                <a:cs typeface="Roboto"/>
              </a:rPr>
              <a:t> </a:t>
            </a:r>
            <a:r>
              <a:rPr sz="1550" spc="-10" dirty="0">
                <a:latin typeface="Roboto"/>
                <a:cs typeface="Roboto"/>
              </a:rPr>
              <a:t>Mathematical</a:t>
            </a:r>
            <a:r>
              <a:rPr sz="1550" spc="-50" dirty="0">
                <a:latin typeface="Roboto"/>
                <a:cs typeface="Roboto"/>
              </a:rPr>
              <a:t> </a:t>
            </a:r>
            <a:r>
              <a:rPr sz="1550" spc="-10" dirty="0">
                <a:latin typeface="Roboto"/>
                <a:cs typeface="Roboto"/>
              </a:rPr>
              <a:t>foundations</a:t>
            </a:r>
            <a:r>
              <a:rPr sz="1550" spc="-50" dirty="0">
                <a:latin typeface="Roboto"/>
                <a:cs typeface="Roboto"/>
              </a:rPr>
              <a:t> </a:t>
            </a:r>
            <a:r>
              <a:rPr sz="1550" dirty="0">
                <a:latin typeface="Roboto"/>
                <a:cs typeface="Roboto"/>
              </a:rPr>
              <a:t>of</a:t>
            </a:r>
            <a:r>
              <a:rPr sz="1550" spc="-45" dirty="0">
                <a:latin typeface="Roboto"/>
                <a:cs typeface="Roboto"/>
              </a:rPr>
              <a:t> </a:t>
            </a:r>
            <a:r>
              <a:rPr sz="1550" dirty="0">
                <a:latin typeface="Roboto"/>
                <a:cs typeface="Roboto"/>
              </a:rPr>
              <a:t>machine</a:t>
            </a:r>
            <a:r>
              <a:rPr sz="1550" spc="-50" dirty="0">
                <a:latin typeface="Roboto"/>
                <a:cs typeface="Roboto"/>
              </a:rPr>
              <a:t> </a:t>
            </a:r>
            <a:r>
              <a:rPr sz="1550" spc="-10" dirty="0">
                <a:latin typeface="Roboto"/>
                <a:cs typeface="Roboto"/>
              </a:rPr>
              <a:t>learning.</a:t>
            </a:r>
            <a:endParaRPr sz="1550">
              <a:latin typeface="Roboto"/>
              <a:cs typeface="Roboto"/>
            </a:endParaRPr>
          </a:p>
          <a:p>
            <a:pPr marL="469900" marR="1295400" indent="-389890">
              <a:lnSpc>
                <a:spcPct val="114300"/>
              </a:lnSpc>
              <a:spcBef>
                <a:spcPts val="1000"/>
              </a:spcBef>
              <a:buAutoNum type="arabicPeriod"/>
              <a:tabLst>
                <a:tab pos="469900" algn="l"/>
              </a:tabLst>
            </a:pPr>
            <a:r>
              <a:rPr sz="1550" dirty="0">
                <a:latin typeface="Roboto"/>
                <a:cs typeface="Roboto"/>
              </a:rPr>
              <a:t>CIS</a:t>
            </a:r>
            <a:r>
              <a:rPr sz="1550" spc="-45" dirty="0">
                <a:latin typeface="Roboto"/>
                <a:cs typeface="Roboto"/>
              </a:rPr>
              <a:t> </a:t>
            </a:r>
            <a:r>
              <a:rPr sz="1550" dirty="0">
                <a:latin typeface="Roboto"/>
                <a:cs typeface="Roboto"/>
              </a:rPr>
              <a:t>5450</a:t>
            </a:r>
            <a:r>
              <a:rPr sz="1550" spc="-40" dirty="0">
                <a:latin typeface="Roboto"/>
                <a:cs typeface="Roboto"/>
              </a:rPr>
              <a:t> </a:t>
            </a:r>
            <a:r>
              <a:rPr sz="1550" dirty="0">
                <a:latin typeface="Roboto"/>
                <a:cs typeface="Roboto"/>
              </a:rPr>
              <a:t>or</a:t>
            </a:r>
            <a:r>
              <a:rPr sz="1550" spc="-45" dirty="0">
                <a:latin typeface="Roboto"/>
                <a:cs typeface="Roboto"/>
              </a:rPr>
              <a:t> </a:t>
            </a:r>
            <a:r>
              <a:rPr sz="1550" spc="-10" dirty="0">
                <a:latin typeface="Roboto"/>
                <a:cs typeface="Roboto"/>
              </a:rPr>
              <a:t>equivalent:</a:t>
            </a:r>
            <a:r>
              <a:rPr sz="1550" spc="-40" dirty="0">
                <a:latin typeface="Roboto"/>
                <a:cs typeface="Roboto"/>
              </a:rPr>
              <a:t> </a:t>
            </a:r>
            <a:r>
              <a:rPr sz="1550" spc="-10" dirty="0">
                <a:latin typeface="Roboto"/>
                <a:cs typeface="Roboto"/>
              </a:rPr>
              <a:t>Experience</a:t>
            </a:r>
            <a:r>
              <a:rPr sz="1550" spc="-45" dirty="0">
                <a:latin typeface="Roboto"/>
                <a:cs typeface="Roboto"/>
              </a:rPr>
              <a:t> </a:t>
            </a:r>
            <a:r>
              <a:rPr sz="1550" dirty="0">
                <a:latin typeface="Roboto"/>
                <a:cs typeface="Roboto"/>
              </a:rPr>
              <a:t>with</a:t>
            </a:r>
            <a:r>
              <a:rPr sz="1550" spc="-40" dirty="0">
                <a:latin typeface="Roboto"/>
                <a:cs typeface="Roboto"/>
              </a:rPr>
              <a:t> </a:t>
            </a:r>
            <a:r>
              <a:rPr sz="1550" spc="-10" dirty="0">
                <a:latin typeface="Roboto"/>
                <a:cs typeface="Roboto"/>
              </a:rPr>
              <a:t>building,</a:t>
            </a:r>
            <a:r>
              <a:rPr sz="1550" spc="-40" dirty="0">
                <a:latin typeface="Roboto"/>
                <a:cs typeface="Roboto"/>
              </a:rPr>
              <a:t> </a:t>
            </a:r>
            <a:r>
              <a:rPr sz="1550" spc="-10" dirty="0">
                <a:latin typeface="Roboto"/>
                <a:cs typeface="Roboto"/>
              </a:rPr>
              <a:t>training,</a:t>
            </a:r>
            <a:r>
              <a:rPr sz="1550" spc="-45" dirty="0">
                <a:latin typeface="Roboto"/>
                <a:cs typeface="Roboto"/>
              </a:rPr>
              <a:t> </a:t>
            </a:r>
            <a:r>
              <a:rPr sz="1550" dirty="0">
                <a:latin typeface="Roboto"/>
                <a:cs typeface="Roboto"/>
              </a:rPr>
              <a:t>and</a:t>
            </a:r>
            <a:r>
              <a:rPr sz="1550" spc="-40" dirty="0">
                <a:latin typeface="Roboto"/>
                <a:cs typeface="Roboto"/>
              </a:rPr>
              <a:t> </a:t>
            </a:r>
            <a:r>
              <a:rPr sz="1550" spc="-10" dirty="0">
                <a:latin typeface="Roboto"/>
                <a:cs typeface="Roboto"/>
              </a:rPr>
              <a:t>debugging </a:t>
            </a:r>
            <a:r>
              <a:rPr sz="1550" dirty="0">
                <a:latin typeface="Roboto"/>
                <a:cs typeface="Roboto"/>
              </a:rPr>
              <a:t>machine</a:t>
            </a:r>
            <a:r>
              <a:rPr sz="1550" spc="-95" dirty="0">
                <a:latin typeface="Roboto"/>
                <a:cs typeface="Roboto"/>
              </a:rPr>
              <a:t> </a:t>
            </a:r>
            <a:r>
              <a:rPr sz="1550" dirty="0">
                <a:latin typeface="Roboto"/>
                <a:cs typeface="Roboto"/>
              </a:rPr>
              <a:t>learning</a:t>
            </a:r>
            <a:r>
              <a:rPr sz="1550" spc="-95" dirty="0">
                <a:latin typeface="Roboto"/>
                <a:cs typeface="Roboto"/>
              </a:rPr>
              <a:t> </a:t>
            </a:r>
            <a:r>
              <a:rPr sz="1550" spc="-10" dirty="0">
                <a:latin typeface="Roboto"/>
                <a:cs typeface="Roboto"/>
              </a:rPr>
              <a:t>models.</a:t>
            </a:r>
            <a:endParaRPr sz="15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Scope</a:t>
            </a:r>
            <a:r>
              <a:rPr spc="30" dirty="0"/>
              <a:t> </a:t>
            </a:r>
            <a:r>
              <a:rPr dirty="0"/>
              <a:t>of</a:t>
            </a:r>
            <a:r>
              <a:rPr spc="35" dirty="0"/>
              <a:t> </a:t>
            </a:r>
            <a:r>
              <a:rPr spc="-10" dirty="0"/>
              <a:t>Course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Areas</a:t>
            </a:r>
            <a:r>
              <a:rPr spc="-65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spc="-10" dirty="0"/>
              <a:t>emphasis:</a:t>
            </a:r>
          </a:p>
          <a:p>
            <a:pPr marL="469265" indent="-351155">
              <a:lnSpc>
                <a:spcPct val="100000"/>
              </a:lnSpc>
              <a:spcBef>
                <a:spcPts val="1595"/>
              </a:spcBef>
              <a:buFont typeface="Arial"/>
              <a:buChar char="●"/>
              <a:tabLst>
                <a:tab pos="469265" algn="l"/>
              </a:tabLst>
            </a:pPr>
            <a:r>
              <a:rPr sz="1600" b="1" spc="-10" dirty="0">
                <a:latin typeface="Calibri"/>
                <a:cs typeface="Calibri"/>
              </a:rPr>
              <a:t>Foundations: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spc="-10" dirty="0"/>
              <a:t>lectures</a:t>
            </a:r>
            <a:r>
              <a:rPr sz="1600" spc="-40" dirty="0"/>
              <a:t> </a:t>
            </a:r>
            <a:r>
              <a:rPr sz="1600" dirty="0"/>
              <a:t>cover</a:t>
            </a:r>
            <a:r>
              <a:rPr sz="1600" spc="-35" dirty="0"/>
              <a:t> </a:t>
            </a:r>
            <a:r>
              <a:rPr sz="1600" dirty="0"/>
              <a:t>broadly</a:t>
            </a:r>
            <a:r>
              <a:rPr sz="1600" spc="-40" dirty="0"/>
              <a:t> </a:t>
            </a:r>
            <a:r>
              <a:rPr sz="1600" dirty="0"/>
              <a:t>applicable</a:t>
            </a:r>
            <a:r>
              <a:rPr sz="1600" spc="-35" dirty="0"/>
              <a:t> </a:t>
            </a:r>
            <a:r>
              <a:rPr sz="1600" dirty="0"/>
              <a:t>and</a:t>
            </a:r>
            <a:r>
              <a:rPr sz="1600" spc="-35" dirty="0"/>
              <a:t> </a:t>
            </a:r>
            <a:r>
              <a:rPr sz="1600" spc="-10" dirty="0"/>
              <a:t>(relatively)</a:t>
            </a:r>
            <a:r>
              <a:rPr sz="1600" spc="-40" dirty="0"/>
              <a:t> </a:t>
            </a:r>
            <a:r>
              <a:rPr sz="1600" spc="-10" dirty="0"/>
              <a:t>established</a:t>
            </a:r>
            <a:r>
              <a:rPr sz="1600" spc="-35" dirty="0"/>
              <a:t> </a:t>
            </a:r>
            <a:r>
              <a:rPr sz="1600" spc="-10" dirty="0"/>
              <a:t>techniques</a:t>
            </a:r>
            <a:endParaRPr sz="1600">
              <a:latin typeface="Calibri"/>
              <a:cs typeface="Calibri"/>
            </a:endParaRPr>
          </a:p>
          <a:p>
            <a:pPr marL="469265" indent="-351155">
              <a:lnSpc>
                <a:spcPct val="100000"/>
              </a:lnSpc>
              <a:spcBef>
                <a:spcPts val="290"/>
              </a:spcBef>
              <a:buFont typeface="Arial"/>
              <a:buChar char="●"/>
              <a:tabLst>
                <a:tab pos="469265" algn="l"/>
              </a:tabLst>
            </a:pPr>
            <a:r>
              <a:rPr sz="1600" b="1" spc="-10" dirty="0">
                <a:latin typeface="Calibri"/>
                <a:cs typeface="Calibri"/>
              </a:rPr>
              <a:t>Systems: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spc="-10" dirty="0"/>
              <a:t>homeworks</a:t>
            </a:r>
            <a:r>
              <a:rPr sz="1600" spc="-55" dirty="0"/>
              <a:t> </a:t>
            </a:r>
            <a:r>
              <a:rPr sz="1600" dirty="0"/>
              <a:t>implementing</a:t>
            </a:r>
            <a:r>
              <a:rPr sz="1600" spc="-50" dirty="0"/>
              <a:t> </a:t>
            </a:r>
            <a:r>
              <a:rPr sz="1600" dirty="0"/>
              <a:t>those</a:t>
            </a:r>
            <a:r>
              <a:rPr sz="1600" spc="-55" dirty="0"/>
              <a:t> </a:t>
            </a:r>
            <a:r>
              <a:rPr sz="1600" dirty="0"/>
              <a:t>techniques</a:t>
            </a:r>
            <a:r>
              <a:rPr sz="1600" spc="-50" dirty="0"/>
              <a:t> </a:t>
            </a:r>
            <a:r>
              <a:rPr sz="1600" dirty="0"/>
              <a:t>using</a:t>
            </a:r>
            <a:r>
              <a:rPr sz="1600" spc="-55" dirty="0"/>
              <a:t> </a:t>
            </a:r>
            <a:r>
              <a:rPr sz="1600" dirty="0"/>
              <a:t>deep</a:t>
            </a:r>
            <a:r>
              <a:rPr sz="1600" spc="-50" dirty="0"/>
              <a:t> </a:t>
            </a:r>
            <a:r>
              <a:rPr sz="1600" dirty="0"/>
              <a:t>learning</a:t>
            </a:r>
            <a:r>
              <a:rPr sz="1600" spc="-55" dirty="0"/>
              <a:t> </a:t>
            </a:r>
            <a:r>
              <a:rPr sz="1600" spc="-10" dirty="0"/>
              <a:t>frameworks</a:t>
            </a:r>
            <a:endParaRPr sz="1600">
              <a:latin typeface="Calibri"/>
              <a:cs typeface="Calibri"/>
            </a:endParaRPr>
          </a:p>
          <a:p>
            <a:pPr marL="469265" indent="-351155">
              <a:lnSpc>
                <a:spcPct val="100000"/>
              </a:lnSpc>
              <a:spcBef>
                <a:spcPts val="285"/>
              </a:spcBef>
              <a:buFont typeface="Arial"/>
              <a:buChar char="●"/>
              <a:tabLst>
                <a:tab pos="469265" algn="l"/>
              </a:tabLst>
            </a:pPr>
            <a:r>
              <a:rPr sz="1600" b="1" spc="-10" dirty="0">
                <a:latin typeface="Calibri"/>
                <a:cs typeface="Calibri"/>
              </a:rPr>
              <a:t>Research: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dirty="0"/>
              <a:t>topics</a:t>
            </a:r>
            <a:r>
              <a:rPr sz="1600" spc="-30" dirty="0"/>
              <a:t> </a:t>
            </a:r>
            <a:r>
              <a:rPr sz="1600" spc="-10" dirty="0"/>
              <a:t>derived</a:t>
            </a:r>
            <a:r>
              <a:rPr sz="1600" spc="-30" dirty="0"/>
              <a:t> </a:t>
            </a:r>
            <a:r>
              <a:rPr sz="1600" dirty="0"/>
              <a:t>from</a:t>
            </a:r>
            <a:r>
              <a:rPr sz="1600" spc="-35" dirty="0"/>
              <a:t> </a:t>
            </a:r>
            <a:r>
              <a:rPr sz="1600" spc="-10" dirty="0"/>
              <a:t>recent</a:t>
            </a:r>
            <a:r>
              <a:rPr sz="1600" spc="-30" dirty="0"/>
              <a:t> </a:t>
            </a:r>
            <a:r>
              <a:rPr sz="1600" dirty="0"/>
              <a:t>papers</a:t>
            </a:r>
            <a:r>
              <a:rPr sz="1600" spc="-30" dirty="0"/>
              <a:t> </a:t>
            </a:r>
            <a:r>
              <a:rPr sz="1600" dirty="0"/>
              <a:t>in</a:t>
            </a:r>
            <a:r>
              <a:rPr sz="1600" spc="-30" dirty="0"/>
              <a:t> </a:t>
            </a:r>
            <a:r>
              <a:rPr sz="1600" dirty="0"/>
              <a:t>top</a:t>
            </a:r>
            <a:r>
              <a:rPr sz="1600" spc="-35" dirty="0"/>
              <a:t> </a:t>
            </a:r>
            <a:r>
              <a:rPr sz="1600" dirty="0"/>
              <a:t>ML</a:t>
            </a:r>
            <a:r>
              <a:rPr sz="1600" spc="-30" dirty="0"/>
              <a:t> </a:t>
            </a:r>
            <a:r>
              <a:rPr sz="1600" spc="-20" dirty="0"/>
              <a:t>conferences</a:t>
            </a:r>
            <a:r>
              <a:rPr sz="1600" spc="-30" dirty="0"/>
              <a:t> </a:t>
            </a:r>
            <a:r>
              <a:rPr sz="1600" spc="-10" dirty="0"/>
              <a:t>(NeurIPS/ICLR/ICML)</a:t>
            </a:r>
            <a:endParaRPr sz="1600">
              <a:latin typeface="Calibri"/>
              <a:cs typeface="Calibri"/>
            </a:endParaRPr>
          </a:p>
          <a:p>
            <a:pPr marL="469265" indent="-351155">
              <a:lnSpc>
                <a:spcPct val="100000"/>
              </a:lnSpc>
              <a:spcBef>
                <a:spcPts val="290"/>
              </a:spcBef>
              <a:buFont typeface="Arial"/>
              <a:buChar char="●"/>
              <a:tabLst>
                <a:tab pos="469265" algn="l"/>
              </a:tabLst>
            </a:pPr>
            <a:r>
              <a:rPr sz="1600" b="1" spc="-10" dirty="0">
                <a:latin typeface="Calibri"/>
                <a:cs typeface="Calibri"/>
              </a:rPr>
              <a:t>Experimentation: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dirty="0"/>
              <a:t>team</a:t>
            </a:r>
            <a:r>
              <a:rPr sz="1600" spc="-30" dirty="0"/>
              <a:t> </a:t>
            </a:r>
            <a:r>
              <a:rPr sz="1600" spc="-10" dirty="0"/>
              <a:t>project</a:t>
            </a:r>
            <a:r>
              <a:rPr sz="1600" spc="-25" dirty="0"/>
              <a:t> </a:t>
            </a:r>
            <a:r>
              <a:rPr sz="1600" dirty="0"/>
              <a:t>to</a:t>
            </a:r>
            <a:r>
              <a:rPr sz="1600" spc="-30" dirty="0"/>
              <a:t> </a:t>
            </a:r>
            <a:r>
              <a:rPr sz="1600" dirty="0"/>
              <a:t>implement</a:t>
            </a:r>
            <a:r>
              <a:rPr sz="1600" spc="-30" dirty="0"/>
              <a:t> </a:t>
            </a:r>
            <a:r>
              <a:rPr sz="1600" dirty="0"/>
              <a:t>and</a:t>
            </a:r>
            <a:r>
              <a:rPr sz="1600" spc="-30" dirty="0"/>
              <a:t> </a:t>
            </a:r>
            <a:r>
              <a:rPr sz="1600" dirty="0"/>
              <a:t>empirically</a:t>
            </a:r>
            <a:r>
              <a:rPr sz="1600" spc="-30" dirty="0"/>
              <a:t> </a:t>
            </a:r>
            <a:r>
              <a:rPr sz="1600" spc="-10" dirty="0"/>
              <a:t>evaluate</a:t>
            </a:r>
            <a:r>
              <a:rPr sz="1600" spc="-30" dirty="0"/>
              <a:t> </a:t>
            </a:r>
            <a:r>
              <a:rPr sz="1600" dirty="0"/>
              <a:t>a</a:t>
            </a:r>
            <a:r>
              <a:rPr sz="1600" spc="-30" dirty="0"/>
              <a:t> </a:t>
            </a:r>
            <a:r>
              <a:rPr sz="1600" dirty="0"/>
              <a:t>new</a:t>
            </a:r>
            <a:r>
              <a:rPr sz="1600" spc="-30" dirty="0"/>
              <a:t> </a:t>
            </a:r>
            <a:r>
              <a:rPr sz="1600" spc="-10" dirty="0"/>
              <a:t>technique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70"/>
              </a:spcBef>
            </a:pPr>
            <a:r>
              <a:rPr spc="-35" dirty="0"/>
              <a:t>Topics</a:t>
            </a:r>
            <a:r>
              <a:rPr spc="-40" dirty="0"/>
              <a:t> </a:t>
            </a:r>
            <a:r>
              <a:rPr dirty="0"/>
              <a:t>not</a:t>
            </a:r>
            <a:r>
              <a:rPr spc="-35" dirty="0"/>
              <a:t> </a:t>
            </a:r>
            <a:r>
              <a:rPr spc="-10" dirty="0"/>
              <a:t>covered:</a:t>
            </a:r>
          </a:p>
          <a:p>
            <a:pPr marL="469265" indent="-351155">
              <a:lnSpc>
                <a:spcPct val="100000"/>
              </a:lnSpc>
              <a:spcBef>
                <a:spcPts val="1595"/>
              </a:spcBef>
              <a:buFont typeface="Arial"/>
              <a:buChar char="●"/>
              <a:tabLst>
                <a:tab pos="469265" algn="l"/>
              </a:tabLst>
            </a:pPr>
            <a:r>
              <a:rPr sz="1600" b="1" spc="-10" dirty="0">
                <a:latin typeface="Calibri"/>
                <a:cs typeface="Calibri"/>
              </a:rPr>
              <a:t>Application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Domains: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dirty="0"/>
              <a:t>we</a:t>
            </a:r>
            <a:r>
              <a:rPr sz="1600" spc="-40" dirty="0"/>
              <a:t> </a:t>
            </a:r>
            <a:r>
              <a:rPr sz="1600" dirty="0"/>
              <a:t>won’t</a:t>
            </a:r>
            <a:r>
              <a:rPr sz="1600" spc="-45" dirty="0"/>
              <a:t> </a:t>
            </a:r>
            <a:r>
              <a:rPr sz="1600" dirty="0"/>
              <a:t>dive</a:t>
            </a:r>
            <a:r>
              <a:rPr sz="1600" spc="-40" dirty="0"/>
              <a:t> </a:t>
            </a:r>
            <a:r>
              <a:rPr sz="1600" dirty="0"/>
              <a:t>into</a:t>
            </a:r>
            <a:r>
              <a:rPr sz="1600" spc="-40" dirty="0"/>
              <a:t> </a:t>
            </a:r>
            <a:r>
              <a:rPr sz="1600" dirty="0"/>
              <a:t>specific</a:t>
            </a:r>
            <a:r>
              <a:rPr sz="1600" spc="-40" dirty="0"/>
              <a:t> </a:t>
            </a:r>
            <a:r>
              <a:rPr sz="1600" dirty="0"/>
              <a:t>domains</a:t>
            </a:r>
            <a:r>
              <a:rPr sz="1600" spc="-45" dirty="0"/>
              <a:t> </a:t>
            </a:r>
            <a:r>
              <a:rPr sz="1600" dirty="0"/>
              <a:t>like</a:t>
            </a:r>
            <a:r>
              <a:rPr sz="1600" spc="-40" dirty="0"/>
              <a:t> </a:t>
            </a:r>
            <a:r>
              <a:rPr sz="1600" spc="-55" dirty="0"/>
              <a:t>NLP,</a:t>
            </a:r>
            <a:r>
              <a:rPr sz="1600" spc="-35" dirty="0"/>
              <a:t> </a:t>
            </a:r>
            <a:r>
              <a:rPr sz="1600" dirty="0"/>
              <a:t>Vision,</a:t>
            </a:r>
            <a:r>
              <a:rPr sz="1600" spc="-40" dirty="0"/>
              <a:t> </a:t>
            </a:r>
            <a:r>
              <a:rPr sz="1600" dirty="0"/>
              <a:t>or</a:t>
            </a:r>
            <a:r>
              <a:rPr sz="1600" spc="-40" dirty="0"/>
              <a:t> </a:t>
            </a:r>
            <a:r>
              <a:rPr sz="1600" spc="-10" dirty="0"/>
              <a:t>Robotics</a:t>
            </a:r>
            <a:endParaRPr sz="1600">
              <a:latin typeface="Calibri"/>
              <a:cs typeface="Calibri"/>
            </a:endParaRPr>
          </a:p>
          <a:p>
            <a:pPr marL="469265" indent="-351155">
              <a:lnSpc>
                <a:spcPct val="100000"/>
              </a:lnSpc>
              <a:spcBef>
                <a:spcPts val="290"/>
              </a:spcBef>
              <a:buFont typeface="Arial"/>
              <a:buChar char="●"/>
              <a:tabLst>
                <a:tab pos="469265" algn="l"/>
              </a:tabLst>
            </a:pPr>
            <a:r>
              <a:rPr sz="1600" b="1" dirty="0">
                <a:latin typeface="Calibri"/>
                <a:cs typeface="Calibri"/>
              </a:rPr>
              <a:t>Theory: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dirty="0"/>
              <a:t>limited</a:t>
            </a:r>
            <a:r>
              <a:rPr sz="1600" spc="-50" dirty="0"/>
              <a:t> </a:t>
            </a:r>
            <a:r>
              <a:rPr sz="1600" dirty="0"/>
              <a:t>to</a:t>
            </a:r>
            <a:r>
              <a:rPr sz="1600" spc="-45" dirty="0"/>
              <a:t> </a:t>
            </a:r>
            <a:r>
              <a:rPr sz="1600" dirty="0"/>
              <a:t>mathematical</a:t>
            </a:r>
            <a:r>
              <a:rPr sz="1600" spc="-50" dirty="0"/>
              <a:t> </a:t>
            </a:r>
            <a:r>
              <a:rPr sz="1600" spc="-10" dirty="0"/>
              <a:t>concepts</a:t>
            </a:r>
            <a:r>
              <a:rPr sz="1600" spc="-50" dirty="0"/>
              <a:t> </a:t>
            </a:r>
            <a:r>
              <a:rPr sz="1600" dirty="0"/>
              <a:t>needed</a:t>
            </a:r>
            <a:r>
              <a:rPr sz="1600" spc="-45" dirty="0"/>
              <a:t> </a:t>
            </a:r>
            <a:r>
              <a:rPr sz="1600" dirty="0"/>
              <a:t>to</a:t>
            </a:r>
            <a:r>
              <a:rPr sz="1600" spc="-50" dirty="0"/>
              <a:t> </a:t>
            </a:r>
            <a:r>
              <a:rPr sz="1600" spc="-10" dirty="0"/>
              <a:t>understand</a:t>
            </a:r>
            <a:r>
              <a:rPr sz="1600" spc="-50" dirty="0"/>
              <a:t> </a:t>
            </a:r>
            <a:r>
              <a:rPr sz="1600" dirty="0"/>
              <a:t>and</a:t>
            </a:r>
            <a:r>
              <a:rPr sz="1600" spc="-45" dirty="0"/>
              <a:t> </a:t>
            </a:r>
            <a:r>
              <a:rPr sz="1600" dirty="0"/>
              <a:t>implement</a:t>
            </a:r>
            <a:r>
              <a:rPr sz="1600" spc="-50" dirty="0"/>
              <a:t> </a:t>
            </a:r>
            <a:r>
              <a:rPr sz="1600" spc="-10" dirty="0"/>
              <a:t>techniques</a:t>
            </a:r>
            <a:endParaRPr sz="1600">
              <a:latin typeface="Calibri"/>
              <a:cs typeface="Calibri"/>
            </a:endParaRPr>
          </a:p>
          <a:p>
            <a:pPr marL="469265" indent="-351155">
              <a:lnSpc>
                <a:spcPct val="100000"/>
              </a:lnSpc>
              <a:spcBef>
                <a:spcPts val="290"/>
              </a:spcBef>
              <a:buFont typeface="Arial"/>
              <a:buChar char="●"/>
              <a:tabLst>
                <a:tab pos="469265" algn="l"/>
              </a:tabLst>
            </a:pPr>
            <a:r>
              <a:rPr sz="1600" b="1" dirty="0">
                <a:latin typeface="Calibri"/>
                <a:cs typeface="Calibri"/>
              </a:rPr>
              <a:t>Classical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ML: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dirty="0"/>
              <a:t>we</a:t>
            </a:r>
            <a:r>
              <a:rPr sz="1600" spc="-40" dirty="0"/>
              <a:t> </a:t>
            </a:r>
            <a:r>
              <a:rPr sz="1600" dirty="0"/>
              <a:t>won’t</a:t>
            </a:r>
            <a:r>
              <a:rPr sz="1600" spc="-40" dirty="0"/>
              <a:t> </a:t>
            </a:r>
            <a:r>
              <a:rPr sz="1600" dirty="0"/>
              <a:t>cover</a:t>
            </a:r>
            <a:r>
              <a:rPr sz="1600" spc="-40" dirty="0"/>
              <a:t> </a:t>
            </a:r>
            <a:r>
              <a:rPr sz="1600" dirty="0"/>
              <a:t>classical</a:t>
            </a:r>
            <a:r>
              <a:rPr sz="1600" spc="-40" dirty="0"/>
              <a:t> </a:t>
            </a:r>
            <a:r>
              <a:rPr sz="1600" dirty="0"/>
              <a:t>ML</a:t>
            </a:r>
            <a:r>
              <a:rPr sz="1600" spc="-40" dirty="0"/>
              <a:t> </a:t>
            </a:r>
            <a:r>
              <a:rPr sz="1600" spc="-10" dirty="0"/>
              <a:t>approaches</a:t>
            </a:r>
            <a:r>
              <a:rPr sz="1600" spc="-40" dirty="0"/>
              <a:t> </a:t>
            </a:r>
            <a:r>
              <a:rPr sz="1600" dirty="0"/>
              <a:t>that</a:t>
            </a:r>
            <a:r>
              <a:rPr sz="1600" spc="-40" dirty="0"/>
              <a:t> </a:t>
            </a:r>
            <a:r>
              <a:rPr sz="1600" spc="-10" dirty="0"/>
              <a:t>predate</a:t>
            </a:r>
            <a:r>
              <a:rPr sz="1600" spc="-40" dirty="0"/>
              <a:t> </a:t>
            </a:r>
            <a:r>
              <a:rPr sz="1600" spc="-20" dirty="0"/>
              <a:t>LLMs</a:t>
            </a:r>
            <a:endParaRPr sz="1600">
              <a:latin typeface="Calibri"/>
              <a:cs typeface="Calibri"/>
            </a:endParaRPr>
          </a:p>
          <a:p>
            <a:pPr marL="469265" indent="-351155">
              <a:lnSpc>
                <a:spcPct val="100000"/>
              </a:lnSpc>
              <a:spcBef>
                <a:spcPts val="285"/>
              </a:spcBef>
              <a:buFont typeface="Arial"/>
              <a:buChar char="●"/>
              <a:tabLst>
                <a:tab pos="469265" algn="l"/>
              </a:tabLst>
            </a:pPr>
            <a:r>
              <a:rPr sz="1600" b="1" dirty="0">
                <a:latin typeface="Calibri"/>
                <a:cs typeface="Calibri"/>
              </a:rPr>
              <a:t>AI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Application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Dev: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dirty="0"/>
              <a:t>we</a:t>
            </a:r>
            <a:r>
              <a:rPr sz="1600" spc="-35" dirty="0"/>
              <a:t> </a:t>
            </a:r>
            <a:r>
              <a:rPr sz="1600" dirty="0"/>
              <a:t>won’t</a:t>
            </a:r>
            <a:r>
              <a:rPr sz="1600" spc="-40" dirty="0"/>
              <a:t> </a:t>
            </a:r>
            <a:r>
              <a:rPr sz="1600" dirty="0"/>
              <a:t>teach</a:t>
            </a:r>
            <a:r>
              <a:rPr sz="1600" spc="-35" dirty="0"/>
              <a:t> </a:t>
            </a:r>
            <a:r>
              <a:rPr sz="1600" dirty="0"/>
              <a:t>you</a:t>
            </a:r>
            <a:r>
              <a:rPr sz="1600" spc="-35" dirty="0"/>
              <a:t> </a:t>
            </a:r>
            <a:r>
              <a:rPr sz="1600" dirty="0"/>
              <a:t>the</a:t>
            </a:r>
            <a:r>
              <a:rPr sz="1600" spc="-40" dirty="0"/>
              <a:t> </a:t>
            </a:r>
            <a:r>
              <a:rPr sz="1600" dirty="0"/>
              <a:t>AI</a:t>
            </a:r>
            <a:r>
              <a:rPr sz="1600" spc="-35" dirty="0"/>
              <a:t> </a:t>
            </a:r>
            <a:r>
              <a:rPr sz="1600" dirty="0"/>
              <a:t>dev</a:t>
            </a:r>
            <a:r>
              <a:rPr sz="1600" spc="-40" dirty="0"/>
              <a:t> </a:t>
            </a:r>
            <a:r>
              <a:rPr sz="1600" dirty="0"/>
              <a:t>stack</a:t>
            </a:r>
            <a:r>
              <a:rPr sz="1600" spc="-35" dirty="0"/>
              <a:t> </a:t>
            </a:r>
            <a:r>
              <a:rPr sz="1600" dirty="0"/>
              <a:t>or</a:t>
            </a:r>
            <a:r>
              <a:rPr sz="1600" spc="-35" dirty="0"/>
              <a:t> </a:t>
            </a:r>
            <a:r>
              <a:rPr sz="1600" dirty="0"/>
              <a:t>how</a:t>
            </a:r>
            <a:r>
              <a:rPr sz="1600" spc="-40" dirty="0"/>
              <a:t> </a:t>
            </a:r>
            <a:r>
              <a:rPr sz="1600" dirty="0"/>
              <a:t>to</a:t>
            </a:r>
            <a:r>
              <a:rPr sz="1600" spc="-35" dirty="0"/>
              <a:t> </a:t>
            </a:r>
            <a:r>
              <a:rPr sz="1600" dirty="0"/>
              <a:t>build</a:t>
            </a:r>
            <a:r>
              <a:rPr sz="1600" spc="-35" dirty="0"/>
              <a:t> </a:t>
            </a:r>
            <a:r>
              <a:rPr sz="1600" spc="-10" dirty="0"/>
              <a:t>enterprise</a:t>
            </a:r>
            <a:r>
              <a:rPr sz="1600" spc="-40" dirty="0"/>
              <a:t> </a:t>
            </a:r>
            <a:r>
              <a:rPr sz="1600" dirty="0"/>
              <a:t>AI</a:t>
            </a:r>
            <a:r>
              <a:rPr sz="1600" spc="-35" dirty="0"/>
              <a:t> </a:t>
            </a:r>
            <a:r>
              <a:rPr sz="1600" spc="-20" dirty="0"/>
              <a:t>apps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Learning</a:t>
            </a:r>
            <a:r>
              <a:rPr spc="55" dirty="0"/>
              <a:t> </a:t>
            </a:r>
            <a:r>
              <a:rPr spc="-10" dirty="0"/>
              <a:t>Objectives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479924" y="1176884"/>
            <a:ext cx="7501890" cy="28460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74650" marR="934719" indent="-362585">
              <a:lnSpc>
                <a:spcPct val="117700"/>
              </a:lnSpc>
              <a:spcBef>
                <a:spcPts val="90"/>
              </a:spcBef>
              <a:buFont typeface="Arial"/>
              <a:buChar char="●"/>
              <a:tabLst>
                <a:tab pos="374650" algn="l"/>
              </a:tabLst>
            </a:pP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Analyze</a:t>
            </a:r>
            <a:r>
              <a:rPr sz="1700" spc="8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design</a:t>
            </a:r>
            <a:r>
              <a:rPr sz="1700" spc="8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decisions</a:t>
            </a:r>
            <a:r>
              <a:rPr sz="1700" spc="8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in</a:t>
            </a:r>
            <a:r>
              <a:rPr sz="1700" spc="8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modern</a:t>
            </a:r>
            <a:r>
              <a:rPr sz="1700" spc="8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and</a:t>
            </a:r>
            <a:r>
              <a:rPr sz="1700" spc="8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upcoming</a:t>
            </a:r>
            <a:r>
              <a:rPr sz="1700" spc="8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boto"/>
                <a:cs typeface="Roboto"/>
              </a:rPr>
              <a:t>transformer architectures.</a:t>
            </a:r>
            <a:endParaRPr sz="1700">
              <a:latin typeface="Roboto"/>
              <a:cs typeface="Roboto"/>
            </a:endParaRPr>
          </a:p>
          <a:p>
            <a:pPr marL="374650" marR="5080" indent="-362585">
              <a:lnSpc>
                <a:spcPct val="117700"/>
              </a:lnSpc>
              <a:spcBef>
                <a:spcPts val="1000"/>
              </a:spcBef>
              <a:buFont typeface="Arial"/>
              <a:buChar char="●"/>
              <a:tabLst>
                <a:tab pos="374650" algn="l"/>
              </a:tabLst>
            </a:pP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Determine</a:t>
            </a:r>
            <a:r>
              <a:rPr sz="1700" spc="7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the</a:t>
            </a:r>
            <a:r>
              <a:rPr sz="1700" spc="8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hardware,</a:t>
            </a:r>
            <a:r>
              <a:rPr sz="1700" spc="7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software,</a:t>
            </a:r>
            <a:r>
              <a:rPr sz="1700" spc="8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and</a:t>
            </a:r>
            <a:r>
              <a:rPr sz="1700" spc="8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data</a:t>
            </a:r>
            <a:r>
              <a:rPr sz="1700" spc="7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requirements</a:t>
            </a:r>
            <a:r>
              <a:rPr sz="1700" spc="8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for</a:t>
            </a:r>
            <a:r>
              <a:rPr sz="1700" spc="8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pre-</a:t>
            </a:r>
            <a:r>
              <a:rPr sz="1700" spc="-10" dirty="0">
                <a:solidFill>
                  <a:srgbClr val="595959"/>
                </a:solidFill>
                <a:latin typeface="Roboto"/>
                <a:cs typeface="Roboto"/>
              </a:rPr>
              <a:t>training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or</a:t>
            </a:r>
            <a:r>
              <a:rPr sz="1700" spc="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fine-tuning</a:t>
            </a:r>
            <a:r>
              <a:rPr sz="1700" spc="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an</a:t>
            </a:r>
            <a:r>
              <a:rPr sz="1700" spc="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LLM</a:t>
            </a:r>
            <a:r>
              <a:rPr sz="1700" spc="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for</a:t>
            </a:r>
            <a:r>
              <a:rPr sz="1700" spc="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new</a:t>
            </a:r>
            <a:r>
              <a:rPr sz="1700" spc="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boto"/>
                <a:cs typeface="Roboto"/>
              </a:rPr>
              <a:t>tasks.</a:t>
            </a:r>
            <a:endParaRPr sz="1700">
              <a:latin typeface="Roboto"/>
              <a:cs typeface="Roboto"/>
            </a:endParaRPr>
          </a:p>
          <a:p>
            <a:pPr marL="374650" marR="238125" indent="-362585">
              <a:lnSpc>
                <a:spcPct val="117700"/>
              </a:lnSpc>
              <a:spcBef>
                <a:spcPts val="1000"/>
              </a:spcBef>
              <a:buFont typeface="Arial"/>
              <a:buChar char="●"/>
              <a:tabLst>
                <a:tab pos="374650" algn="l"/>
              </a:tabLst>
            </a:pP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Understand</a:t>
            </a:r>
            <a:r>
              <a:rPr sz="1700" spc="6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where</a:t>
            </a:r>
            <a:r>
              <a:rPr sz="1700" spc="7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LLMs</a:t>
            </a:r>
            <a:r>
              <a:rPr sz="1700" spc="6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should</a:t>
            </a:r>
            <a:r>
              <a:rPr sz="1700" spc="7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and</a:t>
            </a:r>
            <a:r>
              <a:rPr sz="1700" spc="6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should</a:t>
            </a:r>
            <a:r>
              <a:rPr sz="1700" spc="7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not</a:t>
            </a:r>
            <a:r>
              <a:rPr sz="1700" spc="6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be</a:t>
            </a:r>
            <a:r>
              <a:rPr sz="1700" spc="7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used</a:t>
            </a:r>
            <a:r>
              <a:rPr sz="1700" spc="7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based</a:t>
            </a:r>
            <a:r>
              <a:rPr sz="1700" spc="6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on</a:t>
            </a:r>
            <a:r>
              <a:rPr sz="1700" spc="7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boto"/>
                <a:cs typeface="Roboto"/>
              </a:rPr>
              <a:t>their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capability</a:t>
            </a:r>
            <a:r>
              <a:rPr sz="1700" spc="7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and</a:t>
            </a:r>
            <a:r>
              <a:rPr sz="1700" spc="8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boto"/>
                <a:cs typeface="Roboto"/>
              </a:rPr>
              <a:t>reliability.</a:t>
            </a:r>
            <a:endParaRPr sz="1700">
              <a:latin typeface="Roboto"/>
              <a:cs typeface="Roboto"/>
            </a:endParaRPr>
          </a:p>
          <a:p>
            <a:pPr marL="374650" marR="337820" indent="-362585">
              <a:lnSpc>
                <a:spcPct val="117700"/>
              </a:lnSpc>
              <a:spcBef>
                <a:spcPts val="1000"/>
              </a:spcBef>
              <a:buFont typeface="Arial"/>
              <a:buChar char="●"/>
              <a:tabLst>
                <a:tab pos="374650" algn="l"/>
              </a:tabLst>
            </a:pP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Leverage</a:t>
            </a:r>
            <a:r>
              <a:rPr sz="1700" spc="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a</a:t>
            </a:r>
            <a:r>
              <a:rPr sz="1700" spc="6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deep</a:t>
            </a:r>
            <a:r>
              <a:rPr sz="1700" spc="6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understanding</a:t>
            </a:r>
            <a:r>
              <a:rPr sz="1700" spc="6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of</a:t>
            </a:r>
            <a:r>
              <a:rPr sz="1700" spc="6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LLM</a:t>
            </a:r>
            <a:r>
              <a:rPr sz="1700" spc="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theory</a:t>
            </a:r>
            <a:r>
              <a:rPr sz="1700" spc="6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and</a:t>
            </a:r>
            <a:r>
              <a:rPr sz="1700" spc="6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software</a:t>
            </a:r>
            <a:r>
              <a:rPr sz="1700" spc="6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to</a:t>
            </a:r>
            <a:r>
              <a:rPr sz="1700" spc="6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boto"/>
                <a:cs typeface="Roboto"/>
              </a:rPr>
              <a:t>design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prompts</a:t>
            </a:r>
            <a:r>
              <a:rPr sz="1700" spc="8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and</a:t>
            </a:r>
            <a:r>
              <a:rPr sz="1700" spc="8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applications</a:t>
            </a:r>
            <a:r>
              <a:rPr sz="1700" spc="8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around</a:t>
            </a:r>
            <a:r>
              <a:rPr sz="1700" spc="8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boto"/>
                <a:cs typeface="Roboto"/>
              </a:rPr>
              <a:t>them.</a:t>
            </a:r>
            <a:endParaRPr sz="17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Course</a:t>
            </a:r>
            <a:r>
              <a:rPr spc="50" dirty="0"/>
              <a:t> </a:t>
            </a:r>
            <a:r>
              <a:rPr spc="-10" dirty="0"/>
              <a:t>Activities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406780" y="1101802"/>
            <a:ext cx="7943215" cy="3215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1475" marR="5080" indent="-359410">
              <a:lnSpc>
                <a:spcPct val="114999"/>
              </a:lnSpc>
              <a:spcBef>
                <a:spcPts val="100"/>
              </a:spcBef>
              <a:buFont typeface="Arial"/>
              <a:buChar char="●"/>
              <a:tabLst>
                <a:tab pos="371475" algn="l"/>
              </a:tabLst>
            </a:pP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Lectures</a:t>
            </a:r>
            <a:r>
              <a:rPr sz="17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by</a:t>
            </a:r>
            <a:r>
              <a:rPr sz="17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boto"/>
                <a:cs typeface="Roboto"/>
              </a:rPr>
              <a:t>instructor,</a:t>
            </a:r>
            <a:r>
              <a:rPr sz="17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external</a:t>
            </a:r>
            <a:r>
              <a:rPr sz="17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guest</a:t>
            </a:r>
            <a:r>
              <a:rPr sz="17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speakers</a:t>
            </a:r>
            <a:r>
              <a:rPr sz="17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(virtual</a:t>
            </a:r>
            <a:r>
              <a:rPr sz="17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and</a:t>
            </a:r>
            <a:r>
              <a:rPr sz="17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spc="-20" dirty="0">
                <a:solidFill>
                  <a:srgbClr val="595959"/>
                </a:solidFill>
                <a:latin typeface="Roboto"/>
                <a:cs typeface="Roboto"/>
              </a:rPr>
              <a:t>in-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person),</a:t>
            </a:r>
            <a:r>
              <a:rPr sz="17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and</a:t>
            </a:r>
            <a:r>
              <a:rPr sz="17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boto"/>
                <a:cs typeface="Roboto"/>
              </a:rPr>
              <a:t>local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guest</a:t>
            </a:r>
            <a:r>
              <a:rPr sz="17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speakers</a:t>
            </a:r>
            <a:r>
              <a:rPr sz="17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(TAs</a:t>
            </a:r>
            <a:r>
              <a:rPr sz="17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or</a:t>
            </a:r>
            <a:r>
              <a:rPr sz="17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PhD</a:t>
            </a:r>
            <a:r>
              <a:rPr sz="17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students).</a:t>
            </a:r>
            <a:r>
              <a:rPr sz="1700" spc="3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Lectures</a:t>
            </a:r>
            <a:r>
              <a:rPr sz="17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will</a:t>
            </a:r>
            <a:r>
              <a:rPr sz="17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not</a:t>
            </a:r>
            <a:r>
              <a:rPr sz="17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be</a:t>
            </a:r>
            <a:r>
              <a:rPr sz="17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boto"/>
                <a:cs typeface="Roboto"/>
              </a:rPr>
              <a:t>recorded!</a:t>
            </a:r>
            <a:endParaRPr sz="1700">
              <a:latin typeface="Roboto"/>
              <a:cs typeface="Roboto"/>
            </a:endParaRPr>
          </a:p>
          <a:p>
            <a:pPr marL="371475" indent="-358775">
              <a:lnSpc>
                <a:spcPct val="100000"/>
              </a:lnSpc>
              <a:spcBef>
                <a:spcPts val="1305"/>
              </a:spcBef>
              <a:buFont typeface="Arial"/>
              <a:buChar char="●"/>
              <a:tabLst>
                <a:tab pos="371475" algn="l"/>
              </a:tabLst>
            </a:pP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Five</a:t>
            </a:r>
            <a:r>
              <a:rPr sz="17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challenging</a:t>
            </a:r>
            <a:r>
              <a:rPr sz="17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boto"/>
                <a:cs typeface="Roboto"/>
              </a:rPr>
              <a:t>programming</a:t>
            </a:r>
            <a:r>
              <a:rPr sz="17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assignments</a:t>
            </a:r>
            <a:r>
              <a:rPr sz="17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to</a:t>
            </a:r>
            <a:r>
              <a:rPr sz="17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be</a:t>
            </a:r>
            <a:r>
              <a:rPr sz="17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done</a:t>
            </a:r>
            <a:r>
              <a:rPr sz="17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boto"/>
                <a:cs typeface="Roboto"/>
              </a:rPr>
              <a:t>individually</a:t>
            </a:r>
            <a:r>
              <a:rPr sz="1700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b="1" spc="-10" dirty="0">
                <a:solidFill>
                  <a:srgbClr val="595959"/>
                </a:solidFill>
                <a:latin typeface="Roboto"/>
                <a:cs typeface="Roboto"/>
              </a:rPr>
              <a:t>(55%)</a:t>
            </a:r>
            <a:r>
              <a:rPr sz="1700" spc="-10" dirty="0">
                <a:solidFill>
                  <a:srgbClr val="595959"/>
                </a:solidFill>
                <a:latin typeface="Roboto"/>
                <a:cs typeface="Roboto"/>
              </a:rPr>
              <a:t>.</a:t>
            </a:r>
            <a:endParaRPr sz="1700">
              <a:latin typeface="Roboto"/>
              <a:cs typeface="Roboto"/>
            </a:endParaRPr>
          </a:p>
          <a:p>
            <a:pPr marL="371475" marR="81915" indent="-359410">
              <a:lnSpc>
                <a:spcPct val="114999"/>
              </a:lnSpc>
              <a:spcBef>
                <a:spcPts val="1000"/>
              </a:spcBef>
              <a:buFont typeface="Arial"/>
              <a:buChar char="●"/>
              <a:tabLst>
                <a:tab pos="371475" algn="l"/>
              </a:tabLst>
            </a:pP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Project</a:t>
            </a:r>
            <a:r>
              <a:rPr sz="17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b="1" dirty="0">
                <a:solidFill>
                  <a:srgbClr val="595959"/>
                </a:solidFill>
                <a:latin typeface="Roboto"/>
                <a:cs typeface="Roboto"/>
              </a:rPr>
              <a:t>(25%)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:</a:t>
            </a:r>
            <a:r>
              <a:rPr sz="17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spc="-20" dirty="0">
                <a:solidFill>
                  <a:srgbClr val="595959"/>
                </a:solidFill>
                <a:latin typeface="Roboto"/>
                <a:cs typeface="Roboto"/>
              </a:rPr>
              <a:t>Deep-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dive</a:t>
            </a:r>
            <a:r>
              <a:rPr sz="17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into</a:t>
            </a:r>
            <a:r>
              <a:rPr sz="17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implementing</a:t>
            </a:r>
            <a:r>
              <a:rPr sz="17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and</a:t>
            </a:r>
            <a:r>
              <a:rPr sz="17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analyzing</a:t>
            </a:r>
            <a:r>
              <a:rPr sz="17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an</a:t>
            </a:r>
            <a:r>
              <a:rPr sz="17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LLM</a:t>
            </a:r>
            <a:r>
              <a:rPr sz="17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technique</a:t>
            </a:r>
            <a:r>
              <a:rPr sz="17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spc="-25" dirty="0">
                <a:solidFill>
                  <a:srgbClr val="595959"/>
                </a:solidFill>
                <a:latin typeface="Roboto"/>
                <a:cs typeface="Roboto"/>
              </a:rPr>
              <a:t>in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teams</a:t>
            </a:r>
            <a:r>
              <a:rPr sz="1700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of</a:t>
            </a:r>
            <a:r>
              <a:rPr sz="1700" spc="-1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boto"/>
                <a:cs typeface="Roboto"/>
              </a:rPr>
              <a:t>2-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3</a:t>
            </a:r>
            <a:r>
              <a:rPr sz="1700" spc="-1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boto"/>
                <a:cs typeface="Roboto"/>
              </a:rPr>
              <a:t>students.</a:t>
            </a:r>
            <a:endParaRPr sz="1700">
              <a:latin typeface="Roboto"/>
              <a:cs typeface="Roboto"/>
            </a:endParaRPr>
          </a:p>
          <a:p>
            <a:pPr marL="371475" indent="-358775">
              <a:lnSpc>
                <a:spcPct val="100000"/>
              </a:lnSpc>
              <a:spcBef>
                <a:spcPts val="1305"/>
              </a:spcBef>
              <a:buFont typeface="Arial"/>
              <a:buChar char="●"/>
              <a:tabLst>
                <a:tab pos="371475" algn="l"/>
              </a:tabLst>
            </a:pP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Final</a:t>
            </a:r>
            <a:r>
              <a:rPr sz="17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Exam</a:t>
            </a:r>
            <a:r>
              <a:rPr sz="1700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b="1" dirty="0">
                <a:solidFill>
                  <a:srgbClr val="595959"/>
                </a:solidFill>
                <a:latin typeface="Roboto"/>
                <a:cs typeface="Roboto"/>
              </a:rPr>
              <a:t>(15%)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:</a:t>
            </a:r>
            <a:r>
              <a:rPr sz="17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Any</a:t>
            </a:r>
            <a:r>
              <a:rPr sz="1700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concepts</a:t>
            </a:r>
            <a:r>
              <a:rPr sz="17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boto"/>
                <a:cs typeface="Roboto"/>
              </a:rPr>
              <a:t>covered</a:t>
            </a:r>
            <a:r>
              <a:rPr sz="17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in</a:t>
            </a:r>
            <a:r>
              <a:rPr sz="17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the</a:t>
            </a:r>
            <a:r>
              <a:rPr sz="17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boto"/>
                <a:cs typeface="Roboto"/>
              </a:rPr>
              <a:t>lectures.</a:t>
            </a:r>
            <a:endParaRPr sz="1700">
              <a:latin typeface="Roboto"/>
              <a:cs typeface="Roboto"/>
            </a:endParaRPr>
          </a:p>
          <a:p>
            <a:pPr marL="371475" marR="92075" indent="-359410">
              <a:lnSpc>
                <a:spcPct val="114999"/>
              </a:lnSpc>
              <a:spcBef>
                <a:spcPts val="1000"/>
              </a:spcBef>
              <a:buFont typeface="Arial"/>
              <a:buChar char="●"/>
              <a:tabLst>
                <a:tab pos="371475" algn="l"/>
              </a:tabLst>
            </a:pP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Class</a:t>
            </a:r>
            <a:r>
              <a:rPr sz="17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Participation</a:t>
            </a:r>
            <a:r>
              <a:rPr sz="17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b="1" dirty="0">
                <a:solidFill>
                  <a:srgbClr val="595959"/>
                </a:solidFill>
                <a:latin typeface="Roboto"/>
                <a:cs typeface="Roboto"/>
              </a:rPr>
              <a:t>(5%)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:</a:t>
            </a:r>
            <a:r>
              <a:rPr sz="17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7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are</a:t>
            </a:r>
            <a:r>
              <a:rPr sz="17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expected</a:t>
            </a:r>
            <a:r>
              <a:rPr sz="17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to</a:t>
            </a:r>
            <a:r>
              <a:rPr sz="17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attend</a:t>
            </a:r>
            <a:r>
              <a:rPr sz="17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all</a:t>
            </a:r>
            <a:r>
              <a:rPr sz="17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lectures</a:t>
            </a:r>
            <a:r>
              <a:rPr sz="17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and</a:t>
            </a:r>
            <a:r>
              <a:rPr sz="17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boto"/>
                <a:cs typeface="Roboto"/>
              </a:rPr>
              <a:t>especially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guest</a:t>
            </a:r>
            <a:r>
              <a:rPr sz="17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lectures;</a:t>
            </a:r>
            <a:r>
              <a:rPr sz="17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we</a:t>
            </a:r>
            <a:r>
              <a:rPr sz="17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will</a:t>
            </a:r>
            <a:r>
              <a:rPr sz="17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measure</a:t>
            </a:r>
            <a:r>
              <a:rPr sz="17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class</a:t>
            </a:r>
            <a:r>
              <a:rPr sz="17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participation</a:t>
            </a:r>
            <a:r>
              <a:rPr sz="17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by</a:t>
            </a:r>
            <a:r>
              <a:rPr sz="17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taking</a:t>
            </a:r>
            <a:r>
              <a:rPr sz="17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attendance</a:t>
            </a:r>
            <a:r>
              <a:rPr sz="17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spc="-25" dirty="0">
                <a:solidFill>
                  <a:srgbClr val="595959"/>
                </a:solidFill>
                <a:latin typeface="Roboto"/>
                <a:cs typeface="Roboto"/>
              </a:rPr>
              <a:t>on </a:t>
            </a:r>
            <a:r>
              <a:rPr sz="1700" spc="-10" dirty="0">
                <a:solidFill>
                  <a:srgbClr val="595959"/>
                </a:solidFill>
                <a:latin typeface="Roboto"/>
                <a:cs typeface="Roboto"/>
              </a:rPr>
              <a:t>randomly</a:t>
            </a:r>
            <a:r>
              <a:rPr sz="1700" spc="-7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chosen</a:t>
            </a:r>
            <a:r>
              <a:rPr sz="1700" spc="-7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spc="-20" dirty="0">
                <a:solidFill>
                  <a:srgbClr val="595959"/>
                </a:solidFill>
                <a:latin typeface="Roboto"/>
                <a:cs typeface="Roboto"/>
              </a:rPr>
              <a:t>days.</a:t>
            </a:r>
            <a:endParaRPr sz="17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10" dirty="0"/>
              <a:t>Homeworks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5725" y="1140664"/>
            <a:ext cx="5518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20" dirty="0">
                <a:solidFill>
                  <a:srgbClr val="595959"/>
                </a:solidFill>
                <a:latin typeface="Roboto"/>
                <a:cs typeface="Roboto"/>
              </a:rPr>
              <a:t>HW0:</a:t>
            </a:r>
            <a:endParaRPr sz="17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80124" y="1101802"/>
            <a:ext cx="6121400" cy="621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700" spc="-10" dirty="0">
                <a:solidFill>
                  <a:srgbClr val="595959"/>
                </a:solidFill>
                <a:latin typeface="Roboto"/>
                <a:cs typeface="Roboto"/>
              </a:rPr>
              <a:t>Introductory</a:t>
            </a:r>
            <a:r>
              <a:rPr sz="17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assignment</a:t>
            </a:r>
            <a:r>
              <a:rPr sz="17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comparing</a:t>
            </a:r>
            <a:r>
              <a:rPr sz="17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and</a:t>
            </a:r>
            <a:r>
              <a:rPr sz="17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analyzing</a:t>
            </a:r>
            <a:r>
              <a:rPr sz="17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outputs</a:t>
            </a:r>
            <a:r>
              <a:rPr sz="17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spc="-20" dirty="0">
                <a:solidFill>
                  <a:srgbClr val="595959"/>
                </a:solidFill>
                <a:latin typeface="Roboto"/>
                <a:cs typeface="Roboto"/>
              </a:rPr>
              <a:t>from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different</a:t>
            </a:r>
            <a:r>
              <a:rPr sz="1700" spc="-8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boto"/>
                <a:cs typeface="Roboto"/>
              </a:rPr>
              <a:t>LLMs.</a:t>
            </a:r>
            <a:endParaRPr sz="17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5725" y="1911807"/>
            <a:ext cx="5518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20" dirty="0">
                <a:solidFill>
                  <a:srgbClr val="595959"/>
                </a:solidFill>
                <a:latin typeface="Roboto"/>
                <a:cs typeface="Roboto"/>
              </a:rPr>
              <a:t>HW1:</a:t>
            </a:r>
            <a:endParaRPr sz="17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80124" y="1911807"/>
            <a:ext cx="6788784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Build</a:t>
            </a:r>
            <a:r>
              <a:rPr sz="17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and</a:t>
            </a:r>
            <a:r>
              <a:rPr sz="17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understand</a:t>
            </a:r>
            <a:r>
              <a:rPr sz="17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the</a:t>
            </a:r>
            <a:r>
              <a:rPr sz="1700" spc="-7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boto"/>
                <a:cs typeface="Roboto"/>
              </a:rPr>
              <a:t>Transformer</a:t>
            </a:r>
            <a:r>
              <a:rPr sz="17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architecture</a:t>
            </a:r>
            <a:r>
              <a:rPr sz="17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from</a:t>
            </a:r>
            <a:r>
              <a:rPr sz="17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the</a:t>
            </a:r>
            <a:r>
              <a:rPr sz="17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ground</a:t>
            </a:r>
            <a:r>
              <a:rPr sz="17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spc="-25" dirty="0">
                <a:solidFill>
                  <a:srgbClr val="595959"/>
                </a:solidFill>
                <a:latin typeface="Roboto"/>
                <a:cs typeface="Roboto"/>
              </a:rPr>
              <a:t>up.</a:t>
            </a:r>
            <a:endParaRPr sz="17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5725" y="2385009"/>
            <a:ext cx="5518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20" dirty="0">
                <a:solidFill>
                  <a:srgbClr val="595959"/>
                </a:solidFill>
                <a:latin typeface="Roboto"/>
                <a:cs typeface="Roboto"/>
              </a:rPr>
              <a:t>HW2:</a:t>
            </a:r>
            <a:endParaRPr sz="1700"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80124" y="2346147"/>
            <a:ext cx="6138545" cy="621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Explore</a:t>
            </a:r>
            <a:r>
              <a:rPr sz="17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techniques</a:t>
            </a:r>
            <a:r>
              <a:rPr sz="17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to</a:t>
            </a:r>
            <a:r>
              <a:rPr sz="17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adapt</a:t>
            </a:r>
            <a:r>
              <a:rPr sz="17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boto"/>
                <a:cs typeface="Roboto"/>
              </a:rPr>
              <a:t>pre-trained</a:t>
            </a:r>
            <a:r>
              <a:rPr sz="17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LLMs</a:t>
            </a:r>
            <a:r>
              <a:rPr sz="17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to</a:t>
            </a:r>
            <a:r>
              <a:rPr sz="17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new</a:t>
            </a:r>
            <a:r>
              <a:rPr sz="17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tasks</a:t>
            </a:r>
            <a:r>
              <a:rPr sz="17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in</a:t>
            </a:r>
            <a:r>
              <a:rPr sz="17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spc="-25" dirty="0">
                <a:solidFill>
                  <a:srgbClr val="595959"/>
                </a:solidFill>
                <a:latin typeface="Roboto"/>
                <a:cs typeface="Roboto"/>
              </a:rPr>
              <a:t>an </a:t>
            </a:r>
            <a:r>
              <a:rPr sz="1700" spc="-20" dirty="0">
                <a:solidFill>
                  <a:srgbClr val="595959"/>
                </a:solidFill>
                <a:latin typeface="Roboto"/>
                <a:cs typeface="Roboto"/>
              </a:rPr>
              <a:t>efficient</a:t>
            </a:r>
            <a:r>
              <a:rPr sz="17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and</a:t>
            </a:r>
            <a:r>
              <a:rPr sz="17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performant</a:t>
            </a:r>
            <a:r>
              <a:rPr sz="17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boto"/>
                <a:cs typeface="Roboto"/>
              </a:rPr>
              <a:t>manner.</a:t>
            </a:r>
            <a:endParaRPr sz="1700"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5725" y="3156153"/>
            <a:ext cx="5518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20" dirty="0">
                <a:solidFill>
                  <a:srgbClr val="595959"/>
                </a:solidFill>
                <a:latin typeface="Roboto"/>
                <a:cs typeface="Roboto"/>
              </a:rPr>
              <a:t>HW3:</a:t>
            </a:r>
            <a:endParaRPr sz="1700"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80124" y="3117291"/>
            <a:ext cx="5955030" cy="621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Leverage</a:t>
            </a:r>
            <a:r>
              <a:rPr sz="17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patterns</a:t>
            </a:r>
            <a:r>
              <a:rPr sz="17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in</a:t>
            </a:r>
            <a:r>
              <a:rPr sz="17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boto"/>
                <a:cs typeface="Roboto"/>
              </a:rPr>
              <a:t>pretrained</a:t>
            </a:r>
            <a:r>
              <a:rPr sz="17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weights</a:t>
            </a:r>
            <a:r>
              <a:rPr sz="17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to</a:t>
            </a:r>
            <a:r>
              <a:rPr sz="17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compress</a:t>
            </a:r>
            <a:r>
              <a:rPr sz="17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LLMs</a:t>
            </a:r>
            <a:r>
              <a:rPr sz="17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spc="-25" dirty="0">
                <a:solidFill>
                  <a:srgbClr val="595959"/>
                </a:solidFill>
                <a:latin typeface="Roboto"/>
                <a:cs typeface="Roboto"/>
              </a:rPr>
              <a:t>for </a:t>
            </a:r>
            <a:r>
              <a:rPr sz="1700" spc="-10" dirty="0">
                <a:solidFill>
                  <a:srgbClr val="595959"/>
                </a:solidFill>
                <a:latin typeface="Roboto"/>
                <a:cs typeface="Roboto"/>
              </a:rPr>
              <a:t>memory-</a:t>
            </a:r>
            <a:r>
              <a:rPr sz="1700" spc="-20" dirty="0">
                <a:solidFill>
                  <a:srgbClr val="595959"/>
                </a:solidFill>
                <a:latin typeface="Roboto"/>
                <a:cs typeface="Roboto"/>
              </a:rPr>
              <a:t>efficient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inference</a:t>
            </a:r>
            <a:r>
              <a:rPr sz="1700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and</a:t>
            </a:r>
            <a:r>
              <a:rPr sz="1700" spc="-20" dirty="0">
                <a:solidFill>
                  <a:srgbClr val="595959"/>
                </a:solidFill>
                <a:latin typeface="Roboto"/>
                <a:cs typeface="Roboto"/>
              </a:rPr>
              <a:t> fine-</a:t>
            </a:r>
            <a:r>
              <a:rPr sz="1700" spc="-10" dirty="0">
                <a:solidFill>
                  <a:srgbClr val="595959"/>
                </a:solidFill>
                <a:latin typeface="Roboto"/>
                <a:cs typeface="Roboto"/>
              </a:rPr>
              <a:t>tuning.</a:t>
            </a:r>
            <a:endParaRPr sz="1700">
              <a:latin typeface="Roboto"/>
              <a:cs typeface="Robo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65725" y="3927297"/>
            <a:ext cx="5518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20" dirty="0">
                <a:solidFill>
                  <a:srgbClr val="595959"/>
                </a:solidFill>
                <a:latin typeface="Roboto"/>
                <a:cs typeface="Roboto"/>
              </a:rPr>
              <a:t>HW4:</a:t>
            </a:r>
            <a:endParaRPr sz="1700">
              <a:latin typeface="Roboto"/>
              <a:cs typeface="Robo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80124" y="3888435"/>
            <a:ext cx="6809740" cy="621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Investigate</a:t>
            </a:r>
            <a:r>
              <a:rPr sz="17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the</a:t>
            </a:r>
            <a:r>
              <a:rPr sz="17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intersection</a:t>
            </a:r>
            <a:r>
              <a:rPr sz="17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of</a:t>
            </a:r>
            <a:r>
              <a:rPr sz="17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LLMs</a:t>
            </a:r>
            <a:r>
              <a:rPr sz="17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with</a:t>
            </a:r>
            <a:r>
              <a:rPr sz="17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symbolic</a:t>
            </a:r>
            <a:r>
              <a:rPr sz="17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reasoning</a:t>
            </a:r>
            <a:r>
              <a:rPr sz="17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and</a:t>
            </a:r>
            <a:r>
              <a:rPr sz="17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boto"/>
                <a:cs typeface="Roboto"/>
              </a:rPr>
              <a:t>apply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it</a:t>
            </a:r>
            <a:r>
              <a:rPr sz="17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to</a:t>
            </a:r>
            <a:r>
              <a:rPr sz="17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challenging</a:t>
            </a:r>
            <a:r>
              <a:rPr sz="17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dirty="0">
                <a:solidFill>
                  <a:srgbClr val="595959"/>
                </a:solidFill>
                <a:latin typeface="Roboto"/>
                <a:cs typeface="Roboto"/>
              </a:rPr>
              <a:t>reasoning</a:t>
            </a:r>
            <a:r>
              <a:rPr sz="17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boto"/>
                <a:cs typeface="Roboto"/>
              </a:rPr>
              <a:t>tasks.</a:t>
            </a:r>
            <a:endParaRPr sz="17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Course</a:t>
            </a:r>
            <a:r>
              <a:rPr spc="50" dirty="0"/>
              <a:t> </a:t>
            </a:r>
            <a:r>
              <a:rPr spc="-10" dirty="0"/>
              <a:t>Resources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684224"/>
            <a:ext cx="4407535" cy="1235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595959"/>
                </a:solidFill>
                <a:latin typeface="Roboto"/>
                <a:cs typeface="Roboto"/>
              </a:rPr>
              <a:t>Official</a:t>
            </a:r>
            <a:r>
              <a:rPr sz="1800" spc="-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Website:</a:t>
            </a:r>
            <a:r>
              <a:rPr sz="1800" spc="1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u="heavy" spc="-3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https://llm-</a:t>
            </a:r>
            <a:r>
              <a:rPr sz="18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class.github.io/</a:t>
            </a: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885"/>
              </a:spcBef>
            </a:pP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Also:</a:t>
            </a:r>
            <a:r>
              <a:rPr sz="18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Canvas,</a:t>
            </a:r>
            <a:r>
              <a:rPr sz="18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Gradescope,</a:t>
            </a:r>
            <a:r>
              <a:rPr sz="18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Ed</a:t>
            </a:r>
            <a:r>
              <a:rPr sz="18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Discussions.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Up</a:t>
            </a:r>
            <a:r>
              <a:rPr spc="30" dirty="0"/>
              <a:t> </a:t>
            </a:r>
            <a:r>
              <a:rPr dirty="0"/>
              <a:t>Next</a:t>
            </a:r>
            <a:r>
              <a:rPr spc="35" dirty="0"/>
              <a:t> </a:t>
            </a:r>
            <a:r>
              <a:rPr spc="-50" dirty="0"/>
              <a:t>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0621" y="1180796"/>
            <a:ext cx="7962900" cy="1962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 marR="224790" indent="-351790" algn="just">
              <a:lnSpc>
                <a:spcPct val="114999"/>
              </a:lnSpc>
              <a:spcBef>
                <a:spcPts val="100"/>
              </a:spcBef>
              <a:buFont typeface="Arial"/>
              <a:buChar char="●"/>
              <a:tabLst>
                <a:tab pos="363855" algn="l"/>
                <a:tab pos="365760" algn="l"/>
              </a:tabLst>
            </a:pP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	</a:t>
            </a:r>
            <a:r>
              <a:rPr sz="1600" b="1" dirty="0">
                <a:solidFill>
                  <a:srgbClr val="595959"/>
                </a:solidFill>
                <a:latin typeface="Roboto"/>
                <a:cs typeface="Roboto"/>
              </a:rPr>
              <a:t>Homework</a:t>
            </a:r>
            <a:r>
              <a:rPr sz="1600" b="1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b="1" dirty="0">
                <a:solidFill>
                  <a:srgbClr val="595959"/>
                </a:solidFill>
                <a:latin typeface="Roboto"/>
                <a:cs typeface="Roboto"/>
              </a:rPr>
              <a:t>0</a:t>
            </a:r>
            <a:r>
              <a:rPr sz="1600" b="1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“Exploring</a:t>
            </a:r>
            <a:r>
              <a:rPr sz="16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LLMs”</a:t>
            </a:r>
            <a:r>
              <a:rPr sz="16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is</a:t>
            </a:r>
            <a:r>
              <a:rPr sz="16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due</a:t>
            </a:r>
            <a:r>
              <a:rPr sz="16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on</a:t>
            </a:r>
            <a:r>
              <a:rPr sz="1600" spc="-1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b="1" dirty="0">
                <a:solidFill>
                  <a:srgbClr val="595959"/>
                </a:solidFill>
                <a:latin typeface="Roboto"/>
                <a:cs typeface="Roboto"/>
              </a:rPr>
              <a:t>Sunday</a:t>
            </a:r>
            <a:r>
              <a:rPr sz="1600" b="1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b="1" dirty="0">
                <a:solidFill>
                  <a:srgbClr val="595959"/>
                </a:solidFill>
                <a:latin typeface="Roboto"/>
                <a:cs typeface="Roboto"/>
              </a:rPr>
              <a:t>Sept</a:t>
            </a:r>
            <a:r>
              <a:rPr sz="1600" b="1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b="1" dirty="0">
                <a:solidFill>
                  <a:srgbClr val="595959"/>
                </a:solidFill>
                <a:latin typeface="Roboto"/>
                <a:cs typeface="Roboto"/>
              </a:rPr>
              <a:t>8</a:t>
            </a:r>
            <a:r>
              <a:rPr sz="1600" b="1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b="1" dirty="0">
                <a:solidFill>
                  <a:srgbClr val="595959"/>
                </a:solidFill>
                <a:latin typeface="Roboto"/>
                <a:cs typeface="Roboto"/>
              </a:rPr>
              <a:t>at</a:t>
            </a:r>
            <a:r>
              <a:rPr sz="1600" b="1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b="1" dirty="0">
                <a:solidFill>
                  <a:srgbClr val="595959"/>
                </a:solidFill>
                <a:latin typeface="Roboto"/>
                <a:cs typeface="Roboto"/>
              </a:rPr>
              <a:t>11:59</a:t>
            </a:r>
            <a:r>
              <a:rPr sz="1600" b="1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b="1" dirty="0">
                <a:solidFill>
                  <a:srgbClr val="595959"/>
                </a:solidFill>
                <a:latin typeface="Roboto"/>
                <a:cs typeface="Roboto"/>
              </a:rPr>
              <a:t>pm</a:t>
            </a:r>
            <a:r>
              <a:rPr sz="1600" b="1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b="1" dirty="0">
                <a:solidFill>
                  <a:srgbClr val="595959"/>
                </a:solidFill>
                <a:latin typeface="Roboto"/>
                <a:cs typeface="Roboto"/>
              </a:rPr>
              <a:t>ET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.</a:t>
            </a:r>
            <a:r>
              <a:rPr sz="16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Roboto"/>
                <a:cs typeface="Roboto"/>
              </a:rPr>
              <a:t>Available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via</a:t>
            </a:r>
            <a:r>
              <a:rPr sz="16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Canvas</a:t>
            </a:r>
            <a:r>
              <a:rPr sz="16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and</a:t>
            </a:r>
            <a:r>
              <a:rPr sz="1600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u="heavy" spc="-3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https://llm-</a:t>
            </a:r>
            <a:r>
              <a:rPr sz="16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class.github.io/homeworks.html</a:t>
            </a:r>
            <a:r>
              <a:rPr sz="1600" u="none" spc="-10" dirty="0">
                <a:solidFill>
                  <a:srgbClr val="595959"/>
                </a:solidFill>
                <a:latin typeface="Roboto"/>
                <a:cs typeface="Roboto"/>
              </a:rPr>
              <a:t>.</a:t>
            </a:r>
            <a:r>
              <a:rPr sz="1600" u="none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u="none" dirty="0">
                <a:solidFill>
                  <a:srgbClr val="595959"/>
                </a:solidFill>
                <a:latin typeface="Roboto"/>
                <a:cs typeface="Roboto"/>
              </a:rPr>
              <a:t>Late</a:t>
            </a:r>
            <a:r>
              <a:rPr sz="1600" u="none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u="none" spc="-10" dirty="0">
                <a:solidFill>
                  <a:srgbClr val="595959"/>
                </a:solidFill>
                <a:latin typeface="Roboto"/>
                <a:cs typeface="Roboto"/>
              </a:rPr>
              <a:t>submissions</a:t>
            </a:r>
            <a:r>
              <a:rPr sz="1600" u="none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u="none" spc="-20" dirty="0">
                <a:solidFill>
                  <a:srgbClr val="595959"/>
                </a:solidFill>
                <a:latin typeface="Roboto"/>
                <a:cs typeface="Roboto"/>
              </a:rPr>
              <a:t>will </a:t>
            </a:r>
            <a:r>
              <a:rPr sz="1600" u="none" dirty="0">
                <a:solidFill>
                  <a:srgbClr val="595959"/>
                </a:solidFill>
                <a:latin typeface="Roboto"/>
                <a:cs typeface="Roboto"/>
              </a:rPr>
              <a:t>not</a:t>
            </a:r>
            <a:r>
              <a:rPr sz="1600" u="none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u="none" dirty="0">
                <a:solidFill>
                  <a:srgbClr val="595959"/>
                </a:solidFill>
                <a:latin typeface="Roboto"/>
                <a:cs typeface="Roboto"/>
              </a:rPr>
              <a:t>be</a:t>
            </a:r>
            <a:r>
              <a:rPr sz="1600" u="none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u="none" spc="-10" dirty="0">
                <a:solidFill>
                  <a:srgbClr val="595959"/>
                </a:solidFill>
                <a:latin typeface="Roboto"/>
                <a:cs typeface="Roboto"/>
              </a:rPr>
              <a:t>accepted!</a:t>
            </a:r>
            <a:endParaRPr sz="1600">
              <a:latin typeface="Roboto"/>
              <a:cs typeface="Roboto"/>
            </a:endParaRPr>
          </a:p>
          <a:p>
            <a:pPr>
              <a:lnSpc>
                <a:spcPct val="100000"/>
              </a:lnSpc>
              <a:buClr>
                <a:srgbClr val="595959"/>
              </a:buClr>
              <a:buFont typeface="Arial"/>
              <a:buChar char="●"/>
            </a:pPr>
            <a:endParaRPr sz="16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365"/>
              </a:spcBef>
              <a:buClr>
                <a:srgbClr val="595959"/>
              </a:buClr>
              <a:buFont typeface="Arial"/>
              <a:buChar char="●"/>
            </a:pPr>
            <a:endParaRPr sz="1600">
              <a:latin typeface="Roboto"/>
              <a:cs typeface="Roboto"/>
            </a:endParaRPr>
          </a:p>
          <a:p>
            <a:pPr marL="363855" marR="5080" indent="-351790">
              <a:lnSpc>
                <a:spcPct val="114999"/>
              </a:lnSpc>
              <a:buFont typeface="Arial"/>
              <a:buChar char="●"/>
              <a:tabLst>
                <a:tab pos="363855" algn="l"/>
              </a:tabLst>
            </a:pPr>
            <a:r>
              <a:rPr sz="1600" b="1" dirty="0">
                <a:solidFill>
                  <a:srgbClr val="595959"/>
                </a:solidFill>
                <a:latin typeface="Roboto"/>
                <a:cs typeface="Roboto"/>
              </a:rPr>
              <a:t>Sept</a:t>
            </a:r>
            <a:r>
              <a:rPr sz="1600" b="1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b="1" dirty="0">
                <a:solidFill>
                  <a:srgbClr val="595959"/>
                </a:solidFill>
                <a:latin typeface="Roboto"/>
                <a:cs typeface="Roboto"/>
              </a:rPr>
              <a:t>4</a:t>
            </a:r>
            <a:r>
              <a:rPr sz="1600" b="1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Roboto"/>
                <a:cs typeface="Roboto"/>
              </a:rPr>
              <a:t>Lecture:</a:t>
            </a:r>
            <a:r>
              <a:rPr sz="16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Roboto"/>
                <a:cs typeface="Roboto"/>
              </a:rPr>
              <a:t>Background</a:t>
            </a:r>
            <a:r>
              <a:rPr sz="16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Roboto"/>
                <a:cs typeface="Roboto"/>
              </a:rPr>
              <a:t>(Language</a:t>
            </a:r>
            <a:r>
              <a:rPr sz="16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Roboto"/>
                <a:cs typeface="Roboto"/>
              </a:rPr>
              <a:t>Modeling;</a:t>
            </a:r>
            <a:r>
              <a:rPr sz="16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Roboto"/>
                <a:cs typeface="Roboto"/>
              </a:rPr>
              <a:t>Perplexity</a:t>
            </a:r>
            <a:r>
              <a:rPr sz="16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Roboto"/>
                <a:cs typeface="Roboto"/>
              </a:rPr>
              <a:t>Evaluation;</a:t>
            </a:r>
            <a:r>
              <a:rPr sz="16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Roboto"/>
                <a:cs typeface="Roboto"/>
              </a:rPr>
              <a:t>Feedforward Networks).</a:t>
            </a:r>
            <a:endParaRPr sz="16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3918</Words>
  <Application>Microsoft Office PowerPoint</Application>
  <PresentationFormat>全屏显示(16:9)</PresentationFormat>
  <Paragraphs>464</Paragraphs>
  <Slides>64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64</vt:i4>
      </vt:variant>
    </vt:vector>
  </HeadingPairs>
  <TitlesOfParts>
    <vt:vector size="74" baseType="lpstr">
      <vt:lpstr>Gill Sans</vt:lpstr>
      <vt:lpstr>MS PGothic</vt:lpstr>
      <vt:lpstr>Arial</vt:lpstr>
      <vt:lpstr>Calibri</vt:lpstr>
      <vt:lpstr>Courier New</vt:lpstr>
      <vt:lpstr>Montserrat</vt:lpstr>
      <vt:lpstr>Roboto</vt:lpstr>
      <vt:lpstr>Roboto Condensed Light</vt:lpstr>
      <vt:lpstr>Times New Roman</vt:lpstr>
      <vt:lpstr>Office Theme</vt:lpstr>
      <vt:lpstr>PowerPoint 演示文稿</vt:lpstr>
      <vt:lpstr>Today’s Agenda</vt:lpstr>
      <vt:lpstr>The Imitation Game (aka The Turing Test)</vt:lpstr>
      <vt:lpstr>Eras of Language Modeling</vt:lpstr>
      <vt:lpstr>ELIZA (1966)</vt:lpstr>
      <vt:lpstr>Has AI Passed The Turing Test?</vt:lpstr>
      <vt:lpstr>A Social Turing Game</vt:lpstr>
      <vt:lpstr>Has AI Passed The Turing Test?</vt:lpstr>
      <vt:lpstr>Overview of LLMs</vt:lpstr>
      <vt:lpstr>How Do LLMs Work</vt:lpstr>
      <vt:lpstr>Let’s Take a History Tour!</vt:lpstr>
      <vt:lpstr>Linguistic Foundations</vt:lpstr>
      <vt:lpstr>Linguistic Foundations</vt:lpstr>
      <vt:lpstr>Word Embeddings</vt:lpstr>
      <vt:lpstr>Seq2Seq Models</vt:lpstr>
      <vt:lpstr>Self-Attention and Transformers</vt:lpstr>
      <vt:lpstr>Pre-Training: Data Preparation</vt:lpstr>
      <vt:lpstr>Pre-Training Data Quality Reduces Reliance on Compute</vt:lpstr>
      <vt:lpstr>Pre-Training: Parallelism</vt:lpstr>
      <vt:lpstr>Pre-Training: Parallelism</vt:lpstr>
      <vt:lpstr>Pre-Training: Scaling Laws</vt:lpstr>
      <vt:lpstr>Post-Training: Instruction-Tuning and Alignment</vt:lpstr>
      <vt:lpstr>Evaluation</vt:lpstr>
      <vt:lpstr>How Do LLMs Work: Key Topics</vt:lpstr>
      <vt:lpstr>What LLMs Can Do</vt:lpstr>
      <vt:lpstr>Evolution of LMs from Perspective of Task-Solving Capacity</vt:lpstr>
      <vt:lpstr>Few-Shot Prompting</vt:lpstr>
      <vt:lpstr>Chain-of-Thought Prompting</vt:lpstr>
      <vt:lpstr>CoT as an Emergent Property of Model Scale</vt:lpstr>
      <vt:lpstr>From Prompting to Fine-Tuning</vt:lpstr>
      <vt:lpstr>Case Study in Law: Harvey AI</vt:lpstr>
      <vt:lpstr>Case Study in Law: Harvey AI</vt:lpstr>
      <vt:lpstr>Parameter Efficient Fine-Tuning (PEFT)</vt:lpstr>
      <vt:lpstr>Design Spaces and The CLAM Framework</vt:lpstr>
      <vt:lpstr>What LLMs Can Do: Key Topics</vt:lpstr>
      <vt:lpstr>Limitations of LLMs</vt:lpstr>
      <vt:lpstr>Unreliable Reasoning Even On Simple Tasks</vt:lpstr>
      <vt:lpstr>Jailbreaking Can Bypass Safety</vt:lpstr>
      <vt:lpstr>Long Contexts Can Hurt Accuracy</vt:lpstr>
      <vt:lpstr>Limitations of LLMs: Key Topics</vt:lpstr>
      <vt:lpstr>What Is The Future</vt:lpstr>
      <vt:lpstr>Synthetic Data / Distillation</vt:lpstr>
      <vt:lpstr>Risks from Synthetic Data</vt:lpstr>
      <vt:lpstr>Quantization</vt:lpstr>
      <vt:lpstr>Interpretability / Representation Engineering</vt:lpstr>
      <vt:lpstr>Beyond Text: Robotics, Simulations, Physical Tasks</vt:lpstr>
      <vt:lpstr>Beyond Text: Video Generation</vt:lpstr>
      <vt:lpstr>Retrieval-Augmented Generation (RAG)</vt:lpstr>
      <vt:lpstr>Example: Retrieval Step of RAG</vt:lpstr>
      <vt:lpstr>Example: Generation Step of RAG</vt:lpstr>
      <vt:lpstr>Example: Without RAG</vt:lpstr>
      <vt:lpstr>Retrieval-Augmented Generation (RAG)</vt:lpstr>
      <vt:lpstr>Two Modes of Human Thought</vt:lpstr>
      <vt:lpstr>Neurosymbolic To Combine Both Worlds</vt:lpstr>
      <vt:lpstr>Example: Extracting Knowledge Using GPT</vt:lpstr>
      <vt:lpstr>Example: Classifying Images Using CLIP</vt:lpstr>
      <vt:lpstr>What Is The Future: Key Topics</vt:lpstr>
      <vt:lpstr>Course Overview and Pre-requisites</vt:lpstr>
      <vt:lpstr>Scope of Course</vt:lpstr>
      <vt:lpstr>Learning Objectives</vt:lpstr>
      <vt:lpstr>Course Activities</vt:lpstr>
      <vt:lpstr>Homeworks</vt:lpstr>
      <vt:lpstr>Course Resources</vt:lpstr>
      <vt:lpstr>Up Next 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1 - Introduction and Course Overview</dc:title>
  <dc:creator>Dell</dc:creator>
  <cp:lastModifiedBy>Yeh-Ching Chung</cp:lastModifiedBy>
  <cp:revision>1</cp:revision>
  <dcterms:created xsi:type="dcterms:W3CDTF">2026-09-27T04:43:36Z</dcterms:created>
  <dcterms:modified xsi:type="dcterms:W3CDTF">2026-09-27T04:46:39Z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2026-09-27T00:00:00Z</vt:filetime>
  </property>
  <property fmtid="{D5CDD505-2E9C-101B-9397-08002B2CF9AE}" pid="4" name="Creator">
    <vt:lpwstr>Google</vt:lpwstr>
  </property>
  <property fmtid="{D5CDD505-2E9C-101B-9397-08002B2CF9AE}" pid="5" name="LastSaved">
    <vt:filetime>2026-09-27T00:00:00Z</vt:filetime>
  </property>
</Properties>
</file>