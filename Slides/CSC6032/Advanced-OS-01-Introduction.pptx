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media/image4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handoutMasterIdLst>
    <p:handoutMasterId r:id="rId33"/>
  </p:handoutMasterIdLst>
  <p:sldIdLst>
    <p:sldId id="256" r:id="rId2"/>
    <p:sldId id="352" r:id="rId3"/>
    <p:sldId id="354" r:id="rId4"/>
    <p:sldId id="353" r:id="rId5"/>
    <p:sldId id="355" r:id="rId6"/>
    <p:sldId id="356" r:id="rId7"/>
    <p:sldId id="357" r:id="rId8"/>
    <p:sldId id="358" r:id="rId9"/>
    <p:sldId id="359" r:id="rId10"/>
    <p:sldId id="360" r:id="rId11"/>
    <p:sldId id="362" r:id="rId12"/>
    <p:sldId id="361" r:id="rId13"/>
    <p:sldId id="363" r:id="rId14"/>
    <p:sldId id="364" r:id="rId15"/>
    <p:sldId id="365" r:id="rId16"/>
    <p:sldId id="366" r:id="rId17"/>
    <p:sldId id="367" r:id="rId18"/>
    <p:sldId id="368" r:id="rId19"/>
    <p:sldId id="369" r:id="rId20"/>
    <p:sldId id="370" r:id="rId21"/>
    <p:sldId id="371" r:id="rId22"/>
    <p:sldId id="372" r:id="rId23"/>
    <p:sldId id="373" r:id="rId24"/>
    <p:sldId id="374" r:id="rId25"/>
    <p:sldId id="376" r:id="rId26"/>
    <p:sldId id="375" r:id="rId27"/>
    <p:sldId id="377" r:id="rId28"/>
    <p:sldId id="378" r:id="rId29"/>
    <p:sldId id="379" r:id="rId30"/>
    <p:sldId id="380" r:id="rId31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041" autoAdjust="0"/>
  </p:normalViewPr>
  <p:slideViewPr>
    <p:cSldViewPr snapToGrid="0">
      <p:cViewPr>
        <p:scale>
          <a:sx n="75" d="100"/>
          <a:sy n="75" d="100"/>
        </p:scale>
        <p:origin x="1044" y="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1772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2024/9/4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2024/9/4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68182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6032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Advanced Operating Systems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38FD544-910C-1AA1-D57E-4092749880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8029" y="818147"/>
            <a:ext cx="7272951" cy="2608634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</a:t>
            </a:r>
            <a:r>
              <a:rPr lang="en-US" altLang="zh-CN" sz="2400" spc="-109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Networked</a:t>
            </a:r>
            <a:r>
              <a:rPr lang="en-US" altLang="zh-CN" sz="2400" spc="-98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</a:t>
            </a:r>
            <a:r>
              <a:rPr lang="en-US" altLang="zh-CN" sz="2400" spc="-9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altLang="zh-CN" sz="2400" spc="-10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</a:t>
            </a:r>
            <a:r>
              <a:rPr lang="en-US" altLang="zh-CN" sz="2400" spc="-10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400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</a:t>
            </a:r>
            <a:r>
              <a:rPr lang="en-US" altLang="zh-CN" sz="2400" spc="-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Trends </a:t>
            </a:r>
          </a:p>
        </p:txBody>
      </p:sp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4089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2037" y="810327"/>
            <a:ext cx="7683653" cy="3208497"/>
          </a:xfrm>
        </p:spPr>
        <p:txBody>
          <a:bodyPr>
            <a:noAutofit/>
          </a:bodyPr>
          <a:lstStyle/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operating system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resource manager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an abstract computing interface</a:t>
            </a:r>
          </a:p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arbitrates resource usage between processes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CPU, memory, file system, network, keyboard, mouse, monitor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hardware</a:t>
            </a:r>
          </a:p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makes it possible to have multiple processes in the same system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2 processes ask for use of same resource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decides who gets it, when, and how much</a:t>
            </a:r>
            <a:endParaRPr lang="en-US" altLang="zh-CN" sz="1800" spc="-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 bwMode="auto">
          <a:xfrm>
            <a:off x="924662" y="90593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3386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895149" y="99911"/>
            <a:ext cx="7809417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</a:t>
            </a:r>
            <a:r>
              <a:rPr lang="en-US" altLang="zh-CN" spc="-86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  <p:pic>
        <p:nvPicPr>
          <p:cNvPr id="7" name="object 3">
            <a:extLst>
              <a:ext uri="{FF2B5EF4-FFF2-40B4-BE49-F238E27FC236}">
                <a16:creationId xmlns:a16="http://schemas.microsoft.com/office/drawing/2014/main" id="{B7171187-22D2-2AB3-2270-92892344D4D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87617" y="1269380"/>
            <a:ext cx="5168766" cy="326903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51E426-FFE3-E509-0C24-DCDA246093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029" y="818148"/>
            <a:ext cx="7272951" cy="45123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OS system overview</a:t>
            </a:r>
            <a:endParaRPr lang="en-US" altLang="zh-CN" sz="2000" spc="-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4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1927" y="808523"/>
            <a:ext cx="7336619" cy="3830854"/>
          </a:xfrm>
        </p:spPr>
        <p:txBody>
          <a:bodyPr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altLang="zh-CN" sz="22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OS handles different resources</a:t>
            </a:r>
          </a:p>
          <a:p>
            <a:pPr lvl="1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</a:p>
          <a:p>
            <a:pPr lvl="2">
              <a:spcBef>
                <a:spcPts val="0"/>
              </a:spcBef>
            </a:pP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process is given a different part of memory to use, they cannot access other’s memory</a:t>
            </a:r>
          </a:p>
          <a:p>
            <a:pPr lvl="2">
              <a:spcBef>
                <a:spcPts val="0"/>
              </a:spcBef>
            </a:pP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 needs more memory, OS will allocate from unallocated memory store</a:t>
            </a:r>
          </a:p>
          <a:p>
            <a:pPr lvl="1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2">
              <a:spcBef>
                <a:spcPts val="0"/>
              </a:spcBef>
            </a:pP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checks that process has rights to read/write the file Makes sure that 2 processes are not writing the same file</a:t>
            </a:r>
          </a:p>
          <a:p>
            <a:pPr lvl="1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</a:p>
          <a:p>
            <a:pPr lvl="2">
              <a:spcBef>
                <a:spcPts val="0"/>
              </a:spcBef>
            </a:pP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receives messages from processes, sends them to network card one at a time. </a:t>
            </a:r>
          </a:p>
          <a:p>
            <a:pPr lvl="2">
              <a:spcBef>
                <a:spcPts val="0"/>
              </a:spcBef>
            </a:pP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messages are received, OS delivers to suitable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processes</a:t>
            </a:r>
            <a:endParaRPr lang="en-US" altLang="zh-CN" sz="1800" spc="-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 bwMode="auto">
          <a:xfrm>
            <a:off x="924662" y="90593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 (3)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3119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Memory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DABF018-0654-22B4-2142-C29F206F44E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-20000" contrast="40000"/>
          </a:blip>
          <a:stretch>
            <a:fillRect/>
          </a:stretch>
        </p:blipFill>
        <p:spPr>
          <a:xfrm>
            <a:off x="1445342" y="824041"/>
            <a:ext cx="6253316" cy="372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39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Kernel/User Mode Operation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FCE66DA-5728-7316-448C-80F2B1A5BF4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contrast="20000"/>
          </a:blip>
          <a:stretch>
            <a:fillRect/>
          </a:stretch>
        </p:blipFill>
        <p:spPr>
          <a:xfrm>
            <a:off x="1032387" y="1509866"/>
            <a:ext cx="7079226" cy="212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2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5407" y="845039"/>
            <a:ext cx="7202501" cy="3043567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makes processes </a:t>
            </a:r>
            <a:r>
              <a:rPr lang="en-US" altLang="zh-CN" sz="2000" b="0" i="1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oblivious </a:t>
            </a: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environment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does not know details of hardware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does not know about other processes (unless they communicate with each-other)</a:t>
            </a:r>
          </a:p>
        </p:txBody>
      </p:sp>
    </p:spTree>
    <p:extLst>
      <p:ext uri="{BB962C8B-B14F-4D97-AF65-F5344CB8AC3E}">
        <p14:creationId xmlns:p14="http://schemas.microsoft.com/office/powerpoint/2010/main" val="487272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Threads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/>
          </a:p>
        </p:txBody>
      </p:sp>
      <p:pic>
        <p:nvPicPr>
          <p:cNvPr id="7" name="内容占位符 6">
            <a:extLst>
              <a:ext uri="{FF2B5EF4-FFF2-40B4-BE49-F238E27FC236}">
                <a16:creationId xmlns:a16="http://schemas.microsoft.com/office/drawing/2014/main" id="{C75CEA1E-70D7-F713-9170-6768469D9B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lum bright="20000"/>
          </a:blip>
          <a:stretch>
            <a:fillRect/>
          </a:stretch>
        </p:blipFill>
        <p:spPr>
          <a:xfrm>
            <a:off x="1567728" y="844550"/>
            <a:ext cx="6008544" cy="3671888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77AE204-4A7D-A0B0-74B9-6409AF068DA1}"/>
              </a:ext>
            </a:extLst>
          </p:cNvPr>
          <p:cNvSpPr txBox="1">
            <a:spLocks/>
          </p:cNvSpPr>
          <p:nvPr/>
        </p:nvSpPr>
        <p:spPr bwMode="auto">
          <a:xfrm>
            <a:off x="1496472" y="1461695"/>
            <a:ext cx="765035" cy="367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sz="20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AAAF259-1D5C-2FE0-D742-8B5147B3A593}"/>
              </a:ext>
            </a:extLst>
          </p:cNvPr>
          <p:cNvSpPr txBox="1">
            <a:spLocks/>
          </p:cNvSpPr>
          <p:nvPr/>
        </p:nvSpPr>
        <p:spPr bwMode="auto">
          <a:xfrm>
            <a:off x="1428436" y="4047052"/>
            <a:ext cx="833071" cy="367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sz="20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MISD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3185EC-A40E-C555-B1E2-C56AD1BC9155}"/>
              </a:ext>
            </a:extLst>
          </p:cNvPr>
          <p:cNvSpPr txBox="1">
            <a:spLocks/>
          </p:cNvSpPr>
          <p:nvPr/>
        </p:nvSpPr>
        <p:spPr bwMode="auto">
          <a:xfrm>
            <a:off x="7132778" y="1548781"/>
            <a:ext cx="851893" cy="367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sz="20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SIMD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074D03F-F569-BD67-CFEF-7F5EE787D278}"/>
              </a:ext>
            </a:extLst>
          </p:cNvPr>
          <p:cNvSpPr txBox="1">
            <a:spLocks/>
          </p:cNvSpPr>
          <p:nvPr/>
        </p:nvSpPr>
        <p:spPr bwMode="auto">
          <a:xfrm>
            <a:off x="7193754" y="4047052"/>
            <a:ext cx="946039" cy="367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sz="20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MIMD</a:t>
            </a:r>
          </a:p>
        </p:txBody>
      </p:sp>
    </p:spTree>
    <p:extLst>
      <p:ext uri="{BB962C8B-B14F-4D97-AF65-F5344CB8AC3E}">
        <p14:creationId xmlns:p14="http://schemas.microsoft.com/office/powerpoint/2010/main" val="169352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of Threads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5408" y="845039"/>
            <a:ext cx="6914860" cy="3447561"/>
          </a:xfrm>
        </p:spPr>
        <p:txBody>
          <a:bodyPr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Responsiveness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zh-CN" sz="16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ven if part of program is blocked or performing lengthy operation multithreading allow a program to continue.</a:t>
            </a:r>
          </a:p>
          <a:p>
            <a:pPr algn="l">
              <a:spcBef>
                <a:spcPts val="0"/>
              </a:spcBef>
            </a:pPr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Resource Sharing</a:t>
            </a:r>
          </a:p>
          <a:p>
            <a:pPr lvl="1">
              <a:spcBef>
                <a:spcPts val="0"/>
              </a:spcBef>
            </a:pP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hreads share the memory &amp; resources of the process within the same address space.</a:t>
            </a:r>
          </a:p>
          <a:p>
            <a:pPr algn="l">
              <a:spcBef>
                <a:spcPts val="0"/>
              </a:spcBef>
            </a:pPr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Economy</a:t>
            </a:r>
          </a:p>
          <a:p>
            <a:pPr lvl="1">
              <a:spcBef>
                <a:spcPts val="0"/>
              </a:spcBef>
            </a:pPr>
            <a:r>
              <a:rPr lang="en-US" altLang="zh-CN" sz="16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Allocating memory &amp; resources for process creation is costly. Threads share resources of the process to which it belongs. Create and context switch threads is more economical.</a:t>
            </a:r>
          </a:p>
          <a:p>
            <a:pPr algn="l">
              <a:spcBef>
                <a:spcPts val="0"/>
              </a:spcBef>
            </a:pPr>
            <a:r>
              <a:rPr lang="en-US" altLang="zh-CN" sz="200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Utilisation</a:t>
            </a:r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multicore Architectures</a:t>
            </a:r>
          </a:p>
          <a:p>
            <a:pPr lvl="1">
              <a:spcBef>
                <a:spcPts val="0"/>
              </a:spcBef>
            </a:pPr>
            <a:r>
              <a:rPr lang="en-US" altLang="zh-CN" sz="16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multicore system, threads running in parallel on different cores.</a:t>
            </a:r>
          </a:p>
        </p:txBody>
      </p:sp>
    </p:spTree>
    <p:extLst>
      <p:ext uri="{BB962C8B-B14F-4D97-AF65-F5344CB8AC3E}">
        <p14:creationId xmlns:p14="http://schemas.microsoft.com/office/powerpoint/2010/main" val="28889960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Networked OS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037" y="823769"/>
            <a:ext cx="7261911" cy="3655097"/>
          </a:xfrm>
        </p:spPr>
        <p:txBody>
          <a:bodyPr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networked OS is aware that it is connected to the network</a:t>
            </a: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node has an OS running</a:t>
            </a: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node manages the resources at that node</a:t>
            </a: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can request communication to processes in other nodes</a:t>
            </a:r>
          </a:p>
          <a:p>
            <a:pPr lvl="1">
              <a:spcBef>
                <a:spcPts val="0"/>
              </a:spcBef>
            </a:pP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to be explicitly aware that it is requesting service at </a:t>
            </a:r>
            <a:r>
              <a:rPr lang="en-US" altLang="zh-CN" sz="16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node</a:t>
            </a:r>
          </a:p>
          <a:p>
            <a:pPr lvl="1">
              <a:spcBef>
                <a:spcPts val="0"/>
              </a:spcBef>
            </a:pP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which node it is requesting (</a:t>
            </a:r>
            <a:r>
              <a:rPr lang="en-US" altLang="zh-CN" sz="16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eg.</a:t>
            </a: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I.P. address)</a:t>
            </a:r>
          </a:p>
          <a:p>
            <a:pPr lvl="1">
              <a:spcBef>
                <a:spcPts val="0"/>
              </a:spcBef>
            </a:pP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it also has to know which services/resources are </a:t>
            </a:r>
            <a:r>
              <a:rPr lang="en-US" altLang="zh-CN" sz="16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aailable</a:t>
            </a: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the </a:t>
            </a:r>
            <a:r>
              <a:rPr lang="en-US" altLang="zh-CN" sz="16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netwok</a:t>
            </a:r>
            <a:endParaRPr lang="en-US" altLang="zh-CN" sz="1600" b="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cannot request resources in control of a different computer</a:t>
            </a: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to communicate with a process on that computer and request it to do the job</a:t>
            </a: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computing has to be done explicitly</a:t>
            </a:r>
          </a:p>
        </p:txBody>
      </p:sp>
    </p:spTree>
    <p:extLst>
      <p:ext uri="{BB962C8B-B14F-4D97-AF65-F5344CB8AC3E}">
        <p14:creationId xmlns:p14="http://schemas.microsoft.com/office/powerpoint/2010/main" val="3570757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Networked OS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CAD39D6-77F0-5DA5-0E2F-9A490191A87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contrast="20000"/>
          </a:blip>
          <a:stretch>
            <a:fillRect/>
          </a:stretch>
        </p:blipFill>
        <p:spPr>
          <a:xfrm>
            <a:off x="2406160" y="813910"/>
            <a:ext cx="4196771" cy="377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965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038" y="842014"/>
            <a:ext cx="7683652" cy="3479729"/>
          </a:xfrm>
        </p:spPr>
        <p:txBody>
          <a:bodyPr>
            <a:noAutofit/>
          </a:bodyPr>
          <a:lstStyle/>
          <a:p>
            <a:pPr algn="l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OSes running on the different computers act like a single OS</a:t>
            </a:r>
          </a:p>
          <a:p>
            <a:pPr algn="l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does not get to know (or need to know) that other resources/processes are at other computers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gets input/output from hardware X, which can be on any computer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A communicates with process B the same way whether they are on same computer or not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takes care of using the network if needed</a:t>
            </a:r>
          </a:p>
          <a:p>
            <a:pPr lvl="2"/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may be running on a different computer from where it was started. Processes can be moved among different computers</a:t>
            </a:r>
          </a:p>
          <a:p>
            <a:pPr lvl="2"/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“distributed” nature of the system is hidden from the processes</a:t>
            </a:r>
          </a:p>
          <a:p>
            <a:pPr lvl="2"/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 manages all the “distributed” aspects</a:t>
            </a:r>
          </a:p>
        </p:txBody>
      </p:sp>
    </p:spTree>
    <p:extLst>
      <p:ext uri="{BB962C8B-B14F-4D97-AF65-F5344CB8AC3E}">
        <p14:creationId xmlns:p14="http://schemas.microsoft.com/office/powerpoint/2010/main" val="2119931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/>
          </a:p>
        </p:txBody>
      </p:sp>
      <p:pic>
        <p:nvPicPr>
          <p:cNvPr id="7" name="内容占位符 6">
            <a:extLst>
              <a:ext uri="{FF2B5EF4-FFF2-40B4-BE49-F238E27FC236}">
                <a16:creationId xmlns:a16="http://schemas.microsoft.com/office/drawing/2014/main" id="{F008B0F6-F19A-240A-87CE-1DE4C1F85C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biLevel thresh="75000"/>
          </a:blip>
          <a:srcRect b="16836"/>
          <a:stretch/>
        </p:blipFill>
        <p:spPr>
          <a:xfrm>
            <a:off x="2000878" y="931177"/>
            <a:ext cx="5417837" cy="3534945"/>
          </a:xfrm>
        </p:spPr>
      </p:pic>
    </p:spTree>
    <p:extLst>
      <p:ext uri="{BB962C8B-B14F-4D97-AF65-F5344CB8AC3E}">
        <p14:creationId xmlns:p14="http://schemas.microsoft.com/office/powerpoint/2010/main" val="16446166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(3)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1576B63B-8BD5-D536-DC0E-287437CC71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biLevel thresh="75000"/>
          </a:blip>
          <a:srcRect b="19302"/>
          <a:stretch/>
        </p:blipFill>
        <p:spPr>
          <a:xfrm>
            <a:off x="1563225" y="981355"/>
            <a:ext cx="6489079" cy="3494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56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(4)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7654" y="842014"/>
            <a:ext cx="7588035" cy="2062053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interface to all resources in the network 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Regular program can be made to run in a distributed fashion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program applications that make use of networked resources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is it?</a:t>
            </a:r>
          </a:p>
        </p:txBody>
      </p:sp>
    </p:spTree>
    <p:extLst>
      <p:ext uri="{BB962C8B-B14F-4D97-AF65-F5344CB8AC3E}">
        <p14:creationId xmlns:p14="http://schemas.microsoft.com/office/powerpoint/2010/main" val="605995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 with Distributed OS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038" y="803455"/>
            <a:ext cx="7488455" cy="3248723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happens if part of the network fails and processes are separated into 2 sets?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 we have to tell processes that the network has failed, and process has to take action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if some OS-processes were moved elsewhere?</a:t>
            </a:r>
          </a:p>
          <a:p>
            <a:pPr lvl="2"/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Suppose we start processes A and B on the same computer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moves them to different computers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A and B communicate a lot, so it would have been efficient to have them on the same computer!</a:t>
            </a:r>
          </a:p>
        </p:txBody>
      </p:sp>
    </p:spTree>
    <p:extLst>
      <p:ext uri="{BB962C8B-B14F-4D97-AF65-F5344CB8AC3E}">
        <p14:creationId xmlns:p14="http://schemas.microsoft.com/office/powerpoint/2010/main" val="3121649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 with Distributed OS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11622"/>
            <a:ext cx="7180446" cy="2834836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 to offsite resources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to be through explicit network connection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computers in the world cannot be in same system!</a:t>
            </a:r>
          </a:p>
          <a:p>
            <a:pPr lvl="2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new nodes to a distributed computing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part of a different instance of the OS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will still need explicit connections</a:t>
            </a:r>
          </a:p>
          <a:p>
            <a:pPr lvl="2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does not help a lot with distributed computing</a:t>
            </a:r>
          </a:p>
        </p:txBody>
      </p:sp>
    </p:spTree>
    <p:extLst>
      <p:ext uri="{BB962C8B-B14F-4D97-AF65-F5344CB8AC3E}">
        <p14:creationId xmlns:p14="http://schemas.microsoft.com/office/powerpoint/2010/main" val="216835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 with Distributed OS (3)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029" y="812633"/>
            <a:ext cx="7180446" cy="3691485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network/computer failure means part of the OS failed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design OS with tolerance to such failures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has to allow for lots of different possibilities in distributed computing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Harder to design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fact, it is not possible to allow for all different possibilities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“Distributed computing” means different things in different cases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to let the application programmer decide how it will be distributed, and how to handle communication, failure etc.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provides only the basic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3456470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Networked OS vs Distributed OS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03154"/>
            <a:ext cx="7180446" cy="2803643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a result, we do not have any distributed OS in regular use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Networked OS are popular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communication facilities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Let software decide how they want to execute distributed computation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flexibility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 etc. are application’s responsibility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continues to do basic tasks</a:t>
            </a:r>
          </a:p>
        </p:txBody>
      </p:sp>
    </p:spTree>
    <p:extLst>
      <p:ext uri="{BB962C8B-B14F-4D97-AF65-F5344CB8AC3E}">
        <p14:creationId xmlns:p14="http://schemas.microsoft.com/office/powerpoint/2010/main" val="4279831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889000" y="108349"/>
            <a:ext cx="778669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sz="3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Computation and Networked OS</a:t>
            </a:r>
            <a:endParaRPr lang="en-US" sz="3000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734" y="811622"/>
            <a:ext cx="7180446" cy="348935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distributed algorithms at the application layer for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Synchronization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Consistent ordering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Mutual Exclusion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Leader election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 detection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Etc..</a:t>
            </a:r>
          </a:p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design distributed computing applications </a:t>
            </a:r>
          </a:p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applications will need different sets of features</a:t>
            </a:r>
          </a:p>
        </p:txBody>
      </p:sp>
    </p:spTree>
    <p:extLst>
      <p:ext uri="{BB962C8B-B14F-4D97-AF65-F5344CB8AC3E}">
        <p14:creationId xmlns:p14="http://schemas.microsoft.com/office/powerpoint/2010/main" val="10662323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A435490-06BD-4B35-00DC-D909B04C515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contrast="40000"/>
          </a:blip>
          <a:stretch>
            <a:fillRect/>
          </a:stretch>
        </p:blipFill>
        <p:spPr>
          <a:xfrm>
            <a:off x="2464066" y="822048"/>
            <a:ext cx="3957046" cy="372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7696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70891"/>
            <a:ext cx="7180446" cy="348935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operating system instances to run concurrently within virtual machines on a single computer, dynamically partitioning and sharing the available physical resources such as CPU, storage, memory and I/O devices</a:t>
            </a:r>
          </a:p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or a hypervisor architecture.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architecture installs and runs the virtualization layer as an application on top of an operating system contrast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Hypervisor (bare-metal) architecture installs the virtualization layer directly on a clean x86-based system.</a:t>
            </a:r>
          </a:p>
          <a:p>
            <a:pPr lvl="2"/>
            <a:r>
              <a:rPr lang="en-US" altLang="zh-CN" sz="16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 hardware access: more efficient, greater scalability, robustness and performance</a:t>
            </a:r>
          </a:p>
        </p:txBody>
      </p:sp>
    </p:spTree>
    <p:extLst>
      <p:ext uri="{BB962C8B-B14F-4D97-AF65-F5344CB8AC3E}">
        <p14:creationId xmlns:p14="http://schemas.microsoft.com/office/powerpoint/2010/main" val="1543371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(3)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70891"/>
            <a:ext cx="7180446" cy="348935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Sandboxing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Backup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Fault-tolerance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Migration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Consolidation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en-US" altLang="zh-CN" sz="200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01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89208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sz="32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&amp; Distributed Computing (1)</a:t>
            </a:r>
            <a:endParaRPr lang="en-US" sz="3200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70891"/>
            <a:ext cx="7199697" cy="2343947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 a server farm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different servers are running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giving a physical server to each, many server farms consist of real servers running virtual machines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example, renting a server to host a web site is likely to give you a VM based serve</a:t>
            </a:r>
            <a:endParaRPr lang="en-US" altLang="zh-CN" sz="180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1848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798897" y="108349"/>
            <a:ext cx="8268101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sz="32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&amp; Distributed Computing (2)</a:t>
            </a:r>
            <a:endParaRPr lang="en-US" sz="3200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70891"/>
            <a:ext cx="7199697" cy="322493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Advantages: more flexibility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VMs on same computer</a:t>
            </a:r>
          </a:p>
          <a:p>
            <a:pPr lvl="2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fewer physical machines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turn on/off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backup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VMs can be moved from one computer to another while preserving state</a:t>
            </a:r>
          </a:p>
          <a:p>
            <a:pPr lvl="2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when the work load changes, some servers need more computation, others need less..</a:t>
            </a:r>
          </a:p>
        </p:txBody>
      </p:sp>
    </p:spTree>
    <p:extLst>
      <p:ext uri="{BB962C8B-B14F-4D97-AF65-F5344CB8AC3E}">
        <p14:creationId xmlns:p14="http://schemas.microsoft.com/office/powerpoint/2010/main" val="31294072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798897" y="108349"/>
            <a:ext cx="8268101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sz="32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&amp; Distributed Computing (3)</a:t>
            </a:r>
            <a:endParaRPr lang="en-US" sz="3200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70891"/>
            <a:ext cx="7199697" cy="322493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</a:t>
            </a:r>
            <a:r>
              <a:rPr lang="en-US" altLang="zh-CN" sz="2000" b="0" i="1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</a:t>
            </a: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good strategy for CPU intensive computation such a large data mining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Because running a large computation in a virtual machine is inefficient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many systems need computation running all the time, but not so intensively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is most useful when flexibility is critical</a:t>
            </a:r>
          </a:p>
        </p:txBody>
      </p:sp>
    </p:spTree>
    <p:extLst>
      <p:ext uri="{BB962C8B-B14F-4D97-AF65-F5344CB8AC3E}">
        <p14:creationId xmlns:p14="http://schemas.microsoft.com/office/powerpoint/2010/main" val="10932566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798897" y="108349"/>
            <a:ext cx="8268101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Trends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2528" y="813141"/>
            <a:ext cx="7199697" cy="322493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Heavily contested area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Adaptation to mobility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Harder to network when moving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Adaptation to low energy system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style of user interaction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better synchronization across multiple mobile user devices</a:t>
            </a:r>
          </a:p>
        </p:txBody>
      </p:sp>
    </p:spTree>
    <p:extLst>
      <p:ext uri="{BB962C8B-B14F-4D97-AF65-F5344CB8AC3E}">
        <p14:creationId xmlns:p14="http://schemas.microsoft.com/office/powerpoint/2010/main" val="40112526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798897" y="108349"/>
            <a:ext cx="8268101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Trends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2528" y="813141"/>
            <a:ext cx="7199697" cy="322493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Sensors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sensor networks</a:t>
            </a:r>
          </a:p>
          <a:p>
            <a:pPr lvl="1"/>
            <a:r>
              <a:rPr lang="en-US" altLang="zh-CN" sz="18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TinyOS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8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LiteOS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Contiki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Small, low power sensor devices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efficient operation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specialization to process and handle sensor data and related operations in place of application interface</a:t>
            </a:r>
          </a:p>
        </p:txBody>
      </p:sp>
    </p:spTree>
    <p:extLst>
      <p:ext uri="{BB962C8B-B14F-4D97-AF65-F5344CB8AC3E}">
        <p14:creationId xmlns:p14="http://schemas.microsoft.com/office/powerpoint/2010/main" val="33223689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798897" y="108349"/>
            <a:ext cx="8268101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Trends (3)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2528" y="842016"/>
            <a:ext cx="7199697" cy="322493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Embedded Systems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Computers all around us, in every device/machine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OS and Distributed Computing, since they need to communicate with each-other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Adaptation to low power, low resource environment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to run without supervision/interaction</a:t>
            </a:r>
          </a:p>
        </p:txBody>
      </p:sp>
    </p:spTree>
    <p:extLst>
      <p:ext uri="{BB962C8B-B14F-4D97-AF65-F5344CB8AC3E}">
        <p14:creationId xmlns:p14="http://schemas.microsoft.com/office/powerpoint/2010/main" val="13135439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2626</TotalTime>
  <Words>1385</Words>
  <Application>Microsoft Office PowerPoint</Application>
  <PresentationFormat>全屏显示(16:9)</PresentationFormat>
  <Paragraphs>208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6" baseType="lpstr">
      <vt:lpstr>MS Sans Serif</vt:lpstr>
      <vt:lpstr>Arial</vt:lpstr>
      <vt:lpstr>Calibri</vt:lpstr>
      <vt:lpstr>Times New Roman</vt:lpstr>
      <vt:lpstr>Wingdings</vt:lpstr>
      <vt:lpstr>NTHU UniCloud</vt:lpstr>
      <vt:lpstr>CSC6032 – Advanced Operating Systems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 鍾葉青）</cp:lastModifiedBy>
  <cp:revision>300</cp:revision>
  <dcterms:created xsi:type="dcterms:W3CDTF">2015-06-05T07:23:35Z</dcterms:created>
  <dcterms:modified xsi:type="dcterms:W3CDTF">2024-09-04T06:02:37Z</dcterms:modified>
</cp:coreProperties>
</file>