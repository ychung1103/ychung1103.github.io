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media/image4.jpg" ContentType="image/jpg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2"/>
  </p:notesMasterIdLst>
  <p:handoutMasterIdLst>
    <p:handoutMasterId r:id="rId33"/>
  </p:handoutMasterIdLst>
  <p:sldIdLst>
    <p:sldId id="256" r:id="rId2"/>
    <p:sldId id="352" r:id="rId3"/>
    <p:sldId id="354" r:id="rId4"/>
    <p:sldId id="353" r:id="rId5"/>
    <p:sldId id="355" r:id="rId6"/>
    <p:sldId id="356" r:id="rId7"/>
    <p:sldId id="357" r:id="rId8"/>
    <p:sldId id="358" r:id="rId9"/>
    <p:sldId id="359" r:id="rId10"/>
    <p:sldId id="360" r:id="rId11"/>
    <p:sldId id="362" r:id="rId12"/>
    <p:sldId id="361" r:id="rId13"/>
    <p:sldId id="363" r:id="rId14"/>
    <p:sldId id="364" r:id="rId15"/>
    <p:sldId id="365" r:id="rId16"/>
    <p:sldId id="366" r:id="rId17"/>
    <p:sldId id="367" r:id="rId18"/>
    <p:sldId id="368" r:id="rId19"/>
    <p:sldId id="369" r:id="rId20"/>
    <p:sldId id="370" r:id="rId21"/>
    <p:sldId id="371" r:id="rId22"/>
    <p:sldId id="372" r:id="rId23"/>
    <p:sldId id="373" r:id="rId24"/>
    <p:sldId id="374" r:id="rId25"/>
    <p:sldId id="376" r:id="rId26"/>
    <p:sldId id="375" r:id="rId27"/>
    <p:sldId id="377" r:id="rId28"/>
    <p:sldId id="378" r:id="rId29"/>
    <p:sldId id="379" r:id="rId30"/>
    <p:sldId id="380" r:id="rId31"/>
  </p:sldIdLst>
  <p:sldSz cx="9144000" cy="5143500" type="screen16x9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orient="horz" pos="16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4F81BD"/>
    <a:srgbClr val="8064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041" autoAdjust="0"/>
  </p:normalViewPr>
  <p:slideViewPr>
    <p:cSldViewPr snapToGrid="0">
      <p:cViewPr>
        <p:scale>
          <a:sx n="75" d="100"/>
          <a:sy n="75" d="100"/>
        </p:scale>
        <p:origin x="1044" y="88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-1772"/>
    </p:cViewPr>
  </p:sorterViewPr>
  <p:notesViewPr>
    <p:cSldViewPr snapToGrid="0">
      <p:cViewPr varScale="1">
        <p:scale>
          <a:sx n="65" d="100"/>
          <a:sy n="65" d="100"/>
        </p:scale>
        <p:origin x="3082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BDCE37-E9BE-4280-8D68-34E43D66CEDB}" type="datetimeFigureOut">
              <a:rPr lang="zh-TW" altLang="en-US" smtClean="0"/>
              <a:pPr/>
              <a:t>2026/9/21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BED679-6CF9-4493-8C9A-6F31F985AAEA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86827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FBA883-381C-409E-9635-BB54B21745E4}" type="datetimeFigureOut">
              <a:rPr lang="zh-TW" altLang="en-US" smtClean="0"/>
              <a:pPr/>
              <a:t>2026/9/21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6C40E4-B9C8-417B-AB00-3BF7F8038A2D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8155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3pPr>
              <a:defRPr sz="2000"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>
              <a:defRPr sz="1800"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>
              <a:defRPr sz="1600"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0028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3305177"/>
            <a:ext cx="7772400" cy="1021556"/>
          </a:xfrm>
        </p:spPr>
        <p:txBody>
          <a:bodyPr anchor="t"/>
          <a:lstStyle>
            <a:lvl1pPr algn="l">
              <a:defRPr sz="3200" b="1" cap="all"/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800"/>
            </a:lvl1pPr>
            <a:lvl2pPr marL="342891" indent="0">
              <a:buNone/>
              <a:defRPr sz="1351"/>
            </a:lvl2pPr>
            <a:lvl3pPr marL="685783" indent="0">
              <a:buNone/>
              <a:defRPr sz="1200"/>
            </a:lvl3pPr>
            <a:lvl4pPr marL="1028674" indent="0">
              <a:buNone/>
              <a:defRPr sz="1051"/>
            </a:lvl4pPr>
            <a:lvl5pPr marL="1371566" indent="0">
              <a:buNone/>
              <a:defRPr sz="1051"/>
            </a:lvl5pPr>
            <a:lvl6pPr marL="1714457" indent="0">
              <a:buNone/>
              <a:defRPr sz="1051"/>
            </a:lvl6pPr>
            <a:lvl7pPr marL="2057349" indent="0">
              <a:buNone/>
              <a:defRPr sz="1051"/>
            </a:lvl7pPr>
            <a:lvl8pPr marL="2400240" indent="0">
              <a:buNone/>
              <a:defRPr sz="1051"/>
            </a:lvl8pPr>
            <a:lvl9pPr marL="2743131" indent="0">
              <a:buNone/>
              <a:defRPr sz="10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0251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9850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1" y="951580"/>
            <a:ext cx="4040188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1" y="1431401"/>
            <a:ext cx="4040188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9" y="951580"/>
            <a:ext cx="4041775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9" y="1431401"/>
            <a:ext cx="4041775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468315" y="108349"/>
            <a:ext cx="8207375" cy="519113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055619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6808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2028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4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04791"/>
            <a:ext cx="5111751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4" y="1076328"/>
            <a:ext cx="3008313" cy="351829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9976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891" indent="0">
              <a:buNone/>
              <a:defRPr sz="2100"/>
            </a:lvl2pPr>
            <a:lvl3pPr marL="685783" indent="0">
              <a:buNone/>
              <a:defRPr sz="1800"/>
            </a:lvl3pPr>
            <a:lvl4pPr marL="1028674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9" indent="0">
              <a:buNone/>
              <a:defRPr sz="1500"/>
            </a:lvl7pPr>
            <a:lvl8pPr marL="2400240" indent="0">
              <a:buNone/>
              <a:defRPr sz="1500"/>
            </a:lvl8pPr>
            <a:lvl9pPr marL="2743131" indent="0">
              <a:buNone/>
              <a:defRPr sz="1500"/>
            </a:lvl9pPr>
          </a:lstStyle>
          <a:p>
            <a:pPr lv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4025505"/>
            <a:ext cx="5486400" cy="60364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1662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3772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4551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457200" y="54771"/>
            <a:ext cx="8229600" cy="127516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22411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457200" y="844156"/>
            <a:ext cx="8229600" cy="485775"/>
          </a:xfrm>
        </p:spPr>
        <p:txBody>
          <a:bodyPr/>
          <a:lstStyle/>
          <a:p>
            <a:pPr lvl="0"/>
            <a:r>
              <a:rPr lang="en-US" altLang="zh-TW" noProof="0"/>
              <a:t>Click icon to add table</a:t>
            </a:r>
            <a:endParaRPr lang="zh-TW" altLang="en-US" noProof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95952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1597823"/>
            <a:ext cx="7772400" cy="1102519"/>
          </a:xfrm>
        </p:spPr>
        <p:txBody>
          <a:bodyPr/>
          <a:lstStyle>
            <a:lvl1pPr algn="ctr"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/>
            </a:lvl1pPr>
            <a:lvl2pPr marL="342891" indent="0" algn="ctr">
              <a:buNone/>
              <a:defRPr/>
            </a:lvl2pPr>
            <a:lvl3pPr marL="685783" indent="0" algn="ctr">
              <a:buNone/>
              <a:defRPr/>
            </a:lvl3pPr>
            <a:lvl4pPr marL="1028674" indent="0" algn="ctr">
              <a:buNone/>
              <a:defRPr/>
            </a:lvl4pPr>
            <a:lvl5pPr marL="1371566" indent="0" algn="ctr">
              <a:buNone/>
              <a:defRPr/>
            </a:lvl5pPr>
            <a:lvl6pPr marL="1714457" indent="0" algn="ctr">
              <a:buNone/>
              <a:defRPr/>
            </a:lvl6pPr>
            <a:lvl7pPr marL="2057349" indent="0" algn="ctr">
              <a:buNone/>
              <a:defRPr/>
            </a:lvl7pPr>
            <a:lvl8pPr marL="2400240" indent="0" algn="ctr">
              <a:buNone/>
              <a:defRPr/>
            </a:lvl8pPr>
            <a:lvl9pPr marL="2743131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7078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17"/>
          <p:cNvSpPr>
            <a:spLocks noGrp="1" noChangeArrowheads="1"/>
          </p:cNvSpPr>
          <p:nvPr>
            <p:ph type="title"/>
          </p:nvPr>
        </p:nvSpPr>
        <p:spPr bwMode="auto">
          <a:xfrm>
            <a:off x="787401" y="108349"/>
            <a:ext cx="7888289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18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844153"/>
            <a:ext cx="8229600" cy="3671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按一下以編輯母片</a:t>
            </a:r>
          </a:p>
          <a:p>
            <a:pPr lvl="1"/>
            <a:endParaRPr lang="zh-TW" altLang="en-US" dirty="0"/>
          </a:p>
          <a:p>
            <a:pPr lvl="0"/>
            <a:endParaRPr lang="en-US" altLang="zh-TW" dirty="0"/>
          </a:p>
        </p:txBody>
      </p:sp>
      <p:pic>
        <p:nvPicPr>
          <p:cNvPr id="1029" name="Picture 25" descr="name"/>
          <p:cNvPicPr>
            <a:picLocks noChangeAspect="1" noChangeArrowheads="1"/>
          </p:cNvPicPr>
          <p:nvPr/>
        </p:nvPicPr>
        <p:blipFill>
          <a:blip r:embed="rId15" cstate="print"/>
          <a:srcRect/>
          <a:stretch>
            <a:fillRect/>
          </a:stretch>
        </p:blipFill>
        <p:spPr bwMode="auto">
          <a:xfrm>
            <a:off x="2" y="4768455"/>
            <a:ext cx="3833813" cy="148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/>
        </p:nvSpPr>
        <p:spPr>
          <a:xfrm>
            <a:off x="569246" y="4936332"/>
            <a:ext cx="273183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新細明體" pitchFamily="18" charset="-120"/>
                <a:cs typeface="Arial" pitchFamily="34" charset="0"/>
              </a:rPr>
              <a:t>National Tsing Hua University ® copyright OIA</a:t>
            </a:r>
            <a:endParaRPr lang="zh-TW" altLang="en-US" sz="900" b="1" dirty="0">
              <a:solidFill>
                <a:schemeClr val="bg1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sp>
        <p:nvSpPr>
          <p:cNvPr id="4105" name="Rectangle 9"/>
          <p:cNvSpPr>
            <a:spLocks noChangeArrowheads="1"/>
          </p:cNvSpPr>
          <p:nvPr/>
        </p:nvSpPr>
        <p:spPr bwMode="auto">
          <a:xfrm>
            <a:off x="0" y="681041"/>
            <a:ext cx="9144000" cy="108347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4106" name="Rectangle 10"/>
          <p:cNvSpPr>
            <a:spLocks noChangeArrowheads="1"/>
          </p:cNvSpPr>
          <p:nvPr userDrawn="1"/>
        </p:nvSpPr>
        <p:spPr bwMode="auto">
          <a:xfrm>
            <a:off x="0" y="4624387"/>
            <a:ext cx="9144000" cy="539354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1043" name="Rectangle 19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831013" y="4893471"/>
            <a:ext cx="2133600" cy="2547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900">
                <a:solidFill>
                  <a:schemeClr val="bg1"/>
                </a:solidFill>
                <a:latin typeface="Arial" pitchFamily="34" charset="0"/>
                <a:ea typeface="新細明體" pitchFamily="18" charset="-120"/>
              </a:defRPr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60" y="96457"/>
            <a:ext cx="888965" cy="518914"/>
          </a:xfrm>
          <a:prstGeom prst="rect">
            <a:avLst/>
          </a:prstGeom>
        </p:spPr>
      </p:pic>
      <p:pic>
        <p:nvPicPr>
          <p:cNvPr id="12" name="圖片 11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09" y="4683590"/>
            <a:ext cx="741091" cy="427061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4C67FEB8-36D3-4CC5-9713-36EE82A172D2}"/>
              </a:ext>
            </a:extLst>
          </p:cNvPr>
          <p:cNvSpPr/>
          <p:nvPr userDrawn="1"/>
        </p:nvSpPr>
        <p:spPr>
          <a:xfrm>
            <a:off x="669958" y="4681829"/>
            <a:ext cx="219218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zh-CN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香港中文大学（深圳）数据科学院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en-US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CUHK-SZ School of Data Science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2988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5pPr>
      <a:lvl6pPr marL="342891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6pPr>
      <a:lvl7pPr marL="685783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7pPr>
      <a:lvl8pPr marL="1028674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8pPr>
      <a:lvl9pPr marL="1371566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9pPr>
    </p:titleStyle>
    <p:bodyStyle>
      <a:lvl1pPr marL="257168" indent="-25716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80000"/>
        <a:buFont typeface="Wingdings" pitchFamily="2" charset="2"/>
        <a:buChar char="l"/>
        <a:defRPr kumimoji="1" sz="2800">
          <a:solidFill>
            <a:schemeClr val="tx1"/>
          </a:solidFill>
          <a:latin typeface="Calibri" pitchFamily="34" charset="0"/>
          <a:ea typeface="標楷體" pitchFamily="65" charset="-120"/>
          <a:cs typeface="+mn-cs"/>
        </a:defRPr>
      </a:lvl1pPr>
      <a:lvl2pPr marL="557199" indent="-21430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90000"/>
        <a:buFont typeface="Arial" charset="0"/>
        <a:buChar char="–"/>
        <a:defRPr kumimoji="1" sz="2400">
          <a:solidFill>
            <a:schemeClr val="tx1"/>
          </a:solidFill>
          <a:latin typeface="Calibri" pitchFamily="34" charset="0"/>
          <a:ea typeface="標楷體" pitchFamily="65" charset="-120"/>
        </a:defRPr>
      </a:lvl2pPr>
      <a:lvl3pPr marL="857229" indent="-171446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21" indent="-171446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12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04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795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686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578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9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4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9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6003" y="826534"/>
            <a:ext cx="8547653" cy="1307066"/>
          </a:xfrm>
        </p:spPr>
        <p:txBody>
          <a:bodyPr/>
          <a:lstStyle/>
          <a:p>
            <a:pPr algn="ctr"/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CSC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6032</a:t>
            </a:r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– Advanced Operating Systems</a:t>
            </a:r>
            <a:endParaRPr lang="zh-TW" altLang="en-US" sz="3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548824"/>
            <a:ext cx="6400800" cy="1801796"/>
          </a:xfrm>
        </p:spPr>
        <p:txBody>
          <a:bodyPr/>
          <a:lstStyle/>
          <a:p>
            <a:r>
              <a:rPr lang="en-US" altLang="zh-TW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Prof. </a:t>
            </a:r>
            <a:r>
              <a:rPr lang="en-US" altLang="zh-TW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Yeh-Ching</a:t>
            </a:r>
            <a:r>
              <a:rPr lang="en-US" altLang="zh-TW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Chung</a:t>
            </a:r>
          </a:p>
          <a:p>
            <a:endParaRPr lang="en-US" altLang="zh-TW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School of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Chinese University of Hong Kong, Shenzhen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38FD544-910C-1AA1-D57E-40927498805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6468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8029" y="818147"/>
            <a:ext cx="7272951" cy="2608634"/>
          </a:xfrm>
        </p:spPr>
        <p:txBody>
          <a:bodyPr>
            <a:no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</a:t>
            </a:r>
            <a:r>
              <a:rPr lang="en-US" altLang="zh-CN" sz="2400" spc="-109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spc="-8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Networked</a:t>
            </a:r>
            <a:r>
              <a:rPr lang="en-US" altLang="zh-CN" sz="2400" spc="-98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</a:t>
            </a:r>
            <a:r>
              <a:rPr lang="en-US" altLang="zh-CN" sz="2400" spc="-94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spc="-8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r>
              <a:rPr lang="en-US" altLang="zh-CN" sz="2400" spc="-10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</a:t>
            </a:r>
            <a:r>
              <a:rPr lang="en-US" altLang="zh-CN" sz="2400" spc="-10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spc="-8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  <a:endParaRPr lang="en-US" altLang="zh-C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altLang="zh-CN" sz="2400" spc="-8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Current</a:t>
            </a:r>
            <a:r>
              <a:rPr lang="en-US" altLang="zh-CN" sz="2400" spc="-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spc="-8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Trends </a:t>
            </a:r>
          </a:p>
        </p:txBody>
      </p:sp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040892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2037" y="810327"/>
            <a:ext cx="7683653" cy="3208497"/>
          </a:xfrm>
        </p:spPr>
        <p:txBody>
          <a:bodyPr>
            <a:noAutofit/>
          </a:bodyPr>
          <a:lstStyle/>
          <a:p>
            <a:pPr algn="l"/>
            <a:r>
              <a:rPr lang="en-US" altLang="zh-CN" sz="20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operating system</a:t>
            </a:r>
          </a:p>
          <a:p>
            <a:pPr lvl="1"/>
            <a:r>
              <a:rPr lang="en-US" altLang="zh-CN" sz="18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a resource manager</a:t>
            </a:r>
          </a:p>
          <a:p>
            <a:pPr lvl="1"/>
            <a:r>
              <a:rPr lang="en-US" altLang="zh-CN" sz="18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an abstract computing interface</a:t>
            </a:r>
          </a:p>
          <a:p>
            <a:pPr algn="l"/>
            <a:r>
              <a:rPr lang="en-US" altLang="zh-CN" sz="20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 arbitrates resource usage between processes</a:t>
            </a:r>
          </a:p>
          <a:p>
            <a:pPr lvl="1"/>
            <a:r>
              <a:rPr lang="en-US" altLang="zh-CN" sz="18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CPU, memory, file system, network, keyboard, mouse, monitor</a:t>
            </a:r>
          </a:p>
          <a:p>
            <a:pPr lvl="1"/>
            <a:r>
              <a:rPr lang="en-US" altLang="zh-CN" sz="18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 hardware</a:t>
            </a:r>
          </a:p>
          <a:p>
            <a:pPr algn="l"/>
            <a:r>
              <a:rPr lang="en-US" altLang="zh-CN" sz="20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makes it possible to have multiple processes in the same system</a:t>
            </a:r>
          </a:p>
          <a:p>
            <a:pPr lvl="1"/>
            <a:r>
              <a:rPr lang="en-US" altLang="zh-CN" sz="18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2 processes ask for use of same resource</a:t>
            </a:r>
          </a:p>
          <a:p>
            <a:pPr lvl="1"/>
            <a:r>
              <a:rPr lang="en-US" altLang="zh-CN" sz="18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 decides who gets it, when, and how much</a:t>
            </a:r>
            <a:endParaRPr lang="en-US" altLang="zh-CN" sz="1800" spc="-8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itle 1"/>
          <p:cNvSpPr txBox="1">
            <a:spLocks/>
          </p:cNvSpPr>
          <p:nvPr/>
        </p:nvSpPr>
        <p:spPr bwMode="auto">
          <a:xfrm>
            <a:off x="924662" y="90593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 (1)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33861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895149" y="99911"/>
            <a:ext cx="7809417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</a:t>
            </a:r>
            <a:r>
              <a:rPr lang="en-US" altLang="zh-CN" spc="-86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pc="-8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(2)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4</a:t>
            </a:fld>
            <a:endParaRPr lang="zh-TW" altLang="en-US"/>
          </a:p>
        </p:txBody>
      </p:sp>
      <p:pic>
        <p:nvPicPr>
          <p:cNvPr id="7" name="object 3">
            <a:extLst>
              <a:ext uri="{FF2B5EF4-FFF2-40B4-BE49-F238E27FC236}">
                <a16:creationId xmlns:a16="http://schemas.microsoft.com/office/drawing/2014/main" id="{B7171187-22D2-2AB3-2270-92892344D4D1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197697" y="1625600"/>
            <a:ext cx="4633316" cy="2878943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651E426-FFE3-E509-0C24-DCDA246093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8029" y="818148"/>
            <a:ext cx="7272951" cy="451232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OS system overview</a:t>
            </a:r>
            <a:endParaRPr lang="en-US" altLang="zh-CN" sz="2000" spc="-8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1043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1927" y="808523"/>
            <a:ext cx="7336619" cy="3830854"/>
          </a:xfrm>
        </p:spPr>
        <p:txBody>
          <a:bodyPr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altLang="zh-CN" sz="22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OS handles different resources</a:t>
            </a:r>
          </a:p>
          <a:p>
            <a:pPr lvl="1">
              <a:spcBef>
                <a:spcPts val="0"/>
              </a:spcBef>
            </a:pPr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</a:t>
            </a:r>
          </a:p>
          <a:p>
            <a:pPr lvl="2">
              <a:spcBef>
                <a:spcPts val="0"/>
              </a:spcBef>
            </a:pPr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process is given a different part of memory to use, they cannot access other’s memory</a:t>
            </a:r>
          </a:p>
          <a:p>
            <a:pPr lvl="2">
              <a:spcBef>
                <a:spcPts val="0"/>
              </a:spcBef>
            </a:pPr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it needs more memory, OS will allocate from unallocated memory store</a:t>
            </a:r>
          </a:p>
          <a:p>
            <a:pPr lvl="1">
              <a:spcBef>
                <a:spcPts val="0"/>
              </a:spcBef>
            </a:pPr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</a:t>
            </a:r>
          </a:p>
          <a:p>
            <a:pPr lvl="2">
              <a:spcBef>
                <a:spcPts val="0"/>
              </a:spcBef>
            </a:pPr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 checks that process has rights to read/write the file Makes sure that 2 processes are not writing the same file</a:t>
            </a:r>
          </a:p>
          <a:p>
            <a:pPr lvl="1">
              <a:spcBef>
                <a:spcPts val="0"/>
              </a:spcBef>
            </a:pPr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</a:t>
            </a:r>
          </a:p>
          <a:p>
            <a:pPr lvl="2">
              <a:spcBef>
                <a:spcPts val="0"/>
              </a:spcBef>
            </a:pPr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 receives messages from processes, sends them to network card one at a time. </a:t>
            </a:r>
          </a:p>
          <a:p>
            <a:pPr lvl="2">
              <a:spcBef>
                <a:spcPts val="0"/>
              </a:spcBef>
            </a:pPr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When messages are received, OS delivers to suitable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processes</a:t>
            </a:r>
            <a:endParaRPr lang="en-US" altLang="zh-CN" sz="1800" spc="-8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itle 1"/>
          <p:cNvSpPr txBox="1">
            <a:spLocks/>
          </p:cNvSpPr>
          <p:nvPr/>
        </p:nvSpPr>
        <p:spPr bwMode="auto">
          <a:xfrm>
            <a:off x="924662" y="90593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 (3)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3119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 Memory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6</a:t>
            </a:fld>
            <a:endParaRPr lang="zh-TW" altLang="en-US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7DABF018-0654-22B4-2142-C29F206F44E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-20000" contrast="40000"/>
          </a:blip>
          <a:stretch>
            <a:fillRect/>
          </a:stretch>
        </p:blipFill>
        <p:spPr>
          <a:xfrm>
            <a:off x="1445342" y="824041"/>
            <a:ext cx="6253316" cy="3726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13936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en-US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Kernel/User Mode Operation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7</a:t>
            </a:fld>
            <a:endParaRPr lang="zh-TW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FCE66DA-5728-7316-448C-80F2B1A5BF4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contrast="20000"/>
          </a:blip>
          <a:stretch>
            <a:fillRect/>
          </a:stretch>
        </p:blipFill>
        <p:spPr>
          <a:xfrm>
            <a:off x="1032387" y="1509866"/>
            <a:ext cx="7079226" cy="2123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024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en-US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8</a:t>
            </a:fld>
            <a:endParaRPr lang="zh-TW" alt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4B7B29A-0BD6-CCE6-B006-D4A208859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5407" y="845039"/>
            <a:ext cx="7202501" cy="3043567"/>
          </a:xfrm>
        </p:spPr>
        <p:txBody>
          <a:bodyPr>
            <a:noAutofit/>
          </a:bodyPr>
          <a:lstStyle/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 makes processes </a:t>
            </a:r>
            <a:r>
              <a:rPr lang="en-US" altLang="zh-CN" sz="2000" b="0" i="1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oblivious </a:t>
            </a:r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environment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 does not know details of hardware</a:t>
            </a:r>
            <a:endParaRPr lang="en-US" altLang="zh-C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 does not know about other processes (unless they communicate with each-other)</a:t>
            </a:r>
          </a:p>
        </p:txBody>
      </p:sp>
    </p:spTree>
    <p:extLst>
      <p:ext uri="{BB962C8B-B14F-4D97-AF65-F5344CB8AC3E}">
        <p14:creationId xmlns:p14="http://schemas.microsoft.com/office/powerpoint/2010/main" val="4872727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en-US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Threads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9</a:t>
            </a:fld>
            <a:endParaRPr lang="zh-TW" altLang="en-US"/>
          </a:p>
        </p:txBody>
      </p:sp>
      <p:pic>
        <p:nvPicPr>
          <p:cNvPr id="7" name="内容占位符 6">
            <a:extLst>
              <a:ext uri="{FF2B5EF4-FFF2-40B4-BE49-F238E27FC236}">
                <a16:creationId xmlns:a16="http://schemas.microsoft.com/office/drawing/2014/main" id="{C75CEA1E-70D7-F713-9170-6768469D9B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lum bright="20000"/>
          </a:blip>
          <a:stretch>
            <a:fillRect/>
          </a:stretch>
        </p:blipFill>
        <p:spPr>
          <a:xfrm>
            <a:off x="1567728" y="844550"/>
            <a:ext cx="6008544" cy="3671888"/>
          </a:xfr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77AE204-4A7D-A0B0-74B9-6409AF068DA1}"/>
              </a:ext>
            </a:extLst>
          </p:cNvPr>
          <p:cNvSpPr txBox="1">
            <a:spLocks/>
          </p:cNvSpPr>
          <p:nvPr/>
        </p:nvSpPr>
        <p:spPr bwMode="auto">
          <a:xfrm>
            <a:off x="1496472" y="1461695"/>
            <a:ext cx="765035" cy="3671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1pPr marL="257168" indent="-25716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0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+mn-cs"/>
              </a:defRPr>
            </a:lvl1pPr>
            <a:lvl2pPr marL="557199" indent="-21430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90000"/>
              <a:buFont typeface="Arial" charset="0"/>
              <a:buChar char="–"/>
              <a:defRPr kumimoji="1" sz="2400">
                <a:solidFill>
                  <a:schemeClr val="tx1"/>
                </a:solidFill>
                <a:latin typeface="Calibri" pitchFamily="34" charset="0"/>
                <a:ea typeface="標楷體" pitchFamily="65" charset="-120"/>
              </a:defRPr>
            </a:lvl2pPr>
            <a:lvl3pPr marL="857229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0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 marL="1200121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8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 marL="1543012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6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  <a:lvl6pPr marL="1885904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795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686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578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zh-CN" sz="20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SISD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AAAF259-1D5C-2FE0-D742-8B5147B3A593}"/>
              </a:ext>
            </a:extLst>
          </p:cNvPr>
          <p:cNvSpPr txBox="1">
            <a:spLocks/>
          </p:cNvSpPr>
          <p:nvPr/>
        </p:nvSpPr>
        <p:spPr bwMode="auto">
          <a:xfrm>
            <a:off x="1428436" y="4047052"/>
            <a:ext cx="833071" cy="3671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1pPr marL="257168" indent="-25716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0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+mn-cs"/>
              </a:defRPr>
            </a:lvl1pPr>
            <a:lvl2pPr marL="557199" indent="-21430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90000"/>
              <a:buFont typeface="Arial" charset="0"/>
              <a:buChar char="–"/>
              <a:defRPr kumimoji="1" sz="2400">
                <a:solidFill>
                  <a:schemeClr val="tx1"/>
                </a:solidFill>
                <a:latin typeface="Calibri" pitchFamily="34" charset="0"/>
                <a:ea typeface="標楷體" pitchFamily="65" charset="-120"/>
              </a:defRPr>
            </a:lvl2pPr>
            <a:lvl3pPr marL="857229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0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 marL="1200121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8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 marL="1543012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6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  <a:lvl6pPr marL="1885904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795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686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578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zh-CN" sz="20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MISD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3185EC-A40E-C555-B1E2-C56AD1BC9155}"/>
              </a:ext>
            </a:extLst>
          </p:cNvPr>
          <p:cNvSpPr txBox="1">
            <a:spLocks/>
          </p:cNvSpPr>
          <p:nvPr/>
        </p:nvSpPr>
        <p:spPr bwMode="auto">
          <a:xfrm>
            <a:off x="7132778" y="1548781"/>
            <a:ext cx="851893" cy="3671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1pPr marL="257168" indent="-25716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0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+mn-cs"/>
              </a:defRPr>
            </a:lvl1pPr>
            <a:lvl2pPr marL="557199" indent="-21430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90000"/>
              <a:buFont typeface="Arial" charset="0"/>
              <a:buChar char="–"/>
              <a:defRPr kumimoji="1" sz="2400">
                <a:solidFill>
                  <a:schemeClr val="tx1"/>
                </a:solidFill>
                <a:latin typeface="Calibri" pitchFamily="34" charset="0"/>
                <a:ea typeface="標楷體" pitchFamily="65" charset="-120"/>
              </a:defRPr>
            </a:lvl2pPr>
            <a:lvl3pPr marL="857229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0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 marL="1200121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8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 marL="1543012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6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  <a:lvl6pPr marL="1885904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795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686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578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zh-CN" sz="20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SIMD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074D03F-F569-BD67-CFEF-7F5EE787D278}"/>
              </a:ext>
            </a:extLst>
          </p:cNvPr>
          <p:cNvSpPr txBox="1">
            <a:spLocks/>
          </p:cNvSpPr>
          <p:nvPr/>
        </p:nvSpPr>
        <p:spPr bwMode="auto">
          <a:xfrm>
            <a:off x="7193754" y="4047052"/>
            <a:ext cx="946039" cy="3671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1pPr marL="257168" indent="-25716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0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+mn-cs"/>
              </a:defRPr>
            </a:lvl1pPr>
            <a:lvl2pPr marL="557199" indent="-21430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90000"/>
              <a:buFont typeface="Arial" charset="0"/>
              <a:buChar char="–"/>
              <a:defRPr kumimoji="1" sz="2400">
                <a:solidFill>
                  <a:schemeClr val="tx1"/>
                </a:solidFill>
                <a:latin typeface="Calibri" pitchFamily="34" charset="0"/>
                <a:ea typeface="標楷體" pitchFamily="65" charset="-120"/>
              </a:defRPr>
            </a:lvl2pPr>
            <a:lvl3pPr marL="857229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0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 marL="1200121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8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 marL="1543012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6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  <a:lvl6pPr marL="1885904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795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686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578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zh-CN" sz="20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MIMD</a:t>
            </a:r>
          </a:p>
        </p:txBody>
      </p:sp>
    </p:spTree>
    <p:extLst>
      <p:ext uri="{BB962C8B-B14F-4D97-AF65-F5344CB8AC3E}">
        <p14:creationId xmlns:p14="http://schemas.microsoft.com/office/powerpoint/2010/main" val="16935265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en-US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Benefits of Threads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10</a:t>
            </a:fld>
            <a:endParaRPr lang="zh-TW" alt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4B7B29A-0BD6-CCE6-B006-D4A208859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5408" y="845039"/>
            <a:ext cx="6914860" cy="3447561"/>
          </a:xfrm>
        </p:spPr>
        <p:txBody>
          <a:bodyPr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altLang="zh-CN" sz="20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Responsiveness</a:t>
            </a:r>
            <a:endParaRPr lang="en-US" altLang="zh-C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altLang="zh-CN" sz="16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ven if part of program is blocked or performing lengthy operation multithreading allow a program to continue.</a:t>
            </a:r>
          </a:p>
          <a:p>
            <a:pPr algn="l">
              <a:spcBef>
                <a:spcPts val="0"/>
              </a:spcBef>
            </a:pPr>
            <a:r>
              <a:rPr lang="en-US" altLang="zh-CN" sz="20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Resource Sharing</a:t>
            </a:r>
          </a:p>
          <a:p>
            <a:pPr lvl="1">
              <a:spcBef>
                <a:spcPts val="0"/>
              </a:spcBef>
            </a:pP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hreads share the memory &amp; resources of the process within the same address space.</a:t>
            </a:r>
          </a:p>
          <a:p>
            <a:pPr algn="l">
              <a:spcBef>
                <a:spcPts val="0"/>
              </a:spcBef>
            </a:pPr>
            <a:r>
              <a:rPr lang="en-US" altLang="zh-CN" sz="20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Economy</a:t>
            </a:r>
          </a:p>
          <a:p>
            <a:pPr lvl="1">
              <a:spcBef>
                <a:spcPts val="0"/>
              </a:spcBef>
            </a:pPr>
            <a:r>
              <a:rPr lang="en-US" altLang="zh-CN" sz="16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Allocating memory &amp; resources for process creation is costly. Threads share resources of the process to which it belongs. Create and context switch threads is more economical.</a:t>
            </a:r>
          </a:p>
          <a:p>
            <a:pPr algn="l">
              <a:spcBef>
                <a:spcPts val="0"/>
              </a:spcBef>
            </a:pPr>
            <a:r>
              <a:rPr lang="en-US" altLang="zh-CN" sz="2000" i="0" u="none" strike="noStrike" baseline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Utilisation</a:t>
            </a:r>
            <a:r>
              <a:rPr lang="en-US" altLang="zh-CN" sz="20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multicore Architectures</a:t>
            </a:r>
          </a:p>
          <a:p>
            <a:pPr lvl="1">
              <a:spcBef>
                <a:spcPts val="0"/>
              </a:spcBef>
            </a:pPr>
            <a:r>
              <a:rPr lang="en-US" altLang="zh-CN" sz="16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multicore system, threads running in parallel on different cores.</a:t>
            </a:r>
          </a:p>
        </p:txBody>
      </p:sp>
    </p:spTree>
    <p:extLst>
      <p:ext uri="{BB962C8B-B14F-4D97-AF65-F5344CB8AC3E}">
        <p14:creationId xmlns:p14="http://schemas.microsoft.com/office/powerpoint/2010/main" val="28889960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da-DK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Networked OS (1)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11</a:t>
            </a:fld>
            <a:endParaRPr lang="zh-TW" alt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4B7B29A-0BD6-CCE6-B006-D4A208859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2037" y="823769"/>
            <a:ext cx="7261911" cy="3655097"/>
          </a:xfrm>
        </p:spPr>
        <p:txBody>
          <a:bodyPr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networked OS is aware that it is connected to the network</a:t>
            </a:r>
          </a:p>
          <a:p>
            <a:pPr algn="l">
              <a:spcBef>
                <a:spcPts val="0"/>
              </a:spcBef>
            </a:pPr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Every node has an OS running</a:t>
            </a:r>
          </a:p>
          <a:p>
            <a:pPr algn="l">
              <a:spcBef>
                <a:spcPts val="0"/>
              </a:spcBef>
            </a:pPr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Every node manages the resources at that node</a:t>
            </a:r>
          </a:p>
          <a:p>
            <a:pPr algn="l">
              <a:spcBef>
                <a:spcPts val="0"/>
              </a:spcBef>
            </a:pPr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process can request communication to processes in other nodes</a:t>
            </a:r>
          </a:p>
          <a:p>
            <a:pPr lvl="1">
              <a:spcBef>
                <a:spcPts val="0"/>
              </a:spcBef>
            </a:pPr>
            <a:r>
              <a:rPr lang="en-US" altLang="zh-CN" sz="16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has to be explicitly aware that it is requesting service at </a:t>
            </a:r>
            <a:r>
              <a:rPr lang="en-US" altLang="zh-CN" sz="1600" b="0" i="0" u="none" strike="noStrike" baseline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at</a:t>
            </a:r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node</a:t>
            </a:r>
          </a:p>
          <a:p>
            <a:pPr lvl="1">
              <a:spcBef>
                <a:spcPts val="0"/>
              </a:spcBef>
            </a:pPr>
            <a:r>
              <a:rPr lang="en-US" altLang="zh-CN" sz="16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which node it is requesting (</a:t>
            </a:r>
            <a:r>
              <a:rPr lang="en-US" altLang="zh-CN" sz="1600" b="0" i="0" u="none" strike="noStrike" baseline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eg.</a:t>
            </a:r>
            <a:r>
              <a:rPr lang="en-US" altLang="zh-CN" sz="16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I.P. address)</a:t>
            </a:r>
          </a:p>
          <a:p>
            <a:pPr lvl="1">
              <a:spcBef>
                <a:spcPts val="0"/>
              </a:spcBef>
            </a:pPr>
            <a:r>
              <a:rPr lang="en-US" altLang="zh-CN" sz="16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 it also has to know which services/resources are </a:t>
            </a:r>
            <a:r>
              <a:rPr lang="en-US" altLang="zh-CN" sz="1600" b="0" i="0" u="none" strike="noStrike" baseline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aailable</a:t>
            </a:r>
            <a:r>
              <a:rPr lang="en-US" altLang="zh-CN" sz="16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 the </a:t>
            </a:r>
            <a:r>
              <a:rPr lang="en-US" altLang="zh-CN" sz="1600" b="0" i="0" u="none" strike="noStrike" baseline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netwok</a:t>
            </a:r>
            <a:endParaRPr lang="en-US" altLang="zh-CN" sz="1600" b="0" i="0" u="none" strike="noStrike" baseline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0"/>
              </a:spcBef>
            </a:pPr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process cannot request resources in control of a different computer</a:t>
            </a:r>
          </a:p>
          <a:p>
            <a:pPr algn="l">
              <a:spcBef>
                <a:spcPts val="0"/>
              </a:spcBef>
            </a:pPr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has to communicate with a process on that computer and request it to do the job</a:t>
            </a:r>
          </a:p>
          <a:p>
            <a:pPr algn="l">
              <a:spcBef>
                <a:spcPts val="0"/>
              </a:spcBef>
            </a:pPr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computing has to be done explicitly</a:t>
            </a:r>
          </a:p>
        </p:txBody>
      </p:sp>
    </p:spTree>
    <p:extLst>
      <p:ext uri="{BB962C8B-B14F-4D97-AF65-F5344CB8AC3E}">
        <p14:creationId xmlns:p14="http://schemas.microsoft.com/office/powerpoint/2010/main" val="35707570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da-DK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Networked OS (2)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12</a:t>
            </a:fld>
            <a:endParaRPr lang="zh-TW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3CAD39D6-77F0-5DA5-0E2F-9A490191A87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contrast="20000"/>
          </a:blip>
          <a:stretch>
            <a:fillRect/>
          </a:stretch>
        </p:blipFill>
        <p:spPr>
          <a:xfrm>
            <a:off x="2406160" y="813910"/>
            <a:ext cx="4196771" cy="3775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9652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da-DK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OS (1)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13</a:t>
            </a:fld>
            <a:endParaRPr lang="zh-TW" alt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4B7B29A-0BD6-CCE6-B006-D4A208859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2038" y="842014"/>
            <a:ext cx="7683652" cy="3479729"/>
          </a:xfrm>
        </p:spPr>
        <p:txBody>
          <a:bodyPr>
            <a:noAutofit/>
          </a:bodyPr>
          <a:lstStyle/>
          <a:p>
            <a:pPr algn="l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OSes running on the different computers act like a single OS</a:t>
            </a:r>
          </a:p>
          <a:p>
            <a:pPr algn="l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 does not get to know (or need to know) that other resources/processes are at other computers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 gets input/output from hardware X, which can be on any computer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 A communicates with process B the same way whether they are on same computer or not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 takes care of using the network if needed</a:t>
            </a:r>
          </a:p>
          <a:p>
            <a:pPr lvl="2"/>
            <a:r>
              <a:rPr lang="en-US" altLang="zh-CN" sz="16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process may be running on a different computer from where it was started. Processes can be moved among different computers</a:t>
            </a:r>
          </a:p>
          <a:p>
            <a:pPr lvl="2"/>
            <a:r>
              <a:rPr lang="en-US" altLang="zh-CN" sz="16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“distributed” nature of the system is hidden from the processes</a:t>
            </a:r>
          </a:p>
          <a:p>
            <a:pPr lvl="2"/>
            <a:r>
              <a:rPr lang="en-US" altLang="zh-CN" sz="16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OS manages all the “distributed” aspects</a:t>
            </a:r>
          </a:p>
        </p:txBody>
      </p:sp>
    </p:spTree>
    <p:extLst>
      <p:ext uri="{BB962C8B-B14F-4D97-AF65-F5344CB8AC3E}">
        <p14:creationId xmlns:p14="http://schemas.microsoft.com/office/powerpoint/2010/main" val="21199318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da-DK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OS (2)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14</a:t>
            </a:fld>
            <a:endParaRPr lang="zh-TW" altLang="en-US"/>
          </a:p>
        </p:txBody>
      </p:sp>
      <p:pic>
        <p:nvPicPr>
          <p:cNvPr id="7" name="内容占位符 6">
            <a:extLst>
              <a:ext uri="{FF2B5EF4-FFF2-40B4-BE49-F238E27FC236}">
                <a16:creationId xmlns:a16="http://schemas.microsoft.com/office/drawing/2014/main" id="{F008B0F6-F19A-240A-87CE-1DE4C1F85C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biLevel thresh="75000"/>
          </a:blip>
          <a:srcRect b="16836"/>
          <a:stretch/>
        </p:blipFill>
        <p:spPr>
          <a:xfrm>
            <a:off x="2000878" y="931177"/>
            <a:ext cx="5417837" cy="3534945"/>
          </a:xfrm>
        </p:spPr>
      </p:pic>
    </p:spTree>
    <p:extLst>
      <p:ext uri="{BB962C8B-B14F-4D97-AF65-F5344CB8AC3E}">
        <p14:creationId xmlns:p14="http://schemas.microsoft.com/office/powerpoint/2010/main" val="16446166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da-DK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OS (3)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15</a:t>
            </a:fld>
            <a:endParaRPr lang="zh-TW" altLang="en-US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1576B63B-8BD5-D536-DC0E-287437CC711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biLevel thresh="75000"/>
          </a:blip>
          <a:srcRect b="19302"/>
          <a:stretch/>
        </p:blipFill>
        <p:spPr>
          <a:xfrm>
            <a:off x="1563225" y="981355"/>
            <a:ext cx="6489079" cy="3494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566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da-DK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OS (4)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16</a:t>
            </a:fld>
            <a:endParaRPr lang="zh-TW" alt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4B7B29A-0BD6-CCE6-B006-D4A208859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7654" y="842014"/>
            <a:ext cx="7588035" cy="2062053"/>
          </a:xfrm>
        </p:spPr>
        <p:txBody>
          <a:bodyPr>
            <a:noAutofit/>
          </a:bodyPr>
          <a:lstStyle/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One interface to all resources in the network 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Regular program can be made to run in a distributed fashion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Easier to program applications that make use of networked resources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 is it?</a:t>
            </a:r>
          </a:p>
        </p:txBody>
      </p:sp>
    </p:spTree>
    <p:extLst>
      <p:ext uri="{BB962C8B-B14F-4D97-AF65-F5344CB8AC3E}">
        <p14:creationId xmlns:p14="http://schemas.microsoft.com/office/powerpoint/2010/main" val="6059951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en-US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Problems with Distributed OS (1)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17</a:t>
            </a:fld>
            <a:endParaRPr lang="zh-TW" alt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4B7B29A-0BD6-CCE6-B006-D4A208859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2038" y="803455"/>
            <a:ext cx="7488455" cy="3248723"/>
          </a:xfrm>
        </p:spPr>
        <p:txBody>
          <a:bodyPr>
            <a:noAutofit/>
          </a:bodyPr>
          <a:lstStyle/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happens if part of the network fails and processes are separated into 2 sets?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Now we have to tell processes that the network has failed, and process has to take action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if some OS-processes were moved elsewhere?</a:t>
            </a:r>
          </a:p>
          <a:p>
            <a:pPr lvl="2"/>
            <a:r>
              <a:rPr lang="en-US" altLang="zh-CN" sz="16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Suppose we start processes A and B on the same computer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 moves them to different computers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But A and B communicate a lot, so it would have been efficient to have them on the same computer!</a:t>
            </a:r>
          </a:p>
        </p:txBody>
      </p:sp>
    </p:spTree>
    <p:extLst>
      <p:ext uri="{BB962C8B-B14F-4D97-AF65-F5344CB8AC3E}">
        <p14:creationId xmlns:p14="http://schemas.microsoft.com/office/powerpoint/2010/main" val="31216498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en-US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Problems with Distributed OS (2)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18</a:t>
            </a:fld>
            <a:endParaRPr lang="zh-TW" alt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4B7B29A-0BD6-CCE6-B006-D4A208859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8404" y="811622"/>
            <a:ext cx="7180446" cy="2834836"/>
          </a:xfrm>
        </p:spPr>
        <p:txBody>
          <a:bodyPr>
            <a:noAutofit/>
          </a:bodyPr>
          <a:lstStyle/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Access to offsite resources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Has to be through explicit network connection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computers in the world cannot be in same system!</a:t>
            </a:r>
          </a:p>
          <a:p>
            <a:pPr lvl="2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Adding new nodes to a distributed computing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May be part of a different instance of the OS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will still need explicit connections</a:t>
            </a:r>
          </a:p>
          <a:p>
            <a:pPr lvl="2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OS does not help a lot with distributed computing</a:t>
            </a:r>
          </a:p>
        </p:txBody>
      </p:sp>
    </p:spTree>
    <p:extLst>
      <p:ext uri="{BB962C8B-B14F-4D97-AF65-F5344CB8AC3E}">
        <p14:creationId xmlns:p14="http://schemas.microsoft.com/office/powerpoint/2010/main" val="216835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en-US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Problems with Distributed OS (3)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19</a:t>
            </a:fld>
            <a:endParaRPr lang="zh-TW" alt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4B7B29A-0BD6-CCE6-B006-D4A208859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8029" y="812633"/>
            <a:ext cx="7180446" cy="3691485"/>
          </a:xfrm>
        </p:spPr>
        <p:txBody>
          <a:bodyPr>
            <a:noAutofit/>
          </a:bodyPr>
          <a:lstStyle/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network/computer failure means part of the OS failed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 to design OS with tolerance to such failures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OS has to allow for lots of different possibilities in distributed computing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Harder to design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fact, it is not possible to allow for all different possibilities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“Distributed computing” means different things in different cases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Better to let the application programmer decide how it will be distributed, and how to handle communication, failure etc.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 provides only the basic infrastructure</a:t>
            </a:r>
          </a:p>
        </p:txBody>
      </p:sp>
    </p:spTree>
    <p:extLst>
      <p:ext uri="{BB962C8B-B14F-4D97-AF65-F5344CB8AC3E}">
        <p14:creationId xmlns:p14="http://schemas.microsoft.com/office/powerpoint/2010/main" val="34564704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r>
              <a:rPr lang="en-US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Networked OS vs Distributed OS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20</a:t>
            </a:fld>
            <a:endParaRPr lang="zh-TW" alt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4B7B29A-0BD6-CCE6-B006-D4A208859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8404" y="803154"/>
            <a:ext cx="7180446" cy="2803643"/>
          </a:xfrm>
        </p:spPr>
        <p:txBody>
          <a:bodyPr>
            <a:noAutofit/>
          </a:bodyPr>
          <a:lstStyle/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 a result, we do not have any distributed OS in regular use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Networked OS are popular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communication facilities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Let software decide how they want to execute distributed computation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More flexibility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Failure etc. are application’s responsibility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 continues to do basic tasks</a:t>
            </a:r>
          </a:p>
        </p:txBody>
      </p:sp>
    </p:spTree>
    <p:extLst>
      <p:ext uri="{BB962C8B-B14F-4D97-AF65-F5344CB8AC3E}">
        <p14:creationId xmlns:p14="http://schemas.microsoft.com/office/powerpoint/2010/main" val="42798313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889000" y="108349"/>
            <a:ext cx="7786690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pPr algn="l"/>
            <a:r>
              <a:rPr lang="en-US" altLang="zh-CN" sz="30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Computation and Networked OS</a:t>
            </a:r>
            <a:endParaRPr lang="en-US" sz="3000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21</a:t>
            </a:fld>
            <a:endParaRPr lang="zh-TW" alt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4B7B29A-0BD6-CCE6-B006-D4A208859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3734" y="811622"/>
            <a:ext cx="7180446" cy="3489354"/>
          </a:xfrm>
        </p:spPr>
        <p:txBody>
          <a:bodyPr>
            <a:noAutofit/>
          </a:bodyPr>
          <a:lstStyle/>
          <a:p>
            <a:pPr algn="l"/>
            <a:r>
              <a:rPr lang="en-US" altLang="zh-CN" sz="20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distributed algorithms at the application layer for</a:t>
            </a:r>
          </a:p>
          <a:p>
            <a:pPr lvl="1"/>
            <a:r>
              <a:rPr lang="en-US" altLang="zh-CN" sz="18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Synchronization</a:t>
            </a:r>
          </a:p>
          <a:p>
            <a:pPr lvl="1"/>
            <a:r>
              <a:rPr lang="en-US" altLang="zh-CN" sz="18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Consistent ordering</a:t>
            </a:r>
          </a:p>
          <a:p>
            <a:pPr lvl="1"/>
            <a:r>
              <a:rPr lang="en-US" altLang="zh-CN" sz="18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Mutual Exclusion</a:t>
            </a:r>
          </a:p>
          <a:p>
            <a:pPr lvl="1"/>
            <a:r>
              <a:rPr lang="en-US" altLang="zh-CN" sz="18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Leader election</a:t>
            </a:r>
          </a:p>
          <a:p>
            <a:pPr lvl="1"/>
            <a:r>
              <a:rPr lang="en-US" altLang="zh-CN" sz="18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Failure detection</a:t>
            </a:r>
          </a:p>
          <a:p>
            <a:pPr lvl="1"/>
            <a:r>
              <a:rPr lang="en-US" altLang="zh-CN" sz="18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</a:t>
            </a:r>
          </a:p>
          <a:p>
            <a:pPr lvl="1"/>
            <a:r>
              <a:rPr lang="en-US" altLang="zh-CN" sz="18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Etc..</a:t>
            </a:r>
          </a:p>
          <a:p>
            <a:pPr algn="l"/>
            <a:r>
              <a:rPr lang="en-US" altLang="zh-CN" sz="20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design distributed computing applications </a:t>
            </a:r>
          </a:p>
          <a:p>
            <a:pPr algn="l"/>
            <a:r>
              <a:rPr lang="en-US" altLang="zh-CN" sz="20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applications will need different sets of features</a:t>
            </a:r>
          </a:p>
        </p:txBody>
      </p:sp>
    </p:spTree>
    <p:extLst>
      <p:ext uri="{BB962C8B-B14F-4D97-AF65-F5344CB8AC3E}">
        <p14:creationId xmlns:p14="http://schemas.microsoft.com/office/powerpoint/2010/main" val="10662323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pPr algn="l"/>
            <a:r>
              <a:rPr lang="en-US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(1)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22</a:t>
            </a:fld>
            <a:endParaRPr lang="zh-TW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8A435490-06BD-4B35-00DC-D909B04C515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contrast="40000"/>
          </a:blip>
          <a:stretch>
            <a:fillRect/>
          </a:stretch>
        </p:blipFill>
        <p:spPr>
          <a:xfrm>
            <a:off x="2464066" y="822048"/>
            <a:ext cx="3957046" cy="3721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7696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pPr algn="l"/>
            <a:r>
              <a:rPr lang="en-US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(2)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23</a:t>
            </a:fld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5998CD-B05F-E626-8263-A2A1B702E1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8404" y="870891"/>
            <a:ext cx="7180446" cy="3489354"/>
          </a:xfrm>
        </p:spPr>
        <p:txBody>
          <a:bodyPr>
            <a:noAutofit/>
          </a:bodyPr>
          <a:lstStyle/>
          <a:p>
            <a:pPr algn="l"/>
            <a:r>
              <a:rPr lang="en-US" altLang="zh-CN" sz="20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operating system instances to run concurrently within virtual machines on a single computer, dynamically partitioning and sharing the available physical resources such as CPU, storage, memory and I/O devices</a:t>
            </a:r>
          </a:p>
          <a:p>
            <a:pPr algn="l"/>
            <a:r>
              <a:rPr lang="en-US" altLang="zh-CN" sz="20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Hosted or a hypervisor architecture.</a:t>
            </a:r>
          </a:p>
          <a:p>
            <a:pPr lvl="1"/>
            <a:r>
              <a:rPr lang="en-US" altLang="zh-CN" sz="18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Hosted architecture installs and runs the virtualization layer as an application on top of an operating system contrast</a:t>
            </a:r>
          </a:p>
          <a:p>
            <a:pPr lvl="1"/>
            <a:r>
              <a:rPr lang="en-US" altLang="zh-CN" sz="18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Hypervisor (bare-metal) architecture installs the virtualization layer directly on a clean x86-based system.</a:t>
            </a:r>
          </a:p>
          <a:p>
            <a:pPr lvl="2"/>
            <a:r>
              <a:rPr lang="en-US" altLang="zh-CN" sz="16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 hardware access: more efficient, greater scalability, robustness and performance</a:t>
            </a:r>
          </a:p>
        </p:txBody>
      </p:sp>
    </p:spTree>
    <p:extLst>
      <p:ext uri="{BB962C8B-B14F-4D97-AF65-F5344CB8AC3E}">
        <p14:creationId xmlns:p14="http://schemas.microsoft.com/office/powerpoint/2010/main" val="15433719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683652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pPr algn="l"/>
            <a:r>
              <a:rPr lang="en-US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(3)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24</a:t>
            </a:fld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5998CD-B05F-E626-8263-A2A1B702E1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8404" y="870891"/>
            <a:ext cx="7180446" cy="3489354"/>
          </a:xfrm>
        </p:spPr>
        <p:txBody>
          <a:bodyPr>
            <a:noAutofit/>
          </a:bodyPr>
          <a:lstStyle/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Sandboxing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Testing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Backup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Fault-tolerance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Migration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Consolidation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lang="en-US" altLang="zh-CN" sz="2000" i="0" u="none" strike="noStrike" baseline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013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992038" y="108349"/>
            <a:ext cx="7892080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pPr algn="l"/>
            <a:r>
              <a:rPr lang="en-US" altLang="zh-CN" sz="32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&amp; Distributed Computing (1)</a:t>
            </a:r>
            <a:endParaRPr lang="en-US" sz="3200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25</a:t>
            </a:fld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5998CD-B05F-E626-8263-A2A1B702E1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8404" y="870891"/>
            <a:ext cx="7199697" cy="2343947"/>
          </a:xfrm>
        </p:spPr>
        <p:txBody>
          <a:bodyPr>
            <a:noAutofit/>
          </a:bodyPr>
          <a:lstStyle/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Consider a server farm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Many different servers are running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Instead of giving a physical server to each, many server farms consist of real servers running virtual machines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example, renting a server to host a web site is likely to give you a VM based serve</a:t>
            </a:r>
            <a:endParaRPr lang="en-US" altLang="zh-CN" sz="1800" i="0" u="none" strike="noStrike" baseline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51848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798897" y="108349"/>
            <a:ext cx="8268101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pPr algn="l"/>
            <a:r>
              <a:rPr lang="en-US" altLang="zh-CN" sz="32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&amp; Distributed Computing (2)</a:t>
            </a:r>
            <a:endParaRPr lang="en-US" sz="3200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26</a:t>
            </a:fld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5998CD-B05F-E626-8263-A2A1B702E1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8404" y="870891"/>
            <a:ext cx="7199697" cy="3224934"/>
          </a:xfrm>
        </p:spPr>
        <p:txBody>
          <a:bodyPr>
            <a:noAutofit/>
          </a:bodyPr>
          <a:lstStyle/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Advantages: more flexibility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VMs on same computer</a:t>
            </a:r>
          </a:p>
          <a:p>
            <a:pPr lvl="2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 fewer physical machines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Easier to turn on/off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Easier to backup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VMs can be moved from one computer to another while preserving state</a:t>
            </a:r>
          </a:p>
          <a:p>
            <a:pPr lvl="2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Useful when the work load changes, some servers need more computation, others need less..</a:t>
            </a:r>
          </a:p>
        </p:txBody>
      </p:sp>
    </p:spTree>
    <p:extLst>
      <p:ext uri="{BB962C8B-B14F-4D97-AF65-F5344CB8AC3E}">
        <p14:creationId xmlns:p14="http://schemas.microsoft.com/office/powerpoint/2010/main" val="31294072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798897" y="108349"/>
            <a:ext cx="8268101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pPr algn="l"/>
            <a:r>
              <a:rPr lang="en-US" altLang="zh-CN" sz="320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&amp; Distributed Computing (3)</a:t>
            </a:r>
            <a:endParaRPr lang="en-US" sz="3200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27</a:t>
            </a:fld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5998CD-B05F-E626-8263-A2A1B702E1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8404" y="870891"/>
            <a:ext cx="7199697" cy="3224934"/>
          </a:xfrm>
        </p:spPr>
        <p:txBody>
          <a:bodyPr>
            <a:noAutofit/>
          </a:bodyPr>
          <a:lstStyle/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is </a:t>
            </a:r>
            <a:r>
              <a:rPr lang="en-US" altLang="zh-CN" sz="2000" b="0" i="1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 </a:t>
            </a:r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good strategy for CPU intensive computation such a large data mining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Because running a large computation in a virtual machine is inefficient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However, many systems need computation running all the time, but not so intensively</a:t>
            </a:r>
          </a:p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is most useful when flexibility is critical</a:t>
            </a:r>
          </a:p>
        </p:txBody>
      </p:sp>
    </p:spTree>
    <p:extLst>
      <p:ext uri="{BB962C8B-B14F-4D97-AF65-F5344CB8AC3E}">
        <p14:creationId xmlns:p14="http://schemas.microsoft.com/office/powerpoint/2010/main" val="10932566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872067" y="108349"/>
            <a:ext cx="8194931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pPr algn="l"/>
            <a:r>
              <a:rPr lang="en-US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Current Trends (1)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28</a:t>
            </a:fld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5998CD-B05F-E626-8263-A2A1B702E1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2528" y="813141"/>
            <a:ext cx="7199697" cy="3224934"/>
          </a:xfrm>
        </p:spPr>
        <p:txBody>
          <a:bodyPr>
            <a:noAutofit/>
          </a:bodyPr>
          <a:lstStyle/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Mobile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Heavily contested area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Adaptation to mobility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Harder to network when moving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Adaptation to low energy system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style of user interaction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Needs better synchronization across multiple mobile user devices</a:t>
            </a:r>
          </a:p>
        </p:txBody>
      </p:sp>
    </p:spTree>
    <p:extLst>
      <p:ext uri="{BB962C8B-B14F-4D97-AF65-F5344CB8AC3E}">
        <p14:creationId xmlns:p14="http://schemas.microsoft.com/office/powerpoint/2010/main" val="401125268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872067" y="108349"/>
            <a:ext cx="8194931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pPr algn="l"/>
            <a:r>
              <a:rPr lang="en-US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Current Trends (2)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29</a:t>
            </a:fld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5998CD-B05F-E626-8263-A2A1B702E1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2528" y="813141"/>
            <a:ext cx="7199697" cy="3224934"/>
          </a:xfrm>
        </p:spPr>
        <p:txBody>
          <a:bodyPr>
            <a:noAutofit/>
          </a:bodyPr>
          <a:lstStyle/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Sensors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sensor networks</a:t>
            </a:r>
          </a:p>
          <a:p>
            <a:pPr lvl="1"/>
            <a:r>
              <a:rPr lang="en-US" altLang="zh-CN" sz="1800" b="0" i="0" u="none" strike="noStrike" baseline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TinyOS</a:t>
            </a:r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sz="1800" b="0" i="0" u="none" strike="noStrike" baseline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LiteOS</a:t>
            </a:r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Contiki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Small, low power sensor devices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Needs efficient operation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Needs specialization to process and handle sensor data and related operations in place of application interface</a:t>
            </a:r>
          </a:p>
        </p:txBody>
      </p:sp>
    </p:spTree>
    <p:extLst>
      <p:ext uri="{BB962C8B-B14F-4D97-AF65-F5344CB8AC3E}">
        <p14:creationId xmlns:p14="http://schemas.microsoft.com/office/powerpoint/2010/main" val="33223689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 bwMode="auto">
          <a:xfrm>
            <a:off x="798897" y="108349"/>
            <a:ext cx="8268101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pPr algn="l"/>
            <a:r>
              <a:rPr lang="en-US" altLang="zh-CN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Current Trends (3)</a:t>
            </a:r>
            <a:endParaRPr lang="en-US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2770A3-20C8-A6FE-D4CB-06CB1CFC9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30</a:t>
            </a:fld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5998CD-B05F-E626-8263-A2A1B702E1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2528" y="842016"/>
            <a:ext cx="7199697" cy="3224934"/>
          </a:xfrm>
        </p:spPr>
        <p:txBody>
          <a:bodyPr>
            <a:noAutofit/>
          </a:bodyPr>
          <a:lstStyle/>
          <a:p>
            <a:pPr algn="l"/>
            <a:r>
              <a:rPr lang="en-US" altLang="zh-CN" sz="20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Embedded Systems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Computers all around us, in every device/machine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Needs OS and Distributed Computing, since they need to communicate with each-other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Adaptation to low power, low resource environment</a:t>
            </a:r>
          </a:p>
          <a:p>
            <a:pPr lvl="1"/>
            <a:r>
              <a:rPr lang="en-US" altLang="zh-CN" sz="1800" b="0" i="0" u="none" strike="noStrike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Has to run without supervision/interaction</a:t>
            </a:r>
          </a:p>
        </p:txBody>
      </p:sp>
    </p:spTree>
    <p:extLst>
      <p:ext uri="{BB962C8B-B14F-4D97-AF65-F5344CB8AC3E}">
        <p14:creationId xmlns:p14="http://schemas.microsoft.com/office/powerpoint/2010/main" val="1313543914"/>
      </p:ext>
    </p:extLst>
  </p:cSld>
  <p:clrMapOvr>
    <a:masterClrMapping/>
  </p:clrMapOvr>
</p:sld>
</file>

<file path=ppt/theme/theme1.xml><?xml version="1.0" encoding="utf-8"?>
<a:theme xmlns:a="http://schemas.openxmlformats.org/drawingml/2006/main" name="NTHU UniClou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預設簡報設計">
      <a:majorFont>
        <a:latin typeface="MS Sans Serif"/>
        <a:ea typeface="MS Sans Serif"/>
        <a:cs typeface="MS Sans Serif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lnDef>
    <a:txDef>
      <a:spPr>
        <a:noFill/>
      </a:spPr>
      <a:bodyPr wrap="none" rtlCol="0" anchor="ctr" anchorCtr="1">
        <a:spAutoFit/>
      </a:bodyPr>
      <a:lstStyle>
        <a:defPPr>
          <a:defRPr dirty="0" smtClean="0">
            <a:ea typeface="標楷體" pitchFamily="65" charset="-120"/>
            <a:cs typeface="Calibri" pitchFamily="34" charset="0"/>
          </a:defRPr>
        </a:defPPr>
      </a:lstStyle>
    </a:txDef>
  </a:objectDefaults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NTHU UniCloud" id="{771810AA-CEBD-463A-B947-7C0DFAF8BB54}" vid="{30CF6CD1-9989-4B2E-8702-709C1DF65D8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NTHU UniCloud</Template>
  <TotalTime>2628</TotalTime>
  <Words>1385</Words>
  <Application>Microsoft Office PowerPoint</Application>
  <PresentationFormat>全屏显示(16:9)</PresentationFormat>
  <Paragraphs>208</Paragraphs>
  <Slides>30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30</vt:i4>
      </vt:variant>
    </vt:vector>
  </HeadingPairs>
  <TitlesOfParts>
    <vt:vector size="36" baseType="lpstr">
      <vt:lpstr>MS Sans Serif</vt:lpstr>
      <vt:lpstr>Arial</vt:lpstr>
      <vt:lpstr>Calibri</vt:lpstr>
      <vt:lpstr>Times New Roman</vt:lpstr>
      <vt:lpstr>Wingdings</vt:lpstr>
      <vt:lpstr>NTHU UniCloud</vt:lpstr>
      <vt:lpstr>CSC6032 – Advanced Operating Systems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Open 5G / IoT Cloud Platform</dc:title>
  <dc:creator>Wu-Chun Chung</dc:creator>
  <cp:lastModifiedBy>Yeh-Ching Chung</cp:lastModifiedBy>
  <cp:revision>303</cp:revision>
  <dcterms:created xsi:type="dcterms:W3CDTF">2015-06-05T07:23:35Z</dcterms:created>
  <dcterms:modified xsi:type="dcterms:W3CDTF">2026-09-20T20:18:22Z</dcterms:modified>
</cp:coreProperties>
</file>