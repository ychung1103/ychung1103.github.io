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embeddedFontLst>
    <p:embeddedFont>
      <p:font typeface="KaiTi" panose="02010609060101010101" pitchFamily="49" charset="-122"/>
      <p:regular r:id="rId52"/>
    </p:embeddedFont>
    <p:embeddedFont>
      <p:font typeface="Georgia" panose="02040502050405020303" pitchFamily="18" charset="0"/>
      <p:regular r:id="rId53"/>
      <p:bold r:id="rId54"/>
      <p:italic r:id="rId55"/>
      <p:boldItalic r:id="rId56"/>
    </p:embeddedFont>
    <p:embeddedFont>
      <p:font typeface="Lato" panose="020F0502020204030203" pitchFamily="34" charset="0"/>
      <p:regular r:id="rId57"/>
      <p:bold r:id="rId58"/>
      <p:italic r:id="rId59"/>
      <p:boldItalic r:id="rId60"/>
    </p:embeddedFont>
    <p:embeddedFont>
      <p:font typeface="Lora" panose="020F0502020204030204" pitchFamily="2" charset="0"/>
      <p:regular r:id="rId61"/>
      <p:bold r:id="rId62"/>
      <p:italic r:id="rId63"/>
      <p:boldItalic r:id="rId64"/>
    </p:embeddedFont>
    <p:embeddedFont>
      <p:font typeface="Roboto" panose="02000000000000000000" pitchFamily="2"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0" roundtripDataSignature="AMtx7miJWf2ChpotS8pWOJZvsEffmsYrc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10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2.fntdata"/><Relationship Id="rId68"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font" Target="fonts/font15.fntdata"/><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notesMaster" Target="notesMasters/notesMaster1.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67"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font" Target="fonts/font11.fntdata"/><Relationship Id="rId7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font" Target="fonts/font14.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 name="Google Shape;7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80" name="Google Shape;8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bca7b3d0bf_0_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g3bca7b3d0bf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bca7b3d0bf_0_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g3bca7b3d0bf_0_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c2d40ae598_1_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3c2d40ae598_1_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g3c2d40ae598_1_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bca7b3d0bf_0_1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g3bca7b3d0bf_0_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c2d40ae598_1_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g3c2d40ae598_1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bca7b3d0bf_0_1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g3bca7b3d0bf_0_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c2d40ae598_1_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3c2d40ae598_1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g3c2d40ae598_1_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bca7b3d0bf_0_18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g3bca7b3d0bf_0_1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bca7b3d0bf_0_19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g3bca7b3d0bf_0_1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bca7b3d0bf_0_20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g3bca7b3d0bf_0_2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bca7b3d0bf_0_2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g3bca7b3d0bf_0_2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bca7b3d0bf_0_2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g3bca7b3d0bf_0_2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bca7b3d0bf_0_2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g3bca7b3d0bf_0_2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bca7b3d0bf_0_2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g3bca7b3d0bf_0_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bca7b3d0bf_0_26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g3bca7b3d0bf_0_2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c2d40ae598_1_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g3c2d40ae598_1_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g3c2d40ae598_1_7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bca7b3d0bf_0_28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g3bca7b3d0bf_0_2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bca7b3d0bf_0_30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g3bca7b3d0bf_0_3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bca7b3d0bf_0_3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g3bca7b3d0bf_0_3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bca7b3d0bf_0_3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g3bca7b3d0bf_0_3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bca7b3d0bf_0_3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g3bca7b3d0bf_0_3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bca7b3d0bf_0_3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g3bca7b3d0bf_0_3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bca7b3d0bf_0_3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g3bca7b3d0bf_0_3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bca7b3d0bf_0_38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g3bca7b3d0bf_0_3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bca7b3d0bf_0_3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g3bca7b3d0bf_0_3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bca7b3d0bf_0_40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g3bca7b3d0bf_0_4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bca7b3d0bf_0_4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g3bca7b3d0bf_0_4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bca7b3d0bf_0_40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5" name="Google Shape;425;g3bca7b3d0bf_0_4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3c2d40ae598_1_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g3c2d40ae598_1_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g3c2d40ae598_1_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3bca7b3d0bf_0_4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g3bca7b3d0bf_0_4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bca7b3d0bf_0_47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g3bca7b3d0bf_0_4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bca7b3d0bf_0_4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2" name="Google Shape;462;g3bca7b3d0bf_0_4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3bca7b3d0bf_0_50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g3bca7b3d0bf_0_5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bca7b3d0bf_0_5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1" name="Google Shape;481;g3bca7b3d0bf_0_5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3bca7b3d0bf_0_5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g3bca7b3d0bf_0_5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bca7b3d0bf_0_5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g3bca7b3d0bf_0_5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3bca7b3d0bf_0_5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g3bca7b3d0bf_0_5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bca7b3d0bf_0_58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1" name="Google Shape;521;g3bca7b3d0bf_0_5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c2d40ae598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3" name="Google Shape;533;g3c2d40ae598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3c2d40ae598_1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1" name="Google Shape;541;g3c2d40ae598_1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c2d40ae598_1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g3c2d40ae598_1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3bca7b3d0bf_0_46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g3bca7b3d0bf_0_4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c2d40ae598_1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9" name="Google Shape;569;g3c2d40ae598_1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0" name="Google Shape;570;g3c2d40ae598_1_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及物件" type="obj">
  <p:cSld name="OBJECT">
    <p:spTree>
      <p:nvGrpSpPr>
        <p:cNvPr id="1" name="Shape 21"/>
        <p:cNvGrpSpPr/>
        <p:nvPr/>
      </p:nvGrpSpPr>
      <p:grpSpPr>
        <a:xfrm>
          <a:off x="0" y="0"/>
          <a:ext cx="0" cy="0"/>
          <a:chOff x="0" y="0"/>
          <a:chExt cx="0" cy="0"/>
        </a:xfrm>
      </p:grpSpPr>
      <p:sp>
        <p:nvSpPr>
          <p:cNvPr id="22" name="Google Shape;22;p54"/>
          <p:cNvSpPr txBox="1">
            <a:spLocks noGrp="1"/>
          </p:cNvSpPr>
          <p:nvPr>
            <p:ph type="title"/>
          </p:nvPr>
        </p:nvSpPr>
        <p:spPr>
          <a:xfrm>
            <a:off x="1049867" y="144466"/>
            <a:ext cx="10517721" cy="69215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54"/>
          <p:cNvSpPr txBox="1">
            <a:spLocks noGrp="1"/>
          </p:cNvSpPr>
          <p:nvPr>
            <p:ph type="body" idx="1"/>
          </p:nvPr>
        </p:nvSpPr>
        <p:spPr>
          <a:xfrm>
            <a:off x="609600" y="1125537"/>
            <a:ext cx="10972800" cy="4895851"/>
          </a:xfrm>
          <a:prstGeom prst="rect">
            <a:avLst/>
          </a:prstGeom>
          <a:noFill/>
          <a:ln>
            <a:noFill/>
          </a:ln>
        </p:spPr>
        <p:txBody>
          <a:bodyPr spcFirstLastPara="1" wrap="square" lIns="91425" tIns="45700" rIns="91425" bIns="45700" anchor="t" anchorCtr="0">
            <a:noAutofit/>
          </a:bodyPr>
          <a:lstStyle>
            <a:lvl1pPr marL="457200" lvl="0" indent="-320040" algn="l">
              <a:spcBef>
                <a:spcPts val="360"/>
              </a:spcBef>
              <a:spcAft>
                <a:spcPts val="0"/>
              </a:spcAft>
              <a:buSzPts val="1440"/>
              <a:buChar char="●"/>
              <a:defRPr/>
            </a:lvl1pPr>
            <a:lvl2pPr marL="914400" lvl="1" indent="-331469" algn="l">
              <a:spcBef>
                <a:spcPts val="360"/>
              </a:spcBef>
              <a:spcAft>
                <a:spcPts val="0"/>
              </a:spcAft>
              <a:buSzPts val="1620"/>
              <a:buChar char="–"/>
              <a:defRPr/>
            </a:lvl2pPr>
            <a:lvl3pPr marL="1371600" lvl="2" indent="-397954" algn="l">
              <a:spcBef>
                <a:spcPts val="533"/>
              </a:spcBef>
              <a:spcAft>
                <a:spcPts val="0"/>
              </a:spcAft>
              <a:buClr>
                <a:schemeClr val="dk1"/>
              </a:buClr>
              <a:buSzPts val="2667"/>
              <a:buFont typeface="Calibri"/>
              <a:buChar char="•"/>
              <a:defRPr sz="2667">
                <a:latin typeface="Calibri"/>
                <a:ea typeface="Calibri"/>
                <a:cs typeface="Calibri"/>
                <a:sym typeface="Calibri"/>
              </a:defRPr>
            </a:lvl3pPr>
            <a:lvl4pPr marL="1828800" lvl="3" indent="-381000" algn="l">
              <a:spcBef>
                <a:spcPts val="480"/>
              </a:spcBef>
              <a:spcAft>
                <a:spcPts val="0"/>
              </a:spcAft>
              <a:buClr>
                <a:schemeClr val="dk1"/>
              </a:buClr>
              <a:buSzPts val="2400"/>
              <a:buFont typeface="Calibri"/>
              <a:buChar char="–"/>
              <a:defRPr sz="2400">
                <a:latin typeface="Calibri"/>
                <a:ea typeface="Calibri"/>
                <a:cs typeface="Calibri"/>
                <a:sym typeface="Calibri"/>
              </a:defRPr>
            </a:lvl4pPr>
            <a:lvl5pPr marL="2286000" lvl="4" indent="-364045" algn="l">
              <a:spcBef>
                <a:spcPts val="427"/>
              </a:spcBef>
              <a:spcAft>
                <a:spcPts val="0"/>
              </a:spcAft>
              <a:buClr>
                <a:schemeClr val="dk1"/>
              </a:buClr>
              <a:buSzPts val="2133"/>
              <a:buFont typeface="Calibri"/>
              <a:buChar char="»"/>
              <a:defRPr sz="2133">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54"/>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b="0" i="0" u="none" strike="noStrike" cap="none">
                <a:solidFill>
                  <a:schemeClr val="lt1"/>
                </a:solidFill>
                <a:latin typeface="Arial"/>
                <a:ea typeface="Arial"/>
                <a:cs typeface="Arial"/>
                <a:sym typeface="Arial"/>
              </a:defRPr>
            </a:lvl1pPr>
            <a:lvl2pPr marL="0" lvl="1" indent="0" algn="r">
              <a:spcBef>
                <a:spcPts val="0"/>
              </a:spcBef>
              <a:buNone/>
              <a:defRPr sz="1200" b="0" i="0" u="none" strike="noStrike" cap="none">
                <a:solidFill>
                  <a:schemeClr val="lt1"/>
                </a:solidFill>
                <a:latin typeface="Arial"/>
                <a:ea typeface="Arial"/>
                <a:cs typeface="Arial"/>
                <a:sym typeface="Arial"/>
              </a:defRPr>
            </a:lvl2pPr>
            <a:lvl3pPr marL="0" lvl="2" indent="0" algn="r">
              <a:spcBef>
                <a:spcPts val="0"/>
              </a:spcBef>
              <a:buNone/>
              <a:defRPr sz="1200" b="0" i="0" u="none" strike="noStrike" cap="none">
                <a:solidFill>
                  <a:schemeClr val="lt1"/>
                </a:solidFill>
                <a:latin typeface="Arial"/>
                <a:ea typeface="Arial"/>
                <a:cs typeface="Arial"/>
                <a:sym typeface="Arial"/>
              </a:defRPr>
            </a:lvl3pPr>
            <a:lvl4pPr marL="0" lvl="3" indent="0" algn="r">
              <a:spcBef>
                <a:spcPts val="0"/>
              </a:spcBef>
              <a:buNone/>
              <a:defRPr sz="1200" b="0" i="0" u="none" strike="noStrike" cap="none">
                <a:solidFill>
                  <a:schemeClr val="lt1"/>
                </a:solidFill>
                <a:latin typeface="Arial"/>
                <a:ea typeface="Arial"/>
                <a:cs typeface="Arial"/>
                <a:sym typeface="Arial"/>
              </a:defRPr>
            </a:lvl4pPr>
            <a:lvl5pPr marL="0" lvl="4" indent="0" algn="r">
              <a:spcBef>
                <a:spcPts val="0"/>
              </a:spcBef>
              <a:buNone/>
              <a:defRPr sz="1200" b="0" i="0" u="none" strike="noStrike" cap="none">
                <a:solidFill>
                  <a:schemeClr val="lt1"/>
                </a:solidFill>
                <a:latin typeface="Arial"/>
                <a:ea typeface="Arial"/>
                <a:cs typeface="Arial"/>
                <a:sym typeface="Arial"/>
              </a:defRPr>
            </a:lvl5pPr>
            <a:lvl6pPr marL="0" lvl="5" indent="0" algn="r">
              <a:spcBef>
                <a:spcPts val="0"/>
              </a:spcBef>
              <a:buNone/>
              <a:defRPr sz="1200" b="0" i="0" u="none" strike="noStrike" cap="none">
                <a:solidFill>
                  <a:schemeClr val="lt1"/>
                </a:solidFill>
                <a:latin typeface="Arial"/>
                <a:ea typeface="Arial"/>
                <a:cs typeface="Arial"/>
                <a:sym typeface="Arial"/>
              </a:defRPr>
            </a:lvl6pPr>
            <a:lvl7pPr marL="0" lvl="6" indent="0" algn="r">
              <a:spcBef>
                <a:spcPts val="0"/>
              </a:spcBef>
              <a:buNone/>
              <a:defRPr sz="1200" b="0" i="0" u="none" strike="noStrike" cap="none">
                <a:solidFill>
                  <a:schemeClr val="lt1"/>
                </a:solidFill>
                <a:latin typeface="Arial"/>
                <a:ea typeface="Arial"/>
                <a:cs typeface="Arial"/>
                <a:sym typeface="Arial"/>
              </a:defRPr>
            </a:lvl7pPr>
            <a:lvl8pPr marL="0" lvl="7" indent="0" algn="r">
              <a:spcBef>
                <a:spcPts val="0"/>
              </a:spcBef>
              <a:buNone/>
              <a:defRPr sz="1200" b="0" i="0" u="none" strike="noStrike" cap="none">
                <a:solidFill>
                  <a:schemeClr val="lt1"/>
                </a:solidFill>
                <a:latin typeface="Arial"/>
                <a:ea typeface="Arial"/>
                <a:cs typeface="Arial"/>
                <a:sym typeface="Arial"/>
              </a:defRPr>
            </a:lvl8pPr>
            <a:lvl9pPr marL="0" lvl="8" indent="0" algn="r">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標題投影片" type="title">
  <p:cSld name="TITLE">
    <p:spTree>
      <p:nvGrpSpPr>
        <p:cNvPr id="1" name="Shape 25"/>
        <p:cNvGrpSpPr/>
        <p:nvPr/>
      </p:nvGrpSpPr>
      <p:grpSpPr>
        <a:xfrm>
          <a:off x="0" y="0"/>
          <a:ext cx="0" cy="0"/>
          <a:chOff x="0" y="0"/>
          <a:chExt cx="0" cy="0"/>
        </a:xfrm>
      </p:grpSpPr>
      <p:sp>
        <p:nvSpPr>
          <p:cNvPr id="26" name="Google Shape;26;p55"/>
          <p:cNvSpPr txBox="1">
            <a:spLocks noGrp="1"/>
          </p:cNvSpPr>
          <p:nvPr>
            <p:ph type="ctrTitle"/>
          </p:nvPr>
        </p:nvSpPr>
        <p:spPr>
          <a:xfrm>
            <a:off x="914400" y="2130432"/>
            <a:ext cx="103632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5333"/>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5"/>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spcBef>
                <a:spcPts val="747"/>
              </a:spcBef>
              <a:spcAft>
                <a:spcPts val="0"/>
              </a:spcAft>
              <a:buSzPts val="2986"/>
              <a:buNone/>
              <a:defRPr/>
            </a:lvl1pPr>
            <a:lvl2pPr lvl="1" algn="ctr">
              <a:spcBef>
                <a:spcPts val="640"/>
              </a:spcBef>
              <a:spcAft>
                <a:spcPts val="0"/>
              </a:spcAft>
              <a:buSzPts val="2880"/>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a:endParaRPr/>
          </a:p>
        </p:txBody>
      </p:sp>
      <p:sp>
        <p:nvSpPr>
          <p:cNvPr id="28" name="Google Shape;28;p55"/>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b="0" i="0" u="none" strike="noStrike" cap="none">
                <a:solidFill>
                  <a:schemeClr val="lt1"/>
                </a:solidFill>
                <a:latin typeface="Arial"/>
                <a:ea typeface="Arial"/>
                <a:cs typeface="Arial"/>
                <a:sym typeface="Arial"/>
              </a:defRPr>
            </a:lvl1pPr>
            <a:lvl2pPr marL="0" lvl="1" indent="0" algn="r">
              <a:spcBef>
                <a:spcPts val="0"/>
              </a:spcBef>
              <a:buNone/>
              <a:defRPr sz="1200" b="0" i="0" u="none" strike="noStrike" cap="none">
                <a:solidFill>
                  <a:schemeClr val="lt1"/>
                </a:solidFill>
                <a:latin typeface="Arial"/>
                <a:ea typeface="Arial"/>
                <a:cs typeface="Arial"/>
                <a:sym typeface="Arial"/>
              </a:defRPr>
            </a:lvl2pPr>
            <a:lvl3pPr marL="0" lvl="2" indent="0" algn="r">
              <a:spcBef>
                <a:spcPts val="0"/>
              </a:spcBef>
              <a:buNone/>
              <a:defRPr sz="1200" b="0" i="0" u="none" strike="noStrike" cap="none">
                <a:solidFill>
                  <a:schemeClr val="lt1"/>
                </a:solidFill>
                <a:latin typeface="Arial"/>
                <a:ea typeface="Arial"/>
                <a:cs typeface="Arial"/>
                <a:sym typeface="Arial"/>
              </a:defRPr>
            </a:lvl3pPr>
            <a:lvl4pPr marL="0" lvl="3" indent="0" algn="r">
              <a:spcBef>
                <a:spcPts val="0"/>
              </a:spcBef>
              <a:buNone/>
              <a:defRPr sz="1200" b="0" i="0" u="none" strike="noStrike" cap="none">
                <a:solidFill>
                  <a:schemeClr val="lt1"/>
                </a:solidFill>
                <a:latin typeface="Arial"/>
                <a:ea typeface="Arial"/>
                <a:cs typeface="Arial"/>
                <a:sym typeface="Arial"/>
              </a:defRPr>
            </a:lvl4pPr>
            <a:lvl5pPr marL="0" lvl="4" indent="0" algn="r">
              <a:spcBef>
                <a:spcPts val="0"/>
              </a:spcBef>
              <a:buNone/>
              <a:defRPr sz="1200" b="0" i="0" u="none" strike="noStrike" cap="none">
                <a:solidFill>
                  <a:schemeClr val="lt1"/>
                </a:solidFill>
                <a:latin typeface="Arial"/>
                <a:ea typeface="Arial"/>
                <a:cs typeface="Arial"/>
                <a:sym typeface="Arial"/>
              </a:defRPr>
            </a:lvl5pPr>
            <a:lvl6pPr marL="0" lvl="5" indent="0" algn="r">
              <a:spcBef>
                <a:spcPts val="0"/>
              </a:spcBef>
              <a:buNone/>
              <a:defRPr sz="1200" b="0" i="0" u="none" strike="noStrike" cap="none">
                <a:solidFill>
                  <a:schemeClr val="lt1"/>
                </a:solidFill>
                <a:latin typeface="Arial"/>
                <a:ea typeface="Arial"/>
                <a:cs typeface="Arial"/>
                <a:sym typeface="Arial"/>
              </a:defRPr>
            </a:lvl6pPr>
            <a:lvl7pPr marL="0" lvl="6" indent="0" algn="r">
              <a:spcBef>
                <a:spcPts val="0"/>
              </a:spcBef>
              <a:buNone/>
              <a:defRPr sz="1200" b="0" i="0" u="none" strike="noStrike" cap="none">
                <a:solidFill>
                  <a:schemeClr val="lt1"/>
                </a:solidFill>
                <a:latin typeface="Arial"/>
                <a:ea typeface="Arial"/>
                <a:cs typeface="Arial"/>
                <a:sym typeface="Arial"/>
              </a:defRPr>
            </a:lvl7pPr>
            <a:lvl8pPr marL="0" lvl="7" indent="0" algn="r">
              <a:spcBef>
                <a:spcPts val="0"/>
              </a:spcBef>
              <a:buNone/>
              <a:defRPr sz="1200" b="0" i="0" u="none" strike="noStrike" cap="none">
                <a:solidFill>
                  <a:schemeClr val="lt1"/>
                </a:solidFill>
                <a:latin typeface="Arial"/>
                <a:ea typeface="Arial"/>
                <a:cs typeface="Arial"/>
                <a:sym typeface="Arial"/>
              </a:defRPr>
            </a:lvl8pPr>
            <a:lvl9pPr marL="0" lvl="8" indent="0" algn="r">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區段標題" type="secHead">
  <p:cSld name="SECTION_HEADER">
    <p:spTree>
      <p:nvGrpSpPr>
        <p:cNvPr id="1" name="Shape 29"/>
        <p:cNvGrpSpPr/>
        <p:nvPr/>
      </p:nvGrpSpPr>
      <p:grpSpPr>
        <a:xfrm>
          <a:off x="0" y="0"/>
          <a:ext cx="0" cy="0"/>
          <a:chOff x="0" y="0"/>
          <a:chExt cx="0" cy="0"/>
        </a:xfrm>
      </p:grpSpPr>
      <p:sp>
        <p:nvSpPr>
          <p:cNvPr id="30" name="Google Shape;30;p56"/>
          <p:cNvSpPr txBox="1">
            <a:spLocks noGrp="1"/>
          </p:cNvSpPr>
          <p:nvPr>
            <p:ph type="title"/>
          </p:nvPr>
        </p:nvSpPr>
        <p:spPr>
          <a:xfrm>
            <a:off x="963084" y="4406903"/>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267"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6"/>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747"/>
              </a:spcBef>
              <a:spcAft>
                <a:spcPts val="0"/>
              </a:spcAft>
              <a:buSzPts val="2986"/>
              <a:buNone/>
              <a:defRPr sz="3733"/>
            </a:lvl1pPr>
            <a:lvl2pPr marL="914400" lvl="1" indent="-228600" algn="l">
              <a:spcBef>
                <a:spcPts val="360"/>
              </a:spcBef>
              <a:spcAft>
                <a:spcPts val="0"/>
              </a:spcAft>
              <a:buSzPts val="1621"/>
              <a:buNone/>
              <a:defRPr sz="1801"/>
            </a:lvl2pPr>
            <a:lvl3pPr marL="1371600" lvl="2" indent="-228600" algn="l">
              <a:spcBef>
                <a:spcPts val="320"/>
              </a:spcBef>
              <a:spcAft>
                <a:spcPts val="0"/>
              </a:spcAft>
              <a:buClr>
                <a:schemeClr val="dk1"/>
              </a:buClr>
              <a:buSzPts val="1600"/>
              <a:buFont typeface="Arial"/>
              <a:buNone/>
              <a:defRPr sz="1600"/>
            </a:lvl3pPr>
            <a:lvl4pPr marL="1828800" lvl="3" indent="-228600" algn="l">
              <a:spcBef>
                <a:spcPts val="280"/>
              </a:spcBef>
              <a:spcAft>
                <a:spcPts val="0"/>
              </a:spcAft>
              <a:buClr>
                <a:schemeClr val="dk1"/>
              </a:buClr>
              <a:buSzPts val="1401"/>
              <a:buFont typeface="Arial"/>
              <a:buNone/>
              <a:defRPr sz="1401"/>
            </a:lvl4pPr>
            <a:lvl5pPr marL="2286000" lvl="4" indent="-228600" algn="l">
              <a:spcBef>
                <a:spcPts val="280"/>
              </a:spcBef>
              <a:spcAft>
                <a:spcPts val="0"/>
              </a:spcAft>
              <a:buClr>
                <a:schemeClr val="dk1"/>
              </a:buClr>
              <a:buSzPts val="1401"/>
              <a:buFont typeface="Arial"/>
              <a:buNone/>
              <a:defRPr sz="1401"/>
            </a:lvl5pPr>
            <a:lvl6pPr marL="2743200" lvl="5" indent="-228600" algn="l">
              <a:spcBef>
                <a:spcPts val="280"/>
              </a:spcBef>
              <a:spcAft>
                <a:spcPts val="0"/>
              </a:spcAft>
              <a:buClr>
                <a:schemeClr val="dk1"/>
              </a:buClr>
              <a:buSzPts val="1401"/>
              <a:buFont typeface="Arial"/>
              <a:buNone/>
              <a:defRPr sz="1401"/>
            </a:lvl6pPr>
            <a:lvl7pPr marL="3200400" lvl="6" indent="-228600" algn="l">
              <a:spcBef>
                <a:spcPts val="280"/>
              </a:spcBef>
              <a:spcAft>
                <a:spcPts val="0"/>
              </a:spcAft>
              <a:buClr>
                <a:schemeClr val="dk1"/>
              </a:buClr>
              <a:buSzPts val="1401"/>
              <a:buFont typeface="Arial"/>
              <a:buNone/>
              <a:defRPr sz="1401"/>
            </a:lvl7pPr>
            <a:lvl8pPr marL="3657600" lvl="7" indent="-228600" algn="l">
              <a:spcBef>
                <a:spcPts val="280"/>
              </a:spcBef>
              <a:spcAft>
                <a:spcPts val="0"/>
              </a:spcAft>
              <a:buClr>
                <a:schemeClr val="dk1"/>
              </a:buClr>
              <a:buSzPts val="1401"/>
              <a:buFont typeface="Arial"/>
              <a:buNone/>
              <a:defRPr sz="1401"/>
            </a:lvl8pPr>
            <a:lvl9pPr marL="4114800" lvl="8" indent="-228600" algn="l">
              <a:spcBef>
                <a:spcPts val="280"/>
              </a:spcBef>
              <a:spcAft>
                <a:spcPts val="0"/>
              </a:spcAft>
              <a:buClr>
                <a:schemeClr val="dk1"/>
              </a:buClr>
              <a:buSzPts val="1401"/>
              <a:buFont typeface="Arial"/>
              <a:buNone/>
              <a:defRPr sz="1401"/>
            </a:lvl9pPr>
          </a:lstStyle>
          <a:p>
            <a:endParaRPr/>
          </a:p>
        </p:txBody>
      </p:sp>
      <p:sp>
        <p:nvSpPr>
          <p:cNvPr id="32" name="Google Shape;32;p56"/>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兩項物件" type="twoObj">
  <p:cSld name="TWO_OBJECTS">
    <p:spTree>
      <p:nvGrpSpPr>
        <p:cNvPr id="1" name="Shape 33"/>
        <p:cNvGrpSpPr/>
        <p:nvPr/>
      </p:nvGrpSpPr>
      <p:grpSpPr>
        <a:xfrm>
          <a:off x="0" y="0"/>
          <a:ext cx="0" cy="0"/>
          <a:chOff x="0" y="0"/>
          <a:chExt cx="0" cy="0"/>
        </a:xfrm>
      </p:grpSpPr>
      <p:sp>
        <p:nvSpPr>
          <p:cNvPr id="34" name="Google Shape;34;p57"/>
          <p:cNvSpPr txBox="1">
            <a:spLocks noGrp="1"/>
          </p:cNvSpPr>
          <p:nvPr>
            <p:ph type="title"/>
          </p:nvPr>
        </p:nvSpPr>
        <p:spPr>
          <a:xfrm>
            <a:off x="1049867" y="144466"/>
            <a:ext cx="10517721" cy="69215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7"/>
          <p:cNvSpPr txBox="1">
            <a:spLocks noGrp="1"/>
          </p:cNvSpPr>
          <p:nvPr>
            <p:ph type="body" idx="1"/>
          </p:nvPr>
        </p:nvSpPr>
        <p:spPr>
          <a:xfrm>
            <a:off x="609600" y="1125536"/>
            <a:ext cx="5384800" cy="4227699"/>
          </a:xfrm>
          <a:prstGeom prst="rect">
            <a:avLst/>
          </a:prstGeom>
          <a:noFill/>
          <a:ln>
            <a:noFill/>
          </a:ln>
        </p:spPr>
        <p:txBody>
          <a:bodyPr spcFirstLastPara="1" wrap="square" lIns="91425" tIns="45700" rIns="91425" bIns="45700" anchor="t" anchorCtr="0">
            <a:noAutofit/>
          </a:bodyPr>
          <a:lstStyle>
            <a:lvl1pPr marL="457200" lvl="0" indent="-418236" algn="l">
              <a:spcBef>
                <a:spcPts val="747"/>
              </a:spcBef>
              <a:spcAft>
                <a:spcPts val="0"/>
              </a:spcAft>
              <a:buSzPts val="2986"/>
              <a:buChar char="●"/>
              <a:defRPr sz="3733"/>
            </a:lvl1pPr>
            <a:lvl2pPr marL="914400" lvl="1" indent="-411480" algn="l">
              <a:spcBef>
                <a:spcPts val="640"/>
              </a:spcBef>
              <a:spcAft>
                <a:spcPts val="0"/>
              </a:spcAft>
              <a:buSzPts val="2880"/>
              <a:buChar char="–"/>
              <a:defRPr sz="3200"/>
            </a:lvl2pPr>
            <a:lvl3pPr marL="1371600" lvl="2" indent="-381000" algn="l">
              <a:spcBef>
                <a:spcPts val="480"/>
              </a:spcBef>
              <a:spcAft>
                <a:spcPts val="0"/>
              </a:spcAft>
              <a:buClr>
                <a:schemeClr val="dk1"/>
              </a:buClr>
              <a:buSzPts val="2400"/>
              <a:buFont typeface="Arial"/>
              <a:buChar char="•"/>
              <a:defRPr sz="2400"/>
            </a:lvl3pPr>
            <a:lvl4pPr marL="1828800" lvl="3" indent="-364045" algn="l">
              <a:spcBef>
                <a:spcPts val="427"/>
              </a:spcBef>
              <a:spcAft>
                <a:spcPts val="0"/>
              </a:spcAft>
              <a:buClr>
                <a:schemeClr val="dk1"/>
              </a:buClr>
              <a:buSzPts val="2133"/>
              <a:buFont typeface="Arial"/>
              <a:buChar char="–"/>
              <a:defRPr sz="2133"/>
            </a:lvl4pPr>
            <a:lvl5pPr marL="2286000" lvl="4" indent="-364045" algn="l">
              <a:spcBef>
                <a:spcPts val="427"/>
              </a:spcBef>
              <a:spcAft>
                <a:spcPts val="0"/>
              </a:spcAft>
              <a:buClr>
                <a:schemeClr val="dk1"/>
              </a:buClr>
              <a:buSzPts val="2133"/>
              <a:buFont typeface="Arial"/>
              <a:buChar char="»"/>
              <a:defRPr sz="2133"/>
            </a:lvl5pPr>
            <a:lvl6pPr marL="2743200" lvl="5" indent="-342963" algn="l">
              <a:spcBef>
                <a:spcPts val="360"/>
              </a:spcBef>
              <a:spcAft>
                <a:spcPts val="0"/>
              </a:spcAft>
              <a:buClr>
                <a:schemeClr val="dk1"/>
              </a:buClr>
              <a:buSzPts val="1801"/>
              <a:buFont typeface="Arial"/>
              <a:buChar char="»"/>
              <a:defRPr sz="1801"/>
            </a:lvl6pPr>
            <a:lvl7pPr marL="3200400" lvl="6" indent="-342963" algn="l">
              <a:spcBef>
                <a:spcPts val="360"/>
              </a:spcBef>
              <a:spcAft>
                <a:spcPts val="0"/>
              </a:spcAft>
              <a:buClr>
                <a:schemeClr val="dk1"/>
              </a:buClr>
              <a:buSzPts val="1801"/>
              <a:buFont typeface="Arial"/>
              <a:buChar char="»"/>
              <a:defRPr sz="1801"/>
            </a:lvl7pPr>
            <a:lvl8pPr marL="3657600" lvl="7" indent="-342963" algn="l">
              <a:spcBef>
                <a:spcPts val="360"/>
              </a:spcBef>
              <a:spcAft>
                <a:spcPts val="0"/>
              </a:spcAft>
              <a:buClr>
                <a:schemeClr val="dk1"/>
              </a:buClr>
              <a:buSzPts val="1801"/>
              <a:buFont typeface="Arial"/>
              <a:buChar char="»"/>
              <a:defRPr sz="1801"/>
            </a:lvl8pPr>
            <a:lvl9pPr marL="4114800" lvl="8" indent="-342963" algn="l">
              <a:spcBef>
                <a:spcPts val="360"/>
              </a:spcBef>
              <a:spcAft>
                <a:spcPts val="0"/>
              </a:spcAft>
              <a:buClr>
                <a:schemeClr val="dk1"/>
              </a:buClr>
              <a:buSzPts val="1801"/>
              <a:buFont typeface="Arial"/>
              <a:buChar char="»"/>
              <a:defRPr sz="1801"/>
            </a:lvl9pPr>
          </a:lstStyle>
          <a:p>
            <a:endParaRPr/>
          </a:p>
        </p:txBody>
      </p:sp>
      <p:sp>
        <p:nvSpPr>
          <p:cNvPr id="36" name="Google Shape;36;p57"/>
          <p:cNvSpPr txBox="1">
            <a:spLocks noGrp="1"/>
          </p:cNvSpPr>
          <p:nvPr>
            <p:ph type="body" idx="2"/>
          </p:nvPr>
        </p:nvSpPr>
        <p:spPr>
          <a:xfrm>
            <a:off x="6197600" y="1125536"/>
            <a:ext cx="5384800" cy="4227699"/>
          </a:xfrm>
          <a:prstGeom prst="rect">
            <a:avLst/>
          </a:prstGeom>
          <a:noFill/>
          <a:ln>
            <a:noFill/>
          </a:ln>
        </p:spPr>
        <p:txBody>
          <a:bodyPr spcFirstLastPara="1" wrap="square" lIns="91425" tIns="45700" rIns="91425" bIns="45700" anchor="t" anchorCtr="0">
            <a:noAutofit/>
          </a:bodyPr>
          <a:lstStyle>
            <a:lvl1pPr marL="457200" lvl="0" indent="-418236" algn="l">
              <a:spcBef>
                <a:spcPts val="747"/>
              </a:spcBef>
              <a:spcAft>
                <a:spcPts val="0"/>
              </a:spcAft>
              <a:buSzPts val="2986"/>
              <a:buChar char="●"/>
              <a:defRPr sz="3733"/>
            </a:lvl1pPr>
            <a:lvl2pPr marL="914400" lvl="1" indent="-411480" algn="l">
              <a:spcBef>
                <a:spcPts val="640"/>
              </a:spcBef>
              <a:spcAft>
                <a:spcPts val="0"/>
              </a:spcAft>
              <a:buSzPts val="2880"/>
              <a:buChar char="–"/>
              <a:defRPr sz="3200"/>
            </a:lvl2pPr>
            <a:lvl3pPr marL="1371600" lvl="2" indent="-381000" algn="l">
              <a:spcBef>
                <a:spcPts val="480"/>
              </a:spcBef>
              <a:spcAft>
                <a:spcPts val="0"/>
              </a:spcAft>
              <a:buClr>
                <a:schemeClr val="dk1"/>
              </a:buClr>
              <a:buSzPts val="2400"/>
              <a:buFont typeface="Arial"/>
              <a:buChar char="•"/>
              <a:defRPr sz="2400"/>
            </a:lvl3pPr>
            <a:lvl4pPr marL="1828800" lvl="3" indent="-364045" algn="l">
              <a:spcBef>
                <a:spcPts val="427"/>
              </a:spcBef>
              <a:spcAft>
                <a:spcPts val="0"/>
              </a:spcAft>
              <a:buClr>
                <a:schemeClr val="dk1"/>
              </a:buClr>
              <a:buSzPts val="2133"/>
              <a:buFont typeface="Arial"/>
              <a:buChar char="–"/>
              <a:defRPr sz="2133"/>
            </a:lvl4pPr>
            <a:lvl5pPr marL="2286000" lvl="4" indent="-364045" algn="l">
              <a:spcBef>
                <a:spcPts val="427"/>
              </a:spcBef>
              <a:spcAft>
                <a:spcPts val="0"/>
              </a:spcAft>
              <a:buClr>
                <a:schemeClr val="dk1"/>
              </a:buClr>
              <a:buSzPts val="2133"/>
              <a:buFont typeface="Arial"/>
              <a:buChar char="»"/>
              <a:defRPr sz="2133"/>
            </a:lvl5pPr>
            <a:lvl6pPr marL="2743200" lvl="5" indent="-342963" algn="l">
              <a:spcBef>
                <a:spcPts val="360"/>
              </a:spcBef>
              <a:spcAft>
                <a:spcPts val="0"/>
              </a:spcAft>
              <a:buClr>
                <a:schemeClr val="dk1"/>
              </a:buClr>
              <a:buSzPts val="1801"/>
              <a:buFont typeface="Arial"/>
              <a:buChar char="»"/>
              <a:defRPr sz="1801"/>
            </a:lvl6pPr>
            <a:lvl7pPr marL="3200400" lvl="6" indent="-342963" algn="l">
              <a:spcBef>
                <a:spcPts val="360"/>
              </a:spcBef>
              <a:spcAft>
                <a:spcPts val="0"/>
              </a:spcAft>
              <a:buClr>
                <a:schemeClr val="dk1"/>
              </a:buClr>
              <a:buSzPts val="1801"/>
              <a:buFont typeface="Arial"/>
              <a:buChar char="»"/>
              <a:defRPr sz="1801"/>
            </a:lvl7pPr>
            <a:lvl8pPr marL="3657600" lvl="7" indent="-342963" algn="l">
              <a:spcBef>
                <a:spcPts val="360"/>
              </a:spcBef>
              <a:spcAft>
                <a:spcPts val="0"/>
              </a:spcAft>
              <a:buClr>
                <a:schemeClr val="dk1"/>
              </a:buClr>
              <a:buSzPts val="1801"/>
              <a:buFont typeface="Arial"/>
              <a:buChar char="»"/>
              <a:defRPr sz="1801"/>
            </a:lvl8pPr>
            <a:lvl9pPr marL="4114800" lvl="8" indent="-342963" algn="l">
              <a:spcBef>
                <a:spcPts val="360"/>
              </a:spcBef>
              <a:spcAft>
                <a:spcPts val="0"/>
              </a:spcAft>
              <a:buClr>
                <a:schemeClr val="dk1"/>
              </a:buClr>
              <a:buSzPts val="1801"/>
              <a:buFont typeface="Arial"/>
              <a:buChar char="»"/>
              <a:defRPr sz="1801"/>
            </a:lvl9pPr>
          </a:lstStyle>
          <a:p>
            <a:endParaRPr/>
          </a:p>
        </p:txBody>
      </p:sp>
      <p:sp>
        <p:nvSpPr>
          <p:cNvPr id="37" name="Google Shape;37;p57"/>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對">
  <p:cSld name="比對">
    <p:spTree>
      <p:nvGrpSpPr>
        <p:cNvPr id="1" name="Shape 38"/>
        <p:cNvGrpSpPr/>
        <p:nvPr/>
      </p:nvGrpSpPr>
      <p:grpSpPr>
        <a:xfrm>
          <a:off x="0" y="0"/>
          <a:ext cx="0" cy="0"/>
          <a:chOff x="0" y="0"/>
          <a:chExt cx="0" cy="0"/>
        </a:xfrm>
      </p:grpSpPr>
      <p:sp>
        <p:nvSpPr>
          <p:cNvPr id="39" name="Google Shape;39;p58"/>
          <p:cNvSpPr txBox="1">
            <a:spLocks noGrp="1"/>
          </p:cNvSpPr>
          <p:nvPr>
            <p:ph type="body" idx="1"/>
          </p:nvPr>
        </p:nvSpPr>
        <p:spPr>
          <a:xfrm>
            <a:off x="609602" y="1268773"/>
            <a:ext cx="5386917" cy="639763"/>
          </a:xfrm>
          <a:prstGeom prst="rect">
            <a:avLst/>
          </a:prstGeom>
          <a:noFill/>
          <a:ln>
            <a:noFill/>
          </a:ln>
        </p:spPr>
        <p:txBody>
          <a:bodyPr spcFirstLastPara="1" wrap="square" lIns="91425" tIns="45700" rIns="91425" bIns="45700" anchor="b" anchorCtr="0">
            <a:noAutofit/>
          </a:bodyPr>
          <a:lstStyle>
            <a:lvl1pPr marL="457200" lvl="0" indent="-228600" algn="l">
              <a:spcBef>
                <a:spcPts val="533"/>
              </a:spcBef>
              <a:spcAft>
                <a:spcPts val="0"/>
              </a:spcAft>
              <a:buSzPts val="2134"/>
              <a:buNone/>
              <a:defRPr sz="2667" b="1"/>
            </a:lvl1pPr>
            <a:lvl2pPr marL="914400" lvl="1" indent="-228600" algn="l">
              <a:spcBef>
                <a:spcPts val="400"/>
              </a:spcBef>
              <a:spcAft>
                <a:spcPts val="0"/>
              </a:spcAft>
              <a:buSzPts val="1800"/>
              <a:buNone/>
              <a:defRPr sz="2000" b="1"/>
            </a:lvl2pPr>
            <a:lvl3pPr marL="1371600" lvl="2" indent="-228600" algn="l">
              <a:spcBef>
                <a:spcPts val="360"/>
              </a:spcBef>
              <a:spcAft>
                <a:spcPts val="0"/>
              </a:spcAft>
              <a:buClr>
                <a:schemeClr val="dk1"/>
              </a:buClr>
              <a:buSzPts val="1801"/>
              <a:buFont typeface="Arial"/>
              <a:buNone/>
              <a:defRPr sz="1801"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40" name="Google Shape;40;p58"/>
          <p:cNvSpPr txBox="1">
            <a:spLocks noGrp="1"/>
          </p:cNvSpPr>
          <p:nvPr>
            <p:ph type="body" idx="2"/>
          </p:nvPr>
        </p:nvSpPr>
        <p:spPr>
          <a:xfrm>
            <a:off x="609602" y="1908535"/>
            <a:ext cx="5386917" cy="3951288"/>
          </a:xfrm>
          <a:prstGeom prst="rect">
            <a:avLst/>
          </a:prstGeom>
          <a:noFill/>
          <a:ln>
            <a:noFill/>
          </a:ln>
        </p:spPr>
        <p:txBody>
          <a:bodyPr spcFirstLastPara="1" wrap="square" lIns="91425" tIns="45700" rIns="91425" bIns="45700" anchor="t" anchorCtr="0">
            <a:noAutofit/>
          </a:bodyPr>
          <a:lstStyle>
            <a:lvl1pPr marL="457200" lvl="0" indent="-364083" algn="l">
              <a:spcBef>
                <a:spcPts val="533"/>
              </a:spcBef>
              <a:spcAft>
                <a:spcPts val="0"/>
              </a:spcAft>
              <a:buSzPts val="2134"/>
              <a:buChar char="●"/>
              <a:defRPr sz="2667"/>
            </a:lvl1pPr>
            <a:lvl2pPr marL="914400" lvl="1" indent="-350500" algn="l">
              <a:spcBef>
                <a:spcPts val="427"/>
              </a:spcBef>
              <a:spcAft>
                <a:spcPts val="0"/>
              </a:spcAft>
              <a:buSzPts val="1920"/>
              <a:buChar char="–"/>
              <a:defRPr sz="2133"/>
            </a:lvl2pPr>
            <a:lvl3pPr marL="1371600" lvl="2" indent="-347154" algn="l">
              <a:spcBef>
                <a:spcPts val="373"/>
              </a:spcBef>
              <a:spcAft>
                <a:spcPts val="0"/>
              </a:spcAft>
              <a:buClr>
                <a:schemeClr val="dk1"/>
              </a:buClr>
              <a:buSzPts val="1867"/>
              <a:buFont typeface="Arial"/>
              <a:buChar char="•"/>
              <a:defRPr sz="1867"/>
            </a:lvl3pPr>
            <a:lvl4pPr marL="1828800" lvl="3" indent="-347154" algn="l">
              <a:spcBef>
                <a:spcPts val="373"/>
              </a:spcBef>
              <a:spcAft>
                <a:spcPts val="0"/>
              </a:spcAft>
              <a:buClr>
                <a:schemeClr val="dk1"/>
              </a:buClr>
              <a:buSzPts val="1867"/>
              <a:buFont typeface="Arial"/>
              <a:buChar char="–"/>
              <a:defRPr sz="1867"/>
            </a:lvl4pPr>
            <a:lvl5pPr marL="2286000" lvl="4" indent="-347154" algn="l">
              <a:spcBef>
                <a:spcPts val="373"/>
              </a:spcBef>
              <a:spcAft>
                <a:spcPts val="0"/>
              </a:spcAft>
              <a:buClr>
                <a:schemeClr val="dk1"/>
              </a:buClr>
              <a:buSzPts val="1867"/>
              <a:buFont typeface="Arial"/>
              <a:buChar char="»"/>
              <a:defRPr sz="1867"/>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41" name="Google Shape;41;p58"/>
          <p:cNvSpPr txBox="1">
            <a:spLocks noGrp="1"/>
          </p:cNvSpPr>
          <p:nvPr>
            <p:ph type="body" idx="3"/>
          </p:nvPr>
        </p:nvSpPr>
        <p:spPr>
          <a:xfrm>
            <a:off x="6193373" y="1268773"/>
            <a:ext cx="5389033" cy="639763"/>
          </a:xfrm>
          <a:prstGeom prst="rect">
            <a:avLst/>
          </a:prstGeom>
          <a:noFill/>
          <a:ln>
            <a:noFill/>
          </a:ln>
        </p:spPr>
        <p:txBody>
          <a:bodyPr spcFirstLastPara="1" wrap="square" lIns="91425" tIns="45700" rIns="91425" bIns="45700" anchor="b" anchorCtr="0">
            <a:noAutofit/>
          </a:bodyPr>
          <a:lstStyle>
            <a:lvl1pPr marL="457200" lvl="0" indent="-228600" algn="l">
              <a:spcBef>
                <a:spcPts val="533"/>
              </a:spcBef>
              <a:spcAft>
                <a:spcPts val="0"/>
              </a:spcAft>
              <a:buSzPts val="2134"/>
              <a:buNone/>
              <a:defRPr sz="2667" b="1"/>
            </a:lvl1pPr>
            <a:lvl2pPr marL="914400" lvl="1" indent="-228600" algn="l">
              <a:spcBef>
                <a:spcPts val="400"/>
              </a:spcBef>
              <a:spcAft>
                <a:spcPts val="0"/>
              </a:spcAft>
              <a:buSzPts val="1800"/>
              <a:buNone/>
              <a:defRPr sz="2000" b="1"/>
            </a:lvl2pPr>
            <a:lvl3pPr marL="1371600" lvl="2" indent="-228600" algn="l">
              <a:spcBef>
                <a:spcPts val="360"/>
              </a:spcBef>
              <a:spcAft>
                <a:spcPts val="0"/>
              </a:spcAft>
              <a:buClr>
                <a:schemeClr val="dk1"/>
              </a:buClr>
              <a:buSzPts val="1801"/>
              <a:buFont typeface="Arial"/>
              <a:buNone/>
              <a:defRPr sz="1801"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42" name="Google Shape;42;p58"/>
          <p:cNvSpPr txBox="1">
            <a:spLocks noGrp="1"/>
          </p:cNvSpPr>
          <p:nvPr>
            <p:ph type="body" idx="4"/>
          </p:nvPr>
        </p:nvSpPr>
        <p:spPr>
          <a:xfrm>
            <a:off x="6193373" y="1908535"/>
            <a:ext cx="5389033" cy="3951288"/>
          </a:xfrm>
          <a:prstGeom prst="rect">
            <a:avLst/>
          </a:prstGeom>
          <a:noFill/>
          <a:ln>
            <a:noFill/>
          </a:ln>
        </p:spPr>
        <p:txBody>
          <a:bodyPr spcFirstLastPara="1" wrap="square" lIns="91425" tIns="45700" rIns="91425" bIns="45700" anchor="t" anchorCtr="0">
            <a:noAutofit/>
          </a:bodyPr>
          <a:lstStyle>
            <a:lvl1pPr marL="457200" lvl="0" indent="-364083" algn="l">
              <a:spcBef>
                <a:spcPts val="533"/>
              </a:spcBef>
              <a:spcAft>
                <a:spcPts val="0"/>
              </a:spcAft>
              <a:buSzPts val="2134"/>
              <a:buChar char="●"/>
              <a:defRPr sz="2667"/>
            </a:lvl1pPr>
            <a:lvl2pPr marL="914400" lvl="1" indent="-350500" algn="l">
              <a:spcBef>
                <a:spcPts val="427"/>
              </a:spcBef>
              <a:spcAft>
                <a:spcPts val="0"/>
              </a:spcAft>
              <a:buSzPts val="1920"/>
              <a:buChar char="–"/>
              <a:defRPr sz="2133"/>
            </a:lvl2pPr>
            <a:lvl3pPr marL="1371600" lvl="2" indent="-347154" algn="l">
              <a:spcBef>
                <a:spcPts val="373"/>
              </a:spcBef>
              <a:spcAft>
                <a:spcPts val="0"/>
              </a:spcAft>
              <a:buClr>
                <a:schemeClr val="dk1"/>
              </a:buClr>
              <a:buSzPts val="1867"/>
              <a:buFont typeface="Arial"/>
              <a:buChar char="•"/>
              <a:defRPr sz="1867"/>
            </a:lvl3pPr>
            <a:lvl4pPr marL="1828800" lvl="3" indent="-347154" algn="l">
              <a:spcBef>
                <a:spcPts val="373"/>
              </a:spcBef>
              <a:spcAft>
                <a:spcPts val="0"/>
              </a:spcAft>
              <a:buClr>
                <a:schemeClr val="dk1"/>
              </a:buClr>
              <a:buSzPts val="1867"/>
              <a:buFont typeface="Arial"/>
              <a:buChar char="–"/>
              <a:defRPr sz="1867"/>
            </a:lvl4pPr>
            <a:lvl5pPr marL="2286000" lvl="4" indent="-347154" algn="l">
              <a:spcBef>
                <a:spcPts val="373"/>
              </a:spcBef>
              <a:spcAft>
                <a:spcPts val="0"/>
              </a:spcAft>
              <a:buClr>
                <a:schemeClr val="dk1"/>
              </a:buClr>
              <a:buSzPts val="1867"/>
              <a:buFont typeface="Arial"/>
              <a:buChar char="»"/>
              <a:defRPr sz="1867"/>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43" name="Google Shape;43;p58"/>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44" name="Google Shape;44;p58"/>
          <p:cNvSpPr txBox="1">
            <a:spLocks noGrp="1"/>
          </p:cNvSpPr>
          <p:nvPr>
            <p:ph type="title"/>
          </p:nvPr>
        </p:nvSpPr>
        <p:spPr>
          <a:xfrm>
            <a:off x="624421" y="144466"/>
            <a:ext cx="10943167" cy="69215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只有標題" type="titleOnly">
  <p:cSld name="TITLE_ONLY">
    <p:spTree>
      <p:nvGrpSpPr>
        <p:cNvPr id="1" name="Shape 45"/>
        <p:cNvGrpSpPr/>
        <p:nvPr/>
      </p:nvGrpSpPr>
      <p:grpSpPr>
        <a:xfrm>
          <a:off x="0" y="0"/>
          <a:ext cx="0" cy="0"/>
          <a:chOff x="0" y="0"/>
          <a:chExt cx="0" cy="0"/>
        </a:xfrm>
      </p:grpSpPr>
      <p:sp>
        <p:nvSpPr>
          <p:cNvPr id="46" name="Google Shape;46;p59"/>
          <p:cNvSpPr txBox="1">
            <a:spLocks noGrp="1"/>
          </p:cNvSpPr>
          <p:nvPr>
            <p:ph type="title"/>
          </p:nvPr>
        </p:nvSpPr>
        <p:spPr>
          <a:xfrm>
            <a:off x="1049867" y="144466"/>
            <a:ext cx="10517721" cy="69215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9"/>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48"/>
        <p:cNvGrpSpPr/>
        <p:nvPr/>
      </p:nvGrpSpPr>
      <p:grpSpPr>
        <a:xfrm>
          <a:off x="0" y="0"/>
          <a:ext cx="0" cy="0"/>
          <a:chOff x="0" y="0"/>
          <a:chExt cx="0" cy="0"/>
        </a:xfrm>
      </p:grpSpPr>
      <p:sp>
        <p:nvSpPr>
          <p:cNvPr id="49" name="Google Shape;49;p60"/>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含標題的內容" type="objTx">
  <p:cSld name="OBJECT_WITH_CAPTION_TEXT">
    <p:spTree>
      <p:nvGrpSpPr>
        <p:cNvPr id="1" name="Shape 50"/>
        <p:cNvGrpSpPr/>
        <p:nvPr/>
      </p:nvGrpSpPr>
      <p:grpSpPr>
        <a:xfrm>
          <a:off x="0" y="0"/>
          <a:ext cx="0" cy="0"/>
          <a:chOff x="0" y="0"/>
          <a:chExt cx="0" cy="0"/>
        </a:xfrm>
      </p:grpSpPr>
      <p:sp>
        <p:nvSpPr>
          <p:cNvPr id="51" name="Google Shape;51;p61"/>
          <p:cNvSpPr txBox="1">
            <a:spLocks noGrp="1"/>
          </p:cNvSpPr>
          <p:nvPr>
            <p:ph type="title"/>
          </p:nvPr>
        </p:nvSpPr>
        <p:spPr>
          <a:xfrm>
            <a:off x="609606" y="273049"/>
            <a:ext cx="4011084" cy="116205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1"/>
          <p:cNvSpPr txBox="1">
            <a:spLocks noGrp="1"/>
          </p:cNvSpPr>
          <p:nvPr>
            <p:ph type="body" idx="1"/>
          </p:nvPr>
        </p:nvSpPr>
        <p:spPr>
          <a:xfrm>
            <a:off x="4766734" y="273056"/>
            <a:ext cx="6815668" cy="5853113"/>
          </a:xfrm>
          <a:prstGeom prst="rect">
            <a:avLst/>
          </a:prstGeom>
          <a:noFill/>
          <a:ln>
            <a:noFill/>
          </a:ln>
        </p:spPr>
        <p:txBody>
          <a:bodyPr spcFirstLastPara="1" wrap="square" lIns="91425" tIns="45700" rIns="91425" bIns="45700" anchor="t" anchorCtr="0">
            <a:noAutofit/>
          </a:bodyPr>
          <a:lstStyle>
            <a:lvl1pPr marL="457200" lvl="0" indent="-391160" algn="l">
              <a:spcBef>
                <a:spcPts val="640"/>
              </a:spcBef>
              <a:spcAft>
                <a:spcPts val="0"/>
              </a:spcAft>
              <a:buSzPts val="2560"/>
              <a:buChar char="●"/>
              <a:defRPr sz="3200"/>
            </a:lvl1pPr>
            <a:lvl2pPr marL="914400" lvl="1" indent="-388619" algn="l">
              <a:spcBef>
                <a:spcPts val="560"/>
              </a:spcBef>
              <a:spcAft>
                <a:spcPts val="0"/>
              </a:spcAft>
              <a:buSzPts val="2520"/>
              <a:buChar char="–"/>
              <a:defRPr sz="2800"/>
            </a:lvl2pPr>
            <a:lvl3pPr marL="1371600" lvl="2" indent="-381000" algn="l">
              <a:spcBef>
                <a:spcPts val="480"/>
              </a:spcBef>
              <a:spcAft>
                <a:spcPts val="0"/>
              </a:spcAft>
              <a:buClr>
                <a:schemeClr val="dk1"/>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53" name="Google Shape;53;p61"/>
          <p:cNvSpPr txBox="1">
            <a:spLocks noGrp="1"/>
          </p:cNvSpPr>
          <p:nvPr>
            <p:ph type="body" idx="2"/>
          </p:nvPr>
        </p:nvSpPr>
        <p:spPr>
          <a:xfrm>
            <a:off x="609606" y="1435104"/>
            <a:ext cx="4011084"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121"/>
              <a:buNone/>
              <a:defRPr sz="1401"/>
            </a:lvl1pPr>
            <a:lvl2pPr marL="914400" lvl="1" indent="-228600" algn="l">
              <a:spcBef>
                <a:spcPts val="240"/>
              </a:spcBef>
              <a:spcAft>
                <a:spcPts val="0"/>
              </a:spcAft>
              <a:buSzPts val="1080"/>
              <a:buNone/>
              <a:defRPr sz="1200"/>
            </a:lvl2pPr>
            <a:lvl3pPr marL="1371600" lvl="2" indent="-228600" algn="l">
              <a:spcBef>
                <a:spcPts val="200"/>
              </a:spcBef>
              <a:spcAft>
                <a:spcPts val="0"/>
              </a:spcAft>
              <a:buClr>
                <a:schemeClr val="dk1"/>
              </a:buClr>
              <a:buSzPts val="1001"/>
              <a:buFont typeface="Arial"/>
              <a:buNone/>
              <a:defRPr sz="1001"/>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54" name="Google Shape;54;p61"/>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含標題的圖片" type="picTx">
  <p:cSld name="PICTURE_WITH_CAPTION_TEXT">
    <p:spTree>
      <p:nvGrpSpPr>
        <p:cNvPr id="1" name="Shape 55"/>
        <p:cNvGrpSpPr/>
        <p:nvPr/>
      </p:nvGrpSpPr>
      <p:grpSpPr>
        <a:xfrm>
          <a:off x="0" y="0"/>
          <a:ext cx="0" cy="0"/>
          <a:chOff x="0" y="0"/>
          <a:chExt cx="0" cy="0"/>
        </a:xfrm>
      </p:grpSpPr>
      <p:sp>
        <p:nvSpPr>
          <p:cNvPr id="56" name="Google Shape;56;p62"/>
          <p:cNvSpPr txBox="1">
            <a:spLocks noGrp="1"/>
          </p:cNvSpPr>
          <p:nvPr>
            <p:ph type="title"/>
          </p:nvPr>
        </p:nvSpPr>
        <p:spPr>
          <a:xfrm>
            <a:off x="2389717" y="4800600"/>
            <a:ext cx="7315200" cy="566739"/>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2"/>
          <p:cNvSpPr>
            <a:spLocks noGrp="1"/>
          </p:cNvSpPr>
          <p:nvPr>
            <p:ph type="pic" idx="2"/>
          </p:nvPr>
        </p:nvSpPr>
        <p:spPr>
          <a:xfrm>
            <a:off x="2389717" y="612775"/>
            <a:ext cx="7315200" cy="4114800"/>
          </a:xfrm>
          <a:prstGeom prst="rect">
            <a:avLst/>
          </a:prstGeom>
          <a:noFill/>
          <a:ln>
            <a:noFill/>
          </a:ln>
        </p:spPr>
      </p:sp>
      <p:sp>
        <p:nvSpPr>
          <p:cNvPr id="58" name="Google Shape;58;p62"/>
          <p:cNvSpPr txBox="1">
            <a:spLocks noGrp="1"/>
          </p:cNvSpPr>
          <p:nvPr>
            <p:ph type="body" idx="1"/>
          </p:nvPr>
        </p:nvSpPr>
        <p:spPr>
          <a:xfrm>
            <a:off x="2389717" y="5367341"/>
            <a:ext cx="7315200" cy="8048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121"/>
              <a:buNone/>
              <a:defRPr sz="1401"/>
            </a:lvl1pPr>
            <a:lvl2pPr marL="914400" lvl="1" indent="-228600" algn="l">
              <a:spcBef>
                <a:spcPts val="240"/>
              </a:spcBef>
              <a:spcAft>
                <a:spcPts val="0"/>
              </a:spcAft>
              <a:buSzPts val="1080"/>
              <a:buNone/>
              <a:defRPr sz="1200"/>
            </a:lvl2pPr>
            <a:lvl3pPr marL="1371600" lvl="2" indent="-228600" algn="l">
              <a:spcBef>
                <a:spcPts val="200"/>
              </a:spcBef>
              <a:spcAft>
                <a:spcPts val="0"/>
              </a:spcAft>
              <a:buClr>
                <a:schemeClr val="dk1"/>
              </a:buClr>
              <a:buSzPts val="1001"/>
              <a:buFont typeface="Arial"/>
              <a:buNone/>
              <a:defRPr sz="1001"/>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59" name="Google Shape;59;p62"/>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標題及直排文字" type="vertTx">
  <p:cSld name="VERTICAL_TEXT">
    <p:spTree>
      <p:nvGrpSpPr>
        <p:cNvPr id="1" name="Shape 60"/>
        <p:cNvGrpSpPr/>
        <p:nvPr/>
      </p:nvGrpSpPr>
      <p:grpSpPr>
        <a:xfrm>
          <a:off x="0" y="0"/>
          <a:ext cx="0" cy="0"/>
          <a:chOff x="0" y="0"/>
          <a:chExt cx="0" cy="0"/>
        </a:xfrm>
      </p:grpSpPr>
      <p:sp>
        <p:nvSpPr>
          <p:cNvPr id="61" name="Google Shape;61;p63"/>
          <p:cNvSpPr txBox="1">
            <a:spLocks noGrp="1"/>
          </p:cNvSpPr>
          <p:nvPr>
            <p:ph type="title"/>
          </p:nvPr>
        </p:nvSpPr>
        <p:spPr>
          <a:xfrm>
            <a:off x="1049867" y="144466"/>
            <a:ext cx="10517721" cy="69215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63"/>
          <p:cNvSpPr txBox="1">
            <a:spLocks noGrp="1"/>
          </p:cNvSpPr>
          <p:nvPr>
            <p:ph type="body" idx="1"/>
          </p:nvPr>
        </p:nvSpPr>
        <p:spPr>
          <a:xfrm rot="5400000">
            <a:off x="3648074" y="-1912937"/>
            <a:ext cx="4895851" cy="10972800"/>
          </a:xfrm>
          <a:prstGeom prst="rect">
            <a:avLst/>
          </a:prstGeom>
          <a:noFill/>
          <a:ln>
            <a:noFill/>
          </a:ln>
        </p:spPr>
        <p:txBody>
          <a:bodyPr spcFirstLastPara="1" wrap="square" lIns="91425" tIns="45700" rIns="91425" bIns="45700" anchor="t" anchorCtr="0">
            <a:noAutofit/>
          </a:bodyPr>
          <a:lstStyle>
            <a:lvl1pPr marL="457200" lvl="0" indent="-320040" algn="l">
              <a:spcBef>
                <a:spcPts val="360"/>
              </a:spcBef>
              <a:spcAft>
                <a:spcPts val="0"/>
              </a:spcAft>
              <a:buSzPts val="1440"/>
              <a:buChar char="●"/>
              <a:defRPr/>
            </a:lvl1pPr>
            <a:lvl2pPr marL="914400" lvl="1" indent="-331469" algn="l">
              <a:spcBef>
                <a:spcPts val="360"/>
              </a:spcBef>
              <a:spcAft>
                <a:spcPts val="0"/>
              </a:spcAft>
              <a:buSzPts val="162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63"/>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直排標題及文字">
  <p:cSld name="直排標題及文字">
    <p:spTree>
      <p:nvGrpSpPr>
        <p:cNvPr id="1" name="Shape 64"/>
        <p:cNvGrpSpPr/>
        <p:nvPr/>
      </p:nvGrpSpPr>
      <p:grpSpPr>
        <a:xfrm>
          <a:off x="0" y="0"/>
          <a:ext cx="0" cy="0"/>
          <a:chOff x="0" y="0"/>
          <a:chExt cx="0" cy="0"/>
        </a:xfrm>
      </p:grpSpPr>
      <p:sp>
        <p:nvSpPr>
          <p:cNvPr id="65" name="Google Shape;65;p64"/>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物件" type="objOnly">
  <p:cSld name="OBJECT_ONLY">
    <p:spTree>
      <p:nvGrpSpPr>
        <p:cNvPr id="1" name="Shape 66"/>
        <p:cNvGrpSpPr/>
        <p:nvPr/>
      </p:nvGrpSpPr>
      <p:grpSpPr>
        <a:xfrm>
          <a:off x="0" y="0"/>
          <a:ext cx="0" cy="0"/>
          <a:chOff x="0" y="0"/>
          <a:chExt cx="0" cy="0"/>
        </a:xfrm>
      </p:grpSpPr>
      <p:sp>
        <p:nvSpPr>
          <p:cNvPr id="67" name="Google Shape;67;p65"/>
          <p:cNvSpPr txBox="1">
            <a:spLocks noGrp="1"/>
          </p:cNvSpPr>
          <p:nvPr>
            <p:ph type="body" idx="1"/>
          </p:nvPr>
        </p:nvSpPr>
        <p:spPr>
          <a:xfrm>
            <a:off x="609600" y="73028"/>
            <a:ext cx="10972800" cy="1700213"/>
          </a:xfrm>
          <a:prstGeom prst="rect">
            <a:avLst/>
          </a:prstGeom>
          <a:noFill/>
          <a:ln>
            <a:noFill/>
          </a:ln>
        </p:spPr>
        <p:txBody>
          <a:bodyPr spcFirstLastPara="1" wrap="square" lIns="91425" tIns="45700" rIns="91425" bIns="45700" anchor="t" anchorCtr="0">
            <a:noAutofit/>
          </a:bodyPr>
          <a:lstStyle>
            <a:lvl1pPr marL="457200" lvl="0" indent="-320040" algn="l">
              <a:spcBef>
                <a:spcPts val="360"/>
              </a:spcBef>
              <a:spcAft>
                <a:spcPts val="0"/>
              </a:spcAft>
              <a:buSzPts val="1440"/>
              <a:buChar char="●"/>
              <a:defRPr/>
            </a:lvl1pPr>
            <a:lvl2pPr marL="914400" lvl="1" indent="-331469" algn="l">
              <a:spcBef>
                <a:spcPts val="360"/>
              </a:spcBef>
              <a:spcAft>
                <a:spcPts val="0"/>
              </a:spcAft>
              <a:buSzPts val="162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8" name="Google Shape;68;p65"/>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標題及表格">
  <p:cSld name="標題及表格">
    <p:spTree>
      <p:nvGrpSpPr>
        <p:cNvPr id="1" name="Shape 69"/>
        <p:cNvGrpSpPr/>
        <p:nvPr/>
      </p:nvGrpSpPr>
      <p:grpSpPr>
        <a:xfrm>
          <a:off x="0" y="0"/>
          <a:ext cx="0" cy="0"/>
          <a:chOff x="0" y="0"/>
          <a:chExt cx="0" cy="0"/>
        </a:xfrm>
      </p:grpSpPr>
      <p:sp>
        <p:nvSpPr>
          <p:cNvPr id="70" name="Google Shape;70;p66"/>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3"/>
          <p:cNvSpPr txBox="1">
            <a:spLocks noGrp="1"/>
          </p:cNvSpPr>
          <p:nvPr>
            <p:ph type="title"/>
          </p:nvPr>
        </p:nvSpPr>
        <p:spPr>
          <a:xfrm>
            <a:off x="1049867" y="144466"/>
            <a:ext cx="10517721" cy="69215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800" b="1" i="0" u="none" strike="noStrike" cap="none">
                <a:solidFill>
                  <a:schemeClr val="dk2"/>
                </a:solidFill>
                <a:latin typeface="Calibri"/>
                <a:ea typeface="Calibri"/>
                <a:cs typeface="Calibri"/>
                <a:sym typeface="Calibri"/>
              </a:defRPr>
            </a:lvl1pPr>
            <a:lvl2pPr marR="0" lvl="1" algn="l" rtl="0">
              <a:spcBef>
                <a:spcPts val="0"/>
              </a:spcBef>
              <a:spcAft>
                <a:spcPts val="0"/>
              </a:spcAft>
              <a:buSzPts val="1400"/>
              <a:buNone/>
              <a:defRPr sz="3600" b="1" i="0" u="none" strike="noStrike" cap="none">
                <a:solidFill>
                  <a:schemeClr val="dk2"/>
                </a:solidFill>
                <a:latin typeface="Calibri"/>
                <a:ea typeface="Calibri"/>
                <a:cs typeface="Calibri"/>
                <a:sym typeface="Calibri"/>
              </a:defRPr>
            </a:lvl2pPr>
            <a:lvl3pPr marR="0" lvl="2" algn="l" rtl="0">
              <a:spcBef>
                <a:spcPts val="0"/>
              </a:spcBef>
              <a:spcAft>
                <a:spcPts val="0"/>
              </a:spcAft>
              <a:buSzPts val="1400"/>
              <a:buNone/>
              <a:defRPr sz="3600" b="1" i="0" u="none" strike="noStrike" cap="none">
                <a:solidFill>
                  <a:schemeClr val="dk2"/>
                </a:solidFill>
                <a:latin typeface="Calibri"/>
                <a:ea typeface="Calibri"/>
                <a:cs typeface="Calibri"/>
                <a:sym typeface="Calibri"/>
              </a:defRPr>
            </a:lvl3pPr>
            <a:lvl4pPr marR="0" lvl="3" algn="l" rtl="0">
              <a:spcBef>
                <a:spcPts val="0"/>
              </a:spcBef>
              <a:spcAft>
                <a:spcPts val="0"/>
              </a:spcAft>
              <a:buSzPts val="1400"/>
              <a:buNone/>
              <a:defRPr sz="3600" b="1" i="0" u="none" strike="noStrike" cap="none">
                <a:solidFill>
                  <a:schemeClr val="dk2"/>
                </a:solidFill>
                <a:latin typeface="Calibri"/>
                <a:ea typeface="Calibri"/>
                <a:cs typeface="Calibri"/>
                <a:sym typeface="Calibri"/>
              </a:defRPr>
            </a:lvl4pPr>
            <a:lvl5pPr marR="0" lvl="4" algn="l" rtl="0">
              <a:spcBef>
                <a:spcPts val="0"/>
              </a:spcBef>
              <a:spcAft>
                <a:spcPts val="0"/>
              </a:spcAft>
              <a:buSzPts val="1400"/>
              <a:buNone/>
              <a:defRPr sz="3600" b="1" i="0" u="none" strike="noStrike" cap="none">
                <a:solidFill>
                  <a:schemeClr val="dk2"/>
                </a:solidFill>
                <a:latin typeface="Calibri"/>
                <a:ea typeface="Calibri"/>
                <a:cs typeface="Calibri"/>
                <a:sym typeface="Calibri"/>
              </a:defRPr>
            </a:lvl5pPr>
            <a:lvl6pPr marR="0" lvl="5" algn="l" rtl="0">
              <a:spcBef>
                <a:spcPts val="0"/>
              </a:spcBef>
              <a:spcAft>
                <a:spcPts val="0"/>
              </a:spcAft>
              <a:buSzPts val="1400"/>
              <a:buNone/>
              <a:defRPr sz="3001" b="1" i="0" u="none" strike="noStrike" cap="none">
                <a:solidFill>
                  <a:schemeClr val="dk2"/>
                </a:solidFill>
                <a:latin typeface="Open Sans"/>
                <a:ea typeface="Open Sans"/>
                <a:cs typeface="Open Sans"/>
                <a:sym typeface="Open Sans"/>
              </a:defRPr>
            </a:lvl6pPr>
            <a:lvl7pPr marR="0" lvl="6" algn="l" rtl="0">
              <a:spcBef>
                <a:spcPts val="0"/>
              </a:spcBef>
              <a:spcAft>
                <a:spcPts val="0"/>
              </a:spcAft>
              <a:buSzPts val="1400"/>
              <a:buNone/>
              <a:defRPr sz="3001" b="1" i="0" u="none" strike="noStrike" cap="none">
                <a:solidFill>
                  <a:schemeClr val="dk2"/>
                </a:solidFill>
                <a:latin typeface="Open Sans"/>
                <a:ea typeface="Open Sans"/>
                <a:cs typeface="Open Sans"/>
                <a:sym typeface="Open Sans"/>
              </a:defRPr>
            </a:lvl7pPr>
            <a:lvl8pPr marR="0" lvl="7" algn="l" rtl="0">
              <a:spcBef>
                <a:spcPts val="0"/>
              </a:spcBef>
              <a:spcAft>
                <a:spcPts val="0"/>
              </a:spcAft>
              <a:buSzPts val="1400"/>
              <a:buNone/>
              <a:defRPr sz="3001" b="1" i="0" u="none" strike="noStrike" cap="none">
                <a:solidFill>
                  <a:schemeClr val="dk2"/>
                </a:solidFill>
                <a:latin typeface="Open Sans"/>
                <a:ea typeface="Open Sans"/>
                <a:cs typeface="Open Sans"/>
                <a:sym typeface="Open Sans"/>
              </a:defRPr>
            </a:lvl8pPr>
            <a:lvl9pPr marR="0" lvl="8" algn="l" rtl="0">
              <a:spcBef>
                <a:spcPts val="0"/>
              </a:spcBef>
              <a:spcAft>
                <a:spcPts val="0"/>
              </a:spcAft>
              <a:buSzPts val="1400"/>
              <a:buNone/>
              <a:defRPr sz="3001" b="1" i="0" u="none" strike="noStrike" cap="none">
                <a:solidFill>
                  <a:schemeClr val="dk2"/>
                </a:solidFill>
                <a:latin typeface="Open Sans"/>
                <a:ea typeface="Open Sans"/>
                <a:cs typeface="Open Sans"/>
                <a:sym typeface="Open Sans"/>
              </a:defRPr>
            </a:lvl9pPr>
          </a:lstStyle>
          <a:p>
            <a:endParaRPr/>
          </a:p>
        </p:txBody>
      </p:sp>
      <p:sp>
        <p:nvSpPr>
          <p:cNvPr id="11" name="Google Shape;11;p53"/>
          <p:cNvSpPr txBox="1">
            <a:spLocks noGrp="1"/>
          </p:cNvSpPr>
          <p:nvPr>
            <p:ph type="body" idx="1"/>
          </p:nvPr>
        </p:nvSpPr>
        <p:spPr>
          <a:xfrm>
            <a:off x="609600" y="1125537"/>
            <a:ext cx="10972800" cy="4895851"/>
          </a:xfrm>
          <a:prstGeom prst="rect">
            <a:avLst/>
          </a:prstGeom>
          <a:noFill/>
          <a:ln>
            <a:noFill/>
          </a:ln>
        </p:spPr>
        <p:txBody>
          <a:bodyPr spcFirstLastPara="1" wrap="square" lIns="91425" tIns="45700" rIns="91425" bIns="45700" anchor="t" anchorCtr="0">
            <a:noAutofit/>
          </a:bodyPr>
          <a:lstStyle>
            <a:lvl1pPr marL="457200" marR="0" lvl="0" indent="-418236" algn="l" rtl="0">
              <a:spcBef>
                <a:spcPts val="747"/>
              </a:spcBef>
              <a:spcAft>
                <a:spcPts val="0"/>
              </a:spcAft>
              <a:buClr>
                <a:srgbClr val="0000FF"/>
              </a:buClr>
              <a:buSzPts val="2986"/>
              <a:buFont typeface="Noto Sans Symbols"/>
              <a:buChar char="●"/>
              <a:defRPr sz="3733" b="0" i="0" u="none" strike="noStrike" cap="none">
                <a:solidFill>
                  <a:schemeClr val="dk1"/>
                </a:solidFill>
                <a:latin typeface="Calibri"/>
                <a:ea typeface="Calibri"/>
                <a:cs typeface="Calibri"/>
                <a:sym typeface="Calibri"/>
              </a:defRPr>
            </a:lvl1pPr>
            <a:lvl2pPr marL="914400" marR="0" lvl="1" indent="-411480" algn="l" rtl="0">
              <a:spcBef>
                <a:spcPts val="640"/>
              </a:spcBef>
              <a:spcAft>
                <a:spcPts val="0"/>
              </a:spcAft>
              <a:buClr>
                <a:srgbClr val="0000FF"/>
              </a:buClr>
              <a:buSzPts val="288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pic>
        <p:nvPicPr>
          <p:cNvPr id="12" name="Google Shape;12;p53" descr="name"/>
          <p:cNvPicPr preferRelativeResize="0"/>
          <p:nvPr/>
        </p:nvPicPr>
        <p:blipFill rotWithShape="1">
          <a:blip r:embed="rId15">
            <a:alphaModFix/>
          </a:blip>
          <a:srcRect/>
          <a:stretch/>
        </p:blipFill>
        <p:spPr>
          <a:xfrm>
            <a:off x="3" y="6357940"/>
            <a:ext cx="5111751" cy="198437"/>
          </a:xfrm>
          <a:prstGeom prst="rect">
            <a:avLst/>
          </a:prstGeom>
          <a:noFill/>
          <a:ln>
            <a:noFill/>
          </a:ln>
        </p:spPr>
      </p:pic>
      <p:sp>
        <p:nvSpPr>
          <p:cNvPr id="13" name="Google Shape;13;p53"/>
          <p:cNvSpPr/>
          <p:nvPr/>
        </p:nvSpPr>
        <p:spPr>
          <a:xfrm>
            <a:off x="792808" y="6581777"/>
            <a:ext cx="3574825"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i="0" u="none" strike="noStrike" cap="none">
                <a:solidFill>
                  <a:schemeClr val="lt1"/>
                </a:solidFill>
                <a:latin typeface="Arial"/>
                <a:ea typeface="Arial"/>
                <a:cs typeface="Arial"/>
                <a:sym typeface="Arial"/>
              </a:rPr>
              <a:t>National Tsing Hua University ® copyright OIA</a:t>
            </a:r>
            <a:endParaRPr sz="1200" b="1" i="0" u="none" strike="noStrike" cap="none">
              <a:solidFill>
                <a:schemeClr val="lt1"/>
              </a:solidFill>
              <a:latin typeface="Arial"/>
              <a:ea typeface="Arial"/>
              <a:cs typeface="Arial"/>
              <a:sym typeface="Arial"/>
            </a:endParaRPr>
          </a:p>
        </p:txBody>
      </p:sp>
      <p:sp>
        <p:nvSpPr>
          <p:cNvPr id="14" name="Google Shape;14;p53"/>
          <p:cNvSpPr/>
          <p:nvPr/>
        </p:nvSpPr>
        <p:spPr>
          <a:xfrm>
            <a:off x="0" y="908055"/>
            <a:ext cx="12192000" cy="144463"/>
          </a:xfrm>
          <a:prstGeom prst="rect">
            <a:avLst/>
          </a:prstGeom>
          <a:solidFill>
            <a:srgbClr val="9900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1" b="0" i="0" u="none" strike="noStrike" cap="none">
              <a:solidFill>
                <a:schemeClr val="dk1"/>
              </a:solidFill>
              <a:latin typeface="Arial"/>
              <a:ea typeface="Arial"/>
              <a:cs typeface="Arial"/>
              <a:sym typeface="Arial"/>
            </a:endParaRPr>
          </a:p>
        </p:txBody>
      </p:sp>
      <p:sp>
        <p:nvSpPr>
          <p:cNvPr id="15" name="Google Shape;15;p53"/>
          <p:cNvSpPr/>
          <p:nvPr/>
        </p:nvSpPr>
        <p:spPr>
          <a:xfrm>
            <a:off x="0" y="6165849"/>
            <a:ext cx="12192000" cy="719139"/>
          </a:xfrm>
          <a:prstGeom prst="rect">
            <a:avLst/>
          </a:prstGeom>
          <a:solidFill>
            <a:srgbClr val="9900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1" b="0" i="0" u="none" strike="noStrike" cap="none">
              <a:solidFill>
                <a:schemeClr val="dk1"/>
              </a:solidFill>
              <a:latin typeface="Arial"/>
              <a:ea typeface="Arial"/>
              <a:cs typeface="Arial"/>
              <a:sym typeface="Arial"/>
            </a:endParaRPr>
          </a:p>
        </p:txBody>
      </p:sp>
      <p:sp>
        <p:nvSpPr>
          <p:cNvPr id="16" name="Google Shape;16;p53"/>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0" i="0" u="none" strike="noStrike" cap="none">
                <a:solidFill>
                  <a:schemeClr val="lt1"/>
                </a:solidFill>
                <a:latin typeface="Arial"/>
                <a:ea typeface="Arial"/>
                <a:cs typeface="Arial"/>
                <a:sym typeface="Arial"/>
              </a:defRPr>
            </a:lvl1pPr>
            <a:lvl2pPr marL="0" marR="0" lvl="1" indent="0" algn="r" rtl="0">
              <a:spcBef>
                <a:spcPts val="0"/>
              </a:spcBef>
              <a:buNone/>
              <a:defRPr sz="1200" b="0" i="0" u="none" strike="noStrike" cap="none">
                <a:solidFill>
                  <a:schemeClr val="lt1"/>
                </a:solidFill>
                <a:latin typeface="Arial"/>
                <a:ea typeface="Arial"/>
                <a:cs typeface="Arial"/>
                <a:sym typeface="Arial"/>
              </a:defRPr>
            </a:lvl2pPr>
            <a:lvl3pPr marL="0" marR="0" lvl="2" indent="0" algn="r" rtl="0">
              <a:spcBef>
                <a:spcPts val="0"/>
              </a:spcBef>
              <a:buNone/>
              <a:defRPr sz="1200" b="0" i="0" u="none" strike="noStrike" cap="none">
                <a:solidFill>
                  <a:schemeClr val="lt1"/>
                </a:solidFill>
                <a:latin typeface="Arial"/>
                <a:ea typeface="Arial"/>
                <a:cs typeface="Arial"/>
                <a:sym typeface="Arial"/>
              </a:defRPr>
            </a:lvl3pPr>
            <a:lvl4pPr marL="0" marR="0" lvl="3" indent="0" algn="r" rtl="0">
              <a:spcBef>
                <a:spcPts val="0"/>
              </a:spcBef>
              <a:buNone/>
              <a:defRPr sz="1200" b="0" i="0" u="none" strike="noStrike" cap="none">
                <a:solidFill>
                  <a:schemeClr val="lt1"/>
                </a:solidFill>
                <a:latin typeface="Arial"/>
                <a:ea typeface="Arial"/>
                <a:cs typeface="Arial"/>
                <a:sym typeface="Arial"/>
              </a:defRPr>
            </a:lvl4pPr>
            <a:lvl5pPr marL="0" marR="0" lvl="4" indent="0" algn="r" rtl="0">
              <a:spcBef>
                <a:spcPts val="0"/>
              </a:spcBef>
              <a:buNone/>
              <a:defRPr sz="1200" b="0" i="0" u="none" strike="noStrike" cap="none">
                <a:solidFill>
                  <a:schemeClr val="lt1"/>
                </a:solidFill>
                <a:latin typeface="Arial"/>
                <a:ea typeface="Arial"/>
                <a:cs typeface="Arial"/>
                <a:sym typeface="Arial"/>
              </a:defRPr>
            </a:lvl5pPr>
            <a:lvl6pPr marL="0" marR="0" lvl="5" indent="0" algn="r" rtl="0">
              <a:spcBef>
                <a:spcPts val="0"/>
              </a:spcBef>
              <a:buNone/>
              <a:defRPr sz="1200" b="0" i="0" u="none" strike="noStrike" cap="none">
                <a:solidFill>
                  <a:schemeClr val="lt1"/>
                </a:solidFill>
                <a:latin typeface="Arial"/>
                <a:ea typeface="Arial"/>
                <a:cs typeface="Arial"/>
                <a:sym typeface="Arial"/>
              </a:defRPr>
            </a:lvl6pPr>
            <a:lvl7pPr marL="0" marR="0" lvl="6" indent="0" algn="r" rtl="0">
              <a:spcBef>
                <a:spcPts val="0"/>
              </a:spcBef>
              <a:buNone/>
              <a:defRPr sz="1200" b="0" i="0" u="none" strike="noStrike" cap="none">
                <a:solidFill>
                  <a:schemeClr val="lt1"/>
                </a:solidFill>
                <a:latin typeface="Arial"/>
                <a:ea typeface="Arial"/>
                <a:cs typeface="Arial"/>
                <a:sym typeface="Arial"/>
              </a:defRPr>
            </a:lvl7pPr>
            <a:lvl8pPr marL="0" marR="0" lvl="7" indent="0" algn="r" rtl="0">
              <a:spcBef>
                <a:spcPts val="0"/>
              </a:spcBef>
              <a:buNone/>
              <a:defRPr sz="1200" b="0" i="0" u="none" strike="noStrike" cap="none">
                <a:solidFill>
                  <a:schemeClr val="lt1"/>
                </a:solidFill>
                <a:latin typeface="Arial"/>
                <a:ea typeface="Arial"/>
                <a:cs typeface="Arial"/>
                <a:sym typeface="Arial"/>
              </a:defRPr>
            </a:lvl8pPr>
            <a:lvl9pPr marL="0" marR="0" lvl="8" indent="0" algn="r" rtl="0">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7" name="Google Shape;17;p53"/>
          <p:cNvPicPr preferRelativeResize="0"/>
          <p:nvPr/>
        </p:nvPicPr>
        <p:blipFill rotWithShape="1">
          <a:blip r:embed="rId16">
            <a:alphaModFix/>
          </a:blip>
          <a:srcRect/>
          <a:stretch/>
        </p:blipFill>
        <p:spPr>
          <a:xfrm>
            <a:off x="133280" y="124614"/>
            <a:ext cx="916587" cy="672311"/>
          </a:xfrm>
          <a:prstGeom prst="rect">
            <a:avLst/>
          </a:prstGeom>
          <a:noFill/>
          <a:ln>
            <a:noFill/>
          </a:ln>
        </p:spPr>
      </p:pic>
      <p:grpSp>
        <p:nvGrpSpPr>
          <p:cNvPr id="18" name="Google Shape;18;p53"/>
          <p:cNvGrpSpPr/>
          <p:nvPr/>
        </p:nvGrpSpPr>
        <p:grpSpPr>
          <a:xfrm>
            <a:off x="86980" y="6239920"/>
            <a:ext cx="3223375" cy="569415"/>
            <a:chOff x="86980" y="6239920"/>
            <a:chExt cx="3223375" cy="569415"/>
          </a:xfrm>
        </p:grpSpPr>
        <p:pic>
          <p:nvPicPr>
            <p:cNvPr id="19" name="Google Shape;19;p53"/>
            <p:cNvPicPr preferRelativeResize="0"/>
            <p:nvPr/>
          </p:nvPicPr>
          <p:blipFill rotWithShape="1">
            <a:blip r:embed="rId17">
              <a:alphaModFix/>
            </a:blip>
            <a:srcRect/>
            <a:stretch/>
          </p:blipFill>
          <p:spPr>
            <a:xfrm>
              <a:off x="86980" y="6239920"/>
              <a:ext cx="817930" cy="569415"/>
            </a:xfrm>
            <a:prstGeom prst="rect">
              <a:avLst/>
            </a:prstGeom>
            <a:noFill/>
            <a:ln>
              <a:noFill/>
            </a:ln>
          </p:spPr>
        </p:pic>
        <p:sp>
          <p:nvSpPr>
            <p:cNvPr id="20" name="Google Shape;20;p53"/>
            <p:cNvSpPr/>
            <p:nvPr/>
          </p:nvSpPr>
          <p:spPr>
            <a:xfrm>
              <a:off x="829837" y="6347770"/>
              <a:ext cx="2480518"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0" i="0" u="none" strike="noStrike" cap="none">
                  <a:solidFill>
                    <a:schemeClr val="lt1"/>
                  </a:solidFill>
                  <a:latin typeface="KaiTi"/>
                  <a:ea typeface="KaiTi"/>
                  <a:cs typeface="KaiTi"/>
                  <a:sym typeface="KaiTi"/>
                </a:rPr>
                <a:t>香港中文大学（深圳）数据科学院</a:t>
              </a:r>
              <a:endParaRPr sz="1200" b="0" i="0" u="none" strike="noStrike" cap="none">
                <a:solidFill>
                  <a:schemeClr val="lt1"/>
                </a:solidFill>
                <a:latin typeface="KaiTi"/>
                <a:ea typeface="KaiTi"/>
                <a:cs typeface="KaiTi"/>
                <a:sym typeface="KaiTi"/>
              </a:endParaRPr>
            </a:p>
            <a:p>
              <a:pPr marL="0" marR="0" lvl="0" indent="0" algn="ctr" rtl="0">
                <a:spcBef>
                  <a:spcPts val="0"/>
                </a:spcBef>
                <a:spcAft>
                  <a:spcPts val="0"/>
                </a:spcAft>
                <a:buNone/>
              </a:pPr>
              <a:r>
                <a:rPr lang="en-US" sz="1000" b="0" i="0" u="none" strike="noStrike" cap="none">
                  <a:solidFill>
                    <a:schemeClr val="lt1"/>
                  </a:solidFill>
                  <a:latin typeface="Times New Roman"/>
                  <a:ea typeface="Times New Roman"/>
                  <a:cs typeface="Times New Roman"/>
                  <a:sym typeface="Times New Roman"/>
                </a:rPr>
                <a:t>CUHK-SZ School of Data Science</a:t>
              </a:r>
              <a:endParaRPr sz="1000" b="0" i="0" u="none" strike="noStrike" cap="none">
                <a:solidFill>
                  <a:schemeClr val="lt1"/>
                </a:solidFill>
                <a:latin typeface="Calibri"/>
                <a:ea typeface="Calibri"/>
                <a:cs typeface="Calibri"/>
                <a:sym typeface="Calibri"/>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ctrTitle"/>
          </p:nvPr>
        </p:nvSpPr>
        <p:spPr>
          <a:xfrm>
            <a:off x="231471" y="1513547"/>
            <a:ext cx="11397000" cy="1882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400"/>
              <a:t>Evolution of Medical LLM Training Systems</a:t>
            </a:r>
            <a:br>
              <a:rPr lang="en-US" sz="4400"/>
            </a:br>
            <a:br>
              <a:rPr lang="en-US" sz="4800"/>
            </a:br>
            <a:r>
              <a:rPr lang="en-US" sz="3200" b="0"/>
              <a:t>2026.02.03</a:t>
            </a:r>
            <a:endParaRPr sz="3200" b="0"/>
          </a:p>
        </p:txBody>
      </p:sp>
      <p:sp>
        <p:nvSpPr>
          <p:cNvPr id="76" name="Google Shape;76;p2"/>
          <p:cNvSpPr txBox="1">
            <a:spLocks noGrp="1"/>
          </p:cNvSpPr>
          <p:nvPr>
            <p:ph type="subTitle" idx="1"/>
          </p:nvPr>
        </p:nvSpPr>
        <p:spPr>
          <a:xfrm>
            <a:off x="1828800" y="3855632"/>
            <a:ext cx="8534400" cy="188245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2560"/>
              <a:buNone/>
            </a:pPr>
            <a:r>
              <a:rPr lang="en-US" sz="3200"/>
              <a:t>Junying Chen</a:t>
            </a:r>
            <a:endParaRPr/>
          </a:p>
          <a:p>
            <a:pPr marL="0" lvl="0" indent="0" algn="ctr" rtl="0">
              <a:spcBef>
                <a:spcPts val="640"/>
              </a:spcBef>
              <a:spcAft>
                <a:spcPts val="0"/>
              </a:spcAft>
              <a:buSzPts val="2560"/>
              <a:buNone/>
            </a:pPr>
            <a:r>
              <a:rPr lang="en-US" sz="3200"/>
              <a:t>School of Data Science</a:t>
            </a:r>
            <a:endParaRPr/>
          </a:p>
          <a:p>
            <a:pPr marL="0" lvl="0" indent="0" algn="ctr" rtl="0">
              <a:spcBef>
                <a:spcPts val="640"/>
              </a:spcBef>
              <a:spcAft>
                <a:spcPts val="0"/>
              </a:spcAft>
              <a:buSzPts val="2560"/>
              <a:buNone/>
            </a:pPr>
            <a:r>
              <a:rPr lang="en-US" sz="3200"/>
              <a:t>Chinese University of Hong Kong, Shenzhen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3"/>
          <p:cNvSpPr txBox="1">
            <a:spLocks noGrp="1"/>
          </p:cNvSpPr>
          <p:nvPr>
            <p:ph type="title"/>
          </p:nvPr>
        </p:nvSpPr>
        <p:spPr>
          <a:xfrm>
            <a:off x="1296610" y="144466"/>
            <a:ext cx="10270977" cy="692151"/>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Outline</a:t>
            </a:r>
            <a:endParaRPr/>
          </a:p>
        </p:txBody>
      </p:sp>
      <p:sp>
        <p:nvSpPr>
          <p:cNvPr id="83" name="Google Shape;83;p3"/>
          <p:cNvSpPr txBox="1">
            <a:spLocks noGrp="1"/>
          </p:cNvSpPr>
          <p:nvPr>
            <p:ph type="body" idx="1"/>
          </p:nvPr>
        </p:nvSpPr>
        <p:spPr>
          <a:xfrm>
            <a:off x="1296535" y="1455337"/>
            <a:ext cx="10271100" cy="3560700"/>
          </a:xfrm>
          <a:prstGeom prst="rect">
            <a:avLst/>
          </a:prstGeom>
          <a:noFill/>
          <a:ln>
            <a:noFill/>
          </a:ln>
        </p:spPr>
        <p:txBody>
          <a:bodyPr spcFirstLastPara="1" wrap="square" lIns="91425" tIns="45700" rIns="91425" bIns="45700" anchor="t" anchorCtr="0">
            <a:noAutofit/>
          </a:bodyPr>
          <a:lstStyle/>
          <a:p>
            <a:pPr marL="342882" lvl="0" indent="-342882" algn="l" rtl="0">
              <a:spcBef>
                <a:spcPts val="0"/>
              </a:spcBef>
              <a:spcAft>
                <a:spcPts val="0"/>
              </a:spcAft>
              <a:buSzPts val="2346"/>
              <a:buChar char="●"/>
            </a:pPr>
            <a:r>
              <a:rPr lang="en-US" sz="2933">
                <a:solidFill>
                  <a:srgbClr val="FF0000"/>
                </a:solidFill>
                <a:latin typeface="Times New Roman"/>
                <a:ea typeface="Times New Roman"/>
                <a:cs typeface="Times New Roman"/>
                <a:sym typeface="Times New Roman"/>
              </a:rPr>
              <a:t>Background</a:t>
            </a:r>
            <a:r>
              <a:rPr lang="en-US" sz="2933">
                <a:latin typeface="Times New Roman"/>
                <a:ea typeface="Times New Roman"/>
                <a:cs typeface="Times New Roman"/>
                <a:sym typeface="Times New Roman"/>
              </a:rPr>
              <a:t> (3 min)</a:t>
            </a:r>
            <a:endParaRPr sz="2933">
              <a:latin typeface="Times New Roman"/>
              <a:ea typeface="Times New Roman"/>
              <a:cs typeface="Times New Roman"/>
              <a:sym typeface="Times New Roman"/>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Motivation (3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Proposed Methods &amp; Performance Evaluation (18 min)</a:t>
            </a:r>
            <a:endParaRPr/>
          </a:p>
          <a:p>
            <a:pPr marL="742913" lvl="1" indent="-285736" algn="l" rtl="0">
              <a:spcBef>
                <a:spcPts val="480"/>
              </a:spcBef>
              <a:spcAft>
                <a:spcPts val="0"/>
              </a:spcAft>
              <a:buSzPts val="2160"/>
              <a:buChar char="–"/>
            </a:pPr>
            <a:r>
              <a:rPr lang="en-US" sz="2400">
                <a:latin typeface="Times New Roman"/>
                <a:ea typeface="Times New Roman"/>
                <a:cs typeface="Times New Roman"/>
                <a:sym typeface="Times New Roman"/>
              </a:rPr>
              <a:t>HuatuoGPT-2 ( 6 min)</a:t>
            </a:r>
            <a:endParaRPr/>
          </a:p>
          <a:p>
            <a:pPr marL="742913" lvl="1" indent="-285736" algn="l" rtl="0">
              <a:spcBef>
                <a:spcPts val="480"/>
              </a:spcBef>
              <a:spcAft>
                <a:spcPts val="0"/>
              </a:spcAft>
              <a:buSzPts val="2160"/>
              <a:buChar char="–"/>
            </a:pPr>
            <a:r>
              <a:rPr lang="en-US" sz="2400">
                <a:latin typeface="Times New Roman"/>
                <a:ea typeface="Times New Roman"/>
                <a:cs typeface="Times New Roman"/>
                <a:sym typeface="Times New Roman"/>
              </a:rPr>
              <a:t>HuatuoGPT-o1 ( 6 min)</a:t>
            </a:r>
            <a:endParaRPr/>
          </a:p>
          <a:p>
            <a:pPr marL="742913" lvl="1" indent="-285736" algn="l" rtl="0">
              <a:spcBef>
                <a:spcPts val="480"/>
              </a:spcBef>
              <a:spcAft>
                <a:spcPts val="0"/>
              </a:spcAft>
              <a:buSzPts val="2160"/>
              <a:buChar char="–"/>
            </a:pPr>
            <a:r>
              <a:rPr lang="en-US" sz="2400">
                <a:latin typeface="Times New Roman"/>
                <a:ea typeface="Times New Roman"/>
                <a:cs typeface="Times New Roman"/>
                <a:sym typeface="Times New Roman"/>
              </a:rPr>
              <a:t>HuatuoGPT-3 ( 6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Conclusions (1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Q &amp; A (5 min)</a:t>
            </a:r>
            <a:endParaRPr/>
          </a:p>
        </p:txBody>
      </p:sp>
      <p:sp>
        <p:nvSpPr>
          <p:cNvPr id="84" name="Google Shape;84;p3"/>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4"/>
          <p:cNvSpPr txBox="1">
            <a:spLocks noGrp="1"/>
          </p:cNvSpPr>
          <p:nvPr>
            <p:ph type="title"/>
          </p:nvPr>
        </p:nvSpPr>
        <p:spPr>
          <a:xfrm>
            <a:off x="1088571" y="144466"/>
            <a:ext cx="10722429" cy="692151"/>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What is Medical LLMs</a:t>
            </a:r>
            <a:endParaRPr/>
          </a:p>
        </p:txBody>
      </p:sp>
      <p:sp>
        <p:nvSpPr>
          <p:cNvPr id="90" name="Google Shape;90;p4"/>
          <p:cNvSpPr txBox="1">
            <a:spLocks noGrp="1"/>
          </p:cNvSpPr>
          <p:nvPr>
            <p:ph type="body" idx="1"/>
          </p:nvPr>
        </p:nvSpPr>
        <p:spPr>
          <a:xfrm>
            <a:off x="567655" y="1251372"/>
            <a:ext cx="10594109" cy="4831917"/>
          </a:xfrm>
          <a:prstGeom prst="rect">
            <a:avLst/>
          </a:prstGeom>
          <a:noFill/>
          <a:ln>
            <a:noFill/>
          </a:ln>
        </p:spPr>
        <p:txBody>
          <a:bodyPr spcFirstLastPara="1" wrap="square" lIns="91425" tIns="45700" rIns="91425" bIns="45700" anchor="t" anchorCtr="0">
            <a:noAutofit/>
          </a:bodyPr>
          <a:lstStyle/>
          <a:p>
            <a:pPr marL="342882" lvl="0" indent="-342882" algn="l" rtl="0">
              <a:spcBef>
                <a:spcPts val="0"/>
              </a:spcBef>
              <a:spcAft>
                <a:spcPts val="0"/>
              </a:spcAft>
              <a:buSzPts val="1920"/>
              <a:buChar char="●"/>
            </a:pPr>
            <a:r>
              <a:rPr lang="en-US" sz="2400">
                <a:latin typeface="Times New Roman"/>
                <a:ea typeface="Times New Roman"/>
                <a:cs typeface="Times New Roman"/>
                <a:sym typeface="Times New Roman"/>
              </a:rPr>
              <a:t>What is </a:t>
            </a:r>
            <a:r>
              <a:rPr lang="en-US" sz="2400">
                <a:solidFill>
                  <a:srgbClr val="FF0000"/>
                </a:solidFill>
                <a:latin typeface="Times New Roman"/>
                <a:ea typeface="Times New Roman"/>
                <a:cs typeface="Times New Roman"/>
                <a:sym typeface="Times New Roman"/>
              </a:rPr>
              <a:t>Medical LLMs</a:t>
            </a:r>
            <a:r>
              <a:rPr lang="en-US" sz="2400">
                <a:latin typeface="Times New Roman"/>
                <a:ea typeface="Times New Roman"/>
                <a:cs typeface="Times New Roman"/>
                <a:sym typeface="Times New Roman"/>
              </a:rPr>
              <a:t>?</a:t>
            </a:r>
            <a:endParaRPr/>
          </a:p>
          <a:p>
            <a:pPr marL="742913" lvl="1" indent="-285737" algn="l" rtl="0">
              <a:spcBef>
                <a:spcPts val="440"/>
              </a:spcBef>
              <a:spcAft>
                <a:spcPts val="0"/>
              </a:spcAft>
              <a:buSzPts val="1980"/>
              <a:buChar char="–"/>
            </a:pPr>
            <a:r>
              <a:rPr lang="en-US" sz="2200" b="1">
                <a:latin typeface="Times New Roman"/>
                <a:ea typeface="Times New Roman"/>
                <a:cs typeface="Times New Roman"/>
                <a:sym typeface="Times New Roman"/>
              </a:rPr>
              <a:t>Definition: </a:t>
            </a:r>
            <a:r>
              <a:rPr lang="en-US" sz="2200">
                <a:latin typeface="Times New Roman"/>
                <a:ea typeface="Times New Roman"/>
                <a:cs typeface="Times New Roman"/>
                <a:sym typeface="Times New Roman"/>
              </a:rPr>
              <a:t>A domain-specific AI system designed to understand, reason, and generate clinical knowledge at an expert level.</a:t>
            </a:r>
            <a:endParaRPr/>
          </a:p>
          <a:p>
            <a:pPr marL="742913" lvl="1" indent="-285737" algn="l" rtl="0">
              <a:spcBef>
                <a:spcPts val="440"/>
              </a:spcBef>
              <a:spcAft>
                <a:spcPts val="0"/>
              </a:spcAft>
              <a:buSzPts val="1980"/>
              <a:buChar char="–"/>
            </a:pPr>
            <a:r>
              <a:rPr lang="en-US" sz="2200" b="1">
                <a:latin typeface="Times New Roman"/>
                <a:ea typeface="Times New Roman"/>
                <a:cs typeface="Times New Roman"/>
                <a:sym typeface="Times New Roman"/>
              </a:rPr>
              <a:t>The Goal: </a:t>
            </a:r>
            <a:r>
              <a:rPr lang="en-US" sz="2200">
                <a:latin typeface="Times New Roman"/>
                <a:ea typeface="Times New Roman"/>
                <a:cs typeface="Times New Roman"/>
                <a:sym typeface="Times New Roman"/>
              </a:rPr>
              <a:t>Achieving General Medical AI (GMAI)—a system capable of handling complex clinical workflows, from diagnosis to personalized treatment planning.</a:t>
            </a:r>
            <a:endParaRPr sz="2200">
              <a:latin typeface="Times New Roman"/>
              <a:ea typeface="Times New Roman"/>
              <a:cs typeface="Times New Roman"/>
              <a:sym typeface="Times New Roman"/>
            </a:endParaRPr>
          </a:p>
        </p:txBody>
      </p:sp>
      <p:sp>
        <p:nvSpPr>
          <p:cNvPr id="91" name="Google Shape;91;p4"/>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pic>
        <p:nvPicPr>
          <p:cNvPr id="92" name="Google Shape;92;p4"/>
          <p:cNvPicPr preferRelativeResize="0"/>
          <p:nvPr/>
        </p:nvPicPr>
        <p:blipFill rotWithShape="1">
          <a:blip r:embed="rId3">
            <a:alphaModFix/>
          </a:blip>
          <a:srcRect/>
          <a:stretch/>
        </p:blipFill>
        <p:spPr>
          <a:xfrm>
            <a:off x="6220050" y="3354042"/>
            <a:ext cx="3588626" cy="2392417"/>
          </a:xfrm>
          <a:prstGeom prst="rect">
            <a:avLst/>
          </a:prstGeom>
          <a:noFill/>
          <a:ln>
            <a:noFill/>
          </a:ln>
        </p:spPr>
      </p:pic>
      <p:sp>
        <p:nvSpPr>
          <p:cNvPr id="93" name="Google Shape;93;p4"/>
          <p:cNvSpPr txBox="1"/>
          <p:nvPr/>
        </p:nvSpPr>
        <p:spPr>
          <a:xfrm>
            <a:off x="1702966" y="4093637"/>
            <a:ext cx="3951214" cy="646331"/>
          </a:xfrm>
          <a:prstGeom prst="rect">
            <a:avLst/>
          </a:prstGeom>
          <a:noFill/>
          <a:ln>
            <a:noFill/>
          </a:ln>
        </p:spPr>
        <p:txBody>
          <a:bodyPr spcFirstLastPara="1" wrap="square" lIns="91425" tIns="45700" rIns="91425" bIns="45700" anchor="ctr" anchorCtr="1">
            <a:spAutoFit/>
          </a:bodyPr>
          <a:lstStyle/>
          <a:p>
            <a:pPr marL="0" marR="0" lvl="0" indent="0" algn="ctr" rtl="0">
              <a:spcBef>
                <a:spcPts val="0"/>
              </a:spcBef>
              <a:spcAft>
                <a:spcPts val="0"/>
              </a:spcAft>
              <a:buNone/>
            </a:pPr>
            <a:r>
              <a:rPr lang="en-US" sz="1800" b="0" i="1" u="none" strike="noStrike" cap="none">
                <a:solidFill>
                  <a:srgbClr val="FF0000"/>
                </a:solidFill>
                <a:latin typeface="Times New Roman"/>
                <a:ea typeface="Times New Roman"/>
                <a:cs typeface="Times New Roman"/>
                <a:sym typeface="Times New Roman"/>
              </a:rPr>
              <a:t>“A professional LLM focusing on the medical field.”</a:t>
            </a:r>
            <a:endParaRPr sz="1800" b="0" i="1"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5"/>
          <p:cNvSpPr txBox="1">
            <a:spLocks noGrp="1"/>
          </p:cNvSpPr>
          <p:nvPr>
            <p:ph type="title"/>
          </p:nvPr>
        </p:nvSpPr>
        <p:spPr>
          <a:xfrm>
            <a:off x="1130516" y="152855"/>
            <a:ext cx="10722429" cy="692151"/>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Why Medical LLM Matters?</a:t>
            </a:r>
            <a:endParaRPr/>
          </a:p>
        </p:txBody>
      </p:sp>
      <p:sp>
        <p:nvSpPr>
          <p:cNvPr id="99" name="Google Shape;99;p5"/>
          <p:cNvSpPr txBox="1">
            <a:spLocks noGrp="1"/>
          </p:cNvSpPr>
          <p:nvPr>
            <p:ph type="body" idx="1"/>
          </p:nvPr>
        </p:nvSpPr>
        <p:spPr>
          <a:xfrm>
            <a:off x="567655" y="1251372"/>
            <a:ext cx="10594109" cy="4831917"/>
          </a:xfrm>
          <a:prstGeom prst="rect">
            <a:avLst/>
          </a:prstGeom>
          <a:noFill/>
          <a:ln>
            <a:noFill/>
          </a:ln>
        </p:spPr>
        <p:txBody>
          <a:bodyPr spcFirstLastPara="1" wrap="square" lIns="91425" tIns="45700" rIns="91425" bIns="45700" anchor="t" anchorCtr="0">
            <a:noAutofit/>
          </a:bodyPr>
          <a:lstStyle/>
          <a:p>
            <a:pPr marL="342882" lvl="0" indent="-342882" algn="l" rtl="0">
              <a:spcBef>
                <a:spcPts val="0"/>
              </a:spcBef>
              <a:spcAft>
                <a:spcPts val="0"/>
              </a:spcAft>
              <a:buSzPts val="1760"/>
              <a:buChar char="●"/>
            </a:pPr>
            <a:r>
              <a:rPr lang="en-US" sz="2200" b="1">
                <a:latin typeface="Times New Roman"/>
                <a:ea typeface="Times New Roman"/>
                <a:cs typeface="Times New Roman"/>
                <a:sym typeface="Times New Roman"/>
              </a:rPr>
              <a:t>The “Generalist” Bottleneck: </a:t>
            </a:r>
            <a:r>
              <a:rPr lang="en-US" sz="2200">
                <a:latin typeface="Times New Roman"/>
                <a:ea typeface="Times New Roman"/>
                <a:cs typeface="Times New Roman"/>
                <a:sym typeface="Times New Roman"/>
              </a:rPr>
              <a:t>General LLMs often struggle with medical nuances, leading to “hallucinations” in high-stakes clinical scenarios. </a:t>
            </a:r>
            <a:endParaRPr/>
          </a:p>
        </p:txBody>
      </p:sp>
      <p:sp>
        <p:nvSpPr>
          <p:cNvPr id="100" name="Google Shape;100;p5"/>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
        <p:nvSpPr>
          <p:cNvPr id="101" name="Google Shape;101;p5"/>
          <p:cNvSpPr txBox="1"/>
          <p:nvPr/>
        </p:nvSpPr>
        <p:spPr>
          <a:xfrm>
            <a:off x="1350628" y="4559307"/>
            <a:ext cx="9311779" cy="369332"/>
          </a:xfrm>
          <a:prstGeom prst="rect">
            <a:avLst/>
          </a:prstGeom>
          <a:noFill/>
          <a:ln>
            <a:noFill/>
          </a:ln>
        </p:spPr>
        <p:txBody>
          <a:bodyPr spcFirstLastPara="1" wrap="square" lIns="91425" tIns="45700" rIns="91425" bIns="45700" anchor="ctr" anchorCtr="1">
            <a:spAutoFit/>
          </a:bodyPr>
          <a:lstStyle/>
          <a:p>
            <a:pPr marL="0" marR="0" lvl="0" indent="0" algn="ctr" rtl="0">
              <a:spcBef>
                <a:spcPts val="0"/>
              </a:spcBef>
              <a:spcAft>
                <a:spcPts val="0"/>
              </a:spcAft>
              <a:buNone/>
            </a:pPr>
            <a:r>
              <a:rPr lang="en-US" sz="1800" b="0" i="1" u="none" strike="noStrike" cap="none">
                <a:solidFill>
                  <a:srgbClr val="FF0000"/>
                </a:solidFill>
                <a:latin typeface="Times New Roman"/>
                <a:ea typeface="Times New Roman"/>
                <a:cs typeface="Times New Roman"/>
                <a:sym typeface="Times New Roman"/>
              </a:rPr>
              <a:t>“A professional medical LLM can surpass much larger general models in medical applications.”</a:t>
            </a:r>
            <a:endParaRPr sz="1800" b="0" i="1" u="none" strike="noStrike" cap="none">
              <a:solidFill>
                <a:srgbClr val="FF0000"/>
              </a:solidFill>
              <a:latin typeface="Times New Roman"/>
              <a:ea typeface="Times New Roman"/>
              <a:cs typeface="Times New Roman"/>
              <a:sym typeface="Times New Roman"/>
            </a:endParaRPr>
          </a:p>
        </p:txBody>
      </p:sp>
      <p:pic>
        <p:nvPicPr>
          <p:cNvPr id="102" name="Google Shape;102;p5"/>
          <p:cNvPicPr preferRelativeResize="0"/>
          <p:nvPr/>
        </p:nvPicPr>
        <p:blipFill rotWithShape="1">
          <a:blip r:embed="rId3">
            <a:alphaModFix/>
          </a:blip>
          <a:srcRect/>
          <a:stretch/>
        </p:blipFill>
        <p:spPr>
          <a:xfrm>
            <a:off x="4237314" y="2375308"/>
            <a:ext cx="1631967" cy="1529975"/>
          </a:xfrm>
          <a:prstGeom prst="rect">
            <a:avLst/>
          </a:prstGeom>
          <a:noFill/>
          <a:ln>
            <a:noFill/>
          </a:ln>
        </p:spPr>
      </p:pic>
      <p:pic>
        <p:nvPicPr>
          <p:cNvPr id="103" name="Google Shape;103;p5"/>
          <p:cNvPicPr preferRelativeResize="0"/>
          <p:nvPr/>
        </p:nvPicPr>
        <p:blipFill rotWithShape="1">
          <a:blip r:embed="rId4">
            <a:alphaModFix/>
          </a:blip>
          <a:srcRect/>
          <a:stretch/>
        </p:blipFill>
        <p:spPr>
          <a:xfrm>
            <a:off x="6983714" y="2851046"/>
            <a:ext cx="1227130" cy="1001750"/>
          </a:xfrm>
          <a:prstGeom prst="rect">
            <a:avLst/>
          </a:prstGeom>
          <a:noFill/>
          <a:ln>
            <a:noFill/>
          </a:ln>
        </p:spPr>
      </p:pic>
      <p:sp>
        <p:nvSpPr>
          <p:cNvPr id="104" name="Google Shape;104;p5"/>
          <p:cNvSpPr txBox="1"/>
          <p:nvPr/>
        </p:nvSpPr>
        <p:spPr>
          <a:xfrm>
            <a:off x="4036577" y="3845758"/>
            <a:ext cx="1832700" cy="4500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111111"/>
              </a:buClr>
              <a:buSzPts val="1200"/>
              <a:buFont typeface="Lato"/>
              <a:buNone/>
            </a:pPr>
            <a:r>
              <a:rPr lang="en-US" sz="1200" b="0" i="0" u="none" strike="noStrike" cap="none">
                <a:solidFill>
                  <a:srgbClr val="111111"/>
                </a:solidFill>
                <a:highlight>
                  <a:srgbClr val="FDFDFD"/>
                </a:highlight>
                <a:latin typeface="Lato"/>
                <a:ea typeface="Lato"/>
                <a:cs typeface="Lato"/>
                <a:sym typeface="Lato"/>
              </a:rPr>
              <a:t>General LLM</a:t>
            </a:r>
            <a:endParaRPr sz="1200" b="0" i="0" u="none" strike="noStrike" cap="none">
              <a:solidFill>
                <a:srgbClr val="111111"/>
              </a:solidFill>
              <a:highlight>
                <a:srgbClr val="FDFDFD"/>
              </a:highlight>
              <a:latin typeface="Lato"/>
              <a:ea typeface="Lato"/>
              <a:cs typeface="Lato"/>
              <a:sym typeface="Lato"/>
            </a:endParaRPr>
          </a:p>
          <a:p>
            <a:pPr marL="0" marR="0" lvl="0" indent="0" algn="ctr" rtl="0">
              <a:spcBef>
                <a:spcPts val="0"/>
              </a:spcBef>
              <a:spcAft>
                <a:spcPts val="0"/>
              </a:spcAft>
              <a:buClr>
                <a:srgbClr val="111111"/>
              </a:buClr>
              <a:buSzPts val="1200"/>
              <a:buFont typeface="Lato"/>
              <a:buNone/>
            </a:pPr>
            <a:r>
              <a:rPr lang="en-US" sz="1200" b="0" i="0" u="none" strike="noStrike" cap="none">
                <a:solidFill>
                  <a:srgbClr val="111111"/>
                </a:solidFill>
                <a:highlight>
                  <a:srgbClr val="FDFDFD"/>
                </a:highlight>
                <a:latin typeface="Lato"/>
                <a:ea typeface="Lato"/>
                <a:cs typeface="Lato"/>
                <a:sym typeface="Lato"/>
              </a:rPr>
              <a:t>(eg. ChatGPT)</a:t>
            </a:r>
            <a:endParaRPr sz="1200" b="0" i="0" u="none" strike="noStrike" cap="none">
              <a:solidFill>
                <a:srgbClr val="111111"/>
              </a:solidFill>
              <a:highlight>
                <a:srgbClr val="FDFDFD"/>
              </a:highlight>
              <a:latin typeface="Lato"/>
              <a:ea typeface="Lato"/>
              <a:cs typeface="Lato"/>
              <a:sym typeface="Lato"/>
            </a:endParaRPr>
          </a:p>
        </p:txBody>
      </p:sp>
      <p:sp>
        <p:nvSpPr>
          <p:cNvPr id="105" name="Google Shape;105;p5"/>
          <p:cNvSpPr txBox="1"/>
          <p:nvPr/>
        </p:nvSpPr>
        <p:spPr>
          <a:xfrm>
            <a:off x="2709039" y="3455283"/>
            <a:ext cx="1163100" cy="4500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2060"/>
              </a:buClr>
              <a:buSzPts val="1500"/>
              <a:buFont typeface="Lato"/>
              <a:buNone/>
            </a:pPr>
            <a:r>
              <a:rPr lang="en-US" sz="1500" b="1" i="0" u="none" strike="noStrike" cap="none">
                <a:solidFill>
                  <a:srgbClr val="002060"/>
                </a:solidFill>
                <a:highlight>
                  <a:srgbClr val="FDFDFD"/>
                </a:highlight>
                <a:latin typeface="Lato"/>
                <a:ea typeface="Lato"/>
                <a:cs typeface="Lato"/>
                <a:sym typeface="Lato"/>
              </a:rPr>
              <a:t>Medicine</a:t>
            </a:r>
            <a:endParaRPr sz="1500" b="1" i="0" u="none" strike="noStrike" cap="none">
              <a:solidFill>
                <a:srgbClr val="002060"/>
              </a:solidFill>
              <a:highlight>
                <a:srgbClr val="FDFDFD"/>
              </a:highlight>
              <a:latin typeface="Lato"/>
              <a:ea typeface="Lato"/>
              <a:cs typeface="Lato"/>
              <a:sym typeface="Lato"/>
            </a:endParaRPr>
          </a:p>
          <a:p>
            <a:pPr marL="0" marR="0" lvl="0" indent="0" algn="ctr" rtl="0">
              <a:spcBef>
                <a:spcPts val="0"/>
              </a:spcBef>
              <a:spcAft>
                <a:spcPts val="0"/>
              </a:spcAft>
              <a:buClr>
                <a:srgbClr val="002060"/>
              </a:buClr>
              <a:buSzPts val="1500"/>
              <a:buFont typeface="Lato"/>
              <a:buNone/>
            </a:pPr>
            <a:r>
              <a:rPr lang="en-US" sz="1500" b="1" i="0" u="none" strike="noStrike" cap="none">
                <a:solidFill>
                  <a:srgbClr val="002060"/>
                </a:solidFill>
                <a:highlight>
                  <a:srgbClr val="FDFDFD"/>
                </a:highlight>
                <a:latin typeface="Lato"/>
                <a:ea typeface="Lato"/>
                <a:cs typeface="Lato"/>
                <a:sym typeface="Lato"/>
              </a:rPr>
              <a:t>Expertise</a:t>
            </a:r>
            <a:endParaRPr sz="1500" b="1" i="0" u="none" strike="noStrike" cap="none">
              <a:solidFill>
                <a:srgbClr val="002060"/>
              </a:solidFill>
              <a:highlight>
                <a:srgbClr val="FDFDFD"/>
              </a:highlight>
              <a:latin typeface="Lato"/>
              <a:ea typeface="Lato"/>
              <a:cs typeface="Lato"/>
              <a:sym typeface="Lato"/>
            </a:endParaRPr>
          </a:p>
        </p:txBody>
      </p:sp>
      <p:cxnSp>
        <p:nvCxnSpPr>
          <p:cNvPr id="106" name="Google Shape;106;p5"/>
          <p:cNvCxnSpPr/>
          <p:nvPr/>
        </p:nvCxnSpPr>
        <p:spPr>
          <a:xfrm rot="10800000" flipH="1">
            <a:off x="3932514" y="3594658"/>
            <a:ext cx="752400" cy="57000"/>
          </a:xfrm>
          <a:prstGeom prst="straightConnector1">
            <a:avLst/>
          </a:prstGeom>
          <a:noFill/>
          <a:ln w="9525" cap="flat" cmpd="sng">
            <a:solidFill>
              <a:srgbClr val="595959"/>
            </a:solidFill>
            <a:prstDash val="solid"/>
            <a:round/>
            <a:headEnd type="none" w="sm" len="sm"/>
            <a:tailEnd type="triangle" w="med" len="med"/>
          </a:ln>
        </p:spPr>
      </p:cxnSp>
      <p:sp>
        <p:nvSpPr>
          <p:cNvPr id="107" name="Google Shape;107;p5"/>
          <p:cNvSpPr txBox="1"/>
          <p:nvPr/>
        </p:nvSpPr>
        <p:spPr>
          <a:xfrm>
            <a:off x="6665477" y="3721933"/>
            <a:ext cx="1832700" cy="4500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111111"/>
              </a:buClr>
              <a:buSzPts val="1200"/>
              <a:buFont typeface="Lato"/>
              <a:buNone/>
            </a:pPr>
            <a:r>
              <a:rPr lang="en-US" sz="1200" b="0" i="0" u="none" strike="noStrike" cap="none">
                <a:solidFill>
                  <a:srgbClr val="111111"/>
                </a:solidFill>
                <a:highlight>
                  <a:srgbClr val="FDFDFD"/>
                </a:highlight>
                <a:latin typeface="Lato"/>
                <a:ea typeface="Lato"/>
                <a:cs typeface="Lato"/>
                <a:sym typeface="Lato"/>
              </a:rPr>
              <a:t>Medical  LLM</a:t>
            </a:r>
            <a:endParaRPr sz="1200" b="0" i="0" u="none" strike="noStrike" cap="none">
              <a:solidFill>
                <a:srgbClr val="111111"/>
              </a:solidFill>
              <a:highlight>
                <a:srgbClr val="FDFDFD"/>
              </a:highlight>
              <a:latin typeface="Lato"/>
              <a:ea typeface="Lato"/>
              <a:cs typeface="Lato"/>
              <a:sym typeface="Lato"/>
            </a:endParaRPr>
          </a:p>
          <a:p>
            <a:pPr marL="0" marR="0" lvl="0" indent="0" algn="ctr" rtl="0">
              <a:spcBef>
                <a:spcPts val="0"/>
              </a:spcBef>
              <a:spcAft>
                <a:spcPts val="0"/>
              </a:spcAft>
              <a:buClr>
                <a:schemeClr val="dk1"/>
              </a:buClr>
              <a:buSzPts val="1100"/>
              <a:buFont typeface="Arial"/>
              <a:buNone/>
            </a:pPr>
            <a:r>
              <a:rPr lang="en-US" sz="1200" b="0" i="0" u="none" strike="noStrike" cap="none">
                <a:solidFill>
                  <a:srgbClr val="111111"/>
                </a:solidFill>
                <a:highlight>
                  <a:srgbClr val="FDFDFD"/>
                </a:highlight>
                <a:latin typeface="Lato"/>
                <a:ea typeface="Lato"/>
                <a:cs typeface="Lato"/>
                <a:sym typeface="Lato"/>
              </a:rPr>
              <a:t>(eg. HuatuoGPT)</a:t>
            </a:r>
            <a:endParaRPr sz="1200" b="0" i="0" u="none" strike="noStrike" cap="none">
              <a:solidFill>
                <a:srgbClr val="111111"/>
              </a:solidFill>
              <a:highlight>
                <a:srgbClr val="FDFDFD"/>
              </a:highlight>
              <a:latin typeface="Lato"/>
              <a:ea typeface="Lato"/>
              <a:cs typeface="Lato"/>
              <a:sym typeface="Lato"/>
            </a:endParaRPr>
          </a:p>
        </p:txBody>
      </p:sp>
      <p:cxnSp>
        <p:nvCxnSpPr>
          <p:cNvPr id="108" name="Google Shape;108;p5"/>
          <p:cNvCxnSpPr/>
          <p:nvPr/>
        </p:nvCxnSpPr>
        <p:spPr>
          <a:xfrm>
            <a:off x="6075014" y="3318544"/>
            <a:ext cx="749400" cy="8400"/>
          </a:xfrm>
          <a:prstGeom prst="straightConnector1">
            <a:avLst/>
          </a:prstGeom>
          <a:noFill/>
          <a:ln w="9525" cap="flat" cmpd="sng">
            <a:solidFill>
              <a:srgbClr val="595959"/>
            </a:solidFill>
            <a:prstDash val="solid"/>
            <a:round/>
            <a:headEnd type="none" w="sm" len="sm"/>
            <a:tailEnd type="triangle" w="med" len="med"/>
          </a:ln>
        </p:spPr>
      </p:cxnSp>
      <p:sp>
        <p:nvSpPr>
          <p:cNvPr id="109" name="Google Shape;109;p5"/>
          <p:cNvSpPr txBox="1"/>
          <p:nvPr/>
        </p:nvSpPr>
        <p:spPr>
          <a:xfrm>
            <a:off x="5865314" y="3302883"/>
            <a:ext cx="1163100" cy="4500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2060"/>
              </a:buClr>
              <a:buSzPts val="1200"/>
              <a:buFont typeface="Lato"/>
              <a:buNone/>
            </a:pPr>
            <a:r>
              <a:rPr lang="en-US" sz="1200" b="1" i="0" u="none" strike="noStrike" cap="none">
                <a:solidFill>
                  <a:srgbClr val="002060"/>
                </a:solidFill>
                <a:highlight>
                  <a:srgbClr val="FDFDFD"/>
                </a:highlight>
                <a:latin typeface="Lato"/>
                <a:ea typeface="Lato"/>
                <a:cs typeface="Lato"/>
                <a:sym typeface="Lato"/>
              </a:rPr>
              <a:t>Adaptation</a:t>
            </a:r>
            <a:endParaRPr sz="1200" b="1" i="0" u="none" strike="noStrike" cap="none">
              <a:solidFill>
                <a:srgbClr val="002060"/>
              </a:solidFill>
              <a:highlight>
                <a:srgbClr val="FDFDFD"/>
              </a:highlight>
              <a:latin typeface="Lato"/>
              <a:ea typeface="Lato"/>
              <a:cs typeface="Lato"/>
              <a:sym typeface="Lato"/>
            </a:endParaRPr>
          </a:p>
          <a:p>
            <a:pPr marL="0" marR="0" lvl="0" indent="0" algn="ctr" rtl="0">
              <a:spcBef>
                <a:spcPts val="0"/>
              </a:spcBef>
              <a:spcAft>
                <a:spcPts val="0"/>
              </a:spcAft>
              <a:buClr>
                <a:schemeClr val="dk1"/>
              </a:buClr>
              <a:buSzPts val="1200"/>
              <a:buFont typeface="Arial"/>
              <a:buNone/>
            </a:pPr>
            <a:endParaRPr sz="1200" b="1" i="0" u="none" strike="noStrike" cap="none">
              <a:solidFill>
                <a:srgbClr val="002060"/>
              </a:solidFill>
              <a:highlight>
                <a:srgbClr val="FDFDFD"/>
              </a:highlight>
              <a:latin typeface="Lato"/>
              <a:ea typeface="Lato"/>
              <a:cs typeface="Lato"/>
              <a:sym typeface="Lato"/>
            </a:endParaRPr>
          </a:p>
        </p:txBody>
      </p:sp>
      <p:sp>
        <p:nvSpPr>
          <p:cNvPr id="110" name="Google Shape;110;p5"/>
          <p:cNvSpPr txBox="1"/>
          <p:nvPr/>
        </p:nvSpPr>
        <p:spPr>
          <a:xfrm>
            <a:off x="1175857" y="5076548"/>
            <a:ext cx="9763387" cy="646331"/>
          </a:xfrm>
          <a:prstGeom prst="rect">
            <a:avLst/>
          </a:prstGeom>
          <a:noFill/>
          <a:ln>
            <a:noFill/>
          </a:ln>
        </p:spPr>
        <p:txBody>
          <a:bodyPr spcFirstLastPara="1" wrap="square" lIns="91425" tIns="45700" rIns="91425" bIns="45700" anchor="ctr" anchorCtr="1">
            <a:sp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A great example is specialized code LLMs (such as Codex), which have much stronger coding capabilities than general LLMs (such as GPT-5-Chat).</a:t>
            </a:r>
            <a:endParaRPr sz="1800" b="0" i="1"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6"/>
          <p:cNvSpPr txBox="1">
            <a:spLocks noGrp="1"/>
          </p:cNvSpPr>
          <p:nvPr>
            <p:ph type="title"/>
          </p:nvPr>
        </p:nvSpPr>
        <p:spPr>
          <a:xfrm>
            <a:off x="1130516" y="152855"/>
            <a:ext cx="10722429" cy="692151"/>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The Healthcare AI Landscape</a:t>
            </a:r>
            <a:endParaRPr/>
          </a:p>
        </p:txBody>
      </p:sp>
      <p:sp>
        <p:nvSpPr>
          <p:cNvPr id="116" name="Google Shape;116;p6"/>
          <p:cNvSpPr txBox="1">
            <a:spLocks noGrp="1"/>
          </p:cNvSpPr>
          <p:nvPr>
            <p:ph type="body" idx="1"/>
          </p:nvPr>
        </p:nvSpPr>
        <p:spPr>
          <a:xfrm>
            <a:off x="400834" y="1409406"/>
            <a:ext cx="10594109" cy="2574008"/>
          </a:xfrm>
          <a:prstGeom prst="rect">
            <a:avLst/>
          </a:prstGeom>
          <a:noFill/>
          <a:ln>
            <a:noFill/>
          </a:ln>
        </p:spPr>
        <p:txBody>
          <a:bodyPr spcFirstLastPara="1" wrap="square" lIns="91425" tIns="45700" rIns="91425" bIns="45700" anchor="t" anchorCtr="0">
            <a:noAutofit/>
          </a:bodyPr>
          <a:lstStyle/>
          <a:p>
            <a:pPr marL="342882" lvl="0" indent="-342882" algn="l" rtl="0">
              <a:spcBef>
                <a:spcPts val="0"/>
              </a:spcBef>
              <a:spcAft>
                <a:spcPts val="0"/>
              </a:spcAft>
              <a:buSzPts val="1760"/>
              <a:buChar char="●"/>
            </a:pPr>
            <a:r>
              <a:rPr lang="en-US" sz="2200" b="1">
                <a:latin typeface="Times New Roman"/>
                <a:ea typeface="Times New Roman"/>
                <a:cs typeface="Times New Roman"/>
                <a:sym typeface="Times New Roman"/>
              </a:rPr>
              <a:t>Healthcare Spending: </a:t>
            </a:r>
            <a:r>
              <a:rPr lang="en-US" sz="2200">
                <a:latin typeface="Times New Roman"/>
                <a:ea typeface="Times New Roman"/>
                <a:cs typeface="Times New Roman"/>
                <a:sym typeface="Times New Roman"/>
              </a:rPr>
              <a:t>Healthcare accounts for nearly </a:t>
            </a:r>
            <a:r>
              <a:rPr lang="en-US" sz="2200">
                <a:solidFill>
                  <a:srgbClr val="FF0000"/>
                </a:solidFill>
                <a:latin typeface="Times New Roman"/>
                <a:ea typeface="Times New Roman"/>
                <a:cs typeface="Times New Roman"/>
                <a:sym typeface="Times New Roman"/>
              </a:rPr>
              <a:t>10-20% of GDP </a:t>
            </a:r>
            <a:r>
              <a:rPr lang="en-US" sz="2200">
                <a:latin typeface="Times New Roman"/>
                <a:ea typeface="Times New Roman"/>
                <a:cs typeface="Times New Roman"/>
                <a:sym typeface="Times New Roman"/>
              </a:rPr>
              <a:t>in developed nations; the AI healthcare market is projected to grow exponentially. </a:t>
            </a:r>
            <a:r>
              <a:rPr lang="en-US" sz="2200" baseline="30000">
                <a:latin typeface="Times New Roman"/>
                <a:ea typeface="Times New Roman"/>
                <a:cs typeface="Times New Roman"/>
                <a:sym typeface="Times New Roman"/>
              </a:rPr>
              <a:t>[1]</a:t>
            </a:r>
            <a:endParaRPr/>
          </a:p>
          <a:p>
            <a:pPr marL="342882" lvl="0" indent="-342882" algn="l" rtl="0">
              <a:spcBef>
                <a:spcPts val="440"/>
              </a:spcBef>
              <a:spcAft>
                <a:spcPts val="0"/>
              </a:spcAft>
              <a:buSzPts val="1760"/>
              <a:buChar char="●"/>
            </a:pPr>
            <a:r>
              <a:rPr lang="en-US" sz="2200" b="1">
                <a:latin typeface="Times New Roman"/>
                <a:ea typeface="Times New Roman"/>
                <a:cs typeface="Times New Roman"/>
                <a:sym typeface="Times New Roman"/>
              </a:rPr>
              <a:t>National Strategy: </a:t>
            </a:r>
            <a:r>
              <a:rPr lang="en-US" sz="2200">
                <a:latin typeface="Times New Roman"/>
                <a:ea typeface="Times New Roman"/>
                <a:cs typeface="Times New Roman"/>
                <a:sym typeface="Times New Roman"/>
              </a:rPr>
              <a:t>High investment in AI to act as a 'Pre-processor' or 'Copilot' to scale healthcare systems beyond human limits. </a:t>
            </a:r>
            <a:r>
              <a:rPr lang="en-US" sz="2200" baseline="30000">
                <a:latin typeface="Times New Roman"/>
                <a:ea typeface="Times New Roman"/>
                <a:cs typeface="Times New Roman"/>
                <a:sym typeface="Times New Roman"/>
              </a:rPr>
              <a:t>[2]</a:t>
            </a:r>
            <a:endParaRPr sz="2200">
              <a:latin typeface="Times New Roman"/>
              <a:ea typeface="Times New Roman"/>
              <a:cs typeface="Times New Roman"/>
              <a:sym typeface="Times New Roman"/>
            </a:endParaRPr>
          </a:p>
        </p:txBody>
      </p:sp>
      <p:sp>
        <p:nvSpPr>
          <p:cNvPr id="117" name="Google Shape;117;p6"/>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
        <p:nvSpPr>
          <p:cNvPr id="118" name="Google Shape;118;p6"/>
          <p:cNvSpPr txBox="1"/>
          <p:nvPr/>
        </p:nvSpPr>
        <p:spPr>
          <a:xfrm>
            <a:off x="1042028" y="3983420"/>
            <a:ext cx="9311700" cy="646500"/>
          </a:xfrm>
          <a:prstGeom prst="rect">
            <a:avLst/>
          </a:prstGeom>
          <a:noFill/>
          <a:ln>
            <a:noFill/>
          </a:ln>
        </p:spPr>
        <p:txBody>
          <a:bodyPr spcFirstLastPara="1" wrap="square" lIns="91425" tIns="45700" rIns="91425" bIns="45700" anchor="ctr" anchorCtr="1">
            <a:spAutoFit/>
          </a:bodyPr>
          <a:lstStyle/>
          <a:p>
            <a:pPr marL="0" marR="0" lvl="0" indent="0" algn="ctr" rtl="0">
              <a:spcBef>
                <a:spcPts val="0"/>
              </a:spcBef>
              <a:spcAft>
                <a:spcPts val="0"/>
              </a:spcAft>
              <a:buNone/>
            </a:pPr>
            <a:r>
              <a:rPr lang="en-US" sz="1800" b="0" i="1" u="none" strike="noStrike" cap="none">
                <a:solidFill>
                  <a:srgbClr val="FF0000"/>
                </a:solidFill>
                <a:latin typeface="Times New Roman"/>
                <a:ea typeface="Times New Roman"/>
                <a:cs typeface="Times New Roman"/>
                <a:sym typeface="Times New Roman"/>
              </a:rPr>
              <a:t>“The development of medical AI can democratize healthcare, giving everyone access to top-tier </a:t>
            </a:r>
            <a:r>
              <a:rPr lang="en-US" sz="1800" i="1">
                <a:solidFill>
                  <a:srgbClr val="FF0000"/>
                </a:solidFill>
                <a:latin typeface="Times New Roman"/>
                <a:ea typeface="Times New Roman"/>
                <a:cs typeface="Times New Roman"/>
                <a:sym typeface="Times New Roman"/>
              </a:rPr>
              <a:t>medical</a:t>
            </a:r>
            <a:r>
              <a:rPr lang="en-US" sz="1800" b="0" i="1" u="none" strike="noStrike" cap="none">
                <a:solidFill>
                  <a:srgbClr val="FF0000"/>
                </a:solidFill>
                <a:latin typeface="Times New Roman"/>
                <a:ea typeface="Times New Roman"/>
                <a:cs typeface="Times New Roman"/>
                <a:sym typeface="Times New Roman"/>
              </a:rPr>
              <a:t> resources and advice, ultimately extending life expectancy for the majority.”</a:t>
            </a:r>
            <a:endParaRPr sz="1800" b="0" i="1" u="none" strike="noStrike" cap="none">
              <a:solidFill>
                <a:srgbClr val="FF0000"/>
              </a:solidFill>
              <a:latin typeface="Times New Roman"/>
              <a:ea typeface="Times New Roman"/>
              <a:cs typeface="Times New Roman"/>
              <a:sym typeface="Times New Roman"/>
            </a:endParaRPr>
          </a:p>
        </p:txBody>
      </p:sp>
      <p:sp>
        <p:nvSpPr>
          <p:cNvPr id="119" name="Google Shape;119;p6"/>
          <p:cNvSpPr txBox="1"/>
          <p:nvPr/>
        </p:nvSpPr>
        <p:spPr>
          <a:xfrm>
            <a:off x="265850" y="5698377"/>
            <a:ext cx="10594109" cy="25740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FF"/>
              </a:buClr>
              <a:buSzPts val="800"/>
              <a:buFont typeface="Noto Sans Symbols"/>
              <a:buNone/>
            </a:pPr>
            <a:r>
              <a:rPr lang="en-US" sz="1000" b="0" i="0" u="none" strike="noStrike" cap="none">
                <a:solidFill>
                  <a:schemeClr val="dk1"/>
                </a:solidFill>
                <a:latin typeface="Times New Roman"/>
                <a:ea typeface="Times New Roman"/>
                <a:cs typeface="Times New Roman"/>
                <a:sym typeface="Times New Roman"/>
              </a:rPr>
              <a:t>[1] WHO (2024/2025): "Health Workforce - Global Factsheet.</a:t>
            </a:r>
            <a:endParaRPr/>
          </a:p>
          <a:p>
            <a:pPr marL="0" marR="0" lvl="0" indent="0" algn="l" rtl="0">
              <a:spcBef>
                <a:spcPts val="200"/>
              </a:spcBef>
              <a:spcAft>
                <a:spcPts val="0"/>
              </a:spcAft>
              <a:buClr>
                <a:srgbClr val="0000FF"/>
              </a:buClr>
              <a:buSzPts val="800"/>
              <a:buFont typeface="Noto Sans Symbols"/>
              <a:buNone/>
            </a:pPr>
            <a:r>
              <a:rPr lang="en-US" sz="1000" b="0" i="0" u="none" strike="noStrike" cap="none">
                <a:solidFill>
                  <a:schemeClr val="dk1"/>
                </a:solidFill>
                <a:latin typeface="Times New Roman"/>
                <a:ea typeface="Times New Roman"/>
                <a:cs typeface="Times New Roman"/>
                <a:sym typeface="Times New Roman"/>
              </a:rPr>
              <a:t>[2] Frontiers in Public Health (2025): "Artificial Intelligence in Chinese Healthcare: A Review."</a:t>
            </a:r>
            <a:endParaRPr sz="1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7"/>
          <p:cNvPicPr preferRelativeResize="0"/>
          <p:nvPr/>
        </p:nvPicPr>
        <p:blipFill>
          <a:blip r:embed="rId3">
            <a:alphaModFix/>
          </a:blip>
          <a:stretch>
            <a:fillRect/>
          </a:stretch>
        </p:blipFill>
        <p:spPr>
          <a:xfrm>
            <a:off x="75100" y="2460163"/>
            <a:ext cx="1544300" cy="950337"/>
          </a:xfrm>
          <a:prstGeom prst="rect">
            <a:avLst/>
          </a:prstGeom>
          <a:noFill/>
          <a:ln>
            <a:noFill/>
          </a:ln>
        </p:spPr>
      </p:pic>
      <p:sp>
        <p:nvSpPr>
          <p:cNvPr id="125" name="Google Shape;125;p7"/>
          <p:cNvSpPr txBox="1">
            <a:spLocks noGrp="1"/>
          </p:cNvSpPr>
          <p:nvPr>
            <p:ph type="sldNum" idx="12"/>
          </p:nvPr>
        </p:nvSpPr>
        <p:spPr>
          <a:xfrm>
            <a:off x="9108017" y="6524628"/>
            <a:ext cx="2844800" cy="3397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sp>
        <p:nvSpPr>
          <p:cNvPr id="126" name="Google Shape;126;p7"/>
          <p:cNvSpPr txBox="1"/>
          <p:nvPr/>
        </p:nvSpPr>
        <p:spPr>
          <a:xfrm>
            <a:off x="1065290" y="4882435"/>
            <a:ext cx="9311700" cy="369300"/>
          </a:xfrm>
          <a:prstGeom prst="rect">
            <a:avLst/>
          </a:prstGeom>
          <a:noFill/>
          <a:ln>
            <a:noFill/>
          </a:ln>
        </p:spPr>
        <p:txBody>
          <a:bodyPr spcFirstLastPara="1" wrap="square" lIns="91425" tIns="45700" rIns="91425" bIns="45700" anchor="ctr" anchorCtr="1">
            <a:spAutoFit/>
          </a:bodyPr>
          <a:lstStyle/>
          <a:p>
            <a:pPr marL="0" marR="0" lvl="0" indent="0" algn="ctr" rtl="0">
              <a:spcBef>
                <a:spcPts val="0"/>
              </a:spcBef>
              <a:spcAft>
                <a:spcPts val="0"/>
              </a:spcAft>
              <a:buNone/>
            </a:pPr>
            <a:r>
              <a:rPr lang="en-US" sz="1800" b="0" i="1" u="none" strike="noStrike" cap="none">
                <a:solidFill>
                  <a:schemeClr val="dk1"/>
                </a:solidFill>
                <a:latin typeface="Times New Roman"/>
                <a:ea typeface="Times New Roman"/>
                <a:cs typeface="Times New Roman"/>
                <a:sym typeface="Times New Roman"/>
              </a:rPr>
              <a:t>A professional medical LLM can surpass much larger general models in medical applications.</a:t>
            </a:r>
            <a:endParaRPr sz="1800" b="0" i="1" u="none" strike="noStrike" cap="none">
              <a:solidFill>
                <a:srgbClr val="FF0000"/>
              </a:solidFill>
              <a:latin typeface="Times New Roman"/>
              <a:ea typeface="Times New Roman"/>
              <a:cs typeface="Times New Roman"/>
              <a:sym typeface="Times New Roman"/>
            </a:endParaRPr>
          </a:p>
        </p:txBody>
      </p:sp>
      <p:sp>
        <p:nvSpPr>
          <p:cNvPr id="127" name="Google Shape;127;p7"/>
          <p:cNvSpPr txBox="1"/>
          <p:nvPr/>
        </p:nvSpPr>
        <p:spPr>
          <a:xfrm>
            <a:off x="1375150" y="1522700"/>
            <a:ext cx="9673200" cy="3018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FF"/>
              </a:buClr>
              <a:buSzPts val="1760"/>
              <a:buFont typeface="Noto Sans Symbols"/>
              <a:buNone/>
            </a:pPr>
            <a:r>
              <a:rPr lang="en-US" sz="2200" b="1" i="0" u="none" strike="noStrike" cap="none">
                <a:solidFill>
                  <a:schemeClr val="dk1"/>
                </a:solidFill>
                <a:latin typeface="Times New Roman"/>
                <a:ea typeface="Times New Roman"/>
                <a:cs typeface="Times New Roman"/>
                <a:sym typeface="Times New Roman"/>
              </a:rPr>
              <a:t>Openai: </a:t>
            </a:r>
            <a:r>
              <a:rPr lang="en-US" sz="2200" b="0" i="0" u="none" strike="noStrike" cap="none">
                <a:solidFill>
                  <a:schemeClr val="dk1"/>
                </a:solidFill>
                <a:latin typeface="Times New Roman"/>
                <a:ea typeface="Times New Roman"/>
                <a:cs typeface="Times New Roman"/>
                <a:sym typeface="Times New Roman"/>
              </a:rPr>
              <a:t>OpenAI has launched </a:t>
            </a:r>
            <a:r>
              <a:rPr lang="en-US" sz="2200" b="1" i="0" u="none" strike="noStrike" cap="none">
                <a:solidFill>
                  <a:schemeClr val="dk1"/>
                </a:solidFill>
                <a:latin typeface="Times New Roman"/>
                <a:ea typeface="Times New Roman"/>
                <a:cs typeface="Times New Roman"/>
                <a:sym typeface="Times New Roman"/>
              </a:rPr>
              <a:t>ChatGPT Health</a:t>
            </a:r>
            <a:r>
              <a:rPr lang="en-US" sz="2200" b="0" i="0" u="none" strike="noStrike" cap="none">
                <a:solidFill>
                  <a:schemeClr val="dk1"/>
                </a:solidFill>
                <a:latin typeface="Times New Roman"/>
                <a:ea typeface="Times New Roman"/>
                <a:cs typeface="Times New Roman"/>
                <a:sym typeface="Times New Roman"/>
              </a:rPr>
              <a:t>, a specialized version of ChatGPT designed for health‑related queries and wellness support.</a:t>
            </a:r>
            <a:endParaRPr sz="22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0000FF"/>
              </a:buClr>
              <a:buSzPts val="1760"/>
              <a:buFont typeface="Noto Sans Symbols"/>
              <a:buNone/>
            </a:pPr>
            <a:endParaRPr sz="22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0000FF"/>
              </a:buClr>
              <a:buSzPts val="1760"/>
              <a:buFont typeface="Noto Sans Symbols"/>
              <a:buNone/>
            </a:pPr>
            <a:r>
              <a:rPr lang="en-US" sz="2200" b="1">
                <a:solidFill>
                  <a:schemeClr val="dk1"/>
                </a:solidFill>
                <a:latin typeface="Times New Roman"/>
                <a:ea typeface="Times New Roman"/>
                <a:cs typeface="Times New Roman"/>
                <a:sym typeface="Times New Roman"/>
              </a:rPr>
              <a:t>Ant Afu (蚂蚁阿福):</a:t>
            </a:r>
            <a:r>
              <a:rPr lang="en-US" sz="2200">
                <a:solidFill>
                  <a:schemeClr val="dk1"/>
                </a:solidFill>
                <a:latin typeface="Times New Roman"/>
                <a:ea typeface="Times New Roman"/>
                <a:cs typeface="Times New Roman"/>
                <a:sym typeface="Times New Roman"/>
              </a:rPr>
              <a:t> Ant Group has rebranded its AI health app from “AQ” to Ant Afu, emphasizing AI health companionship and services.</a:t>
            </a:r>
            <a:endParaRPr sz="22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0000FF"/>
              </a:buClr>
              <a:buSzPts val="1760"/>
              <a:buFont typeface="Noto Sans Symbols"/>
              <a:buNone/>
            </a:pPr>
            <a:endParaRPr sz="22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0000FF"/>
              </a:buClr>
              <a:buSzPts val="1760"/>
              <a:buFont typeface="Noto Sans Symbols"/>
              <a:buNone/>
            </a:pPr>
            <a:r>
              <a:rPr lang="en-US" sz="2200" b="1">
                <a:solidFill>
                  <a:schemeClr val="dk1"/>
                </a:solidFill>
                <a:latin typeface="Times New Roman"/>
                <a:ea typeface="Times New Roman"/>
                <a:cs typeface="Times New Roman"/>
                <a:sym typeface="Times New Roman"/>
              </a:rPr>
              <a:t>Baichuan AI (百川): </a:t>
            </a:r>
            <a:r>
              <a:rPr lang="en-US" sz="2200">
                <a:solidFill>
                  <a:schemeClr val="dk1"/>
                </a:solidFill>
                <a:latin typeface="Times New Roman"/>
                <a:ea typeface="Times New Roman"/>
                <a:cs typeface="Times New Roman"/>
                <a:sym typeface="Times New Roman"/>
              </a:rPr>
              <a:t>Baichuan large language models and AI research are focusing in medical data processing and healthcare scenarios.</a:t>
            </a:r>
            <a:endParaRPr sz="22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0000FF"/>
              </a:buClr>
              <a:buSzPts val="1760"/>
              <a:buFont typeface="Noto Sans Symbols"/>
              <a:buNone/>
            </a:pPr>
            <a:endParaRPr/>
          </a:p>
          <a:p>
            <a:pPr marL="0" marR="0" lvl="0" indent="0" algn="l" rtl="0">
              <a:spcBef>
                <a:spcPts val="0"/>
              </a:spcBef>
              <a:spcAft>
                <a:spcPts val="0"/>
              </a:spcAft>
              <a:buClr>
                <a:srgbClr val="0000FF"/>
              </a:buClr>
              <a:buSzPts val="1760"/>
              <a:buFont typeface="Noto Sans Symbols"/>
              <a:buNone/>
            </a:pPr>
            <a:endParaRPr/>
          </a:p>
        </p:txBody>
      </p:sp>
      <p:pic>
        <p:nvPicPr>
          <p:cNvPr id="128" name="Google Shape;128;p7"/>
          <p:cNvPicPr preferRelativeResize="0"/>
          <p:nvPr/>
        </p:nvPicPr>
        <p:blipFill>
          <a:blip r:embed="rId4">
            <a:alphaModFix/>
          </a:blip>
          <a:stretch>
            <a:fillRect/>
          </a:stretch>
        </p:blipFill>
        <p:spPr>
          <a:xfrm>
            <a:off x="572067" y="1445317"/>
            <a:ext cx="843600" cy="843625"/>
          </a:xfrm>
          <a:prstGeom prst="rect">
            <a:avLst/>
          </a:prstGeom>
          <a:noFill/>
          <a:ln>
            <a:noFill/>
          </a:ln>
        </p:spPr>
      </p:pic>
      <p:pic>
        <p:nvPicPr>
          <p:cNvPr id="129" name="Google Shape;129;p7"/>
          <p:cNvPicPr preferRelativeResize="0"/>
          <p:nvPr/>
        </p:nvPicPr>
        <p:blipFill>
          <a:blip r:embed="rId5">
            <a:alphaModFix/>
          </a:blip>
          <a:stretch>
            <a:fillRect/>
          </a:stretch>
        </p:blipFill>
        <p:spPr>
          <a:xfrm>
            <a:off x="629198" y="3581723"/>
            <a:ext cx="552500" cy="552525"/>
          </a:xfrm>
          <a:prstGeom prst="rect">
            <a:avLst/>
          </a:prstGeom>
          <a:noFill/>
          <a:ln>
            <a:noFill/>
          </a:ln>
        </p:spPr>
      </p:pic>
      <p:sp>
        <p:nvSpPr>
          <p:cNvPr id="130" name="Google Shape;130;p7"/>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Industry Giants Enter Healthcare AI</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3bca7b3d0bf_0_15"/>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sp>
        <p:nvSpPr>
          <p:cNvPr id="136" name="Google Shape;136;g3bca7b3d0bf_0_15"/>
          <p:cNvSpPr txBox="1"/>
          <p:nvPr/>
        </p:nvSpPr>
        <p:spPr>
          <a:xfrm>
            <a:off x="1130515" y="5007248"/>
            <a:ext cx="9311700" cy="646500"/>
          </a:xfrm>
          <a:prstGeom prst="rect">
            <a:avLst/>
          </a:prstGeom>
          <a:noFill/>
          <a:ln>
            <a:noFill/>
          </a:ln>
        </p:spPr>
        <p:txBody>
          <a:bodyPr spcFirstLastPara="1" wrap="square" lIns="91425" tIns="45700" rIns="91425" bIns="45700" anchor="ctr" anchorCtr="1">
            <a:spAutoFit/>
          </a:bodyPr>
          <a:lstStyle/>
          <a:p>
            <a:pPr marL="0" marR="0" lvl="0" indent="0" algn="ctr" rtl="0">
              <a:spcBef>
                <a:spcPts val="0"/>
              </a:spcBef>
              <a:spcAft>
                <a:spcPts val="0"/>
              </a:spcAft>
              <a:buNone/>
            </a:pPr>
            <a:r>
              <a:rPr lang="en-US" sz="1800" i="1">
                <a:solidFill>
                  <a:schemeClr val="dk1"/>
                </a:solidFill>
                <a:latin typeface="Times New Roman"/>
                <a:ea typeface="Times New Roman"/>
                <a:cs typeface="Times New Roman"/>
                <a:sym typeface="Times New Roman"/>
              </a:rPr>
              <a:t>We have been focused to the research of Medical LLM, starting many projects and gaining a lot of experience in the field.</a:t>
            </a:r>
            <a:endParaRPr sz="1800" b="0" i="1" u="none" strike="noStrike" cap="none">
              <a:solidFill>
                <a:srgbClr val="FF0000"/>
              </a:solidFill>
              <a:latin typeface="Times New Roman"/>
              <a:ea typeface="Times New Roman"/>
              <a:cs typeface="Times New Roman"/>
              <a:sym typeface="Times New Roman"/>
            </a:endParaRPr>
          </a:p>
        </p:txBody>
      </p:sp>
      <p:sp>
        <p:nvSpPr>
          <p:cNvPr id="137" name="Google Shape;137;g3bca7b3d0bf_0_15"/>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Our Journey in Medical LLMs</a:t>
            </a:r>
            <a:endParaRPr/>
          </a:p>
        </p:txBody>
      </p:sp>
      <p:sp>
        <p:nvSpPr>
          <p:cNvPr id="138" name="Google Shape;138;g3bca7b3d0bf_0_15"/>
          <p:cNvSpPr txBox="1"/>
          <p:nvPr/>
        </p:nvSpPr>
        <p:spPr>
          <a:xfrm rot="-716113">
            <a:off x="7067149" y="2185935"/>
            <a:ext cx="1768328" cy="260299"/>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400"/>
              <a:buFont typeface="Arial"/>
              <a:buNone/>
            </a:pPr>
            <a:r>
              <a:rPr lang="en-US" sz="1400" b="1">
                <a:solidFill>
                  <a:srgbClr val="000000"/>
                </a:solidFill>
                <a:latin typeface="Lora"/>
                <a:ea typeface="Lora"/>
                <a:cs typeface="Lora"/>
                <a:sym typeface="Lora"/>
              </a:rPr>
              <a:t>2025.05</a:t>
            </a:r>
            <a:endParaRPr sz="1400" b="1">
              <a:solidFill>
                <a:srgbClr val="000000"/>
              </a:solidFill>
              <a:latin typeface="Lora"/>
              <a:ea typeface="Lora"/>
              <a:cs typeface="Lora"/>
              <a:sym typeface="Lora"/>
            </a:endParaRPr>
          </a:p>
        </p:txBody>
      </p:sp>
      <p:sp>
        <p:nvSpPr>
          <p:cNvPr id="139" name="Google Shape;139;g3bca7b3d0bf_0_15"/>
          <p:cNvSpPr txBox="1"/>
          <p:nvPr/>
        </p:nvSpPr>
        <p:spPr>
          <a:xfrm rot="-716113">
            <a:off x="5433624" y="2510560"/>
            <a:ext cx="1768328" cy="260299"/>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400"/>
              <a:buFont typeface="Arial"/>
              <a:buNone/>
            </a:pPr>
            <a:r>
              <a:rPr lang="en-US" sz="1400" b="1">
                <a:solidFill>
                  <a:srgbClr val="000000"/>
                </a:solidFill>
                <a:latin typeface="Lora"/>
                <a:ea typeface="Lora"/>
                <a:cs typeface="Lora"/>
                <a:sym typeface="Lora"/>
              </a:rPr>
              <a:t>2024.08</a:t>
            </a:r>
            <a:endParaRPr sz="1400" b="1">
              <a:solidFill>
                <a:srgbClr val="000000"/>
              </a:solidFill>
              <a:latin typeface="Lora"/>
              <a:ea typeface="Lora"/>
              <a:cs typeface="Lora"/>
              <a:sym typeface="Lora"/>
            </a:endParaRPr>
          </a:p>
        </p:txBody>
      </p:sp>
      <p:sp>
        <p:nvSpPr>
          <p:cNvPr id="140" name="Google Shape;140;g3bca7b3d0bf_0_15"/>
          <p:cNvSpPr txBox="1"/>
          <p:nvPr/>
        </p:nvSpPr>
        <p:spPr>
          <a:xfrm rot="-716113">
            <a:off x="6664574" y="2510560"/>
            <a:ext cx="1768328" cy="260299"/>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400"/>
              <a:buFont typeface="Arial"/>
              <a:buNone/>
            </a:pPr>
            <a:r>
              <a:rPr lang="en-US" sz="1400" b="1">
                <a:solidFill>
                  <a:srgbClr val="000000"/>
                </a:solidFill>
                <a:latin typeface="Lora"/>
                <a:ea typeface="Lora"/>
                <a:cs typeface="Lora"/>
                <a:sym typeface="Lora"/>
              </a:rPr>
              <a:t>2024.12</a:t>
            </a:r>
            <a:endParaRPr sz="1400" b="1">
              <a:solidFill>
                <a:srgbClr val="000000"/>
              </a:solidFill>
              <a:latin typeface="Lora"/>
              <a:ea typeface="Lora"/>
              <a:cs typeface="Lora"/>
              <a:sym typeface="Lora"/>
            </a:endParaRPr>
          </a:p>
        </p:txBody>
      </p:sp>
      <p:cxnSp>
        <p:nvCxnSpPr>
          <p:cNvPr id="141" name="Google Shape;141;g3bca7b3d0bf_0_15"/>
          <p:cNvCxnSpPr/>
          <p:nvPr/>
        </p:nvCxnSpPr>
        <p:spPr>
          <a:xfrm rot="10800000" flipH="1">
            <a:off x="1864267" y="2088552"/>
            <a:ext cx="7831800" cy="1682400"/>
          </a:xfrm>
          <a:prstGeom prst="straightConnector1">
            <a:avLst/>
          </a:prstGeom>
          <a:noFill/>
          <a:ln w="19050" cap="flat" cmpd="sng">
            <a:solidFill>
              <a:srgbClr val="595959"/>
            </a:solidFill>
            <a:prstDash val="solid"/>
            <a:round/>
            <a:headEnd type="none" w="sm" len="sm"/>
            <a:tailEnd type="triangle" w="med" len="med"/>
          </a:ln>
        </p:spPr>
      </p:cxnSp>
      <p:cxnSp>
        <p:nvCxnSpPr>
          <p:cNvPr id="142" name="Google Shape;142;g3bca7b3d0bf_0_15"/>
          <p:cNvCxnSpPr/>
          <p:nvPr/>
        </p:nvCxnSpPr>
        <p:spPr>
          <a:xfrm rot="10800000">
            <a:off x="2206042" y="3368052"/>
            <a:ext cx="90600" cy="317400"/>
          </a:xfrm>
          <a:prstGeom prst="straightConnector1">
            <a:avLst/>
          </a:prstGeom>
          <a:noFill/>
          <a:ln w="19050" cap="flat" cmpd="sng">
            <a:solidFill>
              <a:srgbClr val="595959"/>
            </a:solidFill>
            <a:prstDash val="solid"/>
            <a:round/>
            <a:headEnd type="none" w="sm" len="sm"/>
            <a:tailEnd type="triangle" w="med" len="med"/>
          </a:ln>
        </p:spPr>
      </p:cxnSp>
      <p:cxnSp>
        <p:nvCxnSpPr>
          <p:cNvPr id="143" name="Google Shape;143;g3bca7b3d0bf_0_15"/>
          <p:cNvCxnSpPr/>
          <p:nvPr/>
        </p:nvCxnSpPr>
        <p:spPr>
          <a:xfrm>
            <a:off x="3439492" y="3425352"/>
            <a:ext cx="73200" cy="260100"/>
          </a:xfrm>
          <a:prstGeom prst="straightConnector1">
            <a:avLst/>
          </a:prstGeom>
          <a:noFill/>
          <a:ln w="19050" cap="flat" cmpd="sng">
            <a:solidFill>
              <a:srgbClr val="595959"/>
            </a:solidFill>
            <a:prstDash val="solid"/>
            <a:round/>
            <a:headEnd type="none" w="sm" len="sm"/>
            <a:tailEnd type="triangle" w="med" len="med"/>
          </a:ln>
        </p:spPr>
      </p:cxnSp>
      <p:sp>
        <p:nvSpPr>
          <p:cNvPr id="144" name="Google Shape;144;g3bca7b3d0bf_0_15"/>
          <p:cNvSpPr txBox="1"/>
          <p:nvPr/>
        </p:nvSpPr>
        <p:spPr>
          <a:xfrm>
            <a:off x="1707892" y="3068577"/>
            <a:ext cx="1391700" cy="26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Lora"/>
                <a:ea typeface="Lora"/>
                <a:cs typeface="Lora"/>
                <a:sym typeface="Lora"/>
              </a:rPr>
              <a:t>HuatuoGPT</a:t>
            </a:r>
            <a:endParaRPr sz="1400">
              <a:solidFill>
                <a:srgbClr val="000000"/>
              </a:solidFill>
              <a:latin typeface="Lora"/>
              <a:ea typeface="Lora"/>
              <a:cs typeface="Lora"/>
              <a:sym typeface="Lora"/>
            </a:endParaRPr>
          </a:p>
        </p:txBody>
      </p:sp>
      <p:sp>
        <p:nvSpPr>
          <p:cNvPr id="145" name="Google Shape;145;g3bca7b3d0bf_0_15"/>
          <p:cNvSpPr txBox="1"/>
          <p:nvPr/>
        </p:nvSpPr>
        <p:spPr>
          <a:xfrm>
            <a:off x="1305116" y="2909902"/>
            <a:ext cx="2075700" cy="3222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000"/>
              <a:buFont typeface="Arial"/>
              <a:buNone/>
            </a:pPr>
            <a:r>
              <a:rPr lang="en-US" sz="1000" b="1">
                <a:solidFill>
                  <a:srgbClr val="000000"/>
                </a:solidFill>
                <a:latin typeface="Lora"/>
                <a:ea typeface="Lora"/>
                <a:cs typeface="Lora"/>
                <a:sym typeface="Lora"/>
              </a:rPr>
              <a:t>(Medical Instruction-tuning)</a:t>
            </a:r>
            <a:endParaRPr sz="1000" b="1">
              <a:solidFill>
                <a:srgbClr val="000000"/>
              </a:solidFill>
              <a:latin typeface="Lora"/>
              <a:ea typeface="Lora"/>
              <a:cs typeface="Lora"/>
              <a:sym typeface="Lora"/>
            </a:endParaRPr>
          </a:p>
        </p:txBody>
      </p:sp>
      <p:sp>
        <p:nvSpPr>
          <p:cNvPr id="146" name="Google Shape;146;g3bca7b3d0bf_0_15"/>
          <p:cNvSpPr txBox="1"/>
          <p:nvPr/>
        </p:nvSpPr>
        <p:spPr>
          <a:xfrm>
            <a:off x="2959892" y="3528502"/>
            <a:ext cx="1895100" cy="26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Lora"/>
                <a:ea typeface="Lora"/>
                <a:cs typeface="Lora"/>
                <a:sym typeface="Lora"/>
              </a:rPr>
              <a:t>HuatuoGPT-II</a:t>
            </a:r>
            <a:endParaRPr sz="1400">
              <a:solidFill>
                <a:srgbClr val="000000"/>
              </a:solidFill>
              <a:latin typeface="Lora"/>
              <a:ea typeface="Lora"/>
              <a:cs typeface="Lora"/>
              <a:sym typeface="Lora"/>
            </a:endParaRPr>
          </a:p>
        </p:txBody>
      </p:sp>
      <p:sp>
        <p:nvSpPr>
          <p:cNvPr id="147" name="Google Shape;147;g3bca7b3d0bf_0_15"/>
          <p:cNvSpPr txBox="1"/>
          <p:nvPr/>
        </p:nvSpPr>
        <p:spPr>
          <a:xfrm>
            <a:off x="2291667" y="3735189"/>
            <a:ext cx="2545800" cy="260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000"/>
              <a:buFont typeface="Arial"/>
              <a:buNone/>
            </a:pPr>
            <a:r>
              <a:rPr lang="en-US" sz="1000" b="1">
                <a:solidFill>
                  <a:srgbClr val="000000"/>
                </a:solidFill>
                <a:latin typeface="Lora"/>
                <a:ea typeface="Lora"/>
                <a:cs typeface="Lora"/>
                <a:sym typeface="Lora"/>
              </a:rPr>
              <a:t>(Medical Pre-training) </a:t>
            </a:r>
            <a:endParaRPr sz="1000" b="1">
              <a:solidFill>
                <a:srgbClr val="000000"/>
              </a:solidFill>
              <a:latin typeface="Lora"/>
              <a:ea typeface="Lora"/>
              <a:cs typeface="Lora"/>
              <a:sym typeface="Lora"/>
            </a:endParaRPr>
          </a:p>
          <a:p>
            <a:pPr marL="0" marR="0" lvl="0" indent="0" algn="ctr" rtl="0">
              <a:spcBef>
                <a:spcPts val="0"/>
              </a:spcBef>
              <a:spcAft>
                <a:spcPts val="0"/>
              </a:spcAft>
              <a:buClr>
                <a:srgbClr val="000000"/>
              </a:buClr>
              <a:buSzPts val="1000"/>
              <a:buFont typeface="Arial"/>
              <a:buNone/>
            </a:pPr>
            <a:endParaRPr sz="1000" b="1">
              <a:solidFill>
                <a:srgbClr val="000000"/>
              </a:solidFill>
              <a:latin typeface="Lora"/>
              <a:ea typeface="Lora"/>
              <a:cs typeface="Lora"/>
              <a:sym typeface="Lora"/>
            </a:endParaRPr>
          </a:p>
        </p:txBody>
      </p:sp>
      <p:cxnSp>
        <p:nvCxnSpPr>
          <p:cNvPr id="148" name="Google Shape;148;g3bca7b3d0bf_0_15"/>
          <p:cNvCxnSpPr/>
          <p:nvPr/>
        </p:nvCxnSpPr>
        <p:spPr>
          <a:xfrm rot="10800000">
            <a:off x="3974242" y="2976289"/>
            <a:ext cx="90600" cy="317400"/>
          </a:xfrm>
          <a:prstGeom prst="straightConnector1">
            <a:avLst/>
          </a:prstGeom>
          <a:noFill/>
          <a:ln w="19050" cap="flat" cmpd="sng">
            <a:solidFill>
              <a:srgbClr val="595959"/>
            </a:solidFill>
            <a:prstDash val="solid"/>
            <a:round/>
            <a:headEnd type="none" w="sm" len="sm"/>
            <a:tailEnd type="triangle" w="med" len="med"/>
          </a:ln>
        </p:spPr>
      </p:cxnSp>
      <p:sp>
        <p:nvSpPr>
          <p:cNvPr id="149" name="Google Shape;149;g3bca7b3d0bf_0_15"/>
          <p:cNvSpPr txBox="1"/>
          <p:nvPr/>
        </p:nvSpPr>
        <p:spPr>
          <a:xfrm>
            <a:off x="3247492" y="2676814"/>
            <a:ext cx="1391700" cy="260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400"/>
              <a:buFont typeface="Arial"/>
              <a:buNone/>
            </a:pPr>
            <a:r>
              <a:rPr lang="en-US" sz="1400">
                <a:solidFill>
                  <a:srgbClr val="000000"/>
                </a:solidFill>
                <a:latin typeface="Lora"/>
                <a:ea typeface="Lora"/>
                <a:cs typeface="Lora"/>
                <a:sym typeface="Lora"/>
              </a:rPr>
              <a:t>Apollo</a:t>
            </a:r>
            <a:endParaRPr sz="1400">
              <a:solidFill>
                <a:srgbClr val="000000"/>
              </a:solidFill>
              <a:latin typeface="Lora"/>
              <a:ea typeface="Lora"/>
              <a:cs typeface="Lora"/>
              <a:sym typeface="Lora"/>
            </a:endParaRPr>
          </a:p>
        </p:txBody>
      </p:sp>
      <p:sp>
        <p:nvSpPr>
          <p:cNvPr id="150" name="Google Shape;150;g3bca7b3d0bf_0_15"/>
          <p:cNvSpPr txBox="1"/>
          <p:nvPr/>
        </p:nvSpPr>
        <p:spPr>
          <a:xfrm>
            <a:off x="3073317" y="2396239"/>
            <a:ext cx="1768200" cy="260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000"/>
              <a:buFont typeface="Arial"/>
              <a:buNone/>
            </a:pPr>
            <a:endParaRPr sz="1000" b="1">
              <a:solidFill>
                <a:srgbClr val="000000"/>
              </a:solidFill>
              <a:latin typeface="Lora"/>
              <a:ea typeface="Lora"/>
              <a:cs typeface="Lora"/>
              <a:sym typeface="Lora"/>
            </a:endParaRPr>
          </a:p>
          <a:p>
            <a:pPr marL="0" marR="0" lvl="0" indent="0" algn="ctr" rtl="0">
              <a:spcBef>
                <a:spcPts val="0"/>
              </a:spcBef>
              <a:spcAft>
                <a:spcPts val="0"/>
              </a:spcAft>
              <a:buClr>
                <a:srgbClr val="000000"/>
              </a:buClr>
              <a:buSzPts val="1000"/>
              <a:buFont typeface="Arial"/>
              <a:buNone/>
            </a:pPr>
            <a:r>
              <a:rPr lang="en-US" sz="1000" b="1">
                <a:solidFill>
                  <a:srgbClr val="000000"/>
                </a:solidFill>
                <a:latin typeface="Lora"/>
                <a:ea typeface="Lora"/>
                <a:cs typeface="Lora"/>
                <a:sym typeface="Lora"/>
              </a:rPr>
              <a:t>(Medical Multimodel)</a:t>
            </a:r>
            <a:endParaRPr sz="1000" b="1">
              <a:solidFill>
                <a:srgbClr val="000000"/>
              </a:solidFill>
              <a:latin typeface="Lora"/>
              <a:ea typeface="Lora"/>
              <a:cs typeface="Lora"/>
              <a:sym typeface="Lora"/>
            </a:endParaRPr>
          </a:p>
        </p:txBody>
      </p:sp>
      <p:cxnSp>
        <p:nvCxnSpPr>
          <p:cNvPr id="151" name="Google Shape;151;g3bca7b3d0bf_0_15"/>
          <p:cNvCxnSpPr/>
          <p:nvPr/>
        </p:nvCxnSpPr>
        <p:spPr>
          <a:xfrm>
            <a:off x="5207680" y="3051089"/>
            <a:ext cx="73200" cy="260100"/>
          </a:xfrm>
          <a:prstGeom prst="straightConnector1">
            <a:avLst/>
          </a:prstGeom>
          <a:noFill/>
          <a:ln w="19050" cap="flat" cmpd="sng">
            <a:solidFill>
              <a:srgbClr val="595959"/>
            </a:solidFill>
            <a:prstDash val="solid"/>
            <a:round/>
            <a:headEnd type="none" w="sm" len="sm"/>
            <a:tailEnd type="triangle" w="med" len="med"/>
          </a:ln>
        </p:spPr>
      </p:cxnSp>
      <p:sp>
        <p:nvSpPr>
          <p:cNvPr id="152" name="Google Shape;152;g3bca7b3d0bf_0_15"/>
          <p:cNvSpPr txBox="1"/>
          <p:nvPr/>
        </p:nvSpPr>
        <p:spPr>
          <a:xfrm>
            <a:off x="4565880" y="3222564"/>
            <a:ext cx="1895100" cy="26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Lora"/>
                <a:ea typeface="Lora"/>
                <a:cs typeface="Lora"/>
                <a:sym typeface="Lora"/>
              </a:rPr>
              <a:t>HuatuoGPT-Vision</a:t>
            </a:r>
            <a:endParaRPr sz="1400">
              <a:solidFill>
                <a:srgbClr val="000000"/>
              </a:solidFill>
              <a:latin typeface="Lora"/>
              <a:ea typeface="Lora"/>
              <a:cs typeface="Lora"/>
              <a:sym typeface="Lora"/>
            </a:endParaRPr>
          </a:p>
        </p:txBody>
      </p:sp>
      <p:sp>
        <p:nvSpPr>
          <p:cNvPr id="153" name="Google Shape;153;g3bca7b3d0bf_0_15"/>
          <p:cNvSpPr txBox="1"/>
          <p:nvPr/>
        </p:nvSpPr>
        <p:spPr>
          <a:xfrm>
            <a:off x="4476930" y="3402664"/>
            <a:ext cx="1768200" cy="260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000"/>
              <a:buFont typeface="Arial"/>
              <a:buNone/>
            </a:pPr>
            <a:r>
              <a:rPr lang="en-US" sz="1000" b="1">
                <a:solidFill>
                  <a:srgbClr val="000000"/>
                </a:solidFill>
                <a:latin typeface="Lora"/>
                <a:ea typeface="Lora"/>
                <a:cs typeface="Lora"/>
                <a:sym typeface="Lora"/>
              </a:rPr>
              <a:t>(Medical Multimodel) </a:t>
            </a:r>
            <a:endParaRPr sz="1000" b="1">
              <a:solidFill>
                <a:srgbClr val="000000"/>
              </a:solidFill>
              <a:latin typeface="Lora"/>
              <a:ea typeface="Lora"/>
              <a:cs typeface="Lora"/>
              <a:sym typeface="Lora"/>
            </a:endParaRPr>
          </a:p>
        </p:txBody>
      </p:sp>
      <p:cxnSp>
        <p:nvCxnSpPr>
          <p:cNvPr id="154" name="Google Shape;154;g3bca7b3d0bf_0_15"/>
          <p:cNvCxnSpPr/>
          <p:nvPr/>
        </p:nvCxnSpPr>
        <p:spPr>
          <a:xfrm rot="10800000">
            <a:off x="5932892" y="2562214"/>
            <a:ext cx="90600" cy="317400"/>
          </a:xfrm>
          <a:prstGeom prst="straightConnector1">
            <a:avLst/>
          </a:prstGeom>
          <a:noFill/>
          <a:ln w="19050" cap="flat" cmpd="sng">
            <a:solidFill>
              <a:srgbClr val="595959"/>
            </a:solidFill>
            <a:prstDash val="solid"/>
            <a:round/>
            <a:headEnd type="none" w="sm" len="sm"/>
            <a:tailEnd type="triangle" w="med" len="med"/>
          </a:ln>
        </p:spPr>
      </p:cxnSp>
      <p:sp>
        <p:nvSpPr>
          <p:cNvPr id="155" name="Google Shape;155;g3bca7b3d0bf_0_15"/>
          <p:cNvSpPr txBox="1"/>
          <p:nvPr/>
        </p:nvSpPr>
        <p:spPr>
          <a:xfrm>
            <a:off x="4913667" y="2291327"/>
            <a:ext cx="2055000" cy="260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400"/>
              <a:buFont typeface="Arial"/>
              <a:buNone/>
            </a:pPr>
            <a:r>
              <a:rPr lang="en-US" sz="1400">
                <a:solidFill>
                  <a:srgbClr val="000000"/>
                </a:solidFill>
                <a:latin typeface="Lora"/>
                <a:ea typeface="Lora"/>
                <a:cs typeface="Lora"/>
                <a:sym typeface="Lora"/>
              </a:rPr>
              <a:t>Chain-of-Diagnosis</a:t>
            </a:r>
            <a:endParaRPr sz="1400">
              <a:solidFill>
                <a:srgbClr val="000000"/>
              </a:solidFill>
              <a:latin typeface="Lora"/>
              <a:ea typeface="Lora"/>
              <a:cs typeface="Lora"/>
              <a:sym typeface="Lora"/>
            </a:endParaRPr>
          </a:p>
        </p:txBody>
      </p:sp>
      <p:sp>
        <p:nvSpPr>
          <p:cNvPr id="156" name="Google Shape;156;g3bca7b3d0bf_0_15"/>
          <p:cNvSpPr txBox="1"/>
          <p:nvPr/>
        </p:nvSpPr>
        <p:spPr>
          <a:xfrm>
            <a:off x="5057067" y="1991102"/>
            <a:ext cx="1768200" cy="26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000000"/>
              </a:buClr>
              <a:buSzPts val="1000"/>
              <a:buFont typeface="Arial"/>
              <a:buNone/>
            </a:pPr>
            <a:endParaRPr sz="1000" b="1">
              <a:solidFill>
                <a:srgbClr val="000000"/>
              </a:solidFill>
              <a:latin typeface="Lora"/>
              <a:ea typeface="Lora"/>
              <a:cs typeface="Lora"/>
              <a:sym typeface="Lora"/>
            </a:endParaRPr>
          </a:p>
          <a:p>
            <a:pPr marL="0" marR="0" lvl="0" indent="0" algn="ctr" rtl="0">
              <a:spcBef>
                <a:spcPts val="0"/>
              </a:spcBef>
              <a:spcAft>
                <a:spcPts val="0"/>
              </a:spcAft>
              <a:buClr>
                <a:srgbClr val="000000"/>
              </a:buClr>
              <a:buSzPts val="1000"/>
              <a:buFont typeface="Arial"/>
              <a:buNone/>
            </a:pPr>
            <a:r>
              <a:rPr lang="en-US" sz="1000" b="1">
                <a:solidFill>
                  <a:srgbClr val="000000"/>
                </a:solidFill>
                <a:latin typeface="Lora"/>
                <a:ea typeface="Lora"/>
                <a:cs typeface="Lora"/>
                <a:sym typeface="Lora"/>
              </a:rPr>
              <a:t>( Interpretability)</a:t>
            </a:r>
            <a:endParaRPr sz="1000" b="1">
              <a:solidFill>
                <a:srgbClr val="000000"/>
              </a:solidFill>
              <a:latin typeface="Lora"/>
              <a:ea typeface="Lora"/>
              <a:cs typeface="Lora"/>
              <a:sym typeface="Lora"/>
            </a:endParaRPr>
          </a:p>
        </p:txBody>
      </p:sp>
      <p:cxnSp>
        <p:nvCxnSpPr>
          <p:cNvPr id="157" name="Google Shape;157;g3bca7b3d0bf_0_15"/>
          <p:cNvCxnSpPr/>
          <p:nvPr/>
        </p:nvCxnSpPr>
        <p:spPr>
          <a:xfrm>
            <a:off x="7174067" y="2619514"/>
            <a:ext cx="73200" cy="260100"/>
          </a:xfrm>
          <a:prstGeom prst="straightConnector1">
            <a:avLst/>
          </a:prstGeom>
          <a:noFill/>
          <a:ln w="19050" cap="flat" cmpd="sng">
            <a:solidFill>
              <a:srgbClr val="595959"/>
            </a:solidFill>
            <a:prstDash val="solid"/>
            <a:round/>
            <a:headEnd type="none" w="sm" len="sm"/>
            <a:tailEnd type="triangle" w="med" len="med"/>
          </a:ln>
        </p:spPr>
      </p:cxnSp>
      <p:sp>
        <p:nvSpPr>
          <p:cNvPr id="158" name="Google Shape;158;g3bca7b3d0bf_0_15"/>
          <p:cNvSpPr txBox="1"/>
          <p:nvPr/>
        </p:nvSpPr>
        <p:spPr>
          <a:xfrm>
            <a:off x="6001984" y="1785204"/>
            <a:ext cx="3680700" cy="2730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200"/>
              <a:buFont typeface="Arial"/>
              <a:buNone/>
            </a:pPr>
            <a:r>
              <a:rPr lang="en-US" sz="1200" b="1">
                <a:solidFill>
                  <a:srgbClr val="000000"/>
                </a:solidFill>
                <a:latin typeface="Lora"/>
                <a:ea typeface="Lora"/>
                <a:cs typeface="Lora"/>
                <a:sym typeface="Lora"/>
              </a:rPr>
              <a:t>(Traditional Chinese Medicine) </a:t>
            </a:r>
            <a:endParaRPr sz="1200" b="1">
              <a:solidFill>
                <a:srgbClr val="000000"/>
              </a:solidFill>
              <a:latin typeface="Lora"/>
              <a:ea typeface="Lora"/>
              <a:cs typeface="Lora"/>
              <a:sym typeface="Lora"/>
            </a:endParaRPr>
          </a:p>
        </p:txBody>
      </p:sp>
      <p:sp>
        <p:nvSpPr>
          <p:cNvPr id="159" name="Google Shape;159;g3bca7b3d0bf_0_15"/>
          <p:cNvSpPr txBox="1"/>
          <p:nvPr/>
        </p:nvSpPr>
        <p:spPr>
          <a:xfrm>
            <a:off x="8331714" y="2443150"/>
            <a:ext cx="1895100" cy="26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Lora"/>
                <a:ea typeface="Lora"/>
                <a:cs typeface="Lora"/>
                <a:sym typeface="Lora"/>
              </a:rPr>
              <a:t>HuatuoGPT-Omni</a:t>
            </a:r>
            <a:endParaRPr sz="1400">
              <a:solidFill>
                <a:srgbClr val="000000"/>
              </a:solidFill>
              <a:latin typeface="Lora"/>
              <a:ea typeface="Lora"/>
              <a:cs typeface="Lora"/>
              <a:sym typeface="Lora"/>
            </a:endParaRPr>
          </a:p>
        </p:txBody>
      </p:sp>
      <p:sp>
        <p:nvSpPr>
          <p:cNvPr id="160" name="Google Shape;160;g3bca7b3d0bf_0_15"/>
          <p:cNvSpPr txBox="1"/>
          <p:nvPr/>
        </p:nvSpPr>
        <p:spPr>
          <a:xfrm>
            <a:off x="8304729" y="2634935"/>
            <a:ext cx="1768200" cy="260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000"/>
              <a:buFont typeface="Arial"/>
              <a:buNone/>
            </a:pPr>
            <a:r>
              <a:rPr lang="en-US" sz="1000" b="1">
                <a:solidFill>
                  <a:srgbClr val="000000"/>
                </a:solidFill>
                <a:latin typeface="Lora"/>
                <a:ea typeface="Lora"/>
                <a:cs typeface="Lora"/>
                <a:sym typeface="Lora"/>
              </a:rPr>
              <a:t>(Multimodal unification) </a:t>
            </a:r>
            <a:endParaRPr sz="1000" b="1">
              <a:solidFill>
                <a:srgbClr val="000000"/>
              </a:solidFill>
              <a:latin typeface="Lora"/>
              <a:ea typeface="Lora"/>
              <a:cs typeface="Lora"/>
              <a:sym typeface="Lora"/>
            </a:endParaRPr>
          </a:p>
        </p:txBody>
      </p:sp>
      <p:sp>
        <p:nvSpPr>
          <p:cNvPr id="161" name="Google Shape;161;g3bca7b3d0bf_0_15"/>
          <p:cNvSpPr txBox="1"/>
          <p:nvPr/>
        </p:nvSpPr>
        <p:spPr>
          <a:xfrm>
            <a:off x="7578449" y="1522059"/>
            <a:ext cx="1593900" cy="260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200"/>
              <a:buFont typeface="Arial"/>
              <a:buNone/>
            </a:pPr>
            <a:r>
              <a:rPr lang="en-US" sz="1200">
                <a:solidFill>
                  <a:srgbClr val="000000"/>
                </a:solidFill>
                <a:latin typeface="Lora"/>
                <a:ea typeface="Lora"/>
                <a:cs typeface="Lora"/>
                <a:sym typeface="Lora"/>
              </a:rPr>
              <a:t>MedGen</a:t>
            </a:r>
            <a:endParaRPr sz="1200">
              <a:solidFill>
                <a:srgbClr val="000000"/>
              </a:solidFill>
              <a:latin typeface="Lora"/>
              <a:ea typeface="Lora"/>
              <a:cs typeface="Lora"/>
              <a:sym typeface="Lora"/>
            </a:endParaRPr>
          </a:p>
        </p:txBody>
      </p:sp>
      <p:sp>
        <p:nvSpPr>
          <p:cNvPr id="162" name="Google Shape;162;g3bca7b3d0bf_0_15"/>
          <p:cNvSpPr txBox="1"/>
          <p:nvPr/>
        </p:nvSpPr>
        <p:spPr>
          <a:xfrm>
            <a:off x="7350479" y="1336039"/>
            <a:ext cx="2221200" cy="2280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200"/>
              <a:buFont typeface="Arial"/>
              <a:buNone/>
            </a:pPr>
            <a:r>
              <a:rPr lang="en-US" sz="1200" b="1">
                <a:solidFill>
                  <a:srgbClr val="000000"/>
                </a:solidFill>
                <a:latin typeface="Lora"/>
                <a:ea typeface="Lora"/>
                <a:cs typeface="Lora"/>
                <a:sym typeface="Lora"/>
              </a:rPr>
              <a:t>(Vidieo Generation) </a:t>
            </a:r>
            <a:endParaRPr sz="1200" b="1">
              <a:solidFill>
                <a:srgbClr val="000000"/>
              </a:solidFill>
              <a:latin typeface="Lora"/>
              <a:ea typeface="Lora"/>
              <a:cs typeface="Lora"/>
              <a:sym typeface="Lora"/>
            </a:endParaRPr>
          </a:p>
        </p:txBody>
      </p:sp>
      <p:sp>
        <p:nvSpPr>
          <p:cNvPr id="163" name="Google Shape;163;g3bca7b3d0bf_0_15"/>
          <p:cNvSpPr txBox="1"/>
          <p:nvPr/>
        </p:nvSpPr>
        <p:spPr>
          <a:xfrm>
            <a:off x="8316011" y="2046527"/>
            <a:ext cx="319200" cy="3078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rgbClr val="000000"/>
              </a:buClr>
              <a:buSzPts val="800"/>
              <a:buFont typeface="Arial"/>
              <a:buNone/>
            </a:pPr>
            <a:r>
              <a:rPr lang="en-US" sz="800">
                <a:solidFill>
                  <a:srgbClr val="FFA500"/>
                </a:solidFill>
                <a:highlight>
                  <a:srgbClr val="FFFFFF"/>
                </a:highlight>
                <a:latin typeface="Roboto"/>
                <a:ea typeface="Roboto"/>
                <a:cs typeface="Roboto"/>
                <a:sym typeface="Roboto"/>
              </a:rPr>
              <a:t>★</a:t>
            </a:r>
            <a:endParaRPr sz="1000">
              <a:solidFill>
                <a:srgbClr val="000000"/>
              </a:solidFill>
              <a:highlight>
                <a:srgbClr val="FFFFFF"/>
              </a:highlight>
              <a:latin typeface="Arial"/>
              <a:ea typeface="Arial"/>
              <a:cs typeface="Arial"/>
              <a:sym typeface="Arial"/>
            </a:endParaRPr>
          </a:p>
        </p:txBody>
      </p:sp>
      <p:sp>
        <p:nvSpPr>
          <p:cNvPr id="164" name="Google Shape;164;g3bca7b3d0bf_0_15"/>
          <p:cNvSpPr txBox="1"/>
          <p:nvPr/>
        </p:nvSpPr>
        <p:spPr>
          <a:xfrm>
            <a:off x="6522542" y="2800540"/>
            <a:ext cx="1593900" cy="260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400"/>
              <a:buFont typeface="Arial"/>
              <a:buNone/>
            </a:pPr>
            <a:r>
              <a:rPr lang="en-US" sz="1400">
                <a:solidFill>
                  <a:srgbClr val="000000"/>
                </a:solidFill>
                <a:latin typeface="Lora"/>
                <a:ea typeface="Lora"/>
                <a:cs typeface="Lora"/>
                <a:sym typeface="Lora"/>
              </a:rPr>
              <a:t>HuatuoGPT-o1</a:t>
            </a:r>
            <a:endParaRPr sz="1400">
              <a:solidFill>
                <a:srgbClr val="000000"/>
              </a:solidFill>
              <a:latin typeface="Lora"/>
              <a:ea typeface="Lora"/>
              <a:cs typeface="Lora"/>
              <a:sym typeface="Lora"/>
            </a:endParaRPr>
          </a:p>
        </p:txBody>
      </p:sp>
      <p:sp>
        <p:nvSpPr>
          <p:cNvPr id="165" name="Google Shape;165;g3bca7b3d0bf_0_15"/>
          <p:cNvSpPr txBox="1"/>
          <p:nvPr/>
        </p:nvSpPr>
        <p:spPr>
          <a:xfrm>
            <a:off x="6446342" y="2952427"/>
            <a:ext cx="1768200" cy="260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000"/>
              <a:buFont typeface="Arial"/>
              <a:buNone/>
            </a:pPr>
            <a:r>
              <a:rPr lang="en-US" sz="1000" b="1">
                <a:solidFill>
                  <a:srgbClr val="000000"/>
                </a:solidFill>
                <a:latin typeface="Lora"/>
                <a:ea typeface="Lora"/>
                <a:cs typeface="Lora"/>
                <a:sym typeface="Lora"/>
              </a:rPr>
              <a:t>(Medical Reasoning)</a:t>
            </a:r>
            <a:endParaRPr sz="1000" b="1">
              <a:solidFill>
                <a:srgbClr val="000000"/>
              </a:solidFill>
              <a:latin typeface="Lora"/>
              <a:ea typeface="Lora"/>
              <a:cs typeface="Lora"/>
              <a:sym typeface="Lora"/>
            </a:endParaRPr>
          </a:p>
        </p:txBody>
      </p:sp>
      <p:sp>
        <p:nvSpPr>
          <p:cNvPr id="166" name="Google Shape;166;g3bca7b3d0bf_0_15"/>
          <p:cNvSpPr txBox="1"/>
          <p:nvPr/>
        </p:nvSpPr>
        <p:spPr>
          <a:xfrm rot="-716113">
            <a:off x="1697062" y="3299622"/>
            <a:ext cx="1768328" cy="260299"/>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400"/>
              <a:buFont typeface="Arial"/>
              <a:buNone/>
            </a:pPr>
            <a:r>
              <a:rPr lang="en-US" sz="1400" b="1">
                <a:solidFill>
                  <a:srgbClr val="000000"/>
                </a:solidFill>
                <a:latin typeface="Lora"/>
                <a:ea typeface="Lora"/>
                <a:cs typeface="Lora"/>
                <a:sym typeface="Lora"/>
              </a:rPr>
              <a:t>2023.05</a:t>
            </a:r>
            <a:endParaRPr sz="1400" b="1">
              <a:solidFill>
                <a:srgbClr val="000000"/>
              </a:solidFill>
              <a:latin typeface="Lora"/>
              <a:ea typeface="Lora"/>
              <a:cs typeface="Lora"/>
              <a:sym typeface="Lora"/>
            </a:endParaRPr>
          </a:p>
        </p:txBody>
      </p:sp>
      <p:sp>
        <p:nvSpPr>
          <p:cNvPr id="167" name="Google Shape;167;g3bca7b3d0bf_0_15"/>
          <p:cNvSpPr txBox="1"/>
          <p:nvPr/>
        </p:nvSpPr>
        <p:spPr>
          <a:xfrm rot="-716113">
            <a:off x="2947012" y="3308585"/>
            <a:ext cx="1768328" cy="260299"/>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400"/>
              <a:buFont typeface="Arial"/>
              <a:buNone/>
            </a:pPr>
            <a:r>
              <a:rPr lang="en-US" sz="1400" b="1">
                <a:solidFill>
                  <a:srgbClr val="000000"/>
                </a:solidFill>
                <a:latin typeface="Lora"/>
                <a:ea typeface="Lora"/>
                <a:cs typeface="Lora"/>
                <a:sym typeface="Lora"/>
              </a:rPr>
              <a:t>2023.11</a:t>
            </a:r>
            <a:endParaRPr sz="1400" b="1">
              <a:solidFill>
                <a:srgbClr val="000000"/>
              </a:solidFill>
              <a:latin typeface="Lora"/>
              <a:ea typeface="Lora"/>
              <a:cs typeface="Lora"/>
              <a:sym typeface="Lora"/>
            </a:endParaRPr>
          </a:p>
        </p:txBody>
      </p:sp>
      <p:sp>
        <p:nvSpPr>
          <p:cNvPr id="168" name="Google Shape;168;g3bca7b3d0bf_0_15"/>
          <p:cNvSpPr txBox="1"/>
          <p:nvPr/>
        </p:nvSpPr>
        <p:spPr>
          <a:xfrm rot="-716113">
            <a:off x="3480862" y="2910710"/>
            <a:ext cx="1768328" cy="260299"/>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400"/>
              <a:buFont typeface="Arial"/>
              <a:buNone/>
            </a:pPr>
            <a:r>
              <a:rPr lang="en-US" sz="1400" b="1">
                <a:solidFill>
                  <a:srgbClr val="000000"/>
                </a:solidFill>
                <a:latin typeface="Lora"/>
                <a:ea typeface="Lora"/>
                <a:cs typeface="Lora"/>
                <a:sym typeface="Lora"/>
              </a:rPr>
              <a:t>2024.02</a:t>
            </a:r>
            <a:endParaRPr sz="1400" b="1">
              <a:solidFill>
                <a:srgbClr val="000000"/>
              </a:solidFill>
              <a:latin typeface="Lora"/>
              <a:ea typeface="Lora"/>
              <a:cs typeface="Lora"/>
              <a:sym typeface="Lora"/>
            </a:endParaRPr>
          </a:p>
        </p:txBody>
      </p:sp>
      <p:sp>
        <p:nvSpPr>
          <p:cNvPr id="169" name="Google Shape;169;g3bca7b3d0bf_0_15"/>
          <p:cNvSpPr txBox="1"/>
          <p:nvPr/>
        </p:nvSpPr>
        <p:spPr>
          <a:xfrm rot="-716113">
            <a:off x="4746424" y="2909822"/>
            <a:ext cx="1768328" cy="260299"/>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400"/>
              <a:buFont typeface="Arial"/>
              <a:buNone/>
            </a:pPr>
            <a:r>
              <a:rPr lang="en-US" sz="1400" b="1">
                <a:solidFill>
                  <a:srgbClr val="000000"/>
                </a:solidFill>
                <a:latin typeface="Lora"/>
                <a:ea typeface="Lora"/>
                <a:cs typeface="Lora"/>
                <a:sym typeface="Lora"/>
              </a:rPr>
              <a:t>2024.06</a:t>
            </a:r>
            <a:endParaRPr sz="1400" b="1">
              <a:solidFill>
                <a:srgbClr val="000000"/>
              </a:solidFill>
              <a:latin typeface="Lora"/>
              <a:ea typeface="Lora"/>
              <a:cs typeface="Lora"/>
              <a:sym typeface="Lora"/>
            </a:endParaRPr>
          </a:p>
        </p:txBody>
      </p:sp>
      <p:sp>
        <p:nvSpPr>
          <p:cNvPr id="170" name="Google Shape;170;g3bca7b3d0bf_0_15"/>
          <p:cNvSpPr txBox="1"/>
          <p:nvPr/>
        </p:nvSpPr>
        <p:spPr>
          <a:xfrm>
            <a:off x="6920793" y="1964206"/>
            <a:ext cx="1593900" cy="260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200"/>
              <a:buFont typeface="Arial"/>
              <a:buNone/>
            </a:pPr>
            <a:r>
              <a:rPr lang="en-US" sz="1200">
                <a:solidFill>
                  <a:srgbClr val="000000"/>
                </a:solidFill>
                <a:latin typeface="Lora"/>
                <a:ea typeface="Lora"/>
                <a:cs typeface="Lora"/>
                <a:sym typeface="Lora"/>
              </a:rPr>
              <a:t>ShiZhenGPT</a:t>
            </a:r>
            <a:endParaRPr sz="1200">
              <a:solidFill>
                <a:srgbClr val="000000"/>
              </a:solidFill>
              <a:latin typeface="Lora"/>
              <a:ea typeface="Lora"/>
              <a:cs typeface="Lora"/>
              <a:sym typeface="Lora"/>
            </a:endParaRPr>
          </a:p>
        </p:txBody>
      </p:sp>
      <p:sp>
        <p:nvSpPr>
          <p:cNvPr id="171" name="Google Shape;171;g3bca7b3d0bf_0_15"/>
          <p:cNvSpPr txBox="1"/>
          <p:nvPr/>
        </p:nvSpPr>
        <p:spPr>
          <a:xfrm rot="-716113">
            <a:off x="8349124" y="2097335"/>
            <a:ext cx="1768328" cy="260299"/>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050"/>
              <a:buFont typeface="Arial"/>
              <a:buNone/>
            </a:pPr>
            <a:r>
              <a:rPr lang="en-US" sz="1050" b="1">
                <a:solidFill>
                  <a:srgbClr val="000000"/>
                </a:solidFill>
                <a:latin typeface="Lora"/>
                <a:ea typeface="Lora"/>
                <a:cs typeface="Lora"/>
                <a:sym typeface="Lora"/>
              </a:rPr>
              <a:t>Coming Soon</a:t>
            </a:r>
            <a:endParaRPr sz="1050" b="1">
              <a:solidFill>
                <a:srgbClr val="000000"/>
              </a:solidFill>
              <a:latin typeface="Lora"/>
              <a:ea typeface="Lora"/>
              <a:cs typeface="Lora"/>
              <a:sym typeface="Lora"/>
            </a:endParaRPr>
          </a:p>
        </p:txBody>
      </p:sp>
      <p:cxnSp>
        <p:nvCxnSpPr>
          <p:cNvPr id="172" name="Google Shape;172;g3bca7b3d0bf_0_15"/>
          <p:cNvCxnSpPr/>
          <p:nvPr/>
        </p:nvCxnSpPr>
        <p:spPr>
          <a:xfrm rot="10800000">
            <a:off x="8278292" y="2050389"/>
            <a:ext cx="90600" cy="317400"/>
          </a:xfrm>
          <a:prstGeom prst="straightConnector1">
            <a:avLst/>
          </a:prstGeom>
          <a:noFill/>
          <a:ln w="19050" cap="flat" cmpd="sng">
            <a:solidFill>
              <a:srgbClr val="595959"/>
            </a:solidFill>
            <a:prstDash val="solid"/>
            <a:round/>
            <a:headEnd type="none" w="sm" len="sm"/>
            <a:tailEnd type="triangle" w="med" len="med"/>
          </a:ln>
        </p:spPr>
      </p:cxnSp>
      <p:sp>
        <p:nvSpPr>
          <p:cNvPr id="173" name="Google Shape;173;g3bca7b3d0bf_0_15"/>
          <p:cNvSpPr txBox="1"/>
          <p:nvPr/>
        </p:nvSpPr>
        <p:spPr>
          <a:xfrm>
            <a:off x="6158501" y="3339928"/>
            <a:ext cx="2313300" cy="3246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000"/>
              <a:buFont typeface="Arial"/>
              <a:buNone/>
            </a:pPr>
            <a:r>
              <a:rPr lang="en-US" sz="1000" b="1">
                <a:solidFill>
                  <a:srgbClr val="000000"/>
                </a:solidFill>
                <a:latin typeface="Lora"/>
                <a:ea typeface="Lora"/>
                <a:cs typeface="Lora"/>
                <a:sym typeface="Lora"/>
              </a:rPr>
              <a:t>(Multimodal Interpretability)</a:t>
            </a:r>
            <a:endParaRPr sz="1000" b="1">
              <a:solidFill>
                <a:srgbClr val="000000"/>
              </a:solidFill>
              <a:latin typeface="Lora"/>
              <a:ea typeface="Lora"/>
              <a:cs typeface="Lora"/>
              <a:sym typeface="Lora"/>
            </a:endParaRPr>
          </a:p>
        </p:txBody>
      </p:sp>
      <p:sp>
        <p:nvSpPr>
          <p:cNvPr id="174" name="Google Shape;174;g3bca7b3d0bf_0_15"/>
          <p:cNvSpPr txBox="1"/>
          <p:nvPr/>
        </p:nvSpPr>
        <p:spPr>
          <a:xfrm>
            <a:off x="6575617" y="3154836"/>
            <a:ext cx="1593900" cy="260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400"/>
              <a:buFont typeface="Arial"/>
              <a:buNone/>
            </a:pPr>
            <a:r>
              <a:rPr lang="en-US" sz="1400">
                <a:solidFill>
                  <a:srgbClr val="000000"/>
                </a:solidFill>
                <a:latin typeface="Lora"/>
                <a:ea typeface="Lora"/>
                <a:cs typeface="Lora"/>
                <a:sym typeface="Lora"/>
              </a:rPr>
              <a:t>Med-MAT</a:t>
            </a:r>
            <a:endParaRPr sz="1400">
              <a:solidFill>
                <a:srgbClr val="000000"/>
              </a:solidFill>
              <a:latin typeface="Lora"/>
              <a:ea typeface="Lora"/>
              <a:cs typeface="Lora"/>
              <a:sym typeface="Lora"/>
            </a:endParaRPr>
          </a:p>
        </p:txBody>
      </p:sp>
      <p:cxnSp>
        <p:nvCxnSpPr>
          <p:cNvPr id="175" name="Google Shape;175;g3bca7b3d0bf_0_15"/>
          <p:cNvCxnSpPr/>
          <p:nvPr/>
        </p:nvCxnSpPr>
        <p:spPr>
          <a:xfrm>
            <a:off x="8745756" y="2288582"/>
            <a:ext cx="73200" cy="260100"/>
          </a:xfrm>
          <a:prstGeom prst="straightConnector1">
            <a:avLst/>
          </a:prstGeom>
          <a:noFill/>
          <a:ln w="19050" cap="flat" cmpd="sng">
            <a:solidFill>
              <a:srgbClr val="595959"/>
            </a:solidFill>
            <a:prstDash val="solid"/>
            <a:round/>
            <a:headEnd type="none" w="sm" len="sm"/>
            <a:tailEnd type="triangle" w="med" len="med"/>
          </a:ln>
        </p:spPr>
      </p:cxnSp>
      <p:sp>
        <p:nvSpPr>
          <p:cNvPr id="176" name="Google Shape;176;g3bca7b3d0bf_0_15"/>
          <p:cNvSpPr txBox="1"/>
          <p:nvPr/>
        </p:nvSpPr>
        <p:spPr>
          <a:xfrm>
            <a:off x="8548812" y="2791904"/>
            <a:ext cx="1895100" cy="26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Lora"/>
                <a:ea typeface="Lora"/>
                <a:cs typeface="Lora"/>
                <a:sym typeface="Lora"/>
              </a:rPr>
              <a:t>HuatuoGPT-O3</a:t>
            </a:r>
            <a:endParaRPr sz="1400">
              <a:solidFill>
                <a:srgbClr val="000000"/>
              </a:solidFill>
              <a:latin typeface="Lora"/>
              <a:ea typeface="Lora"/>
              <a:cs typeface="Lora"/>
              <a:sym typeface="Lora"/>
            </a:endParaRPr>
          </a:p>
        </p:txBody>
      </p:sp>
      <p:sp>
        <p:nvSpPr>
          <p:cNvPr id="177" name="Google Shape;177;g3bca7b3d0bf_0_15"/>
          <p:cNvSpPr txBox="1"/>
          <p:nvPr/>
        </p:nvSpPr>
        <p:spPr>
          <a:xfrm>
            <a:off x="8399172" y="3008994"/>
            <a:ext cx="1768200" cy="930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000"/>
              <a:buFont typeface="Arial"/>
              <a:buNone/>
            </a:pPr>
            <a:r>
              <a:rPr lang="en-US" sz="1000" b="1">
                <a:solidFill>
                  <a:srgbClr val="000000"/>
                </a:solidFill>
                <a:latin typeface="Lora"/>
                <a:ea typeface="Lora"/>
                <a:cs typeface="Lora"/>
                <a:sym typeface="Lora"/>
              </a:rPr>
              <a:t>(Ultra  Reasoning) </a:t>
            </a:r>
            <a:endParaRPr sz="1000" b="1">
              <a:solidFill>
                <a:srgbClr val="000000"/>
              </a:solidFill>
              <a:latin typeface="Lora"/>
              <a:ea typeface="Lora"/>
              <a:cs typeface="Lora"/>
              <a:sym typeface="Lora"/>
            </a:endParaRPr>
          </a:p>
        </p:txBody>
      </p:sp>
      <p:sp>
        <p:nvSpPr>
          <p:cNvPr id="178" name="Google Shape;178;g3bca7b3d0bf_0_15"/>
          <p:cNvSpPr txBox="1"/>
          <p:nvPr/>
        </p:nvSpPr>
        <p:spPr>
          <a:xfrm>
            <a:off x="6251318" y="1600062"/>
            <a:ext cx="1593900" cy="260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200"/>
              <a:buFont typeface="Arial"/>
              <a:buNone/>
            </a:pPr>
            <a:r>
              <a:rPr lang="en-US" sz="1200">
                <a:solidFill>
                  <a:srgbClr val="000000"/>
                </a:solidFill>
                <a:latin typeface="Lora"/>
                <a:ea typeface="Lora"/>
                <a:cs typeface="Lora"/>
                <a:sym typeface="Lora"/>
              </a:rPr>
              <a:t>Janus-4o</a:t>
            </a:r>
            <a:endParaRPr sz="1200">
              <a:solidFill>
                <a:srgbClr val="000000"/>
              </a:solidFill>
              <a:latin typeface="Lora"/>
              <a:ea typeface="Lora"/>
              <a:cs typeface="Lora"/>
              <a:sym typeface="Lora"/>
            </a:endParaRPr>
          </a:p>
        </p:txBody>
      </p:sp>
      <p:sp>
        <p:nvSpPr>
          <p:cNvPr id="179" name="Google Shape;179;g3bca7b3d0bf_0_15"/>
          <p:cNvSpPr txBox="1"/>
          <p:nvPr/>
        </p:nvSpPr>
        <p:spPr>
          <a:xfrm>
            <a:off x="5990513" y="1465131"/>
            <a:ext cx="1768200" cy="260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200"/>
              <a:buFont typeface="Arial"/>
              <a:buNone/>
            </a:pPr>
            <a:r>
              <a:rPr lang="en-US" sz="1200" b="1">
                <a:solidFill>
                  <a:srgbClr val="000000"/>
                </a:solidFill>
                <a:latin typeface="Lora"/>
                <a:ea typeface="Lora"/>
                <a:cs typeface="Lora"/>
                <a:sym typeface="Lora"/>
              </a:rPr>
              <a:t>(Image Generation) </a:t>
            </a:r>
            <a:endParaRPr sz="1200" b="1">
              <a:solidFill>
                <a:srgbClr val="000000"/>
              </a:solidFill>
              <a:latin typeface="Lora"/>
              <a:ea typeface="Lora"/>
              <a:cs typeface="Lora"/>
              <a:sym typeface="Lora"/>
            </a:endParaRPr>
          </a:p>
        </p:txBody>
      </p:sp>
      <p:sp>
        <p:nvSpPr>
          <p:cNvPr id="180" name="Google Shape;180;g3bca7b3d0bf_0_15"/>
          <p:cNvSpPr txBox="1"/>
          <p:nvPr/>
        </p:nvSpPr>
        <p:spPr>
          <a:xfrm>
            <a:off x="1888775" y="4147119"/>
            <a:ext cx="8104800" cy="5016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800"/>
              <a:buFont typeface="Arial"/>
              <a:buNone/>
            </a:pPr>
            <a:r>
              <a:rPr lang="en-US" sz="1800" b="1">
                <a:solidFill>
                  <a:srgbClr val="762A77"/>
                </a:solidFill>
                <a:latin typeface="Calibri"/>
                <a:ea typeface="Calibri"/>
                <a:cs typeface="Calibri"/>
                <a:sym typeface="Calibri"/>
              </a:rPr>
              <a:t>The works completed as the first author </a:t>
            </a:r>
            <a:endParaRPr sz="1800" b="1">
              <a:solidFill>
                <a:srgbClr val="762A77"/>
              </a:solidFill>
              <a:latin typeface="Calibri"/>
              <a:ea typeface="Calibri"/>
              <a:cs typeface="Calibri"/>
              <a:sym typeface="Calibri"/>
            </a:endParaRPr>
          </a:p>
        </p:txBody>
      </p:sp>
      <p:sp>
        <p:nvSpPr>
          <p:cNvPr id="181" name="Google Shape;181;g3bca7b3d0bf_0_15"/>
          <p:cNvSpPr txBox="1"/>
          <p:nvPr/>
        </p:nvSpPr>
        <p:spPr>
          <a:xfrm>
            <a:off x="8503742" y="3113014"/>
            <a:ext cx="1895100" cy="26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Lora"/>
                <a:ea typeface="Lora"/>
                <a:cs typeface="Lora"/>
                <a:sym typeface="Lora"/>
              </a:rPr>
              <a:t>HuatuoGPT-5</a:t>
            </a:r>
            <a:endParaRPr sz="1400">
              <a:solidFill>
                <a:srgbClr val="000000"/>
              </a:solidFill>
              <a:latin typeface="Lora"/>
              <a:ea typeface="Lora"/>
              <a:cs typeface="Lora"/>
              <a:sym typeface="Lora"/>
            </a:endParaRPr>
          </a:p>
        </p:txBody>
      </p:sp>
      <p:sp>
        <p:nvSpPr>
          <p:cNvPr id="182" name="Google Shape;182;g3bca7b3d0bf_0_15"/>
          <p:cNvSpPr txBox="1"/>
          <p:nvPr/>
        </p:nvSpPr>
        <p:spPr>
          <a:xfrm>
            <a:off x="8320045" y="3331586"/>
            <a:ext cx="1768200" cy="930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Clr>
                <a:srgbClr val="000000"/>
              </a:buClr>
              <a:buSzPts val="1000"/>
              <a:buFont typeface="Arial"/>
              <a:buNone/>
            </a:pPr>
            <a:r>
              <a:rPr lang="en-US" sz="1000" b="1">
                <a:solidFill>
                  <a:srgbClr val="000000"/>
                </a:solidFill>
                <a:latin typeface="Lora"/>
                <a:ea typeface="Lora"/>
                <a:cs typeface="Lora"/>
                <a:sym typeface="Lora"/>
              </a:rPr>
              <a:t>(Stronger Backbone) </a:t>
            </a:r>
            <a:endParaRPr sz="1000" b="1">
              <a:solidFill>
                <a:srgbClr val="000000"/>
              </a:solidFill>
              <a:latin typeface="Lora"/>
              <a:ea typeface="Lora"/>
              <a:cs typeface="Lora"/>
              <a:sym typeface="Lor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bca7b3d0bf_0_70"/>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
        <p:nvSpPr>
          <p:cNvPr id="188" name="Google Shape;188;g3bca7b3d0bf_0_70"/>
          <p:cNvSpPr txBox="1"/>
          <p:nvPr/>
        </p:nvSpPr>
        <p:spPr>
          <a:xfrm>
            <a:off x="796112" y="5430950"/>
            <a:ext cx="10205700" cy="369300"/>
          </a:xfrm>
          <a:prstGeom prst="rect">
            <a:avLst/>
          </a:prstGeom>
          <a:noFill/>
          <a:ln>
            <a:noFill/>
          </a:ln>
        </p:spPr>
        <p:txBody>
          <a:bodyPr spcFirstLastPara="1" wrap="square" lIns="91425" tIns="45700" rIns="91425" bIns="45700" anchor="ctr" anchorCtr="1">
            <a:spAutoFit/>
          </a:bodyPr>
          <a:lstStyle/>
          <a:p>
            <a:pPr marL="0" marR="0" lvl="0" indent="0" algn="ctr" rtl="0">
              <a:spcBef>
                <a:spcPts val="0"/>
              </a:spcBef>
              <a:spcAft>
                <a:spcPts val="0"/>
              </a:spcAft>
              <a:buNone/>
            </a:pPr>
            <a:r>
              <a:rPr lang="en-US" sz="1800" i="1">
                <a:solidFill>
                  <a:schemeClr val="dk1"/>
                </a:solidFill>
                <a:latin typeface="Times New Roman"/>
                <a:ea typeface="Times New Roman"/>
                <a:cs typeface="Times New Roman"/>
                <a:sym typeface="Times New Roman"/>
              </a:rPr>
              <a:t>Our HuatuoGPT series is one of the most influential medical LLMs in the world.</a:t>
            </a:r>
            <a:endParaRPr sz="1800" b="0" i="1" u="none" strike="noStrike" cap="none">
              <a:solidFill>
                <a:srgbClr val="FF0000"/>
              </a:solidFill>
              <a:latin typeface="Times New Roman"/>
              <a:ea typeface="Times New Roman"/>
              <a:cs typeface="Times New Roman"/>
              <a:sym typeface="Times New Roman"/>
            </a:endParaRPr>
          </a:p>
        </p:txBody>
      </p:sp>
      <p:sp>
        <p:nvSpPr>
          <p:cNvPr id="189" name="Google Shape;189;g3bca7b3d0bf_0_70"/>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Our Journey in Medical LLMs</a:t>
            </a:r>
            <a:endParaRPr/>
          </a:p>
        </p:txBody>
      </p:sp>
      <p:pic>
        <p:nvPicPr>
          <p:cNvPr id="190" name="Google Shape;190;g3bca7b3d0bf_0_70"/>
          <p:cNvPicPr preferRelativeResize="0"/>
          <p:nvPr/>
        </p:nvPicPr>
        <p:blipFill rotWithShape="1">
          <a:blip r:embed="rId3">
            <a:alphaModFix/>
          </a:blip>
          <a:srcRect/>
          <a:stretch/>
        </p:blipFill>
        <p:spPr>
          <a:xfrm>
            <a:off x="2354450" y="1603975"/>
            <a:ext cx="6901283" cy="1966951"/>
          </a:xfrm>
          <a:prstGeom prst="rect">
            <a:avLst/>
          </a:prstGeom>
          <a:noFill/>
          <a:ln>
            <a:noFill/>
          </a:ln>
        </p:spPr>
      </p:pic>
      <p:pic>
        <p:nvPicPr>
          <p:cNvPr id="191" name="Google Shape;191;g3bca7b3d0bf_0_70"/>
          <p:cNvPicPr preferRelativeResize="0"/>
          <p:nvPr/>
        </p:nvPicPr>
        <p:blipFill rotWithShape="1">
          <a:blip r:embed="rId4">
            <a:alphaModFix/>
          </a:blip>
          <a:srcRect/>
          <a:stretch/>
        </p:blipFill>
        <p:spPr>
          <a:xfrm>
            <a:off x="1960375" y="3862051"/>
            <a:ext cx="7877164" cy="1277763"/>
          </a:xfrm>
          <a:prstGeom prst="rect">
            <a:avLst/>
          </a:prstGeom>
          <a:noFill/>
          <a:ln>
            <a:noFill/>
          </a:ln>
        </p:spPr>
      </p:pic>
      <p:sp>
        <p:nvSpPr>
          <p:cNvPr id="192" name="Google Shape;192;g3bca7b3d0bf_0_70"/>
          <p:cNvSpPr txBox="1"/>
          <p:nvPr/>
        </p:nvSpPr>
        <p:spPr>
          <a:xfrm>
            <a:off x="2106925" y="3944327"/>
            <a:ext cx="1624200" cy="573900"/>
          </a:xfrm>
          <a:prstGeom prst="rect">
            <a:avLst/>
          </a:prstGeom>
          <a:solidFill>
            <a:srgbClr val="F8F7F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733" b="1">
                <a:solidFill>
                  <a:srgbClr val="B99A5A"/>
                </a:solidFill>
                <a:latin typeface="Calibri"/>
                <a:ea typeface="Calibri"/>
                <a:cs typeface="Calibri"/>
                <a:sym typeface="Calibri"/>
              </a:rPr>
              <a:t>1000+</a:t>
            </a:r>
            <a:endParaRPr sz="3733" b="1">
              <a:solidFill>
                <a:srgbClr val="B99A5A"/>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3c2d40ae598_1_63"/>
          <p:cNvSpPr txBox="1">
            <a:spLocks noGrp="1"/>
          </p:cNvSpPr>
          <p:nvPr>
            <p:ph type="title"/>
          </p:nvPr>
        </p:nvSpPr>
        <p:spPr>
          <a:xfrm>
            <a:off x="1296610" y="144466"/>
            <a:ext cx="102711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Outline</a:t>
            </a:r>
            <a:endParaRPr/>
          </a:p>
        </p:txBody>
      </p:sp>
      <p:sp>
        <p:nvSpPr>
          <p:cNvPr id="199" name="Google Shape;199;g3c2d40ae598_1_63"/>
          <p:cNvSpPr txBox="1">
            <a:spLocks noGrp="1"/>
          </p:cNvSpPr>
          <p:nvPr>
            <p:ph type="body" idx="1"/>
          </p:nvPr>
        </p:nvSpPr>
        <p:spPr>
          <a:xfrm>
            <a:off x="1296535" y="1455337"/>
            <a:ext cx="10271100" cy="3560700"/>
          </a:xfrm>
          <a:prstGeom prst="rect">
            <a:avLst/>
          </a:prstGeom>
          <a:noFill/>
          <a:ln>
            <a:noFill/>
          </a:ln>
        </p:spPr>
        <p:txBody>
          <a:bodyPr spcFirstLastPara="1" wrap="square" lIns="91425" tIns="45700" rIns="91425" bIns="45700" anchor="t" anchorCtr="0">
            <a:noAutofit/>
          </a:bodyPr>
          <a:lstStyle/>
          <a:p>
            <a:pPr marL="342882" lvl="0" indent="-342882" algn="l" rtl="0">
              <a:spcBef>
                <a:spcPts val="0"/>
              </a:spcBef>
              <a:spcAft>
                <a:spcPts val="0"/>
              </a:spcAft>
              <a:buSzPts val="2346"/>
              <a:buChar char="●"/>
            </a:pPr>
            <a:r>
              <a:rPr lang="en-US" sz="2933">
                <a:latin typeface="Times New Roman"/>
                <a:ea typeface="Times New Roman"/>
                <a:cs typeface="Times New Roman"/>
                <a:sym typeface="Times New Roman"/>
              </a:rPr>
              <a:t>Background (3 min)</a:t>
            </a:r>
            <a:endParaRPr sz="2933">
              <a:latin typeface="Times New Roman"/>
              <a:ea typeface="Times New Roman"/>
              <a:cs typeface="Times New Roman"/>
              <a:sym typeface="Times New Roman"/>
            </a:endParaRPr>
          </a:p>
          <a:p>
            <a:pPr marL="342882" lvl="0" indent="-342882" algn="l" rtl="0">
              <a:spcBef>
                <a:spcPts val="587"/>
              </a:spcBef>
              <a:spcAft>
                <a:spcPts val="0"/>
              </a:spcAft>
              <a:buSzPts val="2346"/>
              <a:buChar char="●"/>
            </a:pPr>
            <a:r>
              <a:rPr lang="en-US" sz="2933">
                <a:solidFill>
                  <a:srgbClr val="FF0000"/>
                </a:solidFill>
                <a:latin typeface="Times New Roman"/>
                <a:ea typeface="Times New Roman"/>
                <a:cs typeface="Times New Roman"/>
                <a:sym typeface="Times New Roman"/>
              </a:rPr>
              <a:t>Motivation</a:t>
            </a:r>
            <a:r>
              <a:rPr lang="en-US" sz="2933">
                <a:latin typeface="Times New Roman"/>
                <a:ea typeface="Times New Roman"/>
                <a:cs typeface="Times New Roman"/>
                <a:sym typeface="Times New Roman"/>
              </a:rPr>
              <a:t> (3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Proposed Methods &amp; Performance Evaluation (18 min)</a:t>
            </a:r>
            <a:endParaRPr/>
          </a:p>
          <a:p>
            <a:pPr marL="742913" lvl="1" indent="-285737" algn="l" rtl="0">
              <a:spcBef>
                <a:spcPts val="480"/>
              </a:spcBef>
              <a:spcAft>
                <a:spcPts val="0"/>
              </a:spcAft>
              <a:buSzPts val="2160"/>
              <a:buChar char="–"/>
            </a:pPr>
            <a:r>
              <a:rPr lang="en-US" sz="2400">
                <a:latin typeface="Times New Roman"/>
                <a:ea typeface="Times New Roman"/>
                <a:cs typeface="Times New Roman"/>
                <a:sym typeface="Times New Roman"/>
              </a:rPr>
              <a:t>HuatuoGPT-2 ( 6 min)</a:t>
            </a:r>
            <a:endParaRPr/>
          </a:p>
          <a:p>
            <a:pPr marL="742913" lvl="1" indent="-285737" algn="l" rtl="0">
              <a:spcBef>
                <a:spcPts val="480"/>
              </a:spcBef>
              <a:spcAft>
                <a:spcPts val="0"/>
              </a:spcAft>
              <a:buSzPts val="2160"/>
              <a:buChar char="–"/>
            </a:pPr>
            <a:r>
              <a:rPr lang="en-US" sz="2400">
                <a:latin typeface="Times New Roman"/>
                <a:ea typeface="Times New Roman"/>
                <a:cs typeface="Times New Roman"/>
                <a:sym typeface="Times New Roman"/>
              </a:rPr>
              <a:t>HuatuoGPT-o1 ( 6 min)</a:t>
            </a:r>
            <a:endParaRPr/>
          </a:p>
          <a:p>
            <a:pPr marL="742913" lvl="1" indent="-285737" algn="l" rtl="0">
              <a:spcBef>
                <a:spcPts val="480"/>
              </a:spcBef>
              <a:spcAft>
                <a:spcPts val="0"/>
              </a:spcAft>
              <a:buSzPts val="2160"/>
              <a:buChar char="–"/>
            </a:pPr>
            <a:r>
              <a:rPr lang="en-US" sz="2400">
                <a:latin typeface="Times New Roman"/>
                <a:ea typeface="Times New Roman"/>
                <a:cs typeface="Times New Roman"/>
                <a:sym typeface="Times New Roman"/>
              </a:rPr>
              <a:t>HuatuoGPT-3 ( 6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Conclusions (1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Q &amp; A (5 min)</a:t>
            </a:r>
            <a:endParaRPr/>
          </a:p>
        </p:txBody>
      </p:sp>
      <p:sp>
        <p:nvSpPr>
          <p:cNvPr id="200" name="Google Shape;200;g3c2d40ae598_1_63"/>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3bca7b3d0bf_0_128"/>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sp>
        <p:nvSpPr>
          <p:cNvPr id="206" name="Google Shape;206;g3bca7b3d0bf_0_128"/>
          <p:cNvSpPr txBox="1"/>
          <p:nvPr/>
        </p:nvSpPr>
        <p:spPr>
          <a:xfrm>
            <a:off x="1130525" y="2695000"/>
            <a:ext cx="9673200" cy="3018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000"/>
              </a:spcBef>
              <a:spcAft>
                <a:spcPts val="0"/>
              </a:spcAft>
              <a:buClr>
                <a:schemeClr val="dk1"/>
              </a:buClr>
              <a:buSzPts val="1100"/>
              <a:buFont typeface="Arial"/>
              <a:buNone/>
            </a:pPr>
            <a:r>
              <a:rPr lang="en-US" sz="1900" b="1">
                <a:solidFill>
                  <a:schemeClr val="dk1"/>
                </a:solidFill>
              </a:rPr>
              <a:t>Key Obstacles:</a:t>
            </a:r>
            <a:endParaRPr sz="1900" b="1">
              <a:solidFill>
                <a:schemeClr val="dk1"/>
              </a:solidFill>
            </a:endParaRPr>
          </a:p>
          <a:p>
            <a:pPr marL="457200" lvl="0" indent="-336550" algn="l" rtl="0">
              <a:lnSpc>
                <a:spcPct val="115000"/>
              </a:lnSpc>
              <a:spcBef>
                <a:spcPts val="1000"/>
              </a:spcBef>
              <a:spcAft>
                <a:spcPts val="0"/>
              </a:spcAft>
              <a:buClr>
                <a:schemeClr val="dk1"/>
              </a:buClr>
              <a:buSzPts val="1700"/>
              <a:buChar char="●"/>
            </a:pPr>
            <a:r>
              <a:rPr lang="en-US" sz="1700" b="1">
                <a:solidFill>
                  <a:schemeClr val="dk1"/>
                </a:solidFill>
              </a:rPr>
              <a:t>Data Silos &amp; Volume</a:t>
            </a:r>
            <a:r>
              <a:rPr lang="en-US" sz="1700">
                <a:solidFill>
                  <a:schemeClr val="dk1"/>
                </a:solidFill>
              </a:rPr>
              <a:t>: How to efficiently ingest massive, heterogeneous medical data without "Catastrophic Forgetting"?</a:t>
            </a:r>
            <a:endParaRPr sz="1700">
              <a:solidFill>
                <a:schemeClr val="dk1"/>
              </a:solidFill>
            </a:endParaRPr>
          </a:p>
          <a:p>
            <a:pPr marL="457200" lvl="0" indent="-336550" algn="l" rtl="0">
              <a:lnSpc>
                <a:spcPct val="115000"/>
              </a:lnSpc>
              <a:spcBef>
                <a:spcPts val="1200"/>
              </a:spcBef>
              <a:spcAft>
                <a:spcPts val="0"/>
              </a:spcAft>
              <a:buClr>
                <a:schemeClr val="dk1"/>
              </a:buClr>
              <a:buSzPts val="1700"/>
              <a:buChar char="●"/>
            </a:pPr>
            <a:r>
              <a:rPr lang="en-US" sz="1700" b="1">
                <a:solidFill>
                  <a:schemeClr val="dk1"/>
                </a:solidFill>
              </a:rPr>
              <a:t>The "Teacher" Paradox</a:t>
            </a:r>
            <a:r>
              <a:rPr lang="en-US" sz="1700">
                <a:solidFill>
                  <a:schemeClr val="dk1"/>
                </a:solidFill>
              </a:rPr>
              <a:t>: In medical domains, high-quality human labels (doctors) are expensive. How do we train a model when "human teachers" are unavailable or too slow?</a:t>
            </a:r>
            <a:endParaRPr sz="1700">
              <a:solidFill>
                <a:schemeClr val="dk1"/>
              </a:solidFill>
            </a:endParaRPr>
          </a:p>
          <a:p>
            <a:pPr marL="457200" lvl="0" indent="-336550" algn="l" rtl="0">
              <a:lnSpc>
                <a:spcPct val="115000"/>
              </a:lnSpc>
              <a:spcBef>
                <a:spcPts val="1000"/>
              </a:spcBef>
              <a:spcAft>
                <a:spcPts val="0"/>
              </a:spcAft>
              <a:buClr>
                <a:schemeClr val="dk1"/>
              </a:buClr>
              <a:buSzPts val="1700"/>
              <a:buChar char="●"/>
            </a:pPr>
            <a:r>
              <a:rPr lang="en-US" sz="1700" b="1">
                <a:solidFill>
                  <a:schemeClr val="dk1"/>
                </a:solidFill>
              </a:rPr>
              <a:t>System Evolution</a:t>
            </a:r>
            <a:r>
              <a:rPr lang="en-US" sz="1700">
                <a:solidFill>
                  <a:schemeClr val="dk1"/>
                </a:solidFill>
              </a:rPr>
              <a:t>: We need a transition from </a:t>
            </a:r>
            <a:r>
              <a:rPr lang="en-US" sz="1700" b="1">
                <a:solidFill>
                  <a:schemeClr val="dk1"/>
                </a:solidFill>
              </a:rPr>
              <a:t>Data-Heavy</a:t>
            </a:r>
            <a:r>
              <a:rPr lang="en-US" sz="1700">
                <a:solidFill>
                  <a:schemeClr val="dk1"/>
                </a:solidFill>
              </a:rPr>
              <a:t> to </a:t>
            </a:r>
            <a:r>
              <a:rPr lang="en-US" sz="1700" b="1">
                <a:solidFill>
                  <a:schemeClr val="dk1"/>
                </a:solidFill>
              </a:rPr>
              <a:t>Algorithm-Smart</a:t>
            </a:r>
            <a:r>
              <a:rPr lang="en-US" sz="1700">
                <a:solidFill>
                  <a:schemeClr val="dk1"/>
                </a:solidFill>
              </a:rPr>
              <a:t> systems.</a:t>
            </a:r>
            <a:endParaRPr sz="1700">
              <a:solidFill>
                <a:schemeClr val="dk1"/>
              </a:solidFill>
            </a:endParaRPr>
          </a:p>
          <a:p>
            <a:pPr marL="0" marR="0" lvl="0" indent="0" algn="l" rtl="0">
              <a:lnSpc>
                <a:spcPct val="115000"/>
              </a:lnSpc>
              <a:spcBef>
                <a:spcPts val="1200"/>
              </a:spcBef>
              <a:spcAft>
                <a:spcPts val="0"/>
              </a:spcAft>
              <a:buClr>
                <a:srgbClr val="0000FF"/>
              </a:buClr>
              <a:buSzPts val="1760"/>
              <a:buFont typeface="Noto Sans Symbols"/>
              <a:buNone/>
            </a:pPr>
            <a:endParaRPr sz="1700" b="1">
              <a:solidFill>
                <a:schemeClr val="dk1"/>
              </a:solidFill>
            </a:endParaRPr>
          </a:p>
        </p:txBody>
      </p:sp>
      <p:sp>
        <p:nvSpPr>
          <p:cNvPr id="207" name="Google Shape;207;g3bca7b3d0bf_0_128"/>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Challenges in Training Medical LLMs</a:t>
            </a:r>
            <a:endParaRPr/>
          </a:p>
        </p:txBody>
      </p:sp>
      <p:sp>
        <p:nvSpPr>
          <p:cNvPr id="208" name="Google Shape;208;g3bca7b3d0bf_0_128"/>
          <p:cNvSpPr/>
          <p:nvPr/>
        </p:nvSpPr>
        <p:spPr>
          <a:xfrm>
            <a:off x="1776825" y="1458575"/>
            <a:ext cx="8157300" cy="744900"/>
          </a:xfrm>
          <a:prstGeom prst="roundRect">
            <a:avLst>
              <a:gd name="adj" fmla="val 744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solidFill>
                  <a:schemeClr val="dk1"/>
                </a:solidFill>
              </a:rPr>
              <a:t>The Core Question</a:t>
            </a:r>
            <a:r>
              <a:rPr lang="en-US" sz="1800">
                <a:solidFill>
                  <a:schemeClr val="dk1"/>
                </a:solidFill>
              </a:rPr>
              <a:t>: </a:t>
            </a:r>
            <a:endParaRPr sz="1800">
              <a:solidFill>
                <a:schemeClr val="dk1"/>
              </a:solidFill>
            </a:endParaRPr>
          </a:p>
          <a:p>
            <a:pPr marL="0" lvl="0" indent="0" algn="ctr" rtl="0">
              <a:spcBef>
                <a:spcPts val="0"/>
              </a:spcBef>
              <a:spcAft>
                <a:spcPts val="0"/>
              </a:spcAft>
              <a:buNone/>
            </a:pPr>
            <a:r>
              <a:rPr lang="en-US" sz="1800">
                <a:solidFill>
                  <a:schemeClr val="dk1"/>
                </a:solidFill>
              </a:rPr>
              <a:t>How to </a:t>
            </a:r>
            <a:r>
              <a:rPr lang="en-US" sz="1800" b="1">
                <a:solidFill>
                  <a:schemeClr val="dk1"/>
                </a:solidFill>
              </a:rPr>
              <a:t>effectively</a:t>
            </a:r>
            <a:r>
              <a:rPr lang="en-US" sz="1800">
                <a:solidFill>
                  <a:schemeClr val="dk1"/>
                </a:solidFill>
              </a:rPr>
              <a:t> and </a:t>
            </a:r>
            <a:r>
              <a:rPr lang="en-US" sz="1800" b="1">
                <a:solidFill>
                  <a:schemeClr val="dk1"/>
                </a:solidFill>
              </a:rPr>
              <a:t>efficiently</a:t>
            </a:r>
            <a:r>
              <a:rPr lang="en-US" sz="1800">
                <a:solidFill>
                  <a:schemeClr val="dk1"/>
                </a:solidFill>
              </a:rPr>
              <a:t> train domain-specific LLMs?</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g3c2d40ae598_1_44"/>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sp>
        <p:nvSpPr>
          <p:cNvPr id="214" name="Google Shape;214;g3c2d40ae598_1_44"/>
          <p:cNvSpPr txBox="1"/>
          <p:nvPr/>
        </p:nvSpPr>
        <p:spPr>
          <a:xfrm>
            <a:off x="764150" y="2175788"/>
            <a:ext cx="9673200" cy="3018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b="1">
                <a:solidFill>
                  <a:schemeClr val="dk1"/>
                </a:solidFill>
                <a:highlight>
                  <a:srgbClr val="FFF2CC"/>
                </a:highlight>
              </a:rPr>
              <a:t>HuatuoGPT-2: One-stage Training for Knowledge Injection</a:t>
            </a:r>
            <a:endParaRPr sz="1600" b="1">
              <a:solidFill>
                <a:schemeClr val="dk1"/>
              </a:solidFill>
              <a:highlight>
                <a:srgbClr val="FFF2CC"/>
              </a:highlight>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Supervised learning of a large amount of knowledge.</a:t>
            </a:r>
            <a:endParaRPr sz="1600">
              <a:solidFill>
                <a:schemeClr val="dk1"/>
              </a:solidFill>
            </a:endParaRPr>
          </a:p>
          <a:p>
            <a:pPr marL="0" lvl="0" indent="0" algn="l" rtl="0">
              <a:lnSpc>
                <a:spcPct val="115000"/>
              </a:lnSpc>
              <a:spcBef>
                <a:spcPts val="1000"/>
              </a:spcBef>
              <a:spcAft>
                <a:spcPts val="0"/>
              </a:spcAft>
              <a:buClr>
                <a:schemeClr val="dk1"/>
              </a:buClr>
              <a:buSzPts val="1100"/>
              <a:buFont typeface="Arial"/>
              <a:buNone/>
            </a:pPr>
            <a:r>
              <a:rPr lang="en-US" sz="1600" b="1">
                <a:solidFill>
                  <a:schemeClr val="dk1"/>
                </a:solidFill>
                <a:highlight>
                  <a:srgbClr val="FFF2CC"/>
                </a:highlight>
              </a:rPr>
              <a:t>HuatuoGPT-o1: Reasoning via RLVR</a:t>
            </a:r>
            <a:endParaRPr sz="1600" b="1">
              <a:solidFill>
                <a:schemeClr val="dk1"/>
              </a:solidFill>
              <a:highlight>
                <a:srgbClr val="FFF2CC"/>
              </a:highlight>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Learn how to reason and reinforce learning</a:t>
            </a:r>
            <a:endParaRPr sz="1600">
              <a:solidFill>
                <a:schemeClr val="dk1"/>
              </a:solidFill>
            </a:endParaRPr>
          </a:p>
          <a:p>
            <a:pPr marL="0" lvl="0" indent="0" algn="l" rtl="0">
              <a:lnSpc>
                <a:spcPct val="115000"/>
              </a:lnSpc>
              <a:spcBef>
                <a:spcPts val="1000"/>
              </a:spcBef>
              <a:spcAft>
                <a:spcPts val="0"/>
              </a:spcAft>
              <a:buClr>
                <a:schemeClr val="dk1"/>
              </a:buClr>
              <a:buSzPts val="1100"/>
              <a:buFont typeface="Arial"/>
              <a:buNone/>
            </a:pPr>
            <a:r>
              <a:rPr lang="en-US" sz="1600" b="1">
                <a:solidFill>
                  <a:schemeClr val="dk1"/>
                </a:solidFill>
                <a:highlight>
                  <a:srgbClr val="FFF2CC"/>
                </a:highlight>
              </a:rPr>
              <a:t>HuatuoGPT-3: Pure RL (OnePO)</a:t>
            </a:r>
            <a:endParaRPr sz="1600" b="1">
              <a:solidFill>
                <a:schemeClr val="dk1"/>
              </a:solidFill>
              <a:highlight>
                <a:srgbClr val="FFF2CC"/>
              </a:highlight>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Complete self-learning from scratch</a:t>
            </a:r>
            <a:endParaRPr sz="1600">
              <a:solidFill>
                <a:schemeClr val="dk1"/>
              </a:solidFill>
            </a:endParaRPr>
          </a:p>
          <a:p>
            <a:pPr marL="0" lvl="0" indent="0" algn="l" rtl="0">
              <a:lnSpc>
                <a:spcPct val="115000"/>
              </a:lnSpc>
              <a:spcBef>
                <a:spcPts val="0"/>
              </a:spcBef>
              <a:spcAft>
                <a:spcPts val="0"/>
              </a:spcAft>
              <a:buNone/>
            </a:pPr>
            <a:endParaRPr sz="1600">
              <a:solidFill>
                <a:schemeClr val="dk1"/>
              </a:solidFill>
            </a:endParaRPr>
          </a:p>
          <a:p>
            <a:pPr marL="0" marR="0" lvl="0" indent="0" algn="l" rtl="0">
              <a:lnSpc>
                <a:spcPct val="115000"/>
              </a:lnSpc>
              <a:spcBef>
                <a:spcPts val="0"/>
              </a:spcBef>
              <a:spcAft>
                <a:spcPts val="0"/>
              </a:spcAft>
              <a:buClr>
                <a:srgbClr val="0000FF"/>
              </a:buClr>
              <a:buSzPts val="1760"/>
              <a:buFont typeface="Noto Sans Symbols"/>
              <a:buNone/>
            </a:pPr>
            <a:endParaRPr sz="1600" b="1">
              <a:solidFill>
                <a:schemeClr val="dk1"/>
              </a:solidFill>
            </a:endParaRPr>
          </a:p>
        </p:txBody>
      </p:sp>
      <p:sp>
        <p:nvSpPr>
          <p:cNvPr id="215" name="Google Shape;215;g3c2d40ae598_1_44"/>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Our Solution - The HuatuoGPT Series</a:t>
            </a:r>
            <a:endParaRPr/>
          </a:p>
        </p:txBody>
      </p:sp>
      <p:sp>
        <p:nvSpPr>
          <p:cNvPr id="216" name="Google Shape;216;g3c2d40ae598_1_44"/>
          <p:cNvSpPr txBox="1"/>
          <p:nvPr/>
        </p:nvSpPr>
        <p:spPr>
          <a:xfrm>
            <a:off x="303650" y="5499327"/>
            <a:ext cx="10594200" cy="618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hlink"/>
              </a:buClr>
              <a:buSzPts val="800"/>
              <a:buFont typeface="Noto Sans Symbols"/>
              <a:buNone/>
            </a:pPr>
            <a:r>
              <a:rPr lang="en-US" sz="1050">
                <a:solidFill>
                  <a:schemeClr val="dk1"/>
                </a:solidFill>
              </a:rPr>
              <a:t>[1] </a:t>
            </a:r>
            <a:r>
              <a:rPr lang="en-US" sz="1050" b="1">
                <a:solidFill>
                  <a:srgbClr val="666666"/>
                </a:solidFill>
              </a:rPr>
              <a:t>Junying Chen</a:t>
            </a:r>
            <a:r>
              <a:rPr lang="en-US" sz="1050">
                <a:solidFill>
                  <a:srgbClr val="666666"/>
                </a:solidFill>
              </a:rPr>
              <a:t>, Xidong Wang, et al. </a:t>
            </a:r>
            <a:r>
              <a:rPr lang="en-US" sz="1050" b="1">
                <a:solidFill>
                  <a:schemeClr val="dk1"/>
                </a:solidFill>
              </a:rPr>
              <a:t>HuatuoGPT-II, One-stage Training for Medical Adaption of LLMs. </a:t>
            </a:r>
            <a:r>
              <a:rPr lang="en-US" sz="1050">
                <a:solidFill>
                  <a:schemeClr val="dk1"/>
                </a:solidFill>
              </a:rPr>
              <a:t>COLM 2024.</a:t>
            </a:r>
            <a:endParaRPr sz="1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0000FF"/>
              </a:buClr>
              <a:buSzPts val="800"/>
              <a:buFont typeface="Noto Sans Symbols"/>
              <a:buNone/>
            </a:pPr>
            <a:r>
              <a:rPr lang="en-US" sz="1000" b="0" i="0" u="none" strike="noStrike" cap="none">
                <a:solidFill>
                  <a:schemeClr val="dk1"/>
                </a:solidFill>
                <a:latin typeface="Times New Roman"/>
                <a:ea typeface="Times New Roman"/>
                <a:cs typeface="Times New Roman"/>
                <a:sym typeface="Times New Roman"/>
              </a:rPr>
              <a:t>[</a:t>
            </a:r>
            <a:r>
              <a:rPr lang="en-US" sz="1000">
                <a:solidFill>
                  <a:schemeClr val="dk1"/>
                </a:solidFill>
                <a:latin typeface="Times New Roman"/>
                <a:ea typeface="Times New Roman"/>
                <a:cs typeface="Times New Roman"/>
                <a:sym typeface="Times New Roman"/>
              </a:rPr>
              <a:t>2</a:t>
            </a:r>
            <a:r>
              <a:rPr lang="en-US" sz="1000" b="0" i="0" u="none" strike="noStrike" cap="none">
                <a:solidFill>
                  <a:schemeClr val="dk1"/>
                </a:solidFill>
                <a:latin typeface="Times New Roman"/>
                <a:ea typeface="Times New Roman"/>
                <a:cs typeface="Times New Roman"/>
                <a:sym typeface="Times New Roman"/>
              </a:rPr>
              <a:t>] </a:t>
            </a:r>
            <a:r>
              <a:rPr lang="en-US" sz="1050" b="1">
                <a:solidFill>
                  <a:srgbClr val="666666"/>
                </a:solidFill>
              </a:rPr>
              <a:t>Junying Chen</a:t>
            </a:r>
            <a:r>
              <a:rPr lang="en-US" sz="1050">
                <a:solidFill>
                  <a:srgbClr val="666666"/>
                </a:solidFill>
              </a:rPr>
              <a:t>, Zhenyang Cai, et al. </a:t>
            </a:r>
            <a:r>
              <a:rPr lang="en-US" sz="1050" b="1">
                <a:solidFill>
                  <a:schemeClr val="dk1"/>
                </a:solidFill>
              </a:rPr>
              <a:t>HuatuoGPT-o1, Towards Medical Complex Reasoning with LLMs. </a:t>
            </a:r>
            <a:r>
              <a:rPr lang="en-US" sz="1050">
                <a:solidFill>
                  <a:schemeClr val="dk1"/>
                </a:solidFill>
              </a:rPr>
              <a:t>ACL 2025.</a:t>
            </a:r>
            <a:endParaRPr sz="1050">
              <a:solidFill>
                <a:schemeClr val="dk1"/>
              </a:solidFill>
            </a:endParaRPr>
          </a:p>
          <a:p>
            <a:pPr marL="0" marR="0" lvl="0" indent="0" algn="l" rtl="0">
              <a:spcBef>
                <a:spcPts val="0"/>
              </a:spcBef>
              <a:spcAft>
                <a:spcPts val="0"/>
              </a:spcAft>
              <a:buClr>
                <a:srgbClr val="0000FF"/>
              </a:buClr>
              <a:buSzPts val="800"/>
              <a:buFont typeface="Noto Sans Symbols"/>
              <a:buNone/>
            </a:pPr>
            <a:r>
              <a:rPr lang="en-US" sz="1050">
                <a:solidFill>
                  <a:schemeClr val="dk1"/>
                </a:solidFill>
              </a:rPr>
              <a:t>[3] </a:t>
            </a:r>
            <a:r>
              <a:rPr lang="en-US" sz="1050" b="1">
                <a:solidFill>
                  <a:srgbClr val="666666"/>
                </a:solidFill>
              </a:rPr>
              <a:t>Junying Chen</a:t>
            </a:r>
            <a:r>
              <a:rPr lang="en-US" sz="1050">
                <a:solidFill>
                  <a:srgbClr val="666666"/>
                </a:solidFill>
              </a:rPr>
              <a:t>, Xinyuan Xie, et al. </a:t>
            </a:r>
            <a:r>
              <a:rPr lang="en-US" sz="1050" b="1">
                <a:solidFill>
                  <a:schemeClr val="dk1"/>
                </a:solidFill>
              </a:rPr>
              <a:t>HuatuoGPT-3: One-stage Policy Optimization for SFT-free Domain Adaptation. </a:t>
            </a:r>
            <a:r>
              <a:rPr lang="en-US" sz="1050">
                <a:solidFill>
                  <a:schemeClr val="dk1"/>
                </a:solidFill>
              </a:rPr>
              <a:t>Submitted to ICML 2026.</a:t>
            </a:r>
            <a:endParaRPr sz="1050">
              <a:solidFill>
                <a:schemeClr val="dk1"/>
              </a:solidFill>
            </a:endParaRPr>
          </a:p>
          <a:p>
            <a:pPr marL="0" marR="0" lvl="0" indent="0" algn="l" rtl="0">
              <a:spcBef>
                <a:spcPts val="200"/>
              </a:spcBef>
              <a:spcAft>
                <a:spcPts val="0"/>
              </a:spcAft>
              <a:buClr>
                <a:srgbClr val="0000FF"/>
              </a:buClr>
              <a:buSzPts val="800"/>
              <a:buFont typeface="Noto Sans Symbols"/>
              <a:buNone/>
            </a:pPr>
            <a:endParaRPr sz="1000" b="0" i="0" u="none" strike="noStrike" cap="none">
              <a:solidFill>
                <a:schemeClr val="dk1"/>
              </a:solidFill>
              <a:latin typeface="Times New Roman"/>
              <a:ea typeface="Times New Roman"/>
              <a:cs typeface="Times New Roman"/>
              <a:sym typeface="Times New Roman"/>
            </a:endParaRPr>
          </a:p>
        </p:txBody>
      </p:sp>
      <p:sp>
        <p:nvSpPr>
          <p:cNvPr id="217" name="Google Shape;217;g3c2d40ae598_1_44"/>
          <p:cNvSpPr txBox="1"/>
          <p:nvPr/>
        </p:nvSpPr>
        <p:spPr>
          <a:xfrm>
            <a:off x="675375" y="1355763"/>
            <a:ext cx="9673200" cy="903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1200"/>
              </a:spcAft>
              <a:buNone/>
            </a:pPr>
            <a:r>
              <a:rPr lang="en-US" sz="1700" b="1">
                <a:solidFill>
                  <a:srgbClr val="990099"/>
                </a:solidFill>
              </a:rPr>
              <a:t>I will introduce three works, each representing the evolution of training systems:</a:t>
            </a:r>
            <a:endParaRPr sz="1700" b="1">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3bca7b3d0bf_0_146"/>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sp>
        <p:nvSpPr>
          <p:cNvPr id="223" name="Google Shape;223;g3bca7b3d0bf_0_146"/>
          <p:cNvSpPr txBox="1"/>
          <p:nvPr/>
        </p:nvSpPr>
        <p:spPr>
          <a:xfrm>
            <a:off x="764150" y="1509801"/>
            <a:ext cx="9673200" cy="3018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b="1">
                <a:solidFill>
                  <a:schemeClr val="dk1"/>
                </a:solidFill>
                <a:highlight>
                  <a:srgbClr val="FFF2CC"/>
                </a:highlight>
              </a:rPr>
              <a:t>HuatuoGPT-2: One-stage Training for Knowledge Injection</a:t>
            </a:r>
            <a:endParaRPr sz="1600" b="1">
              <a:solidFill>
                <a:schemeClr val="dk1"/>
              </a:solidFill>
              <a:highlight>
                <a:srgbClr val="FFF2CC"/>
              </a:highlight>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Focus: Efficiency in "Learning what to say."</a:t>
            </a:r>
            <a:endParaRPr sz="1600">
              <a:solidFill>
                <a:schemeClr val="dk1"/>
              </a:solidFill>
            </a:endParaRPr>
          </a:p>
          <a:p>
            <a:pPr marL="0" lvl="0" indent="0" algn="l" rtl="0">
              <a:lnSpc>
                <a:spcPct val="115000"/>
              </a:lnSpc>
              <a:spcBef>
                <a:spcPts val="1000"/>
              </a:spcBef>
              <a:spcAft>
                <a:spcPts val="0"/>
              </a:spcAft>
              <a:buClr>
                <a:schemeClr val="dk1"/>
              </a:buClr>
              <a:buSzPts val="1100"/>
              <a:buFont typeface="Arial"/>
              <a:buNone/>
            </a:pPr>
            <a:r>
              <a:rPr lang="en-US" sz="1600" b="1">
                <a:solidFill>
                  <a:schemeClr val="dk1"/>
                </a:solidFill>
                <a:highlight>
                  <a:srgbClr val="FFF2CC"/>
                </a:highlight>
              </a:rPr>
              <a:t>HuatuoGPT-o1: Reasoning via RLVR</a:t>
            </a:r>
            <a:endParaRPr sz="1600" b="1">
              <a:solidFill>
                <a:schemeClr val="dk1"/>
              </a:solidFill>
              <a:highlight>
                <a:srgbClr val="FFF2CC"/>
              </a:highlight>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Focus: Precision in "Thinking how to reason."</a:t>
            </a:r>
            <a:endParaRPr sz="1600">
              <a:solidFill>
                <a:schemeClr val="dk1"/>
              </a:solidFill>
            </a:endParaRPr>
          </a:p>
          <a:p>
            <a:pPr marL="0" lvl="0" indent="0" algn="l" rtl="0">
              <a:lnSpc>
                <a:spcPct val="115000"/>
              </a:lnSpc>
              <a:spcBef>
                <a:spcPts val="1000"/>
              </a:spcBef>
              <a:spcAft>
                <a:spcPts val="0"/>
              </a:spcAft>
              <a:buClr>
                <a:schemeClr val="dk1"/>
              </a:buClr>
              <a:buSzPts val="1100"/>
              <a:buFont typeface="Arial"/>
              <a:buNone/>
            </a:pPr>
            <a:r>
              <a:rPr lang="en-US" sz="1600" b="1">
                <a:solidFill>
                  <a:schemeClr val="dk1"/>
                </a:solidFill>
                <a:highlight>
                  <a:srgbClr val="FFF2CC"/>
                </a:highlight>
              </a:rPr>
              <a:t>HuatuoGPT-3: Pure RL (OnePO)</a:t>
            </a:r>
            <a:endParaRPr sz="1600" b="1">
              <a:solidFill>
                <a:schemeClr val="dk1"/>
              </a:solidFill>
              <a:highlight>
                <a:srgbClr val="FFF2CC"/>
              </a:highlight>
            </a:endParaRPr>
          </a:p>
          <a:p>
            <a:pPr marL="457200" lvl="0" indent="-330200" algn="l" rtl="0">
              <a:lnSpc>
                <a:spcPct val="115000"/>
              </a:lnSpc>
              <a:spcBef>
                <a:spcPts val="0"/>
              </a:spcBef>
              <a:spcAft>
                <a:spcPts val="0"/>
              </a:spcAft>
              <a:buClr>
                <a:schemeClr val="dk1"/>
              </a:buClr>
              <a:buSzPts val="1600"/>
              <a:buChar char="●"/>
            </a:pPr>
            <a:r>
              <a:rPr lang="en-US" sz="1600">
                <a:solidFill>
                  <a:schemeClr val="dk1"/>
                </a:solidFill>
              </a:rPr>
              <a:t>Focus: Autonomy in "Evolving without teachers."</a:t>
            </a:r>
            <a:endParaRPr sz="1600">
              <a:solidFill>
                <a:schemeClr val="dk1"/>
              </a:solidFill>
            </a:endParaRPr>
          </a:p>
          <a:p>
            <a:pPr marL="0" lvl="0" indent="0" algn="l" rtl="0">
              <a:lnSpc>
                <a:spcPct val="115000"/>
              </a:lnSpc>
              <a:spcBef>
                <a:spcPts val="0"/>
              </a:spcBef>
              <a:spcAft>
                <a:spcPts val="0"/>
              </a:spcAft>
              <a:buNone/>
            </a:pPr>
            <a:endParaRPr sz="1600">
              <a:solidFill>
                <a:schemeClr val="dk1"/>
              </a:solidFill>
            </a:endParaRPr>
          </a:p>
          <a:p>
            <a:pPr marL="0" marR="0" lvl="0" indent="0" algn="l" rtl="0">
              <a:lnSpc>
                <a:spcPct val="115000"/>
              </a:lnSpc>
              <a:spcBef>
                <a:spcPts val="0"/>
              </a:spcBef>
              <a:spcAft>
                <a:spcPts val="0"/>
              </a:spcAft>
              <a:buClr>
                <a:srgbClr val="0000FF"/>
              </a:buClr>
              <a:buSzPts val="1760"/>
              <a:buFont typeface="Noto Sans Symbols"/>
              <a:buNone/>
            </a:pPr>
            <a:endParaRPr sz="1600" b="1">
              <a:solidFill>
                <a:schemeClr val="dk1"/>
              </a:solidFill>
            </a:endParaRPr>
          </a:p>
        </p:txBody>
      </p:sp>
      <p:sp>
        <p:nvSpPr>
          <p:cNvPr id="224" name="Google Shape;224;g3bca7b3d0bf_0_146"/>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Our Solution - The HuatuoGPT Series</a:t>
            </a:r>
            <a:endParaRPr/>
          </a:p>
        </p:txBody>
      </p:sp>
      <p:sp>
        <p:nvSpPr>
          <p:cNvPr id="225" name="Google Shape;225;g3bca7b3d0bf_0_146"/>
          <p:cNvSpPr txBox="1"/>
          <p:nvPr/>
        </p:nvSpPr>
        <p:spPr>
          <a:xfrm>
            <a:off x="376925" y="5111939"/>
            <a:ext cx="10205700" cy="400200"/>
          </a:xfrm>
          <a:prstGeom prst="rect">
            <a:avLst/>
          </a:prstGeom>
          <a:noFill/>
          <a:ln>
            <a:noFill/>
          </a:ln>
        </p:spPr>
        <p:txBody>
          <a:bodyPr spcFirstLastPara="1" wrap="square" lIns="91425" tIns="45700" rIns="91425" bIns="45700" anchor="ctr" anchorCtr="1">
            <a:spAutoFit/>
          </a:bodyPr>
          <a:lstStyle/>
          <a:p>
            <a:pPr marL="0" marR="0" lvl="0" indent="0" algn="ctr" rtl="0">
              <a:spcBef>
                <a:spcPts val="0"/>
              </a:spcBef>
              <a:spcAft>
                <a:spcPts val="0"/>
              </a:spcAft>
              <a:buNone/>
            </a:pPr>
            <a:r>
              <a:rPr lang="en-US" sz="2000" i="1">
                <a:solidFill>
                  <a:schemeClr val="dk1"/>
                </a:solidFill>
                <a:latin typeface="Times New Roman"/>
                <a:ea typeface="Times New Roman"/>
                <a:cs typeface="Times New Roman"/>
                <a:sym typeface="Times New Roman"/>
              </a:rPr>
              <a:t>Moving from </a:t>
            </a:r>
            <a:r>
              <a:rPr lang="en-US" sz="2000" b="1" i="1">
                <a:solidFill>
                  <a:schemeClr val="dk1"/>
                </a:solidFill>
                <a:latin typeface="Times New Roman"/>
                <a:ea typeface="Times New Roman"/>
                <a:cs typeface="Times New Roman"/>
                <a:sym typeface="Times New Roman"/>
              </a:rPr>
              <a:t>Data-intensive </a:t>
            </a:r>
            <a:r>
              <a:rPr lang="en-US" sz="2000" i="1">
                <a:solidFill>
                  <a:schemeClr val="dk1"/>
                </a:solidFill>
                <a:latin typeface="Times New Roman"/>
                <a:ea typeface="Times New Roman"/>
                <a:cs typeface="Times New Roman"/>
                <a:sym typeface="Times New Roman"/>
              </a:rPr>
              <a:t>pipelines to </a:t>
            </a:r>
            <a:r>
              <a:rPr lang="en-US" sz="2000" b="1" i="1">
                <a:solidFill>
                  <a:schemeClr val="dk1"/>
                </a:solidFill>
                <a:latin typeface="Times New Roman"/>
                <a:ea typeface="Times New Roman"/>
                <a:cs typeface="Times New Roman"/>
                <a:sym typeface="Times New Roman"/>
              </a:rPr>
              <a:t>Algorithm-autonomous </a:t>
            </a:r>
            <a:r>
              <a:rPr lang="en-US" sz="2000" i="1">
                <a:solidFill>
                  <a:schemeClr val="dk1"/>
                </a:solidFill>
                <a:latin typeface="Times New Roman"/>
                <a:ea typeface="Times New Roman"/>
                <a:cs typeface="Times New Roman"/>
                <a:sym typeface="Times New Roman"/>
              </a:rPr>
              <a:t>systems.</a:t>
            </a:r>
            <a:endParaRPr sz="2000" b="0" i="1" u="none" strike="noStrike" cap="none">
              <a:solidFill>
                <a:srgbClr val="FF0000"/>
              </a:solidFill>
              <a:latin typeface="Times New Roman"/>
              <a:ea typeface="Times New Roman"/>
              <a:cs typeface="Times New Roman"/>
              <a:sym typeface="Times New Roman"/>
            </a:endParaRPr>
          </a:p>
        </p:txBody>
      </p:sp>
      <p:pic>
        <p:nvPicPr>
          <p:cNvPr id="226" name="Google Shape;226;g3bca7b3d0bf_0_146"/>
          <p:cNvPicPr preferRelativeResize="0"/>
          <p:nvPr/>
        </p:nvPicPr>
        <p:blipFill>
          <a:blip r:embed="rId3">
            <a:alphaModFix/>
          </a:blip>
          <a:stretch>
            <a:fillRect/>
          </a:stretch>
        </p:blipFill>
        <p:spPr>
          <a:xfrm>
            <a:off x="1931125" y="3848475"/>
            <a:ext cx="7097276" cy="1108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g3c2d40ae598_1_70"/>
          <p:cNvSpPr txBox="1">
            <a:spLocks noGrp="1"/>
          </p:cNvSpPr>
          <p:nvPr>
            <p:ph type="title"/>
          </p:nvPr>
        </p:nvSpPr>
        <p:spPr>
          <a:xfrm>
            <a:off x="1296610" y="144466"/>
            <a:ext cx="102711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Outline</a:t>
            </a:r>
            <a:endParaRPr/>
          </a:p>
        </p:txBody>
      </p:sp>
      <p:sp>
        <p:nvSpPr>
          <p:cNvPr id="233" name="Google Shape;233;g3c2d40ae598_1_70"/>
          <p:cNvSpPr txBox="1">
            <a:spLocks noGrp="1"/>
          </p:cNvSpPr>
          <p:nvPr>
            <p:ph type="body" idx="1"/>
          </p:nvPr>
        </p:nvSpPr>
        <p:spPr>
          <a:xfrm>
            <a:off x="1296535" y="1455337"/>
            <a:ext cx="10271100" cy="3560700"/>
          </a:xfrm>
          <a:prstGeom prst="rect">
            <a:avLst/>
          </a:prstGeom>
          <a:noFill/>
          <a:ln>
            <a:noFill/>
          </a:ln>
        </p:spPr>
        <p:txBody>
          <a:bodyPr spcFirstLastPara="1" wrap="square" lIns="91425" tIns="45700" rIns="91425" bIns="45700" anchor="t" anchorCtr="0">
            <a:noAutofit/>
          </a:bodyPr>
          <a:lstStyle/>
          <a:p>
            <a:pPr marL="342882" lvl="0" indent="-342882" algn="l" rtl="0">
              <a:spcBef>
                <a:spcPts val="0"/>
              </a:spcBef>
              <a:spcAft>
                <a:spcPts val="0"/>
              </a:spcAft>
              <a:buSzPts val="2346"/>
              <a:buChar char="●"/>
            </a:pPr>
            <a:r>
              <a:rPr lang="en-US" sz="2933">
                <a:latin typeface="Times New Roman"/>
                <a:ea typeface="Times New Roman"/>
                <a:cs typeface="Times New Roman"/>
                <a:sym typeface="Times New Roman"/>
              </a:rPr>
              <a:t>Background (3 min)</a:t>
            </a:r>
            <a:endParaRPr sz="2933">
              <a:latin typeface="Times New Roman"/>
              <a:ea typeface="Times New Roman"/>
              <a:cs typeface="Times New Roman"/>
              <a:sym typeface="Times New Roman"/>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Motivation (3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Proposed Methods &amp; Performance Evaluation (18 min)</a:t>
            </a:r>
            <a:endParaRPr/>
          </a:p>
          <a:p>
            <a:pPr marL="742913" lvl="1" indent="-285737" algn="l" rtl="0">
              <a:spcBef>
                <a:spcPts val="480"/>
              </a:spcBef>
              <a:spcAft>
                <a:spcPts val="0"/>
              </a:spcAft>
              <a:buSzPts val="2160"/>
              <a:buChar char="–"/>
            </a:pPr>
            <a:r>
              <a:rPr lang="en-US" sz="2400">
                <a:solidFill>
                  <a:srgbClr val="FF0000"/>
                </a:solidFill>
                <a:latin typeface="Times New Roman"/>
                <a:ea typeface="Times New Roman"/>
                <a:cs typeface="Times New Roman"/>
                <a:sym typeface="Times New Roman"/>
              </a:rPr>
              <a:t>HuatuoGPT-2</a:t>
            </a:r>
            <a:r>
              <a:rPr lang="en-US" sz="2400">
                <a:latin typeface="Times New Roman"/>
                <a:ea typeface="Times New Roman"/>
                <a:cs typeface="Times New Roman"/>
                <a:sym typeface="Times New Roman"/>
              </a:rPr>
              <a:t> ( 6 min)</a:t>
            </a:r>
            <a:endParaRPr/>
          </a:p>
          <a:p>
            <a:pPr marL="742913" lvl="1" indent="-285737" algn="l" rtl="0">
              <a:spcBef>
                <a:spcPts val="480"/>
              </a:spcBef>
              <a:spcAft>
                <a:spcPts val="0"/>
              </a:spcAft>
              <a:buSzPts val="2160"/>
              <a:buChar char="–"/>
            </a:pPr>
            <a:r>
              <a:rPr lang="en-US" sz="2400">
                <a:latin typeface="Times New Roman"/>
                <a:ea typeface="Times New Roman"/>
                <a:cs typeface="Times New Roman"/>
                <a:sym typeface="Times New Roman"/>
              </a:rPr>
              <a:t>HuatuoGPT-o1 ( 6 min)</a:t>
            </a:r>
            <a:endParaRPr/>
          </a:p>
          <a:p>
            <a:pPr marL="742913" lvl="1" indent="-285737" algn="l" rtl="0">
              <a:spcBef>
                <a:spcPts val="480"/>
              </a:spcBef>
              <a:spcAft>
                <a:spcPts val="0"/>
              </a:spcAft>
              <a:buSzPts val="2160"/>
              <a:buChar char="–"/>
            </a:pPr>
            <a:r>
              <a:rPr lang="en-US" sz="2400">
                <a:latin typeface="Times New Roman"/>
                <a:ea typeface="Times New Roman"/>
                <a:cs typeface="Times New Roman"/>
                <a:sym typeface="Times New Roman"/>
              </a:rPr>
              <a:t>HuatuoGPT-3 ( 6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Conclusions (1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Q &amp; A (5 min)</a:t>
            </a:r>
            <a:endParaRPr/>
          </a:p>
        </p:txBody>
      </p:sp>
      <p:sp>
        <p:nvSpPr>
          <p:cNvPr id="234" name="Google Shape;234;g3c2d40ae598_1_70"/>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3bca7b3d0bf_0_184"/>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a:p>
        </p:txBody>
      </p:sp>
      <p:sp>
        <p:nvSpPr>
          <p:cNvPr id="240" name="Google Shape;240;g3bca7b3d0bf_0_184"/>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HuatuoGPT-2: One-stage Training for Medical Adaption</a:t>
            </a:r>
            <a:endParaRPr sz="3300"/>
          </a:p>
        </p:txBody>
      </p:sp>
      <p:sp>
        <p:nvSpPr>
          <p:cNvPr id="241" name="Google Shape;241;g3bca7b3d0bf_0_184"/>
          <p:cNvSpPr txBox="1"/>
          <p:nvPr/>
        </p:nvSpPr>
        <p:spPr>
          <a:xfrm>
            <a:off x="1130525" y="1342800"/>
            <a:ext cx="6729600" cy="411900"/>
          </a:xfrm>
          <a:prstGeom prst="rect">
            <a:avLst/>
          </a:prstGeom>
          <a:noFill/>
          <a:ln>
            <a:noFill/>
          </a:ln>
        </p:spPr>
        <p:txBody>
          <a:bodyPr spcFirstLastPara="1" wrap="square" lIns="91425" tIns="90000" rIns="91425" bIns="91425" anchor="t" anchorCtr="0">
            <a:noAutofit/>
          </a:bodyPr>
          <a:lstStyle/>
          <a:p>
            <a:pPr marL="0" lvl="0" indent="0" algn="l" rtl="0">
              <a:spcBef>
                <a:spcPts val="0"/>
              </a:spcBef>
              <a:spcAft>
                <a:spcPts val="0"/>
              </a:spcAft>
              <a:buNone/>
            </a:pPr>
            <a:r>
              <a:rPr lang="en-US" sz="1800" b="1">
                <a:solidFill>
                  <a:srgbClr val="990099"/>
                </a:solidFill>
              </a:rPr>
              <a:t>Motivation</a:t>
            </a:r>
            <a:endParaRPr sz="1800" b="1">
              <a:solidFill>
                <a:srgbClr val="990099"/>
              </a:solidFill>
            </a:endParaRPr>
          </a:p>
        </p:txBody>
      </p:sp>
      <p:sp>
        <p:nvSpPr>
          <p:cNvPr id="242" name="Google Shape;242;g3bca7b3d0bf_0_184"/>
          <p:cNvSpPr txBox="1"/>
          <p:nvPr/>
        </p:nvSpPr>
        <p:spPr>
          <a:xfrm>
            <a:off x="1636725" y="4223400"/>
            <a:ext cx="8130300" cy="808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600">
                <a:solidFill>
                  <a:srgbClr val="000000"/>
                </a:solidFill>
              </a:rPr>
              <a:t>Traditional domain knowledge injection typically involves a two-stage process:</a:t>
            </a:r>
            <a:endParaRPr sz="1600">
              <a:solidFill>
                <a:srgbClr val="000000"/>
              </a:solidFill>
            </a:endParaRPr>
          </a:p>
          <a:p>
            <a:pPr marL="0" lvl="0" indent="0" algn="l" rtl="0">
              <a:lnSpc>
                <a:spcPct val="115000"/>
              </a:lnSpc>
              <a:spcBef>
                <a:spcPts val="0"/>
              </a:spcBef>
              <a:spcAft>
                <a:spcPts val="0"/>
              </a:spcAft>
              <a:buNone/>
            </a:pPr>
            <a:r>
              <a:rPr lang="en-US" sz="1600">
                <a:solidFill>
                  <a:srgbClr val="000000"/>
                </a:solidFill>
              </a:rPr>
              <a:t> (i) </a:t>
            </a:r>
            <a:r>
              <a:rPr lang="en-US" sz="1600" b="1">
                <a:solidFill>
                  <a:srgbClr val="000000"/>
                </a:solidFill>
              </a:rPr>
              <a:t>continued pre-training</a:t>
            </a:r>
            <a:r>
              <a:rPr lang="en-US" sz="1600">
                <a:solidFill>
                  <a:srgbClr val="000000"/>
                </a:solidFill>
              </a:rPr>
              <a:t> on noisy domain-specific corpora,</a:t>
            </a:r>
            <a:endParaRPr sz="1600"/>
          </a:p>
          <a:p>
            <a:pPr marL="0" lvl="0" indent="0" algn="l" rtl="0">
              <a:lnSpc>
                <a:spcPct val="115000"/>
              </a:lnSpc>
              <a:spcBef>
                <a:spcPts val="0"/>
              </a:spcBef>
              <a:spcAft>
                <a:spcPts val="0"/>
              </a:spcAft>
              <a:buNone/>
            </a:pPr>
            <a:r>
              <a:rPr lang="en-US" sz="1600">
                <a:solidFill>
                  <a:srgbClr val="000000"/>
                </a:solidFill>
              </a:rPr>
              <a:t>(ii)  followed by </a:t>
            </a:r>
            <a:r>
              <a:rPr lang="en-US" sz="1600" b="1">
                <a:solidFill>
                  <a:srgbClr val="000000"/>
                </a:solidFill>
              </a:rPr>
              <a:t>supervised fine-tuning</a:t>
            </a:r>
            <a:r>
              <a:rPr lang="en-US" sz="1600">
                <a:solidFill>
                  <a:srgbClr val="000000"/>
                </a:solidFill>
              </a:rPr>
              <a:t> with instruction datasets. </a:t>
            </a:r>
            <a:endParaRPr sz="1600">
              <a:solidFill>
                <a:srgbClr val="000000"/>
              </a:solidFill>
            </a:endParaRPr>
          </a:p>
          <a:p>
            <a:pPr marL="0" lvl="0" indent="0" algn="l" rtl="0">
              <a:lnSpc>
                <a:spcPct val="115000"/>
              </a:lnSpc>
              <a:spcBef>
                <a:spcPts val="0"/>
              </a:spcBef>
              <a:spcAft>
                <a:spcPts val="0"/>
              </a:spcAft>
              <a:buNone/>
            </a:pPr>
            <a:endParaRPr sz="1600">
              <a:solidFill>
                <a:srgbClr val="000000"/>
              </a:solidFill>
            </a:endParaRPr>
          </a:p>
          <a:p>
            <a:pPr marL="0" lvl="0" indent="0" algn="l" rtl="0">
              <a:lnSpc>
                <a:spcPct val="115000"/>
              </a:lnSpc>
              <a:spcBef>
                <a:spcPts val="0"/>
              </a:spcBef>
              <a:spcAft>
                <a:spcPts val="0"/>
              </a:spcAft>
              <a:buNone/>
            </a:pPr>
            <a:endParaRPr sz="1600">
              <a:solidFill>
                <a:srgbClr val="000000"/>
              </a:solidFill>
            </a:endParaRPr>
          </a:p>
        </p:txBody>
      </p:sp>
      <p:sp>
        <p:nvSpPr>
          <p:cNvPr id="243" name="Google Shape;243;g3bca7b3d0bf_0_184"/>
          <p:cNvSpPr txBox="1"/>
          <p:nvPr/>
        </p:nvSpPr>
        <p:spPr>
          <a:xfrm>
            <a:off x="445650" y="5430250"/>
            <a:ext cx="11746500" cy="585000"/>
          </a:xfrm>
          <a:prstGeom prst="rect">
            <a:avLst/>
          </a:prstGeom>
          <a:noFill/>
          <a:ln>
            <a:noFill/>
          </a:ln>
        </p:spPr>
        <p:txBody>
          <a:bodyPr spcFirstLastPara="1" wrap="square" lIns="91425" tIns="45700" rIns="91425" bIns="45700" anchor="ctr" anchorCtr="1">
            <a:spAutoFit/>
          </a:bodyPr>
          <a:lstStyle/>
          <a:p>
            <a:pPr marL="0" marR="0" lvl="0" indent="0" algn="ctr" rtl="0">
              <a:spcBef>
                <a:spcPts val="0"/>
              </a:spcBef>
              <a:spcAft>
                <a:spcPts val="0"/>
              </a:spcAft>
              <a:buNone/>
            </a:pPr>
            <a:r>
              <a:rPr lang="en-US" sz="1600" i="1">
                <a:solidFill>
                  <a:schemeClr val="dk1"/>
                </a:solidFill>
                <a:latin typeface="Times New Roman"/>
                <a:ea typeface="Times New Roman"/>
                <a:cs typeface="Times New Roman"/>
                <a:sym typeface="Times New Roman"/>
              </a:rPr>
              <a:t>This two-stage approach </a:t>
            </a:r>
            <a:r>
              <a:rPr lang="en-US" sz="1600" b="1" i="1">
                <a:solidFill>
                  <a:schemeClr val="dk1"/>
                </a:solidFill>
                <a:latin typeface="Times New Roman"/>
                <a:ea typeface="Times New Roman"/>
                <a:cs typeface="Times New Roman"/>
                <a:sym typeface="Times New Roman"/>
              </a:rPr>
              <a:t>introduces two-stage catastrophic forgetting and pipeline complexity</a:t>
            </a:r>
            <a:r>
              <a:rPr lang="en-US" sz="1600" i="1">
                <a:solidFill>
                  <a:schemeClr val="dk1"/>
                </a:solidFill>
                <a:latin typeface="Times New Roman"/>
                <a:ea typeface="Times New Roman"/>
                <a:cs typeface="Times New Roman"/>
                <a:sym typeface="Times New Roman"/>
              </a:rPr>
              <a:t>, limiting both effectiveness and efficiency.</a:t>
            </a:r>
            <a:endParaRPr sz="1600" i="1">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1600" i="1">
              <a:solidFill>
                <a:schemeClr val="dk1"/>
              </a:solidFill>
              <a:latin typeface="Times New Roman"/>
              <a:ea typeface="Times New Roman"/>
              <a:cs typeface="Times New Roman"/>
              <a:sym typeface="Times New Roman"/>
            </a:endParaRPr>
          </a:p>
        </p:txBody>
      </p:sp>
      <p:pic>
        <p:nvPicPr>
          <p:cNvPr id="244" name="Google Shape;244;g3bca7b3d0bf_0_184"/>
          <p:cNvPicPr preferRelativeResize="0"/>
          <p:nvPr/>
        </p:nvPicPr>
        <p:blipFill>
          <a:blip r:embed="rId3">
            <a:alphaModFix/>
          </a:blip>
          <a:stretch>
            <a:fillRect/>
          </a:stretch>
        </p:blipFill>
        <p:spPr>
          <a:xfrm>
            <a:off x="1898625" y="1996425"/>
            <a:ext cx="8130300" cy="1828339"/>
          </a:xfrm>
          <a:prstGeom prst="rect">
            <a:avLst/>
          </a:prstGeom>
          <a:noFill/>
          <a:ln>
            <a:noFill/>
          </a:ln>
        </p:spPr>
      </p:pic>
      <p:sp>
        <p:nvSpPr>
          <p:cNvPr id="245" name="Google Shape;245;g3bca7b3d0bf_0_184"/>
          <p:cNvSpPr txBox="1"/>
          <p:nvPr/>
        </p:nvSpPr>
        <p:spPr>
          <a:xfrm>
            <a:off x="167850" y="5906027"/>
            <a:ext cx="10594200" cy="618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hlink"/>
              </a:buClr>
              <a:buSzPts val="800"/>
              <a:buFont typeface="Noto Sans Symbols"/>
              <a:buNone/>
            </a:pPr>
            <a:r>
              <a:rPr lang="en-US" sz="1050">
                <a:solidFill>
                  <a:schemeClr val="dk1"/>
                </a:solidFill>
              </a:rPr>
              <a:t>[1] </a:t>
            </a:r>
            <a:r>
              <a:rPr lang="en-US" sz="1050" b="1">
                <a:solidFill>
                  <a:srgbClr val="666666"/>
                </a:solidFill>
              </a:rPr>
              <a:t>Junying Chen</a:t>
            </a:r>
            <a:r>
              <a:rPr lang="en-US" sz="1050">
                <a:solidFill>
                  <a:srgbClr val="666666"/>
                </a:solidFill>
              </a:rPr>
              <a:t>, Xidong Wang, et al. </a:t>
            </a:r>
            <a:r>
              <a:rPr lang="en-US" sz="1050" b="1">
                <a:solidFill>
                  <a:schemeClr val="dk1"/>
                </a:solidFill>
              </a:rPr>
              <a:t>HuatuoGPT-II, One-stage Training for Medical Adaption of LLMs. </a:t>
            </a:r>
            <a:r>
              <a:rPr lang="en-US" sz="1050">
                <a:solidFill>
                  <a:schemeClr val="dk1"/>
                </a:solidFill>
              </a:rPr>
              <a:t>COLM 2024.</a:t>
            </a:r>
            <a:endParaRPr sz="1050">
              <a:solidFill>
                <a:schemeClr val="dk1"/>
              </a:solidFill>
            </a:endParaRPr>
          </a:p>
          <a:p>
            <a:pPr marL="0" marR="0" lvl="0" indent="0" algn="l" rtl="0">
              <a:spcBef>
                <a:spcPts val="200"/>
              </a:spcBef>
              <a:spcAft>
                <a:spcPts val="0"/>
              </a:spcAft>
              <a:buClr>
                <a:srgbClr val="0000FF"/>
              </a:buClr>
              <a:buSzPts val="800"/>
              <a:buFont typeface="Noto Sans Symbols"/>
              <a:buNone/>
            </a:pPr>
            <a:endParaRPr sz="1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g3bca7b3d0bf_0_196"/>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sp>
        <p:nvSpPr>
          <p:cNvPr id="251" name="Google Shape;251;g3bca7b3d0bf_0_196"/>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HuatuoGPT-2: One-stage Training for Medical Adaption</a:t>
            </a:r>
            <a:endParaRPr sz="3300"/>
          </a:p>
        </p:txBody>
      </p:sp>
      <p:sp>
        <p:nvSpPr>
          <p:cNvPr id="252" name="Google Shape;252;g3bca7b3d0bf_0_196"/>
          <p:cNvSpPr txBox="1"/>
          <p:nvPr/>
        </p:nvSpPr>
        <p:spPr>
          <a:xfrm>
            <a:off x="1130525" y="1342800"/>
            <a:ext cx="6729600" cy="411900"/>
          </a:xfrm>
          <a:prstGeom prst="rect">
            <a:avLst/>
          </a:prstGeom>
          <a:noFill/>
          <a:ln>
            <a:noFill/>
          </a:ln>
        </p:spPr>
        <p:txBody>
          <a:bodyPr spcFirstLastPara="1" wrap="square" lIns="91425" tIns="90000" rIns="91425" bIns="91425" anchor="t" anchorCtr="0">
            <a:noAutofit/>
          </a:bodyPr>
          <a:lstStyle/>
          <a:p>
            <a:pPr marL="0" lvl="0" indent="0" algn="l" rtl="0">
              <a:spcBef>
                <a:spcPts val="0"/>
              </a:spcBef>
              <a:spcAft>
                <a:spcPts val="0"/>
              </a:spcAft>
              <a:buNone/>
            </a:pPr>
            <a:r>
              <a:rPr lang="en-US" sz="1800" b="1">
                <a:solidFill>
                  <a:srgbClr val="990099"/>
                </a:solidFill>
              </a:rPr>
              <a:t>Motivation</a:t>
            </a:r>
            <a:endParaRPr sz="1800" b="1">
              <a:solidFill>
                <a:srgbClr val="990099"/>
              </a:solidFill>
            </a:endParaRPr>
          </a:p>
        </p:txBody>
      </p:sp>
      <p:pic>
        <p:nvPicPr>
          <p:cNvPr id="253" name="Google Shape;253;g3bca7b3d0bf_0_196"/>
          <p:cNvPicPr preferRelativeResize="0"/>
          <p:nvPr/>
        </p:nvPicPr>
        <p:blipFill>
          <a:blip r:embed="rId3">
            <a:alphaModFix/>
          </a:blip>
          <a:stretch>
            <a:fillRect/>
          </a:stretch>
        </p:blipFill>
        <p:spPr>
          <a:xfrm>
            <a:off x="2410550" y="2496775"/>
            <a:ext cx="6697474" cy="1574500"/>
          </a:xfrm>
          <a:prstGeom prst="rect">
            <a:avLst/>
          </a:prstGeom>
          <a:noFill/>
          <a:ln>
            <a:noFill/>
          </a:ln>
        </p:spPr>
      </p:pic>
      <p:sp>
        <p:nvSpPr>
          <p:cNvPr id="254" name="Google Shape;254;g3bca7b3d0bf_0_196"/>
          <p:cNvSpPr txBox="1"/>
          <p:nvPr/>
        </p:nvSpPr>
        <p:spPr>
          <a:xfrm>
            <a:off x="1191600" y="4402213"/>
            <a:ext cx="8130300" cy="80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700">
                <a:solidFill>
                  <a:schemeClr val="dk1"/>
                </a:solidFill>
              </a:rPr>
              <a:t>To overcome this, we propose</a:t>
            </a:r>
            <a:r>
              <a:rPr lang="en-US" sz="1700">
                <a:solidFill>
                  <a:srgbClr val="990099"/>
                </a:solidFill>
              </a:rPr>
              <a:t> </a:t>
            </a:r>
            <a:r>
              <a:rPr lang="en-US" sz="1700" b="1">
                <a:solidFill>
                  <a:srgbClr val="990099"/>
                </a:solidFill>
              </a:rPr>
              <a:t>one-stage domain adaption</a:t>
            </a:r>
            <a:r>
              <a:rPr lang="en-US" sz="1700">
                <a:solidFill>
                  <a:schemeClr val="dk1"/>
                </a:solidFill>
              </a:rPr>
              <a:t>.</a:t>
            </a:r>
            <a:endParaRPr sz="2000">
              <a:solidFill>
                <a:srgbClr val="000000"/>
              </a:solidFill>
            </a:endParaRPr>
          </a:p>
        </p:txBody>
      </p:sp>
      <p:sp>
        <p:nvSpPr>
          <p:cNvPr id="255" name="Google Shape;255;g3bca7b3d0bf_0_196"/>
          <p:cNvSpPr txBox="1"/>
          <p:nvPr/>
        </p:nvSpPr>
        <p:spPr>
          <a:xfrm>
            <a:off x="1600125" y="5299563"/>
            <a:ext cx="8130300" cy="80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700">
                <a:solidFill>
                  <a:schemeClr val="dk1"/>
                </a:solidFill>
                <a:highlight>
                  <a:srgbClr val="FFF2CC"/>
                </a:highlight>
              </a:rPr>
              <a:t>Domain Pre-training + SFT →  One-stage SFT</a:t>
            </a:r>
            <a:endParaRPr sz="2000">
              <a:solidFill>
                <a:srgbClr val="000000"/>
              </a:solidFill>
              <a:highlight>
                <a:srgbClr val="FFF2CC"/>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bca7b3d0bf_0_209"/>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16</a:t>
            </a:fld>
            <a:endParaRPr/>
          </a:p>
        </p:txBody>
      </p:sp>
      <p:sp>
        <p:nvSpPr>
          <p:cNvPr id="261" name="Google Shape;261;g3bca7b3d0bf_0_209"/>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HuatuoGPT-2: One-stage Training for Medical Adaption</a:t>
            </a:r>
            <a:endParaRPr sz="3300"/>
          </a:p>
        </p:txBody>
      </p:sp>
      <p:sp>
        <p:nvSpPr>
          <p:cNvPr id="262" name="Google Shape;262;g3bca7b3d0bf_0_209"/>
          <p:cNvSpPr txBox="1"/>
          <p:nvPr/>
        </p:nvSpPr>
        <p:spPr>
          <a:xfrm>
            <a:off x="2377675" y="4548738"/>
            <a:ext cx="8130300" cy="80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t>The adaption process can be executed in two succinct steps: </a:t>
            </a:r>
            <a:endParaRPr sz="1600"/>
          </a:p>
          <a:p>
            <a:pPr marL="0" lvl="0" indent="0" algn="l" rtl="0">
              <a:spcBef>
                <a:spcPts val="0"/>
              </a:spcBef>
              <a:spcAft>
                <a:spcPts val="0"/>
              </a:spcAft>
              <a:buNone/>
            </a:pPr>
            <a:r>
              <a:rPr lang="en-US" sz="1600"/>
              <a:t>  1) </a:t>
            </a:r>
            <a:r>
              <a:rPr lang="en-US" sz="1600" b="1"/>
              <a:t>Data unification</a:t>
            </a:r>
            <a:r>
              <a:rPr lang="en-US" sz="1600"/>
              <a:t>   2) </a:t>
            </a:r>
            <a:r>
              <a:rPr lang="en-US" sz="1600" b="1"/>
              <a:t>One-stage training</a:t>
            </a:r>
            <a:endParaRPr sz="1600" b="1"/>
          </a:p>
          <a:p>
            <a:pPr marL="0" lvl="0" indent="0" algn="l" rtl="0">
              <a:spcBef>
                <a:spcPts val="0"/>
              </a:spcBef>
              <a:spcAft>
                <a:spcPts val="0"/>
              </a:spcAft>
              <a:buNone/>
            </a:pPr>
            <a:endParaRPr sz="1900">
              <a:solidFill>
                <a:schemeClr val="dk1"/>
              </a:solidFill>
            </a:endParaRPr>
          </a:p>
        </p:txBody>
      </p:sp>
      <p:pic>
        <p:nvPicPr>
          <p:cNvPr id="263" name="Google Shape;263;g3bca7b3d0bf_0_209"/>
          <p:cNvPicPr preferRelativeResize="0"/>
          <p:nvPr/>
        </p:nvPicPr>
        <p:blipFill>
          <a:blip r:embed="rId3">
            <a:alphaModFix/>
          </a:blip>
          <a:stretch>
            <a:fillRect/>
          </a:stretch>
        </p:blipFill>
        <p:spPr>
          <a:xfrm>
            <a:off x="1306150" y="2011663"/>
            <a:ext cx="8839204" cy="179114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bca7b3d0bf_0_219"/>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17</a:t>
            </a:fld>
            <a:endParaRPr/>
          </a:p>
        </p:txBody>
      </p:sp>
      <p:sp>
        <p:nvSpPr>
          <p:cNvPr id="269" name="Google Shape;269;g3bca7b3d0bf_0_219"/>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1. Data Unification</a:t>
            </a:r>
            <a:endParaRPr sz="3300"/>
          </a:p>
        </p:txBody>
      </p:sp>
      <p:sp>
        <p:nvSpPr>
          <p:cNvPr id="270" name="Google Shape;270;g3bca7b3d0bf_0_219"/>
          <p:cNvSpPr txBox="1"/>
          <p:nvPr/>
        </p:nvSpPr>
        <p:spPr>
          <a:xfrm>
            <a:off x="1520250" y="4157975"/>
            <a:ext cx="9151500" cy="80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chemeClr val="dk1"/>
                </a:solidFill>
              </a:rPr>
              <a:t>I. Data Unification </a:t>
            </a:r>
            <a:r>
              <a:rPr lang="en-US">
                <a:solidFill>
                  <a:schemeClr val="dk1"/>
                </a:solidFill>
              </a:rPr>
              <a:t>We employed the prowess of LLMs to converting large-scale unsupervised medical corpora into a consistent supervised (instruction, output)  pairs over 5 million medical documents:</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1) Language unification,  2) Genre and formality unification,  3) supervised (instruction, output) pairs</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latin typeface="Georgia"/>
                <a:ea typeface="Georgia"/>
                <a:cs typeface="Georgia"/>
                <a:sym typeface="Georgia"/>
              </a:rPr>
              <a:t>Here, we utilize ChatGPT as LLM for data unification, where all diverse and pre-training data were converted to easy-to-understand instructions with a consistent style.</a:t>
            </a:r>
            <a:endParaRPr>
              <a:solidFill>
                <a:schemeClr val="dk1"/>
              </a:solidFill>
            </a:endParaRPr>
          </a:p>
          <a:p>
            <a:pPr marL="0" lvl="0" indent="0" algn="l" rtl="0">
              <a:spcBef>
                <a:spcPts val="0"/>
              </a:spcBef>
              <a:spcAft>
                <a:spcPts val="0"/>
              </a:spcAft>
              <a:buNone/>
            </a:pPr>
            <a:endParaRPr sz="1600">
              <a:solidFill>
                <a:schemeClr val="dk1"/>
              </a:solidFill>
              <a:latin typeface="Georgia"/>
              <a:ea typeface="Georgia"/>
              <a:cs typeface="Georgia"/>
              <a:sym typeface="Georgia"/>
            </a:endParaRPr>
          </a:p>
          <a:p>
            <a:pPr marL="0" lvl="0" indent="0" algn="l" rtl="0">
              <a:spcBef>
                <a:spcPts val="0"/>
              </a:spcBef>
              <a:spcAft>
                <a:spcPts val="0"/>
              </a:spcAft>
              <a:buNone/>
            </a:pPr>
            <a:endParaRPr sz="1600"/>
          </a:p>
        </p:txBody>
      </p:sp>
      <p:pic>
        <p:nvPicPr>
          <p:cNvPr id="271" name="Google Shape;271;g3bca7b3d0bf_0_219"/>
          <p:cNvPicPr preferRelativeResize="0"/>
          <p:nvPr/>
        </p:nvPicPr>
        <p:blipFill>
          <a:blip r:embed="rId3">
            <a:alphaModFix/>
          </a:blip>
          <a:stretch>
            <a:fillRect/>
          </a:stretch>
        </p:blipFill>
        <p:spPr>
          <a:xfrm>
            <a:off x="2302925" y="1667475"/>
            <a:ext cx="6805100" cy="1605225"/>
          </a:xfrm>
          <a:prstGeom prst="rect">
            <a:avLst/>
          </a:prstGeom>
          <a:noFill/>
          <a:ln>
            <a:noFill/>
          </a:ln>
        </p:spPr>
      </p:pic>
      <p:sp>
        <p:nvSpPr>
          <p:cNvPr id="272" name="Google Shape;272;g3bca7b3d0bf_0_219"/>
          <p:cNvSpPr txBox="1"/>
          <p:nvPr/>
        </p:nvSpPr>
        <p:spPr>
          <a:xfrm>
            <a:off x="2377675" y="3170050"/>
            <a:ext cx="30699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atin typeface="Georgia"/>
                <a:ea typeface="Georgia"/>
                <a:cs typeface="Georgia"/>
                <a:sym typeface="Georgia"/>
              </a:rPr>
              <a:t>Chinese &amp; English  Medical Corpus </a:t>
            </a:r>
            <a:endParaRPr>
              <a:latin typeface="Georgia"/>
              <a:ea typeface="Georgia"/>
              <a:cs typeface="Georgia"/>
              <a:sym typeface="Georgia"/>
            </a:endParaRPr>
          </a:p>
          <a:p>
            <a:pPr marL="0" lvl="0" indent="0" algn="ctr" rtl="0">
              <a:spcBef>
                <a:spcPts val="0"/>
              </a:spcBef>
              <a:spcAft>
                <a:spcPts val="0"/>
              </a:spcAft>
              <a:buNone/>
            </a:pPr>
            <a:r>
              <a:rPr lang="en-US">
                <a:latin typeface="Georgia"/>
                <a:ea typeface="Georgia"/>
                <a:cs typeface="Georgia"/>
                <a:sym typeface="Georgia"/>
              </a:rPr>
              <a:t>(</a:t>
            </a:r>
            <a:r>
              <a:rPr lang="en-US" b="1">
                <a:latin typeface="Georgia"/>
                <a:ea typeface="Georgia"/>
                <a:cs typeface="Georgia"/>
                <a:sym typeface="Georgia"/>
              </a:rPr>
              <a:t>1.1TB Corpus</a:t>
            </a:r>
            <a:r>
              <a:rPr lang="en-US">
                <a:latin typeface="Georgia"/>
                <a:ea typeface="Georgia"/>
                <a:cs typeface="Georgia"/>
                <a:sym typeface="Georgia"/>
              </a:rPr>
              <a:t>)</a:t>
            </a:r>
            <a:endParaRPr>
              <a:latin typeface="Georgia"/>
              <a:ea typeface="Georgia"/>
              <a:cs typeface="Georgia"/>
              <a:sym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bca7b3d0bf_0_228"/>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18</a:t>
            </a:fld>
            <a:endParaRPr/>
          </a:p>
        </p:txBody>
      </p:sp>
      <p:sp>
        <p:nvSpPr>
          <p:cNvPr id="278" name="Google Shape;278;g3bca7b3d0bf_0_228"/>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2. One-stage Adaption</a:t>
            </a:r>
            <a:endParaRPr sz="3300"/>
          </a:p>
        </p:txBody>
      </p:sp>
      <p:sp>
        <p:nvSpPr>
          <p:cNvPr id="279" name="Google Shape;279;g3bca7b3d0bf_0_228"/>
          <p:cNvSpPr txBox="1"/>
          <p:nvPr/>
        </p:nvSpPr>
        <p:spPr>
          <a:xfrm>
            <a:off x="1347250" y="4649575"/>
            <a:ext cx="8902800" cy="80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chemeClr val="dk1"/>
                </a:solidFill>
              </a:rPr>
              <a:t>II. One-stage Adaption </a:t>
            </a:r>
            <a:endParaRPr b="1">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We introduce a </a:t>
            </a:r>
            <a:r>
              <a:rPr lang="en-US" b="1">
                <a:solidFill>
                  <a:schemeClr val="dk1"/>
                </a:solidFill>
              </a:rPr>
              <a:t>priority sampling strategy</a:t>
            </a:r>
            <a:r>
              <a:rPr lang="en-US">
                <a:solidFill>
                  <a:schemeClr val="dk1"/>
                </a:solidFill>
              </a:rPr>
              <a:t> in this study, aimed at enhancing the One-stage Adaption for  Medical Pre-training Instruction and Medical Fine-tuning Instruction, to enable the model to f</a:t>
            </a:r>
            <a:r>
              <a:rPr lang="en-US">
                <a:solidFill>
                  <a:srgbClr val="990099"/>
                </a:solidFill>
              </a:rPr>
              <a:t>irst learn domain capabilities and then gradually shift to instruction interaction learning.</a:t>
            </a:r>
            <a:endParaRPr>
              <a:solidFill>
                <a:srgbClr val="990099"/>
              </a:solidFill>
            </a:endParaRPr>
          </a:p>
          <a:p>
            <a:pPr marL="0" lvl="0" indent="0" algn="l" rtl="0">
              <a:spcBef>
                <a:spcPts val="0"/>
              </a:spcBef>
              <a:spcAft>
                <a:spcPts val="0"/>
              </a:spcAft>
              <a:buNone/>
            </a:pPr>
            <a:endParaRPr>
              <a:solidFill>
                <a:schemeClr val="dk1"/>
              </a:solidFill>
            </a:endParaRPr>
          </a:p>
        </p:txBody>
      </p:sp>
      <p:pic>
        <p:nvPicPr>
          <p:cNvPr id="280" name="Google Shape;280;g3bca7b3d0bf_0_228"/>
          <p:cNvPicPr preferRelativeResize="0"/>
          <p:nvPr/>
        </p:nvPicPr>
        <p:blipFill>
          <a:blip r:embed="rId3">
            <a:alphaModFix/>
          </a:blip>
          <a:stretch>
            <a:fillRect/>
          </a:stretch>
        </p:blipFill>
        <p:spPr>
          <a:xfrm>
            <a:off x="1284050" y="1869825"/>
            <a:ext cx="4944476" cy="2292725"/>
          </a:xfrm>
          <a:prstGeom prst="rect">
            <a:avLst/>
          </a:prstGeom>
          <a:noFill/>
          <a:ln>
            <a:noFill/>
          </a:ln>
        </p:spPr>
      </p:pic>
      <p:pic>
        <p:nvPicPr>
          <p:cNvPr id="281" name="Google Shape;281;g3bca7b3d0bf_0_228"/>
          <p:cNvPicPr preferRelativeResize="0"/>
          <p:nvPr/>
        </p:nvPicPr>
        <p:blipFill>
          <a:blip r:embed="rId4">
            <a:alphaModFix/>
          </a:blip>
          <a:stretch>
            <a:fillRect/>
          </a:stretch>
        </p:blipFill>
        <p:spPr>
          <a:xfrm>
            <a:off x="6891833" y="1737280"/>
            <a:ext cx="3054891" cy="879874"/>
          </a:xfrm>
          <a:prstGeom prst="rect">
            <a:avLst/>
          </a:prstGeom>
          <a:noFill/>
          <a:ln>
            <a:noFill/>
          </a:ln>
        </p:spPr>
      </p:pic>
      <p:sp>
        <p:nvSpPr>
          <p:cNvPr id="282" name="Google Shape;282;g3bca7b3d0bf_0_228"/>
          <p:cNvSpPr txBox="1"/>
          <p:nvPr/>
        </p:nvSpPr>
        <p:spPr>
          <a:xfrm>
            <a:off x="6832400" y="1234000"/>
            <a:ext cx="3417600" cy="372300"/>
          </a:xfrm>
          <a:prstGeom prst="rect">
            <a:avLst/>
          </a:prstGeom>
          <a:noFill/>
          <a:ln>
            <a:noFill/>
          </a:ln>
        </p:spPr>
        <p:txBody>
          <a:bodyPr spcFirstLastPara="1" wrap="square" lIns="85025" tIns="85025" rIns="85025" bIns="85025" anchor="t" anchorCtr="0">
            <a:spAutoFit/>
          </a:bodyPr>
          <a:lstStyle/>
          <a:p>
            <a:pPr marL="0" lvl="0" indent="0" algn="l" rtl="0">
              <a:spcBef>
                <a:spcPts val="0"/>
              </a:spcBef>
              <a:spcAft>
                <a:spcPts val="0"/>
              </a:spcAft>
              <a:buNone/>
            </a:pPr>
            <a:r>
              <a:rPr lang="en-US" sz="1302" b="1">
                <a:solidFill>
                  <a:srgbClr val="990099"/>
                </a:solidFill>
                <a:latin typeface="Georgia"/>
                <a:ea typeface="Georgia"/>
                <a:cs typeface="Georgia"/>
                <a:sym typeface="Georgia"/>
              </a:rPr>
              <a:t>The sampling probability:</a:t>
            </a:r>
            <a:endParaRPr sz="1302" b="1">
              <a:solidFill>
                <a:srgbClr val="990099"/>
              </a:solidFill>
              <a:latin typeface="Georgia"/>
              <a:ea typeface="Georgia"/>
              <a:cs typeface="Georgia"/>
              <a:sym typeface="Georgia"/>
            </a:endParaRPr>
          </a:p>
        </p:txBody>
      </p:sp>
      <p:pic>
        <p:nvPicPr>
          <p:cNvPr id="283" name="Google Shape;283;g3bca7b3d0bf_0_228"/>
          <p:cNvPicPr preferRelativeResize="0"/>
          <p:nvPr/>
        </p:nvPicPr>
        <p:blipFill>
          <a:blip r:embed="rId5">
            <a:alphaModFix/>
          </a:blip>
          <a:stretch>
            <a:fillRect/>
          </a:stretch>
        </p:blipFill>
        <p:spPr>
          <a:xfrm>
            <a:off x="7327236" y="2968243"/>
            <a:ext cx="2281535" cy="614448"/>
          </a:xfrm>
          <a:prstGeom prst="rect">
            <a:avLst/>
          </a:prstGeom>
          <a:noFill/>
          <a:ln>
            <a:noFill/>
          </a:ln>
        </p:spPr>
      </p:pic>
      <p:sp>
        <p:nvSpPr>
          <p:cNvPr id="284" name="Google Shape;284;g3bca7b3d0bf_0_228"/>
          <p:cNvSpPr txBox="1"/>
          <p:nvPr/>
        </p:nvSpPr>
        <p:spPr>
          <a:xfrm>
            <a:off x="6925458" y="2748201"/>
            <a:ext cx="3417600" cy="372300"/>
          </a:xfrm>
          <a:prstGeom prst="rect">
            <a:avLst/>
          </a:prstGeom>
          <a:noFill/>
          <a:ln>
            <a:noFill/>
          </a:ln>
        </p:spPr>
        <p:txBody>
          <a:bodyPr spcFirstLastPara="1" wrap="square" lIns="85025" tIns="85025" rIns="85025" bIns="85025" anchor="t" anchorCtr="0">
            <a:spAutoFit/>
          </a:bodyPr>
          <a:lstStyle/>
          <a:p>
            <a:pPr marL="0" lvl="0" indent="0" algn="l" rtl="0">
              <a:spcBef>
                <a:spcPts val="0"/>
              </a:spcBef>
              <a:spcAft>
                <a:spcPts val="0"/>
              </a:spcAft>
              <a:buNone/>
            </a:pPr>
            <a:r>
              <a:rPr lang="en-US" sz="1302" b="1">
                <a:solidFill>
                  <a:srgbClr val="990099"/>
                </a:solidFill>
                <a:latin typeface="Georgia"/>
                <a:ea typeface="Georgia"/>
                <a:cs typeface="Georgia"/>
                <a:sym typeface="Georgia"/>
              </a:rPr>
              <a:t>Smooth shift Adjustment :</a:t>
            </a:r>
            <a:endParaRPr sz="1302" b="1">
              <a:solidFill>
                <a:srgbClr val="990099"/>
              </a:solidFill>
              <a:latin typeface="Georgia"/>
              <a:ea typeface="Georgia"/>
              <a:cs typeface="Georgia"/>
              <a:sym typeface="Georgia"/>
            </a:endParaRPr>
          </a:p>
        </p:txBody>
      </p:sp>
      <p:pic>
        <p:nvPicPr>
          <p:cNvPr id="285" name="Google Shape;285;g3bca7b3d0bf_0_228"/>
          <p:cNvPicPr preferRelativeResize="0"/>
          <p:nvPr/>
        </p:nvPicPr>
        <p:blipFill>
          <a:blip r:embed="rId6">
            <a:alphaModFix/>
          </a:blip>
          <a:stretch>
            <a:fillRect/>
          </a:stretch>
        </p:blipFill>
        <p:spPr>
          <a:xfrm>
            <a:off x="7101362" y="3574970"/>
            <a:ext cx="3054888" cy="73570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g3bca7b3d0bf_0_247"/>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19</a:t>
            </a:fld>
            <a:endParaRPr/>
          </a:p>
        </p:txBody>
      </p:sp>
      <p:sp>
        <p:nvSpPr>
          <p:cNvPr id="291" name="Google Shape;291;g3bca7b3d0bf_0_247"/>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HuatuoGPT-2 Experiment</a:t>
            </a:r>
            <a:endParaRPr sz="3300"/>
          </a:p>
        </p:txBody>
      </p:sp>
      <p:sp>
        <p:nvSpPr>
          <p:cNvPr id="292" name="Google Shape;292;g3bca7b3d0bf_0_247"/>
          <p:cNvSpPr txBox="1"/>
          <p:nvPr/>
        </p:nvSpPr>
        <p:spPr>
          <a:xfrm>
            <a:off x="1885000" y="4505550"/>
            <a:ext cx="9044400" cy="52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500">
                <a:solidFill>
                  <a:schemeClr val="dk1"/>
                </a:solidFill>
              </a:rPr>
              <a:t>Experiments demonstrate that the "One-stage Adaption" approach is particularly effective, significantly outperforming traditional continued pre-training methods (Pre-training + SFT).</a:t>
            </a:r>
            <a:endParaRPr sz="1500">
              <a:solidFill>
                <a:schemeClr val="dk1"/>
              </a:solidFill>
            </a:endParaRPr>
          </a:p>
          <a:p>
            <a:pPr marL="0" lvl="0" indent="0" algn="l" rtl="0">
              <a:spcBef>
                <a:spcPts val="0"/>
              </a:spcBef>
              <a:spcAft>
                <a:spcPts val="0"/>
              </a:spcAft>
              <a:buClr>
                <a:srgbClr val="000000"/>
              </a:buClr>
              <a:buSzPts val="1100"/>
              <a:buFont typeface="Arial"/>
              <a:buNone/>
            </a:pPr>
            <a:endParaRPr sz="1600" b="1"/>
          </a:p>
        </p:txBody>
      </p:sp>
      <p:pic>
        <p:nvPicPr>
          <p:cNvPr id="293" name="Google Shape;293;g3bca7b3d0bf_0_247"/>
          <p:cNvPicPr preferRelativeResize="0"/>
          <p:nvPr/>
        </p:nvPicPr>
        <p:blipFill>
          <a:blip r:embed="rId3">
            <a:alphaModFix/>
          </a:blip>
          <a:stretch>
            <a:fillRect/>
          </a:stretch>
        </p:blipFill>
        <p:spPr>
          <a:xfrm>
            <a:off x="1786037" y="1814600"/>
            <a:ext cx="8324623" cy="2288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g3bca7b3d0bf_0_260"/>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20</a:t>
            </a:fld>
            <a:endParaRPr/>
          </a:p>
        </p:txBody>
      </p:sp>
      <p:sp>
        <p:nvSpPr>
          <p:cNvPr id="299" name="Google Shape;299;g3bca7b3d0bf_0_260"/>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HuatuoGPT-2 Performance</a:t>
            </a:r>
            <a:endParaRPr sz="3300"/>
          </a:p>
        </p:txBody>
      </p:sp>
      <p:sp>
        <p:nvSpPr>
          <p:cNvPr id="300" name="Google Shape;300;g3bca7b3d0bf_0_260"/>
          <p:cNvSpPr txBox="1"/>
          <p:nvPr/>
        </p:nvSpPr>
        <p:spPr>
          <a:xfrm>
            <a:off x="1885000" y="4505550"/>
            <a:ext cx="9044400" cy="52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500">
                <a:solidFill>
                  <a:schemeClr val="dk1"/>
                </a:solidFill>
              </a:rPr>
              <a:t>Experiments demonstrate that the "One-stage Adaption" approach is particularly effective, significantly outperforming traditional continued pre-training methods (Pre-training + SFT).</a:t>
            </a:r>
            <a:endParaRPr sz="1500">
              <a:solidFill>
                <a:schemeClr val="dk1"/>
              </a:solidFill>
            </a:endParaRPr>
          </a:p>
          <a:p>
            <a:pPr marL="0" lvl="0" indent="0" algn="l" rtl="0">
              <a:spcBef>
                <a:spcPts val="0"/>
              </a:spcBef>
              <a:spcAft>
                <a:spcPts val="0"/>
              </a:spcAft>
              <a:buClr>
                <a:srgbClr val="000000"/>
              </a:buClr>
              <a:buSzPts val="1100"/>
              <a:buFont typeface="Arial"/>
              <a:buNone/>
            </a:pPr>
            <a:endParaRPr sz="1600" b="1"/>
          </a:p>
        </p:txBody>
      </p:sp>
      <p:pic>
        <p:nvPicPr>
          <p:cNvPr id="301" name="Google Shape;301;g3bca7b3d0bf_0_260"/>
          <p:cNvPicPr preferRelativeResize="0"/>
          <p:nvPr/>
        </p:nvPicPr>
        <p:blipFill>
          <a:blip r:embed="rId3">
            <a:alphaModFix/>
          </a:blip>
          <a:stretch>
            <a:fillRect/>
          </a:stretch>
        </p:blipFill>
        <p:spPr>
          <a:xfrm>
            <a:off x="2050800" y="1524250"/>
            <a:ext cx="8290849" cy="2639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g3bca7b3d0bf_0_269"/>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21</a:t>
            </a:fld>
            <a:endParaRPr/>
          </a:p>
        </p:txBody>
      </p:sp>
      <p:sp>
        <p:nvSpPr>
          <p:cNvPr id="307" name="Google Shape;307;g3bca7b3d0bf_0_269"/>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HuatuoGPT-2 Pass the National Pharmacist Examination</a:t>
            </a:r>
            <a:endParaRPr sz="3300"/>
          </a:p>
        </p:txBody>
      </p:sp>
      <p:sp>
        <p:nvSpPr>
          <p:cNvPr id="308" name="Google Shape;308;g3bca7b3d0bf_0_269"/>
          <p:cNvSpPr txBox="1"/>
          <p:nvPr/>
        </p:nvSpPr>
        <p:spPr>
          <a:xfrm>
            <a:off x="1195250" y="5525673"/>
            <a:ext cx="10381200" cy="45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US" sz="1500">
                <a:solidFill>
                  <a:srgbClr val="990099"/>
                </a:solidFill>
              </a:rPr>
              <a:t>Even in the 2024 pharmacist exam one year later, the HuatuoGPT-2 can still pass the exam with a high score of 68.4.</a:t>
            </a:r>
            <a:endParaRPr sz="1500">
              <a:solidFill>
                <a:srgbClr val="990099"/>
              </a:solidFill>
            </a:endParaRPr>
          </a:p>
          <a:p>
            <a:pPr marL="0" lvl="0" indent="0" algn="l" rtl="0">
              <a:spcBef>
                <a:spcPts val="0"/>
              </a:spcBef>
              <a:spcAft>
                <a:spcPts val="0"/>
              </a:spcAft>
              <a:buClr>
                <a:srgbClr val="000000"/>
              </a:buClr>
              <a:buSzPts val="1100"/>
              <a:buFont typeface="Arial"/>
              <a:buNone/>
            </a:pPr>
            <a:endParaRPr sz="1500">
              <a:solidFill>
                <a:srgbClr val="990099"/>
              </a:solidFill>
            </a:endParaRPr>
          </a:p>
        </p:txBody>
      </p:sp>
      <p:pic>
        <p:nvPicPr>
          <p:cNvPr id="309" name="Google Shape;309;g3bca7b3d0bf_0_269"/>
          <p:cNvPicPr preferRelativeResize="0"/>
          <p:nvPr/>
        </p:nvPicPr>
        <p:blipFill>
          <a:blip r:embed="rId3">
            <a:alphaModFix/>
          </a:blip>
          <a:stretch>
            <a:fillRect/>
          </a:stretch>
        </p:blipFill>
        <p:spPr>
          <a:xfrm>
            <a:off x="1979146" y="1546700"/>
            <a:ext cx="8068956" cy="2446862"/>
          </a:xfrm>
          <a:prstGeom prst="rect">
            <a:avLst/>
          </a:prstGeom>
          <a:noFill/>
          <a:ln>
            <a:noFill/>
          </a:ln>
        </p:spPr>
      </p:pic>
      <p:pic>
        <p:nvPicPr>
          <p:cNvPr id="310" name="Google Shape;310;g3bca7b3d0bf_0_269"/>
          <p:cNvPicPr preferRelativeResize="0"/>
          <p:nvPr/>
        </p:nvPicPr>
        <p:blipFill>
          <a:blip r:embed="rId4">
            <a:alphaModFix/>
          </a:blip>
          <a:stretch>
            <a:fillRect/>
          </a:stretch>
        </p:blipFill>
        <p:spPr>
          <a:xfrm>
            <a:off x="3263525" y="4719723"/>
            <a:ext cx="5107078" cy="797350"/>
          </a:xfrm>
          <a:prstGeom prst="rect">
            <a:avLst/>
          </a:prstGeom>
          <a:noFill/>
          <a:ln>
            <a:noFill/>
          </a:ln>
        </p:spPr>
      </p:pic>
      <p:sp>
        <p:nvSpPr>
          <p:cNvPr id="311" name="Google Shape;311;g3bca7b3d0bf_0_269"/>
          <p:cNvSpPr txBox="1"/>
          <p:nvPr/>
        </p:nvSpPr>
        <p:spPr>
          <a:xfrm>
            <a:off x="1726200" y="4169483"/>
            <a:ext cx="9044400" cy="52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US" sz="1500">
                <a:solidFill>
                  <a:srgbClr val="990099"/>
                </a:solidFill>
              </a:rPr>
              <a:t>Notably, the 34B model is the first to pass the 2023 Chinese National Pharmacist Licensure Examination.</a:t>
            </a:r>
            <a:endParaRPr sz="1500">
              <a:solidFill>
                <a:srgbClr val="990099"/>
              </a:solidFill>
            </a:endParaRPr>
          </a:p>
          <a:p>
            <a:pPr marL="0" lvl="0" indent="0" algn="l" rtl="0">
              <a:spcBef>
                <a:spcPts val="0"/>
              </a:spcBef>
              <a:spcAft>
                <a:spcPts val="0"/>
              </a:spcAft>
              <a:buClr>
                <a:srgbClr val="000000"/>
              </a:buClr>
              <a:buSzPts val="1100"/>
              <a:buFont typeface="Arial"/>
              <a:buNone/>
            </a:pPr>
            <a:endParaRPr sz="1500">
              <a:solidFill>
                <a:srgbClr val="99009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c2d40ae598_1_77"/>
          <p:cNvSpPr txBox="1">
            <a:spLocks noGrp="1"/>
          </p:cNvSpPr>
          <p:nvPr>
            <p:ph type="title"/>
          </p:nvPr>
        </p:nvSpPr>
        <p:spPr>
          <a:xfrm>
            <a:off x="1296610" y="144466"/>
            <a:ext cx="102711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Outline</a:t>
            </a:r>
            <a:endParaRPr/>
          </a:p>
        </p:txBody>
      </p:sp>
      <p:sp>
        <p:nvSpPr>
          <p:cNvPr id="318" name="Google Shape;318;g3c2d40ae598_1_77"/>
          <p:cNvSpPr txBox="1">
            <a:spLocks noGrp="1"/>
          </p:cNvSpPr>
          <p:nvPr>
            <p:ph type="body" idx="1"/>
          </p:nvPr>
        </p:nvSpPr>
        <p:spPr>
          <a:xfrm>
            <a:off x="1296535" y="1455337"/>
            <a:ext cx="10271100" cy="3560700"/>
          </a:xfrm>
          <a:prstGeom prst="rect">
            <a:avLst/>
          </a:prstGeom>
          <a:noFill/>
          <a:ln>
            <a:noFill/>
          </a:ln>
        </p:spPr>
        <p:txBody>
          <a:bodyPr spcFirstLastPara="1" wrap="square" lIns="91425" tIns="45700" rIns="91425" bIns="45700" anchor="t" anchorCtr="0">
            <a:noAutofit/>
          </a:bodyPr>
          <a:lstStyle/>
          <a:p>
            <a:pPr marL="342882" lvl="0" indent="-342882" algn="l" rtl="0">
              <a:spcBef>
                <a:spcPts val="0"/>
              </a:spcBef>
              <a:spcAft>
                <a:spcPts val="0"/>
              </a:spcAft>
              <a:buSzPts val="2346"/>
              <a:buChar char="●"/>
            </a:pPr>
            <a:r>
              <a:rPr lang="en-US" sz="2933">
                <a:latin typeface="Times New Roman"/>
                <a:ea typeface="Times New Roman"/>
                <a:cs typeface="Times New Roman"/>
                <a:sym typeface="Times New Roman"/>
              </a:rPr>
              <a:t>Background (3 min)</a:t>
            </a:r>
            <a:endParaRPr sz="2933">
              <a:latin typeface="Times New Roman"/>
              <a:ea typeface="Times New Roman"/>
              <a:cs typeface="Times New Roman"/>
              <a:sym typeface="Times New Roman"/>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Motivation (3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Proposed Methods &amp; Performance Evaluation (18 min)</a:t>
            </a:r>
            <a:endParaRPr/>
          </a:p>
          <a:p>
            <a:pPr marL="742913" lvl="1" indent="-285737" algn="l" rtl="0">
              <a:spcBef>
                <a:spcPts val="480"/>
              </a:spcBef>
              <a:spcAft>
                <a:spcPts val="0"/>
              </a:spcAft>
              <a:buSzPts val="2160"/>
              <a:buChar char="–"/>
            </a:pPr>
            <a:r>
              <a:rPr lang="en-US" sz="2400">
                <a:latin typeface="Times New Roman"/>
                <a:ea typeface="Times New Roman"/>
                <a:cs typeface="Times New Roman"/>
                <a:sym typeface="Times New Roman"/>
              </a:rPr>
              <a:t>HuatuoGPT-2 ( 6 min)</a:t>
            </a:r>
            <a:endParaRPr/>
          </a:p>
          <a:p>
            <a:pPr marL="742913" lvl="1" indent="-285737" algn="l" rtl="0">
              <a:spcBef>
                <a:spcPts val="480"/>
              </a:spcBef>
              <a:spcAft>
                <a:spcPts val="0"/>
              </a:spcAft>
              <a:buSzPts val="2160"/>
              <a:buChar char="–"/>
            </a:pPr>
            <a:r>
              <a:rPr lang="en-US" sz="2400">
                <a:solidFill>
                  <a:srgbClr val="FF0000"/>
                </a:solidFill>
                <a:latin typeface="Times New Roman"/>
                <a:ea typeface="Times New Roman"/>
                <a:cs typeface="Times New Roman"/>
                <a:sym typeface="Times New Roman"/>
              </a:rPr>
              <a:t>HuatuoGPT-o1</a:t>
            </a:r>
            <a:r>
              <a:rPr lang="en-US" sz="2400">
                <a:latin typeface="Times New Roman"/>
                <a:ea typeface="Times New Roman"/>
                <a:cs typeface="Times New Roman"/>
                <a:sym typeface="Times New Roman"/>
              </a:rPr>
              <a:t> ( 6 min)</a:t>
            </a:r>
            <a:endParaRPr/>
          </a:p>
          <a:p>
            <a:pPr marL="742913" lvl="1" indent="-285737" algn="l" rtl="0">
              <a:spcBef>
                <a:spcPts val="480"/>
              </a:spcBef>
              <a:spcAft>
                <a:spcPts val="0"/>
              </a:spcAft>
              <a:buSzPts val="2160"/>
              <a:buChar char="–"/>
            </a:pPr>
            <a:r>
              <a:rPr lang="en-US" sz="2400">
                <a:latin typeface="Times New Roman"/>
                <a:ea typeface="Times New Roman"/>
                <a:cs typeface="Times New Roman"/>
                <a:sym typeface="Times New Roman"/>
              </a:rPr>
              <a:t>HuatuoGPT-3 ( 6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Conclusions (1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Q &amp; A (5 min)</a:t>
            </a:r>
            <a:endParaRPr/>
          </a:p>
        </p:txBody>
      </p:sp>
      <p:sp>
        <p:nvSpPr>
          <p:cNvPr id="319" name="Google Shape;319;g3c2d40ae598_1_77"/>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g3bca7b3d0bf_0_288"/>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23</a:t>
            </a:fld>
            <a:endParaRPr/>
          </a:p>
        </p:txBody>
      </p:sp>
      <p:sp>
        <p:nvSpPr>
          <p:cNvPr id="325" name="Google Shape;325;g3bca7b3d0bf_0_288"/>
          <p:cNvSpPr txBox="1">
            <a:spLocks noGrp="1"/>
          </p:cNvSpPr>
          <p:nvPr>
            <p:ph type="title"/>
          </p:nvPr>
        </p:nvSpPr>
        <p:spPr>
          <a:xfrm>
            <a:off x="1130526" y="152850"/>
            <a:ext cx="115695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HuatuoGPT-o1: Towards Medical Complex Reasoning </a:t>
            </a:r>
            <a:endParaRPr sz="3300"/>
          </a:p>
        </p:txBody>
      </p:sp>
      <p:sp>
        <p:nvSpPr>
          <p:cNvPr id="326" name="Google Shape;326;g3bca7b3d0bf_0_288"/>
          <p:cNvSpPr txBox="1"/>
          <p:nvPr/>
        </p:nvSpPr>
        <p:spPr>
          <a:xfrm>
            <a:off x="1039713" y="1148450"/>
            <a:ext cx="8019600" cy="490800"/>
          </a:xfrm>
          <a:prstGeom prst="rect">
            <a:avLst/>
          </a:prstGeom>
          <a:noFill/>
          <a:ln>
            <a:noFill/>
          </a:ln>
        </p:spPr>
        <p:txBody>
          <a:bodyPr spcFirstLastPara="1" wrap="square" lIns="108950" tIns="107250" rIns="108950" bIns="108950" anchor="t" anchorCtr="0">
            <a:noAutofit/>
          </a:bodyPr>
          <a:lstStyle/>
          <a:p>
            <a:pPr marL="0" lvl="0" indent="0" algn="l" rtl="0">
              <a:spcBef>
                <a:spcPts val="0"/>
              </a:spcBef>
              <a:spcAft>
                <a:spcPts val="0"/>
              </a:spcAft>
              <a:buNone/>
            </a:pPr>
            <a:r>
              <a:rPr lang="en-US" sz="2025" b="1">
                <a:solidFill>
                  <a:srgbClr val="990099"/>
                </a:solidFill>
              </a:rPr>
              <a:t>Background 1</a:t>
            </a:r>
            <a:endParaRPr sz="2025" b="1">
              <a:solidFill>
                <a:srgbClr val="990099"/>
              </a:solidFill>
            </a:endParaRPr>
          </a:p>
        </p:txBody>
      </p:sp>
      <p:sp>
        <p:nvSpPr>
          <p:cNvPr id="327" name="Google Shape;327;g3bca7b3d0bf_0_288"/>
          <p:cNvSpPr txBox="1"/>
          <p:nvPr/>
        </p:nvSpPr>
        <p:spPr>
          <a:xfrm>
            <a:off x="1039713" y="1607648"/>
            <a:ext cx="9438300" cy="660300"/>
          </a:xfrm>
          <a:prstGeom prst="rect">
            <a:avLst/>
          </a:prstGeom>
          <a:noFill/>
          <a:ln>
            <a:noFill/>
          </a:ln>
        </p:spPr>
        <p:txBody>
          <a:bodyPr spcFirstLastPara="1" wrap="square" lIns="108950" tIns="108950" rIns="108950" bIns="108950" anchor="t" anchorCtr="0">
            <a:spAutoFit/>
          </a:bodyPr>
          <a:lstStyle/>
          <a:p>
            <a:pPr marL="0" lvl="0" indent="0" algn="l" rtl="0">
              <a:spcBef>
                <a:spcPts val="0"/>
              </a:spcBef>
              <a:spcAft>
                <a:spcPts val="0"/>
              </a:spcAft>
              <a:buNone/>
            </a:pPr>
            <a:r>
              <a:rPr lang="en-US" sz="1430"/>
              <a:t>By September 2024, the release of </a:t>
            </a:r>
            <a:r>
              <a:rPr lang="en-US" sz="1430" b="1"/>
              <a:t>OpenAI o1</a:t>
            </a:r>
            <a:r>
              <a:rPr lang="en-US" sz="1430"/>
              <a:t> has marked a </a:t>
            </a:r>
            <a:r>
              <a:rPr lang="en-US" sz="1430">
                <a:solidFill>
                  <a:srgbClr val="000000"/>
                </a:solidFill>
              </a:rPr>
              <a:t>significant</a:t>
            </a:r>
            <a:r>
              <a:rPr lang="en-US" sz="1430"/>
              <a:t> milestone in LLM development, showcasing impressive capabilities.</a:t>
            </a:r>
            <a:endParaRPr sz="1668"/>
          </a:p>
        </p:txBody>
      </p:sp>
      <p:pic>
        <p:nvPicPr>
          <p:cNvPr id="328" name="Google Shape;328;g3bca7b3d0bf_0_288"/>
          <p:cNvPicPr preferRelativeResize="0"/>
          <p:nvPr/>
        </p:nvPicPr>
        <p:blipFill rotWithShape="1">
          <a:blip r:embed="rId3">
            <a:alphaModFix/>
          </a:blip>
          <a:srcRect/>
          <a:stretch/>
        </p:blipFill>
        <p:spPr>
          <a:xfrm>
            <a:off x="2789835" y="2209667"/>
            <a:ext cx="3060642" cy="1560976"/>
          </a:xfrm>
          <a:prstGeom prst="rect">
            <a:avLst/>
          </a:prstGeom>
          <a:noFill/>
          <a:ln>
            <a:noFill/>
          </a:ln>
        </p:spPr>
      </p:pic>
      <p:sp>
        <p:nvSpPr>
          <p:cNvPr id="329" name="Google Shape;329;g3bca7b3d0bf_0_288"/>
          <p:cNvSpPr txBox="1"/>
          <p:nvPr/>
        </p:nvSpPr>
        <p:spPr>
          <a:xfrm>
            <a:off x="5908221" y="2700281"/>
            <a:ext cx="3397800" cy="442200"/>
          </a:xfrm>
          <a:prstGeom prst="rect">
            <a:avLst/>
          </a:prstGeom>
          <a:noFill/>
          <a:ln>
            <a:noFill/>
          </a:ln>
        </p:spPr>
        <p:txBody>
          <a:bodyPr spcFirstLastPara="1" wrap="square" lIns="0" tIns="40400" rIns="0" bIns="0" anchor="t" anchorCtr="0">
            <a:spAutoFit/>
          </a:bodyPr>
          <a:lstStyle/>
          <a:p>
            <a:pPr marL="438894" lvl="0" indent="-317819" algn="l" rtl="0">
              <a:lnSpc>
                <a:spcPct val="91200"/>
              </a:lnSpc>
              <a:spcBef>
                <a:spcPts val="0"/>
              </a:spcBef>
              <a:spcAft>
                <a:spcPts val="0"/>
              </a:spcAft>
              <a:buClr>
                <a:srgbClr val="990099"/>
              </a:buClr>
              <a:buSzPts val="1430"/>
              <a:buChar char="•"/>
            </a:pPr>
            <a:r>
              <a:rPr lang="en-US" sz="1430">
                <a:solidFill>
                  <a:srgbClr val="990099"/>
                </a:solidFill>
              </a:rPr>
              <a:t>Better performance in Math / Code / Science than gpt4o</a:t>
            </a:r>
            <a:endParaRPr sz="1430">
              <a:solidFill>
                <a:srgbClr val="990099"/>
              </a:solidFill>
            </a:endParaRPr>
          </a:p>
        </p:txBody>
      </p:sp>
      <p:pic>
        <p:nvPicPr>
          <p:cNvPr id="330" name="Google Shape;330;g3bca7b3d0bf_0_288"/>
          <p:cNvPicPr preferRelativeResize="0"/>
          <p:nvPr/>
        </p:nvPicPr>
        <p:blipFill>
          <a:blip r:embed="rId4">
            <a:alphaModFix/>
          </a:blip>
          <a:stretch>
            <a:fillRect/>
          </a:stretch>
        </p:blipFill>
        <p:spPr>
          <a:xfrm>
            <a:off x="4109975" y="4341011"/>
            <a:ext cx="2651839" cy="1490638"/>
          </a:xfrm>
          <a:prstGeom prst="rect">
            <a:avLst/>
          </a:prstGeom>
          <a:noFill/>
          <a:ln>
            <a:noFill/>
          </a:ln>
        </p:spPr>
      </p:pic>
      <p:sp>
        <p:nvSpPr>
          <p:cNvPr id="331" name="Google Shape;331;g3bca7b3d0bf_0_288"/>
          <p:cNvSpPr txBox="1"/>
          <p:nvPr/>
        </p:nvSpPr>
        <p:spPr>
          <a:xfrm>
            <a:off x="1152236" y="3770630"/>
            <a:ext cx="9438300" cy="880500"/>
          </a:xfrm>
          <a:prstGeom prst="rect">
            <a:avLst/>
          </a:prstGeom>
          <a:noFill/>
          <a:ln>
            <a:noFill/>
          </a:ln>
        </p:spPr>
        <p:txBody>
          <a:bodyPr spcFirstLastPara="1" wrap="square" lIns="108950" tIns="108950" rIns="108950" bIns="108950" anchor="t" anchorCtr="0">
            <a:spAutoFit/>
          </a:bodyPr>
          <a:lstStyle/>
          <a:p>
            <a:pPr marL="0" lvl="0" indent="0" algn="l" rtl="0">
              <a:spcBef>
                <a:spcPts val="0"/>
              </a:spcBef>
              <a:spcAft>
                <a:spcPts val="0"/>
              </a:spcAft>
              <a:buNone/>
            </a:pPr>
            <a:r>
              <a:rPr lang="en-US" sz="1430">
                <a:latin typeface="Lora"/>
                <a:ea typeface="Lora"/>
                <a:cs typeface="Lora"/>
                <a:sym typeface="Lora"/>
              </a:rPr>
              <a:t>For OpenAI o1, the traditional scaling pre-training approach has shifted to scaling reasoning, it includes </a:t>
            </a:r>
            <a:r>
              <a:rPr lang="en-US" sz="1430" b="1">
                <a:latin typeface="Lora"/>
                <a:ea typeface="Lora"/>
                <a:cs typeface="Lora"/>
                <a:sym typeface="Lora"/>
              </a:rPr>
              <a:t>scaling RL training and scaling test-time computation</a:t>
            </a:r>
            <a:r>
              <a:rPr lang="en-US" sz="1430">
                <a:latin typeface="Lora"/>
                <a:ea typeface="Lora"/>
                <a:cs typeface="Lora"/>
                <a:sym typeface="Lora"/>
              </a:rPr>
              <a:t>.</a:t>
            </a:r>
            <a:endParaRPr sz="1430">
              <a:latin typeface="Lora"/>
              <a:ea typeface="Lora"/>
              <a:cs typeface="Lora"/>
              <a:sym typeface="Lora"/>
            </a:endParaRPr>
          </a:p>
          <a:p>
            <a:pPr marL="0" lvl="0" indent="0" algn="l" rtl="0">
              <a:spcBef>
                <a:spcPts val="0"/>
              </a:spcBef>
              <a:spcAft>
                <a:spcPts val="0"/>
              </a:spcAft>
              <a:buNone/>
            </a:pPr>
            <a:endParaRPr sz="1430">
              <a:latin typeface="Lora"/>
              <a:ea typeface="Lora"/>
              <a:cs typeface="Lora"/>
              <a:sym typeface="Lor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g3bca7b3d0bf_0_303"/>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24</a:t>
            </a:fld>
            <a:endParaRPr/>
          </a:p>
        </p:txBody>
      </p:sp>
      <p:sp>
        <p:nvSpPr>
          <p:cNvPr id="337" name="Google Shape;337;g3bca7b3d0bf_0_303"/>
          <p:cNvSpPr txBox="1">
            <a:spLocks noGrp="1"/>
          </p:cNvSpPr>
          <p:nvPr>
            <p:ph type="title"/>
          </p:nvPr>
        </p:nvSpPr>
        <p:spPr>
          <a:xfrm>
            <a:off x="1130526" y="152850"/>
            <a:ext cx="115695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HuatuoGPT-o1: Towards Medical Complex Reasoning </a:t>
            </a:r>
            <a:endParaRPr sz="3300"/>
          </a:p>
        </p:txBody>
      </p:sp>
      <p:sp>
        <p:nvSpPr>
          <p:cNvPr id="338" name="Google Shape;338;g3bca7b3d0bf_0_303"/>
          <p:cNvSpPr txBox="1"/>
          <p:nvPr/>
        </p:nvSpPr>
        <p:spPr>
          <a:xfrm>
            <a:off x="996200" y="1111275"/>
            <a:ext cx="7877100" cy="482100"/>
          </a:xfrm>
          <a:prstGeom prst="rect">
            <a:avLst/>
          </a:prstGeom>
          <a:noFill/>
          <a:ln>
            <a:noFill/>
          </a:ln>
        </p:spPr>
        <p:txBody>
          <a:bodyPr spcFirstLastPara="1" wrap="square" lIns="107025" tIns="105350" rIns="107025" bIns="107025" anchor="t" anchorCtr="0">
            <a:noAutofit/>
          </a:bodyPr>
          <a:lstStyle/>
          <a:p>
            <a:pPr marL="0" lvl="0" indent="0" algn="l" rtl="0">
              <a:spcBef>
                <a:spcPts val="0"/>
              </a:spcBef>
              <a:spcAft>
                <a:spcPts val="0"/>
              </a:spcAft>
              <a:buNone/>
            </a:pPr>
            <a:r>
              <a:rPr lang="en-US" sz="1989" b="1">
                <a:solidFill>
                  <a:srgbClr val="990099"/>
                </a:solidFill>
              </a:rPr>
              <a:t>Background 2</a:t>
            </a:r>
            <a:endParaRPr sz="1989" b="1">
              <a:solidFill>
                <a:srgbClr val="990099"/>
              </a:solidFill>
            </a:endParaRPr>
          </a:p>
        </p:txBody>
      </p:sp>
      <p:sp>
        <p:nvSpPr>
          <p:cNvPr id="339" name="Google Shape;339;g3bca7b3d0bf_0_303"/>
          <p:cNvSpPr txBox="1"/>
          <p:nvPr/>
        </p:nvSpPr>
        <p:spPr>
          <a:xfrm>
            <a:off x="1141623" y="1624432"/>
            <a:ext cx="8935500" cy="393600"/>
          </a:xfrm>
          <a:prstGeom prst="rect">
            <a:avLst/>
          </a:prstGeom>
          <a:noFill/>
          <a:ln>
            <a:noFill/>
          </a:ln>
        </p:spPr>
        <p:txBody>
          <a:bodyPr spcFirstLastPara="1" wrap="square" lIns="107025" tIns="107025" rIns="107025" bIns="107025" anchor="t" anchorCtr="0">
            <a:noAutofit/>
          </a:bodyPr>
          <a:lstStyle/>
          <a:p>
            <a:pPr marL="0" lvl="0" indent="0" algn="l" rtl="0">
              <a:lnSpc>
                <a:spcPct val="115000"/>
              </a:lnSpc>
              <a:spcBef>
                <a:spcPts val="1405"/>
              </a:spcBef>
              <a:spcAft>
                <a:spcPts val="0"/>
              </a:spcAft>
              <a:buClr>
                <a:srgbClr val="000000"/>
              </a:buClr>
              <a:buSzPts val="1288"/>
              <a:buFont typeface="Arial"/>
              <a:buNone/>
            </a:pPr>
            <a:r>
              <a:rPr lang="en-US" sz="1404">
                <a:solidFill>
                  <a:srgbClr val="000000"/>
                </a:solidFill>
              </a:rPr>
              <a:t>Domain adaptation through fine-tuning or pre-training may be reaching its limits due to:</a:t>
            </a:r>
            <a:endParaRPr sz="1404">
              <a:solidFill>
                <a:srgbClr val="000000"/>
              </a:solidFill>
            </a:endParaRPr>
          </a:p>
          <a:p>
            <a:pPr marL="535162" lvl="0" indent="-356775" algn="l" rtl="0">
              <a:lnSpc>
                <a:spcPct val="115000"/>
              </a:lnSpc>
              <a:spcBef>
                <a:spcPts val="1405"/>
              </a:spcBef>
              <a:spcAft>
                <a:spcPts val="0"/>
              </a:spcAft>
              <a:buClr>
                <a:srgbClr val="000000"/>
              </a:buClr>
              <a:buSzPts val="1405"/>
              <a:buAutoNum type="arabicPeriod"/>
            </a:pPr>
            <a:r>
              <a:rPr lang="en-US" sz="1404" b="1">
                <a:solidFill>
                  <a:srgbClr val="000000"/>
                </a:solidFill>
              </a:rPr>
              <a:t>Limited real-world medical data:</a:t>
            </a:r>
            <a:r>
              <a:rPr lang="en-US" sz="1404">
                <a:solidFill>
                  <a:srgbClr val="000000"/>
                </a:solidFill>
              </a:rPr>
              <a:t> The available medical data is finite, and current AI development is quickly approaching its maximum utilization.</a:t>
            </a:r>
            <a:endParaRPr sz="1404">
              <a:solidFill>
                <a:srgbClr val="000000"/>
              </a:solidFill>
            </a:endParaRPr>
          </a:p>
          <a:p>
            <a:pPr marL="535162" lvl="0" indent="-356775" algn="l" rtl="0">
              <a:lnSpc>
                <a:spcPct val="115000"/>
              </a:lnSpc>
              <a:spcBef>
                <a:spcPts val="0"/>
              </a:spcBef>
              <a:spcAft>
                <a:spcPts val="0"/>
              </a:spcAft>
              <a:buClr>
                <a:srgbClr val="000000"/>
              </a:buClr>
              <a:buSzPts val="1405"/>
              <a:buAutoNum type="arabicPeriod"/>
            </a:pPr>
            <a:r>
              <a:rPr lang="en-US" sz="1404" b="1">
                <a:solidFill>
                  <a:srgbClr val="000000"/>
                </a:solidFill>
              </a:rPr>
              <a:t>General-purpose LLMs’ growing knowledge:</a:t>
            </a:r>
            <a:r>
              <a:rPr lang="en-US" sz="1404">
                <a:solidFill>
                  <a:srgbClr val="000000"/>
                </a:solidFill>
              </a:rPr>
              <a:t> With the continuous improvement of general-purpose LLMs and their training datasets, they may already encompass most of the medical knowledge available for domain adaptation.</a:t>
            </a:r>
            <a:endParaRPr sz="1404">
              <a:solidFill>
                <a:srgbClr val="000000"/>
              </a:solidFill>
            </a:endParaRPr>
          </a:p>
          <a:p>
            <a:pPr marL="0" lvl="0" indent="0" algn="l" rtl="0">
              <a:spcBef>
                <a:spcPts val="1405"/>
              </a:spcBef>
              <a:spcAft>
                <a:spcPts val="0"/>
              </a:spcAft>
              <a:buNone/>
            </a:pPr>
            <a:endParaRPr sz="1404"/>
          </a:p>
        </p:txBody>
      </p:sp>
      <p:pic>
        <p:nvPicPr>
          <p:cNvPr id="340" name="Google Shape;340;g3bca7b3d0bf_0_303"/>
          <p:cNvPicPr preferRelativeResize="0"/>
          <p:nvPr/>
        </p:nvPicPr>
        <p:blipFill>
          <a:blip r:embed="rId3">
            <a:alphaModFix/>
          </a:blip>
          <a:stretch>
            <a:fillRect/>
          </a:stretch>
        </p:blipFill>
        <p:spPr>
          <a:xfrm>
            <a:off x="1730205" y="3483941"/>
            <a:ext cx="3567750" cy="2505709"/>
          </a:xfrm>
          <a:prstGeom prst="rect">
            <a:avLst/>
          </a:prstGeom>
          <a:noFill/>
          <a:ln>
            <a:noFill/>
          </a:ln>
        </p:spPr>
      </p:pic>
      <p:sp>
        <p:nvSpPr>
          <p:cNvPr id="341" name="Google Shape;341;g3bca7b3d0bf_0_303"/>
          <p:cNvSpPr txBox="1"/>
          <p:nvPr/>
        </p:nvSpPr>
        <p:spPr>
          <a:xfrm>
            <a:off x="5687525" y="4539975"/>
            <a:ext cx="4741200" cy="393600"/>
          </a:xfrm>
          <a:prstGeom prst="rect">
            <a:avLst/>
          </a:prstGeom>
          <a:noFill/>
          <a:ln>
            <a:noFill/>
          </a:ln>
        </p:spPr>
        <p:txBody>
          <a:bodyPr spcFirstLastPara="1" wrap="square" lIns="107025" tIns="107025" rIns="107025" bIns="107025" anchor="t" anchorCtr="0">
            <a:noAutofit/>
          </a:bodyPr>
          <a:lstStyle/>
          <a:p>
            <a:pPr marL="0" lvl="0" indent="0" algn="l" rtl="0">
              <a:spcBef>
                <a:spcPts val="0"/>
              </a:spcBef>
              <a:spcAft>
                <a:spcPts val="0"/>
              </a:spcAft>
              <a:buNone/>
            </a:pPr>
            <a:r>
              <a:rPr lang="en-US" sz="1521" i="1">
                <a:solidFill>
                  <a:srgbClr val="990099"/>
                </a:solidFill>
              </a:rPr>
              <a:t>“Ilya Sutskever (OpenAI's Chief Scientist) Predicts the End of Pre-Training”</a:t>
            </a:r>
            <a:endParaRPr sz="1521" i="1">
              <a:solidFill>
                <a:srgbClr val="990099"/>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g3bca7b3d0bf_0_318"/>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25</a:t>
            </a:fld>
            <a:endParaRPr/>
          </a:p>
        </p:txBody>
      </p:sp>
      <p:sp>
        <p:nvSpPr>
          <p:cNvPr id="347" name="Google Shape;347;g3bca7b3d0bf_0_318"/>
          <p:cNvSpPr txBox="1">
            <a:spLocks noGrp="1"/>
          </p:cNvSpPr>
          <p:nvPr>
            <p:ph type="title"/>
          </p:nvPr>
        </p:nvSpPr>
        <p:spPr>
          <a:xfrm>
            <a:off x="1130526" y="152850"/>
            <a:ext cx="115695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So, what’s Next for Medical LLMs?</a:t>
            </a:r>
            <a:endParaRPr sz="3300"/>
          </a:p>
        </p:txBody>
      </p:sp>
      <p:sp>
        <p:nvSpPr>
          <p:cNvPr id="348" name="Google Shape;348;g3bca7b3d0bf_0_318"/>
          <p:cNvSpPr txBox="1"/>
          <p:nvPr/>
        </p:nvSpPr>
        <p:spPr>
          <a:xfrm>
            <a:off x="1095532" y="1395650"/>
            <a:ext cx="9308700" cy="410100"/>
          </a:xfrm>
          <a:prstGeom prst="rect">
            <a:avLst/>
          </a:prstGeom>
          <a:noFill/>
          <a:ln>
            <a:noFill/>
          </a:ln>
        </p:spPr>
        <p:txBody>
          <a:bodyPr spcFirstLastPara="1" wrap="square" lIns="111500" tIns="111500" rIns="111500" bIns="111500" anchor="t" anchorCtr="0">
            <a:noAutofit/>
          </a:bodyPr>
          <a:lstStyle/>
          <a:p>
            <a:pPr marL="0" lvl="0" indent="0" algn="l" rtl="0">
              <a:spcBef>
                <a:spcPts val="0"/>
              </a:spcBef>
              <a:spcAft>
                <a:spcPts val="0"/>
              </a:spcAft>
              <a:buNone/>
            </a:pPr>
            <a:r>
              <a:rPr lang="en-US" sz="1563"/>
              <a:t>A promising direction is to focus on </a:t>
            </a:r>
            <a:r>
              <a:rPr lang="en-US" sz="1563" b="1"/>
              <a:t>scaling test-time reasoning and self-improvement</a:t>
            </a:r>
            <a:r>
              <a:rPr lang="en-US" sz="1563"/>
              <a:t>, rather than simply injecting knowledge.</a:t>
            </a:r>
            <a:endParaRPr sz="1563">
              <a:solidFill>
                <a:srgbClr val="000000"/>
              </a:solidFill>
            </a:endParaRPr>
          </a:p>
        </p:txBody>
      </p:sp>
      <p:pic>
        <p:nvPicPr>
          <p:cNvPr id="349" name="Google Shape;349;g3bca7b3d0bf_0_318"/>
          <p:cNvPicPr preferRelativeResize="0"/>
          <p:nvPr/>
        </p:nvPicPr>
        <p:blipFill>
          <a:blip r:embed="rId3">
            <a:alphaModFix/>
          </a:blip>
          <a:stretch>
            <a:fillRect/>
          </a:stretch>
        </p:blipFill>
        <p:spPr>
          <a:xfrm>
            <a:off x="2273710" y="2255358"/>
            <a:ext cx="8020598" cy="1524479"/>
          </a:xfrm>
          <a:prstGeom prst="rect">
            <a:avLst/>
          </a:prstGeom>
          <a:noFill/>
          <a:ln>
            <a:noFill/>
          </a:ln>
        </p:spPr>
      </p:pic>
      <p:sp>
        <p:nvSpPr>
          <p:cNvPr id="350" name="Google Shape;350;g3bca7b3d0bf_0_318"/>
          <p:cNvSpPr txBox="1"/>
          <p:nvPr/>
        </p:nvSpPr>
        <p:spPr>
          <a:xfrm>
            <a:off x="1095537" y="2885792"/>
            <a:ext cx="1313400" cy="410100"/>
          </a:xfrm>
          <a:prstGeom prst="rect">
            <a:avLst/>
          </a:prstGeom>
          <a:noFill/>
          <a:ln>
            <a:noFill/>
          </a:ln>
        </p:spPr>
        <p:txBody>
          <a:bodyPr spcFirstLastPara="1" wrap="square" lIns="111500" tIns="111500" rIns="111500" bIns="111500" anchor="t" anchorCtr="0">
            <a:noAutofit/>
          </a:bodyPr>
          <a:lstStyle/>
          <a:p>
            <a:pPr marL="0" lvl="0" indent="0" algn="l" rtl="0">
              <a:spcBef>
                <a:spcPts val="0"/>
              </a:spcBef>
              <a:spcAft>
                <a:spcPts val="0"/>
              </a:spcAft>
              <a:buNone/>
            </a:pPr>
            <a:r>
              <a:rPr lang="en-US" sz="1463" b="1">
                <a:solidFill>
                  <a:srgbClr val="990099"/>
                </a:solidFill>
              </a:rPr>
              <a:t>More </a:t>
            </a:r>
            <a:br>
              <a:rPr lang="en-US" sz="1463" b="1">
                <a:solidFill>
                  <a:srgbClr val="990099"/>
                </a:solidFill>
              </a:rPr>
            </a:br>
            <a:r>
              <a:rPr lang="en-US" sz="1463" b="1">
                <a:solidFill>
                  <a:srgbClr val="990099"/>
                </a:solidFill>
              </a:rPr>
              <a:t>efficient</a:t>
            </a:r>
            <a:endParaRPr sz="1463" b="1">
              <a:solidFill>
                <a:srgbClr val="990099"/>
              </a:solidFill>
            </a:endParaRPr>
          </a:p>
        </p:txBody>
      </p:sp>
      <p:sp>
        <p:nvSpPr>
          <p:cNvPr id="351" name="Google Shape;351;g3bca7b3d0bf_0_318"/>
          <p:cNvSpPr txBox="1"/>
          <p:nvPr/>
        </p:nvSpPr>
        <p:spPr>
          <a:xfrm>
            <a:off x="780100" y="4815050"/>
            <a:ext cx="10398300" cy="585000"/>
          </a:xfrm>
          <a:prstGeom prst="rect">
            <a:avLst/>
          </a:prstGeom>
          <a:noFill/>
          <a:ln>
            <a:noFill/>
          </a:ln>
        </p:spPr>
        <p:txBody>
          <a:bodyPr spcFirstLastPara="1" wrap="square" lIns="91425" tIns="45700" rIns="91425" bIns="45700" anchor="ctr" anchorCtr="1">
            <a:spAutoFit/>
          </a:bodyPr>
          <a:lstStyle/>
          <a:p>
            <a:pPr marL="0" marR="0" lvl="0" indent="0" algn="l" rtl="0">
              <a:spcBef>
                <a:spcPts val="0"/>
              </a:spcBef>
              <a:spcAft>
                <a:spcPts val="0"/>
              </a:spcAft>
              <a:buNone/>
            </a:pPr>
            <a:r>
              <a:rPr lang="en-US" sz="1600" b="1">
                <a:solidFill>
                  <a:schemeClr val="dk1"/>
                </a:solidFill>
              </a:rPr>
              <a:t>HuatuoGPT-o1 </a:t>
            </a:r>
            <a:r>
              <a:rPr lang="en-US" sz="1600">
                <a:solidFill>
                  <a:schemeClr val="dk1"/>
                </a:solidFill>
              </a:rPr>
              <a:t>achieved significant domain-specific capability improvements with fewer resources, building upon existing advanced LLMs.</a:t>
            </a:r>
            <a:endParaRPr sz="1600">
              <a:solidFill>
                <a:schemeClr val="dk1"/>
              </a:solidFill>
            </a:endParaRPr>
          </a:p>
        </p:txBody>
      </p:sp>
      <p:sp>
        <p:nvSpPr>
          <p:cNvPr id="352" name="Google Shape;352;g3bca7b3d0bf_0_318"/>
          <p:cNvSpPr/>
          <p:nvPr/>
        </p:nvSpPr>
        <p:spPr>
          <a:xfrm>
            <a:off x="2127981" y="2870749"/>
            <a:ext cx="257883" cy="585003"/>
          </a:xfrm>
          <a:custGeom>
            <a:avLst/>
            <a:gdLst/>
            <a:ahLst/>
            <a:cxnLst/>
            <a:rect l="l" t="t" r="r" b="b"/>
            <a:pathLst>
              <a:path w="7150" h="13175" extrusionOk="0">
                <a:moveTo>
                  <a:pt x="6439" y="0"/>
                </a:moveTo>
                <a:cubicBezTo>
                  <a:pt x="5371" y="1246"/>
                  <a:pt x="-89" y="5282"/>
                  <a:pt x="30" y="7478"/>
                </a:cubicBezTo>
                <a:cubicBezTo>
                  <a:pt x="149" y="9674"/>
                  <a:pt x="5964" y="12226"/>
                  <a:pt x="7151" y="13175"/>
                </a:cubicBezTo>
              </a:path>
            </a:pathLst>
          </a:custGeom>
          <a:noFill/>
          <a:ln w="9525" cap="flat" cmpd="sng">
            <a:solidFill>
              <a:srgbClr val="595959"/>
            </a:solidFill>
            <a:prstDash val="solid"/>
            <a:round/>
            <a:headEnd type="none" w="med" len="med"/>
            <a:tailEnd type="stealth" w="med" len="med"/>
          </a:ln>
        </p:spPr>
      </p:sp>
      <p:sp>
        <p:nvSpPr>
          <p:cNvPr id="353" name="Google Shape;353;g3bca7b3d0bf_0_318"/>
          <p:cNvSpPr txBox="1"/>
          <p:nvPr/>
        </p:nvSpPr>
        <p:spPr>
          <a:xfrm>
            <a:off x="1469775" y="4066338"/>
            <a:ext cx="8130300" cy="80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700">
                <a:solidFill>
                  <a:schemeClr val="dk1"/>
                </a:solidFill>
                <a:highlight>
                  <a:srgbClr val="FFF2CC"/>
                </a:highlight>
              </a:rPr>
              <a:t>Pre-training + SFT </a:t>
            </a:r>
            <a:r>
              <a:rPr lang="en-US" sz="1700" b="1">
                <a:solidFill>
                  <a:schemeClr val="dk1"/>
                </a:solidFill>
                <a:highlight>
                  <a:srgbClr val="FFF2CC"/>
                </a:highlight>
              </a:rPr>
              <a:t>→</a:t>
            </a:r>
            <a:r>
              <a:rPr lang="en-US" sz="1700">
                <a:solidFill>
                  <a:schemeClr val="dk1"/>
                </a:solidFill>
                <a:highlight>
                  <a:srgbClr val="FFF2CC"/>
                </a:highlight>
              </a:rPr>
              <a:t>  SFT + RL </a:t>
            </a:r>
            <a:endParaRPr sz="2000">
              <a:solidFill>
                <a:srgbClr val="000000"/>
              </a:solidFill>
              <a:highlight>
                <a:srgbClr val="FFF2CC"/>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g3bca7b3d0bf_0_333"/>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26</a:t>
            </a:fld>
            <a:endParaRPr/>
          </a:p>
        </p:txBody>
      </p:sp>
      <p:sp>
        <p:nvSpPr>
          <p:cNvPr id="359" name="Google Shape;359;g3bca7b3d0bf_0_333"/>
          <p:cNvSpPr txBox="1">
            <a:spLocks noGrp="1"/>
          </p:cNvSpPr>
          <p:nvPr>
            <p:ph type="title"/>
          </p:nvPr>
        </p:nvSpPr>
        <p:spPr>
          <a:xfrm>
            <a:off x="1130526" y="152850"/>
            <a:ext cx="115695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HuatuoGPT-o1: Towards Medical Complex Reasoning </a:t>
            </a:r>
            <a:endParaRPr sz="3300"/>
          </a:p>
        </p:txBody>
      </p:sp>
      <p:sp>
        <p:nvSpPr>
          <p:cNvPr id="360" name="Google Shape;360;g3bca7b3d0bf_0_333"/>
          <p:cNvSpPr txBox="1"/>
          <p:nvPr/>
        </p:nvSpPr>
        <p:spPr>
          <a:xfrm>
            <a:off x="1338226" y="1412677"/>
            <a:ext cx="7848000" cy="480300"/>
          </a:xfrm>
          <a:prstGeom prst="rect">
            <a:avLst/>
          </a:prstGeom>
          <a:noFill/>
          <a:ln>
            <a:noFill/>
          </a:ln>
        </p:spPr>
        <p:txBody>
          <a:bodyPr spcFirstLastPara="1" wrap="square" lIns="106625" tIns="104950" rIns="106625" bIns="106625" anchor="t" anchorCtr="0">
            <a:noAutofit/>
          </a:bodyPr>
          <a:lstStyle/>
          <a:p>
            <a:pPr marL="0" lvl="0" indent="0" algn="l" rtl="0">
              <a:spcBef>
                <a:spcPts val="0"/>
              </a:spcBef>
              <a:spcAft>
                <a:spcPts val="0"/>
              </a:spcAft>
              <a:buNone/>
            </a:pPr>
            <a:r>
              <a:rPr lang="en-US" sz="1782" b="1">
                <a:solidFill>
                  <a:srgbClr val="990099"/>
                </a:solidFill>
              </a:rPr>
              <a:t>Verifiable Medical Problems</a:t>
            </a:r>
            <a:endParaRPr sz="1782" b="1">
              <a:solidFill>
                <a:srgbClr val="990099"/>
              </a:solidFill>
            </a:endParaRPr>
          </a:p>
          <a:p>
            <a:pPr marL="0" lvl="0" indent="0" algn="l" rtl="0">
              <a:spcBef>
                <a:spcPts val="0"/>
              </a:spcBef>
              <a:spcAft>
                <a:spcPts val="0"/>
              </a:spcAft>
              <a:buNone/>
            </a:pPr>
            <a:endParaRPr sz="1782" b="1">
              <a:solidFill>
                <a:srgbClr val="990099"/>
              </a:solidFill>
            </a:endParaRPr>
          </a:p>
        </p:txBody>
      </p:sp>
      <p:pic>
        <p:nvPicPr>
          <p:cNvPr id="361" name="Google Shape;361;g3bca7b3d0bf_0_333"/>
          <p:cNvPicPr preferRelativeResize="0"/>
          <p:nvPr/>
        </p:nvPicPr>
        <p:blipFill>
          <a:blip r:embed="rId3">
            <a:alphaModFix/>
          </a:blip>
          <a:stretch>
            <a:fillRect/>
          </a:stretch>
        </p:blipFill>
        <p:spPr>
          <a:xfrm>
            <a:off x="2296150" y="1892985"/>
            <a:ext cx="7446827" cy="2387438"/>
          </a:xfrm>
          <a:prstGeom prst="rect">
            <a:avLst/>
          </a:prstGeom>
          <a:noFill/>
          <a:ln>
            <a:noFill/>
          </a:ln>
        </p:spPr>
      </p:pic>
      <p:sp>
        <p:nvSpPr>
          <p:cNvPr id="362" name="Google Shape;362;g3bca7b3d0bf_0_333"/>
          <p:cNvSpPr txBox="1"/>
          <p:nvPr/>
        </p:nvSpPr>
        <p:spPr>
          <a:xfrm>
            <a:off x="1130525" y="4351100"/>
            <a:ext cx="9236700" cy="1369500"/>
          </a:xfrm>
          <a:prstGeom prst="rect">
            <a:avLst/>
          </a:prstGeom>
          <a:noFill/>
          <a:ln>
            <a:noFill/>
          </a:ln>
        </p:spPr>
        <p:txBody>
          <a:bodyPr spcFirstLastPara="1" wrap="square" lIns="106625" tIns="106625" rIns="106625" bIns="106625" anchor="t" anchorCtr="0">
            <a:spAutoFit/>
          </a:bodyPr>
          <a:lstStyle/>
          <a:p>
            <a:pPr marL="0" lvl="0" indent="0" algn="l" rtl="0">
              <a:spcBef>
                <a:spcPts val="0"/>
              </a:spcBef>
              <a:spcAft>
                <a:spcPts val="0"/>
              </a:spcAft>
              <a:buNone/>
            </a:pPr>
            <a:r>
              <a:rPr lang="en-US" sz="1499">
                <a:solidFill>
                  <a:srgbClr val="990099"/>
                </a:solidFill>
              </a:rPr>
              <a:t>The secret to enhancing reasoning is the verifiability of medical scenarios. </a:t>
            </a:r>
            <a:endParaRPr sz="1499">
              <a:solidFill>
                <a:srgbClr val="990099"/>
              </a:solidFill>
            </a:endParaRPr>
          </a:p>
          <a:p>
            <a:pPr marL="0" lvl="0" indent="0" algn="l" rtl="0">
              <a:spcBef>
                <a:spcPts val="0"/>
              </a:spcBef>
              <a:spcAft>
                <a:spcPts val="0"/>
              </a:spcAft>
              <a:buNone/>
            </a:pPr>
            <a:endParaRPr sz="1499"/>
          </a:p>
          <a:p>
            <a:pPr marL="0" lvl="0" indent="0" algn="l" rtl="0">
              <a:spcBef>
                <a:spcPts val="0"/>
              </a:spcBef>
              <a:spcAft>
                <a:spcPts val="0"/>
              </a:spcAft>
              <a:buNone/>
            </a:pPr>
            <a:r>
              <a:rPr lang="en-US" sz="1499"/>
              <a:t>Inspired by mathematical problems that allow verification through their outcomes, we introduce a novel dataset of 40K medical verifiable problems, each designed to support automatic verification of reasoning via a ground-truth answer and an LLM-based verifier.</a:t>
            </a:r>
            <a:endParaRPr sz="1499"/>
          </a:p>
        </p:txBody>
      </p:sp>
      <p:sp>
        <p:nvSpPr>
          <p:cNvPr id="363" name="Google Shape;363;g3bca7b3d0bf_0_333"/>
          <p:cNvSpPr txBox="1"/>
          <p:nvPr/>
        </p:nvSpPr>
        <p:spPr>
          <a:xfrm>
            <a:off x="226050" y="5906027"/>
            <a:ext cx="10594200" cy="618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hlink"/>
              </a:buClr>
              <a:buSzPts val="800"/>
              <a:buFont typeface="Noto Sans Symbols"/>
              <a:buNone/>
            </a:pPr>
            <a:r>
              <a:rPr lang="en-US" sz="1000">
                <a:solidFill>
                  <a:schemeClr val="dk1"/>
                </a:solidFill>
                <a:latin typeface="Times New Roman"/>
                <a:ea typeface="Times New Roman"/>
                <a:cs typeface="Times New Roman"/>
                <a:sym typeface="Times New Roman"/>
              </a:rPr>
              <a:t>[1] </a:t>
            </a:r>
            <a:r>
              <a:rPr lang="en-US" sz="1050" b="1">
                <a:solidFill>
                  <a:srgbClr val="666666"/>
                </a:solidFill>
              </a:rPr>
              <a:t>Junying Chen</a:t>
            </a:r>
            <a:r>
              <a:rPr lang="en-US" sz="1050">
                <a:solidFill>
                  <a:srgbClr val="666666"/>
                </a:solidFill>
              </a:rPr>
              <a:t>, Zhenyang Cai, et al. </a:t>
            </a:r>
            <a:r>
              <a:rPr lang="en-US" sz="1050" b="1">
                <a:solidFill>
                  <a:schemeClr val="dk1"/>
                </a:solidFill>
              </a:rPr>
              <a:t>HuatuoGPT-o1, Towards Medical Complex Reasoning with LLMs. </a:t>
            </a:r>
            <a:r>
              <a:rPr lang="en-US" sz="1050">
                <a:solidFill>
                  <a:schemeClr val="dk1"/>
                </a:solidFill>
              </a:rPr>
              <a:t>ACL 2025.</a:t>
            </a:r>
            <a:endParaRPr sz="1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g3bca7b3d0bf_0_347"/>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27</a:t>
            </a:fld>
            <a:endParaRPr/>
          </a:p>
        </p:txBody>
      </p:sp>
      <p:sp>
        <p:nvSpPr>
          <p:cNvPr id="369" name="Google Shape;369;g3bca7b3d0bf_0_347"/>
          <p:cNvSpPr txBox="1">
            <a:spLocks noGrp="1"/>
          </p:cNvSpPr>
          <p:nvPr>
            <p:ph type="title"/>
          </p:nvPr>
        </p:nvSpPr>
        <p:spPr>
          <a:xfrm>
            <a:off x="1130526" y="152850"/>
            <a:ext cx="115695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HuatuoGPT-o1: Towards Medical Complex Reasoning </a:t>
            </a:r>
            <a:endParaRPr sz="3300"/>
          </a:p>
        </p:txBody>
      </p:sp>
      <p:sp>
        <p:nvSpPr>
          <p:cNvPr id="370" name="Google Shape;370;g3bca7b3d0bf_0_347"/>
          <p:cNvSpPr txBox="1"/>
          <p:nvPr/>
        </p:nvSpPr>
        <p:spPr>
          <a:xfrm>
            <a:off x="1338226" y="1412677"/>
            <a:ext cx="7848000" cy="480300"/>
          </a:xfrm>
          <a:prstGeom prst="rect">
            <a:avLst/>
          </a:prstGeom>
          <a:noFill/>
          <a:ln>
            <a:noFill/>
          </a:ln>
        </p:spPr>
        <p:txBody>
          <a:bodyPr spcFirstLastPara="1" wrap="square" lIns="106625" tIns="104950" rIns="106625" bIns="106625" anchor="t" anchorCtr="0">
            <a:noAutofit/>
          </a:bodyPr>
          <a:lstStyle/>
          <a:p>
            <a:pPr marL="0" lvl="0" indent="0" algn="l" rtl="0">
              <a:spcBef>
                <a:spcPts val="0"/>
              </a:spcBef>
              <a:spcAft>
                <a:spcPts val="0"/>
              </a:spcAft>
              <a:buNone/>
            </a:pPr>
            <a:r>
              <a:rPr lang="en-US" sz="1782" b="1">
                <a:solidFill>
                  <a:srgbClr val="990099"/>
                </a:solidFill>
              </a:rPr>
              <a:t>Medical Verifier</a:t>
            </a:r>
            <a:endParaRPr sz="1782" b="1">
              <a:solidFill>
                <a:srgbClr val="990099"/>
              </a:solidFill>
            </a:endParaRPr>
          </a:p>
          <a:p>
            <a:pPr marL="0" lvl="0" indent="0" algn="l" rtl="0">
              <a:spcBef>
                <a:spcPts val="0"/>
              </a:spcBef>
              <a:spcAft>
                <a:spcPts val="0"/>
              </a:spcAft>
              <a:buNone/>
            </a:pPr>
            <a:endParaRPr sz="1782" b="1">
              <a:solidFill>
                <a:srgbClr val="990099"/>
              </a:solidFill>
            </a:endParaRPr>
          </a:p>
        </p:txBody>
      </p:sp>
      <p:pic>
        <p:nvPicPr>
          <p:cNvPr id="371" name="Google Shape;371;g3bca7b3d0bf_0_347"/>
          <p:cNvPicPr preferRelativeResize="0"/>
          <p:nvPr/>
        </p:nvPicPr>
        <p:blipFill>
          <a:blip r:embed="rId3">
            <a:alphaModFix/>
          </a:blip>
          <a:stretch>
            <a:fillRect/>
          </a:stretch>
        </p:blipFill>
        <p:spPr>
          <a:xfrm>
            <a:off x="2639825" y="2047675"/>
            <a:ext cx="2939051" cy="1807115"/>
          </a:xfrm>
          <a:prstGeom prst="rect">
            <a:avLst/>
          </a:prstGeom>
          <a:noFill/>
          <a:ln>
            <a:noFill/>
          </a:ln>
        </p:spPr>
      </p:pic>
      <p:pic>
        <p:nvPicPr>
          <p:cNvPr id="372" name="Google Shape;372;g3bca7b3d0bf_0_347"/>
          <p:cNvPicPr preferRelativeResize="0"/>
          <p:nvPr/>
        </p:nvPicPr>
        <p:blipFill>
          <a:blip r:embed="rId4">
            <a:alphaModFix/>
          </a:blip>
          <a:stretch>
            <a:fillRect/>
          </a:stretch>
        </p:blipFill>
        <p:spPr>
          <a:xfrm>
            <a:off x="5688775" y="2824475"/>
            <a:ext cx="3333751" cy="405925"/>
          </a:xfrm>
          <a:prstGeom prst="rect">
            <a:avLst/>
          </a:prstGeom>
          <a:noFill/>
          <a:ln>
            <a:noFill/>
          </a:ln>
        </p:spPr>
      </p:pic>
      <p:pic>
        <p:nvPicPr>
          <p:cNvPr id="373" name="Google Shape;373;g3bca7b3d0bf_0_347"/>
          <p:cNvPicPr preferRelativeResize="0"/>
          <p:nvPr/>
        </p:nvPicPr>
        <p:blipFill>
          <a:blip r:embed="rId5">
            <a:alphaModFix/>
          </a:blip>
          <a:stretch>
            <a:fillRect/>
          </a:stretch>
        </p:blipFill>
        <p:spPr>
          <a:xfrm>
            <a:off x="1680900" y="4286038"/>
            <a:ext cx="8506950" cy="1256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g3bca7b3d0bf_0_359"/>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28</a:t>
            </a:fld>
            <a:endParaRPr/>
          </a:p>
        </p:txBody>
      </p:sp>
      <p:sp>
        <p:nvSpPr>
          <p:cNvPr id="379" name="Google Shape;379;g3bca7b3d0bf_0_359"/>
          <p:cNvSpPr txBox="1">
            <a:spLocks noGrp="1"/>
          </p:cNvSpPr>
          <p:nvPr>
            <p:ph type="title"/>
          </p:nvPr>
        </p:nvSpPr>
        <p:spPr>
          <a:xfrm>
            <a:off x="1130526" y="152850"/>
            <a:ext cx="115695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HuatuoGPT-o1: Towards Medical Complex Reasoning </a:t>
            </a:r>
            <a:endParaRPr sz="3300"/>
          </a:p>
        </p:txBody>
      </p:sp>
      <p:sp>
        <p:nvSpPr>
          <p:cNvPr id="380" name="Google Shape;380;g3bca7b3d0bf_0_359"/>
          <p:cNvSpPr txBox="1"/>
          <p:nvPr/>
        </p:nvSpPr>
        <p:spPr>
          <a:xfrm>
            <a:off x="1130526" y="1037227"/>
            <a:ext cx="7848000" cy="480300"/>
          </a:xfrm>
          <a:prstGeom prst="rect">
            <a:avLst/>
          </a:prstGeom>
          <a:noFill/>
          <a:ln>
            <a:noFill/>
          </a:ln>
        </p:spPr>
        <p:txBody>
          <a:bodyPr spcFirstLastPara="1" wrap="square" lIns="106625" tIns="104950" rIns="106625" bIns="106625" anchor="t" anchorCtr="0">
            <a:noAutofit/>
          </a:bodyPr>
          <a:lstStyle/>
          <a:p>
            <a:pPr marL="0" lvl="0" indent="0" algn="l" rtl="0">
              <a:spcBef>
                <a:spcPts val="0"/>
              </a:spcBef>
              <a:spcAft>
                <a:spcPts val="0"/>
              </a:spcAft>
              <a:buNone/>
            </a:pPr>
            <a:r>
              <a:rPr lang="en-US" sz="1782" b="1">
                <a:solidFill>
                  <a:srgbClr val="990099"/>
                </a:solidFill>
              </a:rPr>
              <a:t>Methodology</a:t>
            </a:r>
            <a:endParaRPr sz="1782" b="1">
              <a:solidFill>
                <a:srgbClr val="990099"/>
              </a:solidFill>
            </a:endParaRPr>
          </a:p>
          <a:p>
            <a:pPr marL="0" lvl="0" indent="0" algn="l" rtl="0">
              <a:spcBef>
                <a:spcPts val="0"/>
              </a:spcBef>
              <a:spcAft>
                <a:spcPts val="0"/>
              </a:spcAft>
              <a:buNone/>
            </a:pPr>
            <a:endParaRPr sz="1782" b="1">
              <a:solidFill>
                <a:srgbClr val="990099"/>
              </a:solidFill>
            </a:endParaRPr>
          </a:p>
        </p:txBody>
      </p:sp>
      <p:pic>
        <p:nvPicPr>
          <p:cNvPr id="381" name="Google Shape;381;g3bca7b3d0bf_0_359"/>
          <p:cNvPicPr preferRelativeResize="0"/>
          <p:nvPr/>
        </p:nvPicPr>
        <p:blipFill>
          <a:blip r:embed="rId3">
            <a:alphaModFix/>
          </a:blip>
          <a:stretch>
            <a:fillRect/>
          </a:stretch>
        </p:blipFill>
        <p:spPr>
          <a:xfrm>
            <a:off x="2263575" y="1517526"/>
            <a:ext cx="6844450" cy="2899219"/>
          </a:xfrm>
          <a:prstGeom prst="rect">
            <a:avLst/>
          </a:prstGeom>
          <a:noFill/>
          <a:ln>
            <a:noFill/>
          </a:ln>
        </p:spPr>
      </p:pic>
      <p:sp>
        <p:nvSpPr>
          <p:cNvPr id="382" name="Google Shape;382;g3bca7b3d0bf_0_359"/>
          <p:cNvSpPr txBox="1"/>
          <p:nvPr/>
        </p:nvSpPr>
        <p:spPr>
          <a:xfrm>
            <a:off x="1393850" y="4539488"/>
            <a:ext cx="8583900" cy="1862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000"/>
              </a:spcBef>
              <a:spcAft>
                <a:spcPts val="0"/>
              </a:spcAft>
              <a:buNone/>
            </a:pPr>
            <a:r>
              <a:rPr lang="en-US">
                <a:solidFill>
                  <a:srgbClr val="000000"/>
                </a:solidFill>
              </a:rPr>
              <a:t>The verifiable nature enables advancements in medical reasoning through a two-stage approach: </a:t>
            </a:r>
            <a:endParaRPr>
              <a:solidFill>
                <a:srgbClr val="000000"/>
              </a:solidFill>
            </a:endParaRPr>
          </a:p>
          <a:p>
            <a:pPr marL="0" lvl="0" indent="0" algn="l" rtl="0">
              <a:lnSpc>
                <a:spcPct val="100000"/>
              </a:lnSpc>
              <a:spcBef>
                <a:spcPts val="1000"/>
              </a:spcBef>
              <a:spcAft>
                <a:spcPts val="0"/>
              </a:spcAft>
              <a:buNone/>
            </a:pPr>
            <a:r>
              <a:rPr lang="en-US" b="1"/>
              <a:t>Stage 1- Learning Complex Reasoning: </a:t>
            </a:r>
            <a:r>
              <a:rPr lang="en-US">
                <a:solidFill>
                  <a:srgbClr val="000000"/>
                </a:solidFill>
              </a:rPr>
              <a:t>using the verifier to guide the search for a complex reasoning trajectory for fine-tuning LLMs with reasoning behaviour.</a:t>
            </a:r>
            <a:endParaRPr>
              <a:solidFill>
                <a:srgbClr val="000000"/>
              </a:solidFill>
            </a:endParaRPr>
          </a:p>
          <a:p>
            <a:pPr marL="0" lvl="0" indent="0" algn="l" rtl="0">
              <a:lnSpc>
                <a:spcPct val="100000"/>
              </a:lnSpc>
              <a:spcBef>
                <a:spcPts val="1000"/>
              </a:spcBef>
              <a:spcAft>
                <a:spcPts val="0"/>
              </a:spcAft>
              <a:buNone/>
            </a:pPr>
            <a:r>
              <a:rPr lang="en-US" b="1"/>
              <a:t>Stage 2: Reinforcing Reasoning with RL: </a:t>
            </a:r>
            <a:r>
              <a:rPr lang="en-US">
                <a:solidFill>
                  <a:srgbClr val="000000"/>
                </a:solidFill>
              </a:rPr>
              <a:t>applying reinforcement learning (RL) with verifier-based rewards to enhance medical complex reasoning further.</a:t>
            </a:r>
            <a:endParaRPr>
              <a:solidFill>
                <a:srgbClr val="000000"/>
              </a:solidFill>
            </a:endParaRPr>
          </a:p>
          <a:p>
            <a:pPr marL="0" lvl="0" indent="0" algn="l" rtl="0">
              <a:lnSpc>
                <a:spcPct val="100000"/>
              </a:lnSpc>
              <a:spcBef>
                <a:spcPts val="1000"/>
              </a:spcBef>
              <a:spcAft>
                <a:spcPts val="0"/>
              </a:spcAft>
              <a:buClr>
                <a:srgbClr val="000000"/>
              </a:buClr>
              <a:buSzPts val="1100"/>
              <a:buFont typeface="Arial"/>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g3bca7b3d0bf_0_370"/>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29</a:t>
            </a:fld>
            <a:endParaRPr/>
          </a:p>
        </p:txBody>
      </p:sp>
      <p:sp>
        <p:nvSpPr>
          <p:cNvPr id="388" name="Google Shape;388;g3bca7b3d0bf_0_370"/>
          <p:cNvSpPr txBox="1">
            <a:spLocks noGrp="1"/>
          </p:cNvSpPr>
          <p:nvPr>
            <p:ph type="title"/>
          </p:nvPr>
        </p:nvSpPr>
        <p:spPr>
          <a:xfrm>
            <a:off x="1130526" y="152850"/>
            <a:ext cx="115695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Searching for Correct Trajectories</a:t>
            </a:r>
            <a:endParaRPr sz="3300"/>
          </a:p>
        </p:txBody>
      </p:sp>
      <p:pic>
        <p:nvPicPr>
          <p:cNvPr id="389" name="Google Shape;389;g3bca7b3d0bf_0_370"/>
          <p:cNvPicPr preferRelativeResize="0"/>
          <p:nvPr/>
        </p:nvPicPr>
        <p:blipFill>
          <a:blip r:embed="rId3">
            <a:alphaModFix/>
          </a:blip>
          <a:stretch>
            <a:fillRect/>
          </a:stretch>
        </p:blipFill>
        <p:spPr>
          <a:xfrm>
            <a:off x="4239579" y="1229475"/>
            <a:ext cx="3472286" cy="2819377"/>
          </a:xfrm>
          <a:prstGeom prst="rect">
            <a:avLst/>
          </a:prstGeom>
          <a:noFill/>
          <a:ln>
            <a:noFill/>
          </a:ln>
        </p:spPr>
      </p:pic>
      <p:pic>
        <p:nvPicPr>
          <p:cNvPr id="390" name="Google Shape;390;g3bca7b3d0bf_0_370"/>
          <p:cNvPicPr preferRelativeResize="0"/>
          <p:nvPr/>
        </p:nvPicPr>
        <p:blipFill>
          <a:blip r:embed="rId4">
            <a:alphaModFix/>
          </a:blip>
          <a:stretch>
            <a:fillRect/>
          </a:stretch>
        </p:blipFill>
        <p:spPr>
          <a:xfrm>
            <a:off x="2285150" y="4249285"/>
            <a:ext cx="6723422" cy="157106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g3bca7b3d0bf_0_380"/>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30</a:t>
            </a:fld>
            <a:endParaRPr/>
          </a:p>
        </p:txBody>
      </p:sp>
      <p:sp>
        <p:nvSpPr>
          <p:cNvPr id="396" name="Google Shape;396;g3bca7b3d0bf_0_380"/>
          <p:cNvSpPr txBox="1">
            <a:spLocks noGrp="1"/>
          </p:cNvSpPr>
          <p:nvPr>
            <p:ph type="title"/>
          </p:nvPr>
        </p:nvSpPr>
        <p:spPr>
          <a:xfrm>
            <a:off x="1130526" y="152850"/>
            <a:ext cx="115695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Stage 1. Supervised Fine-tuning</a:t>
            </a:r>
            <a:endParaRPr sz="3300"/>
          </a:p>
        </p:txBody>
      </p:sp>
      <p:pic>
        <p:nvPicPr>
          <p:cNvPr id="397" name="Google Shape;397;g3bca7b3d0bf_0_380"/>
          <p:cNvPicPr preferRelativeResize="0"/>
          <p:nvPr/>
        </p:nvPicPr>
        <p:blipFill>
          <a:blip r:embed="rId3">
            <a:alphaModFix/>
          </a:blip>
          <a:stretch>
            <a:fillRect/>
          </a:stretch>
        </p:blipFill>
        <p:spPr>
          <a:xfrm>
            <a:off x="3229856" y="1425325"/>
            <a:ext cx="5365594" cy="3073573"/>
          </a:xfrm>
          <a:prstGeom prst="rect">
            <a:avLst/>
          </a:prstGeom>
          <a:noFill/>
          <a:ln>
            <a:noFill/>
          </a:ln>
        </p:spPr>
      </p:pic>
      <p:pic>
        <p:nvPicPr>
          <p:cNvPr id="398" name="Google Shape;398;g3bca7b3d0bf_0_380"/>
          <p:cNvPicPr preferRelativeResize="0"/>
          <p:nvPr/>
        </p:nvPicPr>
        <p:blipFill>
          <a:blip r:embed="rId4">
            <a:alphaModFix/>
          </a:blip>
          <a:stretch>
            <a:fillRect/>
          </a:stretch>
        </p:blipFill>
        <p:spPr>
          <a:xfrm>
            <a:off x="2346675" y="4410525"/>
            <a:ext cx="5756452" cy="153704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g3bca7b3d0bf_0_391"/>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31</a:t>
            </a:fld>
            <a:endParaRPr/>
          </a:p>
        </p:txBody>
      </p:sp>
      <p:sp>
        <p:nvSpPr>
          <p:cNvPr id="404" name="Google Shape;404;g3bca7b3d0bf_0_391"/>
          <p:cNvSpPr txBox="1">
            <a:spLocks noGrp="1"/>
          </p:cNvSpPr>
          <p:nvPr>
            <p:ph type="title"/>
          </p:nvPr>
        </p:nvSpPr>
        <p:spPr>
          <a:xfrm>
            <a:off x="1130526" y="152850"/>
            <a:ext cx="115695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Stage 1. Supervised Fine-tuning</a:t>
            </a:r>
            <a:endParaRPr sz="3300"/>
          </a:p>
        </p:txBody>
      </p:sp>
      <p:sp>
        <p:nvSpPr>
          <p:cNvPr id="405" name="Google Shape;405;g3bca7b3d0bf_0_391"/>
          <p:cNvSpPr txBox="1"/>
          <p:nvPr/>
        </p:nvSpPr>
        <p:spPr>
          <a:xfrm>
            <a:off x="1302675" y="5370871"/>
            <a:ext cx="9258600" cy="413700"/>
          </a:xfrm>
          <a:prstGeom prst="rect">
            <a:avLst/>
          </a:prstGeom>
          <a:noFill/>
          <a:ln>
            <a:noFill/>
          </a:ln>
        </p:spPr>
        <p:txBody>
          <a:bodyPr spcFirstLastPara="1" wrap="square" lIns="106875" tIns="106875" rIns="106875" bIns="106875" anchor="t" anchorCtr="0">
            <a:spAutoFit/>
          </a:bodyPr>
          <a:lstStyle/>
          <a:p>
            <a:pPr marL="0" lvl="0" indent="0" algn="l" rtl="0">
              <a:lnSpc>
                <a:spcPct val="115000"/>
              </a:lnSpc>
              <a:spcBef>
                <a:spcPts val="1403"/>
              </a:spcBef>
              <a:spcAft>
                <a:spcPts val="1403"/>
              </a:spcAft>
              <a:buClr>
                <a:srgbClr val="000000"/>
              </a:buClr>
              <a:buSzPts val="1286"/>
              <a:buFont typeface="Arial"/>
              <a:buNone/>
            </a:pPr>
            <a:r>
              <a:rPr lang="en-US" sz="1285">
                <a:solidFill>
                  <a:srgbClr val="990099"/>
                </a:solidFill>
              </a:rPr>
              <a:t>The complex CoTs and responses are used to train the model to adopt thinks-before-it-answers behavior akin to o1.</a:t>
            </a:r>
            <a:endParaRPr sz="1285">
              <a:solidFill>
                <a:srgbClr val="990099"/>
              </a:solidFill>
            </a:endParaRPr>
          </a:p>
        </p:txBody>
      </p:sp>
      <p:pic>
        <p:nvPicPr>
          <p:cNvPr id="406" name="Google Shape;406;g3bca7b3d0bf_0_391"/>
          <p:cNvPicPr preferRelativeResize="0"/>
          <p:nvPr/>
        </p:nvPicPr>
        <p:blipFill>
          <a:blip r:embed="rId3">
            <a:alphaModFix/>
          </a:blip>
          <a:stretch>
            <a:fillRect/>
          </a:stretch>
        </p:blipFill>
        <p:spPr>
          <a:xfrm>
            <a:off x="3101945" y="1217765"/>
            <a:ext cx="6113234" cy="400582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g3bca7b3d0bf_0_400"/>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32</a:t>
            </a:fld>
            <a:endParaRPr/>
          </a:p>
        </p:txBody>
      </p:sp>
      <p:sp>
        <p:nvSpPr>
          <p:cNvPr id="412" name="Google Shape;412;g3bca7b3d0bf_0_400"/>
          <p:cNvSpPr txBox="1">
            <a:spLocks noGrp="1"/>
          </p:cNvSpPr>
          <p:nvPr>
            <p:ph type="title"/>
          </p:nvPr>
        </p:nvSpPr>
        <p:spPr>
          <a:xfrm>
            <a:off x="1130526" y="152850"/>
            <a:ext cx="115695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Stage 2. Enhance Complex Reasoning with RL</a:t>
            </a:r>
            <a:endParaRPr sz="3300"/>
          </a:p>
        </p:txBody>
      </p:sp>
      <p:sp>
        <p:nvSpPr>
          <p:cNvPr id="413" name="Google Shape;413;g3bca7b3d0bf_0_400"/>
          <p:cNvSpPr txBox="1"/>
          <p:nvPr/>
        </p:nvSpPr>
        <p:spPr>
          <a:xfrm>
            <a:off x="1384350" y="5073645"/>
            <a:ext cx="9423300" cy="685800"/>
          </a:xfrm>
          <a:prstGeom prst="rect">
            <a:avLst/>
          </a:prstGeom>
          <a:noFill/>
          <a:ln>
            <a:noFill/>
          </a:ln>
        </p:spPr>
        <p:txBody>
          <a:bodyPr spcFirstLastPara="1" wrap="square" lIns="108775" tIns="108775" rIns="108775" bIns="108775" anchor="t" anchorCtr="0">
            <a:spAutoFit/>
          </a:bodyPr>
          <a:lstStyle/>
          <a:p>
            <a:pPr marL="0" lvl="0" indent="0" algn="l" rtl="0">
              <a:lnSpc>
                <a:spcPct val="115000"/>
              </a:lnSpc>
              <a:spcBef>
                <a:spcPts val="1428"/>
              </a:spcBef>
              <a:spcAft>
                <a:spcPts val="1428"/>
              </a:spcAft>
              <a:buClr>
                <a:srgbClr val="000000"/>
              </a:buClr>
              <a:buSzPts val="1309"/>
              <a:buFont typeface="Arial"/>
              <a:buNone/>
            </a:pPr>
            <a:r>
              <a:rPr lang="en-US" sz="1408">
                <a:solidFill>
                  <a:srgbClr val="000000"/>
                </a:solidFill>
              </a:rPr>
              <a:t>While the LLM learned successful reasoning trajectories in stage 1, these paths, derived via search, may not be optimal. On-policy learning in stage 2 aims to refine the model for better complex CoT reasoning.</a:t>
            </a:r>
            <a:endParaRPr sz="1408">
              <a:solidFill>
                <a:srgbClr val="000000"/>
              </a:solidFill>
            </a:endParaRPr>
          </a:p>
        </p:txBody>
      </p:sp>
      <p:pic>
        <p:nvPicPr>
          <p:cNvPr id="414" name="Google Shape;414;g3bca7b3d0bf_0_400"/>
          <p:cNvPicPr preferRelativeResize="0"/>
          <p:nvPr/>
        </p:nvPicPr>
        <p:blipFill>
          <a:blip r:embed="rId3">
            <a:alphaModFix/>
          </a:blip>
          <a:stretch>
            <a:fillRect/>
          </a:stretch>
        </p:blipFill>
        <p:spPr>
          <a:xfrm>
            <a:off x="4384039" y="2023475"/>
            <a:ext cx="3328219" cy="269683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g3bca7b3d0bf_0_418"/>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33</a:t>
            </a:fld>
            <a:endParaRPr/>
          </a:p>
        </p:txBody>
      </p:sp>
      <p:sp>
        <p:nvSpPr>
          <p:cNvPr id="420" name="Google Shape;420;g3bca7b3d0bf_0_418"/>
          <p:cNvSpPr txBox="1">
            <a:spLocks noGrp="1"/>
          </p:cNvSpPr>
          <p:nvPr>
            <p:ph type="title"/>
          </p:nvPr>
        </p:nvSpPr>
        <p:spPr>
          <a:xfrm>
            <a:off x="1130526" y="152850"/>
            <a:ext cx="115695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HuatuoGPT-o1 Experiment</a:t>
            </a:r>
            <a:endParaRPr sz="3300"/>
          </a:p>
        </p:txBody>
      </p:sp>
      <p:pic>
        <p:nvPicPr>
          <p:cNvPr id="421" name="Google Shape;421;g3bca7b3d0bf_0_418"/>
          <p:cNvPicPr preferRelativeResize="0"/>
          <p:nvPr/>
        </p:nvPicPr>
        <p:blipFill>
          <a:blip r:embed="rId3">
            <a:alphaModFix/>
          </a:blip>
          <a:stretch>
            <a:fillRect/>
          </a:stretch>
        </p:blipFill>
        <p:spPr>
          <a:xfrm>
            <a:off x="2813350" y="1119276"/>
            <a:ext cx="5916292" cy="3750313"/>
          </a:xfrm>
          <a:prstGeom prst="rect">
            <a:avLst/>
          </a:prstGeom>
          <a:noFill/>
          <a:ln>
            <a:noFill/>
          </a:ln>
        </p:spPr>
      </p:pic>
      <p:sp>
        <p:nvSpPr>
          <p:cNvPr id="422" name="Google Shape;422;g3bca7b3d0bf_0_418"/>
          <p:cNvSpPr txBox="1"/>
          <p:nvPr/>
        </p:nvSpPr>
        <p:spPr>
          <a:xfrm>
            <a:off x="1189550" y="4812000"/>
            <a:ext cx="9936300" cy="1329600"/>
          </a:xfrm>
          <a:prstGeom prst="rect">
            <a:avLst/>
          </a:prstGeom>
          <a:noFill/>
          <a:ln>
            <a:noFill/>
          </a:ln>
        </p:spPr>
        <p:txBody>
          <a:bodyPr spcFirstLastPara="1" wrap="square" lIns="99675" tIns="99675" rIns="99675" bIns="99675" anchor="t" anchorCtr="0">
            <a:spAutoFit/>
          </a:bodyPr>
          <a:lstStyle/>
          <a:p>
            <a:pPr marL="0" lvl="0" indent="0" algn="l" rtl="0">
              <a:lnSpc>
                <a:spcPct val="100000"/>
              </a:lnSpc>
              <a:spcBef>
                <a:spcPts val="0"/>
              </a:spcBef>
              <a:spcAft>
                <a:spcPts val="0"/>
              </a:spcAft>
              <a:buClr>
                <a:srgbClr val="000000"/>
              </a:buClr>
              <a:buSzPts val="1199"/>
              <a:buFont typeface="Arial"/>
              <a:buNone/>
            </a:pPr>
            <a:r>
              <a:rPr lang="en-US" sz="1299" b="1">
                <a:solidFill>
                  <a:srgbClr val="990099"/>
                </a:solidFill>
              </a:rPr>
              <a:t>Using only 40K Medical Verifiable Problems:</a:t>
            </a:r>
            <a:endParaRPr sz="1299" b="1">
              <a:solidFill>
                <a:srgbClr val="990099"/>
              </a:solidFill>
            </a:endParaRPr>
          </a:p>
          <a:p>
            <a:pPr marL="457200" lvl="0" indent="-311100" algn="l" rtl="0">
              <a:lnSpc>
                <a:spcPct val="100000"/>
              </a:lnSpc>
              <a:spcBef>
                <a:spcPts val="1000"/>
              </a:spcBef>
              <a:spcAft>
                <a:spcPts val="0"/>
              </a:spcAft>
              <a:buSzPts val="1299"/>
              <a:buChar char="●"/>
            </a:pPr>
            <a:r>
              <a:rPr lang="en-US" sz="1299" b="1">
                <a:solidFill>
                  <a:srgbClr val="000000"/>
                </a:solidFill>
              </a:rPr>
              <a:t>HuatuoGPT-</a:t>
            </a:r>
            <a:r>
              <a:rPr lang="en-US" sz="1299" b="1"/>
              <a:t>o</a:t>
            </a:r>
            <a:r>
              <a:rPr lang="en-US" sz="1299" b="1">
                <a:solidFill>
                  <a:srgbClr val="000000"/>
                </a:solidFill>
              </a:rPr>
              <a:t>1-8B</a:t>
            </a:r>
            <a:r>
              <a:rPr lang="en-US" sz="1299">
                <a:solidFill>
                  <a:srgbClr val="000000"/>
                </a:solidFill>
              </a:rPr>
              <a:t> achieved an 8-point overall improvement on medical benchmarks using only 40K verifiable medical questions, with significant performance boosts on challenging evaluations like GPQA and MMLU-Pro.</a:t>
            </a:r>
            <a:endParaRPr sz="1299">
              <a:solidFill>
                <a:srgbClr val="000000"/>
              </a:solidFill>
            </a:endParaRPr>
          </a:p>
          <a:p>
            <a:pPr marL="457200" lvl="0" indent="-311100" algn="l" rtl="0">
              <a:lnSpc>
                <a:spcPct val="100000"/>
              </a:lnSpc>
              <a:spcBef>
                <a:spcPts val="0"/>
              </a:spcBef>
              <a:spcAft>
                <a:spcPts val="0"/>
              </a:spcAft>
              <a:buSzPts val="1299"/>
              <a:buChar char="●"/>
            </a:pPr>
            <a:r>
              <a:rPr lang="en-US" sz="1299" b="1">
                <a:solidFill>
                  <a:srgbClr val="000000"/>
                </a:solidFill>
              </a:rPr>
              <a:t>HuatuoGPT-</a:t>
            </a:r>
            <a:r>
              <a:rPr lang="en-US" sz="1299" b="1"/>
              <a:t>o</a:t>
            </a:r>
            <a:r>
              <a:rPr lang="en-US" sz="1299" b="1">
                <a:solidFill>
                  <a:srgbClr val="000000"/>
                </a:solidFill>
              </a:rPr>
              <a:t>1-70B</a:t>
            </a:r>
            <a:r>
              <a:rPr lang="en-US" sz="1299">
                <a:solidFill>
                  <a:srgbClr val="000000"/>
                </a:solidFill>
              </a:rPr>
              <a:t> set new performance benchmarks, surpassing existing open-source general and medical-specific LLMs across multiple medical tasks.</a:t>
            </a:r>
            <a:endParaRPr sz="1299">
              <a:solidFill>
                <a:srgbClr val="0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g3bca7b3d0bf_0_409"/>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34</a:t>
            </a:fld>
            <a:endParaRPr/>
          </a:p>
        </p:txBody>
      </p:sp>
      <p:sp>
        <p:nvSpPr>
          <p:cNvPr id="428" name="Google Shape;428;g3bca7b3d0bf_0_409"/>
          <p:cNvSpPr txBox="1">
            <a:spLocks noGrp="1"/>
          </p:cNvSpPr>
          <p:nvPr>
            <p:ph type="title"/>
          </p:nvPr>
        </p:nvSpPr>
        <p:spPr>
          <a:xfrm>
            <a:off x="1130526" y="152850"/>
            <a:ext cx="115695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HuatuoGPT-o1 Experiment</a:t>
            </a:r>
            <a:endParaRPr sz="3300"/>
          </a:p>
        </p:txBody>
      </p:sp>
      <p:pic>
        <p:nvPicPr>
          <p:cNvPr id="429" name="Google Shape;429;g3bca7b3d0bf_0_409"/>
          <p:cNvPicPr preferRelativeResize="0"/>
          <p:nvPr/>
        </p:nvPicPr>
        <p:blipFill>
          <a:blip r:embed="rId3">
            <a:alphaModFix/>
          </a:blip>
          <a:stretch>
            <a:fillRect/>
          </a:stretch>
        </p:blipFill>
        <p:spPr>
          <a:xfrm>
            <a:off x="1342775" y="1596650"/>
            <a:ext cx="5229473" cy="2798625"/>
          </a:xfrm>
          <a:prstGeom prst="rect">
            <a:avLst/>
          </a:prstGeom>
          <a:noFill/>
          <a:ln>
            <a:noFill/>
          </a:ln>
        </p:spPr>
      </p:pic>
      <p:sp>
        <p:nvSpPr>
          <p:cNvPr id="430" name="Google Shape;430;g3bca7b3d0bf_0_409"/>
          <p:cNvSpPr txBox="1"/>
          <p:nvPr/>
        </p:nvSpPr>
        <p:spPr>
          <a:xfrm>
            <a:off x="1066450" y="4573408"/>
            <a:ext cx="9730800" cy="1038300"/>
          </a:xfrm>
          <a:prstGeom prst="rect">
            <a:avLst/>
          </a:prstGeom>
          <a:noFill/>
          <a:ln>
            <a:noFill/>
          </a:ln>
        </p:spPr>
        <p:txBody>
          <a:bodyPr spcFirstLastPara="1" wrap="square" lIns="112325" tIns="112325" rIns="112325" bIns="112325" anchor="t" anchorCtr="0">
            <a:spAutoFit/>
          </a:bodyPr>
          <a:lstStyle/>
          <a:p>
            <a:pPr marL="0" lvl="0" indent="0" algn="l" rtl="0">
              <a:lnSpc>
                <a:spcPct val="115000"/>
              </a:lnSpc>
              <a:spcBef>
                <a:spcPts val="1474"/>
              </a:spcBef>
              <a:spcAft>
                <a:spcPts val="1474"/>
              </a:spcAft>
              <a:buNone/>
            </a:pPr>
            <a:r>
              <a:rPr lang="en-US" sz="1597"/>
              <a:t>The ablation results confirm that </a:t>
            </a:r>
            <a:r>
              <a:rPr lang="en-US" sz="1597">
                <a:solidFill>
                  <a:srgbClr val="990099"/>
                </a:solidFill>
              </a:rPr>
              <a:t>enhancing complex reasoning not only boosts medical performance but also significantly amplifies the benefits of RL training</a:t>
            </a:r>
            <a:r>
              <a:rPr lang="en-US" sz="1597"/>
              <a:t>, offering a scalable and verifiable path toward safer, more capable medical LLMs.</a:t>
            </a:r>
            <a:endParaRPr sz="1351">
              <a:solidFill>
                <a:srgbClr val="000000"/>
              </a:solidFill>
            </a:endParaRPr>
          </a:p>
        </p:txBody>
      </p:sp>
      <p:pic>
        <p:nvPicPr>
          <p:cNvPr id="431" name="Google Shape;431;g3bca7b3d0bf_0_409"/>
          <p:cNvPicPr preferRelativeResize="0"/>
          <p:nvPr/>
        </p:nvPicPr>
        <p:blipFill>
          <a:blip r:embed="rId4">
            <a:alphaModFix/>
          </a:blip>
          <a:stretch>
            <a:fillRect/>
          </a:stretch>
        </p:blipFill>
        <p:spPr>
          <a:xfrm>
            <a:off x="7194199" y="2698848"/>
            <a:ext cx="3662251" cy="9616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g3c2d40ae598_1_84"/>
          <p:cNvSpPr txBox="1">
            <a:spLocks noGrp="1"/>
          </p:cNvSpPr>
          <p:nvPr>
            <p:ph type="title"/>
          </p:nvPr>
        </p:nvSpPr>
        <p:spPr>
          <a:xfrm>
            <a:off x="1296610" y="144466"/>
            <a:ext cx="102711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Outline</a:t>
            </a:r>
            <a:endParaRPr/>
          </a:p>
        </p:txBody>
      </p:sp>
      <p:sp>
        <p:nvSpPr>
          <p:cNvPr id="438" name="Google Shape;438;g3c2d40ae598_1_84"/>
          <p:cNvSpPr txBox="1">
            <a:spLocks noGrp="1"/>
          </p:cNvSpPr>
          <p:nvPr>
            <p:ph type="body" idx="1"/>
          </p:nvPr>
        </p:nvSpPr>
        <p:spPr>
          <a:xfrm>
            <a:off x="1296535" y="1455337"/>
            <a:ext cx="10271100" cy="3560700"/>
          </a:xfrm>
          <a:prstGeom prst="rect">
            <a:avLst/>
          </a:prstGeom>
          <a:noFill/>
          <a:ln>
            <a:noFill/>
          </a:ln>
        </p:spPr>
        <p:txBody>
          <a:bodyPr spcFirstLastPara="1" wrap="square" lIns="91425" tIns="45700" rIns="91425" bIns="45700" anchor="t" anchorCtr="0">
            <a:noAutofit/>
          </a:bodyPr>
          <a:lstStyle/>
          <a:p>
            <a:pPr marL="342882" lvl="0" indent="-342882" algn="l" rtl="0">
              <a:spcBef>
                <a:spcPts val="0"/>
              </a:spcBef>
              <a:spcAft>
                <a:spcPts val="0"/>
              </a:spcAft>
              <a:buSzPts val="2346"/>
              <a:buChar char="●"/>
            </a:pPr>
            <a:r>
              <a:rPr lang="en-US" sz="2933">
                <a:latin typeface="Times New Roman"/>
                <a:ea typeface="Times New Roman"/>
                <a:cs typeface="Times New Roman"/>
                <a:sym typeface="Times New Roman"/>
              </a:rPr>
              <a:t>Background (3 min)</a:t>
            </a:r>
            <a:endParaRPr sz="2933">
              <a:latin typeface="Times New Roman"/>
              <a:ea typeface="Times New Roman"/>
              <a:cs typeface="Times New Roman"/>
              <a:sym typeface="Times New Roman"/>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Motivation (3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Proposed Methods &amp; Performance Evaluation (18 min)</a:t>
            </a:r>
            <a:endParaRPr/>
          </a:p>
          <a:p>
            <a:pPr marL="742913" lvl="1" indent="-285737" algn="l" rtl="0">
              <a:spcBef>
                <a:spcPts val="480"/>
              </a:spcBef>
              <a:spcAft>
                <a:spcPts val="0"/>
              </a:spcAft>
              <a:buSzPts val="2160"/>
              <a:buChar char="–"/>
            </a:pPr>
            <a:r>
              <a:rPr lang="en-US" sz="2400">
                <a:latin typeface="Times New Roman"/>
                <a:ea typeface="Times New Roman"/>
                <a:cs typeface="Times New Roman"/>
                <a:sym typeface="Times New Roman"/>
              </a:rPr>
              <a:t>HuatuoGPT-2 ( 6 min)</a:t>
            </a:r>
            <a:endParaRPr/>
          </a:p>
          <a:p>
            <a:pPr marL="742913" lvl="1" indent="-285737" algn="l" rtl="0">
              <a:spcBef>
                <a:spcPts val="480"/>
              </a:spcBef>
              <a:spcAft>
                <a:spcPts val="0"/>
              </a:spcAft>
              <a:buSzPts val="2160"/>
              <a:buChar char="–"/>
            </a:pPr>
            <a:r>
              <a:rPr lang="en-US" sz="2400">
                <a:latin typeface="Times New Roman"/>
                <a:ea typeface="Times New Roman"/>
                <a:cs typeface="Times New Roman"/>
                <a:sym typeface="Times New Roman"/>
              </a:rPr>
              <a:t>HuatuoGPT-o1 ( 6 min)</a:t>
            </a:r>
            <a:endParaRPr/>
          </a:p>
          <a:p>
            <a:pPr marL="742913" lvl="1" indent="-285737" algn="l" rtl="0">
              <a:spcBef>
                <a:spcPts val="480"/>
              </a:spcBef>
              <a:spcAft>
                <a:spcPts val="0"/>
              </a:spcAft>
              <a:buSzPts val="2160"/>
              <a:buChar char="–"/>
            </a:pPr>
            <a:r>
              <a:rPr lang="en-US" sz="2400">
                <a:solidFill>
                  <a:srgbClr val="FF0000"/>
                </a:solidFill>
                <a:latin typeface="Times New Roman"/>
                <a:ea typeface="Times New Roman"/>
                <a:cs typeface="Times New Roman"/>
                <a:sym typeface="Times New Roman"/>
              </a:rPr>
              <a:t>HuatuoGPT-3</a:t>
            </a:r>
            <a:r>
              <a:rPr lang="en-US" sz="2400">
                <a:latin typeface="Times New Roman"/>
                <a:ea typeface="Times New Roman"/>
                <a:cs typeface="Times New Roman"/>
                <a:sym typeface="Times New Roman"/>
              </a:rPr>
              <a:t> ( 6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Conclusions (1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Q &amp; A (5 min)</a:t>
            </a:r>
            <a:endParaRPr/>
          </a:p>
        </p:txBody>
      </p:sp>
      <p:sp>
        <p:nvSpPr>
          <p:cNvPr id="439" name="Google Shape;439;g3c2d40ae598_1_84"/>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g3bca7b3d0bf_0_435"/>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36</a:t>
            </a:fld>
            <a:endParaRPr/>
          </a:p>
        </p:txBody>
      </p:sp>
      <p:sp>
        <p:nvSpPr>
          <p:cNvPr id="445" name="Google Shape;445;g3bca7b3d0bf_0_435"/>
          <p:cNvSpPr txBox="1"/>
          <p:nvPr/>
        </p:nvSpPr>
        <p:spPr>
          <a:xfrm>
            <a:off x="1180100" y="1873875"/>
            <a:ext cx="9673200" cy="903300"/>
          </a:xfrm>
          <a:prstGeom prst="rect">
            <a:avLst/>
          </a:prstGeom>
          <a:noFill/>
          <a:ln>
            <a:noFill/>
          </a:ln>
        </p:spPr>
        <p:txBody>
          <a:bodyPr spcFirstLastPara="1" wrap="square" lIns="91425" tIns="45700" rIns="91425" bIns="45700" anchor="t" anchorCtr="0">
            <a:noAutofit/>
          </a:bodyPr>
          <a:lstStyle/>
          <a:p>
            <a:pPr marL="457200" lvl="0" indent="-361950" algn="l" rtl="0">
              <a:lnSpc>
                <a:spcPct val="115000"/>
              </a:lnSpc>
              <a:spcBef>
                <a:spcPts val="0"/>
              </a:spcBef>
              <a:spcAft>
                <a:spcPts val="0"/>
              </a:spcAft>
              <a:buClr>
                <a:srgbClr val="1F2328"/>
              </a:buClr>
              <a:buSzPts val="2100"/>
              <a:buChar char="●"/>
            </a:pPr>
            <a:r>
              <a:rPr lang="en-US" sz="2100" b="1">
                <a:solidFill>
                  <a:srgbClr val="1F2328"/>
                </a:solidFill>
              </a:rPr>
              <a:t>HuatuoGPT-II:</a:t>
            </a:r>
            <a:r>
              <a:rPr lang="en-US" sz="2100">
                <a:solidFill>
                  <a:srgbClr val="1F2328"/>
                </a:solidFill>
              </a:rPr>
              <a:t> One-stage can replace two-stage pre-training+SFT</a:t>
            </a:r>
            <a:endParaRPr sz="2100">
              <a:solidFill>
                <a:srgbClr val="1F2328"/>
              </a:solidFill>
            </a:endParaRPr>
          </a:p>
          <a:p>
            <a:pPr marL="457200" lvl="0" indent="-361950" algn="l" rtl="0">
              <a:lnSpc>
                <a:spcPct val="115000"/>
              </a:lnSpc>
              <a:spcBef>
                <a:spcPts val="0"/>
              </a:spcBef>
              <a:spcAft>
                <a:spcPts val="0"/>
              </a:spcAft>
              <a:buClr>
                <a:srgbClr val="1F2328"/>
              </a:buClr>
              <a:buSzPts val="2100"/>
              <a:buChar char="●"/>
            </a:pPr>
            <a:r>
              <a:rPr lang="en-US" sz="2100" b="1">
                <a:solidFill>
                  <a:srgbClr val="1F2328"/>
                </a:solidFill>
              </a:rPr>
              <a:t>HuatuoGPT-o1: </a:t>
            </a:r>
            <a:r>
              <a:rPr lang="en-US" sz="2100">
                <a:solidFill>
                  <a:srgbClr val="1F2328"/>
                </a:solidFill>
              </a:rPr>
              <a:t>SFT+RL achieves excellent medical reasoning</a:t>
            </a:r>
            <a:endParaRPr sz="2100">
              <a:solidFill>
                <a:srgbClr val="1F2328"/>
              </a:solidFill>
            </a:endParaRPr>
          </a:p>
          <a:p>
            <a:pPr marL="0" lvl="0" indent="0" algn="l" rtl="0">
              <a:lnSpc>
                <a:spcPct val="115000"/>
              </a:lnSpc>
              <a:spcBef>
                <a:spcPts val="1200"/>
              </a:spcBef>
              <a:spcAft>
                <a:spcPts val="1200"/>
              </a:spcAft>
              <a:buNone/>
            </a:pPr>
            <a:endParaRPr sz="1900" b="1">
              <a:solidFill>
                <a:schemeClr val="dk1"/>
              </a:solidFill>
            </a:endParaRPr>
          </a:p>
        </p:txBody>
      </p:sp>
      <p:sp>
        <p:nvSpPr>
          <p:cNvPr id="446" name="Google Shape;446;g3bca7b3d0bf_0_435"/>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HuatuoGPT-3: Direct One-stage Policy Optimization</a:t>
            </a:r>
            <a:endParaRPr sz="3300"/>
          </a:p>
        </p:txBody>
      </p:sp>
      <p:sp>
        <p:nvSpPr>
          <p:cNvPr id="447" name="Google Shape;447;g3bca7b3d0bf_0_435"/>
          <p:cNvSpPr txBox="1"/>
          <p:nvPr/>
        </p:nvSpPr>
        <p:spPr>
          <a:xfrm>
            <a:off x="236230" y="4026200"/>
            <a:ext cx="10205700" cy="400200"/>
          </a:xfrm>
          <a:prstGeom prst="rect">
            <a:avLst/>
          </a:prstGeom>
          <a:noFill/>
          <a:ln>
            <a:noFill/>
          </a:ln>
        </p:spPr>
        <p:txBody>
          <a:bodyPr spcFirstLastPara="1" wrap="square" lIns="91425" tIns="45700" rIns="91425" bIns="45700" anchor="ctr" anchorCtr="1">
            <a:spAutoFit/>
          </a:bodyPr>
          <a:lstStyle/>
          <a:p>
            <a:pPr marL="0" marR="0" lvl="0" indent="0" algn="ctr" rtl="0">
              <a:spcBef>
                <a:spcPts val="0"/>
              </a:spcBef>
              <a:spcAft>
                <a:spcPts val="0"/>
              </a:spcAft>
              <a:buNone/>
            </a:pPr>
            <a:r>
              <a:rPr lang="en-US" sz="2000" i="1">
                <a:solidFill>
                  <a:schemeClr val="dk1"/>
                </a:solidFill>
                <a:latin typeface="Times New Roman"/>
                <a:ea typeface="Times New Roman"/>
                <a:cs typeface="Times New Roman"/>
                <a:sym typeface="Times New Roman"/>
              </a:rPr>
              <a:t>Can we skip </a:t>
            </a:r>
            <a:r>
              <a:rPr lang="en-US" sz="2000" b="1" i="1">
                <a:solidFill>
                  <a:schemeClr val="dk1"/>
                </a:solidFill>
                <a:latin typeface="Times New Roman"/>
                <a:ea typeface="Times New Roman"/>
                <a:cs typeface="Times New Roman"/>
                <a:sym typeface="Times New Roman"/>
              </a:rPr>
              <a:t>SFT </a:t>
            </a:r>
            <a:r>
              <a:rPr lang="en-US" sz="2000" i="1">
                <a:solidFill>
                  <a:schemeClr val="dk1"/>
                </a:solidFill>
                <a:latin typeface="Times New Roman"/>
                <a:ea typeface="Times New Roman"/>
                <a:cs typeface="Times New Roman"/>
                <a:sym typeface="Times New Roman"/>
              </a:rPr>
              <a:t>entirely and use</a:t>
            </a:r>
            <a:r>
              <a:rPr lang="en-US" sz="2000" b="1" i="1">
                <a:solidFill>
                  <a:schemeClr val="dk1"/>
                </a:solidFill>
                <a:latin typeface="Times New Roman"/>
                <a:ea typeface="Times New Roman"/>
                <a:cs typeface="Times New Roman"/>
                <a:sym typeface="Times New Roman"/>
              </a:rPr>
              <a:t> Pure RL</a:t>
            </a:r>
            <a:r>
              <a:rPr lang="en-US" sz="2000" i="1">
                <a:solidFill>
                  <a:schemeClr val="dk1"/>
                </a:solidFill>
                <a:latin typeface="Times New Roman"/>
                <a:ea typeface="Times New Roman"/>
                <a:cs typeface="Times New Roman"/>
                <a:sym typeface="Times New Roman"/>
              </a:rPr>
              <a:t> for domain adaptation?</a:t>
            </a:r>
            <a:endParaRPr sz="2000" b="0" i="1" u="none" strike="noStrike" cap="none">
              <a:solidFill>
                <a:srgbClr val="FF0000"/>
              </a:solidFill>
              <a:latin typeface="Times New Roman"/>
              <a:ea typeface="Times New Roman"/>
              <a:cs typeface="Times New Roman"/>
              <a:sym typeface="Times New Roman"/>
            </a:endParaRPr>
          </a:p>
        </p:txBody>
      </p:sp>
      <p:sp>
        <p:nvSpPr>
          <p:cNvPr id="448" name="Google Shape;448;g3bca7b3d0bf_0_435"/>
          <p:cNvSpPr txBox="1"/>
          <p:nvPr/>
        </p:nvSpPr>
        <p:spPr>
          <a:xfrm>
            <a:off x="1130525" y="1342800"/>
            <a:ext cx="6729600" cy="411900"/>
          </a:xfrm>
          <a:prstGeom prst="rect">
            <a:avLst/>
          </a:prstGeom>
          <a:noFill/>
          <a:ln>
            <a:noFill/>
          </a:ln>
        </p:spPr>
        <p:txBody>
          <a:bodyPr spcFirstLastPara="1" wrap="square" lIns="91425" tIns="90000" rIns="91425" bIns="91425" anchor="t" anchorCtr="0">
            <a:noAutofit/>
          </a:bodyPr>
          <a:lstStyle/>
          <a:p>
            <a:pPr marL="0" lvl="0" indent="0" algn="l" rtl="0">
              <a:lnSpc>
                <a:spcPct val="125000"/>
              </a:lnSpc>
              <a:spcBef>
                <a:spcPts val="1800"/>
              </a:spcBef>
              <a:spcAft>
                <a:spcPts val="0"/>
              </a:spcAft>
              <a:buClr>
                <a:schemeClr val="dk1"/>
              </a:buClr>
              <a:buSzPts val="1100"/>
              <a:buFont typeface="Arial"/>
              <a:buNone/>
            </a:pPr>
            <a:r>
              <a:rPr lang="en-US" sz="2400" b="1">
                <a:solidFill>
                  <a:srgbClr val="990099"/>
                </a:solidFill>
              </a:rPr>
              <a:t>We've shown:</a:t>
            </a:r>
            <a:endParaRPr sz="2400" b="1">
              <a:solidFill>
                <a:srgbClr val="990099"/>
              </a:solidFill>
            </a:endParaRPr>
          </a:p>
          <a:p>
            <a:pPr marL="0" lvl="0" indent="0" algn="l" rtl="0">
              <a:spcBef>
                <a:spcPts val="1200"/>
              </a:spcBef>
              <a:spcAft>
                <a:spcPts val="0"/>
              </a:spcAft>
              <a:buNone/>
            </a:pPr>
            <a:endParaRPr sz="1500" b="1">
              <a:solidFill>
                <a:srgbClr val="990099"/>
              </a:solidFill>
            </a:endParaRPr>
          </a:p>
        </p:txBody>
      </p:sp>
      <p:sp>
        <p:nvSpPr>
          <p:cNvPr id="449" name="Google Shape;449;g3bca7b3d0bf_0_435"/>
          <p:cNvSpPr txBox="1"/>
          <p:nvPr/>
        </p:nvSpPr>
        <p:spPr>
          <a:xfrm>
            <a:off x="1294850" y="3403763"/>
            <a:ext cx="6729600" cy="411900"/>
          </a:xfrm>
          <a:prstGeom prst="rect">
            <a:avLst/>
          </a:prstGeom>
          <a:noFill/>
          <a:ln>
            <a:noFill/>
          </a:ln>
        </p:spPr>
        <p:txBody>
          <a:bodyPr spcFirstLastPara="1" wrap="square" lIns="91425" tIns="90000" rIns="91425" bIns="91425" anchor="t" anchorCtr="0">
            <a:noAutofit/>
          </a:bodyPr>
          <a:lstStyle/>
          <a:p>
            <a:pPr marL="0" lvl="0" indent="0" algn="l" rtl="0">
              <a:lnSpc>
                <a:spcPct val="125000"/>
              </a:lnSpc>
              <a:spcBef>
                <a:spcPts val="1800"/>
              </a:spcBef>
              <a:spcAft>
                <a:spcPts val="0"/>
              </a:spcAft>
              <a:buNone/>
            </a:pPr>
            <a:r>
              <a:rPr lang="en-US" sz="2400" b="1">
                <a:solidFill>
                  <a:srgbClr val="990099"/>
                </a:solidFill>
              </a:rPr>
              <a:t>Next Question:</a:t>
            </a:r>
            <a:endParaRPr sz="2400" b="1">
              <a:solidFill>
                <a:srgbClr val="990099"/>
              </a:solidFill>
            </a:endParaRPr>
          </a:p>
          <a:p>
            <a:pPr marL="0" lvl="0" indent="0" algn="l" rtl="0">
              <a:spcBef>
                <a:spcPts val="1200"/>
              </a:spcBef>
              <a:spcAft>
                <a:spcPts val="0"/>
              </a:spcAft>
              <a:buNone/>
            </a:pPr>
            <a:r>
              <a:rPr lang="en-US" sz="1500" b="1">
                <a:solidFill>
                  <a:srgbClr val="990099"/>
                </a:solidFill>
              </a:rPr>
              <a:t>|</a:t>
            </a:r>
            <a:endParaRPr sz="1500" b="1">
              <a:solidFill>
                <a:srgbClr val="990099"/>
              </a:solidFill>
            </a:endParaRPr>
          </a:p>
        </p:txBody>
      </p:sp>
      <p:sp>
        <p:nvSpPr>
          <p:cNvPr id="450" name="Google Shape;450;g3bca7b3d0bf_0_435"/>
          <p:cNvSpPr txBox="1"/>
          <p:nvPr/>
        </p:nvSpPr>
        <p:spPr>
          <a:xfrm>
            <a:off x="1562700" y="4879438"/>
            <a:ext cx="8130300" cy="80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700">
                <a:solidFill>
                  <a:schemeClr val="dk1"/>
                </a:solidFill>
                <a:highlight>
                  <a:srgbClr val="FFF2CC"/>
                </a:highlight>
              </a:rPr>
              <a:t> SFT +RL </a:t>
            </a:r>
            <a:r>
              <a:rPr lang="en-US" sz="1700" b="1">
                <a:solidFill>
                  <a:schemeClr val="dk1"/>
                </a:solidFill>
                <a:highlight>
                  <a:srgbClr val="FFF2CC"/>
                </a:highlight>
              </a:rPr>
              <a:t>→</a:t>
            </a:r>
            <a:r>
              <a:rPr lang="en-US" sz="1700">
                <a:solidFill>
                  <a:schemeClr val="dk1"/>
                </a:solidFill>
                <a:highlight>
                  <a:srgbClr val="FFF2CC"/>
                </a:highlight>
              </a:rPr>
              <a:t> RL </a:t>
            </a:r>
            <a:endParaRPr sz="2000">
              <a:solidFill>
                <a:srgbClr val="000000"/>
              </a:solidFill>
              <a:highlight>
                <a:srgbClr val="FFF2CC"/>
              </a:highlight>
            </a:endParaRPr>
          </a:p>
        </p:txBody>
      </p:sp>
      <p:sp>
        <p:nvSpPr>
          <p:cNvPr id="451" name="Google Shape;451;g3bca7b3d0bf_0_435"/>
          <p:cNvSpPr txBox="1"/>
          <p:nvPr/>
        </p:nvSpPr>
        <p:spPr>
          <a:xfrm>
            <a:off x="236225" y="5796839"/>
            <a:ext cx="10594200" cy="61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FF"/>
              </a:buClr>
              <a:buSzPts val="800"/>
              <a:buFont typeface="Noto Sans Symbols"/>
              <a:buNone/>
            </a:pPr>
            <a:r>
              <a:rPr lang="en-US" sz="1050">
                <a:solidFill>
                  <a:schemeClr val="dk1"/>
                </a:solidFill>
              </a:rPr>
              <a:t>[1] </a:t>
            </a:r>
            <a:r>
              <a:rPr lang="en-US" sz="1050" b="1">
                <a:solidFill>
                  <a:srgbClr val="666666"/>
                </a:solidFill>
              </a:rPr>
              <a:t>Junying Chen</a:t>
            </a:r>
            <a:r>
              <a:rPr lang="en-US" sz="1050">
                <a:solidFill>
                  <a:srgbClr val="666666"/>
                </a:solidFill>
              </a:rPr>
              <a:t>, Xinyuan Xie, et al. </a:t>
            </a:r>
            <a:r>
              <a:rPr lang="en-US" sz="1050" b="1">
                <a:solidFill>
                  <a:schemeClr val="dk1"/>
                </a:solidFill>
              </a:rPr>
              <a:t>HuatuoGPT-3: One-stage Policy Optimization for SFT-free Domain Adaptation. </a:t>
            </a:r>
            <a:r>
              <a:rPr lang="en-US" sz="1050">
                <a:solidFill>
                  <a:schemeClr val="dk1"/>
                </a:solidFill>
              </a:rPr>
              <a:t>Submitted to ICML 2026.</a:t>
            </a:r>
            <a:endParaRPr sz="1050">
              <a:solidFill>
                <a:schemeClr val="dk1"/>
              </a:solidFill>
            </a:endParaRPr>
          </a:p>
          <a:p>
            <a:pPr marL="0" marR="0" lvl="0" indent="0" algn="l" rtl="0">
              <a:spcBef>
                <a:spcPts val="200"/>
              </a:spcBef>
              <a:spcAft>
                <a:spcPts val="0"/>
              </a:spcAft>
              <a:buClr>
                <a:srgbClr val="0000FF"/>
              </a:buClr>
              <a:buSzPts val="800"/>
              <a:buFont typeface="Noto Sans Symbols"/>
              <a:buNone/>
            </a:pPr>
            <a:endParaRPr sz="1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g3bca7b3d0bf_0_478"/>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37</a:t>
            </a:fld>
            <a:endParaRPr/>
          </a:p>
        </p:txBody>
      </p:sp>
      <p:sp>
        <p:nvSpPr>
          <p:cNvPr id="457" name="Google Shape;457;g3bca7b3d0bf_0_478"/>
          <p:cNvSpPr txBox="1"/>
          <p:nvPr/>
        </p:nvSpPr>
        <p:spPr>
          <a:xfrm>
            <a:off x="605750" y="2903400"/>
            <a:ext cx="9673200" cy="903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2100">
                <a:solidFill>
                  <a:srgbClr val="990099"/>
                </a:solidFill>
              </a:rPr>
              <a:t>We argue that pre-SFT is inherently problematic: </a:t>
            </a:r>
            <a:endParaRPr sz="2100">
              <a:solidFill>
                <a:srgbClr val="990099"/>
              </a:solidFill>
            </a:endParaRPr>
          </a:p>
          <a:p>
            <a:pPr marL="457200" lvl="0" indent="0" algn="l" rtl="0">
              <a:lnSpc>
                <a:spcPct val="115000"/>
              </a:lnSpc>
              <a:spcBef>
                <a:spcPts val="1200"/>
              </a:spcBef>
              <a:spcAft>
                <a:spcPts val="0"/>
              </a:spcAft>
              <a:buNone/>
            </a:pPr>
            <a:r>
              <a:rPr lang="en-US" sz="2100">
                <a:solidFill>
                  <a:srgbClr val="1F2328"/>
                </a:solidFill>
              </a:rPr>
              <a:t>(1) it indiscriminately reinforces knowledge and behaviors from references regardless of whether the LLM has already acquired them.</a:t>
            </a:r>
            <a:endParaRPr sz="2100">
              <a:solidFill>
                <a:srgbClr val="1F2328"/>
              </a:solidFill>
            </a:endParaRPr>
          </a:p>
          <a:p>
            <a:pPr marL="457200" lvl="0" indent="0" algn="l" rtl="0">
              <a:lnSpc>
                <a:spcPct val="115000"/>
              </a:lnSpc>
              <a:spcBef>
                <a:spcPts val="1200"/>
              </a:spcBef>
              <a:spcAft>
                <a:spcPts val="0"/>
              </a:spcAft>
              <a:buNone/>
            </a:pPr>
            <a:r>
              <a:rPr lang="en-US" sz="2100">
                <a:solidFill>
                  <a:srgbClr val="1F2328"/>
                </a:solidFill>
              </a:rPr>
              <a:t>(2) Increased complexity and stringent data requirements.</a:t>
            </a:r>
            <a:endParaRPr sz="2100">
              <a:solidFill>
                <a:srgbClr val="1F2328"/>
              </a:solidFill>
            </a:endParaRPr>
          </a:p>
          <a:p>
            <a:pPr marL="0" lvl="0" indent="0" algn="l" rtl="0">
              <a:lnSpc>
                <a:spcPct val="115000"/>
              </a:lnSpc>
              <a:spcBef>
                <a:spcPts val="1200"/>
              </a:spcBef>
              <a:spcAft>
                <a:spcPts val="1200"/>
              </a:spcAft>
              <a:buNone/>
            </a:pPr>
            <a:endParaRPr sz="1900">
              <a:solidFill>
                <a:schemeClr val="dk1"/>
              </a:solidFill>
            </a:endParaRPr>
          </a:p>
        </p:txBody>
      </p:sp>
      <p:sp>
        <p:nvSpPr>
          <p:cNvPr id="458" name="Google Shape;458;g3bca7b3d0bf_0_478"/>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HuatuoGPT-3: Direct One-stage Policy Optimization</a:t>
            </a:r>
            <a:endParaRPr sz="3300"/>
          </a:p>
        </p:txBody>
      </p:sp>
      <p:sp>
        <p:nvSpPr>
          <p:cNvPr id="459" name="Google Shape;459;g3bca7b3d0bf_0_478"/>
          <p:cNvSpPr/>
          <p:nvPr/>
        </p:nvSpPr>
        <p:spPr>
          <a:xfrm>
            <a:off x="1699375" y="1523750"/>
            <a:ext cx="8157300" cy="530400"/>
          </a:xfrm>
          <a:prstGeom prst="roundRect">
            <a:avLst>
              <a:gd name="adj" fmla="val 744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US" sz="1800" b="1" i="1">
                <a:solidFill>
                  <a:schemeClr val="dk1"/>
                </a:solidFill>
              </a:rPr>
              <a:t>	Does RL truly require a pre-SFT or a cold-start phase?</a:t>
            </a:r>
            <a:endParaRPr sz="1800" b="1" i="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g3bca7b3d0bf_0_491"/>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38</a:t>
            </a:fld>
            <a:endParaRPr/>
          </a:p>
        </p:txBody>
      </p:sp>
      <p:sp>
        <p:nvSpPr>
          <p:cNvPr id="465" name="Google Shape;465;g3bca7b3d0bf_0_491"/>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Pilot Study</a:t>
            </a:r>
            <a:endParaRPr sz="3300"/>
          </a:p>
        </p:txBody>
      </p:sp>
      <p:pic>
        <p:nvPicPr>
          <p:cNvPr id="466" name="Google Shape;466;g3bca7b3d0bf_0_491"/>
          <p:cNvPicPr preferRelativeResize="0"/>
          <p:nvPr/>
        </p:nvPicPr>
        <p:blipFill>
          <a:blip r:embed="rId3">
            <a:alphaModFix/>
          </a:blip>
          <a:stretch>
            <a:fillRect/>
          </a:stretch>
        </p:blipFill>
        <p:spPr>
          <a:xfrm>
            <a:off x="973188" y="1845276"/>
            <a:ext cx="9819049" cy="2382850"/>
          </a:xfrm>
          <a:prstGeom prst="rect">
            <a:avLst/>
          </a:prstGeom>
          <a:noFill/>
          <a:ln>
            <a:noFill/>
          </a:ln>
        </p:spPr>
      </p:pic>
      <p:pic>
        <p:nvPicPr>
          <p:cNvPr id="467" name="Google Shape;467;g3bca7b3d0bf_0_491"/>
          <p:cNvPicPr preferRelativeResize="0"/>
          <p:nvPr/>
        </p:nvPicPr>
        <p:blipFill>
          <a:blip r:embed="rId4">
            <a:alphaModFix/>
          </a:blip>
          <a:stretch>
            <a:fillRect/>
          </a:stretch>
        </p:blipFill>
        <p:spPr>
          <a:xfrm>
            <a:off x="3718500" y="1322553"/>
            <a:ext cx="4328422" cy="411900"/>
          </a:xfrm>
          <a:prstGeom prst="rect">
            <a:avLst/>
          </a:prstGeom>
          <a:noFill/>
          <a:ln>
            <a:noFill/>
          </a:ln>
        </p:spPr>
      </p:pic>
      <p:sp>
        <p:nvSpPr>
          <p:cNvPr id="468" name="Google Shape;468;g3bca7b3d0bf_0_491"/>
          <p:cNvSpPr txBox="1"/>
          <p:nvPr/>
        </p:nvSpPr>
        <p:spPr>
          <a:xfrm>
            <a:off x="1130525" y="4397125"/>
            <a:ext cx="10722300" cy="903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1800" b="1">
                <a:solidFill>
                  <a:srgbClr val="990099"/>
                </a:solidFill>
              </a:rPr>
              <a:t>Study 1 AHA-Medicine Learning: </a:t>
            </a:r>
            <a:r>
              <a:rPr lang="en-US" sz="1800">
                <a:solidFill>
                  <a:schemeClr val="dk1"/>
                </a:solidFill>
              </a:rPr>
              <a:t>We test whether training can learn false medical knowledge (AHA-Medicine) and whether RL can recognize it as false.</a:t>
            </a:r>
            <a:endParaRPr sz="1800">
              <a:solidFill>
                <a:schemeClr val="dk1"/>
              </a:solidFill>
            </a:endParaRPr>
          </a:p>
          <a:p>
            <a:pPr marL="0" lvl="0" indent="0" algn="l" rtl="0">
              <a:lnSpc>
                <a:spcPct val="115000"/>
              </a:lnSpc>
              <a:spcBef>
                <a:spcPts val="1200"/>
              </a:spcBef>
              <a:spcAft>
                <a:spcPts val="1200"/>
              </a:spcAft>
              <a:buNone/>
            </a:pPr>
            <a:r>
              <a:rPr lang="en-US" sz="1800" b="1">
                <a:solidFill>
                  <a:srgbClr val="990099"/>
                </a:solidFill>
              </a:rPr>
              <a:t>Study 2 Thinking Behavior Learning:</a:t>
            </a:r>
            <a:r>
              <a:rPr lang="en-US" sz="1800">
                <a:solidFill>
                  <a:srgbClr val="990099"/>
                </a:solidFill>
              </a:rPr>
              <a:t> </a:t>
            </a:r>
            <a:r>
              <a:rPr lang="en-US" sz="1800">
                <a:solidFill>
                  <a:schemeClr val="dk1"/>
                </a:solidFill>
              </a:rPr>
              <a:t> We test whether training  can learn the “think-before-answer” behavior (⟨think⟩ … ⟨/think⟩) from off-policy trajectories and enable self-improvement.</a:t>
            </a:r>
            <a:endParaRPr sz="160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g3bca7b3d0bf_0_504"/>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39</a:t>
            </a:fld>
            <a:endParaRPr/>
          </a:p>
        </p:txBody>
      </p:sp>
      <p:sp>
        <p:nvSpPr>
          <p:cNvPr id="474" name="Google Shape;474;g3bca7b3d0bf_0_504"/>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Pilot Study</a:t>
            </a:r>
            <a:endParaRPr sz="3300"/>
          </a:p>
        </p:txBody>
      </p:sp>
      <p:pic>
        <p:nvPicPr>
          <p:cNvPr id="475" name="Google Shape;475;g3bca7b3d0bf_0_504"/>
          <p:cNvPicPr preferRelativeResize="0"/>
          <p:nvPr/>
        </p:nvPicPr>
        <p:blipFill>
          <a:blip r:embed="rId3">
            <a:alphaModFix/>
          </a:blip>
          <a:stretch>
            <a:fillRect/>
          </a:stretch>
        </p:blipFill>
        <p:spPr>
          <a:xfrm>
            <a:off x="973188" y="1845276"/>
            <a:ext cx="9819049" cy="2382850"/>
          </a:xfrm>
          <a:prstGeom prst="rect">
            <a:avLst/>
          </a:prstGeom>
          <a:noFill/>
          <a:ln>
            <a:noFill/>
          </a:ln>
        </p:spPr>
      </p:pic>
      <p:pic>
        <p:nvPicPr>
          <p:cNvPr id="476" name="Google Shape;476;g3bca7b3d0bf_0_504"/>
          <p:cNvPicPr preferRelativeResize="0"/>
          <p:nvPr/>
        </p:nvPicPr>
        <p:blipFill>
          <a:blip r:embed="rId4">
            <a:alphaModFix/>
          </a:blip>
          <a:stretch>
            <a:fillRect/>
          </a:stretch>
        </p:blipFill>
        <p:spPr>
          <a:xfrm>
            <a:off x="3718500" y="1322553"/>
            <a:ext cx="4328422" cy="411900"/>
          </a:xfrm>
          <a:prstGeom prst="rect">
            <a:avLst/>
          </a:prstGeom>
          <a:noFill/>
          <a:ln>
            <a:noFill/>
          </a:ln>
        </p:spPr>
      </p:pic>
      <p:sp>
        <p:nvSpPr>
          <p:cNvPr id="477" name="Google Shape;477;g3bca7b3d0bf_0_504"/>
          <p:cNvSpPr txBox="1"/>
          <p:nvPr/>
        </p:nvSpPr>
        <p:spPr>
          <a:xfrm>
            <a:off x="1014425" y="4144925"/>
            <a:ext cx="10722300" cy="903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1200"/>
              </a:spcAft>
              <a:buNone/>
            </a:pPr>
            <a:r>
              <a:rPr lang="en-US" sz="1800" b="1">
                <a:solidFill>
                  <a:srgbClr val="990099"/>
                </a:solidFill>
              </a:rPr>
              <a:t>Study Findings:</a:t>
            </a:r>
            <a:endParaRPr sz="1600">
              <a:solidFill>
                <a:schemeClr val="dk1"/>
              </a:solidFill>
            </a:endParaRPr>
          </a:p>
        </p:txBody>
      </p:sp>
      <p:sp>
        <p:nvSpPr>
          <p:cNvPr id="478" name="Google Shape;478;g3bca7b3d0bf_0_504"/>
          <p:cNvSpPr txBox="1"/>
          <p:nvPr/>
        </p:nvSpPr>
        <p:spPr>
          <a:xfrm>
            <a:off x="1014425" y="4481300"/>
            <a:ext cx="11004000" cy="903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1200"/>
              </a:spcAft>
              <a:buNone/>
            </a:pPr>
            <a:r>
              <a:rPr lang="en-US" sz="1800">
                <a:solidFill>
                  <a:schemeClr val="dk1"/>
                </a:solidFill>
              </a:rPr>
              <a:t>1. RL can’t learn external knowledge.</a:t>
            </a:r>
            <a:br>
              <a:rPr lang="en-US" sz="1800">
                <a:solidFill>
                  <a:schemeClr val="dk1"/>
                </a:solidFill>
              </a:rPr>
            </a:br>
            <a:r>
              <a:rPr lang="en-US" sz="1800">
                <a:solidFill>
                  <a:schemeClr val="dk1"/>
                </a:solidFill>
              </a:rPr>
              <a:t>2. SFT limits search efficiency.</a:t>
            </a:r>
            <a:br>
              <a:rPr lang="en-US" sz="1800">
                <a:solidFill>
                  <a:schemeClr val="dk1"/>
                </a:solidFill>
              </a:rPr>
            </a:br>
            <a:r>
              <a:rPr lang="en-US" sz="1800">
                <a:solidFill>
                  <a:schemeClr val="dk1"/>
                </a:solidFill>
              </a:rPr>
              <a:t>3. Existing mixed-policy hardly ever learns external knowledge.</a:t>
            </a:r>
            <a:br>
              <a:rPr lang="en-US" sz="1800">
                <a:solidFill>
                  <a:schemeClr val="dk1"/>
                </a:solidFill>
              </a:rPr>
            </a:br>
            <a:r>
              <a:rPr lang="en-US" sz="1800" b="1">
                <a:solidFill>
                  <a:schemeClr val="dk1"/>
                </a:solidFill>
              </a:rPr>
              <a:t>4. Our method enable LLMs to selectively learn off-policy knowledge during RL evolution with superior efficiency.</a:t>
            </a:r>
            <a:endParaRPr sz="1800" b="1">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g3bca7b3d0bf_0_514"/>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40</a:t>
            </a:fld>
            <a:endParaRPr/>
          </a:p>
        </p:txBody>
      </p:sp>
      <p:sp>
        <p:nvSpPr>
          <p:cNvPr id="484" name="Google Shape;484;g3bca7b3d0bf_0_514"/>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HuatuoGPT-3: Direct One-stage Policy Optimization</a:t>
            </a:r>
            <a:endParaRPr sz="3300"/>
          </a:p>
        </p:txBody>
      </p:sp>
      <p:pic>
        <p:nvPicPr>
          <p:cNvPr id="485" name="Google Shape;485;g3bca7b3d0bf_0_514"/>
          <p:cNvPicPr preferRelativeResize="0"/>
          <p:nvPr/>
        </p:nvPicPr>
        <p:blipFill>
          <a:blip r:embed="rId3">
            <a:alphaModFix/>
          </a:blip>
          <a:stretch>
            <a:fillRect/>
          </a:stretch>
        </p:blipFill>
        <p:spPr>
          <a:xfrm>
            <a:off x="2928575" y="1344425"/>
            <a:ext cx="5771701" cy="3532076"/>
          </a:xfrm>
          <a:prstGeom prst="rect">
            <a:avLst/>
          </a:prstGeom>
          <a:noFill/>
          <a:ln>
            <a:noFill/>
          </a:ln>
        </p:spPr>
      </p:pic>
      <p:sp>
        <p:nvSpPr>
          <p:cNvPr id="486" name="Google Shape;486;g3bca7b3d0bf_0_514"/>
          <p:cNvSpPr txBox="1"/>
          <p:nvPr/>
        </p:nvSpPr>
        <p:spPr>
          <a:xfrm>
            <a:off x="840125" y="4966300"/>
            <a:ext cx="10954500" cy="903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1200"/>
              </a:spcAft>
              <a:buNone/>
            </a:pPr>
            <a:r>
              <a:rPr lang="en-US" sz="1800">
                <a:solidFill>
                  <a:schemeClr val="dk1"/>
                </a:solidFill>
              </a:rPr>
              <a:t>To address this, we propose</a:t>
            </a:r>
            <a:r>
              <a:rPr lang="en-US" sz="1800" b="1">
                <a:solidFill>
                  <a:schemeClr val="dk1"/>
                </a:solidFill>
              </a:rPr>
              <a:t> One-stage Policy Optimization (OnePO)</a:t>
            </a:r>
            <a:r>
              <a:rPr lang="en-US" sz="1800">
                <a:solidFill>
                  <a:schemeClr val="dk1"/>
                </a:solidFill>
              </a:rPr>
              <a:t>, which allows LLMs to autonomously learn off-policy knowledge and behaviors during the self-evolution of RL, thus eliminating the need for SFT.</a:t>
            </a:r>
            <a:endParaRPr sz="160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g3bca7b3d0bf_0_530"/>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41</a:t>
            </a:fld>
            <a:endParaRPr/>
          </a:p>
        </p:txBody>
      </p:sp>
      <p:sp>
        <p:nvSpPr>
          <p:cNvPr id="492" name="Google Shape;492;g3bca7b3d0bf_0_530"/>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HuatuoGPT-3: Direct One-stage Policy Optimization</a:t>
            </a:r>
            <a:endParaRPr sz="3300"/>
          </a:p>
        </p:txBody>
      </p:sp>
      <p:sp>
        <p:nvSpPr>
          <p:cNvPr id="493" name="Google Shape;493;g3bca7b3d0bf_0_530"/>
          <p:cNvSpPr txBox="1"/>
          <p:nvPr/>
        </p:nvSpPr>
        <p:spPr>
          <a:xfrm>
            <a:off x="1014425" y="2317900"/>
            <a:ext cx="10954500" cy="903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1900">
                <a:solidFill>
                  <a:schemeClr val="dk1"/>
                </a:solidFill>
              </a:rPr>
              <a:t>1. Adaptive Objective Evolution </a:t>
            </a:r>
            <a:endParaRPr sz="1900">
              <a:solidFill>
                <a:schemeClr val="dk1"/>
              </a:solidFill>
            </a:endParaRPr>
          </a:p>
          <a:p>
            <a:pPr marL="0" lvl="0" indent="0" algn="l" rtl="0">
              <a:lnSpc>
                <a:spcPct val="115000"/>
              </a:lnSpc>
              <a:spcBef>
                <a:spcPts val="1200"/>
              </a:spcBef>
              <a:spcAft>
                <a:spcPts val="1200"/>
              </a:spcAft>
              <a:buNone/>
            </a:pPr>
            <a:r>
              <a:rPr lang="en-US" sz="1900">
                <a:solidFill>
                  <a:schemeClr val="dk1"/>
                </a:solidFill>
              </a:rPr>
              <a:t>2. Teacher Retirement</a:t>
            </a:r>
            <a:endParaRPr sz="1900">
              <a:solidFill>
                <a:schemeClr val="dk1"/>
              </a:solidFill>
            </a:endParaRPr>
          </a:p>
        </p:txBody>
      </p:sp>
      <p:sp>
        <p:nvSpPr>
          <p:cNvPr id="494" name="Google Shape;494;g3bca7b3d0bf_0_530"/>
          <p:cNvSpPr txBox="1"/>
          <p:nvPr/>
        </p:nvSpPr>
        <p:spPr>
          <a:xfrm>
            <a:off x="689125" y="1508388"/>
            <a:ext cx="6729600" cy="411900"/>
          </a:xfrm>
          <a:prstGeom prst="rect">
            <a:avLst/>
          </a:prstGeom>
          <a:noFill/>
          <a:ln>
            <a:noFill/>
          </a:ln>
        </p:spPr>
        <p:txBody>
          <a:bodyPr spcFirstLastPara="1" wrap="square" lIns="91425" tIns="90000" rIns="91425" bIns="91425" anchor="t" anchorCtr="0">
            <a:noAutofit/>
          </a:bodyPr>
          <a:lstStyle/>
          <a:p>
            <a:pPr marL="0" lvl="0" indent="0" algn="l" rtl="0">
              <a:lnSpc>
                <a:spcPct val="125000"/>
              </a:lnSpc>
              <a:spcBef>
                <a:spcPts val="1800"/>
              </a:spcBef>
              <a:spcAft>
                <a:spcPts val="1200"/>
              </a:spcAft>
              <a:buNone/>
            </a:pPr>
            <a:r>
              <a:rPr lang="en-US" sz="1900" b="1">
                <a:solidFill>
                  <a:srgbClr val="990099"/>
                </a:solidFill>
              </a:rPr>
              <a:t>SFT-free paradigm with two key mechanisms:</a:t>
            </a:r>
            <a:endParaRPr sz="1000" b="1">
              <a:solidFill>
                <a:srgbClr val="990099"/>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g3bca7b3d0bf_0_540"/>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42</a:t>
            </a:fld>
            <a:endParaRPr/>
          </a:p>
        </p:txBody>
      </p:sp>
      <p:sp>
        <p:nvSpPr>
          <p:cNvPr id="500" name="Google Shape;500;g3bca7b3d0bf_0_540"/>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1. Adaptive Objective Evolution </a:t>
            </a:r>
            <a:endParaRPr sz="3300"/>
          </a:p>
        </p:txBody>
      </p:sp>
      <p:sp>
        <p:nvSpPr>
          <p:cNvPr id="501" name="Google Shape;501;g3bca7b3d0bf_0_540"/>
          <p:cNvSpPr txBox="1"/>
          <p:nvPr/>
        </p:nvSpPr>
        <p:spPr>
          <a:xfrm>
            <a:off x="700750" y="1554838"/>
            <a:ext cx="6729600" cy="411900"/>
          </a:xfrm>
          <a:prstGeom prst="rect">
            <a:avLst/>
          </a:prstGeom>
          <a:noFill/>
          <a:ln>
            <a:noFill/>
          </a:ln>
        </p:spPr>
        <p:txBody>
          <a:bodyPr spcFirstLastPara="1" wrap="square" lIns="91425" tIns="90000" rIns="91425" bIns="91425" anchor="t" anchorCtr="0">
            <a:noAutofit/>
          </a:bodyPr>
          <a:lstStyle/>
          <a:p>
            <a:pPr marL="0" lvl="0" indent="0" algn="l" rtl="0">
              <a:lnSpc>
                <a:spcPct val="125000"/>
              </a:lnSpc>
              <a:spcBef>
                <a:spcPts val="1800"/>
              </a:spcBef>
              <a:spcAft>
                <a:spcPts val="0"/>
              </a:spcAft>
              <a:buNone/>
            </a:pPr>
            <a:r>
              <a:rPr lang="en-US" b="1">
                <a:solidFill>
                  <a:schemeClr val="dk1"/>
                </a:solidFill>
              </a:rPr>
              <a:t>When rolling out, introduce external off-policy trajectories. </a:t>
            </a:r>
            <a:endParaRPr b="1">
              <a:solidFill>
                <a:schemeClr val="dk1"/>
              </a:solidFill>
            </a:endParaRPr>
          </a:p>
          <a:p>
            <a:pPr marL="0" lvl="0" indent="0" algn="l" rtl="0">
              <a:lnSpc>
                <a:spcPct val="125000"/>
              </a:lnSpc>
              <a:spcBef>
                <a:spcPts val="1800"/>
              </a:spcBef>
              <a:spcAft>
                <a:spcPts val="1200"/>
              </a:spcAft>
              <a:buNone/>
            </a:pPr>
            <a:r>
              <a:rPr lang="en-US" b="1">
                <a:solidFill>
                  <a:schemeClr val="dk1"/>
                </a:solidFill>
              </a:rPr>
              <a:t>For on-policy trajectories</a:t>
            </a:r>
            <a:r>
              <a:rPr lang="en-US">
                <a:solidFill>
                  <a:schemeClr val="dk1"/>
                </a:solidFill>
              </a:rPr>
              <a:t>, maintain the loss of GRPO:</a:t>
            </a:r>
            <a:endParaRPr>
              <a:solidFill>
                <a:schemeClr val="dk1"/>
              </a:solidFill>
            </a:endParaRPr>
          </a:p>
        </p:txBody>
      </p:sp>
      <p:sp>
        <p:nvSpPr>
          <p:cNvPr id="502" name="Google Shape;502;g3bca7b3d0bf_0_540"/>
          <p:cNvSpPr txBox="1"/>
          <p:nvPr/>
        </p:nvSpPr>
        <p:spPr>
          <a:xfrm>
            <a:off x="805300" y="3641563"/>
            <a:ext cx="6729600" cy="411900"/>
          </a:xfrm>
          <a:prstGeom prst="rect">
            <a:avLst/>
          </a:prstGeom>
          <a:noFill/>
          <a:ln>
            <a:noFill/>
          </a:ln>
        </p:spPr>
        <p:txBody>
          <a:bodyPr spcFirstLastPara="1" wrap="square" lIns="91425" tIns="90000" rIns="91425" bIns="91425" anchor="t" anchorCtr="0">
            <a:noAutofit/>
          </a:bodyPr>
          <a:lstStyle/>
          <a:p>
            <a:pPr marL="0" lvl="0" indent="0" algn="l" rtl="0">
              <a:lnSpc>
                <a:spcPct val="125000"/>
              </a:lnSpc>
              <a:spcBef>
                <a:spcPts val="1800"/>
              </a:spcBef>
              <a:spcAft>
                <a:spcPts val="1200"/>
              </a:spcAft>
              <a:buNone/>
            </a:pPr>
            <a:r>
              <a:rPr lang="en-US" b="1">
                <a:solidFill>
                  <a:schemeClr val="dk1"/>
                </a:solidFill>
              </a:rPr>
              <a:t>For off-policy trajectories</a:t>
            </a:r>
            <a:r>
              <a:rPr lang="en-US">
                <a:solidFill>
                  <a:schemeClr val="dk1"/>
                </a:solidFill>
              </a:rPr>
              <a:t>:</a:t>
            </a:r>
            <a:endParaRPr>
              <a:solidFill>
                <a:schemeClr val="dk1"/>
              </a:solidFill>
            </a:endParaRPr>
          </a:p>
        </p:txBody>
      </p:sp>
      <p:pic>
        <p:nvPicPr>
          <p:cNvPr id="503" name="Google Shape;503;g3bca7b3d0bf_0_540"/>
          <p:cNvPicPr preferRelativeResize="0"/>
          <p:nvPr/>
        </p:nvPicPr>
        <p:blipFill>
          <a:blip r:embed="rId3">
            <a:alphaModFix/>
          </a:blip>
          <a:stretch>
            <a:fillRect/>
          </a:stretch>
        </p:blipFill>
        <p:spPr>
          <a:xfrm>
            <a:off x="922850" y="2473426"/>
            <a:ext cx="4397201" cy="789250"/>
          </a:xfrm>
          <a:prstGeom prst="rect">
            <a:avLst/>
          </a:prstGeom>
          <a:noFill/>
          <a:ln>
            <a:noFill/>
          </a:ln>
        </p:spPr>
      </p:pic>
      <p:pic>
        <p:nvPicPr>
          <p:cNvPr id="504" name="Google Shape;504;g3bca7b3d0bf_0_540"/>
          <p:cNvPicPr preferRelativeResize="0"/>
          <p:nvPr/>
        </p:nvPicPr>
        <p:blipFill>
          <a:blip r:embed="rId4">
            <a:alphaModFix/>
          </a:blip>
          <a:stretch>
            <a:fillRect/>
          </a:stretch>
        </p:blipFill>
        <p:spPr>
          <a:xfrm>
            <a:off x="700738" y="4891149"/>
            <a:ext cx="2122625" cy="631275"/>
          </a:xfrm>
          <a:prstGeom prst="rect">
            <a:avLst/>
          </a:prstGeom>
          <a:noFill/>
          <a:ln>
            <a:noFill/>
          </a:ln>
        </p:spPr>
      </p:pic>
      <p:pic>
        <p:nvPicPr>
          <p:cNvPr id="505" name="Google Shape;505;g3bca7b3d0bf_0_540"/>
          <p:cNvPicPr preferRelativeResize="0"/>
          <p:nvPr/>
        </p:nvPicPr>
        <p:blipFill>
          <a:blip r:embed="rId5">
            <a:alphaModFix/>
          </a:blip>
          <a:stretch>
            <a:fillRect/>
          </a:stretch>
        </p:blipFill>
        <p:spPr>
          <a:xfrm>
            <a:off x="1525350" y="4111549"/>
            <a:ext cx="3794703" cy="531888"/>
          </a:xfrm>
          <a:prstGeom prst="rect">
            <a:avLst/>
          </a:prstGeom>
          <a:noFill/>
          <a:ln>
            <a:noFill/>
          </a:ln>
        </p:spPr>
      </p:pic>
      <p:pic>
        <p:nvPicPr>
          <p:cNvPr id="506" name="Google Shape;506;g3bca7b3d0bf_0_540"/>
          <p:cNvPicPr preferRelativeResize="0"/>
          <p:nvPr/>
        </p:nvPicPr>
        <p:blipFill>
          <a:blip r:embed="rId6">
            <a:alphaModFix/>
          </a:blip>
          <a:stretch>
            <a:fillRect/>
          </a:stretch>
        </p:blipFill>
        <p:spPr>
          <a:xfrm>
            <a:off x="2894951" y="4891150"/>
            <a:ext cx="2806392" cy="631275"/>
          </a:xfrm>
          <a:prstGeom prst="rect">
            <a:avLst/>
          </a:prstGeom>
          <a:noFill/>
          <a:ln>
            <a:noFill/>
          </a:ln>
        </p:spPr>
      </p:pic>
      <p:pic>
        <p:nvPicPr>
          <p:cNvPr id="507" name="Google Shape;507;g3bca7b3d0bf_0_540"/>
          <p:cNvPicPr preferRelativeResize="0"/>
          <p:nvPr/>
        </p:nvPicPr>
        <p:blipFill>
          <a:blip r:embed="rId7">
            <a:alphaModFix/>
          </a:blip>
          <a:stretch>
            <a:fillRect/>
          </a:stretch>
        </p:blipFill>
        <p:spPr>
          <a:xfrm>
            <a:off x="7189575" y="2389800"/>
            <a:ext cx="4321749" cy="1506075"/>
          </a:xfrm>
          <a:prstGeom prst="rect">
            <a:avLst/>
          </a:prstGeom>
          <a:noFill/>
          <a:ln w="19050" cap="flat" cmpd="sng">
            <a:solidFill>
              <a:srgbClr val="990099"/>
            </a:solidFill>
            <a:prstDash val="solid"/>
            <a:round/>
            <a:headEnd type="none" w="sm" len="sm"/>
            <a:tailEnd type="none" w="sm" len="sm"/>
          </a:ln>
        </p:spPr>
      </p:pic>
      <p:cxnSp>
        <p:nvCxnSpPr>
          <p:cNvPr id="508" name="Google Shape;508;g3bca7b3d0bf_0_540"/>
          <p:cNvCxnSpPr/>
          <p:nvPr/>
        </p:nvCxnSpPr>
        <p:spPr>
          <a:xfrm rot="10800000" flipH="1">
            <a:off x="5773075" y="3960975"/>
            <a:ext cx="1103400" cy="708600"/>
          </a:xfrm>
          <a:prstGeom prst="straightConnector1">
            <a:avLst/>
          </a:prstGeom>
          <a:noFill/>
          <a:ln w="19050" cap="flat" cmpd="sng">
            <a:solidFill>
              <a:schemeClr val="accent4"/>
            </a:solidFill>
            <a:prstDash val="solid"/>
            <a:round/>
            <a:headEnd type="none" w="med" len="med"/>
            <a:tailEnd type="triangle" w="med" len="med"/>
          </a:ln>
        </p:spPr>
      </p:cxnSp>
      <p:sp>
        <p:nvSpPr>
          <p:cNvPr id="509" name="Google Shape;509;g3bca7b3d0bf_0_540"/>
          <p:cNvSpPr txBox="1"/>
          <p:nvPr/>
        </p:nvSpPr>
        <p:spPr>
          <a:xfrm>
            <a:off x="6272575" y="4386387"/>
            <a:ext cx="5041200" cy="789300"/>
          </a:xfrm>
          <a:prstGeom prst="rect">
            <a:avLst/>
          </a:prstGeom>
          <a:noFill/>
          <a:ln>
            <a:noFill/>
          </a:ln>
        </p:spPr>
        <p:txBody>
          <a:bodyPr spcFirstLastPara="1" wrap="square" lIns="91425" tIns="90000" rIns="91425" bIns="91425" anchor="t" anchorCtr="0">
            <a:noAutofit/>
          </a:bodyPr>
          <a:lstStyle/>
          <a:p>
            <a:pPr marL="0" lvl="0" indent="0" algn="l" rtl="0">
              <a:lnSpc>
                <a:spcPct val="125000"/>
              </a:lnSpc>
              <a:spcBef>
                <a:spcPts val="1800"/>
              </a:spcBef>
              <a:spcAft>
                <a:spcPts val="1200"/>
              </a:spcAft>
              <a:buNone/>
            </a:pPr>
            <a:r>
              <a:rPr lang="en-US" b="1">
                <a:solidFill>
                  <a:srgbClr val="990099"/>
                </a:solidFill>
              </a:rPr>
              <a:t>Efficient external knowledge and behavioral learning, and constraints on overfitting.</a:t>
            </a:r>
            <a:endParaRPr b="1">
              <a:solidFill>
                <a:srgbClr val="990099"/>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g3bca7b3d0bf_0_557"/>
          <p:cNvSpPr txBox="1"/>
          <p:nvPr/>
        </p:nvSpPr>
        <p:spPr>
          <a:xfrm>
            <a:off x="1575725" y="1584388"/>
            <a:ext cx="6729600" cy="411900"/>
          </a:xfrm>
          <a:prstGeom prst="rect">
            <a:avLst/>
          </a:prstGeom>
          <a:noFill/>
          <a:ln>
            <a:noFill/>
          </a:ln>
        </p:spPr>
        <p:txBody>
          <a:bodyPr spcFirstLastPara="1" wrap="square" lIns="91425" tIns="90000" rIns="91425" bIns="91425" anchor="t" anchorCtr="0">
            <a:noAutofit/>
          </a:bodyPr>
          <a:lstStyle/>
          <a:p>
            <a:pPr marL="0" lvl="0" indent="0" algn="l" rtl="0">
              <a:lnSpc>
                <a:spcPct val="125000"/>
              </a:lnSpc>
              <a:spcBef>
                <a:spcPts val="1800"/>
              </a:spcBef>
              <a:spcAft>
                <a:spcPts val="0"/>
              </a:spcAft>
              <a:buNone/>
            </a:pPr>
            <a:r>
              <a:rPr lang="en-US">
                <a:solidFill>
                  <a:schemeClr val="dk1"/>
                </a:solidFill>
              </a:rPr>
              <a:t>We retire any teacher trajectory scoring below the on-policy best:</a:t>
            </a:r>
            <a:endParaRPr>
              <a:solidFill>
                <a:schemeClr val="dk1"/>
              </a:solidFill>
            </a:endParaRPr>
          </a:p>
          <a:p>
            <a:pPr marL="0" lvl="0" indent="0" algn="l" rtl="0">
              <a:lnSpc>
                <a:spcPct val="125000"/>
              </a:lnSpc>
              <a:spcBef>
                <a:spcPts val="1800"/>
              </a:spcBef>
              <a:spcAft>
                <a:spcPts val="0"/>
              </a:spcAft>
              <a:buNone/>
            </a:pPr>
            <a:endParaRPr>
              <a:solidFill>
                <a:schemeClr val="dk1"/>
              </a:solidFill>
            </a:endParaRPr>
          </a:p>
          <a:p>
            <a:pPr marL="0" lvl="0" indent="0" algn="l" rtl="0">
              <a:lnSpc>
                <a:spcPct val="125000"/>
              </a:lnSpc>
              <a:spcBef>
                <a:spcPts val="1800"/>
              </a:spcBef>
              <a:spcAft>
                <a:spcPts val="1200"/>
              </a:spcAft>
              <a:buNone/>
            </a:pPr>
            <a:r>
              <a:rPr lang="en-US">
                <a:solidFill>
                  <a:schemeClr val="dk1"/>
                </a:solidFill>
              </a:rPr>
              <a:t>Kept off-policy trajectories will replace random onpolicy trajectories, maintaining group size G for GRPO optimization</a:t>
            </a:r>
            <a:endParaRPr>
              <a:solidFill>
                <a:schemeClr val="dk1"/>
              </a:solidFill>
            </a:endParaRPr>
          </a:p>
        </p:txBody>
      </p:sp>
      <p:sp>
        <p:nvSpPr>
          <p:cNvPr id="515" name="Google Shape;515;g3bca7b3d0bf_0_557"/>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43</a:t>
            </a:fld>
            <a:endParaRPr/>
          </a:p>
        </p:txBody>
      </p:sp>
      <p:sp>
        <p:nvSpPr>
          <p:cNvPr id="516" name="Google Shape;516;g3bca7b3d0bf_0_557"/>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2. Teacher Retirement</a:t>
            </a:r>
            <a:endParaRPr sz="3300"/>
          </a:p>
        </p:txBody>
      </p:sp>
      <p:pic>
        <p:nvPicPr>
          <p:cNvPr id="517" name="Google Shape;517;g3bca7b3d0bf_0_557"/>
          <p:cNvPicPr preferRelativeResize="0"/>
          <p:nvPr/>
        </p:nvPicPr>
        <p:blipFill>
          <a:blip r:embed="rId3">
            <a:alphaModFix/>
          </a:blip>
          <a:stretch>
            <a:fillRect/>
          </a:stretch>
        </p:blipFill>
        <p:spPr>
          <a:xfrm>
            <a:off x="4066900" y="1996300"/>
            <a:ext cx="4238425" cy="611175"/>
          </a:xfrm>
          <a:prstGeom prst="rect">
            <a:avLst/>
          </a:prstGeom>
          <a:noFill/>
          <a:ln>
            <a:noFill/>
          </a:ln>
        </p:spPr>
      </p:pic>
      <p:sp>
        <p:nvSpPr>
          <p:cNvPr id="518" name="Google Shape;518;g3bca7b3d0bf_0_557"/>
          <p:cNvSpPr txBox="1"/>
          <p:nvPr/>
        </p:nvSpPr>
        <p:spPr>
          <a:xfrm>
            <a:off x="3459895" y="3960975"/>
            <a:ext cx="4984800" cy="946500"/>
          </a:xfrm>
          <a:prstGeom prst="rect">
            <a:avLst/>
          </a:prstGeom>
          <a:noFill/>
          <a:ln w="9525" cap="flat" cmpd="sng">
            <a:solidFill>
              <a:srgbClr val="990099"/>
            </a:solidFill>
            <a:prstDash val="solid"/>
            <a:round/>
            <a:headEnd type="none" w="sm" len="sm"/>
            <a:tailEnd type="none" w="sm" len="sm"/>
          </a:ln>
        </p:spPr>
        <p:txBody>
          <a:bodyPr spcFirstLastPara="1" wrap="square" lIns="91425" tIns="91425" rIns="91425" bIns="91425" anchor="t" anchorCtr="0">
            <a:spAutoFit/>
          </a:bodyPr>
          <a:lstStyle/>
          <a:p>
            <a:pPr marL="457200" lvl="0" indent="-323850" algn="l" rtl="0">
              <a:lnSpc>
                <a:spcPct val="115000"/>
              </a:lnSpc>
              <a:spcBef>
                <a:spcPts val="0"/>
              </a:spcBef>
              <a:spcAft>
                <a:spcPts val="0"/>
              </a:spcAft>
              <a:buClr>
                <a:srgbClr val="1F2328"/>
              </a:buClr>
              <a:buSzPts val="1500"/>
              <a:buChar char="●"/>
            </a:pPr>
            <a:r>
              <a:rPr lang="en-US" sz="1500">
                <a:solidFill>
                  <a:srgbClr val="1F2328"/>
                </a:solidFill>
              </a:rPr>
              <a:t>Discard teacher trajectories when outperformed</a:t>
            </a:r>
            <a:endParaRPr sz="1500">
              <a:solidFill>
                <a:srgbClr val="1F2328"/>
              </a:solidFill>
            </a:endParaRPr>
          </a:p>
          <a:p>
            <a:pPr marL="457200" lvl="0" indent="-323850" algn="l" rtl="0">
              <a:lnSpc>
                <a:spcPct val="115000"/>
              </a:lnSpc>
              <a:spcBef>
                <a:spcPts val="0"/>
              </a:spcBef>
              <a:spcAft>
                <a:spcPts val="0"/>
              </a:spcAft>
              <a:buClr>
                <a:srgbClr val="1F2328"/>
              </a:buClr>
              <a:buSzPts val="1500"/>
              <a:buChar char="●"/>
            </a:pPr>
            <a:r>
              <a:rPr lang="en-US" sz="1500">
                <a:solidFill>
                  <a:srgbClr val="1F2328"/>
                </a:solidFill>
              </a:rPr>
              <a:t>Prevents anchoring to off-policy distribution</a:t>
            </a:r>
            <a:endParaRPr sz="1500">
              <a:solidFill>
                <a:srgbClr val="1F2328"/>
              </a:solidFill>
            </a:endParaRPr>
          </a:p>
          <a:p>
            <a:pPr marL="457200" lvl="0" indent="-323850" algn="l" rtl="0">
              <a:lnSpc>
                <a:spcPct val="115000"/>
              </a:lnSpc>
              <a:spcBef>
                <a:spcPts val="0"/>
              </a:spcBef>
              <a:spcAft>
                <a:spcPts val="0"/>
              </a:spcAft>
              <a:buClr>
                <a:srgbClr val="1F2328"/>
              </a:buClr>
              <a:buSzPts val="1500"/>
              <a:buChar char="●"/>
            </a:pPr>
            <a:r>
              <a:rPr lang="en-US" sz="1500">
                <a:solidFill>
                  <a:srgbClr val="1F2328"/>
                </a:solidFill>
              </a:rPr>
              <a:t>Maintains exploration capability</a:t>
            </a:r>
            <a:endParaRPr sz="1500">
              <a:solidFill>
                <a:srgbClr val="1F2328"/>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g3bca7b3d0bf_0_580"/>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44</a:t>
            </a:fld>
            <a:endParaRPr/>
          </a:p>
        </p:txBody>
      </p:sp>
      <p:sp>
        <p:nvSpPr>
          <p:cNvPr id="524" name="Google Shape;524;g3bca7b3d0bf_0_580"/>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Dataset: OneData-Health-20K</a:t>
            </a:r>
            <a:endParaRPr sz="3300"/>
          </a:p>
        </p:txBody>
      </p:sp>
      <p:sp>
        <p:nvSpPr>
          <p:cNvPr id="525" name="Google Shape;525;g3bca7b3d0bf_0_580"/>
          <p:cNvSpPr txBox="1"/>
          <p:nvPr/>
        </p:nvSpPr>
        <p:spPr>
          <a:xfrm>
            <a:off x="1850725" y="1775573"/>
            <a:ext cx="3910800" cy="339600"/>
          </a:xfrm>
          <a:prstGeom prst="rect">
            <a:avLst/>
          </a:prstGeom>
          <a:noFill/>
          <a:ln>
            <a:noFill/>
          </a:ln>
        </p:spPr>
        <p:txBody>
          <a:bodyPr spcFirstLastPara="1" wrap="square" lIns="91425" tIns="90000" rIns="91425" bIns="91425" anchor="t" anchorCtr="0">
            <a:noAutofit/>
          </a:bodyPr>
          <a:lstStyle/>
          <a:p>
            <a:pPr marL="0" lvl="0" indent="0" algn="l" rtl="0">
              <a:lnSpc>
                <a:spcPct val="125000"/>
              </a:lnSpc>
              <a:spcBef>
                <a:spcPts val="1800"/>
              </a:spcBef>
              <a:spcAft>
                <a:spcPts val="1200"/>
              </a:spcAft>
              <a:buNone/>
            </a:pPr>
            <a:r>
              <a:rPr lang="en-US" sz="1900" b="1">
                <a:solidFill>
                  <a:srgbClr val="990099"/>
                </a:solidFill>
              </a:rPr>
              <a:t>Balanced Training Data</a:t>
            </a:r>
            <a:endParaRPr sz="1000" b="1">
              <a:solidFill>
                <a:srgbClr val="990099"/>
              </a:solidFill>
            </a:endParaRPr>
          </a:p>
        </p:txBody>
      </p:sp>
      <p:pic>
        <p:nvPicPr>
          <p:cNvPr id="526" name="Google Shape;526;g3bca7b3d0bf_0_580"/>
          <p:cNvPicPr preferRelativeResize="0"/>
          <p:nvPr/>
        </p:nvPicPr>
        <p:blipFill>
          <a:blip r:embed="rId3">
            <a:alphaModFix/>
          </a:blip>
          <a:stretch>
            <a:fillRect/>
          </a:stretch>
        </p:blipFill>
        <p:spPr>
          <a:xfrm>
            <a:off x="1505375" y="2287575"/>
            <a:ext cx="3974250" cy="1093500"/>
          </a:xfrm>
          <a:prstGeom prst="rect">
            <a:avLst/>
          </a:prstGeom>
          <a:noFill/>
          <a:ln>
            <a:noFill/>
          </a:ln>
        </p:spPr>
      </p:pic>
      <p:pic>
        <p:nvPicPr>
          <p:cNvPr id="527" name="Google Shape;527;g3bca7b3d0bf_0_580"/>
          <p:cNvPicPr preferRelativeResize="0"/>
          <p:nvPr/>
        </p:nvPicPr>
        <p:blipFill>
          <a:blip r:embed="rId4">
            <a:alphaModFix/>
          </a:blip>
          <a:stretch>
            <a:fillRect/>
          </a:stretch>
        </p:blipFill>
        <p:spPr>
          <a:xfrm>
            <a:off x="5890625" y="1589724"/>
            <a:ext cx="4682873" cy="2205312"/>
          </a:xfrm>
          <a:prstGeom prst="rect">
            <a:avLst/>
          </a:prstGeom>
          <a:noFill/>
          <a:ln>
            <a:noFill/>
          </a:ln>
        </p:spPr>
      </p:pic>
      <p:sp>
        <p:nvSpPr>
          <p:cNvPr id="528" name="Google Shape;528;g3bca7b3d0bf_0_580"/>
          <p:cNvSpPr txBox="1"/>
          <p:nvPr/>
        </p:nvSpPr>
        <p:spPr>
          <a:xfrm>
            <a:off x="2111200" y="3944073"/>
            <a:ext cx="3910800" cy="339600"/>
          </a:xfrm>
          <a:prstGeom prst="rect">
            <a:avLst/>
          </a:prstGeom>
          <a:noFill/>
          <a:ln>
            <a:noFill/>
          </a:ln>
        </p:spPr>
        <p:txBody>
          <a:bodyPr spcFirstLastPara="1" wrap="square" lIns="91425" tIns="90000" rIns="91425" bIns="91425" anchor="t" anchorCtr="0">
            <a:noAutofit/>
          </a:bodyPr>
          <a:lstStyle/>
          <a:p>
            <a:pPr marL="0" lvl="0" indent="0" algn="l" rtl="0">
              <a:lnSpc>
                <a:spcPct val="125000"/>
              </a:lnSpc>
              <a:spcBef>
                <a:spcPts val="1800"/>
              </a:spcBef>
              <a:spcAft>
                <a:spcPts val="1200"/>
              </a:spcAft>
              <a:buNone/>
            </a:pPr>
            <a:r>
              <a:rPr lang="en-US" sz="1900" b="1">
                <a:solidFill>
                  <a:srgbClr val="990099"/>
                </a:solidFill>
              </a:rPr>
              <a:t>Reward Mechanism</a:t>
            </a:r>
            <a:endParaRPr sz="1000" b="1">
              <a:solidFill>
                <a:srgbClr val="990099"/>
              </a:solidFill>
            </a:endParaRPr>
          </a:p>
        </p:txBody>
      </p:sp>
      <p:pic>
        <p:nvPicPr>
          <p:cNvPr id="529" name="Google Shape;529;g3bca7b3d0bf_0_580"/>
          <p:cNvPicPr preferRelativeResize="0"/>
          <p:nvPr/>
        </p:nvPicPr>
        <p:blipFill>
          <a:blip r:embed="rId5">
            <a:alphaModFix/>
          </a:blip>
          <a:stretch>
            <a:fillRect/>
          </a:stretch>
        </p:blipFill>
        <p:spPr>
          <a:xfrm>
            <a:off x="1850725" y="4299700"/>
            <a:ext cx="8061700" cy="1306300"/>
          </a:xfrm>
          <a:prstGeom prst="rect">
            <a:avLst/>
          </a:prstGeom>
          <a:noFill/>
          <a:ln>
            <a:noFill/>
          </a:ln>
        </p:spPr>
      </p:pic>
      <p:sp>
        <p:nvSpPr>
          <p:cNvPr id="530" name="Google Shape;530;g3bca7b3d0bf_0_580"/>
          <p:cNvSpPr txBox="1"/>
          <p:nvPr/>
        </p:nvSpPr>
        <p:spPr>
          <a:xfrm>
            <a:off x="793050" y="5739025"/>
            <a:ext cx="10722300" cy="903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1200"/>
              </a:spcAft>
              <a:buNone/>
            </a:pPr>
            <a:r>
              <a:rPr lang="en-US" sz="2100">
                <a:solidFill>
                  <a:srgbClr val="990099"/>
                </a:solidFill>
              </a:rPr>
              <a:t>HuatuoGPT-3 requires only 20K of data.</a:t>
            </a:r>
            <a:endParaRPr sz="21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g3c2d40ae598_1_0"/>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45</a:t>
            </a:fld>
            <a:endParaRPr/>
          </a:p>
        </p:txBody>
      </p:sp>
      <p:sp>
        <p:nvSpPr>
          <p:cNvPr id="536" name="Google Shape;536;g3c2d40ae598_1_0"/>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HuatuoGPT-3 Experiment</a:t>
            </a:r>
            <a:endParaRPr sz="3300"/>
          </a:p>
        </p:txBody>
      </p:sp>
      <p:pic>
        <p:nvPicPr>
          <p:cNvPr id="537" name="Google Shape;537;g3c2d40ae598_1_0"/>
          <p:cNvPicPr preferRelativeResize="0"/>
          <p:nvPr/>
        </p:nvPicPr>
        <p:blipFill>
          <a:blip r:embed="rId3">
            <a:alphaModFix/>
          </a:blip>
          <a:stretch>
            <a:fillRect/>
          </a:stretch>
        </p:blipFill>
        <p:spPr>
          <a:xfrm>
            <a:off x="2849050" y="1307750"/>
            <a:ext cx="6142133" cy="3044700"/>
          </a:xfrm>
          <a:prstGeom prst="rect">
            <a:avLst/>
          </a:prstGeom>
          <a:noFill/>
          <a:ln>
            <a:noFill/>
          </a:ln>
        </p:spPr>
      </p:pic>
      <p:sp>
        <p:nvSpPr>
          <p:cNvPr id="538" name="Google Shape;538;g3c2d40ae598_1_0"/>
          <p:cNvSpPr txBox="1"/>
          <p:nvPr/>
        </p:nvSpPr>
        <p:spPr>
          <a:xfrm>
            <a:off x="1655075" y="4547113"/>
            <a:ext cx="9673200" cy="903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1200"/>
              </a:spcAft>
              <a:buNone/>
            </a:pPr>
            <a:r>
              <a:rPr lang="en-US" sz="1700">
                <a:solidFill>
                  <a:srgbClr val="990099"/>
                </a:solidFill>
              </a:rPr>
              <a:t>Three key findings emerge:</a:t>
            </a:r>
            <a:br>
              <a:rPr lang="en-US" sz="1700">
                <a:solidFill>
                  <a:schemeClr val="dk1"/>
                </a:solidFill>
              </a:rPr>
            </a:br>
            <a:r>
              <a:rPr lang="en-US" sz="1700">
                <a:solidFill>
                  <a:schemeClr val="dk1"/>
                </a:solidFill>
              </a:rPr>
              <a:t>(1) OnePO surpasses SFT+RL on all the benchmarks.</a:t>
            </a:r>
            <a:br>
              <a:rPr lang="en-US" sz="1700">
                <a:solidFill>
                  <a:schemeClr val="dk1"/>
                </a:solidFill>
              </a:rPr>
            </a:br>
            <a:r>
              <a:rPr lang="en-US" sz="1700">
                <a:solidFill>
                  <a:schemeClr val="dk1"/>
                </a:solidFill>
              </a:rPr>
              <a:t>(2) Teacher guidance is essential. pure RL without guidance achieves worst.</a:t>
            </a:r>
            <a:br>
              <a:rPr lang="en-US" sz="1700">
                <a:solidFill>
                  <a:schemeClr val="dk1"/>
                </a:solidFill>
              </a:rPr>
            </a:br>
            <a:r>
              <a:rPr lang="en-US" sz="1700">
                <a:solidFill>
                  <a:schemeClr val="dk1"/>
                </a:solidFill>
              </a:rPr>
              <a:t>(3) Thinking behavior benefits exploration.</a:t>
            </a:r>
            <a:endParaRPr sz="17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g3c2d40ae598_1_12"/>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46</a:t>
            </a:fld>
            <a:endParaRPr/>
          </a:p>
        </p:txBody>
      </p:sp>
      <p:sp>
        <p:nvSpPr>
          <p:cNvPr id="544" name="Google Shape;544;g3c2d40ae598_1_12"/>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HuatuoGPT-3 Experiment</a:t>
            </a:r>
            <a:endParaRPr sz="3300"/>
          </a:p>
        </p:txBody>
      </p:sp>
      <p:sp>
        <p:nvSpPr>
          <p:cNvPr id="545" name="Google Shape;545;g3c2d40ae598_1_12"/>
          <p:cNvSpPr txBox="1"/>
          <p:nvPr/>
        </p:nvSpPr>
        <p:spPr>
          <a:xfrm>
            <a:off x="811175" y="4933925"/>
            <a:ext cx="10722300" cy="903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1200"/>
              </a:spcAft>
              <a:buNone/>
            </a:pPr>
            <a:r>
              <a:rPr lang="en-US" sz="1800">
                <a:solidFill>
                  <a:srgbClr val="990099"/>
                </a:solidFill>
              </a:rPr>
              <a:t>HuatuoGPT-8B (67.2%) achieves a new state-of-the-art performance, surpassing Gemini-3-Pro and GPT-5.2 based solely on the parameters of the 8B.</a:t>
            </a:r>
            <a:endParaRPr sz="1800">
              <a:solidFill>
                <a:schemeClr val="dk1"/>
              </a:solidFill>
            </a:endParaRPr>
          </a:p>
        </p:txBody>
      </p:sp>
      <p:pic>
        <p:nvPicPr>
          <p:cNvPr id="546" name="Google Shape;546;g3c2d40ae598_1_12"/>
          <p:cNvPicPr preferRelativeResize="0"/>
          <p:nvPr/>
        </p:nvPicPr>
        <p:blipFill>
          <a:blip r:embed="rId3">
            <a:alphaModFix/>
          </a:blip>
          <a:stretch>
            <a:fillRect/>
          </a:stretch>
        </p:blipFill>
        <p:spPr>
          <a:xfrm>
            <a:off x="3344840" y="1259225"/>
            <a:ext cx="5250124" cy="34641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g3c2d40ae598_1_20"/>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47</a:t>
            </a:fld>
            <a:endParaRPr/>
          </a:p>
        </p:txBody>
      </p:sp>
      <p:sp>
        <p:nvSpPr>
          <p:cNvPr id="552" name="Google Shape;552;g3c2d40ae598_1_20"/>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HuatuoGPT-3 Experiment</a:t>
            </a:r>
            <a:endParaRPr sz="3300"/>
          </a:p>
        </p:txBody>
      </p:sp>
      <p:sp>
        <p:nvSpPr>
          <p:cNvPr id="553" name="Google Shape;553;g3c2d40ae598_1_20"/>
          <p:cNvSpPr txBox="1"/>
          <p:nvPr/>
        </p:nvSpPr>
        <p:spPr>
          <a:xfrm>
            <a:off x="840275" y="4778725"/>
            <a:ext cx="10722300" cy="903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1200"/>
              </a:spcAft>
              <a:buNone/>
            </a:pPr>
            <a:r>
              <a:rPr lang="en-US" sz="1600">
                <a:solidFill>
                  <a:srgbClr val="990099"/>
                </a:solidFill>
              </a:rPr>
              <a:t>w/o Prob. Floor drops significantly, confirming the importance of Adaptive Objective Evolution. The right picture reveals the anchoring problem, looser thresholds all plateau at lower scores because persistent teacher trajectories pull the model toward the teacher distribution.</a:t>
            </a:r>
            <a:endParaRPr sz="1600">
              <a:solidFill>
                <a:schemeClr val="dk1"/>
              </a:solidFill>
            </a:endParaRPr>
          </a:p>
        </p:txBody>
      </p:sp>
      <p:pic>
        <p:nvPicPr>
          <p:cNvPr id="554" name="Google Shape;554;g3c2d40ae598_1_20"/>
          <p:cNvPicPr preferRelativeResize="0"/>
          <p:nvPr/>
        </p:nvPicPr>
        <p:blipFill>
          <a:blip r:embed="rId3">
            <a:alphaModFix/>
          </a:blip>
          <a:stretch>
            <a:fillRect/>
          </a:stretch>
        </p:blipFill>
        <p:spPr>
          <a:xfrm>
            <a:off x="1500750" y="2437500"/>
            <a:ext cx="3420700" cy="1248550"/>
          </a:xfrm>
          <a:prstGeom prst="rect">
            <a:avLst/>
          </a:prstGeom>
          <a:noFill/>
          <a:ln>
            <a:noFill/>
          </a:ln>
        </p:spPr>
      </p:pic>
      <p:sp>
        <p:nvSpPr>
          <p:cNvPr id="555" name="Google Shape;555;g3c2d40ae598_1_20"/>
          <p:cNvSpPr txBox="1"/>
          <p:nvPr/>
        </p:nvSpPr>
        <p:spPr>
          <a:xfrm>
            <a:off x="1945625" y="1930836"/>
            <a:ext cx="3910800" cy="339600"/>
          </a:xfrm>
          <a:prstGeom prst="rect">
            <a:avLst/>
          </a:prstGeom>
          <a:noFill/>
          <a:ln>
            <a:noFill/>
          </a:ln>
        </p:spPr>
        <p:txBody>
          <a:bodyPr spcFirstLastPara="1" wrap="square" lIns="91425" tIns="90000" rIns="91425" bIns="91425" anchor="t" anchorCtr="0">
            <a:noAutofit/>
          </a:bodyPr>
          <a:lstStyle/>
          <a:p>
            <a:pPr marL="0" lvl="0" indent="0" algn="l" rtl="0">
              <a:lnSpc>
                <a:spcPct val="125000"/>
              </a:lnSpc>
              <a:spcBef>
                <a:spcPts val="1800"/>
              </a:spcBef>
              <a:spcAft>
                <a:spcPts val="1200"/>
              </a:spcAft>
              <a:buNone/>
            </a:pPr>
            <a:r>
              <a:rPr lang="en-US" sz="1900" b="1">
                <a:solidFill>
                  <a:srgbClr val="990099"/>
                </a:solidFill>
              </a:rPr>
              <a:t>Ablation Study</a:t>
            </a:r>
            <a:endParaRPr sz="1000" b="1">
              <a:solidFill>
                <a:srgbClr val="990099"/>
              </a:solidFill>
            </a:endParaRPr>
          </a:p>
        </p:txBody>
      </p:sp>
      <p:pic>
        <p:nvPicPr>
          <p:cNvPr id="556" name="Google Shape;556;g3c2d40ae598_1_20"/>
          <p:cNvPicPr preferRelativeResize="0"/>
          <p:nvPr/>
        </p:nvPicPr>
        <p:blipFill>
          <a:blip r:embed="rId4">
            <a:alphaModFix/>
          </a:blip>
          <a:stretch>
            <a:fillRect/>
          </a:stretch>
        </p:blipFill>
        <p:spPr>
          <a:xfrm>
            <a:off x="6047625" y="1763650"/>
            <a:ext cx="3817012" cy="2393725"/>
          </a:xfrm>
          <a:prstGeom prst="rect">
            <a:avLst/>
          </a:prstGeom>
          <a:noFill/>
          <a:ln>
            <a:noFill/>
          </a:ln>
        </p:spPr>
      </p:pic>
      <p:sp>
        <p:nvSpPr>
          <p:cNvPr id="557" name="Google Shape;557;g3c2d40ae598_1_20"/>
          <p:cNvSpPr txBox="1"/>
          <p:nvPr/>
        </p:nvSpPr>
        <p:spPr>
          <a:xfrm>
            <a:off x="5454275" y="1481775"/>
            <a:ext cx="6011400" cy="282000"/>
          </a:xfrm>
          <a:prstGeom prst="rect">
            <a:avLst/>
          </a:prstGeom>
          <a:noFill/>
          <a:ln>
            <a:noFill/>
          </a:ln>
        </p:spPr>
        <p:txBody>
          <a:bodyPr spcFirstLastPara="1" wrap="square" lIns="91425" tIns="90000" rIns="91425" bIns="91425" anchor="t" anchorCtr="0">
            <a:noAutofit/>
          </a:bodyPr>
          <a:lstStyle/>
          <a:p>
            <a:pPr marL="0" lvl="0" indent="0" algn="l" rtl="0">
              <a:lnSpc>
                <a:spcPct val="125000"/>
              </a:lnSpc>
              <a:spcBef>
                <a:spcPts val="1800"/>
              </a:spcBef>
              <a:spcAft>
                <a:spcPts val="1200"/>
              </a:spcAft>
              <a:buNone/>
            </a:pPr>
            <a:r>
              <a:rPr lang="en-US" sz="1900" b="1">
                <a:solidFill>
                  <a:srgbClr val="990099"/>
                </a:solidFill>
              </a:rPr>
              <a:t>Comparison of different retirement strategies</a:t>
            </a:r>
            <a:endParaRPr sz="1000" b="1">
              <a:solidFill>
                <a:srgbClr val="990099"/>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g3bca7b3d0bf_0_466"/>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48</a:t>
            </a:fld>
            <a:endParaRPr/>
          </a:p>
        </p:txBody>
      </p:sp>
      <p:sp>
        <p:nvSpPr>
          <p:cNvPr id="563" name="Google Shape;563;g3bca7b3d0bf_0_466"/>
          <p:cNvSpPr txBox="1">
            <a:spLocks noGrp="1"/>
          </p:cNvSpPr>
          <p:nvPr>
            <p:ph type="title"/>
          </p:nvPr>
        </p:nvSpPr>
        <p:spPr>
          <a:xfrm>
            <a:off x="1130516" y="152855"/>
            <a:ext cx="107223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300"/>
              <a:t>Conclusions</a:t>
            </a:r>
            <a:endParaRPr sz="3300"/>
          </a:p>
        </p:txBody>
      </p:sp>
      <p:sp>
        <p:nvSpPr>
          <p:cNvPr id="564" name="Google Shape;564;g3bca7b3d0bf_0_466"/>
          <p:cNvSpPr txBox="1"/>
          <p:nvPr/>
        </p:nvSpPr>
        <p:spPr>
          <a:xfrm>
            <a:off x="1046038" y="1424038"/>
            <a:ext cx="6729600" cy="411900"/>
          </a:xfrm>
          <a:prstGeom prst="rect">
            <a:avLst/>
          </a:prstGeom>
          <a:noFill/>
          <a:ln>
            <a:noFill/>
          </a:ln>
        </p:spPr>
        <p:txBody>
          <a:bodyPr spcFirstLastPara="1" wrap="square" lIns="91425" tIns="90000" rIns="91425" bIns="91425" anchor="t" anchorCtr="0">
            <a:noAutofit/>
          </a:bodyPr>
          <a:lstStyle/>
          <a:p>
            <a:pPr marL="0" lvl="0" indent="0" algn="l" rtl="0">
              <a:lnSpc>
                <a:spcPct val="125000"/>
              </a:lnSpc>
              <a:spcBef>
                <a:spcPts val="1800"/>
              </a:spcBef>
              <a:spcAft>
                <a:spcPts val="1200"/>
              </a:spcAft>
              <a:buNone/>
            </a:pPr>
            <a:r>
              <a:rPr lang="en-US" sz="2000" b="1">
                <a:solidFill>
                  <a:srgbClr val="990099"/>
                </a:solidFill>
              </a:rPr>
              <a:t>The Evolution Paradigm (The Path to Autonomy)</a:t>
            </a:r>
            <a:endParaRPr sz="1100" b="1">
              <a:solidFill>
                <a:srgbClr val="990099"/>
              </a:solidFill>
            </a:endParaRPr>
          </a:p>
        </p:txBody>
      </p:sp>
      <p:sp>
        <p:nvSpPr>
          <p:cNvPr id="565" name="Google Shape;565;g3bca7b3d0bf_0_466"/>
          <p:cNvSpPr txBox="1"/>
          <p:nvPr/>
        </p:nvSpPr>
        <p:spPr>
          <a:xfrm>
            <a:off x="1472763" y="2025102"/>
            <a:ext cx="9673200" cy="2800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300" b="1">
                <a:solidFill>
                  <a:schemeClr val="dk1"/>
                </a:solidFill>
              </a:rPr>
              <a:t>HuatuoGPT-2: Knowledge Injection (The Library Model)</a:t>
            </a:r>
            <a:endParaRPr sz="1300" b="1">
              <a:solidFill>
                <a:schemeClr val="dk1"/>
              </a:solidFill>
            </a:endParaRPr>
          </a:p>
          <a:p>
            <a:pPr marL="457200" lvl="0" indent="-311150" algn="l" rtl="0">
              <a:lnSpc>
                <a:spcPct val="115000"/>
              </a:lnSpc>
              <a:spcBef>
                <a:spcPts val="1200"/>
              </a:spcBef>
              <a:spcAft>
                <a:spcPts val="0"/>
              </a:spcAft>
              <a:buClr>
                <a:schemeClr val="dk1"/>
              </a:buClr>
              <a:buSzPts val="1300"/>
              <a:buChar char="●"/>
            </a:pPr>
            <a:r>
              <a:rPr lang="en-US" sz="1300" i="1">
                <a:solidFill>
                  <a:schemeClr val="dk1"/>
                </a:solidFill>
              </a:rPr>
              <a:t>System Focus</a:t>
            </a:r>
            <a:r>
              <a:rPr lang="en-US" sz="1300">
                <a:solidFill>
                  <a:schemeClr val="dk1"/>
                </a:solidFill>
              </a:rPr>
              <a:t>: Large-scale Data Pipelines.</a:t>
            </a:r>
            <a:endParaRPr sz="1300">
              <a:solidFill>
                <a:schemeClr val="dk1"/>
              </a:solidFill>
            </a:endParaRPr>
          </a:p>
          <a:p>
            <a:pPr marL="457200" lvl="0" indent="-311150" algn="l" rtl="0">
              <a:lnSpc>
                <a:spcPct val="115000"/>
              </a:lnSpc>
              <a:spcBef>
                <a:spcPts val="0"/>
              </a:spcBef>
              <a:spcAft>
                <a:spcPts val="0"/>
              </a:spcAft>
              <a:buClr>
                <a:schemeClr val="dk1"/>
              </a:buClr>
              <a:buSzPts val="1300"/>
              <a:buChar char="●"/>
            </a:pPr>
            <a:r>
              <a:rPr lang="en-US" sz="1300" i="1">
                <a:solidFill>
                  <a:schemeClr val="dk1"/>
                </a:solidFill>
              </a:rPr>
              <a:t>Problem</a:t>
            </a:r>
            <a:r>
              <a:rPr lang="en-US" sz="1300">
                <a:solidFill>
                  <a:schemeClr val="dk1"/>
                </a:solidFill>
              </a:rPr>
              <a:t>: Models are just "reading books" (Pre-training + SFT) but lack clinical intuition.</a:t>
            </a:r>
            <a:endParaRPr sz="13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1300" b="1">
                <a:solidFill>
                  <a:schemeClr val="dk1"/>
                </a:solidFill>
              </a:rPr>
              <a:t>HuatuoGPT-o1: Reasoning Enhancement (The Student Model)</a:t>
            </a:r>
            <a:endParaRPr sz="1300" b="1">
              <a:solidFill>
                <a:schemeClr val="dk1"/>
              </a:solidFill>
            </a:endParaRPr>
          </a:p>
          <a:p>
            <a:pPr marL="457200" lvl="0" indent="-311150" algn="l" rtl="0">
              <a:lnSpc>
                <a:spcPct val="115000"/>
              </a:lnSpc>
              <a:spcBef>
                <a:spcPts val="1200"/>
              </a:spcBef>
              <a:spcAft>
                <a:spcPts val="0"/>
              </a:spcAft>
              <a:buClr>
                <a:schemeClr val="dk1"/>
              </a:buClr>
              <a:buSzPts val="1300"/>
              <a:buChar char="●"/>
            </a:pPr>
            <a:r>
              <a:rPr lang="en-US" sz="1300" i="1">
                <a:solidFill>
                  <a:schemeClr val="dk1"/>
                </a:solidFill>
              </a:rPr>
              <a:t>System Focus</a:t>
            </a:r>
            <a:r>
              <a:rPr lang="en-US" sz="1300">
                <a:solidFill>
                  <a:schemeClr val="dk1"/>
                </a:solidFill>
              </a:rPr>
              <a:t>: Feedback-driven Optimization.</a:t>
            </a:r>
            <a:endParaRPr sz="1300">
              <a:solidFill>
                <a:schemeClr val="dk1"/>
              </a:solidFill>
            </a:endParaRPr>
          </a:p>
          <a:p>
            <a:pPr marL="457200" lvl="0" indent="-311150" algn="l" rtl="0">
              <a:lnSpc>
                <a:spcPct val="115000"/>
              </a:lnSpc>
              <a:spcBef>
                <a:spcPts val="0"/>
              </a:spcBef>
              <a:spcAft>
                <a:spcPts val="0"/>
              </a:spcAft>
              <a:buClr>
                <a:schemeClr val="dk1"/>
              </a:buClr>
              <a:buSzPts val="1300"/>
              <a:buChar char="●"/>
            </a:pPr>
            <a:r>
              <a:rPr lang="en-US" sz="1300" i="1">
                <a:solidFill>
                  <a:schemeClr val="dk1"/>
                </a:solidFill>
              </a:rPr>
              <a:t>Inspiration</a:t>
            </a:r>
            <a:r>
              <a:rPr lang="en-US" sz="1300">
                <a:solidFill>
                  <a:schemeClr val="dk1"/>
                </a:solidFill>
              </a:rPr>
              <a:t>: The "OpenAI o1" moment—using Reinforcement Learning to "think" before answering.</a:t>
            </a:r>
            <a:endParaRPr sz="13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1300" b="1">
                <a:solidFill>
                  <a:schemeClr val="dk1"/>
                </a:solidFill>
              </a:rPr>
              <a:t>HuatuoGPT-3: Self-Evolution (The Researcher Model)</a:t>
            </a:r>
            <a:endParaRPr sz="1300" b="1">
              <a:solidFill>
                <a:schemeClr val="dk1"/>
              </a:solidFill>
            </a:endParaRPr>
          </a:p>
          <a:p>
            <a:pPr marL="457200" lvl="0" indent="-311150" algn="l" rtl="0">
              <a:lnSpc>
                <a:spcPct val="115000"/>
              </a:lnSpc>
              <a:spcBef>
                <a:spcPts val="1200"/>
              </a:spcBef>
              <a:spcAft>
                <a:spcPts val="0"/>
              </a:spcAft>
              <a:buClr>
                <a:schemeClr val="dk1"/>
              </a:buClr>
              <a:buSzPts val="1300"/>
              <a:buChar char="●"/>
            </a:pPr>
            <a:r>
              <a:rPr lang="en-US" sz="1300" i="1">
                <a:solidFill>
                  <a:schemeClr val="dk1"/>
                </a:solidFill>
              </a:rPr>
              <a:t>System Focus</a:t>
            </a:r>
            <a:r>
              <a:rPr lang="en-US" sz="1300">
                <a:solidFill>
                  <a:schemeClr val="dk1"/>
                </a:solidFill>
              </a:rPr>
              <a:t>: Simplifying the Pipeline (OnePO).</a:t>
            </a:r>
            <a:endParaRPr sz="1300">
              <a:solidFill>
                <a:schemeClr val="dk1"/>
              </a:solidFill>
            </a:endParaRPr>
          </a:p>
          <a:p>
            <a:pPr marL="457200" lvl="0" indent="-311150" algn="l" rtl="0">
              <a:lnSpc>
                <a:spcPct val="115000"/>
              </a:lnSpc>
              <a:spcBef>
                <a:spcPts val="0"/>
              </a:spcBef>
              <a:spcAft>
                <a:spcPts val="0"/>
              </a:spcAft>
              <a:buClr>
                <a:schemeClr val="dk1"/>
              </a:buClr>
              <a:buSzPts val="1300"/>
              <a:buChar char="●"/>
            </a:pPr>
            <a:r>
              <a:rPr lang="en-US" sz="1300" i="1">
                <a:solidFill>
                  <a:schemeClr val="dk1"/>
                </a:solidFill>
              </a:rPr>
              <a:t>Goal</a:t>
            </a:r>
            <a:r>
              <a:rPr lang="en-US" sz="1300">
                <a:solidFill>
                  <a:schemeClr val="dk1"/>
                </a:solidFill>
              </a:rPr>
              <a:t>: A system that learns autonomously from the environment, bypassing the need for expensive SFT data.</a:t>
            </a:r>
            <a:endParaRPr sz="1300">
              <a:solidFill>
                <a:schemeClr val="dk1"/>
              </a:solidFill>
            </a:endParaRPr>
          </a:p>
          <a:p>
            <a:pPr marL="0" lvl="0" indent="0" algn="l" rtl="0">
              <a:lnSpc>
                <a:spcPct val="115000"/>
              </a:lnSpc>
              <a:spcBef>
                <a:spcPts val="1200"/>
              </a:spcBef>
              <a:spcAft>
                <a:spcPts val="1200"/>
              </a:spcAft>
              <a:buNone/>
            </a:pPr>
            <a:endParaRPr sz="2100">
              <a:solidFill>
                <a:schemeClr val="dk1"/>
              </a:solidFill>
            </a:endParaRPr>
          </a:p>
        </p:txBody>
      </p:sp>
      <p:sp>
        <p:nvSpPr>
          <p:cNvPr id="566" name="Google Shape;566;g3bca7b3d0bf_0_466"/>
          <p:cNvSpPr txBox="1"/>
          <p:nvPr/>
        </p:nvSpPr>
        <p:spPr>
          <a:xfrm>
            <a:off x="1325377" y="5161600"/>
            <a:ext cx="8248800" cy="708000"/>
          </a:xfrm>
          <a:prstGeom prst="rect">
            <a:avLst/>
          </a:prstGeom>
          <a:noFill/>
          <a:ln>
            <a:noFill/>
          </a:ln>
        </p:spPr>
        <p:txBody>
          <a:bodyPr spcFirstLastPara="1" wrap="square" lIns="91425" tIns="45700" rIns="91425" bIns="45700" anchor="ctr" anchorCtr="1">
            <a:spAutoFit/>
          </a:bodyPr>
          <a:lstStyle/>
          <a:p>
            <a:pPr marL="0" marR="0" lvl="0" indent="0" algn="ctr" rtl="0">
              <a:spcBef>
                <a:spcPts val="0"/>
              </a:spcBef>
              <a:spcAft>
                <a:spcPts val="0"/>
              </a:spcAft>
              <a:buNone/>
            </a:pPr>
            <a:r>
              <a:rPr lang="en-US" sz="2000" i="1">
                <a:solidFill>
                  <a:schemeClr val="dk1"/>
                </a:solidFill>
                <a:latin typeface="Times New Roman"/>
                <a:ea typeface="Times New Roman"/>
                <a:cs typeface="Times New Roman"/>
                <a:sym typeface="Times New Roman"/>
              </a:rPr>
              <a:t>The evolution of training systems for medical LLMs is towards </a:t>
            </a:r>
            <a:r>
              <a:rPr lang="en-US" sz="2000" b="1" i="1">
                <a:solidFill>
                  <a:schemeClr val="dk1"/>
                </a:solidFill>
                <a:latin typeface="Times New Roman"/>
                <a:ea typeface="Times New Roman"/>
                <a:cs typeface="Times New Roman"/>
                <a:sym typeface="Times New Roman"/>
              </a:rPr>
              <a:t>greater autonomy and less reliance on data</a:t>
            </a:r>
            <a:r>
              <a:rPr lang="en-US" sz="2000" i="1">
                <a:solidFill>
                  <a:schemeClr val="dk1"/>
                </a:solidFill>
                <a:latin typeface="Times New Roman"/>
                <a:ea typeface="Times New Roman"/>
                <a:cs typeface="Times New Roman"/>
                <a:sym typeface="Times New Roman"/>
              </a:rPr>
              <a:t>.</a:t>
            </a:r>
            <a:endParaRPr sz="2000" b="0" i="1"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g3c2d40ae598_1_91"/>
          <p:cNvSpPr txBox="1">
            <a:spLocks noGrp="1"/>
          </p:cNvSpPr>
          <p:nvPr>
            <p:ph type="title"/>
          </p:nvPr>
        </p:nvSpPr>
        <p:spPr>
          <a:xfrm>
            <a:off x="1296610" y="144466"/>
            <a:ext cx="10271100" cy="692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Outline</a:t>
            </a:r>
            <a:endParaRPr/>
          </a:p>
        </p:txBody>
      </p:sp>
      <p:sp>
        <p:nvSpPr>
          <p:cNvPr id="573" name="Google Shape;573;g3c2d40ae598_1_91"/>
          <p:cNvSpPr txBox="1">
            <a:spLocks noGrp="1"/>
          </p:cNvSpPr>
          <p:nvPr>
            <p:ph type="body" idx="1"/>
          </p:nvPr>
        </p:nvSpPr>
        <p:spPr>
          <a:xfrm>
            <a:off x="1296535" y="1455337"/>
            <a:ext cx="10271100" cy="3560700"/>
          </a:xfrm>
          <a:prstGeom prst="rect">
            <a:avLst/>
          </a:prstGeom>
          <a:noFill/>
          <a:ln>
            <a:noFill/>
          </a:ln>
        </p:spPr>
        <p:txBody>
          <a:bodyPr spcFirstLastPara="1" wrap="square" lIns="91425" tIns="45700" rIns="91425" bIns="45700" anchor="t" anchorCtr="0">
            <a:noAutofit/>
          </a:bodyPr>
          <a:lstStyle/>
          <a:p>
            <a:pPr marL="342882" lvl="0" indent="-342882" algn="l" rtl="0">
              <a:spcBef>
                <a:spcPts val="0"/>
              </a:spcBef>
              <a:spcAft>
                <a:spcPts val="0"/>
              </a:spcAft>
              <a:buSzPts val="2346"/>
              <a:buChar char="●"/>
            </a:pPr>
            <a:r>
              <a:rPr lang="en-US" sz="2933">
                <a:latin typeface="Times New Roman"/>
                <a:ea typeface="Times New Roman"/>
                <a:cs typeface="Times New Roman"/>
                <a:sym typeface="Times New Roman"/>
              </a:rPr>
              <a:t>Background (3 min)</a:t>
            </a:r>
            <a:endParaRPr sz="2933">
              <a:latin typeface="Times New Roman"/>
              <a:ea typeface="Times New Roman"/>
              <a:cs typeface="Times New Roman"/>
              <a:sym typeface="Times New Roman"/>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Motivation (3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Proposed Methods &amp; Performance Evaluation (18 min)</a:t>
            </a:r>
            <a:endParaRPr/>
          </a:p>
          <a:p>
            <a:pPr marL="742913" lvl="1" indent="-285737" algn="l" rtl="0">
              <a:spcBef>
                <a:spcPts val="480"/>
              </a:spcBef>
              <a:spcAft>
                <a:spcPts val="0"/>
              </a:spcAft>
              <a:buSzPts val="2160"/>
              <a:buChar char="–"/>
            </a:pPr>
            <a:r>
              <a:rPr lang="en-US" sz="2400">
                <a:latin typeface="Times New Roman"/>
                <a:ea typeface="Times New Roman"/>
                <a:cs typeface="Times New Roman"/>
                <a:sym typeface="Times New Roman"/>
              </a:rPr>
              <a:t>HuatuoGPT-2 ( 6 min)</a:t>
            </a:r>
            <a:endParaRPr/>
          </a:p>
          <a:p>
            <a:pPr marL="742913" lvl="1" indent="-285737" algn="l" rtl="0">
              <a:spcBef>
                <a:spcPts val="480"/>
              </a:spcBef>
              <a:spcAft>
                <a:spcPts val="0"/>
              </a:spcAft>
              <a:buSzPts val="2160"/>
              <a:buChar char="–"/>
            </a:pPr>
            <a:r>
              <a:rPr lang="en-US" sz="2400">
                <a:latin typeface="Times New Roman"/>
                <a:ea typeface="Times New Roman"/>
                <a:cs typeface="Times New Roman"/>
                <a:sym typeface="Times New Roman"/>
              </a:rPr>
              <a:t>HuatuoGPT-o1 ( 6 min)</a:t>
            </a:r>
            <a:endParaRPr/>
          </a:p>
          <a:p>
            <a:pPr marL="742913" lvl="1" indent="-285737" algn="l" rtl="0">
              <a:spcBef>
                <a:spcPts val="480"/>
              </a:spcBef>
              <a:spcAft>
                <a:spcPts val="0"/>
              </a:spcAft>
              <a:buSzPts val="2160"/>
              <a:buChar char="–"/>
            </a:pPr>
            <a:r>
              <a:rPr lang="en-US" sz="2400">
                <a:latin typeface="Times New Roman"/>
                <a:ea typeface="Times New Roman"/>
                <a:cs typeface="Times New Roman"/>
                <a:sym typeface="Times New Roman"/>
              </a:rPr>
              <a:t>HuatuoGPT-3 ( 6 min)</a:t>
            </a:r>
            <a:endParaRPr/>
          </a:p>
          <a:p>
            <a:pPr marL="342882" lvl="0" indent="-342882" algn="l" rtl="0">
              <a:spcBef>
                <a:spcPts val="587"/>
              </a:spcBef>
              <a:spcAft>
                <a:spcPts val="0"/>
              </a:spcAft>
              <a:buSzPts val="2346"/>
              <a:buChar char="●"/>
            </a:pPr>
            <a:r>
              <a:rPr lang="en-US" sz="2933">
                <a:latin typeface="Times New Roman"/>
                <a:ea typeface="Times New Roman"/>
                <a:cs typeface="Times New Roman"/>
                <a:sym typeface="Times New Roman"/>
              </a:rPr>
              <a:t>Conclusions (1 min)</a:t>
            </a:r>
            <a:endParaRPr/>
          </a:p>
          <a:p>
            <a:pPr marL="342882" lvl="0" indent="-342882" algn="l" rtl="0">
              <a:spcBef>
                <a:spcPts val="587"/>
              </a:spcBef>
              <a:spcAft>
                <a:spcPts val="0"/>
              </a:spcAft>
              <a:buSzPts val="2346"/>
              <a:buChar char="●"/>
            </a:pPr>
            <a:r>
              <a:rPr lang="en-US" sz="2933">
                <a:solidFill>
                  <a:srgbClr val="FF0000"/>
                </a:solidFill>
                <a:latin typeface="Times New Roman"/>
                <a:ea typeface="Times New Roman"/>
                <a:cs typeface="Times New Roman"/>
                <a:sym typeface="Times New Roman"/>
              </a:rPr>
              <a:t>Q &amp; A</a:t>
            </a:r>
            <a:r>
              <a:rPr lang="en-US" sz="2933">
                <a:latin typeface="Times New Roman"/>
                <a:ea typeface="Times New Roman"/>
                <a:cs typeface="Times New Roman"/>
                <a:sym typeface="Times New Roman"/>
              </a:rPr>
              <a:t> (5 min)</a:t>
            </a:r>
            <a:endParaRPr/>
          </a:p>
        </p:txBody>
      </p:sp>
      <p:sp>
        <p:nvSpPr>
          <p:cNvPr id="574" name="Google Shape;574;g3c2d40ae598_1_91"/>
          <p:cNvSpPr txBox="1">
            <a:spLocks noGrp="1"/>
          </p:cNvSpPr>
          <p:nvPr>
            <p:ph type="sldNum" idx="12"/>
          </p:nvPr>
        </p:nvSpPr>
        <p:spPr>
          <a:xfrm>
            <a:off x="9108017" y="6524628"/>
            <a:ext cx="2844900" cy="339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sld>
</file>

<file path=ppt/theme/theme1.xml><?xml version="1.0" encoding="utf-8"?>
<a:theme xmlns:a="http://schemas.openxmlformats.org/drawingml/2006/main" name="NTHU UniCloud">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2736</Words>
  <Application>Microsoft Office PowerPoint</Application>
  <PresentationFormat>宽屏</PresentationFormat>
  <Paragraphs>348</Paragraphs>
  <Slides>49</Slides>
  <Notes>49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49</vt:i4>
      </vt:variant>
    </vt:vector>
  </HeadingPairs>
  <TitlesOfParts>
    <vt:vector size="59" baseType="lpstr">
      <vt:lpstr>Lato</vt:lpstr>
      <vt:lpstr>Georgia</vt:lpstr>
      <vt:lpstr>Calibri</vt:lpstr>
      <vt:lpstr>Noto Sans Symbols</vt:lpstr>
      <vt:lpstr>Lora</vt:lpstr>
      <vt:lpstr>Roboto</vt:lpstr>
      <vt:lpstr>Arial</vt:lpstr>
      <vt:lpstr>KaiTi</vt:lpstr>
      <vt:lpstr>Times New Roman</vt:lpstr>
      <vt:lpstr>NTHU UniCloud</vt:lpstr>
      <vt:lpstr>Evolution of Medical LLM Training Systems  2026.02.03</vt:lpstr>
      <vt:lpstr>Outline</vt:lpstr>
      <vt:lpstr>What is Medical LLMs</vt:lpstr>
      <vt:lpstr>Why Medical LLM Matters?</vt:lpstr>
      <vt:lpstr>The Healthcare AI Landscape</vt:lpstr>
      <vt:lpstr>Industry Giants Enter Healthcare AI</vt:lpstr>
      <vt:lpstr>Our Journey in Medical LLMs</vt:lpstr>
      <vt:lpstr>Our Journey in Medical LLMs</vt:lpstr>
      <vt:lpstr>Outline</vt:lpstr>
      <vt:lpstr>Challenges in Training Medical LLMs</vt:lpstr>
      <vt:lpstr>Our Solution - The HuatuoGPT Series</vt:lpstr>
      <vt:lpstr>Our Solution - The HuatuoGPT Series</vt:lpstr>
      <vt:lpstr>Outline</vt:lpstr>
      <vt:lpstr>HuatuoGPT-2: One-stage Training for Medical Adaption</vt:lpstr>
      <vt:lpstr>HuatuoGPT-2: One-stage Training for Medical Adaption</vt:lpstr>
      <vt:lpstr>HuatuoGPT-2: One-stage Training for Medical Adaption</vt:lpstr>
      <vt:lpstr>1. Data Unification</vt:lpstr>
      <vt:lpstr>2. One-stage Adaption</vt:lpstr>
      <vt:lpstr>HuatuoGPT-2 Experiment</vt:lpstr>
      <vt:lpstr>HuatuoGPT-2 Performance</vt:lpstr>
      <vt:lpstr>HuatuoGPT-2 Pass the National Pharmacist Examination</vt:lpstr>
      <vt:lpstr>Outline</vt:lpstr>
      <vt:lpstr>HuatuoGPT-o1: Towards Medical Complex Reasoning </vt:lpstr>
      <vt:lpstr>HuatuoGPT-o1: Towards Medical Complex Reasoning </vt:lpstr>
      <vt:lpstr>So, what’s Next for Medical LLMs?</vt:lpstr>
      <vt:lpstr>HuatuoGPT-o1: Towards Medical Complex Reasoning </vt:lpstr>
      <vt:lpstr>HuatuoGPT-o1: Towards Medical Complex Reasoning </vt:lpstr>
      <vt:lpstr>HuatuoGPT-o1: Towards Medical Complex Reasoning </vt:lpstr>
      <vt:lpstr>Searching for Correct Trajectories</vt:lpstr>
      <vt:lpstr>Stage 1. Supervised Fine-tuning</vt:lpstr>
      <vt:lpstr>Stage 1. Supervised Fine-tuning</vt:lpstr>
      <vt:lpstr>Stage 2. Enhance Complex Reasoning with RL</vt:lpstr>
      <vt:lpstr>HuatuoGPT-o1 Experiment</vt:lpstr>
      <vt:lpstr>HuatuoGPT-o1 Experiment</vt:lpstr>
      <vt:lpstr>Outline</vt:lpstr>
      <vt:lpstr>HuatuoGPT-3: Direct One-stage Policy Optimization</vt:lpstr>
      <vt:lpstr>HuatuoGPT-3: Direct One-stage Policy Optimization</vt:lpstr>
      <vt:lpstr>Pilot Study</vt:lpstr>
      <vt:lpstr>Pilot Study</vt:lpstr>
      <vt:lpstr>HuatuoGPT-3: Direct One-stage Policy Optimization</vt:lpstr>
      <vt:lpstr>HuatuoGPT-3: Direct One-stage Policy Optimization</vt:lpstr>
      <vt:lpstr>1. Adaptive Objective Evolution </vt:lpstr>
      <vt:lpstr>2. Teacher Retirement</vt:lpstr>
      <vt:lpstr>Dataset: OneData-Health-20K</vt:lpstr>
      <vt:lpstr>HuatuoGPT-3 Experiment</vt:lpstr>
      <vt:lpstr>HuatuoGPT-3 Experiment</vt:lpstr>
      <vt:lpstr>HuatuoGPT-3 Experiment</vt:lpstr>
      <vt:lpstr>Conclusions</vt:lpstr>
      <vt:lpstr>Outline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Windows 使用者</dc:creator>
  <cp:lastModifiedBy>Yeh-Ching Chung</cp:lastModifiedBy>
  <cp:revision>1</cp:revision>
  <dcterms:created xsi:type="dcterms:W3CDTF">2020-07-15T11:13:39Z</dcterms:created>
  <dcterms:modified xsi:type="dcterms:W3CDTF">2026-02-02T18:52:08Z</dcterms:modified>
</cp:coreProperties>
</file>