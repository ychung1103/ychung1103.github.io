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Lst>
  <p:notesMasterIdLst>
    <p:notesMasterId r:id="rId5"/>
  </p:notesMasterIdLst>
  <p:sldIdLst>
    <p:sldId id="256" r:id="rId4"/>
    <p:sldId id="519" r:id="rId6"/>
    <p:sldId id="526" r:id="rId7"/>
    <p:sldId id="524" r:id="rId8"/>
    <p:sldId id="522" r:id="rId9"/>
    <p:sldId id="525" r:id="rId10"/>
    <p:sldId id="527" r:id="rId11"/>
    <p:sldId id="536" r:id="rId12"/>
    <p:sldId id="539" r:id="rId13"/>
    <p:sldId id="544" r:id="rId14"/>
    <p:sldId id="528" r:id="rId15"/>
    <p:sldId id="529" r:id="rId16"/>
    <p:sldId id="540" r:id="rId17"/>
    <p:sldId id="546" r:id="rId18"/>
    <p:sldId id="545" r:id="rId19"/>
    <p:sldId id="547" r:id="rId20"/>
    <p:sldId id="548" r:id="rId21"/>
    <p:sldId id="530" r:id="rId22"/>
    <p:sldId id="551" r:id="rId23"/>
    <p:sldId id="541" r:id="rId24"/>
    <p:sldId id="549" r:id="rId25"/>
    <p:sldId id="552" r:id="rId26"/>
    <p:sldId id="531" r:id="rId27"/>
    <p:sldId id="542" r:id="rId28"/>
    <p:sldId id="532" r:id="rId29"/>
    <p:sldId id="550" r:id="rId30"/>
    <p:sldId id="534" r:id="rId31"/>
    <p:sldId id="535" r:id="rId3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0" autoAdjust="0"/>
    <p:restoredTop sz="94660"/>
  </p:normalViewPr>
  <p:slideViewPr>
    <p:cSldViewPr snapToGrid="0">
      <p:cViewPr varScale="1">
        <p:scale>
          <a:sx n="56" d="100"/>
          <a:sy n="56" d="100"/>
        </p:scale>
        <p:origin x="960"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Good afternoon everyone. Today, I’d like to present on the topic: "When LLM Become OS Operators: Rethinking Trust and Isolation."</a:t>
            </a:r>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txBody>
          <a:bodyPr/>
          <a:lstStyle/>
          <a:p>
            <a:endParaRPr lang="zh-CN" altLang="en-US"/>
          </a:p>
        </p:txBody>
      </p:sp>
      <p:sp>
        <p:nvSpPr>
          <p:cNvPr id="3" name="備忘稿版面配置區 2"/>
          <p:cNvSpPr>
            <a:spLocks noGrp="1"/>
          </p:cNvSpPr>
          <p:nvPr>
            <p:ph type="body" idx="1"/>
          </p:nvPr>
        </p:nvSpPr>
        <p:spPr/>
        <p:txBody>
          <a:bodyPr>
            <a:normAutofit/>
          </a:bodyPr>
          <a:lstStyle/>
          <a:p>
            <a:r>
              <a:rPr lang="en-US" altLang="zh-TW"/>
              <a:t>This is the outline for my presentation. And we shall start from the intro part.</a:t>
            </a:r>
            <a:endParaRPr lang="en-US" altLang="zh-TW"/>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txBody>
          <a:bodyPr/>
          <a:lstStyle/>
          <a:p>
            <a:endParaRPr lang="zh-CN" altLang="en-US"/>
          </a:p>
        </p:txBody>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Over the past few years, we have witnessed a fundamental shift in how we interact with Large Language Model.</a:t>
            </a:r>
            <a:endParaRPr lang="en-US" altLang="zh-CN"/>
          </a:p>
          <a:p>
            <a:r>
              <a:rPr lang="en-US" altLang="zh-CN"/>
              <a:t>Initially, we treated them as Chatbots—we just ask question with chatgpt. </a:t>
            </a:r>
            <a:endParaRPr lang="en-US" altLang="zh-CN"/>
          </a:p>
          <a:p>
            <a:endParaRPr lang="en-US" altLang="zh-CN"/>
          </a:p>
          <a:p>
            <a:r>
              <a:rPr lang="en-US" altLang="zh-CN"/>
              <a:t>But now, things are changing. LLMs are evolving into Copilots, and even more it work as an OS Agent.</a:t>
            </a:r>
            <a:endParaRPr lang="en-US" altLang="zh-CN"/>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The difference is </a:t>
            </a:r>
            <a:r>
              <a:rPr lang="en-US" altLang="zh-CN"/>
              <a:t>huge. </a:t>
            </a:r>
            <a:endParaRPr lang="en-US" altLang="zh-CN"/>
          </a:p>
          <a:p>
            <a:r>
              <a:rPr lang="en-US" altLang="zh-CN"/>
              <a:t>A Chatbot outputs text; but an OS Agent outputs actions.</a:t>
            </a:r>
            <a:endParaRPr lang="en-US" altLang="zh-CN"/>
          </a:p>
          <a:p>
            <a:endParaRPr lang="en-US" altLang="zh-CN"/>
          </a:p>
          <a:p>
            <a:r>
              <a:rPr lang="en-US" altLang="zh-CN"/>
              <a:t>Imagine you no longer need to click multiple tabs to book a trip. </a:t>
            </a:r>
            <a:endParaRPr lang="en-US" altLang="zh-CN"/>
          </a:p>
          <a:p>
            <a:r>
              <a:rPr lang="en-US" altLang="zh-CN"/>
              <a:t>Instead, you simply tell your computer, "Book a flight to Beijing for next week." </a:t>
            </a:r>
            <a:endParaRPr lang="en-US" altLang="zh-CN"/>
          </a:p>
          <a:p>
            <a:r>
              <a:rPr lang="en-US" altLang="zh-CN"/>
              <a:t>The Agent open the browser, navigates the UI, reads your calendar, and executes the payment.</a:t>
            </a:r>
            <a:endParaRPr lang="en-US" altLang="zh-CN"/>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This automation offers efficiency. </a:t>
            </a:r>
            <a:endParaRPr lang="en-US" altLang="zh-CN"/>
          </a:p>
          <a:p>
            <a:r>
              <a:rPr lang="en-US" altLang="zh-CN"/>
              <a:t>However, it fundamentally challenges our concepts of trust and isolation. </a:t>
            </a:r>
            <a:endParaRPr lang="en-US" altLang="zh-CN"/>
          </a:p>
          <a:p>
            <a:endParaRPr lang="en-US" altLang="zh-CN"/>
          </a:p>
          <a:p>
            <a:r>
              <a:rPr lang="en-US" altLang="zh-CN"/>
              <a:t>We are giving absolute trust to a LLM by giving it full read and write permissions on OS, </a:t>
            </a:r>
            <a:r>
              <a:rPr lang="en-US" altLang="zh-CN"/>
              <a:t>and without the necessary isolation barriers. </a:t>
            </a:r>
            <a:endParaRPr lang="en-US" altLang="zh-CN"/>
          </a:p>
          <a:p>
            <a:endParaRPr lang="en-US" altLang="zh-CN"/>
          </a:p>
          <a:p>
            <a:r>
              <a:rPr lang="en-US" altLang="zh-CN"/>
              <a:t>So, When we hand over the mouse and keyboard to an AI, we face </a:t>
            </a:r>
            <a:r>
              <a:rPr lang="en-US" altLang="zh-CN"/>
              <a:t>unpredictable security challenges.</a:t>
            </a:r>
            <a:endParaRPr lang="en-US" altLang="zh-CN"/>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txBody>
          <a:bodyPr/>
          <a:lstStyle/>
          <a:p>
            <a:endParaRPr lang="zh-CN" altLang="en-US"/>
          </a:p>
        </p:txBody>
      </p:sp>
      <p:sp>
        <p:nvSpPr>
          <p:cNvPr id="3" name="備忘稿版面配置區 2"/>
          <p:cNvSpPr>
            <a:spLocks noGrp="1"/>
          </p:cNvSpPr>
          <p:nvPr>
            <p:ph type="body" idx="1"/>
          </p:nvPr>
        </p:nvSpPr>
        <p:spPr/>
        <p:txBody>
          <a:bodyPr>
            <a:normAutofit/>
          </a:bodyPr>
          <a:lstStyle/>
          <a:p>
            <a:r>
              <a:rPr lang="en-US" altLang="zh-CN">
                <a:sym typeface="+mn-ea"/>
              </a:rPr>
              <a:t>To understand the risks, I’ll start by introducing recent OS agent architecture. </a:t>
            </a:r>
            <a:endParaRPr lang="zh-TW" altLang="en-US"/>
          </a:p>
          <a:p>
            <a:endParaRPr lang="en-US" altLang="zh-CN">
              <a:sym typeface="+mn-ea"/>
            </a:endParaRPr>
          </a:p>
          <a:p>
            <a:r>
              <a:rPr lang="en-US" altLang="zh-CN">
                <a:sym typeface="+mn-ea"/>
              </a:rPr>
              <a:t>Then, I’ll cover two main risks: external attacks and internal errors.</a:t>
            </a:r>
            <a:endParaRPr lang="en-US" altLang="zh-CN"/>
          </a:p>
          <a:p>
            <a:endParaRPr lang="en-US" altLang="zh-CN">
              <a:sym typeface="+mn-ea"/>
            </a:endParaRPr>
          </a:p>
          <a:p>
            <a:r>
              <a:rPr lang="en-US" altLang="zh-CN">
                <a:sym typeface="+mn-ea"/>
              </a:rPr>
              <a:t>Finally, I’ll propose our vision for a safer system.</a:t>
            </a:r>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smtClean="0">
                <a:ea typeface="標楷體" pitchFamily="65" charset="-120"/>
                <a:cs typeface="Calibri" pitchFamily="34" charset="0"/>
                <a:sym typeface="+mn-ea"/>
              </a:rPr>
              <a:t>What is the latest OS Agent architecture?</a:t>
            </a:r>
            <a:endParaRPr lang="en-US" altLang="zh-CN"/>
          </a:p>
          <a:p>
            <a:endParaRPr lang="en-US" altLang="zh-CN"/>
          </a:p>
          <a:p>
            <a:r>
              <a:rPr lang="en-US" altLang="zh-CN"/>
              <a:t>We will look at the </a:t>
            </a:r>
            <a:r>
              <a:rPr lang="en-US" altLang="zh-CN">
                <a:sym typeface="+mn-ea"/>
              </a:rPr>
              <a:t>paper from </a:t>
            </a:r>
            <a:r>
              <a:rPr lang="en-US" altLang="zh-CN"/>
              <a:t>Microsoft, "OmniParser for Pure Vision Based GUI Agent."</a:t>
            </a:r>
            <a:endParaRPr lang="en-US" altLang="zh-CN"/>
          </a:p>
          <a:p>
            <a:endParaRPr lang="en-US" altLang="zh-CN"/>
          </a:p>
          <a:p>
            <a:r>
              <a:rPr lang="en-US" altLang="zh-CN"/>
              <a:t>Traditional automation relied on APIs or HTML parsing, which often break when UIs update. And only work with web or executable files with api.</a:t>
            </a:r>
            <a:endParaRPr lang="en-US" altLang="zh-CN"/>
          </a:p>
          <a:p>
            <a:endParaRPr lang="en-US" altLang="zh-CN"/>
          </a:p>
          <a:p>
            <a:r>
              <a:rPr lang="en-US" altLang="zh-CN"/>
              <a:t>But, the new generation of agents uses a Pure Vision Based approach. </a:t>
            </a:r>
            <a:endParaRPr lang="en-US" altLang="zh-CN"/>
          </a:p>
          <a:p>
            <a:r>
              <a:rPr lang="en-US" altLang="zh-CN"/>
              <a:t>Essentially, the Agent "sees" the screen just like a human does.</a:t>
            </a:r>
            <a:endParaRPr lang="en-US" altLang="zh-CN"/>
          </a:p>
          <a:p>
            <a:endParaRPr lang="en-US" altLang="zh-CN"/>
          </a:p>
          <a:p>
            <a:r>
              <a:rPr lang="en-US" altLang="zh-CN"/>
              <a:t>So For the design of OmniParser. OmniParser use small models to extract structured information from the UI, Then use it to predict action.</a:t>
            </a:r>
            <a:endParaRPr lang="en-US" altLang="zh-CN"/>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OmniParser address a key limitation in models like GPT-4V: while they understand general images, they struggle to precisely locate small UI elements like icons or buttons.</a:t>
            </a:r>
            <a:endParaRPr lang="en-US" altLang="zh-CN"/>
          </a:p>
          <a:p>
            <a:endParaRPr lang="en-US" altLang="zh-CN"/>
          </a:p>
          <a:p>
            <a:r>
              <a:rPr lang="en-US" altLang="zh-CN"/>
              <a:t>The workflow is as follows:</a:t>
            </a:r>
            <a:endParaRPr lang="en-US" altLang="zh-CN"/>
          </a:p>
          <a:p>
            <a:endParaRPr lang="en-US" altLang="zh-CN"/>
          </a:p>
          <a:p>
            <a:r>
              <a:rPr lang="en-US" altLang="zh-CN"/>
              <a:t>Screenshot: The system captures the current OS state.</a:t>
            </a:r>
            <a:endParaRPr lang="en-US" altLang="zh-CN"/>
          </a:p>
          <a:p>
            <a:endParaRPr lang="en-US" altLang="zh-CN"/>
          </a:p>
          <a:p>
            <a:r>
              <a:rPr lang="en-US" altLang="zh-CN"/>
              <a:t>Parsing: OmniParser converts the screenshot into structured data. </a:t>
            </a:r>
            <a:endParaRPr lang="en-US" altLang="zh-CN"/>
          </a:p>
          <a:p>
            <a:r>
              <a:rPr lang="en-US" altLang="zh-CN"/>
              <a:t>It identify interactable regions and text region with tags. </a:t>
            </a:r>
            <a:endParaRPr lang="en-US" altLang="zh-CN"/>
          </a:p>
          <a:p>
            <a:r>
              <a:rPr lang="en-US" altLang="zh-CN"/>
              <a:t>Then use CLIP to </a:t>
            </a:r>
            <a:r>
              <a:rPr lang="en-US" altLang="zh-CN">
                <a:sym typeface="+mn-ea"/>
              </a:rPr>
              <a:t>identify the usage of the icon, or in paper, they call local semantics.</a:t>
            </a:r>
            <a:endParaRPr lang="en-US" altLang="zh-CN">
              <a:sym typeface="+mn-ea"/>
            </a:endParaRPr>
          </a:p>
          <a:p>
            <a:r>
              <a:rPr lang="en-US" altLang="zh-CN">
                <a:sym typeface="+mn-ea"/>
              </a:rPr>
              <a:t>All of these are very common deep learning model.</a:t>
            </a:r>
            <a:endParaRPr lang="en-US" altLang="zh-CN"/>
          </a:p>
          <a:p>
            <a:endParaRPr lang="en-US" altLang="zh-CN"/>
          </a:p>
          <a:p>
            <a:r>
              <a:rPr lang="en-US" altLang="zh-CN"/>
              <a:t>Decision: The GPT-4V views this tagged image and decides what to do, for example, to "Click icon ID 5" or ...</a:t>
            </a:r>
            <a:endParaRPr lang="en-US" altLang="zh-CN"/>
          </a:p>
          <a:p>
            <a:endParaRPr lang="en-US" altLang="zh-CN"/>
          </a:p>
          <a:p>
            <a:endParaRPr lang="en-US" altLang="zh-CN"/>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smtClean="0">
                <a:ea typeface="標楷體" pitchFamily="65" charset="-120"/>
                <a:cs typeface="Calibri" pitchFamily="34" charset="0"/>
                <a:sym typeface="+mn-ea"/>
              </a:rPr>
              <a:t>So you can see OmniParser delivery the highest overall score and great improvement in some tasks.</a:t>
            </a:r>
            <a:endParaRPr lang="en-US" altLang="zh-CN"/>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txBody>
          <a:bodyPr/>
          <a:lstStyle/>
          <a:p>
            <a:endParaRPr lang="zh-CN" altLang="en-US"/>
          </a:p>
        </p:txBody>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txBody>
          <a:bodyPr/>
          <a:lstStyle/>
          <a:p>
            <a:endParaRPr lang="zh-CN" altLang="en-US"/>
          </a:p>
        </p:txBody>
      </p:sp>
      <p:sp>
        <p:nvSpPr>
          <p:cNvPr id="3" name="備忘稿版面配置區 2"/>
          <p:cNvSpPr>
            <a:spLocks noGrp="1"/>
          </p:cNvSpPr>
          <p:nvPr>
            <p:ph type="body" idx="1"/>
          </p:nvPr>
        </p:nvSpPr>
        <p:spPr/>
        <p:txBody>
          <a:bodyPr>
            <a:normAutofit/>
          </a:bodyPr>
          <a:lstStyle/>
          <a:p>
            <a:r>
              <a:rPr lang="en-US" altLang="zh-CN">
                <a:sym typeface="+mn-ea"/>
              </a:rPr>
              <a:t>This architecture provides incredible robutness across Windows, macOS, and Web and even mobile phones. However, it also establishes visual input as the only root of trust. If the visual input is compromised, the entire chain of command fails.</a:t>
            </a:r>
            <a:endParaRPr lang="en-US" altLang="zh-CN"/>
          </a:p>
          <a:p>
            <a:r>
              <a:rPr lang="en-US" altLang="zh-TW"/>
              <a:t>That’s what we will cover in this part.</a:t>
            </a:r>
            <a:endParaRPr lang="en-US" altLang="zh-TW"/>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This brings us to the first major risk category: Environmental Distractions and Prompt Injection. We refer to the paper "Caution for the Environment: Multimodal LLM Agents are Susceptible to Environmental Distractions."</a:t>
            </a:r>
            <a:endParaRPr lang="en-US" altLang="zh-CN"/>
          </a:p>
          <a:p>
            <a:r>
              <a:rPr lang="en-US" altLang="zh-CN"/>
              <a:t>Common sense tells us that in a real OS environment, the data an Agent </a:t>
            </a:r>
            <a:r>
              <a:rPr lang="en-US" altLang="zh-CN"/>
              <a:t>can get is incredibly messy. When an Agent opens a webpage, it doesn't have '</a:t>
            </a:r>
            <a:r>
              <a:rPr lang="en-US" altLang="zh-CN"/>
              <a:t>only vision' for the target. Instead, it swallows everything in the website at once: target infomation, advtisment, busy sidebars, annoying pop-ups, and even user comments.</a:t>
            </a:r>
            <a:endParaRPr lang="en-US" altLang="zh-CN"/>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So in the paper, it mentioned two types of </a:t>
            </a:r>
            <a:r>
              <a:rPr lang="en-US" altLang="zh-CN" dirty="0" smtClean="0">
                <a:ea typeface="標楷體" pitchFamily="65" charset="-120"/>
                <a:cs typeface="Calibri" pitchFamily="34" charset="0"/>
                <a:sym typeface="+mn-ea"/>
              </a:rPr>
              <a:t>distractions.</a:t>
            </a:r>
            <a:endParaRPr lang="en-US" altLang="zh-CN" dirty="0" smtClean="0">
              <a:ea typeface="標楷體" pitchFamily="65" charset="-120"/>
              <a:cs typeface="Calibri" pitchFamily="34" charset="0"/>
              <a:sym typeface="+mn-ea"/>
            </a:endParaRPr>
          </a:p>
          <a:p>
            <a:endParaRPr lang="en-US" altLang="zh-CN"/>
          </a:p>
          <a:p>
            <a:r>
              <a:rPr lang="en-US" altLang="zh-CN" dirty="0" smtClean="0">
                <a:ea typeface="標楷體" pitchFamily="65" charset="-120"/>
                <a:cs typeface="Calibri" pitchFamily="34" charset="0"/>
                <a:sym typeface="+mn-ea"/>
              </a:rPr>
              <a:t>in the left image, the </a:t>
            </a:r>
            <a:r>
              <a:rPr lang="en-US" altLang="zh-CN" dirty="0" smtClean="0">
                <a:ea typeface="標楷體" pitchFamily="65" charset="-120"/>
                <a:cs typeface="Calibri" pitchFamily="34" charset="0"/>
                <a:sym typeface="+mn-ea"/>
              </a:rPr>
              <a:t>distractions</a:t>
            </a:r>
            <a:r>
              <a:rPr lang="en-US" altLang="zh-CN" dirty="0" smtClean="0">
                <a:ea typeface="標楷體" pitchFamily="65" charset="-120"/>
                <a:cs typeface="Calibri" pitchFamily="34" charset="0"/>
                <a:sym typeface="+mn-ea"/>
              </a:rPr>
              <a:t> strat from the user</a:t>
            </a:r>
            <a:endParaRPr lang="en-US" altLang="zh-CN" dirty="0" smtClean="0">
              <a:ea typeface="標楷體" pitchFamily="65" charset="-120"/>
              <a:cs typeface="Calibri" pitchFamily="34" charset="0"/>
              <a:sym typeface="+mn-ea"/>
            </a:endParaRPr>
          </a:p>
          <a:p>
            <a:r>
              <a:rPr lang="en-US" altLang="zh-CN" dirty="0" smtClean="0">
                <a:ea typeface="標楷體" pitchFamily="65" charset="-120"/>
                <a:cs typeface="Calibri" pitchFamily="34" charset="0"/>
                <a:sym typeface="+mn-ea"/>
              </a:rPr>
              <a:t>while in the right image, the </a:t>
            </a:r>
            <a:r>
              <a:rPr lang="en-US" altLang="zh-CN" dirty="0" smtClean="0">
                <a:ea typeface="標楷體" pitchFamily="65" charset="-120"/>
                <a:cs typeface="Calibri" pitchFamily="34" charset="0"/>
                <a:sym typeface="+mn-ea"/>
              </a:rPr>
              <a:t>distractions</a:t>
            </a:r>
            <a:r>
              <a:rPr lang="en-US" altLang="zh-CN" dirty="0" smtClean="0">
                <a:ea typeface="標楷體" pitchFamily="65" charset="-120"/>
                <a:cs typeface="Calibri" pitchFamily="34" charset="0"/>
                <a:sym typeface="+mn-ea"/>
              </a:rPr>
              <a:t> come from noisy information in the environment.</a:t>
            </a:r>
            <a:endParaRPr lang="en-US" altLang="zh-CN" dirty="0" smtClean="0">
              <a:ea typeface="標楷體" pitchFamily="65" charset="-120"/>
              <a:cs typeface="Calibri" pitchFamily="34" charset="0"/>
              <a:sym typeface="+mn-ea"/>
            </a:endParaRPr>
          </a:p>
          <a:p>
            <a:endParaRPr lang="en-US" altLang="zh-CN" dirty="0" smtClean="0">
              <a:ea typeface="標楷體" pitchFamily="65" charset="-120"/>
              <a:cs typeface="Calibri" pitchFamily="34" charset="0"/>
              <a:sym typeface="+mn-ea"/>
            </a:endParaRPr>
          </a:p>
          <a:p>
            <a:r>
              <a:rPr lang="en-US" altLang="zh-CN" dirty="0" smtClean="0">
                <a:ea typeface="標楷體" pitchFamily="65" charset="-120"/>
                <a:cs typeface="Calibri" pitchFamily="34" charset="0"/>
                <a:sym typeface="+mn-ea"/>
              </a:rPr>
              <a:t>and from the common sense we disscuss before, the second type is the more common one.</a:t>
            </a:r>
            <a:endParaRPr lang="en-US" altLang="zh-CN" dirty="0" smtClean="0">
              <a:ea typeface="標楷體" pitchFamily="65" charset="-120"/>
              <a:cs typeface="Calibri" pitchFamily="34" charset="0"/>
            </a:endParaRPr>
          </a:p>
          <a:p>
            <a:endParaRPr lang="en-US" altLang="zh-CN"/>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In the distraction example shown in the images, the agent </a:t>
            </a:r>
            <a:r>
              <a:rPr lang="en-US" altLang="zh-CN"/>
              <a:t>just downloads files from unknown locations. However, what if the input prompt itself is toxic?</a:t>
            </a:r>
            <a:endParaRPr lang="en-US" altLang="zh-CN"/>
          </a:p>
          <a:p>
            <a:endParaRPr lang="en-US" altLang="zh-CN"/>
          </a:p>
          <a:p>
            <a:r>
              <a:rPr lang="en-US" altLang="zh-CN"/>
              <a:t>That is what we call Indirect Prompt Injection. The attacker doesn't need to speak to you or type something in your prompt; they simply plant a "visual trap" on the internet like on some website. When the Agent views it, it indentify the trap as an instruction.</a:t>
            </a:r>
            <a:endParaRPr lang="en-US" altLang="zh-CN"/>
          </a:p>
          <a:p>
            <a:endParaRPr lang="en-US" altLang="zh-CN"/>
          </a:p>
          <a:p>
            <a:r>
              <a:rPr lang="en-US" altLang="zh-CN"/>
              <a:t>Unfortunately, this article does not report detail attack success rates. </a:t>
            </a:r>
            <a:endParaRPr lang="en-US" altLang="zh-CN"/>
          </a:p>
          <a:p>
            <a:r>
              <a:rPr lang="en-US" altLang="zh-CN"/>
              <a:t>So, i retrivel another benchmark paper provides some success-rate evaluations.</a:t>
            </a:r>
            <a:endParaRPr lang="en-US" altLang="zh-CN"/>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The paper is </a:t>
            </a:r>
            <a:r>
              <a:rPr lang="en-US" altLang="zh-CN" dirty="0" smtClean="0">
                <a:solidFill>
                  <a:schemeClr val="bg1"/>
                </a:solidFill>
                <a:ea typeface="標楷體" pitchFamily="65" charset="-120"/>
                <a:cs typeface="Calibri" pitchFamily="34" charset="0"/>
                <a:sym typeface="+mn-ea"/>
              </a:rPr>
              <a:t>Benchmarking Indirect Prompt Injections in Tool-Integrated Large Language Model Agents</a:t>
            </a:r>
            <a:endParaRPr lang="en-US" altLang="zh-CN"/>
          </a:p>
          <a:p>
            <a:endParaRPr lang="en-US" altLang="zh-CN"/>
          </a:p>
          <a:p>
            <a:r>
              <a:rPr lang="en-US" altLang="zh-CN"/>
              <a:t>Table 3 list several attack types included in the benchmark, which mainly </a:t>
            </a:r>
            <a:r>
              <a:rPr lang="en-US" altLang="zh-CN"/>
              <a:t>use prompt-based techniques for data stealing and system-level attacks.</a:t>
            </a:r>
            <a:endParaRPr lang="en-US" altLang="zh-CN"/>
          </a:p>
          <a:p>
            <a:endParaRPr lang="en-US" altLang="zh-CN"/>
          </a:p>
          <a:p>
            <a:r>
              <a:rPr lang="en-US" altLang="zh-CN"/>
              <a:t>Table 2 reports the attack success rates of different LLM agents. </a:t>
            </a:r>
            <a:endParaRPr lang="en-US" altLang="zh-CN"/>
          </a:p>
          <a:p>
            <a:r>
              <a:rPr lang="en-US" altLang="zh-CN"/>
              <a:t>You should noticed taht, even the lowest success rate is higher than 3%, which is unacceptable from a security perspective.</a:t>
            </a:r>
            <a:endParaRPr lang="en-US" altLang="zh-CN"/>
          </a:p>
          <a:p>
            <a:endParaRPr lang="en-US" altLang="zh-CN"/>
          </a:p>
          <a:p>
            <a:r>
              <a:rPr lang="en-US" altLang="zh-CN"/>
              <a:t>That means the external attack is great chellange for os llm agent.</a:t>
            </a:r>
            <a:endParaRPr lang="en-US" altLang="zh-CN"/>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smtClean="0">
                <a:ea typeface="標楷體" pitchFamily="65" charset="-120"/>
                <a:cs typeface="Calibri" pitchFamily="34" charset="0"/>
                <a:sym typeface="+mn-ea"/>
              </a:rPr>
              <a:t>Because the agent can manipulate your system, this is very dangerous.</a:t>
            </a:r>
            <a:endParaRPr lang="en-US" altLang="zh-CN" dirty="0" smtClean="0">
              <a:ea typeface="標楷體" pitchFamily="65" charset="-120"/>
              <a:cs typeface="Calibri" pitchFamily="34" charset="0"/>
              <a:sym typeface="+mn-ea"/>
            </a:endParaRPr>
          </a:p>
          <a:p>
            <a:endParaRPr lang="en-US" altLang="zh-CN" dirty="0" smtClean="0">
              <a:ea typeface="標楷體" pitchFamily="65" charset="-120"/>
              <a:cs typeface="Calibri" pitchFamily="34" charset="0"/>
              <a:sym typeface="+mn-ea"/>
            </a:endParaRPr>
          </a:p>
          <a:p>
            <a:r>
              <a:rPr lang="en-US" altLang="zh-CN" dirty="0" smtClean="0">
                <a:ea typeface="標楷體" pitchFamily="65" charset="-120"/>
                <a:cs typeface="Calibri" pitchFamily="34" charset="0"/>
                <a:sym typeface="+mn-ea"/>
              </a:rPr>
              <a:t>For a vision-based agent, "</a:t>
            </a:r>
            <a:r>
              <a:rPr lang="en-US" altLang="zh-CN" b="1" dirty="0" smtClean="0">
                <a:latin typeface="Arial Bold" panose="020B0604020202090204" charset="0"/>
                <a:ea typeface="標楷體" pitchFamily="65" charset="-120"/>
                <a:cs typeface="Arial Bold" panose="020B0604020202090204" charset="0"/>
                <a:sym typeface="+mn-ea"/>
              </a:rPr>
              <a:t>What you see is what you get</a:t>
            </a:r>
            <a:r>
              <a:rPr lang="en-US" altLang="zh-CN" dirty="0" smtClean="0">
                <a:ea typeface="標楷體" pitchFamily="65" charset="-120"/>
                <a:cs typeface="Calibri" pitchFamily="34" charset="0"/>
                <a:sym typeface="+mn-ea"/>
              </a:rPr>
              <a:t>" becomes "</a:t>
            </a:r>
            <a:r>
              <a:rPr lang="en-US" altLang="zh-CN" b="1" dirty="0" smtClean="0">
                <a:solidFill>
                  <a:srgbClr val="FF0000"/>
                </a:solidFill>
                <a:latin typeface="Arial Bold" panose="020B0604020202090204" charset="0"/>
                <a:ea typeface="標楷體" pitchFamily="65" charset="-120"/>
                <a:cs typeface="Arial Bold" panose="020B0604020202090204" charset="0"/>
                <a:sym typeface="+mn-ea"/>
              </a:rPr>
              <a:t>What you see is what controls you</a:t>
            </a:r>
            <a:r>
              <a:rPr lang="en-US" altLang="zh-CN" dirty="0" smtClean="0">
                <a:ea typeface="標楷體" pitchFamily="65" charset="-120"/>
                <a:cs typeface="Calibri" pitchFamily="34" charset="0"/>
                <a:sym typeface="+mn-ea"/>
              </a:rPr>
              <a:t>."</a:t>
            </a:r>
            <a:endParaRPr lang="zh-CN" altLang="en-US"/>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txBody>
          <a:bodyPr/>
          <a:lstStyle/>
          <a:p>
            <a:endParaRPr lang="zh-CN" altLang="en-US"/>
          </a:p>
        </p:txBody>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If environmental attacks are the external threat, then Hallucination and Misevolution are the internal threats. We will discuss this in the context of "Your Agent May Misevolve"</a:t>
            </a:r>
            <a:endParaRPr lang="en-US" altLang="zh-CN"/>
          </a:p>
          <a:p>
            <a:endParaRPr lang="en-US" altLang="zh-CN"/>
          </a:p>
          <a:p>
            <a:r>
              <a:rPr lang="en-US" altLang="zh-CN" dirty="0" smtClean="0">
                <a:ea typeface="標楷體" pitchFamily="65" charset="-120"/>
                <a:cs typeface="Calibri" pitchFamily="34" charset="0"/>
                <a:sym typeface="+mn-ea"/>
              </a:rPr>
              <a:t>Modern Agents often possess Memory and </a:t>
            </a:r>
            <a:r>
              <a:rPr lang="en-US" altLang="zh-CN" dirty="0" smtClean="0">
                <a:solidFill>
                  <a:srgbClr val="FF0000"/>
                </a:solidFill>
                <a:ea typeface="標楷體" pitchFamily="65" charset="-120"/>
                <a:cs typeface="Calibri" pitchFamily="34" charset="0"/>
                <a:sym typeface="+mn-ea"/>
              </a:rPr>
              <a:t>Self-evolving</a:t>
            </a:r>
            <a:r>
              <a:rPr lang="en-US" altLang="zh-CN" dirty="0" smtClean="0">
                <a:ea typeface="標楷體" pitchFamily="65" charset="-120"/>
                <a:cs typeface="Calibri" pitchFamily="34" charset="0"/>
                <a:sym typeface="+mn-ea"/>
              </a:rPr>
              <a:t> </a:t>
            </a:r>
            <a:r>
              <a:rPr lang="en-US" altLang="zh-CN" dirty="0" smtClean="0">
                <a:ea typeface="標楷體" pitchFamily="65" charset="-120"/>
                <a:cs typeface="Calibri" pitchFamily="34" charset="0"/>
                <a:sym typeface="+mn-ea"/>
              </a:rPr>
              <a:t>power. </a:t>
            </a:r>
            <a:endParaRPr lang="en-US" altLang="zh-CN" dirty="0" smtClean="0">
              <a:ea typeface="標楷體" pitchFamily="65" charset="-120"/>
              <a:cs typeface="Calibri" pitchFamily="34" charset="0"/>
              <a:sym typeface="+mn-ea"/>
            </a:endParaRPr>
          </a:p>
          <a:p>
            <a:r>
              <a:rPr lang="en-US" altLang="zh-CN" dirty="0" smtClean="0">
                <a:ea typeface="標楷體" pitchFamily="65" charset="-120"/>
                <a:cs typeface="Calibri" pitchFamily="34" charset="0"/>
                <a:sym typeface="+mn-ea"/>
              </a:rPr>
              <a:t>They learn from past interactions to create new tools or update their knowledge base. </a:t>
            </a:r>
            <a:endParaRPr lang="en-US" altLang="zh-CN" dirty="0" smtClean="0">
              <a:ea typeface="標楷體" pitchFamily="65" charset="-120"/>
              <a:cs typeface="Calibri" pitchFamily="34" charset="0"/>
              <a:sym typeface="+mn-ea"/>
            </a:endParaRPr>
          </a:p>
          <a:p>
            <a:r>
              <a:rPr lang="en-US" altLang="zh-CN" dirty="0" smtClean="0">
                <a:ea typeface="標楷體" pitchFamily="65" charset="-120"/>
                <a:cs typeface="Calibri" pitchFamily="34" charset="0"/>
                <a:sym typeface="+mn-ea"/>
              </a:rPr>
              <a:t>While efficient, this creates a dangerous situation.</a:t>
            </a:r>
            <a:endParaRPr lang="en-US" altLang="zh-CN" dirty="0" smtClean="0">
              <a:ea typeface="標楷體" pitchFamily="65" charset="-120"/>
              <a:cs typeface="Calibri" pitchFamily="34" charset="0"/>
              <a:sym typeface="+mn-ea"/>
            </a:endParaRPr>
          </a:p>
          <a:p>
            <a:endParaRPr lang="en-US" altLang="zh-CN"/>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Misevolve in simple example</a:t>
            </a:r>
            <a:r>
              <a:rPr lang="zh-CN" altLang="en-US"/>
              <a:t>：</a:t>
            </a:r>
            <a:endParaRPr lang="zh-CN" altLang="en-US"/>
          </a:p>
          <a:p>
            <a:r>
              <a:rPr lang="en-US" altLang="zh-CN"/>
              <a:t>If an agent experiences a minor hallucination during a task—such as incorrectly remembering the usage of an API—it writes this error into its long-term memory.</a:t>
            </a:r>
            <a:endParaRPr lang="en-US" altLang="zh-CN"/>
          </a:p>
          <a:p>
            <a:endParaRPr lang="en-US" altLang="zh-CN"/>
          </a:p>
          <a:p>
            <a:r>
              <a:rPr lang="en-US" altLang="zh-CN"/>
              <a:t>In subsequent tasks, the agent will reinforce itself based on this wrong memory. This is called misevolution. </a:t>
            </a:r>
            <a:endParaRPr lang="en-US" altLang="zh-CN"/>
          </a:p>
          <a:p>
            <a:endParaRPr lang="en-US" altLang="zh-CN"/>
          </a:p>
          <a:p>
            <a:r>
              <a:rPr lang="en-US" altLang="zh-CN"/>
              <a:t>It's like an employee misreading security guidelines on their first day and then performing all their work based on that incorrect guideline.</a:t>
            </a:r>
            <a:endParaRPr lang="en-US" altLang="zh-CN"/>
          </a:p>
          <a:p>
            <a:endParaRPr lang="en-US" altLang="zh-CN"/>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This article separate the causes of misevolution into four types. </a:t>
            </a:r>
            <a:endParaRPr lang="en-US" altLang="zh-CN"/>
          </a:p>
          <a:p>
            <a:r>
              <a:rPr lang="en-US" altLang="zh-CN"/>
              <a:t>explane in simple</a:t>
            </a:r>
            <a:endParaRPr lang="en-US" altLang="zh-CN"/>
          </a:p>
          <a:p>
            <a:r>
              <a:rPr lang="en-US" altLang="zh-CN"/>
              <a:t>model misevolution, most common, caused by the self-generated data. or you can think cause by loop in llm</a:t>
            </a:r>
            <a:endParaRPr lang="en-US" altLang="zh-CN"/>
          </a:p>
          <a:p>
            <a:r>
              <a:rPr lang="en-US" altLang="zh-CN"/>
              <a:t>memory misevolution, cause by memory accumulation and retrieval, but not very common</a:t>
            </a:r>
            <a:endParaRPr lang="en-US" altLang="zh-CN"/>
          </a:p>
          <a:p>
            <a:r>
              <a:rPr lang="en-US" altLang="zh-CN">
                <a:sym typeface="+mn-ea"/>
              </a:rPr>
              <a:t>tool misevolution, like what we metioned before</a:t>
            </a:r>
            <a:endParaRPr lang="en-US" altLang="zh-CN"/>
          </a:p>
          <a:p>
            <a:r>
              <a:rPr lang="en-US" altLang="zh-CN">
                <a:sym typeface="+mn-ea"/>
              </a:rPr>
              <a:t>workflow misevolution, caused by </a:t>
            </a:r>
            <a:r>
              <a:rPr lang="en-US" altLang="zh-CN"/>
              <a:t>automatically adjusted workflows can lead to safety decreased</a:t>
            </a:r>
            <a:endParaRPr lang="en-US" altLang="zh-CN"/>
          </a:p>
          <a:p>
            <a:endParaRPr lang="en-US" altLang="zh-CN"/>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You can see that unsafe rate almost reach 100 pertent.</a:t>
            </a:r>
            <a:endParaRPr lang="en-US" altLang="zh-CN"/>
          </a:p>
          <a:p>
            <a:r>
              <a:rPr lang="en-US" altLang="zh-CN"/>
              <a:t>The figue 5 use memory misevolution as an example to show that after memory misevolution </a:t>
            </a:r>
            <a:r>
              <a:rPr lang="en-US" altLang="zh-CN"/>
              <a:t>happens, LLM becomes almost completely unreliable.</a:t>
            </a:r>
            <a:endParaRPr lang="en-US" altLang="zh-CN"/>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txBody>
          <a:bodyPr/>
          <a:lstStyle/>
          <a:p>
            <a:endParaRPr lang="zh-CN" altLang="en-US"/>
          </a:p>
        </p:txBody>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From an OS perspective, how can we better construct a reliable OS agent?</a:t>
            </a:r>
            <a:endParaRPr lang="en-US" altLang="zh-CN"/>
          </a:p>
          <a:p>
            <a:endParaRPr lang="en-US" altLang="zh-CN"/>
          </a:p>
          <a:p>
            <a:r>
              <a:rPr lang="en-US" altLang="zh-CN"/>
              <a:t>The following are some possible ideas by me, which are not yet sufficiently supported by existing literature or experimental evidence.</a:t>
            </a:r>
            <a:endParaRPr lang="en-US" altLang="zh-CN"/>
          </a:p>
          <a:p>
            <a:endParaRPr lang="en-US" altLang="zh-CN"/>
          </a:p>
          <a:p>
            <a:r>
              <a:rPr lang="en-US" altLang="zh-CN"/>
              <a:t>Just some assumption.</a:t>
            </a:r>
            <a:endParaRPr lang="en-US" altLang="zh-CN"/>
          </a:p>
          <a:p>
            <a:endParaRPr lang="en-US" altLang="zh-CN"/>
          </a:p>
          <a:p>
            <a:r>
              <a:rPr lang="en-US" altLang="zh-CN"/>
              <a:t>First, from a trust perspective, we can draw inspiration from modern OS design and apply runtime verification to OS agents, preventing uncontrolled actions caused by too much privilege allocation.</a:t>
            </a:r>
            <a:endParaRPr lang="en-US" altLang="zh-CN"/>
          </a:p>
          <a:p>
            <a:endParaRPr lang="en-US" altLang="zh-CN"/>
          </a:p>
          <a:p>
            <a:r>
              <a:rPr lang="en-US" altLang="zh-CN"/>
              <a:t>Second, from a virtualization perspective, ideas from modern virtual machine design. Maybe we can isolate the actions of OS agents with physical computer evironment, thereby reducing the bad impact caused by os Agent.</a:t>
            </a:r>
            <a:endParaRPr lang="zh-CN" altLang="en-US"/>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txBody>
          <a:bodyPr/>
          <a:lstStyle/>
          <a:p>
            <a:endParaRPr lang="zh-CN" altLang="en-US"/>
          </a:p>
        </p:txBody>
      </p:sp>
      <p:sp>
        <p:nvSpPr>
          <p:cNvPr id="3" name="備忘稿版面配置區 2"/>
          <p:cNvSpPr>
            <a:spLocks noGrp="1"/>
          </p:cNvSpPr>
          <p:nvPr>
            <p:ph type="body" idx="1"/>
          </p:nvPr>
        </p:nvSpPr>
        <p:spPr/>
        <p:txBody>
          <a:bodyPr>
            <a:normAutofit/>
          </a:bodyPr>
          <a:lstStyle/>
          <a:p>
            <a:endParaRPr lang="en-US" altLang="zh-CN"/>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sym typeface="+mn-ea"/>
              </a:rPr>
              <a:t>To conclude, the emergence of LLM OS Agents represents a new frontier in Human-Computer Interaction. Technologies like OmniParser have given models hands, but research like Caution for the Environment and Misevolution warns us that those hands can be guided by malicious visuals or internal hallucinations.</a:t>
            </a:r>
            <a:endParaRPr lang="en-US" altLang="zh-CN"/>
          </a:p>
          <a:p>
            <a:endParaRPr lang="en-US" altLang="zh-CN"/>
          </a:p>
          <a:p>
            <a:r>
              <a:rPr lang="en-US" altLang="zh-CN">
                <a:sym typeface="+mn-ea"/>
              </a:rPr>
              <a:t>Our goal is to build an Agent that is not just Smart, but Secure. This requires not only algorithm researchers working to reduce hallucination but also system architects redesigning the OS to support Zero-Trust sandboxing. Only through the co-evolution of LLM and OS security can we truly trust AI to operate our digital lives.</a:t>
            </a:r>
            <a:endParaRPr lang="en-US" altLang="zh-CN"/>
          </a:p>
          <a:p>
            <a:endParaRPr lang="en-US" altLang="zh-CN"/>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5">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5">
                <a:latin typeface="Calibri" pitchFamily="34" charset="0"/>
                <a:ea typeface="標楷體" pitchFamily="65" charset="-120"/>
                <a:cs typeface="Calibri" pitchFamily="34" charset="0"/>
              </a:defRPr>
            </a:lvl5pPr>
          </a:lstStyle>
          <a:p>
            <a:pPr lvl="0"/>
            <a:r>
              <a:rPr lang="en-US" altLang="zh-TW" dirty="0"/>
              <a:t>Click to edit Master text styles</a:t>
            </a:r>
            <a:endParaRPr lang="en-US" altLang="zh-TW" dirty="0"/>
          </a:p>
          <a:p>
            <a:pPr lvl="1"/>
            <a:r>
              <a:rPr lang="en-US" altLang="zh-TW" dirty="0"/>
              <a:t>Second level</a:t>
            </a:r>
            <a:endParaRPr lang="en-US" altLang="zh-TW" dirty="0"/>
          </a:p>
          <a:p>
            <a:pPr lvl="2"/>
            <a:r>
              <a:rPr lang="en-US" altLang="zh-TW" dirty="0"/>
              <a:t>Third level</a:t>
            </a:r>
            <a:endParaRPr lang="en-US" altLang="zh-TW" dirty="0"/>
          </a:p>
          <a:p>
            <a:pPr lvl="3"/>
            <a:r>
              <a:rPr lang="en-US" altLang="zh-TW" dirty="0"/>
              <a:t>Fourth level</a:t>
            </a:r>
            <a:endParaRPr lang="en-US" altLang="zh-TW" dirty="0"/>
          </a:p>
          <a:p>
            <a:pPr lvl="4"/>
            <a:r>
              <a:rPr lang="en-US" altLang="zh-TW" dirty="0"/>
              <a:t>Fifth level</a:t>
            </a:r>
            <a:endParaRPr lang="zh-TW" altLang="en-US" dirty="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5"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5"/>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TW" dirty="0"/>
              <a:t>Click to edit Master text styles</a:t>
            </a:r>
            <a:endParaRPr lang="en-US" altLang="zh-TW" dirty="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5"/>
            </a:lvl1pPr>
            <a:lvl2pPr>
              <a:defRPr sz="3200"/>
            </a:lvl2pPr>
            <a:lvl3pPr>
              <a:defRPr sz="2400"/>
            </a:lvl3pPr>
            <a:lvl4pPr>
              <a:defRPr sz="2135"/>
            </a:lvl4pPr>
            <a:lvl5pPr>
              <a:defRPr sz="2135"/>
            </a:lvl5pPr>
            <a:lvl6pPr>
              <a:defRPr sz="1800"/>
            </a:lvl6pPr>
            <a:lvl7pPr>
              <a:defRPr sz="1800"/>
            </a:lvl7pPr>
            <a:lvl8pPr>
              <a:defRPr sz="1800"/>
            </a:lvl8pPr>
            <a:lvl9pPr>
              <a:defRPr sz="1800"/>
            </a:lvl9pPr>
          </a:lstStyle>
          <a:p>
            <a:pPr lvl="0"/>
            <a:r>
              <a:rPr lang="en-US" altLang="zh-TW" dirty="0"/>
              <a:t>Click to edit Master text styles</a:t>
            </a:r>
            <a:endParaRPr lang="en-US" altLang="zh-TW" dirty="0"/>
          </a:p>
          <a:p>
            <a:pPr lvl="1"/>
            <a:r>
              <a:rPr lang="en-US" altLang="zh-TW" dirty="0"/>
              <a:t>Second level</a:t>
            </a:r>
            <a:endParaRPr lang="en-US" altLang="zh-TW" dirty="0"/>
          </a:p>
          <a:p>
            <a:pPr lvl="2"/>
            <a:r>
              <a:rPr lang="en-US" altLang="zh-TW" dirty="0"/>
              <a:t>Third level</a:t>
            </a:r>
            <a:endParaRPr lang="en-US" altLang="zh-TW" dirty="0"/>
          </a:p>
          <a:p>
            <a:pPr lvl="3"/>
            <a:r>
              <a:rPr lang="en-US" altLang="zh-TW" dirty="0"/>
              <a:t>Fourth level</a:t>
            </a:r>
            <a:endParaRPr lang="en-US" altLang="zh-TW" dirty="0"/>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5"/>
            </a:lvl1pPr>
            <a:lvl2pPr>
              <a:defRPr sz="3200"/>
            </a:lvl2pPr>
            <a:lvl3pPr>
              <a:defRPr sz="2400"/>
            </a:lvl3pPr>
            <a:lvl4pPr>
              <a:defRPr sz="2135"/>
            </a:lvl4pPr>
            <a:lvl5pPr>
              <a:defRPr sz="2135"/>
            </a:lvl5pPr>
            <a:lvl6pPr>
              <a:defRPr sz="1800"/>
            </a:lvl6pPr>
            <a:lvl7pPr>
              <a:defRPr sz="1800"/>
            </a:lvl7pPr>
            <a:lvl8pPr>
              <a:defRPr sz="1800"/>
            </a:lvl8pPr>
            <a:lvl9pPr>
              <a:defRPr sz="1800"/>
            </a:lvl9pPr>
          </a:lstStyle>
          <a:p>
            <a:pPr lvl="0"/>
            <a:r>
              <a:rPr lang="en-US" altLang="zh-TW" dirty="0"/>
              <a:t>Click to edit Master text styles</a:t>
            </a:r>
            <a:endParaRPr lang="en-US" altLang="zh-TW" dirty="0"/>
          </a:p>
          <a:p>
            <a:pPr lvl="1"/>
            <a:r>
              <a:rPr lang="en-US" altLang="zh-TW" dirty="0"/>
              <a:t>Second level</a:t>
            </a:r>
            <a:endParaRPr lang="en-US" altLang="zh-TW" dirty="0"/>
          </a:p>
          <a:p>
            <a:pPr lvl="2"/>
            <a:r>
              <a:rPr lang="en-US" altLang="zh-TW" dirty="0"/>
              <a:t>Third level</a:t>
            </a:r>
            <a:endParaRPr lang="en-US" altLang="zh-TW" dirty="0"/>
          </a:p>
          <a:p>
            <a:pPr lvl="3"/>
            <a:r>
              <a:rPr lang="en-US" altLang="zh-TW" dirty="0"/>
              <a:t>Fourth level</a:t>
            </a:r>
            <a:endParaRPr lang="en-US" altLang="zh-TW" dirty="0"/>
          </a:p>
          <a:p>
            <a:pPr lvl="4"/>
            <a:r>
              <a:rPr lang="en-US" altLang="zh-TW" dirty="0"/>
              <a:t>Fifth level</a:t>
            </a:r>
            <a:endParaRPr lang="zh-TW" altLang="en-US" dirty="0"/>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5"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endParaRPr lang="en-US" altLang="zh-TW"/>
          </a:p>
        </p:txBody>
      </p:sp>
      <p:sp>
        <p:nvSpPr>
          <p:cNvPr id="4" name="內容版面配置區 3"/>
          <p:cNvSpPr>
            <a:spLocks noGrp="1"/>
          </p:cNvSpPr>
          <p:nvPr>
            <p:ph sz="half" idx="2"/>
          </p:nvPr>
        </p:nvSpPr>
        <p:spPr>
          <a:xfrm>
            <a:off x="609602" y="1908535"/>
            <a:ext cx="5386917" cy="3951288"/>
          </a:xfrm>
        </p:spPr>
        <p:txBody>
          <a:bodyPr/>
          <a:lstStyle>
            <a:lvl1pPr>
              <a:defRPr sz="2665"/>
            </a:lvl1pPr>
            <a:lvl2pPr>
              <a:defRPr sz="2135"/>
            </a:lvl2pPr>
            <a:lvl3pPr>
              <a:defRPr sz="1865"/>
            </a:lvl3pPr>
            <a:lvl4pPr>
              <a:defRPr sz="1865"/>
            </a:lvl4pPr>
            <a:lvl5pPr>
              <a:defRPr sz="1865"/>
            </a:lvl5pPr>
            <a:lvl6pPr>
              <a:defRPr sz="1600"/>
            </a:lvl6pPr>
            <a:lvl7pPr>
              <a:defRPr sz="1600"/>
            </a:lvl7pPr>
            <a:lvl8pPr>
              <a:defRPr sz="1600"/>
            </a:lvl8pPr>
            <a:lvl9pPr>
              <a:defRPr sz="1600"/>
            </a:lvl9pPr>
          </a:lstStyle>
          <a:p>
            <a:pPr lvl="0"/>
            <a:r>
              <a:rPr lang="en-US" altLang="zh-TW" dirty="0"/>
              <a:t>Click to edit Master text styles</a:t>
            </a:r>
            <a:endParaRPr lang="en-US" altLang="zh-TW" dirty="0"/>
          </a:p>
          <a:p>
            <a:pPr lvl="1"/>
            <a:r>
              <a:rPr lang="en-US" altLang="zh-TW" dirty="0"/>
              <a:t>Second level</a:t>
            </a:r>
            <a:endParaRPr lang="en-US" altLang="zh-TW" dirty="0"/>
          </a:p>
          <a:p>
            <a:pPr lvl="2"/>
            <a:r>
              <a:rPr lang="en-US" altLang="zh-TW" dirty="0"/>
              <a:t>Third level</a:t>
            </a:r>
            <a:endParaRPr lang="en-US" altLang="zh-TW" dirty="0"/>
          </a:p>
          <a:p>
            <a:pPr lvl="3"/>
            <a:r>
              <a:rPr lang="en-US" altLang="zh-TW" dirty="0"/>
              <a:t>Fourth level</a:t>
            </a:r>
            <a:endParaRPr lang="en-US" altLang="zh-TW" dirty="0"/>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5"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endParaRPr lang="en-US" altLang="zh-TW"/>
          </a:p>
        </p:txBody>
      </p:sp>
      <p:sp>
        <p:nvSpPr>
          <p:cNvPr id="6" name="內容版面配置區 5"/>
          <p:cNvSpPr>
            <a:spLocks noGrp="1"/>
          </p:cNvSpPr>
          <p:nvPr>
            <p:ph sz="quarter" idx="4"/>
          </p:nvPr>
        </p:nvSpPr>
        <p:spPr>
          <a:xfrm>
            <a:off x="6193373" y="1908535"/>
            <a:ext cx="5389033" cy="3951288"/>
          </a:xfrm>
        </p:spPr>
        <p:txBody>
          <a:bodyPr/>
          <a:lstStyle>
            <a:lvl1pPr>
              <a:defRPr sz="2665"/>
            </a:lvl1pPr>
            <a:lvl2pPr>
              <a:defRPr sz="2135"/>
            </a:lvl2pPr>
            <a:lvl3pPr>
              <a:defRPr sz="1865"/>
            </a:lvl3pPr>
            <a:lvl4pPr>
              <a:defRPr sz="1865"/>
            </a:lvl4pPr>
            <a:lvl5pPr>
              <a:defRPr sz="1865"/>
            </a:lvl5pPr>
            <a:lvl6pPr>
              <a:defRPr sz="1600"/>
            </a:lvl6pPr>
            <a:lvl7pPr>
              <a:defRPr sz="1600"/>
            </a:lvl7pPr>
            <a:lvl8pPr>
              <a:defRPr sz="1600"/>
            </a:lvl8pPr>
            <a:lvl9pPr>
              <a:defRPr sz="1600"/>
            </a:lvl9pPr>
          </a:lstStyle>
          <a:p>
            <a:pPr lvl="0"/>
            <a:r>
              <a:rPr lang="en-US" altLang="zh-TW"/>
              <a:t>Click to edit Master text styles</a:t>
            </a:r>
            <a:endParaRPr lang="en-US" altLang="zh-TW"/>
          </a:p>
          <a:p>
            <a:pPr lvl="1"/>
            <a:r>
              <a:rPr lang="en-US" altLang="zh-TW"/>
              <a:t>Second level</a:t>
            </a:r>
            <a:endParaRPr lang="en-US" altLang="zh-TW"/>
          </a:p>
          <a:p>
            <a:pPr lvl="2"/>
            <a:r>
              <a:rPr lang="en-US" altLang="zh-TW"/>
              <a:t>Third level</a:t>
            </a:r>
            <a:endParaRPr lang="en-US" altLang="zh-TW"/>
          </a:p>
          <a:p>
            <a:pPr lvl="3"/>
            <a:r>
              <a:rPr lang="en-US" altLang="zh-TW"/>
              <a:t>Fourth level</a:t>
            </a:r>
            <a:endParaRPr lang="en-US" altLang="zh-TW"/>
          </a:p>
          <a:p>
            <a:pPr lvl="4"/>
            <a:r>
              <a:rPr lang="en-US" altLang="zh-TW"/>
              <a:t>Fifth level</a:t>
            </a:r>
            <a:endParaRPr lang="zh-TW" altLang="en-US"/>
          </a:p>
        </p:txBody>
      </p:sp>
      <p:sp>
        <p:nvSpPr>
          <p:cNvPr id="7"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endParaRPr lang="en-US" altLang="zh-TW"/>
          </a:p>
          <a:p>
            <a:pPr lvl="1"/>
            <a:r>
              <a:rPr lang="en-US" altLang="zh-TW"/>
              <a:t>Second level</a:t>
            </a:r>
            <a:endParaRPr lang="en-US" altLang="zh-TW"/>
          </a:p>
          <a:p>
            <a:pPr lvl="2"/>
            <a:r>
              <a:rPr lang="en-US" altLang="zh-TW"/>
              <a:t>Third level</a:t>
            </a:r>
            <a:endParaRPr lang="en-US" altLang="zh-TW"/>
          </a:p>
          <a:p>
            <a:pPr lvl="3"/>
            <a:r>
              <a:rPr lang="en-US" altLang="zh-TW"/>
              <a:t>Fourth level</a:t>
            </a:r>
            <a:endParaRPr lang="en-US" altLang="zh-TW"/>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endParaRPr lang="en-US" altLang="zh-TW"/>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endParaRPr lang="en-US" altLang="zh-TW"/>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endParaRPr lang="en-US" altLang="zh-TW"/>
          </a:p>
          <a:p>
            <a:pPr lvl="1"/>
            <a:r>
              <a:rPr lang="en-US" altLang="zh-TW"/>
              <a:t>Second level</a:t>
            </a:r>
            <a:endParaRPr lang="en-US" altLang="zh-TW"/>
          </a:p>
          <a:p>
            <a:pPr lvl="2"/>
            <a:r>
              <a:rPr lang="en-US" altLang="zh-TW"/>
              <a:t>Third level</a:t>
            </a:r>
            <a:endParaRPr lang="en-US" altLang="zh-TW"/>
          </a:p>
          <a:p>
            <a:pPr lvl="3"/>
            <a:r>
              <a:rPr lang="en-US" altLang="zh-TW"/>
              <a:t>Fourth level</a:t>
            </a:r>
            <a:endParaRPr lang="en-US" altLang="zh-TW"/>
          </a:p>
          <a:p>
            <a:pPr lvl="4"/>
            <a:r>
              <a:rPr lang="en-US" altLang="zh-TW"/>
              <a:t>Fifth level</a:t>
            </a:r>
            <a:endParaRPr lang="zh-TW" altLang="en-US"/>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endParaRPr lang="en-US" altLang="zh-TW"/>
          </a:p>
          <a:p>
            <a:pPr lvl="1"/>
            <a:r>
              <a:rPr lang="en-US" altLang="zh-TW"/>
              <a:t>Second level</a:t>
            </a:r>
            <a:endParaRPr lang="en-US" altLang="zh-TW"/>
          </a:p>
          <a:p>
            <a:pPr lvl="2"/>
            <a:r>
              <a:rPr lang="en-US" altLang="zh-TW"/>
              <a:t>Third level</a:t>
            </a:r>
            <a:endParaRPr lang="en-US" altLang="zh-TW"/>
          </a:p>
          <a:p>
            <a:pPr lvl="3"/>
            <a:r>
              <a:rPr lang="en-US" altLang="zh-TW"/>
              <a:t>Fourth level</a:t>
            </a:r>
            <a:endParaRPr lang="en-US" altLang="zh-TW"/>
          </a:p>
          <a:p>
            <a:pPr lvl="4"/>
            <a:r>
              <a:rPr lang="en-US" altLang="zh-TW"/>
              <a:t>Fifth level</a:t>
            </a:r>
            <a:endParaRPr lang="zh-TW" altLang="en-US"/>
          </a:p>
        </p:txBody>
      </p:sp>
      <p:sp>
        <p:nvSpPr>
          <p:cNvPr id="3"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hasCustomPrompt="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5"/>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endParaRPr lang="zh-TW" altLang="en-US"/>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內容版面配置區 2"/>
          <p:cNvSpPr>
            <a:spLocks noGrp="1"/>
          </p:cNvSpPr>
          <p:nvPr>
            <p:ph idx="1" hasCustomPrompt="1"/>
          </p:nvPr>
        </p:nvSpPr>
        <p:spPr/>
        <p:txBody>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endParaRPr lang="zh-TW" altLang="en-US"/>
          </a:p>
        </p:txBody>
      </p:sp>
      <p:sp>
        <p:nvSpPr>
          <p:cNvPr id="3" name="文字版面配置區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endParaRPr lang="zh-TW" altLang="en-US"/>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內容版面配置區 2"/>
          <p:cNvSpPr>
            <a:spLocks noGrp="1"/>
          </p:cNvSpPr>
          <p:nvPr>
            <p:ph sz="half" idx="1" hasCustomPrompt="1"/>
          </p:nvPr>
        </p:nvSpPr>
        <p:spPr>
          <a:xfrm>
            <a:off x="838200" y="1825625"/>
            <a:ext cx="5181600" cy="4351338"/>
          </a:xfrm>
        </p:spPr>
        <p:txBody>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內容版面配置區 3"/>
          <p:cNvSpPr>
            <a:spLocks noGrp="1"/>
          </p:cNvSpPr>
          <p:nvPr>
            <p:ph sz="half" idx="2" hasCustomPrompt="1"/>
          </p:nvPr>
        </p:nvSpPr>
        <p:spPr>
          <a:xfrm>
            <a:off x="6172200" y="1825625"/>
            <a:ext cx="5181600" cy="4351338"/>
          </a:xfrm>
        </p:spPr>
        <p:txBody>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endParaRPr lang="zh-TW" altLang="en-US"/>
          </a:p>
        </p:txBody>
      </p:sp>
      <p:sp>
        <p:nvSpPr>
          <p:cNvPr id="3" name="文字版面配置區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endParaRPr lang="zh-TW" altLang="en-US"/>
          </a:p>
        </p:txBody>
      </p:sp>
      <p:sp>
        <p:nvSpPr>
          <p:cNvPr id="4" name="內容版面配置區 3"/>
          <p:cNvSpPr>
            <a:spLocks noGrp="1"/>
          </p:cNvSpPr>
          <p:nvPr>
            <p:ph sz="half" idx="2" hasCustomPrompt="1"/>
          </p:nvPr>
        </p:nvSpPr>
        <p:spPr>
          <a:xfrm>
            <a:off x="839788" y="2505075"/>
            <a:ext cx="5157787" cy="3684588"/>
          </a:xfrm>
        </p:spPr>
        <p:txBody>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5" name="文字版面配置區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endParaRPr lang="zh-TW" altLang="en-US"/>
          </a:p>
        </p:txBody>
      </p:sp>
      <p:sp>
        <p:nvSpPr>
          <p:cNvPr id="6" name="內容版面配置區 5"/>
          <p:cNvSpPr>
            <a:spLocks noGrp="1"/>
          </p:cNvSpPr>
          <p:nvPr>
            <p:ph sz="quarter" idx="4" hasCustomPrompt="1"/>
          </p:nvPr>
        </p:nvSpPr>
        <p:spPr>
          <a:xfrm>
            <a:off x="6172200" y="2505075"/>
            <a:ext cx="5183188" cy="3684588"/>
          </a:xfrm>
        </p:spPr>
        <p:txBody>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zh-TW" altLang="en-US"/>
          </a:p>
        </p:txBody>
      </p:sp>
      <p:sp>
        <p:nvSpPr>
          <p:cNvPr id="3" name="內容版面配置區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文字版面配置區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endParaRPr lang="zh-TW" altLang="en-US"/>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endParaRPr lang="zh-TW" altLang="en-US"/>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直排文字版面配置區 2"/>
          <p:cNvSpPr>
            <a:spLocks noGrp="1"/>
          </p:cNvSpPr>
          <p:nvPr>
            <p:ph type="body" orient="vert" idx="1" hasCustomPrompt="1"/>
          </p:nvPr>
        </p:nvSpPr>
        <p:spPr/>
        <p:txBody>
          <a:bodyPr vert="eaVert"/>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endParaRPr lang="zh-TW" altLang="en-US"/>
          </a:p>
        </p:txBody>
      </p:sp>
      <p:sp>
        <p:nvSpPr>
          <p:cNvPr id="3" name="直排文字版面配置區 2"/>
          <p:cNvSpPr>
            <a:spLocks noGrp="1"/>
          </p:cNvSpPr>
          <p:nvPr>
            <p:ph type="body" orient="vert" idx="1" hasCustomPrompt="1"/>
          </p:nvPr>
        </p:nvSpPr>
        <p:spPr>
          <a:xfrm>
            <a:off x="838200" y="365125"/>
            <a:ext cx="7734300" cy="5811838"/>
          </a:xfrm>
        </p:spPr>
        <p:txBody>
          <a:bodyPr vert="eaVert"/>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3.png"/><Relationship Id="rId15" Type="http://schemas.openxmlformats.org/officeDocument/2006/relationships/image" Target="../media/image2.jpeg"/><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2" Type="http://schemas.openxmlformats.org/officeDocument/2006/relationships/theme" Target="../theme/theme2.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ln>
        </p:spPr>
        <p:txBody>
          <a:bodyPr vert="horz" wrap="square" lIns="91440" tIns="45720" rIns="91440" bIns="45720" numCol="1" anchor="ctr" anchorCtr="0" compatLnSpc="1"/>
          <a:lstStyle/>
          <a:p>
            <a:pPr lvl="0"/>
            <a:r>
              <a:rPr lang="zh-TW" altLang="en-US" dirty="0"/>
              <a:t>按一下以編輯母片標題樣式</a:t>
            </a:r>
            <a:endParaRPr lang="zh-TW" altLang="en-US" dirty="0"/>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ln>
        </p:spPr>
        <p:txBody>
          <a:bodyPr vert="horz" wrap="square" lIns="91440" tIns="45720" rIns="91440" bIns="45720" numCol="1" anchor="t" anchorCtr="0" compatLnSpc="1"/>
          <a:lstStyle/>
          <a:p>
            <a:pPr lvl="0"/>
            <a:r>
              <a:rPr lang="zh-TW" altLang="en-US" dirty="0"/>
              <a:t>按一下以編輯母片</a:t>
            </a:r>
            <a:endParaRPr lang="zh-TW" altLang="en-US" dirty="0"/>
          </a:p>
          <a:p>
            <a:pPr lvl="1"/>
            <a:r>
              <a:rPr lang="zh-TW" altLang="en-US" dirty="0"/>
              <a:t>按一下以編輯母片</a:t>
            </a:r>
            <a:endParaRPr lang="zh-TW" altLang="en-US" dirty="0"/>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4"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anose="020B0604020202090204" pitchFamily="34" charset="0"/>
                <a:ea typeface="PMingLiU" pitchFamily="18" charset="-120"/>
                <a:cs typeface="Arial" panose="020B0604020202090204" pitchFamily="34" charset="0"/>
              </a:rPr>
              <a:t>National Tsing Hua University ® copyright OIA</a:t>
            </a:r>
            <a:endParaRPr lang="zh-TW" altLang="en-US" sz="1200" b="1" dirty="0">
              <a:solidFill>
                <a:schemeClr val="bg1"/>
              </a:solidFill>
              <a:latin typeface="Arial" panose="020B0604020202090204" pitchFamily="34" charset="0"/>
              <a:ea typeface="PMingLiU" pitchFamily="18" charset="-120"/>
              <a:cs typeface="Arial" panose="020B0604020202090204"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ln>
          <a:effectLst>
            <a:prstShdw prst="shdw18" dist="17961" dir="13500000">
              <a:srgbClr val="990099">
                <a:gamma/>
                <a:shade val="60000"/>
                <a:invGamma/>
              </a:srgbClr>
            </a:prstShdw>
          </a:effectLst>
        </p:spPr>
        <p:txBody>
          <a:bodyPr wrap="none" anchor="ctr"/>
          <a:lstStyle/>
          <a:p>
            <a:pPr>
              <a:defRPr/>
            </a:pPr>
            <a:endParaRPr lang="zh-TW" altLang="en-US" sz="1800">
              <a:ea typeface="PMingLiU"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ln>
          <a:effectLst>
            <a:prstShdw prst="shdw18" dist="17961" dir="13500000">
              <a:srgbClr val="990099">
                <a:gamma/>
                <a:shade val="60000"/>
                <a:invGamma/>
              </a:srgbClr>
            </a:prstShdw>
          </a:effectLst>
        </p:spPr>
        <p:txBody>
          <a:bodyPr wrap="none" anchor="ctr"/>
          <a:lstStyle/>
          <a:p>
            <a:pPr>
              <a:defRPr/>
            </a:pPr>
            <a:endParaRPr lang="zh-TW" altLang="en-US" sz="1800">
              <a:ea typeface="PMingLiU"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ln>
          <a:effectLst/>
        </p:spPr>
        <p:txBody>
          <a:bodyPr vert="horz" wrap="square" lIns="91440" tIns="45720" rIns="91440" bIns="45720" numCol="1" anchor="t" anchorCtr="0" compatLnSpc="1"/>
          <a:lstStyle>
            <a:lvl1pPr algn="r">
              <a:defRPr sz="1200">
                <a:solidFill>
                  <a:schemeClr val="bg1"/>
                </a:solidFill>
                <a:latin typeface="Arial" panose="020B0604020202090204" pitchFamily="34" charset="0"/>
                <a:ea typeface="PMingLiU" pitchFamily="18" charset="-120"/>
              </a:defRPr>
            </a:lvl1pPr>
          </a:lstStyle>
          <a:p>
            <a:fld id="{D9B6BDF2-6896-4B98-8776-C18582F63BA5}" type="slidenum">
              <a:rPr lang="zh-TW" altLang="en-US" smtClean="0"/>
            </a:fld>
            <a:endParaRPr lang="zh-TW" altLang="en-US"/>
          </a:p>
        </p:txBody>
      </p:sp>
      <p:pic>
        <p:nvPicPr>
          <p:cNvPr id="14" name="圖片 13"/>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223375" cy="569415"/>
            <a:chOff x="86980" y="6239920"/>
            <a:chExt cx="3223375" cy="569415"/>
          </a:xfrm>
        </p:grpSpPr>
        <p:pic>
          <p:nvPicPr>
            <p:cNvPr id="12" name="圖片 11"/>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480518" cy="430887"/>
            </a:xfrm>
            <a:prstGeom prst="rect">
              <a:avLst/>
            </a:prstGeom>
          </p:spPr>
          <p:txBody>
            <a:bodyPr wrap="square">
              <a:spAutoFit/>
            </a:bodyPr>
            <a:lstStyle/>
            <a:p>
              <a:pPr algn="ctr">
                <a:spcAft>
                  <a:spcPts val="0"/>
                </a:spcAft>
              </a:pPr>
              <a:r>
                <a:rPr lang="zh-CN" altLang="zh-TW" sz="1200" kern="100" dirty="0">
                  <a:solidFill>
                    <a:schemeClr val="bg1"/>
                  </a:solidFill>
                  <a:latin typeface="楷体" panose="02010609060101010101" pitchFamily="49" charset="-122"/>
                  <a:ea typeface="楷体" panose="02010609060101010101" pitchFamily="49" charset="-122"/>
                  <a:cs typeface="Times New Roman" panose="02020503050405090304" pitchFamily="18" charset="0"/>
                </a:rPr>
                <a:t>香港中文大学（深圳）数据科学院</a:t>
              </a:r>
              <a:endParaRPr lang="zh-TW" altLang="zh-TW" sz="1200" kern="100" dirty="0">
                <a:solidFill>
                  <a:schemeClr val="bg1"/>
                </a:solidFill>
                <a:latin typeface="楷体" panose="02010609060101010101" pitchFamily="49" charset="-122"/>
                <a:ea typeface="楷体" panose="02010609060101010101" pitchFamily="49" charset="-122"/>
                <a:cs typeface="Times New Roman" panose="02020503050405090304" pitchFamily="18" charset="0"/>
              </a:endParaRPr>
            </a:p>
            <a:p>
              <a:pPr algn="ctr">
                <a:spcAft>
                  <a:spcPts val="0"/>
                </a:spcAft>
              </a:pPr>
              <a:r>
                <a:rPr lang="en-US" altLang="zh-TW" sz="1000" kern="100" dirty="0">
                  <a:solidFill>
                    <a:schemeClr val="bg1"/>
                  </a:solidFill>
                  <a:latin typeface="Times New Roman" panose="02020503050405090304" pitchFamily="18" charset="0"/>
                  <a:ea typeface="標楷體" pitchFamily="65" charset="-120"/>
                  <a:cs typeface="Times New Roman" panose="02020503050405090304" pitchFamily="18" charset="0"/>
                </a:rPr>
                <a:t>CUHK</a:t>
              </a:r>
              <a:r>
                <a:rPr lang="en-US" altLang="zh-TW" sz="1000" kern="100" dirty="0">
                  <a:solidFill>
                    <a:schemeClr val="bg1"/>
                  </a:solidFill>
                  <a:latin typeface="Times New Roman" panose="02020503050405090304" pitchFamily="18" charset="0"/>
                  <a:ea typeface="DengXian"/>
                  <a:cs typeface="Times New Roman" panose="02020503050405090304" pitchFamily="18" charset="0"/>
                </a:rPr>
                <a:t>-SZ Sc</a:t>
              </a:r>
              <a:r>
                <a:rPr lang="en-US" altLang="zh-TW" sz="1000" kern="100" dirty="0">
                  <a:solidFill>
                    <a:schemeClr val="bg1"/>
                  </a:solidFill>
                  <a:latin typeface="Times New Roman" panose="02020503050405090304" pitchFamily="18" charset="0"/>
                  <a:ea typeface="標楷體" pitchFamily="65" charset="-120"/>
                  <a:cs typeface="Times New Roman" panose="02020503050405090304" pitchFamily="18" charset="0"/>
                </a:rPr>
                <a:t>hool of Data Science</a:t>
              </a:r>
              <a:endParaRPr lang="zh-TW" altLang="zh-TW" sz="1000" kern="100" dirty="0">
                <a:solidFill>
                  <a:schemeClr val="bg1"/>
                </a:solidFill>
                <a:latin typeface="Calibri" pitchFamily="34" charset="0"/>
                <a:ea typeface="PMingLiU" pitchFamily="18" charset="-120"/>
                <a:cs typeface="Times New Roman" panose="02020503050405090304" pitchFamily="18" charset="0"/>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rtl="0" eaLnBrk="1" fontAlgn="base" hangingPunct="1">
        <a:spcBef>
          <a:spcPct val="0"/>
        </a:spcBef>
        <a:spcAft>
          <a:spcPct val="0"/>
        </a:spcAft>
        <a:defRPr kumimoji="1" sz="48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200" algn="l" rtl="0" eaLnBrk="1" fontAlgn="base" hangingPunct="1">
        <a:spcBef>
          <a:spcPct val="0"/>
        </a:spcBef>
        <a:spcAft>
          <a:spcPct val="0"/>
        </a:spcAft>
        <a:defRPr kumimoji="1" sz="3000" b="1">
          <a:solidFill>
            <a:schemeClr val="tx2"/>
          </a:solidFill>
          <a:latin typeface="MS Sans Serif"/>
          <a:ea typeface="MS Sans Serif"/>
          <a:cs typeface="MS Sans Serif"/>
        </a:defRPr>
      </a:lvl6pPr>
      <a:lvl7pPr marL="914400" algn="l" rtl="0" eaLnBrk="1" fontAlgn="base" hangingPunct="1">
        <a:spcBef>
          <a:spcPct val="0"/>
        </a:spcBef>
        <a:spcAft>
          <a:spcPct val="0"/>
        </a:spcAft>
        <a:defRPr kumimoji="1" sz="3000" b="1">
          <a:solidFill>
            <a:schemeClr val="tx2"/>
          </a:solidFill>
          <a:latin typeface="MS Sans Serif"/>
          <a:ea typeface="MS Sans Serif"/>
          <a:cs typeface="MS Sans Serif"/>
        </a:defRPr>
      </a:lvl7pPr>
      <a:lvl8pPr marL="1371600" algn="l" rtl="0" eaLnBrk="1" fontAlgn="base" hangingPunct="1">
        <a:spcBef>
          <a:spcPct val="0"/>
        </a:spcBef>
        <a:spcAft>
          <a:spcPct val="0"/>
        </a:spcAft>
        <a:defRPr kumimoji="1" sz="3000" b="1">
          <a:solidFill>
            <a:schemeClr val="tx2"/>
          </a:solidFill>
          <a:latin typeface="MS Sans Serif"/>
          <a:ea typeface="MS Sans Serif"/>
          <a:cs typeface="MS Sans Serif"/>
        </a:defRPr>
      </a:lvl8pPr>
      <a:lvl9pPr marL="1828800" algn="l" rtl="0" eaLnBrk="1" fontAlgn="base" hangingPunct="1">
        <a:spcBef>
          <a:spcPct val="0"/>
        </a:spcBef>
        <a:spcAft>
          <a:spcPct val="0"/>
        </a:spcAft>
        <a:defRPr kumimoji="1" sz="3000" b="1">
          <a:solidFill>
            <a:schemeClr val="tx2"/>
          </a:solidFill>
          <a:latin typeface="MS Sans Serif"/>
          <a:ea typeface="MS Sans Serif"/>
          <a:cs typeface="MS Sans Serif"/>
        </a:defRPr>
      </a:lvl9pPr>
    </p:titleStyle>
    <p:body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itchFamily="34" charset="0"/>
          <a:ea typeface="標楷體" pitchFamily="65" charset="-120"/>
        </a:defRPr>
      </a:lvl2pPr>
      <a:lvl3pPr marL="1143000" indent="-228600" algn="l" rtl="0" eaLnBrk="1" fontAlgn="base" hangingPunct="1">
        <a:spcBef>
          <a:spcPct val="20000"/>
        </a:spcBef>
        <a:spcAft>
          <a:spcPct val="0"/>
        </a:spcAft>
        <a:buChar char="•"/>
        <a:defRPr kumimoji="1" sz="24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chemeClr val="tx1"/>
          </a:solidFill>
          <a:latin typeface="+mn-lt"/>
          <a:ea typeface="+mn-ea"/>
        </a:defRPr>
      </a:lvl4pPr>
      <a:lvl5pPr marL="2057400" indent="-228600" algn="l" rtl="0" eaLnBrk="1" fontAlgn="base" hangingPunct="1">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fld>
            <a:endParaRPr lang="zh-TW"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14.png"/><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1775" y="1407160"/>
            <a:ext cx="11762740" cy="1882140"/>
          </a:xfrm>
        </p:spPr>
        <p:txBody>
          <a:bodyPr/>
          <a:lstStyle/>
          <a:p>
            <a:pPr algn="ctr"/>
            <a:r>
              <a:rPr lang="en-US" altLang="zh-CN" sz="4800" b="0" dirty="0">
                <a:effectLst>
                  <a:outerShdw blurRad="38100" dist="38100" dir="2700000" algn="tl">
                    <a:srgbClr val="000000">
                      <a:alpha val="43137"/>
                    </a:srgbClr>
                  </a:outerShdw>
                </a:effectLst>
              </a:rPr>
              <a:t>When LLMs Become OS Operators: </a:t>
            </a:r>
            <a:br>
              <a:rPr lang="en-US" altLang="zh-CN" sz="4800" b="0" dirty="0">
                <a:effectLst>
                  <a:outerShdw blurRad="38100" dist="38100" dir="2700000" algn="tl">
                    <a:srgbClr val="000000">
                      <a:alpha val="43137"/>
                    </a:srgbClr>
                  </a:outerShdw>
                </a:effectLst>
              </a:rPr>
            </a:br>
            <a:r>
              <a:rPr lang="en-US" altLang="zh-CN" sz="4800" b="0" dirty="0">
                <a:effectLst>
                  <a:outerShdw blurRad="38100" dist="38100" dir="2700000" algn="tl">
                    <a:srgbClr val="000000">
                      <a:alpha val="43137"/>
                    </a:srgbClr>
                  </a:outerShdw>
                </a:effectLst>
              </a:rPr>
              <a:t>Rethinking Trust and Isolation</a:t>
            </a:r>
            <a:br>
              <a:rPr lang="en-US" altLang="zh-CN" sz="4800" b="0" dirty="0">
                <a:effectLst>
                  <a:outerShdw blurRad="38100" dist="38100" dir="2700000" algn="tl">
                    <a:srgbClr val="000000">
                      <a:alpha val="43137"/>
                    </a:srgbClr>
                  </a:outerShdw>
                </a:effectLst>
              </a:rPr>
            </a:br>
            <a:r>
              <a:rPr lang="en-US" altLang="zh-CN" sz="3200" b="0" dirty="0">
                <a:effectLst>
                  <a:outerShdw blurRad="38100" dist="38100" dir="2700000" algn="tl">
                    <a:srgbClr val="000000">
                      <a:alpha val="43137"/>
                    </a:srgbClr>
                  </a:outerShdw>
                </a:effectLst>
              </a:rPr>
              <a:t>2026.02.03</a:t>
            </a:r>
            <a:endParaRPr lang="en-US" altLang="zh-CN" sz="3200" b="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828800" y="3778162"/>
            <a:ext cx="8534400" cy="1882455"/>
          </a:xfrm>
        </p:spPr>
        <p:txBody>
          <a:bodyPr/>
          <a:lstStyle/>
          <a:p>
            <a:r>
              <a:rPr lang="en-US" altLang="zh-TW" sz="3200" dirty="0">
                <a:effectLst>
                  <a:outerShdw blurRad="38100" dist="38100" dir="2700000" algn="tl">
                    <a:srgbClr val="000000">
                      <a:alpha val="43137"/>
                    </a:srgbClr>
                  </a:outerShdw>
                </a:effectLst>
              </a:rPr>
              <a:t>Qihang Zhang</a:t>
            </a:r>
            <a:endParaRPr lang="en-US" altLang="zh-TW" sz="3200" dirty="0">
              <a:effectLst>
                <a:outerShdw blurRad="38100" dist="38100" dir="2700000" algn="tl">
                  <a:srgbClr val="000000">
                    <a:alpha val="43137"/>
                  </a:srgbClr>
                </a:outerShdw>
              </a:effectLst>
            </a:endParaRPr>
          </a:p>
          <a:p>
            <a:r>
              <a:rPr lang="en-US" altLang="zh-TW" sz="3200" dirty="0">
                <a:effectLst>
                  <a:outerShdw blurRad="38100" dist="38100" dir="2700000" algn="tl">
                    <a:srgbClr val="000000">
                      <a:alpha val="43137"/>
                    </a:srgbClr>
                  </a:outerShdw>
                </a:effectLst>
              </a:rPr>
              <a:t>(119010434)</a:t>
            </a:r>
            <a:endParaRPr lang="en-US" altLang="zh-TW" sz="3200" dirty="0">
              <a:effectLst>
                <a:outerShdw blurRad="38100" dist="38100" dir="2700000" algn="tl">
                  <a:srgbClr val="000000">
                    <a:alpha val="43137"/>
                  </a:srgbClr>
                </a:outerShdw>
              </a:effectLst>
            </a:endParaRPr>
          </a:p>
          <a:p>
            <a:r>
              <a:rPr lang="en-US" altLang="zh-TW" sz="3200" dirty="0"/>
              <a:t>School of </a:t>
            </a:r>
            <a:r>
              <a:rPr lang="en-US" altLang="zh-CN" sz="3200" dirty="0"/>
              <a:t>Data </a:t>
            </a:r>
            <a:r>
              <a:rPr lang="en-US" altLang="zh-TW" sz="3200" dirty="0"/>
              <a:t>Science</a:t>
            </a:r>
            <a:endParaRPr lang="en-US" altLang="zh-TW" sz="3200" dirty="0"/>
          </a:p>
          <a:p>
            <a:r>
              <a:rPr lang="en-US" altLang="zh-TW" sz="3200" dirty="0"/>
              <a:t>Chinese University of Hong Kong, Shenzhen</a:t>
            </a:r>
            <a:endParaRPr lang="en-US" altLang="zh-TW"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latin typeface="Times New Roman" panose="02020503050405090304" pitchFamily="18" charset="0"/>
                <a:cs typeface="Times New Roman" panose="02020503050405090304" pitchFamily="18" charset="0"/>
              </a:rPr>
              <a:t>Outline</a:t>
            </a:r>
            <a:endParaRPr lang="zh-TW" altLang="en-US" dirty="0">
              <a:latin typeface="Times New Roman" panose="02020503050405090304" pitchFamily="18" charset="0"/>
              <a:cs typeface="Times New Roman" panose="02020503050405090304" pitchFamily="18" charset="0"/>
            </a:endParaRPr>
          </a:p>
        </p:txBody>
      </p:sp>
      <p:sp>
        <p:nvSpPr>
          <p:cNvPr id="3" name="內容版面配置區 2"/>
          <p:cNvSpPr>
            <a:spLocks noGrp="1"/>
          </p:cNvSpPr>
          <p:nvPr>
            <p:ph idx="1"/>
          </p:nvPr>
        </p:nvSpPr>
        <p:spPr>
          <a:xfrm>
            <a:off x="1311423" y="1125537"/>
            <a:ext cx="10270977" cy="4806633"/>
          </a:xfrm>
        </p:spPr>
        <p:txBody>
          <a:bodyPr>
            <a:noAutofit/>
          </a:bodyPr>
          <a:lstStyle/>
          <a:p>
            <a:r>
              <a:rPr lang="en-US" altLang="zh-CN" sz="2935" dirty="0">
                <a:latin typeface="Times New Roman" panose="02020503050405090304" pitchFamily="18" charset="0"/>
                <a:cs typeface="Times New Roman" panose="02020503050405090304" pitchFamily="18" charset="0"/>
              </a:rPr>
              <a:t>Introduction </a:t>
            </a:r>
            <a:endParaRPr lang="en-US" altLang="zh-TW"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Background &amp; Overview</a:t>
            </a:r>
            <a:endParaRPr lang="en-US" altLang="zh-CN" sz="2935" dirty="0">
              <a:latin typeface="Times New Roman" panose="02020503050405090304" pitchFamily="18" charset="0"/>
              <a:cs typeface="Times New Roman" panose="02020503050405090304" pitchFamily="18" charset="0"/>
            </a:endParaRPr>
          </a:p>
          <a:p>
            <a:pPr lvl="1"/>
            <a:r>
              <a:rPr lang="en-US" altLang="zh-CN" sz="2510" dirty="0">
                <a:latin typeface="Times New Roman" panose="02020503050405090304" pitchFamily="18" charset="0"/>
                <a:cs typeface="Times New Roman" panose="02020503050405090304" pitchFamily="18" charset="0"/>
              </a:rPr>
              <a:t>OmniParser </a:t>
            </a:r>
            <a:endParaRPr lang="en-US" altLang="zh-CN" sz="2510"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Related Work: Risk Analysis</a:t>
            </a:r>
            <a:endParaRPr lang="en-US" altLang="zh-CN" sz="2935"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External Threats </a:t>
            </a:r>
            <a:endParaRPr lang="en-US" altLang="zh-CN" sz="1995"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Internal Risks </a:t>
            </a:r>
            <a:endParaRPr lang="en-US" altLang="zh-CN" sz="2400"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Defense Assumption</a:t>
            </a:r>
            <a:endParaRPr lang="en-US" altLang="zh-CN" sz="2935" dirty="0">
              <a:solidFill>
                <a:srgbClr val="FF0000"/>
              </a:solidFill>
              <a:latin typeface="Times New Roman" panose="02020503050405090304" pitchFamily="18" charset="0"/>
              <a:cs typeface="Times New Roman" panose="02020503050405090304" pitchFamily="18" charset="0"/>
            </a:endParaRPr>
          </a:p>
          <a:p>
            <a:r>
              <a:rPr lang="en-US" altLang="zh-CN" sz="2935" dirty="0">
                <a:solidFill>
                  <a:schemeClr val="tx1"/>
                </a:solidFill>
                <a:latin typeface="Times New Roman" panose="02020503050405090304" pitchFamily="18" charset="0"/>
                <a:cs typeface="Times New Roman" panose="02020503050405090304" pitchFamily="18" charset="0"/>
              </a:rPr>
              <a:t>Conclusion</a:t>
            </a:r>
            <a:endParaRPr lang="en-US" altLang="zh-CN" sz="2935" dirty="0">
              <a:solidFill>
                <a:schemeClr val="tx1"/>
              </a:solidFill>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References</a:t>
            </a:r>
            <a:endParaRPr lang="en-US" altLang="zh-CN"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Q &amp; A </a:t>
            </a:r>
            <a:endParaRPr lang="en-US" altLang="zh-CN" sz="2935" dirty="0">
              <a:latin typeface="Times New Roman" panose="02020503050405090304" pitchFamily="18" charset="0"/>
              <a:cs typeface="Times New Roman" panose="02020503050405090304" pitchFamily="18" charset="0"/>
            </a:endParaRPr>
          </a:p>
          <a:p>
            <a:pPr lvl="6"/>
            <a:endParaRPr lang="en-US" altLang="zh-CN" sz="1200"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latin typeface="Times New Roman" panose="02020503050405090304" pitchFamily="18" charset="0"/>
                <a:cs typeface="Times New Roman" panose="02020503050405090304" pitchFamily="18" charset="0"/>
              </a:rPr>
              <a:t>Outline</a:t>
            </a:r>
            <a:endParaRPr lang="zh-TW" altLang="en-US" dirty="0">
              <a:latin typeface="Times New Roman" panose="02020503050405090304" pitchFamily="18" charset="0"/>
              <a:cs typeface="Times New Roman" panose="02020503050405090304" pitchFamily="18" charset="0"/>
            </a:endParaRPr>
          </a:p>
        </p:txBody>
      </p:sp>
      <p:sp>
        <p:nvSpPr>
          <p:cNvPr id="3" name="內容版面配置區 2"/>
          <p:cNvSpPr>
            <a:spLocks noGrp="1"/>
          </p:cNvSpPr>
          <p:nvPr>
            <p:ph idx="1"/>
          </p:nvPr>
        </p:nvSpPr>
        <p:spPr>
          <a:xfrm>
            <a:off x="1311423" y="1125537"/>
            <a:ext cx="10270977" cy="4806633"/>
          </a:xfrm>
        </p:spPr>
        <p:txBody>
          <a:bodyPr>
            <a:noAutofit/>
          </a:bodyPr>
          <a:lstStyle/>
          <a:p>
            <a:r>
              <a:rPr lang="en-US" altLang="zh-CN" sz="2935" dirty="0">
                <a:solidFill>
                  <a:srgbClr val="FF0000"/>
                </a:solidFill>
                <a:latin typeface="Times New Roman" panose="02020503050405090304" pitchFamily="18" charset="0"/>
                <a:cs typeface="Times New Roman" panose="02020503050405090304" pitchFamily="18" charset="0"/>
              </a:rPr>
              <a:t>Introduction</a:t>
            </a:r>
            <a:endParaRPr lang="en-US" altLang="zh-TW"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Background &amp; Overview</a:t>
            </a:r>
            <a:endParaRPr lang="en-US" altLang="zh-CN" sz="2935" dirty="0">
              <a:latin typeface="Times New Roman" panose="02020503050405090304" pitchFamily="18" charset="0"/>
              <a:cs typeface="Times New Roman" panose="02020503050405090304" pitchFamily="18" charset="0"/>
            </a:endParaRPr>
          </a:p>
          <a:p>
            <a:pPr lvl="1"/>
            <a:r>
              <a:rPr lang="en-US" altLang="zh-CN" sz="2510" dirty="0">
                <a:latin typeface="Times New Roman" panose="02020503050405090304" pitchFamily="18" charset="0"/>
                <a:cs typeface="Times New Roman" panose="02020503050405090304" pitchFamily="18" charset="0"/>
              </a:rPr>
              <a:t>OmniParser </a:t>
            </a:r>
            <a:endParaRPr lang="en-US" altLang="zh-CN" sz="2510"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Related Work: Risk Analysis</a:t>
            </a:r>
            <a:endParaRPr lang="en-US" altLang="zh-CN" sz="2935"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External Threats </a:t>
            </a:r>
            <a:endParaRPr lang="en-US" altLang="zh-CN" sz="1995"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Internal Risks </a:t>
            </a:r>
            <a:endParaRPr lang="en-US" altLang="zh-CN" sz="2400"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Defense Assumption </a:t>
            </a:r>
            <a:endParaRPr lang="en-US" altLang="zh-CN" sz="2935" dirty="0">
              <a:solidFill>
                <a:srgbClr val="FF0000"/>
              </a:solidFill>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sym typeface="+mn-ea"/>
              </a:rPr>
              <a:t>Conclusion</a:t>
            </a:r>
            <a:endParaRPr lang="en-US" altLang="zh-CN" sz="2935" dirty="0">
              <a:solidFill>
                <a:srgbClr val="FF0000"/>
              </a:solidFill>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References</a:t>
            </a:r>
            <a:endParaRPr lang="en-US" altLang="zh-CN"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Q &amp; A </a:t>
            </a:r>
            <a:endParaRPr lang="en-US" altLang="zh-CN" sz="2935" dirty="0">
              <a:latin typeface="Times New Roman" panose="02020503050405090304" pitchFamily="18" charset="0"/>
              <a:cs typeface="Times New Roman" panose="02020503050405090304" pitchFamily="18" charset="0"/>
            </a:endParaRPr>
          </a:p>
          <a:p>
            <a:pPr lvl="6"/>
            <a:endParaRPr lang="en-US" altLang="zh-CN" sz="1200"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sz="4000" dirty="0">
                <a:latin typeface="Times New Roman" panose="02020503050405090304" pitchFamily="18" charset="0"/>
                <a:ea typeface="Calibri" pitchFamily="34" charset="0"/>
                <a:cs typeface="Times New Roman" panose="02020503050405090304" pitchFamily="18" charset="0"/>
              </a:rPr>
              <a:t>Introduction – </a:t>
            </a:r>
            <a:r>
              <a:rPr lang="en-US" altLang="zh-CN" sz="4000" dirty="0">
                <a:latin typeface="Times New Roman" panose="02020503050405090304" pitchFamily="18" charset="0"/>
                <a:ea typeface="Calibri" pitchFamily="34" charset="0"/>
                <a:cs typeface="Times New Roman" panose="02020503050405090304" pitchFamily="18" charset="0"/>
              </a:rPr>
              <a:t>LLM from Chat to Agent (1/2)</a:t>
            </a:r>
            <a:endParaRPr lang="en-US" altLang="zh-CN" sz="4000" dirty="0">
              <a:latin typeface="Times New Roman" panose="02020503050405090304" pitchFamily="18" charset="0"/>
              <a:ea typeface="Calibri" pitchFamily="34" charset="0"/>
              <a:cs typeface="Times New Roman" panose="02020503050405090304" pitchFamily="18"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pic>
        <p:nvPicPr>
          <p:cNvPr id="3" name="图片 2" descr="Gemini_Generated_Image_wz0ri2wz0ri2wz0r"/>
          <p:cNvPicPr>
            <a:picLocks noChangeAspect="1"/>
          </p:cNvPicPr>
          <p:nvPr/>
        </p:nvPicPr>
        <p:blipFill>
          <a:blip r:embed="rId1"/>
          <a:srcRect l="4528" t="35568" r="3546" b="40181"/>
          <a:stretch>
            <a:fillRect/>
          </a:stretch>
        </p:blipFill>
        <p:spPr>
          <a:xfrm>
            <a:off x="675640" y="2916555"/>
            <a:ext cx="10488930" cy="2767330"/>
          </a:xfrm>
          <a:prstGeom prst="rect">
            <a:avLst/>
          </a:prstGeom>
        </p:spPr>
      </p:pic>
      <p:sp>
        <p:nvSpPr>
          <p:cNvPr id="5" name="文本框 4"/>
          <p:cNvSpPr txBox="1"/>
          <p:nvPr/>
        </p:nvSpPr>
        <p:spPr>
          <a:xfrm>
            <a:off x="0" y="5683885"/>
            <a:ext cx="4064000" cy="368300"/>
          </a:xfrm>
          <a:prstGeom prst="rect">
            <a:avLst/>
          </a:prstGeom>
          <a:noFill/>
        </p:spPr>
        <p:txBody>
          <a:bodyPr wrap="square" rtlCol="0" anchor="ctr" anchorCtr="1">
            <a:spAutoFit/>
          </a:bodyPr>
          <a:p>
            <a:r>
              <a:rPr lang="en-US" altLang="zh-CN" dirty="0" smtClean="0">
                <a:ea typeface="標楷體" pitchFamily="65" charset="-120"/>
                <a:cs typeface="Calibri" pitchFamily="34" charset="0"/>
              </a:rPr>
              <a:t>Chatbot</a:t>
            </a:r>
            <a:endParaRPr lang="en-US" altLang="zh-CN" dirty="0" smtClean="0">
              <a:ea typeface="標楷體" pitchFamily="65" charset="-120"/>
              <a:cs typeface="Calibri" pitchFamily="34" charset="0"/>
            </a:endParaRPr>
          </a:p>
        </p:txBody>
      </p:sp>
      <p:sp>
        <p:nvSpPr>
          <p:cNvPr id="6" name="文本框 5"/>
          <p:cNvSpPr txBox="1"/>
          <p:nvPr/>
        </p:nvSpPr>
        <p:spPr>
          <a:xfrm>
            <a:off x="3888105" y="5683885"/>
            <a:ext cx="4064000" cy="368300"/>
          </a:xfrm>
          <a:prstGeom prst="rect">
            <a:avLst/>
          </a:prstGeom>
          <a:noFill/>
        </p:spPr>
        <p:txBody>
          <a:bodyPr wrap="square" rtlCol="0" anchor="ctr" anchorCtr="1">
            <a:spAutoFit/>
          </a:bodyPr>
          <a:p>
            <a:r>
              <a:rPr lang="en-US" altLang="zh-CN" dirty="0" smtClean="0">
                <a:ea typeface="標楷體" pitchFamily="65" charset="-120"/>
                <a:cs typeface="Calibri" pitchFamily="34" charset="0"/>
              </a:rPr>
              <a:t>Copilot</a:t>
            </a:r>
            <a:endParaRPr lang="en-US" altLang="zh-CN" dirty="0" smtClean="0">
              <a:ea typeface="標楷體" pitchFamily="65" charset="-120"/>
              <a:cs typeface="Calibri" pitchFamily="34" charset="0"/>
            </a:endParaRPr>
          </a:p>
        </p:txBody>
      </p:sp>
      <p:sp>
        <p:nvSpPr>
          <p:cNvPr id="7" name="文本框 6"/>
          <p:cNvSpPr txBox="1"/>
          <p:nvPr/>
        </p:nvSpPr>
        <p:spPr>
          <a:xfrm>
            <a:off x="7565390" y="5683885"/>
            <a:ext cx="4064000" cy="368300"/>
          </a:xfrm>
          <a:prstGeom prst="rect">
            <a:avLst/>
          </a:prstGeom>
          <a:noFill/>
        </p:spPr>
        <p:txBody>
          <a:bodyPr wrap="square" rtlCol="0" anchor="ctr" anchorCtr="1">
            <a:spAutoFit/>
          </a:bodyPr>
          <a:p>
            <a:r>
              <a:rPr lang="en-US" altLang="zh-CN" dirty="0" smtClean="0">
                <a:ea typeface="標楷體" pitchFamily="65" charset="-120"/>
                <a:cs typeface="Calibri" pitchFamily="34" charset="0"/>
              </a:rPr>
              <a:t>Agent</a:t>
            </a:r>
            <a:endParaRPr lang="en-US" altLang="zh-CN" dirty="0" smtClean="0">
              <a:ea typeface="標楷體" pitchFamily="65" charset="-120"/>
              <a:cs typeface="Calibri" pitchFamily="34" charset="0"/>
            </a:endParaRPr>
          </a:p>
        </p:txBody>
      </p:sp>
      <p:sp>
        <p:nvSpPr>
          <p:cNvPr id="8" name="文本框 7"/>
          <p:cNvSpPr txBox="1"/>
          <p:nvPr/>
        </p:nvSpPr>
        <p:spPr>
          <a:xfrm>
            <a:off x="675640" y="1245870"/>
            <a:ext cx="10489565" cy="1670685"/>
          </a:xfrm>
          <a:prstGeom prst="rect">
            <a:avLst/>
          </a:prstGeom>
        </p:spPr>
        <p:txBody>
          <a:bodyPr>
            <a:noAutofit/>
          </a:bodyPr>
          <a:p>
            <a:pPr marL="457200" indent="-457200">
              <a:buClr>
                <a:srgbClr val="0070C0"/>
              </a:buClr>
              <a:buFont typeface="Wingdings" panose="05000000000000000000" charset="0"/>
              <a:buChar char=""/>
            </a:pPr>
            <a:r>
              <a:rPr lang="en-US" altLang="zh-TW" sz="3200"/>
              <a:t>LLM are transitioning from basic </a:t>
            </a:r>
            <a:r>
              <a:rPr lang="en-US" altLang="zh-TW" sz="3200">
                <a:solidFill>
                  <a:srgbClr val="00B0F0"/>
                </a:solidFill>
              </a:rPr>
              <a:t>Chatbots</a:t>
            </a:r>
            <a:r>
              <a:rPr lang="en-US" altLang="zh-TW" sz="3200"/>
              <a:t> to </a:t>
            </a:r>
            <a:r>
              <a:rPr lang="en-US" altLang="zh-TW" sz="3200">
                <a:solidFill>
                  <a:srgbClr val="00B0F0"/>
                </a:solidFill>
              </a:rPr>
              <a:t>Copilots</a:t>
            </a:r>
            <a:r>
              <a:rPr lang="en-US" altLang="zh-TW" sz="3200"/>
              <a:t>, and ultimately to </a:t>
            </a:r>
            <a:r>
              <a:rPr lang="en-US" altLang="zh-TW" sz="3200">
                <a:solidFill>
                  <a:srgbClr val="00B0F0"/>
                </a:solidFill>
              </a:rPr>
              <a:t>OS Agents</a:t>
            </a:r>
            <a:r>
              <a:rPr lang="en-US" altLang="zh-TW" sz="3200"/>
              <a:t> that can independently orchestrate computer systems.</a:t>
            </a:r>
            <a:endParaRPr lang="en-US" altLang="zh-CN" sz="3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sz="4000" dirty="0">
                <a:latin typeface="Times New Roman" panose="02020503050405090304" pitchFamily="18" charset="0"/>
                <a:ea typeface="Calibri" pitchFamily="34" charset="0"/>
                <a:cs typeface="Times New Roman" panose="02020503050405090304" pitchFamily="18" charset="0"/>
              </a:rPr>
              <a:t>Introduction – </a:t>
            </a:r>
            <a:r>
              <a:rPr lang="en-US" altLang="zh-CN" sz="4000" dirty="0">
                <a:latin typeface="Times New Roman" panose="02020503050405090304" pitchFamily="18" charset="0"/>
                <a:ea typeface="Calibri" pitchFamily="34" charset="0"/>
                <a:cs typeface="Times New Roman" panose="02020503050405090304" pitchFamily="18" charset="0"/>
              </a:rPr>
              <a:t>LLM from Chat to Agent (2/2)</a:t>
            </a:r>
            <a:endParaRPr lang="en-US" altLang="zh-CN" sz="4000" dirty="0">
              <a:latin typeface="Times New Roman" panose="02020503050405090304" pitchFamily="18" charset="0"/>
              <a:ea typeface="Calibri" pitchFamily="34" charset="0"/>
              <a:cs typeface="Times New Roman" panose="02020503050405090304" pitchFamily="18"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pic>
        <p:nvPicPr>
          <p:cNvPr id="3" name="图片 2" descr="Gemini_Generated_Image_4xscka4xscka4xsc"/>
          <p:cNvPicPr>
            <a:picLocks noChangeAspect="1"/>
          </p:cNvPicPr>
          <p:nvPr/>
        </p:nvPicPr>
        <p:blipFill>
          <a:blip r:embed="rId1"/>
          <a:srcRect l="6685" t="19880" r="6509" b="27074"/>
          <a:stretch>
            <a:fillRect/>
          </a:stretch>
        </p:blipFill>
        <p:spPr>
          <a:xfrm>
            <a:off x="5381625" y="1598930"/>
            <a:ext cx="6570980" cy="4015740"/>
          </a:xfrm>
          <a:prstGeom prst="rect">
            <a:avLst/>
          </a:prstGeom>
        </p:spPr>
      </p:pic>
      <p:sp>
        <p:nvSpPr>
          <p:cNvPr id="5" name="文本框 4"/>
          <p:cNvSpPr txBox="1"/>
          <p:nvPr/>
        </p:nvSpPr>
        <p:spPr>
          <a:xfrm>
            <a:off x="0" y="1226820"/>
            <a:ext cx="5381625" cy="5015865"/>
          </a:xfrm>
          <a:prstGeom prst="rect">
            <a:avLst/>
          </a:prstGeom>
          <a:noFill/>
        </p:spPr>
        <p:txBody>
          <a:bodyPr wrap="square" rtlCol="0" anchor="t" anchorCtr="1">
            <a:spAutoFit/>
          </a:bodyPr>
          <a:p>
            <a:pPr marL="457200" indent="-457200">
              <a:buClr>
                <a:srgbClr val="0070C0"/>
              </a:buClr>
              <a:buFont typeface="Wingdings" panose="05000000000000000000" charset="0"/>
              <a:buChar char=""/>
            </a:pPr>
            <a:r>
              <a:rPr lang="en-US" altLang="zh-CN" sz="3200">
                <a:sym typeface="+mn-ea"/>
              </a:rPr>
              <a:t>Beyond generating </a:t>
            </a:r>
            <a:r>
              <a:rPr lang="en-US" altLang="zh-CN" sz="3200">
                <a:solidFill>
                  <a:srgbClr val="00B0F0"/>
                </a:solidFill>
                <a:sym typeface="+mn-ea"/>
              </a:rPr>
              <a:t>text</a:t>
            </a:r>
            <a:r>
              <a:rPr lang="en-US" altLang="zh-CN" sz="3200">
                <a:sym typeface="+mn-ea"/>
              </a:rPr>
              <a:t>, OS Agents translate intentions into cross-application </a:t>
            </a:r>
            <a:r>
              <a:rPr lang="en-US" altLang="zh-CN" sz="3200">
                <a:solidFill>
                  <a:srgbClr val="00B0F0"/>
                </a:solidFill>
                <a:sym typeface="+mn-ea"/>
              </a:rPr>
              <a:t>actions</a:t>
            </a:r>
            <a:r>
              <a:rPr lang="en-US" altLang="zh-CN" sz="3200">
                <a:sym typeface="+mn-ea"/>
              </a:rPr>
              <a:t>.</a:t>
            </a:r>
            <a:endParaRPr lang="en-US" altLang="zh-CN" sz="3200">
              <a:sym typeface="+mn-ea"/>
            </a:endParaRPr>
          </a:p>
          <a:p>
            <a:pPr marL="457200" indent="-457200">
              <a:buClr>
                <a:srgbClr val="0070C0"/>
              </a:buClr>
              <a:buFont typeface="Wingdings" panose="05000000000000000000" charset="0"/>
              <a:buChar char=""/>
            </a:pPr>
            <a:endParaRPr lang="en-US" altLang="zh-CN" sz="3200" dirty="0" smtClean="0">
              <a:ea typeface="標楷體" pitchFamily="65" charset="-120"/>
              <a:cs typeface="Calibri" pitchFamily="34" charset="0"/>
              <a:sym typeface="+mn-ea"/>
            </a:endParaRPr>
          </a:p>
          <a:p>
            <a:pPr marL="457200" indent="-457200">
              <a:buClr>
                <a:srgbClr val="0070C0"/>
              </a:buClr>
              <a:buFont typeface="Wingdings" panose="05000000000000000000" charset="0"/>
              <a:buChar char=""/>
            </a:pPr>
            <a:r>
              <a:rPr lang="en-US" altLang="zh-CN" sz="3200" dirty="0" smtClean="0">
                <a:ea typeface="標楷體" pitchFamily="65" charset="-120"/>
                <a:cs typeface="Calibri" pitchFamily="34" charset="0"/>
                <a:sym typeface="+mn-ea"/>
              </a:rPr>
              <a:t>From searching for flights to executing payments, one command automates the entire complex workflow.</a:t>
            </a:r>
            <a:endParaRPr lang="en-US" altLang="zh-CN" sz="3200" dirty="0" smtClean="0">
              <a:ea typeface="標楷體" pitchFamily="65" charset="-120"/>
              <a:cs typeface="Calibri" pitchFamily="34" charset="0"/>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sz="4000" dirty="0">
                <a:latin typeface="Times New Roman" panose="02020503050405090304" pitchFamily="18" charset="0"/>
                <a:ea typeface="Calibri" pitchFamily="34" charset="0"/>
                <a:cs typeface="Times New Roman" panose="02020503050405090304" pitchFamily="18" charset="0"/>
              </a:rPr>
              <a:t>Introduction – Security Challenge</a:t>
            </a:r>
            <a:endParaRPr lang="en-US" altLang="zh-CN" sz="4000" dirty="0">
              <a:latin typeface="Times New Roman" panose="02020503050405090304" pitchFamily="18" charset="0"/>
              <a:ea typeface="Calibri" pitchFamily="34" charset="0"/>
              <a:cs typeface="Times New Roman" panose="02020503050405090304" pitchFamily="18"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6" name="文本框 5"/>
          <p:cNvSpPr txBox="1"/>
          <p:nvPr/>
        </p:nvSpPr>
        <p:spPr>
          <a:xfrm>
            <a:off x="8615045" y="5522595"/>
            <a:ext cx="4064000" cy="645160"/>
          </a:xfrm>
          <a:prstGeom prst="rect">
            <a:avLst/>
          </a:prstGeom>
          <a:noFill/>
        </p:spPr>
        <p:txBody>
          <a:bodyPr wrap="square" rtlCol="0" anchor="ctr" anchorCtr="1">
            <a:spAutoFit/>
          </a:bodyPr>
          <a:p>
            <a:pPr algn="ctr"/>
            <a:r>
              <a:rPr lang="en-US" altLang="zh-CN" dirty="0" smtClean="0">
                <a:ea typeface="標楷體" pitchFamily="65" charset="-120"/>
                <a:cs typeface="Calibri" pitchFamily="34" charset="0"/>
              </a:rPr>
              <a:t>Traditional OS </a:t>
            </a:r>
            <a:r>
              <a:rPr lang="en-US" altLang="zh-CN" dirty="0" smtClean="0">
                <a:ea typeface="標楷體" pitchFamily="65" charset="-120"/>
                <a:cs typeface="Calibri" pitchFamily="34" charset="0"/>
              </a:rPr>
              <a:t>Security:</a:t>
            </a:r>
            <a:endParaRPr lang="en-US" altLang="zh-CN" dirty="0" smtClean="0">
              <a:ea typeface="標楷體" pitchFamily="65" charset="-120"/>
              <a:cs typeface="Calibri" pitchFamily="34" charset="0"/>
            </a:endParaRPr>
          </a:p>
          <a:p>
            <a:pPr algn="ctr"/>
            <a:r>
              <a:rPr lang="en-US" altLang="zh-CN" dirty="0" smtClean="0">
                <a:ea typeface="標楷體" pitchFamily="65" charset="-120"/>
                <a:cs typeface="Calibri" pitchFamily="34" charset="0"/>
              </a:rPr>
              <a:t>App-centric Trust &amp; Isolation</a:t>
            </a:r>
            <a:endParaRPr lang="en-US" altLang="zh-CN" dirty="0" smtClean="0">
              <a:ea typeface="標楷體" pitchFamily="65" charset="-120"/>
              <a:cs typeface="Calibri" pitchFamily="34" charset="0"/>
            </a:endParaRPr>
          </a:p>
        </p:txBody>
      </p:sp>
      <p:sp>
        <p:nvSpPr>
          <p:cNvPr id="7" name="文本框 6"/>
          <p:cNvSpPr txBox="1"/>
          <p:nvPr/>
        </p:nvSpPr>
        <p:spPr>
          <a:xfrm>
            <a:off x="4951730" y="5522595"/>
            <a:ext cx="4064000" cy="645160"/>
          </a:xfrm>
          <a:prstGeom prst="rect">
            <a:avLst/>
          </a:prstGeom>
          <a:noFill/>
        </p:spPr>
        <p:txBody>
          <a:bodyPr wrap="square" rtlCol="0" anchor="ctr" anchorCtr="1">
            <a:spAutoFit/>
          </a:bodyPr>
          <a:p>
            <a:pPr algn="ctr"/>
            <a:r>
              <a:rPr lang="en-US" altLang="zh-CN" dirty="0" smtClean="0">
                <a:ea typeface="標楷體" pitchFamily="65" charset="-120"/>
                <a:cs typeface="Calibri" pitchFamily="34" charset="0"/>
              </a:rPr>
              <a:t>OS Agent:</a:t>
            </a:r>
            <a:endParaRPr lang="en-US" altLang="zh-CN" dirty="0" smtClean="0">
              <a:ea typeface="標楷體" pitchFamily="65" charset="-120"/>
              <a:cs typeface="Calibri" pitchFamily="34" charset="0"/>
            </a:endParaRPr>
          </a:p>
          <a:p>
            <a:pPr algn="ctr"/>
            <a:r>
              <a:rPr lang="en-US" altLang="zh-CN" dirty="0" smtClean="0">
                <a:ea typeface="標楷體" pitchFamily="65" charset="-120"/>
                <a:cs typeface="Calibri" pitchFamily="34" charset="0"/>
              </a:rPr>
              <a:t>Fully Trust &amp; No Isolation </a:t>
            </a:r>
            <a:r>
              <a:rPr lang="en-US" altLang="zh-CN">
                <a:sym typeface="+mn-ea"/>
              </a:rPr>
              <a:t>barriers</a:t>
            </a:r>
            <a:endParaRPr lang="en-US" altLang="zh-CN" dirty="0" smtClean="0">
              <a:ea typeface="標楷體" pitchFamily="65" charset="-120"/>
              <a:cs typeface="Calibri" pitchFamily="34" charset="0"/>
            </a:endParaRPr>
          </a:p>
        </p:txBody>
      </p:sp>
      <p:cxnSp>
        <p:nvCxnSpPr>
          <p:cNvPr id="8" name="直接连接符 7"/>
          <p:cNvCxnSpPr/>
          <p:nvPr/>
        </p:nvCxnSpPr>
        <p:spPr>
          <a:xfrm>
            <a:off x="8989060" y="3023235"/>
            <a:ext cx="0" cy="3121025"/>
          </a:xfrm>
          <a:prstGeom prst="line">
            <a:avLst/>
          </a:prstGeom>
          <a:noFill/>
          <a:ln w="47625" cap="flat" cmpd="sng" algn="ctr">
            <a:solidFill>
              <a:schemeClr val="tx1"/>
            </a:solidFill>
            <a:prstDash val="sysDot"/>
            <a:round/>
            <a:headEnd type="none" w="med" len="med"/>
            <a:tailEnd type="none" w="med" len="med"/>
          </a:ln>
        </p:spPr>
      </p:cxnSp>
      <p:pic>
        <p:nvPicPr>
          <p:cNvPr id="10" name="图片 9" descr="Gemini_Generated_Image_4ev5rr4ev5rr4ev5"/>
          <p:cNvPicPr>
            <a:picLocks noChangeAspect="1"/>
          </p:cNvPicPr>
          <p:nvPr/>
        </p:nvPicPr>
        <p:blipFill>
          <a:blip r:embed="rId1"/>
          <a:srcRect l="71231" t="40343" r="6917" b="43315"/>
          <a:stretch>
            <a:fillRect/>
          </a:stretch>
        </p:blipFill>
        <p:spPr>
          <a:xfrm>
            <a:off x="490220" y="3429000"/>
            <a:ext cx="2454910" cy="1836420"/>
          </a:xfrm>
          <a:prstGeom prst="rect">
            <a:avLst/>
          </a:prstGeom>
        </p:spPr>
      </p:pic>
      <p:sp>
        <p:nvSpPr>
          <p:cNvPr id="11" name="文本框 10"/>
          <p:cNvSpPr txBox="1"/>
          <p:nvPr/>
        </p:nvSpPr>
        <p:spPr>
          <a:xfrm>
            <a:off x="0" y="1106805"/>
            <a:ext cx="11952605" cy="1568450"/>
          </a:xfrm>
          <a:prstGeom prst="rect">
            <a:avLst/>
          </a:prstGeom>
          <a:noFill/>
        </p:spPr>
        <p:txBody>
          <a:bodyPr wrap="square" rtlCol="0" anchor="t" anchorCtr="1">
            <a:spAutoFit/>
          </a:bodyPr>
          <a:p>
            <a:pPr marL="457200" indent="-457200">
              <a:buClr>
                <a:srgbClr val="0070C0"/>
              </a:buClr>
              <a:buFont typeface="Wingdings" panose="05000000000000000000" charset="0"/>
              <a:buChar char=""/>
            </a:pPr>
            <a:r>
              <a:rPr lang="en-US" altLang="zh-CN" sz="3200" dirty="0" smtClean="0">
                <a:ea typeface="標楷體" pitchFamily="65" charset="-120"/>
                <a:cs typeface="Calibri" pitchFamily="34" charset="0"/>
                <a:sym typeface="+mn-ea"/>
              </a:rPr>
              <a:t>This shift to autonomous OS Agents fundamentally redefines our security landscape, bypassing traditional app-centric trust and isolation mechanisms with inherent </a:t>
            </a:r>
            <a:r>
              <a:rPr lang="en-US" altLang="zh-CN" sz="3200" dirty="0" smtClean="0">
                <a:solidFill>
                  <a:srgbClr val="00B0F0"/>
                </a:solidFill>
                <a:ea typeface="標楷體" pitchFamily="65" charset="-120"/>
                <a:cs typeface="Calibri" pitchFamily="34" charset="0"/>
                <a:sym typeface="+mn-ea"/>
              </a:rPr>
              <a:t>full read/write</a:t>
            </a:r>
            <a:r>
              <a:rPr lang="en-US" altLang="zh-CN" sz="3200" dirty="0" smtClean="0">
                <a:ea typeface="標楷體" pitchFamily="65" charset="-120"/>
                <a:cs typeface="Calibri" pitchFamily="34" charset="0"/>
                <a:sym typeface="+mn-ea"/>
              </a:rPr>
              <a:t> access.</a:t>
            </a:r>
            <a:endParaRPr lang="en-US" altLang="zh-CN" sz="3200" dirty="0" smtClean="0">
              <a:ea typeface="標楷體" pitchFamily="65" charset="-120"/>
              <a:cs typeface="Calibri" pitchFamily="34" charset="0"/>
              <a:sym typeface="+mn-ea"/>
            </a:endParaRPr>
          </a:p>
        </p:txBody>
      </p:sp>
      <p:sp>
        <p:nvSpPr>
          <p:cNvPr id="12" name="文本框 11"/>
          <p:cNvSpPr txBox="1"/>
          <p:nvPr/>
        </p:nvSpPr>
        <p:spPr>
          <a:xfrm>
            <a:off x="30480" y="5150803"/>
            <a:ext cx="4064000" cy="706755"/>
          </a:xfrm>
          <a:prstGeom prst="rect">
            <a:avLst/>
          </a:prstGeom>
          <a:noFill/>
        </p:spPr>
        <p:txBody>
          <a:bodyPr wrap="square" rtlCol="0" anchor="ctr" anchorCtr="1">
            <a:spAutoFit/>
          </a:bodyPr>
          <a:p>
            <a:r>
              <a:rPr lang="en-US" altLang="zh-CN" sz="2000" dirty="0" smtClean="0">
                <a:ea typeface="標楷體" pitchFamily="65" charset="-120"/>
                <a:cs typeface="Calibri" pitchFamily="34" charset="0"/>
              </a:rPr>
              <a:t>Agent see the screen and use mouse/keyboard like human.</a:t>
            </a:r>
            <a:endParaRPr lang="en-US" altLang="zh-CN" sz="2000" dirty="0" smtClean="0">
              <a:ea typeface="標楷體" pitchFamily="65" charset="-120"/>
              <a:cs typeface="Calibri" pitchFamily="34" charset="0"/>
            </a:endParaRPr>
          </a:p>
        </p:txBody>
      </p:sp>
      <p:pic>
        <p:nvPicPr>
          <p:cNvPr id="14" name="图片 13" descr="Gemini_Generated_Image_4hhzqg4hhzqg4hhz"/>
          <p:cNvPicPr>
            <a:picLocks noChangeAspect="1"/>
          </p:cNvPicPr>
          <p:nvPr/>
        </p:nvPicPr>
        <p:blipFill>
          <a:blip r:embed="rId2"/>
          <a:srcRect b="2648"/>
          <a:stretch>
            <a:fillRect/>
          </a:stretch>
        </p:blipFill>
        <p:spPr>
          <a:xfrm>
            <a:off x="9107805" y="3154680"/>
            <a:ext cx="2689225" cy="2310130"/>
          </a:xfrm>
          <a:prstGeom prst="rect">
            <a:avLst/>
          </a:prstGeom>
        </p:spPr>
      </p:pic>
      <p:pic>
        <p:nvPicPr>
          <p:cNvPr id="15" name="图片 14" descr="Gemini_Generated_Image_3lhtx33lhtx33lht"/>
          <p:cNvPicPr>
            <a:picLocks noChangeAspect="1"/>
          </p:cNvPicPr>
          <p:nvPr/>
        </p:nvPicPr>
        <p:blipFill>
          <a:blip r:embed="rId3"/>
          <a:srcRect b="3056"/>
          <a:stretch>
            <a:fillRect/>
          </a:stretch>
        </p:blipFill>
        <p:spPr>
          <a:xfrm>
            <a:off x="6238240" y="3213100"/>
            <a:ext cx="2632075" cy="2251710"/>
          </a:xfrm>
          <a:prstGeom prst="rect">
            <a:avLst/>
          </a:prstGeom>
        </p:spPr>
      </p:pic>
      <p:sp>
        <p:nvSpPr>
          <p:cNvPr id="16" name="文本框 15"/>
          <p:cNvSpPr txBox="1"/>
          <p:nvPr/>
        </p:nvSpPr>
        <p:spPr>
          <a:xfrm>
            <a:off x="4779010" y="4196715"/>
            <a:ext cx="2448560" cy="368300"/>
          </a:xfrm>
          <a:prstGeom prst="rect">
            <a:avLst/>
          </a:prstGeom>
          <a:noFill/>
        </p:spPr>
        <p:txBody>
          <a:bodyPr wrap="square" rtlCol="0" anchor="ctr" anchorCtr="1">
            <a:spAutoFit/>
          </a:bodyPr>
          <a:p>
            <a:r>
              <a:rPr lang="en-US" altLang="zh-CN" dirty="0" smtClean="0">
                <a:ea typeface="標楷體" pitchFamily="65" charset="-120"/>
                <a:cs typeface="Calibri" pitchFamily="34" charset="0"/>
              </a:rPr>
              <a:t>Agent</a:t>
            </a:r>
            <a:endParaRPr lang="en-US" altLang="zh-CN" dirty="0" smtClean="0">
              <a:ea typeface="標楷體" pitchFamily="65" charset="-120"/>
              <a:cs typeface="Calibri" pitchFamily="34" charset="0"/>
            </a:endParaRPr>
          </a:p>
        </p:txBody>
      </p:sp>
      <p:cxnSp>
        <p:nvCxnSpPr>
          <p:cNvPr id="17" name="直接箭头连接符 16"/>
          <p:cNvCxnSpPr/>
          <p:nvPr/>
        </p:nvCxnSpPr>
        <p:spPr>
          <a:xfrm flipH="1">
            <a:off x="6362700" y="3630295"/>
            <a:ext cx="431800" cy="607695"/>
          </a:xfrm>
          <a:prstGeom prst="straightConnector1">
            <a:avLst/>
          </a:prstGeom>
          <a:noFill/>
          <a:ln w="15875" cap="flat" cmpd="sng" algn="ctr">
            <a:solidFill>
              <a:srgbClr val="FF0000"/>
            </a:solidFill>
            <a:prstDash val="solid"/>
            <a:round/>
            <a:headEnd type="none" w="med" len="med"/>
            <a:tailEnd type="arrow" w="med" len="med"/>
          </a:ln>
        </p:spPr>
      </p:cxnSp>
      <p:cxnSp>
        <p:nvCxnSpPr>
          <p:cNvPr id="18" name="直接箭头连接符 17"/>
          <p:cNvCxnSpPr/>
          <p:nvPr/>
        </p:nvCxnSpPr>
        <p:spPr>
          <a:xfrm flipH="1">
            <a:off x="6376035" y="4386580"/>
            <a:ext cx="378460" cy="0"/>
          </a:xfrm>
          <a:prstGeom prst="straightConnector1">
            <a:avLst/>
          </a:prstGeom>
          <a:noFill/>
          <a:ln w="15875" cap="flat" cmpd="sng" algn="ctr">
            <a:solidFill>
              <a:srgbClr val="FF0000"/>
            </a:solidFill>
            <a:prstDash val="solid"/>
            <a:round/>
            <a:headEnd type="none" w="med" len="med"/>
            <a:tailEnd type="arrow" w="med" len="med"/>
          </a:ln>
        </p:spPr>
      </p:cxnSp>
      <p:cxnSp>
        <p:nvCxnSpPr>
          <p:cNvPr id="19" name="直接箭头连接符 18"/>
          <p:cNvCxnSpPr/>
          <p:nvPr/>
        </p:nvCxnSpPr>
        <p:spPr>
          <a:xfrm flipH="1" flipV="1">
            <a:off x="6254750" y="4602480"/>
            <a:ext cx="485775" cy="513080"/>
          </a:xfrm>
          <a:prstGeom prst="straightConnector1">
            <a:avLst/>
          </a:prstGeom>
          <a:noFill/>
          <a:ln w="15875" cap="flat" cmpd="sng" algn="ctr">
            <a:solidFill>
              <a:srgbClr val="FF0000"/>
            </a:solidFill>
            <a:prstDash val="solid"/>
            <a:round/>
            <a:headEnd type="none" w="med" len="med"/>
            <a:tailEnd type="arrow" w="med" len="med"/>
          </a:ln>
        </p:spPr>
      </p:cxnSp>
      <p:sp>
        <p:nvSpPr>
          <p:cNvPr id="20" name="右箭头 19"/>
          <p:cNvSpPr/>
          <p:nvPr/>
        </p:nvSpPr>
        <p:spPr>
          <a:xfrm>
            <a:off x="3487420" y="4237990"/>
            <a:ext cx="1552575" cy="269875"/>
          </a:xfrm>
          <a:prstGeom prst="rightArrow">
            <a:avLst/>
          </a:prstGeom>
          <a:solidFill>
            <a:schemeClr val="tx2"/>
          </a:solidFill>
          <a:ln w="15875" cap="flat" cmpd="sng" algn="ctr">
            <a:solidFill>
              <a:schemeClr val="tx2"/>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endParaRPr kumimoji="1" lang="en-US" altLang="zh-TW" sz="1800" b="1" i="0" u="none" strike="noStrike" cap="none" normalizeH="0" baseline="0" smtClean="0">
              <a:ln>
                <a:noFill/>
              </a:ln>
              <a:solidFill>
                <a:schemeClr val="tx1"/>
              </a:solidFill>
              <a:effectLst/>
              <a:latin typeface="Arial" panose="020B0604020202090204" pitchFamily="34" charset="0"/>
              <a:ea typeface="PMingLiU" pitchFamily="18" charset="-12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latin typeface="Times New Roman" panose="02020503050405090304" pitchFamily="18" charset="0"/>
                <a:cs typeface="Times New Roman" panose="02020503050405090304" pitchFamily="18" charset="0"/>
              </a:rPr>
              <a:t>Outline</a:t>
            </a:r>
            <a:endParaRPr lang="zh-TW" altLang="en-US" dirty="0">
              <a:latin typeface="Times New Roman" panose="02020503050405090304" pitchFamily="18" charset="0"/>
              <a:cs typeface="Times New Roman" panose="02020503050405090304" pitchFamily="18" charset="0"/>
            </a:endParaRPr>
          </a:p>
        </p:txBody>
      </p:sp>
      <p:sp>
        <p:nvSpPr>
          <p:cNvPr id="3" name="內容版面配置區 2"/>
          <p:cNvSpPr>
            <a:spLocks noGrp="1"/>
          </p:cNvSpPr>
          <p:nvPr>
            <p:ph idx="1"/>
          </p:nvPr>
        </p:nvSpPr>
        <p:spPr>
          <a:xfrm>
            <a:off x="1311423" y="1125537"/>
            <a:ext cx="10270977" cy="4806633"/>
          </a:xfrm>
        </p:spPr>
        <p:txBody>
          <a:bodyPr>
            <a:noAutofit/>
          </a:bodyPr>
          <a:lstStyle/>
          <a:p>
            <a:r>
              <a:rPr lang="en-US" altLang="zh-CN" sz="2935" dirty="0">
                <a:solidFill>
                  <a:schemeClr val="tx1"/>
                </a:solidFill>
                <a:latin typeface="Times New Roman" panose="02020503050405090304" pitchFamily="18" charset="0"/>
                <a:cs typeface="Times New Roman" panose="02020503050405090304" pitchFamily="18" charset="0"/>
              </a:rPr>
              <a:t>Introduction</a:t>
            </a:r>
            <a:r>
              <a:rPr lang="en-US" altLang="zh-CN" sz="2935" dirty="0">
                <a:latin typeface="Times New Roman" panose="02020503050405090304" pitchFamily="18" charset="0"/>
                <a:cs typeface="Times New Roman" panose="02020503050405090304" pitchFamily="18" charset="0"/>
              </a:rPr>
              <a:t> </a:t>
            </a:r>
            <a:endParaRPr lang="en-US" altLang="zh-TW" sz="2935" dirty="0">
              <a:latin typeface="Times New Roman" panose="02020503050405090304" pitchFamily="18" charset="0"/>
              <a:cs typeface="Times New Roman" panose="02020503050405090304" pitchFamily="18" charset="0"/>
            </a:endParaRPr>
          </a:p>
          <a:p>
            <a:r>
              <a:rPr lang="en-US" altLang="zh-CN" sz="2935" dirty="0">
                <a:solidFill>
                  <a:srgbClr val="FF0000"/>
                </a:solidFill>
                <a:latin typeface="Times New Roman" panose="02020503050405090304" pitchFamily="18" charset="0"/>
                <a:cs typeface="Times New Roman" panose="02020503050405090304" pitchFamily="18" charset="0"/>
              </a:rPr>
              <a:t>Background &amp; Overview</a:t>
            </a:r>
            <a:endParaRPr lang="en-US" altLang="zh-CN" sz="2935" dirty="0">
              <a:solidFill>
                <a:srgbClr val="FF0000"/>
              </a:solidFill>
              <a:latin typeface="Times New Roman" panose="02020503050405090304" pitchFamily="18" charset="0"/>
              <a:cs typeface="Times New Roman" panose="02020503050405090304" pitchFamily="18" charset="0"/>
            </a:endParaRPr>
          </a:p>
          <a:p>
            <a:pPr lvl="1"/>
            <a:r>
              <a:rPr lang="en-US" altLang="zh-CN" sz="2510" dirty="0">
                <a:latin typeface="Times New Roman" panose="02020503050405090304" pitchFamily="18" charset="0"/>
                <a:cs typeface="Times New Roman" panose="02020503050405090304" pitchFamily="18" charset="0"/>
              </a:rPr>
              <a:t>OmniParser </a:t>
            </a:r>
            <a:endParaRPr lang="en-US" altLang="zh-CN" sz="2510"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Related Work: Risk Analysis</a:t>
            </a:r>
            <a:endParaRPr lang="en-US" altLang="zh-CN" sz="2935"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External Threats </a:t>
            </a:r>
            <a:endParaRPr lang="en-US" altLang="zh-CN" sz="1995"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Internal Risks </a:t>
            </a:r>
            <a:endParaRPr lang="en-US" altLang="zh-CN" sz="2400"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Defense Assumption</a:t>
            </a:r>
            <a:r>
              <a:rPr lang="en-US" altLang="zh-CN" sz="2935" dirty="0">
                <a:solidFill>
                  <a:srgbClr val="FF0000"/>
                </a:solidFill>
                <a:latin typeface="Times New Roman" panose="02020503050405090304" pitchFamily="18" charset="0"/>
                <a:cs typeface="Times New Roman" panose="02020503050405090304" pitchFamily="18" charset="0"/>
                <a:sym typeface="+mn-ea"/>
              </a:rPr>
              <a:t> </a:t>
            </a:r>
            <a:endParaRPr lang="en-US" altLang="zh-CN" sz="2935" dirty="0">
              <a:solidFill>
                <a:srgbClr val="FF0000"/>
              </a:solidFill>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sym typeface="+mn-ea"/>
              </a:rPr>
              <a:t>Conclusion</a:t>
            </a:r>
            <a:endParaRPr lang="en-US" altLang="zh-CN" sz="2935" dirty="0">
              <a:solidFill>
                <a:srgbClr val="FF0000"/>
              </a:solidFill>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References</a:t>
            </a:r>
            <a:endParaRPr lang="en-US" altLang="zh-CN"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Q &amp; A </a:t>
            </a:r>
            <a:endParaRPr lang="en-US" altLang="zh-CN" sz="2935" dirty="0">
              <a:latin typeface="Times New Roman" panose="02020503050405090304" pitchFamily="18" charset="0"/>
              <a:cs typeface="Times New Roman" panose="02020503050405090304" pitchFamily="18" charset="0"/>
            </a:endParaRPr>
          </a:p>
          <a:p>
            <a:pPr lvl="6"/>
            <a:endParaRPr lang="en-US" altLang="zh-CN" sz="1200"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sz="4000" dirty="0">
                <a:latin typeface="Times New Roman" panose="02020503050405090304" pitchFamily="18" charset="0"/>
                <a:ea typeface="Calibri" pitchFamily="34" charset="0"/>
                <a:cs typeface="Times New Roman" panose="02020503050405090304" pitchFamily="18" charset="0"/>
              </a:rPr>
              <a:t>Background – </a:t>
            </a:r>
            <a:r>
              <a:rPr lang="en-US" altLang="zh-CN" sz="4000" dirty="0">
                <a:latin typeface="Times New Roman" panose="02020503050405090304" pitchFamily="18" charset="0"/>
                <a:ea typeface="Calibri" pitchFamily="34" charset="0"/>
                <a:cs typeface="Times New Roman" panose="02020503050405090304" pitchFamily="18" charset="0"/>
              </a:rPr>
              <a:t>OmniParser (1/3)</a:t>
            </a:r>
            <a:endParaRPr lang="en-US" altLang="zh-CN" sz="4000" dirty="0">
              <a:latin typeface="Times New Roman" panose="02020503050405090304" pitchFamily="18" charset="0"/>
              <a:ea typeface="Calibri" pitchFamily="34" charset="0"/>
              <a:cs typeface="Times New Roman" panose="02020503050405090304" pitchFamily="18"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6" name="文本框 5"/>
          <p:cNvSpPr txBox="1"/>
          <p:nvPr/>
        </p:nvSpPr>
        <p:spPr>
          <a:xfrm>
            <a:off x="-120015" y="1239838"/>
            <a:ext cx="11812270" cy="1477010"/>
          </a:xfrm>
          <a:prstGeom prst="rect">
            <a:avLst/>
          </a:prstGeom>
          <a:noFill/>
        </p:spPr>
        <p:txBody>
          <a:bodyPr wrap="square" lIns="0" tIns="0" rIns="0" bIns="0" rtlCol="0" anchor="ctr" anchorCtr="1">
            <a:spAutoFit/>
          </a:bodyPr>
          <a:p>
            <a:pPr marL="457200" indent="-457200" algn="l">
              <a:buClr>
                <a:srgbClr val="0070C0"/>
              </a:buClr>
              <a:buFont typeface="Wingdings" panose="05000000000000000000" charset="0"/>
              <a:buChar char=""/>
            </a:pPr>
            <a:r>
              <a:rPr lang="en-US" altLang="zh-CN" sz="3200" dirty="0" smtClean="0">
                <a:solidFill>
                  <a:schemeClr val="tx1"/>
                </a:solidFill>
                <a:ea typeface="標楷體" pitchFamily="65" charset="-120"/>
                <a:cs typeface="Calibri" pitchFamily="34" charset="0"/>
              </a:rPr>
              <a:t>What is the latest OS Agent architecture?</a:t>
            </a:r>
            <a:endParaRPr lang="en-US" altLang="zh-CN" sz="3200" dirty="0" smtClean="0">
              <a:solidFill>
                <a:schemeClr val="tx1"/>
              </a:solidFill>
              <a:ea typeface="標楷體" pitchFamily="65" charset="-120"/>
              <a:cs typeface="Calibri" pitchFamily="34" charset="0"/>
            </a:endParaRPr>
          </a:p>
          <a:p>
            <a:pPr marL="457200" indent="-457200" algn="l">
              <a:buClr>
                <a:srgbClr val="0070C0"/>
              </a:buClr>
              <a:buFont typeface="Wingdings" panose="05000000000000000000" charset="0"/>
              <a:buChar char=""/>
            </a:pPr>
            <a:r>
              <a:rPr lang="en-US" altLang="zh-CN" sz="3200" dirty="0" smtClean="0">
                <a:solidFill>
                  <a:schemeClr val="tx1"/>
                </a:solidFill>
                <a:ea typeface="標楷體" pitchFamily="65" charset="-120"/>
                <a:cs typeface="Calibri" pitchFamily="34" charset="0"/>
              </a:rPr>
              <a:t>We refer the </a:t>
            </a:r>
            <a:r>
              <a:rPr lang="en-US" altLang="zh-CN" sz="3200" dirty="0" smtClean="0">
                <a:solidFill>
                  <a:schemeClr val="tx1"/>
                </a:solidFill>
                <a:ea typeface="標楷體" pitchFamily="65" charset="-120"/>
                <a:cs typeface="Calibri" pitchFamily="34" charset="0"/>
              </a:rPr>
              <a:t>technical report from microsoft </a:t>
            </a:r>
            <a:endParaRPr lang="en-US" altLang="zh-CN" sz="3200" dirty="0" smtClean="0">
              <a:solidFill>
                <a:schemeClr val="tx1"/>
              </a:solidFill>
              <a:ea typeface="標楷體" pitchFamily="65" charset="-120"/>
              <a:cs typeface="Calibri" pitchFamily="34" charset="0"/>
            </a:endParaRPr>
          </a:p>
          <a:p>
            <a:pPr indent="457200" algn="l">
              <a:buClr>
                <a:srgbClr val="0070C0"/>
              </a:buClr>
              <a:buFont typeface="PingFang SC" panose="020B0400000000000000" charset="-122"/>
              <a:buNone/>
            </a:pPr>
            <a:r>
              <a:rPr lang="zh-CN" altLang="en-US" sz="3200" dirty="0" smtClean="0">
                <a:solidFill>
                  <a:srgbClr val="00B0F0"/>
                </a:solidFill>
                <a:ea typeface="標楷體" pitchFamily="65" charset="-120"/>
                <a:cs typeface="Calibri" pitchFamily="34" charset="0"/>
              </a:rPr>
              <a:t>“</a:t>
            </a:r>
            <a:r>
              <a:rPr lang="en-US" altLang="zh-CN" sz="3200" dirty="0" smtClean="0">
                <a:solidFill>
                  <a:srgbClr val="00B0F0"/>
                </a:solidFill>
                <a:ea typeface="標楷體" pitchFamily="65" charset="-120"/>
                <a:cs typeface="Calibri" pitchFamily="34" charset="0"/>
              </a:rPr>
              <a:t>Paper: OmniParser for Pure Vision Based GUI Agent</a:t>
            </a:r>
            <a:r>
              <a:rPr lang="zh-CN" altLang="en-US" sz="3200" dirty="0" smtClean="0">
                <a:solidFill>
                  <a:srgbClr val="00B0F0"/>
                </a:solidFill>
                <a:ea typeface="標楷體" pitchFamily="65" charset="-120"/>
                <a:cs typeface="Calibri" pitchFamily="34" charset="0"/>
              </a:rPr>
              <a:t>”</a:t>
            </a:r>
            <a:endParaRPr lang="zh-CN" altLang="en-US" sz="3200" dirty="0" smtClean="0">
              <a:solidFill>
                <a:srgbClr val="00B0F0"/>
              </a:solidFill>
              <a:ea typeface="標楷體" pitchFamily="65" charset="-120"/>
              <a:cs typeface="Calibri" pitchFamily="34" charset="0"/>
            </a:endParaRPr>
          </a:p>
        </p:txBody>
      </p:sp>
      <p:sp>
        <p:nvSpPr>
          <p:cNvPr id="8" name="文本框 7"/>
          <p:cNvSpPr txBox="1"/>
          <p:nvPr/>
        </p:nvSpPr>
        <p:spPr>
          <a:xfrm>
            <a:off x="220980" y="2888615"/>
            <a:ext cx="11130915" cy="3784600"/>
          </a:xfrm>
          <a:prstGeom prst="rect">
            <a:avLst/>
          </a:prstGeom>
          <a:noFill/>
        </p:spPr>
        <p:txBody>
          <a:bodyPr wrap="square" rtlCol="0" anchor="t" anchorCtr="1">
            <a:spAutoFit/>
          </a:bodyPr>
          <a:p>
            <a:pPr marL="342900" lvl="0" indent="-342900" algn="l">
              <a:buClr>
                <a:srgbClr val="0070C0"/>
              </a:buClr>
              <a:buFont typeface="Wingdings" panose="05000000000000000000" charset="0"/>
              <a:buChar char=""/>
            </a:pPr>
            <a:r>
              <a:rPr lang="en-US" altLang="zh-CN" sz="2000" dirty="0" smtClean="0">
                <a:ea typeface="標楷體" pitchFamily="65" charset="-120"/>
                <a:cs typeface="Calibri" pitchFamily="34" charset="0"/>
                <a:sym typeface="+mn-ea"/>
              </a:rPr>
              <a:t>Motivation: Previous solutions relied on HTML trees to obtain interactive elements, which could not be applied to native desktop software or pure image scenarios.</a:t>
            </a:r>
            <a:endParaRPr lang="en-US" altLang="zh-CN" sz="2000" dirty="0" smtClean="0">
              <a:ea typeface="標楷體" pitchFamily="65" charset="-120"/>
              <a:cs typeface="Calibri" pitchFamily="34" charset="0"/>
              <a:sym typeface="+mn-ea"/>
            </a:endParaRPr>
          </a:p>
          <a:p>
            <a:pPr marL="342900" lvl="0" indent="-342900" algn="l">
              <a:buClr>
                <a:srgbClr val="0070C0"/>
              </a:buClr>
              <a:buFont typeface="Wingdings" panose="05000000000000000000" charset="0"/>
              <a:buChar char=""/>
            </a:pPr>
            <a:endParaRPr lang="en-US" altLang="zh-CN" sz="2000" dirty="0" smtClean="0">
              <a:ea typeface="標楷體" pitchFamily="65" charset="-120"/>
              <a:cs typeface="Calibri" pitchFamily="34" charset="0"/>
              <a:sym typeface="+mn-ea"/>
            </a:endParaRPr>
          </a:p>
          <a:p>
            <a:pPr marL="342900" lvl="0" indent="-342900" algn="l">
              <a:buClr>
                <a:srgbClr val="0070C0"/>
              </a:buClr>
              <a:buFont typeface="Wingdings" panose="05000000000000000000" charset="0"/>
              <a:buChar char=""/>
            </a:pPr>
            <a:r>
              <a:rPr lang="en-US" altLang="zh-CN" sz="2000" dirty="0" smtClean="0">
                <a:ea typeface="標楷體" pitchFamily="65" charset="-120"/>
                <a:cs typeface="Calibri" pitchFamily="34" charset="0"/>
                <a:sym typeface="+mn-ea"/>
              </a:rPr>
              <a:t>Design:</a:t>
            </a:r>
            <a:endParaRPr lang="en-US" altLang="zh-CN" sz="2000" dirty="0" smtClean="0">
              <a:ea typeface="標楷體" pitchFamily="65" charset="-120"/>
              <a:cs typeface="Calibri" pitchFamily="34" charset="0"/>
              <a:sym typeface="+mn-ea"/>
            </a:endParaRPr>
          </a:p>
          <a:p>
            <a:pPr marL="800100" lvl="1" indent="-342900" algn="l">
              <a:buClr>
                <a:srgbClr val="0070C0"/>
              </a:buClr>
              <a:buFont typeface="PingFang SC" panose="020B0400000000000000" charset="-122"/>
              <a:buChar char="-"/>
            </a:pPr>
            <a:r>
              <a:rPr lang="en-US" altLang="zh-CN" sz="2000" dirty="0" smtClean="0">
                <a:ea typeface="標楷體" pitchFamily="65" charset="-120"/>
                <a:cs typeface="Calibri" pitchFamily="34" charset="0"/>
                <a:sym typeface="+mn-ea"/>
              </a:rPr>
              <a:t>Use pure vision approach that bypasses dependency on HTML or system-level view hierarchies</a:t>
            </a:r>
            <a:endParaRPr lang="en-US" altLang="zh-CN" sz="2000" dirty="0" smtClean="0">
              <a:ea typeface="標楷體" pitchFamily="65" charset="-120"/>
              <a:cs typeface="Calibri" pitchFamily="34" charset="0"/>
              <a:sym typeface="+mn-ea"/>
            </a:endParaRPr>
          </a:p>
          <a:p>
            <a:pPr marL="800100" lvl="1" indent="-342900" algn="l">
              <a:buClr>
                <a:srgbClr val="0070C0"/>
              </a:buClr>
              <a:buFont typeface="PingFang SC" panose="020B0400000000000000" charset="-122"/>
              <a:buChar char="-"/>
            </a:pPr>
            <a:r>
              <a:rPr lang="en-US" altLang="zh-CN" sz="2000" dirty="0" smtClean="0">
                <a:ea typeface="標楷體" pitchFamily="65" charset="-120"/>
                <a:cs typeface="Calibri" pitchFamily="34" charset="0"/>
                <a:sym typeface="+mn-ea"/>
              </a:rPr>
              <a:t>Task Decoupling: OmniParser first utilizes fine-tuned small expert models to extract structured information from the UI, which is then fed into a powerful model (e.g., GPT-4V) for agent action prediction.</a:t>
            </a:r>
            <a:endParaRPr lang="en-US" altLang="zh-CN" sz="2000" dirty="0" smtClean="0">
              <a:ea typeface="標楷體" pitchFamily="65" charset="-120"/>
              <a:cs typeface="Calibri" pitchFamily="34" charset="0"/>
              <a:sym typeface="+mn-ea"/>
            </a:endParaRPr>
          </a:p>
          <a:p>
            <a:pPr marL="800100" lvl="1" indent="-342900" algn="l">
              <a:buClr>
                <a:srgbClr val="0070C0"/>
              </a:buClr>
              <a:buFont typeface="Wingdings" panose="05000000000000000000" charset="0"/>
              <a:buChar char=""/>
            </a:pPr>
            <a:endParaRPr lang="en-US" altLang="zh-CN" sz="2000" dirty="0" smtClean="0">
              <a:ea typeface="標楷體" pitchFamily="65" charset="-120"/>
              <a:cs typeface="Calibri" pitchFamily="34" charset="0"/>
              <a:sym typeface="+mn-ea"/>
            </a:endParaRPr>
          </a:p>
          <a:p>
            <a:pPr marL="342900" lvl="0" indent="-342900" algn="l">
              <a:buClr>
                <a:srgbClr val="0070C0"/>
              </a:buClr>
              <a:buFont typeface="Wingdings" panose="05000000000000000000" charset="0"/>
              <a:buChar char=""/>
            </a:pPr>
            <a:endParaRPr lang="en-US" altLang="zh-CN" sz="2000" dirty="0" smtClean="0">
              <a:ea typeface="標楷體" pitchFamily="65" charset="-120"/>
              <a:cs typeface="Calibri" pitchFamily="34" charset="0"/>
              <a:sym typeface="+mn-ea"/>
            </a:endParaRPr>
          </a:p>
          <a:p>
            <a:pPr marL="342900" lvl="0" indent="-342900" algn="l">
              <a:buFont typeface="Wingdings" panose="05000000000000000000" charset="0"/>
              <a:buChar char=""/>
            </a:pPr>
            <a:endParaRPr lang="en-US" altLang="zh-CN" sz="2000" dirty="0" smtClean="0">
              <a:ea typeface="標楷體" pitchFamily="65" charset="-120"/>
              <a:cs typeface="Calibri" pitchFamily="34"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sz="4000" dirty="0">
                <a:latin typeface="Times New Roman" panose="02020503050405090304" pitchFamily="18" charset="0"/>
                <a:ea typeface="Calibri" pitchFamily="34" charset="0"/>
                <a:cs typeface="Times New Roman" panose="02020503050405090304" pitchFamily="18" charset="0"/>
              </a:rPr>
              <a:t>Background – </a:t>
            </a:r>
            <a:r>
              <a:rPr lang="en-US" altLang="zh-CN" sz="4000" dirty="0">
                <a:latin typeface="Times New Roman" panose="02020503050405090304" pitchFamily="18" charset="0"/>
                <a:ea typeface="Calibri" pitchFamily="34" charset="0"/>
                <a:cs typeface="Times New Roman" panose="02020503050405090304" pitchFamily="18" charset="0"/>
              </a:rPr>
              <a:t>OmniParser (2/3)</a:t>
            </a:r>
            <a:endParaRPr lang="en-US" altLang="zh-CN" sz="4000" dirty="0">
              <a:latin typeface="Times New Roman" panose="02020503050405090304" pitchFamily="18" charset="0"/>
              <a:ea typeface="Calibri" pitchFamily="34" charset="0"/>
              <a:cs typeface="Times New Roman" panose="02020503050405090304" pitchFamily="18"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pic>
        <p:nvPicPr>
          <p:cNvPr id="5" name="图片 4" descr="flow_merged0"/>
          <p:cNvPicPr>
            <a:picLocks noChangeAspect="1"/>
          </p:cNvPicPr>
          <p:nvPr/>
        </p:nvPicPr>
        <p:blipFill>
          <a:blip r:embed="rId1"/>
          <a:srcRect r="49401"/>
          <a:stretch>
            <a:fillRect/>
          </a:stretch>
        </p:blipFill>
        <p:spPr>
          <a:xfrm>
            <a:off x="6830060" y="1096010"/>
            <a:ext cx="5203825" cy="4369435"/>
          </a:xfrm>
          <a:prstGeom prst="rect">
            <a:avLst/>
          </a:prstGeom>
        </p:spPr>
      </p:pic>
      <p:sp>
        <p:nvSpPr>
          <p:cNvPr id="6" name="文本框 5"/>
          <p:cNvSpPr txBox="1"/>
          <p:nvPr/>
        </p:nvSpPr>
        <p:spPr>
          <a:xfrm>
            <a:off x="6917690" y="5493385"/>
            <a:ext cx="5203825" cy="645160"/>
          </a:xfrm>
          <a:prstGeom prst="rect">
            <a:avLst/>
          </a:prstGeom>
          <a:noFill/>
        </p:spPr>
        <p:txBody>
          <a:bodyPr wrap="square" rtlCol="0" anchor="ctr" anchorCtr="1">
            <a:spAutoFit/>
          </a:bodyPr>
          <a:p>
            <a:r>
              <a:rPr lang="en-US" altLang="zh-CN" dirty="0" smtClean="0">
                <a:ea typeface="標楷體" pitchFamily="65" charset="-120"/>
                <a:cs typeface="Calibri" pitchFamily="34" charset="0"/>
              </a:rPr>
              <a:t>Fig.1 Examples of </a:t>
            </a:r>
            <a:r>
              <a:rPr lang="en-US" altLang="zh-CN" dirty="0" smtClean="0">
                <a:solidFill>
                  <a:srgbClr val="00B0F0"/>
                </a:solidFill>
                <a:ea typeface="標楷體" pitchFamily="65" charset="-120"/>
                <a:cs typeface="Calibri" pitchFamily="34" charset="0"/>
              </a:rPr>
              <a:t>parsed screenshot image</a:t>
            </a:r>
            <a:r>
              <a:rPr lang="en-US" altLang="zh-CN" dirty="0" smtClean="0">
                <a:ea typeface="標楷體" pitchFamily="65" charset="-120"/>
                <a:cs typeface="Calibri" pitchFamily="34" charset="0"/>
              </a:rPr>
              <a:t> and </a:t>
            </a:r>
            <a:r>
              <a:rPr lang="en-US" altLang="zh-CN" dirty="0" smtClean="0">
                <a:solidFill>
                  <a:srgbClr val="00B0F0"/>
                </a:solidFill>
                <a:ea typeface="標楷體" pitchFamily="65" charset="-120"/>
                <a:cs typeface="Calibri" pitchFamily="34" charset="0"/>
              </a:rPr>
              <a:t>local semantics</a:t>
            </a:r>
            <a:r>
              <a:rPr lang="en-US" altLang="zh-CN" dirty="0" smtClean="0">
                <a:ea typeface="標楷體" pitchFamily="65" charset="-120"/>
                <a:cs typeface="Calibri" pitchFamily="34" charset="0"/>
              </a:rPr>
              <a:t> by OmniParser.</a:t>
            </a:r>
            <a:endParaRPr lang="en-US" altLang="zh-CN" dirty="0" smtClean="0">
              <a:ea typeface="標楷體" pitchFamily="65" charset="-120"/>
              <a:cs typeface="Calibri" pitchFamily="34" charset="0"/>
            </a:endParaRPr>
          </a:p>
        </p:txBody>
      </p:sp>
      <p:sp>
        <p:nvSpPr>
          <p:cNvPr id="7" name="文本框 6"/>
          <p:cNvSpPr txBox="1"/>
          <p:nvPr/>
        </p:nvSpPr>
        <p:spPr>
          <a:xfrm>
            <a:off x="278765" y="1217295"/>
            <a:ext cx="6318250" cy="4399915"/>
          </a:xfrm>
          <a:prstGeom prst="rect">
            <a:avLst/>
          </a:prstGeom>
          <a:noFill/>
        </p:spPr>
        <p:txBody>
          <a:bodyPr wrap="square" rtlCol="0" anchor="t" anchorCtr="0">
            <a:spAutoFit/>
          </a:bodyPr>
          <a:p>
            <a:pPr marL="342900" indent="-342900" algn="l">
              <a:buClr>
                <a:srgbClr val="0070C0"/>
              </a:buClr>
              <a:buFont typeface="Wingdings" panose="05000000000000000000" charset="0"/>
              <a:buChar char=""/>
            </a:pPr>
            <a:r>
              <a:rPr lang="en-US" altLang="zh-CN" sz="2000" dirty="0" smtClean="0">
                <a:ea typeface="標楷體" pitchFamily="65" charset="-120"/>
                <a:cs typeface="Calibri" pitchFamily="34" charset="0"/>
              </a:rPr>
              <a:t>Pipeline: </a:t>
            </a:r>
            <a:endParaRPr lang="en-US" altLang="zh-CN" sz="2000" dirty="0" smtClean="0">
              <a:ea typeface="標楷體" pitchFamily="65" charset="-120"/>
              <a:cs typeface="Calibri" pitchFamily="34" charset="0"/>
            </a:endParaRPr>
          </a:p>
          <a:p>
            <a:pPr marL="342900" indent="-342900" algn="l">
              <a:buClr>
                <a:srgbClr val="0070C0"/>
              </a:buClr>
              <a:buFont typeface="Wingdings" panose="05000000000000000000" charset="0"/>
              <a:buChar char=""/>
            </a:pPr>
            <a:endParaRPr lang="en-US" altLang="zh-CN" sz="2000" dirty="0" smtClean="0">
              <a:ea typeface="標楷體" pitchFamily="65" charset="-120"/>
              <a:cs typeface="Calibri" pitchFamily="34" charset="0"/>
            </a:endParaRPr>
          </a:p>
          <a:p>
            <a:pPr marL="800100" lvl="1" indent="-342900" algn="l">
              <a:buClr>
                <a:srgbClr val="0070C0"/>
              </a:buClr>
              <a:buFont typeface="PingFang SC" panose="020B0400000000000000" charset="-122"/>
              <a:buChar char="-"/>
            </a:pPr>
            <a:r>
              <a:rPr lang="en-US" altLang="zh-CN" sz="2000" dirty="0" smtClean="0">
                <a:ea typeface="標楷體" pitchFamily="65" charset="-120"/>
                <a:cs typeface="Calibri" pitchFamily="34" charset="0"/>
              </a:rPr>
              <a:t>1. Capture screen shot</a:t>
            </a:r>
            <a:endParaRPr lang="en-US" altLang="zh-CN" sz="2000" dirty="0" smtClean="0">
              <a:ea typeface="標楷體" pitchFamily="65" charset="-120"/>
              <a:cs typeface="Calibri" pitchFamily="34" charset="0"/>
            </a:endParaRPr>
          </a:p>
          <a:p>
            <a:pPr marL="800100" lvl="1" indent="-342900" algn="l">
              <a:buClr>
                <a:srgbClr val="0070C0"/>
              </a:buClr>
              <a:buFont typeface="PingFang SC" panose="020B0400000000000000" charset="-122"/>
              <a:buChar char="-"/>
            </a:pPr>
            <a:endParaRPr lang="en-US" altLang="zh-CN" sz="2000" dirty="0" smtClean="0">
              <a:ea typeface="標楷體" pitchFamily="65" charset="-120"/>
              <a:cs typeface="Calibri" pitchFamily="34" charset="0"/>
            </a:endParaRPr>
          </a:p>
          <a:p>
            <a:pPr marL="800100" lvl="1" indent="-342900" algn="l">
              <a:buClr>
                <a:srgbClr val="0070C0"/>
              </a:buClr>
              <a:buFont typeface="PingFang SC" panose="020B0400000000000000" charset="-122"/>
              <a:buChar char="-"/>
            </a:pPr>
            <a:r>
              <a:rPr lang="en-US" altLang="zh-CN" sz="2000" dirty="0" smtClean="0">
                <a:ea typeface="標楷體" pitchFamily="65" charset="-120"/>
                <a:cs typeface="Calibri" pitchFamily="34" charset="0"/>
              </a:rPr>
              <a:t>2. Interactable Region Detection(with YOLOv8)</a:t>
            </a:r>
            <a:endParaRPr lang="en-US" altLang="zh-CN" sz="2000" dirty="0" smtClean="0">
              <a:ea typeface="標楷體" pitchFamily="65" charset="-120"/>
              <a:cs typeface="Calibri" pitchFamily="34" charset="0"/>
            </a:endParaRPr>
          </a:p>
          <a:p>
            <a:pPr marL="800100" lvl="1" indent="-342900" algn="l">
              <a:buClr>
                <a:srgbClr val="0070C0"/>
              </a:buClr>
              <a:buFont typeface="PingFang SC" panose="020B0400000000000000" charset="-122"/>
              <a:buChar char="-"/>
            </a:pPr>
            <a:endParaRPr lang="en-US" altLang="zh-CN" sz="2000" dirty="0" smtClean="0">
              <a:ea typeface="標楷體" pitchFamily="65" charset="-120"/>
              <a:cs typeface="Calibri" pitchFamily="34" charset="0"/>
            </a:endParaRPr>
          </a:p>
          <a:p>
            <a:pPr marL="800100" lvl="1" indent="-342900" algn="l">
              <a:buClr>
                <a:srgbClr val="0070C0"/>
              </a:buClr>
              <a:buFont typeface="PingFang SC" panose="020B0400000000000000" charset="-122"/>
              <a:buChar char="-"/>
            </a:pPr>
            <a:r>
              <a:rPr lang="en-US" altLang="zh-CN" sz="2000" dirty="0" smtClean="0">
                <a:ea typeface="標楷體" pitchFamily="65" charset="-120"/>
                <a:cs typeface="Calibri" pitchFamily="34" charset="0"/>
              </a:rPr>
              <a:t>3. Text Region Detection(with OCR)</a:t>
            </a:r>
            <a:endParaRPr lang="en-US" altLang="zh-CN" sz="2000" dirty="0" smtClean="0">
              <a:ea typeface="標楷體" pitchFamily="65" charset="-120"/>
              <a:cs typeface="Calibri" pitchFamily="34" charset="0"/>
            </a:endParaRPr>
          </a:p>
          <a:p>
            <a:pPr marL="800100" lvl="1" indent="-342900" algn="l">
              <a:buClr>
                <a:srgbClr val="0070C0"/>
              </a:buClr>
              <a:buFont typeface="PingFang SC" panose="020B0400000000000000" charset="-122"/>
              <a:buChar char="-"/>
            </a:pPr>
            <a:endParaRPr lang="en-US" altLang="zh-CN" sz="2000" dirty="0" smtClean="0">
              <a:ea typeface="標楷體" pitchFamily="65" charset="-120"/>
              <a:cs typeface="Calibri" pitchFamily="34" charset="0"/>
            </a:endParaRPr>
          </a:p>
          <a:p>
            <a:pPr marL="800100" lvl="1" indent="-342900" algn="l">
              <a:buClr>
                <a:srgbClr val="0070C0"/>
              </a:buClr>
              <a:buFont typeface="PingFang SC" panose="020B0400000000000000" charset="-122"/>
              <a:buChar char="-"/>
            </a:pPr>
            <a:r>
              <a:rPr lang="en-US" altLang="zh-CN" sz="2000" dirty="0" smtClean="0">
                <a:ea typeface="標楷體" pitchFamily="65" charset="-120"/>
                <a:cs typeface="Calibri" pitchFamily="34" charset="0"/>
              </a:rPr>
              <a:t>4. Local Semantics of Functionality(with BLIP-2)</a:t>
            </a:r>
            <a:endParaRPr lang="en-US" altLang="zh-CN" sz="2000" dirty="0" smtClean="0">
              <a:ea typeface="標楷體" pitchFamily="65" charset="-120"/>
              <a:cs typeface="Calibri" pitchFamily="34" charset="0"/>
            </a:endParaRPr>
          </a:p>
          <a:p>
            <a:pPr marL="800100" lvl="1" indent="-342900" algn="l">
              <a:buClr>
                <a:srgbClr val="0070C0"/>
              </a:buClr>
              <a:buFont typeface="PingFang SC" panose="020B0400000000000000" charset="-122"/>
              <a:buChar char="-"/>
            </a:pPr>
            <a:endParaRPr lang="en-US" altLang="zh-CN" sz="2000" dirty="0" smtClean="0">
              <a:ea typeface="標楷體" pitchFamily="65" charset="-120"/>
              <a:cs typeface="Calibri" pitchFamily="34" charset="0"/>
            </a:endParaRPr>
          </a:p>
          <a:p>
            <a:pPr marL="800100" lvl="1" indent="-342900" algn="l">
              <a:buClr>
                <a:srgbClr val="0070C0"/>
              </a:buClr>
              <a:buFont typeface="PingFang SC" panose="020B0400000000000000" charset="-122"/>
              <a:buChar char="-"/>
            </a:pPr>
            <a:r>
              <a:rPr lang="en-US" altLang="zh-CN" sz="2000" dirty="0" smtClean="0">
                <a:ea typeface="標楷體" pitchFamily="65" charset="-120"/>
                <a:cs typeface="Calibri" pitchFamily="34" charset="0"/>
              </a:rPr>
              <a:t>5. Output the </a:t>
            </a:r>
            <a:r>
              <a:rPr lang="en-US" altLang="zh-CN" sz="2000" dirty="0" smtClean="0">
                <a:solidFill>
                  <a:srgbClr val="00B0F0"/>
                </a:solidFill>
                <a:ea typeface="標楷體" pitchFamily="65" charset="-120"/>
                <a:cs typeface="Calibri" pitchFamily="34" charset="0"/>
              </a:rPr>
              <a:t>screen shot</a:t>
            </a:r>
            <a:r>
              <a:rPr lang="en-US" altLang="zh-CN" sz="2000" dirty="0" smtClean="0">
                <a:ea typeface="標楷體" pitchFamily="65" charset="-120"/>
                <a:cs typeface="Calibri" pitchFamily="34" charset="0"/>
              </a:rPr>
              <a:t> and </a:t>
            </a:r>
            <a:r>
              <a:rPr lang="en-US" altLang="zh-CN" sz="2000" dirty="0" smtClean="0">
                <a:solidFill>
                  <a:srgbClr val="00B0F0"/>
                </a:solidFill>
                <a:ea typeface="標楷體" pitchFamily="65" charset="-120"/>
                <a:cs typeface="Calibri" pitchFamily="34" charset="0"/>
                <a:sym typeface="+mn-ea"/>
              </a:rPr>
              <a:t>local semantics list</a:t>
            </a:r>
            <a:endParaRPr lang="en-US" altLang="zh-CN" sz="2000" dirty="0" smtClean="0">
              <a:solidFill>
                <a:srgbClr val="00B0F0"/>
              </a:solidFill>
              <a:ea typeface="標楷體" pitchFamily="65" charset="-120"/>
              <a:cs typeface="Calibri" pitchFamily="34" charset="0"/>
              <a:sym typeface="+mn-ea"/>
            </a:endParaRPr>
          </a:p>
          <a:p>
            <a:pPr marL="800100" lvl="1" indent="-342900" algn="l">
              <a:buClr>
                <a:srgbClr val="0070C0"/>
              </a:buClr>
              <a:buFont typeface="PingFang SC" panose="020B0400000000000000" charset="-122"/>
              <a:buChar char="-"/>
            </a:pPr>
            <a:endParaRPr lang="en-US" altLang="zh-CN" sz="2000" dirty="0" smtClean="0">
              <a:solidFill>
                <a:srgbClr val="00B0F0"/>
              </a:solidFill>
              <a:ea typeface="標楷體" pitchFamily="65" charset="-120"/>
              <a:cs typeface="Calibri" pitchFamily="34" charset="0"/>
              <a:sym typeface="+mn-ea"/>
            </a:endParaRPr>
          </a:p>
          <a:p>
            <a:pPr marL="800100" lvl="1" indent="-342900" algn="l">
              <a:buClr>
                <a:srgbClr val="0070C0"/>
              </a:buClr>
              <a:buFont typeface="PingFang SC" panose="020B0400000000000000" charset="-122"/>
              <a:buChar char="-"/>
            </a:pPr>
            <a:r>
              <a:rPr lang="en-US" altLang="zh-CN" sz="2000" dirty="0" smtClean="0">
                <a:solidFill>
                  <a:schemeClr val="bg1">
                    <a:lumMod val="50000"/>
                  </a:schemeClr>
                </a:solidFill>
                <a:ea typeface="標楷體" pitchFamily="65" charset="-120"/>
                <a:cs typeface="Calibri" pitchFamily="34" charset="0"/>
                <a:sym typeface="+mn-ea"/>
              </a:rPr>
              <a:t>(6. Use GPT-4V to predict actions)</a:t>
            </a:r>
            <a:endParaRPr lang="en-US" altLang="zh-CN" sz="2000" dirty="0" smtClean="0">
              <a:solidFill>
                <a:schemeClr val="bg1">
                  <a:lumMod val="50000"/>
                </a:schemeClr>
              </a:solidFill>
              <a:ea typeface="標楷體" pitchFamily="65" charset="-120"/>
              <a:cs typeface="Calibri" pitchFamily="34" charset="0"/>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sz="4000" dirty="0">
                <a:latin typeface="Times New Roman" panose="02020503050405090304" pitchFamily="18" charset="0"/>
                <a:ea typeface="Calibri" pitchFamily="34" charset="0"/>
                <a:cs typeface="Times New Roman" panose="02020503050405090304" pitchFamily="18" charset="0"/>
              </a:rPr>
              <a:t>Background – </a:t>
            </a:r>
            <a:r>
              <a:rPr lang="en-US" altLang="zh-CN" sz="4000" dirty="0">
                <a:latin typeface="Times New Roman" panose="02020503050405090304" pitchFamily="18" charset="0"/>
                <a:ea typeface="Calibri" pitchFamily="34" charset="0"/>
                <a:cs typeface="Times New Roman" panose="02020503050405090304" pitchFamily="18" charset="0"/>
              </a:rPr>
              <a:t>OmniParser (3/3)</a:t>
            </a:r>
            <a:endParaRPr lang="en-US" altLang="zh-CN" sz="4000" dirty="0">
              <a:latin typeface="Times New Roman" panose="02020503050405090304" pitchFamily="18" charset="0"/>
              <a:ea typeface="Calibri" pitchFamily="34" charset="0"/>
              <a:cs typeface="Times New Roman" panose="02020503050405090304" pitchFamily="18"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pic>
        <p:nvPicPr>
          <p:cNvPr id="3" name="图片 2" descr="aitw"/>
          <p:cNvPicPr>
            <a:picLocks noChangeAspect="1"/>
          </p:cNvPicPr>
          <p:nvPr/>
        </p:nvPicPr>
        <p:blipFill>
          <a:blip r:embed="rId1"/>
          <a:stretch>
            <a:fillRect/>
          </a:stretch>
        </p:blipFill>
        <p:spPr>
          <a:xfrm>
            <a:off x="412750" y="1409700"/>
            <a:ext cx="11182350" cy="1685925"/>
          </a:xfrm>
          <a:prstGeom prst="rect">
            <a:avLst/>
          </a:prstGeom>
        </p:spPr>
      </p:pic>
      <p:sp>
        <p:nvSpPr>
          <p:cNvPr id="7" name="文本框 6"/>
          <p:cNvSpPr txBox="1"/>
          <p:nvPr/>
        </p:nvSpPr>
        <p:spPr>
          <a:xfrm>
            <a:off x="0" y="3136900"/>
            <a:ext cx="12192000" cy="368300"/>
          </a:xfrm>
          <a:prstGeom prst="rect">
            <a:avLst/>
          </a:prstGeom>
        </p:spPr>
        <p:txBody>
          <a:bodyPr wrap="square">
            <a:spAutoFit/>
          </a:bodyPr>
          <a:p>
            <a:pPr algn="ctr"/>
            <a:r>
              <a:rPr lang="en-US" altLang="zh-TW"/>
              <a:t>Table.1 Comparison of different methods across various tasks and overall performance in AITW benchmark.</a:t>
            </a:r>
            <a:endParaRPr lang="en-US" altLang="zh-TW"/>
          </a:p>
        </p:txBody>
      </p:sp>
      <p:sp>
        <p:nvSpPr>
          <p:cNvPr id="8" name="文本框 7"/>
          <p:cNvSpPr txBox="1"/>
          <p:nvPr/>
        </p:nvSpPr>
        <p:spPr>
          <a:xfrm>
            <a:off x="412750" y="3926205"/>
            <a:ext cx="10723245" cy="1198880"/>
          </a:xfrm>
          <a:prstGeom prst="rect">
            <a:avLst/>
          </a:prstGeom>
          <a:noFill/>
        </p:spPr>
        <p:txBody>
          <a:bodyPr wrap="square" rtlCol="0" anchor="t" anchorCtr="1">
            <a:spAutoFit/>
          </a:bodyPr>
          <a:p>
            <a:pPr marL="342900" indent="-342900" algn="l">
              <a:buClr>
                <a:srgbClr val="0070C0"/>
              </a:buClr>
              <a:buFont typeface="Wingdings" panose="05000000000000000000" charset="0"/>
              <a:buChar char=""/>
            </a:pPr>
            <a:r>
              <a:rPr lang="en-US" altLang="zh-CN" sz="2400" dirty="0" smtClean="0">
                <a:solidFill>
                  <a:schemeClr val="tx1"/>
                </a:solidFill>
                <a:ea typeface="標楷體" pitchFamily="65" charset="-120"/>
                <a:cs typeface="Calibri" pitchFamily="34" charset="0"/>
                <a:sym typeface="+mn-ea"/>
              </a:rPr>
              <a:t>OmniParser consistently improves GPT-4V on </a:t>
            </a:r>
            <a:r>
              <a:rPr lang="en-US" altLang="zh-CN" sz="2400" dirty="0" smtClean="0">
                <a:solidFill>
                  <a:srgbClr val="FF0000"/>
                </a:solidFill>
                <a:ea typeface="標楷體" pitchFamily="65" charset="-120"/>
                <a:cs typeface="Calibri" pitchFamily="34" charset="0"/>
                <a:sym typeface="+mn-ea"/>
              </a:rPr>
              <a:t>AITW* </a:t>
            </a:r>
            <a:r>
              <a:rPr lang="en-US" altLang="zh-CN" sz="2400" dirty="0" smtClean="0">
                <a:solidFill>
                  <a:schemeClr val="tx1"/>
                </a:solidFill>
                <a:ea typeface="標楷體" pitchFamily="65" charset="-120"/>
                <a:cs typeface="Calibri" pitchFamily="34" charset="0"/>
                <a:sym typeface="+mn-ea"/>
              </a:rPr>
              <a:t>under an image-only setting, delivering the highest overall score and notable gains on complex mobile tasks.</a:t>
            </a:r>
            <a:endParaRPr lang="en-US" altLang="zh-CN" sz="2400" dirty="0" smtClean="0">
              <a:solidFill>
                <a:schemeClr val="tx1"/>
              </a:solidFill>
              <a:ea typeface="標楷體" pitchFamily="65" charset="-120"/>
              <a:cs typeface="Calibri" pitchFamily="34" charset="0"/>
              <a:sym typeface="+mn-ea"/>
            </a:endParaRPr>
          </a:p>
        </p:txBody>
      </p:sp>
      <p:sp>
        <p:nvSpPr>
          <p:cNvPr id="9" name="文本框 8"/>
          <p:cNvSpPr txBox="1"/>
          <p:nvPr/>
        </p:nvSpPr>
        <p:spPr>
          <a:xfrm>
            <a:off x="571500" y="5227320"/>
            <a:ext cx="9571355" cy="368300"/>
          </a:xfrm>
          <a:prstGeom prst="rect">
            <a:avLst/>
          </a:prstGeom>
          <a:noFill/>
        </p:spPr>
        <p:txBody>
          <a:bodyPr wrap="square" rtlCol="0" anchor="t" anchorCtr="0">
            <a:spAutoFit/>
          </a:bodyPr>
          <a:p>
            <a:r>
              <a:rPr lang="en-US" altLang="zh-CN" dirty="0" smtClean="0">
                <a:solidFill>
                  <a:srgbClr val="FF0000"/>
                </a:solidFill>
                <a:ea typeface="標楷體" pitchFamily="65" charset="-120"/>
                <a:cs typeface="Calibri" pitchFamily="34" charset="0"/>
              </a:rPr>
              <a:t>* AITW is a benchmark for Android Device Control </a:t>
            </a:r>
            <a:endParaRPr lang="en-US" altLang="zh-CN" dirty="0" smtClean="0">
              <a:solidFill>
                <a:srgbClr val="FF0000"/>
              </a:solidFill>
              <a:ea typeface="標楷體" pitchFamily="65" charset="-120"/>
              <a:cs typeface="Calibri"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latin typeface="Times New Roman" panose="02020503050405090304" pitchFamily="18" charset="0"/>
                <a:cs typeface="Times New Roman" panose="02020503050405090304" pitchFamily="18" charset="0"/>
              </a:rPr>
              <a:t>Outline</a:t>
            </a:r>
            <a:endParaRPr lang="zh-TW" altLang="en-US" dirty="0">
              <a:latin typeface="Times New Roman" panose="02020503050405090304" pitchFamily="18" charset="0"/>
              <a:cs typeface="Times New Roman" panose="02020503050405090304" pitchFamily="18" charset="0"/>
            </a:endParaRPr>
          </a:p>
        </p:txBody>
      </p:sp>
      <p:sp>
        <p:nvSpPr>
          <p:cNvPr id="3" name="內容版面配置區 2"/>
          <p:cNvSpPr>
            <a:spLocks noGrp="1"/>
          </p:cNvSpPr>
          <p:nvPr>
            <p:ph idx="1"/>
          </p:nvPr>
        </p:nvSpPr>
        <p:spPr>
          <a:xfrm>
            <a:off x="1311423" y="1125537"/>
            <a:ext cx="10270977" cy="4806633"/>
          </a:xfrm>
        </p:spPr>
        <p:txBody>
          <a:bodyPr>
            <a:noAutofit/>
          </a:bodyPr>
          <a:lstStyle/>
          <a:p>
            <a:r>
              <a:rPr lang="en-US" altLang="zh-CN" sz="2935" dirty="0">
                <a:latin typeface="Times New Roman" panose="02020503050405090304" pitchFamily="18" charset="0"/>
                <a:cs typeface="Times New Roman" panose="02020503050405090304" pitchFamily="18" charset="0"/>
              </a:rPr>
              <a:t>Introduction </a:t>
            </a:r>
            <a:endParaRPr lang="en-US" altLang="zh-TW"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Background &amp; Overview</a:t>
            </a:r>
            <a:endParaRPr lang="en-US" altLang="zh-CN" sz="2935" dirty="0">
              <a:latin typeface="Times New Roman" panose="02020503050405090304" pitchFamily="18" charset="0"/>
              <a:cs typeface="Times New Roman" panose="02020503050405090304" pitchFamily="18" charset="0"/>
            </a:endParaRPr>
          </a:p>
          <a:p>
            <a:pPr lvl="1"/>
            <a:r>
              <a:rPr lang="en-US" altLang="zh-CN" sz="2510" dirty="0">
                <a:latin typeface="Times New Roman" panose="02020503050405090304" pitchFamily="18" charset="0"/>
                <a:cs typeface="Times New Roman" panose="02020503050405090304" pitchFamily="18" charset="0"/>
              </a:rPr>
              <a:t>OmniParser </a:t>
            </a:r>
            <a:endParaRPr lang="en-US" altLang="zh-CN" sz="2510" dirty="0">
              <a:latin typeface="Times New Roman" panose="02020503050405090304" pitchFamily="18" charset="0"/>
              <a:cs typeface="Times New Roman" panose="02020503050405090304" pitchFamily="18" charset="0"/>
            </a:endParaRPr>
          </a:p>
          <a:p>
            <a:r>
              <a:rPr lang="en-US" altLang="zh-CN" sz="2935" dirty="0">
                <a:solidFill>
                  <a:srgbClr val="FF0000"/>
                </a:solidFill>
                <a:latin typeface="Times New Roman" panose="02020503050405090304" pitchFamily="18" charset="0"/>
                <a:cs typeface="Times New Roman" panose="02020503050405090304" pitchFamily="18" charset="0"/>
              </a:rPr>
              <a:t>Related Work: Risk Analysis</a:t>
            </a:r>
            <a:endParaRPr lang="en-US" altLang="zh-CN" sz="2935"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External Threats </a:t>
            </a:r>
            <a:endParaRPr lang="en-US" altLang="zh-CN" sz="1995"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Internal Risks </a:t>
            </a:r>
            <a:endParaRPr lang="en-US" altLang="zh-CN" sz="2400"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Defense Assumption </a:t>
            </a:r>
            <a:r>
              <a:rPr lang="en-US" altLang="zh-CN" sz="2935" dirty="0">
                <a:solidFill>
                  <a:srgbClr val="FF0000"/>
                </a:solidFill>
                <a:latin typeface="Times New Roman" panose="02020503050405090304" pitchFamily="18" charset="0"/>
                <a:cs typeface="Times New Roman" panose="02020503050405090304" pitchFamily="18" charset="0"/>
              </a:rPr>
              <a:t> </a:t>
            </a:r>
            <a:r>
              <a:rPr lang="en-US" altLang="zh-CN" sz="2935" dirty="0">
                <a:solidFill>
                  <a:srgbClr val="FF0000"/>
                </a:solidFill>
                <a:latin typeface="Times New Roman" panose="02020503050405090304" pitchFamily="18" charset="0"/>
                <a:cs typeface="Times New Roman" panose="02020503050405090304" pitchFamily="18" charset="0"/>
                <a:sym typeface="+mn-ea"/>
              </a:rPr>
              <a:t> </a:t>
            </a:r>
            <a:endParaRPr lang="en-US" altLang="zh-CN" sz="2935" dirty="0">
              <a:solidFill>
                <a:srgbClr val="FF0000"/>
              </a:solidFill>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sym typeface="+mn-ea"/>
              </a:rPr>
              <a:t>Conclusion</a:t>
            </a:r>
            <a:endParaRPr lang="en-US" altLang="zh-CN" sz="2935" dirty="0">
              <a:solidFill>
                <a:srgbClr val="FF0000"/>
              </a:solidFill>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References</a:t>
            </a:r>
            <a:endParaRPr lang="en-US" altLang="zh-CN"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Q &amp; A </a:t>
            </a:r>
            <a:endParaRPr lang="en-US" altLang="zh-CN" sz="2935" dirty="0">
              <a:latin typeface="Times New Roman" panose="02020503050405090304" pitchFamily="18" charset="0"/>
              <a:cs typeface="Times New Roman" panose="02020503050405090304" pitchFamily="18" charset="0"/>
            </a:endParaRPr>
          </a:p>
          <a:p>
            <a:pPr lvl="6"/>
            <a:endParaRPr lang="en-US" altLang="zh-CN" sz="1200"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latin typeface="Times New Roman" panose="02020503050405090304" pitchFamily="18" charset="0"/>
                <a:cs typeface="Times New Roman" panose="02020503050405090304" pitchFamily="18" charset="0"/>
              </a:rPr>
              <a:t>Outline</a:t>
            </a:r>
            <a:endParaRPr lang="zh-TW" altLang="en-US" dirty="0">
              <a:latin typeface="Times New Roman" panose="02020503050405090304" pitchFamily="18" charset="0"/>
              <a:cs typeface="Times New Roman" panose="02020503050405090304" pitchFamily="18" charset="0"/>
            </a:endParaRPr>
          </a:p>
        </p:txBody>
      </p:sp>
      <p:sp>
        <p:nvSpPr>
          <p:cNvPr id="3" name="內容版面配置區 2"/>
          <p:cNvSpPr>
            <a:spLocks noGrp="1"/>
          </p:cNvSpPr>
          <p:nvPr>
            <p:ph idx="1"/>
          </p:nvPr>
        </p:nvSpPr>
        <p:spPr>
          <a:xfrm>
            <a:off x="1311423" y="1125537"/>
            <a:ext cx="10270977" cy="4806633"/>
          </a:xfrm>
        </p:spPr>
        <p:txBody>
          <a:bodyPr>
            <a:noAutofit/>
          </a:bodyPr>
          <a:lstStyle/>
          <a:p>
            <a:r>
              <a:rPr lang="en-US" altLang="zh-CN" sz="2935" dirty="0">
                <a:latin typeface="Times New Roman" panose="02020503050405090304" pitchFamily="18" charset="0"/>
                <a:cs typeface="Times New Roman" panose="02020503050405090304" pitchFamily="18" charset="0"/>
              </a:rPr>
              <a:t>Introduction </a:t>
            </a:r>
            <a:endParaRPr lang="en-US" altLang="zh-TW"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Background &amp; Overview</a:t>
            </a:r>
            <a:endParaRPr lang="en-US" altLang="zh-CN" sz="2935" dirty="0">
              <a:latin typeface="Times New Roman" panose="02020503050405090304" pitchFamily="18" charset="0"/>
              <a:cs typeface="Times New Roman" panose="02020503050405090304" pitchFamily="18" charset="0"/>
            </a:endParaRPr>
          </a:p>
          <a:p>
            <a:pPr lvl="1"/>
            <a:r>
              <a:rPr lang="en-US" altLang="zh-CN" sz="2510" dirty="0">
                <a:latin typeface="Times New Roman" panose="02020503050405090304" pitchFamily="18" charset="0"/>
                <a:cs typeface="Times New Roman" panose="02020503050405090304" pitchFamily="18" charset="0"/>
              </a:rPr>
              <a:t>OmniParser </a:t>
            </a:r>
            <a:endParaRPr lang="en-US" altLang="zh-CN" sz="2510"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Related Work: Risk Analysis</a:t>
            </a:r>
            <a:endParaRPr lang="en-US" altLang="zh-CN" sz="2935" dirty="0">
              <a:latin typeface="Times New Roman" panose="02020503050405090304" pitchFamily="18" charset="0"/>
              <a:cs typeface="Times New Roman" panose="02020503050405090304" pitchFamily="18" charset="0"/>
            </a:endParaRPr>
          </a:p>
          <a:p>
            <a:pPr lvl="1"/>
            <a:r>
              <a:rPr lang="en-US" altLang="zh-CN" sz="2400" dirty="0">
                <a:solidFill>
                  <a:srgbClr val="FF0000"/>
                </a:solidFill>
                <a:latin typeface="Times New Roman" panose="02020503050405090304" pitchFamily="18" charset="0"/>
                <a:cs typeface="Times New Roman" panose="02020503050405090304" pitchFamily="18" charset="0"/>
              </a:rPr>
              <a:t>External Threats</a:t>
            </a:r>
            <a:r>
              <a:rPr lang="en-US" altLang="zh-CN" sz="2400" dirty="0">
                <a:latin typeface="Times New Roman" panose="02020503050405090304" pitchFamily="18" charset="0"/>
                <a:cs typeface="Times New Roman" panose="02020503050405090304" pitchFamily="18" charset="0"/>
              </a:rPr>
              <a:t> </a:t>
            </a:r>
            <a:endParaRPr lang="en-US" altLang="zh-CN" sz="1995"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Internal Risks </a:t>
            </a:r>
            <a:endParaRPr lang="en-US" altLang="zh-CN" sz="2400"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Defense Assumption </a:t>
            </a:r>
            <a:endParaRPr lang="en-US" altLang="zh-CN" sz="2935" dirty="0">
              <a:solidFill>
                <a:srgbClr val="FF0000"/>
              </a:solidFill>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sym typeface="+mn-ea"/>
              </a:rPr>
              <a:t>Conclusion</a:t>
            </a:r>
            <a:endParaRPr lang="en-US" altLang="zh-CN" sz="2935" dirty="0">
              <a:solidFill>
                <a:srgbClr val="FF0000"/>
              </a:solidFill>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References</a:t>
            </a:r>
            <a:endParaRPr lang="en-US" altLang="zh-CN"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Q &amp; A </a:t>
            </a:r>
            <a:endParaRPr lang="en-US" altLang="zh-CN" sz="2935" dirty="0">
              <a:latin typeface="Times New Roman" panose="02020503050405090304" pitchFamily="18" charset="0"/>
              <a:cs typeface="Times New Roman" panose="02020503050405090304" pitchFamily="18" charset="0"/>
            </a:endParaRPr>
          </a:p>
          <a:p>
            <a:pPr lvl="6"/>
            <a:endParaRPr lang="en-US" altLang="zh-CN" sz="1200"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sz="3200" dirty="0">
                <a:latin typeface="Times New Roman" panose="02020503050405090304" pitchFamily="18" charset="0"/>
                <a:ea typeface="Calibri" pitchFamily="34" charset="0"/>
                <a:cs typeface="Times New Roman" panose="02020503050405090304" pitchFamily="18" charset="0"/>
              </a:rPr>
              <a:t>External Threats：</a:t>
            </a:r>
            <a:br>
              <a:rPr lang="en-US" altLang="zh-CN" sz="3200" dirty="0">
                <a:latin typeface="Times New Roman" panose="02020503050405090304" pitchFamily="18" charset="0"/>
                <a:ea typeface="Calibri" pitchFamily="34" charset="0"/>
                <a:cs typeface="Times New Roman" panose="02020503050405090304" pitchFamily="18" charset="0"/>
              </a:rPr>
            </a:br>
            <a:r>
              <a:rPr lang="en-US" altLang="zh-CN" sz="3200" dirty="0">
                <a:latin typeface="Times New Roman" panose="02020503050405090304" pitchFamily="18" charset="0"/>
                <a:ea typeface="Calibri" pitchFamily="34" charset="0"/>
                <a:cs typeface="Times New Roman" panose="02020503050405090304" pitchFamily="18" charset="0"/>
              </a:rPr>
              <a:t>Environmental Distractions and Prompt Injection (1/5)</a:t>
            </a:r>
            <a:endParaRPr lang="en-US" altLang="zh-CN" sz="3200" dirty="0">
              <a:latin typeface="Times New Roman" panose="02020503050405090304" pitchFamily="18" charset="0"/>
              <a:ea typeface="Calibri" pitchFamily="34" charset="0"/>
              <a:cs typeface="Times New Roman" panose="02020503050405090304" pitchFamily="18"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6" name="文本框 5"/>
          <p:cNvSpPr txBox="1"/>
          <p:nvPr/>
        </p:nvSpPr>
        <p:spPr>
          <a:xfrm>
            <a:off x="140335" y="1148080"/>
            <a:ext cx="11812270" cy="984885"/>
          </a:xfrm>
          <a:prstGeom prst="rect">
            <a:avLst/>
          </a:prstGeom>
          <a:noFill/>
        </p:spPr>
        <p:txBody>
          <a:bodyPr wrap="square" lIns="0" tIns="0" rIns="0" bIns="0" rtlCol="0" anchor="t" anchorCtr="0">
            <a:spAutoFit/>
          </a:bodyPr>
          <a:p>
            <a:pPr marL="457200" indent="-457200" algn="l">
              <a:buFont typeface="Wingdings" panose="05000000000000000000" charset="0"/>
              <a:buChar char=""/>
            </a:pPr>
            <a:r>
              <a:rPr lang="en-US" altLang="zh-CN" sz="3200" dirty="0" smtClean="0">
                <a:solidFill>
                  <a:srgbClr val="00B0F0"/>
                </a:solidFill>
                <a:ea typeface="標楷體" pitchFamily="65" charset="-120"/>
                <a:cs typeface="Calibri" pitchFamily="34" charset="0"/>
              </a:rPr>
              <a:t> Paper: </a:t>
            </a:r>
            <a:r>
              <a:rPr lang="en-US" altLang="zh-CN" sz="3200">
                <a:solidFill>
                  <a:srgbClr val="00B0F0"/>
                </a:solidFill>
                <a:sym typeface="+mn-ea"/>
              </a:rPr>
              <a:t>Caution for the Environment: Multimodal LLM Agents are Susceptible to Environmental Distractions (ACL 2025)</a:t>
            </a:r>
            <a:endParaRPr lang="en-US" altLang="zh-CN" sz="3200" dirty="0" smtClean="0">
              <a:solidFill>
                <a:srgbClr val="00B0F0"/>
              </a:solidFill>
              <a:ea typeface="標楷體" pitchFamily="65" charset="-120"/>
              <a:cs typeface="Calibri" pitchFamily="34" charset="0"/>
              <a:sym typeface="+mn-ea"/>
            </a:endParaRPr>
          </a:p>
        </p:txBody>
      </p:sp>
      <p:sp>
        <p:nvSpPr>
          <p:cNvPr id="8" name="文本框 7"/>
          <p:cNvSpPr txBox="1"/>
          <p:nvPr/>
        </p:nvSpPr>
        <p:spPr>
          <a:xfrm>
            <a:off x="615315" y="2444115"/>
            <a:ext cx="10833735" cy="2553335"/>
          </a:xfrm>
          <a:prstGeom prst="rect">
            <a:avLst/>
          </a:prstGeom>
          <a:noFill/>
        </p:spPr>
        <p:txBody>
          <a:bodyPr wrap="square" rtlCol="0" anchor="t" anchorCtr="1">
            <a:spAutoFit/>
          </a:bodyPr>
          <a:p>
            <a:pPr marL="342900" indent="-342900" algn="l">
              <a:buClr>
                <a:srgbClr val="0070C0"/>
              </a:buClr>
              <a:buFont typeface="Wingdings" panose="05000000000000000000" charset="0"/>
              <a:buChar char=""/>
            </a:pPr>
            <a:r>
              <a:rPr lang="en-US" altLang="zh-CN" sz="3200" dirty="0" smtClean="0">
                <a:ea typeface="標楷體" pitchFamily="65" charset="-120"/>
                <a:cs typeface="Calibri" pitchFamily="34" charset="0"/>
                <a:sym typeface="+mn-ea"/>
              </a:rPr>
              <a:t>In a real OS environment, the data an agent perceives is </a:t>
            </a:r>
            <a:r>
              <a:rPr lang="en-US" altLang="zh-CN" sz="3200" dirty="0" smtClean="0">
                <a:solidFill>
                  <a:srgbClr val="FF0000"/>
                </a:solidFill>
                <a:ea typeface="標楷體" pitchFamily="65" charset="-120"/>
                <a:cs typeface="Calibri" pitchFamily="34" charset="0"/>
                <a:sym typeface="+mn-ea"/>
              </a:rPr>
              <a:t>noisy</a:t>
            </a:r>
            <a:r>
              <a:rPr lang="en-US" altLang="zh-CN" sz="3200" dirty="0" smtClean="0">
                <a:ea typeface="標楷體" pitchFamily="65" charset="-120"/>
                <a:cs typeface="Calibri" pitchFamily="34" charset="0"/>
                <a:sym typeface="+mn-ea"/>
              </a:rPr>
              <a:t>. When an agent opens a webpage, it doesn't just see the target information; it sees ads, sidebars, pop-ups, and user comments.</a:t>
            </a:r>
            <a:endParaRPr lang="en-US" altLang="zh-CN" sz="3200" dirty="0" smtClean="0">
              <a:solidFill>
                <a:schemeClr val="tx1"/>
              </a:solidFill>
              <a:ea typeface="標楷體" pitchFamily="65" charset="-120"/>
              <a:cs typeface="Calibri" pitchFamily="34" charset="0"/>
              <a:sym typeface="+mn-ea"/>
            </a:endParaRPr>
          </a:p>
          <a:p>
            <a:pPr indent="457200" algn="l"/>
            <a:endParaRPr lang="en-US" altLang="zh-CN" sz="3200" dirty="0" smtClean="0">
              <a:solidFill>
                <a:schemeClr val="tx1"/>
              </a:solidFill>
              <a:ea typeface="標楷體" pitchFamily="65" charset="-120"/>
              <a:cs typeface="Calibri" pitchFamily="34" charset="0"/>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sz="3200" dirty="0">
                <a:latin typeface="Times New Roman" panose="02020503050405090304" pitchFamily="18" charset="0"/>
                <a:ea typeface="Calibri" pitchFamily="34" charset="0"/>
                <a:cs typeface="Times New Roman" panose="02020503050405090304" pitchFamily="18" charset="0"/>
              </a:rPr>
              <a:t>External Threats：</a:t>
            </a:r>
            <a:br>
              <a:rPr lang="en-US" altLang="zh-CN" sz="3200" dirty="0">
                <a:latin typeface="Times New Roman" panose="02020503050405090304" pitchFamily="18" charset="0"/>
                <a:ea typeface="Calibri" pitchFamily="34" charset="0"/>
                <a:cs typeface="Times New Roman" panose="02020503050405090304" pitchFamily="18" charset="0"/>
              </a:rPr>
            </a:br>
            <a:r>
              <a:rPr lang="en-US" altLang="zh-CN" sz="3200" dirty="0">
                <a:latin typeface="Times New Roman" panose="02020503050405090304" pitchFamily="18" charset="0"/>
                <a:ea typeface="Calibri" pitchFamily="34" charset="0"/>
                <a:cs typeface="Times New Roman" panose="02020503050405090304" pitchFamily="18" charset="0"/>
              </a:rPr>
              <a:t>Environmental Distractions and Prompt Injection</a:t>
            </a:r>
            <a:r>
              <a:rPr lang="en-US" altLang="zh-CN" sz="3200" dirty="0">
                <a:latin typeface="Times New Roman" panose="02020503050405090304" pitchFamily="18" charset="0"/>
                <a:ea typeface="Calibri" pitchFamily="34" charset="0"/>
                <a:cs typeface="Times New Roman" panose="02020503050405090304" pitchFamily="18" charset="0"/>
                <a:sym typeface="+mn-ea"/>
              </a:rPr>
              <a:t> (2/5)</a:t>
            </a:r>
            <a:endParaRPr lang="en-US" altLang="zh-CN" sz="3200" dirty="0">
              <a:latin typeface="Times New Roman" panose="02020503050405090304" pitchFamily="18" charset="0"/>
              <a:ea typeface="Calibri" pitchFamily="34" charset="0"/>
              <a:cs typeface="Times New Roman" panose="02020503050405090304" pitchFamily="18"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6" name="文本框 5"/>
          <p:cNvSpPr txBox="1"/>
          <p:nvPr/>
        </p:nvSpPr>
        <p:spPr>
          <a:xfrm>
            <a:off x="140335" y="1148080"/>
            <a:ext cx="11812270" cy="984885"/>
          </a:xfrm>
          <a:prstGeom prst="rect">
            <a:avLst/>
          </a:prstGeom>
          <a:noFill/>
        </p:spPr>
        <p:txBody>
          <a:bodyPr wrap="square" lIns="0" tIns="0" rIns="0" bIns="0" rtlCol="0" anchor="t" anchorCtr="0">
            <a:spAutoFit/>
          </a:bodyPr>
          <a:p>
            <a:pPr marL="457200" indent="-457200" algn="l">
              <a:buFont typeface="Wingdings" panose="05000000000000000000" charset="0"/>
              <a:buChar char=""/>
            </a:pPr>
            <a:r>
              <a:rPr lang="en-US" altLang="zh-CN" sz="3200" dirty="0" smtClean="0">
                <a:solidFill>
                  <a:srgbClr val="00B0F0"/>
                </a:solidFill>
                <a:ea typeface="標楷體" pitchFamily="65" charset="-120"/>
                <a:cs typeface="Calibri" pitchFamily="34" charset="0"/>
              </a:rPr>
              <a:t> Paper: </a:t>
            </a:r>
            <a:r>
              <a:rPr lang="en-US" altLang="zh-CN" sz="3200">
                <a:solidFill>
                  <a:srgbClr val="00B0F0"/>
                </a:solidFill>
                <a:sym typeface="+mn-ea"/>
              </a:rPr>
              <a:t>Caution for the Environment: Multimodal LLM Agents are Susceptible to Environmental Distractions (ACL 2025)</a:t>
            </a:r>
            <a:endParaRPr lang="en-US" altLang="zh-CN" sz="3200" dirty="0" smtClean="0">
              <a:solidFill>
                <a:srgbClr val="00B0F0"/>
              </a:solidFill>
              <a:ea typeface="標楷體" pitchFamily="65" charset="-120"/>
              <a:cs typeface="Calibri" pitchFamily="34" charset="0"/>
              <a:sym typeface="+mn-ea"/>
            </a:endParaRPr>
          </a:p>
        </p:txBody>
      </p:sp>
      <p:pic>
        <p:nvPicPr>
          <p:cNvPr id="5" name="图片 4"/>
          <p:cNvPicPr>
            <a:picLocks noChangeAspect="1"/>
          </p:cNvPicPr>
          <p:nvPr/>
        </p:nvPicPr>
        <p:blipFill>
          <a:blip r:embed="rId1"/>
          <a:stretch>
            <a:fillRect/>
          </a:stretch>
        </p:blipFill>
        <p:spPr>
          <a:xfrm>
            <a:off x="1627505" y="2169160"/>
            <a:ext cx="7480300" cy="3176270"/>
          </a:xfrm>
          <a:prstGeom prst="rect">
            <a:avLst/>
          </a:prstGeom>
        </p:spPr>
      </p:pic>
      <p:sp>
        <p:nvSpPr>
          <p:cNvPr id="3" name="文本框 2"/>
          <p:cNvSpPr txBox="1"/>
          <p:nvPr/>
        </p:nvSpPr>
        <p:spPr>
          <a:xfrm>
            <a:off x="846455" y="5233670"/>
            <a:ext cx="9313545" cy="922020"/>
          </a:xfrm>
          <a:prstGeom prst="rect">
            <a:avLst/>
          </a:prstGeom>
          <a:noFill/>
        </p:spPr>
        <p:txBody>
          <a:bodyPr wrap="square" rtlCol="0" anchor="ctr" anchorCtr="1">
            <a:spAutoFit/>
          </a:bodyPr>
          <a:p>
            <a:r>
              <a:rPr lang="en-US" altLang="zh-CN" dirty="0" smtClean="0">
                <a:ea typeface="標楷體" pitchFamily="65" charset="-120"/>
                <a:cs typeface="Calibri" pitchFamily="34" charset="0"/>
              </a:rPr>
              <a:t>Fig.2  Two different types of distractions affecting the agent: in the left image, the </a:t>
            </a:r>
            <a:r>
              <a:rPr lang="en-US" altLang="zh-CN" dirty="0" smtClean="0">
                <a:ea typeface="標楷體" pitchFamily="65" charset="-120"/>
                <a:cs typeface="Calibri" pitchFamily="34" charset="0"/>
                <a:sym typeface="+mn-ea"/>
              </a:rPr>
              <a:t>distractions</a:t>
            </a:r>
            <a:r>
              <a:rPr lang="en-US" altLang="zh-CN" dirty="0" smtClean="0">
                <a:ea typeface="標楷體" pitchFamily="65" charset="-120"/>
                <a:cs typeface="Calibri" pitchFamily="34" charset="0"/>
              </a:rPr>
              <a:t> originate from the user, while in the right image, the </a:t>
            </a:r>
            <a:r>
              <a:rPr lang="en-US" altLang="zh-CN" dirty="0" smtClean="0">
                <a:ea typeface="標楷體" pitchFamily="65" charset="-120"/>
                <a:cs typeface="Calibri" pitchFamily="34" charset="0"/>
                <a:sym typeface="+mn-ea"/>
              </a:rPr>
              <a:t>distractions</a:t>
            </a:r>
            <a:r>
              <a:rPr lang="en-US" altLang="zh-CN" dirty="0" smtClean="0">
                <a:ea typeface="標楷體" pitchFamily="65" charset="-120"/>
                <a:cs typeface="Calibri" pitchFamily="34" charset="0"/>
              </a:rPr>
              <a:t> come from </a:t>
            </a:r>
            <a:r>
              <a:rPr lang="en-US" altLang="zh-CN" dirty="0" smtClean="0">
                <a:solidFill>
                  <a:srgbClr val="FF0000"/>
                </a:solidFill>
                <a:ea typeface="標楷體" pitchFamily="65" charset="-120"/>
                <a:cs typeface="Calibri" pitchFamily="34" charset="0"/>
              </a:rPr>
              <a:t>noisy information in the environment</a:t>
            </a:r>
            <a:r>
              <a:rPr lang="en-US" altLang="zh-CN" dirty="0" smtClean="0">
                <a:ea typeface="標楷體" pitchFamily="65" charset="-120"/>
                <a:cs typeface="Calibri" pitchFamily="34" charset="0"/>
              </a:rPr>
              <a:t>.</a:t>
            </a:r>
            <a:endParaRPr lang="en-US" altLang="zh-CN" dirty="0" smtClean="0">
              <a:ea typeface="標楷體" pitchFamily="65" charset="-120"/>
              <a:cs typeface="Calibri" pitchFamily="34" charset="0"/>
            </a:endParaRPr>
          </a:p>
        </p:txBody>
      </p:sp>
      <p:sp>
        <p:nvSpPr>
          <p:cNvPr id="7" name="文本框 6"/>
          <p:cNvSpPr txBox="1"/>
          <p:nvPr/>
        </p:nvSpPr>
        <p:spPr>
          <a:xfrm>
            <a:off x="7747000" y="3687445"/>
            <a:ext cx="4064000" cy="368300"/>
          </a:xfrm>
          <a:prstGeom prst="rect">
            <a:avLst/>
          </a:prstGeom>
          <a:noFill/>
        </p:spPr>
        <p:txBody>
          <a:bodyPr wrap="square" rtlCol="0" anchor="ctr" anchorCtr="1">
            <a:spAutoFit/>
          </a:bodyPr>
          <a:p>
            <a:r>
              <a:rPr lang="en-US" altLang="zh-CN" dirty="0" smtClean="0">
                <a:ea typeface="標楷體" pitchFamily="65" charset="-120"/>
                <a:cs typeface="Calibri" pitchFamily="34" charset="0"/>
              </a:rPr>
              <a:t>(More Common)</a:t>
            </a:r>
            <a:endParaRPr lang="en-US" altLang="zh-CN" dirty="0" smtClean="0">
              <a:ea typeface="標楷體" pitchFamily="65" charset="-120"/>
              <a:cs typeface="Calibri"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sz="3200" dirty="0">
                <a:latin typeface="Times New Roman" panose="02020503050405090304" pitchFamily="18" charset="0"/>
                <a:ea typeface="Calibri" pitchFamily="34" charset="0"/>
                <a:cs typeface="Times New Roman" panose="02020503050405090304" pitchFamily="18" charset="0"/>
              </a:rPr>
              <a:t>External Threats：</a:t>
            </a:r>
            <a:br>
              <a:rPr lang="en-US" altLang="zh-CN" sz="3200" dirty="0">
                <a:latin typeface="Times New Roman" panose="02020503050405090304" pitchFamily="18" charset="0"/>
                <a:ea typeface="Calibri" pitchFamily="34" charset="0"/>
                <a:cs typeface="Times New Roman" panose="02020503050405090304" pitchFamily="18" charset="0"/>
              </a:rPr>
            </a:br>
            <a:r>
              <a:rPr lang="en-US" altLang="zh-CN" sz="3200" dirty="0">
                <a:latin typeface="Times New Roman" panose="02020503050405090304" pitchFamily="18" charset="0"/>
                <a:ea typeface="Calibri" pitchFamily="34" charset="0"/>
                <a:cs typeface="Times New Roman" panose="02020503050405090304" pitchFamily="18" charset="0"/>
              </a:rPr>
              <a:t>Environmental Distractions and Prompt Injection</a:t>
            </a:r>
            <a:r>
              <a:rPr lang="en-US" altLang="zh-CN" sz="3200" dirty="0">
                <a:latin typeface="Times New Roman" panose="02020503050405090304" pitchFamily="18" charset="0"/>
                <a:ea typeface="Calibri" pitchFamily="34" charset="0"/>
                <a:cs typeface="Times New Roman" panose="02020503050405090304" pitchFamily="18" charset="0"/>
                <a:sym typeface="+mn-ea"/>
              </a:rPr>
              <a:t> (3/5)</a:t>
            </a:r>
            <a:endParaRPr lang="en-US" altLang="zh-CN" sz="3200" dirty="0">
              <a:latin typeface="Times New Roman" panose="02020503050405090304" pitchFamily="18" charset="0"/>
              <a:ea typeface="Calibri" pitchFamily="34" charset="0"/>
              <a:cs typeface="Times New Roman" panose="02020503050405090304" pitchFamily="18"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6" name="文本框 5"/>
          <p:cNvSpPr txBox="1"/>
          <p:nvPr/>
        </p:nvSpPr>
        <p:spPr>
          <a:xfrm>
            <a:off x="140335" y="1148080"/>
            <a:ext cx="11812270" cy="984885"/>
          </a:xfrm>
          <a:prstGeom prst="rect">
            <a:avLst/>
          </a:prstGeom>
          <a:noFill/>
        </p:spPr>
        <p:txBody>
          <a:bodyPr wrap="square" lIns="0" tIns="0" rIns="0" bIns="0" rtlCol="0" anchor="t" anchorCtr="0">
            <a:spAutoFit/>
          </a:bodyPr>
          <a:p>
            <a:pPr marL="457200" indent="-457200" algn="l">
              <a:buFont typeface="Wingdings" panose="05000000000000000000" charset="0"/>
              <a:buChar char=""/>
            </a:pPr>
            <a:r>
              <a:rPr lang="en-US" altLang="zh-CN" sz="3200" dirty="0" smtClean="0">
                <a:solidFill>
                  <a:srgbClr val="00B0F0"/>
                </a:solidFill>
                <a:ea typeface="標楷體" pitchFamily="65" charset="-120"/>
                <a:cs typeface="Calibri" pitchFamily="34" charset="0"/>
              </a:rPr>
              <a:t> Paper: </a:t>
            </a:r>
            <a:r>
              <a:rPr lang="en-US" altLang="zh-CN" sz="3200">
                <a:solidFill>
                  <a:srgbClr val="00B0F0"/>
                </a:solidFill>
                <a:sym typeface="+mn-ea"/>
              </a:rPr>
              <a:t>Caution for the Environment: Multimodal LLM Agents are Susceptible to Environmental Distractions (ACL 2025)</a:t>
            </a:r>
            <a:endParaRPr lang="en-US" altLang="zh-CN" sz="3200" dirty="0" smtClean="0">
              <a:solidFill>
                <a:srgbClr val="00B0F0"/>
              </a:solidFill>
              <a:ea typeface="標楷體" pitchFamily="65" charset="-120"/>
              <a:cs typeface="Calibri" pitchFamily="34" charset="0"/>
              <a:sym typeface="+mn-ea"/>
            </a:endParaRPr>
          </a:p>
        </p:txBody>
      </p:sp>
      <p:pic>
        <p:nvPicPr>
          <p:cNvPr id="3" name="图片 2"/>
          <p:cNvPicPr>
            <a:picLocks noChangeAspect="1"/>
          </p:cNvPicPr>
          <p:nvPr/>
        </p:nvPicPr>
        <p:blipFill>
          <a:blip r:embed="rId1"/>
          <a:stretch>
            <a:fillRect/>
          </a:stretch>
        </p:blipFill>
        <p:spPr>
          <a:xfrm>
            <a:off x="290195" y="2132965"/>
            <a:ext cx="4724400" cy="3638550"/>
          </a:xfrm>
          <a:prstGeom prst="rect">
            <a:avLst/>
          </a:prstGeom>
        </p:spPr>
      </p:pic>
      <p:sp>
        <p:nvSpPr>
          <p:cNvPr id="7" name="文本框 6"/>
          <p:cNvSpPr txBox="1"/>
          <p:nvPr/>
        </p:nvSpPr>
        <p:spPr>
          <a:xfrm>
            <a:off x="5014595" y="3142615"/>
            <a:ext cx="5669915" cy="1076325"/>
          </a:xfrm>
          <a:prstGeom prst="rect">
            <a:avLst/>
          </a:prstGeom>
          <a:noFill/>
        </p:spPr>
        <p:txBody>
          <a:bodyPr wrap="square" rtlCol="0" anchor="ctr" anchorCtr="1">
            <a:spAutoFit/>
          </a:bodyPr>
          <a:p>
            <a:pPr marL="457200" indent="-457200">
              <a:buClr>
                <a:srgbClr val="0070C0"/>
              </a:buClr>
              <a:buFont typeface="Wingdings" panose="05000000000000000000" charset="0"/>
              <a:buChar char=""/>
            </a:pPr>
            <a:r>
              <a:rPr lang="en-US" altLang="zh-CN" sz="3200" dirty="0" smtClean="0">
                <a:ea typeface="標楷體" pitchFamily="65" charset="-120"/>
                <a:cs typeface="Calibri" pitchFamily="34" charset="0"/>
              </a:rPr>
              <a:t>What if the prompt is toxic?</a:t>
            </a:r>
            <a:endParaRPr lang="en-US" altLang="zh-CN" sz="3200" dirty="0" smtClean="0">
              <a:ea typeface="標楷體" pitchFamily="65" charset="-120"/>
              <a:cs typeface="Calibri" pitchFamily="34" charset="0"/>
            </a:endParaRPr>
          </a:p>
          <a:p>
            <a:pPr marL="457200" indent="-457200">
              <a:buClr>
                <a:srgbClr val="0070C0"/>
              </a:buClr>
              <a:buFont typeface="PingFang SC" panose="020B0400000000000000" charset="-122"/>
              <a:buChar char="-"/>
            </a:pPr>
            <a:r>
              <a:rPr lang="en-US" altLang="zh-CN" sz="3200">
                <a:solidFill>
                  <a:srgbClr val="FF0000"/>
                </a:solidFill>
                <a:sym typeface="+mn-ea"/>
              </a:rPr>
              <a:t>Indirect Prompt Injection</a:t>
            </a:r>
            <a:endParaRPr lang="en-US" altLang="zh-CN" sz="3200" dirty="0" smtClean="0">
              <a:solidFill>
                <a:srgbClr val="FF0000"/>
              </a:solidFill>
              <a:ea typeface="標楷體" pitchFamily="65" charset="-120"/>
              <a:cs typeface="Calibri" pitchFamily="34" charset="0"/>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sz="3200" dirty="0">
                <a:latin typeface="Times New Roman" panose="02020503050405090304" pitchFamily="18" charset="0"/>
                <a:ea typeface="Calibri" pitchFamily="34" charset="0"/>
                <a:cs typeface="Times New Roman" panose="02020503050405090304" pitchFamily="18" charset="0"/>
              </a:rPr>
              <a:t>External Threats：</a:t>
            </a:r>
            <a:br>
              <a:rPr lang="en-US" altLang="zh-CN" sz="3200" dirty="0">
                <a:latin typeface="Times New Roman" panose="02020503050405090304" pitchFamily="18" charset="0"/>
                <a:ea typeface="Calibri" pitchFamily="34" charset="0"/>
                <a:cs typeface="Times New Roman" panose="02020503050405090304" pitchFamily="18" charset="0"/>
              </a:rPr>
            </a:br>
            <a:r>
              <a:rPr lang="en-US" altLang="zh-CN" sz="3200" dirty="0">
                <a:latin typeface="Times New Roman" panose="02020503050405090304" pitchFamily="18" charset="0"/>
                <a:ea typeface="Calibri" pitchFamily="34" charset="0"/>
                <a:cs typeface="Times New Roman" panose="02020503050405090304" pitchFamily="18" charset="0"/>
              </a:rPr>
              <a:t>Environmental Distractions and Prompt Injection</a:t>
            </a:r>
            <a:r>
              <a:rPr lang="en-US" altLang="zh-CN" sz="3200" dirty="0">
                <a:latin typeface="Times New Roman" panose="02020503050405090304" pitchFamily="18" charset="0"/>
                <a:ea typeface="Calibri" pitchFamily="34" charset="0"/>
                <a:cs typeface="Times New Roman" panose="02020503050405090304" pitchFamily="18" charset="0"/>
                <a:sym typeface="+mn-ea"/>
              </a:rPr>
              <a:t> (4/5)</a:t>
            </a:r>
            <a:endParaRPr lang="en-US" altLang="zh-CN" sz="3200" dirty="0">
              <a:latin typeface="Times New Roman" panose="02020503050405090304" pitchFamily="18" charset="0"/>
              <a:ea typeface="Calibri" pitchFamily="34" charset="0"/>
              <a:cs typeface="Times New Roman" panose="02020503050405090304" pitchFamily="18"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pic>
        <p:nvPicPr>
          <p:cNvPr id="5" name="图片 4"/>
          <p:cNvPicPr>
            <a:picLocks noChangeAspect="1"/>
          </p:cNvPicPr>
          <p:nvPr/>
        </p:nvPicPr>
        <p:blipFill>
          <a:blip r:embed="rId1"/>
          <a:stretch>
            <a:fillRect/>
          </a:stretch>
        </p:blipFill>
        <p:spPr>
          <a:xfrm>
            <a:off x="203200" y="1120140"/>
            <a:ext cx="4540250" cy="4617085"/>
          </a:xfrm>
          <a:prstGeom prst="rect">
            <a:avLst/>
          </a:prstGeom>
        </p:spPr>
      </p:pic>
      <p:sp>
        <p:nvSpPr>
          <p:cNvPr id="7" name="文本框 6"/>
          <p:cNvSpPr txBox="1"/>
          <p:nvPr/>
        </p:nvSpPr>
        <p:spPr>
          <a:xfrm>
            <a:off x="4069715" y="6219190"/>
            <a:ext cx="7412355" cy="645160"/>
          </a:xfrm>
          <a:prstGeom prst="rect">
            <a:avLst/>
          </a:prstGeom>
          <a:noFill/>
        </p:spPr>
        <p:txBody>
          <a:bodyPr wrap="square" rtlCol="0" anchor="ctr" anchorCtr="1">
            <a:spAutoFit/>
          </a:bodyPr>
          <a:p>
            <a:r>
              <a:rPr lang="en-US" altLang="zh-CN" dirty="0" smtClean="0">
                <a:solidFill>
                  <a:schemeClr val="bg1"/>
                </a:solidFill>
                <a:ea typeface="標楷體" pitchFamily="65" charset="-120"/>
                <a:cs typeface="Calibri" pitchFamily="34" charset="0"/>
              </a:rPr>
              <a:t>Paper: INJECAGENT: Benchmarking Indirect Prompt Injections in</a:t>
            </a:r>
            <a:endParaRPr lang="en-US" altLang="zh-CN" dirty="0" smtClean="0">
              <a:solidFill>
                <a:schemeClr val="bg1"/>
              </a:solidFill>
              <a:ea typeface="標楷體" pitchFamily="65" charset="-120"/>
              <a:cs typeface="Calibri" pitchFamily="34" charset="0"/>
            </a:endParaRPr>
          </a:p>
          <a:p>
            <a:r>
              <a:rPr lang="en-US" altLang="zh-CN" dirty="0" smtClean="0">
                <a:solidFill>
                  <a:schemeClr val="bg1"/>
                </a:solidFill>
                <a:ea typeface="標楷體" pitchFamily="65" charset="-120"/>
                <a:cs typeface="Calibri" pitchFamily="34" charset="0"/>
              </a:rPr>
              <a:t>Tool-Integrated Large Language Model Agents</a:t>
            </a:r>
            <a:endParaRPr lang="en-US" altLang="zh-CN" dirty="0" smtClean="0">
              <a:solidFill>
                <a:schemeClr val="bg1"/>
              </a:solidFill>
              <a:ea typeface="標楷體" pitchFamily="65" charset="-120"/>
              <a:cs typeface="Calibri" pitchFamily="34" charset="0"/>
            </a:endParaRPr>
          </a:p>
        </p:txBody>
      </p:sp>
      <p:pic>
        <p:nvPicPr>
          <p:cNvPr id="8" name="图片 7"/>
          <p:cNvPicPr>
            <a:picLocks noChangeAspect="1"/>
          </p:cNvPicPr>
          <p:nvPr/>
        </p:nvPicPr>
        <p:blipFill>
          <a:blip r:embed="rId2"/>
          <a:stretch>
            <a:fillRect/>
          </a:stretch>
        </p:blipFill>
        <p:spPr>
          <a:xfrm>
            <a:off x="5332095" y="1120140"/>
            <a:ext cx="6282690" cy="2571115"/>
          </a:xfrm>
          <a:prstGeom prst="rect">
            <a:avLst/>
          </a:prstGeom>
        </p:spPr>
      </p:pic>
      <p:sp>
        <p:nvSpPr>
          <p:cNvPr id="9" name="文本框 8"/>
          <p:cNvSpPr txBox="1"/>
          <p:nvPr/>
        </p:nvSpPr>
        <p:spPr>
          <a:xfrm>
            <a:off x="5332095" y="3691255"/>
            <a:ext cx="6269355" cy="368300"/>
          </a:xfrm>
          <a:prstGeom prst="rect">
            <a:avLst/>
          </a:prstGeom>
          <a:noFill/>
        </p:spPr>
        <p:txBody>
          <a:bodyPr wrap="square" rtlCol="0" anchor="ctr" anchorCtr="1">
            <a:spAutoFit/>
          </a:bodyPr>
          <a:p>
            <a:r>
              <a:rPr lang="en-US" altLang="zh-CN" dirty="0" smtClean="0">
                <a:ea typeface="標楷體" pitchFamily="65" charset="-120"/>
                <a:cs typeface="Calibri" pitchFamily="34" charset="0"/>
              </a:rPr>
              <a:t>Table.3 Categories of attacker instructions with examples.</a:t>
            </a:r>
            <a:endParaRPr lang="en-US" altLang="zh-CN" dirty="0" smtClean="0">
              <a:ea typeface="標楷體" pitchFamily="65" charset="-120"/>
              <a:cs typeface="Calibri" pitchFamily="34" charset="0"/>
            </a:endParaRPr>
          </a:p>
        </p:txBody>
      </p:sp>
      <p:sp>
        <p:nvSpPr>
          <p:cNvPr id="10" name="文本框 9"/>
          <p:cNvSpPr txBox="1"/>
          <p:nvPr/>
        </p:nvSpPr>
        <p:spPr>
          <a:xfrm>
            <a:off x="-146685" y="5598795"/>
            <a:ext cx="4890770" cy="645160"/>
          </a:xfrm>
          <a:prstGeom prst="rect">
            <a:avLst/>
          </a:prstGeom>
          <a:noFill/>
        </p:spPr>
        <p:txBody>
          <a:bodyPr wrap="square" rtlCol="0" anchor="ctr" anchorCtr="1">
            <a:spAutoFit/>
          </a:bodyPr>
          <a:p>
            <a:r>
              <a:rPr lang="en-US" altLang="zh-CN" dirty="0" smtClean="0">
                <a:ea typeface="標楷體" pitchFamily="65" charset="-120"/>
                <a:cs typeface="Calibri" pitchFamily="34" charset="0"/>
              </a:rPr>
              <a:t>Table.2 Attack success rates (%) of different LLM agents on injecagent benchmark</a:t>
            </a:r>
            <a:endParaRPr lang="en-US" altLang="zh-CN" dirty="0" smtClean="0">
              <a:ea typeface="標楷體" pitchFamily="65" charset="-120"/>
              <a:cs typeface="Calibri"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sz="3200" dirty="0">
                <a:latin typeface="Times New Roman" panose="02020503050405090304" pitchFamily="18" charset="0"/>
                <a:ea typeface="Calibri" pitchFamily="34" charset="0"/>
                <a:cs typeface="Times New Roman" panose="02020503050405090304" pitchFamily="18" charset="0"/>
              </a:rPr>
              <a:t>External Threats：</a:t>
            </a:r>
            <a:br>
              <a:rPr lang="en-US" altLang="zh-CN" sz="3200" dirty="0">
                <a:latin typeface="Times New Roman" panose="02020503050405090304" pitchFamily="18" charset="0"/>
                <a:ea typeface="Calibri" pitchFamily="34" charset="0"/>
                <a:cs typeface="Times New Roman" panose="02020503050405090304" pitchFamily="18" charset="0"/>
              </a:rPr>
            </a:br>
            <a:r>
              <a:rPr lang="en-US" altLang="zh-CN" sz="3200" dirty="0">
                <a:latin typeface="Times New Roman" panose="02020503050405090304" pitchFamily="18" charset="0"/>
                <a:ea typeface="Calibri" pitchFamily="34" charset="0"/>
                <a:cs typeface="Times New Roman" panose="02020503050405090304" pitchFamily="18" charset="0"/>
              </a:rPr>
              <a:t>Environmental Distractions and Prompt Injection</a:t>
            </a:r>
            <a:r>
              <a:rPr lang="en-US" altLang="zh-CN" sz="3200" dirty="0">
                <a:latin typeface="Times New Roman" panose="02020503050405090304" pitchFamily="18" charset="0"/>
                <a:ea typeface="Calibri" pitchFamily="34" charset="0"/>
                <a:cs typeface="Times New Roman" panose="02020503050405090304" pitchFamily="18" charset="0"/>
                <a:sym typeface="+mn-ea"/>
              </a:rPr>
              <a:t> (5/5)</a:t>
            </a:r>
            <a:endParaRPr lang="en-US" altLang="zh-CN" sz="3200" dirty="0">
              <a:latin typeface="Times New Roman" panose="02020503050405090304" pitchFamily="18" charset="0"/>
              <a:ea typeface="Calibri" pitchFamily="34" charset="0"/>
              <a:cs typeface="Times New Roman" panose="02020503050405090304" pitchFamily="18"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6" name="文本框 5"/>
          <p:cNvSpPr txBox="1"/>
          <p:nvPr/>
        </p:nvSpPr>
        <p:spPr>
          <a:xfrm>
            <a:off x="140335" y="1148080"/>
            <a:ext cx="11812270" cy="984885"/>
          </a:xfrm>
          <a:prstGeom prst="rect">
            <a:avLst/>
          </a:prstGeom>
          <a:noFill/>
        </p:spPr>
        <p:txBody>
          <a:bodyPr wrap="square" lIns="0" tIns="0" rIns="0" bIns="0" rtlCol="0" anchor="t" anchorCtr="0">
            <a:spAutoFit/>
          </a:bodyPr>
          <a:p>
            <a:pPr marL="457200" indent="-457200" algn="l">
              <a:buFont typeface="Wingdings" panose="05000000000000000000" charset="0"/>
              <a:buChar char=""/>
            </a:pPr>
            <a:r>
              <a:rPr lang="en-US" altLang="zh-CN" sz="3200" dirty="0" smtClean="0">
                <a:solidFill>
                  <a:srgbClr val="00B0F0"/>
                </a:solidFill>
                <a:ea typeface="標楷體" pitchFamily="65" charset="-120"/>
                <a:cs typeface="Calibri" pitchFamily="34" charset="0"/>
              </a:rPr>
              <a:t> Paper: </a:t>
            </a:r>
            <a:r>
              <a:rPr lang="en-US" altLang="zh-CN" sz="3200">
                <a:solidFill>
                  <a:srgbClr val="00B0F0"/>
                </a:solidFill>
                <a:sym typeface="+mn-ea"/>
              </a:rPr>
              <a:t>Caution for the Environment: Multimodal LLM Agents are Susceptible to Environmental Distractions (ACL 2025)</a:t>
            </a:r>
            <a:endParaRPr lang="en-US" altLang="zh-CN" sz="3200" dirty="0" smtClean="0">
              <a:solidFill>
                <a:srgbClr val="00B0F0"/>
              </a:solidFill>
              <a:ea typeface="標楷體" pitchFamily="65" charset="-120"/>
              <a:cs typeface="Calibri" pitchFamily="34" charset="0"/>
              <a:sym typeface="+mn-ea"/>
            </a:endParaRPr>
          </a:p>
        </p:txBody>
      </p:sp>
      <p:pic>
        <p:nvPicPr>
          <p:cNvPr id="3" name="图片 2"/>
          <p:cNvPicPr>
            <a:picLocks noChangeAspect="1"/>
          </p:cNvPicPr>
          <p:nvPr/>
        </p:nvPicPr>
        <p:blipFill>
          <a:blip r:embed="rId1"/>
          <a:stretch>
            <a:fillRect/>
          </a:stretch>
        </p:blipFill>
        <p:spPr>
          <a:xfrm>
            <a:off x="290195" y="2132965"/>
            <a:ext cx="4724400" cy="3638550"/>
          </a:xfrm>
          <a:prstGeom prst="rect">
            <a:avLst/>
          </a:prstGeom>
        </p:spPr>
      </p:pic>
      <p:sp>
        <p:nvSpPr>
          <p:cNvPr id="7" name="文本框 6"/>
          <p:cNvSpPr txBox="1"/>
          <p:nvPr/>
        </p:nvSpPr>
        <p:spPr>
          <a:xfrm>
            <a:off x="5229860" y="2444115"/>
            <a:ext cx="6453505" cy="3709035"/>
          </a:xfrm>
          <a:prstGeom prst="rect">
            <a:avLst/>
          </a:prstGeom>
          <a:noFill/>
        </p:spPr>
        <p:txBody>
          <a:bodyPr wrap="square" rtlCol="0" anchor="t" anchorCtr="0">
            <a:spAutoFit/>
          </a:bodyPr>
          <a:p>
            <a:pPr marL="342900" indent="-342900">
              <a:lnSpc>
                <a:spcPct val="120000"/>
              </a:lnSpc>
              <a:buClr>
                <a:srgbClr val="0070C0"/>
              </a:buClr>
              <a:buFont typeface="Wingdings" panose="05000000000000000000" charset="0"/>
              <a:buChar char=""/>
            </a:pPr>
            <a:r>
              <a:rPr lang="en-US" altLang="zh-CN" sz="2800" dirty="0" smtClean="0">
                <a:ea typeface="標楷體" pitchFamily="65" charset="-120"/>
                <a:cs typeface="Calibri" pitchFamily="34" charset="0"/>
              </a:rPr>
              <a:t>Because the Agent has OS privileges, this is dangerous.</a:t>
            </a:r>
            <a:endParaRPr lang="en-US" altLang="zh-CN" sz="2800" dirty="0" smtClean="0">
              <a:ea typeface="標楷體" pitchFamily="65" charset="-120"/>
              <a:cs typeface="Calibri" pitchFamily="34" charset="0"/>
            </a:endParaRPr>
          </a:p>
          <a:p>
            <a:pPr marL="342900" indent="-342900">
              <a:lnSpc>
                <a:spcPct val="120000"/>
              </a:lnSpc>
              <a:buClr>
                <a:srgbClr val="0070C0"/>
              </a:buClr>
              <a:buFont typeface="Wingdings" panose="05000000000000000000" charset="0"/>
              <a:buChar char=""/>
            </a:pPr>
            <a:endParaRPr lang="en-US" altLang="zh-CN" sz="2800" dirty="0" smtClean="0">
              <a:ea typeface="標楷體" pitchFamily="65" charset="-120"/>
              <a:cs typeface="Calibri" pitchFamily="34" charset="0"/>
            </a:endParaRPr>
          </a:p>
          <a:p>
            <a:pPr marL="342900" indent="-342900">
              <a:lnSpc>
                <a:spcPct val="120000"/>
              </a:lnSpc>
              <a:buClr>
                <a:srgbClr val="0070C0"/>
              </a:buClr>
              <a:buFont typeface="Wingdings" panose="05000000000000000000" charset="0"/>
              <a:buChar char=""/>
            </a:pPr>
            <a:r>
              <a:rPr lang="en-US" altLang="zh-CN" sz="2800" dirty="0" smtClean="0">
                <a:ea typeface="標楷體" pitchFamily="65" charset="-120"/>
                <a:cs typeface="Calibri" pitchFamily="34" charset="0"/>
              </a:rPr>
              <a:t>For a vision-based agent, "</a:t>
            </a:r>
            <a:r>
              <a:rPr lang="en-US" altLang="zh-CN" sz="2800" b="1" dirty="0" smtClean="0">
                <a:solidFill>
                  <a:schemeClr val="tx1"/>
                </a:solidFill>
                <a:latin typeface="Arial Bold" panose="020B0604020202090204" charset="0"/>
                <a:ea typeface="標楷體" pitchFamily="65" charset="-120"/>
                <a:cs typeface="Arial Bold" panose="020B0604020202090204" charset="0"/>
              </a:rPr>
              <a:t>What you see is what you get</a:t>
            </a:r>
            <a:r>
              <a:rPr lang="en-US" altLang="zh-CN" sz="2800" dirty="0" smtClean="0">
                <a:ea typeface="標楷體" pitchFamily="65" charset="-120"/>
                <a:cs typeface="Calibri" pitchFamily="34" charset="0"/>
              </a:rPr>
              <a:t>" becomes "</a:t>
            </a:r>
            <a:r>
              <a:rPr lang="en-US" altLang="zh-CN" sz="2800" b="1" dirty="0" smtClean="0">
                <a:solidFill>
                  <a:srgbClr val="FF0000"/>
                </a:solidFill>
                <a:latin typeface="Arial Bold" panose="020B0604020202090204" charset="0"/>
                <a:ea typeface="標楷體" pitchFamily="65" charset="-120"/>
                <a:cs typeface="Arial Bold" panose="020B0604020202090204" charset="0"/>
              </a:rPr>
              <a:t>What you see is what controls you</a:t>
            </a:r>
            <a:r>
              <a:rPr lang="en-US" altLang="zh-CN" sz="2800" dirty="0" smtClean="0">
                <a:ea typeface="標楷體" pitchFamily="65" charset="-120"/>
                <a:cs typeface="Calibri" pitchFamily="34" charset="0"/>
              </a:rPr>
              <a:t>."</a:t>
            </a:r>
            <a:endParaRPr lang="en-US" altLang="zh-CN" sz="2800" dirty="0" smtClean="0">
              <a:ea typeface="標楷體" pitchFamily="65" charset="-120"/>
              <a:cs typeface="Calibri"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latin typeface="Times New Roman" panose="02020503050405090304" pitchFamily="18" charset="0"/>
                <a:cs typeface="Times New Roman" panose="02020503050405090304" pitchFamily="18" charset="0"/>
              </a:rPr>
              <a:t>Outline</a:t>
            </a:r>
            <a:endParaRPr lang="zh-TW" altLang="en-US" dirty="0">
              <a:latin typeface="Times New Roman" panose="02020503050405090304" pitchFamily="18" charset="0"/>
              <a:cs typeface="Times New Roman" panose="02020503050405090304" pitchFamily="18" charset="0"/>
            </a:endParaRPr>
          </a:p>
        </p:txBody>
      </p:sp>
      <p:sp>
        <p:nvSpPr>
          <p:cNvPr id="3" name="內容版面配置區 2"/>
          <p:cNvSpPr>
            <a:spLocks noGrp="1"/>
          </p:cNvSpPr>
          <p:nvPr>
            <p:ph idx="1"/>
          </p:nvPr>
        </p:nvSpPr>
        <p:spPr>
          <a:xfrm>
            <a:off x="1311423" y="1125537"/>
            <a:ext cx="10270977" cy="4806633"/>
          </a:xfrm>
        </p:spPr>
        <p:txBody>
          <a:bodyPr>
            <a:noAutofit/>
          </a:bodyPr>
          <a:lstStyle/>
          <a:p>
            <a:r>
              <a:rPr lang="en-US" altLang="zh-CN" sz="2935" dirty="0">
                <a:latin typeface="Times New Roman" panose="02020503050405090304" pitchFamily="18" charset="0"/>
                <a:cs typeface="Times New Roman" panose="02020503050405090304" pitchFamily="18" charset="0"/>
              </a:rPr>
              <a:t>Introduction </a:t>
            </a:r>
            <a:endParaRPr lang="en-US" altLang="zh-TW"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Background &amp; Overview</a:t>
            </a:r>
            <a:endParaRPr lang="en-US" altLang="zh-CN" sz="2935" dirty="0">
              <a:latin typeface="Times New Roman" panose="02020503050405090304" pitchFamily="18" charset="0"/>
              <a:cs typeface="Times New Roman" panose="02020503050405090304" pitchFamily="18" charset="0"/>
            </a:endParaRPr>
          </a:p>
          <a:p>
            <a:pPr lvl="1"/>
            <a:r>
              <a:rPr lang="en-US" altLang="zh-CN" sz="2510" dirty="0">
                <a:latin typeface="Times New Roman" panose="02020503050405090304" pitchFamily="18" charset="0"/>
                <a:cs typeface="Times New Roman" panose="02020503050405090304" pitchFamily="18" charset="0"/>
              </a:rPr>
              <a:t>OmniParser </a:t>
            </a:r>
            <a:endParaRPr lang="en-US" altLang="zh-CN" sz="2510"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Related Work: Risk Analysis</a:t>
            </a:r>
            <a:endParaRPr lang="en-US" altLang="zh-CN" sz="2935"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External Threats </a:t>
            </a:r>
            <a:endParaRPr lang="en-US" altLang="zh-CN" sz="1995" dirty="0">
              <a:latin typeface="Times New Roman" panose="02020503050405090304" pitchFamily="18" charset="0"/>
              <a:cs typeface="Times New Roman" panose="02020503050405090304" pitchFamily="18" charset="0"/>
            </a:endParaRPr>
          </a:p>
          <a:p>
            <a:pPr lvl="1"/>
            <a:r>
              <a:rPr lang="en-US" altLang="zh-CN" sz="2400" dirty="0">
                <a:solidFill>
                  <a:srgbClr val="FF0000"/>
                </a:solidFill>
                <a:latin typeface="Times New Roman" panose="02020503050405090304" pitchFamily="18" charset="0"/>
                <a:cs typeface="Times New Roman" panose="02020503050405090304" pitchFamily="18" charset="0"/>
              </a:rPr>
              <a:t>Internal Risks</a:t>
            </a:r>
            <a:r>
              <a:rPr lang="en-US" altLang="zh-CN" sz="2400" dirty="0">
                <a:latin typeface="Times New Roman" panose="02020503050405090304" pitchFamily="18" charset="0"/>
                <a:cs typeface="Times New Roman" panose="02020503050405090304" pitchFamily="18" charset="0"/>
              </a:rPr>
              <a:t> </a:t>
            </a:r>
            <a:endParaRPr lang="en-US" altLang="zh-CN" sz="2400"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Defense Assumption </a:t>
            </a:r>
            <a:r>
              <a:rPr lang="en-US" altLang="zh-CN" sz="2935" dirty="0">
                <a:solidFill>
                  <a:srgbClr val="FF0000"/>
                </a:solidFill>
                <a:latin typeface="Times New Roman" panose="02020503050405090304" pitchFamily="18" charset="0"/>
                <a:cs typeface="Times New Roman" panose="02020503050405090304" pitchFamily="18" charset="0"/>
              </a:rPr>
              <a:t> </a:t>
            </a:r>
            <a:r>
              <a:rPr lang="en-US" altLang="zh-CN" sz="2935" dirty="0">
                <a:solidFill>
                  <a:srgbClr val="FF0000"/>
                </a:solidFill>
                <a:latin typeface="Times New Roman" panose="02020503050405090304" pitchFamily="18" charset="0"/>
                <a:cs typeface="Times New Roman" panose="02020503050405090304" pitchFamily="18" charset="0"/>
                <a:sym typeface="+mn-ea"/>
              </a:rPr>
              <a:t> </a:t>
            </a:r>
            <a:endParaRPr lang="en-US" altLang="zh-CN" sz="2935" dirty="0">
              <a:solidFill>
                <a:srgbClr val="FF0000"/>
              </a:solidFill>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sym typeface="+mn-ea"/>
              </a:rPr>
              <a:t>Conclusion</a:t>
            </a:r>
            <a:endParaRPr lang="en-US" altLang="zh-CN" sz="2935" dirty="0">
              <a:solidFill>
                <a:srgbClr val="FF0000"/>
              </a:solidFill>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References</a:t>
            </a:r>
            <a:endParaRPr lang="en-US" altLang="zh-CN"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Q &amp; A </a:t>
            </a:r>
            <a:endParaRPr lang="en-US" altLang="zh-CN" sz="2935" dirty="0">
              <a:latin typeface="Times New Roman" panose="02020503050405090304" pitchFamily="18" charset="0"/>
              <a:cs typeface="Times New Roman" panose="02020503050405090304" pitchFamily="18" charset="0"/>
            </a:endParaRPr>
          </a:p>
          <a:p>
            <a:pPr lvl="6"/>
            <a:endParaRPr lang="en-US" altLang="zh-CN" sz="1200"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sz="3200" dirty="0">
                <a:latin typeface="Times New Roman" panose="02020503050405090304" pitchFamily="18" charset="0"/>
                <a:ea typeface="Calibri" pitchFamily="34" charset="0"/>
                <a:cs typeface="Times New Roman" panose="02020503050405090304" pitchFamily="18" charset="0"/>
              </a:rPr>
              <a:t>Internal Risks：</a:t>
            </a:r>
            <a:br>
              <a:rPr lang="en-US" altLang="zh-CN" sz="3200" dirty="0">
                <a:latin typeface="Times New Roman" panose="02020503050405090304" pitchFamily="18" charset="0"/>
                <a:ea typeface="Calibri" pitchFamily="34" charset="0"/>
                <a:cs typeface="Times New Roman" panose="02020503050405090304" pitchFamily="18" charset="0"/>
              </a:rPr>
            </a:br>
            <a:r>
              <a:rPr lang="en-US" altLang="zh-CN" sz="3200" dirty="0">
                <a:latin typeface="Times New Roman" panose="02020503050405090304" pitchFamily="18" charset="0"/>
                <a:ea typeface="Calibri" pitchFamily="34" charset="0"/>
                <a:cs typeface="Times New Roman" panose="02020503050405090304" pitchFamily="18" charset="0"/>
              </a:rPr>
              <a:t>Agent Misevolve and Hallucination(</a:t>
            </a:r>
            <a:r>
              <a:rPr lang="zh-CN" altLang="en-US" sz="3200" dirty="0">
                <a:latin typeface="Times New Roman" panose="02020503050405090304" pitchFamily="18" charset="0"/>
                <a:ea typeface="Calibri" pitchFamily="34" charset="0"/>
                <a:cs typeface="Times New Roman" panose="02020503050405090304" pitchFamily="18" charset="0"/>
              </a:rPr>
              <a:t>幻觉</a:t>
            </a:r>
            <a:r>
              <a:rPr lang="en-US" altLang="zh-CN" sz="3200" dirty="0">
                <a:latin typeface="Times New Roman" panose="02020503050405090304" pitchFamily="18" charset="0"/>
                <a:ea typeface="Calibri" pitchFamily="34" charset="0"/>
                <a:cs typeface="Times New Roman" panose="02020503050405090304" pitchFamily="18" charset="0"/>
              </a:rPr>
              <a:t>)</a:t>
            </a:r>
            <a:r>
              <a:rPr lang="en-US" altLang="zh-CN" sz="3200" dirty="0">
                <a:latin typeface="Times New Roman" panose="02020503050405090304" pitchFamily="18" charset="0"/>
                <a:ea typeface="Calibri" pitchFamily="34" charset="0"/>
                <a:cs typeface="Times New Roman" panose="02020503050405090304" pitchFamily="18" charset="0"/>
                <a:sym typeface="+mn-ea"/>
              </a:rPr>
              <a:t> (1/4)</a:t>
            </a:r>
            <a:endParaRPr lang="en-US" altLang="zh-CN" sz="3200" dirty="0">
              <a:latin typeface="Times New Roman" panose="02020503050405090304" pitchFamily="18" charset="0"/>
              <a:ea typeface="Calibri" pitchFamily="34" charset="0"/>
              <a:cs typeface="Times New Roman" panose="02020503050405090304" pitchFamily="18"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3" name="文本框 2"/>
          <p:cNvSpPr txBox="1"/>
          <p:nvPr/>
        </p:nvSpPr>
        <p:spPr>
          <a:xfrm>
            <a:off x="-635" y="1062355"/>
            <a:ext cx="12193270" cy="1076325"/>
          </a:xfrm>
          <a:prstGeom prst="rect">
            <a:avLst/>
          </a:prstGeom>
          <a:noFill/>
        </p:spPr>
        <p:txBody>
          <a:bodyPr wrap="square" rtlCol="0" anchor="t" anchorCtr="0">
            <a:spAutoFit/>
          </a:bodyPr>
          <a:p>
            <a:pPr marL="457200" indent="-457200" algn="l">
              <a:buFont typeface="Wingdings" panose="05000000000000000000" charset="0"/>
              <a:buChar char=""/>
            </a:pPr>
            <a:r>
              <a:rPr lang="en-US" altLang="zh-CN" sz="3200" dirty="0" smtClean="0">
                <a:solidFill>
                  <a:srgbClr val="00B0F0"/>
                </a:solidFill>
                <a:ea typeface="標楷體" pitchFamily="65" charset="-120"/>
                <a:cs typeface="Calibri" pitchFamily="34" charset="0"/>
                <a:sym typeface="+mn-ea"/>
              </a:rPr>
              <a:t> Paper: </a:t>
            </a:r>
            <a:r>
              <a:rPr lang="en-US" altLang="zh-CN" sz="3200" dirty="0" smtClean="0">
                <a:solidFill>
                  <a:srgbClr val="00B0F0"/>
                </a:solidFill>
                <a:ea typeface="標楷體" pitchFamily="65" charset="-120"/>
                <a:cs typeface="Calibri" pitchFamily="34" charset="0"/>
                <a:sym typeface="+mn-ea"/>
              </a:rPr>
              <a:t>Your Agent May Misevolve: Emergent Risks in Self-evolving LLM Agents(ICLR 2026)</a:t>
            </a:r>
            <a:endParaRPr lang="en-US" altLang="zh-CN" sz="3200" dirty="0" smtClean="0">
              <a:solidFill>
                <a:srgbClr val="00B0F0"/>
              </a:solidFill>
              <a:ea typeface="標楷體" pitchFamily="65" charset="-120"/>
              <a:cs typeface="Calibri" pitchFamily="34" charset="0"/>
              <a:sym typeface="+mn-ea"/>
            </a:endParaRPr>
          </a:p>
        </p:txBody>
      </p:sp>
      <p:sp>
        <p:nvSpPr>
          <p:cNvPr id="8" name="文本框 7"/>
          <p:cNvSpPr txBox="1"/>
          <p:nvPr/>
        </p:nvSpPr>
        <p:spPr>
          <a:xfrm>
            <a:off x="415925" y="2138680"/>
            <a:ext cx="10617835" cy="1568450"/>
          </a:xfrm>
          <a:prstGeom prst="rect">
            <a:avLst/>
          </a:prstGeom>
          <a:noFill/>
        </p:spPr>
        <p:txBody>
          <a:bodyPr wrap="square" rtlCol="0" anchor="t" anchorCtr="1">
            <a:spAutoFit/>
          </a:bodyPr>
          <a:p>
            <a:pPr marL="342900" indent="-342900" algn="l">
              <a:buClr>
                <a:srgbClr val="0070C0"/>
              </a:buClr>
              <a:buFont typeface="Wingdings" panose="05000000000000000000" charset="0"/>
              <a:buChar char=""/>
            </a:pPr>
            <a:r>
              <a:rPr lang="en-US" altLang="zh-CN" sz="2400" dirty="0" smtClean="0">
                <a:ea typeface="標楷體" pitchFamily="65" charset="-120"/>
                <a:cs typeface="Calibri" pitchFamily="34" charset="0"/>
                <a:sym typeface="+mn-ea"/>
              </a:rPr>
              <a:t>Modern Agents often possess Memory and </a:t>
            </a:r>
            <a:r>
              <a:rPr lang="en-US" altLang="zh-CN" sz="2400" dirty="0" smtClean="0">
                <a:solidFill>
                  <a:srgbClr val="FF0000"/>
                </a:solidFill>
                <a:ea typeface="標楷體" pitchFamily="65" charset="-120"/>
                <a:cs typeface="Calibri" pitchFamily="34" charset="0"/>
                <a:sym typeface="+mn-ea"/>
              </a:rPr>
              <a:t>Self-evolving</a:t>
            </a:r>
            <a:r>
              <a:rPr lang="en-US" altLang="zh-CN" sz="2400" dirty="0" smtClean="0">
                <a:ea typeface="標楷體" pitchFamily="65" charset="-120"/>
                <a:cs typeface="Calibri" pitchFamily="34" charset="0"/>
                <a:sym typeface="+mn-ea"/>
              </a:rPr>
              <a:t> capabilities. They learn from past interactions to create new tools or update their knowledge base. While efficient, this creates a dangerous </a:t>
            </a:r>
            <a:r>
              <a:rPr lang="en-US" altLang="zh-CN" sz="2400" dirty="0" smtClean="0">
                <a:ea typeface="標楷體" pitchFamily="65" charset="-120"/>
                <a:cs typeface="Calibri" pitchFamily="34" charset="0"/>
                <a:sym typeface="+mn-ea"/>
              </a:rPr>
              <a:t>situation.</a:t>
            </a:r>
            <a:endParaRPr lang="en-US" altLang="zh-CN" sz="2400" dirty="0" smtClean="0">
              <a:ea typeface="標楷體" pitchFamily="65" charset="-120"/>
              <a:cs typeface="Calibri" pitchFamily="34" charset="0"/>
              <a:sym typeface="+mn-ea"/>
            </a:endParaRPr>
          </a:p>
          <a:p>
            <a:pPr marL="342900" indent="-342900" algn="l">
              <a:buClr>
                <a:srgbClr val="0070C0"/>
              </a:buClr>
              <a:buFont typeface="Wingdings" panose="05000000000000000000" charset="0"/>
              <a:buChar char=""/>
            </a:pPr>
            <a:endParaRPr lang="en-US" altLang="zh-CN" sz="2400" dirty="0" smtClean="0">
              <a:ea typeface="標楷體" pitchFamily="65" charset="-120"/>
              <a:cs typeface="Calibri" pitchFamily="34" charset="0"/>
              <a:sym typeface="+mn-ea"/>
            </a:endParaRPr>
          </a:p>
        </p:txBody>
      </p:sp>
      <p:pic>
        <p:nvPicPr>
          <p:cNvPr id="5" name="图片 4" descr="Gemini_Generated_Image_6n4f76n4f76n4f76"/>
          <p:cNvPicPr>
            <a:picLocks noChangeAspect="1"/>
          </p:cNvPicPr>
          <p:nvPr/>
        </p:nvPicPr>
        <p:blipFill>
          <a:blip r:embed="rId1"/>
          <a:srcRect t="14944" b="20880"/>
          <a:stretch>
            <a:fillRect/>
          </a:stretch>
        </p:blipFill>
        <p:spPr>
          <a:xfrm>
            <a:off x="900430" y="3279775"/>
            <a:ext cx="3862070" cy="2478405"/>
          </a:xfrm>
          <a:prstGeom prst="rect">
            <a:avLst/>
          </a:prstGeom>
        </p:spPr>
      </p:pic>
      <p:sp>
        <p:nvSpPr>
          <p:cNvPr id="6" name="文本框 5"/>
          <p:cNvSpPr txBox="1"/>
          <p:nvPr/>
        </p:nvSpPr>
        <p:spPr>
          <a:xfrm>
            <a:off x="536575" y="5619750"/>
            <a:ext cx="5870575" cy="368300"/>
          </a:xfrm>
          <a:prstGeom prst="rect">
            <a:avLst/>
          </a:prstGeom>
          <a:noFill/>
        </p:spPr>
        <p:txBody>
          <a:bodyPr wrap="square" rtlCol="0" anchor="t" anchorCtr="0">
            <a:spAutoFit/>
          </a:bodyPr>
          <a:p>
            <a:r>
              <a:rPr lang="en-US" altLang="zh-CN" dirty="0" smtClean="0">
                <a:ea typeface="標楷體" pitchFamily="65" charset="-120"/>
                <a:cs typeface="Calibri" pitchFamily="34" charset="0"/>
              </a:rPr>
              <a:t>Fig.3 The loop of bad output cause self-evolving</a:t>
            </a:r>
            <a:endParaRPr lang="en-US" altLang="zh-CN" dirty="0" smtClean="0">
              <a:ea typeface="標楷體" pitchFamily="65" charset="-120"/>
              <a:cs typeface="Calibri"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sz="3200" dirty="0">
                <a:latin typeface="Times New Roman" panose="02020503050405090304" pitchFamily="18" charset="0"/>
                <a:ea typeface="Calibri" pitchFamily="34" charset="0"/>
                <a:cs typeface="Times New Roman" panose="02020503050405090304" pitchFamily="18" charset="0"/>
              </a:rPr>
              <a:t>Internal Risks：</a:t>
            </a:r>
            <a:br>
              <a:rPr lang="en-US" altLang="zh-CN" sz="3200" dirty="0">
                <a:latin typeface="Times New Roman" panose="02020503050405090304" pitchFamily="18" charset="0"/>
                <a:ea typeface="Calibri" pitchFamily="34" charset="0"/>
                <a:cs typeface="Times New Roman" panose="02020503050405090304" pitchFamily="18" charset="0"/>
              </a:rPr>
            </a:br>
            <a:r>
              <a:rPr lang="en-US" altLang="zh-CN" sz="3200" dirty="0">
                <a:latin typeface="Times New Roman" panose="02020503050405090304" pitchFamily="18" charset="0"/>
                <a:ea typeface="Calibri" pitchFamily="34" charset="0"/>
                <a:cs typeface="Times New Roman" panose="02020503050405090304" pitchFamily="18" charset="0"/>
              </a:rPr>
              <a:t>Agent Misevolve and Hallucination</a:t>
            </a:r>
            <a:r>
              <a:rPr lang="en-US" altLang="zh-CN" sz="3200" dirty="0">
                <a:latin typeface="Times New Roman" panose="02020503050405090304" pitchFamily="18" charset="0"/>
                <a:ea typeface="Calibri" pitchFamily="34" charset="0"/>
                <a:cs typeface="Times New Roman" panose="02020503050405090304" pitchFamily="18" charset="0"/>
                <a:sym typeface="+mn-ea"/>
              </a:rPr>
              <a:t>(</a:t>
            </a:r>
            <a:r>
              <a:rPr lang="zh-CN" altLang="en-US" sz="3200" dirty="0">
                <a:latin typeface="Times New Roman" panose="02020503050405090304" pitchFamily="18" charset="0"/>
                <a:ea typeface="Calibri" pitchFamily="34" charset="0"/>
                <a:cs typeface="Times New Roman" panose="02020503050405090304" pitchFamily="18" charset="0"/>
                <a:sym typeface="+mn-ea"/>
              </a:rPr>
              <a:t>幻觉</a:t>
            </a:r>
            <a:r>
              <a:rPr lang="en-US" altLang="zh-CN" sz="3200" dirty="0">
                <a:latin typeface="Times New Roman" panose="02020503050405090304" pitchFamily="18" charset="0"/>
                <a:ea typeface="Calibri" pitchFamily="34" charset="0"/>
                <a:cs typeface="Times New Roman" panose="02020503050405090304" pitchFamily="18" charset="0"/>
                <a:sym typeface="+mn-ea"/>
              </a:rPr>
              <a:t>) (2/4)</a:t>
            </a:r>
            <a:endParaRPr lang="en-US" altLang="zh-CN" sz="3200" dirty="0">
              <a:latin typeface="Times New Roman" panose="02020503050405090304" pitchFamily="18" charset="0"/>
              <a:ea typeface="Calibri" pitchFamily="34" charset="0"/>
              <a:cs typeface="Times New Roman" panose="02020503050405090304" pitchFamily="18"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3" name="文本框 2"/>
          <p:cNvSpPr txBox="1"/>
          <p:nvPr/>
        </p:nvSpPr>
        <p:spPr>
          <a:xfrm>
            <a:off x="-635" y="1062355"/>
            <a:ext cx="12193270" cy="1076325"/>
          </a:xfrm>
          <a:prstGeom prst="rect">
            <a:avLst/>
          </a:prstGeom>
          <a:noFill/>
        </p:spPr>
        <p:txBody>
          <a:bodyPr wrap="square" rtlCol="0" anchor="t" anchorCtr="0">
            <a:spAutoFit/>
          </a:bodyPr>
          <a:p>
            <a:pPr marL="457200" indent="-457200" algn="l">
              <a:buFont typeface="Wingdings" panose="05000000000000000000" charset="0"/>
              <a:buChar char=""/>
            </a:pPr>
            <a:r>
              <a:rPr lang="en-US" altLang="zh-CN" sz="3200" dirty="0" smtClean="0">
                <a:solidFill>
                  <a:srgbClr val="00B0F0"/>
                </a:solidFill>
                <a:ea typeface="標楷體" pitchFamily="65" charset="-120"/>
                <a:cs typeface="Calibri" pitchFamily="34" charset="0"/>
                <a:sym typeface="+mn-ea"/>
              </a:rPr>
              <a:t> Paper: </a:t>
            </a:r>
            <a:r>
              <a:rPr lang="en-US" altLang="zh-CN" sz="3200" dirty="0" smtClean="0">
                <a:solidFill>
                  <a:srgbClr val="00B0F0"/>
                </a:solidFill>
                <a:ea typeface="標楷體" pitchFamily="65" charset="-120"/>
                <a:cs typeface="Calibri" pitchFamily="34" charset="0"/>
                <a:sym typeface="+mn-ea"/>
              </a:rPr>
              <a:t>Your Agent May Misevolve: Emergent Risks in Self-evolving LLM Agents(ICLR 2026)</a:t>
            </a:r>
            <a:endParaRPr lang="en-US" altLang="zh-CN" sz="3200" dirty="0" smtClean="0">
              <a:solidFill>
                <a:srgbClr val="00B0F0"/>
              </a:solidFill>
              <a:ea typeface="標楷體" pitchFamily="65" charset="-120"/>
              <a:cs typeface="Calibri" pitchFamily="34" charset="0"/>
              <a:sym typeface="+mn-ea"/>
            </a:endParaRPr>
          </a:p>
        </p:txBody>
      </p:sp>
      <p:sp>
        <p:nvSpPr>
          <p:cNvPr id="8" name="文本框 7"/>
          <p:cNvSpPr txBox="1"/>
          <p:nvPr/>
        </p:nvSpPr>
        <p:spPr>
          <a:xfrm>
            <a:off x="415925" y="2138680"/>
            <a:ext cx="10617835" cy="3784600"/>
          </a:xfrm>
          <a:prstGeom prst="rect">
            <a:avLst/>
          </a:prstGeom>
          <a:noFill/>
        </p:spPr>
        <p:txBody>
          <a:bodyPr wrap="square" rtlCol="0" anchor="t" anchorCtr="0">
            <a:spAutoFit/>
          </a:bodyPr>
          <a:p>
            <a:pPr marL="342900" indent="-342900" algn="l">
              <a:buClr>
                <a:srgbClr val="0070C0"/>
              </a:buClr>
              <a:buFont typeface="Wingdings" panose="05000000000000000000" charset="0"/>
              <a:buChar char=""/>
            </a:pPr>
            <a:r>
              <a:rPr lang="en-US" altLang="zh-CN" sz="2400" dirty="0" smtClean="0">
                <a:ea typeface="標楷體" pitchFamily="65" charset="-120"/>
                <a:cs typeface="Calibri" pitchFamily="34" charset="0"/>
                <a:sym typeface="+mn-ea"/>
              </a:rPr>
              <a:t>Misevolve in simple </a:t>
            </a:r>
            <a:r>
              <a:rPr lang="en-US" altLang="zh-CN" sz="2400" dirty="0" smtClean="0">
                <a:ea typeface="標楷體" pitchFamily="65" charset="-120"/>
                <a:cs typeface="Calibri" pitchFamily="34" charset="0"/>
                <a:sym typeface="+mn-ea"/>
              </a:rPr>
              <a:t>example：</a:t>
            </a:r>
            <a:endParaRPr lang="en-US" altLang="zh-CN" sz="2400" dirty="0" smtClean="0">
              <a:ea typeface="標楷體" pitchFamily="65" charset="-120"/>
              <a:cs typeface="Calibri" pitchFamily="34" charset="0"/>
              <a:sym typeface="+mn-ea"/>
            </a:endParaRPr>
          </a:p>
          <a:p>
            <a:pPr marL="342900" indent="-342900" algn="l">
              <a:buClr>
                <a:srgbClr val="0070C0"/>
              </a:buClr>
              <a:buFont typeface="PingFang SC" panose="020B0400000000000000" charset="-122"/>
              <a:buChar char="-"/>
            </a:pPr>
            <a:r>
              <a:rPr lang="en-US" altLang="zh-CN" sz="2400" dirty="0" smtClean="0">
                <a:ea typeface="標楷體" pitchFamily="65" charset="-120"/>
                <a:cs typeface="Calibri" pitchFamily="34" charset="0"/>
                <a:sym typeface="+mn-ea"/>
              </a:rPr>
              <a:t>If an agent experiences a minor hallucination during a task—such as incorrectly remembering the usage of an API—it writes this error into its </a:t>
            </a:r>
            <a:r>
              <a:rPr lang="en-US" altLang="zh-CN" sz="2400" b="1" dirty="0" smtClean="0">
                <a:latin typeface="Arial Bold" panose="020B0604020202090204" charset="0"/>
                <a:ea typeface="標楷體" pitchFamily="65" charset="-120"/>
                <a:cs typeface="Arial Bold" panose="020B0604020202090204" charset="0"/>
                <a:sym typeface="+mn-ea"/>
              </a:rPr>
              <a:t>long-term memory</a:t>
            </a:r>
            <a:r>
              <a:rPr lang="en-US" altLang="zh-CN" sz="2400" dirty="0" smtClean="0">
                <a:ea typeface="標楷體" pitchFamily="65" charset="-120"/>
                <a:cs typeface="Calibri" pitchFamily="34" charset="0"/>
                <a:sym typeface="+mn-ea"/>
              </a:rPr>
              <a:t>.</a:t>
            </a:r>
            <a:endParaRPr lang="en-US" altLang="zh-CN" sz="2400" dirty="0" smtClean="0">
              <a:ea typeface="標楷體" pitchFamily="65" charset="-120"/>
              <a:cs typeface="Calibri" pitchFamily="34" charset="0"/>
              <a:sym typeface="+mn-ea"/>
            </a:endParaRPr>
          </a:p>
          <a:p>
            <a:pPr marL="342900" indent="-342900" algn="l">
              <a:buClr>
                <a:srgbClr val="0070C0"/>
              </a:buClr>
              <a:buFont typeface="PingFang SC" panose="020B0400000000000000" charset="-122"/>
              <a:buChar char="-"/>
            </a:pPr>
            <a:r>
              <a:rPr lang="en-US" altLang="zh-CN" sz="2400" dirty="0" smtClean="0">
                <a:ea typeface="標楷體" pitchFamily="65" charset="-120"/>
                <a:cs typeface="Calibri" pitchFamily="34" charset="0"/>
                <a:sym typeface="+mn-ea"/>
              </a:rPr>
              <a:t>In subsequent tasks, the agent will reinforce itself based on this wrong memory. This is called </a:t>
            </a:r>
            <a:r>
              <a:rPr lang="en-US" altLang="zh-CN" sz="2400" dirty="0" smtClean="0">
                <a:solidFill>
                  <a:srgbClr val="FF0000"/>
                </a:solidFill>
                <a:ea typeface="標楷體" pitchFamily="65" charset="-120"/>
                <a:cs typeface="Calibri" pitchFamily="34" charset="0"/>
                <a:sym typeface="+mn-ea"/>
              </a:rPr>
              <a:t>misevolution</a:t>
            </a:r>
            <a:r>
              <a:rPr lang="en-US" altLang="zh-CN" sz="2400" dirty="0" smtClean="0">
                <a:ea typeface="標楷體" pitchFamily="65" charset="-120"/>
                <a:cs typeface="Calibri" pitchFamily="34" charset="0"/>
                <a:sym typeface="+mn-ea"/>
              </a:rPr>
              <a:t>. </a:t>
            </a:r>
            <a:endParaRPr lang="en-US" altLang="zh-CN" sz="2400" dirty="0" smtClean="0">
              <a:ea typeface="標楷體" pitchFamily="65" charset="-120"/>
              <a:cs typeface="Calibri" pitchFamily="34" charset="0"/>
              <a:sym typeface="+mn-ea"/>
            </a:endParaRPr>
          </a:p>
          <a:p>
            <a:pPr marL="342900" indent="-342900" algn="l">
              <a:buClr>
                <a:srgbClr val="0070C0"/>
              </a:buClr>
              <a:buFont typeface="Wingdings" panose="05000000000000000000" charset="0"/>
              <a:buChar char=""/>
            </a:pPr>
            <a:endParaRPr lang="en-US" altLang="zh-CN" sz="2400" dirty="0" smtClean="0">
              <a:ea typeface="標楷體" pitchFamily="65" charset="-120"/>
              <a:cs typeface="Calibri" pitchFamily="34" charset="0"/>
              <a:sym typeface="+mn-ea"/>
            </a:endParaRPr>
          </a:p>
          <a:p>
            <a:pPr marL="342900" indent="-342900" algn="l">
              <a:buClr>
                <a:srgbClr val="0070C0"/>
              </a:buClr>
              <a:buFont typeface="Wingdings" panose="05000000000000000000" charset="0"/>
              <a:buChar char=""/>
            </a:pPr>
            <a:r>
              <a:rPr lang="en-US" altLang="zh-CN" sz="2400" dirty="0" smtClean="0">
                <a:ea typeface="標楷體" pitchFamily="65" charset="-120"/>
                <a:cs typeface="Calibri" pitchFamily="34" charset="0"/>
                <a:sym typeface="+mn-ea"/>
              </a:rPr>
              <a:t>It's like an employee misreading security guidelines on their first day and then performing all their work based on that incorrect guideline.</a:t>
            </a:r>
            <a:endParaRPr lang="en-US" altLang="zh-CN" sz="2400" dirty="0" smtClean="0">
              <a:ea typeface="標楷體" pitchFamily="65" charset="-120"/>
              <a:cs typeface="Calibri" pitchFamily="34" charset="0"/>
              <a:sym typeface="+mn-ea"/>
            </a:endParaRPr>
          </a:p>
          <a:p>
            <a:pPr indent="457200" algn="l"/>
            <a:endParaRPr lang="en-US" altLang="zh-CN" sz="2400" dirty="0" smtClean="0">
              <a:ea typeface="標楷體" pitchFamily="65" charset="-120"/>
              <a:cs typeface="Calibri" pitchFamily="34" charset="0"/>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sz="3200" dirty="0">
                <a:latin typeface="Times New Roman" panose="02020503050405090304" pitchFamily="18" charset="0"/>
                <a:ea typeface="Calibri" pitchFamily="34" charset="0"/>
                <a:cs typeface="Times New Roman" panose="02020503050405090304" pitchFamily="18" charset="0"/>
              </a:rPr>
              <a:t>Internal Risks：</a:t>
            </a:r>
            <a:br>
              <a:rPr lang="en-US" altLang="zh-CN" sz="3200" dirty="0">
                <a:latin typeface="Times New Roman" panose="02020503050405090304" pitchFamily="18" charset="0"/>
                <a:ea typeface="Calibri" pitchFamily="34" charset="0"/>
                <a:cs typeface="Times New Roman" panose="02020503050405090304" pitchFamily="18" charset="0"/>
              </a:rPr>
            </a:br>
            <a:r>
              <a:rPr lang="en-US" altLang="zh-CN" sz="3200" dirty="0">
                <a:latin typeface="Times New Roman" panose="02020503050405090304" pitchFamily="18" charset="0"/>
                <a:ea typeface="Calibri" pitchFamily="34" charset="0"/>
                <a:cs typeface="Times New Roman" panose="02020503050405090304" pitchFamily="18" charset="0"/>
              </a:rPr>
              <a:t>Agent Misevolve and Hallucination</a:t>
            </a:r>
            <a:r>
              <a:rPr lang="en-US" altLang="zh-CN" sz="3200" dirty="0">
                <a:latin typeface="Times New Roman" panose="02020503050405090304" pitchFamily="18" charset="0"/>
                <a:ea typeface="Calibri" pitchFamily="34" charset="0"/>
                <a:cs typeface="Times New Roman" panose="02020503050405090304" pitchFamily="18" charset="0"/>
                <a:sym typeface="+mn-ea"/>
              </a:rPr>
              <a:t>(</a:t>
            </a:r>
            <a:r>
              <a:rPr lang="zh-CN" altLang="en-US" sz="3200" dirty="0">
                <a:latin typeface="Times New Roman" panose="02020503050405090304" pitchFamily="18" charset="0"/>
                <a:ea typeface="Calibri" pitchFamily="34" charset="0"/>
                <a:cs typeface="Times New Roman" panose="02020503050405090304" pitchFamily="18" charset="0"/>
                <a:sym typeface="+mn-ea"/>
              </a:rPr>
              <a:t>幻觉</a:t>
            </a:r>
            <a:r>
              <a:rPr lang="en-US" altLang="zh-CN" sz="3200" dirty="0">
                <a:latin typeface="Times New Roman" panose="02020503050405090304" pitchFamily="18" charset="0"/>
                <a:ea typeface="Calibri" pitchFamily="34" charset="0"/>
                <a:cs typeface="Times New Roman" panose="02020503050405090304" pitchFamily="18" charset="0"/>
                <a:sym typeface="+mn-ea"/>
              </a:rPr>
              <a:t>)</a:t>
            </a:r>
            <a:r>
              <a:rPr lang="en-US" altLang="zh-CN" sz="3200" dirty="0">
                <a:latin typeface="Times New Roman" panose="02020503050405090304" pitchFamily="18" charset="0"/>
                <a:ea typeface="Calibri" pitchFamily="34" charset="0"/>
                <a:cs typeface="Times New Roman" panose="02020503050405090304" pitchFamily="18" charset="0"/>
              </a:rPr>
              <a:t> (3/4)</a:t>
            </a:r>
            <a:endParaRPr lang="en-US" altLang="zh-CN" sz="3200" dirty="0">
              <a:latin typeface="Times New Roman" panose="02020503050405090304" pitchFamily="18" charset="0"/>
              <a:ea typeface="Calibri" pitchFamily="34" charset="0"/>
              <a:cs typeface="Times New Roman" panose="02020503050405090304" pitchFamily="18"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3" name="文本框 2"/>
          <p:cNvSpPr txBox="1"/>
          <p:nvPr/>
        </p:nvSpPr>
        <p:spPr>
          <a:xfrm>
            <a:off x="-635" y="1062355"/>
            <a:ext cx="12193270" cy="1076325"/>
          </a:xfrm>
          <a:prstGeom prst="rect">
            <a:avLst/>
          </a:prstGeom>
          <a:noFill/>
        </p:spPr>
        <p:txBody>
          <a:bodyPr wrap="square" rtlCol="0" anchor="t" anchorCtr="0">
            <a:spAutoFit/>
          </a:bodyPr>
          <a:p>
            <a:pPr marL="457200" indent="-457200" algn="l">
              <a:buFont typeface="Wingdings" panose="05000000000000000000" charset="0"/>
              <a:buChar char=""/>
            </a:pPr>
            <a:r>
              <a:rPr lang="en-US" altLang="zh-CN" sz="3200" dirty="0" smtClean="0">
                <a:solidFill>
                  <a:srgbClr val="00B0F0"/>
                </a:solidFill>
                <a:ea typeface="標楷體" pitchFamily="65" charset="-120"/>
                <a:cs typeface="Calibri" pitchFamily="34" charset="0"/>
                <a:sym typeface="+mn-ea"/>
              </a:rPr>
              <a:t> Paper: </a:t>
            </a:r>
            <a:r>
              <a:rPr lang="en-US" altLang="zh-CN" sz="3200" dirty="0" smtClean="0">
                <a:solidFill>
                  <a:srgbClr val="00B0F0"/>
                </a:solidFill>
                <a:ea typeface="標楷體" pitchFamily="65" charset="-120"/>
                <a:cs typeface="Calibri" pitchFamily="34" charset="0"/>
                <a:sym typeface="+mn-ea"/>
              </a:rPr>
              <a:t>Your Agent May Misevolve: Emergent Risks in Self-evolving LLM Agents(ICLR 2026)</a:t>
            </a:r>
            <a:endParaRPr lang="en-US" altLang="zh-CN" sz="3200" dirty="0" smtClean="0">
              <a:solidFill>
                <a:srgbClr val="00B0F0"/>
              </a:solidFill>
              <a:ea typeface="標楷體" pitchFamily="65" charset="-120"/>
              <a:cs typeface="Calibri" pitchFamily="34" charset="0"/>
              <a:sym typeface="+mn-ea"/>
            </a:endParaRPr>
          </a:p>
        </p:txBody>
      </p:sp>
      <p:pic>
        <p:nvPicPr>
          <p:cNvPr id="5" name="图片 4"/>
          <p:cNvPicPr>
            <a:picLocks noChangeAspect="1"/>
          </p:cNvPicPr>
          <p:nvPr/>
        </p:nvPicPr>
        <p:blipFill>
          <a:blip r:embed="rId1"/>
          <a:stretch>
            <a:fillRect/>
          </a:stretch>
        </p:blipFill>
        <p:spPr>
          <a:xfrm>
            <a:off x="-635" y="2242820"/>
            <a:ext cx="12192000" cy="3451225"/>
          </a:xfrm>
          <a:prstGeom prst="rect">
            <a:avLst/>
          </a:prstGeom>
        </p:spPr>
      </p:pic>
      <p:sp>
        <p:nvSpPr>
          <p:cNvPr id="6" name="文本框 5"/>
          <p:cNvSpPr txBox="1"/>
          <p:nvPr/>
        </p:nvSpPr>
        <p:spPr>
          <a:xfrm>
            <a:off x="3716655" y="5741670"/>
            <a:ext cx="4064000" cy="368300"/>
          </a:xfrm>
          <a:prstGeom prst="rect">
            <a:avLst/>
          </a:prstGeom>
          <a:noFill/>
        </p:spPr>
        <p:txBody>
          <a:bodyPr wrap="square" rtlCol="0" anchor="ctr" anchorCtr="1">
            <a:spAutoFit/>
          </a:bodyPr>
          <a:p>
            <a:r>
              <a:rPr lang="en-US" altLang="zh-CN" dirty="0" smtClean="0">
                <a:ea typeface="標楷體" pitchFamily="65" charset="-120"/>
                <a:cs typeface="Calibri" pitchFamily="34" charset="0"/>
              </a:rPr>
              <a:t>Fig.4 Different kind of </a:t>
            </a:r>
            <a:r>
              <a:rPr lang="en-US" altLang="zh-CN">
                <a:sym typeface="+mn-ea"/>
              </a:rPr>
              <a:t>misevolution</a:t>
            </a:r>
            <a:r>
              <a:rPr lang="en-US" altLang="zh-CN" dirty="0" smtClean="0">
                <a:ea typeface="標楷體" pitchFamily="65" charset="-120"/>
                <a:cs typeface="Calibri" pitchFamily="34" charset="0"/>
              </a:rPr>
              <a:t> </a:t>
            </a:r>
            <a:endParaRPr lang="en-US" altLang="zh-CN" dirty="0" smtClean="0">
              <a:ea typeface="標楷體" pitchFamily="65" charset="-120"/>
              <a:cs typeface="Calibri"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sz="3200" dirty="0">
                <a:latin typeface="Times New Roman" panose="02020503050405090304" pitchFamily="18" charset="0"/>
                <a:ea typeface="Calibri" pitchFamily="34" charset="0"/>
                <a:cs typeface="Times New Roman" panose="02020503050405090304" pitchFamily="18" charset="0"/>
              </a:rPr>
              <a:t>Internal Risks：</a:t>
            </a:r>
            <a:br>
              <a:rPr lang="en-US" altLang="zh-CN" sz="3200" dirty="0">
                <a:latin typeface="Times New Roman" panose="02020503050405090304" pitchFamily="18" charset="0"/>
                <a:ea typeface="Calibri" pitchFamily="34" charset="0"/>
                <a:cs typeface="Times New Roman" panose="02020503050405090304" pitchFamily="18" charset="0"/>
              </a:rPr>
            </a:br>
            <a:r>
              <a:rPr lang="en-US" altLang="zh-CN" sz="3200" dirty="0">
                <a:latin typeface="Times New Roman" panose="02020503050405090304" pitchFamily="18" charset="0"/>
                <a:ea typeface="Calibri" pitchFamily="34" charset="0"/>
                <a:cs typeface="Times New Roman" panose="02020503050405090304" pitchFamily="18" charset="0"/>
              </a:rPr>
              <a:t>Agent Misevolve and Hallucination</a:t>
            </a:r>
            <a:r>
              <a:rPr lang="en-US" altLang="zh-CN" sz="3200" dirty="0">
                <a:latin typeface="Times New Roman" panose="02020503050405090304" pitchFamily="18" charset="0"/>
                <a:ea typeface="Calibri" pitchFamily="34" charset="0"/>
                <a:cs typeface="Times New Roman" panose="02020503050405090304" pitchFamily="18" charset="0"/>
                <a:sym typeface="+mn-ea"/>
              </a:rPr>
              <a:t>(</a:t>
            </a:r>
            <a:r>
              <a:rPr lang="zh-CN" altLang="en-US" sz="3200" dirty="0">
                <a:latin typeface="Times New Roman" panose="02020503050405090304" pitchFamily="18" charset="0"/>
                <a:ea typeface="Calibri" pitchFamily="34" charset="0"/>
                <a:cs typeface="Times New Roman" panose="02020503050405090304" pitchFamily="18" charset="0"/>
                <a:sym typeface="+mn-ea"/>
              </a:rPr>
              <a:t>幻觉</a:t>
            </a:r>
            <a:r>
              <a:rPr lang="en-US" altLang="zh-CN" sz="3200" dirty="0">
                <a:latin typeface="Times New Roman" panose="02020503050405090304" pitchFamily="18" charset="0"/>
                <a:ea typeface="Calibri" pitchFamily="34" charset="0"/>
                <a:cs typeface="Times New Roman" panose="02020503050405090304" pitchFamily="18" charset="0"/>
                <a:sym typeface="+mn-ea"/>
              </a:rPr>
              <a:t>)</a:t>
            </a:r>
            <a:r>
              <a:rPr lang="en-US" altLang="zh-CN" sz="3200" dirty="0">
                <a:latin typeface="Times New Roman" panose="02020503050405090304" pitchFamily="18" charset="0"/>
                <a:ea typeface="Calibri" pitchFamily="34" charset="0"/>
                <a:cs typeface="Times New Roman" panose="02020503050405090304" pitchFamily="18" charset="0"/>
              </a:rPr>
              <a:t> (4/4)</a:t>
            </a:r>
            <a:endParaRPr lang="en-US" altLang="zh-CN" sz="3200" dirty="0">
              <a:latin typeface="Times New Roman" panose="02020503050405090304" pitchFamily="18" charset="0"/>
              <a:ea typeface="Calibri" pitchFamily="34" charset="0"/>
              <a:cs typeface="Times New Roman" panose="02020503050405090304" pitchFamily="18"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3" name="文本框 2"/>
          <p:cNvSpPr txBox="1"/>
          <p:nvPr/>
        </p:nvSpPr>
        <p:spPr>
          <a:xfrm>
            <a:off x="-635" y="1062355"/>
            <a:ext cx="12193270" cy="1076325"/>
          </a:xfrm>
          <a:prstGeom prst="rect">
            <a:avLst/>
          </a:prstGeom>
          <a:noFill/>
        </p:spPr>
        <p:txBody>
          <a:bodyPr wrap="square" rtlCol="0" anchor="t" anchorCtr="0">
            <a:spAutoFit/>
          </a:bodyPr>
          <a:p>
            <a:pPr marL="457200" indent="-457200" algn="l">
              <a:buFont typeface="Wingdings" panose="05000000000000000000" charset="0"/>
              <a:buChar char=""/>
            </a:pPr>
            <a:r>
              <a:rPr lang="en-US" altLang="zh-CN" sz="3200" dirty="0" smtClean="0">
                <a:solidFill>
                  <a:srgbClr val="00B0F0"/>
                </a:solidFill>
                <a:ea typeface="標楷體" pitchFamily="65" charset="-120"/>
                <a:cs typeface="Calibri" pitchFamily="34" charset="0"/>
                <a:sym typeface="+mn-ea"/>
              </a:rPr>
              <a:t> Paper: </a:t>
            </a:r>
            <a:r>
              <a:rPr lang="en-US" altLang="zh-CN" sz="3200" dirty="0" smtClean="0">
                <a:solidFill>
                  <a:srgbClr val="00B0F0"/>
                </a:solidFill>
                <a:ea typeface="標楷體" pitchFamily="65" charset="-120"/>
                <a:cs typeface="Calibri" pitchFamily="34" charset="0"/>
                <a:sym typeface="+mn-ea"/>
              </a:rPr>
              <a:t>Your Agent May Misevolve: Emergent Risks in Self-evolving LLM Agents(ICLR 2026)</a:t>
            </a:r>
            <a:endParaRPr lang="en-US" altLang="zh-CN" sz="3200" dirty="0" smtClean="0">
              <a:solidFill>
                <a:srgbClr val="00B0F0"/>
              </a:solidFill>
              <a:ea typeface="標楷體" pitchFamily="65" charset="-120"/>
              <a:cs typeface="Calibri" pitchFamily="34" charset="0"/>
              <a:sym typeface="+mn-ea"/>
            </a:endParaRPr>
          </a:p>
        </p:txBody>
      </p:sp>
      <p:pic>
        <p:nvPicPr>
          <p:cNvPr id="6" name="图片 5"/>
          <p:cNvPicPr>
            <a:picLocks noChangeAspect="1"/>
          </p:cNvPicPr>
          <p:nvPr/>
        </p:nvPicPr>
        <p:blipFill>
          <a:blip r:embed="rId1"/>
          <a:stretch>
            <a:fillRect/>
          </a:stretch>
        </p:blipFill>
        <p:spPr>
          <a:xfrm>
            <a:off x="-635" y="2242820"/>
            <a:ext cx="12192000" cy="2322195"/>
          </a:xfrm>
          <a:prstGeom prst="rect">
            <a:avLst/>
          </a:prstGeom>
        </p:spPr>
      </p:pic>
      <p:sp>
        <p:nvSpPr>
          <p:cNvPr id="7" name="文本框 6"/>
          <p:cNvSpPr txBox="1"/>
          <p:nvPr/>
        </p:nvSpPr>
        <p:spPr>
          <a:xfrm>
            <a:off x="-635" y="4608830"/>
            <a:ext cx="11811000" cy="368300"/>
          </a:xfrm>
          <a:prstGeom prst="rect">
            <a:avLst/>
          </a:prstGeom>
          <a:noFill/>
        </p:spPr>
        <p:txBody>
          <a:bodyPr wrap="square" rtlCol="0" anchor="ctr" anchorCtr="1">
            <a:spAutoFit/>
          </a:bodyPr>
          <a:p>
            <a:r>
              <a:rPr lang="en-US" altLang="zh-CN" dirty="0" smtClean="0">
                <a:ea typeface="標楷體" pitchFamily="65" charset="-120"/>
                <a:cs typeface="Calibri" pitchFamily="34" charset="0"/>
              </a:rPr>
              <a:t>Fig.5 Unsafe Rate (averaged over 3 runs) of different LLMs after memory misevolution.</a:t>
            </a:r>
            <a:endParaRPr lang="en-US" altLang="zh-CN" dirty="0" smtClean="0">
              <a:ea typeface="標楷體" pitchFamily="65" charset="-120"/>
              <a:cs typeface="Calibri"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latin typeface="Times New Roman" panose="02020503050405090304" pitchFamily="18" charset="0"/>
                <a:cs typeface="Times New Roman" panose="02020503050405090304" pitchFamily="18" charset="0"/>
              </a:rPr>
              <a:t>Outline</a:t>
            </a:r>
            <a:endParaRPr lang="zh-TW" altLang="en-US" dirty="0">
              <a:latin typeface="Times New Roman" panose="02020503050405090304" pitchFamily="18" charset="0"/>
              <a:cs typeface="Times New Roman" panose="02020503050405090304" pitchFamily="18" charset="0"/>
            </a:endParaRPr>
          </a:p>
        </p:txBody>
      </p:sp>
      <p:sp>
        <p:nvSpPr>
          <p:cNvPr id="3" name="內容版面配置區 2"/>
          <p:cNvSpPr>
            <a:spLocks noGrp="1"/>
          </p:cNvSpPr>
          <p:nvPr>
            <p:ph idx="1"/>
          </p:nvPr>
        </p:nvSpPr>
        <p:spPr>
          <a:xfrm>
            <a:off x="1311423" y="1125537"/>
            <a:ext cx="10270977" cy="4806633"/>
          </a:xfrm>
        </p:spPr>
        <p:txBody>
          <a:bodyPr>
            <a:noAutofit/>
          </a:bodyPr>
          <a:lstStyle/>
          <a:p>
            <a:r>
              <a:rPr lang="en-US" altLang="zh-CN" sz="2935" dirty="0">
                <a:latin typeface="Times New Roman" panose="02020503050405090304" pitchFamily="18" charset="0"/>
                <a:cs typeface="Times New Roman" panose="02020503050405090304" pitchFamily="18" charset="0"/>
              </a:rPr>
              <a:t>Introduction </a:t>
            </a:r>
            <a:endParaRPr lang="en-US" altLang="zh-TW"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Background &amp; Overview</a:t>
            </a:r>
            <a:endParaRPr lang="en-US" altLang="zh-CN" sz="2935" dirty="0">
              <a:latin typeface="Times New Roman" panose="02020503050405090304" pitchFamily="18" charset="0"/>
              <a:cs typeface="Times New Roman" panose="02020503050405090304" pitchFamily="18" charset="0"/>
            </a:endParaRPr>
          </a:p>
          <a:p>
            <a:pPr lvl="1"/>
            <a:r>
              <a:rPr lang="en-US" altLang="zh-CN" sz="2510" dirty="0">
                <a:latin typeface="Times New Roman" panose="02020503050405090304" pitchFamily="18" charset="0"/>
                <a:cs typeface="Times New Roman" panose="02020503050405090304" pitchFamily="18" charset="0"/>
              </a:rPr>
              <a:t>OmniParser </a:t>
            </a:r>
            <a:endParaRPr lang="en-US" altLang="zh-CN" sz="2510"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Related Work: Risk Analysis</a:t>
            </a:r>
            <a:endParaRPr lang="en-US" altLang="zh-CN" sz="2935"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External Threats </a:t>
            </a:r>
            <a:endParaRPr lang="en-US" altLang="zh-CN" sz="1995"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Internal Risks </a:t>
            </a:r>
            <a:endParaRPr lang="en-US" altLang="zh-CN" sz="2400" dirty="0">
              <a:latin typeface="Times New Roman" panose="02020503050405090304" pitchFamily="18" charset="0"/>
              <a:cs typeface="Times New Roman" panose="02020503050405090304" pitchFamily="18" charset="0"/>
            </a:endParaRPr>
          </a:p>
          <a:p>
            <a:r>
              <a:rPr lang="en-US" altLang="zh-CN" sz="2935" dirty="0">
                <a:solidFill>
                  <a:srgbClr val="FF0000"/>
                </a:solidFill>
                <a:latin typeface="Times New Roman" panose="02020503050405090304" pitchFamily="18" charset="0"/>
                <a:cs typeface="Times New Roman" panose="02020503050405090304" pitchFamily="18" charset="0"/>
              </a:rPr>
              <a:t>Defense Assumption</a:t>
            </a:r>
            <a:r>
              <a:rPr lang="en-US" altLang="zh-CN" sz="2935" dirty="0">
                <a:latin typeface="Times New Roman" panose="02020503050405090304" pitchFamily="18" charset="0"/>
                <a:cs typeface="Times New Roman" panose="02020503050405090304" pitchFamily="18" charset="0"/>
              </a:rPr>
              <a:t> </a:t>
            </a:r>
            <a:r>
              <a:rPr lang="en-US" altLang="zh-CN" sz="2935" dirty="0">
                <a:solidFill>
                  <a:srgbClr val="FF0000"/>
                </a:solidFill>
                <a:latin typeface="Times New Roman" panose="02020503050405090304" pitchFamily="18" charset="0"/>
                <a:cs typeface="Times New Roman" panose="02020503050405090304" pitchFamily="18" charset="0"/>
              </a:rPr>
              <a:t> </a:t>
            </a:r>
            <a:r>
              <a:rPr lang="en-US" altLang="zh-CN" sz="2935" dirty="0">
                <a:solidFill>
                  <a:srgbClr val="FF0000"/>
                </a:solidFill>
                <a:latin typeface="Times New Roman" panose="02020503050405090304" pitchFamily="18" charset="0"/>
                <a:cs typeface="Times New Roman" panose="02020503050405090304" pitchFamily="18" charset="0"/>
                <a:sym typeface="+mn-ea"/>
              </a:rPr>
              <a:t> </a:t>
            </a:r>
            <a:endParaRPr lang="en-US" altLang="zh-CN" sz="2935" dirty="0">
              <a:solidFill>
                <a:srgbClr val="FF0000"/>
              </a:solidFill>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sym typeface="+mn-ea"/>
              </a:rPr>
              <a:t>Conclusion</a:t>
            </a:r>
            <a:endParaRPr lang="en-US" altLang="zh-CN" sz="2935" dirty="0">
              <a:solidFill>
                <a:srgbClr val="FF0000"/>
              </a:solidFill>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References</a:t>
            </a:r>
            <a:endParaRPr lang="en-US" altLang="zh-CN"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Q &amp; A </a:t>
            </a:r>
            <a:endParaRPr lang="en-US" altLang="zh-CN" sz="2935" dirty="0">
              <a:latin typeface="Times New Roman" panose="02020503050405090304" pitchFamily="18" charset="0"/>
              <a:cs typeface="Times New Roman" panose="02020503050405090304" pitchFamily="18" charset="0"/>
            </a:endParaRPr>
          </a:p>
          <a:p>
            <a:pPr lvl="6"/>
            <a:endParaRPr lang="en-US" altLang="zh-CN" sz="1200"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sz="4400" dirty="0">
                <a:latin typeface="Times New Roman" panose="02020503050405090304" pitchFamily="18" charset="0"/>
                <a:ea typeface="Calibri" pitchFamily="34" charset="0"/>
                <a:cs typeface="Times New Roman" panose="02020503050405090304" pitchFamily="18" charset="0"/>
              </a:rPr>
              <a:t>Defense Assumption: Future Work</a:t>
            </a:r>
            <a:endParaRPr lang="en-US" altLang="zh-CN" sz="3200" dirty="0">
              <a:latin typeface="Times New Roman" panose="02020503050405090304" pitchFamily="18" charset="0"/>
              <a:ea typeface="Calibri" pitchFamily="34" charset="0"/>
              <a:cs typeface="Times New Roman" panose="02020503050405090304" pitchFamily="18"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5" name="文本框 4"/>
          <p:cNvSpPr txBox="1"/>
          <p:nvPr/>
        </p:nvSpPr>
        <p:spPr>
          <a:xfrm>
            <a:off x="455930" y="1192530"/>
            <a:ext cx="10807065" cy="4863465"/>
          </a:xfrm>
          <a:prstGeom prst="rect">
            <a:avLst/>
          </a:prstGeom>
          <a:noFill/>
        </p:spPr>
        <p:txBody>
          <a:bodyPr wrap="square" rtlCol="0" anchor="t" anchorCtr="1">
            <a:noAutofit/>
          </a:bodyPr>
          <a:p>
            <a:pPr marL="457200" indent="-457200" algn="l">
              <a:buClr>
                <a:srgbClr val="0070C0"/>
              </a:buClr>
              <a:buFont typeface="Wingdings" panose="05000000000000000000" charset="0"/>
              <a:buChar char=""/>
            </a:pPr>
            <a:r>
              <a:rPr lang="en-US" altLang="zh-CN" sz="2800" b="1" dirty="0" smtClean="0">
                <a:latin typeface="Arial Bold" panose="020B0604020202090204" charset="0"/>
                <a:ea typeface="標楷體" pitchFamily="65" charset="-120"/>
                <a:cs typeface="Arial Bold" panose="020B0604020202090204" charset="0"/>
                <a:sym typeface="+mn-ea"/>
              </a:rPr>
              <a:t>Building a Reliable OS Agent: An OS Perspective</a:t>
            </a:r>
            <a:endParaRPr lang="en-US" altLang="zh-CN" sz="2800" b="1" dirty="0" smtClean="0">
              <a:latin typeface="Arial Bold" panose="020B0604020202090204" charset="0"/>
              <a:ea typeface="標楷體" pitchFamily="65" charset="-120"/>
              <a:cs typeface="Arial Bold" panose="020B0604020202090204" charset="0"/>
              <a:sym typeface="+mn-ea"/>
            </a:endParaRPr>
          </a:p>
          <a:p>
            <a:pPr marL="457200" indent="-457200" algn="l">
              <a:buClr>
                <a:srgbClr val="0070C0"/>
              </a:buClr>
              <a:buFont typeface="Wingdings" panose="05000000000000000000" charset="0"/>
              <a:buChar char=""/>
            </a:pPr>
            <a:endParaRPr lang="en-US" altLang="zh-CN" sz="2800" dirty="0" smtClean="0">
              <a:ea typeface="標楷體" pitchFamily="65" charset="-120"/>
              <a:cs typeface="Calibri" pitchFamily="34" charset="0"/>
              <a:sym typeface="+mn-ea"/>
            </a:endParaRPr>
          </a:p>
          <a:p>
            <a:pPr marL="457200" indent="-457200" algn="l">
              <a:buClr>
                <a:srgbClr val="0070C0"/>
              </a:buClr>
              <a:buFont typeface="Wingdings" panose="05000000000000000000" charset="0"/>
              <a:buChar char=""/>
            </a:pPr>
            <a:r>
              <a:rPr lang="en-US" altLang="zh-CN" sz="2800" dirty="0" smtClean="0">
                <a:ea typeface="標楷體" pitchFamily="65" charset="-120"/>
                <a:cs typeface="Calibri" pitchFamily="34" charset="0"/>
                <a:sym typeface="+mn-ea"/>
              </a:rPr>
              <a:t>Some preliminary ideas</a:t>
            </a:r>
            <a:endParaRPr lang="en-US" altLang="zh-CN" sz="2800" dirty="0" smtClean="0">
              <a:ea typeface="標楷體" pitchFamily="65" charset="-120"/>
              <a:cs typeface="Calibri" pitchFamily="34" charset="0"/>
              <a:sym typeface="+mn-ea"/>
            </a:endParaRPr>
          </a:p>
          <a:p>
            <a:pPr marL="914400" lvl="1" indent="-457200" algn="l">
              <a:buAutoNum type="arabicPeriod"/>
            </a:pPr>
            <a:r>
              <a:rPr lang="en-US" altLang="zh-CN" sz="2800" b="1" dirty="0" smtClean="0">
                <a:latin typeface="Arial Bold" panose="020B0604020202090204" charset="0"/>
                <a:ea typeface="標楷體" pitchFamily="65" charset="-120"/>
                <a:cs typeface="Arial Bold" panose="020B0604020202090204" charset="0"/>
                <a:sym typeface="+mn-ea"/>
              </a:rPr>
              <a:t>Trust Perspective</a:t>
            </a:r>
            <a:r>
              <a:rPr lang="en-US" altLang="zh-CN" sz="2800" dirty="0" smtClean="0">
                <a:ea typeface="標楷體" pitchFamily="65" charset="-120"/>
                <a:cs typeface="Calibri" pitchFamily="34" charset="0"/>
                <a:sym typeface="+mn-ea"/>
              </a:rPr>
              <a:t>: </a:t>
            </a:r>
            <a:endParaRPr lang="en-US" altLang="zh-CN" sz="2800" dirty="0" smtClean="0">
              <a:ea typeface="標楷體" pitchFamily="65" charset="-120"/>
              <a:cs typeface="Calibri" pitchFamily="34" charset="0"/>
              <a:sym typeface="+mn-ea"/>
            </a:endParaRPr>
          </a:p>
          <a:p>
            <a:pPr marL="1371600" lvl="2" indent="-457200" algn="l">
              <a:buClr>
                <a:srgbClr val="0070C0"/>
              </a:buClr>
              <a:buFont typeface="PingFang SC" panose="020B0400000000000000" charset="-122"/>
              <a:buChar char="-"/>
            </a:pPr>
            <a:r>
              <a:rPr lang="en-US" altLang="zh-CN" sz="2800" dirty="0" smtClean="0">
                <a:ea typeface="標楷體" pitchFamily="65" charset="-120"/>
                <a:cs typeface="Calibri" pitchFamily="34" charset="0"/>
                <a:sym typeface="+mn-ea"/>
              </a:rPr>
              <a:t>Motivated from Trust Design in OS. Apply </a:t>
            </a:r>
            <a:r>
              <a:rPr lang="en-US" altLang="zh-CN" sz="2800">
                <a:sym typeface="+mn-ea"/>
              </a:rPr>
              <a:t>runtime verification to OS agent.</a:t>
            </a:r>
            <a:endParaRPr lang="en-US" altLang="zh-CN" sz="2800" dirty="0" smtClean="0">
              <a:ea typeface="標楷體" pitchFamily="65" charset="-120"/>
              <a:cs typeface="Calibri" pitchFamily="34" charset="0"/>
              <a:sym typeface="+mn-ea"/>
            </a:endParaRPr>
          </a:p>
          <a:p>
            <a:pPr marL="914400" lvl="1" indent="-457200" algn="l">
              <a:buAutoNum type="arabicPeriod"/>
            </a:pPr>
            <a:r>
              <a:rPr lang="en-US" altLang="zh-CN" sz="2800" b="1" dirty="0" smtClean="0">
                <a:latin typeface="Arial Bold" panose="020B0604020202090204" charset="0"/>
                <a:ea typeface="標楷體" pitchFamily="65" charset="-120"/>
                <a:cs typeface="Arial Bold" panose="020B0604020202090204" charset="0"/>
                <a:sym typeface="+mn-ea"/>
              </a:rPr>
              <a:t>Virtualization Perspective</a:t>
            </a:r>
            <a:r>
              <a:rPr lang="en-US" altLang="zh-CN" sz="2800" dirty="0" smtClean="0">
                <a:ea typeface="標楷體" pitchFamily="65" charset="-120"/>
                <a:cs typeface="Calibri" pitchFamily="34" charset="0"/>
                <a:sym typeface="+mn-ea"/>
              </a:rPr>
              <a:t>:</a:t>
            </a:r>
            <a:endParaRPr lang="en-US" altLang="zh-CN" sz="2800" dirty="0" smtClean="0">
              <a:ea typeface="標楷體" pitchFamily="65" charset="-120"/>
              <a:cs typeface="Calibri" pitchFamily="34" charset="0"/>
              <a:sym typeface="+mn-ea"/>
            </a:endParaRPr>
          </a:p>
          <a:p>
            <a:pPr marL="1371600" lvl="2" indent="-457200" algn="l">
              <a:buClr>
                <a:srgbClr val="0070C0"/>
              </a:buClr>
              <a:buFont typeface="PingFang SC" panose="020B0400000000000000" charset="-122"/>
              <a:buChar char="-"/>
            </a:pPr>
            <a:r>
              <a:rPr lang="en-US" altLang="zh-CN" sz="2800" dirty="0" smtClean="0">
                <a:ea typeface="標楷體" pitchFamily="65" charset="-120"/>
                <a:cs typeface="Calibri" pitchFamily="34" charset="0"/>
                <a:sym typeface="+mn-ea"/>
              </a:rPr>
              <a:t>Motivated from Virtual Machine Design. Isolate OS Agent and physical computer.</a:t>
            </a:r>
            <a:endParaRPr lang="en-US" altLang="zh-CN" sz="2800" dirty="0" smtClean="0">
              <a:ea typeface="標楷體" pitchFamily="65" charset="-120"/>
              <a:cs typeface="Calibri" pitchFamily="34" charset="0"/>
              <a:sym typeface="+mn-ea"/>
            </a:endParaRPr>
          </a:p>
          <a:p>
            <a:pPr indent="457200" algn="l"/>
            <a:endParaRPr lang="en-US" altLang="zh-CN" sz="2800" dirty="0" smtClean="0">
              <a:ea typeface="標楷體" pitchFamily="65" charset="-120"/>
              <a:cs typeface="Calibri" pitchFamily="34" charset="0"/>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latin typeface="Times New Roman" panose="02020503050405090304" pitchFamily="18" charset="0"/>
                <a:cs typeface="Times New Roman" panose="02020503050405090304" pitchFamily="18" charset="0"/>
              </a:rPr>
              <a:t>Outline</a:t>
            </a:r>
            <a:endParaRPr lang="zh-TW" altLang="en-US" dirty="0">
              <a:latin typeface="Times New Roman" panose="02020503050405090304" pitchFamily="18" charset="0"/>
              <a:cs typeface="Times New Roman" panose="02020503050405090304" pitchFamily="18" charset="0"/>
            </a:endParaRPr>
          </a:p>
        </p:txBody>
      </p:sp>
      <p:sp>
        <p:nvSpPr>
          <p:cNvPr id="3" name="內容版面配置區 2"/>
          <p:cNvSpPr>
            <a:spLocks noGrp="1"/>
          </p:cNvSpPr>
          <p:nvPr>
            <p:ph idx="1"/>
          </p:nvPr>
        </p:nvSpPr>
        <p:spPr>
          <a:xfrm>
            <a:off x="1311423" y="1125537"/>
            <a:ext cx="10270977" cy="4806633"/>
          </a:xfrm>
        </p:spPr>
        <p:txBody>
          <a:bodyPr>
            <a:noAutofit/>
          </a:bodyPr>
          <a:lstStyle/>
          <a:p>
            <a:r>
              <a:rPr lang="en-US" altLang="zh-CN" sz="2935" dirty="0">
                <a:latin typeface="Times New Roman" panose="02020503050405090304" pitchFamily="18" charset="0"/>
                <a:cs typeface="Times New Roman" panose="02020503050405090304" pitchFamily="18" charset="0"/>
              </a:rPr>
              <a:t>Introduction </a:t>
            </a:r>
            <a:endParaRPr lang="en-US" altLang="zh-TW"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Background &amp; Overview</a:t>
            </a:r>
            <a:endParaRPr lang="en-US" altLang="zh-CN" sz="2935" dirty="0">
              <a:latin typeface="Times New Roman" panose="02020503050405090304" pitchFamily="18" charset="0"/>
              <a:cs typeface="Times New Roman" panose="02020503050405090304" pitchFamily="18" charset="0"/>
            </a:endParaRPr>
          </a:p>
          <a:p>
            <a:pPr lvl="1"/>
            <a:r>
              <a:rPr lang="en-US" altLang="zh-CN" sz="2510" dirty="0">
                <a:latin typeface="Times New Roman" panose="02020503050405090304" pitchFamily="18" charset="0"/>
                <a:cs typeface="Times New Roman" panose="02020503050405090304" pitchFamily="18" charset="0"/>
              </a:rPr>
              <a:t>OmniParser </a:t>
            </a:r>
            <a:endParaRPr lang="en-US" altLang="zh-CN" sz="2510"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Related Work: Risk Analysis</a:t>
            </a:r>
            <a:endParaRPr lang="en-US" altLang="zh-CN" sz="2935"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External Threats </a:t>
            </a:r>
            <a:endParaRPr lang="en-US" altLang="zh-CN" sz="1995" dirty="0">
              <a:latin typeface="Times New Roman" panose="02020503050405090304" pitchFamily="18" charset="0"/>
              <a:cs typeface="Times New Roman" panose="02020503050405090304" pitchFamily="18" charset="0"/>
            </a:endParaRPr>
          </a:p>
          <a:p>
            <a:pPr lvl="1"/>
            <a:r>
              <a:rPr lang="en-US" altLang="zh-CN" sz="2400" dirty="0">
                <a:latin typeface="Times New Roman" panose="02020503050405090304" pitchFamily="18" charset="0"/>
                <a:cs typeface="Times New Roman" panose="02020503050405090304" pitchFamily="18" charset="0"/>
              </a:rPr>
              <a:t>Internal Risks </a:t>
            </a:r>
            <a:endParaRPr lang="en-US" altLang="zh-CN" sz="2400"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Defense Assumption </a:t>
            </a:r>
            <a:r>
              <a:rPr lang="en-US" altLang="zh-CN" sz="2935" dirty="0">
                <a:solidFill>
                  <a:srgbClr val="FF0000"/>
                </a:solidFill>
                <a:latin typeface="Times New Roman" panose="02020503050405090304" pitchFamily="18" charset="0"/>
                <a:cs typeface="Times New Roman" panose="02020503050405090304" pitchFamily="18" charset="0"/>
              </a:rPr>
              <a:t> </a:t>
            </a:r>
            <a:r>
              <a:rPr lang="en-US" altLang="zh-CN" sz="2935" dirty="0">
                <a:solidFill>
                  <a:srgbClr val="FF0000"/>
                </a:solidFill>
                <a:latin typeface="Times New Roman" panose="02020503050405090304" pitchFamily="18" charset="0"/>
                <a:cs typeface="Times New Roman" panose="02020503050405090304" pitchFamily="18" charset="0"/>
                <a:sym typeface="+mn-ea"/>
              </a:rPr>
              <a:t> </a:t>
            </a:r>
            <a:endParaRPr lang="en-US" altLang="zh-CN" sz="2935" dirty="0">
              <a:solidFill>
                <a:srgbClr val="FF0000"/>
              </a:solidFill>
              <a:latin typeface="Times New Roman" panose="02020503050405090304" pitchFamily="18" charset="0"/>
              <a:cs typeface="Times New Roman" panose="02020503050405090304" pitchFamily="18" charset="0"/>
            </a:endParaRPr>
          </a:p>
          <a:p>
            <a:r>
              <a:rPr lang="en-US" altLang="zh-CN" sz="2935" dirty="0">
                <a:solidFill>
                  <a:srgbClr val="FF0000"/>
                </a:solidFill>
                <a:latin typeface="Times New Roman" panose="02020503050405090304" pitchFamily="18" charset="0"/>
                <a:cs typeface="Times New Roman" panose="02020503050405090304" pitchFamily="18" charset="0"/>
                <a:sym typeface="+mn-ea"/>
              </a:rPr>
              <a:t>Conclusion</a:t>
            </a:r>
            <a:endParaRPr lang="en-US" altLang="zh-CN" sz="2935" dirty="0">
              <a:solidFill>
                <a:srgbClr val="FF0000"/>
              </a:solidFill>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References</a:t>
            </a:r>
            <a:endParaRPr lang="en-US" altLang="zh-CN" sz="2935" dirty="0">
              <a:latin typeface="Times New Roman" panose="02020503050405090304" pitchFamily="18" charset="0"/>
              <a:cs typeface="Times New Roman" panose="02020503050405090304" pitchFamily="18" charset="0"/>
            </a:endParaRPr>
          </a:p>
          <a:p>
            <a:r>
              <a:rPr lang="en-US" altLang="zh-CN" sz="2935" dirty="0">
                <a:latin typeface="Times New Roman" panose="02020503050405090304" pitchFamily="18" charset="0"/>
                <a:cs typeface="Times New Roman" panose="02020503050405090304" pitchFamily="18" charset="0"/>
              </a:rPr>
              <a:t>Q &amp; A </a:t>
            </a:r>
            <a:endParaRPr lang="en-US" altLang="zh-CN" sz="2935" dirty="0">
              <a:latin typeface="Times New Roman" panose="02020503050405090304" pitchFamily="18" charset="0"/>
              <a:cs typeface="Times New Roman" panose="02020503050405090304" pitchFamily="18" charset="0"/>
            </a:endParaRPr>
          </a:p>
          <a:p>
            <a:pPr lvl="6"/>
            <a:endParaRPr lang="en-US" altLang="zh-CN" sz="1200" dirty="0">
              <a:latin typeface="Times New Roman" panose="02020503050405090304" pitchFamily="18" charset="0"/>
              <a:cs typeface="Times New Roman" panose="0202050305040509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sz="4400" dirty="0">
                <a:latin typeface="Times New Roman" panose="02020503050405090304" pitchFamily="18" charset="0"/>
                <a:ea typeface="Calibri" pitchFamily="34" charset="0"/>
                <a:cs typeface="Times New Roman" panose="02020503050405090304" pitchFamily="18" charset="0"/>
              </a:rPr>
              <a:t>Conclusion</a:t>
            </a:r>
            <a:endParaRPr lang="en-US" altLang="zh-CN" sz="4400" dirty="0">
              <a:latin typeface="Times New Roman" panose="02020503050405090304" pitchFamily="18" charset="0"/>
              <a:ea typeface="Calibri" pitchFamily="34" charset="0"/>
              <a:cs typeface="Times New Roman" panose="02020503050405090304" pitchFamily="18"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3" name="文本框 2"/>
          <p:cNvSpPr txBox="1"/>
          <p:nvPr/>
        </p:nvSpPr>
        <p:spPr>
          <a:xfrm>
            <a:off x="0" y="1049655"/>
            <a:ext cx="12007850" cy="5262245"/>
          </a:xfrm>
          <a:prstGeom prst="rect">
            <a:avLst/>
          </a:prstGeom>
          <a:noFill/>
        </p:spPr>
        <p:txBody>
          <a:bodyPr wrap="square" rtlCol="0" anchor="t" anchorCtr="1">
            <a:spAutoFit/>
          </a:bodyPr>
          <a:p>
            <a:pPr marL="457200" indent="-457200" algn="l">
              <a:buClr>
                <a:srgbClr val="0070C0"/>
              </a:buClr>
              <a:buFont typeface="Wingdings" panose="05000000000000000000" charset="0"/>
              <a:buChar char=""/>
            </a:pPr>
            <a:r>
              <a:rPr lang="en-US" altLang="zh-CN" sz="2800">
                <a:sym typeface="+mn-ea"/>
              </a:rPr>
              <a:t>To conclude, the emergence of LLM OS Agents represents a new frontier in Human-Computer Interaction and Operating System. Technologies like </a:t>
            </a:r>
            <a:r>
              <a:rPr lang="en-US" altLang="zh-CN" sz="2800">
                <a:solidFill>
                  <a:srgbClr val="00B0F0"/>
                </a:solidFill>
                <a:sym typeface="+mn-ea"/>
              </a:rPr>
              <a:t>OmniParser</a:t>
            </a:r>
            <a:r>
              <a:rPr lang="en-US" altLang="zh-CN" sz="2800">
                <a:sym typeface="+mn-ea"/>
              </a:rPr>
              <a:t> have given models hands, but research like </a:t>
            </a:r>
            <a:r>
              <a:rPr lang="en-US" altLang="zh-CN" sz="2800">
                <a:solidFill>
                  <a:srgbClr val="00B0F0"/>
                </a:solidFill>
                <a:sym typeface="+mn-ea"/>
              </a:rPr>
              <a:t>Caution for the Environment</a:t>
            </a:r>
            <a:r>
              <a:rPr lang="en-US" altLang="zh-CN" sz="2800">
                <a:sym typeface="+mn-ea"/>
              </a:rPr>
              <a:t> and </a:t>
            </a:r>
            <a:r>
              <a:rPr lang="en-US" altLang="zh-CN" sz="2800">
                <a:solidFill>
                  <a:srgbClr val="00B0F0"/>
                </a:solidFill>
                <a:sym typeface="+mn-ea"/>
              </a:rPr>
              <a:t>Misevolution</a:t>
            </a:r>
            <a:r>
              <a:rPr lang="en-US" altLang="zh-CN" sz="2800">
                <a:sym typeface="+mn-ea"/>
              </a:rPr>
              <a:t> </a:t>
            </a:r>
            <a:r>
              <a:rPr lang="en-US" altLang="zh-CN" sz="2800"/>
              <a:t>warns us that these actions can be influenced by malicious visual content or internal hallucinations.</a:t>
            </a:r>
            <a:endParaRPr lang="en-US" altLang="zh-CN" sz="2800"/>
          </a:p>
          <a:p>
            <a:pPr marL="457200" indent="-457200" algn="l">
              <a:buClr>
                <a:srgbClr val="0070C0"/>
              </a:buClr>
              <a:buFont typeface="Wingdings" panose="05000000000000000000" charset="0"/>
              <a:buChar char=""/>
            </a:pPr>
            <a:endParaRPr lang="en-US" altLang="zh-CN" sz="2800"/>
          </a:p>
          <a:p>
            <a:pPr marL="457200" indent="-457200" algn="l">
              <a:buClr>
                <a:srgbClr val="0070C0"/>
              </a:buClr>
              <a:buFont typeface="Wingdings" panose="05000000000000000000" charset="0"/>
              <a:buChar char=""/>
            </a:pPr>
            <a:r>
              <a:rPr lang="en-US" altLang="zh-CN" sz="2800">
                <a:sym typeface="+mn-ea"/>
              </a:rPr>
              <a:t>Our goal is to build an Agent that is not just Smart, but Secure. This requires not only algorithm researchers working to reduce hallucination but also system architects redesigning the OS to support </a:t>
            </a:r>
            <a:r>
              <a:rPr lang="en-US" altLang="zh-CN" sz="2800">
                <a:sym typeface="+mn-ea"/>
              </a:rPr>
              <a:t>maybe Zero-Trust sandboxing. Only through the co-evolution of LLM and OS security can we truly trust AI to operate our digital lives.</a:t>
            </a:r>
            <a:endParaRPr lang="en-US" altLang="zh-CN" sz="2800" dirty="0" smtClean="0">
              <a:ea typeface="標楷體" pitchFamily="65" charset="-120"/>
              <a:cs typeface="Calibri" pitchFamily="34" charset="0"/>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765810" y="1165860"/>
            <a:ext cx="10801778" cy="4834889"/>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lvl="1"/>
            <a:r>
              <a:rPr lang="en-US" altLang="zh-CN" sz="1800" dirty="0">
                <a:latin typeface="Times New Roman" panose="02020503050405090304" pitchFamily="18" charset="0"/>
                <a:cs typeface="Times New Roman" panose="02020503050405090304" pitchFamily="18" charset="0"/>
              </a:rPr>
              <a:t>Lu, Y., Yang, J., Shen, Y., &amp; Awadallah, A. (2024). </a:t>
            </a:r>
            <a:r>
              <a:rPr lang="en-US" altLang="zh-CN" sz="1800" b="1" dirty="0">
                <a:latin typeface="Times New Roman Bold" panose="02020503050405090304" charset="0"/>
                <a:cs typeface="Times New Roman Bold" panose="02020503050405090304" charset="0"/>
              </a:rPr>
              <a:t>OmniParser for Pure Vision Based GUI Agent.</a:t>
            </a:r>
            <a:r>
              <a:rPr lang="en-US" altLang="zh-CN" sz="1800" dirty="0">
                <a:latin typeface="Times New Roman" panose="02020503050405090304" pitchFamily="18" charset="0"/>
                <a:cs typeface="Times New Roman" panose="02020503050405090304" pitchFamily="18" charset="0"/>
              </a:rPr>
              <a:t> ArXiv. https://arxiv.org/abs/2408.00203</a:t>
            </a:r>
            <a:endParaRPr lang="en-US" altLang="zh-CN" sz="1800" dirty="0">
              <a:latin typeface="Times New Roman" panose="02020503050405090304" pitchFamily="18" charset="0"/>
              <a:cs typeface="Times New Roman" panose="02020503050405090304" pitchFamily="18" charset="0"/>
            </a:endParaRPr>
          </a:p>
          <a:p>
            <a:pPr lvl="1"/>
            <a:r>
              <a:rPr lang="en-US" altLang="zh-CN" sz="1800" dirty="0">
                <a:latin typeface="Times New Roman" panose="02020503050405090304" pitchFamily="18" charset="0"/>
                <a:cs typeface="Times New Roman" panose="02020503050405090304" pitchFamily="18" charset="0"/>
              </a:rPr>
              <a:t>Xinbei Ma, Yiting Wang, Yao Yao, Tongxin Yuan, Aston Zhang, Zhuosheng Zhang, and Hai Zhao. 2025. </a:t>
            </a:r>
            <a:r>
              <a:rPr lang="en-US" altLang="zh-CN" sz="1800" b="1" dirty="0">
                <a:latin typeface="Times New Roman Bold" panose="02020503050405090304" charset="0"/>
                <a:cs typeface="Times New Roman Bold" panose="02020503050405090304" charset="0"/>
              </a:rPr>
              <a:t>Caution for the Environment: Multimodal LLM Agents are Susceptible to Environmental Distractions.</a:t>
            </a:r>
            <a:r>
              <a:rPr lang="en-US" altLang="zh-CN" sz="1800" dirty="0">
                <a:latin typeface="Times New Roman" panose="02020503050405090304" pitchFamily="18" charset="0"/>
                <a:cs typeface="Times New Roman" panose="02020503050405090304" pitchFamily="18" charset="0"/>
              </a:rPr>
              <a:t> In Proceedings of the 63rd Annual Meeting of the Association for Computational Linguistics (Volume 1: Long Papers), pages 22324–22339, Vienna, Austria. Association for Computational Linguistics.</a:t>
            </a:r>
            <a:endParaRPr lang="en-US" altLang="zh-CN" sz="1800" dirty="0">
              <a:latin typeface="Times New Roman" panose="02020503050405090304" pitchFamily="18" charset="0"/>
              <a:cs typeface="Times New Roman" panose="02020503050405090304" pitchFamily="18" charset="0"/>
            </a:endParaRPr>
          </a:p>
          <a:p>
            <a:pPr lvl="1"/>
            <a:r>
              <a:rPr lang="en-US" altLang="zh-CN" sz="1800" dirty="0">
                <a:latin typeface="Times New Roman" panose="02020503050405090304" pitchFamily="18" charset="0"/>
                <a:cs typeface="Times New Roman" panose="02020503050405090304" pitchFamily="18" charset="0"/>
              </a:rPr>
              <a:t>Shao, S., Ren, Q., Qian, C., Wei, B., Guo, D., Yang, J., Song, X., Zhang, L., Zhang, W., Liu, D., &amp; Shao, J. (2025). </a:t>
            </a:r>
            <a:r>
              <a:rPr lang="en-US" altLang="zh-CN" sz="1800" b="1" dirty="0">
                <a:latin typeface="Times New Roman Bold" panose="02020503050405090304" charset="0"/>
                <a:cs typeface="Times New Roman Bold" panose="02020503050405090304" charset="0"/>
              </a:rPr>
              <a:t>Your Agent May Misevolve: Emergent Risks in Self-evolving LLM Agents.</a:t>
            </a:r>
            <a:r>
              <a:rPr lang="en-US" altLang="zh-CN" sz="1800" dirty="0">
                <a:latin typeface="Times New Roman" panose="02020503050405090304" pitchFamily="18" charset="0"/>
                <a:cs typeface="Times New Roman" panose="02020503050405090304" pitchFamily="18" charset="0"/>
              </a:rPr>
              <a:t> ArXiv. https://arxiv.org/abs/2509.26354</a:t>
            </a:r>
            <a:endParaRPr lang="en-US" altLang="zh-CN" sz="1800" dirty="0">
              <a:latin typeface="Times New Roman" panose="02020503050405090304" pitchFamily="18" charset="0"/>
              <a:cs typeface="Times New Roman" panose="02020503050405090304" pitchFamily="18" charset="0"/>
            </a:endParaRPr>
          </a:p>
          <a:p>
            <a:pPr lvl="1"/>
            <a:r>
              <a:rPr lang="en-US" altLang="zh-CN" sz="1800" dirty="0">
                <a:latin typeface="Times New Roman" panose="02020503050405090304" pitchFamily="18" charset="0"/>
                <a:cs typeface="Times New Roman" panose="02020503050405090304" pitchFamily="18" charset="0"/>
              </a:rPr>
              <a:t>Qiusi Zhan, Zhixiang Liang, Zifan Ying, and Daniel Kang. 2024. </a:t>
            </a:r>
            <a:r>
              <a:rPr lang="en-US" altLang="zh-CN" sz="1800" b="1" dirty="0">
                <a:latin typeface="Times New Roman Bold" panose="02020503050405090304" charset="0"/>
                <a:cs typeface="Times New Roman Bold" panose="02020503050405090304" charset="0"/>
              </a:rPr>
              <a:t>InjecAgent: Benchmarking Indirect Prompt Injections in Tool-Integrated Large Language Model Agents.</a:t>
            </a:r>
            <a:r>
              <a:rPr lang="en-US" altLang="zh-CN" sz="1800" dirty="0">
                <a:latin typeface="Times New Roman" panose="02020503050405090304" pitchFamily="18" charset="0"/>
                <a:cs typeface="Times New Roman" panose="02020503050405090304" pitchFamily="18" charset="0"/>
              </a:rPr>
              <a:t> In Findings of the Association for Computational Linguistics: ACL 2024, pages 10471–10506, Bangkok, Thailand. Association for Computational Linguistics.</a:t>
            </a:r>
            <a:endParaRPr lang="en-US" altLang="zh-CN" sz="1800" dirty="0">
              <a:latin typeface="Times New Roman" panose="02020503050405090304" pitchFamily="18" charset="0"/>
              <a:cs typeface="Times New Roman" panose="02020503050405090304" pitchFamily="18" charset="0"/>
            </a:endParaRPr>
          </a:p>
          <a:p>
            <a:pPr lvl="1"/>
            <a:endParaRPr lang="en-US" altLang="zh-CN" sz="1800" b="1" dirty="0">
              <a:latin typeface="Times New Roman" panose="02020503050405090304" pitchFamily="18" charset="0"/>
              <a:cs typeface="Times New Roman" panose="02020503050405090304" pitchFamily="18" charset="0"/>
            </a:endParaRPr>
          </a:p>
          <a:p>
            <a:pPr lvl="1"/>
            <a:endParaRPr lang="en-US" altLang="zh-CN" sz="1800" b="1" dirty="0">
              <a:latin typeface="Times New Roman" panose="02020503050405090304" pitchFamily="18" charset="0"/>
              <a:cs typeface="Times New Roman" panose="02020503050405090304" pitchFamily="18" charset="0"/>
            </a:endParaRPr>
          </a:p>
          <a:p>
            <a:pPr lvl="1"/>
            <a:endParaRPr lang="en-US" altLang="zh-CN" sz="1800" kern="0" dirty="0">
              <a:latin typeface="Times New Roman" panose="02020503050405090304" pitchFamily="18" charset="0"/>
              <a:cs typeface="Times New Roman" panose="02020503050405090304" pitchFamily="18" charset="0"/>
            </a:endParaRPr>
          </a:p>
        </p:txBody>
      </p:sp>
      <p:sp>
        <p:nvSpPr>
          <p:cNvPr id="3" name="标题 2"/>
          <p:cNvSpPr>
            <a:spLocks noGrp="1"/>
          </p:cNvSpPr>
          <p:nvPr>
            <p:ph type="title"/>
          </p:nvPr>
        </p:nvSpPr>
        <p:spPr/>
        <p:txBody>
          <a:bodyPr/>
          <a:lstStyle/>
          <a:p>
            <a:r>
              <a:rPr lang="en-US" altLang="zh-CN" sz="4000" dirty="0">
                <a:latin typeface="Times New Roman" panose="02020503050405090304" pitchFamily="18" charset="0"/>
                <a:cs typeface="Times New Roman" panose="02020503050405090304" pitchFamily="18" charset="0"/>
              </a:rPr>
              <a:t>References</a:t>
            </a:r>
            <a:endParaRPr lang="zh-CN" altLang="en-US"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2" name="内容占位符 5"/>
          <p:cNvSpPr txBox="1"/>
          <p:nvPr/>
        </p:nvSpPr>
        <p:spPr bwMode="auto">
          <a:xfrm>
            <a:off x="1954530" y="2572007"/>
            <a:ext cx="8435340" cy="171398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90204" pitchFamily="34" charset="0"/>
              <a:buChar char="–"/>
              <a:defRPr kumimoji="1" sz="3200">
                <a:solidFill>
                  <a:schemeClr val="tx1"/>
                </a:solidFill>
                <a:latin typeface="Calibri"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marL="0" indent="0" algn="ctr">
              <a:buNone/>
            </a:pPr>
            <a:r>
              <a:rPr lang="en-US" altLang="zh-CN" sz="9600" kern="0" dirty="0">
                <a:solidFill>
                  <a:schemeClr val="tx2"/>
                </a:solidFill>
                <a:latin typeface="Times New Roman" panose="02020503050405090304" pitchFamily="18" charset="0"/>
                <a:cs typeface="Times New Roman" panose="02020503050405090304" pitchFamily="18" charset="0"/>
              </a:rPr>
              <a:t>Q &amp; A</a:t>
            </a:r>
            <a:endParaRPr lang="en-US" altLang="zh-CN" sz="9600" kern="0" dirty="0">
              <a:solidFill>
                <a:schemeClr val="tx2"/>
              </a:solidFill>
              <a:latin typeface="Times New Roman" panose="02020503050405090304" pitchFamily="18" charset="0"/>
              <a:cs typeface="Times New Roman" panose="02020503050405090304" pitchFamily="18" charset="0"/>
            </a:endParaRPr>
          </a:p>
        </p:txBody>
      </p:sp>
    </p:spTree>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en-US" altLang="zh-TW" sz="1800" b="1" i="0" u="none" strike="noStrike" cap="none" normalizeH="0" baseline="0" smtClean="0">
            <a:ln>
              <a:noFill/>
            </a:ln>
            <a:solidFill>
              <a:schemeClr val="tx1"/>
            </a:solidFill>
            <a:effectLst/>
            <a:latin typeface="Arial" panose="020B0604020202090204" pitchFamily="34" charset="0"/>
            <a:ea typeface="PMingLiU"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en-US" altLang="zh-TW" sz="1800" b="1" i="0" u="none" strike="noStrike" cap="none" normalizeH="0" baseline="0" smtClean="0">
            <a:ln>
              <a:noFill/>
            </a:ln>
            <a:solidFill>
              <a:schemeClr val="tx1"/>
            </a:solidFill>
            <a:effectLst/>
            <a:latin typeface="Arial" panose="020B0604020202090204" pitchFamily="34" charset="0"/>
            <a:ea typeface="PMingLiU"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8697</Words>
  <Application>WPS 演示</Application>
  <PresentationFormat>宽屏</PresentationFormat>
  <Paragraphs>344</Paragraphs>
  <Slides>28</Slides>
  <Notes>3</Notes>
  <HiddenSlides>0</HiddenSlides>
  <MMClips>0</MMClips>
  <ScaleCrop>false</ScaleCrop>
  <HeadingPairs>
    <vt:vector size="6" baseType="variant">
      <vt:variant>
        <vt:lpstr>已用的字体</vt:lpstr>
      </vt:variant>
      <vt:variant>
        <vt:i4>31</vt:i4>
      </vt:variant>
      <vt:variant>
        <vt:lpstr>主题</vt:lpstr>
      </vt:variant>
      <vt:variant>
        <vt:i4>2</vt:i4>
      </vt:variant>
      <vt:variant>
        <vt:lpstr>幻灯片标题</vt:lpstr>
      </vt:variant>
      <vt:variant>
        <vt:i4>28</vt:i4>
      </vt:variant>
    </vt:vector>
  </HeadingPairs>
  <TitlesOfParts>
    <vt:vector size="61" baseType="lpstr">
      <vt:lpstr>Arial</vt:lpstr>
      <vt:lpstr>宋体</vt:lpstr>
      <vt:lpstr>Wingdings</vt:lpstr>
      <vt:lpstr>PMingLiU</vt:lpstr>
      <vt:lpstr>宋体-繁</vt:lpstr>
      <vt:lpstr>標楷體</vt:lpstr>
      <vt:lpstr>汉仪楷体简</vt:lpstr>
      <vt:lpstr>Calibri</vt:lpstr>
      <vt:lpstr>Helvetica Neue</vt:lpstr>
      <vt:lpstr>楷体</vt:lpstr>
      <vt:lpstr>Times New Roman</vt:lpstr>
      <vt:lpstr>DengXian</vt:lpstr>
      <vt:lpstr>MS Sans Serif</vt:lpstr>
      <vt:lpstr>Wingdings</vt:lpstr>
      <vt:lpstr>PingFang SC</vt:lpstr>
      <vt:lpstr>微软雅黑</vt:lpstr>
      <vt:lpstr>汉仪旗黑</vt:lpstr>
      <vt:lpstr>宋体</vt:lpstr>
      <vt:lpstr>Arial Unicode MS</vt:lpstr>
      <vt:lpstr>汉仪书宋二KW</vt:lpstr>
      <vt:lpstr>汉仪楷体KW</vt:lpstr>
      <vt:lpstr>Arial Bold</vt:lpstr>
      <vt:lpstr>Times New Roman Bold</vt:lpstr>
      <vt:lpstr>Thonburi</vt:lpstr>
      <vt:lpstr>汉仪中等线KW</vt:lpstr>
      <vt:lpstr>PMingLiU</vt:lpstr>
      <vt:lpstr>Calibri Light</vt:lpstr>
      <vt:lpstr>等线</vt:lpstr>
      <vt:lpstr>MS Sans Serif</vt:lpstr>
      <vt:lpstr>標楷體</vt:lpstr>
      <vt:lpstr>苹方-简</vt:lpstr>
      <vt:lpstr>NTHU UniCloud</vt:lpstr>
      <vt:lpstr>自訂設計</vt:lpstr>
      <vt:lpstr>When LLMs Become OS Operators:  Rethinking Trust and Isolation 2026.02.03</vt:lpstr>
      <vt:lpstr>Outline</vt:lpstr>
      <vt:lpstr>Outline</vt:lpstr>
      <vt:lpstr>Introduction – LLM from Chat to Agent (1/2)</vt:lpstr>
      <vt:lpstr>Introduction – LLM from Chat to Agent (2/2)</vt:lpstr>
      <vt:lpstr>Introduction – Security Challenge</vt:lpstr>
      <vt:lpstr>Outline</vt:lpstr>
      <vt:lpstr>Background – OmniParser (1/3)</vt:lpstr>
      <vt:lpstr>Background – OmniParser (2/3)</vt:lpstr>
      <vt:lpstr>Background – OmniParser (3/3)</vt:lpstr>
      <vt:lpstr>Outline</vt:lpstr>
      <vt:lpstr>Outline</vt:lpstr>
      <vt:lpstr>External Threats： Environmental Distractions and Prompt Injection (1/5)</vt:lpstr>
      <vt:lpstr>External Threats： Environmental Distractions and Prompt Injection (2/5)</vt:lpstr>
      <vt:lpstr>External Threats： Environmental Distractions and Prompt Injection (3/5)</vt:lpstr>
      <vt:lpstr>External Threats： Environmental Distractions and Prompt Injection (4/5)</vt:lpstr>
      <vt:lpstr>External Threats： Environmental Distractions and Prompt Injection (5/5)</vt:lpstr>
      <vt:lpstr>Outline</vt:lpstr>
      <vt:lpstr>Internal Risks： Agent Misevolve and Hallucination(幻觉) (1/4)</vt:lpstr>
      <vt:lpstr>Internal Risks： Agent Misevolve and Hallucination(幻觉) (2/4)</vt:lpstr>
      <vt:lpstr>Internal Risks： Agent Misevolve and Hallucination(幻觉) (3/4)</vt:lpstr>
      <vt:lpstr>Internal Risks： Agent Misevolve and Hallucination(幻觉) (4/4)</vt:lpstr>
      <vt:lpstr>Outline</vt:lpstr>
      <vt:lpstr>Defense Assumption: Future Work</vt:lpstr>
      <vt:lpstr>Outline</vt:lpstr>
      <vt:lpstr>Conclusion</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WPS_1695224714</cp:lastModifiedBy>
  <cp:revision>37</cp:revision>
  <dcterms:created xsi:type="dcterms:W3CDTF">2026-02-03T11:08:13Z</dcterms:created>
  <dcterms:modified xsi:type="dcterms:W3CDTF">2026-02-03T11:08:13Z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06A0DD81FECFF33763FC8069CB4935EE_43</vt:lpwstr>
  </property>
  <property fmtid="{D5CDD505-2E9C-101B-9397-08002B2CF9AE}" pid="3" name="KSOProductBuildVer">
    <vt:lpwstr>2052-7.2.2.8955</vt:lpwstr>
  </property>
</Properties>
</file>