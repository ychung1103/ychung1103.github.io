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6"/>
  </p:notesMasterIdLst>
  <p:sldIdLst>
    <p:sldId id="256" r:id="rId3"/>
    <p:sldId id="529" r:id="rId4"/>
    <p:sldId id="562" r:id="rId5"/>
    <p:sldId id="531" r:id="rId6"/>
    <p:sldId id="532" r:id="rId7"/>
    <p:sldId id="563" r:id="rId8"/>
    <p:sldId id="534" r:id="rId9"/>
    <p:sldId id="535" r:id="rId10"/>
    <p:sldId id="564" r:id="rId11"/>
    <p:sldId id="541" r:id="rId12"/>
    <p:sldId id="561" r:id="rId13"/>
    <p:sldId id="542" r:id="rId14"/>
    <p:sldId id="543" r:id="rId15"/>
    <p:sldId id="556" r:id="rId16"/>
    <p:sldId id="557" r:id="rId17"/>
    <p:sldId id="565" r:id="rId18"/>
    <p:sldId id="537" r:id="rId19"/>
    <p:sldId id="538" r:id="rId20"/>
    <p:sldId id="559" r:id="rId21"/>
    <p:sldId id="539" r:id="rId22"/>
    <p:sldId id="553" r:id="rId23"/>
    <p:sldId id="554" r:id="rId24"/>
    <p:sldId id="555" r:id="rId25"/>
    <p:sldId id="544" r:id="rId26"/>
    <p:sldId id="545" r:id="rId27"/>
    <p:sldId id="546" r:id="rId28"/>
    <p:sldId id="547" r:id="rId29"/>
    <p:sldId id="558" r:id="rId30"/>
    <p:sldId id="548" r:id="rId31"/>
    <p:sldId id="549" r:id="rId32"/>
    <p:sldId id="550" r:id="rId33"/>
    <p:sldId id="551" r:id="rId34"/>
    <p:sldId id="566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Thank you very much for listening. I will be happy to take any questions.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>
              <a:defRPr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>
              <a:defRPr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anose="020F0502020204030204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3200">
          <a:solidFill>
            <a:schemeClr val="tx1"/>
          </a:solidFill>
          <a:latin typeface="Calibri" panose="020F0502020204030204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1882455"/>
          </a:xfrm>
        </p:spPr>
        <p:txBody>
          <a:bodyPr/>
          <a:lstStyle/>
          <a:p>
            <a:pPr algn="ctr"/>
            <a:r>
              <a:rPr lang="en-US" altLang="zh-CN" sz="3600" dirty="0"/>
              <a:t>Operating System Support for Large-Scale Graph Learning</a:t>
            </a:r>
            <a:br>
              <a:rPr lang="en-US" altLang="zh-CN" sz="4400" dirty="0"/>
            </a:br>
            <a:r>
              <a:rPr lang="en-US" altLang="zh-CN" sz="2000" dirty="0"/>
              <a:t> </a:t>
            </a:r>
            <a:b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2026.04.07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Shicheng Dai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(8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(8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(8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(8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Introduction - </a:t>
            </a:r>
            <a:r>
              <a:rPr lang="en-US" altLang="zh-TW" sz="4000" dirty="0"/>
              <a:t>graph learning stresses</a:t>
            </a:r>
          </a:p>
        </p:txBody>
      </p:sp>
      <p:sp>
        <p:nvSpPr>
          <p:cNvPr id="28" name="Text 27"/>
          <p:cNvSpPr/>
          <p:nvPr/>
        </p:nvSpPr>
        <p:spPr>
          <a:xfrm>
            <a:off x="1054630" y="1400606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Message passing on a graph</a:t>
            </a:r>
            <a:endParaRPr lang="en-US" sz="2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0E840CC-9334-38D0-3AB4-C5552E437D4D}"/>
              </a:ext>
            </a:extLst>
          </p:cNvPr>
          <p:cNvGrpSpPr/>
          <p:nvPr/>
        </p:nvGrpSpPr>
        <p:grpSpPr>
          <a:xfrm>
            <a:off x="4297680" y="4615357"/>
            <a:ext cx="7178040" cy="1005840"/>
            <a:chOff x="4297680" y="1562318"/>
            <a:chExt cx="7178040" cy="1005840"/>
          </a:xfrm>
        </p:grpSpPr>
        <p:sp>
          <p:nvSpPr>
            <p:cNvPr id="29" name="Shape 28"/>
            <p:cNvSpPr/>
            <p:nvPr/>
          </p:nvSpPr>
          <p:spPr>
            <a:xfrm>
              <a:off x="4983480" y="1562318"/>
              <a:ext cx="1828800" cy="1005840"/>
            </a:xfrm>
            <a:prstGeom prst="roundRect">
              <a:avLst/>
            </a:prstGeom>
            <a:solidFill>
              <a:srgbClr val="EAF2FF"/>
            </a:solidFill>
            <a:ln w="12700">
              <a:solidFill>
                <a:srgbClr val="8DB4E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9"/>
            <p:cNvSpPr/>
            <p:nvPr/>
          </p:nvSpPr>
          <p:spPr>
            <a:xfrm>
              <a:off x="5074920" y="1763486"/>
              <a:ext cx="1645920" cy="5029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44E86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Aggregate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244E86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neighbors</a:t>
              </a:r>
              <a:endParaRPr lang="en-US" sz="2000" dirty="0"/>
            </a:p>
          </p:txBody>
        </p:sp>
        <p:sp>
          <p:nvSpPr>
            <p:cNvPr id="31" name="Shape 30"/>
            <p:cNvSpPr/>
            <p:nvPr/>
          </p:nvSpPr>
          <p:spPr>
            <a:xfrm>
              <a:off x="4297680" y="1809206"/>
              <a:ext cx="502920" cy="411480"/>
            </a:xfrm>
            <a:prstGeom prst="chevron">
              <a:avLst/>
            </a:prstGeom>
            <a:solidFill>
              <a:srgbClr val="8DB4E2"/>
            </a:solidFill>
            <a:ln w="12700">
              <a:solidFill>
                <a:srgbClr val="8DB4E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Shape 31"/>
            <p:cNvSpPr/>
            <p:nvPr/>
          </p:nvSpPr>
          <p:spPr>
            <a:xfrm>
              <a:off x="6949440" y="1809206"/>
              <a:ext cx="502920" cy="411480"/>
            </a:xfrm>
            <a:prstGeom prst="chevron">
              <a:avLst/>
            </a:prstGeom>
            <a:solidFill>
              <a:srgbClr val="8DB4E2"/>
            </a:solidFill>
            <a:ln w="12700">
              <a:solidFill>
                <a:srgbClr val="8DB4E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Shape 32"/>
            <p:cNvSpPr/>
            <p:nvPr/>
          </p:nvSpPr>
          <p:spPr>
            <a:xfrm>
              <a:off x="7543800" y="1562318"/>
              <a:ext cx="1828800" cy="1005840"/>
            </a:xfrm>
            <a:prstGeom prst="roundRect">
              <a:avLst/>
            </a:prstGeom>
            <a:solidFill>
              <a:srgbClr val="EAF6EA"/>
            </a:solidFill>
            <a:ln w="12700">
              <a:solidFill>
                <a:srgbClr val="88AA8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33"/>
            <p:cNvSpPr/>
            <p:nvPr/>
          </p:nvSpPr>
          <p:spPr>
            <a:xfrm>
              <a:off x="7571232" y="1717766"/>
              <a:ext cx="1737360" cy="56692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E6B2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Update node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b="1" dirty="0">
                  <a:solidFill>
                    <a:srgbClr val="2E6B2E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embeddings</a:t>
              </a:r>
              <a:endParaRPr lang="en-US" sz="1800" dirty="0"/>
            </a:p>
          </p:txBody>
        </p:sp>
        <p:sp>
          <p:nvSpPr>
            <p:cNvPr id="35" name="Shape 34"/>
            <p:cNvSpPr/>
            <p:nvPr/>
          </p:nvSpPr>
          <p:spPr>
            <a:xfrm>
              <a:off x="9646920" y="1562318"/>
              <a:ext cx="1828800" cy="1005840"/>
            </a:xfrm>
            <a:prstGeom prst="roundRect">
              <a:avLst/>
            </a:prstGeom>
            <a:solidFill>
              <a:srgbClr val="FDEBF5"/>
            </a:solidFill>
            <a:ln w="12700">
              <a:solidFill>
                <a:srgbClr val="D38CB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35"/>
            <p:cNvSpPr/>
            <p:nvPr/>
          </p:nvSpPr>
          <p:spPr>
            <a:xfrm>
              <a:off x="9756648" y="1763486"/>
              <a:ext cx="1609344" cy="5029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A03D7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Next layer /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A03D7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next epoch</a:t>
              </a:r>
              <a:endParaRPr lang="en-US" sz="2000" dirty="0"/>
            </a:p>
          </p:txBody>
        </p:sp>
      </p:grpSp>
      <p:sp>
        <p:nvSpPr>
          <p:cNvPr id="37" name="Text 36"/>
          <p:cNvSpPr/>
          <p:nvPr/>
        </p:nvSpPr>
        <p:spPr>
          <a:xfrm>
            <a:off x="4983479" y="1317998"/>
            <a:ext cx="6969337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r>
              <a:rPr lang="en-US" altLang="zh-CN" sz="20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systems issue is not the GNN formula itself, but how to align data, communication, and compute at scale.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5074920" y="219254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5394960" y="218340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Large graphs create huge memory footprints and irregular access patterns.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5074920" y="2989525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5394960" y="2980381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Each layer needs neighbor features or embeddings before local computation can finish.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5074920" y="375907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5394960" y="3749928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As the system scales, the bottleneck shifts from pure math to data movement.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925810"/>
            <a:ext cx="3038899" cy="2714386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71" y="4957417"/>
            <a:ext cx="2219635" cy="1124107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1024148" y="4632306"/>
            <a:ext cx="2697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21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</a:t>
            </a:r>
            <a:r>
              <a:rPr lang="en-US" sz="21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Introduction - </a:t>
            </a:r>
            <a:r>
              <a:rPr lang="en-US" altLang="zh-TW" sz="4000" dirty="0"/>
              <a:t>Two training regimes</a:t>
            </a:r>
          </a:p>
        </p:txBody>
      </p:sp>
      <p:sp>
        <p:nvSpPr>
          <p:cNvPr id="2" name="Shape 5"/>
          <p:cNvSpPr/>
          <p:nvPr/>
        </p:nvSpPr>
        <p:spPr>
          <a:xfrm>
            <a:off x="822960" y="1325880"/>
            <a:ext cx="530352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Shape 6"/>
          <p:cNvSpPr/>
          <p:nvPr/>
        </p:nvSpPr>
        <p:spPr>
          <a:xfrm>
            <a:off x="6355080" y="1325880"/>
            <a:ext cx="502920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7"/>
          <p:cNvSpPr/>
          <p:nvPr/>
        </p:nvSpPr>
        <p:spPr>
          <a:xfrm>
            <a:off x="1143000" y="15544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Sampling-based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</a:t>
            </a:r>
            <a:endParaRPr lang="en-US" sz="2300" dirty="0"/>
          </a:p>
        </p:txBody>
      </p:sp>
      <p:sp>
        <p:nvSpPr>
          <p:cNvPr id="7" name="Text 8"/>
          <p:cNvSpPr/>
          <p:nvPr/>
        </p:nvSpPr>
        <p:spPr>
          <a:xfrm>
            <a:off x="6720840" y="15544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Full-graph distributed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</a:t>
            </a:r>
            <a:endParaRPr lang="en-US" sz="2300" dirty="0"/>
          </a:p>
        </p:txBody>
      </p:sp>
      <p:sp>
        <p:nvSpPr>
          <p:cNvPr id="8" name="Shape 9"/>
          <p:cNvSpPr/>
          <p:nvPr/>
        </p:nvSpPr>
        <p:spPr>
          <a:xfrm>
            <a:off x="1033272" y="2253996"/>
            <a:ext cx="1078992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10"/>
          <p:cNvSpPr/>
          <p:nvPr/>
        </p:nvSpPr>
        <p:spPr>
          <a:xfrm>
            <a:off x="1033272" y="2354580"/>
            <a:ext cx="10789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</a:t>
            </a:r>
            <a:endParaRPr lang="en-US" sz="1500" dirty="0"/>
          </a:p>
        </p:txBody>
      </p:sp>
      <p:sp>
        <p:nvSpPr>
          <p:cNvPr id="10" name="Shape 11"/>
          <p:cNvSpPr/>
          <p:nvPr/>
        </p:nvSpPr>
        <p:spPr>
          <a:xfrm>
            <a:off x="2116836" y="2427732"/>
            <a:ext cx="201168" cy="256032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2"/>
          <p:cNvSpPr/>
          <p:nvPr/>
        </p:nvSpPr>
        <p:spPr>
          <a:xfrm>
            <a:off x="2322576" y="2253996"/>
            <a:ext cx="1078992" cy="658368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3"/>
          <p:cNvSpPr/>
          <p:nvPr/>
        </p:nvSpPr>
        <p:spPr>
          <a:xfrm>
            <a:off x="2322576" y="2354580"/>
            <a:ext cx="10789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Sampling</a:t>
            </a:r>
            <a:endParaRPr lang="en-US" sz="1500" dirty="0"/>
          </a:p>
        </p:txBody>
      </p:sp>
      <p:sp>
        <p:nvSpPr>
          <p:cNvPr id="13" name="Shape 14"/>
          <p:cNvSpPr/>
          <p:nvPr/>
        </p:nvSpPr>
        <p:spPr>
          <a:xfrm>
            <a:off x="3410712" y="2427732"/>
            <a:ext cx="201168" cy="256032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5"/>
          <p:cNvSpPr/>
          <p:nvPr/>
        </p:nvSpPr>
        <p:spPr>
          <a:xfrm>
            <a:off x="3602736" y="2253996"/>
            <a:ext cx="1078992" cy="658368"/>
          </a:xfrm>
          <a:prstGeom prst="roundRect">
            <a:avLst/>
          </a:prstGeom>
          <a:solidFill>
            <a:srgbClr val="FDEB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6"/>
          <p:cNvSpPr/>
          <p:nvPr/>
        </p:nvSpPr>
        <p:spPr>
          <a:xfrm>
            <a:off x="3602736" y="2354580"/>
            <a:ext cx="10789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I/O</a:t>
            </a:r>
            <a:endParaRPr lang="en-US" sz="1500" dirty="0"/>
          </a:p>
        </p:txBody>
      </p:sp>
      <p:sp>
        <p:nvSpPr>
          <p:cNvPr id="16" name="Shape 17"/>
          <p:cNvSpPr/>
          <p:nvPr/>
        </p:nvSpPr>
        <p:spPr>
          <a:xfrm>
            <a:off x="4681728" y="2427732"/>
            <a:ext cx="201168" cy="256032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8"/>
          <p:cNvSpPr/>
          <p:nvPr/>
        </p:nvSpPr>
        <p:spPr>
          <a:xfrm>
            <a:off x="4882896" y="2253996"/>
            <a:ext cx="1078992" cy="658368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9"/>
          <p:cNvSpPr/>
          <p:nvPr/>
        </p:nvSpPr>
        <p:spPr>
          <a:xfrm>
            <a:off x="4882896" y="2354580"/>
            <a:ext cx="10789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</a:t>
            </a:r>
            <a:endParaRPr lang="en-US" sz="1500" dirty="0"/>
          </a:p>
        </p:txBody>
      </p:sp>
      <p:sp>
        <p:nvSpPr>
          <p:cNvPr id="19" name="Text 20"/>
          <p:cNvSpPr/>
          <p:nvPr/>
        </p:nvSpPr>
        <p:spPr>
          <a:xfrm>
            <a:off x="1188720" y="315468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1"/>
          <p:cNvSpPr/>
          <p:nvPr/>
        </p:nvSpPr>
        <p:spPr>
          <a:xfrm>
            <a:off x="1508760" y="3145536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Only a sampled subgraph enters the GPU each iteration.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2"/>
          <p:cNvSpPr/>
          <p:nvPr/>
        </p:nvSpPr>
        <p:spPr>
          <a:xfrm>
            <a:off x="1188720" y="388620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3"/>
          <p:cNvSpPr/>
          <p:nvPr/>
        </p:nvSpPr>
        <p:spPr>
          <a:xfrm>
            <a:off x="1508760" y="3877056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Key bottlenecks: subgraph sampling and feature retrieval.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4"/>
          <p:cNvSpPr/>
          <p:nvPr/>
        </p:nvSpPr>
        <p:spPr>
          <a:xfrm>
            <a:off x="1188720" y="453333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5"/>
          <p:cNvSpPr/>
          <p:nvPr/>
        </p:nvSpPr>
        <p:spPr>
          <a:xfrm>
            <a:off x="1508760" y="4524186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Representative paper: BGL.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6"/>
          <p:cNvSpPr/>
          <p:nvPr/>
        </p:nvSpPr>
        <p:spPr>
          <a:xfrm>
            <a:off x="6720840" y="2253996"/>
            <a:ext cx="132588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7"/>
          <p:cNvSpPr/>
          <p:nvPr/>
        </p:nvSpPr>
        <p:spPr>
          <a:xfrm>
            <a:off x="6775704" y="2363724"/>
            <a:ext cx="12161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</a:t>
            </a:r>
            <a:endParaRPr lang="en-US" sz="1400" dirty="0"/>
          </a:p>
        </p:txBody>
      </p:sp>
      <p:sp>
        <p:nvSpPr>
          <p:cNvPr id="27" name="Shape 28"/>
          <p:cNvSpPr/>
          <p:nvPr/>
        </p:nvSpPr>
        <p:spPr>
          <a:xfrm>
            <a:off x="8055864" y="2427732"/>
            <a:ext cx="201168" cy="256032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29"/>
          <p:cNvSpPr/>
          <p:nvPr/>
        </p:nvSpPr>
        <p:spPr>
          <a:xfrm>
            <a:off x="8266176" y="2253996"/>
            <a:ext cx="1325880" cy="658368"/>
          </a:xfrm>
          <a:prstGeom prst="roundRect">
            <a:avLst/>
          </a:prstGeom>
          <a:solidFill>
            <a:srgbClr val="FDEB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30"/>
          <p:cNvSpPr/>
          <p:nvPr/>
        </p:nvSpPr>
        <p:spPr>
          <a:xfrm>
            <a:off x="8321040" y="2363724"/>
            <a:ext cx="12161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Exchange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messages</a:t>
            </a:r>
            <a:endParaRPr lang="en-US" sz="1400" dirty="0"/>
          </a:p>
        </p:txBody>
      </p:sp>
      <p:sp>
        <p:nvSpPr>
          <p:cNvPr id="49" name="Shape 31"/>
          <p:cNvSpPr/>
          <p:nvPr/>
        </p:nvSpPr>
        <p:spPr>
          <a:xfrm>
            <a:off x="9592056" y="2427732"/>
            <a:ext cx="201168" cy="256032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32"/>
          <p:cNvSpPr/>
          <p:nvPr/>
        </p:nvSpPr>
        <p:spPr>
          <a:xfrm>
            <a:off x="9811512" y="2253996"/>
            <a:ext cx="1325880" cy="658368"/>
          </a:xfrm>
          <a:prstGeom prst="roundRect">
            <a:avLst/>
          </a:prstGeom>
          <a:solidFill>
            <a:srgbClr val="EAF6EA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33"/>
          <p:cNvSpPr/>
          <p:nvPr/>
        </p:nvSpPr>
        <p:spPr>
          <a:xfrm>
            <a:off x="9866376" y="2363724"/>
            <a:ext cx="12161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Aggregate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 update</a:t>
            </a:r>
            <a:endParaRPr lang="en-US" sz="1400" dirty="0"/>
          </a:p>
        </p:txBody>
      </p:sp>
      <p:sp>
        <p:nvSpPr>
          <p:cNvPr id="52" name="Text 34"/>
          <p:cNvSpPr/>
          <p:nvPr/>
        </p:nvSpPr>
        <p:spPr>
          <a:xfrm>
            <a:off x="6720840" y="315468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5"/>
          <p:cNvSpPr/>
          <p:nvPr/>
        </p:nvSpPr>
        <p:spPr>
          <a:xfrm>
            <a:off x="7040880" y="3145536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whole graph remains logically active during training.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36"/>
          <p:cNvSpPr/>
          <p:nvPr/>
        </p:nvSpPr>
        <p:spPr>
          <a:xfrm>
            <a:off x="6720840" y="388620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37"/>
          <p:cNvSpPr/>
          <p:nvPr/>
        </p:nvSpPr>
        <p:spPr>
          <a:xfrm>
            <a:off x="7040880" y="3877056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Key bottlenecks: remote messages, imbalance, and waiting.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6720840" y="453333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39"/>
          <p:cNvSpPr/>
          <p:nvPr/>
        </p:nvSpPr>
        <p:spPr>
          <a:xfrm>
            <a:off x="7040880" y="4524186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Representative papers: MGG and AdaQP.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40"/>
          <p:cNvSpPr/>
          <p:nvPr/>
        </p:nvSpPr>
        <p:spPr>
          <a:xfrm>
            <a:off x="1005840" y="5609844"/>
            <a:ext cx="9966960" cy="23774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altLang="zh-CN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The </a:t>
            </a:r>
            <a:r>
              <a:rPr lang="en-US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three papers optimize three different bottleneck locations - before the GPU, inside the GPU kernel, and across devices.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(8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(8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</a:t>
            </a:r>
            <a:r>
              <a:rPr lang="en-US" altLang="zh-TW" dirty="0"/>
              <a:t> - </a:t>
            </a:r>
            <a:r>
              <a:rPr lang="en-US" altLang="zh-CN" sz="4200" dirty="0"/>
              <a:t>bottlenecks</a:t>
            </a:r>
            <a:endParaRPr lang="en-US" altLang="zh-TW" sz="4200" dirty="0"/>
          </a:p>
        </p:txBody>
      </p:sp>
      <p:sp>
        <p:nvSpPr>
          <p:cNvPr id="28" name="Text 5"/>
          <p:cNvSpPr/>
          <p:nvPr/>
        </p:nvSpPr>
        <p:spPr>
          <a:xfrm>
            <a:off x="914400" y="142189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training iteration can be viewed as a pipeline with three system-critical stages</a:t>
            </a:r>
            <a:endParaRPr lang="en-US" sz="2400" dirty="0"/>
          </a:p>
        </p:txBody>
      </p:sp>
      <p:sp>
        <p:nvSpPr>
          <p:cNvPr id="29" name="Shape 6"/>
          <p:cNvSpPr/>
          <p:nvPr/>
        </p:nvSpPr>
        <p:spPr>
          <a:xfrm>
            <a:off x="960120" y="2103120"/>
            <a:ext cx="3200400" cy="1641732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8DB4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7"/>
          <p:cNvSpPr/>
          <p:nvPr/>
        </p:nvSpPr>
        <p:spPr>
          <a:xfrm>
            <a:off x="1069848" y="221284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(A) Data preparation</a:t>
            </a:r>
            <a:endParaRPr lang="en-US" sz="2000" dirty="0"/>
          </a:p>
        </p:txBody>
      </p:sp>
      <p:sp>
        <p:nvSpPr>
          <p:cNvPr id="31" name="Text 8"/>
          <p:cNvSpPr/>
          <p:nvPr/>
        </p:nvSpPr>
        <p:spPr>
          <a:xfrm>
            <a:off x="1124712" y="2667276"/>
            <a:ext cx="2834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sampling, partitioning, feature retrieval</a:t>
            </a:r>
            <a:endParaRPr lang="en-US" sz="2000" dirty="0"/>
          </a:p>
        </p:txBody>
      </p:sp>
      <p:sp>
        <p:nvSpPr>
          <p:cNvPr id="32" name="Shape 9"/>
          <p:cNvSpPr/>
          <p:nvPr/>
        </p:nvSpPr>
        <p:spPr>
          <a:xfrm>
            <a:off x="2029968" y="3261236"/>
            <a:ext cx="1051560" cy="3086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0"/>
          <p:cNvSpPr/>
          <p:nvPr/>
        </p:nvSpPr>
        <p:spPr>
          <a:xfrm>
            <a:off x="2029968" y="3338960"/>
            <a:ext cx="10515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endParaRPr lang="en-US" sz="1400" dirty="0"/>
          </a:p>
        </p:txBody>
      </p:sp>
      <p:sp>
        <p:nvSpPr>
          <p:cNvPr id="34" name="Shape 11"/>
          <p:cNvSpPr/>
          <p:nvPr/>
        </p:nvSpPr>
        <p:spPr>
          <a:xfrm>
            <a:off x="4270248" y="2740428"/>
            <a:ext cx="256032" cy="320040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5" name="Shape 12"/>
          <p:cNvSpPr/>
          <p:nvPr/>
        </p:nvSpPr>
        <p:spPr>
          <a:xfrm>
            <a:off x="4690872" y="2103120"/>
            <a:ext cx="3200400" cy="1641732"/>
          </a:xfrm>
          <a:prstGeom prst="roundRect">
            <a:avLst/>
          </a:prstGeom>
          <a:solidFill>
            <a:srgbClr val="EAF6EA"/>
          </a:solidFill>
          <a:ln w="15240">
            <a:solidFill>
              <a:srgbClr val="98C7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13"/>
          <p:cNvSpPr/>
          <p:nvPr/>
        </p:nvSpPr>
        <p:spPr>
          <a:xfrm>
            <a:off x="4690872" y="2271900"/>
            <a:ext cx="3255264" cy="773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(B) Intra-node execution</a:t>
            </a:r>
            <a:endParaRPr lang="en-US" sz="2000" dirty="0"/>
          </a:p>
        </p:txBody>
      </p:sp>
      <p:sp>
        <p:nvSpPr>
          <p:cNvPr id="37" name="Text 14"/>
          <p:cNvSpPr/>
          <p:nvPr/>
        </p:nvSpPr>
        <p:spPr>
          <a:xfrm>
            <a:off x="4800600" y="2637666"/>
            <a:ext cx="30358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local/remote overlap inside multi-GPU kernels</a:t>
            </a:r>
            <a:endParaRPr lang="en-US" sz="2000" dirty="0"/>
          </a:p>
        </p:txBody>
      </p:sp>
      <p:sp>
        <p:nvSpPr>
          <p:cNvPr id="38" name="Shape 15"/>
          <p:cNvSpPr/>
          <p:nvPr/>
        </p:nvSpPr>
        <p:spPr>
          <a:xfrm>
            <a:off x="5760720" y="3261236"/>
            <a:ext cx="1051560" cy="3154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16"/>
          <p:cNvSpPr/>
          <p:nvPr/>
        </p:nvSpPr>
        <p:spPr>
          <a:xfrm>
            <a:off x="5760720" y="3356232"/>
            <a:ext cx="10515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</a:t>
            </a:r>
            <a:endParaRPr lang="en-US" sz="1400" dirty="0"/>
          </a:p>
        </p:txBody>
      </p:sp>
      <p:sp>
        <p:nvSpPr>
          <p:cNvPr id="40" name="Shape 17"/>
          <p:cNvSpPr/>
          <p:nvPr/>
        </p:nvSpPr>
        <p:spPr>
          <a:xfrm>
            <a:off x="8001000" y="2740428"/>
            <a:ext cx="256032" cy="320040"/>
          </a:xfrm>
          <a:prstGeom prst="chevron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41" name="Shape 18"/>
          <p:cNvSpPr/>
          <p:nvPr/>
        </p:nvSpPr>
        <p:spPr>
          <a:xfrm>
            <a:off x="8421624" y="2103120"/>
            <a:ext cx="3200400" cy="1641732"/>
          </a:xfrm>
          <a:prstGeom prst="roundRect">
            <a:avLst/>
          </a:prstGeom>
          <a:solidFill>
            <a:srgbClr val="FDEBF5"/>
          </a:solidFill>
          <a:ln w="15240">
            <a:solidFill>
              <a:srgbClr val="D38C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19"/>
          <p:cNvSpPr/>
          <p:nvPr/>
        </p:nvSpPr>
        <p:spPr>
          <a:xfrm>
            <a:off x="8207763" y="2271900"/>
            <a:ext cx="3608318" cy="22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(C) Inter-device communication</a:t>
            </a:r>
            <a:endParaRPr lang="en-US" sz="2000" dirty="0"/>
          </a:p>
        </p:txBody>
      </p:sp>
      <p:sp>
        <p:nvSpPr>
          <p:cNvPr id="43" name="Text 20"/>
          <p:cNvSpPr/>
          <p:nvPr/>
        </p:nvSpPr>
        <p:spPr>
          <a:xfrm>
            <a:off x="8586216" y="2667276"/>
            <a:ext cx="2834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message volume, imbalance, waiting</a:t>
            </a:r>
            <a:endParaRPr lang="en-US" sz="2000" dirty="0"/>
          </a:p>
        </p:txBody>
      </p:sp>
      <p:sp>
        <p:nvSpPr>
          <p:cNvPr id="44" name="Shape 21"/>
          <p:cNvSpPr/>
          <p:nvPr/>
        </p:nvSpPr>
        <p:spPr>
          <a:xfrm>
            <a:off x="9491472" y="3261235"/>
            <a:ext cx="1051560" cy="3086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22"/>
          <p:cNvSpPr/>
          <p:nvPr/>
        </p:nvSpPr>
        <p:spPr>
          <a:xfrm>
            <a:off x="9491472" y="3338960"/>
            <a:ext cx="10515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endParaRPr lang="en-US" sz="1400" dirty="0"/>
          </a:p>
        </p:txBody>
      </p:sp>
      <p:sp>
        <p:nvSpPr>
          <p:cNvPr id="46" name="Text 23"/>
          <p:cNvSpPr/>
          <p:nvPr/>
        </p:nvSpPr>
        <p:spPr>
          <a:xfrm>
            <a:off x="914400" y="3977640"/>
            <a:ext cx="40132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</a:t>
            </a:r>
            <a:r>
              <a:rPr lang="en-US" altLang="zh-CN" sz="22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is</a:t>
            </a:r>
            <a:r>
              <a:rPr lang="en-US" sz="22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this angle useful:</a:t>
            </a:r>
            <a:endParaRPr lang="en-US" sz="2200" dirty="0"/>
          </a:p>
        </p:txBody>
      </p:sp>
      <p:sp>
        <p:nvSpPr>
          <p:cNvPr id="59" name="Text 24"/>
          <p:cNvSpPr/>
          <p:nvPr/>
        </p:nvSpPr>
        <p:spPr>
          <a:xfrm>
            <a:off x="1005840" y="434340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1325880" y="4253360"/>
            <a:ext cx="9921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It avoids presenting the three papers as unrelated tricks.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1005840" y="487375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1325880" y="4873752"/>
            <a:ext cx="9921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It also explains why their design choices differ: BGL is pipeline-fed and data-centric; MGG is kernel-centric; AdaQP is communication-centric.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1005840" y="5586984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29"/>
          <p:cNvSpPr/>
          <p:nvPr/>
        </p:nvSpPr>
        <p:spPr>
          <a:xfrm>
            <a:off x="1325880" y="5608472"/>
            <a:ext cx="9921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This framing is new compared with a paper-by-paper summary and makes the talk more coherent.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motivation</a:t>
            </a:r>
            <a:endParaRPr lang="en-US" altLang="zh-TW" sz="4000" dirty="0"/>
          </a:p>
        </p:txBody>
      </p:sp>
      <p:sp>
        <p:nvSpPr>
          <p:cNvPr id="2" name="Text 5"/>
          <p:cNvSpPr/>
          <p:nvPr/>
        </p:nvSpPr>
        <p:spPr>
          <a:xfrm>
            <a:off x="3629871" y="1197835"/>
            <a:ext cx="4536017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Storyline for the talk</a:t>
            </a:r>
            <a:endParaRPr lang="en-US" sz="2800" dirty="0"/>
          </a:p>
        </p:txBody>
      </p:sp>
      <p:sp>
        <p:nvSpPr>
          <p:cNvPr id="3" name="Shape 6"/>
          <p:cNvSpPr/>
          <p:nvPr/>
        </p:nvSpPr>
        <p:spPr>
          <a:xfrm>
            <a:off x="1417320" y="2176272"/>
            <a:ext cx="923544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7"/>
          <p:cNvSpPr/>
          <p:nvPr/>
        </p:nvSpPr>
        <p:spPr>
          <a:xfrm>
            <a:off x="1938528" y="2011680"/>
            <a:ext cx="329184" cy="32918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8"/>
          <p:cNvSpPr/>
          <p:nvPr/>
        </p:nvSpPr>
        <p:spPr>
          <a:xfrm>
            <a:off x="1600200" y="16002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endParaRPr lang="en-US" sz="2000" dirty="0"/>
          </a:p>
        </p:txBody>
      </p:sp>
      <p:sp>
        <p:nvSpPr>
          <p:cNvPr id="8" name="Text 9"/>
          <p:cNvSpPr/>
          <p:nvPr/>
        </p:nvSpPr>
        <p:spPr>
          <a:xfrm>
            <a:off x="1005840" y="2331720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Sampling-based</a:t>
            </a:r>
            <a:endParaRPr lang="en-US" sz="1900" dirty="0"/>
          </a:p>
        </p:txBody>
      </p:sp>
      <p:sp>
        <p:nvSpPr>
          <p:cNvPr id="9" name="Text 10"/>
          <p:cNvSpPr/>
          <p:nvPr/>
        </p:nvSpPr>
        <p:spPr>
          <a:xfrm>
            <a:off x="914400" y="3035808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Feed GPUs more efficiently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5733288" y="2011680"/>
            <a:ext cx="329184" cy="329184"/>
          </a:xfrm>
          <a:prstGeom prst="ellipse">
            <a:avLst/>
          </a:prstGeom>
          <a:solidFill>
            <a:srgbClr val="70AD47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2"/>
          <p:cNvSpPr/>
          <p:nvPr/>
        </p:nvSpPr>
        <p:spPr>
          <a:xfrm>
            <a:off x="5394960" y="16002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</a:t>
            </a:r>
            <a:endParaRPr lang="en-US" sz="2000" dirty="0"/>
          </a:p>
        </p:txBody>
      </p:sp>
      <p:sp>
        <p:nvSpPr>
          <p:cNvPr id="12" name="Text 13"/>
          <p:cNvSpPr/>
          <p:nvPr/>
        </p:nvSpPr>
        <p:spPr>
          <a:xfrm>
            <a:off x="4800600" y="2407485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 multi-GPU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full-graph</a:t>
            </a:r>
            <a:endParaRPr lang="en-US" sz="1900" dirty="0"/>
          </a:p>
        </p:txBody>
      </p:sp>
      <p:sp>
        <p:nvSpPr>
          <p:cNvPr id="13" name="Text 14"/>
          <p:cNvSpPr/>
          <p:nvPr/>
        </p:nvSpPr>
        <p:spPr>
          <a:xfrm>
            <a:off x="4617950" y="3035808"/>
            <a:ext cx="255985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Overlap remote access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with local compute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9482328" y="2011680"/>
            <a:ext cx="329184" cy="329184"/>
          </a:xfrm>
          <a:prstGeom prst="ellipse">
            <a:avLst/>
          </a:prstGeom>
          <a:solidFill>
            <a:srgbClr val="C55A9A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6"/>
          <p:cNvSpPr/>
          <p:nvPr/>
        </p:nvSpPr>
        <p:spPr>
          <a:xfrm>
            <a:off x="9046028" y="1634164"/>
            <a:ext cx="1201783" cy="959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endParaRPr lang="en-US" sz="2000" dirty="0"/>
          </a:p>
        </p:txBody>
      </p:sp>
      <p:sp>
        <p:nvSpPr>
          <p:cNvPr id="16" name="Text 17"/>
          <p:cNvSpPr/>
          <p:nvPr/>
        </p:nvSpPr>
        <p:spPr>
          <a:xfrm>
            <a:off x="8549640" y="2410097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Distributed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full-graph</a:t>
            </a:r>
            <a:endParaRPr lang="en-US" sz="1900" dirty="0"/>
          </a:p>
        </p:txBody>
      </p:sp>
      <p:sp>
        <p:nvSpPr>
          <p:cNvPr id="17" name="Text 18"/>
          <p:cNvSpPr/>
          <p:nvPr/>
        </p:nvSpPr>
        <p:spPr>
          <a:xfrm>
            <a:off x="8316147" y="3056147"/>
            <a:ext cx="2668383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Reduce communication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and hide wait time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914400" y="3803963"/>
            <a:ext cx="964692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optimization target gradually moves outward:</a:t>
            </a:r>
            <a:endParaRPr lang="en-US" sz="2200" dirty="0"/>
          </a:p>
        </p:txBody>
      </p:sp>
      <p:sp>
        <p:nvSpPr>
          <p:cNvPr id="19" name="Text 20"/>
          <p:cNvSpPr/>
          <p:nvPr/>
        </p:nvSpPr>
        <p:spPr>
          <a:xfrm>
            <a:off x="1005840" y="4315968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1"/>
          <p:cNvSpPr/>
          <p:nvPr/>
        </p:nvSpPr>
        <p:spPr>
          <a:xfrm>
            <a:off x="1325880" y="4242934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BGL optimizes how the system prepares training data for the GPU.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2"/>
          <p:cNvSpPr/>
          <p:nvPr/>
        </p:nvSpPr>
        <p:spPr>
          <a:xfrm>
            <a:off x="1005840" y="482803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3"/>
          <p:cNvSpPr/>
          <p:nvPr/>
        </p:nvSpPr>
        <p:spPr>
          <a:xfrm>
            <a:off x="1325880" y="4754998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MGG optimizes how a multi-GPU node executes irregular GNN kernels.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4"/>
          <p:cNvSpPr/>
          <p:nvPr/>
        </p:nvSpPr>
        <p:spPr>
          <a:xfrm>
            <a:off x="1005840" y="534009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5"/>
          <p:cNvSpPr/>
          <p:nvPr/>
        </p:nvSpPr>
        <p:spPr>
          <a:xfrm>
            <a:off x="1325880" y="5267062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AdaQP optimizes what is exchanged across devices and when computation waits.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6"/>
          <p:cNvSpPr/>
          <p:nvPr/>
        </p:nvSpPr>
        <p:spPr>
          <a:xfrm>
            <a:off x="425057" y="5836232"/>
            <a:ext cx="10917382" cy="169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This progression makes the comparison sharper: each paper attacks a different layer of the system stack.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(8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(8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(1/3) - </a:t>
            </a:r>
            <a:r>
              <a:rPr lang="en-US" altLang="zh-CN" sz="42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bottleneck</a:t>
            </a:r>
          </a:p>
        </p:txBody>
      </p:sp>
      <p:sp>
        <p:nvSpPr>
          <p:cNvPr id="3" name="Text 5"/>
          <p:cNvSpPr/>
          <p:nvPr/>
        </p:nvSpPr>
        <p:spPr>
          <a:xfrm>
            <a:off x="914400" y="1234440"/>
            <a:ext cx="10424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 focuses on sampling-based GNN training, where the GPU is often under-utilized because the front-end data pipeline is too slow.</a:t>
            </a:r>
            <a:endParaRPr lang="en-US" sz="2100" dirty="0"/>
          </a:p>
        </p:txBody>
      </p:sp>
      <p:sp>
        <p:nvSpPr>
          <p:cNvPr id="17" name="Text 6"/>
          <p:cNvSpPr/>
          <p:nvPr/>
        </p:nvSpPr>
        <p:spPr>
          <a:xfrm>
            <a:off x="461554" y="2208335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914400" y="1979735"/>
            <a:ext cx="5114109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BGL decomposes one iteration into three stages: subgraph sampling, feature retrieving, and model computation.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61554" y="341354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914400" y="3184946"/>
            <a:ext cx="5114109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paper treats the first two stages as data I/O and preprocessing, and argues that they dominate end-to-end training on large graphs.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461554" y="4483394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914400" y="4254794"/>
            <a:ext cx="5114109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the architecture should be introduced as a data-supply pipeline feeding the GPU, rather than as a new GNN computation engine.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28" y="1956169"/>
            <a:ext cx="4971723" cy="3236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(1/3) - </a:t>
            </a:r>
            <a:r>
              <a:rPr lang="en-US" altLang="zh-CN" sz="40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Workflow</a:t>
            </a:r>
          </a:p>
        </p:txBody>
      </p:sp>
      <p:sp>
        <p:nvSpPr>
          <p:cNvPr id="17" name="Text 6"/>
          <p:cNvSpPr/>
          <p:nvPr/>
        </p:nvSpPr>
        <p:spPr>
          <a:xfrm>
            <a:off x="610035" y="191285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062881" y="1684256"/>
            <a:ext cx="5114109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 expands the architecture into concrete system roles: graph partition module, graph store servers, samplers, feature cache engines, and GPU workers.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610035" y="3437151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062881" y="3208551"/>
            <a:ext cx="5114109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figure shows why BGL is a distributed pipeline: partition once, sample on servers, retrieve features, and then synchronize parameters across workers.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610035" y="4817894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1062881" y="4589294"/>
            <a:ext cx="5114109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right place to introduce the three mechanisms in context: dynamic cache, GNN-oriented partitioning, and profiling-based resource isolation.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305" y="1452453"/>
            <a:ext cx="4493478" cy="43644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(2/3) - </a:t>
            </a:r>
            <a:r>
              <a:rPr lang="en-US" altLang="zh-CN" sz="4400" dirty="0">
                <a:solidFill>
                  <a:srgbClr val="2A558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Mechanism chain</a:t>
            </a:r>
            <a:endParaRPr lang="en-US" altLang="zh-CN" sz="4400" dirty="0">
              <a:solidFill>
                <a:srgbClr val="244E8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" name="Shape 5"/>
          <p:cNvSpPr/>
          <p:nvPr/>
        </p:nvSpPr>
        <p:spPr>
          <a:xfrm>
            <a:off x="598277" y="1325880"/>
            <a:ext cx="3607963" cy="42931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Text 6"/>
          <p:cNvSpPr/>
          <p:nvPr/>
        </p:nvSpPr>
        <p:spPr>
          <a:xfrm>
            <a:off x="813815" y="1577647"/>
            <a:ext cx="315864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Dynamic feature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cache</a:t>
            </a:r>
            <a:endParaRPr lang="en-US" sz="2400" dirty="0"/>
          </a:p>
        </p:txBody>
      </p:sp>
      <p:sp>
        <p:nvSpPr>
          <p:cNvPr id="16" name="Text 7"/>
          <p:cNvSpPr/>
          <p:nvPr/>
        </p:nvSpPr>
        <p:spPr>
          <a:xfrm>
            <a:off x="813815" y="232720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1133855" y="2318063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Use FIFO rather than expensive LRU/LFU.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813815" y="3284271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133855" y="3275127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Raise hit ratio with proximity-aware ordering.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813815" y="431901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1133855" y="430986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Exploit temporal locality across nearby mini-batches.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4407407" y="1325880"/>
            <a:ext cx="3607963" cy="42931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Text 14"/>
          <p:cNvSpPr/>
          <p:nvPr/>
        </p:nvSpPr>
        <p:spPr>
          <a:xfrm>
            <a:off x="4759452" y="1637608"/>
            <a:ext cx="446286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Better graph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partitioning</a:t>
            </a:r>
            <a:endParaRPr lang="en-US" altLang="zh-CN" sz="2400" dirty="0"/>
          </a:p>
        </p:txBody>
      </p:sp>
      <p:sp>
        <p:nvSpPr>
          <p:cNvPr id="24" name="Text 15"/>
          <p:cNvSpPr/>
          <p:nvPr/>
        </p:nvSpPr>
        <p:spPr>
          <a:xfrm>
            <a:off x="4645152" y="232720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4965191" y="2318063"/>
            <a:ext cx="2903003" cy="50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Partition for multi-hop locality, not just one-hop structure.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4645152" y="3284271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4965191" y="3275127"/>
            <a:ext cx="2903003" cy="50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Also balance training nodes, not only total nodes.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4645152" y="431901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4965191" y="4309868"/>
            <a:ext cx="2903003" cy="50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Goal: reduce cross-partition sampling traffic.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8216537" y="1325880"/>
            <a:ext cx="3725527" cy="42931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1" name="Text 22"/>
          <p:cNvSpPr/>
          <p:nvPr/>
        </p:nvSpPr>
        <p:spPr>
          <a:xfrm>
            <a:off x="8445138" y="160020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Resource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isolation</a:t>
            </a:r>
            <a:endParaRPr lang="en-US" altLang="zh-CN" sz="2400" dirty="0"/>
          </a:p>
        </p:txBody>
      </p:sp>
      <p:sp>
        <p:nvSpPr>
          <p:cNvPr id="32" name="Text 23"/>
          <p:cNvSpPr/>
          <p:nvPr/>
        </p:nvSpPr>
        <p:spPr>
          <a:xfrm>
            <a:off x="8558784" y="232720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8878824" y="2318063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Different preprocessing stages compete for CPU, memory, PCIe, and network.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8558784" y="3284271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8878823" y="3275127"/>
            <a:ext cx="282854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Assign isolated resources to reduce contention.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8558784" y="431901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8878823" y="4309868"/>
            <a:ext cx="282854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This helps BGL outperform simpler asynchronous pipelines.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598277" y="5592032"/>
            <a:ext cx="12658345" cy="5074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BGL is a data-supply system. It wins by making the GPU wait less, not by changing the GNN mathematics.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(3/3) – e2e</a:t>
            </a:r>
            <a:r>
              <a:rPr lang="zh-CN" altLang="en-US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sppedup</a:t>
            </a:r>
            <a:endParaRPr lang="en-US" altLang="zh-CN" sz="4400" dirty="0">
              <a:solidFill>
                <a:srgbClr val="244E8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" name="Text 5"/>
          <p:cNvSpPr/>
          <p:nvPr/>
        </p:nvSpPr>
        <p:spPr>
          <a:xfrm>
            <a:off x="201168" y="1825924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/>
          <p:nvPr/>
        </p:nvSpPr>
        <p:spPr>
          <a:xfrm>
            <a:off x="521208" y="1816780"/>
            <a:ext cx="45567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Across the reported settings, BGL achieves 1.14x-69x speedups over the four baselines; the geometric-mean speedup over PaGraph is 1.91x.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01170" y="296739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521209" y="2958246"/>
            <a:ext cx="455675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paper attributes the gains to dynamic caching, better locality-aware partitioning, and resource isolation.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201167" y="4108857"/>
            <a:ext cx="312107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1208" y="4099713"/>
            <a:ext cx="4556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It also claims strong scalability and reports GPU utilization gains up to 99% for GAT and from 10% to 65% for GraphSAGE on the reported setup.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429767" y="5069854"/>
            <a:ext cx="410826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30935" y="5325886"/>
            <a:ext cx="3794759" cy="3397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Takeaway: BGL represents the “feed the GPU better” line of OS support for graph learning.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36" y="1384904"/>
            <a:ext cx="7017581" cy="37532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(3/3) – mechanism evidence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4487"/>
          <a:stretch>
            <a:fillRect/>
          </a:stretch>
        </p:blipFill>
        <p:spPr>
          <a:xfrm>
            <a:off x="3442150" y="1580298"/>
            <a:ext cx="8413360" cy="3697404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336490" y="1911456"/>
            <a:ext cx="88155" cy="2317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2522" y="1902312"/>
            <a:ext cx="3168675" cy="566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 evidence: the paper shows that cache and partitioning reduce retrieving time, sampling time, and cross-partition communication together.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6490" y="4218830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2522" y="4218830"/>
            <a:ext cx="2946935" cy="3405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isolation and scaling results show that the front-end pipeline must remain balanced, otherwise bottlenecks simply move between stages.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(3/3) – Model quality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1930"/>
          <a:stretch>
            <a:fillRect/>
          </a:stretch>
        </p:blipFill>
        <p:spPr>
          <a:xfrm>
            <a:off x="6019534" y="1147886"/>
            <a:ext cx="4154557" cy="4943112"/>
          </a:xfrm>
          <a:prstGeom prst="rect">
            <a:avLst/>
          </a:prstGeom>
        </p:spPr>
      </p:pic>
      <p:sp>
        <p:nvSpPr>
          <p:cNvPr id="3" name="Text 11"/>
          <p:cNvSpPr/>
          <p:nvPr/>
        </p:nvSpPr>
        <p:spPr>
          <a:xfrm>
            <a:off x="1040579" y="2104602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2"/>
          <p:cNvSpPr/>
          <p:nvPr/>
        </p:nvSpPr>
        <p:spPr>
          <a:xfrm>
            <a:off x="1296610" y="2095458"/>
            <a:ext cx="4436041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BGL converges to almost the same accuracy as DGL.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3"/>
          <p:cNvSpPr/>
          <p:nvPr/>
        </p:nvSpPr>
        <p:spPr>
          <a:xfrm>
            <a:off x="1040579" y="3288861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4"/>
          <p:cNvSpPr/>
          <p:nvPr/>
        </p:nvSpPr>
        <p:spPr>
          <a:xfrm>
            <a:off x="1296611" y="3279717"/>
            <a:ext cx="43067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The key difference is that convergence is reached much faster in wall-clock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5"/>
          <p:cNvSpPr/>
          <p:nvPr/>
        </p:nvSpPr>
        <p:spPr>
          <a:xfrm>
            <a:off x="1040579" y="4473120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6"/>
          <p:cNvSpPr/>
          <p:nvPr/>
        </p:nvSpPr>
        <p:spPr>
          <a:xfrm>
            <a:off x="1296611" y="4463976"/>
            <a:ext cx="395575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So BGL’s improvements are system-level, not accuracy tradeoffs.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(8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(8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(8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(1/3) - </a:t>
            </a:r>
            <a:r>
              <a:rPr lang="en-US" altLang="zh-CN" sz="42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</a:t>
            </a:r>
          </a:p>
        </p:txBody>
      </p:sp>
      <p:sp>
        <p:nvSpPr>
          <p:cNvPr id="2" name="Text 5"/>
          <p:cNvSpPr/>
          <p:nvPr/>
        </p:nvSpPr>
        <p:spPr>
          <a:xfrm>
            <a:off x="300331" y="1234440"/>
            <a:ext cx="11612880" cy="370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2000" b="1" dirty="0">
                <a:solidFill>
                  <a:srgbClr val="244E86"/>
                </a:solidFill>
              </a:rPr>
              <a:t>If BGL optimizes the front-end pipeline before data reaches the GPU, MGG moves one step deeper and asks how irregular GNN execution should be organized inside a multi-GPU node.</a:t>
            </a:r>
            <a:endParaRPr lang="en-US" altLang="zh-CN" sz="2000" dirty="0"/>
          </a:p>
        </p:txBody>
      </p:sp>
      <p:sp>
        <p:nvSpPr>
          <p:cNvPr id="6" name="Text 6"/>
          <p:cNvSpPr/>
          <p:nvPr/>
        </p:nvSpPr>
        <p:spPr>
          <a:xfrm>
            <a:off x="435429" y="224479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/>
          <p:cNvSpPr/>
          <p:nvPr/>
        </p:nvSpPr>
        <p:spPr>
          <a:xfrm>
            <a:off x="755469" y="2235648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Existing systems treat communication and computation almost separately, which works better for dense DNNs than irregular GNNs.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/>
          <p:cNvSpPr/>
          <p:nvPr/>
        </p:nvSpPr>
        <p:spPr>
          <a:xfrm>
            <a:off x="435429" y="345202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9"/>
          <p:cNvSpPr/>
          <p:nvPr/>
        </p:nvSpPr>
        <p:spPr>
          <a:xfrm>
            <a:off x="755469" y="3442878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MGG instead models GNN execution as a dynamic software pipeline inside GPU kernels.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435429" y="443979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755469" y="4430652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architecture has two main halves: kernel construction/mapping and runtime parameter optimization.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17566" y="5161950"/>
            <a:ext cx="116128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300331" y="5372262"/>
            <a:ext cx="11205411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pipeline construction creates overlap opportunities, mapping assigns them to GPU execution units, and runtime optimization retunes the next iteration using performance feedback.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938" y="1976235"/>
            <a:ext cx="6611273" cy="29055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(2/3) – Design logic</a:t>
            </a:r>
          </a:p>
        </p:txBody>
      </p:sp>
      <p:sp>
        <p:nvSpPr>
          <p:cNvPr id="3" name="Shape 5"/>
          <p:cNvSpPr/>
          <p:nvPr/>
        </p:nvSpPr>
        <p:spPr>
          <a:xfrm>
            <a:off x="598277" y="1325880"/>
            <a:ext cx="3607963" cy="42931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Text 6"/>
          <p:cNvSpPr/>
          <p:nvPr/>
        </p:nvSpPr>
        <p:spPr>
          <a:xfrm>
            <a:off x="637948" y="1614819"/>
            <a:ext cx="38221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Pipeline construction</a:t>
            </a:r>
            <a:endParaRPr lang="en-US" sz="2400" dirty="0"/>
          </a:p>
        </p:txBody>
      </p:sp>
      <p:sp>
        <p:nvSpPr>
          <p:cNvPr id="16" name="Text 7"/>
          <p:cNvSpPr/>
          <p:nvPr/>
        </p:nvSpPr>
        <p:spPr>
          <a:xfrm>
            <a:off x="813815" y="232720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1133855" y="2318063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Break irregular GNN aggregation into finer operations.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813815" y="351516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133855" y="350601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Manage workload at pipeline level instead of only per layer.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813815" y="468654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1133855" y="467739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Use hybrid data placement so local and remote access can be interleaved.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4407407" y="1325880"/>
            <a:ext cx="3607963" cy="42931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Text 14"/>
          <p:cNvSpPr/>
          <p:nvPr/>
        </p:nvSpPr>
        <p:spPr>
          <a:xfrm>
            <a:off x="4512872" y="1600200"/>
            <a:ext cx="446286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GPU-aware mapping</a:t>
            </a:r>
            <a:endParaRPr lang="en-US" sz="2400" dirty="0"/>
          </a:p>
        </p:txBody>
      </p:sp>
      <p:sp>
        <p:nvSpPr>
          <p:cNvPr id="24" name="Text 15"/>
          <p:cNvSpPr/>
          <p:nvPr/>
        </p:nvSpPr>
        <p:spPr>
          <a:xfrm>
            <a:off x="4645152" y="232720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4965191" y="2318063"/>
            <a:ext cx="2903003" cy="50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Map pipeline stages to warp-level GPU execution more carefully.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4645152" y="351516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4965191" y="3506016"/>
            <a:ext cx="2903003" cy="50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Exploit direct GPU-GPU communication rather than going through CPU host memory.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4645152" y="468654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4965191" y="4677398"/>
            <a:ext cx="2903003" cy="50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Use specialized memory design for irregular accesses.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8216537" y="1325880"/>
            <a:ext cx="3725527" cy="42931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1" name="Text 22"/>
          <p:cNvSpPr/>
          <p:nvPr/>
        </p:nvSpPr>
        <p:spPr>
          <a:xfrm>
            <a:off x="8445138" y="1600200"/>
            <a:ext cx="3383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Runtime adaptation</a:t>
            </a:r>
            <a:endParaRPr lang="en-US" sz="2400" dirty="0"/>
          </a:p>
        </p:txBody>
      </p:sp>
      <p:sp>
        <p:nvSpPr>
          <p:cNvPr id="32" name="Text 23"/>
          <p:cNvSpPr/>
          <p:nvPr/>
        </p:nvSpPr>
        <p:spPr>
          <a:xfrm>
            <a:off x="8558784" y="232720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8878824" y="2318063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Monitor latency and performance feedback from actual execution.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8558784" y="351516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8878823" y="3506016"/>
            <a:ext cx="282854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Update configuration for the next iteration instead of using one static policy.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8558784" y="4686542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8878823" y="4677398"/>
            <a:ext cx="282854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paper explicitly argues that input and hardware properties both matter.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637948" y="5618982"/>
            <a:ext cx="12658345" cy="5074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MGG is about turning irregular GNN execution into a schedulable pipeline problem at the GPU-kernel level.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(2/3) – Design logic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620" y="1541161"/>
            <a:ext cx="7546197" cy="3775678"/>
          </a:xfrm>
          <a:prstGeom prst="rect">
            <a:avLst/>
          </a:prstGeom>
        </p:spPr>
      </p:pic>
      <p:sp>
        <p:nvSpPr>
          <p:cNvPr id="6" name="Text 5"/>
          <p:cNvSpPr/>
          <p:nvPr/>
        </p:nvSpPr>
        <p:spPr>
          <a:xfrm>
            <a:off x="385657" y="1979943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/>
          <p:cNvSpPr/>
          <p:nvPr/>
        </p:nvSpPr>
        <p:spPr>
          <a:xfrm>
            <a:off x="623401" y="1970799"/>
            <a:ext cx="4059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 shows that MGG does not use one fixed workload split. It first balances work across GPUs, then reduces pipeline bubbles, and finally refines granularity.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7"/>
          <p:cNvSpPr/>
          <p:nvPr/>
        </p:nvSpPr>
        <p:spPr>
          <a:xfrm>
            <a:off x="385657" y="3625017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/>
          <p:cNvSpPr/>
          <p:nvPr/>
        </p:nvSpPr>
        <p:spPr>
          <a:xfrm>
            <a:off x="623401" y="3615873"/>
            <a:ext cx="4059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paper distinguishes local and remote neighbor partitions explicitly, which turns overlap opportunity into something schedulable rather than accidental.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/>
          <p:cNvSpPr/>
          <p:nvPr/>
        </p:nvSpPr>
        <p:spPr>
          <a:xfrm>
            <a:off x="385657" y="529402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623401" y="5284876"/>
            <a:ext cx="405993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why MGG is stronger than a generic overlap claim: the pipeline is deliberately constructed around irregular local/remote access patterns.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(3/3) – main results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5997"/>
          <a:stretch>
            <a:fillRect/>
          </a:stretch>
        </p:blipFill>
        <p:spPr>
          <a:xfrm>
            <a:off x="5724460" y="1400653"/>
            <a:ext cx="5547044" cy="4015929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822960" y="178308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2" y="1773936"/>
            <a:ext cx="43159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Q1. Does MGG consistently outperform the mainstream full-graph baseline DGL?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01542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3006282"/>
            <a:ext cx="43159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Yes. The paper reports average speedups of 4.25× on GCN and 4.57× on GIN.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372263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8992" y="4363119"/>
            <a:ext cx="43159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gain becomes larger with more GPUs, suggesting that MGG is strongest when remote-access pressure grows.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(3/3) – other results</a:t>
            </a: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522" y="1081838"/>
            <a:ext cx="4855464" cy="378440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271" y="4866244"/>
            <a:ext cx="4625967" cy="1221377"/>
          </a:xfrm>
          <a:prstGeom prst="rect">
            <a:avLst/>
          </a:prstGeom>
        </p:spPr>
      </p:pic>
      <p:sp>
        <p:nvSpPr>
          <p:cNvPr id="3" name="Text 13"/>
          <p:cNvSpPr/>
          <p:nvPr/>
        </p:nvSpPr>
        <p:spPr>
          <a:xfrm>
            <a:off x="882074" y="2019748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4"/>
          <p:cNvSpPr/>
          <p:nvPr/>
        </p:nvSpPr>
        <p:spPr>
          <a:xfrm>
            <a:off x="1138105" y="1894973"/>
            <a:ext cx="495789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Q2. Why is fine-grained GPU-GPU communication better than UVM-based remote access? The paper reports 4.58× / 5.04× average speedups over MGG-UVM on GCN / GIN.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5"/>
          <p:cNvSpPr/>
          <p:nvPr/>
        </p:nvSpPr>
        <p:spPr>
          <a:xfrm>
            <a:off x="882074" y="3605214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6"/>
          <p:cNvSpPr/>
          <p:nvPr/>
        </p:nvSpPr>
        <p:spPr>
          <a:xfrm>
            <a:off x="1138106" y="3486342"/>
            <a:ext cx="495789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Q3. Why does the pipeline stay balanced? Neighbor partitioning and workload interleaving reduce imbalance and pipeline bubbles.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7"/>
          <p:cNvSpPr/>
          <p:nvPr/>
        </p:nvSpPr>
        <p:spPr>
          <a:xfrm>
            <a:off x="882074" y="5069493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1138105" y="4947034"/>
            <a:ext cx="5345823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Q4. Is the gain from one trick? </a:t>
            </a:r>
          </a:p>
          <a:p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Primitive choice and runtime parameter search also matter, so the improvement is coordinated rather than isolated.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(3/3) - Mechanism evidence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91" y="3400151"/>
            <a:ext cx="10263617" cy="19385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90087" y="2095394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646119" y="2086250"/>
            <a:ext cx="413308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Neighbor partitioning: without it, latency is much higher because workload imbalance becomes severe across warps.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189477" y="2067962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445509" y="2058818"/>
            <a:ext cx="413308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Workload interleaving: local and remote work should be mixed instead of mapped separately; otherwise pipeline bubbles remain.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 (3/3) - Mechanism </a:t>
            </a:r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evidencess</a:t>
            </a:r>
            <a:endParaRPr lang="en-US" altLang="zh-CN" sz="4400" dirty="0">
              <a:solidFill>
                <a:srgbClr val="244E8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3963" r="6600"/>
          <a:stretch>
            <a:fillRect/>
          </a:stretch>
        </p:blipFill>
        <p:spPr>
          <a:xfrm>
            <a:off x="6389801" y="1337329"/>
            <a:ext cx="4956180" cy="456033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02364" y="2478239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958396" y="2469095"/>
            <a:ext cx="490844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Primitive choice and parameter search matter too, so MGG’s gain is a coordinated effect rather than one isolated trick.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91494" y="4085381"/>
            <a:ext cx="5904506" cy="1225297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 w="12700">
            <a:solidFill>
              <a:srgbClr val="E3C280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71007" y="4597444"/>
            <a:ext cx="571526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MGG wins through several interacting optimizations: pipeline structure, workload interleaving, primitive choice, and runtime parameter tuning.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(9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(9 min)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</a:rPr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9210766" y="651827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(1/3) - </a:t>
            </a:r>
            <a:r>
              <a:rPr lang="en-US" altLang="zh-CN" sz="40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motivation</a:t>
            </a:r>
          </a:p>
        </p:txBody>
      </p:sp>
      <p:sp>
        <p:nvSpPr>
          <p:cNvPr id="2" name="Text 5"/>
          <p:cNvSpPr/>
          <p:nvPr/>
        </p:nvSpPr>
        <p:spPr>
          <a:xfrm>
            <a:off x="279202" y="1110670"/>
            <a:ext cx="11741530" cy="10424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After discussing intra-node irregular execution in MGG, </a:t>
            </a:r>
            <a:r>
              <a:rPr lang="en-US" altLang="zh-CN" sz="2400" b="1" dirty="0" err="1">
                <a:solidFill>
                  <a:srgbClr val="244E86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AdaQP</a:t>
            </a:r>
            <a:r>
              <a:rPr lang="en-US" altLang="zh-CN" sz="2400" b="1" dirty="0">
                <a:solidFill>
                  <a:srgbClr val="244E86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 moves one step further outward and focuses on inter-device communication in distributed full-graph training.</a:t>
            </a:r>
            <a:endParaRPr lang="en-US" sz="2400" b="1" dirty="0">
              <a:solidFill>
                <a:srgbClr val="244E86"/>
              </a:solidFill>
              <a:latin typeface="Arial" panose="020B0604020202020204" pitchFamily="34" charset="0"/>
              <a:cs typeface="Arial" panose="020B0604020202020204" pitchFamily="34" charset="-120"/>
            </a:endParaRPr>
          </a:p>
        </p:txBody>
      </p:sp>
      <p:sp>
        <p:nvSpPr>
          <p:cNvPr id="7" name="Text 6"/>
          <p:cNvSpPr/>
          <p:nvPr/>
        </p:nvSpPr>
        <p:spPr>
          <a:xfrm>
            <a:off x="253630" y="268841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7"/>
          <p:cNvSpPr/>
          <p:nvPr/>
        </p:nvSpPr>
        <p:spPr>
          <a:xfrm>
            <a:off x="766173" y="2798138"/>
            <a:ext cx="5716988" cy="165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Vanilla full-graph training repeatedly exchanges features, embeddings, and embedding gradients for remote neighbors.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/>
          <p:cNvSpPr/>
          <p:nvPr/>
        </p:nvSpPr>
        <p:spPr>
          <a:xfrm>
            <a:off x="253630" y="3754253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/>
          <p:cNvSpPr/>
          <p:nvPr/>
        </p:nvSpPr>
        <p:spPr>
          <a:xfrm>
            <a:off x="766173" y="3863981"/>
            <a:ext cx="5716988" cy="165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Those exchanges are imbalanced across devices, so some devices wait longer in each communication round.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253630" y="4847039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766173" y="4956767"/>
            <a:ext cx="5716988" cy="1655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paper argues that central nodes can compute while marginal-node communication is happening if resources are controlled carefully.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388" y="2153101"/>
            <a:ext cx="5337982" cy="36716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9210766" y="651827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(2/3) - </a:t>
            </a:r>
            <a:r>
              <a:rPr lang="en-US" altLang="zh-CN" sz="40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core ideas</a:t>
            </a:r>
          </a:p>
        </p:txBody>
      </p:sp>
      <p:sp>
        <p:nvSpPr>
          <p:cNvPr id="3" name="Shape 5"/>
          <p:cNvSpPr/>
          <p:nvPr/>
        </p:nvSpPr>
        <p:spPr>
          <a:xfrm>
            <a:off x="156403" y="1325880"/>
            <a:ext cx="379315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" name="Text 6"/>
          <p:cNvSpPr/>
          <p:nvPr/>
        </p:nvSpPr>
        <p:spPr>
          <a:xfrm>
            <a:off x="384799" y="1600200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Adaptive message quantization</a:t>
            </a:r>
            <a:endParaRPr lang="en-US" sz="2300" dirty="0"/>
          </a:p>
        </p:txBody>
      </p:sp>
      <p:sp>
        <p:nvSpPr>
          <p:cNvPr id="14" name="Text 7"/>
          <p:cNvSpPr/>
          <p:nvPr/>
        </p:nvSpPr>
        <p:spPr>
          <a:xfrm>
            <a:off x="339283" y="2331720"/>
            <a:ext cx="17364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519563" y="2322576"/>
            <a:ext cx="33720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Quantize remote messages to lower-precision integers during communication.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339283" y="3412968"/>
            <a:ext cx="17364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75950" y="3330672"/>
            <a:ext cx="331562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Assign bit-width adaptively instead of using one uniform setting for all messages.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339283" y="4700016"/>
            <a:ext cx="17364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19563" y="4690872"/>
            <a:ext cx="33720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paper proves an O(T^-1) convergence rate under its assumptions and frames bit-width selection as a variance-time tradeoff.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4025030" y="1325880"/>
            <a:ext cx="379315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1" name="Text 14"/>
          <p:cNvSpPr/>
          <p:nvPr/>
        </p:nvSpPr>
        <p:spPr>
          <a:xfrm>
            <a:off x="4302663" y="1592646"/>
            <a:ext cx="3886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Central/marginal graph parallelization</a:t>
            </a:r>
            <a:endParaRPr lang="en-US" sz="2300" dirty="0"/>
          </a:p>
        </p:txBody>
      </p:sp>
      <p:sp>
        <p:nvSpPr>
          <p:cNvPr id="22" name="Text 15"/>
          <p:cNvSpPr/>
          <p:nvPr/>
        </p:nvSpPr>
        <p:spPr>
          <a:xfrm>
            <a:off x="4253630" y="2331720"/>
            <a:ext cx="1852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437173" y="2322576"/>
            <a:ext cx="281618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Split each partition into central nodes and marginal nodes.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253630" y="3412968"/>
            <a:ext cx="1852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437173" y="3257520"/>
            <a:ext cx="30307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Hide central-node computation under marginal-node communication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4253630" y="4713673"/>
            <a:ext cx="1852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437173" y="4704529"/>
            <a:ext cx="31415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Use GPU resource isolation so quantization, de-quantization, and central computation do not fight for compute at the same moment.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384800" y="5660301"/>
            <a:ext cx="123588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AdaQP</a:t>
            </a:r>
            <a:r>
              <a:rPr lang="en-US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= quantization + parallelization. But to make this workflow practical, extra control logic is still needed.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r="4938"/>
          <a:stretch>
            <a:fillRect/>
          </a:stretch>
        </p:blipFill>
        <p:spPr>
          <a:xfrm>
            <a:off x="7632245" y="1569454"/>
            <a:ext cx="4556656" cy="38346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9210766" y="6518275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(2/3) – </a:t>
            </a:r>
            <a:r>
              <a:rPr lang="en-US" altLang="zh-CN" sz="40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 control logic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481" y="1225611"/>
            <a:ext cx="4762016" cy="394075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699052" y="1895724"/>
            <a:ext cx="247867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5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1661" y="1886580"/>
            <a:ext cx="580007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bit-width assignment is a periodic control loop: trace, estimate, optimize, and broadcast new assignments.</a:t>
            </a:r>
          </a:p>
        </p:txBody>
      </p:sp>
      <p:sp>
        <p:nvSpPr>
          <p:cNvPr id="9" name="Text 7"/>
          <p:cNvSpPr/>
          <p:nvPr/>
        </p:nvSpPr>
        <p:spPr>
          <a:xfrm>
            <a:off x="699052" y="3043949"/>
            <a:ext cx="247867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5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91661" y="3034805"/>
            <a:ext cx="580007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 shows why overlap cannot be left to free GPU scheduling: quantization, central computation, and de-quantization compete for resources.</a:t>
            </a:r>
          </a:p>
        </p:txBody>
      </p:sp>
      <p:sp>
        <p:nvSpPr>
          <p:cNvPr id="11" name="Text 9"/>
          <p:cNvSpPr/>
          <p:nvPr/>
        </p:nvSpPr>
        <p:spPr>
          <a:xfrm>
            <a:off x="699052" y="4245732"/>
            <a:ext cx="247867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5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1661" y="4236588"/>
            <a:ext cx="580007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AdaQP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explicit resource isolation to control execution order and preserve the benefit of overlap.</a:t>
            </a:r>
          </a:p>
        </p:txBody>
      </p:sp>
      <p:sp>
        <p:nvSpPr>
          <p:cNvPr id="13" name="Text 11"/>
          <p:cNvSpPr/>
          <p:nvPr/>
        </p:nvSpPr>
        <p:spPr>
          <a:xfrm>
            <a:off x="1661316" y="5270473"/>
            <a:ext cx="9592235" cy="5763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the contribution of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AdaQP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 only lower-bit communication, but a controlled workflow that turns saved communication time into useful computation.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(3/3) - Performance </a:t>
            </a:r>
          </a:p>
        </p:txBody>
      </p:sp>
      <p:sp>
        <p:nvSpPr>
          <p:cNvPr id="7" name="Text 5"/>
          <p:cNvSpPr/>
          <p:nvPr/>
        </p:nvSpPr>
        <p:spPr>
          <a:xfrm>
            <a:off x="471396" y="1814053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1435" y="1804909"/>
            <a:ext cx="388748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The paper reports throughput improvements of 2.19x-3.01x with small accuracy fluctuations, often within about +/-0.3 percentage points.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1396" y="3290277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1435" y="3281133"/>
            <a:ext cx="4020007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It also reports communication-time reduction up to 80.94% and average reduction of 79.98% in the experiments discussed in the paper.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1396" y="4985958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1436" y="4976814"/>
            <a:ext cx="38874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Compared with PipeGCN and SANCUS, the claim is that AdaQP reaches target accuracy faster because it cuts communication without relying on stale embeddings.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32549" y="5012953"/>
            <a:ext cx="59880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6148474" y="5204977"/>
            <a:ext cx="538925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11F1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Takeaway: AdaQP represents the “communicate less and wait less” line of OS support.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r="3469"/>
          <a:stretch>
            <a:fillRect/>
          </a:stretch>
        </p:blipFill>
        <p:spPr>
          <a:xfrm>
            <a:off x="4912722" y="1141371"/>
            <a:ext cx="7189344" cy="35952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 err="1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(3/3) - Performance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928" y="1269077"/>
            <a:ext cx="4657608" cy="4590009"/>
          </a:xfrm>
          <a:prstGeom prst="rect">
            <a:avLst/>
          </a:prstGeom>
        </p:spPr>
      </p:pic>
      <p:sp>
        <p:nvSpPr>
          <p:cNvPr id="3" name="Text 6"/>
          <p:cNvSpPr/>
          <p:nvPr/>
        </p:nvSpPr>
        <p:spPr>
          <a:xfrm>
            <a:off x="601649" y="1424733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/>
          <p:cNvSpPr/>
          <p:nvPr/>
        </p:nvSpPr>
        <p:spPr>
          <a:xfrm>
            <a:off x="857680" y="1415589"/>
            <a:ext cx="5551247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Figure 10 counts optimization overhead directly: quantization adds cost, but the saved communication and waiting time are still much larger overall.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01649" y="2532419"/>
            <a:ext cx="16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57680" y="2523275"/>
            <a:ext cx="5458883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Figure 11 adds sensitivity analysis, showing that adaptive assignment needs tuning but remains robust across settings.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t="1416" b="1676"/>
          <a:stretch>
            <a:fillRect/>
          </a:stretch>
        </p:blipFill>
        <p:spPr>
          <a:xfrm>
            <a:off x="766241" y="3210115"/>
            <a:ext cx="4962799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(9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(9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conclusions</a:t>
            </a:r>
          </a:p>
        </p:txBody>
      </p:sp>
      <p:sp>
        <p:nvSpPr>
          <p:cNvPr id="2" name="Shape 5"/>
          <p:cNvSpPr/>
          <p:nvPr/>
        </p:nvSpPr>
        <p:spPr>
          <a:xfrm>
            <a:off x="642730" y="1417320"/>
            <a:ext cx="1828800" cy="438912"/>
          </a:xfrm>
          <a:prstGeom prst="rect">
            <a:avLst/>
          </a:prstGeom>
          <a:solidFill>
            <a:srgbClr val="244E86"/>
          </a:solidFill>
          <a:ln w="12700">
            <a:solidFill>
              <a:srgbClr val="244E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6"/>
          <p:cNvSpPr/>
          <p:nvPr/>
        </p:nvSpPr>
        <p:spPr>
          <a:xfrm>
            <a:off x="688450" y="1527048"/>
            <a:ext cx="1737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Paper</a:t>
            </a:r>
            <a:endParaRPr lang="en-US" sz="1600" dirty="0"/>
          </a:p>
        </p:txBody>
      </p:sp>
      <p:sp>
        <p:nvSpPr>
          <p:cNvPr id="6" name="Shape 7"/>
          <p:cNvSpPr/>
          <p:nvPr/>
        </p:nvSpPr>
        <p:spPr>
          <a:xfrm>
            <a:off x="2654410" y="1417320"/>
            <a:ext cx="2011680" cy="438912"/>
          </a:xfrm>
          <a:prstGeom prst="rect">
            <a:avLst/>
          </a:prstGeom>
          <a:solidFill>
            <a:srgbClr val="244E86"/>
          </a:solidFill>
          <a:ln w="12700">
            <a:solidFill>
              <a:srgbClr val="244E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2700130" y="1527048"/>
            <a:ext cx="19202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regime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803250" y="1417320"/>
            <a:ext cx="2148840" cy="438912"/>
          </a:xfrm>
          <a:prstGeom prst="rect">
            <a:avLst/>
          </a:prstGeom>
          <a:solidFill>
            <a:srgbClr val="244E86"/>
          </a:solidFill>
          <a:ln w="12700">
            <a:solidFill>
              <a:srgbClr val="244E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4848970" y="1527048"/>
            <a:ext cx="2057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bottleneck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7043530" y="1417320"/>
            <a:ext cx="2148840" cy="438912"/>
          </a:xfrm>
          <a:prstGeom prst="rect">
            <a:avLst/>
          </a:prstGeom>
          <a:solidFill>
            <a:srgbClr val="244E86"/>
          </a:solidFill>
          <a:ln w="12700">
            <a:solidFill>
              <a:srgbClr val="244E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2"/>
          <p:cNvSpPr/>
          <p:nvPr/>
        </p:nvSpPr>
        <p:spPr>
          <a:xfrm>
            <a:off x="7089250" y="1527048"/>
            <a:ext cx="2057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system idea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329529" y="1417320"/>
            <a:ext cx="2351617" cy="438912"/>
          </a:xfrm>
          <a:prstGeom prst="rect">
            <a:avLst/>
          </a:prstGeom>
          <a:solidFill>
            <a:srgbClr val="244E86"/>
          </a:solidFill>
          <a:ln w="12700">
            <a:solidFill>
              <a:srgbClr val="244E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9375250" y="1527048"/>
            <a:ext cx="222097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contributes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642730" y="1901952"/>
            <a:ext cx="182880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6"/>
          <p:cNvSpPr/>
          <p:nvPr/>
        </p:nvSpPr>
        <p:spPr>
          <a:xfrm>
            <a:off x="715882" y="2011679"/>
            <a:ext cx="168249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BGL</a:t>
            </a:r>
            <a:endParaRPr lang="en-US" sz="1900" dirty="0"/>
          </a:p>
        </p:txBody>
      </p:sp>
      <p:sp>
        <p:nvSpPr>
          <p:cNvPr id="25" name="Shape 17"/>
          <p:cNvSpPr/>
          <p:nvPr/>
        </p:nvSpPr>
        <p:spPr>
          <a:xfrm>
            <a:off x="2654410" y="1901952"/>
            <a:ext cx="201168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8"/>
          <p:cNvSpPr/>
          <p:nvPr/>
        </p:nvSpPr>
        <p:spPr>
          <a:xfrm>
            <a:off x="2727562" y="2011679"/>
            <a:ext cx="186537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sampling-based distributed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803250" y="1901952"/>
            <a:ext cx="214884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0"/>
          <p:cNvSpPr/>
          <p:nvPr/>
        </p:nvSpPr>
        <p:spPr>
          <a:xfrm>
            <a:off x="4876402" y="2011679"/>
            <a:ext cx="200253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data I/O + preprocessing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7043530" y="1901952"/>
            <a:ext cx="214884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2"/>
          <p:cNvSpPr/>
          <p:nvPr/>
        </p:nvSpPr>
        <p:spPr>
          <a:xfrm>
            <a:off x="7116682" y="2011679"/>
            <a:ext cx="200253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dynamic cache + partition + isolation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9329529" y="1901952"/>
            <a:ext cx="2351617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4"/>
          <p:cNvSpPr/>
          <p:nvPr/>
        </p:nvSpPr>
        <p:spPr>
          <a:xfrm>
            <a:off x="9402682" y="2011679"/>
            <a:ext cx="2142584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keeps GPUs busy by fixing the data supply chain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42730" y="3090672"/>
            <a:ext cx="1828800" cy="1410208"/>
          </a:xfrm>
          <a:prstGeom prst="rect">
            <a:avLst/>
          </a:prstGeom>
          <a:solidFill>
            <a:srgbClr val="F9F9F9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6"/>
          <p:cNvSpPr/>
          <p:nvPr/>
        </p:nvSpPr>
        <p:spPr>
          <a:xfrm>
            <a:off x="715882" y="3200399"/>
            <a:ext cx="168249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MGG</a:t>
            </a:r>
            <a:endParaRPr lang="en-US" sz="1900" dirty="0"/>
          </a:p>
        </p:txBody>
      </p:sp>
      <p:sp>
        <p:nvSpPr>
          <p:cNvPr id="35" name="Shape 27"/>
          <p:cNvSpPr/>
          <p:nvPr/>
        </p:nvSpPr>
        <p:spPr>
          <a:xfrm>
            <a:off x="2654410" y="3090672"/>
            <a:ext cx="2011680" cy="1410208"/>
          </a:xfrm>
          <a:prstGeom prst="rect">
            <a:avLst/>
          </a:prstGeom>
          <a:solidFill>
            <a:srgbClr val="F9F9F9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2727562" y="3200399"/>
            <a:ext cx="186537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single-node multi-GPU full-graph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4803250" y="3090672"/>
            <a:ext cx="2148840" cy="1410208"/>
          </a:xfrm>
          <a:prstGeom prst="rect">
            <a:avLst/>
          </a:prstGeom>
          <a:solidFill>
            <a:srgbClr val="F9F9F9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4876402" y="3200399"/>
            <a:ext cx="200253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remote access on the critical path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7043530" y="3090672"/>
            <a:ext cx="2148840" cy="1410208"/>
          </a:xfrm>
          <a:prstGeom prst="rect">
            <a:avLst/>
          </a:prstGeom>
          <a:solidFill>
            <a:srgbClr val="F9F9F9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7116682" y="3200399"/>
            <a:ext cx="200253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fine-grained kernel pipeline + runtime feedback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9329529" y="3090672"/>
            <a:ext cx="2351617" cy="1410208"/>
          </a:xfrm>
          <a:prstGeom prst="rect">
            <a:avLst/>
          </a:prstGeom>
          <a:solidFill>
            <a:srgbClr val="F9F9F9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9402682" y="3200399"/>
            <a:ext cx="2142584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treats irregular GNN execution as a schedulable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642730" y="4279392"/>
            <a:ext cx="182880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6"/>
          <p:cNvSpPr/>
          <p:nvPr/>
        </p:nvSpPr>
        <p:spPr>
          <a:xfrm>
            <a:off x="715882" y="4389119"/>
            <a:ext cx="168249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11F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AdaQP</a:t>
            </a:r>
            <a:endParaRPr lang="en-US" sz="1900" dirty="0"/>
          </a:p>
        </p:txBody>
      </p:sp>
      <p:sp>
        <p:nvSpPr>
          <p:cNvPr id="45" name="Shape 37"/>
          <p:cNvSpPr/>
          <p:nvPr/>
        </p:nvSpPr>
        <p:spPr>
          <a:xfrm>
            <a:off x="2654410" y="4279392"/>
            <a:ext cx="201168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2727562" y="4389119"/>
            <a:ext cx="1865376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distributed full-graph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4803250" y="4279392"/>
            <a:ext cx="214884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4848970" y="4389119"/>
            <a:ext cx="2103120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all-to-all communication volume and stragglers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7043530" y="4279392"/>
            <a:ext cx="2148840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116682" y="4389119"/>
            <a:ext cx="2075688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adaptive quantization + central/marginal overlap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9329529" y="4279392"/>
            <a:ext cx="2351617" cy="141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9402682" y="4389119"/>
            <a:ext cx="2142584" cy="107071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reduces traffic and hides waiting without relying on stale messages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895390" cy="692151"/>
          </a:xfrm>
        </p:spPr>
        <p:txBody>
          <a:bodyPr/>
          <a:lstStyle/>
          <a:p>
            <a:r>
              <a:rPr lang="en-US" altLang="zh-CN" sz="4400" dirty="0">
                <a:solidFill>
                  <a:srgbClr val="244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conclusions</a:t>
            </a:r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408176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Large-scale graph learning stresses systems because its bottlenecks move between data preparation, communication, and irregular compute.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2279275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2270131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BGL shows how OS-style pipeline design and locality management can fix the front end of the training loop.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3193351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3184207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MGG shows that inside a multi-GPU node, fine-grained overlap and runtime-aware kernel mapping matter a lot.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51560" y="4121526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1371600" y="4112382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AdaQP shows that in distributed full-graph training, reducing message volume and hiding wait time can improve throughput without large accuracy loss.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1051560" y="5221549"/>
            <a:ext cx="228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FF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•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1371600" y="5212405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Overall takeaway: as graph learning scales up, the optimization target moves outward along the system stack — from data supply, to intra-node execution, and finally to inter-device communication.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MGG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(8 min)</a:t>
            </a:r>
          </a:p>
          <a:p>
            <a:pPr lvl="1"/>
            <a:r>
              <a:rPr lang="en-US" altLang="zh-CN" sz="2400" dirty="0" err="1"/>
              <a:t>AdaQP</a:t>
            </a:r>
            <a:r>
              <a:rPr lang="en-US" altLang="zh-CN" sz="2400" dirty="0"/>
              <a:t>		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(8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	</a:t>
            </a:r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5020202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2976</Words>
  <Application>Microsoft Office PowerPoint</Application>
  <PresentationFormat>宽屏</PresentationFormat>
  <Paragraphs>405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MS Sans Serif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Operating System Support for Large-Scale Graph Learning   2026.04.07</vt:lpstr>
      <vt:lpstr>OUTLINE</vt:lpstr>
      <vt:lpstr>OUTLINE</vt:lpstr>
      <vt:lpstr>Introduction - graph learning stresses</vt:lpstr>
      <vt:lpstr>Introduction - Two training regimes</vt:lpstr>
      <vt:lpstr>OUTLINE</vt:lpstr>
      <vt:lpstr>Background - bottlenecks</vt:lpstr>
      <vt:lpstr>motivation</vt:lpstr>
      <vt:lpstr>OUTLINE</vt:lpstr>
      <vt:lpstr>bgl (1/3) - bottleneck</vt:lpstr>
      <vt:lpstr>bgl (1/3) - Workflow</vt:lpstr>
      <vt:lpstr>bgl (2/3) - Mechanism chain</vt:lpstr>
      <vt:lpstr>bgl (3/3) – e2e sppedup</vt:lpstr>
      <vt:lpstr>bgl (3/3) – mechanism evidence</vt:lpstr>
      <vt:lpstr>bgl (3/3) – Model quality</vt:lpstr>
      <vt:lpstr>OUTLINE</vt:lpstr>
      <vt:lpstr>MGG (1/3) - architecture</vt:lpstr>
      <vt:lpstr>MGG (2/3) – Design logic</vt:lpstr>
      <vt:lpstr>MGG (2/3) – Design logic</vt:lpstr>
      <vt:lpstr>MGG (3/3) – main results</vt:lpstr>
      <vt:lpstr>MGG (3/3) – other results</vt:lpstr>
      <vt:lpstr>MGG (3/3) - Mechanism evidence </vt:lpstr>
      <vt:lpstr>MGG (3/3) - Mechanism evidencess</vt:lpstr>
      <vt:lpstr>OUTLINE</vt:lpstr>
      <vt:lpstr>Adaqp (1/3) - motivation</vt:lpstr>
      <vt:lpstr>Adaqp (2/3) - Two core ideas</vt:lpstr>
      <vt:lpstr>Adaqp (2/3) – extra control logic</vt:lpstr>
      <vt:lpstr>adaqp (3/3) - Performance </vt:lpstr>
      <vt:lpstr>adaqp (3/3) - Performance </vt:lpstr>
      <vt:lpstr>OUTLINE</vt:lpstr>
      <vt:lpstr>conclusions</vt:lpstr>
      <vt:lpstr>conclusions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Shicheng Dai (SDS,225040523)</cp:lastModifiedBy>
  <cp:revision>631</cp:revision>
  <dcterms:created xsi:type="dcterms:W3CDTF">2020-07-15T11:13:00Z</dcterms:created>
  <dcterms:modified xsi:type="dcterms:W3CDTF">2026-04-07T07:03:07Z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A561A126A15842E1BD980FEE41235EB1_12</vt:lpwstr>
  </property>
  <property fmtid="{D5CDD505-2E9C-101B-9397-08002B2CF9AE}" pid="3" name="KSOProductBuildVer">
    <vt:lpwstr>2052-12.1.0.25225</vt:lpwstr>
  </property>
</Properties>
</file>