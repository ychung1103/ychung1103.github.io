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72" r:id="rId4"/>
    <p:sldId id="259" r:id="rId5"/>
    <p:sldId id="269" r:id="rId6"/>
    <p:sldId id="270" r:id="rId7"/>
    <p:sldId id="289" r:id="rId8"/>
    <p:sldId id="262" r:id="rId9"/>
    <p:sldId id="263" r:id="rId10"/>
    <p:sldId id="274" r:id="rId11"/>
    <p:sldId id="264" r:id="rId12"/>
    <p:sldId id="275" r:id="rId13"/>
    <p:sldId id="276" r:id="rId14"/>
    <p:sldId id="265" r:id="rId15"/>
    <p:sldId id="290" r:id="rId16"/>
    <p:sldId id="266" r:id="rId17"/>
    <p:sldId id="277" r:id="rId18"/>
    <p:sldId id="273" r:id="rId19"/>
    <p:sldId id="278" r:id="rId20"/>
    <p:sldId id="280" r:id="rId21"/>
    <p:sldId id="279" r:id="rId22"/>
    <p:sldId id="283" r:id="rId23"/>
    <p:sldId id="284" r:id="rId24"/>
    <p:sldId id="285" r:id="rId25"/>
    <p:sldId id="281" r:id="rId26"/>
    <p:sldId id="282" r:id="rId27"/>
    <p:sldId id="286" r:id="rId28"/>
    <p:sldId id="2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00" autoAdjust="0"/>
  </p:normalViewPr>
  <p:slideViewPr>
    <p:cSldViewPr snapToGrid="0">
      <p:cViewPr>
        <p:scale>
          <a:sx n="50" d="100"/>
          <a:sy n="50" d="100"/>
        </p:scale>
        <p:origin x="1260"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215A57-FD18-41F7-8BBD-D46FA4805D47}"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844D8E-CF6D-4B0D-AEC0-46769640F2B2}" type="slidenum">
              <a:rPr lang="en-US" smtClean="0"/>
              <a:t>‹#›</a:t>
            </a:fld>
            <a:endParaRPr lang="en-US"/>
          </a:p>
        </p:txBody>
      </p:sp>
    </p:spTree>
    <p:extLst>
      <p:ext uri="{BB962C8B-B14F-4D97-AF65-F5344CB8AC3E}">
        <p14:creationId xmlns:p14="http://schemas.microsoft.com/office/powerpoint/2010/main" val="366362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 your machine -&gt; ships the virtual machine</a:t>
            </a:r>
          </a:p>
        </p:txBody>
      </p:sp>
      <p:sp>
        <p:nvSpPr>
          <p:cNvPr id="4" name="Slide Number Placeholder 3"/>
          <p:cNvSpPr>
            <a:spLocks noGrp="1"/>
          </p:cNvSpPr>
          <p:nvPr>
            <p:ph type="sldNum" sz="quarter" idx="5"/>
          </p:nvPr>
        </p:nvSpPr>
        <p:spPr/>
        <p:txBody>
          <a:bodyPr/>
          <a:lstStyle/>
          <a:p>
            <a:fld id="{70844D8E-CF6D-4B0D-AEC0-46769640F2B2}" type="slidenum">
              <a:rPr lang="en-US" smtClean="0"/>
              <a:t>2</a:t>
            </a:fld>
            <a:endParaRPr lang="en-US"/>
          </a:p>
        </p:txBody>
      </p:sp>
    </p:spTree>
    <p:extLst>
      <p:ext uri="{BB962C8B-B14F-4D97-AF65-F5344CB8AC3E}">
        <p14:creationId xmlns:p14="http://schemas.microsoft.com/office/powerpoint/2010/main" val="933125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easiest way to get away from dependency hell is running virtual machines with full isolation of dependencies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Hypervisors: make siloed slices of hardware available</a:t>
            </a:r>
          </a:p>
          <a:p>
            <a:r>
              <a:rPr lang="en-US" dirty="0"/>
              <a:t>type 1: runs directly on bare metal of the </a:t>
            </a:r>
            <a:r>
              <a:rPr lang="en-US" dirty="0" err="1"/>
              <a:t>hw</a:t>
            </a:r>
            <a:r>
              <a:rPr lang="en-US" dirty="0"/>
              <a:t>. </a:t>
            </a:r>
            <a:r>
              <a:rPr lang="en-US" dirty="0" err="1"/>
              <a:t>eg.</a:t>
            </a:r>
            <a:r>
              <a:rPr lang="en-US" dirty="0"/>
              <a:t> VMware ESX</a:t>
            </a:r>
          </a:p>
          <a:p>
            <a:r>
              <a:rPr lang="en-US" dirty="0"/>
              <a:t>type 2: runs as an additional layer of software within a guest </a:t>
            </a:r>
            <a:r>
              <a:rPr lang="en-US" dirty="0" err="1"/>
              <a:t>os</a:t>
            </a:r>
            <a:r>
              <a:rPr lang="en-US" dirty="0"/>
              <a:t>. Oracle VirtualBox, VMware Server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containers make available protected portions of the OS</a:t>
            </a:r>
          </a:p>
        </p:txBody>
      </p:sp>
      <p:sp>
        <p:nvSpPr>
          <p:cNvPr id="4" name="Slide Number Placeholder 3"/>
          <p:cNvSpPr>
            <a:spLocks noGrp="1"/>
          </p:cNvSpPr>
          <p:nvPr>
            <p:ph type="sldNum" sz="quarter" idx="5"/>
          </p:nvPr>
        </p:nvSpPr>
        <p:spPr/>
        <p:txBody>
          <a:bodyPr/>
          <a:lstStyle/>
          <a:p>
            <a:fld id="{70844D8E-CF6D-4B0D-AEC0-46769640F2B2}" type="slidenum">
              <a:rPr lang="en-US" smtClean="0"/>
              <a:t>4</a:t>
            </a:fld>
            <a:endParaRPr lang="en-US"/>
          </a:p>
        </p:txBody>
      </p:sp>
    </p:spTree>
    <p:extLst>
      <p:ext uri="{BB962C8B-B14F-4D97-AF65-F5344CB8AC3E}">
        <p14:creationId xmlns:p14="http://schemas.microsoft.com/office/powerpoint/2010/main" val="1689697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Namespace isolation: </a:t>
            </a:r>
            <a:r>
              <a:rPr lang="en-US" dirty="0" err="1"/>
              <a:t>mnt</a:t>
            </a:r>
            <a:r>
              <a:rPr lang="en-US" dirty="0"/>
              <a:t>, </a:t>
            </a:r>
            <a:r>
              <a:rPr lang="en-US" dirty="0" err="1"/>
              <a:t>pid</a:t>
            </a:r>
            <a:r>
              <a:rPr lang="en-US" dirty="0"/>
              <a:t>, network, </a:t>
            </a:r>
            <a:r>
              <a:rPr lang="en-US" dirty="0" err="1"/>
              <a:t>interprocess</a:t>
            </a:r>
            <a:r>
              <a:rPr lang="en-US" dirty="0"/>
              <a:t>, hostname, user, </a:t>
            </a:r>
            <a:r>
              <a:rPr lang="en-US" dirty="0" err="1"/>
              <a:t>cgroup</a:t>
            </a:r>
            <a:endParaRPr lang="en-US" dirty="0"/>
          </a:p>
          <a:p>
            <a:r>
              <a:rPr lang="en-US" dirty="0" err="1"/>
              <a:t>Cgroup</a:t>
            </a:r>
            <a:r>
              <a:rPr lang="en-US" dirty="0"/>
              <a:t>: a view of system resources like </a:t>
            </a:r>
            <a:r>
              <a:rPr lang="en-US" dirty="0" err="1"/>
              <a:t>cpu</a:t>
            </a:r>
            <a:r>
              <a:rPr lang="en-US" dirty="0"/>
              <a:t> and mem usage</a:t>
            </a:r>
          </a:p>
        </p:txBody>
      </p:sp>
      <p:sp>
        <p:nvSpPr>
          <p:cNvPr id="4" name="Slide Number Placeholder 3"/>
          <p:cNvSpPr>
            <a:spLocks noGrp="1"/>
          </p:cNvSpPr>
          <p:nvPr>
            <p:ph type="sldNum" sz="quarter" idx="5"/>
          </p:nvPr>
        </p:nvSpPr>
        <p:spPr/>
        <p:txBody>
          <a:bodyPr/>
          <a:lstStyle/>
          <a:p>
            <a:fld id="{70844D8E-CF6D-4B0D-AEC0-46769640F2B2}" type="slidenum">
              <a:rPr lang="en-US" smtClean="0"/>
              <a:t>5</a:t>
            </a:fld>
            <a:endParaRPr lang="en-US"/>
          </a:p>
        </p:txBody>
      </p:sp>
    </p:spTree>
    <p:extLst>
      <p:ext uri="{BB962C8B-B14F-4D97-AF65-F5344CB8AC3E}">
        <p14:creationId xmlns:p14="http://schemas.microsoft.com/office/powerpoint/2010/main" val="1113239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paper and borg/omega/k8s’ own paper too maybe</a:t>
            </a:r>
          </a:p>
        </p:txBody>
      </p:sp>
      <p:sp>
        <p:nvSpPr>
          <p:cNvPr id="4" name="Slide Number Placeholder 3"/>
          <p:cNvSpPr>
            <a:spLocks noGrp="1"/>
          </p:cNvSpPr>
          <p:nvPr>
            <p:ph type="sldNum" sz="quarter" idx="5"/>
          </p:nvPr>
        </p:nvSpPr>
        <p:spPr/>
        <p:txBody>
          <a:bodyPr/>
          <a:lstStyle/>
          <a:p>
            <a:fld id="{70844D8E-CF6D-4B0D-AEC0-46769640F2B2}" type="slidenum">
              <a:rPr lang="en-US" smtClean="0"/>
              <a:t>9</a:t>
            </a:fld>
            <a:endParaRPr lang="en-US"/>
          </a:p>
        </p:txBody>
      </p:sp>
    </p:spTree>
    <p:extLst>
      <p:ext uri="{BB962C8B-B14F-4D97-AF65-F5344CB8AC3E}">
        <p14:creationId xmlns:p14="http://schemas.microsoft.com/office/powerpoint/2010/main" val="1848373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FD54A-B630-C83A-32B0-CE81E05DD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1DF03-C4AE-B1F2-3366-3FF124195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68F0AC-CC21-40A8-61CA-7133591E7469}"/>
              </a:ext>
            </a:extLst>
          </p:cNvPr>
          <p:cNvSpPr>
            <a:spLocks noGrp="1"/>
          </p:cNvSpPr>
          <p:nvPr>
            <p:ph type="body" idx="1"/>
          </p:nvPr>
        </p:nvSpPr>
        <p:spPr/>
        <p:txBody>
          <a:bodyPr/>
          <a:lstStyle/>
          <a:p>
            <a:r>
              <a:rPr lang="en-US" dirty="0"/>
              <a:t>High-priority jobs often reserve more power than they use to handle spikes. Containers allow the system to "reclaim" that idle power and give it to batch processes.</a:t>
            </a:r>
          </a:p>
          <a:p>
            <a:endParaRPr lang="en-US" dirty="0"/>
          </a:p>
          <a:p>
            <a:r>
              <a:rPr lang="en-US" dirty="0"/>
              <a:t>Because the "unit of management" is the container, the system can easily spin up 100 more instances of an app across the fleet without the developer needing to worry about which specific machines have space or the right OS version.</a:t>
            </a:r>
          </a:p>
        </p:txBody>
      </p:sp>
      <p:sp>
        <p:nvSpPr>
          <p:cNvPr id="4" name="Slide Number Placeholder 3">
            <a:extLst>
              <a:ext uri="{FF2B5EF4-FFF2-40B4-BE49-F238E27FC236}">
                <a16:creationId xmlns:a16="http://schemas.microsoft.com/office/drawing/2014/main" id="{DE2202DC-7D13-EAA2-A6D0-5EEC5BEE30C2}"/>
              </a:ext>
            </a:extLst>
          </p:cNvPr>
          <p:cNvSpPr>
            <a:spLocks noGrp="1"/>
          </p:cNvSpPr>
          <p:nvPr>
            <p:ph type="sldNum" sz="quarter" idx="5"/>
          </p:nvPr>
        </p:nvSpPr>
        <p:spPr/>
        <p:txBody>
          <a:bodyPr/>
          <a:lstStyle/>
          <a:p>
            <a:fld id="{70844D8E-CF6D-4B0D-AEC0-46769640F2B2}" type="slidenum">
              <a:rPr lang="en-US" smtClean="0"/>
              <a:t>10</a:t>
            </a:fld>
            <a:endParaRPr lang="en-US"/>
          </a:p>
        </p:txBody>
      </p:sp>
    </p:spTree>
    <p:extLst>
      <p:ext uri="{BB962C8B-B14F-4D97-AF65-F5344CB8AC3E}">
        <p14:creationId xmlns:p14="http://schemas.microsoft.com/office/powerpoint/2010/main" val="1461105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Large-scale cluster management at Google with Borg</a:t>
            </a:r>
          </a:p>
          <a:p>
            <a:endParaRPr lang="en-US" dirty="0"/>
          </a:p>
        </p:txBody>
      </p:sp>
      <p:sp>
        <p:nvSpPr>
          <p:cNvPr id="4" name="Slide Number Placeholder 3"/>
          <p:cNvSpPr>
            <a:spLocks noGrp="1"/>
          </p:cNvSpPr>
          <p:nvPr>
            <p:ph type="sldNum" sz="quarter" idx="5"/>
          </p:nvPr>
        </p:nvSpPr>
        <p:spPr/>
        <p:txBody>
          <a:bodyPr/>
          <a:lstStyle/>
          <a:p>
            <a:fld id="{70844D8E-CF6D-4B0D-AEC0-46769640F2B2}" type="slidenum">
              <a:rPr lang="en-US" smtClean="0"/>
              <a:t>11</a:t>
            </a:fld>
            <a:endParaRPr lang="en-US"/>
          </a:p>
        </p:txBody>
      </p:sp>
    </p:spTree>
    <p:extLst>
      <p:ext uri="{BB962C8B-B14F-4D97-AF65-F5344CB8AC3E}">
        <p14:creationId xmlns:p14="http://schemas.microsoft.com/office/powerpoint/2010/main" val="2369508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942D4-079C-7C2A-6F68-D6DD5C09B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FCBDE-AF64-7263-B074-FAE123B8E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28B37-C03E-7727-C9D2-566AA6CC65A0}"/>
              </a:ext>
            </a:extLst>
          </p:cNvPr>
          <p:cNvSpPr>
            <a:spLocks noGrp="1"/>
          </p:cNvSpPr>
          <p:nvPr>
            <p:ph type="body" idx="1"/>
          </p:nvPr>
        </p:nvSpPr>
        <p:spPr/>
        <p:txBody>
          <a:bodyPr/>
          <a:lstStyle/>
          <a:p>
            <a:pPr lvl="1"/>
            <a:r>
              <a:rPr lang="en-US" dirty="0"/>
              <a:t>Non-Prod jobs use up spare CPU and memory resources reserved for Prod jobs</a:t>
            </a:r>
          </a:p>
          <a:p>
            <a:pPr lvl="1"/>
            <a:r>
              <a:rPr lang="en-US" dirty="0"/>
              <a:t>Isolation, specifically resource management through </a:t>
            </a:r>
            <a:r>
              <a:rPr lang="en-US" dirty="0" err="1"/>
              <a:t>cgroups</a:t>
            </a:r>
            <a:endParaRPr lang="en-US" dirty="0"/>
          </a:p>
          <a:p>
            <a:pPr lvl="1"/>
            <a:r>
              <a:rPr lang="en-US" dirty="0"/>
              <a:t>Percentage: number of machines that would be needed to run the workload in a single cell</a:t>
            </a:r>
          </a:p>
        </p:txBody>
      </p:sp>
      <p:sp>
        <p:nvSpPr>
          <p:cNvPr id="4" name="Slide Number Placeholder 3">
            <a:extLst>
              <a:ext uri="{FF2B5EF4-FFF2-40B4-BE49-F238E27FC236}">
                <a16:creationId xmlns:a16="http://schemas.microsoft.com/office/drawing/2014/main" id="{51D1C63C-54E2-30BC-040B-9960EDF86513}"/>
              </a:ext>
            </a:extLst>
          </p:cNvPr>
          <p:cNvSpPr>
            <a:spLocks noGrp="1"/>
          </p:cNvSpPr>
          <p:nvPr>
            <p:ph type="sldNum" sz="quarter" idx="5"/>
          </p:nvPr>
        </p:nvSpPr>
        <p:spPr/>
        <p:txBody>
          <a:bodyPr/>
          <a:lstStyle/>
          <a:p>
            <a:fld id="{70844D8E-CF6D-4B0D-AEC0-46769640F2B2}" type="slidenum">
              <a:rPr lang="en-US" smtClean="0"/>
              <a:t>12</a:t>
            </a:fld>
            <a:endParaRPr lang="en-US"/>
          </a:p>
        </p:txBody>
      </p:sp>
    </p:spTree>
    <p:extLst>
      <p:ext uri="{BB962C8B-B14F-4D97-AF65-F5344CB8AC3E}">
        <p14:creationId xmlns:p14="http://schemas.microsoft.com/office/powerpoint/2010/main" val="3108354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F3CFF-C2F5-D27E-0921-B75221843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5A6DF-B417-140E-FD4A-02CB880FE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4D2FE-63F7-F479-80AB-45DD627C6280}"/>
              </a:ext>
            </a:extLst>
          </p:cNvPr>
          <p:cNvSpPr>
            <a:spLocks noGrp="1"/>
          </p:cNvSpPr>
          <p:nvPr>
            <p:ph type="body" idx="1"/>
          </p:nvPr>
        </p:nvSpPr>
        <p:spPr/>
        <p:txBody>
          <a:bodyPr/>
          <a:lstStyle/>
          <a:p>
            <a:pPr lvl="1"/>
            <a:r>
              <a:rPr lang="en-US" dirty="0"/>
              <a:t>The spec has about 230 params</a:t>
            </a:r>
          </a:p>
        </p:txBody>
      </p:sp>
      <p:sp>
        <p:nvSpPr>
          <p:cNvPr id="4" name="Slide Number Placeholder 3">
            <a:extLst>
              <a:ext uri="{FF2B5EF4-FFF2-40B4-BE49-F238E27FC236}">
                <a16:creationId xmlns:a16="http://schemas.microsoft.com/office/drawing/2014/main" id="{9F471CCC-1D48-A9E1-01DC-2FF15BD09AC4}"/>
              </a:ext>
            </a:extLst>
          </p:cNvPr>
          <p:cNvSpPr>
            <a:spLocks noGrp="1"/>
          </p:cNvSpPr>
          <p:nvPr>
            <p:ph type="sldNum" sz="quarter" idx="5"/>
          </p:nvPr>
        </p:nvSpPr>
        <p:spPr/>
        <p:txBody>
          <a:bodyPr/>
          <a:lstStyle/>
          <a:p>
            <a:fld id="{70844D8E-CF6D-4B0D-AEC0-46769640F2B2}" type="slidenum">
              <a:rPr lang="en-US" smtClean="0"/>
              <a:t>13</a:t>
            </a:fld>
            <a:endParaRPr lang="en-US"/>
          </a:p>
        </p:txBody>
      </p:sp>
    </p:spTree>
    <p:extLst>
      <p:ext uri="{BB962C8B-B14F-4D97-AF65-F5344CB8AC3E}">
        <p14:creationId xmlns:p14="http://schemas.microsoft.com/office/powerpoint/2010/main" val="29927658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Real world exp shows conflict rate is low</a:t>
            </a:r>
          </a:p>
        </p:txBody>
      </p:sp>
      <p:sp>
        <p:nvSpPr>
          <p:cNvPr id="4" name="Slide Number Placeholder 3"/>
          <p:cNvSpPr>
            <a:spLocks noGrp="1"/>
          </p:cNvSpPr>
          <p:nvPr>
            <p:ph type="sldNum" sz="quarter" idx="5"/>
          </p:nvPr>
        </p:nvSpPr>
        <p:spPr/>
        <p:txBody>
          <a:bodyPr/>
          <a:lstStyle/>
          <a:p>
            <a:fld id="{70844D8E-CF6D-4B0D-AEC0-46769640F2B2}" type="slidenum">
              <a:rPr lang="en-US" smtClean="0"/>
              <a:t>14</a:t>
            </a:fld>
            <a:endParaRPr lang="en-US"/>
          </a:p>
        </p:txBody>
      </p:sp>
    </p:spTree>
    <p:extLst>
      <p:ext uri="{BB962C8B-B14F-4D97-AF65-F5344CB8AC3E}">
        <p14:creationId xmlns:p14="http://schemas.microsoft.com/office/powerpoint/2010/main" val="3250985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CAFAA-14A4-50D0-7C5F-5E3A990F0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D10EC-9342-F0C4-AC00-E355EFBEA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D865A-26A4-7E99-7EAC-ACF07062222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Single path baseline: serial monolithic scheduler with the same decision time for batch and service jobs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Multi-path: monolithic scheduler with a fast code path for batch jobs, still schedules only one job at a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Scheduler decision time = </a:t>
            </a:r>
            <a:r>
              <a:rPr lang="en-US" b="0" dirty="0" err="1"/>
              <a:t>t_job</a:t>
            </a:r>
            <a:r>
              <a:rPr lang="en-US" b="0" dirty="0"/>
              <a:t> (per job overhead) + time to place each task * number of tasks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Lines: batch jobs and service jobs (dashed)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Horizontal bar: service level objective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Single path: as long as the scheduling is quick (</a:t>
            </a:r>
            <a:r>
              <a:rPr lang="en-US" b="0" dirty="0" err="1"/>
              <a:t>t_job</a:t>
            </a:r>
            <a:r>
              <a:rPr lang="en-US" b="0" dirty="0"/>
              <a:t> is low), but scales linearly until a point where the scheduler cannot keep up, for both busyness and job waiting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Multi path: both decrease, since the majority of tasks are batch jobs (they only vary service job </a:t>
            </a:r>
            <a:r>
              <a:rPr lang="en-US" b="0" dirty="0" err="1"/>
              <a:t>t_job</a:t>
            </a:r>
            <a:r>
              <a:rPr lang="en-US" b="0" dirty="0"/>
              <a:t>), but can still get stuck behind slower service job scheduling. Cannot scale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Omega (shared state): comparable with multi-path, and no more blocking since batch jobs and service jobs are independent</a:t>
            </a:r>
          </a:p>
        </p:txBody>
      </p:sp>
      <p:sp>
        <p:nvSpPr>
          <p:cNvPr id="4" name="Slide Number Placeholder 3">
            <a:extLst>
              <a:ext uri="{FF2B5EF4-FFF2-40B4-BE49-F238E27FC236}">
                <a16:creationId xmlns:a16="http://schemas.microsoft.com/office/drawing/2014/main" id="{9B6348E6-3DEE-1EEB-0978-26C3781217E2}"/>
              </a:ext>
            </a:extLst>
          </p:cNvPr>
          <p:cNvSpPr>
            <a:spLocks noGrp="1"/>
          </p:cNvSpPr>
          <p:nvPr>
            <p:ph type="sldNum" sz="quarter" idx="5"/>
          </p:nvPr>
        </p:nvSpPr>
        <p:spPr/>
        <p:txBody>
          <a:bodyPr/>
          <a:lstStyle/>
          <a:p>
            <a:fld id="{70844D8E-CF6D-4B0D-AEC0-46769640F2B2}" type="slidenum">
              <a:rPr lang="en-US" smtClean="0"/>
              <a:t>15</a:t>
            </a:fld>
            <a:endParaRPr lang="en-US"/>
          </a:p>
        </p:txBody>
      </p:sp>
    </p:spTree>
    <p:extLst>
      <p:ext uri="{BB962C8B-B14F-4D97-AF65-F5344CB8AC3E}">
        <p14:creationId xmlns:p14="http://schemas.microsoft.com/office/powerpoint/2010/main" val="2524866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F35F2-BF69-F31D-ED20-68AA97DA2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F9D1C-EF95-AC62-B302-B1BF4BF467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4A698-7B9B-DE43-2196-FF6C34796F00}"/>
              </a:ext>
            </a:extLst>
          </p:cNvPr>
          <p:cNvSpPr>
            <a:spLocks noGrp="1"/>
          </p:cNvSpPr>
          <p:nvPr>
            <p:ph type="body" idx="1"/>
          </p:nvPr>
        </p:nvSpPr>
        <p:spPr/>
        <p:txBody>
          <a:bodyPr/>
          <a:lstStyle/>
          <a:p>
            <a:r>
              <a:rPr lang="en-US" dirty="0"/>
              <a:t>Control Plane as the brain:</a:t>
            </a:r>
          </a:p>
          <a:p>
            <a:pPr lvl="1"/>
            <a:r>
              <a:rPr lang="en-US" dirty="0"/>
              <a:t>Every components and the user talk to the </a:t>
            </a:r>
            <a:r>
              <a:rPr lang="en-US" dirty="0" err="1"/>
              <a:t>kube-apiserver</a:t>
            </a:r>
            <a:r>
              <a:rPr lang="en-US" dirty="0"/>
              <a:t> to get anything done</a:t>
            </a:r>
          </a:p>
          <a:p>
            <a:pPr lvl="1"/>
            <a:r>
              <a:rPr lang="en-US" dirty="0" err="1"/>
              <a:t>etcd</a:t>
            </a:r>
            <a:r>
              <a:rPr lang="en-US" dirty="0"/>
              <a:t>: consistent, high-availability key-value storage that </a:t>
            </a:r>
            <a:r>
              <a:rPr lang="en-US" dirty="0" err="1"/>
              <a:t>trakcs</a:t>
            </a:r>
            <a:r>
              <a:rPr lang="en-US" dirty="0"/>
              <a:t> cluster state</a:t>
            </a:r>
          </a:p>
          <a:p>
            <a:pPr lvl="1"/>
            <a:r>
              <a:rPr lang="en-US" dirty="0" err="1"/>
              <a:t>kube</a:t>
            </a:r>
            <a:r>
              <a:rPr lang="en-US" dirty="0"/>
              <a:t>-scheduler decides which Nodes each Pod should live on</a:t>
            </a:r>
          </a:p>
          <a:p>
            <a:pPr lvl="1"/>
            <a:r>
              <a:rPr lang="en-US" dirty="0" err="1"/>
              <a:t>kube</a:t>
            </a:r>
            <a:r>
              <a:rPr lang="en-US" dirty="0"/>
              <a:t>-controller-manager: the logic behind the scene, runs the controller that regulate the system state (e.g. in charge of self-healing)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Worker Nodes as the muscle: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err="1"/>
              <a:t>kubelet</a:t>
            </a:r>
            <a:r>
              <a:rPr lang="en-US" b="0" dirty="0"/>
              <a:t>: agent on each node, ensures containers on indeed running on the pod as instructed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t>Container runtime: software that actually runs containers.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t>Pods: i.e. nested containers from Borg, manages the resources, then containers inside manages env and runs isolated processes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dirty="0"/>
              <a:t>Kube-proxy: handles network rules on nodes, allow containers to talk to each other and the outside world</a:t>
            </a:r>
          </a:p>
        </p:txBody>
      </p:sp>
      <p:sp>
        <p:nvSpPr>
          <p:cNvPr id="4" name="Slide Number Placeholder 3">
            <a:extLst>
              <a:ext uri="{FF2B5EF4-FFF2-40B4-BE49-F238E27FC236}">
                <a16:creationId xmlns:a16="http://schemas.microsoft.com/office/drawing/2014/main" id="{9263196E-59D5-B594-2E4E-CC21E5D53258}"/>
              </a:ext>
            </a:extLst>
          </p:cNvPr>
          <p:cNvSpPr>
            <a:spLocks noGrp="1"/>
          </p:cNvSpPr>
          <p:nvPr>
            <p:ph type="sldNum" sz="quarter" idx="5"/>
          </p:nvPr>
        </p:nvSpPr>
        <p:spPr/>
        <p:txBody>
          <a:bodyPr/>
          <a:lstStyle/>
          <a:p>
            <a:fld id="{70844D8E-CF6D-4B0D-AEC0-46769640F2B2}" type="slidenum">
              <a:rPr lang="en-US" smtClean="0"/>
              <a:t>16</a:t>
            </a:fld>
            <a:endParaRPr lang="en-US"/>
          </a:p>
        </p:txBody>
      </p:sp>
    </p:spTree>
    <p:extLst>
      <p:ext uri="{BB962C8B-B14F-4D97-AF65-F5344CB8AC3E}">
        <p14:creationId xmlns:p14="http://schemas.microsoft.com/office/powerpoint/2010/main" val="935966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95791-6AA3-7A72-519E-FD57E41EA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1381E-8758-F3A0-C6AE-D72E24DF1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600E6-C70A-F852-FB4C-BFE2ED9B8BEF}"/>
              </a:ext>
            </a:extLst>
          </p:cNvPr>
          <p:cNvSpPr>
            <a:spLocks noGrp="1"/>
          </p:cNvSpPr>
          <p:nvPr>
            <p:ph type="body" idx="1"/>
          </p:nvPr>
        </p:nvSpPr>
        <p:spPr/>
        <p:txBody>
          <a:bodyPr/>
          <a:lstStyle/>
          <a:p>
            <a:pPr marL="228600" indent="-228600">
              <a:buAutoNum type="arabicPeriod"/>
            </a:pPr>
            <a:r>
              <a:rPr lang="en-US" b="0" dirty="0"/>
              <a:t>You submit the </a:t>
            </a:r>
            <a:r>
              <a:rPr lang="en-US" b="0" dirty="0" err="1"/>
              <a:t>yaml</a:t>
            </a:r>
            <a:r>
              <a:rPr lang="en-US" b="0" dirty="0"/>
              <a:t> to the API server</a:t>
            </a:r>
          </a:p>
          <a:p>
            <a:pPr marL="228600" indent="-228600">
              <a:buAutoNum type="arabicPeriod"/>
            </a:pPr>
            <a:r>
              <a:rPr lang="en-US" b="0" dirty="0"/>
              <a:t>The controller manager notices the state mismatch (0 vs 3 replica)</a:t>
            </a:r>
          </a:p>
          <a:p>
            <a:pPr marL="228600" indent="-228600">
              <a:buAutoNum type="arabicPeriod"/>
            </a:pPr>
            <a:r>
              <a:rPr lang="en-US" b="0" dirty="0"/>
              <a:t>Scheduler finds healthy nodes with enough resources</a:t>
            </a:r>
          </a:p>
          <a:p>
            <a:pPr marL="228600" indent="-228600">
              <a:buAutoNum type="arabicPeriod"/>
            </a:pPr>
            <a:r>
              <a:rPr lang="en-US" b="0" dirty="0" err="1"/>
              <a:t>Kubelet</a:t>
            </a:r>
            <a:r>
              <a:rPr lang="en-US" b="0" dirty="0"/>
              <a:t> on the nodes pulls the image and launches pods</a:t>
            </a:r>
          </a:p>
          <a:p>
            <a:pPr marL="228600" indent="-228600">
              <a:buAutoNum type="arabicPeriod"/>
            </a:pPr>
            <a:r>
              <a:rPr lang="en-US" b="0" dirty="0"/>
              <a:t>When node fails, automatic recreate pods on a different healthy node</a:t>
            </a:r>
          </a:p>
        </p:txBody>
      </p:sp>
      <p:sp>
        <p:nvSpPr>
          <p:cNvPr id="4" name="Slide Number Placeholder 3">
            <a:extLst>
              <a:ext uri="{FF2B5EF4-FFF2-40B4-BE49-F238E27FC236}">
                <a16:creationId xmlns:a16="http://schemas.microsoft.com/office/drawing/2014/main" id="{06C89D80-F8E1-E259-C286-C04CD85EE581}"/>
              </a:ext>
            </a:extLst>
          </p:cNvPr>
          <p:cNvSpPr>
            <a:spLocks noGrp="1"/>
          </p:cNvSpPr>
          <p:nvPr>
            <p:ph type="sldNum" sz="quarter" idx="5"/>
          </p:nvPr>
        </p:nvSpPr>
        <p:spPr/>
        <p:txBody>
          <a:bodyPr/>
          <a:lstStyle/>
          <a:p>
            <a:fld id="{70844D8E-CF6D-4B0D-AEC0-46769640F2B2}" type="slidenum">
              <a:rPr lang="en-US" smtClean="0"/>
              <a:t>17</a:t>
            </a:fld>
            <a:endParaRPr lang="en-US"/>
          </a:p>
        </p:txBody>
      </p:sp>
    </p:spTree>
    <p:extLst>
      <p:ext uri="{BB962C8B-B14F-4D97-AF65-F5344CB8AC3E}">
        <p14:creationId xmlns:p14="http://schemas.microsoft.com/office/powerpoint/2010/main" val="3189163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35C50-1FDB-63C9-1E0A-60ECAD076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F3936-2671-5C8A-E078-57ED7678A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701486-079C-8E52-557E-42125D730E6E}"/>
              </a:ext>
            </a:extLst>
          </p:cNvPr>
          <p:cNvSpPr>
            <a:spLocks noGrp="1"/>
          </p:cNvSpPr>
          <p:nvPr>
            <p:ph type="body" idx="1"/>
          </p:nvPr>
        </p:nvSpPr>
        <p:spPr/>
        <p:txBody>
          <a:bodyPr/>
          <a:lstStyle/>
          <a:p>
            <a:r>
              <a:rPr lang="en-US" dirty="0"/>
              <a:t>Now we have the base problem “solved”, we can continue to improve the efficiency of such systems</a:t>
            </a:r>
          </a:p>
        </p:txBody>
      </p:sp>
      <p:sp>
        <p:nvSpPr>
          <p:cNvPr id="4" name="Slide Number Placeholder 3">
            <a:extLst>
              <a:ext uri="{FF2B5EF4-FFF2-40B4-BE49-F238E27FC236}">
                <a16:creationId xmlns:a16="http://schemas.microsoft.com/office/drawing/2014/main" id="{B2D19FD9-FFAB-2382-6D61-74CF870EA549}"/>
              </a:ext>
            </a:extLst>
          </p:cNvPr>
          <p:cNvSpPr>
            <a:spLocks noGrp="1"/>
          </p:cNvSpPr>
          <p:nvPr>
            <p:ph type="sldNum" sz="quarter" idx="5"/>
          </p:nvPr>
        </p:nvSpPr>
        <p:spPr/>
        <p:txBody>
          <a:bodyPr/>
          <a:lstStyle/>
          <a:p>
            <a:fld id="{70844D8E-CF6D-4B0D-AEC0-46769640F2B2}" type="slidenum">
              <a:rPr lang="en-US" smtClean="0"/>
              <a:t>18</a:t>
            </a:fld>
            <a:endParaRPr lang="en-US"/>
          </a:p>
        </p:txBody>
      </p:sp>
    </p:spTree>
    <p:extLst>
      <p:ext uri="{BB962C8B-B14F-4D97-AF65-F5344CB8AC3E}">
        <p14:creationId xmlns:p14="http://schemas.microsoft.com/office/powerpoint/2010/main" val="11195480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 packing: you have a set of items, each with a </a:t>
            </a:r>
            <a:r>
              <a:rPr lang="en-US" dirty="0" err="1"/>
              <a:t>a</a:t>
            </a:r>
            <a:r>
              <a:rPr lang="en-US" dirty="0"/>
              <a:t> specific weight of size, and a collection of bins with a fixed capacity. The goal is to pack every item into the fewest number of bins possible. NP-hard</a:t>
            </a:r>
          </a:p>
        </p:txBody>
      </p:sp>
      <p:sp>
        <p:nvSpPr>
          <p:cNvPr id="4" name="Slide Number Placeholder 3"/>
          <p:cNvSpPr>
            <a:spLocks noGrp="1"/>
          </p:cNvSpPr>
          <p:nvPr>
            <p:ph type="sldNum" sz="quarter" idx="5"/>
          </p:nvPr>
        </p:nvSpPr>
        <p:spPr/>
        <p:txBody>
          <a:bodyPr/>
          <a:lstStyle/>
          <a:p>
            <a:fld id="{70844D8E-CF6D-4B0D-AEC0-46769640F2B2}" type="slidenum">
              <a:rPr lang="en-US" smtClean="0"/>
              <a:t>20</a:t>
            </a:fld>
            <a:endParaRPr lang="en-US"/>
          </a:p>
        </p:txBody>
      </p:sp>
    </p:spTree>
    <p:extLst>
      <p:ext uri="{BB962C8B-B14F-4D97-AF65-F5344CB8AC3E}">
        <p14:creationId xmlns:p14="http://schemas.microsoft.com/office/powerpoint/2010/main" val="657090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844D8E-CF6D-4B0D-AEC0-46769640F2B2}" type="slidenum">
              <a:rPr lang="en-US" smtClean="0"/>
              <a:t>21</a:t>
            </a:fld>
            <a:endParaRPr lang="en-US"/>
          </a:p>
        </p:txBody>
      </p:sp>
    </p:spTree>
    <p:extLst>
      <p:ext uri="{BB962C8B-B14F-4D97-AF65-F5344CB8AC3E}">
        <p14:creationId xmlns:p14="http://schemas.microsoft.com/office/powerpoint/2010/main" val="24987364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25749-06BA-843A-BA7B-3DECDEBB6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18D07-3782-7741-DD15-98AB2F2E4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DAC41-3799-3D09-5133-4F13842B81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BF20ED-1F3A-E4ED-0474-5604D4B312F0}"/>
              </a:ext>
            </a:extLst>
          </p:cNvPr>
          <p:cNvSpPr>
            <a:spLocks noGrp="1"/>
          </p:cNvSpPr>
          <p:nvPr>
            <p:ph type="sldNum" sz="quarter" idx="5"/>
          </p:nvPr>
        </p:nvSpPr>
        <p:spPr/>
        <p:txBody>
          <a:bodyPr/>
          <a:lstStyle/>
          <a:p>
            <a:fld id="{70844D8E-CF6D-4B0D-AEC0-46769640F2B2}" type="slidenum">
              <a:rPr lang="en-US" smtClean="0"/>
              <a:t>22</a:t>
            </a:fld>
            <a:endParaRPr lang="en-US"/>
          </a:p>
        </p:txBody>
      </p:sp>
    </p:spTree>
    <p:extLst>
      <p:ext uri="{BB962C8B-B14F-4D97-AF65-F5344CB8AC3E}">
        <p14:creationId xmlns:p14="http://schemas.microsoft.com/office/powerpoint/2010/main" val="1969230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721FF-0F51-566E-3BA3-4FBA8A371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792058-63E3-9A50-D1A8-FD4E3676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BC94C-A7E9-D9D5-5813-B409D57789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CC0585-3A85-CE9C-BA90-7C890F896F85}"/>
              </a:ext>
            </a:extLst>
          </p:cNvPr>
          <p:cNvSpPr>
            <a:spLocks noGrp="1"/>
          </p:cNvSpPr>
          <p:nvPr>
            <p:ph type="sldNum" sz="quarter" idx="5"/>
          </p:nvPr>
        </p:nvSpPr>
        <p:spPr/>
        <p:txBody>
          <a:bodyPr/>
          <a:lstStyle/>
          <a:p>
            <a:fld id="{70844D8E-CF6D-4B0D-AEC0-46769640F2B2}" type="slidenum">
              <a:rPr lang="en-US" smtClean="0"/>
              <a:t>23</a:t>
            </a:fld>
            <a:endParaRPr lang="en-US"/>
          </a:p>
        </p:txBody>
      </p:sp>
    </p:spTree>
    <p:extLst>
      <p:ext uri="{BB962C8B-B14F-4D97-AF65-F5344CB8AC3E}">
        <p14:creationId xmlns:p14="http://schemas.microsoft.com/office/powerpoint/2010/main" val="1501278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9EABA-EEA2-53B8-903B-BC653ABA7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7605C-EE37-D99F-13BC-064BC0560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F8774-528A-2428-BAC1-5B9FD7AD83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7095BA-BCC7-CD13-6A28-C2755E6807FD}"/>
              </a:ext>
            </a:extLst>
          </p:cNvPr>
          <p:cNvSpPr>
            <a:spLocks noGrp="1"/>
          </p:cNvSpPr>
          <p:nvPr>
            <p:ph type="sldNum" sz="quarter" idx="5"/>
          </p:nvPr>
        </p:nvSpPr>
        <p:spPr/>
        <p:txBody>
          <a:bodyPr/>
          <a:lstStyle/>
          <a:p>
            <a:fld id="{70844D8E-CF6D-4B0D-AEC0-46769640F2B2}" type="slidenum">
              <a:rPr lang="en-US" smtClean="0"/>
              <a:t>24</a:t>
            </a:fld>
            <a:endParaRPr lang="en-US"/>
          </a:p>
        </p:txBody>
      </p:sp>
    </p:spTree>
    <p:extLst>
      <p:ext uri="{BB962C8B-B14F-4D97-AF65-F5344CB8AC3E}">
        <p14:creationId xmlns:p14="http://schemas.microsoft.com/office/powerpoint/2010/main" val="22866875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DLSS… </a:t>
            </a:r>
          </a:p>
        </p:txBody>
      </p:sp>
      <p:sp>
        <p:nvSpPr>
          <p:cNvPr id="4" name="Slide Number Placeholder 3"/>
          <p:cNvSpPr>
            <a:spLocks noGrp="1"/>
          </p:cNvSpPr>
          <p:nvPr>
            <p:ph type="sldNum" sz="quarter" idx="5"/>
          </p:nvPr>
        </p:nvSpPr>
        <p:spPr/>
        <p:txBody>
          <a:bodyPr/>
          <a:lstStyle/>
          <a:p>
            <a:fld id="{70844D8E-CF6D-4B0D-AEC0-46769640F2B2}" type="slidenum">
              <a:rPr lang="en-US" smtClean="0"/>
              <a:t>25</a:t>
            </a:fld>
            <a:endParaRPr lang="en-US"/>
          </a:p>
        </p:txBody>
      </p:sp>
    </p:spTree>
    <p:extLst>
      <p:ext uri="{BB962C8B-B14F-4D97-AF65-F5344CB8AC3E}">
        <p14:creationId xmlns:p14="http://schemas.microsoft.com/office/powerpoint/2010/main" val="401933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F5364-839C-82FA-A8DF-9BDC4F5162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30F229-C3AD-1DBD-19B3-D78407D45E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866095-5A5A-0C64-EA5F-C8E4BDEB16F0}"/>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5" name="Footer Placeholder 4">
            <a:extLst>
              <a:ext uri="{FF2B5EF4-FFF2-40B4-BE49-F238E27FC236}">
                <a16:creationId xmlns:a16="http://schemas.microsoft.com/office/drawing/2014/main" id="{BEA8AEA0-A663-5F5F-4A5E-FE3091DB7F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88E5DA-3E04-BDE4-2BC9-BE35463767E1}"/>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3148707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0B273-77D1-B133-67F4-CD7D47B293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4F5E3E-AA1B-9C52-EFF4-C82201932D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4FDBF-C46C-2E3F-74FF-D50703D49BB9}"/>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5" name="Footer Placeholder 4">
            <a:extLst>
              <a:ext uri="{FF2B5EF4-FFF2-40B4-BE49-F238E27FC236}">
                <a16:creationId xmlns:a16="http://schemas.microsoft.com/office/drawing/2014/main" id="{416EF5B7-DA3D-9FFF-E17B-F96870466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EE53DE-D72B-FA79-3EEA-571882B184F1}"/>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2577395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F0C8F-D3E2-DF6F-E8DC-AFE77C2203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1AFED4-0471-E846-5851-7BC0B84EC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555E63-1AB5-6BAA-BDE0-4924CE4C875D}"/>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5" name="Footer Placeholder 4">
            <a:extLst>
              <a:ext uri="{FF2B5EF4-FFF2-40B4-BE49-F238E27FC236}">
                <a16:creationId xmlns:a16="http://schemas.microsoft.com/office/drawing/2014/main" id="{09FA4739-9966-5EC4-C1EC-4E0A6594A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18907-6C2F-ED7C-7848-BDB141CD4817}"/>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397008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6A79-5E1D-3997-40D2-883EFBF8F2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0DA1B2-1C5F-D3DC-C99A-CF642C88EE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8298A3-86E8-C647-999D-D2DAFE8B9D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0D39AF-ECF9-0AB1-F511-05F206870FE8}"/>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6" name="Footer Placeholder 5">
            <a:extLst>
              <a:ext uri="{FF2B5EF4-FFF2-40B4-BE49-F238E27FC236}">
                <a16:creationId xmlns:a16="http://schemas.microsoft.com/office/drawing/2014/main" id="{3ADE61A9-E726-2E1A-A816-E8A945051D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D55AB1-CD6F-C451-F5AD-92D48AEE0FFB}"/>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1903341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3C7E8-75F5-F832-7D70-F88A3B0739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C3A0E5-2467-82A0-4BB0-920A2AE96D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A2E463-E274-F3B6-8F1F-D5C8A736D9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D8A203-04BA-EDCD-2BD4-8AF60B699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8BCB29-DA69-4610-2AB7-412F2CA336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B210DA-298A-1171-339A-60F6701D67C7}"/>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8" name="Footer Placeholder 7">
            <a:extLst>
              <a:ext uri="{FF2B5EF4-FFF2-40B4-BE49-F238E27FC236}">
                <a16:creationId xmlns:a16="http://schemas.microsoft.com/office/drawing/2014/main" id="{518E9A33-F610-E484-7B32-CB1B262840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5F0276-1CFD-A2DD-5D9B-2080C9FBB625}"/>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2633534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0F41D-3DDD-9AAD-3D42-463CBC839B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A47255-2635-324D-A69F-33A4A1101041}"/>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4" name="Footer Placeholder 3">
            <a:extLst>
              <a:ext uri="{FF2B5EF4-FFF2-40B4-BE49-F238E27FC236}">
                <a16:creationId xmlns:a16="http://schemas.microsoft.com/office/drawing/2014/main" id="{1CE330B2-C1EB-0A74-E437-876BD9265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925BE8-7D11-30B3-1524-A345FA4F7C33}"/>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945109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45D8BA-8A0A-4D91-3039-2A344DFA1A01}"/>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3" name="Footer Placeholder 2">
            <a:extLst>
              <a:ext uri="{FF2B5EF4-FFF2-40B4-BE49-F238E27FC236}">
                <a16:creationId xmlns:a16="http://schemas.microsoft.com/office/drawing/2014/main" id="{E0F0CDBD-B928-EF0F-B72E-6C168A8248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36EA6F-5577-8330-4E46-16A3977C7CC3}"/>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2589868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6D29E-500C-6ECD-2A0E-83F39BAF9C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A50384-E29E-5753-D793-A84E22B400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92AEF9-958F-762F-21B1-4D9B4AE79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C6B9F9-F956-E03C-79A5-C84C4EB0FDC2}"/>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6" name="Footer Placeholder 5">
            <a:extLst>
              <a:ext uri="{FF2B5EF4-FFF2-40B4-BE49-F238E27FC236}">
                <a16:creationId xmlns:a16="http://schemas.microsoft.com/office/drawing/2014/main" id="{9E295E31-194F-89BE-DB61-A9B5076BAD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E972D6-F1A3-6099-D85E-9757C3FE75B3}"/>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2777932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A5A8B-E671-1699-CB71-19FBFD6599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5F0B17-562D-1E89-78F2-901BA641DD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0C7E74-2594-BF65-9FCB-9A835C38D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80FBDF-9AE4-3693-0B3E-8410D592D6F7}"/>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6" name="Footer Placeholder 5">
            <a:extLst>
              <a:ext uri="{FF2B5EF4-FFF2-40B4-BE49-F238E27FC236}">
                <a16:creationId xmlns:a16="http://schemas.microsoft.com/office/drawing/2014/main" id="{76C16747-9233-6462-8EB7-70A9ECC2D5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FAB97A-9915-678F-D440-9D325CCE619C}"/>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3057955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33B80-E7D3-2AFF-0E56-EE1CCBF186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573E2FC-A896-C909-89C7-A6EBFB2B53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3AFAC-1923-A046-8104-A97B556276C4}"/>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5" name="Footer Placeholder 4">
            <a:extLst>
              <a:ext uri="{FF2B5EF4-FFF2-40B4-BE49-F238E27FC236}">
                <a16:creationId xmlns:a16="http://schemas.microsoft.com/office/drawing/2014/main" id="{026C909B-1A61-F500-BA7A-6EE264A9CA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458FA-73D7-D86B-1B98-A00406C8D638}"/>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15865394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5335D4-FCFF-3E0D-46C1-31FDF168F0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55667D-99B9-E37E-B4D5-842B7F11E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38DC36-7BF4-2BD7-0336-AA03259B66C4}"/>
              </a:ext>
            </a:extLst>
          </p:cNvPr>
          <p:cNvSpPr>
            <a:spLocks noGrp="1"/>
          </p:cNvSpPr>
          <p:nvPr>
            <p:ph type="dt" sz="half" idx="10"/>
          </p:nvPr>
        </p:nvSpPr>
        <p:spPr/>
        <p:txBody>
          <a:bodyPr/>
          <a:lstStyle/>
          <a:p>
            <a:fld id="{4E402906-C21F-4D2E-8C2F-D1A1D3DF7405}" type="datetimeFigureOut">
              <a:rPr lang="en-US" smtClean="0"/>
              <a:t>4/14/2026</a:t>
            </a:fld>
            <a:endParaRPr lang="en-US"/>
          </a:p>
        </p:txBody>
      </p:sp>
      <p:sp>
        <p:nvSpPr>
          <p:cNvPr id="5" name="Footer Placeholder 4">
            <a:extLst>
              <a:ext uri="{FF2B5EF4-FFF2-40B4-BE49-F238E27FC236}">
                <a16:creationId xmlns:a16="http://schemas.microsoft.com/office/drawing/2014/main" id="{FE894AA8-D7F3-C688-72DD-E5C5E9A70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C38A9-9801-E9F6-46BB-1D636C5868FA}"/>
              </a:ext>
            </a:extLst>
          </p:cNvPr>
          <p:cNvSpPr>
            <a:spLocks noGrp="1"/>
          </p:cNvSpPr>
          <p:nvPr>
            <p:ph type="sldNum" sz="quarter" idx="12"/>
          </p:nvPr>
        </p:nvSpPr>
        <p:spPr/>
        <p:txBody>
          <a:bodyPr/>
          <a:lstStyle/>
          <a:p>
            <a:fld id="{AE07AD09-3CB0-408C-9906-31FD51132E51}" type="slidenum">
              <a:rPr lang="en-US" smtClean="0"/>
              <a:t>‹#›</a:t>
            </a:fld>
            <a:endParaRPr lang="en-US"/>
          </a:p>
        </p:txBody>
      </p:sp>
    </p:spTree>
    <p:extLst>
      <p:ext uri="{BB962C8B-B14F-4D97-AF65-F5344CB8AC3E}">
        <p14:creationId xmlns:p14="http://schemas.microsoft.com/office/powerpoint/2010/main" val="1454697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3B93FF-0B4E-A4BB-E45E-B64F23824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CC7482-F36E-BAF5-75DC-3BCA66A971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B4A9F-06AC-1C33-1CA0-0249B1705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E402906-C21F-4D2E-8C2F-D1A1D3DF7405}" type="datetimeFigureOut">
              <a:rPr lang="en-US" smtClean="0"/>
              <a:t>4/14/2026</a:t>
            </a:fld>
            <a:endParaRPr lang="en-US"/>
          </a:p>
        </p:txBody>
      </p:sp>
      <p:sp>
        <p:nvSpPr>
          <p:cNvPr id="5" name="Footer Placeholder 4">
            <a:extLst>
              <a:ext uri="{FF2B5EF4-FFF2-40B4-BE49-F238E27FC236}">
                <a16:creationId xmlns:a16="http://schemas.microsoft.com/office/drawing/2014/main" id="{5A466FF4-5031-F29C-43B4-D220BED1B3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4AF82B-3D94-DF8B-1C12-2CAE691E75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07AD09-3CB0-408C-9906-31FD51132E51}" type="slidenum">
              <a:rPr lang="en-US" smtClean="0"/>
              <a:t>‹#›</a:t>
            </a:fld>
            <a:endParaRPr lang="en-US"/>
          </a:p>
        </p:txBody>
      </p:sp>
    </p:spTree>
    <p:extLst>
      <p:ext uri="{BB962C8B-B14F-4D97-AF65-F5344CB8AC3E}">
        <p14:creationId xmlns:p14="http://schemas.microsoft.com/office/powerpoint/2010/main" val="1075568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dl.acm.org/doi/fullHtml/10.1145/2890784" TargetMode="External"/><Relationship Id="rId7" Type="http://schemas.openxmlformats.org/officeDocument/2006/relationships/image" Target="../media/image5.png"/><Relationship Id="rId2" Type="http://schemas.openxmlformats.org/officeDocument/2006/relationships/hyperlink" Target="https://dl.acm.org/doi/fullHtml/10.5555/2600239.2600241" TargetMode="Externa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l.acm.org/doi/10.1145/3539606"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ww.appviewx.com/education-center/hypervisor/" TargetMode="Externa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kubernetes-retired/kube-batch"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github.com/volcano-sh/volcano"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kubernetes-retired/poseidon"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github.com/camsas/firmament"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ieeexplore.ieee.org/document/9096488"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l.acm.org/doi/fullHtml/10.1145/2890784" TargetMode="External"/><Relationship Id="rId7" Type="http://schemas.openxmlformats.org/officeDocument/2006/relationships/image" Target="../media/image5.png"/><Relationship Id="rId2" Type="http://schemas.openxmlformats.org/officeDocument/2006/relationships/hyperlink" Target="https://dl.acm.org/doi/fullHtml/10.5555/2600239.2600241" TargetMode="Externa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hyperlink" Target="https://dl.acm.org/doi/10.1145/353960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FE51-13BC-543E-9C75-730F6A7D801F}"/>
              </a:ext>
            </a:extLst>
          </p:cNvPr>
          <p:cNvSpPr>
            <a:spLocks noGrp="1"/>
          </p:cNvSpPr>
          <p:nvPr>
            <p:ph type="ctrTitle"/>
          </p:nvPr>
        </p:nvSpPr>
        <p:spPr/>
        <p:txBody>
          <a:bodyPr/>
          <a:lstStyle/>
          <a:p>
            <a:r>
              <a:rPr lang="en-US" dirty="0"/>
              <a:t>From Docker to Kubernetes</a:t>
            </a:r>
          </a:p>
        </p:txBody>
      </p:sp>
      <p:sp>
        <p:nvSpPr>
          <p:cNvPr id="3" name="Subtitle 2">
            <a:extLst>
              <a:ext uri="{FF2B5EF4-FFF2-40B4-BE49-F238E27FC236}">
                <a16:creationId xmlns:a16="http://schemas.microsoft.com/office/drawing/2014/main" id="{AA7CEF91-ACF6-8783-F444-9DA8DEB89BB8}"/>
              </a:ext>
            </a:extLst>
          </p:cNvPr>
          <p:cNvSpPr>
            <a:spLocks noGrp="1"/>
          </p:cNvSpPr>
          <p:nvPr>
            <p:ph type="subTitle" idx="1"/>
          </p:nvPr>
        </p:nvSpPr>
        <p:spPr/>
        <p:txBody>
          <a:bodyPr/>
          <a:lstStyle/>
          <a:p>
            <a:r>
              <a:rPr lang="en-US" dirty="0"/>
              <a:t>A History of Container Management</a:t>
            </a:r>
          </a:p>
          <a:p>
            <a:r>
              <a:rPr lang="en-US" sz="1600" dirty="0"/>
              <a:t>Shuyuan ZHANG</a:t>
            </a:r>
          </a:p>
        </p:txBody>
      </p:sp>
      <p:sp>
        <p:nvSpPr>
          <p:cNvPr id="5" name="TextBox 4">
            <a:extLst>
              <a:ext uri="{FF2B5EF4-FFF2-40B4-BE49-F238E27FC236}">
                <a16:creationId xmlns:a16="http://schemas.microsoft.com/office/drawing/2014/main" id="{94937EE9-3972-220A-6AED-1E3EB4077ED4}"/>
              </a:ext>
            </a:extLst>
          </p:cNvPr>
          <p:cNvSpPr txBox="1"/>
          <p:nvPr/>
        </p:nvSpPr>
        <p:spPr>
          <a:xfrm>
            <a:off x="11952832" y="6642556"/>
            <a:ext cx="239168" cy="215444"/>
          </a:xfrm>
          <a:prstGeom prst="rect">
            <a:avLst/>
          </a:prstGeom>
          <a:noFill/>
        </p:spPr>
        <p:txBody>
          <a:bodyPr wrap="none" rtlCol="0">
            <a:spAutoFit/>
          </a:bodyPr>
          <a:lstStyle/>
          <a:p>
            <a:pPr algn="ctr"/>
            <a:r>
              <a:rPr lang="en-US" sz="800" dirty="0"/>
              <a:t>1</a:t>
            </a:r>
          </a:p>
        </p:txBody>
      </p:sp>
    </p:spTree>
    <p:extLst>
      <p:ext uri="{BB962C8B-B14F-4D97-AF65-F5344CB8AC3E}">
        <p14:creationId xmlns:p14="http://schemas.microsoft.com/office/powerpoint/2010/main" val="477498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178E-946B-55F2-6634-2A36030948F9}"/>
              </a:ext>
            </a:extLst>
          </p:cNvPr>
          <p:cNvSpPr>
            <a:spLocks noGrp="1"/>
          </p:cNvSpPr>
          <p:nvPr>
            <p:ph type="title"/>
          </p:nvPr>
        </p:nvSpPr>
        <p:spPr/>
        <p:txBody>
          <a:bodyPr/>
          <a:lstStyle/>
          <a:p>
            <a:r>
              <a:rPr lang="en-US" dirty="0"/>
              <a:t>Why do we need containers? </a:t>
            </a:r>
          </a:p>
        </p:txBody>
      </p:sp>
      <p:sp>
        <p:nvSpPr>
          <p:cNvPr id="3" name="Content Placeholder 2">
            <a:extLst>
              <a:ext uri="{FF2B5EF4-FFF2-40B4-BE49-F238E27FC236}">
                <a16:creationId xmlns:a16="http://schemas.microsoft.com/office/drawing/2014/main" id="{F820B759-DD31-D28F-1239-F4CF47474631}"/>
              </a:ext>
            </a:extLst>
          </p:cNvPr>
          <p:cNvSpPr>
            <a:spLocks noGrp="1"/>
          </p:cNvSpPr>
          <p:nvPr>
            <p:ph idx="1"/>
          </p:nvPr>
        </p:nvSpPr>
        <p:spPr/>
        <p:txBody>
          <a:bodyPr/>
          <a:lstStyle/>
          <a:p>
            <a:r>
              <a:rPr lang="en-US" dirty="0"/>
              <a:t>The dependency hell and “it works on my machine”</a:t>
            </a:r>
          </a:p>
        </p:txBody>
      </p:sp>
      <p:pic>
        <p:nvPicPr>
          <p:cNvPr id="10244" name="Picture 4" descr="I swear it works on my local machine! | loc-memes, machine-memes, IT-memes, mac-memes | ProgrammerHumor.io">
            <a:extLst>
              <a:ext uri="{FF2B5EF4-FFF2-40B4-BE49-F238E27FC236}">
                <a16:creationId xmlns:a16="http://schemas.microsoft.com/office/drawing/2014/main" id="{C7724DF1-85B2-32BB-B972-04DDB1FD5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2231" y="90609"/>
            <a:ext cx="2373967" cy="6676781"/>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Top 10 Developer Excuses When Code Breaks (And What Actually Went Wrong) |  Billy Okeyo">
            <a:extLst>
              <a:ext uri="{FF2B5EF4-FFF2-40B4-BE49-F238E27FC236}">
                <a16:creationId xmlns:a16="http://schemas.microsoft.com/office/drawing/2014/main" id="{5DE4E3E8-5ACF-A4FA-8259-01EE1E8F08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2839" y="3057769"/>
            <a:ext cx="4523685" cy="25382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AC0B76A-0CB2-4A27-0E2F-FCB4249F8316}"/>
              </a:ext>
            </a:extLst>
          </p:cNvPr>
          <p:cNvSpPr txBox="1"/>
          <p:nvPr/>
        </p:nvSpPr>
        <p:spPr>
          <a:xfrm>
            <a:off x="11952832" y="6642556"/>
            <a:ext cx="239168" cy="215444"/>
          </a:xfrm>
          <a:prstGeom prst="rect">
            <a:avLst/>
          </a:prstGeom>
          <a:noFill/>
        </p:spPr>
        <p:txBody>
          <a:bodyPr wrap="none" rtlCol="0">
            <a:spAutoFit/>
          </a:bodyPr>
          <a:lstStyle/>
          <a:p>
            <a:pPr algn="ctr"/>
            <a:r>
              <a:rPr lang="en-US" sz="800" dirty="0"/>
              <a:t>2</a:t>
            </a:r>
          </a:p>
        </p:txBody>
      </p:sp>
    </p:spTree>
    <p:extLst>
      <p:ext uri="{BB962C8B-B14F-4D97-AF65-F5344CB8AC3E}">
        <p14:creationId xmlns:p14="http://schemas.microsoft.com/office/powerpoint/2010/main" val="2488238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DE13-7FC9-16EE-C79A-371A72DB2A52}"/>
              </a:ext>
            </a:extLst>
          </p:cNvPr>
          <p:cNvSpPr>
            <a:spLocks noGrp="1"/>
          </p:cNvSpPr>
          <p:nvPr>
            <p:ph type="title"/>
          </p:nvPr>
        </p:nvSpPr>
        <p:spPr>
          <a:xfrm>
            <a:off x="838200" y="365125"/>
            <a:ext cx="11353800" cy="1325563"/>
          </a:xfrm>
        </p:spPr>
        <p:txBody>
          <a:bodyPr>
            <a:normAutofit/>
          </a:bodyPr>
          <a:lstStyle/>
          <a:p>
            <a:r>
              <a:rPr lang="en-US" sz="4000" b="1" dirty="0"/>
              <a:t>Standardization, Orchestration, and Optimization</a:t>
            </a:r>
          </a:p>
        </p:txBody>
      </p:sp>
      <p:sp>
        <p:nvSpPr>
          <p:cNvPr id="3" name="Content Placeholder 2">
            <a:extLst>
              <a:ext uri="{FF2B5EF4-FFF2-40B4-BE49-F238E27FC236}">
                <a16:creationId xmlns:a16="http://schemas.microsoft.com/office/drawing/2014/main" id="{1E832DD6-F88B-9597-4FE3-AF293AB550B6}"/>
              </a:ext>
            </a:extLst>
          </p:cNvPr>
          <p:cNvSpPr>
            <a:spLocks noGrp="1"/>
          </p:cNvSpPr>
          <p:nvPr>
            <p:ph idx="1"/>
          </p:nvPr>
        </p:nvSpPr>
        <p:spPr>
          <a:xfrm>
            <a:off x="838200" y="1825625"/>
            <a:ext cx="7408985" cy="4351338"/>
          </a:xfrm>
        </p:spPr>
        <p:txBody>
          <a:bodyPr>
            <a:normAutofit lnSpcReduction="10000"/>
          </a:bodyPr>
          <a:lstStyle/>
          <a:p>
            <a:r>
              <a:rPr lang="en-US" dirty="0"/>
              <a:t>Solving the problem on a </a:t>
            </a:r>
            <a:r>
              <a:rPr lang="en-US" b="1" dirty="0"/>
              <a:t>single machine</a:t>
            </a:r>
            <a:r>
              <a:rPr lang="en-US" dirty="0"/>
              <a:t>: </a:t>
            </a:r>
          </a:p>
          <a:p>
            <a:pPr lvl="1"/>
            <a:r>
              <a:rPr lang="en-US" i="1" dirty="0">
                <a:hlinkClick r:id="rId2"/>
              </a:rPr>
              <a:t>Docker: Lightweight Linux containers for consistent development and deployment</a:t>
            </a:r>
            <a:endParaRPr lang="en-US" i="1" dirty="0"/>
          </a:p>
          <a:p>
            <a:pPr lvl="1"/>
            <a:endParaRPr lang="en-US" dirty="0"/>
          </a:p>
          <a:p>
            <a:r>
              <a:rPr lang="en-US" dirty="0"/>
              <a:t>Managing containers </a:t>
            </a:r>
            <a:r>
              <a:rPr lang="en-US" b="1" dirty="0"/>
              <a:t>over a cluster</a:t>
            </a:r>
            <a:r>
              <a:rPr lang="en-US" dirty="0"/>
              <a:t>: </a:t>
            </a:r>
          </a:p>
          <a:p>
            <a:pPr lvl="1"/>
            <a:r>
              <a:rPr lang="en-US" i="1" dirty="0">
                <a:hlinkClick r:id="rId3"/>
              </a:rPr>
              <a:t>Borg, Omega and Kubernetes</a:t>
            </a:r>
            <a:endParaRPr lang="en-US" i="1" dirty="0"/>
          </a:p>
          <a:p>
            <a:pPr lvl="1"/>
            <a:endParaRPr lang="en-US" b="1" dirty="0"/>
          </a:p>
          <a:p>
            <a:r>
              <a:rPr lang="en-US" dirty="0"/>
              <a:t>Ongoing challenges to improve </a:t>
            </a:r>
            <a:r>
              <a:rPr lang="en-US" b="1" dirty="0"/>
              <a:t>scheduling efficiency</a:t>
            </a:r>
            <a:r>
              <a:rPr lang="en-US" dirty="0"/>
              <a:t> over managed container clusters</a:t>
            </a:r>
          </a:p>
          <a:p>
            <a:pPr lvl="1"/>
            <a:r>
              <a:rPr lang="en-US" i="1" dirty="0">
                <a:hlinkClick r:id="rId4"/>
              </a:rPr>
              <a:t>Kubernetes scheduling: Taxonomy, ongoing issues and challenges</a:t>
            </a:r>
            <a:endParaRPr lang="en-US" i="1" dirty="0"/>
          </a:p>
          <a:p>
            <a:endParaRPr lang="en-US" dirty="0"/>
          </a:p>
        </p:txBody>
      </p:sp>
      <p:pic>
        <p:nvPicPr>
          <p:cNvPr id="8" name="Graphic 7">
            <a:extLst>
              <a:ext uri="{FF2B5EF4-FFF2-40B4-BE49-F238E27FC236}">
                <a16:creationId xmlns:a16="http://schemas.microsoft.com/office/drawing/2014/main" id="{18B13A4A-3D7C-2B9F-E37A-8C530BF270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10485" y="2363992"/>
            <a:ext cx="2678076" cy="574179"/>
          </a:xfrm>
          <a:prstGeom prst="rect">
            <a:avLst/>
          </a:prstGeom>
        </p:spPr>
      </p:pic>
      <p:pic>
        <p:nvPicPr>
          <p:cNvPr id="9" name="Picture 4">
            <a:extLst>
              <a:ext uri="{FF2B5EF4-FFF2-40B4-BE49-F238E27FC236}">
                <a16:creationId xmlns:a16="http://schemas.microsoft.com/office/drawing/2014/main" id="{51765A91-DD3D-0542-26D9-FCB5CBE505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7185" y="4001294"/>
            <a:ext cx="3404677" cy="82545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CF1A256-49D3-B99D-3ACD-28398935E0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92985" y="4826751"/>
            <a:ext cx="1713079" cy="316261"/>
          </a:xfrm>
          <a:prstGeom prst="rect">
            <a:avLst/>
          </a:prstGeom>
        </p:spPr>
      </p:pic>
      <p:sp>
        <p:nvSpPr>
          <p:cNvPr id="11" name="TextBox 10">
            <a:extLst>
              <a:ext uri="{FF2B5EF4-FFF2-40B4-BE49-F238E27FC236}">
                <a16:creationId xmlns:a16="http://schemas.microsoft.com/office/drawing/2014/main" id="{61D47228-B969-6609-485C-CCF6E76A4362}"/>
              </a:ext>
            </a:extLst>
          </p:cNvPr>
          <p:cNvSpPr txBox="1"/>
          <p:nvPr/>
        </p:nvSpPr>
        <p:spPr>
          <a:xfrm>
            <a:off x="0" y="6257836"/>
            <a:ext cx="10601739" cy="600164"/>
          </a:xfrm>
          <a:prstGeom prst="rect">
            <a:avLst/>
          </a:prstGeom>
          <a:noFill/>
        </p:spPr>
        <p:txBody>
          <a:bodyPr wrap="square">
            <a:spAutoFit/>
          </a:bodyPr>
          <a:lstStyle/>
          <a:p>
            <a:r>
              <a:rPr lang="en-US" sz="1100" dirty="0"/>
              <a:t>Merkel, D. (2014). </a:t>
            </a:r>
            <a:r>
              <a:rPr lang="en-US" sz="1100" i="1" dirty="0"/>
              <a:t>Docker: Lightweight Linux containers for consistent development and deployment</a:t>
            </a:r>
            <a:r>
              <a:rPr lang="en-US" sz="1100" dirty="0"/>
              <a:t>. Linux Journal, 2014(239), 2–9.</a:t>
            </a:r>
          </a:p>
          <a:p>
            <a:r>
              <a:rPr lang="en-US" sz="1100" dirty="0"/>
              <a:t>Burns, B., Grant, B., Oppenheimer, D., Brewer, E., &amp; Wilkes, J. (2016). </a:t>
            </a:r>
            <a:r>
              <a:rPr lang="en-US" sz="1100" i="1" dirty="0"/>
              <a:t>Borg, Omega, and Kubernetes</a:t>
            </a:r>
            <a:r>
              <a:rPr lang="en-US" sz="1100" dirty="0"/>
              <a:t>. Communications of the ACM, 59(5), 50–57.</a:t>
            </a:r>
          </a:p>
          <a:p>
            <a:r>
              <a:rPr lang="en-US" sz="1100" dirty="0"/>
              <a:t>Carrión, C. (2022). </a:t>
            </a:r>
            <a:r>
              <a:rPr lang="en-US" sz="1100" i="1" dirty="0"/>
              <a:t>Kubernetes scheduling: Taxonomy, ongoing issues and challenges</a:t>
            </a:r>
            <a:r>
              <a:rPr lang="en-US" sz="1100" dirty="0"/>
              <a:t>. ACM Computing Surveys, 55(7), 1-37.</a:t>
            </a:r>
          </a:p>
        </p:txBody>
      </p:sp>
      <p:sp>
        <p:nvSpPr>
          <p:cNvPr id="7" name="TextBox 6">
            <a:extLst>
              <a:ext uri="{FF2B5EF4-FFF2-40B4-BE49-F238E27FC236}">
                <a16:creationId xmlns:a16="http://schemas.microsoft.com/office/drawing/2014/main" id="{9C10DC78-ED8D-11F4-516A-2D0A605C8292}"/>
              </a:ext>
            </a:extLst>
          </p:cNvPr>
          <p:cNvSpPr txBox="1"/>
          <p:nvPr/>
        </p:nvSpPr>
        <p:spPr>
          <a:xfrm>
            <a:off x="11952832" y="6642556"/>
            <a:ext cx="239168" cy="215444"/>
          </a:xfrm>
          <a:prstGeom prst="rect">
            <a:avLst/>
          </a:prstGeom>
          <a:noFill/>
        </p:spPr>
        <p:txBody>
          <a:bodyPr wrap="none" rtlCol="0">
            <a:spAutoFit/>
          </a:bodyPr>
          <a:lstStyle/>
          <a:p>
            <a:pPr algn="ctr"/>
            <a:r>
              <a:rPr lang="en-US" sz="800" dirty="0"/>
              <a:t>3</a:t>
            </a:r>
          </a:p>
        </p:txBody>
      </p:sp>
    </p:spTree>
    <p:extLst>
      <p:ext uri="{BB962C8B-B14F-4D97-AF65-F5344CB8AC3E}">
        <p14:creationId xmlns:p14="http://schemas.microsoft.com/office/powerpoint/2010/main" val="1398445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57791-5656-6277-3956-40DA603A8AA9}"/>
              </a:ext>
            </a:extLst>
          </p:cNvPr>
          <p:cNvSpPr>
            <a:spLocks noGrp="1"/>
          </p:cNvSpPr>
          <p:nvPr>
            <p:ph type="title"/>
          </p:nvPr>
        </p:nvSpPr>
        <p:spPr/>
        <p:txBody>
          <a:bodyPr/>
          <a:lstStyle/>
          <a:p>
            <a:r>
              <a:rPr lang="en-US" dirty="0"/>
              <a:t>			</a:t>
            </a:r>
            <a:r>
              <a:rPr lang="en-US" sz="2000" dirty="0"/>
              <a:t> </a:t>
            </a:r>
            <a:r>
              <a:rPr lang="en-US" b="1" dirty="0"/>
              <a:t>Containers vs. Virtual Machines</a:t>
            </a:r>
          </a:p>
        </p:txBody>
      </p:sp>
      <p:sp>
        <p:nvSpPr>
          <p:cNvPr id="3" name="Content Placeholder 2">
            <a:extLst>
              <a:ext uri="{FF2B5EF4-FFF2-40B4-BE49-F238E27FC236}">
                <a16:creationId xmlns:a16="http://schemas.microsoft.com/office/drawing/2014/main" id="{E78B0E52-64CA-F03F-6C0C-765C2A07F945}"/>
              </a:ext>
            </a:extLst>
          </p:cNvPr>
          <p:cNvSpPr>
            <a:spLocks noGrp="1"/>
          </p:cNvSpPr>
          <p:nvPr>
            <p:ph idx="1"/>
          </p:nvPr>
        </p:nvSpPr>
        <p:spPr/>
        <p:txBody>
          <a:bodyPr/>
          <a:lstStyle/>
          <a:p>
            <a:r>
              <a:rPr lang="en-US" dirty="0"/>
              <a:t>VM virtualizes the </a:t>
            </a:r>
            <a:r>
              <a:rPr lang="en-US" b="1" dirty="0"/>
              <a:t>hardware</a:t>
            </a:r>
          </a:p>
          <a:p>
            <a:pPr lvl="1"/>
            <a:r>
              <a:rPr lang="en-US" dirty="0"/>
              <a:t>Stronger Isolation 🫣</a:t>
            </a:r>
          </a:p>
          <a:p>
            <a:pPr lvl="1"/>
            <a:r>
              <a:rPr lang="en-US" dirty="0"/>
              <a:t>Multiple VM = Multiple OS 🤯</a:t>
            </a:r>
          </a:p>
          <a:p>
            <a:r>
              <a:rPr lang="en-US" dirty="0"/>
              <a:t>Containers virtualizes the </a:t>
            </a:r>
            <a:r>
              <a:rPr lang="en-US" b="1" dirty="0"/>
              <a:t>OS</a:t>
            </a:r>
          </a:p>
          <a:p>
            <a:pPr lvl="1"/>
            <a:r>
              <a:rPr lang="en-US" dirty="0"/>
              <a:t>Only one host OS needed 😀</a:t>
            </a:r>
          </a:p>
          <a:p>
            <a:pPr lvl="1"/>
            <a:r>
              <a:rPr lang="en-US" dirty="0"/>
              <a:t>Spin up and shutdown just like applications</a:t>
            </a:r>
          </a:p>
        </p:txBody>
      </p:sp>
      <p:pic>
        <p:nvPicPr>
          <p:cNvPr id="4" name="Graphic 3">
            <a:extLst>
              <a:ext uri="{FF2B5EF4-FFF2-40B4-BE49-F238E27FC236}">
                <a16:creationId xmlns:a16="http://schemas.microsoft.com/office/drawing/2014/main" id="{3FAAAB6E-8426-5968-7E4F-AED3E7CB43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957" y="715873"/>
            <a:ext cx="2486974" cy="533207"/>
          </a:xfrm>
          <a:prstGeom prst="rect">
            <a:avLst/>
          </a:prstGeom>
        </p:spPr>
      </p:pic>
      <p:sp>
        <p:nvSpPr>
          <p:cNvPr id="5" name="TextBox 4">
            <a:extLst>
              <a:ext uri="{FF2B5EF4-FFF2-40B4-BE49-F238E27FC236}">
                <a16:creationId xmlns:a16="http://schemas.microsoft.com/office/drawing/2014/main" id="{8FA87D38-261B-06D7-D8BE-E2E209A4A4B2}"/>
              </a:ext>
            </a:extLst>
          </p:cNvPr>
          <p:cNvSpPr txBox="1"/>
          <p:nvPr/>
        </p:nvSpPr>
        <p:spPr>
          <a:xfrm>
            <a:off x="0" y="6551682"/>
            <a:ext cx="10601739" cy="306318"/>
          </a:xfrm>
          <a:prstGeom prst="rect">
            <a:avLst/>
          </a:prstGeom>
          <a:noFill/>
        </p:spPr>
        <p:txBody>
          <a:bodyPr wrap="square">
            <a:spAutoFit/>
          </a:bodyPr>
          <a:lstStyle/>
          <a:p>
            <a:r>
              <a:rPr lang="en-US" sz="1400" dirty="0"/>
              <a:t>Merkel, D. (2014). </a:t>
            </a:r>
            <a:r>
              <a:rPr lang="en-US" sz="1400" i="1" dirty="0"/>
              <a:t>Docker: Lightweight Linux containers for consistent development and deployment</a:t>
            </a:r>
            <a:r>
              <a:rPr lang="en-US" sz="1400" dirty="0"/>
              <a:t>. Linux Journal, 2014(239), 2–9.</a:t>
            </a:r>
          </a:p>
        </p:txBody>
      </p:sp>
      <p:pic>
        <p:nvPicPr>
          <p:cNvPr id="9218" name="Picture 2" descr="Hypervisor | Benefits of Hypervisor | Types of hypervisors">
            <a:hlinkClick r:id="rId5"/>
            <a:extLst>
              <a:ext uri="{FF2B5EF4-FFF2-40B4-BE49-F238E27FC236}">
                <a16:creationId xmlns:a16="http://schemas.microsoft.com/office/drawing/2014/main" id="{FF186E57-A1C4-95C0-4690-B1ACB1B1664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185" t="4681" r="13185" b="8264"/>
          <a:stretch>
            <a:fillRect/>
          </a:stretch>
        </p:blipFill>
        <p:spPr bwMode="auto">
          <a:xfrm>
            <a:off x="7873346" y="3607493"/>
            <a:ext cx="3796634" cy="29147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4937248-0958-D7AA-0A8D-45A1755404BD}"/>
              </a:ext>
            </a:extLst>
          </p:cNvPr>
          <p:cNvSpPr txBox="1"/>
          <p:nvPr/>
        </p:nvSpPr>
        <p:spPr>
          <a:xfrm>
            <a:off x="10297488" y="6260669"/>
            <a:ext cx="1372492" cy="261610"/>
          </a:xfrm>
          <a:prstGeom prst="rect">
            <a:avLst/>
          </a:prstGeom>
          <a:noFill/>
        </p:spPr>
        <p:txBody>
          <a:bodyPr wrap="none" rtlCol="0">
            <a:spAutoFit/>
          </a:bodyPr>
          <a:lstStyle/>
          <a:p>
            <a:r>
              <a:rPr lang="en-US" sz="1100" i="1" dirty="0">
                <a:solidFill>
                  <a:schemeClr val="tx1">
                    <a:lumMod val="50000"/>
                    <a:lumOff val="50000"/>
                  </a:schemeClr>
                </a:solidFill>
              </a:rPr>
              <a:t>Figure by </a:t>
            </a:r>
            <a:r>
              <a:rPr lang="en-US" sz="1100" i="1" dirty="0" err="1">
                <a:solidFill>
                  <a:schemeClr val="tx1">
                    <a:lumMod val="50000"/>
                    <a:lumOff val="50000"/>
                  </a:schemeClr>
                </a:solidFill>
              </a:rPr>
              <a:t>AppViewX</a:t>
            </a:r>
            <a:endParaRPr lang="en-US" sz="1100" i="1" dirty="0">
              <a:solidFill>
                <a:schemeClr val="tx1">
                  <a:lumMod val="50000"/>
                  <a:lumOff val="50000"/>
                </a:schemeClr>
              </a:solidFill>
            </a:endParaRPr>
          </a:p>
        </p:txBody>
      </p:sp>
      <p:pic>
        <p:nvPicPr>
          <p:cNvPr id="9220" name="Picture 4">
            <a:extLst>
              <a:ext uri="{FF2B5EF4-FFF2-40B4-BE49-F238E27FC236}">
                <a16:creationId xmlns:a16="http://schemas.microsoft.com/office/drawing/2014/main" id="{4DBEDA3F-7AAF-7996-A1F8-91CA67A3D8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92554" y="4619015"/>
            <a:ext cx="1692885" cy="1692885"/>
          </a:xfrm>
          <a:prstGeom prst="rect">
            <a:avLst/>
          </a:prstGeom>
          <a:noFill/>
          <a:extLst>
            <a:ext uri="{909E8E84-426E-40DD-AFC4-6F175D3DCCD1}">
              <a14:hiddenFill xmlns:a14="http://schemas.microsoft.com/office/drawing/2010/main">
                <a:solidFill>
                  <a:srgbClr val="FFFFFF"/>
                </a:solidFill>
              </a14:hiddenFill>
            </a:ext>
          </a:extLst>
        </p:spPr>
      </p:pic>
      <p:pic>
        <p:nvPicPr>
          <p:cNvPr id="9224" name="Picture 8" descr="VMware Logo PNG Transparent &amp; SVG Vector - Freebie Supply">
            <a:extLst>
              <a:ext uri="{FF2B5EF4-FFF2-40B4-BE49-F238E27FC236}">
                <a16:creationId xmlns:a16="http://schemas.microsoft.com/office/drawing/2014/main" id="{D4681512-F3A3-286E-B602-36B490E206C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54380" y="4414323"/>
            <a:ext cx="2810608" cy="21079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F01E1FC-7D3D-731E-A2F0-6EC903DC91E1}"/>
              </a:ext>
            </a:extLst>
          </p:cNvPr>
          <p:cNvSpPr txBox="1"/>
          <p:nvPr/>
        </p:nvSpPr>
        <p:spPr>
          <a:xfrm>
            <a:off x="11952832" y="6642556"/>
            <a:ext cx="239168" cy="215444"/>
          </a:xfrm>
          <a:prstGeom prst="rect">
            <a:avLst/>
          </a:prstGeom>
          <a:noFill/>
        </p:spPr>
        <p:txBody>
          <a:bodyPr wrap="none" rtlCol="0">
            <a:spAutoFit/>
          </a:bodyPr>
          <a:lstStyle/>
          <a:p>
            <a:pPr algn="ctr"/>
            <a:r>
              <a:rPr lang="en-US" sz="800" dirty="0"/>
              <a:t>4</a:t>
            </a:r>
          </a:p>
        </p:txBody>
      </p:sp>
      <p:sp>
        <p:nvSpPr>
          <p:cNvPr id="8" name="TextBox 7">
            <a:extLst>
              <a:ext uri="{FF2B5EF4-FFF2-40B4-BE49-F238E27FC236}">
                <a16:creationId xmlns:a16="http://schemas.microsoft.com/office/drawing/2014/main" id="{8DC001D0-EC7B-CA41-62E1-16FE97C88FA7}"/>
              </a:ext>
            </a:extLst>
          </p:cNvPr>
          <p:cNvSpPr txBox="1"/>
          <p:nvPr/>
        </p:nvSpPr>
        <p:spPr>
          <a:xfrm>
            <a:off x="9515022" y="6260669"/>
            <a:ext cx="513282" cy="261610"/>
          </a:xfrm>
          <a:prstGeom prst="rect">
            <a:avLst/>
          </a:prstGeom>
          <a:noFill/>
        </p:spPr>
        <p:txBody>
          <a:bodyPr wrap="none" rtlCol="0">
            <a:spAutoFit/>
          </a:bodyPr>
          <a:lstStyle/>
          <a:p>
            <a:pPr algn="ctr"/>
            <a:r>
              <a:rPr lang="en-US" sz="1100" dirty="0"/>
              <a:t>Fig. A</a:t>
            </a:r>
          </a:p>
        </p:txBody>
      </p:sp>
    </p:spTree>
    <p:extLst>
      <p:ext uri="{BB962C8B-B14F-4D97-AF65-F5344CB8AC3E}">
        <p14:creationId xmlns:p14="http://schemas.microsoft.com/office/powerpoint/2010/main" val="1669027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A2C3B-7B3E-F35F-75D4-3F99B5DF5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1B995-E984-656B-F4FE-FCFCCD12730E}"/>
              </a:ext>
            </a:extLst>
          </p:cNvPr>
          <p:cNvSpPr>
            <a:spLocks noGrp="1"/>
          </p:cNvSpPr>
          <p:nvPr>
            <p:ph type="title"/>
          </p:nvPr>
        </p:nvSpPr>
        <p:spPr/>
        <p:txBody>
          <a:bodyPr/>
          <a:lstStyle/>
          <a:p>
            <a:r>
              <a:rPr lang="en-US" dirty="0"/>
              <a:t>			</a:t>
            </a:r>
            <a:r>
              <a:rPr lang="en-US" sz="2000" dirty="0"/>
              <a:t> </a:t>
            </a:r>
            <a:r>
              <a:rPr lang="en-US" b="1" dirty="0"/>
              <a:t>Key Ingredients</a:t>
            </a:r>
            <a:r>
              <a:rPr lang="en-US" dirty="0"/>
              <a:t> </a:t>
            </a:r>
            <a:r>
              <a:rPr lang="en-US" sz="2400" dirty="0"/>
              <a:t>(by 2014 and v0.7)</a:t>
            </a:r>
            <a:endParaRPr lang="en-US" dirty="0"/>
          </a:p>
        </p:txBody>
      </p:sp>
      <p:sp>
        <p:nvSpPr>
          <p:cNvPr id="3" name="Content Placeholder 2">
            <a:extLst>
              <a:ext uri="{FF2B5EF4-FFF2-40B4-BE49-F238E27FC236}">
                <a16:creationId xmlns:a16="http://schemas.microsoft.com/office/drawing/2014/main" id="{F39DFC59-D7E7-5488-37FE-257932516091}"/>
              </a:ext>
            </a:extLst>
          </p:cNvPr>
          <p:cNvSpPr>
            <a:spLocks noGrp="1"/>
          </p:cNvSpPr>
          <p:nvPr>
            <p:ph idx="1"/>
          </p:nvPr>
        </p:nvSpPr>
        <p:spPr/>
        <p:txBody>
          <a:bodyPr/>
          <a:lstStyle/>
          <a:p>
            <a:r>
              <a:rPr lang="en-US" dirty="0" err="1"/>
              <a:t>LinuX</a:t>
            </a:r>
            <a:r>
              <a:rPr lang="en-US" dirty="0"/>
              <a:t> Containers (LXC) for </a:t>
            </a:r>
            <a:r>
              <a:rPr lang="en-US" b="1" dirty="0"/>
              <a:t>kernel-level namespace isolation</a:t>
            </a:r>
          </a:p>
          <a:p>
            <a:r>
              <a:rPr lang="en-US" dirty="0"/>
              <a:t>Control Groups (</a:t>
            </a:r>
            <a:r>
              <a:rPr lang="en-US" dirty="0" err="1"/>
              <a:t>cgroup</a:t>
            </a:r>
            <a:r>
              <a:rPr lang="en-US" dirty="0"/>
              <a:t>) for </a:t>
            </a:r>
            <a:r>
              <a:rPr lang="en-US" b="1" dirty="0"/>
              <a:t>resource auditing </a:t>
            </a:r>
            <a:r>
              <a:rPr lang="en-US" dirty="0"/>
              <a:t>and </a:t>
            </a:r>
            <a:r>
              <a:rPr lang="en-US" b="1" dirty="0"/>
              <a:t>limiting</a:t>
            </a:r>
          </a:p>
          <a:p>
            <a:r>
              <a:rPr lang="en-US" dirty="0"/>
              <a:t>Advanced Multi-</a:t>
            </a:r>
            <a:r>
              <a:rPr lang="en-US" b="1" dirty="0"/>
              <a:t>Layered</a:t>
            </a:r>
            <a:r>
              <a:rPr lang="en-US" dirty="0"/>
              <a:t> Unification </a:t>
            </a:r>
            <a:r>
              <a:rPr lang="en-US" b="1" dirty="0"/>
              <a:t>Filesystem</a:t>
            </a:r>
            <a:r>
              <a:rPr lang="en-US" dirty="0"/>
              <a:t> (</a:t>
            </a:r>
            <a:r>
              <a:rPr lang="en-US" dirty="0" err="1"/>
              <a:t>AuFS</a:t>
            </a:r>
            <a:r>
              <a:rPr lang="en-US" dirty="0"/>
              <a:t>)</a:t>
            </a:r>
          </a:p>
          <a:p>
            <a:pPr lvl="1"/>
            <a:r>
              <a:rPr lang="en-US" dirty="0"/>
              <a:t>base image copy-on-write</a:t>
            </a:r>
          </a:p>
          <a:p>
            <a:pPr lvl="1"/>
            <a:r>
              <a:rPr lang="en-US" dirty="0"/>
              <a:t>versioning as diff of changes</a:t>
            </a:r>
          </a:p>
        </p:txBody>
      </p:sp>
      <p:pic>
        <p:nvPicPr>
          <p:cNvPr id="4" name="Graphic 3">
            <a:extLst>
              <a:ext uri="{FF2B5EF4-FFF2-40B4-BE49-F238E27FC236}">
                <a16:creationId xmlns:a16="http://schemas.microsoft.com/office/drawing/2014/main" id="{17A0338B-5947-5059-6C7E-FFB0AB3BDCD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0957" y="715873"/>
            <a:ext cx="2486974" cy="533207"/>
          </a:xfrm>
          <a:prstGeom prst="rect">
            <a:avLst/>
          </a:prstGeom>
        </p:spPr>
      </p:pic>
      <p:sp>
        <p:nvSpPr>
          <p:cNvPr id="5" name="TextBox 4">
            <a:extLst>
              <a:ext uri="{FF2B5EF4-FFF2-40B4-BE49-F238E27FC236}">
                <a16:creationId xmlns:a16="http://schemas.microsoft.com/office/drawing/2014/main" id="{EB933F45-644E-D386-1D56-F548D3A44367}"/>
              </a:ext>
            </a:extLst>
          </p:cNvPr>
          <p:cNvSpPr txBox="1"/>
          <p:nvPr/>
        </p:nvSpPr>
        <p:spPr>
          <a:xfrm>
            <a:off x="0" y="6551682"/>
            <a:ext cx="10601739" cy="306318"/>
          </a:xfrm>
          <a:prstGeom prst="rect">
            <a:avLst/>
          </a:prstGeom>
          <a:noFill/>
        </p:spPr>
        <p:txBody>
          <a:bodyPr wrap="square">
            <a:spAutoFit/>
          </a:bodyPr>
          <a:lstStyle/>
          <a:p>
            <a:r>
              <a:rPr lang="en-US" sz="1400" dirty="0"/>
              <a:t>Merkel, D. (2014). </a:t>
            </a:r>
            <a:r>
              <a:rPr lang="en-US" sz="1400" i="1" dirty="0"/>
              <a:t>Docker: Lightweight Linux containers for consistent development and deployment</a:t>
            </a:r>
            <a:r>
              <a:rPr lang="en-US" sz="1400" dirty="0"/>
              <a:t>. Linux Journal, 2014(239), 2–9.</a:t>
            </a:r>
          </a:p>
        </p:txBody>
      </p:sp>
      <p:sp>
        <p:nvSpPr>
          <p:cNvPr id="6" name="TextBox 5">
            <a:extLst>
              <a:ext uri="{FF2B5EF4-FFF2-40B4-BE49-F238E27FC236}">
                <a16:creationId xmlns:a16="http://schemas.microsoft.com/office/drawing/2014/main" id="{135123E6-8967-B43E-83D9-9854E594BFFC}"/>
              </a:ext>
            </a:extLst>
          </p:cNvPr>
          <p:cNvSpPr txBox="1"/>
          <p:nvPr/>
        </p:nvSpPr>
        <p:spPr>
          <a:xfrm>
            <a:off x="11952832" y="6642556"/>
            <a:ext cx="239168" cy="215444"/>
          </a:xfrm>
          <a:prstGeom prst="rect">
            <a:avLst/>
          </a:prstGeom>
          <a:noFill/>
        </p:spPr>
        <p:txBody>
          <a:bodyPr wrap="none" rtlCol="0">
            <a:spAutoFit/>
          </a:bodyPr>
          <a:lstStyle/>
          <a:p>
            <a:pPr algn="ctr"/>
            <a:r>
              <a:rPr lang="en-US" sz="800" dirty="0"/>
              <a:t>5</a:t>
            </a:r>
          </a:p>
        </p:txBody>
      </p:sp>
    </p:spTree>
    <p:extLst>
      <p:ext uri="{BB962C8B-B14F-4D97-AF65-F5344CB8AC3E}">
        <p14:creationId xmlns:p14="http://schemas.microsoft.com/office/powerpoint/2010/main" val="11561191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1E383-806F-D3EF-0AB0-D87B176212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666E9-FC1E-F455-6F25-C8EFB2BC32BA}"/>
              </a:ext>
            </a:extLst>
          </p:cNvPr>
          <p:cNvSpPr>
            <a:spLocks noGrp="1"/>
          </p:cNvSpPr>
          <p:nvPr>
            <p:ph type="title"/>
          </p:nvPr>
        </p:nvSpPr>
        <p:spPr/>
        <p:txBody>
          <a:bodyPr/>
          <a:lstStyle/>
          <a:p>
            <a:r>
              <a:rPr lang="en-US" dirty="0"/>
              <a:t>			</a:t>
            </a:r>
            <a:r>
              <a:rPr lang="en-US" sz="2000" dirty="0"/>
              <a:t> </a:t>
            </a:r>
            <a:r>
              <a:rPr lang="en-US" b="1" dirty="0"/>
              <a:t>Key Ingredients Updates</a:t>
            </a:r>
          </a:p>
        </p:txBody>
      </p:sp>
      <p:sp>
        <p:nvSpPr>
          <p:cNvPr id="3" name="Content Placeholder 2">
            <a:extLst>
              <a:ext uri="{FF2B5EF4-FFF2-40B4-BE49-F238E27FC236}">
                <a16:creationId xmlns:a16="http://schemas.microsoft.com/office/drawing/2014/main" id="{C50BCC6C-DFEE-EB96-EE6A-C4910B867B14}"/>
              </a:ext>
            </a:extLst>
          </p:cNvPr>
          <p:cNvSpPr>
            <a:spLocks noGrp="1"/>
          </p:cNvSpPr>
          <p:nvPr>
            <p:ph idx="1"/>
          </p:nvPr>
        </p:nvSpPr>
        <p:spPr/>
        <p:txBody>
          <a:bodyPr/>
          <a:lstStyle/>
          <a:p>
            <a:r>
              <a:rPr lang="en-US" dirty="0"/>
              <a:t>LXC -&gt; </a:t>
            </a:r>
            <a:r>
              <a:rPr lang="en-US" dirty="0" err="1"/>
              <a:t>containerd</a:t>
            </a:r>
            <a:r>
              <a:rPr lang="en-US" dirty="0"/>
              <a:t> (daemon) / </a:t>
            </a:r>
            <a:r>
              <a:rPr lang="en-US" dirty="0" err="1"/>
              <a:t>runc</a:t>
            </a:r>
            <a:r>
              <a:rPr lang="en-US" dirty="0"/>
              <a:t> (low-level worker that handles namespaces and </a:t>
            </a:r>
            <a:r>
              <a:rPr lang="en-US" dirty="0" err="1"/>
              <a:t>cgroups</a:t>
            </a:r>
            <a:r>
              <a:rPr lang="en-US" dirty="0"/>
              <a:t>)</a:t>
            </a:r>
          </a:p>
          <a:p>
            <a:pPr lvl="1"/>
            <a:r>
              <a:rPr lang="en-US" dirty="0"/>
              <a:t>Dependency on another project</a:t>
            </a:r>
          </a:p>
          <a:p>
            <a:pPr lvl="1"/>
            <a:r>
              <a:rPr lang="en-US" dirty="0"/>
              <a:t>No longer specific to Linux</a:t>
            </a:r>
          </a:p>
          <a:p>
            <a:pPr lvl="1"/>
            <a:r>
              <a:rPr lang="en-US" dirty="0"/>
              <a:t>Open Container Initiative industry standard</a:t>
            </a:r>
          </a:p>
          <a:p>
            <a:r>
              <a:rPr lang="en-US" dirty="0" err="1"/>
              <a:t>AuFS</a:t>
            </a:r>
            <a:r>
              <a:rPr lang="en-US" dirty="0"/>
              <a:t> -&gt; overlay2 (</a:t>
            </a:r>
            <a:r>
              <a:rPr lang="en-US" dirty="0" err="1"/>
              <a:t>OverlayFS</a:t>
            </a:r>
            <a:r>
              <a:rPr lang="en-US" dirty="0"/>
              <a:t>)</a:t>
            </a:r>
          </a:p>
          <a:p>
            <a:pPr lvl="1"/>
            <a:r>
              <a:rPr lang="en-US" dirty="0"/>
              <a:t>Native to Linux Kernel</a:t>
            </a:r>
          </a:p>
          <a:p>
            <a:pPr lvl="1"/>
            <a:r>
              <a:rPr lang="en-US" dirty="0"/>
              <a:t>Copy-on-Write with less overhead</a:t>
            </a:r>
          </a:p>
        </p:txBody>
      </p:sp>
      <p:pic>
        <p:nvPicPr>
          <p:cNvPr id="4" name="Graphic 3">
            <a:extLst>
              <a:ext uri="{FF2B5EF4-FFF2-40B4-BE49-F238E27FC236}">
                <a16:creationId xmlns:a16="http://schemas.microsoft.com/office/drawing/2014/main" id="{CAB42327-3C6F-A2E1-EFAF-1FEE40E8B3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0957" y="715873"/>
            <a:ext cx="2486974" cy="533207"/>
          </a:xfrm>
          <a:prstGeom prst="rect">
            <a:avLst/>
          </a:prstGeom>
        </p:spPr>
      </p:pic>
      <p:sp>
        <p:nvSpPr>
          <p:cNvPr id="5" name="TextBox 4">
            <a:extLst>
              <a:ext uri="{FF2B5EF4-FFF2-40B4-BE49-F238E27FC236}">
                <a16:creationId xmlns:a16="http://schemas.microsoft.com/office/drawing/2014/main" id="{09DF364C-5B51-3DDB-3B11-E2EA26492941}"/>
              </a:ext>
            </a:extLst>
          </p:cNvPr>
          <p:cNvSpPr txBox="1"/>
          <p:nvPr/>
        </p:nvSpPr>
        <p:spPr>
          <a:xfrm>
            <a:off x="11952832" y="6642556"/>
            <a:ext cx="239168" cy="215444"/>
          </a:xfrm>
          <a:prstGeom prst="rect">
            <a:avLst/>
          </a:prstGeom>
          <a:noFill/>
        </p:spPr>
        <p:txBody>
          <a:bodyPr wrap="none" rtlCol="0">
            <a:spAutoFit/>
          </a:bodyPr>
          <a:lstStyle/>
          <a:p>
            <a:pPr algn="ctr"/>
            <a:r>
              <a:rPr lang="en-US" sz="800" dirty="0"/>
              <a:t>6</a:t>
            </a:r>
          </a:p>
        </p:txBody>
      </p:sp>
    </p:spTree>
    <p:extLst>
      <p:ext uri="{BB962C8B-B14F-4D97-AF65-F5344CB8AC3E}">
        <p14:creationId xmlns:p14="http://schemas.microsoft.com/office/powerpoint/2010/main" val="32881870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B9752-5A7D-787C-2558-D1436035B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AE9C9-3E7A-9715-7C86-1D66B135E8C3}"/>
              </a:ext>
            </a:extLst>
          </p:cNvPr>
          <p:cNvSpPr>
            <a:spLocks noGrp="1"/>
          </p:cNvSpPr>
          <p:nvPr>
            <p:ph type="title"/>
          </p:nvPr>
        </p:nvSpPr>
        <p:spPr/>
        <p:txBody>
          <a:bodyPr/>
          <a:lstStyle/>
          <a:p>
            <a:r>
              <a:rPr lang="en-US" dirty="0"/>
              <a:t>			</a:t>
            </a:r>
            <a:r>
              <a:rPr lang="en-US" sz="2000" dirty="0"/>
              <a:t> </a:t>
            </a:r>
            <a:r>
              <a:rPr lang="en-US" b="1" dirty="0"/>
              <a:t>Bring Together Ingredients</a:t>
            </a:r>
          </a:p>
        </p:txBody>
      </p:sp>
      <p:sp>
        <p:nvSpPr>
          <p:cNvPr id="3" name="Content Placeholder 2">
            <a:extLst>
              <a:ext uri="{FF2B5EF4-FFF2-40B4-BE49-F238E27FC236}">
                <a16:creationId xmlns:a16="http://schemas.microsoft.com/office/drawing/2014/main" id="{C2EF1929-B785-94DA-B725-35D86E0289CB}"/>
              </a:ext>
            </a:extLst>
          </p:cNvPr>
          <p:cNvSpPr>
            <a:spLocks noGrp="1"/>
          </p:cNvSpPr>
          <p:nvPr>
            <p:ph idx="1"/>
          </p:nvPr>
        </p:nvSpPr>
        <p:spPr/>
        <p:txBody>
          <a:bodyPr>
            <a:normAutofit/>
          </a:bodyPr>
          <a:lstStyle/>
          <a:p>
            <a:r>
              <a:rPr lang="en-US" b="1" dirty="0"/>
              <a:t>Isolated namespaces </a:t>
            </a:r>
            <a:r>
              <a:rPr lang="en-US" dirty="0"/>
              <a:t>tricks the process into thinking it has its own network and process tree</a:t>
            </a:r>
          </a:p>
          <a:p>
            <a:r>
              <a:rPr lang="en-US" i="1" dirty="0" err="1"/>
              <a:t>cgroups</a:t>
            </a:r>
            <a:r>
              <a:rPr lang="en-US" dirty="0"/>
              <a:t> enforces </a:t>
            </a:r>
            <a:r>
              <a:rPr lang="en-US" b="1" dirty="0"/>
              <a:t>limits</a:t>
            </a:r>
            <a:r>
              <a:rPr lang="en-US" dirty="0"/>
              <a:t> on what the process can use</a:t>
            </a:r>
          </a:p>
          <a:p>
            <a:r>
              <a:rPr lang="en-US" dirty="0"/>
              <a:t>Union Filesystem provides an isolated, highly efficient </a:t>
            </a:r>
            <a:r>
              <a:rPr lang="en-US" b="1" dirty="0"/>
              <a:t>root file system</a:t>
            </a:r>
          </a:p>
          <a:p>
            <a:r>
              <a:rPr lang="en-US" dirty="0"/>
              <a:t>On the user side: </a:t>
            </a:r>
          </a:p>
          <a:p>
            <a:pPr lvl="1"/>
            <a:r>
              <a:rPr lang="en-US" dirty="0" err="1"/>
              <a:t>Dockerfile</a:t>
            </a:r>
            <a:r>
              <a:rPr lang="en-US" dirty="0"/>
              <a:t> </a:t>
            </a:r>
            <a:r>
              <a:rPr lang="zh-CN" altLang="en-US" dirty="0"/>
              <a:t>→ </a:t>
            </a:r>
            <a:r>
              <a:rPr lang="en-US" altLang="zh-CN" dirty="0"/>
              <a:t>Docker Client (cli/desktop) </a:t>
            </a:r>
            <a:r>
              <a:rPr lang="zh-CN" altLang="en-US" dirty="0"/>
              <a:t>→</a:t>
            </a:r>
            <a:r>
              <a:rPr lang="en-US" altLang="zh-CN" dirty="0"/>
              <a:t> Docker Daemon (</a:t>
            </a:r>
            <a:r>
              <a:rPr lang="en-US" altLang="zh-CN" dirty="0" err="1"/>
              <a:t>dockerd</a:t>
            </a:r>
            <a:r>
              <a:rPr lang="en-US" altLang="zh-CN" dirty="0"/>
              <a:t>)</a:t>
            </a:r>
            <a:endParaRPr lang="en-US" dirty="0"/>
          </a:p>
        </p:txBody>
      </p:sp>
      <p:pic>
        <p:nvPicPr>
          <p:cNvPr id="4" name="Graphic 3">
            <a:extLst>
              <a:ext uri="{FF2B5EF4-FFF2-40B4-BE49-F238E27FC236}">
                <a16:creationId xmlns:a16="http://schemas.microsoft.com/office/drawing/2014/main" id="{943B69C0-E550-19EB-CC56-68FCDD1B87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0957" y="715873"/>
            <a:ext cx="2486974" cy="533207"/>
          </a:xfrm>
          <a:prstGeom prst="rect">
            <a:avLst/>
          </a:prstGeom>
        </p:spPr>
      </p:pic>
      <p:sp>
        <p:nvSpPr>
          <p:cNvPr id="5" name="TextBox 4">
            <a:extLst>
              <a:ext uri="{FF2B5EF4-FFF2-40B4-BE49-F238E27FC236}">
                <a16:creationId xmlns:a16="http://schemas.microsoft.com/office/drawing/2014/main" id="{E015FA10-67B5-CD42-F1AD-CBD9B44A3C8C}"/>
              </a:ext>
            </a:extLst>
          </p:cNvPr>
          <p:cNvSpPr txBox="1"/>
          <p:nvPr/>
        </p:nvSpPr>
        <p:spPr>
          <a:xfrm>
            <a:off x="11952832" y="6642556"/>
            <a:ext cx="239168" cy="215444"/>
          </a:xfrm>
          <a:prstGeom prst="rect">
            <a:avLst/>
          </a:prstGeom>
          <a:noFill/>
        </p:spPr>
        <p:txBody>
          <a:bodyPr wrap="none" rtlCol="0">
            <a:spAutoFit/>
          </a:bodyPr>
          <a:lstStyle/>
          <a:p>
            <a:pPr algn="ctr"/>
            <a:r>
              <a:rPr lang="en-US" sz="800" dirty="0"/>
              <a:t>7</a:t>
            </a:r>
          </a:p>
        </p:txBody>
      </p:sp>
    </p:spTree>
    <p:extLst>
      <p:ext uri="{BB962C8B-B14F-4D97-AF65-F5344CB8AC3E}">
        <p14:creationId xmlns:p14="http://schemas.microsoft.com/office/powerpoint/2010/main" val="1768334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F3D50-E85A-C88D-B86C-1D8E6EBECE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619BF-2411-C0C6-7249-1D7D84C980EA}"/>
              </a:ext>
            </a:extLst>
          </p:cNvPr>
          <p:cNvSpPr>
            <a:spLocks noGrp="1"/>
          </p:cNvSpPr>
          <p:nvPr>
            <p:ph idx="1"/>
          </p:nvPr>
        </p:nvSpPr>
        <p:spPr/>
        <p:txBody>
          <a:bodyPr/>
          <a:lstStyle/>
          <a:p>
            <a:r>
              <a:rPr lang="en-US" dirty="0"/>
              <a:t>Lightweight </a:t>
            </a:r>
            <a:r>
              <a:rPr lang="en-US" strike="sngStrike" dirty="0"/>
              <a:t>virtualization</a:t>
            </a:r>
            <a:r>
              <a:rPr lang="en-US" dirty="0"/>
              <a:t> packaging and deployment of applications, on a </a:t>
            </a:r>
            <a:r>
              <a:rPr lang="en-US" b="1" dirty="0"/>
              <a:t>single node</a:t>
            </a:r>
          </a:p>
          <a:p>
            <a:pPr lvl="1"/>
            <a:r>
              <a:rPr lang="en-US" dirty="0"/>
              <a:t>If the kernel goes down, containers won’t survive</a:t>
            </a:r>
          </a:p>
          <a:p>
            <a:r>
              <a:rPr lang="en-US" dirty="0"/>
              <a:t>How to deploy more containers across more servers for reliability? </a:t>
            </a:r>
          </a:p>
        </p:txBody>
      </p:sp>
      <p:sp>
        <p:nvSpPr>
          <p:cNvPr id="6" name="TextBox 5">
            <a:extLst>
              <a:ext uri="{FF2B5EF4-FFF2-40B4-BE49-F238E27FC236}">
                <a16:creationId xmlns:a16="http://schemas.microsoft.com/office/drawing/2014/main" id="{9ECC147F-F82C-B0D4-8E8A-5221A85C46F4}"/>
              </a:ext>
            </a:extLst>
          </p:cNvPr>
          <p:cNvSpPr txBox="1"/>
          <p:nvPr/>
        </p:nvSpPr>
        <p:spPr>
          <a:xfrm>
            <a:off x="0" y="6551682"/>
            <a:ext cx="10601739" cy="306318"/>
          </a:xfrm>
          <a:prstGeom prst="rect">
            <a:avLst/>
          </a:prstGeom>
          <a:noFill/>
        </p:spPr>
        <p:txBody>
          <a:bodyPr wrap="square">
            <a:spAutoFit/>
          </a:bodyPr>
          <a:lstStyle/>
          <a:p>
            <a:r>
              <a:rPr lang="en-US" sz="1400" dirty="0"/>
              <a:t>Merkel, D. (2014). </a:t>
            </a:r>
            <a:r>
              <a:rPr lang="en-US" sz="1400" i="1" dirty="0"/>
              <a:t>Docker: Lightweight Linux containers for consistent development and deployment</a:t>
            </a:r>
            <a:r>
              <a:rPr lang="en-US" sz="1400" dirty="0"/>
              <a:t>. Linux Journal, 2014(239), 2–9.</a:t>
            </a:r>
          </a:p>
        </p:txBody>
      </p:sp>
      <p:pic>
        <p:nvPicPr>
          <p:cNvPr id="5" name="Graphic 4">
            <a:extLst>
              <a:ext uri="{FF2B5EF4-FFF2-40B4-BE49-F238E27FC236}">
                <a16:creationId xmlns:a16="http://schemas.microsoft.com/office/drawing/2014/main" id="{7857B928-DC21-041F-DC79-13FC0ACB67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0957" y="715873"/>
            <a:ext cx="2486974" cy="533207"/>
          </a:xfrm>
          <a:prstGeom prst="rect">
            <a:avLst/>
          </a:prstGeom>
        </p:spPr>
      </p:pic>
      <p:sp>
        <p:nvSpPr>
          <p:cNvPr id="10" name="Title 1">
            <a:extLst>
              <a:ext uri="{FF2B5EF4-FFF2-40B4-BE49-F238E27FC236}">
                <a16:creationId xmlns:a16="http://schemas.microsoft.com/office/drawing/2014/main" id="{F76F3471-49FA-6B44-0923-9FE31763B82F}"/>
              </a:ext>
            </a:extLst>
          </p:cNvPr>
          <p:cNvSpPr>
            <a:spLocks noGrp="1"/>
          </p:cNvSpPr>
          <p:nvPr>
            <p:ph type="title"/>
          </p:nvPr>
        </p:nvSpPr>
        <p:spPr>
          <a:xfrm>
            <a:off x="838200" y="365125"/>
            <a:ext cx="10515600" cy="1325563"/>
          </a:xfrm>
        </p:spPr>
        <p:txBody>
          <a:bodyPr/>
          <a:lstStyle/>
          <a:p>
            <a:r>
              <a:rPr lang="en-US" dirty="0"/>
              <a:t>			</a:t>
            </a:r>
            <a:r>
              <a:rPr lang="en-US" sz="2000" dirty="0"/>
              <a:t> </a:t>
            </a:r>
            <a:r>
              <a:rPr lang="en-US" b="1" dirty="0"/>
              <a:t>Milestone</a:t>
            </a:r>
          </a:p>
        </p:txBody>
      </p:sp>
      <p:sp>
        <p:nvSpPr>
          <p:cNvPr id="11" name="TextBox 10">
            <a:extLst>
              <a:ext uri="{FF2B5EF4-FFF2-40B4-BE49-F238E27FC236}">
                <a16:creationId xmlns:a16="http://schemas.microsoft.com/office/drawing/2014/main" id="{68237E1C-8B6E-4CCE-EED4-D4FFC46107FC}"/>
              </a:ext>
            </a:extLst>
          </p:cNvPr>
          <p:cNvSpPr txBox="1"/>
          <p:nvPr/>
        </p:nvSpPr>
        <p:spPr>
          <a:xfrm>
            <a:off x="11952832" y="6642556"/>
            <a:ext cx="239168" cy="215444"/>
          </a:xfrm>
          <a:prstGeom prst="rect">
            <a:avLst/>
          </a:prstGeom>
          <a:noFill/>
        </p:spPr>
        <p:txBody>
          <a:bodyPr wrap="none" rtlCol="0">
            <a:spAutoFit/>
          </a:bodyPr>
          <a:lstStyle/>
          <a:p>
            <a:pPr algn="ctr"/>
            <a:r>
              <a:rPr lang="en-US" sz="800" dirty="0"/>
              <a:t>8</a:t>
            </a:r>
          </a:p>
        </p:txBody>
      </p:sp>
    </p:spTree>
    <p:extLst>
      <p:ext uri="{BB962C8B-B14F-4D97-AF65-F5344CB8AC3E}">
        <p14:creationId xmlns:p14="http://schemas.microsoft.com/office/powerpoint/2010/main" val="2374114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2A6E7-92FB-C2F6-D25F-DE4FAC2AD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581AE-A232-2C6D-1D26-79BFA7B14C72}"/>
              </a:ext>
            </a:extLst>
          </p:cNvPr>
          <p:cNvSpPr>
            <a:spLocks noGrp="1"/>
          </p:cNvSpPr>
          <p:nvPr>
            <p:ph type="title"/>
          </p:nvPr>
        </p:nvSpPr>
        <p:spPr/>
        <p:txBody>
          <a:bodyPr/>
          <a:lstStyle/>
          <a:p>
            <a:r>
              <a:rPr lang="en-US" dirty="0"/>
              <a:t>	     </a:t>
            </a:r>
            <a:r>
              <a:rPr lang="en-US" b="1" dirty="0">
                <a:solidFill>
                  <a:schemeClr val="bg1"/>
                </a:solidFill>
              </a:rPr>
              <a:t>e</a:t>
            </a:r>
            <a:r>
              <a:rPr lang="en-US" b="1" dirty="0"/>
              <a:t>’s Road to K8s and lessons learned</a:t>
            </a:r>
          </a:p>
        </p:txBody>
      </p:sp>
      <p:sp>
        <p:nvSpPr>
          <p:cNvPr id="3" name="Content Placeholder 2">
            <a:extLst>
              <a:ext uri="{FF2B5EF4-FFF2-40B4-BE49-F238E27FC236}">
                <a16:creationId xmlns:a16="http://schemas.microsoft.com/office/drawing/2014/main" id="{BA0EA704-6049-D38A-0100-3EB9EC12B093}"/>
              </a:ext>
            </a:extLst>
          </p:cNvPr>
          <p:cNvSpPr>
            <a:spLocks noGrp="1"/>
          </p:cNvSpPr>
          <p:nvPr>
            <p:ph idx="1"/>
          </p:nvPr>
        </p:nvSpPr>
        <p:spPr/>
        <p:txBody>
          <a:bodyPr/>
          <a:lstStyle/>
          <a:p>
            <a:r>
              <a:rPr lang="en-US" dirty="0"/>
              <a:t>Borg: Google’s first large-scale cluster management driven by growing demand</a:t>
            </a:r>
          </a:p>
          <a:p>
            <a:r>
              <a:rPr lang="en-US" dirty="0"/>
              <a:t>Omega: a principled offspring of Borg with better scheduling</a:t>
            </a:r>
          </a:p>
          <a:p>
            <a:r>
              <a:rPr lang="en-US" dirty="0"/>
              <a:t>Kubernetes: imperative vs declarative, decoupling and “Pods”</a:t>
            </a:r>
          </a:p>
        </p:txBody>
      </p:sp>
      <p:pic>
        <p:nvPicPr>
          <p:cNvPr id="8" name="Graphic 7">
            <a:extLst>
              <a:ext uri="{FF2B5EF4-FFF2-40B4-BE49-F238E27FC236}">
                <a16:creationId xmlns:a16="http://schemas.microsoft.com/office/drawing/2014/main" id="{7FCBF73B-0C2D-4F2C-15DA-317A43CD98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16" name="TextBox 15">
            <a:extLst>
              <a:ext uri="{FF2B5EF4-FFF2-40B4-BE49-F238E27FC236}">
                <a16:creationId xmlns:a16="http://schemas.microsoft.com/office/drawing/2014/main" id="{ECCE306B-D97F-26BC-55B6-F64ECA35AE57}"/>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4" name="TextBox 3">
            <a:extLst>
              <a:ext uri="{FF2B5EF4-FFF2-40B4-BE49-F238E27FC236}">
                <a16:creationId xmlns:a16="http://schemas.microsoft.com/office/drawing/2014/main" id="{D187E8D9-13F1-6648-8C0A-754802066CBB}"/>
              </a:ext>
            </a:extLst>
          </p:cNvPr>
          <p:cNvSpPr txBox="1"/>
          <p:nvPr/>
        </p:nvSpPr>
        <p:spPr>
          <a:xfrm>
            <a:off x="11952832" y="6642556"/>
            <a:ext cx="239168" cy="215444"/>
          </a:xfrm>
          <a:prstGeom prst="rect">
            <a:avLst/>
          </a:prstGeom>
          <a:noFill/>
        </p:spPr>
        <p:txBody>
          <a:bodyPr wrap="none" rtlCol="0">
            <a:spAutoFit/>
          </a:bodyPr>
          <a:lstStyle/>
          <a:p>
            <a:pPr algn="ctr"/>
            <a:r>
              <a:rPr lang="en-US" sz="800" dirty="0"/>
              <a:t>9</a:t>
            </a:r>
          </a:p>
        </p:txBody>
      </p:sp>
    </p:spTree>
    <p:extLst>
      <p:ext uri="{BB962C8B-B14F-4D97-AF65-F5344CB8AC3E}">
        <p14:creationId xmlns:p14="http://schemas.microsoft.com/office/powerpoint/2010/main" val="12785571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033AC-BB24-7135-564A-082163012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2965E-85A4-26DA-5E70-274B568438FC}"/>
              </a:ext>
            </a:extLst>
          </p:cNvPr>
          <p:cNvSpPr>
            <a:spLocks noGrp="1"/>
          </p:cNvSpPr>
          <p:nvPr>
            <p:ph type="title"/>
          </p:nvPr>
        </p:nvSpPr>
        <p:spPr/>
        <p:txBody>
          <a:bodyPr/>
          <a:lstStyle/>
          <a:p>
            <a:r>
              <a:rPr lang="en-US" dirty="0"/>
              <a:t>	     </a:t>
            </a:r>
            <a:r>
              <a:rPr lang="en-US" b="1" dirty="0">
                <a:solidFill>
                  <a:schemeClr val="bg1"/>
                </a:solidFill>
              </a:rPr>
              <a:t>e</a:t>
            </a:r>
            <a:r>
              <a:rPr lang="en-US" b="1" dirty="0"/>
              <a:t>’s Reasoning on Containers</a:t>
            </a:r>
          </a:p>
        </p:txBody>
      </p:sp>
      <p:sp>
        <p:nvSpPr>
          <p:cNvPr id="3" name="Content Placeholder 2">
            <a:extLst>
              <a:ext uri="{FF2B5EF4-FFF2-40B4-BE49-F238E27FC236}">
                <a16:creationId xmlns:a16="http://schemas.microsoft.com/office/drawing/2014/main" id="{075FAC3D-9613-D141-E25F-E9F333B311E4}"/>
              </a:ext>
            </a:extLst>
          </p:cNvPr>
          <p:cNvSpPr>
            <a:spLocks noGrp="1"/>
          </p:cNvSpPr>
          <p:nvPr>
            <p:ph idx="1"/>
          </p:nvPr>
        </p:nvSpPr>
        <p:spPr/>
        <p:txBody>
          <a:bodyPr/>
          <a:lstStyle/>
          <a:p>
            <a:r>
              <a:rPr lang="en-US" dirty="0"/>
              <a:t>Better resource utilization = lower compute cost </a:t>
            </a:r>
          </a:p>
          <a:p>
            <a:pPr lvl="1"/>
            <a:r>
              <a:rPr lang="en-US" dirty="0"/>
              <a:t>Flexible reclaiming of idle resources</a:t>
            </a:r>
          </a:p>
          <a:p>
            <a:pPr lvl="1"/>
            <a:r>
              <a:rPr lang="en-US" dirty="0"/>
              <a:t>Easier and faster deployments of applications to consume reclaimed resources</a:t>
            </a:r>
          </a:p>
          <a:p>
            <a:r>
              <a:rPr lang="en-US" dirty="0"/>
              <a:t>Easier management over large clusters = lower maintenance cost</a:t>
            </a:r>
          </a:p>
          <a:p>
            <a:pPr lvl="1"/>
            <a:r>
              <a:rPr lang="en-US" dirty="0"/>
              <a:t>Application-oriented infra vs. machine-oriented</a:t>
            </a:r>
          </a:p>
          <a:p>
            <a:r>
              <a:rPr lang="en-US" dirty="0"/>
              <a:t>Improved reliability through automated monitoring and self-healing</a:t>
            </a:r>
          </a:p>
        </p:txBody>
      </p:sp>
      <p:pic>
        <p:nvPicPr>
          <p:cNvPr id="8" name="Graphic 7">
            <a:extLst>
              <a:ext uri="{FF2B5EF4-FFF2-40B4-BE49-F238E27FC236}">
                <a16:creationId xmlns:a16="http://schemas.microsoft.com/office/drawing/2014/main" id="{709E808A-ACC5-B02C-05C3-63D80E9E568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16" name="TextBox 15">
            <a:extLst>
              <a:ext uri="{FF2B5EF4-FFF2-40B4-BE49-F238E27FC236}">
                <a16:creationId xmlns:a16="http://schemas.microsoft.com/office/drawing/2014/main" id="{82805880-D854-F427-3717-F083A0BE1D44}"/>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5" name="TextBox 4">
            <a:extLst>
              <a:ext uri="{FF2B5EF4-FFF2-40B4-BE49-F238E27FC236}">
                <a16:creationId xmlns:a16="http://schemas.microsoft.com/office/drawing/2014/main" id="{D42681D6-49A3-3CD5-5316-66D0681665D1}"/>
              </a:ext>
            </a:extLst>
          </p:cNvPr>
          <p:cNvSpPr txBox="1"/>
          <p:nvPr/>
        </p:nvSpPr>
        <p:spPr>
          <a:xfrm>
            <a:off x="11925581" y="6642556"/>
            <a:ext cx="293670" cy="215444"/>
          </a:xfrm>
          <a:prstGeom prst="rect">
            <a:avLst/>
          </a:prstGeom>
          <a:noFill/>
        </p:spPr>
        <p:txBody>
          <a:bodyPr wrap="none" rtlCol="0">
            <a:spAutoFit/>
          </a:bodyPr>
          <a:lstStyle/>
          <a:p>
            <a:pPr algn="ctr"/>
            <a:r>
              <a:rPr lang="en-US" sz="800" dirty="0"/>
              <a:t>10</a:t>
            </a:r>
          </a:p>
        </p:txBody>
      </p:sp>
    </p:spTree>
    <p:extLst>
      <p:ext uri="{BB962C8B-B14F-4D97-AF65-F5344CB8AC3E}">
        <p14:creationId xmlns:p14="http://schemas.microsoft.com/office/powerpoint/2010/main" val="2376226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0D5F6-0C64-E3CF-2A05-0526D7457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F1BA1-915D-F513-B2FE-BA87F03EF35E}"/>
              </a:ext>
            </a:extLst>
          </p:cNvPr>
          <p:cNvSpPr>
            <a:spLocks noGrp="1"/>
          </p:cNvSpPr>
          <p:nvPr>
            <p:ph type="title"/>
          </p:nvPr>
        </p:nvSpPr>
        <p:spPr/>
        <p:txBody>
          <a:bodyPr/>
          <a:lstStyle/>
          <a:p>
            <a:r>
              <a:rPr lang="en-US" dirty="0"/>
              <a:t>	        </a:t>
            </a:r>
            <a:r>
              <a:rPr lang="en-US" sz="2800" dirty="0"/>
              <a:t> </a:t>
            </a:r>
            <a:r>
              <a:rPr lang="en-US" b="1" dirty="0"/>
              <a:t>Borg: Architecture</a:t>
            </a:r>
          </a:p>
        </p:txBody>
      </p:sp>
      <p:sp>
        <p:nvSpPr>
          <p:cNvPr id="3" name="Content Placeholder 2">
            <a:extLst>
              <a:ext uri="{FF2B5EF4-FFF2-40B4-BE49-F238E27FC236}">
                <a16:creationId xmlns:a16="http://schemas.microsoft.com/office/drawing/2014/main" id="{062B5DFA-16C2-B656-9722-7B31A6A4D2F9}"/>
              </a:ext>
            </a:extLst>
          </p:cNvPr>
          <p:cNvSpPr>
            <a:spLocks noGrp="1"/>
          </p:cNvSpPr>
          <p:nvPr>
            <p:ph idx="1"/>
          </p:nvPr>
        </p:nvSpPr>
        <p:spPr/>
        <p:txBody>
          <a:bodyPr/>
          <a:lstStyle/>
          <a:p>
            <a:r>
              <a:rPr lang="en-US" dirty="0"/>
              <a:t>Cell: collection of machines as a single unit</a:t>
            </a:r>
          </a:p>
          <a:p>
            <a:r>
              <a:rPr lang="en-US" dirty="0" err="1"/>
              <a:t>Borgmaster</a:t>
            </a:r>
            <a:r>
              <a:rPr lang="en-US" dirty="0"/>
              <a:t>: centralized controller of a cell</a:t>
            </a:r>
          </a:p>
          <a:p>
            <a:pPr lvl="1"/>
            <a:r>
              <a:rPr lang="en-US" dirty="0"/>
              <a:t>Handles client requests</a:t>
            </a:r>
          </a:p>
          <a:p>
            <a:pPr lvl="1"/>
            <a:r>
              <a:rPr lang="en-US" dirty="0"/>
              <a:t>Maintains system state</a:t>
            </a:r>
          </a:p>
          <a:p>
            <a:pPr lvl="1"/>
            <a:r>
              <a:rPr lang="en-US" dirty="0"/>
              <a:t>Schedules tasks onto machines</a:t>
            </a:r>
          </a:p>
          <a:p>
            <a:pPr lvl="1"/>
            <a:r>
              <a:rPr lang="en-US" dirty="0"/>
              <a:t>Replicated for fault tolerance</a:t>
            </a:r>
          </a:p>
          <a:p>
            <a:r>
              <a:rPr lang="en-US" dirty="0" err="1"/>
              <a:t>Borglet</a:t>
            </a:r>
            <a:r>
              <a:rPr lang="en-US" dirty="0"/>
              <a:t>: local agent on single machine (node)</a:t>
            </a:r>
          </a:p>
          <a:p>
            <a:pPr lvl="1"/>
            <a:r>
              <a:rPr lang="en-US" dirty="0"/>
              <a:t>Starts, stops, monitors tasks</a:t>
            </a:r>
          </a:p>
          <a:p>
            <a:pPr lvl="1"/>
            <a:r>
              <a:rPr lang="en-US" dirty="0"/>
              <a:t>Reports machine state back to </a:t>
            </a:r>
            <a:r>
              <a:rPr lang="en-US" dirty="0" err="1"/>
              <a:t>Borgmaster</a:t>
            </a:r>
            <a:endParaRPr lang="en-US" dirty="0"/>
          </a:p>
        </p:txBody>
      </p:sp>
      <p:pic>
        <p:nvPicPr>
          <p:cNvPr id="8" name="Graphic 7">
            <a:extLst>
              <a:ext uri="{FF2B5EF4-FFF2-40B4-BE49-F238E27FC236}">
                <a16:creationId xmlns:a16="http://schemas.microsoft.com/office/drawing/2014/main" id="{8998B1F0-5F78-C0E9-D66D-2A0939A57F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pic>
        <p:nvPicPr>
          <p:cNvPr id="5" name="Picture 4">
            <a:extLst>
              <a:ext uri="{FF2B5EF4-FFF2-40B4-BE49-F238E27FC236}">
                <a16:creationId xmlns:a16="http://schemas.microsoft.com/office/drawing/2014/main" id="{B1831236-27E0-4CED-00B4-25D65D82E145}"/>
              </a:ext>
            </a:extLst>
          </p:cNvPr>
          <p:cNvPicPr>
            <a:picLocks noChangeAspect="1"/>
          </p:cNvPicPr>
          <p:nvPr/>
        </p:nvPicPr>
        <p:blipFill>
          <a:blip r:embed="rId5"/>
          <a:srcRect l="10395" r="10395" b="14845"/>
          <a:stretch>
            <a:fillRect/>
          </a:stretch>
        </p:blipFill>
        <p:spPr>
          <a:xfrm>
            <a:off x="8185638" y="2600284"/>
            <a:ext cx="3592840" cy="3413653"/>
          </a:xfrm>
          <a:prstGeom prst="rect">
            <a:avLst/>
          </a:prstGeom>
        </p:spPr>
      </p:pic>
      <p:sp>
        <p:nvSpPr>
          <p:cNvPr id="10" name="TextBox 9">
            <a:extLst>
              <a:ext uri="{FF2B5EF4-FFF2-40B4-BE49-F238E27FC236}">
                <a16:creationId xmlns:a16="http://schemas.microsoft.com/office/drawing/2014/main" id="{FABE8203-D33B-2808-82A9-30C1B4B3D36C}"/>
              </a:ext>
            </a:extLst>
          </p:cNvPr>
          <p:cNvSpPr txBox="1"/>
          <p:nvPr/>
        </p:nvSpPr>
        <p:spPr>
          <a:xfrm>
            <a:off x="0" y="6427113"/>
            <a:ext cx="11946835" cy="430887"/>
          </a:xfrm>
          <a:prstGeom prst="rect">
            <a:avLst/>
          </a:prstGeom>
          <a:noFill/>
        </p:spPr>
        <p:txBody>
          <a:bodyPr wrap="square">
            <a:spAutoFit/>
          </a:bodyPr>
          <a:lstStyle/>
          <a:p>
            <a:r>
              <a:rPr lang="en-US" sz="1100" dirty="0"/>
              <a:t>Fig. B: Figure 1, Abhishek Verma, Luis Pedrosa, Madhukar </a:t>
            </a:r>
            <a:r>
              <a:rPr lang="en-US" sz="1100" dirty="0" err="1"/>
              <a:t>Korupolu</a:t>
            </a:r>
            <a:r>
              <a:rPr lang="en-US" sz="1100" dirty="0"/>
              <a:t>, David Oppenheimer, Eric Tune, and John Wilkes. 2015. </a:t>
            </a:r>
            <a:r>
              <a:rPr lang="en-US" sz="1100" i="1" dirty="0"/>
              <a:t>Large-scale cluster management at Google with Borg</a:t>
            </a:r>
            <a:r>
              <a:rPr lang="en-US" sz="1100" dirty="0"/>
              <a:t>. In Proceedings of the Tenth European Conference on Computer Systems (</a:t>
            </a:r>
            <a:r>
              <a:rPr lang="en-US" sz="1100" dirty="0" err="1"/>
              <a:t>EuroSys</a:t>
            </a:r>
            <a:r>
              <a:rPr lang="en-US" sz="1100" dirty="0"/>
              <a:t> '15). Association for Computing Machinery, New York, NY, USA, Article 18, 1–17. https://doi.org/10.1145/2741948.2741964</a:t>
            </a:r>
          </a:p>
        </p:txBody>
      </p:sp>
      <p:sp>
        <p:nvSpPr>
          <p:cNvPr id="6" name="TextBox 5">
            <a:extLst>
              <a:ext uri="{FF2B5EF4-FFF2-40B4-BE49-F238E27FC236}">
                <a16:creationId xmlns:a16="http://schemas.microsoft.com/office/drawing/2014/main" id="{1C65CF18-E76E-2AD4-5FB9-333B5AC846B4}"/>
              </a:ext>
            </a:extLst>
          </p:cNvPr>
          <p:cNvSpPr txBox="1"/>
          <p:nvPr/>
        </p:nvSpPr>
        <p:spPr>
          <a:xfrm>
            <a:off x="11925581" y="6642556"/>
            <a:ext cx="293670" cy="215444"/>
          </a:xfrm>
          <a:prstGeom prst="rect">
            <a:avLst/>
          </a:prstGeom>
          <a:noFill/>
        </p:spPr>
        <p:txBody>
          <a:bodyPr wrap="none" rtlCol="0">
            <a:spAutoFit/>
          </a:bodyPr>
          <a:lstStyle/>
          <a:p>
            <a:pPr algn="ctr"/>
            <a:r>
              <a:rPr lang="en-US" sz="800" dirty="0"/>
              <a:t>11</a:t>
            </a:r>
          </a:p>
        </p:txBody>
      </p:sp>
      <p:sp>
        <p:nvSpPr>
          <p:cNvPr id="7" name="TextBox 6">
            <a:extLst>
              <a:ext uri="{FF2B5EF4-FFF2-40B4-BE49-F238E27FC236}">
                <a16:creationId xmlns:a16="http://schemas.microsoft.com/office/drawing/2014/main" id="{C27DE5DB-DD88-936F-A57E-18FD94D1D848}"/>
              </a:ext>
            </a:extLst>
          </p:cNvPr>
          <p:cNvSpPr txBox="1"/>
          <p:nvPr/>
        </p:nvSpPr>
        <p:spPr>
          <a:xfrm>
            <a:off x="9724615" y="5887264"/>
            <a:ext cx="514886" cy="261610"/>
          </a:xfrm>
          <a:prstGeom prst="rect">
            <a:avLst/>
          </a:prstGeom>
          <a:noFill/>
        </p:spPr>
        <p:txBody>
          <a:bodyPr wrap="none" rtlCol="0">
            <a:spAutoFit/>
          </a:bodyPr>
          <a:lstStyle/>
          <a:p>
            <a:pPr algn="ctr"/>
            <a:r>
              <a:rPr lang="en-US" sz="1100" dirty="0"/>
              <a:t>Fig. B</a:t>
            </a:r>
          </a:p>
        </p:txBody>
      </p:sp>
    </p:spTree>
    <p:extLst>
      <p:ext uri="{BB962C8B-B14F-4D97-AF65-F5344CB8AC3E}">
        <p14:creationId xmlns:p14="http://schemas.microsoft.com/office/powerpoint/2010/main" val="1794524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2CAC7-4FF8-12B0-9ECE-613CF86FEC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110C0-8E68-EB66-F693-2031E009D6FA}"/>
              </a:ext>
            </a:extLst>
          </p:cNvPr>
          <p:cNvSpPr>
            <a:spLocks noGrp="1"/>
          </p:cNvSpPr>
          <p:nvPr>
            <p:ph type="title"/>
          </p:nvPr>
        </p:nvSpPr>
        <p:spPr/>
        <p:txBody>
          <a:bodyPr/>
          <a:lstStyle/>
          <a:p>
            <a:r>
              <a:rPr lang="en-US" dirty="0"/>
              <a:t>	        </a:t>
            </a:r>
            <a:r>
              <a:rPr lang="en-US" sz="2800" dirty="0"/>
              <a:t> </a:t>
            </a:r>
            <a:r>
              <a:rPr lang="en-US" b="1" dirty="0"/>
              <a:t>Borg: How it saves money</a:t>
            </a:r>
          </a:p>
        </p:txBody>
      </p:sp>
      <p:sp>
        <p:nvSpPr>
          <p:cNvPr id="3" name="Content Placeholder 2">
            <a:extLst>
              <a:ext uri="{FF2B5EF4-FFF2-40B4-BE49-F238E27FC236}">
                <a16:creationId xmlns:a16="http://schemas.microsoft.com/office/drawing/2014/main" id="{08EAFF93-15F1-415C-2FB4-0FB6A8FA4F0C}"/>
              </a:ext>
            </a:extLst>
          </p:cNvPr>
          <p:cNvSpPr>
            <a:spLocks noGrp="1"/>
          </p:cNvSpPr>
          <p:nvPr>
            <p:ph idx="1"/>
          </p:nvPr>
        </p:nvSpPr>
        <p:spPr>
          <a:xfrm>
            <a:off x="838200" y="1825625"/>
            <a:ext cx="6837485" cy="4351338"/>
          </a:xfrm>
        </p:spPr>
        <p:txBody>
          <a:bodyPr>
            <a:normAutofit/>
          </a:bodyPr>
          <a:lstStyle/>
          <a:p>
            <a:r>
              <a:rPr lang="en-US" b="1" dirty="0"/>
              <a:t>Actively</a:t>
            </a:r>
            <a:r>
              <a:rPr lang="en-US" dirty="0"/>
              <a:t> mix two types of workloads: </a:t>
            </a:r>
          </a:p>
          <a:p>
            <a:pPr lvl="1"/>
            <a:r>
              <a:rPr lang="en-US" dirty="0"/>
              <a:t>Prod: latency-sensitive, high-priority, user-facing services</a:t>
            </a:r>
          </a:p>
          <a:p>
            <a:pPr lvl="2"/>
            <a:r>
              <a:rPr lang="en-US" dirty="0"/>
              <a:t>E.g. Google Search, Gmail</a:t>
            </a:r>
          </a:p>
          <a:p>
            <a:pPr lvl="1"/>
            <a:r>
              <a:rPr lang="en-US" dirty="0"/>
              <a:t>Non-Prod: lower-priority</a:t>
            </a:r>
          </a:p>
          <a:p>
            <a:pPr lvl="2"/>
            <a:r>
              <a:rPr lang="en-US" dirty="0"/>
              <a:t>E.g. MapReduce jobs</a:t>
            </a:r>
          </a:p>
          <a:p>
            <a:r>
              <a:rPr lang="en-US" dirty="0"/>
              <a:t>Monitoring of failures and automatic rescheduling</a:t>
            </a:r>
          </a:p>
          <a:p>
            <a:endParaRPr lang="en-US" dirty="0"/>
          </a:p>
        </p:txBody>
      </p:sp>
      <p:pic>
        <p:nvPicPr>
          <p:cNvPr id="8" name="Graphic 7">
            <a:extLst>
              <a:ext uri="{FF2B5EF4-FFF2-40B4-BE49-F238E27FC236}">
                <a16:creationId xmlns:a16="http://schemas.microsoft.com/office/drawing/2014/main" id="{7D87C61C-61BF-B503-B0C8-006A62A970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10" name="TextBox 9">
            <a:extLst>
              <a:ext uri="{FF2B5EF4-FFF2-40B4-BE49-F238E27FC236}">
                <a16:creationId xmlns:a16="http://schemas.microsoft.com/office/drawing/2014/main" id="{BA6AB56B-6007-B8AE-2CA0-AEA89D36B9C2}"/>
              </a:ext>
            </a:extLst>
          </p:cNvPr>
          <p:cNvSpPr txBox="1"/>
          <p:nvPr/>
        </p:nvSpPr>
        <p:spPr>
          <a:xfrm>
            <a:off x="0" y="6427113"/>
            <a:ext cx="11946835" cy="430887"/>
          </a:xfrm>
          <a:prstGeom prst="rect">
            <a:avLst/>
          </a:prstGeom>
          <a:noFill/>
        </p:spPr>
        <p:txBody>
          <a:bodyPr wrap="square">
            <a:spAutoFit/>
          </a:bodyPr>
          <a:lstStyle/>
          <a:p>
            <a:r>
              <a:rPr lang="en-US" sz="1100" dirty="0"/>
              <a:t>Fig. C: Figure 5a, Abhishek Verma, Luis Pedrosa, Madhukar </a:t>
            </a:r>
            <a:r>
              <a:rPr lang="en-US" sz="1100" dirty="0" err="1"/>
              <a:t>Korupolu</a:t>
            </a:r>
            <a:r>
              <a:rPr lang="en-US" sz="1100" dirty="0"/>
              <a:t>, David Oppenheimer, Eric Tune, and John Wilkes. 2015. </a:t>
            </a:r>
            <a:r>
              <a:rPr lang="en-US" sz="1100" i="1" dirty="0"/>
              <a:t>Large-scale cluster management at Google with Borg</a:t>
            </a:r>
            <a:r>
              <a:rPr lang="en-US" sz="1100" dirty="0"/>
              <a:t>. In Proceedings of the Tenth European Conference on Computer Systems (</a:t>
            </a:r>
            <a:r>
              <a:rPr lang="en-US" sz="1100" dirty="0" err="1"/>
              <a:t>EuroSys</a:t>
            </a:r>
            <a:r>
              <a:rPr lang="en-US" sz="1100" dirty="0"/>
              <a:t> '15). Association for Computing Machinery, New York, NY, USA, Article 18, 1–17. https://doi.org/10.1145/2741948.2741964</a:t>
            </a:r>
          </a:p>
        </p:txBody>
      </p:sp>
      <p:pic>
        <p:nvPicPr>
          <p:cNvPr id="6" name="Picture 5">
            <a:extLst>
              <a:ext uri="{FF2B5EF4-FFF2-40B4-BE49-F238E27FC236}">
                <a16:creationId xmlns:a16="http://schemas.microsoft.com/office/drawing/2014/main" id="{DF29A85C-06F6-44BE-7340-55837D0B946E}"/>
              </a:ext>
            </a:extLst>
          </p:cNvPr>
          <p:cNvPicPr>
            <a:picLocks noChangeAspect="1"/>
          </p:cNvPicPr>
          <p:nvPr/>
        </p:nvPicPr>
        <p:blipFill>
          <a:blip r:embed="rId5"/>
          <a:stretch>
            <a:fillRect/>
          </a:stretch>
        </p:blipFill>
        <p:spPr>
          <a:xfrm>
            <a:off x="6986594" y="2774373"/>
            <a:ext cx="4731641" cy="3402590"/>
          </a:xfrm>
          <a:prstGeom prst="rect">
            <a:avLst/>
          </a:prstGeom>
        </p:spPr>
      </p:pic>
      <p:sp>
        <p:nvSpPr>
          <p:cNvPr id="4" name="TextBox 3">
            <a:extLst>
              <a:ext uri="{FF2B5EF4-FFF2-40B4-BE49-F238E27FC236}">
                <a16:creationId xmlns:a16="http://schemas.microsoft.com/office/drawing/2014/main" id="{6F63AF25-6559-7901-BF83-05EDA143E3B8}"/>
              </a:ext>
            </a:extLst>
          </p:cNvPr>
          <p:cNvSpPr txBox="1"/>
          <p:nvPr/>
        </p:nvSpPr>
        <p:spPr>
          <a:xfrm>
            <a:off x="11925581" y="6642556"/>
            <a:ext cx="293670" cy="215444"/>
          </a:xfrm>
          <a:prstGeom prst="rect">
            <a:avLst/>
          </a:prstGeom>
          <a:noFill/>
        </p:spPr>
        <p:txBody>
          <a:bodyPr wrap="none" rtlCol="0">
            <a:spAutoFit/>
          </a:bodyPr>
          <a:lstStyle/>
          <a:p>
            <a:pPr algn="ctr"/>
            <a:r>
              <a:rPr lang="en-US" sz="800" dirty="0"/>
              <a:t>12</a:t>
            </a:r>
          </a:p>
        </p:txBody>
      </p:sp>
      <p:sp>
        <p:nvSpPr>
          <p:cNvPr id="5" name="TextBox 4">
            <a:extLst>
              <a:ext uri="{FF2B5EF4-FFF2-40B4-BE49-F238E27FC236}">
                <a16:creationId xmlns:a16="http://schemas.microsoft.com/office/drawing/2014/main" id="{0D10B20D-515B-321F-23CF-2DD3730030A4}"/>
              </a:ext>
            </a:extLst>
          </p:cNvPr>
          <p:cNvSpPr txBox="1"/>
          <p:nvPr/>
        </p:nvSpPr>
        <p:spPr>
          <a:xfrm>
            <a:off x="9341193" y="6040428"/>
            <a:ext cx="527710" cy="261610"/>
          </a:xfrm>
          <a:prstGeom prst="rect">
            <a:avLst/>
          </a:prstGeom>
          <a:noFill/>
        </p:spPr>
        <p:txBody>
          <a:bodyPr wrap="none" rtlCol="0">
            <a:spAutoFit/>
          </a:bodyPr>
          <a:lstStyle/>
          <a:p>
            <a:pPr algn="ctr"/>
            <a:r>
              <a:rPr lang="en-US" sz="1100" dirty="0"/>
              <a:t>Fig. C</a:t>
            </a:r>
          </a:p>
        </p:txBody>
      </p:sp>
    </p:spTree>
    <p:extLst>
      <p:ext uri="{BB962C8B-B14F-4D97-AF65-F5344CB8AC3E}">
        <p14:creationId xmlns:p14="http://schemas.microsoft.com/office/powerpoint/2010/main" val="134299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BE995-111C-F7F7-5917-2EA32B231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D91C3-E689-ED44-7532-CDBACA95757B}"/>
              </a:ext>
            </a:extLst>
          </p:cNvPr>
          <p:cNvSpPr>
            <a:spLocks noGrp="1"/>
          </p:cNvSpPr>
          <p:nvPr>
            <p:ph type="title"/>
          </p:nvPr>
        </p:nvSpPr>
        <p:spPr/>
        <p:txBody>
          <a:bodyPr/>
          <a:lstStyle/>
          <a:p>
            <a:r>
              <a:rPr lang="en-US" dirty="0"/>
              <a:t>	        </a:t>
            </a:r>
            <a:r>
              <a:rPr lang="en-US" sz="2800" dirty="0"/>
              <a:t> </a:t>
            </a:r>
            <a:r>
              <a:rPr lang="en-US" b="1" dirty="0"/>
              <a:t>Borg: Lessons</a:t>
            </a:r>
          </a:p>
        </p:txBody>
      </p:sp>
      <p:pic>
        <p:nvPicPr>
          <p:cNvPr id="8" name="Graphic 7">
            <a:extLst>
              <a:ext uri="{FF2B5EF4-FFF2-40B4-BE49-F238E27FC236}">
                <a16:creationId xmlns:a16="http://schemas.microsoft.com/office/drawing/2014/main" id="{405A06BE-6E4D-7C14-73FB-F73DE0507B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10" name="TextBox 9">
            <a:extLst>
              <a:ext uri="{FF2B5EF4-FFF2-40B4-BE49-F238E27FC236}">
                <a16:creationId xmlns:a16="http://schemas.microsoft.com/office/drawing/2014/main" id="{92EBFAAE-399A-5D64-5833-D4C445C6FB6B}"/>
              </a:ext>
            </a:extLst>
          </p:cNvPr>
          <p:cNvSpPr txBox="1"/>
          <p:nvPr/>
        </p:nvSpPr>
        <p:spPr>
          <a:xfrm>
            <a:off x="0" y="6427113"/>
            <a:ext cx="11946835" cy="430887"/>
          </a:xfrm>
          <a:prstGeom prst="rect">
            <a:avLst/>
          </a:prstGeom>
          <a:noFill/>
        </p:spPr>
        <p:txBody>
          <a:bodyPr wrap="square">
            <a:spAutoFit/>
          </a:bodyPr>
          <a:lstStyle/>
          <a:p>
            <a:r>
              <a:rPr lang="en-US" sz="1100" dirty="0"/>
              <a:t>Abhishek Verma, Luis Pedrosa, Madhukar </a:t>
            </a:r>
            <a:r>
              <a:rPr lang="en-US" sz="1100" dirty="0" err="1"/>
              <a:t>Korupolu</a:t>
            </a:r>
            <a:r>
              <a:rPr lang="en-US" sz="1100" dirty="0"/>
              <a:t>, David Oppenheimer, Eric Tune, and John Wilkes. 2015. </a:t>
            </a:r>
            <a:r>
              <a:rPr lang="en-US" sz="1100" i="1" dirty="0"/>
              <a:t>Large-scale cluster management at Google with Borg</a:t>
            </a:r>
            <a:r>
              <a:rPr lang="en-US" sz="1100" dirty="0"/>
              <a:t>. In Proceedings of the Tenth European Conference on Computer Systems (</a:t>
            </a:r>
            <a:r>
              <a:rPr lang="en-US" sz="1100" dirty="0" err="1"/>
              <a:t>EuroSys</a:t>
            </a:r>
            <a:r>
              <a:rPr lang="en-US" sz="1100" dirty="0"/>
              <a:t> '15). Association for Computing Machinery, New York, NY, USA, Article 18, 1–17. https://doi.org/10.1145/2741948.2741964</a:t>
            </a:r>
          </a:p>
        </p:txBody>
      </p:sp>
      <p:sp>
        <p:nvSpPr>
          <p:cNvPr id="5" name="Content Placeholder 2">
            <a:extLst>
              <a:ext uri="{FF2B5EF4-FFF2-40B4-BE49-F238E27FC236}">
                <a16:creationId xmlns:a16="http://schemas.microsoft.com/office/drawing/2014/main" id="{22BA8A9B-566E-E9AA-AAB3-679106BB82DB}"/>
              </a:ext>
            </a:extLst>
          </p:cNvPr>
          <p:cNvSpPr>
            <a:spLocks noGrp="1"/>
          </p:cNvSpPr>
          <p:nvPr>
            <p:ph idx="1"/>
          </p:nvPr>
        </p:nvSpPr>
        <p:spPr>
          <a:xfrm>
            <a:off x="838200" y="1825625"/>
            <a:ext cx="10515600" cy="4351338"/>
          </a:xfrm>
        </p:spPr>
        <p:txBody>
          <a:bodyPr/>
          <a:lstStyle/>
          <a:p>
            <a:r>
              <a:rPr lang="en-US" dirty="0"/>
              <a:t>Problems: </a:t>
            </a:r>
          </a:p>
          <a:p>
            <a:pPr lvl="1"/>
            <a:r>
              <a:rPr lang="en-US" dirty="0"/>
              <a:t>Cannot manage a multi-job service as a single entity – burdens on the “user” side (developers)</a:t>
            </a:r>
          </a:p>
          <a:p>
            <a:pPr lvl="1"/>
            <a:r>
              <a:rPr lang="en-US" dirty="0"/>
              <a:t>DSL becomes too complex – slows down running new tasks</a:t>
            </a:r>
          </a:p>
          <a:p>
            <a:r>
              <a:rPr lang="en-US" dirty="0"/>
              <a:t>Takeaways:</a:t>
            </a:r>
          </a:p>
          <a:p>
            <a:pPr lvl="1"/>
            <a:r>
              <a:rPr lang="en-US" dirty="0"/>
              <a:t>Nested containers: outer ones manage resources, inner ones isolate environments</a:t>
            </a:r>
          </a:p>
          <a:p>
            <a:pPr lvl="1"/>
            <a:r>
              <a:rPr lang="en-US" dirty="0"/>
              <a:t>Master as “Kernel”: central core state manager as an API, other components can build on top of it</a:t>
            </a:r>
          </a:p>
          <a:p>
            <a:pPr lvl="1"/>
            <a:r>
              <a:rPr lang="en-US" dirty="0"/>
              <a:t>Deep visibility into the cluster for easier debugging when jobs didn’t run</a:t>
            </a:r>
          </a:p>
        </p:txBody>
      </p:sp>
      <p:sp>
        <p:nvSpPr>
          <p:cNvPr id="4" name="TextBox 3">
            <a:extLst>
              <a:ext uri="{FF2B5EF4-FFF2-40B4-BE49-F238E27FC236}">
                <a16:creationId xmlns:a16="http://schemas.microsoft.com/office/drawing/2014/main" id="{838E0AD8-96B4-2573-80A3-2153821EDA8B}"/>
              </a:ext>
            </a:extLst>
          </p:cNvPr>
          <p:cNvSpPr txBox="1"/>
          <p:nvPr/>
        </p:nvSpPr>
        <p:spPr>
          <a:xfrm>
            <a:off x="11925581" y="6642556"/>
            <a:ext cx="293670" cy="215444"/>
          </a:xfrm>
          <a:prstGeom prst="rect">
            <a:avLst/>
          </a:prstGeom>
          <a:noFill/>
        </p:spPr>
        <p:txBody>
          <a:bodyPr wrap="none" rtlCol="0">
            <a:spAutoFit/>
          </a:bodyPr>
          <a:lstStyle/>
          <a:p>
            <a:pPr algn="ctr"/>
            <a:r>
              <a:rPr lang="en-US" sz="800" dirty="0"/>
              <a:t>13</a:t>
            </a:r>
          </a:p>
        </p:txBody>
      </p:sp>
    </p:spTree>
    <p:extLst>
      <p:ext uri="{BB962C8B-B14F-4D97-AF65-F5344CB8AC3E}">
        <p14:creationId xmlns:p14="http://schemas.microsoft.com/office/powerpoint/2010/main" val="1405641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F4285-1438-6607-E471-588223EA4C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474F0-C994-18F8-9A90-FEA95BCD580E}"/>
              </a:ext>
            </a:extLst>
          </p:cNvPr>
          <p:cNvSpPr>
            <a:spLocks noGrp="1"/>
          </p:cNvSpPr>
          <p:nvPr>
            <p:ph type="title"/>
          </p:nvPr>
        </p:nvSpPr>
        <p:spPr/>
        <p:txBody>
          <a:bodyPr/>
          <a:lstStyle/>
          <a:p>
            <a:r>
              <a:rPr lang="en-US" dirty="0"/>
              <a:t>	        </a:t>
            </a:r>
            <a:r>
              <a:rPr lang="en-US" sz="2800" dirty="0"/>
              <a:t> </a:t>
            </a:r>
            <a:r>
              <a:rPr lang="en-US" b="1" dirty="0"/>
              <a:t>Omega: Design</a:t>
            </a:r>
          </a:p>
        </p:txBody>
      </p:sp>
      <p:sp>
        <p:nvSpPr>
          <p:cNvPr id="3" name="Content Placeholder 2">
            <a:extLst>
              <a:ext uri="{FF2B5EF4-FFF2-40B4-BE49-F238E27FC236}">
                <a16:creationId xmlns:a16="http://schemas.microsoft.com/office/drawing/2014/main" id="{6459544A-D558-2594-73A6-C4A01AB0D3A6}"/>
              </a:ext>
            </a:extLst>
          </p:cNvPr>
          <p:cNvSpPr>
            <a:spLocks noGrp="1"/>
          </p:cNvSpPr>
          <p:nvPr>
            <p:ph idx="1"/>
          </p:nvPr>
        </p:nvSpPr>
        <p:spPr/>
        <p:txBody>
          <a:bodyPr>
            <a:normAutofit fontScale="92500" lnSpcReduction="10000"/>
          </a:bodyPr>
          <a:lstStyle/>
          <a:p>
            <a:r>
              <a:rPr lang="en-US" dirty="0"/>
              <a:t>The shift to </a:t>
            </a:r>
            <a:r>
              <a:rPr lang="en-US" b="1" dirty="0"/>
              <a:t>shared-state scheduling </a:t>
            </a:r>
            <a:r>
              <a:rPr lang="en-US" dirty="0"/>
              <a:t>and </a:t>
            </a:r>
            <a:r>
              <a:rPr lang="en-US" b="1" dirty="0"/>
              <a:t>optimistic concurrency control</a:t>
            </a:r>
          </a:p>
          <a:p>
            <a:r>
              <a:rPr lang="en-US" dirty="0"/>
              <a:t>Independent and parallel schedulers for resource allocation:</a:t>
            </a:r>
          </a:p>
          <a:p>
            <a:pPr lvl="1"/>
            <a:r>
              <a:rPr lang="en-US" dirty="0"/>
              <a:t>Access to a private copy of full cluster state</a:t>
            </a:r>
          </a:p>
          <a:p>
            <a:pPr lvl="1"/>
            <a:r>
              <a:rPr lang="en-US" dirty="0"/>
              <a:t>Compete for available resources (optimistic)</a:t>
            </a:r>
          </a:p>
          <a:p>
            <a:r>
              <a:rPr lang="en-US" i="1" dirty="0"/>
              <a:t>In conflict</a:t>
            </a:r>
            <a:r>
              <a:rPr lang="en-US" dirty="0"/>
              <a:t>:</a:t>
            </a:r>
          </a:p>
          <a:p>
            <a:pPr lvl="1"/>
            <a:r>
              <a:rPr lang="en-US" dirty="0"/>
              <a:t>Transaction fails</a:t>
            </a:r>
          </a:p>
          <a:p>
            <a:pPr lvl="1"/>
            <a:r>
              <a:rPr lang="en-US" dirty="0"/>
              <a:t>Scheduler resynchronize its state</a:t>
            </a:r>
          </a:p>
          <a:p>
            <a:r>
              <a:rPr lang="en-US" dirty="0"/>
              <a:t>Benefits: </a:t>
            </a:r>
          </a:p>
          <a:p>
            <a:pPr lvl="1"/>
            <a:r>
              <a:rPr lang="en-US" dirty="0"/>
              <a:t>Supports </a:t>
            </a:r>
            <a:r>
              <a:rPr lang="en-US" b="1" dirty="0"/>
              <a:t>specialized schedulers</a:t>
            </a:r>
          </a:p>
          <a:p>
            <a:pPr lvl="1"/>
            <a:r>
              <a:rPr lang="en-US" b="1" dirty="0"/>
              <a:t>Better utilization </a:t>
            </a:r>
            <a:r>
              <a:rPr lang="en-US" dirty="0"/>
              <a:t>of idle resources</a:t>
            </a:r>
          </a:p>
        </p:txBody>
      </p:sp>
      <p:pic>
        <p:nvPicPr>
          <p:cNvPr id="8" name="Graphic 7">
            <a:extLst>
              <a:ext uri="{FF2B5EF4-FFF2-40B4-BE49-F238E27FC236}">
                <a16:creationId xmlns:a16="http://schemas.microsoft.com/office/drawing/2014/main" id="{D73152A0-53F9-9280-3177-EA13932227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6" name="TextBox 5">
            <a:extLst>
              <a:ext uri="{FF2B5EF4-FFF2-40B4-BE49-F238E27FC236}">
                <a16:creationId xmlns:a16="http://schemas.microsoft.com/office/drawing/2014/main" id="{CD5DCC7D-3F35-8E5C-608E-6EA90AC0F7EF}"/>
              </a:ext>
            </a:extLst>
          </p:cNvPr>
          <p:cNvSpPr txBox="1"/>
          <p:nvPr/>
        </p:nvSpPr>
        <p:spPr>
          <a:xfrm>
            <a:off x="-1" y="6596390"/>
            <a:ext cx="7060223" cy="261610"/>
          </a:xfrm>
          <a:prstGeom prst="rect">
            <a:avLst/>
          </a:prstGeom>
          <a:noFill/>
        </p:spPr>
        <p:txBody>
          <a:bodyPr wrap="square">
            <a:spAutoFit/>
          </a:bodyPr>
          <a:lstStyle/>
          <a:p>
            <a:r>
              <a:rPr lang="en-US" sz="1100" dirty="0"/>
              <a:t>Fig. D: Figure 1, Abd-El-Malek, M., &amp; Wilkes, J. Omega: flexible, scalable schedulers for large compute clusters.</a:t>
            </a:r>
          </a:p>
        </p:txBody>
      </p:sp>
      <p:pic>
        <p:nvPicPr>
          <p:cNvPr id="9" name="Picture 8">
            <a:extLst>
              <a:ext uri="{FF2B5EF4-FFF2-40B4-BE49-F238E27FC236}">
                <a16:creationId xmlns:a16="http://schemas.microsoft.com/office/drawing/2014/main" id="{EE77526B-1133-A61F-4C35-47811B309644}"/>
              </a:ext>
            </a:extLst>
          </p:cNvPr>
          <p:cNvPicPr>
            <a:picLocks noChangeAspect="1"/>
          </p:cNvPicPr>
          <p:nvPr/>
        </p:nvPicPr>
        <p:blipFill>
          <a:blip r:embed="rId5"/>
          <a:stretch>
            <a:fillRect/>
          </a:stretch>
        </p:blipFill>
        <p:spPr>
          <a:xfrm>
            <a:off x="6646018" y="4020677"/>
            <a:ext cx="4707782" cy="2472198"/>
          </a:xfrm>
          <a:prstGeom prst="rect">
            <a:avLst/>
          </a:prstGeom>
        </p:spPr>
      </p:pic>
      <p:sp>
        <p:nvSpPr>
          <p:cNvPr id="7" name="TextBox 6">
            <a:extLst>
              <a:ext uri="{FF2B5EF4-FFF2-40B4-BE49-F238E27FC236}">
                <a16:creationId xmlns:a16="http://schemas.microsoft.com/office/drawing/2014/main" id="{45729A9D-8DC1-0F26-9E41-7DC686AF1109}"/>
              </a:ext>
            </a:extLst>
          </p:cNvPr>
          <p:cNvSpPr txBox="1"/>
          <p:nvPr/>
        </p:nvSpPr>
        <p:spPr>
          <a:xfrm>
            <a:off x="11925581" y="6642556"/>
            <a:ext cx="293670" cy="215444"/>
          </a:xfrm>
          <a:prstGeom prst="rect">
            <a:avLst/>
          </a:prstGeom>
          <a:noFill/>
        </p:spPr>
        <p:txBody>
          <a:bodyPr wrap="none" rtlCol="0">
            <a:spAutoFit/>
          </a:bodyPr>
          <a:lstStyle/>
          <a:p>
            <a:pPr algn="ctr"/>
            <a:r>
              <a:rPr lang="en-US" sz="800" dirty="0"/>
              <a:t>14</a:t>
            </a:r>
          </a:p>
        </p:txBody>
      </p:sp>
      <p:sp>
        <p:nvSpPr>
          <p:cNvPr id="10" name="TextBox 9">
            <a:extLst>
              <a:ext uri="{FF2B5EF4-FFF2-40B4-BE49-F238E27FC236}">
                <a16:creationId xmlns:a16="http://schemas.microsoft.com/office/drawing/2014/main" id="{E55DBDF8-16C2-5436-DBF6-B11A0C8EF80C}"/>
              </a:ext>
            </a:extLst>
          </p:cNvPr>
          <p:cNvSpPr txBox="1"/>
          <p:nvPr/>
        </p:nvSpPr>
        <p:spPr>
          <a:xfrm>
            <a:off x="8736856" y="6380946"/>
            <a:ext cx="526106" cy="261610"/>
          </a:xfrm>
          <a:prstGeom prst="rect">
            <a:avLst/>
          </a:prstGeom>
          <a:noFill/>
        </p:spPr>
        <p:txBody>
          <a:bodyPr wrap="none" rtlCol="0">
            <a:spAutoFit/>
          </a:bodyPr>
          <a:lstStyle/>
          <a:p>
            <a:pPr algn="ctr"/>
            <a:r>
              <a:rPr lang="en-US" sz="1100" dirty="0"/>
              <a:t>Fig. D</a:t>
            </a:r>
          </a:p>
        </p:txBody>
      </p:sp>
    </p:spTree>
    <p:extLst>
      <p:ext uri="{BB962C8B-B14F-4D97-AF65-F5344CB8AC3E}">
        <p14:creationId xmlns:p14="http://schemas.microsoft.com/office/powerpoint/2010/main" val="1136943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1D22D-5934-D80A-6EC0-9A8172EF7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7EF5A-FC25-9396-0BA9-88AA003EC168}"/>
              </a:ext>
            </a:extLst>
          </p:cNvPr>
          <p:cNvSpPr>
            <a:spLocks noGrp="1"/>
          </p:cNvSpPr>
          <p:nvPr>
            <p:ph type="title"/>
          </p:nvPr>
        </p:nvSpPr>
        <p:spPr/>
        <p:txBody>
          <a:bodyPr/>
          <a:lstStyle/>
          <a:p>
            <a:r>
              <a:rPr lang="en-US" dirty="0"/>
              <a:t>	        </a:t>
            </a:r>
            <a:r>
              <a:rPr lang="en-US" sz="2800" dirty="0"/>
              <a:t> </a:t>
            </a:r>
            <a:r>
              <a:rPr lang="en-US" b="1" dirty="0"/>
              <a:t>Omega: Experiments</a:t>
            </a:r>
          </a:p>
        </p:txBody>
      </p:sp>
      <p:sp>
        <p:nvSpPr>
          <p:cNvPr id="3" name="Content Placeholder 2">
            <a:extLst>
              <a:ext uri="{FF2B5EF4-FFF2-40B4-BE49-F238E27FC236}">
                <a16:creationId xmlns:a16="http://schemas.microsoft.com/office/drawing/2014/main" id="{BB059126-03E2-25CE-36C6-64E9287FC0D1}"/>
              </a:ext>
            </a:extLst>
          </p:cNvPr>
          <p:cNvSpPr>
            <a:spLocks noGrp="1"/>
          </p:cNvSpPr>
          <p:nvPr>
            <p:ph idx="1"/>
          </p:nvPr>
        </p:nvSpPr>
        <p:spPr/>
        <p:txBody>
          <a:bodyPr>
            <a:normAutofit/>
          </a:bodyPr>
          <a:lstStyle/>
          <a:p>
            <a:endParaRPr lang="en-US" dirty="0"/>
          </a:p>
        </p:txBody>
      </p:sp>
      <p:pic>
        <p:nvPicPr>
          <p:cNvPr id="8" name="Graphic 7">
            <a:extLst>
              <a:ext uri="{FF2B5EF4-FFF2-40B4-BE49-F238E27FC236}">
                <a16:creationId xmlns:a16="http://schemas.microsoft.com/office/drawing/2014/main" id="{54B32653-DF0E-CF65-643E-9B4E945748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6" name="TextBox 5">
            <a:extLst>
              <a:ext uri="{FF2B5EF4-FFF2-40B4-BE49-F238E27FC236}">
                <a16:creationId xmlns:a16="http://schemas.microsoft.com/office/drawing/2014/main" id="{7A367DD3-986A-EB3E-83F3-48840D874581}"/>
              </a:ext>
            </a:extLst>
          </p:cNvPr>
          <p:cNvSpPr txBox="1"/>
          <p:nvPr/>
        </p:nvSpPr>
        <p:spPr>
          <a:xfrm>
            <a:off x="-1" y="6596390"/>
            <a:ext cx="8036561" cy="261610"/>
          </a:xfrm>
          <a:prstGeom prst="rect">
            <a:avLst/>
          </a:prstGeom>
          <a:noFill/>
        </p:spPr>
        <p:txBody>
          <a:bodyPr wrap="square">
            <a:spAutoFit/>
          </a:bodyPr>
          <a:lstStyle/>
          <a:p>
            <a:r>
              <a:rPr lang="en-US" sz="1100" dirty="0"/>
              <a:t>Fig. E: Figure 5 and 6, Abd-El-Malek, M., &amp; Wilkes, J. Omega: flexible, scalable schedulers for large compute clusters.</a:t>
            </a:r>
          </a:p>
        </p:txBody>
      </p:sp>
      <p:pic>
        <p:nvPicPr>
          <p:cNvPr id="5" name="Picture 4">
            <a:extLst>
              <a:ext uri="{FF2B5EF4-FFF2-40B4-BE49-F238E27FC236}">
                <a16:creationId xmlns:a16="http://schemas.microsoft.com/office/drawing/2014/main" id="{B956D2A9-4D42-6ACC-80AC-32600C010FE8}"/>
              </a:ext>
            </a:extLst>
          </p:cNvPr>
          <p:cNvPicPr>
            <a:picLocks noChangeAspect="1"/>
          </p:cNvPicPr>
          <p:nvPr/>
        </p:nvPicPr>
        <p:blipFill>
          <a:blip r:embed="rId5"/>
          <a:stretch>
            <a:fillRect/>
          </a:stretch>
        </p:blipFill>
        <p:spPr>
          <a:xfrm>
            <a:off x="1578313" y="1586355"/>
            <a:ext cx="9035373" cy="2518054"/>
          </a:xfrm>
          <a:prstGeom prst="rect">
            <a:avLst/>
          </a:prstGeom>
        </p:spPr>
      </p:pic>
      <p:pic>
        <p:nvPicPr>
          <p:cNvPr id="10" name="Picture 9">
            <a:extLst>
              <a:ext uri="{FF2B5EF4-FFF2-40B4-BE49-F238E27FC236}">
                <a16:creationId xmlns:a16="http://schemas.microsoft.com/office/drawing/2014/main" id="{F592BB0C-1E12-F644-C37C-A3C6577F9CD8}"/>
              </a:ext>
            </a:extLst>
          </p:cNvPr>
          <p:cNvPicPr>
            <a:picLocks noChangeAspect="1"/>
          </p:cNvPicPr>
          <p:nvPr/>
        </p:nvPicPr>
        <p:blipFill>
          <a:blip r:embed="rId6"/>
          <a:stretch>
            <a:fillRect/>
          </a:stretch>
        </p:blipFill>
        <p:spPr>
          <a:xfrm>
            <a:off x="1492518" y="4104409"/>
            <a:ext cx="9206962" cy="2555016"/>
          </a:xfrm>
          <a:prstGeom prst="rect">
            <a:avLst/>
          </a:prstGeom>
        </p:spPr>
      </p:pic>
      <p:sp>
        <p:nvSpPr>
          <p:cNvPr id="12" name="TextBox 11">
            <a:extLst>
              <a:ext uri="{FF2B5EF4-FFF2-40B4-BE49-F238E27FC236}">
                <a16:creationId xmlns:a16="http://schemas.microsoft.com/office/drawing/2014/main" id="{B2A0A4E5-C4B0-80BB-7C45-B44131683400}"/>
              </a:ext>
            </a:extLst>
          </p:cNvPr>
          <p:cNvSpPr txBox="1"/>
          <p:nvPr/>
        </p:nvSpPr>
        <p:spPr>
          <a:xfrm>
            <a:off x="11925581" y="6642556"/>
            <a:ext cx="293670" cy="215444"/>
          </a:xfrm>
          <a:prstGeom prst="rect">
            <a:avLst/>
          </a:prstGeom>
          <a:noFill/>
        </p:spPr>
        <p:txBody>
          <a:bodyPr wrap="none" rtlCol="0">
            <a:spAutoFit/>
          </a:bodyPr>
          <a:lstStyle/>
          <a:p>
            <a:pPr algn="ctr"/>
            <a:r>
              <a:rPr lang="en-US" sz="800" dirty="0"/>
              <a:t>15</a:t>
            </a:r>
          </a:p>
        </p:txBody>
      </p:sp>
      <p:sp>
        <p:nvSpPr>
          <p:cNvPr id="13" name="TextBox 12">
            <a:extLst>
              <a:ext uri="{FF2B5EF4-FFF2-40B4-BE49-F238E27FC236}">
                <a16:creationId xmlns:a16="http://schemas.microsoft.com/office/drawing/2014/main" id="{EF55C3AB-332B-F959-9267-9E3DDA0582E9}"/>
              </a:ext>
            </a:extLst>
          </p:cNvPr>
          <p:cNvSpPr txBox="1"/>
          <p:nvPr/>
        </p:nvSpPr>
        <p:spPr>
          <a:xfrm>
            <a:off x="5841762" y="1485107"/>
            <a:ext cx="508474" cy="261610"/>
          </a:xfrm>
          <a:prstGeom prst="rect">
            <a:avLst/>
          </a:prstGeom>
          <a:noFill/>
        </p:spPr>
        <p:txBody>
          <a:bodyPr wrap="none" rtlCol="0">
            <a:spAutoFit/>
          </a:bodyPr>
          <a:lstStyle/>
          <a:p>
            <a:pPr algn="ctr"/>
            <a:r>
              <a:rPr lang="en-US" sz="1100" dirty="0"/>
              <a:t>Fig. E</a:t>
            </a:r>
          </a:p>
        </p:txBody>
      </p:sp>
    </p:spTree>
    <p:extLst>
      <p:ext uri="{BB962C8B-B14F-4D97-AF65-F5344CB8AC3E}">
        <p14:creationId xmlns:p14="http://schemas.microsoft.com/office/powerpoint/2010/main" val="3220693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595E8-1369-D2EC-A905-4A3CEB0692A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1D20C1-0AB9-7A6F-4CBB-387A70F73564}"/>
              </a:ext>
            </a:extLst>
          </p:cNvPr>
          <p:cNvPicPr>
            <a:picLocks noChangeAspect="1"/>
          </p:cNvPicPr>
          <p:nvPr/>
        </p:nvPicPr>
        <p:blipFill>
          <a:blip r:embed="rId3"/>
          <a:stretch>
            <a:fillRect/>
          </a:stretch>
        </p:blipFill>
        <p:spPr>
          <a:xfrm>
            <a:off x="4075041" y="2293270"/>
            <a:ext cx="2049452" cy="4303120"/>
          </a:xfrm>
          <a:prstGeom prst="rect">
            <a:avLst/>
          </a:prstGeom>
        </p:spPr>
      </p:pic>
      <p:sp>
        <p:nvSpPr>
          <p:cNvPr id="2" name="Title 1">
            <a:extLst>
              <a:ext uri="{FF2B5EF4-FFF2-40B4-BE49-F238E27FC236}">
                <a16:creationId xmlns:a16="http://schemas.microsoft.com/office/drawing/2014/main" id="{66040EC4-80AF-64A6-1F0D-8F67ED346B1E}"/>
              </a:ext>
            </a:extLst>
          </p:cNvPr>
          <p:cNvSpPr>
            <a:spLocks noGrp="1"/>
          </p:cNvSpPr>
          <p:nvPr>
            <p:ph type="title"/>
          </p:nvPr>
        </p:nvSpPr>
        <p:spPr/>
        <p:txBody>
          <a:bodyPr/>
          <a:lstStyle/>
          <a:p>
            <a:r>
              <a:rPr lang="en-US" dirty="0"/>
              <a:t>				: </a:t>
            </a:r>
            <a:r>
              <a:rPr lang="en-US" b="1" dirty="0"/>
              <a:t>the open-source synthesis</a:t>
            </a:r>
          </a:p>
        </p:txBody>
      </p:sp>
      <p:sp>
        <p:nvSpPr>
          <p:cNvPr id="3" name="Content Placeholder 2">
            <a:extLst>
              <a:ext uri="{FF2B5EF4-FFF2-40B4-BE49-F238E27FC236}">
                <a16:creationId xmlns:a16="http://schemas.microsoft.com/office/drawing/2014/main" id="{FFD0F10E-3133-6A38-9BDD-A0E5E25C3DF2}"/>
              </a:ext>
            </a:extLst>
          </p:cNvPr>
          <p:cNvSpPr>
            <a:spLocks noGrp="1"/>
          </p:cNvSpPr>
          <p:nvPr>
            <p:ph idx="1"/>
          </p:nvPr>
        </p:nvSpPr>
        <p:spPr/>
        <p:txBody>
          <a:bodyPr/>
          <a:lstStyle/>
          <a:p>
            <a:r>
              <a:rPr lang="en-US" dirty="0"/>
              <a:t>Built on top of Google’s lessons from Borg and Omega</a:t>
            </a:r>
          </a:p>
        </p:txBody>
      </p:sp>
      <p:pic>
        <p:nvPicPr>
          <p:cNvPr id="6" name="Picture 5">
            <a:extLst>
              <a:ext uri="{FF2B5EF4-FFF2-40B4-BE49-F238E27FC236}">
                <a16:creationId xmlns:a16="http://schemas.microsoft.com/office/drawing/2014/main" id="{C201CAE4-D2DB-C8AE-EB7B-3F9F93C509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839" y="531674"/>
            <a:ext cx="3821652" cy="9265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316FA0-2F02-BEF8-2D11-8A1B5A4134E0}"/>
              </a:ext>
            </a:extLst>
          </p:cNvPr>
          <p:cNvSpPr txBox="1"/>
          <p:nvPr/>
        </p:nvSpPr>
        <p:spPr>
          <a:xfrm>
            <a:off x="0" y="6596390"/>
            <a:ext cx="9377570" cy="261610"/>
          </a:xfrm>
          <a:prstGeom prst="rect">
            <a:avLst/>
          </a:prstGeom>
          <a:noFill/>
        </p:spPr>
        <p:txBody>
          <a:bodyPr wrap="square">
            <a:spAutoFit/>
          </a:bodyPr>
          <a:lstStyle/>
          <a:p>
            <a:r>
              <a:rPr lang="en-US" sz="1100" dirty="0"/>
              <a:t>Fig. F: Figure 1, https://kubernetes.io/docs/concepts/architecture/</a:t>
            </a:r>
          </a:p>
        </p:txBody>
      </p:sp>
      <p:pic>
        <p:nvPicPr>
          <p:cNvPr id="13" name="Picture 12">
            <a:extLst>
              <a:ext uri="{FF2B5EF4-FFF2-40B4-BE49-F238E27FC236}">
                <a16:creationId xmlns:a16="http://schemas.microsoft.com/office/drawing/2014/main" id="{7CE884B6-86D8-3446-D3DD-139EE8DE21E1}"/>
              </a:ext>
            </a:extLst>
          </p:cNvPr>
          <p:cNvPicPr>
            <a:picLocks noChangeAspect="1"/>
          </p:cNvPicPr>
          <p:nvPr/>
        </p:nvPicPr>
        <p:blipFill>
          <a:blip r:embed="rId5"/>
          <a:srcRect l="4868" t="5319" r="508" b="5392"/>
          <a:stretch>
            <a:fillRect/>
          </a:stretch>
        </p:blipFill>
        <p:spPr>
          <a:xfrm>
            <a:off x="2474842" y="2294458"/>
            <a:ext cx="7242316" cy="4301932"/>
          </a:xfrm>
          <a:prstGeom prst="rect">
            <a:avLst/>
          </a:prstGeom>
        </p:spPr>
      </p:pic>
      <p:sp>
        <p:nvSpPr>
          <p:cNvPr id="5" name="TextBox 4">
            <a:extLst>
              <a:ext uri="{FF2B5EF4-FFF2-40B4-BE49-F238E27FC236}">
                <a16:creationId xmlns:a16="http://schemas.microsoft.com/office/drawing/2014/main" id="{38CD226D-476D-F060-DD7F-9E27487137A0}"/>
              </a:ext>
            </a:extLst>
          </p:cNvPr>
          <p:cNvSpPr txBox="1"/>
          <p:nvPr/>
        </p:nvSpPr>
        <p:spPr>
          <a:xfrm>
            <a:off x="11925581" y="6642556"/>
            <a:ext cx="293670" cy="215444"/>
          </a:xfrm>
          <a:prstGeom prst="rect">
            <a:avLst/>
          </a:prstGeom>
          <a:noFill/>
        </p:spPr>
        <p:txBody>
          <a:bodyPr wrap="none" rtlCol="0">
            <a:spAutoFit/>
          </a:bodyPr>
          <a:lstStyle/>
          <a:p>
            <a:pPr algn="ctr"/>
            <a:r>
              <a:rPr lang="en-US" sz="800" dirty="0"/>
              <a:t>16</a:t>
            </a:r>
          </a:p>
        </p:txBody>
      </p:sp>
      <p:sp>
        <p:nvSpPr>
          <p:cNvPr id="8" name="TextBox 7">
            <a:extLst>
              <a:ext uri="{FF2B5EF4-FFF2-40B4-BE49-F238E27FC236}">
                <a16:creationId xmlns:a16="http://schemas.microsoft.com/office/drawing/2014/main" id="{BF76B0F5-BA7F-FF8E-DBCE-93A065FA298E}"/>
              </a:ext>
            </a:extLst>
          </p:cNvPr>
          <p:cNvSpPr txBox="1"/>
          <p:nvPr/>
        </p:nvSpPr>
        <p:spPr>
          <a:xfrm>
            <a:off x="5333911" y="6329829"/>
            <a:ext cx="503664" cy="261610"/>
          </a:xfrm>
          <a:prstGeom prst="rect">
            <a:avLst/>
          </a:prstGeom>
          <a:noFill/>
        </p:spPr>
        <p:txBody>
          <a:bodyPr wrap="none" rtlCol="0">
            <a:spAutoFit/>
          </a:bodyPr>
          <a:lstStyle/>
          <a:p>
            <a:pPr algn="ctr"/>
            <a:r>
              <a:rPr lang="en-US" sz="1100" dirty="0"/>
              <a:t>Fig. F</a:t>
            </a:r>
          </a:p>
        </p:txBody>
      </p:sp>
    </p:spTree>
    <p:extLst>
      <p:ext uri="{BB962C8B-B14F-4D97-AF65-F5344CB8AC3E}">
        <p14:creationId xmlns:p14="http://schemas.microsoft.com/office/powerpoint/2010/main" val="35245492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02D80-5676-1E76-83C2-49A7D1895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140B1-8637-6A5E-BFA3-21BC8A09BD8D}"/>
              </a:ext>
            </a:extLst>
          </p:cNvPr>
          <p:cNvSpPr>
            <a:spLocks noGrp="1"/>
          </p:cNvSpPr>
          <p:nvPr>
            <p:ph type="title"/>
          </p:nvPr>
        </p:nvSpPr>
        <p:spPr/>
        <p:txBody>
          <a:bodyPr/>
          <a:lstStyle/>
          <a:p>
            <a:r>
              <a:rPr lang="en-US" dirty="0"/>
              <a:t>				: </a:t>
            </a:r>
            <a:r>
              <a:rPr lang="en-US" b="1" dirty="0"/>
              <a:t>declarative, and labels</a:t>
            </a:r>
          </a:p>
        </p:txBody>
      </p:sp>
      <p:pic>
        <p:nvPicPr>
          <p:cNvPr id="6" name="Picture 5">
            <a:extLst>
              <a:ext uri="{FF2B5EF4-FFF2-40B4-BE49-F238E27FC236}">
                <a16:creationId xmlns:a16="http://schemas.microsoft.com/office/drawing/2014/main" id="{7A7D8E60-D0B4-502F-C229-E6C685E135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839" y="531674"/>
            <a:ext cx="3821652" cy="9265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BE5C9CF-CDDB-C48D-E145-E8261FD32B32}"/>
              </a:ext>
            </a:extLst>
          </p:cNvPr>
          <p:cNvSpPr txBox="1"/>
          <p:nvPr/>
        </p:nvSpPr>
        <p:spPr>
          <a:xfrm>
            <a:off x="0" y="6596390"/>
            <a:ext cx="9377570" cy="261610"/>
          </a:xfrm>
          <a:prstGeom prst="rect">
            <a:avLst/>
          </a:prstGeom>
          <a:noFill/>
        </p:spPr>
        <p:txBody>
          <a:bodyPr wrap="square">
            <a:spAutoFit/>
          </a:bodyPr>
          <a:lstStyle/>
          <a:p>
            <a:r>
              <a:rPr lang="en-US" sz="1100" dirty="0"/>
              <a:t>YAML: https://kubernetes.io/docs/concepts/workloads/controllers/deployment/</a:t>
            </a:r>
          </a:p>
        </p:txBody>
      </p:sp>
      <p:pic>
        <p:nvPicPr>
          <p:cNvPr id="5" name="Picture 4">
            <a:extLst>
              <a:ext uri="{FF2B5EF4-FFF2-40B4-BE49-F238E27FC236}">
                <a16:creationId xmlns:a16="http://schemas.microsoft.com/office/drawing/2014/main" id="{ED620084-CC55-38A3-AA65-80621B524817}"/>
              </a:ext>
            </a:extLst>
          </p:cNvPr>
          <p:cNvPicPr>
            <a:picLocks noChangeAspect="1"/>
          </p:cNvPicPr>
          <p:nvPr/>
        </p:nvPicPr>
        <p:blipFill>
          <a:blip r:embed="rId4"/>
          <a:stretch>
            <a:fillRect/>
          </a:stretch>
        </p:blipFill>
        <p:spPr>
          <a:xfrm>
            <a:off x="1414969" y="2293270"/>
            <a:ext cx="2049452" cy="4303120"/>
          </a:xfrm>
          <a:prstGeom prst="rect">
            <a:avLst/>
          </a:prstGeom>
        </p:spPr>
      </p:pic>
      <p:sp>
        <p:nvSpPr>
          <p:cNvPr id="11" name="Content Placeholder 10">
            <a:extLst>
              <a:ext uri="{FF2B5EF4-FFF2-40B4-BE49-F238E27FC236}">
                <a16:creationId xmlns:a16="http://schemas.microsoft.com/office/drawing/2014/main" id="{BC306998-0F19-3D64-306F-A7BF53849842}"/>
              </a:ext>
            </a:extLst>
          </p:cNvPr>
          <p:cNvSpPr>
            <a:spLocks noGrp="1"/>
          </p:cNvSpPr>
          <p:nvPr>
            <p:ph idx="1"/>
          </p:nvPr>
        </p:nvSpPr>
        <p:spPr/>
        <p:txBody>
          <a:bodyPr/>
          <a:lstStyle/>
          <a:p>
            <a:r>
              <a:rPr lang="en-US" dirty="0"/>
              <a:t>Example deployment YAML</a:t>
            </a:r>
          </a:p>
        </p:txBody>
      </p:sp>
      <p:pic>
        <p:nvPicPr>
          <p:cNvPr id="4" name="Picture 3">
            <a:extLst>
              <a:ext uri="{FF2B5EF4-FFF2-40B4-BE49-F238E27FC236}">
                <a16:creationId xmlns:a16="http://schemas.microsoft.com/office/drawing/2014/main" id="{CF847150-284D-BAE1-FF4A-CA51AFA7E0DE}"/>
              </a:ext>
            </a:extLst>
          </p:cNvPr>
          <p:cNvPicPr>
            <a:picLocks noChangeAspect="1"/>
          </p:cNvPicPr>
          <p:nvPr/>
        </p:nvPicPr>
        <p:blipFill>
          <a:blip r:embed="rId5"/>
          <a:srcRect l="4868" t="5319" r="508" b="5392"/>
          <a:stretch>
            <a:fillRect/>
          </a:stretch>
        </p:blipFill>
        <p:spPr>
          <a:xfrm>
            <a:off x="3534715" y="2294458"/>
            <a:ext cx="7242316" cy="4301932"/>
          </a:xfrm>
          <a:prstGeom prst="rect">
            <a:avLst/>
          </a:prstGeom>
        </p:spPr>
      </p:pic>
      <p:sp>
        <p:nvSpPr>
          <p:cNvPr id="10" name="TextBox 9">
            <a:extLst>
              <a:ext uri="{FF2B5EF4-FFF2-40B4-BE49-F238E27FC236}">
                <a16:creationId xmlns:a16="http://schemas.microsoft.com/office/drawing/2014/main" id="{C696D751-01FB-0AC2-0124-BC9A03C0FD60}"/>
              </a:ext>
            </a:extLst>
          </p:cNvPr>
          <p:cNvSpPr txBox="1"/>
          <p:nvPr/>
        </p:nvSpPr>
        <p:spPr>
          <a:xfrm>
            <a:off x="11925581" y="6642556"/>
            <a:ext cx="293670" cy="215444"/>
          </a:xfrm>
          <a:prstGeom prst="rect">
            <a:avLst/>
          </a:prstGeom>
          <a:noFill/>
        </p:spPr>
        <p:txBody>
          <a:bodyPr wrap="none" rtlCol="0">
            <a:spAutoFit/>
          </a:bodyPr>
          <a:lstStyle/>
          <a:p>
            <a:pPr algn="ctr"/>
            <a:r>
              <a:rPr lang="en-US" sz="800" dirty="0"/>
              <a:t>17</a:t>
            </a:r>
          </a:p>
        </p:txBody>
      </p:sp>
      <p:sp>
        <p:nvSpPr>
          <p:cNvPr id="12" name="TextBox 11">
            <a:extLst>
              <a:ext uri="{FF2B5EF4-FFF2-40B4-BE49-F238E27FC236}">
                <a16:creationId xmlns:a16="http://schemas.microsoft.com/office/drawing/2014/main" id="{5A8D2490-9718-175D-39D5-AE94C70836B8}"/>
              </a:ext>
            </a:extLst>
          </p:cNvPr>
          <p:cNvSpPr txBox="1"/>
          <p:nvPr/>
        </p:nvSpPr>
        <p:spPr>
          <a:xfrm>
            <a:off x="6421031" y="6329829"/>
            <a:ext cx="503664" cy="261610"/>
          </a:xfrm>
          <a:prstGeom prst="rect">
            <a:avLst/>
          </a:prstGeom>
          <a:noFill/>
        </p:spPr>
        <p:txBody>
          <a:bodyPr wrap="none" rtlCol="0">
            <a:spAutoFit/>
          </a:bodyPr>
          <a:lstStyle/>
          <a:p>
            <a:pPr algn="ctr"/>
            <a:r>
              <a:rPr lang="en-US" sz="1100" dirty="0"/>
              <a:t>Fig. F</a:t>
            </a:r>
          </a:p>
        </p:txBody>
      </p:sp>
    </p:spTree>
    <p:extLst>
      <p:ext uri="{BB962C8B-B14F-4D97-AF65-F5344CB8AC3E}">
        <p14:creationId xmlns:p14="http://schemas.microsoft.com/office/powerpoint/2010/main" val="1784106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1366-FFB6-EB56-3AD4-9BED07579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2647F-5C32-4D58-5362-54735F4D166C}"/>
              </a:ext>
            </a:extLst>
          </p:cNvPr>
          <p:cNvSpPr>
            <a:spLocks noGrp="1"/>
          </p:cNvSpPr>
          <p:nvPr>
            <p:ph type="title"/>
          </p:nvPr>
        </p:nvSpPr>
        <p:spPr/>
        <p:txBody>
          <a:bodyPr/>
          <a:lstStyle/>
          <a:p>
            <a:r>
              <a:rPr lang="en-US" dirty="0"/>
              <a:t>	     </a:t>
            </a:r>
            <a:r>
              <a:rPr lang="en-US" b="1" dirty="0">
                <a:solidFill>
                  <a:schemeClr val="bg1"/>
                </a:solidFill>
              </a:rPr>
              <a:t>e</a:t>
            </a:r>
            <a:r>
              <a:rPr lang="en-US" b="1" dirty="0"/>
              <a:t>’s Updated View on Containers</a:t>
            </a:r>
          </a:p>
        </p:txBody>
      </p:sp>
      <p:sp>
        <p:nvSpPr>
          <p:cNvPr id="3" name="Content Placeholder 2">
            <a:extLst>
              <a:ext uri="{FF2B5EF4-FFF2-40B4-BE49-F238E27FC236}">
                <a16:creationId xmlns:a16="http://schemas.microsoft.com/office/drawing/2014/main" id="{DA4DA391-B01B-D461-E158-72DECF381DF4}"/>
              </a:ext>
            </a:extLst>
          </p:cNvPr>
          <p:cNvSpPr>
            <a:spLocks noGrp="1"/>
          </p:cNvSpPr>
          <p:nvPr>
            <p:ph idx="1"/>
          </p:nvPr>
        </p:nvSpPr>
        <p:spPr/>
        <p:txBody>
          <a:bodyPr>
            <a:normAutofit fontScale="92500" lnSpcReduction="10000"/>
          </a:bodyPr>
          <a:lstStyle/>
          <a:p>
            <a:r>
              <a:rPr lang="en-US" dirty="0"/>
              <a:t>On the </a:t>
            </a:r>
            <a:r>
              <a:rPr lang="en-US" b="1" dirty="0"/>
              <a:t>Standardization </a:t>
            </a:r>
            <a:r>
              <a:rPr lang="en-US" dirty="0"/>
              <a:t>side:</a:t>
            </a:r>
          </a:p>
          <a:p>
            <a:pPr lvl="1"/>
            <a:r>
              <a:rPr lang="en-US" dirty="0"/>
              <a:t>Containers should </a:t>
            </a:r>
            <a:r>
              <a:rPr lang="en-US" b="1" dirty="0"/>
              <a:t>encapsulate ALL dependencies </a:t>
            </a:r>
            <a:r>
              <a:rPr lang="en-US" dirty="0"/>
              <a:t>for full decoupling from host OS</a:t>
            </a:r>
          </a:p>
          <a:p>
            <a:pPr lvl="1"/>
            <a:endParaRPr lang="en-US" sz="100" dirty="0"/>
          </a:p>
          <a:p>
            <a:pPr lvl="1"/>
            <a:r>
              <a:rPr lang="en-US" dirty="0"/>
              <a:t>Uniform API (Borg vs K8s)</a:t>
            </a:r>
          </a:p>
          <a:p>
            <a:pPr lvl="1"/>
            <a:endParaRPr lang="en-US" dirty="0"/>
          </a:p>
          <a:p>
            <a:r>
              <a:rPr lang="en-US" dirty="0"/>
              <a:t>On the </a:t>
            </a:r>
            <a:r>
              <a:rPr lang="en-US" b="1" dirty="0"/>
              <a:t>Orchestration</a:t>
            </a:r>
            <a:r>
              <a:rPr lang="en-US" dirty="0"/>
              <a:t> side:</a:t>
            </a:r>
          </a:p>
          <a:p>
            <a:pPr lvl="1"/>
            <a:r>
              <a:rPr lang="en-US" dirty="0"/>
              <a:t>Containers (the </a:t>
            </a:r>
            <a:r>
              <a:rPr lang="en-US" b="1" dirty="0"/>
              <a:t>applications) as the primary “key” </a:t>
            </a:r>
            <a:r>
              <a:rPr lang="en-US" dirty="0"/>
              <a:t>for load balancing / telemetry operations instead of the machines</a:t>
            </a:r>
          </a:p>
          <a:p>
            <a:pPr lvl="1"/>
            <a:endParaRPr lang="en-US" sz="100" dirty="0"/>
          </a:p>
          <a:p>
            <a:pPr lvl="1"/>
            <a:r>
              <a:rPr lang="en-US" b="1" dirty="0"/>
              <a:t>Group related process </a:t>
            </a:r>
            <a:r>
              <a:rPr lang="en-US" dirty="0"/>
              <a:t>together for better composability and robustness</a:t>
            </a:r>
          </a:p>
          <a:p>
            <a:pPr lvl="1"/>
            <a:r>
              <a:rPr lang="en-US" dirty="0"/>
              <a:t>Decoupling of manager components</a:t>
            </a:r>
          </a:p>
          <a:p>
            <a:pPr lvl="1"/>
            <a:endParaRPr lang="en-US" sz="100" dirty="0"/>
          </a:p>
          <a:p>
            <a:pPr lvl="1"/>
            <a:r>
              <a:rPr lang="en-US" b="1" dirty="0"/>
              <a:t>Reconciliation control loops </a:t>
            </a:r>
            <a:r>
              <a:rPr lang="en-US" dirty="0"/>
              <a:t>based on </a:t>
            </a:r>
            <a:r>
              <a:rPr lang="en-US" b="1" dirty="0"/>
              <a:t>state monitoring </a:t>
            </a:r>
            <a:r>
              <a:rPr lang="en-US" dirty="0"/>
              <a:t>and via </a:t>
            </a:r>
            <a:r>
              <a:rPr lang="en-US" b="1" dirty="0"/>
              <a:t>autonomous collaboration</a:t>
            </a:r>
            <a:r>
              <a:rPr lang="en-US" dirty="0"/>
              <a:t> between entities (instead of centralized monolithic orchestrator)</a:t>
            </a:r>
          </a:p>
        </p:txBody>
      </p:sp>
      <p:pic>
        <p:nvPicPr>
          <p:cNvPr id="8" name="Graphic 7">
            <a:extLst>
              <a:ext uri="{FF2B5EF4-FFF2-40B4-BE49-F238E27FC236}">
                <a16:creationId xmlns:a16="http://schemas.microsoft.com/office/drawing/2014/main" id="{B12D2875-E804-ACB5-31AD-F165FE986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531674"/>
            <a:ext cx="1883465" cy="941733"/>
          </a:xfrm>
          <a:prstGeom prst="rect">
            <a:avLst/>
          </a:prstGeom>
        </p:spPr>
      </p:pic>
      <p:sp>
        <p:nvSpPr>
          <p:cNvPr id="16" name="TextBox 15">
            <a:extLst>
              <a:ext uri="{FF2B5EF4-FFF2-40B4-BE49-F238E27FC236}">
                <a16:creationId xmlns:a16="http://schemas.microsoft.com/office/drawing/2014/main" id="{0F73A9AC-28E6-875A-871F-B44FBE6AFAB4}"/>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11" name="TextBox 10">
            <a:extLst>
              <a:ext uri="{FF2B5EF4-FFF2-40B4-BE49-F238E27FC236}">
                <a16:creationId xmlns:a16="http://schemas.microsoft.com/office/drawing/2014/main" id="{C897533A-B8EE-AB5D-D9AA-331D76C8540B}"/>
              </a:ext>
            </a:extLst>
          </p:cNvPr>
          <p:cNvSpPr txBox="1"/>
          <p:nvPr/>
        </p:nvSpPr>
        <p:spPr>
          <a:xfrm>
            <a:off x="11925581" y="6642556"/>
            <a:ext cx="293670" cy="215444"/>
          </a:xfrm>
          <a:prstGeom prst="rect">
            <a:avLst/>
          </a:prstGeom>
          <a:noFill/>
        </p:spPr>
        <p:txBody>
          <a:bodyPr wrap="none" rtlCol="0">
            <a:spAutoFit/>
          </a:bodyPr>
          <a:lstStyle/>
          <a:p>
            <a:pPr algn="ctr"/>
            <a:r>
              <a:rPr lang="en-US" sz="800" dirty="0"/>
              <a:t>18</a:t>
            </a:r>
          </a:p>
        </p:txBody>
      </p:sp>
    </p:spTree>
    <p:extLst>
      <p:ext uri="{BB962C8B-B14F-4D97-AF65-F5344CB8AC3E}">
        <p14:creationId xmlns:p14="http://schemas.microsoft.com/office/powerpoint/2010/main" val="373597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CE2C-0FCB-2D5D-A5A6-EBF02AE06A14}"/>
              </a:ext>
            </a:extLst>
          </p:cNvPr>
          <p:cNvSpPr>
            <a:spLocks noGrp="1"/>
          </p:cNvSpPr>
          <p:nvPr>
            <p:ph type="title"/>
          </p:nvPr>
        </p:nvSpPr>
        <p:spPr/>
        <p:txBody>
          <a:bodyPr/>
          <a:lstStyle/>
          <a:p>
            <a:r>
              <a:rPr lang="en-US" b="1" dirty="0"/>
              <a:t>Kubernetes Scheduling: </a:t>
            </a:r>
            <a:br>
              <a:rPr lang="en-US" b="1" dirty="0"/>
            </a:br>
            <a:r>
              <a:rPr lang="en-US" dirty="0"/>
              <a:t>Taxonomy, Ongoing Issues, and Challenges</a:t>
            </a:r>
          </a:p>
        </p:txBody>
      </p:sp>
      <p:sp>
        <p:nvSpPr>
          <p:cNvPr id="3" name="Content Placeholder 2">
            <a:extLst>
              <a:ext uri="{FF2B5EF4-FFF2-40B4-BE49-F238E27FC236}">
                <a16:creationId xmlns:a16="http://schemas.microsoft.com/office/drawing/2014/main" id="{8129DE7C-0F55-4943-4A4D-919F0BEED92B}"/>
              </a:ext>
            </a:extLst>
          </p:cNvPr>
          <p:cNvSpPr>
            <a:spLocks noGrp="1"/>
          </p:cNvSpPr>
          <p:nvPr>
            <p:ph idx="1"/>
          </p:nvPr>
        </p:nvSpPr>
        <p:spPr/>
        <p:txBody>
          <a:bodyPr/>
          <a:lstStyle/>
          <a:p>
            <a:r>
              <a:rPr lang="en-US" dirty="0"/>
              <a:t>We need more than a scheduler that “finds empty nodes” for tasks</a:t>
            </a:r>
          </a:p>
          <a:p>
            <a:pPr lvl="1"/>
            <a:r>
              <a:rPr lang="en-US" dirty="0"/>
              <a:t>Quality of Service (QoS)</a:t>
            </a:r>
          </a:p>
          <a:p>
            <a:pPr lvl="1"/>
            <a:r>
              <a:rPr lang="en-US" dirty="0"/>
              <a:t>Latency</a:t>
            </a:r>
          </a:p>
          <a:p>
            <a:pPr lvl="1"/>
            <a:r>
              <a:rPr lang="en-US" dirty="0"/>
              <a:t>Resource utilization</a:t>
            </a:r>
          </a:p>
          <a:p>
            <a:pPr lvl="1"/>
            <a:r>
              <a:rPr lang="en-US" dirty="0"/>
              <a:t>Energy consumption, etc.</a:t>
            </a:r>
          </a:p>
        </p:txBody>
      </p:sp>
      <p:pic>
        <p:nvPicPr>
          <p:cNvPr id="6" name="Picture 5">
            <a:extLst>
              <a:ext uri="{FF2B5EF4-FFF2-40B4-BE49-F238E27FC236}">
                <a16:creationId xmlns:a16="http://schemas.microsoft.com/office/drawing/2014/main" id="{482A95D3-F242-A052-7139-273D4A95ED66}"/>
              </a:ext>
            </a:extLst>
          </p:cNvPr>
          <p:cNvPicPr>
            <a:picLocks noChangeAspect="1"/>
          </p:cNvPicPr>
          <p:nvPr/>
        </p:nvPicPr>
        <p:blipFill>
          <a:blip r:embed="rId2"/>
          <a:srcRect l="4868" t="5319" r="508" b="5392"/>
          <a:stretch>
            <a:fillRect/>
          </a:stretch>
        </p:blipFill>
        <p:spPr>
          <a:xfrm>
            <a:off x="6096000" y="3053831"/>
            <a:ext cx="5257800" cy="3123131"/>
          </a:xfrm>
          <a:prstGeom prst="rect">
            <a:avLst/>
          </a:prstGeom>
        </p:spPr>
      </p:pic>
      <p:sp>
        <p:nvSpPr>
          <p:cNvPr id="7" name="Rectangle: Rounded Corners 6">
            <a:extLst>
              <a:ext uri="{FF2B5EF4-FFF2-40B4-BE49-F238E27FC236}">
                <a16:creationId xmlns:a16="http://schemas.microsoft.com/office/drawing/2014/main" id="{A21052CD-0754-1A84-0E8E-A20F652C8110}"/>
              </a:ext>
            </a:extLst>
          </p:cNvPr>
          <p:cNvSpPr/>
          <p:nvPr/>
        </p:nvSpPr>
        <p:spPr>
          <a:xfrm>
            <a:off x="6163408" y="4826977"/>
            <a:ext cx="817684" cy="536331"/>
          </a:xfrm>
          <a:prstGeom prst="roundRect">
            <a:avLst>
              <a:gd name="adj" fmla="val 5192"/>
            </a:avLst>
          </a:prstGeom>
          <a:solidFill>
            <a:srgbClr val="4EA72E">
              <a:alpha val="50196"/>
            </a:srgb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33745FD-9B20-9AA5-CF59-C2F981ECC3FC}"/>
              </a:ext>
            </a:extLst>
          </p:cNvPr>
          <p:cNvPicPr>
            <a:picLocks noChangeAspect="1"/>
          </p:cNvPicPr>
          <p:nvPr/>
        </p:nvPicPr>
        <p:blipFill>
          <a:blip r:embed="rId2"/>
          <a:srcRect l="8750" t="57707" r="80832" b="28471"/>
          <a:stretch>
            <a:fillRect/>
          </a:stretch>
        </p:blipFill>
        <p:spPr>
          <a:xfrm>
            <a:off x="2866682" y="4615396"/>
            <a:ext cx="2304758" cy="1924785"/>
          </a:xfrm>
          <a:prstGeom prst="rect">
            <a:avLst/>
          </a:prstGeom>
        </p:spPr>
      </p:pic>
      <p:cxnSp>
        <p:nvCxnSpPr>
          <p:cNvPr id="10" name="Straight Connector 9">
            <a:extLst>
              <a:ext uri="{FF2B5EF4-FFF2-40B4-BE49-F238E27FC236}">
                <a16:creationId xmlns:a16="http://schemas.microsoft.com/office/drawing/2014/main" id="{AD055CAB-7BF3-C62B-A045-CE9422E4F364}"/>
              </a:ext>
            </a:extLst>
          </p:cNvPr>
          <p:cNvCxnSpPr>
            <a:cxnSpLocks/>
          </p:cNvCxnSpPr>
          <p:nvPr/>
        </p:nvCxnSpPr>
        <p:spPr>
          <a:xfrm>
            <a:off x="5086936" y="4704080"/>
            <a:ext cx="1076472" cy="122897"/>
          </a:xfrm>
          <a:prstGeom prst="line">
            <a:avLst/>
          </a:prstGeom>
          <a:solidFill>
            <a:srgbClr val="4EA72E">
              <a:alpha val="50196"/>
            </a:srgb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084D69C7-7F98-4470-73C2-2656E3F2F93E}"/>
              </a:ext>
            </a:extLst>
          </p:cNvPr>
          <p:cNvCxnSpPr>
            <a:cxnSpLocks/>
          </p:cNvCxnSpPr>
          <p:nvPr/>
        </p:nvCxnSpPr>
        <p:spPr>
          <a:xfrm flipV="1">
            <a:off x="5086936" y="5363308"/>
            <a:ext cx="1076472" cy="600612"/>
          </a:xfrm>
          <a:prstGeom prst="line">
            <a:avLst/>
          </a:prstGeom>
          <a:solidFill>
            <a:srgbClr val="4EA72E">
              <a:alpha val="50196"/>
            </a:srgbClr>
          </a:solid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cxnSp>
      <p:sp>
        <p:nvSpPr>
          <p:cNvPr id="16" name="Rectangle: Rounded Corners 15">
            <a:extLst>
              <a:ext uri="{FF2B5EF4-FFF2-40B4-BE49-F238E27FC236}">
                <a16:creationId xmlns:a16="http://schemas.microsoft.com/office/drawing/2014/main" id="{FF9C690D-3895-75C3-F64A-42FABDC8B217}"/>
              </a:ext>
            </a:extLst>
          </p:cNvPr>
          <p:cNvSpPr/>
          <p:nvPr/>
        </p:nvSpPr>
        <p:spPr>
          <a:xfrm>
            <a:off x="2942688" y="4667250"/>
            <a:ext cx="2200812" cy="1296670"/>
          </a:xfrm>
          <a:prstGeom prst="roundRect">
            <a:avLst>
              <a:gd name="adj" fmla="val 5192"/>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41B6C2B-53AE-26BB-87FA-A78F81BE95DA}"/>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4" name="TextBox 3">
            <a:extLst>
              <a:ext uri="{FF2B5EF4-FFF2-40B4-BE49-F238E27FC236}">
                <a16:creationId xmlns:a16="http://schemas.microsoft.com/office/drawing/2014/main" id="{654E7F06-2371-3421-7634-FFC6AB002134}"/>
              </a:ext>
            </a:extLst>
          </p:cNvPr>
          <p:cNvSpPr txBox="1"/>
          <p:nvPr/>
        </p:nvSpPr>
        <p:spPr>
          <a:xfrm>
            <a:off x="11925581" y="6642556"/>
            <a:ext cx="293670" cy="215444"/>
          </a:xfrm>
          <a:prstGeom prst="rect">
            <a:avLst/>
          </a:prstGeom>
          <a:noFill/>
        </p:spPr>
        <p:txBody>
          <a:bodyPr wrap="none" rtlCol="0">
            <a:spAutoFit/>
          </a:bodyPr>
          <a:lstStyle/>
          <a:p>
            <a:pPr algn="ctr"/>
            <a:r>
              <a:rPr lang="en-US" sz="800" dirty="0"/>
              <a:t>19</a:t>
            </a:r>
          </a:p>
        </p:txBody>
      </p:sp>
      <p:sp>
        <p:nvSpPr>
          <p:cNvPr id="5" name="TextBox 4">
            <a:extLst>
              <a:ext uri="{FF2B5EF4-FFF2-40B4-BE49-F238E27FC236}">
                <a16:creationId xmlns:a16="http://schemas.microsoft.com/office/drawing/2014/main" id="{DC8C123D-9613-801A-CD2F-B64D2AAF80D9}"/>
              </a:ext>
            </a:extLst>
          </p:cNvPr>
          <p:cNvSpPr txBox="1"/>
          <p:nvPr/>
        </p:nvSpPr>
        <p:spPr>
          <a:xfrm>
            <a:off x="5831344" y="6278571"/>
            <a:ext cx="529312" cy="261610"/>
          </a:xfrm>
          <a:prstGeom prst="rect">
            <a:avLst/>
          </a:prstGeom>
          <a:noFill/>
        </p:spPr>
        <p:txBody>
          <a:bodyPr wrap="square" rtlCol="0">
            <a:spAutoFit/>
          </a:bodyPr>
          <a:lstStyle/>
          <a:p>
            <a:pPr algn="ctr"/>
            <a:r>
              <a:rPr lang="en-US" sz="1100" dirty="0"/>
              <a:t>Fig. G</a:t>
            </a:r>
          </a:p>
        </p:txBody>
      </p:sp>
    </p:spTree>
    <p:extLst>
      <p:ext uri="{BB962C8B-B14F-4D97-AF65-F5344CB8AC3E}">
        <p14:creationId xmlns:p14="http://schemas.microsoft.com/office/powerpoint/2010/main" val="12436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9E30-974D-BAFB-2301-0DFF11371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017D8-B741-D4B7-20C1-3C7AC4A72D2D}"/>
              </a:ext>
            </a:extLst>
          </p:cNvPr>
          <p:cNvSpPr>
            <a:spLocks noGrp="1"/>
          </p:cNvSpPr>
          <p:nvPr>
            <p:ph type="title"/>
          </p:nvPr>
        </p:nvSpPr>
        <p:spPr/>
        <p:txBody>
          <a:bodyPr/>
          <a:lstStyle/>
          <a:p>
            <a:r>
              <a:rPr lang="en-US" b="1" dirty="0"/>
              <a:t>Kubernetes Scheduling: Ongoing Issues</a:t>
            </a:r>
            <a:br>
              <a:rPr lang="en-US" b="1" dirty="0"/>
            </a:br>
            <a:r>
              <a:rPr lang="en-US" dirty="0"/>
              <a:t>with the default schedulers</a:t>
            </a:r>
          </a:p>
        </p:txBody>
      </p:sp>
      <p:sp>
        <p:nvSpPr>
          <p:cNvPr id="3" name="Content Placeholder 2">
            <a:extLst>
              <a:ext uri="{FF2B5EF4-FFF2-40B4-BE49-F238E27FC236}">
                <a16:creationId xmlns:a16="http://schemas.microsoft.com/office/drawing/2014/main" id="{DF5E75E3-B992-6339-87BA-00C1E0C6242F}"/>
              </a:ext>
            </a:extLst>
          </p:cNvPr>
          <p:cNvSpPr>
            <a:spLocks noGrp="1"/>
          </p:cNvSpPr>
          <p:nvPr>
            <p:ph idx="1"/>
          </p:nvPr>
        </p:nvSpPr>
        <p:spPr/>
        <p:txBody>
          <a:bodyPr>
            <a:normAutofit fontScale="92500" lnSpcReduction="20000"/>
          </a:bodyPr>
          <a:lstStyle/>
          <a:p>
            <a:r>
              <a:rPr lang="en-US" b="1" dirty="0"/>
              <a:t>Resource Fragmentation</a:t>
            </a:r>
          </a:p>
          <a:p>
            <a:pPr lvl="1"/>
            <a:r>
              <a:rPr lang="en-US" dirty="0"/>
              <a:t>The default greedy, pod-by-pod allocation strategy leads to suboptimal bin-packing and wasted capacity across the cluster</a:t>
            </a:r>
          </a:p>
          <a:p>
            <a:r>
              <a:rPr lang="en-US" b="1" dirty="0"/>
              <a:t>The “Computing Continuum”</a:t>
            </a:r>
          </a:p>
          <a:p>
            <a:pPr lvl="1"/>
            <a:r>
              <a:rPr lang="en-US" dirty="0"/>
              <a:t>Assumption of a homogeneous cloud environment does not hold in Edge/Fog computing where network bandwidth, location and device capabilities vary wildly</a:t>
            </a:r>
          </a:p>
          <a:p>
            <a:r>
              <a:rPr lang="en-US" b="1" dirty="0"/>
              <a:t>Overhead of Complex Solvers</a:t>
            </a:r>
            <a:r>
              <a:rPr lang="en-US" dirty="0"/>
              <a:t>: </a:t>
            </a:r>
          </a:p>
          <a:p>
            <a:pPr lvl="1"/>
            <a:r>
              <a:rPr lang="en-US" dirty="0"/>
              <a:t>Exact mathematical solvers provide optimal placements, but too slow for large-scale, highly dynamic clusters. </a:t>
            </a:r>
          </a:p>
          <a:p>
            <a:r>
              <a:rPr lang="en-US" b="1" dirty="0"/>
              <a:t>Asynchronous Communication Gaps</a:t>
            </a:r>
            <a:r>
              <a:rPr lang="en-US" dirty="0"/>
              <a:t>: </a:t>
            </a:r>
          </a:p>
          <a:p>
            <a:pPr lvl="1"/>
            <a:r>
              <a:rPr lang="en-US" dirty="0"/>
              <a:t>Loosely coupled K8s API can lead to temporary “Denial of Resources” when the scheduler act on stale node-availability data</a:t>
            </a:r>
          </a:p>
          <a:p>
            <a:endParaRPr lang="en-US" dirty="0"/>
          </a:p>
        </p:txBody>
      </p:sp>
      <p:sp>
        <p:nvSpPr>
          <p:cNvPr id="17" name="TextBox 16">
            <a:extLst>
              <a:ext uri="{FF2B5EF4-FFF2-40B4-BE49-F238E27FC236}">
                <a16:creationId xmlns:a16="http://schemas.microsoft.com/office/drawing/2014/main" id="{2D72C41F-A461-AB0F-D953-4127B99F496B}"/>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4" name="TextBox 3">
            <a:extLst>
              <a:ext uri="{FF2B5EF4-FFF2-40B4-BE49-F238E27FC236}">
                <a16:creationId xmlns:a16="http://schemas.microsoft.com/office/drawing/2014/main" id="{77EBB722-BB66-26D7-D58D-BDE5F6A5555E}"/>
              </a:ext>
            </a:extLst>
          </p:cNvPr>
          <p:cNvSpPr txBox="1"/>
          <p:nvPr/>
        </p:nvSpPr>
        <p:spPr>
          <a:xfrm>
            <a:off x="11925581" y="6642556"/>
            <a:ext cx="293670" cy="215444"/>
          </a:xfrm>
          <a:prstGeom prst="rect">
            <a:avLst/>
          </a:prstGeom>
          <a:noFill/>
        </p:spPr>
        <p:txBody>
          <a:bodyPr wrap="none" rtlCol="0">
            <a:spAutoFit/>
          </a:bodyPr>
          <a:lstStyle/>
          <a:p>
            <a:pPr algn="ctr"/>
            <a:r>
              <a:rPr lang="en-US" sz="800" dirty="0"/>
              <a:t>20</a:t>
            </a:r>
          </a:p>
        </p:txBody>
      </p:sp>
    </p:spTree>
    <p:extLst>
      <p:ext uri="{BB962C8B-B14F-4D97-AF65-F5344CB8AC3E}">
        <p14:creationId xmlns:p14="http://schemas.microsoft.com/office/powerpoint/2010/main" val="2675557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122E-CA55-D737-375B-6945EF2A6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2F256-BF45-B7B9-AA5F-B40AB0C831C8}"/>
              </a:ext>
            </a:extLst>
          </p:cNvPr>
          <p:cNvSpPr>
            <a:spLocks noGrp="1"/>
          </p:cNvSpPr>
          <p:nvPr>
            <p:ph type="title"/>
          </p:nvPr>
        </p:nvSpPr>
        <p:spPr/>
        <p:txBody>
          <a:bodyPr/>
          <a:lstStyle/>
          <a:p>
            <a:r>
              <a:rPr lang="en-US" b="1" dirty="0"/>
              <a:t>Kubernetes Scheduling: Taxonomy</a:t>
            </a:r>
            <a:br>
              <a:rPr lang="en-US" b="1" dirty="0"/>
            </a:br>
            <a:r>
              <a:rPr lang="en-US" dirty="0"/>
              <a:t>of existing scheduling techniques</a:t>
            </a:r>
            <a:endParaRPr lang="en-US" b="1" dirty="0"/>
          </a:p>
        </p:txBody>
      </p:sp>
      <p:sp>
        <p:nvSpPr>
          <p:cNvPr id="3" name="Content Placeholder 2">
            <a:extLst>
              <a:ext uri="{FF2B5EF4-FFF2-40B4-BE49-F238E27FC236}">
                <a16:creationId xmlns:a16="http://schemas.microsoft.com/office/drawing/2014/main" id="{C077E505-9AB0-1984-387F-63503650D3B4}"/>
              </a:ext>
            </a:extLst>
          </p:cNvPr>
          <p:cNvSpPr>
            <a:spLocks noGrp="1"/>
          </p:cNvSpPr>
          <p:nvPr>
            <p:ph idx="1"/>
          </p:nvPr>
        </p:nvSpPr>
        <p:spPr/>
        <p:txBody>
          <a:bodyPr/>
          <a:lstStyle/>
          <a:p>
            <a:r>
              <a:rPr lang="en-US" dirty="0"/>
              <a:t>A multi-dimensional taxonomy: </a:t>
            </a:r>
          </a:p>
          <a:p>
            <a:pPr lvl="1"/>
            <a:r>
              <a:rPr lang="en-US" dirty="0"/>
              <a:t>By </a:t>
            </a:r>
            <a:r>
              <a:rPr lang="en-US" b="1" dirty="0">
                <a:solidFill>
                  <a:schemeClr val="accent1"/>
                </a:solidFill>
              </a:rPr>
              <a:t>Objective</a:t>
            </a:r>
            <a:r>
              <a:rPr lang="en-US" dirty="0"/>
              <a:t>: optimizing for resource utilization, energy efficiency, latency, or cost reduction</a:t>
            </a:r>
          </a:p>
          <a:p>
            <a:pPr lvl="1"/>
            <a:r>
              <a:rPr lang="en-US" dirty="0"/>
              <a:t>By </a:t>
            </a:r>
            <a:r>
              <a:rPr lang="en-US" b="1" dirty="0">
                <a:solidFill>
                  <a:srgbClr val="C00000"/>
                </a:solidFill>
              </a:rPr>
              <a:t>Workload Type</a:t>
            </a:r>
            <a:r>
              <a:rPr lang="en-US" dirty="0"/>
              <a:t>: general microservices, AI/ML training, data-heavy batch jobs, or IoT/Edge deployments</a:t>
            </a:r>
          </a:p>
          <a:p>
            <a:pPr lvl="1"/>
            <a:r>
              <a:rPr lang="en-US" dirty="0"/>
              <a:t>By </a:t>
            </a:r>
            <a:r>
              <a:rPr lang="en-US" b="1" dirty="0">
                <a:solidFill>
                  <a:schemeClr val="accent3"/>
                </a:solidFill>
              </a:rPr>
              <a:t>Architectural Integration</a:t>
            </a:r>
            <a:r>
              <a:rPr lang="en-US" dirty="0"/>
              <a:t>: utilizing K8s extension points, building custom external schedulers, or running multiple schedulers in parallel</a:t>
            </a:r>
          </a:p>
          <a:p>
            <a:pPr lvl="1"/>
            <a:r>
              <a:rPr lang="en-US" dirty="0"/>
              <a:t>By </a:t>
            </a:r>
            <a:r>
              <a:rPr lang="en-US" b="1" dirty="0">
                <a:solidFill>
                  <a:schemeClr val="accent5"/>
                </a:solidFill>
              </a:rPr>
              <a:t>Algorithm</a:t>
            </a:r>
            <a:r>
              <a:rPr lang="en-US" dirty="0"/>
              <a:t>: greedy, heuristics, constraint solvers, or ML/RL-based</a:t>
            </a:r>
          </a:p>
        </p:txBody>
      </p:sp>
      <p:sp>
        <p:nvSpPr>
          <p:cNvPr id="4" name="TextBox 3">
            <a:extLst>
              <a:ext uri="{FF2B5EF4-FFF2-40B4-BE49-F238E27FC236}">
                <a16:creationId xmlns:a16="http://schemas.microsoft.com/office/drawing/2014/main" id="{30C48EE5-7DF8-D472-FC56-DEA0012048CD}"/>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5" name="TextBox 4">
            <a:extLst>
              <a:ext uri="{FF2B5EF4-FFF2-40B4-BE49-F238E27FC236}">
                <a16:creationId xmlns:a16="http://schemas.microsoft.com/office/drawing/2014/main" id="{054C0400-3C51-9BBC-BC7F-C310E0EADD8F}"/>
              </a:ext>
            </a:extLst>
          </p:cNvPr>
          <p:cNvSpPr txBox="1"/>
          <p:nvPr/>
        </p:nvSpPr>
        <p:spPr>
          <a:xfrm>
            <a:off x="11925581" y="6642556"/>
            <a:ext cx="293670" cy="215444"/>
          </a:xfrm>
          <a:prstGeom prst="rect">
            <a:avLst/>
          </a:prstGeom>
          <a:noFill/>
        </p:spPr>
        <p:txBody>
          <a:bodyPr wrap="none" rtlCol="0">
            <a:spAutoFit/>
          </a:bodyPr>
          <a:lstStyle/>
          <a:p>
            <a:pPr algn="ctr"/>
            <a:r>
              <a:rPr lang="en-US" sz="800" dirty="0"/>
              <a:t>21</a:t>
            </a:r>
          </a:p>
        </p:txBody>
      </p:sp>
    </p:spTree>
    <p:extLst>
      <p:ext uri="{BB962C8B-B14F-4D97-AF65-F5344CB8AC3E}">
        <p14:creationId xmlns:p14="http://schemas.microsoft.com/office/powerpoint/2010/main" val="3899893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E31DF-EC5B-F255-0AB9-48A1E5227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D0813B-AFBB-8D1D-7F5F-E74149164797}"/>
              </a:ext>
            </a:extLst>
          </p:cNvPr>
          <p:cNvSpPr>
            <a:spLocks noGrp="1"/>
          </p:cNvSpPr>
          <p:nvPr>
            <p:ph type="title"/>
          </p:nvPr>
        </p:nvSpPr>
        <p:spPr/>
        <p:txBody>
          <a:bodyPr>
            <a:normAutofit/>
          </a:bodyPr>
          <a:lstStyle/>
          <a:p>
            <a:r>
              <a:rPr lang="en-US" b="1" dirty="0"/>
              <a:t>Examples</a:t>
            </a:r>
            <a:r>
              <a:rPr lang="en-US" dirty="0"/>
              <a:t>: </a:t>
            </a:r>
            <a:br>
              <a:rPr lang="en-US" dirty="0"/>
            </a:br>
            <a:r>
              <a:rPr lang="en-US" b="1" dirty="0">
                <a:solidFill>
                  <a:srgbClr val="C00000"/>
                </a:solidFill>
              </a:rPr>
              <a:t>Workload Type </a:t>
            </a:r>
            <a:r>
              <a:rPr lang="en-US" b="1" dirty="0"/>
              <a:t>&amp;</a:t>
            </a:r>
            <a:r>
              <a:rPr lang="en-US" b="1" dirty="0">
                <a:solidFill>
                  <a:srgbClr val="C00000"/>
                </a:solidFill>
              </a:rPr>
              <a:t> </a:t>
            </a:r>
            <a:r>
              <a:rPr lang="en-US" b="1" dirty="0">
                <a:solidFill>
                  <a:schemeClr val="accent3"/>
                </a:solidFill>
              </a:rPr>
              <a:t>Architectural Integration</a:t>
            </a:r>
            <a:endParaRPr lang="en-US" b="1" dirty="0"/>
          </a:p>
        </p:txBody>
      </p:sp>
      <p:sp>
        <p:nvSpPr>
          <p:cNvPr id="3" name="Content Placeholder 2">
            <a:extLst>
              <a:ext uri="{FF2B5EF4-FFF2-40B4-BE49-F238E27FC236}">
                <a16:creationId xmlns:a16="http://schemas.microsoft.com/office/drawing/2014/main" id="{5E0E1A0B-A869-EB85-19A9-6394833C4406}"/>
              </a:ext>
            </a:extLst>
          </p:cNvPr>
          <p:cNvSpPr>
            <a:spLocks noGrp="1"/>
          </p:cNvSpPr>
          <p:nvPr>
            <p:ph idx="1"/>
          </p:nvPr>
        </p:nvSpPr>
        <p:spPr/>
        <p:txBody>
          <a:bodyPr/>
          <a:lstStyle/>
          <a:p>
            <a:r>
              <a:rPr lang="en-US" dirty="0"/>
              <a:t>AI/ML training and big data workloads require “all-or-nothing” execution</a:t>
            </a:r>
          </a:p>
          <a:p>
            <a:pPr lvl="1"/>
            <a:r>
              <a:rPr lang="en-US" dirty="0"/>
              <a:t>If a model needs 8 GPUs to run, starting the job with only 2 wastes time and money</a:t>
            </a:r>
          </a:p>
          <a:p>
            <a:r>
              <a:rPr lang="en-US" dirty="0">
                <a:hlinkClick r:id="rId3"/>
              </a:rPr>
              <a:t>Kube-batch</a:t>
            </a:r>
            <a:r>
              <a:rPr lang="en-US" dirty="0"/>
              <a:t> &amp; </a:t>
            </a:r>
            <a:r>
              <a:rPr lang="en-US" dirty="0">
                <a:hlinkClick r:id="rId4"/>
              </a:rPr>
              <a:t>Volcano</a:t>
            </a:r>
            <a:r>
              <a:rPr lang="en-US" dirty="0"/>
              <a:t> implement “Gang Scheduling”:</a:t>
            </a:r>
          </a:p>
          <a:p>
            <a:pPr lvl="1"/>
            <a:r>
              <a:rPr lang="en-US" dirty="0"/>
              <a:t>Queue and group interdependent pods together</a:t>
            </a:r>
          </a:p>
          <a:p>
            <a:pPr lvl="1"/>
            <a:r>
              <a:rPr lang="en-US" dirty="0"/>
              <a:t>Volcano added better GPU support for AI tasks</a:t>
            </a:r>
          </a:p>
        </p:txBody>
      </p:sp>
      <p:sp>
        <p:nvSpPr>
          <p:cNvPr id="4" name="TextBox 3">
            <a:extLst>
              <a:ext uri="{FF2B5EF4-FFF2-40B4-BE49-F238E27FC236}">
                <a16:creationId xmlns:a16="http://schemas.microsoft.com/office/drawing/2014/main" id="{16888FA9-2ED7-4CBB-DC00-3A4C7A9D03C3}"/>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5" name="TextBox 4">
            <a:extLst>
              <a:ext uri="{FF2B5EF4-FFF2-40B4-BE49-F238E27FC236}">
                <a16:creationId xmlns:a16="http://schemas.microsoft.com/office/drawing/2014/main" id="{0EF5FD03-C667-D8B0-4417-D6518CCF6D1A}"/>
              </a:ext>
            </a:extLst>
          </p:cNvPr>
          <p:cNvSpPr txBox="1"/>
          <p:nvPr/>
        </p:nvSpPr>
        <p:spPr>
          <a:xfrm>
            <a:off x="11925581" y="6642556"/>
            <a:ext cx="293670" cy="215444"/>
          </a:xfrm>
          <a:prstGeom prst="rect">
            <a:avLst/>
          </a:prstGeom>
          <a:noFill/>
        </p:spPr>
        <p:txBody>
          <a:bodyPr wrap="none" rtlCol="0">
            <a:spAutoFit/>
          </a:bodyPr>
          <a:lstStyle/>
          <a:p>
            <a:pPr algn="ctr"/>
            <a:r>
              <a:rPr lang="en-US" sz="800" dirty="0"/>
              <a:t>22</a:t>
            </a:r>
          </a:p>
        </p:txBody>
      </p:sp>
    </p:spTree>
    <p:extLst>
      <p:ext uri="{BB962C8B-B14F-4D97-AF65-F5344CB8AC3E}">
        <p14:creationId xmlns:p14="http://schemas.microsoft.com/office/powerpoint/2010/main" val="3718811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337DF-7B20-1322-BD6B-0FE63E704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31B184-A3B9-07D3-DF20-787BBB9EF00B}"/>
              </a:ext>
            </a:extLst>
          </p:cNvPr>
          <p:cNvSpPr>
            <a:spLocks noGrp="1"/>
          </p:cNvSpPr>
          <p:nvPr>
            <p:ph type="title"/>
          </p:nvPr>
        </p:nvSpPr>
        <p:spPr/>
        <p:txBody>
          <a:bodyPr>
            <a:normAutofit/>
          </a:bodyPr>
          <a:lstStyle/>
          <a:p>
            <a:r>
              <a:rPr lang="en-US" b="1" dirty="0"/>
              <a:t>Examples</a:t>
            </a:r>
            <a:r>
              <a:rPr lang="en-US" dirty="0"/>
              <a:t>: </a:t>
            </a:r>
            <a:br>
              <a:rPr lang="en-US" dirty="0"/>
            </a:br>
            <a:r>
              <a:rPr lang="en-US" b="1" dirty="0">
                <a:solidFill>
                  <a:schemeClr val="accent3"/>
                </a:solidFill>
              </a:rPr>
              <a:t>Architectural Integration </a:t>
            </a:r>
            <a:r>
              <a:rPr lang="en-US" b="1" dirty="0"/>
              <a:t>&amp;</a:t>
            </a:r>
            <a:r>
              <a:rPr lang="en-US" b="1" dirty="0">
                <a:solidFill>
                  <a:srgbClr val="C00000"/>
                </a:solidFill>
              </a:rPr>
              <a:t> </a:t>
            </a:r>
            <a:r>
              <a:rPr lang="en-US" b="1" dirty="0">
                <a:solidFill>
                  <a:schemeClr val="accent5"/>
                </a:solidFill>
              </a:rPr>
              <a:t>Algorithm</a:t>
            </a:r>
            <a:endParaRPr lang="en-US" b="1" dirty="0"/>
          </a:p>
        </p:txBody>
      </p:sp>
      <p:sp>
        <p:nvSpPr>
          <p:cNvPr id="3" name="Content Placeholder 2">
            <a:extLst>
              <a:ext uri="{FF2B5EF4-FFF2-40B4-BE49-F238E27FC236}">
                <a16:creationId xmlns:a16="http://schemas.microsoft.com/office/drawing/2014/main" id="{C64AEC99-CC32-BA64-561B-8B41AD118CCB}"/>
              </a:ext>
            </a:extLst>
          </p:cNvPr>
          <p:cNvSpPr>
            <a:spLocks noGrp="1"/>
          </p:cNvSpPr>
          <p:nvPr>
            <p:ph idx="1"/>
          </p:nvPr>
        </p:nvSpPr>
        <p:spPr/>
        <p:txBody>
          <a:bodyPr/>
          <a:lstStyle/>
          <a:p>
            <a:r>
              <a:rPr lang="en-US" dirty="0"/>
              <a:t>Default scheduler scores nodes individually – not scalable to thousands of nodes</a:t>
            </a:r>
          </a:p>
          <a:p>
            <a:r>
              <a:rPr lang="en-US" dirty="0">
                <a:hlinkClick r:id="rId3"/>
              </a:rPr>
              <a:t>Poseidon</a:t>
            </a:r>
            <a:r>
              <a:rPr lang="en-US" dirty="0"/>
              <a:t> integrates </a:t>
            </a:r>
            <a:r>
              <a:rPr lang="en-US" dirty="0">
                <a:hlinkClick r:id="rId4"/>
              </a:rPr>
              <a:t>Firmament</a:t>
            </a:r>
            <a:r>
              <a:rPr lang="en-US" dirty="0"/>
              <a:t>, a graph-based scheduling engine</a:t>
            </a:r>
          </a:p>
          <a:p>
            <a:pPr lvl="1"/>
            <a:r>
              <a:rPr lang="en-US" dirty="0"/>
              <a:t>The whole cluster as a flow network graph</a:t>
            </a:r>
          </a:p>
          <a:p>
            <a:pPr lvl="1"/>
            <a:r>
              <a:rPr lang="en-US" dirty="0"/>
              <a:t>Instead of pod-by-pod scoring, a Min-Cost Max-Flow algorithm is run once</a:t>
            </a:r>
          </a:p>
          <a:p>
            <a:pPr lvl="1"/>
            <a:r>
              <a:rPr lang="en-US" dirty="0"/>
              <a:t>Mathematically optimal placements at massive scale</a:t>
            </a:r>
          </a:p>
        </p:txBody>
      </p:sp>
      <p:sp>
        <p:nvSpPr>
          <p:cNvPr id="4" name="TextBox 3">
            <a:extLst>
              <a:ext uri="{FF2B5EF4-FFF2-40B4-BE49-F238E27FC236}">
                <a16:creationId xmlns:a16="http://schemas.microsoft.com/office/drawing/2014/main" id="{A4B0E7D5-D785-1FDB-696F-0B15D0F96FF0}"/>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5" name="TextBox 4">
            <a:extLst>
              <a:ext uri="{FF2B5EF4-FFF2-40B4-BE49-F238E27FC236}">
                <a16:creationId xmlns:a16="http://schemas.microsoft.com/office/drawing/2014/main" id="{B13B3FA2-AF07-62EF-DCEE-1764FBE0255B}"/>
              </a:ext>
            </a:extLst>
          </p:cNvPr>
          <p:cNvSpPr txBox="1"/>
          <p:nvPr/>
        </p:nvSpPr>
        <p:spPr>
          <a:xfrm>
            <a:off x="11925581" y="6642556"/>
            <a:ext cx="293670" cy="215444"/>
          </a:xfrm>
          <a:prstGeom prst="rect">
            <a:avLst/>
          </a:prstGeom>
          <a:noFill/>
        </p:spPr>
        <p:txBody>
          <a:bodyPr wrap="none" rtlCol="0">
            <a:spAutoFit/>
          </a:bodyPr>
          <a:lstStyle/>
          <a:p>
            <a:pPr algn="ctr"/>
            <a:r>
              <a:rPr lang="en-US" sz="800" dirty="0"/>
              <a:t>23</a:t>
            </a:r>
          </a:p>
        </p:txBody>
      </p:sp>
    </p:spTree>
    <p:extLst>
      <p:ext uri="{BB962C8B-B14F-4D97-AF65-F5344CB8AC3E}">
        <p14:creationId xmlns:p14="http://schemas.microsoft.com/office/powerpoint/2010/main" val="12298332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4C048-1F96-1CB5-722B-6B26B4051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646663-864C-EF83-C215-F6E4FFCDF363}"/>
              </a:ext>
            </a:extLst>
          </p:cNvPr>
          <p:cNvSpPr>
            <a:spLocks noGrp="1"/>
          </p:cNvSpPr>
          <p:nvPr>
            <p:ph type="title"/>
          </p:nvPr>
        </p:nvSpPr>
        <p:spPr/>
        <p:txBody>
          <a:bodyPr>
            <a:normAutofit/>
          </a:bodyPr>
          <a:lstStyle/>
          <a:p>
            <a:r>
              <a:rPr lang="en-US" b="1" dirty="0"/>
              <a:t>Examples</a:t>
            </a:r>
            <a:r>
              <a:rPr lang="en-US" dirty="0"/>
              <a:t>: </a:t>
            </a:r>
            <a:br>
              <a:rPr lang="en-US" dirty="0"/>
            </a:br>
            <a:r>
              <a:rPr lang="en-US" b="1" dirty="0">
                <a:solidFill>
                  <a:srgbClr val="C00000"/>
                </a:solidFill>
              </a:rPr>
              <a:t>Workload Type </a:t>
            </a:r>
            <a:r>
              <a:rPr lang="en-US" b="1" dirty="0"/>
              <a:t>&amp; </a:t>
            </a:r>
            <a:r>
              <a:rPr lang="en-US" b="1" dirty="0">
                <a:solidFill>
                  <a:schemeClr val="accent5"/>
                </a:solidFill>
              </a:rPr>
              <a:t>Algorithm</a:t>
            </a:r>
            <a:endParaRPr lang="en-US" b="1" dirty="0"/>
          </a:p>
        </p:txBody>
      </p:sp>
      <p:sp>
        <p:nvSpPr>
          <p:cNvPr id="3" name="Content Placeholder 2">
            <a:extLst>
              <a:ext uri="{FF2B5EF4-FFF2-40B4-BE49-F238E27FC236}">
                <a16:creationId xmlns:a16="http://schemas.microsoft.com/office/drawing/2014/main" id="{BFAAC81A-0A00-021C-DCD8-6909007D2763}"/>
              </a:ext>
            </a:extLst>
          </p:cNvPr>
          <p:cNvSpPr>
            <a:spLocks noGrp="1"/>
          </p:cNvSpPr>
          <p:nvPr>
            <p:ph idx="1"/>
          </p:nvPr>
        </p:nvSpPr>
        <p:spPr/>
        <p:txBody>
          <a:bodyPr/>
          <a:lstStyle/>
          <a:p>
            <a:r>
              <a:rPr lang="en-US" dirty="0"/>
              <a:t>Static rules of traditional schedulers cannot adapt to highly dynamic environments</a:t>
            </a:r>
          </a:p>
          <a:p>
            <a:pPr lvl="1"/>
            <a:r>
              <a:rPr lang="en-US" dirty="0"/>
              <a:t>E.g. Cloud-to-Edge Continuum: network bandwidth and node availability change unpredictably</a:t>
            </a:r>
          </a:p>
          <a:p>
            <a:r>
              <a:rPr lang="en-US" dirty="0">
                <a:hlinkClick r:id="rId3"/>
              </a:rPr>
              <a:t>RLSK</a:t>
            </a:r>
            <a:r>
              <a:rPr lang="en-US" dirty="0"/>
              <a:t>: Job scheduler driven by Reinforcement Learning</a:t>
            </a:r>
          </a:p>
          <a:p>
            <a:pPr lvl="1"/>
            <a:r>
              <a:rPr lang="en-US" dirty="0"/>
              <a:t>Predict future resource contention and migrate or schedule pods proactively</a:t>
            </a:r>
          </a:p>
        </p:txBody>
      </p:sp>
      <p:sp>
        <p:nvSpPr>
          <p:cNvPr id="4" name="TextBox 3">
            <a:extLst>
              <a:ext uri="{FF2B5EF4-FFF2-40B4-BE49-F238E27FC236}">
                <a16:creationId xmlns:a16="http://schemas.microsoft.com/office/drawing/2014/main" id="{A7B772F4-5D90-B8BE-A1DC-5BF217867DB4}"/>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5" name="TextBox 4">
            <a:extLst>
              <a:ext uri="{FF2B5EF4-FFF2-40B4-BE49-F238E27FC236}">
                <a16:creationId xmlns:a16="http://schemas.microsoft.com/office/drawing/2014/main" id="{0405D5A0-792F-188B-F64F-BD9CB9E55984}"/>
              </a:ext>
            </a:extLst>
          </p:cNvPr>
          <p:cNvSpPr txBox="1"/>
          <p:nvPr/>
        </p:nvSpPr>
        <p:spPr>
          <a:xfrm>
            <a:off x="11925581" y="6642556"/>
            <a:ext cx="293670" cy="215444"/>
          </a:xfrm>
          <a:prstGeom prst="rect">
            <a:avLst/>
          </a:prstGeom>
          <a:noFill/>
        </p:spPr>
        <p:txBody>
          <a:bodyPr wrap="none" rtlCol="0">
            <a:spAutoFit/>
          </a:bodyPr>
          <a:lstStyle/>
          <a:p>
            <a:pPr algn="ctr"/>
            <a:r>
              <a:rPr lang="en-US" sz="800" dirty="0"/>
              <a:t>24</a:t>
            </a:r>
          </a:p>
        </p:txBody>
      </p:sp>
    </p:spTree>
    <p:extLst>
      <p:ext uri="{BB962C8B-B14F-4D97-AF65-F5344CB8AC3E}">
        <p14:creationId xmlns:p14="http://schemas.microsoft.com/office/powerpoint/2010/main" val="1691449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728BF-9FCE-AD03-8AC0-5914A34230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8E547-5D6E-BFBF-4D61-AF539F386FA5}"/>
              </a:ext>
            </a:extLst>
          </p:cNvPr>
          <p:cNvSpPr>
            <a:spLocks noGrp="1"/>
          </p:cNvSpPr>
          <p:nvPr>
            <p:ph type="title"/>
          </p:nvPr>
        </p:nvSpPr>
        <p:spPr/>
        <p:txBody>
          <a:bodyPr/>
          <a:lstStyle/>
          <a:p>
            <a:r>
              <a:rPr lang="en-US" b="1" dirty="0"/>
              <a:t>Kubernetes Scheduling: Challenges</a:t>
            </a:r>
            <a:br>
              <a:rPr lang="en-US" b="1" dirty="0"/>
            </a:br>
            <a:r>
              <a:rPr lang="en-US" dirty="0"/>
              <a:t>and future directions</a:t>
            </a:r>
          </a:p>
        </p:txBody>
      </p:sp>
      <p:sp>
        <p:nvSpPr>
          <p:cNvPr id="17" name="TextBox 16">
            <a:extLst>
              <a:ext uri="{FF2B5EF4-FFF2-40B4-BE49-F238E27FC236}">
                <a16:creationId xmlns:a16="http://schemas.microsoft.com/office/drawing/2014/main" id="{8C1282FC-5A5D-BADD-1A93-AD95C0DC9EC7}"/>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4" name="Content Placeholder 2">
            <a:extLst>
              <a:ext uri="{FF2B5EF4-FFF2-40B4-BE49-F238E27FC236}">
                <a16:creationId xmlns:a16="http://schemas.microsoft.com/office/drawing/2014/main" id="{3378A881-D038-BFAF-7DD2-BA23E30A5C1C}"/>
              </a:ext>
            </a:extLst>
          </p:cNvPr>
          <p:cNvSpPr>
            <a:spLocks noGrp="1"/>
          </p:cNvSpPr>
          <p:nvPr>
            <p:ph idx="1"/>
          </p:nvPr>
        </p:nvSpPr>
        <p:spPr>
          <a:xfrm>
            <a:off x="838200" y="1825625"/>
            <a:ext cx="10515600" cy="4351338"/>
          </a:xfrm>
        </p:spPr>
        <p:txBody>
          <a:bodyPr>
            <a:normAutofit/>
          </a:bodyPr>
          <a:lstStyle/>
          <a:p>
            <a:r>
              <a:rPr lang="en-US" b="1" dirty="0"/>
              <a:t>AI-Driven Orchestration</a:t>
            </a:r>
            <a:r>
              <a:rPr lang="en-US" dirty="0"/>
              <a:t>: </a:t>
            </a:r>
          </a:p>
          <a:p>
            <a:pPr lvl="1"/>
            <a:r>
              <a:rPr lang="en-US" dirty="0"/>
              <a:t>From static rules to predictive scheduling that anticipates workload spikes and node failures</a:t>
            </a:r>
          </a:p>
          <a:p>
            <a:r>
              <a:rPr lang="en-US" b="1" dirty="0"/>
              <a:t>Holistic Metrics</a:t>
            </a:r>
            <a:r>
              <a:rPr lang="en-US" dirty="0"/>
              <a:t>: </a:t>
            </a:r>
          </a:p>
          <a:p>
            <a:pPr lvl="1"/>
            <a:r>
              <a:rPr lang="en-US" dirty="0"/>
              <a:t>Expanding scheduling criteria beyond simple CPU/Memory requests to include network I/O, storage performance and carbon footprint metrics</a:t>
            </a:r>
          </a:p>
          <a:p>
            <a:r>
              <a:rPr lang="en-US" b="1" dirty="0"/>
              <a:t>Federated Scheduling</a:t>
            </a:r>
          </a:p>
          <a:p>
            <a:pPr lvl="1"/>
            <a:r>
              <a:rPr lang="en-US" dirty="0"/>
              <a:t>Cross-cluster and multi-cloud scheduling to manage workloads across the globe</a:t>
            </a:r>
          </a:p>
        </p:txBody>
      </p:sp>
      <p:sp>
        <p:nvSpPr>
          <p:cNvPr id="3" name="TextBox 2">
            <a:extLst>
              <a:ext uri="{FF2B5EF4-FFF2-40B4-BE49-F238E27FC236}">
                <a16:creationId xmlns:a16="http://schemas.microsoft.com/office/drawing/2014/main" id="{AD76A0BF-CE7F-8A99-D9C4-CC608600273E}"/>
              </a:ext>
            </a:extLst>
          </p:cNvPr>
          <p:cNvSpPr txBox="1"/>
          <p:nvPr/>
        </p:nvSpPr>
        <p:spPr>
          <a:xfrm>
            <a:off x="11925581" y="6642556"/>
            <a:ext cx="293670" cy="215444"/>
          </a:xfrm>
          <a:prstGeom prst="rect">
            <a:avLst/>
          </a:prstGeom>
          <a:noFill/>
        </p:spPr>
        <p:txBody>
          <a:bodyPr wrap="none" rtlCol="0">
            <a:spAutoFit/>
          </a:bodyPr>
          <a:lstStyle/>
          <a:p>
            <a:pPr algn="ctr"/>
            <a:r>
              <a:rPr lang="en-US" sz="800" dirty="0"/>
              <a:t>25</a:t>
            </a:r>
          </a:p>
        </p:txBody>
      </p:sp>
    </p:spTree>
    <p:extLst>
      <p:ext uri="{BB962C8B-B14F-4D97-AF65-F5344CB8AC3E}">
        <p14:creationId xmlns:p14="http://schemas.microsoft.com/office/powerpoint/2010/main" val="3578959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D693-1418-FF5A-490C-A9CE82671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C5CA4-3180-8BFD-5D04-BDE244D67B51}"/>
              </a:ext>
            </a:extLst>
          </p:cNvPr>
          <p:cNvSpPr>
            <a:spLocks noGrp="1"/>
          </p:cNvSpPr>
          <p:nvPr>
            <p:ph type="title"/>
          </p:nvPr>
        </p:nvSpPr>
        <p:spPr/>
        <p:txBody>
          <a:bodyPr/>
          <a:lstStyle/>
          <a:p>
            <a:r>
              <a:rPr lang="en-US" b="1" dirty="0"/>
              <a:t>Kubernetes Scheduling: Takeaways</a:t>
            </a:r>
            <a:endParaRPr lang="en-US" dirty="0"/>
          </a:p>
        </p:txBody>
      </p:sp>
      <p:sp>
        <p:nvSpPr>
          <p:cNvPr id="17" name="TextBox 16">
            <a:extLst>
              <a:ext uri="{FF2B5EF4-FFF2-40B4-BE49-F238E27FC236}">
                <a16:creationId xmlns:a16="http://schemas.microsoft.com/office/drawing/2014/main" id="{E749B3A9-6F60-CF94-F28A-60337CEDEB22}"/>
              </a:ext>
            </a:extLst>
          </p:cNvPr>
          <p:cNvSpPr txBox="1"/>
          <p:nvPr/>
        </p:nvSpPr>
        <p:spPr>
          <a:xfrm>
            <a:off x="0" y="6596390"/>
            <a:ext cx="9377570" cy="261610"/>
          </a:xfrm>
          <a:prstGeom prst="rect">
            <a:avLst/>
          </a:prstGeom>
          <a:noFill/>
        </p:spPr>
        <p:txBody>
          <a:bodyPr wrap="square">
            <a:spAutoFit/>
          </a:bodyPr>
          <a:lstStyle/>
          <a:p>
            <a:r>
              <a:rPr lang="en-US" sz="1100" dirty="0"/>
              <a:t>Burns, B., Grant, B., Oppenheimer, D., Brewer, E., &amp; Wilkes, J. (2016). </a:t>
            </a:r>
            <a:r>
              <a:rPr lang="en-US" sz="1100" i="1" dirty="0"/>
              <a:t>Borg, Omega, and Kubernetes</a:t>
            </a:r>
            <a:r>
              <a:rPr lang="en-US" sz="1100" dirty="0"/>
              <a:t>. Communications of the ACM, 59(5), 50–57.</a:t>
            </a:r>
          </a:p>
        </p:txBody>
      </p:sp>
      <p:sp>
        <p:nvSpPr>
          <p:cNvPr id="4" name="Content Placeholder 2">
            <a:extLst>
              <a:ext uri="{FF2B5EF4-FFF2-40B4-BE49-F238E27FC236}">
                <a16:creationId xmlns:a16="http://schemas.microsoft.com/office/drawing/2014/main" id="{C1269790-92B5-CE90-0C19-2AE87883171B}"/>
              </a:ext>
            </a:extLst>
          </p:cNvPr>
          <p:cNvSpPr>
            <a:spLocks noGrp="1"/>
          </p:cNvSpPr>
          <p:nvPr>
            <p:ph idx="1"/>
          </p:nvPr>
        </p:nvSpPr>
        <p:spPr>
          <a:xfrm>
            <a:off x="838200" y="1825625"/>
            <a:ext cx="10515600" cy="4351338"/>
          </a:xfrm>
        </p:spPr>
        <p:txBody>
          <a:bodyPr>
            <a:normAutofit/>
          </a:bodyPr>
          <a:lstStyle/>
          <a:p>
            <a:r>
              <a:rPr lang="en-US" dirty="0"/>
              <a:t>Kubernetes has a highly extensible arch</a:t>
            </a:r>
          </a:p>
          <a:p>
            <a:pPr lvl="1"/>
            <a:r>
              <a:rPr lang="en-US" dirty="0"/>
              <a:t>But out-of-box scheduling is insufficient for highly specialized, heterogeneous, or massive-scale environments</a:t>
            </a:r>
          </a:p>
          <a:p>
            <a:r>
              <a:rPr lang="en-US" dirty="0"/>
              <a:t>Customizing the scheduler involves trade-offs between decision speed (throughput) and placement quality (efficiency)</a:t>
            </a:r>
          </a:p>
        </p:txBody>
      </p:sp>
      <p:sp>
        <p:nvSpPr>
          <p:cNvPr id="6" name="TextBox 5">
            <a:extLst>
              <a:ext uri="{FF2B5EF4-FFF2-40B4-BE49-F238E27FC236}">
                <a16:creationId xmlns:a16="http://schemas.microsoft.com/office/drawing/2014/main" id="{E042B847-3247-96FE-AD0E-32A805999F8F}"/>
              </a:ext>
            </a:extLst>
          </p:cNvPr>
          <p:cNvSpPr txBox="1"/>
          <p:nvPr/>
        </p:nvSpPr>
        <p:spPr>
          <a:xfrm>
            <a:off x="11925581" y="6642556"/>
            <a:ext cx="293670" cy="215444"/>
          </a:xfrm>
          <a:prstGeom prst="rect">
            <a:avLst/>
          </a:prstGeom>
          <a:noFill/>
        </p:spPr>
        <p:txBody>
          <a:bodyPr wrap="none" rtlCol="0">
            <a:spAutoFit/>
          </a:bodyPr>
          <a:lstStyle/>
          <a:p>
            <a:pPr algn="ctr"/>
            <a:r>
              <a:rPr lang="en-US" sz="800" dirty="0"/>
              <a:t>26</a:t>
            </a:r>
          </a:p>
        </p:txBody>
      </p:sp>
    </p:spTree>
    <p:extLst>
      <p:ext uri="{BB962C8B-B14F-4D97-AF65-F5344CB8AC3E}">
        <p14:creationId xmlns:p14="http://schemas.microsoft.com/office/powerpoint/2010/main" val="1396849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BC07E-22F3-C4FE-3E82-4A2C438A2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F3E4A-ED08-0D9D-76A6-1FD573F9DF00}"/>
              </a:ext>
            </a:extLst>
          </p:cNvPr>
          <p:cNvSpPr>
            <a:spLocks noGrp="1"/>
          </p:cNvSpPr>
          <p:nvPr>
            <p:ph type="title"/>
          </p:nvPr>
        </p:nvSpPr>
        <p:spPr>
          <a:xfrm>
            <a:off x="838200" y="365125"/>
            <a:ext cx="11353800" cy="1325563"/>
          </a:xfrm>
        </p:spPr>
        <p:txBody>
          <a:bodyPr>
            <a:normAutofit/>
          </a:bodyPr>
          <a:lstStyle/>
          <a:p>
            <a:r>
              <a:rPr lang="en-US" sz="4000" b="1" dirty="0"/>
              <a:t>Standardization, Orchestration, and Optimization</a:t>
            </a:r>
          </a:p>
        </p:txBody>
      </p:sp>
      <p:sp>
        <p:nvSpPr>
          <p:cNvPr id="3" name="Content Placeholder 2">
            <a:extLst>
              <a:ext uri="{FF2B5EF4-FFF2-40B4-BE49-F238E27FC236}">
                <a16:creationId xmlns:a16="http://schemas.microsoft.com/office/drawing/2014/main" id="{8BFCED25-72D8-27D2-161E-4B4E0A9E46AE}"/>
              </a:ext>
            </a:extLst>
          </p:cNvPr>
          <p:cNvSpPr>
            <a:spLocks noGrp="1"/>
          </p:cNvSpPr>
          <p:nvPr>
            <p:ph idx="1"/>
          </p:nvPr>
        </p:nvSpPr>
        <p:spPr>
          <a:xfrm>
            <a:off x="838200" y="1825625"/>
            <a:ext cx="7408985" cy="4351338"/>
          </a:xfrm>
        </p:spPr>
        <p:txBody>
          <a:bodyPr>
            <a:normAutofit lnSpcReduction="10000"/>
          </a:bodyPr>
          <a:lstStyle/>
          <a:p>
            <a:r>
              <a:rPr lang="en-US" dirty="0"/>
              <a:t>Solving the problem on a </a:t>
            </a:r>
            <a:r>
              <a:rPr lang="en-US" b="1" dirty="0"/>
              <a:t>single machine</a:t>
            </a:r>
            <a:r>
              <a:rPr lang="en-US" dirty="0"/>
              <a:t>: </a:t>
            </a:r>
          </a:p>
          <a:p>
            <a:pPr lvl="1"/>
            <a:r>
              <a:rPr lang="en-US" i="1" dirty="0">
                <a:hlinkClick r:id="rId2"/>
              </a:rPr>
              <a:t>Docker: Lightweight Linux containers for consistent development and deployment</a:t>
            </a:r>
            <a:endParaRPr lang="en-US" i="1" dirty="0"/>
          </a:p>
          <a:p>
            <a:pPr lvl="1"/>
            <a:endParaRPr lang="en-US" dirty="0"/>
          </a:p>
          <a:p>
            <a:r>
              <a:rPr lang="en-US" dirty="0"/>
              <a:t>Managing containers </a:t>
            </a:r>
            <a:r>
              <a:rPr lang="en-US" b="1" dirty="0"/>
              <a:t>over a cluster</a:t>
            </a:r>
            <a:r>
              <a:rPr lang="en-US" dirty="0"/>
              <a:t>: </a:t>
            </a:r>
          </a:p>
          <a:p>
            <a:pPr lvl="1"/>
            <a:r>
              <a:rPr lang="en-US" i="1" dirty="0">
                <a:hlinkClick r:id="rId3"/>
              </a:rPr>
              <a:t>Borg, Omega and Kubernetes</a:t>
            </a:r>
            <a:endParaRPr lang="en-US" i="1" dirty="0"/>
          </a:p>
          <a:p>
            <a:pPr lvl="1"/>
            <a:endParaRPr lang="en-US" b="1" dirty="0"/>
          </a:p>
          <a:p>
            <a:r>
              <a:rPr lang="en-US" dirty="0"/>
              <a:t>Ongoing challenges to improve </a:t>
            </a:r>
            <a:r>
              <a:rPr lang="en-US" b="1" dirty="0"/>
              <a:t>scheduling efficiency</a:t>
            </a:r>
            <a:r>
              <a:rPr lang="en-US" dirty="0"/>
              <a:t> over managed container clusters</a:t>
            </a:r>
          </a:p>
          <a:p>
            <a:pPr lvl="1"/>
            <a:r>
              <a:rPr lang="en-US" i="1" dirty="0">
                <a:hlinkClick r:id="rId4"/>
              </a:rPr>
              <a:t>Kubernetes scheduling: Taxonomy, ongoing issues and challenges</a:t>
            </a:r>
            <a:endParaRPr lang="en-US" i="1" dirty="0"/>
          </a:p>
          <a:p>
            <a:endParaRPr lang="en-US" dirty="0"/>
          </a:p>
        </p:txBody>
      </p:sp>
      <p:pic>
        <p:nvPicPr>
          <p:cNvPr id="8" name="Graphic 7">
            <a:extLst>
              <a:ext uri="{FF2B5EF4-FFF2-40B4-BE49-F238E27FC236}">
                <a16:creationId xmlns:a16="http://schemas.microsoft.com/office/drawing/2014/main" id="{E5147FBD-32F9-89D3-2B94-8D00CAD887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10485" y="2363992"/>
            <a:ext cx="2678076" cy="574179"/>
          </a:xfrm>
          <a:prstGeom prst="rect">
            <a:avLst/>
          </a:prstGeom>
        </p:spPr>
      </p:pic>
      <p:pic>
        <p:nvPicPr>
          <p:cNvPr id="9" name="Picture 4">
            <a:extLst>
              <a:ext uri="{FF2B5EF4-FFF2-40B4-BE49-F238E27FC236}">
                <a16:creationId xmlns:a16="http://schemas.microsoft.com/office/drawing/2014/main" id="{766779CD-9F56-3322-FC7C-3ED5F401FF9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7185" y="4001294"/>
            <a:ext cx="3404677" cy="82545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D85A831-85C6-7A18-762D-D78485B00A42}"/>
              </a:ext>
            </a:extLst>
          </p:cNvPr>
          <p:cNvSpPr txBox="1"/>
          <p:nvPr/>
        </p:nvSpPr>
        <p:spPr>
          <a:xfrm>
            <a:off x="0" y="6257836"/>
            <a:ext cx="10601739" cy="600164"/>
          </a:xfrm>
          <a:prstGeom prst="rect">
            <a:avLst/>
          </a:prstGeom>
          <a:noFill/>
        </p:spPr>
        <p:txBody>
          <a:bodyPr wrap="square">
            <a:spAutoFit/>
          </a:bodyPr>
          <a:lstStyle/>
          <a:p>
            <a:r>
              <a:rPr lang="en-US" sz="1100" dirty="0"/>
              <a:t>Merkel, D. (2014). </a:t>
            </a:r>
            <a:r>
              <a:rPr lang="en-US" sz="1100" i="1" dirty="0"/>
              <a:t>Docker: Lightweight Linux containers for consistent development and deployment</a:t>
            </a:r>
            <a:r>
              <a:rPr lang="en-US" sz="1100" dirty="0"/>
              <a:t>. Linux Journal, 2014(239), 2–9.</a:t>
            </a:r>
          </a:p>
          <a:p>
            <a:r>
              <a:rPr lang="en-US" sz="1100" dirty="0"/>
              <a:t>Burns, B., Grant, B., Oppenheimer, D., Brewer, E., &amp; Wilkes, J. (2016). </a:t>
            </a:r>
            <a:r>
              <a:rPr lang="en-US" sz="1100" i="1" dirty="0"/>
              <a:t>Borg, Omega, and Kubernetes</a:t>
            </a:r>
            <a:r>
              <a:rPr lang="en-US" sz="1100" dirty="0"/>
              <a:t>. Communications of the ACM, 59(5), 50–57.</a:t>
            </a:r>
          </a:p>
          <a:p>
            <a:r>
              <a:rPr lang="en-US" sz="1100" dirty="0"/>
              <a:t>Carrión, C. (2022). </a:t>
            </a:r>
            <a:r>
              <a:rPr lang="en-US" sz="1100" i="1" dirty="0"/>
              <a:t>Kubernetes scheduling: Taxonomy, ongoing issues and challenges</a:t>
            </a:r>
            <a:r>
              <a:rPr lang="en-US" sz="1100" dirty="0"/>
              <a:t>. ACM Computing Surveys, 55(7), 1-37.</a:t>
            </a:r>
          </a:p>
        </p:txBody>
      </p:sp>
      <p:sp>
        <p:nvSpPr>
          <p:cNvPr id="4" name="TextBox 3">
            <a:extLst>
              <a:ext uri="{FF2B5EF4-FFF2-40B4-BE49-F238E27FC236}">
                <a16:creationId xmlns:a16="http://schemas.microsoft.com/office/drawing/2014/main" id="{93305E17-DC79-2C6D-0D63-E9DA01C94F0D}"/>
              </a:ext>
            </a:extLst>
          </p:cNvPr>
          <p:cNvSpPr txBox="1"/>
          <p:nvPr/>
        </p:nvSpPr>
        <p:spPr>
          <a:xfrm>
            <a:off x="11925581" y="6642556"/>
            <a:ext cx="293670" cy="215444"/>
          </a:xfrm>
          <a:prstGeom prst="rect">
            <a:avLst/>
          </a:prstGeom>
          <a:noFill/>
        </p:spPr>
        <p:txBody>
          <a:bodyPr wrap="none" rtlCol="0">
            <a:spAutoFit/>
          </a:bodyPr>
          <a:lstStyle/>
          <a:p>
            <a:pPr algn="ctr"/>
            <a:r>
              <a:rPr lang="en-US" sz="800" dirty="0"/>
              <a:t>27</a:t>
            </a:r>
          </a:p>
        </p:txBody>
      </p:sp>
    </p:spTree>
    <p:extLst>
      <p:ext uri="{BB962C8B-B14F-4D97-AF65-F5344CB8AC3E}">
        <p14:creationId xmlns:p14="http://schemas.microsoft.com/office/powerpoint/2010/main" val="4165396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F3143-ADBD-9023-1D58-AEE7A0A50A41}"/>
              </a:ext>
            </a:extLst>
          </p:cNvPr>
          <p:cNvSpPr>
            <a:spLocks noGrp="1"/>
          </p:cNvSpPr>
          <p:nvPr>
            <p:ph type="title"/>
          </p:nvPr>
        </p:nvSpPr>
        <p:spPr/>
        <p:txBody>
          <a:bodyPr/>
          <a:lstStyle/>
          <a:p>
            <a:r>
              <a:rPr lang="en-US" b="1" dirty="0"/>
              <a:t>References</a:t>
            </a:r>
          </a:p>
        </p:txBody>
      </p:sp>
      <p:sp>
        <p:nvSpPr>
          <p:cNvPr id="3" name="Content Placeholder 2">
            <a:extLst>
              <a:ext uri="{FF2B5EF4-FFF2-40B4-BE49-F238E27FC236}">
                <a16:creationId xmlns:a16="http://schemas.microsoft.com/office/drawing/2014/main" id="{D8BBED6D-7FE2-6518-23D6-D8432AC31460}"/>
              </a:ext>
            </a:extLst>
          </p:cNvPr>
          <p:cNvSpPr>
            <a:spLocks noGrp="1"/>
          </p:cNvSpPr>
          <p:nvPr>
            <p:ph idx="1"/>
          </p:nvPr>
        </p:nvSpPr>
        <p:spPr/>
        <p:txBody>
          <a:bodyPr>
            <a:normAutofit lnSpcReduction="10000"/>
          </a:bodyPr>
          <a:lstStyle/>
          <a:p>
            <a:r>
              <a:rPr lang="en-US" sz="2000" dirty="0"/>
              <a:t>Merkel, D. (2014). </a:t>
            </a:r>
            <a:r>
              <a:rPr lang="en-US" sz="2000" i="1" dirty="0"/>
              <a:t>Docker: Lightweight Linux containers for consistent development and deployment</a:t>
            </a:r>
            <a:r>
              <a:rPr lang="en-US" sz="2000" dirty="0"/>
              <a:t>. Linux Journal, 2014(239), 2–9.</a:t>
            </a:r>
          </a:p>
          <a:p>
            <a:r>
              <a:rPr lang="en-US" sz="2000" dirty="0"/>
              <a:t>Burns, B., Grant, B., Oppenheimer, D., Brewer, E., &amp; Wilkes, J. (2016). </a:t>
            </a:r>
            <a:r>
              <a:rPr lang="en-US" sz="2000" i="1" dirty="0"/>
              <a:t>Borg, Omega, and Kubernetes</a:t>
            </a:r>
            <a:r>
              <a:rPr lang="en-US" sz="2000" dirty="0"/>
              <a:t>. Communications of the ACM, 59(5), 50–57.</a:t>
            </a:r>
          </a:p>
          <a:p>
            <a:r>
              <a:rPr lang="en-US" sz="2000" dirty="0"/>
              <a:t>Carrión, C. (2022). </a:t>
            </a:r>
            <a:r>
              <a:rPr lang="en-US" sz="2000" i="1" dirty="0"/>
              <a:t>Kubernetes scheduling: Taxonomy, ongoing issues and challenges</a:t>
            </a:r>
            <a:r>
              <a:rPr lang="en-US" sz="2000" dirty="0"/>
              <a:t>. ACM Computing Surveys, 55(7), 1-37.</a:t>
            </a:r>
          </a:p>
          <a:p>
            <a:r>
              <a:rPr lang="en-US" sz="2000" dirty="0"/>
              <a:t>Abhishek Verma, Luis Pedrosa, Madhukar </a:t>
            </a:r>
            <a:r>
              <a:rPr lang="en-US" sz="2000" dirty="0" err="1"/>
              <a:t>Korupolu</a:t>
            </a:r>
            <a:r>
              <a:rPr lang="en-US" sz="2000" dirty="0"/>
              <a:t>, David Oppenheimer, Eric Tune, and John Wilkes. 2015. Large-scale cluster management at Google with Borg. In Proceedings of the Tenth European Conference on Computer Systems (</a:t>
            </a:r>
            <a:r>
              <a:rPr lang="en-US" sz="2000" dirty="0" err="1"/>
              <a:t>EuroSys</a:t>
            </a:r>
            <a:r>
              <a:rPr lang="en-US" sz="2000" dirty="0"/>
              <a:t> '15). Association for Computing Machinery, New York, NY, USA, Article 18, 1–17.</a:t>
            </a:r>
          </a:p>
          <a:p>
            <a:r>
              <a:rPr lang="en-US" sz="2000" dirty="0"/>
              <a:t>Malte Schwarzkopf, Andy Konwinski, Michael Abd-El-Malek, and John Wilkes. 2013. Omega: flexible, scalable schedulers for large compute clusters. In Proceedings of the 8th ACM European Conference on Computer Systems (</a:t>
            </a:r>
            <a:r>
              <a:rPr lang="en-US" sz="2000" dirty="0" err="1"/>
              <a:t>EuroSys</a:t>
            </a:r>
            <a:r>
              <a:rPr lang="en-US" sz="2000" dirty="0"/>
              <a:t> '13). Association for Computing Machinery, New York, NY, USA, 351–364. </a:t>
            </a:r>
          </a:p>
        </p:txBody>
      </p:sp>
      <p:sp>
        <p:nvSpPr>
          <p:cNvPr id="4" name="TextBox 3">
            <a:extLst>
              <a:ext uri="{FF2B5EF4-FFF2-40B4-BE49-F238E27FC236}">
                <a16:creationId xmlns:a16="http://schemas.microsoft.com/office/drawing/2014/main" id="{6C8525AD-4438-6F64-C39D-ABABE7334001}"/>
              </a:ext>
            </a:extLst>
          </p:cNvPr>
          <p:cNvSpPr txBox="1"/>
          <p:nvPr/>
        </p:nvSpPr>
        <p:spPr>
          <a:xfrm>
            <a:off x="11925581" y="6642556"/>
            <a:ext cx="293670" cy="215444"/>
          </a:xfrm>
          <a:prstGeom prst="rect">
            <a:avLst/>
          </a:prstGeom>
          <a:noFill/>
        </p:spPr>
        <p:txBody>
          <a:bodyPr wrap="none" rtlCol="0">
            <a:spAutoFit/>
          </a:bodyPr>
          <a:lstStyle/>
          <a:p>
            <a:pPr algn="ctr"/>
            <a:r>
              <a:rPr lang="en-US" sz="800" dirty="0"/>
              <a:t>28</a:t>
            </a:r>
          </a:p>
        </p:txBody>
      </p:sp>
    </p:spTree>
    <p:extLst>
      <p:ext uri="{BB962C8B-B14F-4D97-AF65-F5344CB8AC3E}">
        <p14:creationId xmlns:p14="http://schemas.microsoft.com/office/powerpoint/2010/main" val="11153765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729</TotalTime>
  <Words>3288</Words>
  <Application>Microsoft Office PowerPoint</Application>
  <PresentationFormat>宽屏</PresentationFormat>
  <Paragraphs>303</Paragraphs>
  <Slides>28</Slides>
  <Notes>19</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28</vt:i4>
      </vt:variant>
    </vt:vector>
  </HeadingPairs>
  <TitlesOfParts>
    <vt:vector size="32" baseType="lpstr">
      <vt:lpstr>Aptos</vt:lpstr>
      <vt:lpstr>Aptos Display</vt:lpstr>
      <vt:lpstr>Arial</vt:lpstr>
      <vt:lpstr>Office Theme</vt:lpstr>
      <vt:lpstr>From Docker to Kubernetes</vt:lpstr>
      <vt:lpstr>Why do we need containers? </vt:lpstr>
      <vt:lpstr>Standardization, Orchestration, and Optimization</vt:lpstr>
      <vt:lpstr>    Containers vs. Virtual Machines</vt:lpstr>
      <vt:lpstr>    Key Ingredients (by 2014 and v0.7)</vt:lpstr>
      <vt:lpstr>    Key Ingredients Updates</vt:lpstr>
      <vt:lpstr>    Bring Together Ingredients</vt:lpstr>
      <vt:lpstr>    Milestone</vt:lpstr>
      <vt:lpstr>      e’s Road to K8s and lessons learned</vt:lpstr>
      <vt:lpstr>      e’s Reasoning on Containers</vt:lpstr>
      <vt:lpstr>          Borg: Architecture</vt:lpstr>
      <vt:lpstr>          Borg: How it saves money</vt:lpstr>
      <vt:lpstr>          Borg: Lessons</vt:lpstr>
      <vt:lpstr>          Omega: Design</vt:lpstr>
      <vt:lpstr>          Omega: Experiments</vt:lpstr>
      <vt:lpstr>    : the open-source synthesis</vt:lpstr>
      <vt:lpstr>    : declarative, and labels</vt:lpstr>
      <vt:lpstr>      e’s Updated View on Containers</vt:lpstr>
      <vt:lpstr>Kubernetes Scheduling:  Taxonomy, Ongoing Issues, and Challenges</vt:lpstr>
      <vt:lpstr>Kubernetes Scheduling: Ongoing Issues with the default schedulers</vt:lpstr>
      <vt:lpstr>Kubernetes Scheduling: Taxonomy of existing scheduling techniques</vt:lpstr>
      <vt:lpstr>Examples:  Workload Type &amp; Architectural Integration</vt:lpstr>
      <vt:lpstr>Examples:  Architectural Integration &amp; Algorithm</vt:lpstr>
      <vt:lpstr>Examples:  Workload Type &amp; Algorithm</vt:lpstr>
      <vt:lpstr>Kubernetes Scheduling: Challenges and future directions</vt:lpstr>
      <vt:lpstr>Kubernetes Scheduling: Takeaways</vt:lpstr>
      <vt:lpstr>Standardization, Orchestration, and Optimization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Shuyuan Zhang (SDS,225040535)</dc:creator>
  <cp:lastModifiedBy>Yeh-Ching Chung</cp:lastModifiedBy>
  <cp:revision>44</cp:revision>
  <dcterms:created xsi:type="dcterms:W3CDTF">2026-04-13T04:26:10Z</dcterms:created>
  <dcterms:modified xsi:type="dcterms:W3CDTF">2026-04-14T11:12:06Z</dcterms:modified>
</cp:coreProperties>
</file>