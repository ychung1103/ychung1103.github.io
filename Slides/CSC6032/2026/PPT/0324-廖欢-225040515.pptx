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9"/>
  </p:notesMasterIdLst>
  <p:handoutMasterIdLst>
    <p:handoutMasterId r:id="rId40"/>
  </p:handoutMasterIdLst>
  <p:sldIdLst>
    <p:sldId id="256" r:id="rId3"/>
    <p:sldId id="600" r:id="rId4"/>
    <p:sldId id="531" r:id="rId5"/>
    <p:sldId id="602" r:id="rId6"/>
    <p:sldId id="603" r:id="rId7"/>
    <p:sldId id="529" r:id="rId8"/>
    <p:sldId id="530" r:id="rId9"/>
    <p:sldId id="521" r:id="rId10"/>
    <p:sldId id="517" r:id="rId11"/>
    <p:sldId id="604" r:id="rId12"/>
    <p:sldId id="520" r:id="rId13"/>
    <p:sldId id="528" r:id="rId14"/>
    <p:sldId id="527" r:id="rId15"/>
    <p:sldId id="532" r:id="rId16"/>
    <p:sldId id="578" r:id="rId17"/>
    <p:sldId id="580" r:id="rId18"/>
    <p:sldId id="582" r:id="rId19"/>
    <p:sldId id="611" r:id="rId20"/>
    <p:sldId id="579" r:id="rId21"/>
    <p:sldId id="584" r:id="rId22"/>
    <p:sldId id="583" r:id="rId23"/>
    <p:sldId id="607" r:id="rId24"/>
    <p:sldId id="608" r:id="rId25"/>
    <p:sldId id="587" r:id="rId26"/>
    <p:sldId id="585" r:id="rId27"/>
    <p:sldId id="609" r:id="rId28"/>
    <p:sldId id="590" r:id="rId29"/>
    <p:sldId id="589" r:id="rId30"/>
    <p:sldId id="591" r:id="rId31"/>
    <p:sldId id="592" r:id="rId32"/>
    <p:sldId id="593" r:id="rId33"/>
    <p:sldId id="610" r:id="rId34"/>
    <p:sldId id="594" r:id="rId35"/>
    <p:sldId id="596" r:id="rId36"/>
    <p:sldId id="597" r:id="rId37"/>
    <p:sldId id="598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6766FF"/>
    <a:srgbClr val="99009B"/>
    <a:srgbClr val="E6E0EC"/>
    <a:srgbClr val="E9E5F7"/>
    <a:srgbClr val="F3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82997"/>
  </p:normalViewPr>
  <p:slideViewPr>
    <p:cSldViewPr snapToGrid="0">
      <p:cViewPr varScale="1">
        <p:scale>
          <a:sx n="175" d="100"/>
          <a:sy n="175" d="100"/>
        </p:scale>
        <p:origin x="26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sz="1600" b="1" dirty="0"/>
              <a:t>Good afternoon everyone, I am </a:t>
            </a:r>
            <a:r>
              <a:rPr lang="en" altLang="zh-CN" sz="1600" dirty="0"/>
              <a:t>Huan Liao</a:t>
            </a:r>
            <a:r>
              <a:rPr lang="en-US" sz="1600" b="1" dirty="0"/>
              <a:t> and today I </a:t>
            </a:r>
            <a:r>
              <a:rPr lang="en" altLang="zh-CN" sz="1600" dirty="0"/>
              <a:t>Today, I will present my report: </a:t>
            </a:r>
            <a:r>
              <a:rPr lang="en" altLang="zh-CN" sz="1600" b="1" dirty="0"/>
              <a:t>'Three-Layer System Stack for Spoken Dialogue Systems.’</a:t>
            </a:r>
            <a:r>
              <a:rPr lang="en" altLang="zh-CN" sz="1600" dirty="0"/>
              <a:t> </a:t>
            </a:r>
          </a:p>
          <a:p>
            <a:r>
              <a:rPr lang="en" altLang="zh-CN" sz="1600" dirty="0"/>
              <a:t>I will discuss how we can use Operating System principles to build better Spoken Dialogue</a:t>
            </a:r>
            <a:r>
              <a:rPr lang="zh-CN" altLang="en-US" sz="1600" dirty="0"/>
              <a:t> </a:t>
            </a:r>
            <a:r>
              <a:rPr lang="en-US" altLang="zh-CN" sz="1600" dirty="0"/>
              <a:t>System</a:t>
            </a:r>
            <a:r>
              <a:rPr lang="en" altLang="zh-CN" sz="1600" dirty="0"/>
              <a:t>.</a:t>
            </a:r>
            <a:br>
              <a:rPr lang="en-US" altLang="zh-CN" sz="1600" b="1" dirty="0">
                <a:sym typeface="+mn-ea"/>
              </a:rPr>
            </a:br>
            <a:endParaRPr lang="en-US" altLang="zh-CN" sz="1600" b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F821-AFD3-7133-4F27-FCC5BBA8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E3F88E1-3A65-FF36-B76D-26165264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CC5F63-E75C-725D-86E5-D85666548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" altLang="zh-CN" sz="1600" dirty="0"/>
              <a:t>Here is the outline for today. First, I’ll cover the background and why we need a 'System' perspective. </a:t>
            </a:r>
          </a:p>
          <a:p>
            <a:r>
              <a:rPr lang="en" altLang="zh-CN" sz="1600" dirty="0"/>
              <a:t>Then, I will introduce my </a:t>
            </a:r>
            <a:r>
              <a:rPr lang="en" altLang="zh-CN" sz="1600" b="1" dirty="0"/>
              <a:t>3-layer stack</a:t>
            </a:r>
            <a:r>
              <a:rPr lang="en" altLang="zh-CN" sz="1600" dirty="0"/>
              <a:t>: Programming, Workload, and Runtime. </a:t>
            </a:r>
          </a:p>
          <a:p>
            <a:r>
              <a:rPr lang="en" altLang="zh-CN" sz="1600" dirty="0"/>
              <a:t>Finally, I will conclude with some highlights.</a:t>
            </a:r>
            <a:endParaRPr lang="en-US" altLang="zh-TW" sz="16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7C229-28CC-FC73-FE8A-750855B25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338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1600" b="1"/>
              <a:t>Now lets start with the introduction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D436-3B60-4930-FD9E-B871BBF7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BDC12-B03C-E47D-E99F-8B5563286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7CA0-E648-B208-44A2-C74A6BDB819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800" dirty="0"/>
              <a:t>"First, what is a Spoken Dialogue System (SDS)? You probably use them every day, like Siri or </a:t>
            </a:r>
            <a:r>
              <a:rPr lang="en" altLang="zh-CN" sz="1800" dirty="0" err="1"/>
              <a:t>Doubao</a:t>
            </a:r>
            <a:r>
              <a:rPr lang="en" altLang="zh-CN" sz="1800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800" dirty="0"/>
              <a:t>A good system needs to support</a:t>
            </a:r>
            <a:r>
              <a:rPr lang="zh-CN" altLang="en-US" sz="1800" dirty="0"/>
              <a:t> 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interaction</a:t>
            </a:r>
            <a:r>
              <a:rPr lang="en" altLang="zh-CN" sz="1800" dirty="0"/>
              <a:t>, and allow you to interrupt anytime. This is called </a:t>
            </a:r>
            <a:r>
              <a:rPr lang="en" altLang="zh-CN" sz="1800" b="1" dirty="0"/>
              <a:t>Full-duplex interaction</a:t>
            </a:r>
            <a:r>
              <a:rPr lang="en" altLang="zh-CN" sz="1800" dirty="0"/>
              <a:t>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800" b="1" dirty="0"/>
              <a:t>Now, let’s take a quick look at an example video.</a:t>
            </a:r>
            <a:r>
              <a:rPr lang="en" altLang="zh-CN" sz="1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438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6351-1E6E-C401-7BD8-023228BC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75328-F0B9-A853-3770-70CCE83AD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02E55-B61E-E7E9-3F79-07D418B6425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2400" dirty="0"/>
              <a:t>The </a:t>
            </a:r>
            <a:r>
              <a:rPr lang="en" altLang="zh-CN" sz="2400" b="1" dirty="0">
                <a:latin typeface="Times New Roman Bold" panose="02020603050405020304" charset="0"/>
              </a:rPr>
              <a:t>Spoken Dialogue</a:t>
            </a:r>
            <a:r>
              <a:rPr lang="zh-CN" altLang="en-US" sz="2400" b="1" dirty="0">
                <a:latin typeface="Times New Roman Bold" panose="02020603050405020304" charset="0"/>
              </a:rPr>
              <a:t> </a:t>
            </a:r>
            <a:r>
              <a:rPr lang="en-US" altLang="zh-CN" sz="2400" b="1" dirty="0">
                <a:latin typeface="Times New Roman Bold" panose="02020603050405020304" charset="0"/>
              </a:rPr>
              <a:t>System </a:t>
            </a:r>
            <a:r>
              <a:rPr lang="en" altLang="zh-CN" sz="2400" dirty="0"/>
              <a:t>technology has changed a lot. Before 2022, we used the 'Pipeline Era.’ </a:t>
            </a:r>
          </a:p>
          <a:p>
            <a:r>
              <a:rPr lang="en" altLang="zh-CN" sz="2400" dirty="0"/>
              <a:t>This was like ASR then LLM then TTS. It was very slow. Now, in 2025 and beyond, we are in the </a:t>
            </a:r>
            <a:r>
              <a:rPr lang="en" altLang="zh-CN" sz="2400" b="1" dirty="0"/>
              <a:t>'Real-time Streaming'</a:t>
            </a:r>
            <a:r>
              <a:rPr lang="en" altLang="zh-CN" sz="2400" dirty="0"/>
              <a:t> era, where models are much more integrated and faster."</a:t>
            </a:r>
            <a:endParaRPr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49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altLang="zh-CN" sz="1600" b="1" dirty="0"/>
              <a:t>So, How do we build a dialogue system, from an operating system perspective?</a:t>
            </a:r>
            <a:endParaRPr lang="en" altLang="zh-CN" sz="1600" dirty="0"/>
          </a:p>
          <a:p>
            <a:r>
              <a:rPr lang="en" altLang="zh-CN" sz="1600" dirty="0"/>
              <a:t>We can break this problem into three layers.</a:t>
            </a:r>
          </a:p>
          <a:p>
            <a:r>
              <a:rPr lang="en" altLang="zh-CN" sz="1600" dirty="0"/>
              <a:t>First, </a:t>
            </a:r>
            <a:r>
              <a:rPr lang="en" altLang="zh-CN" sz="1600" b="1" dirty="0"/>
              <a:t>Layer 1 — Programming</a:t>
            </a:r>
            <a:r>
              <a:rPr lang="en" altLang="zh-CN" sz="1600" dirty="0"/>
              <a:t>.</a:t>
            </a:r>
            <a:br>
              <a:rPr lang="en" altLang="zh-CN" sz="1600" dirty="0"/>
            </a:br>
            <a:r>
              <a:rPr lang="en" altLang="zh-CN" sz="1600" dirty="0"/>
              <a:t>This is about: </a:t>
            </a:r>
            <a:r>
              <a:rPr lang="en" altLang="zh-CN" sz="1600" i="1" dirty="0"/>
              <a:t>what is the data?</a:t>
            </a:r>
            <a:br>
              <a:rPr lang="en" altLang="zh-CN" sz="1600" dirty="0"/>
            </a:br>
            <a:r>
              <a:rPr lang="en" altLang="zh-CN" sz="1600" dirty="0"/>
              <a:t>With </a:t>
            </a:r>
            <a:r>
              <a:rPr lang="en" altLang="zh-CN" sz="1600" dirty="0" err="1"/>
              <a:t>SpeechGPT</a:t>
            </a:r>
            <a:r>
              <a:rPr lang="en" altLang="zh-CN" sz="1600" dirty="0"/>
              <a:t>, speech is treated as a unified instruction format, so the model can directly understand audio as input.</a:t>
            </a:r>
          </a:p>
          <a:p>
            <a:r>
              <a:rPr lang="en" altLang="zh-CN" sz="1600" dirty="0"/>
              <a:t>And Second </a:t>
            </a:r>
            <a:r>
              <a:rPr lang="en" altLang="zh-CN" sz="1600" b="1" dirty="0"/>
              <a:t>Layer is Workloads</a:t>
            </a:r>
            <a:r>
              <a:rPr lang="en" altLang="zh-CN" sz="1600" dirty="0"/>
              <a:t>.</a:t>
            </a:r>
            <a:br>
              <a:rPr lang="en" altLang="zh-CN" sz="1600" dirty="0"/>
            </a:br>
            <a:r>
              <a:rPr lang="en" altLang="zh-CN" sz="1600" dirty="0"/>
              <a:t>This is about: </a:t>
            </a:r>
            <a:r>
              <a:rPr lang="en" altLang="zh-CN" sz="1600" i="1" dirty="0"/>
              <a:t>who speaks, and when?</a:t>
            </a:r>
            <a:br>
              <a:rPr lang="en" altLang="zh-CN" sz="1600" dirty="0"/>
            </a:br>
            <a:r>
              <a:rPr lang="en" altLang="zh-CN" sz="1600" dirty="0"/>
              <a:t>LSLM introduces state-driven workload management, which controls turn-taking in a more flexible way.</a:t>
            </a:r>
          </a:p>
          <a:p>
            <a:r>
              <a:rPr lang="en" altLang="zh-CN" sz="1600" dirty="0"/>
              <a:t>Finally, </a:t>
            </a:r>
            <a:r>
              <a:rPr lang="en" altLang="zh-CN" sz="1600" b="1" dirty="0"/>
              <a:t>Layer 3 — Runtime</a:t>
            </a:r>
            <a:r>
              <a:rPr lang="en" altLang="zh-CN" sz="1600" dirty="0"/>
              <a:t>.</a:t>
            </a:r>
            <a:br>
              <a:rPr lang="en" altLang="zh-CN" sz="1600" dirty="0"/>
            </a:br>
            <a:r>
              <a:rPr lang="en" altLang="zh-CN" sz="1600" dirty="0"/>
              <a:t>This is about: </a:t>
            </a:r>
            <a:r>
              <a:rPr lang="en" altLang="zh-CN" sz="1600" i="1" dirty="0"/>
              <a:t>how fast can we respond?</a:t>
            </a:r>
            <a:br>
              <a:rPr lang="en" altLang="zh-CN" sz="1600" dirty="0"/>
            </a:br>
            <a:r>
              <a:rPr lang="en" altLang="zh-CN" sz="1600" dirty="0"/>
              <a:t>Moshi provides a real-time asynchronous runtime, enabling low-latency, continuous interaction.</a:t>
            </a:r>
          </a:p>
          <a:p>
            <a:br>
              <a:rPr lang="en" altLang="zh-CN" sz="1600" dirty="0"/>
            </a:br>
            <a:endParaRPr lang="en" altLang="zh-CN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Traditional systems are modular.</a:t>
            </a:r>
          </a:p>
          <a:p>
            <a:r>
              <a:rPr lang="en" altLang="zh-CN" sz="1600" dirty="0"/>
              <a:t>ASR works like a device driver. It converts audio into text.</a:t>
            </a:r>
          </a:p>
          <a:p>
            <a:r>
              <a:rPr lang="en" altLang="zh-CN" sz="1600" dirty="0"/>
              <a:t>The LLM is like the CPU. It handles reasoning.</a:t>
            </a:r>
          </a:p>
          <a:p>
            <a:r>
              <a:rPr lang="en" altLang="zh-CN" sz="1600" dirty="0"/>
              <a:t>TTS is like the output buffer .It converts text back to speech.</a:t>
            </a:r>
          </a:p>
          <a:p>
            <a:r>
              <a:rPr lang="en" altLang="zh-CN" sz="1600" dirty="0"/>
              <a:t>But this modular design also brings problems.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800" dirty="0"/>
              <a:t>There are three main bottlenecks.</a:t>
            </a:r>
          </a:p>
          <a:p>
            <a:r>
              <a:rPr lang="en" altLang="zh-CN" sz="1800" dirty="0"/>
              <a:t>First, modality gap.</a:t>
            </a:r>
            <a:r>
              <a:rPr lang="zh-CN" altLang="en-US" sz="1800" dirty="0"/>
              <a:t> </a:t>
            </a:r>
            <a:r>
              <a:rPr lang="en" altLang="zh-CN" sz="1800" dirty="0"/>
              <a:t>Speech and text are not aligned.</a:t>
            </a:r>
          </a:p>
          <a:p>
            <a:r>
              <a:rPr lang="en" altLang="zh-CN" sz="1800" dirty="0"/>
              <a:t>Second, no interaction control.</a:t>
            </a:r>
            <a:r>
              <a:rPr lang="zh-CN" altLang="en-US" sz="1800" dirty="0"/>
              <a:t> </a:t>
            </a:r>
            <a:r>
              <a:rPr lang="en" altLang="zh-CN" sz="1800" dirty="0"/>
              <a:t>This causes turn-taking conflicts.</a:t>
            </a:r>
          </a:p>
          <a:p>
            <a:r>
              <a:rPr lang="en" altLang="zh-CN" sz="1800" dirty="0"/>
              <a:t>Third, synchronous I/O.</a:t>
            </a:r>
            <a:r>
              <a:rPr lang="zh-CN" altLang="en-US" sz="1800" dirty="0"/>
              <a:t> </a:t>
            </a:r>
            <a:r>
              <a:rPr lang="en" altLang="zh-CN" sz="1800" dirty="0"/>
              <a:t>This leads to high latency.</a:t>
            </a:r>
          </a:p>
          <a:p>
            <a:endParaRPr lang="en" altLang="zh-CN" sz="1800" dirty="0"/>
          </a:p>
          <a:p>
            <a:r>
              <a:rPr lang="en" altLang="zh-CN" sz="1800" dirty="0"/>
              <a:t>Because of these problems,</a:t>
            </a:r>
            <a:br>
              <a:rPr lang="en" altLang="zh-CN" sz="1800" dirty="0"/>
            </a:br>
            <a:r>
              <a:rPr lang="en" altLang="zh-CN" sz="1800" dirty="0"/>
              <a:t>current systems cannot achieve both low latency</a:t>
            </a:r>
            <a:br>
              <a:rPr lang="en" altLang="zh-CN" sz="1800" dirty="0"/>
            </a:br>
            <a:r>
              <a:rPr lang="en" altLang="zh-CN" sz="1800" dirty="0"/>
              <a:t>and full-duplex interaction at the same time.”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0FD6-303A-3991-457B-39473D9E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FDB88-2EDE-FF9C-74FD-0C00BBE468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A1435-DFD4-D629-C82E-9C6EA897C89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“From a system view, the problems are even deeper.</a:t>
            </a:r>
          </a:p>
          <a:p>
            <a:r>
              <a:rPr lang="en" altLang="zh-CN" sz="1600" dirty="0"/>
              <a:t>First, token explosion.</a:t>
            </a:r>
            <a:br>
              <a:rPr lang="en" altLang="zh-CN" sz="1600" dirty="0"/>
            </a:br>
            <a:r>
              <a:rPr lang="en" altLang="zh-CN" sz="1600" dirty="0"/>
              <a:t>Audio tokens are much denser than text.</a:t>
            </a:r>
            <a:br>
              <a:rPr lang="en" altLang="zh-CN" sz="1600" dirty="0"/>
            </a:br>
            <a:r>
              <a:rPr lang="en" altLang="zh-CN" sz="1600" dirty="0"/>
              <a:t>This causes memory issues.</a:t>
            </a:r>
          </a:p>
          <a:p>
            <a:endParaRPr lang="en" altLang="zh-CN" sz="1600" dirty="0"/>
          </a:p>
          <a:p>
            <a:r>
              <a:rPr lang="en" altLang="zh-CN" sz="1600" dirty="0"/>
              <a:t>Second, modality gap.</a:t>
            </a:r>
            <a:br>
              <a:rPr lang="en" altLang="zh-CN" sz="1600" dirty="0"/>
            </a:br>
            <a:r>
              <a:rPr lang="en" altLang="zh-CN" sz="1600" dirty="0"/>
              <a:t>Different modules act like isolated processes.</a:t>
            </a:r>
          </a:p>
          <a:p>
            <a:endParaRPr lang="en" altLang="zh-CN" sz="1600" dirty="0"/>
          </a:p>
          <a:p>
            <a:r>
              <a:rPr lang="en" altLang="zh-CN" sz="1600" dirty="0"/>
              <a:t>Third, I/O blocking.</a:t>
            </a:r>
            <a:br>
              <a:rPr lang="en" altLang="zh-CN" sz="1600" dirty="0"/>
            </a:br>
            <a:r>
              <a:rPr lang="en" altLang="zh-CN" sz="1600" dirty="0"/>
              <a:t>The system cannot listen and speak at the same time.”</a:t>
            </a:r>
          </a:p>
        </p:txBody>
      </p:sp>
    </p:spTree>
    <p:extLst>
      <p:ext uri="{BB962C8B-B14F-4D97-AF65-F5344CB8AC3E}">
        <p14:creationId xmlns:p14="http://schemas.microsoft.com/office/powerpoint/2010/main" val="907626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This brings us to the main question: </a:t>
            </a:r>
            <a:r>
              <a:rPr lang="en" altLang="zh-CN" sz="1200" b="1" i="1" dirty="0">
                <a:latin typeface="Times New Roman Bold Italic" panose="02020603050405020304" charset="0"/>
              </a:rPr>
              <a:t>How to design an OS-like dialogue system: unified data, controlled interaction, and real-time response?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r>
              <a:rPr lang="en" altLang="zh-CN" dirty="0"/>
              <a:t>We divide the solution into three </a:t>
            </a:r>
            <a:r>
              <a:rPr lang="en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/>
              <a:t>layers.</a:t>
            </a:r>
          </a:p>
          <a:p>
            <a:r>
              <a:rPr lang="en" altLang="zh-CN" dirty="0" err="1"/>
              <a:t>SpeechGPT</a:t>
            </a:r>
            <a:r>
              <a:rPr lang="en" altLang="zh-CN" dirty="0"/>
              <a:t> handles data representation.</a:t>
            </a:r>
            <a:br>
              <a:rPr lang="en" altLang="zh-CN" dirty="0"/>
            </a:br>
            <a:r>
              <a:rPr lang="en" altLang="zh-CN" dirty="0"/>
              <a:t>LSLM handles interaction control.</a:t>
            </a:r>
            <a:br>
              <a:rPr lang="en" altLang="zh-CN" dirty="0"/>
            </a:br>
            <a:r>
              <a:rPr lang="en" altLang="zh-CN" dirty="0"/>
              <a:t>Moshi handles runtime execution.”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So now we come to the methods that the three paper proposed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let’s start with the first paper</a:t>
            </a:r>
            <a:r>
              <a:rPr lang="zh-CN" altLang="en-US" dirty="0"/>
              <a:t> </a:t>
            </a:r>
            <a:r>
              <a:rPr lang="en" altLang="zh-CN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Traditional methods use pipelines.</a:t>
            </a:r>
            <a:br>
              <a:rPr lang="en" altLang="zh-CN" dirty="0"/>
            </a:br>
            <a:r>
              <a:rPr lang="en" altLang="zh-CN" dirty="0"/>
              <a:t>They cannot understand and generate speech together.</a:t>
            </a:r>
            <a:br>
              <a:rPr lang="en" altLang="zh-CN" dirty="0"/>
            </a:br>
            <a:r>
              <a:rPr lang="en" altLang="zh-CN" dirty="0"/>
              <a:t>Also, speech is not compatible with LLM tokens.</a:t>
            </a:r>
          </a:p>
          <a:p>
            <a:endParaRPr lang="en" altLang="zh-CN" dirty="0"/>
          </a:p>
          <a:p>
            <a:r>
              <a:rPr lang="en" altLang="zh-CN" dirty="0" err="1"/>
              <a:t>SpeechGPT</a:t>
            </a:r>
            <a:r>
              <a:rPr lang="en" altLang="zh-CN" dirty="0"/>
              <a:t> solves this by removing the pipeline.</a:t>
            </a:r>
            <a:r>
              <a:rPr lang="zh-CN" altLang="en-US" dirty="0"/>
              <a:t> </a:t>
            </a:r>
            <a:r>
              <a:rPr lang="en" altLang="zh-CN" dirty="0"/>
              <a:t>It puts speech tokens directly into the LLM.</a:t>
            </a:r>
          </a:p>
          <a:p>
            <a:r>
              <a:rPr lang="en" altLang="zh-CN" dirty="0"/>
              <a:t>So speech becomes a native input to the model.”</a:t>
            </a:r>
          </a:p>
          <a:p>
            <a:endParaRPr lang="en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ISA</a:t>
            </a:r>
            <a:r>
              <a:rPr lang="zh-CN" altLang="en-US" dirty="0"/>
              <a:t>：</a:t>
            </a:r>
            <a:r>
              <a:rPr lang="en" altLang="zh-CN" b="1" dirty="0"/>
              <a:t>Instruction Set Architecture</a:t>
            </a:r>
            <a:r>
              <a:rPr lang="en-US" altLang="zh-CN" b="1" dirty="0"/>
              <a:t>【</a:t>
            </a:r>
            <a:r>
              <a:rPr lang="zh-CN" altLang="en-US" dirty="0"/>
              <a:t>用户输入</a:t>
            </a:r>
            <a:r>
              <a:rPr lang="en-US" altLang="zh-CN" dirty="0"/>
              <a:t>/</a:t>
            </a:r>
            <a:r>
              <a:rPr lang="zh-CN" altLang="en-US" dirty="0"/>
              <a:t>上层软件 → </a:t>
            </a:r>
            <a:r>
              <a:rPr lang="en" altLang="zh-CN" b="1" dirty="0"/>
              <a:t>ISA </a:t>
            </a:r>
            <a:r>
              <a:rPr lang="zh-CN" altLang="en-US" b="1" dirty="0"/>
              <a:t>接口</a:t>
            </a:r>
            <a:r>
              <a:rPr lang="zh-CN" altLang="en-US" dirty="0"/>
              <a:t> → 底层硬件处理器（</a:t>
            </a:r>
            <a:r>
              <a:rPr lang="en" altLang="zh-CN" dirty="0"/>
              <a:t>CPU/</a:t>
            </a:r>
            <a:r>
              <a:rPr lang="zh-CN" altLang="en-US" dirty="0"/>
              <a:t>计算核心）</a:t>
            </a:r>
            <a:r>
              <a:rPr lang="en-US" altLang="zh-CN" b="1" dirty="0"/>
              <a:t>】</a:t>
            </a:r>
            <a:endParaRPr lang="en" altLang="zh-CN" dirty="0"/>
          </a:p>
          <a:p>
            <a:r>
              <a:rPr lang="en" altLang="zh-CN" dirty="0"/>
              <a:t>ISA defines how a system understands instructions.</a:t>
            </a:r>
          </a:p>
          <a:p>
            <a:r>
              <a:rPr lang="en" altLang="zh-CN" dirty="0"/>
              <a:t>Similarly, </a:t>
            </a:r>
            <a:r>
              <a:rPr lang="en" altLang="zh-CN" dirty="0" err="1"/>
              <a:t>SpeechGPT</a:t>
            </a:r>
            <a:r>
              <a:rPr lang="en" altLang="zh-CN" dirty="0"/>
              <a:t> defines how an LLM understands speech.”</a:t>
            </a:r>
            <a:endParaRPr kumimoji="1" lang="zh-CN" altLang="en-US" dirty="0">
              <a:ea typeface="標楷體" panose="02010601000101010101" pitchFamily="65" charset="-120"/>
              <a:cs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The key idea is to convert speech into discrete tokens.</a:t>
            </a:r>
          </a:p>
          <a:p>
            <a:r>
              <a:rPr lang="en" altLang="zh-CN" dirty="0"/>
              <a:t>First, audio is encoded into vectors.</a:t>
            </a:r>
            <a:br>
              <a:rPr lang="en" altLang="zh-CN" dirty="0"/>
            </a:br>
            <a:r>
              <a:rPr lang="en" altLang="zh-CN" dirty="0"/>
              <a:t>Then, these vectors are mapped into discrete units.</a:t>
            </a:r>
          </a:p>
          <a:p>
            <a:r>
              <a:rPr lang="en" altLang="zh-CN" dirty="0"/>
              <a:t>Finally, these units are combined with text tokens.</a:t>
            </a:r>
          </a:p>
          <a:p>
            <a:r>
              <a:rPr lang="en" altLang="zh-CN" dirty="0"/>
              <a:t>This creates a unified token space for the model.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 err="1"/>
              <a:t>SpeechGPT</a:t>
            </a:r>
            <a:r>
              <a:rPr lang="en" altLang="zh-CN" dirty="0"/>
              <a:t> uses three training stages.</a:t>
            </a:r>
          </a:p>
          <a:p>
            <a:r>
              <a:rPr lang="en" altLang="zh-CN" dirty="0"/>
              <a:t>First, it learns speech using discrete units.</a:t>
            </a:r>
            <a:br>
              <a:rPr lang="en" altLang="zh-CN" dirty="0"/>
            </a:br>
            <a:r>
              <a:rPr lang="en" altLang="zh-CN" dirty="0"/>
              <a:t>Second, it aligns speech and text with instruction tuning.</a:t>
            </a:r>
            <a:br>
              <a:rPr lang="en" altLang="zh-CN" dirty="0"/>
            </a:br>
            <a:r>
              <a:rPr lang="en" altLang="zh-CN" dirty="0"/>
              <a:t>Third, it further improves alignment with efficient fine-tuning.</a:t>
            </a:r>
          </a:p>
          <a:p>
            <a:endParaRPr lang="en" altLang="zh-CN" dirty="0"/>
          </a:p>
          <a:p>
            <a:r>
              <a:rPr lang="en" altLang="zh-CN" dirty="0"/>
              <a:t>In evaluation, </a:t>
            </a:r>
            <a:r>
              <a:rPr lang="en" altLang="zh-CN" dirty="0" err="1"/>
              <a:t>SpeechGPT</a:t>
            </a:r>
            <a:r>
              <a:rPr lang="en" altLang="zh-CN" dirty="0"/>
              <a:t> shows strong performance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" altLang="zh-CN" dirty="0"/>
              <a:t>low latency, with RTF 0.02.</a:t>
            </a:r>
            <a:br>
              <a:rPr lang="en" altLang="zh-CN" dirty="0"/>
            </a:br>
            <a:r>
              <a:rPr lang="en" altLang="zh-CN" dirty="0"/>
              <a:t>It also achieves high quality, with MOS 4.8.</a:t>
            </a:r>
            <a:br>
              <a:rPr lang="en" altLang="zh-CN" dirty="0"/>
            </a:br>
            <a:r>
              <a:rPr lang="en" altLang="zh-CN" dirty="0"/>
              <a:t>And it is efficient in both memory and training time.</a:t>
            </a:r>
          </a:p>
          <a:p>
            <a:r>
              <a:rPr lang="en" altLang="zh-CN" dirty="0"/>
              <a:t>So overall, it balances speed, quality, and efficiency.”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This brings several benefits.</a:t>
            </a:r>
          </a:p>
          <a:p>
            <a:r>
              <a:rPr lang="en" altLang="zh-CN" dirty="0"/>
              <a:t>First, less overhead from module switching.</a:t>
            </a:r>
            <a:br>
              <a:rPr lang="en" altLang="zh-CN" dirty="0"/>
            </a:br>
            <a:r>
              <a:rPr lang="en" altLang="zh-CN" dirty="0"/>
              <a:t>Second, better generalization.</a:t>
            </a:r>
            <a:br>
              <a:rPr lang="en" altLang="zh-CN" dirty="0"/>
            </a:br>
            <a:r>
              <a:rPr lang="en" altLang="zh-CN" dirty="0"/>
              <a:t>Third, more robustness to noise.”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829D-4032-5B9B-3583-01950D8C2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FBBF5-5C9A-1A84-1D86-106381355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41BFF-5B35-406E-4851-86BC051F9B7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However, </a:t>
            </a:r>
            <a:r>
              <a:rPr lang="en" altLang="zh-CN" dirty="0" err="1"/>
              <a:t>SpeechGPT</a:t>
            </a:r>
            <a:r>
              <a:rPr lang="en" altLang="zh-CN" dirty="0"/>
              <a:t> still has limitations.</a:t>
            </a:r>
          </a:p>
          <a:p>
            <a:r>
              <a:rPr lang="en" altLang="zh-CN" dirty="0"/>
              <a:t>It cannot model emotion well.</a:t>
            </a:r>
            <a:br>
              <a:rPr lang="en" altLang="zh-CN" dirty="0"/>
            </a:br>
            <a:r>
              <a:rPr lang="en" altLang="zh-CN" dirty="0"/>
              <a:t>It depends on text before speech generation.</a:t>
            </a:r>
            <a:br>
              <a:rPr lang="en" altLang="zh-CN" dirty="0"/>
            </a:br>
            <a:r>
              <a:rPr lang="en" altLang="zh-CN" dirty="0"/>
              <a:t>And it has difficulty handling long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4248003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 err="1"/>
              <a:t>SpeechGPT</a:t>
            </a:r>
            <a:r>
              <a:rPr lang="en" altLang="zh-CN" dirty="0"/>
              <a:t> introduces a unified interface for speech and text.</a:t>
            </a:r>
          </a:p>
          <a:p>
            <a:r>
              <a:rPr lang="en" altLang="zh-CN" dirty="0"/>
              <a:t>This reduces translation overhead</a:t>
            </a:r>
            <a:br>
              <a:rPr lang="en" altLang="zh-CN" dirty="0"/>
            </a:br>
            <a:r>
              <a:rPr lang="en" altLang="zh-CN" dirty="0"/>
              <a:t>and enables more natural speech interaction.</a:t>
            </a:r>
          </a:p>
          <a:p>
            <a:r>
              <a:rPr lang="en" altLang="zh-CN" dirty="0"/>
              <a:t>As a result, it builds a more coherent</a:t>
            </a:r>
            <a:br>
              <a:rPr lang="en" altLang="zh-CN" dirty="0"/>
            </a:br>
            <a:r>
              <a:rPr lang="en" altLang="zh-CN" dirty="0"/>
              <a:t>and instruction-following dialogue system.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1600" b="1" dirty="0"/>
              <a:t>Okay now we move to the second paper, which is LSLM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 err="1"/>
              <a:t>SpeechGPT</a:t>
            </a:r>
            <a:r>
              <a:rPr lang="en" altLang="zh-CN" dirty="0"/>
              <a:t> face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limitation</a:t>
            </a:r>
            <a:r>
              <a:rPr lang="zh-CN" altLang="en-US" dirty="0"/>
              <a:t>：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" altLang="zh-CN" dirty="0"/>
              <a:t>cannot listen and speak at the same time.</a:t>
            </a:r>
            <a:br>
              <a:rPr lang="en" altLang="zh-CN" dirty="0"/>
            </a:br>
            <a:r>
              <a:rPr lang="en" altLang="zh-CN" dirty="0"/>
              <a:t>It cannot handle interruption.</a:t>
            </a:r>
            <a:br>
              <a:rPr lang="en" altLang="zh-CN" dirty="0"/>
            </a:br>
            <a:r>
              <a:rPr lang="en" altLang="zh-CN" dirty="0"/>
              <a:t>And it is not real-time.</a:t>
            </a:r>
          </a:p>
          <a:p>
            <a:endParaRPr lang="en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So the question is:</a:t>
            </a:r>
            <a:br>
              <a:rPr lang="en" altLang="zh-CN" dirty="0"/>
            </a:br>
            <a:r>
              <a:rPr lang="en" altLang="zh-CN" sz="1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design a full-duplex dialogue system with real-time interaction?</a:t>
            </a:r>
          </a:p>
          <a:p>
            <a:endParaRPr lang="e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8E36-4252-001A-598B-73CB689F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664E7-8A0F-9FFD-FD84-0CDC4004E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B473D-2938-77AF-B077-BF09A38622F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LSLM introduces state-driven scheduling.</a:t>
            </a:r>
          </a:p>
          <a:p>
            <a:r>
              <a:rPr lang="en" altLang="zh-CN" dirty="0"/>
              <a:t>It uses state tokens like ‘listen’ and ‘speak’.</a:t>
            </a:r>
            <a:br>
              <a:rPr lang="en" altLang="zh-CN" dirty="0"/>
            </a:br>
            <a:r>
              <a:rPr lang="en" altLang="zh-CN" dirty="0"/>
              <a:t>These act like a scheduler in an OS.</a:t>
            </a:r>
          </a:p>
          <a:p>
            <a:endParaRPr lang="en" altLang="zh-CN" dirty="0"/>
          </a:p>
          <a:p>
            <a:r>
              <a:rPr lang="en" altLang="zh-CN" dirty="0"/>
              <a:t>The model predicts the next state</a:t>
            </a:r>
            <a:br>
              <a:rPr lang="en" altLang="zh-CN" dirty="0"/>
            </a:br>
            <a:r>
              <a:rPr lang="en" altLang="zh-CN" dirty="0"/>
              <a:t>and controls the interaction flow.</a:t>
            </a:r>
          </a:p>
        </p:txBody>
      </p:sp>
    </p:spTree>
    <p:extLst>
      <p:ext uri="{BB962C8B-B14F-4D97-AF65-F5344CB8AC3E}">
        <p14:creationId xmlns:p14="http://schemas.microsoft.com/office/powerpoint/2010/main" val="5931453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0FE7-DF06-EA42-33F8-1EFCA439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7987F-09E9-5FD2-C7AA-9E4B42A37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BBEE7-5E4D-C08D-D763-03EF2CAE554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But scheduling is not easy.</a:t>
            </a:r>
          </a:p>
          <a:p>
            <a:r>
              <a:rPr lang="en" altLang="zh-CN" dirty="0"/>
              <a:t>The system must decide when to stop speaking</a:t>
            </a:r>
            <a:br>
              <a:rPr lang="en" altLang="zh-CN" dirty="0"/>
            </a:br>
            <a:r>
              <a:rPr lang="en" altLang="zh-CN" dirty="0"/>
              <a:t>if the user interrupts</a:t>
            </a:r>
          </a:p>
          <a:p>
            <a:r>
              <a:rPr lang="en" altLang="zh-CN" dirty="0"/>
              <a:t>It also needs to manage overlapping audio streams.”</a:t>
            </a:r>
          </a:p>
        </p:txBody>
      </p:sp>
    </p:spTree>
    <p:extLst>
      <p:ext uri="{BB962C8B-B14F-4D97-AF65-F5344CB8AC3E}">
        <p14:creationId xmlns:p14="http://schemas.microsoft.com/office/powerpoint/2010/main" val="3399473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Each state represents a process.</a:t>
            </a:r>
          </a:p>
          <a:p>
            <a:r>
              <a:rPr lang="en" altLang="zh-CN" dirty="0"/>
              <a:t>Input state, internal state, output state.</a:t>
            </a:r>
            <a:br>
              <a:rPr lang="en" altLang="zh-CN" dirty="0"/>
            </a:br>
            <a:r>
              <a:rPr lang="en" altLang="zh-CN" dirty="0"/>
              <a:t>The system can switch between them.</a:t>
            </a:r>
          </a:p>
          <a:p>
            <a:r>
              <a:rPr lang="en" altLang="zh-CN" dirty="0"/>
              <a:t>This allows flexible interaction.”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LSLM models dialogue as a state machine.</a:t>
            </a:r>
          </a:p>
          <a:p>
            <a:r>
              <a:rPr lang="en" altLang="zh-CN" dirty="0"/>
              <a:t>The system switches between listen, think, and speak.</a:t>
            </a:r>
          </a:p>
          <a:p>
            <a:r>
              <a:rPr lang="en" altLang="zh-CN" dirty="0"/>
              <a:t>For example, If the user speaks while the system is in </a:t>
            </a:r>
            <a:r>
              <a:rPr lang="en" altLang="zh-CN" b="1" dirty="0"/>
              <a:t>SPEAK</a:t>
            </a:r>
            <a:r>
              <a:rPr lang="en" altLang="zh-CN" dirty="0"/>
              <a:t> mode, it triggers an </a:t>
            </a:r>
            <a:r>
              <a:rPr lang="en" altLang="zh-CN" b="1" dirty="0"/>
              <a:t>INTERRUPT</a:t>
            </a:r>
            <a:r>
              <a:rPr lang="en" altLang="zh-CN" dirty="0"/>
              <a:t>. The system immediately flushes the output buffer and updates the cache to prepare for new input.</a:t>
            </a:r>
          </a:p>
          <a:p>
            <a:r>
              <a:rPr lang="en" altLang="zh-CN" dirty="0"/>
              <a:t>When the user stops talking (</a:t>
            </a:r>
            <a:r>
              <a:rPr lang="en" altLang="zh-CN" b="1" dirty="0"/>
              <a:t>Silence Detected</a:t>
            </a:r>
            <a:r>
              <a:rPr lang="en" altLang="zh-CN" dirty="0"/>
              <a:t>), the system moves from </a:t>
            </a:r>
            <a:r>
              <a:rPr lang="en" altLang="zh-CN" b="1" dirty="0"/>
              <a:t>LISTEN</a:t>
            </a:r>
            <a:r>
              <a:rPr lang="en" altLang="zh-CN" dirty="0"/>
              <a:t> to </a:t>
            </a:r>
            <a:r>
              <a:rPr lang="en" altLang="zh-CN" b="1" dirty="0"/>
              <a:t>THINK</a:t>
            </a:r>
            <a:r>
              <a:rPr lang="en" altLang="zh-CN" dirty="0"/>
              <a:t>. This triggers the generation kernel to process a response</a:t>
            </a:r>
          </a:p>
          <a:p>
            <a:r>
              <a:rPr lang="en" altLang="zh-CN" dirty="0"/>
              <a:t>Once the </a:t>
            </a:r>
            <a:r>
              <a:rPr lang="en" altLang="zh-CN" b="1" dirty="0"/>
              <a:t>Response is Ready</a:t>
            </a:r>
            <a:r>
              <a:rPr lang="en" altLang="zh-CN" dirty="0"/>
              <a:t>, the system transitions from </a:t>
            </a:r>
            <a:r>
              <a:rPr lang="en" altLang="zh-CN" b="1" dirty="0"/>
              <a:t>THINK</a:t>
            </a:r>
            <a:r>
              <a:rPr lang="en" altLang="zh-CN" dirty="0"/>
              <a:t> back to </a:t>
            </a:r>
            <a:r>
              <a:rPr lang="en" altLang="zh-CN" b="1" dirty="0"/>
              <a:t>SPEAK</a:t>
            </a:r>
            <a:r>
              <a:rPr lang="en" altLang="zh-CN" dirty="0"/>
              <a:t>, using streaming audio I/O for real-time interaction.</a:t>
            </a:r>
          </a:p>
          <a:p>
            <a:endParaRPr lang="en" altLang="zh-CN" dirty="0"/>
          </a:p>
          <a:p>
            <a:r>
              <a:rPr lang="en" altLang="zh-CN" dirty="0"/>
              <a:t>This allows flexible and responsive interaction.”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3916-CE05-6892-447E-BF34224E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94CD6-B408-4CE8-9897-8A7C55945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0B0C4-DABD-6EB9-ADD8-B0E6001E23A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This state mechanism works like a scheduler.</a:t>
            </a:r>
          </a:p>
          <a:p>
            <a:r>
              <a:rPr lang="en" altLang="zh-CN" dirty="0"/>
              <a:t>It decides when to listen, when to </a:t>
            </a:r>
            <a:r>
              <a:rPr lang="en" altLang="zh-CN" dirty="0" err="1"/>
              <a:t>respond,and</a:t>
            </a:r>
            <a:r>
              <a:rPr lang="en" altLang="zh-CN" dirty="0"/>
              <a:t> how to handle interruptions.</a:t>
            </a:r>
          </a:p>
          <a:p>
            <a:endParaRPr lang="en" altLang="zh-CN" dirty="0"/>
          </a:p>
          <a:p>
            <a:r>
              <a:rPr lang="en" altLang="zh-CN" dirty="0"/>
              <a:t>As a result, the system achieves a more natural</a:t>
            </a:r>
            <a:r>
              <a:rPr lang="zh-CN" altLang="en-US" dirty="0"/>
              <a:t> </a:t>
            </a:r>
            <a:r>
              <a:rPr lang="en" altLang="zh-CN" dirty="0"/>
              <a:t>and robust conversational flow.”</a:t>
            </a:r>
          </a:p>
          <a:p>
            <a:endParaRPr lang="en" altLang="zh-CN" dirty="0"/>
          </a:p>
          <a:p>
            <a:r>
              <a:rPr lang="en" altLang="zh-CN" dirty="0"/>
              <a:t>But it still has a problem: latency.”</a:t>
            </a:r>
          </a:p>
        </p:txBody>
      </p:sp>
    </p:spTree>
    <p:extLst>
      <p:ext uri="{BB962C8B-B14F-4D97-AF65-F5344CB8AC3E}">
        <p14:creationId xmlns:p14="http://schemas.microsoft.com/office/powerpoint/2010/main" val="259882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1600" b="1" dirty="0"/>
              <a:t>So here comes to the final chapter</a:t>
            </a:r>
            <a:r>
              <a:rPr lang="zh-CN" altLang="en-US" sz="1600" b="1" dirty="0"/>
              <a:t>，</a:t>
            </a:r>
            <a:r>
              <a:rPr lang="en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16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2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SpeechGPT</a:t>
            </a:r>
            <a:r>
              <a:rPr lang="zh-CN" altLang="en-US" sz="1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lang="zh-CN" altLang="en-US" sz="1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" altLang="zh-CN" dirty="0"/>
              <a:t>LSLM improves control,</a:t>
            </a:r>
            <a:br>
              <a:rPr lang="en" altLang="zh-CN" dirty="0"/>
            </a:br>
            <a:r>
              <a:rPr lang="en" altLang="zh-CN" dirty="0"/>
              <a:t>but it is still not fast enough.</a:t>
            </a:r>
          </a:p>
          <a:p>
            <a:endParaRPr lang="en" altLang="zh-CN" dirty="0"/>
          </a:p>
          <a:p>
            <a:r>
              <a:rPr lang="en" altLang="zh-CN" dirty="0"/>
              <a:t>The system still has I/O bottlenecks</a:t>
            </a:r>
            <a:br>
              <a:rPr lang="en" altLang="zh-CN" dirty="0"/>
            </a:br>
            <a:r>
              <a:rPr lang="en" altLang="zh-CN" dirty="0"/>
              <a:t>and cannot achieve real-time performance</a:t>
            </a:r>
          </a:p>
          <a:p>
            <a:endParaRPr lang="en" altLang="zh-CN" dirty="0"/>
          </a:p>
          <a:p>
            <a:r>
              <a:rPr lang="en" altLang="zh-CN" dirty="0"/>
              <a:t>Moshi solves this with a dual-stream design.</a:t>
            </a:r>
          </a:p>
          <a:p>
            <a:r>
              <a:rPr lang="en" altLang="zh-CN" dirty="0"/>
              <a:t>It processes user and system audio at the same time.</a:t>
            </a:r>
            <a:br>
              <a:rPr lang="en" altLang="zh-CN" dirty="0"/>
            </a:br>
            <a:r>
              <a:rPr lang="en" altLang="zh-CN" dirty="0"/>
              <a:t>This allows true parallel execution.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To be specific, Moshi uses a dual-stream design.</a:t>
            </a:r>
          </a:p>
          <a:p>
            <a:r>
              <a:rPr lang="en" altLang="zh-CN" dirty="0"/>
              <a:t>It processes user audio and system audio at the same time,</a:t>
            </a:r>
            <a:r>
              <a:rPr lang="zh-CN" altLang="en-US" dirty="0"/>
              <a:t> </a:t>
            </a:r>
            <a:r>
              <a:rPr lang="en" altLang="zh-CN" dirty="0"/>
              <a:t>within a single forward pass.</a:t>
            </a:r>
          </a:p>
          <a:p>
            <a:r>
              <a:rPr lang="en" altLang="zh-CN" dirty="0"/>
              <a:t>This means the model can listen and speak simultaneously.</a:t>
            </a:r>
          </a:p>
          <a:p>
            <a:endParaRPr lang="en" altLang="zh-CN" dirty="0"/>
          </a:p>
          <a:p>
            <a:r>
              <a:rPr lang="en" altLang="zh-CN" dirty="0"/>
              <a:t>Another key idea is non-blocking I/O.</a:t>
            </a:r>
          </a:p>
          <a:p>
            <a:r>
              <a:rPr lang="en" altLang="zh-CN" dirty="0"/>
              <a:t>The system keeps listening even while generating speech,</a:t>
            </a:r>
          </a:p>
          <a:p>
            <a:br>
              <a:rPr lang="en" altLang="zh-CN" dirty="0"/>
            </a:br>
            <a:r>
              <a:rPr lang="en" altLang="zh-CN" dirty="0"/>
              <a:t>so it can immediately react to user feedback.</a:t>
            </a:r>
          </a:p>
          <a:p>
            <a:r>
              <a:rPr lang="en" altLang="zh-CN" dirty="0"/>
              <a:t>This avoids the delay caused by traditional systems</a:t>
            </a:r>
            <a:r>
              <a:rPr lang="zh-CN" altLang="en-US" dirty="0"/>
              <a:t> </a:t>
            </a:r>
            <a:r>
              <a:rPr lang="en" altLang="zh-CN" dirty="0"/>
              <a:t>that process input and output step by step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It also uses a neural codec called Mimi.</a:t>
            </a:r>
          </a:p>
          <a:p>
            <a:r>
              <a:rPr lang="en" altLang="zh-CN" sz="1600" dirty="0"/>
              <a:t>This compresses audio efficiently</a:t>
            </a:r>
            <a:r>
              <a:rPr lang="zh-CN" altLang="en-US" sz="1600" dirty="0"/>
              <a:t> </a:t>
            </a:r>
            <a:r>
              <a:rPr lang="en" altLang="zh-CN" sz="1600" dirty="0"/>
              <a:t>and reduces memory usage.</a:t>
            </a:r>
          </a:p>
          <a:p>
            <a:r>
              <a:rPr lang="en" altLang="zh-CN" sz="1600" dirty="0"/>
              <a:t>So the system can handle high-speed audio streams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In experiments, Moshi shows strong results.</a:t>
            </a:r>
          </a:p>
          <a:p>
            <a:r>
              <a:rPr lang="en" altLang="zh-CN" sz="1600" dirty="0"/>
              <a:t>First, Moshi improves accuracy by about three times</a:t>
            </a:r>
            <a:r>
              <a:rPr lang="zh-CN" altLang="en-US" sz="1600" dirty="0"/>
              <a:t> </a:t>
            </a:r>
            <a:r>
              <a:rPr lang="en" altLang="zh-CN" sz="1600" dirty="0"/>
              <a:t>with Inner Monologue,</a:t>
            </a:r>
            <a:br>
              <a:rPr lang="en" altLang="zh-CN" sz="1600" dirty="0"/>
            </a:br>
            <a:r>
              <a:rPr lang="en" altLang="zh-CN" sz="1600" dirty="0"/>
              <a:t>Second, it supports streaming inference,</a:t>
            </a:r>
            <a:r>
              <a:rPr lang="zh-CN" altLang="en-US" sz="1600" dirty="0"/>
              <a:t> </a:t>
            </a:r>
            <a:r>
              <a:rPr lang="en" altLang="zh-CN" sz="1600" dirty="0"/>
              <a:t>so there is no blocking delay.</a:t>
            </a:r>
          </a:p>
          <a:p>
            <a:r>
              <a:rPr lang="en" altLang="zh-CN" sz="1600" dirty="0"/>
              <a:t>Third, it uses a single model</a:t>
            </a:r>
            <a:r>
              <a:rPr lang="zh-CN" altLang="en-US" sz="1600" dirty="0"/>
              <a:t> </a:t>
            </a:r>
            <a:r>
              <a:rPr lang="en" altLang="zh-CN" sz="1600" dirty="0"/>
              <a:t>to handle both semantic and acoustic tokens,</a:t>
            </a:r>
            <a:br>
              <a:rPr lang="en" altLang="zh-CN" sz="1600" dirty="0"/>
            </a:br>
            <a:r>
              <a:rPr lang="en" altLang="zh-CN" sz="1600" dirty="0"/>
              <a:t>which improves memory efficiency.</a:t>
            </a:r>
          </a:p>
          <a:p>
            <a:r>
              <a:rPr lang="en" altLang="zh-CN" sz="1600" dirty="0"/>
              <a:t>Finally, Moshi outperforms </a:t>
            </a:r>
            <a:r>
              <a:rPr lang="en" altLang="zh-CN" sz="1600" dirty="0" err="1"/>
              <a:t>SpeechGPT</a:t>
            </a:r>
            <a:r>
              <a:rPr lang="en" altLang="zh-CN" sz="1600" dirty="0"/>
              <a:t> and Spectron</a:t>
            </a:r>
            <a:r>
              <a:rPr lang="zh-CN" altLang="en-US" sz="1600" dirty="0"/>
              <a:t> </a:t>
            </a:r>
            <a:r>
              <a:rPr lang="en" altLang="zh-CN" sz="1600" dirty="0"/>
              <a:t>across Q</a:t>
            </a:r>
            <a:r>
              <a:rPr lang="en-US" altLang="zh-CN" sz="1600" dirty="0"/>
              <a:t>&amp;A</a:t>
            </a:r>
            <a:r>
              <a:rPr lang="en" altLang="zh-CN" sz="1600" dirty="0"/>
              <a:t> </a:t>
            </a:r>
            <a:r>
              <a:rPr lang="en" altLang="zh-CN" sz="1600" dirty="0" err="1"/>
              <a:t>testset</a:t>
            </a:r>
            <a:r>
              <a:rPr lang="en" altLang="zh-CN" sz="1600" dirty="0"/>
              <a:t>.”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F9BF-9FA9-53B1-184D-ABE0CC32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5325A-4826-2340-E63C-389EBFDFD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5F7E-7B5D-95DB-E591-FBEFC557F8A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dirty="0"/>
              <a:t>Most importantly, Moshi achieves real-time performance.</a:t>
            </a:r>
          </a:p>
          <a:p>
            <a:r>
              <a:rPr lang="en" altLang="zh-CN" dirty="0"/>
              <a:t>Around 160 milliseconds latency.</a:t>
            </a:r>
          </a:p>
          <a:p>
            <a:r>
              <a:rPr lang="en" altLang="zh-CN" dirty="0"/>
              <a:t>This enables smooth, human-like interaction.</a:t>
            </a:r>
          </a:p>
        </p:txBody>
      </p:sp>
    </p:spTree>
    <p:extLst>
      <p:ext uri="{BB962C8B-B14F-4D97-AF65-F5344CB8AC3E}">
        <p14:creationId xmlns:p14="http://schemas.microsoft.com/office/powerpoint/2010/main" val="3614037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1600" b="1"/>
              <a:t>So now lets come to the conclusion parts</a:t>
            </a:r>
            <a:endParaRPr lang="en-US" altLang="zh-CN" sz="16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In summary, we present a three-layer system.</a:t>
            </a:r>
          </a:p>
          <a:p>
            <a:r>
              <a:rPr lang="en" altLang="zh-CN" sz="1600" dirty="0" err="1"/>
              <a:t>SpeechGPT</a:t>
            </a:r>
            <a:r>
              <a:rPr lang="en" altLang="zh-CN" sz="1600" dirty="0"/>
              <a:t> unifies data.</a:t>
            </a:r>
            <a:br>
              <a:rPr lang="en" altLang="zh-CN" sz="1600" dirty="0"/>
            </a:br>
            <a:r>
              <a:rPr lang="en" altLang="zh-CN" sz="1600" dirty="0"/>
              <a:t>LSLM controls interaction.</a:t>
            </a:r>
            <a:br>
              <a:rPr lang="en" altLang="zh-CN" sz="1600" dirty="0"/>
            </a:br>
            <a:r>
              <a:rPr lang="en" altLang="zh-CN" sz="1600" dirty="0"/>
              <a:t>Moshi enables real-time execution.</a:t>
            </a:r>
          </a:p>
          <a:p>
            <a:r>
              <a:rPr lang="en" altLang="zh-CN" sz="1600" dirty="0"/>
              <a:t>Together, they form a complete system</a:t>
            </a:r>
            <a:r>
              <a:rPr lang="zh-CN" altLang="en-US" sz="1600" dirty="0"/>
              <a:t> </a:t>
            </a:r>
            <a:r>
              <a:rPr lang="en" altLang="zh-CN" sz="1600" dirty="0"/>
              <a:t>for spoken dialogue.</a:t>
            </a:r>
          </a:p>
          <a:p>
            <a:endParaRPr lang="en" altLang="zh-CN" sz="1600" dirty="0"/>
          </a:p>
          <a:p>
            <a:r>
              <a:rPr lang="en" altLang="zh-CN" sz="1600" dirty="0"/>
              <a:t>To summarize, we organize the system into three layers.</a:t>
            </a:r>
          </a:p>
          <a:p>
            <a:r>
              <a:rPr lang="en" altLang="zh-CN" sz="1600" dirty="0"/>
              <a:t>In </a:t>
            </a:r>
            <a:r>
              <a:rPr lang="en" altLang="zh-CN" sz="1600" b="1" dirty="0"/>
              <a:t>Layer 1</a:t>
            </a:r>
            <a:r>
              <a:rPr lang="en" altLang="zh-CN" sz="1600" dirty="0"/>
              <a:t>, </a:t>
            </a:r>
            <a:r>
              <a:rPr lang="en" altLang="zh-CN" sz="1600" dirty="0" err="1"/>
              <a:t>SpeechGPT</a:t>
            </a:r>
            <a:r>
              <a:rPr lang="en" altLang="zh-CN" sz="1600" dirty="0"/>
              <a:t> focuses on data representation.</a:t>
            </a:r>
            <a:br>
              <a:rPr lang="en" altLang="zh-CN" sz="1600" dirty="0"/>
            </a:br>
            <a:r>
              <a:rPr lang="en" altLang="zh-CN" sz="1600" dirty="0"/>
              <a:t>It answers the question: what is the data?</a:t>
            </a:r>
            <a:br>
              <a:rPr lang="en" altLang="zh-CN" sz="1600" dirty="0"/>
            </a:br>
            <a:r>
              <a:rPr lang="en" altLang="zh-CN" sz="1600" dirty="0"/>
              <a:t>By using a unified representation,</a:t>
            </a:r>
            <a:br>
              <a:rPr lang="en" altLang="zh-CN" sz="1600" dirty="0"/>
            </a:br>
            <a:r>
              <a:rPr lang="en" altLang="zh-CN" sz="1600" dirty="0"/>
              <a:t>speech and text are processed in the same space.</a:t>
            </a:r>
          </a:p>
          <a:p>
            <a:r>
              <a:rPr lang="en" altLang="zh-CN" sz="1600" dirty="0"/>
              <a:t>In </a:t>
            </a:r>
            <a:r>
              <a:rPr lang="en" altLang="zh-CN" sz="1600" b="1" dirty="0"/>
              <a:t>Layer 2</a:t>
            </a:r>
            <a:r>
              <a:rPr lang="en" altLang="zh-CN" sz="1600" dirty="0"/>
              <a:t>, LSLM handles interaction control.</a:t>
            </a:r>
            <a:br>
              <a:rPr lang="en" altLang="zh-CN" sz="1600" dirty="0"/>
            </a:br>
            <a:r>
              <a:rPr lang="en" altLang="zh-CN" sz="1600" dirty="0"/>
              <a:t>It answers: who speaks and when?</a:t>
            </a:r>
            <a:br>
              <a:rPr lang="en" altLang="zh-CN" sz="1600" dirty="0"/>
            </a:br>
            <a:r>
              <a:rPr lang="en" altLang="zh-CN" sz="1600" dirty="0"/>
              <a:t>With state-driven scheduling,</a:t>
            </a:r>
            <a:br>
              <a:rPr lang="en" altLang="zh-CN" sz="1600" dirty="0"/>
            </a:br>
            <a:r>
              <a:rPr lang="en" altLang="zh-CN" sz="1600" dirty="0"/>
              <a:t>the system can manage turn-taking and interruptions.</a:t>
            </a:r>
          </a:p>
          <a:p>
            <a:r>
              <a:rPr lang="en" altLang="zh-CN" sz="1600" dirty="0"/>
              <a:t>In </a:t>
            </a:r>
            <a:r>
              <a:rPr lang="en" altLang="zh-CN" sz="1600" b="1" dirty="0"/>
              <a:t>Layer 3</a:t>
            </a:r>
            <a:r>
              <a:rPr lang="en" altLang="zh-CN" sz="1600" dirty="0"/>
              <a:t>, Moshi focuses on runtime execution.</a:t>
            </a:r>
            <a:br>
              <a:rPr lang="en" altLang="zh-CN" sz="1600" dirty="0"/>
            </a:br>
            <a:r>
              <a:rPr lang="en" altLang="zh-CN" sz="1600" dirty="0"/>
              <a:t>It answers: how fast can we respond?</a:t>
            </a:r>
            <a:br>
              <a:rPr lang="en" altLang="zh-CN" sz="1600" dirty="0"/>
            </a:br>
            <a:r>
              <a:rPr lang="en" altLang="zh-CN" sz="1600" dirty="0"/>
              <a:t>With a dual-stream design,</a:t>
            </a:r>
            <a:br>
              <a:rPr lang="en" altLang="zh-CN" sz="1600" dirty="0"/>
            </a:br>
            <a:r>
              <a:rPr lang="en" altLang="zh-CN" sz="1600" dirty="0"/>
              <a:t>it enables real-time, non-blocking interaction.</a:t>
            </a:r>
          </a:p>
          <a:p>
            <a:r>
              <a:rPr lang="en" altLang="zh-CN" sz="1600" dirty="0"/>
              <a:t>Together, these three layers form a complete system design.”</a:t>
            </a:r>
          </a:p>
          <a:p>
            <a:br>
              <a:rPr lang="en" altLang="zh-CN" sz="1600" dirty="0"/>
            </a:br>
            <a:endParaRPr lang="en-US" sz="1600" b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zh-CN" sz="1600" dirty="0"/>
              <a:t>Overall, we see a clear system evolution.</a:t>
            </a:r>
          </a:p>
          <a:p>
            <a:r>
              <a:rPr lang="en" altLang="zh-CN" sz="1600" dirty="0"/>
              <a:t>From cascaded pipelines</a:t>
            </a:r>
            <a:br>
              <a:rPr lang="en" altLang="zh-CN" sz="1600" dirty="0"/>
            </a:br>
            <a:r>
              <a:rPr lang="en" altLang="zh-CN" sz="1600" dirty="0"/>
              <a:t>to a unified architecture.</a:t>
            </a:r>
          </a:p>
          <a:p>
            <a:r>
              <a:rPr lang="en" altLang="zh-CN" sz="1600" dirty="0"/>
              <a:t>From isolated modules</a:t>
            </a:r>
            <a:br>
              <a:rPr lang="en" altLang="zh-CN" sz="1600" dirty="0"/>
            </a:br>
            <a:r>
              <a:rPr lang="en" altLang="zh-CN" sz="1600" dirty="0"/>
              <a:t>to shared representation and control.</a:t>
            </a:r>
          </a:p>
          <a:p>
            <a:r>
              <a:rPr lang="en" altLang="zh-CN" sz="1600" dirty="0"/>
              <a:t>And from blocking execution</a:t>
            </a:r>
            <a:br>
              <a:rPr lang="en" altLang="zh-CN" sz="1600" dirty="0"/>
            </a:br>
            <a:r>
              <a:rPr lang="en" altLang="zh-CN" sz="1600" dirty="0"/>
              <a:t>to real-time, OS-like dialogue systems.</a:t>
            </a:r>
          </a:p>
          <a:p>
            <a:endParaRPr lang="en" altLang="zh-CN" sz="1600" dirty="0"/>
          </a:p>
          <a:p>
            <a:r>
              <a:rPr lang="en" altLang="zh-CN" sz="1600" dirty="0"/>
              <a:t>In conclusion, spoken dialogue systems</a:t>
            </a:r>
            <a:br>
              <a:rPr lang="en" altLang="zh-CN" sz="1600" dirty="0"/>
            </a:br>
            <a:r>
              <a:rPr lang="en" altLang="zh-CN" sz="1600" dirty="0"/>
              <a:t>are becoming the user-facing operating system of the future.</a:t>
            </a:r>
          </a:p>
          <a:p>
            <a:r>
              <a:rPr lang="en" altLang="zh-CN" sz="1600" dirty="0"/>
              <a:t>By improving I/O, scheduling, and system design,</a:t>
            </a:r>
            <a:br>
              <a:rPr lang="en" altLang="zh-CN" sz="1600" dirty="0"/>
            </a:br>
            <a:r>
              <a:rPr lang="en" altLang="zh-CN" sz="1600" dirty="0"/>
              <a:t>we are moving closer to natural human conversation.”</a:t>
            </a:r>
          </a:p>
          <a:p>
            <a:endParaRPr lang="en-US" sz="1600" b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Thank you for listening.</a:t>
            </a:r>
            <a:br>
              <a:rPr lang="en" altLang="zh-CN" dirty="0"/>
            </a:br>
            <a:r>
              <a:rPr lang="en" altLang="zh-CN" dirty="0"/>
              <a:t>I’m happy to take questions.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>
              <a:defRPr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391325" cy="569415"/>
            <a:chOff x="86980" y="6239920"/>
            <a:chExt cx="339132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6" y="6347770"/>
              <a:ext cx="2648469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</a:t>
              </a:r>
              <a:r>
                <a:rPr lang="zh-CN" altLang="en-US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学</a:t>
              </a: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itchFamily="3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anose="02010601000101010101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anose="02010601000101010101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anose="02010601000101010101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anose="02010601000101010101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anose="02010601000101010101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itchFamily="34" charset="0"/>
          <a:ea typeface="標楷體" panose="02010601000101010101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anose="02010601000101010101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546545"/>
            <a:ext cx="11396871" cy="1882455"/>
          </a:xfrm>
        </p:spPr>
        <p:txBody>
          <a:bodyPr/>
          <a:lstStyle/>
          <a:p>
            <a:r>
              <a:rPr lang="en" altLang="zh-CN" sz="4400" dirty="0"/>
              <a:t>Three-Layer System Stack for </a:t>
            </a:r>
            <a:br>
              <a:rPr lang="en" altLang="zh-CN" sz="4400" dirty="0"/>
            </a:br>
            <a:r>
              <a:rPr lang="en" altLang="zh-CN" sz="4400" dirty="0"/>
              <a:t>Spoken Dialogue</a:t>
            </a:r>
            <a:r>
              <a:rPr lang="zh-CN" altLang="en-US" sz="4400" dirty="0"/>
              <a:t> </a:t>
            </a:r>
            <a:r>
              <a:rPr lang="en-US" altLang="zh-CN" sz="4400" dirty="0"/>
              <a:t>System</a:t>
            </a:r>
            <a:br>
              <a:rPr lang="en-US" altLang="zh-CN" sz="4400" dirty="0"/>
            </a:b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2026.03.24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2706" y="3855632"/>
            <a:ext cx="8534400" cy="1882455"/>
          </a:xfrm>
        </p:spPr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Huan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Liao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CE24-C5BC-F8F9-6FCE-1F209892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959CA-80A9-3EDC-42AE-C27C8178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44E312A-9447-CF25-88F7-4821DB670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FA37AFC-DF6D-55E7-97DC-E818A285B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[Programming] </a:t>
            </a:r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[Workload]       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[Runtime]         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  <p:extLst>
      <p:ext uri="{BB962C8B-B14F-4D97-AF65-F5344CB8AC3E}">
        <p14:creationId xmlns:p14="http://schemas.microsoft.com/office/powerpoint/2010/main" val="381770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(5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900E-16AF-E51A-C5B2-6C7D857D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FD9C-2911-C1F4-53A0-2A2FC57A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itchFamily="34" charset="0"/>
                <a:cs typeface="Calibri" pitchFamily="34" charset="0"/>
              </a:rPr>
              <a:t>Introduction  (1/3)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DC0006F-FAF9-5740-DBC1-B92A0848E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027AE5-D002-002A-5E17-1C45BE5556D9}"/>
              </a:ext>
            </a:extLst>
          </p:cNvPr>
          <p:cNvGrpSpPr/>
          <p:nvPr/>
        </p:nvGrpSpPr>
        <p:grpSpPr>
          <a:xfrm>
            <a:off x="808042" y="4710514"/>
            <a:ext cx="2555221" cy="1225615"/>
            <a:chOff x="6926580" y="4537710"/>
            <a:chExt cx="1965960" cy="94297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F268C60-4D86-02E2-1AEC-1AB64546D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148" t="67100" r="54765" b="7667"/>
            <a:stretch>
              <a:fillRect/>
            </a:stretch>
          </p:blipFill>
          <p:spPr>
            <a:xfrm>
              <a:off x="6995233" y="5017770"/>
              <a:ext cx="1206050" cy="46291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0E833D-373A-B2E3-AA3A-8F3EF458CCF1}"/>
                </a:ext>
              </a:extLst>
            </p:cNvPr>
            <p:cNvSpPr/>
            <p:nvPr/>
          </p:nvSpPr>
          <p:spPr bwMode="auto">
            <a:xfrm>
              <a:off x="6926580" y="4537710"/>
              <a:ext cx="1965960" cy="462915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MingLiU" pitchFamily="18" charset="-120"/>
              </a:endParaRP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C8E007-C760-8E64-E3BF-920567E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3" y="1264765"/>
            <a:ext cx="6175857" cy="4831715"/>
          </a:xfrm>
        </p:spPr>
        <p:txBody>
          <a:bodyPr/>
          <a:lstStyle/>
          <a:p>
            <a:r>
              <a:rPr lang="en-US" altLang="zh-CN" sz="2400" b="1" dirty="0">
                <a:latin typeface="Times New Roman Bold" panose="02020603050405020304" charset="0"/>
              </a:rPr>
              <a:t>What is </a:t>
            </a:r>
            <a:r>
              <a:rPr lang="en" altLang="zh-CN" sz="2400" b="1" dirty="0">
                <a:latin typeface="Times New Roman Bold" panose="02020603050405020304" charset="0"/>
              </a:rPr>
              <a:t>Spoken Dialogue</a:t>
            </a:r>
            <a:r>
              <a:rPr lang="zh-CN" altLang="en-US" sz="2400" b="1" dirty="0">
                <a:latin typeface="Times New Roman Bold" panose="02020603050405020304" charset="0"/>
              </a:rPr>
              <a:t> </a:t>
            </a:r>
            <a:r>
              <a:rPr lang="en-US" altLang="zh-CN" sz="2400" b="1" dirty="0">
                <a:latin typeface="Times New Roman Bold" panose="02020603050405020304" charset="0"/>
              </a:rPr>
              <a:t>System?</a:t>
            </a:r>
            <a:endParaRPr lang="en-US" sz="2400" b="1" dirty="0">
              <a:latin typeface="Times New Roman Bold" panose="02020603050405020304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interaction</a:t>
            </a: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anytime (Full-duplex)</a:t>
            </a: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voice</a:t>
            </a:r>
          </a:p>
          <a:p>
            <a:pPr lvl="1"/>
            <a:endParaRPr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dirty="0">
                <a:latin typeface="Times New Roman Bold" panose="02020603050405020304" charset="0"/>
                <a:cs typeface="+mn-cs"/>
              </a:rPr>
              <a:t>Applications of Spoken Dialogue Systems</a:t>
            </a: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Siri,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Doubao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tutors: Duolingo</a:t>
            </a: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Copilots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GPT-4o, Gemini</a:t>
            </a:r>
            <a:b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35808609358-1-192">
            <a:hlinkClick r:id="" action="ppaction://media"/>
            <a:extLst>
              <a:ext uri="{FF2B5EF4-FFF2-40B4-BE49-F238E27FC236}">
                <a16:creationId xmlns:a16="http://schemas.microsoft.com/office/drawing/2014/main" id="{DBE5DE20-A5EE-1DD4-AA75-EA923FA6AF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45804" y="0"/>
            <a:ext cx="3857625" cy="6858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7E2368F-068E-FE42-262D-BF21E7A0F4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48" t="7221" r="39545" b="63929"/>
          <a:stretch>
            <a:fillRect/>
          </a:stretch>
        </p:blipFill>
        <p:spPr>
          <a:xfrm>
            <a:off x="2802170" y="5353258"/>
            <a:ext cx="2102339" cy="64919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2BC8CAD-EAA1-DC4C-7604-8C18125C72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828" t="27217" r="3463" b="27585"/>
          <a:stretch>
            <a:fillRect/>
          </a:stretch>
        </p:blipFill>
        <p:spPr>
          <a:xfrm>
            <a:off x="5153482" y="5196708"/>
            <a:ext cx="942518" cy="89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4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246AB-6464-5C13-F33E-72F7EFE7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5A3E-668F-D709-66AE-7C62CB76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itchFamily="34" charset="0"/>
                <a:cs typeface="Calibri" pitchFamily="34" charset="0"/>
              </a:rPr>
              <a:t>Introduction 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947B6-DE2D-45DE-4C02-044B10633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58" y="1177098"/>
            <a:ext cx="7320200" cy="868413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" altLang="zh-CN" sz="2800" b="1" dirty="0">
                <a:latin typeface="Times New Roman Bold" panose="02020603050405020304" charset="0"/>
              </a:rPr>
              <a:t>The Evolution of Spoken Dialogue</a:t>
            </a:r>
            <a:r>
              <a:rPr lang="zh-CN" altLang="en-US" sz="2800" b="1" dirty="0">
                <a:latin typeface="Times New Roman Bold" panose="02020603050405020304" charset="0"/>
              </a:rPr>
              <a:t> </a:t>
            </a:r>
            <a:r>
              <a:rPr lang="en-US" altLang="zh-CN" sz="2800" b="1" dirty="0">
                <a:latin typeface="Times New Roman Bold" panose="02020603050405020304" charset="0"/>
              </a:rPr>
              <a:t>System</a:t>
            </a:r>
            <a:endParaRPr lang="en" altLang="zh-CN" sz="2800" b="1" dirty="0">
              <a:latin typeface="Times New Roman Bold" panose="02020603050405020304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7FB9980-9727-CABF-8B1C-05DC4130B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1363D1F-6C4C-FF59-E6F5-AD126F92E7CF}"/>
              </a:ext>
            </a:extLst>
          </p:cNvPr>
          <p:cNvCxnSpPr>
            <a:cxnSpLocks/>
          </p:cNvCxnSpPr>
          <p:nvPr/>
        </p:nvCxnSpPr>
        <p:spPr bwMode="auto">
          <a:xfrm>
            <a:off x="427512" y="5617029"/>
            <a:ext cx="11257807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DD25B73-827F-88E9-F96A-A97551C125E9}"/>
              </a:ext>
            </a:extLst>
          </p:cNvPr>
          <p:cNvSpPr txBox="1"/>
          <p:nvPr/>
        </p:nvSpPr>
        <p:spPr>
          <a:xfrm>
            <a:off x="934989" y="5617029"/>
            <a:ext cx="813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5F43FE-EFCF-32C9-65F5-CD71C81B78AC}"/>
              </a:ext>
            </a:extLst>
          </p:cNvPr>
          <p:cNvSpPr txBox="1"/>
          <p:nvPr/>
        </p:nvSpPr>
        <p:spPr>
          <a:xfrm>
            <a:off x="3857373" y="5617029"/>
            <a:ext cx="813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F96B3-3257-3D2A-3520-238B5AC765B1}"/>
              </a:ext>
            </a:extLst>
          </p:cNvPr>
          <p:cNvSpPr txBox="1"/>
          <p:nvPr/>
        </p:nvSpPr>
        <p:spPr>
          <a:xfrm>
            <a:off x="6779757" y="5617029"/>
            <a:ext cx="813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208BB0-6493-6353-9D1D-6A46A3F2968B}"/>
              </a:ext>
            </a:extLst>
          </p:cNvPr>
          <p:cNvSpPr txBox="1"/>
          <p:nvPr/>
        </p:nvSpPr>
        <p:spPr>
          <a:xfrm>
            <a:off x="9702140" y="5617029"/>
            <a:ext cx="1402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zh-CN" altLang="en-US" b="1" dirty="0"/>
          </a:p>
        </p:txBody>
      </p:sp>
      <p:sp>
        <p:nvSpPr>
          <p:cNvPr id="19" name="Google Shape;108;p15">
            <a:extLst>
              <a:ext uri="{FF2B5EF4-FFF2-40B4-BE49-F238E27FC236}">
                <a16:creationId xmlns:a16="http://schemas.microsoft.com/office/drawing/2014/main" id="{D18BD661-5400-3DF0-A1CB-D44AB26744FF}"/>
              </a:ext>
            </a:extLst>
          </p:cNvPr>
          <p:cNvSpPr txBox="1"/>
          <p:nvPr/>
        </p:nvSpPr>
        <p:spPr>
          <a:xfrm>
            <a:off x="354802" y="5247698"/>
            <a:ext cx="19738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Pipeline</a:t>
            </a:r>
            <a:r>
              <a:rPr lang="zh-CN" altLang="en-US" sz="2000" b="1" i="0" u="none" strike="noStrike" cap="none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 </a:t>
            </a:r>
            <a:r>
              <a:rPr lang="en-US" altLang="zh-CN" sz="2000" b="1" i="0" u="none" strike="noStrike" cap="none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Era</a:t>
            </a:r>
            <a:endParaRPr sz="1600" b="1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08;p15">
            <a:extLst>
              <a:ext uri="{FF2B5EF4-FFF2-40B4-BE49-F238E27FC236}">
                <a16:creationId xmlns:a16="http://schemas.microsoft.com/office/drawing/2014/main" id="{1F3886C3-DC64-4742-02D4-BFD4A6B1AEF9}"/>
              </a:ext>
            </a:extLst>
          </p:cNvPr>
          <p:cNvSpPr txBox="1"/>
          <p:nvPr/>
        </p:nvSpPr>
        <p:spPr>
          <a:xfrm>
            <a:off x="2978118" y="5247698"/>
            <a:ext cx="2571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" altLang="zh-CN" sz="2000" b="1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Multimodal Integration</a:t>
            </a:r>
            <a:endParaRPr sz="2000" b="1" dirty="0">
              <a:solidFill>
                <a:srgbClr val="990099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</p:txBody>
      </p:sp>
      <p:sp>
        <p:nvSpPr>
          <p:cNvPr id="21" name="Google Shape;108;p15">
            <a:extLst>
              <a:ext uri="{FF2B5EF4-FFF2-40B4-BE49-F238E27FC236}">
                <a16:creationId xmlns:a16="http://schemas.microsoft.com/office/drawing/2014/main" id="{A97A27C0-BC08-3F8E-0D11-3A5DB54F679C}"/>
              </a:ext>
            </a:extLst>
          </p:cNvPr>
          <p:cNvSpPr txBox="1"/>
          <p:nvPr/>
        </p:nvSpPr>
        <p:spPr>
          <a:xfrm>
            <a:off x="5899219" y="5247698"/>
            <a:ext cx="2571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" altLang="zh-CN" sz="2000" b="1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Full-Duplex Modeling</a:t>
            </a:r>
            <a:endParaRPr sz="2000" b="1" dirty="0">
              <a:solidFill>
                <a:srgbClr val="990099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</p:txBody>
      </p:sp>
      <p:sp>
        <p:nvSpPr>
          <p:cNvPr id="22" name="Google Shape;108;p15">
            <a:extLst>
              <a:ext uri="{FF2B5EF4-FFF2-40B4-BE49-F238E27FC236}">
                <a16:creationId xmlns:a16="http://schemas.microsoft.com/office/drawing/2014/main" id="{3C4BE5BA-D15F-BEB5-E343-6C351AB8F6D2}"/>
              </a:ext>
            </a:extLst>
          </p:cNvPr>
          <p:cNvSpPr txBox="1"/>
          <p:nvPr/>
        </p:nvSpPr>
        <p:spPr>
          <a:xfrm>
            <a:off x="8989621" y="5247697"/>
            <a:ext cx="2571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" altLang="zh-CN" sz="2000" b="1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Real-Time Streaming</a:t>
            </a:r>
            <a:endParaRPr sz="2000" b="1" dirty="0">
              <a:solidFill>
                <a:srgbClr val="990099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C662EC-1660-C0DF-AF7A-348D355DB11F}"/>
              </a:ext>
            </a:extLst>
          </p:cNvPr>
          <p:cNvSpPr txBox="1"/>
          <p:nvPr/>
        </p:nvSpPr>
        <p:spPr>
          <a:xfrm>
            <a:off x="274450" y="3901388"/>
            <a:ext cx="7314807" cy="12712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400" b="1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220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en-US" sz="2000" dirty="0">
                <a:solidFill>
                  <a:srgbClr val="C00000"/>
                </a:solidFill>
              </a:rPr>
              <a:t>ASR</a:t>
            </a:r>
            <a:r>
              <a:rPr lang="en-US" altLang="zh-CN" sz="2000" dirty="0">
                <a:solidFill>
                  <a:srgbClr val="C00000"/>
                </a:solidFill>
              </a:rPr>
              <a:t>(speech recognition)</a:t>
            </a:r>
            <a:r>
              <a:rPr lang="zh-CN" altLang="en-US" sz="2000" dirty="0">
                <a:solidFill>
                  <a:srgbClr val="C00000"/>
                </a:solidFill>
              </a:rPr>
              <a:t> → LLM → TTS</a:t>
            </a:r>
            <a:r>
              <a:rPr lang="en-US" altLang="zh-CN" sz="2000" dirty="0">
                <a:solidFill>
                  <a:srgbClr val="C00000"/>
                </a:solidFill>
              </a:rPr>
              <a:t>(speech generation)</a:t>
            </a:r>
            <a:endParaRPr lang="zh-CN" altLang="en-US" sz="2000" dirty="0">
              <a:solidFill>
                <a:srgbClr val="C00000"/>
              </a:solidFill>
            </a:endParaRPr>
          </a:p>
          <a:p>
            <a:r>
              <a:rPr lang="zh-CN" altLang="en-US" sz="2000" dirty="0"/>
              <a:t>Turn-based interaction</a:t>
            </a:r>
          </a:p>
          <a:p>
            <a:r>
              <a:rPr lang="zh-CN" altLang="en-US" sz="2000" dirty="0">
                <a:solidFill>
                  <a:srgbClr val="C00000"/>
                </a:solidFill>
              </a:rPr>
              <a:t>High latency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2D6813-B48F-76DA-BB18-66F86E96F8B1}"/>
              </a:ext>
            </a:extLst>
          </p:cNvPr>
          <p:cNvSpPr txBox="1"/>
          <p:nvPr/>
        </p:nvSpPr>
        <p:spPr>
          <a:xfrm>
            <a:off x="2774524" y="3056943"/>
            <a:ext cx="4147009" cy="8342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TW"/>
            </a:defPPr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220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zh-CN" dirty="0"/>
              <a:t>Speech + text unified</a:t>
            </a:r>
          </a:p>
          <a:p>
            <a:r>
              <a:rPr lang="en" altLang="zh-CN" dirty="0"/>
              <a:t>Better semantic understanding</a:t>
            </a:r>
            <a:endParaRPr lang="en-US" altLang="zh-CN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F1ABEB-A43E-1D86-2A97-B03A43CA2D3C}"/>
              </a:ext>
            </a:extLst>
          </p:cNvPr>
          <p:cNvSpPr txBox="1"/>
          <p:nvPr/>
        </p:nvSpPr>
        <p:spPr>
          <a:xfrm>
            <a:off x="5885884" y="2235799"/>
            <a:ext cx="4147009" cy="8109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TW"/>
            </a:defPPr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220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zh-CN" dirty="0"/>
              <a:t>Listen while speaking</a:t>
            </a:r>
            <a:endParaRPr lang="en-US" altLang="zh-CN" dirty="0"/>
          </a:p>
          <a:p>
            <a:r>
              <a:rPr lang="zh-CN" altLang="zh-CN" dirty="0"/>
              <a:t>Turn-taking &amp; interruption</a:t>
            </a:r>
          </a:p>
          <a:p>
            <a:endParaRPr lang="en-US" altLang="zh-CN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D33DF5F-8BBA-69F2-5753-7EBC609B7776}"/>
              </a:ext>
            </a:extLst>
          </p:cNvPr>
          <p:cNvSpPr txBox="1"/>
          <p:nvPr/>
        </p:nvSpPr>
        <p:spPr>
          <a:xfrm>
            <a:off x="9009116" y="1086788"/>
            <a:ext cx="3135086" cy="11387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TW"/>
            </a:defPPr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220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zh-CN" altLang="zh-CN" dirty="0"/>
              <a:t>Speech-to-speech</a:t>
            </a:r>
            <a:endParaRPr lang="en-US" altLang="zh-CN" dirty="0"/>
          </a:p>
          <a:p>
            <a:r>
              <a:rPr lang="zh-CN" altLang="zh-CN" dirty="0">
                <a:solidFill>
                  <a:srgbClr val="99009B"/>
                </a:solidFill>
              </a:rPr>
              <a:t>Low-latency </a:t>
            </a:r>
            <a:r>
              <a:rPr lang="zh-CN" altLang="zh-CN" dirty="0"/>
              <a:t>(~200ms)</a:t>
            </a:r>
          </a:p>
          <a:p>
            <a:r>
              <a:rPr lang="zh-CN" altLang="zh-CN" dirty="0">
                <a:solidFill>
                  <a:srgbClr val="99009B"/>
                </a:solidFill>
              </a:rPr>
              <a:t>Always-on interaction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CBFA76B0-F1B6-F524-BF69-9434A6294DC6}"/>
              </a:ext>
            </a:extLst>
          </p:cNvPr>
          <p:cNvSpPr/>
          <p:nvPr/>
        </p:nvSpPr>
        <p:spPr bwMode="auto">
          <a:xfrm>
            <a:off x="9107098" y="3544079"/>
            <a:ext cx="1165351" cy="1165351"/>
          </a:xfrm>
          <a:prstGeom prst="ellipse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More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Integrated</a:t>
            </a:r>
            <a:endParaRPr kumimoji="1" lang="zh-CN" altLang="en-US" sz="1600" b="1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6A49916-6E22-F154-C14F-5080497BF837}"/>
              </a:ext>
            </a:extLst>
          </p:cNvPr>
          <p:cNvSpPr/>
          <p:nvPr/>
        </p:nvSpPr>
        <p:spPr bwMode="auto">
          <a:xfrm>
            <a:off x="9808192" y="2793363"/>
            <a:ext cx="1165351" cy="1165351"/>
          </a:xfrm>
          <a:prstGeom prst="ellipse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More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Interactive</a:t>
            </a:r>
            <a:endParaRPr kumimoji="1" lang="zh-CN" altLang="en-US" sz="1600" b="1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CB8BFEC-D67F-BE95-BC82-1BD73A9C9432}"/>
              </a:ext>
            </a:extLst>
          </p:cNvPr>
          <p:cNvSpPr/>
          <p:nvPr/>
        </p:nvSpPr>
        <p:spPr bwMode="auto">
          <a:xfrm>
            <a:off x="10509286" y="3544078"/>
            <a:ext cx="1165351" cy="1165351"/>
          </a:xfrm>
          <a:prstGeom prst="ellipse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More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Real-time</a:t>
            </a:r>
            <a:endParaRPr kumimoji="1" lang="zh-CN" altLang="en-US" sz="1600" b="1" dirty="0"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02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CN" dirty="0">
                <a:ea typeface="Calibri" pitchFamily="34" charset="0"/>
                <a:cs typeface="Calibri" pitchFamily="34" charset="0"/>
              </a:rPr>
              <a:t>Introduction  (3/3)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FC4F2E9-FF3F-C616-7A23-1563D2E36799}"/>
              </a:ext>
            </a:extLst>
          </p:cNvPr>
          <p:cNvGrpSpPr/>
          <p:nvPr/>
        </p:nvGrpSpPr>
        <p:grpSpPr>
          <a:xfrm>
            <a:off x="780378" y="4633574"/>
            <a:ext cx="4710677" cy="1479033"/>
            <a:chOff x="876375" y="2379939"/>
            <a:chExt cx="4710677" cy="1479033"/>
          </a:xfrm>
        </p:grpSpPr>
        <p:pic>
          <p:nvPicPr>
            <p:cNvPr id="10" name="Google Shape;107;p15" descr="image.png">
              <a:extLst>
                <a:ext uri="{FF2B5EF4-FFF2-40B4-BE49-F238E27FC236}">
                  <a16:creationId xmlns:a16="http://schemas.microsoft.com/office/drawing/2014/main" id="{EABBF524-08C9-20A0-ACD7-0DFFCE500B9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  <a:duotone>
                <a:prstClr val="black"/>
                <a:srgbClr val="7030A0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876375" y="2379939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08;p15">
              <a:extLst>
                <a:ext uri="{FF2B5EF4-FFF2-40B4-BE49-F238E27FC236}">
                  <a16:creationId xmlns:a16="http://schemas.microsoft.com/office/drawing/2014/main" id="{62BE0086-F9F8-1055-11AF-8E6B804ACDA8}"/>
                </a:ext>
              </a:extLst>
            </p:cNvPr>
            <p:cNvSpPr txBox="1"/>
            <p:nvPr/>
          </p:nvSpPr>
          <p:spPr>
            <a:xfrm>
              <a:off x="1627741" y="2487074"/>
              <a:ext cx="3959311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2800" b="1" dirty="0">
                  <a:solidFill>
                    <a:srgbClr val="990099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Layer 1: </a:t>
              </a:r>
              <a:r>
                <a:rPr lang="en" altLang="zh-CN" sz="2800" b="1" dirty="0">
                  <a:solidFill>
                    <a:srgbClr val="990099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</a:rPr>
                <a:t>Programming</a:t>
              </a:r>
              <a:endParaRPr sz="2800" b="1" dirty="0">
                <a:solidFill>
                  <a:srgbClr val="990099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endParaRPr>
            </a:p>
          </p:txBody>
        </p:sp>
        <p:sp>
          <p:nvSpPr>
            <p:cNvPr id="12" name="Google Shape;109;p15">
              <a:extLst>
                <a:ext uri="{FF2B5EF4-FFF2-40B4-BE49-F238E27FC236}">
                  <a16:creationId xmlns:a16="http://schemas.microsoft.com/office/drawing/2014/main" id="{1079EA19-A49A-1F21-BE90-3FCD7FE9FC36}"/>
                </a:ext>
              </a:extLst>
            </p:cNvPr>
            <p:cNvSpPr txBox="1"/>
            <p:nvPr/>
          </p:nvSpPr>
          <p:spPr>
            <a:xfrm>
              <a:off x="906191" y="3040286"/>
              <a:ext cx="3332321" cy="818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00"/>
                </a:lnSpc>
              </a:pPr>
              <a:r>
                <a:rPr kumimoji="1" lang="en" altLang="zh-CN" sz="2000" b="1" dirty="0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</a:rPr>
                <a:t>What is the data?</a:t>
              </a:r>
              <a:endParaRPr kumimoji="1" lang="en-US" altLang="zh-CN" sz="2000" b="1" dirty="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  <a:sym typeface="Urbanist"/>
              </a:endParaRPr>
            </a:p>
            <a:p>
              <a:pPr>
                <a:lnSpc>
                  <a:spcPct val="140000"/>
                </a:lnSpc>
              </a:pPr>
              <a:r>
                <a:rPr kumimoji="1" lang="en-US" altLang="zh-CN" dirty="0" err="1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  <a:sym typeface="Urbanist"/>
                </a:rPr>
                <a:t>SpeechGPT</a:t>
              </a:r>
              <a:r>
                <a:rPr kumimoji="1" lang="en" altLang="zh-CN" dirty="0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  <a:sym typeface="Urbanist"/>
                </a:rPr>
                <a:t>:</a:t>
              </a:r>
              <a:r>
                <a:rPr kumimoji="1" lang="en-US" altLang="zh-CN" dirty="0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  <a:sym typeface="Urbanist"/>
                </a:rPr>
                <a:t> unified instruction sets</a:t>
              </a:r>
              <a:endParaRPr kumimoji="1" dirty="0">
                <a:latin typeface="Times New Roman" panose="02020603050405020304" pitchFamily="18" charset="0"/>
                <a:ea typeface="標楷體" panose="02010601000101010101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9" name="Google Shape;116;p15" descr="image.png">
              <a:extLst>
                <a:ext uri="{FF2B5EF4-FFF2-40B4-BE49-F238E27FC236}">
                  <a16:creationId xmlns:a16="http://schemas.microsoft.com/office/drawing/2014/main" id="{C1E09D03-A76A-8195-593C-DA5D82E966C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5437" y="2532339"/>
              <a:ext cx="333375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F6F1EE0-70F9-8BB2-6D24-33EB47630B2B}"/>
              </a:ext>
            </a:extLst>
          </p:cNvPr>
          <p:cNvGrpSpPr/>
          <p:nvPr/>
        </p:nvGrpSpPr>
        <p:grpSpPr>
          <a:xfrm>
            <a:off x="4230500" y="3154541"/>
            <a:ext cx="3989127" cy="1479033"/>
            <a:chOff x="4632350" y="2284140"/>
            <a:chExt cx="3989127" cy="1479033"/>
          </a:xfrm>
        </p:grpSpPr>
        <p:pic>
          <p:nvPicPr>
            <p:cNvPr id="13" name="Google Shape;110;p15" descr="image.png">
              <a:extLst>
                <a:ext uri="{FF2B5EF4-FFF2-40B4-BE49-F238E27FC236}">
                  <a16:creationId xmlns:a16="http://schemas.microsoft.com/office/drawing/2014/main" id="{930A4CD1-939A-E2AC-A547-A26A05074A0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duotone>
                <a:prstClr val="black"/>
                <a:srgbClr val="7030A0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4632350" y="228414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11;p15">
              <a:extLst>
                <a:ext uri="{FF2B5EF4-FFF2-40B4-BE49-F238E27FC236}">
                  <a16:creationId xmlns:a16="http://schemas.microsoft.com/office/drawing/2014/main" id="{06167C0F-206F-4BC6-536C-F2C8BB5797E3}"/>
                </a:ext>
              </a:extLst>
            </p:cNvPr>
            <p:cNvSpPr txBox="1"/>
            <p:nvPr/>
          </p:nvSpPr>
          <p:spPr>
            <a:xfrm>
              <a:off x="5314660" y="2385224"/>
              <a:ext cx="3073665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990099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Layer 2: Workloads</a:t>
              </a:r>
              <a:endParaRPr sz="2000" b="1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Google Shape;112;p15">
              <a:extLst>
                <a:ext uri="{FF2B5EF4-FFF2-40B4-BE49-F238E27FC236}">
                  <a16:creationId xmlns:a16="http://schemas.microsoft.com/office/drawing/2014/main" id="{A9D5107E-96D8-8128-0197-E7C6F1564A7B}"/>
                </a:ext>
              </a:extLst>
            </p:cNvPr>
            <p:cNvSpPr txBox="1"/>
            <p:nvPr/>
          </p:nvSpPr>
          <p:spPr>
            <a:xfrm>
              <a:off x="4662166" y="2944487"/>
              <a:ext cx="3959311" cy="818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zh-TW"/>
              </a:defPPr>
              <a:lvl1pPr lvl="0">
                <a:lnSpc>
                  <a:spcPct val="140000"/>
                </a:lnSpc>
                <a:defRPr kumimoji="1" sz="1600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</a:defRPr>
              </a:lvl1pPr>
            </a:lstStyle>
            <a:p>
              <a:r>
                <a:rPr lang="en" altLang="zh-CN" sz="2000" b="1" dirty="0"/>
                <a:t>Who speaks? When?</a:t>
              </a:r>
              <a:endParaRPr lang="en-US" altLang="zh-CN" sz="2000" b="1" dirty="0">
                <a:sym typeface="Urbanist"/>
              </a:endParaRPr>
            </a:p>
            <a:p>
              <a:r>
                <a:rPr lang="en-US" altLang="zh-CN" sz="1800" dirty="0">
                  <a:sym typeface="Urbanist"/>
                </a:rPr>
                <a:t>LSLM: state-driven workload management</a:t>
              </a:r>
              <a:endParaRPr sz="1800" dirty="0"/>
            </a:p>
          </p:txBody>
        </p:sp>
        <p:pic>
          <p:nvPicPr>
            <p:cNvPr id="20" name="Google Shape;117;p15" descr="image.png">
              <a:extLst>
                <a:ext uri="{FF2B5EF4-FFF2-40B4-BE49-F238E27FC236}">
                  <a16:creationId xmlns:a16="http://schemas.microsoft.com/office/drawing/2014/main" id="{5CB4D205-6706-B388-F582-B0987490BF2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84750" y="2436540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279BB82-56CF-15B1-F54B-71BB366C4B0D}"/>
              </a:ext>
            </a:extLst>
          </p:cNvPr>
          <p:cNvGrpSpPr/>
          <p:nvPr/>
        </p:nvGrpSpPr>
        <p:grpSpPr>
          <a:xfrm>
            <a:off x="8307611" y="1961259"/>
            <a:ext cx="3884389" cy="1479032"/>
            <a:chOff x="8388325" y="2284140"/>
            <a:chExt cx="3812009" cy="1479032"/>
          </a:xfrm>
        </p:grpSpPr>
        <p:pic>
          <p:nvPicPr>
            <p:cNvPr id="16" name="Google Shape;113;p15" descr="image.png">
              <a:extLst>
                <a:ext uri="{FF2B5EF4-FFF2-40B4-BE49-F238E27FC236}">
                  <a16:creationId xmlns:a16="http://schemas.microsoft.com/office/drawing/2014/main" id="{B6996C76-5342-661D-1C88-F03EB4ADDDA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  <a:duotone>
                <a:prstClr val="black"/>
                <a:srgbClr val="7030A0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8388325" y="228414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14;p15">
              <a:extLst>
                <a:ext uri="{FF2B5EF4-FFF2-40B4-BE49-F238E27FC236}">
                  <a16:creationId xmlns:a16="http://schemas.microsoft.com/office/drawing/2014/main" id="{AE6C32AC-51CD-39CD-3D41-7E21A756E64C}"/>
                </a:ext>
              </a:extLst>
            </p:cNvPr>
            <p:cNvSpPr txBox="1"/>
            <p:nvPr/>
          </p:nvSpPr>
          <p:spPr>
            <a:xfrm>
              <a:off x="9126513" y="2379607"/>
              <a:ext cx="3073821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990099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Layer 3: Runtime</a:t>
              </a:r>
              <a:endParaRPr sz="2000" b="1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Google Shape;115;p15">
              <a:extLst>
                <a:ext uri="{FF2B5EF4-FFF2-40B4-BE49-F238E27FC236}">
                  <a16:creationId xmlns:a16="http://schemas.microsoft.com/office/drawing/2014/main" id="{78D129E3-051F-3BAB-51F5-3AC8979ACD66}"/>
                </a:ext>
              </a:extLst>
            </p:cNvPr>
            <p:cNvSpPr txBox="1"/>
            <p:nvPr/>
          </p:nvSpPr>
          <p:spPr>
            <a:xfrm>
              <a:off x="8418142" y="2944486"/>
              <a:ext cx="3623963" cy="8186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zh-TW"/>
              </a:defPPr>
              <a:lvl1pPr lvl="0">
                <a:lnSpc>
                  <a:spcPct val="140000"/>
                </a:lnSpc>
                <a:defRPr kumimoji="1" sz="1600">
                  <a:latin typeface="Times New Roman" panose="02020603050405020304" pitchFamily="18" charset="0"/>
                  <a:ea typeface="標楷體" panose="02010601000101010101" pitchFamily="65" charset="-120"/>
                  <a:cs typeface="Times New Roman" panose="02020603050405020304" pitchFamily="18" charset="0"/>
                </a:defRPr>
              </a:lvl1pPr>
            </a:lstStyle>
            <a:p>
              <a:r>
                <a:rPr lang="en" altLang="zh-CN" sz="2000" b="1" dirty="0"/>
                <a:t>How fast can we respond?</a:t>
              </a:r>
              <a:endParaRPr lang="en-US" altLang="zh-CN" sz="2000" b="1" dirty="0">
                <a:sym typeface="Urbanist"/>
              </a:endParaRPr>
            </a:p>
            <a:p>
              <a:r>
                <a:rPr lang="en-US" altLang="zh-CN" sz="1800" dirty="0">
                  <a:sym typeface="Urbanist"/>
                </a:rPr>
                <a:t>Moshi: real-time asynchronous runtime</a:t>
              </a:r>
              <a:endParaRPr sz="1800" dirty="0"/>
            </a:p>
          </p:txBody>
        </p:sp>
        <p:pic>
          <p:nvPicPr>
            <p:cNvPr id="21" name="Google Shape;118;p15" descr="image.png">
              <a:extLst>
                <a:ext uri="{FF2B5EF4-FFF2-40B4-BE49-F238E27FC236}">
                  <a16:creationId xmlns:a16="http://schemas.microsoft.com/office/drawing/2014/main" id="{A36DA142-B8B6-B94B-6DF4-D70EC29C0590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555013" y="2436540"/>
              <a:ext cx="238125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9578A215-C1C6-4642-D838-A8BBE0E329D7}"/>
              </a:ext>
            </a:extLst>
          </p:cNvPr>
          <p:cNvSpPr txBox="1"/>
          <p:nvPr/>
        </p:nvSpPr>
        <p:spPr>
          <a:xfrm>
            <a:off x="544776" y="1266851"/>
            <a:ext cx="109267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en" altLang="zh-CN" dirty="0"/>
              <a:t>How to build an dialogue system? </a:t>
            </a:r>
            <a:r>
              <a:rPr lang="en-US" altLang="zh-CN" dirty="0"/>
              <a:t>(From an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/>
              <a:t>perspective)</a:t>
            </a:r>
            <a:r>
              <a:rPr lang="en" altLang="zh-CN" dirty="0"/>
              <a:t>: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圆角矩形 37">
            <a:extLst>
              <a:ext uri="{FF2B5EF4-FFF2-40B4-BE49-F238E27FC236}">
                <a16:creationId xmlns:a16="http://schemas.microsoft.com/office/drawing/2014/main" id="{E5CF78F3-A21F-CD27-6F93-9653AC67B74A}"/>
              </a:ext>
            </a:extLst>
          </p:cNvPr>
          <p:cNvSpPr/>
          <p:nvPr/>
        </p:nvSpPr>
        <p:spPr bwMode="auto">
          <a:xfrm>
            <a:off x="4384266" y="223256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778850A-2207-0EDB-FC71-566DBD3DDEB0}"/>
              </a:ext>
            </a:extLst>
          </p:cNvPr>
          <p:cNvSpPr/>
          <p:nvPr/>
        </p:nvSpPr>
        <p:spPr bwMode="auto">
          <a:xfrm>
            <a:off x="8162788" y="223256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761FCD0-A7A0-2945-6334-48C0E20C358B}"/>
              </a:ext>
            </a:extLst>
          </p:cNvPr>
          <p:cNvSpPr/>
          <p:nvPr/>
        </p:nvSpPr>
        <p:spPr bwMode="auto">
          <a:xfrm>
            <a:off x="625629" y="223256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itchFamily="34" charset="0"/>
                <a:cs typeface="Calibri" pitchFamily="34" charset="0"/>
              </a:rPr>
              <a:t>Background (1/4)</a:t>
            </a:r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625629" y="1368325"/>
            <a:ext cx="9876465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800" b="1" kern="0" dirty="0">
                <a:latin typeface="Times New Roman Bold" panose="02020603050405020304" charset="0"/>
              </a:rPr>
              <a:t>Traditional systems are modular:</a:t>
            </a:r>
          </a:p>
          <a:p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127;p17" descr="image.png">
            <a:extLst>
              <a:ext uri="{FF2B5EF4-FFF2-40B4-BE49-F238E27FC236}">
                <a16:creationId xmlns:a16="http://schemas.microsoft.com/office/drawing/2014/main" id="{6C0ECF06-CFFE-52EB-AEA9-A6729CE97ACB}"/>
              </a:ext>
            </a:extLst>
          </p:cNvPr>
          <p:cNvPicPr preferRelativeResize="0"/>
          <p:nvPr/>
        </p:nvPicPr>
        <p:blipFill rotWithShape="1">
          <a:blip r:embed="rId3">
            <a:duotone>
              <a:prstClr val="black"/>
              <a:srgbClr val="7030A0">
                <a:tint val="45000"/>
                <a:satMod val="400000"/>
              </a:srgbClr>
            </a:duotone>
            <a:alphaModFix/>
          </a:blip>
          <a:srcRect/>
          <a:stretch/>
        </p:blipFill>
        <p:spPr>
          <a:xfrm>
            <a:off x="920904" y="24171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8;p17">
            <a:extLst>
              <a:ext uri="{FF2B5EF4-FFF2-40B4-BE49-F238E27FC236}">
                <a16:creationId xmlns:a16="http://schemas.microsoft.com/office/drawing/2014/main" id="{707B6B8F-1483-37B0-DFBD-0A131B2720BF}"/>
              </a:ext>
            </a:extLst>
          </p:cNvPr>
          <p:cNvSpPr txBox="1"/>
          <p:nvPr/>
        </p:nvSpPr>
        <p:spPr>
          <a:xfrm>
            <a:off x="920904" y="3179110"/>
            <a:ext cx="30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ASR (Frontend)</a:t>
            </a:r>
            <a:endParaRPr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29;p17">
            <a:extLst>
              <a:ext uri="{FF2B5EF4-FFF2-40B4-BE49-F238E27FC236}">
                <a16:creationId xmlns:a16="http://schemas.microsoft.com/office/drawing/2014/main" id="{B1CDE33F-06B4-66EB-17F3-87142A3F0450}"/>
              </a:ext>
            </a:extLst>
          </p:cNvPr>
          <p:cNvSpPr txBox="1"/>
          <p:nvPr/>
        </p:nvSpPr>
        <p:spPr>
          <a:xfrm>
            <a:off x="920904" y="3683935"/>
            <a:ext cx="2927300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</a:t>
            </a:r>
            <a:r>
              <a:rPr lang="en-US" sz="1650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Device Driver</a:t>
            </a: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. 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Transcribes raw audio frames into discrete tokens.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Google Shape;130;p17" descr="image.png">
            <a:extLst>
              <a:ext uri="{FF2B5EF4-FFF2-40B4-BE49-F238E27FC236}">
                <a16:creationId xmlns:a16="http://schemas.microsoft.com/office/drawing/2014/main" id="{24CF9D8D-54CB-460A-9C4E-F97E4941BC08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7030A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4617504" y="24171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31;p17">
            <a:extLst>
              <a:ext uri="{FF2B5EF4-FFF2-40B4-BE49-F238E27FC236}">
                <a16:creationId xmlns:a16="http://schemas.microsoft.com/office/drawing/2014/main" id="{52D08507-7A97-E81F-286D-9EB180A2CB42}"/>
              </a:ext>
            </a:extLst>
          </p:cNvPr>
          <p:cNvSpPr txBox="1"/>
          <p:nvPr/>
        </p:nvSpPr>
        <p:spPr>
          <a:xfrm>
            <a:off x="4617504" y="3179110"/>
            <a:ext cx="30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LLM (Kernel)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132;p17">
            <a:extLst>
              <a:ext uri="{FF2B5EF4-FFF2-40B4-BE49-F238E27FC236}">
                <a16:creationId xmlns:a16="http://schemas.microsoft.com/office/drawing/2014/main" id="{3FB16774-F1C0-86D8-A5AD-30223568BBC7}"/>
              </a:ext>
            </a:extLst>
          </p:cNvPr>
          <p:cNvSpPr txBox="1"/>
          <p:nvPr/>
        </p:nvSpPr>
        <p:spPr>
          <a:xfrm>
            <a:off x="4617504" y="3683935"/>
            <a:ext cx="2927300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zh-TW"/>
            </a:defPPr>
            <a:lvl1pPr marL="285750" marR="0" lvl="0" indent="-28575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5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Urbanist"/>
              </a:rPr>
              <a:t>The </a:t>
            </a:r>
            <a:r>
              <a:rPr lang="en-US" b="1" dirty="0">
                <a:sym typeface="Urbanist"/>
              </a:rPr>
              <a:t>CPU/Logic Unit. </a:t>
            </a:r>
          </a:p>
          <a:p>
            <a:r>
              <a:rPr lang="en-US" dirty="0">
                <a:sym typeface="Urbanist"/>
              </a:rPr>
              <a:t>Executes reasoning and state management.</a:t>
            </a:r>
            <a:endParaRPr dirty="0"/>
          </a:p>
        </p:txBody>
      </p:sp>
      <p:pic>
        <p:nvPicPr>
          <p:cNvPr id="30" name="Google Shape;133;p17" descr="image.png">
            <a:extLst>
              <a:ext uri="{FF2B5EF4-FFF2-40B4-BE49-F238E27FC236}">
                <a16:creationId xmlns:a16="http://schemas.microsoft.com/office/drawing/2014/main" id="{CCFB12D7-CE55-32A4-2BD0-377B389B1D09}"/>
              </a:ext>
            </a:extLst>
          </p:cNvPr>
          <p:cNvPicPr preferRelativeResize="0"/>
          <p:nvPr/>
        </p:nvPicPr>
        <p:blipFill rotWithShape="1"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alphaModFix/>
          </a:blip>
          <a:srcRect/>
          <a:stretch/>
        </p:blipFill>
        <p:spPr>
          <a:xfrm>
            <a:off x="8432854" y="24171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34;p17">
            <a:extLst>
              <a:ext uri="{FF2B5EF4-FFF2-40B4-BE49-F238E27FC236}">
                <a16:creationId xmlns:a16="http://schemas.microsoft.com/office/drawing/2014/main" id="{F2BD0820-5849-A054-9A74-F675C9890D33}"/>
              </a:ext>
            </a:extLst>
          </p:cNvPr>
          <p:cNvSpPr txBox="1"/>
          <p:nvPr/>
        </p:nvSpPr>
        <p:spPr>
          <a:xfrm>
            <a:off x="8432854" y="3179110"/>
            <a:ext cx="3073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TTS (Backend)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Google Shape;135;p17">
            <a:extLst>
              <a:ext uri="{FF2B5EF4-FFF2-40B4-BE49-F238E27FC236}">
                <a16:creationId xmlns:a16="http://schemas.microsoft.com/office/drawing/2014/main" id="{85515F73-CA2F-12A6-A8E9-4D9E43919968}"/>
              </a:ext>
            </a:extLst>
          </p:cNvPr>
          <p:cNvSpPr txBox="1"/>
          <p:nvPr/>
        </p:nvSpPr>
        <p:spPr>
          <a:xfrm>
            <a:off x="8432854" y="3683935"/>
            <a:ext cx="2927449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</a:t>
            </a:r>
            <a:r>
              <a:rPr lang="en-US" sz="1650" b="1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Output Buffer</a:t>
            </a: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. 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Renders binary data back into analog waveforms.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Google Shape;136;p17" descr="image.png">
            <a:extLst>
              <a:ext uri="{FF2B5EF4-FFF2-40B4-BE49-F238E27FC236}">
                <a16:creationId xmlns:a16="http://schemas.microsoft.com/office/drawing/2014/main" id="{255D5EA0-7A11-852B-0788-0085F358251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641" y="256951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37;p17" descr="image.png">
            <a:extLst>
              <a:ext uri="{FF2B5EF4-FFF2-40B4-BE49-F238E27FC236}">
                <a16:creationId xmlns:a16="http://schemas.microsoft.com/office/drawing/2014/main" id="{59CB7AC6-1E57-10A1-79AD-192998AF497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9904" y="25695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38;p17" descr="image.png">
            <a:extLst>
              <a:ext uri="{FF2B5EF4-FFF2-40B4-BE49-F238E27FC236}">
                <a16:creationId xmlns:a16="http://schemas.microsoft.com/office/drawing/2014/main" id="{611E2D2F-BADD-36C1-F9C6-58BAB5DEACF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1917" y="256951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灯片编号占位符 1">
            <a:extLst>
              <a:ext uri="{FF2B5EF4-FFF2-40B4-BE49-F238E27FC236}">
                <a16:creationId xmlns:a16="http://schemas.microsoft.com/office/drawing/2014/main" id="{E53E7B04-3A3A-55D4-F54F-025D5F858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DA2FFA6-ABF7-30B3-27CE-BC298DFABFA2}"/>
              </a:ext>
            </a:extLst>
          </p:cNvPr>
          <p:cNvSpPr txBox="1"/>
          <p:nvPr/>
        </p:nvSpPr>
        <p:spPr>
          <a:xfrm>
            <a:off x="5831087" y="5553279"/>
            <a:ext cx="6121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" altLang="zh-CN" sz="1600" b="1" kern="0" dirty="0">
                <a:latin typeface="Times New Roman Bold" panose="02020603050405020304" charset="0"/>
              </a:rPr>
              <a:t>ASR</a:t>
            </a:r>
            <a:r>
              <a:rPr lang="en-US" altLang="zh-CN" sz="1600" b="1" kern="0" dirty="0">
                <a:latin typeface="Times New Roman Bold" panose="02020603050405020304" charset="0"/>
              </a:rPr>
              <a:t>: Auto-Speech Recognition</a:t>
            </a:r>
          </a:p>
          <a:p>
            <a:pPr algn="r"/>
            <a:r>
              <a:rPr lang="en-US" altLang="zh-CN" sz="1600" b="1" kern="0" dirty="0">
                <a:latin typeface="Times New Roman Bold" panose="02020603050405020304" charset="0"/>
              </a:rPr>
              <a:t>TTS: Text-to-Speech Generation</a:t>
            </a:r>
          </a:p>
        </p:txBody>
      </p:sp>
      <p:pic>
        <p:nvPicPr>
          <p:cNvPr id="43" name="Google Shape;163;p19" descr="image.png">
            <a:extLst>
              <a:ext uri="{FF2B5EF4-FFF2-40B4-BE49-F238E27FC236}">
                <a16:creationId xmlns:a16="http://schemas.microsoft.com/office/drawing/2014/main" id="{908B3DFE-C9B7-7F2A-0EDA-248DB93F0A6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42435" b="43410"/>
          <a:stretch>
            <a:fillRect/>
          </a:stretch>
        </p:blipFill>
        <p:spPr>
          <a:xfrm>
            <a:off x="3338078" y="5331103"/>
            <a:ext cx="5314950" cy="60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1016627" cy="692151"/>
          </a:xfrm>
        </p:spPr>
        <p:txBody>
          <a:bodyPr/>
          <a:lstStyle/>
          <a:p>
            <a:r>
              <a:rPr lang="en-US" altLang="zh-CN" sz="4000" dirty="0">
                <a:ea typeface="Calibri" pitchFamily="34" charset="0"/>
                <a:cs typeface="Calibri" pitchFamily="34" charset="0"/>
              </a:rPr>
              <a:t>Background: </a:t>
            </a:r>
            <a:r>
              <a:rPr lang="en" altLang="zh-CN" sz="4000" dirty="0"/>
              <a:t>Challenges in Spoken</a:t>
            </a:r>
            <a:r>
              <a:rPr lang="zh-CN" altLang="en-US" sz="4000" dirty="0"/>
              <a:t> </a:t>
            </a:r>
            <a:r>
              <a:rPr lang="en-US" altLang="zh-CN" sz="4000" dirty="0"/>
              <a:t>System</a:t>
            </a:r>
            <a:r>
              <a:rPr lang="en-US" altLang="zh-CN" sz="4000" dirty="0">
                <a:ea typeface="Calibri" pitchFamily="34" charset="0"/>
                <a:cs typeface="Calibri" pitchFamily="34" charset="0"/>
              </a:rPr>
              <a:t> (2/4)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390015"/>
            <a:ext cx="11582400" cy="4895850"/>
          </a:xfrm>
        </p:spPr>
        <p:txBody>
          <a:bodyPr/>
          <a:lstStyle/>
          <a:p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Bottlenecks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" altLang="zh-CN" sz="2400" dirty="0">
                <a:latin typeface="Times New Roman Bold" panose="02020603050405020304" charset="0"/>
              </a:rPr>
              <a:t>Traditional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Spoken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endParaRPr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Modality Gap → speech/text mismatch [Programming]</a:t>
            </a:r>
          </a:p>
          <a:p>
            <a:pPr lvl="1"/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Interaction Control → turn-taking conflicts (</a:t>
            </a:r>
            <a:r>
              <a:rPr lang="zh-CN" altLang="en-US" sz="1800" dirty="0">
                <a:latin typeface="Songti SC" panose="02010600040101010101" pitchFamily="2" charset="-122"/>
                <a:ea typeface="Songti SC" panose="02010600040101010101" pitchFamily="2" charset="-122"/>
              </a:rPr>
              <a:t>说话轮次冲突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I/O → high latency [Runtime]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" altLang="zh-CN" sz="2400" dirty="0">
                <a:latin typeface="Times New Roman Bold" panose="02020603050405020304" charset="0"/>
              </a:rPr>
              <a:t>Traditional systems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 achieve:</a:t>
            </a:r>
          </a:p>
          <a:p>
            <a:pPr lvl="1" algn="l"/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interaction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pipeline delay</a:t>
            </a:r>
          </a:p>
          <a:p>
            <a:pPr lvl="1" algn="l"/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Duplex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 + speak together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nterruption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6A0F-E9E3-94C3-DF7E-C38CDE2E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981B-18FA-2C13-7FCE-BEEA22F5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1142133" cy="692151"/>
          </a:xfrm>
        </p:spPr>
        <p:txBody>
          <a:bodyPr/>
          <a:lstStyle/>
          <a:p>
            <a:r>
              <a:rPr lang="en-US" altLang="zh-CN" sz="4400" dirty="0">
                <a:cs typeface="Calibri" pitchFamily="34" charset="0"/>
              </a:rPr>
              <a:t>Background: </a:t>
            </a:r>
            <a:r>
              <a:rPr lang="en" altLang="zh-CN" sz="4400" dirty="0"/>
              <a:t>System-Level Bottlenecks</a:t>
            </a:r>
            <a:r>
              <a:rPr lang="zh-CN" altLang="en-US" sz="4400" dirty="0"/>
              <a:t> </a:t>
            </a:r>
            <a:r>
              <a:rPr lang="en-US" altLang="zh-CN" sz="4400" dirty="0">
                <a:cs typeface="Calibri" pitchFamily="34" charset="0"/>
              </a:rPr>
              <a:t>(3/4)</a:t>
            </a:r>
          </a:p>
        </p:txBody>
      </p:sp>
      <p:sp>
        <p:nvSpPr>
          <p:cNvPr id="37" name="灯片编号占位符 1">
            <a:extLst>
              <a:ext uri="{FF2B5EF4-FFF2-40B4-BE49-F238E27FC236}">
                <a16:creationId xmlns:a16="http://schemas.microsoft.com/office/drawing/2014/main" id="{6692F28F-FEF6-EEF2-9709-5CAE47048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930423-AF3A-7A46-7D5D-A2C9085A5DB2}"/>
              </a:ext>
            </a:extLst>
          </p:cNvPr>
          <p:cNvSpPr txBox="1"/>
          <p:nvPr/>
        </p:nvSpPr>
        <p:spPr>
          <a:xfrm>
            <a:off x="383405" y="1376174"/>
            <a:ext cx="11723862" cy="43074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 kern="0">
                <a:latin typeface="Times New Roman Bold" panose="02020603050405020304" charset="0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defRPr>
            </a:lvl2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dirty="0"/>
              <a:t>Token Explosion &amp; Memory Wall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Density</a:t>
            </a:r>
            <a:r>
              <a:rPr lang="en" altLang="zh-CN" dirty="0"/>
              <a:t>: </a:t>
            </a:r>
            <a:r>
              <a:rPr lang="en" altLang="zh-CN" dirty="0">
                <a:solidFill>
                  <a:srgbClr val="C00000"/>
                </a:solidFill>
              </a:rPr>
              <a:t>Audio tokens </a:t>
            </a:r>
            <a:r>
              <a:rPr lang="en" altLang="zh-CN" dirty="0"/>
              <a:t>are 10∼100× </a:t>
            </a:r>
            <a:r>
              <a:rPr lang="en" altLang="zh-CN" dirty="0">
                <a:solidFill>
                  <a:srgbClr val="C00000"/>
                </a:solidFill>
              </a:rPr>
              <a:t>denser than text.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Bottleneck</a:t>
            </a:r>
            <a:r>
              <a:rPr lang="en" altLang="zh-CN" dirty="0"/>
              <a:t>: Massive sequences cause KV Cache explosion, hitting </a:t>
            </a:r>
            <a:r>
              <a:rPr lang="en" altLang="zh-CN" dirty="0">
                <a:solidFill>
                  <a:srgbClr val="C00000"/>
                </a:solidFill>
              </a:rPr>
              <a:t>GPU memory limits </a:t>
            </a:r>
            <a:r>
              <a:rPr lang="en" altLang="zh-CN" dirty="0"/>
              <a:t>and throttling long-form dialogue.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dirty="0"/>
              <a:t>Modality Gap &amp; IPC Overhead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Fragmentation</a:t>
            </a:r>
            <a:r>
              <a:rPr lang="en" altLang="zh-CN" dirty="0"/>
              <a:t>: Cascaded ASR-LLM-TTS pipelines act as </a:t>
            </a:r>
            <a:r>
              <a:rPr lang="en" altLang="zh-CN" dirty="0">
                <a:solidFill>
                  <a:srgbClr val="C00000"/>
                </a:solidFill>
              </a:rPr>
              <a:t>isolated processes</a:t>
            </a:r>
            <a:r>
              <a:rPr lang="en" altLang="zh-CN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Bottleneck</a:t>
            </a:r>
            <a:r>
              <a:rPr lang="en" altLang="zh-CN" dirty="0"/>
              <a:t>: Modular handovers incur "IPC-like" latency and severe loss of paralinguistic info (style, emotion).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dirty="0"/>
              <a:t>I/O Blocking &amp; Scheduling Conflict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Latency</a:t>
            </a:r>
            <a:r>
              <a:rPr lang="en" altLang="zh-CN" dirty="0"/>
              <a:t>: Synchronous "Listen-then-Speak" patterns cause high response lag.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b="1" dirty="0"/>
              <a:t>Bottleneck </a:t>
            </a:r>
            <a:r>
              <a:rPr lang="en" altLang="zh-CN" dirty="0"/>
              <a:t>: Lack of a scheduler leads to </a:t>
            </a:r>
            <a:r>
              <a:rPr lang="en" altLang="zh-CN" dirty="0">
                <a:solidFill>
                  <a:srgbClr val="C00000"/>
                </a:solidFill>
              </a:rPr>
              <a:t>interruption (Barge-in</a:t>
            </a:r>
            <a:r>
              <a:rPr lang="en-US" altLang="zh-CN" b="1" dirty="0">
                <a:solidFill>
                  <a:srgbClr val="C00000"/>
                </a:solidFill>
              </a:rPr>
              <a:t> “</a:t>
            </a:r>
            <a:r>
              <a:rPr lang="en-US" altLang="zh-CN" sz="1600" b="1" dirty="0" err="1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用户打断</a:t>
            </a:r>
            <a:r>
              <a:rPr lang="en-US" altLang="zh-CN" sz="1600" b="1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”</a:t>
            </a:r>
            <a:r>
              <a:rPr lang="en" altLang="zh-CN" dirty="0">
                <a:solidFill>
                  <a:srgbClr val="C00000"/>
                </a:solidFill>
              </a:rPr>
              <a:t>) failures </a:t>
            </a:r>
            <a:r>
              <a:rPr lang="en" altLang="zh-CN" dirty="0"/>
              <a:t>and overlapping speech chaos.</a:t>
            </a:r>
          </a:p>
        </p:txBody>
      </p:sp>
    </p:spTree>
    <p:extLst>
      <p:ext uri="{BB962C8B-B14F-4D97-AF65-F5344CB8AC3E}">
        <p14:creationId xmlns:p14="http://schemas.microsoft.com/office/powerpoint/2010/main" val="87420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itchFamily="34" charset="0"/>
                <a:cs typeface="Calibri" pitchFamily="34" charset="0"/>
              </a:rPr>
              <a:t>Background (4/4)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52400" y="1392378"/>
            <a:ext cx="11887200" cy="4895851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question is: </a:t>
            </a:r>
            <a:r>
              <a:rPr lang="en" altLang="zh-CN" sz="2400" b="1" i="1" dirty="0">
                <a:latin typeface="Times New Roman Bold Italic" panose="02020603050405020304" charset="0"/>
              </a:rPr>
              <a:t>How to design an OS-like dialogue system: unified data, controlled interaction, and real-time response?</a:t>
            </a:r>
            <a:endParaRPr lang="en-US" altLang="zh-CN" sz="2400" b="1" i="1" dirty="0">
              <a:latin typeface="Times New Roman Bold Italic" panose="02020603050405020304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problem into three system layers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Unify speech + text as shared tokens [Programming]</a:t>
            </a: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State-driven scheduling for turn-taking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[Workload]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runtime for full-duplex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[Runtime]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143063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" altLang="zh-CN" dirty="0"/>
              <a:t>: Unified ISA</a:t>
            </a:r>
            <a:r>
              <a:rPr lang="en-US" altLang="zh-CN" dirty="0"/>
              <a:t> (1/6)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76430" y="1197310"/>
            <a:ext cx="6398683" cy="47731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kern="0" dirty="0">
                <a:latin typeface="Times New Roman Bold" panose="02020603050405020304" charset="0"/>
              </a:rPr>
              <a:t>Limitations of Traditional Methods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 processing (ASR–LLM–TTS)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and generate speech jointly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speech not compatible with LLM tokens</a:t>
            </a:r>
          </a:p>
          <a:p>
            <a:pPr lvl="1"/>
            <a:endParaRPr lang="en" altLang="zh-CN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kern="0" dirty="0" err="1">
                <a:latin typeface="Times New Roman Bold" panose="02020603050405020304" charset="0"/>
              </a:rPr>
              <a:t>SpeechGPT</a:t>
            </a:r>
            <a:r>
              <a:rPr lang="en" altLang="zh-CN" sz="2400" b="1" kern="0" dirty="0">
                <a:latin typeface="Times New Roman Bold" panose="02020603050405020304" charset="0"/>
              </a:rPr>
              <a:t>: Key Highlights</a:t>
            </a:r>
            <a:endParaRPr lang="en-US" altLang="zh-CN" sz="2400" b="1" kern="0" dirty="0">
              <a:latin typeface="Times New Roman Bold" panose="02020603050405020304" charset="0"/>
            </a:endParaRPr>
          </a:p>
          <a:p>
            <a:pPr lvl="1"/>
            <a:r>
              <a:rPr lang="zh-CN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Translation Layer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ASR/TTS bottlenecks</a:t>
            </a:r>
          </a:p>
          <a:p>
            <a:pPr lvl="1"/>
            <a:r>
              <a:rPr lang="zh-CN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Representation</a:t>
            </a:r>
            <a:r>
              <a:rPr lang="zh-CN" altLang="en-US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(ISA-like)</a:t>
            </a:r>
            <a:r>
              <a:rPr lang="en-US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zh-CN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tokens enter the LLM vocabulary</a:t>
            </a:r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zh-CN" altLang="zh-CN" sz="2200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Instructions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as programmable input</a:t>
            </a:r>
          </a:p>
        </p:txBody>
      </p:sp>
      <p:pic>
        <p:nvPicPr>
          <p:cNvPr id="2" name="Google Shape;202;p23" descr="image.png">
            <a:extLst>
              <a:ext uri="{FF2B5EF4-FFF2-40B4-BE49-F238E27FC236}">
                <a16:creationId xmlns:a16="http://schemas.microsoft.com/office/drawing/2014/main" id="{1930BB3D-8BB7-E3B9-A7A3-9EDF4CCB3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7867" y="1292227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D132283-AE1E-ED8D-95AB-0A0F969D2359}"/>
              </a:ext>
            </a:extLst>
          </p:cNvPr>
          <p:cNvSpPr txBox="1"/>
          <p:nvPr/>
        </p:nvSpPr>
        <p:spPr>
          <a:xfrm>
            <a:off x="6637868" y="4882406"/>
            <a:ext cx="5314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SpeechGPT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capabilities to tackle multiple cross-modal tasks.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0E51AA-54EF-1651-D550-3312A86E4A91}"/>
              </a:ext>
            </a:extLst>
          </p:cNvPr>
          <p:cNvSpPr txBox="1"/>
          <p:nvPr/>
        </p:nvSpPr>
        <p:spPr>
          <a:xfrm>
            <a:off x="9004663" y="5789414"/>
            <a:ext cx="184731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endParaRPr kumimoji="1" lang="zh-CN" altLang="en-US" dirty="0">
              <a:ea typeface="標楷體" panose="02010601000101010101" pitchFamily="65" charset="-12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" altLang="zh-CN" dirty="0"/>
              <a:t>: Unified ISA</a:t>
            </a:r>
            <a:r>
              <a:rPr lang="en-US" altLang="zh-CN" dirty="0"/>
              <a:t> (2/6)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331432" y="1225363"/>
            <a:ext cx="4993603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 Medium"/>
              </a:rPr>
              <a:t>Mapping the Data Path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i="1" kern="0" dirty="0">
                <a:latin typeface="Times New Roman Italic" panose="02020603050405020304" charset="0"/>
                <a:sym typeface="Urbanist"/>
              </a:rPr>
              <a:t>Audio Frontend</a:t>
            </a:r>
            <a:r>
              <a:rPr lang="en-US" altLang="zh-CN" sz="2200" b="1" kern="0" dirty="0">
                <a:latin typeface="Times New Roman Italic" panose="02020603050405020304" charset="0"/>
                <a:sym typeface="Urbanist"/>
              </a:rPr>
              <a:t>: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 </a:t>
            </a:r>
            <a:r>
              <a:rPr lang="en-US" altLang="zh-CN" sz="2200" kern="0" dirty="0" err="1">
                <a:latin typeface="Times New Roman Italic" panose="02020603050405020304" charset="0"/>
                <a:sym typeface="Urbanist"/>
              </a:rPr>
              <a:t>HuBERT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/Whisper encodes raw signals into dense vectors.</a:t>
            </a:r>
          </a:p>
          <a:p>
            <a:pPr lvl="1"/>
            <a:r>
              <a:rPr lang="en-US" altLang="zh-CN" sz="2200" b="1" i="1" kern="0" dirty="0">
                <a:latin typeface="Times New Roman Italic" panose="02020603050405020304" charset="0"/>
                <a:sym typeface="Urbanist"/>
              </a:rPr>
              <a:t>Modality Quantization</a:t>
            </a:r>
            <a:r>
              <a:rPr lang="en-US" altLang="zh-CN" sz="2200" b="1" kern="0" dirty="0">
                <a:latin typeface="Times New Roman Italic" panose="02020603050405020304" charset="0"/>
                <a:sym typeface="Urbanist"/>
              </a:rPr>
              <a:t>: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 k-means clustering maps vectors to discrete "Speech Units".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pPr lvl="1"/>
            <a:r>
              <a:rPr lang="en-US" altLang="zh-CN" sz="2200" b="1" i="1" kern="0" dirty="0">
                <a:latin typeface="Times New Roman Italic" panose="02020603050405020304" charset="0"/>
                <a:sym typeface="Urbanist"/>
              </a:rPr>
              <a:t>Unified Tokenizer</a:t>
            </a:r>
            <a:r>
              <a:rPr lang="en-US" altLang="zh-CN" sz="2200" b="1" kern="0" dirty="0">
                <a:latin typeface="Times New Roman Italic" panose="02020603050405020304" charset="0"/>
                <a:sym typeface="Urbanist"/>
              </a:rPr>
              <a:t>: 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Merges Speech Units with </a:t>
            </a:r>
            <a:r>
              <a:rPr lang="en-US" altLang="zh-CN" sz="2200" kern="0" dirty="0" err="1">
                <a:latin typeface="Times New Roman Italic" panose="02020603050405020304" charset="0"/>
                <a:sym typeface="Urbanist"/>
              </a:rPr>
              <a:t>SentencePiece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 text tokens.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pPr lvl="1"/>
            <a:r>
              <a:rPr lang="en-US" altLang="zh-CN" sz="2200" b="1" i="1" kern="0" dirty="0">
                <a:latin typeface="Times New Roman Italic" panose="02020603050405020304" charset="0"/>
                <a:sym typeface="Urbanist"/>
              </a:rPr>
              <a:t>LLM Backbone</a:t>
            </a:r>
            <a:r>
              <a:rPr lang="en-US" altLang="zh-CN" sz="2200" b="1" kern="0" dirty="0">
                <a:latin typeface="Times New Roman Italic" panose="02020603050405020304" charset="0"/>
                <a:sym typeface="Urbanist"/>
              </a:rPr>
              <a:t>:</a:t>
            </a:r>
            <a:r>
              <a:rPr lang="en-US" altLang="zh-CN" sz="2200" kern="0" dirty="0">
                <a:latin typeface="Times New Roman Italic" panose="02020603050405020304" charset="0"/>
                <a:sym typeface="Urbanist"/>
              </a:rPr>
              <a:t> Processes fused instructions via standard Transformer blocks.</a:t>
            </a:r>
            <a:endParaRPr lang="en-US" altLang="zh-CN" sz="2200" kern="0" dirty="0">
              <a:latin typeface="Times New Roman Italic" panose="020206030504050203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0E82DD-6612-451C-1874-B1A2C56E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00" b="26326"/>
          <a:stretch>
            <a:fillRect/>
          </a:stretch>
        </p:blipFill>
        <p:spPr>
          <a:xfrm>
            <a:off x="5420720" y="1388204"/>
            <a:ext cx="6251264" cy="40815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223241-1FDB-7E30-339C-EC59CB5D68B6}"/>
              </a:ext>
            </a:extLst>
          </p:cNvPr>
          <p:cNvSpPr txBox="1"/>
          <p:nvPr/>
        </p:nvSpPr>
        <p:spPr>
          <a:xfrm>
            <a:off x="5888878" y="5469795"/>
            <a:ext cx="5314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illustration of SpeechGPT model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" altLang="zh-CN" dirty="0"/>
              <a:t>: Unified ISA</a:t>
            </a:r>
            <a:r>
              <a:rPr lang="en-US" altLang="zh-CN" dirty="0"/>
              <a:t> (3/6)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32408" y="1319958"/>
            <a:ext cx="10953603" cy="47063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 Medium"/>
              </a:rPr>
              <a:t>Training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 Medium"/>
              </a:rPr>
              <a:t>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 Medium"/>
              </a:rPr>
              <a:t>Stage</a:t>
            </a:r>
          </a:p>
          <a:p>
            <a:pPr lvl="1"/>
            <a:r>
              <a:rPr lang="zh-CN" altLang="zh-CN" sz="2200" b="1" kern="0" dirty="0">
                <a:latin typeface="Times New Roman Italic" panose="02020603050405020304" charset="0"/>
              </a:rPr>
              <a:t>Stage 1: </a:t>
            </a:r>
            <a:r>
              <a:rPr lang="zh-CN" altLang="zh-CN" sz="2200" kern="0" dirty="0">
                <a:latin typeface="Times New Roman Italic" panose="02020603050405020304" charset="0"/>
              </a:rPr>
              <a:t>Modality-adaptive pretraining</a:t>
            </a:r>
            <a:br>
              <a:rPr lang="zh-CN" altLang="zh-CN" sz="2200" kern="0" dirty="0">
                <a:latin typeface="Times New Roman Italic" panose="02020603050405020304" charset="0"/>
              </a:rPr>
            </a:br>
            <a:r>
              <a:rPr lang="zh-CN" altLang="zh-CN" sz="2200" kern="0" dirty="0">
                <a:latin typeface="Times New Roman Italic" panose="02020603050405020304" charset="0"/>
              </a:rPr>
              <a:t>Learn speech understanding via discrete units 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pPr lvl="1"/>
            <a:r>
              <a:rPr lang="zh-CN" altLang="zh-CN" sz="2200" b="1" kern="0" dirty="0">
                <a:latin typeface="Times New Roman Italic" panose="02020603050405020304" charset="0"/>
              </a:rPr>
              <a:t>Stage 2</a:t>
            </a:r>
            <a:r>
              <a:rPr lang="zh-CN" altLang="zh-CN" sz="2200" kern="0" dirty="0">
                <a:latin typeface="Times New Roman Italic" panose="02020603050405020304" charset="0"/>
              </a:rPr>
              <a:t>: Cross-modal instruction tuning</a:t>
            </a:r>
            <a:br>
              <a:rPr lang="zh-CN" altLang="zh-CN" sz="2200" kern="0" dirty="0">
                <a:latin typeface="Times New Roman Italic" panose="02020603050405020304" charset="0"/>
              </a:rPr>
            </a:br>
            <a:r>
              <a:rPr lang="zh-CN" altLang="zh-CN" sz="2200" kern="0" dirty="0">
                <a:latin typeface="Times New Roman Italic" panose="02020603050405020304" charset="0"/>
              </a:rPr>
              <a:t>Improve speech–text alignment with SpeechInstruct 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pPr lvl="1"/>
            <a:r>
              <a:rPr lang="zh-CN" altLang="zh-CN" sz="2200" b="1" kern="0" dirty="0">
                <a:latin typeface="Times New Roman Italic" panose="02020603050405020304" charset="0"/>
              </a:rPr>
              <a:t>Stage 3</a:t>
            </a:r>
            <a:r>
              <a:rPr lang="zh-CN" altLang="zh-CN" sz="2200" kern="0" dirty="0">
                <a:latin typeface="Times New Roman Italic" panose="02020603050405020304" charset="0"/>
              </a:rPr>
              <a:t>: Chain-of-Modality tuning (LoRA)</a:t>
            </a:r>
            <a:br>
              <a:rPr lang="zh-CN" altLang="zh-CN" sz="2200" kern="0" dirty="0">
                <a:latin typeface="Times New Roman Italic" panose="02020603050405020304" charset="0"/>
              </a:rPr>
            </a:br>
            <a:r>
              <a:rPr lang="zh-CN" altLang="zh-CN" sz="2200" kern="0" dirty="0">
                <a:latin typeface="Times New Roman Italic" panose="02020603050405020304" charset="0"/>
              </a:rPr>
              <a:t>Efficient fine-tuning for better alignment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r>
              <a:rPr lang="en-US" altLang="zh-CN" sz="2535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 Medium"/>
              </a:rPr>
              <a:t>Evaluation</a:t>
            </a:r>
          </a:p>
          <a:p>
            <a:pPr lvl="1"/>
            <a:r>
              <a:rPr lang="zh-CN" altLang="zh-CN" sz="2200" kern="0" dirty="0">
                <a:latin typeface="Times New Roman Italic" panose="02020603050405020304" charset="0"/>
              </a:rPr>
              <a:t>Low latency (RTF = 0.02)</a:t>
            </a:r>
          </a:p>
          <a:p>
            <a:pPr lvl="1"/>
            <a:r>
              <a:rPr lang="zh-CN" altLang="zh-CN" sz="2200" kern="0" dirty="0">
                <a:latin typeface="Times New Roman Italic" panose="02020603050405020304" charset="0"/>
              </a:rPr>
              <a:t>High speech quality (MOS = 4.8)</a:t>
            </a:r>
            <a:endParaRPr lang="en-US" altLang="zh-CN" sz="2200" kern="0" dirty="0">
              <a:latin typeface="Times New Roman Italic" panose="02020603050405020304" charset="0"/>
            </a:endParaRPr>
          </a:p>
          <a:p>
            <a:pPr lvl="1"/>
            <a:r>
              <a:rPr lang="zh-CN" altLang="zh-CN" sz="2200" kern="0" dirty="0">
                <a:latin typeface="Times New Roman Italic" panose="02020603050405020304" charset="0"/>
              </a:rPr>
              <a:t>Efficient training &amp; resources</a:t>
            </a:r>
            <a:r>
              <a:rPr lang="en-US" altLang="zh-CN" sz="2200" kern="0" dirty="0">
                <a:latin typeface="Times New Roman Italic" panose="02020603050405020304" charset="0"/>
              </a:rPr>
              <a:t>: </a:t>
            </a:r>
            <a:r>
              <a:rPr lang="zh-CN" altLang="zh-CN" sz="2200" kern="0" dirty="0">
                <a:latin typeface="Times New Roman Italic" panose="02020603050405020304" charset="0"/>
              </a:rPr>
              <a:t>Moderate VRAM (24GB), shorter training time (48h)</a:t>
            </a:r>
          </a:p>
          <a:p>
            <a:pPr lvl="1"/>
            <a:endParaRPr lang="en-US" altLang="zh-CN" sz="2200" kern="0" dirty="0">
              <a:latin typeface="Times New Roman Italic" panose="02020603050405020304" charset="0"/>
              <a:sym typeface="Urbanist Medium"/>
            </a:endParaRPr>
          </a:p>
          <a:p>
            <a:pPr lvl="1"/>
            <a:endParaRPr lang="en-US" altLang="zh-CN" sz="1665" b="1" i="1" kern="0" dirty="0">
              <a:latin typeface="Times New Roman Italic" panose="02020603050405020304" charset="0"/>
            </a:endParaRPr>
          </a:p>
          <a:p>
            <a:endParaRPr lang="en-US" altLang="zh-CN" sz="2200" b="1" i="1" kern="0" dirty="0">
              <a:latin typeface="Times New Roman Italic" panose="02020603050405020304" charset="0"/>
              <a:sym typeface="+mn-ea"/>
            </a:endParaRPr>
          </a:p>
          <a:p>
            <a:pPr lvl="0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2EE7F89-B768-9C9E-626B-B024B886E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983" y="2050953"/>
            <a:ext cx="5119691" cy="27560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" altLang="zh-CN" dirty="0"/>
              <a:t>: Unified ISA</a:t>
            </a:r>
            <a:r>
              <a:rPr lang="en-US" altLang="zh-CN" dirty="0"/>
              <a:t> (4/6)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847090" y="1264286"/>
            <a:ext cx="9312275" cy="5304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kern="0" dirty="0">
                <a:latin typeface="Times New Roman Bold" panose="02020603050405020304" charset="0"/>
              </a:rPr>
              <a:t>System Impact</a:t>
            </a:r>
            <a:r>
              <a:rPr lang="en-US" altLang="zh-CN" sz="2400" b="1" kern="0" dirty="0">
                <a:latin typeface="Times New Roman Bold" panose="02020603050405020304" charset="0"/>
                <a:sym typeface="+mn-ea"/>
              </a:rPr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7A3CFB76-BD0B-5AD8-6E05-739D1DA2F6A3}"/>
              </a:ext>
            </a:extLst>
          </p:cNvPr>
          <p:cNvSpPr/>
          <p:nvPr/>
        </p:nvSpPr>
        <p:spPr bwMode="auto">
          <a:xfrm>
            <a:off x="4464893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F26A169-02CF-1869-388D-88C6A72F93AF}"/>
              </a:ext>
            </a:extLst>
          </p:cNvPr>
          <p:cNvSpPr/>
          <p:nvPr/>
        </p:nvSpPr>
        <p:spPr bwMode="auto">
          <a:xfrm>
            <a:off x="8198641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21C8AD9-9B35-50FE-393E-7ED836E8B73A}"/>
              </a:ext>
            </a:extLst>
          </p:cNvPr>
          <p:cNvSpPr/>
          <p:nvPr/>
        </p:nvSpPr>
        <p:spPr bwMode="auto">
          <a:xfrm>
            <a:off x="731146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Google Shape;189;p21">
            <a:extLst>
              <a:ext uri="{FF2B5EF4-FFF2-40B4-BE49-F238E27FC236}">
                <a16:creationId xmlns:a16="http://schemas.microsoft.com/office/drawing/2014/main" id="{31672347-E6FE-25BE-A6EE-C630CCF8AFEC}"/>
              </a:ext>
            </a:extLst>
          </p:cNvPr>
          <p:cNvSpPr txBox="1"/>
          <p:nvPr/>
        </p:nvSpPr>
        <p:spPr>
          <a:xfrm>
            <a:off x="981817" y="2346883"/>
            <a:ext cx="30736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Reduced Context Switching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90;p21">
            <a:extLst>
              <a:ext uri="{FF2B5EF4-FFF2-40B4-BE49-F238E27FC236}">
                <a16:creationId xmlns:a16="http://schemas.microsoft.com/office/drawing/2014/main" id="{0AC73A94-30D4-34CF-2A03-7A6695D66933}"/>
              </a:ext>
            </a:extLst>
          </p:cNvPr>
          <p:cNvSpPr txBox="1"/>
          <p:nvPr/>
        </p:nvSpPr>
        <p:spPr>
          <a:xfrm>
            <a:off x="981817" y="3219259"/>
            <a:ext cx="292730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Eliminating module IPC reduces overhead and prevents data corruption.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91;p21">
            <a:extLst>
              <a:ext uri="{FF2B5EF4-FFF2-40B4-BE49-F238E27FC236}">
                <a16:creationId xmlns:a16="http://schemas.microsoft.com/office/drawing/2014/main" id="{559BADFF-1D73-521B-3F4B-85624124C316}"/>
              </a:ext>
            </a:extLst>
          </p:cNvPr>
          <p:cNvSpPr txBox="1"/>
          <p:nvPr/>
        </p:nvSpPr>
        <p:spPr>
          <a:xfrm>
            <a:off x="4737792" y="2346883"/>
            <a:ext cx="30736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Zero-shot Generalization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92;p21">
            <a:extLst>
              <a:ext uri="{FF2B5EF4-FFF2-40B4-BE49-F238E27FC236}">
                <a16:creationId xmlns:a16="http://schemas.microsoft.com/office/drawing/2014/main" id="{3DBEE1DB-A18D-8AF2-173B-A7671B35C4D6}"/>
              </a:ext>
            </a:extLst>
          </p:cNvPr>
          <p:cNvSpPr txBox="1"/>
          <p:nvPr/>
        </p:nvSpPr>
        <p:spPr>
          <a:xfrm>
            <a:off x="4737792" y="3219259"/>
            <a:ext cx="2927300" cy="10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Text-learned skills transfer to speech via intrinsic alignment.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E91B7EA4-FED9-AD4D-FE57-042E8F1DD6C6}"/>
              </a:ext>
            </a:extLst>
          </p:cNvPr>
          <p:cNvSpPr txBox="1"/>
          <p:nvPr/>
        </p:nvSpPr>
        <p:spPr>
          <a:xfrm>
            <a:off x="8493767" y="2346883"/>
            <a:ext cx="30738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Acoustic Robustness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194;p21">
            <a:extLst>
              <a:ext uri="{FF2B5EF4-FFF2-40B4-BE49-F238E27FC236}">
                <a16:creationId xmlns:a16="http://schemas.microsoft.com/office/drawing/2014/main" id="{D54DD39B-F780-95C8-2110-BF2B9A549DD1}"/>
              </a:ext>
            </a:extLst>
          </p:cNvPr>
          <p:cNvSpPr txBox="1"/>
          <p:nvPr/>
        </p:nvSpPr>
        <p:spPr>
          <a:xfrm>
            <a:off x="8493768" y="3219259"/>
            <a:ext cx="2801762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Direct tokenization is more robust to noise than text-intermediate buffers.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1E738-B243-01DF-60E0-CA73BBF1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DE33550-E211-EFB1-3752-BE4CE0F2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" altLang="zh-CN" dirty="0"/>
              <a:t>: Unified ISA</a:t>
            </a:r>
            <a:r>
              <a:rPr lang="en-US" altLang="zh-CN" dirty="0"/>
              <a:t> (5/6)</a:t>
            </a: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3995D4-8ECD-4F91-8D40-7A97952F7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C8C4002A-6494-1721-CDD8-7E8E0E08C1AF}"/>
              </a:ext>
            </a:extLst>
          </p:cNvPr>
          <p:cNvSpPr txBox="1"/>
          <p:nvPr/>
        </p:nvSpPr>
        <p:spPr bwMode="auto">
          <a:xfrm>
            <a:off x="847090" y="1264286"/>
            <a:ext cx="9312275" cy="5304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 Bold" panose="02020603050405020304" charset="0"/>
              </a:rPr>
              <a:t>Limitation:</a:t>
            </a:r>
            <a:endParaRPr lang="en-US" altLang="zh-CN" sz="2400" b="1" kern="0" dirty="0">
              <a:latin typeface="Times New Roman Bold" panose="02020603050405020304" charset="0"/>
              <a:sym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8468A-D967-B1CF-BDEF-5FDC8958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0B7FDA6B-31E4-462F-5CDE-9E547F24FD64}"/>
              </a:ext>
            </a:extLst>
          </p:cNvPr>
          <p:cNvSpPr/>
          <p:nvPr/>
        </p:nvSpPr>
        <p:spPr bwMode="auto">
          <a:xfrm>
            <a:off x="4464893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9530103-2492-8AA1-93FD-409CAC5B92EE}"/>
              </a:ext>
            </a:extLst>
          </p:cNvPr>
          <p:cNvSpPr/>
          <p:nvPr/>
        </p:nvSpPr>
        <p:spPr bwMode="auto">
          <a:xfrm>
            <a:off x="8198641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F3407FF-B822-C738-6602-9C5DEB35FB5A}"/>
              </a:ext>
            </a:extLst>
          </p:cNvPr>
          <p:cNvSpPr/>
          <p:nvPr/>
        </p:nvSpPr>
        <p:spPr bwMode="auto">
          <a:xfrm>
            <a:off x="731146" y="2050993"/>
            <a:ext cx="3222575" cy="275601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Google Shape;189;p21">
            <a:extLst>
              <a:ext uri="{FF2B5EF4-FFF2-40B4-BE49-F238E27FC236}">
                <a16:creationId xmlns:a16="http://schemas.microsoft.com/office/drawing/2014/main" id="{56068A4C-7CE4-3D5C-FED6-1D44943B22B4}"/>
              </a:ext>
            </a:extLst>
          </p:cNvPr>
          <p:cNvSpPr txBox="1"/>
          <p:nvPr/>
        </p:nvSpPr>
        <p:spPr>
          <a:xfrm>
            <a:off x="981817" y="2346883"/>
            <a:ext cx="30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zh-TW"/>
            </a:defPPr>
            <a:lvl1pPr>
              <a:defRPr sz="2400" b="1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defRPr>
            </a:lvl1pPr>
          </a:lstStyle>
          <a:p>
            <a:r>
              <a:rPr lang="en" altLang="zh-CN" dirty="0"/>
              <a:t>Missing Prosody</a:t>
            </a:r>
          </a:p>
        </p:txBody>
      </p:sp>
      <p:sp>
        <p:nvSpPr>
          <p:cNvPr id="15" name="Google Shape;190;p21">
            <a:extLst>
              <a:ext uri="{FF2B5EF4-FFF2-40B4-BE49-F238E27FC236}">
                <a16:creationId xmlns:a16="http://schemas.microsoft.com/office/drawing/2014/main" id="{410CE797-D893-1397-CBA3-21CBE7D45280}"/>
              </a:ext>
            </a:extLst>
          </p:cNvPr>
          <p:cNvSpPr txBox="1"/>
          <p:nvPr/>
        </p:nvSpPr>
        <p:spPr>
          <a:xfrm>
            <a:off x="981816" y="2890049"/>
            <a:ext cx="2927300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zh-TW"/>
            </a:defPPr>
            <a:lvl1pPr>
              <a:lnSpc>
                <a:spcPct val="140000"/>
              </a:lnSpc>
              <a:defRPr sz="165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rgbClr val="FF0000"/>
                </a:solidFill>
              </a:rPr>
              <a:t>Unable</a:t>
            </a:r>
            <a:r>
              <a:rPr lang="en" altLang="zh-CN" dirty="0"/>
              <a:t> to generate responses </a:t>
            </a:r>
            <a:r>
              <a:rPr lang="en" altLang="zh-CN" dirty="0">
                <a:solidFill>
                  <a:srgbClr val="FF0000"/>
                </a:solidFill>
              </a:rPr>
              <a:t>with specific emotional tones </a:t>
            </a:r>
            <a:r>
              <a:rPr lang="en" altLang="zh-CN" dirty="0"/>
              <a:t>or prosodic variations.</a:t>
            </a:r>
          </a:p>
        </p:txBody>
      </p:sp>
      <p:sp>
        <p:nvSpPr>
          <p:cNvPr id="16" name="Google Shape;191;p21">
            <a:extLst>
              <a:ext uri="{FF2B5EF4-FFF2-40B4-BE49-F238E27FC236}">
                <a16:creationId xmlns:a16="http://schemas.microsoft.com/office/drawing/2014/main" id="{10060FC0-883F-DD92-6DE0-48981AFF3889}"/>
              </a:ext>
            </a:extLst>
          </p:cNvPr>
          <p:cNvSpPr txBox="1"/>
          <p:nvPr/>
        </p:nvSpPr>
        <p:spPr>
          <a:xfrm>
            <a:off x="4737792" y="2346883"/>
            <a:ext cx="30736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altLang="zh-CN" sz="2400" b="1" dirty="0" err="1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CoM</a:t>
            </a:r>
            <a:r>
              <a:rPr lang="en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 Bottleneck</a:t>
            </a:r>
          </a:p>
          <a:p>
            <a:endParaRPr lang="en" altLang="zh-CN" sz="2400" b="1" dirty="0"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92;p21">
            <a:extLst>
              <a:ext uri="{FF2B5EF4-FFF2-40B4-BE49-F238E27FC236}">
                <a16:creationId xmlns:a16="http://schemas.microsoft.com/office/drawing/2014/main" id="{7D03B4EE-5EEF-BA59-9382-EB22B30CC7FB}"/>
              </a:ext>
            </a:extLst>
          </p:cNvPr>
          <p:cNvSpPr txBox="1"/>
          <p:nvPr/>
        </p:nvSpPr>
        <p:spPr>
          <a:xfrm>
            <a:off x="4746250" y="2887137"/>
            <a:ext cx="292730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Requires text generation before producing speech.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increasing response latency.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8C628A28-8A90-62A8-0B65-BCA0178B3097}"/>
              </a:ext>
            </a:extLst>
          </p:cNvPr>
          <p:cNvSpPr txBox="1"/>
          <p:nvPr/>
        </p:nvSpPr>
        <p:spPr>
          <a:xfrm>
            <a:off x="8493767" y="2346883"/>
            <a:ext cx="3073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</a:rPr>
              <a:t>Contextual Wall</a:t>
            </a:r>
          </a:p>
        </p:txBody>
      </p:sp>
      <p:sp>
        <p:nvSpPr>
          <p:cNvPr id="19" name="Google Shape;194;p21">
            <a:extLst>
              <a:ext uri="{FF2B5EF4-FFF2-40B4-BE49-F238E27FC236}">
                <a16:creationId xmlns:a16="http://schemas.microsoft.com/office/drawing/2014/main" id="{1A810914-20DE-3827-1CB0-4B430D88704A}"/>
              </a:ext>
            </a:extLst>
          </p:cNvPr>
          <p:cNvSpPr txBox="1"/>
          <p:nvPr/>
        </p:nvSpPr>
        <p:spPr>
          <a:xfrm>
            <a:off x="8493767" y="2887137"/>
            <a:ext cx="2801762" cy="216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650" dirty="0">
                <a:solidFill>
                  <a:srgbClr val="FF000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Struggles with multi-turn dialogue</a:t>
            </a:r>
            <a:r>
              <a:rPr lang="en" altLang="zh-CN" sz="165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</a:rPr>
              <a:t> due to severe context length constraints, limiting the "memory" of the interaction history.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53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 err="1"/>
              <a:t>SpeechGPT</a:t>
            </a:r>
            <a:r>
              <a:rPr lang="en-US" altLang="zh-CN" dirty="0"/>
              <a:t> (6/6)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2" name="Google Shape;279;p28">
            <a:extLst>
              <a:ext uri="{FF2B5EF4-FFF2-40B4-BE49-F238E27FC236}">
                <a16:creationId xmlns:a16="http://schemas.microsoft.com/office/drawing/2014/main" id="{1EB5AFA4-3A2C-3EA2-6995-7BE6D1B7F66D}"/>
              </a:ext>
            </a:extLst>
          </p:cNvPr>
          <p:cNvSpPr txBox="1"/>
          <p:nvPr/>
        </p:nvSpPr>
        <p:spPr>
          <a:xfrm>
            <a:off x="276225" y="2617935"/>
            <a:ext cx="53244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99009B"/>
                </a:solidFill>
                <a:latin typeface="Urbanist"/>
                <a:ea typeface="Urbanist"/>
                <a:cs typeface="Urbanist"/>
                <a:sym typeface="Urbanist"/>
              </a:rPr>
              <a:t>ISA</a:t>
            </a:r>
            <a:endParaRPr dirty="0">
              <a:solidFill>
                <a:srgbClr val="99009B"/>
              </a:solidFill>
            </a:endParaRPr>
          </a:p>
        </p:txBody>
      </p:sp>
      <p:sp>
        <p:nvSpPr>
          <p:cNvPr id="6" name="Google Shape;280;p28">
            <a:extLst>
              <a:ext uri="{FF2B5EF4-FFF2-40B4-BE49-F238E27FC236}">
                <a16:creationId xmlns:a16="http://schemas.microsoft.com/office/drawing/2014/main" id="{F83313DE-D827-D6EC-52C7-817092968560}"/>
              </a:ext>
            </a:extLst>
          </p:cNvPr>
          <p:cNvSpPr txBox="1"/>
          <p:nvPr/>
        </p:nvSpPr>
        <p:spPr>
          <a:xfrm>
            <a:off x="276225" y="3951435"/>
            <a:ext cx="53244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Cross-modal LLM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81;p28">
            <a:extLst>
              <a:ext uri="{FF2B5EF4-FFF2-40B4-BE49-F238E27FC236}">
                <a16:creationId xmlns:a16="http://schemas.microsoft.com/office/drawing/2014/main" id="{3899DAA9-EDF4-8DA2-2BFA-6FB5CC2B77CE}"/>
              </a:ext>
            </a:extLst>
          </p:cNvPr>
          <p:cNvSpPr txBox="1"/>
          <p:nvPr/>
        </p:nvSpPr>
        <p:spPr>
          <a:xfrm>
            <a:off x="5158305" y="1942856"/>
            <a:ext cx="55906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4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Programming Efficiency</a:t>
            </a: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p28">
            <a:extLst>
              <a:ext uri="{FF2B5EF4-FFF2-40B4-BE49-F238E27FC236}">
                <a16:creationId xmlns:a16="http://schemas.microsoft.com/office/drawing/2014/main" id="{CB9DB420-DD8C-A674-5A41-780CFDB07B40}"/>
              </a:ext>
            </a:extLst>
          </p:cNvPr>
          <p:cNvSpPr txBox="1"/>
          <p:nvPr/>
        </p:nvSpPr>
        <p:spPr>
          <a:xfrm>
            <a:off x="5158305" y="2617935"/>
            <a:ext cx="6104055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By defining a </a:t>
            </a:r>
            <a:r>
              <a:rPr lang="en-US" sz="22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Unified ISA</a:t>
            </a:r>
            <a:r>
              <a:rPr lang="en-US" sz="220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, </a:t>
            </a:r>
            <a:r>
              <a:rPr lang="en-US" sz="2200" b="0" i="0" u="none" strike="noStrike" cap="none" dirty="0" err="1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SpeechGPT</a:t>
            </a:r>
            <a:r>
              <a:rPr lang="en-US" sz="220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reduces semantic translation overhead and enables "Speech Native" programming for conversational agents.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Result</a:t>
            </a: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 A more coherent, instruction-following dialogue core.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(1/6)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439862" y="1597230"/>
            <a:ext cx="9312275" cy="30469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kern="0" dirty="0">
                <a:latin typeface="Times New Roman Bold" panose="02020603050405020304" charset="0"/>
              </a:rPr>
              <a:t>Motivation: From </a:t>
            </a:r>
            <a:r>
              <a:rPr lang="en" altLang="zh-CN" sz="2400" b="1" kern="0" dirty="0" err="1">
                <a:latin typeface="Times New Roman Bold" panose="02020603050405020304" charset="0"/>
              </a:rPr>
              <a:t>SpeechGPT</a:t>
            </a:r>
            <a:r>
              <a:rPr lang="en" altLang="zh-CN" sz="2400" b="1" kern="0" dirty="0">
                <a:latin typeface="Times New Roman Bold" panose="02020603050405020304" charset="0"/>
              </a:rPr>
              <a:t> to LSLM</a:t>
            </a:r>
          </a:p>
          <a:p>
            <a:pPr lvl="1"/>
            <a:r>
              <a:rPr lang="e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Half-Duplex Limitation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listen while speaking </a:t>
            </a:r>
          </a:p>
          <a:p>
            <a:pPr lvl="1"/>
            <a:r>
              <a:rPr lang="e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Interruption Handling</a:t>
            </a: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interruption (barge-in) handling</a:t>
            </a:r>
          </a:p>
          <a:p>
            <a:pPr lvl="1"/>
            <a:r>
              <a:rPr lang="e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issue</a:t>
            </a:r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Sequential pipeline, not real-time</a:t>
            </a:r>
          </a:p>
          <a:p>
            <a:pPr lvl="1"/>
            <a:endParaRPr lang="en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kern="0" dirty="0">
                <a:latin typeface="Times New Roman Bold" panose="02020603050405020304" charset="0"/>
              </a:rPr>
              <a:t>Core Question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design a full-duplex dialogue system with real-time interaction?</a:t>
            </a:r>
          </a:p>
          <a:p>
            <a:endParaRPr lang="en" altLang="zh-CN" sz="273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9E5F-7890-05A0-65ED-407B80BA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55956BB-8950-4CF1-825C-379989DC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(2/6)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369D2-A8ED-980E-1C33-CE4B89A61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275B587C-69CA-2832-BE84-CC20A4AF82FA}"/>
              </a:ext>
            </a:extLst>
          </p:cNvPr>
          <p:cNvSpPr txBox="1"/>
          <p:nvPr/>
        </p:nvSpPr>
        <p:spPr bwMode="auto">
          <a:xfrm>
            <a:off x="307235" y="1334939"/>
            <a:ext cx="5769723" cy="30469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kern="0" dirty="0">
                <a:latin typeface="Times New Roman Bold" panose="02020603050405020304" charset="0"/>
              </a:rPr>
              <a:t>LSLM: State-Driven Scheduler</a:t>
            </a: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sequential turns → concurrent interaction </a:t>
            </a:r>
          </a:p>
          <a:p>
            <a:pPr lvl="1"/>
            <a:r>
              <a:rPr lang="zh-CN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tokens</a:t>
            </a:r>
            <a:r>
              <a:rPr lang="zh-CN" alt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(Listen / Speak) </a:t>
            </a:r>
            <a:r>
              <a:rPr lang="zh-CN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 </a:t>
            </a:r>
            <a:r>
              <a:rPr lang="zh-CN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next state for reactive dialogue</a:t>
            </a:r>
            <a:endParaRPr lang="en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39D53-7E7F-B203-9438-05ED91467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pic>
        <p:nvPicPr>
          <p:cNvPr id="2" name="Google Shape;302;p30" descr="image.png">
            <a:extLst>
              <a:ext uri="{FF2B5EF4-FFF2-40B4-BE49-F238E27FC236}">
                <a16:creationId xmlns:a16="http://schemas.microsoft.com/office/drawing/2014/main" id="{EED02A78-86A5-3CF6-9A8D-47FFCD6549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3095" y="1175731"/>
            <a:ext cx="5769722" cy="46858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8490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ABE1-F941-9A55-72B9-9BE6BB2E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9E7B908-1C3F-0147-B749-3403EE03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(3/6)</a:t>
            </a: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313CF-FFF0-7399-E108-7F6FAE43D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6874128F-A8FA-409D-9869-52A10F5710F0}"/>
              </a:ext>
            </a:extLst>
          </p:cNvPr>
          <p:cNvSpPr txBox="1"/>
          <p:nvPr/>
        </p:nvSpPr>
        <p:spPr bwMode="auto">
          <a:xfrm>
            <a:off x="686665" y="1537157"/>
            <a:ext cx="9312275" cy="5304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 Bold" panose="02020603050405020304" charset="0"/>
                <a:sym typeface="Urbanist Medium"/>
              </a:rPr>
              <a:t>The Scheduling Challenge</a:t>
            </a:r>
            <a:endParaRPr lang="en-US" altLang="zh-CN" sz="2400" b="1" kern="0" dirty="0">
              <a:latin typeface="Times New Roman Bold" panose="02020603050405020304" charset="0"/>
            </a:endParaRPr>
          </a:p>
          <a:p>
            <a:endParaRPr lang="en-US" altLang="zh-CN" sz="2400" b="1" kern="0" dirty="0">
              <a:latin typeface="Times New Roman Bold" panose="02020603050405020304" charset="0"/>
              <a:sym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30D4D-6F1D-196A-F5CA-BA64C707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5D57CB9C-481D-0D4A-9D27-F569AE03CA52}"/>
              </a:ext>
            </a:extLst>
          </p:cNvPr>
          <p:cNvSpPr/>
          <p:nvPr/>
        </p:nvSpPr>
        <p:spPr bwMode="auto">
          <a:xfrm>
            <a:off x="6444829" y="2621081"/>
            <a:ext cx="5060508" cy="220812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BB7D14B-BE38-A77B-C52B-11D0A67F30EB}"/>
              </a:ext>
            </a:extLst>
          </p:cNvPr>
          <p:cNvSpPr/>
          <p:nvPr/>
        </p:nvSpPr>
        <p:spPr bwMode="auto">
          <a:xfrm>
            <a:off x="686665" y="2621081"/>
            <a:ext cx="5060508" cy="2208124"/>
          </a:xfrm>
          <a:prstGeom prst="roundRect">
            <a:avLst/>
          </a:prstGeom>
          <a:solidFill>
            <a:srgbClr val="E9E5F7">
              <a:alpha val="84706"/>
            </a:srgbClr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Google Shape;189;p21">
            <a:extLst>
              <a:ext uri="{FF2B5EF4-FFF2-40B4-BE49-F238E27FC236}">
                <a16:creationId xmlns:a16="http://schemas.microsoft.com/office/drawing/2014/main" id="{6B7EC49F-07FC-9BF2-A603-6B747E39F8EA}"/>
              </a:ext>
            </a:extLst>
          </p:cNvPr>
          <p:cNvSpPr txBox="1"/>
          <p:nvPr/>
        </p:nvSpPr>
        <p:spPr>
          <a:xfrm>
            <a:off x="937336" y="2916971"/>
            <a:ext cx="48266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Parallelism Conflict</a:t>
            </a:r>
            <a:endParaRPr lang="en" altLang="zh-CN" sz="2400" b="1" dirty="0"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</p:txBody>
      </p:sp>
      <p:sp>
        <p:nvSpPr>
          <p:cNvPr id="15" name="Google Shape;190;p21">
            <a:extLst>
              <a:ext uri="{FF2B5EF4-FFF2-40B4-BE49-F238E27FC236}">
                <a16:creationId xmlns:a16="http://schemas.microsoft.com/office/drawing/2014/main" id="{5B9A0CB4-DDBC-1461-34F2-52D24E78312D}"/>
              </a:ext>
            </a:extLst>
          </p:cNvPr>
          <p:cNvSpPr txBox="1"/>
          <p:nvPr/>
        </p:nvSpPr>
        <p:spPr>
          <a:xfrm>
            <a:off x="803584" y="3725143"/>
            <a:ext cx="4826670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Determining when to “pre-empt</a:t>
            </a:r>
            <a:r>
              <a:rPr lang="zh-CN" altLang="en-US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</a:t>
            </a:r>
            <a:r>
              <a:rPr lang="zh-CN" altLang="en-US" sz="1400" b="1" dirty="0">
                <a:latin typeface="Songti SC" panose="02010600040101010101" pitchFamily="2" charset="-122"/>
                <a:ea typeface="Songti SC" panose="02010600040101010101" pitchFamily="2" charset="-122"/>
                <a:sym typeface="Urbanist"/>
              </a:rPr>
              <a:t>抢占</a:t>
            </a:r>
            <a:r>
              <a:rPr lang="en-US" altLang="zh-CN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" a response when user talking mid-sentence (Barge-in</a:t>
            </a:r>
            <a:r>
              <a:rPr lang="en-US" altLang="zh-CN" b="1" dirty="0">
                <a:solidFill>
                  <a:srgbClr val="C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en-US" altLang="zh-CN" sz="1400" b="1" dirty="0" err="1">
                <a:latin typeface="Songti SC" panose="02010600040101010101" pitchFamily="2" charset="-122"/>
                <a:ea typeface="Songti SC" panose="02010600040101010101" pitchFamily="2" charset="-122"/>
              </a:rPr>
              <a:t>用户打断</a:t>
            </a:r>
            <a:r>
              <a:rPr lang="en-US" altLang="zh-CN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91;p21">
            <a:extLst>
              <a:ext uri="{FF2B5EF4-FFF2-40B4-BE49-F238E27FC236}">
                <a16:creationId xmlns:a16="http://schemas.microsoft.com/office/drawing/2014/main" id="{5D6FF383-B491-BF05-1961-7B5100C72D71}"/>
              </a:ext>
            </a:extLst>
          </p:cNvPr>
          <p:cNvSpPr txBox="1"/>
          <p:nvPr/>
        </p:nvSpPr>
        <p:spPr>
          <a:xfrm>
            <a:off x="6717728" y="2916971"/>
            <a:ext cx="48266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Context Thrashing</a:t>
            </a:r>
            <a:endParaRPr lang="en" altLang="zh-CN" sz="2400" b="1" dirty="0"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</p:txBody>
      </p:sp>
      <p:sp>
        <p:nvSpPr>
          <p:cNvPr id="17" name="Google Shape;192;p21">
            <a:extLst>
              <a:ext uri="{FF2B5EF4-FFF2-40B4-BE49-F238E27FC236}">
                <a16:creationId xmlns:a16="http://schemas.microsoft.com/office/drawing/2014/main" id="{7E5A9DA5-A142-0BE0-0A21-5C399F54AE4C}"/>
              </a:ext>
            </a:extLst>
          </p:cNvPr>
          <p:cNvSpPr txBox="1"/>
          <p:nvPr/>
        </p:nvSpPr>
        <p:spPr>
          <a:xfrm>
            <a:off x="6717727" y="3789347"/>
            <a:ext cx="459682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Efficiently updating the history buffer as multiple audio streams overlap during interaction.</a:t>
            </a:r>
            <a:endParaRPr lang="en" altLang="zh-CN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040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(4/6)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6" name="Google Shape;322;p32" descr="image.png">
            <a:extLst>
              <a:ext uri="{FF2B5EF4-FFF2-40B4-BE49-F238E27FC236}">
                <a16:creationId xmlns:a16="http://schemas.microsoft.com/office/drawing/2014/main" id="{BD1CD015-946C-8D3D-1CD0-1250179A59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0542" y="1174325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内容占位符 5">
            <a:extLst>
              <a:ext uri="{FF2B5EF4-FFF2-40B4-BE49-F238E27FC236}">
                <a16:creationId xmlns:a16="http://schemas.microsoft.com/office/drawing/2014/main" id="{F3DB3A60-E5EE-D4C8-5E75-87E1224505AB}"/>
              </a:ext>
            </a:extLst>
          </p:cNvPr>
          <p:cNvSpPr txBox="1"/>
          <p:nvPr/>
        </p:nvSpPr>
        <p:spPr bwMode="auto">
          <a:xfrm>
            <a:off x="274107" y="2086826"/>
            <a:ext cx="5821892" cy="26843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400" b="1" kern="0" dirty="0">
                <a:latin typeface="Times New Roman Bold" panose="02020603050405020304" charset="0"/>
                <a:sym typeface="Urbanist Medium"/>
              </a:rPr>
              <a:t>States as Process Units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Input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 processing mode (User stream active).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Internal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 state (KV Cache update, no output).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Output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 generation mode (Model stream active).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Immediate pre-emption of current task.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(5/6)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r="93651"/>
          <a:stretch>
            <a:fillRect/>
          </a:stretch>
        </p:blipFill>
        <p:spPr>
          <a:xfrm>
            <a:off x="11664950" y="1647190"/>
            <a:ext cx="527050" cy="2947035"/>
          </a:xfrm>
          <a:prstGeom prst="rect">
            <a:avLst/>
          </a:prstGeom>
        </p:spPr>
      </p:pic>
      <p:graphicFrame>
        <p:nvGraphicFramePr>
          <p:cNvPr id="2" name="Google Shape;337;p33">
            <a:extLst>
              <a:ext uri="{FF2B5EF4-FFF2-40B4-BE49-F238E27FC236}">
                <a16:creationId xmlns:a16="http://schemas.microsoft.com/office/drawing/2014/main" id="{7A5A4068-F1D1-485C-18DF-B88E12A97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106988"/>
              </p:ext>
            </p:extLst>
          </p:nvPr>
        </p:nvGraphicFramePr>
        <p:xfrm>
          <a:off x="622777" y="2181237"/>
          <a:ext cx="11029950" cy="24955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4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Current State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Event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Target State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System Action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SPEAK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User Input Detected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INTERRUPT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Flush Output Buffer, Update Cache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LISTEN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Silence Detected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THINK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Trigger Generation Kernel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THINK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Response Ready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SPEAK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ongti SC" panose="02010600040101010101" pitchFamily="2" charset="-122"/>
                          <a:cs typeface="Times New Roman" panose="02020603050405020304" pitchFamily="18" charset="0"/>
                          <a:sym typeface="Urbanist"/>
                        </a:rPr>
                        <a:t>Streaming Audio I/O</a:t>
                      </a:r>
                      <a:endParaRPr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ongti SC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338;p33">
            <a:extLst>
              <a:ext uri="{FF2B5EF4-FFF2-40B4-BE49-F238E27FC236}">
                <a16:creationId xmlns:a16="http://schemas.microsoft.com/office/drawing/2014/main" id="{6F93CAD4-D19F-66A9-8B61-B4AD80773782}"/>
              </a:ext>
            </a:extLst>
          </p:cNvPr>
          <p:cNvSpPr/>
          <p:nvPr/>
        </p:nvSpPr>
        <p:spPr>
          <a:xfrm>
            <a:off x="622777" y="3424250"/>
            <a:ext cx="21422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39;p33">
            <a:extLst>
              <a:ext uri="{FF2B5EF4-FFF2-40B4-BE49-F238E27FC236}">
                <a16:creationId xmlns:a16="http://schemas.microsoft.com/office/drawing/2014/main" id="{73D1E1C6-77D4-10C3-0B83-3825BC169823}"/>
              </a:ext>
            </a:extLst>
          </p:cNvPr>
          <p:cNvSpPr/>
          <p:nvPr/>
        </p:nvSpPr>
        <p:spPr>
          <a:xfrm>
            <a:off x="2765009" y="3424250"/>
            <a:ext cx="26442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0;p33">
            <a:extLst>
              <a:ext uri="{FF2B5EF4-FFF2-40B4-BE49-F238E27FC236}">
                <a16:creationId xmlns:a16="http://schemas.microsoft.com/office/drawing/2014/main" id="{AC2E3788-54AB-6845-C88F-68101756FB10}"/>
              </a:ext>
            </a:extLst>
          </p:cNvPr>
          <p:cNvSpPr/>
          <p:nvPr/>
        </p:nvSpPr>
        <p:spPr>
          <a:xfrm>
            <a:off x="5409238" y="3424250"/>
            <a:ext cx="2019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41;p33">
            <a:extLst>
              <a:ext uri="{FF2B5EF4-FFF2-40B4-BE49-F238E27FC236}">
                <a16:creationId xmlns:a16="http://schemas.microsoft.com/office/drawing/2014/main" id="{53A43899-004B-4592-A5D1-1E39D1DD3B84}"/>
              </a:ext>
            </a:extLst>
          </p:cNvPr>
          <p:cNvSpPr/>
          <p:nvPr/>
        </p:nvSpPr>
        <p:spPr>
          <a:xfrm>
            <a:off x="7429133" y="3424250"/>
            <a:ext cx="4223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2;p33">
            <a:extLst>
              <a:ext uri="{FF2B5EF4-FFF2-40B4-BE49-F238E27FC236}">
                <a16:creationId xmlns:a16="http://schemas.microsoft.com/office/drawing/2014/main" id="{5D057153-FD19-2EB1-76A7-69C8EF228D39}"/>
              </a:ext>
            </a:extLst>
          </p:cNvPr>
          <p:cNvSpPr/>
          <p:nvPr/>
        </p:nvSpPr>
        <p:spPr>
          <a:xfrm>
            <a:off x="622777" y="4043375"/>
            <a:ext cx="21422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43;p33">
            <a:extLst>
              <a:ext uri="{FF2B5EF4-FFF2-40B4-BE49-F238E27FC236}">
                <a16:creationId xmlns:a16="http://schemas.microsoft.com/office/drawing/2014/main" id="{BCB31566-30B2-C57A-F636-75FE28F04EC4}"/>
              </a:ext>
            </a:extLst>
          </p:cNvPr>
          <p:cNvSpPr/>
          <p:nvPr/>
        </p:nvSpPr>
        <p:spPr>
          <a:xfrm>
            <a:off x="2765009" y="4043375"/>
            <a:ext cx="26442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44;p33">
            <a:extLst>
              <a:ext uri="{FF2B5EF4-FFF2-40B4-BE49-F238E27FC236}">
                <a16:creationId xmlns:a16="http://schemas.microsoft.com/office/drawing/2014/main" id="{9DEE90E8-F092-0454-4C2E-685F75155FE6}"/>
              </a:ext>
            </a:extLst>
          </p:cNvPr>
          <p:cNvSpPr/>
          <p:nvPr/>
        </p:nvSpPr>
        <p:spPr>
          <a:xfrm>
            <a:off x="5409238" y="4043375"/>
            <a:ext cx="2019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45;p33">
            <a:extLst>
              <a:ext uri="{FF2B5EF4-FFF2-40B4-BE49-F238E27FC236}">
                <a16:creationId xmlns:a16="http://schemas.microsoft.com/office/drawing/2014/main" id="{50BEDEAA-8125-1F93-D6EF-011E1DB87113}"/>
              </a:ext>
            </a:extLst>
          </p:cNvPr>
          <p:cNvSpPr/>
          <p:nvPr/>
        </p:nvSpPr>
        <p:spPr>
          <a:xfrm>
            <a:off x="7429133" y="4043375"/>
            <a:ext cx="4223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46;p33">
            <a:extLst>
              <a:ext uri="{FF2B5EF4-FFF2-40B4-BE49-F238E27FC236}">
                <a16:creationId xmlns:a16="http://schemas.microsoft.com/office/drawing/2014/main" id="{85A35BFF-3E61-512E-2E5F-13AFB216C424}"/>
              </a:ext>
            </a:extLst>
          </p:cNvPr>
          <p:cNvSpPr/>
          <p:nvPr/>
        </p:nvSpPr>
        <p:spPr>
          <a:xfrm>
            <a:off x="622777" y="4662500"/>
            <a:ext cx="21422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47;p33">
            <a:extLst>
              <a:ext uri="{FF2B5EF4-FFF2-40B4-BE49-F238E27FC236}">
                <a16:creationId xmlns:a16="http://schemas.microsoft.com/office/drawing/2014/main" id="{29A01159-5084-6026-5AC1-B7A698E732C7}"/>
              </a:ext>
            </a:extLst>
          </p:cNvPr>
          <p:cNvSpPr/>
          <p:nvPr/>
        </p:nvSpPr>
        <p:spPr>
          <a:xfrm>
            <a:off x="2765009" y="4662500"/>
            <a:ext cx="26442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48;p33">
            <a:extLst>
              <a:ext uri="{FF2B5EF4-FFF2-40B4-BE49-F238E27FC236}">
                <a16:creationId xmlns:a16="http://schemas.microsoft.com/office/drawing/2014/main" id="{4F532050-7B92-502A-1A96-EDF11BD27229}"/>
              </a:ext>
            </a:extLst>
          </p:cNvPr>
          <p:cNvSpPr/>
          <p:nvPr/>
        </p:nvSpPr>
        <p:spPr>
          <a:xfrm>
            <a:off x="5409238" y="4662500"/>
            <a:ext cx="20198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49;p33">
            <a:extLst>
              <a:ext uri="{FF2B5EF4-FFF2-40B4-BE49-F238E27FC236}">
                <a16:creationId xmlns:a16="http://schemas.microsoft.com/office/drawing/2014/main" id="{C11FA5AE-0068-9C37-7464-F29C5D1A7BD6}"/>
              </a:ext>
            </a:extLst>
          </p:cNvPr>
          <p:cNvSpPr/>
          <p:nvPr/>
        </p:nvSpPr>
        <p:spPr>
          <a:xfrm>
            <a:off x="7429133" y="4662500"/>
            <a:ext cx="42235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50;p33">
            <a:extLst>
              <a:ext uri="{FF2B5EF4-FFF2-40B4-BE49-F238E27FC236}">
                <a16:creationId xmlns:a16="http://schemas.microsoft.com/office/drawing/2014/main" id="{8F1E7785-9B4A-077D-8A8A-7BF69344C850}"/>
              </a:ext>
            </a:extLst>
          </p:cNvPr>
          <p:cNvSpPr txBox="1"/>
          <p:nvPr/>
        </p:nvSpPr>
        <p:spPr>
          <a:xfrm>
            <a:off x="610553" y="1252064"/>
            <a:ext cx="1158144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TW"/>
            </a:defPPr>
            <a:lvl1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400" b="1" kern="0">
                <a:latin typeface="Times New Roman Bold" panose="02020603050405020304" charset="0"/>
                <a:ea typeface="標楷體" panose="02010601000101010101" pitchFamily="65" charset="-120"/>
              </a:defRPr>
            </a:lvl1pPr>
            <a:lvl2pPr marL="742950" indent="-28575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en-US" dirty="0">
                <a:sym typeface="Urbanist Medium"/>
              </a:rPr>
              <a:t>LSLM State Transitions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A8BE-33F0-512B-1FD2-D508D7C6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02CA41-1CFA-FDDF-395C-787AA51A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LSLM</a:t>
            </a:r>
            <a:r>
              <a:rPr lang="en-US" altLang="zh-CN" dirty="0">
                <a:sym typeface="Urbanist Medium"/>
              </a:rPr>
              <a:t>: State Scheduling</a:t>
            </a:r>
            <a:r>
              <a:rPr lang="en-US" altLang="zh-CN" dirty="0"/>
              <a:t> (6/6)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A37A6B-3985-5140-253D-617F8B0B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2" name="Google Shape;279;p28">
            <a:extLst>
              <a:ext uri="{FF2B5EF4-FFF2-40B4-BE49-F238E27FC236}">
                <a16:creationId xmlns:a16="http://schemas.microsoft.com/office/drawing/2014/main" id="{9E3B7F87-FBE0-0A8F-CE28-57D0B556F034}"/>
              </a:ext>
            </a:extLst>
          </p:cNvPr>
          <p:cNvSpPr txBox="1"/>
          <p:nvPr/>
        </p:nvSpPr>
        <p:spPr>
          <a:xfrm>
            <a:off x="276225" y="2617935"/>
            <a:ext cx="53244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dirty="0">
                <a:solidFill>
                  <a:srgbClr val="99009B"/>
                </a:solidFill>
                <a:latin typeface="Urbanist"/>
                <a:ea typeface="Urbanist"/>
                <a:cs typeface="Urbanist"/>
                <a:sym typeface="Urbanist"/>
              </a:rPr>
              <a:t>FSM</a:t>
            </a:r>
            <a:endParaRPr dirty="0">
              <a:solidFill>
                <a:srgbClr val="99009B"/>
              </a:solidFill>
            </a:endParaRPr>
          </a:p>
        </p:txBody>
      </p:sp>
      <p:sp>
        <p:nvSpPr>
          <p:cNvPr id="6" name="Google Shape;280;p28">
            <a:extLst>
              <a:ext uri="{FF2B5EF4-FFF2-40B4-BE49-F238E27FC236}">
                <a16:creationId xmlns:a16="http://schemas.microsoft.com/office/drawing/2014/main" id="{A22B6F6F-489A-83BC-132E-8DBAFA6F0608}"/>
              </a:ext>
            </a:extLst>
          </p:cNvPr>
          <p:cNvSpPr txBox="1"/>
          <p:nvPr/>
        </p:nvSpPr>
        <p:spPr>
          <a:xfrm>
            <a:off x="276225" y="3951435"/>
            <a:ext cx="53244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cap="none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State</a:t>
            </a:r>
            <a:r>
              <a:rPr lang="zh-CN" altLang="en-US" sz="2100" b="0" i="0" u="none" strike="noStrike" cap="none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 </a:t>
            </a:r>
            <a:r>
              <a:rPr lang="en-US" altLang="zh-CN" sz="2100" b="0" i="0" u="none" strike="noStrike" cap="none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Management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81;p28">
            <a:extLst>
              <a:ext uri="{FF2B5EF4-FFF2-40B4-BE49-F238E27FC236}">
                <a16:creationId xmlns:a16="http://schemas.microsoft.com/office/drawing/2014/main" id="{D80DF05D-73F1-3E52-83B3-6FBC467BD2DE}"/>
              </a:ext>
            </a:extLst>
          </p:cNvPr>
          <p:cNvSpPr txBox="1"/>
          <p:nvPr/>
        </p:nvSpPr>
        <p:spPr>
          <a:xfrm>
            <a:off x="5158305" y="1942856"/>
            <a:ext cx="559069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2800" b="1" dirty="0">
                <a:solidFill>
                  <a:schemeClr val="accent4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Workload Orchestration</a:t>
            </a:r>
            <a:endParaRPr lang="en-US" altLang="zh-CN" sz="2800" b="1" dirty="0">
              <a:solidFill>
                <a:schemeClr val="accent4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p28">
            <a:extLst>
              <a:ext uri="{FF2B5EF4-FFF2-40B4-BE49-F238E27FC236}">
                <a16:creationId xmlns:a16="http://schemas.microsoft.com/office/drawing/2014/main" id="{0A08F26F-85C5-957D-CE5A-7D979062EC58}"/>
              </a:ext>
            </a:extLst>
          </p:cNvPr>
          <p:cNvSpPr txBox="1"/>
          <p:nvPr/>
        </p:nvSpPr>
        <p:spPr>
          <a:xfrm>
            <a:off x="5158305" y="2617935"/>
            <a:ext cx="6104055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LSLM provides the logic for Turn-taking Parallelism. It ensures the system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knows when to listen, when to response, and how to recover </a:t>
            </a: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from task interruptions.</a:t>
            </a:r>
            <a:endParaRPr lang="en-US" altLang="zh-CN" sz="2200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Result</a:t>
            </a: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 A robust, natural conversational flow.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Problem</a:t>
            </a: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 Latency</a:t>
            </a:r>
            <a:endParaRPr lang="en-US" altLang="zh-CN" sz="2200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090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Moshi: </a:t>
            </a:r>
            <a:r>
              <a:rPr lang="en-US" altLang="zh-CN" dirty="0">
                <a:sym typeface="Urbanist"/>
              </a:rPr>
              <a:t>Runtime Engine </a:t>
            </a:r>
            <a:r>
              <a:rPr lang="en-US" altLang="zh-CN" dirty="0"/>
              <a:t>(1/5)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049655" y="1457597"/>
            <a:ext cx="5701665" cy="4229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Why </a:t>
            </a:r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SpeechGPT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/LSLM is not enough?</a:t>
            </a: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Full-duplex interaction, but </a:t>
            </a:r>
            <a:r>
              <a:rPr lang="zh-C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</a:t>
            </a:r>
            <a:endParaRPr lang="en-US" altLang="zh-CN" sz="22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control, but </a:t>
            </a:r>
            <a:r>
              <a:rPr lang="zh-C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execution </a:t>
            </a:r>
            <a:endParaRPr lang="en-US" altLang="zh-CN" sz="22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bottleneck, </a:t>
            </a:r>
            <a:r>
              <a:rPr lang="zh-CN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truly real-time</a:t>
            </a:r>
            <a:endParaRPr lang="zh-CN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 Solution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Dual-stream (user + agent) 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Non-blocking, parallel execution 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Sub-200ms real-time dialogue</a:t>
            </a:r>
            <a:endParaRPr lang="zh-CN" altLang="en-US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Moshi: </a:t>
            </a:r>
            <a:r>
              <a:rPr lang="en-US" altLang="zh-CN" dirty="0">
                <a:sym typeface="Urbanist"/>
              </a:rPr>
              <a:t>Runtime Engine </a:t>
            </a:r>
            <a:r>
              <a:rPr lang="en-US" altLang="zh-CN" dirty="0"/>
              <a:t>(2/5)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205106" y="1628775"/>
            <a:ext cx="5107124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 Bold" panose="02020603050405020304" charset="0"/>
                <a:sym typeface="Urbanist Medium"/>
              </a:rPr>
              <a:t>Dual-Stream Design</a:t>
            </a:r>
            <a:r>
              <a:rPr lang="en-US" altLang="zh-CN" sz="2400" b="1" kern="0" dirty="0">
                <a:latin typeface="Times New Roman Bold" panose="02020603050405020304" charset="0"/>
                <a:sym typeface="+mn-ea"/>
              </a:rPr>
              <a:t>:</a:t>
            </a:r>
            <a:endParaRPr lang="en-US" altLang="zh-CN" sz="188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altLang="zh-CN" sz="2055" kern="0" dirty="0">
                <a:latin typeface="Times New Roman Bold" panose="02020603050405020304" charset="0"/>
                <a:sym typeface="Urbanist"/>
              </a:rPr>
              <a:t>Simultaneous decoding of User Audio and encoding of Agent Audio in a single forward pass.</a:t>
            </a:r>
          </a:p>
          <a:p>
            <a:pPr lvl="1"/>
            <a:endParaRPr lang="en-US" altLang="zh-CN" sz="2055" kern="0" dirty="0">
              <a:latin typeface="Times New Roman Bold" panose="02020603050405020304" charset="0"/>
              <a:sym typeface="Urbanist"/>
            </a:endParaRPr>
          </a:p>
          <a:p>
            <a:r>
              <a:rPr lang="en-US" altLang="zh-CN" sz="2400" b="1" kern="0" dirty="0">
                <a:latin typeface="Times New Roman Bold" panose="02020603050405020304" charset="0"/>
                <a:sym typeface="Urbanist Medium"/>
              </a:rPr>
              <a:t>Non-blocking I/O</a:t>
            </a:r>
            <a:endParaRPr lang="en-US" altLang="zh-CN" sz="2400" b="1" kern="0" dirty="0">
              <a:latin typeface="Times New Roman Bold" panose="02020603050405020304" charset="0"/>
            </a:endParaRPr>
          </a:p>
          <a:p>
            <a:pPr lvl="1"/>
            <a:r>
              <a:rPr lang="en-US" altLang="zh-CN" sz="2055" kern="0" dirty="0">
                <a:latin typeface="Times New Roman Bold" panose="02020603050405020304" charset="0"/>
                <a:sym typeface="Urbanist"/>
              </a:rPr>
              <a:t>The system continues listening even while generating, ensuring zero-latency awareness of user feedback.</a:t>
            </a:r>
            <a:endParaRPr lang="en-US" altLang="zh-CN" sz="2055" kern="0" dirty="0">
              <a:latin typeface="Times New Roman Bold" panose="020206030504050203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5906C7-E8F8-63CE-B7DF-919B65A3A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554" y="1273092"/>
            <a:ext cx="6664234" cy="45541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5E7AFEF-89C0-452F-783F-056461FAAFA9}"/>
              </a:ext>
            </a:extLst>
          </p:cNvPr>
          <p:cNvSpPr txBox="1"/>
          <p:nvPr/>
        </p:nvSpPr>
        <p:spPr>
          <a:xfrm>
            <a:off x="5552258" y="5806585"/>
            <a:ext cx="6388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the joint sequence modeled by Moshi.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Moshi: </a:t>
            </a:r>
            <a:r>
              <a:rPr lang="en-US" altLang="zh-CN" dirty="0">
                <a:sym typeface="Urbanist"/>
              </a:rPr>
              <a:t>Runtime Engine </a:t>
            </a:r>
            <a:r>
              <a:rPr lang="en-US" altLang="zh-CN" dirty="0"/>
              <a:t>(3/5)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87885" y="1012959"/>
            <a:ext cx="11103519" cy="23289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 Bold" panose="02020603050405020304" charset="0"/>
                <a:sym typeface="Urbanist Medium"/>
              </a:rPr>
              <a:t>Mimi: Neural Audio Codec</a:t>
            </a:r>
            <a:endParaRPr lang="en-US" altLang="zh-CN" sz="2400" b="1" kern="0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1"/>
            <a:r>
              <a:rPr lang="en-US" altLang="zh-CN" sz="2200" b="1" kern="0" dirty="0">
                <a:latin typeface="Times New Roman Bold" panose="02020603050405020304" charset="0"/>
                <a:sym typeface="Urbanist Medium"/>
              </a:rPr>
              <a:t>Efficient I/O Compression</a:t>
            </a:r>
            <a:endParaRPr lang="en-US" altLang="zh-CN" sz="2200" b="1" kern="0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2"/>
            <a:r>
              <a:rPr lang="en-US" altLang="zh-CN" sz="2200" kern="0" dirty="0">
                <a:latin typeface="Times New Roman Regular" panose="02020603050405020304" charset="0"/>
                <a:sym typeface="Urbanist"/>
              </a:rPr>
              <a:t>Mimi acts as the </a:t>
            </a:r>
            <a:r>
              <a:rPr lang="en-US" altLang="zh-CN" sz="2200" kern="0" dirty="0">
                <a:solidFill>
                  <a:srgbClr val="FF0000"/>
                </a:solidFill>
                <a:latin typeface="Times New Roman Regular" panose="02020603050405020304" charset="0"/>
                <a:sym typeface="Urbanist"/>
              </a:rPr>
              <a:t>Device Driver</a:t>
            </a:r>
            <a:r>
              <a:rPr lang="en-US" altLang="zh-CN" sz="2200" kern="0" dirty="0">
                <a:latin typeface="Times New Roman Regular" panose="02020603050405020304" charset="0"/>
                <a:sym typeface="Urbanist"/>
              </a:rPr>
              <a:t> for audio. It </a:t>
            </a:r>
            <a:r>
              <a:rPr lang="en-US" altLang="zh-CN" sz="2200" kern="0" dirty="0">
                <a:solidFill>
                  <a:srgbClr val="FF0000"/>
                </a:solidFill>
                <a:latin typeface="Times New Roman Regular" panose="02020603050405020304" charset="0"/>
                <a:sym typeface="Urbanist"/>
              </a:rPr>
              <a:t>compresses speech </a:t>
            </a:r>
            <a:r>
              <a:rPr lang="en-US" altLang="zh-CN" sz="2200" kern="0" dirty="0">
                <a:latin typeface="Times New Roman Regular" panose="02020603050405020304" charset="0"/>
                <a:sym typeface="Urbanist"/>
              </a:rPr>
              <a:t>into a high-frequency (12.5Hz) bitstream with minimal latency.</a:t>
            </a:r>
          </a:p>
          <a:p>
            <a:pPr lvl="2"/>
            <a:r>
              <a:rPr lang="en-US" altLang="zh-CN" sz="2200" kern="0" dirty="0">
                <a:latin typeface="Times New Roman Regular" panose="02020603050405020304" charset="0"/>
                <a:sym typeface="Urbanist"/>
              </a:rPr>
              <a:t>By reducing the bitrate while preserving quality, it solves the "</a:t>
            </a:r>
            <a:r>
              <a:rPr lang="en-US" altLang="zh-CN" sz="2200" kern="0" dirty="0">
                <a:solidFill>
                  <a:srgbClr val="FF0000"/>
                </a:solidFill>
                <a:latin typeface="Times New Roman Regular" panose="02020603050405020304" charset="0"/>
                <a:sym typeface="Urbanist"/>
              </a:rPr>
              <a:t>Memory Bandwidth Wall</a:t>
            </a:r>
            <a:r>
              <a:rPr lang="en-US" altLang="zh-CN" sz="2200" kern="0" dirty="0">
                <a:latin typeface="Times New Roman Regular" panose="02020603050405020304" charset="0"/>
                <a:sym typeface="Urbanist"/>
              </a:rPr>
              <a:t>" of high-resolution audio processing.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9A70E6-8696-3E0F-E509-CC481660A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368038"/>
            <a:ext cx="7772400" cy="25714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BA199D-0415-1B59-FDD1-2D14495602A9}"/>
              </a:ext>
            </a:extLst>
          </p:cNvPr>
          <p:cNvSpPr txBox="1"/>
          <p:nvPr/>
        </p:nvSpPr>
        <p:spPr>
          <a:xfrm>
            <a:off x="3039292" y="5845041"/>
            <a:ext cx="611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Architecture and training of Mimi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Moshi: </a:t>
            </a:r>
            <a:r>
              <a:rPr lang="en-US" altLang="zh-CN" dirty="0">
                <a:sym typeface="Urbanist"/>
              </a:rPr>
              <a:t>Runtime Engine </a:t>
            </a:r>
            <a:r>
              <a:rPr lang="en-US" altLang="zh-CN" dirty="0"/>
              <a:t>(4/5)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89411" y="1416234"/>
            <a:ext cx="5780459" cy="45612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400" b="1" kern="0" dirty="0">
                <a:latin typeface="Times New Roman Bold" panose="02020603050405020304" charset="0"/>
                <a:sym typeface="+mn-ea"/>
              </a:rPr>
              <a:t>Evaluation </a:t>
            </a:r>
          </a:p>
          <a:p>
            <a:pPr lvl="1"/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efficiency: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Monologue ×3 </a:t>
            </a:r>
            <a:r>
              <a:rPr lang="zh-CN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(16→17 tokens/step) 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advantage: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Streaming inference </a:t>
            </a:r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full-text blocking) 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efficiency: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semantic + acoustic tokens (single model) </a:t>
            </a:r>
            <a:endParaRPr lang="en-US" altLang="zh-CN" sz="1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performance: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SpeechGPT &amp; Spectron across </a:t>
            </a:r>
            <a:r>
              <a:rPr lang="en" altLang="zh-CN" sz="1800" kern="0" dirty="0">
                <a:latin typeface="Times New Roman Bold" panose="02020603050405020304" charset="0"/>
              </a:rPr>
              <a:t>Spoken QA Test</a:t>
            </a:r>
            <a:r>
              <a:rPr lang="en-US" altLang="zh-CN" sz="1800" kern="0" dirty="0">
                <a:latin typeface="Times New Roman Bold" panose="02020603050405020304" charset="0"/>
              </a:rPr>
              <a:t>-</a:t>
            </a:r>
            <a:r>
              <a:rPr lang="en" altLang="zh-CN" sz="1800" kern="0" dirty="0">
                <a:latin typeface="Times New Roman Bold" panose="02020603050405020304" charset="0"/>
              </a:rPr>
              <a:t>set</a:t>
            </a:r>
            <a:endParaRPr lang="zh-CN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E5F00E-6050-F545-6FCF-D29DE8617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55" y="1671231"/>
            <a:ext cx="6102124" cy="3341368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4B89EC9-71D6-64A8-0D68-9132CF2B2FA2}"/>
              </a:ext>
            </a:extLst>
          </p:cNvPr>
          <p:cNvSpPr/>
          <p:nvPr/>
        </p:nvSpPr>
        <p:spPr bwMode="auto">
          <a:xfrm>
            <a:off x="6056955" y="3964989"/>
            <a:ext cx="6004416" cy="418011"/>
          </a:xfrm>
          <a:prstGeom prst="roundRect">
            <a:avLst/>
          </a:prstGeom>
          <a:noFill/>
          <a:ln w="19050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6CD3C0E-14C9-C90F-A910-FDF11C0E47E3}"/>
              </a:ext>
            </a:extLst>
          </p:cNvPr>
          <p:cNvSpPr/>
          <p:nvPr/>
        </p:nvSpPr>
        <p:spPr bwMode="auto">
          <a:xfrm>
            <a:off x="6056955" y="2960915"/>
            <a:ext cx="6004416" cy="235132"/>
          </a:xfrm>
          <a:prstGeom prst="roundRect">
            <a:avLst/>
          </a:prstGeom>
          <a:noFill/>
          <a:ln w="19050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ACD5-5A16-B2F0-BC61-448EC9E4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DCBCC2D-1DB7-D0D9-BF72-E20A9E39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Moshi: </a:t>
            </a:r>
            <a:r>
              <a:rPr lang="en-US" altLang="zh-CN" dirty="0">
                <a:sym typeface="Urbanist"/>
              </a:rPr>
              <a:t>Runtime Engine </a:t>
            </a:r>
            <a:r>
              <a:rPr lang="en-US" altLang="zh-CN" dirty="0"/>
              <a:t>(5/5)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822BD8-E40C-6401-55A6-2BFDCD931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2" name="Google Shape;279;p28">
            <a:extLst>
              <a:ext uri="{FF2B5EF4-FFF2-40B4-BE49-F238E27FC236}">
                <a16:creationId xmlns:a16="http://schemas.microsoft.com/office/drawing/2014/main" id="{239820F9-A28A-883F-AAD6-531276BCA6F8}"/>
              </a:ext>
            </a:extLst>
          </p:cNvPr>
          <p:cNvSpPr txBox="1"/>
          <p:nvPr/>
        </p:nvSpPr>
        <p:spPr>
          <a:xfrm>
            <a:off x="276224" y="3016226"/>
            <a:ext cx="532447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" altLang="zh-CN" sz="6600" b="1" dirty="0">
                <a:solidFill>
                  <a:srgbClr val="99009B"/>
                </a:solidFill>
                <a:latin typeface="Urbanist"/>
                <a:ea typeface="Urbanist"/>
                <a:cs typeface="Urbanist"/>
              </a:rPr>
              <a:t>Async Runtime</a:t>
            </a:r>
            <a:endParaRPr sz="6600" b="1" dirty="0">
              <a:solidFill>
                <a:srgbClr val="99009B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6" name="Google Shape;280;p28">
            <a:extLst>
              <a:ext uri="{FF2B5EF4-FFF2-40B4-BE49-F238E27FC236}">
                <a16:creationId xmlns:a16="http://schemas.microsoft.com/office/drawing/2014/main" id="{617DCC30-7281-64D3-2A47-75577E685043}"/>
              </a:ext>
            </a:extLst>
          </p:cNvPr>
          <p:cNvSpPr txBox="1"/>
          <p:nvPr/>
        </p:nvSpPr>
        <p:spPr>
          <a:xfrm>
            <a:off x="276225" y="3951435"/>
            <a:ext cx="53244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zh-CN" sz="2100" dirty="0"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160ms Median Latency</a:t>
            </a:r>
            <a:endParaRPr lang="en-US" altLang="zh-CN" sz="2100" dirty="0"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81;p28">
            <a:extLst>
              <a:ext uri="{FF2B5EF4-FFF2-40B4-BE49-F238E27FC236}">
                <a16:creationId xmlns:a16="http://schemas.microsoft.com/office/drawing/2014/main" id="{8B83A5C0-465D-3A0F-08A1-4D2FAB97DB2C}"/>
              </a:ext>
            </a:extLst>
          </p:cNvPr>
          <p:cNvSpPr txBox="1"/>
          <p:nvPr/>
        </p:nvSpPr>
        <p:spPr>
          <a:xfrm>
            <a:off x="5724362" y="2091416"/>
            <a:ext cx="559069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2800" b="1" dirty="0">
                <a:solidFill>
                  <a:schemeClr val="accent4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Runtime Excellence</a:t>
            </a:r>
            <a:endParaRPr lang="en-US" altLang="zh-CN" sz="2800" b="1" dirty="0">
              <a:solidFill>
                <a:schemeClr val="accent4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  <a:p>
            <a:endParaRPr lang="en-US" altLang="zh-CN" sz="2800" b="1" dirty="0">
              <a:solidFill>
                <a:schemeClr val="accent4"/>
              </a:solidFill>
              <a:latin typeface="Times New Roman" panose="02020603050405020304" pitchFamily="18" charset="0"/>
              <a:ea typeface="Urbanist Medium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p28">
            <a:extLst>
              <a:ext uri="{FF2B5EF4-FFF2-40B4-BE49-F238E27FC236}">
                <a16:creationId xmlns:a16="http://schemas.microsoft.com/office/drawing/2014/main" id="{15CDA1E2-08E1-E0C4-78BE-A99AE006161F}"/>
              </a:ext>
            </a:extLst>
          </p:cNvPr>
          <p:cNvSpPr txBox="1"/>
          <p:nvPr/>
        </p:nvSpPr>
        <p:spPr>
          <a:xfrm>
            <a:off x="5724362" y="2766495"/>
            <a:ext cx="6104055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Moshi proves that Asynchronous Runtime is the key to immersion. By optimizing the audio driver (Mimi) and the execution kernel (Helio), it enables true full-duplex dialogue.</a:t>
            </a:r>
            <a:endParaRPr lang="en-US" altLang="zh-CN" sz="2200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Result</a:t>
            </a:r>
            <a:r>
              <a:rPr lang="en-US" altLang="zh-CN" sz="2200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 Fluid, human-like verbal interaction.</a:t>
            </a:r>
            <a:endParaRPr lang="en-US" altLang="zh-CN" sz="2200" dirty="0">
              <a:latin typeface="Times New Roman" panose="02020603050405020304" pitchFamily="18" charset="0"/>
              <a:ea typeface="Urbanis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57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761365" y="1314450"/>
            <a:ext cx="12198985" cy="356108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(5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Methods (15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SpeechGPT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Unified Instruction Set Architecture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LSLM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Can Listen While Speaking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Moshi: a speech-text foundation model for real-time dialogue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Conclusions (1/2)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34</a:t>
            </a:fld>
            <a:endParaRPr lang="zh-TW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59962DD-27CF-E835-C5AA-FF19187B9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85371"/>
              </p:ext>
            </p:extLst>
          </p:nvPr>
        </p:nvGraphicFramePr>
        <p:xfrm>
          <a:off x="191589" y="1151664"/>
          <a:ext cx="11808822" cy="4953045"/>
        </p:xfrm>
        <a:graphic>
          <a:graphicData uri="http://schemas.openxmlformats.org/drawingml/2006/table">
            <a:tbl>
              <a:tblPr/>
              <a:tblGrid>
                <a:gridCol w="1706879">
                  <a:extLst>
                    <a:ext uri="{9D8B030D-6E8A-4147-A177-3AD203B41FA5}">
                      <a16:colId xmlns:a16="http://schemas.microsoft.com/office/drawing/2014/main" val="2482464132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1289645584"/>
                    </a:ext>
                  </a:extLst>
                </a:gridCol>
                <a:gridCol w="2281645">
                  <a:extLst>
                    <a:ext uri="{9D8B030D-6E8A-4147-A177-3AD203B41FA5}">
                      <a16:colId xmlns:a16="http://schemas.microsoft.com/office/drawing/2014/main" val="1810119585"/>
                    </a:ext>
                  </a:extLst>
                </a:gridCol>
                <a:gridCol w="2107475">
                  <a:extLst>
                    <a:ext uri="{9D8B030D-6E8A-4147-A177-3AD203B41FA5}">
                      <a16:colId xmlns:a16="http://schemas.microsoft.com/office/drawing/2014/main" val="1120315478"/>
                    </a:ext>
                  </a:extLst>
                </a:gridCol>
                <a:gridCol w="4406537">
                  <a:extLst>
                    <a:ext uri="{9D8B030D-6E8A-4147-A177-3AD203B41FA5}">
                      <a16:colId xmlns:a16="http://schemas.microsoft.com/office/drawing/2014/main" val="580003801"/>
                    </a:ext>
                  </a:extLst>
                </a:gridCol>
              </a:tblGrid>
              <a:tr h="70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 Layer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Question</a:t>
                      </a:r>
                      <a:endParaRPr lang="e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 Analogy</a:t>
                      </a:r>
                      <a:endParaRPr lang="e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Implementation</a:t>
                      </a:r>
                      <a:endParaRPr lang="e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36270"/>
                  </a:ext>
                </a:extLst>
              </a:tr>
              <a:tr h="1330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 1: Programming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SpeechGPT</a:t>
                      </a:r>
                      <a:endParaRPr lang="en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is the data? 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ISA</a:t>
                      </a:r>
                      <a:endParaRPr lang="en-US" altLang="zh-CN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zh-C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Unified Representation</a:t>
                      </a:r>
                      <a:r>
                        <a:rPr lang="e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Maps speech tokens as native opcodes, enabling unified modality addressing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033270"/>
                  </a:ext>
                </a:extLst>
              </a:tr>
              <a:tr h="158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 2: Workloads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LSLM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 speaks? When?</a:t>
                      </a:r>
                      <a:endParaRPr lang="en-US" altLang="zh-CN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FSM / Process States</a:t>
                      </a:r>
                      <a:endParaRPr lang="en-US" altLang="zh-CN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State-driven Scheduling</a:t>
                      </a:r>
                      <a:r>
                        <a:rPr lang="e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 tokens (Listen/Speak) drive an FSM for preemptive turn-taking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704539"/>
                  </a:ext>
                </a:extLst>
              </a:tr>
              <a:tr h="1335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 3: Runtime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Moshi</a:t>
                      </a: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fast to respond?</a:t>
                      </a:r>
                      <a:endParaRPr lang="en-US" altLang="zh-CN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 Kernel</a:t>
                      </a:r>
                      <a:endParaRPr lang="e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Dual-stream Execution</a:t>
                      </a:r>
                      <a:r>
                        <a:rPr lang="e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" altLang="zh-C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Parallel dual streams bypass blocking I/O, enabling sub-500ms real-time response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498" marR="76498" marT="38249" marB="3824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775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655" y="144780"/>
            <a:ext cx="10517505" cy="692150"/>
          </a:xfrm>
        </p:spPr>
        <p:txBody>
          <a:bodyPr/>
          <a:lstStyle/>
          <a:p>
            <a:r>
              <a:rPr lang="en-US" altLang="zh-CN" dirty="0"/>
              <a:t>Conclusions (2/2)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82880" y="1213666"/>
            <a:ext cx="11826240" cy="5796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altLang="zh-CN" sz="2400" b="1" kern="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Highlights</a:t>
            </a: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cascaded pipelines → unified architecture 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isolated modules → shared representation &amp; control 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blocking execution → real-time, OS-like dialogue system</a:t>
            </a: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 b="1" kern="0" dirty="0" err="1">
                <a:latin typeface="Times New Roman Bold" panose="02020603050405020304" charset="0"/>
                <a:sym typeface="Urbanist"/>
              </a:rPr>
              <a:t>Conlusion</a:t>
            </a:r>
            <a:endParaRPr lang="en-US" altLang="zh-CN" sz="2400" b="1" kern="0" dirty="0">
              <a:latin typeface="Times New Roman Bold" panose="02020603050405020304" charset="0"/>
              <a:sym typeface="Urbanist"/>
            </a:endParaRP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Spoken Dialogue Systems are becoming the "User-facing OS" of the future. By applying classic computer system principles—</a:t>
            </a:r>
            <a:r>
              <a:rPr lang="en-US" altLang="zh-CN" sz="22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efficient I/O, robust scheduling, and unified programming models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Urbanist"/>
              </a:rPr>
              <a:t>—we are finally crossing the uncanny valley of human-computer conversation.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2673350"/>
            <a:ext cx="10722610" cy="183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anose="02010601000101010101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ctr">
              <a:buNone/>
            </a:pPr>
            <a:r>
              <a:rPr lang="en-US" altLang="zh-CN" sz="7200" b="1" dirty="0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ea typeface="微软雅黑" charset="-122"/>
                <a:cs typeface="Calibri" pitchFamily="34" charset="0"/>
                <a:sym typeface="+mn-ea"/>
              </a:rPr>
              <a:t>Thanks for Listening !</a:t>
            </a:r>
            <a:endParaRPr lang="en-US" altLang="zh-CN" sz="7200" b="1" dirty="0"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charset="-122"/>
              <a:cs typeface="Calibri" pitchFamily="3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anose="02010601000101010101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</TotalTime>
  <Words>4031</Words>
  <Application>Microsoft Macintosh PowerPoint</Application>
  <PresentationFormat>宽屏</PresentationFormat>
  <Paragraphs>515</Paragraphs>
  <Slides>36</Slides>
  <Notes>36</Notes>
  <HiddenSlides>0</HiddenSlides>
  <MMClips>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楷体</vt:lpstr>
      <vt:lpstr>微软雅黑</vt:lpstr>
      <vt:lpstr>標楷體</vt:lpstr>
      <vt:lpstr>MS Sans Serif</vt:lpstr>
      <vt:lpstr>Songti SC</vt:lpstr>
      <vt:lpstr>Times New Roman Bold</vt:lpstr>
      <vt:lpstr>Times New Roman Bold Italic</vt:lpstr>
      <vt:lpstr>Times New Roman Italic</vt:lpstr>
      <vt:lpstr>Times New Roman Regular</vt:lpstr>
      <vt:lpstr>Arial</vt:lpstr>
      <vt:lpstr>Calibri</vt:lpstr>
      <vt:lpstr>Calibri Light</vt:lpstr>
      <vt:lpstr>Times New Roman</vt:lpstr>
      <vt:lpstr>Urbanist</vt:lpstr>
      <vt:lpstr>Urbanist Medium</vt:lpstr>
      <vt:lpstr>Wingdings</vt:lpstr>
      <vt:lpstr>NTHU UniCloud</vt:lpstr>
      <vt:lpstr>自訂設計</vt:lpstr>
      <vt:lpstr>Three-Layer System Stack for  Spoken Dialogue System  2026.03.24</vt:lpstr>
      <vt:lpstr>Outline</vt:lpstr>
      <vt:lpstr>Outline</vt:lpstr>
      <vt:lpstr>Introduction  (1/3)</vt:lpstr>
      <vt:lpstr>Introduction  (2/3)</vt:lpstr>
      <vt:lpstr>Introduction  (3/3)</vt:lpstr>
      <vt:lpstr>Outline</vt:lpstr>
      <vt:lpstr>Background (1/4)</vt:lpstr>
      <vt:lpstr>Background: Challenges in Spoken System (2/4)</vt:lpstr>
      <vt:lpstr>Background: System-Level Bottlenecks (3/4)</vt:lpstr>
      <vt:lpstr>Background (4/4)</vt:lpstr>
      <vt:lpstr>Outline</vt:lpstr>
      <vt:lpstr>Outline</vt:lpstr>
      <vt:lpstr>SpeechGPT: Unified ISA (1/6)</vt:lpstr>
      <vt:lpstr>SpeechGPT: Unified ISA (2/6)</vt:lpstr>
      <vt:lpstr>SpeechGPT: Unified ISA (3/6)</vt:lpstr>
      <vt:lpstr>SpeechGPT: Unified ISA (4/6)</vt:lpstr>
      <vt:lpstr>SpeechGPT: Unified ISA (5/6)</vt:lpstr>
      <vt:lpstr>SpeechGPT (6/6)</vt:lpstr>
      <vt:lpstr>Outline</vt:lpstr>
      <vt:lpstr>LSLM: State Scheduling (1/6)</vt:lpstr>
      <vt:lpstr>LSLM: State Scheduling (2/6)</vt:lpstr>
      <vt:lpstr>LSLM: State Scheduling (3/6)</vt:lpstr>
      <vt:lpstr>LSLM: State Scheduling (4/6)</vt:lpstr>
      <vt:lpstr>LSLM: State Scheduling (5/6)</vt:lpstr>
      <vt:lpstr>LSLM: State Scheduling (6/6)</vt:lpstr>
      <vt:lpstr>Outline</vt:lpstr>
      <vt:lpstr>Moshi: Runtime Engine (1/5)</vt:lpstr>
      <vt:lpstr>Moshi: Runtime Engine (2/5)</vt:lpstr>
      <vt:lpstr>Moshi: Runtime Engine (3/5)</vt:lpstr>
      <vt:lpstr>Moshi: Runtime Engine (4/5)</vt:lpstr>
      <vt:lpstr>Moshi: Runtime Engine (5/5)</vt:lpstr>
      <vt:lpstr>Outline</vt:lpstr>
      <vt:lpstr>Conclusions (1/2)</vt:lpstr>
      <vt:lpstr>Conclusions (2/2)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Huan Liao (SDS,225040515)</cp:lastModifiedBy>
  <cp:revision>155</cp:revision>
  <dcterms:created xsi:type="dcterms:W3CDTF">2026-03-19T05:14:58Z</dcterms:created>
  <dcterms:modified xsi:type="dcterms:W3CDTF">2026-03-23T15:50:34Z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C8450A7EC0CA67C64584BB69EABB7ED6_43</vt:lpwstr>
  </property>
  <property fmtid="{D5CDD505-2E9C-101B-9397-08002B2CF9AE}" pid="3" name="KSOProductBuildVer">
    <vt:lpwstr>1033-6.0.0.8068</vt:lpwstr>
  </property>
</Properties>
</file>