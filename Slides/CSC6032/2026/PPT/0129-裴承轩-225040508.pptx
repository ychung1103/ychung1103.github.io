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32"/>
  </p:notesMasterIdLst>
  <p:sldIdLst>
    <p:sldId id="256" r:id="rId3"/>
    <p:sldId id="258" r:id="rId4"/>
    <p:sldId id="522" r:id="rId5"/>
    <p:sldId id="521" r:id="rId6"/>
    <p:sldId id="523" r:id="rId7"/>
    <p:sldId id="524" r:id="rId8"/>
    <p:sldId id="525" r:id="rId9"/>
    <p:sldId id="527" r:id="rId10"/>
    <p:sldId id="528" r:id="rId11"/>
    <p:sldId id="529" r:id="rId12"/>
    <p:sldId id="530" r:id="rId13"/>
    <p:sldId id="546" r:id="rId14"/>
    <p:sldId id="531" r:id="rId15"/>
    <p:sldId id="532" r:id="rId16"/>
    <p:sldId id="533" r:id="rId17"/>
    <p:sldId id="547" r:id="rId18"/>
    <p:sldId id="534" r:id="rId19"/>
    <p:sldId id="548" r:id="rId20"/>
    <p:sldId id="535" r:id="rId21"/>
    <p:sldId id="536" r:id="rId22"/>
    <p:sldId id="537" r:id="rId23"/>
    <p:sldId id="538" r:id="rId24"/>
    <p:sldId id="539" r:id="rId25"/>
    <p:sldId id="540" r:id="rId26"/>
    <p:sldId id="541" r:id="rId27"/>
    <p:sldId id="545" r:id="rId28"/>
    <p:sldId id="542" r:id="rId29"/>
    <p:sldId id="543" r:id="rId30"/>
    <p:sldId id="544" r:id="rId3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040" autoAdjust="0"/>
    <p:restoredTop sz="93447" autoAdjust="0"/>
  </p:normalViewPr>
  <p:slideViewPr>
    <p:cSldViewPr snapToGrid="0">
      <p:cViewPr varScale="1">
        <p:scale>
          <a:sx n="60" d="100"/>
          <a:sy n="60" d="100"/>
        </p:scale>
        <p:origin x="4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2026/1/31</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Good afternoon, everyone.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Today, I'll be presenting a comprehensive analysis of Prefill-Decode disaggregation architectures for Large Language Model (LLM for short) serving systems, based on three recent research papers that are reshaping how we think about LLM inference optimization.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a particularly timely topic as LLM services scale to billions of tokens daily while facing increasingly tight latency requirements.</a:t>
            </a:r>
            <a:endParaRPr lang="en-US"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a:t>
            </a:fld>
            <a:endParaRPr lang="zh-TW" altLang="en-US"/>
          </a:p>
        </p:txBody>
      </p:sp>
    </p:spTree>
    <p:extLst>
      <p:ext uri="{BB962C8B-B14F-4D97-AF65-F5344CB8AC3E}">
        <p14:creationId xmlns:p14="http://schemas.microsoft.com/office/powerpoint/2010/main" val="4136608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Over the next 30 minutes, we'll follow this structure: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First, I'll establish the fundamentals of LLM inference and the critical performance metrics.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Then, we'll examine the background of aggregation versus disaggregation, exploring the fundamental trade-offs and real-world challenges.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core of the presentation will be a deep dive into three groundbreaking systems: Mooncake, </a:t>
            </a:r>
            <a:r>
              <a:rPr lang="en-US" sz="1200" b="0" i="0" kern="1200" dirty="0" err="1">
                <a:solidFill>
                  <a:schemeClr val="tx1"/>
                </a:solidFill>
                <a:effectLst/>
                <a:latin typeface="+mn-lt"/>
                <a:ea typeface="+mn-ea"/>
                <a:cs typeface="+mn-cs"/>
              </a:rPr>
              <a:t>DynaServe</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TaiChi</a:t>
            </a:r>
            <a:r>
              <a:rPr lang="en-US" sz="1200" b="0" i="0" kern="1200" dirty="0">
                <a:solidFill>
                  <a:schemeClr val="tx1"/>
                </a:solidFill>
                <a:effectLst/>
                <a:latin typeface="+mn-lt"/>
                <a:ea typeface="+mn-ea"/>
                <a:cs typeface="+mn-cs"/>
              </a:rPr>
              <a:t>.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Each represents a distinct philosophy in tackling the PD disaggregation problem.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Finally, we'll synthesize these insights and discuss future directions.</a:t>
            </a:r>
          </a:p>
          <a:p>
            <a:pPr fontAlgn="base"/>
            <a:endParaRPr lang="en-US" sz="1200" b="0" i="0"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2</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06DD5-B350-D43F-BDC3-E4FC92203BF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8179649-E8B9-D765-5079-02C860E2FB1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DE25A4D-407B-8197-1655-C62D784973E9}"/>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Let's begin with the fundamentals.</a:t>
            </a:r>
          </a:p>
          <a:p>
            <a:endParaRPr lang="zh-TW" altLang="en-US" dirty="0"/>
          </a:p>
        </p:txBody>
      </p:sp>
      <p:sp>
        <p:nvSpPr>
          <p:cNvPr id="4" name="投影片編號版面配置區 3">
            <a:extLst>
              <a:ext uri="{FF2B5EF4-FFF2-40B4-BE49-F238E27FC236}">
                <a16:creationId xmlns:a16="http://schemas.microsoft.com/office/drawing/2014/main" id="{02CB52B6-FCE0-B50D-C9AE-2096F1EC44B4}"/>
              </a:ext>
            </a:extLst>
          </p:cNvPr>
          <p:cNvSpPr>
            <a:spLocks noGrp="1"/>
          </p:cNvSpPr>
          <p:nvPr>
            <p:ph type="sldNum" sz="quarter" idx="10"/>
          </p:nvPr>
        </p:nvSpPr>
        <p:spPr/>
        <p:txBody>
          <a:bodyPr/>
          <a:lstStyle/>
          <a:p>
            <a:fld id="{7320D120-4707-426F-9B85-873E256A6635}" type="slidenum">
              <a:rPr lang="zh-TW" altLang="en-US" smtClean="0"/>
              <a:pPr/>
              <a:t>3</a:t>
            </a:fld>
            <a:endParaRPr lang="zh-TW" altLang="en-US"/>
          </a:p>
        </p:txBody>
      </p:sp>
    </p:spTree>
    <p:extLst>
      <p:ext uri="{BB962C8B-B14F-4D97-AF65-F5344CB8AC3E}">
        <p14:creationId xmlns:p14="http://schemas.microsoft.com/office/powerpoint/2010/main" val="2286619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36040-660F-C7A2-C473-FA5C5F5F9072}"/>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1F32469E-47AA-B0AE-F1A5-3A56B709050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54373DA-F489-2E3E-8151-909F24793C09}"/>
              </a:ext>
            </a:extLst>
          </p:cNvPr>
          <p:cNvSpPr>
            <a:spLocks noGrp="1"/>
          </p:cNvSpPr>
          <p:nvPr>
            <p:ph type="body" idx="1"/>
          </p:nvPr>
        </p:nvSpPr>
        <p:spPr/>
        <p:txBody>
          <a:bodyPr>
            <a:normAutofit lnSpcReduction="10000"/>
          </a:bodyPr>
          <a:lstStyle/>
          <a:p>
            <a:r>
              <a:rPr lang="en-US" sz="1200" b="0" i="0" kern="1200" dirty="0">
                <a:solidFill>
                  <a:schemeClr val="tx1"/>
                </a:solidFill>
                <a:effectLst/>
                <a:latin typeface="+mn-lt"/>
                <a:ea typeface="+mn-ea"/>
                <a:cs typeface="+mn-cs"/>
              </a:rPr>
              <a:t>Modern LLMs are built on the Transformer architecture, which you see illustrated here.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(click) The key insight from the seminal "Attention is All You Need" paper is that we can process sequential data entirely through self-attention mechanisms.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inference, we use a decoder-only structure where each layer contains two main components: a self-attention block and a feed-forward network.</a:t>
            </a:r>
          </a:p>
          <a:p>
            <a:endParaRPr lang="en-US" altLang="zh-TW"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(click)Now, critically, LLM inference happens in two distinct phases.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(click) The </a:t>
            </a:r>
            <a:r>
              <a:rPr lang="en-US" sz="1200" b="1" i="0" kern="1200" dirty="0">
                <a:solidFill>
                  <a:schemeClr val="tx1"/>
                </a:solidFill>
                <a:effectLst/>
                <a:latin typeface="+mn-lt"/>
                <a:ea typeface="+mn-ea"/>
                <a:cs typeface="+mn-cs"/>
              </a:rPr>
              <a:t>prefill phase</a:t>
            </a:r>
            <a:r>
              <a:rPr lang="en-US" sz="1200" b="0" i="0" kern="1200" dirty="0">
                <a:solidFill>
                  <a:schemeClr val="tx1"/>
                </a:solidFill>
                <a:effectLst/>
                <a:latin typeface="+mn-lt"/>
                <a:ea typeface="+mn-ea"/>
                <a:cs typeface="+mn-cs"/>
              </a:rPr>
              <a:t> processes your entire input prompt in parallel—imagine feeding a 1000-token document all at once. This is compute-intensive matrix-matrix multiplication, highly parallelizable and saturates GPU compute units.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(click)The </a:t>
            </a:r>
            <a:r>
              <a:rPr lang="en-US" sz="1200" b="1" i="0" kern="1200" dirty="0">
                <a:solidFill>
                  <a:schemeClr val="tx1"/>
                </a:solidFill>
                <a:effectLst/>
                <a:latin typeface="+mn-lt"/>
                <a:ea typeface="+mn-ea"/>
                <a:cs typeface="+mn-cs"/>
              </a:rPr>
              <a:t>decode phase</a:t>
            </a:r>
            <a:r>
              <a:rPr lang="en-US" sz="1200" b="0" i="0" kern="1200" dirty="0">
                <a:solidFill>
                  <a:schemeClr val="tx1"/>
                </a:solidFill>
                <a:effectLst/>
                <a:latin typeface="+mn-lt"/>
                <a:ea typeface="+mn-ea"/>
                <a:cs typeface="+mn-cs"/>
              </a:rPr>
              <a:t>, however, is autoregressive: it generates tokens one by one, each depending on all previous tokens. This becomes memory-bound matrix-vector operations, where performance is limited by memory bandwidth rather than computation.</a:t>
            </a:r>
          </a:p>
          <a:p>
            <a:endParaRPr lang="en-US" altLang="zh-TW"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two-phase nature creates a fundamental tension in system design.</a:t>
            </a:r>
            <a:endParaRPr lang="zh-TW" altLang="en-US" dirty="0"/>
          </a:p>
        </p:txBody>
      </p:sp>
      <p:sp>
        <p:nvSpPr>
          <p:cNvPr id="4" name="投影片編號版面配置區 3">
            <a:extLst>
              <a:ext uri="{FF2B5EF4-FFF2-40B4-BE49-F238E27FC236}">
                <a16:creationId xmlns:a16="http://schemas.microsoft.com/office/drawing/2014/main" id="{17B219F4-0EA4-D239-DDBA-49B55085BBCF}"/>
              </a:ext>
            </a:extLst>
          </p:cNvPr>
          <p:cNvSpPr>
            <a:spLocks noGrp="1"/>
          </p:cNvSpPr>
          <p:nvPr>
            <p:ph type="sldNum" sz="quarter" idx="10"/>
          </p:nvPr>
        </p:nvSpPr>
        <p:spPr/>
        <p:txBody>
          <a:bodyPr/>
          <a:lstStyle/>
          <a:p>
            <a:fld id="{7320D120-4707-426F-9B85-873E256A6635}" type="slidenum">
              <a:rPr lang="zh-TW" altLang="en-US" smtClean="0"/>
              <a:pPr/>
              <a:t>4</a:t>
            </a:fld>
            <a:endParaRPr lang="zh-TW" altLang="en-US"/>
          </a:p>
        </p:txBody>
      </p:sp>
    </p:spTree>
    <p:extLst>
      <p:ext uri="{BB962C8B-B14F-4D97-AF65-F5344CB8AC3E}">
        <p14:creationId xmlns:p14="http://schemas.microsoft.com/office/powerpoint/2010/main" val="701684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11C74-B074-BCD6-7416-A86812DFE47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B26B4BE7-1E23-1DC0-E150-F57F94A4D66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8DB906E-C972-3978-C2FE-507C426568C7}"/>
              </a:ext>
            </a:extLst>
          </p:cNvPr>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As this figure shows, prefill and decode have opposed characteristics.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(click)Prefill: high parallelism, compute-bound, fast for the first token but doesn't generate subsequent tokens.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(click)Decode: low parallelism, memory-bound, bottlenecked by KV cache loading, but produces the actual output stream.</a:t>
            </a:r>
          </a:p>
          <a:p>
            <a:endParaRPr lang="en-US" altLang="zh-TW"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KV cache is our critical optimization. During prefill, we compute and store Key-Value tensors for every token. During decode, we reuse this cache, appending one new KV pair per generated token. Without this, we'd be recomputing everything from scratch—completely infeasible for long sequences.</a:t>
            </a:r>
          </a:p>
          <a:p>
            <a:endParaRPr lang="en-US" altLang="zh-TW"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(click)Understanding this dichotomy (</a:t>
            </a:r>
            <a:r>
              <a:rPr lang="en-US" sz="1200" b="0" i="0" kern="1200" dirty="0" err="1">
                <a:solidFill>
                  <a:schemeClr val="tx1"/>
                </a:solidFill>
                <a:effectLst/>
                <a:latin typeface="+mn-lt"/>
                <a:ea typeface="+mn-ea"/>
                <a:cs typeface="+mn-cs"/>
              </a:rPr>
              <a:t>dīˈkädəmē</a:t>
            </a:r>
            <a:r>
              <a:rPr lang="en-US" sz="1200" b="0" i="0" kern="1200" dirty="0">
                <a:solidFill>
                  <a:schemeClr val="tx1"/>
                </a:solidFill>
                <a:effectLst/>
                <a:latin typeface="+mn-lt"/>
                <a:ea typeface="+mn-ea"/>
                <a:cs typeface="+mn-cs"/>
              </a:rPr>
              <a:t>) leads us to the central question: How do we architect serving systems that excel at both phases simultaneously?</a:t>
            </a:r>
            <a:endParaRPr lang="zh-TW" altLang="en-US" dirty="0"/>
          </a:p>
        </p:txBody>
      </p:sp>
      <p:sp>
        <p:nvSpPr>
          <p:cNvPr id="4" name="投影片編號版面配置區 3">
            <a:extLst>
              <a:ext uri="{FF2B5EF4-FFF2-40B4-BE49-F238E27FC236}">
                <a16:creationId xmlns:a16="http://schemas.microsoft.com/office/drawing/2014/main" id="{ED46832D-B310-CD69-BA61-6BD4177A8BED}"/>
              </a:ext>
            </a:extLst>
          </p:cNvPr>
          <p:cNvSpPr>
            <a:spLocks noGrp="1"/>
          </p:cNvSpPr>
          <p:nvPr>
            <p:ph type="sldNum" sz="quarter" idx="10"/>
          </p:nvPr>
        </p:nvSpPr>
        <p:spPr/>
        <p:txBody>
          <a:bodyPr/>
          <a:lstStyle/>
          <a:p>
            <a:fld id="{7320D120-4707-426F-9B85-873E256A6635}" type="slidenum">
              <a:rPr lang="zh-TW" altLang="en-US" smtClean="0"/>
              <a:pPr/>
              <a:t>5</a:t>
            </a:fld>
            <a:endParaRPr lang="zh-TW" altLang="en-US"/>
          </a:p>
        </p:txBody>
      </p:sp>
    </p:spTree>
    <p:extLst>
      <p:ext uri="{BB962C8B-B14F-4D97-AF65-F5344CB8AC3E}">
        <p14:creationId xmlns:p14="http://schemas.microsoft.com/office/powerpoint/2010/main" val="4127927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1A8F6-BC0C-872C-6929-CF79384DABC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DACB6AA0-BCBD-1325-3302-9DED2051CFD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A33C730-432B-078D-B748-F2D1B4CD49F1}"/>
              </a:ext>
            </a:extLst>
          </p:cNvPr>
          <p:cNvSpPr>
            <a:spLocks noGrp="1"/>
          </p:cNvSpPr>
          <p:nvPr>
            <p:ph type="body" idx="1"/>
          </p:nvPr>
        </p:nvSpPr>
        <p:spPr/>
        <p:txBody>
          <a:bodyPr>
            <a:normAutofit/>
          </a:bodyPr>
          <a:lstStyle/>
          <a:p>
            <a:r>
              <a:rPr lang="en-US" altLang="zh-TW" dirty="0"/>
              <a:t>Next, I will give details on the aggregation and disaggregation system</a:t>
            </a:r>
            <a:endParaRPr lang="zh-TW" altLang="en-US" dirty="0"/>
          </a:p>
        </p:txBody>
      </p:sp>
      <p:sp>
        <p:nvSpPr>
          <p:cNvPr id="4" name="投影片編號版面配置區 3">
            <a:extLst>
              <a:ext uri="{FF2B5EF4-FFF2-40B4-BE49-F238E27FC236}">
                <a16:creationId xmlns:a16="http://schemas.microsoft.com/office/drawing/2014/main" id="{75C2819D-D791-FC15-7614-A0B9DB8B1ABF}"/>
              </a:ext>
            </a:extLst>
          </p:cNvPr>
          <p:cNvSpPr>
            <a:spLocks noGrp="1"/>
          </p:cNvSpPr>
          <p:nvPr>
            <p:ph type="sldNum" sz="quarter" idx="10"/>
          </p:nvPr>
        </p:nvSpPr>
        <p:spPr/>
        <p:txBody>
          <a:bodyPr/>
          <a:lstStyle/>
          <a:p>
            <a:fld id="{7320D120-4707-426F-9B85-873E256A6635}" type="slidenum">
              <a:rPr lang="zh-TW" altLang="en-US" smtClean="0"/>
              <a:pPr/>
              <a:t>6</a:t>
            </a:fld>
            <a:endParaRPr lang="zh-TW" altLang="en-US"/>
          </a:p>
        </p:txBody>
      </p:sp>
    </p:spTree>
    <p:extLst>
      <p:ext uri="{BB962C8B-B14F-4D97-AF65-F5344CB8AC3E}">
        <p14:creationId xmlns:p14="http://schemas.microsoft.com/office/powerpoint/2010/main" val="16896913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94415-3B5C-F241-F05A-F5729D5370DC}"/>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F4B1E3DD-B7D2-3A9F-4A79-ADD82F18765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B9A070F-712B-BC0E-A693-25A84D0D0BB9}"/>
              </a:ext>
            </a:extLst>
          </p:cNvPr>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(click)Traditionally, systems like </a:t>
            </a:r>
            <a:r>
              <a:rPr lang="en-US" sz="1200" b="0" i="0" kern="1200" dirty="0" err="1">
                <a:solidFill>
                  <a:schemeClr val="tx1"/>
                </a:solidFill>
                <a:effectLst/>
                <a:latin typeface="+mn-lt"/>
                <a:ea typeface="+mn-ea"/>
                <a:cs typeface="+mn-cs"/>
              </a:rPr>
              <a:t>vLLM</a:t>
            </a:r>
            <a:r>
              <a:rPr lang="en-US" sz="1200" b="0" i="0" kern="1200" dirty="0">
                <a:solidFill>
                  <a:schemeClr val="tx1"/>
                </a:solidFill>
                <a:effectLst/>
                <a:latin typeface="+mn-lt"/>
                <a:ea typeface="+mn-ea"/>
                <a:cs typeface="+mn-cs"/>
              </a:rPr>
              <a:t> and Orca use </a:t>
            </a:r>
            <a:r>
              <a:rPr lang="en-US" sz="1200" b="1" i="0" kern="1200" dirty="0">
                <a:solidFill>
                  <a:schemeClr val="tx1"/>
                </a:solidFill>
                <a:effectLst/>
                <a:latin typeface="+mn-lt"/>
                <a:ea typeface="+mn-ea"/>
                <a:cs typeface="+mn-cs"/>
              </a:rPr>
              <a:t>PD aggregation</a:t>
            </a:r>
            <a:r>
              <a:rPr lang="en-US" sz="1200" b="0" i="0" kern="1200" dirty="0">
                <a:solidFill>
                  <a:schemeClr val="tx1"/>
                </a:solidFill>
                <a:effectLst/>
                <a:latin typeface="+mn-lt"/>
                <a:ea typeface="+mn-ea"/>
                <a:cs typeface="+mn-cs"/>
              </a:rPr>
              <a:t>—collocating both phases on the same GPU instance. This seems natural: they share the same model weights and KV cache.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The system continuously batches requests, mixing prefill and decode operations.</a:t>
            </a:r>
          </a:p>
          <a:p>
            <a:endParaRPr lang="en-US" altLang="zh-TW"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(click)The performance metrics we care about are TTFT—Time To First Token, measuring prefill speed—and TPOT or TBT, Time Per Output Token or Time Between Tokens, measuring decode speed.</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 (click)Our goal is maximizing throughput while keeping both under SLOs, which represents the service level objective.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But there's a hidden problem here.</a:t>
            </a:r>
          </a:p>
          <a:p>
            <a:br>
              <a:rPr lang="en-US" dirty="0"/>
            </a:br>
            <a:endParaRPr lang="en-US" sz="1200" b="0" i="0" kern="1200" dirty="0">
              <a:solidFill>
                <a:schemeClr val="tx1"/>
              </a:solidFill>
              <a:effectLst/>
              <a:latin typeface="+mn-lt"/>
              <a:ea typeface="+mn-ea"/>
              <a:cs typeface="+mn-cs"/>
            </a:endParaRPr>
          </a:p>
          <a:p>
            <a:br>
              <a:rPr lang="en-US" dirty="0"/>
            </a:br>
            <a:endParaRPr lang="zh-TW" altLang="en-US" dirty="0"/>
          </a:p>
        </p:txBody>
      </p:sp>
      <p:sp>
        <p:nvSpPr>
          <p:cNvPr id="4" name="投影片編號版面配置區 3">
            <a:extLst>
              <a:ext uri="{FF2B5EF4-FFF2-40B4-BE49-F238E27FC236}">
                <a16:creationId xmlns:a16="http://schemas.microsoft.com/office/drawing/2014/main" id="{30A5B2A2-0E13-90ED-F978-C592C9252598}"/>
              </a:ext>
            </a:extLst>
          </p:cNvPr>
          <p:cNvSpPr>
            <a:spLocks noGrp="1"/>
          </p:cNvSpPr>
          <p:nvPr>
            <p:ph type="sldNum" sz="quarter" idx="10"/>
          </p:nvPr>
        </p:nvSpPr>
        <p:spPr/>
        <p:txBody>
          <a:bodyPr/>
          <a:lstStyle/>
          <a:p>
            <a:fld id="{7320D120-4707-426F-9B85-873E256A6635}" type="slidenum">
              <a:rPr lang="zh-TW" altLang="en-US" smtClean="0"/>
              <a:pPr/>
              <a:t>7</a:t>
            </a:fld>
            <a:endParaRPr lang="zh-TW" altLang="en-US"/>
          </a:p>
        </p:txBody>
      </p:sp>
    </p:spTree>
    <p:extLst>
      <p:ext uri="{BB962C8B-B14F-4D97-AF65-F5344CB8AC3E}">
        <p14:creationId xmlns:p14="http://schemas.microsoft.com/office/powerpoint/2010/main" val="2228979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D6F4D-C887-7596-1D4E-D60502C6D73C}"/>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33185F08-5BBD-1B75-732A-EBA74EA78B3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2BDDA5E-08B0-D1BD-334C-0846509AF8C2}"/>
              </a:ext>
            </a:extLst>
          </p:cNvPr>
          <p:cNvSpPr>
            <a:spLocks noGrp="1"/>
          </p:cNvSpPr>
          <p:nvPr>
            <p:ph type="body" idx="1"/>
          </p:nvPr>
        </p:nvSpPr>
        <p:spPr/>
        <p:txBody>
          <a:bodyPr>
            <a:normAutofit fontScale="92500" lnSpcReduction="20000"/>
          </a:bodyPr>
          <a:lstStyle/>
          <a:p>
            <a:r>
              <a:rPr lang="en-US" sz="1200" b="0" i="0" kern="1200" dirty="0">
                <a:solidFill>
                  <a:schemeClr val="tx1"/>
                </a:solidFill>
                <a:effectLst/>
                <a:latin typeface="+mn-lt"/>
                <a:ea typeface="+mn-ea"/>
                <a:cs typeface="+mn-cs"/>
              </a:rPr>
              <a:t>Colocation creates </a:t>
            </a:r>
            <a:r>
              <a:rPr lang="en-US" sz="1200" b="1" i="0" kern="1200" dirty="0">
                <a:solidFill>
                  <a:schemeClr val="tx1"/>
                </a:solidFill>
                <a:effectLst/>
                <a:latin typeface="+mn-lt"/>
                <a:ea typeface="+mn-ea"/>
                <a:cs typeface="+mn-cs"/>
              </a:rPr>
              <a:t>prefill-decode interference</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Look at this characterization: prefill is compute-bound, prefers large batch sizes and high intra-op parallelism to maximize FLOPS.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Decode is memory-bound, needs small batches to maintain low latency.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When they share the same GPU, each fights for resources.</a:t>
            </a:r>
          </a:p>
          <a:p>
            <a:endParaRPr lang="en-US" altLang="zh-TW"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figure shows what happens during inference.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When a large prefill batch arrives, it dominates the GPU, stalling all decodes in progress. This creates unpredictable latency spikes.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With tight SLOs—say 50ms per token—this is catastrophic.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You can see how </a:t>
            </a:r>
            <a:r>
              <a:rPr lang="en-US" sz="1200" b="0" i="0" kern="1200" dirty="0" err="1">
                <a:solidFill>
                  <a:schemeClr val="tx1"/>
                </a:solidFill>
                <a:effectLst/>
                <a:latin typeface="+mn-lt"/>
                <a:ea typeface="+mn-ea"/>
                <a:cs typeface="+mn-cs"/>
              </a:rPr>
              <a:t>prefill's</a:t>
            </a:r>
            <a:r>
              <a:rPr lang="en-US" sz="1200" b="0" i="0" kern="1200" dirty="0">
                <a:solidFill>
                  <a:schemeClr val="tx1"/>
                </a:solidFill>
                <a:effectLst/>
                <a:latin typeface="+mn-lt"/>
                <a:ea typeface="+mn-ea"/>
                <a:cs typeface="+mn-cs"/>
              </a:rPr>
              <a:t> demand for large batches conflicts with </a:t>
            </a:r>
            <a:r>
              <a:rPr lang="en-US" sz="1200" b="0" i="0" kern="1200" dirty="0" err="1">
                <a:solidFill>
                  <a:schemeClr val="tx1"/>
                </a:solidFill>
                <a:effectLst/>
                <a:latin typeface="+mn-lt"/>
                <a:ea typeface="+mn-ea"/>
                <a:cs typeface="+mn-cs"/>
              </a:rPr>
              <a:t>decode's</a:t>
            </a:r>
            <a:r>
              <a:rPr lang="en-US" sz="1200" b="0" i="0" kern="1200" dirty="0">
                <a:solidFill>
                  <a:schemeClr val="tx1"/>
                </a:solidFill>
                <a:effectLst/>
                <a:latin typeface="+mn-lt"/>
                <a:ea typeface="+mn-ea"/>
                <a:cs typeface="+mn-cs"/>
              </a:rPr>
              <a:t> need for responsiveness(</a:t>
            </a:r>
            <a:r>
              <a:rPr lang="en-US" sz="1200" b="0" i="0" kern="1200" dirty="0" err="1">
                <a:solidFill>
                  <a:schemeClr val="tx1"/>
                </a:solidFill>
                <a:effectLst/>
                <a:latin typeface="+mn-lt"/>
                <a:ea typeface="+mn-ea"/>
                <a:cs typeface="+mn-cs"/>
              </a:rPr>
              <a:t>rəˈspänsivnəs</a:t>
            </a:r>
            <a:r>
              <a:rPr lang="en-US" sz="1200" b="0" i="0" kern="1200" dirty="0">
                <a:solidFill>
                  <a:schemeClr val="tx1"/>
                </a:solidFill>
                <a:effectLst/>
                <a:latin typeface="+mn-lt"/>
                <a:ea typeface="+mn-ea"/>
                <a:cs typeface="+mn-cs"/>
              </a:rPr>
              <a:t>).</a:t>
            </a:r>
          </a:p>
          <a:p>
            <a:endParaRPr lang="en-US" altLang="zh-TW"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interference is not a minor inefficiency—it's a fundamental architectural limitation that becomes more severe as context lengths grow. Modern workloads regularly see 128K token contexts, making prefill operations extremely long-running.</a:t>
            </a:r>
          </a:p>
          <a:p>
            <a:endParaRPr lang="en-US" altLang="zh-TW" sz="1200" b="0" i="0" kern="1200" dirty="0">
              <a:solidFill>
                <a:schemeClr val="tx1"/>
              </a:solidFill>
              <a:effectLst/>
              <a:latin typeface="+mn-lt"/>
              <a:ea typeface="+mn-ea"/>
              <a:cs typeface="+mn-cs"/>
            </a:endParaRPr>
          </a:p>
          <a:p>
            <a:br>
              <a:rPr lang="en-US" dirty="0"/>
            </a:br>
            <a:endParaRPr lang="zh-TW" altLang="en-US" dirty="0"/>
          </a:p>
        </p:txBody>
      </p:sp>
      <p:sp>
        <p:nvSpPr>
          <p:cNvPr id="4" name="投影片編號版面配置區 3">
            <a:extLst>
              <a:ext uri="{FF2B5EF4-FFF2-40B4-BE49-F238E27FC236}">
                <a16:creationId xmlns:a16="http://schemas.microsoft.com/office/drawing/2014/main" id="{7FDB12E5-C07B-867C-ACE1-2FF0418027EA}"/>
              </a:ext>
            </a:extLst>
          </p:cNvPr>
          <p:cNvSpPr>
            <a:spLocks noGrp="1"/>
          </p:cNvSpPr>
          <p:nvPr>
            <p:ph type="sldNum" sz="quarter" idx="10"/>
          </p:nvPr>
        </p:nvSpPr>
        <p:spPr/>
        <p:txBody>
          <a:bodyPr/>
          <a:lstStyle/>
          <a:p>
            <a:fld id="{7320D120-4707-426F-9B85-873E256A6635}" type="slidenum">
              <a:rPr lang="zh-TW" altLang="en-US" smtClean="0"/>
              <a:pPr/>
              <a:t>8</a:t>
            </a:fld>
            <a:endParaRPr lang="zh-TW" altLang="en-US"/>
          </a:p>
        </p:txBody>
      </p:sp>
    </p:spTree>
    <p:extLst>
      <p:ext uri="{BB962C8B-B14F-4D97-AF65-F5344CB8AC3E}">
        <p14:creationId xmlns:p14="http://schemas.microsoft.com/office/powerpoint/2010/main" val="2794807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C0994-EC30-330B-AC9B-3CE82DD158DE}"/>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8A843A6-4235-9C4B-881F-B54337928AE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0C46ABC-9383-98C5-0DD6-879E1E818674}"/>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Now, let's examine how three different systems attack this problem.</a:t>
            </a:r>
          </a:p>
          <a:p>
            <a:endParaRPr lang="zh-TW" altLang="en-US" dirty="0"/>
          </a:p>
        </p:txBody>
      </p:sp>
      <p:sp>
        <p:nvSpPr>
          <p:cNvPr id="4" name="投影片編號版面配置區 3">
            <a:extLst>
              <a:ext uri="{FF2B5EF4-FFF2-40B4-BE49-F238E27FC236}">
                <a16:creationId xmlns:a16="http://schemas.microsoft.com/office/drawing/2014/main" id="{69365E17-6309-3E3F-3DD6-EB0FE110F94F}"/>
              </a:ext>
            </a:extLst>
          </p:cNvPr>
          <p:cNvSpPr>
            <a:spLocks noGrp="1"/>
          </p:cNvSpPr>
          <p:nvPr>
            <p:ph type="sldNum" sz="quarter" idx="10"/>
          </p:nvPr>
        </p:nvSpPr>
        <p:spPr/>
        <p:txBody>
          <a:bodyPr/>
          <a:lstStyle/>
          <a:p>
            <a:fld id="{7320D120-4707-426F-9B85-873E256A6635}" type="slidenum">
              <a:rPr lang="zh-TW" altLang="en-US" smtClean="0"/>
              <a:pPr/>
              <a:t>9</a:t>
            </a:fld>
            <a:endParaRPr lang="zh-TW" altLang="en-US"/>
          </a:p>
        </p:txBody>
      </p:sp>
    </p:spTree>
    <p:extLst>
      <p:ext uri="{BB962C8B-B14F-4D97-AF65-F5344CB8AC3E}">
        <p14:creationId xmlns:p14="http://schemas.microsoft.com/office/powerpoint/2010/main" val="2025261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985C5-898F-5906-E3DB-14D209E03989}"/>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F11E1058-ABD2-A850-2061-19C608F91AB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80BECA4-F8F9-E105-316F-E60DE2580243}"/>
              </a:ext>
            </a:extLst>
          </p:cNvPr>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First up is </a:t>
            </a:r>
            <a:r>
              <a:rPr lang="en-US" sz="1200" b="1" i="0" kern="1200" dirty="0">
                <a:solidFill>
                  <a:schemeClr val="tx1"/>
                </a:solidFill>
                <a:effectLst/>
                <a:latin typeface="+mn-lt"/>
                <a:ea typeface="+mn-ea"/>
                <a:cs typeface="+mn-cs"/>
              </a:rPr>
              <a:t>Mooncake</a:t>
            </a:r>
            <a:r>
              <a:rPr lang="en-US" sz="1200" b="0" i="0" kern="1200" dirty="0">
                <a:solidFill>
                  <a:schemeClr val="tx1"/>
                </a:solidFill>
                <a:effectLst/>
                <a:latin typeface="+mn-lt"/>
                <a:ea typeface="+mn-ea"/>
                <a:cs typeface="+mn-cs"/>
              </a:rPr>
              <a:t>, the serving platform for Kimi, developed by Moonshot AI. This is arguably the most mature production deployment of PD disaggregation, handling over 100 billion tokens daily across thousands of nodes.</a:t>
            </a:r>
          </a:p>
          <a:p>
            <a:endParaRPr lang="en-US" altLang="zh-TW"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Mooncake's architecture is </a:t>
            </a:r>
            <a:r>
              <a:rPr lang="en-US" sz="1200" b="1" i="0" kern="1200" dirty="0" err="1">
                <a:solidFill>
                  <a:schemeClr val="tx1"/>
                </a:solidFill>
                <a:effectLst/>
                <a:latin typeface="+mn-lt"/>
                <a:ea typeface="+mn-ea"/>
                <a:cs typeface="+mn-cs"/>
              </a:rPr>
              <a:t>KVCache</a:t>
            </a:r>
            <a:r>
              <a:rPr lang="en-US" sz="1200" b="1" i="0" kern="1200" dirty="0">
                <a:solidFill>
                  <a:schemeClr val="tx1"/>
                </a:solidFill>
                <a:effectLst/>
                <a:latin typeface="+mn-lt"/>
                <a:ea typeface="+mn-ea"/>
                <a:cs typeface="+mn-cs"/>
              </a:rPr>
              <a:t>-centric</a:t>
            </a:r>
            <a:r>
              <a:rPr lang="en-US" sz="1200" b="0" i="0" kern="1200" dirty="0">
                <a:solidFill>
                  <a:schemeClr val="tx1"/>
                </a:solidFill>
                <a:effectLst/>
                <a:latin typeface="+mn-lt"/>
                <a:ea typeface="+mn-ea"/>
                <a:cs typeface="+mn-cs"/>
              </a:rPr>
              <a:t>. It doesn't just separate prefill and decode—it creates a global, distributed </a:t>
            </a:r>
            <a:r>
              <a:rPr lang="en-US" sz="1200" b="0" i="0" kern="1200" dirty="0" err="1">
                <a:solidFill>
                  <a:schemeClr val="tx1"/>
                </a:solidFill>
                <a:effectLst/>
                <a:latin typeface="+mn-lt"/>
                <a:ea typeface="+mn-ea"/>
                <a:cs typeface="+mn-cs"/>
              </a:rPr>
              <a:t>KVCache</a:t>
            </a:r>
            <a:r>
              <a:rPr lang="en-US" sz="1200" b="0" i="0" kern="1200" dirty="0">
                <a:solidFill>
                  <a:schemeClr val="tx1"/>
                </a:solidFill>
                <a:effectLst/>
                <a:latin typeface="+mn-lt"/>
                <a:ea typeface="+mn-ea"/>
                <a:cs typeface="+mn-cs"/>
              </a:rPr>
              <a:t> pool using underutilized CPU, DRAM, SSD, and RDMA resources across the cluster.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Conductor is the global scheduler that orchestrates everything: </a:t>
            </a:r>
            <a:r>
              <a:rPr lang="en-US" sz="1200" b="0" i="0" kern="1200" dirty="0" err="1">
                <a:solidFill>
                  <a:schemeClr val="tx1"/>
                </a:solidFill>
                <a:effectLst/>
                <a:latin typeface="+mn-lt"/>
                <a:ea typeface="+mn-ea"/>
                <a:cs typeface="+mn-cs"/>
              </a:rPr>
              <a:t>KVCache</a:t>
            </a:r>
            <a:r>
              <a:rPr lang="en-US" sz="1200" b="0" i="0" kern="1200" dirty="0">
                <a:solidFill>
                  <a:schemeClr val="tx1"/>
                </a:solidFill>
                <a:effectLst/>
                <a:latin typeface="+mn-lt"/>
                <a:ea typeface="+mn-ea"/>
                <a:cs typeface="+mn-cs"/>
              </a:rPr>
              <a:t> reuse, prefill instance selection, and decode load balancing.</a:t>
            </a:r>
          </a:p>
          <a:p>
            <a:endParaRPr lang="en-US" altLang="zh-TW"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Notice the disaggregation at two levels: </a:t>
            </a:r>
          </a:p>
          <a:p>
            <a:r>
              <a:rPr lang="en-US" sz="1200" b="0" i="0" kern="1200" dirty="0">
                <a:solidFill>
                  <a:schemeClr val="tx1"/>
                </a:solidFill>
                <a:effectLst/>
                <a:latin typeface="+mn-lt"/>
                <a:ea typeface="+mn-ea"/>
                <a:cs typeface="+mn-cs"/>
              </a:rPr>
              <a:t>First, prefill and decode nodes are separate. </a:t>
            </a:r>
          </a:p>
          <a:p>
            <a:r>
              <a:rPr lang="en-US" sz="1200" b="0" i="0" kern="1200" dirty="0">
                <a:solidFill>
                  <a:schemeClr val="tx1"/>
                </a:solidFill>
                <a:effectLst/>
                <a:latin typeface="+mn-lt"/>
                <a:ea typeface="+mn-ea"/>
                <a:cs typeface="+mn-cs"/>
              </a:rPr>
              <a:t>Second, </a:t>
            </a:r>
            <a:r>
              <a:rPr lang="en-US" sz="1200" b="0" i="0" kern="1200" dirty="0" err="1">
                <a:solidFill>
                  <a:schemeClr val="tx1"/>
                </a:solidFill>
                <a:effectLst/>
                <a:latin typeface="+mn-lt"/>
                <a:ea typeface="+mn-ea"/>
                <a:cs typeface="+mn-cs"/>
              </a:rPr>
              <a:t>KVCache</a:t>
            </a:r>
            <a:r>
              <a:rPr lang="en-US" sz="1200" b="0" i="0" kern="1200" dirty="0">
                <a:solidFill>
                  <a:schemeClr val="tx1"/>
                </a:solidFill>
                <a:effectLst/>
                <a:latin typeface="+mn-lt"/>
                <a:ea typeface="+mn-ea"/>
                <a:cs typeface="+mn-cs"/>
              </a:rPr>
              <a:t> is decoupled from GPU memory and stored in a distributed pool. </a:t>
            </a:r>
          </a:p>
          <a:p>
            <a:r>
              <a:rPr lang="en-US" sz="1200" b="0" i="0" kern="1200" dirty="0">
                <a:solidFill>
                  <a:schemeClr val="tx1"/>
                </a:solidFill>
                <a:effectLst/>
                <a:latin typeface="+mn-lt"/>
                <a:ea typeface="+mn-ea"/>
                <a:cs typeface="+mn-cs"/>
              </a:rPr>
              <a:t>This allows fast cache sharing across sessions and requests.</a:t>
            </a:r>
            <a:endParaRPr lang="zh-TW" altLang="en-US" dirty="0"/>
          </a:p>
        </p:txBody>
      </p:sp>
      <p:sp>
        <p:nvSpPr>
          <p:cNvPr id="4" name="投影片編號版面配置區 3">
            <a:extLst>
              <a:ext uri="{FF2B5EF4-FFF2-40B4-BE49-F238E27FC236}">
                <a16:creationId xmlns:a16="http://schemas.microsoft.com/office/drawing/2014/main" id="{5A58348C-9210-5D4F-D0F0-55B768C1A207}"/>
              </a:ext>
            </a:extLst>
          </p:cNvPr>
          <p:cNvSpPr>
            <a:spLocks noGrp="1"/>
          </p:cNvSpPr>
          <p:nvPr>
            <p:ph type="sldNum" sz="quarter" idx="10"/>
          </p:nvPr>
        </p:nvSpPr>
        <p:spPr/>
        <p:txBody>
          <a:bodyPr/>
          <a:lstStyle/>
          <a:p>
            <a:fld id="{7320D120-4707-426F-9B85-873E256A6635}" type="slidenum">
              <a:rPr lang="zh-TW" altLang="en-US" smtClean="0"/>
              <a:pPr/>
              <a:t>10</a:t>
            </a:fld>
            <a:endParaRPr lang="zh-TW" altLang="en-US"/>
          </a:p>
        </p:txBody>
      </p:sp>
    </p:spTree>
    <p:extLst>
      <p:ext uri="{BB962C8B-B14F-4D97-AF65-F5344CB8AC3E}">
        <p14:creationId xmlns:p14="http://schemas.microsoft.com/office/powerpoint/2010/main" val="941412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DAFA5-F35A-25B5-064D-72E0B90BF87F}"/>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A659371C-1BEC-A027-FF71-3B8EF2E9FF1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EA9C069-CDD3-77B9-9BB0-D0997EEE323A}"/>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79F72CEB-9B72-0859-4694-F6076BDA10CA}"/>
              </a:ext>
            </a:extLst>
          </p:cNvPr>
          <p:cNvSpPr>
            <a:spLocks noGrp="1"/>
          </p:cNvSpPr>
          <p:nvPr>
            <p:ph type="sldNum" sz="quarter" idx="10"/>
          </p:nvPr>
        </p:nvSpPr>
        <p:spPr/>
        <p:txBody>
          <a:bodyPr/>
          <a:lstStyle/>
          <a:p>
            <a:fld id="{7320D120-4707-426F-9B85-873E256A6635}" type="slidenum">
              <a:rPr lang="zh-TW" altLang="en-US" smtClean="0"/>
              <a:pPr/>
              <a:t>11</a:t>
            </a:fld>
            <a:endParaRPr lang="zh-TW" altLang="en-US"/>
          </a:p>
        </p:txBody>
      </p:sp>
    </p:spTree>
    <p:extLst>
      <p:ext uri="{BB962C8B-B14F-4D97-AF65-F5344CB8AC3E}">
        <p14:creationId xmlns:p14="http://schemas.microsoft.com/office/powerpoint/2010/main" val="28734636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095F3-1B25-59E2-DA0C-EFB68964C4FC}"/>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F0DA30C-C7D0-D2A1-809E-60E508128DA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6680DF9-3C10-7306-8B5C-A62FB64CE861}"/>
              </a:ext>
            </a:extLst>
          </p:cNvPr>
          <p:cNvSpPr>
            <a:spLocks noGrp="1"/>
          </p:cNvSpPr>
          <p:nvPr>
            <p:ph type="body" idx="1"/>
          </p:nvPr>
        </p:nvSpPr>
        <p:spPr/>
        <p:txBody>
          <a:bodyPr>
            <a:normAutofit fontScale="85000" lnSpcReduction="20000"/>
          </a:bodyPr>
          <a:lstStyle/>
          <a:p>
            <a:pPr fontAlgn="base"/>
            <a:r>
              <a:rPr lang="en-US" sz="1200" b="0" i="0" kern="1200" dirty="0">
                <a:solidFill>
                  <a:schemeClr val="tx1"/>
                </a:solidFill>
                <a:effectLst/>
                <a:latin typeface="+mn-lt"/>
                <a:ea typeface="+mn-ea"/>
                <a:cs typeface="+mn-cs"/>
              </a:rPr>
              <a:t>Let's walk through a request's lifecycle, shown here in four steps:</a:t>
            </a:r>
          </a:p>
          <a:p>
            <a:pPr fontAlgn="base"/>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(click)</a:t>
            </a:r>
            <a:r>
              <a:rPr lang="en-US" sz="1200" b="1" i="0" kern="1200" dirty="0" err="1">
                <a:solidFill>
                  <a:schemeClr val="tx1"/>
                </a:solidFill>
                <a:effectLst/>
                <a:latin typeface="+mn-lt"/>
                <a:ea typeface="+mn-ea"/>
                <a:cs typeface="+mn-cs"/>
              </a:rPr>
              <a:t>KVCache</a:t>
            </a:r>
            <a:r>
              <a:rPr lang="en-US" sz="1200" b="1" i="0" kern="1200" dirty="0">
                <a:solidFill>
                  <a:schemeClr val="tx1"/>
                </a:solidFill>
                <a:effectLst/>
                <a:latin typeface="+mn-lt"/>
                <a:ea typeface="+mn-ea"/>
                <a:cs typeface="+mn-cs"/>
              </a:rPr>
              <a:t> Reuse</a:t>
            </a:r>
            <a:r>
              <a:rPr lang="en-US" sz="1200" b="0" i="0" kern="1200" dirty="0">
                <a:solidFill>
                  <a:schemeClr val="tx1"/>
                </a:solidFill>
                <a:effectLst/>
                <a:latin typeface="+mn-lt"/>
                <a:ea typeface="+mn-ea"/>
                <a:cs typeface="+mn-cs"/>
              </a:rPr>
              <a:t>: When a request arrives, the Conductor identifies reusable prefix </a:t>
            </a:r>
            <a:r>
              <a:rPr lang="en-US" sz="1200" b="0" i="0" kern="1200" dirty="0" err="1">
                <a:solidFill>
                  <a:schemeClr val="tx1"/>
                </a:solidFill>
                <a:effectLst/>
                <a:latin typeface="+mn-lt"/>
                <a:ea typeface="+mn-ea"/>
                <a:cs typeface="+mn-cs"/>
              </a:rPr>
              <a:t>KVCache</a:t>
            </a:r>
            <a:r>
              <a:rPr lang="en-US" sz="1200" b="0" i="0" kern="1200" dirty="0">
                <a:solidFill>
                  <a:schemeClr val="tx1"/>
                </a:solidFill>
                <a:effectLst/>
                <a:latin typeface="+mn-lt"/>
                <a:ea typeface="+mn-ea"/>
                <a:cs typeface="+mn-cs"/>
              </a:rPr>
              <a:t> blocks from previous conversations.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It loads these from remote CPU memory into the prefill GPU.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For multi-turn chats, this can reuse 40-60% of computation.</a:t>
            </a:r>
          </a:p>
          <a:p>
            <a:pPr fontAlgn="base"/>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(click)Incremental Prefill</a:t>
            </a:r>
            <a:r>
              <a:rPr lang="en-US" sz="1200" b="0" i="0" kern="1200" dirty="0">
                <a:solidFill>
                  <a:schemeClr val="tx1"/>
                </a:solidFill>
                <a:effectLst/>
                <a:latin typeface="+mn-lt"/>
                <a:ea typeface="+mn-ea"/>
                <a:cs typeface="+mn-cs"/>
              </a:rPr>
              <a:t>: The prefill node processes only the </a:t>
            </a:r>
            <a:r>
              <a:rPr lang="en-US" sz="1200" b="0" i="1" kern="1200" dirty="0">
                <a:solidFill>
                  <a:schemeClr val="tx1"/>
                </a:solidFill>
                <a:effectLst/>
                <a:latin typeface="+mn-lt"/>
                <a:ea typeface="+mn-ea"/>
                <a:cs typeface="+mn-cs"/>
              </a:rPr>
              <a:t>new</a:t>
            </a:r>
            <a:r>
              <a:rPr lang="en-US" sz="1200" b="0" i="0" kern="1200" dirty="0">
                <a:solidFill>
                  <a:schemeClr val="tx1"/>
                </a:solidFill>
                <a:effectLst/>
                <a:latin typeface="+mn-lt"/>
                <a:ea typeface="+mn-ea"/>
                <a:cs typeface="+mn-cs"/>
              </a:rPr>
              <a:t> tokens not in cache, storing results back to CPU memory.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For long contexts exceeding 1000 tokens, it uses chunked pipeline parallelism—splitting across multiple nodes to reduce TTFT.</a:t>
            </a:r>
          </a:p>
          <a:p>
            <a:pPr fontAlgn="base"/>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(click)</a:t>
            </a:r>
            <a:r>
              <a:rPr lang="en-US" sz="1200" b="1" i="0" kern="1200" dirty="0" err="1">
                <a:solidFill>
                  <a:schemeClr val="tx1"/>
                </a:solidFill>
                <a:effectLst/>
                <a:latin typeface="+mn-lt"/>
                <a:ea typeface="+mn-ea"/>
                <a:cs typeface="+mn-cs"/>
              </a:rPr>
              <a:t>KVCache</a:t>
            </a:r>
            <a:r>
              <a:rPr lang="en-US" sz="1200" b="1" i="0" kern="1200" dirty="0">
                <a:solidFill>
                  <a:schemeClr val="tx1"/>
                </a:solidFill>
                <a:effectLst/>
                <a:latin typeface="+mn-lt"/>
                <a:ea typeface="+mn-ea"/>
                <a:cs typeface="+mn-cs"/>
              </a:rPr>
              <a:t> Transfer</a:t>
            </a:r>
            <a:r>
              <a:rPr lang="en-US" sz="1200" b="0" i="0" kern="1200" dirty="0">
                <a:solidFill>
                  <a:schemeClr val="tx1"/>
                </a:solidFill>
                <a:effectLst/>
                <a:latin typeface="+mn-lt"/>
                <a:ea typeface="+mn-ea"/>
                <a:cs typeface="+mn-cs"/>
              </a:rPr>
              <a:t>: As each layer completes, its </a:t>
            </a:r>
            <a:r>
              <a:rPr lang="en-US" sz="1200" b="0" i="0" kern="1200" dirty="0" err="1">
                <a:solidFill>
                  <a:schemeClr val="tx1"/>
                </a:solidFill>
                <a:effectLst/>
                <a:latin typeface="+mn-lt"/>
                <a:ea typeface="+mn-ea"/>
                <a:cs typeface="+mn-cs"/>
              </a:rPr>
              <a:t>KVCache</a:t>
            </a:r>
            <a:r>
              <a:rPr lang="en-US" sz="1200" b="0" i="0" kern="1200" dirty="0">
                <a:solidFill>
                  <a:schemeClr val="tx1"/>
                </a:solidFill>
                <a:effectLst/>
                <a:latin typeface="+mn-lt"/>
                <a:ea typeface="+mn-ea"/>
                <a:cs typeface="+mn-cs"/>
              </a:rPr>
              <a:t> is streamed asynchronously to the target decode node's CPU memory, overlapping computation with communication.</a:t>
            </a:r>
          </a:p>
          <a:p>
            <a:pPr fontAlgn="base"/>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(click)Decoding</a:t>
            </a:r>
            <a:r>
              <a:rPr lang="en-US" sz="1200" b="0" i="0" kern="1200" dirty="0">
                <a:solidFill>
                  <a:schemeClr val="tx1"/>
                </a:solidFill>
                <a:effectLst/>
                <a:latin typeface="+mn-lt"/>
                <a:ea typeface="+mn-ea"/>
                <a:cs typeface="+mn-cs"/>
              </a:rPr>
              <a:t>: Once all </a:t>
            </a:r>
            <a:r>
              <a:rPr lang="en-US" sz="1200" b="0" i="0" kern="1200" dirty="0" err="1">
                <a:solidFill>
                  <a:schemeClr val="tx1"/>
                </a:solidFill>
                <a:effectLst/>
                <a:latin typeface="+mn-lt"/>
                <a:ea typeface="+mn-ea"/>
                <a:cs typeface="+mn-cs"/>
              </a:rPr>
              <a:t>KVCache</a:t>
            </a:r>
            <a:r>
              <a:rPr lang="en-US" sz="1200" b="0" i="0" kern="1200" dirty="0">
                <a:solidFill>
                  <a:schemeClr val="tx1"/>
                </a:solidFill>
                <a:effectLst/>
                <a:latin typeface="+mn-lt"/>
                <a:ea typeface="+mn-ea"/>
                <a:cs typeface="+mn-cs"/>
              </a:rPr>
              <a:t> arrives, the request joins a continuous batch on the decode node for autoregressive generation.</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This pipelined approach hides transfer latency.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timeline shows how steps 2 and 3 overlap, with transfer happening layer-by-layer as prefill progresses.</a:t>
            </a:r>
          </a:p>
          <a:p>
            <a:br>
              <a:rPr lang="en-US" dirty="0"/>
            </a:br>
            <a:endParaRPr lang="en-US" altLang="zh-CN" sz="1800" dirty="0">
              <a:latin typeface="+mn-lt"/>
              <a:cs typeface="Times New Roman" panose="02020603050405020304" pitchFamily="18" charset="0"/>
            </a:endParaRPr>
          </a:p>
          <a:p>
            <a:pPr lvl="2">
              <a:buClr>
                <a:schemeClr val="accent4"/>
              </a:buClr>
              <a:buFont typeface="Wingdings" pitchFamily="2" charset="2"/>
              <a:buChar char="v"/>
            </a:pPr>
            <a:endParaRPr lang="en-US" altLang="zh-CN" sz="1800" dirty="0">
              <a:latin typeface="Arial" panose="020B0604020202020204" pitchFamily="34" charset="0"/>
              <a:cs typeface="Arial" panose="020B0604020202020204" pitchFamily="34" charset="0"/>
            </a:endParaRPr>
          </a:p>
          <a:p>
            <a:pPr lvl="2">
              <a:buClr>
                <a:schemeClr val="accent4"/>
              </a:buClr>
              <a:buFont typeface="Courier New" panose="02070309020205020404" pitchFamily="49" charset="0"/>
              <a:buChar char="o"/>
            </a:pPr>
            <a:endParaRPr lang="en-US" altLang="zh-CN" sz="1267" dirty="0">
              <a:latin typeface="Arial" panose="020B0604020202020204" pitchFamily="34" charset="0"/>
              <a:cs typeface="Arial" panose="020B0604020202020204" pitchFamily="34" charset="0"/>
            </a:endParaRPr>
          </a:p>
          <a:p>
            <a:endParaRPr lang="zh-TW" altLang="en-US" dirty="0"/>
          </a:p>
        </p:txBody>
      </p:sp>
      <p:sp>
        <p:nvSpPr>
          <p:cNvPr id="4" name="投影片編號版面配置區 3">
            <a:extLst>
              <a:ext uri="{FF2B5EF4-FFF2-40B4-BE49-F238E27FC236}">
                <a16:creationId xmlns:a16="http://schemas.microsoft.com/office/drawing/2014/main" id="{1D57CBB2-20C1-6B06-D331-50DDBD148C2B}"/>
              </a:ext>
            </a:extLst>
          </p:cNvPr>
          <p:cNvSpPr>
            <a:spLocks noGrp="1"/>
          </p:cNvSpPr>
          <p:nvPr>
            <p:ph type="sldNum" sz="quarter" idx="10"/>
          </p:nvPr>
        </p:nvSpPr>
        <p:spPr/>
        <p:txBody>
          <a:bodyPr/>
          <a:lstStyle/>
          <a:p>
            <a:fld id="{7320D120-4707-426F-9B85-873E256A6635}" type="slidenum">
              <a:rPr lang="zh-TW" altLang="en-US" smtClean="0"/>
              <a:pPr/>
              <a:t>12</a:t>
            </a:fld>
            <a:endParaRPr lang="zh-TW" altLang="en-US"/>
          </a:p>
        </p:txBody>
      </p:sp>
    </p:spTree>
    <p:extLst>
      <p:ext uri="{BB962C8B-B14F-4D97-AF65-F5344CB8AC3E}">
        <p14:creationId xmlns:p14="http://schemas.microsoft.com/office/powerpoint/2010/main" val="1262837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03648-9192-5EA6-4EA2-92FBB402B5C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326756C2-0905-5821-778E-E4C9658AEB8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6C2A553-BCE6-77CA-F7FC-D5E6745D610B}"/>
              </a:ext>
            </a:extLst>
          </p:cNvPr>
          <p:cNvSpPr>
            <a:spLocks noGrp="1"/>
          </p:cNvSpPr>
          <p:nvPr>
            <p:ph type="body" idx="1"/>
          </p:nvPr>
        </p:nvSpPr>
        <p:spPr/>
        <p:txBody>
          <a:bodyPr>
            <a:normAutofit lnSpcReduction="10000"/>
          </a:bodyPr>
          <a:lstStyle/>
          <a:p>
            <a:r>
              <a:rPr lang="en-US" sz="1200" b="0" i="0" kern="1200" dirty="0">
                <a:solidFill>
                  <a:schemeClr val="tx1"/>
                </a:solidFill>
                <a:effectLst/>
                <a:latin typeface="+mn-lt"/>
                <a:ea typeface="+mn-ea"/>
                <a:cs typeface="+mn-cs"/>
              </a:rPr>
              <a:t>The evaluation shows dramatic improvements. On real workloads, Mooncake achieves </a:t>
            </a:r>
            <a:r>
              <a:rPr lang="en-US" sz="1200" b="1" i="0" kern="1200" dirty="0">
                <a:solidFill>
                  <a:schemeClr val="tx1"/>
                </a:solidFill>
                <a:effectLst/>
                <a:latin typeface="+mn-lt"/>
                <a:ea typeface="+mn-ea"/>
                <a:cs typeface="+mn-cs"/>
              </a:rPr>
              <a:t>59% to 498% higher effective request capacity</a:t>
            </a:r>
            <a:r>
              <a:rPr lang="en-US" sz="1200" b="0" i="0" kern="1200" dirty="0">
                <a:solidFill>
                  <a:schemeClr val="tx1"/>
                </a:solidFill>
                <a:effectLst/>
                <a:latin typeface="+mn-lt"/>
                <a:ea typeface="+mn-ea"/>
                <a:cs typeface="+mn-cs"/>
              </a:rPr>
              <a:t> compared to </a:t>
            </a:r>
            <a:r>
              <a:rPr lang="en-US" sz="1200" b="0" i="0" kern="1200" dirty="0" err="1">
                <a:solidFill>
                  <a:schemeClr val="tx1"/>
                </a:solidFill>
                <a:effectLst/>
                <a:latin typeface="+mn-lt"/>
                <a:ea typeface="+mn-ea"/>
                <a:cs typeface="+mn-cs"/>
              </a:rPr>
              <a:t>vLLM</a:t>
            </a:r>
            <a:r>
              <a:rPr lang="en-US" sz="1200" b="0" i="0" kern="1200" dirty="0">
                <a:solidFill>
                  <a:schemeClr val="tx1"/>
                </a:solidFill>
                <a:effectLst/>
                <a:latin typeface="+mn-lt"/>
                <a:ea typeface="+mn-ea"/>
                <a:cs typeface="+mn-cs"/>
              </a:rPr>
              <a:t> while meeting SLOs.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key graphs show:</a:t>
            </a:r>
          </a:p>
          <a:p>
            <a:endParaRPr lang="en-US" altLang="zh-TW"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Considering End-to-end latency distributions: </a:t>
            </a:r>
          </a:p>
          <a:p>
            <a:pPr fontAlgn="base"/>
            <a:r>
              <a:rPr lang="en-US" sz="1200" b="0" i="0" kern="1200" dirty="0">
                <a:solidFill>
                  <a:schemeClr val="tx1"/>
                </a:solidFill>
                <a:effectLst/>
                <a:latin typeface="+mn-lt"/>
                <a:ea typeface="+mn-ea"/>
                <a:cs typeface="+mn-cs"/>
              </a:rPr>
              <a:t>Mooncake maintains tight TTFT and TBT clusters within SLO bounds, while </a:t>
            </a:r>
            <a:r>
              <a:rPr lang="en-US" sz="1200" b="0" i="0" kern="1200" dirty="0" err="1">
                <a:solidFill>
                  <a:schemeClr val="tx1"/>
                </a:solidFill>
                <a:effectLst/>
                <a:latin typeface="+mn-lt"/>
                <a:ea typeface="+mn-ea"/>
                <a:cs typeface="+mn-cs"/>
              </a:rPr>
              <a:t>vLLM</a:t>
            </a:r>
            <a:r>
              <a:rPr lang="en-US" sz="1200" b="0" i="0" kern="1200" dirty="0">
                <a:solidFill>
                  <a:schemeClr val="tx1"/>
                </a:solidFill>
                <a:effectLst/>
                <a:latin typeface="+mn-lt"/>
                <a:ea typeface="+mn-ea"/>
                <a:cs typeface="+mn-cs"/>
              </a:rPr>
              <a:t> shows long tails.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Considering Real trace experiments: At different TBT thresholds, Mooncake consistently supports higher request rates.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architecture enables Kimi to handle </a:t>
            </a:r>
            <a:r>
              <a:rPr lang="en-US" sz="1200" b="1" i="0" kern="1200" dirty="0">
                <a:solidFill>
                  <a:schemeClr val="tx1"/>
                </a:solidFill>
                <a:effectLst/>
                <a:latin typeface="+mn-lt"/>
                <a:ea typeface="+mn-ea"/>
                <a:cs typeface="+mn-cs"/>
              </a:rPr>
              <a:t>115% more requests on A800 clusters and 107% more on H800 clusters</a:t>
            </a:r>
            <a:r>
              <a:rPr lang="en-US" sz="1200" b="0" i="0" kern="1200" dirty="0">
                <a:solidFill>
                  <a:schemeClr val="tx1"/>
                </a:solidFill>
                <a:effectLst/>
                <a:latin typeface="+mn-lt"/>
                <a:ea typeface="+mn-ea"/>
                <a:cs typeface="+mn-cs"/>
              </a:rPr>
              <a:t>.</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Mooncake's success comes from treating </a:t>
            </a:r>
            <a:r>
              <a:rPr lang="en-US" sz="1200" b="0" i="0" kern="1200" dirty="0" err="1">
                <a:solidFill>
                  <a:schemeClr val="tx1"/>
                </a:solidFill>
                <a:effectLst/>
                <a:latin typeface="+mn-lt"/>
                <a:ea typeface="+mn-ea"/>
                <a:cs typeface="+mn-cs"/>
              </a:rPr>
              <a:t>KVCache</a:t>
            </a:r>
            <a:r>
              <a:rPr lang="en-US" sz="1200" b="0" i="0" kern="1200" dirty="0">
                <a:solidFill>
                  <a:schemeClr val="tx1"/>
                </a:solidFill>
                <a:effectLst/>
                <a:latin typeface="+mn-lt"/>
                <a:ea typeface="+mn-ea"/>
                <a:cs typeface="+mn-cs"/>
              </a:rPr>
              <a:t> as a first-class resource, not just a byproduct.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distributed cache pool achieves hit rates up to 2.36x higher than local caching, saving up to 48% of prefill computation time.</a:t>
            </a:r>
            <a:endParaRPr lang="zh-TW" altLang="en-US" dirty="0"/>
          </a:p>
        </p:txBody>
      </p:sp>
      <p:sp>
        <p:nvSpPr>
          <p:cNvPr id="4" name="投影片編號版面配置區 3">
            <a:extLst>
              <a:ext uri="{FF2B5EF4-FFF2-40B4-BE49-F238E27FC236}">
                <a16:creationId xmlns:a16="http://schemas.microsoft.com/office/drawing/2014/main" id="{EEF14F00-7BB7-28A7-8186-50B8DEE59EAE}"/>
              </a:ext>
            </a:extLst>
          </p:cNvPr>
          <p:cNvSpPr>
            <a:spLocks noGrp="1"/>
          </p:cNvSpPr>
          <p:nvPr>
            <p:ph type="sldNum" sz="quarter" idx="10"/>
          </p:nvPr>
        </p:nvSpPr>
        <p:spPr/>
        <p:txBody>
          <a:bodyPr/>
          <a:lstStyle/>
          <a:p>
            <a:fld id="{7320D120-4707-426F-9B85-873E256A6635}" type="slidenum">
              <a:rPr lang="zh-TW" altLang="en-US" smtClean="0"/>
              <a:pPr/>
              <a:t>13</a:t>
            </a:fld>
            <a:endParaRPr lang="zh-TW" altLang="en-US"/>
          </a:p>
        </p:txBody>
      </p:sp>
    </p:spTree>
    <p:extLst>
      <p:ext uri="{BB962C8B-B14F-4D97-AF65-F5344CB8AC3E}">
        <p14:creationId xmlns:p14="http://schemas.microsoft.com/office/powerpoint/2010/main" val="1390784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79F3A-0554-AB9E-870A-CBCD929B951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3EC8B3C3-43A5-C671-B453-259474BB9F5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553946A-F3CB-99D9-554A-58E558A330A0}"/>
              </a:ext>
            </a:extLst>
          </p:cNvPr>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But Mooncake uses static PD separation. What if workloads are highly dynamic?</a:t>
            </a:r>
          </a:p>
          <a:p>
            <a:endParaRPr lang="en-US" altLang="zh-TW"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Enter </a:t>
            </a:r>
            <a:r>
              <a:rPr lang="en-US" sz="1200" b="1" i="0" kern="1200" dirty="0" err="1">
                <a:solidFill>
                  <a:schemeClr val="tx1"/>
                </a:solidFill>
                <a:effectLst/>
                <a:latin typeface="+mn-lt"/>
                <a:ea typeface="+mn-ea"/>
                <a:cs typeface="+mn-cs"/>
              </a:rPr>
              <a:t>DynaServe</a:t>
            </a:r>
            <a:r>
              <a:rPr lang="en-US" sz="1200" b="0" i="0" kern="1200" dirty="0">
                <a:solidFill>
                  <a:schemeClr val="tx1"/>
                </a:solidFill>
                <a:effectLst/>
                <a:latin typeface="+mn-lt"/>
                <a:ea typeface="+mn-ea"/>
                <a:cs typeface="+mn-cs"/>
              </a:rPr>
              <a:t>, which asks: Instead of static separation, can we </a:t>
            </a:r>
            <a:r>
              <a:rPr lang="en-US" sz="1200" b="1" i="0" kern="1200" dirty="0">
                <a:solidFill>
                  <a:schemeClr val="tx1"/>
                </a:solidFill>
                <a:effectLst/>
                <a:latin typeface="+mn-lt"/>
                <a:ea typeface="+mn-ea"/>
                <a:cs typeface="+mn-cs"/>
              </a:rPr>
              <a:t>adaptively partition</a:t>
            </a:r>
            <a:r>
              <a:rPr lang="en-US" sz="1200" b="0" i="0" kern="1200" dirty="0">
                <a:solidFill>
                  <a:schemeClr val="tx1"/>
                </a:solidFill>
                <a:effectLst/>
                <a:latin typeface="+mn-lt"/>
                <a:ea typeface="+mn-ea"/>
                <a:cs typeface="+mn-cs"/>
              </a:rPr>
              <a:t> each request?</a:t>
            </a:r>
          </a:p>
          <a:p>
            <a:endParaRPr lang="zh-TW" altLang="en-US" dirty="0"/>
          </a:p>
        </p:txBody>
      </p:sp>
      <p:sp>
        <p:nvSpPr>
          <p:cNvPr id="4" name="投影片編號版面配置區 3">
            <a:extLst>
              <a:ext uri="{FF2B5EF4-FFF2-40B4-BE49-F238E27FC236}">
                <a16:creationId xmlns:a16="http://schemas.microsoft.com/office/drawing/2014/main" id="{50CD8DA0-0C30-F558-E98C-1019824B10B5}"/>
              </a:ext>
            </a:extLst>
          </p:cNvPr>
          <p:cNvSpPr>
            <a:spLocks noGrp="1"/>
          </p:cNvSpPr>
          <p:nvPr>
            <p:ph type="sldNum" sz="quarter" idx="10"/>
          </p:nvPr>
        </p:nvSpPr>
        <p:spPr/>
        <p:txBody>
          <a:bodyPr/>
          <a:lstStyle/>
          <a:p>
            <a:fld id="{7320D120-4707-426F-9B85-873E256A6635}" type="slidenum">
              <a:rPr lang="zh-TW" altLang="en-US" smtClean="0"/>
              <a:pPr/>
              <a:t>14</a:t>
            </a:fld>
            <a:endParaRPr lang="zh-TW" altLang="en-US"/>
          </a:p>
        </p:txBody>
      </p:sp>
    </p:spTree>
    <p:extLst>
      <p:ext uri="{BB962C8B-B14F-4D97-AF65-F5344CB8AC3E}">
        <p14:creationId xmlns:p14="http://schemas.microsoft.com/office/powerpoint/2010/main" val="1117864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A970B-7E2D-BF59-7FE6-2391C26A7243}"/>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8443735B-6BF5-AEBE-BB4E-5415394EA77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761B04F-50EB-5215-8C81-83F1417BC00D}"/>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BBE68BB8-966F-60D6-1EAB-3F59476D3A82}"/>
              </a:ext>
            </a:extLst>
          </p:cNvPr>
          <p:cNvSpPr>
            <a:spLocks noGrp="1"/>
          </p:cNvSpPr>
          <p:nvPr>
            <p:ph type="sldNum" sz="quarter" idx="10"/>
          </p:nvPr>
        </p:nvSpPr>
        <p:spPr/>
        <p:txBody>
          <a:bodyPr/>
          <a:lstStyle/>
          <a:p>
            <a:fld id="{7320D120-4707-426F-9B85-873E256A6635}" type="slidenum">
              <a:rPr lang="zh-TW" altLang="en-US" smtClean="0"/>
              <a:pPr/>
              <a:t>15</a:t>
            </a:fld>
            <a:endParaRPr lang="zh-TW" altLang="en-US"/>
          </a:p>
        </p:txBody>
      </p:sp>
    </p:spTree>
    <p:extLst>
      <p:ext uri="{BB962C8B-B14F-4D97-AF65-F5344CB8AC3E}">
        <p14:creationId xmlns:p14="http://schemas.microsoft.com/office/powerpoint/2010/main" val="6056904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184EE-F12B-96C8-E8F9-42CA9CC5B90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D647AA4-B470-CF22-BA3A-29A53EAE9FA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9016406-E97A-A5CE-C8D1-2353AAB7D013}"/>
              </a:ext>
            </a:extLst>
          </p:cNvPr>
          <p:cNvSpPr>
            <a:spLocks noGrp="1"/>
          </p:cNvSpPr>
          <p:nvPr>
            <p:ph type="body" idx="1"/>
          </p:nvPr>
        </p:nvSpPr>
        <p:spPr/>
        <p:txBody>
          <a:bodyPr>
            <a:normAutofit/>
          </a:bodyPr>
          <a:lstStyle/>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observation behind is that both aggregation and disaggregation have drawbacks.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(click)For aggregation, …. </a:t>
            </a:r>
          </a:p>
          <a:p>
            <a:r>
              <a:rPr lang="en-US" sz="1200" b="0" i="0" kern="1200" dirty="0">
                <a:solidFill>
                  <a:schemeClr val="tx1"/>
                </a:solidFill>
                <a:effectLst/>
                <a:latin typeface="+mn-lt"/>
                <a:ea typeface="+mn-ea"/>
                <a:cs typeface="+mn-cs"/>
              </a:rPr>
              <a:t>(click)For disaggregation, …..</a:t>
            </a:r>
          </a:p>
          <a:p>
            <a:endParaRPr lang="en-US" altLang="zh-TW" sz="1200" b="0" i="0" kern="1200" dirty="0">
              <a:solidFill>
                <a:schemeClr val="tx1"/>
              </a:solidFill>
              <a:effectLst/>
              <a:latin typeface="+mn-lt"/>
              <a:ea typeface="+mn-ea"/>
              <a:cs typeface="+mn-cs"/>
            </a:endParaRPr>
          </a:p>
          <a:p>
            <a:pPr fontAlgn="base"/>
            <a:r>
              <a:rPr lang="en-US" sz="1200" b="0" i="0" kern="1200" dirty="0" err="1">
                <a:solidFill>
                  <a:schemeClr val="tx1"/>
                </a:solidFill>
                <a:effectLst/>
                <a:latin typeface="+mn-lt"/>
                <a:ea typeface="+mn-ea"/>
                <a:cs typeface="+mn-cs"/>
              </a:rPr>
              <a:t>DynaServe's</a:t>
            </a:r>
            <a:r>
              <a:rPr lang="en-US" sz="1200" b="0" i="0" kern="1200" dirty="0">
                <a:solidFill>
                  <a:schemeClr val="tx1"/>
                </a:solidFill>
                <a:effectLst/>
                <a:latin typeface="+mn-lt"/>
                <a:ea typeface="+mn-ea"/>
                <a:cs typeface="+mn-cs"/>
              </a:rPr>
              <a:t> insight is that real-world workloads like Azure Code and </a:t>
            </a:r>
            <a:r>
              <a:rPr lang="en-US" sz="1200" b="0" i="0" kern="1200" dirty="0" err="1">
                <a:solidFill>
                  <a:schemeClr val="tx1"/>
                </a:solidFill>
                <a:effectLst/>
                <a:latin typeface="+mn-lt"/>
                <a:ea typeface="+mn-ea"/>
                <a:cs typeface="+mn-cs"/>
              </a:rPr>
              <a:t>BurstGPT</a:t>
            </a:r>
            <a:r>
              <a:rPr lang="en-US" sz="1200" b="0" i="0" kern="1200" dirty="0">
                <a:solidFill>
                  <a:schemeClr val="tx1"/>
                </a:solidFill>
                <a:effectLst/>
                <a:latin typeface="+mn-lt"/>
                <a:ea typeface="+mn-ea"/>
                <a:cs typeface="+mn-cs"/>
              </a:rPr>
              <a:t> show extreme temporal variance. Some periods are prefill-heavy—imagine users pasting long documents. Other periods are decode-heavy—like extended reasoning sessions.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Static configurations waste resources.</a:t>
            </a:r>
          </a:p>
          <a:p>
            <a:br>
              <a:rPr lang="en-US" dirty="0"/>
            </a:br>
            <a:r>
              <a:rPr lang="en-US" dirty="0"/>
              <a:t>(click)</a:t>
            </a:r>
            <a:r>
              <a:rPr lang="en-US" sz="1200" b="0" i="0" kern="1200" dirty="0">
                <a:solidFill>
                  <a:schemeClr val="tx1"/>
                </a:solidFill>
                <a:effectLst/>
                <a:latin typeface="+mn-lt"/>
                <a:ea typeface="+mn-ea"/>
                <a:cs typeface="+mn-cs"/>
              </a:rPr>
              <a:t>The table quantifies GPU utilization imbalance under PD disaggregation: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With a long-prompt workload, the prefill GPU hits 43% MFU (Model Flops Utilization) but only 4.8% HBM usage, while the decode GPU is memory-saturated but compute-idle at 0.2% MFU. This leads to </a:t>
            </a:r>
            <a:r>
              <a:rPr lang="en-US" sz="1200" b="1" i="0" kern="1200" dirty="0">
                <a:solidFill>
                  <a:schemeClr val="tx1"/>
                </a:solidFill>
                <a:effectLst/>
                <a:latin typeface="+mn-lt"/>
                <a:ea typeface="+mn-ea"/>
                <a:cs typeface="+mn-cs"/>
              </a:rPr>
              <a:t>44% throughput drops</a:t>
            </a:r>
            <a:r>
              <a:rPr lang="en-US" sz="1200" b="0" i="0" kern="1200" dirty="0">
                <a:solidFill>
                  <a:schemeClr val="tx1"/>
                </a:solidFill>
                <a:effectLst/>
                <a:latin typeface="+mn-lt"/>
                <a:ea typeface="+mn-ea"/>
                <a:cs typeface="+mn-cs"/>
              </a:rPr>
              <a:t>.</a:t>
            </a:r>
            <a:endParaRPr lang="zh-TW" altLang="en-US" dirty="0"/>
          </a:p>
        </p:txBody>
      </p:sp>
      <p:sp>
        <p:nvSpPr>
          <p:cNvPr id="4" name="投影片編號版面配置區 3">
            <a:extLst>
              <a:ext uri="{FF2B5EF4-FFF2-40B4-BE49-F238E27FC236}">
                <a16:creationId xmlns:a16="http://schemas.microsoft.com/office/drawing/2014/main" id="{ED52CAEC-A941-9C88-6FFC-94632A162C37}"/>
              </a:ext>
            </a:extLst>
          </p:cNvPr>
          <p:cNvSpPr>
            <a:spLocks noGrp="1"/>
          </p:cNvSpPr>
          <p:nvPr>
            <p:ph type="sldNum" sz="quarter" idx="10"/>
          </p:nvPr>
        </p:nvSpPr>
        <p:spPr/>
        <p:txBody>
          <a:bodyPr/>
          <a:lstStyle/>
          <a:p>
            <a:fld id="{7320D120-4707-426F-9B85-873E256A6635}" type="slidenum">
              <a:rPr lang="zh-TW" altLang="en-US" smtClean="0"/>
              <a:pPr/>
              <a:t>16</a:t>
            </a:fld>
            <a:endParaRPr lang="zh-TW" altLang="en-US"/>
          </a:p>
        </p:txBody>
      </p:sp>
    </p:spTree>
    <p:extLst>
      <p:ext uri="{BB962C8B-B14F-4D97-AF65-F5344CB8AC3E}">
        <p14:creationId xmlns:p14="http://schemas.microsoft.com/office/powerpoint/2010/main" val="2043873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6D7F1-122E-E9E1-220C-52925387BC7D}"/>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8BF60A9F-2382-5D10-F00D-05D0D86D65E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F9C0795-742E-222D-1C0A-25E0887A35EE}"/>
              </a:ext>
            </a:extLst>
          </p:cNvPr>
          <p:cNvSpPr>
            <a:spLocks noGrp="1"/>
          </p:cNvSpPr>
          <p:nvPr>
            <p:ph type="body" idx="1"/>
          </p:nvPr>
        </p:nvSpPr>
        <p:spPr/>
        <p:txBody>
          <a:bodyPr>
            <a:normAutofit lnSpcReduction="10000"/>
          </a:bodyPr>
          <a:lstStyle/>
          <a:p>
            <a:r>
              <a:rPr lang="en-US" sz="1200" b="0" i="0" kern="1200" dirty="0" err="1">
                <a:solidFill>
                  <a:schemeClr val="tx1"/>
                </a:solidFill>
                <a:effectLst/>
                <a:latin typeface="+mn-lt"/>
                <a:ea typeface="+mn-ea"/>
                <a:cs typeface="+mn-cs"/>
              </a:rPr>
              <a:t>DynaServe</a:t>
            </a:r>
            <a:r>
              <a:rPr lang="en-US" sz="1200" b="0" i="0" kern="1200" dirty="0">
                <a:solidFill>
                  <a:schemeClr val="tx1"/>
                </a:solidFill>
                <a:effectLst/>
                <a:latin typeface="+mn-lt"/>
                <a:ea typeface="+mn-ea"/>
                <a:cs typeface="+mn-cs"/>
              </a:rPr>
              <a:t> introduces the </a:t>
            </a:r>
            <a:r>
              <a:rPr lang="en-US" sz="1200" b="1" i="0" kern="1200" dirty="0">
                <a:solidFill>
                  <a:schemeClr val="tx1"/>
                </a:solidFill>
                <a:effectLst/>
                <a:latin typeface="+mn-lt"/>
                <a:ea typeface="+mn-ea"/>
                <a:cs typeface="+mn-cs"/>
              </a:rPr>
              <a:t>micro-request abstraction</a:t>
            </a:r>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Instead of treating prefill and decode as monolithic phases, it can split any request at </a:t>
            </a:r>
            <a:r>
              <a:rPr lang="en-US" sz="1200" b="0" i="1" kern="1200" dirty="0">
                <a:solidFill>
                  <a:schemeClr val="tx1"/>
                </a:solidFill>
                <a:effectLst/>
                <a:latin typeface="+mn-lt"/>
                <a:ea typeface="+mn-ea"/>
                <a:cs typeface="+mn-cs"/>
              </a:rPr>
              <a:t>any token boundary</a:t>
            </a:r>
            <a:r>
              <a:rPr lang="en-US" sz="1200" b="0" i="0" kern="1200" dirty="0">
                <a:solidFill>
                  <a:schemeClr val="tx1"/>
                </a:solidFill>
                <a:effectLst/>
                <a:latin typeface="+mn-lt"/>
                <a:ea typeface="+mn-ea"/>
                <a:cs typeface="+mn-cs"/>
              </a:rPr>
              <a:t> into two cooperating segments, </a:t>
            </a:r>
            <a:r>
              <a:rPr lang="el-GR" sz="1200" b="0" i="0" kern="1200" dirty="0">
                <a:solidFill>
                  <a:schemeClr val="tx1"/>
                </a:solidFill>
                <a:effectLst/>
                <a:latin typeface="+mn-lt"/>
                <a:ea typeface="+mn-ea"/>
                <a:cs typeface="+mn-cs"/>
              </a:rPr>
              <a:t>α </a:t>
            </a:r>
            <a:r>
              <a:rPr lang="en-US" sz="1200" b="0" i="0" kern="1200" dirty="0">
                <a:solidFill>
                  <a:schemeClr val="tx1"/>
                </a:solidFill>
                <a:effectLst/>
                <a:latin typeface="+mn-lt"/>
                <a:ea typeface="+mn-ea"/>
                <a:cs typeface="+mn-cs"/>
              </a:rPr>
              <a:t>and </a:t>
            </a:r>
            <a:r>
              <a:rPr lang="el-GR" sz="1200" b="0" i="0" kern="1200" dirty="0">
                <a:solidFill>
                  <a:schemeClr val="tx1"/>
                </a:solidFill>
                <a:effectLst/>
                <a:latin typeface="+mn-lt"/>
                <a:ea typeface="+mn-ea"/>
                <a:cs typeface="+mn-cs"/>
              </a:rPr>
              <a:t>β.</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On the left is the detailed process. </a:t>
            </a:r>
          </a:p>
          <a:p>
            <a:r>
              <a:rPr lang="en-US" sz="1200" b="0" i="0" kern="1200" dirty="0">
                <a:solidFill>
                  <a:schemeClr val="tx1"/>
                </a:solidFill>
                <a:effectLst/>
                <a:latin typeface="+mn-lt"/>
                <a:ea typeface="+mn-ea"/>
                <a:cs typeface="+mn-cs"/>
              </a:rPr>
              <a:t>(click)At first, the global scheduler receives a request. </a:t>
            </a:r>
          </a:p>
          <a:p>
            <a:r>
              <a:rPr lang="en-US" sz="1200" b="0" i="0" kern="1200" dirty="0">
                <a:solidFill>
                  <a:schemeClr val="tx1"/>
                </a:solidFill>
                <a:effectLst/>
                <a:latin typeface="+mn-lt"/>
                <a:ea typeface="+mn-ea"/>
                <a:cs typeface="+mn-cs"/>
              </a:rPr>
              <a:t>(click)The request may contain the prefill task and the decode part. </a:t>
            </a:r>
          </a:p>
          <a:p>
            <a:r>
              <a:rPr lang="en-US" sz="1200" b="0" i="0" kern="1200" dirty="0">
                <a:solidFill>
                  <a:schemeClr val="tx1"/>
                </a:solidFill>
                <a:effectLst/>
                <a:latin typeface="+mn-lt"/>
                <a:ea typeface="+mn-ea"/>
                <a:cs typeface="+mn-cs"/>
              </a:rPr>
              <a:t>(click)These two tasks are served with a micro request abstraction. </a:t>
            </a:r>
          </a:p>
          <a:p>
            <a:r>
              <a:rPr lang="en-US" sz="1200" b="0" i="0" kern="1200" dirty="0">
                <a:solidFill>
                  <a:schemeClr val="tx1"/>
                </a:solidFill>
                <a:effectLst/>
                <a:latin typeface="+mn-lt"/>
                <a:ea typeface="+mn-ea"/>
                <a:cs typeface="+mn-cs"/>
              </a:rPr>
              <a:t>(click)Then the task is unified and dispatched to different GPUs.</a:t>
            </a:r>
          </a:p>
          <a:p>
            <a:endParaRPr lang="en-US" altLang="zh-TW"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creates a unified execution model: Every GPU instance is equal and can process any micro-request.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global scheduler decides split points and routes micro-requests based on real-time load. Local schedulers on each GPU then form SLO-aware batches dynamically.</a:t>
            </a:r>
          </a:p>
          <a:p>
            <a:endParaRPr lang="en-US" altLang="zh-TW"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design philosophy is simple: Balance execution time across all GPUs, not just prefill vs decode ratios.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GPU-1 is idle waiting for GPU-2, we're wasting capacity.</a:t>
            </a:r>
            <a:endParaRPr lang="zh-TW" altLang="en-US" dirty="0"/>
          </a:p>
        </p:txBody>
      </p:sp>
      <p:sp>
        <p:nvSpPr>
          <p:cNvPr id="4" name="投影片編號版面配置區 3">
            <a:extLst>
              <a:ext uri="{FF2B5EF4-FFF2-40B4-BE49-F238E27FC236}">
                <a16:creationId xmlns:a16="http://schemas.microsoft.com/office/drawing/2014/main" id="{A6FC3F09-92F3-AF4C-0751-2C2ADAE5351B}"/>
              </a:ext>
            </a:extLst>
          </p:cNvPr>
          <p:cNvSpPr>
            <a:spLocks noGrp="1"/>
          </p:cNvSpPr>
          <p:nvPr>
            <p:ph type="sldNum" sz="quarter" idx="10"/>
          </p:nvPr>
        </p:nvSpPr>
        <p:spPr/>
        <p:txBody>
          <a:bodyPr/>
          <a:lstStyle/>
          <a:p>
            <a:fld id="{7320D120-4707-426F-9B85-873E256A6635}" type="slidenum">
              <a:rPr lang="zh-TW" altLang="en-US" smtClean="0"/>
              <a:pPr/>
              <a:t>17</a:t>
            </a:fld>
            <a:endParaRPr lang="zh-TW" altLang="en-US"/>
          </a:p>
        </p:txBody>
      </p:sp>
    </p:spTree>
    <p:extLst>
      <p:ext uri="{BB962C8B-B14F-4D97-AF65-F5344CB8AC3E}">
        <p14:creationId xmlns:p14="http://schemas.microsoft.com/office/powerpoint/2010/main" val="3031598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984D8-DC21-8F2D-B745-1B3B3EF95DE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1C608FA7-7EBC-6BA9-4C2F-07A31622E35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E5DC449-5136-2480-8CF1-5FAAB5E23FA0}"/>
              </a:ext>
            </a:extLst>
          </p:cNvPr>
          <p:cNvSpPr>
            <a:spLocks noGrp="1"/>
          </p:cNvSpPr>
          <p:nvPr>
            <p:ph type="body" idx="1"/>
          </p:nvPr>
        </p:nvSpPr>
        <p:spPr/>
        <p:txBody>
          <a:bodyPr>
            <a:normAutofit fontScale="92500" lnSpcReduction="20000"/>
          </a:bodyPr>
          <a:lstStyle/>
          <a:p>
            <a:r>
              <a:rPr lang="en-US" sz="1200" b="0" i="0" kern="1200" dirty="0">
                <a:solidFill>
                  <a:schemeClr val="tx1"/>
                </a:solidFill>
                <a:effectLst/>
                <a:latin typeface="+mn-lt"/>
                <a:ea typeface="+mn-ea"/>
                <a:cs typeface="+mn-cs"/>
              </a:rPr>
              <a:t>Here's how the two-level scheduler works:</a:t>
            </a:r>
          </a:p>
          <a:p>
            <a:endParaRPr lang="en-US" altLang="zh-TW"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(click)Global Scheduler</a:t>
            </a:r>
            <a:r>
              <a:rPr lang="en-US" sz="1200" b="0" i="0" kern="1200" dirty="0">
                <a:solidFill>
                  <a:schemeClr val="tx1"/>
                </a:solidFill>
                <a:effectLst/>
                <a:latin typeface="+mn-lt"/>
                <a:ea typeface="+mn-ea"/>
                <a:cs typeface="+mn-cs"/>
              </a:rPr>
              <a:t>: For each incoming request, it predicts output length (using prior work). It then searches split points using binary search—typically 6 iterations—to balance predicted execution time across GPU instances.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uses a lightweight performance predictor that simulates virtual batches in microseconds.</a:t>
            </a:r>
          </a:p>
          <a:p>
            <a:endParaRPr lang="en-US" altLang="zh-TW"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(click)Unified execution instances(Local Scheduler)</a:t>
            </a:r>
            <a:r>
              <a:rPr lang="en-US" sz="1200" b="0" i="0" kern="1200" dirty="0">
                <a:solidFill>
                  <a:schemeClr val="tx1"/>
                </a:solidFill>
                <a:effectLst/>
                <a:latin typeface="+mn-lt"/>
                <a:ea typeface="+mn-ea"/>
                <a:cs typeface="+mn-cs"/>
              </a:rPr>
              <a:t>: On each GPU, it forms batches considering three factors: batch size, prefill-to-decode token ratio, and decode context length.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It maintains a profile table recording latency for different combinations, which may contain (prefill length, context length, decode count) .</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Before each batch, it looks up this table to determine the maximum prefill tokens that fit within the SLO.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It greedily adds prefill requests until hitting this budget, ensuring high utilization without latency violations.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When micro-requests span instances, </a:t>
            </a:r>
            <a:r>
              <a:rPr lang="en-US" sz="1200" b="0" i="0" kern="1200" dirty="0" err="1">
                <a:solidFill>
                  <a:schemeClr val="tx1"/>
                </a:solidFill>
                <a:effectLst/>
                <a:latin typeface="+mn-lt"/>
                <a:ea typeface="+mn-ea"/>
                <a:cs typeface="+mn-cs"/>
              </a:rPr>
              <a:t>KVCache</a:t>
            </a:r>
            <a:r>
              <a:rPr lang="en-US" sz="1200" b="0" i="0" kern="1200" dirty="0">
                <a:solidFill>
                  <a:schemeClr val="tx1"/>
                </a:solidFill>
                <a:effectLst/>
                <a:latin typeface="+mn-lt"/>
                <a:ea typeface="+mn-ea"/>
                <a:cs typeface="+mn-cs"/>
              </a:rPr>
              <a:t> is transferred in chunks as each layer completes, overlapping communication with computation. This is 94% more efficient than waiting for full request completion.</a:t>
            </a:r>
          </a:p>
        </p:txBody>
      </p:sp>
      <p:sp>
        <p:nvSpPr>
          <p:cNvPr id="4" name="投影片編號版面配置區 3">
            <a:extLst>
              <a:ext uri="{FF2B5EF4-FFF2-40B4-BE49-F238E27FC236}">
                <a16:creationId xmlns:a16="http://schemas.microsoft.com/office/drawing/2014/main" id="{9F729DEB-0B6F-5F8C-8E32-0C8C8F1296C4}"/>
              </a:ext>
            </a:extLst>
          </p:cNvPr>
          <p:cNvSpPr>
            <a:spLocks noGrp="1"/>
          </p:cNvSpPr>
          <p:nvPr>
            <p:ph type="sldNum" sz="quarter" idx="10"/>
          </p:nvPr>
        </p:nvSpPr>
        <p:spPr/>
        <p:txBody>
          <a:bodyPr/>
          <a:lstStyle/>
          <a:p>
            <a:fld id="{7320D120-4707-426F-9B85-873E256A6635}" type="slidenum">
              <a:rPr lang="zh-TW" altLang="en-US" smtClean="0"/>
              <a:pPr/>
              <a:t>18</a:t>
            </a:fld>
            <a:endParaRPr lang="zh-TW" altLang="en-US"/>
          </a:p>
        </p:txBody>
      </p:sp>
    </p:spTree>
    <p:extLst>
      <p:ext uri="{BB962C8B-B14F-4D97-AF65-F5344CB8AC3E}">
        <p14:creationId xmlns:p14="http://schemas.microsoft.com/office/powerpoint/2010/main" val="20936877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93AEB-4705-911E-08FC-8C9919352877}"/>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B0F25DF5-A5E1-B980-1D8D-9571D202BB0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BD912AF-4EFB-6C23-4515-74D7BFCAA8E9}"/>
              </a:ext>
            </a:extLst>
          </p:cNvPr>
          <p:cNvSpPr>
            <a:spLocks noGrp="1"/>
          </p:cNvSpPr>
          <p:nvPr>
            <p:ph type="body" idx="1"/>
          </p:nvPr>
        </p:nvSpPr>
        <p:spPr/>
        <p:txBody>
          <a:bodyPr>
            <a:normAutofit/>
          </a:bodyPr>
          <a:lstStyle/>
          <a:p>
            <a:pPr fontAlgn="base"/>
            <a:r>
              <a:rPr lang="en-US" sz="1200" b="0" i="0" kern="1200" dirty="0" err="1">
                <a:solidFill>
                  <a:schemeClr val="tx1"/>
                </a:solidFill>
                <a:effectLst/>
                <a:latin typeface="+mn-lt"/>
                <a:ea typeface="+mn-ea"/>
                <a:cs typeface="+mn-cs"/>
              </a:rPr>
              <a:t>DynaServe's</a:t>
            </a:r>
            <a:r>
              <a:rPr lang="en-US" sz="1200" b="0" i="0" kern="1200" dirty="0">
                <a:solidFill>
                  <a:schemeClr val="tx1"/>
                </a:solidFill>
                <a:effectLst/>
                <a:latin typeface="+mn-lt"/>
                <a:ea typeface="+mn-ea"/>
                <a:cs typeface="+mn-cs"/>
              </a:rPr>
              <a:t> results are compelling: </a:t>
            </a:r>
            <a:r>
              <a:rPr lang="en-US" sz="1200" b="1" i="0" kern="1200" dirty="0">
                <a:solidFill>
                  <a:schemeClr val="tx1"/>
                </a:solidFill>
                <a:effectLst/>
                <a:latin typeface="+mn-lt"/>
                <a:ea typeface="+mn-ea"/>
                <a:cs typeface="+mn-cs"/>
              </a:rPr>
              <a:t>1.15× to 3.07× higher serving capacity</a:t>
            </a:r>
            <a:r>
              <a:rPr lang="en-US" sz="1200" b="0" i="0" kern="1200" dirty="0">
                <a:solidFill>
                  <a:schemeClr val="tx1"/>
                </a:solidFill>
                <a:effectLst/>
                <a:latin typeface="+mn-lt"/>
                <a:ea typeface="+mn-ea"/>
                <a:cs typeface="+mn-cs"/>
              </a:rPr>
              <a:t> than PD colocation, and </a:t>
            </a:r>
            <a:r>
              <a:rPr lang="en-US" sz="1200" b="1" i="0" kern="1200" dirty="0">
                <a:solidFill>
                  <a:schemeClr val="tx1"/>
                </a:solidFill>
                <a:effectLst/>
                <a:latin typeface="+mn-lt"/>
                <a:ea typeface="+mn-ea"/>
                <a:cs typeface="+mn-cs"/>
              </a:rPr>
              <a:t>1.09× to 1.67× over PD disaggregation</a:t>
            </a:r>
            <a:r>
              <a:rPr lang="en-US" sz="1200" b="0" i="0" kern="1200" dirty="0">
                <a:solidFill>
                  <a:schemeClr val="tx1"/>
                </a:solidFill>
                <a:effectLst/>
                <a:latin typeface="+mn-lt"/>
                <a:ea typeface="+mn-ea"/>
                <a:cs typeface="+mn-cs"/>
              </a:rPr>
              <a:t>.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Goodput improvements reach </a:t>
            </a:r>
            <a:r>
              <a:rPr lang="en-US" sz="1200" b="1" i="0" kern="1200" dirty="0">
                <a:solidFill>
                  <a:schemeClr val="tx1"/>
                </a:solidFill>
                <a:effectLst/>
                <a:latin typeface="+mn-lt"/>
                <a:ea typeface="+mn-ea"/>
                <a:cs typeface="+mn-cs"/>
              </a:rPr>
              <a:t>1.91× over colocation</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1.61× over disaggregation</a:t>
            </a:r>
            <a:r>
              <a:rPr lang="en-US" sz="1200" b="0" i="0" kern="1200" dirty="0">
                <a:solidFill>
                  <a:schemeClr val="tx1"/>
                </a:solidFill>
                <a:effectLst/>
                <a:latin typeface="+mn-lt"/>
                <a:ea typeface="+mn-ea"/>
                <a:cs typeface="+mn-cs"/>
              </a:rPr>
              <a:t>.</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key advantage is adaptability.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In decode-heavy Mini-Reasoning workloads, </a:t>
            </a:r>
            <a:r>
              <a:rPr lang="en-US" sz="1200" b="0" i="0" kern="1200" dirty="0" err="1">
                <a:solidFill>
                  <a:schemeClr val="tx1"/>
                </a:solidFill>
                <a:effectLst/>
                <a:latin typeface="+mn-lt"/>
                <a:ea typeface="+mn-ea"/>
                <a:cs typeface="+mn-cs"/>
              </a:rPr>
              <a:t>DynaServe</a:t>
            </a:r>
            <a:r>
              <a:rPr lang="en-US" sz="1200" b="0" i="0" kern="1200" dirty="0">
                <a:solidFill>
                  <a:schemeClr val="tx1"/>
                </a:solidFill>
                <a:effectLst/>
                <a:latin typeface="+mn-lt"/>
                <a:ea typeface="+mn-ea"/>
                <a:cs typeface="+mn-cs"/>
              </a:rPr>
              <a:t> dynamically reduces prefill interference.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In prefill-heavy Azure Code workloads, it shifts more resources to prefill processing. The scheduling overhead is just 14-17ms per request—negligible compared to multi-second inference times.</a:t>
            </a:r>
          </a:p>
          <a:p>
            <a:br>
              <a:rPr lang="en-US" dirty="0"/>
            </a:br>
            <a:endParaRPr lang="zh-TW" altLang="en-US" dirty="0"/>
          </a:p>
        </p:txBody>
      </p:sp>
      <p:sp>
        <p:nvSpPr>
          <p:cNvPr id="4" name="投影片編號版面配置區 3">
            <a:extLst>
              <a:ext uri="{FF2B5EF4-FFF2-40B4-BE49-F238E27FC236}">
                <a16:creationId xmlns:a16="http://schemas.microsoft.com/office/drawing/2014/main" id="{935BCD5F-F3F2-7EFE-DA96-CE74A596FD7C}"/>
              </a:ext>
            </a:extLst>
          </p:cNvPr>
          <p:cNvSpPr>
            <a:spLocks noGrp="1"/>
          </p:cNvSpPr>
          <p:nvPr>
            <p:ph type="sldNum" sz="quarter" idx="10"/>
          </p:nvPr>
        </p:nvSpPr>
        <p:spPr/>
        <p:txBody>
          <a:bodyPr/>
          <a:lstStyle/>
          <a:p>
            <a:fld id="{7320D120-4707-426F-9B85-873E256A6635}" type="slidenum">
              <a:rPr lang="zh-TW" altLang="en-US" smtClean="0"/>
              <a:pPr/>
              <a:t>19</a:t>
            </a:fld>
            <a:endParaRPr lang="zh-TW" altLang="en-US"/>
          </a:p>
        </p:txBody>
      </p:sp>
    </p:spTree>
    <p:extLst>
      <p:ext uri="{BB962C8B-B14F-4D97-AF65-F5344CB8AC3E}">
        <p14:creationId xmlns:p14="http://schemas.microsoft.com/office/powerpoint/2010/main" val="32522473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CC168-90F0-A5F8-9C8B-88454C34F2BD}"/>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282A1DFD-CA32-26B6-5846-712D5FD7B4B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30690E0-83D7-E8F3-F366-32E5267E27FE}"/>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But both Mooncake and </a:t>
            </a:r>
            <a:r>
              <a:rPr lang="en-US" sz="1200" b="0" i="0" kern="1200" dirty="0" err="1">
                <a:solidFill>
                  <a:schemeClr val="tx1"/>
                </a:solidFill>
                <a:effectLst/>
                <a:latin typeface="+mn-lt"/>
                <a:ea typeface="+mn-ea"/>
                <a:cs typeface="+mn-cs"/>
              </a:rPr>
              <a:t>DynaServe</a:t>
            </a:r>
            <a:r>
              <a:rPr lang="en-US" sz="1200" b="0" i="0" kern="1200" dirty="0">
                <a:solidFill>
                  <a:schemeClr val="tx1"/>
                </a:solidFill>
                <a:effectLst/>
                <a:latin typeface="+mn-lt"/>
                <a:ea typeface="+mn-ea"/>
                <a:cs typeface="+mn-cs"/>
              </a:rPr>
              <a:t> still operate in either "aggregation mode" or "disaggregation mode." What if the optimal solution requires </a:t>
            </a:r>
            <a:r>
              <a:rPr lang="en-US" sz="1200" b="0" i="1" kern="1200" dirty="0">
                <a:solidFill>
                  <a:schemeClr val="tx1"/>
                </a:solidFill>
                <a:effectLst/>
                <a:latin typeface="+mn-lt"/>
                <a:ea typeface="+mn-ea"/>
                <a:cs typeface="+mn-cs"/>
              </a:rPr>
              <a:t>both simultaneously</a:t>
            </a:r>
            <a:r>
              <a:rPr lang="en-US"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err="1">
                <a:solidFill>
                  <a:schemeClr val="tx1"/>
                </a:solidFill>
                <a:effectLst/>
                <a:latin typeface="+mn-lt"/>
                <a:ea typeface="+mn-ea"/>
                <a:cs typeface="+mn-cs"/>
              </a:rPr>
              <a:t>TaiChi</a:t>
            </a:r>
            <a:r>
              <a:rPr lang="en-US" sz="1200" b="0" i="0" kern="1200" dirty="0">
                <a:solidFill>
                  <a:schemeClr val="tx1"/>
                </a:solidFill>
                <a:effectLst/>
                <a:latin typeface="+mn-lt"/>
                <a:ea typeface="+mn-ea"/>
                <a:cs typeface="+mn-cs"/>
              </a:rPr>
              <a:t>—named after the philosophy of balancing opposites—identifies a critical insight: PD aggregation and disaggregation excel under </a:t>
            </a:r>
            <a:r>
              <a:rPr lang="en-US" sz="1200" b="0" i="1" kern="1200" dirty="0">
                <a:solidFill>
                  <a:schemeClr val="tx1"/>
                </a:solidFill>
                <a:effectLst/>
                <a:latin typeface="+mn-lt"/>
                <a:ea typeface="+mn-ea"/>
                <a:cs typeface="+mn-cs"/>
              </a:rPr>
              <a:t>different SLO regimes</a:t>
            </a:r>
            <a:r>
              <a:rPr lang="en-US"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161F5AD4-41D7-6F8D-4CFC-1B1DCEE14D63}"/>
              </a:ext>
            </a:extLst>
          </p:cNvPr>
          <p:cNvSpPr>
            <a:spLocks noGrp="1"/>
          </p:cNvSpPr>
          <p:nvPr>
            <p:ph type="sldNum" sz="quarter" idx="10"/>
          </p:nvPr>
        </p:nvSpPr>
        <p:spPr/>
        <p:txBody>
          <a:bodyPr/>
          <a:lstStyle/>
          <a:p>
            <a:fld id="{7320D120-4707-426F-9B85-873E256A6635}" type="slidenum">
              <a:rPr lang="zh-TW" altLang="en-US" smtClean="0"/>
              <a:pPr/>
              <a:t>20</a:t>
            </a:fld>
            <a:endParaRPr lang="zh-TW" altLang="en-US"/>
          </a:p>
        </p:txBody>
      </p:sp>
    </p:spTree>
    <p:extLst>
      <p:ext uri="{BB962C8B-B14F-4D97-AF65-F5344CB8AC3E}">
        <p14:creationId xmlns:p14="http://schemas.microsoft.com/office/powerpoint/2010/main" val="23147475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1DBDF-8F3F-0502-D0E5-BD607233C1D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004442B5-2CA3-5C7D-B464-4FF147D5F37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8BAAF51-14CD-B6E7-39C0-6699A4CE27C3}"/>
              </a:ext>
            </a:extLst>
          </p:cNvPr>
          <p:cNvSpPr>
            <a:spLocks noGrp="1"/>
          </p:cNvSpPr>
          <p:nvPr>
            <p:ph type="body" idx="1"/>
          </p:nvPr>
        </p:nvSpPr>
        <p:spPr/>
        <p:txBody>
          <a:bodyPr>
            <a:normAutofit/>
          </a:bodyPr>
          <a:lstStyle/>
          <a:p>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(click)Observation 1</a:t>
            </a:r>
          </a:p>
          <a:p>
            <a:r>
              <a:rPr lang="en-US" altLang="zh-TW" sz="1200" b="0" i="0" kern="1200" dirty="0">
                <a:solidFill>
                  <a:schemeClr val="tx1"/>
                </a:solidFill>
                <a:effectLst/>
                <a:latin typeface="+mn-lt"/>
                <a:ea typeface="+mn-ea"/>
                <a:cs typeface="+mn-cs"/>
              </a:rPr>
              <a:t>(click)Observation 2</a:t>
            </a:r>
          </a:p>
          <a:p>
            <a:r>
              <a:rPr lang="en-US" altLang="zh-TW" sz="1200" b="0" i="0" kern="1200" dirty="0">
                <a:solidFill>
                  <a:schemeClr val="tx1"/>
                </a:solidFill>
                <a:effectLst/>
                <a:latin typeface="+mn-lt"/>
                <a:ea typeface="+mn-ea"/>
                <a:cs typeface="+mn-cs"/>
              </a:rPr>
              <a:t>(click)Observation 3</a:t>
            </a:r>
          </a:p>
          <a:p>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(click)But one key observation </a:t>
            </a:r>
            <a:endParaRPr lang="zh-TW" altLang="en-US" dirty="0"/>
          </a:p>
        </p:txBody>
      </p:sp>
      <p:sp>
        <p:nvSpPr>
          <p:cNvPr id="4" name="投影片編號版面配置區 3">
            <a:extLst>
              <a:ext uri="{FF2B5EF4-FFF2-40B4-BE49-F238E27FC236}">
                <a16:creationId xmlns:a16="http://schemas.microsoft.com/office/drawing/2014/main" id="{60729812-77D2-2002-6A33-AC6DD9AA0FCA}"/>
              </a:ext>
            </a:extLst>
          </p:cNvPr>
          <p:cNvSpPr>
            <a:spLocks noGrp="1"/>
          </p:cNvSpPr>
          <p:nvPr>
            <p:ph type="sldNum" sz="quarter" idx="10"/>
          </p:nvPr>
        </p:nvSpPr>
        <p:spPr/>
        <p:txBody>
          <a:bodyPr/>
          <a:lstStyle/>
          <a:p>
            <a:fld id="{7320D120-4707-426F-9B85-873E256A6635}" type="slidenum">
              <a:rPr lang="zh-TW" altLang="en-US" smtClean="0"/>
              <a:pPr/>
              <a:t>21</a:t>
            </a:fld>
            <a:endParaRPr lang="zh-TW" altLang="en-US"/>
          </a:p>
        </p:txBody>
      </p:sp>
    </p:spTree>
    <p:extLst>
      <p:ext uri="{BB962C8B-B14F-4D97-AF65-F5344CB8AC3E}">
        <p14:creationId xmlns:p14="http://schemas.microsoft.com/office/powerpoint/2010/main" val="12435421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EA386-BB6B-EE64-147F-0BCDB2DB5187}"/>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8C1236CA-D2A7-9ACE-1D79-18A56B645AB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A85D940-DF17-3899-A66E-D77C38191193}"/>
              </a:ext>
            </a:extLst>
          </p:cNvPr>
          <p:cNvSpPr>
            <a:spLocks noGrp="1"/>
          </p:cNvSpPr>
          <p:nvPr>
            <p:ph type="body" idx="1"/>
          </p:nvPr>
        </p:nvSpPr>
        <p:spPr/>
        <p:txBody>
          <a:bodyPr>
            <a:normAutofit fontScale="85000" lnSpcReduction="10000"/>
          </a:bodyPr>
          <a:lstStyle/>
          <a:p>
            <a:r>
              <a:rPr lang="en-US" altLang="zh-TW" dirty="0"/>
              <a:t>(click)The key idea of Taichi is that the latency of the prefill and decode phase can be shifted.</a:t>
            </a:r>
          </a:p>
          <a:p>
            <a:endParaRPr lang="en-US" altLang="zh-TW" dirty="0"/>
          </a:p>
          <a:p>
            <a:pPr fontAlgn="base"/>
            <a:r>
              <a:rPr lang="en-US" sz="1200" b="0" i="0" kern="1200" dirty="0" err="1">
                <a:solidFill>
                  <a:schemeClr val="tx1"/>
                </a:solidFill>
                <a:effectLst/>
                <a:latin typeface="+mn-lt"/>
                <a:ea typeface="+mn-ea"/>
                <a:cs typeface="+mn-cs"/>
              </a:rPr>
              <a:t>TaiChi</a:t>
            </a:r>
            <a:r>
              <a:rPr lang="en-US" sz="1200" b="0" i="0" kern="1200" dirty="0">
                <a:solidFill>
                  <a:schemeClr val="tx1"/>
                </a:solidFill>
                <a:effectLst/>
                <a:latin typeface="+mn-lt"/>
                <a:ea typeface="+mn-ea"/>
                <a:cs typeface="+mn-cs"/>
              </a:rPr>
              <a:t> unifies both approaches through </a:t>
            </a:r>
            <a:r>
              <a:rPr lang="en-US" sz="1200" b="1" i="0" kern="1200" dirty="0">
                <a:solidFill>
                  <a:schemeClr val="tx1"/>
                </a:solidFill>
                <a:effectLst/>
                <a:latin typeface="+mn-lt"/>
                <a:ea typeface="+mn-ea"/>
                <a:cs typeface="+mn-cs"/>
              </a:rPr>
              <a:t>differentiated-capability instances</a:t>
            </a:r>
            <a:r>
              <a:rPr lang="en-US" sz="1200" b="0" i="0" kern="1200" dirty="0">
                <a:solidFill>
                  <a:schemeClr val="tx1"/>
                </a:solidFill>
                <a:effectLst/>
                <a:latin typeface="+mn-lt"/>
                <a:ea typeface="+mn-ea"/>
                <a:cs typeface="+mn-cs"/>
              </a:rPr>
              <a:t>:</a:t>
            </a:r>
          </a:p>
          <a:p>
            <a:pPr fontAlgn="base"/>
            <a:endParaRPr lang="en-US" sz="1200" b="1"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(click)P-heavy instances</a:t>
            </a:r>
            <a:r>
              <a:rPr lang="en-US" sz="1200" b="0" i="0" kern="1200" dirty="0">
                <a:solidFill>
                  <a:schemeClr val="tx1"/>
                </a:solidFill>
                <a:effectLst/>
                <a:latin typeface="+mn-lt"/>
                <a:ea typeface="+mn-ea"/>
                <a:cs typeface="+mn-cs"/>
              </a:rPr>
              <a:t>: They are optimized for prefill tasks with Large chunk sizes (e.g., 1024 tokens). They perform fast prefill, but suffer from higher TPOT when handling decode tasks.</a:t>
            </a:r>
          </a:p>
          <a:p>
            <a:pPr fontAlgn="base"/>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D-heavy instances</a:t>
            </a:r>
            <a:r>
              <a:rPr lang="en-US" sz="1200" b="0" i="0" kern="1200" dirty="0">
                <a:solidFill>
                  <a:schemeClr val="tx1"/>
                </a:solidFill>
                <a:effectLst/>
                <a:latin typeface="+mn-lt"/>
                <a:ea typeface="+mn-ea"/>
                <a:cs typeface="+mn-cs"/>
              </a:rPr>
              <a:t>: They are optimized for decode tasks with small chunk sizes (e.g., 128 tokens). They perform slow prefill, have lower TPOT, can handle prefill tasks with degraded performance.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(click)The proxy……</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This creates a </a:t>
            </a:r>
            <a:r>
              <a:rPr lang="en-US" sz="1200" b="1" i="0" kern="1200" dirty="0">
                <a:solidFill>
                  <a:schemeClr val="tx1"/>
                </a:solidFill>
                <a:effectLst/>
                <a:latin typeface="+mn-lt"/>
                <a:ea typeface="+mn-ea"/>
                <a:cs typeface="+mn-cs"/>
              </a:rPr>
              <a:t>hybrid-mode inference</a:t>
            </a:r>
            <a:r>
              <a:rPr lang="en-US" sz="1200" b="0" i="0" kern="1200" dirty="0">
                <a:solidFill>
                  <a:schemeClr val="tx1"/>
                </a:solidFill>
                <a:effectLst/>
                <a:latin typeface="+mn-lt"/>
                <a:ea typeface="+mn-ea"/>
                <a:cs typeface="+mn-cs"/>
              </a:rPr>
              <a:t> where: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Batch handling is aggregated: Both instance types process mixed prefill/decode batches for high utilization.</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sz="1200" b="0" i="0" kern="1200" dirty="0">
                <a:solidFill>
                  <a:schemeClr val="tx1"/>
                </a:solidFill>
                <a:effectLst/>
                <a:latin typeface="+mn-lt"/>
                <a:ea typeface="+mn-ea"/>
                <a:cs typeface="+mn-cs"/>
              </a:rPr>
              <a:t>Request handling is disaggregated: A request's prefill can be on P-heavy while its decode is on D-heavy.</a:t>
            </a:r>
          </a:p>
          <a:p>
            <a:endParaRPr lang="en-US" dirty="0"/>
          </a:p>
          <a:p>
            <a:r>
              <a:rPr lang="en-US" sz="1200" b="0" i="0" kern="1200" dirty="0">
                <a:solidFill>
                  <a:schemeClr val="tx1"/>
                </a:solidFill>
                <a:effectLst/>
                <a:latin typeface="+mn-lt"/>
                <a:ea typeface="+mn-ea"/>
                <a:cs typeface="+mn-cs"/>
              </a:rPr>
              <a:t>This dual nature enables </a:t>
            </a:r>
            <a:r>
              <a:rPr lang="en-US" sz="1200" b="1" i="0" kern="1200" dirty="0">
                <a:solidFill>
                  <a:schemeClr val="tx1"/>
                </a:solidFill>
                <a:effectLst/>
                <a:latin typeface="+mn-lt"/>
                <a:ea typeface="+mn-ea"/>
                <a:cs typeface="+mn-cs"/>
              </a:rPr>
              <a:t>latency shifting</a:t>
            </a:r>
            <a:r>
              <a:rPr lang="en-US" sz="1200" b="0" i="0" kern="1200" dirty="0">
                <a:solidFill>
                  <a:schemeClr val="tx1"/>
                </a:solidFill>
                <a:effectLst/>
                <a:latin typeface="+mn-lt"/>
                <a:ea typeface="+mn-ea"/>
                <a:cs typeface="+mn-cs"/>
              </a:rPr>
              <a:t>—strategically degrading some requests' latency to improve others.</a:t>
            </a:r>
          </a:p>
          <a:p>
            <a:endParaRPr lang="en-US" sz="1200" b="0" i="0" kern="1200" dirty="0">
              <a:solidFill>
                <a:schemeClr val="tx1"/>
              </a:solidFill>
              <a:effectLst/>
              <a:latin typeface="+mn-lt"/>
              <a:ea typeface="+mn-ea"/>
              <a:cs typeface="+mn-cs"/>
            </a:endParaRPr>
          </a:p>
          <a:p>
            <a:br>
              <a:rPr lang="en-US" dirty="0"/>
            </a:br>
            <a:endParaRPr lang="zh-TW" altLang="en-US" dirty="0"/>
          </a:p>
        </p:txBody>
      </p:sp>
      <p:sp>
        <p:nvSpPr>
          <p:cNvPr id="4" name="投影片編號版面配置區 3">
            <a:extLst>
              <a:ext uri="{FF2B5EF4-FFF2-40B4-BE49-F238E27FC236}">
                <a16:creationId xmlns:a16="http://schemas.microsoft.com/office/drawing/2014/main" id="{643502C4-2AA8-399F-4D5C-2DB2DD1352BC}"/>
              </a:ext>
            </a:extLst>
          </p:cNvPr>
          <p:cNvSpPr>
            <a:spLocks noGrp="1"/>
          </p:cNvSpPr>
          <p:nvPr>
            <p:ph type="sldNum" sz="quarter" idx="10"/>
          </p:nvPr>
        </p:nvSpPr>
        <p:spPr/>
        <p:txBody>
          <a:bodyPr/>
          <a:lstStyle/>
          <a:p>
            <a:fld id="{7320D120-4707-426F-9B85-873E256A6635}" type="slidenum">
              <a:rPr lang="zh-TW" altLang="en-US" smtClean="0"/>
              <a:pPr/>
              <a:t>22</a:t>
            </a:fld>
            <a:endParaRPr lang="zh-TW" altLang="en-US"/>
          </a:p>
        </p:txBody>
      </p:sp>
    </p:spTree>
    <p:extLst>
      <p:ext uri="{BB962C8B-B14F-4D97-AF65-F5344CB8AC3E}">
        <p14:creationId xmlns:p14="http://schemas.microsoft.com/office/powerpoint/2010/main" val="19128625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19D64-B633-649F-2303-8DB7BFE8EFA9}"/>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DE9A3FDC-A7A4-020A-8A92-7080CE03B01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9B444C1-68C5-675F-0431-1FFF616328F5}"/>
              </a:ext>
            </a:extLst>
          </p:cNvPr>
          <p:cNvSpPr>
            <a:spLocks noGrp="1"/>
          </p:cNvSpPr>
          <p:nvPr>
            <p:ph type="body" idx="1"/>
          </p:nvPr>
        </p:nvSpPr>
        <p:spPr/>
        <p:txBody>
          <a:bodyPr>
            <a:normAutofit fontScale="92500" lnSpcReduction="10000"/>
          </a:bodyPr>
          <a:lstStyle/>
          <a:p>
            <a:r>
              <a:rPr lang="en-US" sz="1200" b="1" i="0" kern="1200" dirty="0">
                <a:solidFill>
                  <a:schemeClr val="tx1"/>
                </a:solidFill>
                <a:effectLst/>
                <a:latin typeface="+mn-lt"/>
                <a:ea typeface="+mn-ea"/>
                <a:cs typeface="+mn-cs"/>
              </a:rPr>
              <a:t>(click) goal of Flowing decode scheduling</a:t>
            </a:r>
            <a:r>
              <a:rPr lang="en-US" sz="1200" b="0" i="0" kern="1200" dirty="0">
                <a:solidFill>
                  <a:schemeClr val="tx1"/>
                </a:solidFill>
                <a:effectLst/>
                <a:latin typeface="+mn-lt"/>
                <a:ea typeface="+mn-ea"/>
                <a:cs typeface="+mn-cs"/>
              </a:rPr>
              <a:t> it to control TPOT through dynamic migrating decode requests between B-heavy instances and P-heavy instances.</a:t>
            </a:r>
            <a:endParaRPr lang="en-US" altLang="zh-TW" sz="1200" b="0"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It has three main steps</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(click)Low-Interference Decode Init</a:t>
            </a:r>
            <a:r>
              <a:rPr lang="en-US" sz="1200" b="0" i="0" kern="1200" dirty="0">
                <a:solidFill>
                  <a:schemeClr val="tx1"/>
                </a:solidFill>
                <a:effectLst/>
                <a:latin typeface="+mn-lt"/>
                <a:ea typeface="+mn-ea"/>
                <a:cs typeface="+mn-cs"/>
              </a:rPr>
              <a:t>: New decode requests start on D-heavy instances to protect short-output requests from premature TPOT violations.</a:t>
            </a:r>
          </a:p>
          <a:p>
            <a:endParaRPr lang="en-US" altLang="zh-TW"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(click)Longest-First Degradation Flowing</a:t>
            </a:r>
            <a:r>
              <a:rPr lang="en-US" sz="1200" b="0" i="0" kern="1200" dirty="0">
                <a:solidFill>
                  <a:schemeClr val="tx1"/>
                </a:solidFill>
                <a:effectLst/>
                <a:latin typeface="+mn-lt"/>
                <a:ea typeface="+mn-ea"/>
                <a:cs typeface="+mn-cs"/>
              </a:rPr>
              <a:t>: When D-heavy memory hits a threshold (e.g., 95%), select the request with the </a:t>
            </a:r>
            <a:r>
              <a:rPr lang="en-US" sz="1200" b="0" i="1" kern="1200" dirty="0">
                <a:solidFill>
                  <a:schemeClr val="tx1"/>
                </a:solidFill>
                <a:effectLst/>
                <a:latin typeface="+mn-lt"/>
                <a:ea typeface="+mn-ea"/>
                <a:cs typeface="+mn-cs"/>
              </a:rPr>
              <a:t>longest current output</a:t>
            </a:r>
            <a:r>
              <a:rPr lang="en-US" sz="1200" b="0" i="0" kern="1200" dirty="0">
                <a:solidFill>
                  <a:schemeClr val="tx1"/>
                </a:solidFill>
                <a:effectLst/>
                <a:latin typeface="+mn-lt"/>
                <a:ea typeface="+mn-ea"/>
                <a:cs typeface="+mn-cs"/>
              </a:rPr>
              <a:t> and migrate it to a P-heavy instance.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This request can absorb interference because it has already enjoyed many low-interference iterations.</a:t>
            </a:r>
            <a:endParaRPr lang="en-US" altLang="zh-TW" dirty="0"/>
          </a:p>
          <a:p>
            <a:endParaRPr lang="en-US" altLang="zh-TW" dirty="0"/>
          </a:p>
          <a:p>
            <a:pPr fontAlgn="base"/>
            <a:r>
              <a:rPr lang="en-US" sz="1200" b="1" i="0" kern="1200" dirty="0">
                <a:solidFill>
                  <a:schemeClr val="tx1"/>
                </a:solidFill>
                <a:effectLst/>
                <a:latin typeface="+mn-lt"/>
                <a:ea typeface="+mn-ea"/>
                <a:cs typeface="+mn-cs"/>
              </a:rPr>
              <a:t>(click)TPOT-Aware Decode Backflow</a:t>
            </a:r>
            <a:r>
              <a:rPr lang="en-US" sz="1200" b="0" i="0" kern="1200" dirty="0">
                <a:solidFill>
                  <a:schemeClr val="tx1"/>
                </a:solidFill>
                <a:effectLst/>
                <a:latin typeface="+mn-lt"/>
                <a:ea typeface="+mn-ea"/>
                <a:cs typeface="+mn-cs"/>
              </a:rPr>
              <a:t>: Monitor real-time TPOT on P-heavy instances. When a request's TPOT approaches the SLO (e.g., 96% of threshold), migrate it back to D-heavy.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This prevents over-degradation.</a:t>
            </a:r>
          </a:p>
          <a:p>
            <a:br>
              <a:rPr lang="en-US" dirty="0"/>
            </a:br>
            <a:r>
              <a:rPr lang="en-US" sz="1200" b="0" i="0" kern="1200" dirty="0">
                <a:solidFill>
                  <a:schemeClr val="tx1"/>
                </a:solidFill>
                <a:effectLst/>
                <a:latin typeface="+mn-lt"/>
                <a:ea typeface="+mn-ea"/>
                <a:cs typeface="+mn-cs"/>
              </a:rPr>
              <a:t>The algorithm isolates degradations to specific requests, preventing batch-level interference spread.</a:t>
            </a:r>
            <a:endParaRPr lang="zh-TW" altLang="en-US" dirty="0"/>
          </a:p>
        </p:txBody>
      </p:sp>
      <p:sp>
        <p:nvSpPr>
          <p:cNvPr id="4" name="投影片編號版面配置區 3">
            <a:extLst>
              <a:ext uri="{FF2B5EF4-FFF2-40B4-BE49-F238E27FC236}">
                <a16:creationId xmlns:a16="http://schemas.microsoft.com/office/drawing/2014/main" id="{EEC970CB-CE9F-6A9F-9023-4F732C647389}"/>
              </a:ext>
            </a:extLst>
          </p:cNvPr>
          <p:cNvSpPr>
            <a:spLocks noGrp="1"/>
          </p:cNvSpPr>
          <p:nvPr>
            <p:ph type="sldNum" sz="quarter" idx="10"/>
          </p:nvPr>
        </p:nvSpPr>
        <p:spPr/>
        <p:txBody>
          <a:bodyPr/>
          <a:lstStyle/>
          <a:p>
            <a:fld id="{7320D120-4707-426F-9B85-873E256A6635}" type="slidenum">
              <a:rPr lang="zh-TW" altLang="en-US" smtClean="0"/>
              <a:pPr/>
              <a:t>23</a:t>
            </a:fld>
            <a:endParaRPr lang="zh-TW" altLang="en-US"/>
          </a:p>
        </p:txBody>
      </p:sp>
    </p:spTree>
    <p:extLst>
      <p:ext uri="{BB962C8B-B14F-4D97-AF65-F5344CB8AC3E}">
        <p14:creationId xmlns:p14="http://schemas.microsoft.com/office/powerpoint/2010/main" val="29656886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2CB7C-0B16-95BA-5BB8-DF383ABC211F}"/>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0A5156BE-3847-3C78-6674-FDB64D84A6E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374E21C-6B8F-3401-89BD-0E315974446B}"/>
              </a:ext>
            </a:extLst>
          </p:cNvPr>
          <p:cNvSpPr>
            <a:spLocks noGrp="1"/>
          </p:cNvSpPr>
          <p:nvPr>
            <p:ph type="body" idx="1"/>
          </p:nvPr>
        </p:nvSpPr>
        <p:spPr/>
        <p:txBody>
          <a:bodyPr>
            <a:normAutofit/>
          </a:bodyPr>
          <a:lstStyle/>
          <a:p>
            <a:pPr fontAlgn="base"/>
            <a:r>
              <a:rPr lang="en-US" sz="1200" b="1" i="0" kern="1200" dirty="0">
                <a:solidFill>
                  <a:schemeClr val="tx1"/>
                </a:solidFill>
                <a:effectLst/>
                <a:latin typeface="+mn-lt"/>
                <a:ea typeface="+mn-ea"/>
                <a:cs typeface="+mn-cs"/>
              </a:rPr>
              <a:t>(click)The goal of</a:t>
            </a:r>
            <a:r>
              <a:rPr lang="zh-CN" altLang="en-US" sz="1200" b="1"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Length-aware prefill scheduling</a:t>
            </a:r>
            <a:r>
              <a:rPr lang="en-US" sz="1200" b="0" i="0" kern="1200" dirty="0">
                <a:solidFill>
                  <a:schemeClr val="tx1"/>
                </a:solidFill>
                <a:effectLst/>
                <a:latin typeface="+mn-lt"/>
                <a:ea typeface="+mn-ea"/>
                <a:cs typeface="+mn-cs"/>
              </a:rPr>
              <a:t> is to control TTFT by exploiting short requests' latency tolerance:</a:t>
            </a:r>
          </a:p>
          <a:p>
            <a:br>
              <a:rPr lang="en-US" dirty="0"/>
            </a:br>
            <a:r>
              <a:rPr lang="en-US" dirty="0"/>
              <a:t>(click)</a:t>
            </a:r>
            <a:r>
              <a:rPr lang="en-US" sz="1200" b="0" i="0" kern="1200" dirty="0">
                <a:solidFill>
                  <a:schemeClr val="tx1"/>
                </a:solidFill>
                <a:effectLst/>
                <a:latin typeface="+mn-lt"/>
                <a:ea typeface="+mn-ea"/>
                <a:cs typeface="+mn-cs"/>
              </a:rPr>
              <a:t>For an incoming prefill request, the proxy estimates its TTFT on each instance as: </a:t>
            </a:r>
            <a:r>
              <a:rPr lang="en-US" sz="1200" b="1" i="0" kern="1200" dirty="0">
                <a:solidFill>
                  <a:schemeClr val="tx1"/>
                </a:solidFill>
                <a:effectLst/>
                <a:latin typeface="+mn-lt"/>
                <a:ea typeface="+mn-ea"/>
                <a:cs typeface="+mn-cs"/>
              </a:rPr>
              <a:t>TTFT = Queuing Time + Execution Time + Transfer Time</a:t>
            </a:r>
          </a:p>
          <a:p>
            <a:endParaRPr lang="en-US" altLang="zh-TW" sz="1200" b="1"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Queuing time is the sum of remaining prefill execution times on that instance. Execution time is predicted via cost models. Transfer time is for P-heavy instances only.</a:t>
            </a:r>
          </a:p>
          <a:p>
            <a:br>
              <a:rPr lang="en-US" dirty="0"/>
            </a:br>
            <a:r>
              <a:rPr lang="en-US" dirty="0"/>
              <a:t>(click)</a:t>
            </a:r>
            <a:r>
              <a:rPr lang="en-US" sz="1200" b="0" i="0" kern="1200" dirty="0">
                <a:solidFill>
                  <a:schemeClr val="tx1"/>
                </a:solidFill>
                <a:effectLst/>
                <a:latin typeface="+mn-lt"/>
                <a:ea typeface="+mn-ea"/>
                <a:cs typeface="+mn-cs"/>
              </a:rPr>
              <a:t>The scheduler selects the instance with </a:t>
            </a:r>
            <a:r>
              <a:rPr lang="en-US" sz="1200" b="1" i="0" kern="1200" dirty="0">
                <a:solidFill>
                  <a:schemeClr val="tx1"/>
                </a:solidFill>
                <a:effectLst/>
                <a:latin typeface="+mn-lt"/>
                <a:ea typeface="+mn-ea"/>
                <a:cs typeface="+mn-cs"/>
              </a:rPr>
              <a:t>fewest queued prefill tokens</a:t>
            </a:r>
            <a:r>
              <a:rPr lang="en-US" sz="1200" b="0" i="0" kern="1200" dirty="0">
                <a:solidFill>
                  <a:schemeClr val="tx1"/>
                </a:solidFill>
                <a:effectLst/>
                <a:latin typeface="+mn-lt"/>
                <a:ea typeface="+mn-ea"/>
                <a:cs typeface="+mn-cs"/>
              </a:rPr>
              <a:t> among those satisfying TTFT SLO. This typically chooses a D-heavy instance for short requests, naturally degrading them while freeing P-heavy resources for long, latency-critical prefill requests.</a:t>
            </a:r>
          </a:p>
          <a:p>
            <a:endParaRPr lang="en-US" altLang="zh-TW"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a </a:t>
            </a:r>
            <a:r>
              <a:rPr lang="en-US" sz="1200" b="1" i="0" kern="1200" dirty="0">
                <a:solidFill>
                  <a:schemeClr val="tx1"/>
                </a:solidFill>
                <a:effectLst/>
                <a:latin typeface="+mn-lt"/>
                <a:ea typeface="+mn-ea"/>
                <a:cs typeface="+mn-cs"/>
              </a:rPr>
              <a:t>degradation strategy</a:t>
            </a:r>
            <a:r>
              <a:rPr lang="en-US" sz="1200" b="0" i="0" kern="1200" dirty="0">
                <a:solidFill>
                  <a:schemeClr val="tx1"/>
                </a:solidFill>
                <a:effectLst/>
                <a:latin typeface="+mn-lt"/>
                <a:ea typeface="+mn-ea"/>
                <a:cs typeface="+mn-cs"/>
              </a:rPr>
              <a:t>, not just load balancing. It's intentionally routing short requests to slower instances because they can afford the latency.</a:t>
            </a:r>
            <a:endParaRPr lang="zh-TW" altLang="en-US" dirty="0"/>
          </a:p>
        </p:txBody>
      </p:sp>
      <p:sp>
        <p:nvSpPr>
          <p:cNvPr id="4" name="投影片編號版面配置區 3">
            <a:extLst>
              <a:ext uri="{FF2B5EF4-FFF2-40B4-BE49-F238E27FC236}">
                <a16:creationId xmlns:a16="http://schemas.microsoft.com/office/drawing/2014/main" id="{60CA0810-4991-1DC4-F079-FF09F753C86D}"/>
              </a:ext>
            </a:extLst>
          </p:cNvPr>
          <p:cNvSpPr>
            <a:spLocks noGrp="1"/>
          </p:cNvSpPr>
          <p:nvPr>
            <p:ph type="sldNum" sz="quarter" idx="10"/>
          </p:nvPr>
        </p:nvSpPr>
        <p:spPr/>
        <p:txBody>
          <a:bodyPr/>
          <a:lstStyle/>
          <a:p>
            <a:fld id="{7320D120-4707-426F-9B85-873E256A6635}" type="slidenum">
              <a:rPr lang="zh-TW" altLang="en-US" smtClean="0"/>
              <a:pPr/>
              <a:t>24</a:t>
            </a:fld>
            <a:endParaRPr lang="zh-TW" altLang="en-US"/>
          </a:p>
        </p:txBody>
      </p:sp>
    </p:spTree>
    <p:extLst>
      <p:ext uri="{BB962C8B-B14F-4D97-AF65-F5344CB8AC3E}">
        <p14:creationId xmlns:p14="http://schemas.microsoft.com/office/powerpoint/2010/main" val="13713150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97892-EBB5-0BE7-33FE-8EC0FF6BBA8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31B234CD-6B9D-A5BE-2656-27513E730FF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E4D3605-1DBC-1E02-82AD-7BD4055BF64D}"/>
              </a:ext>
            </a:extLst>
          </p:cNvPr>
          <p:cNvSpPr>
            <a:spLocks noGrp="1"/>
          </p:cNvSpPr>
          <p:nvPr>
            <p:ph type="body" idx="1"/>
          </p:nvPr>
        </p:nvSpPr>
        <p:spPr/>
        <p:txBody>
          <a:bodyPr>
            <a:normAutofit/>
          </a:bodyPr>
          <a:lstStyle/>
          <a:p>
            <a:r>
              <a:rPr lang="en-US" sz="1200" b="0" i="0" kern="1200" dirty="0" err="1">
                <a:solidFill>
                  <a:schemeClr val="tx1"/>
                </a:solidFill>
                <a:effectLst/>
                <a:latin typeface="+mn-lt"/>
                <a:ea typeface="+mn-ea"/>
                <a:cs typeface="+mn-cs"/>
              </a:rPr>
              <a:t>TaiChi's</a:t>
            </a:r>
            <a:r>
              <a:rPr lang="en-US" sz="1200" b="0" i="0" kern="1200" dirty="0">
                <a:solidFill>
                  <a:schemeClr val="tx1"/>
                </a:solidFill>
                <a:effectLst/>
                <a:latin typeface="+mn-lt"/>
                <a:ea typeface="+mn-ea"/>
                <a:cs typeface="+mn-cs"/>
              </a:rPr>
              <a:t> results are striking: </a:t>
            </a:r>
            <a:r>
              <a:rPr lang="en-US" sz="1200" b="1" i="0" kern="1200" dirty="0">
                <a:solidFill>
                  <a:schemeClr val="tx1"/>
                </a:solidFill>
                <a:effectLst/>
                <a:latin typeface="+mn-lt"/>
                <a:ea typeface="+mn-ea"/>
                <a:cs typeface="+mn-cs"/>
              </a:rPr>
              <a:t>Up to 77% goodput improvement</a:t>
            </a:r>
            <a:r>
              <a:rPr lang="en-US" sz="1200" b="0" i="0" kern="1200" dirty="0">
                <a:solidFill>
                  <a:schemeClr val="tx1"/>
                </a:solidFill>
                <a:effectLst/>
                <a:latin typeface="+mn-lt"/>
                <a:ea typeface="+mn-ea"/>
                <a:cs typeface="+mn-cs"/>
              </a:rPr>
              <a:t> over state-of-the-art systems. Specifically:</a:t>
            </a:r>
          </a:p>
          <a:p>
            <a:endParaRPr lang="en-US" altLang="zh-TW"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Under balanced SLOs, </a:t>
            </a:r>
            <a:r>
              <a:rPr lang="en-US" sz="1200" b="0" i="0" kern="1200" dirty="0" err="1">
                <a:solidFill>
                  <a:schemeClr val="tx1"/>
                </a:solidFill>
                <a:effectLst/>
                <a:latin typeface="+mn-lt"/>
                <a:ea typeface="+mn-ea"/>
                <a:cs typeface="+mn-cs"/>
              </a:rPr>
              <a:t>TaiChi</a:t>
            </a:r>
            <a:r>
              <a:rPr lang="en-US" sz="1200" b="0" i="0" kern="1200" dirty="0">
                <a:solidFill>
                  <a:schemeClr val="tx1"/>
                </a:solidFill>
                <a:effectLst/>
                <a:latin typeface="+mn-lt"/>
                <a:ea typeface="+mn-ea"/>
                <a:cs typeface="+mn-cs"/>
              </a:rPr>
              <a:t> achieves 1.29-1.77× higher goodput than PD disaggregation.</a:t>
            </a:r>
          </a:p>
          <a:p>
            <a:pPr fontAlgn="base"/>
            <a:br>
              <a:rPr lang="en-US" dirty="0"/>
            </a:br>
            <a:r>
              <a:rPr lang="en-US" sz="1200" b="0" i="0" kern="1200" dirty="0">
                <a:solidFill>
                  <a:schemeClr val="tx1"/>
                </a:solidFill>
                <a:effectLst/>
                <a:latin typeface="+mn-lt"/>
                <a:ea typeface="+mn-ea"/>
                <a:cs typeface="+mn-cs"/>
              </a:rPr>
              <a:t>TTFT is reduced by up to </a:t>
            </a:r>
            <a:r>
              <a:rPr lang="en-US" sz="1200" b="1" i="0" kern="1200" dirty="0">
                <a:solidFill>
                  <a:schemeClr val="tx1"/>
                </a:solidFill>
                <a:effectLst/>
                <a:latin typeface="+mn-lt"/>
                <a:ea typeface="+mn-ea"/>
                <a:cs typeface="+mn-cs"/>
              </a:rPr>
              <a:t>13.2×</a:t>
            </a:r>
            <a:r>
              <a:rPr lang="en-US" sz="1200" b="0" i="0" kern="1200" dirty="0">
                <a:solidFill>
                  <a:schemeClr val="tx1"/>
                </a:solidFill>
                <a:effectLst/>
                <a:latin typeface="+mn-lt"/>
                <a:ea typeface="+mn-ea"/>
                <a:cs typeface="+mn-cs"/>
              </a:rPr>
              <a:t> compared to disaggregation.</a:t>
            </a:r>
          </a:p>
          <a:p>
            <a:pPr fontAlgn="base"/>
            <a:br>
              <a:rPr lang="en-US" dirty="0"/>
            </a:br>
            <a:r>
              <a:rPr lang="en-US" sz="1200" b="0" i="0" kern="1200" dirty="0">
                <a:solidFill>
                  <a:schemeClr val="tx1"/>
                </a:solidFill>
                <a:effectLst/>
                <a:latin typeface="+mn-lt"/>
                <a:ea typeface="+mn-ea"/>
                <a:cs typeface="+mn-cs"/>
              </a:rPr>
              <a:t>TPOT is reduced by up to </a:t>
            </a:r>
            <a:r>
              <a:rPr lang="en-US" sz="1200" b="1" i="0" kern="1200" dirty="0">
                <a:solidFill>
                  <a:schemeClr val="tx1"/>
                </a:solidFill>
                <a:effectLst/>
                <a:latin typeface="+mn-lt"/>
                <a:ea typeface="+mn-ea"/>
                <a:cs typeface="+mn-cs"/>
              </a:rPr>
              <a:t>1.69×</a:t>
            </a:r>
            <a:r>
              <a:rPr lang="en-US" sz="1200" b="0" i="0" kern="1200" dirty="0">
                <a:solidFill>
                  <a:schemeClr val="tx1"/>
                </a:solidFill>
                <a:effectLst/>
                <a:latin typeface="+mn-lt"/>
                <a:ea typeface="+mn-ea"/>
                <a:cs typeface="+mn-cs"/>
              </a:rPr>
              <a:t> compared to aggregation.</a:t>
            </a:r>
          </a:p>
          <a:p>
            <a:br>
              <a:rPr lang="en-US" dirty="0"/>
            </a:br>
            <a:endParaRPr lang="zh-TW" altLang="en-US" dirty="0"/>
          </a:p>
        </p:txBody>
      </p:sp>
      <p:sp>
        <p:nvSpPr>
          <p:cNvPr id="4" name="投影片編號版面配置區 3">
            <a:extLst>
              <a:ext uri="{FF2B5EF4-FFF2-40B4-BE49-F238E27FC236}">
                <a16:creationId xmlns:a16="http://schemas.microsoft.com/office/drawing/2014/main" id="{2ED3B2E1-B6B5-8507-FA0C-4DAD5E6EBD23}"/>
              </a:ext>
            </a:extLst>
          </p:cNvPr>
          <p:cNvSpPr>
            <a:spLocks noGrp="1"/>
          </p:cNvSpPr>
          <p:nvPr>
            <p:ph type="sldNum" sz="quarter" idx="10"/>
          </p:nvPr>
        </p:nvSpPr>
        <p:spPr/>
        <p:txBody>
          <a:bodyPr/>
          <a:lstStyle/>
          <a:p>
            <a:fld id="{7320D120-4707-426F-9B85-873E256A6635}" type="slidenum">
              <a:rPr lang="zh-TW" altLang="en-US" smtClean="0"/>
              <a:pPr/>
              <a:t>25</a:t>
            </a:fld>
            <a:endParaRPr lang="zh-TW" altLang="en-US"/>
          </a:p>
        </p:txBody>
      </p:sp>
    </p:spTree>
    <p:extLst>
      <p:ext uri="{BB962C8B-B14F-4D97-AF65-F5344CB8AC3E}">
        <p14:creationId xmlns:p14="http://schemas.microsoft.com/office/powerpoint/2010/main" val="26192831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CCC87-0D64-FE5F-4CD1-738253AED052}"/>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171966AF-6B2B-6C33-C347-5B73CEF3C61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F920EA3-8B38-10BF-2756-D3F2396F8E41}"/>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The breakdown analysis shows that the hybrid architecture alone provides the foundation, flowing decode scheduling adds 12.9% SLO attainment by controlling TPOT, and length-aware prefill scheduling adds another 11.7% by managing TTFT.</a:t>
            </a:r>
          </a:p>
          <a:p>
            <a:br>
              <a:rPr lang="en-US" dirty="0"/>
            </a:br>
            <a:endParaRPr lang="zh-TW" altLang="en-US" dirty="0"/>
          </a:p>
        </p:txBody>
      </p:sp>
      <p:sp>
        <p:nvSpPr>
          <p:cNvPr id="4" name="投影片編號版面配置區 3">
            <a:extLst>
              <a:ext uri="{FF2B5EF4-FFF2-40B4-BE49-F238E27FC236}">
                <a16:creationId xmlns:a16="http://schemas.microsoft.com/office/drawing/2014/main" id="{E4D6F15C-2679-A8FF-1E6A-B0B95BAF1083}"/>
              </a:ext>
            </a:extLst>
          </p:cNvPr>
          <p:cNvSpPr>
            <a:spLocks noGrp="1"/>
          </p:cNvSpPr>
          <p:nvPr>
            <p:ph type="sldNum" sz="quarter" idx="10"/>
          </p:nvPr>
        </p:nvSpPr>
        <p:spPr/>
        <p:txBody>
          <a:bodyPr/>
          <a:lstStyle/>
          <a:p>
            <a:fld id="{7320D120-4707-426F-9B85-873E256A6635}" type="slidenum">
              <a:rPr lang="zh-TW" altLang="en-US" smtClean="0"/>
              <a:pPr/>
              <a:t>26</a:t>
            </a:fld>
            <a:endParaRPr lang="zh-TW" altLang="en-US"/>
          </a:p>
        </p:txBody>
      </p:sp>
    </p:spTree>
    <p:extLst>
      <p:ext uri="{BB962C8B-B14F-4D97-AF65-F5344CB8AC3E}">
        <p14:creationId xmlns:p14="http://schemas.microsoft.com/office/powerpoint/2010/main" val="4964372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98E2F-5A95-481D-FE2D-60E4AC5BF5A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312C5084-5851-E82C-A6BC-300D6984636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AFF8761-566D-D0D4-9254-669F6EF55E45}"/>
              </a:ext>
            </a:extLst>
          </p:cNvPr>
          <p:cNvSpPr>
            <a:spLocks noGrp="1"/>
          </p:cNvSpPr>
          <p:nvPr>
            <p:ph type="body" idx="1"/>
          </p:nvPr>
        </p:nvSpPr>
        <p:spPr/>
        <p:txBody>
          <a:bodyPr>
            <a:normAutofit/>
          </a:bodyPr>
          <a:lstStyle/>
          <a:p>
            <a:r>
              <a:rPr lang="en-US" altLang="zh-TW" dirty="0"/>
              <a:t>Next is our </a:t>
            </a:r>
            <a:r>
              <a:rPr lang="en-US" altLang="zh-TW" dirty="0" err="1"/>
              <a:t>conclusioin</a:t>
            </a:r>
            <a:endParaRPr lang="zh-TW" altLang="en-US" dirty="0"/>
          </a:p>
        </p:txBody>
      </p:sp>
      <p:sp>
        <p:nvSpPr>
          <p:cNvPr id="4" name="投影片編號版面配置區 3">
            <a:extLst>
              <a:ext uri="{FF2B5EF4-FFF2-40B4-BE49-F238E27FC236}">
                <a16:creationId xmlns:a16="http://schemas.microsoft.com/office/drawing/2014/main" id="{8D4C13E6-D328-EF7A-0AFD-C1F4D644738D}"/>
              </a:ext>
            </a:extLst>
          </p:cNvPr>
          <p:cNvSpPr>
            <a:spLocks noGrp="1"/>
          </p:cNvSpPr>
          <p:nvPr>
            <p:ph type="sldNum" sz="quarter" idx="10"/>
          </p:nvPr>
        </p:nvSpPr>
        <p:spPr/>
        <p:txBody>
          <a:bodyPr/>
          <a:lstStyle/>
          <a:p>
            <a:fld id="{7320D120-4707-426F-9B85-873E256A6635}" type="slidenum">
              <a:rPr lang="zh-TW" altLang="en-US" smtClean="0"/>
              <a:pPr/>
              <a:t>27</a:t>
            </a:fld>
            <a:endParaRPr lang="zh-TW" altLang="en-US"/>
          </a:p>
        </p:txBody>
      </p:sp>
    </p:spTree>
    <p:extLst>
      <p:ext uri="{BB962C8B-B14F-4D97-AF65-F5344CB8AC3E}">
        <p14:creationId xmlns:p14="http://schemas.microsoft.com/office/powerpoint/2010/main" val="36514523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48EA8-0346-6397-C90E-EB0297E00DAE}"/>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11ADD856-5DD4-4E1F-9593-16737F10332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3647063-0276-F34E-10C8-D83580A98CB4}"/>
              </a:ext>
            </a:extLst>
          </p:cNvPr>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(click) cache is the king</a:t>
            </a:r>
          </a:p>
          <a:p>
            <a:r>
              <a:rPr lang="en-US" sz="1200" b="0" i="0" kern="1200" dirty="0">
                <a:solidFill>
                  <a:schemeClr val="tx1"/>
                </a:solidFill>
                <a:effectLst/>
                <a:latin typeface="+mn-lt"/>
                <a:ea typeface="+mn-ea"/>
                <a:cs typeface="+mn-cs"/>
              </a:rPr>
              <a:t>(click) Flexibility matter</a:t>
            </a:r>
          </a:p>
          <a:p>
            <a:r>
              <a:rPr lang="en-US" sz="1200" b="0" i="0" kern="1200" dirty="0">
                <a:solidFill>
                  <a:schemeClr val="tx1"/>
                </a:solidFill>
                <a:effectLst/>
                <a:latin typeface="+mn-lt"/>
                <a:ea typeface="+mn-ea"/>
                <a:cs typeface="+mn-cs"/>
              </a:rPr>
              <a:t>(click) Balance is </a:t>
            </a:r>
            <a:r>
              <a:rPr lang="en-US" sz="1200" b="0" i="0" kern="1200" dirty="0" err="1">
                <a:solidFill>
                  <a:schemeClr val="tx1"/>
                </a:solidFill>
                <a:effectLst/>
                <a:latin typeface="+mn-lt"/>
                <a:ea typeface="+mn-ea"/>
                <a:cs typeface="+mn-cs"/>
              </a:rPr>
              <a:t>ahievable</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future of LLM serving lies not in choosing between aggregation or disaggregation, but in </a:t>
            </a:r>
            <a:r>
              <a:rPr lang="en-US" sz="1200" b="1" i="0" kern="1200" dirty="0">
                <a:solidFill>
                  <a:schemeClr val="tx1"/>
                </a:solidFill>
                <a:effectLst/>
                <a:latin typeface="+mn-lt"/>
                <a:ea typeface="+mn-ea"/>
                <a:cs typeface="+mn-cs"/>
              </a:rPr>
              <a:t>intelligently orchestrating both</a:t>
            </a:r>
            <a:r>
              <a:rPr lang="en-US" sz="1200" b="0" i="0" kern="1200" dirty="0">
                <a:solidFill>
                  <a:schemeClr val="tx1"/>
                </a:solidFill>
                <a:effectLst/>
                <a:latin typeface="+mn-lt"/>
                <a:ea typeface="+mn-ea"/>
                <a:cs typeface="+mn-cs"/>
              </a:rPr>
              <a:t> based on workload, SLOs, and available resources.</a:t>
            </a:r>
          </a:p>
        </p:txBody>
      </p:sp>
      <p:sp>
        <p:nvSpPr>
          <p:cNvPr id="4" name="投影片編號版面配置區 3">
            <a:extLst>
              <a:ext uri="{FF2B5EF4-FFF2-40B4-BE49-F238E27FC236}">
                <a16:creationId xmlns:a16="http://schemas.microsoft.com/office/drawing/2014/main" id="{78A0229B-593C-D048-8069-99FF37A019C8}"/>
              </a:ext>
            </a:extLst>
          </p:cNvPr>
          <p:cNvSpPr>
            <a:spLocks noGrp="1"/>
          </p:cNvSpPr>
          <p:nvPr>
            <p:ph type="sldNum" sz="quarter" idx="10"/>
          </p:nvPr>
        </p:nvSpPr>
        <p:spPr/>
        <p:txBody>
          <a:bodyPr/>
          <a:lstStyle/>
          <a:p>
            <a:fld id="{7320D120-4707-426F-9B85-873E256A6635}" type="slidenum">
              <a:rPr lang="zh-TW" altLang="en-US" smtClean="0"/>
              <a:pPr/>
              <a:t>28</a:t>
            </a:fld>
            <a:endParaRPr lang="zh-TW" altLang="en-US"/>
          </a:p>
        </p:txBody>
      </p:sp>
    </p:spTree>
    <p:extLst>
      <p:ext uri="{BB962C8B-B14F-4D97-AF65-F5344CB8AC3E}">
        <p14:creationId xmlns:p14="http://schemas.microsoft.com/office/powerpoint/2010/main" val="38270591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A0917-B3AA-DEB7-DE04-95DD6C5FE260}"/>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CC5745D-8308-9A09-250E-649D78EFDAA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2C5D64F-242A-6768-20AC-400E2AE23DBA}"/>
              </a:ext>
            </a:extLst>
          </p:cNvPr>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Thank you for your attention. I'm happy to take questions on any aspect of these systems—their design trade-offs, implementation challenges, or how they might apply to your specific serving scenarios.</a:t>
            </a:r>
            <a:endParaRPr lang="zh-TW" altLang="en-US" dirty="0"/>
          </a:p>
        </p:txBody>
      </p:sp>
      <p:sp>
        <p:nvSpPr>
          <p:cNvPr id="4" name="投影片編號版面配置區 3">
            <a:extLst>
              <a:ext uri="{FF2B5EF4-FFF2-40B4-BE49-F238E27FC236}">
                <a16:creationId xmlns:a16="http://schemas.microsoft.com/office/drawing/2014/main" id="{12C9867A-350C-B6B8-BC2B-BACEA7EB2C36}"/>
              </a:ext>
            </a:extLst>
          </p:cNvPr>
          <p:cNvSpPr>
            <a:spLocks noGrp="1"/>
          </p:cNvSpPr>
          <p:nvPr>
            <p:ph type="sldNum" sz="quarter" idx="10"/>
          </p:nvPr>
        </p:nvSpPr>
        <p:spPr/>
        <p:txBody>
          <a:bodyPr/>
          <a:lstStyle/>
          <a:p>
            <a:fld id="{7320D120-4707-426F-9B85-873E256A6635}" type="slidenum">
              <a:rPr lang="zh-TW" altLang="en-US" smtClean="0"/>
              <a:pPr/>
              <a:t>29</a:t>
            </a:fld>
            <a:endParaRPr lang="zh-TW" altLang="en-US"/>
          </a:p>
        </p:txBody>
      </p:sp>
    </p:spTree>
    <p:extLst>
      <p:ext uri="{BB962C8B-B14F-4D97-AF65-F5344CB8AC3E}">
        <p14:creationId xmlns:p14="http://schemas.microsoft.com/office/powerpoint/2010/main" val="1670712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1471" y="1406845"/>
            <a:ext cx="11396871" cy="1882455"/>
          </a:xfrm>
        </p:spPr>
        <p:txBody>
          <a:bodyPr/>
          <a:lstStyle/>
          <a:p>
            <a:pPr algn="ctr"/>
            <a:r>
              <a:rPr lang="en-US" altLang="zh-CN" sz="4800" dirty="0">
                <a:effectLst>
                  <a:outerShdw blurRad="38100" dist="38100" dir="2700000" algn="tl">
                    <a:srgbClr val="000000">
                      <a:alpha val="43137"/>
                    </a:srgbClr>
                  </a:outerShdw>
                </a:effectLst>
              </a:rPr>
              <a:t>PD-Disaggregation in Large Language Models</a:t>
            </a:r>
            <a:endParaRPr lang="zh-TW" altLang="en-US" sz="3200" b="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28800" y="3855632"/>
            <a:ext cx="8534400" cy="1882455"/>
          </a:xfrm>
        </p:spPr>
        <p:txBody>
          <a:bodyPr/>
          <a:lstStyle/>
          <a:p>
            <a:r>
              <a:rPr lang="en-US" altLang="zh-TW" sz="3200" dirty="0" err="1">
                <a:effectLst>
                  <a:outerShdw blurRad="38100" dist="38100" dir="2700000" algn="tl">
                    <a:srgbClr val="000000">
                      <a:alpha val="43137"/>
                    </a:srgbClr>
                  </a:outerShdw>
                </a:effectLst>
              </a:rPr>
              <a:t>Chengxuan</a:t>
            </a:r>
            <a:r>
              <a:rPr lang="en-US" altLang="zh-TW" sz="3200" dirty="0">
                <a:effectLst>
                  <a:outerShdw blurRad="38100" dist="38100" dir="2700000" algn="tl">
                    <a:srgbClr val="000000">
                      <a:alpha val="43137"/>
                    </a:srgbClr>
                  </a:outerShdw>
                </a:effectLst>
              </a:rPr>
              <a:t> PEI</a:t>
            </a:r>
          </a:p>
          <a:p>
            <a:r>
              <a:rPr lang="en-US" altLang="zh-TW" sz="3200" dirty="0"/>
              <a:t>School of </a:t>
            </a:r>
            <a:r>
              <a:rPr lang="en-US" altLang="zh-CN" sz="3200" dirty="0"/>
              <a:t>Data </a:t>
            </a:r>
            <a:r>
              <a:rPr lang="en-US" altLang="zh-TW" sz="3200" dirty="0"/>
              <a:t>Science</a:t>
            </a:r>
          </a:p>
          <a:p>
            <a:r>
              <a:rPr lang="en-US" altLang="zh-TW" sz="32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423" y="1125536"/>
            <a:ext cx="10270977" cy="5399091"/>
          </a:xfrm>
        </p:spPr>
        <p:txBody>
          <a:bodyPr>
            <a:noAutofit/>
          </a:bodyPr>
          <a:lstStyle/>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Introduction</a:t>
            </a:r>
          </a:p>
          <a:p>
            <a:pPr lvl="1">
              <a:buClr>
                <a:schemeClr val="accent4"/>
              </a:buClr>
              <a:buFont typeface="Wingdings" pitchFamily="2" charset="2"/>
              <a:buChar char="v"/>
            </a:pPr>
            <a:r>
              <a:rPr lang="en-US" altLang="zh-TW" sz="1800" dirty="0">
                <a:solidFill>
                  <a:schemeClr val="bg1">
                    <a:lumMod val="50000"/>
                  </a:schemeClr>
                </a:solidFill>
                <a:latin typeface="Times New Roman" panose="02020603050405020304" pitchFamily="18" charset="0"/>
                <a:cs typeface="Times New Roman" panose="02020603050405020304" pitchFamily="18" charset="0"/>
              </a:rPr>
              <a:t>Transformer Architecture, Two-Phase Inference, KV Cache.</a:t>
            </a: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Background</a:t>
            </a:r>
          </a:p>
          <a:p>
            <a:pPr lvl="1">
              <a:buClr>
                <a:schemeClr val="accent4"/>
              </a:buClr>
              <a:buFont typeface="Wingdings" pitchFamily="2" charset="2"/>
              <a:buChar char="v"/>
            </a:pPr>
            <a:r>
              <a:rPr lang="en-US" altLang="zh-CN" sz="1800" dirty="0">
                <a:solidFill>
                  <a:schemeClr val="bg1">
                    <a:lumMod val="50000"/>
                  </a:schemeClr>
                </a:solidFill>
                <a:latin typeface="Times New Roman" panose="02020603050405020304" pitchFamily="18" charset="0"/>
                <a:cs typeface="Times New Roman" panose="02020603050405020304" pitchFamily="18" charset="0"/>
              </a:rPr>
              <a:t>Aggregation vs. Disaggregation. Trade-offs and Real-World Workload Challenges.</a:t>
            </a: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1: Mooncake</a:t>
            </a:r>
            <a:r>
              <a:rPr lang="en-US" altLang="zh-CN" sz="2933" baseline="30000" dirty="0">
                <a:latin typeface="Times New Roman" panose="02020603050405020304" pitchFamily="18" charset="0"/>
                <a:cs typeface="Times New Roman" panose="02020603050405020304" pitchFamily="18" charset="0"/>
              </a:rPr>
              <a:t>1</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1, </a:t>
            </a:r>
            <a:r>
              <a:rPr lang="en-US" sz="1200" dirty="0">
                <a:solidFill>
                  <a:schemeClr val="bg1">
                    <a:lumMod val="50000"/>
                  </a:schemeClr>
                </a:solidFill>
                <a:latin typeface="Times New Roman" panose="02020603050405020304" pitchFamily="18" charset="0"/>
                <a:cs typeface="Times New Roman" panose="02020603050405020304" pitchFamily="18" charset="0"/>
              </a:rPr>
              <a:t>Qin, R., Li, Z., He, W., Cui, J., Tang, H., Ren, F., ... &amp; Xu, X. (2024). Mooncake: A </a:t>
            </a:r>
            <a:r>
              <a:rPr lang="en-US" sz="1200" dirty="0" err="1">
                <a:solidFill>
                  <a:schemeClr val="bg1">
                    <a:lumMod val="50000"/>
                  </a:schemeClr>
                </a:solidFill>
                <a:latin typeface="Times New Roman" panose="02020603050405020304" pitchFamily="18" charset="0"/>
                <a:cs typeface="Times New Roman" panose="02020603050405020304" pitchFamily="18" charset="0"/>
              </a:rPr>
              <a:t>kvcache</a:t>
            </a:r>
            <a:r>
              <a:rPr lang="en-US" sz="1200" dirty="0">
                <a:solidFill>
                  <a:schemeClr val="bg1">
                    <a:lumMod val="50000"/>
                  </a:schemeClr>
                </a:solidFill>
                <a:latin typeface="Times New Roman" panose="02020603050405020304" pitchFamily="18" charset="0"/>
                <a:cs typeface="Times New Roman" panose="02020603050405020304" pitchFamily="18" charset="0"/>
              </a:rPr>
              <a:t>-centric disaggregated architecture for </a:t>
            </a:r>
            <a:r>
              <a:rPr lang="en-US" sz="1200" dirty="0" err="1">
                <a:solidFill>
                  <a:schemeClr val="bg1">
                    <a:lumMod val="50000"/>
                  </a:schemeClr>
                </a:solidFill>
                <a:latin typeface="Times New Roman" panose="02020603050405020304" pitchFamily="18" charset="0"/>
                <a:cs typeface="Times New Roman" panose="02020603050405020304" pitchFamily="18" charset="0"/>
              </a:rPr>
              <a:t>llm</a:t>
            </a:r>
            <a:r>
              <a:rPr lang="en-US" sz="1200" dirty="0">
                <a:solidFill>
                  <a:schemeClr val="bg1">
                    <a:lumMod val="50000"/>
                  </a:schemeClr>
                </a:solidFill>
                <a:latin typeface="Times New Roman" panose="02020603050405020304" pitchFamily="18" charset="0"/>
                <a:cs typeface="Times New Roman" panose="02020603050405020304" pitchFamily="18" charset="0"/>
              </a:rPr>
              <a:t> serving. ACM Transactions on Storage.</a:t>
            </a:r>
            <a:endParaRPr lang="en-US" altLang="zh-CN" sz="12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2: NynaServe</a:t>
            </a:r>
            <a:r>
              <a:rPr lang="en-US" altLang="zh-CN" sz="2933" baseline="30000" dirty="0">
                <a:latin typeface="Times New Roman" panose="02020603050405020304" pitchFamily="18" charset="0"/>
                <a:cs typeface="Times New Roman" panose="02020603050405020304" pitchFamily="18" charset="0"/>
              </a:rPr>
              <a:t>2</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2,</a:t>
            </a:r>
            <a:r>
              <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rPr>
              <a:t> </a:t>
            </a:r>
            <a:r>
              <a:rPr lang="en-US" sz="1200" dirty="0">
                <a:solidFill>
                  <a:schemeClr val="bg1">
                    <a:lumMod val="50000"/>
                  </a:schemeClr>
                </a:solidFill>
                <a:latin typeface="Times New Roman" panose="02020603050405020304" pitchFamily="18" charset="0"/>
                <a:cs typeface="Times New Roman" panose="02020603050405020304" pitchFamily="18" charset="0"/>
              </a:rPr>
              <a:t>Ruan, C., Chen, Y., Tian, D., Shi, Y., Wu, Y., Li, J., &amp; Li, C. (2025). </a:t>
            </a:r>
            <a:r>
              <a:rPr lang="en-US" sz="1200" dirty="0" err="1">
                <a:solidFill>
                  <a:schemeClr val="bg1">
                    <a:lumMod val="50000"/>
                  </a:schemeClr>
                </a:solidFill>
                <a:latin typeface="Times New Roman" panose="02020603050405020304" pitchFamily="18" charset="0"/>
                <a:cs typeface="Times New Roman" panose="02020603050405020304" pitchFamily="18" charset="0"/>
              </a:rPr>
              <a:t>DynaServe</a:t>
            </a:r>
            <a:r>
              <a:rPr lang="en-US" sz="1200" dirty="0">
                <a:solidFill>
                  <a:schemeClr val="bg1">
                    <a:lumMod val="50000"/>
                  </a:schemeClr>
                </a:solidFill>
                <a:latin typeface="Times New Roman" panose="02020603050405020304" pitchFamily="18" charset="0"/>
                <a:cs typeface="Times New Roman" panose="02020603050405020304" pitchFamily="18" charset="0"/>
              </a:rPr>
              <a:t>: Unified and Elastic Execution for Dynamic Disaggregated LLM Serving. </a:t>
            </a:r>
            <a:r>
              <a:rPr lang="en-US" sz="1200" dirty="0" err="1">
                <a:solidFill>
                  <a:schemeClr val="bg1">
                    <a:lumMod val="50000"/>
                  </a:schemeClr>
                </a:solidFill>
                <a:latin typeface="Times New Roman" panose="02020603050405020304" pitchFamily="18" charset="0"/>
                <a:cs typeface="Times New Roman" panose="02020603050405020304" pitchFamily="18" charset="0"/>
              </a:rPr>
              <a:t>arXiv</a:t>
            </a:r>
            <a:r>
              <a:rPr lang="en-US" sz="1200" dirty="0">
                <a:solidFill>
                  <a:schemeClr val="bg1">
                    <a:lumMod val="50000"/>
                  </a:schemeClr>
                </a:solidFill>
                <a:latin typeface="Times New Roman" panose="02020603050405020304" pitchFamily="18" charset="0"/>
                <a:cs typeface="Times New Roman" panose="02020603050405020304" pitchFamily="18" charset="0"/>
              </a:rPr>
              <a:t> preprint arXiv:2504.09285.</a:t>
            </a:r>
            <a:endPar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3: TaiChi</a:t>
            </a:r>
            <a:r>
              <a:rPr lang="en-US" altLang="zh-CN" sz="2933" baseline="30000" dirty="0">
                <a:latin typeface="Times New Roman" panose="02020603050405020304" pitchFamily="18" charset="0"/>
                <a:cs typeface="Times New Roman" panose="02020603050405020304" pitchFamily="18" charset="0"/>
              </a:rPr>
              <a:t>3</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3, </a:t>
            </a:r>
            <a:r>
              <a:rPr lang="en-US" sz="1200" dirty="0">
                <a:solidFill>
                  <a:schemeClr val="bg1">
                    <a:lumMod val="50000"/>
                  </a:schemeClr>
                </a:solidFill>
                <a:latin typeface="Times New Roman" panose="02020603050405020304" pitchFamily="18" charset="0"/>
                <a:cs typeface="Times New Roman" panose="02020603050405020304" pitchFamily="18" charset="0"/>
              </a:rPr>
              <a:t>Wang, C., Zuo, P., Chen, Z., Liang, Y., Yu, Z., &amp; Yang, M. C. (2025). Prefill-decode aggregation or disaggregation? unifying both for goodput-optimized </a:t>
            </a:r>
            <a:r>
              <a:rPr lang="en-US" sz="1200" dirty="0" err="1">
                <a:solidFill>
                  <a:schemeClr val="bg1">
                    <a:lumMod val="50000"/>
                  </a:schemeClr>
                </a:solidFill>
                <a:latin typeface="Times New Roman" panose="02020603050405020304" pitchFamily="18" charset="0"/>
                <a:cs typeface="Times New Roman" panose="02020603050405020304" pitchFamily="18" charset="0"/>
              </a:rPr>
              <a:t>llm</a:t>
            </a:r>
            <a:r>
              <a:rPr lang="en-US" sz="1200" dirty="0">
                <a:solidFill>
                  <a:schemeClr val="bg1">
                    <a:lumMod val="50000"/>
                  </a:schemeClr>
                </a:solidFill>
                <a:latin typeface="Times New Roman" panose="02020603050405020304" pitchFamily="18" charset="0"/>
                <a:cs typeface="Times New Roman" panose="02020603050405020304" pitchFamily="18" charset="0"/>
              </a:rPr>
              <a:t> serving. </a:t>
            </a:r>
            <a:r>
              <a:rPr lang="en-US" sz="1200" dirty="0" err="1">
                <a:solidFill>
                  <a:schemeClr val="bg1">
                    <a:lumMod val="50000"/>
                  </a:schemeClr>
                </a:solidFill>
                <a:latin typeface="Times New Roman" panose="02020603050405020304" pitchFamily="18" charset="0"/>
                <a:cs typeface="Times New Roman" panose="02020603050405020304" pitchFamily="18" charset="0"/>
              </a:rPr>
              <a:t>arXiv</a:t>
            </a:r>
            <a:r>
              <a:rPr lang="en-US" sz="1200" dirty="0">
                <a:solidFill>
                  <a:schemeClr val="bg1">
                    <a:lumMod val="50000"/>
                  </a:schemeClr>
                </a:solidFill>
                <a:latin typeface="Times New Roman" panose="02020603050405020304" pitchFamily="18" charset="0"/>
                <a:cs typeface="Times New Roman" panose="02020603050405020304" pitchFamily="18" charset="0"/>
              </a:rPr>
              <a:t> preprint arXiv:2508.01989.</a:t>
            </a:r>
            <a:endPar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Conclusion</a:t>
            </a:r>
          </a:p>
        </p:txBody>
      </p:sp>
      <p:sp>
        <p:nvSpPr>
          <p:cNvPr id="5" name="灯片编号占位符 1">
            <a:extLst>
              <a:ext uri="{FF2B5EF4-FFF2-40B4-BE49-F238E27FC236}">
                <a16:creationId xmlns:a16="http://schemas.microsoft.com/office/drawing/2014/main" id="{C8F1849A-008E-6EF5-AB10-F46E38150EF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A7AE2-5885-B01E-B04D-213495EB138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987EC0B-8DE6-12C1-5418-C39C7857B227}"/>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AEF01CB9-A94E-00E8-7715-0202767E537A}"/>
              </a:ext>
            </a:extLst>
          </p:cNvPr>
          <p:cNvSpPr>
            <a:spLocks noGrp="1"/>
          </p:cNvSpPr>
          <p:nvPr>
            <p:ph idx="1"/>
          </p:nvPr>
        </p:nvSpPr>
        <p:spPr>
          <a:xfrm>
            <a:off x="1311423" y="1125536"/>
            <a:ext cx="10270977" cy="5399091"/>
          </a:xfrm>
        </p:spPr>
        <p:txBody>
          <a:bodyPr>
            <a:noAutofit/>
          </a:bodyPr>
          <a:lstStyle/>
          <a:p>
            <a:pPr>
              <a:buClr>
                <a:schemeClr val="accent4"/>
              </a:buClr>
              <a:buFont typeface="Courier New" panose="02070309020205020404" pitchFamily="49" charset="0"/>
              <a:buChar char="o"/>
            </a:pPr>
            <a:r>
              <a:rPr lang="en-US" altLang="zh-CN" sz="2933" dirty="0">
                <a:solidFill>
                  <a:schemeClr val="accent6">
                    <a:lumMod val="75000"/>
                  </a:schemeClr>
                </a:solidFill>
                <a:latin typeface="Times New Roman" panose="02020603050405020304" pitchFamily="18" charset="0"/>
                <a:cs typeface="Times New Roman" panose="02020603050405020304" pitchFamily="18" charset="0"/>
              </a:rPr>
              <a:t>Introduction</a:t>
            </a:r>
          </a:p>
          <a:p>
            <a:pPr lvl="1">
              <a:buClr>
                <a:schemeClr val="accent4"/>
              </a:buClr>
              <a:buFont typeface="Wingdings" pitchFamily="2" charset="2"/>
              <a:buChar char="v"/>
            </a:pPr>
            <a:r>
              <a:rPr lang="en-US" altLang="zh-TW" sz="1800" dirty="0">
                <a:solidFill>
                  <a:schemeClr val="bg1">
                    <a:lumMod val="50000"/>
                  </a:schemeClr>
                </a:solidFill>
                <a:latin typeface="Times New Roman" panose="02020603050405020304" pitchFamily="18" charset="0"/>
                <a:cs typeface="Times New Roman" panose="02020603050405020304" pitchFamily="18" charset="0"/>
              </a:rPr>
              <a:t>Transformer Architecture, Two-Phase Inference, KV Cache.</a:t>
            </a: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Background</a:t>
            </a:r>
          </a:p>
          <a:p>
            <a:pPr lvl="1">
              <a:buClr>
                <a:schemeClr val="accent4"/>
              </a:buClr>
              <a:buFont typeface="Wingdings" pitchFamily="2" charset="2"/>
              <a:buChar char="v"/>
            </a:pPr>
            <a:r>
              <a:rPr lang="en-US" altLang="zh-CN" sz="1800" dirty="0">
                <a:solidFill>
                  <a:schemeClr val="bg1">
                    <a:lumMod val="50000"/>
                  </a:schemeClr>
                </a:solidFill>
                <a:latin typeface="Times New Roman" panose="02020603050405020304" pitchFamily="18" charset="0"/>
                <a:cs typeface="Times New Roman" panose="02020603050405020304" pitchFamily="18" charset="0"/>
              </a:rPr>
              <a:t>Aggregation vs. Disaggregation. Trade-offs and Real-World Workload Challenges.</a:t>
            </a: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1: Mooncake</a:t>
            </a:r>
            <a:r>
              <a:rPr lang="en-US" altLang="zh-CN" sz="2933" baseline="30000" dirty="0">
                <a:latin typeface="Times New Roman" panose="02020603050405020304" pitchFamily="18" charset="0"/>
                <a:cs typeface="Times New Roman" panose="02020603050405020304" pitchFamily="18" charset="0"/>
              </a:rPr>
              <a:t>1</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1, </a:t>
            </a:r>
            <a:r>
              <a:rPr lang="en-US" sz="1200" dirty="0">
                <a:solidFill>
                  <a:schemeClr val="bg1">
                    <a:lumMod val="50000"/>
                  </a:schemeClr>
                </a:solidFill>
                <a:latin typeface="Times New Roman" panose="02020603050405020304" pitchFamily="18" charset="0"/>
                <a:cs typeface="Times New Roman" panose="02020603050405020304" pitchFamily="18" charset="0"/>
              </a:rPr>
              <a:t>Qin, R., Li, Z., He, W., Cui, J., Tang, H., Ren, F., ... &amp; Xu, X. (2024). Mooncake: A </a:t>
            </a:r>
            <a:r>
              <a:rPr lang="en-US" sz="1200" dirty="0" err="1">
                <a:solidFill>
                  <a:schemeClr val="bg1">
                    <a:lumMod val="50000"/>
                  </a:schemeClr>
                </a:solidFill>
                <a:latin typeface="Times New Roman" panose="02020603050405020304" pitchFamily="18" charset="0"/>
                <a:cs typeface="Times New Roman" panose="02020603050405020304" pitchFamily="18" charset="0"/>
              </a:rPr>
              <a:t>kvcache</a:t>
            </a:r>
            <a:r>
              <a:rPr lang="en-US" sz="1200" dirty="0">
                <a:solidFill>
                  <a:schemeClr val="bg1">
                    <a:lumMod val="50000"/>
                  </a:schemeClr>
                </a:solidFill>
                <a:latin typeface="Times New Roman" panose="02020603050405020304" pitchFamily="18" charset="0"/>
                <a:cs typeface="Times New Roman" panose="02020603050405020304" pitchFamily="18" charset="0"/>
              </a:rPr>
              <a:t>-centric disaggregated architecture for </a:t>
            </a:r>
            <a:r>
              <a:rPr lang="en-US" sz="1200" dirty="0" err="1">
                <a:solidFill>
                  <a:schemeClr val="bg1">
                    <a:lumMod val="50000"/>
                  </a:schemeClr>
                </a:solidFill>
                <a:latin typeface="Times New Roman" panose="02020603050405020304" pitchFamily="18" charset="0"/>
                <a:cs typeface="Times New Roman" panose="02020603050405020304" pitchFamily="18" charset="0"/>
              </a:rPr>
              <a:t>llm</a:t>
            </a:r>
            <a:r>
              <a:rPr lang="en-US" sz="1200" dirty="0">
                <a:solidFill>
                  <a:schemeClr val="bg1">
                    <a:lumMod val="50000"/>
                  </a:schemeClr>
                </a:solidFill>
                <a:latin typeface="Times New Roman" panose="02020603050405020304" pitchFamily="18" charset="0"/>
                <a:cs typeface="Times New Roman" panose="02020603050405020304" pitchFamily="18" charset="0"/>
              </a:rPr>
              <a:t> serving. ACM Transactions on Storage.</a:t>
            </a:r>
            <a:endParaRPr lang="en-US" altLang="zh-CN" sz="12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2: NynaServe</a:t>
            </a:r>
            <a:r>
              <a:rPr lang="en-US" altLang="zh-CN" sz="2933" baseline="30000" dirty="0">
                <a:latin typeface="Times New Roman" panose="02020603050405020304" pitchFamily="18" charset="0"/>
                <a:cs typeface="Times New Roman" panose="02020603050405020304" pitchFamily="18" charset="0"/>
              </a:rPr>
              <a:t>2</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2,</a:t>
            </a:r>
            <a:r>
              <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rPr>
              <a:t> </a:t>
            </a:r>
            <a:r>
              <a:rPr lang="en-US" sz="1200" dirty="0">
                <a:solidFill>
                  <a:schemeClr val="bg1">
                    <a:lumMod val="50000"/>
                  </a:schemeClr>
                </a:solidFill>
                <a:latin typeface="Times New Roman" panose="02020603050405020304" pitchFamily="18" charset="0"/>
                <a:cs typeface="Times New Roman" panose="02020603050405020304" pitchFamily="18" charset="0"/>
              </a:rPr>
              <a:t>Ruan, C., Chen, Y., Tian, D., Shi, Y., Wu, Y., Li, J., &amp; Li, C. (2025). </a:t>
            </a:r>
            <a:r>
              <a:rPr lang="en-US" sz="1200" dirty="0" err="1">
                <a:solidFill>
                  <a:schemeClr val="bg1">
                    <a:lumMod val="50000"/>
                  </a:schemeClr>
                </a:solidFill>
                <a:latin typeface="Times New Roman" panose="02020603050405020304" pitchFamily="18" charset="0"/>
                <a:cs typeface="Times New Roman" panose="02020603050405020304" pitchFamily="18" charset="0"/>
              </a:rPr>
              <a:t>DynaServe</a:t>
            </a:r>
            <a:r>
              <a:rPr lang="en-US" sz="1200" dirty="0">
                <a:solidFill>
                  <a:schemeClr val="bg1">
                    <a:lumMod val="50000"/>
                  </a:schemeClr>
                </a:solidFill>
                <a:latin typeface="Times New Roman" panose="02020603050405020304" pitchFamily="18" charset="0"/>
                <a:cs typeface="Times New Roman" panose="02020603050405020304" pitchFamily="18" charset="0"/>
              </a:rPr>
              <a:t>: Unified and Elastic Execution for Dynamic Disaggregated LLM Serving. </a:t>
            </a:r>
            <a:r>
              <a:rPr lang="en-US" sz="1200" dirty="0" err="1">
                <a:solidFill>
                  <a:schemeClr val="bg1">
                    <a:lumMod val="50000"/>
                  </a:schemeClr>
                </a:solidFill>
                <a:latin typeface="Times New Roman" panose="02020603050405020304" pitchFamily="18" charset="0"/>
                <a:cs typeface="Times New Roman" panose="02020603050405020304" pitchFamily="18" charset="0"/>
              </a:rPr>
              <a:t>arXiv</a:t>
            </a:r>
            <a:r>
              <a:rPr lang="en-US" sz="1200" dirty="0">
                <a:solidFill>
                  <a:schemeClr val="bg1">
                    <a:lumMod val="50000"/>
                  </a:schemeClr>
                </a:solidFill>
                <a:latin typeface="Times New Roman" panose="02020603050405020304" pitchFamily="18" charset="0"/>
                <a:cs typeface="Times New Roman" panose="02020603050405020304" pitchFamily="18" charset="0"/>
              </a:rPr>
              <a:t> preprint arXiv:2504.09285.</a:t>
            </a:r>
            <a:endPar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3: TaiChi</a:t>
            </a:r>
            <a:r>
              <a:rPr lang="en-US" altLang="zh-CN" sz="2933" baseline="30000" dirty="0">
                <a:latin typeface="Times New Roman" panose="02020603050405020304" pitchFamily="18" charset="0"/>
                <a:cs typeface="Times New Roman" panose="02020603050405020304" pitchFamily="18" charset="0"/>
              </a:rPr>
              <a:t>3</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3, </a:t>
            </a:r>
            <a:r>
              <a:rPr lang="en-US" sz="1200" dirty="0">
                <a:solidFill>
                  <a:schemeClr val="bg1">
                    <a:lumMod val="50000"/>
                  </a:schemeClr>
                </a:solidFill>
                <a:latin typeface="Times New Roman" panose="02020603050405020304" pitchFamily="18" charset="0"/>
                <a:cs typeface="Times New Roman" panose="02020603050405020304" pitchFamily="18" charset="0"/>
              </a:rPr>
              <a:t>Wang, C., Zuo, P., Chen, Z., Liang, Y., Yu, Z., &amp; Yang, M. C. (2025). Prefill-decode aggregation or disaggregation? unifying both for goodput-optimized </a:t>
            </a:r>
            <a:r>
              <a:rPr lang="en-US" sz="1200" dirty="0" err="1">
                <a:solidFill>
                  <a:schemeClr val="bg1">
                    <a:lumMod val="50000"/>
                  </a:schemeClr>
                </a:solidFill>
                <a:latin typeface="Times New Roman" panose="02020603050405020304" pitchFamily="18" charset="0"/>
                <a:cs typeface="Times New Roman" panose="02020603050405020304" pitchFamily="18" charset="0"/>
              </a:rPr>
              <a:t>llm</a:t>
            </a:r>
            <a:r>
              <a:rPr lang="en-US" sz="1200" dirty="0">
                <a:solidFill>
                  <a:schemeClr val="bg1">
                    <a:lumMod val="50000"/>
                  </a:schemeClr>
                </a:solidFill>
                <a:latin typeface="Times New Roman" panose="02020603050405020304" pitchFamily="18" charset="0"/>
                <a:cs typeface="Times New Roman" panose="02020603050405020304" pitchFamily="18" charset="0"/>
              </a:rPr>
              <a:t> serving. </a:t>
            </a:r>
            <a:r>
              <a:rPr lang="en-US" sz="1200" dirty="0" err="1">
                <a:solidFill>
                  <a:schemeClr val="bg1">
                    <a:lumMod val="50000"/>
                  </a:schemeClr>
                </a:solidFill>
                <a:latin typeface="Times New Roman" panose="02020603050405020304" pitchFamily="18" charset="0"/>
                <a:cs typeface="Times New Roman" panose="02020603050405020304" pitchFamily="18" charset="0"/>
              </a:rPr>
              <a:t>arXiv</a:t>
            </a:r>
            <a:r>
              <a:rPr lang="en-US" sz="1200" dirty="0">
                <a:solidFill>
                  <a:schemeClr val="bg1">
                    <a:lumMod val="50000"/>
                  </a:schemeClr>
                </a:solidFill>
                <a:latin typeface="Times New Roman" panose="02020603050405020304" pitchFamily="18" charset="0"/>
                <a:cs typeface="Times New Roman" panose="02020603050405020304" pitchFamily="18" charset="0"/>
              </a:rPr>
              <a:t> preprint arXiv:2508.01989.</a:t>
            </a:r>
            <a:endPar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Conclusion</a:t>
            </a:r>
          </a:p>
        </p:txBody>
      </p:sp>
      <p:sp>
        <p:nvSpPr>
          <p:cNvPr id="5" name="灯片编号占位符 1">
            <a:extLst>
              <a:ext uri="{FF2B5EF4-FFF2-40B4-BE49-F238E27FC236}">
                <a16:creationId xmlns:a16="http://schemas.microsoft.com/office/drawing/2014/main" id="{D02F285A-0236-E56C-D706-759D059E860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a:t>
            </a:fld>
            <a:endParaRPr lang="zh-TW" altLang="en-US"/>
          </a:p>
        </p:txBody>
      </p:sp>
    </p:spTree>
    <p:extLst>
      <p:ext uri="{BB962C8B-B14F-4D97-AF65-F5344CB8AC3E}">
        <p14:creationId xmlns:p14="http://schemas.microsoft.com/office/powerpoint/2010/main" val="520490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1915E-3742-37B4-5AA2-0D17907EC13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84F81FF-FB1E-0A40-59A5-AF2D8A732ECE}"/>
              </a:ext>
            </a:extLst>
          </p:cNvPr>
          <p:cNvSpPr>
            <a:spLocks noGrp="1"/>
          </p:cNvSpPr>
          <p:nvPr>
            <p:ph type="title"/>
          </p:nvPr>
        </p:nvSpPr>
        <p:spPr>
          <a:xfrm>
            <a:off x="1296611" y="144466"/>
            <a:ext cx="9536490" cy="692151"/>
          </a:xfrm>
        </p:spPr>
        <p:txBody>
          <a:bodyPr/>
          <a:lstStyle/>
          <a:p>
            <a:r>
              <a:rPr lang="en-US" altLang="zh-TW" dirty="0">
                <a:ea typeface="Calibri" panose="020F0502020204030204" pitchFamily="34" charset="0"/>
                <a:cs typeface="Calibri" panose="020F0502020204030204" pitchFamily="34" charset="0"/>
              </a:rPr>
              <a:t>Introduction</a:t>
            </a:r>
            <a:r>
              <a:rPr lang="en-US" altLang="zh-CN" dirty="0">
                <a:ea typeface="Calibri" panose="020F0502020204030204" pitchFamily="34" charset="0"/>
                <a:cs typeface="Calibri" panose="020F0502020204030204" pitchFamily="34" charset="0"/>
              </a:rPr>
              <a:t>-</a:t>
            </a:r>
            <a:r>
              <a:rPr lang="en-US" altLang="zh-TW" dirty="0">
                <a:ea typeface="Calibri" panose="020F0502020204030204" pitchFamily="34" charset="0"/>
                <a:cs typeface="Calibri" panose="020F0502020204030204" pitchFamily="34" charset="0"/>
              </a:rPr>
              <a:t>LLM System (1/2)</a:t>
            </a:r>
            <a:endParaRPr lang="zh-TW" altLang="en-US" dirty="0">
              <a:cs typeface="Calibri" panose="020F0502020204030204" pitchFamily="34" charset="0"/>
            </a:endParaRPr>
          </a:p>
        </p:txBody>
      </p:sp>
      <p:sp>
        <p:nvSpPr>
          <p:cNvPr id="5" name="灯片编号占位符 1">
            <a:extLst>
              <a:ext uri="{FF2B5EF4-FFF2-40B4-BE49-F238E27FC236}">
                <a16:creationId xmlns:a16="http://schemas.microsoft.com/office/drawing/2014/main" id="{F66FC5C3-1539-D91D-3AD6-F8BE7E3F348D}"/>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4</a:t>
            </a:fld>
            <a:endParaRPr lang="zh-TW" altLang="en-US"/>
          </a:p>
        </p:txBody>
      </p:sp>
      <p:pic>
        <p:nvPicPr>
          <p:cNvPr id="7" name="Content Placeholder 6">
            <a:extLst>
              <a:ext uri="{FF2B5EF4-FFF2-40B4-BE49-F238E27FC236}">
                <a16:creationId xmlns:a16="http://schemas.microsoft.com/office/drawing/2014/main" id="{A72C4FCE-5FEF-E927-F0CE-6F1FC419729F}"/>
              </a:ext>
            </a:extLst>
          </p:cNvPr>
          <p:cNvPicPr>
            <a:picLocks noGrp="1" noChangeAspect="1"/>
          </p:cNvPicPr>
          <p:nvPr>
            <p:ph idx="1"/>
          </p:nvPr>
        </p:nvPicPr>
        <p:blipFill>
          <a:blip r:embed="rId3"/>
          <a:stretch>
            <a:fillRect/>
          </a:stretch>
        </p:blipFill>
        <p:spPr>
          <a:xfrm>
            <a:off x="8401172" y="1085734"/>
            <a:ext cx="3414211" cy="4895850"/>
          </a:xfrm>
          <a:prstGeom prst="rect">
            <a:avLst/>
          </a:prstGeom>
        </p:spPr>
      </p:pic>
      <p:sp>
        <p:nvSpPr>
          <p:cNvPr id="9" name="TextBox 8">
            <a:extLst>
              <a:ext uri="{FF2B5EF4-FFF2-40B4-BE49-F238E27FC236}">
                <a16:creationId xmlns:a16="http://schemas.microsoft.com/office/drawing/2014/main" id="{537CDCC7-7D98-FEB8-E617-0C4101A43DC2}"/>
              </a:ext>
            </a:extLst>
          </p:cNvPr>
          <p:cNvSpPr txBox="1"/>
          <p:nvPr/>
        </p:nvSpPr>
        <p:spPr>
          <a:xfrm>
            <a:off x="8867488" y="5814524"/>
            <a:ext cx="2526654"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 Transformer Architecture</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sp>
        <p:nvSpPr>
          <p:cNvPr id="10" name="TextBox 9">
            <a:extLst>
              <a:ext uri="{FF2B5EF4-FFF2-40B4-BE49-F238E27FC236}">
                <a16:creationId xmlns:a16="http://schemas.microsoft.com/office/drawing/2014/main" id="{15435343-0AF3-CCB0-9934-DF9647FFF2D2}"/>
              </a:ext>
            </a:extLst>
          </p:cNvPr>
          <p:cNvSpPr txBox="1"/>
          <p:nvPr/>
        </p:nvSpPr>
        <p:spPr>
          <a:xfrm>
            <a:off x="0" y="1267750"/>
            <a:ext cx="8229600" cy="4142673"/>
          </a:xfrm>
          <a:prstGeom prst="rect">
            <a:avLst/>
          </a:prstGeom>
          <a:noFill/>
        </p:spPr>
        <p:txBody>
          <a:bodyPr wrap="square" rtlCol="0" anchor="ctr" anchorCtr="1">
            <a:spAutoFit/>
          </a:bodyPr>
          <a:lstStyle/>
          <a:p>
            <a:pPr marL="457200" indent="-457200">
              <a:buClr>
                <a:schemeClr val="accent4"/>
              </a:buClr>
              <a:buFont typeface="Courier New" panose="02070309020205020404" pitchFamily="49" charset="0"/>
              <a:buChar char="o"/>
            </a:pPr>
            <a:r>
              <a:rPr lang="en-US" sz="2930" dirty="0">
                <a:latin typeface="Times New Roman" panose="02020603050405020304" pitchFamily="18" charset="0"/>
                <a:ea typeface="標楷體" pitchFamily="65" charset="-120"/>
                <a:cs typeface="Times New Roman" panose="02020603050405020304" pitchFamily="18" charset="0"/>
              </a:rPr>
              <a:t>Decoder–only Transformer Architecture:</a:t>
            </a:r>
          </a:p>
          <a:p>
            <a:pPr marL="914400" lvl="1" indent="-457200">
              <a:buClr>
                <a:schemeClr val="accent4"/>
              </a:buClr>
              <a:buFont typeface="Wingdings" pitchFamily="2" charset="2"/>
              <a:buChar char="v"/>
            </a:pPr>
            <a:r>
              <a:rPr lang="en-US" dirty="0">
                <a:latin typeface="Arial" panose="020B0604020202020204" pitchFamily="34" charset="0"/>
                <a:ea typeface="標楷體" pitchFamily="65" charset="-120"/>
                <a:cs typeface="Arial" panose="020B0604020202020204" pitchFamily="34" charset="0"/>
              </a:rPr>
              <a:t>Most LLMs adopt a Transformer with stacked layers, each containing </a:t>
            </a:r>
            <a:r>
              <a:rPr lang="en-US" dirty="0">
                <a:solidFill>
                  <a:schemeClr val="accent6">
                    <a:lumMod val="60000"/>
                    <a:lumOff val="40000"/>
                  </a:schemeClr>
                </a:solidFill>
                <a:latin typeface="Arial" panose="020B0604020202020204" pitchFamily="34" charset="0"/>
                <a:ea typeface="標楷體" pitchFamily="65" charset="-120"/>
                <a:cs typeface="Arial" panose="020B0604020202020204" pitchFamily="34" charset="0"/>
              </a:rPr>
              <a:t>self-attention</a:t>
            </a:r>
            <a:r>
              <a:rPr lang="en-US" dirty="0">
                <a:latin typeface="Arial" panose="020B0604020202020204" pitchFamily="34" charset="0"/>
                <a:ea typeface="標楷體" pitchFamily="65" charset="-120"/>
                <a:cs typeface="Arial" panose="020B0604020202020204" pitchFamily="34" charset="0"/>
              </a:rPr>
              <a:t> and </a:t>
            </a:r>
            <a:r>
              <a:rPr lang="en-US" dirty="0">
                <a:solidFill>
                  <a:schemeClr val="accent5">
                    <a:lumMod val="60000"/>
                    <a:lumOff val="40000"/>
                  </a:schemeClr>
                </a:solidFill>
                <a:latin typeface="Arial" panose="020B0604020202020204" pitchFamily="34" charset="0"/>
                <a:ea typeface="標楷體" pitchFamily="65" charset="-120"/>
                <a:cs typeface="Arial" panose="020B0604020202020204" pitchFamily="34" charset="0"/>
              </a:rPr>
              <a:t>feed-forward (FFN). </a:t>
            </a:r>
            <a:r>
              <a:rPr lang="en-US" dirty="0">
                <a:latin typeface="Arial" panose="020B0604020202020204" pitchFamily="34" charset="0"/>
                <a:ea typeface="標楷體" pitchFamily="65" charset="-120"/>
                <a:cs typeface="Arial" panose="020B0604020202020204" pitchFamily="34" charset="0"/>
              </a:rPr>
              <a:t>Each layer processes tokens through two main computational paths.</a:t>
            </a:r>
          </a:p>
          <a:p>
            <a:pPr marL="457200" indent="-457200">
              <a:buClr>
                <a:schemeClr val="accent4"/>
              </a:buClr>
              <a:buFont typeface="Courier New" panose="02070309020205020404" pitchFamily="49" charset="0"/>
              <a:buChar char="o"/>
            </a:pPr>
            <a:r>
              <a:rPr lang="en-US" sz="2930" dirty="0">
                <a:latin typeface="Times New Roman" panose="02020603050405020304" pitchFamily="18" charset="0"/>
                <a:ea typeface="標楷體" pitchFamily="65" charset="-120"/>
                <a:cs typeface="Times New Roman" panose="02020603050405020304" pitchFamily="18" charset="0"/>
              </a:rPr>
              <a:t>Two-Phase Inference:</a:t>
            </a:r>
          </a:p>
          <a:p>
            <a:pPr marL="914400" lvl="1" indent="-457200">
              <a:spcBef>
                <a:spcPts val="600"/>
              </a:spcBef>
              <a:spcAft>
                <a:spcPts val="600"/>
              </a:spcAft>
              <a:buClr>
                <a:schemeClr val="accent4"/>
              </a:buClr>
              <a:buFont typeface="Wingdings" pitchFamily="2" charset="2"/>
              <a:buChar char="v"/>
            </a:pPr>
            <a:r>
              <a:rPr lang="en-US" dirty="0">
                <a:ea typeface="標楷體" pitchFamily="65" charset="-120"/>
                <a:cs typeface="Times New Roman" panose="02020603050405020304" pitchFamily="18" charset="0"/>
              </a:rPr>
              <a:t>Prefill Phase:</a:t>
            </a:r>
            <a:r>
              <a:rPr lang="zh-CN" altLang="en-US" dirty="0">
                <a:ea typeface="標楷體" pitchFamily="65" charset="-120"/>
                <a:cs typeface="Times New Roman" panose="02020603050405020304" pitchFamily="18" charset="0"/>
              </a:rPr>
              <a:t> </a:t>
            </a:r>
            <a:r>
              <a:rPr lang="en-US" altLang="zh-CN" dirty="0">
                <a:ea typeface="標楷體" pitchFamily="65" charset="-120"/>
                <a:cs typeface="Times New Roman" panose="02020603050405020304" pitchFamily="18" charset="0"/>
              </a:rPr>
              <a:t>Process the entire input prompt at once to compute the initial Key-Value (KV) cache.</a:t>
            </a:r>
            <a:endParaRPr lang="en-US" dirty="0">
              <a:ea typeface="標楷體" pitchFamily="65" charset="-120"/>
              <a:cs typeface="Times New Roman" panose="02020603050405020304" pitchFamily="18" charset="0"/>
            </a:endParaRPr>
          </a:p>
          <a:p>
            <a:pPr marL="914400" lvl="1" indent="-457200">
              <a:spcBef>
                <a:spcPts val="600"/>
              </a:spcBef>
              <a:spcAft>
                <a:spcPts val="600"/>
              </a:spcAft>
              <a:buClr>
                <a:schemeClr val="accent4"/>
              </a:buClr>
              <a:buFont typeface="Wingdings" pitchFamily="2" charset="2"/>
              <a:buChar char="v"/>
            </a:pPr>
            <a:r>
              <a:rPr lang="en-US" dirty="0">
                <a:latin typeface="Arial" panose="020B0604020202020204" pitchFamily="34" charset="0"/>
                <a:ea typeface="標楷體" pitchFamily="65" charset="-120"/>
                <a:cs typeface="Arial" panose="020B0604020202020204" pitchFamily="34" charset="0"/>
              </a:rPr>
              <a:t>Decode Phase: Generate</a:t>
            </a:r>
            <a:r>
              <a:rPr lang="zh-CN" altLang="en-US" dirty="0">
                <a:latin typeface="Arial" panose="020B0604020202020204" pitchFamily="34" charset="0"/>
                <a:ea typeface="標楷體" pitchFamily="65" charset="-120"/>
                <a:cs typeface="Arial" panose="020B0604020202020204" pitchFamily="34" charset="0"/>
              </a:rPr>
              <a:t> </a:t>
            </a:r>
            <a:r>
              <a:rPr lang="en-US" altLang="zh-CN" dirty="0">
                <a:latin typeface="Arial" panose="020B0604020202020204" pitchFamily="34" charset="0"/>
                <a:ea typeface="標楷體" pitchFamily="65" charset="-120"/>
                <a:cs typeface="Arial" panose="020B0604020202020204" pitchFamily="34" charset="0"/>
              </a:rPr>
              <a:t>tokens one by one, appending to the KV cache.</a:t>
            </a:r>
            <a:endParaRPr lang="en-US" dirty="0">
              <a:latin typeface="Arial" panose="020B0604020202020204" pitchFamily="34" charset="0"/>
              <a:ea typeface="標楷體" pitchFamily="65" charset="-120"/>
              <a:cs typeface="Arial" panose="020B0604020202020204" pitchFamily="34" charset="0"/>
            </a:endParaRPr>
          </a:p>
          <a:p>
            <a:pPr marL="457200" indent="-457200">
              <a:buFont typeface="Arial" panose="020B0604020202020204" pitchFamily="34" charset="0"/>
              <a:buChar char="•"/>
            </a:pPr>
            <a:endParaRPr lang="en-US" sz="2930" dirty="0">
              <a:latin typeface="Times New Roman" panose="02020603050405020304" pitchFamily="18" charset="0"/>
              <a:ea typeface="標楷體" pitchFamily="65" charset="-120"/>
              <a:cs typeface="Times New Roman" panose="02020603050405020304" pitchFamily="18" charset="0"/>
            </a:endParaRPr>
          </a:p>
          <a:p>
            <a:pPr marL="457200" indent="-457200">
              <a:buFont typeface="Arial" panose="020B0604020202020204" pitchFamily="34" charset="0"/>
              <a:buChar char="•"/>
            </a:pPr>
            <a:endParaRPr lang="en-US" sz="2930" dirty="0">
              <a:latin typeface="Times New Roman" panose="02020603050405020304" pitchFamily="18" charset="0"/>
              <a:ea typeface="標楷體" pitchFamily="65" charset="-120"/>
              <a:cs typeface="Times New Roman" panose="02020603050405020304" pitchFamily="18" charset="0"/>
            </a:endParaRPr>
          </a:p>
        </p:txBody>
      </p:sp>
      <p:sp>
        <p:nvSpPr>
          <p:cNvPr id="12" name="Rounded Rectangle 11">
            <a:extLst>
              <a:ext uri="{FF2B5EF4-FFF2-40B4-BE49-F238E27FC236}">
                <a16:creationId xmlns:a16="http://schemas.microsoft.com/office/drawing/2014/main" id="{0E478CFE-5ECA-8DEC-127E-E7E7514D1B7F}"/>
              </a:ext>
            </a:extLst>
          </p:cNvPr>
          <p:cNvSpPr/>
          <p:nvPr/>
        </p:nvSpPr>
        <p:spPr bwMode="auto">
          <a:xfrm>
            <a:off x="8492359" y="2596055"/>
            <a:ext cx="1587062" cy="3218469"/>
          </a:xfrm>
          <a:prstGeom prst="roundRect">
            <a:avLst/>
          </a:prstGeom>
          <a:noFill/>
          <a:ln w="22225" cap="flat" cmpd="sng" algn="ctr">
            <a:solidFill>
              <a:schemeClr val="accent4">
                <a:lumMod val="60000"/>
                <a:lumOff val="4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3" name="Rounded Rectangle 12">
            <a:extLst>
              <a:ext uri="{FF2B5EF4-FFF2-40B4-BE49-F238E27FC236}">
                <a16:creationId xmlns:a16="http://schemas.microsoft.com/office/drawing/2014/main" id="{286ED888-6EAA-EE84-C55A-48292C763268}"/>
              </a:ext>
            </a:extLst>
          </p:cNvPr>
          <p:cNvSpPr/>
          <p:nvPr/>
        </p:nvSpPr>
        <p:spPr bwMode="auto">
          <a:xfrm>
            <a:off x="1000827" y="3159862"/>
            <a:ext cx="7142276" cy="608949"/>
          </a:xfrm>
          <a:prstGeom prst="roundRect">
            <a:avLst/>
          </a:prstGeom>
          <a:noFill/>
          <a:ln w="22225" cap="flat" cmpd="sng" algn="ctr">
            <a:solidFill>
              <a:schemeClr val="accent4">
                <a:lumMod val="60000"/>
                <a:lumOff val="4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4" name="Rounded Rectangle 13">
            <a:extLst>
              <a:ext uri="{FF2B5EF4-FFF2-40B4-BE49-F238E27FC236}">
                <a16:creationId xmlns:a16="http://schemas.microsoft.com/office/drawing/2014/main" id="{C6CCB839-F25D-2559-AFD2-62917B1D481A}"/>
              </a:ext>
            </a:extLst>
          </p:cNvPr>
          <p:cNvSpPr/>
          <p:nvPr/>
        </p:nvSpPr>
        <p:spPr bwMode="auto">
          <a:xfrm>
            <a:off x="987760" y="3768811"/>
            <a:ext cx="7142276" cy="608949"/>
          </a:xfrm>
          <a:prstGeom prst="roundRect">
            <a:avLst/>
          </a:prstGeom>
          <a:noFill/>
          <a:ln w="22225" cap="flat" cmpd="sng" algn="ctr">
            <a:solidFill>
              <a:schemeClr val="accent4">
                <a:lumMod val="60000"/>
                <a:lumOff val="4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 name="Rounded Rectangle 14">
            <a:extLst>
              <a:ext uri="{FF2B5EF4-FFF2-40B4-BE49-F238E27FC236}">
                <a16:creationId xmlns:a16="http://schemas.microsoft.com/office/drawing/2014/main" id="{5D48DD67-B210-C78F-596A-BB1643CA4D81}"/>
              </a:ext>
            </a:extLst>
          </p:cNvPr>
          <p:cNvSpPr/>
          <p:nvPr/>
        </p:nvSpPr>
        <p:spPr bwMode="auto">
          <a:xfrm>
            <a:off x="10069612" y="1118052"/>
            <a:ext cx="1587062" cy="4735530"/>
          </a:xfrm>
          <a:prstGeom prst="roundRect">
            <a:avLst/>
          </a:prstGeom>
          <a:noFill/>
          <a:ln w="22225" cap="flat" cmpd="sng" algn="ctr">
            <a:solidFill>
              <a:schemeClr val="accent4">
                <a:lumMod val="60000"/>
                <a:lumOff val="4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8" name="標題 1">
            <a:extLst>
              <a:ext uri="{FF2B5EF4-FFF2-40B4-BE49-F238E27FC236}">
                <a16:creationId xmlns:a16="http://schemas.microsoft.com/office/drawing/2014/main" id="{2AA4CC41-690C-80C7-8F38-A8DBDC2C18E9}"/>
              </a:ext>
            </a:extLst>
          </p:cNvPr>
          <p:cNvSpPr txBox="1">
            <a:spLocks/>
          </p:cNvSpPr>
          <p:nvPr/>
        </p:nvSpPr>
        <p:spPr bwMode="auto">
          <a:xfrm>
            <a:off x="10316605" y="144465"/>
            <a:ext cx="2680138"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a:lstStyle>
          <a:p>
            <a:endParaRPr lang="zh-TW" altLang="en-US" kern="0" dirty="0"/>
          </a:p>
        </p:txBody>
      </p:sp>
    </p:spTree>
    <p:extLst>
      <p:ext uri="{BB962C8B-B14F-4D97-AF65-F5344CB8AC3E}">
        <p14:creationId xmlns:p14="http://schemas.microsoft.com/office/powerpoint/2010/main" val="1039870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12"/>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3" grpId="0" animBg="1"/>
      <p:bldP spid="13" grpId="1"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AB19D-2FDC-51F8-13A9-A6CF606D413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EB3F1BF-D6DF-1762-B08D-A5E22662E745}"/>
              </a:ext>
            </a:extLst>
          </p:cNvPr>
          <p:cNvSpPr>
            <a:spLocks noGrp="1"/>
          </p:cNvSpPr>
          <p:nvPr>
            <p:ph type="title"/>
          </p:nvPr>
        </p:nvSpPr>
        <p:spPr>
          <a:xfrm>
            <a:off x="1296610" y="144466"/>
            <a:ext cx="10270977" cy="692151"/>
          </a:xfrm>
        </p:spPr>
        <p:txBody>
          <a:bodyPr/>
          <a:lstStyle/>
          <a:p>
            <a:r>
              <a:rPr lang="en-US" altLang="zh-TW" dirty="0"/>
              <a:t>Introduction </a:t>
            </a:r>
            <a:r>
              <a:rPr lang="en-US" altLang="zh-CN" dirty="0"/>
              <a:t>– Prefill &amp; Decode (2/2)</a:t>
            </a:r>
            <a:endParaRPr lang="zh-TW" altLang="en-US" dirty="0"/>
          </a:p>
        </p:txBody>
      </p:sp>
      <p:sp>
        <p:nvSpPr>
          <p:cNvPr id="5" name="灯片编号占位符 1">
            <a:extLst>
              <a:ext uri="{FF2B5EF4-FFF2-40B4-BE49-F238E27FC236}">
                <a16:creationId xmlns:a16="http://schemas.microsoft.com/office/drawing/2014/main" id="{5B903927-B8AA-38CB-98F4-820E9103C478}"/>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5</a:t>
            </a:fld>
            <a:endParaRPr lang="zh-TW" altLang="en-US"/>
          </a:p>
        </p:txBody>
      </p:sp>
      <p:grpSp>
        <p:nvGrpSpPr>
          <p:cNvPr id="4" name="组合 3">
            <a:extLst>
              <a:ext uri="{FF2B5EF4-FFF2-40B4-BE49-F238E27FC236}">
                <a16:creationId xmlns:a16="http://schemas.microsoft.com/office/drawing/2014/main" id="{88D445C5-D480-3CF8-B394-9204BD15096F}"/>
              </a:ext>
            </a:extLst>
          </p:cNvPr>
          <p:cNvGrpSpPr/>
          <p:nvPr/>
        </p:nvGrpSpPr>
        <p:grpSpPr>
          <a:xfrm>
            <a:off x="5908825" y="1822588"/>
            <a:ext cx="5194300" cy="3144510"/>
            <a:chOff x="5908825" y="1822588"/>
            <a:chExt cx="5194300" cy="3144510"/>
          </a:xfrm>
        </p:grpSpPr>
        <p:sp>
          <p:nvSpPr>
            <p:cNvPr id="9" name="TextBox 8">
              <a:extLst>
                <a:ext uri="{FF2B5EF4-FFF2-40B4-BE49-F238E27FC236}">
                  <a16:creationId xmlns:a16="http://schemas.microsoft.com/office/drawing/2014/main" id="{1E011F1B-E2B2-A7B6-F9E4-1A9A8C2701B5}"/>
                </a:ext>
              </a:extLst>
            </p:cNvPr>
            <p:cNvSpPr txBox="1"/>
            <p:nvPr/>
          </p:nvSpPr>
          <p:spPr>
            <a:xfrm>
              <a:off x="7431802" y="4659321"/>
              <a:ext cx="2053767"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2. Prefill and Decode</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pic>
          <p:nvPicPr>
            <p:cNvPr id="16" name="Picture 15">
              <a:extLst>
                <a:ext uri="{FF2B5EF4-FFF2-40B4-BE49-F238E27FC236}">
                  <a16:creationId xmlns:a16="http://schemas.microsoft.com/office/drawing/2014/main" id="{CF2B4130-E0A1-DB34-6F1B-6C7CF64D143B}"/>
                </a:ext>
              </a:extLst>
            </p:cNvPr>
            <p:cNvPicPr>
              <a:picLocks noChangeAspect="1"/>
            </p:cNvPicPr>
            <p:nvPr/>
          </p:nvPicPr>
          <p:blipFill>
            <a:blip r:embed="rId3"/>
            <a:stretch>
              <a:fillRect/>
            </a:stretch>
          </p:blipFill>
          <p:spPr>
            <a:xfrm>
              <a:off x="5908825" y="1822588"/>
              <a:ext cx="5194300" cy="2882900"/>
            </a:xfrm>
            <a:prstGeom prst="rect">
              <a:avLst/>
            </a:prstGeom>
          </p:spPr>
        </p:pic>
      </p:grpSp>
      <p:sp>
        <p:nvSpPr>
          <p:cNvPr id="18" name="TextBox 17">
            <a:extLst>
              <a:ext uri="{FF2B5EF4-FFF2-40B4-BE49-F238E27FC236}">
                <a16:creationId xmlns:a16="http://schemas.microsoft.com/office/drawing/2014/main" id="{2668413A-17C5-D6EB-C750-6ABB8A6D0001}"/>
              </a:ext>
            </a:extLst>
          </p:cNvPr>
          <p:cNvSpPr txBox="1"/>
          <p:nvPr/>
        </p:nvSpPr>
        <p:spPr>
          <a:xfrm>
            <a:off x="202726" y="1670841"/>
            <a:ext cx="5237144" cy="4019562"/>
          </a:xfrm>
          <a:prstGeom prst="rect">
            <a:avLst/>
          </a:prstGeom>
          <a:noFill/>
        </p:spPr>
        <p:txBody>
          <a:bodyPr wrap="square" rtlCol="0" anchor="ctr" anchorCtr="1">
            <a:spAutoFit/>
          </a:bodyPr>
          <a:lstStyle/>
          <a:p>
            <a:pPr marL="457200" indent="-457200">
              <a:buClr>
                <a:schemeClr val="accent4"/>
              </a:buClr>
              <a:buFont typeface="Courier New" panose="02070309020205020404" pitchFamily="49" charset="0"/>
              <a:buChar char="o"/>
            </a:pPr>
            <a:r>
              <a:rPr lang="en-US" sz="2930" dirty="0">
                <a:latin typeface="Times New Roman" panose="02020603050405020304" pitchFamily="18" charset="0"/>
                <a:ea typeface="標楷體" pitchFamily="65" charset="-120"/>
                <a:cs typeface="Times New Roman" panose="02020603050405020304" pitchFamily="18" charset="0"/>
              </a:rPr>
              <a:t>Prefill Phase:</a:t>
            </a:r>
          </a:p>
          <a:p>
            <a:pPr marL="914400" lvl="1" indent="-457200">
              <a:buClr>
                <a:schemeClr val="accent4"/>
              </a:buClr>
              <a:buFont typeface="Wingdings" pitchFamily="2" charset="2"/>
              <a:buChar char="v"/>
            </a:pPr>
            <a:r>
              <a:rPr lang="en-US" dirty="0">
                <a:latin typeface="Arial" panose="020B0604020202020204" pitchFamily="34" charset="0"/>
                <a:ea typeface="標楷體" pitchFamily="65" charset="-120"/>
                <a:cs typeface="Arial" panose="020B0604020202020204" pitchFamily="34" charset="0"/>
              </a:rPr>
              <a:t>Parallelism: High.</a:t>
            </a:r>
          </a:p>
          <a:p>
            <a:pPr marL="914400" lvl="1" indent="-457200">
              <a:buClr>
                <a:schemeClr val="accent4"/>
              </a:buClr>
              <a:buFont typeface="Wingdings" pitchFamily="2" charset="2"/>
              <a:buChar char="v"/>
            </a:pPr>
            <a:r>
              <a:rPr lang="en-US" dirty="0">
                <a:latin typeface="Arial" panose="020B0604020202020204" pitchFamily="34" charset="0"/>
                <a:ea typeface="標楷體" pitchFamily="65" charset="-120"/>
                <a:cs typeface="Arial" panose="020B0604020202020204" pitchFamily="34" charset="0"/>
              </a:rPr>
              <a:t>Operations: Matrix-Matrix.</a:t>
            </a:r>
          </a:p>
          <a:p>
            <a:pPr marL="914400" lvl="1" indent="-457200">
              <a:buClr>
                <a:schemeClr val="accent4"/>
              </a:buClr>
              <a:buFont typeface="Wingdings" pitchFamily="2" charset="2"/>
              <a:buChar char="v"/>
            </a:pPr>
            <a:r>
              <a:rPr lang="en-US" dirty="0">
                <a:latin typeface="Arial" panose="020B0604020202020204" pitchFamily="34" charset="0"/>
                <a:ea typeface="標楷體" pitchFamily="65" charset="-120"/>
                <a:cs typeface="Arial" panose="020B0604020202020204" pitchFamily="34" charset="0"/>
              </a:rPr>
              <a:t>Bottleneck: Computation.</a:t>
            </a:r>
          </a:p>
          <a:p>
            <a:pPr marL="457200" indent="-457200">
              <a:buClr>
                <a:schemeClr val="accent4"/>
              </a:buClr>
              <a:buFont typeface="Courier New" panose="02070309020205020404" pitchFamily="49" charset="0"/>
              <a:buChar char="o"/>
            </a:pPr>
            <a:r>
              <a:rPr lang="en-US" sz="2930" dirty="0">
                <a:latin typeface="Times New Roman" panose="02020603050405020304" pitchFamily="18" charset="0"/>
                <a:ea typeface="標楷體" pitchFamily="65" charset="-120"/>
                <a:cs typeface="Times New Roman" panose="02020603050405020304" pitchFamily="18" charset="0"/>
              </a:rPr>
              <a:t>Decode Phase:</a:t>
            </a:r>
          </a:p>
          <a:p>
            <a:pPr marL="914400" lvl="1" indent="-457200">
              <a:spcBef>
                <a:spcPts val="600"/>
              </a:spcBef>
              <a:spcAft>
                <a:spcPts val="600"/>
              </a:spcAft>
              <a:buClr>
                <a:schemeClr val="accent4"/>
              </a:buClr>
              <a:buFont typeface="Wingdings" pitchFamily="2" charset="2"/>
              <a:buChar char="v"/>
            </a:pPr>
            <a:r>
              <a:rPr lang="en-US" dirty="0">
                <a:ea typeface="標楷體" pitchFamily="65" charset="-120"/>
                <a:cs typeface="Times New Roman" panose="02020603050405020304" pitchFamily="18" charset="0"/>
              </a:rPr>
              <a:t>Parallelism: Low.</a:t>
            </a:r>
          </a:p>
          <a:p>
            <a:pPr marL="914400" lvl="1" indent="-457200">
              <a:spcBef>
                <a:spcPts val="600"/>
              </a:spcBef>
              <a:spcAft>
                <a:spcPts val="600"/>
              </a:spcAft>
              <a:buClr>
                <a:schemeClr val="accent4"/>
              </a:buClr>
              <a:buFont typeface="Wingdings" pitchFamily="2" charset="2"/>
              <a:buChar char="v"/>
            </a:pPr>
            <a:r>
              <a:rPr lang="en-US" dirty="0">
                <a:ea typeface="標楷體" pitchFamily="65" charset="-120"/>
                <a:cs typeface="Times New Roman" panose="02020603050405020304" pitchFamily="18" charset="0"/>
              </a:rPr>
              <a:t>Operations: Matrix-Vector.</a:t>
            </a:r>
          </a:p>
          <a:p>
            <a:pPr marL="914400" lvl="1" indent="-457200">
              <a:spcBef>
                <a:spcPts val="600"/>
              </a:spcBef>
              <a:spcAft>
                <a:spcPts val="600"/>
              </a:spcAft>
              <a:buClr>
                <a:schemeClr val="accent4"/>
              </a:buClr>
              <a:buFont typeface="Wingdings" pitchFamily="2" charset="2"/>
              <a:buChar char="v"/>
            </a:pPr>
            <a:r>
              <a:rPr lang="en-US" dirty="0">
                <a:latin typeface="Arial" panose="020B0604020202020204" pitchFamily="34" charset="0"/>
                <a:ea typeface="標楷體" pitchFamily="65" charset="-120"/>
                <a:cs typeface="Arial" panose="020B0604020202020204" pitchFamily="34" charset="0"/>
              </a:rPr>
              <a:t>Bottleneck: Memory Bandwidth.</a:t>
            </a:r>
          </a:p>
          <a:p>
            <a:pPr marL="457200" indent="-457200">
              <a:buFont typeface="Arial" panose="020B0604020202020204" pitchFamily="34" charset="0"/>
              <a:buChar char="•"/>
            </a:pPr>
            <a:endParaRPr lang="en-US" sz="2930" dirty="0">
              <a:latin typeface="Times New Roman" panose="02020603050405020304" pitchFamily="18" charset="0"/>
              <a:ea typeface="標楷體" pitchFamily="65" charset="-120"/>
              <a:cs typeface="Times New Roman" panose="02020603050405020304" pitchFamily="18" charset="0"/>
            </a:endParaRPr>
          </a:p>
          <a:p>
            <a:pPr marL="457200" indent="-457200">
              <a:buFont typeface="Arial" panose="020B0604020202020204" pitchFamily="34" charset="0"/>
              <a:buChar char="•"/>
            </a:pPr>
            <a:endParaRPr lang="en-US" sz="2930" dirty="0">
              <a:latin typeface="Times New Roman" panose="02020603050405020304" pitchFamily="18" charset="0"/>
              <a:ea typeface="標楷體" pitchFamily="65" charset="-120"/>
              <a:cs typeface="Times New Roman" panose="02020603050405020304" pitchFamily="18" charset="0"/>
            </a:endParaRPr>
          </a:p>
        </p:txBody>
      </p:sp>
      <p:sp>
        <p:nvSpPr>
          <p:cNvPr id="3" name="Rounded Rectangle 2">
            <a:extLst>
              <a:ext uri="{FF2B5EF4-FFF2-40B4-BE49-F238E27FC236}">
                <a16:creationId xmlns:a16="http://schemas.microsoft.com/office/drawing/2014/main" id="{05E5CD32-8E07-A9E4-E0D9-3C3BED9CCD72}"/>
              </a:ext>
            </a:extLst>
          </p:cNvPr>
          <p:cNvSpPr/>
          <p:nvPr/>
        </p:nvSpPr>
        <p:spPr bwMode="auto">
          <a:xfrm>
            <a:off x="2350334" y="2359955"/>
            <a:ext cx="7491332" cy="2170069"/>
          </a:xfrm>
          <a:prstGeom prst="roundRect">
            <a:avLst/>
          </a:prstGeom>
          <a:solidFill>
            <a:schemeClr val="bg1"/>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lang="en-US" sz="2400" dirty="0">
                <a:solidFill>
                  <a:srgbClr val="FF0000"/>
                </a:solidFill>
                <a:latin typeface="Andale Mono" panose="020B0509000000000004" pitchFamily="49" charset="0"/>
              </a:rPr>
              <a:t>How do we architect serving systems</a:t>
            </a:r>
          </a:p>
          <a:p>
            <a:pPr algn="ctr" fontAlgn="base">
              <a:spcBef>
                <a:spcPct val="0"/>
              </a:spcBef>
              <a:spcAft>
                <a:spcPct val="0"/>
              </a:spcAft>
            </a:pPr>
            <a:r>
              <a:rPr lang="en-US" sz="2400" dirty="0">
                <a:solidFill>
                  <a:srgbClr val="FF0000"/>
                </a:solidFill>
                <a:latin typeface="Andale Mono" panose="020B0509000000000004" pitchFamily="49" charset="0"/>
              </a:rPr>
              <a:t>that excel at both phases simultaneously?</a:t>
            </a:r>
            <a:endParaRPr kumimoji="1" lang="en-US" sz="2400" b="1" i="0" u="none" strike="noStrike" cap="none" normalizeH="0" baseline="0" dirty="0">
              <a:ln>
                <a:noFill/>
              </a:ln>
              <a:solidFill>
                <a:srgbClr val="FF0000"/>
              </a:solidFill>
              <a:effectLst/>
              <a:latin typeface="Andale Mono" panose="020B0509000000000004" pitchFamily="49" charset="0"/>
              <a:ea typeface="新細明體" pitchFamily="18" charset="-120"/>
            </a:endParaRPr>
          </a:p>
        </p:txBody>
      </p:sp>
    </p:spTree>
    <p:extLst>
      <p:ext uri="{BB962C8B-B14F-4D97-AF65-F5344CB8AC3E}">
        <p14:creationId xmlns:p14="http://schemas.microsoft.com/office/powerpoint/2010/main" val="1430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8">
                                            <p:txEl>
                                              <p:pRg st="2" end="2"/>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8">
                                            <p:txEl>
                                              <p:pRg st="4" end="4"/>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8">
                                            <p:txEl>
                                              <p:pRg st="5" end="5"/>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8">
                                            <p:txEl>
                                              <p:pRg st="6" end="6"/>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1" nodeType="clickEffect">
                                  <p:stCondLst>
                                    <p:cond delay="0"/>
                                  </p:stCondLst>
                                  <p:childTnLst>
                                    <p:set>
                                      <p:cBhvr>
                                        <p:cTn id="3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327CA-C345-5028-96A1-518F0F19167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DD52002-6B44-3ACE-72D6-6BE9C0EBFE62}"/>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F99D4B94-26F8-24C5-3484-0A057DB3FFFE}"/>
              </a:ext>
            </a:extLst>
          </p:cNvPr>
          <p:cNvSpPr>
            <a:spLocks noGrp="1"/>
          </p:cNvSpPr>
          <p:nvPr>
            <p:ph idx="1"/>
          </p:nvPr>
        </p:nvSpPr>
        <p:spPr>
          <a:xfrm>
            <a:off x="1311423" y="1125536"/>
            <a:ext cx="10270977" cy="5399091"/>
          </a:xfrm>
        </p:spPr>
        <p:txBody>
          <a:bodyPr>
            <a:noAutofit/>
          </a:bodyPr>
          <a:lstStyle/>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Introduction</a:t>
            </a:r>
          </a:p>
          <a:p>
            <a:pPr lvl="1">
              <a:buClr>
                <a:schemeClr val="accent4"/>
              </a:buClr>
              <a:buFont typeface="Wingdings" pitchFamily="2" charset="2"/>
              <a:buChar char="v"/>
            </a:pPr>
            <a:r>
              <a:rPr lang="en-US" altLang="zh-TW" sz="1800" dirty="0">
                <a:solidFill>
                  <a:schemeClr val="bg1">
                    <a:lumMod val="50000"/>
                  </a:schemeClr>
                </a:solidFill>
                <a:latin typeface="Times New Roman" panose="02020603050405020304" pitchFamily="18" charset="0"/>
                <a:cs typeface="Times New Roman" panose="02020603050405020304" pitchFamily="18" charset="0"/>
              </a:rPr>
              <a:t>Transformer Architecture, Two-Phase Inference, KV Cache.</a:t>
            </a:r>
          </a:p>
          <a:p>
            <a:pPr>
              <a:buClr>
                <a:schemeClr val="accent4"/>
              </a:buClr>
              <a:buFont typeface="Courier New" panose="02070309020205020404" pitchFamily="49" charset="0"/>
              <a:buChar char="o"/>
            </a:pPr>
            <a:r>
              <a:rPr lang="en-US" altLang="zh-CN" sz="2933" dirty="0">
                <a:solidFill>
                  <a:schemeClr val="accent6"/>
                </a:solidFill>
                <a:latin typeface="Times New Roman" panose="02020603050405020304" pitchFamily="18" charset="0"/>
                <a:cs typeface="Times New Roman" panose="02020603050405020304" pitchFamily="18" charset="0"/>
              </a:rPr>
              <a:t>Background</a:t>
            </a:r>
          </a:p>
          <a:p>
            <a:pPr lvl="1">
              <a:buClr>
                <a:schemeClr val="accent4"/>
              </a:buClr>
              <a:buFont typeface="Wingdings" pitchFamily="2" charset="2"/>
              <a:buChar char="v"/>
            </a:pPr>
            <a:r>
              <a:rPr lang="en-US" altLang="zh-CN" sz="1800" dirty="0">
                <a:solidFill>
                  <a:schemeClr val="bg1">
                    <a:lumMod val="50000"/>
                  </a:schemeClr>
                </a:solidFill>
                <a:latin typeface="Times New Roman" panose="02020603050405020304" pitchFamily="18" charset="0"/>
                <a:cs typeface="Times New Roman" panose="02020603050405020304" pitchFamily="18" charset="0"/>
              </a:rPr>
              <a:t>Aggregation vs. Disaggregation. Trade-offs and Real-World Workload Challenges.</a:t>
            </a: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1: Mooncake</a:t>
            </a:r>
            <a:r>
              <a:rPr lang="en-US" altLang="zh-CN" sz="2933" baseline="30000" dirty="0">
                <a:latin typeface="Times New Roman" panose="02020603050405020304" pitchFamily="18" charset="0"/>
                <a:cs typeface="Times New Roman" panose="02020603050405020304" pitchFamily="18" charset="0"/>
              </a:rPr>
              <a:t>1</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1, </a:t>
            </a:r>
            <a:r>
              <a:rPr lang="en-US" sz="1200" dirty="0">
                <a:solidFill>
                  <a:schemeClr val="bg1">
                    <a:lumMod val="50000"/>
                  </a:schemeClr>
                </a:solidFill>
                <a:latin typeface="Times New Roman" panose="02020603050405020304" pitchFamily="18" charset="0"/>
                <a:cs typeface="Times New Roman" panose="02020603050405020304" pitchFamily="18" charset="0"/>
              </a:rPr>
              <a:t>Qin, R., Li, Z., He, W., Cui, J., Tang, H., Ren, F., ... &amp; Xu, X. (2024). Mooncake: A </a:t>
            </a:r>
            <a:r>
              <a:rPr lang="en-US" sz="1200" dirty="0" err="1">
                <a:solidFill>
                  <a:schemeClr val="bg1">
                    <a:lumMod val="50000"/>
                  </a:schemeClr>
                </a:solidFill>
                <a:latin typeface="Times New Roman" panose="02020603050405020304" pitchFamily="18" charset="0"/>
                <a:cs typeface="Times New Roman" panose="02020603050405020304" pitchFamily="18" charset="0"/>
              </a:rPr>
              <a:t>kvcache</a:t>
            </a:r>
            <a:r>
              <a:rPr lang="en-US" sz="1200" dirty="0">
                <a:solidFill>
                  <a:schemeClr val="bg1">
                    <a:lumMod val="50000"/>
                  </a:schemeClr>
                </a:solidFill>
                <a:latin typeface="Times New Roman" panose="02020603050405020304" pitchFamily="18" charset="0"/>
                <a:cs typeface="Times New Roman" panose="02020603050405020304" pitchFamily="18" charset="0"/>
              </a:rPr>
              <a:t>-centric disaggregated architecture for </a:t>
            </a:r>
            <a:r>
              <a:rPr lang="en-US" sz="1200" dirty="0" err="1">
                <a:solidFill>
                  <a:schemeClr val="bg1">
                    <a:lumMod val="50000"/>
                  </a:schemeClr>
                </a:solidFill>
                <a:latin typeface="Times New Roman" panose="02020603050405020304" pitchFamily="18" charset="0"/>
                <a:cs typeface="Times New Roman" panose="02020603050405020304" pitchFamily="18" charset="0"/>
              </a:rPr>
              <a:t>llm</a:t>
            </a:r>
            <a:r>
              <a:rPr lang="en-US" sz="1200" dirty="0">
                <a:solidFill>
                  <a:schemeClr val="bg1">
                    <a:lumMod val="50000"/>
                  </a:schemeClr>
                </a:solidFill>
                <a:latin typeface="Times New Roman" panose="02020603050405020304" pitchFamily="18" charset="0"/>
                <a:cs typeface="Times New Roman" panose="02020603050405020304" pitchFamily="18" charset="0"/>
              </a:rPr>
              <a:t> serving. ACM Transactions on Storage.</a:t>
            </a:r>
            <a:endParaRPr lang="en-US" altLang="zh-CN" sz="12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2: NynaServe</a:t>
            </a:r>
            <a:r>
              <a:rPr lang="en-US" altLang="zh-CN" sz="2933" baseline="30000" dirty="0">
                <a:latin typeface="Times New Roman" panose="02020603050405020304" pitchFamily="18" charset="0"/>
                <a:cs typeface="Times New Roman" panose="02020603050405020304" pitchFamily="18" charset="0"/>
              </a:rPr>
              <a:t>2</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2,</a:t>
            </a:r>
            <a:r>
              <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rPr>
              <a:t> </a:t>
            </a:r>
            <a:r>
              <a:rPr lang="en-US" sz="1200" dirty="0">
                <a:solidFill>
                  <a:schemeClr val="bg1">
                    <a:lumMod val="50000"/>
                  </a:schemeClr>
                </a:solidFill>
                <a:latin typeface="Times New Roman" panose="02020603050405020304" pitchFamily="18" charset="0"/>
                <a:cs typeface="Times New Roman" panose="02020603050405020304" pitchFamily="18" charset="0"/>
              </a:rPr>
              <a:t>Ruan, C., Chen, Y., Tian, D., Shi, Y., Wu, Y., Li, J., &amp; Li, C. (2025). </a:t>
            </a:r>
            <a:r>
              <a:rPr lang="en-US" sz="1200" dirty="0" err="1">
                <a:solidFill>
                  <a:schemeClr val="bg1">
                    <a:lumMod val="50000"/>
                  </a:schemeClr>
                </a:solidFill>
                <a:latin typeface="Times New Roman" panose="02020603050405020304" pitchFamily="18" charset="0"/>
                <a:cs typeface="Times New Roman" panose="02020603050405020304" pitchFamily="18" charset="0"/>
              </a:rPr>
              <a:t>DynaServe</a:t>
            </a:r>
            <a:r>
              <a:rPr lang="en-US" sz="1200" dirty="0">
                <a:solidFill>
                  <a:schemeClr val="bg1">
                    <a:lumMod val="50000"/>
                  </a:schemeClr>
                </a:solidFill>
                <a:latin typeface="Times New Roman" panose="02020603050405020304" pitchFamily="18" charset="0"/>
                <a:cs typeface="Times New Roman" panose="02020603050405020304" pitchFamily="18" charset="0"/>
              </a:rPr>
              <a:t>: Unified and Elastic Execution for Dynamic Disaggregated LLM Serving. </a:t>
            </a:r>
            <a:r>
              <a:rPr lang="en-US" sz="1200" dirty="0" err="1">
                <a:solidFill>
                  <a:schemeClr val="bg1">
                    <a:lumMod val="50000"/>
                  </a:schemeClr>
                </a:solidFill>
                <a:latin typeface="Times New Roman" panose="02020603050405020304" pitchFamily="18" charset="0"/>
                <a:cs typeface="Times New Roman" panose="02020603050405020304" pitchFamily="18" charset="0"/>
              </a:rPr>
              <a:t>arXiv</a:t>
            </a:r>
            <a:r>
              <a:rPr lang="en-US" sz="1200" dirty="0">
                <a:solidFill>
                  <a:schemeClr val="bg1">
                    <a:lumMod val="50000"/>
                  </a:schemeClr>
                </a:solidFill>
                <a:latin typeface="Times New Roman" panose="02020603050405020304" pitchFamily="18" charset="0"/>
                <a:cs typeface="Times New Roman" panose="02020603050405020304" pitchFamily="18" charset="0"/>
              </a:rPr>
              <a:t> preprint arXiv:2504.09285.</a:t>
            </a:r>
            <a:endPar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3: TaiChi</a:t>
            </a:r>
            <a:r>
              <a:rPr lang="en-US" altLang="zh-CN" sz="2933" baseline="30000" dirty="0">
                <a:latin typeface="Times New Roman" panose="02020603050405020304" pitchFamily="18" charset="0"/>
                <a:cs typeface="Times New Roman" panose="02020603050405020304" pitchFamily="18" charset="0"/>
              </a:rPr>
              <a:t>3</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3, </a:t>
            </a:r>
            <a:r>
              <a:rPr lang="en-US" sz="1200" dirty="0">
                <a:solidFill>
                  <a:schemeClr val="bg1">
                    <a:lumMod val="50000"/>
                  </a:schemeClr>
                </a:solidFill>
                <a:latin typeface="Times New Roman" panose="02020603050405020304" pitchFamily="18" charset="0"/>
                <a:cs typeface="Times New Roman" panose="02020603050405020304" pitchFamily="18" charset="0"/>
              </a:rPr>
              <a:t>Wang, C., Zuo, P., Chen, Z., Liang, Y., Yu, Z., &amp; Yang, M. C. (2025). Prefill-decode aggregation or disaggregation? unifying both for goodput-optimized </a:t>
            </a:r>
            <a:r>
              <a:rPr lang="en-US" sz="1200" dirty="0" err="1">
                <a:solidFill>
                  <a:schemeClr val="bg1">
                    <a:lumMod val="50000"/>
                  </a:schemeClr>
                </a:solidFill>
                <a:latin typeface="Times New Roman" panose="02020603050405020304" pitchFamily="18" charset="0"/>
                <a:cs typeface="Times New Roman" panose="02020603050405020304" pitchFamily="18" charset="0"/>
              </a:rPr>
              <a:t>llm</a:t>
            </a:r>
            <a:r>
              <a:rPr lang="en-US" sz="1200" dirty="0">
                <a:solidFill>
                  <a:schemeClr val="bg1">
                    <a:lumMod val="50000"/>
                  </a:schemeClr>
                </a:solidFill>
                <a:latin typeface="Times New Roman" panose="02020603050405020304" pitchFamily="18" charset="0"/>
                <a:cs typeface="Times New Roman" panose="02020603050405020304" pitchFamily="18" charset="0"/>
              </a:rPr>
              <a:t> serving. </a:t>
            </a:r>
            <a:r>
              <a:rPr lang="en-US" sz="1200" dirty="0" err="1">
                <a:solidFill>
                  <a:schemeClr val="bg1">
                    <a:lumMod val="50000"/>
                  </a:schemeClr>
                </a:solidFill>
                <a:latin typeface="Times New Roman" panose="02020603050405020304" pitchFamily="18" charset="0"/>
                <a:cs typeface="Times New Roman" panose="02020603050405020304" pitchFamily="18" charset="0"/>
              </a:rPr>
              <a:t>arXiv</a:t>
            </a:r>
            <a:r>
              <a:rPr lang="en-US" sz="1200" dirty="0">
                <a:solidFill>
                  <a:schemeClr val="bg1">
                    <a:lumMod val="50000"/>
                  </a:schemeClr>
                </a:solidFill>
                <a:latin typeface="Times New Roman" panose="02020603050405020304" pitchFamily="18" charset="0"/>
                <a:cs typeface="Times New Roman" panose="02020603050405020304" pitchFamily="18" charset="0"/>
              </a:rPr>
              <a:t> preprint arXiv:2508.01989.</a:t>
            </a:r>
            <a:endPar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Conclusion</a:t>
            </a:r>
          </a:p>
        </p:txBody>
      </p:sp>
      <p:sp>
        <p:nvSpPr>
          <p:cNvPr id="5" name="灯片编号占位符 1">
            <a:extLst>
              <a:ext uri="{FF2B5EF4-FFF2-40B4-BE49-F238E27FC236}">
                <a16:creationId xmlns:a16="http://schemas.microsoft.com/office/drawing/2014/main" id="{1F4986AD-489F-681C-382B-DB49C3F97FB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6</a:t>
            </a:fld>
            <a:endParaRPr lang="zh-TW" altLang="en-US"/>
          </a:p>
        </p:txBody>
      </p:sp>
    </p:spTree>
    <p:extLst>
      <p:ext uri="{BB962C8B-B14F-4D97-AF65-F5344CB8AC3E}">
        <p14:creationId xmlns:p14="http://schemas.microsoft.com/office/powerpoint/2010/main" val="2190566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BDB6E-FEA7-80C7-F80C-D92B5779C72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11CC69F-4809-E36E-990D-73F082272F32}"/>
              </a:ext>
            </a:extLst>
          </p:cNvPr>
          <p:cNvSpPr>
            <a:spLocks noGrp="1"/>
          </p:cNvSpPr>
          <p:nvPr>
            <p:ph type="title"/>
          </p:nvPr>
        </p:nvSpPr>
        <p:spPr>
          <a:xfrm>
            <a:off x="1296610" y="144466"/>
            <a:ext cx="10270977" cy="692151"/>
          </a:xfrm>
        </p:spPr>
        <p:txBody>
          <a:bodyPr/>
          <a:lstStyle/>
          <a:p>
            <a:r>
              <a:rPr lang="en-US" altLang="zh-TW" dirty="0"/>
              <a:t>Background-PD Aggregation </a:t>
            </a:r>
            <a:r>
              <a:rPr lang="en-US" altLang="zh-CN" dirty="0"/>
              <a:t>(1/2)</a:t>
            </a:r>
            <a:endParaRPr lang="zh-TW" altLang="en-US" dirty="0"/>
          </a:p>
        </p:txBody>
      </p:sp>
      <p:sp>
        <p:nvSpPr>
          <p:cNvPr id="5" name="灯片编号占位符 1">
            <a:extLst>
              <a:ext uri="{FF2B5EF4-FFF2-40B4-BE49-F238E27FC236}">
                <a16:creationId xmlns:a16="http://schemas.microsoft.com/office/drawing/2014/main" id="{29EF5FFF-F3BC-A1C7-444F-834C0DB309C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7</a:t>
            </a:fld>
            <a:endParaRPr lang="zh-TW" altLang="en-US"/>
          </a:p>
        </p:txBody>
      </p:sp>
      <p:sp>
        <p:nvSpPr>
          <p:cNvPr id="6" name="Content Placeholder 5">
            <a:extLst>
              <a:ext uri="{FF2B5EF4-FFF2-40B4-BE49-F238E27FC236}">
                <a16:creationId xmlns:a16="http://schemas.microsoft.com/office/drawing/2014/main" id="{ADC19EC6-CF92-8F56-4578-F61733E63735}"/>
              </a:ext>
            </a:extLst>
          </p:cNvPr>
          <p:cNvSpPr>
            <a:spLocks noGrp="1"/>
          </p:cNvSpPr>
          <p:nvPr>
            <p:ph idx="1"/>
          </p:nvPr>
        </p:nvSpPr>
        <p:spPr>
          <a:xfrm>
            <a:off x="609600" y="1125537"/>
            <a:ext cx="7014519" cy="4685983"/>
          </a:xfrm>
        </p:spPr>
        <p:txBody>
          <a:bodyPr/>
          <a:lstStyle/>
          <a:p>
            <a:pPr>
              <a:buClr>
                <a:schemeClr val="accent4"/>
              </a:buClr>
              <a:buFont typeface="Courier New" panose="02070309020205020404" pitchFamily="49" charset="0"/>
              <a:buChar char="o"/>
            </a:pPr>
            <a:r>
              <a:rPr lang="en-US" altLang="zh-CN" sz="2930" dirty="0">
                <a:latin typeface="Times New Roman" panose="02020603050405020304" pitchFamily="18" charset="0"/>
                <a:cs typeface="Times New Roman" panose="02020603050405020304" pitchFamily="18" charset="0"/>
              </a:rPr>
              <a:t>Description: </a:t>
            </a:r>
          </a:p>
          <a:p>
            <a:pPr lvl="1">
              <a:buClr>
                <a:schemeClr val="accent4"/>
              </a:buClr>
              <a:buFont typeface="Wingdings" pitchFamily="2" charset="2"/>
              <a:buChar char="v"/>
            </a:pPr>
            <a:r>
              <a:rPr lang="en-US" altLang="zh-CN" sz="1800" dirty="0">
                <a:latin typeface="+mn-lt"/>
                <a:cs typeface="Times New Roman" panose="02020603050405020304" pitchFamily="18" charset="0"/>
              </a:rPr>
              <a:t>As the prefill and decoding phases share the LLM weights and working memory, existing LLM serving systems typically </a:t>
            </a:r>
            <a:r>
              <a:rPr lang="en-US" altLang="zh-CN" sz="1800" dirty="0">
                <a:solidFill>
                  <a:schemeClr val="accent6"/>
                </a:solidFill>
                <a:latin typeface="+mn-lt"/>
                <a:cs typeface="Times New Roman" panose="02020603050405020304" pitchFamily="18" charset="0"/>
              </a:rPr>
              <a:t>collocate</a:t>
            </a:r>
            <a:r>
              <a:rPr lang="en-US" altLang="zh-CN" sz="1800" dirty="0">
                <a:latin typeface="+mn-lt"/>
                <a:cs typeface="Times New Roman" panose="02020603050405020304" pitchFamily="18" charset="0"/>
              </a:rPr>
              <a:t> both phases on the </a:t>
            </a:r>
            <a:r>
              <a:rPr lang="en-US" altLang="zh-CN" sz="1800" dirty="0">
                <a:solidFill>
                  <a:schemeClr val="accent6"/>
                </a:solidFill>
                <a:latin typeface="+mn-lt"/>
                <a:cs typeface="Times New Roman" panose="02020603050405020304" pitchFamily="18" charset="0"/>
              </a:rPr>
              <a:t>same GPU</a:t>
            </a:r>
            <a:r>
              <a:rPr lang="en-US" altLang="zh-CN" sz="1800" dirty="0">
                <a:latin typeface="+mn-lt"/>
                <a:cs typeface="Times New Roman" panose="02020603050405020304" pitchFamily="18" charset="0"/>
              </a:rPr>
              <a:t>.</a:t>
            </a:r>
          </a:p>
          <a:p>
            <a:pPr lvl="1">
              <a:buClr>
                <a:schemeClr val="accent4"/>
              </a:buClr>
              <a:buFont typeface="Wingdings" pitchFamily="2" charset="2"/>
              <a:buChar char="v"/>
            </a:pPr>
            <a:endParaRPr lang="en-US" altLang="zh-CN" sz="1800" dirty="0">
              <a:latin typeface="+mn-lt"/>
              <a:cs typeface="Times New Roman" panose="02020603050405020304" pitchFamily="18" charset="0"/>
            </a:endParaRPr>
          </a:p>
          <a:p>
            <a:pPr>
              <a:buClr>
                <a:schemeClr val="accent4"/>
              </a:buClr>
              <a:buFont typeface="Courier New" panose="02070309020205020404" pitchFamily="49" charset="0"/>
              <a:buChar char="o"/>
            </a:pPr>
            <a:r>
              <a:rPr lang="en-US" altLang="zh-CN" sz="2930" dirty="0">
                <a:latin typeface="Times New Roman" panose="02020603050405020304" pitchFamily="18" charset="0"/>
                <a:cs typeface="Times New Roman" panose="02020603050405020304" pitchFamily="18" charset="0"/>
              </a:rPr>
              <a:t>Performance Metrics: </a:t>
            </a:r>
          </a:p>
          <a:p>
            <a:pPr lvl="1">
              <a:buClr>
                <a:schemeClr val="accent4"/>
              </a:buClr>
              <a:buFont typeface="Wingdings" pitchFamily="2" charset="2"/>
              <a:buChar char="v"/>
            </a:pPr>
            <a:r>
              <a:rPr lang="en-US" altLang="zh-CN" sz="1800" dirty="0">
                <a:latin typeface="Arial" panose="020B0604020202020204" pitchFamily="34" charset="0"/>
                <a:cs typeface="Arial" panose="020B0604020202020204" pitchFamily="34" charset="0"/>
              </a:rPr>
              <a:t>Time to first token (TTFT)</a:t>
            </a:r>
          </a:p>
          <a:p>
            <a:pPr lvl="1">
              <a:buClr>
                <a:schemeClr val="accent4"/>
              </a:buClr>
              <a:buFont typeface="Wingdings" pitchFamily="2" charset="2"/>
              <a:buChar char="v"/>
            </a:pPr>
            <a:r>
              <a:rPr lang="en-US" altLang="zh-CN" sz="1800" dirty="0">
                <a:latin typeface="Arial" panose="020B0604020202020204" pitchFamily="34" charset="0"/>
                <a:cs typeface="Arial" panose="020B0604020202020204" pitchFamily="34" charset="0"/>
              </a:rPr>
              <a:t>Time per output token (TPOT)/Time between tokens (TBT)</a:t>
            </a:r>
          </a:p>
          <a:p>
            <a:pPr lvl="1">
              <a:buClr>
                <a:schemeClr val="accent4"/>
              </a:buClr>
              <a:buFont typeface="Wingdings" pitchFamily="2" charset="2"/>
              <a:buChar char="v"/>
            </a:pPr>
            <a:endParaRPr lang="en-US" altLang="zh-CN" sz="1800" dirty="0">
              <a:latin typeface="Arial" panose="020B0604020202020204" pitchFamily="34" charset="0"/>
              <a:cs typeface="Arial" panose="020B0604020202020204" pitchFamily="34" charset="0"/>
            </a:endParaRPr>
          </a:p>
          <a:p>
            <a:pPr>
              <a:buClr>
                <a:schemeClr val="accent4"/>
              </a:buClr>
              <a:buFont typeface="Courier New" panose="02070309020205020404" pitchFamily="49" charset="0"/>
              <a:buChar char="o"/>
            </a:pPr>
            <a:r>
              <a:rPr lang="en-US" altLang="zh-CN" sz="2930" dirty="0">
                <a:latin typeface="Times New Roman" panose="02020603050405020304" pitchFamily="18" charset="0"/>
                <a:cs typeface="Times New Roman" panose="02020603050405020304" pitchFamily="18" charset="0"/>
              </a:rPr>
              <a:t>Objective:</a:t>
            </a:r>
          </a:p>
          <a:p>
            <a:pPr lvl="1">
              <a:buClr>
                <a:schemeClr val="accent4"/>
              </a:buClr>
              <a:buFont typeface="Wingdings" pitchFamily="2" charset="2"/>
              <a:buChar char="v"/>
            </a:pPr>
            <a:r>
              <a:rPr lang="en-US" altLang="zh-CN" sz="1800" dirty="0">
                <a:latin typeface="Arial" panose="020B0604020202020204" pitchFamily="34" charset="0"/>
                <a:cs typeface="Arial" panose="020B0604020202020204" pitchFamily="34" charset="0"/>
              </a:rPr>
              <a:t>LLM serving system should</a:t>
            </a:r>
            <a:r>
              <a:rPr lang="zh-CN" altLang="en-US" sz="1800" dirty="0">
                <a:latin typeface="Arial" panose="020B0604020202020204" pitchFamily="34" charset="0"/>
                <a:cs typeface="Arial" panose="020B0604020202020204" pitchFamily="34" charset="0"/>
              </a:rPr>
              <a:t> </a:t>
            </a:r>
            <a:r>
              <a:rPr lang="en-US" altLang="zh-CN" sz="1800" dirty="0">
                <a:solidFill>
                  <a:schemeClr val="accent6"/>
                </a:solidFill>
                <a:latin typeface="Arial" panose="020B0604020202020204" pitchFamily="34" charset="0"/>
                <a:cs typeface="Arial" panose="020B0604020202020204" pitchFamily="34" charset="0"/>
              </a:rPr>
              <a:t>maximize throughput</a:t>
            </a:r>
            <a:r>
              <a:rPr lang="en-US" altLang="zh-CN" sz="1800" dirty="0">
                <a:latin typeface="Arial" panose="020B0604020202020204" pitchFamily="34" charset="0"/>
                <a:cs typeface="Arial" panose="020B0604020202020204" pitchFamily="34" charset="0"/>
              </a:rPr>
              <a:t> under constrained TTFT and TPOT.</a:t>
            </a:r>
          </a:p>
          <a:p>
            <a:pPr lvl="1">
              <a:buClr>
                <a:schemeClr val="accent4"/>
              </a:buClr>
              <a:buFont typeface="Courier New" panose="02070309020205020404" pitchFamily="49" charset="0"/>
              <a:buChar char="o"/>
            </a:pPr>
            <a:endParaRPr lang="en-US" altLang="zh-CN" sz="1800" dirty="0">
              <a:latin typeface="Arial" panose="020B0604020202020204" pitchFamily="34" charset="0"/>
              <a:cs typeface="Arial" panose="020B0604020202020204" pitchFamily="34" charset="0"/>
            </a:endParaRPr>
          </a:p>
          <a:p>
            <a:pPr lvl="2">
              <a:buClr>
                <a:schemeClr val="accent4"/>
              </a:buClr>
              <a:buFont typeface="Wingdings" pitchFamily="2" charset="2"/>
              <a:buChar char="v"/>
            </a:pPr>
            <a:endParaRPr lang="en-US" altLang="zh-CN" sz="1800" dirty="0">
              <a:latin typeface="Arial" panose="020B0604020202020204" pitchFamily="34" charset="0"/>
              <a:cs typeface="Arial" panose="020B0604020202020204" pitchFamily="34" charset="0"/>
            </a:endParaRPr>
          </a:p>
          <a:p>
            <a:pPr lvl="2">
              <a:buClr>
                <a:schemeClr val="accent4"/>
              </a:buClr>
              <a:buFont typeface="Courier New" panose="02070309020205020404" pitchFamily="49" charset="0"/>
              <a:buChar char="o"/>
            </a:pPr>
            <a:endParaRPr lang="en-US" altLang="zh-CN" sz="1267" dirty="0">
              <a:latin typeface="Arial" panose="020B0604020202020204" pitchFamily="34" charset="0"/>
              <a:cs typeface="Arial" panose="020B0604020202020204" pitchFamily="34" charset="0"/>
            </a:endParaRPr>
          </a:p>
          <a:p>
            <a:pPr lvl="1">
              <a:buClr>
                <a:schemeClr val="accent4"/>
              </a:buClr>
              <a:buFont typeface="Wingdings" pitchFamily="2" charset="2"/>
              <a:buChar char="v"/>
            </a:pPr>
            <a:endParaRPr lang="en-US" dirty="0"/>
          </a:p>
        </p:txBody>
      </p:sp>
      <p:grpSp>
        <p:nvGrpSpPr>
          <p:cNvPr id="3" name="组合 2">
            <a:extLst>
              <a:ext uri="{FF2B5EF4-FFF2-40B4-BE49-F238E27FC236}">
                <a16:creationId xmlns:a16="http://schemas.microsoft.com/office/drawing/2014/main" id="{BB7482FC-9625-4CD0-D7C4-8027D5CC356A}"/>
              </a:ext>
            </a:extLst>
          </p:cNvPr>
          <p:cNvGrpSpPr/>
          <p:nvPr/>
        </p:nvGrpSpPr>
        <p:grpSpPr>
          <a:xfrm>
            <a:off x="7721600" y="1410215"/>
            <a:ext cx="4470400" cy="3711992"/>
            <a:chOff x="7721600" y="1410215"/>
            <a:chExt cx="4470400" cy="3711992"/>
          </a:xfrm>
        </p:grpSpPr>
        <p:pic>
          <p:nvPicPr>
            <p:cNvPr id="7" name="Picture 6">
              <a:extLst>
                <a:ext uri="{FF2B5EF4-FFF2-40B4-BE49-F238E27FC236}">
                  <a16:creationId xmlns:a16="http://schemas.microsoft.com/office/drawing/2014/main" id="{3E575CA9-CF5D-E11A-7796-CAEB6B6B6FC3}"/>
                </a:ext>
              </a:extLst>
            </p:cNvPr>
            <p:cNvPicPr>
              <a:picLocks noChangeAspect="1"/>
            </p:cNvPicPr>
            <p:nvPr/>
          </p:nvPicPr>
          <p:blipFill>
            <a:blip r:embed="rId3"/>
            <a:stretch>
              <a:fillRect/>
            </a:stretch>
          </p:blipFill>
          <p:spPr>
            <a:xfrm>
              <a:off x="7721600" y="1410215"/>
              <a:ext cx="4470400" cy="3543300"/>
            </a:xfrm>
            <a:prstGeom prst="rect">
              <a:avLst/>
            </a:prstGeom>
          </p:spPr>
        </p:pic>
        <p:sp>
          <p:nvSpPr>
            <p:cNvPr id="9" name="TextBox 8">
              <a:extLst>
                <a:ext uri="{FF2B5EF4-FFF2-40B4-BE49-F238E27FC236}">
                  <a16:creationId xmlns:a16="http://schemas.microsoft.com/office/drawing/2014/main" id="{B57990F5-DAAA-357E-BEB0-365A1A00F388}"/>
                </a:ext>
              </a:extLst>
            </p:cNvPr>
            <p:cNvSpPr txBox="1"/>
            <p:nvPr/>
          </p:nvSpPr>
          <p:spPr>
            <a:xfrm>
              <a:off x="8949948" y="4814430"/>
              <a:ext cx="2677336"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3. Prefill and Decode</a:t>
              </a:r>
              <a:r>
                <a:rPr lang="zh-CN" altLang="en-US" sz="1400" dirty="0">
                  <a:latin typeface="Times New Roman" panose="02020603050405020304" pitchFamily="18" charset="0"/>
                  <a:ea typeface="標楷體" pitchFamily="65" charset="-120"/>
                  <a:cs typeface="Times New Roman" panose="02020603050405020304" pitchFamily="18" charset="0"/>
                </a:rPr>
                <a:t> </a:t>
              </a:r>
              <a:r>
                <a:rPr lang="en-US" altLang="zh-CN" sz="1400" dirty="0">
                  <a:latin typeface="Times New Roman" panose="02020603050405020304" pitchFamily="18" charset="0"/>
                  <a:ea typeface="標楷體" pitchFamily="65" charset="-120"/>
                  <a:cs typeface="Times New Roman" panose="02020603050405020304" pitchFamily="18" charset="0"/>
                </a:rPr>
                <a:t>Latency</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grpSp>
    </p:spTree>
    <p:extLst>
      <p:ext uri="{BB962C8B-B14F-4D97-AF65-F5344CB8AC3E}">
        <p14:creationId xmlns:p14="http://schemas.microsoft.com/office/powerpoint/2010/main" val="408792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xEl>
                                              <p:pRg st="7" end="7"/>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66329-2B98-DE3A-D073-D74F4D68A10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5F1F656-6618-9728-34B8-449E9ABEEB9B}"/>
              </a:ext>
            </a:extLst>
          </p:cNvPr>
          <p:cNvSpPr>
            <a:spLocks noGrp="1"/>
          </p:cNvSpPr>
          <p:nvPr>
            <p:ph type="title"/>
          </p:nvPr>
        </p:nvSpPr>
        <p:spPr>
          <a:xfrm>
            <a:off x="1296610" y="144466"/>
            <a:ext cx="10270977" cy="692151"/>
          </a:xfrm>
        </p:spPr>
        <p:txBody>
          <a:bodyPr/>
          <a:lstStyle/>
          <a:p>
            <a:r>
              <a:rPr lang="en-US" altLang="zh-TW" dirty="0"/>
              <a:t>Background-Challenges (2/2)</a:t>
            </a:r>
            <a:endParaRPr lang="zh-TW" altLang="en-US" dirty="0"/>
          </a:p>
        </p:txBody>
      </p:sp>
      <p:sp>
        <p:nvSpPr>
          <p:cNvPr id="5" name="灯片编号占位符 1">
            <a:extLst>
              <a:ext uri="{FF2B5EF4-FFF2-40B4-BE49-F238E27FC236}">
                <a16:creationId xmlns:a16="http://schemas.microsoft.com/office/drawing/2014/main" id="{B38A95BA-48E1-D7E1-380D-694E26B6689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8</a:t>
            </a:fld>
            <a:endParaRPr lang="zh-TW" altLang="en-US"/>
          </a:p>
        </p:txBody>
      </p:sp>
      <p:sp>
        <p:nvSpPr>
          <p:cNvPr id="6" name="Content Placeholder 5">
            <a:extLst>
              <a:ext uri="{FF2B5EF4-FFF2-40B4-BE49-F238E27FC236}">
                <a16:creationId xmlns:a16="http://schemas.microsoft.com/office/drawing/2014/main" id="{3970918A-F1F5-E200-B4E4-91F8DEDB09D6}"/>
              </a:ext>
            </a:extLst>
          </p:cNvPr>
          <p:cNvSpPr>
            <a:spLocks noGrp="1"/>
          </p:cNvSpPr>
          <p:nvPr>
            <p:ph idx="1"/>
          </p:nvPr>
        </p:nvSpPr>
        <p:spPr>
          <a:xfrm>
            <a:off x="-62470" y="1025450"/>
            <a:ext cx="7014519" cy="4895851"/>
          </a:xfrm>
        </p:spPr>
        <p:txBody>
          <a:bodyPr/>
          <a:lstStyle/>
          <a:p>
            <a:pPr lvl="1">
              <a:buClr>
                <a:schemeClr val="accent4"/>
              </a:buClr>
              <a:buFont typeface="Courier New" panose="02070309020205020404" pitchFamily="49" charset="0"/>
              <a:buChar char="o"/>
            </a:pPr>
            <a:r>
              <a:rPr lang="en-US" altLang="zh-CN" sz="2930" dirty="0">
                <a:latin typeface="Times New Roman" panose="02020603050405020304" pitchFamily="18" charset="0"/>
                <a:cs typeface="Times New Roman" panose="02020603050405020304" pitchFamily="18" charset="0"/>
              </a:rPr>
              <a:t>Root cause analysis:</a:t>
            </a:r>
          </a:p>
          <a:p>
            <a:pPr lvl="2">
              <a:buClr>
                <a:schemeClr val="accent4"/>
              </a:buClr>
              <a:buFont typeface="Wingdings" pitchFamily="2" charset="2"/>
              <a:buChar char="v"/>
            </a:pPr>
            <a:r>
              <a:rPr lang="en-US" sz="1800" dirty="0" err="1">
                <a:latin typeface="Arial" panose="020B0604020202020204" pitchFamily="34" charset="0"/>
                <a:cs typeface="Arial" panose="020B0604020202020204" pitchFamily="34" charset="0"/>
              </a:rPr>
              <a:t>Colocating</a:t>
            </a:r>
            <a:r>
              <a:rPr lang="en-US" sz="1800" dirty="0">
                <a:latin typeface="Arial" panose="020B0604020202020204" pitchFamily="34" charset="0"/>
                <a:cs typeface="Arial" panose="020B0604020202020204" pitchFamily="34" charset="0"/>
              </a:rPr>
              <a:t> prefill and decoding phases on the same GPUs unavoidably share their resource and parallelism settings.</a:t>
            </a:r>
            <a:endParaRPr lang="en-US" altLang="zh-CN" sz="1800" dirty="0">
              <a:latin typeface="Arial" panose="020B0604020202020204" pitchFamily="34" charset="0"/>
              <a:cs typeface="Arial" panose="020B0604020202020204" pitchFamily="34" charset="0"/>
            </a:endParaRPr>
          </a:p>
          <a:p>
            <a:pPr lvl="1">
              <a:buClr>
                <a:schemeClr val="accent4"/>
              </a:buClr>
              <a:buFont typeface="Courier New" panose="02070309020205020404" pitchFamily="49" charset="0"/>
              <a:buChar char="o"/>
            </a:pPr>
            <a:endParaRPr lang="en-US" altLang="zh-CN" sz="1800" dirty="0">
              <a:latin typeface="Times New Roman" panose="02020603050405020304" pitchFamily="18" charset="0"/>
              <a:cs typeface="Times New Roman" panose="02020603050405020304" pitchFamily="18" charset="0"/>
            </a:endParaRPr>
          </a:p>
          <a:p>
            <a:pPr lvl="2">
              <a:buClr>
                <a:schemeClr val="accent4"/>
              </a:buClr>
              <a:buFont typeface="Wingdings" pitchFamily="2" charset="2"/>
              <a:buChar char="v"/>
            </a:pPr>
            <a:endParaRPr lang="en-US" altLang="zh-CN" sz="1800" dirty="0">
              <a:latin typeface="Arial" panose="020B0604020202020204" pitchFamily="34" charset="0"/>
              <a:cs typeface="Arial" panose="020B0604020202020204" pitchFamily="34" charset="0"/>
            </a:endParaRPr>
          </a:p>
          <a:p>
            <a:pPr lvl="2">
              <a:buClr>
                <a:schemeClr val="accent4"/>
              </a:buClr>
              <a:buFont typeface="Courier New" panose="02070309020205020404" pitchFamily="49" charset="0"/>
              <a:buChar char="o"/>
            </a:pPr>
            <a:endParaRPr lang="en-US" altLang="zh-CN" sz="1267" dirty="0">
              <a:latin typeface="Arial" panose="020B0604020202020204" pitchFamily="34" charset="0"/>
              <a:cs typeface="Arial" panose="020B0604020202020204" pitchFamily="34" charset="0"/>
            </a:endParaRPr>
          </a:p>
          <a:p>
            <a:pPr lvl="1">
              <a:buClr>
                <a:schemeClr val="accent4"/>
              </a:buClr>
              <a:buFont typeface="Wingdings" pitchFamily="2" charset="2"/>
              <a:buChar char="v"/>
            </a:pPr>
            <a:endParaRPr lang="en-US" dirty="0"/>
          </a:p>
        </p:txBody>
      </p:sp>
      <p:sp>
        <p:nvSpPr>
          <p:cNvPr id="9" name="TextBox 8">
            <a:extLst>
              <a:ext uri="{FF2B5EF4-FFF2-40B4-BE49-F238E27FC236}">
                <a16:creationId xmlns:a16="http://schemas.microsoft.com/office/drawing/2014/main" id="{744E44FF-08A4-D49A-9DBB-415DF80CDAF9}"/>
              </a:ext>
            </a:extLst>
          </p:cNvPr>
          <p:cNvSpPr txBox="1"/>
          <p:nvPr/>
        </p:nvSpPr>
        <p:spPr>
          <a:xfrm>
            <a:off x="8348817" y="4655945"/>
            <a:ext cx="2675732"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4. Prefill-Decode Interference</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pic>
        <p:nvPicPr>
          <p:cNvPr id="3" name="Picture 2">
            <a:extLst>
              <a:ext uri="{FF2B5EF4-FFF2-40B4-BE49-F238E27FC236}">
                <a16:creationId xmlns:a16="http://schemas.microsoft.com/office/drawing/2014/main" id="{07C075F2-C193-1E6F-DA1A-66B7C9953DEE}"/>
              </a:ext>
            </a:extLst>
          </p:cNvPr>
          <p:cNvPicPr>
            <a:picLocks noChangeAspect="1"/>
          </p:cNvPicPr>
          <p:nvPr/>
        </p:nvPicPr>
        <p:blipFill>
          <a:blip r:embed="rId3"/>
          <a:stretch>
            <a:fillRect/>
          </a:stretch>
        </p:blipFill>
        <p:spPr>
          <a:xfrm>
            <a:off x="7138086" y="2330670"/>
            <a:ext cx="5053914" cy="2325275"/>
          </a:xfrm>
          <a:prstGeom prst="rect">
            <a:avLst/>
          </a:prstGeom>
        </p:spPr>
      </p:pic>
      <p:sp>
        <p:nvSpPr>
          <p:cNvPr id="4" name="Rounded Rectangle 3">
            <a:extLst>
              <a:ext uri="{FF2B5EF4-FFF2-40B4-BE49-F238E27FC236}">
                <a16:creationId xmlns:a16="http://schemas.microsoft.com/office/drawing/2014/main" id="{49CEB55B-CA13-2252-40C4-26196C320005}"/>
              </a:ext>
            </a:extLst>
          </p:cNvPr>
          <p:cNvSpPr/>
          <p:nvPr/>
        </p:nvSpPr>
        <p:spPr bwMode="auto">
          <a:xfrm>
            <a:off x="1212337" y="2483706"/>
            <a:ext cx="1779373" cy="679621"/>
          </a:xfrm>
          <a:prstGeom prst="roundRect">
            <a:avLst/>
          </a:prstGeom>
          <a:noFill/>
          <a:ln w="15875" cap="flat" cmpd="sng" algn="ctr">
            <a:solidFill>
              <a:schemeClr val="accent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Prefill</a:t>
            </a: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10" name="Rounded Rectangle 9">
            <a:extLst>
              <a:ext uri="{FF2B5EF4-FFF2-40B4-BE49-F238E27FC236}">
                <a16:creationId xmlns:a16="http://schemas.microsoft.com/office/drawing/2014/main" id="{98768507-3315-C49E-7C60-A4EEF79694F6}"/>
              </a:ext>
            </a:extLst>
          </p:cNvPr>
          <p:cNvSpPr/>
          <p:nvPr/>
        </p:nvSpPr>
        <p:spPr bwMode="auto">
          <a:xfrm>
            <a:off x="3897872" y="2483706"/>
            <a:ext cx="1779373" cy="679621"/>
          </a:xfrm>
          <a:prstGeom prst="roundRect">
            <a:avLst/>
          </a:prstGeom>
          <a:noFill/>
          <a:ln w="15875" cap="flat" cmpd="sng" algn="ctr">
            <a:solidFill>
              <a:schemeClr val="accent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Decode</a:t>
            </a: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13" name="Rounded Rectangle 12">
            <a:extLst>
              <a:ext uri="{FF2B5EF4-FFF2-40B4-BE49-F238E27FC236}">
                <a16:creationId xmlns:a16="http://schemas.microsoft.com/office/drawing/2014/main" id="{E2311A2D-A0F5-7A16-E740-3BF87DE11DAD}"/>
              </a:ext>
            </a:extLst>
          </p:cNvPr>
          <p:cNvSpPr/>
          <p:nvPr/>
        </p:nvSpPr>
        <p:spPr bwMode="auto">
          <a:xfrm>
            <a:off x="1212336" y="3390451"/>
            <a:ext cx="1779373" cy="679621"/>
          </a:xfrm>
          <a:prstGeom prst="roundRect">
            <a:avLst/>
          </a:prstGeom>
          <a:noFill/>
          <a:ln w="15875" cap="flat" cmpd="sng" algn="ctr">
            <a:solidFill>
              <a:schemeClr val="accent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Computation-</a:t>
            </a:r>
          </a:p>
          <a:p>
            <a:pPr marL="0" marR="0" indent="0" algn="ctr"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bound</a:t>
            </a: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14" name="Rounded Rectangle 13">
            <a:extLst>
              <a:ext uri="{FF2B5EF4-FFF2-40B4-BE49-F238E27FC236}">
                <a16:creationId xmlns:a16="http://schemas.microsoft.com/office/drawing/2014/main" id="{8A2D7D28-C552-8D86-7159-8588A5F45D4F}"/>
              </a:ext>
            </a:extLst>
          </p:cNvPr>
          <p:cNvSpPr/>
          <p:nvPr/>
        </p:nvSpPr>
        <p:spPr bwMode="auto">
          <a:xfrm>
            <a:off x="3897871" y="3425173"/>
            <a:ext cx="1779373" cy="679621"/>
          </a:xfrm>
          <a:prstGeom prst="roundRect">
            <a:avLst/>
          </a:prstGeom>
          <a:noFill/>
          <a:ln w="15875" cap="flat" cmpd="sng" algn="ctr">
            <a:solidFill>
              <a:schemeClr val="accent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Memory-</a:t>
            </a:r>
          </a:p>
          <a:p>
            <a:pPr marL="0" marR="0" indent="0" algn="ctr"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bound</a:t>
            </a: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cxnSp>
        <p:nvCxnSpPr>
          <p:cNvPr id="16" name="Straight Arrow Connector 15">
            <a:extLst>
              <a:ext uri="{FF2B5EF4-FFF2-40B4-BE49-F238E27FC236}">
                <a16:creationId xmlns:a16="http://schemas.microsoft.com/office/drawing/2014/main" id="{F8CBC1D1-892B-35B4-970D-93266148215B}"/>
              </a:ext>
            </a:extLst>
          </p:cNvPr>
          <p:cNvCxnSpPr>
            <a:stCxn id="4" idx="2"/>
            <a:endCxn id="13" idx="0"/>
          </p:cNvCxnSpPr>
          <p:nvPr/>
        </p:nvCxnSpPr>
        <p:spPr bwMode="auto">
          <a:xfrm flipH="1">
            <a:off x="2102023" y="3163327"/>
            <a:ext cx="1" cy="227124"/>
          </a:xfrm>
          <a:prstGeom prst="straightConnector1">
            <a:avLst/>
          </a:prstGeom>
          <a:noFill/>
          <a:ln w="15875" cap="flat" cmpd="sng" algn="ctr">
            <a:solidFill>
              <a:schemeClr val="accent4"/>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B67F3D2E-D53E-8524-8E57-206625E4A9BE}"/>
              </a:ext>
            </a:extLst>
          </p:cNvPr>
          <p:cNvCxnSpPr>
            <a:stCxn id="10" idx="2"/>
            <a:endCxn id="14" idx="0"/>
          </p:cNvCxnSpPr>
          <p:nvPr/>
        </p:nvCxnSpPr>
        <p:spPr bwMode="auto">
          <a:xfrm flipH="1">
            <a:off x="4787558" y="3163327"/>
            <a:ext cx="1" cy="261846"/>
          </a:xfrm>
          <a:prstGeom prst="straightConnector1">
            <a:avLst/>
          </a:prstGeom>
          <a:noFill/>
          <a:ln w="15875" cap="flat" cmpd="sng" algn="ctr">
            <a:solidFill>
              <a:schemeClr val="accent4"/>
            </a:solidFill>
            <a:prstDash val="solid"/>
            <a:round/>
            <a:headEnd type="none" w="med" len="med"/>
            <a:tailEnd type="triangle"/>
          </a:ln>
          <a:effectLst/>
        </p:spPr>
      </p:cxnSp>
      <p:sp>
        <p:nvSpPr>
          <p:cNvPr id="21" name="Rounded Rectangle 20">
            <a:extLst>
              <a:ext uri="{FF2B5EF4-FFF2-40B4-BE49-F238E27FC236}">
                <a16:creationId xmlns:a16="http://schemas.microsoft.com/office/drawing/2014/main" id="{941BF8DF-6E63-C3B0-95CA-75B060C5A27C}"/>
              </a:ext>
            </a:extLst>
          </p:cNvPr>
          <p:cNvSpPr/>
          <p:nvPr/>
        </p:nvSpPr>
        <p:spPr bwMode="auto">
          <a:xfrm>
            <a:off x="1212336" y="4297196"/>
            <a:ext cx="1779373" cy="679621"/>
          </a:xfrm>
          <a:prstGeom prst="roundRect">
            <a:avLst/>
          </a:prstGeom>
          <a:noFill/>
          <a:ln w="15875" cap="flat" cmpd="sng" algn="ctr">
            <a:solidFill>
              <a:schemeClr val="accent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Intra-op </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Parallelism</a:t>
            </a:r>
          </a:p>
        </p:txBody>
      </p:sp>
      <p:sp>
        <p:nvSpPr>
          <p:cNvPr id="22" name="Rounded Rectangle 21">
            <a:extLst>
              <a:ext uri="{FF2B5EF4-FFF2-40B4-BE49-F238E27FC236}">
                <a16:creationId xmlns:a16="http://schemas.microsoft.com/office/drawing/2014/main" id="{6693CBB9-F7EC-1D5E-19CA-7AFAEDAA09AF}"/>
              </a:ext>
            </a:extLst>
          </p:cNvPr>
          <p:cNvSpPr/>
          <p:nvPr/>
        </p:nvSpPr>
        <p:spPr bwMode="auto">
          <a:xfrm>
            <a:off x="3897870" y="4297196"/>
            <a:ext cx="1779373" cy="679621"/>
          </a:xfrm>
          <a:prstGeom prst="roundRect">
            <a:avLst/>
          </a:prstGeom>
          <a:noFill/>
          <a:ln w="15875" cap="flat" cmpd="sng" algn="ctr">
            <a:solidFill>
              <a:schemeClr val="accent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Larger</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Batch size</a:t>
            </a:r>
          </a:p>
        </p:txBody>
      </p:sp>
      <p:cxnSp>
        <p:nvCxnSpPr>
          <p:cNvPr id="24" name="Straight Arrow Connector 23">
            <a:extLst>
              <a:ext uri="{FF2B5EF4-FFF2-40B4-BE49-F238E27FC236}">
                <a16:creationId xmlns:a16="http://schemas.microsoft.com/office/drawing/2014/main" id="{7B34C789-2703-5DFA-FE1F-4D3B27B56379}"/>
              </a:ext>
            </a:extLst>
          </p:cNvPr>
          <p:cNvCxnSpPr>
            <a:stCxn id="13" idx="2"/>
            <a:endCxn id="21" idx="0"/>
          </p:cNvCxnSpPr>
          <p:nvPr/>
        </p:nvCxnSpPr>
        <p:spPr bwMode="auto">
          <a:xfrm>
            <a:off x="2102023" y="4070072"/>
            <a:ext cx="0" cy="227124"/>
          </a:xfrm>
          <a:prstGeom prst="straightConnector1">
            <a:avLst/>
          </a:prstGeom>
          <a:noFill/>
          <a:ln w="15875" cap="flat" cmpd="sng" algn="ctr">
            <a:solidFill>
              <a:schemeClr val="accent4"/>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FECB44D3-FF52-4727-E66C-770E1F4C3E8A}"/>
              </a:ext>
            </a:extLst>
          </p:cNvPr>
          <p:cNvCxnSpPr>
            <a:stCxn id="14" idx="2"/>
            <a:endCxn id="22" idx="0"/>
          </p:cNvCxnSpPr>
          <p:nvPr/>
        </p:nvCxnSpPr>
        <p:spPr bwMode="auto">
          <a:xfrm flipH="1">
            <a:off x="4787557" y="4104794"/>
            <a:ext cx="1" cy="192402"/>
          </a:xfrm>
          <a:prstGeom prst="straightConnector1">
            <a:avLst/>
          </a:prstGeom>
          <a:noFill/>
          <a:ln w="15875" cap="flat" cmpd="sng" algn="ctr">
            <a:solidFill>
              <a:schemeClr val="accent4"/>
            </a:solidFill>
            <a:prstDash val="solid"/>
            <a:round/>
            <a:headEnd type="none" w="med" len="med"/>
            <a:tailEnd type="triangle"/>
          </a:ln>
          <a:effectLst/>
        </p:spPr>
      </p:cxnSp>
      <p:sp>
        <p:nvSpPr>
          <p:cNvPr id="27" name="Rounded Rectangle 26">
            <a:extLst>
              <a:ext uri="{FF2B5EF4-FFF2-40B4-BE49-F238E27FC236}">
                <a16:creationId xmlns:a16="http://schemas.microsoft.com/office/drawing/2014/main" id="{0DB56E35-E927-AE70-10D5-6D414E9B32A5}"/>
              </a:ext>
            </a:extLst>
          </p:cNvPr>
          <p:cNvSpPr/>
          <p:nvPr/>
        </p:nvSpPr>
        <p:spPr bwMode="auto">
          <a:xfrm>
            <a:off x="1212336" y="5203941"/>
            <a:ext cx="1779373" cy="679621"/>
          </a:xfrm>
          <a:prstGeom prst="roundRect">
            <a:avLst/>
          </a:prstGeom>
          <a:noFill/>
          <a:ln w="15875" cap="flat" cmpd="sng" algn="ctr">
            <a:solidFill>
              <a:schemeClr val="accent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T</a:t>
            </a:r>
            <a:r>
              <a:rPr kumimoji="1" lang="en-US" b="1" dirty="0">
                <a:latin typeface="Arial" pitchFamily="34" charset="0"/>
                <a:ea typeface="新細明體" pitchFamily="18" charset="-120"/>
              </a:rPr>
              <a:t>ight SLO on</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TTFT</a:t>
            </a:r>
          </a:p>
        </p:txBody>
      </p:sp>
      <p:cxnSp>
        <p:nvCxnSpPr>
          <p:cNvPr id="29" name="Straight Arrow Connector 28">
            <a:extLst>
              <a:ext uri="{FF2B5EF4-FFF2-40B4-BE49-F238E27FC236}">
                <a16:creationId xmlns:a16="http://schemas.microsoft.com/office/drawing/2014/main" id="{BE928594-1795-7A7D-136F-A52FBC2C6557}"/>
              </a:ext>
            </a:extLst>
          </p:cNvPr>
          <p:cNvCxnSpPr>
            <a:stCxn id="21" idx="2"/>
            <a:endCxn id="27" idx="0"/>
          </p:cNvCxnSpPr>
          <p:nvPr/>
        </p:nvCxnSpPr>
        <p:spPr bwMode="auto">
          <a:xfrm>
            <a:off x="2102023" y="4976817"/>
            <a:ext cx="0" cy="227124"/>
          </a:xfrm>
          <a:prstGeom prst="straightConnector1">
            <a:avLst/>
          </a:prstGeom>
          <a:noFill/>
          <a:ln w="15875" cap="flat" cmpd="sng" algn="ctr">
            <a:solidFill>
              <a:schemeClr val="accent4"/>
            </a:solidFill>
            <a:prstDash val="solid"/>
            <a:round/>
            <a:headEnd type="none" w="med" len="med"/>
            <a:tailEnd type="triangle"/>
          </a:ln>
          <a:effectLst/>
        </p:spPr>
      </p:cxnSp>
      <p:sp>
        <p:nvSpPr>
          <p:cNvPr id="30" name="Rounded Rectangle 29">
            <a:extLst>
              <a:ext uri="{FF2B5EF4-FFF2-40B4-BE49-F238E27FC236}">
                <a16:creationId xmlns:a16="http://schemas.microsoft.com/office/drawing/2014/main" id="{C6C4F76E-5791-A7E5-3B7D-ECC5D9B5E179}"/>
              </a:ext>
            </a:extLst>
          </p:cNvPr>
          <p:cNvSpPr/>
          <p:nvPr/>
        </p:nvSpPr>
        <p:spPr bwMode="auto">
          <a:xfrm>
            <a:off x="3897870" y="5203940"/>
            <a:ext cx="1779373" cy="679621"/>
          </a:xfrm>
          <a:prstGeom prst="roundRect">
            <a:avLst/>
          </a:prstGeom>
          <a:noFill/>
          <a:ln w="15875" cap="flat" cmpd="sng" algn="ctr">
            <a:solidFill>
              <a:schemeClr val="accent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T</a:t>
            </a:r>
            <a:r>
              <a:rPr kumimoji="1" lang="en-US" b="1" dirty="0">
                <a:latin typeface="Arial" pitchFamily="34" charset="0"/>
                <a:ea typeface="新細明體" pitchFamily="18" charset="-120"/>
              </a:rPr>
              <a:t>ight SLO on</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TPOT</a:t>
            </a:r>
          </a:p>
        </p:txBody>
      </p:sp>
      <p:cxnSp>
        <p:nvCxnSpPr>
          <p:cNvPr id="32" name="Straight Arrow Connector 31">
            <a:extLst>
              <a:ext uri="{FF2B5EF4-FFF2-40B4-BE49-F238E27FC236}">
                <a16:creationId xmlns:a16="http://schemas.microsoft.com/office/drawing/2014/main" id="{81E9FFE4-023B-4173-6447-4141ABA84D78}"/>
              </a:ext>
            </a:extLst>
          </p:cNvPr>
          <p:cNvCxnSpPr>
            <a:stCxn id="22" idx="2"/>
            <a:endCxn id="30" idx="0"/>
          </p:cNvCxnSpPr>
          <p:nvPr/>
        </p:nvCxnSpPr>
        <p:spPr bwMode="auto">
          <a:xfrm>
            <a:off x="4787557" y="4976817"/>
            <a:ext cx="0" cy="227123"/>
          </a:xfrm>
          <a:prstGeom prst="straightConnector1">
            <a:avLst/>
          </a:prstGeom>
          <a:noFill/>
          <a:ln w="15875" cap="flat" cmpd="sng" algn="ctr">
            <a:solidFill>
              <a:schemeClr val="accent4"/>
            </a:solidFill>
            <a:prstDash val="solid"/>
            <a:round/>
            <a:headEnd type="none" w="med" len="med"/>
            <a:tailEnd type="triangle"/>
          </a:ln>
          <a:effectLst/>
        </p:spPr>
      </p:cxnSp>
      <p:sp>
        <p:nvSpPr>
          <p:cNvPr id="33" name="Left-Right Arrow 32">
            <a:extLst>
              <a:ext uri="{FF2B5EF4-FFF2-40B4-BE49-F238E27FC236}">
                <a16:creationId xmlns:a16="http://schemas.microsoft.com/office/drawing/2014/main" id="{B346597E-BDC0-7A88-FFC9-0A0BE2C8605C}"/>
              </a:ext>
            </a:extLst>
          </p:cNvPr>
          <p:cNvSpPr/>
          <p:nvPr/>
        </p:nvSpPr>
        <p:spPr bwMode="auto">
          <a:xfrm>
            <a:off x="3046641" y="3687258"/>
            <a:ext cx="796299" cy="155450"/>
          </a:xfrm>
          <a:prstGeom prst="leftRightArrow">
            <a:avLst/>
          </a:prstGeom>
          <a:noFill/>
          <a:ln w="15875" cap="flat" cmpd="sng" algn="ctr">
            <a:solidFill>
              <a:schemeClr val="accent5"/>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4" name="TextBox 33">
            <a:extLst>
              <a:ext uri="{FF2B5EF4-FFF2-40B4-BE49-F238E27FC236}">
                <a16:creationId xmlns:a16="http://schemas.microsoft.com/office/drawing/2014/main" id="{39511FD2-BB4F-BC96-C74A-74B77905CA9E}"/>
              </a:ext>
            </a:extLst>
          </p:cNvPr>
          <p:cNvSpPr txBox="1"/>
          <p:nvPr/>
        </p:nvSpPr>
        <p:spPr>
          <a:xfrm>
            <a:off x="3237041" y="3473376"/>
            <a:ext cx="415498"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35" name="Left-Right Arrow 34">
            <a:extLst>
              <a:ext uri="{FF2B5EF4-FFF2-40B4-BE49-F238E27FC236}">
                <a16:creationId xmlns:a16="http://schemas.microsoft.com/office/drawing/2014/main" id="{156A374A-ECAC-4AB2-A36E-9B90D0283921}"/>
              </a:ext>
            </a:extLst>
          </p:cNvPr>
          <p:cNvSpPr/>
          <p:nvPr/>
        </p:nvSpPr>
        <p:spPr bwMode="auto">
          <a:xfrm>
            <a:off x="3046641" y="4578220"/>
            <a:ext cx="796299" cy="155450"/>
          </a:xfrm>
          <a:prstGeom prst="leftRightArrow">
            <a:avLst/>
          </a:prstGeom>
          <a:noFill/>
          <a:ln w="15875" cap="flat" cmpd="sng" algn="ctr">
            <a:solidFill>
              <a:schemeClr val="accent5"/>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6" name="TextBox 35">
            <a:extLst>
              <a:ext uri="{FF2B5EF4-FFF2-40B4-BE49-F238E27FC236}">
                <a16:creationId xmlns:a16="http://schemas.microsoft.com/office/drawing/2014/main" id="{361EA444-1B6F-514B-9AEE-E3C49D98EA0A}"/>
              </a:ext>
            </a:extLst>
          </p:cNvPr>
          <p:cNvSpPr txBox="1"/>
          <p:nvPr/>
        </p:nvSpPr>
        <p:spPr>
          <a:xfrm>
            <a:off x="3237041" y="4364338"/>
            <a:ext cx="415498"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Tree>
    <p:extLst>
      <p:ext uri="{BB962C8B-B14F-4D97-AF65-F5344CB8AC3E}">
        <p14:creationId xmlns:p14="http://schemas.microsoft.com/office/powerpoint/2010/main" val="4173247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53E70-15B5-FA20-E0E3-34B7150B43E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FAA66D3-E1E0-84F6-F64C-D744A8068525}"/>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82AE0F9E-62F1-D1B2-93A1-BD02BF8A61CD}"/>
              </a:ext>
            </a:extLst>
          </p:cNvPr>
          <p:cNvSpPr>
            <a:spLocks noGrp="1"/>
          </p:cNvSpPr>
          <p:nvPr>
            <p:ph idx="1"/>
          </p:nvPr>
        </p:nvSpPr>
        <p:spPr>
          <a:xfrm>
            <a:off x="1311423" y="1125536"/>
            <a:ext cx="10270977" cy="5399091"/>
          </a:xfrm>
        </p:spPr>
        <p:txBody>
          <a:bodyPr>
            <a:noAutofit/>
          </a:bodyPr>
          <a:lstStyle/>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Introduction</a:t>
            </a:r>
          </a:p>
          <a:p>
            <a:pPr lvl="1">
              <a:buClr>
                <a:schemeClr val="accent4"/>
              </a:buClr>
              <a:buFont typeface="Wingdings" pitchFamily="2" charset="2"/>
              <a:buChar char="v"/>
            </a:pPr>
            <a:r>
              <a:rPr lang="en-US" altLang="zh-TW" sz="1800" dirty="0">
                <a:solidFill>
                  <a:schemeClr val="bg1">
                    <a:lumMod val="50000"/>
                  </a:schemeClr>
                </a:solidFill>
                <a:latin typeface="Times New Roman" panose="02020603050405020304" pitchFamily="18" charset="0"/>
                <a:cs typeface="Times New Roman" panose="02020603050405020304" pitchFamily="18" charset="0"/>
              </a:rPr>
              <a:t>Transformer Architecture, Two-Phase Inference, KV Cache.</a:t>
            </a: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Background</a:t>
            </a:r>
          </a:p>
          <a:p>
            <a:pPr lvl="1">
              <a:buClr>
                <a:schemeClr val="accent4"/>
              </a:buClr>
              <a:buFont typeface="Wingdings" pitchFamily="2" charset="2"/>
              <a:buChar char="v"/>
            </a:pPr>
            <a:r>
              <a:rPr lang="en-US" altLang="zh-CN" sz="1800" dirty="0">
                <a:solidFill>
                  <a:schemeClr val="bg1">
                    <a:lumMod val="50000"/>
                  </a:schemeClr>
                </a:solidFill>
                <a:latin typeface="Times New Roman" panose="02020603050405020304" pitchFamily="18" charset="0"/>
                <a:cs typeface="Times New Roman" panose="02020603050405020304" pitchFamily="18" charset="0"/>
              </a:rPr>
              <a:t>Aggregation vs. Disaggregation. Trade-offs and Real-World Workload Challenges.</a:t>
            </a:r>
          </a:p>
          <a:p>
            <a:pPr>
              <a:buClr>
                <a:schemeClr val="accent4"/>
              </a:buClr>
              <a:buFont typeface="Courier New" panose="02070309020205020404" pitchFamily="49" charset="0"/>
              <a:buChar char="o"/>
            </a:pPr>
            <a:r>
              <a:rPr lang="en-US" altLang="zh-CN" sz="2933" dirty="0">
                <a:solidFill>
                  <a:schemeClr val="accent6"/>
                </a:solidFill>
                <a:latin typeface="Times New Roman" panose="02020603050405020304" pitchFamily="18" charset="0"/>
                <a:cs typeface="Times New Roman" panose="02020603050405020304" pitchFamily="18" charset="0"/>
              </a:rPr>
              <a:t>Work 1: Mooncake</a:t>
            </a:r>
            <a:r>
              <a:rPr lang="en-US" altLang="zh-CN" sz="2933" baseline="30000" dirty="0">
                <a:solidFill>
                  <a:schemeClr val="accent6"/>
                </a:solidFill>
                <a:latin typeface="Times New Roman" panose="02020603050405020304" pitchFamily="18" charset="0"/>
                <a:cs typeface="Times New Roman" panose="02020603050405020304" pitchFamily="18" charset="0"/>
              </a:rPr>
              <a:t>1</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1, </a:t>
            </a:r>
            <a:r>
              <a:rPr lang="en-US" sz="1200" dirty="0">
                <a:solidFill>
                  <a:schemeClr val="bg1">
                    <a:lumMod val="50000"/>
                  </a:schemeClr>
                </a:solidFill>
                <a:latin typeface="Times New Roman" panose="02020603050405020304" pitchFamily="18" charset="0"/>
                <a:cs typeface="Times New Roman" panose="02020603050405020304" pitchFamily="18" charset="0"/>
              </a:rPr>
              <a:t>Qin, R., Li, Z., He, W., Cui, J., Tang, H., Ren, F., ... &amp; Xu, X. (2024). Mooncake: A </a:t>
            </a:r>
            <a:r>
              <a:rPr lang="en-US" sz="1200" dirty="0" err="1">
                <a:solidFill>
                  <a:schemeClr val="bg1">
                    <a:lumMod val="50000"/>
                  </a:schemeClr>
                </a:solidFill>
                <a:latin typeface="Times New Roman" panose="02020603050405020304" pitchFamily="18" charset="0"/>
                <a:cs typeface="Times New Roman" panose="02020603050405020304" pitchFamily="18" charset="0"/>
              </a:rPr>
              <a:t>kvcache</a:t>
            </a:r>
            <a:r>
              <a:rPr lang="en-US" sz="1200" dirty="0">
                <a:solidFill>
                  <a:schemeClr val="bg1">
                    <a:lumMod val="50000"/>
                  </a:schemeClr>
                </a:solidFill>
                <a:latin typeface="Times New Roman" panose="02020603050405020304" pitchFamily="18" charset="0"/>
                <a:cs typeface="Times New Roman" panose="02020603050405020304" pitchFamily="18" charset="0"/>
              </a:rPr>
              <a:t>-centric disaggregated architecture for </a:t>
            </a:r>
            <a:r>
              <a:rPr lang="en-US" sz="1200" dirty="0" err="1">
                <a:solidFill>
                  <a:schemeClr val="bg1">
                    <a:lumMod val="50000"/>
                  </a:schemeClr>
                </a:solidFill>
                <a:latin typeface="Times New Roman" panose="02020603050405020304" pitchFamily="18" charset="0"/>
                <a:cs typeface="Times New Roman" panose="02020603050405020304" pitchFamily="18" charset="0"/>
              </a:rPr>
              <a:t>llm</a:t>
            </a:r>
            <a:r>
              <a:rPr lang="en-US" sz="1200" dirty="0">
                <a:solidFill>
                  <a:schemeClr val="bg1">
                    <a:lumMod val="50000"/>
                  </a:schemeClr>
                </a:solidFill>
                <a:latin typeface="Times New Roman" panose="02020603050405020304" pitchFamily="18" charset="0"/>
                <a:cs typeface="Times New Roman" panose="02020603050405020304" pitchFamily="18" charset="0"/>
              </a:rPr>
              <a:t> serving. ACM Transactions on Storage.</a:t>
            </a:r>
            <a:endParaRPr lang="en-US" altLang="zh-CN" sz="12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2: NynaServe</a:t>
            </a:r>
            <a:r>
              <a:rPr lang="en-US" altLang="zh-CN" sz="2933" baseline="30000" dirty="0">
                <a:latin typeface="Times New Roman" panose="02020603050405020304" pitchFamily="18" charset="0"/>
                <a:cs typeface="Times New Roman" panose="02020603050405020304" pitchFamily="18" charset="0"/>
              </a:rPr>
              <a:t>2</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2,</a:t>
            </a:r>
            <a:r>
              <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rPr>
              <a:t> </a:t>
            </a:r>
            <a:r>
              <a:rPr lang="en-US" sz="1200" dirty="0">
                <a:solidFill>
                  <a:schemeClr val="bg1">
                    <a:lumMod val="50000"/>
                  </a:schemeClr>
                </a:solidFill>
                <a:latin typeface="Times New Roman" panose="02020603050405020304" pitchFamily="18" charset="0"/>
                <a:cs typeface="Times New Roman" panose="02020603050405020304" pitchFamily="18" charset="0"/>
              </a:rPr>
              <a:t>Ruan, C., Chen, Y., Tian, D., Shi, Y., Wu, Y., Li, J., &amp; Li, C. (2025). </a:t>
            </a:r>
            <a:r>
              <a:rPr lang="en-US" sz="1200" dirty="0" err="1">
                <a:solidFill>
                  <a:schemeClr val="bg1">
                    <a:lumMod val="50000"/>
                  </a:schemeClr>
                </a:solidFill>
                <a:latin typeface="Times New Roman" panose="02020603050405020304" pitchFamily="18" charset="0"/>
                <a:cs typeface="Times New Roman" panose="02020603050405020304" pitchFamily="18" charset="0"/>
              </a:rPr>
              <a:t>DynaServe</a:t>
            </a:r>
            <a:r>
              <a:rPr lang="en-US" sz="1200" dirty="0">
                <a:solidFill>
                  <a:schemeClr val="bg1">
                    <a:lumMod val="50000"/>
                  </a:schemeClr>
                </a:solidFill>
                <a:latin typeface="Times New Roman" panose="02020603050405020304" pitchFamily="18" charset="0"/>
                <a:cs typeface="Times New Roman" panose="02020603050405020304" pitchFamily="18" charset="0"/>
              </a:rPr>
              <a:t>: Unified and Elastic Execution for Dynamic Disaggregated LLM Serving. </a:t>
            </a:r>
            <a:r>
              <a:rPr lang="en-US" sz="1200" dirty="0" err="1">
                <a:solidFill>
                  <a:schemeClr val="bg1">
                    <a:lumMod val="50000"/>
                  </a:schemeClr>
                </a:solidFill>
                <a:latin typeface="Times New Roman" panose="02020603050405020304" pitchFamily="18" charset="0"/>
                <a:cs typeface="Times New Roman" panose="02020603050405020304" pitchFamily="18" charset="0"/>
              </a:rPr>
              <a:t>arXiv</a:t>
            </a:r>
            <a:r>
              <a:rPr lang="en-US" sz="1200" dirty="0">
                <a:solidFill>
                  <a:schemeClr val="bg1">
                    <a:lumMod val="50000"/>
                  </a:schemeClr>
                </a:solidFill>
                <a:latin typeface="Times New Roman" panose="02020603050405020304" pitchFamily="18" charset="0"/>
                <a:cs typeface="Times New Roman" panose="02020603050405020304" pitchFamily="18" charset="0"/>
              </a:rPr>
              <a:t> preprint arXiv:2504.09285.</a:t>
            </a:r>
            <a:endPar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3: TaiChi</a:t>
            </a:r>
            <a:r>
              <a:rPr lang="en-US" altLang="zh-CN" sz="2933" baseline="30000" dirty="0">
                <a:latin typeface="Times New Roman" panose="02020603050405020304" pitchFamily="18" charset="0"/>
                <a:cs typeface="Times New Roman" panose="02020603050405020304" pitchFamily="18" charset="0"/>
              </a:rPr>
              <a:t>3</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3, </a:t>
            </a:r>
            <a:r>
              <a:rPr lang="en-US" sz="1200" dirty="0">
                <a:solidFill>
                  <a:schemeClr val="bg1">
                    <a:lumMod val="50000"/>
                  </a:schemeClr>
                </a:solidFill>
                <a:latin typeface="Times New Roman" panose="02020603050405020304" pitchFamily="18" charset="0"/>
                <a:cs typeface="Times New Roman" panose="02020603050405020304" pitchFamily="18" charset="0"/>
              </a:rPr>
              <a:t>Wang, C., Zuo, P., Chen, Z., Liang, Y., Yu, Z., &amp; Yang, M. C. (2025). Prefill-decode aggregation or disaggregation? unifying both for goodput-optimized </a:t>
            </a:r>
            <a:r>
              <a:rPr lang="en-US" sz="1200" dirty="0" err="1">
                <a:solidFill>
                  <a:schemeClr val="bg1">
                    <a:lumMod val="50000"/>
                  </a:schemeClr>
                </a:solidFill>
                <a:latin typeface="Times New Roman" panose="02020603050405020304" pitchFamily="18" charset="0"/>
                <a:cs typeface="Times New Roman" panose="02020603050405020304" pitchFamily="18" charset="0"/>
              </a:rPr>
              <a:t>llm</a:t>
            </a:r>
            <a:r>
              <a:rPr lang="en-US" sz="1200" dirty="0">
                <a:solidFill>
                  <a:schemeClr val="bg1">
                    <a:lumMod val="50000"/>
                  </a:schemeClr>
                </a:solidFill>
                <a:latin typeface="Times New Roman" panose="02020603050405020304" pitchFamily="18" charset="0"/>
                <a:cs typeface="Times New Roman" panose="02020603050405020304" pitchFamily="18" charset="0"/>
              </a:rPr>
              <a:t> serving. </a:t>
            </a:r>
            <a:r>
              <a:rPr lang="en-US" sz="1200" dirty="0" err="1">
                <a:solidFill>
                  <a:schemeClr val="bg1">
                    <a:lumMod val="50000"/>
                  </a:schemeClr>
                </a:solidFill>
                <a:latin typeface="Times New Roman" panose="02020603050405020304" pitchFamily="18" charset="0"/>
                <a:cs typeface="Times New Roman" panose="02020603050405020304" pitchFamily="18" charset="0"/>
              </a:rPr>
              <a:t>arXiv</a:t>
            </a:r>
            <a:r>
              <a:rPr lang="en-US" sz="1200" dirty="0">
                <a:solidFill>
                  <a:schemeClr val="bg1">
                    <a:lumMod val="50000"/>
                  </a:schemeClr>
                </a:solidFill>
                <a:latin typeface="Times New Roman" panose="02020603050405020304" pitchFamily="18" charset="0"/>
                <a:cs typeface="Times New Roman" panose="02020603050405020304" pitchFamily="18" charset="0"/>
              </a:rPr>
              <a:t> preprint arXiv:2508.01989.</a:t>
            </a:r>
            <a:endPar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Conclusion</a:t>
            </a:r>
          </a:p>
        </p:txBody>
      </p:sp>
      <p:sp>
        <p:nvSpPr>
          <p:cNvPr id="5" name="灯片编号占位符 1">
            <a:extLst>
              <a:ext uri="{FF2B5EF4-FFF2-40B4-BE49-F238E27FC236}">
                <a16:creationId xmlns:a16="http://schemas.microsoft.com/office/drawing/2014/main" id="{072E4836-7DE1-65C8-DBF6-D8E070DBAD5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9</a:t>
            </a:fld>
            <a:endParaRPr lang="zh-TW" altLang="en-US"/>
          </a:p>
        </p:txBody>
      </p:sp>
    </p:spTree>
    <p:extLst>
      <p:ext uri="{BB962C8B-B14F-4D97-AF65-F5344CB8AC3E}">
        <p14:creationId xmlns:p14="http://schemas.microsoft.com/office/powerpoint/2010/main" val="3396407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56C35-DE48-D81D-D4BF-65695978C05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9B55DAB-B10E-AD87-A629-6695C8C0178B}"/>
              </a:ext>
            </a:extLst>
          </p:cNvPr>
          <p:cNvSpPr>
            <a:spLocks noGrp="1"/>
          </p:cNvSpPr>
          <p:nvPr>
            <p:ph type="title"/>
          </p:nvPr>
        </p:nvSpPr>
        <p:spPr>
          <a:xfrm>
            <a:off x="1296610" y="144466"/>
            <a:ext cx="10270977" cy="692151"/>
          </a:xfrm>
        </p:spPr>
        <p:txBody>
          <a:bodyPr/>
          <a:lstStyle/>
          <a:p>
            <a:r>
              <a:rPr lang="en-US" altLang="zh-TW" dirty="0"/>
              <a:t>Mooncake-Architecture</a:t>
            </a:r>
            <a:r>
              <a:rPr lang="zh-CN" altLang="en-US" dirty="0"/>
              <a:t> </a:t>
            </a:r>
            <a:r>
              <a:rPr lang="en-US" altLang="zh-CN" dirty="0"/>
              <a:t>(1/4)</a:t>
            </a:r>
            <a:endParaRPr lang="zh-TW" altLang="en-US" dirty="0"/>
          </a:p>
        </p:txBody>
      </p:sp>
      <p:sp>
        <p:nvSpPr>
          <p:cNvPr id="5" name="灯片编号占位符 1">
            <a:extLst>
              <a:ext uri="{FF2B5EF4-FFF2-40B4-BE49-F238E27FC236}">
                <a16:creationId xmlns:a16="http://schemas.microsoft.com/office/drawing/2014/main" id="{859057FF-C356-38A2-5E66-46408D9A36B7}"/>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10</a:t>
            </a:fld>
            <a:endParaRPr lang="zh-TW" altLang="en-US"/>
          </a:p>
        </p:txBody>
      </p:sp>
      <p:pic>
        <p:nvPicPr>
          <p:cNvPr id="12" name="Picture 11">
            <a:extLst>
              <a:ext uri="{FF2B5EF4-FFF2-40B4-BE49-F238E27FC236}">
                <a16:creationId xmlns:a16="http://schemas.microsoft.com/office/drawing/2014/main" id="{CE8FA8D9-F5ED-6E8D-810B-FDC41755691E}"/>
              </a:ext>
            </a:extLst>
          </p:cNvPr>
          <p:cNvPicPr>
            <a:picLocks noChangeAspect="1"/>
          </p:cNvPicPr>
          <p:nvPr/>
        </p:nvPicPr>
        <p:blipFill>
          <a:blip r:embed="rId3"/>
          <a:stretch>
            <a:fillRect/>
          </a:stretch>
        </p:blipFill>
        <p:spPr>
          <a:xfrm>
            <a:off x="2209800" y="1224800"/>
            <a:ext cx="7772400" cy="4542311"/>
          </a:xfrm>
          <a:prstGeom prst="rect">
            <a:avLst/>
          </a:prstGeom>
        </p:spPr>
      </p:pic>
      <p:sp>
        <p:nvSpPr>
          <p:cNvPr id="15" name="TextBox 14">
            <a:extLst>
              <a:ext uri="{FF2B5EF4-FFF2-40B4-BE49-F238E27FC236}">
                <a16:creationId xmlns:a16="http://schemas.microsoft.com/office/drawing/2014/main" id="{BF72C4D3-52F1-090F-9928-1C352D8C03E4}"/>
              </a:ext>
            </a:extLst>
          </p:cNvPr>
          <p:cNvSpPr txBox="1"/>
          <p:nvPr/>
        </p:nvSpPr>
        <p:spPr>
          <a:xfrm>
            <a:off x="4323355" y="5767111"/>
            <a:ext cx="2340705"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5. Mooncake Architecture</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2680507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206C2B6-4202-82CD-E9CA-31A1060E708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02743FC-F9FE-B163-2857-116C84046018}"/>
              </a:ext>
            </a:extLst>
          </p:cNvPr>
          <p:cNvSpPr>
            <a:spLocks noGrp="1"/>
          </p:cNvSpPr>
          <p:nvPr>
            <p:ph type="title"/>
          </p:nvPr>
        </p:nvSpPr>
        <p:spPr>
          <a:xfrm>
            <a:off x="1296610" y="144466"/>
            <a:ext cx="10270977" cy="692151"/>
          </a:xfrm>
        </p:spPr>
        <p:txBody>
          <a:bodyPr/>
          <a:lstStyle/>
          <a:p>
            <a:r>
              <a:rPr lang="en-US" altLang="zh-TW" dirty="0"/>
              <a:t>Mooncake-Workflow (2/4)</a:t>
            </a:r>
            <a:endParaRPr lang="zh-TW" altLang="en-US" dirty="0"/>
          </a:p>
        </p:txBody>
      </p:sp>
      <p:sp>
        <p:nvSpPr>
          <p:cNvPr id="5" name="灯片编号占位符 1">
            <a:extLst>
              <a:ext uri="{FF2B5EF4-FFF2-40B4-BE49-F238E27FC236}">
                <a16:creationId xmlns:a16="http://schemas.microsoft.com/office/drawing/2014/main" id="{0E3C5AB0-E3E1-50C7-EC18-F3167F295CAF}"/>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11</a:t>
            </a:fld>
            <a:endParaRPr lang="zh-TW" altLang="en-US"/>
          </a:p>
        </p:txBody>
      </p:sp>
      <p:grpSp>
        <p:nvGrpSpPr>
          <p:cNvPr id="7" name="组合 6">
            <a:extLst>
              <a:ext uri="{FF2B5EF4-FFF2-40B4-BE49-F238E27FC236}">
                <a16:creationId xmlns:a16="http://schemas.microsoft.com/office/drawing/2014/main" id="{A15298A3-9437-E481-3809-99A4472859FF}"/>
              </a:ext>
            </a:extLst>
          </p:cNvPr>
          <p:cNvGrpSpPr/>
          <p:nvPr/>
        </p:nvGrpSpPr>
        <p:grpSpPr>
          <a:xfrm>
            <a:off x="7623629" y="1813198"/>
            <a:ext cx="4477553" cy="2759511"/>
            <a:chOff x="7623629" y="1813198"/>
            <a:chExt cx="4477553" cy="2759511"/>
          </a:xfrm>
        </p:grpSpPr>
        <p:pic>
          <p:nvPicPr>
            <p:cNvPr id="3" name="Picture 2">
              <a:extLst>
                <a:ext uri="{FF2B5EF4-FFF2-40B4-BE49-F238E27FC236}">
                  <a16:creationId xmlns:a16="http://schemas.microsoft.com/office/drawing/2014/main" id="{5EBAF681-0BF1-6A9C-3FAA-C51E07AC8486}"/>
                </a:ext>
              </a:extLst>
            </p:cNvPr>
            <p:cNvPicPr>
              <a:picLocks noChangeAspect="1"/>
            </p:cNvPicPr>
            <p:nvPr/>
          </p:nvPicPr>
          <p:blipFill>
            <a:blip r:embed="rId3"/>
            <a:stretch>
              <a:fillRect/>
            </a:stretch>
          </p:blipFill>
          <p:spPr>
            <a:xfrm>
              <a:off x="7623629" y="1813198"/>
              <a:ext cx="4477553" cy="2417794"/>
            </a:xfrm>
            <a:prstGeom prst="rect">
              <a:avLst/>
            </a:prstGeom>
          </p:spPr>
        </p:pic>
        <p:sp>
          <p:nvSpPr>
            <p:cNvPr id="4" name="TextBox 3">
              <a:extLst>
                <a:ext uri="{FF2B5EF4-FFF2-40B4-BE49-F238E27FC236}">
                  <a16:creationId xmlns:a16="http://schemas.microsoft.com/office/drawing/2014/main" id="{9CB07A23-7568-73FC-F8FF-0B268F9E571F}"/>
                </a:ext>
              </a:extLst>
            </p:cNvPr>
            <p:cNvSpPr txBox="1"/>
            <p:nvPr/>
          </p:nvSpPr>
          <p:spPr>
            <a:xfrm>
              <a:off x="8906037" y="4264932"/>
              <a:ext cx="2172390"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6. Mooncake Workflow</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grpSp>
      <p:sp>
        <p:nvSpPr>
          <p:cNvPr id="6" name="Content Placeholder 5">
            <a:extLst>
              <a:ext uri="{FF2B5EF4-FFF2-40B4-BE49-F238E27FC236}">
                <a16:creationId xmlns:a16="http://schemas.microsoft.com/office/drawing/2014/main" id="{24AB9A57-DEC1-531F-ECB2-872B362D78EB}"/>
              </a:ext>
            </a:extLst>
          </p:cNvPr>
          <p:cNvSpPr>
            <a:spLocks noGrp="1"/>
          </p:cNvSpPr>
          <p:nvPr>
            <p:ph idx="1"/>
          </p:nvPr>
        </p:nvSpPr>
        <p:spPr>
          <a:xfrm>
            <a:off x="-62470" y="1356180"/>
            <a:ext cx="7686099" cy="4145640"/>
          </a:xfrm>
        </p:spPr>
        <p:txBody>
          <a:bodyPr/>
          <a:lstStyle/>
          <a:p>
            <a:pPr marL="971526" lvl="1" indent="-514350">
              <a:buClr>
                <a:schemeClr val="accent4"/>
              </a:buClr>
              <a:buFont typeface="+mj-lt"/>
              <a:buAutoNum type="arabicPeriod"/>
            </a:pPr>
            <a:r>
              <a:rPr lang="en-US" altLang="zh-CN" sz="1800" i="1" u="sng" dirty="0">
                <a:solidFill>
                  <a:schemeClr val="accent4"/>
                </a:solidFill>
                <a:latin typeface="Times New Roman" panose="02020603050405020304" pitchFamily="18" charset="0"/>
                <a:cs typeface="Times New Roman" panose="02020603050405020304" pitchFamily="18" charset="0"/>
              </a:rPr>
              <a:t>KV-Cache Reuse</a:t>
            </a:r>
            <a:r>
              <a:rPr lang="en-US" altLang="zh-CN" sz="1800" dirty="0">
                <a:solidFill>
                  <a:schemeClr val="accent4"/>
                </a:solidFill>
                <a:latin typeface="Times New Roman" panose="02020603050405020304" pitchFamily="18" charset="0"/>
                <a:cs typeface="Times New Roman" panose="02020603050405020304" pitchFamily="18" charset="0"/>
              </a:rPr>
              <a:t>: </a:t>
            </a:r>
            <a:r>
              <a:rPr lang="en-US" altLang="zh-CN" sz="1800" dirty="0">
                <a:latin typeface="+mn-lt"/>
                <a:cs typeface="Times New Roman" panose="02020603050405020304" pitchFamily="18" charset="0"/>
              </a:rPr>
              <a:t>It loads the prefix cache from remote CPU memory into GPU memory based on the prefix cache block keys to bootstrap the request. This step is skipped if no prefix cache exists. </a:t>
            </a:r>
          </a:p>
          <a:p>
            <a:pPr marL="971526" lvl="1" indent="-514350">
              <a:buClr>
                <a:schemeClr val="accent4"/>
              </a:buClr>
              <a:buFont typeface="+mj-lt"/>
              <a:buAutoNum type="arabicPeriod"/>
            </a:pPr>
            <a:r>
              <a:rPr lang="en-US" altLang="zh-CN" sz="1800" i="1" u="sng" dirty="0">
                <a:solidFill>
                  <a:schemeClr val="accent4"/>
                </a:solidFill>
                <a:latin typeface="Times New Roman" panose="02020603050405020304" pitchFamily="18" charset="0"/>
                <a:cs typeface="Times New Roman" panose="02020603050405020304" pitchFamily="18" charset="0"/>
              </a:rPr>
              <a:t>Incremental Prefill</a:t>
            </a:r>
            <a:r>
              <a:rPr lang="en-US" altLang="zh-CN" sz="1800" dirty="0">
                <a:solidFill>
                  <a:schemeClr val="accent4"/>
                </a:solidFill>
                <a:latin typeface="Times New Roman" panose="02020603050405020304" pitchFamily="18" charset="0"/>
                <a:cs typeface="Times New Roman" panose="02020603050405020304" pitchFamily="18" charset="0"/>
              </a:rPr>
              <a:t>: </a:t>
            </a:r>
            <a:r>
              <a:rPr lang="en-US" altLang="zh-CN" sz="1800" dirty="0">
                <a:latin typeface="+mn-lt"/>
                <a:cs typeface="Times New Roman" panose="02020603050405020304" pitchFamily="18" charset="0"/>
              </a:rPr>
              <a:t>The prefill node completes the prefill stage using prefix cache and stores the newly generated incremental </a:t>
            </a:r>
            <a:r>
              <a:rPr lang="en-US" altLang="zh-CN" sz="1800" dirty="0" err="1">
                <a:latin typeface="+mn-lt"/>
                <a:cs typeface="Times New Roman" panose="02020603050405020304" pitchFamily="18" charset="0"/>
              </a:rPr>
              <a:t>KVCache</a:t>
            </a:r>
            <a:r>
              <a:rPr lang="en-US" altLang="zh-CN" sz="1800" dirty="0">
                <a:latin typeface="+mn-lt"/>
                <a:cs typeface="Times New Roman" panose="02020603050405020304" pitchFamily="18" charset="0"/>
              </a:rPr>
              <a:t> back into CPU memory. </a:t>
            </a:r>
          </a:p>
          <a:p>
            <a:pPr marL="971526" lvl="1" indent="-514350">
              <a:buClr>
                <a:schemeClr val="accent4"/>
              </a:buClr>
              <a:buFont typeface="+mj-lt"/>
              <a:buAutoNum type="arabicPeriod"/>
            </a:pPr>
            <a:r>
              <a:rPr lang="en-US" altLang="zh-CN" sz="1800" i="1" u="sng" dirty="0" err="1">
                <a:solidFill>
                  <a:schemeClr val="accent4"/>
                </a:solidFill>
                <a:latin typeface="Times New Roman" panose="02020603050405020304" pitchFamily="18" charset="0"/>
                <a:cs typeface="Times New Roman" panose="02020603050405020304" pitchFamily="18" charset="0"/>
              </a:rPr>
              <a:t>KVCache</a:t>
            </a:r>
            <a:r>
              <a:rPr lang="en-US" altLang="zh-CN" sz="1800" i="1" u="sng" dirty="0">
                <a:solidFill>
                  <a:schemeClr val="accent4"/>
                </a:solidFill>
                <a:latin typeface="Times New Roman" panose="02020603050405020304" pitchFamily="18" charset="0"/>
                <a:cs typeface="Times New Roman" panose="02020603050405020304" pitchFamily="18" charset="0"/>
              </a:rPr>
              <a:t> Transfer</a:t>
            </a:r>
            <a:r>
              <a:rPr lang="en-US" altLang="zh-CN" sz="1800" dirty="0">
                <a:solidFill>
                  <a:schemeClr val="accent4"/>
                </a:solidFill>
                <a:latin typeface="Times New Roman" panose="02020603050405020304" pitchFamily="18" charset="0"/>
                <a:cs typeface="Times New Roman" panose="02020603050405020304" pitchFamily="18" charset="0"/>
              </a:rPr>
              <a:t>: </a:t>
            </a:r>
            <a:r>
              <a:rPr lang="en-US" altLang="zh-CN" sz="1800" dirty="0">
                <a:latin typeface="+mn-lt"/>
                <a:cs typeface="Times New Roman" panose="02020603050405020304" pitchFamily="18" charset="0"/>
              </a:rPr>
              <a:t>This step is asynchronously executed and overlapped with the above incremental prefill step, streaming the </a:t>
            </a:r>
            <a:r>
              <a:rPr lang="en-US" altLang="zh-CN" sz="1800" dirty="0" err="1">
                <a:latin typeface="+mn-lt"/>
                <a:cs typeface="Times New Roman" panose="02020603050405020304" pitchFamily="18" charset="0"/>
              </a:rPr>
              <a:t>KVCache</a:t>
            </a:r>
            <a:r>
              <a:rPr lang="en-US" altLang="zh-CN" sz="1800" dirty="0">
                <a:latin typeface="+mn-lt"/>
                <a:cs typeface="Times New Roman" panose="02020603050405020304" pitchFamily="18" charset="0"/>
              </a:rPr>
              <a:t> generated by each model layer to the destination decoding node’s CPU memory to reduce waiting time.</a:t>
            </a:r>
          </a:p>
          <a:p>
            <a:pPr marL="971526" lvl="1" indent="-514350">
              <a:buClr>
                <a:schemeClr val="accent4"/>
              </a:buClr>
              <a:buFont typeface="+mj-lt"/>
              <a:buAutoNum type="arabicPeriod"/>
            </a:pPr>
            <a:r>
              <a:rPr lang="en-US" altLang="zh-CN" sz="1800" i="1" u="sng" dirty="0">
                <a:solidFill>
                  <a:schemeClr val="accent4"/>
                </a:solidFill>
                <a:latin typeface="Times New Roman" panose="02020603050405020304" pitchFamily="18" charset="0"/>
                <a:cs typeface="Times New Roman" panose="02020603050405020304" pitchFamily="18" charset="0"/>
              </a:rPr>
              <a:t>Decoding</a:t>
            </a:r>
            <a:r>
              <a:rPr lang="en-US" altLang="zh-CN" sz="1800" dirty="0">
                <a:solidFill>
                  <a:schemeClr val="accent4"/>
                </a:solidFill>
                <a:latin typeface="Times New Roman" panose="02020603050405020304" pitchFamily="18" charset="0"/>
                <a:cs typeface="Times New Roman" panose="02020603050405020304" pitchFamily="18" charset="0"/>
              </a:rPr>
              <a:t>: </a:t>
            </a:r>
            <a:r>
              <a:rPr lang="en-US" altLang="zh-CN" sz="1800" dirty="0">
                <a:latin typeface="+mn-lt"/>
                <a:cs typeface="Times New Roman" panose="02020603050405020304" pitchFamily="18" charset="0"/>
              </a:rPr>
              <a:t>After all the </a:t>
            </a:r>
            <a:r>
              <a:rPr lang="en-US" altLang="zh-CN" sz="1800" dirty="0" err="1">
                <a:latin typeface="+mn-lt"/>
                <a:cs typeface="Times New Roman" panose="02020603050405020304" pitchFamily="18" charset="0"/>
              </a:rPr>
              <a:t>KVCache</a:t>
            </a:r>
            <a:r>
              <a:rPr lang="en-US" altLang="zh-CN" sz="1800" dirty="0">
                <a:latin typeface="+mn-lt"/>
                <a:cs typeface="Times New Roman" panose="02020603050405020304" pitchFamily="18" charset="0"/>
              </a:rPr>
              <a:t> is received in the CPU memory of the decoding node, the request joins the next batch in a continuous batching manner. </a:t>
            </a:r>
            <a:endParaRPr lang="en-US" altLang="zh-CN" sz="1800" dirty="0">
              <a:latin typeface="Arial" panose="020B0604020202020204" pitchFamily="34" charset="0"/>
              <a:cs typeface="Arial" panose="020B0604020202020204" pitchFamily="34" charset="0"/>
            </a:endParaRPr>
          </a:p>
          <a:p>
            <a:pPr lvl="2">
              <a:buClr>
                <a:schemeClr val="accent4"/>
              </a:buClr>
              <a:buFont typeface="Courier New" panose="02070309020205020404" pitchFamily="49" charset="0"/>
              <a:buChar char="o"/>
            </a:pPr>
            <a:endParaRPr lang="en-US" altLang="zh-CN" sz="1267" dirty="0">
              <a:latin typeface="Arial" panose="020B0604020202020204" pitchFamily="34" charset="0"/>
              <a:cs typeface="Arial" panose="020B0604020202020204" pitchFamily="34" charset="0"/>
            </a:endParaRPr>
          </a:p>
          <a:p>
            <a:pPr lvl="1">
              <a:buClr>
                <a:schemeClr val="accent4"/>
              </a:buClr>
              <a:buFont typeface="Wingdings" pitchFamily="2" charset="2"/>
              <a:buChar char="v"/>
            </a:pPr>
            <a:endParaRPr lang="en-US" dirty="0"/>
          </a:p>
        </p:txBody>
      </p:sp>
    </p:spTree>
    <p:extLst>
      <p:ext uri="{BB962C8B-B14F-4D97-AF65-F5344CB8AC3E}">
        <p14:creationId xmlns:p14="http://schemas.microsoft.com/office/powerpoint/2010/main" val="2040992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47669-92B1-5D10-6720-0312B87071F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BEE3F70-BDD3-8346-0011-E49A710020BE}"/>
              </a:ext>
            </a:extLst>
          </p:cNvPr>
          <p:cNvSpPr>
            <a:spLocks noGrp="1"/>
          </p:cNvSpPr>
          <p:nvPr>
            <p:ph type="title"/>
          </p:nvPr>
        </p:nvSpPr>
        <p:spPr>
          <a:xfrm>
            <a:off x="1296610" y="144466"/>
            <a:ext cx="10270977" cy="692151"/>
          </a:xfrm>
        </p:spPr>
        <p:txBody>
          <a:bodyPr/>
          <a:lstStyle/>
          <a:p>
            <a:r>
              <a:rPr lang="en-US" altLang="zh-TW" dirty="0"/>
              <a:t>Mooncake-Workflow (3/4)</a:t>
            </a:r>
            <a:endParaRPr lang="zh-TW" altLang="en-US" dirty="0"/>
          </a:p>
        </p:txBody>
      </p:sp>
      <p:sp>
        <p:nvSpPr>
          <p:cNvPr id="5" name="灯片编号占位符 1">
            <a:extLst>
              <a:ext uri="{FF2B5EF4-FFF2-40B4-BE49-F238E27FC236}">
                <a16:creationId xmlns:a16="http://schemas.microsoft.com/office/drawing/2014/main" id="{A4B642F9-4D3C-218A-EF11-4FC484E6B752}"/>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12</a:t>
            </a:fld>
            <a:endParaRPr lang="zh-TW" altLang="en-US"/>
          </a:p>
        </p:txBody>
      </p:sp>
      <p:pic>
        <p:nvPicPr>
          <p:cNvPr id="3" name="Picture 2">
            <a:extLst>
              <a:ext uri="{FF2B5EF4-FFF2-40B4-BE49-F238E27FC236}">
                <a16:creationId xmlns:a16="http://schemas.microsoft.com/office/drawing/2014/main" id="{3EE36114-C980-0CC3-A07D-72FE44BB12AE}"/>
              </a:ext>
            </a:extLst>
          </p:cNvPr>
          <p:cNvPicPr>
            <a:picLocks noChangeAspect="1"/>
          </p:cNvPicPr>
          <p:nvPr/>
        </p:nvPicPr>
        <p:blipFill>
          <a:blip r:embed="rId3"/>
          <a:stretch>
            <a:fillRect/>
          </a:stretch>
        </p:blipFill>
        <p:spPr>
          <a:xfrm>
            <a:off x="7714447" y="1770306"/>
            <a:ext cx="4477553" cy="2417794"/>
          </a:xfrm>
          <a:prstGeom prst="rect">
            <a:avLst/>
          </a:prstGeom>
        </p:spPr>
      </p:pic>
      <p:sp>
        <p:nvSpPr>
          <p:cNvPr id="4" name="TextBox 3">
            <a:extLst>
              <a:ext uri="{FF2B5EF4-FFF2-40B4-BE49-F238E27FC236}">
                <a16:creationId xmlns:a16="http://schemas.microsoft.com/office/drawing/2014/main" id="{DC416740-84D6-493A-0F0A-F3F4014AA373}"/>
              </a:ext>
            </a:extLst>
          </p:cNvPr>
          <p:cNvSpPr txBox="1"/>
          <p:nvPr/>
        </p:nvSpPr>
        <p:spPr>
          <a:xfrm>
            <a:off x="8683007" y="4295821"/>
            <a:ext cx="2172390"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6. Mooncake Workflow</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grpSp>
        <p:nvGrpSpPr>
          <p:cNvPr id="6" name="Group 5">
            <a:extLst>
              <a:ext uri="{FF2B5EF4-FFF2-40B4-BE49-F238E27FC236}">
                <a16:creationId xmlns:a16="http://schemas.microsoft.com/office/drawing/2014/main" id="{AF7980FE-4A58-E783-0AE9-5CEC0C7B97B0}"/>
              </a:ext>
            </a:extLst>
          </p:cNvPr>
          <p:cNvGrpSpPr/>
          <p:nvPr/>
        </p:nvGrpSpPr>
        <p:grpSpPr>
          <a:xfrm>
            <a:off x="716448" y="1497995"/>
            <a:ext cx="6398824" cy="4120476"/>
            <a:chOff x="807888" y="1924715"/>
            <a:chExt cx="6398824" cy="4120476"/>
          </a:xfrm>
        </p:grpSpPr>
        <p:sp>
          <p:nvSpPr>
            <p:cNvPr id="9" name="Right Arrow 8">
              <a:extLst>
                <a:ext uri="{FF2B5EF4-FFF2-40B4-BE49-F238E27FC236}">
                  <a16:creationId xmlns:a16="http://schemas.microsoft.com/office/drawing/2014/main" id="{0D1E60EB-6CC5-B28F-324E-0D83CE834CD4}"/>
                </a:ext>
              </a:extLst>
            </p:cNvPr>
            <p:cNvSpPr/>
            <p:nvPr/>
          </p:nvSpPr>
          <p:spPr bwMode="auto">
            <a:xfrm>
              <a:off x="847209" y="3879204"/>
              <a:ext cx="6359503" cy="251506"/>
            </a:xfrm>
            <a:prstGeom prst="rightArrow">
              <a:avLst/>
            </a:prstGeom>
            <a:solidFill>
              <a:schemeClr val="accent5"/>
            </a:solidFill>
            <a:ln>
              <a:solidFill>
                <a:schemeClr val="accent5"/>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TextBox 9">
              <a:extLst>
                <a:ext uri="{FF2B5EF4-FFF2-40B4-BE49-F238E27FC236}">
                  <a16:creationId xmlns:a16="http://schemas.microsoft.com/office/drawing/2014/main" id="{7079FC11-2321-A162-FD1B-68208340D685}"/>
                </a:ext>
              </a:extLst>
            </p:cNvPr>
            <p:cNvSpPr txBox="1"/>
            <p:nvPr/>
          </p:nvSpPr>
          <p:spPr>
            <a:xfrm>
              <a:off x="5719403" y="4035469"/>
              <a:ext cx="1425390" cy="369332"/>
            </a:xfrm>
            <a:prstGeom prst="rect">
              <a:avLst/>
            </a:prstGeom>
            <a:noFill/>
          </p:spPr>
          <p:txBody>
            <a:bodyPr wrap="none" rtlCol="0" anchor="ctr" anchorCtr="1">
              <a:spAutoFit/>
            </a:bodyPr>
            <a:lstStyle/>
            <a:p>
              <a:r>
                <a:rPr lang="en-US" dirty="0">
                  <a:latin typeface="Andale Mono" panose="020B0509000000000004" pitchFamily="49" charset="0"/>
                  <a:ea typeface="標楷體" pitchFamily="65" charset="-120"/>
                  <a:cs typeface="Calibri" pitchFamily="34" charset="0"/>
                </a:rPr>
                <a:t>Time Line</a:t>
              </a:r>
            </a:p>
          </p:txBody>
        </p:sp>
        <p:sp>
          <p:nvSpPr>
            <p:cNvPr id="11" name="Rounded Rectangle 10">
              <a:extLst>
                <a:ext uri="{FF2B5EF4-FFF2-40B4-BE49-F238E27FC236}">
                  <a16:creationId xmlns:a16="http://schemas.microsoft.com/office/drawing/2014/main" id="{66FDC010-6A8E-5A7D-D02F-14562C712712}"/>
                </a:ext>
              </a:extLst>
            </p:cNvPr>
            <p:cNvSpPr/>
            <p:nvPr/>
          </p:nvSpPr>
          <p:spPr bwMode="auto">
            <a:xfrm>
              <a:off x="807888" y="4574220"/>
              <a:ext cx="1718335" cy="1470971"/>
            </a:xfrm>
            <a:prstGeom prst="roundRect">
              <a:avLst/>
            </a:prstGeom>
            <a:noFill/>
            <a:ln w="25400" cap="flat" cmpd="sng" algn="ctr">
              <a:solidFill>
                <a:schemeClr val="accent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400" i="0" u="none" strike="noStrike" cap="none" normalizeH="0" baseline="0" dirty="0" err="1">
                  <a:ln>
                    <a:noFill/>
                  </a:ln>
                  <a:solidFill>
                    <a:schemeClr val="accent4"/>
                  </a:solidFill>
                  <a:effectLst/>
                  <a:latin typeface="Andale Mono" panose="020B0509000000000004" pitchFamily="49" charset="0"/>
                  <a:ea typeface="新細明體" pitchFamily="18" charset="-120"/>
                </a:rPr>
                <a:t>KVCache</a:t>
              </a:r>
              <a:r>
                <a:rPr kumimoji="1" lang="en-US" sz="2400" i="0" u="none" strike="noStrike" cap="none" normalizeH="0" baseline="0" dirty="0">
                  <a:ln>
                    <a:noFill/>
                  </a:ln>
                  <a:solidFill>
                    <a:schemeClr val="accent4"/>
                  </a:solidFill>
                  <a:effectLst/>
                  <a:latin typeface="Andale Mono" panose="020B0509000000000004" pitchFamily="49" charset="0"/>
                  <a:ea typeface="新細明體" pitchFamily="18" charset="-120"/>
                </a:rPr>
                <a:t> </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i="0" u="none" strike="noStrike" cap="none" normalizeH="0" baseline="0" dirty="0">
                  <a:ln>
                    <a:noFill/>
                  </a:ln>
                  <a:solidFill>
                    <a:schemeClr val="accent4"/>
                  </a:solidFill>
                  <a:effectLst/>
                  <a:latin typeface="Andale Mono" panose="020B0509000000000004" pitchFamily="49" charset="0"/>
                  <a:ea typeface="新細明體" pitchFamily="18" charset="-120"/>
                </a:rPr>
                <a:t>Reuse</a:t>
              </a:r>
            </a:p>
          </p:txBody>
        </p:sp>
        <p:sp>
          <p:nvSpPr>
            <p:cNvPr id="21" name="Up Arrow 20">
              <a:extLst>
                <a:ext uri="{FF2B5EF4-FFF2-40B4-BE49-F238E27FC236}">
                  <a16:creationId xmlns:a16="http://schemas.microsoft.com/office/drawing/2014/main" id="{A266B9EE-F93F-ED7D-E28C-4495E7ACFD47}"/>
                </a:ext>
              </a:extLst>
            </p:cNvPr>
            <p:cNvSpPr/>
            <p:nvPr/>
          </p:nvSpPr>
          <p:spPr bwMode="auto">
            <a:xfrm>
              <a:off x="1667055" y="4079788"/>
              <a:ext cx="129255" cy="443510"/>
            </a:xfrm>
            <a:prstGeom prst="upArrow">
              <a:avLst/>
            </a:prstGeom>
            <a:noFill/>
            <a:ln w="15875" cap="flat" cmpd="sng" algn="ctr">
              <a:solidFill>
                <a:schemeClr val="accent3"/>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2" name="Rounded Rectangle 21">
              <a:extLst>
                <a:ext uri="{FF2B5EF4-FFF2-40B4-BE49-F238E27FC236}">
                  <a16:creationId xmlns:a16="http://schemas.microsoft.com/office/drawing/2014/main" id="{111BD290-852F-3E03-EF97-3BC863183146}"/>
                </a:ext>
              </a:extLst>
            </p:cNvPr>
            <p:cNvSpPr/>
            <p:nvPr/>
          </p:nvSpPr>
          <p:spPr bwMode="auto">
            <a:xfrm>
              <a:off x="1667055" y="1924715"/>
              <a:ext cx="1988042" cy="1470971"/>
            </a:xfrm>
            <a:prstGeom prst="roundRect">
              <a:avLst/>
            </a:prstGeom>
            <a:noFill/>
            <a:ln w="25400" cap="flat" cmpd="sng" algn="ctr">
              <a:solidFill>
                <a:schemeClr val="accent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400" i="0" u="none" strike="noStrike" cap="none" normalizeH="0" baseline="0" dirty="0">
                  <a:ln>
                    <a:noFill/>
                  </a:ln>
                  <a:solidFill>
                    <a:schemeClr val="accent4"/>
                  </a:solidFill>
                  <a:effectLst/>
                  <a:latin typeface="Andale Mono" panose="020B0509000000000004" pitchFamily="49" charset="0"/>
                  <a:ea typeface="新細明體" pitchFamily="18" charset="-120"/>
                </a:rPr>
                <a:t>Incremental</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i="0" u="none" strike="noStrike" cap="none" normalizeH="0" baseline="0" dirty="0">
                  <a:ln>
                    <a:noFill/>
                  </a:ln>
                  <a:solidFill>
                    <a:schemeClr val="accent4"/>
                  </a:solidFill>
                  <a:effectLst/>
                  <a:latin typeface="Andale Mono" panose="020B0509000000000004" pitchFamily="49" charset="0"/>
                  <a:ea typeface="新細明體" pitchFamily="18" charset="-120"/>
                </a:rPr>
                <a:t>Prefill</a:t>
              </a:r>
            </a:p>
          </p:txBody>
        </p:sp>
        <p:sp>
          <p:nvSpPr>
            <p:cNvPr id="23" name="Up Arrow 22">
              <a:extLst>
                <a:ext uri="{FF2B5EF4-FFF2-40B4-BE49-F238E27FC236}">
                  <a16:creationId xmlns:a16="http://schemas.microsoft.com/office/drawing/2014/main" id="{A14A0434-9EF5-63B3-5F22-2C942466004F}"/>
                </a:ext>
              </a:extLst>
            </p:cNvPr>
            <p:cNvSpPr/>
            <p:nvPr/>
          </p:nvSpPr>
          <p:spPr bwMode="auto">
            <a:xfrm rot="10800000">
              <a:off x="2553525" y="3448150"/>
              <a:ext cx="129255" cy="443510"/>
            </a:xfrm>
            <a:prstGeom prst="upArrow">
              <a:avLst/>
            </a:prstGeom>
            <a:noFill/>
            <a:ln w="15875" cap="flat" cmpd="sng" algn="ctr">
              <a:solidFill>
                <a:schemeClr val="accent3"/>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4" name="Rounded Rectangle 23">
              <a:extLst>
                <a:ext uri="{FF2B5EF4-FFF2-40B4-BE49-F238E27FC236}">
                  <a16:creationId xmlns:a16="http://schemas.microsoft.com/office/drawing/2014/main" id="{72F7C4E9-C7E8-FA02-2DE5-A12CF84A7719}"/>
                </a:ext>
              </a:extLst>
            </p:cNvPr>
            <p:cNvSpPr/>
            <p:nvPr/>
          </p:nvSpPr>
          <p:spPr bwMode="auto">
            <a:xfrm>
              <a:off x="3367706" y="4561764"/>
              <a:ext cx="1718335" cy="1470971"/>
            </a:xfrm>
            <a:prstGeom prst="roundRect">
              <a:avLst/>
            </a:prstGeom>
            <a:noFill/>
            <a:ln w="25400" cap="flat" cmpd="sng" algn="ctr">
              <a:solidFill>
                <a:schemeClr val="accent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400" i="0" u="none" strike="noStrike" cap="none" normalizeH="0" baseline="0" dirty="0" err="1">
                  <a:ln>
                    <a:noFill/>
                  </a:ln>
                  <a:solidFill>
                    <a:schemeClr val="accent4"/>
                  </a:solidFill>
                  <a:effectLst/>
                  <a:latin typeface="Andale Mono" panose="020B0509000000000004" pitchFamily="49" charset="0"/>
                  <a:ea typeface="新細明體" pitchFamily="18" charset="-120"/>
                </a:rPr>
                <a:t>KVCache</a:t>
              </a:r>
              <a:endParaRPr kumimoji="1" lang="en-US" sz="2400" dirty="0">
                <a:solidFill>
                  <a:schemeClr val="accent4"/>
                </a:solidFill>
                <a:latin typeface="Andale Mono" panose="020B0509000000000004" pitchFamily="49" charset="0"/>
                <a:ea typeface="新細明體" pitchFamily="18" charset="-120"/>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i="0" u="none" strike="noStrike" cap="none" normalizeH="0" baseline="0" dirty="0">
                  <a:ln>
                    <a:noFill/>
                  </a:ln>
                  <a:solidFill>
                    <a:schemeClr val="accent4"/>
                  </a:solidFill>
                  <a:effectLst/>
                  <a:latin typeface="Andale Mono" panose="020B0509000000000004" pitchFamily="49" charset="0"/>
                  <a:ea typeface="新細明體" pitchFamily="18" charset="-120"/>
                </a:rPr>
                <a:t>Transfer</a:t>
              </a:r>
            </a:p>
          </p:txBody>
        </p:sp>
        <p:sp>
          <p:nvSpPr>
            <p:cNvPr id="25" name="Up Arrow 24">
              <a:extLst>
                <a:ext uri="{FF2B5EF4-FFF2-40B4-BE49-F238E27FC236}">
                  <a16:creationId xmlns:a16="http://schemas.microsoft.com/office/drawing/2014/main" id="{926CE39C-CA32-4513-4722-1821EB41B9B5}"/>
                </a:ext>
              </a:extLst>
            </p:cNvPr>
            <p:cNvSpPr/>
            <p:nvPr/>
          </p:nvSpPr>
          <p:spPr bwMode="auto">
            <a:xfrm>
              <a:off x="4162247" y="4079788"/>
              <a:ext cx="129255" cy="443510"/>
            </a:xfrm>
            <a:prstGeom prst="upArrow">
              <a:avLst/>
            </a:prstGeom>
            <a:noFill/>
            <a:ln w="15875" cap="flat" cmpd="sng" algn="ctr">
              <a:solidFill>
                <a:schemeClr val="accent3"/>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26" name="Rounded Rectangle 25">
              <a:extLst>
                <a:ext uri="{FF2B5EF4-FFF2-40B4-BE49-F238E27FC236}">
                  <a16:creationId xmlns:a16="http://schemas.microsoft.com/office/drawing/2014/main" id="{74EBE60F-78B1-93CF-BCBD-3AB9941EC8E0}"/>
                </a:ext>
              </a:extLst>
            </p:cNvPr>
            <p:cNvSpPr/>
            <p:nvPr/>
          </p:nvSpPr>
          <p:spPr bwMode="auto">
            <a:xfrm>
              <a:off x="5008749" y="1943021"/>
              <a:ext cx="1550561" cy="1470971"/>
            </a:xfrm>
            <a:prstGeom prst="roundRect">
              <a:avLst/>
            </a:prstGeom>
            <a:noFill/>
            <a:ln w="25400" cap="flat" cmpd="sng" algn="ctr">
              <a:solidFill>
                <a:schemeClr val="accent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400" i="0" u="none" strike="noStrike" cap="none" normalizeH="0" baseline="0" dirty="0">
                  <a:ln>
                    <a:noFill/>
                  </a:ln>
                  <a:solidFill>
                    <a:schemeClr val="accent4"/>
                  </a:solidFill>
                  <a:effectLst/>
                  <a:latin typeface="Andale Mono" panose="020B0509000000000004" pitchFamily="49" charset="0"/>
                  <a:ea typeface="新細明體" pitchFamily="18" charset="-120"/>
                </a:rPr>
                <a:t>Decoding</a:t>
              </a:r>
            </a:p>
          </p:txBody>
        </p:sp>
        <p:sp>
          <p:nvSpPr>
            <p:cNvPr id="27" name="Up Arrow 26">
              <a:extLst>
                <a:ext uri="{FF2B5EF4-FFF2-40B4-BE49-F238E27FC236}">
                  <a16:creationId xmlns:a16="http://schemas.microsoft.com/office/drawing/2014/main" id="{69A97DF0-A1FD-D53E-F8D0-B5AE2A11F02F}"/>
                </a:ext>
              </a:extLst>
            </p:cNvPr>
            <p:cNvSpPr/>
            <p:nvPr/>
          </p:nvSpPr>
          <p:spPr bwMode="auto">
            <a:xfrm rot="10800000">
              <a:off x="5719403" y="3454863"/>
              <a:ext cx="129255" cy="443510"/>
            </a:xfrm>
            <a:prstGeom prst="upArrow">
              <a:avLst/>
            </a:prstGeom>
            <a:noFill/>
            <a:ln w="15875" cap="flat" cmpd="sng" algn="ctr">
              <a:solidFill>
                <a:schemeClr val="accent3"/>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grpSp>
    </p:spTree>
    <p:extLst>
      <p:ext uri="{BB962C8B-B14F-4D97-AF65-F5344CB8AC3E}">
        <p14:creationId xmlns:p14="http://schemas.microsoft.com/office/powerpoint/2010/main" val="3429686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AD2EA-1C41-BA80-606D-F15704B3A89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9FC6C9B-8879-B2F2-9DAF-6F7DE06F7AC2}"/>
              </a:ext>
            </a:extLst>
          </p:cNvPr>
          <p:cNvSpPr>
            <a:spLocks noGrp="1"/>
          </p:cNvSpPr>
          <p:nvPr>
            <p:ph type="title"/>
          </p:nvPr>
        </p:nvSpPr>
        <p:spPr>
          <a:xfrm>
            <a:off x="1296610" y="144466"/>
            <a:ext cx="10270977" cy="692151"/>
          </a:xfrm>
        </p:spPr>
        <p:txBody>
          <a:bodyPr/>
          <a:lstStyle/>
          <a:p>
            <a:r>
              <a:rPr lang="en-US" altLang="zh-TW" dirty="0"/>
              <a:t>Mooncake-Evaluation </a:t>
            </a:r>
            <a:r>
              <a:rPr lang="en-US" altLang="zh-CN" dirty="0"/>
              <a:t>(4/4)</a:t>
            </a:r>
            <a:endParaRPr lang="zh-TW" altLang="en-US" dirty="0"/>
          </a:p>
        </p:txBody>
      </p:sp>
      <p:sp>
        <p:nvSpPr>
          <p:cNvPr id="5" name="灯片编号占位符 1">
            <a:extLst>
              <a:ext uri="{FF2B5EF4-FFF2-40B4-BE49-F238E27FC236}">
                <a16:creationId xmlns:a16="http://schemas.microsoft.com/office/drawing/2014/main" id="{B0BC633E-E9C0-364C-93D7-315308C1E24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13</a:t>
            </a:fld>
            <a:endParaRPr lang="zh-TW" altLang="en-US"/>
          </a:p>
        </p:txBody>
      </p:sp>
      <p:pic>
        <p:nvPicPr>
          <p:cNvPr id="11" name="Picture 10">
            <a:extLst>
              <a:ext uri="{FF2B5EF4-FFF2-40B4-BE49-F238E27FC236}">
                <a16:creationId xmlns:a16="http://schemas.microsoft.com/office/drawing/2014/main" id="{AB889210-13CE-4768-8364-5EF562DFE31C}"/>
              </a:ext>
            </a:extLst>
          </p:cNvPr>
          <p:cNvPicPr>
            <a:picLocks noChangeAspect="1"/>
          </p:cNvPicPr>
          <p:nvPr/>
        </p:nvPicPr>
        <p:blipFill>
          <a:blip r:embed="rId3"/>
          <a:stretch>
            <a:fillRect/>
          </a:stretch>
        </p:blipFill>
        <p:spPr>
          <a:xfrm>
            <a:off x="685800" y="1177978"/>
            <a:ext cx="4422228" cy="2406027"/>
          </a:xfrm>
          <a:prstGeom prst="rect">
            <a:avLst/>
          </a:prstGeom>
        </p:spPr>
      </p:pic>
      <p:sp>
        <p:nvSpPr>
          <p:cNvPr id="12" name="TextBox 11">
            <a:extLst>
              <a:ext uri="{FF2B5EF4-FFF2-40B4-BE49-F238E27FC236}">
                <a16:creationId xmlns:a16="http://schemas.microsoft.com/office/drawing/2014/main" id="{8D5ECD46-1D0B-1014-849A-EF6575593276}"/>
              </a:ext>
            </a:extLst>
          </p:cNvPr>
          <p:cNvSpPr txBox="1"/>
          <p:nvPr/>
        </p:nvSpPr>
        <p:spPr>
          <a:xfrm>
            <a:off x="353132" y="3584005"/>
            <a:ext cx="4754896" cy="523220"/>
          </a:xfrm>
          <a:prstGeom prst="rect">
            <a:avLst/>
          </a:prstGeom>
          <a:noFill/>
        </p:spPr>
        <p:txBody>
          <a:bodyPr wrap="squar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a:t>
            </a:r>
            <a:r>
              <a:rPr lang="en-US" altLang="zh-CN" sz="1400" dirty="0">
                <a:latin typeface="Times New Roman" panose="02020603050405020304" pitchFamily="18" charset="0"/>
                <a:ea typeface="標楷體" pitchFamily="65" charset="-120"/>
                <a:cs typeface="Times New Roman" panose="02020603050405020304" pitchFamily="18" charset="0"/>
              </a:rPr>
              <a:t>7</a:t>
            </a:r>
            <a:r>
              <a:rPr lang="en-US" sz="1400" dirty="0">
                <a:latin typeface="Times New Roman" panose="02020603050405020304" pitchFamily="18" charset="0"/>
                <a:ea typeface="標楷體" pitchFamily="65" charset="-120"/>
                <a:cs typeface="Times New Roman" panose="02020603050405020304" pitchFamily="18" charset="0"/>
              </a:rPr>
              <a:t>. End-to-End experiments on the </a:t>
            </a:r>
            <a:r>
              <a:rPr lang="en-US" sz="1400" dirty="0" err="1">
                <a:latin typeface="Times New Roman" panose="02020603050405020304" pitchFamily="18" charset="0"/>
                <a:ea typeface="標楷體" pitchFamily="65" charset="-120"/>
                <a:cs typeface="Times New Roman" panose="02020603050405020304" pitchFamily="18" charset="0"/>
              </a:rPr>
              <a:t>ArXiv</a:t>
            </a:r>
            <a:r>
              <a:rPr lang="en-US" sz="1400" dirty="0">
                <a:latin typeface="Times New Roman" panose="02020603050405020304" pitchFamily="18" charset="0"/>
                <a:ea typeface="標楷體" pitchFamily="65" charset="-120"/>
                <a:cs typeface="Times New Roman" panose="02020603050405020304" pitchFamily="18" charset="0"/>
              </a:rPr>
              <a:t> Summarization and L-Eval datasets</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pic>
        <p:nvPicPr>
          <p:cNvPr id="13" name="Picture 12">
            <a:extLst>
              <a:ext uri="{FF2B5EF4-FFF2-40B4-BE49-F238E27FC236}">
                <a16:creationId xmlns:a16="http://schemas.microsoft.com/office/drawing/2014/main" id="{E70AD0F0-5A04-9C1D-EBD5-3FBA1485BDC6}"/>
              </a:ext>
            </a:extLst>
          </p:cNvPr>
          <p:cNvPicPr>
            <a:picLocks noChangeAspect="1"/>
          </p:cNvPicPr>
          <p:nvPr/>
        </p:nvPicPr>
        <p:blipFill>
          <a:blip r:embed="rId4"/>
          <a:stretch>
            <a:fillRect/>
          </a:stretch>
        </p:blipFill>
        <p:spPr>
          <a:xfrm>
            <a:off x="5440696" y="1286268"/>
            <a:ext cx="6395536" cy="2137884"/>
          </a:xfrm>
          <a:prstGeom prst="rect">
            <a:avLst/>
          </a:prstGeom>
        </p:spPr>
      </p:pic>
      <p:sp>
        <p:nvSpPr>
          <p:cNvPr id="14" name="TextBox 13">
            <a:extLst>
              <a:ext uri="{FF2B5EF4-FFF2-40B4-BE49-F238E27FC236}">
                <a16:creationId xmlns:a16="http://schemas.microsoft.com/office/drawing/2014/main" id="{4DAC87AF-D86E-E521-6456-72DA66B8BC0D}"/>
              </a:ext>
            </a:extLst>
          </p:cNvPr>
          <p:cNvSpPr txBox="1"/>
          <p:nvPr/>
        </p:nvSpPr>
        <p:spPr>
          <a:xfrm>
            <a:off x="6096000" y="3584005"/>
            <a:ext cx="4754896" cy="307777"/>
          </a:xfrm>
          <a:prstGeom prst="rect">
            <a:avLst/>
          </a:prstGeom>
          <a:noFill/>
        </p:spPr>
        <p:txBody>
          <a:bodyPr wrap="squar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8. End-to-End experiments on simulated data</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pic>
        <p:nvPicPr>
          <p:cNvPr id="15" name="Picture 14">
            <a:extLst>
              <a:ext uri="{FF2B5EF4-FFF2-40B4-BE49-F238E27FC236}">
                <a16:creationId xmlns:a16="http://schemas.microsoft.com/office/drawing/2014/main" id="{6DF58034-E07B-EB9D-B7C6-3E37BA04B4BE}"/>
              </a:ext>
            </a:extLst>
          </p:cNvPr>
          <p:cNvPicPr>
            <a:picLocks noChangeAspect="1"/>
          </p:cNvPicPr>
          <p:nvPr/>
        </p:nvPicPr>
        <p:blipFill>
          <a:blip r:embed="rId5"/>
          <a:stretch>
            <a:fillRect/>
          </a:stretch>
        </p:blipFill>
        <p:spPr>
          <a:xfrm>
            <a:off x="3571546" y="3905666"/>
            <a:ext cx="4453003" cy="1875838"/>
          </a:xfrm>
          <a:prstGeom prst="rect">
            <a:avLst/>
          </a:prstGeom>
        </p:spPr>
      </p:pic>
      <p:sp>
        <p:nvSpPr>
          <p:cNvPr id="16" name="TextBox 15">
            <a:extLst>
              <a:ext uri="{FF2B5EF4-FFF2-40B4-BE49-F238E27FC236}">
                <a16:creationId xmlns:a16="http://schemas.microsoft.com/office/drawing/2014/main" id="{634401F0-C7C5-9250-6DAE-6B0C79869580}"/>
              </a:ext>
            </a:extLst>
          </p:cNvPr>
          <p:cNvSpPr txBox="1"/>
          <p:nvPr/>
        </p:nvSpPr>
        <p:spPr>
          <a:xfrm>
            <a:off x="2490952" y="5822343"/>
            <a:ext cx="7210096" cy="307777"/>
          </a:xfrm>
          <a:prstGeom prst="rect">
            <a:avLst/>
          </a:prstGeom>
          <a:noFill/>
        </p:spPr>
        <p:txBody>
          <a:bodyPr wrap="squar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9. Request TTFT and TBT distributions of Mooncake and </a:t>
            </a:r>
            <a:r>
              <a:rPr lang="en-US" sz="1400" dirty="0" err="1">
                <a:latin typeface="Times New Roman" panose="02020603050405020304" pitchFamily="18" charset="0"/>
                <a:ea typeface="標楷體" pitchFamily="65" charset="-120"/>
                <a:cs typeface="Times New Roman" panose="02020603050405020304" pitchFamily="18" charset="0"/>
              </a:rPr>
              <a:t>vLLM</a:t>
            </a:r>
            <a:r>
              <a:rPr lang="en-US" sz="1400" dirty="0">
                <a:latin typeface="Times New Roman" panose="02020603050405020304" pitchFamily="18" charset="0"/>
                <a:ea typeface="標楷體" pitchFamily="65" charset="-120"/>
                <a:cs typeface="Times New Roman" panose="02020603050405020304" pitchFamily="18" charset="0"/>
              </a:rPr>
              <a:t> under real workloads</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4090492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987C6-AC95-9E74-F91B-7F2EA1FC19F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C119666-5E3D-5CDC-BF4A-6529647820C1}"/>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47995BFD-6751-739B-1472-08CB4DF9F56E}"/>
              </a:ext>
            </a:extLst>
          </p:cNvPr>
          <p:cNvSpPr>
            <a:spLocks noGrp="1"/>
          </p:cNvSpPr>
          <p:nvPr>
            <p:ph idx="1"/>
          </p:nvPr>
        </p:nvSpPr>
        <p:spPr>
          <a:xfrm>
            <a:off x="1311423" y="1125536"/>
            <a:ext cx="10270977" cy="5399091"/>
          </a:xfrm>
        </p:spPr>
        <p:txBody>
          <a:bodyPr>
            <a:noAutofit/>
          </a:bodyPr>
          <a:lstStyle/>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Introduction</a:t>
            </a:r>
          </a:p>
          <a:p>
            <a:pPr lvl="1">
              <a:buClr>
                <a:schemeClr val="accent4"/>
              </a:buClr>
              <a:buFont typeface="Wingdings" pitchFamily="2" charset="2"/>
              <a:buChar char="v"/>
            </a:pPr>
            <a:r>
              <a:rPr lang="en-US" altLang="zh-TW" sz="1800" dirty="0">
                <a:solidFill>
                  <a:schemeClr val="bg1">
                    <a:lumMod val="50000"/>
                  </a:schemeClr>
                </a:solidFill>
                <a:latin typeface="Times New Roman" panose="02020603050405020304" pitchFamily="18" charset="0"/>
                <a:cs typeface="Times New Roman" panose="02020603050405020304" pitchFamily="18" charset="0"/>
              </a:rPr>
              <a:t>Transformer Architecture, Two-Phase Inference, KV Cache.</a:t>
            </a: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Background</a:t>
            </a:r>
          </a:p>
          <a:p>
            <a:pPr lvl="1">
              <a:buClr>
                <a:schemeClr val="accent4"/>
              </a:buClr>
              <a:buFont typeface="Wingdings" pitchFamily="2" charset="2"/>
              <a:buChar char="v"/>
            </a:pPr>
            <a:r>
              <a:rPr lang="en-US" altLang="zh-CN" sz="1800" dirty="0">
                <a:solidFill>
                  <a:schemeClr val="bg1">
                    <a:lumMod val="50000"/>
                  </a:schemeClr>
                </a:solidFill>
                <a:latin typeface="Times New Roman" panose="02020603050405020304" pitchFamily="18" charset="0"/>
                <a:cs typeface="Times New Roman" panose="02020603050405020304" pitchFamily="18" charset="0"/>
              </a:rPr>
              <a:t>Aggregation vs. Disaggregation. Trade-offs and Real-World Workload Challenges.</a:t>
            </a: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1: Mooncake</a:t>
            </a:r>
            <a:r>
              <a:rPr lang="en-US" altLang="zh-CN" sz="2933" baseline="30000" dirty="0">
                <a:latin typeface="Times New Roman" panose="02020603050405020304" pitchFamily="18" charset="0"/>
                <a:cs typeface="Times New Roman" panose="02020603050405020304" pitchFamily="18" charset="0"/>
              </a:rPr>
              <a:t>1</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1, </a:t>
            </a:r>
            <a:r>
              <a:rPr lang="en-US" sz="1200" dirty="0">
                <a:solidFill>
                  <a:schemeClr val="bg1">
                    <a:lumMod val="50000"/>
                  </a:schemeClr>
                </a:solidFill>
                <a:latin typeface="Times New Roman" panose="02020603050405020304" pitchFamily="18" charset="0"/>
                <a:cs typeface="Times New Roman" panose="02020603050405020304" pitchFamily="18" charset="0"/>
              </a:rPr>
              <a:t>Qin, R., Li, Z., He, W., Cui, J., Tang, H., Ren, F., ... &amp; Xu, X. (2024). Mooncake: A </a:t>
            </a:r>
            <a:r>
              <a:rPr lang="en-US" sz="1200" dirty="0" err="1">
                <a:solidFill>
                  <a:schemeClr val="bg1">
                    <a:lumMod val="50000"/>
                  </a:schemeClr>
                </a:solidFill>
                <a:latin typeface="Times New Roman" panose="02020603050405020304" pitchFamily="18" charset="0"/>
                <a:cs typeface="Times New Roman" panose="02020603050405020304" pitchFamily="18" charset="0"/>
              </a:rPr>
              <a:t>kvcache</a:t>
            </a:r>
            <a:r>
              <a:rPr lang="en-US" sz="1200" dirty="0">
                <a:solidFill>
                  <a:schemeClr val="bg1">
                    <a:lumMod val="50000"/>
                  </a:schemeClr>
                </a:solidFill>
                <a:latin typeface="Times New Roman" panose="02020603050405020304" pitchFamily="18" charset="0"/>
                <a:cs typeface="Times New Roman" panose="02020603050405020304" pitchFamily="18" charset="0"/>
              </a:rPr>
              <a:t>-centric disaggregated architecture for </a:t>
            </a:r>
            <a:r>
              <a:rPr lang="en-US" sz="1200" dirty="0" err="1">
                <a:solidFill>
                  <a:schemeClr val="bg1">
                    <a:lumMod val="50000"/>
                  </a:schemeClr>
                </a:solidFill>
                <a:latin typeface="Times New Roman" panose="02020603050405020304" pitchFamily="18" charset="0"/>
                <a:cs typeface="Times New Roman" panose="02020603050405020304" pitchFamily="18" charset="0"/>
              </a:rPr>
              <a:t>llm</a:t>
            </a:r>
            <a:r>
              <a:rPr lang="en-US" sz="1200" dirty="0">
                <a:solidFill>
                  <a:schemeClr val="bg1">
                    <a:lumMod val="50000"/>
                  </a:schemeClr>
                </a:solidFill>
                <a:latin typeface="Times New Roman" panose="02020603050405020304" pitchFamily="18" charset="0"/>
                <a:cs typeface="Times New Roman" panose="02020603050405020304" pitchFamily="18" charset="0"/>
              </a:rPr>
              <a:t> serving. ACM Transactions on Storage.</a:t>
            </a:r>
            <a:endParaRPr lang="en-US" altLang="zh-CN" sz="12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solidFill>
                  <a:schemeClr val="accent6"/>
                </a:solidFill>
                <a:latin typeface="Times New Roman" panose="02020603050405020304" pitchFamily="18" charset="0"/>
                <a:cs typeface="Times New Roman" panose="02020603050405020304" pitchFamily="18" charset="0"/>
              </a:rPr>
              <a:t>Work 2: NynaServe</a:t>
            </a:r>
            <a:r>
              <a:rPr lang="en-US" altLang="zh-CN" sz="2933" baseline="30000" dirty="0">
                <a:solidFill>
                  <a:schemeClr val="accent6"/>
                </a:solidFill>
                <a:latin typeface="Times New Roman" panose="02020603050405020304" pitchFamily="18" charset="0"/>
                <a:cs typeface="Times New Roman" panose="02020603050405020304" pitchFamily="18" charset="0"/>
              </a:rPr>
              <a:t>2</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2,</a:t>
            </a:r>
            <a:r>
              <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rPr>
              <a:t> </a:t>
            </a:r>
            <a:r>
              <a:rPr lang="en-US" sz="1200" dirty="0">
                <a:solidFill>
                  <a:schemeClr val="bg1">
                    <a:lumMod val="50000"/>
                  </a:schemeClr>
                </a:solidFill>
                <a:latin typeface="Times New Roman" panose="02020603050405020304" pitchFamily="18" charset="0"/>
                <a:cs typeface="Times New Roman" panose="02020603050405020304" pitchFamily="18" charset="0"/>
              </a:rPr>
              <a:t>Ruan, C., Chen, Y., Tian, D., Shi, Y., Wu, Y., Li, J., &amp; Li, C. (2025). </a:t>
            </a:r>
            <a:r>
              <a:rPr lang="en-US" sz="1200" dirty="0" err="1">
                <a:solidFill>
                  <a:schemeClr val="bg1">
                    <a:lumMod val="50000"/>
                  </a:schemeClr>
                </a:solidFill>
                <a:latin typeface="Times New Roman" panose="02020603050405020304" pitchFamily="18" charset="0"/>
                <a:cs typeface="Times New Roman" panose="02020603050405020304" pitchFamily="18" charset="0"/>
              </a:rPr>
              <a:t>DynaServe</a:t>
            </a:r>
            <a:r>
              <a:rPr lang="en-US" sz="1200" dirty="0">
                <a:solidFill>
                  <a:schemeClr val="bg1">
                    <a:lumMod val="50000"/>
                  </a:schemeClr>
                </a:solidFill>
                <a:latin typeface="Times New Roman" panose="02020603050405020304" pitchFamily="18" charset="0"/>
                <a:cs typeface="Times New Roman" panose="02020603050405020304" pitchFamily="18" charset="0"/>
              </a:rPr>
              <a:t>: Unified and Elastic Execution for Dynamic Disaggregated LLM Serving. </a:t>
            </a:r>
            <a:r>
              <a:rPr lang="en-US" sz="1200" dirty="0" err="1">
                <a:solidFill>
                  <a:schemeClr val="bg1">
                    <a:lumMod val="50000"/>
                  </a:schemeClr>
                </a:solidFill>
                <a:latin typeface="Times New Roman" panose="02020603050405020304" pitchFamily="18" charset="0"/>
                <a:cs typeface="Times New Roman" panose="02020603050405020304" pitchFamily="18" charset="0"/>
              </a:rPr>
              <a:t>arXiv</a:t>
            </a:r>
            <a:r>
              <a:rPr lang="en-US" sz="1200" dirty="0">
                <a:solidFill>
                  <a:schemeClr val="bg1">
                    <a:lumMod val="50000"/>
                  </a:schemeClr>
                </a:solidFill>
                <a:latin typeface="Times New Roman" panose="02020603050405020304" pitchFamily="18" charset="0"/>
                <a:cs typeface="Times New Roman" panose="02020603050405020304" pitchFamily="18" charset="0"/>
              </a:rPr>
              <a:t> preprint arXiv:2504.09285.</a:t>
            </a:r>
            <a:endPar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3: TaiChi</a:t>
            </a:r>
            <a:r>
              <a:rPr lang="en-US" altLang="zh-CN" sz="2933" baseline="30000" dirty="0">
                <a:latin typeface="Times New Roman" panose="02020603050405020304" pitchFamily="18" charset="0"/>
                <a:cs typeface="Times New Roman" panose="02020603050405020304" pitchFamily="18" charset="0"/>
              </a:rPr>
              <a:t>3</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3, </a:t>
            </a:r>
            <a:r>
              <a:rPr lang="en-US" sz="1200" dirty="0">
                <a:solidFill>
                  <a:schemeClr val="bg1">
                    <a:lumMod val="50000"/>
                  </a:schemeClr>
                </a:solidFill>
                <a:latin typeface="Times New Roman" panose="02020603050405020304" pitchFamily="18" charset="0"/>
                <a:cs typeface="Times New Roman" panose="02020603050405020304" pitchFamily="18" charset="0"/>
              </a:rPr>
              <a:t>Wang, C., Zuo, P., Chen, Z., Liang, Y., Yu, Z., &amp; Yang, M. C. (2025). Prefill-decode aggregation or disaggregation? unifying both for goodput-optimized </a:t>
            </a:r>
            <a:r>
              <a:rPr lang="en-US" sz="1200" dirty="0" err="1">
                <a:solidFill>
                  <a:schemeClr val="bg1">
                    <a:lumMod val="50000"/>
                  </a:schemeClr>
                </a:solidFill>
                <a:latin typeface="Times New Roman" panose="02020603050405020304" pitchFamily="18" charset="0"/>
                <a:cs typeface="Times New Roman" panose="02020603050405020304" pitchFamily="18" charset="0"/>
              </a:rPr>
              <a:t>llm</a:t>
            </a:r>
            <a:r>
              <a:rPr lang="en-US" sz="1200" dirty="0">
                <a:solidFill>
                  <a:schemeClr val="bg1">
                    <a:lumMod val="50000"/>
                  </a:schemeClr>
                </a:solidFill>
                <a:latin typeface="Times New Roman" panose="02020603050405020304" pitchFamily="18" charset="0"/>
                <a:cs typeface="Times New Roman" panose="02020603050405020304" pitchFamily="18" charset="0"/>
              </a:rPr>
              <a:t> serving. </a:t>
            </a:r>
            <a:r>
              <a:rPr lang="en-US" sz="1200" dirty="0" err="1">
                <a:solidFill>
                  <a:schemeClr val="bg1">
                    <a:lumMod val="50000"/>
                  </a:schemeClr>
                </a:solidFill>
                <a:latin typeface="Times New Roman" panose="02020603050405020304" pitchFamily="18" charset="0"/>
                <a:cs typeface="Times New Roman" panose="02020603050405020304" pitchFamily="18" charset="0"/>
              </a:rPr>
              <a:t>arXiv</a:t>
            </a:r>
            <a:r>
              <a:rPr lang="en-US" sz="1200" dirty="0">
                <a:solidFill>
                  <a:schemeClr val="bg1">
                    <a:lumMod val="50000"/>
                  </a:schemeClr>
                </a:solidFill>
                <a:latin typeface="Times New Roman" panose="02020603050405020304" pitchFamily="18" charset="0"/>
                <a:cs typeface="Times New Roman" panose="02020603050405020304" pitchFamily="18" charset="0"/>
              </a:rPr>
              <a:t> preprint arXiv:2508.01989.</a:t>
            </a:r>
            <a:endPar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Conclusion</a:t>
            </a:r>
          </a:p>
        </p:txBody>
      </p:sp>
      <p:sp>
        <p:nvSpPr>
          <p:cNvPr id="5" name="灯片编号占位符 1">
            <a:extLst>
              <a:ext uri="{FF2B5EF4-FFF2-40B4-BE49-F238E27FC236}">
                <a16:creationId xmlns:a16="http://schemas.microsoft.com/office/drawing/2014/main" id="{C1E6D6DF-DAA3-EBC2-4CDA-CE43427882AA}"/>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14</a:t>
            </a:fld>
            <a:endParaRPr lang="zh-TW" altLang="en-US"/>
          </a:p>
        </p:txBody>
      </p:sp>
    </p:spTree>
    <p:extLst>
      <p:ext uri="{BB962C8B-B14F-4D97-AF65-F5344CB8AC3E}">
        <p14:creationId xmlns:p14="http://schemas.microsoft.com/office/powerpoint/2010/main" val="1637888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90BBD17-7FB8-05F7-9C9E-14E4777D9FF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002F21B-72C0-6B4C-C667-B48E6357C1B7}"/>
              </a:ext>
            </a:extLst>
          </p:cNvPr>
          <p:cNvSpPr>
            <a:spLocks noGrp="1"/>
          </p:cNvSpPr>
          <p:nvPr>
            <p:ph type="title"/>
          </p:nvPr>
        </p:nvSpPr>
        <p:spPr>
          <a:xfrm>
            <a:off x="1296610" y="144466"/>
            <a:ext cx="10270977" cy="692151"/>
          </a:xfrm>
        </p:spPr>
        <p:txBody>
          <a:bodyPr/>
          <a:lstStyle/>
          <a:p>
            <a:r>
              <a:rPr lang="en-US" altLang="zh-CN" dirty="0" err="1">
                <a:cs typeface="Calibri" panose="020F0502020204030204" pitchFamily="34" charset="0"/>
              </a:rPr>
              <a:t>NynaServe</a:t>
            </a:r>
            <a:r>
              <a:rPr lang="en-US" altLang="zh-CN" dirty="0">
                <a:cs typeface="Calibri" panose="020F0502020204030204" pitchFamily="34" charset="0"/>
              </a:rPr>
              <a:t> - Insights (1/5)</a:t>
            </a:r>
            <a:endParaRPr lang="zh-TW" altLang="en-US" dirty="0">
              <a:cs typeface="Calibri" panose="020F0502020204030204" pitchFamily="34" charset="0"/>
            </a:endParaRPr>
          </a:p>
        </p:txBody>
      </p:sp>
      <p:sp>
        <p:nvSpPr>
          <p:cNvPr id="5" name="灯片编号占位符 1">
            <a:extLst>
              <a:ext uri="{FF2B5EF4-FFF2-40B4-BE49-F238E27FC236}">
                <a16:creationId xmlns:a16="http://schemas.microsoft.com/office/drawing/2014/main" id="{02ED98CD-6879-D622-18F5-3BAA81C7F69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15</a:t>
            </a:fld>
            <a:endParaRPr lang="zh-TW" altLang="en-US"/>
          </a:p>
        </p:txBody>
      </p:sp>
      <p:sp>
        <p:nvSpPr>
          <p:cNvPr id="4" name="TextBox 3">
            <a:extLst>
              <a:ext uri="{FF2B5EF4-FFF2-40B4-BE49-F238E27FC236}">
                <a16:creationId xmlns:a16="http://schemas.microsoft.com/office/drawing/2014/main" id="{7323D4E2-495B-1435-23F6-37F0C420AE2F}"/>
              </a:ext>
            </a:extLst>
          </p:cNvPr>
          <p:cNvSpPr txBox="1"/>
          <p:nvPr/>
        </p:nvSpPr>
        <p:spPr>
          <a:xfrm>
            <a:off x="7668963" y="3134433"/>
            <a:ext cx="4754896" cy="307777"/>
          </a:xfrm>
          <a:prstGeom prst="rect">
            <a:avLst/>
          </a:prstGeom>
          <a:noFill/>
        </p:spPr>
        <p:txBody>
          <a:bodyPr wrap="squar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10. Partition and scheduling strategies in LLM serving</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sp>
        <p:nvSpPr>
          <p:cNvPr id="6" name="Content Placeholder 5">
            <a:extLst>
              <a:ext uri="{FF2B5EF4-FFF2-40B4-BE49-F238E27FC236}">
                <a16:creationId xmlns:a16="http://schemas.microsoft.com/office/drawing/2014/main" id="{B265CF92-7299-5958-55B0-C364943F7DFC}"/>
              </a:ext>
            </a:extLst>
          </p:cNvPr>
          <p:cNvSpPr>
            <a:spLocks noGrp="1"/>
          </p:cNvSpPr>
          <p:nvPr>
            <p:ph idx="1"/>
          </p:nvPr>
        </p:nvSpPr>
        <p:spPr>
          <a:xfrm>
            <a:off x="-62470" y="1025450"/>
            <a:ext cx="7014519" cy="4895851"/>
          </a:xfrm>
        </p:spPr>
        <p:txBody>
          <a:bodyPr/>
          <a:lstStyle/>
          <a:p>
            <a:pPr lvl="1">
              <a:buClr>
                <a:schemeClr val="accent4"/>
              </a:buClr>
              <a:buFont typeface="Courier New" panose="02070309020205020404" pitchFamily="49" charset="0"/>
              <a:buChar char="o"/>
            </a:pPr>
            <a:r>
              <a:rPr lang="en-US" altLang="zh-CN" sz="2930" dirty="0">
                <a:latin typeface="Times New Roman" panose="02020603050405020304" pitchFamily="18" charset="0"/>
                <a:cs typeface="Times New Roman" panose="02020603050405020304" pitchFamily="18" charset="0"/>
              </a:rPr>
              <a:t>Drawbacks of PD aggregation:</a:t>
            </a:r>
          </a:p>
          <a:p>
            <a:pPr lvl="2">
              <a:buClr>
                <a:schemeClr val="accent4"/>
              </a:buClr>
              <a:buFont typeface="Wingdings" pitchFamily="2" charset="2"/>
              <a:buChar char="v"/>
            </a:pPr>
            <a:r>
              <a:rPr lang="en-US" sz="1800" dirty="0">
                <a:latin typeface="+mn-lt"/>
              </a:rPr>
              <a:t>Heavy prefill workloads (especially for long contexts) may stall latency-sensitive decode steps, leading to long tail latencies between tokens.</a:t>
            </a:r>
          </a:p>
          <a:p>
            <a:pPr lvl="2">
              <a:buClr>
                <a:schemeClr val="accent4"/>
              </a:buClr>
              <a:buFont typeface="Wingdings" pitchFamily="2" charset="2"/>
              <a:buChar char="v"/>
            </a:pPr>
            <a:r>
              <a:rPr lang="en-US" altLang="zh-CN" sz="1800" dirty="0">
                <a:latin typeface="+mn-lt"/>
                <a:cs typeface="Times New Roman" panose="02020603050405020304" pitchFamily="18" charset="0"/>
              </a:rPr>
              <a:t>The optimization with chunked-prefill only works when the decode phase dominates.</a:t>
            </a:r>
          </a:p>
          <a:p>
            <a:pPr lvl="1">
              <a:buClr>
                <a:schemeClr val="accent4"/>
              </a:buClr>
              <a:buFont typeface="Courier New" panose="02070309020205020404" pitchFamily="49" charset="0"/>
              <a:buChar char="o"/>
            </a:pPr>
            <a:r>
              <a:rPr lang="en-US" altLang="zh-CN" sz="2930" dirty="0">
                <a:latin typeface="Times New Roman" panose="02020603050405020304" pitchFamily="18" charset="0"/>
                <a:cs typeface="Times New Roman" panose="02020603050405020304" pitchFamily="18" charset="0"/>
              </a:rPr>
              <a:t>Drawbacks of PD aggregation:</a:t>
            </a:r>
          </a:p>
          <a:p>
            <a:pPr lvl="2">
              <a:buClr>
                <a:schemeClr val="accent4"/>
              </a:buClr>
              <a:buFont typeface="Wingdings" pitchFamily="2" charset="2"/>
              <a:buChar char="v"/>
            </a:pPr>
            <a:r>
              <a:rPr lang="en-US" sz="1800" dirty="0">
                <a:latin typeface="+mn-lt"/>
              </a:rPr>
              <a:t>The architecture achieves optimal throughput when prompt and output workloads are </a:t>
            </a:r>
            <a:r>
              <a:rPr lang="en-US" sz="1800" dirty="0">
                <a:solidFill>
                  <a:schemeClr val="accent6"/>
                </a:solidFill>
                <a:latin typeface="+mn-lt"/>
              </a:rPr>
              <a:t>well-balanced</a:t>
            </a:r>
            <a:r>
              <a:rPr lang="en-US" sz="1800" dirty="0">
                <a:latin typeface="+mn-lt"/>
              </a:rPr>
              <a:t>.</a:t>
            </a:r>
          </a:p>
          <a:p>
            <a:pPr lvl="2">
              <a:buClr>
                <a:schemeClr val="accent4"/>
              </a:buClr>
              <a:buFont typeface="Wingdings" pitchFamily="2" charset="2"/>
              <a:buChar char="v"/>
            </a:pPr>
            <a:r>
              <a:rPr lang="en-US" sz="1800" dirty="0">
                <a:latin typeface="+mn-lt"/>
              </a:rPr>
              <a:t>Any </a:t>
            </a:r>
            <a:r>
              <a:rPr lang="en-US" sz="1800" dirty="0">
                <a:solidFill>
                  <a:schemeClr val="accent6"/>
                </a:solidFill>
                <a:latin typeface="+mn-lt"/>
              </a:rPr>
              <a:t>imbalance</a:t>
            </a:r>
            <a:r>
              <a:rPr lang="en-US" sz="1800" dirty="0">
                <a:latin typeface="+mn-lt"/>
              </a:rPr>
              <a:t> in the workload, such as when prompt lengths increase or output lengths shrink, creates </a:t>
            </a:r>
            <a:r>
              <a:rPr lang="en-US" sz="1800" dirty="0">
                <a:solidFill>
                  <a:schemeClr val="accent5"/>
                </a:solidFill>
                <a:latin typeface="+mn-lt"/>
              </a:rPr>
              <a:t>uneven resource utilization </a:t>
            </a:r>
            <a:r>
              <a:rPr lang="en-US" sz="1800" dirty="0">
                <a:latin typeface="+mn-lt"/>
              </a:rPr>
              <a:t>across the two GPU pools, resulting in resource fragmentation and </a:t>
            </a:r>
            <a:r>
              <a:rPr lang="en-US" sz="1800" dirty="0">
                <a:solidFill>
                  <a:schemeClr val="accent5"/>
                </a:solidFill>
                <a:latin typeface="+mn-lt"/>
              </a:rPr>
              <a:t>degraded overall efficiency</a:t>
            </a:r>
            <a:r>
              <a:rPr lang="en-US" sz="1800" dirty="0">
                <a:latin typeface="+mn-lt"/>
              </a:rPr>
              <a:t>.</a:t>
            </a:r>
          </a:p>
          <a:p>
            <a:pPr lvl="2">
              <a:buClr>
                <a:schemeClr val="accent4"/>
              </a:buClr>
              <a:buFont typeface="Wingdings" pitchFamily="2" charset="2"/>
              <a:buChar char="v"/>
            </a:pPr>
            <a:endParaRPr lang="en-US" altLang="zh-CN" sz="1800" dirty="0">
              <a:latin typeface="+mn-lt"/>
              <a:cs typeface="Times New Roman" panose="02020603050405020304" pitchFamily="18" charset="0"/>
            </a:endParaRPr>
          </a:p>
          <a:p>
            <a:pPr lvl="2">
              <a:buClr>
                <a:schemeClr val="accent4"/>
              </a:buClr>
              <a:buFont typeface="Courier New" panose="02070309020205020404" pitchFamily="49" charset="0"/>
              <a:buChar char="o"/>
            </a:pPr>
            <a:endParaRPr lang="en-US" altLang="zh-CN" sz="1800" dirty="0">
              <a:latin typeface="+mn-lt"/>
              <a:cs typeface="Times New Roman" panose="02020603050405020304" pitchFamily="18" charset="0"/>
            </a:endParaRPr>
          </a:p>
          <a:p>
            <a:pPr lvl="1">
              <a:buClr>
                <a:schemeClr val="accent4"/>
              </a:buClr>
              <a:buFont typeface="Courier New" panose="02070309020205020404" pitchFamily="49" charset="0"/>
              <a:buChar char="o"/>
            </a:pPr>
            <a:endParaRPr lang="en-US" altLang="zh-CN" sz="2333" dirty="0">
              <a:latin typeface="+mn-lt"/>
              <a:cs typeface="Times New Roman" panose="02020603050405020304" pitchFamily="18" charset="0"/>
            </a:endParaRPr>
          </a:p>
          <a:p>
            <a:pPr lvl="2">
              <a:buClr>
                <a:schemeClr val="accent4"/>
              </a:buClr>
              <a:buFont typeface="Wingdings" pitchFamily="2" charset="2"/>
              <a:buChar char="v"/>
            </a:pPr>
            <a:endParaRPr lang="en-US" altLang="zh-CN" sz="1800" dirty="0">
              <a:latin typeface="Arial" panose="020B0604020202020204" pitchFamily="34" charset="0"/>
              <a:cs typeface="Arial" panose="020B0604020202020204" pitchFamily="34" charset="0"/>
            </a:endParaRPr>
          </a:p>
          <a:p>
            <a:pPr lvl="2">
              <a:buClr>
                <a:schemeClr val="accent4"/>
              </a:buClr>
              <a:buFont typeface="Courier New" panose="02070309020205020404" pitchFamily="49" charset="0"/>
              <a:buChar char="o"/>
            </a:pPr>
            <a:endParaRPr lang="en-US" altLang="zh-CN" sz="1267" dirty="0">
              <a:latin typeface="Arial" panose="020B0604020202020204" pitchFamily="34" charset="0"/>
              <a:cs typeface="Arial" panose="020B0604020202020204" pitchFamily="34" charset="0"/>
            </a:endParaRPr>
          </a:p>
          <a:p>
            <a:pPr lvl="1">
              <a:buClr>
                <a:schemeClr val="accent4"/>
              </a:buClr>
              <a:buFont typeface="Wingdings" pitchFamily="2" charset="2"/>
              <a:buChar char="v"/>
            </a:pPr>
            <a:endParaRPr lang="en-US" dirty="0"/>
          </a:p>
        </p:txBody>
      </p:sp>
      <p:pic>
        <p:nvPicPr>
          <p:cNvPr id="7" name="Picture 6">
            <a:extLst>
              <a:ext uri="{FF2B5EF4-FFF2-40B4-BE49-F238E27FC236}">
                <a16:creationId xmlns:a16="http://schemas.microsoft.com/office/drawing/2014/main" id="{08AA1165-4DAC-C156-4BA5-B0CB4B208C62}"/>
              </a:ext>
            </a:extLst>
          </p:cNvPr>
          <p:cNvPicPr>
            <a:picLocks noChangeAspect="1"/>
          </p:cNvPicPr>
          <p:nvPr/>
        </p:nvPicPr>
        <p:blipFill>
          <a:blip r:embed="rId3"/>
          <a:stretch>
            <a:fillRect/>
          </a:stretch>
        </p:blipFill>
        <p:spPr>
          <a:xfrm>
            <a:off x="8258176" y="1154616"/>
            <a:ext cx="3765657" cy="1969595"/>
          </a:xfrm>
          <a:prstGeom prst="rect">
            <a:avLst/>
          </a:prstGeom>
        </p:spPr>
      </p:pic>
      <p:pic>
        <p:nvPicPr>
          <p:cNvPr id="9" name="Picture 8">
            <a:extLst>
              <a:ext uri="{FF2B5EF4-FFF2-40B4-BE49-F238E27FC236}">
                <a16:creationId xmlns:a16="http://schemas.microsoft.com/office/drawing/2014/main" id="{F8A5EFEA-EE42-ED67-4647-A28389A7C586}"/>
              </a:ext>
            </a:extLst>
          </p:cNvPr>
          <p:cNvPicPr>
            <a:picLocks noChangeAspect="1"/>
          </p:cNvPicPr>
          <p:nvPr/>
        </p:nvPicPr>
        <p:blipFill>
          <a:blip r:embed="rId4"/>
          <a:stretch>
            <a:fillRect/>
          </a:stretch>
        </p:blipFill>
        <p:spPr>
          <a:xfrm>
            <a:off x="7941276" y="3962706"/>
            <a:ext cx="4210269" cy="1908393"/>
          </a:xfrm>
          <a:prstGeom prst="rect">
            <a:avLst/>
          </a:prstGeom>
        </p:spPr>
      </p:pic>
      <p:sp>
        <p:nvSpPr>
          <p:cNvPr id="10" name="TextBox 9">
            <a:extLst>
              <a:ext uri="{FF2B5EF4-FFF2-40B4-BE49-F238E27FC236}">
                <a16:creationId xmlns:a16="http://schemas.microsoft.com/office/drawing/2014/main" id="{54B94D5D-DE3E-FCB2-EEE7-4D5F82794063}"/>
              </a:ext>
            </a:extLst>
          </p:cNvPr>
          <p:cNvSpPr txBox="1"/>
          <p:nvPr/>
        </p:nvSpPr>
        <p:spPr>
          <a:xfrm>
            <a:off x="7668963" y="5824436"/>
            <a:ext cx="4754896" cy="307777"/>
          </a:xfrm>
          <a:prstGeom prst="rect">
            <a:avLst/>
          </a:prstGeom>
          <a:noFill/>
        </p:spPr>
        <p:txBody>
          <a:bodyPr wrap="squar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Table 1. GPU resource utilization under two A100 (G1&amp;G2)</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4004794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7EFBE-0AAD-E9AD-BDCD-166132C3026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5BEB8D6-1C46-31E3-BFD4-4E3C34386A5F}"/>
              </a:ext>
            </a:extLst>
          </p:cNvPr>
          <p:cNvSpPr>
            <a:spLocks noGrp="1"/>
          </p:cNvSpPr>
          <p:nvPr>
            <p:ph type="title"/>
          </p:nvPr>
        </p:nvSpPr>
        <p:spPr>
          <a:xfrm>
            <a:off x="1296610" y="144466"/>
            <a:ext cx="10270977" cy="692151"/>
          </a:xfrm>
        </p:spPr>
        <p:txBody>
          <a:bodyPr/>
          <a:lstStyle/>
          <a:p>
            <a:r>
              <a:rPr lang="en-US" altLang="zh-CN" dirty="0" err="1">
                <a:cs typeface="Calibri" panose="020F0502020204030204" pitchFamily="34" charset="0"/>
              </a:rPr>
              <a:t>NynaServe</a:t>
            </a:r>
            <a:r>
              <a:rPr lang="en-US" altLang="zh-CN" dirty="0">
                <a:cs typeface="Calibri" panose="020F0502020204030204" pitchFamily="34" charset="0"/>
              </a:rPr>
              <a:t> – Insights </a:t>
            </a:r>
            <a:r>
              <a:rPr lang="en-US" altLang="zh-CN" dirty="0"/>
              <a:t>(2/5)</a:t>
            </a:r>
            <a:endParaRPr lang="zh-TW" altLang="en-US" dirty="0">
              <a:cs typeface="Calibri" panose="020F0502020204030204" pitchFamily="34" charset="0"/>
            </a:endParaRPr>
          </a:p>
        </p:txBody>
      </p:sp>
      <p:sp>
        <p:nvSpPr>
          <p:cNvPr id="5" name="灯片编号占位符 1">
            <a:extLst>
              <a:ext uri="{FF2B5EF4-FFF2-40B4-BE49-F238E27FC236}">
                <a16:creationId xmlns:a16="http://schemas.microsoft.com/office/drawing/2014/main" id="{CF13D4B9-BE69-1843-E2F1-2A8BA5A9F9F7}"/>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16</a:t>
            </a:fld>
            <a:endParaRPr lang="zh-TW" altLang="en-US"/>
          </a:p>
        </p:txBody>
      </p:sp>
      <p:sp>
        <p:nvSpPr>
          <p:cNvPr id="6" name="Content Placeholder 5">
            <a:extLst>
              <a:ext uri="{FF2B5EF4-FFF2-40B4-BE49-F238E27FC236}">
                <a16:creationId xmlns:a16="http://schemas.microsoft.com/office/drawing/2014/main" id="{CA41D779-214D-88E4-163E-4DA4E484C3C9}"/>
              </a:ext>
            </a:extLst>
          </p:cNvPr>
          <p:cNvSpPr>
            <a:spLocks noGrp="1"/>
          </p:cNvSpPr>
          <p:nvPr>
            <p:ph idx="1"/>
          </p:nvPr>
        </p:nvSpPr>
        <p:spPr>
          <a:xfrm>
            <a:off x="155748" y="1270455"/>
            <a:ext cx="6537698" cy="1866606"/>
          </a:xfrm>
        </p:spPr>
        <p:txBody>
          <a:bodyPr/>
          <a:lstStyle/>
          <a:p>
            <a:pPr lvl="1">
              <a:buClr>
                <a:schemeClr val="accent4"/>
              </a:buClr>
              <a:buFont typeface="Courier New" panose="02070309020205020404" pitchFamily="49" charset="0"/>
              <a:buChar char="o"/>
            </a:pPr>
            <a:r>
              <a:rPr lang="en-US" altLang="zh-CN" sz="2930" dirty="0">
                <a:latin typeface="Times New Roman" panose="02020603050405020304" pitchFamily="18" charset="0"/>
                <a:cs typeface="Times New Roman" panose="02020603050405020304" pitchFamily="18" charset="0"/>
              </a:rPr>
              <a:t>Drawbacks of PD aggregation:</a:t>
            </a:r>
          </a:p>
          <a:p>
            <a:pPr lvl="2">
              <a:buClr>
                <a:schemeClr val="accent4"/>
              </a:buClr>
              <a:buFont typeface="Wingdings" pitchFamily="2" charset="2"/>
              <a:buChar char="v"/>
            </a:pPr>
            <a:r>
              <a:rPr lang="en-US" sz="1800" dirty="0">
                <a:latin typeface="+mn-lt"/>
              </a:rPr>
              <a:t>Heavy prefill workloads may stall latency-sensitive decode steps.</a:t>
            </a:r>
          </a:p>
          <a:p>
            <a:pPr lvl="2">
              <a:buClr>
                <a:schemeClr val="accent4"/>
              </a:buClr>
              <a:buFont typeface="Wingdings" pitchFamily="2" charset="2"/>
              <a:buChar char="v"/>
            </a:pPr>
            <a:r>
              <a:rPr lang="en-US" altLang="zh-CN" sz="1800" dirty="0">
                <a:latin typeface="+mn-lt"/>
                <a:cs typeface="Times New Roman" panose="02020603050405020304" pitchFamily="18" charset="0"/>
              </a:rPr>
              <a:t>Chunked-prefill optimization only works when the decode phase dominates.</a:t>
            </a:r>
            <a:endParaRPr lang="en-US" altLang="zh-CN" sz="2333" dirty="0">
              <a:latin typeface="+mn-lt"/>
              <a:cs typeface="Times New Roman" panose="02020603050405020304" pitchFamily="18" charset="0"/>
            </a:endParaRPr>
          </a:p>
        </p:txBody>
      </p:sp>
      <p:grpSp>
        <p:nvGrpSpPr>
          <p:cNvPr id="3" name="组合 2">
            <a:extLst>
              <a:ext uri="{FF2B5EF4-FFF2-40B4-BE49-F238E27FC236}">
                <a16:creationId xmlns:a16="http://schemas.microsoft.com/office/drawing/2014/main" id="{77504E42-D7D0-F870-6E0F-4765C948050F}"/>
              </a:ext>
            </a:extLst>
          </p:cNvPr>
          <p:cNvGrpSpPr/>
          <p:nvPr/>
        </p:nvGrpSpPr>
        <p:grpSpPr>
          <a:xfrm>
            <a:off x="7144443" y="1218961"/>
            <a:ext cx="4423144" cy="2312653"/>
            <a:chOff x="7913512" y="1154616"/>
            <a:chExt cx="4423144" cy="2312653"/>
          </a:xfrm>
        </p:grpSpPr>
        <p:sp>
          <p:nvSpPr>
            <p:cNvPr id="4" name="TextBox 3">
              <a:extLst>
                <a:ext uri="{FF2B5EF4-FFF2-40B4-BE49-F238E27FC236}">
                  <a16:creationId xmlns:a16="http://schemas.microsoft.com/office/drawing/2014/main" id="{FC1DE903-7690-42B8-5590-8B3035F93429}"/>
                </a:ext>
              </a:extLst>
            </p:cNvPr>
            <p:cNvSpPr txBox="1"/>
            <p:nvPr/>
          </p:nvSpPr>
          <p:spPr>
            <a:xfrm>
              <a:off x="7913512" y="3149270"/>
              <a:ext cx="4423144" cy="317999"/>
            </a:xfrm>
            <a:prstGeom prst="rect">
              <a:avLst/>
            </a:prstGeom>
            <a:noFill/>
          </p:spPr>
          <p:txBody>
            <a:bodyPr wrap="squar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10. Partition and scheduling strategies in LLM serving</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pic>
          <p:nvPicPr>
            <p:cNvPr id="7" name="Picture 6">
              <a:extLst>
                <a:ext uri="{FF2B5EF4-FFF2-40B4-BE49-F238E27FC236}">
                  <a16:creationId xmlns:a16="http://schemas.microsoft.com/office/drawing/2014/main" id="{B5E300AC-3F81-1745-9F3E-BAB2B7BBA642}"/>
                </a:ext>
              </a:extLst>
            </p:cNvPr>
            <p:cNvPicPr>
              <a:picLocks noChangeAspect="1"/>
            </p:cNvPicPr>
            <p:nvPr/>
          </p:nvPicPr>
          <p:blipFill>
            <a:blip r:embed="rId3"/>
            <a:stretch>
              <a:fillRect/>
            </a:stretch>
          </p:blipFill>
          <p:spPr>
            <a:xfrm>
              <a:off x="8258176" y="1154616"/>
              <a:ext cx="3765657" cy="1969595"/>
            </a:xfrm>
            <a:prstGeom prst="rect">
              <a:avLst/>
            </a:prstGeom>
          </p:spPr>
        </p:pic>
      </p:grpSp>
      <p:grpSp>
        <p:nvGrpSpPr>
          <p:cNvPr id="8" name="组合 7">
            <a:extLst>
              <a:ext uri="{FF2B5EF4-FFF2-40B4-BE49-F238E27FC236}">
                <a16:creationId xmlns:a16="http://schemas.microsoft.com/office/drawing/2014/main" id="{C275CBE0-536A-D224-11CE-0AC3F8185B77}"/>
              </a:ext>
            </a:extLst>
          </p:cNvPr>
          <p:cNvGrpSpPr/>
          <p:nvPr/>
        </p:nvGrpSpPr>
        <p:grpSpPr>
          <a:xfrm>
            <a:off x="7293935" y="3792728"/>
            <a:ext cx="4754896" cy="2169507"/>
            <a:chOff x="7523951" y="3962706"/>
            <a:chExt cx="4754896" cy="2169507"/>
          </a:xfrm>
        </p:grpSpPr>
        <p:pic>
          <p:nvPicPr>
            <p:cNvPr id="9" name="Picture 8">
              <a:extLst>
                <a:ext uri="{FF2B5EF4-FFF2-40B4-BE49-F238E27FC236}">
                  <a16:creationId xmlns:a16="http://schemas.microsoft.com/office/drawing/2014/main" id="{26C011FF-13C3-0F5B-1E4A-B32AC4A35236}"/>
                </a:ext>
              </a:extLst>
            </p:cNvPr>
            <p:cNvPicPr>
              <a:picLocks noChangeAspect="1"/>
            </p:cNvPicPr>
            <p:nvPr/>
          </p:nvPicPr>
          <p:blipFill>
            <a:blip r:embed="rId4"/>
            <a:stretch>
              <a:fillRect/>
            </a:stretch>
          </p:blipFill>
          <p:spPr>
            <a:xfrm>
              <a:off x="7796264" y="3962706"/>
              <a:ext cx="4210269" cy="1908393"/>
            </a:xfrm>
            <a:prstGeom prst="rect">
              <a:avLst/>
            </a:prstGeom>
          </p:spPr>
        </p:pic>
        <p:sp>
          <p:nvSpPr>
            <p:cNvPr id="10" name="TextBox 9">
              <a:extLst>
                <a:ext uri="{FF2B5EF4-FFF2-40B4-BE49-F238E27FC236}">
                  <a16:creationId xmlns:a16="http://schemas.microsoft.com/office/drawing/2014/main" id="{DD3973FB-A837-183C-0BFC-6CEA3244FD77}"/>
                </a:ext>
              </a:extLst>
            </p:cNvPr>
            <p:cNvSpPr txBox="1"/>
            <p:nvPr/>
          </p:nvSpPr>
          <p:spPr>
            <a:xfrm>
              <a:off x="7523951" y="5824436"/>
              <a:ext cx="4754896" cy="307777"/>
            </a:xfrm>
            <a:prstGeom prst="rect">
              <a:avLst/>
            </a:prstGeom>
            <a:noFill/>
          </p:spPr>
          <p:txBody>
            <a:bodyPr wrap="squar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Table 1</a:t>
              </a:r>
              <a:r>
                <a:rPr lang="en-US" altLang="zh-CN" sz="1400" dirty="0">
                  <a:latin typeface="Times New Roman" panose="02020603050405020304" pitchFamily="18" charset="0"/>
                  <a:ea typeface="標楷體" pitchFamily="65" charset="-120"/>
                  <a:cs typeface="Times New Roman" panose="02020603050405020304" pitchFamily="18" charset="0"/>
                </a:rPr>
                <a:t>1</a:t>
              </a:r>
              <a:r>
                <a:rPr lang="en-US" sz="1400" dirty="0">
                  <a:latin typeface="Times New Roman" panose="02020603050405020304" pitchFamily="18" charset="0"/>
                  <a:ea typeface="標楷體" pitchFamily="65" charset="-120"/>
                  <a:cs typeface="Times New Roman" panose="02020603050405020304" pitchFamily="18" charset="0"/>
                </a:rPr>
                <a:t>. GPU resource utilization under two A100 (G1&amp;G2)</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grpSp>
      <p:sp>
        <p:nvSpPr>
          <p:cNvPr id="11" name="Content Placeholder 5">
            <a:extLst>
              <a:ext uri="{FF2B5EF4-FFF2-40B4-BE49-F238E27FC236}">
                <a16:creationId xmlns:a16="http://schemas.microsoft.com/office/drawing/2014/main" id="{ED1BC2A1-9B14-C388-E903-D25B31D7B91B}"/>
              </a:ext>
            </a:extLst>
          </p:cNvPr>
          <p:cNvSpPr txBox="1">
            <a:spLocks/>
          </p:cNvSpPr>
          <p:nvPr/>
        </p:nvSpPr>
        <p:spPr bwMode="auto">
          <a:xfrm>
            <a:off x="155748" y="3945405"/>
            <a:ext cx="7108468" cy="13321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lvl="1">
              <a:buClr>
                <a:schemeClr val="accent4"/>
              </a:buClr>
              <a:buFont typeface="Courier New" panose="02070309020205020404" pitchFamily="49" charset="0"/>
              <a:buChar char="o"/>
            </a:pPr>
            <a:r>
              <a:rPr lang="en-US" altLang="zh-CN" sz="2930" kern="0" dirty="0">
                <a:latin typeface="Times New Roman" panose="02020603050405020304" pitchFamily="18" charset="0"/>
                <a:cs typeface="Times New Roman" panose="02020603050405020304" pitchFamily="18" charset="0"/>
              </a:rPr>
              <a:t>Drawbacks of PD disaggregation:</a:t>
            </a:r>
            <a:endParaRPr lang="en-US" altLang="zh-CN" sz="2397" kern="0" dirty="0">
              <a:latin typeface="Times New Roman" panose="02020603050405020304" pitchFamily="18" charset="0"/>
              <a:cs typeface="Times New Roman" panose="02020603050405020304" pitchFamily="18" charset="0"/>
            </a:endParaRPr>
          </a:p>
          <a:p>
            <a:pPr lvl="2">
              <a:buClr>
                <a:schemeClr val="accent4"/>
              </a:buClr>
              <a:buFont typeface="Wingdings" pitchFamily="2" charset="2"/>
              <a:buChar char="v"/>
            </a:pPr>
            <a:r>
              <a:rPr lang="en-US" sz="1800" kern="0" dirty="0">
                <a:latin typeface="+mn-lt"/>
              </a:rPr>
              <a:t>Works well with a </a:t>
            </a:r>
            <a:r>
              <a:rPr lang="en-US" sz="1800" kern="0" dirty="0">
                <a:solidFill>
                  <a:schemeClr val="accent6"/>
                </a:solidFill>
                <a:latin typeface="+mn-lt"/>
              </a:rPr>
              <a:t>balanced</a:t>
            </a:r>
            <a:r>
              <a:rPr lang="en-US" sz="1800" kern="0" dirty="0">
                <a:latin typeface="+mn-lt"/>
              </a:rPr>
              <a:t> prompt and output length.</a:t>
            </a:r>
          </a:p>
          <a:p>
            <a:pPr lvl="2">
              <a:buClr>
                <a:schemeClr val="accent4"/>
              </a:buClr>
              <a:buFont typeface="Wingdings" pitchFamily="2" charset="2"/>
              <a:buChar char="v"/>
            </a:pPr>
            <a:r>
              <a:rPr lang="en-US" altLang="zh-CN" sz="1800" kern="0" dirty="0">
                <a:solidFill>
                  <a:schemeClr val="accent6"/>
                </a:solidFill>
                <a:latin typeface="+mn-lt"/>
                <a:cs typeface="Times New Roman" panose="02020603050405020304" pitchFamily="18" charset="0"/>
              </a:rPr>
              <a:t>Imbalanced</a:t>
            </a:r>
            <a:r>
              <a:rPr lang="en-US" altLang="zh-CN" sz="1800" kern="0" dirty="0">
                <a:latin typeface="+mn-lt"/>
                <a:cs typeface="Times New Roman" panose="02020603050405020304" pitchFamily="18" charset="0"/>
              </a:rPr>
              <a:t> workloads create uneven resource utilization.</a:t>
            </a:r>
          </a:p>
        </p:txBody>
      </p:sp>
    </p:spTree>
    <p:extLst>
      <p:ext uri="{BB962C8B-B14F-4D97-AF65-F5344CB8AC3E}">
        <p14:creationId xmlns:p14="http://schemas.microsoft.com/office/powerpoint/2010/main" val="1013793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3C759-A742-527D-535A-889406F26F2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325789A-29D6-E165-A6B9-9F26F95A48E3}"/>
              </a:ext>
            </a:extLst>
          </p:cNvPr>
          <p:cNvSpPr>
            <a:spLocks noGrp="1"/>
          </p:cNvSpPr>
          <p:nvPr>
            <p:ph type="title"/>
          </p:nvPr>
        </p:nvSpPr>
        <p:spPr>
          <a:xfrm>
            <a:off x="1296610" y="144466"/>
            <a:ext cx="10270977" cy="692151"/>
          </a:xfrm>
        </p:spPr>
        <p:txBody>
          <a:bodyPr/>
          <a:lstStyle/>
          <a:p>
            <a:r>
              <a:rPr lang="en-US" altLang="zh-CN" dirty="0" err="1">
                <a:cs typeface="Calibri" panose="020F0502020204030204" pitchFamily="34" charset="0"/>
              </a:rPr>
              <a:t>NynaServe</a:t>
            </a:r>
            <a:r>
              <a:rPr lang="en-US" altLang="zh-CN" dirty="0">
                <a:cs typeface="Calibri" panose="020F0502020204030204" pitchFamily="34" charset="0"/>
              </a:rPr>
              <a:t> - Design Philosophy (</a:t>
            </a:r>
            <a:r>
              <a:rPr lang="en-US" altLang="zh-CN" dirty="0"/>
              <a:t>3/5)</a:t>
            </a:r>
            <a:endParaRPr lang="zh-TW" altLang="en-US" dirty="0">
              <a:cs typeface="Calibri" panose="020F0502020204030204" pitchFamily="34" charset="0"/>
            </a:endParaRPr>
          </a:p>
        </p:txBody>
      </p:sp>
      <p:sp>
        <p:nvSpPr>
          <p:cNvPr id="5" name="灯片编号占位符 1">
            <a:extLst>
              <a:ext uri="{FF2B5EF4-FFF2-40B4-BE49-F238E27FC236}">
                <a16:creationId xmlns:a16="http://schemas.microsoft.com/office/drawing/2014/main" id="{BE401D8E-4035-8CBF-954A-4805F55D022C}"/>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17</a:t>
            </a:fld>
            <a:endParaRPr lang="zh-TW" altLang="en-US"/>
          </a:p>
        </p:txBody>
      </p:sp>
      <p:grpSp>
        <p:nvGrpSpPr>
          <p:cNvPr id="3" name="组合 2">
            <a:extLst>
              <a:ext uri="{FF2B5EF4-FFF2-40B4-BE49-F238E27FC236}">
                <a16:creationId xmlns:a16="http://schemas.microsoft.com/office/drawing/2014/main" id="{0C8C3D9C-89FA-4201-420B-0FA09FCC65E7}"/>
              </a:ext>
            </a:extLst>
          </p:cNvPr>
          <p:cNvGrpSpPr/>
          <p:nvPr/>
        </p:nvGrpSpPr>
        <p:grpSpPr>
          <a:xfrm>
            <a:off x="8321782" y="1198178"/>
            <a:ext cx="3778690" cy="3171340"/>
            <a:chOff x="8321782" y="1198178"/>
            <a:chExt cx="3778690" cy="3171340"/>
          </a:xfrm>
        </p:grpSpPr>
        <p:pic>
          <p:nvPicPr>
            <p:cNvPr id="12" name="Picture 11">
              <a:extLst>
                <a:ext uri="{FF2B5EF4-FFF2-40B4-BE49-F238E27FC236}">
                  <a16:creationId xmlns:a16="http://schemas.microsoft.com/office/drawing/2014/main" id="{CD73B9F0-E25F-A71F-973B-2FF76975D6C9}"/>
                </a:ext>
              </a:extLst>
            </p:cNvPr>
            <p:cNvPicPr>
              <a:picLocks noChangeAspect="1"/>
            </p:cNvPicPr>
            <p:nvPr/>
          </p:nvPicPr>
          <p:blipFill>
            <a:blip r:embed="rId3"/>
            <a:stretch>
              <a:fillRect/>
            </a:stretch>
          </p:blipFill>
          <p:spPr>
            <a:xfrm>
              <a:off x="8321782" y="1198178"/>
              <a:ext cx="3778690" cy="2820057"/>
            </a:xfrm>
            <a:prstGeom prst="rect">
              <a:avLst/>
            </a:prstGeom>
          </p:spPr>
        </p:pic>
        <p:sp>
          <p:nvSpPr>
            <p:cNvPr id="13" name="TextBox 12">
              <a:extLst>
                <a:ext uri="{FF2B5EF4-FFF2-40B4-BE49-F238E27FC236}">
                  <a16:creationId xmlns:a16="http://schemas.microsoft.com/office/drawing/2014/main" id="{73C1AC39-FE10-B87C-72DC-42A8D00815A5}"/>
                </a:ext>
              </a:extLst>
            </p:cNvPr>
            <p:cNvSpPr txBox="1"/>
            <p:nvPr/>
          </p:nvSpPr>
          <p:spPr>
            <a:xfrm>
              <a:off x="8980116" y="4061741"/>
              <a:ext cx="2462021"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11. </a:t>
              </a:r>
              <a:r>
                <a:rPr lang="en-US" sz="1400" dirty="0" err="1">
                  <a:latin typeface="Times New Roman" panose="02020603050405020304" pitchFamily="18" charset="0"/>
                  <a:ea typeface="標楷體" pitchFamily="65" charset="-120"/>
                  <a:cs typeface="Times New Roman" panose="02020603050405020304" pitchFamily="18" charset="0"/>
                </a:rPr>
                <a:t>NynaServe</a:t>
              </a:r>
              <a:r>
                <a:rPr lang="en-US" sz="1400" dirty="0">
                  <a:latin typeface="Times New Roman" panose="02020603050405020304" pitchFamily="18" charset="0"/>
                  <a:ea typeface="標楷體" pitchFamily="65" charset="-120"/>
                  <a:cs typeface="Times New Roman" panose="02020603050405020304" pitchFamily="18" charset="0"/>
                </a:rPr>
                <a:t> Architecture</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grpSp>
      <p:sp>
        <p:nvSpPr>
          <p:cNvPr id="14" name="Content Placeholder 5">
            <a:extLst>
              <a:ext uri="{FF2B5EF4-FFF2-40B4-BE49-F238E27FC236}">
                <a16:creationId xmlns:a16="http://schemas.microsoft.com/office/drawing/2014/main" id="{429424F8-8290-79E8-186E-F3F6D8186772}"/>
              </a:ext>
            </a:extLst>
          </p:cNvPr>
          <p:cNvSpPr>
            <a:spLocks noGrp="1"/>
          </p:cNvSpPr>
          <p:nvPr>
            <p:ph idx="1"/>
          </p:nvPr>
        </p:nvSpPr>
        <p:spPr>
          <a:xfrm>
            <a:off x="2326193" y="1198178"/>
            <a:ext cx="3778691" cy="508259"/>
          </a:xfrm>
        </p:spPr>
        <p:txBody>
          <a:bodyPr/>
          <a:lstStyle/>
          <a:p>
            <a:pPr marL="457176" lvl="1" indent="0">
              <a:buClr>
                <a:schemeClr val="accent4"/>
              </a:buClr>
              <a:buNone/>
            </a:pPr>
            <a:r>
              <a:rPr lang="en-US" altLang="zh-CN" sz="2400" b="1" dirty="0">
                <a:latin typeface="Times New Roman" panose="02020603050405020304" pitchFamily="18" charset="0"/>
                <a:cs typeface="Times New Roman" panose="02020603050405020304" pitchFamily="18" charset="0"/>
              </a:rPr>
              <a:t>Design Philosophy</a:t>
            </a:r>
            <a:endParaRPr lang="en-US" dirty="0"/>
          </a:p>
        </p:txBody>
      </p:sp>
      <p:sp>
        <p:nvSpPr>
          <p:cNvPr id="15" name="Rounded Rectangle 14">
            <a:extLst>
              <a:ext uri="{FF2B5EF4-FFF2-40B4-BE49-F238E27FC236}">
                <a16:creationId xmlns:a16="http://schemas.microsoft.com/office/drawing/2014/main" id="{EC62CE3A-8033-2415-6D8C-A9775BBAD132}"/>
              </a:ext>
            </a:extLst>
          </p:cNvPr>
          <p:cNvSpPr/>
          <p:nvPr/>
        </p:nvSpPr>
        <p:spPr bwMode="auto">
          <a:xfrm>
            <a:off x="697424" y="1751308"/>
            <a:ext cx="7036230" cy="588936"/>
          </a:xfrm>
          <a:prstGeom prst="roundRect">
            <a:avLst/>
          </a:prstGeom>
          <a:noFill/>
          <a:ln w="15875" cap="flat" cmpd="sng" algn="ctr">
            <a:solidFill>
              <a:schemeClr val="accent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18" name="Straight Connector 17">
            <a:extLst>
              <a:ext uri="{FF2B5EF4-FFF2-40B4-BE49-F238E27FC236}">
                <a16:creationId xmlns:a16="http://schemas.microsoft.com/office/drawing/2014/main" id="{B7D80BD7-2BAA-41B9-2F61-81213CCCB0DA}"/>
              </a:ext>
            </a:extLst>
          </p:cNvPr>
          <p:cNvCxnSpPr>
            <a:cxnSpLocks/>
          </p:cNvCxnSpPr>
          <p:nvPr/>
        </p:nvCxnSpPr>
        <p:spPr bwMode="auto">
          <a:xfrm flipV="1">
            <a:off x="7632511" y="1611824"/>
            <a:ext cx="891557" cy="139484"/>
          </a:xfrm>
          <a:prstGeom prst="line">
            <a:avLst/>
          </a:prstGeom>
          <a:noFill/>
          <a:ln w="15875" cap="flat" cmpd="sng" algn="ctr">
            <a:solidFill>
              <a:schemeClr val="accent4"/>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59029919-428B-E1F4-477F-C7714F67576C}"/>
              </a:ext>
            </a:extLst>
          </p:cNvPr>
          <p:cNvCxnSpPr>
            <a:cxnSpLocks/>
          </p:cNvCxnSpPr>
          <p:nvPr/>
        </p:nvCxnSpPr>
        <p:spPr bwMode="auto">
          <a:xfrm flipV="1">
            <a:off x="7632511" y="1751308"/>
            <a:ext cx="891557" cy="588936"/>
          </a:xfrm>
          <a:prstGeom prst="line">
            <a:avLst/>
          </a:prstGeom>
          <a:noFill/>
          <a:ln w="15875" cap="flat" cmpd="sng" algn="ctr">
            <a:solidFill>
              <a:schemeClr val="accent4"/>
            </a:solidFill>
            <a:prstDash val="solid"/>
            <a:round/>
            <a:headEnd type="none" w="med" len="med"/>
            <a:tailEnd type="none" w="med" len="med"/>
          </a:ln>
          <a:effectLst/>
        </p:spPr>
      </p:cxnSp>
      <p:pic>
        <p:nvPicPr>
          <p:cNvPr id="26" name="Picture 25">
            <a:extLst>
              <a:ext uri="{FF2B5EF4-FFF2-40B4-BE49-F238E27FC236}">
                <a16:creationId xmlns:a16="http://schemas.microsoft.com/office/drawing/2014/main" id="{ACC83036-462A-A1F7-AF96-583E63C9E3BF}"/>
              </a:ext>
            </a:extLst>
          </p:cNvPr>
          <p:cNvPicPr>
            <a:picLocks noChangeAspect="1"/>
          </p:cNvPicPr>
          <p:nvPr/>
        </p:nvPicPr>
        <p:blipFill>
          <a:blip r:embed="rId4"/>
          <a:stretch>
            <a:fillRect/>
          </a:stretch>
        </p:blipFill>
        <p:spPr>
          <a:xfrm>
            <a:off x="3421788" y="1883848"/>
            <a:ext cx="1587500" cy="368300"/>
          </a:xfrm>
          <a:prstGeom prst="rect">
            <a:avLst/>
          </a:prstGeom>
        </p:spPr>
      </p:pic>
      <p:sp>
        <p:nvSpPr>
          <p:cNvPr id="27" name="TextBox 26">
            <a:extLst>
              <a:ext uri="{FF2B5EF4-FFF2-40B4-BE49-F238E27FC236}">
                <a16:creationId xmlns:a16="http://schemas.microsoft.com/office/drawing/2014/main" id="{A0CEE6E7-1B1D-1F3D-7B5D-6A9E68E54210}"/>
              </a:ext>
            </a:extLst>
          </p:cNvPr>
          <p:cNvSpPr txBox="1"/>
          <p:nvPr/>
        </p:nvSpPr>
        <p:spPr>
          <a:xfrm>
            <a:off x="960503" y="1861110"/>
            <a:ext cx="1149674" cy="369332"/>
          </a:xfrm>
          <a:prstGeom prst="rect">
            <a:avLst/>
          </a:prstGeom>
          <a:noFill/>
        </p:spPr>
        <p:txBody>
          <a:bodyPr wrap="none" rtlCol="0" anchor="ctr" anchorCtr="1">
            <a:spAutoFit/>
          </a:bodyPr>
          <a:lstStyle/>
          <a:p>
            <a:r>
              <a:rPr lang="en-US" dirty="0">
                <a:latin typeface="Andale Mono" panose="020B0509000000000004" pitchFamily="49" charset="0"/>
                <a:ea typeface="標楷體" pitchFamily="65" charset="-120"/>
                <a:cs typeface="Calibri" pitchFamily="34" charset="0"/>
              </a:rPr>
              <a:t>Request</a:t>
            </a:r>
          </a:p>
        </p:txBody>
      </p:sp>
      <p:sp>
        <p:nvSpPr>
          <p:cNvPr id="28" name="Rounded Rectangle 27">
            <a:extLst>
              <a:ext uri="{FF2B5EF4-FFF2-40B4-BE49-F238E27FC236}">
                <a16:creationId xmlns:a16="http://schemas.microsoft.com/office/drawing/2014/main" id="{EA34AD84-98EC-4EAC-683A-A84C68A7A8E6}"/>
              </a:ext>
            </a:extLst>
          </p:cNvPr>
          <p:cNvSpPr/>
          <p:nvPr/>
        </p:nvSpPr>
        <p:spPr bwMode="auto">
          <a:xfrm>
            <a:off x="697424" y="3022020"/>
            <a:ext cx="2579176" cy="588936"/>
          </a:xfrm>
          <a:prstGeom prst="roundRect">
            <a:avLst/>
          </a:prstGeom>
          <a:noFill/>
          <a:ln w="15875" cap="flat" cmpd="sng" algn="ctr">
            <a:solidFill>
              <a:schemeClr val="accent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9" name="TextBox 28">
            <a:extLst>
              <a:ext uri="{FF2B5EF4-FFF2-40B4-BE49-F238E27FC236}">
                <a16:creationId xmlns:a16="http://schemas.microsoft.com/office/drawing/2014/main" id="{59991804-F300-7864-13F6-EFDCF50D1B2E}"/>
              </a:ext>
            </a:extLst>
          </p:cNvPr>
          <p:cNvSpPr txBox="1"/>
          <p:nvPr/>
        </p:nvSpPr>
        <p:spPr>
          <a:xfrm>
            <a:off x="721773" y="3131822"/>
            <a:ext cx="1149674" cy="369332"/>
          </a:xfrm>
          <a:prstGeom prst="rect">
            <a:avLst/>
          </a:prstGeom>
          <a:noFill/>
        </p:spPr>
        <p:txBody>
          <a:bodyPr wrap="none" rtlCol="0" anchor="ctr" anchorCtr="1">
            <a:spAutoFit/>
          </a:bodyPr>
          <a:lstStyle/>
          <a:p>
            <a:r>
              <a:rPr lang="en-US" dirty="0">
                <a:latin typeface="Andale Mono" panose="020B0509000000000004" pitchFamily="49" charset="0"/>
                <a:ea typeface="標楷體" pitchFamily="65" charset="-120"/>
                <a:cs typeface="Calibri" pitchFamily="34" charset="0"/>
              </a:rPr>
              <a:t>Prefill</a:t>
            </a:r>
          </a:p>
        </p:txBody>
      </p:sp>
      <p:pic>
        <p:nvPicPr>
          <p:cNvPr id="30" name="Picture 29">
            <a:extLst>
              <a:ext uri="{FF2B5EF4-FFF2-40B4-BE49-F238E27FC236}">
                <a16:creationId xmlns:a16="http://schemas.microsoft.com/office/drawing/2014/main" id="{A0B876FC-FFC3-2BAD-8C23-02A8B648C94C}"/>
              </a:ext>
            </a:extLst>
          </p:cNvPr>
          <p:cNvPicPr>
            <a:picLocks noChangeAspect="1"/>
          </p:cNvPicPr>
          <p:nvPr/>
        </p:nvPicPr>
        <p:blipFill>
          <a:blip r:embed="rId5"/>
          <a:stretch>
            <a:fillRect/>
          </a:stretch>
        </p:blipFill>
        <p:spPr>
          <a:xfrm>
            <a:off x="2459575" y="3145038"/>
            <a:ext cx="330200" cy="342900"/>
          </a:xfrm>
          <a:prstGeom prst="rect">
            <a:avLst/>
          </a:prstGeom>
        </p:spPr>
      </p:pic>
      <p:cxnSp>
        <p:nvCxnSpPr>
          <p:cNvPr id="31" name="Straight Connector 30">
            <a:extLst>
              <a:ext uri="{FF2B5EF4-FFF2-40B4-BE49-F238E27FC236}">
                <a16:creationId xmlns:a16="http://schemas.microsoft.com/office/drawing/2014/main" id="{F8FBBBCF-0A4C-17D8-691C-9079FDC5E12D}"/>
              </a:ext>
            </a:extLst>
          </p:cNvPr>
          <p:cNvCxnSpPr>
            <a:cxnSpLocks/>
            <a:stCxn id="28" idx="0"/>
          </p:cNvCxnSpPr>
          <p:nvPr/>
        </p:nvCxnSpPr>
        <p:spPr bwMode="auto">
          <a:xfrm flipV="1">
            <a:off x="1987012" y="2154621"/>
            <a:ext cx="1628547" cy="867399"/>
          </a:xfrm>
          <a:prstGeom prst="line">
            <a:avLst/>
          </a:prstGeom>
          <a:noFill/>
          <a:ln w="15875" cap="flat" cmpd="sng" algn="ctr">
            <a:solidFill>
              <a:schemeClr val="accent4"/>
            </a:solidFill>
            <a:prstDash val="solid"/>
            <a:round/>
            <a:headEnd type="none" w="med" len="med"/>
            <a:tailEnd type="none" w="med" len="med"/>
          </a:ln>
          <a:effectLst/>
        </p:spPr>
      </p:cxnSp>
      <p:sp>
        <p:nvSpPr>
          <p:cNvPr id="35" name="Rounded Rectangle 34">
            <a:extLst>
              <a:ext uri="{FF2B5EF4-FFF2-40B4-BE49-F238E27FC236}">
                <a16:creationId xmlns:a16="http://schemas.microsoft.com/office/drawing/2014/main" id="{B39FF480-C3A9-FECB-C6E3-CFB270AC5E6E}"/>
              </a:ext>
            </a:extLst>
          </p:cNvPr>
          <p:cNvSpPr/>
          <p:nvPr/>
        </p:nvSpPr>
        <p:spPr bwMode="auto">
          <a:xfrm>
            <a:off x="5142510" y="3022020"/>
            <a:ext cx="2579176" cy="588936"/>
          </a:xfrm>
          <a:prstGeom prst="roundRect">
            <a:avLst/>
          </a:prstGeom>
          <a:noFill/>
          <a:ln w="15875" cap="flat" cmpd="sng" algn="ctr">
            <a:solidFill>
              <a:schemeClr val="accent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6" name="TextBox 35">
            <a:extLst>
              <a:ext uri="{FF2B5EF4-FFF2-40B4-BE49-F238E27FC236}">
                <a16:creationId xmlns:a16="http://schemas.microsoft.com/office/drawing/2014/main" id="{E8FE4BAE-18EB-27DE-62CA-0835A4A69325}"/>
              </a:ext>
            </a:extLst>
          </p:cNvPr>
          <p:cNvSpPr txBox="1"/>
          <p:nvPr/>
        </p:nvSpPr>
        <p:spPr>
          <a:xfrm>
            <a:off x="5224354" y="3131822"/>
            <a:ext cx="1011815" cy="369332"/>
          </a:xfrm>
          <a:prstGeom prst="rect">
            <a:avLst/>
          </a:prstGeom>
          <a:noFill/>
        </p:spPr>
        <p:txBody>
          <a:bodyPr wrap="none" rtlCol="0" anchor="ctr" anchorCtr="1">
            <a:spAutoFit/>
          </a:bodyPr>
          <a:lstStyle/>
          <a:p>
            <a:r>
              <a:rPr lang="en-US" dirty="0">
                <a:latin typeface="Andale Mono" panose="020B0509000000000004" pitchFamily="49" charset="0"/>
                <a:ea typeface="標楷體" pitchFamily="65" charset="-120"/>
                <a:cs typeface="Calibri" pitchFamily="34" charset="0"/>
              </a:rPr>
              <a:t>Decode</a:t>
            </a:r>
          </a:p>
        </p:txBody>
      </p:sp>
      <p:pic>
        <p:nvPicPr>
          <p:cNvPr id="37" name="Picture 36">
            <a:extLst>
              <a:ext uri="{FF2B5EF4-FFF2-40B4-BE49-F238E27FC236}">
                <a16:creationId xmlns:a16="http://schemas.microsoft.com/office/drawing/2014/main" id="{77528138-22AA-19CC-2288-830FCA025009}"/>
              </a:ext>
            </a:extLst>
          </p:cNvPr>
          <p:cNvPicPr>
            <a:picLocks noChangeAspect="1"/>
          </p:cNvPicPr>
          <p:nvPr/>
        </p:nvPicPr>
        <p:blipFill>
          <a:blip r:embed="rId6"/>
          <a:stretch>
            <a:fillRect/>
          </a:stretch>
        </p:blipFill>
        <p:spPr>
          <a:xfrm>
            <a:off x="6432098" y="3164088"/>
            <a:ext cx="1219200" cy="304800"/>
          </a:xfrm>
          <a:prstGeom prst="rect">
            <a:avLst/>
          </a:prstGeom>
        </p:spPr>
      </p:pic>
      <p:cxnSp>
        <p:nvCxnSpPr>
          <p:cNvPr id="38" name="Straight Connector 37">
            <a:extLst>
              <a:ext uri="{FF2B5EF4-FFF2-40B4-BE49-F238E27FC236}">
                <a16:creationId xmlns:a16="http://schemas.microsoft.com/office/drawing/2014/main" id="{04A69A36-D0EF-AF3A-314A-01AE7B9262DB}"/>
              </a:ext>
            </a:extLst>
          </p:cNvPr>
          <p:cNvCxnSpPr>
            <a:cxnSpLocks/>
            <a:stCxn id="35" idx="0"/>
          </p:cNvCxnSpPr>
          <p:nvPr/>
        </p:nvCxnSpPr>
        <p:spPr bwMode="auto">
          <a:xfrm flipH="1" flipV="1">
            <a:off x="4369159" y="2154621"/>
            <a:ext cx="2062939" cy="867399"/>
          </a:xfrm>
          <a:prstGeom prst="line">
            <a:avLst/>
          </a:prstGeom>
          <a:noFill/>
          <a:ln w="15875" cap="flat" cmpd="sng" algn="ctr">
            <a:solidFill>
              <a:schemeClr val="accent4"/>
            </a:solidFill>
            <a:prstDash val="solid"/>
            <a:round/>
            <a:headEnd type="none" w="med" len="med"/>
            <a:tailEnd type="none" w="med" len="med"/>
          </a:ln>
          <a:effectLst/>
        </p:spPr>
      </p:cxnSp>
      <p:sp>
        <p:nvSpPr>
          <p:cNvPr id="41" name="Rounded Rectangle 40">
            <a:extLst>
              <a:ext uri="{FF2B5EF4-FFF2-40B4-BE49-F238E27FC236}">
                <a16:creationId xmlns:a16="http://schemas.microsoft.com/office/drawing/2014/main" id="{612A69C9-4AF5-BD62-CF2F-58722E9DE1AF}"/>
              </a:ext>
            </a:extLst>
          </p:cNvPr>
          <p:cNvSpPr/>
          <p:nvPr/>
        </p:nvSpPr>
        <p:spPr bwMode="auto">
          <a:xfrm>
            <a:off x="2551544" y="4183042"/>
            <a:ext cx="3544456" cy="588936"/>
          </a:xfrm>
          <a:prstGeom prst="roundRect">
            <a:avLst/>
          </a:prstGeom>
          <a:noFill/>
          <a:ln w="15875" cap="flat" cmpd="sng" algn="ctr">
            <a:solidFill>
              <a:schemeClr val="accent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3" name="TextBox 42">
            <a:extLst>
              <a:ext uri="{FF2B5EF4-FFF2-40B4-BE49-F238E27FC236}">
                <a16:creationId xmlns:a16="http://schemas.microsoft.com/office/drawing/2014/main" id="{77AB4B4B-2ADD-7CD2-0822-8064F14A0D34}"/>
              </a:ext>
            </a:extLst>
          </p:cNvPr>
          <p:cNvSpPr txBox="1"/>
          <p:nvPr/>
        </p:nvSpPr>
        <p:spPr>
          <a:xfrm>
            <a:off x="2508211" y="4271138"/>
            <a:ext cx="3631122" cy="369332"/>
          </a:xfrm>
          <a:prstGeom prst="rect">
            <a:avLst/>
          </a:prstGeom>
          <a:noFill/>
        </p:spPr>
        <p:txBody>
          <a:bodyPr wrap="none" rtlCol="0" anchor="ctr" anchorCtr="1">
            <a:spAutoFit/>
          </a:bodyPr>
          <a:lstStyle/>
          <a:p>
            <a:r>
              <a:rPr lang="en-US" dirty="0">
                <a:latin typeface="Andale Mono" panose="020B0509000000000004" pitchFamily="49" charset="0"/>
                <a:ea typeface="標楷體" pitchFamily="65" charset="-120"/>
                <a:cs typeface="Calibri" pitchFamily="34" charset="0"/>
              </a:rPr>
              <a:t>Micro Request Abstraction</a:t>
            </a:r>
          </a:p>
        </p:txBody>
      </p:sp>
      <p:cxnSp>
        <p:nvCxnSpPr>
          <p:cNvPr id="45" name="Straight Arrow Connector 44">
            <a:extLst>
              <a:ext uri="{FF2B5EF4-FFF2-40B4-BE49-F238E27FC236}">
                <a16:creationId xmlns:a16="http://schemas.microsoft.com/office/drawing/2014/main" id="{61547C84-6A6E-DF94-3FA7-34B3069B6D40}"/>
              </a:ext>
            </a:extLst>
          </p:cNvPr>
          <p:cNvCxnSpPr>
            <a:stCxn id="28" idx="2"/>
            <a:endCxn id="41" idx="0"/>
          </p:cNvCxnSpPr>
          <p:nvPr/>
        </p:nvCxnSpPr>
        <p:spPr bwMode="auto">
          <a:xfrm>
            <a:off x="1987012" y="3610956"/>
            <a:ext cx="2336760" cy="572086"/>
          </a:xfrm>
          <a:prstGeom prst="straightConnector1">
            <a:avLst/>
          </a:prstGeom>
          <a:noFill/>
          <a:ln w="15875" cap="flat" cmpd="sng" algn="ctr">
            <a:solidFill>
              <a:schemeClr val="accent4"/>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D4D4A7AF-D341-6808-6B44-1D6DAAD9256E}"/>
              </a:ext>
            </a:extLst>
          </p:cNvPr>
          <p:cNvCxnSpPr>
            <a:cxnSpLocks/>
            <a:stCxn id="35" idx="2"/>
            <a:endCxn id="41" idx="0"/>
          </p:cNvCxnSpPr>
          <p:nvPr/>
        </p:nvCxnSpPr>
        <p:spPr bwMode="auto">
          <a:xfrm flipH="1">
            <a:off x="4323772" y="3610956"/>
            <a:ext cx="2108326" cy="572086"/>
          </a:xfrm>
          <a:prstGeom prst="straightConnector1">
            <a:avLst/>
          </a:prstGeom>
          <a:noFill/>
          <a:ln w="15875" cap="flat" cmpd="sng" algn="ctr">
            <a:solidFill>
              <a:schemeClr val="accent4"/>
            </a:solidFill>
            <a:prstDash val="solid"/>
            <a:round/>
            <a:headEnd type="none" w="med" len="med"/>
            <a:tailEnd type="triangle"/>
          </a:ln>
          <a:effectLst/>
        </p:spPr>
      </p:cxnSp>
      <p:sp>
        <p:nvSpPr>
          <p:cNvPr id="49" name="Rounded Rectangle 48">
            <a:extLst>
              <a:ext uri="{FF2B5EF4-FFF2-40B4-BE49-F238E27FC236}">
                <a16:creationId xmlns:a16="http://schemas.microsoft.com/office/drawing/2014/main" id="{3B02BFAF-36EF-C459-C76F-24FD33FC0AD8}"/>
              </a:ext>
            </a:extLst>
          </p:cNvPr>
          <p:cNvSpPr/>
          <p:nvPr/>
        </p:nvSpPr>
        <p:spPr bwMode="auto">
          <a:xfrm>
            <a:off x="697423" y="5281059"/>
            <a:ext cx="7210097" cy="588936"/>
          </a:xfrm>
          <a:prstGeom prst="roundRect">
            <a:avLst/>
          </a:prstGeom>
          <a:noFill/>
          <a:ln w="15875" cap="flat" cmpd="sng" algn="ctr">
            <a:solidFill>
              <a:schemeClr val="accent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1" name="TextBox 50">
            <a:extLst>
              <a:ext uri="{FF2B5EF4-FFF2-40B4-BE49-F238E27FC236}">
                <a16:creationId xmlns:a16="http://schemas.microsoft.com/office/drawing/2014/main" id="{68C1C096-CB0D-AD92-4285-3B2D8FD34FD6}"/>
              </a:ext>
            </a:extLst>
          </p:cNvPr>
          <p:cNvSpPr txBox="1"/>
          <p:nvPr/>
        </p:nvSpPr>
        <p:spPr>
          <a:xfrm>
            <a:off x="697423" y="5390861"/>
            <a:ext cx="2941831" cy="369332"/>
          </a:xfrm>
          <a:prstGeom prst="rect">
            <a:avLst/>
          </a:prstGeom>
          <a:noFill/>
        </p:spPr>
        <p:txBody>
          <a:bodyPr wrap="none" rtlCol="0" anchor="ctr" anchorCtr="1">
            <a:spAutoFit/>
          </a:bodyPr>
          <a:lstStyle/>
          <a:p>
            <a:r>
              <a:rPr lang="en-US" dirty="0">
                <a:latin typeface="Andale Mono" panose="020B0509000000000004" pitchFamily="49" charset="0"/>
                <a:ea typeface="標楷體" pitchFamily="65" charset="-120"/>
                <a:cs typeface="Calibri" pitchFamily="34" charset="0"/>
              </a:rPr>
              <a:t>Unified Working load</a:t>
            </a:r>
          </a:p>
        </p:txBody>
      </p:sp>
      <p:cxnSp>
        <p:nvCxnSpPr>
          <p:cNvPr id="52" name="Straight Arrow Connector 51">
            <a:extLst>
              <a:ext uri="{FF2B5EF4-FFF2-40B4-BE49-F238E27FC236}">
                <a16:creationId xmlns:a16="http://schemas.microsoft.com/office/drawing/2014/main" id="{C030D9D6-118F-01B4-8D2F-B04C310C0849}"/>
              </a:ext>
            </a:extLst>
          </p:cNvPr>
          <p:cNvCxnSpPr>
            <a:cxnSpLocks/>
            <a:endCxn id="49" idx="0"/>
          </p:cNvCxnSpPr>
          <p:nvPr/>
        </p:nvCxnSpPr>
        <p:spPr bwMode="auto">
          <a:xfrm>
            <a:off x="4302472" y="4771978"/>
            <a:ext cx="0" cy="509081"/>
          </a:xfrm>
          <a:prstGeom prst="straightConnector1">
            <a:avLst/>
          </a:prstGeom>
          <a:noFill/>
          <a:ln w="15875" cap="flat" cmpd="sng" algn="ctr">
            <a:solidFill>
              <a:schemeClr val="accent4"/>
            </a:solidFill>
            <a:prstDash val="solid"/>
            <a:round/>
            <a:headEnd type="none" w="med" len="med"/>
            <a:tailEnd type="triangle"/>
          </a:ln>
          <a:effectLst/>
        </p:spPr>
      </p:cxnSp>
      <p:pic>
        <p:nvPicPr>
          <p:cNvPr id="10" name="Picture 9">
            <a:extLst>
              <a:ext uri="{FF2B5EF4-FFF2-40B4-BE49-F238E27FC236}">
                <a16:creationId xmlns:a16="http://schemas.microsoft.com/office/drawing/2014/main" id="{962B510B-BACB-A05D-01AF-4C3499DFF935}"/>
              </a:ext>
            </a:extLst>
          </p:cNvPr>
          <p:cNvPicPr>
            <a:picLocks noChangeAspect="1"/>
          </p:cNvPicPr>
          <p:nvPr/>
        </p:nvPicPr>
        <p:blipFill>
          <a:blip r:embed="rId7"/>
          <a:stretch>
            <a:fillRect/>
          </a:stretch>
        </p:blipFill>
        <p:spPr>
          <a:xfrm>
            <a:off x="3774068" y="5396315"/>
            <a:ext cx="2193236" cy="371163"/>
          </a:xfrm>
          <a:prstGeom prst="rect">
            <a:avLst/>
          </a:prstGeom>
        </p:spPr>
      </p:pic>
    </p:spTree>
    <p:extLst>
      <p:ext uri="{BB962C8B-B14F-4D97-AF65-F5344CB8AC3E}">
        <p14:creationId xmlns:p14="http://schemas.microsoft.com/office/powerpoint/2010/main" val="465576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5" grpId="0" animBg="1"/>
      <p:bldP spid="27" grpId="0"/>
      <p:bldP spid="28" grpId="0" animBg="1"/>
      <p:bldP spid="29" grpId="0"/>
      <p:bldP spid="35" grpId="0" animBg="1"/>
      <p:bldP spid="36" grpId="0"/>
      <p:bldP spid="41" grpId="0" animBg="1"/>
      <p:bldP spid="43" grpId="0"/>
      <p:bldP spid="49" grpId="0" animBg="1"/>
      <p:bldP spid="5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50CA2-4154-382D-998C-8AC226372C7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B16E7D4-02F7-EC7C-4F16-4BC6C04873BE}"/>
              </a:ext>
            </a:extLst>
          </p:cNvPr>
          <p:cNvSpPr>
            <a:spLocks noGrp="1"/>
          </p:cNvSpPr>
          <p:nvPr>
            <p:ph type="title"/>
          </p:nvPr>
        </p:nvSpPr>
        <p:spPr>
          <a:xfrm>
            <a:off x="1296610" y="144466"/>
            <a:ext cx="10270977" cy="692151"/>
          </a:xfrm>
        </p:spPr>
        <p:txBody>
          <a:bodyPr/>
          <a:lstStyle/>
          <a:p>
            <a:r>
              <a:rPr lang="en-US" altLang="zh-CN" dirty="0" err="1">
                <a:cs typeface="Calibri" panose="020F0502020204030204" pitchFamily="34" charset="0"/>
              </a:rPr>
              <a:t>NynaServe</a:t>
            </a:r>
            <a:r>
              <a:rPr lang="en-US" altLang="zh-CN" dirty="0">
                <a:cs typeface="Calibri" panose="020F0502020204030204" pitchFamily="34" charset="0"/>
              </a:rPr>
              <a:t> – Workflow</a:t>
            </a:r>
            <a:r>
              <a:rPr lang="zh-CN" altLang="en-US" dirty="0">
                <a:cs typeface="Calibri" panose="020F0502020204030204" pitchFamily="34" charset="0"/>
              </a:rPr>
              <a:t> </a:t>
            </a:r>
            <a:r>
              <a:rPr lang="en-US" altLang="zh-CN" dirty="0">
                <a:cs typeface="Calibri" panose="020F0502020204030204" pitchFamily="34" charset="0"/>
              </a:rPr>
              <a:t>(</a:t>
            </a:r>
            <a:r>
              <a:rPr lang="en-US" altLang="zh-CN" dirty="0"/>
              <a:t>4/5)</a:t>
            </a:r>
            <a:endParaRPr lang="zh-TW" altLang="en-US" dirty="0">
              <a:cs typeface="Calibri" panose="020F0502020204030204" pitchFamily="34" charset="0"/>
            </a:endParaRPr>
          </a:p>
        </p:txBody>
      </p:sp>
      <p:sp>
        <p:nvSpPr>
          <p:cNvPr id="5" name="灯片编号占位符 1">
            <a:extLst>
              <a:ext uri="{FF2B5EF4-FFF2-40B4-BE49-F238E27FC236}">
                <a16:creationId xmlns:a16="http://schemas.microsoft.com/office/drawing/2014/main" id="{0F8864BC-81E9-F2EE-521B-2C7EFD24192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18</a:t>
            </a:fld>
            <a:endParaRPr lang="zh-TW" altLang="en-US"/>
          </a:p>
        </p:txBody>
      </p:sp>
      <p:grpSp>
        <p:nvGrpSpPr>
          <p:cNvPr id="3" name="组合 2">
            <a:extLst>
              <a:ext uri="{FF2B5EF4-FFF2-40B4-BE49-F238E27FC236}">
                <a16:creationId xmlns:a16="http://schemas.microsoft.com/office/drawing/2014/main" id="{4EB23622-591C-5682-F72D-9E1F1664E7A4}"/>
              </a:ext>
            </a:extLst>
          </p:cNvPr>
          <p:cNvGrpSpPr/>
          <p:nvPr/>
        </p:nvGrpSpPr>
        <p:grpSpPr>
          <a:xfrm>
            <a:off x="8321782" y="1198178"/>
            <a:ext cx="3778690" cy="3171340"/>
            <a:chOff x="8321782" y="1198178"/>
            <a:chExt cx="3778690" cy="3171340"/>
          </a:xfrm>
        </p:grpSpPr>
        <p:pic>
          <p:nvPicPr>
            <p:cNvPr id="12" name="Picture 11">
              <a:extLst>
                <a:ext uri="{FF2B5EF4-FFF2-40B4-BE49-F238E27FC236}">
                  <a16:creationId xmlns:a16="http://schemas.microsoft.com/office/drawing/2014/main" id="{0CA4E188-B245-23B6-0C94-EA33394ABF81}"/>
                </a:ext>
              </a:extLst>
            </p:cNvPr>
            <p:cNvPicPr>
              <a:picLocks noChangeAspect="1"/>
            </p:cNvPicPr>
            <p:nvPr/>
          </p:nvPicPr>
          <p:blipFill>
            <a:blip r:embed="rId3"/>
            <a:stretch>
              <a:fillRect/>
            </a:stretch>
          </p:blipFill>
          <p:spPr>
            <a:xfrm>
              <a:off x="8321782" y="1198178"/>
              <a:ext cx="3778690" cy="2820057"/>
            </a:xfrm>
            <a:prstGeom prst="rect">
              <a:avLst/>
            </a:prstGeom>
          </p:spPr>
        </p:pic>
        <p:sp>
          <p:nvSpPr>
            <p:cNvPr id="13" name="TextBox 12">
              <a:extLst>
                <a:ext uri="{FF2B5EF4-FFF2-40B4-BE49-F238E27FC236}">
                  <a16:creationId xmlns:a16="http://schemas.microsoft.com/office/drawing/2014/main" id="{A2DD8A71-E7ED-CB2A-D5B8-3514FFBCFECB}"/>
                </a:ext>
              </a:extLst>
            </p:cNvPr>
            <p:cNvSpPr txBox="1"/>
            <p:nvPr/>
          </p:nvSpPr>
          <p:spPr>
            <a:xfrm>
              <a:off x="8980116" y="4061741"/>
              <a:ext cx="2462021"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11. </a:t>
              </a:r>
              <a:r>
                <a:rPr lang="en-US" sz="1400" dirty="0" err="1">
                  <a:latin typeface="Times New Roman" panose="02020603050405020304" pitchFamily="18" charset="0"/>
                  <a:ea typeface="標楷體" pitchFamily="65" charset="-120"/>
                  <a:cs typeface="Times New Roman" panose="02020603050405020304" pitchFamily="18" charset="0"/>
                </a:rPr>
                <a:t>NynaServe</a:t>
              </a:r>
              <a:r>
                <a:rPr lang="en-US" sz="1400" dirty="0">
                  <a:latin typeface="Times New Roman" panose="02020603050405020304" pitchFamily="18" charset="0"/>
                  <a:ea typeface="標楷體" pitchFamily="65" charset="-120"/>
                  <a:cs typeface="Times New Roman" panose="02020603050405020304" pitchFamily="18" charset="0"/>
                </a:rPr>
                <a:t> Architecture</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grpSp>
      <p:sp>
        <p:nvSpPr>
          <p:cNvPr id="14" name="Content Placeholder 5">
            <a:extLst>
              <a:ext uri="{FF2B5EF4-FFF2-40B4-BE49-F238E27FC236}">
                <a16:creationId xmlns:a16="http://schemas.microsoft.com/office/drawing/2014/main" id="{F02742AE-23B4-8589-9F25-86EEA39DA869}"/>
              </a:ext>
            </a:extLst>
          </p:cNvPr>
          <p:cNvSpPr>
            <a:spLocks noGrp="1"/>
          </p:cNvSpPr>
          <p:nvPr>
            <p:ph idx="1"/>
          </p:nvPr>
        </p:nvSpPr>
        <p:spPr>
          <a:xfrm>
            <a:off x="-62471" y="1025450"/>
            <a:ext cx="8510435" cy="4895851"/>
          </a:xfrm>
        </p:spPr>
        <p:txBody>
          <a:bodyPr/>
          <a:lstStyle/>
          <a:p>
            <a:pPr lvl="1">
              <a:buClr>
                <a:schemeClr val="accent4"/>
              </a:buClr>
              <a:buFont typeface="Wingdings" pitchFamily="2" charset="2"/>
              <a:buChar char="Ø"/>
            </a:pPr>
            <a:r>
              <a:rPr lang="en-US" altLang="zh-CN" sz="2200" i="1" u="sng" dirty="0">
                <a:solidFill>
                  <a:schemeClr val="accent4"/>
                </a:solidFill>
                <a:latin typeface="Times New Roman" panose="02020603050405020304" pitchFamily="18" charset="0"/>
                <a:cs typeface="Times New Roman" panose="02020603050405020304" pitchFamily="18" charset="0"/>
              </a:rPr>
              <a:t>Design 1</a:t>
            </a:r>
            <a:r>
              <a:rPr lang="en-US" altLang="zh-CN" sz="2200" dirty="0">
                <a:solidFill>
                  <a:schemeClr val="accent4"/>
                </a:solidFill>
                <a:latin typeface="Times New Roman" panose="02020603050405020304" pitchFamily="18" charset="0"/>
                <a:cs typeface="Times New Roman" panose="02020603050405020304" pitchFamily="18" charset="0"/>
              </a:rPr>
              <a:t>: </a:t>
            </a:r>
            <a:r>
              <a:rPr lang="en-US" altLang="zh-CN" sz="2200" b="1" dirty="0">
                <a:latin typeface="+mn-lt"/>
                <a:cs typeface="Times New Roman" panose="02020603050405020304" pitchFamily="18" charset="0"/>
              </a:rPr>
              <a:t>Global scheduler </a:t>
            </a:r>
            <a:r>
              <a:rPr lang="en-US" altLang="zh-CN" sz="2200" dirty="0">
                <a:latin typeface="+mn-lt"/>
                <a:cs typeface="Times New Roman" panose="02020603050405020304" pitchFamily="18" charset="0"/>
              </a:rPr>
              <a:t>handles all serving requests (</a:t>
            </a:r>
            <a:r>
              <a:rPr lang="en-US" altLang="zh-CN" sz="2200" dirty="0">
                <a:solidFill>
                  <a:schemeClr val="accent5"/>
                </a:solidFill>
                <a:latin typeface="+mn-lt"/>
                <a:cs typeface="Times New Roman" panose="02020603050405020304" pitchFamily="18" charset="0"/>
              </a:rPr>
              <a:t>①</a:t>
            </a:r>
            <a:r>
              <a:rPr lang="en-US" altLang="zh-CN" sz="2200" dirty="0">
                <a:latin typeface="+mn-lt"/>
                <a:cs typeface="Times New Roman" panose="02020603050405020304" pitchFamily="18" charset="0"/>
              </a:rPr>
              <a:t>). </a:t>
            </a:r>
          </a:p>
          <a:p>
            <a:pPr lvl="2">
              <a:buClr>
                <a:schemeClr val="accent4"/>
              </a:buClr>
              <a:buFont typeface="Wingdings" pitchFamily="2" charset="2"/>
              <a:buChar char="v"/>
            </a:pPr>
            <a:r>
              <a:rPr lang="en-US" altLang="zh-CN" sz="2000" dirty="0">
                <a:latin typeface="+mn-lt"/>
                <a:cs typeface="Times New Roman" panose="02020603050405020304" pitchFamily="18" charset="0"/>
              </a:rPr>
              <a:t>First, the scheduler</a:t>
            </a:r>
            <a:r>
              <a:rPr lang="en-US" sz="2000" dirty="0"/>
              <a:t> </a:t>
            </a:r>
            <a:r>
              <a:rPr lang="en-US" sz="2000" dirty="0">
                <a:solidFill>
                  <a:schemeClr val="accent3"/>
                </a:solidFill>
                <a:latin typeface="+mn-lt"/>
              </a:rPr>
              <a:t>determines</a:t>
            </a:r>
            <a:r>
              <a:rPr lang="en-US" sz="2000" dirty="0">
                <a:latin typeface="+mn-lt"/>
              </a:rPr>
              <a:t> the predicted optimal </a:t>
            </a:r>
            <a:r>
              <a:rPr lang="en-US" sz="2000" dirty="0">
                <a:solidFill>
                  <a:schemeClr val="accent3"/>
                </a:solidFill>
                <a:latin typeface="+mn-lt"/>
              </a:rPr>
              <a:t>splitting point </a:t>
            </a:r>
            <a:r>
              <a:rPr lang="en-US" sz="2000" dirty="0">
                <a:latin typeface="+mn-lt"/>
              </a:rPr>
              <a:t>of each request (</a:t>
            </a:r>
            <a:r>
              <a:rPr lang="en-US" sz="2000" dirty="0">
                <a:solidFill>
                  <a:schemeClr val="accent5"/>
                </a:solidFill>
                <a:latin typeface="+mn-lt"/>
              </a:rPr>
              <a:t>②~④</a:t>
            </a:r>
            <a:r>
              <a:rPr lang="en-US" sz="2000" dirty="0">
                <a:latin typeface="+mn-lt"/>
              </a:rPr>
              <a:t>). </a:t>
            </a:r>
          </a:p>
          <a:p>
            <a:pPr lvl="2">
              <a:buClr>
                <a:schemeClr val="accent4"/>
              </a:buClr>
              <a:buFont typeface="Wingdings" pitchFamily="2" charset="2"/>
              <a:buChar char="v"/>
            </a:pPr>
            <a:r>
              <a:rPr lang="en-US" sz="2000" dirty="0">
                <a:latin typeface="+mn-lt"/>
              </a:rPr>
              <a:t>Second, the scheduler </a:t>
            </a:r>
            <a:r>
              <a:rPr lang="en-US" sz="2000" dirty="0">
                <a:solidFill>
                  <a:schemeClr val="bg2">
                    <a:lumMod val="50000"/>
                  </a:schemeClr>
                </a:solidFill>
                <a:latin typeface="+mn-lt"/>
              </a:rPr>
              <a:t>routes</a:t>
            </a:r>
            <a:r>
              <a:rPr lang="en-US" sz="2000" dirty="0">
                <a:latin typeface="+mn-lt"/>
              </a:rPr>
              <a:t> the partitioned micro-requests to </a:t>
            </a:r>
            <a:r>
              <a:rPr lang="en-US" sz="2000" dirty="0">
                <a:solidFill>
                  <a:schemeClr val="bg2">
                    <a:lumMod val="50000"/>
                  </a:schemeClr>
                </a:solidFill>
                <a:latin typeface="+mn-lt"/>
              </a:rPr>
              <a:t>executors</a:t>
            </a:r>
            <a:r>
              <a:rPr lang="en-US" sz="2000" dirty="0">
                <a:latin typeface="+mn-lt"/>
              </a:rPr>
              <a:t> (</a:t>
            </a:r>
            <a:r>
              <a:rPr lang="en-US" sz="2000" dirty="0">
                <a:solidFill>
                  <a:schemeClr val="accent5"/>
                </a:solidFill>
                <a:latin typeface="+mn-lt"/>
              </a:rPr>
              <a:t>⑤</a:t>
            </a:r>
            <a:r>
              <a:rPr lang="en-US" sz="2000" dirty="0">
                <a:latin typeface="+mn-lt"/>
              </a:rPr>
              <a:t>). It runs a </a:t>
            </a:r>
            <a:r>
              <a:rPr lang="en-US" sz="2000" dirty="0">
                <a:solidFill>
                  <a:schemeClr val="accent5"/>
                </a:solidFill>
                <a:latin typeface="+mn-lt"/>
              </a:rPr>
              <a:t>lightweight performance predictor</a:t>
            </a:r>
            <a:r>
              <a:rPr lang="en-US" sz="2000" dirty="0">
                <a:latin typeface="+mn-lt"/>
              </a:rPr>
              <a:t>, which collects periodic runtime statistics (</a:t>
            </a:r>
            <a:r>
              <a:rPr lang="en-US" sz="2000" dirty="0">
                <a:solidFill>
                  <a:schemeClr val="accent5"/>
                </a:solidFill>
                <a:latin typeface="+mn-lt"/>
              </a:rPr>
              <a:t>⑧</a:t>
            </a:r>
            <a:r>
              <a:rPr lang="en-US" sz="2000" dirty="0">
                <a:latin typeface="+mn-lt"/>
              </a:rPr>
              <a:t>).</a:t>
            </a:r>
            <a:endParaRPr lang="en-US" sz="1600" dirty="0">
              <a:latin typeface="+mn-lt"/>
            </a:endParaRPr>
          </a:p>
          <a:p>
            <a:pPr lvl="2">
              <a:buClr>
                <a:schemeClr val="accent4"/>
              </a:buClr>
              <a:buFont typeface="Wingdings" pitchFamily="2" charset="2"/>
              <a:buChar char="v"/>
            </a:pPr>
            <a:endParaRPr lang="en-US" sz="1600" dirty="0">
              <a:latin typeface="+mn-lt"/>
            </a:endParaRPr>
          </a:p>
          <a:p>
            <a:pPr lvl="1">
              <a:buClr>
                <a:schemeClr val="accent4"/>
              </a:buClr>
              <a:buFont typeface="Wingdings" pitchFamily="2" charset="2"/>
              <a:buChar char="Ø"/>
            </a:pPr>
            <a:r>
              <a:rPr lang="en-US" sz="2200" i="1" u="sng" dirty="0">
                <a:solidFill>
                  <a:schemeClr val="accent4"/>
                </a:solidFill>
                <a:latin typeface="Times New Roman" panose="02020603050405020304" pitchFamily="18" charset="0"/>
                <a:cs typeface="Times New Roman" panose="02020603050405020304" pitchFamily="18" charset="0"/>
              </a:rPr>
              <a:t>Design 2</a:t>
            </a:r>
            <a:r>
              <a:rPr lang="en-US" sz="2200" dirty="0">
                <a:solidFill>
                  <a:schemeClr val="accent4"/>
                </a:solidFill>
                <a:latin typeface="Times New Roman" panose="02020603050405020304" pitchFamily="18" charset="0"/>
                <a:cs typeface="Times New Roman" panose="02020603050405020304" pitchFamily="18" charset="0"/>
              </a:rPr>
              <a:t>:</a:t>
            </a:r>
            <a:r>
              <a:rPr lang="zh-CN" altLang="en-US" sz="2200" dirty="0">
                <a:solidFill>
                  <a:schemeClr val="accent4"/>
                </a:solidFill>
                <a:latin typeface="Times New Roman" panose="02020603050405020304" pitchFamily="18" charset="0"/>
                <a:cs typeface="Times New Roman" panose="02020603050405020304" pitchFamily="18" charset="0"/>
              </a:rPr>
              <a:t> </a:t>
            </a:r>
            <a:r>
              <a:rPr lang="en-US" altLang="zh-CN" sz="2200" b="1" dirty="0">
                <a:latin typeface="+mn-lt"/>
                <a:cs typeface="Times New Roman" panose="02020603050405020304" pitchFamily="18" charset="0"/>
              </a:rPr>
              <a:t>Unified execution instances </a:t>
            </a:r>
            <a:r>
              <a:rPr lang="en-US" sz="2200" dirty="0">
                <a:latin typeface="+mn-lt"/>
              </a:rPr>
              <a:t>run micro-requests dispatched by the global scheduler on its GPUs.</a:t>
            </a:r>
            <a:endParaRPr lang="en-US" sz="2200" b="1" dirty="0">
              <a:latin typeface="+mn-lt"/>
              <a:cs typeface="Times New Roman" panose="02020603050405020304" pitchFamily="18" charset="0"/>
            </a:endParaRPr>
          </a:p>
          <a:p>
            <a:pPr lvl="2">
              <a:buClr>
                <a:schemeClr val="accent4"/>
              </a:buClr>
              <a:buFont typeface="Wingdings" pitchFamily="2" charset="2"/>
              <a:buChar char="v"/>
            </a:pPr>
            <a:r>
              <a:rPr lang="en-US" sz="2000" dirty="0">
                <a:latin typeface="+mn-lt"/>
              </a:rPr>
              <a:t>Given a set of buffered requests, a local scheduler </a:t>
            </a:r>
            <a:r>
              <a:rPr lang="en-US" sz="2000" dirty="0">
                <a:solidFill>
                  <a:srgbClr val="FFC000"/>
                </a:solidFill>
                <a:latin typeface="+mn-lt"/>
              </a:rPr>
              <a:t>builds token-level batches </a:t>
            </a:r>
            <a:r>
              <a:rPr lang="en-US" sz="2000" dirty="0">
                <a:latin typeface="+mn-lt"/>
              </a:rPr>
              <a:t>via an SLO-aware control mechanism (</a:t>
            </a:r>
            <a:r>
              <a:rPr lang="en-US" sz="2000" dirty="0">
                <a:solidFill>
                  <a:schemeClr val="accent5"/>
                </a:solidFill>
                <a:latin typeface="+mn-lt"/>
              </a:rPr>
              <a:t>⑥</a:t>
            </a:r>
            <a:r>
              <a:rPr lang="en-US" sz="2000" dirty="0">
                <a:latin typeface="+mn-lt"/>
              </a:rPr>
              <a:t>).</a:t>
            </a:r>
          </a:p>
          <a:p>
            <a:pPr lvl="2">
              <a:buClr>
                <a:schemeClr val="accent4"/>
              </a:buClr>
              <a:buFont typeface="Wingdings" pitchFamily="2" charset="2"/>
              <a:buChar char="v"/>
            </a:pPr>
            <a:r>
              <a:rPr lang="en-US" sz="2000" dirty="0">
                <a:latin typeface="+mn-lt"/>
              </a:rPr>
              <a:t>When the micro-requests of an LLM request span two execution instances, the instances </a:t>
            </a:r>
            <a:r>
              <a:rPr lang="en-US" sz="2000" dirty="0">
                <a:solidFill>
                  <a:srgbClr val="FF0000"/>
                </a:solidFill>
                <a:latin typeface="+mn-lt"/>
              </a:rPr>
              <a:t>exchange</a:t>
            </a:r>
            <a:r>
              <a:rPr lang="en-US" sz="2000" dirty="0">
                <a:latin typeface="+mn-lt"/>
              </a:rPr>
              <a:t> the required </a:t>
            </a:r>
            <a:r>
              <a:rPr lang="en-US" sz="2000" dirty="0">
                <a:solidFill>
                  <a:srgbClr val="FF0000"/>
                </a:solidFill>
                <a:latin typeface="+mn-lt"/>
              </a:rPr>
              <a:t>KV cache blocks</a:t>
            </a:r>
            <a:r>
              <a:rPr lang="en-US" sz="2000" dirty="0">
                <a:latin typeface="+mn-lt"/>
              </a:rPr>
              <a:t> over RDMA (</a:t>
            </a:r>
            <a:r>
              <a:rPr lang="en-US" sz="2000" dirty="0">
                <a:solidFill>
                  <a:schemeClr val="accent5"/>
                </a:solidFill>
                <a:latin typeface="+mn-lt"/>
              </a:rPr>
              <a:t>⑦</a:t>
            </a:r>
            <a:r>
              <a:rPr lang="en-US" sz="2000" dirty="0">
                <a:latin typeface="+mn-lt"/>
              </a:rPr>
              <a:t>).</a:t>
            </a:r>
            <a:endParaRPr lang="en-US" altLang="zh-CN" sz="2000" b="1" dirty="0">
              <a:latin typeface="+mn-lt"/>
              <a:cs typeface="Times New Roman" panose="02020603050405020304" pitchFamily="18" charset="0"/>
            </a:endParaRPr>
          </a:p>
          <a:p>
            <a:pPr marL="457176" lvl="1" indent="0">
              <a:buClr>
                <a:schemeClr val="accent4"/>
              </a:buClr>
              <a:buNone/>
            </a:pPr>
            <a:endParaRPr lang="en-US" dirty="0"/>
          </a:p>
        </p:txBody>
      </p:sp>
    </p:spTree>
    <p:extLst>
      <p:ext uri="{BB962C8B-B14F-4D97-AF65-F5344CB8AC3E}">
        <p14:creationId xmlns:p14="http://schemas.microsoft.com/office/powerpoint/2010/main" val="910056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CAC76-5750-A38A-82F9-A7BB3B08A68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6A910D3-4708-F563-E58A-88630DBDE0B4}"/>
              </a:ext>
            </a:extLst>
          </p:cNvPr>
          <p:cNvSpPr>
            <a:spLocks noGrp="1"/>
          </p:cNvSpPr>
          <p:nvPr>
            <p:ph type="title"/>
          </p:nvPr>
        </p:nvSpPr>
        <p:spPr>
          <a:xfrm>
            <a:off x="1296610" y="144466"/>
            <a:ext cx="10270977" cy="692151"/>
          </a:xfrm>
        </p:spPr>
        <p:txBody>
          <a:bodyPr/>
          <a:lstStyle/>
          <a:p>
            <a:r>
              <a:rPr lang="en-US" altLang="zh-CN" dirty="0" err="1">
                <a:cs typeface="Calibri" panose="020F0502020204030204" pitchFamily="34" charset="0"/>
              </a:rPr>
              <a:t>NynaServe</a:t>
            </a:r>
            <a:r>
              <a:rPr lang="en-US" altLang="zh-CN" dirty="0">
                <a:cs typeface="Calibri" panose="020F0502020204030204" pitchFamily="34" charset="0"/>
              </a:rPr>
              <a:t> – Evaluation</a:t>
            </a:r>
            <a:r>
              <a:rPr lang="zh-CN" altLang="en-US" dirty="0">
                <a:cs typeface="Calibri" panose="020F0502020204030204" pitchFamily="34" charset="0"/>
              </a:rPr>
              <a:t> </a:t>
            </a:r>
            <a:r>
              <a:rPr lang="en-US" altLang="zh-CN" dirty="0">
                <a:cs typeface="Calibri" panose="020F0502020204030204" pitchFamily="34" charset="0"/>
              </a:rPr>
              <a:t>(</a:t>
            </a:r>
            <a:r>
              <a:rPr lang="en-US" altLang="zh-CN" dirty="0"/>
              <a:t>5/5)</a:t>
            </a:r>
            <a:endParaRPr lang="zh-TW" altLang="en-US" dirty="0">
              <a:cs typeface="Calibri" panose="020F0502020204030204" pitchFamily="34" charset="0"/>
            </a:endParaRPr>
          </a:p>
        </p:txBody>
      </p:sp>
      <p:sp>
        <p:nvSpPr>
          <p:cNvPr id="5" name="灯片编号占位符 1">
            <a:extLst>
              <a:ext uri="{FF2B5EF4-FFF2-40B4-BE49-F238E27FC236}">
                <a16:creationId xmlns:a16="http://schemas.microsoft.com/office/drawing/2014/main" id="{B76D0F2B-A289-B475-24F5-664AB667C0CF}"/>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19</a:t>
            </a:fld>
            <a:endParaRPr lang="zh-TW" altLang="en-US"/>
          </a:p>
        </p:txBody>
      </p:sp>
      <p:pic>
        <p:nvPicPr>
          <p:cNvPr id="6" name="Picture 5">
            <a:extLst>
              <a:ext uri="{FF2B5EF4-FFF2-40B4-BE49-F238E27FC236}">
                <a16:creationId xmlns:a16="http://schemas.microsoft.com/office/drawing/2014/main" id="{DB3F18B1-5729-8914-4182-6D34EC91D86B}"/>
              </a:ext>
            </a:extLst>
          </p:cNvPr>
          <p:cNvPicPr>
            <a:picLocks noChangeAspect="1"/>
          </p:cNvPicPr>
          <p:nvPr/>
        </p:nvPicPr>
        <p:blipFill>
          <a:blip r:embed="rId3"/>
          <a:stretch>
            <a:fillRect/>
          </a:stretch>
        </p:blipFill>
        <p:spPr>
          <a:xfrm>
            <a:off x="493986" y="1098227"/>
            <a:ext cx="6198476" cy="4069468"/>
          </a:xfrm>
          <a:prstGeom prst="rect">
            <a:avLst/>
          </a:prstGeom>
        </p:spPr>
      </p:pic>
      <p:sp>
        <p:nvSpPr>
          <p:cNvPr id="7" name="TextBox 6">
            <a:extLst>
              <a:ext uri="{FF2B5EF4-FFF2-40B4-BE49-F238E27FC236}">
                <a16:creationId xmlns:a16="http://schemas.microsoft.com/office/drawing/2014/main" id="{F4EC8F68-C6A0-B9FD-26CD-2EEB0B0E0473}"/>
              </a:ext>
            </a:extLst>
          </p:cNvPr>
          <p:cNvSpPr txBox="1"/>
          <p:nvPr/>
        </p:nvSpPr>
        <p:spPr>
          <a:xfrm>
            <a:off x="2639019" y="5070490"/>
            <a:ext cx="2289409"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12. Goodput Comparison</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pic>
        <p:nvPicPr>
          <p:cNvPr id="9" name="Picture 8">
            <a:extLst>
              <a:ext uri="{FF2B5EF4-FFF2-40B4-BE49-F238E27FC236}">
                <a16:creationId xmlns:a16="http://schemas.microsoft.com/office/drawing/2014/main" id="{74664A25-F96C-53E6-A87F-A64A4E3C7AE3}"/>
              </a:ext>
            </a:extLst>
          </p:cNvPr>
          <p:cNvPicPr>
            <a:picLocks noChangeAspect="1"/>
          </p:cNvPicPr>
          <p:nvPr/>
        </p:nvPicPr>
        <p:blipFill>
          <a:blip r:embed="rId4"/>
          <a:stretch>
            <a:fillRect/>
          </a:stretch>
        </p:blipFill>
        <p:spPr>
          <a:xfrm>
            <a:off x="7572561" y="1203099"/>
            <a:ext cx="3995026" cy="2803356"/>
          </a:xfrm>
          <a:prstGeom prst="rect">
            <a:avLst/>
          </a:prstGeom>
        </p:spPr>
      </p:pic>
      <p:sp>
        <p:nvSpPr>
          <p:cNvPr id="10" name="TextBox 9">
            <a:extLst>
              <a:ext uri="{FF2B5EF4-FFF2-40B4-BE49-F238E27FC236}">
                <a16:creationId xmlns:a16="http://schemas.microsoft.com/office/drawing/2014/main" id="{BC73FA5A-B02A-0203-4368-FE379FF1899B}"/>
              </a:ext>
            </a:extLst>
          </p:cNvPr>
          <p:cNvSpPr txBox="1"/>
          <p:nvPr/>
        </p:nvSpPr>
        <p:spPr>
          <a:xfrm>
            <a:off x="8340881" y="3960288"/>
            <a:ext cx="2903359"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12. Serving Capacity Comparison</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2208561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CE80D-7CA2-1EC1-5C5C-0A1016E75A5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E2126DF-7FCB-41DE-E117-4E7A8D739A2F}"/>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47D6500C-C10C-697E-5114-2C8B9580616B}"/>
              </a:ext>
            </a:extLst>
          </p:cNvPr>
          <p:cNvSpPr>
            <a:spLocks noGrp="1"/>
          </p:cNvSpPr>
          <p:nvPr>
            <p:ph idx="1"/>
          </p:nvPr>
        </p:nvSpPr>
        <p:spPr>
          <a:xfrm>
            <a:off x="1311423" y="1125536"/>
            <a:ext cx="10270977" cy="5399091"/>
          </a:xfrm>
        </p:spPr>
        <p:txBody>
          <a:bodyPr>
            <a:noAutofit/>
          </a:bodyPr>
          <a:lstStyle/>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Introduction</a:t>
            </a:r>
          </a:p>
          <a:p>
            <a:pPr lvl="1">
              <a:buClr>
                <a:schemeClr val="accent4"/>
              </a:buClr>
              <a:buFont typeface="Wingdings" pitchFamily="2" charset="2"/>
              <a:buChar char="v"/>
            </a:pPr>
            <a:r>
              <a:rPr lang="en-US" altLang="zh-TW" sz="1800" dirty="0">
                <a:solidFill>
                  <a:schemeClr val="bg1">
                    <a:lumMod val="50000"/>
                  </a:schemeClr>
                </a:solidFill>
                <a:latin typeface="Times New Roman" panose="02020603050405020304" pitchFamily="18" charset="0"/>
                <a:cs typeface="Times New Roman" panose="02020603050405020304" pitchFamily="18" charset="0"/>
              </a:rPr>
              <a:t>Transformer Architecture, Two-Phase Inference, KV Cache.</a:t>
            </a: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Background</a:t>
            </a:r>
          </a:p>
          <a:p>
            <a:pPr lvl="1">
              <a:buClr>
                <a:schemeClr val="accent4"/>
              </a:buClr>
              <a:buFont typeface="Wingdings" pitchFamily="2" charset="2"/>
              <a:buChar char="v"/>
            </a:pPr>
            <a:r>
              <a:rPr lang="en-US" altLang="zh-CN" sz="1800" dirty="0">
                <a:solidFill>
                  <a:schemeClr val="bg1">
                    <a:lumMod val="50000"/>
                  </a:schemeClr>
                </a:solidFill>
                <a:latin typeface="Times New Roman" panose="02020603050405020304" pitchFamily="18" charset="0"/>
                <a:cs typeface="Times New Roman" panose="02020603050405020304" pitchFamily="18" charset="0"/>
              </a:rPr>
              <a:t>Aggregation vs. Disaggregation. Trade-offs and Real-World Workload Challenges.</a:t>
            </a: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1: Mooncake</a:t>
            </a:r>
            <a:r>
              <a:rPr lang="en-US" altLang="zh-CN" sz="2933" baseline="30000" dirty="0">
                <a:latin typeface="Times New Roman" panose="02020603050405020304" pitchFamily="18" charset="0"/>
                <a:cs typeface="Times New Roman" panose="02020603050405020304" pitchFamily="18" charset="0"/>
              </a:rPr>
              <a:t>1</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1, </a:t>
            </a:r>
            <a:r>
              <a:rPr lang="en-US" sz="1200" dirty="0">
                <a:solidFill>
                  <a:schemeClr val="bg1">
                    <a:lumMod val="50000"/>
                  </a:schemeClr>
                </a:solidFill>
                <a:latin typeface="Times New Roman" panose="02020603050405020304" pitchFamily="18" charset="0"/>
                <a:cs typeface="Times New Roman" panose="02020603050405020304" pitchFamily="18" charset="0"/>
              </a:rPr>
              <a:t>Qin, R., Li, Z., He, W., Cui, J., Tang, H., Ren, F., ... &amp; Xu, X. (2024). Mooncake: A </a:t>
            </a:r>
            <a:r>
              <a:rPr lang="en-US" sz="1200" dirty="0" err="1">
                <a:solidFill>
                  <a:schemeClr val="bg1">
                    <a:lumMod val="50000"/>
                  </a:schemeClr>
                </a:solidFill>
                <a:latin typeface="Times New Roman" panose="02020603050405020304" pitchFamily="18" charset="0"/>
                <a:cs typeface="Times New Roman" panose="02020603050405020304" pitchFamily="18" charset="0"/>
              </a:rPr>
              <a:t>kvcache</a:t>
            </a:r>
            <a:r>
              <a:rPr lang="en-US" sz="1200" dirty="0">
                <a:solidFill>
                  <a:schemeClr val="bg1">
                    <a:lumMod val="50000"/>
                  </a:schemeClr>
                </a:solidFill>
                <a:latin typeface="Times New Roman" panose="02020603050405020304" pitchFamily="18" charset="0"/>
                <a:cs typeface="Times New Roman" panose="02020603050405020304" pitchFamily="18" charset="0"/>
              </a:rPr>
              <a:t>-centric disaggregated architecture for </a:t>
            </a:r>
            <a:r>
              <a:rPr lang="en-US" sz="1200" dirty="0" err="1">
                <a:solidFill>
                  <a:schemeClr val="bg1">
                    <a:lumMod val="50000"/>
                  </a:schemeClr>
                </a:solidFill>
                <a:latin typeface="Times New Roman" panose="02020603050405020304" pitchFamily="18" charset="0"/>
                <a:cs typeface="Times New Roman" panose="02020603050405020304" pitchFamily="18" charset="0"/>
              </a:rPr>
              <a:t>llm</a:t>
            </a:r>
            <a:r>
              <a:rPr lang="en-US" sz="1200" dirty="0">
                <a:solidFill>
                  <a:schemeClr val="bg1">
                    <a:lumMod val="50000"/>
                  </a:schemeClr>
                </a:solidFill>
                <a:latin typeface="Times New Roman" panose="02020603050405020304" pitchFamily="18" charset="0"/>
                <a:cs typeface="Times New Roman" panose="02020603050405020304" pitchFamily="18" charset="0"/>
              </a:rPr>
              <a:t> serving. ACM Transactions on Storage.</a:t>
            </a:r>
            <a:endParaRPr lang="en-US" altLang="zh-CN" sz="12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2: NynaServe</a:t>
            </a:r>
            <a:r>
              <a:rPr lang="en-US" altLang="zh-CN" sz="2933" baseline="30000" dirty="0">
                <a:latin typeface="Times New Roman" panose="02020603050405020304" pitchFamily="18" charset="0"/>
                <a:cs typeface="Times New Roman" panose="02020603050405020304" pitchFamily="18" charset="0"/>
              </a:rPr>
              <a:t>2</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2,</a:t>
            </a:r>
            <a:r>
              <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rPr>
              <a:t> </a:t>
            </a:r>
            <a:r>
              <a:rPr lang="en-US" sz="1200" dirty="0">
                <a:solidFill>
                  <a:schemeClr val="bg1">
                    <a:lumMod val="50000"/>
                  </a:schemeClr>
                </a:solidFill>
                <a:latin typeface="Times New Roman" panose="02020603050405020304" pitchFamily="18" charset="0"/>
                <a:cs typeface="Times New Roman" panose="02020603050405020304" pitchFamily="18" charset="0"/>
              </a:rPr>
              <a:t>Ruan, C., Chen, Y., Tian, D., Shi, Y., Wu, Y., Li, J., &amp; Li, C. (2025). </a:t>
            </a:r>
            <a:r>
              <a:rPr lang="en-US" sz="1200" dirty="0" err="1">
                <a:solidFill>
                  <a:schemeClr val="bg1">
                    <a:lumMod val="50000"/>
                  </a:schemeClr>
                </a:solidFill>
                <a:latin typeface="Times New Roman" panose="02020603050405020304" pitchFamily="18" charset="0"/>
                <a:cs typeface="Times New Roman" panose="02020603050405020304" pitchFamily="18" charset="0"/>
              </a:rPr>
              <a:t>DynaServe</a:t>
            </a:r>
            <a:r>
              <a:rPr lang="en-US" sz="1200" dirty="0">
                <a:solidFill>
                  <a:schemeClr val="bg1">
                    <a:lumMod val="50000"/>
                  </a:schemeClr>
                </a:solidFill>
                <a:latin typeface="Times New Roman" panose="02020603050405020304" pitchFamily="18" charset="0"/>
                <a:cs typeface="Times New Roman" panose="02020603050405020304" pitchFamily="18" charset="0"/>
              </a:rPr>
              <a:t>: Unified and Elastic Execution for Dynamic Disaggregated LLM Serving. </a:t>
            </a:r>
            <a:r>
              <a:rPr lang="en-US" sz="1200" dirty="0" err="1">
                <a:solidFill>
                  <a:schemeClr val="bg1">
                    <a:lumMod val="50000"/>
                  </a:schemeClr>
                </a:solidFill>
                <a:latin typeface="Times New Roman" panose="02020603050405020304" pitchFamily="18" charset="0"/>
                <a:cs typeface="Times New Roman" panose="02020603050405020304" pitchFamily="18" charset="0"/>
              </a:rPr>
              <a:t>arXiv</a:t>
            </a:r>
            <a:r>
              <a:rPr lang="en-US" sz="1200" dirty="0">
                <a:solidFill>
                  <a:schemeClr val="bg1">
                    <a:lumMod val="50000"/>
                  </a:schemeClr>
                </a:solidFill>
                <a:latin typeface="Times New Roman" panose="02020603050405020304" pitchFamily="18" charset="0"/>
                <a:cs typeface="Times New Roman" panose="02020603050405020304" pitchFamily="18" charset="0"/>
              </a:rPr>
              <a:t> preprint arXiv:2504.09285.</a:t>
            </a:r>
            <a:endPar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solidFill>
                  <a:schemeClr val="accent6"/>
                </a:solidFill>
                <a:latin typeface="Times New Roman" panose="02020603050405020304" pitchFamily="18" charset="0"/>
                <a:cs typeface="Times New Roman" panose="02020603050405020304" pitchFamily="18" charset="0"/>
              </a:rPr>
              <a:t>Work 3: TaiChi</a:t>
            </a:r>
            <a:r>
              <a:rPr lang="en-US" altLang="zh-CN" sz="2933" baseline="30000" dirty="0">
                <a:solidFill>
                  <a:schemeClr val="accent6"/>
                </a:solidFill>
                <a:latin typeface="Times New Roman" panose="02020603050405020304" pitchFamily="18" charset="0"/>
                <a:cs typeface="Times New Roman" panose="02020603050405020304" pitchFamily="18" charset="0"/>
              </a:rPr>
              <a:t>3</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3, </a:t>
            </a:r>
            <a:r>
              <a:rPr lang="en-US" sz="1200" dirty="0">
                <a:solidFill>
                  <a:schemeClr val="bg1">
                    <a:lumMod val="50000"/>
                  </a:schemeClr>
                </a:solidFill>
                <a:latin typeface="Times New Roman" panose="02020603050405020304" pitchFamily="18" charset="0"/>
                <a:cs typeface="Times New Roman" panose="02020603050405020304" pitchFamily="18" charset="0"/>
              </a:rPr>
              <a:t>Wang, C., Zuo, P., Chen, Z., Liang, Y., Yu, Z., &amp; Yang, M. C. (2025). Prefill-decode aggregation or disaggregation? unifying both for goodput-optimized </a:t>
            </a:r>
            <a:r>
              <a:rPr lang="en-US" sz="1200" dirty="0" err="1">
                <a:solidFill>
                  <a:schemeClr val="bg1">
                    <a:lumMod val="50000"/>
                  </a:schemeClr>
                </a:solidFill>
                <a:latin typeface="Times New Roman" panose="02020603050405020304" pitchFamily="18" charset="0"/>
                <a:cs typeface="Times New Roman" panose="02020603050405020304" pitchFamily="18" charset="0"/>
              </a:rPr>
              <a:t>llm</a:t>
            </a:r>
            <a:r>
              <a:rPr lang="en-US" sz="1200" dirty="0">
                <a:solidFill>
                  <a:schemeClr val="bg1">
                    <a:lumMod val="50000"/>
                  </a:schemeClr>
                </a:solidFill>
                <a:latin typeface="Times New Roman" panose="02020603050405020304" pitchFamily="18" charset="0"/>
                <a:cs typeface="Times New Roman" panose="02020603050405020304" pitchFamily="18" charset="0"/>
              </a:rPr>
              <a:t> serving. </a:t>
            </a:r>
            <a:r>
              <a:rPr lang="en-US" sz="1200" dirty="0" err="1">
                <a:solidFill>
                  <a:schemeClr val="bg1">
                    <a:lumMod val="50000"/>
                  </a:schemeClr>
                </a:solidFill>
                <a:latin typeface="Times New Roman" panose="02020603050405020304" pitchFamily="18" charset="0"/>
                <a:cs typeface="Times New Roman" panose="02020603050405020304" pitchFamily="18" charset="0"/>
              </a:rPr>
              <a:t>arXiv</a:t>
            </a:r>
            <a:r>
              <a:rPr lang="en-US" sz="1200" dirty="0">
                <a:solidFill>
                  <a:schemeClr val="bg1">
                    <a:lumMod val="50000"/>
                  </a:schemeClr>
                </a:solidFill>
                <a:latin typeface="Times New Roman" panose="02020603050405020304" pitchFamily="18" charset="0"/>
                <a:cs typeface="Times New Roman" panose="02020603050405020304" pitchFamily="18" charset="0"/>
              </a:rPr>
              <a:t> preprint arXiv:2508.01989.</a:t>
            </a:r>
            <a:endPar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Conclusion</a:t>
            </a:r>
          </a:p>
        </p:txBody>
      </p:sp>
      <p:sp>
        <p:nvSpPr>
          <p:cNvPr id="5" name="灯片编号占位符 1">
            <a:extLst>
              <a:ext uri="{FF2B5EF4-FFF2-40B4-BE49-F238E27FC236}">
                <a16:creationId xmlns:a16="http://schemas.microsoft.com/office/drawing/2014/main" id="{4E508D4E-671C-109C-3844-8B3288F09615}"/>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20</a:t>
            </a:fld>
            <a:endParaRPr lang="zh-TW" altLang="en-US"/>
          </a:p>
        </p:txBody>
      </p:sp>
    </p:spTree>
    <p:extLst>
      <p:ext uri="{BB962C8B-B14F-4D97-AF65-F5344CB8AC3E}">
        <p14:creationId xmlns:p14="http://schemas.microsoft.com/office/powerpoint/2010/main" val="3898369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F9531-93BB-CCEE-381E-11D67F89C15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8965DF6-9DE6-9783-FEFC-8493EEA7CCC6}"/>
              </a:ext>
            </a:extLst>
          </p:cNvPr>
          <p:cNvSpPr>
            <a:spLocks noGrp="1"/>
          </p:cNvSpPr>
          <p:nvPr>
            <p:ph type="title"/>
          </p:nvPr>
        </p:nvSpPr>
        <p:spPr>
          <a:xfrm>
            <a:off x="1296610" y="144466"/>
            <a:ext cx="10270977" cy="692151"/>
          </a:xfrm>
        </p:spPr>
        <p:txBody>
          <a:bodyPr/>
          <a:lstStyle/>
          <a:p>
            <a:r>
              <a:rPr lang="en-US" altLang="zh-CN" dirty="0" err="1">
                <a:cs typeface="Calibri" panose="020F0502020204030204" pitchFamily="34" charset="0"/>
              </a:rPr>
              <a:t>TaiChi</a:t>
            </a:r>
            <a:r>
              <a:rPr lang="en-US" altLang="zh-CN" dirty="0">
                <a:cs typeface="Calibri" panose="020F0502020204030204" pitchFamily="34" charset="0"/>
              </a:rPr>
              <a:t>-Insights</a:t>
            </a:r>
            <a:r>
              <a:rPr lang="zh-CN" altLang="en-US" dirty="0">
                <a:cs typeface="Calibri" panose="020F0502020204030204" pitchFamily="34" charset="0"/>
              </a:rPr>
              <a:t> </a:t>
            </a:r>
            <a:r>
              <a:rPr lang="en-US" altLang="zh-CN" dirty="0">
                <a:cs typeface="Calibri" panose="020F0502020204030204" pitchFamily="34" charset="0"/>
              </a:rPr>
              <a:t>(</a:t>
            </a:r>
            <a:r>
              <a:rPr lang="en-US" altLang="zh-CN" dirty="0"/>
              <a:t>1/6)</a:t>
            </a:r>
            <a:endParaRPr lang="zh-TW" altLang="en-US" dirty="0">
              <a:cs typeface="Calibri" panose="020F0502020204030204" pitchFamily="34" charset="0"/>
            </a:endParaRPr>
          </a:p>
        </p:txBody>
      </p:sp>
      <p:sp>
        <p:nvSpPr>
          <p:cNvPr id="5" name="灯片编号占位符 1">
            <a:extLst>
              <a:ext uri="{FF2B5EF4-FFF2-40B4-BE49-F238E27FC236}">
                <a16:creationId xmlns:a16="http://schemas.microsoft.com/office/drawing/2014/main" id="{BA0AA4A8-2C78-33D0-8CA2-3A9E94C7FC34}"/>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21</a:t>
            </a:fld>
            <a:endParaRPr lang="zh-TW" altLang="en-US"/>
          </a:p>
        </p:txBody>
      </p:sp>
      <p:sp>
        <p:nvSpPr>
          <p:cNvPr id="14" name="Content Placeholder 13">
            <a:extLst>
              <a:ext uri="{FF2B5EF4-FFF2-40B4-BE49-F238E27FC236}">
                <a16:creationId xmlns:a16="http://schemas.microsoft.com/office/drawing/2014/main" id="{3ACB821F-8354-2927-B05F-22C4C557419A}"/>
              </a:ext>
            </a:extLst>
          </p:cNvPr>
          <p:cNvSpPr>
            <a:spLocks noGrp="1"/>
          </p:cNvSpPr>
          <p:nvPr>
            <p:ph idx="1"/>
          </p:nvPr>
        </p:nvSpPr>
        <p:spPr>
          <a:xfrm>
            <a:off x="609600" y="1125537"/>
            <a:ext cx="6737131" cy="4895851"/>
          </a:xfrm>
        </p:spPr>
        <p:txBody>
          <a:bodyPr/>
          <a:lstStyle/>
          <a:p>
            <a:pPr>
              <a:buClr>
                <a:schemeClr val="accent4"/>
              </a:buClr>
              <a:buFont typeface="Courier New" panose="02070309020205020404" pitchFamily="49" charset="0"/>
              <a:buChar char="o"/>
            </a:pPr>
            <a:r>
              <a:rPr lang="en-US" sz="1600" b="1" u="sng" dirty="0">
                <a:solidFill>
                  <a:schemeClr val="accent4"/>
                </a:solidFill>
                <a:latin typeface="Times New Roman" panose="02020603050405020304" pitchFamily="18" charset="0"/>
                <a:cs typeface="Times New Roman" panose="02020603050405020304" pitchFamily="18" charset="0"/>
              </a:rPr>
              <a:t>Observation 1: </a:t>
            </a:r>
            <a:r>
              <a:rPr lang="en-US" sz="1600" dirty="0">
                <a:latin typeface="+mn-lt"/>
              </a:rPr>
              <a:t>PD aggregation performs best under tight TTFT and relaxed TPOT constraints, while PD disaggregation is more effective under tight TPOT and relaxed TTFT. However, when TTFT and TPOT constraints are balanced, both approaches struggle to meet SLOs effectively. (Fig 12)</a:t>
            </a:r>
          </a:p>
          <a:p>
            <a:pPr marL="0" indent="0">
              <a:buClr>
                <a:schemeClr val="accent4"/>
              </a:buClr>
              <a:buNone/>
            </a:pPr>
            <a:endParaRPr lang="en-US" sz="1600" dirty="0">
              <a:latin typeface="+mn-lt"/>
            </a:endParaRPr>
          </a:p>
          <a:p>
            <a:pPr marL="0" indent="0">
              <a:buClr>
                <a:schemeClr val="accent4"/>
              </a:buClr>
              <a:buNone/>
            </a:pPr>
            <a:endParaRPr lang="en-US" sz="1600" dirty="0">
              <a:latin typeface="+mn-lt"/>
            </a:endParaRPr>
          </a:p>
          <a:p>
            <a:pPr>
              <a:buClr>
                <a:schemeClr val="accent4"/>
              </a:buClr>
              <a:buFont typeface="Courier New" panose="02070309020205020404" pitchFamily="49" charset="0"/>
              <a:buChar char="o"/>
            </a:pPr>
            <a:r>
              <a:rPr lang="en-US" sz="1600" b="1" u="sng" dirty="0">
                <a:solidFill>
                  <a:schemeClr val="accent4"/>
                </a:solidFill>
                <a:latin typeface="Times New Roman" panose="02020603050405020304" pitchFamily="18" charset="0"/>
                <a:cs typeface="Times New Roman" panose="02020603050405020304" pitchFamily="18" charset="0"/>
              </a:rPr>
              <a:t>Observation 2: </a:t>
            </a:r>
            <a:r>
              <a:rPr lang="en-US" sz="1600" dirty="0">
                <a:latin typeface="+mn-lt"/>
              </a:rPr>
              <a:t>The high TPOT in PD aggregation arises from prefill interference due to computation-bound linear operations, with a strong linear relationship between interference intensity and TPOT.</a:t>
            </a:r>
          </a:p>
          <a:p>
            <a:pPr>
              <a:buClr>
                <a:schemeClr val="accent4"/>
              </a:buClr>
              <a:buFont typeface="Courier New" panose="02070309020205020404" pitchFamily="49" charset="0"/>
              <a:buChar char="o"/>
            </a:pPr>
            <a:endParaRPr lang="en-US" sz="1600" b="1" u="sng" dirty="0">
              <a:solidFill>
                <a:schemeClr val="accent4"/>
              </a:solidFill>
              <a:latin typeface="+mn-lt"/>
              <a:cs typeface="Times New Roman" panose="02020603050405020304" pitchFamily="18" charset="0"/>
            </a:endParaRPr>
          </a:p>
          <a:p>
            <a:pPr>
              <a:buClr>
                <a:schemeClr val="accent4"/>
              </a:buClr>
              <a:buFont typeface="Courier New" panose="02070309020205020404" pitchFamily="49" charset="0"/>
              <a:buChar char="o"/>
            </a:pPr>
            <a:endParaRPr lang="en-US" sz="1600" b="1" u="sng" dirty="0">
              <a:solidFill>
                <a:schemeClr val="accent4"/>
              </a:solidFill>
              <a:latin typeface="+mn-lt"/>
              <a:cs typeface="Times New Roman" panose="02020603050405020304" pitchFamily="18" charset="0"/>
            </a:endParaRPr>
          </a:p>
          <a:p>
            <a:pPr>
              <a:buClr>
                <a:schemeClr val="accent4"/>
              </a:buClr>
              <a:buFont typeface="Courier New" panose="02070309020205020404" pitchFamily="49" charset="0"/>
              <a:buChar char="o"/>
            </a:pPr>
            <a:r>
              <a:rPr lang="en-US" sz="1600" b="1" u="sng" dirty="0">
                <a:solidFill>
                  <a:schemeClr val="accent4"/>
                </a:solidFill>
                <a:latin typeface="Times New Roman" panose="02020603050405020304" pitchFamily="18" charset="0"/>
                <a:cs typeface="Times New Roman" panose="02020603050405020304" pitchFamily="18" charset="0"/>
              </a:rPr>
              <a:t>Observation 3: </a:t>
            </a:r>
            <a:r>
              <a:rPr lang="en-US" sz="1600" dirty="0">
                <a:latin typeface="Arial" panose="020B0604020202020204" pitchFamily="34" charset="0"/>
                <a:cs typeface="Arial" panose="020B0604020202020204" pitchFamily="34" charset="0"/>
              </a:rPr>
              <a:t>The high TTFT in PD disaggregation stems from request queuing, which occurs because PD disaggregation offers lower prefill processing capacity compared to PD aggregation.</a:t>
            </a:r>
            <a:endParaRPr lang="en-US" sz="1600" b="1" u="sng" dirty="0">
              <a:solidFill>
                <a:schemeClr val="accent4"/>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68852BAB-F343-7A31-0CBE-9FE52CF56D09}"/>
              </a:ext>
            </a:extLst>
          </p:cNvPr>
          <p:cNvPicPr>
            <a:picLocks noChangeAspect="1"/>
          </p:cNvPicPr>
          <p:nvPr/>
        </p:nvPicPr>
        <p:blipFill>
          <a:blip r:embed="rId3"/>
          <a:stretch>
            <a:fillRect/>
          </a:stretch>
        </p:blipFill>
        <p:spPr>
          <a:xfrm>
            <a:off x="7561098" y="1087949"/>
            <a:ext cx="3928004" cy="1509986"/>
          </a:xfrm>
          <a:prstGeom prst="rect">
            <a:avLst/>
          </a:prstGeom>
        </p:spPr>
      </p:pic>
      <p:sp>
        <p:nvSpPr>
          <p:cNvPr id="16" name="TextBox 15">
            <a:extLst>
              <a:ext uri="{FF2B5EF4-FFF2-40B4-BE49-F238E27FC236}">
                <a16:creationId xmlns:a16="http://schemas.microsoft.com/office/drawing/2014/main" id="{AD7FBFF3-3D05-1E88-2C7F-615AB772D91E}"/>
              </a:ext>
            </a:extLst>
          </p:cNvPr>
          <p:cNvSpPr txBox="1"/>
          <p:nvPr/>
        </p:nvSpPr>
        <p:spPr>
          <a:xfrm>
            <a:off x="8552820" y="2541490"/>
            <a:ext cx="1750800"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12. Observation 1</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pic>
        <p:nvPicPr>
          <p:cNvPr id="18" name="Picture 17">
            <a:extLst>
              <a:ext uri="{FF2B5EF4-FFF2-40B4-BE49-F238E27FC236}">
                <a16:creationId xmlns:a16="http://schemas.microsoft.com/office/drawing/2014/main" id="{35FA31E0-46FB-78BD-6672-34619915E57E}"/>
              </a:ext>
            </a:extLst>
          </p:cNvPr>
          <p:cNvPicPr>
            <a:picLocks noChangeAspect="1"/>
          </p:cNvPicPr>
          <p:nvPr/>
        </p:nvPicPr>
        <p:blipFill>
          <a:blip r:embed="rId4"/>
          <a:stretch>
            <a:fillRect/>
          </a:stretch>
        </p:blipFill>
        <p:spPr>
          <a:xfrm>
            <a:off x="7561098" y="2826278"/>
            <a:ext cx="4161220" cy="1433788"/>
          </a:xfrm>
          <a:prstGeom prst="rect">
            <a:avLst/>
          </a:prstGeom>
        </p:spPr>
      </p:pic>
      <p:sp>
        <p:nvSpPr>
          <p:cNvPr id="19" name="TextBox 18">
            <a:extLst>
              <a:ext uri="{FF2B5EF4-FFF2-40B4-BE49-F238E27FC236}">
                <a16:creationId xmlns:a16="http://schemas.microsoft.com/office/drawing/2014/main" id="{98E44219-2746-4B2D-3FF2-A6197C04301A}"/>
              </a:ext>
            </a:extLst>
          </p:cNvPr>
          <p:cNvSpPr txBox="1"/>
          <p:nvPr/>
        </p:nvSpPr>
        <p:spPr>
          <a:xfrm>
            <a:off x="8552820" y="4185362"/>
            <a:ext cx="1750800"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13. Observation 2</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pic>
        <p:nvPicPr>
          <p:cNvPr id="20" name="Picture 19">
            <a:extLst>
              <a:ext uri="{FF2B5EF4-FFF2-40B4-BE49-F238E27FC236}">
                <a16:creationId xmlns:a16="http://schemas.microsoft.com/office/drawing/2014/main" id="{90AB28E1-E74B-D023-BDD0-2D1094BA7295}"/>
              </a:ext>
            </a:extLst>
          </p:cNvPr>
          <p:cNvPicPr>
            <a:picLocks noChangeAspect="1"/>
          </p:cNvPicPr>
          <p:nvPr/>
        </p:nvPicPr>
        <p:blipFill>
          <a:blip r:embed="rId5"/>
          <a:stretch>
            <a:fillRect/>
          </a:stretch>
        </p:blipFill>
        <p:spPr>
          <a:xfrm>
            <a:off x="7561098" y="4511777"/>
            <a:ext cx="4021302" cy="1287661"/>
          </a:xfrm>
          <a:prstGeom prst="rect">
            <a:avLst/>
          </a:prstGeom>
        </p:spPr>
      </p:pic>
      <p:sp>
        <p:nvSpPr>
          <p:cNvPr id="21" name="TextBox 20">
            <a:extLst>
              <a:ext uri="{FF2B5EF4-FFF2-40B4-BE49-F238E27FC236}">
                <a16:creationId xmlns:a16="http://schemas.microsoft.com/office/drawing/2014/main" id="{20D58086-ED1C-70F8-27FB-E5B006268C74}"/>
              </a:ext>
            </a:extLst>
          </p:cNvPr>
          <p:cNvSpPr txBox="1"/>
          <p:nvPr/>
        </p:nvSpPr>
        <p:spPr>
          <a:xfrm>
            <a:off x="8552820" y="5742993"/>
            <a:ext cx="1750800"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14. Observation 3</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sp>
        <p:nvSpPr>
          <p:cNvPr id="25" name="Rounded Rectangle 24">
            <a:extLst>
              <a:ext uri="{FF2B5EF4-FFF2-40B4-BE49-F238E27FC236}">
                <a16:creationId xmlns:a16="http://schemas.microsoft.com/office/drawing/2014/main" id="{6D11A6B9-9476-18FF-2011-567749185626}"/>
              </a:ext>
            </a:extLst>
          </p:cNvPr>
          <p:cNvSpPr/>
          <p:nvPr/>
        </p:nvSpPr>
        <p:spPr bwMode="auto">
          <a:xfrm>
            <a:off x="3499944" y="2323070"/>
            <a:ext cx="5965331" cy="2170069"/>
          </a:xfrm>
          <a:prstGeom prst="roundRect">
            <a:avLst/>
          </a:prstGeom>
          <a:solidFill>
            <a:schemeClr val="bg1"/>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rgbClr val="FF0000"/>
                </a:solidFill>
                <a:effectLst/>
                <a:latin typeface="Andale Mono" panose="020B0509000000000004" pitchFamily="49" charset="0"/>
                <a:ea typeface="新細明體" pitchFamily="18" charset="-120"/>
              </a:rPr>
              <a:t>One Key observation: Works like </a:t>
            </a:r>
            <a:r>
              <a:rPr kumimoji="1" lang="en-US" sz="1800" b="1" i="0" u="none" strike="noStrike" cap="none" normalizeH="0" baseline="0" dirty="0" err="1">
                <a:ln>
                  <a:noFill/>
                </a:ln>
                <a:solidFill>
                  <a:srgbClr val="FF0000"/>
                </a:solidFill>
                <a:effectLst/>
                <a:latin typeface="Andale Mono" panose="020B0509000000000004" pitchFamily="49" charset="0"/>
                <a:ea typeface="新細明體" pitchFamily="18" charset="-120"/>
              </a:rPr>
              <a:t>NynaServe</a:t>
            </a:r>
            <a:r>
              <a:rPr kumimoji="1" lang="en-US" sz="1800" b="1" i="0" u="none" strike="noStrike" cap="none" normalizeH="0" baseline="0" dirty="0">
                <a:ln>
                  <a:noFill/>
                </a:ln>
                <a:solidFill>
                  <a:srgbClr val="FF0000"/>
                </a:solidFill>
                <a:effectLst/>
                <a:latin typeface="Andale Mono" panose="020B0509000000000004" pitchFamily="49" charset="0"/>
                <a:ea typeface="新細明體" pitchFamily="18" charset="-120"/>
              </a:rPr>
              <a:t> </a:t>
            </a: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rgbClr val="FF0000"/>
                </a:solidFill>
                <a:effectLst/>
                <a:latin typeface="Andale Mono" panose="020B0509000000000004" pitchFamily="49" charset="0"/>
                <a:ea typeface="新細明體" pitchFamily="18" charset="-120"/>
              </a:rPr>
              <a:t>can only achieve nearly 60%~81% accuracy </a:t>
            </a: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rgbClr val="FF0000"/>
                </a:solidFill>
                <a:effectLst/>
                <a:latin typeface="Andale Mono" panose="020B0509000000000004" pitchFamily="49" charset="0"/>
                <a:ea typeface="新細明體" pitchFamily="18" charset="-120"/>
              </a:rPr>
              <a:t>on </a:t>
            </a:r>
            <a:r>
              <a:rPr kumimoji="1" lang="en-US" b="1" dirty="0">
                <a:solidFill>
                  <a:srgbClr val="FF0000"/>
                </a:solidFill>
                <a:latin typeface="Andale Mono" panose="020B0509000000000004" pitchFamily="49" charset="0"/>
                <a:ea typeface="新細明體" pitchFamily="18" charset="-120"/>
              </a:rPr>
              <a:t>predicting output length.</a:t>
            </a:r>
            <a:endParaRPr kumimoji="1" lang="en-US" sz="1800" b="1" i="0" u="none" strike="noStrike" cap="none" normalizeH="0" baseline="0" dirty="0">
              <a:ln>
                <a:noFill/>
              </a:ln>
              <a:solidFill>
                <a:srgbClr val="FF0000"/>
              </a:solidFill>
              <a:effectLst/>
              <a:latin typeface="Andale Mono" panose="020B0509000000000004" pitchFamily="49" charset="0"/>
              <a:ea typeface="新細明體" pitchFamily="18" charset="-120"/>
            </a:endParaRPr>
          </a:p>
        </p:txBody>
      </p:sp>
    </p:spTree>
    <p:extLst>
      <p:ext uri="{BB962C8B-B14F-4D97-AF65-F5344CB8AC3E}">
        <p14:creationId xmlns:p14="http://schemas.microsoft.com/office/powerpoint/2010/main" val="182502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1" grpId="0"/>
      <p:bldP spid="2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37E1C-470A-1E98-026E-F407B0A1357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9B494B0-6889-111B-BED3-80B950BB295A}"/>
              </a:ext>
            </a:extLst>
          </p:cNvPr>
          <p:cNvSpPr>
            <a:spLocks noGrp="1"/>
          </p:cNvSpPr>
          <p:nvPr>
            <p:ph type="title"/>
          </p:nvPr>
        </p:nvSpPr>
        <p:spPr>
          <a:xfrm>
            <a:off x="1296610" y="144466"/>
            <a:ext cx="10270977" cy="692151"/>
          </a:xfrm>
        </p:spPr>
        <p:txBody>
          <a:bodyPr/>
          <a:lstStyle/>
          <a:p>
            <a:r>
              <a:rPr lang="en-US" altLang="zh-CN" dirty="0" err="1">
                <a:cs typeface="Calibri" panose="020F0502020204030204" pitchFamily="34" charset="0"/>
              </a:rPr>
              <a:t>TaiChi</a:t>
            </a:r>
            <a:r>
              <a:rPr lang="en-US" altLang="zh-CN" dirty="0">
                <a:cs typeface="Calibri" panose="020F0502020204030204" pitchFamily="34" charset="0"/>
              </a:rPr>
              <a:t>-Architecture</a:t>
            </a:r>
            <a:r>
              <a:rPr lang="zh-CN" altLang="en-US" dirty="0">
                <a:cs typeface="Calibri" panose="020F0502020204030204" pitchFamily="34" charset="0"/>
              </a:rPr>
              <a:t> </a:t>
            </a:r>
            <a:r>
              <a:rPr lang="en-US" altLang="zh-CN" dirty="0">
                <a:cs typeface="Calibri" panose="020F0502020204030204" pitchFamily="34" charset="0"/>
              </a:rPr>
              <a:t>(</a:t>
            </a:r>
            <a:r>
              <a:rPr lang="en-US" altLang="zh-CN" dirty="0"/>
              <a:t>2/6)</a:t>
            </a:r>
            <a:endParaRPr lang="zh-TW" altLang="en-US" dirty="0">
              <a:cs typeface="Calibri" panose="020F0502020204030204" pitchFamily="34" charset="0"/>
            </a:endParaRPr>
          </a:p>
        </p:txBody>
      </p:sp>
      <p:sp>
        <p:nvSpPr>
          <p:cNvPr id="5" name="灯片编号占位符 1">
            <a:extLst>
              <a:ext uri="{FF2B5EF4-FFF2-40B4-BE49-F238E27FC236}">
                <a16:creationId xmlns:a16="http://schemas.microsoft.com/office/drawing/2014/main" id="{CF39EF0A-A227-754A-2B66-015C5FEBF8FD}"/>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22</a:t>
            </a:fld>
            <a:endParaRPr lang="zh-TW" altLang="en-US"/>
          </a:p>
        </p:txBody>
      </p:sp>
      <p:sp>
        <p:nvSpPr>
          <p:cNvPr id="10" name="TextBox 9">
            <a:extLst>
              <a:ext uri="{FF2B5EF4-FFF2-40B4-BE49-F238E27FC236}">
                <a16:creationId xmlns:a16="http://schemas.microsoft.com/office/drawing/2014/main" id="{C7940929-25BB-BCFE-2CAA-823A4B7B6F61}"/>
              </a:ext>
            </a:extLst>
          </p:cNvPr>
          <p:cNvSpPr txBox="1"/>
          <p:nvPr/>
        </p:nvSpPr>
        <p:spPr>
          <a:xfrm>
            <a:off x="303388" y="1183000"/>
            <a:ext cx="7043352" cy="4491999"/>
          </a:xfrm>
          <a:prstGeom prst="rect">
            <a:avLst/>
          </a:prstGeom>
          <a:noFill/>
        </p:spPr>
        <p:txBody>
          <a:bodyPr wrap="square" rtlCol="0" anchor="ctr" anchorCtr="1">
            <a:spAutoFit/>
          </a:bodyPr>
          <a:lstStyle/>
          <a:p>
            <a:pPr marL="285750" indent="-285750">
              <a:buClr>
                <a:schemeClr val="accent4"/>
              </a:buClr>
              <a:buFont typeface="Courier New" panose="02070309020205020404" pitchFamily="49" charset="0"/>
              <a:buChar char="o"/>
            </a:pPr>
            <a:r>
              <a:rPr lang="en-US" sz="2930" dirty="0">
                <a:latin typeface="Times New Roman" panose="02020603050405020304" pitchFamily="18" charset="0"/>
                <a:ea typeface="標楷體" pitchFamily="65" charset="-120"/>
                <a:cs typeface="Times New Roman" panose="02020603050405020304" pitchFamily="18" charset="0"/>
              </a:rPr>
              <a:t>Key idea</a:t>
            </a:r>
            <a:r>
              <a:rPr lang="zh-CN" altLang="en-US" sz="2930" dirty="0">
                <a:latin typeface="Times New Roman" panose="02020603050405020304" pitchFamily="18" charset="0"/>
                <a:ea typeface="標楷體" pitchFamily="65" charset="-120"/>
                <a:cs typeface="Times New Roman" panose="02020603050405020304" pitchFamily="18" charset="0"/>
              </a:rPr>
              <a:t>：</a:t>
            </a:r>
            <a:endParaRPr lang="en-US" sz="2930" dirty="0">
              <a:latin typeface="Times New Roman" panose="02020603050405020304" pitchFamily="18" charset="0"/>
              <a:ea typeface="標楷體" pitchFamily="65" charset="-120"/>
              <a:cs typeface="Times New Roman" panose="02020603050405020304" pitchFamily="18" charset="0"/>
            </a:endParaRPr>
          </a:p>
          <a:p>
            <a:pPr marL="742950" lvl="1" indent="-285750">
              <a:buClr>
                <a:schemeClr val="accent4"/>
              </a:buClr>
              <a:buFont typeface="Wingdings" pitchFamily="2" charset="2"/>
              <a:buChar char="v"/>
            </a:pPr>
            <a:r>
              <a:rPr lang="en-US" dirty="0">
                <a:solidFill>
                  <a:schemeClr val="accent6"/>
                </a:solidFill>
                <a:ea typeface="標楷體" pitchFamily="65" charset="-120"/>
                <a:cs typeface="Calibri" pitchFamily="34" charset="0"/>
              </a:rPr>
              <a:t>Shifting the latency </a:t>
            </a:r>
            <a:r>
              <a:rPr lang="en-US" dirty="0">
                <a:ea typeface="標楷體" pitchFamily="65" charset="-120"/>
                <a:cs typeface="Calibri" pitchFamily="34" charset="0"/>
              </a:rPr>
              <a:t>across prefill/decode phases and across requests.</a:t>
            </a:r>
          </a:p>
          <a:p>
            <a:pPr marL="285750" indent="-285750">
              <a:buFont typeface="Courier New" panose="02070309020205020404" pitchFamily="49" charset="0"/>
              <a:buChar char="o"/>
            </a:pPr>
            <a:r>
              <a:rPr lang="en-US" sz="2930" dirty="0">
                <a:latin typeface="Times New Roman" panose="02020603050405020304" pitchFamily="18" charset="0"/>
                <a:ea typeface="標楷體" pitchFamily="65" charset="-120"/>
                <a:cs typeface="Times New Roman" panose="02020603050405020304" pitchFamily="18" charset="0"/>
              </a:rPr>
              <a:t> Two main components:</a:t>
            </a:r>
          </a:p>
          <a:p>
            <a:pPr marL="742950" lvl="1" indent="-285750">
              <a:buClr>
                <a:schemeClr val="accent4"/>
              </a:buClr>
              <a:buFont typeface="Wingdings" pitchFamily="2" charset="2"/>
              <a:buChar char="Ø"/>
            </a:pPr>
            <a:r>
              <a:rPr lang="en-US" i="1" u="sng" dirty="0">
                <a:solidFill>
                  <a:schemeClr val="accent4"/>
                </a:solidFill>
                <a:latin typeface="Times New Roman" panose="02020603050405020304" pitchFamily="18" charset="0"/>
                <a:ea typeface="標楷體" pitchFamily="65" charset="-120"/>
                <a:cs typeface="Times New Roman" panose="02020603050405020304" pitchFamily="18" charset="0"/>
              </a:rPr>
              <a:t>P-heavy instances</a:t>
            </a:r>
            <a:r>
              <a:rPr lang="en-US" dirty="0">
                <a:solidFill>
                  <a:schemeClr val="accent4"/>
                </a:solidFill>
                <a:ea typeface="標楷體" pitchFamily="65" charset="-120"/>
                <a:cs typeface="Times New Roman" panose="02020603050405020304" pitchFamily="18" charset="0"/>
              </a:rPr>
              <a:t>: </a:t>
            </a:r>
            <a:r>
              <a:rPr lang="en-US" dirty="0">
                <a:ea typeface="標楷體" pitchFamily="65" charset="-120"/>
                <a:cs typeface="Times New Roman" panose="02020603050405020304" pitchFamily="18" charset="0"/>
              </a:rPr>
              <a:t>Optimized for prefill tasks with larger chunk sizes, minimizing TTFT, suffer from higher TPOT handling decode tasks.</a:t>
            </a:r>
          </a:p>
          <a:p>
            <a:pPr marL="742950" lvl="1" indent="-285750">
              <a:buClr>
                <a:schemeClr val="accent4"/>
              </a:buClr>
              <a:buFont typeface="Wingdings" pitchFamily="2" charset="2"/>
              <a:buChar char="Ø"/>
            </a:pPr>
            <a:r>
              <a:rPr lang="en-US" dirty="0">
                <a:ea typeface="標楷體" pitchFamily="65" charset="-120"/>
                <a:cs typeface="Times New Roman" panose="02020603050405020304" pitchFamily="18" charset="0"/>
              </a:rPr>
              <a:t> </a:t>
            </a:r>
            <a:r>
              <a:rPr lang="en-US" i="1" u="sng" dirty="0">
                <a:solidFill>
                  <a:schemeClr val="accent4"/>
                </a:solidFill>
                <a:latin typeface="Times New Roman" panose="02020603050405020304" pitchFamily="18" charset="0"/>
                <a:ea typeface="標楷體" pitchFamily="65" charset="-120"/>
                <a:cs typeface="Times New Roman" panose="02020603050405020304" pitchFamily="18" charset="0"/>
              </a:rPr>
              <a:t>D-heavy instances</a:t>
            </a:r>
            <a:r>
              <a:rPr lang="en-US" dirty="0">
                <a:solidFill>
                  <a:schemeClr val="accent4"/>
                </a:solidFill>
                <a:latin typeface="Times New Roman" panose="02020603050405020304" pitchFamily="18" charset="0"/>
                <a:ea typeface="標楷體" pitchFamily="65" charset="-120"/>
                <a:cs typeface="Times New Roman" panose="02020603050405020304" pitchFamily="18" charset="0"/>
              </a:rPr>
              <a:t>: </a:t>
            </a:r>
            <a:r>
              <a:rPr lang="en-US" dirty="0">
                <a:ea typeface="標楷體" pitchFamily="65" charset="-120"/>
                <a:cs typeface="Times New Roman" panose="02020603050405020304" pitchFamily="18" charset="0"/>
              </a:rPr>
              <a:t>Optimized for decode tasks with smaller chunk sizes, minimizing TPOT, can handle certain degradable prefill tasks.</a:t>
            </a:r>
          </a:p>
          <a:p>
            <a:pPr marL="285750" indent="-285750">
              <a:buClr>
                <a:schemeClr val="accent4"/>
              </a:buClr>
              <a:buFont typeface="Courier New" panose="02070309020205020404" pitchFamily="49" charset="0"/>
              <a:buChar char="o"/>
            </a:pPr>
            <a:r>
              <a:rPr lang="en-US" sz="2930" dirty="0">
                <a:latin typeface="Times New Roman" panose="02020603050405020304" pitchFamily="18" charset="0"/>
                <a:ea typeface="標楷體" pitchFamily="65" charset="-120"/>
                <a:cs typeface="Times New Roman" panose="02020603050405020304" pitchFamily="18" charset="0"/>
              </a:rPr>
              <a:t>The proxy:</a:t>
            </a:r>
          </a:p>
          <a:p>
            <a:pPr marL="914400" lvl="1" indent="-457200">
              <a:buClr>
                <a:schemeClr val="accent4"/>
              </a:buClr>
              <a:buFont typeface="Wingdings" pitchFamily="2" charset="2"/>
              <a:buChar char="v"/>
            </a:pPr>
            <a:r>
              <a:rPr lang="en-US" dirty="0">
                <a:ea typeface="標楷體" pitchFamily="65" charset="-120"/>
                <a:cs typeface="Times New Roman" panose="02020603050405020304" pitchFamily="18" charset="0"/>
              </a:rPr>
              <a:t>Dispatching prefill and decode tasks to appropriate instances.</a:t>
            </a:r>
          </a:p>
          <a:p>
            <a:pPr marL="742950" lvl="1" indent="-285750">
              <a:buFont typeface="Courier New" panose="02070309020205020404" pitchFamily="49" charset="0"/>
              <a:buChar char="o"/>
            </a:pPr>
            <a:endParaRPr lang="en-US" dirty="0">
              <a:ea typeface="標楷體" pitchFamily="65" charset="-120"/>
              <a:cs typeface="Calibri" pitchFamily="34" charset="0"/>
            </a:endParaRPr>
          </a:p>
        </p:txBody>
      </p:sp>
      <p:grpSp>
        <p:nvGrpSpPr>
          <p:cNvPr id="3" name="组合 2">
            <a:extLst>
              <a:ext uri="{FF2B5EF4-FFF2-40B4-BE49-F238E27FC236}">
                <a16:creationId xmlns:a16="http://schemas.microsoft.com/office/drawing/2014/main" id="{163633A0-A56A-D81E-7877-D69D5BF3A117}"/>
              </a:ext>
            </a:extLst>
          </p:cNvPr>
          <p:cNvGrpSpPr/>
          <p:nvPr/>
        </p:nvGrpSpPr>
        <p:grpSpPr>
          <a:xfrm>
            <a:off x="7257392" y="1320285"/>
            <a:ext cx="4800600" cy="3173190"/>
            <a:chOff x="7257392" y="1320285"/>
            <a:chExt cx="4800600" cy="3173190"/>
          </a:xfrm>
        </p:grpSpPr>
        <p:sp>
          <p:nvSpPr>
            <p:cNvPr id="7" name="TextBox 6">
              <a:extLst>
                <a:ext uri="{FF2B5EF4-FFF2-40B4-BE49-F238E27FC236}">
                  <a16:creationId xmlns:a16="http://schemas.microsoft.com/office/drawing/2014/main" id="{C2DF36E7-B02C-1002-C24D-7AB1E395DC6A}"/>
                </a:ext>
              </a:extLst>
            </p:cNvPr>
            <p:cNvSpPr txBox="1"/>
            <p:nvPr/>
          </p:nvSpPr>
          <p:spPr>
            <a:xfrm>
              <a:off x="8573901" y="4185698"/>
              <a:ext cx="2167581"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15. </a:t>
              </a:r>
              <a:r>
                <a:rPr lang="en-US" sz="1400" dirty="0" err="1">
                  <a:latin typeface="Times New Roman" panose="02020603050405020304" pitchFamily="18" charset="0"/>
                  <a:ea typeface="標楷體" pitchFamily="65" charset="-120"/>
                  <a:cs typeface="Times New Roman" panose="02020603050405020304" pitchFamily="18" charset="0"/>
                </a:rPr>
                <a:t>TaiChi</a:t>
              </a:r>
              <a:r>
                <a:rPr lang="en-US" sz="1400" dirty="0">
                  <a:latin typeface="Times New Roman" panose="02020603050405020304" pitchFamily="18" charset="0"/>
                  <a:ea typeface="標楷體" pitchFamily="65" charset="-120"/>
                  <a:cs typeface="Times New Roman" panose="02020603050405020304" pitchFamily="18" charset="0"/>
                </a:rPr>
                <a:t> Architecture</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pic>
          <p:nvPicPr>
            <p:cNvPr id="6" name="Picture 5">
              <a:extLst>
                <a:ext uri="{FF2B5EF4-FFF2-40B4-BE49-F238E27FC236}">
                  <a16:creationId xmlns:a16="http://schemas.microsoft.com/office/drawing/2014/main" id="{5152F774-529D-6AC1-BE21-E0238DD3CF2C}"/>
                </a:ext>
              </a:extLst>
            </p:cNvPr>
            <p:cNvPicPr>
              <a:picLocks noChangeAspect="1"/>
            </p:cNvPicPr>
            <p:nvPr/>
          </p:nvPicPr>
          <p:blipFill>
            <a:blip r:embed="rId3"/>
            <a:stretch>
              <a:fillRect/>
            </a:stretch>
          </p:blipFill>
          <p:spPr>
            <a:xfrm>
              <a:off x="7257392" y="1320285"/>
              <a:ext cx="4800600" cy="2882900"/>
            </a:xfrm>
            <a:prstGeom prst="rect">
              <a:avLst/>
            </a:prstGeom>
          </p:spPr>
        </p:pic>
      </p:grpSp>
    </p:spTree>
    <p:extLst>
      <p:ext uri="{BB962C8B-B14F-4D97-AF65-F5344CB8AC3E}">
        <p14:creationId xmlns:p14="http://schemas.microsoft.com/office/powerpoint/2010/main" val="73155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45653-1730-2DE4-3EDE-D3A78D73845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35A53B1-1F2D-9401-5DC1-1034BDC60776}"/>
              </a:ext>
            </a:extLst>
          </p:cNvPr>
          <p:cNvSpPr>
            <a:spLocks noGrp="1"/>
          </p:cNvSpPr>
          <p:nvPr>
            <p:ph type="title"/>
          </p:nvPr>
        </p:nvSpPr>
        <p:spPr>
          <a:xfrm>
            <a:off x="894080" y="144466"/>
            <a:ext cx="11165840" cy="692151"/>
          </a:xfrm>
        </p:spPr>
        <p:txBody>
          <a:bodyPr/>
          <a:lstStyle/>
          <a:p>
            <a:r>
              <a:rPr lang="en-US" altLang="zh-CN" dirty="0" err="1">
                <a:cs typeface="Calibri" panose="020F0502020204030204" pitchFamily="34" charset="0"/>
              </a:rPr>
              <a:t>TaiChi</a:t>
            </a:r>
            <a:r>
              <a:rPr lang="en-US" altLang="zh-CN" dirty="0">
                <a:cs typeface="Calibri" panose="020F0502020204030204" pitchFamily="34" charset="0"/>
              </a:rPr>
              <a:t>-Flowing Decode Scheduling</a:t>
            </a:r>
            <a:r>
              <a:rPr lang="zh-CN" altLang="en-US" dirty="0">
                <a:cs typeface="Calibri" panose="020F0502020204030204" pitchFamily="34" charset="0"/>
              </a:rPr>
              <a:t> </a:t>
            </a:r>
            <a:r>
              <a:rPr lang="en-US" altLang="zh-CN" dirty="0">
                <a:cs typeface="Calibri" panose="020F0502020204030204" pitchFamily="34" charset="0"/>
              </a:rPr>
              <a:t>(</a:t>
            </a:r>
            <a:r>
              <a:rPr lang="en-US" altLang="zh-CN" dirty="0"/>
              <a:t>3/6)</a:t>
            </a:r>
            <a:endParaRPr lang="zh-TW" altLang="en-US" dirty="0">
              <a:cs typeface="Calibri" panose="020F0502020204030204" pitchFamily="34" charset="0"/>
            </a:endParaRPr>
          </a:p>
        </p:txBody>
      </p:sp>
      <p:sp>
        <p:nvSpPr>
          <p:cNvPr id="5" name="灯片编号占位符 1">
            <a:extLst>
              <a:ext uri="{FF2B5EF4-FFF2-40B4-BE49-F238E27FC236}">
                <a16:creationId xmlns:a16="http://schemas.microsoft.com/office/drawing/2014/main" id="{F4ECD3CF-D7E1-CDC1-EE55-4E3AA97E5272}"/>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23</a:t>
            </a:fld>
            <a:endParaRPr lang="zh-TW" altLang="en-US"/>
          </a:p>
        </p:txBody>
      </p:sp>
      <p:grpSp>
        <p:nvGrpSpPr>
          <p:cNvPr id="6" name="组合 5">
            <a:extLst>
              <a:ext uri="{FF2B5EF4-FFF2-40B4-BE49-F238E27FC236}">
                <a16:creationId xmlns:a16="http://schemas.microsoft.com/office/drawing/2014/main" id="{9A1AC62C-76E6-4CFB-5255-143FB1D5D90A}"/>
              </a:ext>
            </a:extLst>
          </p:cNvPr>
          <p:cNvGrpSpPr/>
          <p:nvPr/>
        </p:nvGrpSpPr>
        <p:grpSpPr>
          <a:xfrm>
            <a:off x="7562191" y="1596232"/>
            <a:ext cx="4191000" cy="2897243"/>
            <a:chOff x="7562191" y="1596232"/>
            <a:chExt cx="4191000" cy="2897243"/>
          </a:xfrm>
        </p:grpSpPr>
        <p:sp>
          <p:nvSpPr>
            <p:cNvPr id="7" name="TextBox 6">
              <a:extLst>
                <a:ext uri="{FF2B5EF4-FFF2-40B4-BE49-F238E27FC236}">
                  <a16:creationId xmlns:a16="http://schemas.microsoft.com/office/drawing/2014/main" id="{7DF3CFD7-1CF9-9E9A-03AA-2CA6EE9AA612}"/>
                </a:ext>
              </a:extLst>
            </p:cNvPr>
            <p:cNvSpPr txBox="1"/>
            <p:nvPr/>
          </p:nvSpPr>
          <p:spPr>
            <a:xfrm>
              <a:off x="8573901" y="4185698"/>
              <a:ext cx="2783134"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15. Flowing Decode Scheduling</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pic>
          <p:nvPicPr>
            <p:cNvPr id="3" name="Picture 2">
              <a:extLst>
                <a:ext uri="{FF2B5EF4-FFF2-40B4-BE49-F238E27FC236}">
                  <a16:creationId xmlns:a16="http://schemas.microsoft.com/office/drawing/2014/main" id="{FBCE445E-5EDA-7D58-41CB-874A8FAF46FD}"/>
                </a:ext>
              </a:extLst>
            </p:cNvPr>
            <p:cNvPicPr>
              <a:picLocks noChangeAspect="1"/>
            </p:cNvPicPr>
            <p:nvPr/>
          </p:nvPicPr>
          <p:blipFill>
            <a:blip r:embed="rId3"/>
            <a:stretch>
              <a:fillRect/>
            </a:stretch>
          </p:blipFill>
          <p:spPr>
            <a:xfrm>
              <a:off x="7562191" y="1596232"/>
              <a:ext cx="4191000" cy="2463800"/>
            </a:xfrm>
            <a:prstGeom prst="rect">
              <a:avLst/>
            </a:prstGeom>
          </p:spPr>
        </p:pic>
      </p:grpSp>
      <p:sp>
        <p:nvSpPr>
          <p:cNvPr id="4" name="TextBox 3">
            <a:extLst>
              <a:ext uri="{FF2B5EF4-FFF2-40B4-BE49-F238E27FC236}">
                <a16:creationId xmlns:a16="http://schemas.microsoft.com/office/drawing/2014/main" id="{6AB80F6E-B814-7E68-2E03-1661019E3ABA}"/>
              </a:ext>
            </a:extLst>
          </p:cNvPr>
          <p:cNvSpPr txBox="1"/>
          <p:nvPr/>
        </p:nvSpPr>
        <p:spPr>
          <a:xfrm>
            <a:off x="438809" y="1480001"/>
            <a:ext cx="7043352" cy="3477875"/>
          </a:xfrm>
          <a:prstGeom prst="rect">
            <a:avLst/>
          </a:prstGeom>
          <a:noFill/>
        </p:spPr>
        <p:txBody>
          <a:bodyPr wrap="square" rtlCol="0" anchor="ctr" anchorCtr="1">
            <a:spAutoFit/>
          </a:bodyPr>
          <a:lstStyle/>
          <a:p>
            <a:pPr marL="285750" indent="-285750">
              <a:buClr>
                <a:schemeClr val="accent4"/>
              </a:buClr>
              <a:buFont typeface="Courier New" panose="02070309020205020404" pitchFamily="49" charset="0"/>
              <a:buChar char="o"/>
            </a:pPr>
            <a:r>
              <a:rPr lang="en-US" sz="2000" b="1" dirty="0">
                <a:latin typeface="Times New Roman" panose="02020603050405020304" pitchFamily="18" charset="0"/>
                <a:ea typeface="標楷體" pitchFamily="65" charset="-120"/>
                <a:cs typeface="Times New Roman" panose="02020603050405020304" pitchFamily="18" charset="0"/>
              </a:rPr>
              <a:t>Goal: </a:t>
            </a:r>
            <a:r>
              <a:rPr lang="en-US" sz="2000" dirty="0">
                <a:ea typeface="標楷體" pitchFamily="65" charset="-120"/>
                <a:cs typeface="Calibri" pitchFamily="34" charset="0"/>
              </a:rPr>
              <a:t>Dynamically migrating decode requests between D-heavy instances and P-heavy instances.</a:t>
            </a:r>
          </a:p>
          <a:p>
            <a:pPr>
              <a:buClr>
                <a:schemeClr val="accent4"/>
              </a:buClr>
            </a:pPr>
            <a:endParaRPr lang="en-US" dirty="0">
              <a:ea typeface="標楷體" pitchFamily="65" charset="-120"/>
              <a:cs typeface="Calibri" pitchFamily="34" charset="0"/>
            </a:endParaRPr>
          </a:p>
          <a:p>
            <a:pPr marL="342900" indent="-342900">
              <a:buClr>
                <a:schemeClr val="accent4"/>
              </a:buClr>
              <a:buFont typeface="+mj-lt"/>
              <a:buAutoNum type="arabicPeriod"/>
            </a:pPr>
            <a:r>
              <a:rPr lang="en-US" i="1" u="sng" dirty="0">
                <a:solidFill>
                  <a:schemeClr val="accent4"/>
                </a:solidFill>
                <a:latin typeface="Times New Roman" panose="02020603050405020304" pitchFamily="18" charset="0"/>
                <a:ea typeface="標楷體" pitchFamily="65" charset="-120"/>
                <a:cs typeface="Times New Roman" panose="02020603050405020304" pitchFamily="18" charset="0"/>
              </a:rPr>
              <a:t>Low-Interference Decode Init</a:t>
            </a:r>
            <a:r>
              <a:rPr lang="en-US" dirty="0">
                <a:solidFill>
                  <a:schemeClr val="accent4"/>
                </a:solidFill>
                <a:latin typeface="Times New Roman" panose="02020603050405020304" pitchFamily="18" charset="0"/>
                <a:ea typeface="標楷體" pitchFamily="65" charset="-120"/>
                <a:cs typeface="Times New Roman" panose="02020603050405020304" pitchFamily="18" charset="0"/>
              </a:rPr>
              <a:t>:</a:t>
            </a:r>
            <a:r>
              <a:rPr lang="en-US" dirty="0">
                <a:ea typeface="標楷體" pitchFamily="65" charset="-120"/>
                <a:cs typeface="Times New Roman" panose="02020603050405020304" pitchFamily="18" charset="0"/>
              </a:rPr>
              <a:t> (Step </a:t>
            </a:r>
            <a:r>
              <a:rPr lang="en-US" dirty="0">
                <a:solidFill>
                  <a:schemeClr val="accent5"/>
                </a:solidFill>
                <a:ea typeface="標楷體" pitchFamily="65" charset="-120"/>
                <a:cs typeface="Times New Roman" panose="02020603050405020304" pitchFamily="18" charset="0"/>
              </a:rPr>
              <a:t>①</a:t>
            </a:r>
            <a:r>
              <a:rPr lang="en-US" dirty="0">
                <a:ea typeface="標楷體" pitchFamily="65" charset="-120"/>
                <a:cs typeface="Times New Roman" panose="02020603050405020304" pitchFamily="18" charset="0"/>
              </a:rPr>
              <a:t>) Initially schedule a decode request to a D-heavy instance.</a:t>
            </a:r>
          </a:p>
          <a:p>
            <a:pPr marL="342900" indent="-342900">
              <a:buClr>
                <a:schemeClr val="accent4"/>
              </a:buClr>
              <a:buFont typeface="+mj-lt"/>
              <a:buAutoNum type="arabicPeriod"/>
            </a:pPr>
            <a:r>
              <a:rPr lang="en-US" i="1" u="sng" dirty="0">
                <a:solidFill>
                  <a:schemeClr val="accent4"/>
                </a:solidFill>
                <a:latin typeface="Times New Roman" panose="02020603050405020304" pitchFamily="18" charset="0"/>
                <a:ea typeface="標楷體" pitchFamily="65" charset="-120"/>
                <a:cs typeface="Times New Roman" panose="02020603050405020304" pitchFamily="18" charset="0"/>
              </a:rPr>
              <a:t>Longest-First Degradation Flowing</a:t>
            </a:r>
            <a:r>
              <a:rPr lang="en-US" dirty="0">
                <a:solidFill>
                  <a:schemeClr val="accent4"/>
                </a:solidFill>
                <a:latin typeface="Times New Roman" panose="02020603050405020304" pitchFamily="18" charset="0"/>
                <a:ea typeface="標楷體" pitchFamily="65" charset="-120"/>
                <a:cs typeface="Times New Roman" panose="02020603050405020304" pitchFamily="18" charset="0"/>
              </a:rPr>
              <a:t>:</a:t>
            </a:r>
            <a:r>
              <a:rPr lang="en-US" dirty="0">
                <a:ea typeface="標楷體" pitchFamily="65" charset="-120"/>
                <a:cs typeface="Times New Roman" panose="02020603050405020304" pitchFamily="18" charset="0"/>
              </a:rPr>
              <a:t> (Step </a:t>
            </a:r>
            <a:r>
              <a:rPr lang="en-US" dirty="0">
                <a:solidFill>
                  <a:schemeClr val="accent5"/>
                </a:solidFill>
                <a:ea typeface="標楷體" pitchFamily="65" charset="-120"/>
                <a:cs typeface="Times New Roman" panose="02020603050405020304" pitchFamily="18" charset="0"/>
              </a:rPr>
              <a:t>②</a:t>
            </a:r>
            <a:r>
              <a:rPr lang="en-US" dirty="0">
                <a:ea typeface="標楷體" pitchFamily="65" charset="-120"/>
                <a:cs typeface="Times New Roman" panose="02020603050405020304" pitchFamily="18" charset="0"/>
              </a:rPr>
              <a:t>) Selectively offload a portion of decode requests, which have the current longest output, to P-heavy instances.</a:t>
            </a:r>
          </a:p>
          <a:p>
            <a:pPr marL="342900" indent="-342900">
              <a:buClr>
                <a:schemeClr val="accent4"/>
              </a:buClr>
              <a:buFont typeface="+mj-lt"/>
              <a:buAutoNum type="arabicPeriod"/>
            </a:pPr>
            <a:r>
              <a:rPr lang="en-US" i="1" u="sng" dirty="0">
                <a:solidFill>
                  <a:schemeClr val="accent4"/>
                </a:solidFill>
                <a:latin typeface="Times New Roman" panose="02020603050405020304" pitchFamily="18" charset="0"/>
                <a:ea typeface="標楷體" pitchFamily="65" charset="-120"/>
                <a:cs typeface="Times New Roman" panose="02020603050405020304" pitchFamily="18" charset="0"/>
              </a:rPr>
              <a:t>TPOT-Aware Decode Backflow</a:t>
            </a:r>
            <a:r>
              <a:rPr lang="en-US" dirty="0">
                <a:solidFill>
                  <a:schemeClr val="accent4"/>
                </a:solidFill>
                <a:latin typeface="Times New Roman" panose="02020603050405020304" pitchFamily="18" charset="0"/>
                <a:ea typeface="標楷體" pitchFamily="65" charset="-120"/>
                <a:cs typeface="Times New Roman" panose="02020603050405020304" pitchFamily="18" charset="0"/>
              </a:rPr>
              <a:t>: </a:t>
            </a:r>
            <a:r>
              <a:rPr lang="en-US" dirty="0">
                <a:ea typeface="標楷體" pitchFamily="65" charset="-120"/>
                <a:cs typeface="Times New Roman" panose="02020603050405020304" pitchFamily="18" charset="0"/>
              </a:rPr>
              <a:t>(Step </a:t>
            </a:r>
            <a:r>
              <a:rPr lang="en-US" dirty="0">
                <a:solidFill>
                  <a:schemeClr val="accent5"/>
                </a:solidFill>
                <a:ea typeface="標楷體" pitchFamily="65" charset="-120"/>
                <a:cs typeface="Times New Roman" panose="02020603050405020304" pitchFamily="18" charset="0"/>
              </a:rPr>
              <a:t>③</a:t>
            </a:r>
            <a:r>
              <a:rPr lang="en-US" dirty="0">
                <a:ea typeface="標楷體" pitchFamily="65" charset="-120"/>
                <a:cs typeface="Times New Roman" panose="02020603050405020304" pitchFamily="18" charset="0"/>
              </a:rPr>
              <a:t>) Monitor requests’ real-time TPOT and migrate those approaching the TPOT SLO back to D-heavy instances.</a:t>
            </a:r>
          </a:p>
          <a:p>
            <a:pPr marL="342900" indent="-342900">
              <a:buClr>
                <a:schemeClr val="accent4"/>
              </a:buClr>
              <a:buFont typeface="+mj-lt"/>
              <a:buAutoNum type="arabicPeriod"/>
            </a:pPr>
            <a:endParaRPr lang="en-US" dirty="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3983704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D3816-6993-F0B3-0F8C-072247A2B28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83981F0-E082-EAEA-D315-447DF4EB1FF9}"/>
              </a:ext>
            </a:extLst>
          </p:cNvPr>
          <p:cNvSpPr>
            <a:spLocks noGrp="1"/>
          </p:cNvSpPr>
          <p:nvPr>
            <p:ph type="title"/>
          </p:nvPr>
        </p:nvSpPr>
        <p:spPr>
          <a:xfrm>
            <a:off x="1036321" y="144466"/>
            <a:ext cx="10916496" cy="692151"/>
          </a:xfrm>
        </p:spPr>
        <p:txBody>
          <a:bodyPr/>
          <a:lstStyle/>
          <a:p>
            <a:r>
              <a:rPr lang="en-US" altLang="zh-CN" dirty="0" err="1">
                <a:cs typeface="Calibri" panose="020F0502020204030204" pitchFamily="34" charset="0"/>
              </a:rPr>
              <a:t>TaiChi</a:t>
            </a:r>
            <a:r>
              <a:rPr lang="en-US" altLang="zh-CN" dirty="0">
                <a:cs typeface="Calibri" panose="020F0502020204030204" pitchFamily="34" charset="0"/>
              </a:rPr>
              <a:t>-Len-Aware Prefill Scheduling</a:t>
            </a:r>
            <a:r>
              <a:rPr lang="zh-CN" altLang="en-US" dirty="0">
                <a:cs typeface="Calibri" panose="020F0502020204030204" pitchFamily="34" charset="0"/>
              </a:rPr>
              <a:t> </a:t>
            </a:r>
            <a:r>
              <a:rPr lang="en-US" altLang="zh-CN" dirty="0">
                <a:cs typeface="Calibri" panose="020F0502020204030204" pitchFamily="34" charset="0"/>
              </a:rPr>
              <a:t>(</a:t>
            </a:r>
            <a:r>
              <a:rPr lang="en-US" altLang="zh-CN" dirty="0"/>
              <a:t>4/6)</a:t>
            </a:r>
            <a:endParaRPr lang="zh-TW" altLang="en-US" dirty="0">
              <a:cs typeface="Calibri" panose="020F0502020204030204" pitchFamily="34" charset="0"/>
            </a:endParaRPr>
          </a:p>
        </p:txBody>
      </p:sp>
      <p:sp>
        <p:nvSpPr>
          <p:cNvPr id="5" name="灯片编号占位符 1">
            <a:extLst>
              <a:ext uri="{FF2B5EF4-FFF2-40B4-BE49-F238E27FC236}">
                <a16:creationId xmlns:a16="http://schemas.microsoft.com/office/drawing/2014/main" id="{C8093065-5B1C-696B-AD86-E282B20572EB}"/>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24</a:t>
            </a:fld>
            <a:endParaRPr lang="zh-TW" altLang="en-US"/>
          </a:p>
        </p:txBody>
      </p:sp>
      <p:grpSp>
        <p:nvGrpSpPr>
          <p:cNvPr id="3" name="Group 2">
            <a:extLst>
              <a:ext uri="{FF2B5EF4-FFF2-40B4-BE49-F238E27FC236}">
                <a16:creationId xmlns:a16="http://schemas.microsoft.com/office/drawing/2014/main" id="{F23BE1D4-63AF-6BD7-E37F-5AAFD8DD598F}"/>
              </a:ext>
            </a:extLst>
          </p:cNvPr>
          <p:cNvGrpSpPr/>
          <p:nvPr/>
        </p:nvGrpSpPr>
        <p:grpSpPr>
          <a:xfrm>
            <a:off x="4033966" y="3348683"/>
            <a:ext cx="4124068" cy="2617706"/>
            <a:chOff x="7903434" y="1723083"/>
            <a:chExt cx="4124068" cy="2617706"/>
          </a:xfrm>
        </p:grpSpPr>
        <p:sp>
          <p:nvSpPr>
            <p:cNvPr id="7" name="TextBox 6">
              <a:extLst>
                <a:ext uri="{FF2B5EF4-FFF2-40B4-BE49-F238E27FC236}">
                  <a16:creationId xmlns:a16="http://schemas.microsoft.com/office/drawing/2014/main" id="{3EDA738E-6CF8-C053-C22D-3C32AC5E3959}"/>
                </a:ext>
              </a:extLst>
            </p:cNvPr>
            <p:cNvSpPr txBox="1"/>
            <p:nvPr/>
          </p:nvSpPr>
          <p:spPr>
            <a:xfrm>
              <a:off x="8563741" y="4033012"/>
              <a:ext cx="3079689"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15. Length-aware Prefill Scheduling</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pic>
          <p:nvPicPr>
            <p:cNvPr id="4" name="Picture 3">
              <a:extLst>
                <a:ext uri="{FF2B5EF4-FFF2-40B4-BE49-F238E27FC236}">
                  <a16:creationId xmlns:a16="http://schemas.microsoft.com/office/drawing/2014/main" id="{2A281D15-D532-594B-CC6C-85A681845A12}"/>
                </a:ext>
              </a:extLst>
            </p:cNvPr>
            <p:cNvPicPr>
              <a:picLocks noChangeAspect="1"/>
            </p:cNvPicPr>
            <p:nvPr/>
          </p:nvPicPr>
          <p:blipFill>
            <a:blip r:embed="rId3"/>
            <a:stretch>
              <a:fillRect/>
            </a:stretch>
          </p:blipFill>
          <p:spPr>
            <a:xfrm>
              <a:off x="7903434" y="1723083"/>
              <a:ext cx="4124068" cy="2309929"/>
            </a:xfrm>
            <a:prstGeom prst="rect">
              <a:avLst/>
            </a:prstGeom>
          </p:spPr>
        </p:pic>
      </p:grpSp>
      <p:sp>
        <p:nvSpPr>
          <p:cNvPr id="9" name="TextBox 8">
            <a:extLst>
              <a:ext uri="{FF2B5EF4-FFF2-40B4-BE49-F238E27FC236}">
                <a16:creationId xmlns:a16="http://schemas.microsoft.com/office/drawing/2014/main" id="{3869C083-E6A4-F17B-F57A-60B08C536327}"/>
              </a:ext>
            </a:extLst>
          </p:cNvPr>
          <p:cNvSpPr txBox="1"/>
          <p:nvPr/>
        </p:nvSpPr>
        <p:spPr>
          <a:xfrm>
            <a:off x="714602" y="1084443"/>
            <a:ext cx="11039029" cy="2062103"/>
          </a:xfrm>
          <a:prstGeom prst="rect">
            <a:avLst/>
          </a:prstGeom>
          <a:noFill/>
        </p:spPr>
        <p:txBody>
          <a:bodyPr wrap="square" rtlCol="0" anchor="ctr" anchorCtr="1">
            <a:spAutoFit/>
          </a:bodyPr>
          <a:lstStyle/>
          <a:p>
            <a:pPr marL="285750" indent="-285750">
              <a:buClr>
                <a:schemeClr val="accent4"/>
              </a:buClr>
              <a:buFont typeface="Courier New" panose="02070309020205020404" pitchFamily="49" charset="0"/>
              <a:buChar char="o"/>
            </a:pPr>
            <a:r>
              <a:rPr lang="en-US" sz="2000" b="1" dirty="0">
                <a:latin typeface="Times New Roman" panose="02020603050405020304" pitchFamily="18" charset="0"/>
                <a:ea typeface="標楷體" pitchFamily="65" charset="-120"/>
                <a:cs typeface="Times New Roman" panose="02020603050405020304" pitchFamily="18" charset="0"/>
              </a:rPr>
              <a:t>Goal: </a:t>
            </a:r>
            <a:r>
              <a:rPr lang="en-US" sz="2000" dirty="0">
                <a:ea typeface="標楷體" pitchFamily="65" charset="-120"/>
                <a:cs typeface="Calibri" pitchFamily="34" charset="0"/>
              </a:rPr>
              <a:t>Exploit the lower urgency of short prefill requests by routing them to D-heavy instances.</a:t>
            </a:r>
          </a:p>
          <a:p>
            <a:pPr>
              <a:buClr>
                <a:schemeClr val="accent4"/>
              </a:buClr>
            </a:pPr>
            <a:endParaRPr lang="en-US" dirty="0">
              <a:ea typeface="標楷體" pitchFamily="65" charset="-120"/>
              <a:cs typeface="Calibri" pitchFamily="34" charset="0"/>
            </a:endParaRPr>
          </a:p>
          <a:p>
            <a:pPr marL="342900" indent="-342900">
              <a:buClr>
                <a:schemeClr val="accent4"/>
              </a:buClr>
              <a:buFont typeface="Wingdings" pitchFamily="2" charset="2"/>
              <a:buChar char="Ø"/>
            </a:pPr>
            <a:r>
              <a:rPr lang="en-US" dirty="0">
                <a:latin typeface="Times New Roman" panose="02020603050405020304" pitchFamily="18" charset="0"/>
                <a:ea typeface="標楷體" pitchFamily="65" charset="-120"/>
                <a:cs typeface="Times New Roman" panose="02020603050405020304" pitchFamily="18" charset="0"/>
              </a:rPr>
              <a:t>Estimated waiting time (TTFT):</a:t>
            </a:r>
          </a:p>
          <a:p>
            <a:pPr marL="800100" lvl="1" indent="-342900">
              <a:buClr>
                <a:schemeClr val="accent4"/>
              </a:buClr>
              <a:buFont typeface="Wingdings" pitchFamily="2" charset="2"/>
              <a:buChar char="v"/>
            </a:pPr>
            <a:r>
              <a:rPr lang="en-US" dirty="0">
                <a:ea typeface="標楷體" pitchFamily="65" charset="-120"/>
                <a:cs typeface="Times New Roman" panose="02020603050405020304" pitchFamily="18" charset="0"/>
              </a:rPr>
              <a:t>On P-heavy instance: </a:t>
            </a:r>
            <a:r>
              <a:rPr lang="en-US" dirty="0">
                <a:latin typeface="Andale Mono" panose="020B0509000000000004" pitchFamily="49" charset="0"/>
                <a:ea typeface="標楷體" pitchFamily="65" charset="-120"/>
                <a:cs typeface="Times New Roman" panose="02020603050405020304" pitchFamily="18" charset="0"/>
              </a:rPr>
              <a:t>SUM(Q, E, T)</a:t>
            </a:r>
          </a:p>
          <a:p>
            <a:pPr marL="800100" lvl="1" indent="-342900">
              <a:buClr>
                <a:schemeClr val="accent4"/>
              </a:buClr>
              <a:buFont typeface="Wingdings" pitchFamily="2" charset="2"/>
              <a:buChar char="v"/>
            </a:pPr>
            <a:r>
              <a:rPr lang="en-US" dirty="0">
                <a:ea typeface="標楷體" pitchFamily="65" charset="-120"/>
                <a:cs typeface="Times New Roman" panose="02020603050405020304" pitchFamily="18" charset="0"/>
              </a:rPr>
              <a:t>On D-heavy instance: </a:t>
            </a:r>
            <a:r>
              <a:rPr lang="en-US" dirty="0">
                <a:latin typeface="Andale Mono" panose="020B0509000000000004" pitchFamily="49" charset="0"/>
                <a:ea typeface="標楷體" pitchFamily="65" charset="-120"/>
                <a:cs typeface="Times New Roman" panose="02020603050405020304" pitchFamily="18" charset="0"/>
              </a:rPr>
              <a:t>SUM(Q, E)</a:t>
            </a:r>
          </a:p>
          <a:p>
            <a:pPr marL="342900" indent="-342900">
              <a:buClr>
                <a:schemeClr val="accent4"/>
              </a:buClr>
              <a:buFont typeface="Wingdings" pitchFamily="2" charset="2"/>
              <a:buChar char="Ø"/>
            </a:pPr>
            <a:r>
              <a:rPr lang="en-US" dirty="0">
                <a:latin typeface="Times New Roman" panose="02020603050405020304" pitchFamily="18" charset="0"/>
                <a:ea typeface="標楷體" pitchFamily="65" charset="-120"/>
                <a:cs typeface="Times New Roman" panose="02020603050405020304" pitchFamily="18" charset="0"/>
              </a:rPr>
              <a:t>Strategy:</a:t>
            </a:r>
          </a:p>
          <a:p>
            <a:pPr marL="800100" lvl="1" indent="-342900">
              <a:buClr>
                <a:schemeClr val="accent4"/>
              </a:buClr>
              <a:buFont typeface="Wingdings" pitchFamily="2" charset="2"/>
              <a:buChar char="v"/>
            </a:pPr>
            <a:r>
              <a:rPr lang="en-US" dirty="0">
                <a:ea typeface="標楷體" pitchFamily="65" charset="-120"/>
                <a:cs typeface="Times New Roman" panose="02020603050405020304" pitchFamily="18" charset="0"/>
              </a:rPr>
              <a:t>Select the instance with the fewest queuing prefill tokens.</a:t>
            </a:r>
          </a:p>
        </p:txBody>
      </p:sp>
    </p:spTree>
    <p:extLst>
      <p:ext uri="{BB962C8B-B14F-4D97-AF65-F5344CB8AC3E}">
        <p14:creationId xmlns:p14="http://schemas.microsoft.com/office/powerpoint/2010/main" val="2903008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B737E-11B2-A611-B29A-AD2E5DC3D51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EE5F784-F61C-E3A6-92DB-36086B500CFB}"/>
              </a:ext>
            </a:extLst>
          </p:cNvPr>
          <p:cNvSpPr>
            <a:spLocks noGrp="1"/>
          </p:cNvSpPr>
          <p:nvPr>
            <p:ph type="title"/>
          </p:nvPr>
        </p:nvSpPr>
        <p:spPr>
          <a:xfrm>
            <a:off x="1296610" y="144466"/>
            <a:ext cx="10270977" cy="692151"/>
          </a:xfrm>
        </p:spPr>
        <p:txBody>
          <a:bodyPr/>
          <a:lstStyle/>
          <a:p>
            <a:r>
              <a:rPr lang="en-US" altLang="zh-CN" dirty="0">
                <a:cs typeface="Calibri" panose="020F0502020204030204" pitchFamily="34" charset="0"/>
              </a:rPr>
              <a:t>TaiChi-Evaluation1</a:t>
            </a:r>
            <a:r>
              <a:rPr lang="zh-CN" altLang="en-US" dirty="0">
                <a:cs typeface="Calibri" panose="020F0502020204030204" pitchFamily="34" charset="0"/>
              </a:rPr>
              <a:t> </a:t>
            </a:r>
            <a:r>
              <a:rPr lang="en-US" altLang="zh-CN" dirty="0">
                <a:cs typeface="Calibri" panose="020F0502020204030204" pitchFamily="34" charset="0"/>
              </a:rPr>
              <a:t>(</a:t>
            </a:r>
            <a:r>
              <a:rPr lang="en-US" altLang="zh-CN" dirty="0"/>
              <a:t>5/6)</a:t>
            </a:r>
            <a:endParaRPr lang="zh-TW" altLang="en-US" dirty="0">
              <a:cs typeface="Calibri" panose="020F0502020204030204" pitchFamily="34" charset="0"/>
            </a:endParaRPr>
          </a:p>
        </p:txBody>
      </p:sp>
      <p:sp>
        <p:nvSpPr>
          <p:cNvPr id="5" name="灯片编号占位符 1">
            <a:extLst>
              <a:ext uri="{FF2B5EF4-FFF2-40B4-BE49-F238E27FC236}">
                <a16:creationId xmlns:a16="http://schemas.microsoft.com/office/drawing/2014/main" id="{2D1CA0BC-F9D8-E387-2EAD-512BDCA559C4}"/>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25</a:t>
            </a:fld>
            <a:endParaRPr lang="zh-TW" altLang="en-US"/>
          </a:p>
        </p:txBody>
      </p:sp>
      <p:sp>
        <p:nvSpPr>
          <p:cNvPr id="6" name="TextBox 5">
            <a:extLst>
              <a:ext uri="{FF2B5EF4-FFF2-40B4-BE49-F238E27FC236}">
                <a16:creationId xmlns:a16="http://schemas.microsoft.com/office/drawing/2014/main" id="{714E9A1D-240F-11BB-CAF1-F22FE6EDB0B5}"/>
              </a:ext>
            </a:extLst>
          </p:cNvPr>
          <p:cNvSpPr txBox="1"/>
          <p:nvPr/>
        </p:nvSpPr>
        <p:spPr>
          <a:xfrm>
            <a:off x="2200542" y="2880047"/>
            <a:ext cx="7790915"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16. </a:t>
            </a:r>
            <a:r>
              <a:rPr lang="en-US" sz="1400" dirty="0"/>
              <a:t>Goodput (vertical lines) for chatbot tasks using Qwen-2.5 models under SLO1 and SLO2.</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grpSp>
        <p:nvGrpSpPr>
          <p:cNvPr id="4" name="Group 3">
            <a:extLst>
              <a:ext uri="{FF2B5EF4-FFF2-40B4-BE49-F238E27FC236}">
                <a16:creationId xmlns:a16="http://schemas.microsoft.com/office/drawing/2014/main" id="{44EA7F8A-23CE-8625-1DF3-E36AE4F41263}"/>
              </a:ext>
            </a:extLst>
          </p:cNvPr>
          <p:cNvGrpSpPr/>
          <p:nvPr/>
        </p:nvGrpSpPr>
        <p:grpSpPr>
          <a:xfrm>
            <a:off x="1400776" y="1332850"/>
            <a:ext cx="9390446" cy="4695544"/>
            <a:chOff x="1887154" y="1227736"/>
            <a:chExt cx="8417689" cy="3854069"/>
          </a:xfrm>
        </p:grpSpPr>
        <p:pic>
          <p:nvPicPr>
            <p:cNvPr id="3" name="Picture 2">
              <a:extLst>
                <a:ext uri="{FF2B5EF4-FFF2-40B4-BE49-F238E27FC236}">
                  <a16:creationId xmlns:a16="http://schemas.microsoft.com/office/drawing/2014/main" id="{444153AB-5347-078C-379D-A3DD82A6F716}"/>
                </a:ext>
              </a:extLst>
            </p:cNvPr>
            <p:cNvPicPr>
              <a:picLocks noChangeAspect="1"/>
            </p:cNvPicPr>
            <p:nvPr/>
          </p:nvPicPr>
          <p:blipFill>
            <a:blip r:embed="rId3"/>
            <a:stretch>
              <a:fillRect/>
            </a:stretch>
          </p:blipFill>
          <p:spPr>
            <a:xfrm>
              <a:off x="2086233" y="1227736"/>
              <a:ext cx="7772400" cy="1708756"/>
            </a:xfrm>
            <a:prstGeom prst="rect">
              <a:avLst/>
            </a:prstGeom>
          </p:spPr>
        </p:pic>
        <p:pic>
          <p:nvPicPr>
            <p:cNvPr id="9" name="Picture 8">
              <a:extLst>
                <a:ext uri="{FF2B5EF4-FFF2-40B4-BE49-F238E27FC236}">
                  <a16:creationId xmlns:a16="http://schemas.microsoft.com/office/drawing/2014/main" id="{78C4A7C7-EE04-F820-22D1-80D600716367}"/>
                </a:ext>
              </a:extLst>
            </p:cNvPr>
            <p:cNvPicPr>
              <a:picLocks noChangeAspect="1"/>
            </p:cNvPicPr>
            <p:nvPr/>
          </p:nvPicPr>
          <p:blipFill>
            <a:blip r:embed="rId4"/>
            <a:stretch>
              <a:fillRect/>
            </a:stretch>
          </p:blipFill>
          <p:spPr>
            <a:xfrm>
              <a:off x="2200542" y="3187824"/>
              <a:ext cx="7772400" cy="1586204"/>
            </a:xfrm>
            <a:prstGeom prst="rect">
              <a:avLst/>
            </a:prstGeom>
          </p:spPr>
        </p:pic>
        <p:sp>
          <p:nvSpPr>
            <p:cNvPr id="10" name="TextBox 9">
              <a:extLst>
                <a:ext uri="{FF2B5EF4-FFF2-40B4-BE49-F238E27FC236}">
                  <a16:creationId xmlns:a16="http://schemas.microsoft.com/office/drawing/2014/main" id="{DCA12BDC-CDB5-67BB-8D2D-F79EC592783E}"/>
                </a:ext>
              </a:extLst>
            </p:cNvPr>
            <p:cNvSpPr txBox="1"/>
            <p:nvPr/>
          </p:nvSpPr>
          <p:spPr>
            <a:xfrm>
              <a:off x="1887154" y="4774028"/>
              <a:ext cx="8417689" cy="307777"/>
            </a:xfrm>
            <a:prstGeom prst="rect">
              <a:avLst/>
            </a:prstGeom>
            <a:noFill/>
          </p:spPr>
          <p:txBody>
            <a:bodyPr wrap="none" rtlCol="0" anchor="ctr" anchorCtr="1">
              <a:spAutoFit/>
            </a:bodyPr>
            <a:lstStyle/>
            <a:p>
              <a:r>
                <a:rPr lang="en-US" sz="1400" dirty="0">
                  <a:latin typeface="Times New Roman" panose="02020603050405020304" pitchFamily="18" charset="0"/>
                  <a:ea typeface="標楷體" pitchFamily="65" charset="-120"/>
                  <a:cs typeface="Times New Roman" panose="02020603050405020304" pitchFamily="18" charset="0"/>
                </a:rPr>
                <a:t>Fig 17. </a:t>
              </a:r>
              <a:r>
                <a:rPr lang="en-US" sz="1400" dirty="0"/>
                <a:t>Goodput (vertical lines) for summarization tasks using Qwen-2.5 models under SLO1 and SLO2. </a:t>
              </a:r>
              <a:endParaRPr lang="en-US" sz="1400" baseline="30000" dirty="0">
                <a:latin typeface="Times New Roman" panose="02020603050405020304" pitchFamily="18" charset="0"/>
                <a:ea typeface="標楷體" pitchFamily="65" charset="-120"/>
                <a:cs typeface="Times New Roman" panose="02020603050405020304" pitchFamily="18" charset="0"/>
              </a:endParaRPr>
            </a:p>
          </p:txBody>
        </p:sp>
      </p:grpSp>
    </p:spTree>
    <p:extLst>
      <p:ext uri="{BB962C8B-B14F-4D97-AF65-F5344CB8AC3E}">
        <p14:creationId xmlns:p14="http://schemas.microsoft.com/office/powerpoint/2010/main" val="2686425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C1010-CC1E-D933-9C8B-836A39FAEEF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032D8CF-23F8-925C-7C8F-46467892D145}"/>
              </a:ext>
            </a:extLst>
          </p:cNvPr>
          <p:cNvSpPr>
            <a:spLocks noGrp="1"/>
          </p:cNvSpPr>
          <p:nvPr>
            <p:ph type="title"/>
          </p:nvPr>
        </p:nvSpPr>
        <p:spPr>
          <a:xfrm>
            <a:off x="1296610" y="144466"/>
            <a:ext cx="10270977" cy="692151"/>
          </a:xfrm>
        </p:spPr>
        <p:txBody>
          <a:bodyPr/>
          <a:lstStyle/>
          <a:p>
            <a:r>
              <a:rPr lang="en-US" altLang="zh-CN" dirty="0">
                <a:cs typeface="Calibri" panose="020F0502020204030204" pitchFamily="34" charset="0"/>
              </a:rPr>
              <a:t>TaiChi-Evaluation2 (</a:t>
            </a:r>
            <a:r>
              <a:rPr lang="en-US" altLang="zh-CN" dirty="0"/>
              <a:t>6/6)</a:t>
            </a:r>
            <a:endParaRPr lang="zh-TW" altLang="en-US" dirty="0">
              <a:cs typeface="Calibri" panose="020F0502020204030204" pitchFamily="34" charset="0"/>
            </a:endParaRPr>
          </a:p>
        </p:txBody>
      </p:sp>
      <p:sp>
        <p:nvSpPr>
          <p:cNvPr id="5" name="灯片编号占位符 1">
            <a:extLst>
              <a:ext uri="{FF2B5EF4-FFF2-40B4-BE49-F238E27FC236}">
                <a16:creationId xmlns:a16="http://schemas.microsoft.com/office/drawing/2014/main" id="{FE7C4823-4CC6-A6A0-4A66-245AC60013E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26</a:t>
            </a:fld>
            <a:endParaRPr lang="zh-TW" altLang="en-US"/>
          </a:p>
        </p:txBody>
      </p:sp>
      <p:grpSp>
        <p:nvGrpSpPr>
          <p:cNvPr id="3" name="Group 2">
            <a:extLst>
              <a:ext uri="{FF2B5EF4-FFF2-40B4-BE49-F238E27FC236}">
                <a16:creationId xmlns:a16="http://schemas.microsoft.com/office/drawing/2014/main" id="{7352F5A5-2F53-1386-6365-63CFC03603FF}"/>
              </a:ext>
            </a:extLst>
          </p:cNvPr>
          <p:cNvGrpSpPr/>
          <p:nvPr/>
        </p:nvGrpSpPr>
        <p:grpSpPr>
          <a:xfrm>
            <a:off x="3499944" y="1186849"/>
            <a:ext cx="5138596" cy="4898991"/>
            <a:chOff x="4051300" y="1106616"/>
            <a:chExt cx="4089400" cy="3902881"/>
          </a:xfrm>
        </p:grpSpPr>
        <p:pic>
          <p:nvPicPr>
            <p:cNvPr id="4" name="Picture 3">
              <a:extLst>
                <a:ext uri="{FF2B5EF4-FFF2-40B4-BE49-F238E27FC236}">
                  <a16:creationId xmlns:a16="http://schemas.microsoft.com/office/drawing/2014/main" id="{DD0C85C0-BDF2-B507-03D8-00E1A1EF247F}"/>
                </a:ext>
              </a:extLst>
            </p:cNvPr>
            <p:cNvPicPr>
              <a:picLocks noChangeAspect="1"/>
            </p:cNvPicPr>
            <p:nvPr/>
          </p:nvPicPr>
          <p:blipFill>
            <a:blip r:embed="rId3"/>
            <a:stretch>
              <a:fillRect/>
            </a:stretch>
          </p:blipFill>
          <p:spPr>
            <a:xfrm>
              <a:off x="4051300" y="1106616"/>
              <a:ext cx="4089400" cy="3606800"/>
            </a:xfrm>
            <a:prstGeom prst="rect">
              <a:avLst/>
            </a:prstGeom>
          </p:spPr>
        </p:pic>
        <p:sp>
          <p:nvSpPr>
            <p:cNvPr id="7" name="TextBox 6">
              <a:extLst>
                <a:ext uri="{FF2B5EF4-FFF2-40B4-BE49-F238E27FC236}">
                  <a16:creationId xmlns:a16="http://schemas.microsoft.com/office/drawing/2014/main" id="{896546B6-FC45-F3BC-5BFE-896F44479748}"/>
                </a:ext>
              </a:extLst>
            </p:cNvPr>
            <p:cNvSpPr txBox="1"/>
            <p:nvPr/>
          </p:nvSpPr>
          <p:spPr>
            <a:xfrm>
              <a:off x="4244371" y="4720485"/>
              <a:ext cx="3597951" cy="289012"/>
            </a:xfrm>
            <a:prstGeom prst="rect">
              <a:avLst/>
            </a:prstGeom>
            <a:noFill/>
          </p:spPr>
          <p:txBody>
            <a:bodyPr wrap="none" rtlCol="0" anchor="ctr" anchorCtr="1">
              <a:spAutoFit/>
            </a:bodyPr>
            <a:lstStyle/>
            <a:p>
              <a:r>
                <a:rPr lang="en-US" dirty="0">
                  <a:ea typeface="標楷體" pitchFamily="65" charset="-120"/>
                  <a:cs typeface="Times New Roman" panose="02020603050405020304" pitchFamily="18" charset="0"/>
                </a:rPr>
                <a:t>Fig 18. </a:t>
              </a:r>
              <a:r>
                <a:rPr lang="en-US" dirty="0"/>
                <a:t>P90 Latency normalized to the SLOs.</a:t>
              </a:r>
              <a:endParaRPr lang="en-US" baseline="30000" dirty="0">
                <a:ea typeface="標楷體" pitchFamily="65" charset="-120"/>
                <a:cs typeface="Times New Roman" panose="02020603050405020304" pitchFamily="18" charset="0"/>
              </a:endParaRPr>
            </a:p>
          </p:txBody>
        </p:sp>
      </p:grpSp>
    </p:spTree>
    <p:extLst>
      <p:ext uri="{BB962C8B-B14F-4D97-AF65-F5344CB8AC3E}">
        <p14:creationId xmlns:p14="http://schemas.microsoft.com/office/powerpoint/2010/main" val="1717377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6B076-5539-F5C6-6813-F79520C2073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D2E798C-A7E3-8702-AEDE-F4AED63209B1}"/>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2EE5B3EA-A141-140A-02E9-7577098E4CF3}"/>
              </a:ext>
            </a:extLst>
          </p:cNvPr>
          <p:cNvSpPr>
            <a:spLocks noGrp="1"/>
          </p:cNvSpPr>
          <p:nvPr>
            <p:ph idx="1"/>
          </p:nvPr>
        </p:nvSpPr>
        <p:spPr>
          <a:xfrm>
            <a:off x="1311423" y="1125536"/>
            <a:ext cx="10270977" cy="5399091"/>
          </a:xfrm>
        </p:spPr>
        <p:txBody>
          <a:bodyPr>
            <a:noAutofit/>
          </a:bodyPr>
          <a:lstStyle/>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Introduction</a:t>
            </a:r>
          </a:p>
          <a:p>
            <a:pPr lvl="1">
              <a:buClr>
                <a:schemeClr val="accent4"/>
              </a:buClr>
              <a:buFont typeface="Wingdings" pitchFamily="2" charset="2"/>
              <a:buChar char="v"/>
            </a:pPr>
            <a:r>
              <a:rPr lang="en-US" altLang="zh-TW" sz="1800" dirty="0">
                <a:solidFill>
                  <a:schemeClr val="bg1">
                    <a:lumMod val="50000"/>
                  </a:schemeClr>
                </a:solidFill>
                <a:latin typeface="Times New Roman" panose="02020603050405020304" pitchFamily="18" charset="0"/>
                <a:cs typeface="Times New Roman" panose="02020603050405020304" pitchFamily="18" charset="0"/>
              </a:rPr>
              <a:t>Transformer Architecture, Two-Phase Inference, KV Cache.</a:t>
            </a: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Background</a:t>
            </a:r>
          </a:p>
          <a:p>
            <a:pPr lvl="1">
              <a:buClr>
                <a:schemeClr val="accent4"/>
              </a:buClr>
              <a:buFont typeface="Wingdings" pitchFamily="2" charset="2"/>
              <a:buChar char="v"/>
            </a:pPr>
            <a:r>
              <a:rPr lang="en-US" altLang="zh-CN" sz="1800" dirty="0">
                <a:solidFill>
                  <a:schemeClr val="bg1">
                    <a:lumMod val="50000"/>
                  </a:schemeClr>
                </a:solidFill>
                <a:latin typeface="Times New Roman" panose="02020603050405020304" pitchFamily="18" charset="0"/>
                <a:cs typeface="Times New Roman" panose="02020603050405020304" pitchFamily="18" charset="0"/>
              </a:rPr>
              <a:t>Aggregation vs. Disaggregation. Trade-offs and Real-World Workload Challenges.</a:t>
            </a: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1: Mooncake</a:t>
            </a:r>
            <a:r>
              <a:rPr lang="en-US" altLang="zh-CN" sz="2933" baseline="30000" dirty="0">
                <a:latin typeface="Times New Roman" panose="02020603050405020304" pitchFamily="18" charset="0"/>
                <a:cs typeface="Times New Roman" panose="02020603050405020304" pitchFamily="18" charset="0"/>
              </a:rPr>
              <a:t>1</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1, </a:t>
            </a:r>
            <a:r>
              <a:rPr lang="en-US" sz="1200" dirty="0">
                <a:solidFill>
                  <a:schemeClr val="bg1">
                    <a:lumMod val="50000"/>
                  </a:schemeClr>
                </a:solidFill>
                <a:latin typeface="Times New Roman" panose="02020603050405020304" pitchFamily="18" charset="0"/>
                <a:cs typeface="Times New Roman" panose="02020603050405020304" pitchFamily="18" charset="0"/>
              </a:rPr>
              <a:t>Qin, R., Li, Z., He, W., Cui, J., Tang, H., Ren, F., ... &amp; Xu, X. (2024). Mooncake: A </a:t>
            </a:r>
            <a:r>
              <a:rPr lang="en-US" sz="1200" dirty="0" err="1">
                <a:solidFill>
                  <a:schemeClr val="bg1">
                    <a:lumMod val="50000"/>
                  </a:schemeClr>
                </a:solidFill>
                <a:latin typeface="Times New Roman" panose="02020603050405020304" pitchFamily="18" charset="0"/>
                <a:cs typeface="Times New Roman" panose="02020603050405020304" pitchFamily="18" charset="0"/>
              </a:rPr>
              <a:t>kvcache</a:t>
            </a:r>
            <a:r>
              <a:rPr lang="en-US" sz="1200" dirty="0">
                <a:solidFill>
                  <a:schemeClr val="bg1">
                    <a:lumMod val="50000"/>
                  </a:schemeClr>
                </a:solidFill>
                <a:latin typeface="Times New Roman" panose="02020603050405020304" pitchFamily="18" charset="0"/>
                <a:cs typeface="Times New Roman" panose="02020603050405020304" pitchFamily="18" charset="0"/>
              </a:rPr>
              <a:t>-centric disaggregated architecture for </a:t>
            </a:r>
            <a:r>
              <a:rPr lang="en-US" sz="1200" dirty="0" err="1">
                <a:solidFill>
                  <a:schemeClr val="bg1">
                    <a:lumMod val="50000"/>
                  </a:schemeClr>
                </a:solidFill>
                <a:latin typeface="Times New Roman" panose="02020603050405020304" pitchFamily="18" charset="0"/>
                <a:cs typeface="Times New Roman" panose="02020603050405020304" pitchFamily="18" charset="0"/>
              </a:rPr>
              <a:t>llm</a:t>
            </a:r>
            <a:r>
              <a:rPr lang="en-US" sz="1200" dirty="0">
                <a:solidFill>
                  <a:schemeClr val="bg1">
                    <a:lumMod val="50000"/>
                  </a:schemeClr>
                </a:solidFill>
                <a:latin typeface="Times New Roman" panose="02020603050405020304" pitchFamily="18" charset="0"/>
                <a:cs typeface="Times New Roman" panose="02020603050405020304" pitchFamily="18" charset="0"/>
              </a:rPr>
              <a:t> serving. ACM Transactions on Storage.</a:t>
            </a:r>
            <a:endParaRPr lang="en-US" altLang="zh-CN" sz="12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2: NynaServe</a:t>
            </a:r>
            <a:r>
              <a:rPr lang="en-US" altLang="zh-CN" sz="2933" baseline="30000" dirty="0">
                <a:latin typeface="Times New Roman" panose="02020603050405020304" pitchFamily="18" charset="0"/>
                <a:cs typeface="Times New Roman" panose="02020603050405020304" pitchFamily="18" charset="0"/>
              </a:rPr>
              <a:t>2</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2,</a:t>
            </a:r>
            <a:r>
              <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rPr>
              <a:t> </a:t>
            </a:r>
            <a:r>
              <a:rPr lang="en-US" sz="1200" dirty="0">
                <a:solidFill>
                  <a:schemeClr val="bg1">
                    <a:lumMod val="50000"/>
                  </a:schemeClr>
                </a:solidFill>
                <a:latin typeface="Times New Roman" panose="02020603050405020304" pitchFamily="18" charset="0"/>
                <a:cs typeface="Times New Roman" panose="02020603050405020304" pitchFamily="18" charset="0"/>
              </a:rPr>
              <a:t>Ruan, C., Chen, Y., Tian, D., Shi, Y., Wu, Y., Li, J., &amp; Li, C. (2025). </a:t>
            </a:r>
            <a:r>
              <a:rPr lang="en-US" sz="1200" dirty="0" err="1">
                <a:solidFill>
                  <a:schemeClr val="bg1">
                    <a:lumMod val="50000"/>
                  </a:schemeClr>
                </a:solidFill>
                <a:latin typeface="Times New Roman" panose="02020603050405020304" pitchFamily="18" charset="0"/>
                <a:cs typeface="Times New Roman" panose="02020603050405020304" pitchFamily="18" charset="0"/>
              </a:rPr>
              <a:t>DynaServe</a:t>
            </a:r>
            <a:r>
              <a:rPr lang="en-US" sz="1200" dirty="0">
                <a:solidFill>
                  <a:schemeClr val="bg1">
                    <a:lumMod val="50000"/>
                  </a:schemeClr>
                </a:solidFill>
                <a:latin typeface="Times New Roman" panose="02020603050405020304" pitchFamily="18" charset="0"/>
                <a:cs typeface="Times New Roman" panose="02020603050405020304" pitchFamily="18" charset="0"/>
              </a:rPr>
              <a:t>: Unified and Elastic Execution for Dynamic Disaggregated LLM Serving. </a:t>
            </a:r>
            <a:r>
              <a:rPr lang="en-US" sz="1200" dirty="0" err="1">
                <a:solidFill>
                  <a:schemeClr val="bg1">
                    <a:lumMod val="50000"/>
                  </a:schemeClr>
                </a:solidFill>
                <a:latin typeface="Times New Roman" panose="02020603050405020304" pitchFamily="18" charset="0"/>
                <a:cs typeface="Times New Roman" panose="02020603050405020304" pitchFamily="18" charset="0"/>
              </a:rPr>
              <a:t>arXiv</a:t>
            </a:r>
            <a:r>
              <a:rPr lang="en-US" sz="1200" dirty="0">
                <a:solidFill>
                  <a:schemeClr val="bg1">
                    <a:lumMod val="50000"/>
                  </a:schemeClr>
                </a:solidFill>
                <a:latin typeface="Times New Roman" panose="02020603050405020304" pitchFamily="18" charset="0"/>
                <a:cs typeface="Times New Roman" panose="02020603050405020304" pitchFamily="18" charset="0"/>
              </a:rPr>
              <a:t> preprint arXiv:2504.09285.</a:t>
            </a:r>
            <a:endPar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latin typeface="Times New Roman" panose="02020603050405020304" pitchFamily="18" charset="0"/>
                <a:cs typeface="Times New Roman" panose="02020603050405020304" pitchFamily="18" charset="0"/>
              </a:rPr>
              <a:t>Work 3: TaiChi</a:t>
            </a:r>
            <a:r>
              <a:rPr lang="en-US" altLang="zh-CN" sz="2933" baseline="30000" dirty="0">
                <a:latin typeface="Times New Roman" panose="02020603050405020304" pitchFamily="18" charset="0"/>
                <a:cs typeface="Times New Roman" panose="02020603050405020304" pitchFamily="18" charset="0"/>
              </a:rPr>
              <a:t>3</a:t>
            </a:r>
          </a:p>
          <a:p>
            <a:pPr lvl="1">
              <a:buClr>
                <a:schemeClr val="accent4"/>
              </a:buClr>
              <a:buFont typeface="Wingdings" pitchFamily="2" charset="2"/>
              <a:buChar char="Ø"/>
            </a:pPr>
            <a:r>
              <a:rPr lang="en-US" altLang="zh-CN" sz="1200" dirty="0">
                <a:solidFill>
                  <a:schemeClr val="bg1">
                    <a:lumMod val="50000"/>
                  </a:schemeClr>
                </a:solidFill>
                <a:latin typeface="Times New Roman" panose="02020603050405020304" pitchFamily="18" charset="0"/>
                <a:cs typeface="Times New Roman" panose="02020603050405020304" pitchFamily="18" charset="0"/>
              </a:rPr>
              <a:t>3, </a:t>
            </a:r>
            <a:r>
              <a:rPr lang="en-US" sz="1200" dirty="0">
                <a:solidFill>
                  <a:schemeClr val="bg1">
                    <a:lumMod val="50000"/>
                  </a:schemeClr>
                </a:solidFill>
                <a:latin typeface="Times New Roman" panose="02020603050405020304" pitchFamily="18" charset="0"/>
                <a:cs typeface="Times New Roman" panose="02020603050405020304" pitchFamily="18" charset="0"/>
              </a:rPr>
              <a:t>Wang, C., Zuo, P., Chen, Z., Liang, Y., Yu, Z., &amp; Yang, M. C. (2025). Prefill-decode aggregation or disaggregation? unifying both for goodput-optimized </a:t>
            </a:r>
            <a:r>
              <a:rPr lang="en-US" sz="1200" dirty="0" err="1">
                <a:solidFill>
                  <a:schemeClr val="bg1">
                    <a:lumMod val="50000"/>
                  </a:schemeClr>
                </a:solidFill>
                <a:latin typeface="Times New Roman" panose="02020603050405020304" pitchFamily="18" charset="0"/>
                <a:cs typeface="Times New Roman" panose="02020603050405020304" pitchFamily="18" charset="0"/>
              </a:rPr>
              <a:t>llm</a:t>
            </a:r>
            <a:r>
              <a:rPr lang="en-US" sz="1200" dirty="0">
                <a:solidFill>
                  <a:schemeClr val="bg1">
                    <a:lumMod val="50000"/>
                  </a:schemeClr>
                </a:solidFill>
                <a:latin typeface="Times New Roman" panose="02020603050405020304" pitchFamily="18" charset="0"/>
                <a:cs typeface="Times New Roman" panose="02020603050405020304" pitchFamily="18" charset="0"/>
              </a:rPr>
              <a:t> serving. </a:t>
            </a:r>
            <a:r>
              <a:rPr lang="en-US" sz="1200" dirty="0" err="1">
                <a:solidFill>
                  <a:schemeClr val="bg1">
                    <a:lumMod val="50000"/>
                  </a:schemeClr>
                </a:solidFill>
                <a:latin typeface="Times New Roman" panose="02020603050405020304" pitchFamily="18" charset="0"/>
                <a:cs typeface="Times New Roman" panose="02020603050405020304" pitchFamily="18" charset="0"/>
              </a:rPr>
              <a:t>arXiv</a:t>
            </a:r>
            <a:r>
              <a:rPr lang="en-US" sz="1200" dirty="0">
                <a:solidFill>
                  <a:schemeClr val="bg1">
                    <a:lumMod val="50000"/>
                  </a:schemeClr>
                </a:solidFill>
                <a:latin typeface="Times New Roman" panose="02020603050405020304" pitchFamily="18" charset="0"/>
                <a:cs typeface="Times New Roman" panose="02020603050405020304" pitchFamily="18" charset="0"/>
              </a:rPr>
              <a:t> preprint arXiv:2508.01989.</a:t>
            </a:r>
            <a:endPar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endParaRPr>
          </a:p>
          <a:p>
            <a:pPr>
              <a:buClr>
                <a:schemeClr val="accent4"/>
              </a:buClr>
              <a:buFont typeface="Courier New" panose="02070309020205020404" pitchFamily="49" charset="0"/>
              <a:buChar char="o"/>
            </a:pPr>
            <a:r>
              <a:rPr lang="en-US" altLang="zh-CN" sz="2933" dirty="0">
                <a:solidFill>
                  <a:schemeClr val="accent6"/>
                </a:solidFill>
                <a:latin typeface="Times New Roman" panose="02020603050405020304" pitchFamily="18" charset="0"/>
                <a:cs typeface="Times New Roman" panose="02020603050405020304" pitchFamily="18" charset="0"/>
              </a:rPr>
              <a:t>Conclusions</a:t>
            </a:r>
          </a:p>
        </p:txBody>
      </p:sp>
      <p:sp>
        <p:nvSpPr>
          <p:cNvPr id="5" name="灯片编号占位符 1">
            <a:extLst>
              <a:ext uri="{FF2B5EF4-FFF2-40B4-BE49-F238E27FC236}">
                <a16:creationId xmlns:a16="http://schemas.microsoft.com/office/drawing/2014/main" id="{D1DC9F8A-D1DB-724E-0D4B-26AE25A681F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27</a:t>
            </a:fld>
            <a:endParaRPr lang="zh-TW" altLang="en-US"/>
          </a:p>
        </p:txBody>
      </p:sp>
    </p:spTree>
    <p:extLst>
      <p:ext uri="{BB962C8B-B14F-4D97-AF65-F5344CB8AC3E}">
        <p14:creationId xmlns:p14="http://schemas.microsoft.com/office/powerpoint/2010/main" val="3909246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C8E4F-B0D9-51AA-E704-02EFAF5D72C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43FAA8B-608D-8105-1099-73F2660F5B8B}"/>
              </a:ext>
            </a:extLst>
          </p:cNvPr>
          <p:cNvSpPr>
            <a:spLocks noGrp="1"/>
          </p:cNvSpPr>
          <p:nvPr>
            <p:ph type="title"/>
          </p:nvPr>
        </p:nvSpPr>
        <p:spPr>
          <a:xfrm>
            <a:off x="1296610" y="144466"/>
            <a:ext cx="10270977" cy="692151"/>
          </a:xfrm>
        </p:spPr>
        <p:txBody>
          <a:bodyPr/>
          <a:lstStyle/>
          <a:p>
            <a:r>
              <a:rPr lang="en-US" altLang="zh-CN" dirty="0"/>
              <a:t>Conclusions</a:t>
            </a:r>
            <a:endParaRPr lang="zh-TW" altLang="en-US" dirty="0"/>
          </a:p>
        </p:txBody>
      </p:sp>
      <p:sp>
        <p:nvSpPr>
          <p:cNvPr id="5" name="灯片编号占位符 1">
            <a:extLst>
              <a:ext uri="{FF2B5EF4-FFF2-40B4-BE49-F238E27FC236}">
                <a16:creationId xmlns:a16="http://schemas.microsoft.com/office/drawing/2014/main" id="{71BCB679-4633-F6D1-64A2-F7D3FE375EDD}"/>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28</a:t>
            </a:fld>
            <a:endParaRPr lang="zh-TW" altLang="en-US"/>
          </a:p>
        </p:txBody>
      </p:sp>
      <p:sp>
        <p:nvSpPr>
          <p:cNvPr id="7" name="TextBox 6">
            <a:extLst>
              <a:ext uri="{FF2B5EF4-FFF2-40B4-BE49-F238E27FC236}">
                <a16:creationId xmlns:a16="http://schemas.microsoft.com/office/drawing/2014/main" id="{69FAC66A-75BD-EB4B-78A4-31E33C461FA7}"/>
              </a:ext>
            </a:extLst>
          </p:cNvPr>
          <p:cNvSpPr txBox="1"/>
          <p:nvPr/>
        </p:nvSpPr>
        <p:spPr>
          <a:xfrm>
            <a:off x="1296609" y="1516970"/>
            <a:ext cx="9038237" cy="2308324"/>
          </a:xfrm>
          <a:prstGeom prst="rect">
            <a:avLst/>
          </a:prstGeom>
          <a:noFill/>
        </p:spPr>
        <p:txBody>
          <a:bodyPr wrap="square" rtlCol="0" anchor="ctr" anchorCtr="1">
            <a:spAutoFit/>
          </a:bodyPr>
          <a:lstStyle/>
          <a:p>
            <a:pPr marL="285750" indent="-285750">
              <a:buClr>
                <a:schemeClr val="accent4"/>
              </a:buClr>
              <a:buFont typeface="Courier New" panose="02070309020205020404" pitchFamily="49" charset="0"/>
              <a:buChar char="o"/>
            </a:pPr>
            <a:r>
              <a:rPr lang="en-US" sz="2400" b="1" dirty="0">
                <a:latin typeface="Times New Roman" panose="02020603050405020304" pitchFamily="18" charset="0"/>
                <a:ea typeface="標楷體" pitchFamily="65" charset="-120"/>
                <a:cs typeface="Times New Roman" panose="02020603050405020304" pitchFamily="18" charset="0"/>
              </a:rPr>
              <a:t>Cache is king: </a:t>
            </a:r>
            <a:r>
              <a:rPr lang="en-US" sz="2400" dirty="0"/>
              <a:t>Global </a:t>
            </a:r>
            <a:r>
              <a:rPr lang="en-US" sz="2400" dirty="0" err="1"/>
              <a:t>KVCache</a:t>
            </a:r>
            <a:r>
              <a:rPr lang="en-US" sz="2400" dirty="0"/>
              <a:t> reuse transforms economics.</a:t>
            </a:r>
          </a:p>
          <a:p>
            <a:pPr marL="285750" indent="-285750">
              <a:buClr>
                <a:schemeClr val="accent4"/>
              </a:buClr>
              <a:buFont typeface="Courier New" panose="02070309020205020404" pitchFamily="49" charset="0"/>
              <a:buChar char="o"/>
            </a:pPr>
            <a:r>
              <a:rPr lang="en-US" sz="2400" b="1" dirty="0">
                <a:latin typeface="Times New Roman" panose="02020603050405020304" pitchFamily="18" charset="0"/>
                <a:ea typeface="標楷體" pitchFamily="65" charset="-120"/>
                <a:cs typeface="Times New Roman" panose="02020603050405020304" pitchFamily="18" charset="0"/>
              </a:rPr>
              <a:t>Flexibility matters: </a:t>
            </a:r>
            <a:r>
              <a:rPr lang="en-US" sz="2400" dirty="0"/>
              <a:t>Static partitioning cannot handle dynamic workloads.</a:t>
            </a:r>
          </a:p>
          <a:p>
            <a:pPr marL="285750" indent="-285750">
              <a:buClr>
                <a:schemeClr val="accent4"/>
              </a:buClr>
              <a:buFont typeface="Courier New" panose="02070309020205020404" pitchFamily="49" charset="0"/>
              <a:buChar char="o"/>
            </a:pPr>
            <a:r>
              <a:rPr lang="en-US" sz="2400" b="1" dirty="0">
                <a:latin typeface="Times New Roman" panose="02020603050405020304" pitchFamily="18" charset="0"/>
                <a:cs typeface="Times New Roman" panose="02020603050405020304" pitchFamily="18" charset="0"/>
              </a:rPr>
              <a:t>Balance is achievable</a:t>
            </a:r>
            <a:r>
              <a:rPr lang="en-US" sz="2400" dirty="0"/>
              <a:t>: Hybrid architectures can extract the best of both worlds. </a:t>
            </a:r>
            <a:endParaRPr lang="en-US" sz="2400" dirty="0">
              <a:ea typeface="標楷體" pitchFamily="65" charset="-120"/>
              <a:cs typeface="Calibri" pitchFamily="34" charset="0"/>
            </a:endParaRPr>
          </a:p>
          <a:p>
            <a:pPr lvl="1">
              <a:buClr>
                <a:schemeClr val="accent4"/>
              </a:buClr>
            </a:pPr>
            <a:endParaRPr lang="en-US" sz="2400" dirty="0">
              <a:latin typeface="Andale Mono" panose="020B0509000000000004" pitchFamily="49"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2699461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53A04-2F7C-C517-BDEE-216194EC88C1}"/>
            </a:ext>
          </a:extLst>
        </p:cNvPr>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E6121F73-48CD-1658-1B1E-A7B99AD84FB4}"/>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29</a:t>
            </a:fld>
            <a:endParaRPr lang="zh-TW" altLang="en-US"/>
          </a:p>
        </p:txBody>
      </p:sp>
      <p:sp>
        <p:nvSpPr>
          <p:cNvPr id="6" name="Content Placeholder 5">
            <a:extLst>
              <a:ext uri="{FF2B5EF4-FFF2-40B4-BE49-F238E27FC236}">
                <a16:creationId xmlns:a16="http://schemas.microsoft.com/office/drawing/2014/main" id="{E55DA5BF-2E17-DFA0-C7FD-44415FC04C76}"/>
              </a:ext>
            </a:extLst>
          </p:cNvPr>
          <p:cNvSpPr>
            <a:spLocks noGrp="1"/>
          </p:cNvSpPr>
          <p:nvPr>
            <p:ph idx="1"/>
          </p:nvPr>
        </p:nvSpPr>
        <p:spPr>
          <a:xfrm>
            <a:off x="4577080" y="2858928"/>
            <a:ext cx="3037840" cy="1140143"/>
          </a:xfrm>
        </p:spPr>
        <p:txBody>
          <a:bodyPr/>
          <a:lstStyle/>
          <a:p>
            <a:pPr marL="0" indent="0">
              <a:buClr>
                <a:schemeClr val="accent4"/>
              </a:buClr>
              <a:buNone/>
            </a:pPr>
            <a:r>
              <a:rPr lang="en-US" sz="7200" dirty="0"/>
              <a:t>Q &amp; A</a:t>
            </a:r>
          </a:p>
        </p:txBody>
      </p:sp>
    </p:spTree>
    <p:extLst>
      <p:ext uri="{BB962C8B-B14F-4D97-AF65-F5344CB8AC3E}">
        <p14:creationId xmlns:p14="http://schemas.microsoft.com/office/powerpoint/2010/main" val="1087526095"/>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2861</TotalTime>
  <Words>5311</Words>
  <Application>Microsoft Office PowerPoint</Application>
  <PresentationFormat>宽屏</PresentationFormat>
  <Paragraphs>551</Paragraphs>
  <Slides>29</Slides>
  <Notes>29</Notes>
  <HiddenSlides>2</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29</vt:i4>
      </vt:variant>
    </vt:vector>
  </HeadingPairs>
  <TitlesOfParts>
    <vt:vector size="41" baseType="lpstr">
      <vt:lpstr>Andale Mono</vt:lpstr>
      <vt:lpstr>標楷體</vt:lpstr>
      <vt:lpstr>MS Sans Serif</vt:lpstr>
      <vt:lpstr>楷体</vt:lpstr>
      <vt:lpstr>Arial</vt:lpstr>
      <vt:lpstr>Calibri</vt:lpstr>
      <vt:lpstr>Calibri Light</vt:lpstr>
      <vt:lpstr>Courier New</vt:lpstr>
      <vt:lpstr>Times New Roman</vt:lpstr>
      <vt:lpstr>Wingdings</vt:lpstr>
      <vt:lpstr>NTHU UniCloud</vt:lpstr>
      <vt:lpstr>自訂設計</vt:lpstr>
      <vt:lpstr>PD-Disaggregation in Large Language Models</vt:lpstr>
      <vt:lpstr>Outline</vt:lpstr>
      <vt:lpstr>Outline</vt:lpstr>
      <vt:lpstr>Introduction-LLM System (1/2)</vt:lpstr>
      <vt:lpstr>Introduction – Prefill &amp; Decode (2/2)</vt:lpstr>
      <vt:lpstr>Outline</vt:lpstr>
      <vt:lpstr>Background-PD Aggregation (1/2)</vt:lpstr>
      <vt:lpstr>Background-Challenges (2/2)</vt:lpstr>
      <vt:lpstr>Outline</vt:lpstr>
      <vt:lpstr>Mooncake-Architecture (1/4)</vt:lpstr>
      <vt:lpstr>Mooncake-Workflow (2/4)</vt:lpstr>
      <vt:lpstr>Mooncake-Workflow (3/4)</vt:lpstr>
      <vt:lpstr>Mooncake-Evaluation (4/4)</vt:lpstr>
      <vt:lpstr>Outline</vt:lpstr>
      <vt:lpstr>NynaServe - Insights (1/5)</vt:lpstr>
      <vt:lpstr>NynaServe – Insights (2/5)</vt:lpstr>
      <vt:lpstr>NynaServe - Design Philosophy (3/5)</vt:lpstr>
      <vt:lpstr>NynaServe – Workflow (4/5)</vt:lpstr>
      <vt:lpstr>NynaServe – Evaluation (5/5)</vt:lpstr>
      <vt:lpstr>Outline</vt:lpstr>
      <vt:lpstr>TaiChi-Insights (1/6)</vt:lpstr>
      <vt:lpstr>TaiChi-Architecture (2/6)</vt:lpstr>
      <vt:lpstr>TaiChi-Flowing Decode Scheduling (3/6)</vt:lpstr>
      <vt:lpstr>TaiChi-Len-Aware Prefill Scheduling (4/6)</vt:lpstr>
      <vt:lpstr>TaiChi-Evaluation1 (5/6)</vt:lpstr>
      <vt:lpstr>TaiChi-Evaluation2 (6/6)</vt:lpstr>
      <vt:lpstr>Outline</vt:lpstr>
      <vt:lpstr>Conclusions</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Prof. Chung Yehching (SDS)</cp:lastModifiedBy>
  <cp:revision>45</cp:revision>
  <dcterms:created xsi:type="dcterms:W3CDTF">2020-07-15T11:13:39Z</dcterms:created>
  <dcterms:modified xsi:type="dcterms:W3CDTF">2026-01-31T00:19:53Z</dcterms:modified>
</cp:coreProperties>
</file>