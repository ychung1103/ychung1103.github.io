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256" r:id="rId4"/>
    <p:sldId id="258" r:id="rId6"/>
    <p:sldId id="524" r:id="rId7"/>
    <p:sldId id="529" r:id="rId8"/>
    <p:sldId id="532" r:id="rId9"/>
    <p:sldId id="533" r:id="rId10"/>
    <p:sldId id="520" r:id="rId11"/>
    <p:sldId id="530" r:id="rId12"/>
    <p:sldId id="534" r:id="rId13"/>
    <p:sldId id="525" r:id="rId14"/>
    <p:sldId id="531" r:id="rId15"/>
    <p:sldId id="535" r:id="rId16"/>
    <p:sldId id="536" r:id="rId17"/>
    <p:sldId id="537" r:id="rId18"/>
    <p:sldId id="526" r:id="rId19"/>
    <p:sldId id="538" r:id="rId20"/>
    <p:sldId id="540" r:id="rId21"/>
    <p:sldId id="541" r:id="rId22"/>
    <p:sldId id="542" r:id="rId23"/>
    <p:sldId id="543" r:id="rId24"/>
    <p:sldId id="544" r:id="rId25"/>
    <p:sldId id="527" r:id="rId26"/>
    <p:sldId id="546" r:id="rId27"/>
    <p:sldId id="547" r:id="rId28"/>
    <p:sldId id="548" r:id="rId29"/>
    <p:sldId id="545" r:id="rId30"/>
    <p:sldId id="549" r:id="rId31"/>
    <p:sldId id="552" r:id="rId32"/>
    <p:sldId id="551" r:id="rId3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56" d="100"/>
          <a:sy n="56" d="100"/>
        </p:scale>
        <p:origin x="96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ctr"/>
            <a:r>
              <a:rPr lang="en-US" altLang="zh-CN"/>
              <a:t>Good morning, Professor and classmates. My name is Yuhao Shen. My research background is primarily in AI for Health and medical Vision-Language Models. Today, I am very excited to share my presentation titled: 'From OS Paging to PagedAttention: Memory Management in Large Multimodal Models'. We will explore how classic operating system concepts are being reinvented to solve the memory bottlenecks in modern AI.</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Here is the outline for today's presentation. I will start by introducing the memory bottlenecks we face in large multimodal models, particularly in medical applications. Then, we will review classic OS principles and explore three state-of-the-art works that elegantly adapt these OS concepts to solve AI inference challenges.</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Let's begin with the introduction and understand the core problem.</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major challenge we face in deploying medical Vision-Language Models is explosive memory consumption. As you can see on the right, medical VLMs process massive, high-resolution clinical images, alongside lengthy patient histories, which drastically expands the context window. The real bottleneck here is not the GPU's compute power, but its VRAM constraint. As shown on the left, the dynamic Key-Value, or KV cache, grows linearly with every generated token , easily pushing VRAM usage to near full capacity. This memory limit fundamentally restricts our batch size and overall system throughput."</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understand this memory wall, we must look at the anatomy of LLM inference memory. There is a dual nature here: static versus dynamic memory. Model weights are static, predictable, and strictly read-only. However, the KV cache is highly dynamic, stateful, and its total size is extremely unpredictable. This is due to the unpredictable nature of autoregressive generation. Because the exact length of the model's output is completely unknown at the time of the initial request , memory pre-allocation becomes extremely difficult for system schedulers.</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unpredictability is uniquely amplified in medical AI. Looking at the tokenization process of an ultra-high resolution Whole Slide Image on this slide, a single image can be divided into a massive amount of patches—sometimes up to 1.5 million tokens. This massive initial state, combined with the fact that we cannot predict the exact output length , makes naive memory pre-allocation an absolute nightmare for inference systems."</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"So, how do existing frameworks handle this massive memory pressure? Let's move on to the Related Work</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standard approach in traditional frameworks is to pre-allocate contiguous GPU memory based strictly on the maximum expected sequence length. Honestly, this naive design mimics the early, primitive memory allocation schemes of operating systems. And the result? Severe memory fragmentation, which is a significant waste of precious VRAM capacity. We suffer from internal fragmentation due to over-provisioning for unknown, shorter output lengths , and external fragmentation arising from irregular memory chunk sizes over time</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bypass this memory wall, some researchers propose hardware-level solutions, primarily scaling out with Multi-GPU parallelism like Tensor and Pipeline parallelism. While this distributes the memory burden, it introduces heavy communication overhead across PCIe or NVLink interconnects. Furthermore, let's look at the reality of clinical deployments. In local hospital settings, or even in our own labs when working with a couple of high-end consumer GPUs like RTX 4090s, absolute VRAM capacity remains a hard ceiling. Hospitals heavily prefer single-GPU workstations to ensure patient data privacy and reduce hardware costs. Thus, hardware scaling is not a universal cure</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"Since hardware scaling has its strict limitations, we must look for software-level breakthroughs. This brings us to Section 3: Preliminaries, where we look back at classic Operating System designs for inspiration</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"Let's revisit Virtual Memory and Paging. As we know, virtual memory abstracts physical RAM into logical address spaces. It isolates processes to ensure system stability and presents an illusion of contiguous memory to the applications. This abstraction simplifies software development tremendously, freeing programmers from worrying about fragmented physical hardware</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"At the core of virtual memory is the Paging mechanism. It is the ultimate solution to external fragmentation. By dividing physical memory into fixed-size 'frames' and logical memory into equal-sized 'pages', the OS completely eliminates the need for contiguous physical allocation. It utilizes a Page Table to dynamically map continuous logical pages to scattered physical frames. , and it is also exactly what modern AI frameworks are replicating</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second classic OS concept is Shared Memory and Copy-on-Write, or CoW. This is designed for efficient resource sharing to minimize memory redundancy across processes. When an OS executes a 'fork()' to create a new child process, it does not immediately duplicate the physical memory. Both parent and child point to the exact same physical blocks in a read-only state. A new, separate physical page is allocated only on-demand, when a process attempts to modify the shared data. This dramatically reduces the memory footprint for concurrent tasks</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"Our final preliminary concept is the Memory Hierarchy and Swapping. Computer systems rely on a tiered architecture to balance speed and capacity, moving from fast but tiny CPU Registers down to large but slow Secondary Storage, like NVMe disks. When the primary RAM is physically exhausted, the OS triggers a Swapping mechanism. It forcefully moves inactive memory pages to the disk. Later, when the CPU demands an offloaded page, a 'Page Fault' occurs, triggering the OS to swap it back into RAM. This allows the system to overcome strict physical capacity limits.</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Now that we have reviewed these three pillars of classic operating systems—Paging, Copy-on-Write, and Swapping—let's dive into Section 4: Proposed Methods. We will see how three state-of-the-art AI frameworks brilliantly implement these exact concepts to solve the memory wal</a:t>
            </a:r>
            <a:r>
              <a:rPr lang="en-US" altLang="zh-CN"/>
              <a:t>l</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Our first proposed method tackles memory fragmentation. Paper 1 is vLLM, published at SOSP 2023, which elegantly translates OS paging into AI memory management . It introduces the 'PagedAttention' algorithm for high-throughput inference serving. The core concept is wonderfully simple: treat the dynamic KV cache exactly like OS memory pages. As you can see in the diagram, instead of a contiguous chunk, vLLM divides the continuous KV cache into fixed-size 'blocks' . This architecture achieves logical continuity for the attention algorithm while allowing physical sparsity in the GPU VRAM .</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make this physical scattering work, vLLM utilizes the Block Table, which is the exact equivalent of an OS Page Table. It decouples logical and physical memory by dynamically mapping logical token blocks to physically scattered GPU addresses . Furthermore, it enables dynamic allocation, which eradicates internal fragmentation completely . Physical memory blocks are allocated strictly on-demand during the token generation phase . We no longer over-provision memory for unknown output lengths</a:t>
            </a: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Paging solves single-request fragmentation, but what about multi-request redundancy? Paper 2, SGLang, introduces global memory sharing using a Radix Tree structure for highly efficient prefix caching . Consider this clinical scenario: Multiple medical AI agents are analyzing different patient cases simultaneously. These agents frequently utilize the exact same lengthy clinical guideline as a shared System Prompt . In traditional systems, allocating independent memory for this identical prompt severely limits our concurrency . We need a way to share this memory safely</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"SGLang solves this using RadixAttention. The mechanism is the exact AI equivalent of the OS fork() and Copy-on-Write, or CoW, operations . Initially, multiple requests physically point to the exact same shared memory blocks . The GPU does not duplicate the clinical guidelines. This brings us to on-demand divergence: allocating memory only when necessary. New GPU memory is allocated exclusively when the agents' generated responses begin to diverge and form unique text</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While Paging and CoW optimize available VRAM, a single GPU still has a strict physical limit, such as 16GB. This is where Paper 3, FlexGen, comes in. FlexGen introduces Multi-tier Memory Offloading, which functions as the AI equivalent of an OS Swapping mechanism to break physical limits . Its mechanism views the GPU VRAM, CPU RAM, and NVMe Disk as a unified hierarchy. It aggressively swaps inactive model weights and KV caches to the much larger hard disk. This allows us to run massive models on a single GPU.</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However, swapping introduces a severe OS problem: the I/O bottleneck. Disk access is orders of magnitude slower than VRAM . Naively swapping tensors would stall the GPU computational units completely. To overcome this latency, FlexGen utilizes Asynchronous DMA, hiding latency through clever scheduling. Looking at the zig-zag block schedule diagram at the bottom , the system overlaps slow disk I/O with fast GPU computation using asynchronous Direct Memory Access . This ensures the GPU remains highly active while waiting for data from the secondary storage</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"Now that we've seen the architectural designs, let's look at the actual performance evaluation to see how these OS-inspired methods perform in practice</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First, let's evaluate throughput gains via PagedAttention in vLLM. As you can see from the bar chart on the right, vLLM pushes KV cache usage to 96.3%, effectively eliminating internal and external fragmentation . The mechanism behind this performance leap is that by completely eliminating memory waste, the system frees up massive amounts of VRAM. This allows the system to pack significantly larger batch sizes, demonstrating a 2x to 4x increase in throughput compared to traditional contiguous allocation frameworks like Orca</a:t>
            </a:r>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"Next, we evaluate latency reduction via RadixAttention in SGLang. Look at Figure below, which shows normalized throughput across various tasks. SGLang, represented by the orange bars, consistently outperforms others. In multi-agent workflows, it radically reduces the Time to First Token by up to 5x. It does this by bypassing redundant computations for shared contexts. When multiple agents share the same lengthy clinical guideline, the system physically reads from the cached Radix Tree, turning a heavy computation phase into a lightweight memory fetch</a:t>
            </a:r>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Finally, evaluating capacity extension via Multi-tier Offloading in FlexGen. FlexGen successfully enables the execution of ultra-large 175-Billion parameter models on a standard 16GB consumer GPU. However, as OS experts know, there is an inherent system trade-off: Capacity versus Speed. Disk I/O inherently introduces latency, making this approach unsuitable for real-time, interactive medical chatbots. But it is the perfect solution for high-throughput, offline batch processing of massive datasets where single-GPU privacy is mandatory</a:t>
            </a:r>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a:t>This brings me to the conclusions and future outlook of my presentation.</a:t>
            </a:r>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summarize the AI-OS architectural mapping: First, resolving fragmentation via PagedAttention in vLLM directly mirrors the classic OS Virtual Memory and Paging mechanisms . Second, eliminating redundancy via RadixAttention in SGLang functions as the exact AI equivalent of the OS Copy-on-Write mechanism . Third, breaking capacity limits via Multi-tier Offloading in FlexGen emulates OS Swapping by leveraging CPU RAM and NVMe disks</a:t>
            </a:r>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However, we must acknowledge a critical system limitation. Currently, modern frameworks re-implement these OS features purely at the application level, relying on User-Space emulation . This introduces redundant software overhead and prevents deep hardware integrations. The next frontier is pushing this logic down to the Kernel. Future systems must integrate these scheduling logics directly into the Linux kernel or customized GPU drivers. Emerging technologies like eBPF could allow AI to safely bypass traditional OS bottlenecks entirely, bridging the gap between AI algorithms and bare-metal hardware</a:t>
            </a:r>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Good morning, Professor and classmates. My name is Yuhao Shen. My research background is primarily in AI for Health and medical Vision-Language Models. Today, I am going to present a cross-disciplinary topic: Reinventing OS Memory Management in the Era of Large Language Models.</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5">
                <a:latin typeface="Calibri" pitchFamily="34" charset="0"/>
                <a:ea typeface="標楷體" pitchFamily="65" charset="-120"/>
                <a:cs typeface="Calibri" pitchFamily="34" charset="0"/>
              </a:defRPr>
            </a:lvl5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endParaRPr lang="en-US" altLang="zh-TW"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endParaRPr lang="zh-TW" altLang="en-US" dirty="0"/>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按一下以編輯母片</a:t>
            </a:r>
            <a:endParaRPr lang="zh-TW" altLang="en-US" dirty="0"/>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4"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90204" pitchFamily="34" charset="0"/>
                <a:ea typeface="PMingLiU" pitchFamily="18" charset="-120"/>
                <a:cs typeface="Arial" panose="020B0604020202090204" pitchFamily="34" charset="0"/>
              </a:rPr>
              <a:t>National Tsing Hua University ® copyright OIA</a:t>
            </a:r>
            <a:endParaRPr lang="zh-TW" altLang="en-US" sz="1200" b="1" dirty="0">
              <a:solidFill>
                <a:schemeClr val="bg1"/>
              </a:solidFill>
              <a:latin typeface="Arial" panose="020B0604020202090204" pitchFamily="34" charset="0"/>
              <a:ea typeface="PMingLiU" pitchFamily="18" charset="-120"/>
              <a:cs typeface="Arial" panose="020B060402020209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90204" pitchFamily="34" charset="0"/>
                <a:ea typeface="PMingLiU" pitchFamily="18" charset="-120"/>
              </a:defRPr>
            </a:lvl1pPr>
          </a:lstStyle>
          <a:p>
            <a:fld id="{D9B6BDF2-6896-4B98-8776-C18582F63BA5}" type="slidenum">
              <a:rPr lang="zh-TW" altLang="en-US" smtClean="0"/>
            </a:fld>
            <a:endParaRPr lang="zh-TW" altLang="en-US"/>
          </a:p>
        </p:txBody>
      </p:sp>
      <p:pic>
        <p:nvPicPr>
          <p:cNvPr id="14" name="圖片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endParaRPr>
            </a:p>
            <a:p>
              <a:pPr algn="ctr">
                <a:spcAft>
                  <a:spcPts val="0"/>
                </a:spcAft>
              </a:pP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CUHK</a:t>
              </a:r>
              <a:r>
                <a:rPr lang="en-US" altLang="zh-TW" sz="1000" kern="100" dirty="0">
                  <a:solidFill>
                    <a:schemeClr val="bg1"/>
                  </a:solidFill>
                  <a:latin typeface="Times New Roman" panose="02020503050405090304" pitchFamily="18" charset="0"/>
                  <a:ea typeface="DengXian"/>
                  <a:cs typeface="Times New Roman" panose="02020503050405090304" pitchFamily="18" charset="0"/>
                </a:rPr>
                <a:t>-SZ Sc</a:t>
              </a: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hool of Data Science</a:t>
              </a:r>
              <a:endParaRPr lang="zh-TW" altLang="zh-TW" sz="1000" kern="100" dirty="0">
                <a:solidFill>
                  <a:schemeClr val="bg1"/>
                </a:solidFill>
                <a:latin typeface="Calibri" pitchFamily="34" charset="0"/>
                <a:ea typeface="PMingLiU" pitchFamily="18" charset="-120"/>
                <a:cs typeface="Times New Roman" panose="0202050305040509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46860"/>
            <a:ext cx="12191365" cy="1882140"/>
          </a:xfrm>
        </p:spPr>
        <p:txBody>
          <a:bodyPr/>
          <a:lstStyle/>
          <a:p>
            <a:pPr algn="ctr"/>
            <a:r>
              <a:rPr lang="en-US" altLang="zh-CN" sz="4000" dirty="0">
                <a:effectLst>
                  <a:outerShdw blurRad="38100" dist="38100" dir="2700000" algn="tl">
                    <a:srgbClr val="000000">
                      <a:alpha val="43137"/>
                    </a:srgbClr>
                  </a:outerShdw>
                </a:effectLst>
              </a:rPr>
              <a:t>From OS Paging to PagedAttention: Memory Management in Large Multimodal Models</a:t>
            </a:r>
            <a:endParaRPr lang="en-US" altLang="zh-CN" sz="40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14992"/>
            <a:ext cx="8534400" cy="1882455"/>
          </a:xfrm>
        </p:spPr>
        <p:txBody>
          <a:bodyPr/>
          <a:lstStyle/>
          <a:p>
            <a:r>
              <a:rPr lang="en-US" altLang="zh-TW" sz="3200" dirty="0">
                <a:effectLst>
                  <a:outerShdw blurRad="38100" dist="38100" dir="2700000" algn="tl">
                    <a:srgbClr val="000000">
                      <a:alpha val="43137"/>
                    </a:srgbClr>
                  </a:outerShdw>
                </a:effectLst>
              </a:rPr>
              <a:t>Yuhao Shen</a:t>
            </a:r>
            <a:endParaRPr lang="en-US" altLang="zh-TW"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endParaRPr lang="en-US" altLang="zh-TW" sz="3200" dirty="0"/>
          </a:p>
          <a:p>
            <a:r>
              <a:rPr lang="en-US" altLang="zh-TW" sz="3200" dirty="0"/>
              <a:t>Chinese University of Hong Kong, Shenzhen</a:t>
            </a:r>
            <a:endParaRPr lang="en-US" altLang="zh-TW"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296818" y="1481137"/>
            <a:ext cx="10270977" cy="356076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a:t>
            </a:r>
            <a:r>
              <a:rPr lang="zh-CN" altLang="en-US" sz="2935" dirty="0">
                <a:latin typeface="Times New Roman" panose="02020503050405090304" pitchFamily="18" charset="0"/>
                <a:cs typeface="Times New Roman" panose="02020503050405090304" pitchFamily="18" charset="0"/>
              </a:rPr>
              <a:t> </a:t>
            </a:r>
            <a:r>
              <a:rPr lang="en-US" altLang="zh-CN" sz="2935" dirty="0">
                <a:latin typeface="Times New Roman" panose="02020503050405090304" pitchFamily="18" charset="0"/>
                <a:cs typeface="Times New Roman" panose="02020503050405090304" pitchFamily="18" charset="0"/>
              </a:rPr>
              <a:t>Work</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Preliminaries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Performance Evaluation </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63295" y="4193540"/>
            <a:ext cx="10988675" cy="1362075"/>
          </a:xfrm>
        </p:spPr>
        <p:txBody>
          <a:bodyPr/>
          <a:lstStyle/>
          <a:p>
            <a:r>
              <a:rPr lang="en-US" altLang="zh-CN" sz="3600" dirty="0">
                <a:effectLst>
                  <a:outerShdw blurRad="38100" dist="38100" dir="2700000" algn="tl">
                    <a:srgbClr val="000000">
                      <a:alpha val="43137"/>
                    </a:srgbClr>
                  </a:outerShdw>
                </a:effectLst>
                <a:sym typeface="+mn-ea"/>
              </a:rPr>
              <a:t>From OS Paging to PagedAttention: Memory Management in Large Multimodal Models</a:t>
            </a:r>
            <a:endParaRPr lang="en-US" altLang="zh-CN" sz="3600" dirty="0">
              <a:effectLst>
                <a:outerShdw blurRad="38100" dist="38100" dir="2700000" algn="tl">
                  <a:srgbClr val="000000">
                    <a:alpha val="43137"/>
                  </a:srgbClr>
                </a:outerShdw>
              </a:effectLst>
              <a:sym typeface="+mn-ea"/>
            </a:endParaRPr>
          </a:p>
        </p:txBody>
      </p:sp>
      <p:sp>
        <p:nvSpPr>
          <p:cNvPr id="5" name="文字版面配置區 4"/>
          <p:cNvSpPr>
            <a:spLocks noGrp="1"/>
          </p:cNvSpPr>
          <p:nvPr>
            <p:ph type="body" idx="1"/>
          </p:nvPr>
        </p:nvSpPr>
        <p:spPr>
          <a:xfrm>
            <a:off x="2246313" y="1456839"/>
            <a:ext cx="7772400" cy="2562077"/>
          </a:xfrm>
        </p:spPr>
        <p:txBody>
          <a:bodyPr/>
          <a:lstStyle/>
          <a:p>
            <a:pPr algn="l">
              <a:lnSpc>
                <a:spcPct val="100000"/>
              </a:lnSpc>
              <a:spcBef>
                <a:spcPts val="20"/>
              </a:spcBef>
              <a:spcAft>
                <a:spcPts val="0"/>
              </a:spcAft>
              <a:buNone/>
            </a:pPr>
            <a:r>
              <a:rPr lang="en-US" altLang="zh-CN" sz="2800" dirty="0">
                <a:solidFill>
                  <a:srgbClr val="FF0000"/>
                </a:solidFill>
                <a:latin typeface="Times New Roman" panose="02020503050405090304" pitchFamily="18" charset="0"/>
                <a:cs typeface="Times New Roman" panose="02020503050405090304" pitchFamily="18" charset="0"/>
              </a:rPr>
              <a:t>Introduction</a:t>
            </a:r>
            <a:endParaRPr lang="en-US" altLang="zh-CN" sz="2800" dirty="0">
              <a:solidFill>
                <a:srgbClr val="FF0000"/>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Related Work</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Preliminaries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Proposed Methods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Performance Evaluation </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Conclusions</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2"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144780"/>
            <a:ext cx="12195175" cy="692150"/>
          </a:xfrm>
        </p:spPr>
        <p:txBody>
          <a:bodyPr/>
          <a:lstStyle/>
          <a:p>
            <a:r>
              <a:rPr lang="en-US" altLang="zh-CN" sz="3600" dirty="0">
                <a:latin typeface="Times New Roman" panose="02020503050405090304" pitchFamily="18" charset="0"/>
                <a:cs typeface="Times New Roman" panose="02020503050405090304" pitchFamily="18" charset="0"/>
              </a:rPr>
              <a:t>Introduction - The Memory Wall in Medical VLMs</a:t>
            </a:r>
            <a:endParaRPr lang="en-US" altLang="zh-CN" sz="3600"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342265" y="1125855"/>
            <a:ext cx="7599045" cy="4836160"/>
          </a:xfrm>
        </p:spPr>
        <p:txBody>
          <a:bodyPr/>
          <a:lstStyle/>
          <a:p>
            <a:r>
              <a:rPr lang="en-US" altLang="zh-CN" sz="2400" dirty="0">
                <a:latin typeface="Times New Roman" panose="02020503050405090304" pitchFamily="18" charset="0"/>
                <a:cs typeface="Times New Roman" panose="02020503050405090304" pitchFamily="18" charset="0"/>
              </a:rPr>
              <a:t>The Challenge: High-resolution inputs lead to explosive memory consumption.</a:t>
            </a:r>
            <a:endParaRPr lang="en-US" altLang="zh-CN" sz="24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Medical VLMs process massive 1024x1024 clinical images.</a:t>
            </a:r>
            <a:endParaRPr lang="en-US"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Long patient clinical histories further expand the context window drastically.</a:t>
            </a:r>
            <a:br>
              <a:rPr lang="en-US" sz="2200" dirty="0">
                <a:latin typeface="Times New Roman" panose="02020503050405090304" pitchFamily="18" charset="0"/>
                <a:cs typeface="Times New Roman" panose="02020503050405090304" pitchFamily="18" charset="0"/>
              </a:rPr>
            </a:br>
            <a:endParaRPr lang="en-US" sz="2200" dirty="0">
              <a:latin typeface="Times New Roman" panose="02020503050405090304" pitchFamily="18" charset="0"/>
              <a:cs typeface="Times New Roman" panose="02020503050405090304" pitchFamily="18" charset="0"/>
            </a:endParaRPr>
          </a:p>
          <a:p>
            <a:r>
              <a:rPr lang="en-US" altLang="zh-CN" sz="2400" dirty="0">
                <a:latin typeface="Times New Roman" panose="02020503050405090304" pitchFamily="18" charset="0"/>
                <a:cs typeface="Times New Roman" panose="02020503050405090304" pitchFamily="18" charset="0"/>
              </a:rPr>
              <a:t>The Bottleneck: GPU VRAM becomes the primary constraint, not compute.</a:t>
            </a:r>
            <a:endParaRPr lang="en-US" altLang="zh-CN" sz="24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Dynamic Key-Value (KV) cache grows linearly with every generated token.</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Memory capacity fundamentally limits batch size and overall system throughput.</a:t>
            </a:r>
            <a:endParaRPr lang="en-US" altLang="zh-CN" sz="22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12" name="图片 11" descr="image_850494099029195"/>
          <p:cNvPicPr>
            <a:picLocks noChangeAspect="1"/>
          </p:cNvPicPr>
          <p:nvPr/>
        </p:nvPicPr>
        <p:blipFill>
          <a:blip r:embed="rId1"/>
          <a:srcRect t="2332" b="2308"/>
          <a:stretch>
            <a:fillRect/>
          </a:stretch>
        </p:blipFill>
        <p:spPr>
          <a:xfrm>
            <a:off x="8032750" y="1125855"/>
            <a:ext cx="3919855" cy="4984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144780"/>
            <a:ext cx="12195175" cy="692150"/>
          </a:xfrm>
        </p:spPr>
        <p:txBody>
          <a:bodyPr/>
          <a:lstStyle/>
          <a:p>
            <a:r>
              <a:rPr lang="en-US" altLang="zh-CN" sz="3600" dirty="0">
                <a:latin typeface="Times New Roman" panose="02020503050405090304" pitchFamily="18" charset="0"/>
                <a:cs typeface="Times New Roman" panose="02020503050405090304" pitchFamily="18" charset="0"/>
              </a:rPr>
              <a:t>Introduction - The Anatomy of LLM Inference Memory</a:t>
            </a:r>
            <a:endParaRPr lang="en-US" altLang="zh-CN" sz="3600"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88900" y="1043940"/>
            <a:ext cx="6730365" cy="5070475"/>
          </a:xfrm>
        </p:spPr>
        <p:txBody>
          <a:bodyPr/>
          <a:lstStyle/>
          <a:p>
            <a:r>
              <a:rPr lang="en-US" altLang="zh-CN" sz="2400" dirty="0">
                <a:latin typeface="Times New Roman" panose="02020503050405090304" pitchFamily="18" charset="0"/>
                <a:cs typeface="Times New Roman" panose="02020503050405090304" pitchFamily="18" charset="0"/>
              </a:rPr>
              <a:t>Static vs. Dynamic Memory: The dual nature of LLM resource allocation.</a:t>
            </a:r>
            <a:endParaRPr lang="en-US" altLang="zh-CN" sz="24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Model weights are static, predictable, and strictly read-only during inference.</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The KV cache is highly dynamic, stateful, and unpredictable in total size.</a:t>
            </a:r>
            <a:endParaRPr lang="en-US" sz="2200" dirty="0">
              <a:latin typeface="Times New Roman" panose="02020503050405090304" pitchFamily="18" charset="0"/>
              <a:cs typeface="Times New Roman" panose="02020503050405090304" pitchFamily="18" charset="0"/>
            </a:endParaRPr>
          </a:p>
          <a:p>
            <a:r>
              <a:rPr lang="en-US" altLang="zh-CN" sz="2400" dirty="0">
                <a:latin typeface="Times New Roman" panose="02020503050405090304" pitchFamily="18" charset="0"/>
                <a:cs typeface="Times New Roman" panose="02020503050405090304" pitchFamily="18" charset="0"/>
              </a:rPr>
              <a:t>The Unpredictable Nature of Autoregressive Generation:</a:t>
            </a:r>
            <a:endParaRPr lang="en-US" altLang="zh-CN" sz="24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The exact length of the model's output is completely unknown at the time of the initial request.</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This unpredictability makes memory pre-allocation extremely difficult for system schedulers.</a:t>
            </a:r>
            <a:endParaRPr lang="en-US" altLang="zh-CN" sz="22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9" name="图片 8"/>
          <p:cNvPicPr>
            <a:picLocks noChangeAspect="1"/>
          </p:cNvPicPr>
          <p:nvPr/>
        </p:nvPicPr>
        <p:blipFill>
          <a:blip r:embed="rId1"/>
          <a:srcRect t="2449"/>
          <a:stretch>
            <a:fillRect/>
          </a:stretch>
        </p:blipFill>
        <p:spPr>
          <a:xfrm>
            <a:off x="6541770" y="1988185"/>
            <a:ext cx="5650230" cy="32632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144780"/>
            <a:ext cx="12195175" cy="692150"/>
          </a:xfrm>
        </p:spPr>
        <p:txBody>
          <a:bodyPr/>
          <a:lstStyle/>
          <a:p>
            <a:r>
              <a:rPr lang="en-US" altLang="zh-CN" sz="3600" dirty="0">
                <a:latin typeface="Times New Roman" panose="02020503050405090304" pitchFamily="18" charset="0"/>
                <a:cs typeface="Times New Roman" panose="02020503050405090304" pitchFamily="18" charset="0"/>
              </a:rPr>
              <a:t>Introduction - The Unique Demands of Medical AI</a:t>
            </a:r>
            <a:endParaRPr lang="en-US" altLang="zh-CN" sz="3600"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13030" y="1055370"/>
            <a:ext cx="6836410" cy="4888230"/>
          </a:xfrm>
        </p:spPr>
        <p:txBody>
          <a:bodyPr/>
          <a:lstStyle/>
          <a:p>
            <a:r>
              <a:rPr lang="en-US" altLang="zh-CN" sz="2200" dirty="0">
                <a:latin typeface="Times New Roman" panose="02020503050405090304" pitchFamily="18" charset="0"/>
                <a:cs typeface="Times New Roman" panose="02020503050405090304" pitchFamily="18" charset="0"/>
              </a:rPr>
              <a:t>Massive token generation from high-resolution visual encoders.</a:t>
            </a:r>
            <a:endParaRPr lang="en-US" altLang="zh-CN" sz="2200" dirty="0">
              <a:latin typeface="Times New Roman" panose="02020503050405090304" pitchFamily="18" charset="0"/>
              <a:cs typeface="Times New Roman" panose="02020503050405090304" pitchFamily="18" charset="0"/>
            </a:endParaRPr>
          </a:p>
          <a:p>
            <a:pPr lvl="1"/>
            <a:r>
              <a:rPr lang="en-US" altLang="zh-CN" sz="2000" dirty="0">
                <a:latin typeface="Times New Roman" panose="02020503050405090304" pitchFamily="18" charset="0"/>
                <a:cs typeface="Times New Roman" panose="02020503050405090304" pitchFamily="18" charset="0"/>
              </a:rPr>
              <a:t>Medical VLMs process ultra-high-resolution diagnostic images (e.g., pathology slides), translating into millions of dense visual tokens.</a:t>
            </a:r>
            <a:endParaRPr lang="en-US" altLang="zh-CN" sz="2000" dirty="0">
              <a:latin typeface="Times New Roman" panose="02020503050405090304" pitchFamily="18" charset="0"/>
              <a:cs typeface="Times New Roman" panose="02020503050405090304" pitchFamily="18" charset="0"/>
            </a:endParaRPr>
          </a:p>
          <a:p>
            <a:pPr lvl="1"/>
            <a:r>
              <a:rPr lang="en-US" altLang="zh-CN" sz="2000" dirty="0">
                <a:latin typeface="Times New Roman" panose="02020503050405090304" pitchFamily="18" charset="0"/>
                <a:cs typeface="Times New Roman" panose="02020503050405090304" pitchFamily="18" charset="0"/>
              </a:rPr>
              <a:t>This creates an exceptionally large initial KV cache footprint before the autoregressive text generation even begins.</a:t>
            </a:r>
            <a:endParaRPr lang="en-US" altLang="zh-CN" sz="2200" dirty="0">
              <a:latin typeface="Times New Roman" panose="02020503050405090304" pitchFamily="18" charset="0"/>
              <a:cs typeface="Times New Roman" panose="02020503050405090304" pitchFamily="18" charset="0"/>
            </a:endParaRPr>
          </a:p>
          <a:p>
            <a:r>
              <a:rPr lang="en-US" altLang="zh-CN" sz="2200" dirty="0">
                <a:latin typeface="Times New Roman" panose="02020503050405090304" pitchFamily="18" charset="0"/>
                <a:cs typeface="Times New Roman" panose="02020503050405090304" pitchFamily="18" charset="0"/>
              </a:rPr>
              <a:t>Clinical reasoning strictly prohibits context truncation.</a:t>
            </a:r>
            <a:endParaRPr lang="en-US" altLang="zh-CN" sz="2200" dirty="0">
              <a:latin typeface="Times New Roman" panose="02020503050405090304" pitchFamily="18" charset="0"/>
              <a:cs typeface="Times New Roman" panose="02020503050405090304" pitchFamily="18" charset="0"/>
            </a:endParaRPr>
          </a:p>
          <a:p>
            <a:pPr lvl="1"/>
            <a:r>
              <a:rPr lang="en-US" altLang="zh-CN" sz="2000" dirty="0">
                <a:latin typeface="Times New Roman" panose="02020503050405090304" pitchFamily="18" charset="0"/>
                <a:cs typeface="Times New Roman" panose="02020503050405090304" pitchFamily="18" charset="0"/>
              </a:rPr>
              <a:t>Diagnostic workflows heavily rely on lengthy patient clinical histories and continuous multi-turn consultations.</a:t>
            </a:r>
            <a:endParaRPr lang="en-US" altLang="zh-CN" sz="2000" dirty="0">
              <a:latin typeface="Times New Roman" panose="02020503050405090304" pitchFamily="18" charset="0"/>
              <a:cs typeface="Times New Roman" panose="02020503050405090304" pitchFamily="18" charset="0"/>
            </a:endParaRPr>
          </a:p>
          <a:p>
            <a:pPr lvl="1"/>
            <a:r>
              <a:rPr lang="en-US" altLang="zh-CN" sz="2000" dirty="0">
                <a:latin typeface="Times New Roman" panose="02020503050405090304" pitchFamily="18" charset="0"/>
                <a:cs typeface="Times New Roman" panose="02020503050405090304" pitchFamily="18" charset="0"/>
              </a:rPr>
              <a:t>Unlike general AI chatbots, forcefully dropping earlier context to save memory is unacceptable as it can lead to fatal diagnostic errors.</a:t>
            </a:r>
            <a:endParaRPr lang="en-US" altLang="zh-CN" sz="20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5" name="图片 4"/>
          <p:cNvPicPr>
            <a:picLocks noChangeAspect="1"/>
          </p:cNvPicPr>
          <p:nvPr/>
        </p:nvPicPr>
        <p:blipFill>
          <a:blip r:embed="rId1"/>
          <a:srcRect t="3886" r="48557" b="6258"/>
          <a:stretch>
            <a:fillRect/>
          </a:stretch>
        </p:blipFill>
        <p:spPr>
          <a:xfrm>
            <a:off x="6949440" y="1176655"/>
            <a:ext cx="5003165" cy="47675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63295" y="4193540"/>
            <a:ext cx="10363200" cy="1760220"/>
          </a:xfrm>
        </p:spPr>
        <p:txBody>
          <a:bodyPr/>
          <a:lstStyle/>
          <a:p>
            <a:r>
              <a:rPr lang="en-US" altLang="zh-CN" sz="3600" dirty="0">
                <a:effectLst>
                  <a:outerShdw blurRad="38100" dist="38100" dir="2700000" algn="tl">
                    <a:srgbClr val="000000">
                      <a:alpha val="43137"/>
                    </a:srgbClr>
                  </a:outerShdw>
                </a:effectLst>
                <a:sym typeface="+mn-ea"/>
              </a:rPr>
              <a:t>From OS Paging to PagedAttention: Memory Management in Large Multimodal Models</a:t>
            </a:r>
            <a:endParaRPr lang="en-US" altLang="zh-CN" sz="3600" dirty="0">
              <a:effectLst>
                <a:outerShdw blurRad="38100" dist="38100" dir="2700000" algn="tl">
                  <a:srgbClr val="000000">
                    <a:alpha val="43137"/>
                  </a:srgbClr>
                </a:outerShdw>
              </a:effectLst>
              <a:sym typeface="+mn-ea"/>
            </a:endParaRPr>
          </a:p>
        </p:txBody>
      </p:sp>
      <p:sp>
        <p:nvSpPr>
          <p:cNvPr id="5" name="文字版面配置區 4"/>
          <p:cNvSpPr>
            <a:spLocks noGrp="1"/>
          </p:cNvSpPr>
          <p:nvPr>
            <p:ph type="body" idx="1"/>
          </p:nvPr>
        </p:nvSpPr>
        <p:spPr>
          <a:xfrm>
            <a:off x="2246313" y="1456839"/>
            <a:ext cx="7772400" cy="2562077"/>
          </a:xfrm>
        </p:spPr>
        <p:txBody>
          <a:bodyPr/>
          <a:lstStyle/>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Introduction</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rgbClr val="FF0000"/>
                </a:solidFill>
                <a:latin typeface="Times New Roman" panose="02020503050405090304" pitchFamily="18" charset="0"/>
                <a:cs typeface="Times New Roman" panose="02020503050405090304" pitchFamily="18" charset="0"/>
              </a:rPr>
              <a:t>Related Work</a:t>
            </a:r>
            <a:endParaRPr lang="en-US" altLang="zh-CN" sz="2800" dirty="0">
              <a:solidFill>
                <a:srgbClr val="FF0000"/>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Preliminaries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Proposed Methods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Performance Evaluation </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Conclusions</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2"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655" y="144780"/>
            <a:ext cx="12640945" cy="692150"/>
          </a:xfrm>
        </p:spPr>
        <p:txBody>
          <a:bodyPr/>
          <a:lstStyle/>
          <a:p>
            <a:pPr algn="l">
              <a:buClrTx/>
              <a:buSzTx/>
              <a:buFontTx/>
            </a:pPr>
            <a:r>
              <a:rPr lang="en-US" altLang="zh-CN" sz="3600" dirty="0">
                <a:latin typeface="Times New Roman" panose="02020503050405090304" pitchFamily="18" charset="0"/>
                <a:cs typeface="Times New Roman" panose="02020503050405090304" pitchFamily="18" charset="0"/>
              </a:rPr>
              <a:t>Related Work - LLM Serving &amp; Fragmentation</a:t>
            </a:r>
            <a:endParaRPr lang="en-US" altLang="zh-CN" sz="3600"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862965" y="1215390"/>
            <a:ext cx="10808970" cy="4931410"/>
          </a:xfrm>
        </p:spPr>
        <p:txBody>
          <a:bodyPr/>
          <a:lstStyle/>
          <a:p>
            <a:r>
              <a:rPr lang="en-US" altLang="zh-CN" sz="2800" dirty="0">
                <a:latin typeface="Times New Roman" panose="02020503050405090304" pitchFamily="18" charset="0"/>
                <a:cs typeface="Times New Roman" panose="02020503050405090304" pitchFamily="18" charset="0"/>
              </a:rPr>
              <a:t>Standard Approach: Frameworks pre-allocate contiguous GPU memory.</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Allocation is based strictly on the Maximum Sequence Length expected.</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This naive design mimics early, primitive OS memory allocation schemes.</a:t>
            </a:r>
            <a:endParaRPr lang="en-US" altLang="zh-CN" sz="2400" dirty="0">
              <a:latin typeface="Times New Roman" panose="02020503050405090304" pitchFamily="18" charset="0"/>
              <a:cs typeface="Times New Roman" panose="02020503050405090304" pitchFamily="18" charset="0"/>
            </a:endParaRPr>
          </a:p>
          <a:p>
            <a:pPr lvl="1"/>
            <a:endParaRPr lang="en-US" altLang="zh-CN" sz="2400" dirty="0">
              <a:latin typeface="Times New Roman" panose="02020503050405090304" pitchFamily="18" charset="0"/>
              <a:cs typeface="Times New Roman" panose="02020503050405090304" pitchFamily="18" charset="0"/>
            </a:endParaRPr>
          </a:p>
          <a:p>
            <a:r>
              <a:rPr lang="en-US" altLang="zh-CN" sz="2800" dirty="0">
                <a:latin typeface="Times New Roman" panose="02020503050405090304" pitchFamily="18" charset="0"/>
                <a:cs typeface="Times New Roman" panose="02020503050405090304" pitchFamily="18" charset="0"/>
              </a:rPr>
              <a:t>Memory Fragmentation: A significant waste of precious VRAM capacity.</a:t>
            </a:r>
            <a:r>
              <a:rPr lang="en-US" sz="2800" dirty="0">
                <a:latin typeface="Times New Roman" panose="02020503050405090304" pitchFamily="18" charset="0"/>
                <a:cs typeface="Times New Roman" panose="02020503050405090304" pitchFamily="18" charset="0"/>
              </a:rPr>
              <a:t> </a:t>
            </a:r>
            <a:endParaRPr lang="en-US" sz="28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fragmentation occurs from over-provisioning for unknown, shorter output lengths.</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fragmentation arises from irregular memory chunk sizes over time.</a:t>
            </a:r>
            <a:endParaRPr lang="en-US" altLang="zh-CN" sz="24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655" y="144780"/>
            <a:ext cx="12640945" cy="692150"/>
          </a:xfrm>
        </p:spPr>
        <p:txBody>
          <a:bodyPr/>
          <a:lstStyle/>
          <a:p>
            <a:pPr algn="l">
              <a:buClrTx/>
              <a:buSzTx/>
              <a:buFontTx/>
            </a:pPr>
            <a:r>
              <a:rPr lang="en-US" altLang="zh-CN" sz="3600" dirty="0">
                <a:latin typeface="Times New Roman" panose="02020503050405090304" pitchFamily="18" charset="0"/>
                <a:cs typeface="Times New Roman" panose="02020503050405090304" pitchFamily="18" charset="0"/>
              </a:rPr>
              <a:t>Related Work - Hardware Solutions and Limitations</a:t>
            </a:r>
            <a:endParaRPr lang="en-US" altLang="zh-CN" sz="3600"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07315" y="1176655"/>
            <a:ext cx="6936105" cy="4931410"/>
          </a:xfrm>
        </p:spPr>
        <p:txBody>
          <a:bodyPr/>
          <a:lstStyle/>
          <a:p>
            <a:r>
              <a:rPr lang="en-US" altLang="zh-CN" sz="2400" dirty="0">
                <a:latin typeface="Times New Roman" panose="02020503050405090304" pitchFamily="18" charset="0"/>
                <a:cs typeface="Times New Roman" panose="02020503050405090304" pitchFamily="18" charset="0"/>
              </a:rPr>
              <a:t>Scaling Out with Multi-GPU Parallelism:</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Tensor Parallelism and Pipeline Parallelism distribute memory across multiple GPUs.</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These approaches alleviate single-card VRAM limits through distributed computing.</a:t>
            </a:r>
            <a:endParaRPr lang="en-US" altLang="zh-CN" sz="2200" dirty="0">
              <a:latin typeface="Times New Roman" panose="02020503050405090304" pitchFamily="18" charset="0"/>
              <a:cs typeface="Times New Roman" panose="02020503050405090304" pitchFamily="18" charset="0"/>
            </a:endParaRPr>
          </a:p>
          <a:p>
            <a:pPr lvl="1"/>
            <a:endParaRPr lang="en-US" altLang="zh-CN" sz="2200" dirty="0">
              <a:latin typeface="Times New Roman" panose="02020503050405090304" pitchFamily="18" charset="0"/>
              <a:cs typeface="Times New Roman" panose="02020503050405090304" pitchFamily="18" charset="0"/>
            </a:endParaRPr>
          </a:p>
          <a:p>
            <a:r>
              <a:rPr lang="en-US" altLang="zh-CN" sz="2400" dirty="0">
                <a:latin typeface="Times New Roman" panose="02020503050405090304" pitchFamily="18" charset="0"/>
                <a:cs typeface="Times New Roman" panose="02020503050405090304" pitchFamily="18" charset="0"/>
              </a:rPr>
              <a:t>The Limitations for Clinical Deployments:</a:t>
            </a:r>
            <a:endParaRPr lang="en-US" altLang="zh-CN" sz="24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Introduces heavy communication overhead across the PCIe or NVLink interconnects.</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Local hospital deployments often prefer single-GPU workstations to ensure patient data privacy and reduce costs.</a:t>
            </a:r>
            <a:endParaRPr lang="en-US" altLang="zh-CN" sz="22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7" name="图片 6"/>
          <p:cNvPicPr>
            <a:picLocks noChangeAspect="1"/>
          </p:cNvPicPr>
          <p:nvPr/>
        </p:nvPicPr>
        <p:blipFill>
          <a:blip r:embed="rId1"/>
          <a:stretch>
            <a:fillRect/>
          </a:stretch>
        </p:blipFill>
        <p:spPr>
          <a:xfrm>
            <a:off x="7014845" y="1125855"/>
            <a:ext cx="4974590" cy="48742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63084" y="4193543"/>
            <a:ext cx="10363200" cy="1362075"/>
          </a:xfrm>
        </p:spPr>
        <p:txBody>
          <a:bodyPr/>
          <a:lstStyle/>
          <a:p>
            <a:r>
              <a:rPr lang="en-US" altLang="zh-CN" sz="3600" dirty="0">
                <a:effectLst>
                  <a:outerShdw blurRad="38100" dist="38100" dir="2700000" algn="tl">
                    <a:srgbClr val="000000">
                      <a:alpha val="43137"/>
                    </a:srgbClr>
                  </a:outerShdw>
                </a:effectLst>
                <a:sym typeface="+mn-ea"/>
              </a:rPr>
              <a:t>From OS Paging to PagedAttention: Memory Management in Large Multimodal Models</a:t>
            </a:r>
            <a:endParaRPr lang="en-US" altLang="zh-CN" sz="3600" dirty="0">
              <a:effectLst>
                <a:outerShdw blurRad="38100" dist="38100" dir="2700000" algn="tl">
                  <a:srgbClr val="000000">
                    <a:alpha val="43137"/>
                  </a:srgbClr>
                </a:outerShdw>
              </a:effectLst>
              <a:sym typeface="+mn-ea"/>
            </a:endParaRPr>
          </a:p>
        </p:txBody>
      </p:sp>
      <p:sp>
        <p:nvSpPr>
          <p:cNvPr id="5" name="文字版面配置區 4"/>
          <p:cNvSpPr>
            <a:spLocks noGrp="1"/>
          </p:cNvSpPr>
          <p:nvPr>
            <p:ph type="body" idx="1"/>
          </p:nvPr>
        </p:nvSpPr>
        <p:spPr>
          <a:xfrm>
            <a:off x="2246313" y="1456839"/>
            <a:ext cx="7772400" cy="2562077"/>
          </a:xfrm>
        </p:spPr>
        <p:txBody>
          <a:bodyPr/>
          <a:lstStyle/>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Introduction</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Related Work</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rgbClr val="FF0000"/>
                </a:solidFill>
                <a:latin typeface="Times New Roman" panose="02020503050405090304" pitchFamily="18" charset="0"/>
                <a:cs typeface="Times New Roman" panose="02020503050405090304" pitchFamily="18" charset="0"/>
              </a:rPr>
              <a:t>Preliminaries</a:t>
            </a:r>
            <a:endParaRPr lang="en-US" altLang="zh-CN" sz="2800" dirty="0">
              <a:solidFill>
                <a:srgbClr val="FF0000"/>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Proposed Methods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Performance Evaluation </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Conclusions</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2"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sz="3600" dirty="0">
                <a:latin typeface="Times New Roman" panose="02020503050405090304" pitchFamily="18" charset="0"/>
                <a:cs typeface="Times New Roman" panose="02020503050405090304" pitchFamily="18" charset="0"/>
                <a:sym typeface="+mn-ea"/>
              </a:rPr>
              <a:t>Preliminaries</a:t>
            </a:r>
            <a:r>
              <a:rPr kumimoji="1" lang="en-US" altLang="zh-CN" sz="3600" dirty="0">
                <a:latin typeface="Times New Roman" panose="02020503050405090304" pitchFamily="18" charset="0"/>
                <a:cs typeface="Times New Roman" panose="02020503050405090304" pitchFamily="18" charset="0"/>
              </a:rPr>
              <a:t> - Virtual Memory and Paging</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802005" y="1077595"/>
            <a:ext cx="10765790" cy="1458595"/>
          </a:xfrm>
        </p:spPr>
        <p:txBody>
          <a:bodyPr/>
          <a:lstStyle/>
          <a:p>
            <a:r>
              <a:rPr lang="en-US" altLang="zh-CN" sz="2400" dirty="0">
                <a:latin typeface="Times New Roman" panose="02020503050405090304" pitchFamily="18" charset="0"/>
                <a:cs typeface="Times New Roman" panose="02020503050405090304" pitchFamily="18" charset="0"/>
              </a:rPr>
              <a:t>Virtual Memory: Abstracting physical RAM into logical address spaces.</a:t>
            </a:r>
            <a:endParaRPr lang="en-US" altLang="zh-CN" sz="2400" dirty="0">
              <a:latin typeface="Times New Roman" panose="02020503050405090304" pitchFamily="18" charset="0"/>
              <a:cs typeface="Times New Roman" panose="02020503050405090304" pitchFamily="18" charset="0"/>
            </a:endParaRPr>
          </a:p>
          <a:p>
            <a:pPr lvl="1"/>
            <a:r>
              <a:rPr lang="en-US" altLang="zh-CN" sz="2055" dirty="0">
                <a:latin typeface="Times New Roman" panose="02020503050405090304" pitchFamily="18" charset="0"/>
                <a:cs typeface="Times New Roman" panose="02020503050405090304" pitchFamily="18" charset="0"/>
              </a:rPr>
              <a:t>Isolates processes from each other to ensure system stability.</a:t>
            </a:r>
            <a:endParaRPr lang="en-US" altLang="zh-CN" sz="2055" dirty="0">
              <a:latin typeface="Times New Roman" panose="02020503050405090304" pitchFamily="18" charset="0"/>
              <a:cs typeface="Times New Roman" panose="02020503050405090304" pitchFamily="18" charset="0"/>
            </a:endParaRPr>
          </a:p>
          <a:p>
            <a:pPr lvl="1"/>
            <a:r>
              <a:rPr lang="en-US" altLang="zh-CN" sz="2055" dirty="0">
                <a:latin typeface="Times New Roman" panose="02020503050405090304" pitchFamily="18" charset="0"/>
                <a:cs typeface="Times New Roman" panose="02020503050405090304" pitchFamily="18" charset="0"/>
              </a:rPr>
              <a:t>Presents a contiguous memory illusion to applications, simplifying software development.</a:t>
            </a:r>
            <a:endParaRPr lang="en-US" altLang="zh-CN" sz="205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8" name="图片 7"/>
          <p:cNvPicPr>
            <a:picLocks noChangeAspect="1"/>
          </p:cNvPicPr>
          <p:nvPr/>
        </p:nvPicPr>
        <p:blipFill>
          <a:blip r:embed="rId1"/>
          <a:stretch>
            <a:fillRect/>
          </a:stretch>
        </p:blipFill>
        <p:spPr>
          <a:xfrm>
            <a:off x="2253615" y="2421890"/>
            <a:ext cx="7085965" cy="36264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sz="3600" dirty="0">
                <a:latin typeface="Times New Roman" panose="02020503050405090304" pitchFamily="18" charset="0"/>
                <a:cs typeface="Times New Roman" panose="02020503050405090304" pitchFamily="18" charset="0"/>
                <a:sym typeface="+mn-ea"/>
              </a:rPr>
              <a:t>Preliminaries</a:t>
            </a:r>
            <a:r>
              <a:rPr kumimoji="1" lang="en-US" altLang="zh-CN" sz="3600" dirty="0">
                <a:latin typeface="Times New Roman" panose="02020503050405090304" pitchFamily="18" charset="0"/>
                <a:cs typeface="Times New Roman" panose="02020503050405090304" pitchFamily="18" charset="0"/>
              </a:rPr>
              <a:t> -  </a:t>
            </a:r>
            <a:r>
              <a:rPr lang="en-US" altLang="zh-CN" sz="3600" dirty="0">
                <a:latin typeface="Times New Roman" panose="02020503050405090304" pitchFamily="18" charset="0"/>
                <a:cs typeface="Times New Roman" panose="02020503050405090304" pitchFamily="18" charset="0"/>
                <a:sym typeface="+mn-ea"/>
              </a:rPr>
              <a:t>Paging Mechanism</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482600" y="1274445"/>
            <a:ext cx="5339715" cy="4811395"/>
          </a:xfrm>
        </p:spPr>
        <p:txBody>
          <a:bodyPr/>
          <a:lstStyle/>
          <a:p>
            <a:pPr>
              <a:lnSpc>
                <a:spcPct val="150000"/>
              </a:lnSpc>
            </a:pPr>
            <a:r>
              <a:rPr lang="en-US" altLang="zh-CN" sz="2400" dirty="0">
                <a:latin typeface="Times New Roman" panose="02020503050405090304" pitchFamily="18" charset="0"/>
                <a:cs typeface="Times New Roman" panose="02020503050405090304" pitchFamily="18" charset="0"/>
              </a:rPr>
              <a:t>Paging Mechanism: The ultimate solution to external fragmentation.</a:t>
            </a:r>
            <a:endParaRPr lang="en-US" altLang="zh-CN" sz="2400" dirty="0">
              <a:latin typeface="Times New Roman" panose="02020503050405090304" pitchFamily="18" charset="0"/>
              <a:cs typeface="Times New Roman" panose="02020503050405090304" pitchFamily="18" charset="0"/>
            </a:endParaRPr>
          </a:p>
          <a:p>
            <a:pPr lvl="1">
              <a:lnSpc>
                <a:spcPct val="150000"/>
              </a:lnSpc>
            </a:pPr>
            <a:r>
              <a:rPr lang="en-US" altLang="zh-CN" sz="2055" dirty="0">
                <a:latin typeface="Times New Roman" panose="02020503050405090304" pitchFamily="18" charset="0"/>
                <a:cs typeface="Times New Roman" panose="02020503050405090304" pitchFamily="18" charset="0"/>
              </a:rPr>
              <a:t>Divides physical memory into fixed-size "frames" and logical memory into equal-sized "pages".</a:t>
            </a:r>
            <a:endParaRPr lang="en-US" altLang="zh-CN" sz="2055" dirty="0">
              <a:latin typeface="Times New Roman" panose="02020503050405090304" pitchFamily="18" charset="0"/>
              <a:cs typeface="Times New Roman" panose="02020503050405090304" pitchFamily="18" charset="0"/>
            </a:endParaRPr>
          </a:p>
          <a:p>
            <a:pPr lvl="1">
              <a:lnSpc>
                <a:spcPct val="150000"/>
              </a:lnSpc>
            </a:pPr>
            <a:r>
              <a:rPr lang="en-US" altLang="zh-CN" sz="2055" dirty="0">
                <a:latin typeface="Times New Roman" panose="02020503050405090304" pitchFamily="18" charset="0"/>
                <a:cs typeface="Times New Roman" panose="02020503050405090304" pitchFamily="18" charset="0"/>
              </a:rPr>
              <a:t>Utilizes a Page Table to dynamically map logical pages to scattered physical frames.</a:t>
            </a:r>
            <a:endParaRPr lang="en-US" altLang="zh-CN" sz="205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8" name="图片 7"/>
          <p:cNvPicPr>
            <a:picLocks noChangeAspect="1"/>
          </p:cNvPicPr>
          <p:nvPr/>
        </p:nvPicPr>
        <p:blipFill>
          <a:blip r:embed="rId1"/>
          <a:stretch>
            <a:fillRect/>
          </a:stretch>
        </p:blipFill>
        <p:spPr>
          <a:xfrm>
            <a:off x="6116955" y="1133475"/>
            <a:ext cx="5835650" cy="49345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sz="3600" dirty="0">
                <a:latin typeface="Times New Roman" panose="02020503050405090304" pitchFamily="18" charset="0"/>
                <a:cs typeface="Times New Roman" panose="02020503050405090304" pitchFamily="18" charset="0"/>
                <a:sym typeface="+mn-ea"/>
              </a:rPr>
              <a:t>Preliminaries</a:t>
            </a:r>
            <a:r>
              <a:rPr kumimoji="1" lang="en-US" altLang="zh-CN" sz="3600" dirty="0">
                <a:latin typeface="Times New Roman" panose="02020503050405090304" pitchFamily="18" charset="0"/>
                <a:cs typeface="Times New Roman" panose="02020503050405090304" pitchFamily="18" charset="0"/>
              </a:rPr>
              <a:t> -  Shared Memory and CoW</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387350" y="1045210"/>
            <a:ext cx="5417185" cy="4811395"/>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Efficient Resource Sharing: Minimizing redundancy across processes.</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When an OS forks a new process, it does not immediately duplicate the physical memory.</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On-Demand Allocation: The Copy-on-Write (CoW) trigger.</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A new, separate physical page is allocated only when a process attempts to modify the shared data.</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4" name="图片 3"/>
          <p:cNvPicPr>
            <a:picLocks noChangeAspect="1"/>
          </p:cNvPicPr>
          <p:nvPr/>
        </p:nvPicPr>
        <p:blipFill>
          <a:blip r:embed="rId1"/>
          <a:stretch>
            <a:fillRect/>
          </a:stretch>
        </p:blipFill>
        <p:spPr>
          <a:xfrm>
            <a:off x="5920740" y="1121410"/>
            <a:ext cx="6141085" cy="47732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sz="3600" dirty="0">
                <a:latin typeface="Times New Roman" panose="02020503050405090304" pitchFamily="18" charset="0"/>
                <a:cs typeface="Times New Roman" panose="02020503050405090304" pitchFamily="18" charset="0"/>
                <a:sym typeface="+mn-ea"/>
              </a:rPr>
              <a:t>Preliminaries</a:t>
            </a:r>
            <a:r>
              <a:rPr kumimoji="1" lang="en-US" altLang="zh-CN" sz="3600" dirty="0">
                <a:latin typeface="Times New Roman" panose="02020503050405090304" pitchFamily="18" charset="0"/>
                <a:cs typeface="Times New Roman" panose="02020503050405090304" pitchFamily="18" charset="0"/>
              </a:rPr>
              <a:t> -  Memory Hierarchy and Swapping</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200025" y="1023620"/>
            <a:ext cx="5470525" cy="4811395"/>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The Storage Hierarchy: Balancing speed and capacity.</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Computer systems rely on a tiered architecture: CPU Registers -&gt; Cache -&gt; RAM -&gt;  Secondary Storage (Disk).</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Swapping Mechanism: Overcoming the physical limits of primary memory.</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When the CPU demands an offloaded page, a "Page Fault" triggers the OS to swap it back into RAM.</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9" name="图片 8"/>
          <p:cNvPicPr>
            <a:picLocks noChangeAspect="1"/>
          </p:cNvPicPr>
          <p:nvPr/>
        </p:nvPicPr>
        <p:blipFill>
          <a:blip r:embed="rId1"/>
          <a:srcRect t="4429" b="1563"/>
          <a:stretch>
            <a:fillRect/>
          </a:stretch>
        </p:blipFill>
        <p:spPr>
          <a:xfrm>
            <a:off x="5670550" y="1280160"/>
            <a:ext cx="6358255" cy="46920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63084" y="4193543"/>
            <a:ext cx="10363200" cy="1362075"/>
          </a:xfrm>
        </p:spPr>
        <p:txBody>
          <a:bodyPr/>
          <a:lstStyle/>
          <a:p>
            <a:r>
              <a:rPr lang="en-US" altLang="zh-CN" sz="3600" dirty="0">
                <a:effectLst>
                  <a:outerShdw blurRad="38100" dist="38100" dir="2700000" algn="tl">
                    <a:srgbClr val="000000">
                      <a:alpha val="43137"/>
                    </a:srgbClr>
                  </a:outerShdw>
                </a:effectLst>
                <a:sym typeface="+mn-ea"/>
              </a:rPr>
              <a:t>From OS Paging to PagedAttention: Memory Management in Large Multimodal Models</a:t>
            </a:r>
            <a:endParaRPr lang="en-US" altLang="zh-CN" sz="3600" dirty="0">
              <a:effectLst>
                <a:outerShdw blurRad="38100" dist="38100" dir="2700000" algn="tl">
                  <a:srgbClr val="000000">
                    <a:alpha val="43137"/>
                  </a:srgbClr>
                </a:outerShdw>
              </a:effectLst>
              <a:sym typeface="+mn-ea"/>
            </a:endParaRPr>
          </a:p>
        </p:txBody>
      </p:sp>
      <p:sp>
        <p:nvSpPr>
          <p:cNvPr id="5" name="文字版面配置區 4"/>
          <p:cNvSpPr>
            <a:spLocks noGrp="1"/>
          </p:cNvSpPr>
          <p:nvPr>
            <p:ph type="body" idx="1"/>
          </p:nvPr>
        </p:nvSpPr>
        <p:spPr>
          <a:xfrm>
            <a:off x="2246313" y="1456839"/>
            <a:ext cx="7772400" cy="2562077"/>
          </a:xfrm>
        </p:spPr>
        <p:txBody>
          <a:bodyPr/>
          <a:lstStyle/>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Introduction</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Related Work</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Preliminaries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rgbClr val="FF0000"/>
                </a:solidFill>
                <a:latin typeface="Times New Roman" panose="02020503050405090304" pitchFamily="18" charset="0"/>
                <a:cs typeface="Times New Roman" panose="02020503050405090304" pitchFamily="18" charset="0"/>
              </a:rPr>
              <a:t>Proposed Methods</a:t>
            </a:r>
            <a:endParaRPr lang="en-US" altLang="zh-CN" sz="2800" dirty="0">
              <a:solidFill>
                <a:srgbClr val="FF0000"/>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Performance Evaluation </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Conclusions</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2"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CN" sz="3600" dirty="0">
                <a:latin typeface="Times New Roman" panose="02020503050405090304" pitchFamily="18" charset="0"/>
                <a:cs typeface="Times New Roman" panose="02020503050405090304" pitchFamily="18" charset="0"/>
              </a:rPr>
              <a:t>Proposed Methods - PagedAttention (vLLM)</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200025" y="1033780"/>
            <a:ext cx="6142990"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Paper 1: vLLM (SOSP 2023) translates OS paging into AI memory management.</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Introduces the "PagedAttention" algorithm for high-throughput inference serving.</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Concept: Treat the dynamic KV cache exactly like OS memory pages.</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Divides the continuous KV cache into fixed-size "blocks" , a</a:t>
            </a:r>
            <a:r>
              <a:rPr lang="en-US" altLang="zh-CN" sz="2000" dirty="0">
                <a:latin typeface="Times New Roman" panose="02020503050405090304" pitchFamily="18" charset="0"/>
                <a:cs typeface="Times New Roman" panose="02020503050405090304" pitchFamily="18" charset="0"/>
              </a:rPr>
              <a:t>chieves logical continuity for the attention algorithm while allowing physical sparsity in GPU VRAM.</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4" name="图片 3"/>
          <p:cNvPicPr>
            <a:picLocks noChangeAspect="1"/>
          </p:cNvPicPr>
          <p:nvPr/>
        </p:nvPicPr>
        <p:blipFill>
          <a:blip r:embed="rId1"/>
          <a:stretch>
            <a:fillRect/>
          </a:stretch>
        </p:blipFill>
        <p:spPr>
          <a:xfrm>
            <a:off x="6560185" y="1160780"/>
            <a:ext cx="5007610" cy="2411095"/>
          </a:xfrm>
          <a:prstGeom prst="rect">
            <a:avLst/>
          </a:prstGeom>
        </p:spPr>
      </p:pic>
      <p:pic>
        <p:nvPicPr>
          <p:cNvPr id="6" name="图片 5"/>
          <p:cNvPicPr>
            <a:picLocks noChangeAspect="1"/>
          </p:cNvPicPr>
          <p:nvPr/>
        </p:nvPicPr>
        <p:blipFill>
          <a:blip r:embed="rId2"/>
          <a:srcRect l="11224" t="6786" r="4444" b="7187"/>
          <a:stretch>
            <a:fillRect/>
          </a:stretch>
        </p:blipFill>
        <p:spPr>
          <a:xfrm>
            <a:off x="6430010" y="3660140"/>
            <a:ext cx="5401310" cy="23958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CN" sz="3200" dirty="0">
                <a:latin typeface="Times New Roman" panose="02020503050405090304" pitchFamily="18" charset="0"/>
                <a:cs typeface="Times New Roman" panose="02020503050405090304" pitchFamily="18" charset="0"/>
              </a:rPr>
              <a:t>Proposed Methods - PagedAttention : The Block Table</a:t>
            </a:r>
            <a:endParaRPr kumimoji="1" lang="en-US" altLang="zh-CN" sz="32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0175" y="1063625"/>
            <a:ext cx="4651375" cy="473075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The Block Table: Decoupling logical and physical memory.</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Dynamically maps logical token blocks to physically scattered GPU addresses.</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000" dirty="0">
                <a:latin typeface="Times New Roman" panose="02020503050405090304" pitchFamily="18" charset="0"/>
                <a:cs typeface="Times New Roman" panose="02020503050405090304" pitchFamily="18" charset="0"/>
              </a:rPr>
              <a:t>Dynamic Allocation: Eradicating internal fragmentation completely.</a:t>
            </a:r>
            <a:endParaRPr lang="en-US" altLang="zh-CN" sz="20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Physical memory blocks are allocated strictly on-demand during the token generation phase.</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8" name="图片 7"/>
          <p:cNvPicPr>
            <a:picLocks noChangeAspect="1"/>
          </p:cNvPicPr>
          <p:nvPr/>
        </p:nvPicPr>
        <p:blipFill>
          <a:blip r:embed="rId1"/>
          <a:srcRect r="2891" b="16433"/>
          <a:stretch>
            <a:fillRect/>
          </a:stretch>
        </p:blipFill>
        <p:spPr>
          <a:xfrm>
            <a:off x="4787900" y="1713865"/>
            <a:ext cx="7164705" cy="36379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CN" sz="3600" dirty="0">
                <a:latin typeface="Times New Roman" panose="02020503050405090304" pitchFamily="18" charset="0"/>
                <a:cs typeface="Times New Roman" panose="02020503050405090304" pitchFamily="18" charset="0"/>
              </a:rPr>
              <a:t>Proposed Methods - RadixAttention (SGLang)</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200025" y="1071880"/>
            <a:ext cx="6142990"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Paper 2: SGLang (SOSP 2024) introduces global memory sharing.</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Utilizes a Radix Tree structure for highly efficient prefix caching.</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The Scenario: Multiple medical AI agents analyzing different patient cases.</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Agents frequently utilize the exact same lengthy clinical guideline as a shared System Prompt. Allocating independent memory for this identical prompt severely limits concurrency.</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8" name="图片 7"/>
          <p:cNvPicPr>
            <a:picLocks noChangeAspect="1"/>
          </p:cNvPicPr>
          <p:nvPr/>
        </p:nvPicPr>
        <p:blipFill>
          <a:blip r:embed="rId1"/>
          <a:stretch>
            <a:fillRect/>
          </a:stretch>
        </p:blipFill>
        <p:spPr>
          <a:xfrm>
            <a:off x="6513195" y="1426210"/>
            <a:ext cx="5505450" cy="40773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CN" sz="3200" dirty="0">
                <a:latin typeface="Times New Roman" panose="02020503050405090304" pitchFamily="18" charset="0"/>
                <a:cs typeface="Times New Roman" panose="02020503050405090304" pitchFamily="18" charset="0"/>
              </a:rPr>
              <a:t>Proposed Methods - RadixAttention: OS Copy-on-Write</a:t>
            </a:r>
            <a:endParaRPr kumimoji="1" lang="en-US" altLang="zh-CN" sz="32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76835" y="1071880"/>
            <a:ext cx="6142990"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Mechanism: The exact AI equivalent of OS fork() and Copy-on-Write (CoW).</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Multiple requests physically point to the exact same shared memory blocks initially.</a:t>
            </a:r>
            <a:endParaRPr lang="en-US" altLang="zh-CN" sz="2000" dirty="0">
              <a:latin typeface="Times New Roman" panose="02020503050405090304" pitchFamily="18" charset="0"/>
              <a:cs typeface="Times New Roman" panose="02020503050405090304" pitchFamily="18" charset="0"/>
            </a:endParaRPr>
          </a:p>
          <a:p>
            <a:pPr lvl="1">
              <a:lnSpc>
                <a:spcPct val="150000"/>
              </a:lnSpc>
            </a:pP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On-Demand Divergence: Allocating memory only when necessary.</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New GPU memory is allocated exclusively when the agents' generated responses begin to diverge.</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6" name="图片 5"/>
          <p:cNvPicPr>
            <a:picLocks noChangeAspect="1"/>
          </p:cNvPicPr>
          <p:nvPr/>
        </p:nvPicPr>
        <p:blipFill>
          <a:blip r:embed="rId1"/>
          <a:srcRect b="2087"/>
          <a:stretch>
            <a:fillRect/>
          </a:stretch>
        </p:blipFill>
        <p:spPr>
          <a:xfrm>
            <a:off x="6356350" y="1176655"/>
            <a:ext cx="5596255" cy="45046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CN" sz="3600" dirty="0">
                <a:latin typeface="Times New Roman" panose="02020503050405090304" pitchFamily="18" charset="0"/>
                <a:cs typeface="Times New Roman" panose="02020503050405090304" pitchFamily="18" charset="0"/>
              </a:rPr>
              <a:t>Proposed Methods -  OS Swapping with FlexGen</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389890" y="1116965"/>
            <a:ext cx="6142990"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Paper 3: FlexGen (ICML 2023) introduces Multi-tier Memory Offloading.</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Functions as the AI equivalent of an OS Swapping mechanism to break physical limits.</a:t>
            </a:r>
            <a:endParaRPr lang="en-US" altLang="zh-CN" sz="2000" dirty="0">
              <a:latin typeface="Times New Roman" panose="02020503050405090304" pitchFamily="18" charset="0"/>
              <a:cs typeface="Times New Roman" panose="02020503050405090304" pitchFamily="18" charset="0"/>
            </a:endParaRPr>
          </a:p>
          <a:p>
            <a:pPr lvl="1">
              <a:lnSpc>
                <a:spcPct val="150000"/>
              </a:lnSpc>
            </a:pP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Mechanism: Views GPU VRAM, CPU RAM, and NVMe Disk as a unified hierarchy.</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Aggressively swaps inactive model weights and KV caches to the much larger hard disk.</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7" name="图片 6"/>
          <p:cNvPicPr>
            <a:picLocks noChangeAspect="1"/>
          </p:cNvPicPr>
          <p:nvPr/>
        </p:nvPicPr>
        <p:blipFill>
          <a:blip r:embed="rId1"/>
          <a:stretch>
            <a:fillRect/>
          </a:stretch>
        </p:blipFill>
        <p:spPr>
          <a:xfrm>
            <a:off x="6871970" y="1935480"/>
            <a:ext cx="4695825" cy="32188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CN" sz="3200" dirty="0">
                <a:latin typeface="Times New Roman" panose="02020503050405090304" pitchFamily="18" charset="0"/>
                <a:cs typeface="Times New Roman" panose="02020503050405090304" pitchFamily="18" charset="0"/>
              </a:rPr>
              <a:t>Proposed Methods -  OS Swapping: Asynchronous DMA</a:t>
            </a:r>
            <a:endParaRPr kumimoji="1" lang="en-US" altLang="zh-CN" sz="32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232410" y="1192530"/>
            <a:ext cx="5999480"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The I/O Bottleneck: Disk access is orders of magnitude slower than VRAM.</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Naively swapping tensors would stall the GPU computational units completely.</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Asynchronous DMA: Hiding latency through clever scheduling.</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Overlaps slow disk I/O with fast GPU computation using asynchronous Direct Memory Access.</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6" name="图片 5"/>
          <p:cNvPicPr>
            <a:picLocks noChangeAspect="1"/>
          </p:cNvPicPr>
          <p:nvPr/>
        </p:nvPicPr>
        <p:blipFill>
          <a:blip r:embed="rId1"/>
          <a:srcRect l="2731"/>
          <a:stretch>
            <a:fillRect/>
          </a:stretch>
        </p:blipFill>
        <p:spPr>
          <a:xfrm>
            <a:off x="6056630" y="1365885"/>
            <a:ext cx="6046470" cy="44392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63084" y="4193543"/>
            <a:ext cx="10363200" cy="1362075"/>
          </a:xfrm>
        </p:spPr>
        <p:txBody>
          <a:bodyPr/>
          <a:lstStyle/>
          <a:p>
            <a:r>
              <a:rPr lang="en-US" altLang="zh-CN" sz="3600" dirty="0">
                <a:effectLst>
                  <a:outerShdw blurRad="38100" dist="38100" dir="2700000" algn="tl">
                    <a:srgbClr val="000000">
                      <a:alpha val="43137"/>
                    </a:srgbClr>
                  </a:outerShdw>
                </a:effectLst>
                <a:sym typeface="+mn-ea"/>
              </a:rPr>
              <a:t>From OS Paging to PagedAttention: Memory Management in Large Multimodal Models</a:t>
            </a:r>
            <a:endParaRPr lang="en-US" altLang="zh-CN" sz="3600" dirty="0">
              <a:effectLst>
                <a:outerShdw blurRad="38100" dist="38100" dir="2700000" algn="tl">
                  <a:srgbClr val="000000">
                    <a:alpha val="43137"/>
                  </a:srgbClr>
                </a:outerShdw>
              </a:effectLst>
              <a:sym typeface="+mn-ea"/>
            </a:endParaRPr>
          </a:p>
        </p:txBody>
      </p:sp>
      <p:sp>
        <p:nvSpPr>
          <p:cNvPr id="5" name="文字版面配置區 4"/>
          <p:cNvSpPr>
            <a:spLocks noGrp="1"/>
          </p:cNvSpPr>
          <p:nvPr>
            <p:ph type="body" idx="1"/>
          </p:nvPr>
        </p:nvSpPr>
        <p:spPr>
          <a:xfrm>
            <a:off x="2246313" y="1456839"/>
            <a:ext cx="7772400" cy="2562077"/>
          </a:xfrm>
        </p:spPr>
        <p:txBody>
          <a:bodyPr/>
          <a:lstStyle/>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Introduction</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Related Work</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Preliminaries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Proposed Methods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rgbClr val="FF0000"/>
                </a:solidFill>
                <a:latin typeface="Times New Roman" panose="02020503050405090304" pitchFamily="18" charset="0"/>
                <a:cs typeface="Times New Roman" panose="02020503050405090304" pitchFamily="18" charset="0"/>
              </a:rPr>
              <a:t>Performance Evaluation</a:t>
            </a:r>
            <a:r>
              <a:rPr lang="en-US" altLang="zh-CN" sz="2800" dirty="0">
                <a:solidFill>
                  <a:schemeClr val="tx1"/>
                </a:solidFill>
                <a:latin typeface="Times New Roman" panose="02020503050405090304" pitchFamily="18" charset="0"/>
                <a:cs typeface="Times New Roman" panose="02020503050405090304" pitchFamily="18" charset="0"/>
              </a:rPr>
              <a:t> </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Conclusions</a:t>
            </a:r>
            <a:endParaRPr lang="en-US" altLang="zh-CN" sz="2800" dirty="0">
              <a:solidFill>
                <a:schemeClr val="tx1"/>
              </a:solidFill>
              <a:latin typeface="Times New Roman" panose="02020503050405090304" pitchFamily="18" charset="0"/>
              <a:cs typeface="Times New Roman" panose="02020503050405090304" pitchFamily="18" charset="0"/>
            </a:endParaRPr>
          </a:p>
        </p:txBody>
      </p:sp>
      <p:sp>
        <p:nvSpPr>
          <p:cNvPr id="2"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9655" y="144780"/>
            <a:ext cx="11317605" cy="692150"/>
          </a:xfrm>
        </p:spPr>
        <p:txBody>
          <a:bodyPr/>
          <a:lstStyle/>
          <a:p>
            <a:r>
              <a:rPr lang="en-US" altLang="zh-CN" sz="3600" dirty="0">
                <a:latin typeface="Times New Roman" panose="02020503050405090304" pitchFamily="18" charset="0"/>
                <a:cs typeface="Times New Roman" panose="02020503050405090304" pitchFamily="18" charset="0"/>
                <a:sym typeface="+mn-ea"/>
              </a:rPr>
              <a:t>Performance Evaluation</a:t>
            </a:r>
            <a:r>
              <a:rPr kumimoji="1" lang="en-US" altLang="zh-CN" sz="3600" dirty="0">
                <a:latin typeface="Times New Roman" panose="02020503050405090304" pitchFamily="18" charset="0"/>
                <a:cs typeface="Times New Roman" panose="02020503050405090304" pitchFamily="18" charset="0"/>
              </a:rPr>
              <a:t> -  PagedAttention(v</a:t>
            </a:r>
            <a:r>
              <a:rPr kumimoji="1" lang="en-US" altLang="zh-CN" sz="3600" dirty="0">
                <a:latin typeface="Times New Roman" panose="02020503050405090304" pitchFamily="18" charset="0"/>
                <a:cs typeface="Times New Roman" panose="02020503050405090304" pitchFamily="18" charset="0"/>
              </a:rPr>
              <a:t>LLM)</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81610" y="1036320"/>
            <a:ext cx="5999480"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Throughput gains via PagedAttention (vLLM):</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Demonstrates a 2x to 4x increase in throughput compared to traditional contiguous allocation frameworks.</a:t>
            </a:r>
            <a:endParaRPr lang="en-US" altLang="zh-CN" sz="2000" dirty="0">
              <a:latin typeface="Times New Roman" panose="02020503050405090304" pitchFamily="18" charset="0"/>
              <a:cs typeface="Times New Roman" panose="02020503050405090304" pitchFamily="18" charset="0"/>
            </a:endParaRPr>
          </a:p>
          <a:p>
            <a:pPr lvl="1">
              <a:lnSpc>
                <a:spcPct val="150000"/>
              </a:lnSpc>
            </a:pP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The mechanism behind the performance leap:</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By completely eliminating internal and external memory waste, the system frees up massive amounts of VRAM.</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4" name="图片 3"/>
          <p:cNvPicPr>
            <a:picLocks noChangeAspect="1"/>
          </p:cNvPicPr>
          <p:nvPr/>
        </p:nvPicPr>
        <p:blipFill>
          <a:blip r:embed="rId1"/>
          <a:srcRect l="-219" t="5411" r="1914" b="2705"/>
          <a:stretch>
            <a:fillRect/>
          </a:stretch>
        </p:blipFill>
        <p:spPr>
          <a:xfrm>
            <a:off x="6075680" y="1821815"/>
            <a:ext cx="5999480" cy="32397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9655" y="144780"/>
            <a:ext cx="11317605" cy="692150"/>
          </a:xfrm>
        </p:spPr>
        <p:txBody>
          <a:bodyPr/>
          <a:lstStyle/>
          <a:p>
            <a:r>
              <a:rPr lang="en-US" altLang="zh-CN" sz="3600" dirty="0">
                <a:latin typeface="Times New Roman" panose="02020503050405090304" pitchFamily="18" charset="0"/>
                <a:cs typeface="Times New Roman" panose="02020503050405090304" pitchFamily="18" charset="0"/>
                <a:sym typeface="+mn-ea"/>
              </a:rPr>
              <a:t>Performance Evaluation</a:t>
            </a:r>
            <a:r>
              <a:rPr kumimoji="1" lang="en-US" altLang="zh-CN" sz="3600" dirty="0">
                <a:latin typeface="Times New Roman" panose="02020503050405090304" pitchFamily="18" charset="0"/>
                <a:cs typeface="Times New Roman" panose="02020503050405090304" pitchFamily="18" charset="0"/>
              </a:rPr>
              <a:t> -  CoW Minimizes Latency</a:t>
            </a:r>
            <a:endParaRPr kumimoji="1" lang="en-US" altLang="zh-CN" sz="3600"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232410" y="1129030"/>
            <a:ext cx="11802745" cy="4975860"/>
          </a:xfrm>
        </p:spPr>
        <p:txBody>
          <a:bodyPr/>
          <a:lstStyle/>
          <a:p>
            <a:pPr>
              <a:lnSpc>
                <a:spcPct val="150000"/>
              </a:lnSpc>
            </a:pPr>
            <a:r>
              <a:rPr lang="en-US" altLang="zh-CN" sz="2200" dirty="0">
                <a:latin typeface="Times New Roman" panose="02020503050405090304" pitchFamily="18" charset="0"/>
                <a:cs typeface="Times New Roman" panose="02020503050405090304" pitchFamily="18" charset="0"/>
              </a:rPr>
              <a:t>Latency reduction via RadixAttention (SGLang):</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Radically reduces the Time to First Token (TTFT) by up to 5x in multi-agent workflows.</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Bypassing redundant computations for shared contexts:</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When multiple agents share the same lengthy clinical guideline, the system physically reads from the cached Radix Tree.</a:t>
            </a:r>
            <a:endParaRPr lang="en-US" altLang="zh-CN" sz="20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6" name="图片 5"/>
          <p:cNvPicPr>
            <a:picLocks noChangeAspect="1"/>
          </p:cNvPicPr>
          <p:nvPr/>
        </p:nvPicPr>
        <p:blipFill>
          <a:blip r:embed="rId1"/>
          <a:srcRect b="15131"/>
          <a:stretch>
            <a:fillRect/>
          </a:stretch>
        </p:blipFill>
        <p:spPr>
          <a:xfrm>
            <a:off x="497840" y="3927475"/>
            <a:ext cx="11454765" cy="19443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9655" y="144780"/>
            <a:ext cx="11317605" cy="692150"/>
          </a:xfrm>
        </p:spPr>
        <p:txBody>
          <a:bodyPr/>
          <a:lstStyle/>
          <a:p>
            <a:r>
              <a:rPr lang="en-US" altLang="zh-CN" sz="3600" dirty="0">
                <a:latin typeface="Times New Roman" panose="02020503050405090304" pitchFamily="18" charset="0"/>
                <a:cs typeface="Times New Roman" panose="02020503050405090304" pitchFamily="18" charset="0"/>
                <a:sym typeface="+mn-ea"/>
              </a:rPr>
              <a:t>Performance Evaluation</a:t>
            </a:r>
            <a:r>
              <a:rPr kumimoji="1" lang="en-US" altLang="zh-CN" sz="3600" dirty="0">
                <a:latin typeface="Times New Roman" panose="02020503050405090304" pitchFamily="18" charset="0"/>
                <a:cs typeface="Times New Roman" panose="02020503050405090304" pitchFamily="18" charset="0"/>
              </a:rPr>
              <a:t> -  FlexGen</a:t>
            </a:r>
            <a:endParaRPr kumimoji="1" lang="en-US" altLang="zh-CN" sz="36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8" name="图片 7"/>
          <p:cNvPicPr>
            <a:picLocks noChangeAspect="1"/>
          </p:cNvPicPr>
          <p:nvPr/>
        </p:nvPicPr>
        <p:blipFill>
          <a:blip r:embed="rId1"/>
          <a:srcRect t="3366" b="25780"/>
          <a:stretch>
            <a:fillRect/>
          </a:stretch>
        </p:blipFill>
        <p:spPr>
          <a:xfrm>
            <a:off x="6828790" y="3575685"/>
            <a:ext cx="5123815" cy="2477770"/>
          </a:xfrm>
          <a:prstGeom prst="rect">
            <a:avLst/>
          </a:prstGeom>
        </p:spPr>
      </p:pic>
      <p:pic>
        <p:nvPicPr>
          <p:cNvPr id="9" name="图片 8"/>
          <p:cNvPicPr>
            <a:picLocks noChangeAspect="1"/>
          </p:cNvPicPr>
          <p:nvPr/>
        </p:nvPicPr>
        <p:blipFill>
          <a:blip r:embed="rId2"/>
          <a:stretch>
            <a:fillRect/>
          </a:stretch>
        </p:blipFill>
        <p:spPr>
          <a:xfrm>
            <a:off x="7058660" y="1097915"/>
            <a:ext cx="4692650" cy="2389505"/>
          </a:xfrm>
          <a:prstGeom prst="rect">
            <a:avLst/>
          </a:prstGeom>
        </p:spPr>
      </p:pic>
      <p:sp>
        <p:nvSpPr>
          <p:cNvPr id="11" name="內容版面配置區 2"/>
          <p:cNvSpPr>
            <a:spLocks noGrp="1"/>
          </p:cNvSpPr>
          <p:nvPr>
            <p:ph idx="1"/>
          </p:nvPr>
        </p:nvSpPr>
        <p:spPr>
          <a:xfrm>
            <a:off x="371475" y="1077595"/>
            <a:ext cx="6142990" cy="4975860"/>
          </a:xfrm>
        </p:spPr>
        <p:txBody>
          <a:bodyPr/>
          <a:p>
            <a:pPr>
              <a:lnSpc>
                <a:spcPct val="150000"/>
              </a:lnSpc>
            </a:pPr>
            <a:r>
              <a:rPr lang="en-US" altLang="zh-CN" sz="2200" dirty="0">
                <a:latin typeface="Times New Roman" panose="02020503050405090304" pitchFamily="18" charset="0"/>
                <a:cs typeface="Times New Roman" panose="02020503050405090304" pitchFamily="18" charset="0"/>
              </a:rPr>
              <a:t>Capacity extension via Multi-tier Offloading:</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Successfully enables the execution of ultra-large 175B parameter models on a standard 16GB consumer GPU.</a:t>
            </a:r>
            <a:endParaRPr lang="en-US" altLang="zh-CN" sz="2000" dirty="0">
              <a:latin typeface="Times New Roman" panose="02020503050405090304" pitchFamily="18" charset="0"/>
              <a:cs typeface="Times New Roman" panose="02020503050405090304" pitchFamily="18" charset="0"/>
            </a:endParaRPr>
          </a:p>
          <a:p>
            <a:pPr lvl="1">
              <a:lnSpc>
                <a:spcPct val="150000"/>
              </a:lnSpc>
            </a:pP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The inherent system trade-off: Capacity vs. Speed.</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Disk I/O inherently introduces latency, making this approach unsuitable for real-time, interactive medical chatbots.</a:t>
            </a:r>
            <a:endParaRPr lang="en-US" altLang="zh-CN" sz="20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63084" y="4193543"/>
            <a:ext cx="10363200" cy="1362075"/>
          </a:xfrm>
        </p:spPr>
        <p:txBody>
          <a:bodyPr/>
          <a:lstStyle/>
          <a:p>
            <a:r>
              <a:rPr lang="en-US" altLang="zh-CN" sz="3600" dirty="0">
                <a:effectLst>
                  <a:outerShdw blurRad="38100" dist="38100" dir="2700000" algn="tl">
                    <a:srgbClr val="000000">
                      <a:alpha val="43137"/>
                    </a:srgbClr>
                  </a:outerShdw>
                </a:effectLst>
                <a:sym typeface="+mn-ea"/>
              </a:rPr>
              <a:t>From OS Paging to PagedAttention: Memory Management in Large Multimodal Models</a:t>
            </a:r>
            <a:endParaRPr lang="en-US" altLang="zh-CN" sz="3600" dirty="0">
              <a:effectLst>
                <a:outerShdw blurRad="38100" dist="38100" dir="2700000" algn="tl">
                  <a:srgbClr val="000000">
                    <a:alpha val="43137"/>
                  </a:srgbClr>
                </a:outerShdw>
              </a:effectLst>
              <a:sym typeface="+mn-ea"/>
            </a:endParaRPr>
          </a:p>
        </p:txBody>
      </p:sp>
      <p:sp>
        <p:nvSpPr>
          <p:cNvPr id="5" name="文字版面配置區 4"/>
          <p:cNvSpPr>
            <a:spLocks noGrp="1"/>
          </p:cNvSpPr>
          <p:nvPr>
            <p:ph type="body" idx="1"/>
          </p:nvPr>
        </p:nvSpPr>
        <p:spPr>
          <a:xfrm>
            <a:off x="2246313" y="1456839"/>
            <a:ext cx="7772400" cy="2562077"/>
          </a:xfrm>
        </p:spPr>
        <p:txBody>
          <a:bodyPr/>
          <a:lstStyle/>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Introduction</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Related Work</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Preliminaries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Proposed Methods</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chemeClr val="tx1"/>
                </a:solidFill>
                <a:latin typeface="Times New Roman" panose="02020503050405090304" pitchFamily="18" charset="0"/>
                <a:cs typeface="Times New Roman" panose="02020503050405090304" pitchFamily="18" charset="0"/>
              </a:rPr>
              <a:t>Performance Evaluation </a:t>
            </a:r>
            <a:endParaRPr lang="en-US" altLang="zh-CN" sz="2800" dirty="0">
              <a:solidFill>
                <a:schemeClr val="tx1"/>
              </a:solidFill>
              <a:latin typeface="Times New Roman" panose="02020503050405090304" pitchFamily="18" charset="0"/>
              <a:cs typeface="Times New Roman" panose="02020503050405090304" pitchFamily="18" charset="0"/>
            </a:endParaRPr>
          </a:p>
          <a:p>
            <a:pPr algn="l">
              <a:lnSpc>
                <a:spcPct val="100000"/>
              </a:lnSpc>
              <a:spcBef>
                <a:spcPts val="20"/>
              </a:spcBef>
              <a:spcAft>
                <a:spcPts val="0"/>
              </a:spcAft>
              <a:buNone/>
            </a:pPr>
            <a:r>
              <a:rPr lang="en-US" altLang="zh-CN" sz="2800" dirty="0">
                <a:solidFill>
                  <a:srgbClr val="FF0000"/>
                </a:solidFill>
                <a:latin typeface="Times New Roman" panose="02020503050405090304" pitchFamily="18" charset="0"/>
                <a:cs typeface="Times New Roman" panose="02020503050405090304" pitchFamily="18" charset="0"/>
              </a:rPr>
              <a:t>Conclusions</a:t>
            </a:r>
            <a:endParaRPr lang="en-US" altLang="zh-CN" sz="2800" dirty="0">
              <a:solidFill>
                <a:srgbClr val="FF0000"/>
              </a:solidFill>
              <a:latin typeface="Times New Roman" panose="02020503050405090304" pitchFamily="18" charset="0"/>
              <a:cs typeface="Times New Roman" panose="02020503050405090304" pitchFamily="18" charset="0"/>
            </a:endParaRPr>
          </a:p>
        </p:txBody>
      </p:sp>
      <p:sp>
        <p:nvSpPr>
          <p:cNvPr id="2"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9655" y="144780"/>
            <a:ext cx="11317605" cy="692150"/>
          </a:xfrm>
        </p:spPr>
        <p:txBody>
          <a:bodyPr/>
          <a:lstStyle/>
          <a:p>
            <a:r>
              <a:rPr kumimoji="1" lang="en-US" altLang="zh-CN" sz="3600" dirty="0">
                <a:latin typeface="Times New Roman" panose="02020503050405090304" pitchFamily="18" charset="0"/>
                <a:cs typeface="Times New Roman" panose="02020503050405090304" pitchFamily="18" charset="0"/>
              </a:rPr>
              <a:t>Conclusion - The OS Philosophy in the AI Era</a:t>
            </a:r>
            <a:endParaRPr kumimoji="1" lang="en-US" altLang="zh-CN" sz="36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11" name="內容版面配置區 2"/>
          <p:cNvSpPr>
            <a:spLocks noGrp="1"/>
          </p:cNvSpPr>
          <p:nvPr>
            <p:ph idx="1"/>
          </p:nvPr>
        </p:nvSpPr>
        <p:spPr>
          <a:xfrm>
            <a:off x="410845" y="1021080"/>
            <a:ext cx="10803255" cy="5076190"/>
          </a:xfrm>
        </p:spPr>
        <p:txBody>
          <a:bodyPr/>
          <a:p>
            <a:pPr>
              <a:lnSpc>
                <a:spcPct val="150000"/>
              </a:lnSpc>
            </a:pPr>
            <a:r>
              <a:rPr lang="en-US" altLang="zh-CN" sz="2200" dirty="0">
                <a:latin typeface="Times New Roman" panose="02020503050405090304" pitchFamily="18" charset="0"/>
                <a:cs typeface="Times New Roman" panose="02020503050405090304" pitchFamily="18" charset="0"/>
              </a:rPr>
              <a:t>Resolving Fragmentation via PagedAttention (vLLM):</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Eliminates internal and external memory waste during unpredictable token generation.</a:t>
            </a:r>
            <a:endParaRPr lang="en-US" altLang="zh-CN" sz="20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Directly mirrors the classic OS Virtual Memory and Paging mechanisms.</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Eliminating Redundancy via RadixAttention (SGLang):</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Prevents duplicate memory allocation for shared clinical guidelines in multi-agent workflows.</a:t>
            </a:r>
            <a:endParaRPr lang="en-US" altLang="zh-CN" sz="20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Functions as the exact AI equivalent of the OS Copy-on-Write (CoW) mechanism.</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Breaking Capacity Limits via Multi-tier Offloading (FlexGen):</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Enables running massive medical models on a single GPU to ensure local data privacy.</a:t>
            </a:r>
            <a:endParaRPr lang="en-US" altLang="zh-CN" sz="20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Emulates OS Swapping by leveraging CPU RAM and NVMe disks with asynchronous DMA.</a:t>
            </a:r>
            <a:endParaRPr lang="en-US" altLang="zh-CN" sz="20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9655" y="144780"/>
            <a:ext cx="11317605" cy="692150"/>
          </a:xfrm>
        </p:spPr>
        <p:txBody>
          <a:bodyPr/>
          <a:lstStyle/>
          <a:p>
            <a:r>
              <a:rPr kumimoji="1" lang="en-US" altLang="zh-CN" sz="3600" dirty="0">
                <a:latin typeface="Times New Roman" panose="02020503050405090304" pitchFamily="18" charset="0"/>
                <a:cs typeface="Times New Roman" panose="02020503050405090304" pitchFamily="18" charset="0"/>
              </a:rPr>
              <a:t>Conclusion - Future Trajectories of AI Systems</a:t>
            </a:r>
            <a:endParaRPr kumimoji="1" lang="en-US" altLang="zh-CN" sz="36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11" name="內容版面配置區 2"/>
          <p:cNvSpPr>
            <a:spLocks noGrp="1"/>
          </p:cNvSpPr>
          <p:nvPr>
            <p:ph idx="1"/>
          </p:nvPr>
        </p:nvSpPr>
        <p:spPr>
          <a:xfrm>
            <a:off x="80645" y="970915"/>
            <a:ext cx="8213090" cy="5100955"/>
          </a:xfrm>
        </p:spPr>
        <p:txBody>
          <a:bodyPr/>
          <a:p>
            <a:pPr>
              <a:lnSpc>
                <a:spcPct val="150000"/>
              </a:lnSpc>
            </a:pPr>
            <a:r>
              <a:rPr lang="en-US" altLang="zh-CN" sz="2200" dirty="0">
                <a:latin typeface="Times New Roman" panose="02020503050405090304" pitchFamily="18" charset="0"/>
                <a:cs typeface="Times New Roman" panose="02020503050405090304" pitchFamily="18" charset="0"/>
              </a:rPr>
              <a:t>The current limitation of User-Space emulation:</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Modern frameworks currently re-implement these OS features purely at the application level.</a:t>
            </a:r>
            <a:endParaRPr lang="en-US" altLang="zh-CN" sz="20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This introduces redundant software overhead and prevents deep, efficient hardware integrations.</a:t>
            </a:r>
            <a:endParaRPr lang="en-US" altLang="zh-CN" sz="2000" dirty="0">
              <a:latin typeface="Times New Roman" panose="02020503050405090304" pitchFamily="18" charset="0"/>
              <a:cs typeface="Times New Roman" panose="02020503050405090304" pitchFamily="18" charset="0"/>
            </a:endParaRPr>
          </a:p>
          <a:p>
            <a:pPr>
              <a:lnSpc>
                <a:spcPct val="150000"/>
              </a:lnSpc>
            </a:pPr>
            <a:r>
              <a:rPr lang="en-US" altLang="zh-CN" sz="2200" dirty="0">
                <a:latin typeface="Times New Roman" panose="02020503050405090304" pitchFamily="18" charset="0"/>
                <a:cs typeface="Times New Roman" panose="02020503050405090304" pitchFamily="18" charset="0"/>
              </a:rPr>
              <a:t>The Next Frontier: Pushing logic down to the Kernel:</a:t>
            </a:r>
            <a:endParaRPr lang="en-US" altLang="zh-CN" sz="22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Future systems must integrate these scheduling logics directly into the Linux kernel or customized GPU drivers.</a:t>
            </a:r>
            <a:endParaRPr lang="en-US" altLang="zh-CN" sz="2000" dirty="0">
              <a:latin typeface="Times New Roman" panose="02020503050405090304" pitchFamily="18" charset="0"/>
              <a:cs typeface="Times New Roman" panose="02020503050405090304" pitchFamily="18" charset="0"/>
            </a:endParaRPr>
          </a:p>
          <a:p>
            <a:pPr lvl="1">
              <a:lnSpc>
                <a:spcPct val="150000"/>
              </a:lnSpc>
            </a:pPr>
            <a:r>
              <a:rPr lang="en-US" altLang="zh-CN" sz="2000" dirty="0">
                <a:latin typeface="Times New Roman" panose="02020503050405090304" pitchFamily="18" charset="0"/>
                <a:cs typeface="Times New Roman" panose="02020503050405090304" pitchFamily="18" charset="0"/>
              </a:rPr>
              <a:t>Emerging technologies like eBPF could allow AI to safely bypass traditional OS bottlenecks entirely.</a:t>
            </a:r>
            <a:endParaRPr lang="en-US" altLang="zh-CN" sz="2000" dirty="0">
              <a:latin typeface="Times New Roman" panose="02020503050405090304" pitchFamily="18" charset="0"/>
              <a:cs typeface="Times New Roman" panose="02020503050405090304" pitchFamily="18" charset="0"/>
            </a:endParaRPr>
          </a:p>
        </p:txBody>
      </p:sp>
      <p:pic>
        <p:nvPicPr>
          <p:cNvPr id="4" name="图片 3"/>
          <p:cNvPicPr>
            <a:picLocks noChangeAspect="1"/>
          </p:cNvPicPr>
          <p:nvPr/>
        </p:nvPicPr>
        <p:blipFill>
          <a:blip r:embed="rId1"/>
          <a:stretch>
            <a:fillRect/>
          </a:stretch>
        </p:blipFill>
        <p:spPr>
          <a:xfrm>
            <a:off x="8213090" y="1229360"/>
            <a:ext cx="3716020" cy="47371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75460"/>
            <a:ext cx="12191365" cy="1882140"/>
          </a:xfrm>
        </p:spPr>
        <p:txBody>
          <a:bodyPr/>
          <a:lstStyle/>
          <a:p>
            <a:pPr algn="ctr">
              <a:lnSpc>
                <a:spcPct val="150000"/>
              </a:lnSpc>
            </a:pPr>
            <a:r>
              <a:rPr lang="en-US" altLang="zh-CN" sz="4400" dirty="0">
                <a:effectLst>
                  <a:outerShdw blurRad="38100" dist="38100" dir="2700000" algn="tl">
                    <a:srgbClr val="000000">
                      <a:alpha val="43137"/>
                    </a:srgbClr>
                  </a:outerShdw>
                </a:effectLst>
              </a:rPr>
              <a:t>Thank you for your attention!</a:t>
            </a:r>
            <a:br>
              <a:rPr lang="en-US" altLang="zh-CN" sz="4400" dirty="0">
                <a:effectLst>
                  <a:outerShdw blurRad="38100" dist="38100" dir="2700000" algn="tl">
                    <a:srgbClr val="000000">
                      <a:alpha val="43137"/>
                    </a:srgbClr>
                  </a:outerShdw>
                </a:effectLst>
              </a:rPr>
            </a:br>
            <a:r>
              <a:rPr lang="en-US" altLang="zh-CN" sz="4400" dirty="0">
                <a:effectLst>
                  <a:outerShdw blurRad="38100" dist="38100" dir="2700000" algn="tl">
                    <a:srgbClr val="000000">
                      <a:alpha val="43137"/>
                    </a:srgbClr>
                  </a:outerShdw>
                </a:effectLst>
              </a:rPr>
              <a:t>Any Questions?</a:t>
            </a:r>
            <a:endParaRPr lang="en-US" altLang="zh-CN" sz="44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4272192"/>
            <a:ext cx="8534400" cy="1882455"/>
          </a:xfrm>
        </p:spPr>
        <p:txBody>
          <a:bodyPr/>
          <a:lstStyle/>
          <a:p>
            <a:r>
              <a:rPr lang="en-US" altLang="zh-TW" sz="2800" dirty="0">
                <a:effectLst>
                  <a:outerShdw blurRad="38100" dist="38100" dir="2700000" algn="tl">
                    <a:srgbClr val="000000">
                      <a:alpha val="43137"/>
                    </a:srgbClr>
                  </a:outerShdw>
                </a:effectLst>
              </a:rPr>
              <a:t>Yuhao Shen</a:t>
            </a:r>
            <a:endParaRPr lang="en-US" altLang="zh-TW" sz="2800" dirty="0">
              <a:effectLst>
                <a:outerShdw blurRad="38100" dist="38100" dir="2700000" algn="tl">
                  <a:srgbClr val="000000">
                    <a:alpha val="43137"/>
                  </a:srgbClr>
                </a:outerShdw>
              </a:effectLst>
            </a:endParaRPr>
          </a:p>
          <a:p>
            <a:r>
              <a:rPr lang="en-US" altLang="zh-TW" sz="2800" dirty="0"/>
              <a:t>School of </a:t>
            </a:r>
            <a:r>
              <a:rPr lang="en-US" altLang="zh-CN" sz="2800" dirty="0"/>
              <a:t>Data </a:t>
            </a:r>
            <a:r>
              <a:rPr lang="en-US" altLang="zh-TW" sz="2800" dirty="0"/>
              <a:t>Science</a:t>
            </a:r>
            <a:endParaRPr lang="en-US" altLang="zh-TW" sz="2800" dirty="0"/>
          </a:p>
          <a:p>
            <a:r>
              <a:rPr lang="en-US" altLang="zh-TW" sz="2800" dirty="0"/>
              <a:t>Chinese University of Hong Kong, Shenzhen</a:t>
            </a:r>
            <a:endParaRPr lang="en-US" altLang="zh-TW" sz="2800" dirty="0"/>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9766</Words>
  <Application>WPS 文字</Application>
  <PresentationFormat>宽屏</PresentationFormat>
  <Paragraphs>290</Paragraphs>
  <Slides>29</Slides>
  <Notes>3</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29</vt:i4>
      </vt:variant>
    </vt:vector>
  </HeadingPairs>
  <TitlesOfParts>
    <vt:vector size="58" baseType="lpstr">
      <vt:lpstr>Arial</vt:lpstr>
      <vt:lpstr>宋体</vt:lpstr>
      <vt:lpstr>Wingdings</vt:lpstr>
      <vt:lpstr>PMingLiU</vt:lpstr>
      <vt:lpstr>宋体-繁</vt:lpstr>
      <vt:lpstr>標楷體</vt:lpstr>
      <vt:lpstr>汉仪楷体简</vt:lpstr>
      <vt:lpstr>Calibri</vt:lpstr>
      <vt:lpstr>Helvetica Neue</vt:lpstr>
      <vt:lpstr>楷体</vt:lpstr>
      <vt:lpstr>Times New Roman</vt:lpstr>
      <vt:lpstr>DengXian</vt:lpstr>
      <vt:lpstr>MS Sans Serif</vt:lpstr>
      <vt:lpstr>微软雅黑</vt:lpstr>
      <vt:lpstr>汉仪旗黑</vt:lpstr>
      <vt:lpstr>宋体</vt:lpstr>
      <vt:lpstr>Arial Unicode MS</vt:lpstr>
      <vt:lpstr>汉仪书宋二KW</vt:lpstr>
      <vt:lpstr>汉仪楷体KW</vt:lpstr>
      <vt:lpstr>Thonburi</vt:lpstr>
      <vt:lpstr>汉仪中等线KW</vt:lpstr>
      <vt:lpstr>PMingLiU</vt:lpstr>
      <vt:lpstr>Calibri Light</vt:lpstr>
      <vt:lpstr>等线</vt:lpstr>
      <vt:lpstr>MS Sans Serif</vt:lpstr>
      <vt:lpstr>標楷體</vt:lpstr>
      <vt:lpstr>苹方-简</vt:lpstr>
      <vt:lpstr>NTHU UniCloud</vt:lpstr>
      <vt:lpstr>自訂設計</vt:lpstr>
      <vt:lpstr>From OS Paging to PagedAttention: Memory Management in Large Multimodal Models</vt:lpstr>
      <vt:lpstr>Outline</vt:lpstr>
      <vt:lpstr>From OS Paging to PagedAttention: Memory Management in Large Multimodal Models</vt:lpstr>
      <vt:lpstr>Introduction - The Memory Wall in Medical VLMs</vt:lpstr>
      <vt:lpstr>Introduction - The Anatomy of LLM Inference Memory</vt:lpstr>
      <vt:lpstr>Introduction - The Unique Demands of Medical AI</vt:lpstr>
      <vt:lpstr>From OS Paging to PagedAttention: Memory Management in Large Multimodal Models</vt:lpstr>
      <vt:lpstr>Related Work - LLM Serving &amp; Fragmentation</vt:lpstr>
      <vt:lpstr>Related Work - Hardware Solutions and Limitations</vt:lpstr>
      <vt:lpstr>From OS Paging to PagedAttention: Memory Management in Large Multimodal Models</vt:lpstr>
      <vt:lpstr>Preliminaries - Virtual Memory and Paging</vt:lpstr>
      <vt:lpstr>Preliminaries -  Paging Mechanism</vt:lpstr>
      <vt:lpstr>Preliminaries -  Shared Memory and CoW</vt:lpstr>
      <vt:lpstr>Preliminaries -  Memory Hierarchy and Swapping</vt:lpstr>
      <vt:lpstr>From OS Paging to PagedAttention: Memory Management in Large Multimodal Models</vt:lpstr>
      <vt:lpstr>Proposed Methods - PagedAttention (vLLM)</vt:lpstr>
      <vt:lpstr>Proposed Methods - PagedAttention : The Block Table</vt:lpstr>
      <vt:lpstr>Proposed Methods - RadixAttention (SGLang)</vt:lpstr>
      <vt:lpstr>Proposed Methods - RadixAttention: OS Copy-on-Write</vt:lpstr>
      <vt:lpstr>Proposed Methods -  OS Swapping with FlexGen</vt:lpstr>
      <vt:lpstr>Proposed Methods -  OS Swapping: Asynchronous DMA</vt:lpstr>
      <vt:lpstr>From OS Paging to PagedAttention: Memory Management in Large Multimodal Models</vt:lpstr>
      <vt:lpstr>Performance Evaluation -  PagedAttention(vLLM)</vt:lpstr>
      <vt:lpstr>Performance Evaluation -  CoW Minimizes Latency</vt:lpstr>
      <vt:lpstr>Performance Evaluation -  FlexGen</vt:lpstr>
      <vt:lpstr>From OS Paging to PagedAttention: Memory Management in Large Multimodal Models</vt:lpstr>
      <vt:lpstr>Conclusion - The OS Philosophy in the AI Era</vt:lpstr>
      <vt:lpstr>Conclusion - Future Trajectories of AI Systems</vt:lpstr>
      <vt:lpstr>Thank you for your attention! Any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i2starrrr</cp:lastModifiedBy>
  <cp:revision>22</cp:revision>
  <dcterms:created xsi:type="dcterms:W3CDTF">2026-03-17T06:40:03Z</dcterms:created>
  <dcterms:modified xsi:type="dcterms:W3CDTF">2026-03-17T06:40:03Z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8F4F459F82D8D9BA86DFB769848B89D6_43</vt:lpwstr>
  </property>
  <property fmtid="{D5CDD505-2E9C-101B-9397-08002B2CF9AE}" pid="3" name="KSOProductBuildVer">
    <vt:lpwstr>2052-7.2.2.8955</vt:lpwstr>
  </property>
</Properties>
</file>