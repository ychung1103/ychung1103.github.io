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5"/>
  </p:notesMasterIdLst>
  <p:sldIdLst>
    <p:sldId id="301" r:id="rId3"/>
    <p:sldId id="300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91" autoAdjust="0"/>
    <p:restoredTop sz="93438" autoAdjust="0"/>
  </p:normalViewPr>
  <p:slideViewPr>
    <p:cSldViewPr snapToGrid="0">
      <p:cViewPr varScale="1">
        <p:scale>
          <a:sx n="59" d="100"/>
          <a:sy n="59" d="100"/>
        </p:scale>
        <p:origin x="676" y="52"/>
      </p:cViewPr>
      <p:guideLst/>
    </p:cSldViewPr>
  </p:slideViewPr>
  <p:notesTextViewPr>
    <p:cViewPr>
      <p:scale>
        <a:sx n="45" d="100"/>
        <a:sy n="4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4E0B06-CAE5-4B4C-A0D4-3CE18A5A7CB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BC79085-0862-47B0-8154-CCA02EBFCC76}">
      <dgm:prSet custT="1"/>
      <dgm:spPr/>
      <dgm:t>
        <a:bodyPr/>
        <a:lstStyle/>
        <a:p>
          <a:r>
            <a:rPr lang="en-US" sz="1400" b="1" dirty="0"/>
            <a:t>One Coherent Research Focus Across Three Papers</a:t>
          </a:r>
          <a:endParaRPr lang="en-US" sz="1400" dirty="0"/>
        </a:p>
      </dgm:t>
    </dgm:pt>
    <dgm:pt modelId="{96BF5149-24BB-4FCE-9145-5BDAE43E4F92}" type="parTrans" cxnId="{D451521C-A7EC-475F-AD9B-49C54C814F08}">
      <dgm:prSet/>
      <dgm:spPr/>
      <dgm:t>
        <a:bodyPr/>
        <a:lstStyle/>
        <a:p>
          <a:endParaRPr lang="en-US"/>
        </a:p>
      </dgm:t>
    </dgm:pt>
    <dgm:pt modelId="{2AD6E712-528C-45F5-873A-4A3317E4BA43}" type="sibTrans" cxnId="{D451521C-A7EC-475F-AD9B-49C54C814F08}">
      <dgm:prSet/>
      <dgm:spPr/>
      <dgm:t>
        <a:bodyPr/>
        <a:lstStyle/>
        <a:p>
          <a:endParaRPr lang="en-US"/>
        </a:p>
      </dgm:t>
    </dgm:pt>
    <dgm:pt modelId="{E0C4A1EF-B02D-4F5F-BE8A-7FAAE14333CF}">
      <dgm:prSet custT="1"/>
      <dgm:spPr/>
      <dgm:t>
        <a:bodyPr/>
        <a:lstStyle/>
        <a:p>
          <a:r>
            <a:rPr lang="en-US" sz="1400" dirty="0"/>
            <a:t>Computer-Use Agents in Real Operating Systems:  </a:t>
          </a:r>
        </a:p>
      </dgm:t>
    </dgm:pt>
    <dgm:pt modelId="{46165DB7-9A50-4C02-9746-53DD63998C10}" type="parTrans" cxnId="{97A00634-5330-4C57-A410-487494ED1DC9}">
      <dgm:prSet/>
      <dgm:spPr/>
      <dgm:t>
        <a:bodyPr/>
        <a:lstStyle/>
        <a:p>
          <a:endParaRPr lang="en-US"/>
        </a:p>
      </dgm:t>
    </dgm:pt>
    <dgm:pt modelId="{52D92370-6B19-404F-B084-0AB87632152B}" type="sibTrans" cxnId="{97A00634-5330-4C57-A410-487494ED1DC9}">
      <dgm:prSet/>
      <dgm:spPr/>
      <dgm:t>
        <a:bodyPr/>
        <a:lstStyle/>
        <a:p>
          <a:endParaRPr lang="en-US"/>
        </a:p>
      </dgm:t>
    </dgm:pt>
    <dgm:pt modelId="{07D9B863-A75D-46DA-B7D7-9B9A18978FB0}">
      <dgm:prSet custT="1"/>
      <dgm:spPr/>
      <dgm:t>
        <a:bodyPr/>
        <a:lstStyle/>
        <a:p>
          <a:r>
            <a:rPr lang="en-US" sz="1400" b="1" u="sng" dirty="0"/>
            <a:t>Frameworks -&gt; Open Foundations -&gt; Tool-Augmented Evaluation</a:t>
          </a:r>
          <a:endParaRPr lang="en-US" sz="1400" dirty="0"/>
        </a:p>
      </dgm:t>
    </dgm:pt>
    <dgm:pt modelId="{E2EA2631-ABCB-412F-B7C0-A7CCF3B5689B}" type="parTrans" cxnId="{87CD9D6C-58FA-487C-BD54-1B7C2AC82276}">
      <dgm:prSet/>
      <dgm:spPr/>
      <dgm:t>
        <a:bodyPr/>
        <a:lstStyle/>
        <a:p>
          <a:endParaRPr lang="en-US"/>
        </a:p>
      </dgm:t>
    </dgm:pt>
    <dgm:pt modelId="{52453981-3D8D-47DB-9069-C15987690842}" type="sibTrans" cxnId="{87CD9D6C-58FA-487C-BD54-1B7C2AC82276}">
      <dgm:prSet/>
      <dgm:spPr/>
      <dgm:t>
        <a:bodyPr/>
        <a:lstStyle/>
        <a:p>
          <a:endParaRPr lang="en-US"/>
        </a:p>
      </dgm:t>
    </dgm:pt>
    <dgm:pt modelId="{985A3A41-5993-4F3E-AEA7-164A6CE1E1BF}">
      <dgm:prSet custT="1"/>
      <dgm:spPr/>
      <dgm:t>
        <a:bodyPr/>
        <a:lstStyle/>
        <a:p>
          <a:r>
            <a:rPr lang="en-US" sz="1400" dirty="0"/>
            <a:t>Agent S:  improves the agent </a:t>
          </a:r>
          <a:r>
            <a:rPr lang="en-US" sz="1400" u="sng" dirty="0"/>
            <a:t>framework</a:t>
          </a:r>
          <a:r>
            <a:rPr lang="en-US" sz="1400" dirty="0"/>
            <a:t> for human-like computer operation.</a:t>
          </a:r>
        </a:p>
      </dgm:t>
    </dgm:pt>
    <dgm:pt modelId="{16C175EB-2ABB-48E6-892B-C6C353A9202C}" type="parTrans" cxnId="{BCFDE192-B06B-40A4-9CB6-F2469C6D66FC}">
      <dgm:prSet/>
      <dgm:spPr/>
      <dgm:t>
        <a:bodyPr/>
        <a:lstStyle/>
        <a:p>
          <a:endParaRPr lang="en-US"/>
        </a:p>
      </dgm:t>
    </dgm:pt>
    <dgm:pt modelId="{5F0FDC8A-8F4C-4980-9125-CBBCD0B6A016}" type="sibTrans" cxnId="{BCFDE192-B06B-40A4-9CB6-F2469C6D66FC}">
      <dgm:prSet/>
      <dgm:spPr/>
      <dgm:t>
        <a:bodyPr/>
        <a:lstStyle/>
        <a:p>
          <a:endParaRPr lang="en-US"/>
        </a:p>
      </dgm:t>
    </dgm:pt>
    <dgm:pt modelId="{6D975B29-C094-49BC-8422-CA85D70C764A}">
      <dgm:prSet custT="1"/>
      <dgm:spPr/>
      <dgm:t>
        <a:bodyPr/>
        <a:lstStyle/>
        <a:p>
          <a:r>
            <a:rPr lang="en-US" sz="1400" dirty="0"/>
            <a:t>OpenCUA: builds open </a:t>
          </a:r>
          <a:r>
            <a:rPr lang="en-US" sz="1400" u="sng" dirty="0"/>
            <a:t>infrastructure</a:t>
          </a:r>
          <a:r>
            <a:rPr lang="en-US" sz="1400" dirty="0"/>
            <a:t> for large-scale data, training, and reproducible research.</a:t>
          </a:r>
        </a:p>
      </dgm:t>
    </dgm:pt>
    <dgm:pt modelId="{FDB2CF34-D4F9-4D49-AE87-81DB68C20D66}" type="parTrans" cxnId="{E6A49478-DC13-4C8E-9962-AB6BA239AC71}">
      <dgm:prSet/>
      <dgm:spPr/>
      <dgm:t>
        <a:bodyPr/>
        <a:lstStyle/>
        <a:p>
          <a:endParaRPr lang="en-US"/>
        </a:p>
      </dgm:t>
    </dgm:pt>
    <dgm:pt modelId="{573766B2-054C-4AAE-B367-A8E69DFE961A}" type="sibTrans" cxnId="{E6A49478-DC13-4C8E-9962-AB6BA239AC71}">
      <dgm:prSet/>
      <dgm:spPr/>
      <dgm:t>
        <a:bodyPr/>
        <a:lstStyle/>
        <a:p>
          <a:endParaRPr lang="en-US"/>
        </a:p>
      </dgm:t>
    </dgm:pt>
    <dgm:pt modelId="{2FB55C20-1A7C-454A-A14D-CB2E43DCDFF9}">
      <dgm:prSet custT="1"/>
      <dgm:spPr/>
      <dgm:t>
        <a:bodyPr/>
        <a:lstStyle/>
        <a:p>
          <a:r>
            <a:rPr lang="en-US" sz="1400" dirty="0" err="1"/>
            <a:t>OSWorld</a:t>
          </a:r>
          <a:r>
            <a:rPr lang="en-US" sz="1400" dirty="0"/>
            <a:t>-MCP:  extends evaluation from GUI-only interaction to </a:t>
          </a:r>
          <a:r>
            <a:rPr lang="en-US" sz="1400" u="sng" dirty="0"/>
            <a:t>GUI + tool invocation + decision making</a:t>
          </a:r>
          <a:r>
            <a:rPr lang="en-US" sz="1100" dirty="0"/>
            <a:t>.</a:t>
          </a:r>
        </a:p>
      </dgm:t>
    </dgm:pt>
    <dgm:pt modelId="{E9D324F8-9FD2-4998-8EAD-9E6A9F80BEF3}" type="parTrans" cxnId="{F5AF32C4-9B47-4479-AF5C-A0F3F8C5C78D}">
      <dgm:prSet/>
      <dgm:spPr/>
      <dgm:t>
        <a:bodyPr/>
        <a:lstStyle/>
        <a:p>
          <a:endParaRPr lang="en-US"/>
        </a:p>
      </dgm:t>
    </dgm:pt>
    <dgm:pt modelId="{F9EE9C88-372F-4F26-8413-4C701C690BEB}" type="sibTrans" cxnId="{F5AF32C4-9B47-4479-AF5C-A0F3F8C5C78D}">
      <dgm:prSet/>
      <dgm:spPr/>
      <dgm:t>
        <a:bodyPr/>
        <a:lstStyle/>
        <a:p>
          <a:endParaRPr lang="en-US"/>
        </a:p>
      </dgm:t>
    </dgm:pt>
    <dgm:pt modelId="{BC0DB552-A1D8-4513-A10E-A709120730BE}">
      <dgm:prSet custT="1"/>
      <dgm:spPr/>
      <dgm:t>
        <a:bodyPr/>
        <a:lstStyle/>
        <a:p>
          <a:r>
            <a:rPr lang="en-US" sz="1600" b="1" dirty="0"/>
            <a:t>Thesis</a:t>
          </a:r>
          <a:endParaRPr lang="en-US" sz="1600" dirty="0"/>
        </a:p>
      </dgm:t>
    </dgm:pt>
    <dgm:pt modelId="{73062F66-D0F5-4317-A92B-1C918206B3C0}" type="parTrans" cxnId="{189E08F6-0920-4B1A-B04B-B3DBC022D265}">
      <dgm:prSet/>
      <dgm:spPr/>
      <dgm:t>
        <a:bodyPr/>
        <a:lstStyle/>
        <a:p>
          <a:endParaRPr lang="en-US"/>
        </a:p>
      </dgm:t>
    </dgm:pt>
    <dgm:pt modelId="{131968C0-83CA-484B-AA9F-B82D3FCCE568}" type="sibTrans" cxnId="{189E08F6-0920-4B1A-B04B-B3DBC022D265}">
      <dgm:prSet/>
      <dgm:spPr/>
      <dgm:t>
        <a:bodyPr/>
        <a:lstStyle/>
        <a:p>
          <a:endParaRPr lang="en-US"/>
        </a:p>
      </dgm:t>
    </dgm:pt>
    <dgm:pt modelId="{247AF437-5C33-4CB3-B178-FA222B9C77CF}">
      <dgm:prSet custT="1"/>
      <dgm:spPr/>
      <dgm:t>
        <a:bodyPr/>
        <a:lstStyle/>
        <a:p>
          <a:r>
            <a:rPr lang="en-US" sz="1400" dirty="0"/>
            <a:t>These papers are not isolated. Together, they show how CUA research is evolving from capability engineering to ecosystem building and then to richer benchmarking.</a:t>
          </a:r>
        </a:p>
      </dgm:t>
    </dgm:pt>
    <dgm:pt modelId="{F4D843EF-6D99-4D4F-BEA2-2A46D768C65E}" type="parTrans" cxnId="{3D8C49D6-1185-4BFF-BA2B-AF79C521098A}">
      <dgm:prSet/>
      <dgm:spPr/>
      <dgm:t>
        <a:bodyPr/>
        <a:lstStyle/>
        <a:p>
          <a:endParaRPr lang="en-US"/>
        </a:p>
      </dgm:t>
    </dgm:pt>
    <dgm:pt modelId="{82EA4183-EABB-4FC3-A12D-FACA35A8E5DF}" type="sibTrans" cxnId="{3D8C49D6-1185-4BFF-BA2B-AF79C521098A}">
      <dgm:prSet/>
      <dgm:spPr/>
      <dgm:t>
        <a:bodyPr/>
        <a:lstStyle/>
        <a:p>
          <a:endParaRPr lang="en-US"/>
        </a:p>
      </dgm:t>
    </dgm:pt>
    <dgm:pt modelId="{E1B53921-CDDD-4192-BD8F-B8D6B95B76B4}" type="pres">
      <dgm:prSet presAssocID="{F74E0B06-CAE5-4B4C-A0D4-3CE18A5A7CBB}" presName="root" presStyleCnt="0">
        <dgm:presLayoutVars>
          <dgm:dir/>
          <dgm:resizeHandles val="exact"/>
        </dgm:presLayoutVars>
      </dgm:prSet>
      <dgm:spPr/>
    </dgm:pt>
    <dgm:pt modelId="{686C8A00-9B7C-4526-A588-AFEB0EAEB064}" type="pres">
      <dgm:prSet presAssocID="{F74E0B06-CAE5-4B4C-A0D4-3CE18A5A7CBB}" presName="container" presStyleCnt="0">
        <dgm:presLayoutVars>
          <dgm:dir/>
          <dgm:resizeHandles val="exact"/>
        </dgm:presLayoutVars>
      </dgm:prSet>
      <dgm:spPr/>
    </dgm:pt>
    <dgm:pt modelId="{1280F5B1-54A7-404B-B074-80A273AC43BA}" type="pres">
      <dgm:prSet presAssocID="{6BC79085-0862-47B0-8154-CCA02EBFCC76}" presName="compNode" presStyleCnt="0"/>
      <dgm:spPr/>
    </dgm:pt>
    <dgm:pt modelId="{76DF2D05-5FF4-4BB9-8FB6-2B5DD59718E5}" type="pres">
      <dgm:prSet presAssocID="{6BC79085-0862-47B0-8154-CCA02EBFCC76}" presName="iconBgRect" presStyleLbl="bgShp" presStyleIdx="0" presStyleCnt="8"/>
      <dgm:spPr/>
    </dgm:pt>
    <dgm:pt modelId="{25797594-09AF-47C8-B24B-D3AD3B7119E1}" type="pres">
      <dgm:prSet presAssocID="{6BC79085-0862-47B0-8154-CCA02EBFCC7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619151F-F1A7-4C38-ADB3-128E276AEA50}" type="pres">
      <dgm:prSet presAssocID="{6BC79085-0862-47B0-8154-CCA02EBFCC76}" presName="spaceRect" presStyleCnt="0"/>
      <dgm:spPr/>
    </dgm:pt>
    <dgm:pt modelId="{1D6BAFE6-9FE9-4300-BFBB-3D55C81432CC}" type="pres">
      <dgm:prSet presAssocID="{6BC79085-0862-47B0-8154-CCA02EBFCC76}" presName="textRect" presStyleLbl="revTx" presStyleIdx="0" presStyleCnt="8">
        <dgm:presLayoutVars>
          <dgm:chMax val="1"/>
          <dgm:chPref val="1"/>
        </dgm:presLayoutVars>
      </dgm:prSet>
      <dgm:spPr/>
    </dgm:pt>
    <dgm:pt modelId="{D49C1983-82FB-45A8-A8DA-31BB156A23A3}" type="pres">
      <dgm:prSet presAssocID="{2AD6E712-528C-45F5-873A-4A3317E4BA43}" presName="sibTrans" presStyleLbl="sibTrans2D1" presStyleIdx="0" presStyleCnt="0"/>
      <dgm:spPr/>
    </dgm:pt>
    <dgm:pt modelId="{75F188E5-AAFB-4C46-9E17-2F0FA6EBC333}" type="pres">
      <dgm:prSet presAssocID="{E0C4A1EF-B02D-4F5F-BE8A-7FAAE14333CF}" presName="compNode" presStyleCnt="0"/>
      <dgm:spPr/>
    </dgm:pt>
    <dgm:pt modelId="{6622E1BC-682E-4FDD-95E3-7D96E0FD98BF}" type="pres">
      <dgm:prSet presAssocID="{E0C4A1EF-B02D-4F5F-BE8A-7FAAE14333CF}" presName="iconBgRect" presStyleLbl="bgShp" presStyleIdx="1" presStyleCnt="8"/>
      <dgm:spPr/>
    </dgm:pt>
    <dgm:pt modelId="{7D00C0F7-A65B-495D-970D-1A60B19E5FC7}" type="pres">
      <dgm:prSet presAssocID="{E0C4A1EF-B02D-4F5F-BE8A-7FAAE14333CF}" presName="iconRect" presStyleLbl="node1" presStyleIdx="1" presStyleCnt="8" custLinFactNeighborX="2414" custLinFactNeighborY="-241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程序员"/>
        </a:ext>
      </dgm:extLst>
    </dgm:pt>
    <dgm:pt modelId="{063F8EFB-411D-4F03-847E-3CA5A1612B1D}" type="pres">
      <dgm:prSet presAssocID="{E0C4A1EF-B02D-4F5F-BE8A-7FAAE14333CF}" presName="spaceRect" presStyleCnt="0"/>
      <dgm:spPr/>
    </dgm:pt>
    <dgm:pt modelId="{98B35EA2-BC25-4D44-B07B-3F1A34AF13C5}" type="pres">
      <dgm:prSet presAssocID="{E0C4A1EF-B02D-4F5F-BE8A-7FAAE14333CF}" presName="textRect" presStyleLbl="revTx" presStyleIdx="1" presStyleCnt="8">
        <dgm:presLayoutVars>
          <dgm:chMax val="1"/>
          <dgm:chPref val="1"/>
        </dgm:presLayoutVars>
      </dgm:prSet>
      <dgm:spPr/>
    </dgm:pt>
    <dgm:pt modelId="{31CB22F8-F1CB-4039-8228-CB09D6E6A666}" type="pres">
      <dgm:prSet presAssocID="{52D92370-6B19-404F-B084-0AB87632152B}" presName="sibTrans" presStyleLbl="sibTrans2D1" presStyleIdx="0" presStyleCnt="0"/>
      <dgm:spPr/>
    </dgm:pt>
    <dgm:pt modelId="{CFD45201-63FA-4550-B19A-0E37BF459D9B}" type="pres">
      <dgm:prSet presAssocID="{07D9B863-A75D-46DA-B7D7-9B9A18978FB0}" presName="compNode" presStyleCnt="0"/>
      <dgm:spPr/>
    </dgm:pt>
    <dgm:pt modelId="{8098DF78-757F-4E35-BAF3-FB2EE27FF58E}" type="pres">
      <dgm:prSet presAssocID="{07D9B863-A75D-46DA-B7D7-9B9A18978FB0}" presName="iconBgRect" presStyleLbl="bgShp" presStyleIdx="2" presStyleCnt="8"/>
      <dgm:spPr/>
    </dgm:pt>
    <dgm:pt modelId="{F1D58EBA-CB8D-4B01-B297-3A9164301BC3}" type="pres">
      <dgm:prSet presAssocID="{07D9B863-A75D-46DA-B7D7-9B9A18978FB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齿轮"/>
        </a:ext>
      </dgm:extLst>
    </dgm:pt>
    <dgm:pt modelId="{D984B05E-3F7A-4B24-B67E-60D4A64EC199}" type="pres">
      <dgm:prSet presAssocID="{07D9B863-A75D-46DA-B7D7-9B9A18978FB0}" presName="spaceRect" presStyleCnt="0"/>
      <dgm:spPr/>
    </dgm:pt>
    <dgm:pt modelId="{BE9BDA06-9CFF-4544-9F93-93DED81B34DF}" type="pres">
      <dgm:prSet presAssocID="{07D9B863-A75D-46DA-B7D7-9B9A18978FB0}" presName="textRect" presStyleLbl="revTx" presStyleIdx="2" presStyleCnt="8">
        <dgm:presLayoutVars>
          <dgm:chMax val="1"/>
          <dgm:chPref val="1"/>
        </dgm:presLayoutVars>
      </dgm:prSet>
      <dgm:spPr/>
    </dgm:pt>
    <dgm:pt modelId="{109BB05C-D3CA-477F-8FBE-873CB9FF8BF5}" type="pres">
      <dgm:prSet presAssocID="{52453981-3D8D-47DB-9069-C15987690842}" presName="sibTrans" presStyleLbl="sibTrans2D1" presStyleIdx="0" presStyleCnt="0"/>
      <dgm:spPr/>
    </dgm:pt>
    <dgm:pt modelId="{50998C21-2B5A-4559-B183-2C496E83B207}" type="pres">
      <dgm:prSet presAssocID="{985A3A41-5993-4F3E-AEA7-164A6CE1E1BF}" presName="compNode" presStyleCnt="0"/>
      <dgm:spPr/>
    </dgm:pt>
    <dgm:pt modelId="{89086AB1-861F-405C-90F7-CCC1EE02334C}" type="pres">
      <dgm:prSet presAssocID="{985A3A41-5993-4F3E-AEA7-164A6CE1E1BF}" presName="iconBgRect" presStyleLbl="bgShp" presStyleIdx="3" presStyleCnt="8"/>
      <dgm:spPr/>
    </dgm:pt>
    <dgm:pt modelId="{F5B41725-DBED-4F89-B7EF-1C200651355D}" type="pres">
      <dgm:prSet presAssocID="{985A3A41-5993-4F3E-AEA7-164A6CE1E1BF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机器人"/>
        </a:ext>
      </dgm:extLst>
    </dgm:pt>
    <dgm:pt modelId="{83BC19EC-31BA-46EE-84F8-ECD287C8F6E2}" type="pres">
      <dgm:prSet presAssocID="{985A3A41-5993-4F3E-AEA7-164A6CE1E1BF}" presName="spaceRect" presStyleCnt="0"/>
      <dgm:spPr/>
    </dgm:pt>
    <dgm:pt modelId="{BBD6C645-2800-49B0-B014-8FF2D8C63EEB}" type="pres">
      <dgm:prSet presAssocID="{985A3A41-5993-4F3E-AEA7-164A6CE1E1BF}" presName="textRect" presStyleLbl="revTx" presStyleIdx="3" presStyleCnt="8">
        <dgm:presLayoutVars>
          <dgm:chMax val="1"/>
          <dgm:chPref val="1"/>
        </dgm:presLayoutVars>
      </dgm:prSet>
      <dgm:spPr/>
    </dgm:pt>
    <dgm:pt modelId="{F671094D-8E13-4DFB-A501-9AB64B72FF38}" type="pres">
      <dgm:prSet presAssocID="{5F0FDC8A-8F4C-4980-9125-CBBCD0B6A016}" presName="sibTrans" presStyleLbl="sibTrans2D1" presStyleIdx="0" presStyleCnt="0"/>
      <dgm:spPr/>
    </dgm:pt>
    <dgm:pt modelId="{D9503727-7600-4FE7-B370-CEF83329EECF}" type="pres">
      <dgm:prSet presAssocID="{6D975B29-C094-49BC-8422-CA85D70C764A}" presName="compNode" presStyleCnt="0"/>
      <dgm:spPr/>
    </dgm:pt>
    <dgm:pt modelId="{5DE9FC55-9D16-48F3-95DA-F31901128016}" type="pres">
      <dgm:prSet presAssocID="{6D975B29-C094-49BC-8422-CA85D70C764A}" presName="iconBgRect" presStyleLbl="bgShp" presStyleIdx="4" presStyleCnt="8" custLinFactNeighborX="0"/>
      <dgm:spPr/>
    </dgm:pt>
    <dgm:pt modelId="{8FF6C526-5F7A-4A4A-BDF4-D29D9C674184}" type="pres">
      <dgm:prSet presAssocID="{6D975B29-C094-49BC-8422-CA85D70C764A}" presName="iconRect" presStyleLbl="node1" presStyleIdx="4" presStyleCnt="8" custLinFactNeighborX="5890" custLinFactNeighborY="-6421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科学家"/>
        </a:ext>
      </dgm:extLst>
    </dgm:pt>
    <dgm:pt modelId="{E1866C67-14FB-4121-AE73-AC79307EC870}" type="pres">
      <dgm:prSet presAssocID="{6D975B29-C094-49BC-8422-CA85D70C764A}" presName="spaceRect" presStyleCnt="0"/>
      <dgm:spPr/>
    </dgm:pt>
    <dgm:pt modelId="{B40CE709-365C-4DEC-B76E-CF6815EE039A}" type="pres">
      <dgm:prSet presAssocID="{6D975B29-C094-49BC-8422-CA85D70C764A}" presName="textRect" presStyleLbl="revTx" presStyleIdx="4" presStyleCnt="8" custScaleX="108528" custScaleY="135739" custLinFactNeighborX="4855" custLinFactNeighborY="-3750">
        <dgm:presLayoutVars>
          <dgm:chMax val="1"/>
          <dgm:chPref val="1"/>
        </dgm:presLayoutVars>
      </dgm:prSet>
      <dgm:spPr/>
    </dgm:pt>
    <dgm:pt modelId="{EA6CFC8D-AEE5-44D8-A081-02AF7C223431}" type="pres">
      <dgm:prSet presAssocID="{573766B2-054C-4AAE-B367-A8E69DFE961A}" presName="sibTrans" presStyleLbl="sibTrans2D1" presStyleIdx="0" presStyleCnt="0"/>
      <dgm:spPr/>
    </dgm:pt>
    <dgm:pt modelId="{06F33840-20FB-42EA-B935-15D0731D2352}" type="pres">
      <dgm:prSet presAssocID="{2FB55C20-1A7C-454A-A14D-CB2E43DCDFF9}" presName="compNode" presStyleCnt="0"/>
      <dgm:spPr/>
    </dgm:pt>
    <dgm:pt modelId="{57F24ABF-34CF-43B1-A91A-99EF6330F625}" type="pres">
      <dgm:prSet presAssocID="{2FB55C20-1A7C-454A-A14D-CB2E43DCDFF9}" presName="iconBgRect" presStyleLbl="bgShp" presStyleIdx="5" presStyleCnt="8" custLinFactNeighborX="-8784"/>
      <dgm:spPr/>
    </dgm:pt>
    <dgm:pt modelId="{A2CE1BC2-FDC6-4CBF-8926-A9B7496D16EA}" type="pres">
      <dgm:prSet presAssocID="{2FB55C20-1A7C-454A-A14D-CB2E43DCDFF9}" presName="iconRect" presStyleLbl="node1" presStyleIdx="5" presStyleCnt="8" custLinFactNeighborX="-12732" custLinFactNeighborY="-2633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8F0FDC1-119B-4DA4-BEF8-C961F6188D3A}" type="pres">
      <dgm:prSet presAssocID="{2FB55C20-1A7C-454A-A14D-CB2E43DCDFF9}" presName="spaceRect" presStyleCnt="0"/>
      <dgm:spPr/>
    </dgm:pt>
    <dgm:pt modelId="{D0F75A05-FAB8-408A-A20D-AF86360933E2}" type="pres">
      <dgm:prSet presAssocID="{2FB55C20-1A7C-454A-A14D-CB2E43DCDFF9}" presName="textRect" presStyleLbl="revTx" presStyleIdx="5" presStyleCnt="8" custScaleX="111471" custLinFactNeighborX="-3112">
        <dgm:presLayoutVars>
          <dgm:chMax val="1"/>
          <dgm:chPref val="1"/>
        </dgm:presLayoutVars>
      </dgm:prSet>
      <dgm:spPr/>
    </dgm:pt>
    <dgm:pt modelId="{DF5AFC5C-A50D-4468-A99A-C53F662D8CE4}" type="pres">
      <dgm:prSet presAssocID="{F9EE9C88-372F-4F26-8413-4C701C690BEB}" presName="sibTrans" presStyleLbl="sibTrans2D1" presStyleIdx="0" presStyleCnt="0"/>
      <dgm:spPr/>
    </dgm:pt>
    <dgm:pt modelId="{FA29AB2F-12B7-44E1-B125-F8D80D12990F}" type="pres">
      <dgm:prSet presAssocID="{BC0DB552-A1D8-4513-A10E-A709120730BE}" presName="compNode" presStyleCnt="0"/>
      <dgm:spPr/>
    </dgm:pt>
    <dgm:pt modelId="{8CCE51CC-D3C0-4F2C-8598-BE9D7370D9DF}" type="pres">
      <dgm:prSet presAssocID="{BC0DB552-A1D8-4513-A10E-A709120730BE}" presName="iconBgRect" presStyleLbl="bgShp" presStyleIdx="6" presStyleCnt="8"/>
      <dgm:spPr/>
    </dgm:pt>
    <dgm:pt modelId="{57598655-F332-41BF-BD64-5A66FFA6E006}" type="pres">
      <dgm:prSet presAssocID="{BC0DB552-A1D8-4513-A10E-A709120730BE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C67B3D5B-F1A4-4E34-B8AC-2C1D28385B2A}" type="pres">
      <dgm:prSet presAssocID="{BC0DB552-A1D8-4513-A10E-A709120730BE}" presName="spaceRect" presStyleCnt="0"/>
      <dgm:spPr/>
    </dgm:pt>
    <dgm:pt modelId="{2189A018-C623-437F-B757-C239C9CC5481}" type="pres">
      <dgm:prSet presAssocID="{BC0DB552-A1D8-4513-A10E-A709120730BE}" presName="textRect" presStyleLbl="revTx" presStyleIdx="6" presStyleCnt="8">
        <dgm:presLayoutVars>
          <dgm:chMax val="1"/>
          <dgm:chPref val="1"/>
        </dgm:presLayoutVars>
      </dgm:prSet>
      <dgm:spPr/>
    </dgm:pt>
    <dgm:pt modelId="{0A4BAE24-AD56-458F-B3A5-A235BFA35D48}" type="pres">
      <dgm:prSet presAssocID="{131968C0-83CA-484B-AA9F-B82D3FCCE568}" presName="sibTrans" presStyleLbl="sibTrans2D1" presStyleIdx="0" presStyleCnt="0"/>
      <dgm:spPr/>
    </dgm:pt>
    <dgm:pt modelId="{583CB7B8-A2DB-447B-8991-DA557A4C123B}" type="pres">
      <dgm:prSet presAssocID="{247AF437-5C33-4CB3-B178-FA222B9C77CF}" presName="compNode" presStyleCnt="0"/>
      <dgm:spPr/>
    </dgm:pt>
    <dgm:pt modelId="{1FFEADA7-4700-4406-AAD8-CEEA47E0A953}" type="pres">
      <dgm:prSet presAssocID="{247AF437-5C33-4CB3-B178-FA222B9C77CF}" presName="iconBgRect" presStyleLbl="bgShp" presStyleIdx="7" presStyleCnt="8" custLinFactNeighborX="-32725" custLinFactNeighborY="1126"/>
      <dgm:spPr/>
    </dgm:pt>
    <dgm:pt modelId="{2C3E15CC-C847-4B12-8D4B-8A47C1FC6871}" type="pres">
      <dgm:prSet presAssocID="{247AF437-5C33-4CB3-B178-FA222B9C77CF}" presName="iconRect" presStyleLbl="node1" presStyleIdx="7" presStyleCnt="8" custLinFactNeighborX="-55522" custLinFactNeighborY="-3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88397947-AC98-45BC-AB94-72BD52B344DD}" type="pres">
      <dgm:prSet presAssocID="{247AF437-5C33-4CB3-B178-FA222B9C77CF}" presName="spaceRect" presStyleCnt="0"/>
      <dgm:spPr/>
    </dgm:pt>
    <dgm:pt modelId="{9C339962-DA8D-485C-9C92-6D311F1D7273}" type="pres">
      <dgm:prSet presAssocID="{247AF437-5C33-4CB3-B178-FA222B9C77CF}" presName="textRect" presStyleLbl="revTx" presStyleIdx="7" presStyleCnt="8" custScaleX="230200" custLinFactNeighborX="51735" custLinFactNeighborY="-6360">
        <dgm:presLayoutVars>
          <dgm:chMax val="1"/>
          <dgm:chPref val="1"/>
        </dgm:presLayoutVars>
      </dgm:prSet>
      <dgm:spPr/>
    </dgm:pt>
  </dgm:ptLst>
  <dgm:cxnLst>
    <dgm:cxn modelId="{D451521C-A7EC-475F-AD9B-49C54C814F08}" srcId="{F74E0B06-CAE5-4B4C-A0D4-3CE18A5A7CBB}" destId="{6BC79085-0862-47B0-8154-CCA02EBFCC76}" srcOrd="0" destOrd="0" parTransId="{96BF5149-24BB-4FCE-9145-5BDAE43E4F92}" sibTransId="{2AD6E712-528C-45F5-873A-4A3317E4BA43}"/>
    <dgm:cxn modelId="{CF810D21-2D3E-4C99-A152-769D728E20BD}" type="presOf" srcId="{F9EE9C88-372F-4F26-8413-4C701C690BEB}" destId="{DF5AFC5C-A50D-4468-A99A-C53F662D8CE4}" srcOrd="0" destOrd="0" presId="urn:microsoft.com/office/officeart/2018/2/layout/IconCircleList"/>
    <dgm:cxn modelId="{97A00634-5330-4C57-A410-487494ED1DC9}" srcId="{F74E0B06-CAE5-4B4C-A0D4-3CE18A5A7CBB}" destId="{E0C4A1EF-B02D-4F5F-BE8A-7FAAE14333CF}" srcOrd="1" destOrd="0" parTransId="{46165DB7-9A50-4C02-9746-53DD63998C10}" sibTransId="{52D92370-6B19-404F-B084-0AB87632152B}"/>
    <dgm:cxn modelId="{3816133A-D983-47CF-8BA1-2665F0ED6957}" type="presOf" srcId="{BC0DB552-A1D8-4513-A10E-A709120730BE}" destId="{2189A018-C623-437F-B757-C239C9CC5481}" srcOrd="0" destOrd="0" presId="urn:microsoft.com/office/officeart/2018/2/layout/IconCircleList"/>
    <dgm:cxn modelId="{45650B5D-A398-4E01-9088-42BF84466643}" type="presOf" srcId="{5F0FDC8A-8F4C-4980-9125-CBBCD0B6A016}" destId="{F671094D-8E13-4DFB-A501-9AB64B72FF38}" srcOrd="0" destOrd="0" presId="urn:microsoft.com/office/officeart/2018/2/layout/IconCircleList"/>
    <dgm:cxn modelId="{480C165E-7343-417C-B130-1A08EF2CAD1B}" type="presOf" srcId="{6D975B29-C094-49BC-8422-CA85D70C764A}" destId="{B40CE709-365C-4DEC-B76E-CF6815EE039A}" srcOrd="0" destOrd="0" presId="urn:microsoft.com/office/officeart/2018/2/layout/IconCircleList"/>
    <dgm:cxn modelId="{5B4F2E6A-1451-4260-B9FE-867F0B3A67A0}" type="presOf" srcId="{131968C0-83CA-484B-AA9F-B82D3FCCE568}" destId="{0A4BAE24-AD56-458F-B3A5-A235BFA35D48}" srcOrd="0" destOrd="0" presId="urn:microsoft.com/office/officeart/2018/2/layout/IconCircleList"/>
    <dgm:cxn modelId="{87CD9D6C-58FA-487C-BD54-1B7C2AC82276}" srcId="{F74E0B06-CAE5-4B4C-A0D4-3CE18A5A7CBB}" destId="{07D9B863-A75D-46DA-B7D7-9B9A18978FB0}" srcOrd="2" destOrd="0" parTransId="{E2EA2631-ABCB-412F-B7C0-A7CCF3B5689B}" sibTransId="{52453981-3D8D-47DB-9069-C15987690842}"/>
    <dgm:cxn modelId="{B880AF77-18A1-4876-89DE-2565AD7267AB}" type="presOf" srcId="{F74E0B06-CAE5-4B4C-A0D4-3CE18A5A7CBB}" destId="{E1B53921-CDDD-4192-BD8F-B8D6B95B76B4}" srcOrd="0" destOrd="0" presId="urn:microsoft.com/office/officeart/2018/2/layout/IconCircleList"/>
    <dgm:cxn modelId="{E6A49478-DC13-4C8E-9962-AB6BA239AC71}" srcId="{F74E0B06-CAE5-4B4C-A0D4-3CE18A5A7CBB}" destId="{6D975B29-C094-49BC-8422-CA85D70C764A}" srcOrd="4" destOrd="0" parTransId="{FDB2CF34-D4F9-4D49-AE87-81DB68C20D66}" sibTransId="{573766B2-054C-4AAE-B367-A8E69DFE961A}"/>
    <dgm:cxn modelId="{033C9B7E-9A9E-43B9-98ED-9D70E7E711FA}" type="presOf" srcId="{573766B2-054C-4AAE-B367-A8E69DFE961A}" destId="{EA6CFC8D-AEE5-44D8-A081-02AF7C223431}" srcOrd="0" destOrd="0" presId="urn:microsoft.com/office/officeart/2018/2/layout/IconCircleList"/>
    <dgm:cxn modelId="{6767E87E-3328-457C-AB59-44AAB6599D44}" type="presOf" srcId="{07D9B863-A75D-46DA-B7D7-9B9A18978FB0}" destId="{BE9BDA06-9CFF-4544-9F93-93DED81B34DF}" srcOrd="0" destOrd="0" presId="urn:microsoft.com/office/officeart/2018/2/layout/IconCircleList"/>
    <dgm:cxn modelId="{DAED1A83-D8A3-4EEB-8C85-1FAC9C09879D}" type="presOf" srcId="{2AD6E712-528C-45F5-873A-4A3317E4BA43}" destId="{D49C1983-82FB-45A8-A8DA-31BB156A23A3}" srcOrd="0" destOrd="0" presId="urn:microsoft.com/office/officeart/2018/2/layout/IconCircleList"/>
    <dgm:cxn modelId="{BE38148B-BC3D-434E-9782-DEA4FFF902D3}" type="presOf" srcId="{247AF437-5C33-4CB3-B178-FA222B9C77CF}" destId="{9C339962-DA8D-485C-9C92-6D311F1D7273}" srcOrd="0" destOrd="0" presId="urn:microsoft.com/office/officeart/2018/2/layout/IconCircleList"/>
    <dgm:cxn modelId="{BCFDE192-B06B-40A4-9CB6-F2469C6D66FC}" srcId="{F74E0B06-CAE5-4B4C-A0D4-3CE18A5A7CBB}" destId="{985A3A41-5993-4F3E-AEA7-164A6CE1E1BF}" srcOrd="3" destOrd="0" parTransId="{16C175EB-2ABB-48E6-892B-C6C353A9202C}" sibTransId="{5F0FDC8A-8F4C-4980-9125-CBBCD0B6A016}"/>
    <dgm:cxn modelId="{077CA897-6663-4137-A699-BFD1EF8BEBA0}" type="presOf" srcId="{E0C4A1EF-B02D-4F5F-BE8A-7FAAE14333CF}" destId="{98B35EA2-BC25-4D44-B07B-3F1A34AF13C5}" srcOrd="0" destOrd="0" presId="urn:microsoft.com/office/officeart/2018/2/layout/IconCircleList"/>
    <dgm:cxn modelId="{07E415AD-6DB9-41BD-8819-09611F8342F8}" type="presOf" srcId="{2FB55C20-1A7C-454A-A14D-CB2E43DCDFF9}" destId="{D0F75A05-FAB8-408A-A20D-AF86360933E2}" srcOrd="0" destOrd="0" presId="urn:microsoft.com/office/officeart/2018/2/layout/IconCircleList"/>
    <dgm:cxn modelId="{F5AF32C4-9B47-4479-AF5C-A0F3F8C5C78D}" srcId="{F74E0B06-CAE5-4B4C-A0D4-3CE18A5A7CBB}" destId="{2FB55C20-1A7C-454A-A14D-CB2E43DCDFF9}" srcOrd="5" destOrd="0" parTransId="{E9D324F8-9FD2-4998-8EAD-9E6A9F80BEF3}" sibTransId="{F9EE9C88-372F-4F26-8413-4C701C690BEB}"/>
    <dgm:cxn modelId="{3D8C49D6-1185-4BFF-BA2B-AF79C521098A}" srcId="{F74E0B06-CAE5-4B4C-A0D4-3CE18A5A7CBB}" destId="{247AF437-5C33-4CB3-B178-FA222B9C77CF}" srcOrd="7" destOrd="0" parTransId="{F4D843EF-6D99-4D4F-BEA2-2A46D768C65E}" sibTransId="{82EA4183-EABB-4FC3-A12D-FACA35A8E5DF}"/>
    <dgm:cxn modelId="{3F5F01E0-837A-487C-8F44-AC3E5A383ADF}" type="presOf" srcId="{6BC79085-0862-47B0-8154-CCA02EBFCC76}" destId="{1D6BAFE6-9FE9-4300-BFBB-3D55C81432CC}" srcOrd="0" destOrd="0" presId="urn:microsoft.com/office/officeart/2018/2/layout/IconCircleList"/>
    <dgm:cxn modelId="{2E9C19E1-D794-4695-ACDC-102928457B21}" type="presOf" srcId="{52453981-3D8D-47DB-9069-C15987690842}" destId="{109BB05C-D3CA-477F-8FBE-873CB9FF8BF5}" srcOrd="0" destOrd="0" presId="urn:microsoft.com/office/officeart/2018/2/layout/IconCircleList"/>
    <dgm:cxn modelId="{81315AE2-F2C9-4302-B32C-A1D32125329D}" type="presOf" srcId="{985A3A41-5993-4F3E-AEA7-164A6CE1E1BF}" destId="{BBD6C645-2800-49B0-B014-8FF2D8C63EEB}" srcOrd="0" destOrd="0" presId="urn:microsoft.com/office/officeart/2018/2/layout/IconCircleList"/>
    <dgm:cxn modelId="{189E08F6-0920-4B1A-B04B-B3DBC022D265}" srcId="{F74E0B06-CAE5-4B4C-A0D4-3CE18A5A7CBB}" destId="{BC0DB552-A1D8-4513-A10E-A709120730BE}" srcOrd="6" destOrd="0" parTransId="{73062F66-D0F5-4317-A92B-1C918206B3C0}" sibTransId="{131968C0-83CA-484B-AA9F-B82D3FCCE568}"/>
    <dgm:cxn modelId="{F4B04BF9-E6A4-4ACD-8388-E9ED9E600312}" type="presOf" srcId="{52D92370-6B19-404F-B084-0AB87632152B}" destId="{31CB22F8-F1CB-4039-8228-CB09D6E6A666}" srcOrd="0" destOrd="0" presId="urn:microsoft.com/office/officeart/2018/2/layout/IconCircleList"/>
    <dgm:cxn modelId="{5EAFE38D-B661-4A3D-9CE3-6E65DF636C1F}" type="presParOf" srcId="{E1B53921-CDDD-4192-BD8F-B8D6B95B76B4}" destId="{686C8A00-9B7C-4526-A588-AFEB0EAEB064}" srcOrd="0" destOrd="0" presId="urn:microsoft.com/office/officeart/2018/2/layout/IconCircleList"/>
    <dgm:cxn modelId="{C7571A62-CBF2-4DD9-BF88-835D58F32391}" type="presParOf" srcId="{686C8A00-9B7C-4526-A588-AFEB0EAEB064}" destId="{1280F5B1-54A7-404B-B074-80A273AC43BA}" srcOrd="0" destOrd="0" presId="urn:microsoft.com/office/officeart/2018/2/layout/IconCircleList"/>
    <dgm:cxn modelId="{6B477602-B025-43C9-820F-E4ED3AF1D124}" type="presParOf" srcId="{1280F5B1-54A7-404B-B074-80A273AC43BA}" destId="{76DF2D05-5FF4-4BB9-8FB6-2B5DD59718E5}" srcOrd="0" destOrd="0" presId="urn:microsoft.com/office/officeart/2018/2/layout/IconCircleList"/>
    <dgm:cxn modelId="{D99111DA-6EEF-446D-8A35-EF316C111710}" type="presParOf" srcId="{1280F5B1-54A7-404B-B074-80A273AC43BA}" destId="{25797594-09AF-47C8-B24B-D3AD3B7119E1}" srcOrd="1" destOrd="0" presId="urn:microsoft.com/office/officeart/2018/2/layout/IconCircleList"/>
    <dgm:cxn modelId="{B204AB19-B625-453E-B1E8-440A97133214}" type="presParOf" srcId="{1280F5B1-54A7-404B-B074-80A273AC43BA}" destId="{F619151F-F1A7-4C38-ADB3-128E276AEA50}" srcOrd="2" destOrd="0" presId="urn:microsoft.com/office/officeart/2018/2/layout/IconCircleList"/>
    <dgm:cxn modelId="{F513490B-ABE2-4584-95B3-1D68798FA23D}" type="presParOf" srcId="{1280F5B1-54A7-404B-B074-80A273AC43BA}" destId="{1D6BAFE6-9FE9-4300-BFBB-3D55C81432CC}" srcOrd="3" destOrd="0" presId="urn:microsoft.com/office/officeart/2018/2/layout/IconCircleList"/>
    <dgm:cxn modelId="{1200B487-B9A0-4700-A336-42E79CC20721}" type="presParOf" srcId="{686C8A00-9B7C-4526-A588-AFEB0EAEB064}" destId="{D49C1983-82FB-45A8-A8DA-31BB156A23A3}" srcOrd="1" destOrd="0" presId="urn:microsoft.com/office/officeart/2018/2/layout/IconCircleList"/>
    <dgm:cxn modelId="{9B804652-8D14-4235-9967-E01287028C61}" type="presParOf" srcId="{686C8A00-9B7C-4526-A588-AFEB0EAEB064}" destId="{75F188E5-AAFB-4C46-9E17-2F0FA6EBC333}" srcOrd="2" destOrd="0" presId="urn:microsoft.com/office/officeart/2018/2/layout/IconCircleList"/>
    <dgm:cxn modelId="{57E33DB6-AB72-449F-81AB-24B63B2F5EDE}" type="presParOf" srcId="{75F188E5-AAFB-4C46-9E17-2F0FA6EBC333}" destId="{6622E1BC-682E-4FDD-95E3-7D96E0FD98BF}" srcOrd="0" destOrd="0" presId="urn:microsoft.com/office/officeart/2018/2/layout/IconCircleList"/>
    <dgm:cxn modelId="{DDA43180-FF22-4C26-9E3E-AFD3EFDF0232}" type="presParOf" srcId="{75F188E5-AAFB-4C46-9E17-2F0FA6EBC333}" destId="{7D00C0F7-A65B-495D-970D-1A60B19E5FC7}" srcOrd="1" destOrd="0" presId="urn:microsoft.com/office/officeart/2018/2/layout/IconCircleList"/>
    <dgm:cxn modelId="{DFB3F8A3-D16A-48AB-AFFC-A9D5F9B78DA9}" type="presParOf" srcId="{75F188E5-AAFB-4C46-9E17-2F0FA6EBC333}" destId="{063F8EFB-411D-4F03-847E-3CA5A1612B1D}" srcOrd="2" destOrd="0" presId="urn:microsoft.com/office/officeart/2018/2/layout/IconCircleList"/>
    <dgm:cxn modelId="{8DBBE227-7C97-479E-A111-9002BDB2D91D}" type="presParOf" srcId="{75F188E5-AAFB-4C46-9E17-2F0FA6EBC333}" destId="{98B35EA2-BC25-4D44-B07B-3F1A34AF13C5}" srcOrd="3" destOrd="0" presId="urn:microsoft.com/office/officeart/2018/2/layout/IconCircleList"/>
    <dgm:cxn modelId="{45ED55A5-4E44-4B9B-A58A-C84D8CFE4EBD}" type="presParOf" srcId="{686C8A00-9B7C-4526-A588-AFEB0EAEB064}" destId="{31CB22F8-F1CB-4039-8228-CB09D6E6A666}" srcOrd="3" destOrd="0" presId="urn:microsoft.com/office/officeart/2018/2/layout/IconCircleList"/>
    <dgm:cxn modelId="{99083D43-F044-49C0-BBA9-9A76AFE0B823}" type="presParOf" srcId="{686C8A00-9B7C-4526-A588-AFEB0EAEB064}" destId="{CFD45201-63FA-4550-B19A-0E37BF459D9B}" srcOrd="4" destOrd="0" presId="urn:microsoft.com/office/officeart/2018/2/layout/IconCircleList"/>
    <dgm:cxn modelId="{5C451339-67BC-4E42-8383-BB854CAB24CE}" type="presParOf" srcId="{CFD45201-63FA-4550-B19A-0E37BF459D9B}" destId="{8098DF78-757F-4E35-BAF3-FB2EE27FF58E}" srcOrd="0" destOrd="0" presId="urn:microsoft.com/office/officeart/2018/2/layout/IconCircleList"/>
    <dgm:cxn modelId="{152C2AE9-6301-4C94-B175-1CFA24C37389}" type="presParOf" srcId="{CFD45201-63FA-4550-B19A-0E37BF459D9B}" destId="{F1D58EBA-CB8D-4B01-B297-3A9164301BC3}" srcOrd="1" destOrd="0" presId="urn:microsoft.com/office/officeart/2018/2/layout/IconCircleList"/>
    <dgm:cxn modelId="{5DC55962-1C7C-485F-9DAF-7EA2026EC4E0}" type="presParOf" srcId="{CFD45201-63FA-4550-B19A-0E37BF459D9B}" destId="{D984B05E-3F7A-4B24-B67E-60D4A64EC199}" srcOrd="2" destOrd="0" presId="urn:microsoft.com/office/officeart/2018/2/layout/IconCircleList"/>
    <dgm:cxn modelId="{54D9F823-F07C-4A50-AF76-F721A9D98EAC}" type="presParOf" srcId="{CFD45201-63FA-4550-B19A-0E37BF459D9B}" destId="{BE9BDA06-9CFF-4544-9F93-93DED81B34DF}" srcOrd="3" destOrd="0" presId="urn:microsoft.com/office/officeart/2018/2/layout/IconCircleList"/>
    <dgm:cxn modelId="{D7EDF74C-BEC5-4CF0-A584-D99C4B85B578}" type="presParOf" srcId="{686C8A00-9B7C-4526-A588-AFEB0EAEB064}" destId="{109BB05C-D3CA-477F-8FBE-873CB9FF8BF5}" srcOrd="5" destOrd="0" presId="urn:microsoft.com/office/officeart/2018/2/layout/IconCircleList"/>
    <dgm:cxn modelId="{EEDF715B-4CAA-4BF6-95F5-E5AB9D0EB5E4}" type="presParOf" srcId="{686C8A00-9B7C-4526-A588-AFEB0EAEB064}" destId="{50998C21-2B5A-4559-B183-2C496E83B207}" srcOrd="6" destOrd="0" presId="urn:microsoft.com/office/officeart/2018/2/layout/IconCircleList"/>
    <dgm:cxn modelId="{0C34B958-DB07-4EAA-B2F9-10F4D399E5AB}" type="presParOf" srcId="{50998C21-2B5A-4559-B183-2C496E83B207}" destId="{89086AB1-861F-405C-90F7-CCC1EE02334C}" srcOrd="0" destOrd="0" presId="urn:microsoft.com/office/officeart/2018/2/layout/IconCircleList"/>
    <dgm:cxn modelId="{058E2909-B73A-4E57-BCCE-034EBB46BA70}" type="presParOf" srcId="{50998C21-2B5A-4559-B183-2C496E83B207}" destId="{F5B41725-DBED-4F89-B7EF-1C200651355D}" srcOrd="1" destOrd="0" presId="urn:microsoft.com/office/officeart/2018/2/layout/IconCircleList"/>
    <dgm:cxn modelId="{FCDDDF02-053A-410C-9A5A-A913B1C46E1D}" type="presParOf" srcId="{50998C21-2B5A-4559-B183-2C496E83B207}" destId="{83BC19EC-31BA-46EE-84F8-ECD287C8F6E2}" srcOrd="2" destOrd="0" presId="urn:microsoft.com/office/officeart/2018/2/layout/IconCircleList"/>
    <dgm:cxn modelId="{A8F3E294-6393-403E-915C-C8B4009E89CD}" type="presParOf" srcId="{50998C21-2B5A-4559-B183-2C496E83B207}" destId="{BBD6C645-2800-49B0-B014-8FF2D8C63EEB}" srcOrd="3" destOrd="0" presId="urn:microsoft.com/office/officeart/2018/2/layout/IconCircleList"/>
    <dgm:cxn modelId="{34C540C5-6CD2-41F7-91E2-B0FC49DC0651}" type="presParOf" srcId="{686C8A00-9B7C-4526-A588-AFEB0EAEB064}" destId="{F671094D-8E13-4DFB-A501-9AB64B72FF38}" srcOrd="7" destOrd="0" presId="urn:microsoft.com/office/officeart/2018/2/layout/IconCircleList"/>
    <dgm:cxn modelId="{2A02C47E-7E85-4CEE-AB45-07FC7C0A0427}" type="presParOf" srcId="{686C8A00-9B7C-4526-A588-AFEB0EAEB064}" destId="{D9503727-7600-4FE7-B370-CEF83329EECF}" srcOrd="8" destOrd="0" presId="urn:microsoft.com/office/officeart/2018/2/layout/IconCircleList"/>
    <dgm:cxn modelId="{44F7AD1D-A81E-4AE9-BDD2-A07E42694380}" type="presParOf" srcId="{D9503727-7600-4FE7-B370-CEF83329EECF}" destId="{5DE9FC55-9D16-48F3-95DA-F31901128016}" srcOrd="0" destOrd="0" presId="urn:microsoft.com/office/officeart/2018/2/layout/IconCircleList"/>
    <dgm:cxn modelId="{2211B5D3-376B-4B87-AD74-36B74B7804DC}" type="presParOf" srcId="{D9503727-7600-4FE7-B370-CEF83329EECF}" destId="{8FF6C526-5F7A-4A4A-BDF4-D29D9C674184}" srcOrd="1" destOrd="0" presId="urn:microsoft.com/office/officeart/2018/2/layout/IconCircleList"/>
    <dgm:cxn modelId="{22795270-0EC2-4A48-9F44-350522D9D04D}" type="presParOf" srcId="{D9503727-7600-4FE7-B370-CEF83329EECF}" destId="{E1866C67-14FB-4121-AE73-AC79307EC870}" srcOrd="2" destOrd="0" presId="urn:microsoft.com/office/officeart/2018/2/layout/IconCircleList"/>
    <dgm:cxn modelId="{E3FC571B-2D07-4302-82D7-416F94C160C1}" type="presParOf" srcId="{D9503727-7600-4FE7-B370-CEF83329EECF}" destId="{B40CE709-365C-4DEC-B76E-CF6815EE039A}" srcOrd="3" destOrd="0" presId="urn:microsoft.com/office/officeart/2018/2/layout/IconCircleList"/>
    <dgm:cxn modelId="{8102ECBB-FFED-48C7-945B-6F0501841877}" type="presParOf" srcId="{686C8A00-9B7C-4526-A588-AFEB0EAEB064}" destId="{EA6CFC8D-AEE5-44D8-A081-02AF7C223431}" srcOrd="9" destOrd="0" presId="urn:microsoft.com/office/officeart/2018/2/layout/IconCircleList"/>
    <dgm:cxn modelId="{F0AF06E0-8B94-4643-BC14-0614420D2211}" type="presParOf" srcId="{686C8A00-9B7C-4526-A588-AFEB0EAEB064}" destId="{06F33840-20FB-42EA-B935-15D0731D2352}" srcOrd="10" destOrd="0" presId="urn:microsoft.com/office/officeart/2018/2/layout/IconCircleList"/>
    <dgm:cxn modelId="{AEBA1B7F-D150-4DB8-87E5-9AC74889708C}" type="presParOf" srcId="{06F33840-20FB-42EA-B935-15D0731D2352}" destId="{57F24ABF-34CF-43B1-A91A-99EF6330F625}" srcOrd="0" destOrd="0" presId="urn:microsoft.com/office/officeart/2018/2/layout/IconCircleList"/>
    <dgm:cxn modelId="{C3F44A31-F7AD-40A8-935F-EE277AA08C84}" type="presParOf" srcId="{06F33840-20FB-42EA-B935-15D0731D2352}" destId="{A2CE1BC2-FDC6-4CBF-8926-A9B7496D16EA}" srcOrd="1" destOrd="0" presId="urn:microsoft.com/office/officeart/2018/2/layout/IconCircleList"/>
    <dgm:cxn modelId="{34C12C1A-5164-4177-B5B1-99A7B49F5C1B}" type="presParOf" srcId="{06F33840-20FB-42EA-B935-15D0731D2352}" destId="{F8F0FDC1-119B-4DA4-BEF8-C961F6188D3A}" srcOrd="2" destOrd="0" presId="urn:microsoft.com/office/officeart/2018/2/layout/IconCircleList"/>
    <dgm:cxn modelId="{627FD3D5-9A3A-49A3-AFF8-D19C1705E868}" type="presParOf" srcId="{06F33840-20FB-42EA-B935-15D0731D2352}" destId="{D0F75A05-FAB8-408A-A20D-AF86360933E2}" srcOrd="3" destOrd="0" presId="urn:microsoft.com/office/officeart/2018/2/layout/IconCircleList"/>
    <dgm:cxn modelId="{F7BC940B-23D0-4360-B7FE-44B73112CADA}" type="presParOf" srcId="{686C8A00-9B7C-4526-A588-AFEB0EAEB064}" destId="{DF5AFC5C-A50D-4468-A99A-C53F662D8CE4}" srcOrd="11" destOrd="0" presId="urn:microsoft.com/office/officeart/2018/2/layout/IconCircleList"/>
    <dgm:cxn modelId="{C43CA3B8-8D1C-422C-AC59-40413636B550}" type="presParOf" srcId="{686C8A00-9B7C-4526-A588-AFEB0EAEB064}" destId="{FA29AB2F-12B7-44E1-B125-F8D80D12990F}" srcOrd="12" destOrd="0" presId="urn:microsoft.com/office/officeart/2018/2/layout/IconCircleList"/>
    <dgm:cxn modelId="{EE77B16C-86AC-4E83-B60E-602EA64D546B}" type="presParOf" srcId="{FA29AB2F-12B7-44E1-B125-F8D80D12990F}" destId="{8CCE51CC-D3C0-4F2C-8598-BE9D7370D9DF}" srcOrd="0" destOrd="0" presId="urn:microsoft.com/office/officeart/2018/2/layout/IconCircleList"/>
    <dgm:cxn modelId="{3070A7C5-91FC-4166-8DEA-C74744D6B459}" type="presParOf" srcId="{FA29AB2F-12B7-44E1-B125-F8D80D12990F}" destId="{57598655-F332-41BF-BD64-5A66FFA6E006}" srcOrd="1" destOrd="0" presId="urn:microsoft.com/office/officeart/2018/2/layout/IconCircleList"/>
    <dgm:cxn modelId="{E453DF71-F17C-4CEF-BF3A-7686FD17F042}" type="presParOf" srcId="{FA29AB2F-12B7-44E1-B125-F8D80D12990F}" destId="{C67B3D5B-F1A4-4E34-B8AC-2C1D28385B2A}" srcOrd="2" destOrd="0" presId="urn:microsoft.com/office/officeart/2018/2/layout/IconCircleList"/>
    <dgm:cxn modelId="{76591F5D-03C2-4D6A-828E-60549AEF987F}" type="presParOf" srcId="{FA29AB2F-12B7-44E1-B125-F8D80D12990F}" destId="{2189A018-C623-437F-B757-C239C9CC5481}" srcOrd="3" destOrd="0" presId="urn:microsoft.com/office/officeart/2018/2/layout/IconCircleList"/>
    <dgm:cxn modelId="{E49B0F0A-4BCF-47BC-AC4B-EE5297B23C10}" type="presParOf" srcId="{686C8A00-9B7C-4526-A588-AFEB0EAEB064}" destId="{0A4BAE24-AD56-458F-B3A5-A235BFA35D48}" srcOrd="13" destOrd="0" presId="urn:microsoft.com/office/officeart/2018/2/layout/IconCircleList"/>
    <dgm:cxn modelId="{931A3734-0130-413A-8064-98D44D83A04D}" type="presParOf" srcId="{686C8A00-9B7C-4526-A588-AFEB0EAEB064}" destId="{583CB7B8-A2DB-447B-8991-DA557A4C123B}" srcOrd="14" destOrd="0" presId="urn:microsoft.com/office/officeart/2018/2/layout/IconCircleList"/>
    <dgm:cxn modelId="{7D5C03D7-5090-412E-967B-7ABC7A545770}" type="presParOf" srcId="{583CB7B8-A2DB-447B-8991-DA557A4C123B}" destId="{1FFEADA7-4700-4406-AAD8-CEEA47E0A953}" srcOrd="0" destOrd="0" presId="urn:microsoft.com/office/officeart/2018/2/layout/IconCircleList"/>
    <dgm:cxn modelId="{A3D09CD8-755B-4951-9EF2-A4487C266D0B}" type="presParOf" srcId="{583CB7B8-A2DB-447B-8991-DA557A4C123B}" destId="{2C3E15CC-C847-4B12-8D4B-8A47C1FC6871}" srcOrd="1" destOrd="0" presId="urn:microsoft.com/office/officeart/2018/2/layout/IconCircleList"/>
    <dgm:cxn modelId="{8BA28D96-E2D1-46AC-AA88-C26AF067136D}" type="presParOf" srcId="{583CB7B8-A2DB-447B-8991-DA557A4C123B}" destId="{88397947-AC98-45BC-AB94-72BD52B344DD}" srcOrd="2" destOrd="0" presId="urn:microsoft.com/office/officeart/2018/2/layout/IconCircleList"/>
    <dgm:cxn modelId="{44E77178-D63D-4B3F-A992-D14E10762739}" type="presParOf" srcId="{583CB7B8-A2DB-447B-8991-DA557A4C123B}" destId="{9C339962-DA8D-485C-9C92-6D311F1D727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F2D05-5FF4-4BB9-8FB6-2B5DD59718E5}">
      <dsp:nvSpPr>
        <dsp:cNvPr id="0" name=""/>
        <dsp:cNvSpPr/>
      </dsp:nvSpPr>
      <dsp:spPr>
        <a:xfrm>
          <a:off x="505202" y="38510"/>
          <a:ext cx="831581" cy="8315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97594-09AF-47C8-B24B-D3AD3B7119E1}">
      <dsp:nvSpPr>
        <dsp:cNvPr id="0" name=""/>
        <dsp:cNvSpPr/>
      </dsp:nvSpPr>
      <dsp:spPr>
        <a:xfrm>
          <a:off x="679834" y="213142"/>
          <a:ext cx="482317" cy="4823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BAFE6-9FE9-4300-BFBB-3D55C81432CC}">
      <dsp:nvSpPr>
        <dsp:cNvPr id="0" name=""/>
        <dsp:cNvSpPr/>
      </dsp:nvSpPr>
      <dsp:spPr>
        <a:xfrm>
          <a:off x="1514979" y="38510"/>
          <a:ext cx="1960156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One Coherent Research Focus Across Three Papers</a:t>
          </a:r>
          <a:endParaRPr lang="en-US" sz="1400" kern="1200" dirty="0"/>
        </a:p>
      </dsp:txBody>
      <dsp:txXfrm>
        <a:off x="1514979" y="38510"/>
        <a:ext cx="1960156" cy="831581"/>
      </dsp:txXfrm>
    </dsp:sp>
    <dsp:sp modelId="{6622E1BC-682E-4FDD-95E3-7D96E0FD98BF}">
      <dsp:nvSpPr>
        <dsp:cNvPr id="0" name=""/>
        <dsp:cNvSpPr/>
      </dsp:nvSpPr>
      <dsp:spPr>
        <a:xfrm>
          <a:off x="3816678" y="38510"/>
          <a:ext cx="831581" cy="8315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0C0F7-A65B-495D-970D-1A60B19E5FC7}">
      <dsp:nvSpPr>
        <dsp:cNvPr id="0" name=""/>
        <dsp:cNvSpPr/>
      </dsp:nvSpPr>
      <dsp:spPr>
        <a:xfrm>
          <a:off x="4002954" y="201499"/>
          <a:ext cx="482317" cy="4823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B35EA2-BC25-4D44-B07B-3F1A34AF13C5}">
      <dsp:nvSpPr>
        <dsp:cNvPr id="0" name=""/>
        <dsp:cNvSpPr/>
      </dsp:nvSpPr>
      <dsp:spPr>
        <a:xfrm>
          <a:off x="4826456" y="38510"/>
          <a:ext cx="1960156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Computer-Use Agents in Real Operating Systems:  </a:t>
          </a:r>
        </a:p>
      </dsp:txBody>
      <dsp:txXfrm>
        <a:off x="4826456" y="38510"/>
        <a:ext cx="1960156" cy="831581"/>
      </dsp:txXfrm>
    </dsp:sp>
    <dsp:sp modelId="{8098DF78-757F-4E35-BAF3-FB2EE27FF58E}">
      <dsp:nvSpPr>
        <dsp:cNvPr id="0" name=""/>
        <dsp:cNvSpPr/>
      </dsp:nvSpPr>
      <dsp:spPr>
        <a:xfrm>
          <a:off x="7128155" y="38510"/>
          <a:ext cx="831581" cy="8315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58EBA-CB8D-4B01-B297-3A9164301BC3}">
      <dsp:nvSpPr>
        <dsp:cNvPr id="0" name=""/>
        <dsp:cNvSpPr/>
      </dsp:nvSpPr>
      <dsp:spPr>
        <a:xfrm>
          <a:off x="7302787" y="213142"/>
          <a:ext cx="482317" cy="4823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BDA06-9CFF-4544-9F93-93DED81B34DF}">
      <dsp:nvSpPr>
        <dsp:cNvPr id="0" name=""/>
        <dsp:cNvSpPr/>
      </dsp:nvSpPr>
      <dsp:spPr>
        <a:xfrm>
          <a:off x="8137933" y="38510"/>
          <a:ext cx="1960156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Frameworks -&gt; Open Foundations -&gt; Tool-Augmented Evaluation</a:t>
          </a:r>
          <a:endParaRPr lang="en-US" sz="1400" kern="1200" dirty="0"/>
        </a:p>
      </dsp:txBody>
      <dsp:txXfrm>
        <a:off x="8137933" y="38510"/>
        <a:ext cx="1960156" cy="831581"/>
      </dsp:txXfrm>
    </dsp:sp>
    <dsp:sp modelId="{89086AB1-861F-405C-90F7-CCC1EE02334C}">
      <dsp:nvSpPr>
        <dsp:cNvPr id="0" name=""/>
        <dsp:cNvSpPr/>
      </dsp:nvSpPr>
      <dsp:spPr>
        <a:xfrm>
          <a:off x="505202" y="1757666"/>
          <a:ext cx="831581" cy="8315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41725-DBED-4F89-B7EF-1C200651355D}">
      <dsp:nvSpPr>
        <dsp:cNvPr id="0" name=""/>
        <dsp:cNvSpPr/>
      </dsp:nvSpPr>
      <dsp:spPr>
        <a:xfrm>
          <a:off x="679834" y="1932298"/>
          <a:ext cx="482317" cy="4823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6C645-2800-49B0-B014-8FF2D8C63EEB}">
      <dsp:nvSpPr>
        <dsp:cNvPr id="0" name=""/>
        <dsp:cNvSpPr/>
      </dsp:nvSpPr>
      <dsp:spPr>
        <a:xfrm>
          <a:off x="1514979" y="1757666"/>
          <a:ext cx="1960156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Agent S:  improves the agent </a:t>
          </a:r>
          <a:r>
            <a:rPr lang="en-US" sz="1400" u="sng" kern="1200" dirty="0"/>
            <a:t>framework</a:t>
          </a:r>
          <a:r>
            <a:rPr lang="en-US" sz="1400" kern="1200" dirty="0"/>
            <a:t> for human-like computer operation.</a:t>
          </a:r>
        </a:p>
      </dsp:txBody>
      <dsp:txXfrm>
        <a:off x="1514979" y="1757666"/>
        <a:ext cx="1960156" cy="831581"/>
      </dsp:txXfrm>
    </dsp:sp>
    <dsp:sp modelId="{5DE9FC55-9D16-48F3-95DA-F31901128016}">
      <dsp:nvSpPr>
        <dsp:cNvPr id="0" name=""/>
        <dsp:cNvSpPr/>
      </dsp:nvSpPr>
      <dsp:spPr>
        <a:xfrm>
          <a:off x="3816678" y="1757666"/>
          <a:ext cx="831581" cy="8315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6C526-5F7A-4A4A-BDF4-D29D9C674184}">
      <dsp:nvSpPr>
        <dsp:cNvPr id="0" name=""/>
        <dsp:cNvSpPr/>
      </dsp:nvSpPr>
      <dsp:spPr>
        <a:xfrm>
          <a:off x="4019719" y="1901329"/>
          <a:ext cx="482317" cy="4823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CE709-365C-4DEC-B76E-CF6815EE039A}">
      <dsp:nvSpPr>
        <dsp:cNvPr id="0" name=""/>
        <dsp:cNvSpPr/>
      </dsp:nvSpPr>
      <dsp:spPr>
        <a:xfrm>
          <a:off x="4838041" y="1577882"/>
          <a:ext cx="2127318" cy="1128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OpenCUA: builds open </a:t>
          </a:r>
          <a:r>
            <a:rPr lang="en-US" sz="1400" u="sng" kern="1200" dirty="0"/>
            <a:t>infrastructure</a:t>
          </a:r>
          <a:r>
            <a:rPr lang="en-US" sz="1400" kern="1200" dirty="0"/>
            <a:t> for large-scale data, training, and reproducible research.</a:t>
          </a:r>
        </a:p>
      </dsp:txBody>
      <dsp:txXfrm>
        <a:off x="4838041" y="1577882"/>
        <a:ext cx="2127318" cy="1128780"/>
      </dsp:txXfrm>
    </dsp:sp>
    <dsp:sp modelId="{57F24ABF-34CF-43B1-A91A-99EF6330F625}">
      <dsp:nvSpPr>
        <dsp:cNvPr id="0" name=""/>
        <dsp:cNvSpPr/>
      </dsp:nvSpPr>
      <dsp:spPr>
        <a:xfrm>
          <a:off x="7138690" y="1757666"/>
          <a:ext cx="831581" cy="8315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E1BC2-FDC6-4CBF-8926-A9B7496D16EA}">
      <dsp:nvSpPr>
        <dsp:cNvPr id="0" name=""/>
        <dsp:cNvSpPr/>
      </dsp:nvSpPr>
      <dsp:spPr>
        <a:xfrm>
          <a:off x="7324960" y="1919599"/>
          <a:ext cx="482317" cy="48231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75A05-FAB8-408A-A20D-AF86360933E2}">
      <dsp:nvSpPr>
        <dsp:cNvPr id="0" name=""/>
        <dsp:cNvSpPr/>
      </dsp:nvSpPr>
      <dsp:spPr>
        <a:xfrm>
          <a:off x="8048089" y="1757666"/>
          <a:ext cx="2185006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OSWorld</a:t>
          </a:r>
          <a:r>
            <a:rPr lang="en-US" sz="1400" kern="1200" dirty="0"/>
            <a:t>-MCP:  extends evaluation from GUI-only interaction to </a:t>
          </a:r>
          <a:r>
            <a:rPr lang="en-US" sz="1400" u="sng" kern="1200" dirty="0"/>
            <a:t>GUI + tool invocation + decision making</a:t>
          </a:r>
          <a:r>
            <a:rPr lang="en-US" sz="1100" kern="1200" dirty="0"/>
            <a:t>.</a:t>
          </a:r>
        </a:p>
      </dsp:txBody>
      <dsp:txXfrm>
        <a:off x="8048089" y="1757666"/>
        <a:ext cx="2185006" cy="831581"/>
      </dsp:txXfrm>
    </dsp:sp>
    <dsp:sp modelId="{8CCE51CC-D3C0-4F2C-8598-BE9D7370D9DF}">
      <dsp:nvSpPr>
        <dsp:cNvPr id="0" name=""/>
        <dsp:cNvSpPr/>
      </dsp:nvSpPr>
      <dsp:spPr>
        <a:xfrm>
          <a:off x="505202" y="3476823"/>
          <a:ext cx="831581" cy="8315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98655-F332-41BF-BD64-5A66FFA6E006}">
      <dsp:nvSpPr>
        <dsp:cNvPr id="0" name=""/>
        <dsp:cNvSpPr/>
      </dsp:nvSpPr>
      <dsp:spPr>
        <a:xfrm>
          <a:off x="679834" y="3651455"/>
          <a:ext cx="482317" cy="48231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9A018-C623-437F-B757-C239C9CC5481}">
      <dsp:nvSpPr>
        <dsp:cNvPr id="0" name=""/>
        <dsp:cNvSpPr/>
      </dsp:nvSpPr>
      <dsp:spPr>
        <a:xfrm>
          <a:off x="1514979" y="3476823"/>
          <a:ext cx="1960156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Thesis</a:t>
          </a:r>
          <a:endParaRPr lang="en-US" sz="1600" kern="1200" dirty="0"/>
        </a:p>
      </dsp:txBody>
      <dsp:txXfrm>
        <a:off x="1514979" y="3476823"/>
        <a:ext cx="1960156" cy="831581"/>
      </dsp:txXfrm>
    </dsp:sp>
    <dsp:sp modelId="{1FFEADA7-4700-4406-AAD8-CEEA47E0A953}">
      <dsp:nvSpPr>
        <dsp:cNvPr id="0" name=""/>
        <dsp:cNvSpPr/>
      </dsp:nvSpPr>
      <dsp:spPr>
        <a:xfrm>
          <a:off x="3810828" y="3486186"/>
          <a:ext cx="831581" cy="8315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E15CC-C847-4B12-8D4B-8A47C1FC6871}">
      <dsp:nvSpPr>
        <dsp:cNvPr id="0" name=""/>
        <dsp:cNvSpPr/>
      </dsp:nvSpPr>
      <dsp:spPr>
        <a:xfrm>
          <a:off x="3989803" y="3651440"/>
          <a:ext cx="482317" cy="48231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39962-DA8D-485C-9C92-6D311F1D7273}">
      <dsp:nvSpPr>
        <dsp:cNvPr id="0" name=""/>
        <dsp:cNvSpPr/>
      </dsp:nvSpPr>
      <dsp:spPr>
        <a:xfrm>
          <a:off x="4830765" y="3423934"/>
          <a:ext cx="4512280" cy="831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These papers are not isolated. Together, they show how CUA research is evolving from capability engineering to ecosystem building and then to richer benchmarking.</a:t>
          </a:r>
        </a:p>
      </dsp:txBody>
      <dsp:txXfrm>
        <a:off x="4830765" y="3423934"/>
        <a:ext cx="4512280" cy="831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033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11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70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783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69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418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750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625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8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919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116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554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58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56D83E-7C0A-17A3-B7EA-40DF7685F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1D5EFC-965C-266E-8896-6EAA3621C415}"/>
              </a:ext>
            </a:extLst>
          </p:cNvPr>
          <p:cNvSpPr txBox="1">
            <a:spLocks/>
          </p:cNvSpPr>
          <p:nvPr/>
        </p:nvSpPr>
        <p:spPr>
          <a:xfrm>
            <a:off x="883920" y="1623995"/>
            <a:ext cx="10424160" cy="1611574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zh-CN" altLang="en-US" sz="3600" kern="0" dirty="0"/>
              <a:t>Computer-Use Agents in Real Operating System</a:t>
            </a:r>
            <a:br>
              <a:rPr lang="zh-CN" altLang="en-US" sz="3600" kern="0" dirty="0"/>
            </a:br>
            <a:r>
              <a:rPr lang="zh-CN" altLang="en-US" sz="3600" kern="0" dirty="0">
                <a:solidFill>
                  <a:srgbClr val="FFC000"/>
                </a:solidFill>
              </a:rPr>
              <a:t>From Agent Frameworks, to Open Foundations, to Tool-Augmented Evaluation  </a:t>
            </a:r>
            <a:endParaRPr lang="en-US" altLang="zh-CN" sz="3600" kern="0" dirty="0">
              <a:solidFill>
                <a:srgbClr val="FFC00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4308B4-7277-F43C-E076-2DA940158133}"/>
              </a:ext>
            </a:extLst>
          </p:cNvPr>
          <p:cNvSpPr txBox="1">
            <a:spLocks/>
          </p:cNvSpPr>
          <p:nvPr/>
        </p:nvSpPr>
        <p:spPr>
          <a:xfrm>
            <a:off x="1828800" y="3663316"/>
            <a:ext cx="8534400" cy="2433565"/>
          </a:xfrm>
          <a:prstGeom prst="rect">
            <a:avLst/>
          </a:prstGeom>
        </p:spPr>
        <p:txBody>
          <a:bodyPr/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altLang="zh-TW" sz="32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Yaoyao Xu</a:t>
            </a:r>
          </a:p>
          <a:p>
            <a:pPr marL="0" indent="0" algn="ctr">
              <a:buNone/>
            </a:pPr>
            <a:r>
              <a:rPr lang="en-US" altLang="zh-TW" sz="32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224040357</a:t>
            </a:r>
          </a:p>
          <a:p>
            <a:pPr marL="0" indent="0" algn="ctr">
              <a:buNone/>
            </a:pPr>
            <a:r>
              <a:rPr lang="en-US" altLang="zh-TW" sz="3200" kern="0" dirty="0"/>
              <a:t>School of </a:t>
            </a:r>
            <a:r>
              <a:rPr lang="en-US" altLang="zh-CN" sz="3200" kern="0" dirty="0"/>
              <a:t>Data </a:t>
            </a:r>
            <a:r>
              <a:rPr lang="en-US" altLang="zh-TW" sz="3200" kern="0" dirty="0"/>
              <a:t>Science</a:t>
            </a:r>
          </a:p>
          <a:p>
            <a:pPr marL="0" indent="0" algn="ctr">
              <a:buNone/>
            </a:pPr>
            <a:r>
              <a:rPr lang="en-US" altLang="zh-TW" sz="3200" kern="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354822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B4BCEF-353C-3142-36C9-58E3B06F3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6AD976-A920-5779-4BBF-8EA6472DB270}"/>
              </a:ext>
            </a:extLst>
          </p:cNvPr>
          <p:cNvSpPr txBox="1"/>
          <p:nvPr/>
        </p:nvSpPr>
        <p:spPr>
          <a:xfrm>
            <a:off x="1110762" y="1167586"/>
            <a:ext cx="99704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Papers Reviewed</a:t>
            </a:r>
            <a:endParaRPr lang="en-US" altLang="zh-CN" sz="24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Agent S: An Open Agentic Framework that Uses Computers Like a Human (2024)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OpenCUA: Open Foundations for Computer-Use Agents (2025)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OSWorld-MCP: Benchmarking MCP Tool Invocation in Computer-Use Agents (2025)</a:t>
            </a:r>
            <a:endParaRPr lang="en-US" altLang="zh-CN" sz="2400" b="1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400" b="1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Talk Roadmap</a:t>
            </a:r>
            <a:endParaRPr lang="en-US" altLang="zh-CN" sz="24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Background and problem definition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Paper 1: Framework-level capability design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Paper 2: Open data/model foundations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Paper 3: Hybrid GUI + tool evaluation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Cross-paper comparison and future directions</a:t>
            </a:r>
            <a:endParaRPr lang="zh-CN" alt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D45883-01B8-930C-C28B-0C66860253E1}"/>
              </a:ext>
            </a:extLst>
          </p:cNvPr>
          <p:cNvSpPr txBox="1">
            <a:spLocks/>
          </p:cNvSpPr>
          <p:nvPr/>
        </p:nvSpPr>
        <p:spPr>
          <a:xfrm>
            <a:off x="1049867" y="144466"/>
            <a:ext cx="10517721" cy="69215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" kern="0"/>
              <a:t>Outline</a:t>
            </a:r>
            <a:endParaRPr lang="en" kern="0" dirty="0"/>
          </a:p>
        </p:txBody>
      </p:sp>
    </p:spTree>
    <p:extLst>
      <p:ext uri="{BB962C8B-B14F-4D97-AF65-F5344CB8AC3E}">
        <p14:creationId xmlns:p14="http://schemas.microsoft.com/office/powerpoint/2010/main" val="182830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FA78FF-38BB-704D-3A36-B7979AE18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ACFF4E-CEC7-96E1-94CA-0EBEBFD4E2A2}"/>
              </a:ext>
            </a:extLst>
          </p:cNvPr>
          <p:cNvSpPr txBox="1"/>
          <p:nvPr/>
        </p:nvSpPr>
        <p:spPr>
          <a:xfrm>
            <a:off x="829818" y="1198246"/>
            <a:ext cx="10883094" cy="474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A Computer-Use Agent (CUA) is an AI system that takes a </a:t>
            </a:r>
            <a:r>
              <a:rPr lang="en-US" altLang="zh-CN" sz="2200" u="sng" dirty="0">
                <a:latin typeface="Calibri" panose="020F0502020204030204" pitchFamily="34" charset="0"/>
                <a:cs typeface="Calibri" panose="020F0502020204030204" pitchFamily="34" charset="0"/>
              </a:rPr>
              <a:t>natural-language instruction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, perceives the current </a:t>
            </a:r>
            <a:r>
              <a:rPr lang="en-US" altLang="zh-CN" sz="2200" u="sng" dirty="0">
                <a:latin typeface="Calibri" panose="020F0502020204030204" pitchFamily="34" charset="0"/>
                <a:cs typeface="Calibri" panose="020F0502020204030204" pitchFamily="34" charset="0"/>
              </a:rPr>
              <a:t>computer screen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, and completes tasks by issuing keyboard/mouse actions in real software environments.</a:t>
            </a:r>
          </a:p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CUAs are NOT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Not only a web agent: web agents are often browser-specific and can rely on structured DOM signals.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Not only a tool-use LLM: tool-use models can call APIs without understanding </a:t>
            </a:r>
            <a:r>
              <a:rPr lang="en-US" altLang="zh-CN" sz="2200" u="sng" dirty="0">
                <a:latin typeface="Calibri" panose="020F0502020204030204" pitchFamily="34" charset="0"/>
                <a:cs typeface="Calibri" panose="020F0502020204030204" pitchFamily="34" charset="0"/>
              </a:rPr>
              <a:t>GUI state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Not classic GUI scripting: scripts are brittle and usually fail under interface changes.</a:t>
            </a:r>
          </a:p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CUAs matter for OS-level research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They operate across applications without app-specific integration.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US" altLang="zh-CN" sz="2200" u="sng" dirty="0">
                <a:latin typeface="Calibri" panose="020F0502020204030204" pitchFamily="34" charset="0"/>
                <a:cs typeface="Calibri" panose="020F0502020204030204" pitchFamily="34" charset="0"/>
              </a:rPr>
              <a:t>support realistic long workflows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 in existing desktop ecosystems.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They connect multimodal perception, reasoning, and control in one loop.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20194A-9DD3-A2D1-C715-1E39AF153445}"/>
              </a:ext>
            </a:extLst>
          </p:cNvPr>
          <p:cNvSpPr txBox="1"/>
          <p:nvPr/>
        </p:nvSpPr>
        <p:spPr>
          <a:xfrm>
            <a:off x="1016390" y="277368"/>
            <a:ext cx="9787598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altLang="zh-CN" sz="3600" b="1" dirty="0">
                <a:solidFill>
                  <a:schemeClr val="tx2"/>
                </a:solidFill>
              </a:rPr>
              <a:t>What Is a Computer-Use Agent (CUA)?</a:t>
            </a:r>
          </a:p>
        </p:txBody>
      </p:sp>
    </p:spTree>
    <p:extLst>
      <p:ext uri="{BB962C8B-B14F-4D97-AF65-F5344CB8AC3E}">
        <p14:creationId xmlns:p14="http://schemas.microsoft.com/office/powerpoint/2010/main" val="266203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28D668-8230-5317-81C3-76DF5E029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3F02E2-D22F-E933-FB02-5F8B354FDCC1}"/>
              </a:ext>
            </a:extLst>
          </p:cNvPr>
          <p:cNvSpPr txBox="1"/>
          <p:nvPr/>
        </p:nvSpPr>
        <p:spPr>
          <a:xfrm>
            <a:off x="1058593" y="187182"/>
            <a:ext cx="95008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Real OS Environments Are Difficult ?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3CBAB4-371E-B58B-CBAA-196366EF9A90}"/>
              </a:ext>
            </a:extLst>
          </p:cNvPr>
          <p:cNvSpPr txBox="1"/>
          <p:nvPr/>
        </p:nvSpPr>
        <p:spPr>
          <a:xfrm>
            <a:off x="921409" y="1115870"/>
            <a:ext cx="10724282" cy="4958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defTabSz="914400"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 technical challenges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Perception and grounding: dense visual layouts, mixed icons, dynamic windows, and ambiguous clickable targets.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Long-horizon planning: tasks require many dependent steps; early errors propagate.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Memory and adaptation: agents must reuse prior experience while handling changing interfaces.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Hybrid action decisions: agents must choose between GUI operations and tool invocation.</a:t>
            </a:r>
          </a:p>
          <a:p>
            <a:pPr marL="800100" lvl="1" indent="-3429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Evaluation complexity: path-dependent success, environment variance, and fairness issues in comparisons.</a:t>
            </a: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implication: Progress requires coordinated advances in framework design, open infrastructure, and evaluation protocols</a:t>
            </a:r>
            <a:r>
              <a:rPr lang="en-US" altLang="zh-CN" sz="2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indent="-228600" defTabSz="9144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1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A6EF39-C89C-E46F-E427-EEDB87D01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1B210BC0-DC36-4ED4-B451-8416B5EB21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248822"/>
              </p:ext>
            </p:extLst>
          </p:nvPr>
        </p:nvGraphicFramePr>
        <p:xfrm>
          <a:off x="526647" y="1449338"/>
          <a:ext cx="10799298" cy="4346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5F4D05B-8E33-EE4A-E82E-27C7EB4AE6DD}"/>
              </a:ext>
            </a:extLst>
          </p:cNvPr>
          <p:cNvSpPr txBox="1"/>
          <p:nvPr/>
        </p:nvSpPr>
        <p:spPr>
          <a:xfrm>
            <a:off x="1128932" y="95722"/>
            <a:ext cx="6112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zh-CN" altLang="en-US" sz="44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28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272AE0-E280-3817-E5A3-3379BEDEF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9B0F75-D019-E4FB-321A-7CB4B2DEAD70}"/>
              </a:ext>
            </a:extLst>
          </p:cNvPr>
          <p:cNvSpPr txBox="1"/>
          <p:nvPr/>
        </p:nvSpPr>
        <p:spPr>
          <a:xfrm>
            <a:off x="1165302" y="178135"/>
            <a:ext cx="11026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2"/>
                </a:solidFill>
              </a:rPr>
              <a:t>Agent S: Problem Setting and Central Idea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92B054-418A-8F1F-C6F0-35C785BB53F8}"/>
              </a:ext>
            </a:extLst>
          </p:cNvPr>
          <p:cNvSpPr txBox="1"/>
          <p:nvPr/>
        </p:nvSpPr>
        <p:spPr>
          <a:xfrm>
            <a:off x="239181" y="1357769"/>
            <a:ext cx="530996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Problems targeted by Agent S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Lack of domain-specific knowledge.</a:t>
            </a:r>
            <a:endParaRPr lang="en-US" altLang="zh-CN" sz="20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Weak planning in long workflows</a:t>
            </a:r>
            <a:r>
              <a:rPr lang="en-US" altLang="zh-CN" sz="20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Difficulty handling dynamic</a:t>
            </a:r>
            <a:r>
              <a:rPr lang="en-US" altLang="zh-CN" sz="2000" dirty="0"/>
              <a:t> </a:t>
            </a:r>
            <a:r>
              <a:rPr lang="zh-CN" altLang="en-US" sz="2000" dirty="0"/>
              <a:t>GUI states.</a:t>
            </a:r>
            <a:endParaRPr lang="en-US" altLang="zh-CN" sz="2000" b="1" dirty="0"/>
          </a:p>
          <a:p>
            <a:endParaRPr lang="zh-CN" altLang="en-US" sz="20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Core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ontribution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Experience-Augmented Hierarchical Planning.</a:t>
            </a:r>
            <a:endParaRPr lang="en-US" altLang="zh-CN" sz="20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Agent-Computer Interface (ACI) for language-centered action grounding.</a:t>
            </a: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4B51D0-2A4A-B054-E22B-7D4ED9487B8A}"/>
              </a:ext>
            </a:extLst>
          </p:cNvPr>
          <p:cNvSpPr txBox="1"/>
          <p:nvPr/>
        </p:nvSpPr>
        <p:spPr>
          <a:xfrm>
            <a:off x="5335612" y="1325643"/>
            <a:ext cx="6523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</a:rPr>
              <a:t>How can a CUA solve diverse long-horizon desktop tasks with better planning, knowledge use, and interface grounding?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492033E0-755F-A5A5-1EF9-E19C9A95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189" y="2082443"/>
            <a:ext cx="6113720" cy="29781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B77B376-DF71-0255-E62A-B5480B196367}"/>
              </a:ext>
            </a:extLst>
          </p:cNvPr>
          <p:cNvSpPr txBox="1"/>
          <p:nvPr/>
        </p:nvSpPr>
        <p:spPr>
          <a:xfrm>
            <a:off x="5549149" y="506060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Fig1.</a:t>
            </a:r>
            <a:r>
              <a:rPr lang="zh-CN" altLang="en-US" sz="1200" dirty="0"/>
              <a:t> Agent S combines </a:t>
            </a:r>
            <a:r>
              <a:rPr lang="zh-CN" altLang="en-US" sz="1200" u="sng" dirty="0"/>
              <a:t>hierarchical planning, memory retrieval, and external knowledge</a:t>
            </a:r>
            <a:r>
              <a:rPr lang="zh-CN" altLang="en-US" sz="1200" dirty="0"/>
              <a:t> to operate computers like a human.</a:t>
            </a:r>
          </a:p>
        </p:txBody>
      </p:sp>
    </p:spTree>
    <p:extLst>
      <p:ext uri="{BB962C8B-B14F-4D97-AF65-F5344CB8AC3E}">
        <p14:creationId xmlns:p14="http://schemas.microsoft.com/office/powerpoint/2010/main" val="3136775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9AC910-C564-1238-5673-E784AAF9E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7FB6F8-6DAB-A1DF-BC27-45A23B17678C}"/>
              </a:ext>
            </a:extLst>
          </p:cNvPr>
          <p:cNvSpPr txBox="1"/>
          <p:nvPr/>
        </p:nvSpPr>
        <p:spPr>
          <a:xfrm>
            <a:off x="132162" y="1174912"/>
            <a:ext cx="627952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Main modules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Planner (Manager): decomposes user instruction into subtasks.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Executor (Worker): carries out subtask-level interactions.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Memory modules: retrieve relevant task/subtask experiences.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Web knowledge retriever: injects external up-to-date procedural knowledge.</a:t>
            </a:r>
          </a:p>
          <a:p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Step-level loop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Observe current screenshot + accessibility information.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Retrieve relevant narrative and episodic experiences.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Predict next action under current subtask goal.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Execute action and receive updated environment feedback.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Update progress and move to next subtask when appropriate.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CF33ABE-A493-4E1E-638F-86D913B065D4}"/>
              </a:ext>
            </a:extLst>
          </p:cNvPr>
          <p:cNvGrpSpPr/>
          <p:nvPr/>
        </p:nvGrpSpPr>
        <p:grpSpPr>
          <a:xfrm>
            <a:off x="6335486" y="1333694"/>
            <a:ext cx="5617331" cy="3682135"/>
            <a:chOff x="6335486" y="1333694"/>
            <a:chExt cx="5617331" cy="3682135"/>
          </a:xfrm>
        </p:grpSpPr>
        <p:pic>
          <p:nvPicPr>
            <p:cNvPr id="4" name="图片 3" descr="图形用户界面, 图示&#10;&#10;AI 生成的内容可能不正确。">
              <a:extLst>
                <a:ext uri="{FF2B5EF4-FFF2-40B4-BE49-F238E27FC236}">
                  <a16:creationId xmlns:a16="http://schemas.microsoft.com/office/drawing/2014/main" id="{D3263A15-4EA3-10FF-6E49-A6A6C51CF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11" r="2300"/>
            <a:stretch/>
          </p:blipFill>
          <p:spPr>
            <a:xfrm>
              <a:off x="6335486" y="1333694"/>
              <a:ext cx="5617331" cy="322047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E297202-44C0-890F-49A5-B3CCD77F8E61}"/>
                </a:ext>
              </a:extLst>
            </p:cNvPr>
            <p:cNvSpPr txBox="1"/>
            <p:nvPr/>
          </p:nvSpPr>
          <p:spPr>
            <a:xfrm>
              <a:off x="7205104" y="4554164"/>
              <a:ext cx="40372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Fig2.</a:t>
              </a:r>
              <a:r>
                <a:rPr lang="zh-CN" altLang="en-US" sz="1200" dirty="0"/>
                <a:t> Overview of Agent S framework with hierarchical planning and retrieval-augmented execution.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0D502AA-4278-7AB7-EA32-C55177860ED4}"/>
              </a:ext>
            </a:extLst>
          </p:cNvPr>
          <p:cNvSpPr txBox="1"/>
          <p:nvPr/>
        </p:nvSpPr>
        <p:spPr>
          <a:xfrm>
            <a:off x="132162" y="5256127"/>
            <a:ext cx="11110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Why this matters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he architecture explicitly separates high-level planning from low-level execution, improving </a:t>
            </a:r>
            <a:r>
              <a:rPr lang="zh-CN" altLang="en-US" sz="1600" u="sng" dirty="0"/>
              <a:t>long-horizon</a:t>
            </a:r>
            <a:r>
              <a:rPr lang="zh-CN" altLang="en-US" sz="1600" dirty="0"/>
              <a:t> control.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A52A80-AAAF-31DB-1F95-B8CF9E24C440}"/>
              </a:ext>
            </a:extLst>
          </p:cNvPr>
          <p:cNvSpPr txBox="1"/>
          <p:nvPr/>
        </p:nvSpPr>
        <p:spPr>
          <a:xfrm>
            <a:off x="1001749" y="186851"/>
            <a:ext cx="11190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</a:rPr>
              <a:t>Agent S: System Architecture and Execution Loop</a:t>
            </a:r>
          </a:p>
        </p:txBody>
      </p:sp>
    </p:spTree>
    <p:extLst>
      <p:ext uri="{BB962C8B-B14F-4D97-AF65-F5344CB8AC3E}">
        <p14:creationId xmlns:p14="http://schemas.microsoft.com/office/powerpoint/2010/main" val="424886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8AAEE6-C683-5F27-5816-B13B30D03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F1230568-9254-1A4A-3DA0-9B66D8F15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613" y="1146223"/>
            <a:ext cx="5442699" cy="355136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CB04BE3-8777-6DAA-DF20-E547CB3A2807}"/>
              </a:ext>
            </a:extLst>
          </p:cNvPr>
          <p:cNvSpPr txBox="1"/>
          <p:nvPr/>
        </p:nvSpPr>
        <p:spPr>
          <a:xfrm>
            <a:off x="6208668" y="4878321"/>
            <a:ext cx="5979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Fig3.</a:t>
            </a:r>
            <a:r>
              <a:rPr lang="zh-CN" altLang="en-US" sz="1200" dirty="0"/>
              <a:t> Memory construction and update pipeline with exploration and continual learning.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2779FA-09BD-41B6-32F2-CF3446FB771D}"/>
              </a:ext>
            </a:extLst>
          </p:cNvPr>
          <p:cNvSpPr txBox="1"/>
          <p:nvPr/>
        </p:nvSpPr>
        <p:spPr>
          <a:xfrm>
            <a:off x="1151488" y="178691"/>
            <a:ext cx="92826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Agent S: Memory Mechanism and ACI Design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147607-90E2-A5B3-FBA6-91C5CA4F1CD6}"/>
              </a:ext>
            </a:extLst>
          </p:cNvPr>
          <p:cNvSpPr txBox="1"/>
          <p:nvPr/>
        </p:nvSpPr>
        <p:spPr>
          <a:xfrm>
            <a:off x="190968" y="1146222"/>
            <a:ext cx="643164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design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Narrative Memory: high-level summaries of prior tasks.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Episodic Memory: detailed step-level subtask trajectories.</a:t>
            </a:r>
          </a:p>
          <a:p>
            <a:pPr marL="52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construction/update pipeline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Self-supervised exploration collects initial experiences.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Continual updates add new successful patterns during deployment.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Self-evaluator compresses trajectories before storage.</a:t>
            </a:r>
          </a:p>
          <a:p>
            <a:pPr marL="52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 design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Uses screenshot + image-augmented accessibility tree as complementary observations.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Uses bounded language-level action primitives to reduce unsafe or ambiguous control.</a:t>
            </a:r>
          </a:p>
          <a:p>
            <a:pPr marL="52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Technical value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80100" lvl="1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Memory improves reuse and adaptation; ACI improves grounding precision and action consistency.</a:t>
            </a:r>
          </a:p>
        </p:txBody>
      </p:sp>
    </p:spTree>
    <p:extLst>
      <p:ext uri="{BB962C8B-B14F-4D97-AF65-F5344CB8AC3E}">
        <p14:creationId xmlns:p14="http://schemas.microsoft.com/office/powerpoint/2010/main" val="200753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2EC6F5-A720-704B-B47F-8BCDF0325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A421C2-FE77-0F46-71FD-F7A170CFD542}"/>
              </a:ext>
            </a:extLst>
          </p:cNvPr>
          <p:cNvSpPr txBox="1"/>
          <p:nvPr/>
        </p:nvSpPr>
        <p:spPr>
          <a:xfrm>
            <a:off x="1157177" y="207017"/>
            <a:ext cx="9877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Agent S: Main Results and Ablation Evidence</a:t>
            </a: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0DDBF7FB-8B61-DA1D-E077-959778095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" y="1096296"/>
            <a:ext cx="6638614" cy="3750817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41423439-389D-929A-49DC-3E4C789B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98" y="1096296"/>
            <a:ext cx="4023715" cy="1659782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D6B618-8A0A-74D8-2D90-3226D3531E88}"/>
              </a:ext>
            </a:extLst>
          </p:cNvPr>
          <p:cNvSpPr txBox="1"/>
          <p:nvPr/>
        </p:nvSpPr>
        <p:spPr>
          <a:xfrm>
            <a:off x="6638615" y="3060582"/>
            <a:ext cx="5411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Main quantitative result (OSWorld full test 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Agent S (GP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1600" dirty="0"/>
              <a:t>T-4o backbone): 20.58% overall success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Corresponding baseline (GPT-4o): 11.21% overall success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Strong gains in Daily and Professional task groups.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86723A-4F55-C474-D2CA-7B958CB79456}"/>
              </a:ext>
            </a:extLst>
          </p:cNvPr>
          <p:cNvSpPr txBox="1"/>
          <p:nvPr/>
        </p:nvSpPr>
        <p:spPr>
          <a:xfrm>
            <a:off x="1463898" y="5577038"/>
            <a:ext cx="11372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Improvements are driven by framework components, not only by stronger base models.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C6C589-38B3-1A0F-C63F-7B2155445877}"/>
              </a:ext>
            </a:extLst>
          </p:cNvPr>
          <p:cNvSpPr txBox="1"/>
          <p:nvPr/>
        </p:nvSpPr>
        <p:spPr>
          <a:xfrm>
            <a:off x="384718" y="4838964"/>
            <a:ext cx="77056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Fig4.</a:t>
            </a:r>
            <a:r>
              <a:rPr lang="zh-CN" altLang="en-US" sz="1200" dirty="0"/>
              <a:t> Agent S achieves higher success and component-level ablations support causal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222715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D72E9E-E16E-3BC3-F767-9DE7FDA2F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BB2D83-F283-C530-C312-9B17C520EF8D}"/>
              </a:ext>
            </a:extLst>
          </p:cNvPr>
          <p:cNvSpPr txBox="1"/>
          <p:nvPr/>
        </p:nvSpPr>
        <p:spPr>
          <a:xfrm>
            <a:off x="1149439" y="1110953"/>
            <a:ext cx="10314592" cy="4903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6"/>
                </a:solidFill>
              </a:rPr>
              <a:t>Strengths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Clear modular architecture for long-horizon desktop tasks.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Significant benchmark improvements over reported baselines.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Detailed ablation and error analysis provide actionable insights.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</a:pPr>
            <a:endParaRPr lang="en-US" altLang="zh-CN" sz="2000" dirty="0">
              <a:solidFill>
                <a:srgbClr val="40404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6"/>
                </a:solidFill>
              </a:rPr>
              <a:t>Limitations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Absolute success rate is still low for reliable real-world automation.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Frequent failures remain in grounding and execution behaviors.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Dependence on expensive frontier backbones affects accessibility and reproducibility.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</a:pPr>
            <a:endParaRPr lang="en-US" altLang="zh-CN" sz="2000" dirty="0">
              <a:solidFill>
                <a:srgbClr val="40404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6"/>
                </a:solidFill>
              </a:rPr>
              <a:t>Takeaway for the field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Agent S shows that system design matters, but framework advances alone are not enough. </a:t>
            </a:r>
            <a:r>
              <a:rPr lang="en-US" altLang="zh-CN" sz="2000" u="sng" dirty="0">
                <a:solidFill>
                  <a:srgbClr val="404040"/>
                </a:solidFill>
              </a:rPr>
              <a:t>Open infrastructure</a:t>
            </a:r>
            <a:r>
              <a:rPr lang="en-US" altLang="zh-CN" sz="2000" dirty="0">
                <a:solidFill>
                  <a:srgbClr val="404040"/>
                </a:solidFill>
              </a:rPr>
              <a:t> becomes the next bottleneck.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9869BF-1475-02C5-4D0F-067AD5BCFD46}"/>
              </a:ext>
            </a:extLst>
          </p:cNvPr>
          <p:cNvSpPr txBox="1"/>
          <p:nvPr/>
        </p:nvSpPr>
        <p:spPr>
          <a:xfrm>
            <a:off x="1149439" y="343803"/>
            <a:ext cx="695137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altLang="zh-CN" sz="3200" b="1" dirty="0">
                <a:solidFill>
                  <a:schemeClr val="tx2"/>
                </a:solidFill>
              </a:rPr>
              <a:t>Agent S: Critical Review</a:t>
            </a:r>
          </a:p>
        </p:txBody>
      </p:sp>
    </p:spTree>
    <p:extLst>
      <p:ext uri="{BB962C8B-B14F-4D97-AF65-F5344CB8AC3E}">
        <p14:creationId xmlns:p14="http://schemas.microsoft.com/office/powerpoint/2010/main" val="78915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94A043-7156-A0DA-6E4A-5F5FC8442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2561714-D633-7019-8592-933E302E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851" y="1326856"/>
            <a:ext cx="7238149" cy="36190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F2BE5A6-C81A-A2A1-E351-5A287DB50FFC}"/>
              </a:ext>
            </a:extLst>
          </p:cNvPr>
          <p:cNvSpPr txBox="1"/>
          <p:nvPr/>
        </p:nvSpPr>
        <p:spPr>
          <a:xfrm>
            <a:off x="1008923" y="243889"/>
            <a:ext cx="10834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OpenCUA: Why Open Foundations Are Needed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E6B62-1C71-BD5A-EB64-6208A93202F4}"/>
              </a:ext>
            </a:extLst>
          </p:cNvPr>
          <p:cNvSpPr txBox="1"/>
          <p:nvPr/>
        </p:nvSpPr>
        <p:spPr>
          <a:xfrm>
            <a:off x="6096000" y="4945928"/>
            <a:ext cx="4937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Fig5.</a:t>
            </a:r>
            <a:r>
              <a:rPr lang="zh-CN" altLang="en-US" sz="1200" dirty="0"/>
              <a:t> OpenCUA provides an end-to-end open framework from data collection to model training and evaluation.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B1F913-3917-BB08-70F1-D37E17495F67}"/>
              </a:ext>
            </a:extLst>
          </p:cNvPr>
          <p:cNvSpPr txBox="1"/>
          <p:nvPr/>
        </p:nvSpPr>
        <p:spPr>
          <a:xfrm>
            <a:off x="189258" y="1118082"/>
            <a:ext cx="49371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Research question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How can we make CUA development </a:t>
            </a:r>
            <a:r>
              <a:rPr lang="zh-CN" altLang="en-US" sz="1600" u="sng" dirty="0"/>
              <a:t>scalable, transparent, and reproducible</a:t>
            </a:r>
            <a:r>
              <a:rPr lang="zh-CN" altLang="en-US" sz="1600" dirty="0"/>
              <a:t> for the research community?</a:t>
            </a:r>
          </a:p>
          <a:p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Motivation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Strong CUA systems are increasingly closed in data, training details, and infrastructure.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Existing open datasets often have limited diversity or task complexity.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OpenCUA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’s 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response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A full open-source stack: annotation tool, large-scale dataset, data processing pipeline, training recipe, benchmark, and models.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Position in evolution line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From </a:t>
            </a:r>
            <a:r>
              <a:rPr lang="en-US" altLang="zh-CN" sz="1600" dirty="0"/>
              <a:t>“</a:t>
            </a:r>
            <a:r>
              <a:rPr lang="zh-CN" altLang="en-US" sz="1600" dirty="0"/>
              <a:t>a stronger framework</a:t>
            </a:r>
            <a:r>
              <a:rPr lang="en-US" altLang="zh-CN" sz="1600" dirty="0"/>
              <a:t>” </a:t>
            </a:r>
            <a:r>
              <a:rPr lang="zh-CN" altLang="en-US" sz="1600" dirty="0"/>
              <a:t>to</a:t>
            </a:r>
            <a:r>
              <a:rPr lang="en-US" altLang="zh-CN" sz="1600" dirty="0"/>
              <a:t> </a:t>
            </a:r>
            <a:r>
              <a:rPr lang="zh-CN" altLang="en-US" sz="1600" dirty="0"/>
              <a:t> </a:t>
            </a:r>
            <a:r>
              <a:rPr lang="en-US" altLang="zh-CN" sz="1600" dirty="0"/>
              <a:t>“</a:t>
            </a:r>
            <a:r>
              <a:rPr lang="zh-CN" altLang="en-US" sz="1600" dirty="0"/>
              <a:t>an open and scalable ecosystem for CUA research.</a:t>
            </a:r>
            <a:r>
              <a:rPr lang="en-US" altLang="zh-CN" sz="1600" dirty="0"/>
              <a:t>”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2684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7815E706-B5DA-449E-FB41-AE834337CA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5"/>
          <a:stretch>
            <a:fillRect/>
          </a:stretch>
        </p:blipFill>
        <p:spPr>
          <a:xfrm>
            <a:off x="647474" y="1134511"/>
            <a:ext cx="10716748" cy="301409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85F14F-7409-B90D-9A9B-60BBF67AD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ED9F46-C570-CB0D-B75B-1E3FA11456C2}"/>
              </a:ext>
            </a:extLst>
          </p:cNvPr>
          <p:cNvSpPr txBox="1"/>
          <p:nvPr/>
        </p:nvSpPr>
        <p:spPr>
          <a:xfrm>
            <a:off x="4511040" y="4216444"/>
            <a:ext cx="37368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6"/>
                </a:solidFill>
              </a:rPr>
              <a:t>AGENTNET dataset</a:t>
            </a:r>
            <a:endParaRPr lang="en-US" altLang="zh-CN" sz="1600" b="1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Around </a:t>
            </a:r>
            <a:r>
              <a:rPr lang="zh-CN" altLang="en-US" sz="1600" dirty="0">
                <a:highlight>
                  <a:srgbClr val="C0C0C0"/>
                </a:highlight>
              </a:rPr>
              <a:t>22.6K</a:t>
            </a:r>
            <a:r>
              <a:rPr lang="zh-CN" altLang="en-US" sz="1600" dirty="0"/>
              <a:t> computer-use task trajectories.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Broad coverage across Windows, macOS, and Ubuntu.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Includes diverse apps/websites and realistic user behaviors.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A3899D-7C1C-7592-FAC8-B63B71769E20}"/>
              </a:ext>
            </a:extLst>
          </p:cNvPr>
          <p:cNvSpPr txBox="1"/>
          <p:nvPr/>
        </p:nvSpPr>
        <p:spPr>
          <a:xfrm>
            <a:off x="8351510" y="4216444"/>
            <a:ext cx="373074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6"/>
                </a:solidFill>
              </a:rPr>
              <a:t>Data processing pipeline</a:t>
            </a:r>
            <a:endParaRPr lang="en-US" altLang="zh-CN" sz="1600" b="1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Action reduction compresses dense low-level events.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State-action matching creates compact, trainable trajectories</a:t>
            </a:r>
            <a:r>
              <a:rPr lang="zh-CN" altLang="en-US" sz="1800" dirty="0"/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947818-FD83-0545-FB01-70D61B8A2152}"/>
              </a:ext>
            </a:extLst>
          </p:cNvPr>
          <p:cNvSpPr txBox="1"/>
          <p:nvPr/>
        </p:nvSpPr>
        <p:spPr>
          <a:xfrm>
            <a:off x="109748" y="4179685"/>
            <a:ext cx="440129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6"/>
                </a:solidFill>
              </a:rPr>
              <a:t>AGENTNET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Captures human computer-use demonstrations 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Records screen video, keyboard/mouse signals, and accessibility states.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Designed to support natural workflows on personal devices.</a:t>
            </a:r>
          </a:p>
          <a:p>
            <a:endParaRPr lang="zh-CN" altLang="en-US" sz="1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248E3D-5310-5D0E-6DA6-F85F1005D131}"/>
              </a:ext>
            </a:extLst>
          </p:cNvPr>
          <p:cNvSpPr txBox="1"/>
          <p:nvPr/>
        </p:nvSpPr>
        <p:spPr>
          <a:xfrm>
            <a:off x="1169500" y="211539"/>
            <a:ext cx="7995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Open, scalable data collectio</a:t>
            </a:r>
            <a:r>
              <a:rPr lang="en-US" altLang="zh-CN" sz="3200" b="1" dirty="0">
                <a:solidFill>
                  <a:schemeClr val="tx2"/>
                </a:solidFill>
              </a:rPr>
              <a:t>n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BF34AC-1202-496C-AF26-0C9DBDBE4944}"/>
              </a:ext>
            </a:extLst>
          </p:cNvPr>
          <p:cNvSpPr txBox="1"/>
          <p:nvPr/>
        </p:nvSpPr>
        <p:spPr>
          <a:xfrm>
            <a:off x="5167015" y="1226131"/>
            <a:ext cx="2833352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200" dirty="0">
                <a:ea typeface="標楷體" pitchFamily="65" charset="-120"/>
                <a:cs typeface="Calibri" pitchFamily="34" charset="0"/>
              </a:rPr>
              <a:t>Fig6.</a:t>
            </a:r>
            <a:r>
              <a:rPr kumimoji="1" lang="zh-CN" altLang="en-US" sz="1200" dirty="0">
                <a:ea typeface="標楷體" pitchFamily="65" charset="-120"/>
                <a:cs typeface="Calibri" pitchFamily="34" charset="0"/>
              </a:rPr>
              <a:t> </a:t>
            </a:r>
            <a:r>
              <a:rPr kumimoji="1" lang="en-US" altLang="zh-CN" sz="1200" dirty="0">
                <a:ea typeface="標楷體" pitchFamily="65" charset="-120"/>
                <a:cs typeface="Calibri" pitchFamily="34" charset="0"/>
              </a:rPr>
              <a:t>D</a:t>
            </a:r>
            <a:r>
              <a:rPr lang="zh-CN" altLang="en-US" sz="1200" dirty="0"/>
              <a:t>ata collectio</a:t>
            </a:r>
            <a:r>
              <a:rPr lang="en-US" altLang="zh-CN" sz="1200" dirty="0"/>
              <a:t>n</a:t>
            </a:r>
            <a:r>
              <a:rPr kumimoji="1" lang="zh-CN" altLang="en-US" sz="1200" dirty="0">
                <a:ea typeface="標楷體" pitchFamily="65" charset="-120"/>
                <a:cs typeface="Calibri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633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7733E4-E91C-C4F4-BC78-675B93015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6D45B7-6377-7669-CCCD-570138E598D0}"/>
              </a:ext>
            </a:extLst>
          </p:cNvPr>
          <p:cNvSpPr txBox="1"/>
          <p:nvPr/>
        </p:nvSpPr>
        <p:spPr>
          <a:xfrm>
            <a:off x="1011935" y="284726"/>
            <a:ext cx="10855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OpenCUA: Training Recipe and Technical Mechanism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5AC23A-08C5-F527-2B95-8218FF05F318}"/>
              </a:ext>
            </a:extLst>
          </p:cNvPr>
          <p:cNvSpPr txBox="1"/>
          <p:nvPr/>
        </p:nvSpPr>
        <p:spPr>
          <a:xfrm>
            <a:off x="175008" y="1120599"/>
            <a:ext cx="539673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/>
              <a:t>Key insight</a:t>
            </a:r>
            <a:r>
              <a:rPr lang="en-US" altLang="zh-CN" sz="1600" b="1" dirty="0"/>
              <a:t>: </a:t>
            </a:r>
            <a:r>
              <a:rPr lang="zh-CN" altLang="en-US" sz="1600" dirty="0"/>
              <a:t>State-action pairs alone provide limited gains as scale increases.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Core method: Reflective Long CoT synthesis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Generator + reflector pipeline creates rich reasoning traces.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Injects planning, reflection, and error-correction signals into supervision.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Important training choices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Multi-stage training with mixed CoT formats.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History representation design affects performance.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Including general text data can modestly improve generalization.</a:t>
            </a:r>
          </a:p>
          <a:p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Ablation takeaway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Reflective long CoT improves robust long-horizon performance compared with short/simple reasoning supervision.</a:t>
            </a:r>
            <a:endParaRPr lang="en-US" altLang="zh-CN" sz="1600" dirty="0"/>
          </a:p>
        </p:txBody>
      </p:sp>
      <p:pic>
        <p:nvPicPr>
          <p:cNvPr id="7" name="图片 6" descr="图形用户界面, 文本&#10;&#10;AI 生成的内容可能不正确。">
            <a:extLst>
              <a:ext uri="{FF2B5EF4-FFF2-40B4-BE49-F238E27FC236}">
                <a16:creationId xmlns:a16="http://schemas.microsoft.com/office/drawing/2014/main" id="{0C14368E-8E7B-E97B-AE3A-2D8728E0D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44" y="1166842"/>
            <a:ext cx="6071616" cy="3011303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70185045-4C8F-27AD-B082-E8011C537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44" y="4178145"/>
            <a:ext cx="6071616" cy="145795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B43D6C0-0028-ACE4-39D5-97B2C491178D}"/>
              </a:ext>
            </a:extLst>
          </p:cNvPr>
          <p:cNvSpPr txBox="1"/>
          <p:nvPr/>
        </p:nvSpPr>
        <p:spPr>
          <a:xfrm>
            <a:off x="6197087" y="5636100"/>
            <a:ext cx="6094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Fig7.</a:t>
            </a:r>
            <a:r>
              <a:rPr lang="zh-CN" altLang="en-US" sz="1200" dirty="0"/>
              <a:t> Reflective long CoT pipeline strengthens planning and recovery behavior.</a:t>
            </a:r>
          </a:p>
        </p:txBody>
      </p:sp>
    </p:spTree>
    <p:extLst>
      <p:ext uri="{BB962C8B-B14F-4D97-AF65-F5344CB8AC3E}">
        <p14:creationId xmlns:p14="http://schemas.microsoft.com/office/powerpoint/2010/main" val="1003453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61FC1C-AB54-D5DD-35D0-F5D5482C4E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B89B86-B872-5770-B55B-DC4ECEB123BC}"/>
              </a:ext>
            </a:extLst>
          </p:cNvPr>
          <p:cNvGrpSpPr/>
          <p:nvPr/>
        </p:nvGrpSpPr>
        <p:grpSpPr>
          <a:xfrm>
            <a:off x="6986690" y="1149042"/>
            <a:ext cx="5116286" cy="5029501"/>
            <a:chOff x="6618514" y="1179785"/>
            <a:chExt cx="5116286" cy="502950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44A725B-DF28-E902-8E43-A066AAB35AE3}"/>
                </a:ext>
              </a:extLst>
            </p:cNvPr>
            <p:cNvGrpSpPr/>
            <p:nvPr/>
          </p:nvGrpSpPr>
          <p:grpSpPr>
            <a:xfrm>
              <a:off x="6708303" y="1179785"/>
              <a:ext cx="4799425" cy="4505915"/>
              <a:chOff x="243500" y="458071"/>
              <a:chExt cx="4240678" cy="4367896"/>
            </a:xfrm>
          </p:grpSpPr>
          <p:pic>
            <p:nvPicPr>
              <p:cNvPr id="4" name="图片 3" descr="表格&#10;&#10;AI 生成的内容可能不正确。">
                <a:extLst>
                  <a:ext uri="{FF2B5EF4-FFF2-40B4-BE49-F238E27FC236}">
                    <a16:creationId xmlns:a16="http://schemas.microsoft.com/office/drawing/2014/main" id="{F71B4B2A-2C75-91A2-9C10-BA2C46178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500" y="458071"/>
                <a:ext cx="4240678" cy="2915466"/>
              </a:xfrm>
              <a:prstGeom prst="rect">
                <a:avLst/>
              </a:prstGeom>
              <a:ln w="31750" cap="sq">
                <a:solidFill>
                  <a:srgbClr val="FFFFFF"/>
                </a:solidFill>
                <a:miter lim="800000"/>
              </a:ln>
            </p:spPr>
          </p:pic>
          <p:pic>
            <p:nvPicPr>
              <p:cNvPr id="5" name="图片 4" descr="图表, 散点图&#10;&#10;AI 生成的内容可能不正确。">
                <a:extLst>
                  <a:ext uri="{FF2B5EF4-FFF2-40B4-BE49-F238E27FC236}">
                    <a16:creationId xmlns:a16="http://schemas.microsoft.com/office/drawing/2014/main" id="{E9A94C6D-BB90-DA2F-85E0-B4B7280A3A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500" y="3373535"/>
                <a:ext cx="4240677" cy="1452432"/>
              </a:xfrm>
              <a:prstGeom prst="rect">
                <a:avLst/>
              </a:prstGeom>
              <a:ln w="31750" cap="sq">
                <a:solidFill>
                  <a:srgbClr val="FFFFFF"/>
                </a:solidFill>
                <a:miter lim="800000"/>
              </a:ln>
            </p:spPr>
          </p:pic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C6D934B-46FE-B9FF-C321-E4EDA9DFF146}"/>
                </a:ext>
              </a:extLst>
            </p:cNvPr>
            <p:cNvSpPr txBox="1"/>
            <p:nvPr/>
          </p:nvSpPr>
          <p:spPr>
            <a:xfrm>
              <a:off x="6618514" y="5747621"/>
              <a:ext cx="51162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Fig8. </a:t>
              </a:r>
              <a:r>
                <a:rPr lang="zh-CN" altLang="en-US" sz="1200" dirty="0"/>
                <a:t>OpenCUA shows strong open-model performance and clear data/model scaling laws.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4DDCFC6-259C-2F18-42B5-5A2AD703EEE6}"/>
              </a:ext>
            </a:extLst>
          </p:cNvPr>
          <p:cNvSpPr txBox="1"/>
          <p:nvPr/>
        </p:nvSpPr>
        <p:spPr>
          <a:xfrm>
            <a:off x="758408" y="1149042"/>
            <a:ext cx="601578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Main reported result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OpenCUA-72B reaches 45.0% success on OSWorld-Verified (100-step), SOTA among open-source models in the paper.</a:t>
            </a:r>
          </a:p>
          <a:p>
            <a:endParaRPr lang="zh-CN" altLang="en-US" sz="16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Scaling evidence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Performance improves with larger model sizes.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Performance improves with increased data volume.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Cross-domain data (different OS sources) still improves transfer rather than harming it.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Additional analysis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Pass3 significantly exceeds Pass1, indicating inference-time headroom (reranking, multi-agent methods, etc.).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OpenCUA demonstrates that open pipelines can scale and remain competitive in realistic CUA benchmarks.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13433D-06E1-7A1F-C4F4-2DFBE0272ED7}"/>
              </a:ext>
            </a:extLst>
          </p:cNvPr>
          <p:cNvSpPr txBox="1"/>
          <p:nvPr/>
        </p:nvSpPr>
        <p:spPr>
          <a:xfrm>
            <a:off x="1133856" y="218182"/>
            <a:ext cx="84109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OpenCUA: Results and Scaling Behavio</a:t>
            </a:r>
            <a:r>
              <a:rPr lang="en-US" altLang="zh-CN" sz="3200" b="1" dirty="0">
                <a:solidFill>
                  <a:schemeClr val="tx2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935826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D385EC-1148-E5FB-98C5-5B92C791B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4321B8-BF8B-DF99-7C3E-FF5B5254C551}"/>
              </a:ext>
            </a:extLst>
          </p:cNvPr>
          <p:cNvSpPr txBox="1"/>
          <p:nvPr/>
        </p:nvSpPr>
        <p:spPr>
          <a:xfrm>
            <a:off x="1072895" y="1211177"/>
            <a:ext cx="10324448" cy="4600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Strengths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Full-stack openness improves reproducibility and community participation.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Large-scale data + explicit training recipe provide strong engineering value.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Empirical evidence includes both benchmark results and ablation/scaling analyses.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</a:pPr>
            <a:endParaRPr lang="en-US" altLang="zh-CN" sz="2000" dirty="0">
              <a:solidFill>
                <a:srgbClr val="40404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Limitations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Collection and training costs are still substantial.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Long-horizon robustness remains incomplete.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Existing benchmark settings still do not fully measure hybrid GUI/tool decisions.</a:t>
            </a:r>
          </a:p>
          <a:p>
            <a:pPr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</a:pPr>
            <a:endParaRPr lang="en-US" altLang="zh-CN" sz="2000" dirty="0">
              <a:solidFill>
                <a:srgbClr val="40404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Takeaway</a:t>
            </a:r>
          </a:p>
          <a:p>
            <a:pPr marL="800100" lvl="1" indent="-342900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</a:rPr>
              <a:t>Open foundations are essential, but evaluation protocols must evolve with new agent capabilities.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C5A5E5-7D7F-43BD-9653-5E50C4F73F58}"/>
              </a:ext>
            </a:extLst>
          </p:cNvPr>
          <p:cNvSpPr txBox="1"/>
          <p:nvPr/>
        </p:nvSpPr>
        <p:spPr>
          <a:xfrm>
            <a:off x="1072896" y="246468"/>
            <a:ext cx="6120384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altLang="zh-CN" sz="3200" b="1" dirty="0">
                <a:solidFill>
                  <a:schemeClr val="tx2"/>
                </a:solidFill>
              </a:rPr>
              <a:t>OpenCUA: Critical Review</a:t>
            </a:r>
          </a:p>
        </p:txBody>
      </p:sp>
    </p:spTree>
    <p:extLst>
      <p:ext uri="{BB962C8B-B14F-4D97-AF65-F5344CB8AC3E}">
        <p14:creationId xmlns:p14="http://schemas.microsoft.com/office/powerpoint/2010/main" val="3478903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8D165C-56A9-9A24-4E98-6D17C6280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E137F5-BC6D-0E18-96EA-C848A2EAFC85}"/>
              </a:ext>
            </a:extLst>
          </p:cNvPr>
          <p:cNvSpPr txBox="1"/>
          <p:nvPr/>
        </p:nvSpPr>
        <p:spPr>
          <a:xfrm>
            <a:off x="1089764" y="174155"/>
            <a:ext cx="10863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OSWorld-MCP: Motivation and Problem</a:t>
            </a: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D15595CF-9B1D-F2C1-3646-3D977232B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992"/>
          <a:stretch/>
        </p:blipFill>
        <p:spPr>
          <a:xfrm>
            <a:off x="5414820" y="1573835"/>
            <a:ext cx="6676972" cy="28478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A17CC70-EE07-84B5-4C0E-0BEB58021B51}"/>
              </a:ext>
            </a:extLst>
          </p:cNvPr>
          <p:cNvSpPr txBox="1"/>
          <p:nvPr/>
        </p:nvSpPr>
        <p:spPr>
          <a:xfrm>
            <a:off x="5867397" y="4656985"/>
            <a:ext cx="60802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Fig9. </a:t>
            </a:r>
            <a:r>
              <a:rPr lang="zh-CN" altLang="en-US" sz="1400" dirty="0"/>
              <a:t>GUI-only vs MCP-assisted execution paths for the same instruction.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D6C65A-B2C0-B30A-6A96-78439485FAC2}"/>
              </a:ext>
            </a:extLst>
          </p:cNvPr>
          <p:cNvSpPr txBox="1"/>
          <p:nvPr/>
        </p:nvSpPr>
        <p:spPr>
          <a:xfrm>
            <a:off x="100208" y="1167658"/>
            <a:ext cx="552240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Research question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How can we fairly evaluate CUAs when agents can use both GUI actions and MCP tool invocation?</a:t>
            </a:r>
          </a:p>
          <a:p>
            <a:endParaRPr lang="zh-CN" altLang="en-US" sz="16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Motivation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Existing dynamic benchmarks mostly focus on GUI operations.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Tool-enabled and GUI-only agents are not directly comparable under old evaluation settings.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Key observation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In some tasks, GUI-only completion takes many steps, while one correct tool invocation can solve the task more efficiently and robustly.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Contribution direction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OSWorld-MCP extends OSWorld into a </a:t>
            </a:r>
            <a:r>
              <a:rPr lang="zh-CN" altLang="en-US" sz="1600" u="sng" dirty="0"/>
              <a:t>hybrid action benchmark for GUI operation + tool invocation + decision making</a:t>
            </a:r>
            <a:r>
              <a:rPr lang="zh-CN" alt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45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06924D-FF52-0CD3-CF1F-2A77D2C05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B7DF11-05EC-31F7-85AC-B572D0E987C7}"/>
              </a:ext>
            </a:extLst>
          </p:cNvPr>
          <p:cNvSpPr txBox="1"/>
          <p:nvPr/>
        </p:nvSpPr>
        <p:spPr>
          <a:xfrm>
            <a:off x="1052576" y="190642"/>
            <a:ext cx="10346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OSWorld-MCP: Benchmark and Tool Construction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216015-1C67-825F-CF88-680E1E7C06D0}"/>
              </a:ext>
            </a:extLst>
          </p:cNvPr>
          <p:cNvSpPr txBox="1"/>
          <p:nvPr/>
        </p:nvSpPr>
        <p:spPr>
          <a:xfrm>
            <a:off x="722176" y="1135788"/>
            <a:ext cx="565685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Benchmark construction pipeline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Code generation module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Code filter/verification module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MCP tool wrapping module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Additional curated tools from existing MCP servers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Tool quality control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Manual multi-reviewer validation</a:t>
            </a:r>
            <a:r>
              <a:rPr lang="en-US" altLang="zh-CN" sz="16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Final benchmark uses 158 high-quality tools</a:t>
            </a:r>
            <a:r>
              <a:rPr lang="en-US" altLang="zh-CN" sz="1600" dirty="0"/>
              <a:t>.</a:t>
            </a:r>
            <a:endParaRPr lang="zh-CN" altLang="en-US" sz="1600" dirty="0"/>
          </a:p>
          <a:p>
            <a:endParaRPr lang="zh-CN" altLang="en-US" sz="16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Task setting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 At each step, agent decides between GUI operation and MCP tool invocation.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Includes distractor/non-target tools to test realistic decision quality.</a:t>
            </a:r>
          </a:p>
          <a:p>
            <a:endParaRPr lang="zh-CN" altLang="en-US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Why this is important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Benchmark quality depends on realistic, non-trivial, and diverse tool options.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76F3A4-775F-E7D1-484E-88406E4AF6CD}"/>
              </a:ext>
            </a:extLst>
          </p:cNvPr>
          <p:cNvGrpSpPr/>
          <p:nvPr/>
        </p:nvGrpSpPr>
        <p:grpSpPr>
          <a:xfrm>
            <a:off x="6585857" y="1169469"/>
            <a:ext cx="5405140" cy="4800953"/>
            <a:chOff x="6585857" y="1169469"/>
            <a:chExt cx="5405140" cy="480095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95A6CF1-0075-D93F-9660-24C68E13D780}"/>
                </a:ext>
              </a:extLst>
            </p:cNvPr>
            <p:cNvGrpSpPr/>
            <p:nvPr/>
          </p:nvGrpSpPr>
          <p:grpSpPr>
            <a:xfrm>
              <a:off x="6585857" y="4015361"/>
              <a:ext cx="5405140" cy="1955061"/>
              <a:chOff x="6443525" y="3784908"/>
              <a:chExt cx="5405140" cy="1955061"/>
            </a:xfrm>
          </p:grpSpPr>
          <p:pic>
            <p:nvPicPr>
              <p:cNvPr id="5" name="图片 4" descr="图示&#10;&#10;AI 生成的内容可能不正确。">
                <a:extLst>
                  <a:ext uri="{FF2B5EF4-FFF2-40B4-BE49-F238E27FC236}">
                    <a16:creationId xmlns:a16="http://schemas.microsoft.com/office/drawing/2014/main" id="{2665CB56-04D5-CDD0-39FF-888109BAE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18258"/>
              <a:stretch/>
            </p:blipFill>
            <p:spPr>
              <a:xfrm>
                <a:off x="6663104" y="3784908"/>
                <a:ext cx="4889825" cy="1631309"/>
              </a:xfrm>
              <a:prstGeom prst="rect">
                <a:avLst/>
              </a:prstGeom>
            </p:spPr>
          </p:pic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3597CD3-F28C-84A6-FCFF-BCF9D98107B2}"/>
                  </a:ext>
                </a:extLst>
              </p:cNvPr>
              <p:cNvSpPr txBox="1"/>
              <p:nvPr/>
            </p:nvSpPr>
            <p:spPr>
              <a:xfrm>
                <a:off x="6443525" y="5462970"/>
                <a:ext cx="54051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/>
                  <a:t>Fig10 (b). </a:t>
                </a:r>
                <a:r>
                  <a:rPr lang="zh-CN" altLang="en-US" sz="1200" dirty="0"/>
                  <a:t>OSWorld-MCP automated pipeline for high-quality tool construction.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8CAF36B-FFC3-B38F-89A3-64223416A70E}"/>
                </a:ext>
              </a:extLst>
            </p:cNvPr>
            <p:cNvGrpSpPr/>
            <p:nvPr/>
          </p:nvGrpSpPr>
          <p:grpSpPr>
            <a:xfrm>
              <a:off x="6805434" y="1169469"/>
              <a:ext cx="4889824" cy="2568789"/>
              <a:chOff x="6509696" y="1077412"/>
              <a:chExt cx="4889824" cy="2568789"/>
            </a:xfrm>
          </p:grpSpPr>
          <p:pic>
            <p:nvPicPr>
              <p:cNvPr id="4" name="图片 3" descr="图示&#10;&#10;AI 生成的内容可能不正确。">
                <a:extLst>
                  <a:ext uri="{FF2B5EF4-FFF2-40B4-BE49-F238E27FC236}">
                    <a16:creationId xmlns:a16="http://schemas.microsoft.com/office/drawing/2014/main" id="{89DD4D3B-6B40-2155-0AD5-44859D35C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9098"/>
              <a:stretch/>
            </p:blipFill>
            <p:spPr>
              <a:xfrm>
                <a:off x="6509696" y="1077412"/>
                <a:ext cx="4889824" cy="2351588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8C49A9A-724B-B9BC-32CD-F15BE7B675C0}"/>
                  </a:ext>
                </a:extLst>
              </p:cNvPr>
              <p:cNvSpPr txBox="1"/>
              <p:nvPr/>
            </p:nvSpPr>
            <p:spPr>
              <a:xfrm>
                <a:off x="7732414" y="3369202"/>
                <a:ext cx="275120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/>
                  <a:t>Fig10(a). </a:t>
                </a:r>
                <a:r>
                  <a:rPr lang="zh-CN" altLang="en-US" sz="1200" dirty="0"/>
                  <a:t>OSWorld-MCP framework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3323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CCE32D-F23E-ADDC-ECF5-72453BD8F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3EF0508-CC53-51A0-F5D7-E2985546E631}"/>
              </a:ext>
            </a:extLst>
          </p:cNvPr>
          <p:cNvGrpSpPr/>
          <p:nvPr/>
        </p:nvGrpSpPr>
        <p:grpSpPr>
          <a:xfrm>
            <a:off x="7309975" y="1469571"/>
            <a:ext cx="4642842" cy="3741887"/>
            <a:chOff x="6956100" y="1709056"/>
            <a:chExt cx="4642842" cy="3741887"/>
          </a:xfrm>
        </p:grpSpPr>
        <p:pic>
          <p:nvPicPr>
            <p:cNvPr id="3" name="图片 2" descr="图表, 散点图&#10;&#10;AI 生成的内容可能不正确。">
              <a:extLst>
                <a:ext uri="{FF2B5EF4-FFF2-40B4-BE49-F238E27FC236}">
                  <a16:creationId xmlns:a16="http://schemas.microsoft.com/office/drawing/2014/main" id="{BFA9FA32-9930-C712-9E72-FE6ACD83A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79" t="14216" r="4078"/>
            <a:stretch/>
          </p:blipFill>
          <p:spPr>
            <a:xfrm>
              <a:off x="6956100" y="1709056"/>
              <a:ext cx="4642842" cy="3218667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1DF932D-79EA-1668-CCA0-EE85E753A166}"/>
                </a:ext>
              </a:extLst>
            </p:cNvPr>
            <p:cNvSpPr txBox="1"/>
            <p:nvPr/>
          </p:nvSpPr>
          <p:spPr>
            <a:xfrm>
              <a:off x="7388381" y="4927723"/>
              <a:ext cx="37782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Fig11. </a:t>
              </a:r>
              <a:r>
                <a:rPr lang="zh-CN" altLang="en-US" sz="1400" dirty="0"/>
                <a:t>TIR, Accuracy, and ACS capture different dimensions of hybrid decision quality.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4A7FAF4-8813-6B05-2E62-0499760C6881}"/>
              </a:ext>
            </a:extLst>
          </p:cNvPr>
          <p:cNvSpPr txBox="1"/>
          <p:nvPr/>
        </p:nvSpPr>
        <p:spPr>
          <a:xfrm>
            <a:off x="556357" y="1166842"/>
            <a:ext cx="6753617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Three key metrics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Accuracy (Acc): final task success rate.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Tool Invocation Rate (TIR): proportion of tasks correctly completed with tool usage.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Average Completion Steps (ACS): average number of steps to completion (efficiency-oriented).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Why Acc alone is insufficient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A model may solve tasks but still use poor decision policies (e.g., unnecessary steps, weak tool selection).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What TIR and ACS add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TIR diagnoses tool-usage competence.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- ACS captures efficiency trends and interaction with task complexity.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Evaluation contribution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OSWorld-MCP provides a more diagnostic and fairer view of hybrid agent competence.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91BD39-CD6C-E93D-743D-F77195247BF2}"/>
              </a:ext>
            </a:extLst>
          </p:cNvPr>
          <p:cNvSpPr txBox="1"/>
          <p:nvPr/>
        </p:nvSpPr>
        <p:spPr>
          <a:xfrm>
            <a:off x="1189591" y="187356"/>
            <a:ext cx="6120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</a:rPr>
              <a:t>Evaluation </a:t>
            </a:r>
            <a:r>
              <a:rPr lang="en-US" altLang="zh-CN" sz="3600" b="1" dirty="0">
                <a:solidFill>
                  <a:schemeClr val="tx2"/>
                </a:solidFill>
              </a:rPr>
              <a:t>C</a:t>
            </a:r>
            <a:r>
              <a:rPr lang="zh-CN" altLang="en-US" sz="3600" b="1" dirty="0">
                <a:solidFill>
                  <a:schemeClr val="tx2"/>
                </a:solidFill>
              </a:rPr>
              <a:t>ontribution</a:t>
            </a:r>
          </a:p>
        </p:txBody>
      </p:sp>
    </p:spTree>
    <p:extLst>
      <p:ext uri="{BB962C8B-B14F-4D97-AF65-F5344CB8AC3E}">
        <p14:creationId xmlns:p14="http://schemas.microsoft.com/office/powerpoint/2010/main" val="157039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D1DDAB-3ACF-3CFD-62E1-4C3D8D451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F3C5F0-7672-1317-B563-9300C8C3F076}"/>
              </a:ext>
            </a:extLst>
          </p:cNvPr>
          <p:cNvSpPr txBox="1"/>
          <p:nvPr/>
        </p:nvSpPr>
        <p:spPr>
          <a:xfrm>
            <a:off x="729343" y="1070019"/>
            <a:ext cx="636553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Representative gains from MCP tools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OpenAI o3 (15 steps): 8.3% -&gt; 20.4%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Claude 4 Sonnet (50 steps): 40.1% -&gt; 43.3%</a:t>
            </a:r>
          </a:p>
          <a:p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But current models still underuse tools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Highest reported TIR is only 36.3%.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- Indicates major room for improvement in too</a:t>
            </a:r>
            <a:r>
              <a:rPr lang="en-US" altLang="zh-CN" dirty="0"/>
              <a:t>l </a:t>
            </a:r>
            <a:r>
              <a:rPr lang="zh-CN" altLang="en-US" dirty="0"/>
              <a:t>selection strategies.</a:t>
            </a:r>
          </a:p>
          <a:p>
            <a:endParaRPr lang="zh-CN" altLang="en-US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Key findings in paper analysis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TIR positively correlates with Accuracy across models/settings.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TIR-ACS relationship is non-linear due to task complexity and strategy effects.</a:t>
            </a:r>
          </a:p>
          <a:p>
            <a:endParaRPr lang="zh-CN" altLang="en-US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Implication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Tool availability helps, but robust and efficient hybrid policy learning is still an open challenge.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85DA4B-92D4-CA14-0BB4-9DE7234823E3}"/>
              </a:ext>
            </a:extLst>
          </p:cNvPr>
          <p:cNvSpPr txBox="1"/>
          <p:nvPr/>
        </p:nvSpPr>
        <p:spPr>
          <a:xfrm>
            <a:off x="1066800" y="206675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OSWorld-MCP: Main Results and Findings</a:t>
            </a:r>
            <a:endParaRPr lang="zh-CN" altLang="en-US" sz="3200" dirty="0">
              <a:solidFill>
                <a:schemeClr val="tx2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FDE0A32-E05F-AAE6-7520-9C0C165505D9}"/>
              </a:ext>
            </a:extLst>
          </p:cNvPr>
          <p:cNvGrpSpPr/>
          <p:nvPr/>
        </p:nvGrpSpPr>
        <p:grpSpPr>
          <a:xfrm>
            <a:off x="7312595" y="1146220"/>
            <a:ext cx="4344472" cy="4829817"/>
            <a:chOff x="7040452" y="1256216"/>
            <a:chExt cx="4344472" cy="4829817"/>
          </a:xfrm>
        </p:grpSpPr>
        <p:pic>
          <p:nvPicPr>
            <p:cNvPr id="4" name="图片 3" descr="一些文字和图片的手机截图&#10;&#10;AI 生成的内容可能不正确。">
              <a:extLst>
                <a:ext uri="{FF2B5EF4-FFF2-40B4-BE49-F238E27FC236}">
                  <a16:creationId xmlns:a16="http://schemas.microsoft.com/office/drawing/2014/main" id="{3F7D390C-A001-D1E4-C9C4-5A2CBC152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634"/>
            <a:stretch/>
          </p:blipFill>
          <p:spPr>
            <a:xfrm>
              <a:off x="7040453" y="1256216"/>
              <a:ext cx="4344471" cy="2916847"/>
            </a:xfrm>
            <a:prstGeom prst="rect">
              <a:avLst/>
            </a:prstGeom>
          </p:spPr>
        </p:pic>
        <p:pic>
          <p:nvPicPr>
            <p:cNvPr id="5" name="图片 4" descr="图表, 散点图&#10;&#10;AI 生成的内容可能不正确。">
              <a:extLst>
                <a:ext uri="{FF2B5EF4-FFF2-40B4-BE49-F238E27FC236}">
                  <a16:creationId xmlns:a16="http://schemas.microsoft.com/office/drawing/2014/main" id="{8652F0D9-4D78-DBA5-D622-0F876A237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8840"/>
            <a:stretch/>
          </p:blipFill>
          <p:spPr>
            <a:xfrm>
              <a:off x="7040452" y="4293158"/>
              <a:ext cx="4344472" cy="139578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30FFA4-9102-42E3-4F01-4DA8E9FFD807}"/>
                </a:ext>
              </a:extLst>
            </p:cNvPr>
            <p:cNvSpPr txBox="1"/>
            <p:nvPr/>
          </p:nvSpPr>
          <p:spPr>
            <a:xfrm>
              <a:off x="8218715" y="5809034"/>
              <a:ext cx="2191448" cy="276999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kumimoji="1" lang="en-US" altLang="zh-CN" sz="1200" dirty="0">
                  <a:ea typeface="標楷體" pitchFamily="65" charset="-120"/>
                  <a:cs typeface="Calibri" pitchFamily="34" charset="0"/>
                </a:rPr>
                <a:t>Fig12. Main Results</a:t>
              </a:r>
              <a:endParaRPr kumimoji="1" lang="zh-CN" altLang="en-US" sz="1200" dirty="0">
                <a:ea typeface="標楷體" pitchFamily="65" charset="-12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736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640579-B726-981C-F9D3-05AF6C61B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922B22-0390-B14F-4E19-473962A23F0A}"/>
              </a:ext>
            </a:extLst>
          </p:cNvPr>
          <p:cNvSpPr txBox="1"/>
          <p:nvPr/>
        </p:nvSpPr>
        <p:spPr>
          <a:xfrm>
            <a:off x="1104749" y="1119099"/>
            <a:ext cx="980273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Comparison of the Three Papers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Goal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Contribution layer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Environment/setting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Core innovation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Evaluation focus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Strengths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Limitations</a:t>
            </a:r>
            <a:endParaRPr lang="en-US" altLang="zh-CN" sz="16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1600" dirty="0"/>
              <a:t>Broader field impact</a:t>
            </a:r>
          </a:p>
          <a:p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Direct synthesis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Agent S:  framework-level capability engineering for long-horizon GUI tasks.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OpenCUA: open and scalable foundations for data, training, and reproducible research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OSWorld-MCP:  fair hybrid benchmark design for GUI + tool decision-making.</a:t>
            </a:r>
            <a:endParaRPr lang="en-US" altLang="zh-CN" dirty="0"/>
          </a:p>
          <a:p>
            <a:pPr algn="ctr"/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Unified takeaway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Together they form a complete research arc: build better agents -&gt; build open foundations -&gt; measure capabilities fairly.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834ABF-776F-5568-2285-117E77FCB4D7}"/>
              </a:ext>
            </a:extLst>
          </p:cNvPr>
          <p:cNvSpPr txBox="1"/>
          <p:nvPr/>
        </p:nvSpPr>
        <p:spPr>
          <a:xfrm>
            <a:off x="444030" y="213629"/>
            <a:ext cx="6120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</a:rPr>
              <a:t>Comparison </a:t>
            </a:r>
            <a:r>
              <a:rPr lang="en-US" altLang="zh-CN" sz="3200" b="1" dirty="0">
                <a:solidFill>
                  <a:schemeClr val="tx2"/>
                </a:solidFill>
              </a:rPr>
              <a:t>D</a:t>
            </a:r>
            <a:r>
              <a:rPr lang="zh-CN" altLang="en-US" sz="3200" b="1" dirty="0">
                <a:solidFill>
                  <a:schemeClr val="tx2"/>
                </a:solidFill>
              </a:rPr>
              <a:t>imensions</a:t>
            </a:r>
          </a:p>
        </p:txBody>
      </p:sp>
    </p:spTree>
    <p:extLst>
      <p:ext uri="{BB962C8B-B14F-4D97-AF65-F5344CB8AC3E}">
        <p14:creationId xmlns:p14="http://schemas.microsoft.com/office/powerpoint/2010/main" val="2719959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D1F6A1-8216-A649-5279-6BFCC1BF1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3A8FCC-38D1-9743-DEE2-B0C673E965D6}"/>
              </a:ext>
            </a:extLst>
          </p:cNvPr>
          <p:cNvSpPr txBox="1"/>
          <p:nvPr/>
        </p:nvSpPr>
        <p:spPr>
          <a:xfrm>
            <a:off x="1121227" y="225943"/>
            <a:ext cx="9277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Final Takeaways and Future Directions</a:t>
            </a:r>
            <a:endParaRPr lang="en-US" altLang="zh-CN" sz="3200" b="1" dirty="0">
              <a:solidFill>
                <a:schemeClr val="tx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82486D-2912-F818-F1C6-023BA8617685}"/>
              </a:ext>
            </a:extLst>
          </p:cNvPr>
          <p:cNvSpPr txBox="1"/>
          <p:nvPr/>
        </p:nvSpPr>
        <p:spPr>
          <a:xfrm>
            <a:off x="1230084" y="1166842"/>
            <a:ext cx="94814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Common trends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Shift from simple GUI control to long-horizon agentic workflows.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Increasing role of memory, reflection, and hybrid tool use.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Strong movement toward open ecosystems and standardized evaluation.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Current limitations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Reliability remains far from production requirements.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Robustness under environment dynamics is still weak.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Data/training pipelines are resource-intensive.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Future research directions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Better planners for GUI + tool hybrid policies.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Stronger memory compression/retrieval for long tasks.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Human-centered metrics (trust, safety, intervention cost).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Continual benchmark updates for evolving software ecosystems.</a:t>
            </a:r>
            <a:endParaRPr lang="en-US" altLang="zh-CN" dirty="0"/>
          </a:p>
          <a:p>
            <a:endParaRPr lang="en-US" altLang="zh-CN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u="sng" dirty="0">
                <a:solidFill>
                  <a:schemeClr val="accent2">
                    <a:lumMod val="75000"/>
                  </a:schemeClr>
                </a:solidFill>
              </a:rPr>
              <a:t>Progress in OS-level computer-use agents depends on co-evolving methods, infrastructure, and evaluation standards.</a:t>
            </a:r>
          </a:p>
        </p:txBody>
      </p:sp>
    </p:spTree>
    <p:extLst>
      <p:ext uri="{BB962C8B-B14F-4D97-AF65-F5344CB8AC3E}">
        <p14:creationId xmlns:p14="http://schemas.microsoft.com/office/powerpoint/2010/main" val="3441963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AC007B-2356-54FF-285D-D65A74F6E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345C8D-494F-179B-661F-D9AF92834953}"/>
              </a:ext>
            </a:extLst>
          </p:cNvPr>
          <p:cNvSpPr txBox="1"/>
          <p:nvPr/>
        </p:nvSpPr>
        <p:spPr>
          <a:xfrm>
            <a:off x="2971801" y="2606040"/>
            <a:ext cx="5928358" cy="1645920"/>
          </a:xfrm>
          <a:prstGeom prst="rect">
            <a:avLst/>
          </a:prstGeom>
        </p:spPr>
        <p:txBody>
          <a:bodyPr vert="horz" lIns="274320" tIns="182880" rIns="274320" bIns="182880" rtlCol="0" anchor="ctr" anchorCtr="1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000" b="1" cap="all" spc="2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4000" b="1" cap="all" spc="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000" b="1" cap="all" spc="2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Any Questions? </a:t>
            </a:r>
          </a:p>
        </p:txBody>
      </p:sp>
    </p:spTree>
    <p:extLst>
      <p:ext uri="{BB962C8B-B14F-4D97-AF65-F5344CB8AC3E}">
        <p14:creationId xmlns:p14="http://schemas.microsoft.com/office/powerpoint/2010/main" val="133999770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2288</Words>
  <Application>Microsoft Office PowerPoint</Application>
  <PresentationFormat>宽屏</PresentationFormat>
  <Paragraphs>309</Paragraphs>
  <Slides>22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標楷體</vt:lpstr>
      <vt:lpstr>MS Sans Serif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147</cp:revision>
  <dcterms:created xsi:type="dcterms:W3CDTF">2020-07-15T11:13:39Z</dcterms:created>
  <dcterms:modified xsi:type="dcterms:W3CDTF">2026-04-23T21:54:30Z</dcterms:modified>
</cp:coreProperties>
</file>