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0" r:id="rId2"/>
  </p:sldMasterIdLst>
  <p:notesMasterIdLst>
    <p:notesMasterId r:id="rId34"/>
  </p:notesMasterIdLst>
  <p:sldIdLst>
    <p:sldId id="256" r:id="rId3"/>
    <p:sldId id="258" r:id="rId4"/>
    <p:sldId id="553" r:id="rId5"/>
    <p:sldId id="534" r:id="rId6"/>
    <p:sldId id="516" r:id="rId7"/>
    <p:sldId id="519" r:id="rId8"/>
    <p:sldId id="523" r:id="rId9"/>
    <p:sldId id="536" r:id="rId10"/>
    <p:sldId id="521" r:id="rId11"/>
    <p:sldId id="543" r:id="rId12"/>
    <p:sldId id="544" r:id="rId13"/>
    <p:sldId id="524" r:id="rId14"/>
    <p:sldId id="547" r:id="rId15"/>
    <p:sldId id="525" r:id="rId16"/>
    <p:sldId id="522" r:id="rId17"/>
    <p:sldId id="537" r:id="rId18"/>
    <p:sldId id="538" r:id="rId19"/>
    <p:sldId id="539" r:id="rId20"/>
    <p:sldId id="554" r:id="rId21"/>
    <p:sldId id="542" r:id="rId22"/>
    <p:sldId id="555" r:id="rId23"/>
    <p:sldId id="551" r:id="rId24"/>
    <p:sldId id="526" r:id="rId25"/>
    <p:sldId id="532" r:id="rId26"/>
    <p:sldId id="531" r:id="rId27"/>
    <p:sldId id="528" r:id="rId28"/>
    <p:sldId id="530" r:id="rId29"/>
    <p:sldId id="550" r:id="rId30"/>
    <p:sldId id="549" r:id="rId31"/>
    <p:sldId id="548" r:id="rId32"/>
    <p:sldId id="556" r:id="rId3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93" autoAdjust="0"/>
    <p:restoredTop sz="75935" autoAdjust="0"/>
  </p:normalViewPr>
  <p:slideViewPr>
    <p:cSldViewPr snapToGrid="0">
      <p:cViewPr varScale="1">
        <p:scale>
          <a:sx n="89" d="100"/>
          <a:sy n="89" d="100"/>
        </p:scale>
        <p:origin x="57" y="213"/>
      </p:cViewPr>
      <p:guideLst/>
    </p:cSldViewPr>
  </p:slideViewPr>
  <p:outlineViewPr>
    <p:cViewPr>
      <p:scale>
        <a:sx n="33" d="100"/>
        <a:sy n="33" d="100"/>
      </p:scale>
      <p:origin x="0" y="-7587"/>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diagrams/colors1.xml><?xml version="1.0" encoding="utf-8"?>
<dgm:colorsDef xmlns:dgm="http://schemas.openxmlformats.org/drawingml/2006/diagram" xmlns:a="http://schemas.openxmlformats.org/drawingml/2006/main" uniqueId="urn:microsoft.com/office/officeart/2005/8/colors/accent2_1#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134DAB99-6D52-D04A-BC08-F74DAE0F6613}" type="doc">
      <dgm:prSet loTypeId="urn:microsoft.com/office/officeart/2005/8/layout/hierarchy1#1" loCatId="" qsTypeId="urn:microsoft.com/office/officeart/2005/8/quickstyle/3d2#1" qsCatId="3D" csTypeId="urn:microsoft.com/office/officeart/2005/8/colors/accent2_1#1" csCatId="accent2" phldr="1"/>
      <dgm:spPr/>
      <dgm:t>
        <a:bodyPr/>
        <a:lstStyle/>
        <a:p>
          <a:endParaRPr lang="zh-CN" altLang="en-US"/>
        </a:p>
      </dgm:t>
    </dgm:pt>
    <dgm:pt modelId="{3E99C8D3-94CC-4045-BBBC-0C8E29F16A1C}">
      <dgm:prSet phldrT="[文本]" custT="1"/>
      <dgm:spPr/>
      <dgm:t>
        <a:bodyPr/>
        <a:lstStyle/>
        <a:p>
          <a:pPr algn="ctr"/>
          <a:r>
            <a:rPr lang="en-US" sz="1800" b="1" i="0" dirty="0"/>
            <a:t>Code Generation Benchmark for Real-world Development Scenario</a:t>
          </a:r>
          <a:endParaRPr lang="zh-CN" altLang="en-US" sz="1800" dirty="0"/>
        </a:p>
      </dgm:t>
    </dgm:pt>
    <dgm:pt modelId="{4383E83D-CC35-4043-8998-6FC958887D5F}" type="parTrans" cxnId="{134448BA-E898-BB46-96B2-C1197C10FDFE}">
      <dgm:prSet/>
      <dgm:spPr/>
      <dgm:t>
        <a:bodyPr/>
        <a:lstStyle/>
        <a:p>
          <a:endParaRPr lang="zh-CN" altLang="en-US"/>
        </a:p>
      </dgm:t>
    </dgm:pt>
    <dgm:pt modelId="{90B18F16-9986-A040-B5B6-DC50454A174F}" type="sibTrans" cxnId="{134448BA-E898-BB46-96B2-C1197C10FDFE}">
      <dgm:prSet/>
      <dgm:spPr/>
      <dgm:t>
        <a:bodyPr/>
        <a:lstStyle/>
        <a:p>
          <a:endParaRPr lang="zh-CN" altLang="en-US"/>
        </a:p>
      </dgm:t>
    </dgm:pt>
    <dgm:pt modelId="{4E7B9050-2D4D-D64A-8EC4-A0CF42F4642B}">
      <dgm:prSet phldrT="[文本]" custT="1"/>
      <dgm:spPr/>
      <dgm:t>
        <a:bodyPr/>
        <a:lstStyle/>
        <a:p>
          <a:r>
            <a:rPr lang="en-US" sz="1800" b="1" i="0" dirty="0"/>
            <a:t>Code Generation Method for Real-world Development Scenario</a:t>
          </a:r>
          <a:endParaRPr lang="zh-CN" altLang="en-US" sz="1800" dirty="0"/>
        </a:p>
      </dgm:t>
    </dgm:pt>
    <dgm:pt modelId="{9AE2DE5A-5BF4-7A44-89DE-72FDC385352A}" type="parTrans" cxnId="{8B4F419E-131E-894E-9A79-CC28E5FD8767}">
      <dgm:prSet/>
      <dgm:spPr/>
      <dgm:t>
        <a:bodyPr/>
        <a:lstStyle/>
        <a:p>
          <a:endParaRPr lang="zh-CN" altLang="en-US"/>
        </a:p>
      </dgm:t>
    </dgm:pt>
    <dgm:pt modelId="{02A7F183-967E-4145-AF84-EAB27025F5C8}" type="sibTrans" cxnId="{8B4F419E-131E-894E-9A79-CC28E5FD8767}">
      <dgm:prSet/>
      <dgm:spPr/>
      <dgm:t>
        <a:bodyPr/>
        <a:lstStyle/>
        <a:p>
          <a:endParaRPr lang="zh-CN" altLang="en-US"/>
        </a:p>
      </dgm:t>
    </dgm:pt>
    <dgm:pt modelId="{1E84BD71-CD43-5B49-AB35-F433FE40C243}" type="pres">
      <dgm:prSet presAssocID="{134DAB99-6D52-D04A-BC08-F74DAE0F6613}" presName="hierChild1" presStyleCnt="0">
        <dgm:presLayoutVars>
          <dgm:chPref val="1"/>
          <dgm:dir/>
          <dgm:animOne val="branch"/>
          <dgm:animLvl val="lvl"/>
          <dgm:resizeHandles/>
        </dgm:presLayoutVars>
      </dgm:prSet>
      <dgm:spPr/>
    </dgm:pt>
    <dgm:pt modelId="{DF7EB0CA-B233-6A43-8184-6B3DA257170D}" type="pres">
      <dgm:prSet presAssocID="{3E99C8D3-94CC-4045-BBBC-0C8E29F16A1C}" presName="hierRoot1" presStyleCnt="0"/>
      <dgm:spPr/>
    </dgm:pt>
    <dgm:pt modelId="{176F2316-344B-9146-939C-25962E5A83FD}" type="pres">
      <dgm:prSet presAssocID="{3E99C8D3-94CC-4045-BBBC-0C8E29F16A1C}" presName="composite" presStyleCnt="0"/>
      <dgm:spPr/>
    </dgm:pt>
    <dgm:pt modelId="{47D237B7-9F72-FB42-8562-4CD401DC5CDA}" type="pres">
      <dgm:prSet presAssocID="{3E99C8D3-94CC-4045-BBBC-0C8E29F16A1C}" presName="background" presStyleLbl="node0" presStyleIdx="0" presStyleCnt="2"/>
      <dgm:spPr/>
    </dgm:pt>
    <dgm:pt modelId="{6C9A052C-B118-1844-AE84-839041B120E4}" type="pres">
      <dgm:prSet presAssocID="{3E99C8D3-94CC-4045-BBBC-0C8E29F16A1C}" presName="text" presStyleLbl="fgAcc0" presStyleIdx="0" presStyleCnt="2" custScaleX="124665" custScaleY="161586" custLinFactNeighborX="-23216" custLinFactNeighborY="-17964">
        <dgm:presLayoutVars>
          <dgm:chPref val="3"/>
        </dgm:presLayoutVars>
      </dgm:prSet>
      <dgm:spPr/>
    </dgm:pt>
    <dgm:pt modelId="{07877C41-A1FA-864A-9F71-EC7CF6C1E733}" type="pres">
      <dgm:prSet presAssocID="{3E99C8D3-94CC-4045-BBBC-0C8E29F16A1C}" presName="hierChild2" presStyleCnt="0"/>
      <dgm:spPr/>
    </dgm:pt>
    <dgm:pt modelId="{86DFC909-E6E7-4BC2-BC53-9723F02194C7}" type="pres">
      <dgm:prSet presAssocID="{4E7B9050-2D4D-D64A-8EC4-A0CF42F4642B}" presName="hierRoot1" presStyleCnt="0"/>
      <dgm:spPr/>
    </dgm:pt>
    <dgm:pt modelId="{360C9351-0EBF-4D0F-A443-CA5803FB9B7C}" type="pres">
      <dgm:prSet presAssocID="{4E7B9050-2D4D-D64A-8EC4-A0CF42F4642B}" presName="composite" presStyleCnt="0"/>
      <dgm:spPr/>
    </dgm:pt>
    <dgm:pt modelId="{81C22A65-34CD-4906-AE34-BCF592116E36}" type="pres">
      <dgm:prSet presAssocID="{4E7B9050-2D4D-D64A-8EC4-A0CF42F4642B}" presName="background" presStyleLbl="node0" presStyleIdx="1" presStyleCnt="2"/>
      <dgm:spPr/>
    </dgm:pt>
    <dgm:pt modelId="{4EEF5BB4-F9D7-46FE-A363-139CDD376F2A}" type="pres">
      <dgm:prSet presAssocID="{4E7B9050-2D4D-D64A-8EC4-A0CF42F4642B}" presName="text" presStyleLbl="fgAcc0" presStyleIdx="1" presStyleCnt="2" custScaleX="152781" custScaleY="161394" custLinFactNeighborX="62772" custLinFactNeighborY="-25127">
        <dgm:presLayoutVars>
          <dgm:chPref val="3"/>
        </dgm:presLayoutVars>
      </dgm:prSet>
      <dgm:spPr/>
    </dgm:pt>
    <dgm:pt modelId="{90F02085-DAFA-4176-9A5D-1C162084C2B4}" type="pres">
      <dgm:prSet presAssocID="{4E7B9050-2D4D-D64A-8EC4-A0CF42F4642B}" presName="hierChild2" presStyleCnt="0"/>
      <dgm:spPr/>
    </dgm:pt>
  </dgm:ptLst>
  <dgm:cxnLst>
    <dgm:cxn modelId="{4474C838-6BAE-0B41-820D-4D9F8CC303AE}" type="presOf" srcId="{134DAB99-6D52-D04A-BC08-F74DAE0F6613}" destId="{1E84BD71-CD43-5B49-AB35-F433FE40C243}" srcOrd="0" destOrd="0" presId="urn:microsoft.com/office/officeart/2005/8/layout/hierarchy1#1"/>
    <dgm:cxn modelId="{8B4F419E-131E-894E-9A79-CC28E5FD8767}" srcId="{134DAB99-6D52-D04A-BC08-F74DAE0F6613}" destId="{4E7B9050-2D4D-D64A-8EC4-A0CF42F4642B}" srcOrd="1" destOrd="0" parTransId="{9AE2DE5A-5BF4-7A44-89DE-72FDC385352A}" sibTransId="{02A7F183-967E-4145-AF84-EAB27025F5C8}"/>
    <dgm:cxn modelId="{134448BA-E898-BB46-96B2-C1197C10FDFE}" srcId="{134DAB99-6D52-D04A-BC08-F74DAE0F6613}" destId="{3E99C8D3-94CC-4045-BBBC-0C8E29F16A1C}" srcOrd="0" destOrd="0" parTransId="{4383E83D-CC35-4043-8998-6FC958887D5F}" sibTransId="{90B18F16-9986-A040-B5B6-DC50454A174F}"/>
    <dgm:cxn modelId="{D3E6F4BF-596B-44B7-954A-BD2D48779489}" type="presOf" srcId="{4E7B9050-2D4D-D64A-8EC4-A0CF42F4642B}" destId="{4EEF5BB4-F9D7-46FE-A363-139CDD376F2A}" srcOrd="0" destOrd="0" presId="urn:microsoft.com/office/officeart/2005/8/layout/hierarchy1#1"/>
    <dgm:cxn modelId="{CE701DFA-5195-CA46-BC1C-D6B0588303BA}" type="presOf" srcId="{3E99C8D3-94CC-4045-BBBC-0C8E29F16A1C}" destId="{6C9A052C-B118-1844-AE84-839041B120E4}" srcOrd="0" destOrd="0" presId="urn:microsoft.com/office/officeart/2005/8/layout/hierarchy1#1"/>
    <dgm:cxn modelId="{6EC79909-87CF-E243-9722-DC6493D4AEA7}" type="presParOf" srcId="{1E84BD71-CD43-5B49-AB35-F433FE40C243}" destId="{DF7EB0CA-B233-6A43-8184-6B3DA257170D}" srcOrd="0" destOrd="0" presId="urn:microsoft.com/office/officeart/2005/8/layout/hierarchy1#1"/>
    <dgm:cxn modelId="{926E0B58-A6A6-2C46-9005-EBE57FA5D01F}" type="presParOf" srcId="{DF7EB0CA-B233-6A43-8184-6B3DA257170D}" destId="{176F2316-344B-9146-939C-25962E5A83FD}" srcOrd="0" destOrd="0" presId="urn:microsoft.com/office/officeart/2005/8/layout/hierarchy1#1"/>
    <dgm:cxn modelId="{4F1E48B9-55DC-EE47-9625-675685DFAA05}" type="presParOf" srcId="{176F2316-344B-9146-939C-25962E5A83FD}" destId="{47D237B7-9F72-FB42-8562-4CD401DC5CDA}" srcOrd="0" destOrd="0" presId="urn:microsoft.com/office/officeart/2005/8/layout/hierarchy1#1"/>
    <dgm:cxn modelId="{4E8BBFEC-4FC1-6743-BE8A-A8D4FE1E5E2B}" type="presParOf" srcId="{176F2316-344B-9146-939C-25962E5A83FD}" destId="{6C9A052C-B118-1844-AE84-839041B120E4}" srcOrd="1" destOrd="0" presId="urn:microsoft.com/office/officeart/2005/8/layout/hierarchy1#1"/>
    <dgm:cxn modelId="{47F8B072-A3F5-EA4E-9142-82CC71575D51}" type="presParOf" srcId="{DF7EB0CA-B233-6A43-8184-6B3DA257170D}" destId="{07877C41-A1FA-864A-9F71-EC7CF6C1E733}" srcOrd="1" destOrd="0" presId="urn:microsoft.com/office/officeart/2005/8/layout/hierarchy1#1"/>
    <dgm:cxn modelId="{44DD1F6E-3A7A-4013-8DCB-8D7FA62C6E70}" type="presParOf" srcId="{1E84BD71-CD43-5B49-AB35-F433FE40C243}" destId="{86DFC909-E6E7-4BC2-BC53-9723F02194C7}" srcOrd="1" destOrd="0" presId="urn:microsoft.com/office/officeart/2005/8/layout/hierarchy1#1"/>
    <dgm:cxn modelId="{8AB823E3-1025-4771-9697-D103DB208AEA}" type="presParOf" srcId="{86DFC909-E6E7-4BC2-BC53-9723F02194C7}" destId="{360C9351-0EBF-4D0F-A443-CA5803FB9B7C}" srcOrd="0" destOrd="0" presId="urn:microsoft.com/office/officeart/2005/8/layout/hierarchy1#1"/>
    <dgm:cxn modelId="{0E4D452A-0914-4EA5-81CE-B1B7A64C3AE1}" type="presParOf" srcId="{360C9351-0EBF-4D0F-A443-CA5803FB9B7C}" destId="{81C22A65-34CD-4906-AE34-BCF592116E36}" srcOrd="0" destOrd="0" presId="urn:microsoft.com/office/officeart/2005/8/layout/hierarchy1#1"/>
    <dgm:cxn modelId="{808869D1-B730-4590-BE21-15A0DDA73AF2}" type="presParOf" srcId="{360C9351-0EBF-4D0F-A443-CA5803FB9B7C}" destId="{4EEF5BB4-F9D7-46FE-A363-139CDD376F2A}" srcOrd="1" destOrd="0" presId="urn:microsoft.com/office/officeart/2005/8/layout/hierarchy1#1"/>
    <dgm:cxn modelId="{9CF10CF7-C228-4E58-BEDD-058B22650D29}" type="presParOf" srcId="{86DFC909-E6E7-4BC2-BC53-9723F02194C7}" destId="{90F02085-DAFA-4176-9A5D-1C162084C2B4}" srcOrd="1" destOrd="0" presId="urn:microsoft.com/office/officeart/2005/8/layout/hierarchy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D237B7-9F72-FB42-8562-4CD401DC5CDA}">
      <dsp:nvSpPr>
        <dsp:cNvPr id="0" name=""/>
        <dsp:cNvSpPr/>
      </dsp:nvSpPr>
      <dsp:spPr>
        <a:xfrm>
          <a:off x="103069" y="-155367"/>
          <a:ext cx="1834945" cy="1510275"/>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6C9A052C-B118-1844-AE84-839041B120E4}">
      <dsp:nvSpPr>
        <dsp:cNvPr id="0" name=""/>
        <dsp:cNvSpPr/>
      </dsp:nvSpPr>
      <dsp:spPr>
        <a:xfrm>
          <a:off x="266613" y="0"/>
          <a:ext cx="1834945" cy="1510275"/>
        </a:xfrm>
        <a:prstGeom prst="roundRect">
          <a:avLst>
            <a:gd name="adj" fmla="val 10000"/>
          </a:avLst>
        </a:prstGeom>
        <a:solidFill>
          <a:schemeClr val="accent2">
            <a:alpha val="90000"/>
            <a:tint val="40000"/>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i="0" kern="1200" dirty="0"/>
            <a:t>Code Generation Benchmark for Real-world Development Scenario</a:t>
          </a:r>
          <a:endParaRPr lang="zh-CN" altLang="en-US" sz="1800" kern="1200" dirty="0"/>
        </a:p>
      </dsp:txBody>
      <dsp:txXfrm>
        <a:off x="310847" y="44234"/>
        <a:ext cx="1746477" cy="1421807"/>
      </dsp:txXfrm>
    </dsp:sp>
    <dsp:sp modelId="{81C22A65-34CD-4906-AE34-BCF592116E36}">
      <dsp:nvSpPr>
        <dsp:cNvPr id="0" name=""/>
        <dsp:cNvSpPr/>
      </dsp:nvSpPr>
      <dsp:spPr>
        <a:xfrm>
          <a:off x="3051606" y="-155367"/>
          <a:ext cx="2248785" cy="1508480"/>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4EEF5BB4-F9D7-46FE-A363-139CDD376F2A}">
      <dsp:nvSpPr>
        <dsp:cNvPr id="0" name=""/>
        <dsp:cNvSpPr/>
      </dsp:nvSpPr>
      <dsp:spPr>
        <a:xfrm>
          <a:off x="3215151" y="0"/>
          <a:ext cx="2248785" cy="1508480"/>
        </a:xfrm>
        <a:prstGeom prst="roundRect">
          <a:avLst>
            <a:gd name="adj" fmla="val 10000"/>
          </a:avLst>
        </a:prstGeom>
        <a:solidFill>
          <a:schemeClr val="accent2">
            <a:alpha val="90000"/>
            <a:tint val="40000"/>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i="0" kern="1200" dirty="0"/>
            <a:t>Code Generation Method for Real-world Development Scenario</a:t>
          </a:r>
          <a:endParaRPr lang="zh-CN" altLang="en-US" sz="1800" kern="1200" dirty="0"/>
        </a:p>
      </dsp:txBody>
      <dsp:txXfrm>
        <a:off x="3259333" y="44182"/>
        <a:ext cx="2160421" cy="1420116"/>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srcNode" val="background"/>
                    <dgm:param type="dstNode" val="background2"/>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srcNode" val="background2"/>
                            <dgm:param type="dstNode" val="background3"/>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srcNode" val="background3"/>
                                        <dgm:param type="dstNode" val="background4"/>
                                        <dgm:param type="dim" val="1D"/>
                                        <dgm:param type="endSty" val="noArr"/>
                                        <dgm:param type="connRout" val="bend"/>
                                        <dgm:param type="begPts" val="bCtr"/>
                                        <dgm:param type="endPts" val="tCtr"/>
                                        <dgm:param type="bendPt" val="end"/>
                                      </dgm:alg>
                                    </dgm:if>
                                    <dgm:else name="Name26">
                                      <dgm:alg type="conn">
                                        <dgm:param type="srcNode" val="background4"/>
                                        <dgm:param type="dstNode" val="background4"/>
                                        <dgm:param type="dim" val="1D"/>
                                        <dgm:param type="endSty" val="noArr"/>
                                        <dgm:param type="connRout" val="bend"/>
                                        <dgm:param type="begPts" val="bCtr"/>
                                        <dgm:param type="endPts" val="tCtr"/>
                                        <dgm:param type="bendPt" val="end"/>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1">
  <dgm:title val=""/>
  <dgm:desc val=""/>
  <dgm:catLst>
    <dgm:cat type="3D" pri="11200"/>
  </dgm:catLst>
  <dgm:scene3d>
    <a:camera prst="orthographicFront"/>
    <a:lightRig rig="threePt" dir="t"/>
  </dgm:scene3d>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F4A7B-8284-4E61-88F9-84C6CA6E31E8}" type="datetimeFigureOut">
              <a:rPr lang="zh-TW" altLang="en-US" smtClean="0"/>
              <a:t>2026/1/29</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D5518-E2B7-47D3-A483-775D39982443}" type="slidenum">
              <a:rPr lang="zh-TW" altLang="en-US" smtClean="0"/>
              <a:t>‹#›</a:t>
            </a:fld>
            <a:endParaRPr lang="zh-TW" altLang="en-US"/>
          </a:p>
        </p:txBody>
      </p:sp>
    </p:spTree>
    <p:extLst>
      <p:ext uri="{BB962C8B-B14F-4D97-AF65-F5344CB8AC3E}">
        <p14:creationId xmlns:p14="http://schemas.microsoft.com/office/powerpoint/2010/main" val="2637007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Hello everyone, I’m Jiaming Huang. The topic of my presentation is research on automated code and test assertion generation with LLMs. Both code and test assertion generation are of great significance to software development, and this is no exception for computer systems included in software development.</a:t>
            </a:r>
            <a:endParaRPr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1</a:t>
            </a:fld>
            <a:endParaRPr lang="zh-TW" altLang="en-US"/>
          </a:p>
        </p:txBody>
      </p:sp>
    </p:spTree>
    <p:extLst>
      <p:ext uri="{BB962C8B-B14F-4D97-AF65-F5344CB8AC3E}">
        <p14:creationId xmlns:p14="http://schemas.microsoft.com/office/powerpoint/2010/main" val="29130538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dirty="0"/>
              <a:t>This is the outline of my presentation.</a:t>
            </a:r>
            <a:endParaRPr lang="zh-TW" altLang="en-US" dirty="0"/>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2</a:t>
            </a:fld>
            <a:endParaRPr lang="zh-TW"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705A1-ACA5-57C8-DF64-A3170201D075}"/>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913CA78D-0AE2-CD13-23D9-EA8F56A1B2E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744A014-1432-D4C8-17BA-1B02B2306797}"/>
              </a:ext>
            </a:extLst>
          </p:cNvPr>
          <p:cNvSpPr>
            <a:spLocks noGrp="1"/>
          </p:cNvSpPr>
          <p:nvPr>
            <p:ph type="body" idx="1"/>
          </p:nvPr>
        </p:nvSpPr>
        <p:spPr/>
        <p:txBody>
          <a:bodyPr>
            <a:normAutofit/>
          </a:bodyPr>
          <a:lstStyle/>
          <a:p>
            <a:r>
              <a:rPr lang="en-US" altLang="zh-TW" dirty="0"/>
              <a:t>Let's introduce some preliminaries.</a:t>
            </a:r>
            <a:endParaRPr lang="zh-TW" altLang="en-US" dirty="0"/>
          </a:p>
        </p:txBody>
      </p:sp>
      <p:sp>
        <p:nvSpPr>
          <p:cNvPr id="4" name="投影片編號版面配置區 3">
            <a:extLst>
              <a:ext uri="{FF2B5EF4-FFF2-40B4-BE49-F238E27FC236}">
                <a16:creationId xmlns:a16="http://schemas.microsoft.com/office/drawing/2014/main" id="{77DD471D-9E6A-0462-EFE9-D13DF7069206}"/>
              </a:ext>
            </a:extLst>
          </p:cNvPr>
          <p:cNvSpPr>
            <a:spLocks noGrp="1"/>
          </p:cNvSpPr>
          <p:nvPr>
            <p:ph type="sldNum" sz="quarter" idx="10"/>
          </p:nvPr>
        </p:nvSpPr>
        <p:spPr/>
        <p:txBody>
          <a:bodyPr/>
          <a:lstStyle/>
          <a:p>
            <a:fld id="{7320D120-4707-426F-9B85-873E256A6635}" type="slidenum">
              <a:rPr lang="zh-TW" altLang="en-US" smtClean="0"/>
              <a:pPr/>
              <a:t>3</a:t>
            </a:fld>
            <a:endParaRPr lang="zh-TW" altLang="en-US"/>
          </a:p>
        </p:txBody>
      </p:sp>
    </p:spTree>
    <p:extLst>
      <p:ext uri="{BB962C8B-B14F-4D97-AF65-F5344CB8AC3E}">
        <p14:creationId xmlns:p14="http://schemas.microsoft.com/office/powerpoint/2010/main" val="32542148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(after saying the content in the slide)Next, I would introduce the importance of </a:t>
            </a:r>
            <a:r>
              <a:rPr kumimoji="1" lang="en-US" altLang="zh-CN" sz="1200" dirty="0">
                <a:solidFill>
                  <a:srgbClr val="8C0000"/>
                </a:solidFill>
                <a:latin typeface="Helvetica" panose="020B0500000000000000" pitchFamily="34" charset="0"/>
              </a:rPr>
              <a:t>a</a:t>
            </a:r>
            <a:r>
              <a:rPr lang="en-US" altLang="zh-CN" sz="1200" dirty="0">
                <a:solidFill>
                  <a:srgbClr val="8C0000"/>
                </a:solidFill>
                <a:latin typeface="Helvetica" panose="020B0500000000000000" pitchFamily="34" charset="0"/>
              </a:rPr>
              <a:t>utomated code and test assertion generation.</a:t>
            </a:r>
            <a:endParaRPr kumimoji="1" lang="en-US" altLang="zh-CN"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4</a:t>
            </a:fld>
            <a:endParaRPr lang="zh-TW" altLang="en-US"/>
          </a:p>
        </p:txBody>
      </p:sp>
    </p:spTree>
    <p:extLst>
      <p:ext uri="{BB962C8B-B14F-4D97-AF65-F5344CB8AC3E}">
        <p14:creationId xmlns:p14="http://schemas.microsoft.com/office/powerpoint/2010/main" val="1585538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The first part is the importance of automated code generation</a:t>
            </a:r>
          </a:p>
          <a:p>
            <a:endParaRPr kumimoji="1" lang="en-US" altLang="zh-CN"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5</a:t>
            </a:fld>
            <a:endParaRPr lang="zh-TW" altLang="en-US"/>
          </a:p>
        </p:txBody>
      </p:sp>
    </p:spTree>
    <p:extLst>
      <p:ext uri="{BB962C8B-B14F-4D97-AF65-F5344CB8AC3E}">
        <p14:creationId xmlns:p14="http://schemas.microsoft.com/office/powerpoint/2010/main" val="13061231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14000"/>
              </a:lnSpc>
              <a:spcBef>
                <a:spcPts val="1000"/>
              </a:spcBef>
              <a:buNone/>
            </a:pPr>
            <a:r>
              <a:rPr lang="en-US" altLang="zh-CN" sz="1200" dirty="0"/>
              <a:t>The second part focuses on the importance of automated unit test case generation. Unit testing can identify and fix code problems </a:t>
            </a:r>
            <a:r>
              <a:rPr lang="en-US" altLang="zh-CN" sz="1200" b="1" dirty="0"/>
              <a:t>early in the software development process</a:t>
            </a:r>
            <a:r>
              <a:rPr lang="en-US" altLang="zh-CN" sz="1200" b="0" dirty="0"/>
              <a:t>.</a:t>
            </a:r>
            <a:r>
              <a:rPr lang="en-US" altLang="zh-CN" sz="1200" b="1" i="0" kern="1200" dirty="0">
                <a:solidFill>
                  <a:schemeClr val="tx1"/>
                </a:solidFill>
                <a:effectLst/>
                <a:latin typeface="+mn-lt"/>
                <a:ea typeface="+mn-ea"/>
                <a:cs typeface="+mn-cs"/>
              </a:rPr>
              <a:t>  However, writing unit tests requires a thorough understanding of the code under testing and extensive professional knowledge to define the test case parameters.  And there are the</a:t>
            </a:r>
            <a:r>
              <a:rPr lang="en-US" altLang="zh-CN" sz="1200" dirty="0"/>
              <a:t> benefits of </a:t>
            </a:r>
            <a:r>
              <a:rPr lang="en-US" altLang="zh-CN" sz="1200" b="1" dirty="0"/>
              <a:t>automated</a:t>
            </a:r>
            <a:r>
              <a:rPr lang="en-US" altLang="zh-CN" sz="1200" dirty="0"/>
              <a:t> </a:t>
            </a:r>
            <a:r>
              <a:rPr lang="en-US" altLang="zh-CN" sz="1200" b="1" dirty="0"/>
              <a:t>unit test case generation</a:t>
            </a:r>
            <a:r>
              <a:rPr lang="en-US" altLang="zh-CN" sz="1200" b="1" i="0" kern="1200" dirty="0">
                <a:solidFill>
                  <a:schemeClr val="tx1"/>
                </a:solidFill>
                <a:effectLst/>
                <a:latin typeface="+mn-lt"/>
                <a:ea typeface="+mn-ea"/>
                <a:cs typeface="+mn-cs"/>
              </a:rPr>
              <a:t>(Reading the content of the slide). Therefore, it is urgent to improve the quality of automated unit test generation.</a:t>
            </a:r>
            <a:endParaRPr kumimoji="1"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6</a:t>
            </a:fld>
            <a:endParaRPr lang="zh-TW" altLang="en-US"/>
          </a:p>
        </p:txBody>
      </p:sp>
    </p:spTree>
    <p:extLst>
      <p:ext uri="{BB962C8B-B14F-4D97-AF65-F5344CB8AC3E}">
        <p14:creationId xmlns:p14="http://schemas.microsoft.com/office/powerpoint/2010/main" val="35793727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93FC7-29B2-BDA6-B333-FC2269DDA18A}"/>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49C648E5-EFB6-0B42-FF15-A7000448AE1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3E74576-45A4-40FE-234E-07DB4C7A7889}"/>
              </a:ext>
            </a:extLst>
          </p:cNvPr>
          <p:cNvSpPr>
            <a:spLocks noGrp="1"/>
          </p:cNvSpPr>
          <p:nvPr>
            <p:ph type="body" idx="1"/>
          </p:nvPr>
        </p:nvSpPr>
        <p:spPr/>
        <p:txBody>
          <a:bodyPr>
            <a:normAutofit/>
          </a:bodyPr>
          <a:lstStyle/>
          <a:p>
            <a:r>
              <a:rPr lang="en-US" altLang="zh-TW" dirty="0"/>
              <a:t>Let's introduce some preliminaries.</a:t>
            </a:r>
            <a:endParaRPr lang="zh-TW" altLang="en-US" dirty="0"/>
          </a:p>
        </p:txBody>
      </p:sp>
      <p:sp>
        <p:nvSpPr>
          <p:cNvPr id="4" name="投影片編號版面配置區 3">
            <a:extLst>
              <a:ext uri="{FF2B5EF4-FFF2-40B4-BE49-F238E27FC236}">
                <a16:creationId xmlns:a16="http://schemas.microsoft.com/office/drawing/2014/main" id="{4C67AFF1-8A22-101C-603D-589C751FBC4F}"/>
              </a:ext>
            </a:extLst>
          </p:cNvPr>
          <p:cNvSpPr>
            <a:spLocks noGrp="1"/>
          </p:cNvSpPr>
          <p:nvPr>
            <p:ph type="sldNum" sz="quarter" idx="10"/>
          </p:nvPr>
        </p:nvSpPr>
        <p:spPr/>
        <p:txBody>
          <a:bodyPr/>
          <a:lstStyle/>
          <a:p>
            <a:fld id="{7320D120-4707-426F-9B85-873E256A6635}" type="slidenum">
              <a:rPr lang="zh-TW" altLang="en-US" smtClean="0"/>
              <a:pPr/>
              <a:t>7</a:t>
            </a:fld>
            <a:endParaRPr lang="zh-TW" altLang="en-US"/>
          </a:p>
        </p:txBody>
      </p:sp>
    </p:spTree>
    <p:extLst>
      <p:ext uri="{BB962C8B-B14F-4D97-AF65-F5344CB8AC3E}">
        <p14:creationId xmlns:p14="http://schemas.microsoft.com/office/powerpoint/2010/main" val="11946857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2B650-D574-8409-2CFD-04D5CD762D0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0A5A581-00C4-E732-0E17-6F8EBA8B9AE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2906C86-EDFB-32F0-3C9F-595AF9D1E23A}"/>
              </a:ext>
            </a:extLst>
          </p:cNvPr>
          <p:cNvSpPr>
            <a:spLocks noGrp="1"/>
          </p:cNvSpPr>
          <p:nvPr>
            <p:ph type="body" idx="1"/>
          </p:nvPr>
        </p:nvSpPr>
        <p:spPr/>
        <p:txBody>
          <a:bodyPr/>
          <a:lstStyle/>
          <a:p>
            <a:r>
              <a:rPr lang="en-US" altLang="zh-CN" sz="1200" b="0" i="0" kern="1200" dirty="0">
                <a:solidFill>
                  <a:schemeClr val="tx1"/>
                </a:solidFill>
                <a:effectLst/>
                <a:latin typeface="+mn-lt"/>
                <a:ea typeface="+mn-ea"/>
                <a:cs typeface="+mn-cs"/>
              </a:rPr>
              <a:t>Traditional code generation methods are mainly based on deep learning and can be divided into three categories: language models, structural models, and program execution models. </a:t>
            </a:r>
          </a:p>
          <a:p>
            <a:r>
              <a:rPr lang="en-US" altLang="zh-CN" sz="1200" b="0" i="0" kern="1200" dirty="0">
                <a:solidFill>
                  <a:schemeClr val="tx1"/>
                </a:solidFill>
                <a:effectLst/>
                <a:latin typeface="+mn-lt"/>
                <a:ea typeface="+mn-ea"/>
                <a:cs typeface="+mn-cs"/>
              </a:rPr>
              <a:t>The main representative work of language models is xxx, the main representative work of structural models is xxx, and the main representative work of program execution models is xxx.</a:t>
            </a:r>
          </a:p>
          <a:p>
            <a:r>
              <a:rPr kumimoji="1" lang="en-US" altLang="zh-CN" sz="1200" b="0" i="0" kern="1200" dirty="0">
                <a:solidFill>
                  <a:schemeClr val="tx1"/>
                </a:solidFill>
                <a:effectLst/>
                <a:latin typeface="+mn-lt"/>
                <a:ea typeface="+mn-ea"/>
                <a:cs typeface="+mn-cs"/>
              </a:rPr>
              <a:t>(xxx is in the slide, then read the conclusion)</a:t>
            </a:r>
          </a:p>
          <a:p>
            <a:endParaRPr kumimoji="1" lang="zh-CN" altLang="en-US" dirty="0"/>
          </a:p>
        </p:txBody>
      </p:sp>
      <p:sp>
        <p:nvSpPr>
          <p:cNvPr id="4" name="灯片编号占位符 3">
            <a:extLst>
              <a:ext uri="{FF2B5EF4-FFF2-40B4-BE49-F238E27FC236}">
                <a16:creationId xmlns:a16="http://schemas.microsoft.com/office/drawing/2014/main" id="{A6E09335-F209-89B7-CF4E-A465EB149F93}"/>
              </a:ext>
            </a:extLst>
          </p:cNvPr>
          <p:cNvSpPr>
            <a:spLocks noGrp="1"/>
          </p:cNvSpPr>
          <p:nvPr>
            <p:ph type="sldNum" sz="quarter" idx="5"/>
          </p:nvPr>
        </p:nvSpPr>
        <p:spPr/>
        <p:txBody>
          <a:bodyPr/>
          <a:lstStyle/>
          <a:p>
            <a:fld id="{B11D5518-E2B7-47D3-A483-775D39982443}" type="slidenum">
              <a:rPr lang="zh-TW" altLang="en-US" smtClean="0"/>
              <a:t>8</a:t>
            </a:fld>
            <a:endParaRPr lang="zh-TW" altLang="en-US"/>
          </a:p>
        </p:txBody>
      </p:sp>
    </p:spTree>
    <p:extLst>
      <p:ext uri="{BB962C8B-B14F-4D97-AF65-F5344CB8AC3E}">
        <p14:creationId xmlns:p14="http://schemas.microsoft.com/office/powerpoint/2010/main" val="15766157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14000"/>
              </a:lnSpc>
              <a:spcBef>
                <a:spcPts val="1000"/>
              </a:spcBef>
            </a:pPr>
            <a:r>
              <a:rPr lang="en-US" altLang="zh-CN" sz="1200" dirty="0">
                <a:solidFill>
                  <a:schemeClr val="tx1"/>
                </a:solidFill>
                <a:ea typeface="思源黑体 Medium" panose="020B0600000000000000"/>
              </a:rPr>
              <a:t>(final read conclusion)</a:t>
            </a:r>
            <a:r>
              <a:rPr lang="en-US" altLang="zh-CN" sz="1200" b="0" i="0" kern="1200" dirty="0">
                <a:solidFill>
                  <a:schemeClr val="tx1"/>
                </a:solidFill>
                <a:effectLst/>
                <a:latin typeface="+mn-lt"/>
                <a:ea typeface="+mn-ea"/>
                <a:cs typeface="+mn-cs"/>
              </a:rPr>
              <a:t> These works focus more on generating self-contained functions from models, without considering how to generate code more effectively for real development scenarios.</a:t>
            </a:r>
            <a:endParaRPr lang="zh-CN" altLang="en-US" sz="1200" dirty="0">
              <a:solidFill>
                <a:schemeClr val="tx1"/>
              </a:solidFill>
              <a:ea typeface="思源黑体 Medium" panose="020B0600000000000000"/>
            </a:endParaRPr>
          </a:p>
        </p:txBody>
      </p:sp>
      <p:sp>
        <p:nvSpPr>
          <p:cNvPr id="4" name="灯片编号占位符 3"/>
          <p:cNvSpPr>
            <a:spLocks noGrp="1"/>
          </p:cNvSpPr>
          <p:nvPr>
            <p:ph type="sldNum" sz="quarter" idx="5"/>
          </p:nvPr>
        </p:nvSpPr>
        <p:spPr/>
        <p:txBody>
          <a:bodyPr/>
          <a:lstStyle/>
          <a:p>
            <a:fld id="{B11D5518-E2B7-47D3-A483-775D39982443}" type="slidenum">
              <a:rPr lang="zh-TW" altLang="en-US" smtClean="0"/>
              <a:t>9</a:t>
            </a:fld>
            <a:endParaRPr lang="zh-TW" altLang="en-US"/>
          </a:p>
        </p:txBody>
      </p:sp>
    </p:spTree>
    <p:extLst>
      <p:ext uri="{BB962C8B-B14F-4D97-AF65-F5344CB8AC3E}">
        <p14:creationId xmlns:p14="http://schemas.microsoft.com/office/powerpoint/2010/main" val="4014058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B8106-F9DC-8974-CB55-992B3F30E49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C61EBC8-2FF2-F7B3-05AF-3107B0031B1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025F0B9-5824-8ADA-D2B3-0A140BCE5B4A}"/>
              </a:ext>
            </a:extLst>
          </p:cNvPr>
          <p:cNvSpPr>
            <a:spLocks noGrp="1"/>
          </p:cNvSpPr>
          <p:nvPr>
            <p:ph type="body" idx="1"/>
          </p:nvPr>
        </p:nvSpPr>
        <p:spPr/>
        <p:txBody>
          <a:bodyPr/>
          <a:lstStyle/>
          <a:p>
            <a:r>
              <a:rPr lang="en-US" altLang="zh-CN" sz="1200" b="0" i="0" kern="1200" dirty="0">
                <a:solidFill>
                  <a:schemeClr val="tx1"/>
                </a:solidFill>
                <a:effectLst/>
                <a:latin typeface="+mn-lt"/>
                <a:ea typeface="+mn-ea"/>
                <a:cs typeface="+mn-cs"/>
              </a:rPr>
              <a:t>Traditional unit test case generation methods are mainly divided into four categories: search-based, </a:t>
            </a:r>
            <a:r>
              <a:rPr lang="en-US" altLang="zh-CN" sz="1200" dirty="0">
                <a:ea typeface="思源黑体 Medium" panose="020B0600000000000000"/>
              </a:rPr>
              <a:t>Ad-hoc</a:t>
            </a:r>
            <a:r>
              <a:rPr lang="en-US" altLang="zh-CN" sz="1200" b="0" i="0" kern="1200" dirty="0">
                <a:solidFill>
                  <a:schemeClr val="tx1"/>
                </a:solidFill>
                <a:effectLst/>
                <a:latin typeface="+mn-lt"/>
                <a:ea typeface="+mn-ea"/>
                <a:cs typeface="+mn-cs"/>
              </a:rPr>
              <a:t> testing, combinatorial testing, and symbolic execution. The main representative work of search-based methods is xxx, the main representative work of random testing is xxx, the main representative work of combinatorial testing is xxx, and the main representative work of symbolic execution is xxx.(xxx in the slide)</a:t>
            </a:r>
            <a:endParaRPr kumimoji="1" lang="en-US" altLang="zh-CN" dirty="0"/>
          </a:p>
        </p:txBody>
      </p:sp>
      <p:sp>
        <p:nvSpPr>
          <p:cNvPr id="4" name="灯片编号占位符 3">
            <a:extLst>
              <a:ext uri="{FF2B5EF4-FFF2-40B4-BE49-F238E27FC236}">
                <a16:creationId xmlns:a16="http://schemas.microsoft.com/office/drawing/2014/main" id="{95C84441-A4C2-5F64-4764-017B625F4DE8}"/>
              </a:ext>
            </a:extLst>
          </p:cNvPr>
          <p:cNvSpPr>
            <a:spLocks noGrp="1"/>
          </p:cNvSpPr>
          <p:nvPr>
            <p:ph type="sldNum" sz="quarter" idx="5"/>
          </p:nvPr>
        </p:nvSpPr>
        <p:spPr/>
        <p:txBody>
          <a:bodyPr/>
          <a:lstStyle/>
          <a:p>
            <a:fld id="{B11D5518-E2B7-47D3-A483-775D39982443}" type="slidenum">
              <a:rPr lang="zh-TW" altLang="en-US" smtClean="0"/>
              <a:t>10</a:t>
            </a:fld>
            <a:endParaRPr lang="zh-TW" altLang="en-US"/>
          </a:p>
        </p:txBody>
      </p:sp>
    </p:spTree>
    <p:extLst>
      <p:ext uri="{BB962C8B-B14F-4D97-AF65-F5344CB8AC3E}">
        <p14:creationId xmlns:p14="http://schemas.microsoft.com/office/powerpoint/2010/main" val="16977266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CCE5C-5F73-4BAD-1624-866DD5151CB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F34D800-5A3A-3639-9D9D-38526109459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BB9FE00-04C9-B35C-A6E7-19E7375F254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solidFill>
                  <a:srgbClr val="C00000"/>
                </a:solidFill>
                <a:ea typeface="思源黑体 Medium" panose="020B0600000000000000"/>
              </a:rPr>
              <a:t>(finally read the conclusion)</a:t>
            </a:r>
            <a:r>
              <a:rPr lang="en-US" altLang="zh-CN" sz="1200" dirty="0">
                <a:solidFill>
                  <a:schemeClr val="tx1"/>
                </a:solidFill>
                <a:ea typeface="思源黑体 Medium" panose="020B0600000000000000"/>
              </a:rPr>
              <a:t> Although these methods can generate assertions to detect logical errors, the resulting assertions have a very high false-positive rate.</a:t>
            </a:r>
            <a:endParaRPr kumimoji="1" lang="zh-CN" altLang="en-US" dirty="0"/>
          </a:p>
        </p:txBody>
      </p:sp>
      <p:sp>
        <p:nvSpPr>
          <p:cNvPr id="4" name="灯片编号占位符 3">
            <a:extLst>
              <a:ext uri="{FF2B5EF4-FFF2-40B4-BE49-F238E27FC236}">
                <a16:creationId xmlns:a16="http://schemas.microsoft.com/office/drawing/2014/main" id="{83856B33-DA82-D35B-6A6F-5CC0347026F7}"/>
              </a:ext>
            </a:extLst>
          </p:cNvPr>
          <p:cNvSpPr>
            <a:spLocks noGrp="1"/>
          </p:cNvSpPr>
          <p:nvPr>
            <p:ph type="sldNum" sz="quarter" idx="5"/>
          </p:nvPr>
        </p:nvSpPr>
        <p:spPr/>
        <p:txBody>
          <a:bodyPr/>
          <a:lstStyle/>
          <a:p>
            <a:fld id="{B11D5518-E2B7-47D3-A483-775D39982443}" type="slidenum">
              <a:rPr lang="zh-TW" altLang="en-US" smtClean="0"/>
              <a:t>11</a:t>
            </a:fld>
            <a:endParaRPr lang="zh-TW" altLang="en-US"/>
          </a:p>
        </p:txBody>
      </p:sp>
    </p:spTree>
    <p:extLst>
      <p:ext uri="{BB962C8B-B14F-4D97-AF65-F5344CB8AC3E}">
        <p14:creationId xmlns:p14="http://schemas.microsoft.com/office/powerpoint/2010/main" val="35561427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This is the motivation for the research: to solve those challenges. These are the challenges in code generation.</a:t>
            </a:r>
          </a:p>
        </p:txBody>
      </p:sp>
      <p:sp>
        <p:nvSpPr>
          <p:cNvPr id="4" name="灯片编号占位符 3"/>
          <p:cNvSpPr>
            <a:spLocks noGrp="1"/>
          </p:cNvSpPr>
          <p:nvPr>
            <p:ph type="sldNum" sz="quarter" idx="5"/>
          </p:nvPr>
        </p:nvSpPr>
        <p:spPr/>
        <p:txBody>
          <a:bodyPr/>
          <a:lstStyle/>
          <a:p>
            <a:fld id="{B11D5518-E2B7-47D3-A483-775D39982443}" type="slidenum">
              <a:rPr lang="zh-TW" altLang="en-US" smtClean="0"/>
              <a:t>12</a:t>
            </a:fld>
            <a:endParaRPr lang="zh-TW" altLang="en-US"/>
          </a:p>
        </p:txBody>
      </p:sp>
    </p:spTree>
    <p:extLst>
      <p:ext uri="{BB962C8B-B14F-4D97-AF65-F5344CB8AC3E}">
        <p14:creationId xmlns:p14="http://schemas.microsoft.com/office/powerpoint/2010/main" val="39461916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And these are the challenges in unit test case generation.</a:t>
            </a:r>
            <a:endParaRPr kumimoji="1"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13</a:t>
            </a:fld>
            <a:endParaRPr lang="zh-TW" altLang="en-US"/>
          </a:p>
        </p:txBody>
      </p:sp>
    </p:spTree>
    <p:extLst>
      <p:ext uri="{BB962C8B-B14F-4D97-AF65-F5344CB8AC3E}">
        <p14:creationId xmlns:p14="http://schemas.microsoft.com/office/powerpoint/2010/main" val="4855210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DCD52-A677-F807-265E-77EC50199249}"/>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D762D7ED-4576-9075-1C69-57467A36ED6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B09B8A2-E519-511F-6983-8598BFE0D544}"/>
              </a:ext>
            </a:extLst>
          </p:cNvPr>
          <p:cNvSpPr>
            <a:spLocks noGrp="1"/>
          </p:cNvSpPr>
          <p:nvPr>
            <p:ph type="body" idx="1"/>
          </p:nvPr>
        </p:nvSpPr>
        <p:spPr/>
        <p:txBody>
          <a:bodyPr>
            <a:normAutofit/>
          </a:bodyPr>
          <a:lstStyle/>
          <a:p>
            <a:r>
              <a:rPr lang="en-US" altLang="zh-TW" dirty="0"/>
              <a:t>And now, we have a basic understanding of the software, hardware, and network of the cloud, along with their limitations. We introduce the methods to enhance the cloud reliability from these three aspects.</a:t>
            </a:r>
          </a:p>
        </p:txBody>
      </p:sp>
      <p:sp>
        <p:nvSpPr>
          <p:cNvPr id="4" name="投影片編號版面配置區 3">
            <a:extLst>
              <a:ext uri="{FF2B5EF4-FFF2-40B4-BE49-F238E27FC236}">
                <a16:creationId xmlns:a16="http://schemas.microsoft.com/office/drawing/2014/main" id="{BF0F6E3C-F920-1950-5919-C8724C230DE3}"/>
              </a:ext>
            </a:extLst>
          </p:cNvPr>
          <p:cNvSpPr>
            <a:spLocks noGrp="1"/>
          </p:cNvSpPr>
          <p:nvPr>
            <p:ph type="sldNum" sz="quarter" idx="10"/>
          </p:nvPr>
        </p:nvSpPr>
        <p:spPr/>
        <p:txBody>
          <a:bodyPr/>
          <a:lstStyle/>
          <a:p>
            <a:fld id="{7320D120-4707-426F-9B85-873E256A6635}" type="slidenum">
              <a:rPr lang="zh-TW" altLang="en-US" smtClean="0"/>
              <a:pPr/>
              <a:t>14</a:t>
            </a:fld>
            <a:endParaRPr lang="zh-TW" altLang="en-US"/>
          </a:p>
        </p:txBody>
      </p:sp>
    </p:spTree>
    <p:extLst>
      <p:ext uri="{BB962C8B-B14F-4D97-AF65-F5344CB8AC3E}">
        <p14:creationId xmlns:p14="http://schemas.microsoft.com/office/powerpoint/2010/main" val="14471805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(begin)To solve Challenge 1, </a:t>
            </a:r>
            <a:r>
              <a:rPr kumimoji="1" lang="en-US" altLang="zh-CN" dirty="0" err="1"/>
              <a:t>CoderEval</a:t>
            </a:r>
            <a:r>
              <a:rPr kumimoji="1" lang="en-US" altLang="zh-CN" dirty="0"/>
              <a:t> is proposed.</a:t>
            </a:r>
            <a:r>
              <a:rPr lang="en-US" altLang="zh-CN" sz="1200" b="1" i="0" kern="1200" dirty="0">
                <a:solidFill>
                  <a:schemeClr val="tx1"/>
                </a:solidFill>
                <a:effectLst/>
                <a:latin typeface="+mn-lt"/>
                <a:ea typeface="+mn-ea"/>
                <a:cs typeface="+mn-cs"/>
              </a:rPr>
              <a:t>  It is a Code Generation Benchmark for Real-World Development Scenarios.</a:t>
            </a:r>
          </a:p>
          <a:p>
            <a:r>
              <a:rPr kumimoji="1" lang="en-US" altLang="zh-CN" sz="1200" b="1" i="0" kern="1200" dirty="0">
                <a:solidFill>
                  <a:schemeClr val="tx1"/>
                </a:solidFill>
                <a:effectLst/>
                <a:latin typeface="+mn-lt"/>
                <a:ea typeface="+mn-ea"/>
                <a:cs typeface="+mn-cs"/>
              </a:rPr>
              <a:t>(then read “before July 2021…”, and implemented with “which is unreasonable.”)</a:t>
            </a:r>
          </a:p>
          <a:p>
            <a:r>
              <a:rPr lang="en-US" altLang="zh-CN" sz="1200" b="0" i="0" kern="1200" dirty="0">
                <a:solidFill>
                  <a:schemeClr val="tx1"/>
                </a:solidFill>
                <a:effectLst/>
                <a:latin typeface="+mn-lt"/>
                <a:ea typeface="+mn-ea"/>
                <a:cs typeface="+mn-cs"/>
              </a:rPr>
              <a:t>(read comment)In July 2021, Codex proposed the </a:t>
            </a:r>
            <a:r>
              <a:rPr lang="en-US" altLang="zh-CN" sz="1200" b="0" i="0" kern="1200" dirty="0" err="1">
                <a:solidFill>
                  <a:schemeClr val="tx1"/>
                </a:solidFill>
                <a:effectLst/>
                <a:latin typeface="+mn-lt"/>
                <a:ea typeface="+mn-ea"/>
                <a:cs typeface="+mn-cs"/>
              </a:rPr>
              <a:t>HumanEval</a:t>
            </a:r>
            <a:r>
              <a:rPr lang="en-US" altLang="zh-CN" sz="1200" b="0" i="0" kern="1200" dirty="0">
                <a:solidFill>
                  <a:schemeClr val="tx1"/>
                </a:solidFill>
                <a:effectLst/>
                <a:latin typeface="+mn-lt"/>
                <a:ea typeface="+mn-ea"/>
                <a:cs typeface="+mn-cs"/>
              </a:rPr>
              <a:t> benchmark and used the </a:t>
            </a:r>
            <a:r>
              <a:rPr lang="en-US" altLang="zh-CN" sz="1200" b="0" i="0" kern="1200" dirty="0" err="1">
                <a:solidFill>
                  <a:schemeClr val="tx1"/>
                </a:solidFill>
                <a:effectLst/>
                <a:latin typeface="+mn-lt"/>
                <a:ea typeface="+mn-ea"/>
                <a:cs typeface="+mn-cs"/>
              </a:rPr>
              <a:t>Pass@k</a:t>
            </a:r>
            <a:r>
              <a:rPr lang="en-US" altLang="zh-CN" sz="1200" b="0" i="0" kern="1200" dirty="0">
                <a:solidFill>
                  <a:schemeClr val="tx1"/>
                </a:solidFill>
                <a:effectLst/>
                <a:latin typeface="+mn-lt"/>
                <a:ea typeface="+mn-ea"/>
                <a:cs typeface="+mn-cs"/>
              </a:rPr>
              <a:t> (correctness) metric to evaluate the quality of code generated by large models. It received widespread attention from both academia and industry. Subsequently, many large code models were proposed in academia and industry, such as </a:t>
            </a:r>
            <a:r>
              <a:rPr lang="en-US" altLang="zh-CN" sz="1200" b="0" i="0" kern="1200" dirty="0" err="1">
                <a:solidFill>
                  <a:schemeClr val="tx1"/>
                </a:solidFill>
                <a:effectLst/>
                <a:latin typeface="+mn-lt"/>
                <a:ea typeface="+mn-ea"/>
                <a:cs typeface="+mn-cs"/>
              </a:rPr>
              <a:t>AlphaCode</a:t>
            </a:r>
            <a:r>
              <a:rPr lang="en-US" altLang="zh-CN" sz="1200" b="0" i="0" kern="1200" dirty="0">
                <a:solidFill>
                  <a:schemeClr val="tx1"/>
                </a:solidFill>
                <a:effectLst/>
                <a:latin typeface="+mn-lt"/>
                <a:ea typeface="+mn-ea"/>
                <a:cs typeface="+mn-cs"/>
              </a:rPr>
              <a:t>, </a:t>
            </a:r>
            <a:r>
              <a:rPr lang="en-US" altLang="zh-CN" sz="1200" b="0" i="0" kern="1200" dirty="0" err="1">
                <a:solidFill>
                  <a:schemeClr val="tx1"/>
                </a:solidFill>
                <a:effectLst/>
                <a:latin typeface="+mn-lt"/>
                <a:ea typeface="+mn-ea"/>
                <a:cs typeface="+mn-cs"/>
              </a:rPr>
              <a:t>CodeGen</a:t>
            </a:r>
            <a:r>
              <a:rPr lang="en-US" altLang="zh-CN" sz="1200" b="0" i="0" kern="1200" dirty="0">
                <a:solidFill>
                  <a:schemeClr val="tx1"/>
                </a:solidFill>
                <a:effectLst/>
                <a:latin typeface="+mn-lt"/>
                <a:ea typeface="+mn-ea"/>
                <a:cs typeface="+mn-cs"/>
              </a:rPr>
              <a:t>, </a:t>
            </a:r>
            <a:r>
              <a:rPr lang="en-US" altLang="zh-CN" sz="1200" b="0" i="0" kern="1200" dirty="0" err="1">
                <a:solidFill>
                  <a:schemeClr val="tx1"/>
                </a:solidFill>
                <a:effectLst/>
                <a:latin typeface="+mn-lt"/>
                <a:ea typeface="+mn-ea"/>
                <a:cs typeface="+mn-cs"/>
              </a:rPr>
              <a:t>InCoder</a:t>
            </a:r>
            <a:r>
              <a:rPr lang="en-US" altLang="zh-CN" sz="1200" b="0" i="0" kern="1200" dirty="0">
                <a:solidFill>
                  <a:schemeClr val="tx1"/>
                </a:solidFill>
                <a:effectLst/>
                <a:latin typeface="+mn-lt"/>
                <a:ea typeface="+mn-ea"/>
                <a:cs typeface="+mn-cs"/>
              </a:rPr>
              <a:t>, and PanGu-Coder. </a:t>
            </a:r>
            <a:br>
              <a:rPr lang="en-US" altLang="zh-CN" dirty="0"/>
            </a:br>
            <a:r>
              <a:rPr lang="en-US" altLang="zh-CN" sz="1200" b="0" i="0" kern="1200" dirty="0">
                <a:solidFill>
                  <a:schemeClr val="tx1"/>
                </a:solidFill>
                <a:effectLst/>
                <a:latin typeface="+mn-lt"/>
                <a:ea typeface="+mn-ea"/>
                <a:cs typeface="+mn-cs"/>
              </a:rPr>
              <a:t>All of the above large code models use </a:t>
            </a:r>
            <a:r>
              <a:rPr lang="en-US" altLang="zh-CN" sz="1200" b="0" i="0" kern="1200" dirty="0" err="1">
                <a:solidFill>
                  <a:schemeClr val="tx1"/>
                </a:solidFill>
                <a:effectLst/>
                <a:latin typeface="+mn-lt"/>
                <a:ea typeface="+mn-ea"/>
                <a:cs typeface="+mn-cs"/>
              </a:rPr>
              <a:t>Pass@k</a:t>
            </a:r>
            <a:r>
              <a:rPr lang="en-US" altLang="zh-CN" sz="1200" b="0" i="0" kern="1200" dirty="0">
                <a:solidFill>
                  <a:schemeClr val="tx1"/>
                </a:solidFill>
                <a:effectLst/>
                <a:latin typeface="+mn-lt"/>
                <a:ea typeface="+mn-ea"/>
                <a:cs typeface="+mn-cs"/>
              </a:rPr>
              <a:t> to assess the correctness of the code they generated.</a:t>
            </a:r>
          </a:p>
          <a:p>
            <a:r>
              <a:rPr kumimoji="1" lang="en-US" altLang="zh-CN" sz="1200" b="0" i="0" kern="1200" dirty="0">
                <a:solidFill>
                  <a:schemeClr val="tx1"/>
                </a:solidFill>
                <a:effectLst/>
                <a:latin typeface="+mn-lt"/>
                <a:ea typeface="+mn-ea"/>
                <a:cs typeface="+mn-cs"/>
              </a:rPr>
              <a:t>However(then read “you only…”), a</a:t>
            </a:r>
            <a:r>
              <a:rPr lang="en-US" altLang="zh-CN" sz="1200" b="0" i="0" kern="1200" dirty="0">
                <a:solidFill>
                  <a:schemeClr val="tx1"/>
                </a:solidFill>
                <a:effectLst/>
                <a:latin typeface="+mn-lt"/>
                <a:ea typeface="+mn-ea"/>
                <a:cs typeface="+mn-cs"/>
              </a:rPr>
              <a:t> project-executable environment is required to test the correctness of this function in real-world development; more than 70% of functions require such an environment to run tests, which is not considered by </a:t>
            </a:r>
            <a:r>
              <a:rPr lang="en-US" altLang="zh-CN" sz="1200" b="0" i="0" kern="1200" dirty="0" err="1">
                <a:solidFill>
                  <a:schemeClr val="tx1"/>
                </a:solidFill>
                <a:effectLst/>
                <a:latin typeface="+mn-lt"/>
                <a:ea typeface="+mn-ea"/>
                <a:cs typeface="+mn-cs"/>
              </a:rPr>
              <a:t>HumanEval</a:t>
            </a:r>
            <a:r>
              <a:rPr lang="en-US" altLang="zh-CN" sz="1200" b="0" i="0" kern="1200" dirty="0">
                <a:solidFill>
                  <a:schemeClr val="tx1"/>
                </a:solidFill>
                <a:effectLst/>
                <a:latin typeface="+mn-lt"/>
                <a:ea typeface="+mn-ea"/>
                <a:cs typeface="+mn-cs"/>
              </a:rPr>
              <a:t>.</a:t>
            </a:r>
            <a:endParaRPr kumimoji="1"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15</a:t>
            </a:fld>
            <a:endParaRPr lang="zh-TW" altLang="en-US"/>
          </a:p>
        </p:txBody>
      </p:sp>
    </p:spTree>
    <p:extLst>
      <p:ext uri="{BB962C8B-B14F-4D97-AF65-F5344CB8AC3E}">
        <p14:creationId xmlns:p14="http://schemas.microsoft.com/office/powerpoint/2010/main" val="7672258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To solve the shortcomings in </a:t>
            </a:r>
            <a:r>
              <a:rPr kumimoji="1" lang="en-US" altLang="zh-CN" dirty="0" err="1"/>
              <a:t>HumanEval</a:t>
            </a:r>
            <a:r>
              <a:rPr kumimoji="1" lang="en-US" altLang="zh-CN" dirty="0"/>
              <a:t>, </a:t>
            </a:r>
            <a:r>
              <a:rPr kumimoji="1" lang="en-US" altLang="zh-CN" dirty="0" err="1"/>
              <a:t>CoderEval</a:t>
            </a:r>
            <a:r>
              <a:rPr kumimoji="1" lang="en-US" altLang="zh-CN" dirty="0"/>
              <a:t> uses a three-stage approach to construct a benchmark for real-world development scenarios.</a:t>
            </a:r>
            <a:endParaRPr kumimoji="1"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16</a:t>
            </a:fld>
            <a:endParaRPr lang="zh-TW" altLang="en-US"/>
          </a:p>
        </p:txBody>
      </p:sp>
    </p:spTree>
    <p:extLst>
      <p:ext uri="{BB962C8B-B14F-4D97-AF65-F5344CB8AC3E}">
        <p14:creationId xmlns:p14="http://schemas.microsoft.com/office/powerpoint/2010/main" val="28261614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04000"/>
              </a:lnSpc>
            </a:pPr>
            <a:r>
              <a:rPr lang="en-US" altLang="zh-CN" b="1" dirty="0"/>
              <a:t>Candidate project selection</a:t>
            </a:r>
            <a:r>
              <a:rPr lang="en-US" altLang="zh-CN" dirty="0"/>
              <a:t>: Choose projects that belong to the 14 most frequently occurring tags and have high ratings.</a:t>
            </a:r>
          </a:p>
          <a:p>
            <a:pPr marL="0" marR="0" lvl="0" indent="0" algn="l" defTabSz="914400" rtl="0" eaLnBrk="1" fontAlgn="auto" latinLnBrk="0" hangingPunct="1">
              <a:lnSpc>
                <a:spcPct val="104000"/>
              </a:lnSpc>
              <a:spcBef>
                <a:spcPts val="0"/>
              </a:spcBef>
              <a:spcAft>
                <a:spcPts val="0"/>
              </a:spcAft>
              <a:buClrTx/>
              <a:buSzTx/>
              <a:buFontTx/>
              <a:buNone/>
              <a:tabLst/>
              <a:defRPr/>
            </a:pPr>
            <a:r>
              <a:rPr lang="en-US" altLang="zh-CN" b="1" dirty="0"/>
              <a:t>Function selection</a:t>
            </a:r>
            <a:r>
              <a:rPr lang="en-US" altLang="zh-CN" dirty="0"/>
              <a:t>: the candidate must not be a test function, not an interface function, not a deprecated function, use English function-level comments, can run successfully on the verification platform, and pass the project's own test cases</a:t>
            </a:r>
          </a:p>
          <a:p>
            <a:pPr>
              <a:lnSpc>
                <a:spcPct val="104000"/>
              </a:lnSpc>
            </a:pPr>
            <a:r>
              <a:rPr lang="en-US" altLang="zh-CN" b="1" dirty="0"/>
              <a:t>Final project selection: </a:t>
            </a:r>
            <a:r>
              <a:rPr lang="en-US" altLang="zh-CN" dirty="0"/>
              <a:t>prioritize projects that include more of the selected functions</a:t>
            </a:r>
          </a:p>
          <a:p>
            <a:pPr>
              <a:lnSpc>
                <a:spcPct val="104000"/>
              </a:lnSpc>
            </a:pPr>
            <a:r>
              <a:rPr lang="en-US" altLang="zh-CN" b="1" dirty="0"/>
              <a:t>Test case: </a:t>
            </a:r>
            <a:r>
              <a:rPr lang="en-US" altLang="zh-CN" dirty="0"/>
              <a:t>Construct a constructor call graph to obtain the test cases corresponding to the function under test</a:t>
            </a:r>
            <a:endParaRPr kumimoji="1"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17</a:t>
            </a:fld>
            <a:endParaRPr lang="zh-TW" altLang="en-US"/>
          </a:p>
        </p:txBody>
      </p:sp>
    </p:spTree>
    <p:extLst>
      <p:ext uri="{BB962C8B-B14F-4D97-AF65-F5344CB8AC3E}">
        <p14:creationId xmlns:p14="http://schemas.microsoft.com/office/powerpoint/2010/main" val="31688697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i="0" kern="1200" dirty="0">
                <a:solidFill>
                  <a:schemeClr val="tx1"/>
                </a:solidFill>
                <a:effectLst/>
                <a:latin typeface="+mn-lt"/>
                <a:ea typeface="+mn-ea"/>
                <a:cs typeface="+mn-cs"/>
              </a:rPr>
              <a:t>As shown in the table, </a:t>
            </a:r>
            <a:r>
              <a:rPr lang="en-US" altLang="zh-CN" sz="1200" b="1" i="0" kern="1200" dirty="0" err="1">
                <a:solidFill>
                  <a:schemeClr val="tx1"/>
                </a:solidFill>
                <a:effectLst/>
                <a:latin typeface="+mn-lt"/>
                <a:ea typeface="+mn-ea"/>
                <a:cs typeface="+mn-cs"/>
              </a:rPr>
              <a:t>CoderEval</a:t>
            </a:r>
            <a:r>
              <a:rPr lang="en-US" altLang="zh-CN" sz="1200" b="1" i="0" kern="1200" dirty="0">
                <a:solidFill>
                  <a:schemeClr val="tx1"/>
                </a:solidFill>
                <a:effectLst/>
                <a:latin typeface="+mn-lt"/>
                <a:ea typeface="+mn-ea"/>
                <a:cs typeface="+mn-cs"/>
              </a:rPr>
              <a:t> divides the objective function into six operational levels.</a:t>
            </a:r>
          </a:p>
          <a:p>
            <a:r>
              <a:rPr lang="en-US" altLang="zh-CN" sz="1200" b="0" i="0" kern="1200" dirty="0">
                <a:solidFill>
                  <a:schemeClr val="tx1"/>
                </a:solidFill>
                <a:effectLst/>
                <a:latin typeface="+mn-lt"/>
                <a:ea typeface="+mn-ea"/>
                <a:cs typeface="+mn-cs"/>
              </a:rPr>
              <a:t>In </a:t>
            </a:r>
            <a:r>
              <a:rPr lang="en-US" altLang="zh-CN" sz="1200" b="0" i="0" kern="1200" dirty="0" err="1">
                <a:solidFill>
                  <a:schemeClr val="tx1"/>
                </a:solidFill>
                <a:effectLst/>
                <a:latin typeface="+mn-lt"/>
                <a:ea typeface="+mn-ea"/>
                <a:cs typeface="+mn-cs"/>
              </a:rPr>
              <a:t>CoderEval</a:t>
            </a:r>
            <a:r>
              <a:rPr lang="en-US" altLang="zh-CN" sz="1200" b="0" i="0" kern="1200" dirty="0">
                <a:solidFill>
                  <a:schemeClr val="tx1"/>
                </a:solidFill>
                <a:effectLst/>
                <a:latin typeface="+mn-lt"/>
                <a:ea typeface="+mn-ea"/>
                <a:cs typeface="+mn-cs"/>
              </a:rPr>
              <a:t>, self-contained and </a:t>
            </a:r>
            <a:r>
              <a:rPr lang="en-US" altLang="zh-CN" sz="1200" b="0" i="0" kern="1200" dirty="0" err="1">
                <a:solidFill>
                  <a:schemeClr val="tx1"/>
                </a:solidFill>
                <a:effectLst/>
                <a:latin typeface="+mn-lt"/>
                <a:ea typeface="+mn-ea"/>
                <a:cs typeface="+mn-cs"/>
              </a:rPr>
              <a:t>slib</a:t>
            </a:r>
            <a:r>
              <a:rPr lang="en-US" altLang="zh-CN" sz="1200" b="0" i="0" kern="1200" dirty="0">
                <a:solidFill>
                  <a:schemeClr val="tx1"/>
                </a:solidFill>
                <a:effectLst/>
                <a:latin typeface="+mn-lt"/>
                <a:ea typeface="+mn-ea"/>
                <a:cs typeface="+mn-cs"/>
              </a:rPr>
              <a:t>-runnable level functions are considered self-contained functions, while other runnable levels are considered non-self-contained functions.</a:t>
            </a:r>
          </a:p>
          <a:p>
            <a:r>
              <a:rPr lang="en-US" altLang="zh-CN" sz="1200" b="0" i="0" kern="1200" dirty="0">
                <a:solidFill>
                  <a:schemeClr val="tx1"/>
                </a:solidFill>
                <a:effectLst/>
                <a:latin typeface="+mn-lt"/>
                <a:ea typeface="+mn-ea"/>
                <a:cs typeface="+mn-cs"/>
              </a:rPr>
              <a:t>There are three main reasons for including manually annotated docstrings in </a:t>
            </a:r>
            <a:r>
              <a:rPr lang="en-US" altLang="zh-CN" sz="1200" b="0" i="0" kern="1200" dirty="0" err="1">
                <a:solidFill>
                  <a:schemeClr val="tx1"/>
                </a:solidFill>
                <a:effectLst/>
                <a:latin typeface="+mn-lt"/>
                <a:ea typeface="+mn-ea"/>
                <a:cs typeface="+mn-cs"/>
              </a:rPr>
              <a:t>CoderEval</a:t>
            </a:r>
            <a:r>
              <a:rPr lang="en-US" altLang="zh-CN" sz="1200" b="0" i="0" kern="1200" dirty="0">
                <a:solidFill>
                  <a:schemeClr val="tx1"/>
                </a:solidFill>
                <a:effectLst/>
                <a:latin typeface="+mn-lt"/>
                <a:ea typeface="+mn-ea"/>
                <a:cs typeface="+mn-cs"/>
              </a:rPr>
              <a:t>: </a:t>
            </a:r>
            <a:br>
              <a:rPr lang="en-US" altLang="zh-CN" dirty="0"/>
            </a:br>
            <a:r>
              <a:rPr lang="en-US" altLang="zh-CN" sz="1200" b="0" i="0" kern="1200" dirty="0">
                <a:solidFill>
                  <a:schemeClr val="tx1"/>
                </a:solidFill>
                <a:effectLst/>
                <a:latin typeface="+mn-lt"/>
                <a:ea typeface="+mn-ea"/>
                <a:cs typeface="+mn-cs"/>
              </a:rPr>
              <a:t>(1) To mitigate the memory effects of LLMs</a:t>
            </a:r>
            <a:br>
              <a:rPr lang="en-US" altLang="zh-CN" dirty="0"/>
            </a:br>
            <a:r>
              <a:rPr lang="en-US" altLang="zh-CN" sz="1200" b="0" i="0" kern="1200" dirty="0">
                <a:solidFill>
                  <a:schemeClr val="tx1"/>
                </a:solidFill>
                <a:effectLst/>
                <a:latin typeface="+mn-lt"/>
                <a:ea typeface="+mn-ea"/>
                <a:cs typeface="+mn-cs"/>
              </a:rPr>
              <a:t>(2) To study the performance of LLMs on different function descriptions</a:t>
            </a:r>
            <a:br>
              <a:rPr lang="en-US" altLang="zh-CN" dirty="0"/>
            </a:br>
            <a:r>
              <a:rPr lang="en-US" altLang="zh-CN" sz="1200" b="0" i="0" kern="1200" dirty="0">
                <a:solidFill>
                  <a:schemeClr val="tx1"/>
                </a:solidFill>
                <a:effectLst/>
                <a:latin typeface="+mn-lt"/>
                <a:ea typeface="+mn-ea"/>
                <a:cs typeface="+mn-cs"/>
              </a:rPr>
              <a:t>(3) To provide high-quality docstrings for the functions in </a:t>
            </a:r>
            <a:r>
              <a:rPr lang="en-US" altLang="zh-CN" sz="1200" b="0" i="0" kern="1200" dirty="0" err="1">
                <a:solidFill>
                  <a:schemeClr val="tx1"/>
                </a:solidFill>
                <a:effectLst/>
                <a:latin typeface="+mn-lt"/>
                <a:ea typeface="+mn-ea"/>
                <a:cs typeface="+mn-cs"/>
              </a:rPr>
              <a:t>CoderEval</a:t>
            </a:r>
            <a:endParaRPr kumimoji="1"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18</a:t>
            </a:fld>
            <a:endParaRPr lang="zh-TW" altLang="en-US"/>
          </a:p>
        </p:txBody>
      </p:sp>
    </p:spTree>
    <p:extLst>
      <p:ext uri="{BB962C8B-B14F-4D97-AF65-F5344CB8AC3E}">
        <p14:creationId xmlns:p14="http://schemas.microsoft.com/office/powerpoint/2010/main" val="33021789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CD409-C216-0192-F1EB-5E7E853B1A1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1BF4C6C-D529-7C38-017A-D564B34C653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55150DC-5E71-890B-F763-92A42FF0A0AC}"/>
              </a:ext>
            </a:extLst>
          </p:cNvPr>
          <p:cNvSpPr>
            <a:spLocks noGrp="1"/>
          </p:cNvSpPr>
          <p:nvPr>
            <p:ph type="body" idx="1"/>
          </p:nvPr>
        </p:nvSpPr>
        <p:spPr/>
        <p:txBody>
          <a:bodyPr/>
          <a:lstStyle/>
          <a:p>
            <a:r>
              <a:rPr lang="en-US" altLang="zh-CN" sz="1200" b="0" i="0" kern="1200" dirty="0">
                <a:solidFill>
                  <a:schemeClr val="tx1"/>
                </a:solidFill>
                <a:effectLst/>
                <a:latin typeface="+mn-lt"/>
                <a:ea typeface="+mn-ea"/>
                <a:cs typeface="+mn-cs"/>
              </a:rPr>
              <a:t>To provide a ready-to-use runtime environment for automatically executing and evaluating model-generated functions, an evaluation platform based on Linux Docker images has been built. This platform offers a virtual sandbox for safe execution.</a:t>
            </a:r>
            <a:endParaRPr kumimoji="1" lang="zh-CN" altLang="en-US" dirty="0"/>
          </a:p>
        </p:txBody>
      </p:sp>
      <p:sp>
        <p:nvSpPr>
          <p:cNvPr id="4" name="灯片编号占位符 3">
            <a:extLst>
              <a:ext uri="{FF2B5EF4-FFF2-40B4-BE49-F238E27FC236}">
                <a16:creationId xmlns:a16="http://schemas.microsoft.com/office/drawing/2014/main" id="{198B0870-5ED9-5D4C-65E9-AA1FB68B8BF6}"/>
              </a:ext>
            </a:extLst>
          </p:cNvPr>
          <p:cNvSpPr>
            <a:spLocks noGrp="1"/>
          </p:cNvSpPr>
          <p:nvPr>
            <p:ph type="sldNum" sz="quarter" idx="5"/>
          </p:nvPr>
        </p:nvSpPr>
        <p:spPr/>
        <p:txBody>
          <a:bodyPr/>
          <a:lstStyle/>
          <a:p>
            <a:fld id="{B11D5518-E2B7-47D3-A483-775D39982443}" type="slidenum">
              <a:rPr lang="zh-TW" altLang="en-US" smtClean="0"/>
              <a:t>19</a:t>
            </a:fld>
            <a:endParaRPr lang="zh-TW" altLang="en-US"/>
          </a:p>
        </p:txBody>
      </p:sp>
    </p:spTree>
    <p:extLst>
      <p:ext uri="{BB962C8B-B14F-4D97-AF65-F5344CB8AC3E}">
        <p14:creationId xmlns:p14="http://schemas.microsoft.com/office/powerpoint/2010/main" val="12839281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D5993-201F-1A8F-0B3F-44F56819EC2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172FFB1-2FA6-7150-80A7-664DBB7CC47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49C25F2-97FE-557F-C040-C67DDCC8E45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i="0" kern="1200" dirty="0">
                <a:solidFill>
                  <a:schemeClr val="tx1"/>
                </a:solidFill>
                <a:effectLst/>
                <a:latin typeface="+mn-lt"/>
                <a:ea typeface="+mn-ea"/>
                <a:cs typeface="+mn-cs"/>
              </a:rPr>
              <a:t>In </a:t>
            </a:r>
            <a:r>
              <a:rPr lang="en-US" altLang="zh-CN" sz="1200" b="1" i="0" kern="1200" dirty="0" err="1">
                <a:solidFill>
                  <a:schemeClr val="tx1"/>
                </a:solidFill>
                <a:effectLst/>
                <a:latin typeface="+mn-lt"/>
                <a:ea typeface="+mn-ea"/>
                <a:cs typeface="+mn-cs"/>
              </a:rPr>
              <a:t>CoderEval</a:t>
            </a:r>
            <a:r>
              <a:rPr lang="en-US" altLang="zh-CN" sz="1200" b="1" i="0" kern="1200" dirty="0">
                <a:solidFill>
                  <a:schemeClr val="tx1"/>
                </a:solidFill>
                <a:effectLst/>
                <a:latin typeface="+mn-lt"/>
                <a:ea typeface="+mn-ea"/>
                <a:cs typeface="+mn-cs"/>
              </a:rPr>
              <a:t>, over 70% of functions are </a:t>
            </a:r>
            <a:r>
              <a:rPr lang="en-US" altLang="zh-CN" sz="1200" b="0" i="0" kern="1200" dirty="0">
                <a:solidFill>
                  <a:schemeClr val="tx1"/>
                </a:solidFill>
                <a:effectLst/>
                <a:latin typeface="+mn-lt"/>
                <a:ea typeface="+mn-ea"/>
                <a:cs typeface="+mn-cs"/>
              </a:rPr>
              <a:t>non-self-contained functions.</a:t>
            </a:r>
          </a:p>
        </p:txBody>
      </p:sp>
      <p:sp>
        <p:nvSpPr>
          <p:cNvPr id="4" name="灯片编号占位符 3">
            <a:extLst>
              <a:ext uri="{FF2B5EF4-FFF2-40B4-BE49-F238E27FC236}">
                <a16:creationId xmlns:a16="http://schemas.microsoft.com/office/drawing/2014/main" id="{44B94CE7-4778-C0A4-AE23-961D03DC7220}"/>
              </a:ext>
            </a:extLst>
          </p:cNvPr>
          <p:cNvSpPr>
            <a:spLocks noGrp="1"/>
          </p:cNvSpPr>
          <p:nvPr>
            <p:ph type="sldNum" sz="quarter" idx="5"/>
          </p:nvPr>
        </p:nvSpPr>
        <p:spPr/>
        <p:txBody>
          <a:bodyPr/>
          <a:lstStyle/>
          <a:p>
            <a:fld id="{B11D5518-E2B7-47D3-A483-775D39982443}" type="slidenum">
              <a:rPr lang="zh-TW" altLang="en-US" smtClean="0"/>
              <a:t>20</a:t>
            </a:fld>
            <a:endParaRPr lang="zh-TW" altLang="en-US"/>
          </a:p>
        </p:txBody>
      </p:sp>
    </p:spTree>
    <p:extLst>
      <p:ext uri="{BB962C8B-B14F-4D97-AF65-F5344CB8AC3E}">
        <p14:creationId xmlns:p14="http://schemas.microsoft.com/office/powerpoint/2010/main" val="38174172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BBC2C-5410-7438-8572-C053AED6892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06E483C-7408-D337-E758-BCDE0D499A2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28B7665-B838-0AFB-38E7-2BA78F6F9C6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i="0" kern="1200" dirty="0">
                <a:solidFill>
                  <a:schemeClr val="tx1"/>
                </a:solidFill>
                <a:effectLst/>
                <a:latin typeface="+mn-lt"/>
                <a:ea typeface="+mn-ea"/>
                <a:cs typeface="+mn-cs"/>
              </a:rPr>
              <a:t>All models are much more effective at generating self-contained functions than at generating non-self-contained functions.</a:t>
            </a:r>
            <a:endParaRPr lang="en-US" altLang="zh-CN" sz="1200" b="0" i="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6A5A6F55-3B09-DF3A-B17A-38C61E23D845}"/>
              </a:ext>
            </a:extLst>
          </p:cNvPr>
          <p:cNvSpPr>
            <a:spLocks noGrp="1"/>
          </p:cNvSpPr>
          <p:nvPr>
            <p:ph type="sldNum" sz="quarter" idx="5"/>
          </p:nvPr>
        </p:nvSpPr>
        <p:spPr/>
        <p:txBody>
          <a:bodyPr/>
          <a:lstStyle/>
          <a:p>
            <a:fld id="{B11D5518-E2B7-47D3-A483-775D39982443}" type="slidenum">
              <a:rPr lang="zh-TW" altLang="en-US" smtClean="0"/>
              <a:t>21</a:t>
            </a:fld>
            <a:endParaRPr lang="zh-TW" altLang="en-US"/>
          </a:p>
        </p:txBody>
      </p:sp>
    </p:spTree>
    <p:extLst>
      <p:ext uri="{BB962C8B-B14F-4D97-AF65-F5344CB8AC3E}">
        <p14:creationId xmlns:p14="http://schemas.microsoft.com/office/powerpoint/2010/main" val="37344036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BCE37-CE42-5B2C-EF07-B029720D611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BC0DC5-9658-4652-78E9-EB8113C5F5D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4DBD42B-4C52-0001-BF9B-0FD6964D02C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Times New Roman" panose="02020603050405020304" pitchFamily="18" charset="0"/>
                <a:cs typeface="Times New Roman" panose="02020603050405020304" pitchFamily="18" charset="0"/>
              </a:rPr>
              <a:t>Since Challenge 2 is complex and time is limited, I would skip it and present the work on Challenge 3 directly. The work is </a:t>
            </a:r>
            <a:r>
              <a:rPr lang="en-US" altLang="zh-CN" sz="1200" b="1" i="0" dirty="0">
                <a:effectLst/>
                <a:latin typeface="Arial" panose="020B0604020202020204" pitchFamily="34" charset="0"/>
              </a:rPr>
              <a:t>based on the Combination of Information Retrieval and Deep Learning.</a:t>
            </a:r>
            <a:r>
              <a:rPr lang="en-US" altLang="zh-CN" sz="1200" b="0" i="0" kern="1200" dirty="0">
                <a:solidFill>
                  <a:schemeClr val="tx1"/>
                </a:solidFill>
                <a:effectLst/>
                <a:latin typeface="+mn-lt"/>
                <a:ea typeface="+mn-ea"/>
                <a:cs typeface="+mn-cs"/>
              </a:rPr>
              <a:t> The method’s baseline uses Large Language Models (ChatGPT) to Generate Unit Test Case Assertions. </a:t>
            </a:r>
            <a:br>
              <a:rPr lang="en-US" altLang="zh-CN" dirty="0"/>
            </a:br>
            <a:r>
              <a:rPr lang="en-US" altLang="zh-CN" sz="1200" b="0" i="0" kern="1200" dirty="0">
                <a:solidFill>
                  <a:schemeClr val="tx1"/>
                </a:solidFill>
                <a:effectLst/>
                <a:latin typeface="+mn-lt"/>
                <a:ea typeface="+mn-ea"/>
                <a:cs typeface="+mn-cs"/>
              </a:rPr>
              <a:t>Then, it utilizes Information Retrieval (IR) to generate assertions. There are two </a:t>
            </a:r>
            <a:r>
              <a:rPr lang="en-US" altLang="zh-CN" sz="1200" b="1" i="0" kern="1200" dirty="0">
                <a:solidFill>
                  <a:schemeClr val="tx1"/>
                </a:solidFill>
                <a:effectLst/>
                <a:latin typeface="+mn-lt"/>
                <a:ea typeface="+mn-ea"/>
                <a:cs typeface="+mn-cs"/>
              </a:rPr>
              <a:t>IR-based approaches (which are IR-based assertion retrieval and assertion adaptation for retrieval).</a:t>
            </a:r>
            <a:r>
              <a:rPr lang="en-US" altLang="zh-CN" sz="1200" b="0" i="0" kern="1200" dirty="0">
                <a:solidFill>
                  <a:schemeClr val="tx1"/>
                </a:solidFill>
                <a:effectLst/>
                <a:latin typeface="+mn-lt"/>
                <a:ea typeface="+mn-ea"/>
                <a:cs typeface="+mn-cs"/>
              </a:rPr>
              <a:t> To further improve the effectiveness of generating unit test case assertions, a</a:t>
            </a:r>
            <a:r>
              <a:rPr lang="en-US" altLang="zh-CN" sz="1200" b="1" i="0" kern="1200" dirty="0">
                <a:solidFill>
                  <a:schemeClr val="tx1"/>
                </a:solidFill>
                <a:effectLst/>
                <a:latin typeface="+mn-lt"/>
                <a:ea typeface="+mn-ea"/>
                <a:cs typeface="+mn-cs"/>
              </a:rPr>
              <a:t> method called Integration based on information retrieval combined with deep learning is proposed.</a:t>
            </a:r>
            <a:r>
              <a:rPr lang="en-US" altLang="zh-CN" sz="1200" b="0" i="0" kern="1200" dirty="0">
                <a:solidFill>
                  <a:schemeClr val="tx1"/>
                </a:solidFill>
                <a:effectLst/>
                <a:latin typeface="+mn-lt"/>
                <a:ea typeface="+mn-ea"/>
                <a:cs typeface="+mn-cs"/>
              </a:rPr>
              <a:t>  The evaluation results are shown as follows.</a:t>
            </a:r>
            <a:endParaRPr kumimoji="1" lang="zh-CN" altLang="en-US" dirty="0"/>
          </a:p>
          <a:p>
            <a:pPr marL="0" indent="0">
              <a:buNone/>
            </a:pPr>
            <a:endParaRPr lang="en-US" altLang="zh-CN" sz="1200" dirty="0">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FD87D235-73E5-3640-55EA-80061FF906C1}"/>
              </a:ext>
            </a:extLst>
          </p:cNvPr>
          <p:cNvSpPr>
            <a:spLocks noGrp="1"/>
          </p:cNvSpPr>
          <p:nvPr>
            <p:ph type="sldNum" sz="quarter" idx="5"/>
          </p:nvPr>
        </p:nvSpPr>
        <p:spPr/>
        <p:txBody>
          <a:bodyPr/>
          <a:lstStyle/>
          <a:p>
            <a:fld id="{B11D5518-E2B7-47D3-A483-775D39982443}" type="slidenum">
              <a:rPr lang="zh-TW" altLang="en-US" smtClean="0"/>
              <a:t>22</a:t>
            </a:fld>
            <a:endParaRPr lang="zh-TW" altLang="en-US"/>
          </a:p>
        </p:txBody>
      </p:sp>
    </p:spTree>
    <p:extLst>
      <p:ext uri="{BB962C8B-B14F-4D97-AF65-F5344CB8AC3E}">
        <p14:creationId xmlns:p14="http://schemas.microsoft.com/office/powerpoint/2010/main" val="37045843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This is the result of the DL-based method, which only uses ChatGPT.(read observation)</a:t>
            </a:r>
            <a:endParaRPr kumimoji="1"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23</a:t>
            </a:fld>
            <a:endParaRPr lang="zh-TW" altLang="en-US"/>
          </a:p>
        </p:txBody>
      </p:sp>
    </p:spTree>
    <p:extLst>
      <p:ext uri="{BB962C8B-B14F-4D97-AF65-F5344CB8AC3E}">
        <p14:creationId xmlns:p14="http://schemas.microsoft.com/office/powerpoint/2010/main" val="13980621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Here are the experiment results.</a:t>
            </a:r>
            <a:r>
              <a:rPr lang="en-US" altLang="zh-CN" sz="1200" b="0" i="0" kern="1200" dirty="0">
                <a:solidFill>
                  <a:schemeClr val="tx1"/>
                </a:solidFill>
                <a:effectLst/>
                <a:latin typeface="+mn-lt"/>
                <a:ea typeface="+mn-ea"/>
                <a:cs typeface="+mn-cs"/>
              </a:rPr>
              <a:t> This table shows the effectiveness of Integration across all assertions and for each assertion type. Integration consistently outperforms DL-based and IR-based methods on all assertions. The results indicate that the Integration method is effective and also suggest that combining DL-based and IR-based methods could be a promising direction for automatic assertion generation.</a:t>
            </a:r>
            <a:endParaRPr kumimoji="1"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24</a:t>
            </a:fld>
            <a:endParaRPr lang="zh-TW" altLang="en-US"/>
          </a:p>
        </p:txBody>
      </p:sp>
    </p:spTree>
    <p:extLst>
      <p:ext uri="{BB962C8B-B14F-4D97-AF65-F5344CB8AC3E}">
        <p14:creationId xmlns:p14="http://schemas.microsoft.com/office/powerpoint/2010/main" val="26715896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Finally, we would introduce a work called Decon to solve Challenge 4: How to detect incorrect unit test cases.</a:t>
            </a:r>
          </a:p>
          <a:p>
            <a:r>
              <a:rPr lang="en-US" altLang="zh-CN" sz="1200" b="0" i="0" kern="1200" dirty="0">
                <a:solidFill>
                  <a:schemeClr val="tx1"/>
                </a:solidFill>
                <a:effectLst/>
                <a:latin typeface="+mn-lt"/>
                <a:ea typeface="+mn-ea"/>
                <a:cs typeface="+mn-cs"/>
              </a:rPr>
              <a:t>Although traditional unit test case generation tools can achieve high coverage, they cannot detect logic errors in programs. </a:t>
            </a:r>
            <a:br>
              <a:rPr lang="en-US" altLang="zh-CN" dirty="0"/>
            </a:br>
            <a:r>
              <a:rPr lang="en-US" altLang="zh-CN" sz="1200" b="0" i="0" kern="1200" dirty="0">
                <a:solidFill>
                  <a:schemeClr val="tx1"/>
                </a:solidFill>
                <a:effectLst/>
                <a:latin typeface="+mn-lt"/>
                <a:ea typeface="+mn-ea"/>
                <a:cs typeface="+mn-cs"/>
              </a:rPr>
              <a:t>Unit test case generation methods based on deep learning (including large models) can detect logic errors, but the generated test cases have a high rate of false-positive assertions. (then read the content in slide)</a:t>
            </a:r>
          </a:p>
          <a:p>
            <a:r>
              <a:rPr kumimoji="1" lang="en-US" altLang="zh-CN" sz="1200" b="0" i="0" kern="1200" dirty="0">
                <a:solidFill>
                  <a:schemeClr val="tx1"/>
                </a:solidFill>
                <a:effectLst/>
                <a:latin typeface="+mn-lt"/>
                <a:ea typeface="+mn-ea"/>
                <a:cs typeface="+mn-cs"/>
              </a:rPr>
              <a:t>(final read the following)</a:t>
            </a:r>
            <a:r>
              <a:rPr lang="en-US" altLang="zh-CN" sz="1200" b="0" i="0" kern="1200" dirty="0">
                <a:solidFill>
                  <a:schemeClr val="tx1"/>
                </a:solidFill>
                <a:effectLst/>
                <a:latin typeface="+mn-lt"/>
                <a:ea typeface="+mn-ea"/>
                <a:cs typeface="+mn-cs"/>
              </a:rPr>
              <a:t> First, Decon extracts formalized inputs and expected outputs from the docstring. Then, it uses an LLM to generate postconditions for the given function signature and description. Next, it uses the formalized input and output examples to filter out any incorrect postconditions generated by the LLM. Finally, it uses the remaining postconditions to detect assertions that violate these postconditions.</a:t>
            </a:r>
            <a:endParaRPr kumimoji="1"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25</a:t>
            </a:fld>
            <a:endParaRPr lang="zh-TW" altLang="en-US"/>
          </a:p>
        </p:txBody>
      </p:sp>
    </p:spTree>
    <p:extLst>
      <p:ext uri="{BB962C8B-B14F-4D97-AF65-F5344CB8AC3E}">
        <p14:creationId xmlns:p14="http://schemas.microsoft.com/office/powerpoint/2010/main" val="14376008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26</a:t>
            </a:fld>
            <a:endParaRPr lang="zh-TW" altLang="en-US"/>
          </a:p>
        </p:txBody>
      </p:sp>
    </p:spTree>
    <p:extLst>
      <p:ext uri="{BB962C8B-B14F-4D97-AF65-F5344CB8AC3E}">
        <p14:creationId xmlns:p14="http://schemas.microsoft.com/office/powerpoint/2010/main" val="37812715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From the table, we can find that </a:t>
            </a:r>
            <a:r>
              <a:rPr lang="en-US" altLang="zh-CN" sz="1200" b="0" i="0" kern="1200" dirty="0" err="1">
                <a:solidFill>
                  <a:schemeClr val="tx1"/>
                </a:solidFill>
                <a:effectLst/>
                <a:latin typeface="+mn-lt"/>
                <a:ea typeface="+mn-ea"/>
                <a:cs typeface="+mn-cs"/>
              </a:rPr>
              <a:t>DeCon</a:t>
            </a:r>
            <a:r>
              <a:rPr lang="en-US" altLang="zh-CN" sz="1200" b="0" i="0" kern="1200" dirty="0">
                <a:solidFill>
                  <a:schemeClr val="tx1"/>
                </a:solidFill>
                <a:effectLst/>
                <a:latin typeface="+mn-lt"/>
                <a:ea typeface="+mn-ea"/>
                <a:cs typeface="+mn-cs"/>
              </a:rPr>
              <a:t> can effectively improve the performance of LLM code generation. And </a:t>
            </a:r>
            <a:r>
              <a:rPr lang="en-US" altLang="zh-CN" sz="1200" b="0" i="0" kern="1200" dirty="0" err="1">
                <a:solidFill>
                  <a:schemeClr val="tx1"/>
                </a:solidFill>
                <a:effectLst/>
                <a:latin typeface="+mn-lt"/>
                <a:ea typeface="+mn-ea"/>
                <a:cs typeface="+mn-cs"/>
              </a:rPr>
              <a:t>DeCon</a:t>
            </a:r>
            <a:r>
              <a:rPr lang="en-US" altLang="zh-CN" sz="1200" b="0" i="0" kern="1200" dirty="0">
                <a:solidFill>
                  <a:schemeClr val="tx1"/>
                </a:solidFill>
                <a:effectLst/>
                <a:latin typeface="+mn-lt"/>
                <a:ea typeface="+mn-ea"/>
                <a:cs typeface="+mn-cs"/>
              </a:rPr>
              <a:t> using GPT-4 as the </a:t>
            </a:r>
            <a:r>
              <a:rPr lang="en-US" altLang="zh-CN" sz="1200" b="0" i="0" kern="1200" dirty="0" err="1">
                <a:solidFill>
                  <a:schemeClr val="tx1"/>
                </a:solidFill>
                <a:effectLst/>
                <a:latin typeface="+mn-lt"/>
                <a:ea typeface="+mn-ea"/>
                <a:cs typeface="+mn-cs"/>
              </a:rPr>
              <a:t>PostGen</a:t>
            </a:r>
            <a:r>
              <a:rPr lang="en-US" altLang="zh-CN" sz="1200" b="0" i="0" kern="1200" dirty="0">
                <a:solidFill>
                  <a:schemeClr val="tx1"/>
                </a:solidFill>
                <a:effectLst/>
                <a:latin typeface="+mn-lt"/>
                <a:ea typeface="+mn-ea"/>
                <a:cs typeface="+mn-cs"/>
              </a:rPr>
              <a:t> model is more effective than </a:t>
            </a:r>
            <a:r>
              <a:rPr lang="en-US" altLang="zh-CN" sz="1200" b="0" i="0" kern="1200" dirty="0" err="1">
                <a:solidFill>
                  <a:schemeClr val="tx1"/>
                </a:solidFill>
                <a:effectLst/>
                <a:latin typeface="+mn-lt"/>
                <a:ea typeface="+mn-ea"/>
                <a:cs typeface="+mn-cs"/>
              </a:rPr>
              <a:t>DeCon</a:t>
            </a:r>
            <a:r>
              <a:rPr lang="en-US" altLang="zh-CN" sz="1200" b="0" i="0" kern="1200" dirty="0">
                <a:solidFill>
                  <a:schemeClr val="tx1"/>
                </a:solidFill>
                <a:effectLst/>
                <a:latin typeface="+mn-lt"/>
                <a:ea typeface="+mn-ea"/>
                <a:cs typeface="+mn-cs"/>
              </a:rPr>
              <a:t> using GPT-3.5, indicating that </a:t>
            </a:r>
            <a:r>
              <a:rPr lang="en-US" altLang="zh-CN" sz="1200" b="0" i="0" kern="1200" dirty="0" err="1">
                <a:solidFill>
                  <a:schemeClr val="tx1"/>
                </a:solidFill>
                <a:effectLst/>
                <a:latin typeface="+mn-lt"/>
                <a:ea typeface="+mn-ea"/>
                <a:cs typeface="+mn-cs"/>
              </a:rPr>
              <a:t>DeCon</a:t>
            </a:r>
            <a:r>
              <a:rPr lang="en-US" altLang="zh-CN" sz="1200" b="0" i="0" kern="1200" dirty="0">
                <a:solidFill>
                  <a:schemeClr val="tx1"/>
                </a:solidFill>
                <a:effectLst/>
                <a:latin typeface="+mn-lt"/>
                <a:ea typeface="+mn-ea"/>
                <a:cs typeface="+mn-cs"/>
              </a:rPr>
              <a:t> has greater capability for generating postconditions with a more effective model.</a:t>
            </a:r>
            <a:endParaRPr kumimoji="1"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27</a:t>
            </a:fld>
            <a:endParaRPr lang="zh-TW" altLang="en-US"/>
          </a:p>
        </p:txBody>
      </p:sp>
    </p:spTree>
    <p:extLst>
      <p:ext uri="{BB962C8B-B14F-4D97-AF65-F5344CB8AC3E}">
        <p14:creationId xmlns:p14="http://schemas.microsoft.com/office/powerpoint/2010/main" val="26467695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00279-E5BC-3816-6AF0-BCB567783F7C}"/>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77F6C41D-3067-77A0-7BC8-3694426E204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6D6CA3B-4048-9FC9-482A-B05ABCEF7658}"/>
              </a:ext>
            </a:extLst>
          </p:cNvPr>
          <p:cNvSpPr>
            <a:spLocks noGrp="1"/>
          </p:cNvSpPr>
          <p:nvPr>
            <p:ph type="body" idx="1"/>
          </p:nvPr>
        </p:nvSpPr>
        <p:spPr/>
        <p:txBody>
          <a:bodyPr>
            <a:normAutofit/>
          </a:bodyPr>
          <a:lstStyle/>
          <a:p>
            <a:endParaRPr lang="zh-TW" altLang="en-US"/>
          </a:p>
        </p:txBody>
      </p:sp>
      <p:sp>
        <p:nvSpPr>
          <p:cNvPr id="4" name="投影片編號版面配置區 3">
            <a:extLst>
              <a:ext uri="{FF2B5EF4-FFF2-40B4-BE49-F238E27FC236}">
                <a16:creationId xmlns:a16="http://schemas.microsoft.com/office/drawing/2014/main" id="{504CC9EB-A43D-6B99-FA8A-2B7ED2E39EC3}"/>
              </a:ext>
            </a:extLst>
          </p:cNvPr>
          <p:cNvSpPr>
            <a:spLocks noGrp="1"/>
          </p:cNvSpPr>
          <p:nvPr>
            <p:ph type="sldNum" sz="quarter" idx="10"/>
          </p:nvPr>
        </p:nvSpPr>
        <p:spPr/>
        <p:txBody>
          <a:bodyPr/>
          <a:lstStyle/>
          <a:p>
            <a:fld id="{7320D120-4707-426F-9B85-873E256A6635}" type="slidenum">
              <a:rPr lang="zh-TW" altLang="en-US" smtClean="0"/>
              <a:pPr/>
              <a:t>28</a:t>
            </a:fld>
            <a:endParaRPr lang="zh-TW" altLang="en-US"/>
          </a:p>
        </p:txBody>
      </p:sp>
    </p:spTree>
    <p:extLst>
      <p:ext uri="{BB962C8B-B14F-4D97-AF65-F5344CB8AC3E}">
        <p14:creationId xmlns:p14="http://schemas.microsoft.com/office/powerpoint/2010/main" val="18633390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3A2B7-85FD-9664-7E06-F992A59C6F7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89A8107-2D7E-D6D1-3570-8438907BEE3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46527FC-1FE2-F385-D47A-188C5247C14C}"/>
              </a:ext>
            </a:extLst>
          </p:cNvPr>
          <p:cNvSpPr>
            <a:spLocks noGrp="1"/>
          </p:cNvSpPr>
          <p:nvPr>
            <p:ph type="body" idx="1"/>
          </p:nvPr>
        </p:nvSpPr>
        <p:spPr/>
        <p:txBody>
          <a:bodyPr/>
          <a:lstStyle/>
          <a:p>
            <a:r>
              <a:rPr lang="en-US" altLang="zh-CN" sz="1200" b="0" i="0" kern="1200" dirty="0">
                <a:solidFill>
                  <a:schemeClr val="tx1"/>
                </a:solidFill>
                <a:effectLst/>
                <a:latin typeface="+mn-lt"/>
                <a:ea typeface="+mn-ea"/>
                <a:cs typeface="+mn-cs"/>
              </a:rPr>
              <a:t>In this talk, I present three works </a:t>
            </a:r>
            <a:r>
              <a:rPr lang="en-US" altLang="zh-CN" sz="1200" dirty="0">
                <a:solidFill>
                  <a:srgbClr val="8C0000"/>
                </a:solidFill>
                <a:latin typeface="Helvetica" panose="020B0500000000000000" pitchFamily="34" charset="0"/>
              </a:rPr>
              <a:t>on Automated Code and Test Assertion Generation with LLMs.</a:t>
            </a:r>
          </a:p>
          <a:p>
            <a:endParaRPr lang="en-US" altLang="zh-CN" sz="1200" dirty="0">
              <a:solidFill>
                <a:srgbClr val="8C0000"/>
              </a:solidFill>
              <a:latin typeface="Helvetica" panose="020B0500000000000000" pitchFamily="34" charset="0"/>
            </a:endParaRPr>
          </a:p>
          <a:p>
            <a:r>
              <a:rPr lang="en-US" altLang="zh-CN" sz="1200" b="0" i="0" kern="1200" dirty="0" err="1">
                <a:solidFill>
                  <a:schemeClr val="tx1"/>
                </a:solidFill>
                <a:effectLst/>
                <a:latin typeface="+mn-lt"/>
                <a:ea typeface="+mn-ea"/>
                <a:cs typeface="+mn-cs"/>
              </a:rPr>
              <a:t>CoderEval</a:t>
            </a:r>
            <a:r>
              <a:rPr lang="en-US" altLang="zh-CN" sz="1200" b="0" i="0" kern="1200" dirty="0">
                <a:solidFill>
                  <a:schemeClr val="tx1"/>
                </a:solidFill>
                <a:effectLst/>
                <a:latin typeface="+mn-lt"/>
                <a:ea typeface="+mn-ea"/>
                <a:cs typeface="+mn-cs"/>
              </a:rPr>
              <a:t>: </a:t>
            </a:r>
            <a:r>
              <a:rPr lang="en-US" altLang="zh-CN" sz="1200" dirty="0"/>
              <a:t>A benchmark for code generation reflecting real-world development scenarios</a:t>
            </a:r>
            <a:br>
              <a:rPr lang="en-US" altLang="zh-CN" dirty="0"/>
            </a:br>
            <a:r>
              <a:rPr lang="en-US" altLang="zh-CN" sz="1200" b="0" i="0" kern="1200" dirty="0">
                <a:solidFill>
                  <a:schemeClr val="tx1"/>
                </a:solidFill>
                <a:effectLst/>
                <a:latin typeface="+mn-lt"/>
                <a:ea typeface="+mn-ea"/>
                <a:cs typeface="+mn-cs"/>
              </a:rPr>
              <a:t>Select projects based on tags and star counts to obtain projects that reflect real development scenarios. </a:t>
            </a:r>
            <a:br>
              <a:rPr lang="en-US" altLang="zh-CN" dirty="0"/>
            </a:br>
            <a:r>
              <a:rPr lang="en-US" altLang="zh-CN" sz="1200" b="0" i="0" kern="1200" dirty="0">
                <a:solidFill>
                  <a:schemeClr val="tx1"/>
                </a:solidFill>
                <a:effectLst/>
                <a:latin typeface="+mn-lt"/>
                <a:ea typeface="+mn-ea"/>
                <a:cs typeface="+mn-cs"/>
              </a:rPr>
              <a:t>Prevent data leaks by manually labeling docstrings. </a:t>
            </a:r>
            <a:br>
              <a:rPr lang="en-US" altLang="zh-CN" dirty="0"/>
            </a:br>
            <a:r>
              <a:rPr lang="en-US" altLang="zh-CN" sz="1200" b="0" i="0" kern="1200" dirty="0">
                <a:solidFill>
                  <a:schemeClr val="tx1"/>
                </a:solidFill>
                <a:effectLst/>
                <a:latin typeface="+mn-lt"/>
                <a:ea typeface="+mn-ea"/>
                <a:cs typeface="+mn-cs"/>
              </a:rPr>
              <a:t>Improve project-level evaluation efficiency through incremental compilation.</a:t>
            </a:r>
          </a:p>
          <a:p>
            <a:br>
              <a:rPr lang="en-US" altLang="zh-CN" dirty="0"/>
            </a:br>
            <a:r>
              <a:rPr lang="en-US" altLang="zh-CN" dirty="0"/>
              <a:t>Integration: </a:t>
            </a:r>
            <a:r>
              <a:rPr lang="en-US" altLang="zh-CN" sz="1200" b="0" i="0" kern="1200" dirty="0">
                <a:solidFill>
                  <a:schemeClr val="tx1"/>
                </a:solidFill>
                <a:effectLst/>
                <a:latin typeface="+mn-lt"/>
                <a:ea typeface="+mn-ea"/>
                <a:cs typeface="+mn-cs"/>
              </a:rPr>
              <a:t>Method for Generating Unit Test Case Assertions Based on the Integration of Information Retrieval and Deep Learning:</a:t>
            </a:r>
            <a:br>
              <a:rPr lang="en-US" altLang="zh-CN" dirty="0"/>
            </a:br>
            <a:r>
              <a:rPr lang="en-US" altLang="zh-CN" sz="1200" b="0" i="0" kern="1200" dirty="0">
                <a:solidFill>
                  <a:schemeClr val="tx1"/>
                </a:solidFill>
                <a:effectLst/>
                <a:latin typeface="+mn-lt"/>
                <a:ea typeface="+mn-ea"/>
                <a:cs typeface="+mn-cs"/>
              </a:rPr>
              <a:t>Generate high-quality assertions through information retrieval, program analysis modifications, and methods combined with deep learning. By comparing this with assertions generated directly from large models, it highlights that methods using fewer computational resources still have advantages.</a:t>
            </a:r>
            <a:br>
              <a:rPr lang="en-US" altLang="zh-CN" dirty="0"/>
            </a:br>
            <a:br>
              <a:rPr lang="en-US" altLang="zh-CN" dirty="0"/>
            </a:br>
            <a:r>
              <a:rPr lang="en-US" altLang="zh-CN" sz="1200" b="0" dirty="0" err="1"/>
              <a:t>DeCon</a:t>
            </a:r>
            <a:r>
              <a:rPr lang="en-US" altLang="zh-CN" sz="1200" dirty="0"/>
              <a:t>: Method for detecting incorrect unit test case assertions</a:t>
            </a:r>
            <a:br>
              <a:rPr lang="en-US" altLang="zh-CN" dirty="0"/>
            </a:br>
            <a:r>
              <a:rPr lang="en-US" altLang="zh-CN" sz="1200" b="0" i="0" kern="1200" dirty="0">
                <a:solidFill>
                  <a:schemeClr val="tx1"/>
                </a:solidFill>
                <a:effectLst/>
                <a:latin typeface="+mn-lt"/>
                <a:ea typeface="+mn-ea"/>
                <a:cs typeface="+mn-cs"/>
              </a:rPr>
              <a:t>Generate high-quality postconditions with a small number of input-output examples. Detect incorrect assertions through postconditions.</a:t>
            </a:r>
            <a:endParaRPr kumimoji="1" lang="en-US" altLang="zh-CN" dirty="0"/>
          </a:p>
        </p:txBody>
      </p:sp>
      <p:sp>
        <p:nvSpPr>
          <p:cNvPr id="4" name="灯片编号占位符 3">
            <a:extLst>
              <a:ext uri="{FF2B5EF4-FFF2-40B4-BE49-F238E27FC236}">
                <a16:creationId xmlns:a16="http://schemas.microsoft.com/office/drawing/2014/main" id="{52E971CD-9257-DC77-D5F1-FBEC439F25A8}"/>
              </a:ext>
            </a:extLst>
          </p:cNvPr>
          <p:cNvSpPr>
            <a:spLocks noGrp="1"/>
          </p:cNvSpPr>
          <p:nvPr>
            <p:ph type="sldNum" sz="quarter" idx="5"/>
          </p:nvPr>
        </p:nvSpPr>
        <p:spPr/>
        <p:txBody>
          <a:bodyPr/>
          <a:lstStyle/>
          <a:p>
            <a:fld id="{B11D5518-E2B7-47D3-A483-775D39982443}" type="slidenum">
              <a:rPr lang="zh-TW" altLang="en-US" smtClean="0"/>
              <a:t>29</a:t>
            </a:fld>
            <a:endParaRPr lang="zh-TW" altLang="en-US"/>
          </a:p>
        </p:txBody>
      </p:sp>
    </p:spTree>
    <p:extLst>
      <p:ext uri="{BB962C8B-B14F-4D97-AF65-F5344CB8AC3E}">
        <p14:creationId xmlns:p14="http://schemas.microsoft.com/office/powerpoint/2010/main" val="13865878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31</a:t>
            </a:fld>
            <a:endParaRPr lang="zh-TW" altLang="en-US"/>
          </a:p>
        </p:txBody>
      </p:sp>
    </p:spTree>
    <p:extLst>
      <p:ext uri="{BB962C8B-B14F-4D97-AF65-F5344CB8AC3E}">
        <p14:creationId xmlns:p14="http://schemas.microsoft.com/office/powerpoint/2010/main" val="33966587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667">
                <a:latin typeface="Calibri" pitchFamily="34" charset="0"/>
                <a:ea typeface="標楷體" pitchFamily="65" charset="-120"/>
                <a:cs typeface="Calibri" pitchFamily="34" charset="0"/>
              </a:defRPr>
            </a:lvl3pPr>
            <a:lvl4pPr>
              <a:defRPr sz="2400">
                <a:latin typeface="Calibri" pitchFamily="34" charset="0"/>
                <a:ea typeface="標楷體" pitchFamily="65" charset="-120"/>
                <a:cs typeface="Calibri" pitchFamily="34" charset="0"/>
              </a:defRPr>
            </a:lvl4pPr>
            <a:lvl5pPr>
              <a:defRPr sz="2133">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384839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267"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3733"/>
            </a:lvl1pPr>
            <a:lvl2pPr marL="457177" indent="0">
              <a:buNone/>
              <a:defRPr sz="1801"/>
            </a:lvl2pPr>
            <a:lvl3pPr marL="914354" indent="0">
              <a:buNone/>
              <a:defRPr sz="1600"/>
            </a:lvl3pPr>
            <a:lvl4pPr marL="1371531" indent="0">
              <a:buNone/>
              <a:defRPr sz="1401"/>
            </a:lvl4pPr>
            <a:lvl5pPr marL="1828709" indent="0">
              <a:buNone/>
              <a:defRPr sz="1401"/>
            </a:lvl5pPr>
            <a:lvl6pPr marL="2285886" indent="0">
              <a:buNone/>
              <a:defRPr sz="1401"/>
            </a:lvl6pPr>
            <a:lvl7pPr marL="2743063" indent="0">
              <a:buNone/>
              <a:defRPr sz="1401"/>
            </a:lvl7pPr>
            <a:lvl8pPr marL="3200240" indent="0">
              <a:buNone/>
              <a:defRPr sz="1401"/>
            </a:lvl8pPr>
            <a:lvl9pPr marL="3657417" indent="0">
              <a:buNone/>
              <a:defRPr sz="140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71603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609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6197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64985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09602" y="1268773"/>
            <a:ext cx="5386917"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4" name="內容版面配置區 3"/>
          <p:cNvSpPr>
            <a:spLocks noGrp="1"/>
          </p:cNvSpPr>
          <p:nvPr>
            <p:ph sz="half" idx="2"/>
          </p:nvPr>
        </p:nvSpPr>
        <p:spPr>
          <a:xfrm>
            <a:off x="609602" y="1908535"/>
            <a:ext cx="5386917"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6193373" y="1268773"/>
            <a:ext cx="5389033"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6" name="內容版面配置區 5"/>
          <p:cNvSpPr>
            <a:spLocks noGrp="1"/>
          </p:cNvSpPr>
          <p:nvPr>
            <p:ph sz="quarter" idx="4"/>
          </p:nvPr>
        </p:nvSpPr>
        <p:spPr>
          <a:xfrm>
            <a:off x="6193373" y="1908535"/>
            <a:ext cx="5389033"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624421" y="144466"/>
            <a:ext cx="10943167" cy="692151"/>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3779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030701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63319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6" y="273049"/>
            <a:ext cx="4011084" cy="1162051"/>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4766734"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609606" y="1435104"/>
            <a:ext cx="4011084" cy="46910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850483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9"/>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177" indent="0">
              <a:buNone/>
              <a:defRPr sz="2800"/>
            </a:lvl2pPr>
            <a:lvl3pPr marL="914354" indent="0">
              <a:buNone/>
              <a:defRPr sz="2400"/>
            </a:lvl3pPr>
            <a:lvl4pPr marL="1371531"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2389717" y="5367341"/>
            <a:ext cx="7315200" cy="8048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25657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73676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533043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609600" y="73028"/>
            <a:ext cx="10972800" cy="1700213"/>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51860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609600" y="1125542"/>
            <a:ext cx="10972800" cy="647700"/>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99221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32"/>
            <a:ext cx="10363200" cy="1470025"/>
          </a:xfrm>
        </p:spPr>
        <p:txBody>
          <a:bodyPr/>
          <a:lstStyle>
            <a:lvl1pPr algn="ctr">
              <a:defRPr sz="5333"/>
            </a:lvl1pPr>
          </a:lstStyle>
          <a:p>
            <a:r>
              <a:rPr lang="en-US" altLang="zh-TW"/>
              <a:t>Click to edit Master title style</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177" indent="0" algn="ctr">
              <a:buNone/>
              <a:defRPr/>
            </a:lvl2pPr>
            <a:lvl3pPr marL="914354" indent="0" algn="ctr">
              <a:buNone/>
              <a:defRPr/>
            </a:lvl3pPr>
            <a:lvl4pPr marL="1371531" indent="0" algn="ctr">
              <a:buNone/>
              <a:defRPr/>
            </a:lvl4pPr>
            <a:lvl5pPr marL="1828709" indent="0" algn="ctr">
              <a:buNone/>
              <a:defRPr/>
            </a:lvl5pPr>
            <a:lvl6pPr marL="2285886" indent="0" algn="ctr">
              <a:buNone/>
              <a:defRPr/>
            </a:lvl6pPr>
            <a:lvl7pPr marL="2743063" indent="0" algn="ctr">
              <a:buNone/>
              <a:defRPr/>
            </a:lvl7pPr>
            <a:lvl8pPr marL="3200240" indent="0" algn="ctr">
              <a:buNone/>
              <a:defRPr/>
            </a:lvl8pPr>
            <a:lvl9pPr marL="3657417"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499471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79865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283935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5634368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8637830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17755558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9984383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388628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0185375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3079622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482784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72736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1049867" y="144466"/>
            <a:ext cx="10517721" cy="69215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609600" y="1125537"/>
            <a:ext cx="10972800"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3" y="6357940"/>
            <a:ext cx="5111751" cy="198437"/>
          </a:xfrm>
          <a:prstGeom prst="rect">
            <a:avLst/>
          </a:prstGeom>
          <a:noFill/>
          <a:ln w="9525">
            <a:noFill/>
            <a:miter lim="800000"/>
            <a:headEnd/>
            <a:tailEnd/>
          </a:ln>
        </p:spPr>
      </p:pic>
      <p:sp>
        <p:nvSpPr>
          <p:cNvPr id="8" name="矩形 7"/>
          <p:cNvSpPr/>
          <p:nvPr/>
        </p:nvSpPr>
        <p:spPr>
          <a:xfrm>
            <a:off x="792808" y="6581777"/>
            <a:ext cx="3574825" cy="276999"/>
          </a:xfrm>
          <a:prstGeom prst="rect">
            <a:avLst/>
          </a:prstGeom>
        </p:spPr>
        <p:txBody>
          <a:bodyPr wrap="none">
            <a:spAutoFit/>
          </a:bodyPr>
          <a:lstStyle/>
          <a:p>
            <a:pPr algn="ctr">
              <a:defRPr/>
            </a:pPr>
            <a:r>
              <a:rPr lang="en-US" sz="12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12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908055"/>
            <a:ext cx="12192000" cy="144463"/>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4106" name="Rectangle 10"/>
          <p:cNvSpPr>
            <a:spLocks noChangeArrowheads="1"/>
          </p:cNvSpPr>
          <p:nvPr userDrawn="1"/>
        </p:nvSpPr>
        <p:spPr bwMode="auto">
          <a:xfrm>
            <a:off x="0" y="6165849"/>
            <a:ext cx="12192000" cy="719139"/>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1043" name="Rectangle 19"/>
          <p:cNvSpPr>
            <a:spLocks noGrp="1" noChangeArrowheads="1"/>
          </p:cNvSpPr>
          <p:nvPr>
            <p:ph type="sldNum" sz="quarter" idx="4"/>
          </p:nvPr>
        </p:nvSpPr>
        <p:spPr bwMode="auto">
          <a:xfrm>
            <a:off x="9108017" y="6524628"/>
            <a:ext cx="28448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14" name="圖片 13"/>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33280" y="124614"/>
            <a:ext cx="916587" cy="672311"/>
          </a:xfrm>
          <a:prstGeom prst="rect">
            <a:avLst/>
          </a:prstGeom>
        </p:spPr>
      </p:pic>
      <p:grpSp>
        <p:nvGrpSpPr>
          <p:cNvPr id="2" name="群組 1"/>
          <p:cNvGrpSpPr/>
          <p:nvPr userDrawn="1"/>
        </p:nvGrpSpPr>
        <p:grpSpPr>
          <a:xfrm>
            <a:off x="86980" y="6239920"/>
            <a:ext cx="3223375" cy="569415"/>
            <a:chOff x="86980" y="6239920"/>
            <a:chExt cx="3223375" cy="569415"/>
          </a:xfrm>
        </p:grpSpPr>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70"/>
              <a:ext cx="2480518" cy="430887"/>
            </a:xfrm>
            <a:prstGeom prst="rect">
              <a:avLst/>
            </a:prstGeom>
          </p:spPr>
          <p:txBody>
            <a:bodyPr wrap="square">
              <a:spAutoFit/>
            </a:bodyPr>
            <a:lstStyle/>
            <a:p>
              <a:pPr algn="ctr">
                <a:spcAft>
                  <a:spcPts val="0"/>
                </a:spcAft>
              </a:pPr>
              <a:r>
                <a:rPr lang="zh-CN" altLang="zh-TW" sz="1200"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rPr>
                <a:t>香港中文大学（深圳）数据科学院</a:t>
              </a:r>
              <a:endParaRPr lang="zh-TW" altLang="zh-TW" sz="1200"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CUHK</a:t>
              </a:r>
              <a:r>
                <a:rPr lang="en-US" altLang="zh-TW" sz="100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hool of Data Science</a:t>
              </a:r>
              <a:endParaRPr lang="zh-TW" altLang="zh-TW" sz="1000" kern="100" dirty="0">
                <a:solidFill>
                  <a:schemeClr val="bg1"/>
                </a:solidFill>
                <a:latin typeface="Calibri" panose="020F0502020204030204" pitchFamily="34" charset="0"/>
                <a:ea typeface="新細明體" panose="02020500000000000000" pitchFamily="18" charset="-120"/>
                <a:cs typeface="Times New Roman" panose="02020603050405020304" pitchFamily="18" charset="0"/>
              </a:endParaRPr>
            </a:p>
          </p:txBody>
        </p:sp>
      </p:grpSp>
    </p:spTree>
    <p:extLst>
      <p:ext uri="{BB962C8B-B14F-4D97-AF65-F5344CB8AC3E}">
        <p14:creationId xmlns:p14="http://schemas.microsoft.com/office/powerpoint/2010/main" val="15662312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dt="0"/>
  <p:txStyles>
    <p:titleStyle>
      <a:lvl1pPr algn="l" rtl="0" eaLnBrk="1" fontAlgn="base" hangingPunct="1">
        <a:spcBef>
          <a:spcPct val="0"/>
        </a:spcBef>
        <a:spcAft>
          <a:spcPct val="0"/>
        </a:spcAft>
        <a:defRPr kumimoji="1" sz="48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p:titleStyle>
    <p:body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4568717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1471" y="1406845"/>
            <a:ext cx="11396871" cy="1882455"/>
          </a:xfrm>
        </p:spPr>
        <p:txBody>
          <a:bodyPr/>
          <a:lstStyle/>
          <a:p>
            <a:r>
              <a:rPr lang="en-US" altLang="zh-CN" sz="3200" dirty="0">
                <a:solidFill>
                  <a:srgbClr val="8C0000"/>
                </a:solidFill>
                <a:latin typeface="Helvetica" panose="020B0500000000000000" pitchFamily="34" charset="0"/>
              </a:rPr>
              <a:t>Research on Automated Code and Test Assertion Generation with LLMs</a:t>
            </a:r>
            <a:br>
              <a:rPr lang="en-US" altLang="zh-CN" sz="3200" dirty="0">
                <a:effectLst>
                  <a:outerShdw blurRad="38100" dist="38100" dir="2700000" algn="tl">
                    <a:srgbClr val="000000">
                      <a:alpha val="43137"/>
                    </a:srgbClr>
                  </a:outerShdw>
                </a:effectLst>
              </a:rPr>
            </a:br>
            <a:br>
              <a:rPr lang="en-US" altLang="zh-CN" sz="3200" dirty="0">
                <a:effectLst>
                  <a:outerShdw blurRad="38100" dist="38100" dir="2700000" algn="tl">
                    <a:srgbClr val="000000">
                      <a:alpha val="43137"/>
                    </a:srgbClr>
                  </a:outerShdw>
                </a:effectLst>
              </a:rPr>
            </a:br>
            <a:r>
              <a:rPr lang="en-US" altLang="zh-CN" sz="2400" b="0" dirty="0">
                <a:effectLst>
                  <a:outerShdw blurRad="38100" dist="38100" dir="2700000" algn="tl">
                    <a:srgbClr val="000000">
                      <a:alpha val="43137"/>
                    </a:srgbClr>
                  </a:outerShdw>
                </a:effectLst>
              </a:rPr>
              <a:t>2026.1.22</a:t>
            </a:r>
            <a:endParaRPr lang="zh-TW" altLang="en-US" sz="1800" b="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828800" y="3855632"/>
            <a:ext cx="8534400" cy="1882455"/>
          </a:xfrm>
        </p:spPr>
        <p:txBody>
          <a:bodyPr/>
          <a:lstStyle/>
          <a:p>
            <a:r>
              <a:rPr lang="en-US" altLang="zh-TW" sz="3200" dirty="0">
                <a:effectLst>
                  <a:outerShdw blurRad="38100" dist="38100" dir="2700000" algn="tl">
                    <a:srgbClr val="000000">
                      <a:alpha val="43137"/>
                    </a:srgbClr>
                  </a:outerShdw>
                </a:effectLst>
              </a:rPr>
              <a:t>J</a:t>
            </a:r>
            <a:r>
              <a:rPr lang="en-US" altLang="zh-CN" sz="3200" dirty="0">
                <a:effectLst>
                  <a:outerShdw blurRad="38100" dist="38100" dir="2700000" algn="tl">
                    <a:srgbClr val="000000">
                      <a:alpha val="43137"/>
                    </a:srgbClr>
                  </a:outerShdw>
                </a:effectLst>
              </a:rPr>
              <a:t>iaming Huang</a:t>
            </a:r>
            <a:endParaRPr lang="en-US" altLang="zh-TW" sz="3200" dirty="0">
              <a:effectLst>
                <a:outerShdw blurRad="38100" dist="38100" dir="2700000" algn="tl">
                  <a:srgbClr val="000000">
                    <a:alpha val="43137"/>
                  </a:srgbClr>
                </a:outerShdw>
              </a:effectLst>
            </a:endParaRPr>
          </a:p>
          <a:p>
            <a:r>
              <a:rPr lang="en-US" altLang="zh-TW" sz="3200" dirty="0"/>
              <a:t>School of </a:t>
            </a:r>
            <a:r>
              <a:rPr lang="en-US" altLang="zh-CN" sz="3200" dirty="0"/>
              <a:t>Data </a:t>
            </a:r>
            <a:r>
              <a:rPr lang="en-US" altLang="zh-TW" sz="3200" dirty="0"/>
              <a:t>Science</a:t>
            </a:r>
          </a:p>
          <a:p>
            <a:r>
              <a:rPr lang="en-US" altLang="zh-TW" sz="3200" dirty="0"/>
              <a:t>Chinese University of Hong Kong, Shenzhen</a:t>
            </a:r>
          </a:p>
        </p:txBody>
      </p:sp>
    </p:spTree>
    <p:extLst>
      <p:ext uri="{BB962C8B-B14F-4D97-AF65-F5344CB8AC3E}">
        <p14:creationId xmlns:p14="http://schemas.microsoft.com/office/powerpoint/2010/main" val="406468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p:cNvSpPr>
            <a:spLocks noGrp="1"/>
          </p:cNvSpPr>
          <p:nvPr>
            <p:ph idx="1"/>
          </p:nvPr>
        </p:nvSpPr>
        <p:spPr>
          <a:xfrm>
            <a:off x="1296609" y="1442206"/>
            <a:ext cx="10270977" cy="3973588"/>
          </a:xfrm>
        </p:spPr>
        <p:txBody>
          <a:bodyPr>
            <a:noAutofit/>
          </a:bodyPr>
          <a:lstStyle/>
          <a:p>
            <a:r>
              <a:rPr lang="en-US" altLang="zh-CN" sz="2933" dirty="0">
                <a:latin typeface="Times New Roman" panose="02020603050405020304" pitchFamily="18" charset="0"/>
                <a:cs typeface="Times New Roman" panose="02020603050405020304" pitchFamily="18" charset="0"/>
              </a:rPr>
              <a:t>Introduction</a:t>
            </a:r>
            <a:endParaRPr lang="en-US" altLang="zh-TW" sz="2933" dirty="0">
              <a:latin typeface="Times New Roman" panose="02020603050405020304" pitchFamily="18" charset="0"/>
              <a:cs typeface="Times New Roman" panose="02020603050405020304" pitchFamily="18" charset="0"/>
            </a:endParaRPr>
          </a:p>
          <a:p>
            <a:r>
              <a:rPr lang="en-US" altLang="zh-CN" sz="2933" dirty="0">
                <a:latin typeface="Times New Roman" panose="02020603050405020304" pitchFamily="18" charset="0"/>
                <a:cs typeface="Times New Roman" panose="02020603050405020304" pitchFamily="18" charset="0"/>
              </a:rPr>
              <a:t>Background &amp; Motivation</a:t>
            </a:r>
          </a:p>
          <a:p>
            <a:r>
              <a:rPr lang="en-US" altLang="zh-CN" sz="2933" dirty="0">
                <a:latin typeface="Times New Roman" panose="02020603050405020304" pitchFamily="18" charset="0"/>
                <a:cs typeface="Times New Roman" panose="02020603050405020304" pitchFamily="18" charset="0"/>
              </a:rPr>
              <a:t>Proposed Methods &amp; Performance Evaluation</a:t>
            </a:r>
          </a:p>
          <a:p>
            <a:r>
              <a:rPr lang="en-US" altLang="zh-CN" sz="2933" dirty="0">
                <a:latin typeface="Times New Roman" panose="02020603050405020304" pitchFamily="18" charset="0"/>
                <a:cs typeface="Times New Roman" panose="02020603050405020304" pitchFamily="18" charset="0"/>
              </a:rPr>
              <a:t>Summary </a:t>
            </a:r>
          </a:p>
          <a:p>
            <a:r>
              <a:rPr lang="en-US" altLang="zh-CN" sz="2933" dirty="0">
                <a:latin typeface="Times New Roman" panose="02020603050405020304" pitchFamily="18" charset="0"/>
                <a:cs typeface="Times New Roman" panose="02020603050405020304" pitchFamily="18" charset="0"/>
              </a:rPr>
              <a:t>Q&amp;A</a:t>
            </a:r>
          </a:p>
        </p:txBody>
      </p:sp>
      <p:sp>
        <p:nvSpPr>
          <p:cNvPr id="5" name="灯片编号占位符 1">
            <a:extLst>
              <a:ext uri="{FF2B5EF4-FFF2-40B4-BE49-F238E27FC236}">
                <a16:creationId xmlns:a16="http://schemas.microsoft.com/office/drawing/2014/main" id="{C8F1849A-008E-6EF5-AB10-F46E38150EF0}"/>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a:t>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B3342-1EDF-67AE-95B2-8815221F4A2B}"/>
            </a:ext>
          </a:extLst>
        </p:cNvPr>
        <p:cNvGrpSpPr/>
        <p:nvPr/>
      </p:nvGrpSpPr>
      <p:grpSpPr>
        <a:xfrm>
          <a:off x="0" y="0"/>
          <a:ext cx="0" cy="0"/>
          <a:chOff x="0" y="0"/>
          <a:chExt cx="0" cy="0"/>
        </a:xfrm>
      </p:grpSpPr>
      <p:sp>
        <p:nvSpPr>
          <p:cNvPr id="5" name="文字版面配置區 4">
            <a:extLst>
              <a:ext uri="{FF2B5EF4-FFF2-40B4-BE49-F238E27FC236}">
                <a16:creationId xmlns:a16="http://schemas.microsoft.com/office/drawing/2014/main" id="{63E4979C-5C89-F917-395D-E5F0A96C4C47}"/>
              </a:ext>
            </a:extLst>
          </p:cNvPr>
          <p:cNvSpPr>
            <a:spLocks noGrp="1"/>
          </p:cNvSpPr>
          <p:nvPr>
            <p:ph type="body" idx="1"/>
          </p:nvPr>
        </p:nvSpPr>
        <p:spPr>
          <a:xfrm>
            <a:off x="1574283" y="1459233"/>
            <a:ext cx="9332415" cy="3145817"/>
          </a:xfrm>
        </p:spPr>
        <p:txBody>
          <a:bodyPr>
            <a:noAutofit/>
          </a:bodyPr>
          <a:lstStyle/>
          <a:p>
            <a:r>
              <a:rPr lang="en-US" altLang="zh-CN" sz="2800" dirty="0">
                <a:solidFill>
                  <a:srgbClr val="FF0000"/>
                </a:solidFill>
                <a:latin typeface="Times New Roman" panose="02020603050405020304" pitchFamily="18" charset="0"/>
                <a:cs typeface="Times New Roman" panose="02020603050405020304" pitchFamily="18" charset="0"/>
              </a:rPr>
              <a:t>Introduction</a:t>
            </a:r>
          </a:p>
          <a:p>
            <a:r>
              <a:rPr lang="en-US" altLang="zh-CN" sz="2800" dirty="0">
                <a:latin typeface="Times New Roman" panose="02020603050405020304" pitchFamily="18" charset="0"/>
                <a:cs typeface="Times New Roman" panose="02020603050405020304" pitchFamily="18" charset="0"/>
              </a:rPr>
              <a:t>Background &amp; Motivation</a:t>
            </a:r>
          </a:p>
          <a:p>
            <a:r>
              <a:rPr lang="en-US" altLang="zh-CN" sz="2800" dirty="0">
                <a:latin typeface="Times New Roman" panose="02020603050405020304" pitchFamily="18" charset="0"/>
                <a:cs typeface="Times New Roman" panose="02020603050405020304" pitchFamily="18" charset="0"/>
              </a:rPr>
              <a:t>Proposed Methods &amp; Performance Evaluation</a:t>
            </a:r>
          </a:p>
          <a:p>
            <a:r>
              <a:rPr lang="en-US" altLang="zh-CN" sz="2800" dirty="0">
                <a:latin typeface="Times New Roman" panose="02020603050405020304" pitchFamily="18" charset="0"/>
                <a:cs typeface="Times New Roman" panose="02020603050405020304" pitchFamily="18" charset="0"/>
              </a:rPr>
              <a:t>Summary</a:t>
            </a:r>
          </a:p>
          <a:p>
            <a:r>
              <a:rPr lang="en-US" altLang="zh-CN" sz="2800" dirty="0">
                <a:latin typeface="Times New Roman" panose="02020603050405020304" pitchFamily="18" charset="0"/>
                <a:cs typeface="Times New Roman" panose="02020603050405020304" pitchFamily="18" charset="0"/>
              </a:rPr>
              <a:t>Q&amp;A</a:t>
            </a:r>
          </a:p>
        </p:txBody>
      </p:sp>
      <p:sp>
        <p:nvSpPr>
          <p:cNvPr id="2" name="灯片编号占位符 1">
            <a:extLst>
              <a:ext uri="{FF2B5EF4-FFF2-40B4-BE49-F238E27FC236}">
                <a16:creationId xmlns:a16="http://schemas.microsoft.com/office/drawing/2014/main" id="{C5479E45-5BCC-9E8D-1007-3EEF500D9ABE}"/>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3</a:t>
            </a:fld>
            <a:endParaRPr lang="zh-TW" altLang="en-US"/>
          </a:p>
        </p:txBody>
      </p:sp>
    </p:spTree>
    <p:extLst>
      <p:ext uri="{BB962C8B-B14F-4D97-AF65-F5344CB8AC3E}">
        <p14:creationId xmlns:p14="http://schemas.microsoft.com/office/powerpoint/2010/main" val="820729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DE4DB-39D4-0807-1C28-506CA34938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AE1BDD-FA4F-7DB1-26CC-DB308ED4C324}"/>
              </a:ext>
            </a:extLst>
          </p:cNvPr>
          <p:cNvSpPr>
            <a:spLocks noGrp="1"/>
          </p:cNvSpPr>
          <p:nvPr>
            <p:ph type="title"/>
          </p:nvPr>
        </p:nvSpPr>
        <p:spPr>
          <a:xfrm>
            <a:off x="1088571" y="144466"/>
            <a:ext cx="10722429" cy="692151"/>
          </a:xfrm>
        </p:spPr>
        <p:txBody>
          <a:bodyPr/>
          <a:lstStyle/>
          <a:p>
            <a:r>
              <a:rPr lang="en-US" altLang="zh-CN" dirty="0">
                <a:latin typeface="Times New Roman" panose="02020603050405020304" pitchFamily="18" charset="0"/>
                <a:cs typeface="Times New Roman" panose="02020603050405020304" pitchFamily="18" charset="0"/>
              </a:rPr>
              <a:t>Introduction – </a:t>
            </a:r>
            <a:r>
              <a:rPr lang="en-US" dirty="0">
                <a:latin typeface="Times New Roman" panose="02020603050405020304" pitchFamily="18" charset="0"/>
                <a:cs typeface="Times New Roman" panose="02020603050405020304" pitchFamily="18" charset="0"/>
              </a:rPr>
              <a:t>What is Unit Test </a:t>
            </a:r>
            <a:r>
              <a:rPr lang="en-US" sz="2400" dirty="0">
                <a:latin typeface="Times New Roman" panose="02020603050405020304" pitchFamily="18" charset="0"/>
                <a:cs typeface="Times New Roman" panose="02020603050405020304" pitchFamily="18" charset="0"/>
              </a:rPr>
              <a:t>(1/3)</a:t>
            </a:r>
            <a:endParaRPr lang="en-US"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AD0C8D3A-602A-07DD-2206-5671BC0D537D}"/>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4</a:t>
            </a:fld>
            <a:endParaRPr lang="zh-TW" altLang="en-US"/>
          </a:p>
        </p:txBody>
      </p:sp>
      <p:sp>
        <p:nvSpPr>
          <p:cNvPr id="6" name="文本框 5">
            <a:extLst>
              <a:ext uri="{FF2B5EF4-FFF2-40B4-BE49-F238E27FC236}">
                <a16:creationId xmlns:a16="http://schemas.microsoft.com/office/drawing/2014/main" id="{F534754B-9498-675F-1AE3-F8743123D203}"/>
              </a:ext>
            </a:extLst>
          </p:cNvPr>
          <p:cNvSpPr txBox="1"/>
          <p:nvPr/>
        </p:nvSpPr>
        <p:spPr>
          <a:xfrm>
            <a:off x="425112" y="1287137"/>
            <a:ext cx="5436014" cy="3908762"/>
          </a:xfrm>
          <a:prstGeom prst="rect">
            <a:avLst/>
          </a:prstGeom>
          <a:noFill/>
        </p:spPr>
        <p:txBody>
          <a:bodyPr wrap="square" rtlCol="0" anchor="ctr" anchorCtr="1">
            <a:spAutoFit/>
          </a:bodyPr>
          <a:lstStyle/>
          <a:p>
            <a:r>
              <a:rPr lang="en-US" altLang="zh-CN" sz="2400" dirty="0"/>
              <a:t>In different programming languages, the smallest units of the system may differ. </a:t>
            </a:r>
          </a:p>
          <a:p>
            <a:pPr marL="342900" indent="-342900">
              <a:buFont typeface="Arial" panose="020B0604020202020204" pitchFamily="34" charset="0"/>
              <a:buChar char="•"/>
            </a:pPr>
            <a:r>
              <a:rPr lang="en-US" altLang="zh-CN" sz="2000" dirty="0"/>
              <a:t>In procedural programming languages, the smallest unit is a </a:t>
            </a:r>
            <a:r>
              <a:rPr lang="en-US" altLang="zh-CN" sz="2000" b="1" dirty="0"/>
              <a:t>function</a:t>
            </a:r>
            <a:r>
              <a:rPr lang="en-US" altLang="zh-CN" sz="2000" dirty="0"/>
              <a:t>. </a:t>
            </a:r>
          </a:p>
          <a:p>
            <a:pPr marL="342900" indent="-342900">
              <a:buFont typeface="Arial" panose="020B0604020202020204" pitchFamily="34" charset="0"/>
              <a:buChar char="•"/>
            </a:pPr>
            <a:r>
              <a:rPr lang="en-US" altLang="zh-CN" sz="2000" dirty="0"/>
              <a:t>In object-oriented programming languages, the smallest unit is a </a:t>
            </a:r>
            <a:r>
              <a:rPr lang="en-US" altLang="zh-CN" sz="2000" b="1" dirty="0"/>
              <a:t>class</a:t>
            </a:r>
            <a:r>
              <a:rPr lang="en-US" altLang="zh-CN" sz="2000" dirty="0"/>
              <a:t>.</a:t>
            </a:r>
          </a:p>
          <a:p>
            <a:endParaRPr kumimoji="1" lang="en-US" altLang="zh-CN" sz="2400" dirty="0">
              <a:ea typeface="標楷體" pitchFamily="65" charset="-120"/>
              <a:cs typeface="Calibri" pitchFamily="34" charset="0"/>
            </a:endParaRPr>
          </a:p>
          <a:p>
            <a:r>
              <a:rPr lang="en-US" altLang="zh-CN" sz="2400" dirty="0"/>
              <a:t>A unit test case verifies the correctness of the smallest unit of the system under testing.</a:t>
            </a:r>
            <a:endParaRPr kumimoji="1" lang="en-US" altLang="zh-CN" sz="2400" dirty="0">
              <a:ea typeface="標楷體" pitchFamily="65" charset="-120"/>
              <a:cs typeface="Calibri" pitchFamily="34" charset="0"/>
            </a:endParaRPr>
          </a:p>
        </p:txBody>
      </p:sp>
      <p:pic>
        <p:nvPicPr>
          <p:cNvPr id="3" name="Picture 2">
            <a:extLst>
              <a:ext uri="{FF2B5EF4-FFF2-40B4-BE49-F238E27FC236}">
                <a16:creationId xmlns:a16="http://schemas.microsoft.com/office/drawing/2014/main" id="{E37FF1DB-C10F-6EF1-30C4-87BA75FE9D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0876" y="1790300"/>
            <a:ext cx="4416015" cy="3636933"/>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D538929E-375E-D7C1-60F2-543C30A4E5F7}"/>
              </a:ext>
            </a:extLst>
          </p:cNvPr>
          <p:cNvSpPr txBox="1"/>
          <p:nvPr/>
        </p:nvSpPr>
        <p:spPr>
          <a:xfrm>
            <a:off x="7032739" y="5485113"/>
            <a:ext cx="2821606" cy="307777"/>
          </a:xfrm>
          <a:prstGeom prst="rect">
            <a:avLst/>
          </a:prstGeom>
          <a:noFill/>
        </p:spPr>
        <p:txBody>
          <a:bodyPr wrap="none" rtlCol="0">
            <a:spAutoFit/>
          </a:bodyPr>
          <a:lstStyle/>
          <a:p>
            <a:r>
              <a:rPr kumimoji="1" lang="en-US" altLang="zh-CN" sz="1400" dirty="0"/>
              <a:t>[</a:t>
            </a:r>
            <a:r>
              <a:rPr lang="en-US" altLang="zh-CN" sz="1400" b="0" i="0" dirty="0">
                <a:solidFill>
                  <a:srgbClr val="191919"/>
                </a:solidFill>
                <a:effectLst/>
                <a:latin typeface="Arial" panose="020B0604020202020204" pitchFamily="34" charset="0"/>
              </a:rPr>
              <a:t>Software Engineering at Google</a:t>
            </a:r>
            <a:r>
              <a:rPr kumimoji="1" lang="en-US" altLang="zh-CN" sz="1400" dirty="0"/>
              <a:t>]</a:t>
            </a:r>
            <a:endParaRPr kumimoji="1" lang="zh-CN" altLang="en-US" sz="1400" dirty="0"/>
          </a:p>
        </p:txBody>
      </p:sp>
    </p:spTree>
    <p:extLst>
      <p:ext uri="{BB962C8B-B14F-4D97-AF65-F5344CB8AC3E}">
        <p14:creationId xmlns:p14="http://schemas.microsoft.com/office/powerpoint/2010/main" val="13894357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dirty="0">
                <a:latin typeface="Times New Roman" panose="02020603050405020304" pitchFamily="18" charset="0"/>
                <a:cs typeface="Times New Roman" panose="02020603050405020304" pitchFamily="18" charset="0"/>
              </a:rPr>
              <a:t>Introduction – Importance</a:t>
            </a:r>
            <a:r>
              <a:rPr lang="en-US"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(2/3)</a:t>
            </a:r>
            <a:endParaRPr lang="en-US"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A4D8AE41-E9DB-DC4B-0813-8BAB041C6816}"/>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5</a:t>
            </a:fld>
            <a:endParaRPr lang="zh-TW" altLang="en-US"/>
          </a:p>
        </p:txBody>
      </p:sp>
      <p:sp>
        <p:nvSpPr>
          <p:cNvPr id="6" name="文本框 5">
            <a:extLst>
              <a:ext uri="{FF2B5EF4-FFF2-40B4-BE49-F238E27FC236}">
                <a16:creationId xmlns:a16="http://schemas.microsoft.com/office/drawing/2014/main" id="{A1CAC2FA-0CB8-3FD6-7AEF-602FABD403DE}"/>
              </a:ext>
            </a:extLst>
          </p:cNvPr>
          <p:cNvSpPr txBox="1"/>
          <p:nvPr/>
        </p:nvSpPr>
        <p:spPr>
          <a:xfrm>
            <a:off x="228599" y="1871875"/>
            <a:ext cx="4557713" cy="3114250"/>
          </a:xfrm>
          <a:prstGeom prst="rect">
            <a:avLst/>
          </a:prstGeom>
          <a:noFill/>
        </p:spPr>
        <p:txBody>
          <a:bodyPr wrap="square" rtlCol="0" anchor="ctr" anchorCtr="1">
            <a:spAutoFit/>
          </a:bodyPr>
          <a:lstStyle/>
          <a:p>
            <a:pPr>
              <a:lnSpc>
                <a:spcPct val="114000"/>
              </a:lnSpc>
              <a:spcBef>
                <a:spcPts val="1000"/>
              </a:spcBef>
            </a:pPr>
            <a:r>
              <a:rPr kumimoji="1" lang="en-US" altLang="zh-CN" sz="2400" dirty="0"/>
              <a:t>The benefits of </a:t>
            </a:r>
            <a:r>
              <a:rPr kumimoji="1" lang="en-US" altLang="zh-CN" sz="2400" b="1" dirty="0"/>
              <a:t>automated code generation</a:t>
            </a:r>
            <a:r>
              <a:rPr kumimoji="1" lang="en-US" altLang="zh-CN" sz="2400" dirty="0"/>
              <a:t> are shown as follows:</a:t>
            </a:r>
            <a:endParaRPr lang="en-US" altLang="zh-CN" sz="2400" dirty="0">
              <a:solidFill>
                <a:prstClr val="black"/>
              </a:solidFill>
            </a:endParaRPr>
          </a:p>
          <a:p>
            <a:pPr marL="228600" lvl="0" indent="-228600">
              <a:lnSpc>
                <a:spcPct val="114000"/>
              </a:lnSpc>
              <a:spcBef>
                <a:spcPts val="1000"/>
              </a:spcBef>
              <a:buFont typeface="Arial" panose="020B0604020202020204" pitchFamily="34" charset="0"/>
              <a:buChar char="•"/>
            </a:pPr>
            <a:r>
              <a:rPr lang="en-US" altLang="zh-CN" sz="2000" dirty="0">
                <a:solidFill>
                  <a:prstClr val="black"/>
                </a:solidFill>
              </a:rPr>
              <a:t>Improve development efficiency</a:t>
            </a:r>
          </a:p>
          <a:p>
            <a:pPr marL="228600" lvl="0" indent="-228600">
              <a:lnSpc>
                <a:spcPct val="114000"/>
              </a:lnSpc>
              <a:spcBef>
                <a:spcPts val="1000"/>
              </a:spcBef>
              <a:buFont typeface="Arial" panose="020B0604020202020204" pitchFamily="34" charset="0"/>
              <a:buChar char="•"/>
            </a:pPr>
            <a:r>
              <a:rPr lang="en-US" altLang="zh-CN" sz="2000" dirty="0">
                <a:solidFill>
                  <a:schemeClr val="tx1">
                    <a:lumMod val="85000"/>
                    <a:lumOff val="15000"/>
                  </a:schemeClr>
                </a:solidFill>
              </a:rPr>
              <a:t>Improve code consistency and quality</a:t>
            </a:r>
          </a:p>
          <a:p>
            <a:pPr marL="228600" lvl="0" indent="-228600">
              <a:lnSpc>
                <a:spcPct val="114000"/>
              </a:lnSpc>
              <a:spcBef>
                <a:spcPts val="1000"/>
              </a:spcBef>
              <a:buFont typeface="Arial" panose="020B0604020202020204" pitchFamily="34" charset="0"/>
              <a:buChar char="•"/>
            </a:pPr>
            <a:r>
              <a:rPr lang="en-US" altLang="zh-CN" sz="2000" dirty="0">
                <a:solidFill>
                  <a:schemeClr val="tx1">
                    <a:lumMod val="85000"/>
                    <a:lumOff val="15000"/>
                  </a:schemeClr>
                </a:solidFill>
              </a:rPr>
              <a:t>Reduce the manual mistakes</a:t>
            </a:r>
          </a:p>
        </p:txBody>
      </p:sp>
      <p:pic>
        <p:nvPicPr>
          <p:cNvPr id="11" name="图片 10" descr="图片包含 应用程序&#10;&#10;AI 生成的内容可能不正确。">
            <a:extLst>
              <a:ext uri="{FF2B5EF4-FFF2-40B4-BE49-F238E27FC236}">
                <a16:creationId xmlns:a16="http://schemas.microsoft.com/office/drawing/2014/main" id="{67D9228D-CF29-3C86-F422-01D6A74AA9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02767" y="1834180"/>
            <a:ext cx="4867835" cy="3587674"/>
          </a:xfrm>
          <a:prstGeom prst="rect">
            <a:avLst/>
          </a:prstGeom>
        </p:spPr>
      </p:pic>
    </p:spTree>
    <p:extLst>
      <p:ext uri="{BB962C8B-B14F-4D97-AF65-F5344CB8AC3E}">
        <p14:creationId xmlns:p14="http://schemas.microsoft.com/office/powerpoint/2010/main" val="255285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DF6C9-E5D3-5C26-BF5D-FB3FE93D96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B2E406-9541-7AE1-E2C9-44B97BD0AD96}"/>
              </a:ext>
            </a:extLst>
          </p:cNvPr>
          <p:cNvSpPr>
            <a:spLocks noGrp="1"/>
          </p:cNvSpPr>
          <p:nvPr>
            <p:ph type="title"/>
          </p:nvPr>
        </p:nvSpPr>
        <p:spPr>
          <a:xfrm>
            <a:off x="1088571" y="144466"/>
            <a:ext cx="10722429" cy="692151"/>
          </a:xfrm>
        </p:spPr>
        <p:txBody>
          <a:bodyPr/>
          <a:lstStyle/>
          <a:p>
            <a:r>
              <a:rPr lang="en-US" altLang="zh-CN" dirty="0">
                <a:latin typeface="Times New Roman" panose="02020603050405020304" pitchFamily="18" charset="0"/>
                <a:cs typeface="Times New Roman" panose="02020603050405020304" pitchFamily="18" charset="0"/>
              </a:rPr>
              <a:t>Introduction – </a:t>
            </a:r>
            <a:r>
              <a:rPr lang="en-US" dirty="0">
                <a:latin typeface="Times New Roman" panose="02020603050405020304" pitchFamily="18" charset="0"/>
                <a:cs typeface="Times New Roman" panose="02020603050405020304" pitchFamily="18" charset="0"/>
              </a:rPr>
              <a:t>Importance </a:t>
            </a:r>
            <a:r>
              <a:rPr lang="en-US" sz="2400" dirty="0">
                <a:latin typeface="Times New Roman" panose="02020603050405020304" pitchFamily="18" charset="0"/>
                <a:cs typeface="Times New Roman" panose="02020603050405020304" pitchFamily="18" charset="0"/>
              </a:rPr>
              <a:t>(3/3)</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9BD7525-6F45-1ADC-F835-98B743A68E07}"/>
              </a:ext>
            </a:extLst>
          </p:cNvPr>
          <p:cNvSpPr>
            <a:spLocks noGrp="1"/>
          </p:cNvSpPr>
          <p:nvPr>
            <p:ph idx="1"/>
          </p:nvPr>
        </p:nvSpPr>
        <p:spPr>
          <a:xfrm>
            <a:off x="609600" y="1238493"/>
            <a:ext cx="10972800" cy="4581393"/>
          </a:xfrm>
        </p:spPr>
        <p:txBody>
          <a:bodyPr/>
          <a:lstStyle/>
          <a:p>
            <a:pPr marL="228600" lvl="0" indent="-228600">
              <a:lnSpc>
                <a:spcPct val="114000"/>
              </a:lnSpc>
              <a:spcBef>
                <a:spcPts val="1000"/>
              </a:spcBef>
              <a:buFont typeface="Arial" panose="020B0604020202020204" pitchFamily="34" charset="0"/>
              <a:buChar char="•"/>
            </a:pPr>
            <a:r>
              <a:rPr lang="en-US" altLang="zh-CN" sz="2400" dirty="0"/>
              <a:t>Improve testing efficiency</a:t>
            </a:r>
          </a:p>
          <a:p>
            <a:pPr marL="228600" lvl="0" indent="-228600">
              <a:lnSpc>
                <a:spcPct val="114000"/>
              </a:lnSpc>
              <a:spcBef>
                <a:spcPts val="1000"/>
              </a:spcBef>
              <a:buFont typeface="Arial" panose="020B0604020202020204" pitchFamily="34" charset="0"/>
              <a:buChar char="•"/>
            </a:pPr>
            <a:endParaRPr lang="en-US" altLang="zh-CN" sz="2400" dirty="0">
              <a:solidFill>
                <a:schemeClr val="tx1">
                  <a:lumMod val="85000"/>
                  <a:lumOff val="15000"/>
                </a:schemeClr>
              </a:solidFill>
            </a:endParaRPr>
          </a:p>
          <a:p>
            <a:pPr marL="228600" lvl="0" indent="-228600">
              <a:lnSpc>
                <a:spcPct val="114000"/>
              </a:lnSpc>
              <a:spcBef>
                <a:spcPts val="1000"/>
              </a:spcBef>
              <a:buFont typeface="Arial" panose="020B0604020202020204" pitchFamily="34" charset="0"/>
              <a:buChar char="•"/>
            </a:pPr>
            <a:r>
              <a:rPr lang="en-US" altLang="zh-CN" sz="2400" dirty="0">
                <a:solidFill>
                  <a:schemeClr val="tx1">
                    <a:lumMod val="85000"/>
                    <a:lumOff val="15000"/>
                  </a:schemeClr>
                </a:solidFill>
              </a:rPr>
              <a:t>Reduce the knowledge requirement </a:t>
            </a:r>
          </a:p>
          <a:p>
            <a:pPr marL="0" lvl="0" indent="0">
              <a:lnSpc>
                <a:spcPct val="114000"/>
              </a:lnSpc>
              <a:spcBef>
                <a:spcPts val="1000"/>
              </a:spcBef>
              <a:buNone/>
            </a:pPr>
            <a:r>
              <a:rPr lang="en-US" altLang="zh-CN" sz="2400" dirty="0">
                <a:solidFill>
                  <a:schemeClr val="tx1">
                    <a:lumMod val="85000"/>
                    <a:lumOff val="15000"/>
                  </a:schemeClr>
                </a:solidFill>
              </a:rPr>
              <a:t>   and manual mistakes</a:t>
            </a:r>
          </a:p>
          <a:p>
            <a:pPr marL="228600" lvl="0" indent="-228600">
              <a:lnSpc>
                <a:spcPct val="114000"/>
              </a:lnSpc>
              <a:spcBef>
                <a:spcPts val="1000"/>
              </a:spcBef>
              <a:buFont typeface="Arial" panose="020B0604020202020204" pitchFamily="34" charset="0"/>
              <a:buChar char="•"/>
            </a:pPr>
            <a:endParaRPr lang="en-US" altLang="zh-CN" sz="2400" dirty="0">
              <a:solidFill>
                <a:schemeClr val="tx1">
                  <a:lumMod val="85000"/>
                  <a:lumOff val="15000"/>
                </a:schemeClr>
              </a:solidFill>
            </a:endParaRPr>
          </a:p>
          <a:p>
            <a:pPr marL="228600" lvl="0" indent="-228600">
              <a:lnSpc>
                <a:spcPct val="114000"/>
              </a:lnSpc>
              <a:spcBef>
                <a:spcPts val="1000"/>
              </a:spcBef>
              <a:buFont typeface="Arial" panose="020B0604020202020204" pitchFamily="34" charset="0"/>
              <a:buChar char="•"/>
            </a:pPr>
            <a:r>
              <a:rPr lang="en-US" altLang="zh-CN" sz="2400" dirty="0">
                <a:solidFill>
                  <a:schemeClr val="tx1">
                    <a:lumMod val="85000"/>
                    <a:lumOff val="15000"/>
                  </a:schemeClr>
                </a:solidFill>
              </a:rPr>
              <a:t>Improve the quality of the system </a:t>
            </a:r>
          </a:p>
          <a:p>
            <a:pPr marL="0" lvl="0" indent="0">
              <a:lnSpc>
                <a:spcPct val="114000"/>
              </a:lnSpc>
              <a:spcBef>
                <a:spcPts val="1000"/>
              </a:spcBef>
              <a:buNone/>
            </a:pPr>
            <a:r>
              <a:rPr lang="en-US" altLang="zh-CN" sz="2400" dirty="0">
                <a:solidFill>
                  <a:schemeClr val="tx1">
                    <a:lumMod val="85000"/>
                    <a:lumOff val="15000"/>
                  </a:schemeClr>
                </a:solidFill>
              </a:rPr>
              <a:t>   under testing</a:t>
            </a:r>
          </a:p>
        </p:txBody>
      </p:sp>
      <p:sp>
        <p:nvSpPr>
          <p:cNvPr id="4" name="灯片编号占位符 1">
            <a:extLst>
              <a:ext uri="{FF2B5EF4-FFF2-40B4-BE49-F238E27FC236}">
                <a16:creationId xmlns:a16="http://schemas.microsoft.com/office/drawing/2014/main" id="{35F428F4-FEF6-F6C1-946A-45FFB926EABA}"/>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6</a:t>
            </a:fld>
            <a:endParaRPr lang="zh-TW" altLang="en-US"/>
          </a:p>
        </p:txBody>
      </p:sp>
      <p:pic>
        <p:nvPicPr>
          <p:cNvPr id="6" name="图片 5" descr="图形用户界面, 应用程序, 网站&#10;&#10;AI 生成的内容可能不正确。">
            <a:extLst>
              <a:ext uri="{FF2B5EF4-FFF2-40B4-BE49-F238E27FC236}">
                <a16:creationId xmlns:a16="http://schemas.microsoft.com/office/drawing/2014/main" id="{F65639F6-75A0-8820-1C2A-6CB5B3044B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89828" y="1238493"/>
            <a:ext cx="6021172" cy="3340861"/>
          </a:xfrm>
          <a:prstGeom prst="rect">
            <a:avLst/>
          </a:prstGeom>
        </p:spPr>
      </p:pic>
    </p:spTree>
    <p:extLst>
      <p:ext uri="{BB962C8B-B14F-4D97-AF65-F5344CB8AC3E}">
        <p14:creationId xmlns:p14="http://schemas.microsoft.com/office/powerpoint/2010/main" val="2624071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630E5-5533-6FC3-6F53-6A999327539C}"/>
            </a:ext>
          </a:extLst>
        </p:cNvPr>
        <p:cNvGrpSpPr/>
        <p:nvPr/>
      </p:nvGrpSpPr>
      <p:grpSpPr>
        <a:xfrm>
          <a:off x="0" y="0"/>
          <a:ext cx="0" cy="0"/>
          <a:chOff x="0" y="0"/>
          <a:chExt cx="0" cy="0"/>
        </a:xfrm>
      </p:grpSpPr>
      <p:sp>
        <p:nvSpPr>
          <p:cNvPr id="5" name="文字版面配置區 4">
            <a:extLst>
              <a:ext uri="{FF2B5EF4-FFF2-40B4-BE49-F238E27FC236}">
                <a16:creationId xmlns:a16="http://schemas.microsoft.com/office/drawing/2014/main" id="{5B910F9E-DE78-2285-B026-C528ED58E38C}"/>
              </a:ext>
            </a:extLst>
          </p:cNvPr>
          <p:cNvSpPr>
            <a:spLocks noGrp="1"/>
          </p:cNvSpPr>
          <p:nvPr>
            <p:ph type="body" idx="1"/>
          </p:nvPr>
        </p:nvSpPr>
        <p:spPr>
          <a:xfrm>
            <a:off x="1574283" y="1459233"/>
            <a:ext cx="9332415" cy="3145817"/>
          </a:xfrm>
        </p:spPr>
        <p:txBody>
          <a:bodyPr>
            <a:noAutofit/>
          </a:bodyPr>
          <a:lstStyle/>
          <a:p>
            <a:r>
              <a:rPr lang="en-US" altLang="zh-CN" sz="2800" dirty="0">
                <a:latin typeface="Times New Roman" panose="02020603050405020304" pitchFamily="18" charset="0"/>
                <a:cs typeface="Times New Roman" panose="02020603050405020304" pitchFamily="18" charset="0"/>
              </a:rPr>
              <a:t>Introduction</a:t>
            </a:r>
          </a:p>
          <a:p>
            <a:r>
              <a:rPr lang="en-US" altLang="zh-CN" sz="2800" dirty="0">
                <a:solidFill>
                  <a:srgbClr val="FF0000"/>
                </a:solidFill>
                <a:latin typeface="Times New Roman" panose="02020603050405020304" pitchFamily="18" charset="0"/>
                <a:cs typeface="Times New Roman" panose="02020603050405020304" pitchFamily="18" charset="0"/>
              </a:rPr>
              <a:t>Background &amp; Motivation</a:t>
            </a:r>
          </a:p>
          <a:p>
            <a:r>
              <a:rPr lang="en-US" altLang="zh-CN" sz="2800" dirty="0">
                <a:latin typeface="Times New Roman" panose="02020603050405020304" pitchFamily="18" charset="0"/>
                <a:cs typeface="Times New Roman" panose="02020603050405020304" pitchFamily="18" charset="0"/>
              </a:rPr>
              <a:t>Proposed Methods &amp; Performance Evaluation</a:t>
            </a:r>
          </a:p>
          <a:p>
            <a:r>
              <a:rPr lang="en-US" altLang="zh-CN" sz="2800" dirty="0">
                <a:latin typeface="Times New Roman" panose="02020603050405020304" pitchFamily="18" charset="0"/>
                <a:cs typeface="Times New Roman" panose="02020603050405020304" pitchFamily="18" charset="0"/>
              </a:rPr>
              <a:t>Summary</a:t>
            </a:r>
          </a:p>
          <a:p>
            <a:r>
              <a:rPr lang="en-US" altLang="zh-CN" sz="2800" dirty="0">
                <a:latin typeface="Times New Roman" panose="02020603050405020304" pitchFamily="18" charset="0"/>
                <a:cs typeface="Times New Roman" panose="02020603050405020304" pitchFamily="18" charset="0"/>
              </a:rPr>
              <a:t>Q&amp;A</a:t>
            </a:r>
          </a:p>
        </p:txBody>
      </p:sp>
      <p:sp>
        <p:nvSpPr>
          <p:cNvPr id="2" name="灯片编号占位符 1">
            <a:extLst>
              <a:ext uri="{FF2B5EF4-FFF2-40B4-BE49-F238E27FC236}">
                <a16:creationId xmlns:a16="http://schemas.microsoft.com/office/drawing/2014/main" id="{4E07BEAF-87AC-4A4A-23DD-658EE2A25B5B}"/>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7</a:t>
            </a:fld>
            <a:endParaRPr lang="zh-TW" altLang="en-US"/>
          </a:p>
        </p:txBody>
      </p:sp>
    </p:spTree>
    <p:extLst>
      <p:ext uri="{BB962C8B-B14F-4D97-AF65-F5344CB8AC3E}">
        <p14:creationId xmlns:p14="http://schemas.microsoft.com/office/powerpoint/2010/main" val="371187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72A05-72C4-E16A-D2E8-0FE1CA2ABB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A2723B-3A58-9DC3-1A76-B6C2376C7E9A}"/>
              </a:ext>
            </a:extLst>
          </p:cNvPr>
          <p:cNvSpPr>
            <a:spLocks noGrp="1"/>
          </p:cNvSpPr>
          <p:nvPr>
            <p:ph type="title"/>
          </p:nvPr>
        </p:nvSpPr>
        <p:spPr>
          <a:xfrm>
            <a:off x="1088571" y="144466"/>
            <a:ext cx="10722429" cy="692151"/>
          </a:xfrm>
        </p:spPr>
        <p:txBody>
          <a:bodyPr/>
          <a:lstStyle/>
          <a:p>
            <a:r>
              <a:rPr lang="en-US" altLang="zh-CN" dirty="0">
                <a:latin typeface="Times New Roman" panose="02020603050405020304" pitchFamily="18" charset="0"/>
                <a:cs typeface="Times New Roman" panose="02020603050405020304" pitchFamily="18" charset="0"/>
              </a:rPr>
              <a:t>Background – Code Generation </a:t>
            </a:r>
            <a:r>
              <a:rPr lang="en-US" sz="2400" dirty="0">
                <a:latin typeface="Times New Roman" panose="02020603050405020304" pitchFamily="18" charset="0"/>
                <a:cs typeface="Times New Roman" panose="02020603050405020304" pitchFamily="18" charset="0"/>
              </a:rPr>
              <a:t>(1/6)</a:t>
            </a:r>
          </a:p>
        </p:txBody>
      </p:sp>
      <p:sp>
        <p:nvSpPr>
          <p:cNvPr id="4" name="灯片编号占位符 1">
            <a:extLst>
              <a:ext uri="{FF2B5EF4-FFF2-40B4-BE49-F238E27FC236}">
                <a16:creationId xmlns:a16="http://schemas.microsoft.com/office/drawing/2014/main" id="{1C970775-3618-A622-1938-13E46A076F79}"/>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8</a:t>
            </a:fld>
            <a:endParaRPr lang="zh-TW" altLang="en-US"/>
          </a:p>
        </p:txBody>
      </p:sp>
      <p:pic>
        <p:nvPicPr>
          <p:cNvPr id="3" name="图片 2">
            <a:extLst>
              <a:ext uri="{FF2B5EF4-FFF2-40B4-BE49-F238E27FC236}">
                <a16:creationId xmlns:a16="http://schemas.microsoft.com/office/drawing/2014/main" id="{3E87A784-9485-62F8-6A6F-F88D037EC53A}"/>
              </a:ext>
            </a:extLst>
          </p:cNvPr>
          <p:cNvPicPr>
            <a:picLocks noChangeAspect="1"/>
          </p:cNvPicPr>
          <p:nvPr/>
        </p:nvPicPr>
        <p:blipFill>
          <a:blip r:embed="rId3"/>
          <a:stretch>
            <a:fillRect/>
          </a:stretch>
        </p:blipFill>
        <p:spPr>
          <a:xfrm>
            <a:off x="1376979" y="1681311"/>
            <a:ext cx="4823697" cy="3069681"/>
          </a:xfrm>
          <a:prstGeom prst="rect">
            <a:avLst/>
          </a:prstGeom>
        </p:spPr>
      </p:pic>
      <p:sp>
        <p:nvSpPr>
          <p:cNvPr id="5" name="矩形 4">
            <a:extLst>
              <a:ext uri="{FF2B5EF4-FFF2-40B4-BE49-F238E27FC236}">
                <a16:creationId xmlns:a16="http://schemas.microsoft.com/office/drawing/2014/main" id="{88B4FF1C-1373-8532-940D-AC85CFD91D4C}"/>
              </a:ext>
            </a:extLst>
          </p:cNvPr>
          <p:cNvSpPr/>
          <p:nvPr/>
        </p:nvSpPr>
        <p:spPr>
          <a:xfrm rot="5400000">
            <a:off x="3519759" y="-999606"/>
            <a:ext cx="455423" cy="4906411"/>
          </a:xfrm>
          <a:prstGeom prst="rect">
            <a:avLst/>
          </a:prstGeom>
          <a:solidFill>
            <a:srgbClr val="9B0000"/>
          </a:solidFill>
          <a:ln>
            <a:solidFill>
              <a:srgbClr val="9B0000"/>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72000" rIns="0" bIns="72000" rtlCol="0" anchor="ctr"/>
          <a:lstStyle/>
          <a:p>
            <a:pPr algn="ctr"/>
            <a:r>
              <a:rPr lang="en-US" altLang="zh-CN" dirty="0">
                <a:latin typeface="思源黑体 Medium" panose="020B0600000000000000" pitchFamily="34" charset="-122"/>
                <a:ea typeface="思源黑体 Medium" panose="020B0600000000000000"/>
              </a:rPr>
              <a:t>Natural</a:t>
            </a:r>
            <a:r>
              <a:rPr lang="zh-CN" altLang="en-US" dirty="0">
                <a:latin typeface="思源黑体 Medium" panose="020B0600000000000000" pitchFamily="34" charset="-122"/>
                <a:ea typeface="思源黑体 Medium" panose="020B0600000000000000"/>
              </a:rPr>
              <a:t> </a:t>
            </a:r>
            <a:r>
              <a:rPr lang="en-US" altLang="zh-CN" dirty="0">
                <a:latin typeface="思源黑体 Medium" panose="020B0600000000000000" pitchFamily="34" charset="-122"/>
                <a:ea typeface="思源黑体 Medium" panose="020B0600000000000000"/>
              </a:rPr>
              <a:t>Language and Program</a:t>
            </a:r>
            <a:endParaRPr lang="zh-CN" altLang="en-US" dirty="0">
              <a:latin typeface="思源黑体 Medium" panose="020B0600000000000000" pitchFamily="34" charset="-122"/>
              <a:ea typeface="思源黑体 Medium" panose="020B0600000000000000"/>
            </a:endParaRPr>
          </a:p>
        </p:txBody>
      </p:sp>
      <p:sp>
        <p:nvSpPr>
          <p:cNvPr id="8" name="矩形 7">
            <a:extLst>
              <a:ext uri="{FF2B5EF4-FFF2-40B4-BE49-F238E27FC236}">
                <a16:creationId xmlns:a16="http://schemas.microsoft.com/office/drawing/2014/main" id="{59BC9934-EFB4-7EA4-DCAA-81C56157DE8C}"/>
              </a:ext>
            </a:extLst>
          </p:cNvPr>
          <p:cNvSpPr/>
          <p:nvPr/>
        </p:nvSpPr>
        <p:spPr>
          <a:xfrm rot="5400000">
            <a:off x="8763278" y="-999606"/>
            <a:ext cx="455423" cy="4906411"/>
          </a:xfrm>
          <a:prstGeom prst="rect">
            <a:avLst/>
          </a:prstGeom>
          <a:solidFill>
            <a:srgbClr val="9B0000"/>
          </a:solidFill>
          <a:ln>
            <a:solidFill>
              <a:srgbClr val="9B0000"/>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72000" rIns="0" bIns="72000" rtlCol="0" anchor="ctr"/>
          <a:lstStyle/>
          <a:p>
            <a:pPr algn="ctr"/>
            <a:r>
              <a:rPr lang="en-US" altLang="zh-CN" dirty="0">
                <a:latin typeface="思源黑体 Medium" panose="020B0600000000000000" pitchFamily="34" charset="-122"/>
                <a:ea typeface="思源黑体 Medium" panose="020B0600000000000000"/>
              </a:rPr>
              <a:t>Code Generation Method</a:t>
            </a:r>
            <a:endParaRPr lang="zh-CN" altLang="en-US" dirty="0">
              <a:latin typeface="思源黑体 Medium" panose="020B0600000000000000" pitchFamily="34" charset="-122"/>
              <a:ea typeface="思源黑体 Medium" panose="020B0600000000000000"/>
            </a:endParaRPr>
          </a:p>
        </p:txBody>
      </p:sp>
      <p:sp>
        <p:nvSpPr>
          <p:cNvPr id="9" name="文本框 8">
            <a:extLst>
              <a:ext uri="{FF2B5EF4-FFF2-40B4-BE49-F238E27FC236}">
                <a16:creationId xmlns:a16="http://schemas.microsoft.com/office/drawing/2014/main" id="{9D6C5302-66B9-C17B-1E7A-1A30DA123771}"/>
              </a:ext>
            </a:extLst>
          </p:cNvPr>
          <p:cNvSpPr txBox="1"/>
          <p:nvPr/>
        </p:nvSpPr>
        <p:spPr>
          <a:xfrm>
            <a:off x="6537784" y="1765559"/>
            <a:ext cx="4906411" cy="2985433"/>
          </a:xfrm>
          <a:prstGeom prst="rect">
            <a:avLst/>
          </a:prstGeom>
          <a:noFill/>
        </p:spPr>
        <p:txBody>
          <a:bodyPr wrap="square" rtlCol="0">
            <a:spAutoFit/>
          </a:bodyPr>
          <a:lstStyle/>
          <a:p>
            <a:pPr marL="342900" indent="-342900">
              <a:buFont typeface="Arial" panose="020B0604020202020204" pitchFamily="34" charset="0"/>
              <a:buChar char="•"/>
            </a:pPr>
            <a:r>
              <a:rPr lang="en-US" altLang="zh-CN" sz="2000" dirty="0">
                <a:ea typeface="思源黑体 Medium" panose="020B0600000000000000"/>
              </a:rPr>
              <a:t>Language</a:t>
            </a:r>
            <a:r>
              <a:rPr lang="zh-CN" altLang="en-US" sz="2000" dirty="0">
                <a:ea typeface="思源黑体 Medium" panose="020B0600000000000000"/>
              </a:rPr>
              <a:t> </a:t>
            </a:r>
            <a:r>
              <a:rPr lang="en-US" altLang="zh-CN" sz="2000" dirty="0">
                <a:ea typeface="思源黑体 Medium" panose="020B0600000000000000"/>
              </a:rPr>
              <a:t>Model</a:t>
            </a:r>
            <a:endParaRPr lang="en-US" altLang="zh-CN" sz="1600" dirty="0">
              <a:ea typeface="思源黑体 Medium" panose="020B0600000000000000"/>
            </a:endParaRPr>
          </a:p>
          <a:p>
            <a:pPr marL="800100" lvl="1" indent="-342900">
              <a:buFont typeface="Arial" panose="020B0604020202020204" pitchFamily="34" charset="0"/>
              <a:buChar char="•"/>
            </a:pPr>
            <a:r>
              <a:rPr lang="en-US" altLang="zh-CN" sz="1600" dirty="0">
                <a:solidFill>
                  <a:schemeClr val="tx1">
                    <a:lumMod val="50000"/>
                    <a:lumOff val="50000"/>
                  </a:schemeClr>
                </a:solidFill>
                <a:ea typeface="思源黑体 Medium" panose="020B0600000000000000"/>
              </a:rPr>
              <a:t>N-gram [Hindle</a:t>
            </a:r>
            <a:r>
              <a:rPr lang="zh-CN" altLang="en-US" sz="1600" dirty="0">
                <a:solidFill>
                  <a:schemeClr val="tx1">
                    <a:lumMod val="50000"/>
                    <a:lumOff val="50000"/>
                  </a:schemeClr>
                </a:solidFill>
                <a:ea typeface="思源黑体 Medium" panose="020B0600000000000000"/>
              </a:rPr>
              <a:t> </a:t>
            </a:r>
            <a:r>
              <a:rPr lang="en-US" altLang="zh-CN" sz="1600" dirty="0">
                <a:solidFill>
                  <a:schemeClr val="tx1">
                    <a:lumMod val="50000"/>
                    <a:lumOff val="50000"/>
                  </a:schemeClr>
                </a:solidFill>
                <a:ea typeface="思源黑体 Medium" panose="020B0600000000000000"/>
              </a:rPr>
              <a:t>12]</a:t>
            </a:r>
          </a:p>
          <a:p>
            <a:pPr marL="800100" lvl="1" indent="-342900">
              <a:buFont typeface="Arial" panose="020B0604020202020204" pitchFamily="34" charset="0"/>
              <a:buChar char="•"/>
            </a:pPr>
            <a:r>
              <a:rPr lang="en-US" altLang="zh-CN" sz="1600" dirty="0">
                <a:solidFill>
                  <a:schemeClr val="tx1">
                    <a:lumMod val="50000"/>
                    <a:lumOff val="50000"/>
                  </a:schemeClr>
                </a:solidFill>
                <a:ea typeface="思源黑体 Medium" panose="020B0600000000000000"/>
              </a:rPr>
              <a:t>RNN</a:t>
            </a:r>
            <a:r>
              <a:rPr lang="zh-CN" altLang="en-US" sz="1600" dirty="0">
                <a:solidFill>
                  <a:schemeClr val="tx1">
                    <a:lumMod val="50000"/>
                    <a:lumOff val="50000"/>
                  </a:schemeClr>
                </a:solidFill>
                <a:ea typeface="思源黑体 Medium" panose="020B0600000000000000"/>
              </a:rPr>
              <a:t> </a:t>
            </a:r>
            <a:r>
              <a:rPr lang="en-US" altLang="zh-CN" sz="1600" dirty="0">
                <a:solidFill>
                  <a:schemeClr val="tx1">
                    <a:lumMod val="50000"/>
                    <a:lumOff val="50000"/>
                  </a:schemeClr>
                </a:solidFill>
              </a:rPr>
              <a:t>[</a:t>
            </a:r>
            <a:r>
              <a:rPr lang="en-US" altLang="zh-CN" sz="1600" dirty="0" err="1">
                <a:solidFill>
                  <a:schemeClr val="tx1">
                    <a:lumMod val="50000"/>
                    <a:lumOff val="50000"/>
                  </a:schemeClr>
                </a:solidFill>
              </a:rPr>
              <a:t>Bhoopchand</a:t>
            </a:r>
            <a:r>
              <a:rPr lang="en-US" altLang="zh-CN" sz="1600" dirty="0">
                <a:solidFill>
                  <a:schemeClr val="tx1">
                    <a:lumMod val="50000"/>
                    <a:lumOff val="50000"/>
                  </a:schemeClr>
                </a:solidFill>
              </a:rPr>
              <a:t> 16][</a:t>
            </a:r>
            <a:r>
              <a:rPr lang="en-US" altLang="zh-CN" sz="1600" dirty="0" err="1">
                <a:solidFill>
                  <a:schemeClr val="tx1">
                    <a:lumMod val="50000"/>
                    <a:lumOff val="50000"/>
                  </a:schemeClr>
                </a:solidFill>
              </a:rPr>
              <a:t>Gu</a:t>
            </a:r>
            <a:r>
              <a:rPr lang="en-US" altLang="zh-CN" sz="1600" dirty="0">
                <a:solidFill>
                  <a:schemeClr val="tx1">
                    <a:lumMod val="50000"/>
                    <a:lumOff val="50000"/>
                  </a:schemeClr>
                </a:solidFill>
              </a:rPr>
              <a:t> 16][Li 18]</a:t>
            </a:r>
            <a:endParaRPr lang="en-US" altLang="zh-CN" sz="1600" dirty="0">
              <a:solidFill>
                <a:schemeClr val="tx1">
                  <a:lumMod val="50000"/>
                  <a:lumOff val="50000"/>
                </a:schemeClr>
              </a:solidFill>
              <a:ea typeface="思源黑体 Medium" panose="020B0600000000000000"/>
            </a:endParaRPr>
          </a:p>
          <a:p>
            <a:pPr marL="800100" lvl="1" indent="-342900">
              <a:buFont typeface="Arial" panose="020B0604020202020204" pitchFamily="34" charset="0"/>
              <a:buChar char="•"/>
            </a:pPr>
            <a:endParaRPr lang="en-US" altLang="zh-CN" sz="1400" dirty="0">
              <a:solidFill>
                <a:schemeClr val="tx1">
                  <a:lumMod val="50000"/>
                  <a:lumOff val="50000"/>
                </a:schemeClr>
              </a:solidFill>
              <a:ea typeface="思源黑体 Medium" panose="020B0600000000000000"/>
            </a:endParaRPr>
          </a:p>
          <a:p>
            <a:pPr marL="342900" indent="-342900">
              <a:buFont typeface="Arial" panose="020B0604020202020204" pitchFamily="34" charset="0"/>
              <a:buChar char="•"/>
            </a:pPr>
            <a:r>
              <a:rPr lang="en-US" altLang="zh-CN" sz="2000" dirty="0">
                <a:ea typeface="思源黑体 Medium" panose="020B0600000000000000"/>
              </a:rPr>
              <a:t>Structural Model</a:t>
            </a:r>
          </a:p>
          <a:p>
            <a:pPr marL="800100" lvl="1" indent="-342900">
              <a:buFont typeface="Arial" panose="020B0604020202020204" pitchFamily="34" charset="0"/>
              <a:buChar char="•"/>
            </a:pPr>
            <a:r>
              <a:rPr lang="en-US" altLang="zh-CN" sz="1600" dirty="0">
                <a:solidFill>
                  <a:schemeClr val="tx1">
                    <a:lumMod val="50000"/>
                    <a:lumOff val="50000"/>
                  </a:schemeClr>
                </a:solidFill>
                <a:ea typeface="思源黑体 Medium" panose="020B0600000000000000"/>
              </a:rPr>
              <a:t>TBCNN</a:t>
            </a:r>
            <a:r>
              <a:rPr lang="zh-CN" altLang="en-US" sz="1600" dirty="0">
                <a:solidFill>
                  <a:schemeClr val="tx1">
                    <a:lumMod val="50000"/>
                    <a:lumOff val="50000"/>
                  </a:schemeClr>
                </a:solidFill>
                <a:ea typeface="思源黑体 Medium" panose="020B0600000000000000"/>
              </a:rPr>
              <a:t> </a:t>
            </a:r>
            <a:r>
              <a:rPr lang="en-US" altLang="zh-CN" sz="1600" dirty="0">
                <a:solidFill>
                  <a:schemeClr val="tx1">
                    <a:lumMod val="50000"/>
                    <a:lumOff val="50000"/>
                  </a:schemeClr>
                </a:solidFill>
                <a:ea typeface="思源黑体 Medium" panose="020B0600000000000000"/>
              </a:rPr>
              <a:t>[</a:t>
            </a:r>
            <a:r>
              <a:rPr lang="en-US" altLang="zh-CN" sz="1600" dirty="0" err="1">
                <a:solidFill>
                  <a:schemeClr val="tx1">
                    <a:lumMod val="50000"/>
                    <a:lumOff val="50000"/>
                  </a:schemeClr>
                </a:solidFill>
                <a:ea typeface="思源黑体 Medium" panose="020B0600000000000000"/>
              </a:rPr>
              <a:t>Mou</a:t>
            </a:r>
            <a:r>
              <a:rPr lang="zh-CN" altLang="en-US" sz="1600" dirty="0">
                <a:solidFill>
                  <a:schemeClr val="tx1">
                    <a:lumMod val="50000"/>
                    <a:lumOff val="50000"/>
                  </a:schemeClr>
                </a:solidFill>
                <a:ea typeface="思源黑体 Medium" panose="020B0600000000000000"/>
              </a:rPr>
              <a:t> </a:t>
            </a:r>
            <a:r>
              <a:rPr lang="en-US" altLang="zh-CN" sz="1600" dirty="0">
                <a:solidFill>
                  <a:schemeClr val="tx1">
                    <a:lumMod val="50000"/>
                    <a:lumOff val="50000"/>
                  </a:schemeClr>
                </a:solidFill>
                <a:ea typeface="思源黑体 Medium" panose="020B0600000000000000"/>
              </a:rPr>
              <a:t>16]</a:t>
            </a:r>
          </a:p>
          <a:p>
            <a:pPr marL="800100" lvl="1" indent="-342900">
              <a:buFont typeface="Arial" panose="020B0604020202020204" pitchFamily="34" charset="0"/>
              <a:buChar char="•"/>
            </a:pPr>
            <a:r>
              <a:rPr lang="en-US" altLang="zh-CN" sz="1600" dirty="0">
                <a:solidFill>
                  <a:schemeClr val="tx1">
                    <a:lumMod val="50000"/>
                    <a:lumOff val="50000"/>
                  </a:schemeClr>
                </a:solidFill>
                <a:ea typeface="思源黑体 Medium" panose="020B0600000000000000"/>
              </a:rPr>
              <a:t>API</a:t>
            </a:r>
            <a:r>
              <a:rPr lang="zh-CN" altLang="en-US" sz="1600" dirty="0">
                <a:solidFill>
                  <a:schemeClr val="tx1">
                    <a:lumMod val="50000"/>
                    <a:lumOff val="50000"/>
                  </a:schemeClr>
                </a:solidFill>
                <a:ea typeface="思源黑体 Medium" panose="020B0600000000000000"/>
              </a:rPr>
              <a:t> </a:t>
            </a:r>
            <a:r>
              <a:rPr lang="en-US" altLang="zh-CN" sz="1600" dirty="0">
                <a:solidFill>
                  <a:schemeClr val="tx1">
                    <a:lumMod val="50000"/>
                    <a:lumOff val="50000"/>
                  </a:schemeClr>
                </a:solidFill>
                <a:ea typeface="思源黑体 Medium" panose="020B0600000000000000"/>
              </a:rPr>
              <a:t>Graph[</a:t>
            </a:r>
            <a:r>
              <a:rPr lang="en-US" altLang="zh-CN" sz="1600" dirty="0" err="1">
                <a:solidFill>
                  <a:schemeClr val="tx1">
                    <a:lumMod val="50000"/>
                    <a:lumOff val="50000"/>
                  </a:schemeClr>
                </a:solidFill>
                <a:ea typeface="思源黑体 Medium" panose="020B0600000000000000"/>
              </a:rPr>
              <a:t>Nyguyen</a:t>
            </a:r>
            <a:r>
              <a:rPr lang="zh-CN" altLang="en-US" sz="1600" dirty="0">
                <a:solidFill>
                  <a:schemeClr val="tx1">
                    <a:lumMod val="50000"/>
                    <a:lumOff val="50000"/>
                  </a:schemeClr>
                </a:solidFill>
                <a:ea typeface="思源黑体 Medium" panose="020B0600000000000000"/>
              </a:rPr>
              <a:t> </a:t>
            </a:r>
            <a:r>
              <a:rPr lang="en-US" altLang="zh-CN" sz="1600" dirty="0">
                <a:solidFill>
                  <a:schemeClr val="tx1">
                    <a:lumMod val="50000"/>
                    <a:lumOff val="50000"/>
                  </a:schemeClr>
                </a:solidFill>
                <a:ea typeface="思源黑体 Medium" panose="020B0600000000000000"/>
              </a:rPr>
              <a:t>15]</a:t>
            </a:r>
          </a:p>
          <a:p>
            <a:pPr marL="800100" lvl="1" indent="-342900">
              <a:buFont typeface="Arial" panose="020B0604020202020204" pitchFamily="34" charset="0"/>
              <a:buChar char="•"/>
            </a:pPr>
            <a:endParaRPr lang="en-US" altLang="zh-CN" sz="1400" dirty="0">
              <a:solidFill>
                <a:schemeClr val="tx1">
                  <a:lumMod val="50000"/>
                  <a:lumOff val="50000"/>
                </a:schemeClr>
              </a:solidFill>
              <a:ea typeface="思源黑体 Medium" panose="020B0600000000000000"/>
            </a:endParaRPr>
          </a:p>
          <a:p>
            <a:pPr marL="342900" indent="-342900">
              <a:buFont typeface="Arial" panose="020B0604020202020204" pitchFamily="34" charset="0"/>
              <a:buChar char="•"/>
            </a:pPr>
            <a:r>
              <a:rPr lang="en-US" altLang="zh-CN" sz="2000" dirty="0">
                <a:ea typeface="思源黑体 Medium" panose="020B0600000000000000"/>
              </a:rPr>
              <a:t>Program</a:t>
            </a:r>
            <a:r>
              <a:rPr lang="zh-CN" altLang="en-US" sz="2000" dirty="0">
                <a:ea typeface="思源黑体 Medium" panose="020B0600000000000000"/>
              </a:rPr>
              <a:t> </a:t>
            </a:r>
            <a:r>
              <a:rPr lang="en-US" altLang="zh-CN" sz="2000" dirty="0">
                <a:ea typeface="思源黑体 Medium" panose="020B0600000000000000"/>
              </a:rPr>
              <a:t>Execution</a:t>
            </a:r>
            <a:r>
              <a:rPr lang="zh-CN" altLang="en-US" sz="2000" dirty="0">
                <a:ea typeface="思源黑体 Medium" panose="020B0600000000000000"/>
              </a:rPr>
              <a:t> </a:t>
            </a:r>
            <a:r>
              <a:rPr lang="en-US" altLang="zh-CN" sz="2000" dirty="0">
                <a:ea typeface="思源黑体 Medium" panose="020B0600000000000000"/>
              </a:rPr>
              <a:t>Model</a:t>
            </a:r>
          </a:p>
          <a:p>
            <a:pPr marL="800100" lvl="1" indent="-342900">
              <a:buFont typeface="Arial" panose="020B0604020202020204" pitchFamily="34" charset="0"/>
              <a:buChar char="•"/>
            </a:pPr>
            <a:r>
              <a:rPr lang="en-US" altLang="zh-CN" sz="1600" dirty="0">
                <a:solidFill>
                  <a:schemeClr val="tx1">
                    <a:lumMod val="50000"/>
                    <a:lumOff val="50000"/>
                  </a:schemeClr>
                </a:solidFill>
                <a:ea typeface="思源黑体 Medium" panose="020B0600000000000000"/>
              </a:rPr>
              <a:t>Dynamic</a:t>
            </a:r>
            <a:r>
              <a:rPr lang="zh-CN" altLang="en-US" sz="1600" dirty="0">
                <a:solidFill>
                  <a:schemeClr val="tx1">
                    <a:lumMod val="50000"/>
                    <a:lumOff val="50000"/>
                  </a:schemeClr>
                </a:solidFill>
                <a:ea typeface="思源黑体 Medium" panose="020B0600000000000000"/>
              </a:rPr>
              <a:t> </a:t>
            </a:r>
            <a:r>
              <a:rPr lang="en-US" altLang="zh-CN" sz="1600" dirty="0">
                <a:solidFill>
                  <a:schemeClr val="tx1">
                    <a:lumMod val="50000"/>
                    <a:lumOff val="50000"/>
                  </a:schemeClr>
                </a:solidFill>
                <a:ea typeface="思源黑体 Medium" panose="020B0600000000000000"/>
              </a:rPr>
              <a:t>Embedding</a:t>
            </a:r>
            <a:r>
              <a:rPr lang="zh-CN" altLang="en-US" sz="1600" dirty="0">
                <a:solidFill>
                  <a:schemeClr val="tx1">
                    <a:lumMod val="50000"/>
                    <a:lumOff val="50000"/>
                  </a:schemeClr>
                </a:solidFill>
                <a:ea typeface="思源黑体 Medium" panose="020B0600000000000000"/>
              </a:rPr>
              <a:t> </a:t>
            </a:r>
            <a:r>
              <a:rPr lang="en-US" altLang="zh-CN" sz="1600" dirty="0">
                <a:solidFill>
                  <a:schemeClr val="tx1">
                    <a:lumMod val="50000"/>
                    <a:lumOff val="50000"/>
                  </a:schemeClr>
                </a:solidFill>
              </a:rPr>
              <a:t>[Wang 16]</a:t>
            </a:r>
            <a:endParaRPr lang="en-US" altLang="zh-CN" sz="1600" dirty="0">
              <a:solidFill>
                <a:schemeClr val="tx1">
                  <a:lumMod val="50000"/>
                  <a:lumOff val="50000"/>
                </a:schemeClr>
              </a:solidFill>
              <a:ea typeface="思源黑体 Medium" panose="020B0600000000000000"/>
            </a:endParaRPr>
          </a:p>
          <a:p>
            <a:pPr marL="800100" lvl="1" indent="-342900">
              <a:buFont typeface="Arial" panose="020B0604020202020204" pitchFamily="34" charset="0"/>
              <a:buChar char="•"/>
            </a:pPr>
            <a:endParaRPr lang="en-US" altLang="zh-CN" sz="2000" dirty="0">
              <a:solidFill>
                <a:schemeClr val="tx1">
                  <a:lumMod val="50000"/>
                  <a:lumOff val="50000"/>
                </a:schemeClr>
              </a:solidFill>
              <a:ea typeface="思源黑体 Medium" panose="020B0600000000000000"/>
            </a:endParaRPr>
          </a:p>
        </p:txBody>
      </p:sp>
      <p:sp>
        <p:nvSpPr>
          <p:cNvPr id="11" name="文本框 10">
            <a:extLst>
              <a:ext uri="{FF2B5EF4-FFF2-40B4-BE49-F238E27FC236}">
                <a16:creationId xmlns:a16="http://schemas.microsoft.com/office/drawing/2014/main" id="{F239B443-2DDB-E1B4-60F4-5DF8D7A69958}"/>
              </a:ext>
            </a:extLst>
          </p:cNvPr>
          <p:cNvSpPr txBox="1"/>
          <p:nvPr/>
        </p:nvSpPr>
        <p:spPr>
          <a:xfrm>
            <a:off x="1678193" y="4750992"/>
            <a:ext cx="8724452" cy="1466492"/>
          </a:xfrm>
          <a:prstGeom prst="rect">
            <a:avLst/>
          </a:prstGeom>
          <a:noFill/>
        </p:spPr>
        <p:txBody>
          <a:bodyPr wrap="square">
            <a:spAutoFit/>
          </a:bodyPr>
          <a:lstStyle/>
          <a:p>
            <a:pPr lvl="0">
              <a:lnSpc>
                <a:spcPct val="114000"/>
              </a:lnSpc>
              <a:spcBef>
                <a:spcPts val="1000"/>
              </a:spcBef>
            </a:pPr>
            <a:r>
              <a:rPr lang="en-US" altLang="zh-CN" sz="1800" dirty="0">
                <a:solidFill>
                  <a:srgbClr val="C00000"/>
                </a:solidFill>
                <a:ea typeface="思源黑体 Medium" panose="020B0600000000000000"/>
              </a:rPr>
              <a:t>【</a:t>
            </a:r>
            <a:r>
              <a:rPr lang="en-US" altLang="zh-CN" dirty="0">
                <a:solidFill>
                  <a:srgbClr val="C00000"/>
                </a:solidFill>
                <a:ea typeface="思源黑体 Medium" panose="020B0600000000000000"/>
              </a:rPr>
              <a:t>Conclusion</a:t>
            </a:r>
            <a:r>
              <a:rPr lang="en-US" altLang="zh-CN" sz="1800" dirty="0">
                <a:solidFill>
                  <a:srgbClr val="C00000"/>
                </a:solidFill>
                <a:ea typeface="思源黑体 Medium" panose="020B0600000000000000"/>
              </a:rPr>
              <a:t>】</a:t>
            </a:r>
            <a:r>
              <a:rPr lang="en-US" altLang="zh-CN" dirty="0"/>
              <a:t> </a:t>
            </a:r>
            <a:r>
              <a:rPr lang="en-US" altLang="zh-CN" sz="2000" dirty="0"/>
              <a:t>Traditional code generation primarily relies on the existing models. Since the models cannot fully capture the characteristics of programs based on natural language, their performance is too low to be applied in actual software development.</a:t>
            </a:r>
            <a:endParaRPr lang="zh-CN" altLang="en-US" sz="2000" dirty="0">
              <a:solidFill>
                <a:prstClr val="black"/>
              </a:solidFill>
            </a:endParaRPr>
          </a:p>
        </p:txBody>
      </p:sp>
    </p:spTree>
    <p:extLst>
      <p:ext uri="{BB962C8B-B14F-4D97-AF65-F5344CB8AC3E}">
        <p14:creationId xmlns:p14="http://schemas.microsoft.com/office/powerpoint/2010/main" val="26051112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14E39-EFFF-10E4-325E-F1FE110BC3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5A20A2-7FDD-9526-B5AD-8EB7FC37E6A1}"/>
              </a:ext>
            </a:extLst>
          </p:cNvPr>
          <p:cNvSpPr>
            <a:spLocks noGrp="1"/>
          </p:cNvSpPr>
          <p:nvPr>
            <p:ph type="title"/>
          </p:nvPr>
        </p:nvSpPr>
        <p:spPr>
          <a:xfrm>
            <a:off x="1088571" y="144466"/>
            <a:ext cx="10722429" cy="692151"/>
          </a:xfrm>
        </p:spPr>
        <p:txBody>
          <a:bodyPr/>
          <a:lstStyle/>
          <a:p>
            <a:r>
              <a:rPr lang="en-US" altLang="zh-CN" dirty="0">
                <a:latin typeface="Times New Roman" panose="02020603050405020304" pitchFamily="18" charset="0"/>
                <a:cs typeface="Times New Roman" panose="02020603050405020304" pitchFamily="18" charset="0"/>
              </a:rPr>
              <a:t>Background – Code Generation </a:t>
            </a:r>
            <a:r>
              <a:rPr lang="en-US" sz="2400" dirty="0">
                <a:latin typeface="Times New Roman" panose="02020603050405020304" pitchFamily="18" charset="0"/>
                <a:cs typeface="Times New Roman" panose="02020603050405020304" pitchFamily="18" charset="0"/>
              </a:rPr>
              <a:t>(2/6)</a:t>
            </a:r>
          </a:p>
        </p:txBody>
      </p:sp>
      <p:sp>
        <p:nvSpPr>
          <p:cNvPr id="4" name="灯片编号占位符 1">
            <a:extLst>
              <a:ext uri="{FF2B5EF4-FFF2-40B4-BE49-F238E27FC236}">
                <a16:creationId xmlns:a16="http://schemas.microsoft.com/office/drawing/2014/main" id="{133E8186-9A6D-69FB-2D7D-50F55F496DB1}"/>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9</a:t>
            </a:fld>
            <a:endParaRPr lang="zh-TW" altLang="en-US"/>
          </a:p>
        </p:txBody>
      </p:sp>
      <p:sp>
        <p:nvSpPr>
          <p:cNvPr id="59" name="圆角矩形 58">
            <a:extLst>
              <a:ext uri="{FF2B5EF4-FFF2-40B4-BE49-F238E27FC236}">
                <a16:creationId xmlns:a16="http://schemas.microsoft.com/office/drawing/2014/main" id="{834FDCA2-44F5-2088-9368-1C7E7094FE7F}"/>
              </a:ext>
            </a:extLst>
          </p:cNvPr>
          <p:cNvSpPr/>
          <p:nvPr/>
        </p:nvSpPr>
        <p:spPr>
          <a:xfrm>
            <a:off x="1124680" y="1105346"/>
            <a:ext cx="9060256" cy="857837"/>
          </a:xfrm>
          <a:prstGeom prst="round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rtlCol="0" anchor="ctr"/>
          <a:lstStyle/>
          <a:p>
            <a:pPr lvl="0">
              <a:defRPr/>
            </a:pPr>
            <a:r>
              <a:rPr lang="en-US" altLang="zh-CN" sz="2800" b="1" dirty="0"/>
              <a:t>Code Generation Methods Based on Large Language Models(LLMs)</a:t>
            </a:r>
            <a:endParaRPr kumimoji="1" lang="zh-CN" altLang="en-US" sz="2800" dirty="0">
              <a:solidFill>
                <a:sysClr val="windowText" lastClr="000000"/>
              </a:solidFill>
              <a:latin typeface="等线" panose="020F0502020204030204"/>
              <a:ea typeface="等线" panose="02010600030101010101" pitchFamily="2" charset="-122"/>
            </a:endParaRPr>
          </a:p>
        </p:txBody>
      </p:sp>
      <p:sp>
        <p:nvSpPr>
          <p:cNvPr id="60" name="内容占位符 2">
            <a:extLst>
              <a:ext uri="{FF2B5EF4-FFF2-40B4-BE49-F238E27FC236}">
                <a16:creationId xmlns:a16="http://schemas.microsoft.com/office/drawing/2014/main" id="{0DC92FA7-7155-88A8-CFDD-A4D85FE07F52}"/>
              </a:ext>
            </a:extLst>
          </p:cNvPr>
          <p:cNvSpPr txBox="1">
            <a:spLocks/>
          </p:cNvSpPr>
          <p:nvPr/>
        </p:nvSpPr>
        <p:spPr>
          <a:xfrm>
            <a:off x="1306286" y="1170177"/>
            <a:ext cx="8401593" cy="9879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defRPr/>
            </a:pPr>
            <a:endParaRPr kumimoji="1" lang="zh-CN" altLang="en-US" sz="2800" b="0" i="0" u="none" strike="noStrike" kern="1200" cap="none" spc="0" normalizeH="0" baseline="0" noProof="0" dirty="0">
              <a:ln>
                <a:noFill/>
              </a:ln>
              <a:solidFill>
                <a:sysClr val="windowText" lastClr="000000"/>
              </a:solidFill>
              <a:effectLst/>
              <a:uLnTx/>
              <a:uFillTx/>
              <a:latin typeface="等线" panose="020F0502020204030204"/>
              <a:ea typeface="等线" panose="02010600030101010101" pitchFamily="2" charset="-122"/>
              <a:cs typeface="+mn-cs"/>
            </a:endParaRPr>
          </a:p>
        </p:txBody>
      </p:sp>
      <p:sp>
        <p:nvSpPr>
          <p:cNvPr id="3" name="矩形 2">
            <a:extLst>
              <a:ext uri="{FF2B5EF4-FFF2-40B4-BE49-F238E27FC236}">
                <a16:creationId xmlns:a16="http://schemas.microsoft.com/office/drawing/2014/main" id="{64F83B5E-38EF-402B-0223-3812A0830CEF}"/>
              </a:ext>
            </a:extLst>
          </p:cNvPr>
          <p:cNvSpPr/>
          <p:nvPr/>
        </p:nvSpPr>
        <p:spPr>
          <a:xfrm>
            <a:off x="241663" y="1998617"/>
            <a:ext cx="11711154" cy="4073325"/>
          </a:xfrm>
          <a:prstGeom prst="rect">
            <a:avLst/>
          </a:prstGeom>
          <a:no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252000" rtlCol="0" anchor="t" anchorCtr="0"/>
          <a:lstStyle/>
          <a:p>
            <a:pPr lvl="0">
              <a:lnSpc>
                <a:spcPct val="114000"/>
              </a:lnSpc>
              <a:spcBef>
                <a:spcPts val="1000"/>
              </a:spcBef>
            </a:pPr>
            <a:endParaRPr lang="zh-CN" altLang="en-US" sz="2000" dirty="0">
              <a:solidFill>
                <a:schemeClr val="tx1"/>
              </a:solidFill>
              <a:ea typeface="思源黑体 Medium" panose="020B0600000000000000"/>
            </a:endParaRPr>
          </a:p>
        </p:txBody>
      </p:sp>
      <p:grpSp>
        <p:nvGrpSpPr>
          <p:cNvPr id="5" name="组合 4">
            <a:extLst>
              <a:ext uri="{FF2B5EF4-FFF2-40B4-BE49-F238E27FC236}">
                <a16:creationId xmlns:a16="http://schemas.microsoft.com/office/drawing/2014/main" id="{50130EF7-2BFB-ED6A-EF92-E2D43D7A0832}"/>
              </a:ext>
            </a:extLst>
          </p:cNvPr>
          <p:cNvGrpSpPr/>
          <p:nvPr/>
        </p:nvGrpSpPr>
        <p:grpSpPr>
          <a:xfrm>
            <a:off x="573982" y="2101416"/>
            <a:ext cx="11176058" cy="4142222"/>
            <a:chOff x="1356259" y="1658537"/>
            <a:chExt cx="11358433" cy="4142222"/>
          </a:xfrm>
        </p:grpSpPr>
        <p:cxnSp>
          <p:nvCxnSpPr>
            <p:cNvPr id="6" name="直接箭头连接符 5">
              <a:extLst>
                <a:ext uri="{FF2B5EF4-FFF2-40B4-BE49-F238E27FC236}">
                  <a16:creationId xmlns:a16="http://schemas.microsoft.com/office/drawing/2014/main" id="{FC21C87D-D173-4AAD-3ADA-F224FB2A6591}"/>
                </a:ext>
              </a:extLst>
            </p:cNvPr>
            <p:cNvCxnSpPr>
              <a:cxnSpLocks/>
            </p:cNvCxnSpPr>
            <p:nvPr/>
          </p:nvCxnSpPr>
          <p:spPr>
            <a:xfrm>
              <a:off x="1801802" y="3473906"/>
              <a:ext cx="10202623" cy="0"/>
            </a:xfrm>
            <a:prstGeom prst="straightConnector1">
              <a:avLst/>
            </a:prstGeom>
            <a:ln w="28575">
              <a:solidFill>
                <a:srgbClr val="9B0000"/>
              </a:solidFill>
              <a:tailEnd type="stealth" w="lg" len="lg"/>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B34E9BA1-2C11-062D-1971-5330693C2A7E}"/>
                </a:ext>
              </a:extLst>
            </p:cNvPr>
            <p:cNvSpPr/>
            <p:nvPr/>
          </p:nvSpPr>
          <p:spPr>
            <a:xfrm>
              <a:off x="2676679" y="3204461"/>
              <a:ext cx="858403" cy="53888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Medium" panose="020B0600000000000000" pitchFamily="34" charset="-122"/>
                  <a:ea typeface="思源黑体 Medium" panose="020B0600000000000000" pitchFamily="34" charset="-122"/>
                </a:rPr>
                <a:t>Codex</a:t>
              </a:r>
              <a:endParaRPr lang="zh-CN" altLang="en-US" sz="1600" dirty="0">
                <a:solidFill>
                  <a:schemeClr val="bg1"/>
                </a:solidFill>
                <a:latin typeface="思源黑体 Medium" panose="020B0600000000000000" pitchFamily="34" charset="-122"/>
                <a:ea typeface="思源黑体 Medium" panose="020B0600000000000000" pitchFamily="34" charset="-122"/>
              </a:endParaRPr>
            </a:p>
          </p:txBody>
        </p:sp>
        <p:sp>
          <p:nvSpPr>
            <p:cNvPr id="8" name="矩形 7">
              <a:extLst>
                <a:ext uri="{FF2B5EF4-FFF2-40B4-BE49-F238E27FC236}">
                  <a16:creationId xmlns:a16="http://schemas.microsoft.com/office/drawing/2014/main" id="{2A8DCEB3-5EBF-9040-2F4D-E38219571F39}"/>
                </a:ext>
              </a:extLst>
            </p:cNvPr>
            <p:cNvSpPr/>
            <p:nvPr/>
          </p:nvSpPr>
          <p:spPr>
            <a:xfrm>
              <a:off x="3861855" y="3204461"/>
              <a:ext cx="1268110" cy="53888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err="1">
                  <a:solidFill>
                    <a:schemeClr val="bg1"/>
                  </a:solidFill>
                  <a:latin typeface="思源黑体 Medium" panose="020B0600000000000000" pitchFamily="34" charset="-122"/>
                  <a:ea typeface="思源黑体 Medium" panose="020B0600000000000000" pitchFamily="34" charset="-122"/>
                </a:rPr>
                <a:t>AlphaCode</a:t>
              </a:r>
              <a:endParaRPr lang="zh-CN" altLang="en-US" sz="1600" dirty="0">
                <a:solidFill>
                  <a:schemeClr val="bg1"/>
                </a:solidFill>
                <a:latin typeface="思源黑体 Medium" panose="020B0600000000000000" pitchFamily="34" charset="-122"/>
                <a:ea typeface="思源黑体 Medium" panose="020B0600000000000000" pitchFamily="34" charset="-122"/>
              </a:endParaRPr>
            </a:p>
          </p:txBody>
        </p:sp>
        <p:sp>
          <p:nvSpPr>
            <p:cNvPr id="9" name="矩形 8">
              <a:extLst>
                <a:ext uri="{FF2B5EF4-FFF2-40B4-BE49-F238E27FC236}">
                  <a16:creationId xmlns:a16="http://schemas.microsoft.com/office/drawing/2014/main" id="{D938E4A4-6831-00A6-352F-F89AC9C77CC7}"/>
                </a:ext>
              </a:extLst>
            </p:cNvPr>
            <p:cNvSpPr/>
            <p:nvPr/>
          </p:nvSpPr>
          <p:spPr>
            <a:xfrm>
              <a:off x="5345232" y="3204461"/>
              <a:ext cx="1174763" cy="53888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err="1">
                  <a:solidFill>
                    <a:schemeClr val="bg1"/>
                  </a:solidFill>
                  <a:latin typeface="思源黑体 Medium" panose="020B0600000000000000" pitchFamily="34" charset="-122"/>
                  <a:ea typeface="思源黑体 Medium" panose="020B0600000000000000" pitchFamily="34" charset="-122"/>
                </a:rPr>
                <a:t>CodeGen</a:t>
              </a:r>
              <a:endParaRPr lang="zh-CN" altLang="en-US" sz="1600" dirty="0">
                <a:solidFill>
                  <a:schemeClr val="bg1"/>
                </a:solidFill>
                <a:latin typeface="思源黑体 Medium" panose="020B0600000000000000" pitchFamily="34" charset="-122"/>
                <a:ea typeface="思源黑体 Medium" panose="020B0600000000000000" pitchFamily="34" charset="-122"/>
              </a:endParaRPr>
            </a:p>
          </p:txBody>
        </p:sp>
        <p:sp>
          <p:nvSpPr>
            <p:cNvPr id="10" name="矩形 9">
              <a:extLst>
                <a:ext uri="{FF2B5EF4-FFF2-40B4-BE49-F238E27FC236}">
                  <a16:creationId xmlns:a16="http://schemas.microsoft.com/office/drawing/2014/main" id="{FE086342-1037-A312-2EB4-612C2C719027}"/>
                </a:ext>
              </a:extLst>
            </p:cNvPr>
            <p:cNvSpPr/>
            <p:nvPr/>
          </p:nvSpPr>
          <p:spPr>
            <a:xfrm>
              <a:off x="6664135" y="3204461"/>
              <a:ext cx="1434836" cy="53888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bg1"/>
                  </a:solidFill>
                  <a:latin typeface="思源黑体 Medium" panose="020B0600000000000000" pitchFamily="34" charset="-122"/>
                  <a:ea typeface="思源黑体 Medium" panose="020B0600000000000000" pitchFamily="34" charset="-122"/>
                </a:rPr>
                <a:t>PanGuCoder</a:t>
              </a:r>
              <a:endParaRPr lang="zh-CN" altLang="en-US" sz="1600" dirty="0">
                <a:solidFill>
                  <a:schemeClr val="bg1"/>
                </a:solidFill>
                <a:latin typeface="思源黑体 Medium" panose="020B0600000000000000" pitchFamily="34" charset="-122"/>
                <a:ea typeface="思源黑体 Medium" panose="020B0600000000000000" pitchFamily="34" charset="-122"/>
              </a:endParaRPr>
            </a:p>
          </p:txBody>
        </p:sp>
        <p:sp>
          <p:nvSpPr>
            <p:cNvPr id="11" name="矩形 10">
              <a:extLst>
                <a:ext uri="{FF2B5EF4-FFF2-40B4-BE49-F238E27FC236}">
                  <a16:creationId xmlns:a16="http://schemas.microsoft.com/office/drawing/2014/main" id="{CF3FBD84-A0E6-897E-23EC-2330D35C4BB7}"/>
                </a:ext>
              </a:extLst>
            </p:cNvPr>
            <p:cNvSpPr/>
            <p:nvPr/>
          </p:nvSpPr>
          <p:spPr>
            <a:xfrm>
              <a:off x="8236798" y="3204461"/>
              <a:ext cx="1204239" cy="53888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bg1"/>
                  </a:solidFill>
                  <a:latin typeface="思源黑体 Medium" panose="020B0600000000000000" pitchFamily="34" charset="-122"/>
                  <a:ea typeface="思源黑体 Medium" panose="020B0600000000000000" pitchFamily="34" charset="-122"/>
                </a:rPr>
                <a:t>StarCoder</a:t>
              </a:r>
              <a:endParaRPr lang="zh-CN" altLang="en-US" sz="1600" dirty="0">
                <a:solidFill>
                  <a:schemeClr val="bg1"/>
                </a:solidFill>
                <a:latin typeface="思源黑体 Medium" panose="020B0600000000000000" pitchFamily="34" charset="-122"/>
                <a:ea typeface="思源黑体 Medium" panose="020B0600000000000000" pitchFamily="34" charset="-122"/>
              </a:endParaRPr>
            </a:p>
          </p:txBody>
        </p:sp>
        <p:sp>
          <p:nvSpPr>
            <p:cNvPr id="12" name="矩形 11">
              <a:extLst>
                <a:ext uri="{FF2B5EF4-FFF2-40B4-BE49-F238E27FC236}">
                  <a16:creationId xmlns:a16="http://schemas.microsoft.com/office/drawing/2014/main" id="{223C10DB-B90A-555B-31D1-925782454ACC}"/>
                </a:ext>
              </a:extLst>
            </p:cNvPr>
            <p:cNvSpPr/>
            <p:nvPr/>
          </p:nvSpPr>
          <p:spPr>
            <a:xfrm>
              <a:off x="9626828" y="3204461"/>
              <a:ext cx="1460522" cy="53888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bg1"/>
                  </a:solidFill>
                  <a:latin typeface="思源黑体 Medium" panose="020B0600000000000000" pitchFamily="34" charset="-122"/>
                  <a:ea typeface="思源黑体 Medium" panose="020B0600000000000000" pitchFamily="34" charset="-122"/>
                </a:rPr>
                <a:t>WizardCoder</a:t>
              </a:r>
              <a:endParaRPr lang="zh-CN" altLang="en-US" sz="1600" dirty="0">
                <a:solidFill>
                  <a:schemeClr val="bg1"/>
                </a:solidFill>
                <a:latin typeface="思源黑体 Medium" panose="020B0600000000000000" pitchFamily="34" charset="-122"/>
                <a:ea typeface="思源黑体 Medium" panose="020B0600000000000000" pitchFamily="34" charset="-122"/>
              </a:endParaRPr>
            </a:p>
          </p:txBody>
        </p:sp>
        <p:cxnSp>
          <p:nvCxnSpPr>
            <p:cNvPr id="13" name="直接连接符 12">
              <a:extLst>
                <a:ext uri="{FF2B5EF4-FFF2-40B4-BE49-F238E27FC236}">
                  <a16:creationId xmlns:a16="http://schemas.microsoft.com/office/drawing/2014/main" id="{A478289E-D656-8E07-F8D8-BF6F3673FAA1}"/>
                </a:ext>
              </a:extLst>
            </p:cNvPr>
            <p:cNvCxnSpPr>
              <a:cxnSpLocks/>
              <a:endCxn id="7" idx="0"/>
            </p:cNvCxnSpPr>
            <p:nvPr/>
          </p:nvCxnSpPr>
          <p:spPr>
            <a:xfrm>
              <a:off x="2676679" y="2986121"/>
              <a:ext cx="429201" cy="218340"/>
            </a:xfrm>
            <a:prstGeom prst="line">
              <a:avLst/>
            </a:prstGeom>
            <a:ln>
              <a:solidFill>
                <a:srgbClr val="9B0000"/>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5F4C06D0-BBD4-8D96-3271-486B72843F54}"/>
                </a:ext>
              </a:extLst>
            </p:cNvPr>
            <p:cNvCxnSpPr>
              <a:cxnSpLocks/>
              <a:stCxn id="8" idx="2"/>
            </p:cNvCxnSpPr>
            <p:nvPr/>
          </p:nvCxnSpPr>
          <p:spPr>
            <a:xfrm flipH="1">
              <a:off x="3504694" y="3743350"/>
              <a:ext cx="991216" cy="194907"/>
            </a:xfrm>
            <a:prstGeom prst="line">
              <a:avLst/>
            </a:prstGeom>
            <a:ln>
              <a:solidFill>
                <a:srgbClr val="9B0000"/>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8A67FD5A-0A12-900D-EB23-9E3695C8E0AF}"/>
                </a:ext>
              </a:extLst>
            </p:cNvPr>
            <p:cNvCxnSpPr>
              <a:cxnSpLocks/>
              <a:endCxn id="11" idx="0"/>
            </p:cNvCxnSpPr>
            <p:nvPr/>
          </p:nvCxnSpPr>
          <p:spPr>
            <a:xfrm flipH="1">
              <a:off x="8838918" y="3060192"/>
              <a:ext cx="602119" cy="144269"/>
            </a:xfrm>
            <a:prstGeom prst="line">
              <a:avLst/>
            </a:prstGeom>
            <a:ln>
              <a:solidFill>
                <a:srgbClr val="9B0000"/>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890251EF-B903-AE33-03D5-4E55648B63E8}"/>
                </a:ext>
              </a:extLst>
            </p:cNvPr>
            <p:cNvCxnSpPr>
              <a:cxnSpLocks/>
              <a:stCxn id="10" idx="2"/>
              <a:endCxn id="23" idx="0"/>
            </p:cNvCxnSpPr>
            <p:nvPr/>
          </p:nvCxnSpPr>
          <p:spPr>
            <a:xfrm flipH="1">
              <a:off x="6968386" y="3743350"/>
              <a:ext cx="413167" cy="124064"/>
            </a:xfrm>
            <a:prstGeom prst="line">
              <a:avLst/>
            </a:prstGeom>
            <a:ln>
              <a:solidFill>
                <a:srgbClr val="9B0000"/>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207987F2-8E9F-12E2-C874-35CA2F6F61AC}"/>
                </a:ext>
              </a:extLst>
            </p:cNvPr>
            <p:cNvCxnSpPr>
              <a:cxnSpLocks/>
              <a:endCxn id="9" idx="0"/>
            </p:cNvCxnSpPr>
            <p:nvPr/>
          </p:nvCxnSpPr>
          <p:spPr>
            <a:xfrm flipH="1">
              <a:off x="5932614" y="3005799"/>
              <a:ext cx="325519" cy="198662"/>
            </a:xfrm>
            <a:prstGeom prst="line">
              <a:avLst/>
            </a:prstGeom>
            <a:ln>
              <a:solidFill>
                <a:srgbClr val="9B0000"/>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D63C2C39-6D6F-1B21-F0BE-83D4786D3474}"/>
                </a:ext>
              </a:extLst>
            </p:cNvPr>
            <p:cNvCxnSpPr>
              <a:cxnSpLocks/>
              <a:stCxn id="12" idx="2"/>
              <a:endCxn id="24" idx="0"/>
            </p:cNvCxnSpPr>
            <p:nvPr/>
          </p:nvCxnSpPr>
          <p:spPr>
            <a:xfrm>
              <a:off x="10357090" y="3743350"/>
              <a:ext cx="661591" cy="194907"/>
            </a:xfrm>
            <a:prstGeom prst="line">
              <a:avLst/>
            </a:prstGeom>
            <a:ln>
              <a:solidFill>
                <a:srgbClr val="9B0000"/>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202A0844-9EEE-062B-1F74-B8A789E728A3}"/>
                </a:ext>
              </a:extLst>
            </p:cNvPr>
            <p:cNvSpPr/>
            <p:nvPr/>
          </p:nvSpPr>
          <p:spPr>
            <a:xfrm>
              <a:off x="1356259" y="1658537"/>
              <a:ext cx="3499242" cy="1351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a:lnSpc>
                  <a:spcPct val="114000"/>
                </a:lnSpc>
              </a:pPr>
              <a:r>
                <a:rPr lang="en-US" altLang="zh-CN" sz="1400" dirty="0">
                  <a:solidFill>
                    <a:srgbClr val="9B0000"/>
                  </a:solidFill>
                </a:rPr>
                <a:t>The earliest method for generating function-level code with LLMs was based on GPT-3, trained on GitHub source code. At the same time, the </a:t>
              </a:r>
              <a:r>
                <a:rPr lang="en-US" altLang="zh-CN" sz="1400" dirty="0" err="1">
                  <a:solidFill>
                    <a:srgbClr val="9B0000"/>
                  </a:solidFill>
                </a:rPr>
                <a:t>HumanEval</a:t>
              </a:r>
              <a:r>
                <a:rPr lang="en-US" altLang="zh-CN" sz="1400" dirty="0">
                  <a:solidFill>
                    <a:srgbClr val="9B0000"/>
                  </a:solidFill>
                </a:rPr>
                <a:t> benchmark was proposed.</a:t>
              </a:r>
              <a:r>
                <a:rPr lang="en-US" altLang="zh-CN" sz="1100" dirty="0">
                  <a:solidFill>
                    <a:schemeClr val="tx1"/>
                  </a:solidFill>
                </a:rPr>
                <a:t>[Chen  2021] etc.</a:t>
              </a:r>
              <a:endParaRPr lang="zh-CN" altLang="en-US" sz="1100" dirty="0">
                <a:solidFill>
                  <a:schemeClr val="tx1"/>
                </a:solidFill>
              </a:endParaRPr>
            </a:p>
          </p:txBody>
        </p:sp>
        <p:sp>
          <p:nvSpPr>
            <p:cNvPr id="20" name="矩形 19">
              <a:extLst>
                <a:ext uri="{FF2B5EF4-FFF2-40B4-BE49-F238E27FC236}">
                  <a16:creationId xmlns:a16="http://schemas.microsoft.com/office/drawing/2014/main" id="{939C743A-7BAB-924F-47B1-FC991BB20F97}"/>
                </a:ext>
              </a:extLst>
            </p:cNvPr>
            <p:cNvSpPr/>
            <p:nvPr/>
          </p:nvSpPr>
          <p:spPr>
            <a:xfrm>
              <a:off x="4855501" y="1702602"/>
              <a:ext cx="3660202" cy="13031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a:lnSpc>
                  <a:spcPct val="114000"/>
                </a:lnSpc>
              </a:pPr>
              <a:r>
                <a:rPr lang="en-US" altLang="zh-CN" sz="1400" dirty="0" err="1">
                  <a:solidFill>
                    <a:srgbClr val="9B0000"/>
                  </a:solidFill>
                </a:rPr>
                <a:t>CodeGen</a:t>
              </a:r>
              <a:r>
                <a:rPr lang="en-US" altLang="zh-CN" sz="1400" dirty="0">
                  <a:solidFill>
                    <a:srgbClr val="9B0000"/>
                  </a:solidFill>
                </a:rPr>
                <a:t> has trained and released a series of LLMs with up to 16.1B parameters for natural-language and programming-language data, and has opened the training library JAXFORMER.</a:t>
              </a:r>
              <a:r>
                <a:rPr lang="en-US" altLang="zh-CN" sz="1100" dirty="0">
                  <a:solidFill>
                    <a:schemeClr val="tx1"/>
                  </a:solidFill>
                </a:rPr>
                <a:t>[Marcus 2022]etc.</a:t>
              </a:r>
              <a:endParaRPr lang="zh-CN" altLang="en-US" sz="1100" dirty="0">
                <a:solidFill>
                  <a:schemeClr val="tx1"/>
                </a:solidFill>
              </a:endParaRPr>
            </a:p>
          </p:txBody>
        </p:sp>
        <p:sp>
          <p:nvSpPr>
            <p:cNvPr id="21" name="矩形 20">
              <a:extLst>
                <a:ext uri="{FF2B5EF4-FFF2-40B4-BE49-F238E27FC236}">
                  <a16:creationId xmlns:a16="http://schemas.microsoft.com/office/drawing/2014/main" id="{C190B322-EA09-44EA-DF67-ED4ACE6775A5}"/>
                </a:ext>
              </a:extLst>
            </p:cNvPr>
            <p:cNvSpPr/>
            <p:nvPr/>
          </p:nvSpPr>
          <p:spPr>
            <a:xfrm>
              <a:off x="8773138" y="1715211"/>
              <a:ext cx="3713935" cy="13959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a:lnSpc>
                  <a:spcPct val="114000"/>
                </a:lnSpc>
              </a:pPr>
              <a:r>
                <a:rPr lang="en-US" altLang="zh-CN" sz="1400" dirty="0" err="1">
                  <a:solidFill>
                    <a:srgbClr val="9B0000"/>
                  </a:solidFill>
                </a:rPr>
                <a:t>StarCoder</a:t>
              </a:r>
              <a:r>
                <a:rPr lang="en-US" altLang="zh-CN" sz="1400" dirty="0">
                  <a:solidFill>
                    <a:srgbClr val="9B0000"/>
                  </a:solidFill>
                </a:rPr>
                <a:t> opens all models, data, and code. In addition, </a:t>
              </a:r>
              <a:r>
                <a:rPr lang="en-US" altLang="zh-CN" sz="1400" dirty="0" err="1">
                  <a:solidFill>
                    <a:srgbClr val="9B0000"/>
                  </a:solidFill>
                </a:rPr>
                <a:t>StarCoder</a:t>
              </a:r>
              <a:r>
                <a:rPr lang="en-US" altLang="zh-CN" sz="1400" dirty="0">
                  <a:solidFill>
                    <a:srgbClr val="9B0000"/>
                  </a:solidFill>
                </a:rPr>
                <a:t> also removes users' private information during training and excludes projects on GitHub that are not allowed by their licenses.</a:t>
              </a:r>
              <a:r>
                <a:rPr lang="en-US" altLang="zh-CN" sz="1100" dirty="0">
                  <a:solidFill>
                    <a:schemeClr val="tx1"/>
                  </a:solidFill>
                </a:rPr>
                <a:t>[Li 2022]etc.</a:t>
              </a:r>
              <a:endParaRPr lang="zh-CN" altLang="en-US" sz="1100" dirty="0">
                <a:solidFill>
                  <a:schemeClr val="tx1"/>
                </a:solidFill>
              </a:endParaRPr>
            </a:p>
          </p:txBody>
        </p:sp>
        <p:sp>
          <p:nvSpPr>
            <p:cNvPr id="22" name="矩形 21">
              <a:extLst>
                <a:ext uri="{FF2B5EF4-FFF2-40B4-BE49-F238E27FC236}">
                  <a16:creationId xmlns:a16="http://schemas.microsoft.com/office/drawing/2014/main" id="{4AFCC659-C2E0-B7FE-9CCB-4A521ED7E446}"/>
                </a:ext>
              </a:extLst>
            </p:cNvPr>
            <p:cNvSpPr/>
            <p:nvPr/>
          </p:nvSpPr>
          <p:spPr>
            <a:xfrm>
              <a:off x="1356259" y="3887621"/>
              <a:ext cx="3595440" cy="18812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a:lnSpc>
                  <a:spcPct val="114000"/>
                </a:lnSpc>
              </a:pPr>
              <a:r>
                <a:rPr lang="en-US" altLang="zh-CN" sz="1400" dirty="0">
                  <a:solidFill>
                    <a:srgbClr val="9B0000"/>
                  </a:solidFill>
                </a:rPr>
                <a:t>By leveraging a large and efficient model infrastructure and large-scale model sampling, </a:t>
              </a:r>
              <a:r>
                <a:rPr lang="en-US" altLang="zh-CN" sz="1400" dirty="0" err="1">
                  <a:solidFill>
                    <a:srgbClr val="9B0000"/>
                  </a:solidFill>
                </a:rPr>
                <a:t>AlphaCode</a:t>
              </a:r>
              <a:r>
                <a:rPr lang="en-US" altLang="zh-CN" sz="1400" dirty="0">
                  <a:solidFill>
                    <a:srgbClr val="9B0000"/>
                  </a:solidFill>
                </a:rPr>
                <a:t> improves code generation performance by exploring the search space and then filtering down to a small set of submissions based on program behavior. </a:t>
              </a:r>
              <a:r>
                <a:rPr lang="en-US" altLang="zh-CN" sz="1100" dirty="0">
                  <a:solidFill>
                    <a:schemeClr val="tx1"/>
                  </a:solidFill>
                </a:rPr>
                <a:t>[Li 2021] </a:t>
              </a:r>
              <a:endParaRPr lang="zh-CN" altLang="en-US" sz="1100" dirty="0">
                <a:solidFill>
                  <a:schemeClr val="tx1"/>
                </a:solidFill>
              </a:endParaRPr>
            </a:p>
          </p:txBody>
        </p:sp>
        <p:sp>
          <p:nvSpPr>
            <p:cNvPr id="23" name="矩形 22">
              <a:extLst>
                <a:ext uri="{FF2B5EF4-FFF2-40B4-BE49-F238E27FC236}">
                  <a16:creationId xmlns:a16="http://schemas.microsoft.com/office/drawing/2014/main" id="{8B5F639D-ACFB-AB20-2187-F457CEB8C427}"/>
                </a:ext>
              </a:extLst>
            </p:cNvPr>
            <p:cNvSpPr/>
            <p:nvPr/>
          </p:nvSpPr>
          <p:spPr>
            <a:xfrm>
              <a:off x="5038617" y="3867414"/>
              <a:ext cx="3859537" cy="19333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a:lnSpc>
                  <a:spcPct val="114000"/>
                </a:lnSpc>
              </a:pPr>
              <a:r>
                <a:rPr lang="en-US" altLang="zh-CN" sz="1400" dirty="0">
                  <a:solidFill>
                    <a:srgbClr val="9B0000"/>
                  </a:solidFill>
                </a:rPr>
                <a:t>PanGu-Coder uses a two-stage strategy for training: the first stage involves pretraining on raw programming-language data using causal language modeling (CLM), while the second stage uses a combination of CLM and masked language modeling (MLM) training objectives.</a:t>
              </a:r>
              <a:r>
                <a:rPr lang="en-US" altLang="zh-CN" sz="1100" dirty="0">
                  <a:solidFill>
                    <a:schemeClr val="tx1"/>
                  </a:solidFill>
                </a:rPr>
                <a:t>[Vinz  2022]</a:t>
              </a:r>
              <a:endParaRPr lang="zh-CN" altLang="en-US" sz="1100" dirty="0">
                <a:solidFill>
                  <a:schemeClr val="tx1"/>
                </a:solidFill>
              </a:endParaRPr>
            </a:p>
          </p:txBody>
        </p:sp>
        <p:sp>
          <p:nvSpPr>
            <p:cNvPr id="24" name="矩形 23">
              <a:extLst>
                <a:ext uri="{FF2B5EF4-FFF2-40B4-BE49-F238E27FC236}">
                  <a16:creationId xmlns:a16="http://schemas.microsoft.com/office/drawing/2014/main" id="{830828F0-AC52-BB9E-AE6A-1837D8B86D71}"/>
                </a:ext>
              </a:extLst>
            </p:cNvPr>
            <p:cNvSpPr/>
            <p:nvPr/>
          </p:nvSpPr>
          <p:spPr>
            <a:xfrm>
              <a:off x="9322668" y="3938257"/>
              <a:ext cx="3392024" cy="16599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a:lnSpc>
                  <a:spcPct val="114000"/>
                </a:lnSpc>
              </a:pPr>
              <a:r>
                <a:rPr lang="en-US" altLang="zh-CN" sz="1400" dirty="0" err="1">
                  <a:solidFill>
                    <a:srgbClr val="9B0000"/>
                  </a:solidFill>
                </a:rPr>
                <a:t>WizardCoder</a:t>
              </a:r>
              <a:r>
                <a:rPr lang="en-US" altLang="zh-CN" sz="1400" dirty="0">
                  <a:solidFill>
                    <a:srgbClr val="9B0000"/>
                  </a:solidFill>
                </a:rPr>
                <a:t> is based on </a:t>
              </a:r>
              <a:r>
                <a:rPr lang="en-US" altLang="zh-CN" sz="1400" dirty="0" err="1">
                  <a:solidFill>
                    <a:srgbClr val="9B0000"/>
                  </a:solidFill>
                </a:rPr>
                <a:t>StarCoder</a:t>
              </a:r>
              <a:r>
                <a:rPr lang="en-US" altLang="zh-CN" sz="1400" dirty="0">
                  <a:solidFill>
                    <a:srgbClr val="9B0000"/>
                  </a:solidFill>
                </a:rPr>
                <a:t> and has been trained with instruction prompt finetuning to produce a more effective model. It uses five types of prompt templates and achieves results far superior to </a:t>
              </a:r>
              <a:r>
                <a:rPr lang="en-US" altLang="zh-CN" sz="1400" dirty="0" err="1">
                  <a:solidFill>
                    <a:srgbClr val="9B0000"/>
                  </a:solidFill>
                </a:rPr>
                <a:t>StarCoder</a:t>
              </a:r>
              <a:r>
                <a:rPr lang="en-US" altLang="zh-CN" sz="1400" dirty="0">
                  <a:solidFill>
                    <a:srgbClr val="9B0000"/>
                  </a:solidFill>
                </a:rPr>
                <a:t>.</a:t>
              </a:r>
              <a:r>
                <a:rPr lang="en-US" altLang="zh-CN" sz="1100" dirty="0">
                  <a:solidFill>
                    <a:schemeClr val="tx1"/>
                  </a:solidFill>
                </a:rPr>
                <a:t>[Nguyen  2023] etc.</a:t>
              </a:r>
              <a:endParaRPr lang="zh-CN" altLang="en-US" sz="1100" dirty="0">
                <a:solidFill>
                  <a:schemeClr val="tx1"/>
                </a:solidFill>
              </a:endParaRPr>
            </a:p>
          </p:txBody>
        </p:sp>
      </p:grpSp>
    </p:spTree>
    <p:extLst>
      <p:ext uri="{BB962C8B-B14F-4D97-AF65-F5344CB8AC3E}">
        <p14:creationId xmlns:p14="http://schemas.microsoft.com/office/powerpoint/2010/main" val="6439134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A3ABA-4C2C-B499-D6F7-AF3EC2EF39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359D87-B060-5FB5-13FF-7902D699C975}"/>
              </a:ext>
            </a:extLst>
          </p:cNvPr>
          <p:cNvSpPr>
            <a:spLocks noGrp="1"/>
          </p:cNvSpPr>
          <p:nvPr>
            <p:ph type="title"/>
          </p:nvPr>
        </p:nvSpPr>
        <p:spPr>
          <a:xfrm>
            <a:off x="1088571" y="144466"/>
            <a:ext cx="10722429" cy="692151"/>
          </a:xfrm>
        </p:spPr>
        <p:txBody>
          <a:bodyPr/>
          <a:lstStyle/>
          <a:p>
            <a:r>
              <a:rPr lang="en-US" altLang="zh-CN" dirty="0">
                <a:latin typeface="Times New Roman" panose="02020603050405020304" pitchFamily="18" charset="0"/>
                <a:cs typeface="Times New Roman" panose="02020603050405020304" pitchFamily="18" charset="0"/>
              </a:rPr>
              <a:t>Background – Unit Test Generation </a:t>
            </a:r>
            <a:r>
              <a:rPr lang="en-US" sz="2400" dirty="0">
                <a:latin typeface="Times New Roman" panose="02020603050405020304" pitchFamily="18" charset="0"/>
                <a:cs typeface="Times New Roman" panose="02020603050405020304" pitchFamily="18" charset="0"/>
              </a:rPr>
              <a:t>(3/6)</a:t>
            </a:r>
          </a:p>
        </p:txBody>
      </p:sp>
      <p:sp>
        <p:nvSpPr>
          <p:cNvPr id="4" name="灯片编号占位符 1">
            <a:extLst>
              <a:ext uri="{FF2B5EF4-FFF2-40B4-BE49-F238E27FC236}">
                <a16:creationId xmlns:a16="http://schemas.microsoft.com/office/drawing/2014/main" id="{1B9431DB-8879-8ABC-BEE2-BC3EAB8D88FE}"/>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10</a:t>
            </a:fld>
            <a:endParaRPr lang="zh-TW" altLang="en-US"/>
          </a:p>
        </p:txBody>
      </p:sp>
      <p:sp>
        <p:nvSpPr>
          <p:cNvPr id="8" name="矩形 7">
            <a:extLst>
              <a:ext uri="{FF2B5EF4-FFF2-40B4-BE49-F238E27FC236}">
                <a16:creationId xmlns:a16="http://schemas.microsoft.com/office/drawing/2014/main" id="{78EA6B9E-2D4B-F671-FEC6-725CD4714E1A}"/>
              </a:ext>
            </a:extLst>
          </p:cNvPr>
          <p:cNvSpPr/>
          <p:nvPr/>
        </p:nvSpPr>
        <p:spPr>
          <a:xfrm rot="5400000">
            <a:off x="3219139" y="-961411"/>
            <a:ext cx="455423" cy="4906411"/>
          </a:xfrm>
          <a:prstGeom prst="rect">
            <a:avLst/>
          </a:prstGeom>
          <a:solidFill>
            <a:srgbClr val="9B0000"/>
          </a:solidFill>
          <a:ln>
            <a:solidFill>
              <a:srgbClr val="9B0000"/>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72000" rIns="0" bIns="72000" rtlCol="0" anchor="ctr"/>
          <a:lstStyle/>
          <a:p>
            <a:pPr algn="ctr"/>
            <a:r>
              <a:rPr lang="en-US" altLang="zh-CN" dirty="0">
                <a:latin typeface="思源黑体 Medium" panose="020B0600000000000000" pitchFamily="34" charset="-122"/>
                <a:ea typeface="思源黑体 Medium" panose="020B0600000000000000"/>
              </a:rPr>
              <a:t>Natural</a:t>
            </a:r>
            <a:r>
              <a:rPr lang="zh-CN" altLang="en-US" dirty="0">
                <a:latin typeface="思源黑体 Medium" panose="020B0600000000000000" pitchFamily="34" charset="-122"/>
                <a:ea typeface="思源黑体 Medium" panose="020B0600000000000000"/>
              </a:rPr>
              <a:t> </a:t>
            </a:r>
            <a:r>
              <a:rPr lang="en-US" altLang="zh-CN" dirty="0">
                <a:latin typeface="思源黑体 Medium" panose="020B0600000000000000" pitchFamily="34" charset="-122"/>
                <a:ea typeface="思源黑体 Medium" panose="020B0600000000000000"/>
              </a:rPr>
              <a:t>Language and Program</a:t>
            </a:r>
            <a:endParaRPr lang="zh-CN" altLang="en-US" dirty="0">
              <a:latin typeface="思源黑体 Medium" panose="020B0600000000000000" pitchFamily="34" charset="-122"/>
              <a:ea typeface="思源黑体 Medium" panose="020B0600000000000000"/>
            </a:endParaRPr>
          </a:p>
        </p:txBody>
      </p:sp>
      <p:sp>
        <p:nvSpPr>
          <p:cNvPr id="9" name="矩形 8">
            <a:extLst>
              <a:ext uri="{FF2B5EF4-FFF2-40B4-BE49-F238E27FC236}">
                <a16:creationId xmlns:a16="http://schemas.microsoft.com/office/drawing/2014/main" id="{26D0EB77-3838-AA60-7121-DF9F1FA9D4A0}"/>
              </a:ext>
            </a:extLst>
          </p:cNvPr>
          <p:cNvSpPr/>
          <p:nvPr/>
        </p:nvSpPr>
        <p:spPr>
          <a:xfrm rot="5400000">
            <a:off x="8619047" y="-961411"/>
            <a:ext cx="455423" cy="4906411"/>
          </a:xfrm>
          <a:prstGeom prst="rect">
            <a:avLst/>
          </a:prstGeom>
          <a:solidFill>
            <a:srgbClr val="9B0000"/>
          </a:solidFill>
          <a:ln>
            <a:solidFill>
              <a:srgbClr val="9B0000"/>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72000" rIns="0" bIns="72000" rtlCol="0" anchor="ctr"/>
          <a:lstStyle/>
          <a:p>
            <a:pPr algn="ctr"/>
            <a:r>
              <a:rPr lang="en-US" altLang="zh-CN" dirty="0">
                <a:latin typeface="思源黑体 Medium" panose="020B0600000000000000" pitchFamily="34" charset="-122"/>
                <a:ea typeface="思源黑体 Medium" panose="020B0600000000000000"/>
              </a:rPr>
              <a:t>Unit</a:t>
            </a:r>
            <a:r>
              <a:rPr lang="zh-CN" altLang="en-US" dirty="0">
                <a:latin typeface="思源黑体 Medium" panose="020B0600000000000000" pitchFamily="34" charset="-122"/>
                <a:ea typeface="思源黑体 Medium" panose="020B0600000000000000"/>
              </a:rPr>
              <a:t> </a:t>
            </a:r>
            <a:r>
              <a:rPr lang="en-US" altLang="zh-CN" dirty="0">
                <a:latin typeface="思源黑体 Medium" panose="020B0600000000000000" pitchFamily="34" charset="-122"/>
                <a:ea typeface="思源黑体 Medium" panose="020B0600000000000000"/>
              </a:rPr>
              <a:t>Test</a:t>
            </a:r>
            <a:r>
              <a:rPr lang="zh-CN" altLang="en-US" dirty="0">
                <a:latin typeface="思源黑体 Medium" panose="020B0600000000000000" pitchFamily="34" charset="-122"/>
                <a:ea typeface="思源黑体 Medium" panose="020B0600000000000000"/>
              </a:rPr>
              <a:t> </a:t>
            </a:r>
            <a:r>
              <a:rPr lang="en-US" altLang="zh-CN" dirty="0">
                <a:latin typeface="思源黑体 Medium" panose="020B0600000000000000" pitchFamily="34" charset="-122"/>
                <a:ea typeface="思源黑体 Medium" panose="020B0600000000000000"/>
              </a:rPr>
              <a:t>Case Generation Method</a:t>
            </a:r>
            <a:endParaRPr lang="zh-CN" altLang="en-US" dirty="0">
              <a:latin typeface="思源黑体 Medium" panose="020B0600000000000000" pitchFamily="34" charset="-122"/>
              <a:ea typeface="思源黑体 Medium" panose="020B0600000000000000"/>
            </a:endParaRPr>
          </a:p>
        </p:txBody>
      </p:sp>
      <p:pic>
        <p:nvPicPr>
          <p:cNvPr id="10" name="图片 9">
            <a:extLst>
              <a:ext uri="{FF2B5EF4-FFF2-40B4-BE49-F238E27FC236}">
                <a16:creationId xmlns:a16="http://schemas.microsoft.com/office/drawing/2014/main" id="{12BBF866-E47D-0998-1A7A-10CC45CF0662}"/>
              </a:ext>
            </a:extLst>
          </p:cNvPr>
          <p:cNvPicPr>
            <a:picLocks noChangeAspect="1"/>
          </p:cNvPicPr>
          <p:nvPr/>
        </p:nvPicPr>
        <p:blipFill>
          <a:blip r:embed="rId3"/>
          <a:stretch>
            <a:fillRect/>
          </a:stretch>
        </p:blipFill>
        <p:spPr>
          <a:xfrm>
            <a:off x="1088571" y="1719506"/>
            <a:ext cx="4811485" cy="2976591"/>
          </a:xfrm>
          <a:prstGeom prst="rect">
            <a:avLst/>
          </a:prstGeom>
        </p:spPr>
      </p:pic>
      <p:sp>
        <p:nvSpPr>
          <p:cNvPr id="11" name="文本框 10">
            <a:extLst>
              <a:ext uri="{FF2B5EF4-FFF2-40B4-BE49-F238E27FC236}">
                <a16:creationId xmlns:a16="http://schemas.microsoft.com/office/drawing/2014/main" id="{20CC75BD-A396-2D72-3CA1-EF2F7D228B09}"/>
              </a:ext>
            </a:extLst>
          </p:cNvPr>
          <p:cNvSpPr txBox="1"/>
          <p:nvPr/>
        </p:nvSpPr>
        <p:spPr>
          <a:xfrm>
            <a:off x="6393552" y="1719506"/>
            <a:ext cx="4906411" cy="3200876"/>
          </a:xfrm>
          <a:prstGeom prst="rect">
            <a:avLst/>
          </a:prstGeom>
          <a:noFill/>
        </p:spPr>
        <p:txBody>
          <a:bodyPr wrap="square" rtlCol="0">
            <a:spAutoFit/>
          </a:bodyPr>
          <a:lstStyle/>
          <a:p>
            <a:pPr marL="342900" indent="-342900">
              <a:buFont typeface="Arial" panose="020B0604020202020204" pitchFamily="34" charset="0"/>
              <a:buChar char="•"/>
            </a:pPr>
            <a:r>
              <a:rPr lang="en-US" altLang="zh-CN" dirty="0"/>
              <a:t>Search-Based</a:t>
            </a:r>
          </a:p>
          <a:p>
            <a:pPr marL="800100" lvl="1" indent="-342900">
              <a:buFont typeface="Arial" panose="020B0604020202020204" pitchFamily="34" charset="0"/>
              <a:buChar char="•"/>
            </a:pPr>
            <a:r>
              <a:rPr lang="en-US" altLang="zh-CN" sz="1600" dirty="0" err="1">
                <a:solidFill>
                  <a:schemeClr val="tx1">
                    <a:lumMod val="50000"/>
                    <a:lumOff val="50000"/>
                  </a:schemeClr>
                </a:solidFill>
                <a:ea typeface="思源黑体 Medium" panose="020B0600000000000000"/>
              </a:rPr>
              <a:t>Evosuite</a:t>
            </a:r>
            <a:r>
              <a:rPr lang="en-US" altLang="zh-CN" sz="1600" dirty="0">
                <a:solidFill>
                  <a:schemeClr val="tx1">
                    <a:lumMod val="50000"/>
                    <a:lumOff val="50000"/>
                  </a:schemeClr>
                </a:solidFill>
                <a:ea typeface="思源黑体 Medium" panose="020B0600000000000000"/>
              </a:rPr>
              <a:t> [Hindle</a:t>
            </a:r>
            <a:r>
              <a:rPr lang="zh-CN" altLang="en-US" sz="1600" dirty="0">
                <a:solidFill>
                  <a:schemeClr val="tx1">
                    <a:lumMod val="50000"/>
                    <a:lumOff val="50000"/>
                  </a:schemeClr>
                </a:solidFill>
                <a:ea typeface="思源黑体 Medium" panose="020B0600000000000000"/>
              </a:rPr>
              <a:t> </a:t>
            </a:r>
            <a:r>
              <a:rPr lang="en-US" altLang="zh-CN" sz="1600" dirty="0">
                <a:solidFill>
                  <a:schemeClr val="tx1">
                    <a:lumMod val="50000"/>
                    <a:lumOff val="50000"/>
                  </a:schemeClr>
                </a:solidFill>
                <a:ea typeface="思源黑体 Medium" panose="020B0600000000000000"/>
              </a:rPr>
              <a:t>12]</a:t>
            </a:r>
          </a:p>
          <a:p>
            <a:pPr marL="800100" lvl="1" indent="-342900">
              <a:buFont typeface="Arial" panose="020B0604020202020204" pitchFamily="34" charset="0"/>
              <a:buChar char="•"/>
            </a:pPr>
            <a:endParaRPr lang="en-US" altLang="zh-CN" sz="1400" dirty="0">
              <a:solidFill>
                <a:schemeClr val="tx1">
                  <a:lumMod val="50000"/>
                  <a:lumOff val="50000"/>
                </a:schemeClr>
              </a:solidFill>
              <a:ea typeface="思源黑体 Medium" panose="020B0600000000000000"/>
            </a:endParaRPr>
          </a:p>
          <a:p>
            <a:pPr marL="342900" indent="-342900">
              <a:buFont typeface="Arial" panose="020B0604020202020204" pitchFamily="34" charset="0"/>
              <a:buChar char="•"/>
            </a:pPr>
            <a:r>
              <a:rPr lang="en-US" altLang="zh-CN" dirty="0"/>
              <a:t>Ad-hoc</a:t>
            </a:r>
            <a:r>
              <a:rPr lang="zh-CN" altLang="en-US" dirty="0"/>
              <a:t> </a:t>
            </a:r>
            <a:r>
              <a:rPr lang="en-US" altLang="zh-CN" dirty="0"/>
              <a:t>Testing</a:t>
            </a:r>
          </a:p>
          <a:p>
            <a:pPr marL="800100" lvl="1" indent="-342900">
              <a:buFont typeface="Arial" panose="020B0604020202020204" pitchFamily="34" charset="0"/>
              <a:buChar char="•"/>
            </a:pPr>
            <a:r>
              <a:rPr lang="en-US" sz="1600" dirty="0" err="1">
                <a:solidFill>
                  <a:schemeClr val="tx1">
                    <a:lumMod val="50000"/>
                    <a:lumOff val="50000"/>
                  </a:schemeClr>
                </a:solidFill>
                <a:ea typeface="思源黑体 Medium" panose="020B0600000000000000"/>
                <a:sym typeface="+mn-ea"/>
              </a:rPr>
              <a:t>Randoop</a:t>
            </a:r>
            <a:r>
              <a:rPr lang="en-US" sz="1600" dirty="0">
                <a:solidFill>
                  <a:schemeClr val="tx1">
                    <a:lumMod val="50000"/>
                    <a:lumOff val="50000"/>
                  </a:schemeClr>
                </a:solidFill>
                <a:ea typeface="思源黑体 Medium" panose="020B0600000000000000"/>
                <a:sym typeface="+mn-ea"/>
              </a:rPr>
              <a:t> </a:t>
            </a:r>
            <a:r>
              <a:rPr lang="en-US" altLang="zh-CN" sz="1600" dirty="0">
                <a:solidFill>
                  <a:schemeClr val="tx1">
                    <a:lumMod val="50000"/>
                    <a:lumOff val="50000"/>
                  </a:schemeClr>
                </a:solidFill>
                <a:ea typeface="思源黑体 Medium" panose="020B0600000000000000"/>
              </a:rPr>
              <a:t>[Mou</a:t>
            </a:r>
            <a:r>
              <a:rPr lang="zh-CN" altLang="en-US" sz="1600" dirty="0">
                <a:solidFill>
                  <a:schemeClr val="tx1">
                    <a:lumMod val="50000"/>
                    <a:lumOff val="50000"/>
                  </a:schemeClr>
                </a:solidFill>
                <a:ea typeface="思源黑体 Medium" panose="020B0600000000000000"/>
              </a:rPr>
              <a:t> </a:t>
            </a:r>
            <a:r>
              <a:rPr lang="en-US" altLang="zh-CN" sz="1600" dirty="0">
                <a:solidFill>
                  <a:schemeClr val="tx1">
                    <a:lumMod val="50000"/>
                    <a:lumOff val="50000"/>
                  </a:schemeClr>
                </a:solidFill>
                <a:ea typeface="思源黑体 Medium" panose="020B0600000000000000"/>
              </a:rPr>
              <a:t>16]</a:t>
            </a:r>
          </a:p>
          <a:p>
            <a:pPr marL="800100" lvl="1" indent="-342900">
              <a:buFont typeface="Arial" panose="020B0604020202020204" pitchFamily="34" charset="0"/>
              <a:buChar char="•"/>
            </a:pPr>
            <a:endParaRPr lang="en-US" altLang="zh-CN" sz="1400" dirty="0">
              <a:solidFill>
                <a:schemeClr val="tx1">
                  <a:lumMod val="50000"/>
                  <a:lumOff val="50000"/>
                </a:schemeClr>
              </a:solidFill>
              <a:ea typeface="思源黑体 Medium" panose="020B0600000000000000"/>
            </a:endParaRPr>
          </a:p>
          <a:p>
            <a:pPr marL="342900" indent="-342900">
              <a:buFont typeface="Arial" panose="020B0604020202020204" pitchFamily="34" charset="0"/>
              <a:buChar char="•"/>
            </a:pPr>
            <a:r>
              <a:rPr lang="en-US" altLang="zh-CN" dirty="0"/>
              <a:t>Combinatorial Testing</a:t>
            </a:r>
          </a:p>
          <a:p>
            <a:pPr marL="800100" lvl="1" indent="-342900">
              <a:buFont typeface="Arial" panose="020B0604020202020204" pitchFamily="34" charset="0"/>
              <a:buChar char="•"/>
            </a:pPr>
            <a:r>
              <a:rPr lang="en-US" altLang="zh-CN" sz="1600" dirty="0">
                <a:solidFill>
                  <a:schemeClr val="tx1">
                    <a:lumMod val="50000"/>
                    <a:lumOff val="50000"/>
                  </a:schemeClr>
                </a:solidFill>
                <a:ea typeface="思源黑体 Medium" panose="020B0600000000000000"/>
              </a:rPr>
              <a:t>JBSE </a:t>
            </a:r>
            <a:r>
              <a:rPr lang="en-US" altLang="zh-CN" sz="1600" dirty="0">
                <a:solidFill>
                  <a:schemeClr val="tx1">
                    <a:lumMod val="50000"/>
                    <a:lumOff val="50000"/>
                  </a:schemeClr>
                </a:solidFill>
              </a:rPr>
              <a:t>[</a:t>
            </a:r>
            <a:r>
              <a:rPr lang="en-US" altLang="zh-CN" sz="1600" dirty="0" err="1">
                <a:solidFill>
                  <a:schemeClr val="tx1">
                    <a:lumMod val="50000"/>
                    <a:lumOff val="50000"/>
                  </a:schemeClr>
                </a:solidFill>
              </a:rPr>
              <a:t>Bhoopchand</a:t>
            </a:r>
            <a:r>
              <a:rPr lang="en-US" altLang="zh-CN" sz="1600" dirty="0">
                <a:solidFill>
                  <a:schemeClr val="tx1">
                    <a:lumMod val="50000"/>
                    <a:lumOff val="50000"/>
                  </a:schemeClr>
                </a:solidFill>
              </a:rPr>
              <a:t> 16]</a:t>
            </a:r>
          </a:p>
          <a:p>
            <a:pPr marL="800100" lvl="1" indent="-342900">
              <a:buFont typeface="Arial" panose="020B0604020202020204" pitchFamily="34" charset="0"/>
              <a:buChar char="•"/>
            </a:pPr>
            <a:endParaRPr lang="en-US" altLang="zh-CN" sz="1600" dirty="0">
              <a:solidFill>
                <a:schemeClr val="tx1">
                  <a:lumMod val="50000"/>
                  <a:lumOff val="50000"/>
                </a:schemeClr>
              </a:solidFill>
              <a:ea typeface="思源黑体 Medium" panose="020B0600000000000000"/>
            </a:endParaRPr>
          </a:p>
          <a:p>
            <a:pPr marL="342900" indent="-342900">
              <a:buFont typeface="Arial" panose="020B0604020202020204" pitchFamily="34" charset="0"/>
              <a:buChar char="•"/>
            </a:pPr>
            <a:r>
              <a:rPr lang="en-US" altLang="zh-CN" dirty="0"/>
              <a:t>Symbolic Execution</a:t>
            </a:r>
          </a:p>
          <a:p>
            <a:pPr marL="800100" lvl="1" indent="-342900">
              <a:buFont typeface="Arial" panose="020B0604020202020204" pitchFamily="34" charset="0"/>
              <a:buChar char="•"/>
            </a:pPr>
            <a:r>
              <a:rPr lang="en-US" altLang="zh-CN" sz="1600" dirty="0">
                <a:solidFill>
                  <a:schemeClr val="tx1">
                    <a:lumMod val="50000"/>
                    <a:lumOff val="50000"/>
                  </a:schemeClr>
                </a:solidFill>
                <a:ea typeface="思源黑体 Medium" panose="020B0600000000000000"/>
              </a:rPr>
              <a:t>KLEE [04]</a:t>
            </a:r>
          </a:p>
          <a:p>
            <a:pPr marL="342900" indent="-342900">
              <a:buFont typeface="Arial" panose="020B0604020202020204" pitchFamily="34" charset="0"/>
              <a:buChar char="•"/>
            </a:pPr>
            <a:endParaRPr lang="en-US" altLang="zh-CN" sz="2000" dirty="0">
              <a:ea typeface="思源黑体 Medium" panose="020B0600000000000000"/>
            </a:endParaRPr>
          </a:p>
        </p:txBody>
      </p:sp>
      <p:sp>
        <p:nvSpPr>
          <p:cNvPr id="13" name="文本框 12">
            <a:extLst>
              <a:ext uri="{FF2B5EF4-FFF2-40B4-BE49-F238E27FC236}">
                <a16:creationId xmlns:a16="http://schemas.microsoft.com/office/drawing/2014/main" id="{4FC06BDB-D2C2-153D-B525-A52C47496C45}"/>
              </a:ext>
            </a:extLst>
          </p:cNvPr>
          <p:cNvSpPr txBox="1"/>
          <p:nvPr/>
        </p:nvSpPr>
        <p:spPr>
          <a:xfrm>
            <a:off x="2076994" y="4944350"/>
            <a:ext cx="7746275" cy="1013354"/>
          </a:xfrm>
          <a:prstGeom prst="rect">
            <a:avLst/>
          </a:prstGeom>
          <a:noFill/>
        </p:spPr>
        <p:txBody>
          <a:bodyPr wrap="square">
            <a:spAutoFit/>
          </a:bodyPr>
          <a:lstStyle/>
          <a:p>
            <a:pPr lvl="0">
              <a:lnSpc>
                <a:spcPct val="114000"/>
              </a:lnSpc>
              <a:spcBef>
                <a:spcPts val="1000"/>
              </a:spcBef>
            </a:pPr>
            <a:r>
              <a:rPr lang="en-US" altLang="zh-CN" sz="1800" dirty="0">
                <a:solidFill>
                  <a:srgbClr val="C00000"/>
                </a:solidFill>
                <a:ea typeface="思源黑体 Medium" panose="020B0600000000000000"/>
              </a:rPr>
              <a:t>【</a:t>
            </a:r>
            <a:r>
              <a:rPr lang="en-US" altLang="zh-CN" dirty="0" err="1">
                <a:solidFill>
                  <a:srgbClr val="C00000"/>
                </a:solidFill>
                <a:ea typeface="思源黑体 Medium" panose="020B0600000000000000"/>
              </a:rPr>
              <a:t>Conclusion</a:t>
            </a:r>
            <a:r>
              <a:rPr lang="en-US" altLang="zh-CN" sz="1800" dirty="0" err="1">
                <a:solidFill>
                  <a:srgbClr val="C00000"/>
                </a:solidFill>
                <a:ea typeface="思源黑体 Medium" panose="020B0600000000000000"/>
              </a:rPr>
              <a:t>】</a:t>
            </a:r>
            <a:r>
              <a:rPr lang="en-US" altLang="zh-CN" b="1" dirty="0" err="1"/>
              <a:t>Traditional</a:t>
            </a:r>
            <a:r>
              <a:rPr lang="en-US" altLang="zh-CN" b="1" dirty="0"/>
              <a:t> unit test case generation methods can produce test cases that achieve high coverage, but they </a:t>
            </a:r>
            <a:r>
              <a:rPr lang="en-US" altLang="zh-CN" b="1" dirty="0">
                <a:solidFill>
                  <a:srgbClr val="FF0000"/>
                </a:solidFill>
              </a:rPr>
              <a:t>cannot generate test assertions to find logical errors.</a:t>
            </a:r>
            <a:endParaRPr lang="zh-CN" altLang="en-US" sz="1800" dirty="0">
              <a:solidFill>
                <a:srgbClr val="FF0000"/>
              </a:solidFill>
            </a:endParaRPr>
          </a:p>
        </p:txBody>
      </p:sp>
    </p:spTree>
    <p:extLst>
      <p:ext uri="{BB962C8B-B14F-4D97-AF65-F5344CB8AC3E}">
        <p14:creationId xmlns:p14="http://schemas.microsoft.com/office/powerpoint/2010/main" val="21718355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6AB98-EBA0-31AB-365F-82FAB263CF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8F05B9-AC37-9F9A-656D-A107454099E0}"/>
              </a:ext>
            </a:extLst>
          </p:cNvPr>
          <p:cNvSpPr>
            <a:spLocks noGrp="1"/>
          </p:cNvSpPr>
          <p:nvPr>
            <p:ph type="title"/>
          </p:nvPr>
        </p:nvSpPr>
        <p:spPr>
          <a:xfrm>
            <a:off x="1088571" y="144466"/>
            <a:ext cx="10722429" cy="692151"/>
          </a:xfrm>
        </p:spPr>
        <p:txBody>
          <a:bodyPr/>
          <a:lstStyle/>
          <a:p>
            <a:r>
              <a:rPr lang="en-US" altLang="zh-CN" dirty="0">
                <a:latin typeface="Times New Roman" panose="02020603050405020304" pitchFamily="18" charset="0"/>
                <a:cs typeface="Times New Roman" panose="02020603050405020304" pitchFamily="18" charset="0"/>
              </a:rPr>
              <a:t>Background – Unit Test Generation </a:t>
            </a:r>
            <a:r>
              <a:rPr lang="en-US" sz="2400" dirty="0">
                <a:latin typeface="Times New Roman" panose="02020603050405020304" pitchFamily="18" charset="0"/>
                <a:cs typeface="Times New Roman" panose="02020603050405020304" pitchFamily="18" charset="0"/>
              </a:rPr>
              <a:t>(4/6)</a:t>
            </a:r>
            <a:endParaRPr lang="en-US"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8F360980-D148-FCEC-E6F1-77BF72CC26E9}"/>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11</a:t>
            </a:fld>
            <a:endParaRPr lang="zh-TW" altLang="en-US"/>
          </a:p>
        </p:txBody>
      </p:sp>
      <p:sp>
        <p:nvSpPr>
          <p:cNvPr id="8" name="圆角矩形 58">
            <a:extLst>
              <a:ext uri="{FF2B5EF4-FFF2-40B4-BE49-F238E27FC236}">
                <a16:creationId xmlns:a16="http://schemas.microsoft.com/office/drawing/2014/main" id="{B3387D80-E331-06A8-5822-8F4E4E199DFC}"/>
              </a:ext>
            </a:extLst>
          </p:cNvPr>
          <p:cNvSpPr/>
          <p:nvPr/>
        </p:nvSpPr>
        <p:spPr>
          <a:xfrm>
            <a:off x="1124680" y="1105346"/>
            <a:ext cx="9060256" cy="857837"/>
          </a:xfrm>
          <a:prstGeom prst="round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rtlCol="0" anchor="ctr"/>
          <a:lstStyle/>
          <a:p>
            <a:pPr lvl="0">
              <a:defRPr/>
            </a:pPr>
            <a:r>
              <a:rPr lang="en-US" altLang="zh-CN" sz="2800" b="1" dirty="0"/>
              <a:t>Unit Test Case Generation Methods Based on Deep Learning and Large Language Models(LLMs)</a:t>
            </a:r>
            <a:endParaRPr kumimoji="1" lang="zh-CN" altLang="en-US" sz="2800" dirty="0">
              <a:solidFill>
                <a:sysClr val="windowText" lastClr="000000"/>
              </a:solidFill>
              <a:latin typeface="等线" panose="020F0502020204030204"/>
              <a:ea typeface="等线" panose="02010600030101010101" pitchFamily="2" charset="-122"/>
            </a:endParaRPr>
          </a:p>
        </p:txBody>
      </p:sp>
      <p:grpSp>
        <p:nvGrpSpPr>
          <p:cNvPr id="9" name="组合 8">
            <a:extLst>
              <a:ext uri="{FF2B5EF4-FFF2-40B4-BE49-F238E27FC236}">
                <a16:creationId xmlns:a16="http://schemas.microsoft.com/office/drawing/2014/main" id="{FA98025E-32FE-6B99-CBC7-947828C184B1}"/>
              </a:ext>
            </a:extLst>
          </p:cNvPr>
          <p:cNvGrpSpPr/>
          <p:nvPr/>
        </p:nvGrpSpPr>
        <p:grpSpPr>
          <a:xfrm>
            <a:off x="666206" y="2023025"/>
            <a:ext cx="10705010" cy="4353949"/>
            <a:chOff x="1698172" y="1644202"/>
            <a:chExt cx="10705010" cy="4353949"/>
          </a:xfrm>
        </p:grpSpPr>
        <p:cxnSp>
          <p:nvCxnSpPr>
            <p:cNvPr id="10" name="直接箭头连接符 5">
              <a:extLst>
                <a:ext uri="{FF2B5EF4-FFF2-40B4-BE49-F238E27FC236}">
                  <a16:creationId xmlns:a16="http://schemas.microsoft.com/office/drawing/2014/main" id="{4AE91A7A-3B56-71A3-D74D-4A5E0A654B16}"/>
                </a:ext>
              </a:extLst>
            </p:cNvPr>
            <p:cNvCxnSpPr/>
            <p:nvPr/>
          </p:nvCxnSpPr>
          <p:spPr>
            <a:xfrm>
              <a:off x="2272641" y="3473906"/>
              <a:ext cx="9250325" cy="0"/>
            </a:xfrm>
            <a:prstGeom prst="straightConnector1">
              <a:avLst/>
            </a:prstGeom>
            <a:ln w="28575">
              <a:solidFill>
                <a:srgbClr val="9B0000"/>
              </a:solidFill>
              <a:tailEnd type="stealth" w="lg" len="lg"/>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FFCB5428-1F95-F878-0558-DF2F7BDD9C29}"/>
                </a:ext>
              </a:extLst>
            </p:cNvPr>
            <p:cNvSpPr/>
            <p:nvPr/>
          </p:nvSpPr>
          <p:spPr>
            <a:xfrm>
              <a:off x="2676679" y="3204461"/>
              <a:ext cx="858403" cy="53888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Medium" panose="020B0600000000000000" pitchFamily="34" charset="-122"/>
                  <a:ea typeface="思源黑体 Medium" panose="020B0600000000000000" pitchFamily="34" charset="-122"/>
                </a:rPr>
                <a:t>ATLAS</a:t>
              </a:r>
              <a:endParaRPr lang="zh-CN" altLang="en-US" sz="1600" dirty="0">
                <a:solidFill>
                  <a:schemeClr val="bg1"/>
                </a:solidFill>
                <a:latin typeface="思源黑体 Medium" panose="020B0600000000000000" pitchFamily="34" charset="-122"/>
                <a:ea typeface="思源黑体 Medium" panose="020B0600000000000000" pitchFamily="34" charset="-122"/>
              </a:endParaRPr>
            </a:p>
          </p:txBody>
        </p:sp>
        <p:sp>
          <p:nvSpPr>
            <p:cNvPr id="12" name="矩形 11">
              <a:extLst>
                <a:ext uri="{FF2B5EF4-FFF2-40B4-BE49-F238E27FC236}">
                  <a16:creationId xmlns:a16="http://schemas.microsoft.com/office/drawing/2014/main" id="{C024480A-41CC-F94B-AE21-6079DDF63D65}"/>
                </a:ext>
              </a:extLst>
            </p:cNvPr>
            <p:cNvSpPr/>
            <p:nvPr/>
          </p:nvSpPr>
          <p:spPr>
            <a:xfrm>
              <a:off x="3861855" y="3204461"/>
              <a:ext cx="1268110" cy="53888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Medium" panose="020B0600000000000000" pitchFamily="34" charset="-122"/>
                  <a:ea typeface="思源黑体 Medium" panose="020B0600000000000000" pitchFamily="34" charset="-122"/>
                </a:rPr>
                <a:t>Integration</a:t>
              </a:r>
              <a:endParaRPr lang="zh-CN" altLang="en-US" sz="1600" dirty="0">
                <a:solidFill>
                  <a:schemeClr val="bg1"/>
                </a:solidFill>
                <a:latin typeface="思源黑体 Medium" panose="020B0600000000000000" pitchFamily="34" charset="-122"/>
                <a:ea typeface="思源黑体 Medium" panose="020B0600000000000000" pitchFamily="34" charset="-122"/>
              </a:endParaRPr>
            </a:p>
          </p:txBody>
        </p:sp>
        <p:sp>
          <p:nvSpPr>
            <p:cNvPr id="13" name="矩形 12">
              <a:extLst>
                <a:ext uri="{FF2B5EF4-FFF2-40B4-BE49-F238E27FC236}">
                  <a16:creationId xmlns:a16="http://schemas.microsoft.com/office/drawing/2014/main" id="{17537329-E9FA-E0A7-728F-605ABFCB6CA0}"/>
                </a:ext>
              </a:extLst>
            </p:cNvPr>
            <p:cNvSpPr/>
            <p:nvPr/>
          </p:nvSpPr>
          <p:spPr>
            <a:xfrm>
              <a:off x="5345232" y="3204461"/>
              <a:ext cx="1174763" cy="53888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bg1"/>
                  </a:solidFill>
                  <a:latin typeface="思源黑体 Medium" panose="020B0600000000000000" pitchFamily="34" charset="-122"/>
                  <a:ea typeface="思源黑体 Medium" panose="020B0600000000000000" pitchFamily="34" charset="-122"/>
                </a:rPr>
                <a:t>TOGA</a:t>
              </a:r>
              <a:endParaRPr lang="zh-CN" altLang="en-US" sz="1600" dirty="0">
                <a:solidFill>
                  <a:schemeClr val="bg1"/>
                </a:solidFill>
                <a:latin typeface="思源黑体 Medium" panose="020B0600000000000000" pitchFamily="34" charset="-122"/>
                <a:ea typeface="思源黑体 Medium" panose="020B0600000000000000" pitchFamily="34" charset="-122"/>
              </a:endParaRPr>
            </a:p>
          </p:txBody>
        </p:sp>
        <p:sp>
          <p:nvSpPr>
            <p:cNvPr id="14" name="矩形 13">
              <a:extLst>
                <a:ext uri="{FF2B5EF4-FFF2-40B4-BE49-F238E27FC236}">
                  <a16:creationId xmlns:a16="http://schemas.microsoft.com/office/drawing/2014/main" id="{BCEAA2F8-1606-1F89-9285-FE4EBAF49744}"/>
                </a:ext>
              </a:extLst>
            </p:cNvPr>
            <p:cNvSpPr/>
            <p:nvPr/>
          </p:nvSpPr>
          <p:spPr>
            <a:xfrm>
              <a:off x="6664135" y="3204461"/>
              <a:ext cx="1434836" cy="53888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bg1"/>
                  </a:solidFill>
                  <a:latin typeface="思源黑体 Medium" panose="020B0600000000000000" pitchFamily="34" charset="-122"/>
                  <a:ea typeface="思源黑体 Medium" panose="020B0600000000000000" pitchFamily="34" charset="-122"/>
                </a:rPr>
                <a:t>TestPilot</a:t>
              </a:r>
              <a:endParaRPr lang="zh-CN" altLang="en-US" sz="1600" dirty="0">
                <a:solidFill>
                  <a:schemeClr val="bg1"/>
                </a:solidFill>
                <a:latin typeface="思源黑体 Medium" panose="020B0600000000000000" pitchFamily="34" charset="-122"/>
                <a:ea typeface="思源黑体 Medium" panose="020B0600000000000000" pitchFamily="34" charset="-122"/>
              </a:endParaRPr>
            </a:p>
          </p:txBody>
        </p:sp>
        <p:sp>
          <p:nvSpPr>
            <p:cNvPr id="15" name="矩形 14">
              <a:extLst>
                <a:ext uri="{FF2B5EF4-FFF2-40B4-BE49-F238E27FC236}">
                  <a16:creationId xmlns:a16="http://schemas.microsoft.com/office/drawing/2014/main" id="{63FB7958-4E3E-64F9-0FB1-63BB6BBBB658}"/>
                </a:ext>
              </a:extLst>
            </p:cNvPr>
            <p:cNvSpPr/>
            <p:nvPr/>
          </p:nvSpPr>
          <p:spPr>
            <a:xfrm>
              <a:off x="8236798" y="3204461"/>
              <a:ext cx="1278523" cy="53888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bg1"/>
                  </a:solidFill>
                  <a:latin typeface="思源黑体 Medium" panose="020B0600000000000000" pitchFamily="34" charset="-122"/>
                  <a:ea typeface="思源黑体 Medium" panose="020B0600000000000000" pitchFamily="34" charset="-122"/>
                </a:rPr>
                <a:t>ChatTester</a:t>
              </a:r>
              <a:endParaRPr lang="zh-CN" altLang="en-US" sz="1600" dirty="0">
                <a:solidFill>
                  <a:schemeClr val="bg1"/>
                </a:solidFill>
                <a:latin typeface="思源黑体 Medium" panose="020B0600000000000000" pitchFamily="34" charset="-122"/>
                <a:ea typeface="思源黑体 Medium" panose="020B0600000000000000" pitchFamily="34" charset="-122"/>
              </a:endParaRPr>
            </a:p>
          </p:txBody>
        </p:sp>
        <p:sp>
          <p:nvSpPr>
            <p:cNvPr id="16" name="矩形 15">
              <a:extLst>
                <a:ext uri="{FF2B5EF4-FFF2-40B4-BE49-F238E27FC236}">
                  <a16:creationId xmlns:a16="http://schemas.microsoft.com/office/drawing/2014/main" id="{686AC521-0C54-27CA-806D-18F35DBDBC63}"/>
                </a:ext>
              </a:extLst>
            </p:cNvPr>
            <p:cNvSpPr/>
            <p:nvPr/>
          </p:nvSpPr>
          <p:spPr>
            <a:xfrm>
              <a:off x="9751740" y="3197636"/>
              <a:ext cx="1460522" cy="53888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t>AGONETEST</a:t>
              </a:r>
              <a:endParaRPr lang="zh-CN" altLang="en-US" sz="1600" dirty="0">
                <a:solidFill>
                  <a:schemeClr val="bg1"/>
                </a:solidFill>
                <a:latin typeface="思源黑体 Medium" panose="020B0600000000000000" pitchFamily="34" charset="-122"/>
                <a:ea typeface="思源黑体 Medium" panose="020B0600000000000000" pitchFamily="34" charset="-122"/>
              </a:endParaRPr>
            </a:p>
          </p:txBody>
        </p:sp>
        <p:cxnSp>
          <p:nvCxnSpPr>
            <p:cNvPr id="17" name="直接连接符 12">
              <a:extLst>
                <a:ext uri="{FF2B5EF4-FFF2-40B4-BE49-F238E27FC236}">
                  <a16:creationId xmlns:a16="http://schemas.microsoft.com/office/drawing/2014/main" id="{FD0935DD-9869-BEC5-9877-D17C2BC885CB}"/>
                </a:ext>
              </a:extLst>
            </p:cNvPr>
            <p:cNvCxnSpPr>
              <a:cxnSpLocks/>
              <a:stCxn id="23" idx="2"/>
              <a:endCxn id="11" idx="0"/>
            </p:cNvCxnSpPr>
            <p:nvPr/>
          </p:nvCxnSpPr>
          <p:spPr>
            <a:xfrm flipH="1">
              <a:off x="3105881" y="2941844"/>
              <a:ext cx="371628" cy="262617"/>
            </a:xfrm>
            <a:prstGeom prst="line">
              <a:avLst/>
            </a:prstGeom>
            <a:ln>
              <a:solidFill>
                <a:srgbClr val="9B0000"/>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8" name="直接连接符 13">
              <a:extLst>
                <a:ext uri="{FF2B5EF4-FFF2-40B4-BE49-F238E27FC236}">
                  <a16:creationId xmlns:a16="http://schemas.microsoft.com/office/drawing/2014/main" id="{6653414D-7F00-DEA7-468A-ABA87B42FDFE}"/>
                </a:ext>
              </a:extLst>
            </p:cNvPr>
            <p:cNvCxnSpPr>
              <a:cxnSpLocks/>
              <a:stCxn id="12" idx="2"/>
            </p:cNvCxnSpPr>
            <p:nvPr/>
          </p:nvCxnSpPr>
          <p:spPr>
            <a:xfrm flipH="1">
              <a:off x="4066710" y="3743350"/>
              <a:ext cx="429200" cy="214485"/>
            </a:xfrm>
            <a:prstGeom prst="line">
              <a:avLst/>
            </a:prstGeom>
            <a:ln>
              <a:solidFill>
                <a:srgbClr val="9B0000"/>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9" name="直接连接符 14">
              <a:extLst>
                <a:ext uri="{FF2B5EF4-FFF2-40B4-BE49-F238E27FC236}">
                  <a16:creationId xmlns:a16="http://schemas.microsoft.com/office/drawing/2014/main" id="{0E049B03-B022-1874-C4E9-C84344483DEB}"/>
                </a:ext>
              </a:extLst>
            </p:cNvPr>
            <p:cNvCxnSpPr>
              <a:cxnSpLocks/>
              <a:endCxn id="15" idx="0"/>
            </p:cNvCxnSpPr>
            <p:nvPr/>
          </p:nvCxnSpPr>
          <p:spPr>
            <a:xfrm flipH="1">
              <a:off x="8876060" y="2941843"/>
              <a:ext cx="777088" cy="262618"/>
            </a:xfrm>
            <a:prstGeom prst="line">
              <a:avLst/>
            </a:prstGeom>
            <a:ln>
              <a:solidFill>
                <a:srgbClr val="9B0000"/>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20" name="直接连接符 15">
              <a:extLst>
                <a:ext uri="{FF2B5EF4-FFF2-40B4-BE49-F238E27FC236}">
                  <a16:creationId xmlns:a16="http://schemas.microsoft.com/office/drawing/2014/main" id="{D5112275-2A66-109B-7959-7C05BFBA421B}"/>
                </a:ext>
              </a:extLst>
            </p:cNvPr>
            <p:cNvCxnSpPr>
              <a:cxnSpLocks/>
              <a:stCxn id="14" idx="2"/>
            </p:cNvCxnSpPr>
            <p:nvPr/>
          </p:nvCxnSpPr>
          <p:spPr>
            <a:xfrm flipH="1">
              <a:off x="7298455" y="3743350"/>
              <a:ext cx="83098" cy="391044"/>
            </a:xfrm>
            <a:prstGeom prst="line">
              <a:avLst/>
            </a:prstGeom>
            <a:ln>
              <a:solidFill>
                <a:srgbClr val="9B0000"/>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21" name="直接连接符 16">
              <a:extLst>
                <a:ext uri="{FF2B5EF4-FFF2-40B4-BE49-F238E27FC236}">
                  <a16:creationId xmlns:a16="http://schemas.microsoft.com/office/drawing/2014/main" id="{99BCB753-E00B-CCAB-7DA9-C3C1A29C8DB7}"/>
                </a:ext>
              </a:extLst>
            </p:cNvPr>
            <p:cNvCxnSpPr>
              <a:cxnSpLocks/>
              <a:endCxn id="13" idx="0"/>
            </p:cNvCxnSpPr>
            <p:nvPr/>
          </p:nvCxnSpPr>
          <p:spPr>
            <a:xfrm flipH="1">
              <a:off x="5932614" y="2941843"/>
              <a:ext cx="587381" cy="262618"/>
            </a:xfrm>
            <a:prstGeom prst="line">
              <a:avLst/>
            </a:prstGeom>
            <a:ln>
              <a:solidFill>
                <a:srgbClr val="9B0000"/>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22" name="直接连接符 17">
              <a:extLst>
                <a:ext uri="{FF2B5EF4-FFF2-40B4-BE49-F238E27FC236}">
                  <a16:creationId xmlns:a16="http://schemas.microsoft.com/office/drawing/2014/main" id="{E2B90D13-D2A7-D7BA-659A-3FB53E948FCA}"/>
                </a:ext>
              </a:extLst>
            </p:cNvPr>
            <p:cNvCxnSpPr>
              <a:cxnSpLocks/>
              <a:stCxn id="16" idx="2"/>
            </p:cNvCxnSpPr>
            <p:nvPr/>
          </p:nvCxnSpPr>
          <p:spPr>
            <a:xfrm>
              <a:off x="10482001" y="3736525"/>
              <a:ext cx="419515" cy="328281"/>
            </a:xfrm>
            <a:prstGeom prst="line">
              <a:avLst/>
            </a:prstGeom>
            <a:ln>
              <a:solidFill>
                <a:srgbClr val="9B0000"/>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068A64A2-7BBD-3A6D-C2FB-6033A4937F9E}"/>
                </a:ext>
              </a:extLst>
            </p:cNvPr>
            <p:cNvSpPr/>
            <p:nvPr/>
          </p:nvSpPr>
          <p:spPr>
            <a:xfrm>
              <a:off x="1698172" y="1764462"/>
              <a:ext cx="3558674" cy="11773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a:lnSpc>
                  <a:spcPct val="114000"/>
                </a:lnSpc>
              </a:pPr>
              <a:r>
                <a:rPr lang="en-US" altLang="zh-CN" sz="1400" dirty="0">
                  <a:solidFill>
                    <a:srgbClr val="9B0000"/>
                  </a:solidFill>
                </a:rPr>
                <a:t>ATLAS uses a neural machine translation (NMT)-based approach to automatically generate meaningful assertion statements for test methods..</a:t>
              </a:r>
              <a:r>
                <a:rPr lang="en-US" altLang="zh-CN" sz="1100" dirty="0">
                  <a:solidFill>
                    <a:schemeClr val="tx1"/>
                  </a:solidFill>
                </a:rPr>
                <a:t>[Chen  2021] etc.</a:t>
              </a:r>
              <a:endParaRPr lang="zh-CN" altLang="en-US" sz="1100" dirty="0">
                <a:solidFill>
                  <a:schemeClr val="tx1"/>
                </a:solidFill>
              </a:endParaRPr>
            </a:p>
          </p:txBody>
        </p:sp>
        <p:sp>
          <p:nvSpPr>
            <p:cNvPr id="24" name="矩形 23">
              <a:extLst>
                <a:ext uri="{FF2B5EF4-FFF2-40B4-BE49-F238E27FC236}">
                  <a16:creationId xmlns:a16="http://schemas.microsoft.com/office/drawing/2014/main" id="{DF13B298-2A91-BCB4-EBE6-68F347A277B6}"/>
                </a:ext>
              </a:extLst>
            </p:cNvPr>
            <p:cNvSpPr/>
            <p:nvPr/>
          </p:nvSpPr>
          <p:spPr>
            <a:xfrm>
              <a:off x="5487507" y="1644203"/>
              <a:ext cx="3166636" cy="13031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a:lnSpc>
                  <a:spcPct val="114000"/>
                </a:lnSpc>
              </a:pPr>
              <a:r>
                <a:rPr lang="en-US" altLang="zh-CN" sz="1400" dirty="0">
                  <a:solidFill>
                    <a:srgbClr val="9B0000"/>
                  </a:solidFill>
                </a:rPr>
                <a:t>TOGA is a neural network-based approach that can infer anomalies and generate test assertions based on the context of the method under test.</a:t>
              </a:r>
              <a:r>
                <a:rPr lang="en-US" altLang="zh-CN" sz="1100" dirty="0">
                  <a:solidFill>
                    <a:schemeClr val="tx1"/>
                  </a:solidFill>
                </a:rPr>
                <a:t>[Marcus 2022]etc.</a:t>
              </a:r>
              <a:endParaRPr lang="zh-CN" altLang="en-US" sz="1100" dirty="0">
                <a:solidFill>
                  <a:schemeClr val="tx1"/>
                </a:solidFill>
              </a:endParaRPr>
            </a:p>
          </p:txBody>
        </p:sp>
        <p:sp>
          <p:nvSpPr>
            <p:cNvPr id="25" name="矩形 24">
              <a:extLst>
                <a:ext uri="{FF2B5EF4-FFF2-40B4-BE49-F238E27FC236}">
                  <a16:creationId xmlns:a16="http://schemas.microsoft.com/office/drawing/2014/main" id="{11067EFD-99D2-589C-E378-9748AB18107F}"/>
                </a:ext>
              </a:extLst>
            </p:cNvPr>
            <p:cNvSpPr/>
            <p:nvPr/>
          </p:nvSpPr>
          <p:spPr>
            <a:xfrm>
              <a:off x="8876059" y="1644202"/>
              <a:ext cx="3481403" cy="14699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a:lnSpc>
                  <a:spcPct val="114000"/>
                </a:lnSpc>
              </a:pPr>
              <a:r>
                <a:rPr lang="en-US" altLang="zh-CN" sz="1400" dirty="0" err="1">
                  <a:solidFill>
                    <a:srgbClr val="9B0000"/>
                  </a:solidFill>
                </a:rPr>
                <a:t>ChatTester</a:t>
              </a:r>
              <a:r>
                <a:rPr lang="en-US" altLang="zh-CN" sz="1400" dirty="0">
                  <a:solidFill>
                    <a:srgbClr val="9B0000"/>
                  </a:solidFill>
                </a:rPr>
                <a:t> is a unit test generation method based on ChatGPT, which uses ChatGPT itself to improve the quality of the tests it generates.</a:t>
              </a:r>
              <a:r>
                <a:rPr lang="en-US" altLang="zh-CN" sz="1100" dirty="0">
                  <a:solidFill>
                    <a:schemeClr val="tx1"/>
                  </a:solidFill>
                </a:rPr>
                <a:t>[Marcus 2022]etc.</a:t>
              </a:r>
              <a:endParaRPr lang="zh-CN" altLang="en-US" sz="1100" dirty="0">
                <a:solidFill>
                  <a:schemeClr val="tx1"/>
                </a:solidFill>
              </a:endParaRPr>
            </a:p>
          </p:txBody>
        </p:sp>
        <p:sp>
          <p:nvSpPr>
            <p:cNvPr id="26" name="矩形 25">
              <a:extLst>
                <a:ext uri="{FF2B5EF4-FFF2-40B4-BE49-F238E27FC236}">
                  <a16:creationId xmlns:a16="http://schemas.microsoft.com/office/drawing/2014/main" id="{D1942D87-AB42-B416-314F-CBD42E914B39}"/>
                </a:ext>
              </a:extLst>
            </p:cNvPr>
            <p:cNvSpPr/>
            <p:nvPr/>
          </p:nvSpPr>
          <p:spPr>
            <a:xfrm>
              <a:off x="1698172" y="3900208"/>
              <a:ext cx="3558674" cy="16056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a:lnSpc>
                  <a:spcPct val="114000"/>
                </a:lnSpc>
              </a:pPr>
              <a:r>
                <a:rPr lang="en-US" altLang="zh-CN" sz="1400" dirty="0">
                  <a:solidFill>
                    <a:srgbClr val="9B0000"/>
                  </a:solidFill>
                </a:rPr>
                <a:t>Integration is making its first attempt to use information retrieval to generate test case assertions, including assertion-retrieval techniques based on information-retrieval and adaptive techniques for the retrieved assertions.</a:t>
              </a:r>
              <a:r>
                <a:rPr lang="en-US" altLang="zh-CN" sz="1100" dirty="0">
                  <a:solidFill>
                    <a:schemeClr val="tx1"/>
                  </a:solidFill>
                </a:rPr>
                <a:t>[Li 2021] </a:t>
              </a:r>
              <a:endParaRPr lang="zh-CN" altLang="en-US" sz="1100" dirty="0">
                <a:solidFill>
                  <a:schemeClr val="tx1"/>
                </a:solidFill>
              </a:endParaRPr>
            </a:p>
          </p:txBody>
        </p:sp>
        <p:sp>
          <p:nvSpPr>
            <p:cNvPr id="27" name="矩形 26">
              <a:extLst>
                <a:ext uri="{FF2B5EF4-FFF2-40B4-BE49-F238E27FC236}">
                  <a16:creationId xmlns:a16="http://schemas.microsoft.com/office/drawing/2014/main" id="{C48349A8-1F3C-3E69-6BAD-08207840AAC5}"/>
                </a:ext>
              </a:extLst>
            </p:cNvPr>
            <p:cNvSpPr/>
            <p:nvPr/>
          </p:nvSpPr>
          <p:spPr>
            <a:xfrm>
              <a:off x="5487507" y="4064806"/>
              <a:ext cx="3160324" cy="19333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a:lnSpc>
                  <a:spcPct val="114000"/>
                </a:lnSpc>
              </a:pPr>
              <a:r>
                <a:rPr lang="en-US" altLang="zh-CN" sz="1400" dirty="0">
                  <a:solidFill>
                    <a:srgbClr val="9B0000"/>
                  </a:solidFill>
                </a:rPr>
                <a:t>TESTPILOT is an adaptive LLM-based JavaScript test generation tool that can automatically generate unit tests for methods in a given project's API.</a:t>
              </a:r>
              <a:r>
                <a:rPr lang="en-US" altLang="zh-CN" sz="1100" dirty="0">
                  <a:solidFill>
                    <a:schemeClr val="tx1"/>
                  </a:solidFill>
                </a:rPr>
                <a:t>[Vinz  2022]</a:t>
              </a:r>
              <a:endParaRPr lang="zh-CN" altLang="en-US" sz="1100" dirty="0">
                <a:solidFill>
                  <a:schemeClr val="tx1"/>
                </a:solidFill>
              </a:endParaRPr>
            </a:p>
          </p:txBody>
        </p:sp>
        <p:sp>
          <p:nvSpPr>
            <p:cNvPr id="28" name="矩形 27">
              <a:extLst>
                <a:ext uri="{FF2B5EF4-FFF2-40B4-BE49-F238E27FC236}">
                  <a16:creationId xmlns:a16="http://schemas.microsoft.com/office/drawing/2014/main" id="{735DC0F3-655F-28C2-A948-24CA793E7020}"/>
                </a:ext>
              </a:extLst>
            </p:cNvPr>
            <p:cNvSpPr/>
            <p:nvPr/>
          </p:nvSpPr>
          <p:spPr>
            <a:xfrm>
              <a:off x="8867481" y="4036108"/>
              <a:ext cx="3535701" cy="16599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a:lnSpc>
                  <a:spcPct val="114000"/>
                </a:lnSpc>
              </a:pPr>
              <a:r>
                <a:rPr lang="en-US" altLang="zh-CN" sz="1400" dirty="0">
                  <a:solidFill>
                    <a:srgbClr val="9B0000"/>
                  </a:solidFill>
                </a:rPr>
                <a:t>AGONETEST is an automated system that generates test suites for Java projects. It includes a component for evaluating the generated test suites.</a:t>
              </a:r>
              <a:r>
                <a:rPr lang="en-US" altLang="zh-CN" sz="1100" dirty="0">
                  <a:solidFill>
                    <a:schemeClr val="tx1"/>
                  </a:solidFill>
                </a:rPr>
                <a:t>[Nguyen  2023] etc.</a:t>
              </a:r>
              <a:endParaRPr lang="zh-CN" altLang="en-US" sz="1100" dirty="0">
                <a:solidFill>
                  <a:schemeClr val="tx1"/>
                </a:solidFill>
              </a:endParaRPr>
            </a:p>
          </p:txBody>
        </p:sp>
      </p:grpSp>
      <p:sp>
        <p:nvSpPr>
          <p:cNvPr id="29" name="矩形 28">
            <a:extLst>
              <a:ext uri="{FF2B5EF4-FFF2-40B4-BE49-F238E27FC236}">
                <a16:creationId xmlns:a16="http://schemas.microsoft.com/office/drawing/2014/main" id="{0C2A625C-3C83-8DAA-5000-C515ECF37E40}"/>
              </a:ext>
            </a:extLst>
          </p:cNvPr>
          <p:cNvSpPr/>
          <p:nvPr/>
        </p:nvSpPr>
        <p:spPr>
          <a:xfrm>
            <a:off x="287383" y="2006827"/>
            <a:ext cx="11384280" cy="4034744"/>
          </a:xfrm>
          <a:prstGeom prst="rect">
            <a:avLst/>
          </a:prstGeom>
          <a:no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252000" rtlCol="0" anchor="t" anchorCtr="0"/>
          <a:lstStyle/>
          <a:p>
            <a:pPr lvl="0">
              <a:lnSpc>
                <a:spcPct val="114000"/>
              </a:lnSpc>
              <a:spcBef>
                <a:spcPts val="1000"/>
              </a:spcBef>
            </a:pPr>
            <a:endParaRPr lang="zh-CN" altLang="en-US" sz="2000" dirty="0">
              <a:solidFill>
                <a:schemeClr val="tx1"/>
              </a:solidFill>
              <a:ea typeface="思源黑体 Medium" panose="020B0600000000000000"/>
            </a:endParaRPr>
          </a:p>
        </p:txBody>
      </p:sp>
    </p:spTree>
    <p:extLst>
      <p:ext uri="{BB962C8B-B14F-4D97-AF65-F5344CB8AC3E}">
        <p14:creationId xmlns:p14="http://schemas.microsoft.com/office/powerpoint/2010/main" val="3301754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5F98B-E5A0-856F-8F12-9B4782E0E5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5DB10D-35FA-E386-9ED5-D17D41ED4D0A}"/>
              </a:ext>
            </a:extLst>
          </p:cNvPr>
          <p:cNvSpPr>
            <a:spLocks noGrp="1"/>
          </p:cNvSpPr>
          <p:nvPr>
            <p:ph type="title"/>
          </p:nvPr>
        </p:nvSpPr>
        <p:spPr>
          <a:xfrm>
            <a:off x="1088571" y="144466"/>
            <a:ext cx="10722429" cy="692151"/>
          </a:xfrm>
        </p:spPr>
        <p:txBody>
          <a:bodyPr/>
          <a:lstStyle/>
          <a:p>
            <a:r>
              <a:rPr lang="en-US" altLang="zh-CN" dirty="0">
                <a:latin typeface="Times New Roman" panose="02020603050405020304" pitchFamily="18" charset="0"/>
                <a:cs typeface="Times New Roman" panose="02020603050405020304" pitchFamily="18" charset="0"/>
              </a:rPr>
              <a:t>Motivation – Code Generation </a:t>
            </a:r>
            <a:r>
              <a:rPr lang="en-US" sz="2400" dirty="0">
                <a:latin typeface="Times New Roman" panose="02020603050405020304" pitchFamily="18" charset="0"/>
                <a:cs typeface="Times New Roman" panose="02020603050405020304" pitchFamily="18" charset="0"/>
              </a:rPr>
              <a:t>(5/6)</a:t>
            </a:r>
            <a:endParaRPr lang="en-US"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053B2768-B2F2-ADF9-A745-B8F29F7EA8B5}"/>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12</a:t>
            </a:fld>
            <a:endParaRPr lang="zh-TW" altLang="en-US"/>
          </a:p>
        </p:txBody>
      </p:sp>
      <p:graphicFrame>
        <p:nvGraphicFramePr>
          <p:cNvPr id="3" name="图示 2">
            <a:extLst>
              <a:ext uri="{FF2B5EF4-FFF2-40B4-BE49-F238E27FC236}">
                <a16:creationId xmlns:a16="http://schemas.microsoft.com/office/drawing/2014/main" id="{26E34A78-6513-7A6A-721B-F6408C3B4DFA}"/>
              </a:ext>
            </a:extLst>
          </p:cNvPr>
          <p:cNvGraphicFramePr/>
          <p:nvPr>
            <p:extLst>
              <p:ext uri="{D42A27DB-BD31-4B8C-83A1-F6EECF244321}">
                <p14:modId xmlns:p14="http://schemas.microsoft.com/office/powerpoint/2010/main" val="3126592531"/>
              </p:ext>
            </p:extLst>
          </p:nvPr>
        </p:nvGraphicFramePr>
        <p:xfrm>
          <a:off x="3079172" y="1559399"/>
          <a:ext cx="5463937" cy="16671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圆角矩形标注 10">
            <a:extLst>
              <a:ext uri="{FF2B5EF4-FFF2-40B4-BE49-F238E27FC236}">
                <a16:creationId xmlns:a16="http://schemas.microsoft.com/office/drawing/2014/main" id="{13C39131-246D-4DF6-6158-3D5F7F5CC467}"/>
              </a:ext>
            </a:extLst>
          </p:cNvPr>
          <p:cNvSpPr/>
          <p:nvPr/>
        </p:nvSpPr>
        <p:spPr>
          <a:xfrm>
            <a:off x="230750" y="3177115"/>
            <a:ext cx="4635164" cy="2773016"/>
          </a:xfrm>
          <a:prstGeom prst="wedgeRoundRectCallout">
            <a:avLst>
              <a:gd name="adj1" fmla="val 58707"/>
              <a:gd name="adj2" fmla="val -56513"/>
              <a:gd name="adj3" fmla="val 16667"/>
            </a:avLst>
          </a:prstGeom>
          <a:solidFill>
            <a:srgbClr val="EBEBEB"/>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lnSpc>
                <a:spcPct val="114000"/>
              </a:lnSpc>
            </a:pPr>
            <a:r>
              <a:rPr lang="en-US" altLang="zh-CN" sz="1600" b="1" dirty="0">
                <a:solidFill>
                  <a:srgbClr val="9B0000"/>
                </a:solidFill>
              </a:rPr>
              <a:t>Challenge 1</a:t>
            </a:r>
          </a:p>
          <a:p>
            <a:pPr>
              <a:lnSpc>
                <a:spcPct val="114000"/>
              </a:lnSpc>
            </a:pPr>
            <a:r>
              <a:rPr lang="en-US" altLang="zh-CN" sz="1600" dirty="0">
                <a:solidFill>
                  <a:prstClr val="black">
                    <a:lumMod val="65000"/>
                    <a:lumOff val="35000"/>
                  </a:prstClr>
                </a:solidFill>
              </a:rPr>
              <a:t>How to select projects and code that can reflect real-world development scenarios, and set up an accurate and efficient testing environment.</a:t>
            </a:r>
          </a:p>
          <a:p>
            <a:pPr marL="171450" indent="-171450">
              <a:lnSpc>
                <a:spcPct val="114000"/>
              </a:lnSpc>
              <a:buFont typeface="Arial" panose="020B0604020202020204" pitchFamily="34" charset="0"/>
              <a:buChar char="•"/>
            </a:pPr>
            <a:r>
              <a:rPr lang="en-US" altLang="zh-CN" sz="1400" dirty="0">
                <a:solidFill>
                  <a:prstClr val="black">
                    <a:lumMod val="65000"/>
                    <a:lumOff val="35000"/>
                  </a:prstClr>
                </a:solidFill>
              </a:rPr>
              <a:t>How to select projects and functions, and how to prevent data leaks</a:t>
            </a:r>
          </a:p>
          <a:p>
            <a:pPr marL="171450" indent="-171450">
              <a:lnSpc>
                <a:spcPct val="114000"/>
              </a:lnSpc>
              <a:buFont typeface="Arial" panose="020B0604020202020204" pitchFamily="34" charset="0"/>
              <a:buChar char="•"/>
            </a:pPr>
            <a:r>
              <a:rPr lang="en-US" altLang="zh-CN" sz="1400" dirty="0">
                <a:solidFill>
                  <a:prstClr val="black">
                    <a:lumMod val="65000"/>
                    <a:lumOff val="35000"/>
                  </a:prstClr>
                </a:solidFill>
              </a:rPr>
              <a:t>How to Build an Accurate and Efficient Project-Level Testing Platform</a:t>
            </a:r>
            <a:endParaRPr lang="zh-CN" altLang="en-US" sz="1400" dirty="0">
              <a:solidFill>
                <a:prstClr val="black">
                  <a:lumMod val="65000"/>
                  <a:lumOff val="35000"/>
                </a:prstClr>
              </a:solidFill>
            </a:endParaRPr>
          </a:p>
        </p:txBody>
      </p:sp>
      <p:sp>
        <p:nvSpPr>
          <p:cNvPr id="6" name="圆角矩形标注 9">
            <a:extLst>
              <a:ext uri="{FF2B5EF4-FFF2-40B4-BE49-F238E27FC236}">
                <a16:creationId xmlns:a16="http://schemas.microsoft.com/office/drawing/2014/main" id="{04699A49-10AE-3BAD-B0BD-65DFB0094730}"/>
              </a:ext>
            </a:extLst>
          </p:cNvPr>
          <p:cNvSpPr/>
          <p:nvPr/>
        </p:nvSpPr>
        <p:spPr>
          <a:xfrm>
            <a:off x="7530736" y="3201821"/>
            <a:ext cx="4027715" cy="2701170"/>
          </a:xfrm>
          <a:prstGeom prst="wedgeRoundRectCallout">
            <a:avLst>
              <a:gd name="adj1" fmla="val -62947"/>
              <a:gd name="adj2" fmla="val -58995"/>
              <a:gd name="adj3" fmla="val 16667"/>
            </a:avLst>
          </a:prstGeom>
          <a:solidFill>
            <a:srgbClr val="EBEBEB"/>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lvl="0" algn="ctr">
              <a:lnSpc>
                <a:spcPct val="114000"/>
              </a:lnSpc>
            </a:pPr>
            <a:r>
              <a:rPr lang="en-US" altLang="zh-CN" sz="1600" b="1" dirty="0">
                <a:solidFill>
                  <a:srgbClr val="9B0000"/>
                </a:solidFill>
              </a:rPr>
              <a:t>Challenge</a:t>
            </a:r>
            <a:r>
              <a:rPr lang="zh-CN" altLang="en-US" sz="1600" b="1" dirty="0">
                <a:solidFill>
                  <a:srgbClr val="9B0000"/>
                </a:solidFill>
              </a:rPr>
              <a:t> </a:t>
            </a:r>
            <a:r>
              <a:rPr lang="en-US" altLang="zh-CN" sz="1600" b="1" dirty="0">
                <a:solidFill>
                  <a:srgbClr val="9B0000"/>
                </a:solidFill>
              </a:rPr>
              <a:t>2</a:t>
            </a:r>
          </a:p>
          <a:p>
            <a:pPr lvl="0">
              <a:lnSpc>
                <a:spcPct val="114000"/>
              </a:lnSpc>
            </a:pPr>
            <a:r>
              <a:rPr lang="en-US" altLang="zh-CN" sz="1600" dirty="0">
                <a:solidFill>
                  <a:prstClr val="black">
                    <a:lumMod val="65000"/>
                    <a:lumOff val="35000"/>
                  </a:prstClr>
                </a:solidFill>
              </a:rPr>
              <a:t>Code in real-world development scenarios often relies on functions or variables defined in other packages or files in the project.</a:t>
            </a:r>
          </a:p>
          <a:p>
            <a:pPr marL="171450" lvl="0" indent="-171450">
              <a:lnSpc>
                <a:spcPct val="114000"/>
              </a:lnSpc>
              <a:buFont typeface="Arial" panose="020B0604020202020204" pitchFamily="34" charset="0"/>
              <a:buChar char="•"/>
            </a:pPr>
            <a:r>
              <a:rPr lang="en-US" altLang="zh-CN" sz="1400" dirty="0">
                <a:solidFill>
                  <a:prstClr val="black">
                    <a:lumMod val="65000"/>
                    <a:lumOff val="35000"/>
                  </a:prstClr>
                </a:solidFill>
              </a:rPr>
              <a:t>How to select the appropriate contextual information</a:t>
            </a:r>
          </a:p>
          <a:p>
            <a:pPr marL="171450" lvl="0" indent="-171450">
              <a:lnSpc>
                <a:spcPct val="114000"/>
              </a:lnSpc>
              <a:buFont typeface="Arial" panose="020B0604020202020204" pitchFamily="34" charset="0"/>
              <a:buChar char="•"/>
            </a:pPr>
            <a:r>
              <a:rPr lang="en-US" altLang="zh-CN" sz="1400" dirty="0">
                <a:solidFill>
                  <a:prstClr val="black">
                    <a:lumMod val="65000"/>
                    <a:lumOff val="35000"/>
                  </a:prstClr>
                </a:solidFill>
              </a:rPr>
              <a:t>How to combine the selected contextual information</a:t>
            </a:r>
          </a:p>
        </p:txBody>
      </p:sp>
    </p:spTree>
    <p:extLst>
      <p:ext uri="{BB962C8B-B14F-4D97-AF65-F5344CB8AC3E}">
        <p14:creationId xmlns:p14="http://schemas.microsoft.com/office/powerpoint/2010/main" val="406009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B75B1-7615-7F46-82C9-50DE7554B8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7892F7-38D3-12E6-0621-F5B5F8F91F2D}"/>
              </a:ext>
            </a:extLst>
          </p:cNvPr>
          <p:cNvSpPr>
            <a:spLocks noGrp="1"/>
          </p:cNvSpPr>
          <p:nvPr>
            <p:ph type="title"/>
          </p:nvPr>
        </p:nvSpPr>
        <p:spPr>
          <a:xfrm>
            <a:off x="1088571" y="144466"/>
            <a:ext cx="10722429" cy="692151"/>
          </a:xfrm>
        </p:spPr>
        <p:txBody>
          <a:bodyPr/>
          <a:lstStyle/>
          <a:p>
            <a:r>
              <a:rPr lang="en-US" altLang="zh-CN" dirty="0">
                <a:latin typeface="Times New Roman" panose="02020603050405020304" pitchFamily="18" charset="0"/>
                <a:cs typeface="Times New Roman" panose="02020603050405020304" pitchFamily="18" charset="0"/>
              </a:rPr>
              <a:t>Motivation – Unit Test Generation </a:t>
            </a:r>
            <a:r>
              <a:rPr lang="en-US" sz="2400" dirty="0">
                <a:latin typeface="Times New Roman" panose="02020603050405020304" pitchFamily="18" charset="0"/>
                <a:cs typeface="Times New Roman" panose="02020603050405020304" pitchFamily="18" charset="0"/>
              </a:rPr>
              <a:t>(6/6)</a:t>
            </a:r>
            <a:endParaRPr lang="en-US"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C9489C96-AB95-8818-FD0D-58161C13B83C}"/>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13</a:t>
            </a:fld>
            <a:endParaRPr lang="zh-TW" altLang="en-US"/>
          </a:p>
        </p:txBody>
      </p:sp>
      <p:grpSp>
        <p:nvGrpSpPr>
          <p:cNvPr id="5" name="组合 4">
            <a:extLst>
              <a:ext uri="{FF2B5EF4-FFF2-40B4-BE49-F238E27FC236}">
                <a16:creationId xmlns:a16="http://schemas.microsoft.com/office/drawing/2014/main" id="{659127DB-A0F4-1A36-DA1D-08FE776DC135}"/>
              </a:ext>
            </a:extLst>
          </p:cNvPr>
          <p:cNvGrpSpPr/>
          <p:nvPr/>
        </p:nvGrpSpPr>
        <p:grpSpPr>
          <a:xfrm>
            <a:off x="2730384" y="1770017"/>
            <a:ext cx="2259627" cy="1306285"/>
            <a:chOff x="1009723" y="2291956"/>
            <a:chExt cx="1479962" cy="1058463"/>
          </a:xfrm>
          <a:scene3d>
            <a:camera prst="orthographicFront"/>
            <a:lightRig rig="threePt" dir="t">
              <a:rot lat="0" lon="0" rev="7500000"/>
            </a:lightRig>
          </a:scene3d>
        </p:grpSpPr>
        <p:sp>
          <p:nvSpPr>
            <p:cNvPr id="6" name="矩形: 圆角 5">
              <a:extLst>
                <a:ext uri="{FF2B5EF4-FFF2-40B4-BE49-F238E27FC236}">
                  <a16:creationId xmlns:a16="http://schemas.microsoft.com/office/drawing/2014/main" id="{F5C3389A-D456-6389-B97F-832A596C2DDB}"/>
                </a:ext>
              </a:extLst>
            </p:cNvPr>
            <p:cNvSpPr/>
            <p:nvPr/>
          </p:nvSpPr>
          <p:spPr>
            <a:xfrm>
              <a:off x="1009723" y="2291956"/>
              <a:ext cx="1479962" cy="1058463"/>
            </a:xfrm>
            <a:prstGeom prst="roundRect">
              <a:avLst>
                <a:gd name="adj" fmla="val 10000"/>
              </a:avLst>
            </a:prstGeom>
            <a:sp3d z="152400" extrusionH="63500" prstMaterial="dkEdge">
              <a:bevelT w="125400" h="36350" prst="relaxedInset"/>
              <a:contourClr>
                <a:schemeClr val="bg1"/>
              </a:contourClr>
            </a:sp3d>
          </p:spPr>
          <p:style>
            <a:lnRef idx="1">
              <a:schemeClr val="accent2">
                <a:hueOff val="0"/>
                <a:satOff val="0"/>
                <a:lumOff val="0"/>
                <a:alphaOff val="0"/>
              </a:schemeClr>
            </a:lnRef>
            <a:fillRef idx="1">
              <a:schemeClr val="accent2">
                <a:alpha val="90000"/>
                <a:tint val="40000"/>
                <a:hueOff val="0"/>
                <a:satOff val="0"/>
                <a:lumOff val="0"/>
                <a:alphaOff val="0"/>
              </a:schemeClr>
            </a:fillRef>
            <a:effectRef idx="2">
              <a:schemeClr val="accent2">
                <a:alpha val="90000"/>
                <a:tint val="40000"/>
                <a:hueOff val="0"/>
                <a:satOff val="0"/>
                <a:lumOff val="0"/>
                <a:alphaOff val="0"/>
              </a:schemeClr>
            </a:effectRef>
            <a:fontRef idx="minor">
              <a:schemeClr val="dk1">
                <a:hueOff val="0"/>
                <a:satOff val="0"/>
                <a:lumOff val="0"/>
                <a:alphaOff val="0"/>
              </a:schemeClr>
            </a:fontRef>
          </p:style>
        </p:sp>
        <p:sp>
          <p:nvSpPr>
            <p:cNvPr id="7" name="矩形: 圆角 4">
              <a:extLst>
                <a:ext uri="{FF2B5EF4-FFF2-40B4-BE49-F238E27FC236}">
                  <a16:creationId xmlns:a16="http://schemas.microsoft.com/office/drawing/2014/main" id="{F32B5AE0-20D5-71B0-5F8E-9253AC56E3C5}"/>
                </a:ext>
              </a:extLst>
            </p:cNvPr>
            <p:cNvSpPr txBox="1"/>
            <p:nvPr/>
          </p:nvSpPr>
          <p:spPr>
            <a:xfrm>
              <a:off x="1040724" y="2322957"/>
              <a:ext cx="1379540" cy="996461"/>
            </a:xfrm>
            <a:prstGeom prst="rect">
              <a:avLst/>
            </a:prstGeom>
            <a:sp3d z="1524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altLang="zh-CN" b="1" dirty="0"/>
                <a:t>Unit Test Case Assertion Generation Method</a:t>
              </a:r>
              <a:endParaRPr lang="zh-CN" altLang="en-US" sz="1800" kern="1200" dirty="0"/>
            </a:p>
          </p:txBody>
        </p:sp>
      </p:grpSp>
      <p:grpSp>
        <p:nvGrpSpPr>
          <p:cNvPr id="8" name="组合 7">
            <a:extLst>
              <a:ext uri="{FF2B5EF4-FFF2-40B4-BE49-F238E27FC236}">
                <a16:creationId xmlns:a16="http://schemas.microsoft.com/office/drawing/2014/main" id="{674C668F-5FF1-38DE-F936-133276071CD1}"/>
              </a:ext>
            </a:extLst>
          </p:cNvPr>
          <p:cNvGrpSpPr/>
          <p:nvPr/>
        </p:nvGrpSpPr>
        <p:grpSpPr>
          <a:xfrm>
            <a:off x="6596481" y="1717766"/>
            <a:ext cx="2358108" cy="1358536"/>
            <a:chOff x="3016829" y="2171118"/>
            <a:chExt cx="1748907" cy="937229"/>
          </a:xfrm>
          <a:scene3d>
            <a:camera prst="orthographicFront"/>
            <a:lightRig rig="threePt" dir="t">
              <a:rot lat="0" lon="0" rev="7500000"/>
            </a:lightRig>
          </a:scene3d>
        </p:grpSpPr>
        <p:sp>
          <p:nvSpPr>
            <p:cNvPr id="10" name="矩形: 圆角 9">
              <a:extLst>
                <a:ext uri="{FF2B5EF4-FFF2-40B4-BE49-F238E27FC236}">
                  <a16:creationId xmlns:a16="http://schemas.microsoft.com/office/drawing/2014/main" id="{65CC584A-8B9B-8B87-9D04-2E9894EA620E}"/>
                </a:ext>
              </a:extLst>
            </p:cNvPr>
            <p:cNvSpPr/>
            <p:nvPr/>
          </p:nvSpPr>
          <p:spPr>
            <a:xfrm>
              <a:off x="3016829" y="2171118"/>
              <a:ext cx="1748907" cy="937229"/>
            </a:xfrm>
            <a:prstGeom prst="roundRect">
              <a:avLst>
                <a:gd name="adj" fmla="val 10000"/>
              </a:avLst>
            </a:prstGeom>
            <a:sp3d z="152400" extrusionH="63500" prstMaterial="dkEdge">
              <a:bevelT w="125400" h="36350" prst="relaxedInset"/>
              <a:contourClr>
                <a:schemeClr val="bg1"/>
              </a:contourClr>
            </a:sp3d>
          </p:spPr>
          <p:style>
            <a:lnRef idx="1">
              <a:schemeClr val="accent2">
                <a:hueOff val="0"/>
                <a:satOff val="0"/>
                <a:lumOff val="0"/>
                <a:alphaOff val="0"/>
              </a:schemeClr>
            </a:lnRef>
            <a:fillRef idx="1">
              <a:schemeClr val="accent2">
                <a:alpha val="90000"/>
                <a:tint val="40000"/>
                <a:hueOff val="0"/>
                <a:satOff val="0"/>
                <a:lumOff val="0"/>
                <a:alphaOff val="0"/>
              </a:schemeClr>
            </a:fillRef>
            <a:effectRef idx="2">
              <a:schemeClr val="accent2">
                <a:alpha val="90000"/>
                <a:tint val="40000"/>
                <a:hueOff val="0"/>
                <a:satOff val="0"/>
                <a:lumOff val="0"/>
                <a:alphaOff val="0"/>
              </a:schemeClr>
            </a:effectRef>
            <a:fontRef idx="minor">
              <a:schemeClr val="dk1">
                <a:hueOff val="0"/>
                <a:satOff val="0"/>
                <a:lumOff val="0"/>
                <a:alphaOff val="0"/>
              </a:schemeClr>
            </a:fontRef>
          </p:style>
        </p:sp>
        <p:sp>
          <p:nvSpPr>
            <p:cNvPr id="12" name="矩形: 圆角 4">
              <a:extLst>
                <a:ext uri="{FF2B5EF4-FFF2-40B4-BE49-F238E27FC236}">
                  <a16:creationId xmlns:a16="http://schemas.microsoft.com/office/drawing/2014/main" id="{8B2B7480-6FDA-FA97-0EAF-BB248C341EA1}"/>
                </a:ext>
              </a:extLst>
            </p:cNvPr>
            <p:cNvSpPr txBox="1"/>
            <p:nvPr/>
          </p:nvSpPr>
          <p:spPr>
            <a:xfrm>
              <a:off x="3044280" y="2198569"/>
              <a:ext cx="1694005" cy="882327"/>
            </a:xfrm>
            <a:prstGeom prst="rect">
              <a:avLst/>
            </a:prstGeom>
            <a:sp3d z="1524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altLang="zh-CN" b="1" dirty="0"/>
                <a:t>Incorrect Unit Test Case Assertion Detection Method</a:t>
              </a:r>
              <a:endParaRPr lang="zh-CN" altLang="en-US" sz="1600" kern="1200" dirty="0"/>
            </a:p>
          </p:txBody>
        </p:sp>
      </p:grpSp>
      <p:sp>
        <p:nvSpPr>
          <p:cNvPr id="13" name="圆角矩形标注 10">
            <a:extLst>
              <a:ext uri="{FF2B5EF4-FFF2-40B4-BE49-F238E27FC236}">
                <a16:creationId xmlns:a16="http://schemas.microsoft.com/office/drawing/2014/main" id="{146EFD69-B9DD-E0BE-40F9-F93E30030DC5}"/>
              </a:ext>
            </a:extLst>
          </p:cNvPr>
          <p:cNvSpPr/>
          <p:nvPr/>
        </p:nvSpPr>
        <p:spPr>
          <a:xfrm>
            <a:off x="440852" y="3388961"/>
            <a:ext cx="4266132" cy="2476261"/>
          </a:xfrm>
          <a:prstGeom prst="wedgeRoundRectCallout">
            <a:avLst>
              <a:gd name="adj1" fmla="val 32031"/>
              <a:gd name="adj2" fmla="val -63482"/>
              <a:gd name="adj3" fmla="val 16667"/>
            </a:avLst>
          </a:prstGeom>
          <a:solidFill>
            <a:srgbClr val="EBEBEB"/>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lnSpc>
                <a:spcPct val="114000"/>
              </a:lnSpc>
            </a:pPr>
            <a:r>
              <a:rPr lang="en-US" altLang="zh-CN" sz="1600" b="1" dirty="0">
                <a:solidFill>
                  <a:srgbClr val="9B0000"/>
                </a:solidFill>
              </a:rPr>
              <a:t>Challenge</a:t>
            </a:r>
            <a:r>
              <a:rPr lang="zh-CN" altLang="en-US" sz="1600" b="1" dirty="0">
                <a:solidFill>
                  <a:srgbClr val="9B0000"/>
                </a:solidFill>
              </a:rPr>
              <a:t> </a:t>
            </a:r>
            <a:r>
              <a:rPr lang="en-US" altLang="zh-CN" sz="1600" b="1" dirty="0">
                <a:solidFill>
                  <a:srgbClr val="9B0000"/>
                </a:solidFill>
              </a:rPr>
              <a:t>3</a:t>
            </a:r>
          </a:p>
          <a:p>
            <a:pPr>
              <a:lnSpc>
                <a:spcPct val="114000"/>
              </a:lnSpc>
            </a:pPr>
            <a:r>
              <a:rPr lang="en-US" altLang="zh-CN" sz="1600" dirty="0">
                <a:solidFill>
                  <a:prstClr val="black">
                    <a:lumMod val="65000"/>
                    <a:lumOff val="35000"/>
                  </a:prstClr>
                </a:solidFill>
              </a:rPr>
              <a:t>How to generate correct assertions based on the natural-language description and the program under testing</a:t>
            </a:r>
          </a:p>
          <a:p>
            <a:pPr marL="171450" indent="-171450">
              <a:lnSpc>
                <a:spcPct val="114000"/>
              </a:lnSpc>
              <a:buFont typeface="Arial" panose="020B0604020202020204" pitchFamily="34" charset="0"/>
              <a:buChar char="•"/>
            </a:pPr>
            <a:r>
              <a:rPr lang="en-US" altLang="zh-CN" sz="1400" dirty="0">
                <a:solidFill>
                  <a:prstClr val="black">
                    <a:lumMod val="65000"/>
                    <a:lumOff val="35000"/>
                  </a:prstClr>
                </a:solidFill>
              </a:rPr>
              <a:t>How to generate correct assertions without executing the program under test</a:t>
            </a:r>
          </a:p>
          <a:p>
            <a:pPr marL="171450" indent="-171450">
              <a:lnSpc>
                <a:spcPct val="114000"/>
              </a:lnSpc>
              <a:buFont typeface="Arial" panose="020B0604020202020204" pitchFamily="34" charset="0"/>
              <a:buChar char="•"/>
            </a:pPr>
            <a:r>
              <a:rPr lang="en-US" altLang="zh-CN" sz="1400" dirty="0">
                <a:solidFill>
                  <a:prstClr val="black">
                    <a:lumMod val="65000"/>
                    <a:lumOff val="35000"/>
                  </a:prstClr>
                </a:solidFill>
              </a:rPr>
              <a:t>How to generate accurate assertions using as few computing resources as possible</a:t>
            </a:r>
            <a:endParaRPr lang="zh-CN" altLang="en-US" sz="1400" dirty="0">
              <a:solidFill>
                <a:prstClr val="black">
                  <a:lumMod val="65000"/>
                  <a:lumOff val="35000"/>
                </a:prstClr>
              </a:solidFill>
            </a:endParaRPr>
          </a:p>
        </p:txBody>
      </p:sp>
      <p:sp>
        <p:nvSpPr>
          <p:cNvPr id="14" name="圆角矩形标注 12">
            <a:extLst>
              <a:ext uri="{FF2B5EF4-FFF2-40B4-BE49-F238E27FC236}">
                <a16:creationId xmlns:a16="http://schemas.microsoft.com/office/drawing/2014/main" id="{71EEF80B-3A33-3F02-3269-6C3D896C9509}"/>
              </a:ext>
            </a:extLst>
          </p:cNvPr>
          <p:cNvSpPr/>
          <p:nvPr/>
        </p:nvSpPr>
        <p:spPr>
          <a:xfrm>
            <a:off x="7485017" y="3388960"/>
            <a:ext cx="3833949" cy="2476261"/>
          </a:xfrm>
          <a:prstGeom prst="wedgeRoundRectCallout">
            <a:avLst>
              <a:gd name="adj1" fmla="val -38680"/>
              <a:gd name="adj2" fmla="val -61497"/>
              <a:gd name="adj3" fmla="val 16667"/>
            </a:avLst>
          </a:prstGeom>
          <a:solidFill>
            <a:srgbClr val="EBEBEB"/>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lvl="0" algn="ctr">
              <a:lnSpc>
                <a:spcPct val="114000"/>
              </a:lnSpc>
            </a:pPr>
            <a:r>
              <a:rPr lang="en-US" altLang="zh-CN" sz="1600" b="1" dirty="0">
                <a:solidFill>
                  <a:srgbClr val="9B0000"/>
                </a:solidFill>
              </a:rPr>
              <a:t>Challenge 4</a:t>
            </a:r>
          </a:p>
          <a:p>
            <a:pPr lvl="0">
              <a:lnSpc>
                <a:spcPct val="114000"/>
              </a:lnSpc>
            </a:pPr>
            <a:r>
              <a:rPr lang="en-US" altLang="zh-CN" sz="1600" dirty="0">
                <a:solidFill>
                  <a:prstClr val="black">
                    <a:lumMod val="65000"/>
                    <a:lumOff val="35000"/>
                  </a:prstClr>
                </a:solidFill>
              </a:rPr>
              <a:t>How to detect incorrect unit test cases generated by LLMs based on natural-language descriptions</a:t>
            </a:r>
          </a:p>
          <a:p>
            <a:pPr marL="171450" lvl="0" indent="-171450">
              <a:lnSpc>
                <a:spcPct val="114000"/>
              </a:lnSpc>
              <a:buFont typeface="Arial" panose="020B0604020202020204" pitchFamily="34" charset="0"/>
              <a:buChar char="•"/>
            </a:pPr>
            <a:r>
              <a:rPr lang="en-US" altLang="zh-CN" sz="1400" dirty="0">
                <a:solidFill>
                  <a:prstClr val="black">
                    <a:lumMod val="65000"/>
                    <a:lumOff val="35000"/>
                  </a:prstClr>
                </a:solidFill>
              </a:rPr>
              <a:t>How to generate reliable postconditions</a:t>
            </a:r>
          </a:p>
          <a:p>
            <a:pPr marL="171450" lvl="0" indent="-171450">
              <a:lnSpc>
                <a:spcPct val="114000"/>
              </a:lnSpc>
              <a:buFont typeface="Arial" panose="020B0604020202020204" pitchFamily="34" charset="0"/>
              <a:buChar char="•"/>
            </a:pPr>
            <a:r>
              <a:rPr lang="en-US" altLang="zh-CN" sz="1400" dirty="0">
                <a:solidFill>
                  <a:prstClr val="black">
                    <a:lumMod val="65000"/>
                    <a:lumOff val="35000"/>
                  </a:prstClr>
                </a:solidFill>
              </a:rPr>
              <a:t>How to detect incorrect assertions through postconditions</a:t>
            </a:r>
            <a:endParaRPr lang="zh-CN" altLang="en-US" sz="1400" dirty="0">
              <a:solidFill>
                <a:prstClr val="black">
                  <a:lumMod val="65000"/>
                  <a:lumOff val="35000"/>
                </a:prstClr>
              </a:solidFill>
            </a:endParaRPr>
          </a:p>
        </p:txBody>
      </p:sp>
    </p:spTree>
    <p:extLst>
      <p:ext uri="{BB962C8B-B14F-4D97-AF65-F5344CB8AC3E}">
        <p14:creationId xmlns:p14="http://schemas.microsoft.com/office/powerpoint/2010/main" val="1413212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D97D5-45B6-F8C8-C3E9-488AC1C7F4FB}"/>
            </a:ext>
          </a:extLst>
        </p:cNvPr>
        <p:cNvGrpSpPr/>
        <p:nvPr/>
      </p:nvGrpSpPr>
      <p:grpSpPr>
        <a:xfrm>
          <a:off x="0" y="0"/>
          <a:ext cx="0" cy="0"/>
          <a:chOff x="0" y="0"/>
          <a:chExt cx="0" cy="0"/>
        </a:xfrm>
      </p:grpSpPr>
      <p:sp>
        <p:nvSpPr>
          <p:cNvPr id="5" name="文字版面配置區 4">
            <a:extLst>
              <a:ext uri="{FF2B5EF4-FFF2-40B4-BE49-F238E27FC236}">
                <a16:creationId xmlns:a16="http://schemas.microsoft.com/office/drawing/2014/main" id="{661B18DA-1212-2F65-302E-07BD33BAFF21}"/>
              </a:ext>
            </a:extLst>
          </p:cNvPr>
          <p:cNvSpPr>
            <a:spLocks noGrp="1"/>
          </p:cNvSpPr>
          <p:nvPr>
            <p:ph type="body" idx="1"/>
          </p:nvPr>
        </p:nvSpPr>
        <p:spPr>
          <a:xfrm>
            <a:off x="1574283" y="1459233"/>
            <a:ext cx="9332415" cy="3145817"/>
          </a:xfrm>
        </p:spPr>
        <p:txBody>
          <a:bodyPr>
            <a:noAutofit/>
          </a:bodyPr>
          <a:lstStyle/>
          <a:p>
            <a:r>
              <a:rPr lang="en-US" altLang="zh-CN" sz="2800" dirty="0">
                <a:latin typeface="Times New Roman" panose="02020603050405020304" pitchFamily="18" charset="0"/>
                <a:cs typeface="Times New Roman" panose="02020603050405020304" pitchFamily="18" charset="0"/>
              </a:rPr>
              <a:t>Introduction</a:t>
            </a:r>
          </a:p>
          <a:p>
            <a:r>
              <a:rPr lang="en-US" altLang="zh-CN" sz="2800" dirty="0">
                <a:latin typeface="Times New Roman" panose="02020603050405020304" pitchFamily="18" charset="0"/>
                <a:cs typeface="Times New Roman" panose="02020603050405020304" pitchFamily="18" charset="0"/>
              </a:rPr>
              <a:t>Background &amp; Motivation</a:t>
            </a:r>
          </a:p>
          <a:p>
            <a:r>
              <a:rPr lang="en-US" altLang="zh-CN" sz="2800" dirty="0">
                <a:solidFill>
                  <a:srgbClr val="FF0000"/>
                </a:solidFill>
                <a:latin typeface="Times New Roman" panose="02020603050405020304" pitchFamily="18" charset="0"/>
                <a:cs typeface="Times New Roman" panose="02020603050405020304" pitchFamily="18" charset="0"/>
              </a:rPr>
              <a:t>Proposed Methods &amp; Performance Evaluation</a:t>
            </a:r>
          </a:p>
          <a:p>
            <a:r>
              <a:rPr lang="en-US" altLang="zh-CN" sz="2800" dirty="0">
                <a:latin typeface="Times New Roman" panose="02020603050405020304" pitchFamily="18" charset="0"/>
                <a:cs typeface="Times New Roman" panose="02020603050405020304" pitchFamily="18" charset="0"/>
              </a:rPr>
              <a:t>Summary</a:t>
            </a:r>
          </a:p>
          <a:p>
            <a:r>
              <a:rPr lang="en-US" altLang="zh-CN" sz="2800" dirty="0">
                <a:latin typeface="Times New Roman" panose="02020603050405020304" pitchFamily="18" charset="0"/>
                <a:cs typeface="Times New Roman" panose="02020603050405020304" pitchFamily="18" charset="0"/>
              </a:rPr>
              <a:t>Q&amp;A</a:t>
            </a:r>
          </a:p>
        </p:txBody>
      </p:sp>
      <p:sp>
        <p:nvSpPr>
          <p:cNvPr id="2" name="灯片编号占位符 1">
            <a:extLst>
              <a:ext uri="{FF2B5EF4-FFF2-40B4-BE49-F238E27FC236}">
                <a16:creationId xmlns:a16="http://schemas.microsoft.com/office/drawing/2014/main" id="{2BA75358-0FEF-9AD6-B0DA-E3AB2ED1717C}"/>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14</a:t>
            </a:fld>
            <a:endParaRPr lang="zh-TW" altLang="en-US"/>
          </a:p>
        </p:txBody>
      </p:sp>
    </p:spTree>
    <p:extLst>
      <p:ext uri="{BB962C8B-B14F-4D97-AF65-F5344CB8AC3E}">
        <p14:creationId xmlns:p14="http://schemas.microsoft.com/office/powerpoint/2010/main" val="10309265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A1C19-69FB-F4B6-9AC4-5583747E47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6BE18-FF51-121C-C998-2F2697401FAF}"/>
              </a:ext>
            </a:extLst>
          </p:cNvPr>
          <p:cNvSpPr>
            <a:spLocks noGrp="1"/>
          </p:cNvSpPr>
          <p:nvPr>
            <p:ph type="title"/>
          </p:nvPr>
        </p:nvSpPr>
        <p:spPr>
          <a:xfrm>
            <a:off x="1088571" y="144466"/>
            <a:ext cx="10722429" cy="692151"/>
          </a:xfrm>
        </p:spPr>
        <p:txBody>
          <a:bodyPr/>
          <a:lstStyle/>
          <a:p>
            <a:r>
              <a:rPr lang="en-US" altLang="zh-CN" dirty="0" err="1">
                <a:latin typeface="Times New Roman" panose="02020603050405020304" pitchFamily="18" charset="0"/>
                <a:cs typeface="Times New Roman" panose="02020603050405020304" pitchFamily="18" charset="0"/>
              </a:rPr>
              <a:t>CoderEval</a:t>
            </a:r>
            <a:r>
              <a:rPr lang="en-US" altLang="zh-CN"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(1/5)</a:t>
            </a:r>
            <a:endParaRPr lang="en-US"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C17EED21-0C55-BB9A-51E2-A402D2A68DF5}"/>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15</a:t>
            </a:fld>
            <a:endParaRPr lang="zh-TW" altLang="en-US"/>
          </a:p>
        </p:txBody>
      </p:sp>
      <p:graphicFrame>
        <p:nvGraphicFramePr>
          <p:cNvPr id="9" name="表格 8">
            <a:extLst>
              <a:ext uri="{FF2B5EF4-FFF2-40B4-BE49-F238E27FC236}">
                <a16:creationId xmlns:a16="http://schemas.microsoft.com/office/drawing/2014/main" id="{7057BFFF-BFB6-C06C-C441-968465B1897B}"/>
              </a:ext>
            </a:extLst>
          </p:cNvPr>
          <p:cNvGraphicFramePr>
            <a:graphicFrameLocks noGrp="1"/>
          </p:cNvGraphicFramePr>
          <p:nvPr>
            <p:extLst>
              <p:ext uri="{D42A27DB-BD31-4B8C-83A1-F6EECF244321}">
                <p14:modId xmlns:p14="http://schemas.microsoft.com/office/powerpoint/2010/main" val="3193356928"/>
              </p:ext>
            </p:extLst>
          </p:nvPr>
        </p:nvGraphicFramePr>
        <p:xfrm>
          <a:off x="6968213" y="1292949"/>
          <a:ext cx="4984604" cy="2887166"/>
        </p:xfrm>
        <a:graphic>
          <a:graphicData uri="http://schemas.openxmlformats.org/drawingml/2006/table">
            <a:tbl>
              <a:tblPr firstRow="1" bandRow="1">
                <a:tableStyleId>{72833802-FEF1-4C79-8D5D-14CF1EAF98D9}</a:tableStyleId>
              </a:tblPr>
              <a:tblGrid>
                <a:gridCol w="4984604">
                  <a:extLst>
                    <a:ext uri="{9D8B030D-6E8A-4147-A177-3AD203B41FA5}">
                      <a16:colId xmlns:a16="http://schemas.microsoft.com/office/drawing/2014/main" val="20000"/>
                    </a:ext>
                  </a:extLst>
                </a:gridCol>
              </a:tblGrid>
              <a:tr h="552174">
                <a:tc>
                  <a:txBody>
                    <a:bodyPr/>
                    <a:lstStyle/>
                    <a:p>
                      <a:pPr marL="0" marR="0" lvl="0" indent="0" algn="l" defTabSz="1188085" rtl="0" eaLnBrk="1" fontAlgn="auto" latinLnBrk="0" hangingPunct="1">
                        <a:lnSpc>
                          <a:spcPct val="100000"/>
                        </a:lnSpc>
                        <a:spcBef>
                          <a:spcPts val="0"/>
                        </a:spcBef>
                        <a:spcAft>
                          <a:spcPts val="0"/>
                        </a:spcAft>
                        <a:buClrTx/>
                        <a:buSzTx/>
                        <a:buFontTx/>
                        <a:buNone/>
                        <a:defRPr/>
                      </a:pPr>
                      <a:r>
                        <a:rPr lang="en-US" altLang="zh-CN" sz="1400" b="0">
                          <a:solidFill>
                            <a:schemeClr val="tx1"/>
                          </a:solidFill>
                        </a:rPr>
                        <a:t>Return a greatest common divisor of two integers a and b</a:t>
                      </a:r>
                      <a:endParaRPr lang="en-US" altLang="zh-CN" sz="1400" b="0" dirty="0">
                        <a:solidFill>
                          <a:schemeClr val="tx1"/>
                        </a:solidFill>
                        <a:effectLst/>
                        <a:latin typeface="Consolas" panose="020B0609020204030204" pitchFamily="49" charset="0"/>
                      </a:endParaRPr>
                    </a:p>
                  </a:txBody>
                  <a:tcPr marL="91404" marR="91404" marT="45702" marB="4570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00"/>
                  </a:ext>
                </a:extLst>
              </a:tr>
              <a:tr h="429422">
                <a:tc>
                  <a:txBody>
                    <a:bodyPr/>
                    <a:lstStyle/>
                    <a:p>
                      <a:r>
                        <a:rPr lang="en-US" altLang="zh-CN" sz="1400"/>
                        <a:t>def greatest_common_divisor(a: int, b: int) -&gt; int: </a:t>
                      </a:r>
                      <a:endParaRPr lang="en-US" altLang="zh-CN" sz="1400" b="0" dirty="0">
                        <a:solidFill>
                          <a:schemeClr val="tx1"/>
                        </a:solidFill>
                        <a:effectLst/>
                        <a:latin typeface="Consolas" panose="020B0609020204030204" pitchFamily="49" charset="0"/>
                      </a:endParaRPr>
                    </a:p>
                  </a:txBody>
                  <a:tcPr marL="91404" marR="91404" marT="45702" marB="4570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extLst>
                  <a:ext uri="{0D108BD9-81ED-4DB2-BD59-A6C34878D82A}">
                    <a16:rowId xmlns:a16="http://schemas.microsoft.com/office/drawing/2014/main" val="10001"/>
                  </a:ext>
                </a:extLst>
              </a:tr>
              <a:tr h="700316">
                <a:tc>
                  <a:txBody>
                    <a:bodyPr/>
                    <a:lstStyle/>
                    <a:p>
                      <a:r>
                        <a:rPr lang="en-US" altLang="zh-CN" sz="1400"/>
                        <a:t>greatest_common_divisor(3, 5) = 1 </a:t>
                      </a:r>
                    </a:p>
                    <a:p>
                      <a:r>
                        <a:rPr lang="en-US" altLang="zh-CN" sz="1400"/>
                        <a:t>greatest_common_divisor(25, 15) = 5 </a:t>
                      </a:r>
                      <a:endParaRPr lang="en-US" altLang="zh-CN" sz="1400" b="0" dirty="0">
                        <a:solidFill>
                          <a:schemeClr val="tx1"/>
                        </a:solidFill>
                        <a:effectLst/>
                        <a:latin typeface="Consolas" panose="020B0609020204030204" pitchFamily="49" charset="0"/>
                      </a:endParaRPr>
                    </a:p>
                  </a:txBody>
                  <a:tcPr marL="91404" marR="91404" marT="45702" marB="4570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002"/>
                  </a:ext>
                </a:extLst>
              </a:tr>
              <a:tr h="1205254">
                <a:tc>
                  <a:txBody>
                    <a:bodyPr/>
                    <a:lstStyle/>
                    <a:p>
                      <a:r>
                        <a:rPr lang="en-US" altLang="zh-CN" sz="1400" dirty="0"/>
                        <a:t>while b: </a:t>
                      </a:r>
                    </a:p>
                    <a:p>
                      <a:r>
                        <a:rPr lang="en-US" altLang="zh-CN" sz="1400" dirty="0"/>
                        <a:t>    a, b = b, a % b </a:t>
                      </a:r>
                    </a:p>
                    <a:p>
                      <a:r>
                        <a:rPr lang="en-US" altLang="zh-CN" sz="1400" dirty="0"/>
                        <a:t>return a</a:t>
                      </a:r>
                      <a:endParaRPr lang="en-US" altLang="zh-CN" sz="1400" b="0" dirty="0">
                        <a:solidFill>
                          <a:schemeClr val="tx1"/>
                        </a:solidFill>
                        <a:effectLst/>
                        <a:latin typeface="Consolas" panose="020B0609020204030204" pitchFamily="49" charset="0"/>
                      </a:endParaRPr>
                    </a:p>
                  </a:txBody>
                  <a:tcPr marL="91404" marR="91404" marT="45702" marB="45702">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3"/>
                  </a:ext>
                </a:extLst>
              </a:tr>
            </a:tbl>
          </a:graphicData>
        </a:graphic>
      </p:graphicFrame>
      <p:sp>
        <p:nvSpPr>
          <p:cNvPr id="11" name="文本框 10">
            <a:extLst>
              <a:ext uri="{FF2B5EF4-FFF2-40B4-BE49-F238E27FC236}">
                <a16:creationId xmlns:a16="http://schemas.microsoft.com/office/drawing/2014/main" id="{DAA4E223-DF40-A04C-9FCE-4C17CBC9B018}"/>
              </a:ext>
            </a:extLst>
          </p:cNvPr>
          <p:cNvSpPr txBox="1"/>
          <p:nvPr/>
        </p:nvSpPr>
        <p:spPr>
          <a:xfrm>
            <a:off x="468630" y="1364456"/>
            <a:ext cx="6110150" cy="3046988"/>
          </a:xfrm>
          <a:prstGeom prst="rect">
            <a:avLst/>
          </a:prstGeom>
          <a:noFill/>
        </p:spPr>
        <p:txBody>
          <a:bodyPr wrap="square">
            <a:spAutoFit/>
          </a:bodyPr>
          <a:lstStyle/>
          <a:p>
            <a:pPr marL="342900" indent="-342900">
              <a:buFont typeface="Arial" panose="020B0604020202020204" pitchFamily="34" charset="0"/>
              <a:buChar char="•"/>
            </a:pPr>
            <a:r>
              <a:rPr lang="en-US" altLang="zh-CN" sz="2400" dirty="0"/>
              <a:t>Before July 2021, automatic code generation methods used </a:t>
            </a:r>
            <a:r>
              <a:rPr lang="en-US" altLang="zh-CN" sz="2400" b="1" dirty="0"/>
              <a:t>similarity</a:t>
            </a:r>
            <a:r>
              <a:rPr lang="en-US" altLang="zh-CN" sz="2400" dirty="0"/>
              <a:t> to evaluate the quality of generated code.</a:t>
            </a:r>
          </a:p>
          <a:p>
            <a:pPr marL="285750" indent="-285750">
              <a:buFont typeface="Arial" panose="020B0604020202020204" pitchFamily="34" charset="0"/>
              <a:buChar char="•"/>
            </a:pPr>
            <a:endParaRPr lang="en-US" altLang="zh-CN" sz="2400" dirty="0"/>
          </a:p>
          <a:p>
            <a:endParaRPr lang="en-US" altLang="zh-CN" sz="2400" dirty="0"/>
          </a:p>
          <a:p>
            <a:pPr marL="285750" indent="-285750">
              <a:buFont typeface="Arial" panose="020B0604020202020204" pitchFamily="34" charset="0"/>
              <a:buChar char="•"/>
            </a:pPr>
            <a:r>
              <a:rPr lang="en-US" altLang="zh-CN" sz="2400" dirty="0"/>
              <a:t>In July 2021, Codex used the </a:t>
            </a:r>
            <a:r>
              <a:rPr lang="en-US" altLang="zh-CN" sz="2400" dirty="0" err="1"/>
              <a:t>Pass@k</a:t>
            </a:r>
            <a:r>
              <a:rPr lang="en-US" altLang="zh-CN" sz="2400" dirty="0"/>
              <a:t> metric to evaluate the quality of code generated by large models.</a:t>
            </a:r>
            <a:endParaRPr kumimoji="1" lang="en-US" altLang="zh-CN" sz="2400" dirty="0"/>
          </a:p>
        </p:txBody>
      </p:sp>
      <p:sp>
        <p:nvSpPr>
          <p:cNvPr id="13" name="文本框 12">
            <a:extLst>
              <a:ext uri="{FF2B5EF4-FFF2-40B4-BE49-F238E27FC236}">
                <a16:creationId xmlns:a16="http://schemas.microsoft.com/office/drawing/2014/main" id="{54E3761D-5BA2-E936-0927-2B3A8E379A59}"/>
              </a:ext>
            </a:extLst>
          </p:cNvPr>
          <p:cNvSpPr txBox="1"/>
          <p:nvPr/>
        </p:nvSpPr>
        <p:spPr>
          <a:xfrm>
            <a:off x="7265955" y="4241612"/>
            <a:ext cx="4389120" cy="1323439"/>
          </a:xfrm>
          <a:prstGeom prst="rect">
            <a:avLst/>
          </a:prstGeom>
          <a:noFill/>
        </p:spPr>
        <p:txBody>
          <a:bodyPr wrap="square">
            <a:spAutoFit/>
          </a:bodyPr>
          <a:lstStyle/>
          <a:p>
            <a:r>
              <a:rPr lang="en-US" altLang="zh-CN" sz="2000" b="1" i="0" dirty="0">
                <a:solidFill>
                  <a:schemeClr val="accent2"/>
                </a:solidFill>
                <a:effectLst/>
                <a:latin typeface="Arial" panose="020B0604020202020204" pitchFamily="34" charset="0"/>
              </a:rPr>
              <a:t>You only need to provide a standard Python environment to test whether the function </a:t>
            </a:r>
            <a:r>
              <a:rPr lang="en-US" altLang="zh-CN" sz="2000" b="1" dirty="0">
                <a:solidFill>
                  <a:schemeClr val="accent2"/>
                </a:solidFill>
                <a:latin typeface="Arial" panose="020B0604020202020204" pitchFamily="34" charset="0"/>
              </a:rPr>
              <a:t>under test in </a:t>
            </a:r>
            <a:r>
              <a:rPr lang="en-US" altLang="zh-CN" sz="2000" b="1" i="0" dirty="0" err="1">
                <a:solidFill>
                  <a:schemeClr val="accent2"/>
                </a:solidFill>
                <a:effectLst/>
                <a:latin typeface="Arial" panose="020B0604020202020204" pitchFamily="34" charset="0"/>
              </a:rPr>
              <a:t>HumanEval</a:t>
            </a:r>
            <a:r>
              <a:rPr lang="en-US" altLang="zh-CN" sz="2000" b="1" i="0" dirty="0">
                <a:solidFill>
                  <a:schemeClr val="accent2"/>
                </a:solidFill>
                <a:effectLst/>
                <a:latin typeface="Arial" panose="020B0604020202020204" pitchFamily="34" charset="0"/>
              </a:rPr>
              <a:t> is correct.</a:t>
            </a:r>
            <a:endParaRPr lang="zh-CN" altLang="en-US" sz="2000" dirty="0">
              <a:solidFill>
                <a:schemeClr val="accent2"/>
              </a:solidFill>
            </a:endParaRPr>
          </a:p>
        </p:txBody>
      </p:sp>
    </p:spTree>
    <p:extLst>
      <p:ext uri="{BB962C8B-B14F-4D97-AF65-F5344CB8AC3E}">
        <p14:creationId xmlns:p14="http://schemas.microsoft.com/office/powerpoint/2010/main" val="2259396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ACC21-BDDE-32E2-2A7F-E3B6821CFA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0C934D-90C6-473B-4711-B16E1A9F3C6D}"/>
              </a:ext>
            </a:extLst>
          </p:cNvPr>
          <p:cNvSpPr>
            <a:spLocks noGrp="1"/>
          </p:cNvSpPr>
          <p:nvPr>
            <p:ph type="title"/>
          </p:nvPr>
        </p:nvSpPr>
        <p:spPr>
          <a:xfrm>
            <a:off x="1088571" y="144466"/>
            <a:ext cx="10722429" cy="692151"/>
          </a:xfrm>
        </p:spPr>
        <p:txBody>
          <a:bodyPr/>
          <a:lstStyle/>
          <a:p>
            <a:r>
              <a:rPr lang="en-US" altLang="zh-CN" dirty="0" err="1">
                <a:latin typeface="Times New Roman" panose="02020603050405020304" pitchFamily="18" charset="0"/>
                <a:cs typeface="Times New Roman" panose="02020603050405020304" pitchFamily="18" charset="0"/>
              </a:rPr>
              <a:t>CoderEval</a:t>
            </a:r>
            <a:r>
              <a:rPr lang="en-US" altLang="zh-CN" dirty="0"/>
              <a:t>— Construction</a:t>
            </a:r>
            <a:r>
              <a:rPr lang="en-US" altLang="zh-CN"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(2/5)</a:t>
            </a:r>
            <a:endParaRPr lang="en-US"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63B98394-F548-E77F-B37A-26428597852B}"/>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16</a:t>
            </a:fld>
            <a:endParaRPr lang="zh-TW" altLang="en-US"/>
          </a:p>
        </p:txBody>
      </p:sp>
      <p:sp>
        <p:nvSpPr>
          <p:cNvPr id="116" name="文本框 115">
            <a:extLst>
              <a:ext uri="{FF2B5EF4-FFF2-40B4-BE49-F238E27FC236}">
                <a16:creationId xmlns:a16="http://schemas.microsoft.com/office/drawing/2014/main" id="{8F9F40D8-C7D1-3F97-9312-B2A91840F1D5}"/>
              </a:ext>
            </a:extLst>
          </p:cNvPr>
          <p:cNvSpPr txBox="1"/>
          <p:nvPr/>
        </p:nvSpPr>
        <p:spPr>
          <a:xfrm>
            <a:off x="10424160" y="4114800"/>
            <a:ext cx="184731" cy="369332"/>
          </a:xfrm>
          <a:prstGeom prst="rect">
            <a:avLst/>
          </a:prstGeom>
          <a:noFill/>
        </p:spPr>
        <p:txBody>
          <a:bodyPr wrap="none" rtlCol="0">
            <a:spAutoFit/>
          </a:bodyPr>
          <a:lstStyle/>
          <a:p>
            <a:endParaRPr kumimoji="1" lang="zh-CN" altLang="en-US" dirty="0"/>
          </a:p>
        </p:txBody>
      </p:sp>
      <p:pic>
        <p:nvPicPr>
          <p:cNvPr id="3" name="图片 2">
            <a:extLst>
              <a:ext uri="{FF2B5EF4-FFF2-40B4-BE49-F238E27FC236}">
                <a16:creationId xmlns:a16="http://schemas.microsoft.com/office/drawing/2014/main" id="{32B0B517-B04A-41BA-D476-7F4911446249}"/>
              </a:ext>
            </a:extLst>
          </p:cNvPr>
          <p:cNvPicPr>
            <a:picLocks noChangeAspect="1"/>
          </p:cNvPicPr>
          <p:nvPr/>
        </p:nvPicPr>
        <p:blipFill>
          <a:blip r:embed="rId3"/>
          <a:stretch>
            <a:fillRect/>
          </a:stretch>
        </p:blipFill>
        <p:spPr>
          <a:xfrm>
            <a:off x="943509" y="1250184"/>
            <a:ext cx="10304979" cy="1792170"/>
          </a:xfrm>
          <a:prstGeom prst="rect">
            <a:avLst/>
          </a:prstGeom>
        </p:spPr>
      </p:pic>
      <p:sp>
        <p:nvSpPr>
          <p:cNvPr id="5" name="内容占位符 2">
            <a:extLst>
              <a:ext uri="{FF2B5EF4-FFF2-40B4-BE49-F238E27FC236}">
                <a16:creationId xmlns:a16="http://schemas.microsoft.com/office/drawing/2014/main" id="{0A0CF21B-0172-A6BE-8C10-BCF7D0BE60DF}"/>
              </a:ext>
            </a:extLst>
          </p:cNvPr>
          <p:cNvSpPr txBox="1"/>
          <p:nvPr/>
        </p:nvSpPr>
        <p:spPr>
          <a:xfrm>
            <a:off x="542109" y="3195587"/>
            <a:ext cx="11103427" cy="2976319"/>
          </a:xfrm>
          <a:prstGeom prst="rect">
            <a:avLst/>
          </a:prstGeom>
        </p:spPr>
        <p:txBody>
          <a:bodyPr vert="horz" lIns="91440" tIns="45720" rIns="91440" bIns="45720" rtlCol="0">
            <a:noAutofit/>
          </a:bodyPr>
          <a:lstStyle>
            <a:lvl1pPr marL="228600" indent="-228600" algn="l" defTabSz="914400" rtl="0" eaLnBrk="1" latinLnBrk="0" hangingPunct="1">
              <a:lnSpc>
                <a:spcPct val="114000"/>
              </a:lnSpc>
              <a:spcBef>
                <a:spcPts val="1000"/>
              </a:spcBef>
              <a:buFont typeface="Arial" panose="020B0604020202020204" pitchFamily="34" charset="0"/>
              <a:buChar char="•"/>
              <a:defRPr sz="2400" kern="1200">
                <a:solidFill>
                  <a:schemeClr val="tx1"/>
                </a:solidFill>
                <a:latin typeface="+mn-lt"/>
                <a:ea typeface="思源黑体 Medium" panose="020B0600000000000000"/>
                <a:cs typeface="+mn-cs"/>
              </a:defRPr>
            </a:lvl1pPr>
            <a:lvl2pPr marL="685800" indent="-228600" algn="l" defTabSz="914400" rtl="0" eaLnBrk="1" latinLnBrk="0" hangingPunct="1">
              <a:lnSpc>
                <a:spcPct val="114000"/>
              </a:lnSpc>
              <a:spcBef>
                <a:spcPts val="500"/>
              </a:spcBef>
              <a:buFont typeface="Arial" panose="020B0604020202020204" pitchFamily="34" charset="0"/>
              <a:buChar char="•"/>
              <a:defRPr sz="2000" kern="1200">
                <a:solidFill>
                  <a:schemeClr val="tx1"/>
                </a:solidFill>
                <a:latin typeface="+mn-lt"/>
                <a:ea typeface="思源黑体 Medium" panose="020B0600000000000000"/>
                <a:cs typeface="+mn-cs"/>
              </a:defRPr>
            </a:lvl2pPr>
            <a:lvl3pPr marL="1143000" indent="-228600" algn="l" defTabSz="914400" rtl="0" eaLnBrk="1" latinLnBrk="0" hangingPunct="1">
              <a:lnSpc>
                <a:spcPct val="114000"/>
              </a:lnSpc>
              <a:spcBef>
                <a:spcPts val="500"/>
              </a:spcBef>
              <a:buFont typeface="Arial" panose="020B0604020202020204" pitchFamily="34" charset="0"/>
              <a:buChar char="•"/>
              <a:defRPr sz="1800" kern="1200">
                <a:solidFill>
                  <a:schemeClr val="tx1"/>
                </a:solidFill>
                <a:latin typeface="+mn-lt"/>
                <a:ea typeface="思源黑体 Medium" panose="020B0600000000000000"/>
                <a:cs typeface="+mn-cs"/>
              </a:defRPr>
            </a:lvl3pPr>
            <a:lvl4pPr marL="1600200" indent="-228600" algn="l" defTabSz="914400" rtl="0" eaLnBrk="1" latinLnBrk="0" hangingPunct="1">
              <a:lnSpc>
                <a:spcPct val="114000"/>
              </a:lnSpc>
              <a:spcBef>
                <a:spcPts val="500"/>
              </a:spcBef>
              <a:buFont typeface="Arial" panose="020B0604020202020204" pitchFamily="34" charset="0"/>
              <a:buChar char="•"/>
              <a:defRPr sz="1600" kern="1200">
                <a:solidFill>
                  <a:schemeClr val="tx1"/>
                </a:solidFill>
                <a:latin typeface="+mn-lt"/>
                <a:ea typeface="思源黑体 Medium" panose="020B0600000000000000"/>
                <a:cs typeface="+mn-cs"/>
              </a:defRPr>
            </a:lvl4pPr>
            <a:lvl5pPr marL="2057400" indent="-228600" algn="l" defTabSz="914400" rtl="0" eaLnBrk="1" latinLnBrk="0" hangingPunct="1">
              <a:lnSpc>
                <a:spcPct val="114000"/>
              </a:lnSpc>
              <a:spcBef>
                <a:spcPts val="500"/>
              </a:spcBef>
              <a:buFont typeface="Arial" panose="020B0604020202020204" pitchFamily="34" charset="0"/>
              <a:buChar char="•"/>
              <a:defRPr sz="1600" kern="1200">
                <a:solidFill>
                  <a:schemeClr val="tx1"/>
                </a:solidFill>
                <a:latin typeface="+mn-lt"/>
                <a:ea typeface="思源黑体 Medium" panose="020B060000000000000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4000"/>
              </a:lnSpc>
            </a:pPr>
            <a:r>
              <a:rPr kumimoji="1" lang="en-US" altLang="zh-CN" b="1" dirty="0"/>
              <a:t>Dataset Collection</a:t>
            </a:r>
            <a:r>
              <a:rPr kumimoji="1" lang="en-US" altLang="zh-CN" dirty="0"/>
              <a:t>: Candidate item selection, function selection, final item selection, test case selection</a:t>
            </a:r>
          </a:p>
          <a:p>
            <a:pPr>
              <a:lnSpc>
                <a:spcPct val="104000"/>
              </a:lnSpc>
            </a:pPr>
            <a:r>
              <a:rPr kumimoji="1" lang="en-US" altLang="zh-CN" b="1" dirty="0"/>
              <a:t>Dataset Inspection</a:t>
            </a:r>
            <a:r>
              <a:rPr kumimoji="1" lang="en-US" altLang="zh-CN" dirty="0"/>
              <a:t>: Context-Dependent Analysis and Identification, Function Executable-Level Classification, Manually Labeled Function Descriptions</a:t>
            </a:r>
          </a:p>
          <a:p>
            <a:pPr>
              <a:lnSpc>
                <a:spcPct val="104000"/>
              </a:lnSpc>
            </a:pPr>
            <a:r>
              <a:rPr kumimoji="1" lang="en-US" altLang="zh-CN" b="1" dirty="0"/>
              <a:t>Evaluation Process</a:t>
            </a:r>
            <a:r>
              <a:rPr kumimoji="1" lang="en-US" altLang="zh-CN" dirty="0"/>
              <a:t>: Incremental compilation execution improves evaluation speed, and Docker ensures execution security.</a:t>
            </a:r>
            <a:endParaRPr kumimoji="1" lang="zh-CN" altLang="en-US" dirty="0"/>
          </a:p>
        </p:txBody>
      </p:sp>
    </p:spTree>
    <p:extLst>
      <p:ext uri="{BB962C8B-B14F-4D97-AF65-F5344CB8AC3E}">
        <p14:creationId xmlns:p14="http://schemas.microsoft.com/office/powerpoint/2010/main" val="9077539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2B346-F0EB-517B-E4D6-E22D6F2ADC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296207-0ACC-23A8-8A95-8C1CE7C001E9}"/>
              </a:ext>
            </a:extLst>
          </p:cNvPr>
          <p:cNvSpPr>
            <a:spLocks noGrp="1"/>
          </p:cNvSpPr>
          <p:nvPr>
            <p:ph type="title"/>
          </p:nvPr>
        </p:nvSpPr>
        <p:spPr>
          <a:xfrm>
            <a:off x="1088571" y="144466"/>
            <a:ext cx="10722429" cy="692151"/>
          </a:xfrm>
        </p:spPr>
        <p:txBody>
          <a:bodyPr/>
          <a:lstStyle/>
          <a:p>
            <a:r>
              <a:rPr lang="en-US" altLang="zh-CN" dirty="0" err="1">
                <a:latin typeface="Times New Roman" panose="02020603050405020304" pitchFamily="18" charset="0"/>
                <a:cs typeface="Times New Roman" panose="02020603050405020304" pitchFamily="18" charset="0"/>
              </a:rPr>
              <a:t>CoderEval</a:t>
            </a:r>
            <a:r>
              <a:rPr lang="en-US" altLang="zh-CN" dirty="0">
                <a:latin typeface="Times New Roman" panose="02020603050405020304" pitchFamily="18" charset="0"/>
                <a:cs typeface="Times New Roman" panose="02020603050405020304" pitchFamily="18" charset="0"/>
              </a:rPr>
              <a:t> – Dataset Collection</a:t>
            </a:r>
            <a:r>
              <a:rPr lang="en-US" altLang="zh-CN" sz="2400" dirty="0">
                <a:latin typeface="Times New Roman" panose="02020603050405020304" pitchFamily="18" charset="0"/>
                <a:cs typeface="Times New Roman" panose="02020603050405020304" pitchFamily="18" charset="0"/>
              </a:rPr>
              <a:t>(3/5)</a:t>
            </a:r>
            <a:endParaRPr lang="en-US"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30485015-2B2B-717E-2AAD-37ED7C3345B4}"/>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17</a:t>
            </a:fld>
            <a:endParaRPr lang="zh-TW" altLang="en-US"/>
          </a:p>
        </p:txBody>
      </p:sp>
      <p:pic>
        <p:nvPicPr>
          <p:cNvPr id="5" name="图片 4">
            <a:extLst>
              <a:ext uri="{FF2B5EF4-FFF2-40B4-BE49-F238E27FC236}">
                <a16:creationId xmlns:a16="http://schemas.microsoft.com/office/drawing/2014/main" id="{E7B9F0DC-6356-CC70-2013-D9291E59BD4E}"/>
              </a:ext>
            </a:extLst>
          </p:cNvPr>
          <p:cNvPicPr>
            <a:picLocks noChangeAspect="1"/>
          </p:cNvPicPr>
          <p:nvPr/>
        </p:nvPicPr>
        <p:blipFill>
          <a:blip r:embed="rId3"/>
          <a:srcRect r="58835"/>
          <a:stretch/>
        </p:blipFill>
        <p:spPr>
          <a:xfrm>
            <a:off x="2840083" y="1703496"/>
            <a:ext cx="6511834" cy="3704527"/>
          </a:xfrm>
          <a:prstGeom prst="rect">
            <a:avLst/>
          </a:prstGeom>
        </p:spPr>
      </p:pic>
    </p:spTree>
    <p:extLst>
      <p:ext uri="{BB962C8B-B14F-4D97-AF65-F5344CB8AC3E}">
        <p14:creationId xmlns:p14="http://schemas.microsoft.com/office/powerpoint/2010/main" val="16453441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056B4-47DF-164A-7B98-36F2F7567C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86C362-556F-1E32-E41B-CE231F7D7CCC}"/>
              </a:ext>
            </a:extLst>
          </p:cNvPr>
          <p:cNvSpPr>
            <a:spLocks noGrp="1"/>
          </p:cNvSpPr>
          <p:nvPr>
            <p:ph type="title"/>
          </p:nvPr>
        </p:nvSpPr>
        <p:spPr>
          <a:xfrm>
            <a:off x="1088571" y="144466"/>
            <a:ext cx="10722429" cy="692151"/>
          </a:xfrm>
        </p:spPr>
        <p:txBody>
          <a:bodyPr/>
          <a:lstStyle/>
          <a:p>
            <a:r>
              <a:rPr lang="en-US" altLang="zh-CN" dirty="0" err="1">
                <a:latin typeface="Times New Roman" panose="02020603050405020304" pitchFamily="18" charset="0"/>
                <a:cs typeface="Times New Roman" panose="02020603050405020304" pitchFamily="18" charset="0"/>
              </a:rPr>
              <a:t>CoderEval</a:t>
            </a:r>
            <a:r>
              <a:rPr lang="en-US" altLang="zh-CN" dirty="0">
                <a:latin typeface="Times New Roman" panose="02020603050405020304" pitchFamily="18" charset="0"/>
                <a:cs typeface="Times New Roman" panose="02020603050405020304" pitchFamily="18" charset="0"/>
              </a:rPr>
              <a:t> – </a:t>
            </a:r>
            <a:r>
              <a:rPr lang="en-US" altLang="zh-CN" dirty="0"/>
              <a:t>Dataset Inspection </a:t>
            </a:r>
            <a:r>
              <a:rPr lang="en-US" altLang="zh-CN" sz="2400" dirty="0">
                <a:latin typeface="Times New Roman" panose="02020603050405020304" pitchFamily="18" charset="0"/>
                <a:cs typeface="Times New Roman" panose="02020603050405020304" pitchFamily="18" charset="0"/>
              </a:rPr>
              <a:t>(4/5)</a:t>
            </a:r>
            <a:endParaRPr lang="en-US"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F0BB2B07-BA7F-BE2F-8301-B203A36BEAE2}"/>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18</a:t>
            </a:fld>
            <a:endParaRPr lang="zh-TW" altLang="en-US"/>
          </a:p>
        </p:txBody>
      </p:sp>
      <p:sp>
        <p:nvSpPr>
          <p:cNvPr id="161" name="文本框 160">
            <a:extLst>
              <a:ext uri="{FF2B5EF4-FFF2-40B4-BE49-F238E27FC236}">
                <a16:creationId xmlns:a16="http://schemas.microsoft.com/office/drawing/2014/main" id="{63177B3E-ED41-B4BC-F146-00A73D149AA4}"/>
              </a:ext>
            </a:extLst>
          </p:cNvPr>
          <p:cNvSpPr txBox="1"/>
          <p:nvPr/>
        </p:nvSpPr>
        <p:spPr>
          <a:xfrm>
            <a:off x="11864517" y="2110615"/>
            <a:ext cx="341813" cy="461665"/>
          </a:xfrm>
          <a:prstGeom prst="rect">
            <a:avLst/>
          </a:prstGeom>
          <a:noFill/>
        </p:spPr>
        <p:txBody>
          <a:bodyPr wrap="square" rtlCol="0">
            <a:spAutoFit/>
          </a:bodyPr>
          <a:lstStyle/>
          <a:p>
            <a:pPr algn="ctr"/>
            <a:r>
              <a:rPr kumimoji="1" lang="en-US" altLang="zh-CN" sz="2400" dirty="0">
                <a:solidFill>
                  <a:prstClr val="black"/>
                </a:solidFill>
                <a:latin typeface="等线" panose="020F0502020204030204"/>
                <a:ea typeface="等线" panose="02010600030101010101" pitchFamily="2" charset="-122"/>
              </a:rPr>
              <a:t>…</a:t>
            </a:r>
            <a:endParaRPr kumimoji="1" lang="zh-CN" altLang="en-US" sz="2400" dirty="0">
              <a:solidFill>
                <a:prstClr val="black"/>
              </a:solidFill>
              <a:latin typeface="等线" panose="020F0502020204030204"/>
              <a:ea typeface="等线" panose="02010600030101010101" pitchFamily="2" charset="-122"/>
            </a:endParaRPr>
          </a:p>
        </p:txBody>
      </p:sp>
      <p:pic>
        <p:nvPicPr>
          <p:cNvPr id="3" name="图片 2">
            <a:extLst>
              <a:ext uri="{FF2B5EF4-FFF2-40B4-BE49-F238E27FC236}">
                <a16:creationId xmlns:a16="http://schemas.microsoft.com/office/drawing/2014/main" id="{CF400580-8257-2B96-383C-8295E19E4A25}"/>
              </a:ext>
            </a:extLst>
          </p:cNvPr>
          <p:cNvPicPr>
            <a:picLocks noChangeAspect="1"/>
          </p:cNvPicPr>
          <p:nvPr/>
        </p:nvPicPr>
        <p:blipFill>
          <a:blip r:embed="rId3"/>
          <a:srcRect l="40844" r="31655"/>
          <a:stretch/>
        </p:blipFill>
        <p:spPr>
          <a:xfrm>
            <a:off x="3754483" y="1081835"/>
            <a:ext cx="4683034" cy="2980890"/>
          </a:xfrm>
          <a:prstGeom prst="rect">
            <a:avLst/>
          </a:prstGeom>
        </p:spPr>
      </p:pic>
      <p:pic>
        <p:nvPicPr>
          <p:cNvPr id="5" name="图片 4">
            <a:extLst>
              <a:ext uri="{FF2B5EF4-FFF2-40B4-BE49-F238E27FC236}">
                <a16:creationId xmlns:a16="http://schemas.microsoft.com/office/drawing/2014/main" id="{0F4AF952-6912-57B7-C46F-40CEFB0A2851}"/>
              </a:ext>
            </a:extLst>
          </p:cNvPr>
          <p:cNvPicPr>
            <a:picLocks noChangeAspect="1"/>
          </p:cNvPicPr>
          <p:nvPr/>
        </p:nvPicPr>
        <p:blipFill>
          <a:blip r:embed="rId4"/>
          <a:srcRect t="11337" b="13133"/>
          <a:stretch/>
        </p:blipFill>
        <p:spPr>
          <a:xfrm>
            <a:off x="2344745" y="4062725"/>
            <a:ext cx="7502509" cy="1994782"/>
          </a:xfrm>
          <a:prstGeom prst="rect">
            <a:avLst/>
          </a:prstGeom>
        </p:spPr>
      </p:pic>
    </p:spTree>
    <p:extLst>
      <p:ext uri="{BB962C8B-B14F-4D97-AF65-F5344CB8AC3E}">
        <p14:creationId xmlns:p14="http://schemas.microsoft.com/office/powerpoint/2010/main" val="39191911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F166B-3E53-1953-BB6A-AD78AA502F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9A6616-4778-C2C1-D2A3-65547AB49418}"/>
              </a:ext>
            </a:extLst>
          </p:cNvPr>
          <p:cNvSpPr>
            <a:spLocks noGrp="1"/>
          </p:cNvSpPr>
          <p:nvPr>
            <p:ph type="title"/>
          </p:nvPr>
        </p:nvSpPr>
        <p:spPr>
          <a:xfrm>
            <a:off x="1088571" y="144466"/>
            <a:ext cx="10722429" cy="692151"/>
          </a:xfrm>
        </p:spPr>
        <p:txBody>
          <a:bodyPr/>
          <a:lstStyle/>
          <a:p>
            <a:r>
              <a:rPr lang="en-US" altLang="zh-CN" dirty="0" err="1">
                <a:latin typeface="Times New Roman" panose="02020603050405020304" pitchFamily="18" charset="0"/>
                <a:cs typeface="Times New Roman" panose="02020603050405020304" pitchFamily="18" charset="0"/>
              </a:rPr>
              <a:t>CoderEval</a:t>
            </a:r>
            <a:r>
              <a:rPr lang="en-US" altLang="zh-CN" dirty="0">
                <a:latin typeface="Times New Roman" panose="02020603050405020304" pitchFamily="18" charset="0"/>
                <a:cs typeface="Times New Roman" panose="02020603050405020304" pitchFamily="18" charset="0"/>
              </a:rPr>
              <a:t> – </a:t>
            </a:r>
            <a:r>
              <a:rPr lang="en-US" altLang="zh-CN" dirty="0"/>
              <a:t>Evaluation Process </a:t>
            </a:r>
            <a:r>
              <a:rPr lang="en-US" altLang="zh-CN" sz="2400" dirty="0">
                <a:latin typeface="Times New Roman" panose="02020603050405020304" pitchFamily="18" charset="0"/>
                <a:cs typeface="Times New Roman" panose="02020603050405020304" pitchFamily="18" charset="0"/>
              </a:rPr>
              <a:t>(5/5)</a:t>
            </a:r>
            <a:endParaRPr lang="en-US"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C5C0A40D-ADB7-3234-78B6-9E34991A9B0C}"/>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19</a:t>
            </a:fld>
            <a:endParaRPr lang="zh-TW" altLang="en-US"/>
          </a:p>
        </p:txBody>
      </p:sp>
      <p:sp>
        <p:nvSpPr>
          <p:cNvPr id="161" name="文本框 160">
            <a:extLst>
              <a:ext uri="{FF2B5EF4-FFF2-40B4-BE49-F238E27FC236}">
                <a16:creationId xmlns:a16="http://schemas.microsoft.com/office/drawing/2014/main" id="{AF61EB68-3D79-2D43-1DBB-6CA4B96BDEBC}"/>
              </a:ext>
            </a:extLst>
          </p:cNvPr>
          <p:cNvSpPr txBox="1"/>
          <p:nvPr/>
        </p:nvSpPr>
        <p:spPr>
          <a:xfrm>
            <a:off x="11864517" y="2110615"/>
            <a:ext cx="341813" cy="461665"/>
          </a:xfrm>
          <a:prstGeom prst="rect">
            <a:avLst/>
          </a:prstGeom>
          <a:noFill/>
        </p:spPr>
        <p:txBody>
          <a:bodyPr wrap="square" rtlCol="0">
            <a:spAutoFit/>
          </a:bodyPr>
          <a:lstStyle/>
          <a:p>
            <a:pPr algn="ctr"/>
            <a:r>
              <a:rPr kumimoji="1" lang="en-US" altLang="zh-CN" sz="2400" dirty="0">
                <a:solidFill>
                  <a:prstClr val="black"/>
                </a:solidFill>
                <a:latin typeface="等线" panose="020F0502020204030204"/>
                <a:ea typeface="等线" panose="02010600030101010101" pitchFamily="2" charset="-122"/>
              </a:rPr>
              <a:t>…</a:t>
            </a:r>
            <a:endParaRPr kumimoji="1" lang="zh-CN" altLang="en-US" sz="2400" dirty="0">
              <a:solidFill>
                <a:prstClr val="black"/>
              </a:solidFill>
              <a:latin typeface="等线" panose="020F0502020204030204"/>
              <a:ea typeface="等线" panose="02010600030101010101" pitchFamily="2" charset="-122"/>
            </a:endParaRPr>
          </a:p>
        </p:txBody>
      </p:sp>
      <p:pic>
        <p:nvPicPr>
          <p:cNvPr id="6" name="图片 5">
            <a:extLst>
              <a:ext uri="{FF2B5EF4-FFF2-40B4-BE49-F238E27FC236}">
                <a16:creationId xmlns:a16="http://schemas.microsoft.com/office/drawing/2014/main" id="{E30C4491-5B6B-7B35-4EE0-C212CA1CEBBA}"/>
              </a:ext>
            </a:extLst>
          </p:cNvPr>
          <p:cNvPicPr>
            <a:picLocks noChangeAspect="1"/>
          </p:cNvPicPr>
          <p:nvPr/>
        </p:nvPicPr>
        <p:blipFill>
          <a:blip r:embed="rId3"/>
          <a:srcRect l="67968"/>
          <a:stretch/>
        </p:blipFill>
        <p:spPr>
          <a:xfrm>
            <a:off x="3445325" y="1667279"/>
            <a:ext cx="6008919" cy="3262428"/>
          </a:xfrm>
          <a:prstGeom prst="rect">
            <a:avLst/>
          </a:prstGeom>
        </p:spPr>
      </p:pic>
    </p:spTree>
    <p:extLst>
      <p:ext uri="{BB962C8B-B14F-4D97-AF65-F5344CB8AC3E}">
        <p14:creationId xmlns:p14="http://schemas.microsoft.com/office/powerpoint/2010/main" val="18929715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DF1E4-AFAA-29B6-801A-AE26E4A5D6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B38E71-C05B-0B09-5AE1-BECA7E18B6E5}"/>
              </a:ext>
            </a:extLst>
          </p:cNvPr>
          <p:cNvSpPr>
            <a:spLocks noGrp="1"/>
          </p:cNvSpPr>
          <p:nvPr>
            <p:ph type="title"/>
          </p:nvPr>
        </p:nvSpPr>
        <p:spPr>
          <a:xfrm>
            <a:off x="1088571" y="144466"/>
            <a:ext cx="10722429" cy="692151"/>
          </a:xfrm>
        </p:spPr>
        <p:txBody>
          <a:bodyPr/>
          <a:lstStyle/>
          <a:p>
            <a:r>
              <a:rPr lang="en-US" altLang="zh-CN" dirty="0">
                <a:latin typeface="Times New Roman" panose="02020603050405020304" pitchFamily="18" charset="0"/>
                <a:cs typeface="Times New Roman" panose="02020603050405020304" pitchFamily="18" charset="0"/>
              </a:rPr>
              <a:t>Evaluation – </a:t>
            </a:r>
            <a:r>
              <a:rPr lang="en-US" altLang="zh-CN" dirty="0" err="1">
                <a:latin typeface="Times New Roman" panose="02020603050405020304" pitchFamily="18" charset="0"/>
                <a:cs typeface="Times New Roman" panose="02020603050405020304" pitchFamily="18" charset="0"/>
              </a:rPr>
              <a:t>CoderEval</a:t>
            </a:r>
            <a:r>
              <a:rPr lang="en-US"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(1/2)</a:t>
            </a:r>
            <a:endParaRPr lang="en-US"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BC0557B2-761C-ADC0-F3DB-7F6637AFDCF9}"/>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20</a:t>
            </a:fld>
            <a:endParaRPr lang="zh-TW" altLang="en-US"/>
          </a:p>
        </p:txBody>
      </p:sp>
      <p:pic>
        <p:nvPicPr>
          <p:cNvPr id="3" name="图片 2">
            <a:extLst>
              <a:ext uri="{FF2B5EF4-FFF2-40B4-BE49-F238E27FC236}">
                <a16:creationId xmlns:a16="http://schemas.microsoft.com/office/drawing/2014/main" id="{FC739E0A-B3DE-BCC7-7A84-B1F051468D2A}"/>
              </a:ext>
            </a:extLst>
          </p:cNvPr>
          <p:cNvPicPr>
            <a:picLocks noChangeAspect="1"/>
          </p:cNvPicPr>
          <p:nvPr/>
        </p:nvPicPr>
        <p:blipFill>
          <a:blip r:embed="rId3"/>
          <a:stretch>
            <a:fillRect/>
          </a:stretch>
        </p:blipFill>
        <p:spPr>
          <a:xfrm>
            <a:off x="2480758" y="1276049"/>
            <a:ext cx="7230484" cy="4305901"/>
          </a:xfrm>
          <a:prstGeom prst="rect">
            <a:avLst/>
          </a:prstGeom>
        </p:spPr>
      </p:pic>
    </p:spTree>
    <p:extLst>
      <p:ext uri="{BB962C8B-B14F-4D97-AF65-F5344CB8AC3E}">
        <p14:creationId xmlns:p14="http://schemas.microsoft.com/office/powerpoint/2010/main" val="15510264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02245-E7BB-F324-B503-A150025443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B939BA-C43E-487E-0021-A02C9F8FF4D2}"/>
              </a:ext>
            </a:extLst>
          </p:cNvPr>
          <p:cNvSpPr>
            <a:spLocks noGrp="1"/>
          </p:cNvSpPr>
          <p:nvPr>
            <p:ph type="title"/>
          </p:nvPr>
        </p:nvSpPr>
        <p:spPr>
          <a:xfrm>
            <a:off x="1088571" y="144466"/>
            <a:ext cx="10722429" cy="692151"/>
          </a:xfrm>
        </p:spPr>
        <p:txBody>
          <a:bodyPr/>
          <a:lstStyle/>
          <a:p>
            <a:r>
              <a:rPr lang="en-US" altLang="zh-CN" dirty="0">
                <a:latin typeface="Times New Roman" panose="02020603050405020304" pitchFamily="18" charset="0"/>
                <a:cs typeface="Times New Roman" panose="02020603050405020304" pitchFamily="18" charset="0"/>
              </a:rPr>
              <a:t>Evaluation – </a:t>
            </a:r>
            <a:r>
              <a:rPr lang="en-US" altLang="zh-CN" dirty="0" err="1">
                <a:latin typeface="Times New Roman" panose="02020603050405020304" pitchFamily="18" charset="0"/>
                <a:cs typeface="Times New Roman" panose="02020603050405020304" pitchFamily="18" charset="0"/>
              </a:rPr>
              <a:t>CoderEval</a:t>
            </a:r>
            <a:r>
              <a:rPr lang="en-US"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(2/2)</a:t>
            </a:r>
            <a:endParaRPr lang="en-US"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CF3798E0-D83E-8FA3-AACF-8880A4111858}"/>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21</a:t>
            </a:fld>
            <a:endParaRPr lang="zh-TW" altLang="en-US"/>
          </a:p>
        </p:txBody>
      </p:sp>
      <p:pic>
        <p:nvPicPr>
          <p:cNvPr id="5" name="图片 4">
            <a:extLst>
              <a:ext uri="{FF2B5EF4-FFF2-40B4-BE49-F238E27FC236}">
                <a16:creationId xmlns:a16="http://schemas.microsoft.com/office/drawing/2014/main" id="{A1E0FE78-10EE-0D73-E8DC-0F65C5B7DCB3}"/>
              </a:ext>
            </a:extLst>
          </p:cNvPr>
          <p:cNvPicPr>
            <a:picLocks noChangeAspect="1"/>
          </p:cNvPicPr>
          <p:nvPr/>
        </p:nvPicPr>
        <p:blipFill>
          <a:blip r:embed="rId3"/>
          <a:stretch>
            <a:fillRect/>
          </a:stretch>
        </p:blipFill>
        <p:spPr>
          <a:xfrm>
            <a:off x="2285743" y="1090748"/>
            <a:ext cx="7019622" cy="5048795"/>
          </a:xfrm>
          <a:prstGeom prst="rect">
            <a:avLst/>
          </a:prstGeom>
        </p:spPr>
      </p:pic>
      <p:sp>
        <p:nvSpPr>
          <p:cNvPr id="7" name="文本框 6">
            <a:extLst>
              <a:ext uri="{FF2B5EF4-FFF2-40B4-BE49-F238E27FC236}">
                <a16:creationId xmlns:a16="http://schemas.microsoft.com/office/drawing/2014/main" id="{7A13F86D-6D67-0E5A-1C21-273AC5E6AC19}"/>
              </a:ext>
            </a:extLst>
          </p:cNvPr>
          <p:cNvSpPr txBox="1"/>
          <p:nvPr/>
        </p:nvSpPr>
        <p:spPr>
          <a:xfrm>
            <a:off x="9477103" y="1799177"/>
            <a:ext cx="2586446" cy="1754326"/>
          </a:xfrm>
          <a:prstGeom prst="rect">
            <a:avLst/>
          </a:prstGeom>
          <a:noFill/>
        </p:spPr>
        <p:txBody>
          <a:bodyPr wrap="square">
            <a:spAutoFit/>
          </a:bodyPr>
          <a:lstStyle/>
          <a:p>
            <a:r>
              <a:rPr lang="en-US" altLang="zh-CN" b="1" dirty="0" err="1">
                <a:sym typeface="+mn-ea"/>
              </a:rPr>
              <a:t>Pass@K</a:t>
            </a:r>
            <a:r>
              <a:rPr lang="en-US" altLang="zh-CN" dirty="0">
                <a:sym typeface="+mn-ea"/>
              </a:rPr>
              <a:t>:</a:t>
            </a:r>
            <a:r>
              <a:rPr lang="en-US" altLang="zh-CN" b="1" dirty="0">
                <a:sym typeface="+mn-ea"/>
              </a:rPr>
              <a:t> </a:t>
            </a:r>
            <a:r>
              <a:rPr lang="en-US" altLang="zh-CN" dirty="0">
                <a:sym typeface="+mn-ea"/>
              </a:rPr>
              <a:t>T</a:t>
            </a:r>
            <a:r>
              <a:rPr lang="en-US" altLang="zh-CN" dirty="0"/>
              <a:t>he percentage of questions for which at least one of the K samples generated by the model is correct</a:t>
            </a:r>
            <a:endParaRPr lang="zh-CN" altLang="en-US" dirty="0"/>
          </a:p>
        </p:txBody>
      </p:sp>
      <p:grpSp>
        <p:nvGrpSpPr>
          <p:cNvPr id="8" name="组合 7">
            <a:extLst>
              <a:ext uri="{FF2B5EF4-FFF2-40B4-BE49-F238E27FC236}">
                <a16:creationId xmlns:a16="http://schemas.microsoft.com/office/drawing/2014/main" id="{5AC994B1-2A14-DB16-382C-53E4565EF993}"/>
              </a:ext>
            </a:extLst>
          </p:cNvPr>
          <p:cNvGrpSpPr/>
          <p:nvPr/>
        </p:nvGrpSpPr>
        <p:grpSpPr>
          <a:xfrm>
            <a:off x="2285743" y="1580410"/>
            <a:ext cx="6846203" cy="624807"/>
            <a:chOff x="391" y="5173"/>
            <a:chExt cx="11590" cy="1153"/>
          </a:xfrm>
        </p:grpSpPr>
        <p:cxnSp>
          <p:nvCxnSpPr>
            <p:cNvPr id="9" name="直接连接符 8">
              <a:extLst>
                <a:ext uri="{FF2B5EF4-FFF2-40B4-BE49-F238E27FC236}">
                  <a16:creationId xmlns:a16="http://schemas.microsoft.com/office/drawing/2014/main" id="{7D8B58EA-5DD3-5E05-7BB0-A47FF3811257}"/>
                </a:ext>
              </a:extLst>
            </p:cNvPr>
            <p:cNvCxnSpPr/>
            <p:nvPr/>
          </p:nvCxnSpPr>
          <p:spPr>
            <a:xfrm flipH="1">
              <a:off x="391" y="5208"/>
              <a:ext cx="11" cy="1119"/>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0" name="直接连接符 9">
              <a:extLst>
                <a:ext uri="{FF2B5EF4-FFF2-40B4-BE49-F238E27FC236}">
                  <a16:creationId xmlns:a16="http://schemas.microsoft.com/office/drawing/2014/main" id="{1108C9EA-B85A-5CA4-FC63-2FD90AB59286}"/>
                </a:ext>
              </a:extLst>
            </p:cNvPr>
            <p:cNvCxnSpPr/>
            <p:nvPr/>
          </p:nvCxnSpPr>
          <p:spPr>
            <a:xfrm flipV="1">
              <a:off x="402" y="5173"/>
              <a:ext cx="11579" cy="35"/>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1" name="直接连接符 10">
              <a:extLst>
                <a:ext uri="{FF2B5EF4-FFF2-40B4-BE49-F238E27FC236}">
                  <a16:creationId xmlns:a16="http://schemas.microsoft.com/office/drawing/2014/main" id="{82A85B8D-ABA7-0DD9-F76B-337B36A7280D}"/>
                </a:ext>
              </a:extLst>
            </p:cNvPr>
            <p:cNvCxnSpPr/>
            <p:nvPr/>
          </p:nvCxnSpPr>
          <p:spPr>
            <a:xfrm>
              <a:off x="11981" y="5173"/>
              <a:ext cx="0" cy="1134"/>
            </a:xfrm>
            <a:prstGeom prst="line">
              <a:avLst/>
            </a:prstGeom>
            <a:ln w="57150">
              <a:solidFill>
                <a:srgbClr val="FF2600"/>
              </a:solidFill>
            </a:ln>
          </p:spPr>
          <p:style>
            <a:lnRef idx="2">
              <a:schemeClr val="accent1"/>
            </a:lnRef>
            <a:fillRef idx="0">
              <a:schemeClr val="accent1"/>
            </a:fillRef>
            <a:effectRef idx="1">
              <a:schemeClr val="accent1"/>
            </a:effectRef>
            <a:fontRef idx="minor">
              <a:schemeClr val="tx1"/>
            </a:fontRef>
          </p:style>
        </p:cxnSp>
        <p:cxnSp>
          <p:nvCxnSpPr>
            <p:cNvPr id="12" name="直接连接符 11">
              <a:extLst>
                <a:ext uri="{FF2B5EF4-FFF2-40B4-BE49-F238E27FC236}">
                  <a16:creationId xmlns:a16="http://schemas.microsoft.com/office/drawing/2014/main" id="{0194BEF4-7484-4BDC-0018-4A02FDE99BE8}"/>
                </a:ext>
              </a:extLst>
            </p:cNvPr>
            <p:cNvCxnSpPr/>
            <p:nvPr/>
          </p:nvCxnSpPr>
          <p:spPr>
            <a:xfrm>
              <a:off x="415" y="6307"/>
              <a:ext cx="11567" cy="0"/>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3" name="组合 12">
            <a:extLst>
              <a:ext uri="{FF2B5EF4-FFF2-40B4-BE49-F238E27FC236}">
                <a16:creationId xmlns:a16="http://schemas.microsoft.com/office/drawing/2014/main" id="{42145891-77E5-C7A4-7FA3-CBF8B80A2628}"/>
              </a:ext>
            </a:extLst>
          </p:cNvPr>
          <p:cNvGrpSpPr/>
          <p:nvPr/>
        </p:nvGrpSpPr>
        <p:grpSpPr>
          <a:xfrm>
            <a:off x="2299920" y="3299095"/>
            <a:ext cx="6846203" cy="624807"/>
            <a:chOff x="391" y="5173"/>
            <a:chExt cx="11590" cy="1153"/>
          </a:xfrm>
        </p:grpSpPr>
        <p:cxnSp>
          <p:nvCxnSpPr>
            <p:cNvPr id="14" name="直接连接符 13">
              <a:extLst>
                <a:ext uri="{FF2B5EF4-FFF2-40B4-BE49-F238E27FC236}">
                  <a16:creationId xmlns:a16="http://schemas.microsoft.com/office/drawing/2014/main" id="{DCC13A73-7330-9091-50AF-6C06B3D5CB31}"/>
                </a:ext>
              </a:extLst>
            </p:cNvPr>
            <p:cNvCxnSpPr/>
            <p:nvPr/>
          </p:nvCxnSpPr>
          <p:spPr>
            <a:xfrm flipH="1">
              <a:off x="391" y="5208"/>
              <a:ext cx="11" cy="1119"/>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5" name="直接连接符 14">
              <a:extLst>
                <a:ext uri="{FF2B5EF4-FFF2-40B4-BE49-F238E27FC236}">
                  <a16:creationId xmlns:a16="http://schemas.microsoft.com/office/drawing/2014/main" id="{92D7CB6C-2F7C-D13E-5BCD-B6FB8C23FC24}"/>
                </a:ext>
              </a:extLst>
            </p:cNvPr>
            <p:cNvCxnSpPr/>
            <p:nvPr/>
          </p:nvCxnSpPr>
          <p:spPr>
            <a:xfrm flipV="1">
              <a:off x="402" y="5173"/>
              <a:ext cx="11579" cy="35"/>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6" name="直接连接符 15">
              <a:extLst>
                <a:ext uri="{FF2B5EF4-FFF2-40B4-BE49-F238E27FC236}">
                  <a16:creationId xmlns:a16="http://schemas.microsoft.com/office/drawing/2014/main" id="{5BDA9067-B188-5152-1159-EB2BA9170D71}"/>
                </a:ext>
              </a:extLst>
            </p:cNvPr>
            <p:cNvCxnSpPr/>
            <p:nvPr/>
          </p:nvCxnSpPr>
          <p:spPr>
            <a:xfrm>
              <a:off x="11981" y="5173"/>
              <a:ext cx="0" cy="1134"/>
            </a:xfrm>
            <a:prstGeom prst="line">
              <a:avLst/>
            </a:prstGeom>
            <a:ln w="57150">
              <a:solidFill>
                <a:srgbClr val="FF2600"/>
              </a:solidFill>
            </a:ln>
          </p:spPr>
          <p:style>
            <a:lnRef idx="2">
              <a:schemeClr val="accent1"/>
            </a:lnRef>
            <a:fillRef idx="0">
              <a:schemeClr val="accent1"/>
            </a:fillRef>
            <a:effectRef idx="1">
              <a:schemeClr val="accent1"/>
            </a:effectRef>
            <a:fontRef idx="minor">
              <a:schemeClr val="tx1"/>
            </a:fontRef>
          </p:style>
        </p:cxnSp>
        <p:cxnSp>
          <p:nvCxnSpPr>
            <p:cNvPr id="17" name="直接连接符 16">
              <a:extLst>
                <a:ext uri="{FF2B5EF4-FFF2-40B4-BE49-F238E27FC236}">
                  <a16:creationId xmlns:a16="http://schemas.microsoft.com/office/drawing/2014/main" id="{51A06A86-BF74-D2BC-29EB-ED8A3C776534}"/>
                </a:ext>
              </a:extLst>
            </p:cNvPr>
            <p:cNvCxnSpPr/>
            <p:nvPr/>
          </p:nvCxnSpPr>
          <p:spPr>
            <a:xfrm>
              <a:off x="415" y="6307"/>
              <a:ext cx="11567" cy="0"/>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3445914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51C0A-5627-9846-FBF5-760C38FEFE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B45A1A-544B-3E21-38BD-98496DDED23D}"/>
              </a:ext>
            </a:extLst>
          </p:cNvPr>
          <p:cNvSpPr>
            <a:spLocks noGrp="1"/>
          </p:cNvSpPr>
          <p:nvPr>
            <p:ph type="title"/>
          </p:nvPr>
        </p:nvSpPr>
        <p:spPr>
          <a:xfrm>
            <a:off x="1088571" y="144466"/>
            <a:ext cx="10722429" cy="692151"/>
          </a:xfrm>
        </p:spPr>
        <p:txBody>
          <a:bodyPr/>
          <a:lstStyle/>
          <a:p>
            <a:r>
              <a:rPr lang="en-US" altLang="zh-CN" dirty="0">
                <a:latin typeface="Times New Roman" panose="02020603050405020304" pitchFamily="18" charset="0"/>
                <a:cs typeface="Times New Roman" panose="02020603050405020304" pitchFamily="18" charset="0"/>
              </a:rPr>
              <a:t>Integration – Unit Test Generation </a:t>
            </a:r>
            <a:r>
              <a:rPr lang="en-US" altLang="zh-CN" sz="2400" dirty="0">
                <a:latin typeface="Times New Roman" panose="02020603050405020304" pitchFamily="18" charset="0"/>
                <a:cs typeface="Times New Roman" panose="02020603050405020304" pitchFamily="18" charset="0"/>
              </a:rPr>
              <a:t>(1/1)</a:t>
            </a:r>
            <a:endParaRPr lang="en-US"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03F71DE8-4F33-9CDC-F937-9854F22B105E}"/>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22</a:t>
            </a:fld>
            <a:endParaRPr lang="zh-TW" altLang="en-US"/>
          </a:p>
        </p:txBody>
      </p:sp>
      <p:pic>
        <p:nvPicPr>
          <p:cNvPr id="3" name="图片 2">
            <a:extLst>
              <a:ext uri="{FF2B5EF4-FFF2-40B4-BE49-F238E27FC236}">
                <a16:creationId xmlns:a16="http://schemas.microsoft.com/office/drawing/2014/main" id="{DEC138B5-CBA6-2CF0-E436-E3A4B35700CB}"/>
              </a:ext>
            </a:extLst>
          </p:cNvPr>
          <p:cNvPicPr>
            <a:picLocks noChangeAspect="1"/>
          </p:cNvPicPr>
          <p:nvPr/>
        </p:nvPicPr>
        <p:blipFill rotWithShape="1">
          <a:blip r:embed="rId3"/>
          <a:srcRect b="12082"/>
          <a:stretch/>
        </p:blipFill>
        <p:spPr>
          <a:xfrm>
            <a:off x="923203" y="1273720"/>
            <a:ext cx="10345594" cy="3653043"/>
          </a:xfrm>
          <a:prstGeom prst="rect">
            <a:avLst/>
          </a:prstGeom>
        </p:spPr>
      </p:pic>
      <p:sp>
        <p:nvSpPr>
          <p:cNvPr id="6" name="文本框 5">
            <a:extLst>
              <a:ext uri="{FF2B5EF4-FFF2-40B4-BE49-F238E27FC236}">
                <a16:creationId xmlns:a16="http://schemas.microsoft.com/office/drawing/2014/main" id="{CE46B5D0-593E-A4A0-A200-1E3475DAC2B3}"/>
              </a:ext>
            </a:extLst>
          </p:cNvPr>
          <p:cNvSpPr txBox="1"/>
          <p:nvPr/>
        </p:nvSpPr>
        <p:spPr>
          <a:xfrm>
            <a:off x="1755866" y="4926763"/>
            <a:ext cx="8680268" cy="830997"/>
          </a:xfrm>
          <a:prstGeom prst="rect">
            <a:avLst/>
          </a:prstGeom>
          <a:noFill/>
        </p:spPr>
        <p:txBody>
          <a:bodyPr wrap="square">
            <a:spAutoFit/>
          </a:bodyPr>
          <a:lstStyle/>
          <a:p>
            <a:r>
              <a:rPr lang="en-US" altLang="zh-CN" sz="2400" b="1" i="0" dirty="0">
                <a:effectLst/>
                <a:latin typeface="Arial" panose="020B0604020202020204" pitchFamily="34" charset="0"/>
              </a:rPr>
              <a:t>Unit Test Case Generation Based on the Combination of Information Retrieval and Deep Learning</a:t>
            </a:r>
            <a:endParaRPr lang="zh-CN" altLang="en-US" sz="2400" dirty="0"/>
          </a:p>
        </p:txBody>
      </p:sp>
    </p:spTree>
    <p:extLst>
      <p:ext uri="{BB962C8B-B14F-4D97-AF65-F5344CB8AC3E}">
        <p14:creationId xmlns:p14="http://schemas.microsoft.com/office/powerpoint/2010/main" val="42236043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0DF71-C0A4-409F-8B1D-B927F69D6B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F7B4F4-3461-06D6-AA3A-1B7D60A1A184}"/>
              </a:ext>
            </a:extLst>
          </p:cNvPr>
          <p:cNvSpPr>
            <a:spLocks noGrp="1"/>
          </p:cNvSpPr>
          <p:nvPr>
            <p:ph type="title"/>
          </p:nvPr>
        </p:nvSpPr>
        <p:spPr>
          <a:xfrm>
            <a:off x="1088571" y="144466"/>
            <a:ext cx="10722429" cy="692151"/>
          </a:xfrm>
        </p:spPr>
        <p:txBody>
          <a:bodyPr/>
          <a:lstStyle/>
          <a:p>
            <a:r>
              <a:rPr lang="en-US" altLang="zh-CN" dirty="0">
                <a:latin typeface="Times New Roman" panose="02020603050405020304" pitchFamily="18" charset="0"/>
                <a:cs typeface="Times New Roman" panose="02020603050405020304" pitchFamily="18" charset="0"/>
              </a:rPr>
              <a:t>Evaluation – Integration </a:t>
            </a:r>
            <a:r>
              <a:rPr lang="en-US" altLang="zh-CN" sz="2400" dirty="0">
                <a:latin typeface="Times New Roman" panose="02020603050405020304" pitchFamily="18" charset="0"/>
                <a:cs typeface="Times New Roman" panose="02020603050405020304" pitchFamily="18" charset="0"/>
              </a:rPr>
              <a:t>(1/2)</a:t>
            </a:r>
            <a:endParaRPr lang="en-US"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80563344-9C4F-FDCD-D430-9FD86AB2AF4E}"/>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23</a:t>
            </a:fld>
            <a:endParaRPr lang="zh-TW" altLang="en-US"/>
          </a:p>
        </p:txBody>
      </p:sp>
      <p:sp>
        <p:nvSpPr>
          <p:cNvPr id="8" name="文本框 7">
            <a:extLst>
              <a:ext uri="{FF2B5EF4-FFF2-40B4-BE49-F238E27FC236}">
                <a16:creationId xmlns:a16="http://schemas.microsoft.com/office/drawing/2014/main" id="{762BCF56-9BFB-C5C2-D94C-71144A527EAE}"/>
              </a:ext>
            </a:extLst>
          </p:cNvPr>
          <p:cNvSpPr txBox="1"/>
          <p:nvPr/>
        </p:nvSpPr>
        <p:spPr>
          <a:xfrm>
            <a:off x="2253344" y="1355619"/>
            <a:ext cx="7578634" cy="1200329"/>
          </a:xfrm>
          <a:prstGeom prst="rect">
            <a:avLst/>
          </a:prstGeom>
          <a:noFill/>
        </p:spPr>
        <p:txBody>
          <a:bodyPr wrap="square">
            <a:spAutoFit/>
          </a:bodyPr>
          <a:lstStyle/>
          <a:p>
            <a:r>
              <a:rPr lang="en-US" altLang="zh-CN" sz="2400" dirty="0"/>
              <a:t>Use GPT-3.5-Turbo as the core model of ChatGPT to generate a statement for each focal test. Set the temperature and top-k to 0.8 and 0.95, respectively.</a:t>
            </a:r>
            <a:endParaRPr lang="zh-CN" altLang="en-US" sz="2400" dirty="0"/>
          </a:p>
        </p:txBody>
      </p:sp>
      <p:pic>
        <p:nvPicPr>
          <p:cNvPr id="9" name="图片 8">
            <a:extLst>
              <a:ext uri="{FF2B5EF4-FFF2-40B4-BE49-F238E27FC236}">
                <a16:creationId xmlns:a16="http://schemas.microsoft.com/office/drawing/2014/main" id="{7DFD1B8E-6CAE-B75E-BD55-FDE32E3143D2}"/>
              </a:ext>
            </a:extLst>
          </p:cNvPr>
          <p:cNvPicPr>
            <a:picLocks noChangeAspect="1"/>
          </p:cNvPicPr>
          <p:nvPr/>
        </p:nvPicPr>
        <p:blipFill rotWithShape="1">
          <a:blip r:embed="rId3"/>
          <a:srcRect t="25071"/>
          <a:stretch/>
        </p:blipFill>
        <p:spPr>
          <a:xfrm>
            <a:off x="926374" y="3074950"/>
            <a:ext cx="10339252" cy="1838289"/>
          </a:xfrm>
          <a:prstGeom prst="rect">
            <a:avLst/>
          </a:prstGeom>
        </p:spPr>
      </p:pic>
      <p:sp>
        <p:nvSpPr>
          <p:cNvPr id="11" name="文本框 10">
            <a:extLst>
              <a:ext uri="{FF2B5EF4-FFF2-40B4-BE49-F238E27FC236}">
                <a16:creationId xmlns:a16="http://schemas.microsoft.com/office/drawing/2014/main" id="{2E9C5F00-70B2-2EBE-AA35-8A8BBC5D373C}"/>
              </a:ext>
            </a:extLst>
          </p:cNvPr>
          <p:cNvSpPr txBox="1"/>
          <p:nvPr/>
        </p:nvSpPr>
        <p:spPr>
          <a:xfrm>
            <a:off x="1851659" y="5040716"/>
            <a:ext cx="9196251" cy="707886"/>
          </a:xfrm>
          <a:prstGeom prst="rect">
            <a:avLst/>
          </a:prstGeom>
          <a:noFill/>
        </p:spPr>
        <p:txBody>
          <a:bodyPr wrap="square">
            <a:spAutoFit/>
          </a:bodyPr>
          <a:lstStyle/>
          <a:p>
            <a:r>
              <a:rPr lang="en-US" altLang="zh-CN" sz="2000" b="1" i="0" dirty="0">
                <a:effectLst/>
                <a:latin typeface="Arial" panose="020B0604020202020204" pitchFamily="34" charset="0"/>
              </a:rPr>
              <a:t>Observation: </a:t>
            </a:r>
            <a:r>
              <a:rPr lang="en-US" altLang="zh-CN" sz="2000" i="0" dirty="0">
                <a:effectLst/>
                <a:latin typeface="Arial" panose="020B0604020202020204" pitchFamily="34" charset="0"/>
              </a:rPr>
              <a:t>On datasets from real development scenarios, ChatGPT </a:t>
            </a:r>
            <a:r>
              <a:rPr lang="en-US" altLang="zh-CN" sz="2000" dirty="0">
                <a:latin typeface="Arial" panose="020B0604020202020204" pitchFamily="34" charset="0"/>
              </a:rPr>
              <a:t>correctly</a:t>
            </a:r>
            <a:r>
              <a:rPr lang="en-US" altLang="zh-CN" sz="2000" i="0" dirty="0">
                <a:effectLst/>
                <a:latin typeface="Arial" panose="020B0604020202020204" pitchFamily="34" charset="0"/>
              </a:rPr>
              <a:t> generates nearly half of the test case assertion</a:t>
            </a:r>
            <a:r>
              <a:rPr lang="en-US" altLang="zh-CN" sz="2000" dirty="0">
                <a:latin typeface="Arial" panose="020B0604020202020204" pitchFamily="34" charset="0"/>
              </a:rPr>
              <a:t>s</a:t>
            </a:r>
            <a:r>
              <a:rPr lang="en-US" altLang="zh-CN" sz="2000" i="0" dirty="0">
                <a:effectLst/>
                <a:latin typeface="Arial" panose="020B0604020202020204" pitchFamily="34" charset="0"/>
              </a:rPr>
              <a:t>.</a:t>
            </a:r>
            <a:endParaRPr lang="zh-CN" altLang="en-US" sz="2000" dirty="0"/>
          </a:p>
        </p:txBody>
      </p:sp>
    </p:spTree>
    <p:extLst>
      <p:ext uri="{BB962C8B-B14F-4D97-AF65-F5344CB8AC3E}">
        <p14:creationId xmlns:p14="http://schemas.microsoft.com/office/powerpoint/2010/main" val="6914259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95A79-974C-66E8-63BB-DDFF8E58A5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7B04E5-A1AB-D618-A092-CDE9BC54A64B}"/>
              </a:ext>
            </a:extLst>
          </p:cNvPr>
          <p:cNvSpPr>
            <a:spLocks noGrp="1"/>
          </p:cNvSpPr>
          <p:nvPr>
            <p:ph type="title"/>
          </p:nvPr>
        </p:nvSpPr>
        <p:spPr>
          <a:xfrm>
            <a:off x="1088571" y="144466"/>
            <a:ext cx="10722429" cy="692151"/>
          </a:xfrm>
        </p:spPr>
        <p:txBody>
          <a:bodyPr/>
          <a:lstStyle/>
          <a:p>
            <a:r>
              <a:rPr lang="en-US" altLang="zh-CN" dirty="0">
                <a:latin typeface="Times New Roman" panose="02020603050405020304" pitchFamily="18" charset="0"/>
                <a:cs typeface="Times New Roman" panose="02020603050405020304" pitchFamily="18" charset="0"/>
              </a:rPr>
              <a:t>Evaluation – Integration </a:t>
            </a:r>
            <a:r>
              <a:rPr lang="en-US" altLang="zh-CN" sz="2400" dirty="0">
                <a:latin typeface="Times New Roman" panose="02020603050405020304" pitchFamily="18" charset="0"/>
                <a:cs typeface="Times New Roman" panose="02020603050405020304" pitchFamily="18" charset="0"/>
              </a:rPr>
              <a:t>(2/2)</a:t>
            </a:r>
            <a:endParaRPr lang="en-US"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808FFE16-5855-D7FA-958D-50D5C1D8EBDC}"/>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24</a:t>
            </a:fld>
            <a:endParaRPr lang="zh-TW" altLang="en-US"/>
          </a:p>
        </p:txBody>
      </p:sp>
      <p:pic>
        <p:nvPicPr>
          <p:cNvPr id="9" name="图片 8">
            <a:extLst>
              <a:ext uri="{FF2B5EF4-FFF2-40B4-BE49-F238E27FC236}">
                <a16:creationId xmlns:a16="http://schemas.microsoft.com/office/drawing/2014/main" id="{AE172A40-C08A-D2E9-5E55-A17F492B6FA7}"/>
              </a:ext>
            </a:extLst>
          </p:cNvPr>
          <p:cNvPicPr>
            <a:picLocks noChangeAspect="1"/>
          </p:cNvPicPr>
          <p:nvPr/>
        </p:nvPicPr>
        <p:blipFill>
          <a:blip r:embed="rId3"/>
          <a:stretch>
            <a:fillRect/>
          </a:stretch>
        </p:blipFill>
        <p:spPr>
          <a:xfrm>
            <a:off x="1809206" y="1703133"/>
            <a:ext cx="8229600" cy="1882621"/>
          </a:xfrm>
          <a:prstGeom prst="rect">
            <a:avLst/>
          </a:prstGeom>
        </p:spPr>
      </p:pic>
      <p:pic>
        <p:nvPicPr>
          <p:cNvPr id="10" name="图片 9">
            <a:extLst>
              <a:ext uri="{FF2B5EF4-FFF2-40B4-BE49-F238E27FC236}">
                <a16:creationId xmlns:a16="http://schemas.microsoft.com/office/drawing/2014/main" id="{C4F3C0E4-F121-0C53-FD92-8AB6C464FD4F}"/>
              </a:ext>
            </a:extLst>
          </p:cNvPr>
          <p:cNvPicPr>
            <a:picLocks noChangeAspect="1"/>
          </p:cNvPicPr>
          <p:nvPr/>
        </p:nvPicPr>
        <p:blipFill rotWithShape="1">
          <a:blip r:embed="rId4"/>
          <a:srcRect t="28965"/>
          <a:stretch/>
        </p:blipFill>
        <p:spPr>
          <a:xfrm>
            <a:off x="830179" y="3631474"/>
            <a:ext cx="10531642" cy="2090057"/>
          </a:xfrm>
          <a:prstGeom prst="rect">
            <a:avLst/>
          </a:prstGeom>
        </p:spPr>
      </p:pic>
    </p:spTree>
    <p:extLst>
      <p:ext uri="{BB962C8B-B14F-4D97-AF65-F5344CB8AC3E}">
        <p14:creationId xmlns:p14="http://schemas.microsoft.com/office/powerpoint/2010/main" val="21137003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53B79-C7E0-8C5E-4F61-D582272A2D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C88CCD-407E-808C-DEB4-3982584DFF29}"/>
              </a:ext>
            </a:extLst>
          </p:cNvPr>
          <p:cNvSpPr>
            <a:spLocks noGrp="1"/>
          </p:cNvSpPr>
          <p:nvPr>
            <p:ph type="title"/>
          </p:nvPr>
        </p:nvSpPr>
        <p:spPr>
          <a:xfrm>
            <a:off x="1088572" y="144466"/>
            <a:ext cx="11392988" cy="692151"/>
          </a:xfrm>
        </p:spPr>
        <p:txBody>
          <a:bodyPr/>
          <a:lstStyle/>
          <a:p>
            <a:r>
              <a:rPr lang="en-US" altLang="zh-CN" dirty="0">
                <a:latin typeface="Times New Roman" panose="02020603050405020304" pitchFamily="18" charset="0"/>
                <a:cs typeface="Times New Roman" panose="02020603050405020304" pitchFamily="18" charset="0"/>
              </a:rPr>
              <a:t>Decon – Detect Unit Test Cases </a:t>
            </a:r>
            <a:r>
              <a:rPr lang="en-US" altLang="zh-CN" sz="2400" dirty="0">
                <a:latin typeface="Times New Roman" panose="02020603050405020304" pitchFamily="18" charset="0"/>
                <a:cs typeface="Times New Roman" panose="02020603050405020304" pitchFamily="18" charset="0"/>
              </a:rPr>
              <a:t>(1/1)</a:t>
            </a:r>
            <a:endParaRPr lang="en-US"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08A99128-DD70-0A27-C875-52003E0579B7}"/>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25</a:t>
            </a:fld>
            <a:endParaRPr lang="zh-TW" altLang="en-US"/>
          </a:p>
        </p:txBody>
      </p:sp>
      <p:pic>
        <p:nvPicPr>
          <p:cNvPr id="7" name="图片 6">
            <a:extLst>
              <a:ext uri="{FF2B5EF4-FFF2-40B4-BE49-F238E27FC236}">
                <a16:creationId xmlns:a16="http://schemas.microsoft.com/office/drawing/2014/main" id="{2A9462B6-8B49-2A6A-7A24-F2A26A01AE04}"/>
              </a:ext>
            </a:extLst>
          </p:cNvPr>
          <p:cNvPicPr>
            <a:picLocks noChangeAspect="1"/>
          </p:cNvPicPr>
          <p:nvPr/>
        </p:nvPicPr>
        <p:blipFill>
          <a:blip r:embed="rId3"/>
          <a:srcRect b="20787"/>
          <a:stretch>
            <a:fillRect/>
          </a:stretch>
        </p:blipFill>
        <p:spPr>
          <a:xfrm>
            <a:off x="994441" y="1136469"/>
            <a:ext cx="10203118" cy="2423159"/>
          </a:xfrm>
          <a:prstGeom prst="rect">
            <a:avLst/>
          </a:prstGeom>
        </p:spPr>
      </p:pic>
      <p:sp>
        <p:nvSpPr>
          <p:cNvPr id="9" name="文本框 8">
            <a:extLst>
              <a:ext uri="{FF2B5EF4-FFF2-40B4-BE49-F238E27FC236}">
                <a16:creationId xmlns:a16="http://schemas.microsoft.com/office/drawing/2014/main" id="{E570A63D-3102-AE5D-ABC4-CA544E72C558}"/>
              </a:ext>
            </a:extLst>
          </p:cNvPr>
          <p:cNvSpPr txBox="1"/>
          <p:nvPr/>
        </p:nvSpPr>
        <p:spPr>
          <a:xfrm>
            <a:off x="1088572" y="3666197"/>
            <a:ext cx="3538401" cy="1938992"/>
          </a:xfrm>
          <a:prstGeom prst="rect">
            <a:avLst/>
          </a:prstGeom>
          <a:noFill/>
        </p:spPr>
        <p:txBody>
          <a:bodyPr wrap="square">
            <a:spAutoFit/>
          </a:bodyPr>
          <a:lstStyle/>
          <a:p>
            <a:r>
              <a:rPr lang="en-US" altLang="zh-CN" sz="2000" b="1" i="0" dirty="0">
                <a:effectLst/>
                <a:latin typeface="Arial" panose="020B0604020202020204" pitchFamily="34" charset="0"/>
              </a:rPr>
              <a:t>The diagram above shows the overall flowchart of </a:t>
            </a:r>
            <a:r>
              <a:rPr lang="en-US" altLang="zh-CN" sz="2000" b="1" i="0" dirty="0" err="1">
                <a:effectLst/>
                <a:latin typeface="Arial" panose="020B0604020202020204" pitchFamily="34" charset="0"/>
              </a:rPr>
              <a:t>DeCon</a:t>
            </a:r>
            <a:r>
              <a:rPr lang="en-US" altLang="zh-CN" sz="2000" b="1" i="0" dirty="0">
                <a:effectLst/>
                <a:latin typeface="Arial" panose="020B0604020202020204" pitchFamily="34" charset="0"/>
              </a:rPr>
              <a:t>. The key idea of </a:t>
            </a:r>
            <a:r>
              <a:rPr lang="en-US" altLang="zh-CN" sz="2000" b="1" i="0" dirty="0" err="1">
                <a:effectLst/>
                <a:latin typeface="Arial" panose="020B0604020202020204" pitchFamily="34" charset="0"/>
              </a:rPr>
              <a:t>DeCon</a:t>
            </a:r>
            <a:r>
              <a:rPr lang="en-US" altLang="zh-CN" sz="2000" b="1" i="0" dirty="0">
                <a:effectLst/>
                <a:latin typeface="Arial" panose="020B0604020202020204" pitchFamily="34" charset="0"/>
              </a:rPr>
              <a:t> is to use postconditions to filter out incorrect assertions.</a:t>
            </a:r>
            <a:endParaRPr lang="zh-CN" altLang="en-US" sz="2000" dirty="0"/>
          </a:p>
        </p:txBody>
      </p:sp>
      <p:pic>
        <p:nvPicPr>
          <p:cNvPr id="10" name="图片 9">
            <a:extLst>
              <a:ext uri="{FF2B5EF4-FFF2-40B4-BE49-F238E27FC236}">
                <a16:creationId xmlns:a16="http://schemas.microsoft.com/office/drawing/2014/main" id="{AC6BD507-7AFF-4289-4673-893ECC67FC13}"/>
              </a:ext>
            </a:extLst>
          </p:cNvPr>
          <p:cNvPicPr>
            <a:picLocks noChangeAspect="1"/>
          </p:cNvPicPr>
          <p:nvPr/>
        </p:nvPicPr>
        <p:blipFill>
          <a:blip r:embed="rId4"/>
          <a:stretch>
            <a:fillRect/>
          </a:stretch>
        </p:blipFill>
        <p:spPr>
          <a:xfrm>
            <a:off x="5907102" y="3559628"/>
            <a:ext cx="5290457" cy="2516222"/>
          </a:xfrm>
          <a:prstGeom prst="rect">
            <a:avLst/>
          </a:prstGeom>
        </p:spPr>
      </p:pic>
    </p:spTree>
    <p:extLst>
      <p:ext uri="{BB962C8B-B14F-4D97-AF65-F5344CB8AC3E}">
        <p14:creationId xmlns:p14="http://schemas.microsoft.com/office/powerpoint/2010/main" val="17997000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24E95-B4EB-1646-4E38-2A8811313D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A2A06D-919E-4EAE-8482-1018AC1951D4}"/>
              </a:ext>
            </a:extLst>
          </p:cNvPr>
          <p:cNvSpPr>
            <a:spLocks noGrp="1"/>
          </p:cNvSpPr>
          <p:nvPr>
            <p:ph type="title"/>
          </p:nvPr>
        </p:nvSpPr>
        <p:spPr>
          <a:xfrm>
            <a:off x="1088571" y="144466"/>
            <a:ext cx="10722429" cy="692151"/>
          </a:xfrm>
        </p:spPr>
        <p:txBody>
          <a:bodyPr/>
          <a:lstStyle/>
          <a:p>
            <a:r>
              <a:rPr lang="en-US" altLang="zh-CN" dirty="0">
                <a:latin typeface="Times New Roman" panose="02020603050405020304" pitchFamily="18" charset="0"/>
                <a:cs typeface="Times New Roman" panose="02020603050405020304" pitchFamily="18" charset="0"/>
              </a:rPr>
              <a:t>Evaluation – Decon </a:t>
            </a:r>
            <a:r>
              <a:rPr lang="en-US" sz="2400" dirty="0">
                <a:latin typeface="Times New Roman" panose="02020603050405020304" pitchFamily="18" charset="0"/>
                <a:cs typeface="Times New Roman" panose="02020603050405020304" pitchFamily="18" charset="0"/>
              </a:rPr>
              <a:t>(1/2)</a:t>
            </a:r>
            <a:endParaRPr lang="en-US"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3E2B76F9-0B88-4781-FF55-8F6ECA93D8A7}"/>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26</a:t>
            </a:fld>
            <a:endParaRPr lang="zh-TW" altLang="en-US"/>
          </a:p>
        </p:txBody>
      </p:sp>
      <p:pic>
        <p:nvPicPr>
          <p:cNvPr id="5" name="图片 4">
            <a:extLst>
              <a:ext uri="{FF2B5EF4-FFF2-40B4-BE49-F238E27FC236}">
                <a16:creationId xmlns:a16="http://schemas.microsoft.com/office/drawing/2014/main" id="{AACCC37C-7FE4-170E-5A31-704BCA0C128A}"/>
              </a:ext>
            </a:extLst>
          </p:cNvPr>
          <p:cNvPicPr>
            <a:picLocks noChangeAspect="1"/>
          </p:cNvPicPr>
          <p:nvPr/>
        </p:nvPicPr>
        <p:blipFill rotWithShape="1">
          <a:blip r:embed="rId3"/>
          <a:srcRect t="13370"/>
          <a:stretch/>
        </p:blipFill>
        <p:spPr>
          <a:xfrm>
            <a:off x="553077" y="1901351"/>
            <a:ext cx="6818649" cy="3860791"/>
          </a:xfrm>
          <a:prstGeom prst="rect">
            <a:avLst/>
          </a:prstGeom>
        </p:spPr>
      </p:pic>
      <p:sp>
        <p:nvSpPr>
          <p:cNvPr id="8" name="文本框 7">
            <a:extLst>
              <a:ext uri="{FF2B5EF4-FFF2-40B4-BE49-F238E27FC236}">
                <a16:creationId xmlns:a16="http://schemas.microsoft.com/office/drawing/2014/main" id="{DEE0BE37-9FB2-4889-9C91-812CD40CAD3B}"/>
              </a:ext>
            </a:extLst>
          </p:cNvPr>
          <p:cNvSpPr txBox="1"/>
          <p:nvPr/>
        </p:nvSpPr>
        <p:spPr>
          <a:xfrm>
            <a:off x="8118565" y="1901351"/>
            <a:ext cx="3742509" cy="3139321"/>
          </a:xfrm>
          <a:prstGeom prst="rect">
            <a:avLst/>
          </a:prstGeom>
          <a:noFill/>
        </p:spPr>
        <p:txBody>
          <a:bodyPr wrap="square">
            <a:spAutoFit/>
          </a:bodyPr>
          <a:lstStyle/>
          <a:p>
            <a:r>
              <a:rPr lang="en-US" altLang="zh-CN" b="1" dirty="0"/>
              <a:t>Accuracy Improvement:</a:t>
            </a:r>
            <a:r>
              <a:rPr lang="en-US" altLang="zh-CN" dirty="0"/>
              <a:t> </a:t>
            </a:r>
            <a:r>
              <a:rPr lang="en-US" altLang="zh-CN" dirty="0" err="1"/>
              <a:t>DeCon</a:t>
            </a:r>
            <a:r>
              <a:rPr lang="en-US" altLang="zh-CN" dirty="0"/>
              <a:t> improves the accuracy of assertions by at least 31.8%, indicating that </a:t>
            </a:r>
            <a:r>
              <a:rPr lang="en-US" altLang="zh-CN" dirty="0" err="1"/>
              <a:t>DeCon</a:t>
            </a:r>
            <a:r>
              <a:rPr lang="en-US" altLang="zh-CN" dirty="0"/>
              <a:t> can effectively enhance the accuracy of LLM-generated assertions by detecting incorrect assertions.</a:t>
            </a:r>
            <a:br>
              <a:rPr lang="en-US" altLang="zh-CN" dirty="0"/>
            </a:br>
            <a:br>
              <a:rPr lang="en-US" altLang="zh-CN" dirty="0"/>
            </a:br>
            <a:r>
              <a:rPr lang="en-US" altLang="zh-CN" b="1" dirty="0"/>
              <a:t>Trade-offs between accuracy and recall:</a:t>
            </a:r>
            <a:r>
              <a:rPr lang="en-US" altLang="zh-CN" dirty="0"/>
              <a:t> </a:t>
            </a:r>
            <a:r>
              <a:rPr lang="en-US" altLang="zh-CN" dirty="0" err="1"/>
              <a:t>DeCon</a:t>
            </a:r>
            <a:r>
              <a:rPr lang="en-US" altLang="zh-CN" dirty="0"/>
              <a:t> achieves an average F1 score of 0.752.</a:t>
            </a:r>
            <a:endParaRPr kumimoji="1" lang="zh-CN" altLang="en-US" dirty="0">
              <a:solidFill>
                <a:schemeClr val="bg1">
                  <a:lumMod val="75000"/>
                </a:schemeClr>
              </a:solidFill>
            </a:endParaRPr>
          </a:p>
        </p:txBody>
      </p:sp>
      <p:sp>
        <p:nvSpPr>
          <p:cNvPr id="10" name="文本框 9">
            <a:extLst>
              <a:ext uri="{FF2B5EF4-FFF2-40B4-BE49-F238E27FC236}">
                <a16:creationId xmlns:a16="http://schemas.microsoft.com/office/drawing/2014/main" id="{44FDFA8B-D869-78AD-0C9B-381A348FF18C}"/>
              </a:ext>
            </a:extLst>
          </p:cNvPr>
          <p:cNvSpPr txBox="1"/>
          <p:nvPr/>
        </p:nvSpPr>
        <p:spPr>
          <a:xfrm>
            <a:off x="637985" y="1193465"/>
            <a:ext cx="6931941" cy="707886"/>
          </a:xfrm>
          <a:prstGeom prst="rect">
            <a:avLst/>
          </a:prstGeom>
          <a:noFill/>
        </p:spPr>
        <p:txBody>
          <a:bodyPr wrap="square">
            <a:spAutoFit/>
          </a:bodyPr>
          <a:lstStyle/>
          <a:p>
            <a:r>
              <a:rPr lang="en-US" altLang="zh-CN" sz="2000" b="1" i="0" dirty="0">
                <a:solidFill>
                  <a:srgbClr val="3C51B4"/>
                </a:solidFill>
                <a:effectLst/>
                <a:latin typeface="Arial" panose="020B0604020202020204" pitchFamily="34" charset="0"/>
              </a:rPr>
              <a:t>The effectiveness of </a:t>
            </a:r>
            <a:r>
              <a:rPr lang="en-US" altLang="zh-CN" sz="2000" b="1" i="0" dirty="0" err="1">
                <a:solidFill>
                  <a:srgbClr val="3C51B4"/>
                </a:solidFill>
                <a:effectLst/>
                <a:latin typeface="Arial" panose="020B0604020202020204" pitchFamily="34" charset="0"/>
              </a:rPr>
              <a:t>DeCon</a:t>
            </a:r>
            <a:r>
              <a:rPr lang="en-US" altLang="zh-CN" sz="2000" b="1" i="0" dirty="0">
                <a:solidFill>
                  <a:srgbClr val="3C51B4"/>
                </a:solidFill>
                <a:effectLst/>
                <a:latin typeface="Arial" panose="020B0604020202020204" pitchFamily="34" charset="0"/>
              </a:rPr>
              <a:t> in detecting the validity of erroneous assertions</a:t>
            </a:r>
            <a:endParaRPr lang="zh-CN" altLang="en-US" sz="2000" dirty="0"/>
          </a:p>
        </p:txBody>
      </p:sp>
    </p:spTree>
    <p:extLst>
      <p:ext uri="{BB962C8B-B14F-4D97-AF65-F5344CB8AC3E}">
        <p14:creationId xmlns:p14="http://schemas.microsoft.com/office/powerpoint/2010/main" val="1719385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15DEE-E0BA-5C86-3807-E030DE1742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FB93AF-143C-2DD2-06AE-7CDAC315800B}"/>
              </a:ext>
            </a:extLst>
          </p:cNvPr>
          <p:cNvSpPr>
            <a:spLocks noGrp="1"/>
          </p:cNvSpPr>
          <p:nvPr>
            <p:ph type="title"/>
          </p:nvPr>
        </p:nvSpPr>
        <p:spPr>
          <a:xfrm>
            <a:off x="1088571" y="144466"/>
            <a:ext cx="10722429" cy="692151"/>
          </a:xfrm>
        </p:spPr>
        <p:txBody>
          <a:bodyPr/>
          <a:lstStyle/>
          <a:p>
            <a:r>
              <a:rPr lang="en-US" altLang="zh-CN" dirty="0">
                <a:latin typeface="Times New Roman" panose="02020603050405020304" pitchFamily="18" charset="0"/>
                <a:cs typeface="Times New Roman" panose="02020603050405020304" pitchFamily="18" charset="0"/>
              </a:rPr>
              <a:t>Evaluation – Decon </a:t>
            </a:r>
            <a:r>
              <a:rPr lang="en-US" altLang="zh-CN" sz="2400" dirty="0">
                <a:latin typeface="Times New Roman" panose="02020603050405020304" pitchFamily="18" charset="0"/>
                <a:cs typeface="Times New Roman" panose="02020603050405020304" pitchFamily="18" charset="0"/>
              </a:rPr>
              <a:t>(2/2)</a:t>
            </a:r>
            <a:endParaRPr lang="en-US"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846F654F-3188-72AE-1E48-51F0E6DA2B9F}"/>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27</a:t>
            </a:fld>
            <a:endParaRPr lang="zh-TW" altLang="en-US"/>
          </a:p>
        </p:txBody>
      </p:sp>
      <p:pic>
        <p:nvPicPr>
          <p:cNvPr id="6" name="图片 5">
            <a:extLst>
              <a:ext uri="{FF2B5EF4-FFF2-40B4-BE49-F238E27FC236}">
                <a16:creationId xmlns:a16="http://schemas.microsoft.com/office/drawing/2014/main" id="{26F8A917-2160-7FD1-F481-0C4970999449}"/>
              </a:ext>
            </a:extLst>
          </p:cNvPr>
          <p:cNvPicPr>
            <a:picLocks noChangeAspect="1"/>
          </p:cNvPicPr>
          <p:nvPr/>
        </p:nvPicPr>
        <p:blipFill rotWithShape="1">
          <a:blip r:embed="rId3"/>
          <a:srcRect t="15897"/>
          <a:stretch/>
        </p:blipFill>
        <p:spPr>
          <a:xfrm>
            <a:off x="823829" y="2244997"/>
            <a:ext cx="10219546" cy="2998916"/>
          </a:xfrm>
          <a:prstGeom prst="rect">
            <a:avLst/>
          </a:prstGeom>
        </p:spPr>
      </p:pic>
      <p:sp>
        <p:nvSpPr>
          <p:cNvPr id="8" name="文本框 7">
            <a:extLst>
              <a:ext uri="{FF2B5EF4-FFF2-40B4-BE49-F238E27FC236}">
                <a16:creationId xmlns:a16="http://schemas.microsoft.com/office/drawing/2014/main" id="{D17C8EBF-5EE0-0A8C-4408-0154DCA6192B}"/>
              </a:ext>
            </a:extLst>
          </p:cNvPr>
          <p:cNvSpPr txBox="1"/>
          <p:nvPr/>
        </p:nvSpPr>
        <p:spPr>
          <a:xfrm>
            <a:off x="1088571" y="1290921"/>
            <a:ext cx="6265818" cy="707886"/>
          </a:xfrm>
          <a:prstGeom prst="rect">
            <a:avLst/>
          </a:prstGeom>
          <a:noFill/>
        </p:spPr>
        <p:txBody>
          <a:bodyPr wrap="square">
            <a:spAutoFit/>
          </a:bodyPr>
          <a:lstStyle/>
          <a:p>
            <a:r>
              <a:rPr lang="en-US" altLang="zh-CN" sz="2000" b="1" i="0" dirty="0">
                <a:solidFill>
                  <a:srgbClr val="3C51B4"/>
                </a:solidFill>
                <a:effectLst/>
                <a:latin typeface="Arial" panose="020B0604020202020204" pitchFamily="34" charset="0"/>
              </a:rPr>
              <a:t>The effectiveness of </a:t>
            </a:r>
            <a:r>
              <a:rPr lang="en-US" altLang="zh-CN" sz="2000" b="1" i="0" dirty="0" err="1">
                <a:solidFill>
                  <a:srgbClr val="3C51B4"/>
                </a:solidFill>
                <a:effectLst/>
                <a:latin typeface="Arial" panose="020B0604020202020204" pitchFamily="34" charset="0"/>
              </a:rPr>
              <a:t>DeCon</a:t>
            </a:r>
            <a:r>
              <a:rPr lang="en-US" altLang="zh-CN" sz="2000" b="1" i="0" dirty="0">
                <a:solidFill>
                  <a:srgbClr val="3C51B4"/>
                </a:solidFill>
                <a:effectLst/>
                <a:latin typeface="Arial" panose="020B0604020202020204" pitchFamily="34" charset="0"/>
              </a:rPr>
              <a:t> in improving the code generation performance of large models</a:t>
            </a:r>
            <a:endParaRPr lang="zh-CN" altLang="en-US" sz="2000" dirty="0"/>
          </a:p>
        </p:txBody>
      </p:sp>
    </p:spTree>
    <p:extLst>
      <p:ext uri="{BB962C8B-B14F-4D97-AF65-F5344CB8AC3E}">
        <p14:creationId xmlns:p14="http://schemas.microsoft.com/office/powerpoint/2010/main" val="27668257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C21EF-A0D7-5E16-1F03-D78AC94B43D6}"/>
            </a:ext>
          </a:extLst>
        </p:cNvPr>
        <p:cNvGrpSpPr/>
        <p:nvPr/>
      </p:nvGrpSpPr>
      <p:grpSpPr>
        <a:xfrm>
          <a:off x="0" y="0"/>
          <a:ext cx="0" cy="0"/>
          <a:chOff x="0" y="0"/>
          <a:chExt cx="0" cy="0"/>
        </a:xfrm>
      </p:grpSpPr>
      <p:sp>
        <p:nvSpPr>
          <p:cNvPr id="5" name="文字版面配置區 4">
            <a:extLst>
              <a:ext uri="{FF2B5EF4-FFF2-40B4-BE49-F238E27FC236}">
                <a16:creationId xmlns:a16="http://schemas.microsoft.com/office/drawing/2014/main" id="{C772069C-FB57-4947-A0DE-6DE460BF031E}"/>
              </a:ext>
            </a:extLst>
          </p:cNvPr>
          <p:cNvSpPr>
            <a:spLocks noGrp="1"/>
          </p:cNvSpPr>
          <p:nvPr>
            <p:ph type="body" idx="1"/>
          </p:nvPr>
        </p:nvSpPr>
        <p:spPr>
          <a:xfrm>
            <a:off x="1574283" y="1459233"/>
            <a:ext cx="9332415" cy="3145817"/>
          </a:xfrm>
        </p:spPr>
        <p:txBody>
          <a:bodyPr>
            <a:noAutofit/>
          </a:bodyPr>
          <a:lstStyle/>
          <a:p>
            <a:r>
              <a:rPr lang="en-US" altLang="zh-CN" sz="2800" dirty="0">
                <a:latin typeface="Times New Roman" panose="02020603050405020304" pitchFamily="18" charset="0"/>
                <a:cs typeface="Times New Roman" panose="02020603050405020304" pitchFamily="18" charset="0"/>
              </a:rPr>
              <a:t>Introduction</a:t>
            </a:r>
          </a:p>
          <a:p>
            <a:r>
              <a:rPr lang="en-US" altLang="zh-CN" sz="2800" dirty="0">
                <a:latin typeface="Times New Roman" panose="02020603050405020304" pitchFamily="18" charset="0"/>
                <a:cs typeface="Times New Roman" panose="02020603050405020304" pitchFamily="18" charset="0"/>
              </a:rPr>
              <a:t>Background &amp; Motivation</a:t>
            </a:r>
          </a:p>
          <a:p>
            <a:r>
              <a:rPr lang="en-US" altLang="zh-CN" sz="2800" dirty="0">
                <a:latin typeface="Times New Roman" panose="02020603050405020304" pitchFamily="18" charset="0"/>
                <a:cs typeface="Times New Roman" panose="02020603050405020304" pitchFamily="18" charset="0"/>
              </a:rPr>
              <a:t>Proposed Methods &amp; Performance Evaluation</a:t>
            </a:r>
          </a:p>
          <a:p>
            <a:r>
              <a:rPr lang="en-US" altLang="zh-CN" sz="2800" dirty="0">
                <a:solidFill>
                  <a:srgbClr val="FF0000"/>
                </a:solidFill>
                <a:latin typeface="Times New Roman" panose="02020603050405020304" pitchFamily="18" charset="0"/>
                <a:cs typeface="Times New Roman" panose="02020603050405020304" pitchFamily="18" charset="0"/>
              </a:rPr>
              <a:t>Summary</a:t>
            </a:r>
          </a:p>
          <a:p>
            <a:r>
              <a:rPr lang="en-US" altLang="zh-CN" sz="2800" dirty="0">
                <a:latin typeface="Times New Roman" panose="02020603050405020304" pitchFamily="18" charset="0"/>
                <a:cs typeface="Times New Roman" panose="02020603050405020304" pitchFamily="18" charset="0"/>
              </a:rPr>
              <a:t>Q&amp;A</a:t>
            </a:r>
          </a:p>
        </p:txBody>
      </p:sp>
      <p:sp>
        <p:nvSpPr>
          <p:cNvPr id="2" name="灯片编号占位符 1">
            <a:extLst>
              <a:ext uri="{FF2B5EF4-FFF2-40B4-BE49-F238E27FC236}">
                <a16:creationId xmlns:a16="http://schemas.microsoft.com/office/drawing/2014/main" id="{FB356244-2BF1-D1B6-0496-66E9E5200AEE}"/>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28</a:t>
            </a:fld>
            <a:endParaRPr lang="zh-TW" altLang="en-US"/>
          </a:p>
        </p:txBody>
      </p:sp>
    </p:spTree>
    <p:extLst>
      <p:ext uri="{BB962C8B-B14F-4D97-AF65-F5344CB8AC3E}">
        <p14:creationId xmlns:p14="http://schemas.microsoft.com/office/powerpoint/2010/main" val="8748429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3FBC3-7F49-40A3-6AEC-FF1EE076C6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4CC9D1-389C-F948-1FD0-98BD12E4A01C}"/>
              </a:ext>
            </a:extLst>
          </p:cNvPr>
          <p:cNvSpPr>
            <a:spLocks noGrp="1"/>
          </p:cNvSpPr>
          <p:nvPr>
            <p:ph type="title"/>
          </p:nvPr>
        </p:nvSpPr>
        <p:spPr>
          <a:xfrm>
            <a:off x="1088571" y="144466"/>
            <a:ext cx="10722429" cy="692151"/>
          </a:xfrm>
        </p:spPr>
        <p:txBody>
          <a:bodyPr/>
          <a:lstStyle/>
          <a:p>
            <a:r>
              <a:rPr lang="en-US" dirty="0">
                <a:latin typeface="Times New Roman" panose="02020603050405020304" pitchFamily="18" charset="0"/>
                <a:cs typeface="Times New Roman" panose="02020603050405020304" pitchFamily="18" charset="0"/>
              </a:rPr>
              <a:t>Summary</a:t>
            </a:r>
          </a:p>
        </p:txBody>
      </p:sp>
      <p:sp>
        <p:nvSpPr>
          <p:cNvPr id="4" name="灯片编号占位符 1">
            <a:extLst>
              <a:ext uri="{FF2B5EF4-FFF2-40B4-BE49-F238E27FC236}">
                <a16:creationId xmlns:a16="http://schemas.microsoft.com/office/drawing/2014/main" id="{14520726-3DF7-D03A-EAA9-A871A510B35C}"/>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29</a:t>
            </a:fld>
            <a:endParaRPr lang="zh-TW" altLang="en-US"/>
          </a:p>
        </p:txBody>
      </p:sp>
      <p:sp>
        <p:nvSpPr>
          <p:cNvPr id="6" name="文本框 5">
            <a:extLst>
              <a:ext uri="{FF2B5EF4-FFF2-40B4-BE49-F238E27FC236}">
                <a16:creationId xmlns:a16="http://schemas.microsoft.com/office/drawing/2014/main" id="{9845B5D6-A9A0-E63B-AF90-65CB3394E6BA}"/>
              </a:ext>
            </a:extLst>
          </p:cNvPr>
          <p:cNvSpPr txBox="1"/>
          <p:nvPr/>
        </p:nvSpPr>
        <p:spPr>
          <a:xfrm>
            <a:off x="531086" y="1221232"/>
            <a:ext cx="10958513" cy="4141070"/>
          </a:xfrm>
          <a:prstGeom prst="rect">
            <a:avLst/>
          </a:prstGeom>
          <a:noFill/>
        </p:spPr>
        <p:txBody>
          <a:bodyPr wrap="square">
            <a:spAutoFit/>
          </a:bodyPr>
          <a:lstStyle/>
          <a:p>
            <a:pPr>
              <a:lnSpc>
                <a:spcPct val="114000"/>
              </a:lnSpc>
              <a:spcBef>
                <a:spcPts val="1000"/>
              </a:spcBef>
            </a:pPr>
            <a:r>
              <a:rPr lang="en-US" altLang="zh-CN" sz="2400" b="1" dirty="0" err="1"/>
              <a:t>CoderEval</a:t>
            </a:r>
            <a:r>
              <a:rPr lang="en-US" altLang="zh-CN" sz="2400" dirty="0"/>
              <a:t>: A benchmark for code generation reflecting real-world development scenarios</a:t>
            </a:r>
            <a:br>
              <a:rPr lang="en-US" altLang="zh-CN" sz="2400" dirty="0"/>
            </a:br>
            <a:br>
              <a:rPr lang="en-US" altLang="zh-CN" sz="2400" dirty="0"/>
            </a:br>
            <a:br>
              <a:rPr lang="en-US" altLang="zh-CN" sz="2400" dirty="0"/>
            </a:br>
            <a:r>
              <a:rPr lang="en-US" altLang="zh-CN" sz="2400" b="1" dirty="0"/>
              <a:t>Integration</a:t>
            </a:r>
            <a:r>
              <a:rPr lang="en-US" altLang="zh-CN" sz="2400" dirty="0"/>
              <a:t>: Method for Generating Unit Test Case Assertions Based on the Integration of Information Retrieval and Deep Learning</a:t>
            </a:r>
            <a:br>
              <a:rPr lang="en-US" altLang="zh-CN" sz="2400" dirty="0"/>
            </a:br>
            <a:br>
              <a:rPr lang="en-US" altLang="zh-CN" sz="2400" dirty="0"/>
            </a:br>
            <a:br>
              <a:rPr lang="en-US" altLang="zh-CN" sz="2400" dirty="0"/>
            </a:br>
            <a:r>
              <a:rPr lang="en-US" altLang="zh-CN" sz="2400" b="1" dirty="0" err="1"/>
              <a:t>DeCon</a:t>
            </a:r>
            <a:r>
              <a:rPr lang="en-US" altLang="zh-CN" sz="2400" dirty="0"/>
              <a:t>: Method for detecting incorrect unit test case assertions</a:t>
            </a:r>
            <a:br>
              <a:rPr lang="en-US" altLang="zh-CN" sz="2000" dirty="0"/>
            </a:br>
            <a:endParaRPr lang="zh-CN" altLang="en-US" sz="1600" dirty="0">
              <a:latin typeface="+mn-ea"/>
            </a:endParaRPr>
          </a:p>
        </p:txBody>
      </p:sp>
    </p:spTree>
    <p:extLst>
      <p:ext uri="{BB962C8B-B14F-4D97-AF65-F5344CB8AC3E}">
        <p14:creationId xmlns:p14="http://schemas.microsoft.com/office/powerpoint/2010/main" val="4557230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B8CF2-9995-6115-AEDA-EEAE05089E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F1326A-7077-F09D-4898-E98031927CD0}"/>
              </a:ext>
            </a:extLst>
          </p:cNvPr>
          <p:cNvSpPr>
            <a:spLocks noGrp="1"/>
          </p:cNvSpPr>
          <p:nvPr>
            <p:ph type="title"/>
          </p:nvPr>
        </p:nvSpPr>
        <p:spPr>
          <a:xfrm>
            <a:off x="1088571" y="144466"/>
            <a:ext cx="10722429" cy="692151"/>
          </a:xfrm>
        </p:spPr>
        <p:txBody>
          <a:bodyPr/>
          <a:lstStyle/>
          <a:p>
            <a:r>
              <a:rPr lang="en-US" altLang="zh-C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9749D333-220B-D3DC-19EC-AB9753343C26}"/>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30</a:t>
            </a:fld>
            <a:endParaRPr lang="zh-TW" altLang="en-US"/>
          </a:p>
        </p:txBody>
      </p:sp>
      <p:sp>
        <p:nvSpPr>
          <p:cNvPr id="5" name="文本框 4">
            <a:extLst>
              <a:ext uri="{FF2B5EF4-FFF2-40B4-BE49-F238E27FC236}">
                <a16:creationId xmlns:a16="http://schemas.microsoft.com/office/drawing/2014/main" id="{203B1C2C-59EA-FB51-70F6-82C316CFD702}"/>
              </a:ext>
            </a:extLst>
          </p:cNvPr>
          <p:cNvSpPr txBox="1"/>
          <p:nvPr/>
        </p:nvSpPr>
        <p:spPr>
          <a:xfrm>
            <a:off x="2973254" y="2459504"/>
            <a:ext cx="6245492" cy="1938992"/>
          </a:xfrm>
          <a:prstGeom prst="rect">
            <a:avLst/>
          </a:prstGeom>
          <a:noFill/>
        </p:spPr>
        <p:txBody>
          <a:bodyPr wrap="none" rtlCol="0" anchor="ctr" anchorCtr="1">
            <a:spAutoFit/>
          </a:bodyPr>
          <a:lstStyle/>
          <a:p>
            <a:pPr algn="ctr"/>
            <a:r>
              <a:rPr kumimoji="1" lang="en-US" altLang="zh-CN" sz="6000" dirty="0">
                <a:latin typeface="Calibri" panose="020F0502020204030204" pitchFamily="34" charset="0"/>
                <a:ea typeface="標楷體" pitchFamily="65" charset="-120"/>
                <a:cs typeface="Calibri" panose="020F0502020204030204" pitchFamily="34" charset="0"/>
              </a:rPr>
              <a:t>Thanks for listening</a:t>
            </a:r>
          </a:p>
          <a:p>
            <a:pPr algn="ctr"/>
            <a:r>
              <a:rPr kumimoji="1" lang="en-US" altLang="zh-CN" sz="6000" dirty="0">
                <a:latin typeface="Calibri" panose="020F0502020204030204" pitchFamily="34" charset="0"/>
                <a:ea typeface="標楷體" pitchFamily="65" charset="-120"/>
                <a:cs typeface="Calibri" panose="020F0502020204030204" pitchFamily="34" charset="0"/>
              </a:rPr>
              <a:t>Q&amp;A</a:t>
            </a:r>
          </a:p>
        </p:txBody>
      </p:sp>
    </p:spTree>
    <p:extLst>
      <p:ext uri="{BB962C8B-B14F-4D97-AF65-F5344CB8AC3E}">
        <p14:creationId xmlns:p14="http://schemas.microsoft.com/office/powerpoint/2010/main" val="34422031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BF3D30FD-A26F-98F1-FDCB-D1CA0ACE5287}"/>
              </a:ext>
            </a:extLst>
          </p:cNvPr>
          <p:cNvSpPr>
            <a:spLocks noGrp="1"/>
          </p:cNvSpPr>
          <p:nvPr>
            <p:ph type="sldNum" sz="quarter" idx="12"/>
          </p:nvPr>
        </p:nvSpPr>
        <p:spPr/>
        <p:txBody>
          <a:bodyPr/>
          <a:lstStyle/>
          <a:p>
            <a:fld id="{D9B6BDF2-6896-4B98-8776-C18582F63BA5}" type="slidenum">
              <a:rPr lang="zh-TW" altLang="en-US" smtClean="0"/>
              <a:pPr/>
              <a:t>31</a:t>
            </a:fld>
            <a:endParaRPr lang="zh-TW" altLang="en-US"/>
          </a:p>
        </p:txBody>
      </p:sp>
    </p:spTree>
    <p:extLst>
      <p:ext uri="{BB962C8B-B14F-4D97-AF65-F5344CB8AC3E}">
        <p14:creationId xmlns:p14="http://schemas.microsoft.com/office/powerpoint/2010/main" val="1740413599"/>
      </p:ext>
    </p:extLst>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3906</TotalTime>
  <Words>3069</Words>
  <Application>Microsoft Office PowerPoint</Application>
  <PresentationFormat>宽屏</PresentationFormat>
  <Paragraphs>274</Paragraphs>
  <Slides>31</Slides>
  <Notes>30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31</vt:i4>
      </vt:variant>
    </vt:vector>
  </HeadingPairs>
  <TitlesOfParts>
    <vt:vector size="45" baseType="lpstr">
      <vt:lpstr>標楷體</vt:lpstr>
      <vt:lpstr>MS Sans Serif</vt:lpstr>
      <vt:lpstr>等线</vt:lpstr>
      <vt:lpstr>楷体</vt:lpstr>
      <vt:lpstr>思源黑体 Medium</vt:lpstr>
      <vt:lpstr>Arial</vt:lpstr>
      <vt:lpstr>Calibri</vt:lpstr>
      <vt:lpstr>Calibri Light</vt:lpstr>
      <vt:lpstr>Consolas</vt:lpstr>
      <vt:lpstr>Helvetica</vt:lpstr>
      <vt:lpstr>Times New Roman</vt:lpstr>
      <vt:lpstr>Wingdings</vt:lpstr>
      <vt:lpstr>NTHU UniCloud</vt:lpstr>
      <vt:lpstr>自訂設計</vt:lpstr>
      <vt:lpstr>Research on Automated Code and Test Assertion Generation with LLMs  2026.1.22</vt:lpstr>
      <vt:lpstr>Outline</vt:lpstr>
      <vt:lpstr>PowerPoint 演示文稿</vt:lpstr>
      <vt:lpstr>Introduction – What is Unit Test (1/3)</vt:lpstr>
      <vt:lpstr>Introduction – Importance (2/3)</vt:lpstr>
      <vt:lpstr>Introduction – Importance (3/3)</vt:lpstr>
      <vt:lpstr>PowerPoint 演示文稿</vt:lpstr>
      <vt:lpstr>Background – Code Generation (1/6)</vt:lpstr>
      <vt:lpstr>Background – Code Generation (2/6)</vt:lpstr>
      <vt:lpstr>Background – Unit Test Generation (3/6)</vt:lpstr>
      <vt:lpstr>Background – Unit Test Generation (4/6)</vt:lpstr>
      <vt:lpstr>Motivation – Code Generation (5/6)</vt:lpstr>
      <vt:lpstr>Motivation – Unit Test Generation (6/6)</vt:lpstr>
      <vt:lpstr>PowerPoint 演示文稿</vt:lpstr>
      <vt:lpstr>CoderEval (1/5)</vt:lpstr>
      <vt:lpstr>CoderEval— Construction (2/5)</vt:lpstr>
      <vt:lpstr>CoderEval – Dataset Collection(3/5)</vt:lpstr>
      <vt:lpstr>CoderEval – Dataset Inspection (4/5)</vt:lpstr>
      <vt:lpstr>CoderEval – Evaluation Process (5/5)</vt:lpstr>
      <vt:lpstr>Evaluation – CoderEval (1/2)</vt:lpstr>
      <vt:lpstr>Evaluation – CoderEval (2/2)</vt:lpstr>
      <vt:lpstr>Integration – Unit Test Generation (1/1)</vt:lpstr>
      <vt:lpstr>Evaluation – Integration (1/2)</vt:lpstr>
      <vt:lpstr>Evaluation – Integration (2/2)</vt:lpstr>
      <vt:lpstr>Decon – Detect Unit Test Cases (1/1)</vt:lpstr>
      <vt:lpstr>Evaluation – Decon (1/2)</vt:lpstr>
      <vt:lpstr>Evaluation – Decon (2/2)</vt:lpstr>
      <vt:lpstr>PowerPoint 演示文稿</vt:lpstr>
      <vt:lpstr>Summary</vt:lpstr>
      <vt:lpstr> </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香港中文大学(深圳)数据科学院 School of Data Science</dc:title>
  <dc:creator>Windows 使用者</dc:creator>
  <cp:lastModifiedBy>Jiaming Huang</cp:lastModifiedBy>
  <cp:revision>124</cp:revision>
  <dcterms:created xsi:type="dcterms:W3CDTF">2020-07-15T11:13:39Z</dcterms:created>
  <dcterms:modified xsi:type="dcterms:W3CDTF">2026-01-29T19:37:56Z</dcterms:modified>
</cp:coreProperties>
</file>