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4162" r:id="rId2"/>
  </p:sldMasterIdLst>
  <p:notesMasterIdLst>
    <p:notesMasterId r:id="rId27"/>
  </p:notesMasterIdLst>
  <p:sldIdLst>
    <p:sldId id="256" r:id="rId3"/>
    <p:sldId id="258" r:id="rId4"/>
    <p:sldId id="537" r:id="rId5"/>
    <p:sldId id="516" r:id="rId6"/>
    <p:sldId id="517" r:id="rId7"/>
    <p:sldId id="509" r:id="rId8"/>
    <p:sldId id="538" r:id="rId9"/>
    <p:sldId id="519" r:id="rId10"/>
    <p:sldId id="539" r:id="rId11"/>
    <p:sldId id="520" r:id="rId12"/>
    <p:sldId id="522" r:id="rId13"/>
    <p:sldId id="524" r:id="rId14"/>
    <p:sldId id="540" r:id="rId15"/>
    <p:sldId id="527" r:id="rId16"/>
    <p:sldId id="541" r:id="rId17"/>
    <p:sldId id="528" r:id="rId18"/>
    <p:sldId id="529" r:id="rId19"/>
    <p:sldId id="542" r:id="rId20"/>
    <p:sldId id="531" r:id="rId21"/>
    <p:sldId id="532" r:id="rId22"/>
    <p:sldId id="533" r:id="rId23"/>
    <p:sldId id="543" r:id="rId24"/>
    <p:sldId id="535" r:id="rId25"/>
    <p:sldId id="536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7" autoAdjust="0"/>
    <p:restoredTop sz="77803"/>
  </p:normalViewPr>
  <p:slideViewPr>
    <p:cSldViewPr snapToGrid="0">
      <p:cViewPr varScale="1">
        <p:scale>
          <a:sx n="87" d="100"/>
          <a:sy n="87" d="100"/>
        </p:scale>
        <p:origin x="10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everyone, and thank you for being here. Today, I will be presenting on the topic: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Layered GPU Scheduling Architecture for Iterative Generative Workloads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presentation focuses on a very pressing issue in today's AI landscape. With the rapid adoption of TTS, diffusion models, and Large Language Models for both inference and training, the GPU is no longer just a raw compute engine—it has become a highly complex shared system requiring precise scheduling.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core thesis today is that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iterative generative workloads, GPU scheduling cannot solely focus on 'utilization'; it must elevate 'tail latency' to an equally critical position.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Because of this, the problem cannot be solved by a single mechanism. Instead, we must break it down and understand it as a layered systems problem. Let's dive in.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384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a brief outline of my talk.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7DC5-1E87-62DD-FFAB-582CC0F9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E6E7D7A8-73E1-1212-2F6B-FDC824760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D920B8-EAD4-0CC1-A675-E74B6BD0A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F93EB0-9D9A-C6EC-6AA9-93CEC8287F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14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begin by defining the problem. Modern generative AI workloads—like LLM inference, diffusion, and TTS—share a few common characteristics: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are highly iterative, extremely latency-sensitive, and their traffic is often bursty.</a:t>
            </a:r>
            <a:endParaRPr lang="zh-TW" altLang="en-US" dirty="0"/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of this, the goal of GPU scheduling is no longer just to 'keep the GPU busy.' It must optimize for high utilization while strictly protecting tail latency.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difficulty lies in the fact that an AI request is not a single, compact stream of kernels. Instead, its execution unfolds in multiple phases—such as prefill, decode, and communication—with changing parallelism and frequent synchronizations. Therefore, the scheduler must react to fine-grained phase changes, rather than just making decisions at the request or job level.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320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brings us to the core conflict in current GPU scheduling.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use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 sharing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multiple tasks can execute concurrently, which generally yields higher utilization. However, they compete for shared cache, memory bandwidth, and execution units, leading to unpredictable interference.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use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sharing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achieve strong isolation. But the fatal flaw here is that closed-source GPUs lack fast, proactive preemption. Urgent requests often have to wait for long-running kernels to naturally finish, translating directly into unacceptable preemption delays.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we face a strict trade-off: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 sharing is efficient but unstable; Temporal sharing is stable but too slow to react.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 single default sharing primitive can satisfy both high efficiency and strict latency goals.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14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leads to the central argument of my presentation: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scheduling for iterative generative workloads is fundamentally a layered systems problem.</a:t>
            </a:r>
            <a:endParaRPr lang="e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break this down into three distinct layers:</a:t>
            </a:r>
          </a:p>
          <a:p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 Control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handled by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KRYPTON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manages compatibility, tenant isolation, and cluster admission.</a:t>
            </a:r>
          </a:p>
          <a:p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Abstraction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handled by </a:t>
            </a:r>
            <a:r>
              <a:rPr lang="en" altLang="zh-C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pushes the scheduling granularity from coarse kernels down to the execution unit level.</a:t>
            </a:r>
          </a:p>
          <a:p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Emergency Preemption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handled by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Hummingbird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guarantees microsecond-level response when a bursty, high-priority task arrives.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idea of this talk is that these three systems are complementary. Together, they form a practical, closed-loop scheduling stack that answers three questions: </a:t>
            </a:r>
            <a:r>
              <a:rPr lang="en" altLang="zh-C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gets to enter the GPU? How do they run efficiently once inside? And how do they yield during emergencies?</a:t>
            </a:r>
            <a:endParaRPr lang="e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826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CC0D-E98B-09BD-CBDB-AD91CD85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8D150A3-E227-29BD-A984-DD4C649DF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81E1428-F941-96A1-FAC8-FAF76A86E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next part is related work.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37765-F350-7D5F-B279-29DABEB8F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953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A6978-335D-81F2-C7C1-B21E4BFB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78810-4AA0-241C-3ADD-548202D9E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9EB1E-CB21-3A09-18F7-EBFF2E8A6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diving into our methods, let's briefly review the related work, which can be grouped into three categories.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spatial sharing and virtualization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such as NVIDIA's MPS and MIG. MPS allows concurrency but has weak isolation; MIG provides strong hardware isolation but with rigid, inflexible partitions. </a:t>
            </a:r>
            <a:r>
              <a:rPr lang="en" altLang="zh-C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KRYPTON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improves on this by intercepting commands in the kernel space, creating an 'Isolated GPU' (IGPU) abstraction.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fine-grained execution control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seen in works like Salus and REEF. </a:t>
            </a:r>
            <a:r>
              <a:rPr lang="en" altLang="zh-CN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takes this a step further by scheduling at the TPC (Texture Processing Cluster) level and introducing kernel atomization.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preemption and urgent-task protection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is where </a:t>
            </a:r>
            <a:r>
              <a:rPr lang="en" altLang="zh-C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Hummingbird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shines. Instead of optimizing average utilization, it focuses on yielding closed-source GPUs at the microsecond scale using split-kernel scheduling and bubble harvesting</a:t>
            </a:r>
          </a:p>
          <a:p>
            <a:endParaRPr lang="zh-TW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227F-1AB5-6A38-1DCC-1A7F94DDE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812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455FB-FC53-36DC-1E3E-7DFB3520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511713F-1C9C-09FA-CCAB-5797790AD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03DCE4-DFDE-C252-D5B8-83BD5FEF5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The next part is </a:t>
            </a:r>
            <a:r>
              <a:rPr lang="en-US" altLang="zh-CN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9CB89B-BE18-EA95-BC94-CFCF4386B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214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1D8C-89EB-9ECC-4B3F-D6004942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D6EC0-A895-F114-3750-6E30C0EC4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280E9-ECFF-BB0B-CC8D-3305DF00C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let's look at why generative workloads specifically demand a new approach.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Iterative generative workloads are inherently 'hard to schedule.' As shown in the pipeline parallel example on the right, a single request unfolds over multiple iterative steps.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these steps—such as between prefill and decode, or during inter-GPU communication—we see frequent 'bubbles' and stalls. The key insight here is that the problem isn't just about assigning a GPU to a request; it's about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and exploiting these microsecond-scale gaps </a:t>
            </a:r>
            <a:r>
              <a:rPr lang="en" altLang="zh-CN" sz="1200" b="1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request's execution phases.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Therefore, scheduling must reason at a granularity much finer than the request level.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7E776-1F2E-7E81-512B-C75C87D92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339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64B5-7644-78B0-7BC4-9A176418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CBE2A7-4EF9-9D2C-DBFD-8CA4DC405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4FB23-520D-A1AE-8082-E637D624E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put it bluntly: default GPU sharing fails because its control granularity is simply too coarse.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scheduler can only control execution at the kernel level, a long-running kernel will cause head-of-line blocking. If we allow concurrent execution, the shared memory hierarchy causes interference. And the lack of fast preemption severely hurts urgent tasks.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trace in the figure shows, neither default spatial nor temporal sharing can perfectly handle real-world request arrivals. The one-sentence takeaway is: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GPU scheduling granularity fundamentally mismatches the highly dynamic nature of generative AI workloads.</a:t>
            </a:r>
            <a:endParaRPr lang="e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3AE68-D935-438F-5108-74F3AEB04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295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714D-1B6D-14AF-C99A-40245608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20C81-A63F-D9C3-AF1A-4917382B2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52DC0-45A6-A5A2-0B75-59505C164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summarize the limitations of existing mechanisms: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sharing provides strong isolation, but preemption delays directly hurt the tail latency of urgent requests.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 sharing improves utilization via concurrency, but shared resource contention makes it nearly impossible to guarantee Strict Service Level Objectives (SLOs).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challenge we must solve is that generative workloads demand a 'best of both worlds' scenario: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utilization during normal execution, and lightning-fast reaction times when urgent requests arrive.</a:t>
            </a:r>
            <a:endParaRPr lang="e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EC3D7-F843-427F-00B9-5EF4EDB8A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4431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5F1EC-A33F-8169-0806-4AB80D0E6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8E86CDC-F866-53E0-195E-EF7B1EF66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988684-757A-41A4-AED6-FFB742094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next part is Proposed Methods.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0B1451-E150-B6AE-84D7-A9DB05000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720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77BB-A78F-BC82-6303-96236270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0DCF6-4802-BD98-9B3B-654AD50D8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F8996-E249-4C71-B525-590983BCF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we move to the core of the presentation: the proposed layered architecture.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mentioned, we approach this through three layers: KRYPTON for entrance control,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execution abstraction, and Hummingbird for emergency preemption.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system targets specific design goals: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deployability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real-world software stacks, execution efficiency, and strict tail-latency protection. As the table shows, none of these methods can solve the entire problem alone. They are complementary at the design level.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E1638-80EC-E2BD-2F8A-F35E6F3C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570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0433-7B29-AB86-C4C2-34A5B0C5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99CE5-83D9-6BB1-20F8-6EDDB68B5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70C73-F2BB-6E3C-D901-F03535C14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the first layer: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KRYPTON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KRYPTON's core innovation is intercepting GPU management in the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 space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rather than relying on fragile user-space API remoting.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brings two immediate benefits: First, incredible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compatibility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across diverse, heterogeneous software stacks and runtimes. Second, strong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tenant isolation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KRYPTON exposes Isolated Virtual GPU objects (IGPUs) by intelligently combining MIG hardware partitioning with time slicing.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excels at entrance control and cluster-level performance management. However, its limitation is that it is primarily an admission control solution; it is not designed for fine-grained, in-flight scheduling once the kernels are executing.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EAD9F-E535-73B3-6DED-A902001CC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711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0283-B19B-2DE0-8023-81FCC091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DA6A2-C3A0-7638-E983-AA0B7ABD4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25962-4283-A5FE-EFDA-CFCA39D19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handle that in-flight execution, we introduce our second layer: </a:t>
            </a:r>
            <a:r>
              <a:rPr lang="en" altLang="zh-C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shifts the scheduling paradigm from coarse kernel-level control down to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TPC-level scheduling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major breakthrough is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 atomization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massive, monolithic kernel is hard to preempt and causes head-of-line blocking.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transparently splits these into smaller 'schedulable atoms,' allowing resources to be reallocated mid-execution.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Furthermore,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right-sizing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—dynamically determining exactly how many TPCs a kernel actually needs—and implements fine-grained power management.</a:t>
            </a:r>
          </a:p>
          <a:p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solves head-of-line blocking and energy waste. Its main trade-off is that it requires deeper changes to the execution abstraction, meaning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deployability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depends on certain stack assumptions.</a:t>
            </a:r>
          </a:p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A0CD4-7B54-9D32-4419-E7B14C215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464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11-1A71-AF8E-758F-2D1859D4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BC791-A457-8D9D-4255-02CD4AAB6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2CD3A-C23E-4C8A-C435-CFA8C4E45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layer targets the most acute problem: How do we get out of the way fast on closed-source GPUs? This is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Hummingbird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Hummingbird converts best-effort, low-priority kernels into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split kernels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(controlled block-level execution). Instead of waiting milliseconds for a kernel to finish, Hummingbird creates preemption boundaries at the microsecond scale.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utilizes a crucial observation: generative workloads generate massive amounts of 'bubbles' (idle GPU time slices) during synchronization and communication. Hummingbird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harvests these bubbles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run low-priority tasks, and uses hierarchical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NVLink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memory offloading to prevent memory contention.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guarantees strict SLOs for high-priority tasks while keeping throughput high. Its scope, however, is purely urgent-task protection, not overall cluster admission.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ADE7B-C7ED-8216-5609-6EC3BA42A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007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8AF6-68CF-75B9-7073-1796AAD4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F41F7370-DE54-7832-2304-2C638C039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35C795-3485-B95B-8CB6-8C4A5EA18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next part is Performance Evaluation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E504C0-2CD6-3FE9-1431-A2B385F717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5801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CC37-3CEF-9C97-7769-A21328E9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9CA1E-2053-781E-9BD3-1676AADF9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52128-67A6-7375-B16B-9DE342AEF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let's look at the evaluation results, starting with our first layer: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KRYPTON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you can see from the core results on this slide, KRYPTON demonstrates massive real-world impact at the cluster level. If you direct your attention to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7 on the left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compared KRYPTON against other SOTA methods in terms of the number of GPUs required to guarantee performance. By utilizing its fine-grained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spatio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-temporal orchestration, KRYPTON actively reduces GPU fragmentation. As a result, it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the required GPU fleet by 32.1%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compared to baseline methods. This is a huge win for cluster efficiency.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efficiency cannot come at the cost of stability.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8 on the right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illustrates how KRYPTON behaves under dynamic loads compared to pass-through or simple user-space API remoting. Thanks to its kernel-space feedback controller, KRYPTON dynamically adjusts time slices to combat interference. This keeps the average throughput relative error to a mere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0.9%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latency QoS violation rate at just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1.23%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importantly, KRYPTON is not just a simulator or a lab prototype—it has been deployed and validated in a production environment for over a year. The true value of KRYPTON is that it takes GPU sharing from a fragile academic concept and hardens it into reliable, production-grade entrance infrastructure.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5D4F4-F4EC-4A39-BDE6-FD10995DF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948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BC876-9A89-DBB5-9186-C5A89B97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EF8ED-100C-F251-C84F-4515F0521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3A8E5-5615-0737-7485-4E77CCA00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down to the execution layer, we evaluate </a:t>
            </a:r>
            <a:r>
              <a:rPr lang="en" altLang="zh-C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first look at the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inference-only multitenancy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scenario shown in the charts.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lowers P99 tail latency by a staggering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13x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compared to NVIDIA’s default MPS, and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4x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compared to the best prior baselines. At the same time, it improves aggregate goodput by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1.3x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 inference-training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scenario (Figure 10), it lowers P99 latency by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4.7x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versus MPS and boosts aggregate throughput by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1.35x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we see this massive leap?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Because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breaks away from rigid kernel-level scheduling. By introducing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TPC-level scheduling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 atomization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effectively eliminates the head-of-line blocking that plagues existing systems.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</a:t>
            </a:r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goes beyond just making scheduling faster; it acts as a true Operating System managing hardware resources. As shown in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11 and 12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introduces two powerful system-level optimizations: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Right-sizing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By dynamically figuring out that a kernel doesn't need the entire GPU to reach peak performance, it frees up resources, saving an average of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26% in GPU capacity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Transparent Power Management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By scaling frequency based on workload characteristics—without needing offline profiling—it yields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26% in energy savings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proves that bringing OS-level abstractions to GPUs fundamentally improves both capacity and energy efficiency.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EF1D4-FD60-DAF5-FDAB-1C1BD89E4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578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5018-7132-5064-5DB8-AEEEABA3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28AB2-E2B8-4217-6C5B-F9ACFAD7C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AEE23-0993-081B-FCA6-44C62F54C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evaluate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Hummingbird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answers our most critical question: </a:t>
            </a:r>
            <a:r>
              <a:rPr lang="en" altLang="zh-C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well can we protect strict SLOs during sudden bursts on closed-source GPUs?</a:t>
            </a:r>
            <a:endParaRPr lang="e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in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13(a)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Hummingbird’s ability to protect high-priority tasks is exceptional. Compared to spatial-sharing baselines—which suffer from severe memory interference—Hummingbird achieves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9.7x higher SLO attainment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Compared to temporal sharing baselines like REEF—which suffer from long preemption delays—it is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3.5x higher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Across all evaluated scenarios, Hummingbird consistently maintains nearly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99% SLO attainment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here is the most crucial part: look at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13(b)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Hummingbird does </a:t>
            </a:r>
            <a:r>
              <a:rPr lang="en" altLang="zh-C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achieve these strict SLOs by simply killing or starving the background low-priority tasks. Compared to REEF, Hummingbird actually delivers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2.4x higher low-priority throughput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it achieve this 'best of both worlds' result?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by converting kernels into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split-kernels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Hummingbird forces preemption boundaries, capping the maximum preemption delay at roughly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 microseconds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doesn't wait passively; it yields actively.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it utilizes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bubble harvesting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Instead of leaving the GPU idle during host-device synchronization or communication phases of the high-priority task, Hummingbird sneaks in microsecond-scale low-priority work. It completely bypasses the preemption limitations of closed-source hardware, maximizing throughput without sacrificing tail latency.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7C75B-2E14-2C9F-23B7-3C6AB61A4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93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8158-9C7C-A145-282A-8E770964B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C0D0C4F-B8CB-2F8E-875F-1405872F4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96BE35-F1DD-229C-3D3D-7D373DE61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next part is Conclusions.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4AD43D-D4D5-D0C2-A7AD-7D775FD0E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30906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E64F-5984-0D4C-209A-9A8D5A57B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3B04F-42F0-CD3A-0D74-A661AD36B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C2AD0-E78E-FAC5-6B29-AEB479556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conclude:</a:t>
            </a:r>
            <a:b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rise of iterative generative workloads has fundamentally shifted the focus of GPU scheduling from pure 'utilization' toward strict </a:t>
            </a:r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tail-latency control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have shown that this is a layered problem:</a:t>
            </a:r>
          </a:p>
          <a:p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KRYPTON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entrance control via isolated virtual GPU construction.</a:t>
            </a:r>
          </a:p>
          <a:p>
            <a:r>
              <a:rPr lang="en" altLang="zh-C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LithOS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execution abstraction through TPC scheduling and kernel atomization.</a:t>
            </a:r>
          </a:p>
          <a:p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Hummingbird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emergency preemption via microsecond-scale yielding.</a:t>
            </a:r>
          </a:p>
          <a:p>
            <a:r>
              <a:rPr lang="en" altLang="zh-C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takeaway is that GPU scheduling for modern generative AI is no longer a single-point optimization—it is a layered systems problem.</a:t>
            </a:r>
            <a:endParaRPr lang="e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future work, the next logical steps are to build a unified implementation that integrates all three layers natively, develop cross-layer scheduling policies, and deploy this architecture across heterogeneous GPU clusters.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97893-A5E2-A73B-4B59-7750CFB57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2769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concludes my presentation. Thank you all for your time and attention.</a:t>
            </a:r>
            <a:br>
              <a:rPr lang="en" altLang="zh-CN" dirty="0"/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welcome any questions, feedback, or critiques. I'd be particularly interested in discussing whether these three layers can be truly unified in the future, how we can push for even finer-grained control on closed-source GPUs, or how these ideas translate to your own real-world LLM serving stacks.</a:t>
            </a:r>
            <a:br>
              <a:rPr lang="en" altLang="zh-CN" dirty="0"/>
            </a:b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you. I am now open to questions.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3048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564" y="1406845"/>
            <a:ext cx="11396871" cy="18824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Layered GPU Scheduling Architecture</a:t>
            </a:r>
            <a:r>
              <a:rPr lang="zh-CN" alt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Iterative Generative Workloads</a:t>
            </a:r>
            <a:endParaRPr lang="zh-TW" altLang="en-US" sz="3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Qinke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Ni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96609" y="1648618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0DD6-F79C-A26D-A3FE-A9D537F1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5EDE2F-657E-2FAF-FB09-C2B14915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391D2A-AF96-29FB-61A4-AF8DC216F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609" y="1648618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4A71CEB4-F747-0C7F-9080-0A229A77D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361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0568"/>
            <a:ext cx="10972800" cy="2836864"/>
          </a:xfrm>
        </p:spPr>
        <p:txBody>
          <a:bodyPr/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generative AI workloads include TTS, diffusion, and LLM inference/training.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workloads are iterative, latency-sensitive, and bursty.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scheduling must optimize not only utilization, but also tail latency.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is hard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request is not a single compact kernel stream.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unfolds as multiple steps with synchronization and changing parallelism.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scheduler must react to fine-grained phase changes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4D8AE41-E9DB-DC4B-0813-8BAB041C6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139" y="1575480"/>
            <a:ext cx="10517722" cy="4796292"/>
          </a:xfrm>
        </p:spPr>
        <p:txBody>
          <a:bodyPr/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conflict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sharing improves utilization, but creates interference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sharing improves isolation, but suffers from long preemption delay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Closed-source GPUs do not provide fast proactive preemption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kernels directly translate into long waiting time for urgent requests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default sharing primitive can satisfy both efficiency and strict latency goals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DEEDA1E-DF89-AFB5-6372-BF049FEF9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6FF0B5E4-16D0-500E-8DDD-D26804AFB5FE}"/>
              </a:ext>
            </a:extLst>
          </p:cNvPr>
          <p:cNvSpPr/>
          <p:nvPr/>
        </p:nvSpPr>
        <p:spPr>
          <a:xfrm>
            <a:off x="1066800" y="4971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A8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↔ Tail Latency Tradeoff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0320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1740" y="1046843"/>
            <a:ext cx="10112829" cy="4764314"/>
          </a:xfrm>
        </p:spPr>
        <p:txBody>
          <a:bodyPr>
            <a:no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thesis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scheduling for iterative generative workloads is a layered systems problem</a:t>
            </a:r>
          </a:p>
          <a:p>
            <a:pPr lvl="1"/>
            <a:endParaRPr lang="en-US" altLang="zh-CN" sz="1800" dirty="0">
              <a:solidFill>
                <a:srgbClr val="202A34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Layers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Entrance control → KRYPTON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abstraction →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preemption → Hummingbird</a:t>
            </a: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 of this talk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three systems are complementary rather than competing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 they form a practical closed-loop scheduling stack</a:t>
            </a:r>
          </a:p>
          <a:p>
            <a:pPr lvl="1"/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existing OS methods can improve utilization while protecting tail latency?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219C45F4-7572-2CE8-3D02-7331B11AB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85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4250B-5EE9-70BA-30C6-24D7BE4C3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78ABA-964B-0ADE-96F3-AE84B03A5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9391DA-3D34-DC32-0FBD-C95A0A788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609" y="1648618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E9346659-7F82-B7E5-827B-865DA9CC3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781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2503-F58B-F91A-97DE-75A507AE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C4EC-2DF2-8E27-5384-39423AB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A47E-D0DD-F28D-51BF-17A7C2B7C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5537"/>
            <a:ext cx="10972800" cy="3707719"/>
          </a:xfrm>
        </p:spPr>
        <p:txBody>
          <a:bodyPr/>
          <a:lstStyle/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spatial sharing &amp; virtualization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MPS: </a:t>
            </a:r>
            <a:r>
              <a:rPr lang="e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kernel execution through GPU context sharing 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</a:p>
          <a:p>
            <a:pPr lvl="1"/>
            <a:r>
              <a:rPr lang="e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MIG: </a:t>
            </a:r>
            <a:r>
              <a:rPr lang="e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hardware-supported GPU partitioning with stronger isolation 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</a:p>
          <a:p>
            <a:pPr lvl="1"/>
            <a:r>
              <a:rPr lang="e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KRYPTON (USENIX ATC</a:t>
            </a:r>
            <a:r>
              <a:rPr lang="en-US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</a:t>
            </a:r>
            <a:r>
              <a:rPr lang="e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25) : </a:t>
            </a:r>
            <a:r>
              <a:rPr lang="e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kernel-space GPU interception; IGPU abstraction with MIG and time slicing 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</a:p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scheduling &amp; fine-grained execution control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Salus (MLSys</a:t>
            </a:r>
            <a:r>
              <a:rPr lang="zh-CN" alt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20</a:t>
            </a:r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zh-C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GPU sharing for deep learning workloads</a:t>
            </a:r>
            <a:r>
              <a:rPr lang="en-US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</a:p>
          <a:p>
            <a:pPr lvl="1"/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REEF (OSDI</a:t>
            </a:r>
            <a:r>
              <a:rPr lang="zh-CN" alt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22): </a:t>
            </a:r>
            <a:r>
              <a:rPr lang="e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microsecond-scale preemption and controlled concurrent execution for GPU-accelerated DNN inference 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  <a:p>
            <a:pPr lvl="1"/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LithOS (SOSP</a:t>
            </a:r>
            <a:r>
              <a:rPr lang="zh-CN" alt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zh-C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TPC-level scheduling, kernel atomization, and hardware right-sizing </a:t>
            </a:r>
            <a:r>
              <a:rPr lang="en-US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Preemption, tail latency &amp; urgent-task protection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Chimera (ASPLOS</a:t>
            </a:r>
            <a:r>
              <a:rPr lang="zh-CN" alt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zh-CN" alt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15)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collaborative GPU preemption; controlled multitasking [7] </a:t>
            </a:r>
          </a:p>
          <a:p>
            <a:pPr lvl="1"/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Tanasia et al. (ISCA</a:t>
            </a:r>
            <a:r>
              <a:rPr lang="zh-CN" altLang="en-US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14): </a:t>
            </a:r>
            <a:r>
              <a:rPr lang="zh-C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support for preemptive GPU multiprogramming </a:t>
            </a:r>
            <a:r>
              <a:rPr lang="en-US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</a:p>
          <a:p>
            <a:pPr lvl="1"/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Hummingbird</a:t>
            </a:r>
            <a:r>
              <a:rPr kumimoji="0" lang="zh-CN" altLang="zh-CN" sz="1600" dirty="0">
                <a:solidFill>
                  <a:srgbClr val="000000"/>
                </a:solidFill>
                <a:latin typeface="Arial" panose="020B0604020202020204" pitchFamily="34" charset="0"/>
                <a:ea typeface="-webkit-standard"/>
              </a:rPr>
              <a:t>(arXiv ’26)</a:t>
            </a:r>
            <a:r>
              <a:rPr lang="zh-CN" altLang="zh-CN" sz="14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split-kernel scheduling and bubble harvesting for strict SLOs [</a:t>
            </a:r>
            <a:r>
              <a:rPr lang="en-US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14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1"/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8901516-B396-B388-0B66-9A4CAE868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BAC56E-45CC-DAA1-1705-4AEBE2D5088D}"/>
              </a:ext>
            </a:extLst>
          </p:cNvPr>
          <p:cNvSpPr txBox="1"/>
          <p:nvPr/>
        </p:nvSpPr>
        <p:spPr>
          <a:xfrm>
            <a:off x="79834" y="4703436"/>
            <a:ext cx="12032331" cy="1477328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000" dirty="0"/>
              <a:t>[1] </a:t>
            </a:r>
            <a:r>
              <a:rPr lang="zh-CN" altLang="zh-CN" sz="1000" dirty="0"/>
              <a:t>NVIDIA. Multi-Process Service (MPS). NVIDIA Documentation.</a:t>
            </a:r>
            <a:endParaRPr lang="en-US" sz="1000" dirty="0"/>
          </a:p>
          <a:p>
            <a:r>
              <a:rPr lang="en-US" sz="1000" dirty="0"/>
              <a:t>[2] </a:t>
            </a:r>
            <a:r>
              <a:rPr lang="zh-CN" altLang="zh-CN" sz="1000" dirty="0"/>
              <a:t>NVIDIA. Multi-Instance GPU (MIG). NVIDIA Documentation.</a:t>
            </a:r>
            <a:endParaRPr lang="en-US" sz="1000" dirty="0"/>
          </a:p>
          <a:p>
            <a:r>
              <a:rPr lang="en-US" sz="1000" dirty="0"/>
              <a:t>[3] </a:t>
            </a:r>
            <a:r>
              <a:rPr lang="en" altLang="zh-CN" sz="1000" dirty="0"/>
              <a:t>Zhang, </a:t>
            </a:r>
            <a:r>
              <a:rPr lang="en" altLang="zh-CN" sz="1000" dirty="0" err="1"/>
              <a:t>Shulai</a:t>
            </a:r>
            <a:r>
              <a:rPr lang="en" altLang="zh-CN" sz="1000" dirty="0"/>
              <a:t>, et al. "Efficient {Performance-Aware}{GPU} Sharing with Compatibility and Isolation through Kernel Space Interception." 2025 USENIX Annual Technical Conference (USENIX ATC 25). 2025.</a:t>
            </a:r>
          </a:p>
          <a:p>
            <a:r>
              <a:rPr lang="en-US" sz="1000" dirty="0"/>
              <a:t>[4] </a:t>
            </a:r>
            <a:r>
              <a:rPr lang="en" altLang="zh-CN" sz="1000" dirty="0"/>
              <a:t>Yu, </a:t>
            </a:r>
            <a:r>
              <a:rPr lang="en" altLang="zh-CN" sz="1000" dirty="0" err="1"/>
              <a:t>Peifeng</a:t>
            </a:r>
            <a:r>
              <a:rPr lang="en" altLang="zh-CN" sz="1000" dirty="0"/>
              <a:t>, and </a:t>
            </a:r>
            <a:r>
              <a:rPr lang="en" altLang="zh-CN" sz="1000" dirty="0" err="1"/>
              <a:t>Mosharaf</a:t>
            </a:r>
            <a:r>
              <a:rPr lang="en" altLang="zh-CN" sz="1000" dirty="0"/>
              <a:t> Chowdhury. "Fine-grained GPU sharing primitives for deep learning applications." Proceedings of Machine Learning and Systems 2 (2020): 98-111.</a:t>
            </a:r>
            <a:endParaRPr lang="en-US" sz="1000" dirty="0"/>
          </a:p>
          <a:p>
            <a:r>
              <a:rPr lang="en-US" sz="1000" dirty="0"/>
              <a:t>[5] </a:t>
            </a:r>
            <a:r>
              <a:rPr lang="en" altLang="zh-CN" sz="1000" dirty="0"/>
              <a:t>Han, </a:t>
            </a:r>
            <a:r>
              <a:rPr lang="en" altLang="zh-CN" sz="1000" dirty="0" err="1"/>
              <a:t>Mingcong</a:t>
            </a:r>
            <a:r>
              <a:rPr lang="en" altLang="zh-CN" sz="1000" dirty="0"/>
              <a:t>, et al. "Microsecond-scale preemption for concurrent {GPU-accelerated}{DNN} inferences." 16th USENIX Symposium on Operating Systems Design and Implementation (OSDI 22). 2022.</a:t>
            </a:r>
            <a:endParaRPr lang="en-US" sz="1000" dirty="0"/>
          </a:p>
          <a:p>
            <a:r>
              <a:rPr lang="en-US" sz="1000" dirty="0"/>
              <a:t>[6] </a:t>
            </a:r>
            <a:r>
              <a:rPr lang="en" altLang="zh-CN" sz="1000" dirty="0"/>
              <a:t>Coppock, Patrick H., et al. "</a:t>
            </a:r>
            <a:r>
              <a:rPr lang="en" altLang="zh-CN" sz="1000" dirty="0" err="1"/>
              <a:t>LithOS</a:t>
            </a:r>
            <a:r>
              <a:rPr lang="en" altLang="zh-CN" sz="1000" dirty="0"/>
              <a:t>: An operating system for efficient machine learning on GPUs." Proceedings of the ACM SIGOPS 31st Symposium on Operating Systems Principles. 2025.</a:t>
            </a:r>
          </a:p>
          <a:p>
            <a:r>
              <a:rPr lang="en-US" sz="1000" dirty="0"/>
              <a:t>[7] </a:t>
            </a:r>
            <a:r>
              <a:rPr lang="en" altLang="zh-CN" sz="1000" dirty="0"/>
              <a:t>Park, Jason Jong Kyu, Yongjun Park, and Scott Mahlke. "Chimera: Collaborative preemption for multitasking on a shared GPU." ACM SIGARCH Computer Architecture News43.1 (2015): 593-606.</a:t>
            </a:r>
          </a:p>
          <a:p>
            <a:r>
              <a:rPr lang="en" sz="1000" dirty="0"/>
              <a:t>[8] </a:t>
            </a:r>
            <a:r>
              <a:rPr lang="en" altLang="zh-CN" sz="1000" dirty="0" err="1"/>
              <a:t>Tanasic</a:t>
            </a:r>
            <a:r>
              <a:rPr lang="en" altLang="zh-CN" sz="1000" dirty="0"/>
              <a:t>, Ivan, et al. "Enabling preemptive multiprogramming on GPUs." ACM SIGARCH Computer Architecture News 42.3 (2014): 193-204.</a:t>
            </a:r>
          </a:p>
          <a:p>
            <a:r>
              <a:rPr lang="en" sz="1000" dirty="0"/>
              <a:t>[9] </a:t>
            </a:r>
            <a:r>
              <a:rPr lang="en" altLang="zh-CN" sz="1000" dirty="0"/>
              <a:t>Hu, </a:t>
            </a:r>
            <a:r>
              <a:rPr lang="en" altLang="zh-CN" sz="1000" dirty="0" err="1"/>
              <a:t>Tiancheng</a:t>
            </a:r>
            <a:r>
              <a:rPr lang="en" altLang="zh-CN" sz="1000" dirty="0"/>
              <a:t>, et al. "Hummingbird: SLO-Oriented GPU Preemption at Microsecond-scale." </a:t>
            </a:r>
            <a:r>
              <a:rPr lang="en" altLang="zh-CN" sz="1000" dirty="0" err="1"/>
              <a:t>arXiv</a:t>
            </a:r>
            <a:r>
              <a:rPr lang="en" altLang="zh-CN" sz="1000" dirty="0"/>
              <a:t> preprint arXiv:2601.04071 (2026).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9184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6BE69-1762-21F5-BEEB-76115244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1DC1CE-807A-0379-3CDF-E4C55483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511D8D-796A-0D23-DC29-A80D26BA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609" y="1648618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48529660-5971-4549-03BD-B808EBCF6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8176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E9E8-110C-A069-5B63-2DDEFB475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CC3E-2EF0-F9E8-7F66-7E4601C9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9DE2FFB-64A3-5DDE-8ECC-D64032F8B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29A50-82D6-5516-E686-049717154D12}"/>
              </a:ext>
            </a:extLst>
          </p:cNvPr>
          <p:cNvSpPr txBox="1">
            <a:spLocks/>
          </p:cNvSpPr>
          <p:nvPr/>
        </p:nvSpPr>
        <p:spPr bwMode="auto">
          <a:xfrm>
            <a:off x="239183" y="1728388"/>
            <a:ext cx="6458858" cy="3062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SzTx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generative workloads as a scheduling target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request unfolds over multiple iterative steps</a:t>
            </a:r>
            <a:endParaRPr lang="en-CN" altLang="en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behavior changes within a single request</a:t>
            </a:r>
            <a:endParaRPr lang="en-CN" altLang="en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and communication create bubbles and stalls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must reason at finer-than-request granularity </a:t>
            </a:r>
          </a:p>
          <a:p>
            <a:endParaRPr lang="en-US" sz="18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48B52D-67B1-AA1B-2803-FC7B6564E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260" y="1499024"/>
            <a:ext cx="4595513" cy="3521368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FE9E45E8-461E-411B-680A-E482567C65D1}"/>
              </a:ext>
            </a:extLst>
          </p:cNvPr>
          <p:cNvSpPr txBox="1"/>
          <p:nvPr/>
        </p:nvSpPr>
        <p:spPr>
          <a:xfrm>
            <a:off x="6810260" y="5220476"/>
            <a:ext cx="4674023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Fig.1: </a:t>
            </a:r>
            <a:r>
              <a:rPr lang="en" altLang="zh-CN" sz="1200" i="1" dirty="0"/>
              <a:t>Example two-stage pipeline parallel schedule.</a:t>
            </a:r>
          </a:p>
        </p:txBody>
      </p:sp>
    </p:spTree>
    <p:extLst>
      <p:ext uri="{BB962C8B-B14F-4D97-AF65-F5344CB8AC3E}">
        <p14:creationId xmlns:p14="http://schemas.microsoft.com/office/powerpoint/2010/main" val="57398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C669-0637-61FB-439B-A688EB90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4F46-4C3D-4DC1-E02F-102352E0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02717-E2FE-9867-F45F-E23997A13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844" y="1909766"/>
            <a:ext cx="5500157" cy="4614862"/>
          </a:xfrm>
        </p:spPr>
        <p:txBody>
          <a:bodyPr/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default GPU sharing fails</a:t>
            </a:r>
            <a:endParaRPr lang="en-CN" alt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Coarse kernel-level control is too rigid</a:t>
            </a:r>
            <a:endParaRPr lang="en-CN" altLang="en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kernels cause head-of-line blocking</a:t>
            </a:r>
            <a:endParaRPr lang="en-CN" altLang="en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memory hierarchy causes interference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fast preemption hurts urgent tasks</a:t>
            </a:r>
            <a:endParaRPr lang="en-CN" altLang="en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One-sentence takeaway</a:t>
            </a:r>
            <a:endParaRPr lang="en-CN" alt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750" b="1" dirty="0">
              <a:solidFill>
                <a:srgbClr val="A8434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altLang="zh-CN" sz="1750" b="1" dirty="0">
                <a:solidFill>
                  <a:srgbClr val="A8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GPU scheduling granularity mismatches the dynamics of generative AI workloads</a:t>
            </a:r>
            <a:endParaRPr lang="en-US" altLang="zh-CN" sz="1750" dirty="0"/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8F88896-FCE1-C430-0E26-6062DA525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001660-8E7F-5247-2CC4-885D5A03F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09924"/>
            <a:ext cx="5627156" cy="2647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358628-6C82-950E-1766-130E1BB0ABEC}"/>
              </a:ext>
            </a:extLst>
          </p:cNvPr>
          <p:cNvSpPr txBox="1"/>
          <p:nvPr/>
        </p:nvSpPr>
        <p:spPr>
          <a:xfrm>
            <a:off x="6531429" y="4387914"/>
            <a:ext cx="5279571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Fig.2: </a:t>
            </a:r>
            <a:r>
              <a:rPr lang="en" altLang="zh-CN" sz="1200" i="1" dirty="0"/>
              <a:t>An example of handling two applications’ requests</a:t>
            </a:r>
          </a:p>
          <a:p>
            <a:r>
              <a:rPr lang="en" altLang="zh-CN" sz="1200" i="1" dirty="0"/>
              <a:t>on an Nvidia A100 GPU with a real-world trace.</a:t>
            </a:r>
          </a:p>
        </p:txBody>
      </p:sp>
    </p:spTree>
    <p:extLst>
      <p:ext uri="{BB962C8B-B14F-4D97-AF65-F5344CB8AC3E}">
        <p14:creationId xmlns:p14="http://schemas.microsoft.com/office/powerpoint/2010/main" val="2897253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538C-0151-0307-F3EF-E86AC3B0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E7E8-AA02-4EC3-BD57-E1298238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2C4CB-0402-56D6-FAE7-A1BE08C1D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1309"/>
            <a:ext cx="10972800" cy="4302806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GPU sharing mechanisms are insufficient</a:t>
            </a:r>
          </a:p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sharing </a:t>
            </a: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isolation between jobs</a:t>
            </a: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urgent requests may wait for long-running kernels to finish</a:t>
            </a: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Preemption delay directly hurts tail latency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Sharing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utilization through concurrent execution</a:t>
            </a: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shared cache, memory bandwidth, and execution units introduce interference</a:t>
            </a: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SLOs become hard to guarantee under colocation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workloads need both: high utilization in normal cases and fast reaction to urgent requests in bad cases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4A31A57-DDA5-6137-F421-C37BD83E9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036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24E5-6A2B-3953-E111-14AA62EF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89D482-42C1-852E-9489-CC0579933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CB5B10-656C-E94F-E336-EF8ABA3E3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609" y="1648618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E5A89CE-FDC7-FF1D-9E6C-B586F224E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097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36AAB-CA26-0245-1438-CCC4D514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26FE-DE2C-A556-C55A-55050586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3AFA842-99F7-44EC-111C-B2238D4D34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ADAA-DC09-5E01-6701-DBABEACC8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40668"/>
            <a:ext cx="10972800" cy="3776663"/>
          </a:xfrm>
        </p:spPr>
        <p:txBody>
          <a:bodyPr/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altLang="zh-C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Entrance control → KRYPTON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abstraction →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preemption → Hummingbird</a:t>
            </a:r>
          </a:p>
          <a:p>
            <a:pPr lvl="1"/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Goal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tail-latency protection</a:t>
            </a:r>
          </a:p>
          <a:p>
            <a:pPr marL="457176" lvl="1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76" lvl="1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76" lvl="1" indent="0">
              <a:buNone/>
            </a:pP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are complementary at the design level, not a single integrated implementation.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32567E-5CAC-A1F2-116E-5F970890D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86" y="2371070"/>
            <a:ext cx="6339114" cy="1727388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F7344D4C-3813-9C44-482F-16C4E900DD13}"/>
              </a:ext>
            </a:extLst>
          </p:cNvPr>
          <p:cNvSpPr txBox="1"/>
          <p:nvPr/>
        </p:nvSpPr>
        <p:spPr>
          <a:xfrm>
            <a:off x="6304431" y="4467195"/>
            <a:ext cx="4674023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Fig.3: Comparison of these Methods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27287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A205-96DA-F627-455B-9A000DEA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418F-A43F-D5AA-E3C7-4C600F0D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KRYPTON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3DB1B85-48D3-73C3-2B5B-1CB8AC911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750A-154A-035C-3E83-ECDF4AFE4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40668"/>
            <a:ext cx="6349351" cy="3776663"/>
          </a:xfrm>
        </p:spPr>
        <p:txBody>
          <a:bodyPr/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KRYPTON does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Intercepts GPU management in kernel space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Exposes isolated virtual GPU objects (IGPUs)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MIG and time slicing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brittle user-space API remoting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it solves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across heterogeneous software stacks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Tenant isolation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control at cluster entrance</a:t>
            </a:r>
          </a:p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lvl="1"/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at entrance control, but not enough for fine-grained in-flight scheduling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EE883F1-10EB-DD88-ACBF-D2CF12D13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751" y="1540668"/>
            <a:ext cx="4450531" cy="3533004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D627DF6A-63A1-18AD-8ECC-642E2951BC04}"/>
              </a:ext>
            </a:extLst>
          </p:cNvPr>
          <p:cNvSpPr txBox="1"/>
          <p:nvPr/>
        </p:nvSpPr>
        <p:spPr>
          <a:xfrm>
            <a:off x="6659259" y="5252494"/>
            <a:ext cx="4674023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Fig.4: The overview of KRYPTON</a:t>
            </a:r>
          </a:p>
        </p:txBody>
      </p:sp>
    </p:spTree>
    <p:extLst>
      <p:ext uri="{BB962C8B-B14F-4D97-AF65-F5344CB8AC3E}">
        <p14:creationId xmlns:p14="http://schemas.microsoft.com/office/powerpoint/2010/main" val="58997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76E6-166A-B1BE-3B29-FA718664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1C32-C11B-05E4-7D79-125EA37F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  <a:r>
              <a:rPr lang="en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38FEE82-C107-3751-E0C6-02BEFC394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1C577AA-0022-62B2-55B4-BE58D0D76121}"/>
              </a:ext>
            </a:extLst>
          </p:cNvPr>
          <p:cNvSpPr txBox="1">
            <a:spLocks/>
          </p:cNvSpPr>
          <p:nvPr/>
        </p:nvSpPr>
        <p:spPr bwMode="auto">
          <a:xfrm>
            <a:off x="195793" y="1699356"/>
            <a:ext cx="10972800" cy="377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altLang="zh-CN" sz="20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</a:t>
            </a:r>
          </a:p>
          <a:p>
            <a:pPr lvl="1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coarse kernel-level control with TPC-level scheduling </a:t>
            </a:r>
          </a:p>
          <a:p>
            <a:pPr lvl="1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kernel atomization </a:t>
            </a:r>
          </a:p>
          <a:p>
            <a:pPr lvl="1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fine-grained spatial sharing </a:t>
            </a:r>
          </a:p>
          <a:p>
            <a:pPr lvl="1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hardware right-sizing and power management </a:t>
            </a:r>
          </a:p>
          <a:p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it solves</a:t>
            </a:r>
          </a:p>
          <a:p>
            <a:pPr lvl="1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Head-of-line blocking under coarse scheduling </a:t>
            </a:r>
          </a:p>
          <a:p>
            <a:pPr lvl="1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Over-provisioned GPU allocation </a:t>
            </a:r>
          </a:p>
          <a:p>
            <a:pPr lvl="1"/>
            <a:r>
              <a:rPr lang="en-US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multitenancy and energy waste</a:t>
            </a:r>
          </a:p>
          <a:p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lvl="1"/>
            <a:r>
              <a:rPr lang="e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execution abstraction changes, </a:t>
            </a:r>
            <a:r>
              <a:rPr lang="en" altLang="zh-CN" sz="18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lang="en" altLang="zh-CN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depend on stack assumptions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EE9E345-4EC8-9565-D920-E1B170FE2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783" y="2675290"/>
            <a:ext cx="5882217" cy="15074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A6F26E-2033-C83D-0E46-3CB2216690A8}"/>
              </a:ext>
            </a:extLst>
          </p:cNvPr>
          <p:cNvSpPr txBox="1"/>
          <p:nvPr/>
        </p:nvSpPr>
        <p:spPr>
          <a:xfrm>
            <a:off x="7006273" y="4419787"/>
            <a:ext cx="4674023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Fig.5: </a:t>
            </a:r>
            <a:r>
              <a:rPr lang="en-US" sz="1200" i="1" dirty="0" err="1"/>
              <a:t>LithOS</a:t>
            </a:r>
            <a:r>
              <a:rPr lang="en-US" sz="1200" i="1" dirty="0"/>
              <a:t> operations overview</a:t>
            </a:r>
          </a:p>
        </p:txBody>
      </p:sp>
    </p:spTree>
    <p:extLst>
      <p:ext uri="{BB962C8B-B14F-4D97-AF65-F5344CB8AC3E}">
        <p14:creationId xmlns:p14="http://schemas.microsoft.com/office/powerpoint/2010/main" val="84711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16BA-9367-0B1C-6121-E17FA47A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4FE2-81A5-2F13-E231-0021B120A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Hummingbird</a:t>
            </a:r>
            <a:r>
              <a:rPr lang="en-CN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CCC4BF0-5841-443F-01BC-94CEB5984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8105BF5-D164-C63A-0892-B13DC07AE129}"/>
              </a:ext>
            </a:extLst>
          </p:cNvPr>
          <p:cNvSpPr txBox="1">
            <a:spLocks/>
          </p:cNvSpPr>
          <p:nvPr/>
        </p:nvSpPr>
        <p:spPr bwMode="auto">
          <a:xfrm>
            <a:off x="195793" y="1699356"/>
            <a:ext cx="10972800" cy="377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342882" indent="-342882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000" b="1" ker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742913" lvl="1" indent="-285737" fontAlgn="base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ker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1142943" indent="-228589" fontAlgn="base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fontAlgn="base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6pPr>
            <a:lvl7pPr marL="2971652" indent="-228589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7pPr>
            <a:lvl8pPr marL="3428829" indent="-228589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8pPr>
            <a:lvl9pPr marL="3886007" indent="-228589" fontAlgn="base">
              <a:spcBef>
                <a:spcPct val="20000"/>
              </a:spcBef>
              <a:spcAft>
                <a:spcPct val="0"/>
              </a:spcAft>
              <a:buChar char="»"/>
              <a:defRPr kumimoji="1" sz="2000"/>
            </a:lvl9pPr>
          </a:lstStyle>
          <a:p>
            <a:r>
              <a:rPr lang="en-US" altLang="zh-CN" dirty="0"/>
              <a:t>What Hummingbird does</a:t>
            </a:r>
          </a:p>
          <a:p>
            <a:pPr lvl="1"/>
            <a:r>
              <a:rPr lang="en-US" altLang="zh-CN" dirty="0"/>
              <a:t>Converts best-effort kernels into split kernels </a:t>
            </a:r>
          </a:p>
          <a:p>
            <a:pPr lvl="1"/>
            <a:r>
              <a:rPr lang="en-US" altLang="zh-CN" dirty="0"/>
              <a:t>Harvests bubbles during execution </a:t>
            </a:r>
          </a:p>
          <a:p>
            <a:pPr lvl="1"/>
            <a:r>
              <a:rPr lang="en-US" altLang="zh-CN" dirty="0"/>
              <a:t>Uses hierarchical memory offloading </a:t>
            </a:r>
          </a:p>
          <a:p>
            <a:pPr lvl="1"/>
            <a:r>
              <a:rPr lang="en-US" altLang="zh-CN" dirty="0"/>
              <a:t>Forces low-priority work to yield within microseconds </a:t>
            </a:r>
          </a:p>
          <a:p>
            <a:r>
              <a:rPr lang="en-US" altLang="zh-CN" dirty="0"/>
              <a:t>What problem it solves</a:t>
            </a:r>
          </a:p>
          <a:p>
            <a:pPr lvl="1"/>
            <a:r>
              <a:rPr lang="en-US" altLang="zh-CN" dirty="0"/>
              <a:t>Millisecond-scale preemption delay </a:t>
            </a:r>
          </a:p>
          <a:p>
            <a:pPr lvl="1"/>
            <a:r>
              <a:rPr lang="en-US" altLang="zh-CN" dirty="0"/>
              <a:t>Poor SLO attainment for urgent requests </a:t>
            </a:r>
          </a:p>
          <a:p>
            <a:pPr lvl="1"/>
            <a:r>
              <a:rPr lang="en-US" altLang="zh-CN" dirty="0"/>
              <a:t>Throughput loss under exclusive execution</a:t>
            </a:r>
          </a:p>
          <a:p>
            <a:r>
              <a:rPr lang="en" altLang="zh-CN" dirty="0"/>
              <a:t>Limitation</a:t>
            </a:r>
          </a:p>
          <a:p>
            <a:pPr lvl="1"/>
            <a:r>
              <a:rPr lang="en" altLang="zh-CN" dirty="0"/>
              <a:t>focuses on urgent-task protection, not overall cluster admission</a:t>
            </a:r>
            <a:endParaRPr lang="en-US" altLang="zh-CN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CC8E546-8176-54BD-BBEA-DBDF31C7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533" y="1721177"/>
            <a:ext cx="3962400" cy="3454400"/>
          </a:xfrm>
          <a:prstGeom prst="rect">
            <a:avLst/>
          </a:prstGeom>
        </p:spPr>
      </p:pic>
      <p:sp>
        <p:nvSpPr>
          <p:cNvPr id="15" name="TextBox 5">
            <a:extLst>
              <a:ext uri="{FF2B5EF4-FFF2-40B4-BE49-F238E27FC236}">
                <a16:creationId xmlns:a16="http://schemas.microsoft.com/office/drawing/2014/main" id="{1D0935B2-F7B0-8E9B-7034-EA6CB436EA26}"/>
              </a:ext>
            </a:extLst>
          </p:cNvPr>
          <p:cNvSpPr txBox="1"/>
          <p:nvPr/>
        </p:nvSpPr>
        <p:spPr>
          <a:xfrm>
            <a:off x="6659259" y="5160161"/>
            <a:ext cx="4674023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Fig.6: Design overview of Hummingbird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96714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B3BF-C4A2-6C40-06C8-223231D2D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9CA986-2910-E7E9-DFA2-21F7B62B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255315-85B0-1622-E01A-4ACCD64F9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609" y="1648618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ED7737A5-533F-3986-C462-BB73AF4569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195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0D517-3ED1-830C-E189-65112C33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8762-CACA-5173-FA6B-458AFB26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KRYPTON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397520A-78F0-08CC-139E-D724C10A4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D2D22D-7965-9EC7-40D5-9089CDC07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064" y="1175523"/>
            <a:ext cx="6066669" cy="1838032"/>
          </a:xfrm>
        </p:spPr>
        <p:txBody>
          <a:bodyPr/>
          <a:lstStyle/>
          <a:p>
            <a:r>
              <a:rPr lang="en-US" altLang="zh-CN" sz="2400" b="1" dirty="0">
                <a:solidFill>
                  <a:srgbClr val="14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results</a:t>
            </a:r>
            <a:r>
              <a:rPr lang="en-US" sz="2400" dirty="0"/>
              <a:t>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required GPU fleet by 32.1%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throughput relative error with feedback: 0.9%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latency QoS violation rate: 1.23%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in production deployment for over 1 year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2BE3E-A567-5511-805B-897CF52125A3}"/>
              </a:ext>
            </a:extLst>
          </p:cNvPr>
          <p:cNvSpPr txBox="1"/>
          <p:nvPr/>
        </p:nvSpPr>
        <p:spPr>
          <a:xfrm>
            <a:off x="6430643" y="5378184"/>
            <a:ext cx="5096933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Fig.8: </a:t>
            </a:r>
            <a:r>
              <a:rPr lang="en" altLang="zh-CN" sz="1200" i="1" dirty="0"/>
              <a:t>Comparison of different methods in promising the performance target of ResNet50 training applications.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AF0591-7375-8995-88DF-602861E0EF94}"/>
              </a:ext>
            </a:extLst>
          </p:cNvPr>
          <p:cNvSpPr txBox="1"/>
          <p:nvPr/>
        </p:nvSpPr>
        <p:spPr>
          <a:xfrm>
            <a:off x="412750" y="5378184"/>
            <a:ext cx="5031317" cy="46166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Fig.7: </a:t>
            </a:r>
            <a:r>
              <a:rPr lang="en" altLang="zh-CN" sz="1200" i="1" dirty="0"/>
              <a:t>Comparison between KRYPTON and other methods in reducing GPU number and promising performance.</a:t>
            </a:r>
            <a:endParaRPr lang="en-US" sz="1200" i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78A65B8-2338-F751-7651-5AC9709DD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34" y="3352462"/>
            <a:ext cx="5031317" cy="18989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E0083F8-E2AE-E9F2-1CA7-EE7E32C49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643" y="3352462"/>
            <a:ext cx="4780357" cy="201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17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19BC-37D5-EDDA-99FD-67CD6A48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833A-14A5-012B-795D-D9B15530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83B53D5-2C51-8DEE-6BDD-01DF5E4E0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812347-5145-9A5B-9B43-6B98CFB1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11" y="1616868"/>
            <a:ext cx="5257801" cy="3624263"/>
          </a:xfrm>
        </p:spPr>
        <p:txBody>
          <a:bodyPr/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Inference-only multitenancy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13× lower P99 latency vs. MPS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4× lower P99 latency vs. best prior baseline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1.3× aggregate goodput improvement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inference-training multitenancy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4.7× lower P99 latency vs. MPS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1.35× aggregate throughput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Right-sizing and power management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26% average GPU capacity savings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26% average GPU energy savings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C1C89B1-37FE-7A5C-7643-5BBE5BEFE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211" y="1365370"/>
            <a:ext cx="6096000" cy="1101686"/>
          </a:xfrm>
          <a:prstGeom prst="rect">
            <a:avLst/>
          </a:prstGeom>
        </p:spPr>
      </p:pic>
      <p:sp>
        <p:nvSpPr>
          <p:cNvPr id="14" name="TextBox 5">
            <a:extLst>
              <a:ext uri="{FF2B5EF4-FFF2-40B4-BE49-F238E27FC236}">
                <a16:creationId xmlns:a16="http://schemas.microsoft.com/office/drawing/2014/main" id="{B20F0812-E92A-E7FF-F63A-32F3CD8127CF}"/>
              </a:ext>
            </a:extLst>
          </p:cNvPr>
          <p:cNvSpPr txBox="1"/>
          <p:nvPr/>
        </p:nvSpPr>
        <p:spPr>
          <a:xfrm>
            <a:off x="6318557" y="2467056"/>
            <a:ext cx="4999341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Fig.9: </a:t>
            </a:r>
            <a:r>
              <a:rPr lang="en" altLang="zh-CN" sz="1200" i="1" dirty="0"/>
              <a:t>Inference stacking multitenancy: HP A tail latencies by model.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F950688-D795-241C-DA64-B75F7CDB3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211" y="2864080"/>
            <a:ext cx="6237814" cy="137478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858061D-A623-EB9F-3567-86ABA8DC2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211" y="4575490"/>
            <a:ext cx="2819401" cy="1051415"/>
          </a:xfrm>
          <a:prstGeom prst="rect">
            <a:avLst/>
          </a:prstGeom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C4B91689-D0E2-09C4-1FED-11B8EFBB2E23}"/>
              </a:ext>
            </a:extLst>
          </p:cNvPr>
          <p:cNvSpPr txBox="1"/>
          <p:nvPr/>
        </p:nvSpPr>
        <p:spPr>
          <a:xfrm>
            <a:off x="4978595" y="5593055"/>
            <a:ext cx="3712631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Fig.11 </a:t>
            </a:r>
            <a:r>
              <a:rPr lang="en" altLang="zh-CN" sz="1200" i="1" dirty="0"/>
              <a:t>Hardware right-sizing GPU capacity savings.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78D4535-D4A8-B419-0B2E-BFF9D20D49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1697" y="4617623"/>
            <a:ext cx="2833162" cy="930799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060D12A3-2CED-199F-8228-3E23A2FF18AD}"/>
              </a:ext>
            </a:extLst>
          </p:cNvPr>
          <p:cNvSpPr txBox="1"/>
          <p:nvPr/>
        </p:nvSpPr>
        <p:spPr>
          <a:xfrm>
            <a:off x="5535279" y="4298491"/>
            <a:ext cx="5909733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Fig.10: </a:t>
            </a:r>
            <a:r>
              <a:rPr lang="en" altLang="zh-CN" sz="1200" i="1" dirty="0"/>
              <a:t>Hybrid multitenancy: (a) 𝑃99 service latency and (b) aggregate throughput.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91A54FE2-6F16-55C1-AC09-14DE150F6044}"/>
              </a:ext>
            </a:extLst>
          </p:cNvPr>
          <p:cNvSpPr txBox="1"/>
          <p:nvPr/>
        </p:nvSpPr>
        <p:spPr>
          <a:xfrm>
            <a:off x="8631962" y="5590555"/>
            <a:ext cx="3712631" cy="27699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Fig.12 </a:t>
            </a:r>
            <a:r>
              <a:rPr lang="en" altLang="zh-CN" sz="1200" i="1" dirty="0"/>
              <a:t>Power management GPU energy savings.</a:t>
            </a:r>
          </a:p>
        </p:txBody>
      </p:sp>
    </p:spTree>
    <p:extLst>
      <p:ext uri="{BB962C8B-B14F-4D97-AF65-F5344CB8AC3E}">
        <p14:creationId xmlns:p14="http://schemas.microsoft.com/office/powerpoint/2010/main" val="1901701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13A5-0793-05A3-58CB-FF0CB07D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BC6C-14A4-B46A-8DDA-F6095CE82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864246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Hummingbird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FFC1EC0-BEA4-F22C-3F9E-9CAC66034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AF6A8-9682-1DAF-0FD0-797E5F4C99EC}"/>
              </a:ext>
            </a:extLst>
          </p:cNvPr>
          <p:cNvSpPr txBox="1"/>
          <p:nvPr/>
        </p:nvSpPr>
        <p:spPr>
          <a:xfrm>
            <a:off x="6032987" y="5055473"/>
            <a:ext cx="5442408" cy="1200329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just"/>
            <a:r>
              <a:rPr lang="en-US" sz="1200" i="1" dirty="0"/>
              <a:t>Fig.14: </a:t>
            </a:r>
            <a:r>
              <a:rPr lang="en" altLang="zh-CN" sz="1200" i="1" dirty="0"/>
              <a:t>Evaluation applications. SM active ratio and bandwidth utilization indicate the average SM activity and bandwidth usage during a request (inference) or an epoch (training). Memory usage represents the task’s required ratio to total GPU memory. Yellow rows denote high-priority tasks, and grey rows denote low-priority tasks.</a:t>
            </a:r>
          </a:p>
          <a:p>
            <a:pPr algn="just"/>
            <a:endParaRPr lang="en-US" sz="12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86920-315D-6B73-4E34-7915284FF52B}"/>
              </a:ext>
            </a:extLst>
          </p:cNvPr>
          <p:cNvSpPr txBox="1"/>
          <p:nvPr/>
        </p:nvSpPr>
        <p:spPr>
          <a:xfrm>
            <a:off x="6880711" y="3341303"/>
            <a:ext cx="3746960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sz="1200" i="1" dirty="0"/>
              <a:t>Fig.13: </a:t>
            </a:r>
            <a:r>
              <a:rPr lang="en" altLang="zh-CN" sz="1200" i="1" dirty="0"/>
              <a:t>(a) SLO attainment of high-priority tasks; (b)</a:t>
            </a:r>
          </a:p>
          <a:p>
            <a:r>
              <a:rPr lang="en" altLang="zh-CN" sz="1200" i="1" dirty="0"/>
              <a:t>Throughput of low-priority tasks. The results are normalized to executing low-priority tasks exclusively.</a:t>
            </a:r>
          </a:p>
          <a:p>
            <a:endParaRPr lang="en-US" sz="1200" i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CD9D200-D2AB-0771-D604-6ECE34ED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211" y="1616868"/>
            <a:ext cx="5257801" cy="3624263"/>
          </a:xfrm>
        </p:spPr>
        <p:txBody>
          <a:bodyPr/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results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9.7× higher HP-task SLO attainment over spatial-sharing baselines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3.5× higher HP-task SLO attainment over temporal-sharing baselines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99% SLO attainment across scenarios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2.4× higher low-priority throughput than REEF overall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preemption delay capped at about 400 µs 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A3A5331-8D45-6009-6793-66FD21077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189" y="3918579"/>
            <a:ext cx="5540004" cy="113689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438C6A6-B91C-661E-3F34-96F41A7B0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66" y="1129730"/>
            <a:ext cx="3203542" cy="217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41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11BF-4CBF-41DC-5A6B-0D9206F2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0264B-C090-FD78-21B5-A676F19F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FCE236-7E29-B7C8-BF84-1D4F22A94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609" y="1648618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79B84C5-F590-B2E9-ECA7-BC1852CD5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649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06BB-DFE6-0C9F-0328-30717488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48B6-0292-88D3-DFB7-4E154686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and Future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45E3-5F68-A7FE-215C-D6541A6C0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1125538"/>
            <a:ext cx="10248900" cy="4957762"/>
          </a:xfrm>
        </p:spPr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generative workloads shift GPU scheduling toward tail-latency control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pPr lvl="1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KRYPTON: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entrance control via isolated virtual GPU construction</a:t>
            </a:r>
          </a:p>
          <a:p>
            <a:pPr lvl="1"/>
            <a:r>
              <a:rPr lang="en-US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LithOS</a:t>
            </a:r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abstraction via TPC scheduling and kernel atoms </a:t>
            </a:r>
          </a:p>
          <a:p>
            <a:pPr lvl="1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Hummingbird: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preemption via microsecond-scale yielding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scheduling for modern generative AI is a layered systems problem</a:t>
            </a:r>
          </a:p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implementation across all three layers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Cross-layer policy optimization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heterogeneous GPU clusters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7FA8891-446F-7738-2ACA-E5B27FC62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7BE7F-C0C9-811D-F4E1-8DEDDF2D1254}"/>
              </a:ext>
            </a:extLst>
          </p:cNvPr>
          <p:cNvSpPr txBox="1"/>
          <p:nvPr/>
        </p:nvSpPr>
        <p:spPr>
          <a:xfrm>
            <a:off x="13297546" y="1442656"/>
            <a:ext cx="184731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endParaRPr lang="en-CN" dirty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53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E20168-B24F-B431-164F-A81C7244E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385075"/>
            <a:ext cx="10363200" cy="1932282"/>
          </a:xfrm>
        </p:spPr>
        <p:txBody>
          <a:bodyPr/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F2B39-9BEE-3544-9548-3B39B9C29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96903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DE84AF-D66D-324F-A391-865593F42443}">
  <we:reference id="wa200005566" version="3.0.0.5" store="zh-CN" storeType="OMEX"/>
  <we:alternateReferences>
    <we:reference id="wa200005566" version="3.0.0.5" store="wa200005566" storeType="OMEX"/>
  </we:alternateReferences>
  <we:properties>
    <we:property name="theme" value="{&quot;name&quot;:&quot;Grey&quot;,&quot;color&quot;:&quot;#3F3F3F&quot;,&quot;colorPalette&quot;:[&quot;171717&quot;,&quot;FFFFFF&quot;,&quot;171717&quot;,&quot;FFFFFF&quot;,&quot;3F3F3F&quot;,&quot;8F8F8F&quot;,&quot;B1B1B1&quot;,&quot;C5C5C5&quot;,&quot;DCDCDC&quot;,&quot;E7E7E7&quot;,&quot;F8F8F8&quot;,&quot;171717&quot;],&quot;previewImages&quot;:[&quot;https://cpp.appsdowonders.com/assets/SlideTitle-houston.webp&quot;,&quot;https://cpp.appsdowonders.com/assets/SlideAgenda-houston.webp&quot;,&quot;https://cpp.appsdowonders.com/assets/SlideTextbox1V1-houston.webp&quot;,&quot;https://cpp.appsdowonders.com/assets/SlideTextbox3V1-houston.webp&quot;,&quot;https://cpp.appsdowonders.com/assets/SlideTable-houston.webp&quot;,&quot;https://cpp.appsdowonders.com/assets/SlideTimelineV1-houston.webp&quot;],&quot;isDefault&quot;:true,&quot;previewAnimation&quot;:&quot;https://cpp.appsdowonders.com/assets/houston.gif&quot;,&quot;index&quot;:0,&quot;template&quot;:&quot;Houston&quot;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4052</Words>
  <Application>Microsoft Macintosh PowerPoint</Application>
  <PresentationFormat>宽屏</PresentationFormat>
  <Paragraphs>349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楷体</vt:lpstr>
      <vt:lpstr>標楷體</vt:lpstr>
      <vt:lpstr>MS Sans Serif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A Layered GPU Scheduling Architecture for Iterative Generative Workloads</vt:lpstr>
      <vt:lpstr>Outline</vt:lpstr>
      <vt:lpstr>Outline</vt:lpstr>
      <vt:lpstr>Introduction</vt:lpstr>
      <vt:lpstr>Introduction</vt:lpstr>
      <vt:lpstr>Introduction</vt:lpstr>
      <vt:lpstr>Outline</vt:lpstr>
      <vt:lpstr>Related Work</vt:lpstr>
      <vt:lpstr>Outline</vt:lpstr>
      <vt:lpstr>Preliminaries</vt:lpstr>
      <vt:lpstr>Preliminaries</vt:lpstr>
      <vt:lpstr>Preliminaries</vt:lpstr>
      <vt:lpstr>Outline</vt:lpstr>
      <vt:lpstr>Proposed Methods - Overview</vt:lpstr>
      <vt:lpstr>Proposed Methods - KRYPTON</vt:lpstr>
      <vt:lpstr>Proposed Methods - LithOS </vt:lpstr>
      <vt:lpstr>Proposed Methods - Hummingbird  </vt:lpstr>
      <vt:lpstr>Outline</vt:lpstr>
      <vt:lpstr>Performance Evaluation - KRYPTON</vt:lpstr>
      <vt:lpstr>Performance Evaluation - LithOS</vt:lpstr>
      <vt:lpstr>Performance Evaluation - Hummingbird</vt:lpstr>
      <vt:lpstr>Outline</vt:lpstr>
      <vt:lpstr>Conclusions and Future Work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钦科 倪</cp:lastModifiedBy>
  <cp:revision>73</cp:revision>
  <dcterms:created xsi:type="dcterms:W3CDTF">2020-07-15T11:13:39Z</dcterms:created>
  <dcterms:modified xsi:type="dcterms:W3CDTF">2026-03-18T14:30:13Z</dcterms:modified>
</cp:coreProperties>
</file>