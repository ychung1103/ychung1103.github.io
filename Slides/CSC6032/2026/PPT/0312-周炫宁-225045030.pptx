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6"/>
  </p:notesMasterIdLst>
  <p:sldIdLst>
    <p:sldId id="256" r:id="rId3"/>
    <p:sldId id="529" r:id="rId4"/>
    <p:sldId id="516" r:id="rId5"/>
    <p:sldId id="569" r:id="rId6"/>
    <p:sldId id="619" r:id="rId7"/>
    <p:sldId id="647" r:id="rId8"/>
    <p:sldId id="621" r:id="rId9"/>
    <p:sldId id="620" r:id="rId10"/>
    <p:sldId id="623" r:id="rId11"/>
    <p:sldId id="648" r:id="rId12"/>
    <p:sldId id="624" r:id="rId13"/>
    <p:sldId id="649" r:id="rId14"/>
    <p:sldId id="625" r:id="rId15"/>
    <p:sldId id="626" r:id="rId16"/>
    <p:sldId id="627" r:id="rId17"/>
    <p:sldId id="628" r:id="rId18"/>
    <p:sldId id="629" r:id="rId19"/>
    <p:sldId id="631" r:id="rId20"/>
    <p:sldId id="632" r:id="rId21"/>
    <p:sldId id="633" r:id="rId22"/>
    <p:sldId id="634" r:id="rId23"/>
    <p:sldId id="635" r:id="rId24"/>
    <p:sldId id="637" r:id="rId25"/>
    <p:sldId id="636" r:id="rId26"/>
    <p:sldId id="638" r:id="rId27"/>
    <p:sldId id="639" r:id="rId28"/>
    <p:sldId id="640" r:id="rId29"/>
    <p:sldId id="641" r:id="rId30"/>
    <p:sldId id="642" r:id="rId31"/>
    <p:sldId id="650" r:id="rId32"/>
    <p:sldId id="644" r:id="rId33"/>
    <p:sldId id="645" r:id="rId34"/>
    <p:sldId id="646" r:id="rId35"/>
  </p:sldIdLst>
  <p:sldSz cx="12192000" cy="6858000"/>
  <p:notesSz cx="6858000" cy="9144000"/>
  <p:custDataLst>
    <p:tags r:id="rId37"/>
  </p:custData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 autoAdjust="0"/>
    <p:restoredTop sz="93438" autoAdjust="0"/>
  </p:normalViewPr>
  <p:slideViewPr>
    <p:cSldViewPr snapToGrid="0">
      <p:cViewPr varScale="1">
        <p:scale>
          <a:sx n="59" d="100"/>
          <a:sy n="59" d="100"/>
        </p:scale>
        <p:origin x="600" y="5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5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704020202020204" pitchFamily="34" charset="0"/>
                <a:ea typeface="PMingLiU" pitchFamily="18" charset="-120"/>
                <a:cs typeface="Arial" panose="020B070402020202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704020202020204" pitchFamily="34" charset="0"/>
              <a:ea typeface="PMingLiU" pitchFamily="18" charset="-120"/>
              <a:cs typeface="Arial" panose="020B07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7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itchFamily="34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704020202020204" pitchFamily="34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10" y="1328057"/>
            <a:ext cx="11396980" cy="2252073"/>
          </a:xfrm>
        </p:spPr>
        <p:txBody>
          <a:bodyPr/>
          <a:lstStyle/>
          <a:p>
            <a:pPr algn="ctr"/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From IO-Awareness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Hardware Specialization</a:t>
            </a:r>
            <a:b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2026.03.12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CN" sz="3200" b="1" dirty="0"/>
              <a:t>Xuanning Zhou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5140" y="1242694"/>
            <a:ext cx="11214735" cy="4675505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﻿FlashAttention: Fast and Memory-Efficient Exact Attention with IO-Awareness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FlashAttention-2: Faster Attention with Better Parallelism and Work Partitioning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FlashAttention-3: Fast and Accurate Attention with Asynchrony and Low-precision</a:t>
            </a:r>
          </a:p>
          <a:p>
            <a:pPr lvl="0"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pPr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Introduction (1/3)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575" y="1196022"/>
            <a:ext cx="7341235" cy="4465955"/>
          </a:xfrm>
        </p:spPr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have become a central paradigm in AI, and their rapid scaling has made efficiency a fundamental concern.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larger models, longer context has become another major direction for improving LLM capability.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Transformer is the dominant architecture behind modern LLMs, and self-attention is its defining mechanism.</a:t>
            </a:r>
          </a:p>
          <a:p>
            <a:pPr lvl="1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00" y="1311275"/>
            <a:ext cx="3093085" cy="4054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Introduction (2/3)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71270"/>
            <a:ext cx="10435590" cy="384683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main obstacle to long-context Transformers is the quadratic cost of self-attention.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attention score matrix grows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sequence length.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rapidly increasing runtime and memory cost for long contexts.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sequence length grows, self-attention becomes the dominant bottleneck in Transformer systems.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2238375"/>
            <a:ext cx="4193540" cy="1062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Introduction (3/3)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71270"/>
            <a:ext cx="10435590" cy="4824730"/>
          </a:xfrm>
        </p:spPr>
        <p:txBody>
          <a:bodyPr/>
          <a:lstStyle/>
          <a:p>
            <a:pPr lvl="0" algn="l"/>
            <a:endParaRPr lang="en-US" sz="2400" b="1" i="1" dirty="0"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lvl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main question is:</a:t>
            </a:r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en-US" sz="2400" b="1" i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How can we make exact attention faster and more memory-efficient by redesigning it for modern GPUs?</a:t>
            </a:r>
            <a:endParaRPr lang="en-US" sz="2055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55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FA-1: Reduce memory traffic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FA-2: Improve parallelism and partitioning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FA-3: Exploit Hopper asynchrony and FP8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5140" y="1242695"/>
            <a:ext cx="11214735" cy="445135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﻿FlashAttention: Fast and Memory-Efficient Exact Attention with IO-Awareness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FlashAttention-2: Faster Attention with Better Parallelism and Work Partitioning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FlashAttention-3: Fast and Accurate Attention with Asynchrony and Low-precision</a:t>
            </a:r>
          </a:p>
          <a:p>
            <a:pPr lvl="0"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pPr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Background (1/3)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/>
            </p:nvSpPr>
            <p:spPr>
              <a:xfrm>
                <a:off x="1084942" y="1105534"/>
                <a:ext cx="9925958" cy="49015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70402020202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5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lvl="0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What is being computed?</a:t>
                </a:r>
              </a:p>
              <a:p>
                <a:pPr lvl="1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Standard attention</a:t>
                </a: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𝑄𝐾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DejaVu Math TeX Gyre" panose="02000503000000000000" charset="0"/>
                            <a:sym typeface="+mn-ea"/>
                          </a:rPr>
                          <m:t>𝑇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marL="1371600" lvl="2" indent="-457200"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Apply mask / softmax</a:t>
                </a:r>
              </a:p>
              <a:p>
                <a:pPr marL="1371600" lvl="2" indent="-457200"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Multiply by 𝑉</a:t>
                </a:r>
              </a:p>
              <a:p>
                <a:pPr marL="1371600" lvl="2" indent="-457200"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Intermediate matrices are often materialized between stages</a:t>
                </a:r>
              </a:p>
              <a:p>
                <a:pPr lvl="1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Why it becomes expensive at long sequence length?</a:t>
                </a:r>
              </a:p>
              <a:p>
                <a:pPr lvl="2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Score matrix size grows as 𝑁  ×𝑁 </a:t>
                </a:r>
              </a:p>
              <a:p>
                <a:pPr lvl="2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Runtime grows rapidly with sequence length</a:t>
                </a:r>
              </a:p>
              <a:p>
                <a:pPr lvl="2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Memory footprint also grows rapidly</a:t>
                </a:r>
              </a:p>
              <a:p>
                <a:pPr lvl="2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Attention becomes a major bottleneck in long-context Transformers</a:t>
                </a:r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42" y="1105534"/>
                <a:ext cx="9925958" cy="4901565"/>
              </a:xfrm>
              <a:prstGeom prst="rect">
                <a:avLst/>
              </a:prstGeom>
              <a:blipFill>
                <a:blip r:embed="rId3"/>
                <a:stretch>
                  <a:fillRect l="-491" t="-995" b="-1741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Background (2/3)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89850" y="2062480"/>
            <a:ext cx="4182745" cy="3374390"/>
          </a:xfrm>
          <a:prstGeom prst="rect">
            <a:avLst/>
          </a:prstGeom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1271270"/>
            <a:ext cx="7160260" cy="482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Why is it hard in practice on GPU?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 math to staged implementation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practice, attention is executed as multiple stages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Score computation, softmax, and value aggregation are often separated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Large intermediate tensors may be materialized between stages</a:t>
            </a:r>
          </a:p>
          <a:p>
            <a:pPr lvl="2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GPU memory hierarchy: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HBM / global memory: large, slower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 / shared memory / registers: smaller, faster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 Cores / compute units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matching computation to the memory hierarchy</a:t>
            </a:r>
          </a:p>
          <a:p>
            <a:pPr marL="4572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Background (3/3)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1271270"/>
            <a:ext cx="10100945" cy="4551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Two ideas that make FlashAttention possible</a:t>
            </a:r>
          </a:p>
          <a:p>
            <a:pPr lvl="0"/>
            <a:endParaRPr lang="en-US" sz="2800" b="1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Online Softmax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Softmax can be updated incrementally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 running max and normalization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Enables exact blockwise attention</a:t>
            </a:r>
          </a:p>
          <a:p>
            <a:pPr lvl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Recomputation</a:t>
            </a: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Recomputing some quantities can be cheaper than storing them</a:t>
            </a: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Reduces memory pressure</a:t>
            </a: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Especially useful in backward pass</a:t>
            </a:r>
          </a:p>
          <a:p>
            <a:pPr lvl="1" indent="-342900" algn="l">
              <a:buFont typeface="Wingdings" panose="05000000000000000000" pitchFamily="2" charset="2"/>
              <a:buChar char="l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endParaRPr lang="en-US" sz="2800" b="1" dirty="0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2011680" y="2807970"/>
            <a:ext cx="6390640" cy="2554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5140" y="1242695"/>
            <a:ext cx="11214735" cy="445135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(3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﻿FlashAttention: Fast and Memory-Efficient Exact Attention with IO-Awareness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FlashAttention-2: Faster Attention with Better Parallelism and Work Partitioning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FlashAttention-3: Fast and Accurate Attention with Asynchrony and Low-precision</a:t>
            </a:r>
          </a:p>
          <a:p>
            <a:pPr lvl="0"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pPr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Related Work</a:t>
            </a:r>
            <a:endParaRPr lang="en-US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1271270"/>
            <a:ext cx="10100945" cy="4551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Approximate attention before FlashAttention</a:t>
            </a:r>
          </a:p>
          <a:p>
            <a:pPr lvl="1" algn="l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attention</a:t>
            </a:r>
          </a:p>
          <a:p>
            <a:pPr lvl="1" algn="l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Low-rank attention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/ linear attention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Block-sparse methods</a:t>
            </a:r>
          </a:p>
          <a:p>
            <a:pPr marL="457200" lvl="1" indent="0">
              <a:buNone/>
            </a:pPr>
            <a:endParaRPr lang="en-US" sz="239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Strengths and limits of approximate attention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Lower asymptotic complexity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But may alter model behavior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Practical speedup is not always guaranteed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efficiency still matters</a:t>
            </a:r>
          </a:p>
          <a:p>
            <a:pPr lvl="1"/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2011680" y="2807970"/>
            <a:ext cx="6390640" cy="2554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5140" y="1242695"/>
            <a:ext cx="11214735" cy="445135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 (2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﻿FlashAttention: Fast and Memory-Efficient Exact Attention with IO-Awareness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FlashAttention-2: Faster Attention with Better Parallelism and Work Partitioning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FlashAttention-3: Fast and Accurate Attention with Asynchrony and Low-precision</a:t>
            </a:r>
          </a:p>
          <a:p>
            <a:pPr lvl="0"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pPr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Methods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1351280"/>
            <a:ext cx="10100945" cy="4551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Positioning FlashAttention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attention: exact, but not hardware-aware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methods: lower complexity, but change the computation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FlashAttention: exact attention, redesigned for hardware efficiency</a:t>
            </a:r>
          </a:p>
          <a:p>
            <a:pPr marL="0" lvl="0" indent="0">
              <a:buNone/>
            </a:pPr>
            <a:endParaRPr lang="en-US" sz="2800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0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Evolution of the FlashAttention series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FA-1: IO-aware exact attention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FA-2: better parallelism and work partitioning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FA-3: asynchrony and low precision on Hopper</a:t>
            </a: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2011680" y="2807970"/>
            <a:ext cx="6390640" cy="2554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29" y="144466"/>
            <a:ext cx="10613571" cy="692151"/>
          </a:xfrm>
        </p:spPr>
        <p:txBody>
          <a:bodyPr/>
          <a:lstStyle/>
          <a:p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FA-1: IO-Aware </a:t>
            </a:r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xact </a:t>
            </a:r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ttention (1/4)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1351280"/>
            <a:ext cx="7792720" cy="4551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Q1. In Standard Attention, Is the Real Bottleneck Computation or IO?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Standard attention is exact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Many efficient-attention methods reduce compute complexity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But lower compute complexity does not necessarily yield wall-clock speedup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FA-1 argues that the missing principle is IO-awareness</a:t>
            </a:r>
          </a:p>
          <a:p>
            <a:pPr lvl="1"/>
            <a:endParaRPr lang="en-US" sz="205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/>
            <a:r>
              <a:rPr lang="en-US" sz="23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Motivation: Standard Attention Is Memory-Bound</a:t>
            </a:r>
          </a:p>
          <a:p>
            <a:pPr lvl="1"/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Standard attention materializes large intermediate matrices</a:t>
            </a:r>
          </a:p>
          <a:p>
            <a:pPr lvl="1"/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These tensors are repeatedly moved between HBM and SRAM</a:t>
            </a:r>
          </a:p>
          <a:p>
            <a:pPr lvl="1"/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main inefficiency is memory traffic, not only arithmetic</a:t>
            </a: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2011680" y="2807970"/>
            <a:ext cx="6390640" cy="2554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320" y="1767205"/>
            <a:ext cx="3440430" cy="3827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890558" y="1183004"/>
            <a:ext cx="6462742" cy="48748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</a:t>
            </a:r>
          </a:p>
          <a:p>
            <a:pPr lvl="1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Make Exact Attention IO-Aware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FlashAttention is still exact attention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does not approximate or sparsify attention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uses tiling to reduce HBM reads/writes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key design target is IO reduction.</a:t>
            </a:r>
          </a:p>
          <a:p>
            <a:pPr lvl="1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Tiled Attention on SRAM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Load blocks of K and V into SRAM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Stream blocks of Q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Compute blockwise attention on-chip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Accumulate outputs without materializing the full attention matrix in HBM</a:t>
            </a: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2011680" y="2807970"/>
            <a:ext cx="6390640" cy="2554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357" y="1258071"/>
            <a:ext cx="4188460" cy="426212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/>
        </p:nvSpPr>
        <p:spPr>
          <a:xfrm>
            <a:off x="1049867" y="154302"/>
            <a:ext cx="1072242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FA-1: IO-Aware </a:t>
            </a:r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xact </a:t>
            </a:r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ttention (2/4)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1" y="1048385"/>
            <a:ext cx="9943284" cy="47612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8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Analysis</a:t>
            </a:r>
          </a:p>
          <a:p>
            <a:pPr lvl="1"/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Why the Result Is Still Exact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Every query block still interacts with all key blocks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Exact normalization is maintained through online softmax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Blockwise scheduling changes execution order, not semantics.</a:t>
            </a:r>
          </a:p>
          <a:p>
            <a:pPr lvl="1"/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Backward Pass: Reduce IO Further Through Recomputation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Avoid storing large intermediates for backward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Recompute local quantities when needed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Trade extra arithmetic for lower memory traffic and memory usage.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FA-1: IO-Aware Exact Attention (3/4)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739775" y="1149985"/>
            <a:ext cx="10722428" cy="29648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Experiments</a:t>
            </a:r>
          </a:p>
          <a:p>
            <a:pPr lvl="1"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FlashAttention does not mainly win by reducing arithmetic.</a:t>
            </a:r>
          </a:p>
          <a:p>
            <a:pPr lvl="1"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Its FLOPs are actually slightly higher than standard attention.</a:t>
            </a:r>
          </a:p>
          <a:p>
            <a:pPr lvl="1"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major difference is HBM read/write, which drops from 40.3 GB to 4.4 GB.</a:t>
            </a:r>
          </a:p>
          <a:p>
            <a:pPr lvl="1"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 a result, runtime drops from 41.7 ms to 7.3 ms.</a:t>
            </a:r>
          </a:p>
          <a:p>
            <a:pPr lvl="1"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supports the paper’s central claim that standard attention is memory-bound, and that IO-awareness is the key design principle.</a:t>
            </a:r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2011680" y="2807970"/>
            <a:ext cx="6390640" cy="2554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</a:pP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572" y="4396106"/>
            <a:ext cx="6166485" cy="154749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FA-1: IO-</a:t>
            </a:r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ware Exact </a:t>
            </a:r>
            <a:r>
              <a:rPr lang="en-US" altLang="zh-CN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4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+mn-ea"/>
              </a:rPr>
              <a:t>ttention (4/4)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1153160"/>
            <a:ext cx="10722610" cy="20853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Q2. After Reducing IO, Why Is Attention Still Far from GEMM Efficiency?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FlashAttention-1 significantly reduces memory traffic.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However, it still reaches only 25–40% of theoretical maximum FLOPs/s.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the next bottleneck is no longer primarily IO.</a:t>
            </a:r>
          </a:p>
          <a:p>
            <a:pPr lvl="1"/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new question is:  </a:t>
            </a:r>
            <a:r>
              <a:rPr lang="en-US" sz="2055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How do we improve hardware utilization?</a:t>
            </a:r>
          </a:p>
          <a:p>
            <a:pPr marL="0" lvl="0" indent="0">
              <a:buNone/>
            </a:pPr>
            <a:endParaRPr lang="en-US" sz="2055" b="1" i="1" dirty="0"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921" y="3429000"/>
            <a:ext cx="6408157" cy="267335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FA-2: Better Parallelism and Work Partitioning (1/6)</a:t>
            </a:r>
            <a:endParaRPr lang="en-US" altLang="zh-CN" sz="3600" dirty="0">
              <a:latin typeface="Times New Roman Bold" panose="02020603050405020304" charset="0"/>
              <a:ea typeface="Calibri" pitchFamily="3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257299" y="1153160"/>
            <a:ext cx="9969681" cy="4434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Motivation - The Remaining Bottleneck Is Work Partitioning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inefficiency is due to suboptimal work partitioning between: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Thread blocks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Warps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causes: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Low occupancy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Unnecessary shared-memory reads/writes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the design objective shifts from IO reduction to better parallelism and scheduling.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FA-2: Better Parallelism and Work Partitioning (2/6)</a:t>
            </a:r>
            <a:endParaRPr lang="en-US" altLang="zh-CN" sz="3600" dirty="0">
              <a:latin typeface="Times New Roman Bold" panose="02020603050405020304" charset="0"/>
              <a:ea typeface="Calibri" pitchFamily="3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/>
        </p:nvSpPr>
        <p:spPr>
          <a:xfrm>
            <a:off x="1049867" y="125095"/>
            <a:ext cx="1072242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6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FA-2: Better Parallelism and Work Partitioning (3/6)</a:t>
            </a:r>
            <a:endParaRPr lang="en-US" altLang="zh-CN" sz="3600" dirty="0">
              <a:latin typeface="Times New Roman Bold" panose="02020603050405020304" charset="0"/>
              <a:ea typeface="Calibri" pitchFamily="3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299" y="3764914"/>
            <a:ext cx="4643755" cy="2376011"/>
          </a:xfrm>
          <a:prstGeom prst="rect">
            <a:avLst/>
          </a:prstGeom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49867" y="1064260"/>
            <a:ext cx="10507133" cy="25933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 - Better Parallelism and Work Partitioning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FlashAttention-2 proposes three key changes</a:t>
            </a:r>
          </a:p>
          <a:p>
            <a:pPr marL="1714500" lvl="3" indent="-4572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 non-matmul FLOPs</a:t>
            </a:r>
          </a:p>
          <a:p>
            <a:pPr marL="1714500" lvl="3" indent="-4572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Parallelize attention, even for a single head, across thread blocks</a:t>
            </a:r>
          </a:p>
          <a:p>
            <a:pPr marL="1714500" lvl="3" indent="-4572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Distribute work among warps to reduce shared-memory communication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215571" y="1193800"/>
            <a:ext cx="9795330" cy="318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How FA-2 Improves GPU Utilization: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Across thread blocks: more parallelism, even for one head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Within a thread block: better work distribution among warps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Higher occupancy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Less shared-memory traffic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Higher achieved FLOPs/s</a:t>
            </a:r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1088571" y="144466"/>
            <a:ext cx="1072242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6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FA-2: Better Parallelism and Work Partitioning (4/6)</a:t>
            </a:r>
            <a:endParaRPr lang="en-US" altLang="zh-CN" sz="3600" dirty="0">
              <a:latin typeface="Times New Roman Bold" panose="02020603050405020304" charset="0"/>
              <a:ea typeface="Calibri" pitchFamily="3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0" y="1158875"/>
            <a:ext cx="10163629" cy="22186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Experiment: FA-2 Gets Much Closer to GEMM Efficiency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Around 2× speedup compared to FlashAttention-1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Reaches 50–73% of theoretical maximum FLOPs/s on A100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End-to-end GPT-style training reaches up to 225 TFLOPs/s per A100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corresponds to about 72% model FLOPs utilization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4F5A7FA-2777-25AF-45C2-557362A9889D}"/>
              </a:ext>
            </a:extLst>
          </p:cNvPr>
          <p:cNvGrpSpPr/>
          <p:nvPr/>
        </p:nvGrpSpPr>
        <p:grpSpPr>
          <a:xfrm>
            <a:off x="6350" y="3683948"/>
            <a:ext cx="12185650" cy="2218690"/>
            <a:chOff x="9525" y="3429000"/>
            <a:chExt cx="12185650" cy="221869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" y="3429000"/>
              <a:ext cx="6181725" cy="221869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1250" y="3429000"/>
              <a:ext cx="6003925" cy="2176145"/>
            </a:xfrm>
            <a:prstGeom prst="rect">
              <a:avLst/>
            </a:prstGeom>
          </p:spPr>
        </p:pic>
      </p:grpSp>
      <p:sp>
        <p:nvSpPr>
          <p:cNvPr id="10" name="Title 1"/>
          <p:cNvSpPr>
            <a:spLocks noGrp="1"/>
          </p:cNvSpPr>
          <p:nvPr/>
        </p:nvSpPr>
        <p:spPr>
          <a:xfrm>
            <a:off x="1088571" y="144466"/>
            <a:ext cx="1072242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6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FA-2: Better Parallelism and Work Partitioning (5/6)</a:t>
            </a:r>
            <a:endParaRPr lang="en-US" altLang="zh-CN" sz="3600" dirty="0">
              <a:latin typeface="Times New Roman Bold" panose="02020603050405020304" charset="0"/>
              <a:ea typeface="Calibri" pitchFamily="3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1" y="1153160"/>
            <a:ext cx="10481129" cy="37490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Takeaway: FA-2 Shifts the Focus from IO to Parallelism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FA-1 asks: </a:t>
            </a:r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How do we reduce memory traffic?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FA-2 asks: </a:t>
            </a:r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How do we better map exact attention to GPU parallelism?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contribution: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Better work partitioning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Better occupancy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Less shared-memory communication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FA-2 brings exact attention much closer to GEMM-style efficiency on A100.</a:t>
            </a:r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1088571" y="144466"/>
            <a:ext cx="1072242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6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FA-2: Better Parallelism and Work Partitioning (6/6)</a:t>
            </a:r>
            <a:endParaRPr lang="en-US" altLang="zh-CN" sz="3600" dirty="0">
              <a:latin typeface="Times New Roman Bold" panose="02020603050405020304" charset="0"/>
              <a:ea typeface="Calibri" pitchFamily="3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0" y="1181100"/>
            <a:ext cx="10243639" cy="2578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Q3. After Improving Parallelism, Why Is Attention Still Underutilizing Hopper GPUs?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FlashAttention-2 is strong on A100.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But on H100, it still achieves only about 35% utilization.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the next question is:  </a:t>
            </a:r>
            <a:r>
              <a:rPr lang="en-US" sz="24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How do we redesign attention for Hopper?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015" y="3742821"/>
            <a:ext cx="4439285" cy="222872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kern="12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FA-3: Asynchrony and Low Precision on Hopper (1/6)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927100" y="1174750"/>
            <a:ext cx="10337800" cy="45084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Motivation: Hopper Introduces a New Optimization Target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Earlier FlashAttention versions focused on reducing memory reads/writes.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Hopper introduces new hardware capabilities: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WGMMA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TMA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FP8 support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Therefore, a new kernel design is needed to exploit: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Asynchrony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Deeper overlap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Low precision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kern="12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FA-3: Asynchrony and Low Precision on Hopper (2/6)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0" y="1165861"/>
            <a:ext cx="10243639" cy="18421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Method Overview: Three Key Ideas in FlashAttention-3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57250" lvl="1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Exploit asynchrony of Tensor Cores and TMA</a:t>
            </a:r>
          </a:p>
          <a:p>
            <a:pPr marL="857250" lvl="1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Overlap computation and data movement via warp specialization</a:t>
            </a:r>
          </a:p>
          <a:p>
            <a:pPr marL="857250" lvl="1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block quantization and incoherent processing for FP8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22295"/>
            <a:ext cx="11172190" cy="296481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kern="12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FA-3: Asynchrony and Low Precision on Hopper (3/6)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1" y="1149985"/>
            <a:ext cx="9893300" cy="22790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Method: Overlap, Pipelining, and Warp Specialization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warp specialization to separate roles across warps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warpgroups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Overlap data movement and compute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Interleave block-wise matmul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softmax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 idle time and improve effective utilization on Hopper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435" y="3612515"/>
            <a:ext cx="8712200" cy="252222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kern="12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FA-3: Asynchrony and Low Precision on Hopper (4/6)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863271" y="1105852"/>
            <a:ext cx="6772729" cy="3131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Method: FP8 with Better Accuracy</a:t>
            </a:r>
          </a:p>
          <a:p>
            <a:pPr lvl="1">
              <a:spcBef>
                <a:spcPts val="0"/>
              </a:spcBef>
            </a:pPr>
            <a:r>
              <a:rPr lang="en-US" sz="18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Hopper provides strong support for FP8</a:t>
            </a:r>
          </a:p>
          <a:p>
            <a:pPr lvl="1">
              <a:spcBef>
                <a:spcPts val="0"/>
              </a:spcBef>
            </a:pPr>
            <a:r>
              <a:rPr lang="en-US" sz="18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Naive low-precision attention can hurt numerical quality</a:t>
            </a:r>
          </a:p>
          <a:p>
            <a:pPr lvl="0"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FA-3 uses</a:t>
            </a:r>
          </a:p>
          <a:p>
            <a:pPr lvl="1">
              <a:spcBef>
                <a:spcPts val="0"/>
              </a:spcBef>
            </a:pPr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 quantization</a:t>
            </a:r>
          </a:p>
          <a:p>
            <a:pPr lvl="1">
              <a:spcBef>
                <a:spcPts val="0"/>
              </a:spcBef>
            </a:pPr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Incoherent processing</a:t>
            </a:r>
          </a:p>
          <a:p>
            <a:pPr lvl="0"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Goal</a:t>
            </a:r>
          </a:p>
          <a:p>
            <a:pPr lvl="1">
              <a:spcBef>
                <a:spcPts val="0"/>
              </a:spcBef>
            </a:pPr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Retain high throughput</a:t>
            </a:r>
          </a:p>
          <a:p>
            <a:pPr lvl="1">
              <a:spcBef>
                <a:spcPts val="0"/>
              </a:spcBef>
            </a:pPr>
            <a:r>
              <a:rPr lang="en-US" sz="20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 quantization / numerical error</a:t>
            </a:r>
          </a:p>
          <a:p>
            <a:pPr lvl="1"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>
              <a:spcBef>
                <a:spcPts val="0"/>
              </a:spcBef>
            </a:pPr>
            <a:endParaRPr lang="en-US" sz="205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167" y="4506275"/>
            <a:ext cx="7931150" cy="150685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kern="12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FA-3: Asynchrony and Low Precision on Hopper (5/6)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734695" y="1053782"/>
            <a:ext cx="10722610" cy="2375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Experiment: FA-3 Exploits Hopper Much Better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1.5–2.0× speedup over FlashAttention-2 on H100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FP16 reaches up to 740 TFLOPs/s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corresponds to about 75% utilization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FP8 reaches close to 1.2 PFLOPs/s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FP8 version achieves 2.6× lower numerical error than a baseline FP8 attention implementation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3B8E3E-A7CD-C4F3-94DA-51099C8EA13E}"/>
              </a:ext>
            </a:extLst>
          </p:cNvPr>
          <p:cNvGrpSpPr/>
          <p:nvPr/>
        </p:nvGrpSpPr>
        <p:grpSpPr>
          <a:xfrm>
            <a:off x="2809875" y="3636646"/>
            <a:ext cx="6954520" cy="2523490"/>
            <a:chOff x="3114675" y="3611245"/>
            <a:chExt cx="6954520" cy="252349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4675" y="3611245"/>
              <a:ext cx="3459480" cy="252349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8630" y="3611245"/>
              <a:ext cx="3250565" cy="2523490"/>
            </a:xfrm>
            <a:prstGeom prst="rect">
              <a:avLst/>
            </a:prstGeom>
          </p:spPr>
        </p:pic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sz="3600" kern="1200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FA-3: Asynchrony and Low Precision on Hopper (6/6)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5140" y="1242695"/>
            <a:ext cx="11214735" cy="4451350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 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(15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﻿FlashAttention: Fast and Memory-Efficient Exact Attention with IO-Awareness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FlashAttention-2: Faster Attention with Better Parallelism and Work Partitioning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FlashAttention-3: Fast and Accurate Attention with Asynchrony and Low-precision</a:t>
            </a:r>
          </a:p>
          <a:p>
            <a:pPr lvl="0" algn="l"/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</a:p>
          <a:p>
            <a:pPr algn="l"/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(1/2)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499110" y="1229050"/>
            <a:ext cx="10722610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Unified takeaway of FlashAttention-1/2/3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extLst>
              <p:ext uri="{D42A27DB-BD31-4B8C-83A1-F6EECF244321}">
                <p14:modId xmlns:p14="http://schemas.microsoft.com/office/powerpoint/2010/main" val="2972372944"/>
              </p:ext>
            </p:extLst>
          </p:nvPr>
        </p:nvGraphicFramePr>
        <p:xfrm>
          <a:off x="681354" y="1903116"/>
          <a:ext cx="10829291" cy="3767762"/>
        </p:xfrm>
        <a:graphic>
          <a:graphicData uri="http://schemas.openxmlformats.org/drawingml/2006/table">
            <a:tbl>
              <a:tblPr/>
              <a:tblGrid>
                <a:gridCol w="112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4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Version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Main bottleneck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Core idea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latin typeface="Times New Roman Bold" panose="02020603050405020304" charset="0"/>
                          <a:cs typeface="Times New Roman Bold" panose="02020603050405020304" charset="0"/>
                        </a:rPr>
                        <a:t>Representative gain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8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FA-1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IO / HBM traffic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IO-aware exact attention via tiling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Faster exact attention by reducing memory movement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FA-2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Work partitioning / occupancy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Better parallelism and warp/thread-block scheduling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~2× faster than FA-1; </a:t>
                      </a:r>
                    </a:p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50–73% of peak FLOPs/s on A100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02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FA-3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Hopper underutilization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Asynchrony, overlap, and FP8-aware execution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1.5–2.0× faster than FA-2; </a:t>
                      </a:r>
                    </a:p>
                    <a:p>
                      <a:pPr algn="ctr"/>
                      <a:r>
                        <a:rPr lang="en-US" altLang="zh-TW" sz="2000" dirty="0">
                          <a:latin typeface="Times New Roman Regular" panose="02020603050405020304" charset="0"/>
                          <a:cs typeface="Times New Roman Regular" panose="02020603050405020304" charset="0"/>
                        </a:rPr>
                        <a:t>up to 740 TFLOPs/s FP16 and ~1.2 PFLOPs/s FP8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(2/2)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088571" y="1168401"/>
            <a:ext cx="10366375" cy="3975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What Does the FlashAttention Series Teach Us?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Efficient attention is not only an algorithmic problem; it is also a systems problem.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Lower arithmetic complexity is not enough if memory traffic remains high.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Once one bottleneck is removed, the next systems bottleneck becomes visible.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optimal attention kernel depends on the hardware generation.</a:t>
            </a:r>
          </a:p>
          <a:p>
            <a:pPr lvl="1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Attention efficiency = algorithm × memory movement × execution mapping × hardware generation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FlashAttention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not one trick, but a sequence of exact-attention redesig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2673350"/>
            <a:ext cx="10722610" cy="183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7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algn="ctr">
              <a:buNone/>
            </a:pPr>
            <a:r>
              <a:rPr lang="en-US" altLang="zh-CN" sz="8800" b="1" i="1" dirty="0">
                <a:solidFill>
                  <a:srgbClr val="990099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ea typeface="微软雅黑" charset="-122"/>
                <a:cs typeface="Calibri" pitchFamily="34" charset="0"/>
                <a:sym typeface="+mn-ea"/>
              </a:rPr>
              <a:t>Thank You !</a:t>
            </a:r>
            <a:endParaRPr lang="en-US" altLang="zh-CN" sz="8800" b="1" i="1" dirty="0">
              <a:solidFill>
                <a:srgbClr val="990099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charset="-122"/>
              <a:cs typeface="Calibri" pitchFamily="3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EzMmRiY2ZiYzFiZmRiNmEwZGExMTNhN2E2MmJkN2MifQ=="/>
</p:tagLst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1994</Words>
  <Application>Microsoft Office PowerPoint</Application>
  <PresentationFormat>宽屏</PresentationFormat>
  <Paragraphs>357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MS Sans Serif</vt:lpstr>
      <vt:lpstr>Times New Roman Regular</vt:lpstr>
      <vt:lpstr>楷体</vt:lpstr>
      <vt:lpstr>微软雅黑</vt:lpstr>
      <vt:lpstr>Arial</vt:lpstr>
      <vt:lpstr>Calibri</vt:lpstr>
      <vt:lpstr>Calibri Light</vt:lpstr>
      <vt:lpstr>Cambria Math</vt:lpstr>
      <vt:lpstr>Times New Roman</vt:lpstr>
      <vt:lpstr>Times New Roman Bold</vt:lpstr>
      <vt:lpstr>Times New Roman Bold Italic</vt:lpstr>
      <vt:lpstr>Wingdings</vt:lpstr>
      <vt:lpstr>NTHU UniCloud</vt:lpstr>
      <vt:lpstr>自訂設計</vt:lpstr>
      <vt:lpstr>FlashAttention: From IO-Awareness to Hardware Specialization  2026.03.12</vt:lpstr>
      <vt:lpstr>Outline</vt:lpstr>
      <vt:lpstr>Introduction (1/3)</vt:lpstr>
      <vt:lpstr>Introduction (2/3)</vt:lpstr>
      <vt:lpstr>Introduction (3/3)</vt:lpstr>
      <vt:lpstr>Outline</vt:lpstr>
      <vt:lpstr>Background (1/3)</vt:lpstr>
      <vt:lpstr>Background (2/3)</vt:lpstr>
      <vt:lpstr>Background (3/3)</vt:lpstr>
      <vt:lpstr>Outline</vt:lpstr>
      <vt:lpstr>Related Work</vt:lpstr>
      <vt:lpstr>Outline</vt:lpstr>
      <vt:lpstr>Methods</vt:lpstr>
      <vt:lpstr>FA-1: IO-Aware Exact Attention (1/4)</vt:lpstr>
      <vt:lpstr>PowerPoint 演示文稿</vt:lpstr>
      <vt:lpstr>FA-1: IO-Aware Exact Attention (3/4)</vt:lpstr>
      <vt:lpstr>FA-1: IO-aware Exact Attention (4/4)</vt:lpstr>
      <vt:lpstr> FA-2: Better Parallelism and Work Partitioning (1/6)</vt:lpstr>
      <vt:lpstr> FA-2: Better Parallelism and Work Partitioning (2/6)</vt:lpstr>
      <vt:lpstr>PowerPoint 演示文稿</vt:lpstr>
      <vt:lpstr>PowerPoint 演示文稿</vt:lpstr>
      <vt:lpstr>PowerPoint 演示文稿</vt:lpstr>
      <vt:lpstr>PowerPoint 演示文稿</vt:lpstr>
      <vt:lpstr>FA-3: Asynchrony and Low Precision on Hopper (1/6)</vt:lpstr>
      <vt:lpstr>FA-3: Asynchrony and Low Precision on Hopper (2/6)</vt:lpstr>
      <vt:lpstr>FA-3: Asynchrony and Low Precision on Hopper (3/6)</vt:lpstr>
      <vt:lpstr>FA-3: Asynchrony and Low Precision on Hopper (4/6)</vt:lpstr>
      <vt:lpstr>FA-3: Asynchrony and Low Precision on Hopper (5/6)</vt:lpstr>
      <vt:lpstr>FA-3: Asynchrony and Low Precision on Hopper (6/6)</vt:lpstr>
      <vt:lpstr>Outline</vt:lpstr>
      <vt:lpstr>Conclusion (1/2)</vt:lpstr>
      <vt:lpstr>Conclusion (2/2)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273</cp:revision>
  <dcterms:created xsi:type="dcterms:W3CDTF">2026-03-12T12:21:50Z</dcterms:created>
  <dcterms:modified xsi:type="dcterms:W3CDTF">2026-05-04T23:45:35Z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546EB14DC4BFCFA15BC8B169E8CDD7FA_43</vt:lpwstr>
  </property>
  <property fmtid="{D5CDD505-2E9C-101B-9397-08002B2CF9AE}" pid="3" name="KSOProductBuildVer">
    <vt:lpwstr>2052-6.12.0.8899</vt:lpwstr>
  </property>
</Properties>
</file>