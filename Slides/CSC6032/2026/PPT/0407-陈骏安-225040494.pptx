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32"/>
  </p:notesMasterIdLst>
  <p:sldIdLst>
    <p:sldId id="256" r:id="rId3"/>
    <p:sldId id="624" r:id="rId4"/>
    <p:sldId id="631" r:id="rId5"/>
    <p:sldId id="516" r:id="rId6"/>
    <p:sldId id="569" r:id="rId7"/>
    <p:sldId id="626" r:id="rId8"/>
    <p:sldId id="603" r:id="rId9"/>
    <p:sldId id="605" r:id="rId10"/>
    <p:sldId id="627" r:id="rId11"/>
    <p:sldId id="532" r:id="rId12"/>
    <p:sldId id="606" r:id="rId13"/>
    <p:sldId id="607" r:id="rId14"/>
    <p:sldId id="608" r:id="rId15"/>
    <p:sldId id="609" r:id="rId16"/>
    <p:sldId id="628" r:id="rId17"/>
    <p:sldId id="579" r:id="rId18"/>
    <p:sldId id="611" r:id="rId19"/>
    <p:sldId id="615" r:id="rId20"/>
    <p:sldId id="612" r:id="rId21"/>
    <p:sldId id="613" r:id="rId22"/>
    <p:sldId id="629" r:id="rId23"/>
    <p:sldId id="617" r:id="rId24"/>
    <p:sldId id="618" r:id="rId25"/>
    <p:sldId id="622" r:id="rId26"/>
    <p:sldId id="619" r:id="rId27"/>
    <p:sldId id="630" r:id="rId28"/>
    <p:sldId id="621" r:id="rId29"/>
    <p:sldId id="632" r:id="rId30"/>
    <p:sldId id="625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叙 方" initials="叙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1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5342" autoAdjust="0"/>
  </p:normalViewPr>
  <p:slideViewPr>
    <p:cSldViewPr snapToGrid="0">
      <p:cViewPr varScale="1">
        <p:scale>
          <a:sx n="87" d="100"/>
          <a:sy n="87" d="100"/>
        </p:scale>
        <p:origin x="48" y="11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dirty="0">
              <a:solidFill>
                <a:srgbClr val="060A2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dirty="0">
              <a:solidFill>
                <a:srgbClr val="060A2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801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060A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That's all for my presentation today—thank you for your attention!</a:t>
            </a:r>
            <a:r>
              <a:rPr lang="en-GB" b="0" i="0" dirty="0">
                <a:solidFill>
                  <a:srgbClr val="060A2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I'm happy to take any questions you might have.</a:t>
            </a:r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>
              <a:defRPr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>
              <a:defRPr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 bwMode="auto">
          <a:xfrm>
            <a:off x="-2" y="6145214"/>
            <a:ext cx="12191999" cy="719139"/>
          </a:xfrm>
          <a:prstGeom prst="rect">
            <a:avLst/>
          </a:prstGeom>
          <a:solidFill>
            <a:srgbClr val="5F1A5D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>
          <a:xfrm>
            <a:off x="43441" y="53131"/>
            <a:ext cx="1071426" cy="828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 userDrawn="1"/>
        </p:nvSpPr>
        <p:spPr bwMode="auto">
          <a:xfrm>
            <a:off x="0" y="870513"/>
            <a:ext cx="12191999" cy="180689"/>
          </a:xfrm>
          <a:prstGeom prst="rect">
            <a:avLst/>
          </a:prstGeom>
          <a:solidFill>
            <a:srgbClr val="5F1A5D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" y="6231734"/>
            <a:ext cx="515934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anose="020F0502020204030204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20204" pitchFamily="34" charset="0"/>
        <a:buChar char="–"/>
        <a:defRPr kumimoji="1" sz="3200">
          <a:solidFill>
            <a:schemeClr val="tx1"/>
          </a:solidFill>
          <a:latin typeface="Calibri" panose="020F0502020204030204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562" y="1795622"/>
            <a:ext cx="11396871" cy="1882455"/>
          </a:xfrm>
        </p:spPr>
        <p:txBody>
          <a:bodyPr/>
          <a:lstStyle/>
          <a:p>
            <a:r>
              <a:rPr lang="en-GB" altLang="zh-CN" sz="4000" dirty="0"/>
              <a:t>The Evolution of Distributed LLM Training Systems</a:t>
            </a:r>
            <a:br>
              <a:rPr lang="en-US" altLang="zh-CN" sz="4400" dirty="0"/>
            </a:br>
            <a:r>
              <a:rPr lang="en-US" altLang="zh-CN" sz="2000" dirty="0"/>
              <a:t> </a:t>
            </a:r>
            <a:b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2026.4.7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8" y="4273550"/>
            <a:ext cx="8534400" cy="1661387"/>
          </a:xfrm>
        </p:spPr>
        <p:txBody>
          <a:bodyPr/>
          <a:lstStyle/>
          <a:p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Jun’an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Chen</a:t>
            </a:r>
          </a:p>
          <a:p>
            <a:r>
              <a:rPr lang="en-US" altLang="zh-TW" sz="2800" dirty="0"/>
              <a:t>School of </a:t>
            </a:r>
            <a:r>
              <a:rPr lang="en-US" altLang="zh-CN" sz="2800" dirty="0"/>
              <a:t>Data </a:t>
            </a:r>
            <a:r>
              <a:rPr lang="en-US" altLang="zh-TW" sz="2800" dirty="0"/>
              <a:t>Science</a:t>
            </a:r>
          </a:p>
          <a:p>
            <a:r>
              <a:rPr lang="en-US" altLang="zh-TW" sz="2800" dirty="0"/>
              <a:t>T</a:t>
            </a:r>
            <a:r>
              <a:rPr lang="en-GB" altLang="zh-TW" sz="2800" dirty="0"/>
              <a:t>he</a:t>
            </a:r>
            <a:r>
              <a:rPr lang="zh-CN" altLang="en-US" sz="2800" dirty="0"/>
              <a:t> </a:t>
            </a:r>
            <a:r>
              <a:rPr lang="en-US" altLang="zh-TW" sz="28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2046" y="1400138"/>
            <a:ext cx="9267908" cy="4057723"/>
          </a:xfrm>
        </p:spPr>
        <p:txBody>
          <a:bodyPr>
            <a:noAutofit/>
          </a:bodyPr>
          <a:lstStyle/>
          <a:p>
            <a:r>
              <a:rPr lang="en-US" altLang="zh-CN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		</a:t>
            </a:r>
            <a:r>
              <a:rPr lang="en-GB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 min)</a:t>
            </a:r>
          </a:p>
          <a:p>
            <a:pPr lvl="1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Megatron-LM	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 min)</a:t>
            </a:r>
          </a:p>
          <a:p>
            <a:pPr lvl="1"/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pPr lvl="1"/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2046" y="1400138"/>
            <a:ext cx="9267908" cy="4057723"/>
          </a:xfrm>
        </p:spPr>
        <p:txBody>
          <a:bodyPr>
            <a:noAutofit/>
          </a:bodyPr>
          <a:lstStyle/>
          <a:p>
            <a:r>
              <a:rPr lang="en-US" altLang="zh-C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		</a:t>
            </a:r>
            <a:r>
              <a:rPr lang="en-GB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 min)</a:t>
            </a:r>
          </a:p>
          <a:p>
            <a:pPr lvl="1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Megatron-LM	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 min)</a:t>
            </a:r>
          </a:p>
          <a:p>
            <a:pPr lvl="1"/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pPr lvl="1"/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Introduction (1/2)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537"/>
            <a:ext cx="10594109" cy="4831917"/>
          </a:xfrm>
        </p:spPr>
        <p:txBody>
          <a:bodyPr/>
          <a:lstStyle/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of Large Language Models (LLMs) has evolved rapidly, requiring massive computational resources.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457200">
              <a:buFont typeface="Arial" panose="020B0604020202020204" pitchFamily="34" charset="0"/>
              <a:buNone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61644" y="5732463"/>
            <a:ext cx="3956859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1. T</a:t>
            </a:r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rend of LLM parameter sizes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6473" b="3837"/>
          <a:stretch>
            <a:fillRect/>
          </a:stretch>
        </p:blipFill>
        <p:spPr>
          <a:xfrm>
            <a:off x="2562374" y="2125541"/>
            <a:ext cx="6688560" cy="36069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Introduction (2/2)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79" y="1341120"/>
            <a:ext cx="11120376" cy="365396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 of distributed training systems through three key stages:</a:t>
            </a:r>
          </a:p>
          <a:p>
            <a:pPr lvl="1">
              <a:lnSpc>
                <a:spcPct val="20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Megatron-LM</a:t>
            </a:r>
            <a:r>
              <a:rPr lang="en-GB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hard-coded model partitioning.</a:t>
            </a:r>
          </a:p>
          <a:p>
            <a:pPr lvl="1">
              <a:lnSpc>
                <a:spcPct val="200000"/>
              </a:lnSpc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Compiler-driven, automated parallelism execution plans.</a:t>
            </a:r>
          </a:p>
          <a:p>
            <a:pPr lvl="1">
              <a:lnSpc>
                <a:spcPct val="200000"/>
              </a:lnSpc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MegaScale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Massive-scale production engineering and fault tolerance.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66D142-2F7C-4EC9-A0A2-E642439AC116}"/>
              </a:ext>
            </a:extLst>
          </p:cNvPr>
          <p:cNvSpPr txBox="1"/>
          <p:nvPr/>
        </p:nvSpPr>
        <p:spPr>
          <a:xfrm>
            <a:off x="736979" y="4990413"/>
            <a:ext cx="10542884" cy="769441"/>
          </a:xfrm>
          <a:prstGeom prst="rect">
            <a:avLst/>
          </a:prstGeom>
          <a:noFill/>
          <a:ln>
            <a:solidFill>
              <a:srgbClr val="5F1A5D"/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This progression from manual partitioning to automated orchestration to fault-tolerant production systems represents the maturation of distributed LLM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7" name="內容版面配置區 2"/>
          <p:cNvSpPr txBox="1"/>
          <p:nvPr/>
        </p:nvSpPr>
        <p:spPr bwMode="auto">
          <a:xfrm>
            <a:off x="1462046" y="1400138"/>
            <a:ext cx="9267908" cy="40577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3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		</a:t>
            </a:r>
            <a:r>
              <a:rPr lang="en-GB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 min)</a:t>
            </a:r>
          </a:p>
          <a:p>
            <a:pPr lvl="1"/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Megatron-LM	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Background &amp; Motivation (1/2)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内容占位符 5"/>
          <p:cNvSpPr txBox="1"/>
          <p:nvPr/>
        </p:nvSpPr>
        <p:spPr bwMode="auto">
          <a:xfrm>
            <a:off x="624840" y="1507605"/>
            <a:ext cx="10748010" cy="3934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Traditional parallelism vs. the LLM challenge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</a:pPr>
            <a:r>
              <a:rPr lang="en-GB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parallelism: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Replicates the model across workers and divides the data. However, this fails when the model cannot fit entirely on one worker.</a:t>
            </a:r>
          </a:p>
          <a:p>
            <a:pPr lvl="1">
              <a:lnSpc>
                <a:spcPct val="125000"/>
              </a:lnSpc>
            </a:pPr>
            <a:r>
              <a:rPr lang="en-GB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Pipeline parallelism: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Distributes model layers among multiple devices. This can suffer from idle time.</a:t>
            </a:r>
          </a:p>
          <a:p>
            <a:pPr>
              <a:lnSpc>
                <a:spcPct val="125000"/>
              </a:lnSpc>
            </a:pPr>
            <a:r>
              <a:rPr lang="en-GB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core motivation: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Efficient large-scale model training requires tuning a complex combination of data, operator, and pipeline parallelization approaches.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Background &amp; Motivation (2/2)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内容占位符 5"/>
          <p:cNvSpPr txBox="1"/>
          <p:nvPr/>
        </p:nvSpPr>
        <p:spPr bwMode="auto">
          <a:xfrm>
            <a:off x="624840" y="1524232"/>
            <a:ext cx="11064467" cy="41450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Evolution of the systems problem</a:t>
            </a:r>
          </a:p>
          <a:p>
            <a:pPr lvl="1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1 </a:t>
            </a:r>
            <a:r>
              <a:rPr lang="zh-C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→ </a:t>
            </a:r>
            <a:r>
              <a:rPr lang="en-GB" altLang="zh-C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Solved by Megatron-LM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do we partition a model's math when it exceeds a single GPU's memory? </a:t>
            </a:r>
          </a:p>
          <a:p>
            <a:pPr lvl="1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2 </a:t>
            </a:r>
            <a:r>
              <a:rPr lang="zh-C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→ </a:t>
            </a:r>
            <a:r>
              <a:rPr lang="en-GB" altLang="zh-C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Solved by </a:t>
            </a:r>
            <a:r>
              <a:rPr lang="en-GB" altLang="zh-CN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Manually figuring out how to partition operators and allocate devices creates a massive combinatorial space. How do we automate this? </a:t>
            </a:r>
          </a:p>
          <a:p>
            <a:pPr lvl="1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3 </a:t>
            </a:r>
            <a:r>
              <a:rPr lang="zh-C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→ </a:t>
            </a:r>
            <a:r>
              <a:rPr lang="en-GB" altLang="zh-C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Solved by </a:t>
            </a:r>
            <a:r>
              <a:rPr lang="en-GB" altLang="zh-CN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the scale of </a:t>
            </a: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10,000+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GPUs, software and hardware faults become virtually inevitable. How do we maintain stability and efficiency? </a:t>
            </a:r>
            <a:endParaRPr lang="zh-CN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" name="內容版面配置區 2"/>
          <p:cNvSpPr txBox="1"/>
          <p:nvPr/>
        </p:nvSpPr>
        <p:spPr bwMode="auto">
          <a:xfrm>
            <a:off x="1462046" y="1400138"/>
            <a:ext cx="9267908" cy="40577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3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		</a:t>
            </a:r>
            <a:r>
              <a:rPr lang="en-GB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 min)</a:t>
            </a:r>
          </a:p>
          <a:p>
            <a:pPr lvl="1"/>
            <a:r>
              <a:rPr lang="en-US" altLang="zh-CN" sz="2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Megatron-LM	</a:t>
            </a:r>
            <a:r>
              <a:rPr lang="en-US" altLang="zh-CN" sz="2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Megatron-LM (1/5)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442765" y="1246009"/>
            <a:ext cx="7054536" cy="46269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observation: </a:t>
            </a: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transformer layer consists of a self attention block followed by a two-layer, multi-layer perceptron (MLP). Transformer architecture contains natural parallelism opportunities. </a:t>
            </a:r>
          </a:p>
          <a:p>
            <a:pPr>
              <a:lnSpc>
                <a:spcPct val="150000"/>
              </a:lnSpc>
            </a:pPr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6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  <a:r>
              <a:rPr lang="en-US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r>
              <a:rPr lang="en-US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introducing parallelism in general matrix multiplication (GEMM) operations, it can be achieved without rewriting the model or relying on special compilers.</a:t>
            </a:r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99" y="1236578"/>
            <a:ext cx="1781737" cy="438484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707451" y="5672915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GB" sz="20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2. Transformer architecture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8532951" y="2241550"/>
            <a:ext cx="1892300" cy="11303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528717" y="3932630"/>
            <a:ext cx="1892300" cy="77153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65736" y="2596457"/>
            <a:ext cx="887730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MLP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365736" y="3994443"/>
            <a:ext cx="1262384" cy="707886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Self attention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Megatron-LM (2/5)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3477" y="1511878"/>
            <a:ext cx="6070628" cy="3213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One option is to split the weight matrix A along its </a:t>
            </a:r>
            <a:r>
              <a:rPr kumimoji="1" lang="en-GB" sz="2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rows</a:t>
            </a: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: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endParaRPr kumimoji="1" lang="en-GB" sz="2600" kern="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endParaRPr kumimoji="1" lang="en-GB" sz="2600" kern="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endParaRPr kumimoji="1" lang="en-GB" sz="2600" kern="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Another option is to split the weight A along its </a:t>
            </a:r>
            <a:r>
              <a:rPr kumimoji="1" lang="en-GB" sz="2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columns</a:t>
            </a: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792" y="2319923"/>
            <a:ext cx="5498449" cy="248448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/>
          <a:srcRect l="59659"/>
          <a:stretch>
            <a:fillRect/>
          </a:stretch>
        </p:blipFill>
        <p:spPr>
          <a:xfrm>
            <a:off x="2494442" y="2326857"/>
            <a:ext cx="1401886" cy="95333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5477" y="4703617"/>
            <a:ext cx="1659816" cy="43091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86" y="5263637"/>
            <a:ext cx="4723809" cy="400000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1530473" y="3366221"/>
            <a:ext cx="3329823" cy="416017"/>
            <a:chOff x="6863925" y="4869247"/>
            <a:chExt cx="3329823" cy="416017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63925" y="4869247"/>
              <a:ext cx="2388246" cy="416017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73475" y="4896303"/>
              <a:ext cx="1809524" cy="361905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55653" y="4896303"/>
              <a:ext cx="838095" cy="361905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7283450" y="4804407"/>
            <a:ext cx="4127500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3. MLP with model parallelism</a:t>
            </a:r>
          </a:p>
        </p:txBody>
      </p:sp>
      <p:sp>
        <p:nvSpPr>
          <p:cNvPr id="16" name="矩形 15"/>
          <p:cNvSpPr/>
          <p:nvPr/>
        </p:nvSpPr>
        <p:spPr bwMode="auto">
          <a:xfrm>
            <a:off x="7181153" y="4273377"/>
            <a:ext cx="1239516" cy="40780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0049457" y="4193765"/>
            <a:ext cx="1012053" cy="5313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Megatron-LM (3/5)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77" y="1713950"/>
            <a:ext cx="6094603" cy="3237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656549" y="3332829"/>
                <a:ext cx="2327937" cy="1271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GB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sepChr m:val=",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GB" sz="2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GB" sz="2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sepChr m:val=",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GB" sz="2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GB" sz="2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GB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sepChr m:val=","/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GB" sz="2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GB" sz="2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549" y="3332829"/>
                <a:ext cx="2327937" cy="1271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6659418" y="5026185"/>
            <a:ext cx="4727122" cy="40011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4. Self-Attention with model parallelism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3475" y="1571474"/>
            <a:ext cx="485408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Partition the GEMMs associated with key (K), query (Q), and value (V ) in a </a:t>
            </a:r>
            <a:r>
              <a:rPr kumimoji="1" lang="en-GB" sz="26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column</a:t>
            </a: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parallel fashion: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651873-369A-4CC2-ACCD-B12EA70C5288}"/>
              </a:ext>
            </a:extLst>
          </p:cNvPr>
          <p:cNvSpPr txBox="1"/>
          <p:nvPr/>
        </p:nvSpPr>
        <p:spPr>
          <a:xfrm>
            <a:off x="264816" y="5116154"/>
            <a:ext cx="6394602" cy="769441"/>
          </a:xfrm>
          <a:prstGeom prst="rect">
            <a:avLst/>
          </a:prstGeom>
          <a:noFill/>
          <a:ln>
            <a:solidFill>
              <a:srgbClr val="5F1A5D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Megatron-LM</a:t>
            </a:r>
            <a:r>
              <a:rPr lang="en-GB" sz="2200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 leverages the mathematical structure of transformers rather than fighting against it. </a:t>
            </a:r>
            <a:endParaRPr lang="en-GB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Megatron-LM (4/5)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867" y="2234962"/>
            <a:ext cx="7306259" cy="33346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935512" y="5569614"/>
            <a:ext cx="6320971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</a:t>
            </a:r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5. </a:t>
            </a:r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Communication operations in a transformer layer.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E5F5DE-60FD-4A0D-BADB-845231DFBB54}"/>
              </a:ext>
            </a:extLst>
          </p:cNvPr>
          <p:cNvSpPr txBox="1"/>
          <p:nvPr/>
        </p:nvSpPr>
        <p:spPr>
          <a:xfrm>
            <a:off x="508940" y="1203004"/>
            <a:ext cx="114438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 complete transformer layer requires only four communication operations total: two in the forward pass and two in the backward pass.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Megatron-LM (5/5)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32" y="2247482"/>
            <a:ext cx="6758252" cy="2732368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7533598" y="3058903"/>
            <a:ext cx="4292339" cy="1619743"/>
            <a:chOff x="5924850" y="4206239"/>
            <a:chExt cx="3695238" cy="139442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t="3990"/>
            <a:stretch>
              <a:fillRect/>
            </a:stretch>
          </p:blipFill>
          <p:spPr>
            <a:xfrm>
              <a:off x="5924850" y="4206239"/>
              <a:ext cx="3695238" cy="137156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4"/>
            <a:srcRect t="1151" b="95649"/>
            <a:stretch>
              <a:fillRect/>
            </a:stretch>
          </p:blipFill>
          <p:spPr>
            <a:xfrm>
              <a:off x="5924850" y="5554943"/>
              <a:ext cx="3695238" cy="45719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1057124" y="4979850"/>
            <a:ext cx="5812971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6. </a:t>
            </a:r>
            <a:r>
              <a:rPr lang="en-GB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 and model + data parallel weak scaling efficiency as a function of the number of GPUs.</a:t>
            </a:r>
            <a:endParaRPr lang="en-GB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7443" y="2619894"/>
            <a:ext cx="328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 1. Zero-shot results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49078" y="1382953"/>
            <a:ext cx="25964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7" name="內容版面配置區 2"/>
          <p:cNvSpPr txBox="1"/>
          <p:nvPr/>
        </p:nvSpPr>
        <p:spPr bwMode="auto">
          <a:xfrm>
            <a:off x="1462046" y="1400138"/>
            <a:ext cx="9267908" cy="40577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3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		</a:t>
            </a:r>
            <a:r>
              <a:rPr lang="en-GB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 min)</a:t>
            </a:r>
          </a:p>
          <a:p>
            <a:pPr lvl="1"/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Megatron-LM	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 min)</a:t>
            </a:r>
          </a:p>
          <a:p>
            <a:pPr lvl="1"/>
            <a:r>
              <a:rPr lang="en-US" altLang="zh-CN" sz="26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US" altLang="zh-CN" sz="2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Alpa</a:t>
            </a:r>
            <a:r>
              <a:rPr lang="en-US" altLang="zh-CN" dirty="0"/>
              <a:t> (1/5)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332416" y="1501310"/>
            <a:ext cx="6221982" cy="41071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Recatalog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parallelization approaches into two orthogonal categories:</a:t>
            </a:r>
          </a:p>
          <a:p>
            <a:pPr lvl="1"/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Intra-operator parallelism.</a:t>
            </a:r>
          </a:p>
          <a:p>
            <a:pPr lvl="2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the tensor along some dimensions.</a:t>
            </a:r>
          </a:p>
          <a:p>
            <a:pPr lvl="2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to multiple devices.</a:t>
            </a:r>
          </a:p>
          <a:p>
            <a:pPr lvl="2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different portions at the same time.</a:t>
            </a:r>
          </a:p>
          <a:p>
            <a:pPr lvl="1"/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Inter-operator parallelism.</a:t>
            </a:r>
          </a:p>
          <a:p>
            <a:pPr lvl="2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perform operator partitioning. </a:t>
            </a:r>
          </a:p>
          <a:p>
            <a:pPr lvl="2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different operators of the graph on distributed devices.</a:t>
            </a:r>
          </a:p>
          <a:p>
            <a:pPr marL="0" indent="0">
              <a:buNone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565" y="1631359"/>
            <a:ext cx="5443215" cy="14997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739" y="3308284"/>
            <a:ext cx="4989935" cy="174774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76074" y="5056028"/>
            <a:ext cx="4927600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7. Common parallelization techniques for training a 2-layer Multi-layer Perceptron (MLP)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6585565" y="2000567"/>
            <a:ext cx="1696423" cy="18065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6776074" y="3349296"/>
            <a:ext cx="1948826" cy="2056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Alpa</a:t>
            </a:r>
            <a:r>
              <a:rPr lang="en-US" altLang="zh-CN" dirty="0"/>
              <a:t> (2/5)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283753" y="2097496"/>
            <a:ext cx="6494417" cy="26630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Intra-operator parallelism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SPMD-style parallelism</a:t>
            </a:r>
          </a:p>
          <a:p>
            <a:pPr lvl="1">
              <a:lnSpc>
                <a:spcPct val="15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operators evenly across devices</a:t>
            </a:r>
          </a:p>
          <a:p>
            <a:pPr lvl="1">
              <a:lnSpc>
                <a:spcPct val="15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the same instructions on all devices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978" y="2088552"/>
            <a:ext cx="5117135" cy="303499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607563" y="1442221"/>
            <a:ext cx="5162550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able 2. </a:t>
            </a:r>
            <a:r>
              <a:rPr lang="en-GB" altLang="zh-CN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Sharding</a:t>
            </a:r>
            <a:r>
              <a:rPr lang="en-GB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specs of a 2-dimentional tensor on a 2×2 device mesh. A is a (N,M) tensor</a:t>
            </a:r>
            <a:endParaRPr lang="en-GB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Alpa</a:t>
            </a:r>
            <a:r>
              <a:rPr lang="en-US" altLang="zh-CN" dirty="0"/>
              <a:t> (3/5)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502708" y="1411781"/>
            <a:ext cx="6449635" cy="2886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Inter-Operator parallelism</a:t>
            </a:r>
          </a:p>
          <a:p>
            <a:pPr lvl="1">
              <a:lnSpc>
                <a:spcPct val="15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Minimize end-to-end pipeline latency.</a:t>
            </a:r>
          </a:p>
          <a:p>
            <a:pPr lvl="1">
              <a:lnSpc>
                <a:spcPct val="15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</a:t>
            </a:r>
          </a:p>
          <a:p>
            <a:pPr lvl="2">
              <a:lnSpc>
                <a:spcPct val="150000"/>
              </a:lnSpc>
            </a:pPr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</a:p>
          <a:p>
            <a:pPr lvl="2">
              <a:lnSpc>
                <a:spcPct val="150000"/>
              </a:lnSpc>
            </a:pPr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clustering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t="4088"/>
          <a:stretch>
            <a:fillRect/>
          </a:stretch>
        </p:blipFill>
        <p:spPr>
          <a:xfrm>
            <a:off x="6096000" y="2914353"/>
            <a:ext cx="5710767" cy="177409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526742" y="4688444"/>
            <a:ext cx="516255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8</a:t>
            </a:r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. </a:t>
            </a:r>
            <a:r>
              <a:rPr lang="en-GB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Illustration of the total latency of a pipeline</a:t>
            </a:r>
            <a:endParaRPr lang="en-GB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Alpa</a:t>
            </a:r>
            <a:r>
              <a:rPr lang="en-US" altLang="zh-CN" dirty="0"/>
              <a:t> (4/5)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7" name="内容占位符 5"/>
          <p:cNvSpPr txBox="1"/>
          <p:nvPr/>
        </p:nvSpPr>
        <p:spPr bwMode="auto">
          <a:xfrm>
            <a:off x="421886" y="1244728"/>
            <a:ext cx="5674114" cy="21842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 orchestration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710" y="2009708"/>
            <a:ext cx="9042579" cy="308075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9524" y="5290106"/>
            <a:ext cx="11392950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9. Cross-mesh </a:t>
            </a:r>
            <a:r>
              <a:rPr lang="en-GB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resharding</a:t>
            </a:r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. (a) The scatter-gather optimization for equal mesh shapes in Megatron-LM. (b) The naive send/</a:t>
            </a:r>
            <a:r>
              <a:rPr lang="en-GB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recv</a:t>
            </a:r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for unequal mesh shapes. (c) The generalized local all-gather optimization for unequal mesh shapes.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941183-E53E-4F54-8F3A-BDAD041559EB}"/>
              </a:ext>
            </a:extLst>
          </p:cNvPr>
          <p:cNvSpPr txBox="1"/>
          <p:nvPr/>
        </p:nvSpPr>
        <p:spPr>
          <a:xfrm>
            <a:off x="5347855" y="1244728"/>
            <a:ext cx="6219733" cy="707886"/>
          </a:xfrm>
          <a:prstGeom prst="rect">
            <a:avLst/>
          </a:prstGeom>
          <a:noFill/>
          <a:ln>
            <a:solidFill>
              <a:srgbClr val="5F1A5D"/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true contribution of A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lpa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how it combines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Intra-operator </a:t>
            </a:r>
            <a:r>
              <a:rPr lang="en-GB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inter-operator </a:t>
            </a:r>
            <a:r>
              <a:rPr lang="en-GB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parallelism types together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Alpa</a:t>
            </a:r>
            <a:r>
              <a:rPr lang="en-US" altLang="zh-CN" dirty="0"/>
              <a:t> (5/5)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63" y="2405813"/>
            <a:ext cx="10769473" cy="204637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91326" y="4757414"/>
            <a:ext cx="7140074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10. End-to-end evaluation results. 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“×” denotes out-of-memory. Black boxes represent linear scaling.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9078" y="1382953"/>
            <a:ext cx="1073165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Evaluation</a:t>
            </a:r>
            <a:r>
              <a:rPr kumimoji="1" lang="zh-CN" altLang="en-US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：</a:t>
            </a:r>
            <a:r>
              <a:rPr kumimoji="1" lang="en-GB" altLang="zh-CN" sz="2600" kern="0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Alpa</a:t>
            </a:r>
            <a:r>
              <a:rPr kumimoji="1" lang="en-GB" altLang="zh-CN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could train models that were completely out-of-memory for baseline approaches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7" name="內容版面配置區 2"/>
          <p:cNvSpPr txBox="1"/>
          <p:nvPr/>
        </p:nvSpPr>
        <p:spPr bwMode="auto">
          <a:xfrm>
            <a:off x="1462046" y="1400138"/>
            <a:ext cx="9267908" cy="40577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3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		</a:t>
            </a:r>
            <a:r>
              <a:rPr lang="en-GB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 min)</a:t>
            </a:r>
          </a:p>
          <a:p>
            <a:pPr lvl="1"/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Megatron-LM	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pPr lvl="1"/>
            <a:r>
              <a:rPr lang="en-US" altLang="zh-CN" sz="26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US" altLang="zh-CN" sz="2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MegaScale</a:t>
            </a:r>
            <a:r>
              <a:rPr lang="en-US" altLang="zh-CN" dirty="0"/>
              <a:t> (1/4)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479696" y="1226821"/>
            <a:ext cx="10790646" cy="4079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200000"/>
              </a:lnSpc>
            </a:pPr>
            <a:r>
              <a:rPr lang="en-GB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large language model training  to more than 10,000 GPUs</a:t>
            </a:r>
          </a:p>
          <a:p>
            <a:pPr lvl="1">
              <a:lnSpc>
                <a:spcPct val="20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optimizations </a:t>
            </a:r>
          </a:p>
          <a:p>
            <a:pPr lvl="1">
              <a:lnSpc>
                <a:spcPct val="20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strategies</a:t>
            </a:r>
          </a:p>
          <a:p>
            <a:pPr lvl="1">
              <a:lnSpc>
                <a:spcPct val="20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management</a:t>
            </a:r>
          </a:p>
          <a:p>
            <a:pPr lvl="1">
              <a:lnSpc>
                <a:spcPct val="200000"/>
              </a:lnSpc>
            </a:pPr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performance tuning techniques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MegaScale</a:t>
            </a:r>
            <a:r>
              <a:rPr lang="en-US" altLang="zh-CN" dirty="0"/>
              <a:t> (2/4)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298269" y="1482635"/>
            <a:ext cx="5150031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training </a:t>
            </a:r>
            <a:r>
              <a:rPr lang="en-GB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scale</a:t>
            </a:r>
          </a:p>
          <a:p>
            <a:pPr lvl="1"/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optimizations</a:t>
            </a:r>
          </a:p>
          <a:p>
            <a:pPr lvl="1"/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overlapping in 3D parallelism</a:t>
            </a:r>
          </a:p>
          <a:p>
            <a:pPr lvl="1"/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operators &amp; data pipeline</a:t>
            </a:r>
          </a:p>
          <a:p>
            <a:pPr lvl="1"/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level optimization</a:t>
            </a: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Collective </a:t>
            </a:r>
            <a:r>
              <a:rPr lang="en-US" alt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ommunication </a:t>
            </a:r>
            <a:r>
              <a:rPr lang="en-US" alt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roup </a:t>
            </a:r>
            <a:r>
              <a:rPr lang="en-US" alt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nitialization</a:t>
            </a: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US" alt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erformance </a:t>
            </a:r>
            <a:r>
              <a:rPr lang="en-US" alt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870" y="1720215"/>
            <a:ext cx="6421120" cy="32042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76213" y="5048912"/>
            <a:ext cx="7076462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11. Overlapping communication in tensor parallelism (TP) and sequence parallelism (SP) with parallel transformer block (PTB).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MegaScale</a:t>
            </a:r>
            <a:r>
              <a:rPr lang="en-US" altLang="zh-CN" dirty="0"/>
              <a:t> (3/4)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267352" y="1232697"/>
            <a:ext cx="5828648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training </a:t>
            </a:r>
            <a:r>
              <a:rPr lang="en-GB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scale</a:t>
            </a:r>
          </a:p>
          <a:p>
            <a:pPr lvl="1"/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</a:t>
            </a: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training workflow</a:t>
            </a: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analysis</a:t>
            </a: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tests</a:t>
            </a: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checkpointing and recovery</a:t>
            </a:r>
          </a:p>
          <a:p>
            <a:pPr lvl="1"/>
            <a:r>
              <a:rPr lang="en-GB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GB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rroubleshooting</a:t>
            </a:r>
            <a:endParaRPr lang="en-GB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diagnosis with CUDA event monitor</a:t>
            </a:r>
          </a:p>
          <a:p>
            <a:pPr lvl="2"/>
            <a:r>
              <a:rPr lang="en-GB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parallel training visualization</a:t>
            </a:r>
          </a:p>
          <a:p>
            <a:pPr lvl="1"/>
            <a:endParaRPr lang="en-GB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GB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649" y="1157287"/>
            <a:ext cx="3990940" cy="183972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759" y="3255873"/>
            <a:ext cx="3512480" cy="2626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597649" y="2886541"/>
            <a:ext cx="4076701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12. Robust training workflow.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597649" y="5818653"/>
            <a:ext cx="4076701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13. Performance heat-map.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E3013C-A604-4789-B581-7ADE63AFA1B6}"/>
              </a:ext>
            </a:extLst>
          </p:cNvPr>
          <p:cNvSpPr txBox="1"/>
          <p:nvPr/>
        </p:nvSpPr>
        <p:spPr>
          <a:xfrm>
            <a:off x="674077" y="5356009"/>
            <a:ext cx="4609121" cy="707886"/>
          </a:xfrm>
          <a:prstGeom prst="rect">
            <a:avLst/>
          </a:prstGeom>
          <a:noFill/>
          <a:ln>
            <a:solidFill>
              <a:srgbClr val="5F1A5D"/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biggest contribution of </a:t>
            </a:r>
            <a:r>
              <a:rPr lang="en-GB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MegaScale</a:t>
            </a:r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its full approach to fault tolerance.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MegaScale</a:t>
            </a:r>
            <a:r>
              <a:rPr lang="en-US" altLang="zh-CN" dirty="0"/>
              <a:t> (4/4)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298268" y="1292135"/>
            <a:ext cx="10757081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GB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596" y="2212039"/>
            <a:ext cx="8500742" cy="375935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930527" y="1916364"/>
            <a:ext cx="675640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able 3</a:t>
            </a:r>
            <a:r>
              <a:rPr lang="en-GB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. Strong-scaling training performance for the 175B model.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9078" y="1382953"/>
            <a:ext cx="25964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GB" sz="2600" kern="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Evaluation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7" name="內容版面配置區 2"/>
          <p:cNvSpPr txBox="1"/>
          <p:nvPr/>
        </p:nvSpPr>
        <p:spPr bwMode="auto">
          <a:xfrm>
            <a:off x="1462046" y="1400138"/>
            <a:ext cx="9267908" cy="40577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3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		</a:t>
            </a:r>
            <a:r>
              <a:rPr lang="en-GB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 min)</a:t>
            </a:r>
          </a:p>
          <a:p>
            <a:pPr lvl="1"/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Megatron-LM	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Alpa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(6 min)</a:t>
            </a:r>
          </a:p>
          <a:p>
            <a:pPr lvl="1"/>
            <a:r>
              <a:rPr lang="en-US" altLang="zh-CN" sz="2600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MegaScale</a:t>
            </a:r>
            <a:r>
              <a:rPr lang="en-US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3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3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 (1/2)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A43743-BB54-47CC-A540-9F464F445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0583"/>
              </p:ext>
            </p:extLst>
          </p:nvPr>
        </p:nvGraphicFramePr>
        <p:xfrm>
          <a:off x="796155" y="1748884"/>
          <a:ext cx="10599690" cy="3360231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71315">
                  <a:extLst>
                    <a:ext uri="{9D8B030D-6E8A-4147-A177-3AD203B41FA5}">
                      <a16:colId xmlns:a16="http://schemas.microsoft.com/office/drawing/2014/main" val="359368731"/>
                    </a:ext>
                  </a:extLst>
                </a:gridCol>
                <a:gridCol w="2933235">
                  <a:extLst>
                    <a:ext uri="{9D8B030D-6E8A-4147-A177-3AD203B41FA5}">
                      <a16:colId xmlns:a16="http://schemas.microsoft.com/office/drawing/2014/main" val="4179109016"/>
                    </a:ext>
                  </a:extLst>
                </a:gridCol>
                <a:gridCol w="2452275">
                  <a:extLst>
                    <a:ext uri="{9D8B030D-6E8A-4147-A177-3AD203B41FA5}">
                      <a16:colId xmlns:a16="http://schemas.microsoft.com/office/drawing/2014/main" val="1606996623"/>
                    </a:ext>
                  </a:extLst>
                </a:gridCol>
                <a:gridCol w="3242865">
                  <a:extLst>
                    <a:ext uri="{9D8B030D-6E8A-4147-A177-3AD203B41FA5}">
                      <a16:colId xmlns:a16="http://schemas.microsoft.com/office/drawing/2014/main" val="2643035408"/>
                    </a:ext>
                  </a:extLst>
                </a:gridCol>
              </a:tblGrid>
              <a:tr h="738909"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</a:p>
                  </a:txBody>
                  <a:tcPr anchor="ctr">
                    <a:solidFill>
                      <a:srgbClr val="5F1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Scale</a:t>
                      </a:r>
                    </a:p>
                  </a:txBody>
                  <a:tcPr anchor="ctr">
                    <a:solidFill>
                      <a:srgbClr val="5F1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Innovation</a:t>
                      </a:r>
                    </a:p>
                  </a:txBody>
                  <a:tcPr anchor="ctr">
                    <a:solidFill>
                      <a:srgbClr val="5F1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Contribution</a:t>
                      </a:r>
                    </a:p>
                  </a:txBody>
                  <a:tcPr anchor="ctr">
                    <a:solidFill>
                      <a:srgbClr val="5F1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224084"/>
                  </a:ext>
                </a:extLst>
              </a:tr>
              <a:tr h="873774"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Megatron-LM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 GPUs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model parallelism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the transformer structure to parallelize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713628"/>
                  </a:ext>
                </a:extLst>
              </a:tr>
              <a:tr h="873774"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Alpa</a:t>
                      </a:r>
                      <a:endParaRPr lang="en-GB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~1,000 GPUs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Compiler-based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two parallelism types together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42259"/>
                  </a:ext>
                </a:extLst>
              </a:tr>
              <a:tr h="873774">
                <a:tc>
                  <a:txBody>
                    <a:bodyPr/>
                    <a:lstStyle/>
                    <a:p>
                      <a:pPr algn="ctr"/>
                      <a:r>
                        <a:rPr lang="en-GB" sz="22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MegaScale</a:t>
                      </a:r>
                      <a:endParaRPr lang="en-GB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10,000+ GPUs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Enterprise-scale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approach to fault tolerance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2805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 (2/2)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8" name="内容占位符 5"/>
          <p:cNvSpPr txBox="1"/>
          <p:nvPr/>
        </p:nvSpPr>
        <p:spPr bwMode="auto">
          <a:xfrm>
            <a:off x="1095003" y="2026061"/>
            <a:ext cx="10427448" cy="28058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200000"/>
              </a:lnSpc>
            </a:pPr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Megatron-LM: </a:t>
            </a:r>
            <a:r>
              <a:rPr lang="en-GB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 the memory wall via manual parallelism.</a:t>
            </a:r>
          </a:p>
          <a:p>
            <a:pPr>
              <a:lnSpc>
                <a:spcPct val="200000"/>
              </a:lnSpc>
            </a:pPr>
            <a:r>
              <a:rPr lang="en-GB" altLang="zh-CN" sz="26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Alpa</a:t>
            </a:r>
            <a:r>
              <a:rPr lang="en-US" altLang="en-GB" sz="26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the search space via compiler design.</a:t>
            </a:r>
          </a:p>
          <a:p>
            <a:pPr>
              <a:lnSpc>
                <a:spcPct val="200000"/>
              </a:lnSpc>
            </a:pPr>
            <a:r>
              <a:rPr lang="en-GB" altLang="zh-CN" sz="26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MegaScale</a:t>
            </a:r>
            <a:r>
              <a:rPr lang="en-GB" altLang="zh-CN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Hardened the system for 10K+ scale production. </a:t>
            </a:r>
          </a:p>
        </p:txBody>
      </p:sp>
    </p:spTree>
    <p:extLst>
      <p:ext uri="{BB962C8B-B14F-4D97-AF65-F5344CB8AC3E}">
        <p14:creationId xmlns:p14="http://schemas.microsoft.com/office/powerpoint/2010/main" val="916828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562" y="1776572"/>
            <a:ext cx="11396871" cy="1882455"/>
          </a:xfrm>
        </p:spPr>
        <p:txBody>
          <a:bodyPr/>
          <a:lstStyle/>
          <a:p>
            <a:r>
              <a:rPr lang="en-GB" altLang="zh-CN" sz="10000" dirty="0"/>
              <a:t>T</a:t>
            </a:r>
            <a:r>
              <a:rPr lang="en-US" altLang="zh-CN" sz="10000" dirty="0"/>
              <a:t>hanks</a:t>
            </a:r>
            <a:endParaRPr lang="zh-TW" altLang="en-US" sz="10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8" y="4273550"/>
            <a:ext cx="8534400" cy="1661387"/>
          </a:xfrm>
        </p:spPr>
        <p:txBody>
          <a:bodyPr/>
          <a:lstStyle/>
          <a:p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Junan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Chen</a:t>
            </a:r>
          </a:p>
          <a:p>
            <a:r>
              <a:rPr lang="en-US" altLang="zh-TW" sz="2800" dirty="0"/>
              <a:t>School of </a:t>
            </a:r>
            <a:r>
              <a:rPr lang="en-US" altLang="zh-CN" sz="2800" dirty="0"/>
              <a:t>Data </a:t>
            </a:r>
            <a:r>
              <a:rPr lang="en-US" altLang="zh-TW" sz="2800" dirty="0"/>
              <a:t>Science</a:t>
            </a:r>
          </a:p>
          <a:p>
            <a:r>
              <a:rPr lang="en-US" altLang="zh-TW" sz="2800" dirty="0"/>
              <a:t>T</a:t>
            </a:r>
            <a:r>
              <a:rPr lang="en-GB" altLang="zh-TW" sz="2800" dirty="0"/>
              <a:t>he</a:t>
            </a:r>
            <a:r>
              <a:rPr lang="zh-CN" altLang="en-US" sz="2800" dirty="0"/>
              <a:t> </a:t>
            </a:r>
            <a:r>
              <a:rPr lang="en-US" altLang="zh-TW" sz="2800" dirty="0"/>
              <a:t>Chinese University of Hong Kong, Shenzhen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50202020403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1662</Words>
  <Application>Microsoft Office PowerPoint</Application>
  <PresentationFormat>宽屏</PresentationFormat>
  <Paragraphs>250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MS Sans Serif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The Evolution of Distributed LLM Training Systems   2026.4.7</vt:lpstr>
      <vt:lpstr>Outline</vt:lpstr>
      <vt:lpstr>Outline</vt:lpstr>
      <vt:lpstr>Introduction (1/2)</vt:lpstr>
      <vt:lpstr>Introduction (2/2)</vt:lpstr>
      <vt:lpstr>Outline</vt:lpstr>
      <vt:lpstr>Background &amp; Motivation (1/2)</vt:lpstr>
      <vt:lpstr>Background &amp; Motivation (2/2)</vt:lpstr>
      <vt:lpstr>Outline</vt:lpstr>
      <vt:lpstr>Megatron-LM (1/5)</vt:lpstr>
      <vt:lpstr>Megatron-LM (2/5)</vt:lpstr>
      <vt:lpstr>Megatron-LM (3/5)</vt:lpstr>
      <vt:lpstr>Megatron-LM (4/5)</vt:lpstr>
      <vt:lpstr>Megatron-LM (5/5)</vt:lpstr>
      <vt:lpstr>Outline</vt:lpstr>
      <vt:lpstr>Alpa (1/5)</vt:lpstr>
      <vt:lpstr>Alpa (2/5)</vt:lpstr>
      <vt:lpstr>Alpa (3/5)</vt:lpstr>
      <vt:lpstr>Alpa (4/5)</vt:lpstr>
      <vt:lpstr>Alpa (5/5)</vt:lpstr>
      <vt:lpstr>Outline</vt:lpstr>
      <vt:lpstr>MegaScale (1/4)</vt:lpstr>
      <vt:lpstr>MegaScale (2/4)</vt:lpstr>
      <vt:lpstr>MegaScale (3/4)</vt:lpstr>
      <vt:lpstr>MegaScale (4/4)</vt:lpstr>
      <vt:lpstr>Outline</vt:lpstr>
      <vt:lpstr>Conclusion (1/2)</vt:lpstr>
      <vt:lpstr>Conclusion (2/2)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叙 方</cp:lastModifiedBy>
  <cp:revision>501</cp:revision>
  <dcterms:created xsi:type="dcterms:W3CDTF">2020-07-15T11:13:00Z</dcterms:created>
  <dcterms:modified xsi:type="dcterms:W3CDTF">2026-04-07T08:17:24Z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A561A126A15842E1BD980FEE41235EB1_12</vt:lpwstr>
  </property>
  <property fmtid="{D5CDD505-2E9C-101B-9397-08002B2CF9AE}" pid="3" name="KSOProductBuildVer">
    <vt:lpwstr>2052-12.1.0.25225</vt:lpwstr>
  </property>
</Properties>
</file>