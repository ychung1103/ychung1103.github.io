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60" r:id="rId2"/>
  </p:sldMasterIdLst>
  <p:notesMasterIdLst>
    <p:notesMasterId r:id="rId2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28" autoAdjust="0"/>
    <p:restoredTop sz="94707"/>
  </p:normalViewPr>
  <p:slideViewPr>
    <p:cSldViewPr snapToGrid="0">
      <p:cViewPr>
        <p:scale>
          <a:sx n="50" d="100"/>
          <a:sy n="50" d="100"/>
        </p:scale>
        <p:origin x="1208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1F4A7B-8284-4E61-88F9-84C6CA6E31E8}" type="datetimeFigureOut">
              <a:rPr lang="zh-TW" altLang="en-US" smtClean="0"/>
              <a:t>2026/4/17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1D5518-E2B7-47D3-A483-775D399824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7007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667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24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2133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4839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267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3733"/>
            </a:lvl1pPr>
            <a:lvl2pPr marL="457177" indent="0">
              <a:buNone/>
              <a:defRPr sz="1801"/>
            </a:lvl2pPr>
            <a:lvl3pPr marL="914354" indent="0">
              <a:buNone/>
              <a:defRPr sz="1600"/>
            </a:lvl3pPr>
            <a:lvl4pPr marL="1371531" indent="0">
              <a:buNone/>
              <a:defRPr sz="1401"/>
            </a:lvl4pPr>
            <a:lvl5pPr marL="1828709" indent="0">
              <a:buNone/>
              <a:defRPr sz="1401"/>
            </a:lvl5pPr>
            <a:lvl6pPr marL="2285886" indent="0">
              <a:buNone/>
              <a:defRPr sz="1401"/>
            </a:lvl6pPr>
            <a:lvl7pPr marL="2743063" indent="0">
              <a:buNone/>
              <a:defRPr sz="1401"/>
            </a:lvl7pPr>
            <a:lvl8pPr marL="3200240" indent="0">
              <a:buNone/>
              <a:defRPr sz="1401"/>
            </a:lvl8pPr>
            <a:lvl9pPr marL="3657417" indent="0">
              <a:buNone/>
              <a:defRPr sz="140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603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125536"/>
            <a:ext cx="5384800" cy="4227699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125536"/>
            <a:ext cx="5384800" cy="4227699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4985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2" y="1268773"/>
            <a:ext cx="5386917" cy="639763"/>
          </a:xfrm>
        </p:spPr>
        <p:txBody>
          <a:bodyPr anchor="b"/>
          <a:lstStyle>
            <a:lvl1pPr marL="0" indent="0">
              <a:buNone/>
              <a:defRPr sz="2667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1" b="1"/>
            </a:lvl3pPr>
            <a:lvl4pPr marL="1371531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2" y="1908535"/>
            <a:ext cx="5386917" cy="3951288"/>
          </a:xfrm>
        </p:spPr>
        <p:txBody>
          <a:bodyPr/>
          <a:lstStyle>
            <a:lvl1pPr>
              <a:defRPr sz="2667"/>
            </a:lvl1pPr>
            <a:lvl2pPr>
              <a:defRPr sz="2133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3" y="1268773"/>
            <a:ext cx="5389033" cy="639763"/>
          </a:xfrm>
        </p:spPr>
        <p:txBody>
          <a:bodyPr anchor="b"/>
          <a:lstStyle>
            <a:lvl1pPr marL="0" indent="0">
              <a:buNone/>
              <a:defRPr sz="2667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1" b="1"/>
            </a:lvl3pPr>
            <a:lvl4pPr marL="1371531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3" y="1908535"/>
            <a:ext cx="5389033" cy="3951288"/>
          </a:xfrm>
        </p:spPr>
        <p:txBody>
          <a:bodyPr/>
          <a:lstStyle>
            <a:lvl1pPr>
              <a:defRPr sz="2667"/>
            </a:lvl1pPr>
            <a:lvl2pPr>
              <a:defRPr sz="2133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624421" y="144466"/>
            <a:ext cx="10943167" cy="692151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794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0701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3319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6" y="273049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4" y="273056"/>
            <a:ext cx="68156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6" y="1435104"/>
            <a:ext cx="4011084" cy="4691063"/>
          </a:xfrm>
        </p:spPr>
        <p:txBody>
          <a:bodyPr/>
          <a:lstStyle>
            <a:lvl1pPr marL="0" indent="0">
              <a:buNone/>
              <a:defRPr sz="1401"/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0483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77" indent="0">
              <a:buNone/>
              <a:defRPr sz="2800"/>
            </a:lvl2pPr>
            <a:lvl3pPr marL="914354" indent="0">
              <a:buNone/>
              <a:defRPr sz="2400"/>
            </a:lvl3pPr>
            <a:lvl4pPr marL="1371531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3" indent="0">
              <a:buNone/>
              <a:defRPr sz="2000"/>
            </a:lvl7pPr>
            <a:lvl8pPr marL="3200240" indent="0">
              <a:buNone/>
              <a:defRPr sz="2000"/>
            </a:lvl8pPr>
            <a:lvl9pPr marL="3657417" indent="0">
              <a:buNone/>
              <a:defRPr sz="20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401"/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5657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3676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3043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609600" y="73028"/>
            <a:ext cx="10972800" cy="1700213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8601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609600" y="1125542"/>
            <a:ext cx="10972800" cy="647700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92217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32"/>
            <a:ext cx="10363200" cy="1470025"/>
          </a:xfrm>
        </p:spPr>
        <p:txBody>
          <a:bodyPr/>
          <a:lstStyle>
            <a:lvl1pPr algn="ctr">
              <a:defRPr sz="5333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177" indent="0" algn="ctr">
              <a:buNone/>
              <a:defRPr/>
            </a:lvl2pPr>
            <a:lvl3pPr marL="914354" indent="0" algn="ctr">
              <a:buNone/>
              <a:defRPr/>
            </a:lvl3pPr>
            <a:lvl4pPr marL="1371531" indent="0" algn="ctr">
              <a:buNone/>
              <a:defRPr/>
            </a:lvl4pPr>
            <a:lvl5pPr marL="1828709" indent="0" algn="ctr">
              <a:buNone/>
              <a:defRPr/>
            </a:lvl5pPr>
            <a:lvl6pPr marL="2285886" indent="0" algn="ctr">
              <a:buNone/>
              <a:defRPr/>
            </a:lvl6pPr>
            <a:lvl7pPr marL="2743063" indent="0" algn="ctr">
              <a:buNone/>
              <a:defRPr/>
            </a:lvl7pPr>
            <a:lvl8pPr marL="3200240" indent="0" algn="ctr">
              <a:buNone/>
              <a:defRPr/>
            </a:lvl8pPr>
            <a:lvl9pPr marL="3657417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99471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98655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83935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34368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37830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55558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84383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88628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85375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79622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82784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7367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1049867" y="144466"/>
            <a:ext cx="10517721" cy="692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125537"/>
            <a:ext cx="10972800" cy="4895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3" y="6357940"/>
            <a:ext cx="5111751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792808" y="6581777"/>
            <a:ext cx="357482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12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908055"/>
            <a:ext cx="12192000" cy="144463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80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6165849"/>
            <a:ext cx="12192000" cy="719139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80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108017" y="6524628"/>
            <a:ext cx="28448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14" name="圖片 13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80" y="124614"/>
            <a:ext cx="916587" cy="672311"/>
          </a:xfrm>
          <a:prstGeom prst="rect">
            <a:avLst/>
          </a:prstGeom>
        </p:spPr>
      </p:pic>
      <p:grpSp>
        <p:nvGrpSpPr>
          <p:cNvPr id="2" name="群組 1"/>
          <p:cNvGrpSpPr/>
          <p:nvPr userDrawn="1"/>
        </p:nvGrpSpPr>
        <p:grpSpPr>
          <a:xfrm>
            <a:off x="86980" y="6239920"/>
            <a:ext cx="3223375" cy="569415"/>
            <a:chOff x="86980" y="6239920"/>
            <a:chExt cx="3223375" cy="569415"/>
          </a:xfrm>
        </p:grpSpPr>
        <p:pic>
          <p:nvPicPr>
            <p:cNvPr id="12" name="圖片 11"/>
            <p:cNvPicPr>
              <a:picLocks noChangeAspect="1"/>
            </p:cNvPicPr>
            <p:nvPr userDrawn="1"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980" y="6239920"/>
              <a:ext cx="817930" cy="569415"/>
            </a:xfrm>
            <a:prstGeom prst="rect">
              <a:avLst/>
            </a:prstGeom>
          </p:spPr>
        </p:pic>
        <p:sp>
          <p:nvSpPr>
            <p:cNvPr id="15" name="矩形 14"/>
            <p:cNvSpPr/>
            <p:nvPr userDrawn="1"/>
          </p:nvSpPr>
          <p:spPr>
            <a:xfrm>
              <a:off x="829837" y="6347770"/>
              <a:ext cx="2480518" cy="4308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lang="zh-CN" altLang="zh-TW" sz="1200" kern="100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香港中文大学（深圳）数据科学院</a:t>
              </a:r>
              <a:endParaRPr lang="zh-TW" altLang="zh-TW" sz="1200" kern="1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endParaRPr>
            </a:p>
            <a:p>
              <a:pPr algn="ctr">
                <a:spcAft>
                  <a:spcPts val="0"/>
                </a:spcAft>
              </a:pP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CUHK</a:t>
              </a: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DengXian"/>
                  <a:cs typeface="Times New Roman" panose="02020603050405020304" pitchFamily="18" charset="0"/>
                </a:rPr>
                <a:t>-SZ Sc</a:t>
              </a: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hool of Data Science</a:t>
              </a:r>
              <a:endParaRPr lang="zh-TW" altLang="zh-TW" sz="1000" kern="100" dirty="0">
                <a:solidFill>
                  <a:schemeClr val="bg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6231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457177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914354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371531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828709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342882" indent="-342882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3733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742913" indent="-285737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32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1142943" indent="-228589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121" indent="-228589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298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476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652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8829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007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1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6871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219200"/>
            <a:ext cx="10363200" cy="1470025"/>
          </a:xfrm>
        </p:spPr>
        <p:txBody>
          <a:bodyPr wrap="square"/>
          <a:lstStyle/>
          <a:p>
            <a:pPr algn="ctr"/>
            <a:r>
              <a:rPr sz="3600" b="1" dirty="0">
                <a:solidFill>
                  <a:srgbClr val="000000"/>
                </a:solidFill>
                <a:latin typeface="Times New Roman"/>
              </a:rPr>
              <a:t>Execution-Grounded LLM Coding Agents:</a:t>
            </a:r>
          </a:p>
          <a:p>
            <a:pPr algn="ctr"/>
            <a:r>
              <a:rPr sz="3600" b="1" dirty="0">
                <a:solidFill>
                  <a:srgbClr val="000000"/>
                </a:solidFill>
                <a:latin typeface="Times New Roman"/>
              </a:rPr>
              <a:t>From Code Generation to Autonomous Software Engineering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081144"/>
            <a:ext cx="8534400" cy="2722756"/>
          </a:xfrm>
        </p:spPr>
        <p:txBody>
          <a:bodyPr wrap="square"/>
          <a:lstStyle/>
          <a:p>
            <a:pPr algn="ctr"/>
            <a:r>
              <a:rPr sz="2200" dirty="0">
                <a:solidFill>
                  <a:srgbClr val="000000"/>
                </a:solidFill>
                <a:latin typeface="Times New Roman"/>
              </a:rPr>
              <a:t>Tong Zhu 225040538</a:t>
            </a:r>
          </a:p>
          <a:p>
            <a:pPr algn="ctr"/>
            <a:r>
              <a:rPr sz="2200" dirty="0">
                <a:solidFill>
                  <a:srgbClr val="000000"/>
                </a:solidFill>
                <a:latin typeface="Times New Roman"/>
              </a:rPr>
              <a:t>School of Data Science</a:t>
            </a:r>
          </a:p>
          <a:p>
            <a:pPr algn="ctr"/>
            <a:r>
              <a:rPr sz="2200" dirty="0">
                <a:solidFill>
                  <a:srgbClr val="000000"/>
                </a:solidFill>
                <a:latin typeface="Times New Roman"/>
              </a:rPr>
              <a:t>Chinese University of Hong Kong, Shenzhen</a:t>
            </a:r>
          </a:p>
          <a:p>
            <a:pPr algn="ctr"/>
            <a:endParaRPr sz="2200" dirty="0">
              <a:solidFill>
                <a:srgbClr val="000000"/>
              </a:solidFill>
              <a:latin typeface="Times New Roman"/>
            </a:endParaRPr>
          </a:p>
          <a:p>
            <a:pPr algn="ctr"/>
            <a:r>
              <a:rPr sz="2200" dirty="0">
                <a:solidFill>
                  <a:srgbClr val="000000"/>
                </a:solidFill>
                <a:latin typeface="Times New Roman"/>
              </a:rPr>
              <a:t>CSC6032 Advanced Operating System, Spring 2026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0291FAD-7C06-EFE8-1E7A-C6118ECA8F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600" b="1">
                <a:solidFill>
                  <a:srgbClr val="000000"/>
                </a:solidFill>
                <a:latin typeface="Times New Roman"/>
              </a:rP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9308" y="1147839"/>
            <a:ext cx="10972800" cy="4895851"/>
          </a:xfrm>
        </p:spPr>
        <p:txBody>
          <a:bodyPr>
            <a:normAutofit/>
          </a:bodyPr>
          <a:lstStyle/>
          <a:p>
            <a:r>
              <a:rPr sz="2000" b="1" dirty="0">
                <a:solidFill>
                  <a:srgbClr val="000000"/>
                </a:solidFill>
                <a:latin typeface="Times New Roman"/>
              </a:rPr>
              <a:t>Topic:  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Execution-Grounded LLM Coding Agents</a:t>
            </a:r>
          </a:p>
          <a:p>
            <a:pPr lvl="1"/>
            <a:r>
              <a:rPr sz="1800" dirty="0">
                <a:solidFill>
                  <a:srgbClr val="000000"/>
                </a:solidFill>
                <a:latin typeface="Times New Roman"/>
              </a:rPr>
              <a:t>Paper 1 (Foundation) — </a:t>
            </a:r>
            <a:r>
              <a:rPr sz="1800" b="1" dirty="0">
                <a:solidFill>
                  <a:srgbClr val="000000"/>
                </a:solidFill>
                <a:latin typeface="Times New Roman"/>
              </a:rPr>
              <a:t>Codex: Evaluating LLMs Trained on Code</a:t>
            </a:r>
            <a:r>
              <a:rPr sz="1800" i="1" dirty="0">
                <a:solidFill>
                  <a:srgbClr val="000000"/>
                </a:solidFill>
                <a:latin typeface="Times New Roman"/>
              </a:rPr>
              <a:t>  </a:t>
            </a:r>
            <a:r>
              <a:rPr sz="1800" i="1" dirty="0" err="1">
                <a:solidFill>
                  <a:srgbClr val="000000"/>
                </a:solidFill>
                <a:latin typeface="Times New Roman"/>
              </a:rPr>
              <a:t>arXiv</a:t>
            </a:r>
            <a:r>
              <a:rPr sz="1800" i="1" dirty="0">
                <a:solidFill>
                  <a:srgbClr val="000000"/>
                </a:solidFill>
                <a:latin typeface="Times New Roman"/>
              </a:rPr>
              <a:t> 2021</a:t>
            </a:r>
          </a:p>
          <a:p>
            <a:pPr lvl="1"/>
            <a:r>
              <a:rPr sz="1800" dirty="0">
                <a:solidFill>
                  <a:srgbClr val="000000"/>
                </a:solidFill>
                <a:latin typeface="Times New Roman"/>
              </a:rPr>
              <a:t>Paper 2 (Systems Bridge) — </a:t>
            </a:r>
            <a:r>
              <a:rPr sz="1800" b="1" dirty="0" err="1">
                <a:solidFill>
                  <a:srgbClr val="000000"/>
                </a:solidFill>
                <a:latin typeface="Times New Roman"/>
              </a:rPr>
              <a:t>CodeAct</a:t>
            </a:r>
            <a:r>
              <a:rPr sz="1800" b="1" dirty="0">
                <a:solidFill>
                  <a:srgbClr val="000000"/>
                </a:solidFill>
                <a:latin typeface="Times New Roman"/>
              </a:rPr>
              <a:t>: Executable Code Actions Elicit Better LLM Agents</a:t>
            </a:r>
            <a:r>
              <a:rPr sz="1800" i="1" dirty="0">
                <a:solidFill>
                  <a:srgbClr val="000000"/>
                </a:solidFill>
                <a:latin typeface="Times New Roman"/>
              </a:rPr>
              <a:t>  ICML 2024</a:t>
            </a:r>
          </a:p>
          <a:p>
            <a:pPr lvl="1"/>
            <a:r>
              <a:rPr sz="1800" dirty="0">
                <a:solidFill>
                  <a:srgbClr val="000000"/>
                </a:solidFill>
                <a:latin typeface="Times New Roman"/>
              </a:rPr>
              <a:t>Paper 3 (Recent) — </a:t>
            </a:r>
            <a:r>
              <a:rPr sz="1800" b="1" dirty="0" err="1">
                <a:solidFill>
                  <a:srgbClr val="000000"/>
                </a:solidFill>
                <a:latin typeface="Times New Roman"/>
              </a:rPr>
              <a:t>OpenHands</a:t>
            </a:r>
            <a:r>
              <a:rPr sz="1800" b="1" dirty="0">
                <a:solidFill>
                  <a:srgbClr val="000000"/>
                </a:solidFill>
                <a:latin typeface="Times New Roman"/>
              </a:rPr>
              <a:t>: An Open Platform for AI Software Developers as Generalist Agents</a:t>
            </a:r>
            <a:r>
              <a:rPr sz="1800" i="1" dirty="0">
                <a:solidFill>
                  <a:srgbClr val="000000"/>
                </a:solidFill>
                <a:latin typeface="Times New Roman"/>
              </a:rPr>
              <a:t>  ICLR 2025</a:t>
            </a:r>
          </a:p>
          <a:p>
            <a:endParaRPr sz="1800" i="1" dirty="0">
              <a:solidFill>
                <a:srgbClr val="000000"/>
              </a:solidFill>
              <a:latin typeface="Times New Roman"/>
            </a:endParaRPr>
          </a:p>
          <a:p>
            <a:r>
              <a:rPr sz="2000" b="1" dirty="0">
                <a:solidFill>
                  <a:srgbClr val="000000"/>
                </a:solidFill>
                <a:latin typeface="Times New Roman"/>
              </a:rPr>
              <a:t>Narrative arc:  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Code generation capability → code execution as the right action modality for agents → an open platform for generalist agents operating in a sandboxed runtime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034FD2-ACC1-E6C9-FB7D-33D2FA276C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600" b="1">
                <a:solidFill>
                  <a:srgbClr val="000000"/>
                </a:solidFill>
                <a:latin typeface="Times New Roman"/>
              </a:rPr>
              <a:t>Background: Why LLMs for Code?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419" y="1255629"/>
            <a:ext cx="6035040" cy="0"/>
          </a:xfrm>
        </p:spPr>
        <p:txBody>
          <a:bodyPr>
            <a:noAutofit/>
          </a:bodyPr>
          <a:lstStyle/>
          <a:p>
            <a:r>
              <a:rPr sz="1800" b="1" dirty="0">
                <a:solidFill>
                  <a:srgbClr val="000000"/>
                </a:solidFill>
                <a:latin typeface="Times New Roman"/>
              </a:rPr>
              <a:t>Bridge to systems:  </a:t>
            </a:r>
            <a:r>
              <a:rPr sz="1800" dirty="0">
                <a:solidFill>
                  <a:srgbClr val="000000"/>
                </a:solidFill>
                <a:latin typeface="Times New Roman"/>
              </a:rPr>
              <a:t>code is a natural domain for LLM agents because programs have explicit syntax, deterministic execution, and testable outcomes.</a:t>
            </a:r>
          </a:p>
          <a:p>
            <a:pPr lvl="1"/>
            <a:r>
              <a:rPr sz="1800" dirty="0">
                <a:solidFill>
                  <a:srgbClr val="000000"/>
                </a:solidFill>
                <a:latin typeface="Times New Roman"/>
              </a:rPr>
              <a:t>Software engineering is highly structured — programs have formal semantics and deterministic execution.</a:t>
            </a:r>
          </a:p>
          <a:p>
            <a:pPr lvl="1"/>
            <a:r>
              <a:rPr sz="1800" dirty="0">
                <a:solidFill>
                  <a:srgbClr val="000000"/>
                </a:solidFill>
                <a:latin typeface="Times New Roman"/>
              </a:rPr>
              <a:t>Pre-2021: neural code synthesis limited to small snippets.</a:t>
            </a:r>
          </a:p>
          <a:p>
            <a:pPr lvl="1"/>
            <a:r>
              <a:rPr sz="1800" b="1" dirty="0">
                <a:solidFill>
                  <a:srgbClr val="000000"/>
                </a:solidFill>
                <a:latin typeface="Times New Roman"/>
              </a:rPr>
              <a:t>Key insight:  </a:t>
            </a:r>
            <a:r>
              <a:rPr sz="1800" dirty="0">
                <a:solidFill>
                  <a:srgbClr val="000000"/>
                </a:solidFill>
                <a:latin typeface="Times New Roman"/>
              </a:rPr>
              <a:t>large-scale pre-training on public code (GitHub) transfers to unseen tasks.</a:t>
            </a:r>
          </a:p>
          <a:p>
            <a:pPr lvl="1"/>
            <a:r>
              <a:rPr sz="1800" dirty="0">
                <a:solidFill>
                  <a:srgbClr val="000000"/>
                </a:solidFill>
                <a:latin typeface="Times New Roman"/>
              </a:rPr>
              <a:t>Unlocks functional code generation, test writing, and eventually autonomous debugging.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1998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 dirty="0">
                <a:solidFill>
                  <a:srgbClr val="000000"/>
                </a:solidFill>
                <a:latin typeface="Times New Roman"/>
              </a:rPr>
              <a:t>Table 1. Evolution of neural code generation approaches.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0" y="1536192"/>
          <a:ext cx="49377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Era</a:t>
                      </a:r>
                    </a:p>
                  </a:txBody>
                  <a:tcPr>
                    <a:solidFill>
                      <a:srgbClr val="9900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Approach</a:t>
                      </a:r>
                    </a:p>
                  </a:txBody>
                  <a:tcPr>
                    <a:solidFill>
                      <a:srgbClr val="9900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Capability</a:t>
                      </a:r>
                    </a:p>
                  </a:txBody>
                  <a:tcPr>
                    <a:solidFill>
                      <a:srgbClr val="99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&lt;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Rule-based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Templates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2020–21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GPT-2/3 fine-tune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Snippets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2021+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Codex-scale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Functions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2023+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Agent loops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Full tasks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EB5FA0-8428-592B-4471-4F1CEA2952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600" b="1">
                <a:solidFill>
                  <a:srgbClr val="000000"/>
                </a:solidFill>
                <a:latin typeface="Times New Roman"/>
              </a:rPr>
              <a:t>Paper 1 — Codex (Chen et al., arXiv 2021)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b="1" dirty="0">
                <a:solidFill>
                  <a:srgbClr val="000000"/>
                </a:solidFill>
                <a:latin typeface="Times New Roman"/>
              </a:rPr>
              <a:t>“Evaluating Large Language Models Trained on Code”</a:t>
            </a:r>
          </a:p>
          <a:p>
            <a:r>
              <a:rPr sz="1800" i="1" dirty="0">
                <a:solidFill>
                  <a:srgbClr val="000000"/>
                </a:solidFill>
                <a:latin typeface="Times New Roman"/>
              </a:rPr>
              <a:t>Chen et al., OpenAI.  arXiv:2107.03374 (2021)</a:t>
            </a:r>
          </a:p>
          <a:p>
            <a:endParaRPr sz="1800" i="1" dirty="0">
              <a:solidFill>
                <a:srgbClr val="000000"/>
              </a:solidFill>
              <a:latin typeface="Times New Roman"/>
            </a:endParaRPr>
          </a:p>
          <a:p>
            <a:r>
              <a:rPr sz="2000" b="1" dirty="0">
                <a:solidFill>
                  <a:srgbClr val="000000"/>
                </a:solidFill>
                <a:latin typeface="Times New Roman"/>
              </a:rPr>
              <a:t>Core contribution:</a:t>
            </a:r>
          </a:p>
          <a:p>
            <a:pPr lvl="1"/>
            <a:r>
              <a:rPr sz="1800" dirty="0">
                <a:solidFill>
                  <a:srgbClr val="000000"/>
                </a:solidFill>
                <a:latin typeface="Times New Roman"/>
              </a:rPr>
              <a:t>GPT-based model (~12 B params) fine-tuned on </a:t>
            </a:r>
            <a:r>
              <a:rPr sz="1800" b="1" dirty="0">
                <a:solidFill>
                  <a:srgbClr val="000000"/>
                </a:solidFill>
                <a:latin typeface="Times New Roman"/>
              </a:rPr>
              <a:t>159 GB</a:t>
            </a:r>
            <a:r>
              <a:rPr sz="1800" dirty="0">
                <a:solidFill>
                  <a:srgbClr val="000000"/>
                </a:solidFill>
                <a:latin typeface="Times New Roman"/>
              </a:rPr>
              <a:t> of filtered public GitHub Python code.</a:t>
            </a:r>
          </a:p>
          <a:p>
            <a:pPr lvl="1"/>
            <a:r>
              <a:rPr sz="1800" dirty="0">
                <a:solidFill>
                  <a:srgbClr val="000000"/>
                </a:solidFill>
                <a:latin typeface="Times New Roman"/>
              </a:rPr>
              <a:t>Introduces </a:t>
            </a:r>
            <a:r>
              <a:rPr sz="1800" b="1" dirty="0" err="1">
                <a:solidFill>
                  <a:srgbClr val="000000"/>
                </a:solidFill>
                <a:latin typeface="Times New Roman"/>
              </a:rPr>
              <a:t>HumanEval</a:t>
            </a:r>
            <a:r>
              <a:rPr sz="1800" dirty="0">
                <a:solidFill>
                  <a:srgbClr val="000000"/>
                </a:solidFill>
                <a:latin typeface="Times New Roman"/>
              </a:rPr>
              <a:t>: 164 handwritten Python tasks scored by running generated programs against tests.</a:t>
            </a:r>
          </a:p>
          <a:p>
            <a:pPr lvl="1"/>
            <a:r>
              <a:rPr sz="1800" dirty="0">
                <a:solidFill>
                  <a:srgbClr val="000000"/>
                </a:solidFill>
                <a:latin typeface="Times New Roman"/>
              </a:rPr>
              <a:t>Makes </a:t>
            </a:r>
            <a:r>
              <a:rPr sz="1800" b="1" dirty="0">
                <a:solidFill>
                  <a:srgbClr val="000000"/>
                </a:solidFill>
                <a:latin typeface="Times New Roman"/>
              </a:rPr>
              <a:t>execution-based evaluation</a:t>
            </a:r>
            <a:r>
              <a:rPr sz="1800" dirty="0">
                <a:solidFill>
                  <a:srgbClr val="000000"/>
                </a:solidFill>
                <a:latin typeface="Times New Roman"/>
              </a:rPr>
              <a:t> the standard lens for code generation, instead of text overlap metrics.</a:t>
            </a:r>
          </a:p>
          <a:p>
            <a:endParaRPr sz="1800" dirty="0">
              <a:solidFill>
                <a:srgbClr val="000000"/>
              </a:solidFill>
              <a:latin typeface="Times New Roman"/>
            </a:endParaRPr>
          </a:p>
          <a:p>
            <a:r>
              <a:rPr sz="2000" b="1" dirty="0">
                <a:solidFill>
                  <a:srgbClr val="000000"/>
                </a:solidFill>
                <a:latin typeface="Times New Roman"/>
              </a:rPr>
              <a:t>Why it matters:</a:t>
            </a:r>
          </a:p>
          <a:p>
            <a:pPr lvl="1"/>
            <a:r>
              <a:rPr sz="1800" dirty="0">
                <a:solidFill>
                  <a:srgbClr val="CC0000"/>
                </a:solidFill>
                <a:latin typeface="Times New Roman"/>
              </a:rPr>
              <a:t>Codex proves strong code synthesis, but its deeper legacy is making execution the oracle for programming tasks. </a:t>
            </a:r>
            <a:r>
              <a:rPr sz="1800" dirty="0">
                <a:solidFill>
                  <a:srgbClr val="000000"/>
                </a:solidFill>
                <a:latin typeface="Times New Roman"/>
              </a:rPr>
              <a:t>That sets up the next question: should execution stay only as an evaluator, or become part of the agent loop itself?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3749194-6EC1-BA3F-DBA6-83EE0A8168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600" b="1">
                <a:solidFill>
                  <a:srgbClr val="000000"/>
                </a:solidFill>
                <a:latin typeface="Times New Roman"/>
              </a:rPr>
              <a:t>Codex — HumanEval: Execution as the Oracle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3687" y="1187605"/>
            <a:ext cx="6035040" cy="0"/>
          </a:xfrm>
        </p:spPr>
        <p:txBody>
          <a:bodyPr>
            <a:noAutofit/>
          </a:bodyPr>
          <a:lstStyle/>
          <a:p>
            <a:r>
              <a:rPr sz="1800" dirty="0">
                <a:solidFill>
                  <a:srgbClr val="000000"/>
                </a:solidFill>
                <a:latin typeface="Times New Roman"/>
              </a:rPr>
              <a:t>Codex made execution-based testing, not text similarity, the core way to judge code generation.</a:t>
            </a:r>
          </a:p>
          <a:p>
            <a:pPr lvl="1"/>
            <a:r>
              <a:rPr sz="1800" dirty="0">
                <a:solidFill>
                  <a:srgbClr val="000000"/>
                </a:solidFill>
                <a:latin typeface="Times New Roman"/>
              </a:rPr>
              <a:t>164 hand-written Python problems: docstring + signature → function body.</a:t>
            </a:r>
          </a:p>
          <a:p>
            <a:pPr lvl="1"/>
            <a:r>
              <a:rPr sz="1800" dirty="0">
                <a:solidFill>
                  <a:srgbClr val="000000"/>
                </a:solidFill>
                <a:latin typeface="Times New Roman"/>
              </a:rPr>
              <a:t>Hidden unit tests define </a:t>
            </a:r>
            <a:r>
              <a:rPr sz="1800" i="1" dirty="0">
                <a:solidFill>
                  <a:srgbClr val="000000"/>
                </a:solidFill>
                <a:latin typeface="Times New Roman"/>
              </a:rPr>
              <a:t>functional correctness</a:t>
            </a:r>
            <a:r>
              <a:rPr sz="1800" dirty="0">
                <a:solidFill>
                  <a:srgbClr val="000000"/>
                </a:solidFill>
                <a:latin typeface="Times New Roman"/>
              </a:rPr>
              <a:t>; average 7.7 tests/problem.</a:t>
            </a:r>
          </a:p>
          <a:p>
            <a:pPr lvl="1"/>
            <a:r>
              <a:rPr sz="1800" dirty="0">
                <a:solidFill>
                  <a:srgbClr val="000000"/>
                </a:solidFill>
                <a:latin typeface="Times New Roman"/>
              </a:rPr>
              <a:t>This figure shows </a:t>
            </a:r>
            <a:r>
              <a:rPr sz="1800" b="1" dirty="0">
                <a:solidFill>
                  <a:srgbClr val="000000"/>
                </a:solidFill>
                <a:latin typeface="Times New Roman"/>
              </a:rPr>
              <a:t>pass@1</a:t>
            </a:r>
            <a:r>
              <a:rPr sz="1800" dirty="0">
                <a:solidFill>
                  <a:srgbClr val="000000"/>
                </a:solidFill>
                <a:latin typeface="Times New Roman"/>
              </a:rPr>
              <a:t> curves plus 100-sample selection results for Codex-S.</a:t>
            </a:r>
          </a:p>
          <a:p>
            <a:pPr lvl="1"/>
            <a:r>
              <a:rPr sz="1800" dirty="0">
                <a:solidFill>
                  <a:srgbClr val="000000"/>
                </a:solidFill>
                <a:latin typeface="Times New Roman"/>
              </a:rPr>
              <a:t>Tasks were written by hand to reduce contamination from the GitHub training corpus.</a:t>
            </a:r>
          </a:p>
          <a:p>
            <a:pPr lvl="1"/>
            <a:r>
              <a:rPr sz="1800" dirty="0">
                <a:solidFill>
                  <a:srgbClr val="000000"/>
                </a:solidFill>
                <a:latin typeface="Times New Roman"/>
              </a:rPr>
              <a:t>Figure lesson: the model often contains a correct solution before it can deliver one reliably at pass@1.</a:t>
            </a:r>
          </a:p>
        </p:txBody>
      </p:sp>
      <p:pic>
        <p:nvPicPr>
          <p:cNvPr id="4" name="Picture 3" descr="codex-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143000"/>
            <a:ext cx="5029200" cy="33688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0" y="451186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 dirty="0">
                <a:solidFill>
                  <a:srgbClr val="000000"/>
                </a:solidFill>
                <a:latin typeface="Times New Roman"/>
              </a:rPr>
              <a:t>Figure 1. Main curves are pass@1; red/purple lines show 100-sample selection results.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CDFC85-35BC-BC5F-4D38-25D1022224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600" b="1">
                <a:solidFill>
                  <a:srgbClr val="000000"/>
                </a:solidFill>
                <a:latin typeface="Times New Roman"/>
              </a:rPr>
              <a:t>Codex — Findings, Limits, and the Next 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81" y="1143000"/>
            <a:ext cx="6035040" cy="0"/>
          </a:xfrm>
        </p:spPr>
        <p:txBody>
          <a:bodyPr>
            <a:noAutofit/>
          </a:bodyPr>
          <a:lstStyle/>
          <a:p>
            <a:r>
              <a:rPr sz="1800" b="1" dirty="0">
                <a:solidFill>
                  <a:srgbClr val="000000"/>
                </a:solidFill>
                <a:latin typeface="Times New Roman"/>
              </a:rPr>
              <a:t>Findings:</a:t>
            </a:r>
          </a:p>
          <a:p>
            <a:pPr lvl="1"/>
            <a:r>
              <a:rPr sz="1800" dirty="0">
                <a:solidFill>
                  <a:srgbClr val="000000"/>
                </a:solidFill>
                <a:latin typeface="Times New Roman"/>
              </a:rPr>
              <a:t>Code-tuning clearly beats the base GPT-3 model.</a:t>
            </a:r>
          </a:p>
          <a:p>
            <a:pPr lvl="1"/>
            <a:r>
              <a:rPr sz="1800" dirty="0">
                <a:solidFill>
                  <a:srgbClr val="000000"/>
                </a:solidFill>
                <a:latin typeface="Times New Roman"/>
              </a:rPr>
              <a:t>100-sample gains show capability exists before first-try reliability.</a:t>
            </a:r>
          </a:p>
          <a:p>
            <a:pPr lvl="1"/>
            <a:r>
              <a:rPr sz="1800" dirty="0">
                <a:solidFill>
                  <a:srgbClr val="000000"/>
                </a:solidFill>
                <a:latin typeface="Times New Roman"/>
              </a:rPr>
              <a:t>pass@1 and pass@100 both scale with model size.</a:t>
            </a:r>
          </a:p>
          <a:p>
            <a:endParaRPr sz="1800" dirty="0">
              <a:solidFill>
                <a:srgbClr val="000000"/>
              </a:solidFill>
              <a:latin typeface="Times New Roman"/>
            </a:endParaRPr>
          </a:p>
          <a:p>
            <a:r>
              <a:rPr sz="1800" b="1" dirty="0">
                <a:solidFill>
                  <a:srgbClr val="000000"/>
                </a:solidFill>
                <a:latin typeface="Times New Roman"/>
              </a:rPr>
              <a:t>Limitations:</a:t>
            </a:r>
          </a:p>
          <a:p>
            <a:pPr lvl="1"/>
            <a:r>
              <a:rPr sz="1800" dirty="0">
                <a:solidFill>
                  <a:srgbClr val="000000"/>
                </a:solidFill>
                <a:latin typeface="Times New Roman"/>
              </a:rPr>
              <a:t>No agent loop that executes, observes, and repairs.</a:t>
            </a:r>
          </a:p>
          <a:p>
            <a:endParaRPr sz="1800" dirty="0">
              <a:solidFill>
                <a:srgbClr val="000000"/>
              </a:solidFill>
              <a:latin typeface="Times New Roman"/>
            </a:endParaRPr>
          </a:p>
          <a:p>
            <a:r>
              <a:rPr sz="1800" b="1" dirty="0">
                <a:solidFill>
                  <a:srgbClr val="CC0000"/>
                </a:solidFill>
                <a:latin typeface="Times New Roman"/>
              </a:rPr>
              <a:t>⇒  Next: move execution from evaluator to action.</a:t>
            </a:r>
          </a:p>
        </p:txBody>
      </p:sp>
      <p:pic>
        <p:nvPicPr>
          <p:cNvPr id="4" name="Picture 3" descr="ft-pass-vs-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143000"/>
            <a:ext cx="5029200" cy="33688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0" y="451186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 dirty="0">
                <a:solidFill>
                  <a:srgbClr val="000000"/>
                </a:solidFill>
                <a:latin typeface="Times New Roman"/>
              </a:rPr>
              <a:t>Figure 2. pass@1 and pass@100 both scale smoothly with model size (Chen et al., 2021).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F95911-A1CE-B363-C804-A7B61686E1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600" b="1">
                <a:solidFill>
                  <a:srgbClr val="000000"/>
                </a:solidFill>
                <a:latin typeface="Times New Roman"/>
              </a:rPr>
              <a:t>Paper 2 — CodeAct (Wang et al., ICML 2024)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b="1">
                <a:solidFill>
                  <a:srgbClr val="000000"/>
                </a:solidFill>
                <a:latin typeface="Times New Roman"/>
              </a:rPr>
              <a:t>“Executable Code Actions Elicit Better LLM Agents”</a:t>
            </a:r>
          </a:p>
          <a:p>
            <a:r>
              <a:rPr sz="1800" i="1">
                <a:solidFill>
                  <a:srgbClr val="000000"/>
                </a:solidFill>
                <a:latin typeface="Times New Roman"/>
              </a:rPr>
              <a:t>Wang et al.  ICML 2024</a:t>
            </a:r>
          </a:p>
          <a:p>
            <a:endParaRPr sz="1800" i="1">
              <a:solidFill>
                <a:srgbClr val="000000"/>
              </a:solidFill>
              <a:latin typeface="Times New Roman"/>
            </a:endParaRPr>
          </a:p>
          <a:p>
            <a:r>
              <a:rPr sz="2000" b="1">
                <a:solidFill>
                  <a:srgbClr val="000000"/>
                </a:solidFill>
                <a:latin typeface="Times New Roman"/>
              </a:rPr>
              <a:t>Core contribution:</a:t>
            </a:r>
          </a:p>
          <a:p>
            <a:pPr lvl="1"/>
            <a:r>
              <a:rPr sz="1800">
                <a:solidFill>
                  <a:srgbClr val="000000"/>
                </a:solidFill>
                <a:latin typeface="Times New Roman"/>
              </a:rPr>
              <a:t>Proposes </a:t>
            </a:r>
            <a:r>
              <a:rPr sz="1800" b="1">
                <a:solidFill>
                  <a:srgbClr val="000000"/>
                </a:solidFill>
                <a:latin typeface="Times New Roman"/>
              </a:rPr>
              <a:t>CodeAct</a:t>
            </a:r>
            <a:r>
              <a:rPr sz="1800">
                <a:solidFill>
                  <a:srgbClr val="000000"/>
                </a:solidFill>
                <a:latin typeface="Times New Roman"/>
              </a:rPr>
              <a:t>: let the agent emit executable </a:t>
            </a:r>
            <a:r>
              <a:rPr sz="1800" i="1">
                <a:solidFill>
                  <a:srgbClr val="000000"/>
                </a:solidFill>
                <a:latin typeface="Times New Roman"/>
              </a:rPr>
              <a:t>Python code</a:t>
            </a:r>
            <a:r>
              <a:rPr sz="1800">
                <a:solidFill>
                  <a:srgbClr val="000000"/>
                </a:solidFill>
                <a:latin typeface="Times New Roman"/>
              </a:rPr>
              <a:t> as its action.</a:t>
            </a:r>
          </a:p>
          <a:p>
            <a:pPr lvl="1"/>
            <a:r>
              <a:rPr sz="1800">
                <a:solidFill>
                  <a:srgbClr val="000000"/>
                </a:solidFill>
                <a:latin typeface="Times New Roman"/>
              </a:rPr>
              <a:t>Replaces JSON/text action formats with executable code inside a </a:t>
            </a:r>
            <a:r>
              <a:rPr sz="1800" b="1">
                <a:solidFill>
                  <a:srgbClr val="000000"/>
                </a:solidFill>
                <a:latin typeface="Times New Roman"/>
              </a:rPr>
              <a:t>Python interpreter</a:t>
            </a:r>
            <a:r>
              <a:rPr sz="1800">
                <a:solidFill>
                  <a:srgbClr val="000000"/>
                </a:solidFill>
                <a:latin typeface="Times New Roman"/>
              </a:rPr>
              <a:t>.</a:t>
            </a:r>
          </a:p>
          <a:p>
            <a:pPr lvl="1"/>
            <a:r>
              <a:rPr sz="1800">
                <a:solidFill>
                  <a:srgbClr val="CC0000"/>
                </a:solidFill>
                <a:latin typeface="Times New Roman"/>
              </a:rPr>
              <a:t>Agent observes stdout/stderr as feedback and iterates — closing the execution loop.</a:t>
            </a:r>
          </a:p>
          <a:p>
            <a:pPr lvl="1"/>
            <a:r>
              <a:rPr sz="1800">
                <a:solidFill>
                  <a:srgbClr val="000000"/>
                </a:solidFill>
                <a:latin typeface="Times New Roman"/>
              </a:rPr>
              <a:t>Also releases </a:t>
            </a:r>
            <a:r>
              <a:rPr sz="1800" b="1">
                <a:solidFill>
                  <a:srgbClr val="000000"/>
                </a:solidFill>
                <a:latin typeface="Times New Roman"/>
              </a:rPr>
              <a:t>CodeActAgent</a:t>
            </a:r>
            <a:r>
              <a:rPr sz="1800">
                <a:solidFill>
                  <a:srgbClr val="000000"/>
                </a:solidFill>
                <a:latin typeface="Times New Roman"/>
              </a:rPr>
              <a:t>, with 7B models fine-tuned from LLaMA-2 and Mistral.</a:t>
            </a:r>
          </a:p>
          <a:p>
            <a:endParaRPr sz="1800">
              <a:solidFill>
                <a:srgbClr val="000000"/>
              </a:solidFill>
              <a:latin typeface="Times New Roman"/>
            </a:endParaRPr>
          </a:p>
          <a:p>
            <a:r>
              <a:rPr sz="2000" b="1">
                <a:solidFill>
                  <a:srgbClr val="000000"/>
                </a:solidFill>
                <a:latin typeface="Times New Roman"/>
              </a:rPr>
              <a:t>Systems connection:  </a:t>
            </a:r>
            <a:r>
              <a:rPr sz="2000">
                <a:solidFill>
                  <a:srgbClr val="000000"/>
                </a:solidFill>
                <a:latin typeface="Times New Roman"/>
              </a:rPr>
              <a:t>Actions become executable programs that interact with tools, packages, and external environments through code.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35223EF-939E-8DAF-F6DC-AE0748229E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600" b="1">
                <a:solidFill>
                  <a:srgbClr val="000000"/>
                </a:solidFill>
                <a:latin typeface="Times New Roman"/>
              </a:rPr>
              <a:t>CodeAct — Action Space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011" y="1143000"/>
            <a:ext cx="6035040" cy="0"/>
          </a:xfrm>
        </p:spPr>
        <p:txBody>
          <a:bodyPr>
            <a:noAutofit/>
          </a:bodyPr>
          <a:lstStyle/>
          <a:p>
            <a:r>
              <a:rPr sz="1800" dirty="0">
                <a:solidFill>
                  <a:srgbClr val="000000"/>
                </a:solidFill>
                <a:latin typeface="Times New Roman"/>
              </a:rPr>
              <a:t>Code works as an action space because it is already executable, stateful, and composable.</a:t>
            </a:r>
          </a:p>
          <a:p>
            <a:pPr lvl="1"/>
            <a:r>
              <a:rPr sz="1800" dirty="0">
                <a:solidFill>
                  <a:srgbClr val="000000"/>
                </a:solidFill>
                <a:latin typeface="Times New Roman"/>
              </a:rPr>
              <a:t>One action can express the whole procedure.</a:t>
            </a:r>
          </a:p>
          <a:p>
            <a:pPr lvl="1"/>
            <a:r>
              <a:rPr sz="1800" dirty="0">
                <a:solidFill>
                  <a:srgbClr val="000000"/>
                </a:solidFill>
                <a:latin typeface="Times New Roman"/>
              </a:rPr>
              <a:t>Runtime state stays available for the next step.</a:t>
            </a:r>
          </a:p>
          <a:p>
            <a:pPr lvl="1"/>
            <a:r>
              <a:rPr sz="1800" dirty="0">
                <a:solidFill>
                  <a:srgbClr val="000000"/>
                </a:solidFill>
                <a:latin typeface="Times New Roman"/>
              </a:rPr>
              <a:t>Failures become actionable execution feedback.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0" y="11704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 dirty="0">
                <a:solidFill>
                  <a:srgbClr val="000000"/>
                </a:solidFill>
                <a:latin typeface="Times New Roman"/>
              </a:rPr>
              <a:t>Table 2. Comparison of action formats for LLM agents.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186473"/>
              </p:ext>
            </p:extLst>
          </p:nvPr>
        </p:nvGraphicFramePr>
        <p:xfrm>
          <a:off x="5895833" y="1536192"/>
          <a:ext cx="5899928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0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03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49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Property</a:t>
                      </a:r>
                    </a:p>
                  </a:txBody>
                  <a:tcPr>
                    <a:solidFill>
                      <a:srgbClr val="9900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Natural
language</a:t>
                      </a:r>
                    </a:p>
                  </a:txBody>
                  <a:tcPr>
                    <a:solidFill>
                      <a:srgbClr val="9900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JSON
tools</a:t>
                      </a:r>
                    </a:p>
                  </a:txBody>
                  <a:tcPr>
                    <a:solidFill>
                      <a:srgbClr val="9900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CodeAct</a:t>
                      </a:r>
                    </a:p>
                  </a:txBody>
                  <a:tcPr>
                    <a:solidFill>
                      <a:srgbClr val="99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Executability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Needs parser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Needs router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Runs directly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Composition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000000"/>
                          </a:solidFill>
                          <a:latin typeface="Times New Roman"/>
                        </a:rPr>
                        <a:t>Weak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One tool/call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Loops, helpers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Prompt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External 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Runtime vars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Error feedback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Text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Tool return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000000"/>
                          </a:solidFill>
                          <a:latin typeface="Times New Roman"/>
                        </a:rPr>
                        <a:t>Traceback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CB7402-7725-47A5-7CFE-51D30F0525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600" b="1">
                <a:solidFill>
                  <a:srgbClr val="000000"/>
                </a:solidFill>
                <a:latin typeface="Times New Roman"/>
              </a:rPr>
              <a:t>CodeAct — A Concrete Interaction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005840"/>
            <a:ext cx="10972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000000"/>
                </a:solidFill>
                <a:latin typeface="Times New Roman"/>
              </a:rPr>
              <a:t>Example claim:  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one code action can replace several tool calls while keeping runtime state alive.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426464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000000"/>
                </a:solidFill>
                <a:latin typeface="Times New Roman"/>
              </a:rPr>
              <a:t>Task:  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“Find all CSV files in the project and count total rows.”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847088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Times New Roman"/>
              </a:rPr>
              <a:t>Agent emits: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2212848"/>
            <a:ext cx="5394960" cy="2331720"/>
          </a:xfrm>
          <a:prstGeom prst="rect">
            <a:avLst/>
          </a:prstGeom>
          <a:solidFill>
            <a:srgbClr val="F2F2F2"/>
          </a:solidFill>
        </p:spPr>
        <p:txBody>
          <a:bodyPr wrap="none">
            <a:spAutoFit/>
          </a:bodyPr>
          <a:lstStyle/>
          <a:p>
            <a:r>
              <a:rPr sz="1500" dirty="0">
                <a:solidFill>
                  <a:srgbClr val="000000"/>
                </a:solidFill>
                <a:latin typeface="Courier New"/>
              </a:rPr>
              <a:t>import glob</a:t>
            </a:r>
          </a:p>
          <a:p>
            <a:r>
              <a:rPr sz="1500" dirty="0">
                <a:solidFill>
                  <a:srgbClr val="000000"/>
                </a:solidFill>
                <a:latin typeface="Courier New"/>
              </a:rPr>
              <a:t>files = </a:t>
            </a:r>
            <a:r>
              <a:rPr sz="1500" dirty="0" err="1">
                <a:solidFill>
                  <a:srgbClr val="000000"/>
                </a:solidFill>
                <a:latin typeface="Courier New"/>
              </a:rPr>
              <a:t>glob.glob</a:t>
            </a:r>
            <a:r>
              <a:rPr sz="1500" dirty="0">
                <a:solidFill>
                  <a:srgbClr val="000000"/>
                </a:solidFill>
                <a:latin typeface="Courier New"/>
              </a:rPr>
              <a:t>("**/*.csv", recursive=True)</a:t>
            </a:r>
          </a:p>
          <a:p>
            <a:r>
              <a:rPr sz="1500" dirty="0">
                <a:solidFill>
                  <a:srgbClr val="000000"/>
                </a:solidFill>
                <a:latin typeface="Courier New"/>
              </a:rPr>
              <a:t>total = 0</a:t>
            </a:r>
          </a:p>
          <a:p>
            <a:r>
              <a:rPr sz="1500" dirty="0">
                <a:solidFill>
                  <a:srgbClr val="000000"/>
                </a:solidFill>
                <a:latin typeface="Courier New"/>
              </a:rPr>
              <a:t>for f in files:</a:t>
            </a:r>
          </a:p>
          <a:p>
            <a:r>
              <a:rPr sz="1500" dirty="0">
                <a:solidFill>
                  <a:srgbClr val="000000"/>
                </a:solidFill>
                <a:latin typeface="Courier New"/>
              </a:rPr>
              <a:t>    with open(f) as </a:t>
            </a:r>
            <a:r>
              <a:rPr sz="1500" dirty="0" err="1">
                <a:solidFill>
                  <a:srgbClr val="000000"/>
                </a:solidFill>
                <a:latin typeface="Courier New"/>
              </a:rPr>
              <a:t>fh</a:t>
            </a:r>
            <a:r>
              <a:rPr sz="1500" dirty="0">
                <a:solidFill>
                  <a:srgbClr val="000000"/>
                </a:solidFill>
                <a:latin typeface="Courier New"/>
              </a:rPr>
              <a:t>:</a:t>
            </a:r>
          </a:p>
          <a:p>
            <a:r>
              <a:rPr sz="1500" dirty="0">
                <a:solidFill>
                  <a:srgbClr val="000000"/>
                </a:solidFill>
                <a:latin typeface="Courier New"/>
              </a:rPr>
              <a:t>        total += sum(1 for r in </a:t>
            </a:r>
            <a:r>
              <a:rPr sz="1500" dirty="0" err="1">
                <a:solidFill>
                  <a:srgbClr val="000000"/>
                </a:solidFill>
                <a:latin typeface="Courier New"/>
              </a:rPr>
              <a:t>fh</a:t>
            </a:r>
            <a:r>
              <a:rPr sz="1500" dirty="0">
                <a:solidFill>
                  <a:srgbClr val="000000"/>
                </a:solidFill>
                <a:latin typeface="Courier New"/>
              </a:rPr>
              <a:t>) - 1</a:t>
            </a:r>
          </a:p>
          <a:p>
            <a:r>
              <a:rPr sz="1500" dirty="0">
                <a:solidFill>
                  <a:srgbClr val="000000"/>
                </a:solidFill>
                <a:latin typeface="Courier New"/>
              </a:rPr>
              <a:t>print(files, total)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47088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Times New Roman"/>
              </a:rPr>
              <a:t>Observation (stdout):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212848"/>
            <a:ext cx="5486400" cy="777240"/>
          </a:xfrm>
          <a:prstGeom prst="rect">
            <a:avLst/>
          </a:prstGeom>
          <a:solidFill>
            <a:srgbClr val="F2F2F2"/>
          </a:solidFill>
        </p:spPr>
        <p:txBody>
          <a:bodyPr wrap="none">
            <a:spAutoFit/>
          </a:bodyPr>
          <a:lstStyle/>
          <a:p>
            <a:r>
              <a:rPr sz="1500">
                <a:solidFill>
                  <a:srgbClr val="000000"/>
                </a:solidFill>
                <a:latin typeface="Courier New"/>
              </a:rPr>
              <a:t>['data/a.csv', 'logs/b.csv'] 1843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108960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Times New Roman"/>
              </a:rPr>
              <a:t>Agent’s final reply: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474720"/>
            <a:ext cx="5486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00000"/>
                </a:solidFill>
                <a:latin typeface="Times New Roman"/>
              </a:rPr>
              <a:t>“Found 2 CSV files, 1843 data rows total.”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4754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00000"/>
                </a:solidFill>
                <a:latin typeface="Times New Roman"/>
              </a:rPr>
              <a:t>One action replaces 3–4 sequential JSON tool calls.</a:t>
            </a:r>
          </a:p>
          <a:p>
            <a:r>
              <a:rPr sz="2000">
                <a:solidFill>
                  <a:srgbClr val="000000"/>
                </a:solidFill>
                <a:latin typeface="Times New Roman"/>
              </a:rPr>
              <a:t>State persists across turns; tracebacks enable self-correction.</a:t>
            </a:r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0B07D977-2059-7B78-EC3A-E87ADDA1CC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600" b="1">
                <a:solidFill>
                  <a:srgbClr val="000000"/>
                </a:solidFill>
                <a:latin typeface="Times New Roman"/>
              </a:rPr>
              <a:t>CodeAct Results and Transition to OpenHands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b="1" dirty="0">
                <a:solidFill>
                  <a:srgbClr val="000000"/>
                </a:solidFill>
                <a:latin typeface="Times New Roman"/>
              </a:rPr>
              <a:t>Result:  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executable code actions improve both success rate and turn efficiency on realistic tasks.</a:t>
            </a:r>
          </a:p>
          <a:p>
            <a:pPr lvl="1"/>
            <a:r>
              <a:rPr sz="2000" b="1" dirty="0">
                <a:solidFill>
                  <a:srgbClr val="000000"/>
                </a:solidFill>
                <a:latin typeface="Times New Roman"/>
              </a:rPr>
              <a:t>M³ToolEval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: 82 human-curated multi-turn tool-use tasks.</a:t>
            </a:r>
          </a:p>
          <a:p>
            <a:pPr lvl="1"/>
            <a:r>
              <a:rPr sz="2000" dirty="0">
                <a:solidFill>
                  <a:srgbClr val="000000"/>
                </a:solidFill>
                <a:latin typeface="Times New Roman"/>
              </a:rPr>
              <a:t>For gpt-4-1106-preview,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CodeAct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reaches </a:t>
            </a:r>
            <a:r>
              <a:rPr sz="2000" b="1" dirty="0">
                <a:solidFill>
                  <a:srgbClr val="000000"/>
                </a:solidFill>
                <a:latin typeface="Times New Roman"/>
              </a:rPr>
              <a:t>74.4%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vs. 52.4% for JSON and 53.7% for text.</a:t>
            </a:r>
          </a:p>
          <a:p>
            <a:pPr lvl="1"/>
            <a:r>
              <a:rPr sz="2000" dirty="0">
                <a:solidFill>
                  <a:srgbClr val="000000"/>
                </a:solidFill>
                <a:latin typeface="Times New Roman"/>
              </a:rPr>
              <a:t>Fine-tuned 7B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CodeActAgent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models improve open-source agent performance, especially with the Mistral backbone.</a:t>
            </a:r>
          </a:p>
          <a:p>
            <a:pPr lvl="1"/>
            <a:r>
              <a:rPr sz="2000" dirty="0">
                <a:solidFill>
                  <a:srgbClr val="000000"/>
                </a:solidFill>
                <a:latin typeface="Times New Roman"/>
              </a:rPr>
              <a:t>Fewer turns: code compresses multiple actions into one.</a:t>
            </a:r>
          </a:p>
          <a:p>
            <a:pPr lvl="1"/>
            <a:r>
              <a:rPr sz="2000" b="1" dirty="0">
                <a:solidFill>
                  <a:srgbClr val="000000"/>
                </a:solidFill>
                <a:latin typeface="Times New Roman"/>
              </a:rPr>
              <a:t>Next question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: what runtime and agent framework can support this interaction model?</a:t>
            </a:r>
          </a:p>
          <a:p>
            <a:pPr lvl="1"/>
            <a:r>
              <a:rPr sz="2000" b="1" dirty="0" err="1">
                <a:solidFill>
                  <a:srgbClr val="000000"/>
                </a:solidFill>
                <a:latin typeface="Times New Roman"/>
              </a:rPr>
              <a:t>OpenHands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provides a sandboxed runtime, an event stream, and a hub of reusable agents.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260968E-C184-5EB7-D593-E65A38C69D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600" b="1">
                <a:solidFill>
                  <a:srgbClr val="000000"/>
                </a:solidFill>
                <a:latin typeface="Times New Roman"/>
              </a:rPr>
              <a:t>CodeAct — Zero-Shot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flipH="1">
            <a:off x="594788" y="1188720"/>
            <a:ext cx="6987654" cy="457200"/>
          </a:xfrm>
        </p:spPr>
        <p:txBody>
          <a:bodyPr>
            <a:noAutofit/>
          </a:bodyPr>
          <a:lstStyle/>
          <a:p>
            <a:r>
              <a:rPr sz="1800" b="1" dirty="0">
                <a:solidFill>
                  <a:srgbClr val="000000"/>
                </a:solidFill>
                <a:latin typeface="Times New Roman"/>
              </a:rPr>
              <a:t>Result:  </a:t>
            </a:r>
            <a:r>
              <a:rPr sz="1800" dirty="0">
                <a:solidFill>
                  <a:srgbClr val="000000"/>
                </a:solidFill>
                <a:latin typeface="Times New Roman"/>
              </a:rPr>
              <a:t>the advantage of code actions still appears in the zero-shot setting.</a:t>
            </a:r>
          </a:p>
        </p:txBody>
      </p:sp>
      <p:pic>
        <p:nvPicPr>
          <p:cNvPr id="4" name="Picture 3" descr="zero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708" y="1906592"/>
            <a:ext cx="9966960" cy="26815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788" y="4588161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000000"/>
                </a:solidFill>
                <a:latin typeface="Times New Roman"/>
              </a:rPr>
              <a:t>Figure 4. Zero-shot model performance across action formats (Wang et al., ICML 2024).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51BB90-3A34-AE22-91E8-0F843EE0BE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600" b="1">
                <a:solidFill>
                  <a:srgbClr val="000000"/>
                </a:solidFill>
                <a:latin typeface="Times New Roman"/>
              </a:rPr>
              <a:t>Paper 3 — OpenHands (Wang et al., ICLR 2025)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b="1" dirty="0">
                <a:solidFill>
                  <a:srgbClr val="000000"/>
                </a:solidFill>
                <a:latin typeface="Times New Roman"/>
              </a:rPr>
              <a:t>“An Open Platform for AI Software Developers as Generalist Agents”</a:t>
            </a:r>
          </a:p>
          <a:p>
            <a:r>
              <a:rPr sz="2000" i="1" dirty="0">
                <a:solidFill>
                  <a:srgbClr val="000000"/>
                </a:solidFill>
                <a:latin typeface="Times New Roman"/>
              </a:rPr>
              <a:t>Wang et al.  ICLR 2025</a:t>
            </a:r>
          </a:p>
          <a:p>
            <a:endParaRPr sz="2000" i="1" dirty="0">
              <a:solidFill>
                <a:srgbClr val="000000"/>
              </a:solidFill>
              <a:latin typeface="Times New Roman"/>
            </a:endParaRPr>
          </a:p>
          <a:p>
            <a:pPr lvl="1"/>
            <a:r>
              <a:rPr sz="2000" dirty="0">
                <a:solidFill>
                  <a:srgbClr val="000000"/>
                </a:solidFill>
                <a:latin typeface="Times New Roman"/>
              </a:rPr>
              <a:t>Open-source platform for building and evaluating generalist and specialist agents.</a:t>
            </a:r>
          </a:p>
          <a:p>
            <a:pPr lvl="1"/>
            <a:r>
              <a:rPr sz="2000" b="1" dirty="0">
                <a:solidFill>
                  <a:srgbClr val="000000"/>
                </a:solidFill>
                <a:latin typeface="Times New Roman"/>
              </a:rPr>
              <a:t>Docker sandbox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: each session gets an isolated container; no shared state.</a:t>
            </a:r>
          </a:p>
          <a:p>
            <a:pPr lvl="1"/>
            <a:r>
              <a:rPr sz="2000" b="1" dirty="0" err="1">
                <a:solidFill>
                  <a:srgbClr val="000000"/>
                </a:solidFill>
                <a:latin typeface="Times New Roman"/>
              </a:rPr>
              <a:t>EventStream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: tracks the history of actions, observations, and user interactions.</a:t>
            </a:r>
          </a:p>
          <a:p>
            <a:pPr lvl="1"/>
            <a:r>
              <a:rPr sz="2000" b="1" dirty="0">
                <a:solidFill>
                  <a:srgbClr val="000000"/>
                </a:solidFill>
                <a:latin typeface="Times New Roman"/>
              </a:rPr>
              <a:t>Runtime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: bash shell,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IPython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server, and Chromium browser inside the sandbox.</a:t>
            </a:r>
          </a:p>
          <a:p>
            <a:pPr lvl="1"/>
            <a:r>
              <a:rPr sz="2000" b="1" dirty="0" err="1">
                <a:solidFill>
                  <a:srgbClr val="000000"/>
                </a:solidFill>
                <a:latin typeface="Times New Roman"/>
              </a:rPr>
              <a:t>AgentHub</a:t>
            </a:r>
            <a:r>
              <a:rPr sz="2000" b="1" dirty="0">
                <a:solidFill>
                  <a:srgbClr val="000000"/>
                </a:solidFill>
                <a:latin typeface="Times New Roman"/>
              </a:rPr>
              <a:t> + </a:t>
            </a:r>
            <a:r>
              <a:rPr sz="2000" b="1" dirty="0" err="1">
                <a:solidFill>
                  <a:srgbClr val="000000"/>
                </a:solidFill>
                <a:latin typeface="Times New Roman"/>
              </a:rPr>
              <a:t>AgentSkills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: reusable agents and tools share the same runtime abstraction.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165DFA-119A-6E51-5C62-45EF8D80A3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600" b="1">
                <a:solidFill>
                  <a:srgbClr val="000000"/>
                </a:solidFill>
                <a:latin typeface="Times New Roman"/>
              </a:rPr>
              <a:t>OpenHands —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flipH="1">
            <a:off x="737660" y="1308727"/>
            <a:ext cx="11142133" cy="457200"/>
          </a:xfrm>
        </p:spPr>
        <p:txBody>
          <a:bodyPr>
            <a:normAutofit fontScale="85000" lnSpcReduction="10000"/>
          </a:bodyPr>
          <a:lstStyle/>
          <a:p>
            <a:r>
              <a:rPr sz="2000" dirty="0" err="1">
                <a:solidFill>
                  <a:srgbClr val="000000"/>
                </a:solidFill>
                <a:latin typeface="Times New Roman"/>
              </a:rPr>
              <a:t>OpenHands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turns code-based agency into a real software system with isolation, tool access, and a unified event log.</a:t>
            </a:r>
          </a:p>
        </p:txBody>
      </p:sp>
      <p:pic>
        <p:nvPicPr>
          <p:cNvPr id="4" name="Picture 3" descr="oh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1645920"/>
            <a:ext cx="7919796" cy="437196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2648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000000"/>
                </a:solidFill>
                <a:latin typeface="Times New Roman"/>
              </a:rPr>
              <a:t>Figure 5. OpenHands architecture (Wang et al., 2025).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892457-7249-F663-AEBB-79938AD807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600" b="1">
                <a:solidFill>
                  <a:srgbClr val="000000"/>
                </a:solidFill>
                <a:latin typeface="Times New Roman"/>
              </a:rPr>
              <a:t>OpenHands — AgentHub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4149" y="1143000"/>
            <a:ext cx="6035040" cy="0"/>
          </a:xfrm>
        </p:spPr>
        <p:txBody>
          <a:bodyPr>
            <a:noAutofit/>
          </a:bodyPr>
          <a:lstStyle/>
          <a:p>
            <a:r>
              <a:rPr sz="1800" dirty="0" err="1">
                <a:solidFill>
                  <a:srgbClr val="000000"/>
                </a:solidFill>
                <a:latin typeface="Times New Roman"/>
              </a:rPr>
              <a:t>OpenHands</a:t>
            </a:r>
            <a:r>
              <a:rPr sz="1800" dirty="0">
                <a:solidFill>
                  <a:srgbClr val="000000"/>
                </a:solidFill>
                <a:latin typeface="Times New Roman"/>
              </a:rPr>
              <a:t> separates shared runtime infrastructure from agent policy, so one platform can host multiple agent styles.</a:t>
            </a:r>
          </a:p>
          <a:p>
            <a:r>
              <a:rPr sz="1800" b="1" dirty="0" err="1">
                <a:solidFill>
                  <a:srgbClr val="000000"/>
                </a:solidFill>
                <a:latin typeface="Times New Roman"/>
              </a:rPr>
              <a:t>CodeActAgent</a:t>
            </a:r>
            <a:r>
              <a:rPr sz="1800" b="1" dirty="0">
                <a:solidFill>
                  <a:srgbClr val="000000"/>
                </a:solidFill>
                <a:latin typeface="Times New Roman"/>
              </a:rPr>
              <a:t>:</a:t>
            </a:r>
          </a:p>
          <a:p>
            <a:pPr lvl="1"/>
            <a:r>
              <a:rPr sz="1800" dirty="0">
                <a:solidFill>
                  <a:srgbClr val="000000"/>
                </a:solidFill>
                <a:latin typeface="Times New Roman"/>
              </a:rPr>
              <a:t>Default generalist agent in </a:t>
            </a:r>
            <a:r>
              <a:rPr sz="1800" dirty="0" err="1">
                <a:solidFill>
                  <a:srgbClr val="000000"/>
                </a:solidFill>
                <a:latin typeface="Times New Roman"/>
              </a:rPr>
              <a:t>OpenHands</a:t>
            </a:r>
            <a:r>
              <a:rPr sz="1800" dirty="0">
                <a:solidFill>
                  <a:srgbClr val="000000"/>
                </a:solidFill>
                <a:latin typeface="Times New Roman"/>
              </a:rPr>
              <a:t>.</a:t>
            </a:r>
          </a:p>
          <a:p>
            <a:pPr lvl="1"/>
            <a:r>
              <a:rPr sz="1800" dirty="0">
                <a:solidFill>
                  <a:srgbClr val="000000"/>
                </a:solidFill>
                <a:latin typeface="Times New Roman"/>
              </a:rPr>
              <a:t>Can converse with the user or act through code.</a:t>
            </a:r>
          </a:p>
          <a:p>
            <a:pPr lvl="1"/>
            <a:r>
              <a:rPr sz="1800" dirty="0">
                <a:solidFill>
                  <a:srgbClr val="000000"/>
                </a:solidFill>
                <a:latin typeface="Times New Roman"/>
              </a:rPr>
              <a:t>Uses bash, Python, and browser actions in one framework.</a:t>
            </a:r>
          </a:p>
          <a:p>
            <a:r>
              <a:rPr sz="1800" b="1" dirty="0">
                <a:solidFill>
                  <a:srgbClr val="000000"/>
                </a:solidFill>
                <a:latin typeface="Times New Roman"/>
              </a:rPr>
              <a:t>BrowsingAgent:</a:t>
            </a:r>
          </a:p>
          <a:p>
            <a:pPr lvl="1"/>
            <a:r>
              <a:rPr sz="1800" dirty="0">
                <a:solidFill>
                  <a:srgbClr val="000000"/>
                </a:solidFill>
                <a:latin typeface="Times New Roman"/>
              </a:rPr>
              <a:t>Generalist web agent used as a baseline for web tasks.</a:t>
            </a:r>
          </a:p>
          <a:p>
            <a:pPr lvl="1"/>
            <a:r>
              <a:rPr sz="1800" dirty="0">
                <a:solidFill>
                  <a:srgbClr val="000000"/>
                </a:solidFill>
                <a:latin typeface="Times New Roman"/>
              </a:rPr>
              <a:t>Similar in spirit to </a:t>
            </a:r>
            <a:r>
              <a:rPr sz="1800" dirty="0" err="1">
                <a:solidFill>
                  <a:srgbClr val="000000"/>
                </a:solidFill>
                <a:latin typeface="Times New Roman"/>
              </a:rPr>
              <a:t>WebArena</a:t>
            </a:r>
            <a:r>
              <a:rPr sz="1800" dirty="0">
                <a:solidFill>
                  <a:srgbClr val="000000"/>
                </a:solidFill>
                <a:latin typeface="Times New Roman"/>
              </a:rPr>
              <a:t>-style agents.</a:t>
            </a:r>
          </a:p>
          <a:p>
            <a:r>
              <a:rPr sz="1800" dirty="0">
                <a:solidFill>
                  <a:srgbClr val="000000"/>
                </a:solidFill>
                <a:latin typeface="Times New Roman"/>
              </a:rPr>
              <a:t>Also supports multi-agent delegation through a dedicated delegate action API.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143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000000"/>
                </a:solidFill>
                <a:latin typeface="Times New Roman"/>
              </a:rPr>
              <a:t>Table 3. OpenHands agent types.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4162196"/>
              </p:ext>
            </p:extLst>
          </p:nvPr>
        </p:nvGraphicFramePr>
        <p:xfrm>
          <a:off x="6858000" y="1536192"/>
          <a:ext cx="4937760" cy="2435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7061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Agent</a:t>
                      </a:r>
                    </a:p>
                  </a:txBody>
                  <a:tcPr>
                    <a:solidFill>
                      <a:srgbClr val="9900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Role</a:t>
                      </a:r>
                    </a:p>
                  </a:txBody>
                  <a:tcPr>
                    <a:solidFill>
                      <a:srgbClr val="99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061">
                <a:tc>
                  <a:txBody>
                    <a:bodyPr/>
                    <a:lstStyle/>
                    <a:p>
                      <a:pPr algn="ctr"/>
                      <a:r>
                        <a:rPr sz="1400" dirty="0" err="1">
                          <a:solidFill>
                            <a:srgbClr val="000000"/>
                          </a:solidFill>
                          <a:latin typeface="Times New Roman"/>
                        </a:rPr>
                        <a:t>CodeActAgent</a:t>
                      </a:r>
                      <a:endParaRPr sz="1400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Default generalist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061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BrowsingAgent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Web baseline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061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GPTSwarm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Graph multi-agent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061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Micro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000000"/>
                          </a:solidFill>
                          <a:latin typeface="Times New Roman"/>
                        </a:rPr>
                        <a:t>Prompt specialist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4C247A-F336-991F-C85F-4DD003847D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14</a:t>
            </a:fld>
            <a:endParaRPr lang="zh-TW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600" b="1">
                <a:solidFill>
                  <a:srgbClr val="000000"/>
                </a:solidFill>
                <a:latin typeface="Times New Roman"/>
              </a:rPr>
              <a:t>OpenHands — Evaluation on SWE-Bench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" y="1241946"/>
            <a:ext cx="6035040" cy="0"/>
          </a:xfrm>
        </p:spPr>
        <p:txBody>
          <a:bodyPr>
            <a:noAutofit/>
          </a:bodyPr>
          <a:lstStyle/>
          <a:p>
            <a:r>
              <a:rPr sz="1800" dirty="0" err="1">
                <a:solidFill>
                  <a:srgbClr val="000000"/>
                </a:solidFill>
                <a:latin typeface="Times New Roman"/>
              </a:rPr>
              <a:t>OpenHands</a:t>
            </a:r>
            <a:r>
              <a:rPr sz="1800" dirty="0">
                <a:solidFill>
                  <a:srgbClr val="000000"/>
                </a:solidFill>
                <a:latin typeface="Times New Roman"/>
              </a:rPr>
              <a:t> is valuable because it is a reusable agent platform that remains competitive on real software tasks.</a:t>
            </a:r>
          </a:p>
          <a:p>
            <a:pPr lvl="1"/>
            <a:r>
              <a:rPr sz="1800" b="1" dirty="0">
                <a:solidFill>
                  <a:srgbClr val="000000"/>
                </a:solidFill>
                <a:latin typeface="Times New Roman"/>
              </a:rPr>
              <a:t>SWE-Bench Lite</a:t>
            </a:r>
            <a:r>
              <a:rPr sz="1800" dirty="0">
                <a:solidFill>
                  <a:srgbClr val="000000"/>
                </a:solidFill>
                <a:latin typeface="Times New Roman"/>
              </a:rPr>
              <a:t>: 300 real GitHub issues; task is to produce a passing patch.</a:t>
            </a:r>
          </a:p>
          <a:p>
            <a:pPr lvl="1"/>
            <a:r>
              <a:rPr sz="1800" dirty="0" err="1">
                <a:solidFill>
                  <a:srgbClr val="000000"/>
                </a:solidFill>
                <a:latin typeface="Times New Roman"/>
              </a:rPr>
              <a:t>OpenHands</a:t>
            </a:r>
            <a:r>
              <a:rPr sz="1800" dirty="0">
                <a:solidFill>
                  <a:srgbClr val="000000"/>
                </a:solidFill>
                <a:latin typeface="Times New Roman"/>
              </a:rPr>
              <a:t> + Claude-3.5 Sonnet: </a:t>
            </a:r>
            <a:r>
              <a:rPr sz="1800" b="1" dirty="0">
                <a:solidFill>
                  <a:srgbClr val="000000"/>
                </a:solidFill>
                <a:latin typeface="Times New Roman"/>
              </a:rPr>
              <a:t>26.0%</a:t>
            </a:r>
            <a:r>
              <a:rPr sz="1800" dirty="0">
                <a:solidFill>
                  <a:srgbClr val="000000"/>
                </a:solidFill>
                <a:latin typeface="Times New Roman"/>
              </a:rPr>
              <a:t> success rate.</a:t>
            </a:r>
          </a:p>
          <a:p>
            <a:pPr lvl="1"/>
            <a:r>
              <a:rPr sz="1800" dirty="0">
                <a:solidFill>
                  <a:srgbClr val="000000"/>
                </a:solidFill>
                <a:latin typeface="Times New Roman"/>
              </a:rPr>
              <a:t>Comparable to Aider (26.3%) and above SWE-Agent (18.0%) in this table.</a:t>
            </a:r>
          </a:p>
          <a:p>
            <a:pPr lvl="1"/>
            <a:r>
              <a:rPr sz="1800" dirty="0">
                <a:solidFill>
                  <a:srgbClr val="000000"/>
                </a:solidFill>
                <a:latin typeface="Times New Roman"/>
              </a:rPr>
              <a:t>Paper emphasizes breadth across benchmarks, not a single dominant SWE score.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143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000000"/>
                </a:solidFill>
                <a:latin typeface="Times New Roman"/>
              </a:rPr>
              <a:t>Table 4. SWE-Bench Lite results (ICLR 2025).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0" y="1536192"/>
          <a:ext cx="49377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System</a:t>
                      </a:r>
                    </a:p>
                  </a:txBody>
                  <a:tcPr>
                    <a:solidFill>
                      <a:srgbClr val="9900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Pass rate</a:t>
                      </a:r>
                    </a:p>
                  </a:txBody>
                  <a:tcPr>
                    <a:solidFill>
                      <a:srgbClr val="99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SWE-Agent (GPT-4)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18.0%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Aider (GPT-4o + Opus)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26.3%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OpenHands (Claude-3.5)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26.0%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3FB74C-64A4-F357-59EA-8696459F1E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15</a:t>
            </a:fld>
            <a:endParaRPr lang="zh-TW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600" b="1">
                <a:solidFill>
                  <a:srgbClr val="000000"/>
                </a:solidFill>
                <a:latin typeface="Times New Roman"/>
              </a:rPr>
              <a:t>Synthesis — The Narrative Arc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b="1">
                <a:solidFill>
                  <a:srgbClr val="000000"/>
                </a:solidFill>
                <a:latin typeface="Times New Roman"/>
              </a:rPr>
              <a:t>Conclusion:  </a:t>
            </a:r>
            <a:r>
              <a:rPr sz="2000">
                <a:solidFill>
                  <a:srgbClr val="000000"/>
                </a:solidFill>
                <a:latin typeface="Times New Roman"/>
              </a:rPr>
              <a:t>the three papers show a clear progression from code generation, to execution-grounded action, to full agent infrastructure.</a:t>
            </a:r>
          </a:p>
          <a:p>
            <a:pPr lvl="1"/>
            <a:r>
              <a:rPr sz="1800" b="1">
                <a:solidFill>
                  <a:srgbClr val="000000"/>
                </a:solidFill>
                <a:latin typeface="Times New Roman"/>
              </a:rPr>
              <a:t>Codex</a:t>
            </a:r>
            <a:r>
              <a:rPr sz="1800">
                <a:solidFill>
                  <a:srgbClr val="000000"/>
                </a:solidFill>
                <a:latin typeface="Times New Roman"/>
              </a:rPr>
              <a:t> establishes that LLMs can generate correct code at scale.</a:t>
            </a:r>
          </a:p>
          <a:p>
            <a:pPr lvl="1"/>
            <a:r>
              <a:rPr sz="1800" b="1">
                <a:solidFill>
                  <a:srgbClr val="000000"/>
                </a:solidFill>
                <a:latin typeface="Times New Roman"/>
              </a:rPr>
              <a:t>CodeAct</a:t>
            </a:r>
            <a:r>
              <a:rPr sz="1800">
                <a:solidFill>
                  <a:srgbClr val="000000"/>
                </a:solidFill>
                <a:latin typeface="Times New Roman"/>
              </a:rPr>
              <a:t> establishes that LLMs should act through code — not JSON or NL.</a:t>
            </a:r>
          </a:p>
          <a:p>
            <a:pPr lvl="1"/>
            <a:r>
              <a:rPr sz="1800" b="1">
                <a:solidFill>
                  <a:srgbClr val="000000"/>
                </a:solidFill>
                <a:latin typeface="Times New Roman"/>
              </a:rPr>
              <a:t>OpenHands</a:t>
            </a:r>
            <a:r>
              <a:rPr sz="1800">
                <a:solidFill>
                  <a:srgbClr val="000000"/>
                </a:solidFill>
                <a:latin typeface="Times New Roman"/>
              </a:rPr>
              <a:t> turns the paradigm into a reusable platform: sandboxed runtime, event stream, and shared agent abstractions.</a:t>
            </a:r>
          </a:p>
          <a:p>
            <a:endParaRPr sz="18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600" y="339058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000000"/>
                </a:solidFill>
                <a:latin typeface="Times New Roman"/>
              </a:rPr>
              <a:t>Table 5. Summary of the three papers and their OS connections.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4791178"/>
              </p:ext>
            </p:extLst>
          </p:nvPr>
        </p:nvGraphicFramePr>
        <p:xfrm>
          <a:off x="609600" y="3756342"/>
          <a:ext cx="1083564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#</a:t>
                      </a:r>
                    </a:p>
                  </a:txBody>
                  <a:tcPr>
                    <a:solidFill>
                      <a:srgbClr val="9900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Paper</a:t>
                      </a:r>
                    </a:p>
                  </a:txBody>
                  <a:tcPr>
                    <a:solidFill>
                      <a:srgbClr val="9900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Key idea</a:t>
                      </a:r>
                    </a:p>
                  </a:txBody>
                  <a:tcPr>
                    <a:solidFill>
                      <a:srgbClr val="9900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OS connection</a:t>
                      </a:r>
                    </a:p>
                  </a:txBody>
                  <a:tcPr>
                    <a:solidFill>
                      <a:srgbClr val="99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Codex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LLMs generate correct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Execution is the evaluator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CodeAct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Code is the agent action 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Executable code in a live interpreter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OpenHands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Open platform for coding agents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000000"/>
                          </a:solidFill>
                          <a:latin typeface="Times New Roman"/>
                        </a:rPr>
                        <a:t>Docker sandbox, event stream, runtime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46F711-53A9-D5F0-6138-F701B80199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16</a:t>
            </a:fld>
            <a:endParaRPr lang="zh-TW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600" b="1">
                <a:solidFill>
                  <a:srgbClr val="000000"/>
                </a:solidFill>
                <a:latin typeface="Times New Roman"/>
              </a:rPr>
              <a:t>Open Problems &amp; Future Directions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b="1">
                <a:solidFill>
                  <a:srgbClr val="000000"/>
                </a:solidFill>
                <a:latin typeface="Times New Roman"/>
              </a:rPr>
              <a:t>Reliability</a:t>
            </a:r>
            <a:r>
              <a:rPr sz="2000">
                <a:solidFill>
                  <a:srgbClr val="000000"/>
                </a:solidFill>
                <a:latin typeface="Times New Roman"/>
              </a:rPr>
              <a:t>: long-horizon tasks remain brittle as errors compound over many steps.</a:t>
            </a:r>
          </a:p>
          <a:p>
            <a:r>
              <a:rPr sz="2000" b="1">
                <a:solidFill>
                  <a:srgbClr val="000000"/>
                </a:solidFill>
                <a:latin typeface="Times New Roman"/>
              </a:rPr>
              <a:t>Systems tradeoff</a:t>
            </a:r>
            <a:r>
              <a:rPr sz="2000">
                <a:solidFill>
                  <a:srgbClr val="000000"/>
                </a:solidFill>
                <a:latin typeface="Times New Roman"/>
              </a:rPr>
              <a:t>: stronger sandboxing improves safety but constrains real-world capability.</a:t>
            </a:r>
          </a:p>
          <a:p>
            <a:r>
              <a:rPr sz="2000" b="1">
                <a:solidFill>
                  <a:srgbClr val="000000"/>
                </a:solidFill>
                <a:latin typeface="Times New Roman"/>
              </a:rPr>
              <a:t>Evaluation &amp; cost</a:t>
            </a:r>
            <a:r>
              <a:rPr sz="2000">
                <a:solidFill>
                  <a:srgbClr val="000000"/>
                </a:solidFill>
                <a:latin typeface="Times New Roman"/>
              </a:rPr>
              <a:t>: current benchmarks are narrow, and multi-step agent runs remain expensive.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6CD14CD-92A1-C4BC-30D0-9494497ADC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17</a:t>
            </a:fld>
            <a:endParaRPr lang="zh-TW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600" b="1">
                <a:solidFill>
                  <a:srgbClr val="000000"/>
                </a:solidFill>
                <a:latin typeface="Times New Roman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b="1">
                <a:solidFill>
                  <a:srgbClr val="000000"/>
                </a:solidFill>
                <a:latin typeface="Times New Roman"/>
              </a:rPr>
              <a:t>Final conclusion:  </a:t>
            </a:r>
            <a:r>
              <a:rPr sz="2000">
                <a:solidFill>
                  <a:srgbClr val="000000"/>
                </a:solidFill>
                <a:latin typeface="Times New Roman"/>
              </a:rPr>
              <a:t>the main advance in coding agents is not just better code generation, but grounding the model in an executable runtime and an agent system around it.</a:t>
            </a:r>
          </a:p>
          <a:p>
            <a:pPr lvl="1"/>
            <a:r>
              <a:rPr sz="1800">
                <a:solidFill>
                  <a:srgbClr val="000000"/>
                </a:solidFill>
                <a:latin typeface="Times New Roman"/>
              </a:rPr>
              <a:t>The trajectory is clear: </a:t>
            </a:r>
            <a:r>
              <a:rPr sz="1800" b="1">
                <a:solidFill>
                  <a:srgbClr val="000000"/>
                </a:solidFill>
                <a:latin typeface="Times New Roman"/>
              </a:rPr>
              <a:t>generation</a:t>
            </a:r>
            <a:r>
              <a:rPr sz="1800">
                <a:solidFill>
                  <a:srgbClr val="000000"/>
                </a:solidFill>
                <a:latin typeface="Times New Roman"/>
              </a:rPr>
              <a:t> (Codex) → </a:t>
            </a:r>
            <a:r>
              <a:rPr sz="1800" b="1">
                <a:solidFill>
                  <a:srgbClr val="000000"/>
                </a:solidFill>
                <a:latin typeface="Times New Roman"/>
              </a:rPr>
              <a:t>execution as action</a:t>
            </a:r>
            <a:r>
              <a:rPr sz="1800">
                <a:solidFill>
                  <a:srgbClr val="000000"/>
                </a:solidFill>
                <a:latin typeface="Times New Roman"/>
              </a:rPr>
              <a:t> (CodeAct) → </a:t>
            </a:r>
            <a:r>
              <a:rPr sz="1800" b="1">
                <a:solidFill>
                  <a:srgbClr val="000000"/>
                </a:solidFill>
                <a:latin typeface="Times New Roman"/>
              </a:rPr>
              <a:t>agent infrastructure</a:t>
            </a:r>
            <a:r>
              <a:rPr sz="1800">
                <a:solidFill>
                  <a:srgbClr val="000000"/>
                </a:solidFill>
                <a:latin typeface="Times New Roman"/>
              </a:rPr>
              <a:t> (OpenHands).</a:t>
            </a:r>
          </a:p>
          <a:p>
            <a:pPr lvl="1"/>
            <a:r>
              <a:rPr sz="1800">
                <a:solidFill>
                  <a:srgbClr val="000000"/>
                </a:solidFill>
                <a:latin typeface="Times New Roman"/>
              </a:rPr>
              <a:t>The main systems insight is that coding agents become substantially more useful when grounded in a real runtime.</a:t>
            </a:r>
          </a:p>
          <a:p>
            <a:pPr lvl="1"/>
            <a:r>
              <a:rPr sz="1800">
                <a:solidFill>
                  <a:srgbClr val="000000"/>
                </a:solidFill>
                <a:latin typeface="Times New Roman"/>
              </a:rPr>
              <a:t>The next stage of progress depends on improving the runtime, control loop, and reliability of these agents.</a:t>
            </a:r>
          </a:p>
          <a:p>
            <a:endParaRPr sz="1800">
              <a:solidFill>
                <a:srgbClr val="000000"/>
              </a:solidFill>
              <a:latin typeface="Times New Roman"/>
            </a:endParaRPr>
          </a:p>
          <a:p>
            <a:pPr algn="ctr"/>
            <a:r>
              <a:rPr sz="4000" b="1">
                <a:solidFill>
                  <a:srgbClr val="000000"/>
                </a:solidFill>
                <a:latin typeface="Times New Roman"/>
              </a:rPr>
              <a:t>Thank you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9298307-D2CB-E959-D46D-3DBC3E02E5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18</a:t>
            </a:fld>
            <a:endParaRPr lang="zh-TW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1695</Words>
  <Application>Microsoft Office PowerPoint</Application>
  <PresentationFormat>宽屏</PresentationFormat>
  <Paragraphs>230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28" baseType="lpstr">
      <vt:lpstr>MS Sans Serif</vt:lpstr>
      <vt:lpstr>楷体</vt:lpstr>
      <vt:lpstr>Arial</vt:lpstr>
      <vt:lpstr>Calibri</vt:lpstr>
      <vt:lpstr>Calibri Light</vt:lpstr>
      <vt:lpstr>Courier New</vt:lpstr>
      <vt:lpstr>Times New Roman</vt:lpstr>
      <vt:lpstr>Wingdings</vt:lpstr>
      <vt:lpstr>NTHU UniCloud</vt:lpstr>
      <vt:lpstr>自訂設計</vt:lpstr>
      <vt:lpstr>Execution-Grounded LLM Coding Agents: From Code Generation to Autonomous Software Engineering</vt:lpstr>
      <vt:lpstr>Overview</vt:lpstr>
      <vt:lpstr>Background: Why LLMs for Code?</vt:lpstr>
      <vt:lpstr>Paper 1 — Codex (Chen et al., arXiv 2021)</vt:lpstr>
      <vt:lpstr>Codex — HumanEval: Execution as the Oracle</vt:lpstr>
      <vt:lpstr>Codex — Findings, Limits, and the Next Step</vt:lpstr>
      <vt:lpstr>Paper 2 — CodeAct (Wang et al., ICML 2024)</vt:lpstr>
      <vt:lpstr>CodeAct — Action Space Comparison</vt:lpstr>
      <vt:lpstr>CodeAct — A Concrete Interaction Example</vt:lpstr>
      <vt:lpstr>CodeAct Results and Transition to OpenHands</vt:lpstr>
      <vt:lpstr>CodeAct — Zero-Shot Performance</vt:lpstr>
      <vt:lpstr>Paper 3 — OpenHands (Wang et al., ICLR 2025)</vt:lpstr>
      <vt:lpstr>OpenHands — Architecture</vt:lpstr>
      <vt:lpstr>OpenHands — AgentHub</vt:lpstr>
      <vt:lpstr>OpenHands — Evaluation on SWE-Bench</vt:lpstr>
      <vt:lpstr>Synthesis — The Narrative Arc</vt:lpstr>
      <vt:lpstr>Open Problems &amp; Future Directions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香港中文大学(深圳)数据科学院 School of Data Science</dc:title>
  <dc:creator>Windows 使用者</dc:creator>
  <cp:lastModifiedBy>Prof. Chung Yehching (SDS)</cp:lastModifiedBy>
  <cp:revision>18</cp:revision>
  <dcterms:created xsi:type="dcterms:W3CDTF">2020-07-15T11:13:39Z</dcterms:created>
  <dcterms:modified xsi:type="dcterms:W3CDTF">2026-04-17T05:33:17Z</dcterms:modified>
</cp:coreProperties>
</file>